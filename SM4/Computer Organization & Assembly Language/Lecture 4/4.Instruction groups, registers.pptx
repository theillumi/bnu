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366" r:id="rId4"/>
    <p:sldId id="370" r:id="rId5"/>
    <p:sldId id="367" r:id="rId6"/>
    <p:sldId id="369" r:id="rId8"/>
    <p:sldId id="389" r:id="rId9"/>
    <p:sldId id="390" r:id="rId10"/>
    <p:sldId id="391" r:id="rId11"/>
    <p:sldId id="392" r:id="rId12"/>
    <p:sldId id="393" r:id="rId13"/>
    <p:sldId id="394" r:id="rId14"/>
    <p:sldId id="380" r:id="rId15"/>
    <p:sldId id="381" r:id="rId16"/>
    <p:sldId id="382" r:id="rId17"/>
    <p:sldId id="383" r:id="rId18"/>
    <p:sldId id="384" r:id="rId19"/>
    <p:sldId id="386" r:id="rId20"/>
    <p:sldId id="385" r:id="rId21"/>
    <p:sldId id="395" r:id="rId22"/>
    <p:sldId id="396" r:id="rId23"/>
    <p:sldId id="397" r:id="rId24"/>
    <p:sldId id="3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ax(accumulator register), bx(base register),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4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Registers</a:t>
            </a:r>
            <a:endParaRPr lang="en-US"/>
          </a:p>
        </p:txBody>
      </p:sp>
      <p:pic>
        <p:nvPicPr>
          <p:cNvPr id="4" name="Content Placeholder 3" descr="Image 14-02-2024 at 1.2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8795" y="1524000"/>
            <a:ext cx="8107045" cy="5024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REGISTER ARCHITECTURE</a:t>
            </a:r>
            <a:endParaRPr lang="en-US"/>
          </a:p>
        </p:txBody>
      </p:sp>
      <p:pic>
        <p:nvPicPr>
          <p:cNvPr id="4" name="Content Placeholder 3" descr="Image 14-02-2024 at 1.4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7495" y="1665605"/>
            <a:ext cx="8666480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General Purpose Register</a:t>
            </a:r>
            <a:endParaRPr lang="en-US"/>
          </a:p>
        </p:txBody>
      </p:sp>
      <p:pic>
        <p:nvPicPr>
          <p:cNvPr id="4" name="Content Placeholder 3" descr="Image 14-02-2024 at 1.3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31620"/>
            <a:ext cx="8229600" cy="4893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r>
              <a:rPr>
                <a:sym typeface="+mn-ea"/>
              </a:rPr>
              <a:t>General Purpose Register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Image 14-02-2024 at 1.4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43380"/>
            <a:ext cx="8229600" cy="4412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Segment Registers (CS, DS, SS, and ES)</a:t>
            </a:r>
            <a:endParaRPr lang="en-US"/>
          </a:p>
        </p:txBody>
      </p:sp>
      <p:pic>
        <p:nvPicPr>
          <p:cNvPr id="5" name="Picture 4" descr="Image 14-02-2024 at 1.4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1693545"/>
            <a:ext cx="8827770" cy="3557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Index Registers</a:t>
            </a:r>
            <a:endParaRPr lang="en-US"/>
          </a:p>
        </p:txBody>
      </p:sp>
      <p:pic>
        <p:nvPicPr>
          <p:cNvPr id="4" name="Content Placeholder 3" descr="Image 14-02-2024 at 1.5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24330"/>
            <a:ext cx="8229600" cy="4527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Instruction Pointer</a:t>
            </a:r>
            <a:endParaRPr lang="en-US"/>
          </a:p>
        </p:txBody>
      </p:sp>
      <p:pic>
        <p:nvPicPr>
          <p:cNvPr id="4" name="Content Placeholder 3" descr="Image 14-02-2024 at 1.5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93240"/>
            <a:ext cx="8321040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Stack and Base Pointer</a:t>
            </a:r>
            <a:endParaRPr lang="en-US"/>
          </a:p>
        </p:txBody>
      </p:sp>
      <p:pic>
        <p:nvPicPr>
          <p:cNvPr id="4" name="Content Placeholder 3" descr="Image 14-02-2024 at 1.5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11630"/>
            <a:ext cx="8229600" cy="4395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74395"/>
          </a:xfrm>
        </p:spPr>
        <p:txBody>
          <a:bodyPr/>
          <a:p>
            <a:r>
              <a:rPr lang="en-US"/>
              <a:t>Flags</a:t>
            </a:r>
            <a:endParaRPr lang="en-US"/>
          </a:p>
        </p:txBody>
      </p:sp>
      <p:pic>
        <p:nvPicPr>
          <p:cNvPr id="4" name="Content Placeholder 3" descr="Image 21-02-2024 at 1.1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828800"/>
            <a:ext cx="8229600" cy="3483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Flag Registers</a:t>
            </a:r>
            <a:endParaRPr lang="en-US"/>
          </a:p>
        </p:txBody>
      </p:sp>
      <p:pic>
        <p:nvPicPr>
          <p:cNvPr id="4" name="Content Placeholder 3" descr="Image 14-02-2024 at 2.0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62405"/>
            <a:ext cx="8359140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/>
              <a:t>There are three ways to declare data in Assembly Language: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  <a:p>
            <a:pPr marL="0" indent="0" algn="just">
              <a:buNone/>
            </a:pPr>
            <a:r>
              <a:rPr lang="en-US" sz="2000"/>
              <a:t>1.) Declare single value with label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2.) Declare Multiple values with single  labels, values can be of different size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3.) Declare Mutiple values with single  label, all values will be of same size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Declaration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 algn="just">
              <a:buNone/>
            </a:pPr>
            <a:r>
              <a:rPr lang="en-US" sz="2000">
                <a:solidFill>
                  <a:srgbClr val="FF0000"/>
                </a:solidFill>
              </a:rPr>
              <a:t>Syntax: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000"/>
              <a:t>&lt;label_name&gt;: &lt;db/dw/dd&gt; &lt;value&gt; </a:t>
            </a:r>
            <a:endParaRPr lang="en-US" sz="2000"/>
          </a:p>
          <a:p>
            <a:pPr marL="0" indent="0" algn="just">
              <a:buNone/>
            </a:pPr>
            <a:endParaRPr lang="en-US" sz="2000"/>
          </a:p>
          <a:p>
            <a:pPr marL="0" indent="0" algn="just">
              <a:buNone/>
            </a:pPr>
            <a:r>
              <a:rPr lang="en-US" sz="2000">
                <a:solidFill>
                  <a:srgbClr val="FF0000"/>
                </a:solidFill>
              </a:rPr>
              <a:t>Example: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000"/>
              <a:t>[org 0x0100]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; code goes here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mov ax, 0x4c00 ; termination statements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int 21h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; data declaration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num1: dw 5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num2: db 10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num3: dd 15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num4: dw 9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16520" cy="1203325"/>
          </a:xfrm>
        </p:spPr>
        <p:txBody>
          <a:bodyPr>
            <a:normAutofit/>
          </a:bodyPr>
          <a:p>
            <a:r>
              <a:rPr sz="2665">
                <a:sym typeface="+mn-ea"/>
              </a:rPr>
              <a:t>1.) Declare single value with label</a:t>
            </a:r>
            <a:r>
              <a:rPr>
                <a:sym typeface="+mn-ea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 algn="just">
              <a:buNone/>
            </a:pPr>
            <a:r>
              <a:rPr lang="en-US" sz="2665">
                <a:solidFill>
                  <a:srgbClr val="FF0000"/>
                </a:solidFill>
              </a:rPr>
              <a:t>Syntax:</a:t>
            </a:r>
            <a:endParaRPr lang="en-US" sz="2665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665"/>
              <a:t>&lt;label_name&gt;: &lt;db/dw/dd&gt; &lt;value 1&gt;  &lt;db/dw/dd&gt; &lt;value 2&gt;  &lt;db/dw/dd&gt; </a:t>
            </a:r>
            <a:endParaRPr lang="en-US" sz="2665"/>
          </a:p>
          <a:p>
            <a:pPr marL="0" indent="0" algn="just">
              <a:buNone/>
            </a:pPr>
            <a:r>
              <a:rPr lang="en-US" sz="2665"/>
              <a:t>&lt;value 3&gt; &lt;db/dw/dd&gt; ..... &lt;value n&gt;</a:t>
            </a:r>
            <a:endParaRPr lang="en-US" sz="2665"/>
          </a:p>
          <a:p>
            <a:pPr marL="0" indent="0" algn="just">
              <a:buNone/>
            </a:pPr>
            <a:endParaRPr lang="en-US" sz="2665"/>
          </a:p>
          <a:p>
            <a:pPr marL="0" indent="0" algn="just">
              <a:buNone/>
            </a:pPr>
            <a:r>
              <a:rPr lang="en-US" sz="2000">
                <a:solidFill>
                  <a:srgbClr val="FF0000"/>
                </a:solidFill>
              </a:rPr>
              <a:t>Example: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2000"/>
          </a:p>
          <a:p>
            <a:pPr marL="0" indent="0" algn="just">
              <a:buNone/>
            </a:pPr>
            <a:r>
              <a:rPr lang="en-US" sz="2000"/>
              <a:t>[org 0x0100]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; code goes here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mov ax, 0x4c00 ; termination statements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int 21h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; data declaration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num1: dw 5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dw 10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db 15  </a:t>
            </a:r>
            <a:endParaRPr lang="en-US" sz="2000"/>
          </a:p>
          <a:p>
            <a:pPr marL="0" indent="0" algn="just">
              <a:buNone/>
            </a:pPr>
            <a:r>
              <a:rPr lang="en-US" sz="2000"/>
              <a:t>dd 9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16520" cy="1203325"/>
          </a:xfrm>
        </p:spPr>
        <p:txBody>
          <a:bodyPr>
            <a:normAutofit/>
          </a:bodyPr>
          <a:p>
            <a:r>
              <a:rPr sz="2665">
                <a:sym typeface="+mn-ea"/>
              </a:rPr>
              <a:t>2.) Declare Multiple values with single  labels, </a:t>
            </a:r>
            <a:r>
              <a:rPr sz="1800">
                <a:solidFill>
                  <a:srgbClr val="FF0000"/>
                </a:solidFill>
                <a:sym typeface="+mn-ea"/>
              </a:rPr>
              <a:t>(values can be of different size )</a:t>
            </a:r>
            <a:endParaRPr lang="en-US" sz="1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sz="2665">
                <a:solidFill>
                  <a:srgbClr val="FF0000"/>
                </a:solidFill>
              </a:rPr>
              <a:t>Syntax:</a:t>
            </a:r>
            <a:endParaRPr lang="en-US" sz="2665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665"/>
              <a:t>&lt;label_name&gt;: &lt;db/dw/dd&gt; &lt;value1&gt;,  &lt;value2&gt;, …. &lt;value n&gt;</a:t>
            </a:r>
            <a:endParaRPr lang="en-US" sz="2665"/>
          </a:p>
          <a:p>
            <a:pPr marL="0" indent="0" algn="just">
              <a:buNone/>
            </a:pPr>
            <a:endParaRPr lang="en-US" sz="2665"/>
          </a:p>
          <a:p>
            <a:pPr marL="0" indent="0" algn="just">
              <a:buNone/>
            </a:pPr>
            <a:r>
              <a:rPr lang="en-US" sz="2000">
                <a:solidFill>
                  <a:srgbClr val="FF0000"/>
                </a:solidFill>
              </a:rPr>
              <a:t>Example: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2000"/>
          </a:p>
          <a:p>
            <a:pPr marL="0" indent="0" algn="just">
              <a:buNone/>
            </a:pPr>
            <a:r>
              <a:rPr lang="en-US" sz="1800"/>
              <a:t>[org 0x0100] ; 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code goes here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mov ax, 0x4c00 ; termination statements 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int 21h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; data declaration 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num1: dw 5, 10,15, 90</a:t>
            </a:r>
            <a:endParaRPr lang="en-US" sz="1800"/>
          </a:p>
          <a:p>
            <a:pPr marL="0" indent="0" algn="just">
              <a:buNone/>
            </a:pPr>
            <a:endParaRPr lang="en-US" sz="18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16520" cy="1203325"/>
          </a:xfrm>
        </p:spPr>
        <p:txBody>
          <a:bodyPr>
            <a:normAutofit/>
          </a:bodyPr>
          <a:p>
            <a:r>
              <a:rPr sz="2665">
                <a:sym typeface="+mn-ea"/>
              </a:rPr>
              <a:t>3.) Declare Multiple values with single  labels, </a:t>
            </a:r>
            <a:r>
              <a:rPr sz="1800">
                <a:solidFill>
                  <a:srgbClr val="FF0000"/>
                </a:solidFill>
                <a:sym typeface="+mn-ea"/>
              </a:rPr>
              <a:t>(all values will be of same size )</a:t>
            </a:r>
            <a:endParaRPr lang="en-US" sz="1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 algn="just">
              <a:buNone/>
            </a:pPr>
            <a:endParaRPr lang="en-US" sz="1800"/>
          </a:p>
          <a:p>
            <a:pPr algn="just"/>
            <a:r>
              <a:rPr lang="en-US" sz="1800"/>
              <a:t>db stands for define byte, 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• dw stands for define word (word is of 2 bytes)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• dd stands for define double (double is of 2 words that is 4 bytes)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• Labels are like pointer. They only have the address of the lowest byte of value. In case of multiple values declared with single label (method 3 and 4) label is the address of lowest byte of first value. </a:t>
            </a:r>
            <a:endParaRPr lang="en-US" sz="18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16520" cy="1203325"/>
          </a:xfrm>
        </p:spPr>
        <p:txBody>
          <a:bodyPr>
            <a:normAutofit/>
          </a:bodyPr>
          <a:p>
            <a:r>
              <a:rPr sz="2665">
                <a:sym typeface="+mn-ea"/>
              </a:rPr>
              <a:t>3.) Declare Multiple values with single  labels, </a:t>
            </a:r>
            <a:r>
              <a:rPr sz="1800">
                <a:solidFill>
                  <a:srgbClr val="FF0000"/>
                </a:solidFill>
                <a:sym typeface="+mn-ea"/>
              </a:rPr>
              <a:t>(all values will be of same size )</a:t>
            </a:r>
            <a:endParaRPr lang="en-US" sz="1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Types</a:t>
            </a:r>
            <a:endParaRPr lang="en-US"/>
          </a:p>
        </p:txBody>
      </p:sp>
      <p:pic>
        <p:nvPicPr>
          <p:cNvPr id="4" name="Content Placeholder 3" descr="Image 24-02-2025 at 11.28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77975"/>
            <a:ext cx="8229600" cy="44634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sz="1800"/>
              <a:t>Big endian (BE), number is written from higher BYTE to lower BYTE  </a:t>
            </a:r>
            <a:endParaRPr lang="en-US" sz="1800"/>
          </a:p>
          <a:p>
            <a:pPr algn="just"/>
            <a:r>
              <a:rPr lang="en-US" sz="1800"/>
              <a:t>Little Endian (LE), number is written from Lower BYTE to higher BYTE  </a:t>
            </a:r>
            <a:endParaRPr lang="en-US" sz="1800"/>
          </a:p>
          <a:p>
            <a:pPr marL="0" indent="0" algn="just">
              <a:buNone/>
            </a:pPr>
            <a:r>
              <a:rPr lang="en-US" sz="1800"/>
              <a:t>Example: </a:t>
            </a:r>
            <a:endParaRPr lang="en-US" sz="18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16520" cy="1203325"/>
          </a:xfrm>
        </p:spPr>
        <p:txBody>
          <a:bodyPr>
            <a:normAutofit/>
          </a:bodyPr>
          <a:p>
            <a:r>
              <a:rPr sz="2665">
                <a:sym typeface="+mn-ea"/>
              </a:rPr>
              <a:t>Little Endian vs Big Endian</a:t>
            </a:r>
            <a:endParaRPr sz="2665">
              <a:sym typeface="+mn-ea"/>
            </a:endParaRPr>
          </a:p>
        </p:txBody>
      </p:sp>
      <p:pic>
        <p:nvPicPr>
          <p:cNvPr id="4" name="Picture 3" descr="Image 24-02-2025 at 11.2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71800"/>
            <a:ext cx="8472170" cy="1170940"/>
          </a:xfrm>
          <a:prstGeom prst="rect">
            <a:avLst/>
          </a:prstGeom>
        </p:spPr>
      </p:pic>
      <p:pic>
        <p:nvPicPr>
          <p:cNvPr id="5" name="Picture 4" descr="Image 24-02-2025 at 11.2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19600"/>
            <a:ext cx="847217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64565"/>
          </a:xfrm>
        </p:spPr>
        <p:txBody>
          <a:bodyPr/>
          <a:p>
            <a:r>
              <a:rPr lang="en-US"/>
              <a:t>First Program</a:t>
            </a:r>
            <a:endParaRPr lang="en-US"/>
          </a:p>
        </p:txBody>
      </p:sp>
      <p:pic>
        <p:nvPicPr>
          <p:cNvPr id="4" name="Content Placeholder 3" descr="Image 21-02-2024 at 1.3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70330"/>
            <a:ext cx="8229600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First Program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Image 21-02-2024 at 1.3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6905" y="1524000"/>
            <a:ext cx="7980045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1-02-2024 at 1.4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066800"/>
            <a:ext cx="8229600" cy="44697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2022</Words>
  <Application>WPS Presentation</Application>
  <PresentationFormat>On-screen Show (4:3)</PresentationFormat>
  <Paragraphs>102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Registers</vt:lpstr>
      <vt:lpstr>REGISTER ARCHITECTURE</vt:lpstr>
      <vt:lpstr>General Purpose Register</vt:lpstr>
      <vt:lpstr> General Purpose Register </vt:lpstr>
      <vt:lpstr>Segment Registers (CS, DS, SS, and ES)</vt:lpstr>
      <vt:lpstr>Index Registers</vt:lpstr>
      <vt:lpstr>Instruction Pointer</vt:lpstr>
      <vt:lpstr>Stack and Base Pointer</vt:lpstr>
      <vt:lpstr>Flags</vt:lpstr>
      <vt:lpstr>Flag Registers</vt:lpstr>
      <vt:lpstr>Data Declaration</vt:lpstr>
      <vt:lpstr>1.) Declare single value with label </vt:lpstr>
      <vt:lpstr>2.) Declare Multiple values with single  labels, (values can be of different size )</vt:lpstr>
      <vt:lpstr>3.) Declare Multiple values with single  labels, (all values will be of same size )</vt:lpstr>
      <vt:lpstr>3.) Declare Multiple values with single  labels, (all values will be of same size )</vt:lpstr>
      <vt:lpstr>Data Types</vt:lpstr>
      <vt:lpstr>Little Endian vs Big Endian</vt:lpstr>
      <vt:lpstr>First Program</vt:lpstr>
      <vt:lpstr>First Program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187</cp:revision>
  <dcterms:created xsi:type="dcterms:W3CDTF">2025-03-03T06:46:26Z</dcterms:created>
  <dcterms:modified xsi:type="dcterms:W3CDTF">2025-03-03T06:46:26Z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