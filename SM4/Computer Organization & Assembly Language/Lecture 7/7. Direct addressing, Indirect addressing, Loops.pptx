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401" r:id="rId4"/>
    <p:sldId id="435" r:id="rId5"/>
    <p:sldId id="426" r:id="rId6"/>
    <p:sldId id="427" r:id="rId7"/>
    <p:sldId id="428" r:id="rId8"/>
    <p:sldId id="429" r:id="rId9"/>
    <p:sldId id="430" r:id="rId10"/>
    <p:sldId id="431" r:id="rId11"/>
    <p:sldId id="425" r:id="rId12"/>
    <p:sldId id="432" r:id="rId13"/>
    <p:sldId id="433" r:id="rId14"/>
    <p:sldId id="434" r:id="rId15"/>
    <p:sldId id="437" r:id="rId16"/>
    <p:sldId id="436" r:id="rId17"/>
    <p:sldId id="438" r:id="rId18"/>
    <p:sldId id="439" r:id="rId19"/>
    <p:sldId id="440" r:id="rId20"/>
    <p:sldId id="441" r:id="rId21"/>
    <p:sldId id="442" r:id="rId22"/>
    <p:sldId id="443" r:id="rId23"/>
    <p:sldId id="37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1D8BD707-D9CF-40AE-B4C6-C98DA3205C09}" type="datetimeFigureOut">
              <a:rPr lang="en-US" smtClean="0"/>
            </a:fld>
            <a:endParaRPr lang="en-US"/>
          </a:p>
        </p:txBody>
      </p:sp>
      <p:sp>
        <p:nvSpPr>
          <p:cNvPr id="16" name="Slide Number Placeholder 15"/>
          <p:cNvSpPr>
            <a:spLocks noGrp="1"/>
          </p:cNvSpPr>
          <p:nvPr>
            <p:ph type="sldNum" sz="quarter" idx="11"/>
          </p:nvPr>
        </p:nvSpPr>
        <p:spPr/>
        <p:txBody>
          <a:bodyPr/>
          <a:lstStyle/>
          <a:p>
            <a:fld id="{B6F15528-21DE-4FAA-801E-634DDDAF4B2B}" type="slidenum">
              <a:rPr lang="en-US" smtClean="0"/>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1D8BD707-D9CF-40AE-B4C6-C98DA3205C09}" type="datetimeFigureOut">
              <a:rPr lang="en-US" smtClean="0"/>
            </a:fld>
            <a:endParaRPr lang="en-US"/>
          </a:p>
        </p:txBody>
      </p:sp>
      <p:sp>
        <p:nvSpPr>
          <p:cNvPr id="15" name="Slide Number Placeholder 14"/>
          <p:cNvSpPr>
            <a:spLocks noGrp="1"/>
          </p:cNvSpPr>
          <p:nvPr>
            <p:ph type="sldNum" sz="quarter" idx="15"/>
          </p:nvPr>
        </p:nvSpPr>
        <p:spPr/>
        <p:txBody>
          <a:bodyPr/>
          <a:lstStyle>
            <a:lvl1pPr algn="ctr">
              <a:defRPr/>
            </a:lvl1pPr>
          </a:lstStyle>
          <a:p>
            <a:fld id="{B6F15528-21DE-4FAA-801E-634DDDAF4B2B}" type="slidenum">
              <a:rPr lang="en-US" smtClean="0"/>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1D8BD707-D9CF-40AE-B4C6-C98DA3205C09}" type="datetimeFigureOut">
              <a:rPr lang="en-US" smtClean="0"/>
            </a:fld>
            <a:endParaRPr lang="en-US"/>
          </a:p>
        </p:txBody>
      </p:sp>
      <p:sp>
        <p:nvSpPr>
          <p:cNvPr id="9" name="Slide Number Placeholder 8"/>
          <p:cNvSpPr>
            <a:spLocks noGrp="1"/>
          </p:cNvSpPr>
          <p:nvPr>
            <p:ph type="sldNum" sz="quarter" idx="15"/>
          </p:nvPr>
        </p:nvSpPr>
        <p:spPr/>
        <p:txBody>
          <a:bodyPr/>
          <a:lstStyle/>
          <a:p>
            <a:fld id="{B6F15528-21DE-4FAA-801E-634DDDAF4B2B}" type="slidenum">
              <a:rPr lang="en-US" smtClean="0"/>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8" name="Date Placeholder 7"/>
          <p:cNvSpPr>
            <a:spLocks noGrp="1"/>
          </p:cNvSpPr>
          <p:nvPr>
            <p:ph type="dt" sz="half" idx="10"/>
          </p:nvPr>
        </p:nvSpPr>
        <p:spPr/>
        <p:txBody>
          <a:bodyPr/>
          <a:lstStyle/>
          <a:p>
            <a:fld id="{1D8BD707-D9CF-40AE-B4C6-C98DA3205C09}" type="datetimeFigureOut">
              <a:rPr lang="en-US" smtClean="0"/>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1D8BD707-D9CF-40AE-B4C6-C98DA3205C09}" type="datetimeFigureOut">
              <a:rPr lang="en-US" smtClean="0"/>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6F15528-21DE-4FAA-801E-634DDDAF4B2B}" type="slidenum">
              <a:rPr lang="en-US" smtClean="0"/>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panose="05020102010507070707"/>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panose="05020102010507070707"/>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panose="05020102010507070707"/>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anose="05020102010507070707"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anose="05020102010507070707"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anose="05020102010507070707"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2400" dirty="0" smtClean="0"/>
              <a:t>Lecture 7</a:t>
            </a:r>
            <a:endParaRPr lang="en-US" sz="2400" dirty="0" smtClean="0"/>
          </a:p>
          <a:p>
            <a:r>
              <a:rPr lang="en-US" sz="2400" dirty="0" smtClean="0"/>
              <a:t>Memory models, Flag register, Jump instructions</a:t>
            </a:r>
            <a:endParaRPr lang="en-US" dirty="0" smtClean="0"/>
          </a:p>
          <a:p>
            <a:endParaRPr lang="en-US" sz="3200" dirty="0"/>
          </a:p>
        </p:txBody>
      </p:sp>
      <p:sp>
        <p:nvSpPr>
          <p:cNvPr id="2" name="Title 1"/>
          <p:cNvSpPr>
            <a:spLocks noGrp="1"/>
          </p:cNvSpPr>
          <p:nvPr>
            <p:ph type="ctrTitle"/>
          </p:nvPr>
        </p:nvSpPr>
        <p:spPr/>
        <p:txBody>
          <a:bodyPr>
            <a:normAutofit fontScale="90000"/>
          </a:bodyPr>
          <a:lstStyle/>
          <a:p>
            <a:r>
              <a:rPr lang="en-US" dirty="0" smtClean="0"/>
              <a:t>Computer Organization &amp; Assembly Language</a:t>
            </a:r>
            <a:br>
              <a:rPr lang="en-US" dirty="0" smtClean="0"/>
            </a:br>
            <a:r>
              <a:rPr lang="en-US" dirty="0" smtClean="0"/>
              <a:t>(CSC-205)</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Content Placeholder 9" descr="Image 17-03-2025 at 8.51 AM"/>
          <p:cNvPicPr>
            <a:picLocks noChangeAspect="1"/>
          </p:cNvPicPr>
          <p:nvPr>
            <p:ph idx="1"/>
          </p:nvPr>
        </p:nvPicPr>
        <p:blipFill>
          <a:blip r:embed="rId1"/>
          <a:stretch>
            <a:fillRect/>
          </a:stretch>
        </p:blipFill>
        <p:spPr>
          <a:xfrm>
            <a:off x="457200" y="1371600"/>
            <a:ext cx="8229600" cy="27197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Content Placeholder 7" descr="Image 17-03-2025 at 8.36 AM"/>
          <p:cNvPicPr>
            <a:picLocks noChangeAspect="1"/>
          </p:cNvPicPr>
          <p:nvPr>
            <p:ph idx="1"/>
          </p:nvPr>
        </p:nvPicPr>
        <p:blipFill>
          <a:blip r:embed="rId1"/>
          <a:stretch>
            <a:fillRect/>
          </a:stretch>
        </p:blipFill>
        <p:spPr>
          <a:xfrm>
            <a:off x="482600" y="934085"/>
            <a:ext cx="8177530" cy="49930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37 AM"/>
          <p:cNvPicPr>
            <a:picLocks noChangeAspect="1"/>
          </p:cNvPicPr>
          <p:nvPr>
            <p:ph idx="1"/>
          </p:nvPr>
        </p:nvPicPr>
        <p:blipFill>
          <a:blip r:embed="rId1"/>
          <a:stretch>
            <a:fillRect/>
          </a:stretch>
        </p:blipFill>
        <p:spPr>
          <a:xfrm>
            <a:off x="387985" y="916305"/>
            <a:ext cx="8460105"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38 AM"/>
          <p:cNvPicPr>
            <a:picLocks noChangeAspect="1"/>
          </p:cNvPicPr>
          <p:nvPr>
            <p:ph idx="1"/>
          </p:nvPr>
        </p:nvPicPr>
        <p:blipFill>
          <a:blip r:embed="rId1"/>
          <a:stretch>
            <a:fillRect/>
          </a:stretch>
        </p:blipFill>
        <p:spPr>
          <a:xfrm>
            <a:off x="237490" y="963930"/>
            <a:ext cx="8729980" cy="5132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39 AM"/>
          <p:cNvPicPr>
            <a:picLocks noChangeAspect="1"/>
          </p:cNvPicPr>
          <p:nvPr>
            <p:ph idx="1"/>
          </p:nvPr>
        </p:nvPicPr>
        <p:blipFill>
          <a:blip r:embed="rId1"/>
          <a:stretch>
            <a:fillRect/>
          </a:stretch>
        </p:blipFill>
        <p:spPr>
          <a:xfrm>
            <a:off x="457200" y="769620"/>
            <a:ext cx="8467090" cy="5321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40 AM"/>
          <p:cNvPicPr>
            <a:picLocks noChangeAspect="1"/>
          </p:cNvPicPr>
          <p:nvPr>
            <p:ph idx="1"/>
          </p:nvPr>
        </p:nvPicPr>
        <p:blipFill>
          <a:blip r:embed="rId1"/>
          <a:stretch>
            <a:fillRect/>
          </a:stretch>
        </p:blipFill>
        <p:spPr>
          <a:xfrm>
            <a:off x="457200" y="967740"/>
            <a:ext cx="8345170" cy="50476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42 AM"/>
          <p:cNvPicPr>
            <a:picLocks noChangeAspect="1"/>
          </p:cNvPicPr>
          <p:nvPr>
            <p:ph idx="1"/>
          </p:nvPr>
        </p:nvPicPr>
        <p:blipFill>
          <a:blip r:embed="rId1"/>
          <a:stretch>
            <a:fillRect/>
          </a:stretch>
        </p:blipFill>
        <p:spPr>
          <a:xfrm>
            <a:off x="457200" y="929005"/>
            <a:ext cx="8229600" cy="51250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43 AM"/>
          <p:cNvPicPr>
            <a:picLocks noChangeAspect="1"/>
          </p:cNvPicPr>
          <p:nvPr>
            <p:ph idx="1"/>
          </p:nvPr>
        </p:nvPicPr>
        <p:blipFill>
          <a:blip r:embed="rId1"/>
          <a:stretch>
            <a:fillRect/>
          </a:stretch>
        </p:blipFill>
        <p:spPr>
          <a:xfrm>
            <a:off x="457200" y="1295400"/>
            <a:ext cx="8229600" cy="39916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34 AM"/>
          <p:cNvPicPr>
            <a:picLocks noChangeAspect="1"/>
          </p:cNvPicPr>
          <p:nvPr>
            <p:ph idx="1"/>
          </p:nvPr>
        </p:nvPicPr>
        <p:blipFill>
          <a:blip r:embed="rId1"/>
          <a:stretch>
            <a:fillRect/>
          </a:stretch>
        </p:blipFill>
        <p:spPr>
          <a:xfrm>
            <a:off x="296545" y="678180"/>
            <a:ext cx="8566785" cy="51981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44 AM"/>
          <p:cNvPicPr>
            <a:picLocks noChangeAspect="1"/>
          </p:cNvPicPr>
          <p:nvPr>
            <p:ph idx="1"/>
          </p:nvPr>
        </p:nvPicPr>
        <p:blipFill>
          <a:blip r:embed="rId1"/>
          <a:stretch>
            <a:fillRect/>
          </a:stretch>
        </p:blipFill>
        <p:spPr>
          <a:xfrm>
            <a:off x="387350" y="1015365"/>
            <a:ext cx="8522335" cy="4937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45 AM"/>
          <p:cNvPicPr>
            <a:picLocks noChangeAspect="1"/>
          </p:cNvPicPr>
          <p:nvPr>
            <p:ph idx="1"/>
          </p:nvPr>
        </p:nvPicPr>
        <p:blipFill>
          <a:blip r:embed="rId1"/>
          <a:stretch>
            <a:fillRect/>
          </a:stretch>
        </p:blipFill>
        <p:spPr>
          <a:xfrm>
            <a:off x="457200" y="838200"/>
            <a:ext cx="8421370" cy="51390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46 AM"/>
          <p:cNvPicPr>
            <a:picLocks noChangeAspect="1"/>
          </p:cNvPicPr>
          <p:nvPr>
            <p:ph idx="1"/>
          </p:nvPr>
        </p:nvPicPr>
        <p:blipFill>
          <a:blip r:embed="rId1"/>
          <a:stretch>
            <a:fillRect/>
          </a:stretch>
        </p:blipFill>
        <p:spPr>
          <a:xfrm>
            <a:off x="457200" y="1143000"/>
            <a:ext cx="8229600" cy="46602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7-03-2025 at 8.54 AM"/>
          <p:cNvPicPr>
            <a:picLocks noChangeAspect="1"/>
          </p:cNvPicPr>
          <p:nvPr>
            <p:ph idx="1"/>
          </p:nvPr>
        </p:nvPicPr>
        <p:blipFill>
          <a:blip r:embed="rId1"/>
          <a:stretch>
            <a:fillRect/>
          </a:stretch>
        </p:blipFill>
        <p:spPr>
          <a:xfrm>
            <a:off x="457200" y="970915"/>
            <a:ext cx="8229600" cy="48266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1269365"/>
            <a:ext cx="8229600" cy="5082540"/>
          </a:xfrm>
        </p:spPr>
        <p:txBody>
          <a:bodyPr>
            <a:normAutofit lnSpcReduction="20000"/>
          </a:bodyPr>
          <a:p>
            <a:pPr algn="just">
              <a:lnSpc>
                <a:spcPct val="120000"/>
              </a:lnSpc>
            </a:pPr>
            <a:r>
              <a:rPr lang="en-US" sz="2000"/>
              <a:t>We have done very elementary data access till now.</a:t>
            </a:r>
            <a:endParaRPr lang="en-US" sz="2000"/>
          </a:p>
          <a:p>
            <a:pPr algn="just">
              <a:lnSpc>
                <a:spcPct val="120000"/>
              </a:lnSpc>
            </a:pPr>
            <a:r>
              <a:rPr lang="en-US" sz="2000"/>
              <a:t>Assume that the numbers we had were 100 and not just three.  This way of adding them will cost us 200 instructions.</a:t>
            </a:r>
            <a:endParaRPr lang="en-US" sz="2000"/>
          </a:p>
          <a:p>
            <a:pPr algn="just">
              <a:lnSpc>
                <a:spcPct val="120000"/>
              </a:lnSpc>
            </a:pPr>
            <a:r>
              <a:rPr lang="en-US" sz="2000"/>
              <a:t>There must be some method to do a task repeatedly on data placed in consecutive memory cells.</a:t>
            </a:r>
            <a:endParaRPr lang="en-US" sz="2000"/>
          </a:p>
          <a:p>
            <a:pPr algn="just">
              <a:lnSpc>
                <a:spcPct val="120000"/>
              </a:lnSpc>
            </a:pPr>
            <a:r>
              <a:rPr lang="en-US" sz="2000"/>
              <a:t>The key to this is the need for some register that can hold the address of data.</a:t>
            </a:r>
            <a:endParaRPr lang="en-US" sz="2000"/>
          </a:p>
          <a:p>
            <a:pPr algn="just">
              <a:lnSpc>
                <a:spcPct val="120000"/>
              </a:lnSpc>
            </a:pPr>
            <a:r>
              <a:rPr lang="en-US" sz="2000"/>
              <a:t>There are four registers in iAPX88 architecture that can hold address of data and they are BX, BP, SI, and DI. There are minute differences in their working which will be discussed later. For the current example, we will use the BX register and we will take just three numbers and extend the concept with more numbers in later examples.</a:t>
            </a:r>
            <a:endParaRPr lang="en-US" sz="2000"/>
          </a:p>
        </p:txBody>
      </p:sp>
      <p:sp>
        <p:nvSpPr>
          <p:cNvPr id="5" name="Text Box 4"/>
          <p:cNvSpPr txBox="1"/>
          <p:nvPr/>
        </p:nvSpPr>
        <p:spPr>
          <a:xfrm>
            <a:off x="457200" y="609600"/>
            <a:ext cx="6120130" cy="46037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REGISTER INDIRECT ADDRESSING</a:t>
            </a:r>
            <a:endParaRPr lang="en-US" sz="2400" b="1">
              <a:latin typeface="Verdana Bold" panose="020B0604030504040204" charset="0"/>
              <a:cs typeface="Verdana Bold" panose="020B060403050404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7-03-2025 at 8.58 AM"/>
          <p:cNvPicPr>
            <a:picLocks noChangeAspect="1"/>
          </p:cNvPicPr>
          <p:nvPr>
            <p:ph idx="1"/>
          </p:nvPr>
        </p:nvPicPr>
        <p:blipFill>
          <a:blip r:embed="rId1"/>
          <a:stretch>
            <a:fillRect/>
          </a:stretch>
        </p:blipFill>
        <p:spPr>
          <a:xfrm>
            <a:off x="457200" y="1143000"/>
            <a:ext cx="8229600" cy="979805"/>
          </a:xfrm>
          <a:prstGeom prst="rect">
            <a:avLst/>
          </a:prstGeom>
        </p:spPr>
      </p:pic>
      <p:pic>
        <p:nvPicPr>
          <p:cNvPr id="5" name="Picture 4" descr="Image 17-03-2025 at 8.58 AM"/>
          <p:cNvPicPr>
            <a:picLocks noChangeAspect="1"/>
          </p:cNvPicPr>
          <p:nvPr/>
        </p:nvPicPr>
        <p:blipFill>
          <a:blip r:embed="rId2"/>
          <a:stretch>
            <a:fillRect/>
          </a:stretch>
        </p:blipFill>
        <p:spPr>
          <a:xfrm>
            <a:off x="456565" y="2122805"/>
            <a:ext cx="8230235" cy="23342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8795" y="609600"/>
            <a:ext cx="7954010" cy="46037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Next Example: A program to add ten numbers</a:t>
            </a:r>
            <a:endParaRPr lang="en-US" sz="2400" b="1">
              <a:latin typeface="Verdana Bold" panose="020B0604030504040204" charset="0"/>
              <a:cs typeface="Verdana Bold" panose="020B0604030504040204" charset="0"/>
            </a:endParaRPr>
          </a:p>
        </p:txBody>
      </p:sp>
      <p:pic>
        <p:nvPicPr>
          <p:cNvPr id="6" name="Content Placeholder 5" descr="Image 17-03-2025 at 9.05 AM"/>
          <p:cNvPicPr>
            <a:picLocks noChangeAspect="1"/>
          </p:cNvPicPr>
          <p:nvPr>
            <p:ph idx="1"/>
          </p:nvPr>
        </p:nvPicPr>
        <p:blipFill>
          <a:blip r:embed="rId1"/>
          <a:stretch>
            <a:fillRect/>
          </a:stretch>
        </p:blipFill>
        <p:spPr>
          <a:xfrm>
            <a:off x="381000" y="1859280"/>
            <a:ext cx="8229600" cy="3875405"/>
          </a:xfrm>
          <a:prstGeom prst="rect">
            <a:avLst/>
          </a:prstGeom>
        </p:spPr>
      </p:pic>
      <p:pic>
        <p:nvPicPr>
          <p:cNvPr id="7" name="Picture 6" descr="Image 17-03-2025 at 9.05 AM"/>
          <p:cNvPicPr>
            <a:picLocks noChangeAspect="1"/>
          </p:cNvPicPr>
          <p:nvPr/>
        </p:nvPicPr>
        <p:blipFill>
          <a:blip r:embed="rId2"/>
          <a:stretch>
            <a:fillRect/>
          </a:stretch>
        </p:blipFill>
        <p:spPr>
          <a:xfrm>
            <a:off x="356235" y="5715000"/>
            <a:ext cx="8295640" cy="368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33400" y="381000"/>
            <a:ext cx="7954010" cy="46037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Explaination</a:t>
            </a:r>
            <a:endParaRPr lang="en-US" sz="2400" b="1">
              <a:latin typeface="Verdana Bold" panose="020B0604030504040204" charset="0"/>
              <a:cs typeface="Verdana Bold" panose="020B0604030504040204" charset="0"/>
            </a:endParaRPr>
          </a:p>
        </p:txBody>
      </p:sp>
      <p:pic>
        <p:nvPicPr>
          <p:cNvPr id="3" name="Content Placeholder 2" descr="Image 17-03-2025 at 9.07 AM"/>
          <p:cNvPicPr>
            <a:picLocks noChangeAspect="1"/>
          </p:cNvPicPr>
          <p:nvPr>
            <p:ph idx="1"/>
          </p:nvPr>
        </p:nvPicPr>
        <p:blipFill>
          <a:blip r:embed="rId1"/>
          <a:stretch>
            <a:fillRect/>
          </a:stretch>
        </p:blipFill>
        <p:spPr>
          <a:xfrm>
            <a:off x="597535" y="1162685"/>
            <a:ext cx="7659370" cy="54775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1269365"/>
            <a:ext cx="8229600" cy="5082540"/>
          </a:xfrm>
        </p:spPr>
        <p:txBody>
          <a:bodyPr>
            <a:normAutofit/>
          </a:bodyPr>
          <a:p>
            <a:pPr algn="just">
              <a:lnSpc>
                <a:spcPct val="120000"/>
              </a:lnSpc>
            </a:pPr>
            <a:r>
              <a:rPr lang="en-US" sz="2000"/>
              <a:t>Direct addressing and indirect addressing using a single register are two basic forms of memory access. Another possibility is to use different combinations of direct and indirect references. In the above example we used BX to access different array elements which were placed consecutively in memory like an array. We can also place in BX only the array index and not the exact address and form the exact address when we are going to access the actual memory. This way the same register can be used for accessing different arrays and also the register can be used for index comparison like the following example does.</a:t>
            </a:r>
            <a:endParaRPr lang="en-US" sz="2000"/>
          </a:p>
        </p:txBody>
      </p:sp>
      <p:sp>
        <p:nvSpPr>
          <p:cNvPr id="5" name="Text Box 4"/>
          <p:cNvSpPr txBox="1"/>
          <p:nvPr/>
        </p:nvSpPr>
        <p:spPr>
          <a:xfrm>
            <a:off x="457200" y="609600"/>
            <a:ext cx="7618095" cy="46037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2.5. REGISTER + OFFSET ADDRESSING</a:t>
            </a:r>
            <a:endParaRPr lang="en-US" sz="2400" b="1">
              <a:latin typeface="Verdana Bold" panose="020B0604030504040204" charset="0"/>
              <a:cs typeface="Verdana Bold" panose="020B060403050404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8795" y="609600"/>
            <a:ext cx="8229600" cy="82994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Next Example: A program to add ten numbers using register + offset addressing</a:t>
            </a:r>
            <a:endParaRPr lang="en-US" sz="2400" b="1">
              <a:latin typeface="Verdana Bold" panose="020B0604030504040204" charset="0"/>
              <a:cs typeface="Verdana Bold" panose="020B0604030504040204" charset="0"/>
            </a:endParaRPr>
          </a:p>
        </p:txBody>
      </p:sp>
      <p:pic>
        <p:nvPicPr>
          <p:cNvPr id="3" name="Content Placeholder 2" descr="Image 17-03-2025 at 9.22 AM"/>
          <p:cNvPicPr>
            <a:picLocks noChangeAspect="1"/>
          </p:cNvPicPr>
          <p:nvPr>
            <p:ph idx="1"/>
          </p:nvPr>
        </p:nvPicPr>
        <p:blipFill>
          <a:blip r:embed="rId1"/>
          <a:stretch>
            <a:fillRect/>
          </a:stretch>
        </p:blipFill>
        <p:spPr>
          <a:xfrm>
            <a:off x="457200" y="1811655"/>
            <a:ext cx="8229600" cy="39960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33400" y="381000"/>
            <a:ext cx="7954010" cy="460375"/>
          </a:xfrm>
          <a:prstGeom prst="rect">
            <a:avLst/>
          </a:prstGeom>
          <a:noFill/>
        </p:spPr>
        <p:txBody>
          <a:bodyPr wrap="square" rtlCol="0" anchor="t">
            <a:spAutoFit/>
          </a:bodyPr>
          <a:p>
            <a:r>
              <a:rPr lang="en-US" sz="2400" b="1">
                <a:latin typeface="Verdana Bold" panose="020B0604030504040204" charset="0"/>
                <a:cs typeface="Verdana Bold" panose="020B0604030504040204" charset="0"/>
              </a:rPr>
              <a:t>Explaination</a:t>
            </a:r>
            <a:endParaRPr lang="en-US" sz="2400" b="1">
              <a:latin typeface="Verdana Bold" panose="020B0604030504040204" charset="0"/>
              <a:cs typeface="Verdana Bold" panose="020B0604030504040204" charset="0"/>
            </a:endParaRPr>
          </a:p>
        </p:txBody>
      </p:sp>
      <p:pic>
        <p:nvPicPr>
          <p:cNvPr id="5" name="Content Placeholder 4" descr="Image 17-03-2025 at 9.23 AM"/>
          <p:cNvPicPr>
            <a:picLocks noChangeAspect="1"/>
          </p:cNvPicPr>
          <p:nvPr>
            <p:ph idx="1"/>
          </p:nvPr>
        </p:nvPicPr>
        <p:blipFill>
          <a:blip r:embed="rId1"/>
          <a:stretch>
            <a:fillRect/>
          </a:stretch>
        </p:blipFill>
        <p:spPr>
          <a:xfrm>
            <a:off x="457200" y="1905000"/>
            <a:ext cx="8229600" cy="24212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2049780"/>
            <a:ext cx="8229600" cy="4046220"/>
          </a:xfrm>
        </p:spPr>
        <p:txBody>
          <a:bodyPr/>
          <a:p>
            <a:pPr marL="0" indent="0" algn="ctr">
              <a:buNone/>
            </a:pPr>
            <a:r>
              <a:rPr lang="en-US"/>
              <a:t> End of Lecture</a:t>
            </a:r>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Paper</Template>
  <TotalTime>0</TotalTime>
  <Words>1618</Words>
  <Application>WPS Presentation</Application>
  <PresentationFormat>On-screen Show (4:3)</PresentationFormat>
  <Paragraphs>28</Paragraphs>
  <Slides>22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Wingdings 2</vt:lpstr>
      <vt:lpstr>Wingdings 2</vt:lpstr>
      <vt:lpstr>Verdana</vt:lpstr>
      <vt:lpstr>Microsoft YaHei</vt:lpstr>
      <vt:lpstr>汉仪旗黑</vt:lpstr>
      <vt:lpstr>Calibri</vt:lpstr>
      <vt:lpstr>Helvetica Neue</vt:lpstr>
      <vt:lpstr>宋体-简</vt:lpstr>
      <vt:lpstr>Arial Unicode MS</vt:lpstr>
      <vt:lpstr>Verdana Bold</vt:lpstr>
      <vt:lpstr>Paper</vt:lpstr>
      <vt:lpstr>Computer Organization &amp; Assembly Language (CSC-205)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Digital Content (CSC-</dc:title>
  <dc:creator>Huda Sarfraz</dc:creator>
  <cp:lastModifiedBy>Nimra Abbas</cp:lastModifiedBy>
  <cp:revision>216</cp:revision>
  <dcterms:created xsi:type="dcterms:W3CDTF">2025-03-17T04:24:21Z</dcterms:created>
  <dcterms:modified xsi:type="dcterms:W3CDTF">2025-03-17T04:24:21Z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