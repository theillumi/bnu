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3"/>
    <p:sldId id="499" r:id="rId4"/>
    <p:sldId id="513" r:id="rId6"/>
    <p:sldId id="512" r:id="rId7"/>
    <p:sldId id="500" r:id="rId8"/>
    <p:sldId id="501" r:id="rId9"/>
    <p:sldId id="502" r:id="rId10"/>
    <p:sldId id="503" r:id="rId11"/>
    <p:sldId id="504" r:id="rId12"/>
    <p:sldId id="379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imraabbas" initials="n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1536" y="60"/>
      </p:cViewPr>
      <p:guideLst>
        <p:guide orient="horz" pos="2160"/>
        <p:guide pos="290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commentAuthors" Target="commentAuthors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Title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2" name="Content Placeholder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4" name="Content Placeholder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1" name="Title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  <a:p>
            <a:pPr lvl="1" eaLnBrk="1" latinLnBrk="0" hangingPunct="1"/>
            <a:r>
              <a:rPr kumimoji="0" lang="en-US" smtClean="0"/>
              <a:t>Second level</a:t>
            </a:r>
            <a:endParaRPr kumimoji="0" lang="en-US" smtClean="0"/>
          </a:p>
          <a:p>
            <a:pPr lvl="2" eaLnBrk="1" latinLnBrk="0" hangingPunct="1"/>
            <a:r>
              <a:rPr kumimoji="0" lang="en-US" smtClean="0"/>
              <a:t>Third level</a:t>
            </a:r>
            <a:endParaRPr kumimoji="0" lang="en-US" smtClean="0"/>
          </a:p>
          <a:p>
            <a:pPr lvl="3" eaLnBrk="1" latinLnBrk="0" hangingPunct="1"/>
            <a:r>
              <a:rPr kumimoji="0" lang="en-US" smtClean="0"/>
              <a:t>Fourth level</a:t>
            </a:r>
            <a:endParaRPr kumimoji="0" lang="en-US" smtClean="0"/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 panose="05020102010507070707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 panose="05020102010507070707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400" dirty="0" smtClean="0"/>
              <a:t>Lecture 9</a:t>
            </a:r>
            <a:endParaRPr lang="en-US" sz="2400" dirty="0" smtClean="0"/>
          </a:p>
          <a:p>
            <a:endParaRPr lang="en-US" sz="3200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Computer Organization &amp; Assembly Language</a:t>
            </a:r>
            <a:br>
              <a:rPr lang="en-US" dirty="0" smtClean="0"/>
            </a:br>
            <a:r>
              <a:rPr lang="en-US" dirty="0" smtClean="0"/>
              <a:t>(CSC-205)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/>
          <p:nvPr>
            <p:ph idx="1"/>
          </p:nvPr>
        </p:nvSpPr>
        <p:spPr>
          <a:xfrm>
            <a:off x="457200" y="298450"/>
            <a:ext cx="8229600" cy="6017260"/>
          </a:xfrm>
        </p:spPr>
        <p:txBody>
          <a:bodyPr/>
          <a:p>
            <a:pPr marL="0" indent="0">
              <a:buNone/>
            </a:pPr>
            <a:r>
              <a:rPr lang="en-US"/>
              <a:t>Practise Questions</a:t>
            </a:r>
            <a:endParaRPr lang="en-US"/>
          </a:p>
          <a:p>
            <a:pPr marL="0" indent="0" algn="just">
              <a:buNone/>
            </a:pPr>
            <a:endParaRPr lang="en-US" sz="1800" b="1">
              <a:latin typeface="Verdana Bold" panose="020B0604030504040204" charset="0"/>
              <a:cs typeface="Verdana Bold" panose="020B0604030504040204" charset="0"/>
            </a:endParaRPr>
          </a:p>
          <a:p>
            <a:pPr marL="0" indent="0" algn="just">
              <a:buNone/>
            </a:pPr>
            <a:r>
              <a:rPr lang="en-US" sz="1800" b="1">
                <a:latin typeface="Verdana Bold" panose="020B0604030504040204" charset="0"/>
                <a:cs typeface="Verdana Bold" panose="020B0604030504040204" charset="0"/>
              </a:rPr>
              <a:t>1.) Write an Assembly program that checks if two numbers (in AX and BX) are equal.</a:t>
            </a:r>
            <a:endParaRPr lang="en-US" sz="1800" b="1">
              <a:latin typeface="Verdana Bold" panose="020B0604030504040204" charset="0"/>
              <a:cs typeface="Verdana Bold" panose="020B0604030504040204" charset="0"/>
            </a:endParaRPr>
          </a:p>
          <a:p>
            <a:pPr marL="0" indent="0" algn="just">
              <a:buNone/>
            </a:pPr>
            <a:endParaRPr lang="en-US" sz="1800" b="1">
              <a:latin typeface="Verdana Bold" panose="020B0604030504040204" charset="0"/>
              <a:cs typeface="Verdana Bold" panose="020B0604030504040204" charset="0"/>
            </a:endParaRPr>
          </a:p>
          <a:p>
            <a:pPr algn="just"/>
            <a:r>
              <a:rPr lang="en-US" sz="1800" b="1">
                <a:latin typeface="Verdana Bold" panose="020B0604030504040204" charset="0"/>
                <a:cs typeface="Verdana Bold" panose="020B0604030504040204" charset="0"/>
              </a:rPr>
              <a:t>If equal, store 1 in CX.</a:t>
            </a:r>
            <a:endParaRPr lang="en-US" sz="1800" b="1">
              <a:latin typeface="Verdana Bold" panose="020B0604030504040204" charset="0"/>
              <a:cs typeface="Verdana Bold" panose="020B0604030504040204" charset="0"/>
            </a:endParaRPr>
          </a:p>
          <a:p>
            <a:pPr algn="just"/>
            <a:r>
              <a:rPr lang="en-US" sz="1800" b="1">
                <a:latin typeface="Verdana Bold" panose="020B0604030504040204" charset="0"/>
                <a:cs typeface="Verdana Bold" panose="020B0604030504040204" charset="0"/>
              </a:rPr>
              <a:t>If not equal, store 0 in CX.</a:t>
            </a:r>
            <a:endParaRPr lang="en-US" sz="1800" b="1">
              <a:latin typeface="Verdana Bold" panose="020B0604030504040204" charset="0"/>
              <a:cs typeface="Verdana Bold" panose="020B0604030504040204" charset="0"/>
            </a:endParaRPr>
          </a:p>
          <a:p>
            <a:pPr marL="0" indent="0" algn="just">
              <a:buNone/>
            </a:pPr>
            <a:endParaRPr lang="en-US"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/>
          <p:nvPr>
            <p:ph idx="1"/>
          </p:nvPr>
        </p:nvSpPr>
        <p:spPr>
          <a:xfrm>
            <a:off x="457200" y="246380"/>
            <a:ext cx="8361045" cy="5849620"/>
          </a:xfrm>
        </p:spPr>
        <p:txBody>
          <a:bodyPr/>
          <a:p>
            <a:r>
              <a:rPr lang="en-US"/>
              <a:t>Solution</a:t>
            </a:r>
            <a:endParaRPr lang="en-US"/>
          </a:p>
          <a:p>
            <a:pPr marL="0" indent="0" algn="just">
              <a:buNone/>
            </a:pPr>
            <a:endParaRPr lang="en-US" sz="1800" b="1">
              <a:latin typeface="Verdana Bold" panose="020B0604030504040204" charset="0"/>
              <a:cs typeface="Verdana Bold" panose="020B0604030504040204" charset="0"/>
            </a:endParaRPr>
          </a:p>
          <a:p>
            <a:pPr marL="0" indent="0" algn="just">
              <a:buNone/>
            </a:pPr>
            <a:endParaRPr lang="en-US" sz="1660"/>
          </a:p>
        </p:txBody>
      </p:sp>
      <p:pic>
        <p:nvPicPr>
          <p:cNvPr id="4" name="Picture 3" descr="Image 24-03-2025 at 12.13 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762000"/>
            <a:ext cx="6861175" cy="5953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/>
          <p:nvPr>
            <p:ph idx="1"/>
          </p:nvPr>
        </p:nvSpPr>
        <p:spPr>
          <a:xfrm>
            <a:off x="457200" y="298450"/>
            <a:ext cx="8229600" cy="6017260"/>
          </a:xfrm>
        </p:spPr>
        <p:txBody>
          <a:bodyPr/>
          <a:p>
            <a:pPr marL="0" indent="0">
              <a:buNone/>
            </a:pPr>
            <a:r>
              <a:rPr lang="en-US"/>
              <a:t>Practise Questions</a:t>
            </a:r>
            <a:endParaRPr lang="en-US"/>
          </a:p>
          <a:p>
            <a:pPr marL="0" indent="0" algn="just">
              <a:buNone/>
            </a:pPr>
            <a:endParaRPr lang="en-US" sz="1800" b="1">
              <a:latin typeface="Verdana Bold" panose="020B0604030504040204" charset="0"/>
              <a:cs typeface="Verdana Bold" panose="020B0604030504040204" charset="0"/>
            </a:endParaRPr>
          </a:p>
          <a:p>
            <a:pPr marL="0" indent="0" algn="just">
              <a:buNone/>
            </a:pPr>
            <a:r>
              <a:rPr lang="en-US" sz="1800" b="1">
                <a:latin typeface="Verdana Bold" panose="020B0604030504040204" charset="0"/>
                <a:cs typeface="Verdana Bold" panose="020B0604030504040204" charset="0"/>
              </a:rPr>
              <a:t>2.) Write an Assembly program that takes two numbers in AX and BX and stores the greater number in CX.</a:t>
            </a:r>
            <a:endParaRPr lang="en-US" sz="1800" b="1">
              <a:latin typeface="Verdana Bold" panose="020B0604030504040204" charset="0"/>
              <a:cs typeface="Verdana Bold" panose="020B0604030504040204" charset="0"/>
            </a:endParaRPr>
          </a:p>
          <a:p>
            <a:pPr algn="just"/>
            <a:endParaRPr lang="en-US" sz="1800" b="1">
              <a:latin typeface="Verdana Bold" panose="020B0604030504040204" charset="0"/>
              <a:cs typeface="Verdana Bold" panose="020B0604030504040204" charset="0"/>
            </a:endParaRPr>
          </a:p>
          <a:p>
            <a:pPr marL="0" indent="0" algn="just">
              <a:buNone/>
            </a:pPr>
            <a:r>
              <a:rPr lang="en-US" sz="1800">
                <a:solidFill>
                  <a:srgbClr val="FF0000"/>
                </a:solidFill>
              </a:rPr>
              <a:t>Note: Use CMP AX, BX followed by conditional jumps (JG, JL).</a:t>
            </a:r>
            <a:endParaRPr lang="en-US" sz="1800">
              <a:solidFill>
                <a:srgbClr val="FF0000"/>
              </a:solidFill>
            </a:endParaRPr>
          </a:p>
          <a:p>
            <a:pPr marL="0" indent="0" algn="just">
              <a:buNone/>
            </a:pPr>
            <a:endParaRPr lang="en-US"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/>
          <p:nvPr>
            <p:ph idx="1"/>
          </p:nvPr>
        </p:nvSpPr>
        <p:spPr>
          <a:xfrm>
            <a:off x="457200" y="246380"/>
            <a:ext cx="8361045" cy="5849620"/>
          </a:xfrm>
        </p:spPr>
        <p:txBody>
          <a:bodyPr/>
          <a:p>
            <a:r>
              <a:rPr lang="en-US"/>
              <a:t>Solution</a:t>
            </a:r>
            <a:endParaRPr lang="en-US"/>
          </a:p>
          <a:p>
            <a:pPr marL="0" indent="0" algn="just">
              <a:buNone/>
            </a:pPr>
            <a:endParaRPr lang="en-US" sz="1800" b="1">
              <a:latin typeface="Verdana Bold" panose="020B0604030504040204" charset="0"/>
              <a:cs typeface="Verdana Bold" panose="020B0604030504040204" charset="0"/>
            </a:endParaRPr>
          </a:p>
          <a:p>
            <a:pPr marL="0" indent="0" algn="just">
              <a:buNone/>
            </a:pPr>
            <a:endParaRPr lang="en-US" sz="1660"/>
          </a:p>
        </p:txBody>
      </p:sp>
      <p:pic>
        <p:nvPicPr>
          <p:cNvPr id="3" name="Picture 2" descr="Image 24-03-2025 at 11.52 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7880" y="843280"/>
            <a:ext cx="7795895" cy="59080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/>
          <p:nvPr>
            <p:ph idx="1"/>
          </p:nvPr>
        </p:nvSpPr>
        <p:spPr>
          <a:xfrm>
            <a:off x="457200" y="298450"/>
            <a:ext cx="8229600" cy="6017260"/>
          </a:xfrm>
        </p:spPr>
        <p:txBody>
          <a:bodyPr/>
          <a:p>
            <a:pPr marL="0" indent="0">
              <a:buNone/>
            </a:pPr>
            <a:r>
              <a:rPr lang="en-US"/>
              <a:t>Practise Questions</a:t>
            </a:r>
            <a:endParaRPr lang="en-US"/>
          </a:p>
          <a:p>
            <a:pPr marL="0" indent="0" algn="just">
              <a:buNone/>
            </a:pPr>
            <a:endParaRPr lang="en-US" sz="1800" b="1">
              <a:latin typeface="Verdana Bold" panose="020B0604030504040204" charset="0"/>
              <a:cs typeface="Verdana Bold" panose="020B0604030504040204" charset="0"/>
            </a:endParaRPr>
          </a:p>
          <a:p>
            <a:pPr marL="0" indent="0" algn="just">
              <a:buNone/>
            </a:pPr>
            <a:r>
              <a:rPr lang="en-US" sz="1800" b="1">
                <a:latin typeface="Verdana Bold" panose="020B0604030504040204" charset="0"/>
                <a:cs typeface="Verdana Bold" panose="020B0604030504040204" charset="0"/>
              </a:rPr>
              <a:t>3.) Write an Assembly program that takes a number in AX and determines if it is:</a:t>
            </a:r>
            <a:endParaRPr lang="en-US" sz="1800" b="1">
              <a:latin typeface="Verdana Bold" panose="020B0604030504040204" charset="0"/>
              <a:cs typeface="Verdana Bold" panose="020B0604030504040204" charset="0"/>
            </a:endParaRPr>
          </a:p>
          <a:p>
            <a:pPr algn="just"/>
            <a:r>
              <a:rPr lang="en-US" sz="1800" b="1">
                <a:latin typeface="Verdana Bold" panose="020B0604030504040204" charset="0"/>
                <a:cs typeface="Verdana Bold" panose="020B0604030504040204" charset="0"/>
              </a:rPr>
              <a:t>Positive → Store 1 in BX</a:t>
            </a:r>
            <a:endParaRPr lang="en-US" sz="1800" b="1">
              <a:latin typeface="Verdana Bold" panose="020B0604030504040204" charset="0"/>
              <a:cs typeface="Verdana Bold" panose="020B0604030504040204" charset="0"/>
            </a:endParaRPr>
          </a:p>
          <a:p>
            <a:pPr algn="just"/>
            <a:r>
              <a:rPr lang="en-US" sz="1800" b="1">
                <a:latin typeface="Verdana Bold" panose="020B0604030504040204" charset="0"/>
                <a:cs typeface="Verdana Bold" panose="020B0604030504040204" charset="0"/>
              </a:rPr>
              <a:t>Negative → Store -1 in BX</a:t>
            </a:r>
            <a:endParaRPr lang="en-US" sz="1800" b="1">
              <a:latin typeface="Verdana Bold" panose="020B0604030504040204" charset="0"/>
              <a:cs typeface="Verdana Bold" panose="020B0604030504040204" charset="0"/>
            </a:endParaRPr>
          </a:p>
          <a:p>
            <a:pPr algn="just"/>
            <a:r>
              <a:rPr lang="en-US" sz="1800" b="1">
                <a:latin typeface="Verdana Bold" panose="020B0604030504040204" charset="0"/>
                <a:cs typeface="Verdana Bold" panose="020B0604030504040204" charset="0"/>
              </a:rPr>
              <a:t>Zero → Store 0 in BX</a:t>
            </a:r>
            <a:endParaRPr lang="en-US" sz="1800" b="1">
              <a:latin typeface="Verdana Bold" panose="020B0604030504040204" charset="0"/>
              <a:cs typeface="Verdana Bold" panose="020B0604030504040204" charset="0"/>
            </a:endParaRPr>
          </a:p>
          <a:p>
            <a:pPr algn="just">
              <a:buNone/>
            </a:pPr>
            <a:endParaRPr lang="en-US" sz="1800">
              <a:solidFill>
                <a:srgbClr val="FF0000"/>
              </a:solidFill>
            </a:endParaRPr>
          </a:p>
          <a:p>
            <a:pPr algn="just">
              <a:buNone/>
            </a:pPr>
            <a:r>
              <a:rPr lang="en-US" sz="1800">
                <a:solidFill>
                  <a:srgbClr val="FF0000"/>
                </a:solidFill>
              </a:rPr>
              <a:t>Note: Apply one compare condition only and use conditional jumps</a:t>
            </a:r>
            <a:endParaRPr lang="en-US"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/>
          <p:nvPr>
            <p:ph idx="1"/>
          </p:nvPr>
        </p:nvSpPr>
        <p:spPr>
          <a:xfrm>
            <a:off x="457200" y="246380"/>
            <a:ext cx="8361045" cy="5849620"/>
          </a:xfrm>
        </p:spPr>
        <p:txBody>
          <a:bodyPr/>
          <a:p>
            <a:r>
              <a:rPr lang="en-US"/>
              <a:t>Solution</a:t>
            </a:r>
            <a:endParaRPr lang="en-US"/>
          </a:p>
          <a:p>
            <a:pPr marL="0" indent="0" algn="just">
              <a:buNone/>
            </a:pPr>
            <a:endParaRPr lang="en-US" sz="1800" b="1">
              <a:latin typeface="Verdana Bold" panose="020B0604030504040204" charset="0"/>
              <a:cs typeface="Verdana Bold" panose="020B0604030504040204" charset="0"/>
            </a:endParaRPr>
          </a:p>
          <a:p>
            <a:pPr marL="0" indent="0" algn="just">
              <a:buNone/>
            </a:pPr>
            <a:endParaRPr lang="en-US" sz="1660"/>
          </a:p>
        </p:txBody>
      </p:sp>
      <p:pic>
        <p:nvPicPr>
          <p:cNvPr id="4" name="Picture 3" descr="Image 24-03-2025 at 11.54 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914400"/>
            <a:ext cx="8267065" cy="585025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/>
          <p:nvPr>
            <p:ph idx="1"/>
          </p:nvPr>
        </p:nvSpPr>
        <p:spPr>
          <a:xfrm>
            <a:off x="457200" y="298450"/>
            <a:ext cx="8229600" cy="6017260"/>
          </a:xfrm>
        </p:spPr>
        <p:txBody>
          <a:bodyPr/>
          <a:p>
            <a:pPr marL="0" indent="0">
              <a:buNone/>
            </a:pPr>
            <a:r>
              <a:rPr lang="en-US"/>
              <a:t>Practise Questions</a:t>
            </a:r>
            <a:endParaRPr lang="en-US"/>
          </a:p>
          <a:p>
            <a:pPr marL="0" indent="0" algn="just">
              <a:buNone/>
            </a:pPr>
            <a:endParaRPr lang="en-US" sz="1800" b="1">
              <a:latin typeface="Verdana Bold" panose="020B0604030504040204" charset="0"/>
              <a:cs typeface="Verdana Bold" panose="020B0604030504040204" charset="0"/>
            </a:endParaRPr>
          </a:p>
          <a:p>
            <a:pPr marL="0" indent="0" algn="just">
              <a:buNone/>
            </a:pPr>
            <a:r>
              <a:rPr lang="en-US" sz="1800" b="1">
                <a:latin typeface="Verdana Bold" panose="020B0604030504040204" charset="0"/>
                <a:cs typeface="Verdana Bold" panose="020B0604030504040204" charset="0"/>
              </a:rPr>
              <a:t>4.) Write an Assembly program that counts the number of negative</a:t>
            </a:r>
            <a:endParaRPr lang="en-US" sz="1800" b="1">
              <a:latin typeface="Verdana Bold" panose="020B0604030504040204" charset="0"/>
              <a:cs typeface="Verdana Bold" panose="020B0604030504040204" charset="0"/>
            </a:endParaRPr>
          </a:p>
          <a:p>
            <a:pPr algn="just">
              <a:buNone/>
            </a:pPr>
            <a:r>
              <a:rPr lang="en-US" sz="1800" b="1">
                <a:latin typeface="Verdana Bold" panose="020B0604030504040204" charset="0"/>
                <a:cs typeface="Verdana Bold" panose="020B0604030504040204" charset="0"/>
              </a:rPr>
              <a:t>numbers in an array. </a:t>
            </a:r>
            <a:endParaRPr lang="en-US" sz="1800" b="1">
              <a:latin typeface="Verdana Bold" panose="020B0604030504040204" charset="0"/>
              <a:cs typeface="Verdana Bold" panose="020B0604030504040204" charset="0"/>
            </a:endParaRPr>
          </a:p>
          <a:p>
            <a:pPr algn="just"/>
            <a:r>
              <a:rPr lang="en-US" sz="1800" b="1">
                <a:latin typeface="Verdana Bold" panose="020B0604030504040204" charset="0"/>
                <a:cs typeface="Verdana Bold" panose="020B0604030504040204" charset="0"/>
              </a:rPr>
              <a:t>Store the result in CX.</a:t>
            </a:r>
            <a:endParaRPr lang="en-US" sz="1800" b="1">
              <a:latin typeface="Verdana Bold" panose="020B0604030504040204" charset="0"/>
              <a:cs typeface="Verdana Bold" panose="020B0604030504040204" charset="0"/>
            </a:endParaRPr>
          </a:p>
          <a:p>
            <a:pPr algn="just"/>
            <a:r>
              <a:rPr lang="en-US" sz="1800" b="1">
                <a:latin typeface="Verdana Bold" panose="020B0604030504040204" charset="0"/>
                <a:cs typeface="Verdana Bold" panose="020B0604030504040204" charset="0"/>
              </a:rPr>
              <a:t>The array ends with -1.</a:t>
            </a:r>
            <a:endParaRPr lang="en-US" sz="1800" b="1">
              <a:latin typeface="Verdana Bold" panose="020B0604030504040204" charset="0"/>
              <a:cs typeface="Verdana Bold" panose="020B0604030504040204" charset="0"/>
            </a:endParaRPr>
          </a:p>
          <a:p>
            <a:pPr algn="just">
              <a:buNone/>
            </a:pPr>
            <a:endParaRPr lang="en-US" sz="1800">
              <a:solidFill>
                <a:srgbClr val="FF0000"/>
              </a:solidFill>
            </a:endParaRPr>
          </a:p>
          <a:p>
            <a:pPr algn="just">
              <a:buNone/>
            </a:pPr>
            <a:r>
              <a:rPr lang="en-US" sz="1800">
                <a:solidFill>
                  <a:srgbClr val="FF0000"/>
                </a:solidFill>
              </a:rPr>
              <a:t>Note: Use a loop and check the sign flag (SF) using JS.</a:t>
            </a:r>
            <a:endParaRPr lang="en-US" sz="1800">
              <a:solidFill>
                <a:srgbClr val="FF0000"/>
              </a:solidFill>
            </a:endParaRPr>
          </a:p>
          <a:p>
            <a:pPr algn="just">
              <a:buNone/>
            </a:pPr>
            <a:endParaRPr lang="en-US"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/>
          <p:nvPr>
            <p:ph idx="1"/>
          </p:nvPr>
        </p:nvSpPr>
        <p:spPr>
          <a:xfrm>
            <a:off x="457200" y="246380"/>
            <a:ext cx="8361045" cy="5849620"/>
          </a:xfrm>
        </p:spPr>
        <p:txBody>
          <a:bodyPr/>
          <a:p>
            <a:r>
              <a:rPr lang="en-US"/>
              <a:t>Solution</a:t>
            </a:r>
            <a:endParaRPr lang="en-US"/>
          </a:p>
          <a:p>
            <a:pPr marL="0" indent="0" algn="just">
              <a:buNone/>
            </a:pPr>
            <a:endParaRPr lang="en-US" sz="1800" b="1">
              <a:latin typeface="Verdana Bold" panose="020B0604030504040204" charset="0"/>
              <a:cs typeface="Verdana Bold" panose="020B0604030504040204" charset="0"/>
            </a:endParaRPr>
          </a:p>
          <a:p>
            <a:pPr marL="0" indent="0" algn="just">
              <a:buNone/>
            </a:pPr>
            <a:endParaRPr lang="en-US" sz="1660"/>
          </a:p>
        </p:txBody>
      </p:sp>
      <p:pic>
        <p:nvPicPr>
          <p:cNvPr id="3" name="Picture 2" descr="Image 24-03-2025 at 11.57 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50" y="816610"/>
            <a:ext cx="7458075" cy="601091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2049780"/>
            <a:ext cx="8229600" cy="4046220"/>
          </a:xfrm>
        </p:spPr>
        <p:txBody>
          <a:bodyPr/>
          <a:p>
            <a:pPr marL="0" indent="0" algn="ctr">
              <a:buNone/>
            </a:pPr>
            <a:r>
              <a:rPr lang="en-US"/>
              <a:t> End of Lecture</a:t>
            </a:r>
            <a:endParaRPr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p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Paper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2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Paper</Template>
  <TotalTime>0</TotalTime>
  <Words>874</Words>
  <Application>WPS Presentation</Application>
  <PresentationFormat>On-screen Show (4:3)</PresentationFormat>
  <Paragraphs>57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3" baseType="lpstr">
      <vt:lpstr>Arial</vt:lpstr>
      <vt:lpstr>SimSun</vt:lpstr>
      <vt:lpstr>Wingdings</vt:lpstr>
      <vt:lpstr>Wingdings 2</vt:lpstr>
      <vt:lpstr>Wingdings 2</vt:lpstr>
      <vt:lpstr>Verdana Bold</vt:lpstr>
      <vt:lpstr>Verdana</vt:lpstr>
      <vt:lpstr>Microsoft YaHei</vt:lpstr>
      <vt:lpstr>汉仪旗黑</vt:lpstr>
      <vt:lpstr>Arial Unicode MS</vt:lpstr>
      <vt:lpstr>Calibri</vt:lpstr>
      <vt:lpstr>Helvetica Neue</vt:lpstr>
      <vt:lpstr>Paper</vt:lpstr>
      <vt:lpstr>Computer Organization &amp; Assembly Language (CSC-205)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Creating Digital Content (CSC-</dc:title>
  <dc:creator>Huda Sarfraz</dc:creator>
  <cp:lastModifiedBy>nimraabbas</cp:lastModifiedBy>
  <cp:revision>238</cp:revision>
  <dcterms:created xsi:type="dcterms:W3CDTF">2025-03-28T03:22:41Z</dcterms:created>
  <dcterms:modified xsi:type="dcterms:W3CDTF">2025-03-28T03:22:41Z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1033-5.7.0.8090</vt:lpwstr>
  </property>
</Properties>
</file>