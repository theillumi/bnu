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26" r:id="rId3"/>
    <p:sldId id="557" r:id="rId5"/>
    <p:sldId id="564" r:id="rId6"/>
    <p:sldId id="565" r:id="rId7"/>
    <p:sldId id="558" r:id="rId8"/>
    <p:sldId id="566" r:id="rId9"/>
    <p:sldId id="559" r:id="rId10"/>
    <p:sldId id="560" r:id="rId11"/>
    <p:sldId id="561" r:id="rId12"/>
    <p:sldId id="562" r:id="rId13"/>
    <p:sldId id="567" r:id="rId14"/>
    <p:sldId id="568" r:id="rId15"/>
    <p:sldId id="569" r:id="rId16"/>
    <p:sldId id="570" r:id="rId17"/>
    <p:sldId id="571" r:id="rId18"/>
    <p:sldId id="573" r:id="rId19"/>
    <p:sldId id="574" r:id="rId20"/>
    <p:sldId id="575" r:id="rId21"/>
    <p:sldId id="50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3BE717-232F-4F04-8C42-B483AA5BDA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0B4DA-30D8-4F6D-BF35-157D774FB51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e878c25f7a_0_376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e878c25f7a_0_37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Task 3 contains a code of this. 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Check Task1 for this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Check Task2 file for this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Task 3 contains the code for this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Task 3 contains the code for this</a:t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Task 3 contains the code for this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Task 1 contains the code for this</a:t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Task 2 contains the code of (default copy constructor)</a:t>
            </a:r>
            <a:endParaRPr lang="en-US"/>
          </a:p>
          <a:p>
            <a:r>
              <a:rPr lang="en-US"/>
              <a:t>Task 3 contains </a:t>
            </a:r>
            <a:r>
              <a:rPr lang="en-US">
                <a:sym typeface="+mn-ea"/>
              </a:rPr>
              <a:t>the code of (custom copy constructor)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Q1 contains the solution of this</a:t>
            </a: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Q1 contains the solution of this.</a:t>
            </a:r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Q2 contains the solution of this.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600" lvl="0" indent="-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200" lvl="1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2pPr>
            <a:lvl3pPr marL="1828800" lvl="2" indent="-423545" rtl="0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3pPr>
            <a:lvl4pPr marL="2438400" lvl="3" indent="-423545" rtl="0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4pPr>
            <a:lvl5pPr marL="3048000" lvl="4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5pPr>
            <a:lvl6pPr marL="3657600" lvl="5" indent="-423545" rtl="0">
              <a:spcBef>
                <a:spcPct val="427000"/>
              </a:spcBef>
              <a:spcAft>
                <a:spcPts val="0"/>
              </a:spcAft>
              <a:buSzPts val="1400"/>
              <a:buChar char="■"/>
              <a:defRPr/>
            </a:lvl6pPr>
            <a:lvl7pPr marL="4267200" lvl="6" indent="-423545" rtl="0">
              <a:spcBef>
                <a:spcPct val="427000"/>
              </a:spcBef>
              <a:spcAft>
                <a:spcPts val="0"/>
              </a:spcAft>
              <a:buSzPts val="1400"/>
              <a:buChar char="●"/>
              <a:defRPr/>
            </a:lvl7pPr>
            <a:lvl8pPr marL="4876800" lvl="7" indent="-423545" rtl="0">
              <a:spcBef>
                <a:spcPct val="427000"/>
              </a:spcBef>
              <a:spcAft>
                <a:spcPts val="0"/>
              </a:spcAft>
              <a:buSzPts val="1400"/>
              <a:buChar char="○"/>
              <a:defRPr/>
            </a:lvl8pPr>
            <a:lvl9pPr marL="5486400" lvl="8" indent="-423545" rtl="0">
              <a:spcBef>
                <a:spcPct val="4270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1"/>
          <p:cNvSpPr/>
          <p:nvPr/>
        </p:nvSpPr>
        <p:spPr>
          <a:xfrm>
            <a:off x="6096000" y="10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cxnSp>
        <p:nvCxnSpPr>
          <p:cNvPr id="85" name="Google Shape;85;p21"/>
          <p:cNvCxnSpPr/>
          <p:nvPr/>
        </p:nvCxnSpPr>
        <p:spPr>
          <a:xfrm>
            <a:off x="6706233" y="5994000"/>
            <a:ext cx="624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p21"/>
          <p:cNvSpPr txBox="1"/>
          <p:nvPr>
            <p:ph type="title"/>
          </p:nvPr>
        </p:nvSpPr>
        <p:spPr>
          <a:xfrm>
            <a:off x="354000" y="1607767"/>
            <a:ext cx="5393600" cy="20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87" name="Google Shape;87;p21"/>
          <p:cNvSpPr txBox="1"/>
          <p:nvPr>
            <p:ph type="subTitle" idx="1"/>
          </p:nvPr>
        </p:nvSpPr>
        <p:spPr>
          <a:xfrm>
            <a:off x="354000" y="3692001"/>
            <a:ext cx="5393600" cy="17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88" name="Google Shape;88;p21"/>
          <p:cNvSpPr txBox="1"/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609600" lvl="0" indent="-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1219200" lvl="1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828800" lvl="2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2438400" lvl="3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3048000" lvl="4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3657600" lvl="5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4267200" lvl="6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4876800" lvl="7" indent="-423545" rtl="0">
              <a:spcBef>
                <a:spcPct val="4270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5486400" lvl="8" indent="-423545" rtl="0">
              <a:spcBef>
                <a:spcPct val="4270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9A709E-C215-4E8E-8E45-59E3768F84B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737CF-34AC-4C2D-ABFC-61A12BD25FF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ctrTitle"/>
          </p:nvPr>
        </p:nvSpPr>
        <p:spPr>
          <a:xfrm>
            <a:off x="680600" y="1676400"/>
            <a:ext cx="10830800" cy="21180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8000">
                <a:solidFill>
                  <a:schemeClr val="bg1"/>
                </a:solidFill>
              </a:rPr>
              <a:t>OOP</a:t>
            </a:r>
            <a:r>
              <a:rPr lang="en-GB" sz="8000">
                <a:solidFill>
                  <a:schemeClr val="bg1"/>
                </a:solidFill>
              </a:rPr>
              <a:t> </a:t>
            </a:r>
            <a:endParaRPr lang="en-GB" sz="8000">
              <a:solidFill>
                <a:schemeClr val="bg1"/>
              </a:solidFill>
            </a:endParaRPr>
          </a:p>
        </p:txBody>
      </p:sp>
      <p:cxnSp>
        <p:nvCxnSpPr>
          <p:cNvPr id="63" name="Google Shape;63;p13"/>
          <p:cNvCxnSpPr/>
          <p:nvPr/>
        </p:nvCxnSpPr>
        <p:spPr>
          <a:xfrm rot="10800000" flipH="1">
            <a:off x="820200" y="3979367"/>
            <a:ext cx="8248400" cy="18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Subtitle 1"/>
          <p:cNvSpPr/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1"/>
          <p:cNvSpPr/>
          <p:nvPr/>
        </p:nvSpPr>
        <p:spPr>
          <a:xfrm>
            <a:off x="883195" y="4182438"/>
            <a:ext cx="8123100" cy="6300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roxima Nova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r>
              <a:rPr lang="en-US"/>
              <a:t>Lecture 1</a:t>
            </a:r>
            <a:endParaRPr lang="en-US"/>
          </a:p>
        </p:txBody>
      </p:sp>
      <p:pic>
        <p:nvPicPr>
          <p:cNvPr id="6" name="Picture 5" descr="abstract-code-blocks-rendered-in-3d-within-the-virtual-space-powerpoint-background_79acb22bd5__960_5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80720" y="2073910"/>
            <a:ext cx="10301605" cy="35998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7200" b="1">
                <a:solidFill>
                  <a:schemeClr val="bg1"/>
                </a:solidFill>
                <a:latin typeface="Arial Bold" panose="020B0604020202020204" charset="0"/>
                <a:cs typeface="Arial Bold" panose="020B0604020202020204" charset="0"/>
              </a:rPr>
              <a:t>Object Oriented Programming</a:t>
            </a:r>
            <a:endParaRPr lang="en-US" sz="72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r>
              <a:rPr lang="en-US" sz="2800" b="1">
                <a:solidFill>
                  <a:schemeClr val="bg1"/>
                </a:solidFill>
                <a:latin typeface="Arial Bold" panose="020B0604020202020204" charset="0"/>
                <a:cs typeface="Arial Bold" panose="020B0604020202020204" charset="0"/>
              </a:rPr>
              <a:t>Lecture 7</a:t>
            </a:r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endParaRPr lang="en-US" sz="2800" b="1">
              <a:solidFill>
                <a:schemeClr val="bg1"/>
              </a:solidFill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1520"/>
          </a:xfrm>
        </p:spPr>
        <p:txBody>
          <a:bodyPr/>
          <a:lstStyle/>
          <a:p>
            <a:r>
              <a:rPr lang="en-US" dirty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1580"/>
            <a:ext cx="10385425" cy="4909820"/>
          </a:xfrm>
        </p:spPr>
        <p:txBody>
          <a:bodyPr>
            <a:normAutofit/>
          </a:bodyPr>
          <a:lstStyle/>
          <a:p>
            <a:r>
              <a:rPr lang="en-US" sz="2400" dirty="0">
                <a:sym typeface="+mn-ea"/>
              </a:rPr>
              <a:t>Encapsulation</a:t>
            </a:r>
            <a:endParaRPr lang="en-US" sz="2400" dirty="0">
              <a:sym typeface="+mn-ea"/>
            </a:endParaRPr>
          </a:p>
          <a:p>
            <a:r>
              <a:rPr lang="en-US" sz="2400" dirty="0">
                <a:sym typeface="+mn-ea"/>
              </a:rPr>
              <a:t>Two Special Method Constructor &amp; Destructor</a:t>
            </a:r>
            <a:endParaRPr lang="en-US" sz="2400" dirty="0">
              <a:sym typeface="+mn-ea"/>
            </a:endParaRPr>
          </a:p>
          <a:p>
            <a:r>
              <a:rPr lang="en-US" sz="2400" dirty="0">
                <a:sym typeface="+mn-ea"/>
              </a:rPr>
              <a:t>Constructor with No argument (Default Constructor)</a:t>
            </a:r>
            <a:endParaRPr lang="en-US" sz="2400" dirty="0">
              <a:sym typeface="+mn-ea"/>
            </a:endParaRPr>
          </a:p>
          <a:p>
            <a:r>
              <a:rPr lang="en-US" sz="2400" dirty="0">
                <a:sym typeface="+mn-ea"/>
              </a:rPr>
              <a:t>Constructor with One argument (Type-cast Constructor)</a:t>
            </a:r>
            <a:endParaRPr lang="en-US" sz="2400" dirty="0">
              <a:sym typeface="+mn-ea"/>
            </a:endParaRPr>
          </a:p>
          <a:p>
            <a:r>
              <a:rPr lang="en-US" sz="2400" dirty="0">
                <a:sym typeface="+mn-ea"/>
              </a:rPr>
              <a:t>Constructor with Default Arguments</a:t>
            </a:r>
            <a:endParaRPr lang="en-US" sz="2400" dirty="0">
              <a:sym typeface="+mn-ea"/>
            </a:endParaRPr>
          </a:p>
          <a:p>
            <a:r>
              <a:rPr lang="en-US" sz="2400" dirty="0"/>
              <a:t>Default Member-wise copy (during Assignment &amp; Initialization)</a:t>
            </a:r>
            <a:br>
              <a:rPr lang="en-US" sz="2400" dirty="0"/>
            </a:b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005"/>
            <a:ext cx="10515600" cy="448627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 smtClean="0"/>
              <a:t>Encapsulation is wrapping up of </a:t>
            </a:r>
            <a:r>
              <a:rPr lang="en-US" dirty="0" smtClean="0">
                <a:solidFill>
                  <a:srgbClr val="FF0000"/>
                </a:solidFill>
              </a:rPr>
              <a:t>data &amp; member functions</a:t>
            </a:r>
            <a:r>
              <a:rPr lang="en-US" dirty="0" smtClean="0"/>
              <a:t> in a single unit called class</a:t>
            </a: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It helps us with data hiding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/>
          <p:nvPr>
            <p:ph idx="1"/>
          </p:nvPr>
        </p:nvSpPr>
        <p:spPr>
          <a:xfrm>
            <a:off x="838200" y="2461260"/>
            <a:ext cx="10515600" cy="3716020"/>
          </a:xfrm>
        </p:spPr>
        <p:txBody>
          <a:bodyPr/>
          <a:p>
            <a:pPr marL="0" indent="0">
              <a:buNone/>
            </a:pPr>
            <a:r>
              <a:rPr lang="en-US" sz="2000" dirty="0">
                <a:sym typeface="+mn-ea"/>
              </a:rPr>
              <a:t>				   </a:t>
            </a:r>
            <a:r>
              <a:rPr lang="en-US" sz="3600" dirty="0">
                <a:sym typeface="+mn-ea"/>
              </a:rPr>
              <a:t>Constructor </a:t>
            </a:r>
            <a:endParaRPr lang="en-US" sz="3600"/>
          </a:p>
          <a:p>
            <a:pPr marL="0" indent="0">
              <a:buNone/>
            </a:pPr>
            <a:endParaRPr lang="en-US"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4155"/>
            <a:ext cx="10515600" cy="4683125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Special method invoked automatically at the time of object creation. Used for initilization:</a:t>
            </a:r>
            <a:endParaRPr lang="en-US" dirty="0"/>
          </a:p>
          <a:p>
            <a:endParaRPr lang="en-US" dirty="0"/>
          </a:p>
          <a:p>
            <a:r>
              <a:rPr lang="en-US" dirty="0"/>
              <a:t>Same name as class</a:t>
            </a:r>
            <a:endParaRPr lang="en-US" dirty="0"/>
          </a:p>
          <a:p>
            <a:r>
              <a:rPr lang="en-US" dirty="0"/>
              <a:t>Constructor doesn’t have a return type</a:t>
            </a:r>
            <a:endParaRPr lang="en-US" dirty="0"/>
          </a:p>
          <a:p>
            <a:r>
              <a:rPr lang="en-US" dirty="0"/>
              <a:t>Only called once (automatically) at object creation</a:t>
            </a:r>
            <a:endParaRPr lang="en-US" dirty="0"/>
          </a:p>
          <a:p>
            <a:r>
              <a:rPr lang="en-US" dirty="0"/>
              <a:t>Memory allocation happends when constructor is called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4155"/>
            <a:ext cx="10515600" cy="468312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 class can have multiple constructors but they will have the same name (as the class)</a:t>
            </a:r>
            <a:endParaRPr lang="en-US" dirty="0" smtClean="0"/>
          </a:p>
          <a:p>
            <a:r>
              <a:rPr lang="en-US" dirty="0" smtClean="0"/>
              <a:t>Different parameter lists create the difference between multiple constructors</a:t>
            </a:r>
            <a:endParaRPr lang="en-US" dirty="0" smtClean="0"/>
          </a:p>
          <a:p>
            <a:r>
              <a:rPr lang="en-US" dirty="0" smtClean="0"/>
              <a:t>Constructor selection depends on the values passed to the object on creation</a:t>
            </a:r>
            <a:endParaRPr lang="en-US" dirty="0" smtClean="0"/>
          </a:p>
          <a:p>
            <a:r>
              <a:rPr lang="en-US" dirty="0"/>
              <a:t>It can be defined inside the class and outside the class as well using the scope resolution operator ::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smtClean="0"/>
              <a:t>Constructors (Cont...)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4155"/>
            <a:ext cx="10515600" cy="4683125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Class Student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public: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int n;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Cons()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};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smtClean="0"/>
              <a:t>Initlization - Constructors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4155"/>
            <a:ext cx="10515600" cy="4683125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Constructors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94155"/>
            <a:ext cx="10515600" cy="4683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There are three types of constructors that we study in C++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Non-parameterized constructor //</a:t>
            </a:r>
            <a:r>
              <a:rPr lang="en-US" dirty="0" smtClean="0">
                <a:solidFill>
                  <a:srgbClr val="FF0000"/>
                </a:solidFill>
              </a:rPr>
              <a:t>we have checked already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>
                <a:sym typeface="+mn-ea"/>
              </a:rPr>
              <a:t>Parameterized constructor</a:t>
            </a:r>
            <a:endParaRPr lang="en-US" dirty="0" smtClean="0">
              <a:sym typeface="+mn-ea"/>
            </a:endParaRPr>
          </a:p>
          <a:p>
            <a:r>
              <a:rPr lang="en-US" dirty="0" smtClean="0">
                <a:sym typeface="+mn-ea"/>
              </a:rPr>
              <a:t>Copy constructor</a:t>
            </a:r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Parameterized constructor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640"/>
            <a:ext cx="10515600" cy="448564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Defining parameters in constructor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Constructor Overloading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640"/>
            <a:ext cx="10515600" cy="448564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Different constructors with same name but different type is called constructor overloading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Constructor Overloading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640"/>
            <a:ext cx="10515600" cy="448564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Different constructors with same name but different type is called constructor overloading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Constructor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640"/>
            <a:ext cx="10515600" cy="44856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“This Pointer”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this is a special pointer in C++ that points to the current object </a:t>
            </a:r>
            <a:endParaRPr lang="en-US" dirty="0" smtClean="0"/>
          </a:p>
          <a:p>
            <a:r>
              <a:rPr lang="en-US" dirty="0" smtClean="0"/>
              <a:t>this -&gt; prop is same as *(this).prop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ym typeface="+mn-ea"/>
              </a:rPr>
              <a:t>Copy Constructor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1640"/>
            <a:ext cx="10515600" cy="448564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Special Constructor (default) used to copy properties of one object into another. </a:t>
            </a:r>
            <a:endParaRPr lang="en-US" dirty="0" smtClean="0"/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Book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14195"/>
            <a:ext cx="10515600" cy="436308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Now lets discuss some examples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455" y="349885"/>
            <a:ext cx="4824730" cy="758825"/>
          </a:xfrm>
        </p:spPr>
        <p:txBody>
          <a:bodyPr>
            <a:normAutofit/>
          </a:bodyPr>
          <a:lstStyle/>
          <a:p>
            <a:r>
              <a:rPr lang="en-US" sz="2400" dirty="0"/>
              <a:t>Qestion 1: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455" y="1231900"/>
            <a:ext cx="11360150" cy="5343525"/>
          </a:xfrm>
        </p:spPr>
        <p:txBody>
          <a:bodyPr>
            <a:normAutofit fontScale="80000"/>
          </a:bodyPr>
          <a:lstStyle/>
          <a:p>
            <a:pPr marL="0" indent="0" algn="just">
              <a:buNone/>
            </a:pPr>
            <a:r>
              <a:rPr lang="en-US" sz="2000" dirty="0" smtClean="0"/>
              <a:t>Write a C++ program to implement a simple "Student Management System" using object-oriented programming principles. Your task is to create a class named </a:t>
            </a:r>
            <a:r>
              <a:rPr lang="en-US" sz="2000" dirty="0" smtClean="0">
                <a:solidFill>
                  <a:srgbClr val="FF0000"/>
                </a:solidFill>
              </a:rPr>
              <a:t>Student</a:t>
            </a:r>
            <a:r>
              <a:rPr lang="en-US" sz="2000" dirty="0" smtClean="0"/>
              <a:t> that has the following requirements:</a:t>
            </a:r>
            <a:endParaRPr lang="en-US" sz="2000" dirty="0" smtClean="0"/>
          </a:p>
          <a:p>
            <a:pPr marL="0" indent="0" algn="just">
              <a:buNone/>
            </a:pPr>
            <a:r>
              <a:rPr lang="en-US" sz="2000" b="1" u="sng" dirty="0" smtClean="0">
                <a:solidFill>
                  <a:schemeClr val="tx1"/>
                </a:solidFill>
                <a:latin typeface="Arial Bold" panose="020B0604020202020204" charset="0"/>
                <a:cs typeface="Arial Bold" panose="020B0604020202020204" charset="0"/>
              </a:rPr>
              <a:t>Data Members:</a:t>
            </a:r>
            <a:endParaRPr lang="en-US" sz="2000" b="1" u="sng" dirty="0" smtClean="0">
              <a:solidFill>
                <a:schemeClr val="tx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just">
              <a:buNone/>
            </a:pPr>
            <a:r>
              <a:rPr lang="en-US" sz="2000" dirty="0" smtClean="0"/>
              <a:t>An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integer id</a:t>
            </a:r>
            <a:r>
              <a:rPr lang="en-US" sz="2000" dirty="0" smtClean="0"/>
              <a:t> to store the student's ID.</a:t>
            </a:r>
            <a:endParaRPr lang="en-US" sz="2000" dirty="0" smtClean="0"/>
          </a:p>
          <a:p>
            <a:pPr marL="0" indent="0" algn="just">
              <a:buNone/>
            </a:pPr>
            <a:r>
              <a:rPr lang="en-US" sz="2000" dirty="0" smtClean="0"/>
              <a:t>A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string name</a:t>
            </a:r>
            <a:r>
              <a:rPr lang="en-US" sz="2000" dirty="0" smtClean="0"/>
              <a:t> to store the student's name.</a:t>
            </a:r>
            <a:endParaRPr lang="en-US" sz="2000" dirty="0" smtClean="0"/>
          </a:p>
          <a:p>
            <a:pPr marL="0" indent="0" algn="just">
              <a:buNone/>
            </a:pP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Float data members</a:t>
            </a:r>
            <a:r>
              <a:rPr lang="en-US" sz="2000" dirty="0" smtClean="0"/>
              <a:t> for storing marks in four subjects: math, science, urdu, and english.</a:t>
            </a:r>
            <a:endParaRPr lang="en-US" sz="2000" dirty="0" smtClean="0"/>
          </a:p>
          <a:p>
            <a:pPr marL="0" indent="0" algn="just">
              <a:buNone/>
            </a:pPr>
            <a:r>
              <a:rPr lang="en-US" sz="2000" b="1" u="sng" dirty="0" smtClean="0">
                <a:latin typeface="Arial Bold" panose="020B0604020202020204" charset="0"/>
                <a:cs typeface="Arial Bold" panose="020B0604020202020204" charset="0"/>
              </a:rPr>
              <a:t>Member Functions:</a:t>
            </a:r>
            <a:endParaRPr lang="en-US" sz="2000" b="1" u="sng" dirty="0" smtClean="0"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just">
              <a:buNone/>
            </a:pPr>
            <a:r>
              <a:rPr lang="en-US" sz="2000" b="1" dirty="0" smtClean="0">
                <a:latin typeface="Arial Bold" panose="020B0604020202020204" charset="0"/>
                <a:cs typeface="Arial Bold" panose="020B0604020202020204" charset="0"/>
              </a:rPr>
              <a:t>Setters:</a:t>
            </a:r>
            <a:endParaRPr lang="en-US" sz="2000" b="1" dirty="0" smtClean="0"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just">
              <a:buNone/>
            </a:pPr>
            <a:r>
              <a:rPr lang="en-US" sz="2000" dirty="0" smtClean="0"/>
              <a:t>void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setId(int)</a:t>
            </a:r>
            <a:r>
              <a:rPr lang="en-US" sz="2000" dirty="0" smtClean="0"/>
              <a:t>: Sets the student's ID. If the ID is negative, it should default to 0.</a:t>
            </a:r>
            <a:endParaRPr lang="en-US" sz="2000" dirty="0" smtClean="0"/>
          </a:p>
          <a:p>
            <a:pPr marL="0" indent="0" algn="just">
              <a:buNone/>
            </a:pPr>
            <a:r>
              <a:rPr lang="en-US" sz="2000" dirty="0" smtClean="0"/>
              <a:t>void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setName(string)</a:t>
            </a:r>
            <a:r>
              <a:rPr lang="en-US" sz="2000" dirty="0" smtClean="0"/>
              <a:t>: Sets the student's name.</a:t>
            </a:r>
            <a:endParaRPr lang="en-US" sz="2000" dirty="0" smtClean="0"/>
          </a:p>
          <a:p>
            <a:pPr marL="0" indent="0" algn="just">
              <a:buNone/>
            </a:pPr>
            <a:r>
              <a:rPr lang="en-US" sz="2000" dirty="0" smtClean="0"/>
              <a:t>void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setMath(float)</a:t>
            </a:r>
            <a:r>
              <a:rPr lang="en-US" sz="2000" dirty="0" smtClean="0"/>
              <a:t>: Sets the student's Math marks. If the marks are not in the range [0, 100], they should default to 0.</a:t>
            </a:r>
            <a:endParaRPr lang="en-US" sz="2000" dirty="0" smtClean="0"/>
          </a:p>
          <a:p>
            <a:pPr marL="0" indent="0" algn="just">
              <a:buNone/>
            </a:pPr>
            <a:r>
              <a:rPr lang="en-US" sz="2000" dirty="0" smtClean="0"/>
              <a:t>void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setScience(float)</a:t>
            </a:r>
            <a:r>
              <a:rPr lang="en-US" sz="2000" dirty="0" smtClean="0"/>
              <a:t>: Sets the student's Science marks. If the marks are not in the range [0, 100], they should default to 0.</a:t>
            </a:r>
            <a:endParaRPr lang="en-US" sz="2000" dirty="0" smtClean="0"/>
          </a:p>
          <a:p>
            <a:pPr marL="0" indent="0" algn="just">
              <a:buNone/>
            </a:pPr>
            <a:r>
              <a:rPr lang="en-US" sz="2000" dirty="0" smtClean="0"/>
              <a:t>void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setUrdu(float)</a:t>
            </a:r>
            <a:r>
              <a:rPr lang="en-US" sz="2000" dirty="0" smtClean="0"/>
              <a:t>: Sets the student's Urdu marks. If the marks are not in the range [0, 100], they should default to 0.</a:t>
            </a:r>
            <a:endParaRPr lang="en-US" sz="2000" dirty="0" smtClean="0"/>
          </a:p>
          <a:p>
            <a:pPr marL="0" indent="0" algn="just">
              <a:buNone/>
            </a:pPr>
            <a:r>
              <a:rPr lang="en-US" sz="2000" dirty="0" smtClean="0"/>
              <a:t>void </a:t>
            </a: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setEnglish(float)</a:t>
            </a:r>
            <a:r>
              <a:rPr lang="en-US" sz="2000" dirty="0" smtClean="0"/>
              <a:t>: Sets the student's English marks. If the marks are not in the range [0, 100], they should default to 0.</a:t>
            </a:r>
            <a:endParaRPr lang="en-US" sz="2000" dirty="0" smtClean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455" y="226695"/>
            <a:ext cx="4824730" cy="758825"/>
          </a:xfrm>
        </p:spPr>
        <p:txBody>
          <a:bodyPr>
            <a:normAutofit/>
          </a:bodyPr>
          <a:lstStyle/>
          <a:p>
            <a:r>
              <a:rPr lang="en-US" sz="2400" dirty="0"/>
              <a:t>Qestion 1 (Cont...)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2455" y="985520"/>
            <a:ext cx="11360150" cy="5589905"/>
          </a:xfrm>
        </p:spPr>
        <p:txBody>
          <a:bodyPr>
            <a:normAutofit lnSpcReduction="20000"/>
          </a:bodyPr>
          <a:lstStyle/>
          <a:p>
            <a:pPr marL="0" indent="0" algn="just">
              <a:buNone/>
            </a:pPr>
            <a:r>
              <a:rPr lang="en-US" sz="2000" b="1" u="sng" dirty="0" smtClean="0">
                <a:solidFill>
                  <a:schemeClr val="tx1"/>
                </a:solidFill>
                <a:latin typeface="Arial Bold" panose="020B0604020202020204" charset="0"/>
                <a:cs typeface="Arial Bold" panose="020B0604020202020204" charset="0"/>
              </a:rPr>
              <a:t>Getters:</a:t>
            </a:r>
            <a:endParaRPr lang="en-US" sz="2000" b="1" u="sng" dirty="0" smtClean="0">
              <a:solidFill>
                <a:schemeClr val="tx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just">
              <a:buNone/>
            </a:pPr>
            <a:r>
              <a:rPr lang="en-US" sz="1600" dirty="0" smtClean="0"/>
              <a:t>float </a:t>
            </a:r>
            <a:r>
              <a:rPr lang="en-US" sz="1600" b="1" dirty="0" smtClean="0">
                <a:solidFill>
                  <a:schemeClr val="accent1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getMath()</a:t>
            </a:r>
            <a:r>
              <a:rPr lang="en-US" sz="1600" dirty="0" smtClean="0"/>
              <a:t>: Returns the Math marks.</a:t>
            </a:r>
            <a:endParaRPr lang="en-US" sz="1600" dirty="0" smtClean="0"/>
          </a:p>
          <a:p>
            <a:pPr marL="0" indent="0" algn="just">
              <a:buNone/>
            </a:pPr>
            <a:r>
              <a:rPr lang="en-US" sz="1600" dirty="0" smtClean="0"/>
              <a:t>float </a:t>
            </a:r>
            <a:r>
              <a:rPr lang="en-US" sz="1600" b="1" dirty="0" smtClean="0">
                <a:solidFill>
                  <a:schemeClr val="accent1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getScience()</a:t>
            </a:r>
            <a:r>
              <a:rPr lang="en-US" sz="1600" dirty="0" smtClean="0"/>
              <a:t>: Returns the Science marks.</a:t>
            </a:r>
            <a:endParaRPr lang="en-US" sz="1600" dirty="0" smtClean="0"/>
          </a:p>
          <a:p>
            <a:pPr marL="0" indent="0" algn="just">
              <a:buNone/>
            </a:pPr>
            <a:r>
              <a:rPr lang="en-US" sz="1600" dirty="0" smtClean="0"/>
              <a:t>string </a:t>
            </a:r>
            <a:r>
              <a:rPr lang="en-US" sz="1600" b="1" dirty="0" smtClean="0">
                <a:solidFill>
                  <a:schemeClr val="accent1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getName()</a:t>
            </a:r>
            <a:r>
              <a:rPr lang="en-US" sz="1600" dirty="0" smtClean="0"/>
              <a:t>: Returns the student's name.</a:t>
            </a:r>
            <a:endParaRPr lang="en-US" sz="1600" dirty="0" smtClean="0"/>
          </a:p>
          <a:p>
            <a:pPr marL="0" indent="0" algn="just">
              <a:buNone/>
            </a:pPr>
            <a:r>
              <a:rPr lang="en-US" sz="1600" dirty="0" smtClean="0"/>
              <a:t>int </a:t>
            </a:r>
            <a:r>
              <a:rPr lang="en-US" sz="1600" b="1" dirty="0" smtClean="0">
                <a:solidFill>
                  <a:schemeClr val="accent1">
                    <a:lumMod val="75000"/>
                  </a:schemeClr>
                </a:solidFill>
                <a:latin typeface="Arial Bold" panose="020B0604020202020204" charset="0"/>
                <a:cs typeface="Arial Bold" panose="020B0604020202020204" charset="0"/>
              </a:rPr>
              <a:t>getId():</a:t>
            </a:r>
            <a:r>
              <a:rPr lang="en-US" sz="1600" dirty="0" smtClean="0"/>
              <a:t> Returns the student's ID.</a:t>
            </a:r>
            <a:endParaRPr lang="en-US" sz="1600" dirty="0" smtClean="0"/>
          </a:p>
          <a:p>
            <a:pPr marL="0" indent="0" algn="just">
              <a:buNone/>
            </a:pPr>
            <a:endParaRPr lang="en-US" sz="2000" b="1" u="sng" dirty="0" smtClean="0"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just">
              <a:buNone/>
            </a:pPr>
            <a:r>
              <a:rPr lang="en-US" sz="2000" b="1" u="sng" dirty="0" smtClean="0">
                <a:latin typeface="Arial Bold" panose="020B0604020202020204" charset="0"/>
                <a:cs typeface="Arial Bold" panose="020B0604020202020204" charset="0"/>
              </a:rPr>
              <a:t>Other Functions:</a:t>
            </a:r>
            <a:endParaRPr lang="en-US" sz="2000" b="1" u="sng" dirty="0" smtClean="0"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just">
              <a:buNone/>
            </a:pPr>
            <a:r>
              <a:rPr lang="en-US" sz="1600" b="1" dirty="0" smtClean="0">
                <a:latin typeface="Arial Bold" panose="020B0604020202020204" charset="0"/>
                <a:cs typeface="Arial Bold" panose="020B0604020202020204" charset="0"/>
              </a:rPr>
              <a:t>void display(): Displays the details of the student in the format:</a:t>
            </a:r>
            <a:endParaRPr lang="en-US" sz="1600" b="1" dirty="0" smtClean="0"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just">
              <a:buNone/>
            </a:pPr>
            <a:r>
              <a:rPr lang="en-US" sz="1600" dirty="0" smtClean="0"/>
              <a:t>Student[ Id : &lt;id&gt; , Name = &lt;name&gt; , Math = &lt;math_marks&gt; , Science = &lt;science_marks&gt; , Urdu = &lt;urdu_marks&gt; , English = &lt;english_marks&gt; ]</a:t>
            </a:r>
            <a:endParaRPr lang="en-US" sz="1600" dirty="0" smtClean="0"/>
          </a:p>
          <a:p>
            <a:pPr marL="0" indent="0" algn="just">
              <a:buNone/>
            </a:pPr>
            <a:endParaRPr lang="en-US" sz="2000" b="1" u="sng" dirty="0" smtClean="0"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marL="0" indent="0" algn="just">
              <a:buNone/>
            </a:pPr>
            <a:r>
              <a:rPr lang="en-US" sz="2000" b="1" u="sng" dirty="0" smtClean="0">
                <a:latin typeface="Arial Bold" panose="020B0604020202020204" charset="0"/>
                <a:cs typeface="Arial Bold" panose="020B0604020202020204" charset="0"/>
                <a:sym typeface="+mn-ea"/>
              </a:rPr>
              <a:t>Main Function:</a:t>
            </a:r>
            <a:endParaRPr lang="en-US" sz="2000" b="1" u="sng" dirty="0" smtClean="0"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algn="just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In the main() function, create an instance of the Student class.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Set the student’s ID to 100, name to "Ahmad", and marks for English, Math, Science, and Urdu to 87, 90, 75, and 79 respectively using the </a:t>
            </a:r>
            <a:r>
              <a:rPr lang="en-US" sz="16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setter functions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Display the student's details using the </a:t>
            </a:r>
            <a:r>
              <a:rPr lang="en-US" sz="1600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display() </a:t>
            </a:r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function.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</a:rPr>
              <a:t>Retrieve and display the student’s name separately.</a:t>
            </a:r>
            <a:endParaRPr lang="en-US" sz="1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900" y="349250"/>
            <a:ext cx="4672330" cy="605155"/>
          </a:xfrm>
        </p:spPr>
        <p:txBody>
          <a:bodyPr>
            <a:normAutofit/>
          </a:bodyPr>
          <a:lstStyle/>
          <a:p>
            <a:r>
              <a:rPr lang="en-US" sz="2400" dirty="0"/>
              <a:t>Qestion 2: (Home Task)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9900" y="954405"/>
            <a:ext cx="11482705" cy="562102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000" dirty="0" smtClean="0"/>
              <a:t>Consider the previous question (qestion 1) and make the following changes in this version:</a:t>
            </a:r>
            <a:endParaRPr lang="en-US" sz="2000" dirty="0" smtClean="0"/>
          </a:p>
          <a:p>
            <a:pPr marL="0" indent="0" algn="just">
              <a:buNone/>
            </a:pPr>
            <a:endParaRPr lang="en-US" sz="2000" u="sng" dirty="0" smtClean="0"/>
          </a:p>
          <a:p>
            <a:pPr marL="0" indent="0" algn="just">
              <a:buNone/>
            </a:pPr>
            <a:r>
              <a:rPr lang="en-US" sz="2000" u="sng" dirty="0" smtClean="0"/>
              <a:t>1.) Calculate Total Marks and Percentage:</a:t>
            </a:r>
            <a:endParaRPr lang="en-US" sz="2000" u="sng" dirty="0" smtClean="0"/>
          </a:p>
          <a:p>
            <a:pPr marL="0" indent="0" algn="just">
              <a:buNone/>
            </a:pPr>
            <a:r>
              <a:rPr lang="en-US" sz="1600" dirty="0" smtClean="0"/>
              <a:t>For this program, calculate the </a:t>
            </a:r>
            <a:r>
              <a:rPr lang="en-US" sz="1600" dirty="0" smtClean="0">
                <a:solidFill>
                  <a:srgbClr val="FF0000"/>
                </a:solidFill>
              </a:rPr>
              <a:t>totalMarks</a:t>
            </a:r>
            <a:r>
              <a:rPr lang="en-US" sz="1600" dirty="0" smtClean="0"/>
              <a:t> and </a:t>
            </a:r>
            <a:r>
              <a:rPr lang="en-US" sz="1600" dirty="0" smtClean="0">
                <a:solidFill>
                  <a:srgbClr val="FF0000"/>
                </a:solidFill>
              </a:rPr>
              <a:t>percentage</a:t>
            </a:r>
            <a:r>
              <a:rPr lang="en-US" sz="1600" dirty="0" smtClean="0"/>
              <a:t> inside a </a:t>
            </a:r>
            <a:r>
              <a:rPr lang="en-US" sz="1600" dirty="0" smtClean="0">
                <a:solidFill>
                  <a:srgbClr val="FF0000"/>
                </a:solidFill>
              </a:rPr>
              <a:t>private process() function</a:t>
            </a:r>
            <a:r>
              <a:rPr lang="en-US" sz="1600" dirty="0" smtClean="0"/>
              <a:t>, which is called by the </a:t>
            </a:r>
            <a:r>
              <a:rPr lang="en-US" sz="1600" dirty="0" smtClean="0">
                <a:solidFill>
                  <a:srgbClr val="FF0000"/>
                </a:solidFill>
              </a:rPr>
              <a:t>display() method</a:t>
            </a:r>
            <a:r>
              <a:rPr lang="en-US" sz="1600" dirty="0" smtClean="0"/>
              <a:t> before printing the details. The previous code did not perform these calculations; it only displayed the marks without computing the total and percentage.</a:t>
            </a:r>
            <a:endParaRPr lang="en-US" sz="1600" dirty="0" smtClean="0"/>
          </a:p>
          <a:p>
            <a:pPr marL="0" indent="0" algn="just">
              <a:buNone/>
            </a:pPr>
            <a:r>
              <a:rPr lang="en-US" sz="2000" u="sng" dirty="0" smtClean="0"/>
              <a:t>2.) Additional Data Members:</a:t>
            </a:r>
            <a:endParaRPr lang="en-US" sz="2000" u="sng" dirty="0" smtClean="0"/>
          </a:p>
          <a:p>
            <a:pPr marL="0" indent="0" algn="just">
              <a:buNone/>
            </a:pPr>
            <a:r>
              <a:rPr lang="en-US" sz="1600" dirty="0" smtClean="0"/>
              <a:t>This version must include </a:t>
            </a:r>
            <a:r>
              <a:rPr lang="en-US" sz="1600" dirty="0" smtClean="0">
                <a:solidFill>
                  <a:srgbClr val="FF0000"/>
                </a:solidFill>
              </a:rPr>
              <a:t>totalMarks</a:t>
            </a:r>
            <a:r>
              <a:rPr lang="en-US" sz="1600" dirty="0" smtClean="0"/>
              <a:t> and </a:t>
            </a:r>
            <a:r>
              <a:rPr lang="en-US" sz="1600" dirty="0" smtClean="0">
                <a:solidFill>
                  <a:srgbClr val="FF0000"/>
                </a:solidFill>
              </a:rPr>
              <a:t>percentage</a:t>
            </a:r>
            <a:r>
              <a:rPr lang="en-US" sz="1600" dirty="0" smtClean="0"/>
              <a:t> as data members in the </a:t>
            </a:r>
            <a:r>
              <a:rPr lang="en-US" sz="1600" dirty="0" smtClean="0">
                <a:solidFill>
                  <a:srgbClr val="FF0000"/>
                </a:solidFill>
              </a:rPr>
              <a:t>Student class</a:t>
            </a:r>
            <a:r>
              <a:rPr lang="en-US" sz="1600" dirty="0" smtClean="0"/>
              <a:t>, which are not present in the previous version. This will allow the program to store and access these values directly.</a:t>
            </a:r>
            <a:endParaRPr lang="en-US" sz="1600" dirty="0" smtClean="0"/>
          </a:p>
          <a:p>
            <a:pPr marL="0" indent="0" algn="just">
              <a:buNone/>
            </a:pPr>
            <a:r>
              <a:rPr lang="en-US" sz="2000" u="sng" dirty="0" smtClean="0"/>
              <a:t>3.) Displaying Additional Information:</a:t>
            </a:r>
            <a:endParaRPr lang="en-US" sz="2000" u="sng" dirty="0" smtClean="0"/>
          </a:p>
          <a:p>
            <a:pPr marL="0" indent="0" algn="just">
              <a:buNone/>
            </a:pPr>
            <a:r>
              <a:rPr lang="en-US" sz="1600" dirty="0" smtClean="0"/>
              <a:t>Create a  </a:t>
            </a:r>
            <a:r>
              <a:rPr lang="en-US" sz="1600" dirty="0" smtClean="0">
                <a:solidFill>
                  <a:srgbClr val="FF0000"/>
                </a:solidFill>
              </a:rPr>
              <a:t>display()</a:t>
            </a:r>
            <a:r>
              <a:rPr lang="en-US" sz="1600" dirty="0" smtClean="0"/>
              <a:t> function in this code that will show more details than the previous version, including the total marks obtained and the percentage.</a:t>
            </a:r>
            <a:endParaRPr lang="en-US" sz="1600" dirty="0" smtClean="0"/>
          </a:p>
          <a:p>
            <a:pPr marL="0" indent="0" algn="just">
              <a:buNone/>
            </a:pPr>
            <a:r>
              <a:rPr lang="en-US" sz="2000" u="sng" dirty="0" smtClean="0"/>
              <a:t>4.) Loop to Handle Multiple Students:</a:t>
            </a:r>
            <a:endParaRPr lang="en-US" sz="2000" u="sng" dirty="0" smtClean="0"/>
          </a:p>
          <a:p>
            <a:pPr marL="0" indent="0" algn="just">
              <a:buNone/>
            </a:pPr>
            <a:r>
              <a:rPr lang="en-US" sz="1600" dirty="0" smtClean="0"/>
              <a:t>The main program must use an</a:t>
            </a:r>
            <a:r>
              <a:rPr lang="en-US" sz="1600" dirty="0" smtClean="0">
                <a:solidFill>
                  <a:srgbClr val="FF0000"/>
                </a:solidFill>
              </a:rPr>
              <a:t> array of Student objects and a loop</a:t>
            </a:r>
            <a:r>
              <a:rPr lang="en-US" sz="1600" dirty="0" smtClean="0"/>
              <a:t> to manage multiple students' data.</a:t>
            </a:r>
            <a:endParaRPr lang="en-US" sz="1600" dirty="0" smtClean="0"/>
          </a:p>
          <a:p>
            <a:pPr marL="0" indent="0" algn="just">
              <a:buNone/>
            </a:pPr>
            <a:r>
              <a:rPr lang="en-US" sz="2000" u="sng" dirty="0" smtClean="0"/>
              <a:t>5.) User Input for Multiple Students:</a:t>
            </a:r>
            <a:endParaRPr lang="en-US" sz="2000" u="sng" dirty="0" smtClean="0"/>
          </a:p>
          <a:p>
            <a:pPr marL="0" indent="0" algn="just">
              <a:buNone/>
            </a:pPr>
            <a:r>
              <a:rPr lang="en-US" sz="1600" dirty="0" smtClean="0"/>
              <a:t>This code must collects input for three students from the user and then perform all the processing. </a:t>
            </a:r>
            <a:endParaRPr lang="en-US" sz="1600" dirty="0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/>
          <p:nvPr>
            <p:ph type="body" idx="1"/>
          </p:nvPr>
        </p:nvSpPr>
        <p:spPr>
          <a:xfrm>
            <a:off x="415290" y="2569845"/>
            <a:ext cx="11360785" cy="3522345"/>
          </a:xfrm>
        </p:spPr>
        <p:txBody>
          <a:bodyPr/>
          <a:p>
            <a:pPr marL="152400" indent="0" algn="ctr">
              <a:buNone/>
            </a:pPr>
            <a:r>
              <a:rPr lang="en-US"/>
              <a:t>End of Lecture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4851</Words>
  <Application>WPS Writer</Application>
  <PresentationFormat>Widescreen</PresentationFormat>
  <Paragraphs>157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2" baseType="lpstr">
      <vt:lpstr>Arial</vt:lpstr>
      <vt:lpstr>SimSun</vt:lpstr>
      <vt:lpstr>Wingdings</vt:lpstr>
      <vt:lpstr>Proxima Nova</vt:lpstr>
      <vt:lpstr>Thonburi</vt:lpstr>
      <vt:lpstr>Arial Bold</vt:lpstr>
      <vt:lpstr>Microsoft YaHei</vt:lpstr>
      <vt:lpstr>汉仪旗黑</vt:lpstr>
      <vt:lpstr>Arial Unicode MS</vt:lpstr>
      <vt:lpstr>Calibri</vt:lpstr>
      <vt:lpstr>Helvetica Neue</vt:lpstr>
      <vt:lpstr>宋体-简</vt:lpstr>
      <vt:lpstr>Office Theme</vt:lpstr>
      <vt:lpstr>OOP </vt:lpstr>
      <vt:lpstr>Outline</vt:lpstr>
      <vt:lpstr>Encapsulation</vt:lpstr>
      <vt:lpstr>PowerPoint 演示文稿</vt:lpstr>
      <vt:lpstr>Constructors</vt:lpstr>
      <vt:lpstr>Constructors</vt:lpstr>
      <vt:lpstr>Constructors (Cont...)</vt:lpstr>
      <vt:lpstr>Initlization - Constructors </vt:lpstr>
      <vt:lpstr>Types of Constructors</vt:lpstr>
      <vt:lpstr>Parameterized constructor</vt:lpstr>
      <vt:lpstr>Parameterized constructor</vt:lpstr>
      <vt:lpstr>Constructor Overloading</vt:lpstr>
      <vt:lpstr>Constructor Overloading</vt:lpstr>
      <vt:lpstr>Constructor</vt:lpstr>
      <vt:lpstr>Copy Constructor</vt:lpstr>
      <vt:lpstr>Copy Constructor</vt:lpstr>
      <vt:lpstr>Qestion 1:</vt:lpstr>
      <vt:lpstr>Qestion 2: (Home Task)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CSC-321</dc:title>
  <dc:creator>User</dc:creator>
  <cp:lastModifiedBy>Nimra Abbas</cp:lastModifiedBy>
  <cp:revision>214</cp:revision>
  <dcterms:created xsi:type="dcterms:W3CDTF">2024-10-13T06:29:32Z</dcterms:created>
  <dcterms:modified xsi:type="dcterms:W3CDTF">2024-10-13T06:29:32Z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