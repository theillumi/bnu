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26" r:id="rId3"/>
    <p:sldId id="570" r:id="rId5"/>
    <p:sldId id="571" r:id="rId6"/>
    <p:sldId id="572" r:id="rId7"/>
    <p:sldId id="573" r:id="rId8"/>
    <p:sldId id="574" r:id="rId9"/>
    <p:sldId id="575" r:id="rId10"/>
    <p:sldId id="600" r:id="rId11"/>
    <p:sldId id="601" r:id="rId12"/>
    <p:sldId id="606" r:id="rId13"/>
    <p:sldId id="607" r:id="rId14"/>
    <p:sldId id="608" r:id="rId15"/>
    <p:sldId id="609" r:id="rId16"/>
    <p:sldId id="605" r:id="rId17"/>
    <p:sldId id="612" r:id="rId18"/>
    <p:sldId id="583" r:id="rId19"/>
    <p:sldId id="502" r:id="rId20"/>
    <p:sldId id="503" r:id="rId21"/>
    <p:sldId id="537" r:id="rId22"/>
    <p:sldId id="504" r:id="rId23"/>
    <p:sldId id="576" r:id="rId24"/>
    <p:sldId id="505" r:id="rId25"/>
    <p:sldId id="577" r:id="rId26"/>
    <p:sldId id="578" r:id="rId27"/>
    <p:sldId id="579" r:id="rId28"/>
    <p:sldId id="580" r:id="rId29"/>
    <p:sldId id="506" r:id="rId30"/>
    <p:sldId id="507" r:id="rId31"/>
    <p:sldId id="508" r:id="rId32"/>
    <p:sldId id="509" r:id="rId33"/>
    <p:sldId id="614" r:id="rId34"/>
    <p:sldId id="531" r:id="rId35"/>
    <p:sldId id="532" r:id="rId36"/>
    <p:sldId id="582" r:id="rId37"/>
    <p:sldId id="533" r:id="rId38"/>
    <p:sldId id="534" r:id="rId39"/>
    <p:sldId id="581" r:id="rId40"/>
    <p:sldId id="535" r:id="rId41"/>
    <p:sldId id="536" r:id="rId42"/>
    <p:sldId id="500"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3BE717-232F-4F04-8C42-B483AA5BDA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0B4DA-30D8-4F6D-BF35-157D774FB51B}"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 name="Shape 55"/>
        <p:cNvGrpSpPr/>
        <p:nvPr/>
      </p:nvGrpSpPr>
      <p:grpSpPr>
        <a:xfrm>
          <a:off x="0" y="0"/>
          <a:ext cx="0" cy="0"/>
          <a:chOff x="0" y="0"/>
          <a:chExt cx="0" cy="0"/>
        </a:xfrm>
      </p:grpSpPr>
      <p:sp>
        <p:nvSpPr>
          <p:cNvPr id="56" name="Google Shape;56;ge878c25f7a_0_376:notes"/>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e878c25f7a_0_37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(Code file Task1.cpp contains the program)</a:t>
            </a:r>
            <a:endParaRPr lang="en-US"/>
          </a:p>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(Code file Task2.cpp contains the program)</a:t>
            </a:r>
            <a:endParaRPr lang="en-US"/>
          </a:p>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(Code file Task2.cpp contains the program)</a:t>
            </a:r>
            <a:endParaRPr lang="en-US"/>
          </a:p>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In summary, polymorphism in OOP allows objects of different classes to be treated uniformly as instances of a common superclass or interface. It provides flexibility, code reuse, and simplification in design and implementation. By embracing polymorphism, you can create adaptable and scalable systems in various domains, whether it’s in a zoo, a social media platform, or numerous other real-world scenarios.</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Cellphone example</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b="1">
                <a:latin typeface="Arial Bold" panose="020B0604020202020204" charset="0"/>
                <a:cs typeface="Arial Bold" panose="020B0604020202020204" charset="0"/>
                <a:sym typeface="+mn-ea"/>
              </a:rPr>
              <a:t>Base Class (Coffee): </a:t>
            </a:r>
            <a:r>
              <a:rPr lang="en-US">
                <a:sym typeface="+mn-ea"/>
              </a:rPr>
              <a:t>We have a base class Coffee that defines a virtual method prepare(). This method can be overridden by derived classes.</a:t>
            </a:r>
            <a:endParaRPr lang="en-US"/>
          </a:p>
          <a:p>
            <a:r>
              <a:rPr lang="en-US" b="1">
                <a:latin typeface="Arial Bold" panose="020B0604020202020204" charset="0"/>
                <a:cs typeface="Arial Bold" panose="020B0604020202020204" charset="0"/>
                <a:sym typeface="+mn-ea"/>
              </a:rPr>
              <a:t>Derived Classes: </a:t>
            </a:r>
            <a:r>
              <a:rPr lang="en-US">
                <a:sym typeface="+mn-ea"/>
              </a:rPr>
              <a:t>Espresso, Latte, and Cappuccino are derived classes that inherit from the base class Coffee. Each of these classes overrides the prepare() method to implement their specific preparation steps.</a:t>
            </a:r>
            <a:endParaRPr lang="en-US"/>
          </a:p>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Field (also known as an attribute or member variable) refers to a variable that is associated with a class. </a:t>
            </a:r>
            <a:endParaRPr lang="en-US"/>
          </a:p>
          <a:p>
            <a:r>
              <a:rPr lang="en-US"/>
              <a:t>Fields store the state of an object. For example, in a Car class, fields could include attributes like color, model, and year.</a:t>
            </a:r>
            <a:endParaRPr lang="en-US"/>
          </a:p>
          <a:p>
            <a:r>
              <a:rPr lang="en-US"/>
              <a:t>Fields are usually declared inside the class but outside of any methods. They can have different access modifiers (like public, private, protected) that control their visibility and accessibility.</a:t>
            </a:r>
            <a:endParaRPr lang="en-US"/>
          </a:p>
          <a:p>
            <a:endParaRPr lang="en-US"/>
          </a:p>
          <a:p>
            <a:r>
              <a:rPr lang="en-US"/>
              <a:t>Methods are functions that belong to a class and define the behavior of the objects created from that class. They can manipulate fields and perform operations related to the object's state.</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pPr marL="0" indent="0" algn="just">
              <a:buNone/>
            </a:pPr>
            <a:r>
              <a:rPr lang="en-US" dirty="0">
                <a:sym typeface="+mn-ea"/>
              </a:rPr>
              <a:t>For example:</a:t>
            </a:r>
            <a:endParaRPr lang="en-US" dirty="0"/>
          </a:p>
          <a:p>
            <a:pPr marL="0" indent="0" algn="just">
              <a:buNone/>
            </a:pPr>
            <a:r>
              <a:rPr lang="en-US" dirty="0">
                <a:sym typeface="+mn-ea"/>
              </a:rPr>
              <a:t>We have declared a class Test before and T is its object.</a:t>
            </a:r>
            <a:endParaRPr lang="en-US" dirty="0"/>
          </a:p>
          <a:p>
            <a:pPr marL="0" indent="0" algn="just">
              <a:buNone/>
            </a:pPr>
            <a:endParaRPr lang="en-US" dirty="0"/>
          </a:p>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pPr marL="0" indent="0" algn="just">
              <a:buNone/>
            </a:pPr>
            <a:endParaRPr lang="en-US" dirty="0"/>
          </a:p>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pPr marL="0" indent="0" algn="just">
              <a:buNone/>
            </a:pPr>
            <a:endParaRPr lang="en-US" dirty="0"/>
          </a:p>
          <a:p>
            <a:r>
              <a:rPr lang="en-US"/>
              <a:t>So if color is a class then what are its objects?</a:t>
            </a: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pPr marL="0" indent="0" algn="just">
              <a:buNone/>
            </a:pP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class MyClass {</a:t>
            </a:r>
            <a:endParaRPr lang="en-US"/>
          </a:p>
          <a:p>
            <a:r>
              <a:rPr lang="en-US"/>
              <a:t>    int x;  // private by default</a:t>
            </a:r>
            <a:endParaRPr lang="en-US"/>
          </a:p>
          <a:p>
            <a:r>
              <a:rPr lang="en-US"/>
              <a:t>};</a:t>
            </a: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The private access specifier is essential for implementing encapsulation. It hides the internal details of the class and only allows controlled access through public methods. This makes your class more secure, robust, and easier to maintain.</a:t>
            </a:r>
            <a:endParaRPr lang="en-US"/>
          </a:p>
          <a:p>
            <a:endParaRPr lang="en-US"/>
          </a:p>
          <a:p>
            <a:r>
              <a:rPr lang="en-US"/>
              <a:t>The const before clockType&amp; means that the object passed as a parameter cannot be modified by the function. The function will only "read" the data from the object, not change it.</a:t>
            </a:r>
            <a:endParaRPr lang="en-US"/>
          </a:p>
          <a:p>
            <a:endParaRPr lang="en-US"/>
          </a:p>
          <a:p>
            <a:r>
              <a:rPr lang="en-US"/>
              <a:t>const at the end of the function:</a:t>
            </a:r>
            <a:endParaRPr lang="en-US"/>
          </a:p>
          <a:p>
            <a:r>
              <a:rPr lang="en-US"/>
              <a:t>This means that the function will not modify any of the member variables of the current object (the object on which the function is called).</a:t>
            </a:r>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Check Task 3.cpp for this</a:t>
            </a:r>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bool equalTime(const clockType&amp; other) const {</a:t>
            </a:r>
            <a:endParaRPr lang="en-US"/>
          </a:p>
          <a:p>
            <a:r>
              <a:rPr lang="en-US"/>
              <a:t>        return (hours == other.hours) &amp;&amp; (minutes == other.minutes) &amp;&amp; (seconds == other.seconds);  </a:t>
            </a:r>
            <a:r>
              <a:rPr lang="en-US">
                <a:sym typeface="+mn-ea"/>
              </a:rPr>
              <a:t>}</a:t>
            </a:r>
            <a:endParaRPr lang="en-US"/>
          </a:p>
          <a:p>
            <a:r>
              <a:rPr lang="en-US"/>
              <a:t>                           </a:t>
            </a:r>
            <a:endParaRPr lang="en-US"/>
          </a:p>
          <a:p>
            <a:r>
              <a:rPr lang="en-US"/>
              <a:t>Explain function prototype with chocolate cake example: class : recepie book, member function -&gt; different recepies, Function prototype -&gt; ecepie title</a:t>
            </a:r>
            <a:endParaRPr lang="en-US"/>
          </a:p>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9E9A709E-C215-4E8E-8E45-59E3768F84B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E9A709E-C215-4E8E-8E45-59E3768F84B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9A709E-C215-4E8E-8E45-59E3768F84B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3" name="Shape 63"/>
        <p:cNvGrpSpPr/>
        <p:nvPr/>
      </p:nvGrpSpPr>
      <p:grpSpPr>
        <a:xfrm>
          <a:off x="0" y="0"/>
          <a:ext cx="0" cy="0"/>
          <a:chOff x="0" y="0"/>
          <a:chExt cx="0" cy="0"/>
        </a:xfrm>
      </p:grpSpPr>
      <p:sp>
        <p:nvSpPr>
          <p:cNvPr id="64" name="Google Shape;64;p16"/>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5" name="Google Shape;65;p16"/>
          <p:cNvSpPr txBox="1"/>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 name="Google Shape;66;p16"/>
          <p:cNvSpPr txBox="1"/>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600" lvl="0" indent="-457200" rtl="0">
              <a:spcBef>
                <a:spcPts val="0"/>
              </a:spcBef>
              <a:spcAft>
                <a:spcPts val="0"/>
              </a:spcAft>
              <a:buSzPts val="1800"/>
              <a:buChar char="●"/>
              <a:defRPr/>
            </a:lvl1pPr>
            <a:lvl2pPr marL="1219200" lvl="1" indent="-423545" rtl="0">
              <a:spcBef>
                <a:spcPct val="427000"/>
              </a:spcBef>
              <a:spcAft>
                <a:spcPts val="0"/>
              </a:spcAft>
              <a:buSzPts val="1400"/>
              <a:buChar char="○"/>
              <a:defRPr/>
            </a:lvl2pPr>
            <a:lvl3pPr marL="1828800" lvl="2" indent="-423545" rtl="0">
              <a:spcBef>
                <a:spcPct val="427000"/>
              </a:spcBef>
              <a:spcAft>
                <a:spcPts val="0"/>
              </a:spcAft>
              <a:buSzPts val="1400"/>
              <a:buChar char="■"/>
              <a:defRPr/>
            </a:lvl3pPr>
            <a:lvl4pPr marL="2438400" lvl="3" indent="-423545" rtl="0">
              <a:spcBef>
                <a:spcPct val="427000"/>
              </a:spcBef>
              <a:spcAft>
                <a:spcPts val="0"/>
              </a:spcAft>
              <a:buSzPts val="1400"/>
              <a:buChar char="●"/>
              <a:defRPr/>
            </a:lvl4pPr>
            <a:lvl5pPr marL="3048000" lvl="4" indent="-423545" rtl="0">
              <a:spcBef>
                <a:spcPct val="427000"/>
              </a:spcBef>
              <a:spcAft>
                <a:spcPts val="0"/>
              </a:spcAft>
              <a:buSzPts val="1400"/>
              <a:buChar char="○"/>
              <a:defRPr/>
            </a:lvl5pPr>
            <a:lvl6pPr marL="3657600" lvl="5" indent="-423545" rtl="0">
              <a:spcBef>
                <a:spcPct val="427000"/>
              </a:spcBef>
              <a:spcAft>
                <a:spcPts val="0"/>
              </a:spcAft>
              <a:buSzPts val="1400"/>
              <a:buChar char="■"/>
              <a:defRPr/>
            </a:lvl6pPr>
            <a:lvl7pPr marL="4267200" lvl="6" indent="-423545" rtl="0">
              <a:spcBef>
                <a:spcPct val="427000"/>
              </a:spcBef>
              <a:spcAft>
                <a:spcPts val="0"/>
              </a:spcAft>
              <a:buSzPts val="1400"/>
              <a:buChar char="●"/>
              <a:defRPr/>
            </a:lvl7pPr>
            <a:lvl8pPr marL="4876800" lvl="7" indent="-423545" rtl="0">
              <a:spcBef>
                <a:spcPct val="427000"/>
              </a:spcBef>
              <a:spcAft>
                <a:spcPts val="0"/>
              </a:spcAft>
              <a:buSzPts val="1400"/>
              <a:buChar char="○"/>
              <a:defRPr/>
            </a:lvl8pPr>
            <a:lvl9pPr marL="5486400" lvl="8" indent="-423545" rtl="0">
              <a:spcBef>
                <a:spcPct val="427000"/>
              </a:spcBef>
              <a:spcAft>
                <a:spcPts val="1600"/>
              </a:spcAft>
              <a:buSzPts val="1400"/>
              <a:buChar char="■"/>
              <a:defRPr/>
            </a:lvl9pPr>
          </a:lstStyle>
          <a:p/>
        </p:txBody>
      </p:sp>
      <p:sp>
        <p:nvSpPr>
          <p:cNvPr id="67" name="Google Shape;67;p16"/>
          <p:cNvSpPr txBox="1"/>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21"/>
          <p:cNvSpPr/>
          <p:nvPr/>
        </p:nvSpPr>
        <p:spPr>
          <a:xfrm>
            <a:off x="6096000" y="100"/>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85" name="Google Shape;85;p21"/>
          <p:cNvCxnSpPr/>
          <p:nvPr/>
        </p:nvCxnSpPr>
        <p:spPr>
          <a:xfrm>
            <a:off x="6706233" y="5994000"/>
            <a:ext cx="624400" cy="0"/>
          </a:xfrm>
          <a:prstGeom prst="straightConnector1">
            <a:avLst/>
          </a:prstGeom>
          <a:noFill/>
          <a:ln w="19050" cap="flat" cmpd="sng">
            <a:solidFill>
              <a:schemeClr val="lt2"/>
            </a:solidFill>
            <a:prstDash val="solid"/>
            <a:round/>
            <a:headEnd type="none" w="sm" len="sm"/>
            <a:tailEnd type="none" w="sm" len="sm"/>
          </a:ln>
        </p:spPr>
      </p:cxnSp>
      <p:sp>
        <p:nvSpPr>
          <p:cNvPr id="86" name="Google Shape;86;p21"/>
          <p:cNvSpPr txBox="1"/>
          <p:nvPr>
            <p:ph type="title"/>
          </p:nvPr>
        </p:nvSpPr>
        <p:spPr>
          <a:xfrm>
            <a:off x="354000" y="1607767"/>
            <a:ext cx="5393600" cy="2012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56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p:txBody>
      </p:sp>
      <p:sp>
        <p:nvSpPr>
          <p:cNvPr id="87" name="Google Shape;87;p21"/>
          <p:cNvSpPr txBox="1"/>
          <p:nvPr>
            <p:ph type="subTitle" idx="1"/>
          </p:nvPr>
        </p:nvSpPr>
        <p:spPr>
          <a:xfrm>
            <a:off x="354000" y="3692001"/>
            <a:ext cx="5393600" cy="179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800"/>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p:txBody>
      </p:sp>
      <p:sp>
        <p:nvSpPr>
          <p:cNvPr id="88" name="Google Shape;88;p21"/>
          <p:cNvSpPr txBox="1"/>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600" lvl="0" indent="-457200" rtl="0">
              <a:spcBef>
                <a:spcPts val="0"/>
              </a:spcBef>
              <a:spcAft>
                <a:spcPts val="0"/>
              </a:spcAft>
              <a:buClr>
                <a:schemeClr val="lt1"/>
              </a:buClr>
              <a:buSzPts val="1800"/>
              <a:buChar char="●"/>
              <a:defRPr>
                <a:solidFill>
                  <a:schemeClr val="lt1"/>
                </a:solidFill>
              </a:defRPr>
            </a:lvl1pPr>
            <a:lvl2pPr marL="1219200" lvl="1" indent="-423545" rtl="0">
              <a:spcBef>
                <a:spcPct val="427000"/>
              </a:spcBef>
              <a:spcAft>
                <a:spcPts val="0"/>
              </a:spcAft>
              <a:buClr>
                <a:schemeClr val="lt1"/>
              </a:buClr>
              <a:buSzPts val="1400"/>
              <a:buChar char="○"/>
              <a:defRPr>
                <a:solidFill>
                  <a:schemeClr val="lt1"/>
                </a:solidFill>
              </a:defRPr>
            </a:lvl2pPr>
            <a:lvl3pPr marL="1828800" lvl="2" indent="-423545" rtl="0">
              <a:spcBef>
                <a:spcPct val="427000"/>
              </a:spcBef>
              <a:spcAft>
                <a:spcPts val="0"/>
              </a:spcAft>
              <a:buClr>
                <a:schemeClr val="lt1"/>
              </a:buClr>
              <a:buSzPts val="1400"/>
              <a:buChar char="■"/>
              <a:defRPr>
                <a:solidFill>
                  <a:schemeClr val="lt1"/>
                </a:solidFill>
              </a:defRPr>
            </a:lvl3pPr>
            <a:lvl4pPr marL="2438400" lvl="3" indent="-423545" rtl="0">
              <a:spcBef>
                <a:spcPct val="427000"/>
              </a:spcBef>
              <a:spcAft>
                <a:spcPts val="0"/>
              </a:spcAft>
              <a:buClr>
                <a:schemeClr val="lt1"/>
              </a:buClr>
              <a:buSzPts val="1400"/>
              <a:buChar char="●"/>
              <a:defRPr>
                <a:solidFill>
                  <a:schemeClr val="lt1"/>
                </a:solidFill>
              </a:defRPr>
            </a:lvl4pPr>
            <a:lvl5pPr marL="3048000" lvl="4" indent="-423545" rtl="0">
              <a:spcBef>
                <a:spcPct val="427000"/>
              </a:spcBef>
              <a:spcAft>
                <a:spcPts val="0"/>
              </a:spcAft>
              <a:buClr>
                <a:schemeClr val="lt1"/>
              </a:buClr>
              <a:buSzPts val="1400"/>
              <a:buChar char="○"/>
              <a:defRPr>
                <a:solidFill>
                  <a:schemeClr val="lt1"/>
                </a:solidFill>
              </a:defRPr>
            </a:lvl5pPr>
            <a:lvl6pPr marL="3657600" lvl="5" indent="-423545" rtl="0">
              <a:spcBef>
                <a:spcPct val="427000"/>
              </a:spcBef>
              <a:spcAft>
                <a:spcPts val="0"/>
              </a:spcAft>
              <a:buClr>
                <a:schemeClr val="lt1"/>
              </a:buClr>
              <a:buSzPts val="1400"/>
              <a:buChar char="■"/>
              <a:defRPr>
                <a:solidFill>
                  <a:schemeClr val="lt1"/>
                </a:solidFill>
              </a:defRPr>
            </a:lvl6pPr>
            <a:lvl7pPr marL="4267200" lvl="6" indent="-423545" rtl="0">
              <a:spcBef>
                <a:spcPct val="427000"/>
              </a:spcBef>
              <a:spcAft>
                <a:spcPts val="0"/>
              </a:spcAft>
              <a:buClr>
                <a:schemeClr val="lt1"/>
              </a:buClr>
              <a:buSzPts val="1400"/>
              <a:buChar char="●"/>
              <a:defRPr>
                <a:solidFill>
                  <a:schemeClr val="lt1"/>
                </a:solidFill>
              </a:defRPr>
            </a:lvl7pPr>
            <a:lvl8pPr marL="4876800" lvl="7" indent="-423545" rtl="0">
              <a:spcBef>
                <a:spcPct val="427000"/>
              </a:spcBef>
              <a:spcAft>
                <a:spcPts val="0"/>
              </a:spcAft>
              <a:buClr>
                <a:schemeClr val="lt1"/>
              </a:buClr>
              <a:buSzPts val="1400"/>
              <a:buChar char="○"/>
              <a:defRPr>
                <a:solidFill>
                  <a:schemeClr val="lt1"/>
                </a:solidFill>
              </a:defRPr>
            </a:lvl8pPr>
            <a:lvl9pPr marL="5486400" lvl="8" indent="-423545" rtl="0">
              <a:spcBef>
                <a:spcPct val="427000"/>
              </a:spcBef>
              <a:spcAft>
                <a:spcPts val="1600"/>
              </a:spcAft>
              <a:buClr>
                <a:schemeClr val="lt1"/>
              </a:buClr>
              <a:buSzPts val="1400"/>
              <a:buChar char="■"/>
              <a:defRPr>
                <a:solidFill>
                  <a:schemeClr val="lt1"/>
                </a:solidFill>
              </a:defRPr>
            </a:lvl9pPr>
          </a:lstStyle>
          <a:p/>
        </p:txBody>
      </p:sp>
      <p:sp>
        <p:nvSpPr>
          <p:cNvPr id="89" name="Google Shape;89;p21"/>
          <p:cNvSpPr txBox="1"/>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9A709E-C215-4E8E-8E45-59E3768F84B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1737CF-34AC-4C2D-ABFC-61A12BD25FF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5.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image" Target="../media/image13.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8" name="Shape 58"/>
        <p:cNvGrpSpPr/>
        <p:nvPr/>
      </p:nvGrpSpPr>
      <p:grpSpPr>
        <a:xfrm>
          <a:off x="0" y="0"/>
          <a:ext cx="0" cy="0"/>
          <a:chOff x="0" y="0"/>
          <a:chExt cx="0" cy="0"/>
        </a:xfrm>
      </p:grpSpPr>
      <p:sp>
        <p:nvSpPr>
          <p:cNvPr id="60" name="Google Shape;60;p13"/>
          <p:cNvSpPr txBox="1"/>
          <p:nvPr>
            <p:ph type="ctrTitle"/>
          </p:nvPr>
        </p:nvSpPr>
        <p:spPr>
          <a:xfrm>
            <a:off x="680600" y="1676400"/>
            <a:ext cx="10830800" cy="2118000"/>
          </a:xfrm>
          <a:prstGeom prst="rect">
            <a:avLst/>
          </a:prstGeom>
        </p:spPr>
        <p:txBody>
          <a:bodyPr spcFirstLastPara="1" wrap="square" lIns="121900" tIns="121900" rIns="121900" bIns="121900" anchor="b" anchorCtr="0">
            <a:normAutofit/>
          </a:bodyPr>
          <a:lstStyle/>
          <a:p>
            <a:pPr marL="0" lvl="0" indent="0" algn="l" rtl="0">
              <a:spcBef>
                <a:spcPts val="0"/>
              </a:spcBef>
              <a:spcAft>
                <a:spcPts val="0"/>
              </a:spcAft>
              <a:buNone/>
            </a:pPr>
            <a:r>
              <a:rPr lang="en-US" altLang="en-GB" sz="8000">
                <a:solidFill>
                  <a:schemeClr val="bg1"/>
                </a:solidFill>
              </a:rPr>
              <a:t>OOP</a:t>
            </a:r>
            <a:r>
              <a:rPr lang="en-GB" sz="8000">
                <a:solidFill>
                  <a:schemeClr val="bg1"/>
                </a:solidFill>
              </a:rPr>
              <a:t> </a:t>
            </a:r>
            <a:endParaRPr lang="en-GB" sz="8000">
              <a:solidFill>
                <a:schemeClr val="bg1"/>
              </a:solidFill>
            </a:endParaRPr>
          </a:p>
        </p:txBody>
      </p:sp>
      <p:cxnSp>
        <p:nvCxnSpPr>
          <p:cNvPr id="63" name="Google Shape;63;p13"/>
          <p:cNvCxnSpPr/>
          <p:nvPr/>
        </p:nvCxnSpPr>
        <p:spPr>
          <a:xfrm rot="10800000" flipH="1">
            <a:off x="820200" y="3979367"/>
            <a:ext cx="8248400" cy="18000"/>
          </a:xfrm>
          <a:prstGeom prst="straightConnector1">
            <a:avLst/>
          </a:prstGeom>
          <a:noFill/>
          <a:ln w="19050" cap="flat" cmpd="sng">
            <a:solidFill>
              <a:schemeClr val="lt1"/>
            </a:solidFill>
            <a:prstDash val="solid"/>
            <a:round/>
            <a:headEnd type="none" w="med" len="med"/>
            <a:tailEnd type="none" w="med" len="med"/>
          </a:ln>
        </p:spPr>
      </p:cxnSp>
      <p:sp>
        <p:nvSpPr>
          <p:cNvPr id="2" name="Subtitle 1"/>
          <p:cNvSpPr/>
          <p:nvPr>
            <p:ph type="subTitle" idx="1"/>
          </p:nvPr>
        </p:nvSpPr>
        <p:spPr/>
        <p:txBody>
          <a:bodyPr/>
          <a:p>
            <a:endParaRPr lang="en-US"/>
          </a:p>
        </p:txBody>
      </p:sp>
      <p:sp>
        <p:nvSpPr>
          <p:cNvPr id="3" name="Subtitle 1"/>
          <p:cNvSpPr/>
          <p:nvPr/>
        </p:nvSpPr>
        <p:spPr>
          <a:xfrm>
            <a:off x="883195" y="4182438"/>
            <a:ext cx="8123100" cy="630000"/>
          </a:xfrm>
          <a:prstGeom prst="rect">
            <a:avLst/>
          </a:prstGeom>
          <a:noFill/>
          <a:ln>
            <a:noFill/>
          </a:ln>
        </p:spPr>
        <p:txBody>
          <a:bodyPr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1pPr>
            <a:lvl2pPr marL="914400" marR="0" lvl="1"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2pPr>
            <a:lvl3pPr marL="1371600" marR="0" lvl="2"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3pPr>
            <a:lvl4pPr marL="1828800" marR="0" lvl="3"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4pPr>
            <a:lvl5pPr marL="2286000" marR="0" lvl="4"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5pPr>
            <a:lvl6pPr marL="2743200" marR="0" lvl="5"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6pPr>
            <a:lvl7pPr marL="3200400" marR="0" lvl="6"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7pPr>
            <a:lvl8pPr marL="3657600" marR="0" lvl="7"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8pPr>
            <a:lvl9pPr marL="4114800" marR="0" lvl="8"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9pPr>
          </a:lstStyle>
          <a:p>
            <a:r>
              <a:rPr lang="en-US"/>
              <a:t>Lecture 1</a:t>
            </a:r>
            <a:endParaRPr lang="en-US"/>
          </a:p>
        </p:txBody>
      </p:sp>
      <p:pic>
        <p:nvPicPr>
          <p:cNvPr id="6" name="Picture 5" descr="abstract-code-blocks-rendered-in-3d-within-the-virtual-space-powerpoint-background_79acb22bd5__960_540"/>
          <p:cNvPicPr>
            <a:picLocks noChangeAspect="1"/>
          </p:cNvPicPr>
          <p:nvPr/>
        </p:nvPicPr>
        <p:blipFill>
          <a:blip r:embed="rId1"/>
          <a:stretch>
            <a:fillRect/>
          </a:stretch>
        </p:blipFill>
        <p:spPr>
          <a:xfrm>
            <a:off x="0" y="-635"/>
            <a:ext cx="12192000" cy="6858635"/>
          </a:xfrm>
          <a:prstGeom prst="rect">
            <a:avLst/>
          </a:prstGeom>
        </p:spPr>
      </p:pic>
      <p:sp>
        <p:nvSpPr>
          <p:cNvPr id="7" name="Text Box 6"/>
          <p:cNvSpPr txBox="1"/>
          <p:nvPr/>
        </p:nvSpPr>
        <p:spPr>
          <a:xfrm>
            <a:off x="680720" y="2073910"/>
            <a:ext cx="10301605" cy="3169285"/>
          </a:xfrm>
          <a:prstGeom prst="rect">
            <a:avLst/>
          </a:prstGeom>
          <a:noFill/>
        </p:spPr>
        <p:txBody>
          <a:bodyPr wrap="square" rtlCol="0">
            <a:spAutoFit/>
          </a:bodyPr>
          <a:p>
            <a:r>
              <a:rPr lang="en-US" sz="7200" b="1">
                <a:solidFill>
                  <a:schemeClr val="bg1"/>
                </a:solidFill>
                <a:latin typeface="Arial Bold" panose="020B0604020202020204" charset="0"/>
                <a:cs typeface="Arial Bold" panose="020B0604020202020204" charset="0"/>
              </a:rPr>
              <a:t>Object Oriented Programming</a:t>
            </a:r>
            <a:endParaRPr lang="en-US" sz="7200" b="1">
              <a:solidFill>
                <a:schemeClr val="bg1"/>
              </a:solidFill>
              <a:latin typeface="Arial Bold" panose="020B0604020202020204" charset="0"/>
              <a:cs typeface="Arial Bold" panose="020B0604020202020204" charset="0"/>
            </a:endParaRPr>
          </a:p>
          <a:p>
            <a:endParaRPr lang="en-US" sz="2800" b="1">
              <a:solidFill>
                <a:schemeClr val="bg1"/>
              </a:solidFill>
              <a:latin typeface="Arial Bold" panose="020B0604020202020204" charset="0"/>
              <a:cs typeface="Arial Bold" panose="020B0604020202020204" charset="0"/>
            </a:endParaRPr>
          </a:p>
          <a:p>
            <a:r>
              <a:rPr lang="en-US" sz="2800" b="1">
                <a:solidFill>
                  <a:schemeClr val="bg1"/>
                </a:solidFill>
                <a:latin typeface="Arial Bold" panose="020B0604020202020204" charset="0"/>
                <a:cs typeface="Arial Bold" panose="020B0604020202020204" charset="0"/>
              </a:rPr>
              <a:t>Lecture 3</a:t>
            </a:r>
            <a:endParaRPr lang="en-US" sz="2800" b="1">
              <a:solidFill>
                <a:schemeClr val="bg1"/>
              </a:solidFill>
              <a:latin typeface="Arial Bold" panose="020B0604020202020204" charset="0"/>
              <a:cs typeface="Arial Bold" panose="020B06040202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US" dirty="0"/>
          </a:p>
        </p:txBody>
      </p:sp>
      <p:sp>
        <p:nvSpPr>
          <p:cNvPr id="3" name="Content Placeholder 2"/>
          <p:cNvSpPr>
            <a:spLocks noGrp="1"/>
          </p:cNvSpPr>
          <p:nvPr>
            <p:ph idx="1"/>
          </p:nvPr>
        </p:nvSpPr>
        <p:spPr/>
        <p:txBody>
          <a:bodyPr>
            <a:normAutofit lnSpcReduction="10000"/>
          </a:bodyPr>
          <a:lstStyle/>
          <a:p>
            <a:r>
              <a:rPr lang="en-US" b="1" dirty="0"/>
              <a:t>Scenario: </a:t>
            </a:r>
            <a:r>
              <a:rPr lang="en-US" dirty="0"/>
              <a:t> A particular talent competition has 5 judges, each of whom awards a score between 0 to 10 to each performer. A performer’s final score is determined by dropping the lowest score received, then averaging the remaining 4 scores. </a:t>
            </a:r>
            <a:endParaRPr lang="en-US" dirty="0"/>
          </a:p>
          <a:p>
            <a:r>
              <a:rPr lang="en-US" b="1" dirty="0"/>
              <a:t>Task 1:</a:t>
            </a:r>
            <a:r>
              <a:rPr lang="en-US" dirty="0"/>
              <a:t> Identify Attributes and functions.</a:t>
            </a:r>
            <a:endParaRPr lang="en-US" dirty="0"/>
          </a:p>
          <a:p>
            <a:r>
              <a:rPr lang="en-US" b="1" dirty="0"/>
              <a:t>Task 2: </a:t>
            </a:r>
            <a:r>
              <a:rPr lang="en-US" dirty="0"/>
              <a:t>Procedural Programming approach? </a:t>
            </a:r>
            <a:endParaRPr lang="en-US" dirty="0"/>
          </a:p>
          <a:p>
            <a:r>
              <a:rPr lang="en-US" b="1" dirty="0"/>
              <a:t>Task 3: </a:t>
            </a:r>
            <a:r>
              <a:rPr lang="en-US" dirty="0"/>
              <a:t>Object Oriented approach? (</a:t>
            </a:r>
            <a:r>
              <a:rPr lang="en-US" b="1" dirty="0"/>
              <a:t>Model the problem: </a:t>
            </a:r>
            <a:r>
              <a:rPr lang="en-US" dirty="0"/>
              <a:t>Identify class, objects)</a:t>
            </a:r>
            <a:endParaRPr lang="en-US" b="1"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4065"/>
          </a:xfrm>
        </p:spPr>
        <p:txBody>
          <a:bodyPr/>
          <a:lstStyle/>
          <a:p>
            <a:r>
              <a:rPr lang="en-US" dirty="0"/>
              <a:t>Exercise Solution !</a:t>
            </a:r>
            <a:endParaRPr lang="en-US" dirty="0"/>
          </a:p>
        </p:txBody>
      </p:sp>
      <p:sp>
        <p:nvSpPr>
          <p:cNvPr id="3" name="Content Placeholder 2"/>
          <p:cNvSpPr>
            <a:spLocks noGrp="1"/>
          </p:cNvSpPr>
          <p:nvPr>
            <p:ph idx="1"/>
          </p:nvPr>
        </p:nvSpPr>
        <p:spPr>
          <a:xfrm>
            <a:off x="838200" y="1139825"/>
            <a:ext cx="10515600" cy="5436870"/>
          </a:xfrm>
        </p:spPr>
        <p:txBody>
          <a:bodyPr>
            <a:normAutofit fontScale="90000" lnSpcReduction="20000"/>
          </a:bodyPr>
          <a:lstStyle/>
          <a:p>
            <a:pPr marL="0" indent="0">
              <a:buNone/>
            </a:pPr>
            <a:endParaRPr lang="en-US" sz="1800" b="1" u="sng" dirty="0">
              <a:latin typeface="Arial Bold" panose="020B0604020202020204" charset="0"/>
              <a:cs typeface="Arial Bold" panose="020B0604020202020204" charset="0"/>
            </a:endParaRPr>
          </a:p>
          <a:p>
            <a:pPr marL="0" indent="0">
              <a:buNone/>
            </a:pPr>
            <a:r>
              <a:rPr lang="en-US" sz="1800" b="1" u="sng" dirty="0">
                <a:latin typeface="Arial Bold" panose="020B0604020202020204" charset="0"/>
                <a:cs typeface="Arial Bold" panose="020B0604020202020204" charset="0"/>
              </a:rPr>
              <a:t>Scenario:</a:t>
            </a:r>
            <a:endParaRPr lang="en-US" sz="1800" b="1" u="sng" dirty="0">
              <a:latin typeface="Arial Bold" panose="020B0604020202020204" charset="0"/>
              <a:cs typeface="Arial Bold" panose="020B0604020202020204" charset="0"/>
            </a:endParaRPr>
          </a:p>
          <a:p>
            <a:pPr marL="0" indent="0">
              <a:lnSpc>
                <a:spcPct val="100000"/>
              </a:lnSpc>
              <a:buNone/>
            </a:pPr>
            <a:r>
              <a:rPr lang="en-US" sz="1800" dirty="0"/>
              <a:t>In a talent competition, each performer is scored by 5 judges. Each judge gives a score between 0 and 10. The final score of the performer is determined by dropping the lowest score and then calculating the average of the remaining 4 scores.</a:t>
            </a:r>
            <a:endParaRPr lang="en-US" sz="1800" dirty="0"/>
          </a:p>
          <a:p>
            <a:pPr marL="0" indent="0">
              <a:lnSpc>
                <a:spcPct val="100000"/>
              </a:lnSpc>
              <a:buNone/>
            </a:pPr>
            <a:endParaRPr lang="en-US" sz="1800" b="1" u="sng" dirty="0">
              <a:latin typeface="Arial Bold" panose="020B0604020202020204" charset="0"/>
              <a:cs typeface="Arial Bold" panose="020B0604020202020204" charset="0"/>
            </a:endParaRPr>
          </a:p>
          <a:p>
            <a:pPr marL="0" indent="0">
              <a:buNone/>
            </a:pPr>
            <a:r>
              <a:rPr lang="en-US" sz="1800" b="1" u="sng" dirty="0">
                <a:latin typeface="Arial Bold" panose="020B0604020202020204" charset="0"/>
                <a:cs typeface="Arial Bold" panose="020B0604020202020204" charset="0"/>
              </a:rPr>
              <a:t>Task 1: Identify Attributes and Functions</a:t>
            </a:r>
            <a:endParaRPr lang="en-US" sz="1800" b="1" u="sng" dirty="0">
              <a:latin typeface="Arial Bold" panose="020B0604020202020204" charset="0"/>
              <a:cs typeface="Arial Bold" panose="020B0604020202020204" charset="0"/>
            </a:endParaRPr>
          </a:p>
          <a:p>
            <a:pPr marL="0" indent="0">
              <a:buNone/>
            </a:pPr>
            <a:endParaRPr lang="en-US" sz="1800" b="1" dirty="0">
              <a:latin typeface="Arial Bold" panose="020B0604020202020204" charset="0"/>
              <a:cs typeface="Arial Bold" panose="020B0604020202020204" charset="0"/>
            </a:endParaRPr>
          </a:p>
          <a:p>
            <a:pPr marL="0" indent="0">
              <a:buNone/>
            </a:pPr>
            <a:r>
              <a:rPr lang="en-US" sz="1800" b="1" dirty="0">
                <a:latin typeface="Arial Bold" panose="020B0604020202020204" charset="0"/>
                <a:cs typeface="Arial Bold" panose="020B0604020202020204" charset="0"/>
              </a:rPr>
              <a:t>Attributes:</a:t>
            </a:r>
            <a:endParaRPr lang="en-US" sz="1800" b="1" dirty="0">
              <a:latin typeface="Arial Bold" panose="020B0604020202020204" charset="0"/>
              <a:cs typeface="Arial Bold" panose="020B0604020202020204" charset="0"/>
            </a:endParaRPr>
          </a:p>
          <a:p>
            <a:pPr marL="0" indent="0">
              <a:buNone/>
            </a:pPr>
            <a:r>
              <a:rPr lang="en-US" sz="1800" dirty="0"/>
              <a:t>1.) Judges: Each judge provides a score (0 to 10) for the performer.</a:t>
            </a:r>
            <a:endParaRPr lang="en-US" sz="1800" dirty="0"/>
          </a:p>
          <a:p>
            <a:pPr marL="0" indent="0">
              <a:buNone/>
            </a:pPr>
            <a:r>
              <a:rPr lang="en-US" sz="1800" dirty="0"/>
              <a:t>2.) Scores: The list of scores awarded by the judges.</a:t>
            </a:r>
            <a:endParaRPr lang="en-US" sz="1800" dirty="0"/>
          </a:p>
          <a:p>
            <a:pPr marL="0" indent="0">
              <a:buNone/>
            </a:pPr>
            <a:r>
              <a:rPr lang="en-US" sz="1800" dirty="0"/>
              <a:t>3.) Final Score: The average score after removing the lowest score.</a:t>
            </a:r>
            <a:endParaRPr lang="en-US" sz="1800" dirty="0"/>
          </a:p>
          <a:p>
            <a:pPr marL="0" indent="0">
              <a:buNone/>
            </a:pPr>
            <a:endParaRPr lang="en-US" sz="1800" b="1" dirty="0">
              <a:latin typeface="Arial Bold" panose="020B0604020202020204" charset="0"/>
              <a:cs typeface="Arial Bold" panose="020B0604020202020204" charset="0"/>
            </a:endParaRPr>
          </a:p>
          <a:p>
            <a:pPr marL="0" indent="0">
              <a:buNone/>
            </a:pPr>
            <a:r>
              <a:rPr lang="en-US" sz="1800" b="1" dirty="0">
                <a:latin typeface="Arial Bold" panose="020B0604020202020204" charset="0"/>
                <a:cs typeface="Arial Bold" panose="020B0604020202020204" charset="0"/>
              </a:rPr>
              <a:t>Functions:</a:t>
            </a:r>
            <a:endParaRPr lang="en-US" sz="1800" b="1" dirty="0">
              <a:latin typeface="Arial Bold" panose="020B0604020202020204" charset="0"/>
              <a:cs typeface="Arial Bold" panose="020B0604020202020204" charset="0"/>
            </a:endParaRPr>
          </a:p>
          <a:p>
            <a:pPr marL="342900" indent="-342900">
              <a:buFont typeface="+mj-lt"/>
              <a:buAutoNum type="arabicParenR"/>
            </a:pPr>
            <a:r>
              <a:rPr lang="en-US" sz="1800" dirty="0"/>
              <a:t>Input Scores: Function to take input of 5 scores from judges.</a:t>
            </a:r>
            <a:endParaRPr lang="en-US" sz="1800" dirty="0"/>
          </a:p>
          <a:p>
            <a:pPr marL="342900" indent="-342900">
              <a:buFont typeface="+mj-lt"/>
              <a:buAutoNum type="arabicParenR"/>
            </a:pPr>
            <a:r>
              <a:rPr lang="en-US" sz="1800" dirty="0"/>
              <a:t>Remove Lowest Score: A function that removes the lowest score from the list of 5 scores.</a:t>
            </a:r>
            <a:endParaRPr lang="en-US" sz="1800" dirty="0"/>
          </a:p>
          <a:p>
            <a:pPr marL="342900" indent="-342900">
              <a:buFont typeface="+mj-lt"/>
              <a:buAutoNum type="arabicParenR"/>
            </a:pPr>
            <a:r>
              <a:rPr lang="en-US" sz="1800" dirty="0"/>
              <a:t>Calculate Final Score: A function to calculate the average of the remaining 4 scores after the lowest score is removed.</a:t>
            </a:r>
            <a:endParaRPr lang="en-US" sz="1800" dirty="0"/>
          </a:p>
          <a:p>
            <a:pPr marL="342900" indent="-342900">
              <a:buFont typeface="+mj-lt"/>
              <a:buAutoNum type="arabicParenR"/>
            </a:pPr>
            <a:r>
              <a:rPr lang="en-US" sz="1800" dirty="0"/>
              <a:t>Display Final Score: A function that outputs the final score of the performer.</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6603365" cy="666115"/>
          </a:xfrm>
        </p:spPr>
        <p:txBody>
          <a:bodyPr>
            <a:normAutofit/>
          </a:bodyPr>
          <a:p>
            <a:r>
              <a:rPr lang="en-US" sz="2000" b="1">
                <a:latin typeface="Arial Bold" panose="020B0604020202020204" charset="0"/>
                <a:cs typeface="Arial Bold" panose="020B0604020202020204" charset="0"/>
              </a:rPr>
              <a:t>Task 2: Procedural Programming Approach</a:t>
            </a:r>
            <a:endParaRPr lang="en-US" sz="2000" b="1">
              <a:latin typeface="Arial Bold" panose="020B0604020202020204" charset="0"/>
              <a:cs typeface="Arial Bold" panose="020B0604020202020204" charset="0"/>
            </a:endParaRPr>
          </a:p>
        </p:txBody>
      </p:sp>
      <p:sp>
        <p:nvSpPr>
          <p:cNvPr id="3" name="Content Placeholder 2"/>
          <p:cNvSpPr>
            <a:spLocks noGrp="1"/>
          </p:cNvSpPr>
          <p:nvPr>
            <p:ph idx="1"/>
          </p:nvPr>
        </p:nvSpPr>
        <p:spPr>
          <a:xfrm>
            <a:off x="838200" y="1153160"/>
            <a:ext cx="10837545" cy="5422900"/>
          </a:xfrm>
        </p:spPr>
        <p:txBody>
          <a:bodyPr/>
          <a:p>
            <a:pPr marL="0" indent="0">
              <a:lnSpc>
                <a:spcPct val="100000"/>
              </a:lnSpc>
              <a:buNone/>
            </a:pPr>
            <a:r>
              <a:rPr lang="en-US" sz="1800"/>
              <a:t>In procedural programming, the problem is broken down into functions that operate on data. In this case, you would create functions to input the scores, remove the lowest score, calculate the final score, and display the result.</a:t>
            </a:r>
            <a:endParaRPr lang="en-US" sz="1800"/>
          </a:p>
          <a:p>
            <a:pPr marL="0" indent="0">
              <a:lnSpc>
                <a:spcPct val="100000"/>
              </a:lnSpc>
              <a:buNone/>
            </a:pPr>
            <a:endParaRPr lang="en-US" sz="1800"/>
          </a:p>
          <a:p>
            <a:pPr marL="0" indent="0">
              <a:lnSpc>
                <a:spcPct val="100000"/>
              </a:lnSpc>
              <a:buNone/>
            </a:pPr>
            <a:r>
              <a:rPr lang="en-US" sz="1800"/>
              <a:t>//Check file Task1.cpp</a:t>
            </a:r>
            <a:endParaRPr lang="en-US"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6603365" cy="666115"/>
          </a:xfrm>
        </p:spPr>
        <p:txBody>
          <a:bodyPr>
            <a:normAutofit/>
          </a:bodyPr>
          <a:p>
            <a:r>
              <a:rPr lang="en-US" sz="2000" b="1">
                <a:latin typeface="Arial Bold" panose="020B0604020202020204" charset="0"/>
                <a:cs typeface="Arial Bold" panose="020B0604020202020204" charset="0"/>
              </a:rPr>
              <a:t>Task 3: Object-Oriented Approach </a:t>
            </a:r>
            <a:endParaRPr lang="en-US" sz="2000" b="1">
              <a:latin typeface="Arial Bold" panose="020B0604020202020204" charset="0"/>
              <a:cs typeface="Arial Bold" panose="020B0604020202020204" charset="0"/>
            </a:endParaRPr>
          </a:p>
        </p:txBody>
      </p:sp>
      <p:sp>
        <p:nvSpPr>
          <p:cNvPr id="3" name="Content Placeholder 2"/>
          <p:cNvSpPr>
            <a:spLocks noGrp="1"/>
          </p:cNvSpPr>
          <p:nvPr>
            <p:ph idx="1"/>
          </p:nvPr>
        </p:nvSpPr>
        <p:spPr>
          <a:xfrm>
            <a:off x="838200" y="1153160"/>
            <a:ext cx="10837545" cy="5422900"/>
          </a:xfrm>
        </p:spPr>
        <p:txBody>
          <a:bodyPr/>
          <a:p>
            <a:pPr marL="0" indent="0">
              <a:lnSpc>
                <a:spcPct val="100000"/>
              </a:lnSpc>
              <a:buNone/>
            </a:pPr>
            <a:r>
              <a:rPr lang="en-US" sz="1800"/>
              <a:t>In Object-Oriented Programming (OOP), we model the problem as objects. We define a Performer class that contains attributes (like scores) and methods (like calculateFinalScore()).</a:t>
            </a:r>
            <a:endParaRPr lang="en-US" sz="1800"/>
          </a:p>
          <a:p>
            <a:pPr marL="0" indent="0">
              <a:lnSpc>
                <a:spcPct val="100000"/>
              </a:lnSpc>
              <a:buNone/>
            </a:pPr>
            <a:r>
              <a:rPr lang="en-US" sz="1800" b="1">
                <a:latin typeface="Arial Bold" panose="020B0604020202020204" charset="0"/>
                <a:cs typeface="Arial Bold" panose="020B0604020202020204" charset="0"/>
              </a:rPr>
              <a:t>Class: </a:t>
            </a:r>
            <a:r>
              <a:rPr lang="en-US" sz="1800"/>
              <a:t>Performer class will represent a performer in the competition.</a:t>
            </a:r>
            <a:endParaRPr lang="en-US" sz="1800"/>
          </a:p>
          <a:p>
            <a:pPr marL="0" indent="0">
              <a:lnSpc>
                <a:spcPct val="100000"/>
              </a:lnSpc>
              <a:buNone/>
            </a:pPr>
            <a:r>
              <a:rPr lang="en-US" sz="1800" b="1">
                <a:latin typeface="Arial Bold" panose="020B0604020202020204" charset="0"/>
                <a:cs typeface="Arial Bold" panose="020B0604020202020204" charset="0"/>
              </a:rPr>
              <a:t>Attributes:</a:t>
            </a:r>
            <a:endParaRPr lang="en-US" sz="1800" b="1">
              <a:latin typeface="Arial Bold" panose="020B0604020202020204" charset="0"/>
              <a:cs typeface="Arial Bold" panose="020B0604020202020204" charset="0"/>
            </a:endParaRPr>
          </a:p>
          <a:p>
            <a:pPr marL="342900" indent="-342900">
              <a:lnSpc>
                <a:spcPct val="100000"/>
              </a:lnSpc>
              <a:buFont typeface="+mj-lt"/>
              <a:buAutoNum type="arabicParenR"/>
            </a:pPr>
            <a:r>
              <a:rPr lang="en-US" sz="1800"/>
              <a:t>scores: An array or list to store the scores given by 5 judges.</a:t>
            </a:r>
            <a:endParaRPr lang="en-US" sz="1800"/>
          </a:p>
          <a:p>
            <a:pPr marL="342900" indent="-342900">
              <a:lnSpc>
                <a:spcPct val="100000"/>
              </a:lnSpc>
              <a:buFont typeface="+mj-lt"/>
              <a:buAutoNum type="arabicParenR"/>
            </a:pPr>
            <a:r>
              <a:rPr lang="en-US" sz="1800"/>
              <a:t>finalScore: The average score after dropping the lowest score.</a:t>
            </a:r>
            <a:endParaRPr lang="en-US" sz="1800"/>
          </a:p>
          <a:p>
            <a:pPr marL="0" indent="0">
              <a:lnSpc>
                <a:spcPct val="100000"/>
              </a:lnSpc>
              <a:buNone/>
            </a:pPr>
            <a:r>
              <a:rPr lang="en-US" sz="1800" b="1">
                <a:latin typeface="Arial Bold" panose="020B0604020202020204" charset="0"/>
                <a:cs typeface="Arial Bold" panose="020B0604020202020204" charset="0"/>
              </a:rPr>
              <a:t>Methods:</a:t>
            </a:r>
            <a:endParaRPr lang="en-US" sz="1800" b="1">
              <a:latin typeface="Arial Bold" panose="020B0604020202020204" charset="0"/>
              <a:cs typeface="Arial Bold" panose="020B0604020202020204" charset="0"/>
            </a:endParaRPr>
          </a:p>
          <a:p>
            <a:pPr marL="342900" indent="-342900">
              <a:lnSpc>
                <a:spcPct val="100000"/>
              </a:lnSpc>
              <a:buFont typeface="+mj-lt"/>
              <a:buAutoNum type="arabicParenR"/>
            </a:pPr>
            <a:r>
              <a:rPr lang="en-US" sz="1800"/>
              <a:t>inputScores(): To input the scores from judges.</a:t>
            </a:r>
            <a:endParaRPr lang="en-US" sz="1800"/>
          </a:p>
          <a:p>
            <a:pPr marL="342900" indent="-342900">
              <a:lnSpc>
                <a:spcPct val="100000"/>
              </a:lnSpc>
              <a:buFont typeface="+mj-lt"/>
              <a:buAutoNum type="arabicParenR"/>
            </a:pPr>
            <a:r>
              <a:rPr lang="en-US" sz="1800"/>
              <a:t>removeLowestScore(): To remove the lowest score from the scores array.</a:t>
            </a:r>
            <a:endParaRPr lang="en-US" sz="1800"/>
          </a:p>
          <a:p>
            <a:pPr marL="342900" indent="-342900">
              <a:lnSpc>
                <a:spcPct val="100000"/>
              </a:lnSpc>
              <a:buFont typeface="+mj-lt"/>
              <a:buAutoNum type="arabicParenR"/>
            </a:pPr>
            <a:r>
              <a:rPr lang="en-US" sz="1800"/>
              <a:t>calculateFinalScore(): To calculate the final score after removing the lowest score.</a:t>
            </a:r>
            <a:endParaRPr lang="en-US" sz="1800"/>
          </a:p>
          <a:p>
            <a:pPr marL="342900" indent="-342900">
              <a:lnSpc>
                <a:spcPct val="100000"/>
              </a:lnSpc>
              <a:buFont typeface="+mj-lt"/>
              <a:buAutoNum type="arabicParenR"/>
            </a:pPr>
            <a:r>
              <a:rPr lang="en-US" sz="1800"/>
              <a:t>displayFinalScore(): To print the final score.</a:t>
            </a:r>
            <a:endParaRPr 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6603365" cy="666115"/>
          </a:xfrm>
        </p:spPr>
        <p:txBody>
          <a:bodyPr>
            <a:normAutofit/>
          </a:bodyPr>
          <a:p>
            <a:r>
              <a:rPr lang="en-US" sz="2000" b="1">
                <a:latin typeface="Arial Bold" panose="020B0604020202020204" charset="0"/>
                <a:cs typeface="Arial Bold" panose="020B0604020202020204" charset="0"/>
                <a:sym typeface="+mn-ea"/>
              </a:rPr>
              <a:t>Task 3: Object-Oriented Approach  </a:t>
            </a:r>
            <a:endParaRPr lang="en-US" sz="2000" b="1">
              <a:latin typeface="Arial Bold" panose="020B0604020202020204" charset="0"/>
              <a:cs typeface="Arial Bold" panose="020B0604020202020204" charset="0"/>
            </a:endParaRPr>
          </a:p>
        </p:txBody>
      </p:sp>
      <p:sp>
        <p:nvSpPr>
          <p:cNvPr id="3" name="Content Placeholder 2"/>
          <p:cNvSpPr>
            <a:spLocks noGrp="1"/>
          </p:cNvSpPr>
          <p:nvPr>
            <p:ph idx="1"/>
          </p:nvPr>
        </p:nvSpPr>
        <p:spPr>
          <a:xfrm>
            <a:off x="838200" y="1153160"/>
            <a:ext cx="10837545" cy="5422900"/>
          </a:xfrm>
        </p:spPr>
        <p:txBody>
          <a:bodyPr/>
          <a:p>
            <a:pPr marL="0" indent="0">
              <a:lnSpc>
                <a:spcPct val="100000"/>
              </a:lnSpc>
              <a:buNone/>
            </a:pPr>
            <a:r>
              <a:rPr lang="en-US" sz="1800"/>
              <a:t>In procedural programming, the problem is broken down into functions that operate on data. In this case, you would create functions to input the scores, remove the lowest score, calculate the final score, and display the result.</a:t>
            </a:r>
            <a:endParaRPr lang="en-US" sz="1800"/>
          </a:p>
          <a:p>
            <a:pPr marL="0" indent="0">
              <a:lnSpc>
                <a:spcPct val="100000"/>
              </a:lnSpc>
              <a:buNone/>
            </a:pPr>
            <a:endParaRPr lang="en-US" sz="1800"/>
          </a:p>
          <a:p>
            <a:pPr marL="0" indent="0">
              <a:lnSpc>
                <a:spcPct val="100000"/>
              </a:lnSpc>
              <a:buNone/>
            </a:pPr>
            <a:r>
              <a:rPr lang="en-US" sz="1800"/>
              <a:t>//Check file Task2.cpp</a:t>
            </a:r>
            <a:endParaRPr 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316210" cy="666115"/>
          </a:xfrm>
        </p:spPr>
        <p:txBody>
          <a:bodyPr>
            <a:normAutofit/>
          </a:bodyPr>
          <a:p>
            <a:r>
              <a:rPr lang="en-US" sz="2000" b="1">
                <a:latin typeface="Arial Bold" panose="020B0604020202020204" charset="0"/>
                <a:cs typeface="Arial Bold" panose="020B0604020202020204" charset="0"/>
                <a:sym typeface="+mn-ea"/>
              </a:rPr>
              <a:t>Comparison Between Procedural and Object-Oriented Approaches</a:t>
            </a:r>
            <a:endParaRPr lang="en-US" sz="2000" b="1">
              <a:latin typeface="Arial Bold" panose="020B0604020202020204" charset="0"/>
              <a:cs typeface="Arial Bold" panose="020B0604020202020204" charset="0"/>
            </a:endParaRPr>
          </a:p>
        </p:txBody>
      </p:sp>
      <p:sp>
        <p:nvSpPr>
          <p:cNvPr id="3" name="Content Placeholder 2"/>
          <p:cNvSpPr>
            <a:spLocks noGrp="1"/>
          </p:cNvSpPr>
          <p:nvPr>
            <p:ph idx="1"/>
          </p:nvPr>
        </p:nvSpPr>
        <p:spPr>
          <a:xfrm>
            <a:off x="838200" y="1153160"/>
            <a:ext cx="10837545" cy="5422900"/>
          </a:xfrm>
        </p:spPr>
        <p:txBody>
          <a:bodyPr/>
          <a:p>
            <a:pPr marL="0" indent="0">
              <a:lnSpc>
                <a:spcPct val="100000"/>
              </a:lnSpc>
              <a:buNone/>
            </a:pPr>
            <a:r>
              <a:rPr lang="en-US" sz="1800" b="1">
                <a:latin typeface="Arial Bold" panose="020B0604020202020204" charset="0"/>
                <a:cs typeface="Arial Bold" panose="020B0604020202020204" charset="0"/>
              </a:rPr>
              <a:t>Procedural Approach:</a:t>
            </a:r>
            <a:endParaRPr lang="en-US" sz="1800" b="1">
              <a:latin typeface="Arial Bold" panose="020B0604020202020204" charset="0"/>
              <a:cs typeface="Arial Bold" panose="020B0604020202020204" charset="0"/>
            </a:endParaRPr>
          </a:p>
          <a:p>
            <a:pPr marL="342900" indent="-342900">
              <a:lnSpc>
                <a:spcPct val="100000"/>
              </a:lnSpc>
              <a:buFont typeface="+mj-lt"/>
              <a:buAutoNum type="arabicParenR"/>
            </a:pPr>
            <a:r>
              <a:rPr lang="en-US" sz="1800"/>
              <a:t>Code is structured as a sequence of steps, each performed by a function.</a:t>
            </a:r>
            <a:endParaRPr lang="en-US" sz="1800"/>
          </a:p>
          <a:p>
            <a:pPr marL="342900" indent="-342900">
              <a:lnSpc>
                <a:spcPct val="100000"/>
              </a:lnSpc>
              <a:buFont typeface="+mj-lt"/>
              <a:buAutoNum type="arabicParenR"/>
            </a:pPr>
            <a:r>
              <a:rPr lang="en-US" sz="1800"/>
              <a:t>It focuses on functions and the flow of operations.</a:t>
            </a:r>
            <a:endParaRPr lang="en-US" sz="1800"/>
          </a:p>
          <a:p>
            <a:pPr marL="342900" indent="-342900">
              <a:lnSpc>
                <a:spcPct val="100000"/>
              </a:lnSpc>
              <a:buFont typeface="+mj-lt"/>
              <a:buAutoNum type="arabicParenR"/>
            </a:pPr>
            <a:endParaRPr lang="en-US" sz="1800"/>
          </a:p>
          <a:p>
            <a:pPr marL="0" indent="0">
              <a:lnSpc>
                <a:spcPct val="100000"/>
              </a:lnSpc>
              <a:buFont typeface="+mj-lt"/>
              <a:buNone/>
            </a:pPr>
            <a:r>
              <a:rPr lang="en-US" sz="1800" b="1">
                <a:latin typeface="Arial Bold" panose="020B0604020202020204" charset="0"/>
                <a:cs typeface="Arial Bold" panose="020B0604020202020204" charset="0"/>
              </a:rPr>
              <a:t>Object-Oriented Approach:</a:t>
            </a:r>
            <a:endParaRPr lang="en-US" sz="1800" b="1">
              <a:latin typeface="Arial Bold" panose="020B0604020202020204" charset="0"/>
              <a:cs typeface="Arial Bold" panose="020B0604020202020204" charset="0"/>
            </a:endParaRPr>
          </a:p>
          <a:p>
            <a:pPr marL="342900" indent="-342900" algn="l">
              <a:lnSpc>
                <a:spcPct val="100000"/>
              </a:lnSpc>
              <a:buClrTx/>
              <a:buSzTx/>
              <a:buFont typeface="+mj-lt"/>
              <a:buAutoNum type="arabicParenR"/>
            </a:pPr>
            <a:r>
              <a:rPr lang="en-US" sz="1800"/>
              <a:t>Code is organized into classes that bundle data (attributes) and behavior (methods) together.</a:t>
            </a:r>
            <a:endParaRPr lang="en-US" sz="1800"/>
          </a:p>
          <a:p>
            <a:pPr marL="342900" indent="-342900" algn="l">
              <a:lnSpc>
                <a:spcPct val="100000"/>
              </a:lnSpc>
              <a:buClrTx/>
              <a:buSzTx/>
              <a:buFont typeface="+mj-lt"/>
              <a:buAutoNum type="arabicParenR"/>
            </a:pPr>
            <a:r>
              <a:rPr lang="en-US" sz="1800"/>
              <a:t>It is more modular and reusable, as the Performer class can be easily extended with more functionality.</a:t>
            </a:r>
            <a:endParaRPr lang="en-US" sz="1800"/>
          </a:p>
          <a:p>
            <a:pPr marL="0" indent="0">
              <a:lnSpc>
                <a:spcPct val="100000"/>
              </a:lnSpc>
              <a:buFont typeface="+mj-lt"/>
              <a:buNone/>
            </a:pPr>
            <a:endParaRPr lang="en-US" sz="1800"/>
          </a:p>
          <a:p>
            <a:pPr marL="342900" indent="-342900">
              <a:lnSpc>
                <a:spcPct val="100000"/>
              </a:lnSpc>
              <a:buNone/>
            </a:pPr>
            <a:endParaRPr lang="en-US"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p:nvPr>
            <p:ph idx="1"/>
          </p:nvPr>
        </p:nvSpPr>
        <p:spPr/>
        <p:txBody>
          <a:bodyPr/>
          <a:p>
            <a:pPr marL="0" indent="0" algn="ctr">
              <a:buNone/>
            </a:pPr>
            <a:r>
              <a:rPr lang="en-US" sz="4800">
                <a:solidFill>
                  <a:srgbClr val="FF0000"/>
                </a:solidFill>
              </a:rPr>
              <a:t>Polymorphism </a:t>
            </a:r>
            <a:endParaRPr lang="en-US" sz="4800">
              <a:solidFill>
                <a:srgbClr val="FF0000"/>
              </a:solidFill>
            </a:endParaRPr>
          </a:p>
          <a:p>
            <a:pPr marL="0" indent="0" algn="ctr">
              <a:buNone/>
            </a:pPr>
            <a:endParaRPr lang="en-US" sz="480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p:nvPr>
            <p:ph idx="1"/>
          </p:nvPr>
        </p:nvSpPr>
        <p:spPr>
          <a:xfrm>
            <a:off x="838200" y="488950"/>
            <a:ext cx="10515600" cy="5688330"/>
          </a:xfrm>
        </p:spPr>
        <p:txBody>
          <a:bodyPr/>
          <a:p>
            <a:pPr marL="0" indent="0" algn="l">
              <a:buNone/>
            </a:pPr>
            <a:r>
              <a:rPr lang="en-US" sz="3200">
                <a:solidFill>
                  <a:srgbClr val="FF0000"/>
                </a:solidFill>
              </a:rPr>
              <a:t>Polymorphism</a:t>
            </a:r>
            <a:r>
              <a:rPr lang="en-US" sz="4800">
                <a:solidFill>
                  <a:srgbClr val="FF0000"/>
                </a:solidFill>
              </a:rPr>
              <a:t> </a:t>
            </a:r>
            <a:endParaRPr lang="en-US" sz="4800">
              <a:solidFill>
                <a:srgbClr val="FF0000"/>
              </a:solidFill>
            </a:endParaRPr>
          </a:p>
          <a:p>
            <a:pPr marL="0" indent="0" algn="l">
              <a:buNone/>
            </a:pPr>
            <a:r>
              <a:rPr lang="en-US" sz="2000">
                <a:solidFill>
                  <a:schemeClr val="tx1"/>
                </a:solidFill>
              </a:rPr>
              <a:t>Poly means : Many</a:t>
            </a:r>
            <a:endParaRPr lang="en-US" sz="2000">
              <a:solidFill>
                <a:schemeClr val="tx1"/>
              </a:solidFill>
            </a:endParaRPr>
          </a:p>
          <a:p>
            <a:pPr marL="0" indent="0" algn="l">
              <a:buNone/>
            </a:pPr>
            <a:r>
              <a:rPr lang="en-US" sz="2000">
                <a:solidFill>
                  <a:schemeClr val="tx1"/>
                </a:solidFill>
              </a:rPr>
              <a:t>Morphism means: Forms</a:t>
            </a:r>
            <a:endParaRPr lang="en-US" sz="2000">
              <a:solidFill>
                <a:schemeClr val="tx1"/>
              </a:solidFill>
            </a:endParaRPr>
          </a:p>
          <a:p>
            <a:pPr marL="0" indent="0" algn="l">
              <a:buNone/>
            </a:pPr>
            <a:endParaRPr lang="en-US" sz="200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7295515" cy="1036320"/>
          </a:xfrm>
        </p:spPr>
        <p:txBody>
          <a:bodyPr/>
          <a:p>
            <a:r>
              <a:rPr lang="en-US" sz="3200"/>
              <a:t>Polymorphism - Example 2</a:t>
            </a:r>
            <a:endParaRPr lang="en-US" sz="3200"/>
          </a:p>
        </p:txBody>
      </p:sp>
      <p:pic>
        <p:nvPicPr>
          <p:cNvPr id="4" name="Content Placeholder 3" descr="Image 30-09-2024 at 12.43 PM"/>
          <p:cNvPicPr>
            <a:picLocks noChangeAspect="1"/>
          </p:cNvPicPr>
          <p:nvPr>
            <p:ph idx="1"/>
          </p:nvPr>
        </p:nvPicPr>
        <p:blipFill>
          <a:blip r:embed="rId1"/>
          <a:stretch>
            <a:fillRect/>
          </a:stretch>
        </p:blipFill>
        <p:spPr>
          <a:xfrm>
            <a:off x="1416685" y="1497965"/>
            <a:ext cx="9357995" cy="46793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3481070" cy="1036320"/>
          </a:xfrm>
        </p:spPr>
        <p:txBody>
          <a:bodyPr/>
          <a:p>
            <a:r>
              <a:rPr lang="en-US" sz="3200"/>
              <a:t>Polymorphism</a:t>
            </a:r>
            <a:endParaRPr lang="en-US" sz="3200"/>
          </a:p>
        </p:txBody>
      </p:sp>
      <p:sp>
        <p:nvSpPr>
          <p:cNvPr id="3" name="Content Placeholder 2"/>
          <p:cNvSpPr>
            <a:spLocks noGrp="1"/>
          </p:cNvSpPr>
          <p:nvPr>
            <p:ph idx="1"/>
          </p:nvPr>
        </p:nvSpPr>
        <p:spPr>
          <a:xfrm>
            <a:off x="838200" y="1497965"/>
            <a:ext cx="10515600" cy="4679315"/>
          </a:xfrm>
        </p:spPr>
        <p:txBody>
          <a:bodyPr/>
          <a:p>
            <a:pPr marL="0" indent="0">
              <a:lnSpc>
                <a:spcPct val="100000"/>
              </a:lnSpc>
              <a:buNone/>
            </a:pPr>
            <a:r>
              <a:rPr lang="en-US" sz="2000"/>
              <a:t>In OOP, polymorphism allows objects of different classes to be treated as instances of a common superclass or interface. In case of zoo scenario, you can have a superclass called “Animal” that defines a method called “feed.” Each specific animal class, such as “Lion,” “Bird,” and “Elephant,” implements its own version of the “feed” method according to the feeding behavior of that particular animal.</a:t>
            </a:r>
            <a:endParaRPr lang="en-US" sz="2000"/>
          </a:p>
          <a:p>
            <a:pPr marL="0" indent="0">
              <a:lnSpc>
                <a:spcPct val="100000"/>
              </a:lnSpc>
              <a:buNone/>
            </a:pPr>
            <a:endParaRPr lang="en-US" sz="2000"/>
          </a:p>
          <a:p>
            <a:pPr>
              <a:lnSpc>
                <a:spcPct val="100000"/>
              </a:lnSpc>
            </a:pPr>
            <a:r>
              <a:rPr lang="en-US" sz="2000" b="1">
                <a:latin typeface="Arial Bold" panose="020B0604020202020204" charset="0"/>
                <a:cs typeface="Arial Bold" panose="020B0604020202020204" charset="0"/>
                <a:sym typeface="+mn-ea"/>
              </a:rPr>
              <a:t>Polymorphism in Programming:</a:t>
            </a:r>
            <a:endParaRPr lang="en-US" sz="2000" b="1">
              <a:latin typeface="Arial Bold" panose="020B0604020202020204" charset="0"/>
              <a:cs typeface="Arial Bold" panose="020B0604020202020204" charset="0"/>
            </a:endParaRPr>
          </a:p>
          <a:p>
            <a:pPr marL="0" indent="0">
              <a:lnSpc>
                <a:spcPct val="100000"/>
              </a:lnSpc>
              <a:buNone/>
            </a:pPr>
            <a:r>
              <a:rPr lang="en-US" sz="2000">
                <a:sym typeface="+mn-ea"/>
              </a:rPr>
              <a:t>In programming, polymorphism allows a single function or method to operate in different ways based on the input or the object that is calling it.</a:t>
            </a:r>
            <a:endParaRPr lang="en-US" sz="2000"/>
          </a:p>
          <a:p>
            <a:pPr marL="0" indent="0">
              <a:lnSpc>
                <a:spcPct val="100000"/>
              </a:lnSpc>
              <a:buNone/>
            </a:pPr>
            <a:endParaRPr lang="en-US"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Polymorphism</a:t>
            </a:r>
            <a:endParaRPr lang="en-US"/>
          </a:p>
        </p:txBody>
      </p:sp>
      <p:pic>
        <p:nvPicPr>
          <p:cNvPr id="4" name="Content Placeholder 3" descr="Image 30-09-2024 at 12.29 PM"/>
          <p:cNvPicPr>
            <a:picLocks noChangeAspect="1"/>
          </p:cNvPicPr>
          <p:nvPr>
            <p:ph idx="1"/>
          </p:nvPr>
        </p:nvPicPr>
        <p:blipFill>
          <a:blip r:embed="rId1"/>
          <a:stretch>
            <a:fillRect/>
          </a:stretch>
        </p:blipFill>
        <p:spPr>
          <a:xfrm>
            <a:off x="838200" y="2141855"/>
            <a:ext cx="10515600" cy="37185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Polymorphism</a:t>
            </a:r>
            <a:endParaRPr lang="en-US"/>
          </a:p>
        </p:txBody>
      </p:sp>
      <p:pic>
        <p:nvPicPr>
          <p:cNvPr id="5" name="Content Placeholder 4" descr="Image 30-09-2024 at 12.30 PM"/>
          <p:cNvPicPr>
            <a:picLocks noChangeAspect="1"/>
          </p:cNvPicPr>
          <p:nvPr>
            <p:ph idx="1"/>
          </p:nvPr>
        </p:nvPicPr>
        <p:blipFill>
          <a:blip r:embed="rId1"/>
          <a:stretch>
            <a:fillRect/>
          </a:stretch>
        </p:blipFill>
        <p:spPr>
          <a:xfrm>
            <a:off x="1250315" y="1825625"/>
            <a:ext cx="9562465" cy="47694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54965" y="365760"/>
            <a:ext cx="10515600" cy="1101090"/>
          </a:xfrm>
        </p:spPr>
        <p:txBody>
          <a:bodyPr>
            <a:normAutofit/>
          </a:bodyPr>
          <a:p>
            <a:r>
              <a:rPr lang="en-US"/>
              <a:t>Compile Time Polymorphism </a:t>
            </a:r>
            <a:r>
              <a:rPr lang="en-US" sz="2220"/>
              <a:t>(Static Polymorphism)</a:t>
            </a:r>
            <a:endParaRPr lang="en-US" sz="2220"/>
          </a:p>
        </p:txBody>
      </p:sp>
      <p:sp>
        <p:nvSpPr>
          <p:cNvPr id="3" name="Content Placeholder 2"/>
          <p:cNvSpPr/>
          <p:nvPr>
            <p:ph idx="1"/>
          </p:nvPr>
        </p:nvSpPr>
        <p:spPr>
          <a:xfrm>
            <a:off x="242570" y="1691640"/>
            <a:ext cx="11111230" cy="4485640"/>
          </a:xfrm>
        </p:spPr>
        <p:txBody>
          <a:bodyPr/>
          <a:p>
            <a:pPr marL="0" indent="0" algn="just">
              <a:buNone/>
            </a:pPr>
            <a:r>
              <a:rPr lang="en-US" sz="2000" b="1">
                <a:latin typeface="Arial Bold" panose="020B0604020202020204" charset="0"/>
                <a:cs typeface="Arial Bold" panose="020B0604020202020204" charset="0"/>
              </a:rPr>
              <a:t>Function/Method Overloading:</a:t>
            </a:r>
            <a:r>
              <a:rPr lang="en-US" sz="2000"/>
              <a:t> Different function with the same name but have different no of arguments or different types of arguments</a:t>
            </a:r>
            <a:endParaRPr lang="en-US" sz="2000"/>
          </a:p>
          <a:p>
            <a:pPr marL="0" indent="0" algn="just">
              <a:buNone/>
            </a:pPr>
            <a:endParaRPr lang="en-US" sz="2000"/>
          </a:p>
        </p:txBody>
      </p:sp>
      <p:pic>
        <p:nvPicPr>
          <p:cNvPr id="4" name="Picture 3" descr="Image 30-09-2024 at 12.51 PM"/>
          <p:cNvPicPr>
            <a:picLocks noChangeAspect="1"/>
          </p:cNvPicPr>
          <p:nvPr/>
        </p:nvPicPr>
        <p:blipFill>
          <a:blip r:embed="rId1"/>
          <a:stretch>
            <a:fillRect/>
          </a:stretch>
        </p:blipFill>
        <p:spPr>
          <a:xfrm>
            <a:off x="242570" y="2703195"/>
            <a:ext cx="6172835" cy="3474085"/>
          </a:xfrm>
          <a:prstGeom prst="rect">
            <a:avLst/>
          </a:prstGeom>
        </p:spPr>
      </p:pic>
      <p:pic>
        <p:nvPicPr>
          <p:cNvPr id="6" name="Picture 5" descr="Image 30-09-2024 at 1.03 PM"/>
          <p:cNvPicPr>
            <a:picLocks noChangeAspect="1"/>
          </p:cNvPicPr>
          <p:nvPr/>
        </p:nvPicPr>
        <p:blipFill>
          <a:blip r:embed="rId2"/>
          <a:stretch>
            <a:fillRect/>
          </a:stretch>
        </p:blipFill>
        <p:spPr>
          <a:xfrm>
            <a:off x="6549390" y="2815590"/>
            <a:ext cx="5498465" cy="2743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54965" y="365760"/>
            <a:ext cx="10515600" cy="1101090"/>
          </a:xfrm>
        </p:spPr>
        <p:txBody>
          <a:bodyPr>
            <a:normAutofit/>
          </a:bodyPr>
          <a:p>
            <a:r>
              <a:rPr lang="en-US"/>
              <a:t>Run Time Polymorphism </a:t>
            </a:r>
            <a:r>
              <a:rPr lang="en-US" sz="2220"/>
              <a:t>(Dynamic Polymorphism)</a:t>
            </a:r>
            <a:endParaRPr lang="en-US" sz="2220"/>
          </a:p>
        </p:txBody>
      </p:sp>
      <p:sp>
        <p:nvSpPr>
          <p:cNvPr id="3" name="Content Placeholder 2"/>
          <p:cNvSpPr/>
          <p:nvPr>
            <p:ph idx="1"/>
          </p:nvPr>
        </p:nvSpPr>
        <p:spPr>
          <a:xfrm>
            <a:off x="613410" y="1691640"/>
            <a:ext cx="10740390" cy="4485640"/>
          </a:xfrm>
        </p:spPr>
        <p:txBody>
          <a:bodyPr/>
          <a:p>
            <a:pPr marL="0" indent="0" algn="just">
              <a:buNone/>
            </a:pPr>
            <a:r>
              <a:rPr lang="en-US" sz="2000" b="1">
                <a:latin typeface="Arial Bold" panose="020B0604020202020204" charset="0"/>
                <a:cs typeface="Arial Bold" panose="020B0604020202020204" charset="0"/>
              </a:rPr>
              <a:t>Function/Method Overriding:</a:t>
            </a:r>
            <a:r>
              <a:rPr lang="en-US" sz="2000"/>
              <a:t> </a:t>
            </a:r>
            <a:endParaRPr lang="en-US" sz="2000"/>
          </a:p>
          <a:p>
            <a:pPr marL="0" indent="0" algn="just">
              <a:buNone/>
            </a:pPr>
            <a:r>
              <a:rPr lang="en-US" sz="2000"/>
              <a:t>Run-time polymorphism, also known as dynamic polymorphism, occurs when the method to be invoked is determined at runtime. This is typically achieved through method overriding in object-oriented programming, often utilizing inheritance. Let’s explain this concept using the coffee shop example.</a:t>
            </a:r>
            <a:endParaRPr lang="en-US" sz="2000"/>
          </a:p>
          <a:p>
            <a:pPr marL="0" indent="0" algn="just">
              <a:buNone/>
            </a:pPr>
            <a:endParaRPr lang="en-US" sz="2000"/>
          </a:p>
          <a:p>
            <a:pPr marL="0" indent="0" algn="just">
              <a:buNone/>
            </a:pPr>
            <a:r>
              <a:rPr lang="en-US" sz="2000" b="1">
                <a:latin typeface="Arial Bold" panose="020B0604020202020204" charset="0"/>
                <a:cs typeface="Arial Bold" panose="020B0604020202020204" charset="0"/>
              </a:rPr>
              <a:t>Example: </a:t>
            </a:r>
            <a:r>
              <a:rPr lang="en-US" sz="2000"/>
              <a:t>Coffee Shop with Different Types of Coffee having specific preparation method.   For instance, we might have:</a:t>
            </a:r>
            <a:endParaRPr lang="en-US" sz="2000"/>
          </a:p>
          <a:p>
            <a:pPr algn="just"/>
            <a:r>
              <a:rPr lang="en-US" sz="2000"/>
              <a:t>Espresso</a:t>
            </a:r>
            <a:endParaRPr lang="en-US" sz="2000"/>
          </a:p>
          <a:p>
            <a:pPr algn="just"/>
            <a:r>
              <a:rPr lang="en-US" sz="2000"/>
              <a:t>Latte</a:t>
            </a:r>
            <a:endParaRPr lang="en-US" sz="2000"/>
          </a:p>
          <a:p>
            <a:pPr algn="just"/>
            <a:r>
              <a:rPr lang="en-US" sz="2000"/>
              <a:t>Cappuccino</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HIDING</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Information </a:t>
            </a:r>
            <a:r>
              <a:rPr lang="en-US" dirty="0"/>
              <a:t>is stored within the </a:t>
            </a:r>
            <a:r>
              <a:rPr lang="en-US" dirty="0" smtClean="0"/>
              <a:t>object</a:t>
            </a:r>
            <a:endParaRPr lang="en-US" dirty="0" smtClean="0"/>
          </a:p>
          <a:p>
            <a:endParaRPr lang="en-US" dirty="0" smtClean="0"/>
          </a:p>
          <a:p>
            <a:endParaRPr lang="en-US" dirty="0"/>
          </a:p>
          <a:p>
            <a:r>
              <a:rPr lang="en-US" dirty="0" smtClean="0"/>
              <a:t>It </a:t>
            </a:r>
            <a:r>
              <a:rPr lang="en-US" dirty="0"/>
              <a:t>is hidden from the outside </a:t>
            </a:r>
            <a:r>
              <a:rPr lang="en-US" dirty="0" smtClean="0"/>
              <a:t>world</a:t>
            </a:r>
            <a:endParaRPr lang="en-US" dirty="0"/>
          </a:p>
          <a:p>
            <a:pPr marL="0" indent="0">
              <a:buNone/>
            </a:pPr>
            <a:endParaRPr lang="en-US" dirty="0"/>
          </a:p>
          <a:p>
            <a:endParaRPr lang="en-US" dirty="0"/>
          </a:p>
          <a:p>
            <a:r>
              <a:rPr lang="en-US" dirty="0" smtClean="0"/>
              <a:t>It </a:t>
            </a:r>
            <a:r>
              <a:rPr lang="en-US" dirty="0"/>
              <a:t>can only be manipulated by the object itself </a:t>
            </a:r>
            <a:br>
              <a:rPr lang="en-US" dirty="0"/>
            </a:b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Class in OOP</a:t>
            </a:r>
            <a:endParaRPr lang="en-US" sz="3600" dirty="0"/>
          </a:p>
        </p:txBody>
      </p:sp>
      <p:sp>
        <p:nvSpPr>
          <p:cNvPr id="3" name="Content Placeholder 2"/>
          <p:cNvSpPr>
            <a:spLocks noGrp="1"/>
          </p:cNvSpPr>
          <p:nvPr>
            <p:ph idx="1"/>
          </p:nvPr>
        </p:nvSpPr>
        <p:spPr>
          <a:xfrm>
            <a:off x="838200" y="1421765"/>
            <a:ext cx="10515600" cy="4601210"/>
          </a:xfrm>
        </p:spPr>
        <p:txBody>
          <a:bodyPr>
            <a:normAutofit/>
          </a:bodyPr>
          <a:lstStyle/>
          <a:p>
            <a:r>
              <a:rPr lang="en-US" dirty="0"/>
              <a:t>A class is an entity that determines how an object will behave and what the object will contain. </a:t>
            </a:r>
            <a:endParaRPr lang="en-US" dirty="0"/>
          </a:p>
          <a:p>
            <a:r>
              <a:rPr lang="en-US" dirty="0"/>
              <a:t>In other words, it is a blueprint or a set of instructions to build a specific type of object. </a:t>
            </a:r>
            <a:endParaRPr lang="en-US" dirty="0"/>
          </a:p>
          <a:p>
            <a:r>
              <a:rPr lang="en-US" dirty="0"/>
              <a:t>The classes and objects are the most importrant features of C++.</a:t>
            </a:r>
            <a:endParaRPr lang="en-US" dirty="0"/>
          </a:p>
          <a:p>
            <a:r>
              <a:rPr lang="en-US" dirty="0"/>
              <a:t>A class is similar to structure but it provides more advanced feature. </a:t>
            </a:r>
            <a:br>
              <a:rPr lang="en-US" dirty="0"/>
            </a:b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Class in OOP (Cont...)</a:t>
            </a:r>
            <a:endParaRPr lang="en-US" sz="3600" dirty="0"/>
          </a:p>
        </p:txBody>
      </p:sp>
      <p:sp>
        <p:nvSpPr>
          <p:cNvPr id="3" name="Content Placeholder 2"/>
          <p:cNvSpPr>
            <a:spLocks noGrp="1"/>
          </p:cNvSpPr>
          <p:nvPr>
            <p:ph idx="1"/>
          </p:nvPr>
        </p:nvSpPr>
        <p:spPr>
          <a:xfrm>
            <a:off x="838200" y="1421765"/>
            <a:ext cx="10515600" cy="4601210"/>
          </a:xfrm>
        </p:spPr>
        <p:txBody>
          <a:bodyPr>
            <a:normAutofit/>
          </a:bodyPr>
          <a:lstStyle/>
          <a:p>
            <a:pPr algn="just"/>
            <a:r>
              <a:rPr lang="en-US" dirty="0"/>
              <a:t>When you define a </a:t>
            </a:r>
            <a:r>
              <a:rPr lang="en-US" dirty="0">
                <a:solidFill>
                  <a:srgbClr val="FF0000"/>
                </a:solidFill>
              </a:rPr>
              <a:t>class</a:t>
            </a:r>
            <a:r>
              <a:rPr lang="en-US" dirty="0"/>
              <a:t>, you define a blueprint for a data type.</a:t>
            </a:r>
            <a:endParaRPr lang="en-US" dirty="0"/>
          </a:p>
          <a:p>
            <a:pPr algn="just"/>
            <a:r>
              <a:rPr lang="en-US" dirty="0"/>
              <a:t>This doesn’t actually define any data but it does define what the </a:t>
            </a:r>
            <a:r>
              <a:rPr lang="en-US" dirty="0">
                <a:solidFill>
                  <a:srgbClr val="FF0000"/>
                </a:solidFill>
              </a:rPr>
              <a:t>class</a:t>
            </a:r>
            <a:r>
              <a:rPr lang="en-US" dirty="0"/>
              <a:t> name means that is what an object of the class will consist of and what operations can be performed on such an object. </a:t>
            </a:r>
            <a:endParaRPr lang="en-US" dirty="0"/>
          </a:p>
          <a:p>
            <a:pPr algn="just"/>
            <a:r>
              <a:rPr lang="en-US" dirty="0"/>
              <a:t>A class defination starts with a keyword </a:t>
            </a:r>
            <a:r>
              <a:rPr lang="en-US" dirty="0">
                <a:solidFill>
                  <a:srgbClr val="FF0000"/>
                </a:solidFill>
              </a:rPr>
              <a:t>class </a:t>
            </a:r>
            <a:r>
              <a:rPr lang="en-US" dirty="0"/>
              <a:t>followed by the class name and the class body, enclosed by a pair of curley braces. </a:t>
            </a:r>
            <a:endParaRPr lang="en-US" dirty="0"/>
          </a:p>
          <a:p>
            <a:pPr algn="just"/>
            <a:r>
              <a:rPr lang="en-US" dirty="0"/>
              <a:t>A </a:t>
            </a:r>
            <a:r>
              <a:rPr lang="en-US" dirty="0">
                <a:solidFill>
                  <a:srgbClr val="FF0000"/>
                </a:solidFill>
              </a:rPr>
              <a:t>class</a:t>
            </a:r>
            <a:r>
              <a:rPr lang="en-US" dirty="0"/>
              <a:t> defination must be followed either by a semicolon or a list of declaratrions </a:t>
            </a:r>
            <a:endParaRPr lang="en-US" dirty="0"/>
          </a:p>
          <a:p>
            <a:endParaRPr lang="en-US" dirty="0"/>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838200"/>
            <a:ext cx="7772400" cy="2891155"/>
          </a:xfrm>
        </p:spPr>
        <p:txBody>
          <a:bodyPr>
            <a:normAutofit/>
          </a:bodyPr>
          <a:lstStyle/>
          <a:p>
            <a:pPr algn="l"/>
            <a:r>
              <a:rPr lang="en-US" sz="4000" b="0" cap="none" dirty="0" smtClean="0"/>
              <a:t>A </a:t>
            </a:r>
            <a:r>
              <a:rPr lang="en-US" sz="4000" cap="none" dirty="0" smtClean="0"/>
              <a:t>class</a:t>
            </a:r>
            <a:r>
              <a:rPr lang="en-US" sz="4000" b="0" cap="none" dirty="0" smtClean="0"/>
              <a:t> is a collection of a fixed number of components. The components of a class are called the </a:t>
            </a:r>
            <a:r>
              <a:rPr lang="en-US" sz="4000" cap="none" dirty="0" smtClean="0"/>
              <a:t>members</a:t>
            </a:r>
            <a:r>
              <a:rPr lang="en-US" sz="4000" b="0" cap="none" dirty="0" smtClean="0"/>
              <a:t> of the class.</a:t>
            </a:r>
            <a:br>
              <a:rPr lang="en-US" sz="4000" b="0" dirty="0"/>
            </a:br>
            <a:endParaRPr lang="en-US" sz="4000" b="0" dirty="0"/>
          </a:p>
        </p:txBody>
      </p:sp>
      <p:sp>
        <p:nvSpPr>
          <p:cNvPr id="3" name="Text Placeholder 2"/>
          <p:cNvSpPr>
            <a:spLocks noGrp="1"/>
          </p:cNvSpPr>
          <p:nvPr>
            <p:ph type="body" idx="1"/>
          </p:nvPr>
        </p:nvSpPr>
        <p:spPr/>
        <p:txBody>
          <a:bodyPr/>
          <a:lstStyle/>
          <a:p>
            <a:r>
              <a:rPr lang="en-US" dirty="0" smtClean="0"/>
              <a:t>Syntax</a:t>
            </a:r>
            <a:endParaRPr lang="en-US"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00600" y="4072370"/>
            <a:ext cx="5558529" cy="2404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905000" y="5562600"/>
            <a:ext cx="2133600" cy="922020"/>
          </a:xfrm>
          <a:prstGeom prst="rect">
            <a:avLst/>
          </a:prstGeom>
          <a:noFill/>
        </p:spPr>
        <p:txBody>
          <a:bodyPr wrap="square" rtlCol="0">
            <a:spAutoFit/>
          </a:bodyPr>
          <a:lstStyle/>
          <a:p>
            <a:r>
              <a:rPr lang="en-US" dirty="0" smtClean="0"/>
              <a:t>Variable declarations and/or functions.</a:t>
            </a:r>
            <a:endParaRPr lang="en-US" dirty="0"/>
          </a:p>
        </p:txBody>
      </p:sp>
      <p:cxnSp>
        <p:nvCxnSpPr>
          <p:cNvPr id="6" name="Straight Arrow Connector 5"/>
          <p:cNvCxnSpPr/>
          <p:nvPr/>
        </p:nvCxnSpPr>
        <p:spPr>
          <a:xfrm flipV="1">
            <a:off x="3886200" y="5562600"/>
            <a:ext cx="22098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Syntax</a:t>
            </a:r>
            <a:endParaRPr lang="en-US" sz="3600" dirty="0"/>
          </a:p>
        </p:txBody>
      </p:sp>
      <p:sp>
        <p:nvSpPr>
          <p:cNvPr id="3" name="Content Placeholder 2"/>
          <p:cNvSpPr>
            <a:spLocks noGrp="1"/>
          </p:cNvSpPr>
          <p:nvPr>
            <p:ph idx="1"/>
          </p:nvPr>
        </p:nvSpPr>
        <p:spPr>
          <a:xfrm>
            <a:off x="838200" y="1421765"/>
            <a:ext cx="10515600" cy="4601210"/>
          </a:xfrm>
        </p:spPr>
        <p:txBody>
          <a:bodyPr>
            <a:normAutofit/>
          </a:bodyPr>
          <a:lstStyle/>
          <a:p>
            <a:pPr marL="0" indent="0" algn="just">
              <a:buNone/>
            </a:pPr>
            <a:r>
              <a:rPr lang="en-US" dirty="0"/>
              <a:t>Class </a:t>
            </a:r>
            <a:r>
              <a:rPr lang="en-US" dirty="0">
                <a:solidFill>
                  <a:srgbClr val="FF0000"/>
                </a:solidFill>
              </a:rPr>
              <a:t>Class_name</a:t>
            </a:r>
            <a:endParaRPr lang="en-US" dirty="0">
              <a:solidFill>
                <a:srgbClr val="FF0000"/>
              </a:solidFill>
            </a:endParaRPr>
          </a:p>
          <a:p>
            <a:pPr marL="0" indent="0" algn="just">
              <a:buNone/>
            </a:pPr>
            <a:r>
              <a:rPr lang="en-US" dirty="0">
                <a:solidFill>
                  <a:schemeClr val="tx1"/>
                </a:solidFill>
              </a:rPr>
              <a:t>{</a:t>
            </a:r>
            <a:endParaRPr lang="en-US" dirty="0">
              <a:solidFill>
                <a:schemeClr val="tx1"/>
              </a:solidFill>
            </a:endParaRPr>
          </a:p>
          <a:p>
            <a:pPr marL="0" indent="0">
              <a:buNone/>
            </a:pPr>
            <a:r>
              <a:rPr lang="en-US" dirty="0"/>
              <a:t>	field;</a:t>
            </a:r>
            <a:endParaRPr lang="en-US" dirty="0"/>
          </a:p>
          <a:p>
            <a:pPr marL="0" indent="0">
              <a:buNone/>
            </a:pPr>
            <a:r>
              <a:rPr lang="en-US" dirty="0"/>
              <a:t>	method;</a:t>
            </a:r>
            <a:endParaRPr lang="en-US" dirty="0"/>
          </a:p>
          <a:p>
            <a:pPr marL="0" indent="0">
              <a:buNone/>
            </a:pPr>
            <a:r>
              <a:rPr lang="en-US" dirty="0"/>
              <a:t>};</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30-09-2024 at 11.12 AM"/>
          <p:cNvPicPr>
            <a:picLocks noChangeAspect="1"/>
          </p:cNvPicPr>
          <p:nvPr>
            <p:ph idx="1"/>
          </p:nvPr>
        </p:nvPicPr>
        <p:blipFill>
          <a:blip r:embed="rId1"/>
          <a:stretch>
            <a:fillRect/>
          </a:stretch>
        </p:blipFill>
        <p:spPr>
          <a:xfrm>
            <a:off x="1751965" y="1068705"/>
            <a:ext cx="8879205" cy="51085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Example:</a:t>
            </a:r>
            <a:endParaRPr lang="en-US" sz="3600" dirty="0"/>
          </a:p>
        </p:txBody>
      </p:sp>
      <p:sp>
        <p:nvSpPr>
          <p:cNvPr id="3" name="Content Placeholder 2"/>
          <p:cNvSpPr>
            <a:spLocks noGrp="1"/>
          </p:cNvSpPr>
          <p:nvPr>
            <p:ph idx="1"/>
          </p:nvPr>
        </p:nvSpPr>
        <p:spPr>
          <a:xfrm>
            <a:off x="838200" y="1421765"/>
            <a:ext cx="10515600" cy="4601210"/>
          </a:xfrm>
        </p:spPr>
        <p:txBody>
          <a:bodyPr>
            <a:normAutofit/>
          </a:bodyPr>
          <a:lstStyle/>
          <a:p>
            <a:pPr marL="0" indent="0" algn="just">
              <a:buNone/>
            </a:pPr>
            <a:r>
              <a:rPr lang="en-US" dirty="0"/>
              <a:t>Class </a:t>
            </a:r>
            <a:r>
              <a:rPr lang="en-US" dirty="0">
                <a:solidFill>
                  <a:srgbClr val="FF0000"/>
                </a:solidFill>
              </a:rPr>
              <a:t>Test</a:t>
            </a:r>
            <a:endParaRPr lang="en-US" dirty="0">
              <a:solidFill>
                <a:srgbClr val="FF0000"/>
              </a:solidFill>
            </a:endParaRPr>
          </a:p>
          <a:p>
            <a:pPr marL="0" indent="0" algn="just">
              <a:buNone/>
            </a:pPr>
            <a:r>
              <a:rPr lang="en-US" dirty="0">
                <a:solidFill>
                  <a:schemeClr val="tx1"/>
                </a:solidFill>
              </a:rPr>
              <a:t>{</a:t>
            </a:r>
            <a:endParaRPr lang="en-US" dirty="0">
              <a:solidFill>
                <a:schemeClr val="tx1"/>
              </a:solidFill>
            </a:endParaRPr>
          </a:p>
          <a:p>
            <a:pPr marL="0" indent="0">
              <a:buNone/>
            </a:pPr>
            <a:r>
              <a:rPr lang="en-US" dirty="0"/>
              <a:t>	private:</a:t>
            </a:r>
            <a:endParaRPr lang="en-US" dirty="0"/>
          </a:p>
          <a:p>
            <a:pPr marL="0" indent="0">
              <a:buNone/>
            </a:pPr>
            <a:r>
              <a:rPr lang="en-US" dirty="0"/>
              <a:t>	int n=10;</a:t>
            </a:r>
            <a:endParaRPr lang="en-US" dirty="0"/>
          </a:p>
          <a:p>
            <a:pPr marL="0" indent="0">
              <a:buNone/>
            </a:pPr>
            <a:r>
              <a:rPr lang="en-US" dirty="0"/>
              <a:t>	public:</a:t>
            </a:r>
            <a:endParaRPr lang="en-US" dirty="0"/>
          </a:p>
          <a:p>
            <a:pPr marL="0" indent="0">
              <a:buNone/>
            </a:pPr>
            <a:r>
              <a:rPr lang="en-US" dirty="0"/>
              <a:t>	void show()	</a:t>
            </a:r>
            <a:endParaRPr lang="en-US" dirty="0"/>
          </a:p>
          <a:p>
            <a:pPr marL="0" indent="0">
              <a:buNone/>
            </a:pPr>
            <a:r>
              <a:rPr lang="en-US" dirty="0"/>
              <a:t>{</a:t>
            </a:r>
            <a:endParaRPr lang="en-US" dirty="0"/>
          </a:p>
          <a:p>
            <a:pPr marL="0" indent="0">
              <a:buNone/>
            </a:pPr>
            <a:r>
              <a:rPr lang="en-US" dirty="0"/>
              <a:t>cout&lt;&lt;”The value of n:”&lt;&lt;n;</a:t>
            </a:r>
            <a:endParaRPr lang="en-US" dirty="0"/>
          </a:p>
          <a:p>
            <a:pPr marL="0" indent="0">
              <a:buNone/>
            </a:pPr>
            <a:r>
              <a:rPr lang="en-US" dirty="0"/>
              <a:t>};</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7022465" cy="988695"/>
          </a:xfrm>
        </p:spPr>
        <p:txBody>
          <a:bodyPr/>
          <a:p>
            <a:r>
              <a:rPr lang="en-US" sz="3200"/>
              <a:t>Predefined VS. ADTs</a:t>
            </a:r>
            <a:endParaRPr lang="en-US" sz="3200"/>
          </a:p>
        </p:txBody>
      </p:sp>
      <p:sp>
        <p:nvSpPr>
          <p:cNvPr id="3" name="Content Placeholder 2"/>
          <p:cNvSpPr>
            <a:spLocks noGrp="1"/>
          </p:cNvSpPr>
          <p:nvPr>
            <p:ph idx="1"/>
          </p:nvPr>
        </p:nvSpPr>
        <p:spPr>
          <a:xfrm>
            <a:off x="838200" y="1482725"/>
            <a:ext cx="10515600" cy="4694555"/>
          </a:xfrm>
        </p:spPr>
        <p:txBody>
          <a:bodyPr/>
          <a:p>
            <a:r>
              <a:rPr lang="en-US"/>
              <a:t>Pre-defined Data Types</a:t>
            </a:r>
            <a:endParaRPr lang="en-US"/>
          </a:p>
          <a:p>
            <a:r>
              <a:rPr lang="en-US"/>
              <a:t>Abstract Data Types </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5670550" cy="810895"/>
          </a:xfrm>
        </p:spPr>
        <p:txBody>
          <a:bodyPr/>
          <a:p>
            <a:r>
              <a:rPr lang="en-US" sz="3200">
                <a:sym typeface="+mn-ea"/>
              </a:rPr>
              <a:t>Predefined VS. ADTs</a:t>
            </a:r>
            <a:endParaRPr lang="en-US" sz="3200"/>
          </a:p>
        </p:txBody>
      </p:sp>
      <p:sp>
        <p:nvSpPr>
          <p:cNvPr id="3" name="Content Placeholder 2"/>
          <p:cNvSpPr>
            <a:spLocks noGrp="1"/>
          </p:cNvSpPr>
          <p:nvPr>
            <p:ph idx="1"/>
          </p:nvPr>
        </p:nvSpPr>
        <p:spPr>
          <a:xfrm>
            <a:off x="838200" y="1176020"/>
            <a:ext cx="10692765" cy="5322570"/>
          </a:xfrm>
        </p:spPr>
        <p:txBody>
          <a:bodyPr/>
          <a:p>
            <a:pPr>
              <a:lnSpc>
                <a:spcPct val="100000"/>
              </a:lnSpc>
            </a:pPr>
            <a:r>
              <a:rPr lang="en-US" sz="1800" b="1">
                <a:latin typeface="Arial Bold" panose="020B0604020202020204" charset="0"/>
                <a:cs typeface="Arial Bold" panose="020B0604020202020204" charset="0"/>
              </a:rPr>
              <a:t>Predefined data types</a:t>
            </a:r>
            <a:r>
              <a:rPr lang="en-US" sz="1800"/>
              <a:t>, also known as primitive data types or built-in data types, are the basic types provided by a programming language as part of its syntax.</a:t>
            </a:r>
            <a:endParaRPr lang="en-US" sz="1800"/>
          </a:p>
          <a:p>
            <a:pPr>
              <a:lnSpc>
                <a:spcPct val="100000"/>
              </a:lnSpc>
            </a:pPr>
            <a:r>
              <a:rPr lang="en-US" sz="1800"/>
              <a:t>Common predefined data types include: Integers (int) , Floating-point numbers(float, double), Characters (char), Booleans (bool), Strings</a:t>
            </a:r>
            <a:endParaRPr lang="en-US" sz="1800"/>
          </a:p>
          <a:p>
            <a:pPr>
              <a:lnSpc>
                <a:spcPct val="100000"/>
              </a:lnSpc>
            </a:pPr>
            <a:r>
              <a:rPr lang="en-US" sz="1800"/>
              <a:t>Characteristics:</a:t>
            </a:r>
            <a:endParaRPr lang="en-US" sz="1800"/>
          </a:p>
          <a:p>
            <a:pPr marL="457200" indent="-457200">
              <a:lnSpc>
                <a:spcPct val="100000"/>
              </a:lnSpc>
              <a:buAutoNum type="arabicPeriod"/>
            </a:pPr>
            <a:r>
              <a:rPr lang="en-US" sz="1800"/>
              <a:t>Fixed size: The size of predefined data types is usually fixed and depends on the language and architecture.</a:t>
            </a:r>
            <a:endParaRPr lang="en-US" sz="1800"/>
          </a:p>
          <a:p>
            <a:pPr marL="457200" indent="-457200">
              <a:lnSpc>
                <a:spcPct val="100000"/>
              </a:lnSpc>
              <a:buAutoNum type="arabicPeriod"/>
            </a:pPr>
            <a:r>
              <a:rPr lang="en-US" sz="1800"/>
              <a:t>Direct usage: These types can be used directly in operations without requiring any additional structure.</a:t>
            </a:r>
            <a:endParaRPr lang="en-US" sz="1800"/>
          </a:p>
          <a:p>
            <a:pPr marL="457200" indent="-457200">
              <a:lnSpc>
                <a:spcPct val="100000"/>
              </a:lnSpc>
              <a:buAutoNum type="arabicPeriod"/>
            </a:pPr>
            <a:r>
              <a:rPr lang="en-US" sz="1800"/>
              <a:t>Limited functionality: Predefined types provide basic operations (like arithmetic for numbers) but do not have methods or properties like complex types.</a:t>
            </a:r>
            <a:endParaRPr lang="en-US" sz="1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5670550" cy="810895"/>
          </a:xfrm>
        </p:spPr>
        <p:txBody>
          <a:bodyPr/>
          <a:p>
            <a:r>
              <a:rPr lang="en-US" sz="3200">
                <a:sym typeface="+mn-ea"/>
              </a:rPr>
              <a:t>Predefined VS. ADTs</a:t>
            </a:r>
            <a:endParaRPr lang="en-US" sz="3200"/>
          </a:p>
        </p:txBody>
      </p:sp>
      <p:sp>
        <p:nvSpPr>
          <p:cNvPr id="3" name="Content Placeholder 2"/>
          <p:cNvSpPr>
            <a:spLocks noGrp="1"/>
          </p:cNvSpPr>
          <p:nvPr>
            <p:ph idx="1"/>
          </p:nvPr>
        </p:nvSpPr>
        <p:spPr>
          <a:xfrm>
            <a:off x="838200" y="1176020"/>
            <a:ext cx="10692765" cy="5322570"/>
          </a:xfrm>
        </p:spPr>
        <p:txBody>
          <a:bodyPr/>
          <a:p>
            <a:pPr algn="just">
              <a:lnSpc>
                <a:spcPct val="100000"/>
              </a:lnSpc>
            </a:pPr>
            <a:r>
              <a:rPr lang="en-US" sz="1800" b="1">
                <a:latin typeface="Arial Bold" panose="020B0604020202020204" charset="0"/>
                <a:cs typeface="Arial Bold" panose="020B0604020202020204" charset="0"/>
              </a:rPr>
              <a:t>Abstract data types</a:t>
            </a:r>
            <a:r>
              <a:rPr lang="en-US" sz="1800"/>
              <a:t>, are a theoretical concept that defines a data type purely by its behavior (operations) rather than its implementation. They provide a high-level description of the data and the operations that can be performed on it.</a:t>
            </a:r>
            <a:endParaRPr lang="en-US" sz="1800"/>
          </a:p>
          <a:p>
            <a:pPr algn="just">
              <a:lnSpc>
                <a:spcPct val="100000"/>
              </a:lnSpc>
            </a:pPr>
            <a:r>
              <a:rPr lang="en-US" sz="1800">
                <a:sym typeface="+mn-ea"/>
              </a:rPr>
              <a:t>Common adts include: stack, queue, list, tree</a:t>
            </a:r>
            <a:endParaRPr lang="en-US" sz="1800">
              <a:sym typeface="+mn-ea"/>
            </a:endParaRPr>
          </a:p>
          <a:p>
            <a:pPr algn="just">
              <a:lnSpc>
                <a:spcPct val="100000"/>
              </a:lnSpc>
            </a:pPr>
            <a:r>
              <a:rPr lang="en-US" sz="1800"/>
              <a:t>Characteristics:</a:t>
            </a:r>
            <a:endParaRPr lang="en-US" sz="1800"/>
          </a:p>
          <a:p>
            <a:pPr marL="342900" indent="-342900" algn="just">
              <a:lnSpc>
                <a:spcPct val="100000"/>
              </a:lnSpc>
              <a:buAutoNum type="arabicPeriod"/>
            </a:pPr>
            <a:r>
              <a:rPr lang="en-US" sz="1800"/>
              <a:t>Encapsulation: ADTs encapsulate the data and provide a defined interface for interacting with that data.</a:t>
            </a:r>
            <a:endParaRPr lang="en-US" sz="1800"/>
          </a:p>
          <a:p>
            <a:pPr marL="342900" indent="-342900" algn="just">
              <a:lnSpc>
                <a:spcPct val="100000"/>
              </a:lnSpc>
              <a:buAutoNum type="arabicPeriod"/>
            </a:pPr>
            <a:r>
              <a:rPr lang="en-US" sz="1800"/>
              <a:t>Implementation independence: The user of an ADT does not need to know how it is implemented; they only need to know how to interact with it.</a:t>
            </a:r>
            <a:endParaRPr lang="en-US" sz="1800"/>
          </a:p>
          <a:p>
            <a:pPr marL="342900" indent="-342900" algn="just">
              <a:lnSpc>
                <a:spcPct val="100000"/>
              </a:lnSpc>
              <a:buAutoNum type="arabicPeriod"/>
            </a:pPr>
            <a:r>
              <a:rPr lang="en-US" sz="1800"/>
              <a:t>Operations defined: An ADT defines a set of operations (methods) that can be performed on the data, such as adding, removing, or searching for elements.</a:t>
            </a:r>
            <a:endParaRPr lang="en-US" sz="1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445135"/>
            <a:ext cx="10515600" cy="1116965"/>
          </a:xfrm>
        </p:spPr>
        <p:txBody>
          <a:bodyPr>
            <a:normAutofit/>
          </a:bodyPr>
          <a:p>
            <a:r>
              <a:rPr lang="en-US">
                <a:sym typeface="+mn-ea"/>
              </a:rPr>
              <a:t>Predefined VS. ADTs</a:t>
            </a:r>
            <a:endParaRPr lang="en-US"/>
          </a:p>
        </p:txBody>
      </p:sp>
      <p:pic>
        <p:nvPicPr>
          <p:cNvPr id="4" name="Content Placeholder 3" descr="Image 30-09-2024 at 11.41 AM"/>
          <p:cNvPicPr>
            <a:picLocks noChangeAspect="1"/>
          </p:cNvPicPr>
          <p:nvPr>
            <p:ph idx="1"/>
          </p:nvPr>
        </p:nvPicPr>
        <p:blipFill>
          <a:blip r:embed="rId1"/>
          <a:stretch>
            <a:fillRect/>
          </a:stretch>
        </p:blipFill>
        <p:spPr>
          <a:xfrm>
            <a:off x="1719580" y="1562100"/>
            <a:ext cx="8865235" cy="485584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Object in OOP</a:t>
            </a:r>
            <a:endParaRPr lang="en-US" sz="3600" dirty="0"/>
          </a:p>
        </p:txBody>
      </p:sp>
      <p:sp>
        <p:nvSpPr>
          <p:cNvPr id="3" name="Content Placeholder 2"/>
          <p:cNvSpPr>
            <a:spLocks noGrp="1"/>
          </p:cNvSpPr>
          <p:nvPr>
            <p:ph idx="1"/>
          </p:nvPr>
        </p:nvSpPr>
        <p:spPr>
          <a:xfrm>
            <a:off x="838200" y="1690370"/>
            <a:ext cx="10304145" cy="4332605"/>
          </a:xfrm>
        </p:spPr>
        <p:txBody>
          <a:bodyPr>
            <a:normAutofit/>
          </a:bodyPr>
          <a:lstStyle/>
          <a:p>
            <a:pPr algn="just"/>
            <a:r>
              <a:rPr lang="en-US" dirty="0">
                <a:solidFill>
                  <a:schemeClr val="tx1"/>
                </a:solidFill>
              </a:rPr>
              <a:t>This is the basic unit of object oriented programming</a:t>
            </a:r>
            <a:endParaRPr lang="en-US" dirty="0">
              <a:solidFill>
                <a:schemeClr val="tx1"/>
              </a:solidFill>
            </a:endParaRPr>
          </a:p>
          <a:p>
            <a:pPr algn="just"/>
            <a:r>
              <a:rPr lang="en-US" dirty="0">
                <a:solidFill>
                  <a:schemeClr val="tx1"/>
                </a:solidFill>
              </a:rPr>
              <a:t>That is both data and function that operate on data are bundled as a unit called as object</a:t>
            </a:r>
            <a:endParaRPr lang="en-US" dirty="0">
              <a:solidFill>
                <a:schemeClr val="tx1"/>
              </a:solidFill>
            </a:endParaRPr>
          </a:p>
          <a:p>
            <a:pPr marL="0" indent="0" algn="just">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Declaring Object</a:t>
            </a:r>
            <a:endParaRPr lang="en-US" sz="3600" dirty="0"/>
          </a:p>
        </p:txBody>
      </p:sp>
      <p:sp>
        <p:nvSpPr>
          <p:cNvPr id="3" name="Content Placeholder 2"/>
          <p:cNvSpPr>
            <a:spLocks noGrp="1"/>
          </p:cNvSpPr>
          <p:nvPr>
            <p:ph idx="1"/>
          </p:nvPr>
        </p:nvSpPr>
        <p:spPr>
          <a:xfrm>
            <a:off x="838200" y="1690370"/>
            <a:ext cx="10304145" cy="4332605"/>
          </a:xfrm>
        </p:spPr>
        <p:txBody>
          <a:bodyPr>
            <a:normAutofit/>
          </a:bodyPr>
          <a:lstStyle/>
          <a:p>
            <a:pPr marL="0" indent="0" algn="just">
              <a:buNone/>
            </a:pPr>
            <a:r>
              <a:rPr lang="en-US" dirty="0"/>
              <a:t>Class_Name object_Name;</a:t>
            </a:r>
            <a:endParaRPr lang="en-US" dirty="0"/>
          </a:p>
          <a:p>
            <a:pPr marL="0" indent="0" algn="just">
              <a:buNone/>
            </a:pPr>
            <a:endParaRPr lang="en-US" dirty="0"/>
          </a:p>
          <a:p>
            <a:pPr marL="0" indent="0" algn="just">
              <a:buNone/>
            </a:pPr>
            <a:r>
              <a:rPr lang="en-US" dirty="0"/>
              <a:t>Test T;</a:t>
            </a:r>
            <a:endParaRPr lang="en-US" dirty="0"/>
          </a:p>
          <a:p>
            <a:pPr marL="0" indent="0" algn="just">
              <a:buNone/>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Example: 1</a:t>
            </a:r>
            <a:endParaRPr lang="en-US" sz="3600" dirty="0"/>
          </a:p>
        </p:txBody>
      </p:sp>
      <p:sp>
        <p:nvSpPr>
          <p:cNvPr id="3" name="Content Placeholder 2"/>
          <p:cNvSpPr>
            <a:spLocks noGrp="1"/>
          </p:cNvSpPr>
          <p:nvPr>
            <p:ph idx="1"/>
          </p:nvPr>
        </p:nvSpPr>
        <p:spPr>
          <a:xfrm>
            <a:off x="838200" y="1690370"/>
            <a:ext cx="10304145" cy="4332605"/>
          </a:xfrm>
        </p:spPr>
        <p:txBody>
          <a:bodyPr>
            <a:normAutofit/>
          </a:bodyPr>
          <a:lstStyle/>
          <a:p>
            <a:pPr marL="0" indent="0" algn="just">
              <a:buNone/>
            </a:pPr>
            <a:r>
              <a:rPr lang="en-US" dirty="0">
                <a:solidFill>
                  <a:srgbClr val="FF0000"/>
                </a:solidFill>
              </a:rPr>
              <a:t>Human being = Class</a:t>
            </a:r>
            <a:endParaRPr lang="en-US" dirty="0">
              <a:solidFill>
                <a:srgbClr val="FF0000"/>
              </a:solidFill>
            </a:endParaRPr>
          </a:p>
          <a:p>
            <a:pPr marL="0" indent="0" algn="just">
              <a:buNone/>
            </a:pPr>
            <a:endParaRPr lang="en-US" dirty="0"/>
          </a:p>
          <a:p>
            <a:pPr marL="0" indent="0" algn="just">
              <a:buNone/>
            </a:pPr>
            <a:r>
              <a:rPr lang="en-US" dirty="0"/>
              <a:t>Man -&gt; is object</a:t>
            </a:r>
            <a:endParaRPr lang="en-US" dirty="0"/>
          </a:p>
          <a:p>
            <a:pPr marL="0" indent="0" algn="just">
              <a:buNone/>
            </a:pPr>
            <a:r>
              <a:rPr lang="en-US" dirty="0"/>
              <a:t>Women -&gt; is object</a:t>
            </a:r>
            <a:endParaRPr lang="en-US" dirty="0"/>
          </a:p>
          <a:p>
            <a:pPr marL="0" indent="0" algn="just">
              <a:buNone/>
            </a:pPr>
            <a:endParaRPr lang="en-US" dirty="0"/>
          </a:p>
          <a:p>
            <a:pPr marL="0" indent="0" algn="just">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Example: 2</a:t>
            </a:r>
            <a:endParaRPr lang="en-US" sz="3600" dirty="0"/>
          </a:p>
        </p:txBody>
      </p:sp>
      <p:sp>
        <p:nvSpPr>
          <p:cNvPr id="3" name="Content Placeholder 2"/>
          <p:cNvSpPr>
            <a:spLocks noGrp="1"/>
          </p:cNvSpPr>
          <p:nvPr>
            <p:ph idx="1"/>
          </p:nvPr>
        </p:nvSpPr>
        <p:spPr>
          <a:xfrm>
            <a:off x="838200" y="1690370"/>
            <a:ext cx="10304145" cy="4332605"/>
          </a:xfrm>
        </p:spPr>
        <p:txBody>
          <a:bodyPr>
            <a:normAutofit/>
          </a:bodyPr>
          <a:lstStyle/>
          <a:p>
            <a:pPr marL="0" indent="0" algn="just">
              <a:buNone/>
            </a:pPr>
            <a:r>
              <a:rPr lang="en-US" dirty="0">
                <a:solidFill>
                  <a:srgbClr val="FF0000"/>
                </a:solidFill>
              </a:rPr>
              <a:t>Fruit is a -&gt; Class</a:t>
            </a:r>
            <a:endParaRPr lang="en-US" dirty="0">
              <a:solidFill>
                <a:srgbClr val="FF0000"/>
              </a:solidFill>
            </a:endParaRPr>
          </a:p>
          <a:p>
            <a:pPr marL="0" indent="0" algn="just">
              <a:buNone/>
            </a:pPr>
            <a:endParaRPr lang="en-US" dirty="0"/>
          </a:p>
          <a:p>
            <a:pPr marL="0" indent="0" algn="just">
              <a:buNone/>
            </a:pPr>
            <a:r>
              <a:rPr lang="en-US" dirty="0"/>
              <a:t>Apple -&gt; is object</a:t>
            </a:r>
            <a:endParaRPr lang="en-US" dirty="0"/>
          </a:p>
          <a:p>
            <a:pPr marL="0" indent="0" algn="just">
              <a:buNone/>
            </a:pPr>
            <a:r>
              <a:rPr lang="en-US" dirty="0"/>
              <a:t>Mango -&gt; is object</a:t>
            </a:r>
            <a:endParaRPr lang="en-US" dirty="0"/>
          </a:p>
          <a:p>
            <a:pPr marL="0" indent="0" algn="just">
              <a:buNone/>
            </a:pPr>
            <a:r>
              <a:rPr lang="en-US" dirty="0">
                <a:sym typeface="+mn-ea"/>
              </a:rPr>
              <a:t>Orange -&gt; is object</a:t>
            </a:r>
            <a:endParaRPr lang="en-US" dirty="0"/>
          </a:p>
          <a:p>
            <a:pPr marL="0" indent="0" algn="just">
              <a:buNone/>
            </a:pPr>
            <a:endParaRPr lang="en-US" dirty="0"/>
          </a:p>
          <a:p>
            <a:pPr marL="0" indent="0" algn="just">
              <a:buNone/>
            </a:pPr>
            <a:endParaRPr lang="en-US" dirty="0"/>
          </a:p>
          <a:p>
            <a:pPr marL="0" indent="0" algn="just">
              <a:buNone/>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5880100" cy="891540"/>
          </a:xfrm>
        </p:spPr>
        <p:txBody>
          <a:bodyPr/>
          <a:lstStyle/>
          <a:p>
            <a:r>
              <a:rPr lang="en-US" sz="3600" dirty="0"/>
              <a:t>Array of Objects - Example</a:t>
            </a:r>
            <a:endParaRPr lang="en-US" sz="3600" dirty="0"/>
          </a:p>
        </p:txBody>
      </p:sp>
      <p:sp>
        <p:nvSpPr>
          <p:cNvPr id="3" name="Content Placeholder 2"/>
          <p:cNvSpPr>
            <a:spLocks noGrp="1"/>
          </p:cNvSpPr>
          <p:nvPr>
            <p:ph idx="1"/>
          </p:nvPr>
        </p:nvSpPr>
        <p:spPr>
          <a:xfrm>
            <a:off x="838200" y="1690370"/>
            <a:ext cx="10304145" cy="4332605"/>
          </a:xfrm>
        </p:spPr>
        <p:txBody>
          <a:bodyPr>
            <a:normAutofit/>
          </a:bodyPr>
          <a:lstStyle/>
          <a:p>
            <a:pPr marL="0" indent="0" algn="just">
              <a:buNone/>
            </a:pPr>
            <a:endParaRPr lang="en-US" dirty="0"/>
          </a:p>
          <a:p>
            <a:pPr marL="0" indent="0" algn="just">
              <a:buNone/>
            </a:pPr>
            <a:endParaRPr lang="en-US" dirty="0"/>
          </a:p>
          <a:p>
            <a:pPr marL="0" indent="0" algn="just">
              <a:buNone/>
            </a:pPr>
            <a:endParaRPr lang="en-US" dirty="0"/>
          </a:p>
        </p:txBody>
      </p:sp>
      <p:pic>
        <p:nvPicPr>
          <p:cNvPr id="4" name="Picture 3" descr="Image 30-09-2024 at 1.39 PM"/>
          <p:cNvPicPr>
            <a:picLocks noChangeAspect="1"/>
          </p:cNvPicPr>
          <p:nvPr/>
        </p:nvPicPr>
        <p:blipFill>
          <a:blip r:embed="rId1"/>
          <a:stretch>
            <a:fillRect/>
          </a:stretch>
        </p:blipFill>
        <p:spPr>
          <a:xfrm>
            <a:off x="934720" y="1256665"/>
            <a:ext cx="10111105" cy="55372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smtClean="0"/>
              <a:t>Example class to implement time</a:t>
            </a:r>
            <a:endParaRPr lang="en-US" dirty="0"/>
          </a:p>
        </p:txBody>
      </p:sp>
      <p:sp>
        <p:nvSpPr>
          <p:cNvPr id="5" name="Content Placeholder 4"/>
          <p:cNvSpPr>
            <a:spLocks noGrp="1"/>
          </p:cNvSpPr>
          <p:nvPr>
            <p:ph idx="1"/>
          </p:nvPr>
        </p:nvSpPr>
        <p:spPr/>
        <p:txBody>
          <a:bodyPr/>
          <a:lstStyle/>
          <a:p>
            <a:r>
              <a:rPr lang="en-US" dirty="0" smtClean="0"/>
              <a:t>Three member variables</a:t>
            </a:r>
            <a:endParaRPr lang="en-US" dirty="0"/>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0" y="2438400"/>
            <a:ext cx="4162061" cy="225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smtClean="0"/>
              <a:t>Example class to implement time</a:t>
            </a:r>
            <a:endParaRPr lang="en-US" dirty="0"/>
          </a:p>
        </p:txBody>
      </p:sp>
      <p:sp>
        <p:nvSpPr>
          <p:cNvPr id="5" name="Content Placeholder 4"/>
          <p:cNvSpPr>
            <a:spLocks noGrp="1"/>
          </p:cNvSpPr>
          <p:nvPr>
            <p:ph idx="1"/>
          </p:nvPr>
        </p:nvSpPr>
        <p:spPr/>
        <p:txBody>
          <a:bodyPr>
            <a:normAutofit/>
          </a:bodyPr>
          <a:lstStyle/>
          <a:p>
            <a:r>
              <a:rPr lang="en-US" dirty="0" smtClean="0"/>
              <a:t>Operations</a:t>
            </a:r>
            <a:endParaRPr lang="en-US" dirty="0" smtClean="0"/>
          </a:p>
          <a:p>
            <a:pPr lvl="1"/>
            <a:r>
              <a:rPr lang="en-US" dirty="0"/>
              <a:t>Set the </a:t>
            </a:r>
            <a:r>
              <a:rPr lang="en-US" dirty="0" smtClean="0"/>
              <a:t>time.</a:t>
            </a:r>
            <a:endParaRPr lang="en-US" dirty="0" smtClean="0"/>
          </a:p>
          <a:p>
            <a:pPr lvl="1"/>
            <a:r>
              <a:rPr lang="en-US" dirty="0" smtClean="0"/>
              <a:t>Retrieve </a:t>
            </a:r>
            <a:r>
              <a:rPr lang="en-US" dirty="0"/>
              <a:t>the </a:t>
            </a:r>
            <a:r>
              <a:rPr lang="en-US" dirty="0" smtClean="0"/>
              <a:t>time.</a:t>
            </a:r>
            <a:endParaRPr lang="en-US" dirty="0" smtClean="0"/>
          </a:p>
          <a:p>
            <a:pPr lvl="1"/>
            <a:r>
              <a:rPr lang="en-US" dirty="0" smtClean="0"/>
              <a:t>Print </a:t>
            </a:r>
            <a:r>
              <a:rPr lang="en-US" dirty="0"/>
              <a:t>the </a:t>
            </a:r>
            <a:r>
              <a:rPr lang="en-US" dirty="0" smtClean="0"/>
              <a:t>time.</a:t>
            </a:r>
            <a:endParaRPr lang="en-US" dirty="0" smtClean="0"/>
          </a:p>
          <a:p>
            <a:pPr lvl="1"/>
            <a:r>
              <a:rPr lang="en-US" dirty="0" smtClean="0"/>
              <a:t>Increment </a:t>
            </a:r>
            <a:r>
              <a:rPr lang="en-US" dirty="0"/>
              <a:t>the time by one </a:t>
            </a:r>
            <a:r>
              <a:rPr lang="en-US" dirty="0" smtClean="0"/>
              <a:t>second.</a:t>
            </a:r>
            <a:endParaRPr lang="en-US" dirty="0" smtClean="0"/>
          </a:p>
          <a:p>
            <a:pPr lvl="1"/>
            <a:r>
              <a:rPr lang="en-US" dirty="0" smtClean="0"/>
              <a:t>Increment </a:t>
            </a:r>
            <a:r>
              <a:rPr lang="en-US" dirty="0"/>
              <a:t>the time by one </a:t>
            </a:r>
            <a:r>
              <a:rPr lang="en-US" dirty="0" smtClean="0"/>
              <a:t>minute.</a:t>
            </a:r>
            <a:endParaRPr lang="en-US" dirty="0" smtClean="0"/>
          </a:p>
          <a:p>
            <a:pPr lvl="1"/>
            <a:r>
              <a:rPr lang="en-US" dirty="0" smtClean="0"/>
              <a:t>Increment </a:t>
            </a:r>
            <a:r>
              <a:rPr lang="en-US" dirty="0"/>
              <a:t>the time by one </a:t>
            </a:r>
            <a:r>
              <a:rPr lang="en-US" dirty="0" smtClean="0"/>
              <a:t>hour.</a:t>
            </a:r>
            <a:endParaRPr lang="en-US" dirty="0" smtClean="0"/>
          </a:p>
          <a:p>
            <a:pPr lvl="1"/>
            <a:r>
              <a:rPr lang="en-US" dirty="0" smtClean="0"/>
              <a:t>Compare </a:t>
            </a:r>
            <a:r>
              <a:rPr lang="en-US" dirty="0"/>
              <a:t>the two times for equality.</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825625"/>
            <a:ext cx="10515600" cy="4351655"/>
          </a:xfrm>
        </p:spPr>
        <p:txBody>
          <a:bodyPr/>
          <a:lstStyle/>
          <a:p>
            <a:pPr marL="0" indent="0">
              <a:buNone/>
            </a:pPr>
            <a:r>
              <a:rPr lang="en-US" b="1" dirty="0">
                <a:latin typeface="Arial Bold" panose="020B0604020202020204" charset="0"/>
                <a:cs typeface="Arial Bold" panose="020B0604020202020204" charset="0"/>
              </a:rPr>
              <a:t>Default Access Specifiers</a:t>
            </a:r>
            <a:endParaRPr lang="en-US" b="1" dirty="0">
              <a:latin typeface="Arial Bold" panose="020B0604020202020204" charset="0"/>
              <a:cs typeface="Arial Bold" panose="020B0604020202020204" charset="0"/>
            </a:endParaRPr>
          </a:p>
          <a:p>
            <a:r>
              <a:rPr lang="en-US" dirty="0"/>
              <a:t>Class:</a:t>
            </a:r>
            <a:endParaRPr lang="en-US" dirty="0"/>
          </a:p>
          <a:p>
            <a:pPr marL="0" indent="0">
              <a:buNone/>
            </a:pPr>
            <a:r>
              <a:rPr lang="en-US" dirty="0"/>
              <a:t>If you declare a class without specifying any access specifiers, all members (variables and methods) are private by default.</a:t>
            </a:r>
            <a:endParaRPr lang="en-US" dirty="0"/>
          </a:p>
        </p:txBody>
      </p:sp>
      <p:sp>
        <p:nvSpPr>
          <p:cNvPr id="2" name="Title 1"/>
          <p:cNvSpPr/>
          <p:nvPr>
            <p:ph type="title"/>
          </p:nvPr>
        </p:nvSpPr>
        <p:spPr/>
        <p:txBody>
          <a:bodyPr/>
          <a:p>
            <a:r>
              <a:rPr lang="en-US"/>
              <a:t>Class </a:t>
            </a: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70382" y="685800"/>
            <a:ext cx="8337033"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857798" y="5638800"/>
            <a:ext cx="2362200" cy="368300"/>
          </a:xfrm>
          <a:prstGeom prst="rect">
            <a:avLst/>
          </a:prstGeom>
          <a:noFill/>
        </p:spPr>
        <p:txBody>
          <a:bodyPr wrap="square" rtlCol="0">
            <a:spAutoFit/>
          </a:bodyPr>
          <a:lstStyle/>
          <a:p>
            <a:r>
              <a:rPr lang="en-US" dirty="0" smtClean="0"/>
              <a:t>Note the semi-colon.</a:t>
            </a:r>
            <a:endParaRPr lang="en-US" dirty="0"/>
          </a:p>
        </p:txBody>
      </p:sp>
      <p:cxnSp>
        <p:nvCxnSpPr>
          <p:cNvPr id="7" name="Straight Arrow Connector 6"/>
          <p:cNvCxnSpPr/>
          <p:nvPr/>
        </p:nvCxnSpPr>
        <p:spPr>
          <a:xfrm flipH="1">
            <a:off x="2667000" y="5823466"/>
            <a:ext cx="2133600" cy="1846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70382" y="685800"/>
            <a:ext cx="8337033"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5562600" y="4876800"/>
            <a:ext cx="3048000" cy="645160"/>
          </a:xfrm>
          <a:prstGeom prst="rect">
            <a:avLst/>
          </a:prstGeom>
          <a:noFill/>
        </p:spPr>
        <p:txBody>
          <a:bodyPr wrap="square" rtlCol="0">
            <a:spAutoFit/>
          </a:bodyPr>
          <a:lstStyle/>
          <a:p>
            <a:r>
              <a:rPr lang="en-US" dirty="0" smtClean="0"/>
              <a:t>Member variables. Cannot be initialized here.</a:t>
            </a:r>
            <a:endParaRPr lang="en-US" dirty="0"/>
          </a:p>
        </p:txBody>
      </p:sp>
      <p:cxnSp>
        <p:nvCxnSpPr>
          <p:cNvPr id="6" name="Straight Arrow Connector 5"/>
          <p:cNvCxnSpPr/>
          <p:nvPr/>
        </p:nvCxnSpPr>
        <p:spPr>
          <a:xfrm flipH="1">
            <a:off x="4419600" y="5199965"/>
            <a:ext cx="1143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1850" y="147955"/>
            <a:ext cx="4865370" cy="728345"/>
          </a:xfrm>
        </p:spPr>
        <p:txBody>
          <a:bodyPr>
            <a:normAutofit/>
          </a:bodyPr>
          <a:p>
            <a:r>
              <a:rPr lang="en-US" sz="2665" b="1">
                <a:latin typeface="Arial Bold" panose="020B0604020202020204" charset="0"/>
                <a:cs typeface="Arial Bold" panose="020B0604020202020204" charset="0"/>
              </a:rPr>
              <a:t>How can we initilize?</a:t>
            </a:r>
            <a:endParaRPr lang="en-US" sz="2665" b="1">
              <a:latin typeface="Arial Bold" panose="020B0604020202020204" charset="0"/>
              <a:cs typeface="Arial Bold" panose="020B0604020202020204" charset="0"/>
            </a:endParaRPr>
          </a:p>
        </p:txBody>
      </p:sp>
      <p:sp>
        <p:nvSpPr>
          <p:cNvPr id="3" name="Text Placeholder 2"/>
          <p:cNvSpPr>
            <a:spLocks noGrp="1"/>
          </p:cNvSpPr>
          <p:nvPr>
            <p:ph type="body" idx="1"/>
          </p:nvPr>
        </p:nvSpPr>
        <p:spPr>
          <a:xfrm>
            <a:off x="831850" y="1257935"/>
            <a:ext cx="10515600" cy="4831715"/>
          </a:xfrm>
        </p:spPr>
        <p:txBody>
          <a:bodyPr/>
          <a:p>
            <a:endParaRPr lang="en-US"/>
          </a:p>
        </p:txBody>
      </p:sp>
      <p:pic>
        <p:nvPicPr>
          <p:cNvPr id="4" name="Picture 3" descr="Image 30-09-2024 at 12.13 PM"/>
          <p:cNvPicPr>
            <a:picLocks noChangeAspect="1"/>
          </p:cNvPicPr>
          <p:nvPr/>
        </p:nvPicPr>
        <p:blipFill>
          <a:blip r:embed="rId1"/>
          <a:stretch>
            <a:fillRect/>
          </a:stretch>
        </p:blipFill>
        <p:spPr>
          <a:xfrm>
            <a:off x="726440" y="876300"/>
            <a:ext cx="11029315" cy="598233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70382" y="685800"/>
            <a:ext cx="8337033"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5334000" y="4572000"/>
            <a:ext cx="3505200" cy="645160"/>
          </a:xfrm>
          <a:prstGeom prst="rect">
            <a:avLst/>
          </a:prstGeom>
          <a:noFill/>
        </p:spPr>
        <p:txBody>
          <a:bodyPr wrap="square" rtlCol="0">
            <a:spAutoFit/>
          </a:bodyPr>
          <a:lstStyle/>
          <a:p>
            <a:r>
              <a:rPr lang="en-US" dirty="0" smtClean="0"/>
              <a:t>Member functions, declared as function prototypes.</a:t>
            </a:r>
            <a:endParaRPr lang="en-US" dirty="0"/>
          </a:p>
        </p:txBody>
      </p:sp>
      <p:cxnSp>
        <p:nvCxnSpPr>
          <p:cNvPr id="8" name="Straight Arrow Connector 7"/>
          <p:cNvCxnSpPr/>
          <p:nvPr/>
        </p:nvCxnSpPr>
        <p:spPr>
          <a:xfrm flipH="1" flipV="1">
            <a:off x="6629400" y="4114800"/>
            <a:ext cx="3048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70382" y="685800"/>
            <a:ext cx="8337033"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5181600" y="4648200"/>
            <a:ext cx="4343400" cy="922020"/>
          </a:xfrm>
          <a:prstGeom prst="rect">
            <a:avLst/>
          </a:prstGeom>
          <a:noFill/>
        </p:spPr>
        <p:txBody>
          <a:bodyPr wrap="square" rtlCol="0">
            <a:spAutoFit/>
          </a:bodyPr>
          <a:lstStyle/>
          <a:p>
            <a:r>
              <a:rPr lang="en-US" dirty="0" smtClean="0"/>
              <a:t>Member functions can access member variables directly. No need to pass them as parameters.</a:t>
            </a:r>
            <a:endParaRPr lang="en-US" dirty="0"/>
          </a:p>
        </p:txBody>
      </p:sp>
      <p:cxnSp>
        <p:nvCxnSpPr>
          <p:cNvPr id="7" name="Straight Arrow Connector 6"/>
          <p:cNvCxnSpPr/>
          <p:nvPr/>
        </p:nvCxnSpPr>
        <p:spPr>
          <a:xfrm flipH="1" flipV="1">
            <a:off x="6248400" y="4191000"/>
            <a:ext cx="2286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4343400" y="5294531"/>
            <a:ext cx="838200" cy="19186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p:nvPr>
            <p:ph type="body" idx="1"/>
          </p:nvPr>
        </p:nvSpPr>
        <p:spPr>
          <a:xfrm>
            <a:off x="415290" y="2569845"/>
            <a:ext cx="11360785" cy="3522345"/>
          </a:xfrm>
        </p:spPr>
        <p:txBody>
          <a:bodyPr/>
          <a:p>
            <a:pPr marL="152400" indent="0" algn="ctr">
              <a:buNone/>
            </a:pPr>
            <a:r>
              <a:rPr lang="en-US"/>
              <a:t>End of Lecture</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8181</Words>
  <Application>WPS Presentation</Application>
  <PresentationFormat>Widescreen</PresentationFormat>
  <Paragraphs>256</Paragraphs>
  <Slides>40</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40</vt:i4>
      </vt:variant>
    </vt:vector>
  </HeadingPairs>
  <TitlesOfParts>
    <vt:vector size="53" baseType="lpstr">
      <vt:lpstr>Arial</vt:lpstr>
      <vt:lpstr>SimSun</vt:lpstr>
      <vt:lpstr>Wingdings</vt:lpstr>
      <vt:lpstr>Proxima Nova</vt:lpstr>
      <vt:lpstr>Thonburi</vt:lpstr>
      <vt:lpstr>Arial Bold</vt:lpstr>
      <vt:lpstr>Microsoft YaHei</vt:lpstr>
      <vt:lpstr>汉仪旗黑</vt:lpstr>
      <vt:lpstr>Calibri</vt:lpstr>
      <vt:lpstr>Helvetica Neue</vt:lpstr>
      <vt:lpstr>宋体-简</vt:lpstr>
      <vt:lpstr>Arial Unicode MS</vt:lpstr>
      <vt:lpstr>Office Theme</vt:lpstr>
      <vt:lpstr>OOP </vt:lpstr>
      <vt:lpstr>Exercise!</vt:lpstr>
      <vt:lpstr>Exercise Solution !</vt:lpstr>
      <vt:lpstr>Task 2: Procedural Programming Approach</vt:lpstr>
      <vt:lpstr>Task 3: Object-Oriented Approach </vt:lpstr>
      <vt:lpstr>Task 3: Object-Oriented Approach  </vt:lpstr>
      <vt:lpstr>Comparison Between Procedural and Object-Oriented Approaches</vt:lpstr>
      <vt:lpstr>PowerPoint 演示文稿</vt:lpstr>
      <vt:lpstr>PowerPoint 演示文稿</vt:lpstr>
      <vt:lpstr>Polymorphism - Example 2</vt:lpstr>
      <vt:lpstr>Polymorphism</vt:lpstr>
      <vt:lpstr>Polymorphism</vt:lpstr>
      <vt:lpstr>Polymorphism</vt:lpstr>
      <vt:lpstr>Compile Time Polymorphism (Static Polymorphism)</vt:lpstr>
      <vt:lpstr>Run Time Polymorphism (Dynamic Polymorphism)</vt:lpstr>
      <vt:lpstr>INFORMATION HIDING</vt:lpstr>
      <vt:lpstr>Class in OOP</vt:lpstr>
      <vt:lpstr>Class in OOP (Cont...)</vt:lpstr>
      <vt:lpstr>A class is a collection of a fixed number of components. The components of a class are called the members of the class. </vt:lpstr>
      <vt:lpstr>Syntax</vt:lpstr>
      <vt:lpstr>PowerPoint 演示文稿</vt:lpstr>
      <vt:lpstr>Example:</vt:lpstr>
      <vt:lpstr>Predefined VS. ADTs</vt:lpstr>
      <vt:lpstr>Predefined VS. ADTs</vt:lpstr>
      <vt:lpstr>Predefined VS. ADTs</vt:lpstr>
      <vt:lpstr>Predefined VS. ADTs</vt:lpstr>
      <vt:lpstr>Object in OOP</vt:lpstr>
      <vt:lpstr>Declaring Object</vt:lpstr>
      <vt:lpstr>Example: 1</vt:lpstr>
      <vt:lpstr>Example: 2</vt:lpstr>
      <vt:lpstr>Array of Objects - Example</vt:lpstr>
      <vt:lpstr>Example class to implement time</vt:lpstr>
      <vt:lpstr>Example class to implement time</vt:lpstr>
      <vt:lpstr>Class </vt:lpstr>
      <vt:lpstr>PowerPoint 演示文稿</vt:lpstr>
      <vt:lpstr>PowerPoint 演示文稿</vt:lpstr>
      <vt:lpstr>How can we initilize?</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CSC-321</dc:title>
  <dc:creator>User</dc:creator>
  <cp:lastModifiedBy>Nimra Abbas</cp:lastModifiedBy>
  <cp:revision>200</cp:revision>
  <dcterms:created xsi:type="dcterms:W3CDTF">2024-09-30T10:41:19Z</dcterms:created>
  <dcterms:modified xsi:type="dcterms:W3CDTF">2024-09-30T10:41:19Z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1033-5.7.0.8090</vt:lpwstr>
  </property>
</Properties>
</file>