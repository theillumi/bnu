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26" r:id="rId3"/>
    <p:sldId id="492" r:id="rId5"/>
    <p:sldId id="493" r:id="rId6"/>
    <p:sldId id="494" r:id="rId7"/>
    <p:sldId id="440" r:id="rId8"/>
    <p:sldId id="495" r:id="rId9"/>
    <p:sldId id="496" r:id="rId10"/>
    <p:sldId id="551" r:id="rId11"/>
    <p:sldId id="552" r:id="rId12"/>
    <p:sldId id="497" r:id="rId13"/>
    <p:sldId id="553" r:id="rId14"/>
    <p:sldId id="554" r:id="rId15"/>
    <p:sldId id="616" r:id="rId16"/>
    <p:sldId id="555" r:id="rId17"/>
    <p:sldId id="575" r:id="rId18"/>
    <p:sldId id="557" r:id="rId19"/>
    <p:sldId id="558" r:id="rId20"/>
    <p:sldId id="581" r:id="rId21"/>
    <p:sldId id="576" r:id="rId22"/>
    <p:sldId id="577" r:id="rId23"/>
    <p:sldId id="41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3BE717-232F-4F04-8C42-B483AA5BDA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0B4DA-30D8-4F6D-BF35-157D774FB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e878c25f7a_0_376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e878c25f7a_0_3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End of lecture 1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 rtl="0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 rtl="0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 rtl="0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 rtl="0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 rtl="0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 rtl="0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 rtl="0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 rtl="0">
              <a:spcBef>
                <a:spcPct val="4270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/>
          <p:nvPr/>
        </p:nvSpPr>
        <p:spPr>
          <a:xfrm>
            <a:off x="6096000" y="10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85" name="Google Shape;85;p21"/>
          <p:cNvCxnSpPr/>
          <p:nvPr/>
        </p:nvCxnSpPr>
        <p:spPr>
          <a:xfrm>
            <a:off x="6706233" y="5994000"/>
            <a:ext cx="624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21"/>
          <p:cNvSpPr txBox="1"/>
          <p:nvPr>
            <p:ph type="title"/>
          </p:nvPr>
        </p:nvSpPr>
        <p:spPr>
          <a:xfrm>
            <a:off x="354000" y="1607767"/>
            <a:ext cx="5393600" cy="20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/>
        </p:txBody>
      </p:sp>
      <p:sp>
        <p:nvSpPr>
          <p:cNvPr id="87" name="Google Shape;87;p21"/>
          <p:cNvSpPr txBox="1"/>
          <p:nvPr>
            <p:ph type="subTitle" idx="1"/>
          </p:nvPr>
        </p:nvSpPr>
        <p:spPr>
          <a:xfrm>
            <a:off x="354000" y="3692001"/>
            <a:ext cx="5393600" cy="17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88" name="Google Shape;88;p21"/>
          <p:cNvSpPr txBox="1"/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600" lvl="0" indent="-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1219200" lvl="1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800" lvl="2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400" lvl="3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8000" lvl="4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600" lvl="5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200" lvl="6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800" lvl="7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400" lvl="8" indent="-423545" rtl="0">
              <a:spcBef>
                <a:spcPct val="4270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ctrTitle"/>
          </p:nvPr>
        </p:nvSpPr>
        <p:spPr>
          <a:xfrm>
            <a:off x="680600" y="1676400"/>
            <a:ext cx="10830800" cy="21180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8000">
                <a:solidFill>
                  <a:schemeClr val="bg1"/>
                </a:solidFill>
              </a:rPr>
              <a:t>OOP</a:t>
            </a:r>
            <a:r>
              <a:rPr lang="en-GB" sz="8000">
                <a:solidFill>
                  <a:schemeClr val="bg1"/>
                </a:solidFill>
              </a:rPr>
              <a:t> </a:t>
            </a:r>
            <a:endParaRPr lang="en-GB" sz="8000">
              <a:solidFill>
                <a:schemeClr val="bg1"/>
              </a:solidFill>
            </a:endParaRPr>
          </a:p>
        </p:txBody>
      </p:sp>
      <p:cxnSp>
        <p:nvCxnSpPr>
          <p:cNvPr id="63" name="Google Shape;63;p13"/>
          <p:cNvCxnSpPr/>
          <p:nvPr/>
        </p:nvCxnSpPr>
        <p:spPr>
          <a:xfrm rot="10800000" flipH="1">
            <a:off x="820200" y="3979367"/>
            <a:ext cx="8248400" cy="18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Subtitle 1"/>
          <p:cNvSpPr/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1"/>
          <p:cNvSpPr/>
          <p:nvPr/>
        </p:nvSpPr>
        <p:spPr>
          <a:xfrm>
            <a:off x="883195" y="4182438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r>
              <a:rPr lang="en-US"/>
              <a:t>Lecture 1</a:t>
            </a:r>
            <a:endParaRPr lang="en-US"/>
          </a:p>
        </p:txBody>
      </p:sp>
      <p:pic>
        <p:nvPicPr>
          <p:cNvPr id="6" name="Picture 5" descr="abstract-code-blocks-rendered-in-3d-within-the-virtual-space-powerpoint-background_79acb22bd5__960_5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80720" y="2073910"/>
            <a:ext cx="10301605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7200" b="1">
                <a:solidFill>
                  <a:schemeClr val="bg1"/>
                </a:solidFill>
                <a:latin typeface="Arial Bold" panose="020B0604020202020204" charset="0"/>
                <a:cs typeface="Arial Bold" panose="020B0604020202020204" charset="0"/>
              </a:rPr>
              <a:t>Object Oriented Programming</a:t>
            </a:r>
            <a:endParaRPr lang="en-US" sz="72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endParaRPr lang="en-US" sz="28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r>
              <a:rPr lang="en-US" sz="2800" b="1">
                <a:solidFill>
                  <a:schemeClr val="bg1"/>
                </a:solidFill>
                <a:latin typeface="Arial Bold" panose="020B0604020202020204" charset="0"/>
                <a:cs typeface="Arial Bold" panose="020B0604020202020204" charset="0"/>
              </a:rPr>
              <a:t>Lecture 1</a:t>
            </a:r>
            <a:endParaRPr lang="en-US" sz="28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Objective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 to object oriented programming principles and techniques using C++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Outcomes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Understand </a:t>
            </a:r>
            <a:r>
              <a:rPr lang="en-US" dirty="0" smtClean="0"/>
              <a:t>the </a:t>
            </a:r>
            <a:r>
              <a:rPr lang="en-US" dirty="0"/>
              <a:t>benefits of object oriented </a:t>
            </a:r>
            <a:r>
              <a:rPr lang="en-US" dirty="0" smtClean="0"/>
              <a:t>programming</a:t>
            </a:r>
            <a:endParaRPr lang="en-US" dirty="0"/>
          </a:p>
          <a:p>
            <a:pPr lvl="0"/>
            <a:r>
              <a:rPr lang="en-US" dirty="0"/>
              <a:t>Design object oriented solutions for small systems involving multiple </a:t>
            </a:r>
            <a:r>
              <a:rPr lang="en-US" dirty="0" smtClean="0"/>
              <a:t>objects</a:t>
            </a:r>
            <a:endParaRPr lang="en-US" dirty="0"/>
          </a:p>
          <a:p>
            <a:pPr lvl="0"/>
            <a:r>
              <a:rPr lang="en-US" dirty="0"/>
              <a:t>Implement, test and debug solutions in C</a:t>
            </a:r>
            <a:r>
              <a:rPr lang="en-US" dirty="0" smtClean="0"/>
              <a:t>++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Book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en-US" dirty="0"/>
              <a:t>C++ Programming: Program Design including Data Structures. 5</a:t>
            </a:r>
            <a:r>
              <a:rPr lang="en-US" baseline="30000" dirty="0"/>
              <a:t>th</a:t>
            </a:r>
            <a:r>
              <a:rPr lang="en-US" dirty="0"/>
              <a:t> Edition. D.S. Malik.</a:t>
            </a:r>
            <a:endParaRPr lang="en-US" dirty="0"/>
          </a:p>
          <a:p>
            <a:r>
              <a:rPr lang="en-US" dirty="0" smtClean="0"/>
              <a:t>Soft copy on Google Classroom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674" y="1600200"/>
            <a:ext cx="3607651" cy="4525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4885" y="1691005"/>
            <a:ext cx="9911715" cy="4363720"/>
          </a:xfrm>
        </p:spPr>
        <p:txBody>
          <a:bodyPr>
            <a:normAutofit fontScale="45000"/>
          </a:bodyPr>
          <a:lstStyle/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275" dirty="0" smtClean="0"/>
              <a:t>C++ PROGRAMMING: Program Design Including Data Structures Fifth Edition by D.S. MALIK</a:t>
            </a:r>
            <a:endParaRPr lang="en-US" sz="3275" dirty="0" smtClean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275" dirty="0" smtClean="0"/>
              <a:t>“C</a:t>
            </a:r>
            <a:r>
              <a:rPr lang="en-US" sz="3275" dirty="0"/>
              <a:t>++ How to Program” </a:t>
            </a:r>
            <a:r>
              <a:rPr lang="en-US" sz="3275" dirty="0" smtClean="0"/>
              <a:t>, 7</a:t>
            </a:r>
            <a:r>
              <a:rPr lang="en-US" sz="3275" baseline="30000" dirty="0" smtClean="0"/>
              <a:t>th</a:t>
            </a:r>
            <a:r>
              <a:rPr lang="en-US" sz="3275" dirty="0" smtClean="0"/>
              <a:t> edition, </a:t>
            </a:r>
            <a:r>
              <a:rPr lang="en-US" sz="3275" dirty="0" err="1" smtClean="0"/>
              <a:t>Deitel</a:t>
            </a:r>
            <a:r>
              <a:rPr lang="en-US" sz="3275" dirty="0" smtClean="0"/>
              <a:t> </a:t>
            </a:r>
            <a:r>
              <a:rPr lang="en-US" sz="3275" dirty="0"/>
              <a:t>&amp; </a:t>
            </a:r>
            <a:r>
              <a:rPr lang="en-US" sz="3275" dirty="0" err="1" smtClean="0"/>
              <a:t>Deitel</a:t>
            </a:r>
            <a:endParaRPr lang="en-US" sz="3275" dirty="0" err="1" smtClean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275" dirty="0" smtClean="0"/>
              <a:t>“Herbert Schildt, “C/C++, The Complete Reference”, 3rd Edition Osborne McGraw-Hill, ISBN 0-07-882476-1”</a:t>
            </a:r>
            <a:endParaRPr lang="en-US" sz="3275" dirty="0" smtClean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275" dirty="0" smtClean="0"/>
              <a:t>“Bruce Eckel, “Thinking in C++”, 2nd Ed, Pearson Publication, ISBN 81-7808-297-7”</a:t>
            </a:r>
            <a:endParaRPr lang="en-US" sz="3275" dirty="0" smtClean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275" dirty="0" smtClean="0"/>
              <a:t>“Bjarne Stroustrup, “The C++ Programming Language” 3rd Ed, Addison Wesley, ISBN 0-201-88954-4 0”</a:t>
            </a:r>
            <a:endParaRPr lang="en-US" sz="3275" dirty="0" smtClean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3275" dirty="0" smtClean="0"/>
              <a:t>Robert Lafore, “Object Oriented Programming using C++”, 3rd Ed, SAMS, December 1998</a:t>
            </a:r>
            <a:endParaRPr lang="en-US" sz="3275" dirty="0"/>
          </a:p>
          <a:p>
            <a:pPr marL="0" indent="0">
              <a:lnSpc>
                <a:spcPct val="120000"/>
              </a:lnSpc>
              <a:buNone/>
            </a:pPr>
            <a:endParaRPr lang="en-US" sz="3275" dirty="0" smtClean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275" b="1" dirty="0" smtClean="0">
                <a:latin typeface="Arial Bold" panose="020B0604020202020204" charset="0"/>
                <a:cs typeface="Arial Bold" panose="020B0604020202020204" charset="0"/>
              </a:rPr>
              <a:t>Compiler: VS code / </a:t>
            </a:r>
            <a:r>
              <a:rPr lang="en-US" sz="3275" b="1" dirty="0" err="1" smtClean="0">
                <a:latin typeface="Arial Bold" panose="020B0604020202020204" charset="0"/>
                <a:cs typeface="Arial Bold" panose="020B0604020202020204" charset="0"/>
              </a:rPr>
              <a:t>Dev</a:t>
            </a:r>
            <a:r>
              <a:rPr lang="en-US" sz="3275" b="1" dirty="0" smtClean="0">
                <a:latin typeface="Arial Bold" panose="020B0604020202020204" charset="0"/>
                <a:cs typeface="Arial Bold" panose="020B0604020202020204" charset="0"/>
              </a:rPr>
              <a:t>-C / Any other that supports C++ language</a:t>
            </a:r>
            <a:endParaRPr lang="en-US" sz="3275" b="1" dirty="0" smtClean="0">
              <a:latin typeface="Arial Bold" panose="020B0604020202020204" charset="0"/>
              <a:cs typeface="Arial Bold" panose="020B0604020202020204" charset="0"/>
            </a:endParaRP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Introduction</a:t>
            </a:r>
            <a:endParaRPr lang="en-US" sz="4400">
              <a:ln w="6600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Programming </a:t>
            </a:r>
            <a:r>
              <a:rPr lang="en-US" smtClean="0"/>
              <a:t>methodologies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Programming Paradigms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1- Sequential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2- Procedural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3- Object Oriented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Programming Paradigms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77119" y="2557463"/>
            <a:ext cx="5637761" cy="33178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Structured vs. Object Oriented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Dividing a problem into smaller sub-problems</a:t>
            </a:r>
            <a:endParaRPr lang="en-US" dirty="0" smtClean="0"/>
          </a:p>
          <a:p>
            <a:r>
              <a:rPr lang="en-US" dirty="0" smtClean="0"/>
              <a:t>Analyze and devise solution to each sub-problem</a:t>
            </a:r>
            <a:endParaRPr lang="en-US" dirty="0" smtClean="0"/>
          </a:p>
          <a:p>
            <a:r>
              <a:rPr lang="en-US" dirty="0" smtClean="0"/>
              <a:t>Combine solutions to solve overall problem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Identify components, known as </a:t>
            </a:r>
            <a:r>
              <a:rPr lang="en-US" b="1" dirty="0" smtClean="0"/>
              <a:t>objects</a:t>
            </a:r>
            <a:r>
              <a:rPr lang="en-US" dirty="0" smtClean="0"/>
              <a:t> which will form the basis of the solution</a:t>
            </a:r>
            <a:endParaRPr lang="en-US" dirty="0" smtClean="0"/>
          </a:p>
          <a:p>
            <a:r>
              <a:rPr lang="en-US" dirty="0" smtClean="0"/>
              <a:t>Determine how the </a:t>
            </a:r>
            <a:r>
              <a:rPr lang="en-US" b="1" dirty="0" smtClean="0"/>
              <a:t>objects</a:t>
            </a:r>
            <a:r>
              <a:rPr lang="en-US" dirty="0" smtClean="0"/>
              <a:t> interact with each other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Structured vs. Object Oriented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Suited when for example manipulation of numbers is required with mathematical functions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Automation for vending machine</a:t>
            </a:r>
            <a:endParaRPr lang="en-US" dirty="0" smtClean="0"/>
          </a:p>
          <a:p>
            <a:r>
              <a:rPr lang="en-US" dirty="0" smtClean="0"/>
              <a:t>A game where players interact with elements in the environment</a:t>
            </a:r>
            <a:endParaRPr lang="en-US" dirty="0" smtClean="0"/>
          </a:p>
          <a:p>
            <a:r>
              <a:rPr lang="en-US" dirty="0" smtClean="0"/>
              <a:t>Basically any problem that can be defined in terms of objects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 smtClean="0"/>
              <a:t>Recap</a:t>
            </a:r>
            <a:endParaRPr lang="en-US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8495" y="201930"/>
            <a:ext cx="10042525" cy="1195705"/>
          </a:xfrm>
        </p:spPr>
        <p:txBody>
          <a:bodyPr>
            <a:normAutofit/>
          </a:bodyPr>
          <a:lstStyle/>
          <a:p>
            <a:r>
              <a:rPr lang="en-US" sz="2220" dirty="0" smtClean="0"/>
              <a:t>Object Oriented Programming </a:t>
            </a:r>
            <a:endParaRPr lang="en-US" sz="222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838200" y="1218565"/>
            <a:ext cx="10514965" cy="5045075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dirty="0">
                <a:solidFill>
                  <a:srgbClr val="FF0000"/>
                </a:solidFill>
              </a:rPr>
              <a:t>Definition: Object-oriented programming focuses on identifying </a:t>
            </a:r>
            <a:r>
              <a:rPr lang="en-US" sz="1800" b="1" dirty="0">
                <a:solidFill>
                  <a:srgbClr val="7030A0"/>
                </a:solidFill>
                <a:latin typeface="Arial Bold" panose="020B0604020202020204" charset="0"/>
                <a:cs typeface="Arial Bold" panose="020B0604020202020204" charset="0"/>
              </a:rPr>
              <a:t>entities</a:t>
            </a:r>
            <a:r>
              <a:rPr lang="en-US" sz="1800" dirty="0">
                <a:solidFill>
                  <a:srgbClr val="FF0000"/>
                </a:solidFill>
              </a:rPr>
              <a:t> in the problem space </a:t>
            </a:r>
            <a:r>
              <a:rPr lang="en-US" sz="1800" b="1" dirty="0">
                <a:solidFill>
                  <a:srgbClr val="7030A0"/>
                </a:solidFill>
                <a:latin typeface="Arial Bold" panose="020B0604020202020204" charset="0"/>
                <a:cs typeface="Arial Bold" panose="020B0604020202020204" charset="0"/>
              </a:rPr>
              <a:t>(called </a:t>
            </a:r>
            <a:endParaRPr lang="en-US" sz="1800" b="1" dirty="0">
              <a:solidFill>
                <a:srgbClr val="7030A0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marL="0" indent="0" algn="just">
              <a:buNone/>
            </a:pPr>
            <a:r>
              <a:rPr lang="en-US" sz="1800" dirty="0">
                <a:solidFill>
                  <a:srgbClr val="FF0000"/>
                </a:solidFill>
              </a:rPr>
              <a:t>In C++, a structure (often abbreviated as struct) is a </a:t>
            </a:r>
            <a:r>
              <a:rPr lang="en-US" sz="1800" b="1" dirty="0">
                <a:solidFill>
                  <a:srgbClr val="7030A0"/>
                </a:solidFill>
                <a:latin typeface="Arial Bold" panose="020B0604020202020204" charset="0"/>
                <a:cs typeface="Arial Bold" panose="020B0604020202020204" charset="0"/>
              </a:rPr>
              <a:t>user-defined data type</a:t>
            </a:r>
            <a:r>
              <a:rPr lang="en-US" sz="1800" dirty="0">
                <a:solidFill>
                  <a:srgbClr val="FF0000"/>
                </a:solidFill>
              </a:rPr>
              <a:t> that allows grouping of </a:t>
            </a:r>
            <a:r>
              <a:rPr lang="en-US" sz="1800" b="1" dirty="0">
                <a:solidFill>
                  <a:srgbClr val="7030A0"/>
                </a:solidFill>
                <a:latin typeface="Arial Bold" panose="020B0604020202020204" charset="0"/>
                <a:cs typeface="Arial Bold" panose="020B0604020202020204" charset="0"/>
              </a:rPr>
              <a:t>different data types together</a:t>
            </a:r>
            <a:r>
              <a:rPr lang="en-US" sz="1800" dirty="0">
                <a:solidFill>
                  <a:srgbClr val="FF0000"/>
                </a:solidFill>
              </a:rPr>
              <a:t>. It is similar to a class but with a key difference: by default, all members of a </a:t>
            </a:r>
            <a:r>
              <a:rPr lang="en-US" sz="1800" b="1" dirty="0">
                <a:solidFill>
                  <a:srgbClr val="7030A0"/>
                </a:solidFill>
                <a:latin typeface="Arial Bold" panose="020B0604020202020204" charset="0"/>
                <a:cs typeface="Arial Bold" panose="020B0604020202020204" charset="0"/>
              </a:rPr>
              <a:t>struct are public</a:t>
            </a:r>
            <a:r>
              <a:rPr lang="en-US" sz="1800" dirty="0">
                <a:solidFill>
                  <a:srgbClr val="FF0000"/>
                </a:solidFill>
              </a:rPr>
              <a:t>, whereas in a </a:t>
            </a:r>
            <a:r>
              <a:rPr lang="en-US" sz="1800" b="1" dirty="0">
                <a:solidFill>
                  <a:srgbClr val="7030A0"/>
                </a:solidFill>
                <a:latin typeface="Arial Bold" panose="020B0604020202020204" charset="0"/>
                <a:cs typeface="Arial Bold" panose="020B0604020202020204" charset="0"/>
              </a:rPr>
              <a:t>class</a:t>
            </a:r>
            <a:r>
              <a:rPr lang="en-US" sz="1800" dirty="0">
                <a:solidFill>
                  <a:srgbClr val="FF0000"/>
                </a:solidFill>
              </a:rPr>
              <a:t> they are </a:t>
            </a:r>
            <a:r>
              <a:rPr lang="en-US" sz="1800" b="1" dirty="0">
                <a:solidFill>
                  <a:srgbClr val="7030A0"/>
                </a:solidFill>
                <a:latin typeface="Arial Bold" panose="020B0604020202020204" charset="0"/>
                <a:cs typeface="Arial Bold" panose="020B0604020202020204" charset="0"/>
              </a:rPr>
              <a:t>private</a:t>
            </a:r>
            <a:r>
              <a:rPr lang="en-US" sz="1800" dirty="0">
                <a:solidFill>
                  <a:srgbClr val="FF0000"/>
                </a:solidFill>
              </a:rPr>
              <a:t>.</a:t>
            </a:r>
            <a:endParaRPr lang="en-US" sz="1800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US" sz="1800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1800" dirty="0">
                <a:solidFill>
                  <a:srgbClr val="FF0000"/>
                </a:solidFill>
              </a:rPr>
              <a:t>Defining a Structure</a:t>
            </a:r>
            <a:endParaRPr lang="en-US" sz="1800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1800" dirty="0">
                <a:solidFill>
                  <a:srgbClr val="FF0000"/>
                </a:solidFill>
              </a:rPr>
              <a:t>A structure is defined using the </a:t>
            </a:r>
            <a:r>
              <a:rPr lang="en-US" sz="1800" b="1" dirty="0">
                <a:solidFill>
                  <a:srgbClr val="7030A0"/>
                </a:solidFill>
                <a:latin typeface="Arial Bold" panose="020B0604020202020204" charset="0"/>
                <a:cs typeface="Arial Bold" panose="020B0604020202020204" charset="0"/>
              </a:rPr>
              <a:t>struct keyword</a:t>
            </a:r>
            <a:r>
              <a:rPr lang="en-US" sz="1800" dirty="0">
                <a:solidFill>
                  <a:srgbClr val="FF0000"/>
                </a:solidFill>
              </a:rPr>
              <a:t>, followed by the </a:t>
            </a:r>
            <a:r>
              <a:rPr lang="en-US" sz="1800" b="1" dirty="0">
                <a:solidFill>
                  <a:srgbClr val="7030A0"/>
                </a:solidFill>
                <a:latin typeface="Arial Bold" panose="020B0604020202020204" charset="0"/>
                <a:cs typeface="Arial Bold" panose="020B0604020202020204" charset="0"/>
              </a:rPr>
              <a:t>structure name</a:t>
            </a:r>
            <a:r>
              <a:rPr lang="en-US" sz="1800" dirty="0">
                <a:solidFill>
                  <a:srgbClr val="FF0000"/>
                </a:solidFill>
              </a:rPr>
              <a:t> and the </a:t>
            </a:r>
            <a:r>
              <a:rPr lang="en-US" sz="1800" b="1" dirty="0">
                <a:solidFill>
                  <a:srgbClr val="7030A0"/>
                </a:solidFill>
                <a:latin typeface="Arial Bold" panose="020B0604020202020204" charset="0"/>
                <a:cs typeface="Arial Bold" panose="020B0604020202020204" charset="0"/>
              </a:rPr>
              <a:t>member variables.</a:t>
            </a:r>
            <a:endParaRPr lang="en-US" sz="1800" b="1" dirty="0">
              <a:solidFill>
                <a:srgbClr val="7030A0"/>
              </a:solidFill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en-US" i="1" dirty="0" smtClean="0"/>
              <a:t>Recap</a:t>
            </a:r>
            <a:endParaRPr lang="en-US" i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59327"/>
            <a:ext cx="5715000" cy="65611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678873"/>
            <a:ext cx="4397453" cy="251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Designing and Using 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Represent data in computer memory</a:t>
            </a:r>
            <a:endParaRPr lang="en-US" dirty="0" smtClean="0"/>
          </a:p>
          <a:p>
            <a:r>
              <a:rPr lang="en-US" dirty="0" smtClean="0"/>
              <a:t>Manipulate data</a:t>
            </a:r>
            <a:endParaRPr lang="en-US" dirty="0" smtClean="0"/>
          </a:p>
          <a:p>
            <a:r>
              <a:rPr lang="en-US" dirty="0" smtClean="0"/>
              <a:t>Implement operations</a:t>
            </a:r>
            <a:endParaRPr lang="en-US" dirty="0" smtClean="0"/>
          </a:p>
          <a:p>
            <a:r>
              <a:rPr lang="en-US" dirty="0" smtClean="0"/>
              <a:t>Algorithm implementation using functions</a:t>
            </a:r>
            <a:endParaRPr lang="en-US" dirty="0" smtClean="0"/>
          </a:p>
          <a:p>
            <a:r>
              <a:rPr lang="en-US" dirty="0" smtClean="0"/>
              <a:t>Control structures</a:t>
            </a:r>
            <a:endParaRPr lang="en-US" dirty="0" smtClean="0"/>
          </a:p>
          <a:p>
            <a:r>
              <a:rPr lang="en-US" dirty="0" smtClean="0"/>
              <a:t>Arrays</a:t>
            </a:r>
            <a:endParaRPr lang="en-US" dirty="0" smtClean="0"/>
          </a:p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91200" y="5791200"/>
            <a:ext cx="42672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All of these concepts have been covered in the previous programming course.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Procedural vs. Object-Oriented Programming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343865" y="2557463"/>
            <a:ext cx="5504269" cy="33178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Procedural vs. Object-Oriented Programming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ct val="0"/>
              </a:spcBef>
            </a:pPr>
            <a:r>
              <a:rPr lang="en-US" altLang="zh-CN" sz="3200" dirty="0"/>
              <a:t>The unit in procedural programming is </a:t>
            </a:r>
            <a:r>
              <a:rPr lang="en-US" altLang="zh-CN" sz="3200" b="1" i="1" dirty="0"/>
              <a:t>function</a:t>
            </a:r>
            <a:r>
              <a:rPr lang="en-US" altLang="zh-CN" sz="3200" b="1" dirty="0"/>
              <a:t>, </a:t>
            </a:r>
            <a:r>
              <a:rPr lang="en-US" altLang="zh-CN" sz="3200" dirty="0"/>
              <a:t>and unit in object-oriented programming is </a:t>
            </a:r>
            <a:r>
              <a:rPr lang="en-US" altLang="zh-CN" sz="3200" b="1" i="1" dirty="0"/>
              <a:t>class</a:t>
            </a:r>
            <a:r>
              <a:rPr lang="en-US" altLang="zh-CN" sz="3200" b="1" dirty="0"/>
              <a:t> </a:t>
            </a:r>
            <a:endParaRPr lang="en-US" altLang="zh-CN" sz="3200" b="1" dirty="0"/>
          </a:p>
          <a:p>
            <a:pPr>
              <a:spcBef>
                <a:spcPct val="40000"/>
              </a:spcBef>
            </a:pPr>
            <a:r>
              <a:rPr lang="en-US" altLang="zh-CN" sz="3200" dirty="0"/>
              <a:t>Procedural programming concentrates on creating functions, while object-oriented programming starts from isolating the classes, and then look for the methods inside them. </a:t>
            </a:r>
            <a:endParaRPr lang="en-US" altLang="zh-CN" sz="3200" dirty="0"/>
          </a:p>
          <a:p>
            <a:pPr>
              <a:spcBef>
                <a:spcPct val="40000"/>
              </a:spcBef>
            </a:pPr>
            <a:endParaRPr lang="en-US" altLang="zh-CN" dirty="0"/>
          </a:p>
          <a:p>
            <a:pPr>
              <a:spcBef>
                <a:spcPct val="40000"/>
              </a:spcBef>
            </a:pPr>
            <a:endParaRPr lang="en-US" altLang="zh-CN" dirty="0"/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Object oriented design (OOD)</a:t>
            </a:r>
            <a:endParaRPr lang="en-US" dirty="0" smtClean="0"/>
          </a:p>
          <a:p>
            <a:r>
              <a:rPr lang="en-US" dirty="0" smtClean="0"/>
              <a:t>Object oriented programming (OOP)</a:t>
            </a:r>
            <a:endParaRPr lang="en-US" dirty="0" smtClean="0"/>
          </a:p>
          <a:p>
            <a:r>
              <a:rPr lang="en-US" dirty="0" smtClean="0"/>
              <a:t>Object oriented programming language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Model?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A </a:t>
            </a:r>
            <a:r>
              <a:rPr lang="en-US" sz="2800" dirty="0"/>
              <a:t>model is an abstraction of </a:t>
            </a:r>
            <a:r>
              <a:rPr lang="en-US" sz="2800" dirty="0" smtClean="0"/>
              <a:t>something</a:t>
            </a:r>
            <a:endParaRPr lang="en-US" sz="2800" dirty="0" smtClean="0"/>
          </a:p>
          <a:p>
            <a:endParaRPr lang="en-US" sz="2800" dirty="0"/>
          </a:p>
          <a:p>
            <a:r>
              <a:rPr lang="en-US" sz="2800" dirty="0" smtClean="0"/>
              <a:t>Real World Entities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Purpose is to understand the product before developing it</a:t>
            </a:r>
            <a:endParaRPr lang="en-US" sz="2800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–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Highway maps</a:t>
            </a:r>
            <a:endParaRPr lang="en-US" dirty="0"/>
          </a:p>
          <a:p>
            <a:endParaRPr lang="en-US" dirty="0"/>
          </a:p>
          <a:p>
            <a:r>
              <a:rPr lang="en-US" dirty="0"/>
              <a:t>Architectural models</a:t>
            </a:r>
            <a:endParaRPr lang="en-US" dirty="0"/>
          </a:p>
          <a:p>
            <a:endParaRPr lang="en-US" dirty="0"/>
          </a:p>
          <a:p>
            <a:r>
              <a:rPr lang="en-US" dirty="0"/>
              <a:t>Mechanical models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/>
          <p:nvPr>
            <p:ph type="body" idx="1"/>
          </p:nvPr>
        </p:nvSpPr>
        <p:spPr>
          <a:xfrm>
            <a:off x="415290" y="2569845"/>
            <a:ext cx="11360785" cy="3522345"/>
          </a:xfrm>
        </p:spPr>
        <p:txBody>
          <a:bodyPr/>
          <a:p>
            <a:pPr marL="152400" indent="0" algn="ctr">
              <a:buNone/>
            </a:pPr>
            <a:r>
              <a:rPr lang="en-US"/>
              <a:t>End of Lecture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3160</Words>
  <Application>WPS Presentation</Application>
  <PresentationFormat>Widescreen</PresentationFormat>
  <Paragraphs>132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9" baseType="lpstr">
      <vt:lpstr>Arial</vt:lpstr>
      <vt:lpstr>SimSun</vt:lpstr>
      <vt:lpstr>Wingdings</vt:lpstr>
      <vt:lpstr>Proxima Nova</vt:lpstr>
      <vt:lpstr>Thonburi</vt:lpstr>
      <vt:lpstr>Arial Bold</vt:lpstr>
      <vt:lpstr>Courier New</vt:lpstr>
      <vt:lpstr>Trebuchet MS</vt:lpstr>
      <vt:lpstr>Times New Roman</vt:lpstr>
      <vt:lpstr>Microsoft YaHei</vt:lpstr>
      <vt:lpstr>汉仪旗黑</vt:lpstr>
      <vt:lpstr>Calibri</vt:lpstr>
      <vt:lpstr>Helvetica Neue</vt:lpstr>
      <vt:lpstr>黑体</vt:lpstr>
      <vt:lpstr>黑体-简</vt:lpstr>
      <vt:lpstr>宋体-简</vt:lpstr>
      <vt:lpstr>Arial Unicode MS</vt:lpstr>
      <vt:lpstr>Office Theme</vt:lpstr>
      <vt:lpstr>OOP </vt:lpstr>
      <vt:lpstr>Course Objective</vt:lpstr>
      <vt:lpstr>Learning Outcomes</vt:lpstr>
      <vt:lpstr>Text Book</vt:lpstr>
      <vt:lpstr>Books</vt:lpstr>
      <vt:lpstr>Introduction</vt:lpstr>
      <vt:lpstr>Programming methodologies</vt:lpstr>
      <vt:lpstr>Programming Paradigms</vt:lpstr>
      <vt:lpstr>Programming Paradigms</vt:lpstr>
      <vt:lpstr>Structured vs. Object Oriented</vt:lpstr>
      <vt:lpstr>Structured vs. Object Oriented</vt:lpstr>
      <vt:lpstr>struct</vt:lpstr>
      <vt:lpstr>Object Oriented Programming </vt:lpstr>
      <vt:lpstr>struct</vt:lpstr>
      <vt:lpstr>Designing and Using Objects</vt:lpstr>
      <vt:lpstr>Procedural vs. Object-Oriented Programming</vt:lpstr>
      <vt:lpstr>Procedural vs. Object-Oriented Programming</vt:lpstr>
      <vt:lpstr>Terminology</vt:lpstr>
      <vt:lpstr>What is a Model?</vt:lpstr>
      <vt:lpstr>Examples – Model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CSC-321</dc:title>
  <dc:creator>User</dc:creator>
  <cp:lastModifiedBy>Nimra Abbas</cp:lastModifiedBy>
  <cp:revision>162</cp:revision>
  <dcterms:created xsi:type="dcterms:W3CDTF">2024-09-24T04:52:00Z</dcterms:created>
  <dcterms:modified xsi:type="dcterms:W3CDTF">2024-09-24T04:52:00Z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