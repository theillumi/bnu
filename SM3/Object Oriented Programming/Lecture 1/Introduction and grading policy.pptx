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0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702234"/>
            <a:ext cx="18288000" cy="2581275"/>
          </a:xfrm>
          <a:custGeom>
            <a:avLst/>
            <a:gdLst/>
            <a:ahLst/>
            <a:cxnLst/>
            <a:rect l="l" t="t" r="r" b="b"/>
            <a:pathLst>
              <a:path w="18288000" h="2581275">
                <a:moveTo>
                  <a:pt x="18288000" y="2581275"/>
                </a:moveTo>
                <a:lnTo>
                  <a:pt x="0" y="2581275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2581275"/>
                </a:lnTo>
                <a:close/>
              </a:path>
            </a:pathLst>
          </a:custGeom>
          <a:solidFill>
            <a:srgbClr val="9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0066" y="6148350"/>
            <a:ext cx="5567933" cy="32546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93518" y="2541456"/>
            <a:ext cx="6900963" cy="365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1" i="0">
                <a:solidFill>
                  <a:schemeClr val="tx1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873125"/>
            <a:ext cx="12352655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chemeClr val="tx1"/>
                </a:solidFill>
                <a:latin typeface="Liberation Sans Narrow"/>
                <a:cs typeface="Liberation Sans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1958" y="3055894"/>
            <a:ext cx="9301480" cy="319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ocs.google.com/spreadsheets/d/1DUF2isFWsqVSYhbaACYtbgcLi_YjDqpE3GLQIVgkKQg/edit#gid%3D69851113" TargetMode="Externa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mailto:nimra.abbas@bnu.edu.pk" TargetMode="Externa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113020" y="2905760"/>
            <a:ext cx="8553450" cy="2009140"/>
          </a:xfrm>
          <a:prstGeom prst="rect">
            <a:avLst/>
          </a:prstGeom>
        </p:spPr>
        <p:txBody>
          <a:bodyPr vert="horz" wrap="square" lIns="0" tIns="344805" rIns="0" bIns="0" rtlCol="0">
            <a:spAutoFit/>
          </a:bodyPr>
          <a:lstStyle/>
          <a:p>
            <a:pPr marL="12700" marR="5080" indent="486410" algn="l">
              <a:lnSpc>
                <a:spcPts val="12980"/>
              </a:lnSpc>
              <a:spcBef>
                <a:spcPts val="2715"/>
              </a:spcBef>
            </a:pPr>
            <a:r>
              <a:rPr sz="4800" b="0" spc="1575" dirty="0">
                <a:latin typeface="Comic Sans MS Regular" panose="030F0702030302020204" charset="0"/>
                <a:cs typeface="Comic Sans MS Regular" panose="030F0702030302020204" charset="0"/>
              </a:rPr>
              <a:t>Cours</a:t>
            </a:r>
            <a:r>
              <a:rPr lang="en-US" sz="4800" b="0" spc="1575" dirty="0">
                <a:latin typeface="Comic Sans MS Regular" panose="030F0702030302020204" charset="0"/>
                <a:cs typeface="Comic Sans MS Regular" panose="030F0702030302020204" charset="0"/>
              </a:rPr>
              <a:t>e </a:t>
            </a:r>
            <a:r>
              <a:rPr sz="4800" b="0" spc="1575" dirty="0">
                <a:latin typeface="Comic Sans MS Regular" panose="030F0702030302020204" charset="0"/>
                <a:cs typeface="Comic Sans MS Regular" panose="030F0702030302020204" charset="0"/>
              </a:rPr>
              <a:t>Syllabus</a:t>
            </a:r>
            <a:endParaRPr sz="4800" b="0" spc="1575" dirty="0">
              <a:latin typeface="Comic Sans MS Regular" panose="030F0702030302020204" charset="0"/>
              <a:cs typeface="Comic Sans MS Regular" panose="030F07020303020202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5727" y="8420026"/>
            <a:ext cx="29400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110" dirty="0">
                <a:latin typeface="Trebuchet MS" panose="020B0603020202020204"/>
                <a:cs typeface="Trebuchet MS" panose="020B0603020202020204"/>
              </a:rPr>
              <a:t>Nimra</a:t>
            </a:r>
            <a:r>
              <a:rPr sz="3800" spc="-25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800" spc="240" dirty="0">
                <a:latin typeface="Trebuchet MS" panose="020B0603020202020204"/>
                <a:cs typeface="Trebuchet MS" panose="020B0603020202020204"/>
              </a:rPr>
              <a:t>Abbas</a:t>
            </a:r>
            <a:endParaRPr sz="3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0" y="1028700"/>
            <a:ext cx="6311265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000">
                <a:latin typeface="Trebuchet MS" panose="020B0603020202020204"/>
                <a:cs typeface="Trebuchet MS" panose="020B0603020202020204"/>
              </a:rPr>
              <a:t>Object Oriented Programming</a:t>
            </a:r>
            <a:endParaRPr lang="en-US" altLang="en-US" sz="30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88907" y="1080215"/>
            <a:ext cx="15968344" cy="8328025"/>
            <a:chOff x="1288907" y="1080215"/>
            <a:chExt cx="15968344" cy="832802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88907" y="2753440"/>
              <a:ext cx="3647667" cy="66547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03191" y="1080215"/>
              <a:ext cx="2553853" cy="26288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880" y="2425711"/>
            <a:ext cx="7858125" cy="3936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525" dirty="0">
                <a:latin typeface="Trebuchet MS" panose="020B0603020202020204"/>
                <a:cs typeface="Trebuchet MS" panose="020B0603020202020204"/>
              </a:rPr>
              <a:t>Welcome</a:t>
            </a:r>
            <a:endParaRPr sz="85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0000"/>
              </a:lnSpc>
            </a:pPr>
            <a:r>
              <a:rPr sz="8500" spc="32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8500" spc="-3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sz="8500" spc="-395" dirty="0">
                <a:latin typeface="Trebuchet MS" panose="020B0603020202020204"/>
                <a:cs typeface="Trebuchet MS" panose="020B0603020202020204"/>
              </a:rPr>
              <a:t>OOP</a:t>
            </a:r>
            <a:r>
              <a:rPr sz="8500" spc="19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8500" spc="275" dirty="0">
                <a:latin typeface="Trebuchet MS" panose="020B0603020202020204"/>
                <a:cs typeface="Trebuchet MS" panose="020B0603020202020204"/>
              </a:rPr>
              <a:t>Course!</a:t>
            </a:r>
            <a:endParaRPr sz="85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83495"/>
            <a:ext cx="18288000" cy="8106409"/>
            <a:chOff x="0" y="2183495"/>
            <a:chExt cx="18288000" cy="8106409"/>
          </a:xfrm>
        </p:grpSpPr>
        <p:sp>
          <p:nvSpPr>
            <p:cNvPr id="4" name="object 4"/>
            <p:cNvSpPr/>
            <p:nvPr/>
          </p:nvSpPr>
          <p:spPr>
            <a:xfrm>
              <a:off x="0" y="7689158"/>
              <a:ext cx="18288000" cy="2600325"/>
            </a:xfrm>
            <a:custGeom>
              <a:avLst/>
              <a:gdLst/>
              <a:ahLst/>
              <a:cxnLst/>
              <a:rect l="l" t="t" r="r" b="b"/>
              <a:pathLst>
                <a:path w="18288000" h="2600325">
                  <a:moveTo>
                    <a:pt x="18288000" y="2600325"/>
                  </a:moveTo>
                  <a:lnTo>
                    <a:pt x="0" y="26003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2600325"/>
                  </a:lnTo>
                  <a:close/>
                </a:path>
              </a:pathLst>
            </a:custGeom>
            <a:solidFill>
              <a:srgbClr val="99B8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11076" y="2183495"/>
              <a:ext cx="7169560" cy="735555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87880" y="998854"/>
            <a:ext cx="413575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80" dirty="0">
                <a:latin typeface="Trebuchet MS" panose="020B0603020202020204"/>
                <a:cs typeface="Trebuchet MS" panose="020B0603020202020204"/>
              </a:rPr>
              <a:t>Beaconhouse</a:t>
            </a:r>
            <a:r>
              <a:rPr sz="2100" spc="-1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50" dirty="0">
                <a:latin typeface="Trebuchet MS" panose="020B0603020202020204"/>
                <a:cs typeface="Trebuchet MS" panose="020B0603020202020204"/>
              </a:rPr>
              <a:t>National</a:t>
            </a:r>
            <a:r>
              <a:rPr sz="2100" spc="-1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-10" dirty="0">
                <a:latin typeface="Trebuchet MS" panose="020B0603020202020204"/>
                <a:cs typeface="Trebuchet MS" panose="020B0603020202020204"/>
              </a:rPr>
              <a:t>University</a:t>
            </a:r>
            <a:endParaRPr sz="21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69949"/>
            <a:ext cx="18288000" cy="5117465"/>
            <a:chOff x="0" y="5169949"/>
            <a:chExt cx="18288000" cy="5117465"/>
          </a:xfrm>
        </p:grpSpPr>
        <p:sp>
          <p:nvSpPr>
            <p:cNvPr id="3" name="object 3"/>
            <p:cNvSpPr/>
            <p:nvPr/>
          </p:nvSpPr>
          <p:spPr>
            <a:xfrm>
              <a:off x="0" y="8471001"/>
              <a:ext cx="18288000" cy="1816100"/>
            </a:xfrm>
            <a:custGeom>
              <a:avLst/>
              <a:gdLst/>
              <a:ahLst/>
              <a:cxnLst/>
              <a:rect l="l" t="t" r="r" b="b"/>
              <a:pathLst>
                <a:path w="18288000" h="1816100">
                  <a:moveTo>
                    <a:pt x="0" y="0"/>
                  </a:moveTo>
                  <a:lnTo>
                    <a:pt x="18288000" y="0"/>
                  </a:lnTo>
                  <a:lnTo>
                    <a:pt x="18288000" y="1815998"/>
                  </a:lnTo>
                  <a:lnTo>
                    <a:pt x="0" y="1815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A2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22907" y="5169949"/>
              <a:ext cx="3727833" cy="450471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11225"/>
            <a:ext cx="46710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spc="1050" dirty="0"/>
              <a:t>About</a:t>
            </a:r>
            <a:r>
              <a:rPr sz="7500" spc="195" dirty="0"/>
              <a:t> </a:t>
            </a:r>
            <a:r>
              <a:rPr sz="7500" spc="1475" dirty="0"/>
              <a:t>Me</a:t>
            </a:r>
            <a:endParaRPr sz="7500"/>
          </a:p>
        </p:txBody>
      </p:sp>
      <p:sp>
        <p:nvSpPr>
          <p:cNvPr id="6" name="object 6"/>
          <p:cNvSpPr txBox="1"/>
          <p:nvPr/>
        </p:nvSpPr>
        <p:spPr>
          <a:xfrm>
            <a:off x="7154733" y="2113342"/>
            <a:ext cx="9703435" cy="168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spc="100" dirty="0">
                <a:latin typeface="Trebuchet MS" panose="020B0603020202020204"/>
                <a:cs typeface="Trebuchet MS" panose="020B0603020202020204"/>
              </a:rPr>
              <a:t>I’m</a:t>
            </a:r>
            <a:r>
              <a:rPr sz="3200" spc="-1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80" dirty="0">
                <a:latin typeface="Trebuchet MS" panose="020B0603020202020204"/>
                <a:cs typeface="Trebuchet MS" panose="020B0603020202020204"/>
              </a:rPr>
              <a:t>working</a:t>
            </a:r>
            <a:r>
              <a:rPr sz="32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215" dirty="0">
                <a:latin typeface="Trebuchet MS" panose="020B0603020202020204"/>
                <a:cs typeface="Trebuchet MS" panose="020B0603020202020204"/>
              </a:rPr>
              <a:t>as</a:t>
            </a:r>
            <a:r>
              <a:rPr sz="32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8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sz="32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75" dirty="0">
                <a:latin typeface="Trebuchet MS" panose="020B0603020202020204"/>
                <a:cs typeface="Trebuchet MS" panose="020B0603020202020204"/>
              </a:rPr>
              <a:t>Lecturer</a:t>
            </a:r>
            <a:r>
              <a:rPr sz="3200" spc="-1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at</a:t>
            </a:r>
            <a:r>
              <a:rPr sz="32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470" dirty="0">
                <a:latin typeface="Trebuchet MS" panose="020B0603020202020204"/>
                <a:cs typeface="Trebuchet MS" panose="020B0603020202020204"/>
              </a:rPr>
              <a:t>SCIT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 marR="5080" algn="just">
              <a:lnSpc>
                <a:spcPct val="106000"/>
              </a:lnSpc>
              <a:spcBef>
                <a:spcPts val="1555"/>
              </a:spcBef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I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hold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7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a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8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Bachelor's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6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degree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in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5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Computer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8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Science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from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GCUF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and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7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a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12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Master's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5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degree</a:t>
            </a:r>
            <a:r>
              <a:rPr sz="2000" u="none" spc="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in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5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Computer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8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Science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from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9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FAST.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204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My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specialization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lies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in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the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5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fields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5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of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Information</a:t>
            </a:r>
            <a:r>
              <a:rPr sz="2000" u="none" spc="-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Retrieval</a:t>
            </a:r>
            <a:r>
              <a:rPr sz="2000" u="none" dirty="0">
                <a:latin typeface="Trebuchet MS" panose="020B0603020202020204"/>
                <a:cs typeface="Trebuchet MS" panose="020B0603020202020204"/>
                <a:hlinkClick r:id="rId2"/>
              </a:rPr>
              <a:t>,</a:t>
            </a:r>
            <a:r>
              <a:rPr sz="2000" u="sng" spc="5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Text</a:t>
            </a:r>
            <a:r>
              <a:rPr sz="2000" u="sng" spc="-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4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Mining,</a:t>
            </a:r>
            <a:r>
              <a:rPr sz="2000" u="sng" spc="-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6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and</a:t>
            </a:r>
            <a:r>
              <a:rPr sz="2000" u="sng" spc="-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6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Natural</a:t>
            </a:r>
            <a:r>
              <a:rPr sz="2000" u="sng" spc="-125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1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Language</a:t>
            </a:r>
            <a:r>
              <a:rPr sz="2000" u="sng" spc="-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9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Processing</a:t>
            </a:r>
            <a:r>
              <a:rPr sz="2000" u="sng" spc="-12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rebuchet MS" panose="020B0603020202020204"/>
                <a:cs typeface="Trebuchet MS" panose="020B0603020202020204"/>
                <a:hlinkClick r:id="rId2"/>
              </a:rPr>
              <a:t>(NLP).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4733" y="5075608"/>
            <a:ext cx="6883400" cy="106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45" dirty="0">
                <a:latin typeface="Trebuchet MS" panose="020B0603020202020204"/>
                <a:cs typeface="Trebuchet MS" panose="020B0603020202020204"/>
              </a:rPr>
              <a:t>How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05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14" dirty="0">
                <a:latin typeface="Trebuchet MS" panose="020B0603020202020204"/>
                <a:cs typeface="Trebuchet MS" panose="020B0603020202020204"/>
              </a:rPr>
              <a:t>reach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14" dirty="0">
                <a:latin typeface="Trebuchet MS" panose="020B0603020202020204"/>
                <a:cs typeface="Trebuchet MS" panose="020B0603020202020204"/>
              </a:rPr>
              <a:t>out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05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3200" spc="-1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400" dirty="0">
                <a:latin typeface="Trebuchet MS" panose="020B0603020202020204"/>
                <a:cs typeface="Trebuchet MS" panose="020B0603020202020204"/>
              </a:rPr>
              <a:t>me?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100" spc="220" dirty="0">
                <a:latin typeface="Trebuchet MS" panose="020B0603020202020204"/>
                <a:cs typeface="Trebuchet MS" panose="020B0603020202020204"/>
              </a:rPr>
              <a:t>My</a:t>
            </a:r>
            <a:r>
              <a:rPr sz="21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office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8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located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150" dirty="0">
                <a:latin typeface="Trebuchet MS" panose="020B0603020202020204"/>
                <a:cs typeface="Trebuchet MS" panose="020B0603020202020204"/>
              </a:rPr>
              <a:t>SCIT</a:t>
            </a:r>
            <a:r>
              <a:rPr sz="21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building,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dirty="0">
                <a:latin typeface="Trebuchet MS" panose="020B0603020202020204"/>
                <a:cs typeface="Trebuchet MS" panose="020B0603020202020204"/>
              </a:rPr>
              <a:t>room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-70" dirty="0">
                <a:latin typeface="Trebuchet MS" panose="020B0603020202020204"/>
                <a:cs typeface="Trebuchet MS" panose="020B0603020202020204"/>
              </a:rPr>
              <a:t>no.</a:t>
            </a:r>
            <a:r>
              <a:rPr sz="21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100" spc="-10" dirty="0">
                <a:latin typeface="Trebuchet MS" panose="020B0603020202020204"/>
                <a:cs typeface="Trebuchet MS" panose="020B0603020202020204"/>
              </a:rPr>
              <a:t>001A.</a:t>
            </a:r>
            <a:endParaRPr sz="21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0" dirty="0"/>
              <a:t>Course</a:t>
            </a:r>
            <a:r>
              <a:rPr spc="240" dirty="0"/>
              <a:t> </a:t>
            </a:r>
            <a:r>
              <a:rPr spc="880" dirty="0"/>
              <a:t>Details</a:t>
            </a:r>
            <a:endParaRPr spc="88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376918"/>
            <a:ext cx="18288000" cy="6910070"/>
            <a:chOff x="0" y="3376918"/>
            <a:chExt cx="18288000" cy="6910070"/>
          </a:xfrm>
        </p:grpSpPr>
        <p:sp>
          <p:nvSpPr>
            <p:cNvPr id="4" name="object 4"/>
            <p:cNvSpPr/>
            <p:nvPr/>
          </p:nvSpPr>
          <p:spPr>
            <a:xfrm>
              <a:off x="0" y="8433328"/>
              <a:ext cx="18288000" cy="1854200"/>
            </a:xfrm>
            <a:custGeom>
              <a:avLst/>
              <a:gdLst/>
              <a:ahLst/>
              <a:cxnLst/>
              <a:rect l="l" t="t" r="r" b="b"/>
              <a:pathLst>
                <a:path w="18288000" h="1854200">
                  <a:moveTo>
                    <a:pt x="0" y="0"/>
                  </a:moveTo>
                  <a:lnTo>
                    <a:pt x="18288000" y="0"/>
                  </a:lnTo>
                  <a:lnTo>
                    <a:pt x="18288000" y="1853659"/>
                  </a:lnTo>
                  <a:lnTo>
                    <a:pt x="0" y="185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699169" y="3376918"/>
              <a:ext cx="5521936" cy="62020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66640" y="2629186"/>
            <a:ext cx="9540240" cy="411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spc="229" dirty="0">
                <a:latin typeface="Trebuchet MS" panose="020B0603020202020204"/>
                <a:cs typeface="Trebuchet MS" panose="020B0603020202020204"/>
              </a:rPr>
              <a:t>Monday</a:t>
            </a:r>
            <a:r>
              <a:rPr lang="en-US" altLang="en-US" sz="3200" spc="229" dirty="0">
                <a:latin typeface="Trebuchet MS" panose="020B0603020202020204"/>
                <a:cs typeface="Trebuchet MS" panose="020B0603020202020204"/>
              </a:rPr>
              <a:t>      :</a:t>
            </a:r>
            <a:r>
              <a:rPr sz="3200" spc="6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3200" spc="620" dirty="0">
                <a:latin typeface="Trebuchet MS" panose="020B0603020202020204"/>
                <a:cs typeface="Trebuchet MS" panose="020B0603020202020204"/>
              </a:rPr>
              <a:t>2</a:t>
            </a:r>
            <a:r>
              <a:rPr sz="3200" spc="145" dirty="0">
                <a:latin typeface="Trebuchet MS" panose="020B0603020202020204"/>
                <a:cs typeface="Trebuchet MS" panose="020B0603020202020204"/>
              </a:rPr>
              <a:t>:</a:t>
            </a:r>
            <a:r>
              <a:rPr lang="en-US" altLang="en-US" sz="3200" spc="145" dirty="0">
                <a:latin typeface="Trebuchet MS" panose="020B0603020202020204"/>
                <a:cs typeface="Trebuchet MS" panose="020B0603020202020204"/>
              </a:rPr>
              <a:t>0</a:t>
            </a:r>
            <a:r>
              <a:rPr sz="3200" spc="145" dirty="0">
                <a:latin typeface="Trebuchet MS" panose="020B0603020202020204"/>
                <a:cs typeface="Trebuchet MS" panose="020B0603020202020204"/>
              </a:rPr>
              <a:t>0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3200" spc="-170" dirty="0">
                <a:latin typeface="Trebuchet MS" panose="020B0603020202020204"/>
                <a:cs typeface="Trebuchet MS" panose="020B0603020202020204"/>
              </a:rPr>
              <a:t>P</a:t>
            </a:r>
            <a:r>
              <a:rPr sz="3200" spc="455" dirty="0">
                <a:latin typeface="Trebuchet MS" panose="020B0603020202020204"/>
                <a:cs typeface="Trebuchet MS" panose="020B0603020202020204"/>
              </a:rPr>
              <a:t>M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29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3200" spc="-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3200" spc="-170" dirty="0">
                <a:latin typeface="Trebuchet MS" panose="020B0603020202020204"/>
                <a:cs typeface="Trebuchet MS" panose="020B0603020202020204"/>
              </a:rPr>
              <a:t>03</a:t>
            </a:r>
            <a:r>
              <a:rPr sz="3200" spc="155" dirty="0">
                <a:latin typeface="Trebuchet MS" panose="020B0603020202020204"/>
                <a:cs typeface="Trebuchet MS" panose="020B0603020202020204"/>
              </a:rPr>
              <a:t>:</a:t>
            </a:r>
            <a:r>
              <a:rPr lang="en-US" altLang="en-US" sz="3200" spc="155" dirty="0">
                <a:latin typeface="Trebuchet MS" panose="020B0603020202020204"/>
                <a:cs typeface="Trebuchet MS" panose="020B0603020202020204"/>
              </a:rPr>
              <a:t>3</a:t>
            </a:r>
            <a:r>
              <a:rPr sz="3200" spc="155" dirty="0">
                <a:latin typeface="Trebuchet MS" panose="020B0603020202020204"/>
                <a:cs typeface="Trebuchet MS" panose="020B0603020202020204"/>
              </a:rPr>
              <a:t>0</a:t>
            </a:r>
            <a:r>
              <a:rPr sz="3200" spc="-1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340" dirty="0">
                <a:latin typeface="Trebuchet MS" panose="020B0603020202020204"/>
                <a:cs typeface="Trebuchet MS" panose="020B0603020202020204"/>
              </a:rPr>
              <a:t>PM</a:t>
            </a:r>
            <a:endParaRPr sz="3200" spc="340" dirty="0">
              <a:latin typeface="Trebuchet MS" panose="020B0603020202020204"/>
              <a:cs typeface="Trebuchet MS" panose="020B06030202020202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altLang="en-US" sz="3200" spc="229" dirty="0">
                <a:latin typeface="Trebuchet MS" panose="020B0603020202020204"/>
                <a:cs typeface="Trebuchet MS" panose="020B0603020202020204"/>
                <a:sym typeface="+mn-ea"/>
              </a:rPr>
              <a:t>Wednesday : 12</a:t>
            </a:r>
            <a:r>
              <a:rPr sz="3200" spc="145" dirty="0">
                <a:latin typeface="Trebuchet MS" panose="020B0603020202020204"/>
                <a:cs typeface="Trebuchet MS" panose="020B0603020202020204"/>
                <a:sym typeface="+mn-ea"/>
              </a:rPr>
              <a:t>:</a:t>
            </a:r>
            <a:r>
              <a:rPr lang="en-US" altLang="en-US" sz="3200" spc="145" dirty="0">
                <a:latin typeface="Trebuchet MS" panose="020B0603020202020204"/>
                <a:cs typeface="Trebuchet MS" panose="020B0603020202020204"/>
                <a:sym typeface="+mn-ea"/>
              </a:rPr>
              <a:t>3</a:t>
            </a:r>
            <a:r>
              <a:rPr sz="3200" spc="145" dirty="0">
                <a:latin typeface="Trebuchet MS" panose="020B0603020202020204"/>
                <a:cs typeface="Trebuchet MS" panose="020B0603020202020204"/>
                <a:sym typeface="+mn-ea"/>
              </a:rPr>
              <a:t>0</a:t>
            </a:r>
            <a:r>
              <a:rPr sz="3200" spc="-170" dirty="0">
                <a:latin typeface="Trebuchet MS" panose="020B0603020202020204"/>
                <a:cs typeface="Trebuchet MS" panose="020B0603020202020204"/>
                <a:sym typeface="+mn-ea"/>
              </a:rPr>
              <a:t> </a:t>
            </a:r>
            <a:r>
              <a:rPr lang="en-US" altLang="en-US" sz="3200" spc="-170" dirty="0">
                <a:latin typeface="Trebuchet MS" panose="020B0603020202020204"/>
                <a:cs typeface="Trebuchet MS" panose="020B0603020202020204"/>
                <a:sym typeface="+mn-ea"/>
              </a:rPr>
              <a:t>P</a:t>
            </a:r>
            <a:r>
              <a:rPr sz="3200" spc="455" dirty="0">
                <a:latin typeface="Trebuchet MS" panose="020B0603020202020204"/>
                <a:cs typeface="Trebuchet MS" panose="020B0603020202020204"/>
                <a:sym typeface="+mn-ea"/>
              </a:rPr>
              <a:t>M</a:t>
            </a:r>
            <a:r>
              <a:rPr sz="3200" spc="-170" dirty="0">
                <a:latin typeface="Trebuchet MS" panose="020B0603020202020204"/>
                <a:cs typeface="Trebuchet MS" panose="020B0603020202020204"/>
                <a:sym typeface="+mn-ea"/>
              </a:rPr>
              <a:t> </a:t>
            </a:r>
            <a:r>
              <a:rPr sz="3200" spc="290" dirty="0">
                <a:latin typeface="Trebuchet MS" panose="020B0603020202020204"/>
                <a:cs typeface="Trebuchet MS" panose="020B0603020202020204"/>
                <a:sym typeface="+mn-ea"/>
              </a:rPr>
              <a:t>-</a:t>
            </a:r>
            <a:r>
              <a:rPr sz="3200" spc="-170" dirty="0">
                <a:latin typeface="Trebuchet MS" panose="020B0603020202020204"/>
                <a:cs typeface="Trebuchet MS" panose="020B0603020202020204"/>
                <a:sym typeface="+mn-ea"/>
              </a:rPr>
              <a:t> </a:t>
            </a:r>
            <a:r>
              <a:rPr lang="en-US" altLang="en-US" sz="3200" spc="-170" dirty="0">
                <a:latin typeface="Trebuchet MS" panose="020B0603020202020204"/>
                <a:cs typeface="Trebuchet MS" panose="020B0603020202020204"/>
                <a:sym typeface="+mn-ea"/>
              </a:rPr>
              <a:t>02</a:t>
            </a:r>
            <a:r>
              <a:rPr sz="3200" spc="155" dirty="0">
                <a:latin typeface="Trebuchet MS" panose="020B0603020202020204"/>
                <a:cs typeface="Trebuchet MS" panose="020B0603020202020204"/>
                <a:sym typeface="+mn-ea"/>
              </a:rPr>
              <a:t>:</a:t>
            </a:r>
            <a:r>
              <a:rPr lang="en-US" altLang="en-US" sz="3200" spc="155" dirty="0">
                <a:latin typeface="Trebuchet MS" panose="020B0603020202020204"/>
                <a:cs typeface="Trebuchet MS" panose="020B0603020202020204"/>
                <a:sym typeface="+mn-ea"/>
              </a:rPr>
              <a:t>0</a:t>
            </a:r>
            <a:r>
              <a:rPr sz="3200" spc="155" dirty="0">
                <a:latin typeface="Trebuchet MS" panose="020B0603020202020204"/>
                <a:cs typeface="Trebuchet MS" panose="020B0603020202020204"/>
                <a:sym typeface="+mn-ea"/>
              </a:rPr>
              <a:t>0</a:t>
            </a:r>
            <a:r>
              <a:rPr sz="3200" spc="-175" dirty="0">
                <a:latin typeface="Trebuchet MS" panose="020B0603020202020204"/>
                <a:cs typeface="Trebuchet MS" panose="020B0603020202020204"/>
                <a:sym typeface="+mn-ea"/>
              </a:rPr>
              <a:t> </a:t>
            </a:r>
            <a:r>
              <a:rPr sz="3200" spc="340" dirty="0">
                <a:latin typeface="Trebuchet MS" panose="020B0603020202020204"/>
                <a:cs typeface="Trebuchet MS" panose="020B0603020202020204"/>
                <a:sym typeface="+mn-ea"/>
              </a:rPr>
              <a:t>PM</a:t>
            </a:r>
            <a:endParaRPr sz="3200" spc="340" dirty="0">
              <a:latin typeface="Trebuchet MS" panose="020B0603020202020204"/>
              <a:cs typeface="Trebuchet MS" panose="020B0603020202020204"/>
              <a:sym typeface="+mn-ea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sz="3200" spc="340" dirty="0">
              <a:latin typeface="Trebuchet MS" panose="020B0603020202020204"/>
              <a:cs typeface="Trebuchet MS" panose="020B0603020202020204"/>
              <a:sym typeface="+mn-ea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spc="220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z="3200" spc="-1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05" dirty="0">
                <a:latin typeface="Trebuchet MS" panose="020B0603020202020204"/>
                <a:cs typeface="Trebuchet MS" panose="020B0603020202020204"/>
              </a:rPr>
              <a:t>Description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 marR="5080" algn="just">
              <a:lnSpc>
                <a:spcPct val="107000"/>
              </a:lnSpc>
              <a:spcBef>
                <a:spcPts val="905"/>
              </a:spcBef>
            </a:pPr>
            <a:r>
              <a:rPr sz="2400" spc="45" dirty="0">
                <a:latin typeface="Trebuchet MS" panose="020B0603020202020204"/>
                <a:cs typeface="Trebuchet MS" panose="020B0603020202020204"/>
              </a:rPr>
              <a:t>This course gives in depth knowledge of Object-Oriented Paradigm and programming. Complete Object-Oriented Paradigm will be discussing in lectures and for implementation labs will be conducted. Students will be able to design and implement small projects in C++ using Object Oriented approach.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3462" y="4072165"/>
            <a:ext cx="9559290" cy="0"/>
          </a:xfrm>
          <a:custGeom>
            <a:avLst/>
            <a:gdLst/>
            <a:ahLst/>
            <a:cxnLst/>
            <a:rect l="l" t="t" r="r" b="b"/>
            <a:pathLst>
              <a:path w="9559290">
                <a:moveTo>
                  <a:pt x="0" y="0"/>
                </a:moveTo>
                <a:lnTo>
                  <a:pt x="955929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873125"/>
            <a:ext cx="98005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40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pc="-43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pc="310" dirty="0">
                <a:latin typeface="Trebuchet MS" panose="020B0603020202020204"/>
                <a:cs typeface="Trebuchet MS" panose="020B0603020202020204"/>
              </a:rPr>
              <a:t>Overview</a:t>
            </a:r>
            <a:endParaRPr spc="310" dirty="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4436987"/>
            <a:ext cx="18288000" cy="5852795"/>
            <a:chOff x="0" y="4436987"/>
            <a:chExt cx="18288000" cy="5852795"/>
          </a:xfrm>
        </p:grpSpPr>
        <p:sp>
          <p:nvSpPr>
            <p:cNvPr id="8" name="object 8"/>
            <p:cNvSpPr/>
            <p:nvPr/>
          </p:nvSpPr>
          <p:spPr>
            <a:xfrm>
              <a:off x="0" y="7689158"/>
              <a:ext cx="18288000" cy="2600325"/>
            </a:xfrm>
            <a:custGeom>
              <a:avLst/>
              <a:gdLst/>
              <a:ahLst/>
              <a:cxnLst/>
              <a:rect l="l" t="t" r="r" b="b"/>
              <a:pathLst>
                <a:path w="18288000" h="2600325">
                  <a:moveTo>
                    <a:pt x="18288000" y="2600325"/>
                  </a:moveTo>
                  <a:lnTo>
                    <a:pt x="0" y="26003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2600325"/>
                  </a:lnTo>
                  <a:close/>
                </a:path>
              </a:pathLst>
            </a:custGeom>
            <a:solidFill>
              <a:srgbClr val="99B8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57663" y="4436987"/>
              <a:ext cx="6930334" cy="58500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855907" y="5176631"/>
              <a:ext cx="0" cy="2129790"/>
            </a:xfrm>
            <a:custGeom>
              <a:avLst/>
              <a:gdLst/>
              <a:ahLst/>
              <a:cxnLst/>
              <a:rect l="l" t="t" r="r" b="b"/>
              <a:pathLst>
                <a:path h="2129790">
                  <a:moveTo>
                    <a:pt x="0" y="0"/>
                  </a:moveTo>
                  <a:lnTo>
                    <a:pt x="0" y="21296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90600" y="2400300"/>
            <a:ext cx="6280150" cy="424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b="1" spc="185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185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z="3200" b="1" spc="-1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b="1" spc="90" dirty="0">
                <a:latin typeface="Trebuchet MS" panose="020B0603020202020204"/>
                <a:cs typeface="Trebuchet MS" panose="020B0603020202020204"/>
              </a:rPr>
              <a:t>Objectives</a:t>
            </a:r>
            <a:endParaRPr sz="3200" b="1" spc="9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400" spc="50" dirty="0">
                <a:latin typeface="Trebuchet MS" panose="020B0603020202020204"/>
                <a:cs typeface="Trebuchet MS" panose="020B0603020202020204"/>
              </a:rPr>
              <a:t>Understand principles of object oriented paradigm</a:t>
            </a:r>
            <a:endParaRPr sz="2400" spc="50" dirty="0">
              <a:latin typeface="Trebuchet MS" panose="020B0603020202020204"/>
              <a:cs typeface="Trebuchet MS" panose="020B0603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400">
                <a:latin typeface="Trebuchet MS" panose="020B0603020202020204"/>
                <a:cs typeface="Trebuchet MS" panose="020B0603020202020204"/>
              </a:rPr>
              <a:t>Identify the objects &amp; their relationships to build object oriented solution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400">
                <a:latin typeface="Trebuchet MS" panose="020B0603020202020204"/>
                <a:cs typeface="Trebuchet MS" panose="020B0603020202020204"/>
              </a:rPr>
              <a:t>Model a solution for a given problem using object oriented principles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342900" indent="-342900" algn="just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400">
                <a:latin typeface="Trebuchet MS" panose="020B0603020202020204"/>
                <a:cs typeface="Trebuchet MS" panose="020B0603020202020204"/>
              </a:rPr>
              <a:t>Examine an object oriented solution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51152" y="2635303"/>
            <a:ext cx="0" cy="2129790"/>
          </a:xfrm>
          <a:custGeom>
            <a:avLst/>
            <a:gdLst/>
            <a:ahLst/>
            <a:cxnLst/>
            <a:rect l="l" t="t" r="r" b="b"/>
            <a:pathLst>
              <a:path h="2129790">
                <a:moveTo>
                  <a:pt x="0" y="0"/>
                </a:moveTo>
                <a:lnTo>
                  <a:pt x="0" y="21296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2015" y="1072192"/>
            <a:ext cx="2152944" cy="221044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05988" y="2685432"/>
            <a:ext cx="4914900" cy="122872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3200" b="1" spc="185" dirty="0">
                <a:latin typeface="Trebuchet MS" panose="020B0603020202020204"/>
                <a:cs typeface="Trebuchet MS" panose="020B0603020202020204"/>
              </a:rPr>
              <a:t>Google</a:t>
            </a:r>
            <a:r>
              <a:rPr sz="3200" b="1" spc="-1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b="1" spc="195" dirty="0">
                <a:latin typeface="Trebuchet MS" panose="020B0603020202020204"/>
                <a:cs typeface="Trebuchet MS" panose="020B0603020202020204"/>
              </a:rPr>
              <a:t>Classroom</a:t>
            </a:r>
            <a:r>
              <a:rPr sz="3200" b="1" spc="-1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b="1" spc="215" dirty="0">
                <a:latin typeface="Trebuchet MS" panose="020B0603020202020204"/>
                <a:cs typeface="Trebuchet MS" panose="020B0603020202020204"/>
              </a:rPr>
              <a:t>Code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800" spc="-10" dirty="0">
                <a:latin typeface="Trebuchet MS" panose="020B0603020202020204"/>
                <a:cs typeface="Trebuchet MS" panose="020B0603020202020204"/>
              </a:rPr>
              <a:t>“k7ipejn”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44809"/>
            <a:ext cx="18288000" cy="2038350"/>
          </a:xfrm>
          <a:custGeom>
            <a:avLst/>
            <a:gdLst/>
            <a:ahLst/>
            <a:cxnLst/>
            <a:rect l="l" t="t" r="r" b="b"/>
            <a:pathLst>
              <a:path w="18288000" h="2038350">
                <a:moveTo>
                  <a:pt x="18288000" y="2038350"/>
                </a:moveTo>
                <a:lnTo>
                  <a:pt x="0" y="203835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2038350"/>
                </a:lnTo>
                <a:close/>
              </a:path>
            </a:pathLst>
          </a:custGeom>
          <a:solidFill>
            <a:srgbClr val="99D9D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24158" y="2069739"/>
          <a:ext cx="9205595" cy="319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235"/>
                <a:gridCol w="4785360"/>
              </a:tblGrid>
              <a:tr h="1362075"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sz="2800" spc="-100" dirty="0">
                          <a:latin typeface="Arial Black" panose="020B0A04020102020204"/>
                          <a:cs typeface="Arial Black" panose="020B0A04020102020204"/>
                        </a:rPr>
                        <a:t>Quiz</a:t>
                      </a:r>
                      <a:r>
                        <a:rPr sz="2800" spc="-210" dirty="0"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2800" spc="-85" dirty="0">
                          <a:latin typeface="Arial Black" panose="020B0A04020102020204"/>
                          <a:cs typeface="Arial Black" panose="020B0A04020102020204"/>
                        </a:rPr>
                        <a:t>(1</a:t>
                      </a:r>
                      <a:r>
                        <a:rPr lang="en-US" sz="2800" spc="-85" dirty="0">
                          <a:latin typeface="Arial Black" panose="020B0A04020102020204"/>
                          <a:cs typeface="Arial Black" panose="020B0A04020102020204"/>
                        </a:rPr>
                        <a:t>0</a:t>
                      </a:r>
                      <a:r>
                        <a:rPr sz="2800" spc="-210" dirty="0"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2800" spc="-25" dirty="0">
                          <a:latin typeface="Arial Black" panose="020B0A04020102020204"/>
                          <a:cs typeface="Arial Black" panose="020B0A04020102020204"/>
                        </a:rPr>
                        <a:t>%)</a:t>
                      </a:r>
                      <a:endParaRPr sz="28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406400" marB="0">
                    <a:lnR w="19050">
                      <a:solidFill>
                        <a:srgbClr val="CFE3E7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3200"/>
                        </a:spcBef>
                      </a:pPr>
                      <a:r>
                        <a:rPr lang="en-US" sz="2800" spc="-195" dirty="0">
                          <a:latin typeface="Arial Black" panose="020B0A04020102020204"/>
                          <a:cs typeface="Arial Black" panose="020B0A04020102020204"/>
                        </a:rPr>
                        <a:t>Assignment</a:t>
                      </a:r>
                      <a:r>
                        <a:rPr sz="2800" spc="-195" dirty="0"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2800" spc="-85" dirty="0">
                          <a:latin typeface="Arial Black" panose="020B0A04020102020204"/>
                          <a:cs typeface="Arial Black" panose="020B0A04020102020204"/>
                        </a:rPr>
                        <a:t>(</a:t>
                      </a:r>
                      <a:r>
                        <a:rPr lang="en-US" sz="2800" spc="-85" dirty="0">
                          <a:latin typeface="Arial Black" panose="020B0A04020102020204"/>
                          <a:cs typeface="Arial Black" panose="020B0A04020102020204"/>
                        </a:rPr>
                        <a:t>20</a:t>
                      </a:r>
                      <a:r>
                        <a:rPr sz="2800" spc="-195" dirty="0"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2800" spc="-25" dirty="0">
                          <a:latin typeface="Arial Black" panose="020B0A04020102020204"/>
                          <a:cs typeface="Arial Black" panose="020B0A04020102020204"/>
                        </a:rPr>
                        <a:t>%)</a:t>
                      </a:r>
                      <a:endParaRPr sz="28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406400" marB="0">
                    <a:lnL w="19050">
                      <a:solidFill>
                        <a:srgbClr val="CFE3E7"/>
                      </a:solidFill>
                      <a:prstDash val="solid"/>
                    </a:lnL>
                    <a:lnR w="19050">
                      <a:solidFill>
                        <a:srgbClr val="CFE3E7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828165">
                <a:tc>
                  <a:txBody>
                    <a:bodyPr/>
                    <a:lstStyle/>
                    <a:p>
                      <a:pPr marL="228600" marR="224790">
                        <a:lnSpc>
                          <a:spcPct val="115000"/>
                        </a:lnSpc>
                        <a:spcBef>
                          <a:spcPts val="990"/>
                        </a:spcBef>
                      </a:pP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</a:rPr>
                        <a:t>I</a:t>
                      </a:r>
                      <a:r>
                        <a:rPr sz="2400" spc="-13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</a:rPr>
                        <a:t>will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spc="60" dirty="0">
                          <a:latin typeface="Trebuchet MS" panose="020B0603020202020204"/>
                          <a:cs typeface="Trebuchet MS" panose="020B0603020202020204"/>
                        </a:rPr>
                        <a:t>take</a:t>
                      </a:r>
                      <a:r>
                        <a:rPr sz="2400" spc="-13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</a:rPr>
                        <a:t>total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sz="2400" spc="-130" dirty="0">
                          <a:latin typeface="Trebuchet MS" panose="020B0603020202020204"/>
                          <a:cs typeface="Trebuchet MS" panose="020B0603020202020204"/>
                        </a:rPr>
                        <a:t>4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spc="55" dirty="0">
                          <a:latin typeface="Trebuchet MS" panose="020B0603020202020204"/>
                          <a:cs typeface="Trebuchet MS" panose="020B0603020202020204"/>
                        </a:rPr>
                        <a:t>quizes</a:t>
                      </a:r>
                      <a:r>
                        <a:rPr sz="2400" spc="-13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spc="50" dirty="0">
                          <a:latin typeface="Trebuchet MS" panose="020B0603020202020204"/>
                          <a:cs typeface="Trebuchet MS" panose="020B0603020202020204"/>
                        </a:rPr>
                        <a:t>and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</a:rPr>
                        <a:t>will</a:t>
                      </a:r>
                      <a:r>
                        <a:rPr sz="2400" spc="-15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2400" spc="60" dirty="0">
                          <a:latin typeface="Trebuchet MS" panose="020B0603020202020204"/>
                          <a:cs typeface="Trebuchet MS" panose="020B0603020202020204"/>
                        </a:rPr>
                        <a:t>consider</a:t>
                      </a:r>
                      <a:r>
                        <a:rPr sz="2400" spc="-14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lang="en-US" sz="2400" spc="-145" dirty="0">
                          <a:latin typeface="Trebuchet MS" panose="020B0603020202020204"/>
                          <a:cs typeface="Trebuchet MS" panose="020B0603020202020204"/>
                        </a:rPr>
                        <a:t>all.</a:t>
                      </a:r>
                      <a:endParaRPr lang="en-US" sz="2400" spc="-145" dirty="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25730" marB="0">
                    <a:lnR w="19050">
                      <a:solidFill>
                        <a:srgbClr val="CFE3E7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0025" marR="192405" algn="just">
                        <a:lnSpc>
                          <a:spcPct val="115000"/>
                        </a:lnSpc>
                        <a:spcBef>
                          <a:spcPts val="990"/>
                        </a:spcBef>
                      </a:pP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I</a:t>
                      </a:r>
                      <a:r>
                        <a:rPr sz="2400" spc="-135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will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sz="2400" spc="6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take</a:t>
                      </a:r>
                      <a:r>
                        <a:rPr sz="2400" spc="-135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total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lang="en-US" sz="2400" spc="-13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3</a:t>
                      </a:r>
                      <a:r>
                        <a:rPr sz="2400" spc="-13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lang="en-US" sz="2400" spc="-13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assignments </a:t>
                      </a:r>
                      <a:r>
                        <a:rPr sz="2400" spc="5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and </a:t>
                      </a:r>
                      <a:r>
                        <a:rPr sz="240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will</a:t>
                      </a:r>
                      <a:r>
                        <a:rPr sz="2400" spc="-15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sz="2400" spc="60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consider</a:t>
                      </a:r>
                      <a:r>
                        <a:rPr sz="2400" spc="-145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 </a:t>
                      </a:r>
                      <a:r>
                        <a:rPr lang="en-US" sz="2400" spc="-145" dirty="0">
                          <a:latin typeface="Trebuchet MS" panose="020B0603020202020204"/>
                          <a:cs typeface="Trebuchet MS" panose="020B0603020202020204"/>
                          <a:sym typeface="+mn-ea"/>
                        </a:rPr>
                        <a:t>all.</a:t>
                      </a:r>
                      <a:endParaRPr lang="en-US" sz="2400" spc="-145" dirty="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200025" marR="192405" algn="just">
                        <a:lnSpc>
                          <a:spcPct val="115000"/>
                        </a:lnSpc>
                        <a:spcBef>
                          <a:spcPts val="990"/>
                        </a:spcBef>
                      </a:pPr>
                      <a:endParaRPr sz="24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25730" marB="0">
                    <a:lnL w="19050">
                      <a:solidFill>
                        <a:srgbClr val="CFE3E7"/>
                      </a:solidFill>
                      <a:prstDash val="solid"/>
                    </a:lnL>
                    <a:lnR w="19050">
                      <a:solidFill>
                        <a:srgbClr val="CFE3E7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25087" y="3771864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25087" y="4076664"/>
            <a:ext cx="95250" cy="95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72687" y="2248205"/>
            <a:ext cx="2766060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15"/>
              </a:lnSpc>
              <a:spcBef>
                <a:spcPts val="100"/>
              </a:spcBef>
            </a:pPr>
            <a:r>
              <a:rPr sz="2800" spc="-75" dirty="0">
                <a:latin typeface="Arial Black" panose="020B0A04020102020204"/>
                <a:cs typeface="Arial Black" panose="020B0A04020102020204"/>
              </a:rPr>
              <a:t>Midterm</a:t>
            </a:r>
            <a:r>
              <a:rPr sz="2800" spc="-19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2800" spc="-20" dirty="0">
                <a:latin typeface="Arial Black" panose="020B0A04020102020204"/>
                <a:cs typeface="Arial Black" panose="020B0A04020102020204"/>
              </a:rPr>
              <a:t>(2</a:t>
            </a:r>
            <a:r>
              <a:rPr lang="en-US" altLang="en-US" sz="2800" spc="-20" dirty="0">
                <a:latin typeface="Arial Black" panose="020B0A04020102020204"/>
                <a:cs typeface="Arial Black" panose="020B0A04020102020204"/>
              </a:rPr>
              <a:t>0</a:t>
            </a:r>
            <a:r>
              <a:rPr sz="2800" spc="-20" dirty="0">
                <a:latin typeface="Arial Black" panose="020B0A04020102020204"/>
                <a:cs typeface="Arial Black" panose="020B0A04020102020204"/>
              </a:rPr>
              <a:t>%)</a:t>
            </a:r>
            <a:endParaRPr sz="28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ts val="3220"/>
              </a:lnSpc>
            </a:pPr>
            <a:r>
              <a:rPr sz="2800" spc="-165" dirty="0">
                <a:latin typeface="Arial Black" panose="020B0A04020102020204"/>
                <a:cs typeface="Arial Black" panose="020B0A04020102020204"/>
              </a:rPr>
              <a:t>Final</a:t>
            </a:r>
            <a:r>
              <a:rPr sz="2800" spc="-21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2800" spc="-20" dirty="0">
                <a:latin typeface="Arial Black" panose="020B0A04020102020204"/>
                <a:cs typeface="Arial Black" panose="020B0A04020102020204"/>
              </a:rPr>
              <a:t>(</a:t>
            </a:r>
            <a:r>
              <a:rPr lang="en-US" altLang="en-US" sz="2800" spc="-20" dirty="0">
                <a:latin typeface="Arial Black" panose="020B0A04020102020204"/>
                <a:cs typeface="Arial Black" panose="020B0A04020102020204"/>
              </a:rPr>
              <a:t>35</a:t>
            </a:r>
            <a:r>
              <a:rPr sz="2800" spc="-20" dirty="0">
                <a:latin typeface="Arial Black" panose="020B0A04020102020204"/>
                <a:cs typeface="Arial Black" panose="020B0A04020102020204"/>
              </a:rPr>
              <a:t>%)</a:t>
            </a:r>
            <a:endParaRPr sz="2800">
              <a:latin typeface="Arial Black" panose="020B0A04020102020204"/>
              <a:cs typeface="Arial Black" panose="020B0A04020102020204"/>
            </a:endParaRPr>
          </a:p>
          <a:p>
            <a:pPr marL="530225" marR="93980">
              <a:lnSpc>
                <a:spcPct val="115000"/>
              </a:lnSpc>
              <a:spcBef>
                <a:spcPts val="3465"/>
              </a:spcBef>
            </a:pPr>
            <a:r>
              <a:rPr sz="2400" spc="75" dirty="0">
                <a:latin typeface="Trebuchet MS" panose="020B0603020202020204"/>
                <a:cs typeface="Trebuchet MS" panose="020B0603020202020204"/>
              </a:rPr>
              <a:t>One</a:t>
            </a:r>
            <a:r>
              <a:rPr sz="24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-10" dirty="0">
                <a:latin typeface="Trebuchet MS" panose="020B0603020202020204"/>
                <a:cs typeface="Trebuchet MS" panose="020B0603020202020204"/>
              </a:rPr>
              <a:t>midterm </a:t>
            </a:r>
            <a:r>
              <a:rPr sz="2400" spc="75" dirty="0">
                <a:latin typeface="Trebuchet MS" panose="020B0603020202020204"/>
                <a:cs typeface="Trebuchet MS" panose="020B0603020202020204"/>
              </a:rPr>
              <a:t>One</a:t>
            </a:r>
            <a:r>
              <a:rPr sz="24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latin typeface="Trebuchet MS" panose="020B0603020202020204"/>
                <a:cs typeface="Trebuchet MS" panose="020B0603020202020204"/>
              </a:rPr>
              <a:t>final</a:t>
            </a:r>
            <a:r>
              <a:rPr sz="24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60" dirty="0">
                <a:latin typeface="Trebuchet MS" panose="020B0603020202020204"/>
                <a:cs typeface="Trebuchet MS" panose="020B0603020202020204"/>
              </a:rPr>
              <a:t>exam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77" y="5259512"/>
            <a:ext cx="3757435" cy="502748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873125"/>
            <a:ext cx="123526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100" dirty="0"/>
              <a:t>Course Requirements</a:t>
            </a:r>
            <a:endParaRPr sz="4400" spc="11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153515" y="2063115"/>
            <a:ext cx="19685" cy="3232785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4325600" y="2247900"/>
            <a:ext cx="33375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marR="0" algn="l" rtl="0" eaLnBrk="1" fontAlgn="auto" latinLnBrk="0" hangingPunct="1">
              <a:spcBef>
                <a:spcPts val="3200"/>
              </a:spcBef>
              <a:buClrTx/>
              <a:buSzTx/>
              <a:buFontTx/>
              <a:buNone/>
            </a:pPr>
            <a:r>
              <a:rPr kumimoji="0" lang="en-US" altLang="en-US" sz="2800" b="0" i="0" u="none" strike="noStrike" kern="0" cap="none" spc="-100" normalizeH="0" baseline="0" noProof="1" dirty="0">
                <a:solidFill>
                  <a:schemeClr val="tx1"/>
                </a:solidFill>
                <a:latin typeface="Arial Black" panose="020B0A04020102020204"/>
                <a:ea typeface="+mn-ea"/>
                <a:cs typeface="Arial Black" panose="020B0A04020102020204"/>
              </a:rPr>
              <a:t>Project (15%)</a:t>
            </a:r>
            <a:endParaRPr kumimoji="0" lang="en-US" altLang="en-US" sz="2800" b="0" i="0" u="none" strike="noStrike" kern="0" cap="none" spc="-100" normalizeH="0" baseline="0" noProof="1" dirty="0">
              <a:solidFill>
                <a:schemeClr val="tx1"/>
              </a:solidFill>
              <a:latin typeface="Arial Black" panose="020B0A04020102020204"/>
              <a:ea typeface="+mn-ea"/>
              <a:cs typeface="Arial Black" panose="020B0A040201020202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4325600" y="3314700"/>
            <a:ext cx="35623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0" sz="2400" b="0" i="0" u="none" strike="noStrike" kern="0" cap="none" spc="60" normalizeH="0" baseline="0" noProof="1" dirty="0">
                <a:solidFill>
                  <a:schemeClr val="tx1"/>
                </a:solidFill>
                <a:latin typeface="Trebuchet MS" panose="020B0603020202020204"/>
                <a:ea typeface="+mn-ea"/>
                <a:cs typeface="Trebuchet MS" panose="020B0603020202020204"/>
              </a:rPr>
              <a:t>15% is the weightage of your semester project</a:t>
            </a:r>
            <a:endParaRPr kumimoji="0" sz="2400" b="0" i="0" u="none" strike="noStrike" kern="0" cap="none" spc="60" normalizeH="0" baseline="0" noProof="1" dirty="0">
              <a:solidFill>
                <a:schemeClr val="tx1"/>
              </a:solidFill>
              <a:latin typeface="Trebuchet MS" panose="020B0603020202020204"/>
              <a:ea typeface="+mn-ea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462" y="2563494"/>
            <a:ext cx="6148070" cy="0"/>
          </a:xfrm>
          <a:custGeom>
            <a:avLst/>
            <a:gdLst/>
            <a:ahLst/>
            <a:cxnLst/>
            <a:rect l="l" t="t" r="r" b="b"/>
            <a:pathLst>
              <a:path w="6148070">
                <a:moveTo>
                  <a:pt x="0" y="0"/>
                </a:moveTo>
                <a:lnTo>
                  <a:pt x="61480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33462" y="5069959"/>
            <a:ext cx="6148070" cy="0"/>
          </a:xfrm>
          <a:custGeom>
            <a:avLst/>
            <a:gdLst/>
            <a:ahLst/>
            <a:cxnLst/>
            <a:rect l="l" t="t" r="r" b="b"/>
            <a:pathLst>
              <a:path w="6148070">
                <a:moveTo>
                  <a:pt x="0" y="0"/>
                </a:moveTo>
                <a:lnTo>
                  <a:pt x="614800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2834304"/>
            <a:ext cx="18288000" cy="7454900"/>
            <a:chOff x="0" y="2834304"/>
            <a:chExt cx="18288000" cy="7454900"/>
          </a:xfrm>
        </p:grpSpPr>
        <p:sp>
          <p:nvSpPr>
            <p:cNvPr id="5" name="object 5"/>
            <p:cNvSpPr/>
            <p:nvPr/>
          </p:nvSpPr>
          <p:spPr>
            <a:xfrm>
              <a:off x="0" y="8460242"/>
              <a:ext cx="18288000" cy="1828800"/>
            </a:xfrm>
            <a:custGeom>
              <a:avLst/>
              <a:gdLst/>
              <a:ahLst/>
              <a:cxnLst/>
              <a:rect l="l" t="t" r="r" b="b"/>
              <a:pathLst>
                <a:path w="18288000" h="1828800">
                  <a:moveTo>
                    <a:pt x="18288000" y="1828800"/>
                  </a:moveTo>
                  <a:lnTo>
                    <a:pt x="0" y="1828800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828800"/>
                  </a:lnTo>
                  <a:close/>
                </a:path>
              </a:pathLst>
            </a:custGeom>
            <a:solidFill>
              <a:srgbClr val="99B8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35304" y="2834304"/>
              <a:ext cx="6423994" cy="64239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2745" y="4337351"/>
              <a:ext cx="4161226" cy="51180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57718" y="892175"/>
            <a:ext cx="701420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425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z="7200" spc="-3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7200" spc="200" dirty="0">
                <a:latin typeface="Trebuchet MS" panose="020B0603020202020204"/>
                <a:cs typeface="Trebuchet MS" panose="020B0603020202020204"/>
              </a:rPr>
              <a:t>Policies</a:t>
            </a:r>
            <a:endParaRPr sz="7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871202"/>
            <a:ext cx="5725795" cy="11811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b="1" spc="105" dirty="0">
                <a:latin typeface="Trebuchet MS" panose="020B0603020202020204"/>
                <a:cs typeface="Trebuchet MS" panose="020B0603020202020204"/>
              </a:rPr>
              <a:t>Attendance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5080" algn="just">
              <a:lnSpc>
                <a:spcPct val="106000"/>
              </a:lnSpc>
              <a:spcBef>
                <a:spcPts val="445"/>
              </a:spcBef>
            </a:pPr>
            <a:r>
              <a:rPr sz="2000" spc="80" dirty="0">
                <a:latin typeface="Trebuchet MS" panose="020B0603020202020204"/>
                <a:cs typeface="Trebuchet MS" panose="020B0603020202020204"/>
              </a:rPr>
              <a:t>Keep</a:t>
            </a:r>
            <a:r>
              <a:rPr sz="200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55" dirty="0">
                <a:latin typeface="Trebuchet MS" panose="020B0603020202020204"/>
                <a:cs typeface="Trebuchet MS" panose="020B0603020202020204"/>
              </a:rPr>
              <a:t>account</a:t>
            </a:r>
            <a:r>
              <a:rPr sz="200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55" dirty="0">
                <a:latin typeface="Trebuchet MS" panose="020B0603020202020204"/>
                <a:cs typeface="Trebuchet MS" panose="020B0603020202020204"/>
              </a:rPr>
              <a:t>of</a:t>
            </a:r>
            <a:r>
              <a:rPr sz="200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your</a:t>
            </a:r>
            <a:r>
              <a:rPr sz="200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attendance.</a:t>
            </a:r>
            <a:r>
              <a:rPr sz="2000" spc="-9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2000" spc="-90" dirty="0">
                <a:latin typeface="Trebuchet MS" panose="020B0603020202020204"/>
                <a:cs typeface="Trebuchet MS" panose="020B0603020202020204"/>
              </a:rPr>
              <a:t>Make </a:t>
            </a:r>
            <a:r>
              <a:rPr sz="2000" spc="45" dirty="0">
                <a:latin typeface="Trebuchet MS" panose="020B0603020202020204"/>
                <a:cs typeface="Trebuchet MS" panose="020B0603020202020204"/>
              </a:rPr>
              <a:t>sure </a:t>
            </a:r>
            <a:r>
              <a:rPr sz="2000" spc="55" dirty="0">
                <a:latin typeface="Trebuchet MS" panose="020B0603020202020204"/>
                <a:cs typeface="Trebuchet MS" panose="020B0603020202020204"/>
              </a:rPr>
              <a:t>you</a:t>
            </a:r>
            <a:r>
              <a:rPr sz="20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attend</a:t>
            </a:r>
            <a:r>
              <a:rPr sz="20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your</a:t>
            </a:r>
            <a:r>
              <a:rPr sz="20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110" dirty="0">
                <a:latin typeface="Trebuchet MS" panose="020B0603020202020204"/>
                <a:cs typeface="Trebuchet MS" panose="020B0603020202020204"/>
              </a:rPr>
              <a:t>classes</a:t>
            </a:r>
            <a:r>
              <a:rPr sz="20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latin typeface="Trebuchet MS" panose="020B0603020202020204"/>
                <a:cs typeface="Trebuchet MS" panose="020B0603020202020204"/>
              </a:rPr>
              <a:t>regularly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6800" y="2781413"/>
            <a:ext cx="5998845" cy="359664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b="1" spc="114" dirty="0">
                <a:latin typeface="Trebuchet MS" panose="020B0603020202020204"/>
                <a:cs typeface="Trebuchet MS" panose="020B0603020202020204"/>
              </a:rPr>
              <a:t>Communication</a:t>
            </a:r>
            <a:r>
              <a:rPr sz="2400" b="1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b="1" spc="105" dirty="0">
                <a:latin typeface="Trebuchet MS" panose="020B0603020202020204"/>
                <a:cs typeface="Trebuchet MS" panose="020B0603020202020204"/>
              </a:rPr>
              <a:t>Mandatories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6000"/>
              </a:lnSpc>
              <a:spcBef>
                <a:spcPts val="595"/>
              </a:spcBef>
            </a:pPr>
            <a:r>
              <a:rPr sz="2000" dirty="0">
                <a:latin typeface="Trebuchet MS" panose="020B0603020202020204"/>
                <a:cs typeface="Trebuchet MS" panose="020B0603020202020204"/>
              </a:rPr>
              <a:t>I</a:t>
            </a:r>
            <a:r>
              <a:rPr sz="20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have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created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7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95" dirty="0">
                <a:latin typeface="Trebuchet MS" panose="020B0603020202020204"/>
                <a:cs typeface="Trebuchet MS" panose="020B0603020202020204"/>
              </a:rPr>
              <a:t>google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75" dirty="0">
                <a:latin typeface="Trebuchet MS" panose="020B0603020202020204"/>
                <a:cs typeface="Trebuchet MS" panose="020B0603020202020204"/>
              </a:rPr>
              <a:t>classroom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for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50" dirty="0">
                <a:latin typeface="Trebuchet MS" panose="020B0603020202020204"/>
                <a:cs typeface="Trebuchet MS" panose="020B0603020202020204"/>
              </a:rPr>
              <a:t>this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course.</a:t>
            </a:r>
            <a:r>
              <a:rPr sz="2000" spc="-65" dirty="0">
                <a:latin typeface="Trebuchet MS" panose="020B0603020202020204"/>
                <a:cs typeface="Trebuchet MS" panose="020B0603020202020204"/>
              </a:rPr>
              <a:t> </a:t>
            </a:r>
            <a:endParaRPr sz="2000" spc="-65" dirty="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06000"/>
              </a:lnSpc>
              <a:spcBef>
                <a:spcPts val="595"/>
              </a:spcBef>
            </a:pPr>
            <a:r>
              <a:rPr sz="2000" spc="-50" dirty="0">
                <a:latin typeface="Trebuchet MS" panose="020B0603020202020204"/>
                <a:cs typeface="Trebuchet MS" panose="020B0603020202020204"/>
              </a:rPr>
              <a:t>I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will</a:t>
            </a:r>
            <a:r>
              <a:rPr sz="20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upload</a:t>
            </a:r>
            <a:r>
              <a:rPr sz="20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all</a:t>
            </a:r>
            <a:r>
              <a:rPr sz="20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lecture</a:t>
            </a:r>
            <a:r>
              <a:rPr sz="20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materials</a:t>
            </a:r>
            <a:r>
              <a:rPr sz="20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65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20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45" dirty="0">
                <a:latin typeface="Trebuchet MS" panose="020B0603020202020204"/>
                <a:cs typeface="Trebuchet MS" panose="020B0603020202020204"/>
              </a:rPr>
              <a:t>helping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content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sz="200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the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75" dirty="0">
                <a:latin typeface="Trebuchet MS" panose="020B0603020202020204"/>
                <a:cs typeface="Trebuchet MS" panose="020B0603020202020204"/>
              </a:rPr>
              <a:t>classroom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after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every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10" dirty="0">
                <a:latin typeface="Trebuchet MS" panose="020B0603020202020204"/>
                <a:cs typeface="Trebuchet MS" panose="020B0603020202020204"/>
              </a:rPr>
              <a:t>class.</a:t>
            </a:r>
            <a:endParaRPr sz="20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0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910"/>
              </a:spcBef>
            </a:pPr>
            <a:endParaRPr sz="20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sz="2400" b="1" spc="75" dirty="0">
                <a:latin typeface="Trebuchet MS" panose="020B0603020202020204"/>
                <a:cs typeface="Trebuchet MS" panose="020B0603020202020204"/>
              </a:rPr>
              <a:t>Plagirism</a:t>
            </a:r>
            <a:endParaRPr sz="2400">
              <a:latin typeface="Trebuchet MS" panose="020B0603020202020204"/>
              <a:cs typeface="Trebuchet MS" panose="020B0603020202020204"/>
            </a:endParaRPr>
          </a:p>
          <a:p>
            <a:pPr marL="12700" marR="172720">
              <a:lnSpc>
                <a:spcPct val="106000"/>
              </a:lnSpc>
              <a:spcBef>
                <a:spcPts val="695"/>
              </a:spcBef>
            </a:pPr>
            <a:r>
              <a:rPr sz="2000" dirty="0">
                <a:latin typeface="Trebuchet MS" panose="020B0603020202020204"/>
                <a:cs typeface="Trebuchet MS" panose="020B0603020202020204"/>
              </a:rPr>
              <a:t>Plagirized</a:t>
            </a:r>
            <a:r>
              <a:rPr sz="2000" spc="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50" dirty="0">
                <a:latin typeface="Trebuchet MS" panose="020B0603020202020204"/>
                <a:cs typeface="Trebuchet MS" panose="020B0603020202020204"/>
              </a:rPr>
              <a:t>work </a:t>
            </a:r>
            <a:r>
              <a:rPr sz="2000" spc="70" dirty="0">
                <a:latin typeface="Trebuchet MS" panose="020B0603020202020204"/>
                <a:cs typeface="Trebuchet MS" panose="020B0603020202020204"/>
              </a:rPr>
              <a:t>is</a:t>
            </a:r>
            <a:r>
              <a:rPr sz="2000" spc="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completely</a:t>
            </a:r>
            <a:r>
              <a:rPr sz="2000" spc="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unacceptable.</a:t>
            </a:r>
            <a:r>
              <a:rPr sz="2000" spc="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I</a:t>
            </a:r>
            <a:r>
              <a:rPr sz="2000" spc="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will </a:t>
            </a:r>
            <a:r>
              <a:rPr sz="2000" spc="65" dirty="0">
                <a:latin typeface="Trebuchet MS" panose="020B0603020202020204"/>
                <a:cs typeface="Trebuchet MS" panose="020B0603020202020204"/>
              </a:rPr>
              <a:t>make</a:t>
            </a:r>
            <a:r>
              <a:rPr sz="200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zero</a:t>
            </a:r>
            <a:r>
              <a:rPr sz="20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in</a:t>
            </a:r>
            <a:r>
              <a:rPr sz="20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dirty="0">
                <a:latin typeface="Trebuchet MS" panose="020B0603020202020204"/>
                <a:cs typeface="Trebuchet MS" panose="020B0603020202020204"/>
              </a:rPr>
              <a:t>all</a:t>
            </a:r>
            <a:r>
              <a:rPr sz="20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95" dirty="0">
                <a:latin typeface="Trebuchet MS" panose="020B0603020202020204"/>
                <a:cs typeface="Trebuchet MS" panose="020B0603020202020204"/>
              </a:rPr>
              <a:t>such</a:t>
            </a:r>
            <a:r>
              <a:rPr sz="20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000" spc="-20" dirty="0">
                <a:latin typeface="Trebuchet MS" panose="020B0603020202020204"/>
                <a:cs typeface="Trebuchet MS" panose="020B0603020202020204"/>
              </a:rPr>
              <a:t>work.</a:t>
            </a:r>
            <a:endParaRPr sz="20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27475"/>
            <a:ext cx="18288000" cy="6592570"/>
            <a:chOff x="0" y="3927782"/>
            <a:chExt cx="18288000" cy="6359525"/>
          </a:xfrm>
        </p:grpSpPr>
        <p:sp>
          <p:nvSpPr>
            <p:cNvPr id="3" name="object 3"/>
            <p:cNvSpPr/>
            <p:nvPr/>
          </p:nvSpPr>
          <p:spPr>
            <a:xfrm>
              <a:off x="0" y="8471001"/>
              <a:ext cx="18288000" cy="1816100"/>
            </a:xfrm>
            <a:custGeom>
              <a:avLst/>
              <a:gdLst/>
              <a:ahLst/>
              <a:cxnLst/>
              <a:rect l="l" t="t" r="r" b="b"/>
              <a:pathLst>
                <a:path w="18288000" h="1816100">
                  <a:moveTo>
                    <a:pt x="0" y="0"/>
                  </a:moveTo>
                  <a:lnTo>
                    <a:pt x="18288000" y="0"/>
                  </a:lnTo>
                  <a:lnTo>
                    <a:pt x="18288000" y="1815998"/>
                  </a:lnTo>
                  <a:lnTo>
                    <a:pt x="0" y="1815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A2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87971" y="3927782"/>
              <a:ext cx="8533290" cy="598637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136966" y="1924113"/>
            <a:ext cx="53721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spc="509" dirty="0">
                <a:latin typeface="Liberation Sans Narrow"/>
                <a:cs typeface="Liberation Sans Narrow"/>
              </a:rPr>
              <a:t>0</a:t>
            </a:r>
            <a:r>
              <a:rPr sz="2000" b="1" spc="509" dirty="0">
                <a:latin typeface="Liberation Sans Narrow"/>
                <a:cs typeface="Liberation Sans Narrow"/>
              </a:rPr>
              <a:t>1</a:t>
            </a:r>
            <a:endParaRPr sz="2000">
              <a:latin typeface="Liberation Sans Narrow"/>
              <a:cs typeface="Liberation Sans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800" y="1576070"/>
            <a:ext cx="5455285" cy="173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654685" algn="l"/>
                <a:tab pos="2761615" algn="l"/>
                <a:tab pos="4798695" algn="l"/>
              </a:tabLst>
            </a:pPr>
            <a:r>
              <a:rPr sz="2800" b="0">
                <a:latin typeface="Arial" panose="020B0604020202020204"/>
                <a:cs typeface="Arial" panose="020B0604020202020204"/>
              </a:rPr>
              <a:t>A. P J Deitel &amp;amp; H M Deitel, “C++ How to Program”, 10 th Ed., Prentice Hall, 2001. ISBN 0-</a:t>
            </a:r>
            <a:br>
              <a:rPr sz="2800" b="0">
                <a:latin typeface="Arial" panose="020B0604020202020204"/>
                <a:cs typeface="Arial" panose="020B0604020202020204"/>
              </a:rPr>
            </a:br>
            <a:r>
              <a:rPr sz="2800" b="0">
                <a:latin typeface="Arial" panose="020B0604020202020204"/>
                <a:cs typeface="Arial" panose="020B0604020202020204"/>
              </a:rPr>
              <a:t>13-089571-7</a:t>
            </a:r>
            <a:endParaRPr sz="28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08838" y="7488922"/>
            <a:ext cx="5754370" cy="251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 marR="119380" algn="just">
              <a:lnSpc>
                <a:spcPct val="115000"/>
              </a:lnSpc>
              <a:spcBef>
                <a:spcPts val="100"/>
              </a:spcBef>
            </a:pPr>
            <a:r>
              <a:rPr kumimoji="0" lang="en-US" sz="2000" b="0" i="0" u="none" strike="noStrike" kern="0" cap="none" spc="0" normalizeH="0" baseline="0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(C) Bjarne Stroustrup, “The C++ Programming Language” 3rd Ed, Addison Wesley, ISBN 0-201-88954-4 0</a:t>
            </a:r>
            <a:endParaRPr kumimoji="0" lang="en-US" sz="2000" b="0" i="0" u="none" strike="noStrike" kern="0" cap="none" spc="0" normalizeH="0" baseline="0" noProof="1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  <a:p>
            <a:pPr marL="987425" marR="119380" algn="just">
              <a:lnSpc>
                <a:spcPct val="115000"/>
              </a:lnSpc>
              <a:spcBef>
                <a:spcPts val="100"/>
              </a:spcBef>
            </a:pPr>
            <a:endParaRPr kumimoji="0" lang="en-US" sz="2000" b="0" i="0" u="none" strike="noStrike" kern="0" cap="none" spc="0" normalizeH="0" baseline="0" noProof="1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  <a:p>
            <a:pPr marL="987425" marR="119380" algn="just">
              <a:lnSpc>
                <a:spcPct val="115000"/>
              </a:lnSpc>
              <a:spcBef>
                <a:spcPts val="100"/>
              </a:spcBef>
            </a:pPr>
            <a:r>
              <a:rPr kumimoji="0" lang="en-US" sz="2000" b="0" i="0" u="none" strike="noStrike" kern="0" cap="none" spc="0" normalizeH="0" baseline="0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(E) Robert Lafore, “Object Oriented Programming using C++”, 3rd Ed, SAMS, December 1998</a:t>
            </a:r>
            <a:endParaRPr kumimoji="0" lang="en-US" sz="2000" b="0" i="0" u="none" strike="noStrike" kern="0" cap="none" spc="0" normalizeH="0" baseline="0" noProof="1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78865" y="173355"/>
            <a:ext cx="7348220" cy="9485630"/>
            <a:chOff x="1028700" y="19049"/>
            <a:chExt cx="7348220" cy="10267950"/>
          </a:xfrm>
        </p:grpSpPr>
        <p:sp>
          <p:nvSpPr>
            <p:cNvPr id="22" name="object 22"/>
            <p:cNvSpPr/>
            <p:nvPr/>
          </p:nvSpPr>
          <p:spPr>
            <a:xfrm>
              <a:off x="1038225" y="19049"/>
              <a:ext cx="7329170" cy="10267950"/>
            </a:xfrm>
            <a:custGeom>
              <a:avLst/>
              <a:gdLst/>
              <a:ahLst/>
              <a:cxnLst/>
              <a:rect l="l" t="t" r="r" b="b"/>
              <a:pathLst>
                <a:path w="7329170" h="10267950">
                  <a:moveTo>
                    <a:pt x="0" y="0"/>
                  </a:moveTo>
                  <a:lnTo>
                    <a:pt x="0" y="10267950"/>
                  </a:lnTo>
                </a:path>
                <a:path w="7329170" h="10267950">
                  <a:moveTo>
                    <a:pt x="876144" y="0"/>
                  </a:moveTo>
                  <a:lnTo>
                    <a:pt x="876144" y="10267950"/>
                  </a:lnTo>
                </a:path>
                <a:path w="7329170" h="10267950">
                  <a:moveTo>
                    <a:pt x="1858556" y="0"/>
                  </a:moveTo>
                  <a:lnTo>
                    <a:pt x="1858556" y="10267950"/>
                  </a:lnTo>
                </a:path>
                <a:path w="7329170" h="10267950">
                  <a:moveTo>
                    <a:pt x="7328935" y="0"/>
                  </a:moveTo>
                  <a:lnTo>
                    <a:pt x="7328935" y="102679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47750" y="4448174"/>
              <a:ext cx="7310120" cy="2886710"/>
            </a:xfrm>
            <a:custGeom>
              <a:avLst/>
              <a:gdLst/>
              <a:ahLst/>
              <a:cxnLst/>
              <a:rect l="l" t="t" r="r" b="b"/>
              <a:pathLst>
                <a:path w="7310120" h="2886709">
                  <a:moveTo>
                    <a:pt x="0" y="0"/>
                  </a:moveTo>
                  <a:lnTo>
                    <a:pt x="7309885" y="0"/>
                  </a:lnTo>
                </a:path>
                <a:path w="7310120" h="2886709">
                  <a:moveTo>
                    <a:pt x="0" y="2886465"/>
                  </a:moveTo>
                  <a:lnTo>
                    <a:pt x="7309885" y="2886465"/>
                  </a:lnTo>
                </a:path>
              </a:pathLst>
            </a:custGeom>
            <a:ln w="19050">
              <a:solidFill>
                <a:srgbClr val="C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34699" y="1439637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262" y="390525"/>
                  </a:moveTo>
                  <a:lnTo>
                    <a:pt x="157168" y="386773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1" y="333333"/>
                  </a:lnTo>
                  <a:lnTo>
                    <a:pt x="32907" y="303744"/>
                  </a:lnTo>
                  <a:lnTo>
                    <a:pt x="14863" y="269986"/>
                  </a:lnTo>
                  <a:lnTo>
                    <a:pt x="3751" y="233356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6"/>
                  </a:lnTo>
                  <a:lnTo>
                    <a:pt x="18751" y="111765"/>
                  </a:lnTo>
                  <a:lnTo>
                    <a:pt x="38432" y="78934"/>
                  </a:lnTo>
                  <a:lnTo>
                    <a:pt x="64139" y="50573"/>
                  </a:lnTo>
                  <a:lnTo>
                    <a:pt x="94886" y="27773"/>
                  </a:lnTo>
                  <a:lnTo>
                    <a:pt x="129491" y="11409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204855" y="234"/>
                  </a:lnTo>
                  <a:lnTo>
                    <a:pt x="242718" y="5853"/>
                  </a:lnTo>
                  <a:lnTo>
                    <a:pt x="278759" y="18751"/>
                  </a:lnTo>
                  <a:lnTo>
                    <a:pt x="311590" y="38432"/>
                  </a:lnTo>
                  <a:lnTo>
                    <a:pt x="339951" y="64139"/>
                  </a:lnTo>
                  <a:lnTo>
                    <a:pt x="362751" y="94886"/>
                  </a:lnTo>
                  <a:lnTo>
                    <a:pt x="379115" y="129491"/>
                  </a:lnTo>
                  <a:lnTo>
                    <a:pt x="388414" y="166622"/>
                  </a:lnTo>
                  <a:lnTo>
                    <a:pt x="390525" y="195262"/>
                  </a:lnTo>
                  <a:lnTo>
                    <a:pt x="390290" y="204855"/>
                  </a:lnTo>
                  <a:lnTo>
                    <a:pt x="384671" y="242718"/>
                  </a:lnTo>
                  <a:lnTo>
                    <a:pt x="371773" y="278759"/>
                  </a:lnTo>
                  <a:lnTo>
                    <a:pt x="352092" y="311590"/>
                  </a:lnTo>
                  <a:lnTo>
                    <a:pt x="326385" y="339951"/>
                  </a:lnTo>
                  <a:lnTo>
                    <a:pt x="295638" y="362751"/>
                  </a:lnTo>
                  <a:lnTo>
                    <a:pt x="261033" y="379115"/>
                  </a:lnTo>
                  <a:lnTo>
                    <a:pt x="223902" y="388414"/>
                  </a:lnTo>
                  <a:lnTo>
                    <a:pt x="195262" y="390525"/>
                  </a:lnTo>
                  <a:close/>
                </a:path>
              </a:pathLst>
            </a:custGeom>
            <a:solidFill>
              <a:srgbClr val="99B8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75052" y="1523795"/>
              <a:ext cx="309880" cy="246379"/>
            </a:xfrm>
            <a:custGeom>
              <a:avLst/>
              <a:gdLst/>
              <a:ahLst/>
              <a:cxnLst/>
              <a:rect l="l" t="t" r="r" b="b"/>
              <a:pathLst>
                <a:path w="309880" h="246380">
                  <a:moveTo>
                    <a:pt x="106484" y="245757"/>
                  </a:moveTo>
                  <a:lnTo>
                    <a:pt x="0" y="139280"/>
                  </a:lnTo>
                  <a:lnTo>
                    <a:pt x="42426" y="96850"/>
                  </a:lnTo>
                  <a:lnTo>
                    <a:pt x="106484" y="160896"/>
                  </a:lnTo>
                  <a:lnTo>
                    <a:pt x="267365" y="0"/>
                  </a:lnTo>
                  <a:lnTo>
                    <a:pt x="309807" y="42422"/>
                  </a:lnTo>
                  <a:lnTo>
                    <a:pt x="106484" y="2457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434699" y="5236189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262" y="390525"/>
                  </a:moveTo>
                  <a:lnTo>
                    <a:pt x="157168" y="386773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1" y="333333"/>
                  </a:lnTo>
                  <a:lnTo>
                    <a:pt x="32907" y="303744"/>
                  </a:lnTo>
                  <a:lnTo>
                    <a:pt x="14863" y="269986"/>
                  </a:lnTo>
                  <a:lnTo>
                    <a:pt x="3751" y="233356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6"/>
                  </a:lnTo>
                  <a:lnTo>
                    <a:pt x="18751" y="111765"/>
                  </a:lnTo>
                  <a:lnTo>
                    <a:pt x="38432" y="78934"/>
                  </a:lnTo>
                  <a:lnTo>
                    <a:pt x="64139" y="50573"/>
                  </a:lnTo>
                  <a:lnTo>
                    <a:pt x="94886" y="27773"/>
                  </a:lnTo>
                  <a:lnTo>
                    <a:pt x="129491" y="11409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204855" y="234"/>
                  </a:lnTo>
                  <a:lnTo>
                    <a:pt x="242718" y="5853"/>
                  </a:lnTo>
                  <a:lnTo>
                    <a:pt x="278759" y="18751"/>
                  </a:lnTo>
                  <a:lnTo>
                    <a:pt x="311590" y="38432"/>
                  </a:lnTo>
                  <a:lnTo>
                    <a:pt x="339951" y="64139"/>
                  </a:lnTo>
                  <a:lnTo>
                    <a:pt x="362751" y="94886"/>
                  </a:lnTo>
                  <a:lnTo>
                    <a:pt x="379115" y="129491"/>
                  </a:lnTo>
                  <a:lnTo>
                    <a:pt x="388414" y="166622"/>
                  </a:lnTo>
                  <a:lnTo>
                    <a:pt x="390525" y="195262"/>
                  </a:lnTo>
                  <a:lnTo>
                    <a:pt x="390290" y="204855"/>
                  </a:lnTo>
                  <a:lnTo>
                    <a:pt x="384671" y="242718"/>
                  </a:lnTo>
                  <a:lnTo>
                    <a:pt x="371773" y="278759"/>
                  </a:lnTo>
                  <a:lnTo>
                    <a:pt x="352092" y="311590"/>
                  </a:lnTo>
                  <a:lnTo>
                    <a:pt x="326385" y="339951"/>
                  </a:lnTo>
                  <a:lnTo>
                    <a:pt x="295638" y="362751"/>
                  </a:lnTo>
                  <a:lnTo>
                    <a:pt x="261033" y="379115"/>
                  </a:lnTo>
                  <a:lnTo>
                    <a:pt x="223902" y="388414"/>
                  </a:lnTo>
                  <a:lnTo>
                    <a:pt x="195262" y="390525"/>
                  </a:lnTo>
                  <a:close/>
                </a:path>
              </a:pathLst>
            </a:custGeom>
            <a:solidFill>
              <a:srgbClr val="99B8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75052" y="5320347"/>
              <a:ext cx="309880" cy="246379"/>
            </a:xfrm>
            <a:custGeom>
              <a:avLst/>
              <a:gdLst/>
              <a:ahLst/>
              <a:cxnLst/>
              <a:rect l="l" t="t" r="r" b="b"/>
              <a:pathLst>
                <a:path w="309880" h="246379">
                  <a:moveTo>
                    <a:pt x="106484" y="245757"/>
                  </a:moveTo>
                  <a:lnTo>
                    <a:pt x="0" y="139280"/>
                  </a:lnTo>
                  <a:lnTo>
                    <a:pt x="42426" y="96850"/>
                  </a:lnTo>
                  <a:lnTo>
                    <a:pt x="106484" y="160896"/>
                  </a:lnTo>
                  <a:lnTo>
                    <a:pt x="267365" y="0"/>
                  </a:lnTo>
                  <a:lnTo>
                    <a:pt x="309807" y="42422"/>
                  </a:lnTo>
                  <a:lnTo>
                    <a:pt x="106484" y="2457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0287113" y="571265"/>
            <a:ext cx="7164705" cy="22180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8260" marR="5080" indent="-36195">
              <a:lnSpc>
                <a:spcPts val="8630"/>
              </a:lnSpc>
              <a:spcBef>
                <a:spcPts val="205"/>
              </a:spcBef>
            </a:pPr>
            <a:r>
              <a:rPr sz="7200" b="1" spc="810" dirty="0">
                <a:latin typeface="Liberation Sans Narrow"/>
                <a:cs typeface="Liberation Sans Narrow"/>
              </a:rPr>
              <a:t>Required</a:t>
            </a:r>
            <a:r>
              <a:rPr sz="7200" b="1" spc="195" dirty="0">
                <a:latin typeface="Liberation Sans Narrow"/>
                <a:cs typeface="Liberation Sans Narrow"/>
              </a:rPr>
              <a:t> </a:t>
            </a:r>
            <a:r>
              <a:rPr sz="7200" b="1" spc="805" dirty="0">
                <a:latin typeface="Liberation Sans Narrow"/>
                <a:cs typeface="Liberation Sans Narrow"/>
              </a:rPr>
              <a:t>Books </a:t>
            </a:r>
            <a:r>
              <a:rPr sz="7200" b="1" spc="919" dirty="0">
                <a:latin typeface="Liberation Sans Narrow"/>
                <a:cs typeface="Liberation Sans Narrow"/>
              </a:rPr>
              <a:t>and</a:t>
            </a:r>
            <a:r>
              <a:rPr sz="7200" b="1" spc="180" dirty="0">
                <a:latin typeface="Liberation Sans Narrow"/>
                <a:cs typeface="Liberation Sans Narrow"/>
              </a:rPr>
              <a:t> </a:t>
            </a:r>
            <a:r>
              <a:rPr sz="7200" b="1" spc="865" dirty="0">
                <a:latin typeface="Liberation Sans Narrow"/>
                <a:cs typeface="Liberation Sans Narrow"/>
              </a:rPr>
              <a:t>References</a:t>
            </a:r>
            <a:endParaRPr sz="7200">
              <a:latin typeface="Liberation Sans Narrow"/>
              <a:cs typeface="Liberation Sans Narrow"/>
            </a:endParaRPr>
          </a:p>
        </p:txBody>
      </p:sp>
      <p:sp>
        <p:nvSpPr>
          <p:cNvPr id="29" name="object 26"/>
          <p:cNvSpPr/>
          <p:nvPr/>
        </p:nvSpPr>
        <p:spPr>
          <a:xfrm>
            <a:off x="1394694" y="765807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262" y="390525"/>
                </a:moveTo>
                <a:lnTo>
                  <a:pt x="157168" y="386773"/>
                </a:lnTo>
                <a:lnTo>
                  <a:pt x="120538" y="375661"/>
                </a:lnTo>
                <a:lnTo>
                  <a:pt x="86780" y="357617"/>
                </a:lnTo>
                <a:lnTo>
                  <a:pt x="57191" y="333333"/>
                </a:lnTo>
                <a:lnTo>
                  <a:pt x="32907" y="303744"/>
                </a:lnTo>
                <a:lnTo>
                  <a:pt x="14863" y="269986"/>
                </a:lnTo>
                <a:lnTo>
                  <a:pt x="3751" y="233356"/>
                </a:lnTo>
                <a:lnTo>
                  <a:pt x="0" y="195262"/>
                </a:lnTo>
                <a:lnTo>
                  <a:pt x="234" y="185669"/>
                </a:lnTo>
                <a:lnTo>
                  <a:pt x="5853" y="147806"/>
                </a:lnTo>
                <a:lnTo>
                  <a:pt x="18751" y="111765"/>
                </a:lnTo>
                <a:lnTo>
                  <a:pt x="38432" y="78934"/>
                </a:lnTo>
                <a:lnTo>
                  <a:pt x="64139" y="50573"/>
                </a:lnTo>
                <a:lnTo>
                  <a:pt x="94886" y="27773"/>
                </a:lnTo>
                <a:lnTo>
                  <a:pt x="129491" y="11409"/>
                </a:lnTo>
                <a:lnTo>
                  <a:pt x="166622" y="2110"/>
                </a:lnTo>
                <a:lnTo>
                  <a:pt x="195262" y="0"/>
                </a:lnTo>
                <a:lnTo>
                  <a:pt x="204855" y="234"/>
                </a:lnTo>
                <a:lnTo>
                  <a:pt x="242718" y="5853"/>
                </a:lnTo>
                <a:lnTo>
                  <a:pt x="278759" y="18751"/>
                </a:lnTo>
                <a:lnTo>
                  <a:pt x="311590" y="38432"/>
                </a:lnTo>
                <a:lnTo>
                  <a:pt x="339951" y="64139"/>
                </a:lnTo>
                <a:lnTo>
                  <a:pt x="362751" y="94886"/>
                </a:lnTo>
                <a:lnTo>
                  <a:pt x="379115" y="129491"/>
                </a:lnTo>
                <a:lnTo>
                  <a:pt x="388414" y="166622"/>
                </a:lnTo>
                <a:lnTo>
                  <a:pt x="390525" y="195262"/>
                </a:lnTo>
                <a:lnTo>
                  <a:pt x="390290" y="204855"/>
                </a:lnTo>
                <a:lnTo>
                  <a:pt x="384671" y="242718"/>
                </a:lnTo>
                <a:lnTo>
                  <a:pt x="371773" y="278759"/>
                </a:lnTo>
                <a:lnTo>
                  <a:pt x="352092" y="311590"/>
                </a:lnTo>
                <a:lnTo>
                  <a:pt x="326385" y="339951"/>
                </a:lnTo>
                <a:lnTo>
                  <a:pt x="295638" y="362751"/>
                </a:lnTo>
                <a:lnTo>
                  <a:pt x="261033" y="379115"/>
                </a:lnTo>
                <a:lnTo>
                  <a:pt x="223902" y="388414"/>
                </a:lnTo>
                <a:lnTo>
                  <a:pt x="195262" y="390525"/>
                </a:lnTo>
                <a:close/>
              </a:path>
            </a:pathLst>
          </a:custGeom>
          <a:solidFill>
            <a:srgbClr val="99B83C"/>
          </a:solidFill>
        </p:spPr>
        <p:txBody>
          <a:bodyPr wrap="square" lIns="0" tIns="0" rIns="0" bIns="0" rtlCol="0"/>
          <a:p/>
        </p:txBody>
      </p:sp>
      <p:sp>
        <p:nvSpPr>
          <p:cNvPr id="30" name="object 27"/>
          <p:cNvSpPr/>
          <p:nvPr/>
        </p:nvSpPr>
        <p:spPr>
          <a:xfrm>
            <a:off x="1434465" y="7738745"/>
            <a:ext cx="309880" cy="246380"/>
          </a:xfrm>
          <a:custGeom>
            <a:avLst/>
            <a:gdLst/>
            <a:ahLst/>
            <a:cxnLst/>
            <a:rect l="l" t="t" r="r" b="b"/>
            <a:pathLst>
              <a:path w="309880" h="246379">
                <a:moveTo>
                  <a:pt x="106484" y="245757"/>
                </a:moveTo>
                <a:lnTo>
                  <a:pt x="0" y="139280"/>
                </a:lnTo>
                <a:lnTo>
                  <a:pt x="42426" y="96850"/>
                </a:lnTo>
                <a:lnTo>
                  <a:pt x="106484" y="160896"/>
                </a:lnTo>
                <a:lnTo>
                  <a:pt x="267365" y="0"/>
                </a:lnTo>
                <a:lnTo>
                  <a:pt x="309807" y="42422"/>
                </a:lnTo>
                <a:lnTo>
                  <a:pt x="106484" y="2457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p/>
        </p:txBody>
      </p:sp>
      <p:sp>
        <p:nvSpPr>
          <p:cNvPr id="31" name="Text Box 30"/>
          <p:cNvSpPr txBox="1"/>
          <p:nvPr/>
        </p:nvSpPr>
        <p:spPr>
          <a:xfrm>
            <a:off x="2819400" y="4610100"/>
            <a:ext cx="530288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 sz="2000" b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(A) Herbert Schildt, “C/C++, The Complete Reference”, 3rd Edition Osborne McGraw-Hill, ISBN 0-07-882476-1</a:t>
            </a:r>
            <a:endParaRPr lang="en-US" sz="2000" b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  <a:p>
            <a:pPr algn="just"/>
            <a:endParaRPr lang="en-US" sz="2000"/>
          </a:p>
          <a:p>
            <a:pPr algn="just"/>
            <a:r>
              <a:rPr lang="en-US" sz="2000"/>
              <a:t>(B) Bruce Eckel, “Thinking in C++”, 2nd Ed, Pearson Publication, ISBN 81-7808-297-7</a:t>
            </a:r>
            <a:endParaRPr lang="en-US" sz="2000"/>
          </a:p>
        </p:txBody>
      </p:sp>
      <p:sp>
        <p:nvSpPr>
          <p:cNvPr id="34" name="Text Box 33"/>
          <p:cNvSpPr txBox="1"/>
          <p:nvPr/>
        </p:nvSpPr>
        <p:spPr>
          <a:xfrm>
            <a:off x="1981200" y="4762500"/>
            <a:ext cx="6413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02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2057400" y="5905500"/>
            <a:ext cx="6413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03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2133600" y="7549515"/>
            <a:ext cx="6413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04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2178050" y="9139555"/>
            <a:ext cx="6413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05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61168"/>
            <a:ext cx="18288000" cy="5822315"/>
            <a:chOff x="0" y="4461168"/>
            <a:chExt cx="18288000" cy="5822315"/>
          </a:xfrm>
        </p:grpSpPr>
        <p:sp>
          <p:nvSpPr>
            <p:cNvPr id="3" name="object 3"/>
            <p:cNvSpPr/>
            <p:nvPr/>
          </p:nvSpPr>
          <p:spPr>
            <a:xfrm>
              <a:off x="0" y="7054168"/>
              <a:ext cx="18288000" cy="3228975"/>
            </a:xfrm>
            <a:custGeom>
              <a:avLst/>
              <a:gdLst/>
              <a:ahLst/>
              <a:cxnLst/>
              <a:rect l="l" t="t" r="r" b="b"/>
              <a:pathLst>
                <a:path w="18288000" h="3228975">
                  <a:moveTo>
                    <a:pt x="18288000" y="3228975"/>
                  </a:moveTo>
                  <a:lnTo>
                    <a:pt x="0" y="322897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3228975"/>
                  </a:lnTo>
                  <a:close/>
                </a:path>
              </a:pathLst>
            </a:custGeom>
            <a:solidFill>
              <a:srgbClr val="9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643846" y="4461168"/>
              <a:ext cx="4150343" cy="543165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283065" y="3235960"/>
            <a:ext cx="6761480" cy="120650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3200" b="1" spc="120" dirty="0">
                <a:latin typeface="Trebuchet MS" panose="020B0603020202020204"/>
                <a:cs typeface="Trebuchet MS" panose="020B0603020202020204"/>
              </a:rPr>
              <a:t>Office</a:t>
            </a:r>
            <a:r>
              <a:rPr sz="3200" b="1" spc="-1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b="1" spc="120" dirty="0">
                <a:latin typeface="Trebuchet MS" panose="020B0603020202020204"/>
                <a:cs typeface="Trebuchet MS" panose="020B0603020202020204"/>
              </a:rPr>
              <a:t>Hours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lang="en-US" altLang="en-US" sz="2400" spc="-160" dirty="0">
                <a:latin typeface="Trebuchet MS" panose="020B0603020202020204"/>
                <a:cs typeface="Trebuchet MS" panose="020B0603020202020204"/>
              </a:rPr>
              <a:t>12:30</a:t>
            </a:r>
            <a:r>
              <a:rPr sz="24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305" dirty="0">
                <a:latin typeface="Trebuchet MS" panose="020B0603020202020204"/>
                <a:cs typeface="Trebuchet MS" panose="020B0603020202020204"/>
              </a:rPr>
              <a:t>PM</a:t>
            </a:r>
            <a:r>
              <a:rPr sz="2400" spc="-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2400" spc="-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2400" spc="-155" dirty="0">
                <a:latin typeface="Trebuchet MS" panose="020B0603020202020204"/>
                <a:cs typeface="Trebuchet MS" panose="020B0603020202020204"/>
              </a:rPr>
              <a:t>2</a:t>
            </a:r>
            <a:r>
              <a:rPr sz="2400" spc="-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100" dirty="0">
                <a:latin typeface="Trebuchet MS" panose="020B0603020202020204"/>
                <a:cs typeface="Trebuchet MS" panose="020B0603020202020204"/>
              </a:rPr>
              <a:t>PM,</a:t>
            </a:r>
            <a:r>
              <a:rPr sz="2400" spc="-1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130" dirty="0">
                <a:latin typeface="Trebuchet MS" panose="020B0603020202020204"/>
                <a:cs typeface="Trebuchet MS" panose="020B0603020202020204"/>
              </a:rPr>
              <a:t>Monday</a:t>
            </a:r>
            <a:r>
              <a:rPr sz="2400" spc="-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75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2400" spc="-1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400" spc="75" dirty="0">
                <a:latin typeface="Trebuchet MS" panose="020B0603020202020204"/>
                <a:cs typeface="Trebuchet MS" panose="020B0603020202020204"/>
              </a:rPr>
              <a:t>Tuesday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00735" y="2941470"/>
            <a:ext cx="6762115" cy="0"/>
          </a:xfrm>
          <a:custGeom>
            <a:avLst/>
            <a:gdLst/>
            <a:ahLst/>
            <a:cxnLst/>
            <a:rect l="l" t="t" r="r" b="b"/>
            <a:pathLst>
              <a:path w="6762115">
                <a:moveTo>
                  <a:pt x="0" y="0"/>
                </a:moveTo>
                <a:lnTo>
                  <a:pt x="676202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873125"/>
            <a:ext cx="67132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60" dirty="0">
                <a:latin typeface="Trebuchet MS" panose="020B0603020202020204"/>
                <a:cs typeface="Trebuchet MS" panose="020B0603020202020204"/>
              </a:rPr>
              <a:t>Contact</a:t>
            </a:r>
            <a:r>
              <a:rPr spc="-4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pc="944" dirty="0">
                <a:latin typeface="Trebuchet MS" panose="020B0603020202020204"/>
                <a:cs typeface="Trebuchet MS" panose="020B0603020202020204"/>
              </a:rPr>
              <a:t>Me</a:t>
            </a:r>
            <a:endParaRPr spc="944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83272" y="976765"/>
            <a:ext cx="3568700" cy="1210310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3200" b="1" spc="70" dirty="0">
                <a:latin typeface="Trebuchet MS" panose="020B0603020202020204"/>
                <a:cs typeface="Trebuchet MS" panose="020B0603020202020204"/>
              </a:rPr>
              <a:t>Email</a:t>
            </a:r>
            <a:r>
              <a:rPr sz="3200" b="1" spc="-1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b="1" spc="200" dirty="0">
                <a:latin typeface="Trebuchet MS" panose="020B0603020202020204"/>
                <a:cs typeface="Trebuchet MS" panose="020B0603020202020204"/>
              </a:rPr>
              <a:t>Address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400" spc="-10" dirty="0">
                <a:latin typeface="Trebuchet MS" panose="020B0603020202020204"/>
                <a:cs typeface="Trebuchet MS" panose="020B0603020202020204"/>
                <a:hlinkClick r:id="rId2"/>
              </a:rPr>
              <a:t>nimra.abbas@bnu.edu.pk</a:t>
            </a:r>
            <a:endParaRPr sz="24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WPS Presentation</Application>
  <PresentationFormat>On-screen Show (4:3)</PresentationFormat>
  <Paragraphs>101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Liberation Sans Narrow</vt:lpstr>
      <vt:lpstr>Thonburi</vt:lpstr>
      <vt:lpstr>Comic Sans MS Regular</vt:lpstr>
      <vt:lpstr>Trebuchet MS</vt:lpstr>
      <vt:lpstr>Times New Roman</vt:lpstr>
      <vt:lpstr>Arial Black</vt:lpstr>
      <vt:lpstr>Arial</vt:lpstr>
      <vt:lpstr>Times New Roman</vt:lpstr>
      <vt:lpstr>Arial Bold</vt:lpstr>
      <vt:lpstr>Microsoft YaHei</vt:lpstr>
      <vt:lpstr>汉仪旗黑</vt:lpstr>
      <vt:lpstr>Calibri</vt:lpstr>
      <vt:lpstr>Helvetica Neue</vt:lpstr>
      <vt:lpstr>宋体-简</vt:lpstr>
      <vt:lpstr>Arial Unicode MS</vt:lpstr>
      <vt:lpstr>Office Theme</vt:lpstr>
      <vt:lpstr>Course Syllabus</vt:lpstr>
      <vt:lpstr>to OOP Course!</vt:lpstr>
      <vt:lpstr>PowerPoint 演示文稿</vt:lpstr>
      <vt:lpstr>About Me</vt:lpstr>
      <vt:lpstr>Course Details</vt:lpstr>
      <vt:lpstr>Course Overview</vt:lpstr>
      <vt:lpstr>Course Requirements</vt:lpstr>
      <vt:lpstr>Course Policies</vt:lpstr>
      <vt:lpstr>A. P J Deitel &amp;amp; H M Deitel, “C++ How to Program”, 10 th Ed., Prentice Hall, 2001. ISBN 0- 13-089571-7</vt:lpstr>
      <vt:lpstr>Contact 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Syllabus</dc:title>
  <dc:creator>Nimra Abbas</dc:creator>
  <cp:keywords>DAGP4gMx-9I,BAFtgmHLuck</cp:keywords>
  <cp:lastModifiedBy>Nimra Abbas</cp:lastModifiedBy>
  <cp:revision>14</cp:revision>
  <dcterms:created xsi:type="dcterms:W3CDTF">2024-09-24T04:44:22Z</dcterms:created>
  <dcterms:modified xsi:type="dcterms:W3CDTF">2024-09-24T04:44:22Z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2024-09-05T15:00:00Z</vt:filetime>
  </property>
  <property fmtid="{D5CDD505-2E9C-101B-9397-08002B2CF9AE}" pid="3" name="Creator">
    <vt:lpwstr>Canva</vt:lpwstr>
  </property>
  <property fmtid="{D5CDD505-2E9C-101B-9397-08002B2CF9AE}" pid="4" name="LastSaved">
    <vt:filetime>2024-09-09T15:00:00Z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KSOProductBuildVer">
    <vt:lpwstr>1033-5.7.0.8090</vt:lpwstr>
  </property>
</Properties>
</file>