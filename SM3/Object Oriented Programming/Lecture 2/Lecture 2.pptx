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658" r:id="rId5"/>
    <p:sldId id="690" r:id="rId6"/>
    <p:sldId id="656" r:id="rId7"/>
    <p:sldId id="580" r:id="rId8"/>
    <p:sldId id="691" r:id="rId9"/>
    <p:sldId id="560" r:id="rId10"/>
    <p:sldId id="617" r:id="rId11"/>
    <p:sldId id="692" r:id="rId12"/>
    <p:sldId id="618" r:id="rId13"/>
    <p:sldId id="693" r:id="rId14"/>
    <p:sldId id="694" r:id="rId15"/>
    <p:sldId id="695" r:id="rId16"/>
    <p:sldId id="619" r:id="rId17"/>
    <p:sldId id="620" r:id="rId18"/>
    <p:sldId id="621" r:id="rId19"/>
    <p:sldId id="622" r:id="rId20"/>
    <p:sldId id="562" r:id="rId21"/>
    <p:sldId id="563" r:id="rId22"/>
    <p:sldId id="568" r:id="rId23"/>
    <p:sldId id="569" r:id="rId24"/>
    <p:sldId id="570" r:id="rId25"/>
    <p:sldId id="571" r:id="rId26"/>
    <p:sldId id="572" r:id="rId27"/>
    <p:sldId id="573" r:id="rId28"/>
    <p:sldId id="564" r:id="rId29"/>
    <p:sldId id="696" r:id="rId30"/>
    <p:sldId id="565" r:id="rId31"/>
    <p:sldId id="697" r:id="rId32"/>
    <p:sldId id="457" r:id="rId33"/>
    <p:sldId id="458" r:id="rId34"/>
    <p:sldId id="698" r:id="rId35"/>
    <p:sldId id="459" r:id="rId36"/>
    <p:sldId id="699" r:id="rId37"/>
    <p:sldId id="700" r:id="rId38"/>
    <p:sldId id="701" r:id="rId39"/>
    <p:sldId id="702" r:id="rId40"/>
    <p:sldId id="703" r:id="rId41"/>
    <p:sldId id="704" r:id="rId42"/>
    <p:sldId id="705" r:id="rId43"/>
    <p:sldId id="706" r:id="rId44"/>
    <p:sldId id="460" r:id="rId45"/>
    <p:sldId id="461" r:id="rId46"/>
    <p:sldId id="462" r:id="rId47"/>
    <p:sldId id="41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Attributes/Fields/Properties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Attributes/Fields/Properties</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new method -&gt; constructor</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Also referred to as information hidinhg</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The rroot class is the Base CLASS</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The root class is the Base CLASS</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GI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16928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2</a:t>
            </a:r>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will cover in this course?</a:t>
            </a:r>
            <a:endParaRPr lang="en-US" dirty="0"/>
          </a:p>
        </p:txBody>
      </p:sp>
      <p:sp>
        <p:nvSpPr>
          <p:cNvPr id="3" name="Content Placeholder 2"/>
          <p:cNvSpPr/>
          <p:nvPr>
            <p:ph idx="1"/>
          </p:nvPr>
        </p:nvSpPr>
        <p:spPr>
          <a:xfrm>
            <a:off x="838200" y="1557020"/>
            <a:ext cx="10515600" cy="5137785"/>
          </a:xfrm>
        </p:spPr>
        <p:txBody>
          <a:bodyPr>
            <a:normAutofit/>
          </a:bodyPr>
          <a:p>
            <a:r>
              <a:rPr lang="en-US" sz="2000"/>
              <a:t>Abstratction</a:t>
            </a:r>
            <a:endParaRPr lang="en-US" sz="2000"/>
          </a:p>
          <a:p>
            <a:r>
              <a:rPr lang="en-US" sz="2000"/>
              <a:t>Inheritance</a:t>
            </a:r>
            <a:endParaRPr lang="en-US" sz="2000"/>
          </a:p>
          <a:p>
            <a:r>
              <a:rPr lang="en-US" sz="2000"/>
              <a:t>Encapsulation</a:t>
            </a:r>
            <a:endParaRPr lang="en-US" sz="2000"/>
          </a:p>
          <a:p>
            <a:r>
              <a:rPr lang="en-US" sz="2000"/>
              <a:t>Information hIDING</a:t>
            </a:r>
            <a:endParaRPr lang="en-US" sz="2000"/>
          </a:p>
          <a:p>
            <a:r>
              <a:rPr lang="en-US" sz="2000"/>
              <a:t>Aggregation</a:t>
            </a:r>
            <a:endParaRPr lang="en-US" sz="2000"/>
          </a:p>
          <a:p>
            <a:r>
              <a:rPr lang="en-US" sz="2000"/>
              <a:t>Association</a:t>
            </a:r>
            <a:endParaRPr lang="en-US" sz="2000"/>
          </a:p>
          <a:p>
            <a:r>
              <a:rPr lang="en-US" sz="2000"/>
              <a:t>Message Passing</a:t>
            </a:r>
            <a:endParaRPr lang="en-US" sz="2000"/>
          </a:p>
          <a:p>
            <a:r>
              <a:rPr lang="en-US" sz="2000"/>
              <a:t>Polymorphism (Binding, casting, OIverriding) and much more</a:t>
            </a:r>
            <a:endParaRPr lang="en-US" sz="2000"/>
          </a:p>
          <a:p>
            <a:pPr marL="0" indent="0">
              <a:buNone/>
            </a:pP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364490"/>
            <a:ext cx="10637520" cy="981710"/>
          </a:xfrm>
        </p:spPr>
        <p:txBody>
          <a:bodyPr/>
          <a:lstStyle/>
          <a:p>
            <a:r>
              <a:rPr lang="en-US" sz="3200" dirty="0" smtClean="0"/>
              <a:t>What is OOP? </a:t>
            </a:r>
            <a:endParaRPr lang="en-US" sz="3200" dirty="0"/>
          </a:p>
        </p:txBody>
      </p:sp>
      <p:sp>
        <p:nvSpPr>
          <p:cNvPr id="3" name="Content Placeholder 2"/>
          <p:cNvSpPr/>
          <p:nvPr>
            <p:ph idx="1"/>
          </p:nvPr>
        </p:nvSpPr>
        <p:spPr>
          <a:xfrm>
            <a:off x="716280" y="1346200"/>
            <a:ext cx="10820400" cy="5236210"/>
          </a:xfrm>
        </p:spPr>
        <p:txBody>
          <a:bodyPr/>
          <a:p>
            <a:r>
              <a:rPr lang="en-US" sz="2400"/>
              <a:t>OOP stands for Object-Oriented Programming.</a:t>
            </a:r>
            <a:endParaRPr lang="en-US" sz="2400"/>
          </a:p>
          <a:p>
            <a:pPr algn="just"/>
            <a:r>
              <a:rPr lang="en-US" sz="2400"/>
              <a:t>Procedural programming is about writing procedures or functions that perform operations on the data, while object-oriented programming is about creating objects that contain both data and functions.</a:t>
            </a:r>
            <a:endParaRPr lang="en-US" sz="2400"/>
          </a:p>
          <a:p>
            <a:pPr algn="just"/>
            <a:r>
              <a:rPr lang="en-US" sz="2400"/>
              <a:t>Object-oriented programming has several advantages over procedural programming:</a:t>
            </a:r>
            <a:endParaRPr lang="en-US" sz="2400"/>
          </a:p>
          <a:p>
            <a:pPr lvl="1" algn="just"/>
            <a:r>
              <a:rPr lang="en-US" sz="2055"/>
              <a:t>OOP is faster and easier to execute</a:t>
            </a:r>
            <a:endParaRPr lang="en-US" sz="2055"/>
          </a:p>
          <a:p>
            <a:pPr lvl="1" algn="just"/>
            <a:r>
              <a:rPr lang="en-US" sz="2055"/>
              <a:t>OOP provides a clear structure for the programs</a:t>
            </a:r>
            <a:endParaRPr lang="en-US" sz="2055"/>
          </a:p>
          <a:p>
            <a:pPr lvl="1" algn="just"/>
            <a:r>
              <a:rPr lang="en-US" sz="2055"/>
              <a:t>OOP helps to keep the C++ code DRY "Don't Repeat Yourself", and makes the code easier to maintain, modify and debug</a:t>
            </a:r>
            <a:endParaRPr lang="en-US" sz="2055"/>
          </a:p>
          <a:p>
            <a:pPr lvl="1" algn="just"/>
            <a:r>
              <a:rPr lang="en-US" sz="2055"/>
              <a:t>OOP makes it possible to create full reusable applications with less code and shorter development time</a:t>
            </a:r>
            <a:endParaRPr lang="en-US" sz="205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831080" cy="962025"/>
          </a:xfrm>
        </p:spPr>
        <p:txBody>
          <a:bodyPr>
            <a:normAutofit fontScale="90000"/>
          </a:bodyPr>
          <a:lstStyle/>
          <a:p>
            <a:r>
              <a:rPr lang="en-US" sz="2400" b="1" dirty="0">
                <a:latin typeface="Arial Bold" panose="020B0604020202020204" charset="0"/>
                <a:cs typeface="Arial Bold" panose="020B0604020202020204" charset="0"/>
              </a:rPr>
              <a:t>Object-Orientation - Advantages</a:t>
            </a:r>
            <a:r>
              <a:rPr lang="en-US" dirty="0"/>
              <a:t> </a:t>
            </a:r>
            <a:endParaRPr lang="en-US" dirty="0"/>
          </a:p>
        </p:txBody>
      </p:sp>
      <p:sp>
        <p:nvSpPr>
          <p:cNvPr id="3" name="Content Placeholder 2"/>
          <p:cNvSpPr>
            <a:spLocks noGrp="1"/>
          </p:cNvSpPr>
          <p:nvPr>
            <p:ph idx="1"/>
          </p:nvPr>
        </p:nvSpPr>
        <p:spPr/>
        <p:txBody>
          <a:bodyPr>
            <a:normAutofit lnSpcReduction="10000"/>
          </a:bodyPr>
          <a:lstStyle/>
          <a:p>
            <a:r>
              <a:rPr lang="en-US" dirty="0"/>
              <a:t>People think in terms of objects</a:t>
            </a:r>
            <a:endParaRPr lang="en-US" dirty="0"/>
          </a:p>
          <a:p>
            <a:endParaRPr lang="en-US" dirty="0"/>
          </a:p>
          <a:p>
            <a:r>
              <a:rPr lang="en-US" dirty="0"/>
              <a:t>OO models map to reality</a:t>
            </a:r>
            <a:endParaRPr lang="en-US" dirty="0"/>
          </a:p>
          <a:p>
            <a:endParaRPr lang="en-US" dirty="0"/>
          </a:p>
          <a:p>
            <a:r>
              <a:rPr lang="en-US" dirty="0"/>
              <a:t>Therefore, OO models are</a:t>
            </a:r>
            <a:endParaRPr lang="en-US" dirty="0"/>
          </a:p>
          <a:p>
            <a:pPr lvl="1"/>
            <a:r>
              <a:rPr lang="en-US" dirty="0"/>
              <a:t>easy to develop</a:t>
            </a:r>
            <a:endParaRPr lang="en-US" dirty="0"/>
          </a:p>
          <a:p>
            <a:pPr lvl="1"/>
            <a:r>
              <a:rPr lang="en-US" dirty="0"/>
              <a:t>easy to understand</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OO Model</a:t>
            </a:r>
            <a:endParaRPr lang="en-US" dirty="0"/>
          </a:p>
        </p:txBody>
      </p:sp>
      <p:sp>
        <p:nvSpPr>
          <p:cNvPr id="3" name="Content Placeholder 2"/>
          <p:cNvSpPr>
            <a:spLocks noGrp="1"/>
          </p:cNvSpPr>
          <p:nvPr>
            <p:ph idx="1"/>
          </p:nvPr>
        </p:nvSpPr>
        <p:spPr/>
        <p:txBody>
          <a:bodyPr>
            <a:normAutofit fontScale="92500" lnSpcReduction="10000"/>
          </a:bodyPr>
          <a:lstStyle/>
          <a:p>
            <a:r>
              <a:rPr lang="en-US" dirty="0"/>
              <a:t>Objects</a:t>
            </a:r>
            <a:endParaRPr lang="en-US" dirty="0"/>
          </a:p>
          <a:p>
            <a:pPr lvl="1"/>
            <a:r>
              <a:rPr lang="en-US" dirty="0"/>
              <a:t>Ali</a:t>
            </a:r>
            <a:endParaRPr lang="en-US" dirty="0"/>
          </a:p>
          <a:p>
            <a:pPr lvl="1"/>
            <a:r>
              <a:rPr lang="en-US" dirty="0"/>
              <a:t>House</a:t>
            </a:r>
            <a:endParaRPr lang="en-US" dirty="0"/>
          </a:p>
          <a:p>
            <a:pPr lvl="1"/>
            <a:r>
              <a:rPr lang="en-US" dirty="0" smtClean="0"/>
              <a:t>Car</a:t>
            </a:r>
            <a:endParaRPr lang="en-US" dirty="0" smtClean="0"/>
          </a:p>
          <a:p>
            <a:pPr lvl="1"/>
            <a:r>
              <a:rPr lang="en-US" dirty="0" smtClean="0"/>
              <a:t>Tree</a:t>
            </a:r>
            <a:endParaRPr lang="en-US" dirty="0"/>
          </a:p>
          <a:p>
            <a:r>
              <a:rPr lang="en-US" dirty="0"/>
              <a:t>Interactions</a:t>
            </a:r>
            <a:endParaRPr lang="en-US" dirty="0"/>
          </a:p>
          <a:p>
            <a:pPr lvl="1"/>
            <a:r>
              <a:rPr lang="en-US" dirty="0"/>
              <a:t>Ali lives in the house</a:t>
            </a:r>
            <a:endParaRPr lang="en-US" dirty="0"/>
          </a:p>
          <a:p>
            <a:pPr lvl="1"/>
            <a:r>
              <a:rPr lang="en-US" dirty="0"/>
              <a:t>Ali drives the car</a:t>
            </a:r>
            <a:endParaRPr lang="en-US" dirty="0"/>
          </a:p>
          <a:p>
            <a:endParaRPr lang="en-US" dirty="0"/>
          </a:p>
        </p:txBody>
      </p:sp>
      <p:pic>
        <p:nvPicPr>
          <p:cNvPr id="4" name="Picture 3"/>
          <p:cNvPicPr>
            <a:picLocks noChangeAspect="1"/>
          </p:cNvPicPr>
          <p:nvPr/>
        </p:nvPicPr>
        <p:blipFill>
          <a:blip r:embed="rId1"/>
          <a:stretch>
            <a:fillRect/>
          </a:stretch>
        </p:blipFill>
        <p:spPr>
          <a:xfrm>
            <a:off x="4914385" y="2625725"/>
            <a:ext cx="5905500" cy="3181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Image 27-09-2024 at 1.28 PM"/>
          <p:cNvPicPr>
            <a:picLocks noChangeAspect="1"/>
          </p:cNvPicPr>
          <p:nvPr>
            <p:ph idx="1"/>
          </p:nvPr>
        </p:nvPicPr>
        <p:blipFill>
          <a:blip r:embed="rId1"/>
          <a:stretch>
            <a:fillRect/>
          </a:stretch>
        </p:blipFill>
        <p:spPr>
          <a:xfrm>
            <a:off x="2818765" y="1934210"/>
            <a:ext cx="6553200" cy="350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Classes and Objects</a:t>
            </a:r>
            <a:endParaRPr lang="en-US"/>
          </a:p>
        </p:txBody>
      </p:sp>
      <p:sp>
        <p:nvSpPr>
          <p:cNvPr id="3" name="Content Placeholder 2"/>
          <p:cNvSpPr>
            <a:spLocks noGrp="1"/>
          </p:cNvSpPr>
          <p:nvPr>
            <p:ph idx="1"/>
          </p:nvPr>
        </p:nvSpPr>
        <p:spPr/>
        <p:txBody>
          <a:bodyPr/>
          <a:p>
            <a:r>
              <a:rPr lang="en-US"/>
              <a:t>Objects are entities in the real world</a:t>
            </a:r>
            <a:endParaRPr lang="en-US"/>
          </a:p>
          <a:p>
            <a:r>
              <a:rPr lang="en-US"/>
              <a:t>Class is like a blueprint of these entities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endParaRPr lang="en-US" dirty="0"/>
          </a:p>
        </p:txBody>
      </p:sp>
      <p:pic>
        <p:nvPicPr>
          <p:cNvPr id="4" name="Content Placeholder 3"/>
          <p:cNvPicPr>
            <a:picLocks noGrp="1" noChangeAspect="1"/>
          </p:cNvPicPr>
          <p:nvPr>
            <p:ph idx="1"/>
          </p:nvPr>
        </p:nvPicPr>
        <p:blipFill>
          <a:blip r:embed="rId1"/>
          <a:stretch>
            <a:fillRect/>
          </a:stretch>
        </p:blipFill>
        <p:spPr>
          <a:xfrm>
            <a:off x="1466336" y="2669060"/>
            <a:ext cx="9201664" cy="33775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Image 27-09-2024 at 1.29 PM"/>
          <p:cNvPicPr>
            <a:picLocks noChangeAspect="1"/>
          </p:cNvPicPr>
          <p:nvPr>
            <p:ph idx="1"/>
          </p:nvPr>
        </p:nvPicPr>
        <p:blipFill>
          <a:blip r:embed="rId1"/>
          <a:stretch>
            <a:fillRect/>
          </a:stretch>
        </p:blipFill>
        <p:spPr>
          <a:xfrm>
            <a:off x="832485" y="1258570"/>
            <a:ext cx="10140950" cy="49187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Object?</a:t>
            </a:r>
            <a:endParaRPr lang="en-US" dirty="0"/>
          </a:p>
        </p:txBody>
      </p:sp>
      <p:sp>
        <p:nvSpPr>
          <p:cNvPr id="3" name="Content Placeholder 2"/>
          <p:cNvSpPr>
            <a:spLocks noGrp="1"/>
          </p:cNvSpPr>
          <p:nvPr>
            <p:ph idx="1"/>
          </p:nvPr>
        </p:nvSpPr>
        <p:spPr/>
        <p:txBody>
          <a:bodyPr>
            <a:normAutofit fontScale="85000" lnSpcReduction="20000"/>
          </a:bodyPr>
          <a:lstStyle/>
          <a:p>
            <a:pPr>
              <a:buNone/>
              <a:defRPr/>
            </a:pPr>
            <a:r>
              <a:rPr lang="en-US" dirty="0"/>
              <a:t>An object </a:t>
            </a:r>
            <a:r>
              <a:rPr lang="en-US" dirty="0" smtClean="0"/>
              <a:t>is</a:t>
            </a:r>
            <a:endParaRPr lang="en-US" dirty="0"/>
          </a:p>
          <a:p>
            <a:pPr>
              <a:defRPr/>
            </a:pPr>
            <a:r>
              <a:rPr lang="en-US" dirty="0"/>
              <a:t>Something tangible (Ali, Car</a:t>
            </a:r>
            <a:r>
              <a:rPr lang="en-US" dirty="0" smtClean="0"/>
              <a:t>)</a:t>
            </a:r>
            <a:endParaRPr lang="en-US" dirty="0"/>
          </a:p>
          <a:p>
            <a:pPr>
              <a:defRPr/>
            </a:pPr>
            <a:r>
              <a:rPr lang="en-US" dirty="0"/>
              <a:t>Something that can be apprehended intellectually (Time, Date</a:t>
            </a:r>
            <a:r>
              <a:rPr lang="en-US" dirty="0" smtClean="0"/>
              <a:t>)</a:t>
            </a:r>
            <a:endParaRPr lang="en-US" dirty="0" smtClean="0"/>
          </a:p>
          <a:p>
            <a:pPr marL="0" indent="0">
              <a:buNone/>
              <a:defRPr/>
            </a:pPr>
            <a:endParaRPr lang="en-US" dirty="0"/>
          </a:p>
          <a:p>
            <a:pPr>
              <a:buNone/>
              <a:defRPr/>
            </a:pPr>
            <a:r>
              <a:rPr lang="en-US" dirty="0"/>
              <a:t>An object </a:t>
            </a:r>
            <a:r>
              <a:rPr lang="en-US" dirty="0" smtClean="0"/>
              <a:t>has</a:t>
            </a:r>
            <a:endParaRPr lang="en-US" dirty="0"/>
          </a:p>
          <a:p>
            <a:pPr>
              <a:defRPr/>
            </a:pPr>
            <a:r>
              <a:rPr lang="en-US" dirty="0"/>
              <a:t>State (attributes)</a:t>
            </a:r>
            <a:endParaRPr lang="en-US" dirty="0"/>
          </a:p>
          <a:p>
            <a:pPr>
              <a:defRPr/>
            </a:pPr>
            <a:r>
              <a:rPr lang="en-US" dirty="0"/>
              <a:t>Well-defined </a:t>
            </a:r>
            <a:r>
              <a:rPr lang="en-US" dirty="0" err="1"/>
              <a:t>behaviour</a:t>
            </a:r>
            <a:r>
              <a:rPr lang="en-US" dirty="0"/>
              <a:t> (operations)</a:t>
            </a:r>
            <a:endParaRPr lang="en-US" dirty="0"/>
          </a:p>
          <a:p>
            <a:pPr>
              <a:defRPr/>
            </a:pPr>
            <a:r>
              <a:rPr lang="en-US" dirty="0"/>
              <a:t>Unique identity</a:t>
            </a:r>
            <a:endParaRPr lang="en-US" dirty="0"/>
          </a:p>
          <a:p>
            <a:pPr>
              <a:defRPr/>
            </a:pP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p:nvPr>
            <p:ph idx="1"/>
          </p:nvPr>
        </p:nvSpPr>
        <p:spPr>
          <a:xfrm>
            <a:off x="838200" y="1196975"/>
            <a:ext cx="10515600" cy="4980305"/>
          </a:xfrm>
        </p:spPr>
        <p:txBody>
          <a:bodyPr/>
          <a:p>
            <a:r>
              <a:rPr lang="en-US"/>
              <a:t>Attributes describe the objects. They are sometimes referred to as fields because they contain data </a:t>
            </a:r>
            <a:endParaRPr lang="en-US"/>
          </a:p>
          <a:p>
            <a:r>
              <a:rPr lang="en-US"/>
              <a:t>These are coded within the class </a:t>
            </a:r>
            <a:endParaRPr lang="en-US"/>
          </a:p>
          <a:p>
            <a:r>
              <a:rPr lang="en-US"/>
              <a:t>Operations are actions that can be done to or performed by the object. They are sometimes refered to as behaviours but more commonly they are known as </a:t>
            </a:r>
            <a:r>
              <a:rPr lang="en-US">
                <a:solidFill>
                  <a:srgbClr val="FF0000"/>
                </a:solidFill>
              </a:rPr>
              <a:t>methods</a:t>
            </a:r>
            <a:r>
              <a:rPr lang="en-US"/>
              <a:t> </a:t>
            </a:r>
            <a:endParaRPr lang="en-US"/>
          </a:p>
          <a:p>
            <a:r>
              <a:rPr lang="en-US"/>
              <a:t>Methods are programs within the class that are coded either as procedures or functions </a:t>
            </a:r>
            <a:endParaRPr lang="en-US"/>
          </a:p>
          <a:p>
            <a:r>
              <a:rPr lang="en-US"/>
              <a:t>A class is a template for creating objects </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27-09-2024 at 1.36 PM"/>
          <p:cNvPicPr>
            <a:picLocks noChangeAspect="1"/>
          </p:cNvPicPr>
          <p:nvPr>
            <p:ph idx="1"/>
          </p:nvPr>
        </p:nvPicPr>
        <p:blipFill>
          <a:blip r:embed="rId1"/>
          <a:stretch>
            <a:fillRect/>
          </a:stretch>
        </p:blipFill>
        <p:spPr>
          <a:xfrm>
            <a:off x="838200" y="1903730"/>
            <a:ext cx="10515600" cy="34277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27-09-2024 at 1.37 PM"/>
          <p:cNvPicPr>
            <a:picLocks noChangeAspect="1"/>
          </p:cNvPicPr>
          <p:nvPr>
            <p:ph idx="1"/>
          </p:nvPr>
        </p:nvPicPr>
        <p:blipFill>
          <a:blip r:embed="rId1"/>
          <a:stretch>
            <a:fillRect/>
          </a:stretch>
        </p:blipFill>
        <p:spPr>
          <a:xfrm>
            <a:off x="838200" y="1831975"/>
            <a:ext cx="10515600" cy="3194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Concept: An object has behaviors</a:t>
            </a:r>
            <a:endParaRPr lang="en-US" dirty="0"/>
          </a:p>
        </p:txBody>
      </p:sp>
      <p:sp>
        <p:nvSpPr>
          <p:cNvPr id="3" name="Content Placeholder 2"/>
          <p:cNvSpPr>
            <a:spLocks noGrp="1"/>
          </p:cNvSpPr>
          <p:nvPr>
            <p:ph idx="1"/>
          </p:nvPr>
        </p:nvSpPr>
        <p:spPr/>
        <p:txBody>
          <a:bodyPr>
            <a:normAutofit/>
          </a:bodyPr>
          <a:lstStyle/>
          <a:p>
            <a:r>
              <a:rPr lang="en-US" altLang="en-US" sz="3200" dirty="0"/>
              <a:t>An</a:t>
            </a:r>
            <a:r>
              <a:rPr lang="en-US" altLang="en-US" sz="3200" b="1" dirty="0"/>
              <a:t> </a:t>
            </a:r>
            <a:r>
              <a:rPr lang="en-US" altLang="en-US" sz="3200" b="1" dirty="0">
                <a:solidFill>
                  <a:schemeClr val="tx2"/>
                </a:solidFill>
              </a:rPr>
              <a:t>object</a:t>
            </a:r>
            <a:r>
              <a:rPr lang="en-US" altLang="en-US" sz="3200" b="1" dirty="0"/>
              <a:t> </a:t>
            </a:r>
            <a:r>
              <a:rPr lang="en-US" altLang="en-US" sz="3200" dirty="0"/>
              <a:t>contains both </a:t>
            </a:r>
            <a:r>
              <a:rPr lang="en-US" altLang="en-US" sz="3200" b="1" dirty="0"/>
              <a:t>data </a:t>
            </a:r>
            <a:r>
              <a:rPr lang="en-US" altLang="en-US" sz="3200" dirty="0"/>
              <a:t>and </a:t>
            </a:r>
            <a:r>
              <a:rPr lang="en-US" altLang="en-US" sz="3200" b="1" dirty="0">
                <a:solidFill>
                  <a:schemeClr val="tx2"/>
                </a:solidFill>
              </a:rPr>
              <a:t>methods</a:t>
            </a:r>
            <a:r>
              <a:rPr lang="en-US" altLang="en-US" sz="3200" b="1" dirty="0"/>
              <a:t> </a:t>
            </a:r>
            <a:r>
              <a:rPr lang="en-US" altLang="en-US" sz="3200" dirty="0"/>
              <a:t>that manipulate that data</a:t>
            </a:r>
            <a:endParaRPr lang="en-US" altLang="en-US" sz="3200" dirty="0"/>
          </a:p>
          <a:p>
            <a:pPr lvl="1" algn="just"/>
            <a:r>
              <a:rPr lang="en-US" altLang="en-US" sz="2800" dirty="0"/>
              <a:t>An object is </a:t>
            </a:r>
            <a:r>
              <a:rPr lang="en-US" altLang="en-US" sz="2800" i="1" dirty="0"/>
              <a:t>active,</a:t>
            </a:r>
            <a:r>
              <a:rPr lang="en-US" altLang="en-US" sz="2800" dirty="0"/>
              <a:t> not passive; it </a:t>
            </a:r>
            <a:r>
              <a:rPr lang="en-US" altLang="en-US" sz="2800" i="1" dirty="0"/>
              <a:t>does</a:t>
            </a:r>
            <a:r>
              <a:rPr lang="en-US" altLang="en-US" sz="2800" dirty="0"/>
              <a:t> things</a:t>
            </a:r>
            <a:endParaRPr lang="en-US" altLang="en-US" sz="2800" dirty="0"/>
          </a:p>
          <a:p>
            <a:pPr lvl="1" algn="just"/>
            <a:r>
              <a:rPr lang="en-US" altLang="en-US" sz="2800" dirty="0"/>
              <a:t>An object is </a:t>
            </a:r>
            <a:r>
              <a:rPr lang="en-US" altLang="en-US" sz="2800" i="1" dirty="0"/>
              <a:t>responsible</a:t>
            </a:r>
            <a:r>
              <a:rPr lang="en-US" altLang="en-US" sz="2800" dirty="0"/>
              <a:t> for its own data</a:t>
            </a:r>
            <a:endParaRPr lang="en-US" altLang="en-US" sz="2800" dirty="0"/>
          </a:p>
          <a:p>
            <a:pPr lvl="2" algn="just"/>
            <a:r>
              <a:rPr lang="en-US" altLang="en-US" sz="2400" dirty="0"/>
              <a:t>But: it can </a:t>
            </a:r>
            <a:r>
              <a:rPr lang="en-US" altLang="en-US" sz="2400" i="1" dirty="0"/>
              <a:t>expose</a:t>
            </a:r>
            <a:r>
              <a:rPr lang="en-US" altLang="en-US" sz="2400" dirty="0"/>
              <a:t> that data to other </a:t>
            </a:r>
            <a:r>
              <a:rPr lang="en-US" altLang="en-US" sz="2400" dirty="0" smtClean="0"/>
              <a:t>objects</a:t>
            </a:r>
            <a:endParaRPr lang="en-US"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Ali is a Tangible Object</a:t>
            </a:r>
            <a:endParaRPr lang="en-US" dirty="0"/>
          </a:p>
        </p:txBody>
      </p:sp>
      <p:sp>
        <p:nvSpPr>
          <p:cNvPr id="3" name="Content Placeholder 2"/>
          <p:cNvSpPr>
            <a:spLocks noGrp="1"/>
          </p:cNvSpPr>
          <p:nvPr>
            <p:ph idx="1"/>
          </p:nvPr>
        </p:nvSpPr>
        <p:spPr/>
        <p:txBody>
          <a:bodyPr>
            <a:normAutofit fontScale="92500" lnSpcReduction="10000"/>
          </a:bodyPr>
          <a:lstStyle/>
          <a:p>
            <a:pPr>
              <a:defRPr/>
            </a:pPr>
            <a:r>
              <a:rPr lang="en-US" dirty="0"/>
              <a:t>State (attributes)</a:t>
            </a:r>
            <a:endParaRPr lang="en-US" dirty="0"/>
          </a:p>
          <a:p>
            <a:pPr lvl="1">
              <a:defRPr/>
            </a:pPr>
            <a:r>
              <a:rPr lang="en-US" dirty="0"/>
              <a:t>Name</a:t>
            </a:r>
            <a:endParaRPr lang="en-US" dirty="0"/>
          </a:p>
          <a:p>
            <a:pPr lvl="1">
              <a:defRPr/>
            </a:pPr>
            <a:r>
              <a:rPr lang="en-US" dirty="0"/>
              <a:t>Age</a:t>
            </a:r>
            <a:endParaRPr lang="en-US" dirty="0"/>
          </a:p>
          <a:p>
            <a:pPr>
              <a:defRPr/>
            </a:pPr>
            <a:r>
              <a:rPr lang="en-US" dirty="0" smtClean="0"/>
              <a:t>Behavior </a:t>
            </a:r>
            <a:r>
              <a:rPr lang="en-US" dirty="0"/>
              <a:t>(operations)</a:t>
            </a:r>
            <a:endParaRPr lang="en-US" dirty="0"/>
          </a:p>
          <a:p>
            <a:pPr lvl="1">
              <a:defRPr/>
            </a:pPr>
            <a:r>
              <a:rPr lang="en-US" dirty="0"/>
              <a:t>Walks</a:t>
            </a:r>
            <a:endParaRPr lang="en-US" dirty="0"/>
          </a:p>
          <a:p>
            <a:pPr lvl="1">
              <a:defRPr/>
            </a:pPr>
            <a:r>
              <a:rPr lang="en-US" dirty="0"/>
              <a:t>Eats</a:t>
            </a:r>
            <a:endParaRPr lang="en-US" dirty="0"/>
          </a:p>
          <a:p>
            <a:pPr>
              <a:defRPr/>
            </a:pPr>
            <a:r>
              <a:rPr lang="en-US" dirty="0"/>
              <a:t>Identity</a:t>
            </a:r>
            <a:endParaRPr lang="en-US" dirty="0"/>
          </a:p>
          <a:p>
            <a:pPr lvl="1">
              <a:defRPr/>
            </a:pPr>
            <a:r>
              <a:rPr lang="en-US" dirty="0"/>
              <a:t>His </a:t>
            </a:r>
            <a:r>
              <a:rPr lang="en-US" dirty="0" smtClean="0"/>
              <a:t>name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Car is a Tangible Object</a:t>
            </a:r>
            <a:endParaRPr lang="en-US" dirty="0"/>
          </a:p>
        </p:txBody>
      </p:sp>
      <p:sp>
        <p:nvSpPr>
          <p:cNvPr id="3" name="Content Placeholder 2"/>
          <p:cNvSpPr>
            <a:spLocks noGrp="1"/>
          </p:cNvSpPr>
          <p:nvPr>
            <p:ph idx="1"/>
          </p:nvPr>
        </p:nvSpPr>
        <p:spPr/>
        <p:txBody>
          <a:bodyPr>
            <a:normAutofit fontScale="92500" lnSpcReduction="10000"/>
          </a:bodyPr>
          <a:lstStyle/>
          <a:p>
            <a:pPr>
              <a:defRPr/>
            </a:pPr>
            <a:r>
              <a:rPr lang="en-US" dirty="0"/>
              <a:t>State (attributes)</a:t>
            </a:r>
            <a:endParaRPr lang="en-US" dirty="0"/>
          </a:p>
          <a:p>
            <a:pPr lvl="1">
              <a:buNone/>
              <a:defRPr/>
            </a:pPr>
            <a:r>
              <a:rPr lang="en-US" dirty="0"/>
              <a:t>- Color</a:t>
            </a:r>
            <a:endParaRPr lang="en-US" dirty="0"/>
          </a:p>
          <a:p>
            <a:pPr lvl="1">
              <a:buNone/>
              <a:defRPr/>
            </a:pPr>
            <a:r>
              <a:rPr lang="en-US" dirty="0"/>
              <a:t>- Model</a:t>
            </a:r>
            <a:endParaRPr lang="en-US" dirty="0"/>
          </a:p>
          <a:p>
            <a:pPr>
              <a:defRPr/>
            </a:pPr>
            <a:r>
              <a:rPr lang="en-US" dirty="0" smtClean="0"/>
              <a:t>Behavior </a:t>
            </a:r>
            <a:r>
              <a:rPr lang="en-US" dirty="0"/>
              <a:t>(operations)</a:t>
            </a:r>
            <a:endParaRPr lang="en-US" dirty="0"/>
          </a:p>
          <a:p>
            <a:pPr lvl="1">
              <a:buNone/>
              <a:defRPr/>
            </a:pPr>
            <a:r>
              <a:rPr lang="en-US" dirty="0"/>
              <a:t>- Accelerate		- Start Car</a:t>
            </a:r>
            <a:endParaRPr lang="en-US" dirty="0"/>
          </a:p>
          <a:p>
            <a:pPr lvl="1">
              <a:buNone/>
              <a:defRPr/>
            </a:pPr>
            <a:r>
              <a:rPr lang="en-US" dirty="0"/>
              <a:t>- Change Gear</a:t>
            </a:r>
            <a:endParaRPr lang="en-US" dirty="0"/>
          </a:p>
          <a:p>
            <a:pPr>
              <a:defRPr/>
            </a:pPr>
            <a:r>
              <a:rPr lang="en-US" dirty="0"/>
              <a:t>Identity</a:t>
            </a:r>
            <a:endParaRPr lang="en-US" dirty="0"/>
          </a:p>
          <a:p>
            <a:pPr lvl="1">
              <a:buNone/>
              <a:defRPr/>
            </a:pPr>
            <a:r>
              <a:rPr lang="en-US" dirty="0"/>
              <a:t>- Its registration </a:t>
            </a:r>
            <a:r>
              <a:rPr lang="en-US" dirty="0" smtClean="0"/>
              <a:t>number</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Practise</a:t>
            </a:r>
            <a:endParaRPr lang="en-US" dirty="0"/>
          </a:p>
        </p:txBody>
      </p:sp>
      <p:sp>
        <p:nvSpPr>
          <p:cNvPr id="3" name="Content Placeholder 2"/>
          <p:cNvSpPr>
            <a:spLocks noGrp="1"/>
          </p:cNvSpPr>
          <p:nvPr>
            <p:ph idx="1"/>
          </p:nvPr>
        </p:nvSpPr>
        <p:spPr/>
        <p:txBody>
          <a:bodyPr>
            <a:normAutofit lnSpcReduction="10000"/>
          </a:bodyPr>
          <a:lstStyle/>
          <a:p>
            <a:pPr>
              <a:defRPr/>
            </a:pPr>
            <a:r>
              <a:rPr lang="en-US" dirty="0"/>
              <a:t>Smartphone ?</a:t>
            </a:r>
            <a:endParaRPr lang="en-US" dirty="0"/>
          </a:p>
          <a:p>
            <a:pPr marL="0" indent="0">
              <a:buNone/>
              <a:defRPr/>
            </a:pPr>
            <a:r>
              <a:rPr lang="en-US" dirty="0"/>
              <a:t>Tell me what are its attributes ?</a:t>
            </a:r>
            <a:endParaRPr lang="en-US" dirty="0"/>
          </a:p>
          <a:p>
            <a:pPr marL="0" indent="0">
              <a:buNone/>
              <a:defRPr/>
            </a:pPr>
            <a:r>
              <a:rPr lang="en-US" dirty="0"/>
              <a:t>Its behaviour? </a:t>
            </a:r>
            <a:endParaRPr lang="en-US" sz="20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106160" cy="719455"/>
          </a:xfrm>
        </p:spPr>
        <p:txBody>
          <a:bodyPr>
            <a:normAutofit/>
          </a:bodyPr>
          <a:lstStyle/>
          <a:p>
            <a:r>
              <a:rPr lang="en-US" sz="2400" b="1" dirty="0">
                <a:latin typeface="Arial Bold" panose="020B0604020202020204" charset="0"/>
                <a:cs typeface="Arial Bold" panose="020B0604020202020204" charset="0"/>
              </a:rPr>
              <a:t>What are Classes and Objects?(Cont...) </a:t>
            </a:r>
            <a:endParaRPr lang="en-US" sz="2400" b="1" dirty="0">
              <a:latin typeface="Arial Bold" panose="020B0604020202020204" charset="0"/>
              <a:cs typeface="Arial Bold" panose="020B0604020202020204" charset="0"/>
            </a:endParaRPr>
          </a:p>
        </p:txBody>
      </p:sp>
      <p:pic>
        <p:nvPicPr>
          <p:cNvPr id="5" name="Content Placeholder 4" descr="Image 16-09-2024 at 4.32 PM"/>
          <p:cNvPicPr>
            <a:picLocks noChangeAspect="1"/>
          </p:cNvPicPr>
          <p:nvPr>
            <p:ph idx="1"/>
          </p:nvPr>
        </p:nvPicPr>
        <p:blipFill>
          <a:blip r:embed="rId1"/>
          <a:stretch>
            <a:fillRect/>
          </a:stretch>
        </p:blipFill>
        <p:spPr>
          <a:xfrm>
            <a:off x="605790" y="1084580"/>
            <a:ext cx="10980420" cy="3603625"/>
          </a:xfrm>
          <a:prstGeom prst="rect">
            <a:avLst/>
          </a:prstGeom>
        </p:spPr>
      </p:pic>
      <p:sp>
        <p:nvSpPr>
          <p:cNvPr id="6" name="Text Box 5"/>
          <p:cNvSpPr txBox="1"/>
          <p:nvPr/>
        </p:nvSpPr>
        <p:spPr>
          <a:xfrm>
            <a:off x="838835" y="4874260"/>
            <a:ext cx="10621645" cy="1198880"/>
          </a:xfrm>
          <a:prstGeom prst="rect">
            <a:avLst/>
          </a:prstGeom>
          <a:noFill/>
        </p:spPr>
        <p:txBody>
          <a:bodyPr wrap="square" rtlCol="0" anchor="t">
            <a:spAutoFit/>
          </a:bodyPr>
          <a:p>
            <a:pPr algn="just"/>
            <a:r>
              <a:rPr lang="en-US"/>
              <a:t>So, a class is a template for objects, and an object is an instance of a class.</a:t>
            </a:r>
            <a:endParaRPr lang="en-US"/>
          </a:p>
          <a:p>
            <a:pPr algn="just"/>
            <a:endParaRPr lang="en-US"/>
          </a:p>
          <a:p>
            <a:pPr algn="just"/>
            <a:r>
              <a:rPr lang="en-US"/>
              <a:t>When the individual objects are created, they inherit all the variables and functions from the class.</a:t>
            </a:r>
            <a:endParaRPr lang="en-US"/>
          </a:p>
          <a:p>
            <a:pPr algn="just"/>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and Object</a:t>
            </a:r>
            <a:endParaRPr lang="en-US" dirty="0"/>
          </a:p>
        </p:txBody>
      </p:sp>
      <p:sp>
        <p:nvSpPr>
          <p:cNvPr id="3" name="Content Placeholder 2"/>
          <p:cNvSpPr>
            <a:spLocks noGrp="1"/>
          </p:cNvSpPr>
          <p:nvPr>
            <p:ph idx="1"/>
          </p:nvPr>
        </p:nvSpPr>
        <p:spPr/>
        <p:txBody>
          <a:bodyPr/>
          <a:lstStyle/>
          <a:p>
            <a:r>
              <a:rPr lang="en-US" dirty="0" smtClean="0"/>
              <a:t>A </a:t>
            </a:r>
            <a:r>
              <a:rPr lang="en-US" b="1" dirty="0"/>
              <a:t>class </a:t>
            </a:r>
            <a:r>
              <a:rPr lang="en-US" dirty="0"/>
              <a:t>is a data type that allows programmers to create objects. A class provides a definition for an object, describing an object’s attributes (data) and methods (operations</a:t>
            </a:r>
            <a:r>
              <a:rPr lang="en-US" dirty="0" smtClean="0"/>
              <a:t>).</a:t>
            </a:r>
            <a:endParaRPr lang="en-US" dirty="0" smtClean="0"/>
          </a:p>
          <a:p>
            <a:endParaRPr lang="en-US" dirty="0"/>
          </a:p>
          <a:p>
            <a:r>
              <a:rPr lang="en-US" dirty="0" smtClean="0"/>
              <a:t>An </a:t>
            </a:r>
            <a:r>
              <a:rPr lang="en-US" b="1" dirty="0"/>
              <a:t>object </a:t>
            </a:r>
            <a:r>
              <a:rPr lang="en-US" dirty="0"/>
              <a:t>is an </a:t>
            </a:r>
            <a:r>
              <a:rPr lang="en-US" i="1" dirty="0"/>
              <a:t>instance </a:t>
            </a:r>
            <a:r>
              <a:rPr lang="en-US" dirty="0"/>
              <a:t>of a class. With one class, you can have as many objects as required </a:t>
            </a:r>
            <a:br>
              <a:rPr lang="en-US" dirty="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US" dirty="0"/>
          </a:p>
        </p:txBody>
      </p:sp>
      <p:sp>
        <p:nvSpPr>
          <p:cNvPr id="5" name="Content Placeholder 4"/>
          <p:cNvSpPr>
            <a:spLocks noGrp="1"/>
          </p:cNvSpPr>
          <p:nvPr>
            <p:ph idx="1"/>
          </p:nvPr>
        </p:nvSpPr>
        <p:spPr/>
        <p:txBody>
          <a:bodyPr/>
          <a:lstStyle/>
          <a:p>
            <a:r>
              <a:rPr lang="en-US" dirty="0" smtClean="0"/>
              <a:t>Library Management System</a:t>
            </a:r>
            <a:endParaRPr lang="en-US" dirty="0" smtClean="0"/>
          </a:p>
          <a:p>
            <a:pPr lvl="1"/>
            <a:r>
              <a:rPr lang="en-US" dirty="0" smtClean="0">
                <a:solidFill>
                  <a:srgbClr val="FF0000"/>
                </a:solidFill>
              </a:rPr>
              <a:t>What are the main objects in this system?</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US" dirty="0"/>
          </a:p>
        </p:txBody>
      </p:sp>
      <p:sp>
        <p:nvSpPr>
          <p:cNvPr id="5" name="Content Placeholder 4"/>
          <p:cNvSpPr>
            <a:spLocks noGrp="1"/>
          </p:cNvSpPr>
          <p:nvPr>
            <p:ph idx="1"/>
          </p:nvPr>
        </p:nvSpPr>
        <p:spPr/>
        <p:txBody>
          <a:bodyPr/>
          <a:lstStyle/>
          <a:p>
            <a:r>
              <a:rPr lang="en-US" dirty="0" smtClean="0"/>
              <a:t>Library Management System</a:t>
            </a:r>
            <a:endParaRPr lang="en-US" dirty="0" smtClean="0"/>
          </a:p>
          <a:p>
            <a:pPr lvl="1"/>
            <a:r>
              <a:rPr lang="en-US" dirty="0" smtClean="0"/>
              <a:t>What are the main objects in this system?</a:t>
            </a:r>
            <a:endParaRPr lang="en-US" dirty="0" smtClean="0"/>
          </a:p>
          <a:p>
            <a:pPr lvl="2"/>
            <a:r>
              <a:rPr lang="en-US" dirty="0" smtClean="0"/>
              <a:t>Book</a:t>
            </a:r>
            <a:endParaRPr lang="en-US" dirty="0" smtClean="0"/>
          </a:p>
          <a:p>
            <a:pPr lvl="2"/>
            <a:r>
              <a:rPr lang="en-US" dirty="0" smtClean="0"/>
              <a:t>User</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US" dirty="0"/>
          </a:p>
        </p:txBody>
      </p:sp>
      <p:sp>
        <p:nvSpPr>
          <p:cNvPr id="5" name="Content Placeholder 4"/>
          <p:cNvSpPr>
            <a:spLocks noGrp="1"/>
          </p:cNvSpPr>
          <p:nvPr>
            <p:ph idx="1"/>
          </p:nvPr>
        </p:nvSpPr>
        <p:spPr/>
        <p:txBody>
          <a:bodyPr/>
          <a:lstStyle/>
          <a:p>
            <a:r>
              <a:rPr lang="en-US" dirty="0" smtClean="0"/>
              <a:t>Library Management System</a:t>
            </a:r>
            <a:endParaRPr lang="en-US" dirty="0" smtClean="0"/>
          </a:p>
          <a:p>
            <a:pPr lvl="1"/>
            <a:r>
              <a:rPr lang="en-US" dirty="0" smtClean="0"/>
              <a:t>What are the main objects in this system?</a:t>
            </a:r>
            <a:endParaRPr lang="en-US" dirty="0" smtClean="0"/>
          </a:p>
          <a:p>
            <a:pPr lvl="2"/>
            <a:r>
              <a:rPr lang="en-US" dirty="0" smtClean="0"/>
              <a:t>Book</a:t>
            </a:r>
            <a:endParaRPr lang="en-US" dirty="0" smtClean="0"/>
          </a:p>
          <a:p>
            <a:pPr lvl="2"/>
            <a:r>
              <a:rPr lang="en-US" dirty="0" smtClean="0"/>
              <a:t>User</a:t>
            </a:r>
            <a:endParaRPr lang="en-US" dirty="0" smtClean="0"/>
          </a:p>
          <a:p>
            <a:pPr lvl="1"/>
            <a:r>
              <a:rPr lang="en-US" dirty="0" smtClean="0">
                <a:solidFill>
                  <a:srgbClr val="FF0000"/>
                </a:solidFill>
              </a:rPr>
              <a:t>What is the relevant data and for each, and what are the possible operations that can performed?</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US" dirty="0"/>
          </a:p>
        </p:txBody>
      </p:sp>
      <p:sp>
        <p:nvSpPr>
          <p:cNvPr id="3" name="Content Placeholder 2"/>
          <p:cNvSpPr>
            <a:spLocks noGrp="1"/>
          </p:cNvSpPr>
          <p:nvPr>
            <p:ph idx="1"/>
          </p:nvPr>
        </p:nvSpPr>
        <p:spPr/>
        <p:txBody>
          <a:bodyPr/>
          <a:lstStyle/>
          <a:p>
            <a:r>
              <a:rPr lang="en-US" dirty="0" smtClean="0"/>
              <a:t>Book</a:t>
            </a:r>
            <a:endParaRPr lang="en-US" dirty="0" smtClean="0"/>
          </a:p>
          <a:p>
            <a:pPr lvl="1"/>
            <a:r>
              <a:rPr lang="en-US" dirty="0" smtClean="0"/>
              <a:t>Data</a:t>
            </a:r>
            <a:endParaRPr lang="en-US" dirty="0" smtClean="0"/>
          </a:p>
          <a:p>
            <a:pPr lvl="2"/>
            <a:r>
              <a:rPr lang="en-US" dirty="0" smtClean="0"/>
              <a:t>Book name</a:t>
            </a:r>
            <a:endParaRPr lang="en-US" dirty="0" smtClean="0"/>
          </a:p>
          <a:p>
            <a:pPr lvl="2"/>
            <a:r>
              <a:rPr lang="en-US" dirty="0" smtClean="0"/>
              <a:t>Authors</a:t>
            </a:r>
            <a:endParaRPr lang="en-US" dirty="0" smtClean="0"/>
          </a:p>
          <a:p>
            <a:pPr lvl="2"/>
            <a:r>
              <a:rPr lang="en-US" dirty="0" smtClean="0"/>
              <a:t>Publisher</a:t>
            </a:r>
            <a:endParaRPr lang="en-US" dirty="0" smtClean="0"/>
          </a:p>
          <a:p>
            <a:pPr lvl="2"/>
            <a:r>
              <a:rPr lang="en-US" dirty="0" smtClean="0"/>
              <a:t>ISBN</a:t>
            </a:r>
            <a:endParaRPr lang="en-US" dirty="0" smtClean="0"/>
          </a:p>
          <a:p>
            <a:pPr lvl="2"/>
            <a:r>
              <a:rPr lang="en-US" dirty="0" smtClean="0"/>
              <a:t>Number of copies in library</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US" dirty="0"/>
          </a:p>
        </p:txBody>
      </p:sp>
      <p:sp>
        <p:nvSpPr>
          <p:cNvPr id="3" name="Content Placeholder 2"/>
          <p:cNvSpPr>
            <a:spLocks noGrp="1"/>
          </p:cNvSpPr>
          <p:nvPr>
            <p:ph idx="1"/>
          </p:nvPr>
        </p:nvSpPr>
        <p:spPr/>
        <p:txBody>
          <a:bodyPr/>
          <a:lstStyle/>
          <a:p>
            <a:r>
              <a:rPr lang="en-US" dirty="0" smtClean="0"/>
              <a:t>Book</a:t>
            </a:r>
            <a:endParaRPr lang="en-US" dirty="0" smtClean="0"/>
          </a:p>
          <a:p>
            <a:pPr lvl="1"/>
            <a:r>
              <a:rPr lang="en-US" dirty="0" smtClean="0"/>
              <a:t>Operations</a:t>
            </a:r>
            <a:endParaRPr lang="en-US" dirty="0" smtClean="0"/>
          </a:p>
          <a:p>
            <a:pPr lvl="2"/>
            <a:r>
              <a:rPr lang="en-US" dirty="0" smtClean="0"/>
              <a:t>Get the name of the book</a:t>
            </a:r>
            <a:endParaRPr lang="en-US" dirty="0" smtClean="0"/>
          </a:p>
          <a:p>
            <a:pPr lvl="2"/>
            <a:r>
              <a:rPr lang="en-US" dirty="0" smtClean="0"/>
              <a:t>Reduce number of copies in the library when one is issued</a:t>
            </a:r>
            <a:endParaRPr lang="en-US" dirty="0" smtClean="0"/>
          </a:p>
          <a:p>
            <a:pPr lvl="2"/>
            <a:r>
              <a:rPr lang="en-US" dirty="0" smtClean="0"/>
              <a:t>Increment the number of copies when one is returned</a:t>
            </a:r>
            <a:endParaRPr 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US" dirty="0"/>
          </a:p>
        </p:txBody>
      </p:sp>
      <p:sp>
        <p:nvSpPr>
          <p:cNvPr id="3" name="Content Placeholder 2"/>
          <p:cNvSpPr>
            <a:spLocks noGrp="1"/>
          </p:cNvSpPr>
          <p:nvPr>
            <p:ph idx="1"/>
          </p:nvPr>
        </p:nvSpPr>
        <p:spPr/>
        <p:txBody>
          <a:bodyPr/>
          <a:lstStyle/>
          <a:p>
            <a:r>
              <a:rPr lang="en-US" dirty="0" smtClean="0"/>
              <a:t>Each object therefore consists of data and operations that can be performed on that data</a:t>
            </a:r>
            <a:endParaRPr lang="en-US" dirty="0" smtClean="0"/>
          </a:p>
          <a:p>
            <a:r>
              <a:rPr lang="en-US" dirty="0" smtClean="0"/>
              <a:t>The final program is a collection of interacting objects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Concepts of OOP</a:t>
            </a:r>
            <a:endParaRPr lang="en-US" dirty="0"/>
          </a:p>
        </p:txBody>
      </p:sp>
      <p:sp>
        <p:nvSpPr>
          <p:cNvPr id="3" name="Content Placeholder 2"/>
          <p:cNvSpPr>
            <a:spLocks noGrp="1"/>
          </p:cNvSpPr>
          <p:nvPr>
            <p:ph idx="1"/>
          </p:nvPr>
        </p:nvSpPr>
        <p:spPr>
          <a:xfrm>
            <a:off x="838200" y="1825625"/>
            <a:ext cx="10112375" cy="4351655"/>
          </a:xfrm>
        </p:spPr>
        <p:txBody>
          <a:bodyPr/>
          <a:lstStyle/>
          <a:p>
            <a:pPr algn="just"/>
            <a:r>
              <a:rPr lang="en-US" dirty="0"/>
              <a:t>OOP is a programming style that is associated with the concept of Class, Objects, and various other concepts revolving around these two, like, Inheritence, polymorphism, Abstration, Encapsultaion, etc. </a:t>
            </a:r>
            <a:endParaRPr lang="en-US" dirty="0"/>
          </a:p>
          <a:p>
            <a:pPr algn="just"/>
            <a:r>
              <a:rPr lang="en-US" dirty="0"/>
              <a:t>OOP aims to implement real world entities like inheritance, hiding, polymorphism, etc in programming. </a:t>
            </a:r>
            <a:endParaRPr lang="en-US" dirty="0"/>
          </a:p>
          <a:p>
            <a:pPr algn="just"/>
            <a:r>
              <a:rPr lang="en-US" dirty="0"/>
              <a:t>The main aim of OOP is to bind together the data and the functions that operates on them so that no other part of code can access this data except that function.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of OOP</a:t>
            </a:r>
            <a:endParaRPr lang="en-US" dirty="0"/>
          </a:p>
        </p:txBody>
      </p:sp>
      <p:sp>
        <p:nvSpPr>
          <p:cNvPr id="3" name="Content Placeholder 2"/>
          <p:cNvSpPr/>
          <p:nvPr>
            <p:ph idx="1"/>
          </p:nvPr>
        </p:nvSpPr>
        <p:spPr/>
        <p:txBody>
          <a:bodyPr/>
          <a:p>
            <a:r>
              <a:rPr lang="en-US"/>
              <a:t>Object</a:t>
            </a:r>
            <a:endParaRPr lang="en-US"/>
          </a:p>
          <a:p>
            <a:r>
              <a:rPr lang="en-US"/>
              <a:t>Classes</a:t>
            </a:r>
            <a:endParaRPr lang="en-US"/>
          </a:p>
          <a:p>
            <a:r>
              <a:rPr lang="en-US"/>
              <a:t>Real World Modeling</a:t>
            </a:r>
            <a:endParaRPr lang="en-US"/>
          </a:p>
          <a:p>
            <a:r>
              <a:rPr lang="en-US"/>
              <a:t>Reusability</a:t>
            </a:r>
            <a:endParaRPr lang="en-US"/>
          </a:p>
          <a:p>
            <a:r>
              <a:rPr lang="en-US"/>
              <a:t>Information Hiding</a:t>
            </a:r>
            <a:endParaRPr lang="en-US"/>
          </a:p>
          <a:p>
            <a:r>
              <a:rPr lang="en-US"/>
              <a:t>Polymorphism</a:t>
            </a:r>
            <a:endParaRPr lang="en-US"/>
          </a:p>
          <a:p>
            <a:pPr marL="0" indent="0">
              <a:buNone/>
            </a:pP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Main Pillers of OOP</a:t>
            </a:r>
            <a:endParaRPr lang="en-US" dirty="0"/>
          </a:p>
        </p:txBody>
      </p:sp>
      <p:pic>
        <p:nvPicPr>
          <p:cNvPr id="4" name="Content Placeholder 3" descr="Image 16-09-2024 at 4.53 PM"/>
          <p:cNvPicPr>
            <a:picLocks noChangeAspect="1"/>
          </p:cNvPicPr>
          <p:nvPr>
            <p:ph idx="1"/>
          </p:nvPr>
        </p:nvPicPr>
        <p:blipFill>
          <a:blip r:embed="rId1"/>
          <a:stretch>
            <a:fillRect/>
          </a:stretch>
        </p:blipFill>
        <p:spPr>
          <a:xfrm>
            <a:off x="1943735" y="1825625"/>
            <a:ext cx="7900670" cy="43516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Image 27-09-2024 at 1.25 PM"/>
          <p:cNvPicPr>
            <a:picLocks noChangeAspect="1"/>
          </p:cNvPicPr>
          <p:nvPr>
            <p:ph idx="1"/>
          </p:nvPr>
        </p:nvPicPr>
        <p:blipFill>
          <a:blip r:embed="rId1"/>
          <a:stretch>
            <a:fillRect/>
          </a:stretch>
        </p:blipFill>
        <p:spPr>
          <a:xfrm>
            <a:off x="2133600" y="1295400"/>
            <a:ext cx="7924800" cy="42672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Abstraction</a:t>
            </a:r>
            <a:endParaRPr lang="en-US" dirty="0"/>
          </a:p>
        </p:txBody>
      </p:sp>
      <p:sp>
        <p:nvSpPr>
          <p:cNvPr id="3" name="Content Placeholder 2"/>
          <p:cNvSpPr>
            <a:spLocks noGrp="1"/>
          </p:cNvSpPr>
          <p:nvPr>
            <p:ph idx="1"/>
          </p:nvPr>
        </p:nvSpPr>
        <p:spPr/>
        <p:txBody>
          <a:bodyPr>
            <a:normAutofit/>
          </a:bodyPr>
          <a:lstStyle/>
          <a:p>
            <a:r>
              <a:rPr lang="en-US" sz="2800" dirty="0"/>
              <a:t>Abstraction means displaying only essential information and hiding the details. </a:t>
            </a:r>
            <a:endParaRPr lang="en-US" sz="2800" dirty="0" smtClean="0"/>
          </a:p>
          <a:p>
            <a:endParaRPr lang="en-US" sz="2800" dirty="0"/>
          </a:p>
          <a:p>
            <a:r>
              <a:rPr lang="en-US" sz="2800" dirty="0" smtClean="0"/>
              <a:t>Data </a:t>
            </a:r>
            <a:r>
              <a:rPr lang="en-US" sz="2800" dirty="0"/>
              <a:t>abstraction refers to providing only essential information about the data to the outside world, hiding the background details or implementation.</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smtClean="0"/>
              <a:t>Abstraction (Example 1)</a:t>
            </a:r>
            <a:endParaRPr lang="en-US" dirty="0"/>
          </a:p>
        </p:txBody>
      </p:sp>
      <p:pic>
        <p:nvPicPr>
          <p:cNvPr id="6" name="Picture 5"/>
          <p:cNvPicPr>
            <a:picLocks noChangeAspect="1"/>
          </p:cNvPicPr>
          <p:nvPr/>
        </p:nvPicPr>
        <p:blipFill>
          <a:blip r:embed="rId1"/>
          <a:stretch>
            <a:fillRect/>
          </a:stretch>
        </p:blipFill>
        <p:spPr>
          <a:xfrm>
            <a:off x="4314568" y="2627870"/>
            <a:ext cx="3200400" cy="337751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Abstraction </a:t>
            </a:r>
            <a:r>
              <a:rPr lang="en-US" dirty="0" smtClean="0">
                <a:sym typeface="+mn-ea"/>
              </a:rPr>
              <a:t>(Example 2)</a:t>
            </a:r>
            <a:endParaRPr lang="en-US" dirty="0"/>
          </a:p>
        </p:txBody>
      </p:sp>
      <p:pic>
        <p:nvPicPr>
          <p:cNvPr id="6" name="Content Placeholder 5" descr="Image 27-09-2024 at 1.27 PM"/>
          <p:cNvPicPr>
            <a:picLocks noChangeAspect="1"/>
          </p:cNvPicPr>
          <p:nvPr>
            <p:ph idx="1"/>
          </p:nvPr>
        </p:nvPicPr>
        <p:blipFill>
          <a:blip r:embed="rId1"/>
          <a:stretch>
            <a:fillRect/>
          </a:stretch>
        </p:blipFill>
        <p:spPr>
          <a:xfrm>
            <a:off x="1118870" y="1825625"/>
            <a:ext cx="9952990" cy="435165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Information Hiding</a:t>
            </a:r>
            <a:endParaRPr lang="en-US" dirty="0"/>
          </a:p>
        </p:txBody>
      </p:sp>
      <p:sp>
        <p:nvSpPr>
          <p:cNvPr id="3" name="Content Placeholder 2"/>
          <p:cNvSpPr>
            <a:spLocks noGrp="1"/>
          </p:cNvSpPr>
          <p:nvPr>
            <p:ph idx="1"/>
          </p:nvPr>
        </p:nvSpPr>
        <p:spPr/>
        <p:txBody>
          <a:bodyPr/>
          <a:lstStyle/>
          <a:p>
            <a:r>
              <a:rPr lang="en-US" dirty="0"/>
              <a:t>Simplifies the model by hiding implementation details</a:t>
            </a:r>
            <a:endParaRPr lang="en-US" dirty="0"/>
          </a:p>
          <a:p>
            <a:endParaRPr lang="en-US" dirty="0"/>
          </a:p>
          <a:p>
            <a:r>
              <a:rPr lang="en-US" dirty="0" smtClean="0"/>
              <a:t>Prevents </a:t>
            </a:r>
            <a:r>
              <a:rPr lang="en-US" dirty="0"/>
              <a:t>accidental access</a:t>
            </a:r>
            <a:endParaRPr lang="en-US" dirty="0"/>
          </a:p>
          <a:p>
            <a:endParaRPr lang="en-US" dirty="0"/>
          </a:p>
          <a:p>
            <a:r>
              <a:rPr lang="en-US" dirty="0" smtClean="0"/>
              <a:t>Prevents </a:t>
            </a:r>
            <a:r>
              <a:rPr lang="en-US" dirty="0"/>
              <a:t>illegal access or manipulation</a:t>
            </a:r>
            <a:endParaRPr lang="en-US" dirty="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27-09-2024 at 1.47 PM"/>
          <p:cNvPicPr>
            <a:picLocks noChangeAspect="1"/>
          </p:cNvPicPr>
          <p:nvPr>
            <p:ph idx="1"/>
          </p:nvPr>
        </p:nvPicPr>
        <p:blipFill>
          <a:blip r:embed="rId1"/>
          <a:stretch>
            <a:fillRect/>
          </a:stretch>
        </p:blipFill>
        <p:spPr>
          <a:xfrm>
            <a:off x="1764665" y="1336675"/>
            <a:ext cx="8661400" cy="45466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Defination</a:t>
            </a:r>
            <a:endParaRPr lang="en-US"/>
          </a:p>
        </p:txBody>
      </p:sp>
      <p:sp>
        <p:nvSpPr>
          <p:cNvPr id="3" name="Content Placeholder 2"/>
          <p:cNvSpPr>
            <a:spLocks noGrp="1"/>
          </p:cNvSpPr>
          <p:nvPr>
            <p:ph idx="1"/>
          </p:nvPr>
        </p:nvSpPr>
        <p:spPr/>
        <p:txBody>
          <a:bodyPr/>
          <a:p>
            <a:pPr marL="0" indent="0">
              <a:buNone/>
            </a:pPr>
            <a:r>
              <a:rPr lang="en-US"/>
              <a:t>Encapsulation is the technique of bundling data (attributes) and methods (functions) that operate on that data into a single unit, usually a class. It restricts direct access to some of an object’s components and protects the integrity of the data by preventing external entities from modifying it directly.</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Purpose:</a:t>
            </a:r>
            <a:endParaRPr lang="en-US"/>
          </a:p>
        </p:txBody>
      </p:sp>
      <p:sp>
        <p:nvSpPr>
          <p:cNvPr id="3" name="Content Placeholder 2"/>
          <p:cNvSpPr>
            <a:spLocks noGrp="1"/>
          </p:cNvSpPr>
          <p:nvPr>
            <p:ph idx="1"/>
          </p:nvPr>
        </p:nvSpPr>
        <p:spPr>
          <a:xfrm>
            <a:off x="838200" y="1691640"/>
            <a:ext cx="10515600" cy="4485640"/>
          </a:xfrm>
        </p:spPr>
        <p:txBody>
          <a:bodyPr/>
          <a:p>
            <a:r>
              <a:rPr lang="en-US"/>
              <a:t>Abstraction: Simplifies complexity by exposing only necessary features.</a:t>
            </a:r>
            <a:endParaRPr lang="en-US"/>
          </a:p>
          <a:p>
            <a:r>
              <a:rPr lang="en-US">
                <a:sym typeface="+mn-ea"/>
              </a:rPr>
              <a:t>Encapsulation: Protects data and maintains integrity.</a:t>
            </a:r>
            <a:endParaRPr lang="en-US"/>
          </a:p>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27-09-2024 at 1.59 PM"/>
          <p:cNvPicPr>
            <a:picLocks noChangeAspect="1"/>
          </p:cNvPicPr>
          <p:nvPr>
            <p:ph idx="1"/>
          </p:nvPr>
        </p:nvPicPr>
        <p:blipFill>
          <a:blip r:embed="rId1"/>
          <a:stretch>
            <a:fillRect/>
          </a:stretch>
        </p:blipFill>
        <p:spPr>
          <a:xfrm>
            <a:off x="961390" y="2200275"/>
            <a:ext cx="10515600" cy="35401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27-09-2024 at 2.00 PM"/>
          <p:cNvPicPr>
            <a:picLocks noChangeAspect="1"/>
          </p:cNvPicPr>
          <p:nvPr>
            <p:ph idx="1"/>
          </p:nvPr>
        </p:nvPicPr>
        <p:blipFill>
          <a:blip r:embed="rId1"/>
          <a:stretch>
            <a:fillRect/>
          </a:stretch>
        </p:blipFill>
        <p:spPr>
          <a:xfrm>
            <a:off x="3937000" y="1625600"/>
            <a:ext cx="4318000" cy="3606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27-09-2024 at 2.02 PM (1)"/>
          <p:cNvPicPr>
            <a:picLocks noChangeAspect="1"/>
          </p:cNvPicPr>
          <p:nvPr>
            <p:ph idx="1"/>
          </p:nvPr>
        </p:nvPicPr>
        <p:blipFill>
          <a:blip r:embed="rId1"/>
          <a:stretch>
            <a:fillRect/>
          </a:stretch>
        </p:blipFill>
        <p:spPr>
          <a:xfrm>
            <a:off x="1571625" y="1153160"/>
            <a:ext cx="9049385" cy="45510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27-09-2024 at 2.02 PM"/>
          <p:cNvPicPr>
            <a:picLocks noChangeAspect="1"/>
          </p:cNvPicPr>
          <p:nvPr>
            <p:ph idx="1"/>
          </p:nvPr>
        </p:nvPicPr>
        <p:blipFill>
          <a:blip r:embed="rId1"/>
          <a:stretch>
            <a:fillRect/>
          </a:stretch>
        </p:blipFill>
        <p:spPr>
          <a:xfrm>
            <a:off x="1433830" y="1030605"/>
            <a:ext cx="9324340" cy="479615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27-09-2024 at 2.03 PM"/>
          <p:cNvPicPr>
            <a:picLocks noChangeAspect="1"/>
          </p:cNvPicPr>
          <p:nvPr>
            <p:ph idx="1"/>
          </p:nvPr>
        </p:nvPicPr>
        <p:blipFill>
          <a:blip r:embed="rId1"/>
          <a:stretch>
            <a:fillRect/>
          </a:stretch>
        </p:blipFill>
        <p:spPr>
          <a:xfrm>
            <a:off x="1109980" y="1027430"/>
            <a:ext cx="9924415" cy="52101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Concept: Classes form a hierarchy</a:t>
            </a:r>
            <a:endParaRPr lang="en-US" dirty="0"/>
          </a:p>
        </p:txBody>
      </p:sp>
      <p:sp>
        <p:nvSpPr>
          <p:cNvPr id="3" name="Content Placeholder 2"/>
          <p:cNvSpPr>
            <a:spLocks noGrp="1"/>
          </p:cNvSpPr>
          <p:nvPr>
            <p:ph idx="1"/>
          </p:nvPr>
        </p:nvSpPr>
        <p:spPr/>
        <p:txBody>
          <a:bodyPr>
            <a:normAutofit lnSpcReduction="10000"/>
          </a:bodyPr>
          <a:lstStyle/>
          <a:p>
            <a:r>
              <a:rPr lang="en-US" altLang="en-US" dirty="0"/>
              <a:t>Classes are arranged in a treelike structure called a </a:t>
            </a:r>
            <a:r>
              <a:rPr lang="en-US" altLang="en-US" dirty="0">
                <a:solidFill>
                  <a:schemeClr val="tx2"/>
                </a:solidFill>
              </a:rPr>
              <a:t>hierarchy</a:t>
            </a:r>
            <a:endParaRPr lang="en-US" altLang="en-US" dirty="0"/>
          </a:p>
          <a:p>
            <a:r>
              <a:rPr lang="en-US" altLang="en-US" dirty="0"/>
              <a:t>The class at the root is named </a:t>
            </a:r>
            <a:r>
              <a:rPr lang="en-US" altLang="en-US" dirty="0">
                <a:solidFill>
                  <a:schemeClr val="folHlink"/>
                </a:solidFill>
                <a:latin typeface="Trebuchet MS" panose="020B0603020202020204" pitchFamily="34" charset="0"/>
              </a:rPr>
              <a:t>Object</a:t>
            </a:r>
            <a:endParaRPr lang="en-US" altLang="en-US" dirty="0"/>
          </a:p>
          <a:p>
            <a:r>
              <a:rPr lang="en-US" altLang="en-US" dirty="0"/>
              <a:t>Every class, except </a:t>
            </a:r>
            <a:r>
              <a:rPr lang="en-US" altLang="en-US" dirty="0">
                <a:solidFill>
                  <a:schemeClr val="accent2"/>
                </a:solidFill>
                <a:latin typeface="Trebuchet MS" panose="020B0603020202020204" pitchFamily="34" charset="0"/>
              </a:rPr>
              <a:t>Object</a:t>
            </a:r>
            <a:r>
              <a:rPr lang="en-US" altLang="en-US" dirty="0"/>
              <a:t>, has a </a:t>
            </a:r>
            <a:r>
              <a:rPr lang="en-US" altLang="en-US" dirty="0">
                <a:solidFill>
                  <a:schemeClr val="tx2"/>
                </a:solidFill>
              </a:rPr>
              <a:t>superclass</a:t>
            </a:r>
            <a:endParaRPr lang="en-US" altLang="en-US" dirty="0"/>
          </a:p>
          <a:p>
            <a:r>
              <a:rPr lang="en-US" altLang="en-US" dirty="0"/>
              <a:t>A class may have several ancestors, up to </a:t>
            </a:r>
            <a:r>
              <a:rPr lang="en-US" altLang="en-US" dirty="0">
                <a:solidFill>
                  <a:schemeClr val="accent2"/>
                </a:solidFill>
                <a:latin typeface="Trebuchet MS" panose="020B0603020202020204" pitchFamily="34" charset="0"/>
              </a:rPr>
              <a:t>Object</a:t>
            </a:r>
            <a:endParaRPr lang="en-US" altLang="en-US" dirty="0">
              <a:solidFill>
                <a:srgbClr val="FFFF99"/>
              </a:solidFill>
            </a:endParaRPr>
          </a:p>
          <a:p>
            <a:r>
              <a:rPr lang="en-US" altLang="en-US" dirty="0"/>
              <a:t>When you define a class, you specify its superclass</a:t>
            </a:r>
            <a:endParaRPr lang="en-US" altLang="en-US" dirty="0"/>
          </a:p>
          <a:p>
            <a:pPr lvl="1"/>
            <a:r>
              <a:rPr lang="en-US" altLang="en-US" dirty="0"/>
              <a:t>If you don’t specify a superclass, </a:t>
            </a:r>
            <a:r>
              <a:rPr lang="en-US" altLang="en-US" dirty="0">
                <a:solidFill>
                  <a:schemeClr val="accent2"/>
                </a:solidFill>
                <a:latin typeface="Trebuchet MS" panose="020B0603020202020204" pitchFamily="34" charset="0"/>
              </a:rPr>
              <a:t>Object</a:t>
            </a:r>
            <a:r>
              <a:rPr lang="en-US" altLang="en-US" dirty="0"/>
              <a:t> is assumed</a:t>
            </a:r>
            <a:endParaRPr lang="en-US" altLang="en-US" dirty="0"/>
          </a:p>
          <a:p>
            <a:r>
              <a:rPr lang="en-US" altLang="en-US" dirty="0"/>
              <a:t>Every class may have one or more </a:t>
            </a:r>
            <a:r>
              <a:rPr lang="en-US" altLang="en-US" dirty="0">
                <a:solidFill>
                  <a:schemeClr val="tx2"/>
                </a:solidFill>
              </a:rPr>
              <a:t>subclasses</a:t>
            </a:r>
            <a:endParaRPr lang="en-US" alt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of (part of) a hierarchy</a:t>
            </a:r>
            <a:endParaRPr lang="en-US" dirty="0"/>
          </a:p>
        </p:txBody>
      </p:sp>
      <p:pic>
        <p:nvPicPr>
          <p:cNvPr id="6"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44130" y="2726725"/>
            <a:ext cx="8180173" cy="2627870"/>
          </a:xfrm>
        </p:spPr>
      </p:pic>
      <p:sp>
        <p:nvSpPr>
          <p:cNvPr id="7" name="Rectangle 6"/>
          <p:cNvSpPr/>
          <p:nvPr/>
        </p:nvSpPr>
        <p:spPr>
          <a:xfrm>
            <a:off x="3766031" y="5690972"/>
            <a:ext cx="4536370" cy="369332"/>
          </a:xfrm>
          <a:prstGeom prst="rect">
            <a:avLst/>
          </a:prstGeom>
        </p:spPr>
        <p:txBody>
          <a:bodyPr wrap="none">
            <a:spAutoFit/>
          </a:bodyPr>
          <a:lstStyle/>
          <a:p>
            <a:r>
              <a:rPr lang="en-US" i="1" dirty="0">
                <a:solidFill>
                  <a:srgbClr val="000000"/>
                </a:solidFill>
                <a:latin typeface="Times New Roman" panose="02020603050405020304" pitchFamily="18" charset="0"/>
              </a:rPr>
              <a:t>A class hierarchy for a vehicle rental company.</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US" dirty="0"/>
          </a:p>
        </p:txBody>
      </p:sp>
      <p:sp>
        <p:nvSpPr>
          <p:cNvPr id="3" name="Content Placeholder 2"/>
          <p:cNvSpPr>
            <a:spLocks noGrp="1"/>
          </p:cNvSpPr>
          <p:nvPr>
            <p:ph idx="1"/>
          </p:nvPr>
        </p:nvSpPr>
        <p:spPr/>
        <p:txBody>
          <a:bodyPr>
            <a:normAutofit lnSpcReduction="10000"/>
          </a:bodyPr>
          <a:lstStyle/>
          <a:p>
            <a:r>
              <a:rPr lang="en-US" b="1" dirty="0"/>
              <a:t>Scenario: </a:t>
            </a:r>
            <a:r>
              <a:rPr lang="en-US" dirty="0"/>
              <a:t> A particular talent competition has 5 judges, each of whom awards a score between 0 to 10 to each performer. A performer’s final score is determined by dropping the lowest score received, then averaging the remaining 4 scores. </a:t>
            </a:r>
            <a:endParaRPr lang="en-US" dirty="0"/>
          </a:p>
          <a:p>
            <a:r>
              <a:rPr lang="en-US" b="1" dirty="0"/>
              <a:t>Task 1:</a:t>
            </a:r>
            <a:r>
              <a:rPr lang="en-US" dirty="0"/>
              <a:t> Identify Attributes and functions.</a:t>
            </a:r>
            <a:endParaRPr lang="en-US" dirty="0"/>
          </a:p>
          <a:p>
            <a:r>
              <a:rPr lang="en-US" b="1" dirty="0"/>
              <a:t>Task 2: </a:t>
            </a:r>
            <a:r>
              <a:rPr lang="en-US" dirty="0"/>
              <a:t>Procedural Programming approach? </a:t>
            </a:r>
            <a:endParaRPr lang="en-US" dirty="0"/>
          </a:p>
          <a:p>
            <a:r>
              <a:rPr lang="en-US" b="1" dirty="0"/>
              <a:t>Task 3: </a:t>
            </a:r>
            <a:r>
              <a:rPr lang="en-US" dirty="0"/>
              <a:t>Object Oriented approach? (</a:t>
            </a:r>
            <a:r>
              <a:rPr lang="en-US" b="1" dirty="0"/>
              <a:t>Model the problem: </a:t>
            </a:r>
            <a:r>
              <a:rPr lang="en-US" dirty="0"/>
              <a:t>Identify class, objects)</a:t>
            </a:r>
            <a:endParaRPr lang="en-US" b="1" dirty="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6078</Words>
  <Application>WPS Presentation</Application>
  <PresentationFormat>Widescreen</PresentationFormat>
  <Paragraphs>242</Paragraphs>
  <Slides>45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45</vt:i4>
      </vt:variant>
    </vt:vector>
  </HeadingPairs>
  <TitlesOfParts>
    <vt:vector size="60" baseType="lpstr">
      <vt:lpstr>Arial</vt:lpstr>
      <vt:lpstr>SimSun</vt:lpstr>
      <vt:lpstr>Wingdings</vt:lpstr>
      <vt:lpstr>Proxima Nova</vt:lpstr>
      <vt:lpstr>Thonburi</vt:lpstr>
      <vt:lpstr>Arial Bold</vt:lpstr>
      <vt:lpstr>Trebuchet MS</vt:lpstr>
      <vt:lpstr>Times New Roman</vt:lpstr>
      <vt:lpstr>Microsoft YaHei</vt:lpstr>
      <vt:lpstr>汉仪旗黑</vt:lpstr>
      <vt:lpstr>Calibri</vt:lpstr>
      <vt:lpstr>Helvetica Neue</vt:lpstr>
      <vt:lpstr>宋体-简</vt:lpstr>
      <vt:lpstr>Arial Unicode MS</vt:lpstr>
      <vt:lpstr>Office Theme</vt:lpstr>
      <vt:lpstr>OOP </vt:lpstr>
      <vt:lpstr>What we will cover in this course?</vt:lpstr>
      <vt:lpstr>What is OOP? </vt:lpstr>
      <vt:lpstr>Object-Orientation - Advantages </vt:lpstr>
      <vt:lpstr>…Example – OO Model</vt:lpstr>
      <vt:lpstr>PowerPoint 演示文稿</vt:lpstr>
      <vt:lpstr>Classes and Objects</vt:lpstr>
      <vt:lpstr>Class and Object</vt:lpstr>
      <vt:lpstr>PowerPoint 演示文稿</vt:lpstr>
      <vt:lpstr>What is an Object?</vt:lpstr>
      <vt:lpstr>PowerPoint 演示文稿</vt:lpstr>
      <vt:lpstr>PowerPoint 演示文稿</vt:lpstr>
      <vt:lpstr>PowerPoint 演示文稿</vt:lpstr>
      <vt:lpstr>Concept: An object has behaviors</vt:lpstr>
      <vt:lpstr>Example – Ali is a Tangible Object</vt:lpstr>
      <vt:lpstr>Example – Car is a Tangible Object</vt:lpstr>
      <vt:lpstr>Example – Practise</vt:lpstr>
      <vt:lpstr>What are Classes and Objects?(Cont...) </vt:lpstr>
      <vt:lpstr>Class and Object</vt:lpstr>
      <vt:lpstr>Object Oriented Design</vt:lpstr>
      <vt:lpstr>Object Oriented Design</vt:lpstr>
      <vt:lpstr>Object Oriented Design</vt:lpstr>
      <vt:lpstr>Object Oriented Design</vt:lpstr>
      <vt:lpstr>Object Oriented Design</vt:lpstr>
      <vt:lpstr>Object Oriented Design</vt:lpstr>
      <vt:lpstr>Concepts of OOP</vt:lpstr>
      <vt:lpstr>Feature of OOP</vt:lpstr>
      <vt:lpstr>4 Main Pillers of OOP</vt:lpstr>
      <vt:lpstr>PowerPoint 演示文稿</vt:lpstr>
      <vt:lpstr>Data Abstraction</vt:lpstr>
      <vt:lpstr>Data Abstraction (Example)</vt:lpstr>
      <vt:lpstr>Data Abstraction</vt:lpstr>
      <vt:lpstr>Advantages of Information Hiding</vt:lpstr>
      <vt:lpstr>PowerPoint 演示文稿</vt:lpstr>
      <vt:lpstr>Defination</vt:lpstr>
      <vt:lpstr>Purpose:</vt:lpstr>
      <vt:lpstr>PowerPoint 演示文稿</vt:lpstr>
      <vt:lpstr>PowerPoint 演示文稿</vt:lpstr>
      <vt:lpstr>PowerPoint 演示文稿</vt:lpstr>
      <vt:lpstr>PowerPoint 演示文稿</vt:lpstr>
      <vt:lpstr>PowerPoint 演示文稿</vt:lpstr>
      <vt:lpstr>Concept: Classes form a hierarchy</vt:lpstr>
      <vt:lpstr>Example of (part of) a hierarchy</vt:lpstr>
      <vt:lpstr>Exercise!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171</cp:revision>
  <dcterms:created xsi:type="dcterms:W3CDTF">2024-09-27T09:04:29Z</dcterms:created>
  <dcterms:modified xsi:type="dcterms:W3CDTF">2024-09-27T09:04:29Z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