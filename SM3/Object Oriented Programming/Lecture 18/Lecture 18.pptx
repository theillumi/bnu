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26" r:id="rId3"/>
    <p:sldId id="658" r:id="rId5"/>
    <p:sldId id="700" r:id="rId6"/>
    <p:sldId id="701" r:id="rId7"/>
    <p:sldId id="702" r:id="rId8"/>
    <p:sldId id="708" r:id="rId9"/>
    <p:sldId id="709" r:id="rId10"/>
    <p:sldId id="710" r:id="rId11"/>
    <p:sldId id="711" r:id="rId12"/>
    <p:sldId id="703" r:id="rId13"/>
    <p:sldId id="712" r:id="rId14"/>
    <p:sldId id="704" r:id="rId15"/>
    <p:sldId id="705" r:id="rId16"/>
    <p:sldId id="719" r:id="rId17"/>
    <p:sldId id="713" r:id="rId18"/>
    <p:sldId id="714" r:id="rId19"/>
    <p:sldId id="715" r:id="rId20"/>
    <p:sldId id="716" r:id="rId21"/>
    <p:sldId id="717" r:id="rId22"/>
    <p:sldId id="720" r:id="rId23"/>
    <p:sldId id="50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mraabbas" initials="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3BE717-232F-4F04-8C42-B483AA5BDA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0B4DA-30D8-4F6D-BF35-157D774FB51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ge878c25f7a_0_376:notes"/>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e878c25f7a_0_3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Task 1 contains the code of this</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9E9A709E-C215-4E8E-8E45-59E3768F84B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9A709E-C215-4E8E-8E45-59E3768F84B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9A709E-C215-4E8E-8E45-59E3768F84B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3" name="Shape 63"/>
        <p:cNvGrpSpPr/>
        <p:nvPr/>
      </p:nvGrpSpPr>
      <p:grpSpPr>
        <a:xfrm>
          <a:off x="0" y="0"/>
          <a:ext cx="0" cy="0"/>
          <a:chOff x="0" y="0"/>
          <a:chExt cx="0" cy="0"/>
        </a:xfrm>
      </p:grpSpPr>
      <p:sp>
        <p:nvSpPr>
          <p:cNvPr id="64" name="Google Shape;64;p16"/>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5" name="Google Shape;65;p16"/>
          <p:cNvSpPr txBox="1"/>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6"/>
          <p:cNvSpPr txBox="1"/>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600" lvl="0" indent="-457200" rtl="0">
              <a:spcBef>
                <a:spcPts val="0"/>
              </a:spcBef>
              <a:spcAft>
                <a:spcPts val="0"/>
              </a:spcAft>
              <a:buSzPts val="1800"/>
              <a:buChar char="●"/>
              <a:defRPr/>
            </a:lvl1pPr>
            <a:lvl2pPr marL="1219200" lvl="1" indent="-423545" rtl="0">
              <a:spcBef>
                <a:spcPct val="427000"/>
              </a:spcBef>
              <a:spcAft>
                <a:spcPts val="0"/>
              </a:spcAft>
              <a:buSzPts val="1400"/>
              <a:buChar char="○"/>
              <a:defRPr/>
            </a:lvl2pPr>
            <a:lvl3pPr marL="1828800" lvl="2" indent="-423545" rtl="0">
              <a:spcBef>
                <a:spcPct val="427000"/>
              </a:spcBef>
              <a:spcAft>
                <a:spcPts val="0"/>
              </a:spcAft>
              <a:buSzPts val="1400"/>
              <a:buChar char="■"/>
              <a:defRPr/>
            </a:lvl3pPr>
            <a:lvl4pPr marL="2438400" lvl="3" indent="-423545" rtl="0">
              <a:spcBef>
                <a:spcPct val="427000"/>
              </a:spcBef>
              <a:spcAft>
                <a:spcPts val="0"/>
              </a:spcAft>
              <a:buSzPts val="1400"/>
              <a:buChar char="●"/>
              <a:defRPr/>
            </a:lvl4pPr>
            <a:lvl5pPr marL="3048000" lvl="4" indent="-423545" rtl="0">
              <a:spcBef>
                <a:spcPct val="427000"/>
              </a:spcBef>
              <a:spcAft>
                <a:spcPts val="0"/>
              </a:spcAft>
              <a:buSzPts val="1400"/>
              <a:buChar char="○"/>
              <a:defRPr/>
            </a:lvl5pPr>
            <a:lvl6pPr marL="3657600" lvl="5" indent="-423545" rtl="0">
              <a:spcBef>
                <a:spcPct val="427000"/>
              </a:spcBef>
              <a:spcAft>
                <a:spcPts val="0"/>
              </a:spcAft>
              <a:buSzPts val="1400"/>
              <a:buChar char="■"/>
              <a:defRPr/>
            </a:lvl6pPr>
            <a:lvl7pPr marL="4267200" lvl="6" indent="-423545" rtl="0">
              <a:spcBef>
                <a:spcPct val="427000"/>
              </a:spcBef>
              <a:spcAft>
                <a:spcPts val="0"/>
              </a:spcAft>
              <a:buSzPts val="1400"/>
              <a:buChar char="●"/>
              <a:defRPr/>
            </a:lvl7pPr>
            <a:lvl8pPr marL="4876800" lvl="7" indent="-423545" rtl="0">
              <a:spcBef>
                <a:spcPct val="427000"/>
              </a:spcBef>
              <a:spcAft>
                <a:spcPts val="0"/>
              </a:spcAft>
              <a:buSzPts val="1400"/>
              <a:buChar char="○"/>
              <a:defRPr/>
            </a:lvl8pPr>
            <a:lvl9pPr marL="5486400" lvl="8" indent="-423545" rtl="0">
              <a:spcBef>
                <a:spcPct val="427000"/>
              </a:spcBef>
              <a:spcAft>
                <a:spcPts val="1600"/>
              </a:spcAft>
              <a:buSzPts val="1400"/>
              <a:buChar char="■"/>
              <a:defRPr/>
            </a:lvl9pPr>
          </a:lstStyle>
          <a:p/>
        </p:txBody>
      </p:sp>
      <p:sp>
        <p:nvSpPr>
          <p:cNvPr id="67" name="Google Shape;67;p16"/>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6096000" y="10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85" name="Google Shape;85;p21"/>
          <p:cNvCxnSpPr/>
          <p:nvPr/>
        </p:nvCxnSpPr>
        <p:spPr>
          <a:xfrm>
            <a:off x="6706233" y="5994000"/>
            <a:ext cx="624400" cy="0"/>
          </a:xfrm>
          <a:prstGeom prst="straightConnector1">
            <a:avLst/>
          </a:prstGeom>
          <a:noFill/>
          <a:ln w="19050" cap="flat" cmpd="sng">
            <a:solidFill>
              <a:schemeClr val="lt2"/>
            </a:solidFill>
            <a:prstDash val="solid"/>
            <a:round/>
            <a:headEnd type="none" w="sm" len="sm"/>
            <a:tailEnd type="none" w="sm" len="sm"/>
          </a:ln>
        </p:spPr>
      </p:cxnSp>
      <p:sp>
        <p:nvSpPr>
          <p:cNvPr id="86" name="Google Shape;86;p21"/>
          <p:cNvSpPr txBox="1"/>
          <p:nvPr>
            <p:ph type="title"/>
          </p:nvPr>
        </p:nvSpPr>
        <p:spPr>
          <a:xfrm>
            <a:off x="354000" y="1607767"/>
            <a:ext cx="5393600" cy="2012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56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p:txBody>
      </p:sp>
      <p:sp>
        <p:nvSpPr>
          <p:cNvPr id="87" name="Google Shape;87;p21"/>
          <p:cNvSpPr txBox="1"/>
          <p:nvPr>
            <p:ph type="subTitle" idx="1"/>
          </p:nvPr>
        </p:nvSpPr>
        <p:spPr>
          <a:xfrm>
            <a:off x="354000" y="3692001"/>
            <a:ext cx="5393600" cy="179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8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p:txBody>
      </p:sp>
      <p:sp>
        <p:nvSpPr>
          <p:cNvPr id="88" name="Google Shape;88;p21"/>
          <p:cNvSpPr txBox="1"/>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600" lvl="0" indent="-457200" rtl="0">
              <a:spcBef>
                <a:spcPts val="0"/>
              </a:spcBef>
              <a:spcAft>
                <a:spcPts val="0"/>
              </a:spcAft>
              <a:buClr>
                <a:schemeClr val="lt1"/>
              </a:buClr>
              <a:buSzPts val="1800"/>
              <a:buChar char="●"/>
              <a:defRPr>
                <a:solidFill>
                  <a:schemeClr val="lt1"/>
                </a:solidFill>
              </a:defRPr>
            </a:lvl1pPr>
            <a:lvl2pPr marL="1219200" lvl="1" indent="-423545" rtl="0">
              <a:spcBef>
                <a:spcPct val="427000"/>
              </a:spcBef>
              <a:spcAft>
                <a:spcPts val="0"/>
              </a:spcAft>
              <a:buClr>
                <a:schemeClr val="lt1"/>
              </a:buClr>
              <a:buSzPts val="1400"/>
              <a:buChar char="○"/>
              <a:defRPr>
                <a:solidFill>
                  <a:schemeClr val="lt1"/>
                </a:solidFill>
              </a:defRPr>
            </a:lvl2pPr>
            <a:lvl3pPr marL="1828800" lvl="2" indent="-423545" rtl="0">
              <a:spcBef>
                <a:spcPct val="427000"/>
              </a:spcBef>
              <a:spcAft>
                <a:spcPts val="0"/>
              </a:spcAft>
              <a:buClr>
                <a:schemeClr val="lt1"/>
              </a:buClr>
              <a:buSzPts val="1400"/>
              <a:buChar char="■"/>
              <a:defRPr>
                <a:solidFill>
                  <a:schemeClr val="lt1"/>
                </a:solidFill>
              </a:defRPr>
            </a:lvl3pPr>
            <a:lvl4pPr marL="2438400" lvl="3" indent="-423545" rtl="0">
              <a:spcBef>
                <a:spcPct val="427000"/>
              </a:spcBef>
              <a:spcAft>
                <a:spcPts val="0"/>
              </a:spcAft>
              <a:buClr>
                <a:schemeClr val="lt1"/>
              </a:buClr>
              <a:buSzPts val="1400"/>
              <a:buChar char="●"/>
              <a:defRPr>
                <a:solidFill>
                  <a:schemeClr val="lt1"/>
                </a:solidFill>
              </a:defRPr>
            </a:lvl4pPr>
            <a:lvl5pPr marL="3048000" lvl="4" indent="-423545" rtl="0">
              <a:spcBef>
                <a:spcPct val="427000"/>
              </a:spcBef>
              <a:spcAft>
                <a:spcPts val="0"/>
              </a:spcAft>
              <a:buClr>
                <a:schemeClr val="lt1"/>
              </a:buClr>
              <a:buSzPts val="1400"/>
              <a:buChar char="○"/>
              <a:defRPr>
                <a:solidFill>
                  <a:schemeClr val="lt1"/>
                </a:solidFill>
              </a:defRPr>
            </a:lvl5pPr>
            <a:lvl6pPr marL="3657600" lvl="5" indent="-423545" rtl="0">
              <a:spcBef>
                <a:spcPct val="427000"/>
              </a:spcBef>
              <a:spcAft>
                <a:spcPts val="0"/>
              </a:spcAft>
              <a:buClr>
                <a:schemeClr val="lt1"/>
              </a:buClr>
              <a:buSzPts val="1400"/>
              <a:buChar char="■"/>
              <a:defRPr>
                <a:solidFill>
                  <a:schemeClr val="lt1"/>
                </a:solidFill>
              </a:defRPr>
            </a:lvl6pPr>
            <a:lvl7pPr marL="4267200" lvl="6" indent="-423545" rtl="0">
              <a:spcBef>
                <a:spcPct val="427000"/>
              </a:spcBef>
              <a:spcAft>
                <a:spcPts val="0"/>
              </a:spcAft>
              <a:buClr>
                <a:schemeClr val="lt1"/>
              </a:buClr>
              <a:buSzPts val="1400"/>
              <a:buChar char="●"/>
              <a:defRPr>
                <a:solidFill>
                  <a:schemeClr val="lt1"/>
                </a:solidFill>
              </a:defRPr>
            </a:lvl7pPr>
            <a:lvl8pPr marL="4876800" lvl="7" indent="-423545" rtl="0">
              <a:spcBef>
                <a:spcPct val="427000"/>
              </a:spcBef>
              <a:spcAft>
                <a:spcPts val="0"/>
              </a:spcAft>
              <a:buClr>
                <a:schemeClr val="lt1"/>
              </a:buClr>
              <a:buSzPts val="1400"/>
              <a:buChar char="○"/>
              <a:defRPr>
                <a:solidFill>
                  <a:schemeClr val="lt1"/>
                </a:solidFill>
              </a:defRPr>
            </a:lvl8pPr>
            <a:lvl9pPr marL="5486400" lvl="8" indent="-423545" rtl="0">
              <a:spcBef>
                <a:spcPct val="427000"/>
              </a:spcBef>
              <a:spcAft>
                <a:spcPts val="1600"/>
              </a:spcAft>
              <a:buClr>
                <a:schemeClr val="lt1"/>
              </a:buClr>
              <a:buSzPts val="1400"/>
              <a:buChar char="■"/>
              <a:defRPr>
                <a:solidFill>
                  <a:schemeClr val="lt1"/>
                </a:solidFill>
              </a:defRPr>
            </a:lvl9pPr>
          </a:lstStyle>
          <a:p/>
        </p:txBody>
      </p:sp>
      <p:sp>
        <p:nvSpPr>
          <p:cNvPr id="89" name="Google Shape;89;p21"/>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A709E-C215-4E8E-8E45-59E3768F84B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1737CF-34AC-4C2D-ABFC-61A12BD25FF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60" name="Google Shape;60;p13"/>
          <p:cNvSpPr txBox="1"/>
          <p:nvPr>
            <p:ph type="ctrTitle"/>
          </p:nvPr>
        </p:nvSpPr>
        <p:spPr>
          <a:xfrm>
            <a:off x="680600" y="1676400"/>
            <a:ext cx="10830800" cy="2118000"/>
          </a:xfrm>
          <a:prstGeom prst="rect">
            <a:avLst/>
          </a:prstGeom>
        </p:spPr>
        <p:txBody>
          <a:bodyPr spcFirstLastPara="1" wrap="square" lIns="121900" tIns="121900" rIns="121900" bIns="121900" anchor="b" anchorCtr="0">
            <a:normAutofit/>
          </a:bodyPr>
          <a:lstStyle/>
          <a:p>
            <a:pPr marL="0" lvl="0" indent="0" algn="l" rtl="0">
              <a:spcBef>
                <a:spcPts val="0"/>
              </a:spcBef>
              <a:spcAft>
                <a:spcPts val="0"/>
              </a:spcAft>
              <a:buNone/>
            </a:pPr>
            <a:r>
              <a:rPr lang="en-US" altLang="en-GB" sz="8000">
                <a:solidFill>
                  <a:schemeClr val="bg1"/>
                </a:solidFill>
              </a:rPr>
              <a:t>OOP</a:t>
            </a:r>
            <a:r>
              <a:rPr lang="en-GB" sz="8000">
                <a:solidFill>
                  <a:schemeClr val="bg1"/>
                </a:solidFill>
              </a:rPr>
              <a:t> </a:t>
            </a:r>
            <a:endParaRPr lang="en-GB" sz="8000">
              <a:solidFill>
                <a:schemeClr val="bg1"/>
              </a:solidFill>
            </a:endParaRPr>
          </a:p>
        </p:txBody>
      </p:sp>
      <p:cxnSp>
        <p:nvCxnSpPr>
          <p:cNvPr id="63" name="Google Shape;63;p13"/>
          <p:cNvCxnSpPr/>
          <p:nvPr/>
        </p:nvCxnSpPr>
        <p:spPr>
          <a:xfrm rot="10800000" flipH="1">
            <a:off x="820200" y="3979367"/>
            <a:ext cx="8248400" cy="18000"/>
          </a:xfrm>
          <a:prstGeom prst="straightConnector1">
            <a:avLst/>
          </a:prstGeom>
          <a:noFill/>
          <a:ln w="19050" cap="flat" cmpd="sng">
            <a:solidFill>
              <a:schemeClr val="lt1"/>
            </a:solidFill>
            <a:prstDash val="solid"/>
            <a:round/>
            <a:headEnd type="none" w="med" len="med"/>
            <a:tailEnd type="none" w="med" len="med"/>
          </a:ln>
        </p:spPr>
      </p:cxnSp>
      <p:sp>
        <p:nvSpPr>
          <p:cNvPr id="2" name="Subtitle 1"/>
          <p:cNvSpPr/>
          <p:nvPr>
            <p:ph type="subTitle" idx="1"/>
          </p:nvPr>
        </p:nvSpPr>
        <p:spPr/>
        <p:txBody>
          <a:bodyPr/>
          <a:p>
            <a:endParaRPr lang="en-US"/>
          </a:p>
        </p:txBody>
      </p:sp>
      <p:sp>
        <p:nvSpPr>
          <p:cNvPr id="3" name="Subtitle 1"/>
          <p:cNvSpPr/>
          <p:nvPr/>
        </p:nvSpPr>
        <p:spPr>
          <a:xfrm>
            <a:off x="883195" y="4182438"/>
            <a:ext cx="8123100" cy="630000"/>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1pPr>
            <a:lvl2pPr marL="914400" marR="0" lvl="1"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2pPr>
            <a:lvl3pPr marL="1371600" marR="0" lvl="2"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3pPr>
            <a:lvl4pPr marL="1828800" marR="0" lvl="3"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4pPr>
            <a:lvl5pPr marL="2286000" marR="0" lvl="4"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5pPr>
            <a:lvl6pPr marL="2743200" marR="0" lvl="5"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6pPr>
            <a:lvl7pPr marL="3200400" marR="0" lvl="6"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7pPr>
            <a:lvl8pPr marL="3657600" marR="0" lvl="7"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8pPr>
            <a:lvl9pPr marL="4114800" marR="0" lvl="8"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9pPr>
          </a:lstStyle>
          <a:p>
            <a:r>
              <a:rPr lang="en-US"/>
              <a:t>Lecture 1</a:t>
            </a:r>
            <a:endParaRPr lang="en-US"/>
          </a:p>
        </p:txBody>
      </p:sp>
      <p:pic>
        <p:nvPicPr>
          <p:cNvPr id="6" name="Picture 5" descr="abstract-code-blocks-rendered-in-3d-within-the-virtual-space-powerpoint-background_79acb22bd5__960_540"/>
          <p:cNvPicPr>
            <a:picLocks noChangeAspect="1"/>
          </p:cNvPicPr>
          <p:nvPr/>
        </p:nvPicPr>
        <p:blipFill>
          <a:blip r:embed="rId1"/>
          <a:stretch>
            <a:fillRect/>
          </a:stretch>
        </p:blipFill>
        <p:spPr>
          <a:xfrm>
            <a:off x="0" y="-635"/>
            <a:ext cx="12192000" cy="6858635"/>
          </a:xfrm>
          <a:prstGeom prst="rect">
            <a:avLst/>
          </a:prstGeom>
        </p:spPr>
      </p:pic>
      <p:sp>
        <p:nvSpPr>
          <p:cNvPr id="7" name="Text Box 6"/>
          <p:cNvSpPr txBox="1"/>
          <p:nvPr/>
        </p:nvSpPr>
        <p:spPr>
          <a:xfrm>
            <a:off x="680720" y="2073910"/>
            <a:ext cx="10301605" cy="3599815"/>
          </a:xfrm>
          <a:prstGeom prst="rect">
            <a:avLst/>
          </a:prstGeom>
          <a:noFill/>
        </p:spPr>
        <p:txBody>
          <a:bodyPr wrap="square" rtlCol="0">
            <a:spAutoFit/>
          </a:bodyPr>
          <a:p>
            <a:r>
              <a:rPr lang="en-US" sz="7200" b="1">
                <a:solidFill>
                  <a:schemeClr val="bg1"/>
                </a:solidFill>
                <a:latin typeface="Arial Bold" panose="020B0604020202020204" charset="0"/>
                <a:cs typeface="Arial Bold" panose="020B0604020202020204" charset="0"/>
              </a:rPr>
              <a:t>Object Oriented Programming</a:t>
            </a:r>
            <a:endParaRPr lang="en-US" sz="72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a:p>
            <a:r>
              <a:rPr lang="en-US" sz="2800" b="1">
                <a:solidFill>
                  <a:schemeClr val="bg1"/>
                </a:solidFill>
                <a:latin typeface="Arial Bold" panose="020B0604020202020204" charset="0"/>
                <a:cs typeface="Arial Bold" panose="020B0604020202020204" charset="0"/>
              </a:rPr>
              <a:t>Lecture 18</a:t>
            </a:r>
            <a:endParaRPr lang="en-US" sz="28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lang="en-US"/>
              <a:t>Quick Recap of friend function and discussion of friend class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Friend Function </a:t>
            </a:r>
            <a:endParaRPr lang="en-US"/>
          </a:p>
        </p:txBody>
      </p:sp>
      <p:sp>
        <p:nvSpPr>
          <p:cNvPr id="3" name="Content Placeholder 2"/>
          <p:cNvSpPr>
            <a:spLocks noGrp="1"/>
          </p:cNvSpPr>
          <p:nvPr>
            <p:ph idx="1"/>
          </p:nvPr>
        </p:nvSpPr>
        <p:spPr/>
        <p:txBody>
          <a:bodyPr/>
          <a:p>
            <a:pPr marL="0" indent="0">
              <a:buNone/>
            </a:pPr>
            <a:r>
              <a:rPr lang="en-US" b="1">
                <a:latin typeface="Arial Bold" panose="020B0604020202020204" charset="0"/>
                <a:cs typeface="Arial Bold" panose="020B0604020202020204" charset="0"/>
              </a:rPr>
              <a:t>Step 1: What is a Friend?</a:t>
            </a:r>
            <a:endParaRPr lang="en-US" b="1">
              <a:latin typeface="Arial Bold" panose="020B0604020202020204" charset="0"/>
              <a:cs typeface="Arial Bold" panose="020B0604020202020204" charset="0"/>
            </a:endParaRPr>
          </a:p>
          <a:p>
            <a:pPr algn="just"/>
            <a:r>
              <a:rPr lang="en-US" sz="2400"/>
              <a:t>In real life, a friend is someone who can access your personal information (like your phone number or your secrets), even though they’re not a part of your family.</a:t>
            </a:r>
            <a:endParaRPr lang="en-US" sz="2400"/>
          </a:p>
          <a:p>
            <a:pPr algn="just"/>
            <a:r>
              <a:rPr lang="en-US" sz="2400"/>
              <a:t>Similarly, in C++, a friend function or friend class is something that can access the private or protected data of a class, even though it’s not a member of that class.</a:t>
            </a:r>
            <a:endParaRPr 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Friend Class </a:t>
            </a:r>
            <a:endParaRPr lang="en-US"/>
          </a:p>
        </p:txBody>
      </p:sp>
      <p:sp>
        <p:nvSpPr>
          <p:cNvPr id="3" name="Content Placeholder 2"/>
          <p:cNvSpPr>
            <a:spLocks noGrp="1"/>
          </p:cNvSpPr>
          <p:nvPr>
            <p:ph idx="1"/>
          </p:nvPr>
        </p:nvSpPr>
        <p:spPr/>
        <p:txBody>
          <a:bodyPr/>
          <a:p>
            <a:pPr marL="0" indent="0">
              <a:buNone/>
            </a:pPr>
            <a:r>
              <a:rPr lang="en-US" sz="2400" b="1">
                <a:latin typeface="Arial Bold" panose="020B0604020202020204" charset="0"/>
                <a:cs typeface="Arial Bold" panose="020B0604020202020204" charset="0"/>
              </a:rPr>
              <a:t>Step 2: What is a Class?</a:t>
            </a:r>
            <a:endParaRPr lang="en-US" sz="2400" b="1">
              <a:latin typeface="Arial Bold" panose="020B0604020202020204" charset="0"/>
              <a:cs typeface="Arial Bold" panose="020B0604020202020204" charset="0"/>
            </a:endParaRPr>
          </a:p>
          <a:p>
            <a:pPr marL="0" indent="0">
              <a:buNone/>
            </a:pPr>
            <a:r>
              <a:rPr lang="en-US" sz="2400"/>
              <a:t>Imagine a class as a house. It has:</a:t>
            </a:r>
            <a:endParaRPr lang="en-US" sz="2400"/>
          </a:p>
          <a:p>
            <a:r>
              <a:rPr lang="en-US" sz="2400"/>
              <a:t>Private rooms (private data members): Only the owner (the class) can enter.</a:t>
            </a:r>
            <a:endParaRPr lang="en-US" sz="2400"/>
          </a:p>
          <a:p>
            <a:r>
              <a:rPr lang="en-US" sz="2400"/>
              <a:t>Common areas (public data members): Everyone can access these.</a:t>
            </a:r>
            <a:endParaRPr lang="en-US" sz="2400"/>
          </a:p>
          <a:p>
            <a:r>
              <a:rPr lang="en-US" sz="2400"/>
              <a:t>Now, what if you want to allow your best friend (a function or another class) to enter your private room? That’s where the friend keyword comes in.</a:t>
            </a:r>
            <a:endParaRPr 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Friend Function </a:t>
            </a:r>
            <a:endParaRPr lang="en-US"/>
          </a:p>
        </p:txBody>
      </p:sp>
      <p:sp>
        <p:nvSpPr>
          <p:cNvPr id="3" name="Content Placeholder 2"/>
          <p:cNvSpPr>
            <a:spLocks noGrp="1"/>
          </p:cNvSpPr>
          <p:nvPr>
            <p:ph idx="1"/>
          </p:nvPr>
        </p:nvSpPr>
        <p:spPr/>
        <p:txBody>
          <a:bodyPr/>
          <a:p>
            <a:pPr marL="0" indent="0">
              <a:buNone/>
            </a:pPr>
            <a:r>
              <a:rPr lang="en-US" sz="2400" b="1">
                <a:latin typeface="Arial Bold" panose="020B0604020202020204" charset="0"/>
                <a:cs typeface="Arial Bold" panose="020B0604020202020204" charset="0"/>
              </a:rPr>
              <a:t>Step 3: Friend Function</a:t>
            </a:r>
            <a:endParaRPr lang="en-US" sz="2400" b="1">
              <a:latin typeface="Arial Bold" panose="020B0604020202020204" charset="0"/>
              <a:cs typeface="Arial Bold" panose="020B0604020202020204" charset="0"/>
            </a:endParaRPr>
          </a:p>
          <a:p>
            <a:pPr marL="0" indent="0" algn="just">
              <a:buNone/>
            </a:pPr>
            <a:r>
              <a:rPr lang="en-US" sz="2400">
                <a:latin typeface="Arial" panose="020B0604020202020204" pitchFamily="34" charset="0"/>
                <a:cs typeface="Arial" panose="020B0604020202020204" pitchFamily="34" charset="0"/>
              </a:rPr>
              <a:t>A friend function is like a trusted friend who can enter your private room without knocking.</a:t>
            </a:r>
            <a:endParaRPr lang="en-US" sz="2400">
              <a:latin typeface="Arial" panose="020B0604020202020204" pitchFamily="34" charset="0"/>
              <a:cs typeface="Arial" panose="020B0604020202020204" pitchFamily="34" charset="0"/>
            </a:endParaRPr>
          </a:p>
          <a:p>
            <a:pPr marL="0" indent="0" algn="just">
              <a:buNone/>
            </a:pPr>
            <a:r>
              <a:rPr lang="en-US" sz="2400" b="1">
                <a:latin typeface="Arial Bold" panose="020B0604020202020204" charset="0"/>
                <a:cs typeface="Arial Bold" panose="020B0604020202020204" charset="0"/>
              </a:rPr>
              <a:t>Example</a:t>
            </a:r>
            <a:endParaRPr lang="en-US" sz="2400" b="1">
              <a:latin typeface="Arial Bold" panose="020B0604020202020204" charset="0"/>
              <a:cs typeface="Arial Bold" panose="020B0604020202020204" charset="0"/>
            </a:endParaRPr>
          </a:p>
          <a:p>
            <a:pPr marL="0" indent="0" algn="just">
              <a:buNone/>
            </a:pPr>
            <a:r>
              <a:rPr lang="en-US" sz="2400">
                <a:latin typeface="Arial" panose="020B0604020202020204" pitchFamily="34" charset="0"/>
                <a:cs typeface="Arial" panose="020B0604020202020204" pitchFamily="34" charset="0"/>
              </a:rPr>
              <a:t>Let’s say we have a class Box that stores the length of a box. Normally, the length is private, but we want to create a separate function (not part of the class) to access and display the length.</a:t>
            </a:r>
            <a:endParaRPr lang="en-US" sz="2400">
              <a:latin typeface="Arial" panose="020B0604020202020204" pitchFamily="34" charset="0"/>
              <a:cs typeface="Arial" panose="020B0604020202020204" pitchFamily="34" charset="0"/>
            </a:endParaRPr>
          </a:p>
          <a:p>
            <a:pPr marL="0" indent="0" algn="just">
              <a:buNone/>
            </a:pPr>
            <a:r>
              <a:rPr lang="en-US" sz="2400">
                <a:latin typeface="Arial" panose="020B0604020202020204" pitchFamily="34" charset="0"/>
                <a:cs typeface="Arial" panose="020B0604020202020204" pitchFamily="34" charset="0"/>
              </a:rPr>
              <a:t>Here’s how it looks in code:</a:t>
            </a:r>
            <a:endParaRPr lang="en-US" sz="240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7595870" cy="662940"/>
          </a:xfrm>
        </p:spPr>
        <p:txBody>
          <a:bodyPr>
            <a:normAutofit/>
          </a:bodyPr>
          <a:p>
            <a:r>
              <a:rPr lang="en-US" sz="3600"/>
              <a:t>Friend Function in C++</a:t>
            </a:r>
            <a:endParaRPr lang="en-US" sz="3600"/>
          </a:p>
        </p:txBody>
      </p:sp>
      <p:pic>
        <p:nvPicPr>
          <p:cNvPr id="4" name="Content Placeholder 3" descr="Image 16-12-2024 at 2.05 PM"/>
          <p:cNvPicPr>
            <a:picLocks noChangeAspect="1"/>
          </p:cNvPicPr>
          <p:nvPr>
            <p:ph idx="1"/>
          </p:nvPr>
        </p:nvPicPr>
        <p:blipFill>
          <a:blip r:embed="rId1"/>
          <a:stretch>
            <a:fillRect/>
          </a:stretch>
        </p:blipFill>
        <p:spPr>
          <a:xfrm>
            <a:off x="2709545" y="1027430"/>
            <a:ext cx="6962775" cy="57397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lang="en-US"/>
              <a:t>What is the output if i make the changes mentioned in the next slide?</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6-12-2024 at 2.14 PM"/>
          <p:cNvPicPr>
            <a:picLocks noChangeAspect="1"/>
          </p:cNvPicPr>
          <p:nvPr>
            <p:ph idx="1"/>
          </p:nvPr>
        </p:nvPicPr>
        <p:blipFill>
          <a:blip r:embed="rId1"/>
          <a:stretch>
            <a:fillRect/>
          </a:stretch>
        </p:blipFill>
        <p:spPr>
          <a:xfrm>
            <a:off x="2668270" y="0"/>
            <a:ext cx="6191250" cy="68586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5988685" cy="647065"/>
          </a:xfrm>
        </p:spPr>
        <p:txBody>
          <a:bodyPr/>
          <a:p>
            <a:r>
              <a:rPr lang="en-US" sz="2800"/>
              <a:t>Solution</a:t>
            </a:r>
            <a:endParaRPr lang="en-US" sz="2800"/>
          </a:p>
        </p:txBody>
      </p:sp>
      <p:pic>
        <p:nvPicPr>
          <p:cNvPr id="4" name="Content Placeholder 3" descr="Image 16-12-2024 at 2.23 PM"/>
          <p:cNvPicPr>
            <a:picLocks noChangeAspect="1"/>
          </p:cNvPicPr>
          <p:nvPr>
            <p:ph idx="1"/>
          </p:nvPr>
        </p:nvPicPr>
        <p:blipFill>
          <a:blip r:embed="rId1"/>
          <a:stretch>
            <a:fillRect/>
          </a:stretch>
        </p:blipFill>
        <p:spPr>
          <a:xfrm>
            <a:off x="2646680" y="182245"/>
            <a:ext cx="6307455" cy="66757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7581900" cy="559435"/>
          </a:xfrm>
        </p:spPr>
        <p:txBody>
          <a:bodyPr>
            <a:normAutofit fontScale="90000"/>
          </a:bodyPr>
          <a:p>
            <a:r>
              <a:rPr lang="en-US"/>
              <a:t>Friend Function - Example 2</a:t>
            </a:r>
            <a:endParaRPr lang="en-US"/>
          </a:p>
        </p:txBody>
      </p:sp>
      <p:pic>
        <p:nvPicPr>
          <p:cNvPr id="4" name="Content Placeholder 3" descr="Image 30-12-2024 at 9.45 AM"/>
          <p:cNvPicPr>
            <a:picLocks noChangeAspect="1"/>
          </p:cNvPicPr>
          <p:nvPr>
            <p:ph idx="1"/>
          </p:nvPr>
        </p:nvPicPr>
        <p:blipFill>
          <a:blip r:embed="rId1"/>
          <a:stretch>
            <a:fillRect/>
          </a:stretch>
        </p:blipFill>
        <p:spPr>
          <a:xfrm>
            <a:off x="2313305" y="1101090"/>
            <a:ext cx="7446645" cy="56686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9041130" cy="588645"/>
          </a:xfrm>
        </p:spPr>
        <p:txBody>
          <a:bodyPr>
            <a:normAutofit fontScale="90000"/>
          </a:bodyPr>
          <a:p>
            <a:r>
              <a:rPr lang="en-US"/>
              <a:t>Properties of Friend Function</a:t>
            </a:r>
            <a:endParaRPr lang="en-US"/>
          </a:p>
        </p:txBody>
      </p:sp>
      <p:sp>
        <p:nvSpPr>
          <p:cNvPr id="3" name="Content Placeholder 2"/>
          <p:cNvSpPr>
            <a:spLocks noGrp="1"/>
          </p:cNvSpPr>
          <p:nvPr>
            <p:ph idx="1"/>
          </p:nvPr>
        </p:nvSpPr>
        <p:spPr>
          <a:xfrm>
            <a:off x="838200" y="1207135"/>
            <a:ext cx="10515600" cy="4970145"/>
          </a:xfrm>
        </p:spPr>
        <p:txBody>
          <a:bodyPr/>
          <a:p>
            <a:r>
              <a:rPr lang="en-US"/>
              <a:t>Not in the scope of class</a:t>
            </a:r>
            <a:endParaRPr lang="en-US"/>
          </a:p>
          <a:p>
            <a:r>
              <a:rPr lang="en-US"/>
              <a:t>Since it is not in the scope of the class, it cannot be called from the object of that class, i.e., c1.sumComplex() == invalid</a:t>
            </a:r>
            <a:endParaRPr lang="en-US"/>
          </a:p>
          <a:p>
            <a:r>
              <a:rPr lang="en-US"/>
              <a:t>Can be invoked without the help of any object</a:t>
            </a:r>
            <a:endParaRPr lang="en-US"/>
          </a:p>
          <a:p>
            <a:r>
              <a:rPr lang="en-US"/>
              <a:t>Usually contains the arguments as the objects </a:t>
            </a:r>
            <a:endParaRPr lang="en-US"/>
          </a:p>
          <a:p>
            <a:r>
              <a:rPr lang="en-US"/>
              <a:t>Can be declared inside the private or public section of the class</a:t>
            </a:r>
            <a:endParaRPr lang="en-US"/>
          </a:p>
          <a:p>
            <a:r>
              <a:rPr lang="en-US"/>
              <a:t>It cannot access the members by their names </a:t>
            </a:r>
            <a:endParaRPr lang="en-US"/>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Friend Class </a:t>
            </a:r>
            <a:endParaRPr lang="en-US"/>
          </a:p>
        </p:txBody>
      </p:sp>
      <p:sp>
        <p:nvSpPr>
          <p:cNvPr id="3" name="Content Placeholder 2"/>
          <p:cNvSpPr>
            <a:spLocks noGrp="1"/>
          </p:cNvSpPr>
          <p:nvPr>
            <p:ph idx="1"/>
          </p:nvPr>
        </p:nvSpPr>
        <p:spPr>
          <a:xfrm>
            <a:off x="838200" y="1545590"/>
            <a:ext cx="10515600" cy="4631690"/>
          </a:xfrm>
        </p:spPr>
        <p:txBody>
          <a:bodyPr/>
          <a:p>
            <a:pPr marL="0" indent="0" algn="just">
              <a:buNone/>
            </a:pPr>
            <a:r>
              <a:rPr lang="en-US" sz="1800">
                <a:latin typeface="Arial" panose="020B0604020202020204" pitchFamily="34" charset="0"/>
                <a:cs typeface="Arial" panose="020B0604020202020204" pitchFamily="34" charset="0"/>
              </a:rPr>
              <a:t>A friend class is a class that has access to the private and protected members of another class. In simpler terms, one class can give special permission to another class to access its private data.</a:t>
            </a:r>
            <a:endParaRPr lang="en-US" sz="1800">
              <a:latin typeface="Arial" panose="020B0604020202020204" pitchFamily="34" charset="0"/>
              <a:cs typeface="Arial" panose="020B0604020202020204" pitchFamily="34" charset="0"/>
            </a:endParaRPr>
          </a:p>
          <a:p>
            <a:pPr marL="0" indent="0" algn="just">
              <a:buNone/>
            </a:pPr>
            <a:r>
              <a:rPr lang="en-US" sz="1800" b="1">
                <a:latin typeface="Arial Bold" panose="020B0604020202020204" charset="0"/>
                <a:cs typeface="Arial Bold" panose="020B0604020202020204" charset="0"/>
              </a:rPr>
              <a:t>Real-Life Analogy:</a:t>
            </a:r>
            <a:endParaRPr lang="en-US" sz="1800" b="1">
              <a:latin typeface="Arial Bold" panose="020B0604020202020204" charset="0"/>
              <a:cs typeface="Arial Bold" panose="020B0604020202020204" charset="0"/>
            </a:endParaRPr>
          </a:p>
          <a:p>
            <a:pPr algn="just"/>
            <a:r>
              <a:rPr lang="en-US" sz="1800">
                <a:latin typeface="Arial" panose="020B0604020202020204" pitchFamily="34" charset="0"/>
                <a:cs typeface="Arial" panose="020B0604020202020204" pitchFamily="34" charset="0"/>
              </a:rPr>
              <a:t>Student is a class that stores details about a student, such as their grades.</a:t>
            </a:r>
            <a:endParaRPr lang="en-US" sz="1800">
              <a:latin typeface="Arial" panose="020B0604020202020204" pitchFamily="34" charset="0"/>
              <a:cs typeface="Arial" panose="020B0604020202020204" pitchFamily="34" charset="0"/>
            </a:endParaRPr>
          </a:p>
          <a:p>
            <a:pPr algn="just"/>
            <a:r>
              <a:rPr lang="en-US" sz="1800">
                <a:latin typeface="Arial" panose="020B0604020202020204" pitchFamily="34" charset="0"/>
                <a:cs typeface="Arial" panose="020B0604020202020204" pitchFamily="34" charset="0"/>
              </a:rPr>
              <a:t>Teacher is another class that can access the private grades of a student to check how well they are doing.</a:t>
            </a:r>
            <a:endParaRPr lang="en-US" sz="1800">
              <a:latin typeface="Arial" panose="020B0604020202020204" pitchFamily="34" charset="0"/>
              <a:cs typeface="Arial" panose="020B0604020202020204" pitchFamily="34" charset="0"/>
            </a:endParaRPr>
          </a:p>
          <a:p>
            <a:pPr algn="just"/>
            <a:r>
              <a:rPr lang="en-US" sz="1800">
                <a:latin typeface="Arial" panose="020B0604020202020204" pitchFamily="34" charset="0"/>
                <a:cs typeface="Arial" panose="020B0604020202020204" pitchFamily="34" charset="0"/>
              </a:rPr>
              <a:t>Normally, a teacher (class) wouldn’t be able to access a student’s private grades (data), but by making the teacher a friend class of the student, we give the teacher special permission to access that data.</a:t>
            </a:r>
            <a:endParaRPr lang="en-US" sz="180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7581900" cy="559435"/>
          </a:xfrm>
        </p:spPr>
        <p:txBody>
          <a:bodyPr>
            <a:normAutofit fontScale="90000"/>
          </a:bodyPr>
          <a:p>
            <a:r>
              <a:rPr lang="en-US"/>
              <a:t>Friend Class - Example</a:t>
            </a:r>
            <a:endParaRPr lang="en-US"/>
          </a:p>
        </p:txBody>
      </p:sp>
      <p:pic>
        <p:nvPicPr>
          <p:cNvPr id="5" name="Content Placeholder 4" descr="Image 30-12-2024 at 9.54 AM"/>
          <p:cNvPicPr>
            <a:picLocks noChangeAspect="1"/>
          </p:cNvPicPr>
          <p:nvPr>
            <p:ph idx="1"/>
          </p:nvPr>
        </p:nvPicPr>
        <p:blipFill>
          <a:blip r:embed="rId1"/>
          <a:stretch>
            <a:fillRect/>
          </a:stretch>
        </p:blipFill>
        <p:spPr>
          <a:xfrm>
            <a:off x="2376170" y="1103630"/>
            <a:ext cx="6848475" cy="56622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9999980" cy="559435"/>
          </a:xfrm>
        </p:spPr>
        <p:txBody>
          <a:bodyPr>
            <a:normAutofit fontScale="90000"/>
          </a:bodyPr>
          <a:p>
            <a:r>
              <a:rPr lang="en-US"/>
              <a:t>Friend Class - Complex Example</a:t>
            </a:r>
            <a:endParaRPr lang="en-US"/>
          </a:p>
        </p:txBody>
      </p:sp>
      <p:pic>
        <p:nvPicPr>
          <p:cNvPr id="4" name="Content Placeholder 3" descr="Image 30-12-2024 at 1.53 PM"/>
          <p:cNvPicPr>
            <a:picLocks noChangeAspect="1"/>
          </p:cNvPicPr>
          <p:nvPr>
            <p:ph idx="1"/>
          </p:nvPr>
        </p:nvPicPr>
        <p:blipFill>
          <a:blip r:embed="rId1"/>
          <a:stretch>
            <a:fillRect/>
          </a:stretch>
        </p:blipFill>
        <p:spPr>
          <a:xfrm>
            <a:off x="2519680" y="1029335"/>
            <a:ext cx="6666230" cy="58280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sz="3110"/>
              <a:t>Difference Between Friend Function and Friend Class </a:t>
            </a:r>
            <a:endParaRPr lang="en-US" sz="3110"/>
          </a:p>
        </p:txBody>
      </p:sp>
      <p:sp>
        <p:nvSpPr>
          <p:cNvPr id="3" name="Content Placeholder 2"/>
          <p:cNvSpPr>
            <a:spLocks noGrp="1"/>
          </p:cNvSpPr>
          <p:nvPr>
            <p:ph idx="1"/>
          </p:nvPr>
        </p:nvSpPr>
        <p:spPr>
          <a:xfrm>
            <a:off x="838200" y="1472565"/>
            <a:ext cx="10515600" cy="4704715"/>
          </a:xfrm>
        </p:spPr>
        <p:txBody>
          <a:bodyPr/>
          <a:p>
            <a:pPr marL="0" indent="0" algn="just">
              <a:buNone/>
            </a:pPr>
            <a:r>
              <a:rPr lang="en-US" sz="1800">
                <a:latin typeface="Arial" panose="020B0604020202020204" pitchFamily="34" charset="0"/>
                <a:cs typeface="Arial" panose="020B0604020202020204" pitchFamily="34" charset="0"/>
              </a:rPr>
              <a:t>Both friend function and friend class allow external functions or classes to access private and protected members of another class. However, there are key differences between the two. </a:t>
            </a:r>
            <a:endParaRPr lang="en-US" sz="1800">
              <a:latin typeface="Arial" panose="020B0604020202020204" pitchFamily="34" charset="0"/>
              <a:cs typeface="Arial" panose="020B0604020202020204" pitchFamily="34" charset="0"/>
            </a:endParaRPr>
          </a:p>
          <a:p>
            <a:pPr marL="0" indent="0" algn="just">
              <a:buNone/>
            </a:pPr>
            <a:r>
              <a:rPr lang="en-US" sz="1800">
                <a:latin typeface="Arial" panose="020B0604020202020204" pitchFamily="34" charset="0"/>
                <a:cs typeface="Arial" panose="020B0604020202020204" pitchFamily="34" charset="0"/>
              </a:rPr>
              <a:t>Let’s break it down step by step:</a:t>
            </a:r>
            <a:endParaRPr lang="en-US" sz="1800">
              <a:latin typeface="Arial" panose="020B0604020202020204" pitchFamily="34" charset="0"/>
              <a:cs typeface="Arial" panose="020B0604020202020204" pitchFamily="34" charset="0"/>
            </a:endParaRPr>
          </a:p>
          <a:p>
            <a:pPr marL="0" indent="0" algn="just">
              <a:buNone/>
            </a:pPr>
            <a:endParaRPr lang="en-US" sz="1800">
              <a:latin typeface="Arial" panose="020B0604020202020204" pitchFamily="34" charset="0"/>
              <a:cs typeface="Arial" panose="020B0604020202020204" pitchFamily="34" charset="0"/>
            </a:endParaRPr>
          </a:p>
          <a:p>
            <a:pPr marL="0" indent="0" algn="just">
              <a:buNone/>
            </a:pPr>
            <a:r>
              <a:rPr lang="en-US" sz="1800" b="1">
                <a:latin typeface="Arial Bold" panose="020B0604020202020204" charset="0"/>
                <a:cs typeface="Arial Bold" panose="020B0604020202020204" charset="0"/>
              </a:rPr>
              <a:t>1. Definition</a:t>
            </a:r>
            <a:endParaRPr lang="en-US" sz="1800" b="1">
              <a:latin typeface="Arial Bold" panose="020B0604020202020204" charset="0"/>
              <a:cs typeface="Arial Bold" panose="020B0604020202020204" charset="0"/>
            </a:endParaRPr>
          </a:p>
          <a:p>
            <a:pPr marL="0" indent="0" algn="just">
              <a:buNone/>
            </a:pPr>
            <a:r>
              <a:rPr lang="en-US" sz="1800" b="1">
                <a:latin typeface="Arial Bold" panose="020B0604020202020204" charset="0"/>
                <a:cs typeface="Arial Bold" panose="020B0604020202020204" charset="0"/>
              </a:rPr>
              <a:t>Friend Function: </a:t>
            </a:r>
            <a:r>
              <a:rPr lang="en-US" sz="1800">
                <a:latin typeface="Arial" panose="020B0604020202020204" pitchFamily="34" charset="0"/>
                <a:cs typeface="Arial" panose="020B0604020202020204" pitchFamily="34" charset="0"/>
              </a:rPr>
              <a:t>A friend function is a specific function that is given permission to access the private and protected members of a class, even though it is not a member of that class. It could be a standalone function or a member function of another class.</a:t>
            </a:r>
            <a:endParaRPr lang="en-US" sz="1800">
              <a:latin typeface="Arial" panose="020B0604020202020204" pitchFamily="34" charset="0"/>
              <a:cs typeface="Arial" panose="020B0604020202020204" pitchFamily="34" charset="0"/>
            </a:endParaRPr>
          </a:p>
          <a:p>
            <a:pPr marL="0" indent="0" algn="just">
              <a:buNone/>
            </a:pPr>
            <a:r>
              <a:rPr lang="en-US" sz="1800" b="1">
                <a:latin typeface="Arial Bold" panose="020B0604020202020204" charset="0"/>
                <a:cs typeface="Arial Bold" panose="020B0604020202020204" charset="0"/>
              </a:rPr>
              <a:t>Friend Class:</a:t>
            </a:r>
            <a:r>
              <a:rPr lang="en-US" sz="1800">
                <a:latin typeface="Arial" panose="020B0604020202020204" pitchFamily="34" charset="0"/>
                <a:cs typeface="Arial" panose="020B0604020202020204" pitchFamily="34" charset="0"/>
              </a:rPr>
              <a:t> A friend class is a whole class that is given permission to access the private and protected members of another class. All member functions of the friend class can access the private data of the other class.</a:t>
            </a:r>
            <a:endParaRPr lang="en-US" sz="1800">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sz="3110"/>
              <a:t>Difference Between Friend Function and Friend Class </a:t>
            </a:r>
            <a:endParaRPr lang="en-US" sz="3110"/>
          </a:p>
        </p:txBody>
      </p:sp>
      <p:sp>
        <p:nvSpPr>
          <p:cNvPr id="3" name="Content Placeholder 2"/>
          <p:cNvSpPr>
            <a:spLocks noGrp="1"/>
          </p:cNvSpPr>
          <p:nvPr>
            <p:ph idx="1"/>
          </p:nvPr>
        </p:nvSpPr>
        <p:spPr>
          <a:xfrm>
            <a:off x="838200" y="1472565"/>
            <a:ext cx="10515600" cy="4704715"/>
          </a:xfrm>
        </p:spPr>
        <p:txBody>
          <a:bodyPr/>
          <a:p>
            <a:pPr marL="0" indent="0" algn="just">
              <a:buNone/>
            </a:pPr>
            <a:r>
              <a:rPr lang="en-US" sz="1800" b="1">
                <a:latin typeface="Arial Bold" panose="020B0604020202020204" charset="0"/>
                <a:cs typeface="Arial Bold" panose="020B0604020202020204" charset="0"/>
              </a:rPr>
              <a:t>2. Scope of Access</a:t>
            </a:r>
            <a:endParaRPr lang="en-US" sz="1800" b="1">
              <a:latin typeface="Arial Bold" panose="020B0604020202020204" charset="0"/>
              <a:cs typeface="Arial Bold" panose="020B0604020202020204" charset="0"/>
            </a:endParaRPr>
          </a:p>
          <a:p>
            <a:pPr marL="0" indent="0" algn="just">
              <a:buNone/>
            </a:pPr>
            <a:r>
              <a:rPr lang="en-US" sz="1800" b="1">
                <a:latin typeface="Arial Bold" panose="020B0604020202020204" charset="0"/>
                <a:cs typeface="Arial Bold" panose="020B0604020202020204" charset="0"/>
              </a:rPr>
              <a:t>Friend Function:</a:t>
            </a:r>
            <a:r>
              <a:rPr lang="en-US" sz="1800">
                <a:latin typeface="Arial" panose="020B0604020202020204" pitchFamily="34" charset="0"/>
                <a:cs typeface="Arial" panose="020B0604020202020204" pitchFamily="34" charset="0"/>
              </a:rPr>
              <a:t> Only the specific function that is declared as a friend can access the private members of the class. It doesn't have access to the entire class; only the function is given special access.</a:t>
            </a:r>
            <a:endParaRPr lang="en-US" sz="1800">
              <a:latin typeface="Arial" panose="020B0604020202020204" pitchFamily="34" charset="0"/>
              <a:cs typeface="Arial" panose="020B0604020202020204" pitchFamily="34" charset="0"/>
            </a:endParaRPr>
          </a:p>
          <a:p>
            <a:pPr marL="0" indent="0" algn="just">
              <a:buNone/>
            </a:pPr>
            <a:r>
              <a:rPr lang="en-US" sz="1800" b="1">
                <a:latin typeface="Arial Bold" panose="020B0604020202020204" charset="0"/>
                <a:cs typeface="Arial Bold" panose="020B0604020202020204" charset="0"/>
              </a:rPr>
              <a:t>Friend Class:</a:t>
            </a:r>
            <a:r>
              <a:rPr lang="en-US" sz="1800">
                <a:latin typeface="Arial" panose="020B0604020202020204" pitchFamily="34" charset="0"/>
                <a:cs typeface="Arial" panose="020B0604020202020204" pitchFamily="34" charset="0"/>
              </a:rPr>
              <a:t> All member functions of the entire friend class are granted access to the private and protected members of the other class. This means every function in the friend class can access the private data.</a:t>
            </a:r>
            <a:endParaRPr lang="en-US" sz="1800">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sz="3110"/>
              <a:t>Difference Between Friend Function and Friend Class </a:t>
            </a:r>
            <a:endParaRPr lang="en-US" sz="3110"/>
          </a:p>
        </p:txBody>
      </p:sp>
      <p:sp>
        <p:nvSpPr>
          <p:cNvPr id="3" name="Content Placeholder 2"/>
          <p:cNvSpPr>
            <a:spLocks noGrp="1"/>
          </p:cNvSpPr>
          <p:nvPr>
            <p:ph idx="1"/>
          </p:nvPr>
        </p:nvSpPr>
        <p:spPr>
          <a:xfrm>
            <a:off x="838200" y="1472565"/>
            <a:ext cx="10515600" cy="4704715"/>
          </a:xfrm>
        </p:spPr>
        <p:txBody>
          <a:bodyPr/>
          <a:p>
            <a:pPr marL="0" indent="0" algn="just">
              <a:buNone/>
            </a:pPr>
            <a:r>
              <a:rPr lang="en-US" sz="1800" b="1">
                <a:latin typeface="Arial Bold" panose="020B0604020202020204" charset="0"/>
                <a:cs typeface="Arial Bold" panose="020B0604020202020204" charset="0"/>
              </a:rPr>
              <a:t>3. Declaration</a:t>
            </a:r>
            <a:endParaRPr lang="en-US" sz="1800" b="1">
              <a:latin typeface="Arial Bold" panose="020B0604020202020204" charset="0"/>
              <a:cs typeface="Arial Bold" panose="020B0604020202020204" charset="0"/>
            </a:endParaRPr>
          </a:p>
          <a:p>
            <a:pPr marL="0" indent="0" algn="just">
              <a:buNone/>
            </a:pPr>
            <a:r>
              <a:rPr lang="en-US" sz="1800">
                <a:latin typeface="Arial" panose="020B0604020202020204" pitchFamily="34" charset="0"/>
                <a:cs typeface="Arial" panose="020B0604020202020204" pitchFamily="34" charset="0"/>
              </a:rPr>
              <a:t>Friend Function: A friend function is declared inside the class using the friend keyword. You specify a single function (or method) to be given special access.</a:t>
            </a:r>
            <a:endParaRPr lang="en-US" sz="1800">
              <a:latin typeface="Arial" panose="020B0604020202020204" pitchFamily="34" charset="0"/>
              <a:cs typeface="Arial" panose="020B0604020202020204" pitchFamily="34" charset="0"/>
            </a:endParaRPr>
          </a:p>
          <a:p>
            <a:pPr marL="0" indent="0" algn="just">
              <a:buNone/>
            </a:pPr>
            <a:endParaRPr lang="en-US" sz="1800">
              <a:latin typeface="Arial" panose="020B0604020202020204" pitchFamily="34" charset="0"/>
              <a:cs typeface="Arial" panose="020B0604020202020204" pitchFamily="34" charset="0"/>
            </a:endParaRPr>
          </a:p>
        </p:txBody>
      </p:sp>
      <p:pic>
        <p:nvPicPr>
          <p:cNvPr id="4" name="Picture 3" descr="Image 30-12-2024 at 1.22 PM"/>
          <p:cNvPicPr>
            <a:picLocks noChangeAspect="1"/>
          </p:cNvPicPr>
          <p:nvPr/>
        </p:nvPicPr>
        <p:blipFill>
          <a:blip r:embed="rId1"/>
          <a:stretch>
            <a:fillRect/>
          </a:stretch>
        </p:blipFill>
        <p:spPr>
          <a:xfrm>
            <a:off x="2479040" y="2721610"/>
            <a:ext cx="6672580" cy="39731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sz="3110"/>
              <a:t>Difference Between Friend Function and Friend Class </a:t>
            </a:r>
            <a:endParaRPr lang="en-US" sz="3110"/>
          </a:p>
        </p:txBody>
      </p:sp>
      <p:sp>
        <p:nvSpPr>
          <p:cNvPr id="3" name="Content Placeholder 2"/>
          <p:cNvSpPr>
            <a:spLocks noGrp="1"/>
          </p:cNvSpPr>
          <p:nvPr>
            <p:ph idx="1"/>
          </p:nvPr>
        </p:nvSpPr>
        <p:spPr>
          <a:xfrm>
            <a:off x="838200" y="1472565"/>
            <a:ext cx="10515600" cy="4704715"/>
          </a:xfrm>
        </p:spPr>
        <p:txBody>
          <a:bodyPr/>
          <a:p>
            <a:pPr marL="0" indent="0" algn="just">
              <a:buNone/>
            </a:pPr>
            <a:r>
              <a:rPr lang="en-US" sz="1800" b="1">
                <a:latin typeface="Arial Bold" panose="020B0604020202020204" charset="0"/>
                <a:cs typeface="Arial Bold" panose="020B0604020202020204" charset="0"/>
              </a:rPr>
              <a:t>3. Declaration</a:t>
            </a:r>
            <a:endParaRPr lang="en-US" sz="1800" b="1">
              <a:latin typeface="Arial Bold" panose="020B0604020202020204" charset="0"/>
              <a:cs typeface="Arial Bold" panose="020B0604020202020204" charset="0"/>
            </a:endParaRPr>
          </a:p>
          <a:p>
            <a:pPr marL="0" indent="0" algn="just">
              <a:buNone/>
            </a:pPr>
            <a:r>
              <a:rPr lang="en-US" sz="1800">
                <a:latin typeface="Arial" panose="020B0604020202020204" pitchFamily="34" charset="0"/>
                <a:cs typeface="Arial" panose="020B0604020202020204" pitchFamily="34" charset="0"/>
              </a:rPr>
              <a:t>Friend Class: A friend class is declared inside the class using the friend keyword. The entire class is given special access to the private members.</a:t>
            </a:r>
            <a:endParaRPr lang="en-US" sz="1800">
              <a:latin typeface="Arial" panose="020B0604020202020204" pitchFamily="34" charset="0"/>
              <a:cs typeface="Arial" panose="020B0604020202020204" pitchFamily="34" charset="0"/>
            </a:endParaRPr>
          </a:p>
          <a:p>
            <a:pPr marL="0" indent="0" algn="just">
              <a:buNone/>
            </a:pPr>
            <a:endParaRPr lang="en-US" sz="1800">
              <a:latin typeface="Arial" panose="020B0604020202020204" pitchFamily="34" charset="0"/>
              <a:cs typeface="Arial" panose="020B0604020202020204" pitchFamily="34" charset="0"/>
            </a:endParaRPr>
          </a:p>
        </p:txBody>
      </p:sp>
      <p:pic>
        <p:nvPicPr>
          <p:cNvPr id="5" name="Picture 4" descr="Image 30-12-2024 at 1.24 PM"/>
          <p:cNvPicPr>
            <a:picLocks noChangeAspect="1"/>
          </p:cNvPicPr>
          <p:nvPr/>
        </p:nvPicPr>
        <p:blipFill>
          <a:blip r:embed="rId1"/>
          <a:stretch>
            <a:fillRect/>
          </a:stretch>
        </p:blipFill>
        <p:spPr>
          <a:xfrm>
            <a:off x="1924685" y="2487295"/>
            <a:ext cx="7383145" cy="437070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9099550" cy="927735"/>
          </a:xfrm>
        </p:spPr>
        <p:txBody>
          <a:bodyPr>
            <a:normAutofit fontScale="90000"/>
          </a:bodyPr>
          <a:p>
            <a:r>
              <a:rPr lang="en-US"/>
              <a:t>More Examples - Output of this code?</a:t>
            </a:r>
            <a:endParaRPr lang="en-US"/>
          </a:p>
        </p:txBody>
      </p:sp>
      <p:pic>
        <p:nvPicPr>
          <p:cNvPr id="6" name="Content Placeholder 5" descr="Image 30-12-2024 at 2.07 PM"/>
          <p:cNvPicPr>
            <a:picLocks noChangeAspect="1"/>
          </p:cNvPicPr>
          <p:nvPr>
            <p:ph idx="1"/>
          </p:nvPr>
        </p:nvPicPr>
        <p:blipFill>
          <a:blip r:embed="rId1"/>
          <a:stretch>
            <a:fillRect/>
          </a:stretch>
        </p:blipFill>
        <p:spPr>
          <a:xfrm>
            <a:off x="2162810" y="1292860"/>
            <a:ext cx="7011035" cy="55657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6784340" cy="249555"/>
          </a:xfrm>
        </p:spPr>
        <p:txBody>
          <a:bodyPr>
            <a:normAutofit fontScale="90000"/>
          </a:bodyPr>
          <a:p>
            <a:r>
              <a:rPr lang="en-US"/>
              <a:t>Correction</a:t>
            </a:r>
            <a:endParaRPr lang="en-US"/>
          </a:p>
        </p:txBody>
      </p:sp>
      <p:pic>
        <p:nvPicPr>
          <p:cNvPr id="4" name="Content Placeholder 3" descr="Image 30-12-2024 at 2.11 PM"/>
          <p:cNvPicPr>
            <a:picLocks noChangeAspect="1"/>
          </p:cNvPicPr>
          <p:nvPr>
            <p:ph idx="1"/>
          </p:nvPr>
        </p:nvPicPr>
        <p:blipFill>
          <a:blip r:embed="rId1"/>
          <a:stretch>
            <a:fillRect/>
          </a:stretch>
        </p:blipFill>
        <p:spPr>
          <a:xfrm>
            <a:off x="1786255" y="837565"/>
            <a:ext cx="7733665" cy="60210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p:nvPr>
            <p:ph type="body" idx="1"/>
          </p:nvPr>
        </p:nvSpPr>
        <p:spPr>
          <a:xfrm>
            <a:off x="415290" y="2569845"/>
            <a:ext cx="11360785" cy="3522345"/>
          </a:xfrm>
        </p:spPr>
        <p:txBody>
          <a:bodyPr/>
          <a:p>
            <a:pPr marL="152400" indent="0" algn="ctr">
              <a:buNone/>
            </a:pPr>
            <a:r>
              <a:rPr lang="en-US"/>
              <a:t>End of Lecture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4120</Words>
  <Application>WPS Presentation</Application>
  <PresentationFormat>Widescreen</PresentationFormat>
  <Paragraphs>96</Paragraphs>
  <Slides>21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21</vt:i4>
      </vt:variant>
    </vt:vector>
  </HeadingPairs>
  <TitlesOfParts>
    <vt:vector size="34" baseType="lpstr">
      <vt:lpstr>Arial</vt:lpstr>
      <vt:lpstr>SimSun</vt:lpstr>
      <vt:lpstr>Wingdings</vt:lpstr>
      <vt:lpstr>Proxima Nova</vt:lpstr>
      <vt:lpstr>Thonburi</vt:lpstr>
      <vt:lpstr>Arial Bold</vt:lpstr>
      <vt:lpstr>Microsoft YaHei</vt:lpstr>
      <vt:lpstr>汉仪旗黑</vt:lpstr>
      <vt:lpstr>Arial Unicode MS</vt:lpstr>
      <vt:lpstr>Calibri</vt:lpstr>
      <vt:lpstr>Helvetica Neue</vt:lpstr>
      <vt:lpstr>宋体-简</vt:lpstr>
      <vt:lpstr>Office Theme</vt:lpstr>
      <vt:lpstr>OOP </vt:lpstr>
      <vt:lpstr>PowerPoint 演示文稿</vt:lpstr>
      <vt:lpstr>PowerPoint 演示文稿</vt:lpstr>
      <vt:lpstr>Friend Function </vt:lpstr>
      <vt:lpstr>Friend Function </vt:lpstr>
      <vt:lpstr>Friend Function in C++</vt:lpstr>
      <vt:lpstr>PowerPoint 演示文稿</vt:lpstr>
      <vt:lpstr>PowerPoint 演示文稿</vt:lpstr>
      <vt:lpstr>Solution</vt:lpstr>
      <vt:lpstr>Friend Function </vt:lpstr>
      <vt:lpstr>Properties of Friend Function</vt:lpstr>
      <vt:lpstr>Friend Function </vt:lpstr>
      <vt:lpstr>Friend Function - Example</vt:lpstr>
      <vt:lpstr>Friend Class - Complex Example</vt:lpstr>
      <vt:lpstr>Friend Class </vt:lpstr>
      <vt:lpstr>Difference Between Friend Function and Friend Class </vt:lpstr>
      <vt:lpstr>Difference Between Friend Function and Friend Class </vt:lpstr>
      <vt:lpstr>Difference Between Friend Function and Friend Class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CSC-321</dc:title>
  <dc:creator>User</dc:creator>
  <cp:lastModifiedBy>nimraabbas</cp:lastModifiedBy>
  <cp:revision>306</cp:revision>
  <dcterms:created xsi:type="dcterms:W3CDTF">2024-12-30T09:12:45Z</dcterms:created>
  <dcterms:modified xsi:type="dcterms:W3CDTF">2024-12-30T09:12:45Z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