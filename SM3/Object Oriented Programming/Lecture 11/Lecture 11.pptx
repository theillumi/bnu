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557" r:id="rId5"/>
    <p:sldId id="577" r:id="rId6"/>
    <p:sldId id="578" r:id="rId7"/>
    <p:sldId id="579" r:id="rId8"/>
    <p:sldId id="564" r:id="rId9"/>
    <p:sldId id="568" r:id="rId10"/>
    <p:sldId id="581" r:id="rId11"/>
    <p:sldId id="582" r:id="rId12"/>
    <p:sldId id="583" r:id="rId13"/>
    <p:sldId id="589" r:id="rId14"/>
    <p:sldId id="574" r:id="rId15"/>
    <p:sldId id="584" r:id="rId16"/>
    <p:sldId id="585" r:id="rId17"/>
    <p:sldId id="587" r:id="rId18"/>
    <p:sldId id="588" r:id="rId19"/>
    <p:sldId id="575" r:id="rId20"/>
    <p:sldId id="50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2, </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2, </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11</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1520"/>
          </a:xfrm>
        </p:spPr>
        <p:txBody>
          <a:bodyPr/>
          <a:lstStyle/>
          <a:p>
            <a:r>
              <a:rPr lang="en-US" dirty="0"/>
              <a:t>Outline</a:t>
            </a:r>
            <a:endParaRPr lang="en-US" dirty="0"/>
          </a:p>
        </p:txBody>
      </p:sp>
      <p:sp>
        <p:nvSpPr>
          <p:cNvPr id="3" name="Content Placeholder 2"/>
          <p:cNvSpPr>
            <a:spLocks noGrp="1"/>
          </p:cNvSpPr>
          <p:nvPr>
            <p:ph idx="1"/>
          </p:nvPr>
        </p:nvSpPr>
        <p:spPr>
          <a:xfrm>
            <a:off x="838200" y="1318895"/>
            <a:ext cx="10385425" cy="4802505"/>
          </a:xfrm>
        </p:spPr>
        <p:txBody>
          <a:bodyPr>
            <a:normAutofit/>
          </a:bodyPr>
          <a:lstStyle/>
          <a:p>
            <a:pPr marL="0" indent="0">
              <a:buNone/>
            </a:pPr>
            <a:r>
              <a:rPr lang="en-US" sz="2400" dirty="0"/>
              <a:t> </a:t>
            </a:r>
            <a:endParaRPr lang="en-US" sz="2400" dirty="0"/>
          </a:p>
          <a:p>
            <a:r>
              <a:rPr lang="en-US" sz="2400" dirty="0"/>
              <a:t>Association, Aggregation, and Composition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9525" y="2691130"/>
            <a:ext cx="7092950" cy="731520"/>
          </a:xfrm>
        </p:spPr>
        <p:txBody>
          <a:bodyPr>
            <a:normAutofit fontScale="90000"/>
          </a:bodyPr>
          <a:lstStyle/>
          <a:p>
            <a:r>
              <a:rPr lang="en-US" dirty="0"/>
              <a:t>Relationship Between Classes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0-11-2024 at 5.28 PM"/>
          <p:cNvPicPr>
            <a:picLocks noChangeAspect="1"/>
          </p:cNvPicPr>
          <p:nvPr>
            <p:ph idx="1"/>
          </p:nvPr>
        </p:nvPicPr>
        <p:blipFill>
          <a:blip r:embed="rId1"/>
          <a:stretch>
            <a:fillRect/>
          </a:stretch>
        </p:blipFill>
        <p:spPr>
          <a:xfrm>
            <a:off x="838200" y="953770"/>
            <a:ext cx="10786110" cy="5359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0-11-2024 at 5.29 PM"/>
          <p:cNvPicPr>
            <a:picLocks noChangeAspect="1"/>
          </p:cNvPicPr>
          <p:nvPr>
            <p:ph idx="1"/>
          </p:nvPr>
        </p:nvPicPr>
        <p:blipFill>
          <a:blip r:embed="rId1"/>
          <a:stretch>
            <a:fillRect/>
          </a:stretch>
        </p:blipFill>
        <p:spPr>
          <a:xfrm>
            <a:off x="838200" y="1418590"/>
            <a:ext cx="10515600" cy="35737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3665"/>
            <a:ext cx="10515600" cy="4793615"/>
          </a:xfrm>
        </p:spPr>
        <p:txBody>
          <a:bodyPr>
            <a:normAutofit lnSpcReduction="10000"/>
          </a:bodyPr>
          <a:lstStyle/>
          <a:p>
            <a:pPr marL="0" indent="0">
              <a:buNone/>
            </a:pPr>
            <a:endParaRPr lang="en-US" sz="2400" dirty="0" smtClean="0"/>
          </a:p>
          <a:p>
            <a:pPr marL="0" indent="0">
              <a:buNone/>
            </a:pPr>
            <a:endParaRPr lang="en-US" dirty="0" smtClean="0"/>
          </a:p>
          <a:p>
            <a:pPr>
              <a:buNone/>
            </a:pPr>
            <a:endParaRPr lang="en-US" dirty="0" smtClean="0"/>
          </a:p>
          <a:p>
            <a:endParaRPr lang="en-US" dirty="0"/>
          </a:p>
        </p:txBody>
      </p:sp>
      <p:pic>
        <p:nvPicPr>
          <p:cNvPr id="4" name="Picture 3" descr="Image 06-11-2024 at 12.24 PM"/>
          <p:cNvPicPr>
            <a:picLocks noChangeAspect="1"/>
          </p:cNvPicPr>
          <p:nvPr/>
        </p:nvPicPr>
        <p:blipFill>
          <a:blip r:embed="rId1"/>
          <a:stretch>
            <a:fillRect/>
          </a:stretch>
        </p:blipFill>
        <p:spPr>
          <a:xfrm>
            <a:off x="386080" y="415290"/>
            <a:ext cx="11695430" cy="59004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Association</a:t>
            </a:r>
            <a:endParaRPr lang="en-US" sz="4000" dirty="0"/>
          </a:p>
        </p:txBody>
      </p:sp>
      <p:sp>
        <p:nvSpPr>
          <p:cNvPr id="3" name="Content Placeholder 2"/>
          <p:cNvSpPr>
            <a:spLocks noGrp="1"/>
          </p:cNvSpPr>
          <p:nvPr>
            <p:ph idx="1"/>
          </p:nvPr>
        </p:nvSpPr>
        <p:spPr>
          <a:xfrm>
            <a:off x="838200" y="1383665"/>
            <a:ext cx="10515600" cy="4793615"/>
          </a:xfrm>
        </p:spPr>
        <p:txBody>
          <a:bodyPr>
            <a:normAutofit fontScale="90000" lnSpcReduction="10000"/>
          </a:bodyPr>
          <a:lstStyle/>
          <a:p>
            <a:pPr marL="0" indent="0" algn="just">
              <a:lnSpc>
                <a:spcPct val="100000"/>
              </a:lnSpc>
              <a:buNone/>
            </a:pPr>
            <a:r>
              <a:rPr lang="en-US" sz="2400" dirty="0" smtClean="0"/>
              <a:t>- Association represents a simple relationship between two objects, where one object uses the other object. In this case, all objects have their own lifecycle and there is no owner.</a:t>
            </a:r>
            <a:endParaRPr lang="en-US" sz="2400" dirty="0" smtClean="0"/>
          </a:p>
          <a:p>
            <a:pPr marL="0" indent="0" algn="just">
              <a:lnSpc>
                <a:spcPct val="100000"/>
              </a:lnSpc>
              <a:buNone/>
            </a:pPr>
            <a:endParaRPr lang="en-US" sz="2400" dirty="0" smtClean="0"/>
          </a:p>
          <a:p>
            <a:pPr marL="0" indent="0" algn="just">
              <a:lnSpc>
                <a:spcPct val="100000"/>
              </a:lnSpc>
              <a:buNone/>
            </a:pPr>
            <a:r>
              <a:rPr lang="en-US" sz="2400" dirty="0" smtClean="0"/>
              <a:t>- Association is a general term used to describe any relationship between two objects. It can be one-to-one, one-to-many, or many-to-many. The objects can exist independently, meaning the lifetime of one object does not depend on the other.</a:t>
            </a:r>
            <a:endParaRPr lang="en-US" sz="2400" dirty="0" smtClean="0"/>
          </a:p>
          <a:p>
            <a:pPr marL="0" indent="0" algn="just">
              <a:lnSpc>
                <a:spcPct val="100000"/>
              </a:lnSpc>
              <a:buNone/>
            </a:pPr>
            <a:endParaRPr lang="en-US" sz="2400" dirty="0" smtClean="0"/>
          </a:p>
          <a:p>
            <a:pPr marL="0" indent="0" algn="just">
              <a:buNone/>
            </a:pPr>
            <a:r>
              <a:rPr lang="en-US" sz="2400" dirty="0" smtClean="0"/>
              <a:t>- Example of Association:</a:t>
            </a:r>
            <a:endParaRPr lang="en-US" sz="2400" dirty="0" smtClean="0"/>
          </a:p>
          <a:p>
            <a:pPr marL="0" indent="0" algn="just">
              <a:buNone/>
            </a:pPr>
            <a:r>
              <a:rPr lang="en-US" sz="2400" dirty="0" smtClean="0"/>
              <a:t>In an educational system, a Student may be associated with a Teacher in the context of the student attending a class or being taught by that teacher. However, the Teacher and Student objects exist independently of each other. If one of them is destroyed, the other remains unaffected.</a:t>
            </a:r>
            <a:endParaRPr lang="en-US" sz="2400" dirty="0" smtClean="0"/>
          </a:p>
          <a:p>
            <a:pPr>
              <a:buNone/>
            </a:pP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0-11-2024 at 5.31 PM"/>
          <p:cNvPicPr>
            <a:picLocks noChangeAspect="1"/>
          </p:cNvPicPr>
          <p:nvPr>
            <p:ph idx="1"/>
          </p:nvPr>
        </p:nvPicPr>
        <p:blipFill>
          <a:blip r:embed="rId1"/>
          <a:stretch>
            <a:fillRect/>
          </a:stretch>
        </p:blipFill>
        <p:spPr>
          <a:xfrm>
            <a:off x="838200" y="1546225"/>
            <a:ext cx="10515600" cy="38747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0-11-2024 at 5.32 PM"/>
          <p:cNvPicPr>
            <a:picLocks noChangeAspect="1"/>
          </p:cNvPicPr>
          <p:nvPr>
            <p:ph idx="1"/>
          </p:nvPr>
        </p:nvPicPr>
        <p:blipFill>
          <a:blip r:embed="rId1"/>
          <a:stretch>
            <a:fillRect/>
          </a:stretch>
        </p:blipFill>
        <p:spPr>
          <a:xfrm>
            <a:off x="972820" y="1186815"/>
            <a:ext cx="10515600" cy="4038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0-11-2024 at 5.32 PM"/>
          <p:cNvPicPr>
            <a:picLocks noChangeAspect="1"/>
          </p:cNvPicPr>
          <p:nvPr>
            <p:ph idx="1"/>
          </p:nvPr>
        </p:nvPicPr>
        <p:blipFill>
          <a:blip r:embed="rId1"/>
          <a:stretch>
            <a:fillRect/>
          </a:stretch>
        </p:blipFill>
        <p:spPr>
          <a:xfrm>
            <a:off x="423545" y="685165"/>
            <a:ext cx="11360150" cy="56273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endParaRPr lang="en-US"/>
          </a:p>
          <a:p>
            <a:pPr marL="0" indent="0" algn="ctr">
              <a:buNone/>
            </a:pPr>
            <a:r>
              <a:rPr lang="en-US"/>
              <a:t>Coding Examples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sp>
        <p:nvSpPr>
          <p:cNvPr id="3" name="Content Placeholder 2"/>
          <p:cNvSpPr>
            <a:spLocks noGrp="1"/>
          </p:cNvSpPr>
          <p:nvPr>
            <p:ph idx="1"/>
          </p:nvPr>
        </p:nvSpPr>
        <p:spPr>
          <a:xfrm>
            <a:off x="838200" y="1383665"/>
            <a:ext cx="10515600" cy="4793615"/>
          </a:xfrm>
        </p:spPr>
        <p:txBody>
          <a:bodyPr>
            <a:normAutofit/>
          </a:bodyPr>
          <a:lstStyle/>
          <a:p>
            <a:pPr marL="0" indent="0" algn="just">
              <a:lnSpc>
                <a:spcPct val="100000"/>
              </a:lnSpc>
              <a:buNone/>
            </a:pPr>
            <a:r>
              <a:rPr lang="en-US" sz="2400" dirty="0" smtClean="0"/>
              <a:t>- Aggregation is a specialize form of association where all objects have their own lifecycles but there is an ownership like parent and child. Child object cannot belong to another parent object at same time. We can think of it as </a:t>
            </a:r>
            <a:r>
              <a:rPr lang="en-US" sz="2400" dirty="0" smtClean="0">
                <a:sym typeface="+mn-ea"/>
              </a:rPr>
              <a:t>"has-a" relationship</a:t>
            </a:r>
            <a:endParaRPr lang="en-US" sz="2400" dirty="0" smtClean="0"/>
          </a:p>
          <a:p>
            <a:endParaRPr lang="en-US" dirty="0"/>
          </a:p>
          <a:p>
            <a:r>
              <a:rPr lang="en-US" dirty="0"/>
              <a:t>Example: A single employee cannot belong to multiple companies, but if we delete the company, employ object will not destroy</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pic>
        <p:nvPicPr>
          <p:cNvPr id="5" name="Content Placeholder 4" descr="Image 10-11-2024 at 5.34 PM"/>
          <p:cNvPicPr>
            <a:picLocks noChangeAspect="1"/>
          </p:cNvPicPr>
          <p:nvPr>
            <p:ph idx="1"/>
          </p:nvPr>
        </p:nvPicPr>
        <p:blipFill>
          <a:blip r:embed="rId1"/>
          <a:stretch>
            <a:fillRect/>
          </a:stretch>
        </p:blipFill>
        <p:spPr>
          <a:xfrm>
            <a:off x="929640" y="1510665"/>
            <a:ext cx="10661015" cy="49358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pic>
        <p:nvPicPr>
          <p:cNvPr id="4" name="Content Placeholder 3" descr="Image 10-11-2024 at 5.36 PM"/>
          <p:cNvPicPr>
            <a:picLocks noChangeAspect="1"/>
          </p:cNvPicPr>
          <p:nvPr>
            <p:ph idx="1"/>
          </p:nvPr>
        </p:nvPicPr>
        <p:blipFill>
          <a:blip r:embed="rId1"/>
          <a:stretch>
            <a:fillRect/>
          </a:stretch>
        </p:blipFill>
        <p:spPr>
          <a:xfrm>
            <a:off x="838200" y="1716405"/>
            <a:ext cx="10515600" cy="30683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endParaRPr lang="en-US"/>
          </a:p>
          <a:p>
            <a:pPr marL="0" indent="0" algn="ctr">
              <a:buNone/>
            </a:pPr>
            <a:r>
              <a:rPr lang="en-US"/>
              <a:t>Coding Examples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8820150" cy="575310"/>
          </a:xfrm>
        </p:spPr>
        <p:txBody>
          <a:bodyPr/>
          <a:p>
            <a:r>
              <a:rPr lang="en-US" sz="3200"/>
              <a:t>Practise Questions -  Aggregation</a:t>
            </a:r>
            <a:endParaRPr lang="en-US" sz="3200"/>
          </a:p>
        </p:txBody>
      </p:sp>
      <p:sp>
        <p:nvSpPr>
          <p:cNvPr id="3" name="Content Placeholder 2"/>
          <p:cNvSpPr>
            <a:spLocks noGrp="1"/>
          </p:cNvSpPr>
          <p:nvPr>
            <p:ph idx="1"/>
          </p:nvPr>
        </p:nvSpPr>
        <p:spPr>
          <a:xfrm>
            <a:off x="838200" y="1241425"/>
            <a:ext cx="10515600" cy="5326380"/>
          </a:xfrm>
        </p:spPr>
        <p:txBody>
          <a:bodyPr/>
          <a:p>
            <a:pPr marL="0" indent="0">
              <a:buNone/>
            </a:pPr>
            <a:r>
              <a:rPr lang="en-US"/>
              <a:t>Question 1:</a:t>
            </a:r>
            <a:endParaRPr lang="en-US"/>
          </a:p>
          <a:p>
            <a:pPr marL="0" indent="0" algn="just">
              <a:buNone/>
            </a:pPr>
            <a:r>
              <a:rPr lang="en-US" sz="1800"/>
              <a:t>Create a </a:t>
            </a:r>
            <a:r>
              <a:rPr lang="en-US" sz="1800">
                <a:solidFill>
                  <a:srgbClr val="FF0000"/>
                </a:solidFill>
              </a:rPr>
              <a:t>Schoo</a:t>
            </a:r>
            <a:r>
              <a:rPr lang="en-US" sz="1800"/>
              <a:t>l that aggregates </a:t>
            </a:r>
            <a:r>
              <a:rPr lang="en-US" sz="1800">
                <a:solidFill>
                  <a:srgbClr val="FF0000"/>
                </a:solidFill>
              </a:rPr>
              <a:t>Teachers</a:t>
            </a:r>
            <a:r>
              <a:rPr lang="en-US" sz="1800"/>
              <a:t>. Each Teacher can teach multiple Students. A Teacher can exist independently of the School. Implement the following:</a:t>
            </a:r>
            <a:endParaRPr lang="en-US" sz="1800"/>
          </a:p>
          <a:p>
            <a:pPr algn="just"/>
            <a:r>
              <a:rPr lang="en-US" sz="1800" b="1">
                <a:latin typeface="Arial Bold" panose="020B0604020202020204" charset="0"/>
                <a:cs typeface="Arial Bold" panose="020B0604020202020204" charset="0"/>
              </a:rPr>
              <a:t>Teacher Class</a:t>
            </a:r>
            <a:r>
              <a:rPr lang="en-US" sz="1800"/>
              <a:t>: Stores the teacher's name and has a method to teach a Student.</a:t>
            </a:r>
            <a:endParaRPr lang="en-US" sz="1800"/>
          </a:p>
          <a:p>
            <a:pPr algn="just"/>
            <a:r>
              <a:rPr lang="en-US" sz="1800" b="1">
                <a:latin typeface="Arial Bold" panose="020B0604020202020204" charset="0"/>
                <a:cs typeface="Arial Bold" panose="020B0604020202020204" charset="0"/>
              </a:rPr>
              <a:t>Student Class</a:t>
            </a:r>
            <a:r>
              <a:rPr lang="en-US" sz="1800"/>
              <a:t>: Stores the student's name and can display it.</a:t>
            </a:r>
            <a:endParaRPr lang="en-US" sz="1800"/>
          </a:p>
          <a:p>
            <a:pPr algn="just"/>
            <a:r>
              <a:rPr lang="en-US" sz="1800" b="1">
                <a:latin typeface="Arial Bold" panose="020B0604020202020204" charset="0"/>
                <a:cs typeface="Arial Bold" panose="020B0604020202020204" charset="0"/>
              </a:rPr>
              <a:t>School Class</a:t>
            </a:r>
            <a:r>
              <a:rPr lang="en-US" sz="1800"/>
              <a:t>: Stores up to 3 teachers and can display all teachers. It should aggregate the teachers and allow them to teach students.</a:t>
            </a:r>
            <a:endParaRPr 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t>Composition</a:t>
            </a:r>
            <a:endParaRPr lang="en-US" sz="4000" dirty="0"/>
          </a:p>
        </p:txBody>
      </p:sp>
      <p:sp>
        <p:nvSpPr>
          <p:cNvPr id="3" name="Content Placeholder 2"/>
          <p:cNvSpPr>
            <a:spLocks noGrp="1"/>
          </p:cNvSpPr>
          <p:nvPr>
            <p:ph idx="1"/>
          </p:nvPr>
        </p:nvSpPr>
        <p:spPr>
          <a:xfrm>
            <a:off x="838200" y="1383665"/>
            <a:ext cx="10515600" cy="4793615"/>
          </a:xfrm>
        </p:spPr>
        <p:txBody>
          <a:bodyPr>
            <a:normAutofit/>
          </a:bodyPr>
          <a:lstStyle/>
          <a:p>
            <a:pPr marL="0" indent="0" algn="just">
              <a:lnSpc>
                <a:spcPct val="100000"/>
              </a:lnSpc>
              <a:buNone/>
            </a:pPr>
            <a:r>
              <a:rPr lang="en-US" sz="2400" dirty="0" smtClean="0"/>
              <a:t>-Composition</a:t>
            </a:r>
            <a:r>
              <a:rPr lang="en-US" dirty="0" smtClean="0">
                <a:sym typeface="+mn-ea"/>
              </a:rPr>
              <a:t> is a specialize form of aggregation. It is a strong type of aggregation. Here the parent and child objects have coincident lifetimes.  Child object doesnot have its own lifecycle and if parent object gets deleted, then all of its child object will also be deleted.</a:t>
            </a:r>
            <a:endParaRPr lang="en-US" dirty="0" smtClean="0">
              <a:sym typeface="+mn-ea"/>
            </a:endParaRPr>
          </a:p>
          <a:p>
            <a:pPr marL="0" indent="0" algn="just">
              <a:lnSpc>
                <a:spcPct val="100000"/>
              </a:lnSpc>
              <a:buNone/>
            </a:pPr>
            <a:endParaRPr lang="en-US" dirty="0" smtClean="0">
              <a:sym typeface="+mn-ea"/>
            </a:endParaRPr>
          </a:p>
          <a:p>
            <a:pPr marL="0" indent="0" algn="just">
              <a:lnSpc>
                <a:spcPct val="100000"/>
              </a:lnSpc>
              <a:buNone/>
            </a:pPr>
            <a:r>
              <a:rPr lang="en-US" dirty="0" smtClean="0">
                <a:sym typeface="+mn-ea"/>
              </a:rPr>
              <a:t>- Lets take an example of relationship between a person and its birthday. There is no independednt life for birthday. </a:t>
            </a:r>
            <a:r>
              <a:rPr lang="en-US" dirty="0" smtClean="0"/>
              <a:t>If we delete the person, birthday will also be automatically deleted.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2270</Words>
  <Application>WPS Writer</Application>
  <PresentationFormat>Widescreen</PresentationFormat>
  <Paragraphs>61</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Office Theme</vt:lpstr>
      <vt:lpstr>OOP </vt:lpstr>
      <vt:lpstr>Outline</vt:lpstr>
      <vt:lpstr>Relationship Between Classes</vt:lpstr>
      <vt:lpstr>PowerPoint 演示文稿</vt:lpstr>
      <vt:lpstr>PowerPoint 演示文稿</vt:lpstr>
      <vt:lpstr>PowerPoint 演示文稿</vt:lpstr>
      <vt:lpstr>Association</vt:lpstr>
      <vt:lpstr>PowerPoint 演示文稿</vt:lpstr>
      <vt:lpstr>PowerPoint 演示文稿</vt:lpstr>
      <vt:lpstr>PowerPoint 演示文稿</vt:lpstr>
      <vt:lpstr>PowerPoint 演示文稿</vt:lpstr>
      <vt:lpstr>Aggregation</vt:lpstr>
      <vt:lpstr>Aggregation</vt:lpstr>
      <vt:lpstr>Aggregation</vt:lpstr>
      <vt:lpstr>PowerPoint 演示文稿</vt:lpstr>
      <vt:lpstr>Practise Questions -  Aggregation</vt:lpstr>
      <vt:lpstr>Composition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235</cp:revision>
  <dcterms:created xsi:type="dcterms:W3CDTF">2024-11-18T10:17:34Z</dcterms:created>
  <dcterms:modified xsi:type="dcterms:W3CDTF">2024-11-18T10:17:34Z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