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658" r:id="rId5"/>
    <p:sldId id="656" r:id="rId6"/>
    <p:sldId id="682" r:id="rId7"/>
    <p:sldId id="683" r:id="rId8"/>
    <p:sldId id="684" r:id="rId9"/>
    <p:sldId id="686" r:id="rId10"/>
    <p:sldId id="685" r:id="rId11"/>
    <p:sldId id="687" r:id="rId12"/>
    <p:sldId id="688" r:id="rId13"/>
    <p:sldId id="689" r:id="rId14"/>
    <p:sldId id="690" r:id="rId15"/>
    <p:sldId id="691" r:id="rId16"/>
    <p:sldId id="692" r:id="rId17"/>
    <p:sldId id="693" r:id="rId18"/>
    <p:sldId id="694" r:id="rId19"/>
    <p:sldId id="695" r:id="rId20"/>
    <p:sldId id="696" r:id="rId21"/>
    <p:sldId id="697" r:id="rId22"/>
    <p:sldId id="50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person -&gt; student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1 contains the code of this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17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Quick Recap of inheritance and its types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08595" cy="662305"/>
          </a:xfrm>
        </p:spPr>
        <p:txBody>
          <a:bodyPr>
            <a:normAutofit fontScale="90000"/>
          </a:bodyPr>
          <a:p>
            <a:r>
              <a:rPr lang="en-US"/>
              <a:t>Inheritance in C++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8250"/>
            <a:ext cx="10709910" cy="5327650"/>
          </a:xfrm>
        </p:spPr>
        <p:txBody>
          <a:bodyPr/>
          <a:p>
            <a:pPr algn="just"/>
            <a:r>
              <a:rPr lang="en-US" sz="1800"/>
              <a:t>Reusability is a very impoprtant feature of OOPs</a:t>
            </a:r>
            <a:endParaRPr lang="en-US" sz="1800"/>
          </a:p>
          <a:p>
            <a:pPr algn="just"/>
            <a:r>
              <a:rPr lang="en-US" sz="1800"/>
              <a:t>In C++, we can reuse a class and add additional features to it</a:t>
            </a:r>
            <a:endParaRPr lang="en-US" sz="1800"/>
          </a:p>
          <a:p>
            <a:pPr algn="just"/>
            <a:r>
              <a:rPr lang="en-US" sz="1800"/>
              <a:t>Reusing classes saves time and money</a:t>
            </a:r>
            <a:endParaRPr lang="en-US" sz="1800"/>
          </a:p>
          <a:p>
            <a:pPr algn="just"/>
            <a:r>
              <a:rPr lang="en-US" sz="1800"/>
              <a:t>Reusing already tested and debugged class will save a lot of effort of developing and debugging the same thing again</a:t>
            </a:r>
            <a:endParaRPr lang="en-US" sz="1800"/>
          </a:p>
          <a:p>
            <a:pPr algn="just"/>
            <a:endParaRPr lang="en-US" sz="1800"/>
          </a:p>
          <a:p>
            <a:pPr algn="just"/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08595" cy="662305"/>
          </a:xfrm>
        </p:spPr>
        <p:txBody>
          <a:bodyPr>
            <a:normAutofit fontScale="90000"/>
          </a:bodyPr>
          <a:p>
            <a:r>
              <a:rPr lang="en-US"/>
              <a:t>What is Inheritance in C++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8250"/>
            <a:ext cx="10709910" cy="5327650"/>
          </a:xfrm>
        </p:spPr>
        <p:txBody>
          <a:bodyPr/>
          <a:p>
            <a:pPr algn="just"/>
            <a:r>
              <a:rPr lang="en-US" sz="1800"/>
              <a:t>The concept of reusability in C++ is supported using inheritance</a:t>
            </a:r>
            <a:endParaRPr lang="en-US" sz="1800"/>
          </a:p>
          <a:p>
            <a:pPr algn="just"/>
            <a:r>
              <a:rPr lang="en-US" sz="1800"/>
              <a:t>We can reuse the properties of an existing class by inheriting from it</a:t>
            </a:r>
            <a:endParaRPr lang="en-US" sz="1800"/>
          </a:p>
          <a:p>
            <a:pPr algn="just"/>
            <a:r>
              <a:rPr lang="en-US" sz="1800"/>
              <a:t>The exisiing class is called the</a:t>
            </a:r>
            <a:r>
              <a:rPr lang="en-US" sz="1800" b="1">
                <a:latin typeface="Arial Bold" panose="020B0604020202020204" charset="0"/>
                <a:cs typeface="Arial Bold" panose="020B0604020202020204" charset="0"/>
              </a:rPr>
              <a:t> Base Class</a:t>
            </a:r>
            <a:endParaRPr lang="en-US" sz="1800" b="1">
              <a:latin typeface="Arial Bold" panose="020B0604020202020204" charset="0"/>
              <a:cs typeface="Arial Bold" panose="020B0604020202020204" charset="0"/>
            </a:endParaRPr>
          </a:p>
          <a:p>
            <a:pPr algn="just"/>
            <a:r>
              <a:rPr lang="en-US" sz="1800"/>
              <a:t>The new class which is inherited is called the </a:t>
            </a:r>
            <a:r>
              <a:rPr lang="en-US" sz="1800" b="1">
                <a:latin typeface="Arial Bold" panose="020B0604020202020204" charset="0"/>
                <a:cs typeface="Arial Bold" panose="020B0604020202020204" charset="0"/>
              </a:rPr>
              <a:t>Derived class</a:t>
            </a:r>
            <a:endParaRPr lang="en-US" sz="1800" b="1">
              <a:latin typeface="Arial Bold" panose="020B0604020202020204" charset="0"/>
              <a:cs typeface="Arial Bold" panose="020B0604020202020204" charset="0"/>
            </a:endParaRPr>
          </a:p>
          <a:p>
            <a:pPr algn="just"/>
            <a:r>
              <a:rPr lang="en-US" sz="1800"/>
              <a:t>Reusing classes saves time and money</a:t>
            </a:r>
            <a:endParaRPr lang="en-US" sz="1800"/>
          </a:p>
          <a:p>
            <a:pPr algn="just"/>
            <a:r>
              <a:rPr lang="en-US" sz="1800"/>
              <a:t>There are different types of inheritence in C++</a:t>
            </a:r>
            <a:endParaRPr lang="en-US" sz="1800"/>
          </a:p>
          <a:p>
            <a:pPr marL="0" indent="0" algn="just"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808595" cy="662305"/>
          </a:xfrm>
        </p:spPr>
        <p:txBody>
          <a:bodyPr>
            <a:normAutofit fontScale="90000"/>
          </a:bodyPr>
          <a:p>
            <a:r>
              <a:rPr lang="en-US"/>
              <a:t>Forms of Inheritance in C++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8250"/>
            <a:ext cx="10709910" cy="5327650"/>
          </a:xfrm>
        </p:spPr>
        <p:txBody>
          <a:bodyPr/>
          <a:p>
            <a:pPr algn="just"/>
            <a:r>
              <a:rPr lang="en-US" sz="1800"/>
              <a:t>Single Inheritance</a:t>
            </a:r>
            <a:endParaRPr lang="en-US" sz="1800"/>
          </a:p>
          <a:p>
            <a:pPr algn="just"/>
            <a:r>
              <a:rPr lang="en-US" sz="1800"/>
              <a:t>Multiple Inheritance</a:t>
            </a:r>
            <a:endParaRPr lang="en-US" sz="1800"/>
          </a:p>
          <a:p>
            <a:pPr algn="just"/>
            <a:r>
              <a:rPr lang="en-US" sz="1800"/>
              <a:t>Hierarchical Inheritance</a:t>
            </a:r>
            <a:endParaRPr lang="en-US" sz="1800"/>
          </a:p>
          <a:p>
            <a:pPr algn="just"/>
            <a:r>
              <a:rPr lang="en-US" sz="1800"/>
              <a:t>Multilevel Inheritance</a:t>
            </a:r>
            <a:endParaRPr lang="en-US" sz="1800"/>
          </a:p>
          <a:p>
            <a:pPr algn="just"/>
            <a:r>
              <a:rPr lang="en-US" sz="1800"/>
              <a:t>Hybrid Inheritance</a:t>
            </a:r>
            <a:endParaRPr lang="en-US" sz="1800"/>
          </a:p>
          <a:p>
            <a:pPr algn="just"/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Single Inheritance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A derived class with only one base class</a:t>
            </a:r>
            <a:endParaRPr lang="en-US" sz="2000"/>
          </a:p>
        </p:txBody>
      </p:sp>
      <p:pic>
        <p:nvPicPr>
          <p:cNvPr id="4" name="Picture 3" descr="Image 16-12-2024 at 11.0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0965" y="2042795"/>
            <a:ext cx="3440430" cy="35191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of Single Inheritance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class </a:t>
            </a:r>
            <a:r>
              <a:rPr lang="en-US">
                <a:solidFill>
                  <a:srgbClr val="FF0000"/>
                </a:solidFill>
              </a:rPr>
              <a:t>Person</a:t>
            </a:r>
            <a:r>
              <a:rPr lang="en-US"/>
              <a:t> {               //Base Class</a:t>
            </a:r>
            <a:endParaRPr lang="en-US"/>
          </a:p>
          <a:p>
            <a:pPr marL="0" indent="0">
              <a:buNone/>
            </a:pPr>
            <a:r>
              <a:rPr lang="en-US"/>
              <a:t>    public:</a:t>
            </a:r>
            <a:endParaRPr lang="en-US"/>
          </a:p>
          <a:p>
            <a:pPr marL="0" indent="0">
              <a:buNone/>
            </a:pPr>
            <a:r>
              <a:rPr lang="en-US"/>
              <a:t>    string name;</a:t>
            </a:r>
            <a:endParaRPr lang="en-US"/>
          </a:p>
          <a:p>
            <a:pPr marL="0" indent="0">
              <a:buNone/>
            </a:pPr>
            <a:r>
              <a:rPr lang="en-US"/>
              <a:t>    int age;</a:t>
            </a:r>
            <a:endParaRPr lang="en-US"/>
          </a:p>
          <a:p>
            <a:pPr marL="0" indent="0">
              <a:buNone/>
            </a:pPr>
            <a:r>
              <a:rPr lang="en-US"/>
              <a:t>};</a:t>
            </a:r>
            <a:endParaRPr lang="en-US"/>
          </a:p>
          <a:p>
            <a:pPr marL="0" indent="0">
              <a:buNone/>
            </a:pPr>
            <a:r>
              <a:rPr lang="en-US"/>
              <a:t>class 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Student</a:t>
            </a:r>
            <a:r>
              <a:rPr lang="en-US"/>
              <a:t> : public </a:t>
            </a:r>
            <a:r>
              <a:rPr lang="en-US">
                <a:solidFill>
                  <a:srgbClr val="FF0000"/>
                </a:solidFill>
              </a:rPr>
              <a:t>Person</a:t>
            </a:r>
            <a:r>
              <a:rPr lang="en-US"/>
              <a:t> {     //Derived class</a:t>
            </a:r>
            <a:endParaRPr lang="en-US"/>
          </a:p>
          <a:p>
            <a:pPr marL="0" indent="0">
              <a:buNone/>
            </a:pPr>
            <a:r>
              <a:rPr lang="en-US"/>
              <a:t>    public:</a:t>
            </a:r>
            <a:endParaRPr lang="en-US"/>
          </a:p>
          <a:p>
            <a:pPr marL="0" indent="0">
              <a:buNone/>
            </a:pPr>
            <a:r>
              <a:rPr lang="en-US"/>
              <a:t>    int rollno;</a:t>
            </a:r>
            <a:endParaRPr lang="en-US"/>
          </a:p>
          <a:p>
            <a:pPr marL="0" indent="0">
              <a:buNone/>
            </a:pPr>
            <a:r>
              <a:rPr lang="en-US"/>
              <a:t>};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Multiple Inheritance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A derived class with more than one base class</a:t>
            </a:r>
            <a:endParaRPr lang="en-US" sz="2000"/>
          </a:p>
        </p:txBody>
      </p:sp>
      <p:pic>
        <p:nvPicPr>
          <p:cNvPr id="5" name="Picture 4" descr="Image 16-12-2024 at 11.06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0" y="2528570"/>
            <a:ext cx="3822700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of Multiple Inheritance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140"/>
            <a:ext cx="10515600" cy="467614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>
                <a:solidFill>
                  <a:srgbClr val="FF0000"/>
                </a:solidFill>
              </a:rPr>
              <a:t>Student </a:t>
            </a:r>
            <a:r>
              <a:rPr lang="en-US" sz="1500"/>
              <a:t>{               //Base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string name;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int rollno;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class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Teacher </a:t>
            </a:r>
            <a:r>
              <a:rPr lang="en-US" sz="1500">
                <a:sym typeface="+mn-ea"/>
              </a:rPr>
              <a:t>{               //Base Class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string subject;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double salary;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};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TA</a:t>
            </a:r>
            <a:r>
              <a:rPr lang="en-US" sz="1500"/>
              <a:t> : 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Student, </a:t>
            </a:r>
            <a:r>
              <a:rPr lang="en-US" sz="1500">
                <a:sym typeface="+mn-ea"/>
              </a:rPr>
              <a:t>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Teacher</a:t>
            </a:r>
            <a:r>
              <a:rPr lang="en-US" sz="1500"/>
              <a:t> {     //Derived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int rollno;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Hierarchical</a:t>
            </a:r>
            <a:r>
              <a:rPr lang="en-US">
                <a:sym typeface="+mn-ea"/>
              </a:rPr>
              <a:t> Inheritance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000"/>
              <a:t>Several derived classes from a single base class</a:t>
            </a:r>
            <a:endParaRPr lang="en-US" sz="2000"/>
          </a:p>
        </p:txBody>
      </p:sp>
      <p:pic>
        <p:nvPicPr>
          <p:cNvPr id="4" name="Picture 3" descr="Image 16-12-2024 at 11.1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850" y="2465070"/>
            <a:ext cx="3905250" cy="3390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of </a:t>
            </a:r>
            <a:r>
              <a:rPr lang="en-US">
                <a:sym typeface="+mn-ea"/>
              </a:rPr>
              <a:t>Hierarchical</a:t>
            </a:r>
            <a:r>
              <a:rPr lang="en-US"/>
              <a:t> Inheritance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140"/>
            <a:ext cx="10515600" cy="467614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>
                <a:solidFill>
                  <a:srgbClr val="FF0000"/>
                </a:solidFill>
              </a:rPr>
              <a:t>Person </a:t>
            </a:r>
            <a:r>
              <a:rPr lang="en-US" sz="1500"/>
              <a:t>{               //Base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string name;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int age;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class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Student</a:t>
            </a:r>
            <a:r>
              <a:rPr lang="en-US" sz="1500">
                <a:sym typeface="+mn-ea"/>
              </a:rPr>
              <a:t> : </a:t>
            </a:r>
            <a:r>
              <a:rPr lang="en-US" sz="1500">
                <a:sym typeface="+mn-ea"/>
              </a:rPr>
              <a:t>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Person</a:t>
            </a:r>
            <a:r>
              <a:rPr lang="en-US" sz="1500">
                <a:solidFill>
                  <a:srgbClr val="FF0000"/>
                </a:solidFill>
                <a:sym typeface="+mn-ea"/>
              </a:rPr>
              <a:t> </a:t>
            </a:r>
            <a:r>
              <a:rPr lang="en-US" sz="1500">
                <a:sym typeface="+mn-ea"/>
              </a:rPr>
              <a:t>{               //</a:t>
            </a:r>
            <a:r>
              <a:rPr lang="en-US" sz="1500">
                <a:sym typeface="+mn-ea"/>
              </a:rPr>
              <a:t>Derived class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</a:t>
            </a:r>
            <a:r>
              <a:rPr lang="en-US" sz="1500">
                <a:sym typeface="+mn-ea"/>
              </a:rPr>
              <a:t>int rollno;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};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Teacher</a:t>
            </a:r>
            <a:r>
              <a:rPr lang="en-US" sz="1500"/>
              <a:t> : </a:t>
            </a:r>
            <a:r>
              <a:rPr lang="en-US" sz="1500">
                <a:sym typeface="+mn-ea"/>
              </a:rPr>
              <a:t>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Person</a:t>
            </a:r>
            <a:r>
              <a:rPr lang="en-US" sz="1500">
                <a:solidFill>
                  <a:srgbClr val="FF0000"/>
                </a:solidFill>
              </a:rPr>
              <a:t> </a:t>
            </a:r>
            <a:r>
              <a:rPr lang="en-US" sz="1500">
                <a:solidFill>
                  <a:schemeClr val="tx1"/>
                </a:solidFill>
              </a:rPr>
              <a:t>{</a:t>
            </a:r>
            <a:r>
              <a:rPr lang="en-US" sz="1500"/>
              <a:t>     //Derived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</a:t>
            </a:r>
            <a:r>
              <a:rPr lang="en-US" sz="1500">
                <a:sym typeface="+mn-ea"/>
              </a:rPr>
              <a:t>string subject;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double salary;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Multilevel Inheritance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775"/>
            <a:ext cx="10515600" cy="4675505"/>
          </a:xfrm>
        </p:spPr>
        <p:txBody>
          <a:bodyPr/>
          <a:p>
            <a:r>
              <a:rPr lang="en-US" sz="2000"/>
              <a:t>Deriving a class from already derived class</a:t>
            </a:r>
            <a:endParaRPr lang="en-US" sz="2000"/>
          </a:p>
        </p:txBody>
      </p:sp>
      <p:pic>
        <p:nvPicPr>
          <p:cNvPr id="5" name="Picture 4" descr="Image 16-12-2024 at 11.5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0890" y="2551430"/>
            <a:ext cx="1457325" cy="3510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 of Multilevel Inheritance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140"/>
            <a:ext cx="10515600" cy="467614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>
                <a:solidFill>
                  <a:srgbClr val="FF0000"/>
                </a:solidFill>
              </a:rPr>
              <a:t>Person </a:t>
            </a:r>
            <a:r>
              <a:rPr lang="en-US" sz="1500"/>
              <a:t>{               //Base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string name;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int age;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class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Student</a:t>
            </a:r>
            <a:r>
              <a:rPr lang="en-US" sz="1500">
                <a:sym typeface="+mn-ea"/>
              </a:rPr>
              <a:t> : </a:t>
            </a:r>
            <a:r>
              <a:rPr lang="en-US" sz="1500">
                <a:sym typeface="+mn-ea"/>
              </a:rPr>
              <a:t>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Person</a:t>
            </a:r>
            <a:r>
              <a:rPr lang="en-US" sz="1500">
                <a:solidFill>
                  <a:srgbClr val="FF0000"/>
                </a:solidFill>
                <a:sym typeface="+mn-ea"/>
              </a:rPr>
              <a:t> </a:t>
            </a:r>
            <a:r>
              <a:rPr lang="en-US" sz="1500">
                <a:sym typeface="+mn-ea"/>
              </a:rPr>
              <a:t>{               //</a:t>
            </a:r>
            <a:r>
              <a:rPr lang="en-US" sz="1500">
                <a:sym typeface="+mn-ea"/>
              </a:rPr>
              <a:t>Derived class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</a:t>
            </a:r>
            <a:r>
              <a:rPr lang="en-US" sz="1500">
                <a:sym typeface="+mn-ea"/>
              </a:rPr>
              <a:t>public: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    int rollno;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ym typeface="+mn-ea"/>
              </a:rPr>
              <a:t>};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class 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Grad</a:t>
            </a:r>
            <a:r>
              <a:rPr lang="en-US" sz="1500" b="1">
                <a:solidFill>
                  <a:schemeClr val="accent2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Student</a:t>
            </a:r>
            <a:r>
              <a:rPr lang="en-US" sz="1500"/>
              <a:t> : </a:t>
            </a:r>
            <a:r>
              <a:rPr lang="en-US" sz="1500">
                <a:sym typeface="+mn-ea"/>
              </a:rPr>
              <a:t>public </a:t>
            </a:r>
            <a:r>
              <a:rPr lang="en-US" sz="1500">
                <a:solidFill>
                  <a:srgbClr val="FF0000"/>
                </a:solidFill>
                <a:sym typeface="+mn-ea"/>
              </a:rPr>
              <a:t>Student</a:t>
            </a:r>
            <a:r>
              <a:rPr lang="en-US" sz="1500">
                <a:solidFill>
                  <a:srgbClr val="FF0000"/>
                </a:solidFill>
              </a:rPr>
              <a:t> </a:t>
            </a:r>
            <a:r>
              <a:rPr lang="en-US" sz="1500">
                <a:solidFill>
                  <a:schemeClr val="tx1"/>
                </a:solidFill>
              </a:rPr>
              <a:t>{</a:t>
            </a:r>
            <a:r>
              <a:rPr lang="en-US" sz="1500"/>
              <a:t>     //Derived class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public: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    string researchArea;</a:t>
            </a:r>
            <a:endParaRPr lang="en-US" sz="1500"/>
          </a:p>
          <a:p>
            <a:pPr marL="0" indent="0">
              <a:buNone/>
            </a:pPr>
            <a:r>
              <a:rPr lang="en-US" sz="1500"/>
              <a:t>};</a:t>
            </a:r>
            <a:endParaRPr lang="en-US"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0515600" cy="1325563"/>
          </a:xfrm>
        </p:spPr>
        <p:txBody>
          <a:bodyPr>
            <a:normAutofit fontScale="90000"/>
          </a:bodyPr>
          <a:p>
            <a:r>
              <a:rPr lang="en-US">
                <a:sym typeface="+mn-ea"/>
              </a:rPr>
              <a:t>Hybrid Inheritance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1775"/>
            <a:ext cx="10515600" cy="4675505"/>
          </a:xfrm>
        </p:spPr>
        <p:txBody>
          <a:bodyPr/>
          <a:p>
            <a:r>
              <a:rPr lang="en-US" sz="2000"/>
              <a:t>Hybrid inheritance is a combination of multiple and multilevel inheritance</a:t>
            </a:r>
            <a:endParaRPr lang="en-US" sz="2000"/>
          </a:p>
        </p:txBody>
      </p:sp>
      <p:pic>
        <p:nvPicPr>
          <p:cNvPr id="4" name="Picture 3" descr="Image 16-12-2024 at 12.07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465" y="2207895"/>
            <a:ext cx="3442335" cy="38538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595870" cy="662940"/>
          </a:xfrm>
        </p:spPr>
        <p:txBody>
          <a:bodyPr>
            <a:normAutofit/>
          </a:bodyPr>
          <a:p>
            <a:r>
              <a:rPr lang="en-US" sz="3600"/>
              <a:t>Friend Function in C++</a:t>
            </a:r>
            <a:endParaRPr lang="en-US" sz="3600"/>
          </a:p>
        </p:txBody>
      </p:sp>
      <p:pic>
        <p:nvPicPr>
          <p:cNvPr id="4" name="Content Placeholder 3" descr="Image 16-12-2024 at 2.0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09545" y="1027430"/>
            <a:ext cx="6962775" cy="57397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is the output if i make the changes mentioned in the next slide?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6-12-2024 at 2.14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68270" y="0"/>
            <a:ext cx="619125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988685" cy="647065"/>
          </a:xfrm>
        </p:spPr>
        <p:txBody>
          <a:bodyPr/>
          <a:p>
            <a:r>
              <a:rPr lang="en-US" sz="2800"/>
              <a:t>Solution</a:t>
            </a:r>
            <a:endParaRPr lang="en-US" sz="2800"/>
          </a:p>
        </p:txBody>
      </p:sp>
      <p:pic>
        <p:nvPicPr>
          <p:cNvPr id="4" name="Content Placeholder 3" descr="Image 16-12-2024 at 2.2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6680" y="182245"/>
            <a:ext cx="6307455" cy="66757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41130" cy="588645"/>
          </a:xfrm>
        </p:spPr>
        <p:txBody>
          <a:bodyPr>
            <a:normAutofit fontScale="90000"/>
          </a:bodyPr>
          <a:p>
            <a:r>
              <a:rPr lang="en-US"/>
              <a:t>Properties of Friend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135"/>
            <a:ext cx="10515600" cy="4970145"/>
          </a:xfrm>
        </p:spPr>
        <p:txBody>
          <a:bodyPr/>
          <a:p>
            <a:r>
              <a:rPr lang="en-US"/>
              <a:t>Not in the scope of class</a:t>
            </a:r>
            <a:endParaRPr lang="en-US"/>
          </a:p>
          <a:p>
            <a:r>
              <a:rPr lang="en-US"/>
              <a:t>Since it is not in the scope of the class, it cannot be called from the object of that class, i.e., c1.sumComplex() == invalid</a:t>
            </a:r>
            <a:endParaRPr lang="en-US"/>
          </a:p>
          <a:p>
            <a:r>
              <a:rPr lang="en-US"/>
              <a:t>Can be invoked without the help of any object</a:t>
            </a:r>
            <a:endParaRPr lang="en-US"/>
          </a:p>
          <a:p>
            <a:r>
              <a:rPr lang="en-US"/>
              <a:t>Usually contains the arguments as the objects </a:t>
            </a:r>
            <a:endParaRPr lang="en-US"/>
          </a:p>
          <a:p>
            <a:r>
              <a:rPr lang="en-US"/>
              <a:t>Can be declared inside the private or public section of the class</a:t>
            </a:r>
            <a:endParaRPr lang="en-US"/>
          </a:p>
          <a:p>
            <a:r>
              <a:rPr lang="en-US"/>
              <a:t>It cannot access the members by their names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Presentation</Application>
  <PresentationFormat>Widescreen</PresentationFormat>
  <Paragraphs>143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Office Theme</vt:lpstr>
      <vt:lpstr>OOP </vt:lpstr>
      <vt:lpstr>PowerPoint 演示文稿</vt:lpstr>
      <vt:lpstr>Inheritance in C++</vt:lpstr>
      <vt:lpstr>What is Inheritance in C++</vt:lpstr>
      <vt:lpstr>Forms of Inheritance in C++</vt:lpstr>
      <vt:lpstr>Single Inheritance </vt:lpstr>
      <vt:lpstr>Example of Single Inheritance</vt:lpstr>
      <vt:lpstr>Multiple Inheritance </vt:lpstr>
      <vt:lpstr>Example of Multiple Inheritance</vt:lpstr>
      <vt:lpstr>Hierarchical Inheritance </vt:lpstr>
      <vt:lpstr>Example of Hierarchical Inheritance</vt:lpstr>
      <vt:lpstr>Multilevel Inheritance </vt:lpstr>
      <vt:lpstr>Example of Multilevel Inheritance</vt:lpstr>
      <vt:lpstr>Hybrid Inheritance </vt:lpstr>
      <vt:lpstr>Friend Function in C++</vt:lpstr>
      <vt:lpstr>PowerPoint 演示文稿</vt:lpstr>
      <vt:lpstr>PowerPoint 演示文稿</vt:lpstr>
      <vt:lpstr>Solution</vt:lpstr>
      <vt:lpstr>Properties of Friend Function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nimraabbas</cp:lastModifiedBy>
  <cp:revision>300</cp:revision>
  <dcterms:created xsi:type="dcterms:W3CDTF">2024-12-27T08:55:00Z</dcterms:created>
  <dcterms:modified xsi:type="dcterms:W3CDTF">2024-12-27T08:55:00Z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