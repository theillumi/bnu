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6" r:id="rId3"/>
    <p:sldId id="557" r:id="rId5"/>
    <p:sldId id="607" r:id="rId6"/>
    <p:sldId id="608" r:id="rId7"/>
    <p:sldId id="609" r:id="rId8"/>
    <p:sldId id="610" r:id="rId9"/>
    <p:sldId id="612" r:id="rId10"/>
    <p:sldId id="613" r:id="rId11"/>
    <p:sldId id="614" r:id="rId12"/>
    <p:sldId id="615" r:id="rId13"/>
    <p:sldId id="616" r:id="rId14"/>
    <p:sldId id="621" r:id="rId15"/>
    <p:sldId id="623" r:id="rId16"/>
    <p:sldId id="625" r:id="rId17"/>
    <p:sldId id="624" r:id="rId18"/>
    <p:sldId id="626" r:id="rId19"/>
    <p:sldId id="627" r:id="rId20"/>
    <p:sldId id="628" r:id="rId21"/>
    <p:sldId id="50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BE717-232F-4F04-8C42-B483AA5BDA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B4DA-30D8-4F6D-BF35-157D774FB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87" name="Google Shape;87;p21"/>
          <p:cNvSpPr txBox="1"/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88" name="Google Shape;88;p21"/>
          <p:cNvSpPr txBox="1"/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0600" y="1676400"/>
            <a:ext cx="108308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8000">
                <a:solidFill>
                  <a:schemeClr val="bg1"/>
                </a:solidFill>
              </a:rPr>
              <a:t>OOP</a:t>
            </a:r>
            <a:r>
              <a:rPr lang="en-GB" sz="8000">
                <a:solidFill>
                  <a:schemeClr val="bg1"/>
                </a:solidFill>
              </a:rPr>
              <a:t> </a:t>
            </a:r>
            <a:endParaRPr lang="en-GB" sz="8000">
              <a:solidFill>
                <a:schemeClr val="bg1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820200" y="3979367"/>
            <a:ext cx="8248400" cy="18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1"/>
          <p:cNvSpPr/>
          <p:nvPr/>
        </p:nvSpPr>
        <p:spPr>
          <a:xfrm>
            <a:off x="883195" y="4182438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/>
              <a:t>Lecture 1</a:t>
            </a:r>
            <a:endParaRPr lang="en-US"/>
          </a:p>
        </p:txBody>
      </p:sp>
      <p:pic>
        <p:nvPicPr>
          <p:cNvPr id="6" name="Picture 5" descr="abstract-code-blocks-rendered-in-3d-within-the-virtual-space-powerpoint-background_79acb22bd5__960_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720" y="2073910"/>
            <a:ext cx="1030160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Object Oriented Programming</a:t>
            </a:r>
            <a:endParaRPr lang="en-US" sz="72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Lecture 14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520"/>
          </a:xfrm>
        </p:spPr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8895"/>
            <a:ext cx="10385425" cy="48025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</a:t>
            </a:r>
            <a:endParaRPr lang="en-US" sz="2400" dirty="0"/>
          </a:p>
          <a:p>
            <a:r>
              <a:rPr lang="en-US" sz="2400" dirty="0"/>
              <a:t>Composition (Revise)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Composition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/>
              <a:t>Composition in Object-Oriented Programming (OOP) is a design principle where a class is composed of one or more objects from other classes. It's often described as a "has-a" relationship. </a:t>
            </a:r>
            <a:endParaRPr lang="en-US" sz="2400"/>
          </a:p>
          <a:p>
            <a:pPr marL="0" indent="0" algn="just">
              <a:buNone/>
            </a:pPr>
            <a:endParaRPr lang="en-US" sz="2400"/>
          </a:p>
          <a:p>
            <a:pPr marL="0" indent="0" algn="just">
              <a:buNone/>
            </a:pPr>
            <a:r>
              <a:rPr lang="en-US" sz="2400" b="1">
                <a:latin typeface="Arial Bold" panose="020B0604020202020204" charset="0"/>
                <a:cs typeface="Arial Bold" panose="020B0604020202020204" charset="0"/>
              </a:rPr>
              <a:t>Key Features:</a:t>
            </a:r>
            <a:endParaRPr lang="en-US" sz="2400"/>
          </a:p>
          <a:p>
            <a:pPr algn="just"/>
            <a:r>
              <a:rPr lang="en-US" sz="2400"/>
              <a:t>Reusability: Objects of existing classes can be reused.</a:t>
            </a:r>
            <a:endParaRPr lang="en-US" sz="2400"/>
          </a:p>
          <a:p>
            <a:pPr algn="just"/>
            <a:r>
              <a:rPr lang="en-US" sz="2400"/>
              <a:t>Encapsulation: The containing class manages its composed objects.</a:t>
            </a:r>
            <a:endParaRPr lang="en-US" sz="2400"/>
          </a:p>
          <a:p>
            <a:pPr algn="just"/>
            <a:r>
              <a:rPr lang="en-US" sz="2400"/>
              <a:t>Flexibility: Behaviors can be changed by using different objects in composition.</a:t>
            </a:r>
            <a:endParaRPr 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155"/>
            <a:ext cx="10515600" cy="904875"/>
          </a:xfrm>
        </p:spPr>
        <p:txBody>
          <a:bodyPr/>
          <a:p>
            <a:r>
              <a:rPr lang="en-US" sz="3200" b="1">
                <a:latin typeface="Arial Bold" panose="020B0604020202020204" charset="0"/>
                <a:cs typeface="Arial Bold" panose="020B0604020202020204" charset="0"/>
              </a:rPr>
              <a:t>Aggregation vs. Composition</a:t>
            </a:r>
            <a:endParaRPr lang="en-US" sz="3200" b="1"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6460"/>
            <a:ext cx="10775950" cy="5744845"/>
          </a:xfrm>
        </p:spPr>
        <p:txBody>
          <a:bodyPr>
            <a:normAutofit lnSpcReduction="10000"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000"/>
              <a:t>Both composition and aggregation represent "has-a" relationships in OOP, but they differ in the strength of ownership and lifecycle dependency between the objects. Here's a clear distinction:</a:t>
            </a:r>
            <a:endParaRPr lang="en-US" sz="200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1.) Aggregation (Weaker Relationship)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algn="just">
              <a:lnSpc>
                <a:spcPct val="100000"/>
              </a:lnSpc>
              <a:buClrTx/>
              <a:buSzTx/>
              <a:buNone/>
            </a:pPr>
            <a:r>
              <a:rPr lang="en-US" sz="2000"/>
              <a:t>In aggregation, the containing class (whole) and its parts have an independent lifecycle. If the container object is destroyed, the part objects can still exist.</a:t>
            </a:r>
            <a:endParaRPr lang="en-US" sz="2000"/>
          </a:p>
          <a:p>
            <a:pPr marL="0" algn="just">
              <a:lnSpc>
                <a:spcPct val="100000"/>
              </a:lnSpc>
              <a:buClrTx/>
              <a:buSzTx/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Example: </a:t>
            </a:r>
            <a:r>
              <a:rPr lang="en-US" sz="2000"/>
              <a:t>A Department has Professors. Even if the department is deleted, professors can still exist.</a:t>
            </a:r>
            <a:endParaRPr lang="en-US" sz="2000"/>
          </a:p>
        </p:txBody>
      </p:sp>
      <p:pic>
        <p:nvPicPr>
          <p:cNvPr id="4" name="Picture 3" descr="Image 18-11-2024 at 6.1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3570" y="3550920"/>
            <a:ext cx="5864225" cy="3193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155"/>
            <a:ext cx="10515600" cy="904875"/>
          </a:xfrm>
        </p:spPr>
        <p:txBody>
          <a:bodyPr/>
          <a:p>
            <a:r>
              <a:rPr lang="en-US" sz="3200" b="1">
                <a:latin typeface="Arial Bold" panose="020B0604020202020204" charset="0"/>
                <a:cs typeface="Arial Bold" panose="020B0604020202020204" charset="0"/>
              </a:rPr>
              <a:t>Aggregation vs. Composition</a:t>
            </a:r>
            <a:endParaRPr lang="en-US" sz="3200" b="1">
              <a:latin typeface="Arial Bold" panose="020B0604020202020204" charset="0"/>
              <a:cs typeface="Arial Bold" panose="020B06040202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6460"/>
            <a:ext cx="10775950" cy="5744845"/>
          </a:xfrm>
        </p:spPr>
        <p:txBody>
          <a:bodyPr>
            <a:normAutofit lnSpcReduction="10000"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000"/>
              <a:t>Both composition and aggregation represent "has-a" relationships in OOP, but they differ in the strength of ownership and lifecycle dependency between the objects. Here's a clear distinction:</a:t>
            </a:r>
            <a:endParaRPr lang="en-US" sz="200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2.) Composition (Stronger Relationship) 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/>
              <a:t>In composition, the parts are tightly coupled with the container. If the container object is destroyed, its part objects are also destroyed.</a:t>
            </a:r>
            <a:endParaRPr lang="en-US" sz="200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Example: </a:t>
            </a:r>
            <a:r>
              <a:rPr lang="en-US" sz="2000"/>
              <a:t>A Car has an Engine. If the car is destroyed, the engine does not make sense alone.</a:t>
            </a:r>
            <a:endParaRPr lang="en-US" sz="2000"/>
          </a:p>
          <a:p>
            <a:pPr marL="0" indent="0" algn="just">
              <a:lnSpc>
                <a:spcPct val="100000"/>
              </a:lnSpc>
              <a:buNone/>
            </a:pPr>
            <a:endParaRPr lang="en-US" sz="2000"/>
          </a:p>
        </p:txBody>
      </p:sp>
      <p:pic>
        <p:nvPicPr>
          <p:cNvPr id="5" name="Picture 4" descr="Image 18-11-2024 at 6.1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880" y="3695700"/>
            <a:ext cx="8023225" cy="2935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400" b="1">
                <a:latin typeface="Arial Bold" panose="020B0604020202020204" charset="0"/>
                <a:cs typeface="Arial Bold" panose="020B0604020202020204" charset="0"/>
              </a:rPr>
              <a:t>Key Difference</a:t>
            </a:r>
            <a:endParaRPr lang="en-US" sz="240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4" name="Content Placeholder 3" descr="Image 18-11-2024 at 6.1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1995" y="2247265"/>
            <a:ext cx="11005185" cy="3120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94240" cy="935355"/>
          </a:xfrm>
        </p:spPr>
        <p:txBody>
          <a:bodyPr/>
          <a:p>
            <a:r>
              <a:rPr lang="en-US" sz="3200"/>
              <a:t>What is Composition in OOP?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580"/>
            <a:ext cx="10515600" cy="5133975"/>
          </a:xfrm>
        </p:spPr>
        <p:txBody>
          <a:bodyPr/>
          <a:p>
            <a:r>
              <a:rPr lang="en-US" sz="2000"/>
              <a:t>Think of your favorite toy car. It’s made up of smaller parts like wheels, doors, and an engine. Each part has its own job, but together, they make a working car.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In Object-Oriented Programming (OOP), composition is like that toy car. One class is made up of objects of other classes. Instead of inheriting (getting everything from a parent class), you build a class by using other classes as parts.</a:t>
            </a:r>
            <a:endParaRPr lang="en-US" sz="2000"/>
          </a:p>
          <a:p>
            <a:endParaRPr lang="en-US" sz="2000"/>
          </a:p>
          <a:p>
            <a:r>
              <a:rPr lang="en-US" sz="2000"/>
              <a:t>Example in C++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Let’s imagine a Car class. A car has a Engine and Wheel. These are separate parts but together make the car functional. (</a:t>
            </a:r>
            <a:r>
              <a:rPr lang="en-US" sz="2000">
                <a:solidFill>
                  <a:srgbClr val="FF0000"/>
                </a:solidFill>
              </a:rPr>
              <a:t>Implement this</a:t>
            </a:r>
            <a:r>
              <a:rPr lang="en-US" sz="2000"/>
              <a:t>)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Another Scenerio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Example from Real Life:</a:t>
            </a:r>
            <a:endParaRPr lang="en-US"/>
          </a:p>
          <a:p>
            <a:pPr marL="0" indent="0">
              <a:buNone/>
            </a:pPr>
            <a:r>
              <a:rPr lang="en-US" sz="1600"/>
              <a:t>Think about a Computer. A computer:</a:t>
            </a:r>
            <a:endParaRPr lang="en-US" sz="1600"/>
          </a:p>
          <a:p>
            <a:r>
              <a:rPr lang="en-US" sz="1600"/>
              <a:t>Has a CPU</a:t>
            </a:r>
            <a:endParaRPr lang="en-US" sz="1600"/>
          </a:p>
          <a:p>
            <a:r>
              <a:rPr lang="en-US" sz="1600"/>
              <a:t>Has a Monitor</a:t>
            </a:r>
            <a:endParaRPr lang="en-US" sz="1600"/>
          </a:p>
          <a:p>
            <a:r>
              <a:rPr lang="en-US" sz="1600"/>
              <a:t>Has a Keyboard</a:t>
            </a:r>
            <a:endParaRPr lang="en-US" sz="1600"/>
          </a:p>
          <a:p>
            <a:r>
              <a:rPr lang="en-US" sz="1600"/>
              <a:t>Each of these components (CPU, Monitor, Keyboard) can work independently, but together they form a functioning computer.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/>
              <a:t>Key Features of Composition: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/>
              <a:t>1. Reusability</a:t>
            </a:r>
            <a:endParaRPr lang="en-US"/>
          </a:p>
          <a:p>
            <a:pPr marL="0" indent="0">
              <a:buNone/>
            </a:pPr>
            <a:r>
              <a:rPr lang="en-US" sz="1800"/>
              <a:t>You don’t need to rewrite the logic for each part inside the Computer. Instead:</a:t>
            </a:r>
            <a:endParaRPr lang="en-US" sz="1800"/>
          </a:p>
          <a:p>
            <a:pPr marL="0" indent="0">
              <a:buNone/>
            </a:pPr>
            <a:endParaRPr lang="en-US" sz="1540"/>
          </a:p>
          <a:p>
            <a:pPr lvl="1"/>
            <a:r>
              <a:rPr lang="en-US" sz="1540"/>
              <a:t>You create separate CPU, Monitor, and Keyboard classes.</a:t>
            </a:r>
            <a:endParaRPr lang="en-US" sz="1540"/>
          </a:p>
          <a:p>
            <a:pPr lvl="1"/>
            <a:r>
              <a:rPr lang="en-US" sz="1540"/>
              <a:t>These can be used in multiple places. For instance:</a:t>
            </a:r>
            <a:endParaRPr lang="en-US" sz="1540"/>
          </a:p>
          <a:p>
            <a:pPr lvl="1"/>
            <a:r>
              <a:rPr lang="en-US" sz="1540"/>
              <a:t>A Laptop also has a CPU and Monitor.</a:t>
            </a:r>
            <a:endParaRPr lang="en-US" sz="1540"/>
          </a:p>
          <a:p>
            <a:pPr lvl="1"/>
            <a:r>
              <a:rPr lang="en-US" sz="1540"/>
              <a:t>A Desktop has the same.</a:t>
            </a:r>
            <a:endParaRPr lang="en-US" sz="1540"/>
          </a:p>
          <a:p>
            <a:pPr marL="0" indent="0">
              <a:buNone/>
            </a:pPr>
            <a:r>
              <a:rPr lang="en-US" sz="1800"/>
              <a:t>This makes your code modular and easy to reuse.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3200"/>
              <a:t>Key Features of Composition: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sz="2800"/>
              <a:t>2. Encapsulation</a:t>
            </a:r>
            <a:endParaRPr lang="en-US" sz="2800"/>
          </a:p>
          <a:p>
            <a:r>
              <a:rPr lang="en-US" sz="1800"/>
              <a:t>Encapsulation means hiding the details of the components.</a:t>
            </a:r>
            <a:endParaRPr lang="en-US" sz="1800"/>
          </a:p>
          <a:p>
            <a:r>
              <a:rPr lang="en-US" sz="1800"/>
              <a:t>The Computer class manages the CPU, Monitor, and Keyboard objects internally.</a:t>
            </a:r>
            <a:endParaRPr lang="en-US" sz="1800"/>
          </a:p>
          <a:p>
            <a:r>
              <a:rPr lang="en-US" sz="1800"/>
              <a:t>External code only interacts with Computer:</a:t>
            </a:r>
            <a:endParaRPr lang="en-US" sz="1800"/>
          </a:p>
          <a:p>
            <a:pPr lvl="1"/>
            <a:r>
              <a:rPr lang="en-US" sz="1540"/>
              <a:t>It doesn’t need to know how the CPU starts or how the Monitor displays.</a:t>
            </a:r>
            <a:endParaRPr lang="en-US" sz="1540"/>
          </a:p>
          <a:p>
            <a:r>
              <a:rPr lang="en-US" sz="1800"/>
              <a:t>This keeps things simple for users of the Computer class.</a:t>
            </a:r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3. Flexibility</a:t>
            </a:r>
            <a:endParaRPr lang="en-US"/>
          </a:p>
          <a:p>
            <a:pPr marL="0" indent="0">
              <a:buNone/>
            </a:pPr>
            <a:r>
              <a:rPr lang="en-US" sz="2000"/>
              <a:t>You can change the behavior by swapping parts.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r>
              <a:rPr lang="en-US" sz="2000"/>
              <a:t>For example:</a:t>
            </a:r>
            <a:endParaRPr lang="en-US" sz="2000"/>
          </a:p>
          <a:p>
            <a:r>
              <a:rPr lang="en-US" sz="2000"/>
              <a:t>If you want a more powerful computer, you can replace the CPU object with a faster one.</a:t>
            </a:r>
            <a:endParaRPr lang="en-US" sz="2000"/>
          </a:p>
          <a:p>
            <a:r>
              <a:rPr lang="en-US" sz="2000"/>
              <a:t>If you want a gaming setup, you could swap out the Monitor for a high-refresh-rate model.</a:t>
            </a:r>
            <a:endParaRPr lang="en-US" sz="2000"/>
          </a:p>
          <a:p>
            <a:r>
              <a:rPr lang="en-US" sz="2000"/>
              <a:t>You don't need to rewrite the entire Computer class; just replace its components.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2685" y="2148840"/>
            <a:ext cx="10515600" cy="1325563"/>
          </a:xfrm>
        </p:spPr>
        <p:txBody>
          <a:bodyPr/>
          <a:p>
            <a:pPr algn="ctr"/>
            <a:r>
              <a:rPr lang="en-US"/>
              <a:t>Inheritance 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9645"/>
          </a:xfrm>
        </p:spPr>
        <p:txBody>
          <a:bodyPr/>
          <a:p>
            <a:r>
              <a:rPr lang="en-US" sz="4000"/>
              <a:t>Inheritance?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2100"/>
            <a:ext cx="10515600" cy="4615180"/>
          </a:xfrm>
        </p:spPr>
        <p:txBody>
          <a:bodyPr/>
          <a:p>
            <a:r>
              <a:rPr lang="en-US"/>
              <a:t>When properties and member functions of base class are passed on to the derived class. 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71675"/>
            <a:ext cx="10515600" cy="4205605"/>
          </a:xfrm>
        </p:spPr>
        <p:txBody>
          <a:bodyPr/>
          <a:p>
            <a:r>
              <a:rPr lang="en-US"/>
              <a:t>Constructor without parameters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How constructor is called?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First Base Class then drived class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How destructor is called?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First drived class then base class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71675"/>
            <a:ext cx="10515600" cy="4205605"/>
          </a:xfrm>
        </p:spPr>
        <p:txBody>
          <a:bodyPr/>
          <a:p>
            <a:r>
              <a:rPr lang="en-US"/>
              <a:t>Constructor with parameters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Mode of Inheritance</a:t>
            </a:r>
            <a:endParaRPr lang="en-US"/>
          </a:p>
        </p:txBody>
      </p:sp>
      <p:pic>
        <p:nvPicPr>
          <p:cNvPr id="4" name="Content Placeholder 3" descr="Image 02-12-2024 at 1.1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45565" y="2159635"/>
            <a:ext cx="94996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15290" y="2569845"/>
            <a:ext cx="11360785" cy="3522345"/>
          </a:xfrm>
        </p:spPr>
        <p:txBody>
          <a:bodyPr/>
          <a:p>
            <a:pPr marL="152400" indent="0" algn="ctr">
              <a:buNone/>
            </a:pPr>
            <a:r>
              <a:rPr lang="en-US"/>
              <a:t>End of Lecture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3646</Words>
  <Application>WPS Writer</Application>
  <PresentationFormat>Widescreen</PresentationFormat>
  <Paragraphs>109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Proxima Nova</vt:lpstr>
      <vt:lpstr>Thonburi</vt:lpstr>
      <vt:lpstr>Arial Bold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OOP </vt:lpstr>
      <vt:lpstr>Outline</vt:lpstr>
      <vt:lpstr>Composition</vt:lpstr>
      <vt:lpstr>Aggregation vs. Composition</vt:lpstr>
      <vt:lpstr>Aggregation vs. Composition</vt:lpstr>
      <vt:lpstr>Key Difference</vt:lpstr>
      <vt:lpstr>What is Composition in OOP?</vt:lpstr>
      <vt:lpstr>Another Scenerio</vt:lpstr>
      <vt:lpstr>Key Features of Composition:</vt:lpstr>
      <vt:lpstr>Key Features of Composition: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How constructor is called?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CSC-321</dc:title>
  <dc:creator>User</dc:creator>
  <cp:lastModifiedBy>Nimra Abbas</cp:lastModifiedBy>
  <cp:revision>244</cp:revision>
  <dcterms:created xsi:type="dcterms:W3CDTF">2024-12-02T08:16:19Z</dcterms:created>
  <dcterms:modified xsi:type="dcterms:W3CDTF">2024-12-02T08:16:19Z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