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426" r:id="rId3"/>
    <p:sldId id="557" r:id="rId5"/>
    <p:sldId id="607" r:id="rId6"/>
    <p:sldId id="608" r:id="rId7"/>
    <p:sldId id="609" r:id="rId8"/>
    <p:sldId id="610" r:id="rId9"/>
    <p:sldId id="612" r:id="rId10"/>
    <p:sldId id="613" r:id="rId11"/>
    <p:sldId id="614" r:id="rId12"/>
    <p:sldId id="615" r:id="rId13"/>
    <p:sldId id="616" r:id="rId14"/>
    <p:sldId id="618" r:id="rId15"/>
    <p:sldId id="617" r:id="rId16"/>
    <p:sldId id="500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imraabbas" initials="n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91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3BE717-232F-4F04-8C42-B483AA5BDA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E0B4DA-30D8-4F6D-BF35-157D774FB51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e878c25f7a_0_376:notes"/>
          <p:cNvSpPr/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e878c25f7a_0_37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A709E-C215-4E8E-8E45-59E3768F84B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737CF-34AC-4C2D-ABFC-61A12BD25FF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A709E-C215-4E8E-8E45-59E3768F84B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737CF-34AC-4C2D-ABFC-61A12BD25FF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A709E-C215-4E8E-8E45-59E3768F84B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737CF-34AC-4C2D-ABFC-61A12BD25FF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A709E-C215-4E8E-8E45-59E3768F84B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737CF-34AC-4C2D-ABFC-61A12BD25FF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A709E-C215-4E8E-8E45-59E3768F84B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737CF-34AC-4C2D-ABFC-61A12BD25FF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A709E-C215-4E8E-8E45-59E3768F84B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737CF-34AC-4C2D-ABFC-61A12BD25FF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A709E-C215-4E8E-8E45-59E3768F84B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737CF-34AC-4C2D-ABFC-61A12BD25FF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A709E-C215-4E8E-8E45-59E3768F84B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737CF-34AC-4C2D-ABFC-61A12BD25FF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A709E-C215-4E8E-8E45-59E3768F84B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737CF-34AC-4C2D-ABFC-61A12BD25FF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A709E-C215-4E8E-8E45-59E3768F84B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737CF-34AC-4C2D-ABFC-61A12BD25FF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A709E-C215-4E8E-8E45-59E3768F84B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737CF-34AC-4C2D-ABFC-61A12BD25FF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6"/>
          <p:cNvSpPr/>
          <p:nvPr/>
        </p:nvSpPr>
        <p:spPr>
          <a:xfrm>
            <a:off x="0" y="6727600"/>
            <a:ext cx="12192000" cy="13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5" name="Google Shape;65;p16"/>
          <p:cNvSpPr txBox="1"/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6" name="Google Shape;66;p16"/>
          <p:cNvSpPr txBox="1"/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600" lvl="0" indent="-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200" lvl="1" indent="-423545" rtl="0">
              <a:spcBef>
                <a:spcPct val="427000"/>
              </a:spcBef>
              <a:spcAft>
                <a:spcPts val="0"/>
              </a:spcAft>
              <a:buSzPts val="1400"/>
              <a:buChar char="○"/>
              <a:defRPr/>
            </a:lvl2pPr>
            <a:lvl3pPr marL="1828800" lvl="2" indent="-423545" rtl="0">
              <a:spcBef>
                <a:spcPct val="427000"/>
              </a:spcBef>
              <a:spcAft>
                <a:spcPts val="0"/>
              </a:spcAft>
              <a:buSzPts val="1400"/>
              <a:buChar char="■"/>
              <a:defRPr/>
            </a:lvl3pPr>
            <a:lvl4pPr marL="2438400" lvl="3" indent="-423545" rtl="0">
              <a:spcBef>
                <a:spcPct val="427000"/>
              </a:spcBef>
              <a:spcAft>
                <a:spcPts val="0"/>
              </a:spcAft>
              <a:buSzPts val="1400"/>
              <a:buChar char="●"/>
              <a:defRPr/>
            </a:lvl4pPr>
            <a:lvl5pPr marL="3048000" lvl="4" indent="-423545" rtl="0">
              <a:spcBef>
                <a:spcPct val="427000"/>
              </a:spcBef>
              <a:spcAft>
                <a:spcPts val="0"/>
              </a:spcAft>
              <a:buSzPts val="1400"/>
              <a:buChar char="○"/>
              <a:defRPr/>
            </a:lvl5pPr>
            <a:lvl6pPr marL="3657600" lvl="5" indent="-423545" rtl="0">
              <a:spcBef>
                <a:spcPct val="427000"/>
              </a:spcBef>
              <a:spcAft>
                <a:spcPts val="0"/>
              </a:spcAft>
              <a:buSzPts val="1400"/>
              <a:buChar char="■"/>
              <a:defRPr/>
            </a:lvl6pPr>
            <a:lvl7pPr marL="4267200" lvl="6" indent="-423545" rtl="0">
              <a:spcBef>
                <a:spcPct val="427000"/>
              </a:spcBef>
              <a:spcAft>
                <a:spcPts val="0"/>
              </a:spcAft>
              <a:buSzPts val="1400"/>
              <a:buChar char="●"/>
              <a:defRPr/>
            </a:lvl7pPr>
            <a:lvl8pPr marL="4876800" lvl="7" indent="-423545" rtl="0">
              <a:spcBef>
                <a:spcPct val="427000"/>
              </a:spcBef>
              <a:spcAft>
                <a:spcPts val="0"/>
              </a:spcAft>
              <a:buSzPts val="1400"/>
              <a:buChar char="○"/>
              <a:defRPr/>
            </a:lvl8pPr>
            <a:lvl9pPr marL="5486400" lvl="8" indent="-423545" rtl="0">
              <a:spcBef>
                <a:spcPct val="4270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7" name="Google Shape;67;p16"/>
          <p:cNvSpPr txBox="1"/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1"/>
          <p:cNvSpPr/>
          <p:nvPr/>
        </p:nvSpPr>
        <p:spPr>
          <a:xfrm>
            <a:off x="6096000" y="100"/>
            <a:ext cx="6096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cxnSp>
        <p:nvCxnSpPr>
          <p:cNvPr id="85" name="Google Shape;85;p21"/>
          <p:cNvCxnSpPr/>
          <p:nvPr/>
        </p:nvCxnSpPr>
        <p:spPr>
          <a:xfrm>
            <a:off x="6706233" y="5994000"/>
            <a:ext cx="6244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6" name="Google Shape;86;p21"/>
          <p:cNvSpPr txBox="1"/>
          <p:nvPr>
            <p:ph type="title"/>
          </p:nvPr>
        </p:nvSpPr>
        <p:spPr>
          <a:xfrm>
            <a:off x="354000" y="1607767"/>
            <a:ext cx="5393600" cy="201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/>
        </p:txBody>
      </p:sp>
      <p:sp>
        <p:nvSpPr>
          <p:cNvPr id="87" name="Google Shape;87;p21"/>
          <p:cNvSpPr txBox="1"/>
          <p:nvPr>
            <p:ph type="subTitle" idx="1"/>
          </p:nvPr>
        </p:nvSpPr>
        <p:spPr>
          <a:xfrm>
            <a:off x="354000" y="3692001"/>
            <a:ext cx="5393600" cy="179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/>
        </p:txBody>
      </p:sp>
      <p:sp>
        <p:nvSpPr>
          <p:cNvPr id="88" name="Google Shape;88;p21"/>
          <p:cNvSpPr txBox="1"/>
          <p:nvPr>
            <p:ph type="body" idx="2"/>
          </p:nvPr>
        </p:nvSpPr>
        <p:spPr>
          <a:xfrm>
            <a:off x="6586000" y="965600"/>
            <a:ext cx="5116000" cy="49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609600" lvl="0" indent="-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1219200" lvl="1" indent="-423545" rtl="0">
              <a:spcBef>
                <a:spcPct val="427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828800" lvl="2" indent="-423545" rtl="0">
              <a:spcBef>
                <a:spcPct val="4270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2438400" lvl="3" indent="-423545" rtl="0">
              <a:spcBef>
                <a:spcPct val="427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3048000" lvl="4" indent="-423545" rtl="0">
              <a:spcBef>
                <a:spcPct val="427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3657600" lvl="5" indent="-423545" rtl="0">
              <a:spcBef>
                <a:spcPct val="4270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4267200" lvl="6" indent="-423545" rtl="0">
              <a:spcBef>
                <a:spcPct val="427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4876800" lvl="7" indent="-423545" rtl="0">
              <a:spcBef>
                <a:spcPct val="427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5486400" lvl="8" indent="-423545" rtl="0">
              <a:spcBef>
                <a:spcPct val="4270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9" name="Google Shape;89;p21"/>
          <p:cNvSpPr txBox="1"/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9A709E-C215-4E8E-8E45-59E3768F84B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1737CF-34AC-4C2D-ABFC-61A12BD25FF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jpe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3"/>
          <p:cNvSpPr txBox="1"/>
          <p:nvPr>
            <p:ph type="ctrTitle"/>
          </p:nvPr>
        </p:nvSpPr>
        <p:spPr>
          <a:xfrm>
            <a:off x="680600" y="1676400"/>
            <a:ext cx="10830800" cy="21180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8000">
                <a:solidFill>
                  <a:schemeClr val="bg1"/>
                </a:solidFill>
              </a:rPr>
              <a:t>OOP</a:t>
            </a:r>
            <a:r>
              <a:rPr lang="en-GB" sz="8000">
                <a:solidFill>
                  <a:schemeClr val="bg1"/>
                </a:solidFill>
              </a:rPr>
              <a:t> </a:t>
            </a:r>
            <a:endParaRPr lang="en-GB" sz="8000">
              <a:solidFill>
                <a:schemeClr val="bg1"/>
              </a:solidFill>
            </a:endParaRPr>
          </a:p>
        </p:txBody>
      </p:sp>
      <p:cxnSp>
        <p:nvCxnSpPr>
          <p:cNvPr id="63" name="Google Shape;63;p13"/>
          <p:cNvCxnSpPr/>
          <p:nvPr/>
        </p:nvCxnSpPr>
        <p:spPr>
          <a:xfrm rot="10800000" flipH="1">
            <a:off x="820200" y="3979367"/>
            <a:ext cx="8248400" cy="180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" name="Subtitle 1"/>
          <p:cNvSpPr/>
          <p:nvPr>
            <p:ph type="subTitle" idx="1"/>
          </p:nvPr>
        </p:nvSpPr>
        <p:spPr/>
        <p:txBody>
          <a:bodyPr/>
          <a:p>
            <a:endParaRPr lang="en-US"/>
          </a:p>
        </p:txBody>
      </p:sp>
      <p:sp>
        <p:nvSpPr>
          <p:cNvPr id="3" name="Subtitle 1"/>
          <p:cNvSpPr/>
          <p:nvPr/>
        </p:nvSpPr>
        <p:spPr>
          <a:xfrm>
            <a:off x="883195" y="4182438"/>
            <a:ext cx="8123100" cy="630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roxima Nova"/>
              <a:buNone/>
              <a:defRPr sz="24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roxima Nova"/>
              <a:buNone/>
              <a:defRPr sz="24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roxima Nova"/>
              <a:buNone/>
              <a:defRPr sz="24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roxima Nova"/>
              <a:buNone/>
              <a:defRPr sz="24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roxima Nova"/>
              <a:buNone/>
              <a:defRPr sz="24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roxima Nova"/>
              <a:buNone/>
              <a:defRPr sz="24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roxima Nova"/>
              <a:buNone/>
              <a:defRPr sz="24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roxima Nova"/>
              <a:buNone/>
              <a:defRPr sz="24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roxima Nova"/>
              <a:buNone/>
              <a:defRPr sz="24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r>
              <a:rPr lang="en-US"/>
              <a:t>Lecture 1</a:t>
            </a:r>
            <a:endParaRPr lang="en-US"/>
          </a:p>
        </p:txBody>
      </p:sp>
      <p:pic>
        <p:nvPicPr>
          <p:cNvPr id="6" name="Picture 5" descr="abstract-code-blocks-rendered-in-3d-within-the-virtual-space-powerpoint-background_79acb22bd5__960_54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635"/>
            <a:ext cx="12192000" cy="6858635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680720" y="2073910"/>
            <a:ext cx="10301605" cy="35998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7200" b="1">
                <a:solidFill>
                  <a:schemeClr val="bg1"/>
                </a:solidFill>
                <a:latin typeface="Arial Bold" panose="020B0604020202020204" charset="0"/>
                <a:cs typeface="Arial Bold" panose="020B0604020202020204" charset="0"/>
              </a:rPr>
              <a:t>Object Oriented Programming</a:t>
            </a:r>
            <a:endParaRPr lang="en-US" sz="7200" b="1">
              <a:solidFill>
                <a:schemeClr val="bg1"/>
              </a:solidFill>
              <a:latin typeface="Arial Bold" panose="020B0604020202020204" charset="0"/>
              <a:cs typeface="Arial Bold" panose="020B0604020202020204" charset="0"/>
            </a:endParaRPr>
          </a:p>
          <a:p>
            <a:endParaRPr lang="en-US" sz="2800" b="1">
              <a:solidFill>
                <a:schemeClr val="bg1"/>
              </a:solidFill>
              <a:latin typeface="Arial Bold" panose="020B0604020202020204" charset="0"/>
              <a:cs typeface="Arial Bold" panose="020B0604020202020204" charset="0"/>
            </a:endParaRPr>
          </a:p>
          <a:p>
            <a:r>
              <a:rPr lang="en-US" sz="2800" b="1">
                <a:solidFill>
                  <a:schemeClr val="bg1"/>
                </a:solidFill>
                <a:latin typeface="Arial Bold" panose="020B0604020202020204" charset="0"/>
                <a:cs typeface="Arial Bold" panose="020B0604020202020204" charset="0"/>
              </a:rPr>
              <a:t>Lecture 13</a:t>
            </a:r>
            <a:endParaRPr lang="en-US" sz="2800" b="1">
              <a:solidFill>
                <a:schemeClr val="bg1"/>
              </a:solidFill>
              <a:latin typeface="Arial Bold" panose="020B0604020202020204" charset="0"/>
              <a:cs typeface="Arial Bold" panose="020B0604020202020204" charset="0"/>
            </a:endParaRPr>
          </a:p>
          <a:p>
            <a:endParaRPr lang="en-US" sz="2800" b="1">
              <a:solidFill>
                <a:schemeClr val="bg1"/>
              </a:solidFill>
              <a:latin typeface="Arial Bold" panose="020B0604020202020204" charset="0"/>
              <a:cs typeface="Arial Bold" panose="020B06040202020202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31520"/>
          </a:xfrm>
        </p:spPr>
        <p:txBody>
          <a:bodyPr/>
          <a:lstStyle/>
          <a:p>
            <a:r>
              <a:rPr lang="en-US" dirty="0"/>
              <a:t>Outline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18895"/>
            <a:ext cx="10385425" cy="480250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 </a:t>
            </a:r>
            <a:endParaRPr lang="en-US" sz="2400" dirty="0"/>
          </a:p>
          <a:p>
            <a:r>
              <a:rPr lang="en-US" sz="2400" dirty="0"/>
              <a:t>Composition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Composition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 algn="just">
              <a:buNone/>
            </a:pPr>
            <a:r>
              <a:rPr lang="en-US" sz="2400"/>
              <a:t>Composition in Object-Oriented Programming (OOP) is a design principle where a class is composed of one or more objects from other classes. It's often described as a "has-a" relationship. </a:t>
            </a:r>
            <a:endParaRPr lang="en-US" sz="2400"/>
          </a:p>
          <a:p>
            <a:pPr marL="0" indent="0" algn="just">
              <a:buNone/>
            </a:pPr>
            <a:endParaRPr lang="en-US" sz="2400"/>
          </a:p>
          <a:p>
            <a:pPr marL="0" indent="0" algn="just">
              <a:buNone/>
            </a:pPr>
            <a:r>
              <a:rPr lang="en-US" sz="2400" b="1">
                <a:latin typeface="Arial Bold" panose="020B0604020202020204" charset="0"/>
                <a:cs typeface="Arial Bold" panose="020B0604020202020204" charset="0"/>
              </a:rPr>
              <a:t>Key Features:</a:t>
            </a:r>
            <a:endParaRPr lang="en-US" sz="2400"/>
          </a:p>
          <a:p>
            <a:pPr algn="just"/>
            <a:r>
              <a:rPr lang="en-US" sz="2400"/>
              <a:t>Reusability: Objects of existing classes can be reused.</a:t>
            </a:r>
            <a:endParaRPr lang="en-US" sz="2400"/>
          </a:p>
          <a:p>
            <a:pPr algn="just"/>
            <a:r>
              <a:rPr lang="en-US" sz="2400"/>
              <a:t>Encapsulation: The containing class manages its composed objects.</a:t>
            </a:r>
            <a:endParaRPr lang="en-US" sz="2400"/>
          </a:p>
          <a:p>
            <a:pPr algn="just"/>
            <a:r>
              <a:rPr lang="en-US" sz="2400"/>
              <a:t>Flexibility: Behaviors can be changed by using different objects in composition.</a:t>
            </a:r>
            <a:endParaRPr lang="en-US" sz="2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7155"/>
            <a:ext cx="10515600" cy="904875"/>
          </a:xfrm>
        </p:spPr>
        <p:txBody>
          <a:bodyPr/>
          <a:p>
            <a:r>
              <a:rPr lang="en-US" sz="3200" b="1">
                <a:latin typeface="Arial Bold" panose="020B0604020202020204" charset="0"/>
                <a:cs typeface="Arial Bold" panose="020B0604020202020204" charset="0"/>
              </a:rPr>
              <a:t>Aggregation vs. Composition</a:t>
            </a:r>
            <a:endParaRPr lang="en-US" sz="3200" b="1">
              <a:latin typeface="Arial Bold" panose="020B0604020202020204" charset="0"/>
              <a:cs typeface="Arial Bold" panose="020B06040202020202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886460"/>
            <a:ext cx="10775950" cy="5744845"/>
          </a:xfrm>
        </p:spPr>
        <p:txBody>
          <a:bodyPr>
            <a:normAutofit lnSpcReduction="10000"/>
          </a:bodyPr>
          <a:p>
            <a:pPr marL="0" indent="0" algn="just">
              <a:lnSpc>
                <a:spcPct val="100000"/>
              </a:lnSpc>
              <a:buNone/>
            </a:pPr>
            <a:r>
              <a:rPr lang="en-US" sz="2000"/>
              <a:t>Both composition and aggregation represent "has-a" relationships in OOP, but they differ in the strength of ownership and lifecycle dependency between the objects. Here's a clear distinction:</a:t>
            </a:r>
            <a:endParaRPr lang="en-US" sz="2000"/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2000" b="1">
                <a:latin typeface="Arial Bold" panose="020B0604020202020204" charset="0"/>
                <a:cs typeface="Arial Bold" panose="020B0604020202020204" charset="0"/>
              </a:rPr>
              <a:t>1.) Aggregation (Weaker Relationship)</a:t>
            </a:r>
            <a:endParaRPr lang="en-US" sz="2000" b="1">
              <a:latin typeface="Arial Bold" panose="020B0604020202020204" charset="0"/>
              <a:cs typeface="Arial Bold" panose="020B0604020202020204" charset="0"/>
            </a:endParaRPr>
          </a:p>
          <a:p>
            <a:pPr marL="0" algn="just">
              <a:lnSpc>
                <a:spcPct val="100000"/>
              </a:lnSpc>
              <a:buClrTx/>
              <a:buSzTx/>
              <a:buNone/>
            </a:pPr>
            <a:r>
              <a:rPr lang="en-US" sz="2000"/>
              <a:t>In aggregation, the containing class (whole) and its parts have an independent lifecycle. If the container object is destroyed, the part objects can still exist.</a:t>
            </a:r>
            <a:endParaRPr lang="en-US" sz="2000"/>
          </a:p>
          <a:p>
            <a:pPr marL="0" algn="just">
              <a:lnSpc>
                <a:spcPct val="100000"/>
              </a:lnSpc>
              <a:buClrTx/>
              <a:buSzTx/>
              <a:buNone/>
            </a:pPr>
            <a:r>
              <a:rPr lang="en-US" sz="2000" b="1">
                <a:latin typeface="Arial Bold" panose="020B0604020202020204" charset="0"/>
                <a:cs typeface="Arial Bold" panose="020B0604020202020204" charset="0"/>
              </a:rPr>
              <a:t>Example: </a:t>
            </a:r>
            <a:r>
              <a:rPr lang="en-US" sz="2000"/>
              <a:t>A Department has Professors. Even if the department is deleted, professors can still exist.</a:t>
            </a:r>
            <a:endParaRPr lang="en-US" sz="2000"/>
          </a:p>
        </p:txBody>
      </p:sp>
      <p:pic>
        <p:nvPicPr>
          <p:cNvPr id="4" name="Picture 3" descr="Image 18-11-2024 at 6.10 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63570" y="3550920"/>
            <a:ext cx="5864225" cy="319341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7155"/>
            <a:ext cx="10515600" cy="904875"/>
          </a:xfrm>
        </p:spPr>
        <p:txBody>
          <a:bodyPr/>
          <a:p>
            <a:r>
              <a:rPr lang="en-US" sz="3200" b="1">
                <a:latin typeface="Arial Bold" panose="020B0604020202020204" charset="0"/>
                <a:cs typeface="Arial Bold" panose="020B0604020202020204" charset="0"/>
              </a:rPr>
              <a:t>Aggregation vs. Composition</a:t>
            </a:r>
            <a:endParaRPr lang="en-US" sz="3200" b="1">
              <a:latin typeface="Arial Bold" panose="020B0604020202020204" charset="0"/>
              <a:cs typeface="Arial Bold" panose="020B06040202020202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886460"/>
            <a:ext cx="10775950" cy="5744845"/>
          </a:xfrm>
        </p:spPr>
        <p:txBody>
          <a:bodyPr>
            <a:normAutofit lnSpcReduction="10000"/>
          </a:bodyPr>
          <a:p>
            <a:pPr marL="0" indent="0" algn="just">
              <a:lnSpc>
                <a:spcPct val="100000"/>
              </a:lnSpc>
              <a:buNone/>
            </a:pPr>
            <a:r>
              <a:rPr lang="en-US" sz="2000"/>
              <a:t>Both composition and aggregation represent "has-a" relationships in OOP, but they differ in the strength of ownership and lifecycle dependency between the objects. Here's a clear distinction:</a:t>
            </a:r>
            <a:endParaRPr lang="en-US" sz="2000"/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2000" b="1">
                <a:latin typeface="Arial Bold" panose="020B0604020202020204" charset="0"/>
                <a:cs typeface="Arial Bold" panose="020B0604020202020204" charset="0"/>
              </a:rPr>
              <a:t>2.) Composition (Stronger Relationship) </a:t>
            </a:r>
            <a:endParaRPr lang="en-US" sz="2000" b="1">
              <a:latin typeface="Arial Bold" panose="020B0604020202020204" charset="0"/>
              <a:cs typeface="Arial Bold" panose="020B0604020202020204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2000"/>
              <a:t>In composition, the parts are tightly coupled with the container. If the container object is destroyed, its part objects are also destroyed.</a:t>
            </a:r>
            <a:endParaRPr lang="en-US" sz="2000"/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2000" b="1">
                <a:latin typeface="Arial Bold" panose="020B0604020202020204" charset="0"/>
                <a:cs typeface="Arial Bold" panose="020B0604020202020204" charset="0"/>
              </a:rPr>
              <a:t>Example: </a:t>
            </a:r>
            <a:r>
              <a:rPr lang="en-US" sz="2000"/>
              <a:t>A Car has an Engine. If the car is destroyed, the engine does not make sense alone.</a:t>
            </a:r>
            <a:endParaRPr lang="en-US" sz="2000"/>
          </a:p>
          <a:p>
            <a:pPr marL="0" indent="0" algn="just">
              <a:lnSpc>
                <a:spcPct val="100000"/>
              </a:lnSpc>
              <a:buNone/>
            </a:pPr>
            <a:endParaRPr lang="en-US" sz="2000"/>
          </a:p>
        </p:txBody>
      </p:sp>
      <p:pic>
        <p:nvPicPr>
          <p:cNvPr id="5" name="Picture 4" descr="Image 18-11-2024 at 6.12 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14880" y="3695700"/>
            <a:ext cx="8023225" cy="293560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z="2400" b="1">
                <a:latin typeface="Arial Bold" panose="020B0604020202020204" charset="0"/>
                <a:cs typeface="Arial Bold" panose="020B0604020202020204" charset="0"/>
              </a:rPr>
              <a:t>Key Difference</a:t>
            </a:r>
            <a:endParaRPr lang="en-US" sz="2400" b="1">
              <a:latin typeface="Arial Bold" panose="020B0604020202020204" charset="0"/>
              <a:cs typeface="Arial Bold" panose="020B0604020202020204" charset="0"/>
            </a:endParaRPr>
          </a:p>
        </p:txBody>
      </p:sp>
      <p:pic>
        <p:nvPicPr>
          <p:cNvPr id="4" name="Content Placeholder 3" descr="Image 18-11-2024 at 6.13 P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721995" y="2247265"/>
            <a:ext cx="11005185" cy="312039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9794240" cy="935355"/>
          </a:xfrm>
        </p:spPr>
        <p:txBody>
          <a:bodyPr/>
          <a:p>
            <a:r>
              <a:rPr lang="en-US" sz="3200"/>
              <a:t>What is Composition in OOP?</a:t>
            </a:r>
            <a:endParaRPr lang="en-US" sz="32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65580"/>
            <a:ext cx="10515600" cy="5133975"/>
          </a:xfrm>
        </p:spPr>
        <p:txBody>
          <a:bodyPr/>
          <a:p>
            <a:r>
              <a:rPr lang="en-US" sz="2000"/>
              <a:t>Think of your favorite toy car. It’s made up of smaller parts like wheels, doors, and an engine. Each part has its own job, but together, they make a working car.</a:t>
            </a:r>
            <a:endParaRPr lang="en-US" sz="2000"/>
          </a:p>
          <a:p>
            <a:pPr marL="0" indent="0">
              <a:buNone/>
            </a:pPr>
            <a:endParaRPr lang="en-US" sz="2000"/>
          </a:p>
          <a:p>
            <a:r>
              <a:rPr lang="en-US" sz="2000"/>
              <a:t>In Object-Oriented Programming (OOP), composition is like that toy car. One class is made up of objects of other classes. Instead of inheriting (getting everything from a parent class), you build a class by using other classes as parts.</a:t>
            </a:r>
            <a:endParaRPr lang="en-US" sz="2000"/>
          </a:p>
          <a:p>
            <a:endParaRPr lang="en-US" sz="2000"/>
          </a:p>
          <a:p>
            <a:r>
              <a:rPr lang="en-US" sz="2000"/>
              <a:t>Example in C++</a:t>
            </a:r>
            <a:endParaRPr lang="en-US" sz="2000"/>
          </a:p>
          <a:p>
            <a:pPr marL="0" indent="0">
              <a:buNone/>
            </a:pPr>
            <a:r>
              <a:rPr lang="en-US" sz="2000"/>
              <a:t>Let’s imagine a Car class. A car has a Engine and Wheel. These are separate parts but together make the car functional. (</a:t>
            </a:r>
            <a:r>
              <a:rPr lang="en-US" sz="2000">
                <a:solidFill>
                  <a:srgbClr val="FF0000"/>
                </a:solidFill>
              </a:rPr>
              <a:t>Implement this</a:t>
            </a:r>
            <a:r>
              <a:rPr lang="en-US" sz="2000"/>
              <a:t>)</a:t>
            </a:r>
            <a:endParaRPr lang="en-US" sz="2000"/>
          </a:p>
          <a:p>
            <a:pPr marL="0" indent="0">
              <a:buNone/>
            </a:pPr>
            <a:endParaRPr lang="en-US" sz="2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Another Scenerio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Example from Real Life:</a:t>
            </a:r>
            <a:endParaRPr lang="en-US"/>
          </a:p>
          <a:p>
            <a:pPr marL="0" indent="0">
              <a:buNone/>
            </a:pPr>
            <a:r>
              <a:rPr lang="en-US" sz="1600"/>
              <a:t>Think about a Computer. A computer:</a:t>
            </a:r>
            <a:endParaRPr lang="en-US" sz="1600"/>
          </a:p>
          <a:p>
            <a:r>
              <a:rPr lang="en-US" sz="1600"/>
              <a:t>Has a CPU</a:t>
            </a:r>
            <a:endParaRPr lang="en-US" sz="1600"/>
          </a:p>
          <a:p>
            <a:r>
              <a:rPr lang="en-US" sz="1600"/>
              <a:t>Has a Monitor</a:t>
            </a:r>
            <a:endParaRPr lang="en-US" sz="1600"/>
          </a:p>
          <a:p>
            <a:r>
              <a:rPr lang="en-US" sz="1600"/>
              <a:t>Has a Keyboard</a:t>
            </a:r>
            <a:endParaRPr lang="en-US" sz="1600"/>
          </a:p>
          <a:p>
            <a:r>
              <a:rPr lang="en-US" sz="1600"/>
              <a:t>Each of these components (CPU, Monitor, Keyboard) can work independently, but together they form a functioning computer.</a:t>
            </a:r>
            <a:endParaRPr lang="en-US" sz="16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z="3200"/>
              <a:t>Key Features of Composition:</a:t>
            </a:r>
            <a:endParaRPr lang="en-US" sz="32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pPr marL="0" indent="0">
              <a:buNone/>
            </a:pPr>
            <a:r>
              <a:rPr lang="en-US"/>
              <a:t>1. Reusability</a:t>
            </a:r>
            <a:endParaRPr lang="en-US"/>
          </a:p>
          <a:p>
            <a:pPr marL="0" indent="0">
              <a:buNone/>
            </a:pPr>
            <a:r>
              <a:rPr lang="en-US" sz="1800"/>
              <a:t>You don’t need to rewrite the logic for each part inside the Computer. Instead:</a:t>
            </a:r>
            <a:endParaRPr lang="en-US" sz="1800"/>
          </a:p>
          <a:p>
            <a:pPr marL="0" indent="0">
              <a:buNone/>
            </a:pPr>
            <a:endParaRPr lang="en-US" sz="1540"/>
          </a:p>
          <a:p>
            <a:pPr lvl="1"/>
            <a:r>
              <a:rPr lang="en-US" sz="1540"/>
              <a:t>You create separate CPU, Monitor, and Keyboard classes.</a:t>
            </a:r>
            <a:endParaRPr lang="en-US" sz="1540"/>
          </a:p>
          <a:p>
            <a:pPr lvl="1"/>
            <a:r>
              <a:rPr lang="en-US" sz="1540"/>
              <a:t>These can be used in multiple places. For instance:</a:t>
            </a:r>
            <a:endParaRPr lang="en-US" sz="1540"/>
          </a:p>
          <a:p>
            <a:pPr lvl="1"/>
            <a:r>
              <a:rPr lang="en-US" sz="1540"/>
              <a:t>A Laptop also has a CPU and Monitor.</a:t>
            </a:r>
            <a:endParaRPr lang="en-US" sz="1540"/>
          </a:p>
          <a:p>
            <a:pPr lvl="1"/>
            <a:r>
              <a:rPr lang="en-US" sz="1540"/>
              <a:t>A Desktop has the same.</a:t>
            </a:r>
            <a:endParaRPr lang="en-US" sz="1540"/>
          </a:p>
          <a:p>
            <a:pPr marL="0" indent="0">
              <a:buNone/>
            </a:pPr>
            <a:r>
              <a:rPr lang="en-US" sz="1800"/>
              <a:t>This makes your code modular and easy to reuse.</a:t>
            </a:r>
            <a:endParaRPr lang="en-US" sz="1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z="3200"/>
              <a:t>Key Features of Composition:</a:t>
            </a:r>
            <a:endParaRPr lang="en-US" sz="32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pPr marL="0" indent="0">
              <a:buNone/>
            </a:pPr>
            <a:r>
              <a:rPr lang="en-US" sz="2800"/>
              <a:t>2. Encapsulation</a:t>
            </a:r>
            <a:endParaRPr lang="en-US" sz="2800"/>
          </a:p>
          <a:p>
            <a:r>
              <a:rPr lang="en-US" sz="1800"/>
              <a:t>Encapsulation means hiding the details of the components.</a:t>
            </a:r>
            <a:endParaRPr lang="en-US" sz="1800"/>
          </a:p>
          <a:p>
            <a:r>
              <a:rPr lang="en-US" sz="1800"/>
              <a:t>The Computer class manages the CPU, Monitor, and Keyboard objects internally.</a:t>
            </a:r>
            <a:endParaRPr lang="en-US" sz="1800"/>
          </a:p>
          <a:p>
            <a:r>
              <a:rPr lang="en-US" sz="1800"/>
              <a:t>External code only interacts with Computer:</a:t>
            </a:r>
            <a:endParaRPr lang="en-US" sz="1800"/>
          </a:p>
          <a:p>
            <a:pPr lvl="1"/>
            <a:r>
              <a:rPr lang="en-US" sz="1540"/>
              <a:t>It doesn’t need to know how the CPU starts or how the Monitor displays.</a:t>
            </a:r>
            <a:endParaRPr lang="en-US" sz="1540"/>
          </a:p>
          <a:p>
            <a:r>
              <a:rPr lang="en-US" sz="1800"/>
              <a:t>This keeps things simple for users of the Computer class.</a:t>
            </a:r>
            <a:endParaRPr lang="en-US" sz="1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pPr marL="0" indent="0">
              <a:buNone/>
            </a:pPr>
            <a:r>
              <a:rPr lang="en-US"/>
              <a:t>3. Flexibility</a:t>
            </a:r>
            <a:endParaRPr lang="en-US"/>
          </a:p>
          <a:p>
            <a:pPr marL="0" indent="0">
              <a:buNone/>
            </a:pPr>
            <a:r>
              <a:rPr lang="en-US" sz="2000"/>
              <a:t>You can change the behavior by swapping parts.</a:t>
            </a:r>
            <a:endParaRPr lang="en-US" sz="2000"/>
          </a:p>
          <a:p>
            <a:pPr marL="0" indent="0">
              <a:buNone/>
            </a:pPr>
            <a:endParaRPr lang="en-US" sz="2000"/>
          </a:p>
          <a:p>
            <a:r>
              <a:rPr lang="en-US" sz="2000"/>
              <a:t>For example:</a:t>
            </a:r>
            <a:endParaRPr lang="en-US" sz="2000"/>
          </a:p>
          <a:p>
            <a:r>
              <a:rPr lang="en-US" sz="2000"/>
              <a:t>If you want a more powerful computer, you can replace the CPU object with a faster one.</a:t>
            </a:r>
            <a:endParaRPr lang="en-US" sz="2000"/>
          </a:p>
          <a:p>
            <a:r>
              <a:rPr lang="en-US" sz="2000"/>
              <a:t>If you want a gaming setup, you could swap out the Monitor for a high-refresh-rate model.</a:t>
            </a:r>
            <a:endParaRPr lang="en-US" sz="2000"/>
          </a:p>
          <a:p>
            <a:r>
              <a:rPr lang="en-US" sz="2000"/>
              <a:t>You don't need to rewrite the entire Computer class; just replace its components.</a:t>
            </a:r>
            <a:endParaRPr lang="en-US" sz="2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2922270" cy="1071880"/>
          </a:xfrm>
        </p:spPr>
        <p:txBody>
          <a:bodyPr/>
          <a:p>
            <a:r>
              <a:rPr lang="en-US" sz="3200"/>
              <a:t>Problem 3</a:t>
            </a:r>
            <a:endParaRPr lang="en-US" sz="3200"/>
          </a:p>
        </p:txBody>
      </p:sp>
      <p:sp>
        <p:nvSpPr>
          <p:cNvPr id="4" name="Text Box 3"/>
          <p:cNvSpPr txBox="1"/>
          <p:nvPr/>
        </p:nvSpPr>
        <p:spPr>
          <a:xfrm>
            <a:off x="474980" y="915035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endParaRPr lang="en-US"/>
          </a:p>
        </p:txBody>
      </p:sp>
      <p:pic>
        <p:nvPicPr>
          <p:cNvPr id="5" name="Content Placeholder 4" descr="Image 19-11-2024 at 5.51 P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968375" y="1282700"/>
            <a:ext cx="10673715" cy="53898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 algn="ctr">
              <a:buNone/>
            </a:pPr>
            <a:r>
              <a:rPr lang="en-US"/>
              <a:t>Let’s apply this understanding to code:</a:t>
            </a:r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 Placeholder 2"/>
          <p:cNvSpPr/>
          <p:nvPr>
            <p:ph type="body" idx="1"/>
          </p:nvPr>
        </p:nvSpPr>
        <p:spPr>
          <a:xfrm>
            <a:off x="415290" y="2569845"/>
            <a:ext cx="11360785" cy="3522345"/>
          </a:xfrm>
        </p:spPr>
        <p:txBody>
          <a:bodyPr/>
          <a:p>
            <a:pPr marL="152400" indent="0" algn="ctr">
              <a:buNone/>
            </a:pPr>
            <a:r>
              <a:rPr lang="en-US"/>
              <a:t>End of Lecture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3379</Words>
  <Application>WPS Presentation</Application>
  <PresentationFormat>Widescreen</PresentationFormat>
  <Paragraphs>93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7" baseType="lpstr">
      <vt:lpstr>Arial</vt:lpstr>
      <vt:lpstr>SimSun</vt:lpstr>
      <vt:lpstr>Wingdings</vt:lpstr>
      <vt:lpstr>Proxima Nova</vt:lpstr>
      <vt:lpstr>Thonburi</vt:lpstr>
      <vt:lpstr>Arial Bold</vt:lpstr>
      <vt:lpstr>Microsoft YaHei</vt:lpstr>
      <vt:lpstr>汉仪旗黑</vt:lpstr>
      <vt:lpstr>Arial Unicode MS</vt:lpstr>
      <vt:lpstr>Calibri</vt:lpstr>
      <vt:lpstr>Helvetica Neue</vt:lpstr>
      <vt:lpstr>宋体-简</vt:lpstr>
      <vt:lpstr>Office Theme</vt:lpstr>
      <vt:lpstr>OOP </vt:lpstr>
      <vt:lpstr>Outline</vt:lpstr>
      <vt:lpstr>Composition</vt:lpstr>
      <vt:lpstr>Aggregation vs. Composition</vt:lpstr>
      <vt:lpstr>Aggregation vs. Composition</vt:lpstr>
      <vt:lpstr>Key Difference</vt:lpstr>
      <vt:lpstr>PowerPoint 演示文稿</vt:lpstr>
      <vt:lpstr>PowerPoint 演示文稿</vt:lpstr>
      <vt:lpstr>PowerPoint 演示文稿</vt:lpstr>
      <vt:lpstr>Key Features of Composition: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Artificial Intelligence CSC-321</dc:title>
  <dc:creator>User</dc:creator>
  <cp:lastModifiedBy>nimraabbas</cp:lastModifiedBy>
  <cp:revision>239</cp:revision>
  <dcterms:created xsi:type="dcterms:W3CDTF">2024-11-19T12:52:18Z</dcterms:created>
  <dcterms:modified xsi:type="dcterms:W3CDTF">2024-11-19T12:52:18Z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1033-5.7.0.8090</vt:lpwstr>
  </property>
</Properties>
</file>