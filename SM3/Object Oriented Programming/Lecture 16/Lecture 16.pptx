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658" r:id="rId5"/>
    <p:sldId id="656" r:id="rId6"/>
    <p:sldId id="659" r:id="rId7"/>
    <p:sldId id="657" r:id="rId8"/>
    <p:sldId id="660" r:id="rId9"/>
    <p:sldId id="669" r:id="rId10"/>
    <p:sldId id="621" r:id="rId11"/>
    <p:sldId id="623" r:id="rId12"/>
    <p:sldId id="655" r:id="rId13"/>
    <p:sldId id="661" r:id="rId14"/>
    <p:sldId id="662" r:id="rId15"/>
    <p:sldId id="663" r:id="rId16"/>
    <p:sldId id="664" r:id="rId17"/>
    <p:sldId id="665" r:id="rId18"/>
    <p:sldId id="666" r:id="rId19"/>
    <p:sldId id="667" r:id="rId20"/>
    <p:sldId id="668" r:id="rId21"/>
    <p:sldId id="5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Practise question Q1 contains the coode of this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Task 3 contains the code of this</a:t>
            </a:r>
            <a:endParaRPr lang="en-US"/>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Task1 contains this code</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 3 contains he code of his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59981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16</a:t>
            </a:r>
            <a:endParaRPr lang="en-US" sz="28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t>Let’s Discuss the solution of practice questions first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808595" cy="662305"/>
          </a:xfrm>
        </p:spPr>
        <p:txBody>
          <a:bodyPr>
            <a:normAutofit fontScale="90000"/>
          </a:bodyPr>
          <a:p>
            <a:r>
              <a:rPr lang="en-US"/>
              <a:t>Practice Questions - Question 1</a:t>
            </a:r>
            <a:endParaRPr lang="en-US"/>
          </a:p>
        </p:txBody>
      </p:sp>
      <p:sp>
        <p:nvSpPr>
          <p:cNvPr id="3" name="Content Placeholder 2"/>
          <p:cNvSpPr>
            <a:spLocks noGrp="1"/>
          </p:cNvSpPr>
          <p:nvPr>
            <p:ph idx="1"/>
          </p:nvPr>
        </p:nvSpPr>
        <p:spPr>
          <a:xfrm>
            <a:off x="838200" y="1238250"/>
            <a:ext cx="10709910" cy="5327650"/>
          </a:xfrm>
        </p:spPr>
        <p:txBody>
          <a:bodyPr/>
          <a:p>
            <a:r>
              <a:rPr lang="en-US" b="1">
                <a:latin typeface="Arial Bold" panose="020B0604020202020204" charset="0"/>
                <a:cs typeface="Arial Bold" panose="020B0604020202020204" charset="0"/>
              </a:rPr>
              <a:t>Scenario:</a:t>
            </a:r>
            <a:endParaRPr lang="en-US" b="1">
              <a:latin typeface="Arial Bold" panose="020B0604020202020204" charset="0"/>
              <a:cs typeface="Arial Bold" panose="020B0604020202020204" charset="0"/>
            </a:endParaRPr>
          </a:p>
          <a:p>
            <a:pPr marL="0" indent="0" algn="just">
              <a:buNone/>
            </a:pPr>
            <a:r>
              <a:rPr lang="en-US" sz="1800"/>
              <a:t>You have a Car class as the base class and a SportsCar class as the derived class. Both classes have a speed member variable, but in the derived class, it’s marked private. You are asked to demonstrate how the different access levels affect member access.</a:t>
            </a:r>
            <a:endParaRPr lang="en-US" sz="1800"/>
          </a:p>
          <a:p>
            <a:pPr marL="0" indent="0" algn="just">
              <a:buNone/>
            </a:pPr>
            <a:endParaRPr lang="en-US" sz="1800"/>
          </a:p>
          <a:p>
            <a:pPr marL="0" indent="0" algn="just">
              <a:buNone/>
            </a:pPr>
            <a:r>
              <a:rPr lang="en-US" sz="1800" b="1">
                <a:latin typeface="Arial Bold" panose="020B0604020202020204" charset="0"/>
                <a:cs typeface="Arial Bold" panose="020B0604020202020204" charset="0"/>
              </a:rPr>
              <a:t>Task:</a:t>
            </a:r>
            <a:endParaRPr lang="en-US" sz="1800" b="1">
              <a:latin typeface="Arial Bold" panose="020B0604020202020204" charset="0"/>
              <a:cs typeface="Arial Bold" panose="020B0604020202020204" charset="0"/>
            </a:endParaRPr>
          </a:p>
          <a:p>
            <a:pPr algn="just"/>
            <a:r>
              <a:rPr lang="en-US" sz="1800"/>
              <a:t>Create a base class Car with a public member speed and a function showSpeed().</a:t>
            </a:r>
            <a:endParaRPr lang="en-US" sz="1800"/>
          </a:p>
          <a:p>
            <a:pPr algn="just"/>
            <a:r>
              <a:rPr lang="en-US" sz="1800"/>
              <a:t>Create a derived class SportsCar that has a private speed member but overrides the showSpeed() function to access the speed member.</a:t>
            </a:r>
            <a:endParaRPr lang="en-US" sz="1800"/>
          </a:p>
          <a:p>
            <a:pPr algn="just"/>
            <a:r>
              <a:rPr lang="en-US" sz="1800"/>
              <a:t>Show what happens when trying to access the speed member using objects of Car and SportsCar.</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1-12-2024 at 9.53 AM"/>
          <p:cNvPicPr>
            <a:picLocks noChangeAspect="1"/>
          </p:cNvPicPr>
          <p:nvPr>
            <p:ph idx="1"/>
          </p:nvPr>
        </p:nvPicPr>
        <p:blipFill>
          <a:blip r:embed="rId1"/>
          <a:stretch>
            <a:fillRect/>
          </a:stretch>
        </p:blipFill>
        <p:spPr>
          <a:xfrm>
            <a:off x="2809875" y="114935"/>
            <a:ext cx="5789295" cy="67430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7808595" cy="662305"/>
          </a:xfrm>
        </p:spPr>
        <p:txBody>
          <a:bodyPr>
            <a:normAutofit fontScale="90000"/>
          </a:bodyPr>
          <a:p>
            <a:r>
              <a:rPr lang="en-US"/>
              <a:t>Practice Questions - Question 2</a:t>
            </a:r>
            <a:endParaRPr lang="en-US"/>
          </a:p>
        </p:txBody>
      </p:sp>
      <p:sp>
        <p:nvSpPr>
          <p:cNvPr id="3" name="Content Placeholder 2"/>
          <p:cNvSpPr>
            <a:spLocks noGrp="1"/>
          </p:cNvSpPr>
          <p:nvPr>
            <p:ph idx="1"/>
          </p:nvPr>
        </p:nvSpPr>
        <p:spPr>
          <a:xfrm>
            <a:off x="838200" y="1238250"/>
            <a:ext cx="10709910" cy="5327650"/>
          </a:xfrm>
        </p:spPr>
        <p:txBody>
          <a:bodyPr/>
          <a:p>
            <a:r>
              <a:rPr lang="en-US" b="1">
                <a:latin typeface="Arial Bold" panose="020B0604020202020204" charset="0"/>
                <a:cs typeface="Arial Bold" panose="020B0604020202020204" charset="0"/>
              </a:rPr>
              <a:t>Scenario:</a:t>
            </a:r>
            <a:endParaRPr lang="en-US" b="1">
              <a:latin typeface="Arial Bold" panose="020B0604020202020204" charset="0"/>
              <a:cs typeface="Arial Bold" panose="020B0604020202020204" charset="0"/>
            </a:endParaRPr>
          </a:p>
          <a:p>
            <a:pPr marL="0" indent="0" algn="just">
              <a:buNone/>
            </a:pPr>
            <a:r>
              <a:rPr lang="en-US" sz="1800"/>
              <a:t>You have a Vehicle class with a protected member fuelLevel, which is inherited by Car. You need to access the protected member from within the derived class and explain what happens when trying to access it using an object of the base class.</a:t>
            </a:r>
            <a:endParaRPr lang="en-US" sz="1800"/>
          </a:p>
          <a:p>
            <a:pPr marL="0" indent="0" algn="just">
              <a:buNone/>
            </a:pPr>
            <a:endParaRPr lang="en-US" sz="1800"/>
          </a:p>
          <a:p>
            <a:pPr marL="0" indent="0" algn="just">
              <a:buNone/>
            </a:pPr>
            <a:r>
              <a:rPr lang="en-US" sz="1800" b="1">
                <a:latin typeface="Arial Bold" panose="020B0604020202020204" charset="0"/>
                <a:cs typeface="Arial Bold" panose="020B0604020202020204" charset="0"/>
              </a:rPr>
              <a:t>Task:</a:t>
            </a:r>
            <a:endParaRPr lang="en-US" sz="1800" b="1">
              <a:latin typeface="Arial Bold" panose="020B0604020202020204" charset="0"/>
              <a:cs typeface="Arial Bold" panose="020B0604020202020204" charset="0"/>
            </a:endParaRPr>
          </a:p>
          <a:p>
            <a:pPr algn="just"/>
            <a:r>
              <a:rPr lang="en-US" sz="1800"/>
              <a:t>Create a base class Vehicle with a protected member fuelLevel.</a:t>
            </a:r>
            <a:endParaRPr lang="en-US" sz="1800"/>
          </a:p>
          <a:p>
            <a:pPr algn="just"/>
            <a:r>
              <a:rPr lang="en-US" sz="1800"/>
              <a:t>Create a derived class Car that has a member function to access and display fuelLevel.</a:t>
            </a:r>
            <a:endParaRPr lang="en-US" sz="1800"/>
          </a:p>
          <a:p>
            <a:pPr algn="just"/>
            <a:r>
              <a:rPr lang="en-US" sz="1800"/>
              <a:t>Show what happens when trying to access fuelLevel from an object of Vehicle.</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1-12-2024 at 10.11 AM"/>
          <p:cNvPicPr>
            <a:picLocks noChangeAspect="1"/>
          </p:cNvPicPr>
          <p:nvPr>
            <p:ph idx="1"/>
          </p:nvPr>
        </p:nvPicPr>
        <p:blipFill>
          <a:blip r:embed="rId1"/>
          <a:stretch>
            <a:fillRect/>
          </a:stretch>
        </p:blipFill>
        <p:spPr>
          <a:xfrm>
            <a:off x="2045335" y="114935"/>
            <a:ext cx="8335645" cy="67424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Explaination</a:t>
            </a:r>
            <a:endParaRPr lang="en-US"/>
          </a:p>
        </p:txBody>
      </p:sp>
      <p:sp>
        <p:nvSpPr>
          <p:cNvPr id="3" name="Content Placeholder 2"/>
          <p:cNvSpPr>
            <a:spLocks noGrp="1"/>
          </p:cNvSpPr>
          <p:nvPr>
            <p:ph idx="1"/>
          </p:nvPr>
        </p:nvSpPr>
        <p:spPr/>
        <p:txBody>
          <a:bodyPr>
            <a:normAutofit/>
          </a:bodyPr>
          <a:p>
            <a:pPr marL="0" indent="0">
              <a:buNone/>
            </a:pPr>
            <a:r>
              <a:rPr lang="en-US"/>
              <a:t>fuelLevel as protected:</a:t>
            </a:r>
            <a:endParaRPr lang="en-US"/>
          </a:p>
          <a:p>
            <a:r>
              <a:rPr lang="en-US" sz="2000"/>
              <a:t>Accessible in the derived class (Car), but only within its own member functions (e.g., showFuelLevel()).</a:t>
            </a:r>
            <a:endParaRPr lang="en-US" sz="2000"/>
          </a:p>
          <a:p>
            <a:pPr algn="l">
              <a:buClrTx/>
              <a:buSzTx/>
            </a:pPr>
            <a:r>
              <a:rPr lang="en-US" sz="2000"/>
              <a:t>Not accessible directly in main() or through an object of Vehicle.</a:t>
            </a:r>
            <a:endParaRPr lang="en-US" sz="2000"/>
          </a:p>
          <a:p>
            <a:r>
              <a:rPr lang="en-US"/>
              <a:t>Encapsulation:</a:t>
            </a:r>
            <a:endParaRPr lang="en-US"/>
          </a:p>
          <a:p>
            <a:pPr algn="l">
              <a:buClrTx/>
              <a:buSzTx/>
            </a:pPr>
            <a:r>
              <a:rPr lang="en-US" sz="2000"/>
              <a:t>The Car class does not expose fuelLevel directly as public. Instead, it provides a member function (showFuelLevel()) to display its value, preserving encapsulation.</a:t>
            </a:r>
            <a:endParaRPr lang="en-US" sz="2000"/>
          </a:p>
          <a:p>
            <a:r>
              <a:rPr lang="en-US"/>
              <a:t>Invalid Direct Access:</a:t>
            </a:r>
            <a:endParaRPr lang="en-US"/>
          </a:p>
          <a:p>
            <a:pPr algn="l">
              <a:buClrTx/>
              <a:buSzTx/>
            </a:pPr>
            <a:r>
              <a:rPr lang="en-US" sz="2000"/>
              <a:t>Trying to directly access fuelLevel from an object of Vehicle (e.g., vehicle.fuelLevel) is not allowed because fuelLevel is protected.</a:t>
            </a:r>
            <a:endParaRPr 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62685" y="2148840"/>
            <a:ext cx="10515600" cy="1325563"/>
          </a:xfrm>
        </p:spPr>
        <p:txBody>
          <a:bodyPr/>
          <a:p>
            <a:pPr algn="ctr"/>
            <a:r>
              <a:rPr lang="en-US"/>
              <a:t>Types of Inheritance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9645"/>
          </a:xfrm>
        </p:spPr>
        <p:txBody>
          <a:bodyPr/>
          <a:p>
            <a:r>
              <a:rPr lang="en-US" sz="4000"/>
              <a:t>Single Inheritance</a:t>
            </a:r>
            <a:endParaRPr lang="en-US" sz="4000"/>
          </a:p>
        </p:txBody>
      </p:sp>
      <p:pic>
        <p:nvPicPr>
          <p:cNvPr id="4" name="Content Placeholder 3" descr="Image 11-12-2024 at 6.51 AM"/>
          <p:cNvPicPr>
            <a:picLocks noChangeAspect="1"/>
          </p:cNvPicPr>
          <p:nvPr>
            <p:ph idx="1"/>
          </p:nvPr>
        </p:nvPicPr>
        <p:blipFill>
          <a:blip r:embed="rId1"/>
          <a:stretch>
            <a:fillRect/>
          </a:stretch>
        </p:blipFill>
        <p:spPr>
          <a:xfrm>
            <a:off x="1083310" y="1680210"/>
            <a:ext cx="4243705" cy="46151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09-12-2024 at 12.26 PM"/>
          <p:cNvPicPr>
            <a:picLocks noChangeAspect="1"/>
          </p:cNvPicPr>
          <p:nvPr>
            <p:ph idx="1"/>
          </p:nvPr>
        </p:nvPicPr>
        <p:blipFill>
          <a:blip r:embed="rId1"/>
          <a:stretch>
            <a:fillRect/>
          </a:stretch>
        </p:blipFill>
        <p:spPr>
          <a:xfrm>
            <a:off x="2234565" y="0"/>
            <a:ext cx="628015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9645"/>
          </a:xfrm>
        </p:spPr>
        <p:txBody>
          <a:bodyPr/>
          <a:p>
            <a:r>
              <a:rPr lang="en-US" sz="4000"/>
              <a:t>Multi-level Inheritance</a:t>
            </a:r>
            <a:endParaRPr lang="en-US" sz="4000"/>
          </a:p>
        </p:txBody>
      </p:sp>
      <p:pic>
        <p:nvPicPr>
          <p:cNvPr id="5" name="Content Placeholder 4" descr="Image 11-12-2024 at 6.56 AM"/>
          <p:cNvPicPr>
            <a:picLocks noChangeAspect="1"/>
          </p:cNvPicPr>
          <p:nvPr>
            <p:ph idx="1"/>
          </p:nvPr>
        </p:nvPicPr>
        <p:blipFill>
          <a:blip r:embed="rId1"/>
          <a:stretch>
            <a:fillRect/>
          </a:stretch>
        </p:blipFill>
        <p:spPr>
          <a:xfrm>
            <a:off x="971550" y="1929130"/>
            <a:ext cx="2607310" cy="4351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1-12-2024 at 7.11 AM"/>
          <p:cNvPicPr>
            <a:picLocks noChangeAspect="1"/>
          </p:cNvPicPr>
          <p:nvPr>
            <p:ph idx="1"/>
          </p:nvPr>
        </p:nvPicPr>
        <p:blipFill>
          <a:blip r:embed="rId1"/>
          <a:stretch>
            <a:fillRect/>
          </a:stretch>
        </p:blipFill>
        <p:spPr>
          <a:xfrm>
            <a:off x="2576195" y="0"/>
            <a:ext cx="634492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9645"/>
          </a:xfrm>
        </p:spPr>
        <p:txBody>
          <a:bodyPr/>
          <a:p>
            <a:r>
              <a:rPr lang="en-US" sz="4000"/>
              <a:t>Multiple Inheritance</a:t>
            </a:r>
            <a:endParaRPr lang="en-US" sz="4000"/>
          </a:p>
        </p:txBody>
      </p:sp>
      <p:pic>
        <p:nvPicPr>
          <p:cNvPr id="4" name="Content Placeholder 3" descr="Image 11-12-2024 at 7.13 AM"/>
          <p:cNvPicPr>
            <a:picLocks noChangeAspect="1"/>
          </p:cNvPicPr>
          <p:nvPr>
            <p:ph idx="1"/>
          </p:nvPr>
        </p:nvPicPr>
        <p:blipFill>
          <a:blip r:embed="rId1"/>
          <a:stretch>
            <a:fillRect/>
          </a:stretch>
        </p:blipFill>
        <p:spPr>
          <a:xfrm>
            <a:off x="946150" y="1692910"/>
            <a:ext cx="4975860" cy="43516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1-12-2024 at 7.23 AM"/>
          <p:cNvPicPr>
            <a:picLocks noChangeAspect="1"/>
          </p:cNvPicPr>
          <p:nvPr>
            <p:ph idx="1"/>
          </p:nvPr>
        </p:nvPicPr>
        <p:blipFill>
          <a:blip r:embed="rId1"/>
          <a:stretch>
            <a:fillRect/>
          </a:stretch>
        </p:blipFill>
        <p:spPr>
          <a:xfrm>
            <a:off x="2724785" y="0"/>
            <a:ext cx="66655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9645"/>
          </a:xfrm>
        </p:spPr>
        <p:txBody>
          <a:bodyPr/>
          <a:p>
            <a:r>
              <a:rPr lang="en-US" sz="4000"/>
              <a:t>Hierarchial Inheritance</a:t>
            </a:r>
            <a:endParaRPr lang="en-US" sz="4000"/>
          </a:p>
        </p:txBody>
      </p:sp>
      <p:pic>
        <p:nvPicPr>
          <p:cNvPr id="5" name="Content Placeholder 4" descr="Image 11-12-2024 at 7.26 AM"/>
          <p:cNvPicPr>
            <a:picLocks noChangeAspect="1"/>
          </p:cNvPicPr>
          <p:nvPr>
            <p:ph idx="1"/>
          </p:nvPr>
        </p:nvPicPr>
        <p:blipFill>
          <a:blip r:embed="rId1"/>
          <a:stretch>
            <a:fillRect/>
          </a:stretch>
        </p:blipFill>
        <p:spPr>
          <a:xfrm>
            <a:off x="960120" y="1811020"/>
            <a:ext cx="5226050" cy="43516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1-12-2024 at 7.34 AM"/>
          <p:cNvPicPr>
            <a:picLocks noChangeAspect="1"/>
          </p:cNvPicPr>
          <p:nvPr>
            <p:ph idx="1"/>
          </p:nvPr>
        </p:nvPicPr>
        <p:blipFill>
          <a:blip r:embed="rId1"/>
          <a:stretch>
            <a:fillRect/>
          </a:stretch>
        </p:blipFill>
        <p:spPr>
          <a:xfrm>
            <a:off x="2939415" y="0"/>
            <a:ext cx="5676900" cy="68586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9645"/>
          </a:xfrm>
        </p:spPr>
        <p:txBody>
          <a:bodyPr/>
          <a:p>
            <a:r>
              <a:rPr lang="en-US" sz="4000"/>
              <a:t>Hybrid Inheritance</a:t>
            </a:r>
            <a:endParaRPr lang="en-US" sz="4000"/>
          </a:p>
        </p:txBody>
      </p:sp>
      <p:pic>
        <p:nvPicPr>
          <p:cNvPr id="4" name="Content Placeholder 3" descr="Image 11-12-2024 at 9.22 AM"/>
          <p:cNvPicPr>
            <a:picLocks noChangeAspect="1"/>
          </p:cNvPicPr>
          <p:nvPr>
            <p:ph idx="1"/>
          </p:nvPr>
        </p:nvPicPr>
        <p:blipFill>
          <a:blip r:embed="rId1"/>
          <a:stretch>
            <a:fillRect/>
          </a:stretch>
        </p:blipFill>
        <p:spPr>
          <a:xfrm>
            <a:off x="968375" y="1869440"/>
            <a:ext cx="4620260" cy="43516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Hybrid Inheritance</a:t>
            </a:r>
            <a:endParaRPr lang="en-US"/>
          </a:p>
        </p:txBody>
      </p:sp>
      <p:sp>
        <p:nvSpPr>
          <p:cNvPr id="3" name="Content Placeholder 2"/>
          <p:cNvSpPr>
            <a:spLocks noGrp="1"/>
          </p:cNvSpPr>
          <p:nvPr>
            <p:ph idx="1"/>
          </p:nvPr>
        </p:nvSpPr>
        <p:spPr/>
        <p:txBody>
          <a:bodyPr/>
          <a:p>
            <a:r>
              <a:rPr lang="en-US"/>
              <a:t>Now its your task to implement the hybrid inheritance approach </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1972</Words>
  <Application>WPS Presentation</Application>
  <PresentationFormat>Widescreen</PresentationFormat>
  <Paragraphs>59</Paragraphs>
  <Slides>19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SimSun</vt:lpstr>
      <vt:lpstr>Wingdings</vt:lpstr>
      <vt:lpstr>Proxima Nova</vt:lpstr>
      <vt:lpstr>Thonburi</vt:lpstr>
      <vt:lpstr>Arial Bold</vt:lpstr>
      <vt:lpstr>Microsoft YaHei</vt:lpstr>
      <vt:lpstr>汉仪旗黑</vt:lpstr>
      <vt:lpstr>Arial Unicode MS</vt:lpstr>
      <vt:lpstr>Calibri</vt:lpstr>
      <vt:lpstr>Helvetica Neue</vt:lpstr>
      <vt:lpstr>宋体-简</vt:lpstr>
      <vt:lpstr>Office Theme</vt:lpstr>
      <vt:lpstr>OOP </vt:lpstr>
      <vt:lpstr>PowerPoint 演示文稿</vt:lpstr>
      <vt:lpstr>Practise Questions - Question 1</vt:lpstr>
      <vt:lpstr>PowerPoint 演示文稿</vt:lpstr>
      <vt:lpstr>Practise Questions - Question 2</vt:lpstr>
      <vt:lpstr>PowerPoint 演示文稿</vt:lpstr>
      <vt:lpstr>PowerPoint 演示文稿</vt:lpstr>
      <vt:lpstr>Inheritance </vt:lpstr>
      <vt:lpstr>Inheritance?</vt:lpstr>
      <vt:lpstr>PowerPoint 演示文稿</vt:lpstr>
      <vt:lpstr>Single Inheritance</vt:lpstr>
      <vt:lpstr>PowerPoint 演示文稿</vt:lpstr>
      <vt:lpstr>Multi-level Inheritance</vt:lpstr>
      <vt:lpstr>PowerPoint 演示文稿</vt:lpstr>
      <vt:lpstr>Multiple Inheritance</vt:lpstr>
      <vt:lpstr>PowerPoint 演示文稿</vt:lpstr>
      <vt:lpstr>Hybrid Inheritance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270</cp:revision>
  <dcterms:created xsi:type="dcterms:W3CDTF">2024-12-11T05:14:22Z</dcterms:created>
  <dcterms:modified xsi:type="dcterms:W3CDTF">2024-12-11T05:14:22Z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