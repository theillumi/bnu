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26" r:id="rId3"/>
    <p:sldId id="557" r:id="rId5"/>
    <p:sldId id="577" r:id="rId6"/>
    <p:sldId id="578" r:id="rId7"/>
    <p:sldId id="579" r:id="rId8"/>
    <p:sldId id="598" r:id="rId9"/>
    <p:sldId id="599" r:id="rId10"/>
    <p:sldId id="564" r:id="rId11"/>
    <p:sldId id="574" r:id="rId12"/>
    <p:sldId id="584" r:id="rId13"/>
    <p:sldId id="585" r:id="rId14"/>
    <p:sldId id="597" r:id="rId15"/>
    <p:sldId id="600" r:id="rId16"/>
    <p:sldId id="50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mraabbas"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3BE717-232F-4F04-8C42-B483AA5BDA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E0B4DA-30D8-4F6D-BF35-157D774FB51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ge878c25f7a_0_376:notes"/>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878c25f7a_0_37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memory leak concept</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9A709E-C215-4E8E-8E45-59E3768F84B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E9A709E-C215-4E8E-8E45-59E3768F84B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9A709E-C215-4E8E-8E45-59E3768F84B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9E9A709E-C215-4E8E-8E45-59E3768F84B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E9A709E-C215-4E8E-8E45-59E3768F84B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1737CF-34AC-4C2D-ABFC-61A12BD25FF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 name="Google Shape;65;p16"/>
          <p:cNvSpPr txBox="1"/>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6" name="Google Shape;66;p16"/>
          <p:cNvSpPr txBox="1"/>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600" lvl="0" indent="-457200" rtl="0">
              <a:spcBef>
                <a:spcPts val="0"/>
              </a:spcBef>
              <a:spcAft>
                <a:spcPts val="0"/>
              </a:spcAft>
              <a:buSzPts val="1800"/>
              <a:buChar char="●"/>
              <a:defRPr/>
            </a:lvl1pPr>
            <a:lvl2pPr marL="1219200" lvl="1" indent="-423545" rtl="0">
              <a:spcBef>
                <a:spcPct val="427000"/>
              </a:spcBef>
              <a:spcAft>
                <a:spcPts val="0"/>
              </a:spcAft>
              <a:buSzPts val="1400"/>
              <a:buChar char="○"/>
              <a:defRPr/>
            </a:lvl2pPr>
            <a:lvl3pPr marL="1828800" lvl="2" indent="-423545" rtl="0">
              <a:spcBef>
                <a:spcPct val="427000"/>
              </a:spcBef>
              <a:spcAft>
                <a:spcPts val="0"/>
              </a:spcAft>
              <a:buSzPts val="1400"/>
              <a:buChar char="■"/>
              <a:defRPr/>
            </a:lvl3pPr>
            <a:lvl4pPr marL="2438400" lvl="3" indent="-423545" rtl="0">
              <a:spcBef>
                <a:spcPct val="427000"/>
              </a:spcBef>
              <a:spcAft>
                <a:spcPts val="0"/>
              </a:spcAft>
              <a:buSzPts val="1400"/>
              <a:buChar char="●"/>
              <a:defRPr/>
            </a:lvl4pPr>
            <a:lvl5pPr marL="3048000" lvl="4" indent="-423545" rtl="0">
              <a:spcBef>
                <a:spcPct val="427000"/>
              </a:spcBef>
              <a:spcAft>
                <a:spcPts val="0"/>
              </a:spcAft>
              <a:buSzPts val="1400"/>
              <a:buChar char="○"/>
              <a:defRPr/>
            </a:lvl5pPr>
            <a:lvl6pPr marL="3657600" lvl="5" indent="-423545" rtl="0">
              <a:spcBef>
                <a:spcPct val="427000"/>
              </a:spcBef>
              <a:spcAft>
                <a:spcPts val="0"/>
              </a:spcAft>
              <a:buSzPts val="1400"/>
              <a:buChar char="■"/>
              <a:defRPr/>
            </a:lvl6pPr>
            <a:lvl7pPr marL="4267200" lvl="6" indent="-423545" rtl="0">
              <a:spcBef>
                <a:spcPct val="427000"/>
              </a:spcBef>
              <a:spcAft>
                <a:spcPts val="0"/>
              </a:spcAft>
              <a:buSzPts val="1400"/>
              <a:buChar char="●"/>
              <a:defRPr/>
            </a:lvl7pPr>
            <a:lvl8pPr marL="4876800" lvl="7" indent="-423545" rtl="0">
              <a:spcBef>
                <a:spcPct val="427000"/>
              </a:spcBef>
              <a:spcAft>
                <a:spcPts val="0"/>
              </a:spcAft>
              <a:buSzPts val="1400"/>
              <a:buChar char="○"/>
              <a:defRPr/>
            </a:lvl8pPr>
            <a:lvl9pPr marL="5486400" lvl="8" indent="-423545" rtl="0">
              <a:spcBef>
                <a:spcPct val="427000"/>
              </a:spcBef>
              <a:spcAft>
                <a:spcPts val="1600"/>
              </a:spcAft>
              <a:buSzPts val="1400"/>
              <a:buChar char="■"/>
              <a:defRPr/>
            </a:lvl9pPr>
          </a:lstStyle>
          <a:p/>
        </p:txBody>
      </p:sp>
      <p:sp>
        <p:nvSpPr>
          <p:cNvPr id="67" name="Google Shape;67;p16"/>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21"/>
          <p:cNvSpPr/>
          <p:nvPr/>
        </p:nvSpPr>
        <p:spPr>
          <a:xfrm>
            <a:off x="6096000" y="100"/>
            <a:ext cx="6096000" cy="68580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85" name="Google Shape;85;p21"/>
          <p:cNvCxnSpPr/>
          <p:nvPr/>
        </p:nvCxnSpPr>
        <p:spPr>
          <a:xfrm>
            <a:off x="6706233" y="5994000"/>
            <a:ext cx="624400" cy="0"/>
          </a:xfrm>
          <a:prstGeom prst="straightConnector1">
            <a:avLst/>
          </a:prstGeom>
          <a:noFill/>
          <a:ln w="19050" cap="flat" cmpd="sng">
            <a:solidFill>
              <a:schemeClr val="lt2"/>
            </a:solidFill>
            <a:prstDash val="solid"/>
            <a:round/>
            <a:headEnd type="none" w="sm" len="sm"/>
            <a:tailEnd type="none" w="sm" len="sm"/>
          </a:ln>
        </p:spPr>
      </p:cxnSp>
      <p:sp>
        <p:nvSpPr>
          <p:cNvPr id="86" name="Google Shape;86;p21"/>
          <p:cNvSpPr txBox="1"/>
          <p:nvPr>
            <p:ph type="title"/>
          </p:nvPr>
        </p:nvSpPr>
        <p:spPr>
          <a:xfrm>
            <a:off x="354000" y="1607767"/>
            <a:ext cx="5393600" cy="2012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56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p:txBody>
      </p:sp>
      <p:sp>
        <p:nvSpPr>
          <p:cNvPr id="87" name="Google Shape;87;p21"/>
          <p:cNvSpPr txBox="1"/>
          <p:nvPr>
            <p:ph type="subTitle" idx="1"/>
          </p:nvPr>
        </p:nvSpPr>
        <p:spPr>
          <a:xfrm>
            <a:off x="354000" y="3692001"/>
            <a:ext cx="5393600" cy="1794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800"/>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p:txBody>
      </p:sp>
      <p:sp>
        <p:nvSpPr>
          <p:cNvPr id="88" name="Google Shape;88;p21"/>
          <p:cNvSpPr txBox="1"/>
          <p:nvPr>
            <p:ph type="body" idx="2"/>
          </p:nvPr>
        </p:nvSpPr>
        <p:spPr>
          <a:xfrm>
            <a:off x="6586000" y="965600"/>
            <a:ext cx="5116000" cy="4926800"/>
          </a:xfrm>
          <a:prstGeom prst="rect">
            <a:avLst/>
          </a:prstGeom>
        </p:spPr>
        <p:txBody>
          <a:bodyPr spcFirstLastPara="1" wrap="square" lIns="91425" tIns="91425" rIns="91425" bIns="91425" anchor="ctr" anchorCtr="0">
            <a:noAutofit/>
          </a:bodyPr>
          <a:lstStyle>
            <a:lvl1pPr marL="609600" lvl="0" indent="-457200" rtl="0">
              <a:spcBef>
                <a:spcPts val="0"/>
              </a:spcBef>
              <a:spcAft>
                <a:spcPts val="0"/>
              </a:spcAft>
              <a:buClr>
                <a:schemeClr val="lt1"/>
              </a:buClr>
              <a:buSzPts val="1800"/>
              <a:buChar char="●"/>
              <a:defRPr>
                <a:solidFill>
                  <a:schemeClr val="lt1"/>
                </a:solidFill>
              </a:defRPr>
            </a:lvl1pPr>
            <a:lvl2pPr marL="1219200" lvl="1" indent="-423545" rtl="0">
              <a:spcBef>
                <a:spcPct val="427000"/>
              </a:spcBef>
              <a:spcAft>
                <a:spcPts val="0"/>
              </a:spcAft>
              <a:buClr>
                <a:schemeClr val="lt1"/>
              </a:buClr>
              <a:buSzPts val="1400"/>
              <a:buChar char="○"/>
              <a:defRPr>
                <a:solidFill>
                  <a:schemeClr val="lt1"/>
                </a:solidFill>
              </a:defRPr>
            </a:lvl2pPr>
            <a:lvl3pPr marL="1828800" lvl="2" indent="-423545" rtl="0">
              <a:spcBef>
                <a:spcPct val="427000"/>
              </a:spcBef>
              <a:spcAft>
                <a:spcPts val="0"/>
              </a:spcAft>
              <a:buClr>
                <a:schemeClr val="lt1"/>
              </a:buClr>
              <a:buSzPts val="1400"/>
              <a:buChar char="■"/>
              <a:defRPr>
                <a:solidFill>
                  <a:schemeClr val="lt1"/>
                </a:solidFill>
              </a:defRPr>
            </a:lvl3pPr>
            <a:lvl4pPr marL="2438400" lvl="3" indent="-423545" rtl="0">
              <a:spcBef>
                <a:spcPct val="427000"/>
              </a:spcBef>
              <a:spcAft>
                <a:spcPts val="0"/>
              </a:spcAft>
              <a:buClr>
                <a:schemeClr val="lt1"/>
              </a:buClr>
              <a:buSzPts val="1400"/>
              <a:buChar char="●"/>
              <a:defRPr>
                <a:solidFill>
                  <a:schemeClr val="lt1"/>
                </a:solidFill>
              </a:defRPr>
            </a:lvl4pPr>
            <a:lvl5pPr marL="3048000" lvl="4" indent="-423545" rtl="0">
              <a:spcBef>
                <a:spcPct val="427000"/>
              </a:spcBef>
              <a:spcAft>
                <a:spcPts val="0"/>
              </a:spcAft>
              <a:buClr>
                <a:schemeClr val="lt1"/>
              </a:buClr>
              <a:buSzPts val="1400"/>
              <a:buChar char="○"/>
              <a:defRPr>
                <a:solidFill>
                  <a:schemeClr val="lt1"/>
                </a:solidFill>
              </a:defRPr>
            </a:lvl5pPr>
            <a:lvl6pPr marL="3657600" lvl="5" indent="-423545" rtl="0">
              <a:spcBef>
                <a:spcPct val="427000"/>
              </a:spcBef>
              <a:spcAft>
                <a:spcPts val="0"/>
              </a:spcAft>
              <a:buClr>
                <a:schemeClr val="lt1"/>
              </a:buClr>
              <a:buSzPts val="1400"/>
              <a:buChar char="■"/>
              <a:defRPr>
                <a:solidFill>
                  <a:schemeClr val="lt1"/>
                </a:solidFill>
              </a:defRPr>
            </a:lvl6pPr>
            <a:lvl7pPr marL="4267200" lvl="6" indent="-423545" rtl="0">
              <a:spcBef>
                <a:spcPct val="427000"/>
              </a:spcBef>
              <a:spcAft>
                <a:spcPts val="0"/>
              </a:spcAft>
              <a:buClr>
                <a:schemeClr val="lt1"/>
              </a:buClr>
              <a:buSzPts val="1400"/>
              <a:buChar char="●"/>
              <a:defRPr>
                <a:solidFill>
                  <a:schemeClr val="lt1"/>
                </a:solidFill>
              </a:defRPr>
            </a:lvl7pPr>
            <a:lvl8pPr marL="4876800" lvl="7" indent="-423545" rtl="0">
              <a:spcBef>
                <a:spcPct val="427000"/>
              </a:spcBef>
              <a:spcAft>
                <a:spcPts val="0"/>
              </a:spcAft>
              <a:buClr>
                <a:schemeClr val="lt1"/>
              </a:buClr>
              <a:buSzPts val="1400"/>
              <a:buChar char="○"/>
              <a:defRPr>
                <a:solidFill>
                  <a:schemeClr val="lt1"/>
                </a:solidFill>
              </a:defRPr>
            </a:lvl8pPr>
            <a:lvl9pPr marL="5486400" lvl="8" indent="-423545" rtl="0">
              <a:spcBef>
                <a:spcPct val="427000"/>
              </a:spcBef>
              <a:spcAft>
                <a:spcPts val="1600"/>
              </a:spcAft>
              <a:buClr>
                <a:schemeClr val="lt1"/>
              </a:buClr>
              <a:buSzPts val="1400"/>
              <a:buChar char="■"/>
              <a:defRPr>
                <a:solidFill>
                  <a:schemeClr val="lt1"/>
                </a:solidFill>
              </a:defRPr>
            </a:lvl9pPr>
          </a:lstStyle>
          <a:p/>
        </p:txBody>
      </p:sp>
      <p:sp>
        <p:nvSpPr>
          <p:cNvPr id="89" name="Google Shape;89;p21"/>
          <p:cNvSpPr txBox="1"/>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9A709E-C215-4E8E-8E45-59E3768F84B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1737CF-34AC-4C2D-ABFC-61A12BD25FF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8" name="Shape 58"/>
        <p:cNvGrpSpPr/>
        <p:nvPr/>
      </p:nvGrpSpPr>
      <p:grpSpPr>
        <a:xfrm>
          <a:off x="0" y="0"/>
          <a:ext cx="0" cy="0"/>
          <a:chOff x="0" y="0"/>
          <a:chExt cx="0" cy="0"/>
        </a:xfrm>
      </p:grpSpPr>
      <p:sp>
        <p:nvSpPr>
          <p:cNvPr id="60" name="Google Shape;60;p13"/>
          <p:cNvSpPr txBox="1"/>
          <p:nvPr>
            <p:ph type="ctrTitle"/>
          </p:nvPr>
        </p:nvSpPr>
        <p:spPr>
          <a:xfrm>
            <a:off x="680600" y="1676400"/>
            <a:ext cx="10830800" cy="2118000"/>
          </a:xfrm>
          <a:prstGeom prst="rect">
            <a:avLst/>
          </a:prstGeom>
        </p:spPr>
        <p:txBody>
          <a:bodyPr spcFirstLastPara="1" wrap="square" lIns="121900" tIns="121900" rIns="121900" bIns="121900" anchor="b" anchorCtr="0">
            <a:normAutofit/>
          </a:bodyPr>
          <a:lstStyle/>
          <a:p>
            <a:pPr marL="0" lvl="0" indent="0" algn="l" rtl="0">
              <a:spcBef>
                <a:spcPts val="0"/>
              </a:spcBef>
              <a:spcAft>
                <a:spcPts val="0"/>
              </a:spcAft>
              <a:buNone/>
            </a:pPr>
            <a:r>
              <a:rPr lang="en-US" altLang="en-GB" sz="8000">
                <a:solidFill>
                  <a:schemeClr val="bg1"/>
                </a:solidFill>
              </a:rPr>
              <a:t>OOP</a:t>
            </a:r>
            <a:r>
              <a:rPr lang="en-GB" sz="8000">
                <a:solidFill>
                  <a:schemeClr val="bg1"/>
                </a:solidFill>
              </a:rPr>
              <a:t> </a:t>
            </a:r>
            <a:endParaRPr lang="en-GB" sz="8000">
              <a:solidFill>
                <a:schemeClr val="bg1"/>
              </a:solidFill>
            </a:endParaRPr>
          </a:p>
        </p:txBody>
      </p:sp>
      <p:cxnSp>
        <p:nvCxnSpPr>
          <p:cNvPr id="63" name="Google Shape;63;p13"/>
          <p:cNvCxnSpPr/>
          <p:nvPr/>
        </p:nvCxnSpPr>
        <p:spPr>
          <a:xfrm rot="10800000" flipH="1">
            <a:off x="820200" y="3979367"/>
            <a:ext cx="8248400" cy="18000"/>
          </a:xfrm>
          <a:prstGeom prst="straightConnector1">
            <a:avLst/>
          </a:prstGeom>
          <a:noFill/>
          <a:ln w="19050" cap="flat" cmpd="sng">
            <a:solidFill>
              <a:schemeClr val="lt1"/>
            </a:solidFill>
            <a:prstDash val="solid"/>
            <a:round/>
            <a:headEnd type="none" w="med" len="med"/>
            <a:tailEnd type="none" w="med" len="med"/>
          </a:ln>
        </p:spPr>
      </p:cxnSp>
      <p:sp>
        <p:nvSpPr>
          <p:cNvPr id="2" name="Subtitle 1"/>
          <p:cNvSpPr/>
          <p:nvPr>
            <p:ph type="subTitle" idx="1"/>
          </p:nvPr>
        </p:nvSpPr>
        <p:spPr/>
        <p:txBody>
          <a:bodyPr/>
          <a:p>
            <a:endParaRPr lang="en-US"/>
          </a:p>
        </p:txBody>
      </p:sp>
      <p:sp>
        <p:nvSpPr>
          <p:cNvPr id="3" name="Subtitle 1"/>
          <p:cNvSpPr/>
          <p:nvPr/>
        </p:nvSpPr>
        <p:spPr>
          <a:xfrm>
            <a:off x="883195" y="4182438"/>
            <a:ext cx="8123100" cy="630000"/>
          </a:xfrm>
          <a:prstGeom prst="rect">
            <a:avLst/>
          </a:prstGeom>
          <a:noFill/>
          <a:ln>
            <a:noFill/>
          </a:ln>
        </p:spPr>
        <p:txBody>
          <a:bodyPr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1pPr>
            <a:lvl2pPr marL="914400" marR="0" lvl="1"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2pPr>
            <a:lvl3pPr marL="1371600" marR="0" lvl="2"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3pPr>
            <a:lvl4pPr marL="1828800" marR="0" lvl="3"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4pPr>
            <a:lvl5pPr marL="2286000" marR="0" lvl="4"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5pPr>
            <a:lvl6pPr marL="2743200" marR="0" lvl="5"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6pPr>
            <a:lvl7pPr marL="3200400" marR="0" lvl="6"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7pPr>
            <a:lvl8pPr marL="3657600" marR="0" lvl="7"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8pPr>
            <a:lvl9pPr marL="4114800" marR="0" lvl="8" indent="-317500" algn="l" rtl="0">
              <a:lnSpc>
                <a:spcPct val="100000"/>
              </a:lnSpc>
              <a:spcBef>
                <a:spcPts val="0"/>
              </a:spcBef>
              <a:spcAft>
                <a:spcPts val="0"/>
              </a:spcAft>
              <a:buClr>
                <a:schemeClr val="lt1"/>
              </a:buClr>
              <a:buSzPts val="2400"/>
              <a:buFont typeface="Proxima Nova"/>
              <a:buNone/>
              <a:defRPr sz="2400" b="0" i="0" u="none" strike="noStrike" cap="none">
                <a:solidFill>
                  <a:schemeClr val="lt1"/>
                </a:solidFill>
                <a:latin typeface="Proxima Nova"/>
                <a:ea typeface="Proxima Nova"/>
                <a:cs typeface="Proxima Nova"/>
                <a:sym typeface="Proxima Nova"/>
              </a:defRPr>
            </a:lvl9pPr>
          </a:lstStyle>
          <a:p>
            <a:r>
              <a:rPr lang="en-US"/>
              <a:t>Lecture 1</a:t>
            </a:r>
            <a:endParaRPr lang="en-US"/>
          </a:p>
        </p:txBody>
      </p:sp>
      <p:pic>
        <p:nvPicPr>
          <p:cNvPr id="6" name="Picture 5" descr="abstract-code-blocks-rendered-in-3d-within-the-virtual-space-powerpoint-background_79acb22bd5__960_540"/>
          <p:cNvPicPr>
            <a:picLocks noChangeAspect="1"/>
          </p:cNvPicPr>
          <p:nvPr/>
        </p:nvPicPr>
        <p:blipFill>
          <a:blip r:embed="rId1"/>
          <a:stretch>
            <a:fillRect/>
          </a:stretch>
        </p:blipFill>
        <p:spPr>
          <a:xfrm>
            <a:off x="0" y="-635"/>
            <a:ext cx="12192000" cy="6858635"/>
          </a:xfrm>
          <a:prstGeom prst="rect">
            <a:avLst/>
          </a:prstGeom>
        </p:spPr>
      </p:pic>
      <p:sp>
        <p:nvSpPr>
          <p:cNvPr id="7" name="Text Box 6"/>
          <p:cNvSpPr txBox="1"/>
          <p:nvPr/>
        </p:nvSpPr>
        <p:spPr>
          <a:xfrm>
            <a:off x="680720" y="2073910"/>
            <a:ext cx="10301605" cy="3599815"/>
          </a:xfrm>
          <a:prstGeom prst="rect">
            <a:avLst/>
          </a:prstGeom>
          <a:noFill/>
        </p:spPr>
        <p:txBody>
          <a:bodyPr wrap="square" rtlCol="0">
            <a:spAutoFit/>
          </a:bodyPr>
          <a:p>
            <a:r>
              <a:rPr lang="en-US" sz="7200" b="1">
                <a:solidFill>
                  <a:schemeClr val="bg1"/>
                </a:solidFill>
                <a:latin typeface="Arial Bold" panose="020B0604020202020204" charset="0"/>
                <a:cs typeface="Arial Bold" panose="020B0604020202020204" charset="0"/>
              </a:rPr>
              <a:t>Object Oriented Programming</a:t>
            </a:r>
            <a:endParaRPr lang="en-US" sz="72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a:p>
            <a:r>
              <a:rPr lang="en-US" sz="2800" b="1">
                <a:solidFill>
                  <a:schemeClr val="bg1"/>
                </a:solidFill>
                <a:latin typeface="Arial Bold" panose="020B0604020202020204" charset="0"/>
                <a:cs typeface="Arial Bold" panose="020B0604020202020204" charset="0"/>
              </a:rPr>
              <a:t>Lecture 12</a:t>
            </a:r>
            <a:endParaRPr lang="en-US" sz="2800" b="1">
              <a:solidFill>
                <a:schemeClr val="bg1"/>
              </a:solidFill>
              <a:latin typeface="Arial Bold" panose="020B0604020202020204" charset="0"/>
              <a:cs typeface="Arial Bold" panose="020B0604020202020204" charset="0"/>
            </a:endParaRPr>
          </a:p>
          <a:p>
            <a:endParaRPr lang="en-US" sz="2800" b="1">
              <a:solidFill>
                <a:schemeClr val="bg1"/>
              </a:solidFill>
              <a:latin typeface="Arial Bold" panose="020B0604020202020204" charset="0"/>
              <a:cs typeface="Arial 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1520"/>
          </a:xfrm>
        </p:spPr>
        <p:txBody>
          <a:bodyPr/>
          <a:lstStyle/>
          <a:p>
            <a:r>
              <a:rPr lang="en-US" dirty="0"/>
              <a:t>Outline</a:t>
            </a:r>
            <a:endParaRPr lang="en-US" dirty="0"/>
          </a:p>
        </p:txBody>
      </p:sp>
      <p:sp>
        <p:nvSpPr>
          <p:cNvPr id="3" name="Content Placeholder 2"/>
          <p:cNvSpPr>
            <a:spLocks noGrp="1"/>
          </p:cNvSpPr>
          <p:nvPr>
            <p:ph idx="1"/>
          </p:nvPr>
        </p:nvSpPr>
        <p:spPr>
          <a:xfrm>
            <a:off x="838200" y="1318895"/>
            <a:ext cx="10385425" cy="4802505"/>
          </a:xfrm>
        </p:spPr>
        <p:txBody>
          <a:bodyPr>
            <a:normAutofit/>
          </a:bodyPr>
          <a:lstStyle/>
          <a:p>
            <a:pPr marL="0" indent="0">
              <a:buNone/>
            </a:pPr>
            <a:r>
              <a:rPr lang="en-US" sz="2400" dirty="0"/>
              <a:t> </a:t>
            </a:r>
            <a:endParaRPr lang="en-US" sz="2400" dirty="0"/>
          </a:p>
          <a:p>
            <a:r>
              <a:rPr lang="en-US" sz="2400" dirty="0"/>
              <a:t>Association, Aggregation, and Composition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9525" y="2691130"/>
            <a:ext cx="7092950" cy="731520"/>
          </a:xfrm>
        </p:spPr>
        <p:txBody>
          <a:bodyPr>
            <a:normAutofit fontScale="90000"/>
          </a:bodyPr>
          <a:lstStyle/>
          <a:p>
            <a:r>
              <a:rPr lang="en-US" dirty="0"/>
              <a:t>Relationship Between Classes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0-11-2024 at 5.28 PM"/>
          <p:cNvPicPr>
            <a:picLocks noChangeAspect="1"/>
          </p:cNvPicPr>
          <p:nvPr>
            <p:ph idx="1"/>
          </p:nvPr>
        </p:nvPicPr>
        <p:blipFill>
          <a:blip r:embed="rId1"/>
          <a:stretch>
            <a:fillRect/>
          </a:stretch>
        </p:blipFill>
        <p:spPr>
          <a:xfrm>
            <a:off x="838200" y="953770"/>
            <a:ext cx="10786110" cy="5359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0-11-2024 at 5.29 PM"/>
          <p:cNvPicPr>
            <a:picLocks noChangeAspect="1"/>
          </p:cNvPicPr>
          <p:nvPr>
            <p:ph idx="1"/>
          </p:nvPr>
        </p:nvPicPr>
        <p:blipFill>
          <a:blip r:embed="rId1"/>
          <a:stretch>
            <a:fillRect/>
          </a:stretch>
        </p:blipFill>
        <p:spPr>
          <a:xfrm>
            <a:off x="838200" y="1418590"/>
            <a:ext cx="10515600" cy="35737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age 10-11-2024 at 5.31 PM"/>
          <p:cNvPicPr>
            <a:picLocks noChangeAspect="1"/>
          </p:cNvPicPr>
          <p:nvPr>
            <p:ph idx="1"/>
          </p:nvPr>
        </p:nvPicPr>
        <p:blipFill>
          <a:blip r:embed="rId1"/>
          <a:stretch>
            <a:fillRect/>
          </a:stretch>
        </p:blipFill>
        <p:spPr>
          <a:xfrm>
            <a:off x="838200" y="1546225"/>
            <a:ext cx="10515600" cy="38747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Content Placeholder 2" descr="Image 10-11-2024 at 5.32 PM"/>
          <p:cNvPicPr>
            <a:picLocks noChangeAspect="1"/>
          </p:cNvPicPr>
          <p:nvPr>
            <p:ph idx="1"/>
          </p:nvPr>
        </p:nvPicPr>
        <p:blipFill>
          <a:blip r:embed="rId1"/>
          <a:stretch>
            <a:fillRect/>
          </a:stretch>
        </p:blipFill>
        <p:spPr>
          <a:xfrm>
            <a:off x="972820" y="1186815"/>
            <a:ext cx="10515600" cy="4038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83665"/>
            <a:ext cx="10515600" cy="4793615"/>
          </a:xfrm>
        </p:spPr>
        <p:txBody>
          <a:bodyPr>
            <a:normAutofit lnSpcReduction="10000"/>
          </a:bodyPr>
          <a:lstStyle/>
          <a:p>
            <a:pPr marL="0" indent="0">
              <a:buNone/>
            </a:pPr>
            <a:endParaRPr lang="en-US" sz="2400" dirty="0" smtClean="0"/>
          </a:p>
          <a:p>
            <a:pPr marL="0" indent="0">
              <a:buNone/>
            </a:pPr>
            <a:endParaRPr lang="en-US" dirty="0" smtClean="0"/>
          </a:p>
          <a:p>
            <a:pPr>
              <a:buNone/>
            </a:pPr>
            <a:endParaRPr lang="en-US" dirty="0" smtClean="0"/>
          </a:p>
          <a:p>
            <a:endParaRPr lang="en-US" dirty="0"/>
          </a:p>
        </p:txBody>
      </p:sp>
      <p:pic>
        <p:nvPicPr>
          <p:cNvPr id="4" name="Picture 3" descr="Image 06-11-2024 at 12.24 PM"/>
          <p:cNvPicPr>
            <a:picLocks noChangeAspect="1"/>
          </p:cNvPicPr>
          <p:nvPr/>
        </p:nvPicPr>
        <p:blipFill>
          <a:blip r:embed="rId1"/>
          <a:stretch>
            <a:fillRect/>
          </a:stretch>
        </p:blipFill>
        <p:spPr>
          <a:xfrm>
            <a:off x="386080" y="415290"/>
            <a:ext cx="11695430" cy="59004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Aggregation</a:t>
            </a:r>
            <a:endParaRPr lang="en-US" sz="4000" dirty="0"/>
          </a:p>
        </p:txBody>
      </p:sp>
      <p:sp>
        <p:nvSpPr>
          <p:cNvPr id="3" name="Content Placeholder 2"/>
          <p:cNvSpPr>
            <a:spLocks noGrp="1"/>
          </p:cNvSpPr>
          <p:nvPr>
            <p:ph idx="1"/>
          </p:nvPr>
        </p:nvSpPr>
        <p:spPr>
          <a:xfrm>
            <a:off x="838200" y="1383665"/>
            <a:ext cx="10515600" cy="4793615"/>
          </a:xfrm>
        </p:spPr>
        <p:txBody>
          <a:bodyPr>
            <a:normAutofit/>
          </a:bodyPr>
          <a:lstStyle/>
          <a:p>
            <a:pPr marL="0" indent="0" algn="just">
              <a:lnSpc>
                <a:spcPct val="100000"/>
              </a:lnSpc>
              <a:buNone/>
            </a:pPr>
            <a:r>
              <a:rPr lang="en-US" sz="2400" dirty="0" smtClean="0"/>
              <a:t>- Aggregation is a specialize form of association where all objects have their own lifecycles but there is an ownership like parent and child. Child object cannot belong to another parent object at same time. We can think of it as </a:t>
            </a:r>
            <a:r>
              <a:rPr lang="en-US" sz="2400" dirty="0" smtClean="0">
                <a:sym typeface="+mn-ea"/>
              </a:rPr>
              <a:t>"has-a" relationship</a:t>
            </a:r>
            <a:endParaRPr lang="en-US" sz="2400" dirty="0" smtClean="0"/>
          </a:p>
          <a:p>
            <a:endParaRPr lang="en-US" dirty="0"/>
          </a:p>
          <a:p>
            <a:r>
              <a:rPr lang="en-US" dirty="0"/>
              <a:t>Example: A single employee cannot belong to multiple companies, but if we delete the company, employ object will not destroy</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Aggregation</a:t>
            </a:r>
            <a:endParaRPr lang="en-US" sz="4000" dirty="0"/>
          </a:p>
        </p:txBody>
      </p:sp>
      <p:pic>
        <p:nvPicPr>
          <p:cNvPr id="5" name="Content Placeholder 4" descr="Image 10-11-2024 at 5.34 PM"/>
          <p:cNvPicPr>
            <a:picLocks noChangeAspect="1"/>
          </p:cNvPicPr>
          <p:nvPr>
            <p:ph idx="1"/>
          </p:nvPr>
        </p:nvPicPr>
        <p:blipFill>
          <a:blip r:embed="rId1"/>
          <a:stretch>
            <a:fillRect/>
          </a:stretch>
        </p:blipFill>
        <p:spPr>
          <a:xfrm>
            <a:off x="929640" y="1510665"/>
            <a:ext cx="10661015" cy="49358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82015"/>
          </a:xfrm>
        </p:spPr>
        <p:txBody>
          <a:bodyPr>
            <a:normAutofit/>
          </a:bodyPr>
          <a:lstStyle/>
          <a:p>
            <a:r>
              <a:rPr lang="en-US" sz="4000" dirty="0">
                <a:sym typeface="+mn-ea"/>
              </a:rPr>
              <a:t>Aggregation</a:t>
            </a:r>
            <a:endParaRPr lang="en-US" sz="4000" dirty="0"/>
          </a:p>
        </p:txBody>
      </p:sp>
      <p:pic>
        <p:nvPicPr>
          <p:cNvPr id="4" name="Content Placeholder 3" descr="Image 10-11-2024 at 5.36 PM"/>
          <p:cNvPicPr>
            <a:picLocks noChangeAspect="1"/>
          </p:cNvPicPr>
          <p:nvPr>
            <p:ph idx="1"/>
          </p:nvPr>
        </p:nvPicPr>
        <p:blipFill>
          <a:blip r:embed="rId1"/>
          <a:stretch>
            <a:fillRect/>
          </a:stretch>
        </p:blipFill>
        <p:spPr>
          <a:xfrm>
            <a:off x="838200" y="1716405"/>
            <a:ext cx="10515600" cy="30683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Aggregation</a:t>
            </a:r>
            <a:endParaRPr lang="en-US"/>
          </a:p>
        </p:txBody>
      </p:sp>
      <p:pic>
        <p:nvPicPr>
          <p:cNvPr id="4" name="Content Placeholder 3" descr="Image 18-11-2024 at 11.49 AM"/>
          <p:cNvPicPr>
            <a:picLocks noChangeAspect="1"/>
          </p:cNvPicPr>
          <p:nvPr>
            <p:ph idx="1"/>
          </p:nvPr>
        </p:nvPicPr>
        <p:blipFill>
          <a:blip r:embed="rId1"/>
          <a:stretch>
            <a:fillRect/>
          </a:stretch>
        </p:blipFill>
        <p:spPr>
          <a:xfrm>
            <a:off x="910590" y="1825625"/>
            <a:ext cx="10370185" cy="43516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lgn="ctr">
              <a:buNone/>
            </a:pPr>
            <a:r>
              <a:rPr lang="en-US"/>
              <a:t>Coding Examples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p:nvPr>
            <p:ph type="body" idx="1"/>
          </p:nvPr>
        </p:nvSpPr>
        <p:spPr>
          <a:xfrm>
            <a:off x="415290" y="2569845"/>
            <a:ext cx="11360785" cy="3522345"/>
          </a:xfrm>
        </p:spPr>
        <p:txBody>
          <a:bodyPr/>
          <a:p>
            <a:pPr marL="152400" indent="0" algn="ctr">
              <a:buNone/>
            </a:pPr>
            <a:r>
              <a:rPr lang="en-US"/>
              <a:t>End of Lecture</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Words>
  <Application>WPS Writer</Application>
  <PresentationFormat>Widescreen</PresentationFormat>
  <Paragraphs>36</Paragraphs>
  <Slides>14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14</vt:i4>
      </vt:variant>
    </vt:vector>
  </HeadingPairs>
  <TitlesOfParts>
    <vt:vector size="27" baseType="lpstr">
      <vt:lpstr>Arial</vt:lpstr>
      <vt:lpstr>SimSun</vt:lpstr>
      <vt:lpstr>Wingdings</vt:lpstr>
      <vt:lpstr>Proxima Nova</vt:lpstr>
      <vt:lpstr>Thonburi</vt:lpstr>
      <vt:lpstr>Arial Bold</vt:lpstr>
      <vt:lpstr>Microsoft YaHei</vt:lpstr>
      <vt:lpstr>汉仪旗黑</vt:lpstr>
      <vt:lpstr>Arial Unicode MS</vt:lpstr>
      <vt:lpstr>Calibri</vt:lpstr>
      <vt:lpstr>Helvetica Neue</vt:lpstr>
      <vt:lpstr>宋体-简</vt:lpstr>
      <vt:lpstr>Office Theme</vt:lpstr>
      <vt:lpstr>OOP </vt:lpstr>
      <vt:lpstr>Outline</vt:lpstr>
      <vt:lpstr>Relationship Between Classes</vt:lpstr>
      <vt:lpstr>PowerPoint 演示文稿</vt:lpstr>
      <vt:lpstr>PowerPoint 演示文稿</vt:lpstr>
      <vt:lpstr>PowerPoint 演示文稿</vt:lpstr>
      <vt:lpstr>PowerPoint 演示文稿</vt:lpstr>
      <vt:lpstr>PowerPoint 演示文稿</vt:lpstr>
      <vt:lpstr>Aggregation</vt:lpstr>
      <vt:lpstr>Aggregation</vt:lpstr>
      <vt:lpstr>Aggregation</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CSC-321</dc:title>
  <dc:creator>User</dc:creator>
  <cp:lastModifiedBy>Nimra Abbas</cp:lastModifiedBy>
  <cp:revision>235</cp:revision>
  <dcterms:created xsi:type="dcterms:W3CDTF">2024-11-18T07:29:19Z</dcterms:created>
  <dcterms:modified xsi:type="dcterms:W3CDTF">2024-11-18T07:29:19Z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1033-5.7.0.8090</vt:lpwstr>
  </property>
</Properties>
</file>