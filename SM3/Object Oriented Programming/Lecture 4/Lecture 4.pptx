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6" r:id="rId3"/>
    <p:sldId id="517" r:id="rId5"/>
    <p:sldId id="518" r:id="rId6"/>
    <p:sldId id="520" r:id="rId7"/>
    <p:sldId id="521" r:id="rId8"/>
    <p:sldId id="522" r:id="rId9"/>
    <p:sldId id="523" r:id="rId10"/>
    <p:sldId id="524" r:id="rId11"/>
    <p:sldId id="527" r:id="rId12"/>
    <p:sldId id="529" r:id="rId13"/>
    <p:sldId id="532" r:id="rId14"/>
    <p:sldId id="535" r:id="rId15"/>
    <p:sldId id="536" r:id="rId16"/>
    <p:sldId id="537" r:id="rId17"/>
    <p:sldId id="531" r:id="rId18"/>
    <p:sldId id="540" r:id="rId19"/>
    <p:sldId id="50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BE717-232F-4F04-8C42-B483AA5BDA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B4DA-30D8-4F6D-BF35-157D774FB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878c25f7a_0_37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878c25f7a_0_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By dafault all attibutes and member functions are private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By dafault all attibutes and member functions are private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5" name="Google Shape;85;p2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87" name="Google Shape;87;p21"/>
          <p:cNvSpPr txBox="1"/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88" name="Google Shape;88;p21"/>
          <p:cNvSpPr txBox="1"/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0600" y="1676400"/>
            <a:ext cx="10830800" cy="21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8000">
                <a:solidFill>
                  <a:schemeClr val="bg1"/>
                </a:solidFill>
              </a:rPr>
              <a:t>OOP</a:t>
            </a:r>
            <a:r>
              <a:rPr lang="en-GB" sz="8000">
                <a:solidFill>
                  <a:schemeClr val="bg1"/>
                </a:solidFill>
              </a:rPr>
              <a:t> </a:t>
            </a:r>
            <a:endParaRPr lang="en-GB" sz="8000">
              <a:solidFill>
                <a:schemeClr val="bg1"/>
              </a:solidFill>
            </a:endParaRPr>
          </a:p>
        </p:txBody>
      </p:sp>
      <p:cxnSp>
        <p:nvCxnSpPr>
          <p:cNvPr id="63" name="Google Shape;63;p13"/>
          <p:cNvCxnSpPr/>
          <p:nvPr/>
        </p:nvCxnSpPr>
        <p:spPr>
          <a:xfrm rot="10800000" flipH="1">
            <a:off x="820200" y="3979367"/>
            <a:ext cx="8248400" cy="18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1"/>
          <p:cNvSpPr/>
          <p:nvPr/>
        </p:nvSpPr>
        <p:spPr>
          <a:xfrm>
            <a:off x="883195" y="4182438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/>
              <a:t>Lecture 1</a:t>
            </a:r>
            <a:endParaRPr lang="en-US"/>
          </a:p>
        </p:txBody>
      </p:sp>
      <p:pic>
        <p:nvPicPr>
          <p:cNvPr id="6" name="Picture 5" descr="abstract-code-blocks-rendered-in-3d-within-the-virtual-space-powerpoint-background_79acb22bd5__960_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0720" y="2073910"/>
            <a:ext cx="1030160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Object Oriented Programming</a:t>
            </a:r>
            <a:endParaRPr lang="en-US" sz="72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sz="28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Lecture 4</a:t>
            </a:r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sz="28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Abstraction, Classes and Objects</a:t>
            </a:r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520"/>
          </a:xfrm>
        </p:spPr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7280"/>
            <a:ext cx="10515600" cy="5464175"/>
          </a:xfrm>
        </p:spPr>
        <p:txBody>
          <a:bodyPr>
            <a:normAutofit/>
          </a:bodyPr>
          <a:lstStyle/>
          <a:p>
            <a:r>
              <a:rPr lang="en-US" dirty="0" smtClean="0"/>
              <a:t>Why  OOP?</a:t>
            </a:r>
            <a:endParaRPr lang="en-US" dirty="0" smtClean="0"/>
          </a:p>
          <a:p>
            <a:r>
              <a:rPr lang="en-US" dirty="0">
                <a:sym typeface="+mn-ea"/>
              </a:rPr>
              <a:t>Procedure Oriented Programming</a:t>
            </a:r>
            <a:endParaRPr lang="en-US" dirty="0" smtClean="0"/>
          </a:p>
          <a:p>
            <a:r>
              <a:rPr lang="en-US" dirty="0" smtClean="0"/>
              <a:t>Structure vs Class</a:t>
            </a:r>
            <a:endParaRPr lang="en-US" dirty="0" smtClean="0"/>
          </a:p>
          <a:p>
            <a:r>
              <a:rPr lang="en-US" dirty="0" smtClean="0"/>
              <a:t>C++ Class Methods</a:t>
            </a:r>
            <a:endParaRPr lang="en-US" dirty="0" smtClean="0"/>
          </a:p>
          <a:p>
            <a:r>
              <a:rPr lang="en-US" dirty="0" smtClean="0"/>
              <a:t>Data Member in class</a:t>
            </a:r>
            <a:endParaRPr lang="en-US" dirty="0" smtClean="0"/>
          </a:p>
          <a:p>
            <a:r>
              <a:rPr lang="en-US" dirty="0"/>
              <a:t>Member Function in class</a:t>
            </a:r>
            <a:endParaRPr lang="en-US" dirty="0"/>
          </a:p>
          <a:p>
            <a:r>
              <a:rPr lang="en-US" dirty="0"/>
              <a:t>Access Specifiers</a:t>
            </a:r>
            <a:endParaRPr lang="en-US" dirty="0"/>
          </a:p>
          <a:p>
            <a:r>
              <a:rPr lang="en-US" dirty="0"/>
              <a:t>Getter and Setter Functions</a:t>
            </a:r>
            <a:endParaRPr lang="en-US" dirty="0"/>
          </a:p>
          <a:p>
            <a:r>
              <a:rPr lang="en-US" dirty="0"/>
              <a:t>Practise Questions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520"/>
          </a:xfrm>
        </p:spPr>
        <p:txBody>
          <a:bodyPr/>
          <a:lstStyle/>
          <a:p>
            <a:r>
              <a:rPr lang="en-US" dirty="0"/>
              <a:t>Why OOP?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3330"/>
            <a:ext cx="10744200" cy="5284470"/>
          </a:xfrm>
        </p:spPr>
        <p:txBody>
          <a:bodyPr>
            <a:normAutofit fontScale="7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C++ languague was designed with the main intention of adding object-oriented features to C language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As the size of the program increases, readability, maintainability, and bug-free nature of programs decreases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This was the major problem with languages like C which relied upon functions or procedures (hence the name procedural programming language)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As a result, the possibility of not addressing the problem in an effective manner was high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Also, as data was almost neglected, data security was easily compromised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Using classes solves this problem by modelling program as a real world scenerio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Data and Member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 specifier label public, private, and protected</a:t>
            </a:r>
            <a:endParaRPr lang="en-US" dirty="0"/>
          </a:p>
          <a:p>
            <a:r>
              <a:rPr lang="en-US" dirty="0"/>
              <a:t>Function are public and data is private</a:t>
            </a:r>
            <a:endParaRPr lang="en-US" dirty="0"/>
          </a:p>
          <a:p>
            <a:r>
              <a:rPr lang="en-US" dirty="0"/>
              <a:t>Data is hidden so that it can be safe from accidental manipulation</a:t>
            </a:r>
            <a:endParaRPr lang="en-US" dirty="0"/>
          </a:p>
          <a:p>
            <a:r>
              <a:rPr lang="en-US" dirty="0"/>
              <a:t>Function operates on data are public so they can be accessed from outside the class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Member functions are the functions that operate on the data encapsulated in the class</a:t>
            </a:r>
            <a:endParaRPr lang="en-US" dirty="0"/>
          </a:p>
          <a:p>
            <a:r>
              <a:rPr lang="en-US" dirty="0"/>
              <a:t>Public member functions are the interface to the class</a:t>
            </a:r>
            <a:endParaRPr lang="en-US" dirty="0"/>
          </a:p>
          <a:p>
            <a:r>
              <a:rPr lang="en-US" dirty="0"/>
              <a:t>Define member function inside the class defination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	OR</a:t>
            </a:r>
            <a:endParaRPr lang="en-US" dirty="0"/>
          </a:p>
          <a:p>
            <a:r>
              <a:rPr lang="en-US" dirty="0">
                <a:sym typeface="+mn-ea"/>
              </a:rPr>
              <a:t>Define member function outside the class defination </a:t>
            </a:r>
            <a:endParaRPr lang="en-US" dirty="0">
              <a:sym typeface="+mn-ea"/>
            </a:endParaRPr>
          </a:p>
          <a:p>
            <a:pPr lvl="1"/>
            <a:r>
              <a:rPr lang="en-US" sz="2400" dirty="0">
                <a:sym typeface="+mn-ea"/>
              </a:rPr>
              <a:t>But they must be declared inside class defination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48665"/>
            <a:ext cx="10515600" cy="1325563"/>
          </a:xfrm>
        </p:spPr>
        <p:txBody>
          <a:bodyPr/>
          <a:p>
            <a:r>
              <a:rPr lang="en-US"/>
              <a:t>Some Practise Questions !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Practise Questions</a:t>
            </a:r>
            <a:br>
              <a:rPr lang="en-US">
                <a:sym typeface="+mn-ea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Create a Teacher class first?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Practise Questions</a:t>
            </a:r>
            <a:br>
              <a:rPr lang="en-US">
                <a:sym typeface="+mn-ea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Create the following attibutes in Teacher class:</a:t>
            </a:r>
            <a:endParaRPr lang="en-US">
              <a:sym typeface="+mn-ea"/>
            </a:endParaRPr>
          </a:p>
          <a:p>
            <a:pPr marL="514350" indent="-514350">
              <a:buAutoNum type="arabicPeriod"/>
            </a:pPr>
            <a:r>
              <a:rPr lang="en-US"/>
              <a:t>Name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Department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Subject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Salary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Practise Questions</a:t>
            </a:r>
            <a:br>
              <a:rPr lang="en-US">
                <a:sym typeface="+mn-ea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Create the member function in Teacher class of changeDept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Practise Questions</a:t>
            </a:r>
            <a:br>
              <a:rPr lang="en-US">
                <a:sym typeface="+mn-ea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Create oobject for Teacher class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</a:t>
            </a:r>
            <a:r>
              <a:rPr lang="en-US" dirty="0" err="1"/>
              <a:t>S</a:t>
            </a:r>
            <a:r>
              <a:rPr lang="en-US" dirty="0" err="1" smtClean="0"/>
              <a:t>pecifiers/Modifiers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rivate  = data and methods accessible inside the class</a:t>
            </a:r>
            <a:endParaRPr lang="en-US" dirty="0" smtClean="0"/>
          </a:p>
          <a:p>
            <a:r>
              <a:rPr lang="en-US" dirty="0">
                <a:sym typeface="+mn-ea"/>
              </a:rPr>
              <a:t>P</a:t>
            </a:r>
            <a:r>
              <a:rPr lang="en-US" dirty="0" smtClean="0">
                <a:sym typeface="+mn-ea"/>
              </a:rPr>
              <a:t>ublic</a:t>
            </a:r>
            <a:endParaRPr lang="en-US" dirty="0"/>
          </a:p>
          <a:p>
            <a:r>
              <a:rPr lang="en-US" dirty="0" smtClean="0"/>
              <a:t>Protected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</a:t>
            </a:r>
            <a:r>
              <a:rPr lang="en-US" dirty="0" err="1"/>
              <a:t>S</a:t>
            </a:r>
            <a:r>
              <a:rPr lang="en-US" dirty="0" err="1" smtClean="0"/>
              <a:t>pecifiers/Modifiers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rivate  = data and methods accessible inside the class</a:t>
            </a:r>
            <a:endParaRPr lang="en-US" dirty="0" smtClean="0"/>
          </a:p>
          <a:p>
            <a:r>
              <a:rPr lang="en-US" dirty="0">
                <a:sym typeface="+mn-ea"/>
              </a:rPr>
              <a:t>P</a:t>
            </a:r>
            <a:r>
              <a:rPr lang="en-US" dirty="0" smtClean="0">
                <a:sym typeface="+mn-ea"/>
              </a:rPr>
              <a:t>ublic = data and </a:t>
            </a:r>
            <a:r>
              <a:rPr lang="en-US" dirty="0" smtClean="0">
                <a:sym typeface="+mn-ea"/>
              </a:rPr>
              <a:t>methods accessible to everyone</a:t>
            </a:r>
            <a:endParaRPr lang="en-US" dirty="0"/>
          </a:p>
          <a:p>
            <a:r>
              <a:rPr lang="en-US" dirty="0" smtClean="0"/>
              <a:t>Protected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</a:t>
            </a:r>
            <a:r>
              <a:rPr lang="en-US" dirty="0" err="1"/>
              <a:t>S</a:t>
            </a:r>
            <a:r>
              <a:rPr lang="en-US" dirty="0" err="1" smtClean="0"/>
              <a:t>pecifiers/Modifiers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rivate  = data and methods accessible inside the class</a:t>
            </a:r>
            <a:endParaRPr lang="en-US" dirty="0" smtClean="0"/>
          </a:p>
          <a:p>
            <a:r>
              <a:rPr lang="en-US" dirty="0">
                <a:sym typeface="+mn-ea"/>
              </a:rPr>
              <a:t>P</a:t>
            </a:r>
            <a:r>
              <a:rPr lang="en-US" dirty="0" smtClean="0">
                <a:sym typeface="+mn-ea"/>
              </a:rPr>
              <a:t>ublic = data and </a:t>
            </a:r>
            <a:r>
              <a:rPr lang="en-US" dirty="0" smtClean="0">
                <a:sym typeface="+mn-ea"/>
              </a:rPr>
              <a:t>methods accessible to everyone</a:t>
            </a:r>
            <a:endParaRPr lang="en-US" dirty="0"/>
          </a:p>
          <a:p>
            <a:r>
              <a:rPr lang="en-US" dirty="0" smtClean="0"/>
              <a:t>Protected = data and methods accessible inside class and to its derived classes (we will explore this in inheritance)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Creating Multiple Classes?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- Creating Both Private and Public attributes?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Setter and Getter Functions?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415290" y="2569845"/>
            <a:ext cx="11360785" cy="3522345"/>
          </a:xfrm>
        </p:spPr>
        <p:txBody>
          <a:bodyPr/>
          <a:p>
            <a:pPr marL="152400" indent="0" algn="ctr">
              <a:buNone/>
            </a:pPr>
            <a:r>
              <a:rPr lang="en-US"/>
              <a:t>End of Lecture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2344</Words>
  <Application>WPS Presentation</Application>
  <PresentationFormat>Widescreen</PresentationFormat>
  <Paragraphs>103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Proxima Nova</vt:lpstr>
      <vt:lpstr>Thonburi</vt:lpstr>
      <vt:lpstr>Arial Bold</vt:lpstr>
      <vt:lpstr>Microsoft YaHei</vt:lpstr>
      <vt:lpstr>汉仪旗黑</vt:lpstr>
      <vt:lpstr>Calibri</vt:lpstr>
      <vt:lpstr>Helvetica Neue</vt:lpstr>
      <vt:lpstr>宋体-简</vt:lpstr>
      <vt:lpstr>Arial Unicode MS</vt:lpstr>
      <vt:lpstr>Office Theme</vt:lpstr>
      <vt:lpstr>OOP </vt:lpstr>
      <vt:lpstr>Outline</vt:lpstr>
      <vt:lpstr>Why OOP?</vt:lpstr>
      <vt:lpstr>Class Data and Member Function</vt:lpstr>
      <vt:lpstr>Member Functions</vt:lpstr>
      <vt:lpstr>Some Practise Questions !</vt:lpstr>
      <vt:lpstr>Practise Questions </vt:lpstr>
      <vt:lpstr>Practise Questions </vt:lpstr>
      <vt:lpstr>Practise Questions </vt:lpstr>
      <vt:lpstr>Practise Questions </vt:lpstr>
      <vt:lpstr>Access Specifiers/Modifiers</vt:lpstr>
      <vt:lpstr>Access Specifiers/Modifiers</vt:lpstr>
      <vt:lpstr>Access Specifiers/Modifiers</vt:lpstr>
      <vt:lpstr>Creating Multiple Classes?</vt:lpstr>
      <vt:lpstr>- Creating Both Private and Public attributes?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CSC-321</dc:title>
  <dc:creator>User</dc:creator>
  <cp:lastModifiedBy>Nimra Abbas</cp:lastModifiedBy>
  <cp:revision>167</cp:revision>
  <dcterms:created xsi:type="dcterms:W3CDTF">2024-10-02T06:33:57Z</dcterms:created>
  <dcterms:modified xsi:type="dcterms:W3CDTF">2024-10-02T06:33:57Z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