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621" r:id="rId5"/>
    <p:sldId id="623" r:id="rId6"/>
    <p:sldId id="625" r:id="rId7"/>
    <p:sldId id="631" r:id="rId8"/>
    <p:sldId id="624" r:id="rId9"/>
    <p:sldId id="626" r:id="rId10"/>
    <p:sldId id="632" r:id="rId11"/>
    <p:sldId id="627" r:id="rId12"/>
    <p:sldId id="633" r:id="rId13"/>
    <p:sldId id="641" r:id="rId14"/>
    <p:sldId id="642" r:id="rId15"/>
    <p:sldId id="643" r:id="rId16"/>
    <p:sldId id="644" r:id="rId17"/>
    <p:sldId id="645" r:id="rId18"/>
    <p:sldId id="636" r:id="rId19"/>
    <p:sldId id="634" r:id="rId20"/>
    <p:sldId id="635" r:id="rId21"/>
    <p:sldId id="637" r:id="rId22"/>
    <p:sldId id="638" r:id="rId23"/>
    <p:sldId id="646" r:id="rId24"/>
    <p:sldId id="648" r:id="rId25"/>
    <p:sldId id="647" r:id="rId26"/>
    <p:sldId id="50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1 contains the code of this</a:t>
            </a:r>
            <a:endParaRPr lang="en-US"/>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2 contains the code of this</a:t>
            </a:r>
            <a:endParaRPr lang="en-US"/>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3 contains the code of this</a:t>
            </a:r>
            <a:endParaRPr 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4 contains the code of this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15</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62685" y="2148840"/>
            <a:ext cx="10515600" cy="1325563"/>
          </a:xfrm>
        </p:spPr>
        <p:txBody>
          <a:bodyPr/>
          <a:p>
            <a:pPr algn="ctr"/>
            <a:r>
              <a:rPr lang="en-US"/>
              <a:t>Inheritance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Inheritance?</a:t>
            </a:r>
            <a:endParaRPr lang="en-US" sz="4000"/>
          </a:p>
        </p:txBody>
      </p:sp>
      <p:sp>
        <p:nvSpPr>
          <p:cNvPr id="3" name="Content Placeholder 2"/>
          <p:cNvSpPr>
            <a:spLocks noGrp="1"/>
          </p:cNvSpPr>
          <p:nvPr>
            <p:ph idx="1"/>
          </p:nvPr>
        </p:nvSpPr>
        <p:spPr>
          <a:xfrm>
            <a:off x="838200" y="1562100"/>
            <a:ext cx="10515600" cy="4615180"/>
          </a:xfrm>
        </p:spPr>
        <p:txBody>
          <a:bodyPr/>
          <a:p>
            <a:r>
              <a:rPr lang="en-US"/>
              <a:t>When properties and member functions of base class are passed on to the derived class. </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971675"/>
            <a:ext cx="10515600" cy="4205605"/>
          </a:xfrm>
        </p:spPr>
        <p:txBody>
          <a:bodyPr/>
          <a:p>
            <a:r>
              <a:rPr lang="en-US"/>
              <a:t>Constructor without parameters</a:t>
            </a:r>
            <a:endParaRPr lang="en-US"/>
          </a:p>
          <a:p>
            <a:r>
              <a:rPr lang="en-US"/>
              <a:t>Passing data members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22 PM"/>
          <p:cNvPicPr>
            <a:picLocks noChangeAspect="1"/>
          </p:cNvPicPr>
          <p:nvPr>
            <p:ph idx="1"/>
          </p:nvPr>
        </p:nvPicPr>
        <p:blipFill>
          <a:blip r:embed="rId1"/>
          <a:stretch>
            <a:fillRect/>
          </a:stretch>
        </p:blipFill>
        <p:spPr>
          <a:xfrm>
            <a:off x="2332990" y="0"/>
            <a:ext cx="617982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constructor is called?</a:t>
            </a:r>
            <a:endParaRPr lang="en-US"/>
          </a:p>
        </p:txBody>
      </p:sp>
      <p:sp>
        <p:nvSpPr>
          <p:cNvPr id="3" name="Content Placeholder 2"/>
          <p:cNvSpPr>
            <a:spLocks noGrp="1"/>
          </p:cNvSpPr>
          <p:nvPr>
            <p:ph idx="1"/>
          </p:nvPr>
        </p:nvSpPr>
        <p:spPr/>
        <p:txBody>
          <a:bodyPr/>
          <a:p>
            <a:r>
              <a:rPr lang="en-US"/>
              <a:t>First Base Class then drived class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How destructor is called?</a:t>
            </a:r>
            <a:endParaRPr lang="en-US"/>
          </a:p>
        </p:txBody>
      </p:sp>
      <p:sp>
        <p:nvSpPr>
          <p:cNvPr id="3" name="Content Placeholder 2"/>
          <p:cNvSpPr>
            <a:spLocks noGrp="1"/>
          </p:cNvSpPr>
          <p:nvPr>
            <p:ph idx="1"/>
          </p:nvPr>
        </p:nvSpPr>
        <p:spPr/>
        <p:txBody>
          <a:bodyPr/>
          <a:p>
            <a:r>
              <a:rPr lang="en-US"/>
              <a:t>First drived class then base class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24 PM"/>
          <p:cNvPicPr>
            <a:picLocks noChangeAspect="1"/>
          </p:cNvPicPr>
          <p:nvPr>
            <p:ph idx="1"/>
          </p:nvPr>
        </p:nvPicPr>
        <p:blipFill>
          <a:blip r:embed="rId1"/>
          <a:stretch>
            <a:fillRect/>
          </a:stretch>
        </p:blipFill>
        <p:spPr>
          <a:xfrm>
            <a:off x="2889885" y="635"/>
            <a:ext cx="6116955" cy="6857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971675"/>
            <a:ext cx="10515600" cy="4205605"/>
          </a:xfrm>
        </p:spPr>
        <p:txBody>
          <a:bodyPr/>
          <a:p>
            <a:r>
              <a:rPr lang="en-US"/>
              <a:t>Constructor with parameters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26 PM"/>
          <p:cNvPicPr>
            <a:picLocks noChangeAspect="1"/>
          </p:cNvPicPr>
          <p:nvPr>
            <p:ph idx="1"/>
          </p:nvPr>
        </p:nvPicPr>
        <p:blipFill>
          <a:blip r:embed="rId1"/>
          <a:stretch>
            <a:fillRect/>
          </a:stretch>
        </p:blipFill>
        <p:spPr>
          <a:xfrm>
            <a:off x="2234565" y="0"/>
            <a:ext cx="628015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971675"/>
            <a:ext cx="10515600" cy="4205605"/>
          </a:xfrm>
        </p:spPr>
        <p:txBody>
          <a:bodyPr/>
          <a:p>
            <a:r>
              <a:rPr lang="en-US"/>
              <a:t>Constructor without parameters</a:t>
            </a:r>
            <a:endParaRPr lang="en-US"/>
          </a:p>
          <a:p>
            <a:r>
              <a:rPr lang="en-US"/>
              <a:t>Passing member functions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14 PM"/>
          <p:cNvPicPr>
            <a:picLocks noChangeAspect="1"/>
          </p:cNvPicPr>
          <p:nvPr>
            <p:ph idx="1"/>
          </p:nvPr>
        </p:nvPicPr>
        <p:blipFill>
          <a:blip r:embed="rId1"/>
          <a:stretch>
            <a:fillRect/>
          </a:stretch>
        </p:blipFill>
        <p:spPr>
          <a:xfrm>
            <a:off x="2588895" y="635"/>
            <a:ext cx="634936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971675"/>
            <a:ext cx="10515600" cy="4205605"/>
          </a:xfrm>
        </p:spPr>
        <p:txBody>
          <a:bodyPr/>
          <a:p>
            <a:r>
              <a:rPr lang="en-US"/>
              <a:t>Creating object of base/parent class</a:t>
            </a:r>
            <a:endParaRPr 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35355" y="2067560"/>
            <a:ext cx="10515600" cy="1325563"/>
          </a:xfrm>
        </p:spPr>
        <p:txBody>
          <a:bodyPr>
            <a:normAutofit fontScale="90000"/>
          </a:bodyPr>
          <a:p>
            <a:r>
              <a:rPr lang="en-US"/>
              <a:t>Consider the code from the next slide and write its output?</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33 PM"/>
          <p:cNvPicPr>
            <a:picLocks noChangeAspect="1"/>
          </p:cNvPicPr>
          <p:nvPr>
            <p:ph idx="1"/>
          </p:nvPr>
        </p:nvPicPr>
        <p:blipFill>
          <a:blip r:embed="rId1"/>
          <a:stretch>
            <a:fillRect/>
          </a:stretch>
        </p:blipFill>
        <p:spPr>
          <a:xfrm>
            <a:off x="2184400" y="0"/>
            <a:ext cx="733488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 of Inheritance</a:t>
            </a:r>
            <a:endParaRPr lang="en-US"/>
          </a:p>
        </p:txBody>
      </p:sp>
      <p:pic>
        <p:nvPicPr>
          <p:cNvPr id="4" name="Content Placeholder 3" descr="Image 02-12-2024 at 1.10 PM"/>
          <p:cNvPicPr>
            <a:picLocks noChangeAspect="1"/>
          </p:cNvPicPr>
          <p:nvPr>
            <p:ph idx="1"/>
          </p:nvPr>
        </p:nvPicPr>
        <p:blipFill>
          <a:blip r:embed="rId1"/>
          <a:stretch>
            <a:fillRect/>
          </a:stretch>
        </p:blipFill>
        <p:spPr>
          <a:xfrm>
            <a:off x="1345565" y="2159635"/>
            <a:ext cx="9499600" cy="368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p:nvPr>
            <p:ph idx="1"/>
          </p:nvPr>
        </p:nvSpPr>
        <p:spPr>
          <a:xfrm>
            <a:off x="838200" y="2181860"/>
            <a:ext cx="10515600" cy="3995420"/>
          </a:xfrm>
        </p:spPr>
        <p:txBody>
          <a:bodyPr/>
          <a:p>
            <a:pPr marL="0" indent="0" algn="ctr">
              <a:buNone/>
            </a:pPr>
            <a:r>
              <a:rPr lang="en-US"/>
              <a:t>Code with private Access Specifier</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43 PM"/>
          <p:cNvPicPr>
            <a:picLocks noChangeAspect="1"/>
          </p:cNvPicPr>
          <p:nvPr>
            <p:ph idx="1"/>
          </p:nvPr>
        </p:nvPicPr>
        <p:blipFill>
          <a:blip r:embed="rId1"/>
          <a:stretch>
            <a:fillRect/>
          </a:stretch>
        </p:blipFill>
        <p:spPr>
          <a:xfrm>
            <a:off x="2473960" y="0"/>
            <a:ext cx="630237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p:nvPr>
            <p:ph idx="1"/>
          </p:nvPr>
        </p:nvSpPr>
        <p:spPr>
          <a:xfrm>
            <a:off x="838200" y="2181860"/>
            <a:ext cx="10515600" cy="3995420"/>
          </a:xfrm>
        </p:spPr>
        <p:txBody>
          <a:bodyPr/>
          <a:p>
            <a:pPr marL="0" indent="0" algn="ctr">
              <a:buNone/>
            </a:pPr>
            <a:r>
              <a:rPr lang="en-US"/>
              <a:t>Code with protected Access Specifier</a:t>
            </a:r>
            <a:endParaRPr lang="en-US"/>
          </a:p>
          <a:p>
            <a:pPr marL="0" indent="0" algn="ctr">
              <a:buNone/>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55 PM"/>
          <p:cNvPicPr>
            <a:picLocks noChangeAspect="1"/>
          </p:cNvPicPr>
          <p:nvPr>
            <p:ph idx="1"/>
          </p:nvPr>
        </p:nvPicPr>
        <p:blipFill>
          <a:blip r:embed="rId1"/>
          <a:stretch>
            <a:fillRect/>
          </a:stretch>
        </p:blipFill>
        <p:spPr>
          <a:xfrm>
            <a:off x="2386965" y="0"/>
            <a:ext cx="71100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808595" cy="662305"/>
          </a:xfrm>
        </p:spPr>
        <p:txBody>
          <a:bodyPr>
            <a:normAutofit fontScale="90000"/>
          </a:bodyPr>
          <a:p>
            <a:r>
              <a:rPr lang="en-US"/>
              <a:t>Practise Questions - Question 1</a:t>
            </a:r>
            <a:endParaRPr lang="en-US"/>
          </a:p>
        </p:txBody>
      </p:sp>
      <p:sp>
        <p:nvSpPr>
          <p:cNvPr id="3" name="Content Placeholder 2"/>
          <p:cNvSpPr>
            <a:spLocks noGrp="1"/>
          </p:cNvSpPr>
          <p:nvPr>
            <p:ph idx="1"/>
          </p:nvPr>
        </p:nvSpPr>
        <p:spPr>
          <a:xfrm>
            <a:off x="838200" y="1238250"/>
            <a:ext cx="10709910" cy="5327650"/>
          </a:xfrm>
        </p:spPr>
        <p:txBody>
          <a:bodyPr/>
          <a:p>
            <a:r>
              <a:rPr lang="en-US" b="1">
                <a:latin typeface="Arial Bold" panose="020B0604020202020204" charset="0"/>
                <a:cs typeface="Arial Bold" panose="020B0604020202020204" charset="0"/>
              </a:rPr>
              <a:t>Scenario:</a:t>
            </a:r>
            <a:endParaRPr lang="en-US" b="1">
              <a:latin typeface="Arial Bold" panose="020B0604020202020204" charset="0"/>
              <a:cs typeface="Arial Bold" panose="020B0604020202020204" charset="0"/>
            </a:endParaRPr>
          </a:p>
          <a:p>
            <a:pPr marL="0" indent="0" algn="just">
              <a:buNone/>
            </a:pPr>
            <a:r>
              <a:rPr lang="en-US" sz="1800"/>
              <a:t>You have a Car class as the base class and a SportsCar class as the derived class. Both classes have a speed member variable, but in the derived class, it’s marked private. You are asked to demonstrate how the different access levels affect member access.</a:t>
            </a:r>
            <a:endParaRPr lang="en-US" sz="1800"/>
          </a:p>
          <a:p>
            <a:pPr marL="0" indent="0" algn="just">
              <a:buNone/>
            </a:pPr>
            <a:endParaRPr lang="en-US" sz="1800"/>
          </a:p>
          <a:p>
            <a:pPr marL="0" indent="0" algn="just">
              <a:buNone/>
            </a:pPr>
            <a:r>
              <a:rPr lang="en-US" sz="1800" b="1">
                <a:latin typeface="Arial Bold" panose="020B0604020202020204" charset="0"/>
                <a:cs typeface="Arial Bold" panose="020B0604020202020204" charset="0"/>
              </a:rPr>
              <a:t>Task:</a:t>
            </a:r>
            <a:endParaRPr lang="en-US" sz="1800" b="1">
              <a:latin typeface="Arial Bold" panose="020B0604020202020204" charset="0"/>
              <a:cs typeface="Arial Bold" panose="020B0604020202020204" charset="0"/>
            </a:endParaRPr>
          </a:p>
          <a:p>
            <a:pPr algn="just"/>
            <a:r>
              <a:rPr lang="en-US" sz="1800"/>
              <a:t>Create a base class Car with a public member speed and a function showSpeed().</a:t>
            </a:r>
            <a:endParaRPr lang="en-US" sz="1800"/>
          </a:p>
          <a:p>
            <a:pPr algn="just"/>
            <a:r>
              <a:rPr lang="en-US" sz="1800"/>
              <a:t>Create a derived class SportsCar that has a private speed member but overrides the showSpeed() function to access the speed member.</a:t>
            </a:r>
            <a:endParaRPr lang="en-US" sz="1800"/>
          </a:p>
          <a:p>
            <a:pPr algn="just"/>
            <a:r>
              <a:rPr lang="en-US" sz="1800"/>
              <a:t>Show what happens when trying to access the speed member using objects of Car and SportsCar.</a:t>
            </a:r>
            <a:endParaRPr 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808595" cy="662305"/>
          </a:xfrm>
        </p:spPr>
        <p:txBody>
          <a:bodyPr>
            <a:normAutofit fontScale="90000"/>
          </a:bodyPr>
          <a:p>
            <a:r>
              <a:rPr lang="en-US"/>
              <a:t>Practise Questions - Question 2</a:t>
            </a:r>
            <a:endParaRPr lang="en-US"/>
          </a:p>
        </p:txBody>
      </p:sp>
      <p:sp>
        <p:nvSpPr>
          <p:cNvPr id="3" name="Content Placeholder 2"/>
          <p:cNvSpPr>
            <a:spLocks noGrp="1"/>
          </p:cNvSpPr>
          <p:nvPr>
            <p:ph idx="1"/>
          </p:nvPr>
        </p:nvSpPr>
        <p:spPr>
          <a:xfrm>
            <a:off x="838200" y="1238250"/>
            <a:ext cx="10709910" cy="5327650"/>
          </a:xfrm>
        </p:spPr>
        <p:txBody>
          <a:bodyPr/>
          <a:p>
            <a:r>
              <a:rPr lang="en-US" b="1">
                <a:latin typeface="Arial Bold" panose="020B0604020202020204" charset="0"/>
                <a:cs typeface="Arial Bold" panose="020B0604020202020204" charset="0"/>
              </a:rPr>
              <a:t>Scenario:</a:t>
            </a:r>
            <a:endParaRPr lang="en-US" b="1">
              <a:latin typeface="Arial Bold" panose="020B0604020202020204" charset="0"/>
              <a:cs typeface="Arial Bold" panose="020B0604020202020204" charset="0"/>
            </a:endParaRPr>
          </a:p>
          <a:p>
            <a:pPr marL="0" indent="0" algn="just">
              <a:buNone/>
            </a:pPr>
            <a:r>
              <a:rPr lang="en-US" sz="1800"/>
              <a:t>You have a Vehicle class with a protected member fuelLevel, which is inherited by Car. You need to access the protected member from within the derived class and explain what happens when trying to access it using an object of the base class.</a:t>
            </a:r>
            <a:endParaRPr lang="en-US" sz="1800"/>
          </a:p>
          <a:p>
            <a:pPr marL="0" indent="0" algn="just">
              <a:buNone/>
            </a:pPr>
            <a:endParaRPr lang="en-US" sz="1800"/>
          </a:p>
          <a:p>
            <a:pPr marL="0" indent="0" algn="just">
              <a:buNone/>
            </a:pPr>
            <a:r>
              <a:rPr lang="en-US" sz="1800" b="1">
                <a:latin typeface="Arial Bold" panose="020B0604020202020204" charset="0"/>
                <a:cs typeface="Arial Bold" panose="020B0604020202020204" charset="0"/>
              </a:rPr>
              <a:t>Task:</a:t>
            </a:r>
            <a:endParaRPr lang="en-US" sz="1800" b="1">
              <a:latin typeface="Arial Bold" panose="020B0604020202020204" charset="0"/>
              <a:cs typeface="Arial Bold" panose="020B0604020202020204" charset="0"/>
            </a:endParaRPr>
          </a:p>
          <a:p>
            <a:pPr algn="just"/>
            <a:r>
              <a:rPr lang="en-US" sz="1800"/>
              <a:t>Create a base class Vehicle with a protected member fuelLevel.</a:t>
            </a:r>
            <a:endParaRPr lang="en-US" sz="1800"/>
          </a:p>
          <a:p>
            <a:pPr algn="just"/>
            <a:r>
              <a:rPr lang="en-US" sz="1800"/>
              <a:t>Create a derived class Car that has a member function to access and display fuelLevel.</a:t>
            </a:r>
            <a:endParaRPr lang="en-US" sz="1800"/>
          </a:p>
          <a:p>
            <a:pPr algn="just"/>
            <a:r>
              <a:rPr lang="en-US" sz="1800"/>
              <a:t>Show what happens when trying to access fuelLevel from an object of Vehicle.</a:t>
            </a:r>
            <a:endParaRPr 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t>Show me the working of these practise questions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1767</Words>
  <Application>WPS Presentation</Application>
  <PresentationFormat>Widescreen</PresentationFormat>
  <Paragraphs>67</Paragraphs>
  <Slides>24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24</vt:i4>
      </vt:variant>
    </vt:vector>
  </HeadingPairs>
  <TitlesOfParts>
    <vt:vector size="37"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宋体-简</vt:lpstr>
      <vt:lpstr>Office Theme</vt:lpstr>
      <vt:lpstr>OOP </vt:lpstr>
      <vt:lpstr>Inheritance </vt:lpstr>
      <vt:lpstr>Inheritance?</vt:lpstr>
      <vt:lpstr>PowerPoint 演示文稿</vt:lpstr>
      <vt:lpstr>PowerPoint 演示文稿</vt:lpstr>
      <vt:lpstr>How constructor is called?</vt:lpstr>
      <vt:lpstr>How destructor is called?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Mode of Inheritance</vt:lpstr>
      <vt:lpstr>PowerPoint 演示文稿</vt:lpstr>
      <vt:lpstr>PowerPoint 演示文稿</vt:lpstr>
      <vt:lpstr>PowerPoint 演示文稿</vt:lpstr>
      <vt:lpstr>PowerPoint 演示文稿</vt:lpstr>
      <vt:lpstr>PowerPoint 演示文稿</vt:lpstr>
      <vt:lpstr>Practise Questions - Question 1</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256</cp:revision>
  <dcterms:created xsi:type="dcterms:W3CDTF">2024-12-09T08:54:53Z</dcterms:created>
  <dcterms:modified xsi:type="dcterms:W3CDTF">2024-12-09T08:54:53Z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