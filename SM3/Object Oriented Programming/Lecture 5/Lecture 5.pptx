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26" r:id="rId3"/>
    <p:sldId id="517" r:id="rId5"/>
    <p:sldId id="542" r:id="rId6"/>
    <p:sldId id="543" r:id="rId7"/>
    <p:sldId id="544" r:id="rId8"/>
    <p:sldId id="545" r:id="rId9"/>
    <p:sldId id="546" r:id="rId10"/>
    <p:sldId id="549" r:id="rId11"/>
    <p:sldId id="547" r:id="rId12"/>
    <p:sldId id="548" r:id="rId13"/>
    <p:sldId id="550" r:id="rId14"/>
    <p:sldId id="551" r:id="rId15"/>
    <p:sldId id="552" r:id="rId16"/>
    <p:sldId id="553" r:id="rId17"/>
    <p:sldId id="50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mraabbas" initials="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3BE717-232F-4F04-8C42-B483AA5BDA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0B4DA-30D8-4F6D-BF35-157D774FB51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ge878c25f7a_0_376:notes"/>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e878c25f7a_0_3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Task 3 contains the code for this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Task 4 contains the code for this</a:t>
            </a:r>
            <a:endParaRPr lang="en-US"/>
          </a:p>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sym typeface="+mn-ea"/>
              </a:rPr>
              <a:t>Task 4 contains the code for this</a:t>
            </a:r>
            <a:endParaRPr lang="en-US"/>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9E9A709E-C215-4E8E-8E45-59E3768F84B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9A709E-C215-4E8E-8E45-59E3768F84B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9A709E-C215-4E8E-8E45-59E3768F84B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3" name="Shape 63"/>
        <p:cNvGrpSpPr/>
        <p:nvPr/>
      </p:nvGrpSpPr>
      <p:grpSpPr>
        <a:xfrm>
          <a:off x="0" y="0"/>
          <a:ext cx="0" cy="0"/>
          <a:chOff x="0" y="0"/>
          <a:chExt cx="0" cy="0"/>
        </a:xfrm>
      </p:grpSpPr>
      <p:sp>
        <p:nvSpPr>
          <p:cNvPr id="64" name="Google Shape;64;p16"/>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5" name="Google Shape;65;p16"/>
          <p:cNvSpPr txBox="1"/>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6"/>
          <p:cNvSpPr txBox="1"/>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600" lvl="0" indent="-457200" rtl="0">
              <a:spcBef>
                <a:spcPts val="0"/>
              </a:spcBef>
              <a:spcAft>
                <a:spcPts val="0"/>
              </a:spcAft>
              <a:buSzPts val="1800"/>
              <a:buChar char="●"/>
              <a:defRPr/>
            </a:lvl1pPr>
            <a:lvl2pPr marL="1219200" lvl="1" indent="-423545" rtl="0">
              <a:spcBef>
                <a:spcPct val="427000"/>
              </a:spcBef>
              <a:spcAft>
                <a:spcPts val="0"/>
              </a:spcAft>
              <a:buSzPts val="1400"/>
              <a:buChar char="○"/>
              <a:defRPr/>
            </a:lvl2pPr>
            <a:lvl3pPr marL="1828800" lvl="2" indent="-423545" rtl="0">
              <a:spcBef>
                <a:spcPct val="427000"/>
              </a:spcBef>
              <a:spcAft>
                <a:spcPts val="0"/>
              </a:spcAft>
              <a:buSzPts val="1400"/>
              <a:buChar char="■"/>
              <a:defRPr/>
            </a:lvl3pPr>
            <a:lvl4pPr marL="2438400" lvl="3" indent="-423545" rtl="0">
              <a:spcBef>
                <a:spcPct val="427000"/>
              </a:spcBef>
              <a:spcAft>
                <a:spcPts val="0"/>
              </a:spcAft>
              <a:buSzPts val="1400"/>
              <a:buChar char="●"/>
              <a:defRPr/>
            </a:lvl4pPr>
            <a:lvl5pPr marL="3048000" lvl="4" indent="-423545" rtl="0">
              <a:spcBef>
                <a:spcPct val="427000"/>
              </a:spcBef>
              <a:spcAft>
                <a:spcPts val="0"/>
              </a:spcAft>
              <a:buSzPts val="1400"/>
              <a:buChar char="○"/>
              <a:defRPr/>
            </a:lvl5pPr>
            <a:lvl6pPr marL="3657600" lvl="5" indent="-423545" rtl="0">
              <a:spcBef>
                <a:spcPct val="427000"/>
              </a:spcBef>
              <a:spcAft>
                <a:spcPts val="0"/>
              </a:spcAft>
              <a:buSzPts val="1400"/>
              <a:buChar char="■"/>
              <a:defRPr/>
            </a:lvl6pPr>
            <a:lvl7pPr marL="4267200" lvl="6" indent="-423545" rtl="0">
              <a:spcBef>
                <a:spcPct val="427000"/>
              </a:spcBef>
              <a:spcAft>
                <a:spcPts val="0"/>
              </a:spcAft>
              <a:buSzPts val="1400"/>
              <a:buChar char="●"/>
              <a:defRPr/>
            </a:lvl7pPr>
            <a:lvl8pPr marL="4876800" lvl="7" indent="-423545" rtl="0">
              <a:spcBef>
                <a:spcPct val="427000"/>
              </a:spcBef>
              <a:spcAft>
                <a:spcPts val="0"/>
              </a:spcAft>
              <a:buSzPts val="1400"/>
              <a:buChar char="○"/>
              <a:defRPr/>
            </a:lvl8pPr>
            <a:lvl9pPr marL="5486400" lvl="8" indent="-423545" rtl="0">
              <a:spcBef>
                <a:spcPct val="427000"/>
              </a:spcBef>
              <a:spcAft>
                <a:spcPts val="1600"/>
              </a:spcAft>
              <a:buSzPts val="1400"/>
              <a:buChar char="■"/>
              <a:defRPr/>
            </a:lvl9pPr>
          </a:lstStyle>
          <a:p/>
        </p:txBody>
      </p:sp>
      <p:sp>
        <p:nvSpPr>
          <p:cNvPr id="67" name="Google Shape;67;p16"/>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6096000" y="10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85" name="Google Shape;85;p21"/>
          <p:cNvCxnSpPr/>
          <p:nvPr/>
        </p:nvCxnSpPr>
        <p:spPr>
          <a:xfrm>
            <a:off x="6706233" y="5994000"/>
            <a:ext cx="624400" cy="0"/>
          </a:xfrm>
          <a:prstGeom prst="straightConnector1">
            <a:avLst/>
          </a:prstGeom>
          <a:noFill/>
          <a:ln w="19050" cap="flat" cmpd="sng">
            <a:solidFill>
              <a:schemeClr val="lt2"/>
            </a:solidFill>
            <a:prstDash val="solid"/>
            <a:round/>
            <a:headEnd type="none" w="sm" len="sm"/>
            <a:tailEnd type="none" w="sm" len="sm"/>
          </a:ln>
        </p:spPr>
      </p:cxnSp>
      <p:sp>
        <p:nvSpPr>
          <p:cNvPr id="86" name="Google Shape;86;p21"/>
          <p:cNvSpPr txBox="1"/>
          <p:nvPr>
            <p:ph type="title"/>
          </p:nvPr>
        </p:nvSpPr>
        <p:spPr>
          <a:xfrm>
            <a:off x="354000" y="1607767"/>
            <a:ext cx="5393600" cy="2012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56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p:txBody>
      </p:sp>
      <p:sp>
        <p:nvSpPr>
          <p:cNvPr id="87" name="Google Shape;87;p21"/>
          <p:cNvSpPr txBox="1"/>
          <p:nvPr>
            <p:ph type="subTitle" idx="1"/>
          </p:nvPr>
        </p:nvSpPr>
        <p:spPr>
          <a:xfrm>
            <a:off x="354000" y="3692001"/>
            <a:ext cx="5393600" cy="179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8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p:txBody>
      </p:sp>
      <p:sp>
        <p:nvSpPr>
          <p:cNvPr id="88" name="Google Shape;88;p21"/>
          <p:cNvSpPr txBox="1"/>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600" lvl="0" indent="-457200" rtl="0">
              <a:spcBef>
                <a:spcPts val="0"/>
              </a:spcBef>
              <a:spcAft>
                <a:spcPts val="0"/>
              </a:spcAft>
              <a:buClr>
                <a:schemeClr val="lt1"/>
              </a:buClr>
              <a:buSzPts val="1800"/>
              <a:buChar char="●"/>
              <a:defRPr>
                <a:solidFill>
                  <a:schemeClr val="lt1"/>
                </a:solidFill>
              </a:defRPr>
            </a:lvl1pPr>
            <a:lvl2pPr marL="1219200" lvl="1" indent="-423545" rtl="0">
              <a:spcBef>
                <a:spcPct val="427000"/>
              </a:spcBef>
              <a:spcAft>
                <a:spcPts val="0"/>
              </a:spcAft>
              <a:buClr>
                <a:schemeClr val="lt1"/>
              </a:buClr>
              <a:buSzPts val="1400"/>
              <a:buChar char="○"/>
              <a:defRPr>
                <a:solidFill>
                  <a:schemeClr val="lt1"/>
                </a:solidFill>
              </a:defRPr>
            </a:lvl2pPr>
            <a:lvl3pPr marL="1828800" lvl="2" indent="-423545" rtl="0">
              <a:spcBef>
                <a:spcPct val="427000"/>
              </a:spcBef>
              <a:spcAft>
                <a:spcPts val="0"/>
              </a:spcAft>
              <a:buClr>
                <a:schemeClr val="lt1"/>
              </a:buClr>
              <a:buSzPts val="1400"/>
              <a:buChar char="■"/>
              <a:defRPr>
                <a:solidFill>
                  <a:schemeClr val="lt1"/>
                </a:solidFill>
              </a:defRPr>
            </a:lvl3pPr>
            <a:lvl4pPr marL="2438400" lvl="3" indent="-423545" rtl="0">
              <a:spcBef>
                <a:spcPct val="427000"/>
              </a:spcBef>
              <a:spcAft>
                <a:spcPts val="0"/>
              </a:spcAft>
              <a:buClr>
                <a:schemeClr val="lt1"/>
              </a:buClr>
              <a:buSzPts val="1400"/>
              <a:buChar char="●"/>
              <a:defRPr>
                <a:solidFill>
                  <a:schemeClr val="lt1"/>
                </a:solidFill>
              </a:defRPr>
            </a:lvl4pPr>
            <a:lvl5pPr marL="3048000" lvl="4" indent="-423545" rtl="0">
              <a:spcBef>
                <a:spcPct val="427000"/>
              </a:spcBef>
              <a:spcAft>
                <a:spcPts val="0"/>
              </a:spcAft>
              <a:buClr>
                <a:schemeClr val="lt1"/>
              </a:buClr>
              <a:buSzPts val="1400"/>
              <a:buChar char="○"/>
              <a:defRPr>
                <a:solidFill>
                  <a:schemeClr val="lt1"/>
                </a:solidFill>
              </a:defRPr>
            </a:lvl5pPr>
            <a:lvl6pPr marL="3657600" lvl="5" indent="-423545" rtl="0">
              <a:spcBef>
                <a:spcPct val="427000"/>
              </a:spcBef>
              <a:spcAft>
                <a:spcPts val="0"/>
              </a:spcAft>
              <a:buClr>
                <a:schemeClr val="lt1"/>
              </a:buClr>
              <a:buSzPts val="1400"/>
              <a:buChar char="■"/>
              <a:defRPr>
                <a:solidFill>
                  <a:schemeClr val="lt1"/>
                </a:solidFill>
              </a:defRPr>
            </a:lvl6pPr>
            <a:lvl7pPr marL="4267200" lvl="6" indent="-423545" rtl="0">
              <a:spcBef>
                <a:spcPct val="427000"/>
              </a:spcBef>
              <a:spcAft>
                <a:spcPts val="0"/>
              </a:spcAft>
              <a:buClr>
                <a:schemeClr val="lt1"/>
              </a:buClr>
              <a:buSzPts val="1400"/>
              <a:buChar char="●"/>
              <a:defRPr>
                <a:solidFill>
                  <a:schemeClr val="lt1"/>
                </a:solidFill>
              </a:defRPr>
            </a:lvl7pPr>
            <a:lvl8pPr marL="4876800" lvl="7" indent="-423545" rtl="0">
              <a:spcBef>
                <a:spcPct val="427000"/>
              </a:spcBef>
              <a:spcAft>
                <a:spcPts val="0"/>
              </a:spcAft>
              <a:buClr>
                <a:schemeClr val="lt1"/>
              </a:buClr>
              <a:buSzPts val="1400"/>
              <a:buChar char="○"/>
              <a:defRPr>
                <a:solidFill>
                  <a:schemeClr val="lt1"/>
                </a:solidFill>
              </a:defRPr>
            </a:lvl8pPr>
            <a:lvl9pPr marL="5486400" lvl="8" indent="-423545" rtl="0">
              <a:spcBef>
                <a:spcPct val="427000"/>
              </a:spcBef>
              <a:spcAft>
                <a:spcPts val="1600"/>
              </a:spcAft>
              <a:buClr>
                <a:schemeClr val="lt1"/>
              </a:buClr>
              <a:buSzPts val="1400"/>
              <a:buChar char="■"/>
              <a:defRPr>
                <a:solidFill>
                  <a:schemeClr val="lt1"/>
                </a:solidFill>
              </a:defRPr>
            </a:lvl9pPr>
          </a:lstStyle>
          <a:p/>
        </p:txBody>
      </p:sp>
      <p:sp>
        <p:nvSpPr>
          <p:cNvPr id="89" name="Google Shape;89;p21"/>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A709E-C215-4E8E-8E45-59E3768F84B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1737CF-34AC-4C2D-ABFC-61A12BD25FF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60" name="Google Shape;60;p13"/>
          <p:cNvSpPr txBox="1"/>
          <p:nvPr>
            <p:ph type="ctrTitle"/>
          </p:nvPr>
        </p:nvSpPr>
        <p:spPr>
          <a:xfrm>
            <a:off x="680600" y="1676400"/>
            <a:ext cx="10830800" cy="2118000"/>
          </a:xfrm>
          <a:prstGeom prst="rect">
            <a:avLst/>
          </a:prstGeom>
        </p:spPr>
        <p:txBody>
          <a:bodyPr spcFirstLastPara="1" wrap="square" lIns="121900" tIns="121900" rIns="121900" bIns="121900" anchor="b" anchorCtr="0">
            <a:normAutofit/>
          </a:bodyPr>
          <a:lstStyle/>
          <a:p>
            <a:pPr marL="0" lvl="0" indent="0" algn="l" rtl="0">
              <a:spcBef>
                <a:spcPts val="0"/>
              </a:spcBef>
              <a:spcAft>
                <a:spcPts val="0"/>
              </a:spcAft>
              <a:buNone/>
            </a:pPr>
            <a:r>
              <a:rPr lang="en-US" altLang="en-GB" sz="8000">
                <a:solidFill>
                  <a:schemeClr val="bg1"/>
                </a:solidFill>
              </a:rPr>
              <a:t>OOP</a:t>
            </a:r>
            <a:r>
              <a:rPr lang="en-GB" sz="8000">
                <a:solidFill>
                  <a:schemeClr val="bg1"/>
                </a:solidFill>
              </a:rPr>
              <a:t> </a:t>
            </a:r>
            <a:endParaRPr lang="en-GB" sz="8000">
              <a:solidFill>
                <a:schemeClr val="bg1"/>
              </a:solidFill>
            </a:endParaRPr>
          </a:p>
        </p:txBody>
      </p:sp>
      <p:cxnSp>
        <p:nvCxnSpPr>
          <p:cNvPr id="63" name="Google Shape;63;p13"/>
          <p:cNvCxnSpPr/>
          <p:nvPr/>
        </p:nvCxnSpPr>
        <p:spPr>
          <a:xfrm rot="10800000" flipH="1">
            <a:off x="820200" y="3979367"/>
            <a:ext cx="8248400" cy="18000"/>
          </a:xfrm>
          <a:prstGeom prst="straightConnector1">
            <a:avLst/>
          </a:prstGeom>
          <a:noFill/>
          <a:ln w="19050" cap="flat" cmpd="sng">
            <a:solidFill>
              <a:schemeClr val="lt1"/>
            </a:solidFill>
            <a:prstDash val="solid"/>
            <a:round/>
            <a:headEnd type="none" w="med" len="med"/>
            <a:tailEnd type="none" w="med" len="med"/>
          </a:ln>
        </p:spPr>
      </p:cxnSp>
      <p:sp>
        <p:nvSpPr>
          <p:cNvPr id="2" name="Subtitle 1"/>
          <p:cNvSpPr/>
          <p:nvPr>
            <p:ph type="subTitle" idx="1"/>
          </p:nvPr>
        </p:nvSpPr>
        <p:spPr/>
        <p:txBody>
          <a:bodyPr/>
          <a:p>
            <a:endParaRPr lang="en-US"/>
          </a:p>
        </p:txBody>
      </p:sp>
      <p:sp>
        <p:nvSpPr>
          <p:cNvPr id="3" name="Subtitle 1"/>
          <p:cNvSpPr/>
          <p:nvPr/>
        </p:nvSpPr>
        <p:spPr>
          <a:xfrm>
            <a:off x="883195" y="4182438"/>
            <a:ext cx="8123100" cy="630000"/>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1pPr>
            <a:lvl2pPr marL="914400" marR="0" lvl="1"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2pPr>
            <a:lvl3pPr marL="1371600" marR="0" lvl="2"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3pPr>
            <a:lvl4pPr marL="1828800" marR="0" lvl="3"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4pPr>
            <a:lvl5pPr marL="2286000" marR="0" lvl="4"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5pPr>
            <a:lvl6pPr marL="2743200" marR="0" lvl="5"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6pPr>
            <a:lvl7pPr marL="3200400" marR="0" lvl="6"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7pPr>
            <a:lvl8pPr marL="3657600" marR="0" lvl="7"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8pPr>
            <a:lvl9pPr marL="4114800" marR="0" lvl="8"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9pPr>
          </a:lstStyle>
          <a:p>
            <a:r>
              <a:rPr lang="en-US"/>
              <a:t>Lecture 1</a:t>
            </a:r>
            <a:endParaRPr lang="en-US"/>
          </a:p>
        </p:txBody>
      </p:sp>
      <p:pic>
        <p:nvPicPr>
          <p:cNvPr id="6" name="Picture 5" descr="abstract-code-blocks-rendered-in-3d-within-the-virtual-space-powerpoint-background_79acb22bd5__960_540"/>
          <p:cNvPicPr>
            <a:picLocks noChangeAspect="1"/>
          </p:cNvPicPr>
          <p:nvPr/>
        </p:nvPicPr>
        <p:blipFill>
          <a:blip r:embed="rId1"/>
          <a:stretch>
            <a:fillRect/>
          </a:stretch>
        </p:blipFill>
        <p:spPr>
          <a:xfrm>
            <a:off x="0" y="-635"/>
            <a:ext cx="12192000" cy="6858635"/>
          </a:xfrm>
          <a:prstGeom prst="rect">
            <a:avLst/>
          </a:prstGeom>
        </p:spPr>
      </p:pic>
      <p:sp>
        <p:nvSpPr>
          <p:cNvPr id="7" name="Text Box 6"/>
          <p:cNvSpPr txBox="1"/>
          <p:nvPr/>
        </p:nvSpPr>
        <p:spPr>
          <a:xfrm>
            <a:off x="680720" y="2073910"/>
            <a:ext cx="10301605" cy="3599815"/>
          </a:xfrm>
          <a:prstGeom prst="rect">
            <a:avLst/>
          </a:prstGeom>
          <a:noFill/>
        </p:spPr>
        <p:txBody>
          <a:bodyPr wrap="square" rtlCol="0">
            <a:spAutoFit/>
          </a:bodyPr>
          <a:p>
            <a:r>
              <a:rPr lang="en-US" sz="7200" b="1">
                <a:solidFill>
                  <a:schemeClr val="bg1"/>
                </a:solidFill>
                <a:latin typeface="Arial Bold" panose="020B0604020202020204" charset="0"/>
                <a:cs typeface="Arial Bold" panose="020B0604020202020204" charset="0"/>
              </a:rPr>
              <a:t>Object Oriented Programming</a:t>
            </a:r>
            <a:endParaRPr lang="en-US" sz="72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a:p>
            <a:r>
              <a:rPr lang="en-US" sz="2800" b="1">
                <a:solidFill>
                  <a:schemeClr val="bg1"/>
                </a:solidFill>
                <a:latin typeface="Arial Bold" panose="020B0604020202020204" charset="0"/>
                <a:cs typeface="Arial Bold" panose="020B0604020202020204" charset="0"/>
              </a:rPr>
              <a:t>Lecture 5</a:t>
            </a:r>
            <a:endParaRPr lang="en-US" sz="28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1520"/>
          </a:xfrm>
        </p:spPr>
        <p:txBody>
          <a:bodyPr/>
          <a:lstStyle/>
          <a:p>
            <a:r>
              <a:rPr lang="en-US" dirty="0"/>
              <a:t>Outline</a:t>
            </a:r>
            <a:endParaRPr lang="en-US" dirty="0"/>
          </a:p>
        </p:txBody>
      </p:sp>
      <p:sp>
        <p:nvSpPr>
          <p:cNvPr id="3" name="Content Placeholder 2"/>
          <p:cNvSpPr>
            <a:spLocks noGrp="1"/>
          </p:cNvSpPr>
          <p:nvPr>
            <p:ph idx="1"/>
          </p:nvPr>
        </p:nvSpPr>
        <p:spPr>
          <a:xfrm>
            <a:off x="838200" y="1097280"/>
            <a:ext cx="10515600" cy="5464175"/>
          </a:xfrm>
        </p:spPr>
        <p:txBody>
          <a:bodyPr>
            <a:normAutofit/>
          </a:bodyPr>
          <a:lstStyle/>
          <a:p>
            <a:r>
              <a:rPr lang="en-US" dirty="0"/>
              <a:t>Getter and Setter Functions</a:t>
            </a:r>
            <a:endParaRPr lang="en-US" dirty="0"/>
          </a:p>
          <a:p>
            <a:r>
              <a:rPr lang="en-US" dirty="0"/>
              <a:t>Practise Questions</a:t>
            </a:r>
            <a:br>
              <a:rPr lang="en-US" dirty="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a:t>Getter/Setter Functions</a:t>
            </a:r>
            <a:endParaRPr lang="en-US" sz="5400" dirty="0"/>
          </a:p>
        </p:txBody>
      </p:sp>
      <p:sp>
        <p:nvSpPr>
          <p:cNvPr id="3" name="Content Placeholder 2"/>
          <p:cNvSpPr>
            <a:spLocks noGrp="1"/>
          </p:cNvSpPr>
          <p:nvPr>
            <p:ph idx="1"/>
          </p:nvPr>
        </p:nvSpPr>
        <p:spPr/>
        <p:txBody>
          <a:bodyPr/>
          <a:lstStyle/>
          <a:p>
            <a:r>
              <a:rPr lang="en-US" dirty="0" smtClean="0"/>
              <a:t>Getter functions (or accessor functions) are used to read value of a private member of some class</a:t>
            </a:r>
            <a:endParaRPr lang="en-US" dirty="0" smtClean="0"/>
          </a:p>
          <a:p>
            <a:endParaRPr lang="en-US" dirty="0"/>
          </a:p>
          <a:p>
            <a:r>
              <a:rPr lang="en-US" dirty="0" smtClean="0"/>
              <a:t>Setter functions (or mutator functions) are used to modify the value of a private member of some class</a:t>
            </a:r>
            <a:endParaRPr lang="en-US"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55" dirty="0"/>
              <a:t>Why Use Getter and Setter Functions?</a:t>
            </a:r>
            <a:endParaRPr lang="en-US" sz="3555" dirty="0"/>
          </a:p>
        </p:txBody>
      </p:sp>
      <p:sp>
        <p:nvSpPr>
          <p:cNvPr id="3" name="Content Placeholder 2"/>
          <p:cNvSpPr>
            <a:spLocks noGrp="1"/>
          </p:cNvSpPr>
          <p:nvPr>
            <p:ph idx="1"/>
          </p:nvPr>
        </p:nvSpPr>
        <p:spPr>
          <a:xfrm>
            <a:off x="838200" y="1549400"/>
            <a:ext cx="10222865" cy="4627880"/>
          </a:xfrm>
        </p:spPr>
        <p:txBody>
          <a:bodyPr>
            <a:normAutofit fontScale="90000"/>
          </a:bodyPr>
          <a:lstStyle/>
          <a:p>
            <a:pPr marL="0" indent="0">
              <a:buNone/>
            </a:pPr>
            <a:endParaRPr lang="en-US" dirty="0" smtClean="0"/>
          </a:p>
          <a:p>
            <a:pPr algn="just"/>
            <a:r>
              <a:rPr lang="en-US" dirty="0" smtClean="0"/>
              <a:t>Encapsulation: Protects the data by making private data members inaccessible from outside the class.</a:t>
            </a:r>
            <a:endParaRPr lang="en-US" dirty="0" smtClean="0"/>
          </a:p>
          <a:p>
            <a:pPr algn="just"/>
            <a:r>
              <a:rPr lang="en-US" dirty="0" smtClean="0"/>
              <a:t>Control: Allows you to control how data is accessed and modified.</a:t>
            </a:r>
            <a:endParaRPr lang="en-US" dirty="0" smtClean="0"/>
          </a:p>
          <a:p>
            <a:pPr algn="just"/>
            <a:endParaRPr lang="en-US" dirty="0" smtClean="0"/>
          </a:p>
          <a:p>
            <a:pPr marL="0" indent="0" algn="just">
              <a:buNone/>
            </a:pPr>
            <a:r>
              <a:rPr lang="en-US" b="1" dirty="0" smtClean="0">
                <a:latin typeface="Arial Bold" panose="020B0604020202020204" charset="0"/>
                <a:cs typeface="Arial Bold" panose="020B0604020202020204" charset="0"/>
              </a:rPr>
              <a:t>Basic Structure</a:t>
            </a:r>
            <a:endParaRPr lang="en-US" b="1" dirty="0" smtClean="0">
              <a:latin typeface="Arial Bold" panose="020B0604020202020204" charset="0"/>
              <a:cs typeface="Arial Bold" panose="020B0604020202020204" charset="0"/>
            </a:endParaRPr>
          </a:p>
          <a:p>
            <a:pPr marL="0" indent="0" algn="just">
              <a:buNone/>
            </a:pPr>
            <a:endParaRPr lang="en-US" dirty="0" smtClean="0"/>
          </a:p>
          <a:p>
            <a:pPr algn="just"/>
            <a:r>
              <a:rPr lang="en-US" dirty="0" smtClean="0"/>
              <a:t>Private Data Members: These are the variables you want to protect.</a:t>
            </a:r>
            <a:endParaRPr lang="en-US" dirty="0" smtClean="0"/>
          </a:p>
          <a:p>
            <a:pPr algn="just"/>
            <a:r>
              <a:rPr lang="en-US" dirty="0" smtClean="0"/>
              <a:t>Public Getter and Setter Methods: These methods allow controlled access to the private data.</a:t>
            </a:r>
            <a:endParaRPr lang="en-US"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Data and Member Function</a:t>
            </a:r>
            <a:endParaRPr lang="en-US" dirty="0"/>
          </a:p>
        </p:txBody>
      </p:sp>
      <p:sp>
        <p:nvSpPr>
          <p:cNvPr id="3" name="Content Placeholder 2"/>
          <p:cNvSpPr>
            <a:spLocks noGrp="1"/>
          </p:cNvSpPr>
          <p:nvPr>
            <p:ph idx="1"/>
          </p:nvPr>
        </p:nvSpPr>
        <p:spPr/>
        <p:txBody>
          <a:bodyPr/>
          <a:lstStyle/>
          <a:p>
            <a:r>
              <a:rPr lang="en-US" dirty="0"/>
              <a:t>Access specifier label public, private, and protected</a:t>
            </a:r>
            <a:endParaRPr lang="en-US" dirty="0"/>
          </a:p>
          <a:p>
            <a:r>
              <a:rPr lang="en-US" dirty="0"/>
              <a:t>Function are public and data is private</a:t>
            </a:r>
            <a:endParaRPr lang="en-US" dirty="0"/>
          </a:p>
          <a:p>
            <a:r>
              <a:rPr lang="en-US" dirty="0"/>
              <a:t>Data is hidden so that it can be safe from accidental manipulation</a:t>
            </a:r>
            <a:endParaRPr lang="en-US" dirty="0"/>
          </a:p>
          <a:p>
            <a:r>
              <a:rPr lang="en-US" dirty="0"/>
              <a:t>Function operates on data are public so they can be accessed from outside the class</a:t>
            </a:r>
            <a:endParaRPr lang="en-US" dirty="0" smtClean="0"/>
          </a:p>
          <a:p>
            <a:pPr marL="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Data and Member Function</a:t>
            </a:r>
            <a:endParaRPr lang="en-US" dirty="0"/>
          </a:p>
        </p:txBody>
      </p:sp>
      <p:sp>
        <p:nvSpPr>
          <p:cNvPr id="3" name="Content Placeholder 2"/>
          <p:cNvSpPr>
            <a:spLocks noGrp="1"/>
          </p:cNvSpPr>
          <p:nvPr>
            <p:ph idx="1"/>
          </p:nvPr>
        </p:nvSpPr>
        <p:spPr/>
        <p:txBody>
          <a:bodyPr/>
          <a:lstStyle/>
          <a:p>
            <a:r>
              <a:rPr lang="en-US" dirty="0"/>
              <a:t>Access specifier label public, private, and protected</a:t>
            </a:r>
            <a:endParaRPr lang="en-US" dirty="0"/>
          </a:p>
          <a:p>
            <a:r>
              <a:rPr lang="en-US" dirty="0"/>
              <a:t>Function are public and data is private</a:t>
            </a:r>
            <a:endParaRPr lang="en-US" dirty="0"/>
          </a:p>
          <a:p>
            <a:r>
              <a:rPr lang="en-US" dirty="0"/>
              <a:t>Data is hidden so that it can be safe from accidental manipulation</a:t>
            </a:r>
            <a:endParaRPr lang="en-US" dirty="0"/>
          </a:p>
          <a:p>
            <a:r>
              <a:rPr lang="en-US" dirty="0"/>
              <a:t>Function operates on data are public so they can be accessed from outside the class</a:t>
            </a:r>
            <a:endParaRPr lang="en-US" dirty="0" smtClean="0"/>
          </a:p>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Accessing Class Members</a:t>
            </a:r>
            <a:endParaRPr lang="en-US" dirty="0"/>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7400" y="2928936"/>
            <a:ext cx="8153400" cy="1369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 Class Methods </a:t>
            </a:r>
            <a:endParaRPr lang="en-US" dirty="0"/>
          </a:p>
        </p:txBody>
      </p:sp>
      <p:sp>
        <p:nvSpPr>
          <p:cNvPr id="3" name="Content Placeholder 2"/>
          <p:cNvSpPr>
            <a:spLocks noGrp="1"/>
          </p:cNvSpPr>
          <p:nvPr>
            <p:ph idx="1"/>
          </p:nvPr>
        </p:nvSpPr>
        <p:spPr>
          <a:xfrm>
            <a:off x="838200" y="1691640"/>
            <a:ext cx="10515600" cy="4485640"/>
          </a:xfrm>
        </p:spPr>
        <p:txBody>
          <a:bodyPr/>
          <a:lstStyle/>
          <a:p>
            <a:pPr marL="0" indent="0">
              <a:buNone/>
            </a:pPr>
            <a:r>
              <a:rPr lang="en-US" b="1">
                <a:latin typeface="Arial Bold" panose="020B0604020202020204" charset="0"/>
                <a:cs typeface="Arial Bold" panose="020B0604020202020204" charset="0"/>
              </a:rPr>
              <a:t>Methods are functions that belongs to the class.</a:t>
            </a:r>
            <a:endParaRPr lang="en-US" b="1">
              <a:latin typeface="Arial Bold" panose="020B0604020202020204" charset="0"/>
              <a:cs typeface="Arial Bold" panose="020B0604020202020204" charset="0"/>
            </a:endParaRPr>
          </a:p>
          <a:p>
            <a:pPr marL="0" indent="0">
              <a:buNone/>
            </a:pPr>
            <a:r>
              <a:rPr lang="en-US" b="1">
                <a:latin typeface="Arial Bold" panose="020B0604020202020204" charset="0"/>
                <a:cs typeface="Arial Bold" panose="020B0604020202020204" charset="0"/>
              </a:rPr>
              <a:t>There are two ways to define functions that belongs to a class:</a:t>
            </a:r>
            <a:endParaRPr lang="en-US"/>
          </a:p>
          <a:p>
            <a:r>
              <a:rPr lang="en-US"/>
              <a:t>Inside class definition</a:t>
            </a:r>
            <a:endParaRPr lang="en-US"/>
          </a:p>
          <a:p>
            <a:r>
              <a:rPr lang="en-US"/>
              <a:t>Outside class definition</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Inside Class Body</a:t>
            </a:r>
            <a:endParaRPr lang="en-US" dirty="0"/>
          </a:p>
        </p:txBody>
      </p:sp>
      <p:sp>
        <p:nvSpPr>
          <p:cNvPr id="3" name="Content Placeholder 2"/>
          <p:cNvSpPr>
            <a:spLocks noGrp="1"/>
          </p:cNvSpPr>
          <p:nvPr>
            <p:ph idx="1"/>
          </p:nvPr>
        </p:nvSpPr>
        <p:spPr/>
        <p:txBody>
          <a:bodyPr/>
          <a:lstStyle/>
          <a:p>
            <a:pPr marL="0" indent="0">
              <a:buNone/>
            </a:pPr>
            <a:r>
              <a:rPr lang="en-US" dirty="0"/>
              <a:t>Class </a:t>
            </a:r>
            <a:r>
              <a:rPr lang="en-US" dirty="0">
                <a:solidFill>
                  <a:srgbClr val="FF0000"/>
                </a:solidFill>
              </a:rPr>
              <a:t>ClassName </a:t>
            </a:r>
            <a:r>
              <a:rPr lang="en-US" dirty="0">
                <a:solidFill>
                  <a:schemeClr val="tx1"/>
                </a:solidFill>
              </a:rPr>
              <a:t>{</a:t>
            </a:r>
            <a:endParaRPr lang="en-US" dirty="0">
              <a:solidFill>
                <a:srgbClr val="FF0000"/>
              </a:solidFill>
            </a:endParaRPr>
          </a:p>
          <a:p>
            <a:pPr marL="0" indent="0">
              <a:buNone/>
            </a:pPr>
            <a:r>
              <a:rPr lang="en-US" dirty="0"/>
              <a:t>....</a:t>
            </a:r>
            <a:endParaRPr lang="en-US" dirty="0"/>
          </a:p>
          <a:p>
            <a:pPr marL="0" indent="0">
              <a:buNone/>
            </a:pPr>
            <a:r>
              <a:rPr lang="en-US" dirty="0"/>
              <a:t>	public:</a:t>
            </a:r>
            <a:endParaRPr lang="en-US" dirty="0"/>
          </a:p>
          <a:p>
            <a:pPr marL="0" indent="0">
              <a:buNone/>
            </a:pPr>
            <a:r>
              <a:rPr lang="en-US" dirty="0"/>
              <a:t>	ReturnType FunctionName()  {</a:t>
            </a:r>
            <a:endParaRPr lang="en-US" dirty="0"/>
          </a:p>
          <a:p>
            <a:pPr marL="0" indent="0">
              <a:buNone/>
            </a:pPr>
            <a:r>
              <a:rPr lang="en-US" dirty="0"/>
              <a:t>....</a:t>
            </a:r>
            <a:endParaRPr lang="en-US" dirty="0"/>
          </a:p>
          <a:p>
            <a:pPr marL="0" indent="0">
              <a:buNone/>
            </a:pPr>
            <a:r>
              <a:rPr lang="en-US" dirty="0"/>
              <a:t>	}</a:t>
            </a:r>
            <a:endParaRPr lang="en-US" dirty="0"/>
          </a:p>
          <a:p>
            <a:pPr marL="0" indent="0">
              <a:buNone/>
            </a:pPr>
            <a:r>
              <a:rPr lang="en-US" dirty="0"/>
              <a: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33475"/>
          </a:xfrm>
        </p:spPr>
        <p:txBody>
          <a:bodyPr>
            <a:normAutofit/>
          </a:bodyPr>
          <a:lstStyle/>
          <a:p>
            <a:r>
              <a:rPr lang="en-US" sz="3110" dirty="0">
                <a:solidFill>
                  <a:srgbClr val="FF0000"/>
                </a:solidFill>
              </a:rPr>
              <a:t>Program Example - Inside Class Function (My Notes)</a:t>
            </a:r>
            <a:endParaRPr lang="en-US" sz="3110" dirty="0">
              <a:solidFill>
                <a:srgbClr val="FF0000"/>
              </a:solidFill>
            </a:endParaRPr>
          </a:p>
        </p:txBody>
      </p:sp>
      <p:sp>
        <p:nvSpPr>
          <p:cNvPr id="3" name="Content Placeholder 2"/>
          <p:cNvSpPr>
            <a:spLocks noGrp="1"/>
          </p:cNvSpPr>
          <p:nvPr>
            <p:ph idx="1"/>
          </p:nvPr>
        </p:nvSpPr>
        <p:spPr>
          <a:xfrm>
            <a:off x="838200" y="1497965"/>
            <a:ext cx="10914380" cy="4679315"/>
          </a:xfrm>
        </p:spPr>
        <p:txBody>
          <a:bodyPr/>
          <a:lstStyle/>
          <a:p>
            <a:r>
              <a:rPr lang="en-US" dirty="0"/>
              <a:t>Define a function inside the class, and we name it "myMethod".</a:t>
            </a:r>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75385"/>
            <a:ext cx="10914380" cy="5001895"/>
          </a:xfrm>
        </p:spPr>
        <p:txBody>
          <a:bodyPr/>
          <a:lstStyle/>
          <a:p>
            <a:pPr marL="0" indent="0">
              <a:buNone/>
            </a:pPr>
            <a:r>
              <a:rPr lang="en-US" dirty="0"/>
              <a:t>To define a function outside the class definition, you have to declare it inside the class and then define it outside of the class. This is done by specifiying the name of the class, followed the scope resolution :: operator, followed by the name of the function:</a:t>
            </a:r>
            <a:endParaRPr lang="en-US" dirty="0"/>
          </a:p>
        </p:txBody>
      </p:sp>
      <p:sp>
        <p:nvSpPr>
          <p:cNvPr id="4" name="Text Box 3"/>
          <p:cNvSpPr txBox="1"/>
          <p:nvPr/>
        </p:nvSpPr>
        <p:spPr>
          <a:xfrm>
            <a:off x="945515" y="361315"/>
            <a:ext cx="7115810" cy="521970"/>
          </a:xfrm>
          <a:prstGeom prst="rect">
            <a:avLst/>
          </a:prstGeom>
          <a:noFill/>
        </p:spPr>
        <p:txBody>
          <a:bodyPr wrap="none" rtlCol="0" anchor="t">
            <a:spAutoFit/>
          </a:bodyPr>
          <a:p>
            <a:r>
              <a:rPr lang="en-US" sz="2800" dirty="0">
                <a:solidFill>
                  <a:srgbClr val="FF0000"/>
                </a:solidFill>
                <a:sym typeface="+mn-ea"/>
              </a:rPr>
              <a:t>Program Example - Outside Class Function </a:t>
            </a:r>
            <a:endParaRPr lang="en-US" sz="2800" dirty="0">
              <a:solidFill>
                <a:srgbClr val="FF0000"/>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019810" y="299720"/>
            <a:ext cx="8853170" cy="521970"/>
          </a:xfrm>
          <a:prstGeom prst="rect">
            <a:avLst/>
          </a:prstGeom>
          <a:noFill/>
        </p:spPr>
        <p:txBody>
          <a:bodyPr wrap="none" rtlCol="0" anchor="t">
            <a:spAutoFit/>
          </a:bodyPr>
          <a:p>
            <a:r>
              <a:rPr lang="en-US" sz="2800" dirty="0">
                <a:solidFill>
                  <a:srgbClr val="FF0000"/>
                </a:solidFill>
                <a:sym typeface="+mn-ea"/>
              </a:rPr>
              <a:t>Program Example - Outside Class Function (My Notes)</a:t>
            </a:r>
            <a:endParaRPr lang="en-US" sz="2800" dirty="0">
              <a:solidFill>
                <a:srgbClr val="FF0000"/>
              </a:solidFill>
              <a:sym typeface="+mn-ea"/>
            </a:endParaRPr>
          </a:p>
        </p:txBody>
      </p:sp>
      <p:sp>
        <p:nvSpPr>
          <p:cNvPr id="5" name="Content Placeholder 4"/>
          <p:cNvSpPr/>
          <p:nvPr>
            <p:ph idx="1"/>
          </p:nvPr>
        </p:nvSpPr>
        <p:spPr/>
        <p:txBody>
          <a:bodyPr/>
          <a:p>
            <a:r>
              <a:rPr lang="en-US"/>
              <a:t>Implement the same function but this time outside the class.</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019810" y="299720"/>
            <a:ext cx="3224530" cy="521970"/>
          </a:xfrm>
          <a:prstGeom prst="rect">
            <a:avLst/>
          </a:prstGeom>
          <a:noFill/>
        </p:spPr>
        <p:txBody>
          <a:bodyPr wrap="none" rtlCol="0" anchor="t">
            <a:spAutoFit/>
          </a:bodyPr>
          <a:p>
            <a:r>
              <a:rPr lang="en-US" sz="2800" dirty="0">
                <a:solidFill>
                  <a:srgbClr val="FF0000"/>
                </a:solidFill>
                <a:sym typeface="+mn-ea"/>
              </a:rPr>
              <a:t>Adding Parameters</a:t>
            </a:r>
            <a:endParaRPr lang="en-US" sz="2800" dirty="0">
              <a:solidFill>
                <a:srgbClr val="FF0000"/>
              </a:solidFill>
              <a:sym typeface="+mn-ea"/>
            </a:endParaRPr>
          </a:p>
        </p:txBody>
      </p:sp>
      <p:sp>
        <p:nvSpPr>
          <p:cNvPr id="5" name="Content Placeholder 4"/>
          <p:cNvSpPr/>
          <p:nvPr>
            <p:ph idx="1"/>
          </p:nvPr>
        </p:nvSpPr>
        <p:spPr>
          <a:xfrm>
            <a:off x="838200" y="1411605"/>
            <a:ext cx="10515600" cy="4765675"/>
          </a:xfrm>
        </p:spPr>
        <p:txBody>
          <a:bodyPr/>
          <a:p>
            <a:pPr marL="0" indent="0">
              <a:buNone/>
            </a:pPr>
            <a:r>
              <a:rPr lang="en-US"/>
              <a:t>Now your task is to define a class “Car” with a speed() method that takes an integer “maxSpeed” and returns it. In the main function, an object of Car is created, and the speed() method is called with the value 200, which is then printed on the screen.</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27710"/>
          </a:xfrm>
        </p:spPr>
        <p:txBody>
          <a:bodyPr/>
          <a:p>
            <a:r>
              <a:rPr lang="en-US"/>
              <a:t>Solution:</a:t>
            </a:r>
            <a:endParaRPr lang="en-US"/>
          </a:p>
        </p:txBody>
      </p:sp>
      <p:pic>
        <p:nvPicPr>
          <p:cNvPr id="4" name="Content Placeholder 3" descr="Image 07-10-2024 at 1.51 PM"/>
          <p:cNvPicPr>
            <a:picLocks noChangeAspect="1"/>
          </p:cNvPicPr>
          <p:nvPr>
            <p:ph idx="1"/>
          </p:nvPr>
        </p:nvPicPr>
        <p:blipFill>
          <a:blip r:embed="rId1"/>
          <a:stretch>
            <a:fillRect/>
          </a:stretch>
        </p:blipFill>
        <p:spPr>
          <a:xfrm>
            <a:off x="838200" y="1352550"/>
            <a:ext cx="10515600" cy="45916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p:nvPr>
            <p:ph type="body" idx="1"/>
          </p:nvPr>
        </p:nvSpPr>
        <p:spPr>
          <a:xfrm>
            <a:off x="415290" y="2569845"/>
            <a:ext cx="11360785" cy="3522345"/>
          </a:xfrm>
        </p:spPr>
        <p:txBody>
          <a:bodyPr/>
          <a:p>
            <a:pPr marL="152400" indent="0" algn="ctr">
              <a:buNone/>
            </a:pPr>
            <a:r>
              <a:rPr lang="en-US"/>
              <a:t>End of Lecture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2351</Words>
  <Application>WPS Presentation</Application>
  <PresentationFormat>Widescreen</PresentationFormat>
  <Paragraphs>86</Paragraphs>
  <Slides>15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Proxima Nova</vt:lpstr>
      <vt:lpstr>Thonburi</vt:lpstr>
      <vt:lpstr>Arial Bold</vt:lpstr>
      <vt:lpstr>Microsoft YaHei</vt:lpstr>
      <vt:lpstr>汉仪旗黑</vt:lpstr>
      <vt:lpstr>Arial Unicode MS</vt:lpstr>
      <vt:lpstr>Calibri</vt:lpstr>
      <vt:lpstr>Helvetica Neue</vt:lpstr>
      <vt:lpstr>宋体-简</vt:lpstr>
      <vt:lpstr>Office Theme</vt:lpstr>
      <vt:lpstr>OOP </vt:lpstr>
      <vt:lpstr>Outline</vt:lpstr>
      <vt:lpstr>Getter/Setter Functions</vt:lpstr>
      <vt:lpstr>Why Use Getter and Setter Functions?</vt:lpstr>
      <vt:lpstr>Class Data and Member Function</vt:lpstr>
      <vt:lpstr>Class Data and Member Function</vt:lpstr>
      <vt:lpstr>Accessing Class Members</vt:lpstr>
      <vt:lpstr>Accessing Class Members</vt:lpstr>
      <vt:lpstr>Function Inside Class Body</vt:lpstr>
      <vt:lpstr>Program</vt:lpstr>
      <vt:lpstr>Program Example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CSC-321</dc:title>
  <dc:creator>User</dc:creator>
  <cp:lastModifiedBy>Nimra Abbas</cp:lastModifiedBy>
  <cp:revision>181</cp:revision>
  <dcterms:created xsi:type="dcterms:W3CDTF">2024-10-07T08:52:06Z</dcterms:created>
  <dcterms:modified xsi:type="dcterms:W3CDTF">2024-10-07T08:52:06Z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