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63" r:id="rId2"/>
    <p:sldId id="264" r:id="rId3"/>
    <p:sldId id="265" r:id="rId4"/>
    <p:sldId id="266" r:id="rId5"/>
    <p:sldId id="269" r:id="rId6"/>
    <p:sldId id="270" r:id="rId7"/>
    <p:sldId id="267" r:id="rId8"/>
    <p:sldId id="268" r:id="rId9"/>
    <p:sldId id="277" r:id="rId10"/>
    <p:sldId id="272" r:id="rId11"/>
    <p:sldId id="273" r:id="rId12"/>
    <p:sldId id="274" r:id="rId13"/>
    <p:sldId id="278" r:id="rId14"/>
    <p:sldId id="280" r:id="rId15"/>
    <p:sldId id="286" r:id="rId16"/>
    <p:sldId id="287" r:id="rId17"/>
    <p:sldId id="289" r:id="rId18"/>
    <p:sldId id="271" r:id="rId19"/>
    <p:sldId id="281" r:id="rId20"/>
    <p:sldId id="283" r:id="rId21"/>
    <p:sldId id="282" r:id="rId22"/>
    <p:sldId id="290" r:id="rId23"/>
    <p:sldId id="293" r:id="rId24"/>
    <p:sldId id="295" r:id="rId25"/>
    <p:sldId id="294" r:id="rId26"/>
    <p:sldId id="256" r:id="rId27"/>
    <p:sldId id="257" r:id="rId28"/>
    <p:sldId id="258" r:id="rId29"/>
    <p:sldId id="259" r:id="rId30"/>
    <p:sldId id="261" r:id="rId31"/>
    <p:sldId id="260" r:id="rId32"/>
    <p:sldId id="262" r:id="rId33"/>
    <p:sldId id="285" r:id="rId34"/>
    <p:sldId id="296" r:id="rId35"/>
    <p:sldId id="292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39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529BD-C105-433B-AE71-36FBD432CF63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29957-9F00-43BB-AD24-88D35CD193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6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029957-9F00-43BB-AD24-88D35CD1936D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DA66-4F2E-4FDE-ACA3-29D612E68DE3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9EB-7413-4A27-81F8-D487A76F6C1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DA66-4F2E-4FDE-ACA3-29D612E68DE3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9EB-7413-4A27-81F8-D487A76F6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DA66-4F2E-4FDE-ACA3-29D612E68DE3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9EB-7413-4A27-81F8-D487A76F6C1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DA66-4F2E-4FDE-ACA3-29D612E68DE3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9EB-7413-4A27-81F8-D487A76F6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DA66-4F2E-4FDE-ACA3-29D612E68DE3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9EB-7413-4A27-81F8-D487A76F6C1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DA66-4F2E-4FDE-ACA3-29D612E68DE3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9EB-7413-4A27-81F8-D487A76F6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DA66-4F2E-4FDE-ACA3-29D612E68DE3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9EB-7413-4A27-81F8-D487A76F6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DA66-4F2E-4FDE-ACA3-29D612E68DE3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9EB-7413-4A27-81F8-D487A76F6C1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DA66-4F2E-4FDE-ACA3-29D612E68DE3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9EB-7413-4A27-81F8-D487A76F6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DA66-4F2E-4FDE-ACA3-29D612E68DE3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9EB-7413-4A27-81F8-D487A76F6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3DA66-4F2E-4FDE-ACA3-29D612E68DE3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9EB-7413-4A27-81F8-D487A76F6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C63DA66-4F2E-4FDE-ACA3-29D612E68DE3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06C79EB-7413-4A27-81F8-D487A76F6C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Relations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Relations and Their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Relations</a:t>
            </a:r>
          </a:p>
          <a:p>
            <a:pPr>
              <a:buNone/>
            </a:pPr>
            <a:r>
              <a:rPr lang="en-US" dirty="0"/>
              <a:t>	Let </a:t>
            </a:r>
            <a:r>
              <a:rPr lang="en-US" i="1" dirty="0"/>
              <a:t>A and B be sets. A binary relation from A to B is a </a:t>
            </a:r>
            <a:r>
              <a:rPr lang="en-US" i="1" dirty="0">
                <a:solidFill>
                  <a:srgbClr val="FF0000"/>
                </a:solidFill>
              </a:rPr>
              <a:t>subset of A × B.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	Let </a:t>
            </a:r>
            <a:r>
              <a:rPr lang="en-US" i="1" dirty="0"/>
              <a:t>A be the set of students in your school, and let B be the set of courses.</a:t>
            </a:r>
          </a:p>
          <a:p>
            <a:pPr>
              <a:buNone/>
            </a:pPr>
            <a:r>
              <a:rPr lang="en-US" i="1" dirty="0"/>
              <a:t>	Let R be </a:t>
            </a:r>
            <a:r>
              <a:rPr lang="en-US" dirty="0"/>
              <a:t>the relation that consists of those pairs </a:t>
            </a:r>
            <a:r>
              <a:rPr lang="en-US" i="1" dirty="0"/>
              <a:t>(a, b), where a is a student enrolled in course b.</a:t>
            </a:r>
          </a:p>
          <a:p>
            <a:pPr>
              <a:buNone/>
            </a:pPr>
            <a:r>
              <a:rPr lang="en-US" dirty="0"/>
              <a:t>	For instance, if John  and David are enrolled in CS518, the pairs </a:t>
            </a:r>
          </a:p>
          <a:p>
            <a:pPr>
              <a:buNone/>
            </a:pPr>
            <a:r>
              <a:rPr lang="en-US" dirty="0"/>
              <a:t>   ( John, CS518) and (David, CS518) belong to </a:t>
            </a:r>
            <a:r>
              <a:rPr lang="en-US" i="1" dirty="0"/>
              <a:t>R. </a:t>
            </a:r>
          </a:p>
          <a:p>
            <a:pPr>
              <a:buNone/>
            </a:pPr>
            <a:r>
              <a:rPr lang="en-US" i="1" dirty="0"/>
              <a:t>   If </a:t>
            </a:r>
            <a:r>
              <a:rPr lang="en-US" dirty="0"/>
              <a:t>John is also enrolled in CS510, then the pair (John, CS510) is also in </a:t>
            </a:r>
            <a:r>
              <a:rPr lang="en-US" i="1" dirty="0"/>
              <a:t>R. </a:t>
            </a:r>
          </a:p>
          <a:p>
            <a:pPr>
              <a:buNone/>
            </a:pPr>
            <a:r>
              <a:rPr lang="en-US" i="1" dirty="0"/>
              <a:t>	However, </a:t>
            </a:r>
            <a:r>
              <a:rPr lang="en-US" dirty="0"/>
              <a:t>if David is not enrolled in CS510, then the pair (David, CS510) is not in </a:t>
            </a:r>
            <a:r>
              <a:rPr lang="en-US" i="1" dirty="0"/>
              <a:t>R.</a:t>
            </a:r>
          </a:p>
          <a:p>
            <a:r>
              <a:rPr lang="en-US" dirty="0"/>
              <a:t>Note that if a student is not currently enrolled in any courses there </a:t>
            </a:r>
            <a:r>
              <a:rPr lang="en-US" dirty="0">
                <a:solidFill>
                  <a:srgbClr val="FF0000"/>
                </a:solidFill>
              </a:rPr>
              <a:t>will be no pairs in </a:t>
            </a:r>
            <a:r>
              <a:rPr lang="en-US" i="1" dirty="0">
                <a:solidFill>
                  <a:srgbClr val="FF0000"/>
                </a:solidFill>
              </a:rPr>
              <a:t>R </a:t>
            </a:r>
            <a:r>
              <a:rPr lang="en-US" i="1" dirty="0"/>
              <a:t>that </a:t>
            </a:r>
            <a:r>
              <a:rPr lang="en-US" dirty="0"/>
              <a:t>have this student as the first element. Similarly, if a </a:t>
            </a:r>
            <a:r>
              <a:rPr lang="en-US" dirty="0">
                <a:solidFill>
                  <a:srgbClr val="FF0000"/>
                </a:solidFill>
              </a:rPr>
              <a:t>course is not currently being offered there will be no pairs in </a:t>
            </a:r>
            <a:r>
              <a:rPr lang="en-US" i="1" dirty="0">
                <a:solidFill>
                  <a:srgbClr val="FF0000"/>
                </a:solidFill>
              </a:rPr>
              <a:t>R</a:t>
            </a:r>
            <a:r>
              <a:rPr lang="en-US" i="1" dirty="0"/>
              <a:t> that have this course as their second element.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Graphical Representation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i="1" dirty="0"/>
              <a:t>A = {0, 1, 2} and B = {a, b}. Then {(0, a), (0, b), (1, a), (2, b)} is a relation from A to B.</a:t>
            </a:r>
          </a:p>
          <a:p>
            <a:r>
              <a:rPr lang="en-US" dirty="0"/>
              <a:t>This means, for instance, that 0</a:t>
            </a:r>
            <a:r>
              <a:rPr lang="en-US" i="1" dirty="0"/>
              <a:t>R a, but that 1R b. Relations can be represented graphically a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81400"/>
            <a:ext cx="1828800" cy="2586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3733800"/>
            <a:ext cx="2176462" cy="2266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>
          <a:xfrm flipV="1">
            <a:off x="6858000" y="2514600"/>
            <a:ext cx="228600" cy="2286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Relations on a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 </a:t>
            </a:r>
            <a:r>
              <a:rPr lang="en-US" i="1" dirty="0"/>
              <a:t>relation on a set A is a relation from A to A.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Let </a:t>
            </a:r>
            <a:r>
              <a:rPr lang="en-US" i="1" dirty="0"/>
              <a:t>A be the set {1, 2, 3, 4}. Which ordered pairs are in the relation R = {(a, b) | a divides b}?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b="1" i="1" dirty="0">
                <a:solidFill>
                  <a:srgbClr val="FF0000"/>
                </a:solidFill>
              </a:rPr>
              <a:t>Solution:</a:t>
            </a:r>
            <a:r>
              <a:rPr lang="en-US" i="1" dirty="0"/>
              <a:t> </a:t>
            </a:r>
          </a:p>
          <a:p>
            <a:pPr>
              <a:buNone/>
            </a:pPr>
            <a:r>
              <a:rPr lang="en-US" i="1" dirty="0"/>
              <a:t>	Because (a, b) is in R if and only if a and b are positive integers not exceeding 4 such </a:t>
            </a:r>
            <a:r>
              <a:rPr lang="en-US" dirty="0"/>
              <a:t>that </a:t>
            </a:r>
            <a:r>
              <a:rPr lang="en-US" i="1" dirty="0"/>
              <a:t>a divides b, we see that</a:t>
            </a:r>
          </a:p>
          <a:p>
            <a:pPr>
              <a:buNone/>
            </a:pPr>
            <a:r>
              <a:rPr lang="pt-BR" i="1" dirty="0"/>
              <a:t>R = {(1,1), (1, 2), (1, 3), (1, 4), (2, 2), (2, 4), (3, 3), (4, 4)}</a:t>
            </a:r>
          </a:p>
          <a:p>
            <a:pPr>
              <a:buNone/>
            </a:pPr>
            <a:r>
              <a:rPr lang="en-US" dirty="0"/>
              <a:t>graphically and in tabular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4458447"/>
            <a:ext cx="1676400" cy="2399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4724400"/>
            <a:ext cx="1724025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Consider these relations on the set of integers: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	Which of these relations contain each of the pairs </a:t>
            </a:r>
            <a:r>
              <a:rPr lang="en-US" i="1" dirty="0"/>
              <a:t>(1, 1), (1, 2), (2, 1), (1,−1), and (2, 2)?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Solution:</a:t>
            </a:r>
            <a:r>
              <a:rPr lang="en-US" i="1" dirty="0"/>
              <a:t> </a:t>
            </a:r>
          </a:p>
          <a:p>
            <a:pPr>
              <a:buNone/>
            </a:pPr>
            <a:r>
              <a:rPr lang="en-US" i="1" dirty="0"/>
              <a:t>The pair (1, 1) is in R1, R3, R4, and R6; </a:t>
            </a:r>
          </a:p>
          <a:p>
            <a:pPr>
              <a:buNone/>
            </a:pPr>
            <a:r>
              <a:rPr lang="en-US" i="1" dirty="0"/>
              <a:t>(1, 2) is in R1 and R6; </a:t>
            </a:r>
          </a:p>
          <a:p>
            <a:pPr>
              <a:buNone/>
            </a:pPr>
            <a:r>
              <a:rPr lang="en-US" i="1" dirty="0"/>
              <a:t>(2, 1) is in R2, R5, </a:t>
            </a:r>
            <a:r>
              <a:rPr lang="en-US" dirty="0"/>
              <a:t>and </a:t>
            </a:r>
            <a:r>
              <a:rPr lang="en-US" i="1" dirty="0"/>
              <a:t>R6; </a:t>
            </a:r>
          </a:p>
          <a:p>
            <a:pPr>
              <a:buNone/>
            </a:pPr>
            <a:r>
              <a:rPr lang="en-US" i="1" dirty="0"/>
              <a:t>(1,−1) is in R2, R3, and R6; and</a:t>
            </a:r>
          </a:p>
          <a:p>
            <a:pPr>
              <a:buNone/>
            </a:pPr>
            <a:r>
              <a:rPr lang="en-US" i="1" dirty="0"/>
              <a:t> finally, (2, 2) is in R1, R3, and R4.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00200"/>
            <a:ext cx="4495800" cy="2588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Properties of Relations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4875" y="2209800"/>
            <a:ext cx="45053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971800"/>
            <a:ext cx="49149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3810000"/>
            <a:ext cx="63912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38200" y="4724400"/>
            <a:ext cx="622935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Reflexive and Irreflexive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4875" y="2209800"/>
            <a:ext cx="45053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40F59E-E334-FDDB-1AA5-D66E7FE03A97}"/>
              </a:ext>
            </a:extLst>
          </p:cNvPr>
          <p:cNvSpPr txBox="1"/>
          <p:nvPr/>
        </p:nvSpPr>
        <p:spPr>
          <a:xfrm>
            <a:off x="828674" y="3124200"/>
            <a:ext cx="762952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A relation R on the set A is </a:t>
            </a:r>
            <a:r>
              <a:rPr lang="en-US" b="1" dirty="0">
                <a:solidFill>
                  <a:srgbClr val="FF0000"/>
                </a:solidFill>
              </a:rPr>
              <a:t>irreflexive</a:t>
            </a:r>
            <a:r>
              <a:rPr lang="en-US" b="1" dirty="0"/>
              <a:t> if for every a ∈ A, (a, a) ∈ R. That is, R is irreflexive if no element in A is related to itself.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7E7C4B-8DFF-1B79-BE06-709CC976F286}"/>
              </a:ext>
            </a:extLst>
          </p:cNvPr>
          <p:cNvCxnSpPr>
            <a:cxnSpLocks/>
          </p:cNvCxnSpPr>
          <p:nvPr/>
        </p:nvCxnSpPr>
        <p:spPr>
          <a:xfrm flipH="1">
            <a:off x="7543800" y="3143250"/>
            <a:ext cx="152400" cy="381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447800"/>
            <a:ext cx="7750066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191000"/>
            <a:ext cx="3505200" cy="387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457200" y="4572000"/>
            <a:ext cx="7924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Solution</a:t>
            </a:r>
            <a:r>
              <a:rPr lang="en-US" i="1" dirty="0"/>
              <a:t>: </a:t>
            </a:r>
          </a:p>
          <a:p>
            <a:r>
              <a:rPr lang="en-US" i="1" dirty="0"/>
              <a:t>The relations R3 and R5 are </a:t>
            </a:r>
            <a:r>
              <a:rPr lang="en-US" i="1" dirty="0">
                <a:solidFill>
                  <a:srgbClr val="FF0000"/>
                </a:solidFill>
              </a:rPr>
              <a:t>reflexive</a:t>
            </a:r>
            <a:r>
              <a:rPr lang="en-US" i="1" dirty="0"/>
              <a:t> because they both contain all pairs of the form (a, a), namely, (1, 1), (2, 2), (3, 3), and (4, 4). </a:t>
            </a:r>
          </a:p>
          <a:p>
            <a:r>
              <a:rPr lang="en-US" i="1" dirty="0"/>
              <a:t>The other relations are </a:t>
            </a:r>
            <a:r>
              <a:rPr lang="en-US" i="1" dirty="0">
                <a:solidFill>
                  <a:srgbClr val="FF0000"/>
                </a:solidFill>
              </a:rPr>
              <a:t>not reflexive </a:t>
            </a:r>
            <a:r>
              <a:rPr lang="en-US" i="1" dirty="0"/>
              <a:t>because </a:t>
            </a:r>
            <a:r>
              <a:rPr lang="en-US" dirty="0"/>
              <a:t>they do not contain all of these ordered pairs. In particular, </a:t>
            </a:r>
            <a:r>
              <a:rPr lang="en-US" i="1" dirty="0"/>
              <a:t>R1, R2, R4, and R6 are not reflexive</a:t>
            </a:r>
          </a:p>
          <a:p>
            <a:r>
              <a:rPr lang="en-US" dirty="0"/>
              <a:t>because </a:t>
            </a:r>
            <a:r>
              <a:rPr lang="en-US" i="1" dirty="0"/>
              <a:t>(3, 3) is not in any of these relations</a:t>
            </a:r>
          </a:p>
          <a:p>
            <a:r>
              <a:rPr lang="en-US" i="1" dirty="0"/>
              <a:t>R4 and R6 are </a:t>
            </a:r>
            <a:r>
              <a:rPr lang="en-US" i="1" dirty="0" err="1">
                <a:solidFill>
                  <a:srgbClr val="FF0000"/>
                </a:solidFill>
              </a:rPr>
              <a:t>irreflexive</a:t>
            </a:r>
            <a:r>
              <a:rPr lang="en-US" i="1" dirty="0"/>
              <a:t> 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Is the “divides” relation on the set of positive integers reflexive?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Solution: 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	</a:t>
            </a:r>
            <a:r>
              <a:rPr lang="en-US" i="1" dirty="0"/>
              <a:t>Because a | a whenever a is a positive integer, the “divides” relation is </a:t>
            </a:r>
            <a:r>
              <a:rPr lang="en-US" i="1" dirty="0">
                <a:solidFill>
                  <a:srgbClr val="FF0000"/>
                </a:solidFill>
              </a:rPr>
              <a:t>reflexive</a:t>
            </a:r>
            <a:r>
              <a:rPr lang="en-US" i="1" dirty="0"/>
              <a:t>. </a:t>
            </a:r>
          </a:p>
          <a:p>
            <a:pPr>
              <a:buNone/>
            </a:pPr>
            <a:r>
              <a:rPr lang="en-US" i="1" dirty="0"/>
              <a:t>	(Note </a:t>
            </a:r>
            <a:r>
              <a:rPr lang="en-US" dirty="0"/>
              <a:t>that if we replace the set of positive integers with the set of all integers the relation is not reflexive because by definition 0 does not divide 0.)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Symmetric and Anti-symmetric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971800"/>
            <a:ext cx="49149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810000"/>
            <a:ext cx="63912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143000"/>
            <a:ext cx="7750066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457200" y="4267200"/>
            <a:ext cx="792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Solution</a:t>
            </a:r>
            <a:r>
              <a:rPr lang="en-US" i="1" dirty="0"/>
              <a:t>: </a:t>
            </a:r>
          </a:p>
          <a:p>
            <a:r>
              <a:rPr lang="en-US" i="1" dirty="0"/>
              <a:t>The relations R2 and R3 are </a:t>
            </a:r>
            <a:r>
              <a:rPr lang="en-US" i="1" dirty="0">
                <a:solidFill>
                  <a:srgbClr val="FF0000"/>
                </a:solidFill>
              </a:rPr>
              <a:t>symmetric</a:t>
            </a:r>
            <a:r>
              <a:rPr lang="en-US" i="1" dirty="0"/>
              <a:t>.</a:t>
            </a:r>
          </a:p>
          <a:p>
            <a:r>
              <a:rPr lang="en-US" i="1" dirty="0"/>
              <a:t>For R2, both (2, 1) and (1, 2) are </a:t>
            </a:r>
            <a:r>
              <a:rPr lang="en-US" dirty="0"/>
              <a:t>in the relation.</a:t>
            </a:r>
          </a:p>
          <a:p>
            <a:r>
              <a:rPr lang="en-US" dirty="0"/>
              <a:t>For </a:t>
            </a:r>
            <a:r>
              <a:rPr lang="en-US" i="1" dirty="0"/>
              <a:t>R3, both (1, 2) and (2, 1) belong to the relation ,</a:t>
            </a:r>
            <a:r>
              <a:rPr lang="en-US" dirty="0"/>
              <a:t>and </a:t>
            </a:r>
            <a:r>
              <a:rPr lang="en-US" i="1" dirty="0"/>
              <a:t>(1, 4) and (4, 1) belong to the relation. </a:t>
            </a:r>
          </a:p>
          <a:p>
            <a:r>
              <a:rPr lang="en-US" i="1" dirty="0"/>
              <a:t>R4, R5, and R6 are all </a:t>
            </a:r>
            <a:r>
              <a:rPr lang="en-US" i="1" dirty="0">
                <a:solidFill>
                  <a:srgbClr val="FF0000"/>
                </a:solidFill>
              </a:rPr>
              <a:t>anti-symmetric</a:t>
            </a:r>
            <a:r>
              <a:rPr lang="en-US" i="1" dirty="0"/>
              <a:t>. 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886200"/>
            <a:ext cx="6019800" cy="348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Is the “divides” relation on the set of positive integers symmetric? Is it anti-symmetric?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Solution</a:t>
            </a:r>
            <a:r>
              <a:rPr lang="en-US" i="1" dirty="0"/>
              <a:t>: This relation is not symmetric because 1| 2, but 2  | 1. </a:t>
            </a:r>
          </a:p>
          <a:p>
            <a:pPr>
              <a:buNone/>
            </a:pPr>
            <a:r>
              <a:rPr lang="en-US" i="1" dirty="0"/>
              <a:t>It is </a:t>
            </a:r>
            <a:r>
              <a:rPr lang="en-US" i="1" dirty="0">
                <a:solidFill>
                  <a:srgbClr val="FF0000"/>
                </a:solidFill>
              </a:rPr>
              <a:t>anti-symmetric</a:t>
            </a:r>
            <a:r>
              <a:rPr lang="en-US" i="1" dirty="0"/>
              <a:t>, for if a </a:t>
            </a:r>
            <a:r>
              <a:rPr lang="en-US" dirty="0"/>
              <a:t>and </a:t>
            </a:r>
            <a:r>
              <a:rPr lang="en-US" i="1" dirty="0"/>
              <a:t>b are positive integers with  a |b and b |a, then a = b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990600" y="2895600"/>
            <a:ext cx="228600" cy="2286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Transitive</a:t>
            </a:r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599" y="3048000"/>
            <a:ext cx="738293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143000"/>
            <a:ext cx="7750066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228600" y="4191000"/>
            <a:ext cx="9220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Solution</a:t>
            </a:r>
            <a:r>
              <a:rPr lang="en-US" i="1" dirty="0"/>
              <a:t>: </a:t>
            </a:r>
          </a:p>
          <a:p>
            <a:r>
              <a:rPr lang="en-US" i="1" dirty="0"/>
              <a:t>R4, R5, and R6 are transitive</a:t>
            </a:r>
          </a:p>
          <a:p>
            <a:r>
              <a:rPr lang="en-US" i="1" dirty="0"/>
              <a:t>R4 is transitive, because (3, 2) and (2, 1), (4, 2) and (2, 1), (4, 3) and (3, 1), and (4, 3)</a:t>
            </a:r>
          </a:p>
          <a:p>
            <a:r>
              <a:rPr lang="en-US" dirty="0"/>
              <a:t>and </a:t>
            </a:r>
            <a:r>
              <a:rPr lang="en-US" i="1" dirty="0"/>
              <a:t>(3, 2) are the only such sets of pairs, and (3, 1), (4, 1), and (4, 2) belong to R4. </a:t>
            </a:r>
          </a:p>
          <a:p>
            <a:r>
              <a:rPr lang="en-US" i="1" dirty="0"/>
              <a:t>R5 and R6 are transitive.</a:t>
            </a:r>
          </a:p>
          <a:p>
            <a:r>
              <a:rPr lang="en-US" i="1" dirty="0"/>
              <a:t>R1 is not transitive because (3, 4) and (4, 1) belong to R1, but (3, 1) does not. </a:t>
            </a:r>
          </a:p>
          <a:p>
            <a:r>
              <a:rPr lang="en-US" i="1" dirty="0"/>
              <a:t>R2 is </a:t>
            </a:r>
            <a:r>
              <a:rPr lang="en-US" dirty="0"/>
              <a:t>not transitive because </a:t>
            </a:r>
            <a:r>
              <a:rPr lang="en-US" i="1" dirty="0"/>
              <a:t>(2, 1) and (1, 2) belong to R2, but (2, 2) does not. </a:t>
            </a:r>
          </a:p>
          <a:p>
            <a:r>
              <a:rPr lang="en-US" i="1" dirty="0"/>
              <a:t>R3 is not transitive </a:t>
            </a:r>
            <a:r>
              <a:rPr lang="en-US" dirty="0"/>
              <a:t>because </a:t>
            </a:r>
            <a:r>
              <a:rPr lang="en-US" i="1" dirty="0"/>
              <a:t>(4, 1) and (1, 2) belong to R3, but (4, 2) does not. c. 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886200"/>
            <a:ext cx="30765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Is the “divides” relation on the set of positive integers transitive?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b="1" i="1" dirty="0">
                <a:solidFill>
                  <a:srgbClr val="FF0000"/>
                </a:solidFill>
              </a:rPr>
              <a:t>Solution</a:t>
            </a:r>
            <a:r>
              <a:rPr lang="en-US" i="1" dirty="0"/>
              <a:t>: </a:t>
            </a:r>
          </a:p>
          <a:p>
            <a:pPr>
              <a:buNone/>
            </a:pPr>
            <a:r>
              <a:rPr lang="en-US" i="1" dirty="0"/>
              <a:t>	Suppose that a divides b and b divides c. </a:t>
            </a:r>
          </a:p>
          <a:p>
            <a:pPr>
              <a:buNone/>
            </a:pPr>
            <a:r>
              <a:rPr lang="en-US" i="1" dirty="0"/>
              <a:t>	Then there are positive integers k and l </a:t>
            </a:r>
            <a:r>
              <a:rPr lang="en-US" dirty="0"/>
              <a:t>such that </a:t>
            </a:r>
            <a:r>
              <a:rPr lang="en-US" i="1" dirty="0"/>
              <a:t>b = </a:t>
            </a:r>
            <a:r>
              <a:rPr lang="en-US" i="1" dirty="0" err="1"/>
              <a:t>ak</a:t>
            </a:r>
            <a:r>
              <a:rPr lang="en-US" i="1" dirty="0"/>
              <a:t> and c = bl. </a:t>
            </a:r>
          </a:p>
          <a:p>
            <a:pPr>
              <a:buNone/>
            </a:pPr>
            <a:r>
              <a:rPr lang="en-US" i="1" dirty="0"/>
              <a:t>Hence, c = a(</a:t>
            </a:r>
            <a:r>
              <a:rPr lang="en-US" i="1" dirty="0" err="1"/>
              <a:t>kl</a:t>
            </a:r>
            <a:r>
              <a:rPr lang="en-US" i="1" dirty="0"/>
              <a:t>), so a divides c. </a:t>
            </a:r>
          </a:p>
          <a:p>
            <a:pPr>
              <a:buNone/>
            </a:pPr>
            <a:r>
              <a:rPr lang="en-US" i="1" dirty="0"/>
              <a:t>It follows that this relation is </a:t>
            </a:r>
            <a:r>
              <a:rPr lang="en-US" dirty="0"/>
              <a:t>transitive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9.1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</a:t>
            </a:r>
          </a:p>
          <a:p>
            <a:r>
              <a:rPr lang="en-US" b="1" dirty="0"/>
              <a:t>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Representing Relations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Representing Relations Using Matrices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A relation between finite sets can be represented using a zero–one matrix. Suppose that </a:t>
            </a:r>
            <a:r>
              <a:rPr lang="en-US" i="1" dirty="0"/>
              <a:t>R is a </a:t>
            </a:r>
            <a:r>
              <a:rPr lang="en-US" dirty="0"/>
              <a:t>relation from           </a:t>
            </a:r>
            <a:r>
              <a:rPr lang="en-US" i="1" dirty="0"/>
              <a:t>A = {a1, a2, . . . , am} to B = {b1, b2, . . . , </a:t>
            </a:r>
            <a:r>
              <a:rPr lang="en-US" i="1" dirty="0" err="1"/>
              <a:t>bn</a:t>
            </a:r>
            <a:r>
              <a:rPr lang="en-US" i="1" dirty="0"/>
              <a:t>}. (Here the elements of the sets A </a:t>
            </a:r>
            <a:r>
              <a:rPr lang="en-US" dirty="0"/>
              <a:t>and </a:t>
            </a:r>
            <a:r>
              <a:rPr lang="en-US" i="1" dirty="0"/>
              <a:t>B have been listed in a particular, but arbitrary, order. Furthermore, when A = B we use </a:t>
            </a:r>
            <a:r>
              <a:rPr lang="en-US" dirty="0"/>
              <a:t>the same ordering for </a:t>
            </a:r>
            <a:r>
              <a:rPr lang="en-US" i="1" dirty="0"/>
              <a:t>A and B.) The relation R can be represented by the matrix </a:t>
            </a:r>
            <a:r>
              <a:rPr lang="en-US" b="1" i="1" dirty="0"/>
              <a:t>MR = [</a:t>
            </a:r>
            <a:r>
              <a:rPr lang="en-US" b="1" i="1" dirty="0" err="1"/>
              <a:t>m</a:t>
            </a:r>
            <a:r>
              <a:rPr lang="en-US" b="1" i="1" baseline="-25000" dirty="0" err="1"/>
              <a:t>ij</a:t>
            </a:r>
            <a:r>
              <a:rPr lang="en-US" b="1" i="1" dirty="0"/>
              <a:t> ], </a:t>
            </a:r>
            <a:r>
              <a:rPr lang="en-US" dirty="0"/>
              <a:t>where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4648200"/>
            <a:ext cx="3775616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676400"/>
            <a:ext cx="8565931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3200400"/>
            <a:ext cx="8534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600200"/>
            <a:ext cx="7820025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657600"/>
            <a:ext cx="8464127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Reflexive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matrix of a relation on a set, which is a </a:t>
            </a:r>
            <a:r>
              <a:rPr lang="en-US" dirty="0">
                <a:solidFill>
                  <a:srgbClr val="FF0000"/>
                </a:solidFill>
              </a:rPr>
              <a:t>square matrix, </a:t>
            </a:r>
            <a:r>
              <a:rPr lang="en-US" dirty="0"/>
              <a:t>can be used to determine whether the relation has certain properties.</a:t>
            </a:r>
          </a:p>
          <a:p>
            <a:r>
              <a:rPr lang="en-US" dirty="0"/>
              <a:t>Relation </a:t>
            </a:r>
            <a:r>
              <a:rPr lang="en-US" i="1" dirty="0"/>
              <a:t>R on A is </a:t>
            </a:r>
            <a:r>
              <a:rPr lang="en-US" i="1" dirty="0">
                <a:solidFill>
                  <a:srgbClr val="FF0000"/>
                </a:solidFill>
              </a:rPr>
              <a:t>reflexive if (a, a) ∈ R </a:t>
            </a:r>
            <a:r>
              <a:rPr lang="en-US" i="1" dirty="0"/>
              <a:t>whenever a ∈ A. Thus, R is reflexive if and only if (</a:t>
            </a:r>
            <a:r>
              <a:rPr lang="en-US" i="1" dirty="0" err="1"/>
              <a:t>ai</a:t>
            </a:r>
            <a:r>
              <a:rPr lang="en-US" i="1" dirty="0"/>
              <a:t>, </a:t>
            </a:r>
            <a:r>
              <a:rPr lang="en-US" i="1" dirty="0" err="1"/>
              <a:t>ai</a:t>
            </a:r>
            <a:r>
              <a:rPr lang="en-US" i="1" dirty="0"/>
              <a:t>) ∈ R for </a:t>
            </a:r>
            <a:r>
              <a:rPr lang="en-US" i="1" dirty="0" err="1"/>
              <a:t>i</a:t>
            </a:r>
            <a:r>
              <a:rPr lang="en-US" i="1" dirty="0"/>
              <a:t> = 1, 2, . . . , n. Hence, </a:t>
            </a:r>
            <a:r>
              <a:rPr lang="en-US" i="1" dirty="0">
                <a:solidFill>
                  <a:srgbClr val="FF0000"/>
                </a:solidFill>
              </a:rPr>
              <a:t>R is reflexive </a:t>
            </a:r>
            <a:r>
              <a:rPr lang="en-US" dirty="0">
                <a:solidFill>
                  <a:srgbClr val="FF0000"/>
                </a:solidFill>
              </a:rPr>
              <a:t>if and only if </a:t>
            </a:r>
            <a:r>
              <a:rPr lang="en-US" i="1" dirty="0" err="1">
                <a:solidFill>
                  <a:srgbClr val="FF0000"/>
                </a:solidFill>
              </a:rPr>
              <a:t>mii</a:t>
            </a:r>
            <a:r>
              <a:rPr lang="en-US" i="1" dirty="0">
                <a:solidFill>
                  <a:srgbClr val="FF0000"/>
                </a:solidFill>
              </a:rPr>
              <a:t> = 1</a:t>
            </a:r>
            <a:r>
              <a:rPr lang="en-US" i="1" dirty="0"/>
              <a:t>, </a:t>
            </a:r>
            <a:r>
              <a:rPr lang="en-US" i="1" dirty="0">
                <a:solidFill>
                  <a:srgbClr val="FF0000"/>
                </a:solidFill>
              </a:rPr>
              <a:t>for </a:t>
            </a:r>
            <a:r>
              <a:rPr lang="en-US" i="1" dirty="0" err="1">
                <a:solidFill>
                  <a:srgbClr val="FF0000"/>
                </a:solidFill>
              </a:rPr>
              <a:t>i</a:t>
            </a:r>
            <a:r>
              <a:rPr lang="en-US" i="1" dirty="0">
                <a:solidFill>
                  <a:srgbClr val="FF0000"/>
                </a:solidFill>
              </a:rPr>
              <a:t> = 1, 2, . . . , n.</a:t>
            </a:r>
            <a:r>
              <a:rPr lang="en-US" i="1" dirty="0"/>
              <a:t> In other words, R is reflexive if all the elements on </a:t>
            </a:r>
            <a:r>
              <a:rPr lang="en-US" dirty="0"/>
              <a:t>the main diagonal of </a:t>
            </a:r>
            <a:r>
              <a:rPr lang="en-US" b="1" dirty="0"/>
              <a:t>M</a:t>
            </a:r>
            <a:r>
              <a:rPr lang="en-US" b="1" i="1" baseline="-25000" dirty="0"/>
              <a:t>R</a:t>
            </a:r>
            <a:r>
              <a:rPr lang="en-US" b="1" i="1" dirty="0"/>
              <a:t> are equal to 1</a:t>
            </a: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86600" y="3352800"/>
            <a:ext cx="1857375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and Anti Symmetric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rgbClr val="FF0000"/>
                </a:solidFill>
              </a:rPr>
              <a:t>R is symmetric if and only if </a:t>
            </a:r>
            <a:r>
              <a:rPr lang="en-US" i="1" dirty="0" err="1">
                <a:solidFill>
                  <a:srgbClr val="FF0000"/>
                </a:solidFill>
              </a:rPr>
              <a:t>mji</a:t>
            </a:r>
            <a:r>
              <a:rPr lang="en-US" i="1" dirty="0">
                <a:solidFill>
                  <a:srgbClr val="FF0000"/>
                </a:solidFill>
              </a:rPr>
              <a:t> = 1 whenever </a:t>
            </a:r>
            <a:r>
              <a:rPr lang="en-US" i="1" dirty="0" err="1">
                <a:solidFill>
                  <a:srgbClr val="FF0000"/>
                </a:solidFill>
              </a:rPr>
              <a:t>mij</a:t>
            </a:r>
            <a:r>
              <a:rPr lang="en-US" i="1" dirty="0">
                <a:solidFill>
                  <a:srgbClr val="FF0000"/>
                </a:solidFill>
              </a:rPr>
              <a:t> = 1. </a:t>
            </a:r>
            <a:r>
              <a:rPr lang="en-US" i="1" dirty="0"/>
              <a:t>This also means </a:t>
            </a:r>
            <a:r>
              <a:rPr lang="en-US" i="1" dirty="0" err="1">
                <a:solidFill>
                  <a:srgbClr val="FF0000"/>
                </a:solidFill>
              </a:rPr>
              <a:t>mji</a:t>
            </a:r>
            <a:r>
              <a:rPr lang="en-US" i="1" dirty="0">
                <a:solidFill>
                  <a:srgbClr val="FF0000"/>
                </a:solidFill>
              </a:rPr>
              <a:t> = 0 whenever </a:t>
            </a:r>
            <a:r>
              <a:rPr lang="en-US" i="1" dirty="0" err="1">
                <a:solidFill>
                  <a:srgbClr val="FF0000"/>
                </a:solidFill>
              </a:rPr>
              <a:t>mij</a:t>
            </a:r>
            <a:r>
              <a:rPr lang="en-US" i="1" dirty="0">
                <a:solidFill>
                  <a:srgbClr val="FF0000"/>
                </a:solidFill>
              </a:rPr>
              <a:t> = 0.</a:t>
            </a:r>
          </a:p>
          <a:p>
            <a:r>
              <a:rPr lang="en-US" dirty="0"/>
              <a:t>The relation </a:t>
            </a:r>
            <a:r>
              <a:rPr lang="en-US" i="1" dirty="0"/>
              <a:t>R is </a:t>
            </a:r>
            <a:r>
              <a:rPr lang="en-US" i="1" dirty="0" err="1">
                <a:solidFill>
                  <a:srgbClr val="FF0000"/>
                </a:solidFill>
              </a:rPr>
              <a:t>antisymmetric</a:t>
            </a:r>
            <a:r>
              <a:rPr lang="en-US" i="1" dirty="0">
                <a:solidFill>
                  <a:srgbClr val="FF0000"/>
                </a:solidFill>
              </a:rPr>
              <a:t> if and only if (a, b) ∈ R and (b, a) ∈ R </a:t>
            </a:r>
            <a:r>
              <a:rPr lang="en-US" i="1" dirty="0"/>
              <a:t>imply that a = b.</a:t>
            </a:r>
          </a:p>
          <a:p>
            <a:r>
              <a:rPr lang="en-US" dirty="0"/>
              <a:t>Consequently, the matrix of </a:t>
            </a:r>
            <a:r>
              <a:rPr lang="en-US" dirty="0">
                <a:solidFill>
                  <a:srgbClr val="FF0000"/>
                </a:solidFill>
              </a:rPr>
              <a:t>an </a:t>
            </a:r>
            <a:r>
              <a:rPr lang="en-US" dirty="0" err="1">
                <a:solidFill>
                  <a:srgbClr val="FF0000"/>
                </a:solidFill>
              </a:rPr>
              <a:t>antisymmetric</a:t>
            </a:r>
            <a:r>
              <a:rPr lang="en-US" dirty="0">
                <a:solidFill>
                  <a:srgbClr val="FF0000"/>
                </a:solidFill>
              </a:rPr>
              <a:t> relation has the property that if </a:t>
            </a:r>
            <a:r>
              <a:rPr lang="en-US" i="1" dirty="0" err="1">
                <a:solidFill>
                  <a:srgbClr val="FF0000"/>
                </a:solidFill>
              </a:rPr>
              <a:t>mij</a:t>
            </a:r>
            <a:r>
              <a:rPr lang="en-US" i="1" dirty="0">
                <a:solidFill>
                  <a:srgbClr val="FF0000"/>
                </a:solidFill>
              </a:rPr>
              <a:t> = 1 with </a:t>
            </a:r>
            <a:r>
              <a:rPr lang="en-US" i="1" dirty="0" err="1">
                <a:solidFill>
                  <a:srgbClr val="FF0000"/>
                </a:solidFill>
              </a:rPr>
              <a:t>i</a:t>
            </a:r>
            <a:r>
              <a:rPr lang="en-US" i="1" dirty="0">
                <a:solidFill>
                  <a:srgbClr val="FF0000"/>
                </a:solidFill>
              </a:rPr>
              <a:t> = j , then </a:t>
            </a:r>
            <a:r>
              <a:rPr lang="en-US" i="1" dirty="0" err="1">
                <a:solidFill>
                  <a:srgbClr val="FF0000"/>
                </a:solidFill>
              </a:rPr>
              <a:t>mji</a:t>
            </a:r>
            <a:r>
              <a:rPr lang="en-US" i="1" dirty="0">
                <a:solidFill>
                  <a:srgbClr val="FF0000"/>
                </a:solidFill>
              </a:rPr>
              <a:t> = 0</a:t>
            </a:r>
            <a:r>
              <a:rPr lang="en-US" i="1" dirty="0"/>
              <a:t>. Or, in other words, either </a:t>
            </a:r>
            <a:r>
              <a:rPr lang="en-US" i="1" dirty="0" err="1"/>
              <a:t>mij</a:t>
            </a:r>
            <a:r>
              <a:rPr lang="en-US" i="1" dirty="0"/>
              <a:t> = 0 or </a:t>
            </a:r>
            <a:r>
              <a:rPr lang="en-US" i="1" dirty="0" err="1"/>
              <a:t>mji</a:t>
            </a:r>
            <a:r>
              <a:rPr lang="en-US" i="1" dirty="0"/>
              <a:t> = 0 when </a:t>
            </a:r>
            <a:r>
              <a:rPr lang="en-US" i="1" dirty="0" err="1"/>
              <a:t>i</a:t>
            </a:r>
            <a:r>
              <a:rPr lang="en-US" i="1" dirty="0"/>
              <a:t> = j .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571999"/>
            <a:ext cx="1905000" cy="2027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4572000"/>
            <a:ext cx="1724025" cy="1858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47800"/>
            <a:ext cx="6019800" cy="1926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886200"/>
            <a:ext cx="850773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Representing Relations Using Diagraphs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029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>
                <a:solidFill>
                  <a:srgbClr val="FF0000"/>
                </a:solidFill>
              </a:rPr>
              <a:t>directed graph</a:t>
            </a:r>
            <a:r>
              <a:rPr lang="en-US" dirty="0"/>
              <a:t>, or </a:t>
            </a:r>
            <a:r>
              <a:rPr lang="en-US" i="1" dirty="0">
                <a:solidFill>
                  <a:srgbClr val="FF0000"/>
                </a:solidFill>
              </a:rPr>
              <a:t>digraph</a:t>
            </a:r>
            <a:r>
              <a:rPr lang="en-US" dirty="0"/>
              <a:t>, consists of a set </a:t>
            </a:r>
            <a:r>
              <a:rPr lang="en-US" i="1" dirty="0">
                <a:solidFill>
                  <a:srgbClr val="FF0000"/>
                </a:solidFill>
              </a:rPr>
              <a:t>V </a:t>
            </a:r>
            <a:r>
              <a:rPr lang="en-US" dirty="0"/>
              <a:t>of </a:t>
            </a:r>
            <a:r>
              <a:rPr lang="en-US" i="1" dirty="0">
                <a:solidFill>
                  <a:srgbClr val="FF0000"/>
                </a:solidFill>
              </a:rPr>
              <a:t>vertices </a:t>
            </a:r>
            <a:r>
              <a:rPr lang="en-US" dirty="0">
                <a:solidFill>
                  <a:srgbClr val="FF0000"/>
                </a:solidFill>
              </a:rPr>
              <a:t>(or </a:t>
            </a:r>
            <a:r>
              <a:rPr lang="en-US" i="1" dirty="0">
                <a:solidFill>
                  <a:srgbClr val="FF0000"/>
                </a:solidFill>
              </a:rPr>
              <a:t>nodes</a:t>
            </a:r>
            <a:r>
              <a:rPr lang="en-US" dirty="0"/>
              <a:t>) together with a set </a:t>
            </a:r>
            <a:r>
              <a:rPr lang="en-US" i="1" dirty="0">
                <a:solidFill>
                  <a:srgbClr val="FF0000"/>
                </a:solidFill>
              </a:rPr>
              <a:t>E</a:t>
            </a:r>
            <a:r>
              <a:rPr lang="en-US" i="1" dirty="0"/>
              <a:t> </a:t>
            </a:r>
            <a:r>
              <a:rPr lang="en-US" dirty="0"/>
              <a:t>of ordered pairs of elements of </a:t>
            </a:r>
            <a:r>
              <a:rPr lang="en-US" i="1" dirty="0"/>
              <a:t>V </a:t>
            </a:r>
            <a:r>
              <a:rPr lang="en-US" dirty="0"/>
              <a:t>called </a:t>
            </a:r>
            <a:r>
              <a:rPr lang="en-US" i="1" dirty="0">
                <a:solidFill>
                  <a:srgbClr val="FF0000"/>
                </a:solidFill>
              </a:rPr>
              <a:t>edges </a:t>
            </a:r>
            <a:r>
              <a:rPr lang="en-US" dirty="0">
                <a:solidFill>
                  <a:srgbClr val="FF0000"/>
                </a:solidFill>
              </a:rPr>
              <a:t>(or </a:t>
            </a:r>
            <a:r>
              <a:rPr lang="en-US" i="1" dirty="0">
                <a:solidFill>
                  <a:srgbClr val="FF0000"/>
                </a:solidFill>
              </a:rPr>
              <a:t>arcs</a:t>
            </a:r>
            <a:r>
              <a:rPr lang="en-US" dirty="0">
                <a:solidFill>
                  <a:srgbClr val="FF0000"/>
                </a:solidFill>
              </a:rPr>
              <a:t>). </a:t>
            </a:r>
          </a:p>
          <a:p>
            <a:r>
              <a:rPr lang="en-US" dirty="0"/>
              <a:t>The vertex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i="1" dirty="0"/>
              <a:t> </a:t>
            </a:r>
            <a:r>
              <a:rPr lang="en-US" dirty="0"/>
              <a:t>is called </a:t>
            </a:r>
            <a:r>
              <a:rPr lang="en-US" dirty="0">
                <a:solidFill>
                  <a:srgbClr val="FF0000"/>
                </a:solidFill>
              </a:rPr>
              <a:t>the </a:t>
            </a:r>
            <a:r>
              <a:rPr lang="en-US" i="1" dirty="0">
                <a:solidFill>
                  <a:srgbClr val="FF0000"/>
                </a:solidFill>
              </a:rPr>
              <a:t>initial vertex </a:t>
            </a:r>
            <a:r>
              <a:rPr lang="en-US" dirty="0"/>
              <a:t>of the edge </a:t>
            </a:r>
            <a:r>
              <a:rPr lang="en-US" i="1" dirty="0">
                <a:solidFill>
                  <a:srgbClr val="FF0000"/>
                </a:solidFill>
              </a:rPr>
              <a:t>(a, b)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/>
              <a:t>and the vertex </a:t>
            </a:r>
            <a:r>
              <a:rPr lang="en-US" i="1" dirty="0">
                <a:solidFill>
                  <a:srgbClr val="FF0000"/>
                </a:solidFill>
              </a:rPr>
              <a:t>b</a:t>
            </a:r>
            <a:r>
              <a:rPr lang="en-US" i="1" dirty="0"/>
              <a:t> </a:t>
            </a:r>
            <a:r>
              <a:rPr lang="en-US" dirty="0"/>
              <a:t>is called the </a:t>
            </a:r>
            <a:r>
              <a:rPr lang="en-US" i="1" dirty="0">
                <a:solidFill>
                  <a:srgbClr val="FF0000"/>
                </a:solidFill>
              </a:rPr>
              <a:t>terminal vertex </a:t>
            </a:r>
            <a:r>
              <a:rPr lang="en-US" dirty="0"/>
              <a:t>of this edge.</a:t>
            </a:r>
          </a:p>
          <a:p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438400" y="4724400"/>
            <a:ext cx="28194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286000" y="4876800"/>
            <a:ext cx="381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37545" y="4899891"/>
            <a:ext cx="381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714219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directed graph of the relation</a:t>
            </a:r>
          </a:p>
          <a:p>
            <a:pPr marL="0" indent="0">
              <a:buNone/>
            </a:pPr>
            <a:r>
              <a:rPr lang="pt-BR" i="1" dirty="0"/>
              <a:t>R </a:t>
            </a:r>
            <a:r>
              <a:rPr lang="pt-BR" dirty="0"/>
              <a:t>= {</a:t>
            </a:r>
            <a:r>
              <a:rPr lang="pt-BR" i="1" dirty="0"/>
              <a:t>(</a:t>
            </a:r>
            <a:r>
              <a:rPr lang="pt-BR" dirty="0"/>
              <a:t>1</a:t>
            </a:r>
            <a:r>
              <a:rPr lang="pt-BR" i="1" dirty="0"/>
              <a:t>, </a:t>
            </a:r>
            <a:r>
              <a:rPr lang="pt-BR" dirty="0"/>
              <a:t>1</a:t>
            </a:r>
            <a:r>
              <a:rPr lang="pt-BR" i="1" dirty="0"/>
              <a:t>), (</a:t>
            </a:r>
            <a:r>
              <a:rPr lang="pt-BR" dirty="0"/>
              <a:t>1</a:t>
            </a:r>
            <a:r>
              <a:rPr lang="pt-BR" i="1" dirty="0"/>
              <a:t>, </a:t>
            </a:r>
            <a:r>
              <a:rPr lang="pt-BR" dirty="0"/>
              <a:t>3</a:t>
            </a:r>
            <a:r>
              <a:rPr lang="pt-BR" i="1" dirty="0"/>
              <a:t>), (</a:t>
            </a:r>
            <a:r>
              <a:rPr lang="pt-BR" dirty="0"/>
              <a:t>2</a:t>
            </a:r>
            <a:r>
              <a:rPr lang="pt-BR" i="1" dirty="0"/>
              <a:t>, </a:t>
            </a:r>
            <a:r>
              <a:rPr lang="pt-BR" dirty="0"/>
              <a:t>1</a:t>
            </a:r>
            <a:r>
              <a:rPr lang="pt-BR" i="1" dirty="0"/>
              <a:t>), (</a:t>
            </a:r>
            <a:r>
              <a:rPr lang="pt-BR" dirty="0"/>
              <a:t>2</a:t>
            </a:r>
            <a:r>
              <a:rPr lang="pt-BR" i="1" dirty="0"/>
              <a:t>, </a:t>
            </a:r>
            <a:r>
              <a:rPr lang="pt-BR" dirty="0"/>
              <a:t>3</a:t>
            </a:r>
            <a:r>
              <a:rPr lang="pt-BR" i="1" dirty="0"/>
              <a:t>), (</a:t>
            </a:r>
            <a:r>
              <a:rPr lang="pt-BR" dirty="0"/>
              <a:t>2</a:t>
            </a:r>
            <a:r>
              <a:rPr lang="pt-BR" i="1" dirty="0"/>
              <a:t>, </a:t>
            </a:r>
            <a:r>
              <a:rPr lang="pt-BR" dirty="0"/>
              <a:t>4</a:t>
            </a:r>
            <a:r>
              <a:rPr lang="pt-BR" i="1" dirty="0"/>
              <a:t>), (</a:t>
            </a:r>
            <a:r>
              <a:rPr lang="pt-BR" dirty="0"/>
              <a:t>3</a:t>
            </a:r>
            <a:r>
              <a:rPr lang="pt-BR" i="1" dirty="0"/>
              <a:t>, </a:t>
            </a:r>
            <a:r>
              <a:rPr lang="pt-BR" dirty="0"/>
              <a:t>1</a:t>
            </a:r>
            <a:r>
              <a:rPr lang="pt-BR" i="1" dirty="0"/>
              <a:t>), (</a:t>
            </a:r>
            <a:r>
              <a:rPr lang="pt-BR" dirty="0"/>
              <a:t>3</a:t>
            </a:r>
            <a:r>
              <a:rPr lang="pt-BR" i="1" dirty="0"/>
              <a:t>, </a:t>
            </a:r>
            <a:r>
              <a:rPr lang="pt-BR" dirty="0"/>
              <a:t>2</a:t>
            </a:r>
            <a:r>
              <a:rPr lang="pt-BR" i="1" dirty="0"/>
              <a:t>), (</a:t>
            </a:r>
            <a:r>
              <a:rPr lang="pt-BR" dirty="0"/>
              <a:t>4</a:t>
            </a:r>
            <a:r>
              <a:rPr lang="pt-BR" i="1" dirty="0"/>
              <a:t>, </a:t>
            </a:r>
            <a:r>
              <a:rPr lang="pt-BR" dirty="0"/>
              <a:t>1</a:t>
            </a:r>
            <a:r>
              <a:rPr lang="pt-BR" i="1" dirty="0"/>
              <a:t>)</a:t>
            </a:r>
            <a:r>
              <a:rPr lang="pt-BR" dirty="0"/>
              <a:t>}</a:t>
            </a:r>
          </a:p>
          <a:p>
            <a:pPr marL="0" indent="0">
              <a:buNone/>
            </a:pPr>
            <a:r>
              <a:rPr lang="en-US" dirty="0"/>
              <a:t>on the set {1</a:t>
            </a:r>
            <a:r>
              <a:rPr lang="en-US" i="1" dirty="0"/>
              <a:t>, </a:t>
            </a:r>
            <a:r>
              <a:rPr lang="en-US" dirty="0"/>
              <a:t>2</a:t>
            </a:r>
            <a:r>
              <a:rPr lang="en-US" i="1" dirty="0"/>
              <a:t>, </a:t>
            </a:r>
            <a:r>
              <a:rPr lang="en-US" dirty="0"/>
              <a:t>3</a:t>
            </a:r>
            <a:r>
              <a:rPr lang="en-US" i="1" dirty="0"/>
              <a:t>, </a:t>
            </a:r>
            <a:r>
              <a:rPr lang="en-US" dirty="0"/>
              <a:t>4}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971800"/>
            <a:ext cx="3581400" cy="351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410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768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What are the ordered pairs in the relation </a:t>
            </a:r>
            <a:r>
              <a:rPr lang="en-US" i="1" dirty="0"/>
              <a:t>R </a:t>
            </a:r>
            <a:r>
              <a:rPr lang="en-US" dirty="0"/>
              <a:t>represented by the directed graph shown in Figure?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pt-BR" i="1" dirty="0"/>
              <a:t>Solution:</a:t>
            </a:r>
          </a:p>
          <a:p>
            <a:r>
              <a:rPr lang="pt-BR" i="1" dirty="0"/>
              <a:t>R </a:t>
            </a:r>
            <a:r>
              <a:rPr lang="pt-BR" dirty="0"/>
              <a:t>= {</a:t>
            </a:r>
            <a:r>
              <a:rPr lang="pt-BR" i="1" dirty="0"/>
              <a:t>(</a:t>
            </a:r>
            <a:r>
              <a:rPr lang="pt-BR" dirty="0"/>
              <a:t>1</a:t>
            </a:r>
            <a:r>
              <a:rPr lang="pt-BR" i="1" dirty="0"/>
              <a:t>, </a:t>
            </a:r>
            <a:r>
              <a:rPr lang="pt-BR" dirty="0"/>
              <a:t>3</a:t>
            </a:r>
            <a:r>
              <a:rPr lang="pt-BR" i="1" dirty="0"/>
              <a:t>), (</a:t>
            </a:r>
            <a:r>
              <a:rPr lang="pt-BR" dirty="0"/>
              <a:t>1</a:t>
            </a:r>
            <a:r>
              <a:rPr lang="pt-BR" i="1" dirty="0"/>
              <a:t>, </a:t>
            </a:r>
            <a:r>
              <a:rPr lang="pt-BR" dirty="0"/>
              <a:t>4</a:t>
            </a:r>
            <a:r>
              <a:rPr lang="pt-BR" i="1" dirty="0"/>
              <a:t>), (</a:t>
            </a:r>
            <a:r>
              <a:rPr lang="pt-BR" dirty="0"/>
              <a:t>2</a:t>
            </a:r>
            <a:r>
              <a:rPr lang="pt-BR" i="1" dirty="0"/>
              <a:t>, </a:t>
            </a:r>
            <a:r>
              <a:rPr lang="pt-BR" dirty="0"/>
              <a:t>1</a:t>
            </a:r>
            <a:r>
              <a:rPr lang="pt-BR" i="1" dirty="0"/>
              <a:t>), (</a:t>
            </a:r>
            <a:r>
              <a:rPr lang="pt-BR" dirty="0"/>
              <a:t>2</a:t>
            </a:r>
            <a:r>
              <a:rPr lang="pt-BR" i="1" dirty="0"/>
              <a:t>, </a:t>
            </a:r>
            <a:r>
              <a:rPr lang="pt-BR" dirty="0"/>
              <a:t>2</a:t>
            </a:r>
            <a:r>
              <a:rPr lang="pt-BR" i="1" dirty="0"/>
              <a:t>), (</a:t>
            </a:r>
            <a:r>
              <a:rPr lang="pt-BR" dirty="0"/>
              <a:t>2</a:t>
            </a:r>
            <a:r>
              <a:rPr lang="pt-BR" i="1" dirty="0"/>
              <a:t>, </a:t>
            </a:r>
            <a:r>
              <a:rPr lang="pt-BR" dirty="0"/>
              <a:t>3</a:t>
            </a:r>
            <a:r>
              <a:rPr lang="pt-BR" i="1" dirty="0"/>
              <a:t>), (</a:t>
            </a:r>
            <a:r>
              <a:rPr lang="pt-BR" dirty="0"/>
              <a:t>3</a:t>
            </a:r>
            <a:r>
              <a:rPr lang="pt-BR" i="1" dirty="0"/>
              <a:t>, </a:t>
            </a:r>
            <a:r>
              <a:rPr lang="pt-BR" dirty="0"/>
              <a:t>1</a:t>
            </a:r>
            <a:r>
              <a:rPr lang="pt-BR" i="1" dirty="0"/>
              <a:t>), (</a:t>
            </a:r>
            <a:r>
              <a:rPr lang="pt-BR" dirty="0"/>
              <a:t>3</a:t>
            </a:r>
            <a:r>
              <a:rPr lang="pt-BR" i="1" dirty="0"/>
              <a:t>, </a:t>
            </a:r>
            <a:r>
              <a:rPr lang="pt-BR" dirty="0"/>
              <a:t>3</a:t>
            </a:r>
            <a:r>
              <a:rPr lang="pt-BR" i="1" dirty="0"/>
              <a:t>), (</a:t>
            </a:r>
            <a:r>
              <a:rPr lang="pt-BR" dirty="0"/>
              <a:t>4</a:t>
            </a:r>
            <a:r>
              <a:rPr lang="pt-BR" i="1" dirty="0"/>
              <a:t>, </a:t>
            </a:r>
            <a:r>
              <a:rPr lang="pt-BR" dirty="0"/>
              <a:t>1</a:t>
            </a:r>
            <a:r>
              <a:rPr lang="pt-BR" i="1" dirty="0"/>
              <a:t>), (</a:t>
            </a:r>
            <a:r>
              <a:rPr lang="pt-BR" dirty="0"/>
              <a:t>4</a:t>
            </a:r>
            <a:r>
              <a:rPr lang="pt-BR" i="1" dirty="0"/>
              <a:t>, </a:t>
            </a:r>
            <a:r>
              <a:rPr lang="pt-BR" dirty="0"/>
              <a:t>3</a:t>
            </a:r>
            <a:r>
              <a:rPr lang="pt-BR" i="1" dirty="0"/>
              <a:t>)</a:t>
            </a:r>
            <a:r>
              <a:rPr lang="pt-BR" dirty="0"/>
              <a:t>}</a:t>
            </a:r>
            <a:r>
              <a:rPr lang="pt-BR" i="1" dirty="0"/>
              <a:t>.</a:t>
            </a:r>
          </a:p>
          <a:p>
            <a:r>
              <a:rPr lang="en-US" dirty="0"/>
              <a:t>Each of these pairs corresponds to an edge of the directed graph, with </a:t>
            </a:r>
            <a:r>
              <a:rPr lang="en-US" i="1" dirty="0"/>
              <a:t>(</a:t>
            </a:r>
            <a:r>
              <a:rPr lang="en-US" dirty="0"/>
              <a:t>2</a:t>
            </a:r>
            <a:r>
              <a:rPr lang="en-US" i="1" dirty="0"/>
              <a:t>, </a:t>
            </a:r>
            <a:r>
              <a:rPr lang="en-US" dirty="0"/>
              <a:t>2</a:t>
            </a:r>
            <a:r>
              <a:rPr lang="en-US" i="1" dirty="0"/>
              <a:t>) </a:t>
            </a:r>
            <a:r>
              <a:rPr lang="en-US" dirty="0"/>
              <a:t>and </a:t>
            </a:r>
            <a:r>
              <a:rPr lang="en-US" i="1" dirty="0"/>
              <a:t>(</a:t>
            </a:r>
            <a:r>
              <a:rPr lang="en-US" dirty="0"/>
              <a:t>3</a:t>
            </a:r>
            <a:r>
              <a:rPr lang="en-US" i="1" dirty="0"/>
              <a:t>, </a:t>
            </a:r>
            <a:r>
              <a:rPr lang="en-US" dirty="0"/>
              <a:t>3</a:t>
            </a:r>
            <a:r>
              <a:rPr lang="en-US" i="1" dirty="0"/>
              <a:t>) </a:t>
            </a:r>
            <a:r>
              <a:rPr lang="en-US" dirty="0"/>
              <a:t>corresponding to loops.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141" y="2364582"/>
            <a:ext cx="2844459" cy="2207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356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 the directed graph with vertices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, and </a:t>
            </a:r>
            <a:r>
              <a:rPr lang="en-US" i="1" dirty="0"/>
              <a:t>d</a:t>
            </a:r>
            <a:r>
              <a:rPr lang="en-US" dirty="0"/>
              <a:t>, and edges </a:t>
            </a:r>
            <a:r>
              <a:rPr lang="en-US" i="1" dirty="0"/>
              <a:t>(a, b)</a:t>
            </a:r>
            <a:r>
              <a:rPr lang="en-US" dirty="0"/>
              <a:t>, </a:t>
            </a:r>
            <a:r>
              <a:rPr lang="en-US" i="1" dirty="0"/>
              <a:t>(a, d)</a:t>
            </a:r>
            <a:r>
              <a:rPr lang="en-US" dirty="0"/>
              <a:t>, </a:t>
            </a:r>
            <a:r>
              <a:rPr lang="en-US" i="1" dirty="0"/>
              <a:t>(b, b)</a:t>
            </a:r>
            <a:r>
              <a:rPr lang="en-US" dirty="0"/>
              <a:t>, </a:t>
            </a:r>
            <a:r>
              <a:rPr lang="en-US" i="1" dirty="0"/>
              <a:t>(b, d)</a:t>
            </a:r>
            <a:r>
              <a:rPr lang="en-US" dirty="0"/>
              <a:t>, </a:t>
            </a:r>
            <a:r>
              <a:rPr lang="en-US" i="1" dirty="0"/>
              <a:t>(c, a)</a:t>
            </a:r>
            <a:r>
              <a:rPr lang="en-US" dirty="0"/>
              <a:t>,</a:t>
            </a:r>
            <a:r>
              <a:rPr lang="en-US" i="1" dirty="0"/>
              <a:t>(c, b)</a:t>
            </a:r>
            <a:r>
              <a:rPr lang="en-US" dirty="0"/>
              <a:t>, and </a:t>
            </a:r>
            <a:r>
              <a:rPr lang="en-US" i="1" dirty="0"/>
              <a:t>(d, b)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560" y="2709863"/>
            <a:ext cx="2736103" cy="270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42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Determine whether the relations for the directed graphs shown in Figure  are reflexive, symmetric, </a:t>
            </a:r>
            <a:r>
              <a:rPr lang="en-US" dirty="0" err="1"/>
              <a:t>antisymmetric</a:t>
            </a:r>
            <a:r>
              <a:rPr lang="en-US" dirty="0"/>
              <a:t>, and/or transitive.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900" dirty="0"/>
              <a:t>Because there are loops at every vertex of the directed graph of </a:t>
            </a:r>
            <a:r>
              <a:rPr lang="en-US" sz="1900" i="1" dirty="0"/>
              <a:t>R</a:t>
            </a:r>
            <a:r>
              <a:rPr lang="en-US" sz="1900" dirty="0"/>
              <a:t>, it is reflexive. </a:t>
            </a:r>
          </a:p>
          <a:p>
            <a:r>
              <a:rPr lang="en-US" sz="1900" i="1" dirty="0"/>
              <a:t>R </a:t>
            </a:r>
            <a:r>
              <a:rPr lang="en-US" sz="1900" dirty="0"/>
              <a:t>is neither symmetric nor </a:t>
            </a:r>
            <a:r>
              <a:rPr lang="en-US" sz="1900" dirty="0" err="1"/>
              <a:t>antisymmetric</a:t>
            </a:r>
            <a:r>
              <a:rPr lang="en-US" sz="1900" dirty="0"/>
              <a:t> because there is an edge from </a:t>
            </a:r>
            <a:r>
              <a:rPr lang="en-US" sz="1900" i="1" dirty="0"/>
              <a:t>a </a:t>
            </a:r>
            <a:r>
              <a:rPr lang="en-US" sz="1900" dirty="0"/>
              <a:t>to </a:t>
            </a:r>
            <a:r>
              <a:rPr lang="en-US" sz="1900" i="1" dirty="0"/>
              <a:t>b </a:t>
            </a:r>
            <a:r>
              <a:rPr lang="en-US" sz="1900" dirty="0"/>
              <a:t>but not one from </a:t>
            </a:r>
            <a:r>
              <a:rPr lang="en-US" sz="1900" i="1" dirty="0"/>
              <a:t>b </a:t>
            </a:r>
            <a:r>
              <a:rPr lang="en-US" sz="1900" dirty="0"/>
              <a:t>to </a:t>
            </a:r>
            <a:r>
              <a:rPr lang="en-US" sz="1900" i="1" dirty="0"/>
              <a:t>a</a:t>
            </a:r>
            <a:r>
              <a:rPr lang="en-US" sz="1900" dirty="0"/>
              <a:t>, but there are edges in both directions connecting </a:t>
            </a:r>
            <a:r>
              <a:rPr lang="en-US" sz="1900" i="1" dirty="0"/>
              <a:t>b </a:t>
            </a:r>
            <a:r>
              <a:rPr lang="en-US" sz="1900" dirty="0"/>
              <a:t>and </a:t>
            </a:r>
            <a:r>
              <a:rPr lang="en-US" sz="1900" i="1" dirty="0"/>
              <a:t>c</a:t>
            </a:r>
            <a:r>
              <a:rPr lang="en-US" sz="1900" dirty="0"/>
              <a:t>. </a:t>
            </a:r>
          </a:p>
          <a:p>
            <a:r>
              <a:rPr lang="en-US" sz="1900" dirty="0"/>
              <a:t>Finally, </a:t>
            </a:r>
            <a:r>
              <a:rPr lang="en-US" sz="1900" i="1" dirty="0"/>
              <a:t>R </a:t>
            </a:r>
            <a:r>
              <a:rPr lang="en-US" sz="1900" dirty="0"/>
              <a:t>is not transitive because there is an edge from </a:t>
            </a:r>
            <a:r>
              <a:rPr lang="en-US" sz="1900" i="1" dirty="0"/>
              <a:t>a </a:t>
            </a:r>
            <a:r>
              <a:rPr lang="en-US" sz="1900" dirty="0"/>
              <a:t>to </a:t>
            </a:r>
            <a:r>
              <a:rPr lang="en-US" sz="1900" i="1" dirty="0"/>
              <a:t>b </a:t>
            </a:r>
            <a:r>
              <a:rPr lang="en-US" sz="1900" dirty="0"/>
              <a:t>and an edge from </a:t>
            </a:r>
            <a:r>
              <a:rPr lang="en-US" sz="1900" i="1" dirty="0"/>
              <a:t>b </a:t>
            </a:r>
            <a:r>
              <a:rPr lang="en-US" sz="1900" dirty="0"/>
              <a:t>to </a:t>
            </a:r>
            <a:r>
              <a:rPr lang="en-US" sz="1900" i="1" dirty="0"/>
              <a:t>c</a:t>
            </a:r>
            <a:r>
              <a:rPr lang="en-US" sz="1900" dirty="0"/>
              <a:t>, but no edge from </a:t>
            </a:r>
            <a:r>
              <a:rPr lang="en-US" sz="1900" i="1" dirty="0"/>
              <a:t>a </a:t>
            </a:r>
            <a:r>
              <a:rPr lang="en-US" sz="1900" dirty="0"/>
              <a:t>to </a:t>
            </a:r>
            <a:r>
              <a:rPr lang="en-US" sz="1900" i="1" dirty="0"/>
              <a:t>c</a:t>
            </a:r>
            <a:r>
              <a:rPr lang="en-US" sz="1900" dirty="0"/>
              <a:t>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175" y="2362200"/>
            <a:ext cx="177165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204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Determine whether the relations for the directed graphs shown in Figure  are reflexive, symmetric, </a:t>
            </a:r>
            <a:r>
              <a:rPr lang="en-US" dirty="0" err="1"/>
              <a:t>antisymmetric</a:t>
            </a:r>
            <a:r>
              <a:rPr lang="en-US" dirty="0"/>
              <a:t>, and/or transitive.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sz="1900" dirty="0"/>
          </a:p>
          <a:p>
            <a:r>
              <a:rPr lang="en-US" sz="1900" dirty="0"/>
              <a:t>Because loops are not present at all the vertices of the directed graph of </a:t>
            </a:r>
            <a:r>
              <a:rPr lang="en-US" sz="1900" i="1" dirty="0"/>
              <a:t>S</a:t>
            </a:r>
            <a:r>
              <a:rPr lang="en-US" sz="1900" dirty="0"/>
              <a:t>, this relation is not reflexive.</a:t>
            </a:r>
          </a:p>
          <a:p>
            <a:r>
              <a:rPr lang="en-US" sz="1900" dirty="0"/>
              <a:t> It is symmetric and not </a:t>
            </a:r>
            <a:r>
              <a:rPr lang="en-US" sz="1900" dirty="0" err="1"/>
              <a:t>antisymmetric</a:t>
            </a:r>
            <a:r>
              <a:rPr lang="en-US" sz="1900" dirty="0"/>
              <a:t>, because every edge between distinct vertices is accompanied by an edge in the opposite direction. </a:t>
            </a:r>
          </a:p>
          <a:p>
            <a:r>
              <a:rPr lang="en-US" sz="1900" dirty="0"/>
              <a:t>It is also not hard to see from the directed graph that </a:t>
            </a:r>
            <a:r>
              <a:rPr lang="en-US" sz="1900" i="1" dirty="0"/>
              <a:t>S </a:t>
            </a:r>
            <a:r>
              <a:rPr lang="en-US" sz="1900" dirty="0"/>
              <a:t>is not transitive, because </a:t>
            </a:r>
            <a:r>
              <a:rPr lang="en-US" sz="1900" i="1" dirty="0"/>
              <a:t>(c, a) </a:t>
            </a:r>
            <a:r>
              <a:rPr lang="en-US" sz="1900" dirty="0"/>
              <a:t>and </a:t>
            </a:r>
            <a:r>
              <a:rPr lang="en-US" sz="1900" i="1" dirty="0"/>
              <a:t>(a, b) </a:t>
            </a:r>
            <a:r>
              <a:rPr lang="en-US" sz="1900" dirty="0"/>
              <a:t>belong to </a:t>
            </a:r>
            <a:r>
              <a:rPr lang="en-US" sz="1900" i="1" dirty="0"/>
              <a:t>S</a:t>
            </a:r>
            <a:r>
              <a:rPr lang="en-US" sz="1900" dirty="0"/>
              <a:t>, but </a:t>
            </a:r>
            <a:r>
              <a:rPr lang="en-US" sz="1900" i="1" dirty="0"/>
              <a:t>(c, b) </a:t>
            </a:r>
            <a:r>
              <a:rPr lang="en-US" sz="1900" dirty="0"/>
              <a:t>does not belong to </a:t>
            </a:r>
            <a:r>
              <a:rPr lang="en-US" sz="1900" i="1" dirty="0"/>
              <a:t>S</a:t>
            </a:r>
            <a:r>
              <a:rPr lang="en-US" sz="1900" dirty="0"/>
              <a:t>.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713" y="2362200"/>
            <a:ext cx="1552575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583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9.3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</a:t>
            </a:r>
          </a:p>
          <a:p>
            <a:r>
              <a:rPr lang="en-US" b="1" dirty="0"/>
              <a:t>2</a:t>
            </a:r>
          </a:p>
          <a:p>
            <a:r>
              <a:rPr lang="en-US" b="1" dirty="0"/>
              <a:t>3</a:t>
            </a:r>
          </a:p>
          <a:p>
            <a:r>
              <a:rPr lang="en-US" b="1" dirty="0"/>
              <a:t>7</a:t>
            </a:r>
          </a:p>
          <a:p>
            <a:r>
              <a:rPr lang="en-US" b="1" dirty="0"/>
              <a:t>19</a:t>
            </a:r>
          </a:p>
          <a:p>
            <a:r>
              <a:rPr lang="en-US" b="1" dirty="0"/>
              <a:t>21</a:t>
            </a:r>
          </a:p>
          <a:p>
            <a:r>
              <a:rPr lang="en-US" b="1" dirty="0"/>
              <a:t>23</a:t>
            </a:r>
          </a:p>
          <a:p>
            <a:r>
              <a:rPr lang="en-US" b="1" dirty="0"/>
              <a:t>25</a:t>
            </a:r>
          </a:p>
          <a:p>
            <a:r>
              <a:rPr lang="en-US" b="1" dirty="0"/>
              <a:t>31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Equivalence Relations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2209800"/>
            <a:ext cx="7086600" cy="1200329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 w="3810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A relation on a set </a:t>
            </a:r>
            <a:r>
              <a:rPr lang="en-US" sz="2400" b="1" i="1" dirty="0"/>
              <a:t>A is called an equivalence relation if it is reflexive, symmetric, and </a:t>
            </a:r>
            <a:r>
              <a:rPr lang="en-US" sz="2400" b="1" dirty="0"/>
              <a:t>transitive.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9.5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7261</TotalTime>
  <Words>2030</Words>
  <Application>Microsoft Office PowerPoint</Application>
  <PresentationFormat>On-screen Show (4:3)</PresentationFormat>
  <Paragraphs>151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Clarity</vt:lpstr>
      <vt:lpstr>Relations</vt:lpstr>
      <vt:lpstr>Relations and Their Properties</vt:lpstr>
      <vt:lpstr>Example</vt:lpstr>
      <vt:lpstr>Graphical Representation</vt:lpstr>
      <vt:lpstr>Relations on a Set</vt:lpstr>
      <vt:lpstr>Example</vt:lpstr>
      <vt:lpstr>Example</vt:lpstr>
      <vt:lpstr>Properties of Relations</vt:lpstr>
      <vt:lpstr>Reflexive and Irreflexive</vt:lpstr>
      <vt:lpstr>Example</vt:lpstr>
      <vt:lpstr>PowerPoint Presentation</vt:lpstr>
      <vt:lpstr>Symmetric and Anti-symmetric</vt:lpstr>
      <vt:lpstr>Example</vt:lpstr>
      <vt:lpstr>Example</vt:lpstr>
      <vt:lpstr>Transitive</vt:lpstr>
      <vt:lpstr>Example</vt:lpstr>
      <vt:lpstr>Example</vt:lpstr>
      <vt:lpstr>Exercise 9.1</vt:lpstr>
      <vt:lpstr>Representing Relations</vt:lpstr>
      <vt:lpstr>Representing Relations Using Matrices</vt:lpstr>
      <vt:lpstr>Example</vt:lpstr>
      <vt:lpstr>Example</vt:lpstr>
      <vt:lpstr>Reflexive</vt:lpstr>
      <vt:lpstr>Symmetric and Anti Symmetric</vt:lpstr>
      <vt:lpstr>Example</vt:lpstr>
      <vt:lpstr>Representing Relations Using Diagraphs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 9.3</vt:lpstr>
      <vt:lpstr>Equivalence Relations</vt:lpstr>
      <vt:lpstr>Exercise 9.5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Representing Relations Using Diagraphs</dc:title>
  <dc:creator>amna.humayun</dc:creator>
  <cp:lastModifiedBy>amna humayun</cp:lastModifiedBy>
  <cp:revision>73</cp:revision>
  <dcterms:created xsi:type="dcterms:W3CDTF">2014-01-07T03:38:45Z</dcterms:created>
  <dcterms:modified xsi:type="dcterms:W3CDTF">2024-12-17T10:52:20Z</dcterms:modified>
</cp:coreProperties>
</file>