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69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C2F6E-01F4-4336-9BC5-271917074C52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DD4CB-CF1D-4F57-978C-0745B83128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2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EDD4CB-CF1D-4F57-978C-0745B83128D6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357F53B-E36A-4C1F-9EDE-758B4F43415D}" type="datetimeFigureOut">
              <a:rPr lang="en-US" smtClean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5ECD014-EA40-4510-8036-8D360DAF607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Predicates and Quantifiers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Statements involving variables, such as</a:t>
            </a:r>
          </a:p>
          <a:p>
            <a:pPr>
              <a:buNone/>
            </a:pPr>
            <a:r>
              <a:rPr lang="es-ES" dirty="0"/>
              <a:t>	“</a:t>
            </a:r>
            <a:r>
              <a:rPr lang="es-ES" i="1" dirty="0"/>
              <a:t>x &gt; 3,” “x = y + 3,” “x + y = z,”</a:t>
            </a:r>
          </a:p>
          <a:p>
            <a:pPr>
              <a:buNone/>
            </a:pPr>
            <a:r>
              <a:rPr lang="en-US" dirty="0"/>
              <a:t>	“computer </a:t>
            </a:r>
            <a:r>
              <a:rPr lang="en-US" i="1" dirty="0"/>
              <a:t>x is under attack by an intruder,”</a:t>
            </a:r>
          </a:p>
          <a:p>
            <a:pPr>
              <a:buNone/>
            </a:pPr>
            <a:r>
              <a:rPr lang="en-US" dirty="0"/>
              <a:t>			and</a:t>
            </a:r>
          </a:p>
          <a:p>
            <a:pPr>
              <a:buNone/>
            </a:pPr>
            <a:r>
              <a:rPr lang="en-US" dirty="0"/>
              <a:t>	“computer </a:t>
            </a:r>
            <a:r>
              <a:rPr lang="en-US" i="1" dirty="0"/>
              <a:t>x is functioning properly,”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The statement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x is greater than 3” </a:t>
            </a:r>
            <a:r>
              <a:rPr lang="en-US" i="1" dirty="0"/>
              <a:t>has two parts. The </a:t>
            </a:r>
            <a:r>
              <a:rPr lang="en-US" i="1" dirty="0">
                <a:solidFill>
                  <a:srgbClr val="FF0000"/>
                </a:solidFill>
              </a:rPr>
              <a:t>first part</a:t>
            </a:r>
            <a:r>
              <a:rPr lang="en-US" i="1" dirty="0"/>
              <a:t>, the </a:t>
            </a:r>
            <a:r>
              <a:rPr lang="en-US" i="1" dirty="0">
                <a:solidFill>
                  <a:srgbClr val="FF0000"/>
                </a:solidFill>
              </a:rPr>
              <a:t>variable x, is the subject  </a:t>
            </a:r>
            <a:r>
              <a:rPr lang="en-US" dirty="0"/>
              <a:t>of the statement. </a:t>
            </a:r>
          </a:p>
          <a:p>
            <a:pPr>
              <a:buNone/>
            </a:pPr>
            <a:r>
              <a:rPr lang="en-US" dirty="0"/>
              <a:t>	The </a:t>
            </a:r>
            <a:r>
              <a:rPr lang="en-US" dirty="0">
                <a:solidFill>
                  <a:srgbClr val="FF0000"/>
                </a:solidFill>
              </a:rPr>
              <a:t>second part—the </a:t>
            </a:r>
            <a:r>
              <a:rPr lang="en-US" b="1" dirty="0">
                <a:solidFill>
                  <a:srgbClr val="FF0000"/>
                </a:solidFill>
              </a:rPr>
              <a:t>predicate, “is greater than 3”—refers to a property that </a:t>
            </a:r>
            <a:r>
              <a:rPr lang="en-US" dirty="0">
                <a:solidFill>
                  <a:srgbClr val="FF0000"/>
                </a:solidFill>
              </a:rPr>
              <a:t>the subject </a:t>
            </a:r>
            <a:r>
              <a:rPr lang="en-US" dirty="0"/>
              <a:t>of the statement can have. </a:t>
            </a:r>
          </a:p>
          <a:p>
            <a:pPr>
              <a:buNone/>
            </a:pPr>
            <a:r>
              <a:rPr lang="en-US" dirty="0"/>
              <a:t>	We can denote the statement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x is greater than 3” by P(x</a:t>
            </a:r>
            <a:r>
              <a:rPr lang="en-US" i="1" dirty="0"/>
              <a:t>), </a:t>
            </a:r>
            <a:r>
              <a:rPr lang="en-US" dirty="0"/>
              <a:t>where </a:t>
            </a:r>
            <a:r>
              <a:rPr lang="en-US" i="1" dirty="0"/>
              <a:t>P denotes the predicate “is greater than 3” and x is the variable. </a:t>
            </a:r>
          </a:p>
          <a:p>
            <a:pPr>
              <a:buNone/>
            </a:pPr>
            <a:r>
              <a:rPr lang="en-US" i="1" dirty="0"/>
              <a:t>	The statement P(x) is </a:t>
            </a:r>
            <a:r>
              <a:rPr lang="en-US" dirty="0"/>
              <a:t>also said to be the value of the </a:t>
            </a:r>
            <a:r>
              <a:rPr lang="en-US" b="1" dirty="0"/>
              <a:t>propositional function </a:t>
            </a:r>
            <a:r>
              <a:rPr lang="en-US" b="1" i="1" dirty="0"/>
              <a:t>P at x. Once a value has been assigned </a:t>
            </a:r>
            <a:r>
              <a:rPr lang="en-US" dirty="0"/>
              <a:t>to the variable </a:t>
            </a:r>
            <a:r>
              <a:rPr lang="en-US" i="1" dirty="0"/>
              <a:t>x, the statement P(x) becomes a proposition and has a truth value.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i="1" dirty="0"/>
              <a:t>P(x) denote the statement “x &gt; 3.” What are the truth values of P(4) and P(2)?</a:t>
            </a:r>
          </a:p>
          <a:p>
            <a:pPr>
              <a:buNone/>
            </a:pPr>
            <a:r>
              <a:rPr lang="en-US" i="1" dirty="0"/>
              <a:t>	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We obtain the statement P(4) by setting x = 4 in the statement “x &gt; 3.” </a:t>
            </a:r>
          </a:p>
          <a:p>
            <a:pPr>
              <a:buNone/>
            </a:pPr>
            <a:r>
              <a:rPr lang="en-US" i="1" dirty="0"/>
              <a:t>	Hence, P(4), which is the statement “4 &gt; 3,” is true. </a:t>
            </a:r>
          </a:p>
          <a:p>
            <a:pPr>
              <a:buNone/>
            </a:pPr>
            <a:r>
              <a:rPr lang="en-US" i="1" dirty="0"/>
              <a:t>	However, P(2), which is the statement “2 &gt; 3,” </a:t>
            </a:r>
            <a:r>
              <a:rPr lang="en-US" dirty="0"/>
              <a:t>is false.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A(x) denote the statement “Computer x is under attack by an intruder.” Suppose that of the </a:t>
            </a:r>
            <a:r>
              <a:rPr lang="en-US" dirty="0"/>
              <a:t>computers on campus, only CS2 and MATH1 are currently under attack by intruders. What are truth values of </a:t>
            </a:r>
            <a:r>
              <a:rPr lang="en-US" i="1" dirty="0"/>
              <a:t>A(CS1), A(CS2), and A(MATH1)?</a:t>
            </a:r>
          </a:p>
          <a:p>
            <a:pPr>
              <a:buNone/>
            </a:pPr>
            <a:endParaRPr lang="en-US" i="1" dirty="0"/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 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dirty="0"/>
              <a:t>Because CS1 is not on the list of computers currently under attack, we conclude that </a:t>
            </a:r>
            <a:r>
              <a:rPr lang="en-US" i="1" dirty="0">
                <a:solidFill>
                  <a:srgbClr val="FF0000"/>
                </a:solidFill>
              </a:rPr>
              <a:t>A(CS1) is false. 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</a:t>
            </a:r>
            <a:r>
              <a:rPr lang="en-US" i="1" dirty="0"/>
              <a:t>Similarly, because CS2 and MATH1 are on the list of </a:t>
            </a:r>
            <a:r>
              <a:rPr lang="en-US" dirty="0"/>
              <a:t>computers under attack, we know that </a:t>
            </a:r>
            <a:r>
              <a:rPr lang="en-US" i="1" dirty="0">
                <a:solidFill>
                  <a:srgbClr val="FF0000"/>
                </a:solidFill>
              </a:rPr>
              <a:t>A(CS2) and A(MATH1) are true.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Q(x, y) denote the statement “x = y + 3.” What are the truth values of the propositions Q(1, 2) and Q(3, 0)?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Solution: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i="1" dirty="0"/>
              <a:t>	 Q(1, 2) is </a:t>
            </a:r>
            <a:r>
              <a:rPr lang="en-US" dirty="0"/>
              <a:t>the statement “1 = 2 + 3,” which is false.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i="1" dirty="0"/>
              <a:t>Q(3, 0) is the proposition “3 = 0 + 3,” </a:t>
            </a:r>
            <a:r>
              <a:rPr lang="en-US" dirty="0"/>
              <a:t>which is true.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Let</a:t>
            </a:r>
            <a:r>
              <a:rPr lang="en-US" i="1" dirty="0" err="1"/>
              <a:t>R</a:t>
            </a:r>
            <a:r>
              <a:rPr lang="en-US" i="1" dirty="0"/>
              <a:t>(x, y, z) denote the </a:t>
            </a:r>
            <a:r>
              <a:rPr lang="en-US" i="1" dirty="0" err="1"/>
              <a:t>statement`‘x</a:t>
            </a:r>
            <a:r>
              <a:rPr lang="en-US" i="1" dirty="0"/>
              <a:t> + y = z.”</a:t>
            </a:r>
            <a:r>
              <a:rPr lang="en-US" dirty="0"/>
              <a:t> What are the truth values of the propositions </a:t>
            </a:r>
            <a:r>
              <a:rPr lang="en-US" i="1" dirty="0"/>
              <a:t>R(1, 2, 3) and R(0, 0, 1)?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i="1" dirty="0"/>
              <a:t>	R(1, 2, 3) is the statement “1 + 2 = 3,” which is true. </a:t>
            </a:r>
          </a:p>
          <a:p>
            <a:pPr>
              <a:buNone/>
            </a:pPr>
            <a:r>
              <a:rPr lang="en-US" i="1" dirty="0"/>
              <a:t>   R(0, 0, 1), which is the statement “0 + 0 = 1,” is false.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Quantification expresses the extent to which a predicate is true over a range of elements. In English, the words </a:t>
            </a:r>
            <a:r>
              <a:rPr lang="en-US" i="1" dirty="0">
                <a:solidFill>
                  <a:srgbClr val="FF0000"/>
                </a:solidFill>
              </a:rPr>
              <a:t>all, some, many, none, and few </a:t>
            </a:r>
            <a:r>
              <a:rPr lang="en-US" i="1" dirty="0"/>
              <a:t>are used in quantifications. </a:t>
            </a:r>
          </a:p>
          <a:p>
            <a:r>
              <a:rPr lang="en-US" i="1" dirty="0"/>
              <a:t>We will focus on two types of quantification </a:t>
            </a:r>
            <a:r>
              <a:rPr lang="en-US" dirty="0"/>
              <a:t>here:</a:t>
            </a:r>
          </a:p>
          <a:p>
            <a:r>
              <a:rPr lang="en-US" dirty="0">
                <a:solidFill>
                  <a:srgbClr val="FF0000"/>
                </a:solidFill>
              </a:rPr>
              <a:t>Universal quantification</a:t>
            </a:r>
            <a:r>
              <a:rPr lang="en-US" dirty="0"/>
              <a:t>, which tells us that a predicate is true for every element under consideration.</a:t>
            </a:r>
          </a:p>
          <a:p>
            <a:r>
              <a:rPr lang="en-US" dirty="0">
                <a:solidFill>
                  <a:srgbClr val="FF0000"/>
                </a:solidFill>
              </a:rPr>
              <a:t>Existential quantification</a:t>
            </a:r>
            <a:r>
              <a:rPr lang="en-US" dirty="0"/>
              <a:t>, which tells us that there is one or more element under consideration for which the predicate is true. </a:t>
            </a:r>
          </a:p>
          <a:p>
            <a:r>
              <a:rPr lang="en-US" dirty="0"/>
              <a:t>The area of logic that deals with predicates and quantifiers is called </a:t>
            </a:r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predicate calculus</a:t>
            </a:r>
            <a:r>
              <a:rPr lang="en-US" b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Many mathematical statements assert that a </a:t>
            </a:r>
            <a:r>
              <a:rPr lang="en-US" dirty="0">
                <a:solidFill>
                  <a:srgbClr val="FF0000"/>
                </a:solidFill>
              </a:rPr>
              <a:t>property is true for all values </a:t>
            </a:r>
            <a:r>
              <a:rPr lang="en-US" dirty="0"/>
              <a:t>of a variable in a particular domain</a:t>
            </a:r>
            <a:r>
              <a:rPr lang="en-US" b="1" dirty="0"/>
              <a:t>. </a:t>
            </a:r>
          </a:p>
          <a:p>
            <a:r>
              <a:rPr lang="en-US" b="1" dirty="0"/>
              <a:t>Such a statement is expressed </a:t>
            </a:r>
            <a:r>
              <a:rPr lang="en-US" dirty="0"/>
              <a:t>using universal quantification.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universal quantification of </a:t>
            </a:r>
            <a:r>
              <a:rPr lang="en-US" i="1" dirty="0">
                <a:solidFill>
                  <a:srgbClr val="FF0000"/>
                </a:solidFill>
              </a:rPr>
              <a:t>P(x) </a:t>
            </a:r>
            <a:r>
              <a:rPr lang="en-US" i="1" dirty="0"/>
              <a:t>for a </a:t>
            </a:r>
            <a:r>
              <a:rPr lang="en-US" i="1" dirty="0">
                <a:solidFill>
                  <a:srgbClr val="FF0000"/>
                </a:solidFill>
              </a:rPr>
              <a:t>particular domain </a:t>
            </a:r>
            <a:r>
              <a:rPr lang="en-US" i="1" dirty="0"/>
              <a:t>is the </a:t>
            </a:r>
            <a:r>
              <a:rPr lang="en-US" dirty="0"/>
              <a:t>proposition that asserts </a:t>
            </a:r>
            <a:r>
              <a:rPr lang="en-US" dirty="0">
                <a:solidFill>
                  <a:srgbClr val="FF0000"/>
                </a:solidFill>
              </a:rPr>
              <a:t>that </a:t>
            </a:r>
            <a:r>
              <a:rPr lang="en-US" i="1" dirty="0">
                <a:solidFill>
                  <a:srgbClr val="FF0000"/>
                </a:solidFill>
              </a:rPr>
              <a:t>P(x) is true for all values of x in this domain</a:t>
            </a:r>
            <a:r>
              <a:rPr lang="en-US" i="1" dirty="0"/>
              <a:t>. </a:t>
            </a:r>
          </a:p>
          <a:p>
            <a:r>
              <a:rPr lang="en-US" i="1" dirty="0"/>
              <a:t>The </a:t>
            </a:r>
            <a:r>
              <a:rPr lang="en-US" i="1" dirty="0">
                <a:solidFill>
                  <a:srgbClr val="FF0000"/>
                </a:solidFill>
              </a:rPr>
              <a:t>domain must always be specified </a:t>
            </a:r>
            <a:r>
              <a:rPr lang="en-US" i="1" dirty="0"/>
              <a:t>when a </a:t>
            </a:r>
            <a:r>
              <a:rPr lang="en-US" dirty="0"/>
              <a:t>universal quantifier is used; without it, the universal quantification of a statement is not defined.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2438400"/>
            <a:ext cx="827420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</a:t>
            </a:r>
            <a:r>
              <a:rPr lang="en-US" i="1" dirty="0"/>
              <a:t>P(x) be the statement “x + 1 &gt; x.” What is the truth value of the quantification ∀</a:t>
            </a:r>
            <a:r>
              <a:rPr lang="en-US" i="1" dirty="0" err="1"/>
              <a:t>xP</a:t>
            </a:r>
            <a:r>
              <a:rPr lang="en-US" i="1" dirty="0"/>
              <a:t>(x),</a:t>
            </a:r>
          </a:p>
          <a:p>
            <a:pPr>
              <a:buNone/>
            </a:pPr>
            <a:r>
              <a:rPr lang="en-US" dirty="0"/>
              <a:t>     where the domain consists of all real numbers?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 </a:t>
            </a:r>
            <a:r>
              <a:rPr lang="en-US" i="1" dirty="0"/>
              <a:t>Because P(x) is true for all real numbers x, the quantification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∀</a:t>
            </a:r>
            <a:r>
              <a:rPr lang="en-US" i="1" dirty="0" err="1">
                <a:solidFill>
                  <a:srgbClr val="0070C0"/>
                </a:solidFill>
              </a:rPr>
              <a:t>xP</a:t>
            </a:r>
            <a:r>
              <a:rPr lang="en-US" i="1" dirty="0">
                <a:solidFill>
                  <a:srgbClr val="0070C0"/>
                </a:solidFill>
              </a:rPr>
              <a:t>(x)  </a:t>
            </a:r>
            <a:r>
              <a:rPr lang="en-US" dirty="0">
                <a:solidFill>
                  <a:srgbClr val="0070C0"/>
                </a:solidFill>
              </a:rPr>
              <a:t>is true.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Q(x) be the statement “x &lt; 2.” What is the truth value of the quantification ∀</a:t>
            </a:r>
            <a:r>
              <a:rPr lang="en-US" i="1" dirty="0" err="1"/>
              <a:t>xQ</a:t>
            </a:r>
            <a:r>
              <a:rPr lang="en-US" i="1" dirty="0"/>
              <a:t>(x), where </a:t>
            </a:r>
            <a:r>
              <a:rPr lang="en-US" dirty="0"/>
              <a:t>the domain consists of all real numbers?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Solution</a:t>
            </a:r>
            <a:r>
              <a:rPr lang="en-US" i="1" dirty="0"/>
              <a:t>: </a:t>
            </a:r>
          </a:p>
          <a:p>
            <a:pPr>
              <a:buNone/>
            </a:pPr>
            <a:r>
              <a:rPr lang="en-US" i="1" dirty="0"/>
              <a:t>	Q(x) is not true for every real number x, because, for instance, Q(3) is false. That </a:t>
            </a:r>
            <a:r>
              <a:rPr lang="en-US" i="1" dirty="0" err="1"/>
              <a:t>is,x</a:t>
            </a:r>
            <a:r>
              <a:rPr lang="en-US" i="1" dirty="0"/>
              <a:t> = 3 is a counterexample for the statement ∀</a:t>
            </a:r>
            <a:r>
              <a:rPr lang="en-US" i="1" dirty="0" err="1"/>
              <a:t>xQ</a:t>
            </a:r>
            <a:r>
              <a:rPr lang="en-US" i="1" dirty="0"/>
              <a:t>(x). 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0070C0"/>
                </a:solidFill>
              </a:rPr>
              <a:t>Thus </a:t>
            </a:r>
            <a:r>
              <a:rPr lang="en-US" dirty="0">
                <a:solidFill>
                  <a:srgbClr val="0070C0"/>
                </a:solidFill>
              </a:rPr>
              <a:t>∀</a:t>
            </a:r>
            <a:r>
              <a:rPr lang="en-US" i="1" dirty="0" err="1">
                <a:solidFill>
                  <a:srgbClr val="0070C0"/>
                </a:solidFill>
              </a:rPr>
              <a:t>xQ</a:t>
            </a:r>
            <a:r>
              <a:rPr lang="en-US" i="1" dirty="0">
                <a:solidFill>
                  <a:srgbClr val="0070C0"/>
                </a:solidFill>
              </a:rPr>
              <a:t>(x) </a:t>
            </a:r>
            <a:r>
              <a:rPr lang="en-US" dirty="0">
                <a:solidFill>
                  <a:srgbClr val="0070C0"/>
                </a:solidFill>
              </a:rPr>
              <a:t>is false.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Besides “</a:t>
            </a:r>
            <a:r>
              <a:rPr lang="en-US" dirty="0">
                <a:solidFill>
                  <a:srgbClr val="FF0000"/>
                </a:solidFill>
              </a:rPr>
              <a:t>for all</a:t>
            </a:r>
            <a:r>
              <a:rPr lang="en-US" dirty="0"/>
              <a:t>” and “</a:t>
            </a:r>
            <a:r>
              <a:rPr lang="en-US" dirty="0">
                <a:solidFill>
                  <a:srgbClr val="FF0000"/>
                </a:solidFill>
              </a:rPr>
              <a:t>for every,</a:t>
            </a:r>
            <a:r>
              <a:rPr lang="en-US" dirty="0"/>
              <a:t>” universal quantification can be expressed in many other ways, including “</a:t>
            </a:r>
            <a:r>
              <a:rPr lang="en-US" dirty="0">
                <a:solidFill>
                  <a:srgbClr val="FF0000"/>
                </a:solidFill>
              </a:rPr>
              <a:t>all of</a:t>
            </a:r>
            <a:r>
              <a:rPr lang="en-US" dirty="0"/>
              <a:t>,” “</a:t>
            </a:r>
            <a:r>
              <a:rPr lang="en-US" dirty="0">
                <a:solidFill>
                  <a:srgbClr val="FF0000"/>
                </a:solidFill>
              </a:rPr>
              <a:t>for each</a:t>
            </a:r>
            <a:r>
              <a:rPr lang="en-US" dirty="0"/>
              <a:t>,” “</a:t>
            </a:r>
            <a:r>
              <a:rPr lang="en-US" dirty="0">
                <a:solidFill>
                  <a:srgbClr val="FF0000"/>
                </a:solidFill>
              </a:rPr>
              <a:t>given any</a:t>
            </a:r>
            <a:r>
              <a:rPr lang="en-US" dirty="0"/>
              <a:t>,” “</a:t>
            </a:r>
            <a:r>
              <a:rPr lang="en-US" dirty="0">
                <a:solidFill>
                  <a:srgbClr val="FF0000"/>
                </a:solidFill>
              </a:rPr>
              <a:t>for arbitrary</a:t>
            </a:r>
            <a:r>
              <a:rPr lang="en-US" dirty="0"/>
              <a:t>”  and “</a:t>
            </a:r>
            <a:r>
              <a:rPr lang="en-US" dirty="0">
                <a:solidFill>
                  <a:srgbClr val="FF0000"/>
                </a:solidFill>
              </a:rPr>
              <a:t>for any</a:t>
            </a:r>
            <a:r>
              <a:rPr lang="en-US" dirty="0"/>
              <a:t>.”</a:t>
            </a:r>
          </a:p>
          <a:p>
            <a:r>
              <a:rPr lang="en-US" dirty="0"/>
              <a:t>One way to show that </a:t>
            </a:r>
            <a:r>
              <a:rPr lang="en-US" i="1" dirty="0"/>
              <a:t>P(x) is not always true when x is in the </a:t>
            </a:r>
            <a:r>
              <a:rPr lang="en-US" dirty="0"/>
              <a:t>domain is to find a counterexample to the statement ∀</a:t>
            </a:r>
            <a:r>
              <a:rPr lang="en-US" i="1" dirty="0" err="1"/>
              <a:t>xP</a:t>
            </a:r>
            <a:r>
              <a:rPr lang="en-US" i="1" dirty="0"/>
              <a:t>(x). Note that a </a:t>
            </a:r>
            <a:r>
              <a:rPr lang="en-US" i="1" dirty="0">
                <a:solidFill>
                  <a:srgbClr val="FF0000"/>
                </a:solidFill>
              </a:rPr>
              <a:t>single counterexample </a:t>
            </a:r>
            <a:r>
              <a:rPr lang="en-US" i="1" dirty="0"/>
              <a:t>is </a:t>
            </a:r>
            <a:r>
              <a:rPr lang="en-US" dirty="0"/>
              <a:t>all we need to establish that </a:t>
            </a:r>
            <a:r>
              <a:rPr lang="en-US" dirty="0">
                <a:solidFill>
                  <a:srgbClr val="FF0000"/>
                </a:solidFill>
              </a:rPr>
              <a:t>∀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 is false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QUANTIFIER…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When all the elements in the domain can be listed—say, </a:t>
            </a:r>
            <a:r>
              <a:rPr lang="en-US" i="1" dirty="0"/>
              <a:t>x1, x2, . . ., </a:t>
            </a:r>
            <a:r>
              <a:rPr lang="en-US" i="1" dirty="0" err="1"/>
              <a:t>xn</a:t>
            </a:r>
            <a:r>
              <a:rPr lang="en-US" i="1" dirty="0"/>
              <a:t> —it follows that the </a:t>
            </a:r>
            <a:r>
              <a:rPr lang="en-US" dirty="0"/>
              <a:t>universal quantification ∀</a:t>
            </a:r>
            <a:r>
              <a:rPr lang="en-US" i="1" dirty="0" err="1"/>
              <a:t>xP</a:t>
            </a:r>
            <a:r>
              <a:rPr lang="en-US" i="1" dirty="0"/>
              <a:t>(x) is the same as the conjunction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P(x1) ∧ P(x2) ∧ · · · ∧ P(</a:t>
            </a:r>
            <a:r>
              <a:rPr lang="en-US" i="1" dirty="0" err="1">
                <a:solidFill>
                  <a:srgbClr val="FF0000"/>
                </a:solidFill>
              </a:rPr>
              <a:t>xn</a:t>
            </a:r>
            <a:r>
              <a:rPr lang="en-US" i="1" dirty="0">
                <a:solidFill>
                  <a:srgbClr val="FF0000"/>
                </a:solidFill>
              </a:rPr>
              <a:t>),</a:t>
            </a:r>
          </a:p>
          <a:p>
            <a:pPr>
              <a:buNone/>
            </a:pPr>
            <a:r>
              <a:rPr lang="en-US" dirty="0"/>
              <a:t>	because this </a:t>
            </a:r>
            <a:r>
              <a:rPr lang="en-US" dirty="0">
                <a:solidFill>
                  <a:srgbClr val="FF0000"/>
                </a:solidFill>
              </a:rPr>
              <a:t>conjunction is true if and only if </a:t>
            </a:r>
            <a:r>
              <a:rPr lang="en-US" i="1" dirty="0">
                <a:solidFill>
                  <a:srgbClr val="FF0000"/>
                </a:solidFill>
              </a:rPr>
              <a:t>P(x1), P(x2), . . . , P (</a:t>
            </a:r>
            <a:r>
              <a:rPr lang="en-US" i="1" dirty="0" err="1">
                <a:solidFill>
                  <a:srgbClr val="FF0000"/>
                </a:solidFill>
              </a:rPr>
              <a:t>xn</a:t>
            </a:r>
            <a:r>
              <a:rPr lang="en-US" i="1" dirty="0">
                <a:solidFill>
                  <a:srgbClr val="FF0000"/>
                </a:solidFill>
              </a:rPr>
              <a:t>) are all true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</a:t>
            </a:r>
            <a:r>
              <a:rPr lang="en-US" i="1" dirty="0"/>
              <a:t>P(x) is “x</a:t>
            </a:r>
            <a:r>
              <a:rPr lang="en-US" i="1" baseline="30000" dirty="0"/>
              <a:t>2</a:t>
            </a:r>
            <a:r>
              <a:rPr lang="en-US" i="1" dirty="0"/>
              <a:t> &gt; 0” , where the universe </a:t>
            </a:r>
            <a:r>
              <a:rPr lang="en-US" dirty="0"/>
              <a:t>of discourse consists of all integers.</a:t>
            </a:r>
            <a:endParaRPr lang="en-US" i="1" dirty="0"/>
          </a:p>
          <a:p>
            <a:r>
              <a:rPr lang="en-US" i="1" dirty="0"/>
              <a:t>To show that the statement ∀</a:t>
            </a:r>
            <a:r>
              <a:rPr lang="en-US" i="1" dirty="0" err="1"/>
              <a:t>xP</a:t>
            </a:r>
            <a:r>
              <a:rPr lang="en-US" i="1" dirty="0"/>
              <a:t>(x) is false</a:t>
            </a:r>
            <a:r>
              <a:rPr lang="en-US" dirty="0"/>
              <a:t>, we give a counterexample. </a:t>
            </a:r>
          </a:p>
          <a:p>
            <a:r>
              <a:rPr lang="en-US" dirty="0"/>
              <a:t>We see that </a:t>
            </a:r>
            <a:r>
              <a:rPr lang="en-US" i="1" dirty="0"/>
              <a:t>x = 0 is a </a:t>
            </a:r>
            <a:r>
              <a:rPr lang="en-US" dirty="0"/>
              <a:t>counterexample because </a:t>
            </a:r>
            <a:r>
              <a:rPr lang="en-US" i="1" dirty="0"/>
              <a:t>x</a:t>
            </a:r>
            <a:r>
              <a:rPr lang="en-US" i="1" baseline="30000" dirty="0"/>
              <a:t>2</a:t>
            </a:r>
            <a:r>
              <a:rPr lang="en-US" i="1" dirty="0"/>
              <a:t> = 0 when x = 0, so that x</a:t>
            </a:r>
            <a:r>
              <a:rPr lang="en-US" i="1" baseline="30000" dirty="0"/>
              <a:t>2</a:t>
            </a:r>
            <a:r>
              <a:rPr lang="en-US" i="1" dirty="0"/>
              <a:t> is not greater than 0 when x = 0.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	What is the truth value of ∀</a:t>
            </a:r>
            <a:r>
              <a:rPr lang="en-US" i="1" dirty="0" err="1"/>
              <a:t>xP</a:t>
            </a:r>
            <a:r>
              <a:rPr lang="en-US" i="1" dirty="0"/>
              <a:t>(x), where P(x) is the statement “x</a:t>
            </a:r>
            <a:r>
              <a:rPr lang="en-US" i="1" baseline="30000" dirty="0"/>
              <a:t>2 </a:t>
            </a:r>
            <a:r>
              <a:rPr lang="en-US" i="1" dirty="0"/>
              <a:t>&lt; 10” and the domain </a:t>
            </a:r>
            <a:r>
              <a:rPr lang="en-US" dirty="0"/>
              <a:t>consists of the positive integers not exceeding 4?</a:t>
            </a:r>
          </a:p>
          <a:p>
            <a:r>
              <a:rPr lang="en-US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The statement ∀</a:t>
            </a:r>
            <a:r>
              <a:rPr lang="en-US" i="1" dirty="0" err="1"/>
              <a:t>xP</a:t>
            </a:r>
            <a:r>
              <a:rPr lang="en-US" i="1" dirty="0"/>
              <a:t>(x) is the same as the conjunction P(1) ∧ P(2) ∧ P(3) ∧ P(4), 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dirty="0"/>
              <a:t>because the domain consists of the integers 1, 2, 3, and 4. Because </a:t>
            </a:r>
            <a:r>
              <a:rPr lang="en-US" i="1" dirty="0"/>
              <a:t>P(4), which is the statement </a:t>
            </a:r>
            <a:r>
              <a:rPr lang="en-US" dirty="0"/>
              <a:t>“4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i="1" dirty="0"/>
              <a:t>&lt; 10,” is false, it follows that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∀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 is false.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What is the truth value of ∀</a:t>
            </a:r>
            <a:r>
              <a:rPr lang="en-US" i="1" dirty="0"/>
              <a:t>x(x</a:t>
            </a:r>
            <a:r>
              <a:rPr lang="en-US" i="1" baseline="30000" dirty="0"/>
              <a:t>2</a:t>
            </a:r>
            <a:r>
              <a:rPr lang="en-US" i="1" dirty="0"/>
              <a:t> ≥ x) if the domain consists of all real numbers? </a:t>
            </a:r>
          </a:p>
          <a:p>
            <a:pPr>
              <a:buNone/>
            </a:pPr>
            <a:r>
              <a:rPr lang="en-US" i="1" dirty="0"/>
              <a:t>    What is the </a:t>
            </a:r>
            <a:r>
              <a:rPr lang="en-US" dirty="0"/>
              <a:t>truth value of this statement if the domain consists of all integers?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</a:t>
            </a:r>
            <a:r>
              <a:rPr lang="en-US" sz="2800" i="1" dirty="0">
                <a:solidFill>
                  <a:srgbClr val="FF0000"/>
                </a:solidFill>
              </a:rPr>
              <a:t>Solution:</a:t>
            </a:r>
            <a:r>
              <a:rPr lang="en-US" sz="2800" i="1" dirty="0"/>
              <a:t> The universal quantification ∀x(x</a:t>
            </a:r>
            <a:r>
              <a:rPr lang="en-US" sz="2800" i="1" baseline="30000" dirty="0"/>
              <a:t>2</a:t>
            </a:r>
            <a:r>
              <a:rPr lang="en-US" sz="2800" i="1" dirty="0"/>
              <a:t> ≥ x), where the domain consists of all real numbers, </a:t>
            </a:r>
            <a:r>
              <a:rPr lang="en-US" sz="2800" dirty="0"/>
              <a:t>is false. For example, </a:t>
            </a:r>
            <a:r>
              <a:rPr lang="en-US" sz="2800" i="1" dirty="0"/>
              <a:t>( 1/</a:t>
            </a:r>
            <a:r>
              <a:rPr lang="en-US" sz="2800" dirty="0"/>
              <a:t>2 </a:t>
            </a:r>
            <a:r>
              <a:rPr lang="en-US" sz="2800" i="1" dirty="0"/>
              <a:t>)</a:t>
            </a:r>
            <a:r>
              <a:rPr lang="en-US" sz="2800" i="1" baseline="30000" dirty="0"/>
              <a:t>2</a:t>
            </a:r>
            <a:r>
              <a:rPr lang="en-US" sz="2800" i="1" dirty="0"/>
              <a:t> ≥ 1/</a:t>
            </a:r>
            <a:r>
              <a:rPr lang="en-US" sz="2800" dirty="0"/>
              <a:t>2 .</a:t>
            </a:r>
          </a:p>
          <a:p>
            <a:pPr>
              <a:buNone/>
            </a:pPr>
            <a:r>
              <a:rPr lang="en-US" sz="2800" dirty="0"/>
              <a:t>	However, if the domain consists of the integers, ∀</a:t>
            </a:r>
            <a:r>
              <a:rPr lang="en-US" sz="2800" i="1" dirty="0"/>
              <a:t>x(x</a:t>
            </a:r>
            <a:r>
              <a:rPr lang="en-US" sz="2800" i="1" baseline="30000" dirty="0"/>
              <a:t>2</a:t>
            </a:r>
            <a:r>
              <a:rPr lang="en-US" sz="2800" i="1" dirty="0"/>
              <a:t> ≥ x) is true,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EXISTENTIAL QUANTIFIER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314" y="2362200"/>
            <a:ext cx="8665029" cy="1828800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EXISTENTIAL QUANTIFIER…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419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domain must always be specified when a statement ∃</a:t>
            </a:r>
            <a:r>
              <a:rPr lang="en-US" i="1" dirty="0" err="1"/>
              <a:t>xP</a:t>
            </a:r>
            <a:r>
              <a:rPr lang="en-US" i="1" dirty="0"/>
              <a:t>(x) is used. Furthermore, the </a:t>
            </a:r>
            <a:r>
              <a:rPr lang="en-US" dirty="0"/>
              <a:t>meaning of ∃</a:t>
            </a:r>
            <a:r>
              <a:rPr lang="en-US" i="1" dirty="0" err="1"/>
              <a:t>xP</a:t>
            </a:r>
            <a:r>
              <a:rPr lang="en-US" i="1" dirty="0"/>
              <a:t>(x) changes when the domain changes. Without specifying the domain, the </a:t>
            </a:r>
            <a:r>
              <a:rPr lang="en-US" dirty="0"/>
              <a:t>statement ∃</a:t>
            </a:r>
            <a:r>
              <a:rPr lang="en-US" i="1" dirty="0" err="1"/>
              <a:t>xP</a:t>
            </a:r>
            <a:r>
              <a:rPr lang="en-US" i="1" dirty="0"/>
              <a:t>(x) has no meaning.</a:t>
            </a:r>
          </a:p>
          <a:p>
            <a:r>
              <a:rPr lang="en-US" dirty="0"/>
              <a:t>Besides the phrase </a:t>
            </a:r>
            <a:r>
              <a:rPr lang="en-US" dirty="0">
                <a:solidFill>
                  <a:srgbClr val="FF0000"/>
                </a:solidFill>
              </a:rPr>
              <a:t>“there </a:t>
            </a:r>
            <a:r>
              <a:rPr lang="en-US" dirty="0" err="1">
                <a:solidFill>
                  <a:srgbClr val="FF0000"/>
                </a:solidFill>
              </a:rPr>
              <a:t>exists</a:t>
            </a:r>
            <a:r>
              <a:rPr lang="en-US" dirty="0" err="1"/>
              <a:t>”,we</a:t>
            </a:r>
            <a:r>
              <a:rPr lang="en-US" dirty="0"/>
              <a:t> can also express existential quantification in many other ways, such as by using the words </a:t>
            </a:r>
            <a:r>
              <a:rPr lang="en-US" dirty="0">
                <a:solidFill>
                  <a:srgbClr val="FF0000"/>
                </a:solidFill>
              </a:rPr>
              <a:t>“for some</a:t>
            </a:r>
            <a:r>
              <a:rPr lang="en-US" dirty="0"/>
              <a:t>,” “</a:t>
            </a:r>
            <a:r>
              <a:rPr lang="en-US" dirty="0">
                <a:solidFill>
                  <a:srgbClr val="FF0000"/>
                </a:solidFill>
              </a:rPr>
              <a:t>for at least one</a:t>
            </a:r>
            <a:r>
              <a:rPr lang="en-US" dirty="0"/>
              <a:t>,” or “</a:t>
            </a:r>
            <a:r>
              <a:rPr lang="en-US" dirty="0">
                <a:solidFill>
                  <a:srgbClr val="FF0000"/>
                </a:solidFill>
              </a:rPr>
              <a:t>there is.” </a:t>
            </a:r>
          </a:p>
          <a:p>
            <a:r>
              <a:rPr lang="en-US" dirty="0"/>
              <a:t>The existential quantification ∃</a:t>
            </a:r>
            <a:r>
              <a:rPr lang="en-US" i="1" dirty="0" err="1"/>
              <a:t>xP</a:t>
            </a:r>
            <a:r>
              <a:rPr lang="en-US" i="1" dirty="0"/>
              <a:t>(x) is read as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rgbClr val="FF0000"/>
                </a:solidFill>
              </a:rPr>
              <a:t>There is an </a:t>
            </a:r>
            <a:r>
              <a:rPr lang="en-US" i="1" dirty="0">
                <a:solidFill>
                  <a:srgbClr val="FF0000"/>
                </a:solidFill>
              </a:rPr>
              <a:t>x such that P(x),”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rgbClr val="FF0000"/>
                </a:solidFill>
              </a:rPr>
              <a:t>There is at least one </a:t>
            </a:r>
            <a:r>
              <a:rPr lang="en-US" i="1" dirty="0">
                <a:solidFill>
                  <a:srgbClr val="FF0000"/>
                </a:solidFill>
              </a:rPr>
              <a:t>x such that P(x</a:t>
            </a:r>
            <a:r>
              <a:rPr lang="en-US" i="1" dirty="0"/>
              <a:t>),”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or “For some 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</a:t>
            </a:r>
            <a:r>
              <a:rPr lang="en-US" i="1" dirty="0"/>
              <a:t>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5715000"/>
            <a:ext cx="7239000" cy="914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Observe that the statement ∃</a:t>
            </a:r>
            <a:r>
              <a:rPr lang="en-US" b="1" i="1" dirty="0" err="1">
                <a:solidFill>
                  <a:schemeClr val="bg1"/>
                </a:solidFill>
              </a:rPr>
              <a:t>xP</a:t>
            </a:r>
            <a:r>
              <a:rPr lang="en-US" b="1" i="1" dirty="0">
                <a:solidFill>
                  <a:schemeClr val="bg1"/>
                </a:solidFill>
              </a:rPr>
              <a:t>(x) is false if and only if there is no element x in the domain </a:t>
            </a:r>
            <a:r>
              <a:rPr lang="en-US" b="1" dirty="0">
                <a:solidFill>
                  <a:schemeClr val="bg1"/>
                </a:solidFill>
              </a:rPr>
              <a:t>for which </a:t>
            </a:r>
            <a:r>
              <a:rPr lang="en-US" b="1" i="1" dirty="0">
                <a:solidFill>
                  <a:schemeClr val="bg1"/>
                </a:solidFill>
              </a:rPr>
              <a:t>P(x) is true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P(x) denote the statement “x &gt; 3.” What is the truth value of the quantification ∃</a:t>
            </a:r>
            <a:r>
              <a:rPr lang="en-US" i="1" dirty="0" err="1"/>
              <a:t>xP</a:t>
            </a:r>
            <a:r>
              <a:rPr lang="en-US" i="1" dirty="0"/>
              <a:t>(x), </a:t>
            </a:r>
            <a:r>
              <a:rPr lang="en-US" dirty="0"/>
              <a:t>where the domain consists of all real numbers?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Solution: </a:t>
            </a:r>
            <a:r>
              <a:rPr lang="en-US" i="1" dirty="0"/>
              <a:t>Because “x &gt; 3” is sometimes true—for instance, when x = 4—the existential quantification </a:t>
            </a:r>
            <a:r>
              <a:rPr lang="en-US" dirty="0"/>
              <a:t>of </a:t>
            </a:r>
            <a:r>
              <a:rPr lang="en-US" i="1" dirty="0"/>
              <a:t>P(x), which is </a:t>
            </a:r>
            <a:r>
              <a:rPr lang="en-US" i="1" dirty="0">
                <a:solidFill>
                  <a:srgbClr val="FF0000"/>
                </a:solidFill>
              </a:rPr>
              <a:t>∃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(x), is true.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Let </a:t>
            </a:r>
            <a:r>
              <a:rPr lang="en-US" i="1" dirty="0"/>
              <a:t>Q(x) denote the statement “x = x + 1.”What is the truth value of the quantification ∃</a:t>
            </a:r>
            <a:r>
              <a:rPr lang="en-US" i="1" dirty="0" err="1"/>
              <a:t>xQ</a:t>
            </a:r>
            <a:r>
              <a:rPr lang="en-US" i="1" dirty="0"/>
              <a:t>(x), </a:t>
            </a:r>
            <a:r>
              <a:rPr lang="en-US" dirty="0"/>
              <a:t>where the domain consists of all real numbers?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Solution:</a:t>
            </a:r>
            <a:r>
              <a:rPr lang="en-US" i="1" dirty="0"/>
              <a:t> Because Q(x) is false for every real number x, the existential quantification of Q(x),</a:t>
            </a:r>
          </a:p>
          <a:p>
            <a:pPr>
              <a:buNone/>
            </a:pPr>
            <a:r>
              <a:rPr lang="en-US" dirty="0"/>
              <a:t>	which is </a:t>
            </a:r>
            <a:r>
              <a:rPr lang="en-US" dirty="0">
                <a:solidFill>
                  <a:srgbClr val="FF0000"/>
                </a:solidFill>
              </a:rPr>
              <a:t>∃</a:t>
            </a:r>
            <a:r>
              <a:rPr lang="en-US" i="1" dirty="0" err="1">
                <a:solidFill>
                  <a:srgbClr val="FF0000"/>
                </a:solidFill>
              </a:rPr>
              <a:t>xQ</a:t>
            </a:r>
            <a:r>
              <a:rPr lang="en-US" i="1" dirty="0">
                <a:solidFill>
                  <a:srgbClr val="FF0000"/>
                </a:solidFill>
              </a:rPr>
              <a:t>(x), is false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EXISTENTIAL QUANTIFIER…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When all elements in the domain can be listed—say, </a:t>
            </a:r>
            <a:r>
              <a:rPr lang="en-US" i="1" dirty="0"/>
              <a:t>x1, x2, . . . , </a:t>
            </a:r>
            <a:r>
              <a:rPr lang="en-US" i="1" dirty="0" err="1"/>
              <a:t>xn</a:t>
            </a:r>
            <a:r>
              <a:rPr lang="en-US" i="1" dirty="0"/>
              <a:t>—the existential quantification </a:t>
            </a:r>
            <a:r>
              <a:rPr lang="en-US" dirty="0"/>
              <a:t>∃</a:t>
            </a:r>
            <a:r>
              <a:rPr lang="en-US" i="1" dirty="0" err="1"/>
              <a:t>xP</a:t>
            </a:r>
            <a:r>
              <a:rPr lang="en-US" i="1" dirty="0"/>
              <a:t>(x) is the same as the disjunction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P(x1) ∨ P(x2) ∨ · · · ∨ P(</a:t>
            </a:r>
            <a:r>
              <a:rPr lang="en-US" i="1" dirty="0" err="1">
                <a:solidFill>
                  <a:srgbClr val="FF0000"/>
                </a:solidFill>
              </a:rPr>
              <a:t>xn</a:t>
            </a:r>
            <a:r>
              <a:rPr lang="en-US" i="1" dirty="0">
                <a:solidFill>
                  <a:srgbClr val="FF0000"/>
                </a:solidFill>
              </a:rPr>
              <a:t>),</a:t>
            </a:r>
          </a:p>
          <a:p>
            <a:pPr>
              <a:buNone/>
            </a:pPr>
            <a:r>
              <a:rPr lang="en-US" dirty="0"/>
              <a:t>	because this disjunction is true if and only if at least one of </a:t>
            </a:r>
            <a:r>
              <a:rPr lang="en-US" i="1" dirty="0"/>
              <a:t>P(x1), P(x2), . . . , P (</a:t>
            </a:r>
            <a:r>
              <a:rPr lang="en-US" i="1" dirty="0" err="1"/>
              <a:t>xn</a:t>
            </a:r>
            <a:r>
              <a:rPr lang="en-US" i="1" dirty="0"/>
              <a:t>) is true.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	What is the truth value of ∃</a:t>
            </a:r>
            <a:r>
              <a:rPr lang="en-US" i="1" dirty="0" err="1"/>
              <a:t>xP</a:t>
            </a:r>
            <a:r>
              <a:rPr lang="en-US" i="1" dirty="0"/>
              <a:t>(x), where P(x) is the statement “x</a:t>
            </a:r>
            <a:r>
              <a:rPr lang="en-US" i="1" baseline="30000" dirty="0"/>
              <a:t>2</a:t>
            </a:r>
            <a:r>
              <a:rPr lang="en-US" i="1" dirty="0"/>
              <a:t> &gt; 10” and the universe of </a:t>
            </a:r>
            <a:r>
              <a:rPr lang="en-US" dirty="0"/>
              <a:t>discourse consists of the positive integers not exceeding 4?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Because the domain is {1, 2, 3, 4}, the proposition ∃</a:t>
            </a:r>
            <a:r>
              <a:rPr lang="en-US" i="1" dirty="0" err="1"/>
              <a:t>xP</a:t>
            </a:r>
            <a:r>
              <a:rPr lang="en-US" i="1" dirty="0"/>
              <a:t>(x) is the same as the disjunction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	P(1) ∨ P(2) ∨ P(3) ∨ P(4).</a:t>
            </a:r>
          </a:p>
          <a:p>
            <a:pPr>
              <a:buNone/>
            </a:pPr>
            <a:r>
              <a:rPr lang="en-US" dirty="0"/>
              <a:t>	Because </a:t>
            </a:r>
            <a:r>
              <a:rPr lang="en-US" i="1" dirty="0">
                <a:solidFill>
                  <a:srgbClr val="FF0000"/>
                </a:solidFill>
              </a:rPr>
              <a:t>P(4</a:t>
            </a:r>
            <a:r>
              <a:rPr lang="en-US" i="1" dirty="0"/>
              <a:t>), which is the statement </a:t>
            </a:r>
            <a:r>
              <a:rPr lang="en-US" i="1" dirty="0">
                <a:solidFill>
                  <a:srgbClr val="FF0000"/>
                </a:solidFill>
              </a:rPr>
              <a:t>“4</a:t>
            </a:r>
            <a:r>
              <a:rPr lang="en-US" i="1" baseline="30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 &gt; 10</a:t>
            </a:r>
            <a:r>
              <a:rPr lang="en-US" i="1" dirty="0"/>
              <a:t>,” is </a:t>
            </a:r>
            <a:r>
              <a:rPr lang="en-US" i="1" dirty="0">
                <a:solidFill>
                  <a:srgbClr val="FF0000"/>
                </a:solidFill>
              </a:rPr>
              <a:t>true</a:t>
            </a:r>
            <a:r>
              <a:rPr lang="en-US" i="1" dirty="0"/>
              <a:t>, it follows that </a:t>
            </a:r>
            <a:r>
              <a:rPr lang="en-US" i="1" dirty="0">
                <a:solidFill>
                  <a:srgbClr val="FF0000"/>
                </a:solidFill>
              </a:rPr>
              <a:t>∃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 is true</a:t>
            </a:r>
            <a:r>
              <a:rPr lang="en-US" i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05000"/>
            <a:ext cx="9144000" cy="2013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UNIQUENESS QUANTIFIER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	The </a:t>
            </a:r>
            <a:r>
              <a:rPr lang="en-US" b="1" dirty="0"/>
              <a:t>uniqueness quantifier, denoted by </a:t>
            </a:r>
            <a:r>
              <a:rPr lang="en-US" b="1" dirty="0">
                <a:solidFill>
                  <a:srgbClr val="FF0000"/>
                </a:solidFill>
              </a:rPr>
              <a:t>∃! or ∃1.</a:t>
            </a:r>
          </a:p>
          <a:p>
            <a:pPr>
              <a:buNone/>
            </a:pPr>
            <a:r>
              <a:rPr lang="en-US" dirty="0"/>
              <a:t>	The notation </a:t>
            </a:r>
            <a:r>
              <a:rPr lang="en-US" b="1" dirty="0">
                <a:solidFill>
                  <a:srgbClr val="FF0000"/>
                </a:solidFill>
              </a:rPr>
              <a:t>∃!</a:t>
            </a:r>
            <a:r>
              <a:rPr lang="en-US" b="1" dirty="0" err="1">
                <a:solidFill>
                  <a:srgbClr val="FF0000"/>
                </a:solidFill>
              </a:rPr>
              <a:t>xP</a:t>
            </a:r>
            <a:r>
              <a:rPr lang="en-US" b="1" dirty="0">
                <a:solidFill>
                  <a:srgbClr val="FF0000"/>
                </a:solidFill>
              </a:rPr>
              <a:t>(x) [or ∃1xP(x)] </a:t>
            </a:r>
            <a:r>
              <a:rPr lang="en-US" i="1" dirty="0"/>
              <a:t>states “</a:t>
            </a:r>
            <a:r>
              <a:rPr lang="en-US" i="1" dirty="0">
                <a:solidFill>
                  <a:srgbClr val="FF0000"/>
                </a:solidFill>
              </a:rPr>
              <a:t>There exists a unique x such that P(x) is true.”</a:t>
            </a:r>
          </a:p>
          <a:p>
            <a:pPr>
              <a:buNone/>
            </a:pPr>
            <a:r>
              <a:rPr lang="en-US" dirty="0"/>
              <a:t>	(Other phrases for uniqueness quantification include </a:t>
            </a:r>
            <a:r>
              <a:rPr lang="en-US" dirty="0">
                <a:solidFill>
                  <a:srgbClr val="FF0000"/>
                </a:solidFill>
              </a:rPr>
              <a:t>“there is exactly one”</a:t>
            </a:r>
            <a:r>
              <a:rPr lang="en-US" dirty="0"/>
              <a:t> and “</a:t>
            </a:r>
            <a:r>
              <a:rPr lang="en-US" dirty="0">
                <a:solidFill>
                  <a:srgbClr val="FF0000"/>
                </a:solidFill>
              </a:rPr>
              <a:t>there is one and only one</a:t>
            </a:r>
            <a:r>
              <a:rPr lang="en-US" dirty="0"/>
              <a:t>.”)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For instance, ∃!</a:t>
            </a:r>
            <a:r>
              <a:rPr lang="en-US" i="1" dirty="0"/>
              <a:t>x(x − 1 = 0), where the domain is the set of real numbers.</a:t>
            </a:r>
          </a:p>
          <a:p>
            <a:pPr>
              <a:buNone/>
            </a:pPr>
            <a:r>
              <a:rPr lang="en-US" i="1" dirty="0"/>
              <a:t>	This is a </a:t>
            </a:r>
            <a:r>
              <a:rPr lang="en-US" i="1" dirty="0">
                <a:solidFill>
                  <a:srgbClr val="FF0000"/>
                </a:solidFill>
              </a:rPr>
              <a:t>true statement</a:t>
            </a:r>
            <a:r>
              <a:rPr lang="en-US" i="1" dirty="0"/>
              <a:t>, as x = 1 is the </a:t>
            </a:r>
            <a:r>
              <a:rPr lang="en-US" dirty="0"/>
              <a:t>unique real number such that </a:t>
            </a:r>
            <a:r>
              <a:rPr lang="en-US" i="1" dirty="0"/>
              <a:t>x − 1 = 0.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Quantifiers with Restricted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610600" cy="462560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sz="3400" dirty="0"/>
              <a:t>What do the statements ∀</a:t>
            </a:r>
            <a:r>
              <a:rPr lang="en-US" sz="3400" i="1" dirty="0"/>
              <a:t>x &lt; 0 (x</a:t>
            </a:r>
            <a:r>
              <a:rPr lang="en-US" sz="3400" i="1" baseline="30000" dirty="0"/>
              <a:t>2</a:t>
            </a:r>
            <a:r>
              <a:rPr lang="en-US" sz="3400" i="1" dirty="0"/>
              <a:t> &gt; 0), ∀y = 0 (y</a:t>
            </a:r>
            <a:r>
              <a:rPr lang="en-US" sz="3400" i="1" baseline="30000" dirty="0"/>
              <a:t>3</a:t>
            </a:r>
            <a:r>
              <a:rPr lang="en-US" sz="3400" i="1" dirty="0"/>
              <a:t> = 0), and ∃z &gt; 0 (z</a:t>
            </a:r>
            <a:r>
              <a:rPr lang="en-US" sz="3400" i="1" baseline="30000" dirty="0"/>
              <a:t>2</a:t>
            </a:r>
            <a:r>
              <a:rPr lang="en-US" sz="3400" i="1" dirty="0"/>
              <a:t> = 2) mean, where </a:t>
            </a:r>
            <a:r>
              <a:rPr lang="en-US" sz="3400" dirty="0"/>
              <a:t>the domain in each case consists of the real numbers?</a:t>
            </a:r>
          </a:p>
          <a:p>
            <a:pPr>
              <a:buNone/>
            </a:pPr>
            <a:r>
              <a:rPr lang="en-US" sz="3400" i="1" dirty="0">
                <a:solidFill>
                  <a:srgbClr val="FF0000"/>
                </a:solidFill>
              </a:rPr>
              <a:t>	Solution:</a:t>
            </a:r>
            <a:r>
              <a:rPr lang="en-US" sz="3400" i="1" dirty="0"/>
              <a:t> </a:t>
            </a:r>
          </a:p>
          <a:p>
            <a:r>
              <a:rPr lang="en-US" sz="3400" i="1" dirty="0"/>
              <a:t>∀x &lt; 0 (x</a:t>
            </a:r>
            <a:r>
              <a:rPr lang="en-US" sz="3400" i="1" baseline="30000" dirty="0"/>
              <a:t>2</a:t>
            </a:r>
            <a:r>
              <a:rPr lang="en-US" sz="3400" i="1" dirty="0"/>
              <a:t> &gt; 0) states that for every real number x , </a:t>
            </a:r>
            <a:r>
              <a:rPr lang="en-US" sz="3400" i="1" dirty="0">
                <a:solidFill>
                  <a:srgbClr val="FF0000"/>
                </a:solidFill>
              </a:rPr>
              <a:t>x &lt; 0, x</a:t>
            </a:r>
            <a:r>
              <a:rPr lang="en-US" sz="3400" i="1" baseline="30000" dirty="0">
                <a:solidFill>
                  <a:srgbClr val="FF0000"/>
                </a:solidFill>
              </a:rPr>
              <a:t>2</a:t>
            </a:r>
            <a:r>
              <a:rPr lang="en-US" sz="3400" i="1" dirty="0">
                <a:solidFill>
                  <a:srgbClr val="FF0000"/>
                </a:solidFill>
              </a:rPr>
              <a:t> &gt; 0.</a:t>
            </a:r>
            <a:r>
              <a:rPr lang="en-US" sz="3400" dirty="0"/>
              <a:t>It states “The square of a negative real number is positive.” This statement is the same </a:t>
            </a:r>
            <a:r>
              <a:rPr lang="pt-BR" sz="3400" dirty="0"/>
              <a:t>as </a:t>
            </a:r>
            <a:r>
              <a:rPr lang="pt-BR" sz="3400" dirty="0">
                <a:solidFill>
                  <a:srgbClr val="FF0000"/>
                </a:solidFill>
              </a:rPr>
              <a:t>∀</a:t>
            </a:r>
            <a:r>
              <a:rPr lang="pt-BR" sz="3400" i="1" dirty="0">
                <a:solidFill>
                  <a:srgbClr val="FF0000"/>
                </a:solidFill>
              </a:rPr>
              <a:t>x(x &lt; 0 → x</a:t>
            </a:r>
            <a:r>
              <a:rPr lang="pt-BR" sz="3400" i="1" baseline="30000" dirty="0">
                <a:solidFill>
                  <a:srgbClr val="FF0000"/>
                </a:solidFill>
              </a:rPr>
              <a:t>2</a:t>
            </a:r>
            <a:r>
              <a:rPr lang="pt-BR" sz="3400" i="1" dirty="0">
                <a:solidFill>
                  <a:srgbClr val="FF0000"/>
                </a:solidFill>
              </a:rPr>
              <a:t> &gt; 0).</a:t>
            </a:r>
          </a:p>
          <a:p>
            <a:r>
              <a:rPr lang="en-US" sz="3400" dirty="0"/>
              <a:t> ∀</a:t>
            </a:r>
            <a:r>
              <a:rPr lang="en-US" sz="3400" i="1" dirty="0"/>
              <a:t>y = 0 (y</a:t>
            </a:r>
            <a:r>
              <a:rPr lang="en-US" sz="3400" i="1" baseline="30000" dirty="0"/>
              <a:t>3</a:t>
            </a:r>
            <a:r>
              <a:rPr lang="en-US" sz="3400" i="1" dirty="0"/>
              <a:t> = 0) states that for every real number y with y = 0, we have y</a:t>
            </a:r>
            <a:r>
              <a:rPr lang="en-US" sz="3400" i="1" baseline="30000" dirty="0"/>
              <a:t>3</a:t>
            </a:r>
            <a:r>
              <a:rPr lang="en-US" sz="3400" i="1" dirty="0"/>
              <a:t> = 0.  It states “The cube of every nonzero real number is nonzero.” It is </a:t>
            </a:r>
            <a:r>
              <a:rPr lang="en-US" sz="3400" dirty="0"/>
              <a:t>equivalent to </a:t>
            </a:r>
            <a:r>
              <a:rPr lang="en-US" sz="3400" dirty="0">
                <a:solidFill>
                  <a:srgbClr val="FF0000"/>
                </a:solidFill>
              </a:rPr>
              <a:t>∀</a:t>
            </a:r>
            <a:r>
              <a:rPr lang="en-US" sz="3400" i="1" dirty="0">
                <a:solidFill>
                  <a:srgbClr val="FF0000"/>
                </a:solidFill>
              </a:rPr>
              <a:t>y(y = 0 → y</a:t>
            </a:r>
            <a:r>
              <a:rPr lang="en-US" sz="3400" i="1" baseline="30000" dirty="0">
                <a:solidFill>
                  <a:srgbClr val="FF0000"/>
                </a:solidFill>
              </a:rPr>
              <a:t>3</a:t>
            </a:r>
            <a:r>
              <a:rPr lang="en-US" sz="3400" i="1" dirty="0">
                <a:solidFill>
                  <a:srgbClr val="FF0000"/>
                </a:solidFill>
              </a:rPr>
              <a:t> = 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of Quantifiers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quantifiers </a:t>
            </a:r>
            <a:r>
              <a:rPr lang="en-US" dirty="0">
                <a:solidFill>
                  <a:srgbClr val="FF0000"/>
                </a:solidFill>
              </a:rPr>
              <a:t>∀ and ∃ </a:t>
            </a:r>
            <a:r>
              <a:rPr lang="en-US" dirty="0"/>
              <a:t>have higher precedence than all logical operators from propositional calculus. </a:t>
            </a:r>
          </a:p>
          <a:p>
            <a:r>
              <a:rPr lang="en-US" dirty="0"/>
              <a:t>For example</a:t>
            </a:r>
            <a:r>
              <a:rPr lang="en-US" dirty="0">
                <a:solidFill>
                  <a:srgbClr val="FF0000"/>
                </a:solidFill>
              </a:rPr>
              <a:t>, ∀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 ∨ Q(x) </a:t>
            </a:r>
            <a:r>
              <a:rPr lang="en-US" i="1" dirty="0"/>
              <a:t>is the disjunction of ∀</a:t>
            </a:r>
            <a:r>
              <a:rPr lang="en-US" i="1" dirty="0" err="1"/>
              <a:t>xP</a:t>
            </a:r>
            <a:r>
              <a:rPr lang="en-US" i="1" dirty="0"/>
              <a:t>(x) and Q(x). </a:t>
            </a:r>
          </a:p>
          <a:p>
            <a:r>
              <a:rPr lang="en-US" i="1" dirty="0"/>
              <a:t>In other words, </a:t>
            </a:r>
            <a:r>
              <a:rPr lang="en-US" dirty="0"/>
              <a:t>it means </a:t>
            </a:r>
            <a:r>
              <a:rPr lang="en-US" dirty="0">
                <a:solidFill>
                  <a:srgbClr val="FF0000"/>
                </a:solidFill>
              </a:rPr>
              <a:t>(∀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(x)) ∨ Q(x) rather than ∀x(P(x) ∨ Q(x)).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When a quantifier is used on the variable </a:t>
            </a:r>
            <a:r>
              <a:rPr lang="en-US" i="1" dirty="0"/>
              <a:t>x, we say that this occurrence of the variable is </a:t>
            </a:r>
            <a:r>
              <a:rPr lang="en-US" b="1" i="1" dirty="0"/>
              <a:t>bound.</a:t>
            </a:r>
          </a:p>
          <a:p>
            <a:r>
              <a:rPr lang="en-US" dirty="0"/>
              <a:t>An occurrence of a variable that is not bound by a quantifier or set equal to a particular value is said to be </a:t>
            </a:r>
            <a:r>
              <a:rPr lang="en-US" b="1" dirty="0"/>
              <a:t>free.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Variables…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statement </a:t>
            </a:r>
            <a:r>
              <a:rPr lang="en-US" dirty="0">
                <a:solidFill>
                  <a:srgbClr val="FF0000"/>
                </a:solidFill>
              </a:rPr>
              <a:t>∃</a:t>
            </a:r>
            <a:r>
              <a:rPr lang="en-US" i="1" dirty="0">
                <a:solidFill>
                  <a:srgbClr val="FF0000"/>
                </a:solidFill>
              </a:rPr>
              <a:t>x(x + y = 1), </a:t>
            </a:r>
            <a:r>
              <a:rPr lang="en-US" i="1" dirty="0"/>
              <a:t>the variable </a:t>
            </a:r>
            <a:r>
              <a:rPr lang="en-US" i="1" dirty="0">
                <a:solidFill>
                  <a:srgbClr val="FF0000"/>
                </a:solidFill>
              </a:rPr>
              <a:t>x is bound by the existential quantification ∃x,</a:t>
            </a:r>
            <a:r>
              <a:rPr lang="en-US" i="1" dirty="0"/>
              <a:t> but </a:t>
            </a:r>
            <a:r>
              <a:rPr lang="en-US" dirty="0"/>
              <a:t>the variable </a:t>
            </a:r>
            <a:r>
              <a:rPr lang="en-US" i="1" dirty="0">
                <a:solidFill>
                  <a:srgbClr val="FF0000"/>
                </a:solidFill>
              </a:rPr>
              <a:t>y is free </a:t>
            </a:r>
            <a:r>
              <a:rPr lang="en-US" i="1" dirty="0"/>
              <a:t>because it is not bound by a quantifier and no value is assigned to this </a:t>
            </a:r>
            <a:r>
              <a:rPr lang="en-US" dirty="0"/>
              <a:t>variable. </a:t>
            </a:r>
          </a:p>
          <a:p>
            <a:r>
              <a:rPr lang="en-US" dirty="0"/>
              <a:t>In the statement </a:t>
            </a:r>
            <a:r>
              <a:rPr lang="en-US" dirty="0">
                <a:solidFill>
                  <a:srgbClr val="FF0000"/>
                </a:solidFill>
              </a:rPr>
              <a:t>∃</a:t>
            </a:r>
            <a:r>
              <a:rPr lang="en-US" i="1" dirty="0">
                <a:solidFill>
                  <a:srgbClr val="FF0000"/>
                </a:solidFill>
              </a:rPr>
              <a:t>x(P(x) ∧ Q(x)) ∨ ∀</a:t>
            </a:r>
            <a:r>
              <a:rPr lang="en-US" i="1" dirty="0" err="1">
                <a:solidFill>
                  <a:srgbClr val="FF0000"/>
                </a:solidFill>
              </a:rPr>
              <a:t>xR</a:t>
            </a:r>
            <a:r>
              <a:rPr lang="en-US" i="1" dirty="0">
                <a:solidFill>
                  <a:srgbClr val="FF0000"/>
                </a:solidFill>
              </a:rPr>
              <a:t>(x), </a:t>
            </a:r>
            <a:r>
              <a:rPr lang="en-US" i="1" dirty="0"/>
              <a:t>all variables are bound. </a:t>
            </a:r>
          </a:p>
          <a:p>
            <a:r>
              <a:rPr lang="en-US" i="1" dirty="0"/>
              <a:t>The scope of the first </a:t>
            </a:r>
            <a:r>
              <a:rPr lang="en-US" dirty="0"/>
              <a:t>quantifier, </a:t>
            </a:r>
            <a:r>
              <a:rPr lang="en-US" dirty="0">
                <a:solidFill>
                  <a:srgbClr val="FF0000"/>
                </a:solidFill>
              </a:rPr>
              <a:t>∃</a:t>
            </a:r>
            <a:r>
              <a:rPr lang="en-US" i="1" dirty="0">
                <a:solidFill>
                  <a:srgbClr val="FF0000"/>
                </a:solidFill>
              </a:rPr>
              <a:t>x,</a:t>
            </a:r>
            <a:r>
              <a:rPr lang="en-US" i="1" dirty="0"/>
              <a:t> is the expression </a:t>
            </a:r>
            <a:r>
              <a:rPr lang="en-US" i="1" dirty="0">
                <a:solidFill>
                  <a:srgbClr val="FF0000"/>
                </a:solidFill>
              </a:rPr>
              <a:t>P(x) ∧ Q(x</a:t>
            </a:r>
            <a:r>
              <a:rPr lang="en-US" i="1" dirty="0"/>
              <a:t>) because ∃x is applied only to P(x) ∧ Q(x), and </a:t>
            </a:r>
            <a:r>
              <a:rPr lang="en-US" dirty="0"/>
              <a:t>not to the rest of the statement. Similarly, the scope of the second quantifier</a:t>
            </a:r>
            <a:r>
              <a:rPr lang="en-US" dirty="0">
                <a:solidFill>
                  <a:srgbClr val="FF0000"/>
                </a:solidFill>
              </a:rPr>
              <a:t>, ∀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i="1" dirty="0"/>
              <a:t>, is the expression </a:t>
            </a:r>
            <a:r>
              <a:rPr lang="en-US" i="1" dirty="0">
                <a:solidFill>
                  <a:srgbClr val="FF0000"/>
                </a:solidFill>
              </a:rPr>
              <a:t>R(x)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Negating Quantified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	“Every student in your class has taken a course in calculus.”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∀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 </a:t>
            </a:r>
          </a:p>
          <a:p>
            <a:pPr>
              <a:buNone/>
            </a:pPr>
            <a:r>
              <a:rPr lang="en-US" dirty="0"/>
              <a:t>	where </a:t>
            </a:r>
            <a:r>
              <a:rPr lang="en-US" i="1" dirty="0">
                <a:solidFill>
                  <a:srgbClr val="0070C0"/>
                </a:solidFill>
              </a:rPr>
              <a:t>P(x)</a:t>
            </a:r>
            <a:r>
              <a:rPr lang="en-US" i="1" dirty="0"/>
              <a:t> is the statement </a:t>
            </a:r>
            <a:r>
              <a:rPr lang="en-US" i="1" dirty="0">
                <a:solidFill>
                  <a:srgbClr val="0070C0"/>
                </a:solidFill>
              </a:rPr>
              <a:t>“x has taken a course in calculus”</a:t>
            </a:r>
            <a:r>
              <a:rPr lang="en-US" i="1" dirty="0"/>
              <a:t> and the </a:t>
            </a:r>
            <a:r>
              <a:rPr lang="en-US" i="1" dirty="0">
                <a:solidFill>
                  <a:srgbClr val="0070C0"/>
                </a:solidFill>
              </a:rPr>
              <a:t>domain</a:t>
            </a:r>
            <a:r>
              <a:rPr lang="en-US" i="1" dirty="0"/>
              <a:t> consists of the </a:t>
            </a:r>
            <a:r>
              <a:rPr lang="en-US" dirty="0">
                <a:solidFill>
                  <a:srgbClr val="0070C0"/>
                </a:solidFill>
              </a:rPr>
              <a:t>students in your class</a:t>
            </a:r>
            <a:r>
              <a:rPr lang="en-US" dirty="0"/>
              <a:t>. </a:t>
            </a:r>
          </a:p>
          <a:p>
            <a:r>
              <a:rPr lang="en-US" dirty="0"/>
              <a:t>	The </a:t>
            </a:r>
            <a:r>
              <a:rPr lang="en-US" dirty="0">
                <a:solidFill>
                  <a:srgbClr val="FF0000"/>
                </a:solidFill>
              </a:rPr>
              <a:t>negation</a:t>
            </a:r>
            <a:r>
              <a:rPr lang="en-US" dirty="0"/>
              <a:t> of this statement is “There is a student in your class who has not taken a course in calculus.”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∃</a:t>
            </a:r>
            <a:r>
              <a:rPr lang="en-US" i="1" dirty="0">
                <a:solidFill>
                  <a:srgbClr val="FF0000"/>
                </a:solidFill>
              </a:rPr>
              <a:t>x ￢P(x).</a:t>
            </a:r>
          </a:p>
          <a:p>
            <a:pPr>
              <a:buNone/>
            </a:pPr>
            <a:r>
              <a:rPr lang="en-US" dirty="0"/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5600" y="5486400"/>
            <a:ext cx="3733800" cy="838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b="1" dirty="0"/>
              <a:t>￢∀</a:t>
            </a:r>
            <a:r>
              <a:rPr lang="en-US" sz="2400" b="1" i="1" dirty="0" err="1"/>
              <a:t>xP</a:t>
            </a:r>
            <a:r>
              <a:rPr lang="en-US" sz="2400" b="1" i="1" dirty="0"/>
              <a:t>(x) ≡ ∃x ￢P(x).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Negating Quantified Expressions…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“There is a student in this class who has taken a course in calculus.”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∃</a:t>
            </a:r>
            <a:r>
              <a:rPr lang="en-US" i="1" dirty="0" err="1">
                <a:solidFill>
                  <a:srgbClr val="FF0000"/>
                </a:solidFill>
              </a:rPr>
              <a:t>xQ</a:t>
            </a:r>
            <a:r>
              <a:rPr lang="en-US" i="1" dirty="0">
                <a:solidFill>
                  <a:srgbClr val="FF0000"/>
                </a:solidFill>
              </a:rPr>
              <a:t>(x)</a:t>
            </a:r>
          </a:p>
          <a:p>
            <a:r>
              <a:rPr lang="en-US" dirty="0"/>
              <a:t>The negation of this statement is “Every student in this class has not taken calculus,”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∀</a:t>
            </a:r>
            <a:r>
              <a:rPr lang="en-US" i="1" dirty="0">
                <a:solidFill>
                  <a:srgbClr val="FF0000"/>
                </a:solidFill>
              </a:rPr>
              <a:t>x ￢Q(x).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3200" y="5105400"/>
            <a:ext cx="3733800" cy="8382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￢∃</a:t>
            </a:r>
            <a:r>
              <a:rPr lang="en-US" sz="2400" b="1" i="1" dirty="0" err="1"/>
              <a:t>xQ</a:t>
            </a:r>
            <a:r>
              <a:rPr lang="en-US" sz="2400" b="1" i="1" dirty="0"/>
              <a:t>(x) ≡ ∀x ￢Q(x).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Negating Quantified Expressions…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82" y="2686050"/>
            <a:ext cx="9162318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775191"/>
            <a:ext cx="8458200" cy="46256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 Morgan’s laws for quantifiers. When the domain has </a:t>
            </a:r>
            <a:r>
              <a:rPr lang="en-US" i="1" dirty="0"/>
              <a:t>n elements x1, x2, . . . , </a:t>
            </a:r>
            <a:r>
              <a:rPr lang="en-US" i="1" dirty="0" err="1"/>
              <a:t>xn</a:t>
            </a:r>
            <a:r>
              <a:rPr lang="en-US" i="1" dirty="0"/>
              <a:t>, it follows that </a:t>
            </a:r>
            <a:r>
              <a:rPr lang="en-US" i="1" dirty="0">
                <a:solidFill>
                  <a:srgbClr val="FF0000"/>
                </a:solidFill>
              </a:rPr>
              <a:t>￢∀</a:t>
            </a:r>
            <a:r>
              <a:rPr lang="en-US" i="1" dirty="0" err="1">
                <a:solidFill>
                  <a:srgbClr val="FF0000"/>
                </a:solidFill>
              </a:rPr>
              <a:t>xP</a:t>
            </a:r>
            <a:r>
              <a:rPr lang="en-US" i="1" dirty="0">
                <a:solidFill>
                  <a:srgbClr val="FF0000"/>
                </a:solidFill>
              </a:rPr>
              <a:t>(x) </a:t>
            </a:r>
            <a:r>
              <a:rPr lang="en-US" dirty="0"/>
              <a:t>	is the same as </a:t>
            </a:r>
          </a:p>
          <a:p>
            <a:r>
              <a:rPr lang="en-US" i="1" dirty="0">
                <a:solidFill>
                  <a:srgbClr val="FF0000"/>
                </a:solidFill>
              </a:rPr>
              <a:t>￢(P (x1) ∧ P(x2) ∧ · · · ∧ P(</a:t>
            </a:r>
            <a:r>
              <a:rPr lang="en-US" i="1" dirty="0" err="1">
                <a:solidFill>
                  <a:srgbClr val="FF0000"/>
                </a:solidFill>
              </a:rPr>
              <a:t>xn</a:t>
            </a:r>
            <a:r>
              <a:rPr lang="en-US" i="1" dirty="0">
                <a:solidFill>
                  <a:srgbClr val="FF0000"/>
                </a:solidFill>
              </a:rPr>
              <a:t>)) =</a:t>
            </a:r>
          </a:p>
          <a:p>
            <a:r>
              <a:rPr lang="en-US" i="1" dirty="0">
                <a:solidFill>
                  <a:srgbClr val="FF0000"/>
                </a:solidFill>
              </a:rPr>
              <a:t>￢P(x1)∨￢P(x2) ∨ ·· ∨ ￢P(</a:t>
            </a:r>
            <a:r>
              <a:rPr lang="en-US" i="1" dirty="0" err="1">
                <a:solidFill>
                  <a:srgbClr val="FF0000"/>
                </a:solidFill>
              </a:rPr>
              <a:t>xn</a:t>
            </a:r>
            <a:r>
              <a:rPr lang="en-US" i="1" dirty="0">
                <a:solidFill>
                  <a:srgbClr val="FF0000"/>
                </a:solidFill>
              </a:rPr>
              <a:t>) </a:t>
            </a:r>
          </a:p>
          <a:p>
            <a:r>
              <a:rPr lang="en-US" i="1" dirty="0">
                <a:solidFill>
                  <a:srgbClr val="FF0000"/>
                </a:solidFill>
              </a:rPr>
              <a:t>	=  ∃</a:t>
            </a:r>
            <a:r>
              <a:rPr lang="en-US" i="1" dirty="0" err="1">
                <a:solidFill>
                  <a:srgbClr val="FF0000"/>
                </a:solidFill>
              </a:rPr>
              <a:t>x￢P</a:t>
            </a:r>
            <a:r>
              <a:rPr lang="en-US" i="1" dirty="0">
                <a:solidFill>
                  <a:srgbClr val="FF0000"/>
                </a:solidFill>
              </a:rPr>
              <a:t>(x). </a:t>
            </a:r>
          </a:p>
          <a:p>
            <a:r>
              <a:rPr lang="en-US" i="1" dirty="0"/>
              <a:t>Similarly, ￢∃</a:t>
            </a:r>
            <a:r>
              <a:rPr lang="en-US" i="1" dirty="0" err="1"/>
              <a:t>xP</a:t>
            </a:r>
            <a:r>
              <a:rPr lang="en-US" i="1" dirty="0"/>
              <a:t>(x) </a:t>
            </a:r>
            <a:r>
              <a:rPr lang="en-US" dirty="0"/>
              <a:t>is the same as </a:t>
            </a:r>
          </a:p>
          <a:p>
            <a:r>
              <a:rPr lang="en-US" dirty="0">
                <a:solidFill>
                  <a:srgbClr val="FF0000"/>
                </a:solidFill>
              </a:rPr>
              <a:t>￢</a:t>
            </a:r>
            <a:r>
              <a:rPr lang="en-US" i="1" dirty="0">
                <a:solidFill>
                  <a:srgbClr val="FF0000"/>
                </a:solidFill>
              </a:rPr>
              <a:t>(P (x1) ∨ P(x2) ∨ · · · ∨ P(</a:t>
            </a:r>
            <a:r>
              <a:rPr lang="en-US" i="1" dirty="0" err="1">
                <a:solidFill>
                  <a:srgbClr val="FF0000"/>
                </a:solidFill>
              </a:rPr>
              <a:t>xn</a:t>
            </a:r>
            <a:r>
              <a:rPr lang="en-US" i="1" dirty="0">
                <a:solidFill>
                  <a:srgbClr val="FF0000"/>
                </a:solidFill>
              </a:rPr>
              <a:t>)) =</a:t>
            </a:r>
          </a:p>
          <a:p>
            <a:r>
              <a:rPr lang="en-US" dirty="0">
                <a:solidFill>
                  <a:srgbClr val="FF0000"/>
                </a:solidFill>
              </a:rPr>
              <a:t>￢</a:t>
            </a:r>
            <a:r>
              <a:rPr lang="en-US" i="1" dirty="0">
                <a:solidFill>
                  <a:srgbClr val="FF0000"/>
                </a:solidFill>
              </a:rPr>
              <a:t>P(x1)∧￢P(x2) ∧ ··· ∧ ￢P(</a:t>
            </a:r>
            <a:r>
              <a:rPr lang="en-US" i="1" dirty="0" err="1">
                <a:solidFill>
                  <a:srgbClr val="FF0000"/>
                </a:solidFill>
              </a:rPr>
              <a:t>xn</a:t>
            </a:r>
            <a:r>
              <a:rPr lang="en-US" i="1" dirty="0">
                <a:solidFill>
                  <a:srgbClr val="FF0000"/>
                </a:solidFill>
              </a:rPr>
              <a:t>),</a:t>
            </a:r>
          </a:p>
          <a:p>
            <a:r>
              <a:rPr lang="en-US" i="1" dirty="0">
                <a:solidFill>
                  <a:srgbClr val="FF0000"/>
                </a:solidFill>
              </a:rPr>
              <a:t>= ∀</a:t>
            </a:r>
            <a:r>
              <a:rPr lang="en-US" i="1" dirty="0" err="1">
                <a:solidFill>
                  <a:srgbClr val="FF0000"/>
                </a:solidFill>
              </a:rPr>
              <a:t>x￢P</a:t>
            </a:r>
            <a:r>
              <a:rPr lang="en-US" i="1" dirty="0">
                <a:solidFill>
                  <a:srgbClr val="FF0000"/>
                </a:solidFill>
              </a:rPr>
              <a:t>(x).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are the negations of the statements:</a:t>
            </a:r>
          </a:p>
          <a:p>
            <a:r>
              <a:rPr lang="en-US" dirty="0">
                <a:solidFill>
                  <a:srgbClr val="0070C0"/>
                </a:solidFill>
              </a:rPr>
              <a:t>“There is an honest politician” 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00B050"/>
                </a:solidFill>
              </a:rPr>
              <a:t>H(x)</a:t>
            </a:r>
            <a:r>
              <a:rPr lang="en-US" i="1" dirty="0"/>
              <a:t> denote “x is honest.” </a:t>
            </a:r>
          </a:p>
          <a:p>
            <a:pPr>
              <a:buNone/>
            </a:pPr>
            <a:r>
              <a:rPr lang="en-US" i="1" dirty="0"/>
              <a:t>	Then the statement “There is an honest politician”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∃</a:t>
            </a:r>
            <a:r>
              <a:rPr lang="en-US" i="1" dirty="0" err="1">
                <a:solidFill>
                  <a:srgbClr val="00B050"/>
                </a:solidFill>
              </a:rPr>
              <a:t>xH</a:t>
            </a:r>
            <a:r>
              <a:rPr lang="en-US" i="1" dirty="0">
                <a:solidFill>
                  <a:srgbClr val="00B050"/>
                </a:solidFill>
              </a:rPr>
              <a:t>(x)</a:t>
            </a:r>
            <a:endParaRPr lang="en-US" i="1" dirty="0"/>
          </a:p>
          <a:p>
            <a:pPr>
              <a:buNone/>
            </a:pPr>
            <a:r>
              <a:rPr lang="en-US" i="1" dirty="0"/>
              <a:t>	 where the domain consists of all politicians. </a:t>
            </a:r>
          </a:p>
          <a:p>
            <a:pPr>
              <a:buNone/>
            </a:pPr>
            <a:r>
              <a:rPr lang="en-US" i="1" dirty="0"/>
              <a:t>      The negation</a:t>
            </a:r>
            <a:r>
              <a:rPr lang="en-US" dirty="0"/>
              <a:t> is </a:t>
            </a:r>
          </a:p>
          <a:p>
            <a:pPr>
              <a:buNone/>
            </a:pPr>
            <a:r>
              <a:rPr lang="en-US" dirty="0"/>
              <a:t>     </a:t>
            </a:r>
            <a:r>
              <a:rPr lang="en-US" dirty="0">
                <a:solidFill>
                  <a:srgbClr val="00B050"/>
                </a:solidFill>
              </a:rPr>
              <a:t>￢∃</a:t>
            </a:r>
            <a:r>
              <a:rPr lang="en-US" i="1" dirty="0" err="1">
                <a:solidFill>
                  <a:srgbClr val="00B050"/>
                </a:solidFill>
              </a:rPr>
              <a:t>xH</a:t>
            </a:r>
            <a:r>
              <a:rPr lang="en-US" i="1" dirty="0">
                <a:solidFill>
                  <a:srgbClr val="00B050"/>
                </a:solidFill>
              </a:rPr>
              <a:t>(x), </a:t>
            </a:r>
            <a:r>
              <a:rPr lang="en-US" i="1" dirty="0"/>
              <a:t>which is equivalent to </a:t>
            </a:r>
            <a:r>
              <a:rPr lang="en-US" i="1" dirty="0">
                <a:solidFill>
                  <a:srgbClr val="00B050"/>
                </a:solidFill>
              </a:rPr>
              <a:t>∀</a:t>
            </a:r>
            <a:r>
              <a:rPr lang="en-US" i="1" dirty="0" err="1">
                <a:solidFill>
                  <a:srgbClr val="00B050"/>
                </a:solidFill>
              </a:rPr>
              <a:t>x￢H</a:t>
            </a:r>
            <a:r>
              <a:rPr lang="en-US" i="1" dirty="0">
                <a:solidFill>
                  <a:srgbClr val="00B050"/>
                </a:solidFill>
              </a:rPr>
              <a:t>(x).</a:t>
            </a:r>
            <a:endParaRPr lang="en-US" dirty="0">
              <a:solidFill>
                <a:srgbClr val="00B05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What are the negations of the statements:</a:t>
            </a:r>
          </a:p>
          <a:p>
            <a:r>
              <a:rPr lang="en-US" dirty="0">
                <a:solidFill>
                  <a:srgbClr val="0070C0"/>
                </a:solidFill>
              </a:rPr>
              <a:t>“All Americans eat cheeseburgers”</a:t>
            </a:r>
          </a:p>
          <a:p>
            <a:pPr>
              <a:buNone/>
            </a:pPr>
            <a:r>
              <a:rPr lang="en-US" i="1" dirty="0"/>
              <a:t>     </a:t>
            </a:r>
            <a:r>
              <a:rPr lang="en-US" i="1" dirty="0">
                <a:solidFill>
                  <a:srgbClr val="00B050"/>
                </a:solidFill>
              </a:rPr>
              <a:t>C(x)</a:t>
            </a:r>
            <a:r>
              <a:rPr lang="en-US" i="1" dirty="0"/>
              <a:t> denote “x eats cheeseburgers.” </a:t>
            </a:r>
          </a:p>
          <a:p>
            <a:pPr>
              <a:buNone/>
            </a:pPr>
            <a:r>
              <a:rPr lang="en-US" i="1" dirty="0"/>
              <a:t>    Then the statement “All Americans eat cheeseburgers”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B050"/>
                </a:solidFill>
              </a:rPr>
              <a:t>∀</a:t>
            </a:r>
            <a:r>
              <a:rPr lang="en-US" i="1" dirty="0" err="1">
                <a:solidFill>
                  <a:srgbClr val="00B050"/>
                </a:solidFill>
              </a:rPr>
              <a:t>xC</a:t>
            </a:r>
            <a:r>
              <a:rPr lang="en-US" i="1" dirty="0">
                <a:solidFill>
                  <a:srgbClr val="00B050"/>
                </a:solidFill>
              </a:rPr>
              <a:t>(x), </a:t>
            </a:r>
            <a:r>
              <a:rPr lang="en-US" i="1" dirty="0"/>
              <a:t>where the domain consists of all Americans. </a:t>
            </a:r>
          </a:p>
          <a:p>
            <a:pPr>
              <a:buNone/>
            </a:pPr>
            <a:r>
              <a:rPr lang="en-US" i="1" dirty="0"/>
              <a:t>   The negation is</a:t>
            </a:r>
            <a:endParaRPr lang="en-US" dirty="0"/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00B050"/>
                </a:solidFill>
              </a:rPr>
              <a:t>￢∀</a:t>
            </a:r>
            <a:r>
              <a:rPr lang="en-US" i="1" dirty="0" err="1">
                <a:solidFill>
                  <a:srgbClr val="00B050"/>
                </a:solidFill>
              </a:rPr>
              <a:t>xC</a:t>
            </a:r>
            <a:r>
              <a:rPr lang="en-US" i="1" dirty="0">
                <a:solidFill>
                  <a:srgbClr val="00B050"/>
                </a:solidFill>
              </a:rPr>
              <a:t>(x), </a:t>
            </a:r>
            <a:r>
              <a:rPr lang="en-US" i="1" dirty="0"/>
              <a:t>which is equivalent to </a:t>
            </a:r>
            <a:r>
              <a:rPr lang="en-US" i="1" dirty="0">
                <a:solidFill>
                  <a:srgbClr val="00B050"/>
                </a:solidFill>
              </a:rPr>
              <a:t>∃</a:t>
            </a:r>
            <a:r>
              <a:rPr lang="en-US" i="1" dirty="0" err="1">
                <a:solidFill>
                  <a:srgbClr val="00B050"/>
                </a:solidFill>
              </a:rPr>
              <a:t>x￢C</a:t>
            </a:r>
            <a:r>
              <a:rPr lang="en-US" i="1" dirty="0">
                <a:solidFill>
                  <a:srgbClr val="00B050"/>
                </a:solidFill>
              </a:rPr>
              <a:t>(x).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	What are the negations of the statements     ∀</a:t>
            </a:r>
            <a:r>
              <a:rPr lang="en-US" i="1" dirty="0"/>
              <a:t>x(x</a:t>
            </a:r>
            <a:r>
              <a:rPr lang="en-US" i="1" baseline="30000" dirty="0"/>
              <a:t>2</a:t>
            </a:r>
            <a:r>
              <a:rPr lang="en-US" i="1" dirty="0"/>
              <a:t> &gt; x) and ∃x(x</a:t>
            </a:r>
            <a:r>
              <a:rPr lang="en-US" i="1" baseline="30000" dirty="0"/>
              <a:t>2</a:t>
            </a:r>
            <a:r>
              <a:rPr lang="en-US" i="1" dirty="0"/>
              <a:t> = 2)?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</a:t>
            </a:r>
          </a:p>
          <a:p>
            <a:r>
              <a:rPr lang="en-US" i="1" dirty="0"/>
              <a:t>The negation of </a:t>
            </a:r>
            <a:r>
              <a:rPr lang="en-US" i="1" dirty="0">
                <a:solidFill>
                  <a:srgbClr val="92D050"/>
                </a:solidFill>
              </a:rPr>
              <a:t>∀x(x</a:t>
            </a:r>
            <a:r>
              <a:rPr lang="en-US" i="1" baseline="30000" dirty="0">
                <a:solidFill>
                  <a:srgbClr val="92D050"/>
                </a:solidFill>
              </a:rPr>
              <a:t>2</a:t>
            </a:r>
            <a:r>
              <a:rPr lang="en-US" i="1" dirty="0">
                <a:solidFill>
                  <a:srgbClr val="92D050"/>
                </a:solidFill>
              </a:rPr>
              <a:t> &gt; x) </a:t>
            </a:r>
            <a:r>
              <a:rPr lang="en-US" i="1" dirty="0"/>
              <a:t>is the statement </a:t>
            </a:r>
            <a:r>
              <a:rPr lang="en-US" i="1" dirty="0">
                <a:solidFill>
                  <a:srgbClr val="92D050"/>
                </a:solidFill>
              </a:rPr>
              <a:t>￢∀x(x</a:t>
            </a:r>
            <a:r>
              <a:rPr lang="en-US" i="1" baseline="30000" dirty="0">
                <a:solidFill>
                  <a:srgbClr val="92D050"/>
                </a:solidFill>
              </a:rPr>
              <a:t>2</a:t>
            </a:r>
            <a:r>
              <a:rPr lang="en-US" i="1" dirty="0">
                <a:solidFill>
                  <a:srgbClr val="92D050"/>
                </a:solidFill>
              </a:rPr>
              <a:t> &gt; x)</a:t>
            </a:r>
          </a:p>
          <a:p>
            <a:pPr>
              <a:buNone/>
            </a:pPr>
            <a:r>
              <a:rPr lang="en-US" i="1" dirty="0">
                <a:solidFill>
                  <a:srgbClr val="92D050"/>
                </a:solidFill>
              </a:rPr>
              <a:t>      </a:t>
            </a:r>
            <a:r>
              <a:rPr lang="en-US" i="1" dirty="0"/>
              <a:t>which is equivalent to </a:t>
            </a:r>
            <a:r>
              <a:rPr lang="en-US" dirty="0">
                <a:solidFill>
                  <a:srgbClr val="92D050"/>
                </a:solidFill>
              </a:rPr>
              <a:t>∃</a:t>
            </a:r>
            <a:r>
              <a:rPr lang="en-US" i="1" dirty="0">
                <a:solidFill>
                  <a:srgbClr val="92D050"/>
                </a:solidFill>
              </a:rPr>
              <a:t>x￢(x</a:t>
            </a:r>
            <a:r>
              <a:rPr lang="en-US" i="1" baseline="30000" dirty="0">
                <a:solidFill>
                  <a:srgbClr val="92D050"/>
                </a:solidFill>
              </a:rPr>
              <a:t>2</a:t>
            </a:r>
            <a:r>
              <a:rPr lang="en-US" i="1" dirty="0">
                <a:solidFill>
                  <a:srgbClr val="92D050"/>
                </a:solidFill>
              </a:rPr>
              <a:t> &gt; x). </a:t>
            </a:r>
          </a:p>
          <a:p>
            <a:pPr>
              <a:buNone/>
            </a:pPr>
            <a:r>
              <a:rPr lang="en-US" i="1" dirty="0"/>
              <a:t>	This can be rewritten as </a:t>
            </a:r>
            <a:r>
              <a:rPr lang="en-US" i="1" dirty="0">
                <a:solidFill>
                  <a:srgbClr val="0070C0"/>
                </a:solidFill>
              </a:rPr>
              <a:t>∃x(x</a:t>
            </a:r>
            <a:r>
              <a:rPr lang="en-US" i="1" baseline="30000" dirty="0">
                <a:solidFill>
                  <a:srgbClr val="0070C0"/>
                </a:solidFill>
              </a:rPr>
              <a:t>2</a:t>
            </a:r>
            <a:r>
              <a:rPr lang="en-US" i="1" dirty="0">
                <a:solidFill>
                  <a:srgbClr val="0070C0"/>
                </a:solidFill>
              </a:rPr>
              <a:t> ≤ x).</a:t>
            </a:r>
          </a:p>
          <a:p>
            <a:r>
              <a:rPr lang="en-US" i="1" dirty="0"/>
              <a:t> The negation of </a:t>
            </a:r>
            <a:r>
              <a:rPr lang="en-US" i="1" dirty="0">
                <a:solidFill>
                  <a:srgbClr val="92D050"/>
                </a:solidFill>
              </a:rPr>
              <a:t>∃x(x</a:t>
            </a:r>
            <a:r>
              <a:rPr lang="en-US" i="1" baseline="30000" dirty="0">
                <a:solidFill>
                  <a:srgbClr val="92D050"/>
                </a:solidFill>
              </a:rPr>
              <a:t>2</a:t>
            </a:r>
            <a:r>
              <a:rPr lang="en-US" i="1" dirty="0">
                <a:solidFill>
                  <a:srgbClr val="92D050"/>
                </a:solidFill>
              </a:rPr>
              <a:t> = 2) </a:t>
            </a:r>
            <a:r>
              <a:rPr lang="en-US" i="1" dirty="0"/>
              <a:t>is the statement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￢∃</a:t>
            </a:r>
            <a:r>
              <a:rPr lang="en-US" i="1" dirty="0">
                <a:solidFill>
                  <a:srgbClr val="92D050"/>
                </a:solidFill>
              </a:rPr>
              <a:t>x(x</a:t>
            </a:r>
            <a:r>
              <a:rPr lang="en-US" i="1" baseline="30000" dirty="0">
                <a:solidFill>
                  <a:srgbClr val="92D050"/>
                </a:solidFill>
              </a:rPr>
              <a:t>2</a:t>
            </a:r>
            <a:r>
              <a:rPr lang="en-US" i="1" dirty="0">
                <a:solidFill>
                  <a:srgbClr val="92D050"/>
                </a:solidFill>
              </a:rPr>
              <a:t> = 2), </a:t>
            </a:r>
            <a:r>
              <a:rPr lang="en-US" i="1" dirty="0"/>
              <a:t>which is equivalent to </a:t>
            </a:r>
            <a:r>
              <a:rPr lang="en-US" i="1" dirty="0">
                <a:solidFill>
                  <a:srgbClr val="92D050"/>
                </a:solidFill>
              </a:rPr>
              <a:t>∀x￢(x</a:t>
            </a:r>
            <a:r>
              <a:rPr lang="en-US" i="1" baseline="30000" dirty="0">
                <a:solidFill>
                  <a:srgbClr val="92D050"/>
                </a:solidFill>
              </a:rPr>
              <a:t>2</a:t>
            </a:r>
            <a:r>
              <a:rPr lang="en-US" i="1" dirty="0">
                <a:solidFill>
                  <a:srgbClr val="92D050"/>
                </a:solidFill>
              </a:rPr>
              <a:t> = 2). </a:t>
            </a:r>
            <a:r>
              <a:rPr lang="en-US" i="1" dirty="0"/>
              <a:t>This can be rewritten as </a:t>
            </a:r>
            <a:r>
              <a:rPr lang="en-US" i="1" dirty="0">
                <a:solidFill>
                  <a:srgbClr val="0070C0"/>
                </a:solidFill>
              </a:rPr>
              <a:t>∀x(x</a:t>
            </a:r>
            <a:r>
              <a:rPr lang="en-US" i="1" baseline="30000" dirty="0">
                <a:solidFill>
                  <a:srgbClr val="0070C0"/>
                </a:solidFill>
              </a:rPr>
              <a:t>2</a:t>
            </a:r>
            <a:r>
              <a:rPr lang="en-US" i="1" dirty="0">
                <a:solidFill>
                  <a:srgbClr val="0070C0"/>
                </a:solidFill>
              </a:rPr>
              <a:t> ≠ 2). </a:t>
            </a:r>
          </a:p>
          <a:p>
            <a:r>
              <a:rPr lang="en-US" i="1" dirty="0"/>
              <a:t>The </a:t>
            </a:r>
            <a:r>
              <a:rPr lang="en-US" dirty="0"/>
              <a:t>truth values of these statements depend on the domain.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Translating from English into Logical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	Express the statement </a:t>
            </a:r>
            <a:r>
              <a:rPr lang="en-US" dirty="0">
                <a:solidFill>
                  <a:srgbClr val="FF0000"/>
                </a:solidFill>
              </a:rPr>
              <a:t>“Every student in this class has studied calculus”</a:t>
            </a:r>
            <a:r>
              <a:rPr lang="en-US" dirty="0"/>
              <a:t> using predicates and quantifiers.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i="1" dirty="0"/>
              <a:t>	First, we rewrite the statement so that we can clearly identify the appropriate quantifiers </a:t>
            </a:r>
            <a:r>
              <a:rPr lang="en-US" dirty="0"/>
              <a:t>to use.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“For every student in this class, that student has studied calculus.”</a:t>
            </a:r>
          </a:p>
          <a:p>
            <a:pPr>
              <a:buNone/>
            </a:pPr>
            <a:r>
              <a:rPr lang="en-US" dirty="0"/>
              <a:t>	Next, we introduce a variable </a:t>
            </a:r>
            <a:r>
              <a:rPr lang="en-US" i="1" dirty="0"/>
              <a:t>x so that our statement becomes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“For every student </a:t>
            </a:r>
            <a:r>
              <a:rPr lang="en-US" i="1" dirty="0">
                <a:solidFill>
                  <a:srgbClr val="0070C0"/>
                </a:solidFill>
              </a:rPr>
              <a:t>x</a:t>
            </a:r>
            <a:r>
              <a:rPr lang="en-US" i="1" dirty="0">
                <a:solidFill>
                  <a:srgbClr val="00B050"/>
                </a:solidFill>
              </a:rPr>
              <a:t> in this class, </a:t>
            </a:r>
            <a:r>
              <a:rPr lang="en-US" i="1" dirty="0">
                <a:solidFill>
                  <a:srgbClr val="0070C0"/>
                </a:solidFill>
              </a:rPr>
              <a:t>x</a:t>
            </a:r>
            <a:r>
              <a:rPr lang="en-US" i="1" dirty="0">
                <a:solidFill>
                  <a:srgbClr val="00B050"/>
                </a:solidFill>
              </a:rPr>
              <a:t> has studied calculus.”</a:t>
            </a:r>
          </a:p>
          <a:p>
            <a:pPr>
              <a:buNone/>
            </a:pPr>
            <a:r>
              <a:rPr lang="en-US" i="1" dirty="0"/>
              <a:t>       </a:t>
            </a:r>
            <a:r>
              <a:rPr lang="en-US" i="1" dirty="0">
                <a:solidFill>
                  <a:srgbClr val="0070C0"/>
                </a:solidFill>
              </a:rPr>
              <a:t>C(x)</a:t>
            </a:r>
            <a:r>
              <a:rPr lang="en-US" i="1" dirty="0"/>
              <a:t>, which is the statement </a:t>
            </a:r>
            <a:r>
              <a:rPr lang="en-US" i="1" dirty="0">
                <a:solidFill>
                  <a:srgbClr val="0070C0"/>
                </a:solidFill>
              </a:rPr>
              <a:t>“x has studied calculus.”</a:t>
            </a:r>
          </a:p>
          <a:p>
            <a:pPr>
              <a:buNone/>
            </a:pPr>
            <a:r>
              <a:rPr lang="en-US" i="1" dirty="0">
                <a:solidFill>
                  <a:srgbClr val="0070C0"/>
                </a:solidFill>
              </a:rPr>
              <a:t>	</a:t>
            </a:r>
            <a:r>
              <a:rPr lang="en-US" b="1" i="1" dirty="0">
                <a:solidFill>
                  <a:srgbClr val="0070C0"/>
                </a:solidFill>
              </a:rPr>
              <a:t>∀</a:t>
            </a:r>
            <a:r>
              <a:rPr lang="en-US" b="1" i="1" dirty="0" err="1">
                <a:solidFill>
                  <a:srgbClr val="0070C0"/>
                </a:solidFill>
              </a:rPr>
              <a:t>xC</a:t>
            </a:r>
            <a:r>
              <a:rPr lang="en-US" b="1" i="1" dirty="0">
                <a:solidFill>
                  <a:srgbClr val="0070C0"/>
                </a:solidFill>
              </a:rPr>
              <a:t>(x).</a:t>
            </a:r>
          </a:p>
          <a:p>
            <a:pPr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If we </a:t>
            </a:r>
            <a:r>
              <a:rPr lang="en-US" dirty="0">
                <a:solidFill>
                  <a:srgbClr val="00B050"/>
                </a:solidFill>
              </a:rPr>
              <a:t>change the domain</a:t>
            </a:r>
            <a:r>
              <a:rPr lang="en-US" dirty="0"/>
              <a:t> to consist of </a:t>
            </a:r>
            <a:r>
              <a:rPr lang="en-US" dirty="0">
                <a:solidFill>
                  <a:srgbClr val="00B050"/>
                </a:solidFill>
              </a:rPr>
              <a:t>all people</a:t>
            </a:r>
            <a:r>
              <a:rPr lang="en-US" dirty="0"/>
              <a:t>, we will need to express our statement as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“For every person </a:t>
            </a:r>
            <a:r>
              <a:rPr lang="en-US" i="1" dirty="0">
                <a:solidFill>
                  <a:srgbClr val="FF0000"/>
                </a:solidFill>
              </a:rPr>
              <a:t>x, if person x is a student in this class then x has studied calculus.”</a:t>
            </a:r>
          </a:p>
          <a:p>
            <a:pPr>
              <a:buNone/>
            </a:pPr>
            <a:r>
              <a:rPr lang="en-US" dirty="0"/>
              <a:t>   If </a:t>
            </a:r>
            <a:r>
              <a:rPr lang="en-US" i="1" dirty="0">
                <a:solidFill>
                  <a:srgbClr val="0070C0"/>
                </a:solidFill>
              </a:rPr>
              <a:t>S(x)</a:t>
            </a:r>
            <a:r>
              <a:rPr lang="en-US" i="1" dirty="0"/>
              <a:t> represents the statement that </a:t>
            </a:r>
            <a:r>
              <a:rPr lang="en-US" i="1" dirty="0">
                <a:solidFill>
                  <a:srgbClr val="00B050"/>
                </a:solidFill>
              </a:rPr>
              <a:t>person x is in this class</a:t>
            </a:r>
            <a:r>
              <a:rPr lang="en-US" i="1" dirty="0"/>
              <a:t>, our statement can be</a:t>
            </a:r>
          </a:p>
          <a:p>
            <a:pPr>
              <a:buNone/>
            </a:pPr>
            <a:r>
              <a:rPr lang="en-US" i="1" dirty="0"/>
              <a:t>    </a:t>
            </a:r>
            <a:r>
              <a:rPr lang="en-US" dirty="0">
                <a:solidFill>
                  <a:srgbClr val="0070C0"/>
                </a:solidFill>
              </a:rPr>
              <a:t>∀</a:t>
            </a:r>
            <a:r>
              <a:rPr lang="en-US" i="1" dirty="0">
                <a:solidFill>
                  <a:srgbClr val="0070C0"/>
                </a:solidFill>
              </a:rPr>
              <a:t>x(S(x) → C(x)). 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	Express the statements “</a:t>
            </a:r>
            <a:r>
              <a:rPr lang="en-US" dirty="0">
                <a:solidFill>
                  <a:srgbClr val="FF0000"/>
                </a:solidFill>
              </a:rPr>
              <a:t>Some student in this class has visited Mexico” </a:t>
            </a:r>
            <a:r>
              <a:rPr lang="en-US" dirty="0"/>
              <a:t>using predicates and quantifiers.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Solution: </a:t>
            </a:r>
          </a:p>
          <a:p>
            <a:pPr>
              <a:buNone/>
            </a:pPr>
            <a:r>
              <a:rPr lang="en-US" i="1" dirty="0"/>
              <a:t>    The statement </a:t>
            </a:r>
          </a:p>
          <a:p>
            <a:pPr>
              <a:buNone/>
            </a:pPr>
            <a:r>
              <a:rPr lang="en-US" i="1" dirty="0">
                <a:solidFill>
                  <a:srgbClr val="00B050"/>
                </a:solidFill>
              </a:rPr>
              <a:t>  “Some student in this class has visited Mexico” </a:t>
            </a:r>
          </a:p>
          <a:p>
            <a:pPr>
              <a:buNone/>
            </a:pPr>
            <a:r>
              <a:rPr lang="en-US" i="1" dirty="0"/>
              <a:t>   means that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  “There is a student in this class with the property that the student has visited Mexico.”</a:t>
            </a:r>
          </a:p>
          <a:p>
            <a:pPr>
              <a:buNone/>
            </a:pPr>
            <a:r>
              <a:rPr lang="en-US" dirty="0"/>
              <a:t>    We can introduce a variable </a:t>
            </a:r>
            <a:r>
              <a:rPr lang="en-US" i="1" dirty="0"/>
              <a:t>x, 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    </a:t>
            </a:r>
            <a:r>
              <a:rPr lang="en-US" dirty="0">
                <a:solidFill>
                  <a:srgbClr val="0070C0"/>
                </a:solidFill>
              </a:rPr>
              <a:t>“There is a student </a:t>
            </a:r>
            <a:r>
              <a:rPr lang="en-US" i="1" dirty="0">
                <a:solidFill>
                  <a:srgbClr val="0070C0"/>
                </a:solidFill>
              </a:rPr>
              <a:t>x in this class  x has visited Mexico</a:t>
            </a:r>
            <a:r>
              <a:rPr lang="en-US" i="1" dirty="0">
                <a:solidFill>
                  <a:srgbClr val="00B050"/>
                </a:solidFill>
              </a:rPr>
              <a:t>.”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en-US" b="1" i="1" dirty="0">
                <a:solidFill>
                  <a:srgbClr val="0070C0"/>
                </a:solidFill>
              </a:rPr>
              <a:t>M(x)</a:t>
            </a:r>
            <a:r>
              <a:rPr lang="en-US" i="1" dirty="0"/>
              <a:t>, which is the statement </a:t>
            </a:r>
            <a:r>
              <a:rPr lang="en-US" i="1" dirty="0">
                <a:solidFill>
                  <a:srgbClr val="00B050"/>
                </a:solidFill>
              </a:rPr>
              <a:t>“x has visited Mexico.” </a:t>
            </a:r>
          </a:p>
          <a:p>
            <a:pPr>
              <a:buNone/>
            </a:pPr>
            <a:r>
              <a:rPr lang="en-US" i="1" dirty="0">
                <a:solidFill>
                  <a:srgbClr val="00B050"/>
                </a:solidFill>
              </a:rPr>
              <a:t>      </a:t>
            </a:r>
            <a:r>
              <a:rPr lang="en-US" i="1" dirty="0"/>
              <a:t>If the </a:t>
            </a:r>
            <a:r>
              <a:rPr lang="en-US" i="1" dirty="0">
                <a:solidFill>
                  <a:srgbClr val="0070C0"/>
                </a:solidFill>
              </a:rPr>
              <a:t>domain for x consists </a:t>
            </a:r>
            <a:r>
              <a:rPr lang="en-US" dirty="0">
                <a:solidFill>
                  <a:srgbClr val="0070C0"/>
                </a:solidFill>
              </a:rPr>
              <a:t>of the students </a:t>
            </a:r>
            <a:r>
              <a:rPr lang="en-US" dirty="0"/>
              <a:t>in this class, we can translate this first statement as 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∃</a:t>
            </a:r>
            <a:r>
              <a:rPr lang="en-US" b="1" i="1" dirty="0" err="1">
                <a:solidFill>
                  <a:srgbClr val="0070C0"/>
                </a:solidFill>
              </a:rPr>
              <a:t>xM</a:t>
            </a:r>
            <a:r>
              <a:rPr lang="en-US" b="1" i="1" dirty="0">
                <a:solidFill>
                  <a:srgbClr val="0070C0"/>
                </a:solidFill>
              </a:rPr>
              <a:t>(x).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“There is a person </a:t>
            </a:r>
            <a:r>
              <a:rPr lang="en-US" i="1" dirty="0">
                <a:solidFill>
                  <a:srgbClr val="FF0000"/>
                </a:solidFill>
              </a:rPr>
              <a:t>x ,x is a student in this class and x has visited </a:t>
            </a:r>
            <a:r>
              <a:rPr lang="en-US" dirty="0">
                <a:solidFill>
                  <a:srgbClr val="FF0000"/>
                </a:solidFill>
              </a:rPr>
              <a:t>Mexico.”</a:t>
            </a:r>
          </a:p>
          <a:p>
            <a:pPr>
              <a:buNone/>
            </a:pPr>
            <a:r>
              <a:rPr lang="en-US" dirty="0"/>
              <a:t>	In this case, the domain for the variable </a:t>
            </a:r>
            <a:r>
              <a:rPr lang="en-US" i="1" dirty="0"/>
              <a:t>x </a:t>
            </a:r>
            <a:r>
              <a:rPr lang="en-US" i="1" dirty="0">
                <a:solidFill>
                  <a:srgbClr val="0070C0"/>
                </a:solidFill>
              </a:rPr>
              <a:t>consists of all people.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b="1" i="1" dirty="0">
                <a:solidFill>
                  <a:srgbClr val="0070C0"/>
                </a:solidFill>
              </a:rPr>
              <a:t>S(x)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i="1" dirty="0"/>
              <a:t>to represent </a:t>
            </a:r>
            <a:r>
              <a:rPr lang="en-US" dirty="0">
                <a:solidFill>
                  <a:srgbClr val="00B050"/>
                </a:solidFill>
              </a:rPr>
              <a:t>“</a:t>
            </a:r>
            <a:r>
              <a:rPr lang="en-US" i="1" dirty="0">
                <a:solidFill>
                  <a:srgbClr val="00B050"/>
                </a:solidFill>
              </a:rPr>
              <a:t>x is a student in this class.” </a:t>
            </a:r>
          </a:p>
          <a:p>
            <a:pPr>
              <a:buNone/>
            </a:pPr>
            <a:r>
              <a:rPr lang="en-US" i="1" dirty="0">
                <a:solidFill>
                  <a:srgbClr val="00B050"/>
                </a:solidFill>
              </a:rPr>
              <a:t>    </a:t>
            </a:r>
            <a:r>
              <a:rPr lang="en-US" b="1" i="1" dirty="0">
                <a:solidFill>
                  <a:srgbClr val="0070C0"/>
                </a:solidFill>
              </a:rPr>
              <a:t>∃x(S(x) ∧ M(x))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	Express the statements </a:t>
            </a:r>
            <a:r>
              <a:rPr lang="en-US" dirty="0">
                <a:solidFill>
                  <a:srgbClr val="FF0000"/>
                </a:solidFill>
              </a:rPr>
              <a:t>“Every student in this class has visited either Canada or Mexico</a:t>
            </a:r>
            <a:r>
              <a:rPr lang="en-US" dirty="0"/>
              <a:t>” using predicates and quantifiers.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     Solution</a:t>
            </a:r>
            <a:r>
              <a:rPr lang="en-US" i="1" dirty="0"/>
              <a:t>: </a:t>
            </a:r>
          </a:p>
          <a:p>
            <a:pPr>
              <a:buNone/>
            </a:pPr>
            <a:r>
              <a:rPr lang="en-US" i="1" dirty="0"/>
              <a:t>     </a:t>
            </a:r>
            <a:r>
              <a:rPr lang="en-US" dirty="0"/>
              <a:t>We let </a:t>
            </a:r>
            <a:r>
              <a:rPr lang="en-US" b="1" i="1" dirty="0">
                <a:solidFill>
                  <a:srgbClr val="0070C0"/>
                </a:solidFill>
              </a:rPr>
              <a:t>C(x</a:t>
            </a:r>
            <a:r>
              <a:rPr lang="en-US" i="1" dirty="0">
                <a:solidFill>
                  <a:srgbClr val="0070C0"/>
                </a:solidFill>
              </a:rPr>
              <a:t>)</a:t>
            </a:r>
            <a:r>
              <a:rPr lang="en-US" i="1" dirty="0"/>
              <a:t> be </a:t>
            </a:r>
            <a:r>
              <a:rPr lang="en-US" i="1" dirty="0">
                <a:solidFill>
                  <a:srgbClr val="92D050"/>
                </a:solidFill>
              </a:rPr>
              <a:t>“x </a:t>
            </a:r>
            <a:r>
              <a:rPr lang="en-US" dirty="0">
                <a:solidFill>
                  <a:srgbClr val="92D050"/>
                </a:solidFill>
              </a:rPr>
              <a:t>has visited Canada.” </a:t>
            </a:r>
          </a:p>
          <a:p>
            <a:pPr>
              <a:buNone/>
            </a:pPr>
            <a:r>
              <a:rPr lang="en-US" b="1" i="1" dirty="0">
                <a:solidFill>
                  <a:srgbClr val="92D050"/>
                </a:solidFill>
              </a:rPr>
              <a:t>     </a:t>
            </a:r>
            <a:r>
              <a:rPr lang="en-US" b="1" i="1" dirty="0">
                <a:solidFill>
                  <a:srgbClr val="0070C0"/>
                </a:solidFill>
              </a:rPr>
              <a:t>M(x)</a:t>
            </a:r>
            <a:r>
              <a:rPr lang="en-US" i="1" dirty="0"/>
              <a:t>,  the statement </a:t>
            </a:r>
            <a:r>
              <a:rPr lang="en-US" i="1" dirty="0">
                <a:solidFill>
                  <a:srgbClr val="00B050"/>
                </a:solidFill>
              </a:rPr>
              <a:t>“x has visited Mexico.” </a:t>
            </a:r>
            <a:r>
              <a:rPr lang="en-US" dirty="0"/>
              <a:t>Following our earlier reasoning, we see that if the domain </a:t>
            </a:r>
            <a:r>
              <a:rPr lang="en-US" dirty="0">
                <a:solidFill>
                  <a:srgbClr val="0070C0"/>
                </a:solidFill>
              </a:rPr>
              <a:t>for </a:t>
            </a:r>
            <a:r>
              <a:rPr lang="en-US" i="1" dirty="0">
                <a:solidFill>
                  <a:srgbClr val="0070C0"/>
                </a:solidFill>
              </a:rPr>
              <a:t>x consists of  </a:t>
            </a:r>
            <a:r>
              <a:rPr lang="en-US" dirty="0">
                <a:solidFill>
                  <a:srgbClr val="0070C0"/>
                </a:solidFill>
              </a:rPr>
              <a:t>the students </a:t>
            </a:r>
            <a:r>
              <a:rPr lang="en-US" dirty="0"/>
              <a:t>in this class, this second statement can be expressed as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    ∀</a:t>
            </a:r>
            <a:r>
              <a:rPr lang="en-US" b="1" i="1" dirty="0">
                <a:solidFill>
                  <a:srgbClr val="0070C0"/>
                </a:solidFill>
              </a:rPr>
              <a:t>x(C(x) ∨ M(x)).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If the domain for </a:t>
            </a:r>
            <a:r>
              <a:rPr lang="en-US" i="1" dirty="0"/>
              <a:t>x consists of all people, our statement can be expressed as </a:t>
            </a:r>
            <a:r>
              <a:rPr lang="en-US" dirty="0">
                <a:solidFill>
                  <a:srgbClr val="FF0000"/>
                </a:solidFill>
              </a:rPr>
              <a:t>“For every person </a:t>
            </a:r>
            <a:r>
              <a:rPr lang="en-US" i="1" dirty="0">
                <a:solidFill>
                  <a:srgbClr val="FF0000"/>
                </a:solidFill>
              </a:rPr>
              <a:t>x, if x is a student in this class, then x has visited Mexico or x has visited </a:t>
            </a:r>
            <a:r>
              <a:rPr lang="en-US" dirty="0">
                <a:solidFill>
                  <a:srgbClr val="FF0000"/>
                </a:solidFill>
              </a:rPr>
              <a:t>Canada.</a:t>
            </a:r>
            <a:r>
              <a:rPr lang="en-US" dirty="0"/>
              <a:t>”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Solution: 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∀</a:t>
            </a:r>
            <a:r>
              <a:rPr lang="en-US" b="1" i="1" dirty="0">
                <a:solidFill>
                  <a:srgbClr val="0070C0"/>
                </a:solidFill>
              </a:rPr>
              <a:t>x(S(x) → (C(x) ∨M(x))).</a:t>
            </a:r>
            <a:r>
              <a:rPr lang="en-US" b="1" dirty="0">
                <a:solidFill>
                  <a:srgbClr val="0070C0"/>
                </a:solidFill>
              </a:rPr>
              <a:t>	</a:t>
            </a:r>
            <a:endParaRPr lang="en-US" b="1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Questions </a:t>
            </a:r>
          </a:p>
          <a:p>
            <a:pPr>
              <a:buNone/>
            </a:pPr>
            <a:r>
              <a:rPr lang="en-US" b="1" dirty="0"/>
              <a:t>1</a:t>
            </a:r>
          </a:p>
          <a:p>
            <a:pPr>
              <a:buNone/>
            </a:pPr>
            <a:r>
              <a:rPr lang="en-US" b="1" dirty="0"/>
              <a:t>2</a:t>
            </a:r>
          </a:p>
          <a:p>
            <a:pPr>
              <a:buNone/>
            </a:pPr>
            <a:r>
              <a:rPr lang="en-US" b="1" dirty="0"/>
              <a:t>4</a:t>
            </a:r>
          </a:p>
          <a:p>
            <a:pPr>
              <a:buNone/>
            </a:pPr>
            <a:r>
              <a:rPr lang="en-US" b="1" dirty="0"/>
              <a:t>5</a:t>
            </a:r>
          </a:p>
          <a:p>
            <a:pPr>
              <a:buNone/>
            </a:pPr>
            <a:r>
              <a:rPr lang="en-US" b="1" dirty="0"/>
              <a:t>9</a:t>
            </a:r>
          </a:p>
          <a:p>
            <a:pPr>
              <a:buNone/>
            </a:pPr>
            <a:r>
              <a:rPr lang="en-US" b="1" dirty="0"/>
              <a:t>11</a:t>
            </a:r>
          </a:p>
          <a:p>
            <a:pPr>
              <a:buNone/>
            </a:pPr>
            <a:r>
              <a:rPr lang="en-US" b="1" dirty="0"/>
              <a:t> 13</a:t>
            </a:r>
          </a:p>
          <a:p>
            <a:pPr>
              <a:buNone/>
            </a:pPr>
            <a:r>
              <a:rPr lang="en-US" b="1" dirty="0"/>
              <a:t>15</a:t>
            </a:r>
          </a:p>
          <a:p>
            <a:pPr>
              <a:buNone/>
            </a:pPr>
            <a:r>
              <a:rPr lang="en-US" b="1" dirty="0"/>
              <a:t>17</a:t>
            </a:r>
          </a:p>
          <a:p>
            <a:pPr>
              <a:buNone/>
            </a:pPr>
            <a:r>
              <a:rPr lang="en-US" b="1" dirty="0"/>
              <a:t>19</a:t>
            </a:r>
          </a:p>
          <a:p>
            <a:pPr>
              <a:buNone/>
            </a:pPr>
            <a:r>
              <a:rPr lang="en-US" b="1" dirty="0"/>
              <a:t>23</a:t>
            </a:r>
          </a:p>
          <a:p>
            <a:pPr>
              <a:buNone/>
            </a:pPr>
            <a:r>
              <a:rPr lang="en-US" b="1"/>
              <a:t>31</a:t>
            </a:r>
            <a:endParaRPr lang="en-US" b="1" dirty="0"/>
          </a:p>
          <a:p>
            <a:pPr>
              <a:buNone/>
            </a:pPr>
            <a:r>
              <a:rPr lang="en-US" b="1" dirty="0"/>
              <a:t>33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19684</TotalTime>
  <Words>3657</Words>
  <Application>Microsoft Office PowerPoint</Application>
  <PresentationFormat>On-screen Show (4:3)</PresentationFormat>
  <Paragraphs>231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Corbel</vt:lpstr>
      <vt:lpstr>Wingdings</vt:lpstr>
      <vt:lpstr>Wingdings 2</vt:lpstr>
      <vt:lpstr>Wingdings 3</vt:lpstr>
      <vt:lpstr>Module</vt:lpstr>
      <vt:lpstr>Predicates and Quantifiers</vt:lpstr>
      <vt:lpstr>Predicates</vt:lpstr>
      <vt:lpstr>Example</vt:lpstr>
      <vt:lpstr>Example…</vt:lpstr>
      <vt:lpstr>Example…</vt:lpstr>
      <vt:lpstr>Example…</vt:lpstr>
      <vt:lpstr>Quantifiers</vt:lpstr>
      <vt:lpstr>THE UNIVERSAL QUANTIFIER</vt:lpstr>
      <vt:lpstr>THE UNIVERSAL QUANTIFIER…</vt:lpstr>
      <vt:lpstr>Example</vt:lpstr>
      <vt:lpstr>Example…</vt:lpstr>
      <vt:lpstr>THE UNIVERSAL QUANTIFIER</vt:lpstr>
      <vt:lpstr>THE UNIVERSAL QUANTIFIER…</vt:lpstr>
      <vt:lpstr>Example 1</vt:lpstr>
      <vt:lpstr>Example 2</vt:lpstr>
      <vt:lpstr>Example 3</vt:lpstr>
      <vt:lpstr>THE EXISTENTIAL QUANTIFIER</vt:lpstr>
      <vt:lpstr>THE EXISTENTIAL QUANTIFIER…</vt:lpstr>
      <vt:lpstr>EXAMPLE 1</vt:lpstr>
      <vt:lpstr>EXAMPLE 2</vt:lpstr>
      <vt:lpstr>THE EXISTENTIAL QUANTIFIER…</vt:lpstr>
      <vt:lpstr>EXAMPLE 3</vt:lpstr>
      <vt:lpstr>PowerPoint Presentation</vt:lpstr>
      <vt:lpstr>THE UNIQUENESS QUANTIFIER</vt:lpstr>
      <vt:lpstr>Quantifiers with Restricted Domains</vt:lpstr>
      <vt:lpstr>Precedence of Quantifiers</vt:lpstr>
      <vt:lpstr>Binding Variables</vt:lpstr>
      <vt:lpstr>Binding Variables…</vt:lpstr>
      <vt:lpstr>Negating Quantified Expressions</vt:lpstr>
      <vt:lpstr>Negating Quantified Expressions…</vt:lpstr>
      <vt:lpstr>Negating Quantified Expressions…</vt:lpstr>
      <vt:lpstr>PowerPoint Presentation</vt:lpstr>
      <vt:lpstr>Example</vt:lpstr>
      <vt:lpstr>Example…</vt:lpstr>
      <vt:lpstr>Example…</vt:lpstr>
      <vt:lpstr>Translating from English into Logical Expressions</vt:lpstr>
      <vt:lpstr>PowerPoint Presentation</vt:lpstr>
      <vt:lpstr>Example 2</vt:lpstr>
      <vt:lpstr>Example 2…</vt:lpstr>
      <vt:lpstr>Example 3</vt:lpstr>
      <vt:lpstr>Example 3…</vt:lpstr>
      <vt:lpstr>Exercise 1.4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shahjee</dc:creator>
  <cp:lastModifiedBy>amna humayun</cp:lastModifiedBy>
  <cp:revision>86</cp:revision>
  <dcterms:created xsi:type="dcterms:W3CDTF">2020-04-08T19:12:11Z</dcterms:created>
  <dcterms:modified xsi:type="dcterms:W3CDTF">2024-11-19T12:14:28Z</dcterms:modified>
</cp:coreProperties>
</file>