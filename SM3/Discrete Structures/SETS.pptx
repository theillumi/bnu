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2"/>
  </p:notesMasterIdLst>
  <p:handoutMasterIdLst>
    <p:handoutMasterId r:id="rId123"/>
  </p:handoutMasterIdLst>
  <p:sldIdLst>
    <p:sldId id="256" r:id="rId2"/>
    <p:sldId id="257" r:id="rId3"/>
    <p:sldId id="258" r:id="rId4"/>
    <p:sldId id="259" r:id="rId5"/>
    <p:sldId id="260" r:id="rId6"/>
    <p:sldId id="261"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396" r:id="rId25"/>
    <p:sldId id="282" r:id="rId26"/>
    <p:sldId id="283" r:id="rId27"/>
    <p:sldId id="284" r:id="rId28"/>
    <p:sldId id="293" r:id="rId29"/>
    <p:sldId id="285" r:id="rId30"/>
    <p:sldId id="286" r:id="rId31"/>
    <p:sldId id="287" r:id="rId32"/>
    <p:sldId id="382" r:id="rId33"/>
    <p:sldId id="288" r:id="rId34"/>
    <p:sldId id="383" r:id="rId35"/>
    <p:sldId id="384" r:id="rId36"/>
    <p:sldId id="385" r:id="rId37"/>
    <p:sldId id="386" r:id="rId38"/>
    <p:sldId id="387" r:id="rId39"/>
    <p:sldId id="388" r:id="rId40"/>
    <p:sldId id="389" r:id="rId41"/>
    <p:sldId id="390" r:id="rId42"/>
    <p:sldId id="397" r:id="rId43"/>
    <p:sldId id="295" r:id="rId44"/>
    <p:sldId id="294" r:id="rId45"/>
    <p:sldId id="303" r:id="rId46"/>
    <p:sldId id="296" r:id="rId47"/>
    <p:sldId id="297" r:id="rId48"/>
    <p:sldId id="298" r:id="rId49"/>
    <p:sldId id="299" r:id="rId50"/>
    <p:sldId id="300" r:id="rId51"/>
    <p:sldId id="301" r:id="rId52"/>
    <p:sldId id="304" r:id="rId53"/>
    <p:sldId id="305" r:id="rId54"/>
    <p:sldId id="306" r:id="rId55"/>
    <p:sldId id="307" r:id="rId56"/>
    <p:sldId id="308" r:id="rId57"/>
    <p:sldId id="309" r:id="rId58"/>
    <p:sldId id="312" r:id="rId59"/>
    <p:sldId id="313" r:id="rId60"/>
    <p:sldId id="316" r:id="rId61"/>
    <p:sldId id="315"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94" r:id="rId79"/>
    <p:sldId id="333" r:id="rId80"/>
    <p:sldId id="334" r:id="rId81"/>
    <p:sldId id="335" r:id="rId82"/>
    <p:sldId id="336" r:id="rId83"/>
    <p:sldId id="337" r:id="rId84"/>
    <p:sldId id="338" r:id="rId85"/>
    <p:sldId id="339" r:id="rId86"/>
    <p:sldId id="340" r:id="rId87"/>
    <p:sldId id="341" r:id="rId88"/>
    <p:sldId id="343" r:id="rId89"/>
    <p:sldId id="342" r:id="rId90"/>
    <p:sldId id="344" r:id="rId91"/>
    <p:sldId id="393" r:id="rId92"/>
    <p:sldId id="392" r:id="rId93"/>
    <p:sldId id="351" r:id="rId94"/>
    <p:sldId id="353" r:id="rId95"/>
    <p:sldId id="354" r:id="rId96"/>
    <p:sldId id="355" r:id="rId97"/>
    <p:sldId id="356" r:id="rId98"/>
    <p:sldId id="358" r:id="rId99"/>
    <p:sldId id="359" r:id="rId100"/>
    <p:sldId id="360" r:id="rId101"/>
    <p:sldId id="361" r:id="rId102"/>
    <p:sldId id="362" r:id="rId103"/>
    <p:sldId id="363" r:id="rId104"/>
    <p:sldId id="395" r:id="rId105"/>
    <p:sldId id="398" r:id="rId106"/>
    <p:sldId id="399" r:id="rId107"/>
    <p:sldId id="400" r:id="rId108"/>
    <p:sldId id="401" r:id="rId109"/>
    <p:sldId id="402" r:id="rId110"/>
    <p:sldId id="403" r:id="rId111"/>
    <p:sldId id="404" r:id="rId112"/>
    <p:sldId id="406" r:id="rId113"/>
    <p:sldId id="407" r:id="rId114"/>
    <p:sldId id="408" r:id="rId115"/>
    <p:sldId id="409" r:id="rId116"/>
    <p:sldId id="410" r:id="rId117"/>
    <p:sldId id="411" r:id="rId118"/>
    <p:sldId id="412" r:id="rId119"/>
    <p:sldId id="413" r:id="rId120"/>
    <p:sldId id="414" r:id="rId1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45" autoAdjust="0"/>
    <p:restoredTop sz="94615" autoAdjust="0"/>
  </p:normalViewPr>
  <p:slideViewPr>
    <p:cSldViewPr>
      <p:cViewPr>
        <p:scale>
          <a:sx n="69" d="100"/>
          <a:sy n="69" d="100"/>
        </p:scale>
        <p:origin x="-1230" y="-72"/>
      </p:cViewPr>
      <p:guideLst>
        <p:guide orient="horz" pos="2160"/>
        <p:guide pos="2880"/>
      </p:guideLst>
    </p:cSldViewPr>
  </p:slideViewPr>
  <p:outlineViewPr>
    <p:cViewPr>
      <p:scale>
        <a:sx n="33" d="100"/>
        <a:sy n="33" d="100"/>
      </p:scale>
      <p:origin x="54" y="5950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35" tIns="45718" rIns="91435" bIns="4571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35" tIns="45718" rIns="91435" bIns="45718" rtlCol="0"/>
          <a:lstStyle>
            <a:lvl1pPr algn="r">
              <a:defRPr sz="1200"/>
            </a:lvl1pPr>
          </a:lstStyle>
          <a:p>
            <a:fld id="{8F37FF2F-9CE3-42F3-9CE9-26ACA42F08CF}" type="datetimeFigureOut">
              <a:rPr lang="en-US" smtClean="0"/>
              <a:pPr/>
              <a:t>10/28/2023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35" tIns="45718" rIns="91435" bIns="4571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35" tIns="45718" rIns="91435" bIns="45718" rtlCol="0" anchor="b"/>
          <a:lstStyle>
            <a:lvl1pPr algn="r">
              <a:defRPr sz="1200"/>
            </a:lvl1pPr>
          </a:lstStyle>
          <a:p>
            <a:fld id="{EBE05AB1-E47C-4702-B751-89BAE5F7BA3E}" type="slidenum">
              <a:rPr lang="en-US" smtClean="0"/>
              <a:pPr/>
              <a:t>‹#›</a:t>
            </a:fld>
            <a:endParaRPr lang="en-US"/>
          </a:p>
        </p:txBody>
      </p:sp>
    </p:spTree>
    <p:extLst>
      <p:ext uri="{BB962C8B-B14F-4D97-AF65-F5344CB8AC3E}">
        <p14:creationId xmlns:p14="http://schemas.microsoft.com/office/powerpoint/2010/main" val="7726434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35" tIns="45718" rIns="91435" bIns="45718"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35" tIns="45718" rIns="91435" bIns="45718" rtlCol="0"/>
          <a:lstStyle>
            <a:lvl1pPr algn="r">
              <a:defRPr sz="1200"/>
            </a:lvl1pPr>
          </a:lstStyle>
          <a:p>
            <a:fld id="{0463AA65-7464-4D97-B282-4FF7EF8F51D5}" type="datetimeFigureOut">
              <a:rPr lang="en-US" smtClean="0"/>
              <a:pPr/>
              <a:t>10/28/2023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35" tIns="45718" rIns="91435" bIns="45718"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35" tIns="45718" rIns="91435" bIns="457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35" tIns="45718" rIns="91435" bIns="45718"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35" tIns="45718" rIns="91435" bIns="45718" rtlCol="0" anchor="b"/>
          <a:lstStyle>
            <a:lvl1pPr algn="r">
              <a:defRPr sz="1200"/>
            </a:lvl1pPr>
          </a:lstStyle>
          <a:p>
            <a:fld id="{564F8019-CDCC-4531-9469-3FF89D115AFC}" type="slidenum">
              <a:rPr lang="en-US" smtClean="0"/>
              <a:pPr/>
              <a:t>‹#›</a:t>
            </a:fld>
            <a:endParaRPr lang="en-US"/>
          </a:p>
        </p:txBody>
      </p:sp>
    </p:spTree>
    <p:extLst>
      <p:ext uri="{BB962C8B-B14F-4D97-AF65-F5344CB8AC3E}">
        <p14:creationId xmlns:p14="http://schemas.microsoft.com/office/powerpoint/2010/main" val="3685502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64F8019-CDCC-4531-9469-3FF89D115AFC}" type="slidenum">
              <a:rPr lang="en-US" smtClean="0"/>
              <a:pPr/>
              <a:t>5</a:t>
            </a:fld>
            <a:endParaRPr lang="en-US"/>
          </a:p>
        </p:txBody>
      </p:sp>
    </p:spTree>
    <p:extLst>
      <p:ext uri="{BB962C8B-B14F-4D97-AF65-F5344CB8AC3E}">
        <p14:creationId xmlns:p14="http://schemas.microsoft.com/office/powerpoint/2010/main" val="4256351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E0EAE-2F62-406D-B7A9-FD1CAFCE1B58}"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E0EAE-2F62-406D-B7A9-FD1CAFCE1B5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E0EAE-2F62-406D-B7A9-FD1CAFCE1B58}"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6E0EAE-2F62-406D-B7A9-FD1CAFCE1B5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smtClean="0"/>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56E0EAE-2F62-406D-B7A9-FD1CAFCE1B5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56E0EAE-2F62-406D-B7A9-FD1CAFCE1B5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56E0EAE-2F62-406D-B7A9-FD1CAFCE1B5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56E0EAE-2F62-406D-B7A9-FD1CAFCE1B58}"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74C31F15-E333-4099-8C16-927317819F20}" type="datetimeFigureOut">
              <a:rPr lang="en-US" smtClean="0"/>
              <a:pPr/>
              <a:t>10/28/2023</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en-US"/>
          </a:p>
        </p:txBody>
      </p:sp>
      <p:sp>
        <p:nvSpPr>
          <p:cNvPr id="7" name="Slide Number Placeholder 6"/>
          <p:cNvSpPr>
            <a:spLocks noGrp="1"/>
          </p:cNvSpPr>
          <p:nvPr>
            <p:ph type="sldNum" sz="quarter" idx="12"/>
          </p:nvPr>
        </p:nvSpPr>
        <p:spPr>
          <a:xfrm>
            <a:off x="8339328" y="1170432"/>
            <a:ext cx="733864" cy="201168"/>
          </a:xfrm>
        </p:spPr>
        <p:txBody>
          <a:bodyPr/>
          <a:lstStyle/>
          <a:p>
            <a:fld id="{156E0EAE-2F62-406D-B7A9-FD1CAFCE1B58}"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56E0EAE-2F62-406D-B7A9-FD1CAFCE1B5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4C31F15-E333-4099-8C16-927317819F20}" type="datetimeFigureOut">
              <a:rPr lang="en-US" smtClean="0"/>
              <a:pPr/>
              <a:t>10/28/2023</a:t>
            </a:fld>
            <a:endParaRPr lang="en-US"/>
          </a:p>
        </p:txBody>
      </p:sp>
      <p:sp>
        <p:nvSpPr>
          <p:cNvPr id="5" name="Footer Placeholder 4"/>
          <p:cNvSpPr>
            <a:spLocks noGrp="1"/>
          </p:cNvSpPr>
          <p:nvPr>
            <p:ph type="ftr" sz="quarter" idx="11"/>
          </p:nvPr>
        </p:nvSpPr>
        <p:spPr>
          <a:xfrm>
            <a:off x="2640597" y="6377459"/>
            <a:ext cx="3836404" cy="365125"/>
          </a:xfrm>
        </p:spPr>
        <p:txBody>
          <a:bodyPr/>
          <a:lstStyle/>
          <a:p>
            <a:endParaRPr lang="en-US"/>
          </a:p>
        </p:txBody>
      </p:sp>
      <p:sp>
        <p:nvSpPr>
          <p:cNvPr id="6" name="Slide Number Placeholder 5"/>
          <p:cNvSpPr>
            <a:spLocks noGrp="1"/>
          </p:cNvSpPr>
          <p:nvPr>
            <p:ph type="sldNum" sz="quarter" idx="12"/>
          </p:nvPr>
        </p:nvSpPr>
        <p:spPr/>
        <p:txBody>
          <a:bodyPr/>
          <a:lstStyle/>
          <a:p>
            <a:fld id="{156E0EAE-2F62-406D-B7A9-FD1CAFCE1B5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74C31F15-E333-4099-8C16-927317819F20}" type="datetimeFigureOut">
              <a:rPr lang="en-US" smtClean="0"/>
              <a:pPr/>
              <a:t>10/28/2023</a:t>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156E0EAE-2F62-406D-B7A9-FD1CAFCE1B5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image" Target="../media/image37.png"/><Relationship Id="rId16"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 Id="rId4" Type="http://schemas.openxmlformats.org/officeDocument/2006/relationships/image" Target="../media/image69.png"/></Relationships>
</file>

<file path=ppt/slides/_rels/slide10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SETS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set is an </a:t>
            </a:r>
            <a:r>
              <a:rPr lang="en-US" dirty="0" smtClean="0">
                <a:solidFill>
                  <a:srgbClr val="FF0000"/>
                </a:solidFill>
              </a:rPr>
              <a:t>unordered collection of objects</a:t>
            </a:r>
            <a:r>
              <a:rPr lang="en-US" dirty="0" smtClean="0"/>
              <a:t>, called </a:t>
            </a:r>
            <a:r>
              <a:rPr lang="en-US" i="1" dirty="0" smtClean="0">
                <a:solidFill>
                  <a:srgbClr val="FF0000"/>
                </a:solidFill>
              </a:rPr>
              <a:t>elements</a:t>
            </a:r>
            <a:r>
              <a:rPr lang="en-US" dirty="0" smtClean="0"/>
              <a:t> or </a:t>
            </a:r>
            <a:r>
              <a:rPr lang="en-US" i="1" dirty="0" smtClean="0">
                <a:solidFill>
                  <a:srgbClr val="FF0000"/>
                </a:solidFill>
              </a:rPr>
              <a:t>members of the set</a:t>
            </a:r>
            <a:r>
              <a:rPr lang="en-US" dirty="0" smtClean="0"/>
              <a:t>.</a:t>
            </a:r>
          </a:p>
          <a:p>
            <a:r>
              <a:rPr lang="en-US" dirty="0" smtClean="0"/>
              <a:t> We write a ∈ A to denote that a is an element of the set A.</a:t>
            </a:r>
          </a:p>
          <a:p>
            <a:r>
              <a:rPr lang="en-US" dirty="0" smtClean="0"/>
              <a:t> The notation a ∈ A denotes that a is not an element of the set A</a:t>
            </a:r>
          </a:p>
          <a:p>
            <a:pPr>
              <a:buNone/>
            </a:pPr>
            <a:endParaRPr lang="en-US" dirty="0" smtClean="0"/>
          </a:p>
          <a:p>
            <a:pPr>
              <a:buNone/>
            </a:pPr>
            <a:r>
              <a:rPr lang="en-US" dirty="0" smtClean="0"/>
              <a:t>	It is common for sets to be denoted using uppercase letters. Lowercase letters are usually</a:t>
            </a:r>
          </a:p>
          <a:p>
            <a:pPr>
              <a:buNone/>
            </a:pPr>
            <a:r>
              <a:rPr lang="en-US" dirty="0" smtClean="0"/>
              <a:t>	used to denote elements of sets.</a:t>
            </a:r>
            <a:endParaRPr lang="en-US" dirty="0"/>
          </a:p>
        </p:txBody>
      </p:sp>
      <p:cxnSp>
        <p:nvCxnSpPr>
          <p:cNvPr id="5" name="Straight Connector 4"/>
          <p:cNvCxnSpPr/>
          <p:nvPr/>
        </p:nvCxnSpPr>
        <p:spPr>
          <a:xfrm rot="5400000">
            <a:off x="3314700" y="3695700"/>
            <a:ext cx="3810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Ways to describe a set</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Roster method </a:t>
            </a:r>
            <a:r>
              <a:rPr lang="en-US" dirty="0" smtClean="0"/>
              <a:t>list all the members of a set.</a:t>
            </a:r>
          </a:p>
          <a:p>
            <a:r>
              <a:rPr lang="en-US" dirty="0" smtClean="0"/>
              <a:t>Examples:</a:t>
            </a:r>
          </a:p>
          <a:p>
            <a:pPr lvl="1"/>
            <a:r>
              <a:rPr lang="en-US" dirty="0" smtClean="0"/>
              <a:t>The set V of all vowels in the English alphabet can be written as V ={a, e, </a:t>
            </a:r>
            <a:r>
              <a:rPr lang="en-US" dirty="0" err="1" smtClean="0"/>
              <a:t>i</a:t>
            </a:r>
            <a:r>
              <a:rPr lang="en-US" dirty="0" smtClean="0"/>
              <a:t>, o, u}.</a:t>
            </a:r>
          </a:p>
          <a:p>
            <a:pPr lvl="1"/>
            <a:r>
              <a:rPr lang="en-US" dirty="0" smtClean="0"/>
              <a:t>The set O of odd positive integers less than 10 can be expressed by O ={1, 3, 5, 7, 9}.</a:t>
            </a:r>
          </a:p>
          <a:p>
            <a:pPr lvl="1"/>
            <a:r>
              <a:rPr lang="en-US" dirty="0" smtClean="0"/>
              <a:t>Although sets are usually used to group together elements with common properties, there is nothing that prevents a set from having seemingly unrelated elements. For instance, {a, 2 , Fred, New Jersey} .is the set containing the four elements a , 2, Fred, and New Jersey.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Ways to describe a set</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Set builder notation </a:t>
            </a:r>
            <a:r>
              <a:rPr lang="en-US" dirty="0" smtClean="0"/>
              <a:t>characterize all elements in the set by stating the property or properties they must have to be members.</a:t>
            </a:r>
          </a:p>
          <a:p>
            <a:r>
              <a:rPr lang="en-US" dirty="0" smtClean="0"/>
              <a:t>Examples:</a:t>
            </a:r>
          </a:p>
          <a:p>
            <a:pPr lvl="1"/>
            <a:r>
              <a:rPr lang="en-US" dirty="0" smtClean="0"/>
              <a:t>The set O of all odd positive integers less than 10</a:t>
            </a:r>
          </a:p>
          <a:p>
            <a:pPr>
              <a:buNone/>
            </a:pPr>
            <a:r>
              <a:rPr lang="en-US" dirty="0" smtClean="0"/>
              <a:t>	O ={x | x is an odd positive integer less than 10 }</a:t>
            </a:r>
          </a:p>
          <a:p>
            <a:endParaRPr lang="en-US" dirty="0" smtClean="0"/>
          </a:p>
          <a:p>
            <a:pPr lvl="1"/>
            <a:r>
              <a:rPr lang="en-US" dirty="0" smtClean="0"/>
              <a:t>Specifying the universe as the set of positive integers less than 10</a:t>
            </a:r>
          </a:p>
          <a:p>
            <a:pPr>
              <a:buNone/>
            </a:pPr>
            <a:r>
              <a:rPr lang="en-US" dirty="0" smtClean="0"/>
              <a:t>	 O ={x ∈ Z</a:t>
            </a:r>
            <a:r>
              <a:rPr lang="en-US" baseline="30000" dirty="0" smtClean="0"/>
              <a:t>+</a:t>
            </a:r>
            <a:r>
              <a:rPr lang="en-US" dirty="0" smtClean="0"/>
              <a:t>| x is odd and x&lt; 10}.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ym typeface="Symbol" pitchFamily="18" charset="2"/>
              </a:rPr>
              <a:t>Important Sets</a:t>
            </a:r>
            <a:br>
              <a:rPr lang="en-US" dirty="0" smtClean="0">
                <a:sym typeface="Symbol" pitchFamily="18" charset="2"/>
              </a:rPr>
            </a:br>
            <a:endParaRPr lang="en-US" dirty="0"/>
          </a:p>
        </p:txBody>
      </p:sp>
      <p:sp>
        <p:nvSpPr>
          <p:cNvPr id="3" name="Content Placeholder 2"/>
          <p:cNvSpPr>
            <a:spLocks noGrp="1"/>
          </p:cNvSpPr>
          <p:nvPr>
            <p:ph idx="1"/>
          </p:nvPr>
        </p:nvSpPr>
        <p:spPr>
          <a:xfrm>
            <a:off x="457200" y="1600201"/>
            <a:ext cx="8229600" cy="4800600"/>
          </a:xfrm>
        </p:spPr>
        <p:txBody>
          <a:bodyPr>
            <a:normAutofit fontScale="70000" lnSpcReduction="20000"/>
          </a:bodyPr>
          <a:lstStyle/>
          <a:p>
            <a:pPr marL="0" indent="0">
              <a:spcBef>
                <a:spcPct val="0"/>
              </a:spcBef>
              <a:buNone/>
            </a:pPr>
            <a:endParaRPr lang="en-US" dirty="0" smtClean="0">
              <a:sym typeface="Symbol" pitchFamily="18" charset="2"/>
            </a:endParaRPr>
          </a:p>
          <a:p>
            <a:pPr marL="0" indent="0">
              <a:spcBef>
                <a:spcPct val="0"/>
              </a:spcBef>
            </a:pPr>
            <a:r>
              <a:rPr lang="en-US" sz="3600" b="1" dirty="0" smtClean="0">
                <a:sym typeface="Symbol" pitchFamily="18" charset="2"/>
              </a:rPr>
              <a:t>N </a:t>
            </a:r>
            <a:r>
              <a:rPr lang="en-US" sz="3600" dirty="0" smtClean="0">
                <a:sym typeface="Symbol" pitchFamily="18" charset="2"/>
              </a:rPr>
              <a:t>= {0,1,2,3,…}, the set of </a:t>
            </a:r>
            <a:r>
              <a:rPr lang="en-US" sz="3600" b="1" dirty="0" smtClean="0">
                <a:sym typeface="Symbol" pitchFamily="18" charset="2"/>
              </a:rPr>
              <a:t>natural numbers</a:t>
            </a:r>
            <a:endParaRPr lang="en-US" sz="3600" dirty="0" smtClean="0">
              <a:sym typeface="Symbol" pitchFamily="18" charset="2"/>
            </a:endParaRPr>
          </a:p>
          <a:p>
            <a:pPr marL="0" indent="0">
              <a:spcBef>
                <a:spcPct val="0"/>
              </a:spcBef>
            </a:pPr>
            <a:r>
              <a:rPr lang="en-US" sz="3600" b="1" dirty="0" smtClean="0">
                <a:sym typeface="Symbol" pitchFamily="18" charset="2"/>
              </a:rPr>
              <a:t>Z</a:t>
            </a:r>
            <a:r>
              <a:rPr lang="en-US" sz="3600" dirty="0" smtClean="0">
                <a:sym typeface="Symbol" pitchFamily="18" charset="2"/>
              </a:rPr>
              <a:t> = { …, -2, -1, 0, 1, 2,3, …), the set of </a:t>
            </a:r>
            <a:r>
              <a:rPr lang="en-US" sz="3600" b="1" dirty="0" smtClean="0">
                <a:sym typeface="Symbol" pitchFamily="18" charset="2"/>
              </a:rPr>
              <a:t>integers</a:t>
            </a:r>
          </a:p>
          <a:p>
            <a:pPr marL="0" indent="0">
              <a:spcBef>
                <a:spcPct val="0"/>
              </a:spcBef>
            </a:pPr>
            <a:r>
              <a:rPr lang="en-US" sz="3600" b="1" dirty="0" smtClean="0">
                <a:sym typeface="Symbol" pitchFamily="18" charset="2"/>
              </a:rPr>
              <a:t>Z</a:t>
            </a:r>
            <a:r>
              <a:rPr lang="en-US" sz="3600" b="1" baseline="30000" dirty="0" smtClean="0">
                <a:sym typeface="Symbol" pitchFamily="18" charset="2"/>
              </a:rPr>
              <a:t>+</a:t>
            </a:r>
            <a:r>
              <a:rPr lang="en-US" sz="3600" dirty="0" smtClean="0">
                <a:sym typeface="Symbol" pitchFamily="18" charset="2"/>
              </a:rPr>
              <a:t> = {1,2,3,…} set of </a:t>
            </a:r>
            <a:r>
              <a:rPr lang="en-US" sz="3600" b="1" dirty="0" smtClean="0">
                <a:sym typeface="Symbol" pitchFamily="18" charset="2"/>
              </a:rPr>
              <a:t>positive integers</a:t>
            </a:r>
          </a:p>
          <a:p>
            <a:pPr marL="0" indent="0">
              <a:spcBef>
                <a:spcPct val="0"/>
              </a:spcBef>
            </a:pPr>
            <a:r>
              <a:rPr lang="en-US" sz="3600" b="1" dirty="0" smtClean="0">
                <a:sym typeface="Symbol" pitchFamily="18" charset="2"/>
              </a:rPr>
              <a:t>Q</a:t>
            </a:r>
            <a:r>
              <a:rPr lang="en-US" sz="3600" dirty="0" smtClean="0">
                <a:sym typeface="Symbol" pitchFamily="18" charset="2"/>
              </a:rPr>
              <a:t> = {p/q | p  Z, q Z, and q0}, set of </a:t>
            </a:r>
            <a:r>
              <a:rPr lang="en-US" sz="3600" b="1" dirty="0" smtClean="0">
                <a:sym typeface="Symbol" pitchFamily="18" charset="2"/>
              </a:rPr>
              <a:t>rational numbers</a:t>
            </a:r>
          </a:p>
          <a:p>
            <a:pPr marL="0" indent="0">
              <a:spcBef>
                <a:spcPct val="0"/>
              </a:spcBef>
            </a:pPr>
            <a:r>
              <a:rPr lang="en-US" sz="3600" b="1" dirty="0" smtClean="0">
                <a:sym typeface="Symbol" pitchFamily="18" charset="2"/>
              </a:rPr>
              <a:t>Q </a:t>
            </a:r>
            <a:r>
              <a:rPr lang="en-US" sz="3600" b="1" baseline="30000" dirty="0" smtClean="0">
                <a:sym typeface="Symbol" pitchFamily="18" charset="2"/>
              </a:rPr>
              <a:t>+</a:t>
            </a:r>
            <a:r>
              <a:rPr lang="en-US" sz="3600" b="1" dirty="0" smtClean="0">
                <a:sym typeface="Symbol" pitchFamily="18" charset="2"/>
              </a:rPr>
              <a:t>={</a:t>
            </a:r>
            <a:r>
              <a:rPr lang="en-US" sz="3600" dirty="0" smtClean="0">
                <a:sym typeface="Symbol" pitchFamily="18" charset="2"/>
              </a:rPr>
              <a:t>x ∈ R | x =p/q, for some</a:t>
            </a:r>
            <a:r>
              <a:rPr lang="en-US" sz="3600" b="1" dirty="0" smtClean="0">
                <a:sym typeface="Symbol" pitchFamily="18" charset="2"/>
              </a:rPr>
              <a:t> positive </a:t>
            </a:r>
            <a:r>
              <a:rPr lang="en-US" sz="3600" dirty="0" smtClean="0">
                <a:sym typeface="Symbol" pitchFamily="18" charset="2"/>
              </a:rPr>
              <a:t>integers p and q }.</a:t>
            </a:r>
          </a:p>
          <a:p>
            <a:pPr marL="0" indent="0">
              <a:spcBef>
                <a:spcPct val="0"/>
              </a:spcBef>
            </a:pPr>
            <a:r>
              <a:rPr lang="en-US" sz="3600" b="1" dirty="0" smtClean="0">
                <a:sym typeface="Symbol" pitchFamily="18" charset="2"/>
              </a:rPr>
              <a:t>R</a:t>
            </a:r>
            <a:r>
              <a:rPr lang="en-US" sz="3600" dirty="0" smtClean="0">
                <a:sym typeface="Symbol" pitchFamily="18" charset="2"/>
              </a:rPr>
              <a:t>, the set of real numbers.</a:t>
            </a:r>
          </a:p>
          <a:p>
            <a:pPr marL="0" indent="0">
              <a:spcBef>
                <a:spcPct val="0"/>
              </a:spcBef>
            </a:pPr>
            <a:r>
              <a:rPr lang="en-US" sz="3600" b="1" dirty="0" smtClean="0">
                <a:sym typeface="Symbol" pitchFamily="18" charset="2"/>
              </a:rPr>
              <a:t>R+</a:t>
            </a:r>
            <a:r>
              <a:rPr lang="en-US" sz="3600" dirty="0" smtClean="0">
                <a:sym typeface="Symbol" pitchFamily="18" charset="2"/>
              </a:rPr>
              <a:t>, the set of positive real numbers</a:t>
            </a:r>
          </a:p>
          <a:p>
            <a:pPr marL="0" indent="0">
              <a:spcBef>
                <a:spcPct val="0"/>
              </a:spcBef>
            </a:pPr>
            <a:r>
              <a:rPr lang="en-US" sz="3600" b="1" dirty="0" smtClean="0">
                <a:sym typeface="Symbol" pitchFamily="18" charset="2"/>
              </a:rPr>
              <a:t>C</a:t>
            </a:r>
            <a:r>
              <a:rPr lang="en-US" sz="3600" dirty="0" smtClean="0">
                <a:sym typeface="Symbol" pitchFamily="18" charset="2"/>
              </a:rPr>
              <a:t>, the set of complex numbers .</a:t>
            </a:r>
          </a:p>
          <a:p>
            <a:pPr marL="0" indent="0">
              <a:spcBef>
                <a:spcPct val="0"/>
              </a:spcBef>
            </a:pPr>
            <a:r>
              <a:rPr lang="en-US" sz="3600" dirty="0" smtClean="0">
                <a:sym typeface="Symbol" pitchFamily="18" charset="2"/>
              </a:rPr>
              <a:t>Note: Real number are  the numbers that can be represented by an  infinite  decimal representation, such as 3.4871773339…. The real numbers include  both </a:t>
            </a:r>
            <a:r>
              <a:rPr lang="en-US" sz="3600" b="1" dirty="0" smtClean="0">
                <a:sym typeface="Symbol" pitchFamily="18" charset="2"/>
              </a:rPr>
              <a:t>rationa</a:t>
            </a:r>
            <a:r>
              <a:rPr lang="en-US" sz="3600" dirty="0" smtClean="0">
                <a:sym typeface="Symbol" pitchFamily="18" charset="2"/>
              </a:rPr>
              <a:t>l, and </a:t>
            </a:r>
            <a:r>
              <a:rPr lang="en-US" sz="3600" b="1" dirty="0" smtClean="0">
                <a:sym typeface="Symbol" pitchFamily="18" charset="2"/>
              </a:rPr>
              <a:t>irrational</a:t>
            </a:r>
            <a:r>
              <a:rPr lang="en-US" sz="3600" dirty="0" smtClean="0">
                <a:sym typeface="Symbol" pitchFamily="18" charset="2"/>
              </a:rPr>
              <a:t> numbers and can be represented as points along an infinitely long number line. </a:t>
            </a:r>
            <a:endParaRPr lang="en-US" sz="3600" dirty="0" smtClean="0">
              <a:cs typeface="Times New Roman" pitchFamily="18" charset="0"/>
              <a:sym typeface="Symbol" pitchFamily="18" charset="2"/>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buNone/>
            </a:pPr>
            <a:r>
              <a:rPr lang="en-US" dirty="0" smtClean="0"/>
              <a:t>Recall the notation for </a:t>
            </a:r>
            <a:r>
              <a:rPr lang="en-US" b="1" dirty="0" smtClean="0">
                <a:solidFill>
                  <a:srgbClr val="FF0000"/>
                </a:solidFill>
              </a:rPr>
              <a:t>intervals </a:t>
            </a:r>
            <a:r>
              <a:rPr lang="en-US" dirty="0" smtClean="0"/>
              <a:t>of real numbers.</a:t>
            </a:r>
          </a:p>
          <a:p>
            <a:pPr>
              <a:buNone/>
            </a:pPr>
            <a:r>
              <a:rPr lang="en-US" dirty="0" smtClean="0"/>
              <a:t>When a and b are real numbers with a&lt;b, we write</a:t>
            </a:r>
          </a:p>
          <a:p>
            <a:pPr>
              <a:buNone/>
            </a:pPr>
            <a:r>
              <a:rPr lang="en-US" dirty="0" smtClean="0"/>
              <a:t>[a, b ]={x | a ≤ x ≤ b }</a:t>
            </a:r>
          </a:p>
          <a:p>
            <a:pPr>
              <a:buNone/>
            </a:pPr>
            <a:r>
              <a:rPr lang="en-US" dirty="0" smtClean="0"/>
              <a:t>[a, b) ={x | a ≤ x&lt;b}</a:t>
            </a:r>
          </a:p>
          <a:p>
            <a:pPr>
              <a:buNone/>
            </a:pPr>
            <a:r>
              <a:rPr lang="en-US" dirty="0" smtClean="0"/>
              <a:t>(a, b ]={x | a&lt;x≤ b }</a:t>
            </a:r>
          </a:p>
          <a:p>
            <a:pPr>
              <a:buNone/>
            </a:pPr>
            <a:r>
              <a:rPr lang="en-US" dirty="0" smtClean="0"/>
              <a:t>(a, b) ={x | a&lt;x&lt;b}</a:t>
            </a:r>
          </a:p>
          <a:p>
            <a:pPr>
              <a:buNone/>
            </a:pPr>
            <a:r>
              <a:rPr lang="en-US" dirty="0" smtClean="0"/>
              <a:t>    Note that </a:t>
            </a:r>
            <a:r>
              <a:rPr lang="en-US" dirty="0" smtClean="0">
                <a:solidFill>
                  <a:srgbClr val="FF0000"/>
                </a:solidFill>
              </a:rPr>
              <a:t>[a, b ]</a:t>
            </a:r>
            <a:r>
              <a:rPr lang="en-US" dirty="0" smtClean="0"/>
              <a:t> is called the </a:t>
            </a:r>
            <a:r>
              <a:rPr lang="en-US" dirty="0" smtClean="0">
                <a:solidFill>
                  <a:srgbClr val="FF0000"/>
                </a:solidFill>
              </a:rPr>
              <a:t>closed interval</a:t>
            </a:r>
            <a:r>
              <a:rPr lang="en-US" dirty="0" smtClean="0"/>
              <a:t> from a to b and </a:t>
            </a:r>
            <a:r>
              <a:rPr lang="en-US" dirty="0" smtClean="0">
                <a:solidFill>
                  <a:srgbClr val="FF0000"/>
                </a:solidFill>
              </a:rPr>
              <a:t>(a, b)</a:t>
            </a:r>
            <a:r>
              <a:rPr lang="en-US" dirty="0" smtClean="0"/>
              <a:t> is called the </a:t>
            </a:r>
            <a:r>
              <a:rPr lang="en-US" dirty="0" smtClean="0">
                <a:solidFill>
                  <a:srgbClr val="FF0000"/>
                </a:solidFill>
              </a:rPr>
              <a:t>open interval</a:t>
            </a:r>
            <a:r>
              <a:rPr lang="en-US" dirty="0" smtClean="0"/>
              <a:t> from a to b .</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smtClean="0"/>
              <a:t>	</a:t>
            </a:r>
            <a:r>
              <a:rPr lang="en-US" b="1" dirty="0" smtClean="0">
                <a:solidFill>
                  <a:srgbClr val="FF0000"/>
                </a:solidFill>
              </a:rPr>
              <a:t>Two sets are equal </a:t>
            </a:r>
            <a:r>
              <a:rPr lang="en-US" dirty="0" smtClean="0"/>
              <a:t>if and only if they have the same elements. Therefore, if A and B are sets, then A and B are equal if and only if</a:t>
            </a:r>
          </a:p>
          <a:p>
            <a:pPr>
              <a:buNone/>
            </a:pPr>
            <a:r>
              <a:rPr lang="en-US" dirty="0" smtClean="0"/>
              <a:t>     ∀x(x ∈ A ↔x ∈ B). </a:t>
            </a:r>
          </a:p>
          <a:p>
            <a:pPr>
              <a:buNone/>
            </a:pPr>
            <a:r>
              <a:rPr lang="en-US" dirty="0" smtClean="0"/>
              <a:t>     We write A = B if A and B are equal sets.</a:t>
            </a:r>
          </a:p>
          <a:p>
            <a:pPr>
              <a:buNone/>
            </a:pPr>
            <a:r>
              <a:rPr lang="en-US" dirty="0" smtClean="0"/>
              <a:t>      Example:</a:t>
            </a:r>
          </a:p>
          <a:p>
            <a:pPr lvl="1"/>
            <a:r>
              <a:rPr lang="en-US" dirty="0" smtClean="0"/>
              <a:t>{1, 3, 5} and {3, 5, 1} </a:t>
            </a:r>
          </a:p>
          <a:p>
            <a:pPr lvl="1"/>
            <a:r>
              <a:rPr lang="en-US" dirty="0" smtClean="0"/>
              <a:t>{1, 3, 3, 3, 5, 5, 5, 5} and {1, 3, 5}</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Empty Set</a:t>
            </a:r>
            <a:endParaRPr lang="en-US" dirty="0"/>
          </a:p>
        </p:txBody>
      </p:sp>
      <p:sp>
        <p:nvSpPr>
          <p:cNvPr id="3" name="Content Placeholder 2"/>
          <p:cNvSpPr>
            <a:spLocks noGrp="1"/>
          </p:cNvSpPr>
          <p:nvPr>
            <p:ph idx="1"/>
          </p:nvPr>
        </p:nvSpPr>
        <p:spPr/>
        <p:txBody>
          <a:bodyPr>
            <a:normAutofit/>
          </a:bodyPr>
          <a:lstStyle/>
          <a:p>
            <a:r>
              <a:rPr lang="en-US" dirty="0" smtClean="0"/>
              <a:t>A special set that has </a:t>
            </a:r>
            <a:r>
              <a:rPr lang="en-US" b="1" dirty="0" smtClean="0">
                <a:solidFill>
                  <a:srgbClr val="FF0000"/>
                </a:solidFill>
              </a:rPr>
              <a:t>no elements</a:t>
            </a:r>
            <a:r>
              <a:rPr lang="en-US" dirty="0" smtClean="0"/>
              <a:t>. This set is called the </a:t>
            </a:r>
            <a:r>
              <a:rPr lang="en-US" b="1" dirty="0" smtClean="0">
                <a:solidFill>
                  <a:srgbClr val="FF0000"/>
                </a:solidFill>
              </a:rPr>
              <a:t>empty set</a:t>
            </a:r>
            <a:r>
              <a:rPr lang="en-US" dirty="0" smtClean="0"/>
              <a:t>, or </a:t>
            </a:r>
            <a:r>
              <a:rPr lang="en-US" b="1" dirty="0" smtClean="0">
                <a:solidFill>
                  <a:srgbClr val="FF0000"/>
                </a:solidFill>
              </a:rPr>
              <a:t>null set</a:t>
            </a:r>
            <a:r>
              <a:rPr lang="en-US" dirty="0" smtClean="0"/>
              <a:t>, and is denoted by ∅. The empty set can also be denoted by {}.</a:t>
            </a:r>
          </a:p>
          <a:p>
            <a:r>
              <a:rPr lang="en-US" dirty="0" smtClean="0"/>
              <a:t>A set with one element is called a </a:t>
            </a:r>
            <a:r>
              <a:rPr lang="en-US" b="1" dirty="0" smtClean="0">
                <a:solidFill>
                  <a:srgbClr val="FF0000"/>
                </a:solidFill>
              </a:rPr>
              <a:t>singleton</a:t>
            </a:r>
            <a:r>
              <a:rPr lang="en-US" dirty="0" smtClean="0"/>
              <a:t> set. </a:t>
            </a:r>
          </a:p>
          <a:p>
            <a:pPr>
              <a:buNone/>
            </a:pPr>
            <a:endParaRPr lang="en-US" dirty="0" smtClean="0"/>
          </a:p>
          <a:p>
            <a:pPr>
              <a:buNone/>
            </a:pPr>
            <a:endParaRPr lang="en-US" dirty="0" smtClean="0"/>
          </a:p>
          <a:p>
            <a:pPr>
              <a:buNone/>
            </a:pPr>
            <a:endParaRPr lang="en-US" dirty="0"/>
          </a:p>
        </p:txBody>
      </p:sp>
      <p:sp>
        <p:nvSpPr>
          <p:cNvPr id="5" name="Rectangle 4"/>
          <p:cNvSpPr/>
          <p:nvPr/>
        </p:nvSpPr>
        <p:spPr>
          <a:xfrm>
            <a:off x="914400" y="5257800"/>
            <a:ext cx="7467600" cy="12954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bg1"/>
                </a:solidFill>
              </a:rPr>
              <a:t>A common error is to confuse the empty set∅ with the set {∅}, which is a singleton set.</a:t>
            </a:r>
            <a:endParaRPr 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Venn Diagrams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Sets can be represented graphically using Venn diagrams, named after the English mathematician John Venn. </a:t>
            </a:r>
          </a:p>
          <a:p>
            <a:r>
              <a:rPr lang="en-US" dirty="0" smtClean="0"/>
              <a:t>In Venn diagrams the universal set U, which contains all the objects under consideration, is represented by a rectangle. </a:t>
            </a:r>
          </a:p>
          <a:p>
            <a:r>
              <a:rPr lang="en-US" dirty="0" smtClean="0"/>
              <a:t>Inside this </a:t>
            </a:r>
            <a:r>
              <a:rPr lang="en-US" b="1" dirty="0" smtClean="0">
                <a:solidFill>
                  <a:srgbClr val="FF0000"/>
                </a:solidFill>
              </a:rPr>
              <a:t>rectangle, circles </a:t>
            </a:r>
            <a:r>
              <a:rPr lang="en-US" dirty="0" smtClean="0"/>
              <a:t>or other geometrical figures are used to represent </a:t>
            </a:r>
            <a:r>
              <a:rPr lang="en-US" b="1" dirty="0" smtClean="0">
                <a:solidFill>
                  <a:srgbClr val="FF0000"/>
                </a:solidFill>
              </a:rPr>
              <a:t>sets points</a:t>
            </a:r>
            <a:r>
              <a:rPr lang="en-US" dirty="0" smtClean="0"/>
              <a:t> are used to represent the particular </a:t>
            </a:r>
            <a:r>
              <a:rPr lang="en-US" b="1" dirty="0" smtClean="0">
                <a:solidFill>
                  <a:srgbClr val="FF0000"/>
                </a:solidFill>
              </a:rPr>
              <a:t>elements</a:t>
            </a:r>
            <a:r>
              <a:rPr lang="en-US" dirty="0" smtClean="0"/>
              <a:t> of the set.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Venn Diagrams…</a:t>
            </a:r>
            <a:endParaRPr lang="en-US" dirty="0"/>
          </a:p>
        </p:txBody>
      </p:sp>
      <p:sp>
        <p:nvSpPr>
          <p:cNvPr id="3" name="Content Placeholder 2"/>
          <p:cNvSpPr>
            <a:spLocks noGrp="1"/>
          </p:cNvSpPr>
          <p:nvPr>
            <p:ph idx="1"/>
          </p:nvPr>
        </p:nvSpPr>
        <p:spPr/>
        <p:txBody>
          <a:bodyPr/>
          <a:lstStyle/>
          <a:p>
            <a:pPr>
              <a:buNone/>
            </a:pPr>
            <a:r>
              <a:rPr lang="en-US" dirty="0" smtClean="0"/>
              <a:t>Example:</a:t>
            </a:r>
          </a:p>
          <a:p>
            <a:pPr>
              <a:buNone/>
            </a:pPr>
            <a:r>
              <a:rPr lang="en-US" dirty="0" smtClean="0"/>
              <a:t>	Draw a Venn diagram that represents V, the set of vowels in the English alphabet.</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905000" y="3657600"/>
            <a:ext cx="4495800" cy="275017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 calcmode="lin" valueType="num">
                                      <p:cBhvr additive="base">
                                        <p:cTn id="7" dur="500" fill="hold"/>
                                        <p:tgtEl>
                                          <p:spTgt spid="2051"/>
                                        </p:tgtEl>
                                        <p:attrNameLst>
                                          <p:attrName>ppt_x</p:attrName>
                                        </p:attrNameLst>
                                      </p:cBhvr>
                                      <p:tavLst>
                                        <p:tav tm="0">
                                          <p:val>
                                            <p:strVal val="#ppt_x"/>
                                          </p:val>
                                        </p:tav>
                                        <p:tav tm="100000">
                                          <p:val>
                                            <p:strVal val="#ppt_x"/>
                                          </p:val>
                                        </p:tav>
                                      </p:tavLst>
                                    </p:anim>
                                    <p:anim calcmode="lin" valueType="num">
                                      <p:cBhvr additive="base">
                                        <p:cTn id="8"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Subsets</a:t>
            </a:r>
            <a:endParaRPr lang="en-US" dirty="0"/>
          </a:p>
        </p:txBody>
      </p:sp>
      <p:sp>
        <p:nvSpPr>
          <p:cNvPr id="3" name="Content Placeholder 2"/>
          <p:cNvSpPr>
            <a:spLocks noGrp="1"/>
          </p:cNvSpPr>
          <p:nvPr>
            <p:ph idx="1"/>
          </p:nvPr>
        </p:nvSpPr>
        <p:spPr>
          <a:xfrm>
            <a:off x="457200" y="1801995"/>
            <a:ext cx="8229600" cy="4625609"/>
          </a:xfrm>
        </p:spPr>
        <p:txBody>
          <a:bodyPr/>
          <a:lstStyle/>
          <a:p>
            <a:pPr>
              <a:buNone/>
            </a:pPr>
            <a:r>
              <a:rPr lang="en-US" dirty="0" smtClean="0"/>
              <a:t>	The set A is a subset of B </a:t>
            </a:r>
            <a:r>
              <a:rPr lang="en-US" b="1" dirty="0" smtClean="0">
                <a:solidFill>
                  <a:srgbClr val="FF0000"/>
                </a:solidFill>
              </a:rPr>
              <a:t>if and only if </a:t>
            </a:r>
            <a:r>
              <a:rPr lang="en-US" dirty="0" smtClean="0"/>
              <a:t>every  element of A is also an element of B . </a:t>
            </a:r>
          </a:p>
          <a:p>
            <a:pPr>
              <a:buNone/>
            </a:pPr>
            <a:r>
              <a:rPr lang="en-US" dirty="0" smtClean="0"/>
              <a:t>	The notation A ⊆ B is used to indicate that A is a subset of the set B .</a:t>
            </a:r>
          </a:p>
          <a:p>
            <a:pPr>
              <a:buNone/>
            </a:pPr>
            <a:endParaRPr lang="en-US" dirty="0" smtClean="0"/>
          </a:p>
        </p:txBody>
      </p:sp>
      <p:sp>
        <p:nvSpPr>
          <p:cNvPr id="4" name="Rectangle 3"/>
          <p:cNvSpPr/>
          <p:nvPr/>
        </p:nvSpPr>
        <p:spPr>
          <a:xfrm>
            <a:off x="914400" y="4114800"/>
            <a:ext cx="7772400" cy="12954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sz="3200" b="1" dirty="0" smtClean="0"/>
              <a:t>A ⊆ B if and only if the quantification</a:t>
            </a:r>
          </a:p>
          <a:p>
            <a:pPr>
              <a:buNone/>
            </a:pPr>
            <a:r>
              <a:rPr lang="en-US" sz="3200" b="1" dirty="0" smtClean="0"/>
              <a:t>∀x(x ∈ A →x ∈ B) is true. </a:t>
            </a:r>
            <a:endParaRPr lang="en-US" sz="3200" b="1" dirty="0"/>
          </a:p>
        </p:txBody>
      </p:sp>
      <p:sp>
        <p:nvSpPr>
          <p:cNvPr id="5" name="Rectangle 4"/>
          <p:cNvSpPr/>
          <p:nvPr/>
        </p:nvSpPr>
        <p:spPr>
          <a:xfrm>
            <a:off x="762000" y="5562600"/>
            <a:ext cx="7924800" cy="12954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sz="3200" b="1" dirty="0" smtClean="0"/>
              <a:t>To show that A is not a subset of B we need only find one element x ∈ A with x∈ B .</a:t>
            </a:r>
            <a:endParaRPr lang="en-US" sz="3200" b="1" dirty="0"/>
          </a:p>
        </p:txBody>
      </p:sp>
      <p:cxnSp>
        <p:nvCxnSpPr>
          <p:cNvPr id="7" name="Straight Connector 6"/>
          <p:cNvCxnSpPr/>
          <p:nvPr/>
        </p:nvCxnSpPr>
        <p:spPr>
          <a:xfrm rot="5400000">
            <a:off x="6629400" y="6477000"/>
            <a:ext cx="609600" cy="1524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pic>
        <p:nvPicPr>
          <p:cNvPr id="9" name="Picture 3"/>
          <p:cNvPicPr>
            <a:picLocks noChangeAspect="1" noChangeArrowheads="1"/>
          </p:cNvPicPr>
          <p:nvPr/>
        </p:nvPicPr>
        <p:blipFill>
          <a:blip r:embed="rId2" cstate="print"/>
          <a:srcRect/>
          <a:stretch>
            <a:fillRect/>
          </a:stretch>
        </p:blipFill>
        <p:spPr bwMode="auto">
          <a:xfrm>
            <a:off x="6240235" y="0"/>
            <a:ext cx="2903765" cy="16764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Subsets…</a:t>
            </a:r>
            <a:endParaRPr lang="en-US" dirty="0"/>
          </a:p>
        </p:txBody>
      </p:sp>
      <p:sp>
        <p:nvSpPr>
          <p:cNvPr id="3" name="Content Placeholder 2"/>
          <p:cNvSpPr>
            <a:spLocks noGrp="1"/>
          </p:cNvSpPr>
          <p:nvPr>
            <p:ph idx="1"/>
          </p:nvPr>
        </p:nvSpPr>
        <p:spPr/>
        <p:txBody>
          <a:bodyPr>
            <a:normAutofit/>
          </a:bodyPr>
          <a:lstStyle/>
          <a:p>
            <a:pPr>
              <a:buNone/>
            </a:pPr>
            <a:r>
              <a:rPr lang="en-US" dirty="0" smtClean="0"/>
              <a:t>Examples:</a:t>
            </a:r>
          </a:p>
          <a:p>
            <a:r>
              <a:rPr lang="en-US" dirty="0" smtClean="0"/>
              <a:t>The set of all odd positive integers less than 10 is a subset of the set of all positive integers.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Subsets…</a:t>
            </a:r>
            <a:endParaRPr lang="en-US" dirty="0"/>
          </a:p>
        </p:txBody>
      </p:sp>
      <p:sp>
        <p:nvSpPr>
          <p:cNvPr id="3" name="Content Placeholder 2"/>
          <p:cNvSpPr>
            <a:spLocks noGrp="1"/>
          </p:cNvSpPr>
          <p:nvPr>
            <p:ph idx="1"/>
          </p:nvPr>
        </p:nvSpPr>
        <p:spPr/>
        <p:txBody>
          <a:bodyPr/>
          <a:lstStyle/>
          <a:p>
            <a:pPr>
              <a:buNone/>
            </a:pPr>
            <a:endParaRPr lang="en-US" dirty="0" smtClean="0"/>
          </a:p>
          <a:p>
            <a:pPr>
              <a:buNone/>
            </a:pPr>
            <a:endParaRPr lang="en-US" dirty="0" smtClean="0"/>
          </a:p>
          <a:p>
            <a:pPr>
              <a:buNone/>
            </a:pPr>
            <a:endParaRPr lang="en-US" dirty="0" smtClean="0"/>
          </a:p>
        </p:txBody>
      </p:sp>
      <p:sp>
        <p:nvSpPr>
          <p:cNvPr id="6" name="Rectangle 5"/>
          <p:cNvSpPr/>
          <p:nvPr/>
        </p:nvSpPr>
        <p:spPr>
          <a:xfrm>
            <a:off x="304800" y="1600200"/>
            <a:ext cx="8458200" cy="18288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sz="3200" b="1" dirty="0" smtClean="0"/>
              <a:t>Theorem: Every </a:t>
            </a:r>
            <a:r>
              <a:rPr lang="en-US" sz="3200" b="1" dirty="0" smtClean="0">
                <a:solidFill>
                  <a:srgbClr val="FFFF00"/>
                </a:solidFill>
              </a:rPr>
              <a:t>nonempty </a:t>
            </a:r>
            <a:r>
              <a:rPr lang="en-US" sz="3200" b="1" dirty="0" smtClean="0"/>
              <a:t>set S is guaranteed to have </a:t>
            </a:r>
            <a:r>
              <a:rPr lang="en-US" sz="3200" b="1" dirty="0" smtClean="0">
                <a:solidFill>
                  <a:srgbClr val="FFFF00"/>
                </a:solidFill>
              </a:rPr>
              <a:t>at least two subsets</a:t>
            </a:r>
            <a:r>
              <a:rPr lang="en-US" sz="3200" b="1" dirty="0" smtClean="0"/>
              <a:t>, the empty set and the set S itself, that is, </a:t>
            </a:r>
            <a:r>
              <a:rPr lang="en-US" sz="3200" b="1" dirty="0" smtClean="0">
                <a:solidFill>
                  <a:srgbClr val="FFFF00"/>
                </a:solidFill>
              </a:rPr>
              <a:t>∅⊆ S and S ⊆ S </a:t>
            </a:r>
            <a:r>
              <a:rPr lang="en-US" sz="3600" b="1" dirty="0" smtClean="0"/>
              <a:t>.</a:t>
            </a:r>
            <a:endParaRPr lang="en-US" sz="32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 Subset</a:t>
            </a:r>
            <a:endParaRPr lang="en-US" dirty="0"/>
          </a:p>
        </p:txBody>
      </p:sp>
      <p:sp>
        <p:nvSpPr>
          <p:cNvPr id="3" name="Content Placeholder 2"/>
          <p:cNvSpPr>
            <a:spLocks noGrp="1"/>
          </p:cNvSpPr>
          <p:nvPr>
            <p:ph idx="1"/>
          </p:nvPr>
        </p:nvSpPr>
        <p:spPr/>
        <p:txBody>
          <a:bodyPr>
            <a:normAutofit/>
          </a:bodyPr>
          <a:lstStyle/>
          <a:p>
            <a:r>
              <a:rPr lang="en-US" dirty="0" smtClean="0"/>
              <a:t>If set A is a subset of a set B but that A ≠ B, we write A ⊂ B and say that A is a </a:t>
            </a:r>
            <a:r>
              <a:rPr lang="en-US" b="1" dirty="0" smtClean="0">
                <a:solidFill>
                  <a:srgbClr val="FF0000"/>
                </a:solidFill>
              </a:rPr>
              <a:t>proper subset </a:t>
            </a:r>
            <a:r>
              <a:rPr lang="en-US" dirty="0" smtClean="0"/>
              <a:t>of B. </a:t>
            </a:r>
          </a:p>
          <a:p>
            <a:r>
              <a:rPr lang="en-US" dirty="0" smtClean="0"/>
              <a:t>For A ⊂ B to be true, it must be the case that</a:t>
            </a:r>
          </a:p>
          <a:p>
            <a:pPr>
              <a:buNone/>
            </a:pPr>
            <a:r>
              <a:rPr lang="en-US" dirty="0" smtClean="0"/>
              <a:t>	A ⊆ B and there </a:t>
            </a:r>
            <a:r>
              <a:rPr lang="en-US" dirty="0" smtClean="0">
                <a:solidFill>
                  <a:srgbClr val="0070C0"/>
                </a:solidFill>
              </a:rPr>
              <a:t>must exist an element x of B that is not an element of A.</a:t>
            </a:r>
            <a:r>
              <a:rPr lang="en-US" dirty="0" smtClean="0"/>
              <a:t> </a:t>
            </a:r>
          </a:p>
          <a:p>
            <a:pPr>
              <a:buNone/>
            </a:pPr>
            <a:r>
              <a:rPr lang="en-US" dirty="0" smtClean="0"/>
              <a:t>	</a:t>
            </a:r>
            <a:endParaRPr lang="en-US" dirty="0"/>
          </a:p>
        </p:txBody>
      </p:sp>
      <p:sp>
        <p:nvSpPr>
          <p:cNvPr id="4" name="Rectangle 3"/>
          <p:cNvSpPr/>
          <p:nvPr/>
        </p:nvSpPr>
        <p:spPr>
          <a:xfrm>
            <a:off x="304800" y="5181600"/>
            <a:ext cx="8610600" cy="12954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sz="3600" dirty="0" smtClean="0"/>
              <a:t>That is, A is a proper subset of B if and only if</a:t>
            </a:r>
          </a:p>
          <a:p>
            <a:r>
              <a:rPr lang="en-US" sz="3600" dirty="0" smtClean="0"/>
              <a:t>∀x(x ∈ A →x ∈ B)∧∃x(x ∈ B ∧ x ∈ A) is true. </a:t>
            </a:r>
            <a:endParaRPr lang="en-US" sz="3600" dirty="0"/>
          </a:p>
        </p:txBody>
      </p:sp>
      <p:cxnSp>
        <p:nvCxnSpPr>
          <p:cNvPr id="6" name="Straight Connector 5"/>
          <p:cNvCxnSpPr/>
          <p:nvPr/>
        </p:nvCxnSpPr>
        <p:spPr>
          <a:xfrm rot="5400000">
            <a:off x="6096000" y="6019800"/>
            <a:ext cx="381000" cy="22860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Size of a Set</a:t>
            </a:r>
            <a:endParaRPr lang="en-US" dirty="0"/>
          </a:p>
        </p:txBody>
      </p:sp>
      <p:sp>
        <p:nvSpPr>
          <p:cNvPr id="3" name="Content Placeholder 2"/>
          <p:cNvSpPr>
            <a:spLocks noGrp="1"/>
          </p:cNvSpPr>
          <p:nvPr>
            <p:ph idx="1"/>
          </p:nvPr>
        </p:nvSpPr>
        <p:spPr>
          <a:xfrm>
            <a:off x="76200" y="1775191"/>
            <a:ext cx="9067800" cy="4625609"/>
          </a:xfrm>
        </p:spPr>
        <p:txBody>
          <a:bodyPr>
            <a:normAutofit fontScale="92500" lnSpcReduction="20000"/>
          </a:bodyPr>
          <a:lstStyle/>
          <a:p>
            <a:r>
              <a:rPr lang="en-US" dirty="0" smtClean="0"/>
              <a:t>Let S be a set. If there are exactly n distinct elements in S where n is a nonnegative integer, we say that S is a finite set and that n is the cardinality of S . The cardinality of S is denoted by |S |.</a:t>
            </a:r>
          </a:p>
          <a:p>
            <a:pPr>
              <a:buNone/>
            </a:pPr>
            <a:r>
              <a:rPr lang="en-US" dirty="0" smtClean="0"/>
              <a:t>	Examples:</a:t>
            </a:r>
          </a:p>
          <a:p>
            <a:pPr lvl="1"/>
            <a:r>
              <a:rPr lang="en-US" dirty="0" smtClean="0"/>
              <a:t>A be set of odd positive integers less than 10. </a:t>
            </a:r>
          </a:p>
          <a:p>
            <a:pPr lvl="1">
              <a:buNone/>
            </a:pPr>
            <a:r>
              <a:rPr lang="en-US" dirty="0" smtClean="0"/>
              <a:t>	Then |A|= 5. </a:t>
            </a:r>
          </a:p>
          <a:p>
            <a:pPr lvl="1"/>
            <a:r>
              <a:rPr lang="en-US" dirty="0" smtClean="0"/>
              <a:t>S be the set of letters in the English alphabet. </a:t>
            </a:r>
          </a:p>
          <a:p>
            <a:pPr lvl="1">
              <a:buNone/>
            </a:pPr>
            <a:r>
              <a:rPr lang="en-US" dirty="0" smtClean="0"/>
              <a:t>	Then |S |= 26. </a:t>
            </a:r>
          </a:p>
          <a:p>
            <a:pPr lvl="1"/>
            <a:r>
              <a:rPr lang="en-US" dirty="0" smtClean="0"/>
              <a:t>Because the null set has no elements, it follows that</a:t>
            </a:r>
          </a:p>
          <a:p>
            <a:pPr lvl="1">
              <a:buNone/>
            </a:pPr>
            <a:r>
              <a:rPr lang="en-US" dirty="0" smtClean="0"/>
              <a:t>	 |∅| = 0</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Infinite Set</a:t>
            </a:r>
            <a:endParaRPr lang="en-US" dirty="0"/>
          </a:p>
        </p:txBody>
      </p:sp>
      <p:sp>
        <p:nvSpPr>
          <p:cNvPr id="3" name="Content Placeholder 2"/>
          <p:cNvSpPr>
            <a:spLocks noGrp="1"/>
          </p:cNvSpPr>
          <p:nvPr>
            <p:ph idx="1"/>
          </p:nvPr>
        </p:nvSpPr>
        <p:spPr/>
        <p:txBody>
          <a:bodyPr/>
          <a:lstStyle/>
          <a:p>
            <a:pPr>
              <a:buNone/>
            </a:pPr>
            <a:r>
              <a:rPr lang="en-US" dirty="0" smtClean="0"/>
              <a:t>A set is said to be infinite if it is not finite.</a:t>
            </a:r>
          </a:p>
          <a:p>
            <a:pPr>
              <a:buNone/>
            </a:pPr>
            <a:r>
              <a:rPr lang="en-US" dirty="0" smtClean="0"/>
              <a:t>Example:</a:t>
            </a:r>
          </a:p>
          <a:p>
            <a:pPr>
              <a:buNone/>
            </a:pPr>
            <a:r>
              <a:rPr lang="en-US" dirty="0" smtClean="0"/>
              <a:t>The set of positive integers is infinite.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 Sets</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Given a set S , the power set of S is the set of all subsets of the set S. The power set of S is</a:t>
            </a:r>
          </a:p>
          <a:p>
            <a:pPr>
              <a:buNone/>
            </a:pPr>
            <a:r>
              <a:rPr lang="en-US" dirty="0" smtClean="0"/>
              <a:t>	denoted by P(S).</a:t>
            </a:r>
          </a:p>
          <a:p>
            <a:pPr>
              <a:buNone/>
            </a:pPr>
            <a:r>
              <a:rPr lang="en-US" dirty="0" smtClean="0"/>
              <a:t>	Example:</a:t>
            </a:r>
          </a:p>
          <a:p>
            <a:r>
              <a:rPr lang="en-US" dirty="0" smtClean="0"/>
              <a:t>What is the power set of {0,1,2}?</a:t>
            </a:r>
          </a:p>
          <a:p>
            <a:pPr>
              <a:buNone/>
            </a:pPr>
            <a:r>
              <a:rPr lang="en-US" sz="2400" dirty="0" smtClean="0"/>
              <a:t>	P ({0 , 1, 2 }) ={∅, {0 }, {1}, {2 }, {0 , 1}, {0 , 2 }, {1, 2 }, {0 , 1, 2 }} .</a:t>
            </a:r>
          </a:p>
          <a:p>
            <a:r>
              <a:rPr lang="en-US" dirty="0" smtClean="0"/>
              <a:t>What is the power set of the empty set?</a:t>
            </a:r>
          </a:p>
          <a:p>
            <a:pPr>
              <a:buNone/>
            </a:pPr>
            <a:r>
              <a:rPr lang="en-US" sz="2400" dirty="0" smtClean="0"/>
              <a:t>	P (∅) = {∅}.</a:t>
            </a:r>
          </a:p>
          <a:p>
            <a:r>
              <a:rPr lang="en-US" dirty="0" smtClean="0"/>
              <a:t>What is the power set of the set{∅}?</a:t>
            </a:r>
          </a:p>
          <a:p>
            <a:pPr>
              <a:buNone/>
            </a:pPr>
            <a:r>
              <a:rPr lang="en-US" dirty="0" smtClean="0"/>
              <a:t>	</a:t>
            </a:r>
            <a:r>
              <a:rPr lang="en-US" sz="2400" dirty="0" smtClean="0"/>
              <a:t>P ({∅}) ={∅, {∅}}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ordered n-</a:t>
            </a:r>
            <a:r>
              <a:rPr lang="en-US" dirty="0" err="1" smtClean="0"/>
              <a:t>tuple</a:t>
            </a:r>
            <a:r>
              <a:rPr lang="en-US" dirty="0" smtClean="0"/>
              <a:t>(a1, a2,...,an) is the ordered collection that has a1 as its first element, a2 as its second element ,...,and an as its n</a:t>
            </a:r>
            <a:r>
              <a:rPr lang="en-US" baseline="30000" dirty="0" smtClean="0"/>
              <a:t>th</a:t>
            </a:r>
            <a:r>
              <a:rPr lang="en-US" dirty="0" smtClean="0"/>
              <a:t> element.</a:t>
            </a:r>
          </a:p>
          <a:p>
            <a:r>
              <a:rPr lang="en-US" dirty="0" smtClean="0"/>
              <a:t>We say that two ordered n-</a:t>
            </a:r>
            <a:r>
              <a:rPr lang="en-US" dirty="0" err="1" smtClean="0"/>
              <a:t>tuples</a:t>
            </a:r>
            <a:r>
              <a:rPr lang="en-US" dirty="0" smtClean="0"/>
              <a:t> are equal if and only if each corresponding pair of their elements is equal. In other words, (a1,a2,...,an) = (b1,b2,...,</a:t>
            </a:r>
            <a:r>
              <a:rPr lang="en-US" dirty="0" err="1" smtClean="0"/>
              <a:t>bn</a:t>
            </a:r>
            <a:r>
              <a:rPr lang="en-US" dirty="0" smtClean="0"/>
              <a:t>) if and only if </a:t>
            </a:r>
            <a:r>
              <a:rPr lang="en-US" dirty="0" err="1" smtClean="0"/>
              <a:t>ai</a:t>
            </a:r>
            <a:r>
              <a:rPr lang="en-US" dirty="0" smtClean="0"/>
              <a:t> = bi ,for </a:t>
            </a:r>
            <a:r>
              <a:rPr lang="en-US" dirty="0" err="1" smtClean="0"/>
              <a:t>i</a:t>
            </a:r>
            <a:r>
              <a:rPr lang="en-US" dirty="0" smtClean="0"/>
              <a:t> = 1, 2 ,...,n .</a:t>
            </a:r>
          </a:p>
          <a:p>
            <a:pPr>
              <a:buNone/>
            </a:pPr>
            <a:r>
              <a:rPr lang="en-US" dirty="0" smtClean="0"/>
              <a:t>	Example: </a:t>
            </a:r>
          </a:p>
          <a:p>
            <a:pPr>
              <a:buNone/>
            </a:pPr>
            <a:r>
              <a:rPr lang="en-US" dirty="0" smtClean="0"/>
              <a:t>		</a:t>
            </a:r>
            <a:r>
              <a:rPr lang="en-US" dirty="0" smtClean="0">
                <a:solidFill>
                  <a:srgbClr val="FF0000"/>
                </a:solidFill>
              </a:rPr>
              <a:t>The ordered pairs (a, b) and (c, d) are equal if and only if a = c and b = d .</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Products..</a:t>
            </a:r>
            <a:endParaRPr lang="en-US" dirty="0"/>
          </a:p>
        </p:txBody>
      </p:sp>
      <p:sp>
        <p:nvSpPr>
          <p:cNvPr id="3" name="Content Placeholder 2"/>
          <p:cNvSpPr>
            <a:spLocks noGrp="1"/>
          </p:cNvSpPr>
          <p:nvPr>
            <p:ph idx="1"/>
          </p:nvPr>
        </p:nvSpPr>
        <p:spPr>
          <a:xfrm>
            <a:off x="457200" y="1775191"/>
            <a:ext cx="8229600" cy="4854209"/>
          </a:xfrm>
        </p:spPr>
        <p:txBody>
          <a:bodyPr>
            <a:normAutofit fontScale="92500" lnSpcReduction="10000"/>
          </a:bodyPr>
          <a:lstStyle/>
          <a:p>
            <a:r>
              <a:rPr lang="en-US" dirty="0" smtClean="0"/>
              <a:t>Let A and B be sets. The Cartesian product of A and B , denoted by A × B , is the set of all ordered pairs(a, b), where a ∈ A and b ∈ B .</a:t>
            </a:r>
          </a:p>
          <a:p>
            <a:pPr>
              <a:buNone/>
            </a:pPr>
            <a:r>
              <a:rPr lang="en-US" dirty="0" smtClean="0"/>
              <a:t>	A × B ={(a, b) | a ∈ A ∧ b ∈ B }.</a:t>
            </a:r>
          </a:p>
          <a:p>
            <a:r>
              <a:rPr lang="en-US" dirty="0" smtClean="0">
                <a:solidFill>
                  <a:srgbClr val="FF0000"/>
                </a:solidFill>
              </a:rPr>
              <a:t>The Cartesian products A × B and B × A are not equal, unless A =∅or B =∅ or A = B</a:t>
            </a:r>
          </a:p>
          <a:p>
            <a:pPr>
              <a:buNone/>
            </a:pPr>
            <a:r>
              <a:rPr lang="en-US" dirty="0" smtClean="0"/>
              <a:t>Example:</a:t>
            </a:r>
          </a:p>
          <a:p>
            <a:pPr lvl="1"/>
            <a:r>
              <a:rPr lang="en-US" dirty="0" smtClean="0"/>
              <a:t>What is the Cartesian product of A ={1, 2 } and B ={a, b, c}?</a:t>
            </a:r>
          </a:p>
          <a:p>
            <a:pPr lvl="1">
              <a:buNone/>
            </a:pPr>
            <a:r>
              <a:rPr lang="pt-BR" dirty="0" smtClean="0"/>
              <a:t>	</a:t>
            </a:r>
            <a:r>
              <a:rPr lang="pt-BR" sz="2000" dirty="0" smtClean="0"/>
              <a:t>A × B ={(1, a), (1, b), (1, c), (2 , a), (2 , b), (2 ,c)}.</a:t>
            </a:r>
          </a:p>
          <a:p>
            <a:pPr lvl="1">
              <a:buNone/>
            </a:pPr>
            <a:r>
              <a:rPr lang="pt-BR" sz="2000" dirty="0" smtClean="0"/>
              <a:t>	B × A ={(a, 1), (a,2 ), (b,1), (b,2 ), (c,1), (c,2 )}.</a:t>
            </a:r>
            <a:endParaRPr lang="en-US" sz="2000" dirty="0" smtClean="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Products…</a:t>
            </a:r>
            <a:endParaRPr lang="en-US" dirty="0"/>
          </a:p>
        </p:txBody>
      </p:sp>
      <p:sp>
        <p:nvSpPr>
          <p:cNvPr id="3" name="Content Placeholder 2"/>
          <p:cNvSpPr>
            <a:spLocks noGrp="1"/>
          </p:cNvSpPr>
          <p:nvPr>
            <p:ph idx="1"/>
          </p:nvPr>
        </p:nvSpPr>
        <p:spPr/>
        <p:txBody>
          <a:bodyPr/>
          <a:lstStyle/>
          <a:p>
            <a:r>
              <a:rPr lang="en-US" dirty="0" smtClean="0"/>
              <a:t>What is the Cartesian product A × B × C , where A ={0 , 1}, B ={1, 2 }, and C ={0 , 1, 2 } ?</a:t>
            </a:r>
          </a:p>
          <a:p>
            <a:pPr>
              <a:buNone/>
            </a:pPr>
            <a:r>
              <a:rPr lang="pt-BR" sz="2400" dirty="0" smtClean="0"/>
              <a:t>	A × B × C ={(0 , 1, 0 ), (0 , 1, 1), (0 , 1, 2 ), (0 , 2 , 0 ), (0 , 2 , 1), (0 , 2 , 2 ), (1, 1, 0 ), (1, 1, 1), (1, 1, 2 ), (1, 2 , 0 ), (1, 2 , 1), (1, 2 , 2 )}.</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The notationA</a:t>
            </a:r>
            <a:r>
              <a:rPr lang="en-US" baseline="30000" dirty="0" smtClean="0"/>
              <a:t>2</a:t>
            </a:r>
            <a:r>
              <a:rPr lang="en-US" dirty="0" smtClean="0"/>
              <a:t> to denote A × A.</a:t>
            </a:r>
          </a:p>
          <a:p>
            <a:pPr>
              <a:buNone/>
            </a:pPr>
            <a:r>
              <a:rPr lang="en-US" dirty="0" smtClean="0"/>
              <a:t>	The Cartesian product of the set A with itself.</a:t>
            </a:r>
          </a:p>
          <a:p>
            <a:pPr>
              <a:buNone/>
            </a:pPr>
            <a:r>
              <a:rPr lang="en-US" dirty="0" smtClean="0"/>
              <a:t>	A</a:t>
            </a:r>
            <a:r>
              <a:rPr lang="en-US" baseline="30000" dirty="0" smtClean="0"/>
              <a:t>3</a:t>
            </a:r>
            <a:r>
              <a:rPr lang="en-US" dirty="0" smtClean="0"/>
              <a:t>= A × A × A, </a:t>
            </a:r>
          </a:p>
          <a:p>
            <a:pPr>
              <a:buNone/>
            </a:pPr>
            <a:r>
              <a:rPr lang="en-US" dirty="0" smtClean="0"/>
              <a:t>	A</a:t>
            </a:r>
            <a:r>
              <a:rPr lang="en-US" baseline="30000" dirty="0" smtClean="0"/>
              <a:t>4</a:t>
            </a:r>
            <a:r>
              <a:rPr lang="en-US" dirty="0" smtClean="0"/>
              <a:t>= A × A × A × A, and so on.</a:t>
            </a:r>
          </a:p>
          <a:p>
            <a:pPr>
              <a:buNone/>
            </a:pPr>
            <a:r>
              <a:rPr lang="en-US" dirty="0" smtClean="0"/>
              <a:t>    </a:t>
            </a:r>
            <a:r>
              <a:rPr lang="en-US" b="1" dirty="0" smtClean="0"/>
              <a:t>Example:</a:t>
            </a:r>
          </a:p>
          <a:p>
            <a:pPr>
              <a:buNone/>
            </a:pPr>
            <a:r>
              <a:rPr lang="en-US" dirty="0" smtClean="0"/>
              <a:t>	</a:t>
            </a:r>
            <a:r>
              <a:rPr lang="en-US" b="1" dirty="0" smtClean="0"/>
              <a:t>Let A ={1, 2 }. Find A</a:t>
            </a:r>
            <a:r>
              <a:rPr lang="en-US" b="1" baseline="30000" dirty="0" smtClean="0"/>
              <a:t>2</a:t>
            </a:r>
          </a:p>
          <a:p>
            <a:pPr>
              <a:buNone/>
            </a:pPr>
            <a:r>
              <a:rPr lang="en-US" dirty="0" smtClean="0"/>
              <a:t>	A</a:t>
            </a:r>
            <a:r>
              <a:rPr lang="en-US" baseline="30000" dirty="0" smtClean="0"/>
              <a:t>2</a:t>
            </a:r>
            <a:r>
              <a:rPr lang="en-US" dirty="0" smtClean="0"/>
              <a:t>={(1, 1), (1, 2 ), (2 , 1), (2 , 2 )} </a:t>
            </a:r>
          </a:p>
          <a:p>
            <a:pPr>
              <a:buNone/>
            </a:pPr>
            <a:r>
              <a:rPr lang="en-US" dirty="0" smtClean="0"/>
              <a:t>	</a:t>
            </a:r>
            <a:r>
              <a:rPr lang="en-US" b="1" dirty="0" smtClean="0"/>
              <a:t>Find A</a:t>
            </a:r>
            <a:r>
              <a:rPr lang="en-US" b="1" baseline="30000" dirty="0" smtClean="0"/>
              <a:t>3</a:t>
            </a:r>
            <a:r>
              <a:rPr lang="en-US" b="1" dirty="0" smtClean="0"/>
              <a:t> </a:t>
            </a:r>
          </a:p>
          <a:p>
            <a:pPr>
              <a:buNone/>
            </a:pPr>
            <a:r>
              <a:rPr lang="en-US" dirty="0" smtClean="0"/>
              <a:t>	= {(1, 1, 1), (1, 1, 2 ), (1, 2 , 1), (1, 2 , 2 ), (2 , 1, 1), </a:t>
            </a:r>
          </a:p>
          <a:p>
            <a:pPr>
              <a:buNone/>
            </a:pPr>
            <a:r>
              <a:rPr lang="en-US" dirty="0" smtClean="0"/>
              <a:t>		(2 , 1, 2 ), (2 , 2 , 1), (2 , 2 , 2 )}. </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Products…</a:t>
            </a:r>
            <a:endParaRPr lang="en-US" dirty="0"/>
          </a:p>
        </p:txBody>
      </p:sp>
      <p:sp>
        <p:nvSpPr>
          <p:cNvPr id="3" name="Content Placeholder 2"/>
          <p:cNvSpPr>
            <a:spLocks noGrp="1"/>
          </p:cNvSpPr>
          <p:nvPr>
            <p:ph idx="1"/>
          </p:nvPr>
        </p:nvSpPr>
        <p:spPr/>
        <p:txBody>
          <a:bodyPr>
            <a:normAutofit lnSpcReduction="10000"/>
          </a:bodyPr>
          <a:lstStyle/>
          <a:p>
            <a:r>
              <a:rPr lang="en-US" dirty="0" smtClean="0"/>
              <a:t>A </a:t>
            </a:r>
            <a:r>
              <a:rPr lang="en-US" dirty="0" smtClean="0">
                <a:solidFill>
                  <a:srgbClr val="FF0000"/>
                </a:solidFill>
              </a:rPr>
              <a:t>subset R </a:t>
            </a:r>
            <a:r>
              <a:rPr lang="en-US" dirty="0" smtClean="0"/>
              <a:t>of the Cartesian product </a:t>
            </a:r>
            <a:r>
              <a:rPr lang="en-US" dirty="0" smtClean="0">
                <a:solidFill>
                  <a:srgbClr val="FF0000"/>
                </a:solidFill>
              </a:rPr>
              <a:t>A × B</a:t>
            </a:r>
            <a:r>
              <a:rPr lang="en-US" dirty="0" smtClean="0"/>
              <a:t> is called a </a:t>
            </a:r>
            <a:r>
              <a:rPr lang="en-US" b="1" dirty="0" smtClean="0">
                <a:solidFill>
                  <a:srgbClr val="FF0000"/>
                </a:solidFill>
              </a:rPr>
              <a:t>relation</a:t>
            </a:r>
            <a:r>
              <a:rPr lang="en-US" dirty="0" smtClean="0"/>
              <a:t> from the set A to the set B . </a:t>
            </a:r>
          </a:p>
          <a:p>
            <a:r>
              <a:rPr lang="en-US" dirty="0" smtClean="0"/>
              <a:t>The elements of R are ordered pairs, where the first element belongs to A and the second to B .</a:t>
            </a:r>
          </a:p>
          <a:p>
            <a:r>
              <a:rPr lang="en-US" dirty="0" smtClean="0"/>
              <a:t>Example, R ={(a, 0 ), (a,1), (a,3), (b,1), (b,2 ), (c,0 ), (c,3)} is a relation from the set{a, b, c} to the set {0 , 1, 2 , 3}. </a:t>
            </a:r>
          </a:p>
          <a:p>
            <a:r>
              <a:rPr lang="en-US" dirty="0" smtClean="0">
                <a:solidFill>
                  <a:srgbClr val="FF0000"/>
                </a:solidFill>
              </a:rPr>
              <a:t>A relation from a set A to itself is called a relation on A.</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Cartesian Products…</a:t>
            </a:r>
            <a:endParaRPr lang="en-US" dirty="0"/>
          </a:p>
        </p:txBody>
      </p:sp>
      <p:sp>
        <p:nvSpPr>
          <p:cNvPr id="3" name="Content Placeholder 2"/>
          <p:cNvSpPr>
            <a:spLocks noGrp="1"/>
          </p:cNvSpPr>
          <p:nvPr>
            <p:ph idx="1"/>
          </p:nvPr>
        </p:nvSpPr>
        <p:spPr/>
        <p:txBody>
          <a:bodyPr>
            <a:normAutofit lnSpcReduction="10000"/>
          </a:bodyPr>
          <a:lstStyle/>
          <a:p>
            <a:r>
              <a:rPr lang="en-US" b="1" dirty="0" smtClean="0"/>
              <a:t>Example:</a:t>
            </a:r>
          </a:p>
          <a:p>
            <a:pPr>
              <a:buNone/>
            </a:pPr>
            <a:r>
              <a:rPr lang="en-US" b="1" dirty="0" smtClean="0"/>
              <a:t>	What are the ordered pairs in the less than or equal to relation, which contains(a, b) if a ≤ b , on the set {0 , 1, 2 , 3}?</a:t>
            </a:r>
          </a:p>
          <a:p>
            <a:pPr>
              <a:buNone/>
            </a:pPr>
            <a:r>
              <a:rPr lang="en-US" dirty="0" smtClean="0"/>
              <a:t>	The ordered pair (a, b) belongs to R if and only if both a and b belong to {0 , 1, 2 , 3} and a ≤ b .</a:t>
            </a:r>
          </a:p>
          <a:p>
            <a:pPr>
              <a:buNone/>
            </a:pPr>
            <a:r>
              <a:rPr lang="en-US" dirty="0" smtClean="0"/>
              <a:t>	The ordered pairs in R are:</a:t>
            </a:r>
          </a:p>
          <a:p>
            <a:pPr>
              <a:buNone/>
            </a:pPr>
            <a:r>
              <a:rPr lang="en-US" dirty="0" smtClean="0"/>
              <a:t>	(0,0), (0,1), (0,2), (0,3), (1,1), (1,2), (1,3),</a:t>
            </a:r>
          </a:p>
          <a:p>
            <a:pPr>
              <a:buNone/>
            </a:pPr>
            <a:r>
              <a:rPr lang="en-US" dirty="0" smtClean="0"/>
              <a:t>	(2,2), (2, 3), and (3, 3).</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Exercise 2.1</a:t>
            </a:r>
          </a:p>
          <a:p>
            <a:r>
              <a:rPr lang="en-US" dirty="0" smtClean="0"/>
              <a:t>1</a:t>
            </a:r>
          </a:p>
          <a:p>
            <a:r>
              <a:rPr lang="en-US" dirty="0" smtClean="0"/>
              <a:t>7</a:t>
            </a:r>
          </a:p>
          <a:p>
            <a:r>
              <a:rPr lang="en-US" dirty="0" smtClean="0"/>
              <a:t>11</a:t>
            </a:r>
          </a:p>
          <a:p>
            <a:r>
              <a:rPr lang="en-US" dirty="0" smtClean="0"/>
              <a:t>15</a:t>
            </a:r>
          </a:p>
          <a:p>
            <a:r>
              <a:rPr lang="en-US" dirty="0" smtClean="0"/>
              <a:t>19</a:t>
            </a:r>
          </a:p>
          <a:p>
            <a:r>
              <a:rPr lang="en-US" dirty="0" smtClean="0"/>
              <a:t>21</a:t>
            </a:r>
          </a:p>
          <a:p>
            <a:r>
              <a:rPr lang="en-US" dirty="0" smtClean="0"/>
              <a:t>32</a:t>
            </a:r>
          </a:p>
          <a:p>
            <a:r>
              <a:rPr lang="en-US" dirty="0" smtClean="0"/>
              <a:t>33</a:t>
            </a:r>
          </a:p>
          <a:p>
            <a:r>
              <a:rPr lang="en-US" dirty="0" smtClean="0"/>
              <a:t>35</a:t>
            </a:r>
          </a:p>
          <a:p>
            <a:r>
              <a:rPr lang="en-US" dirty="0" smtClean="0"/>
              <a:t>37</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SET OPERATIONS</a:t>
            </a:r>
            <a:endParaRPr lang="en-US" dirty="0"/>
          </a:p>
        </p:txBody>
      </p:sp>
      <p:sp>
        <p:nvSpPr>
          <p:cNvPr id="5" name="Subtitle 4"/>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Union</a:t>
            </a:r>
            <a:endParaRPr lang="en-US" dirty="0"/>
          </a:p>
        </p:txBody>
      </p:sp>
      <p:sp>
        <p:nvSpPr>
          <p:cNvPr id="3" name="Content Placeholder 2"/>
          <p:cNvSpPr>
            <a:spLocks noGrp="1"/>
          </p:cNvSpPr>
          <p:nvPr>
            <p:ph idx="1"/>
          </p:nvPr>
        </p:nvSpPr>
        <p:spPr>
          <a:xfrm>
            <a:off x="228600" y="1447800"/>
            <a:ext cx="8915400" cy="4625609"/>
          </a:xfrm>
        </p:spPr>
        <p:txBody>
          <a:bodyPr>
            <a:normAutofit fontScale="92500" lnSpcReduction="20000"/>
          </a:bodyPr>
          <a:lstStyle/>
          <a:p>
            <a:r>
              <a:rPr lang="en-US" dirty="0" smtClean="0"/>
              <a:t>Let A and B be sets. The union of the sets A and B , denoted by </a:t>
            </a:r>
            <a:r>
              <a:rPr lang="en-US" dirty="0" smtClean="0">
                <a:solidFill>
                  <a:srgbClr val="FF0000"/>
                </a:solidFill>
              </a:rPr>
              <a:t>A ∪ B</a:t>
            </a:r>
            <a:r>
              <a:rPr lang="en-US" dirty="0" smtClean="0"/>
              <a:t> , is the set that contains those elements that are either in A or in B , or in both.</a:t>
            </a:r>
          </a:p>
          <a:p>
            <a:r>
              <a:rPr lang="en-US" dirty="0" smtClean="0"/>
              <a:t>An element x belongs to the union of the sets A and B if and only if x belongs to A or x belongs to B . </a:t>
            </a:r>
          </a:p>
          <a:p>
            <a:pPr>
              <a:buNone/>
            </a:pPr>
            <a:endParaRPr lang="en-US" dirty="0" smtClean="0"/>
          </a:p>
          <a:p>
            <a:pPr>
              <a:buNone/>
            </a:pPr>
            <a:endParaRPr lang="en-US" dirty="0" smtClean="0"/>
          </a:p>
          <a:p>
            <a:endParaRPr lang="en-US" dirty="0" smtClean="0"/>
          </a:p>
          <a:p>
            <a:pPr>
              <a:buNone/>
            </a:pPr>
            <a:r>
              <a:rPr lang="en-US" dirty="0" smtClean="0"/>
              <a:t>	Example</a:t>
            </a:r>
          </a:p>
          <a:p>
            <a:pPr>
              <a:buNone/>
            </a:pPr>
            <a:r>
              <a:rPr lang="en-US" dirty="0" smtClean="0"/>
              <a:t> 	Union of sets {1, 3, 5} and {1, 2 , 3}</a:t>
            </a:r>
          </a:p>
          <a:p>
            <a:pPr>
              <a:buNone/>
            </a:pPr>
            <a:r>
              <a:rPr lang="en-US" dirty="0" smtClean="0"/>
              <a:t>	{1, 3, 5}∪{ 1, 2 , 3}={1, 2 , 3, 5}</a:t>
            </a:r>
          </a:p>
        </p:txBody>
      </p:sp>
      <p:sp>
        <p:nvSpPr>
          <p:cNvPr id="4" name="Rectangle 3"/>
          <p:cNvSpPr/>
          <p:nvPr/>
        </p:nvSpPr>
        <p:spPr>
          <a:xfrm>
            <a:off x="1219200" y="3581400"/>
            <a:ext cx="4953000" cy="762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smtClean="0"/>
          </a:p>
          <a:p>
            <a:pPr algn="ctr"/>
            <a:r>
              <a:rPr lang="en-US" sz="3600" b="1" dirty="0" smtClean="0"/>
              <a:t>A ∪ B ={x | x ∈ A ∨ x ∈ B }</a:t>
            </a:r>
          </a:p>
          <a:p>
            <a:endParaRPr lang="en-US" sz="3600" dirty="0"/>
          </a:p>
        </p:txBody>
      </p:sp>
      <p:pic>
        <p:nvPicPr>
          <p:cNvPr id="1026" name="Picture 2"/>
          <p:cNvPicPr>
            <a:picLocks noChangeAspect="1" noChangeArrowheads="1"/>
          </p:cNvPicPr>
          <p:nvPr/>
        </p:nvPicPr>
        <p:blipFill>
          <a:blip r:embed="rId2" cstate="print"/>
          <a:srcRect/>
          <a:stretch>
            <a:fillRect/>
          </a:stretch>
        </p:blipFill>
        <p:spPr bwMode="auto">
          <a:xfrm>
            <a:off x="5791200" y="4343400"/>
            <a:ext cx="3429000" cy="2514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checkerboard(across)">
                                      <p:cBhvr>
                                        <p:cTn id="13" dur="500"/>
                                        <p:tgtEl>
                                          <p:spTgt spid="102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Intersection</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Let A and B be sets. The intersection of the sets A and B , denoted by</a:t>
            </a:r>
            <a:r>
              <a:rPr lang="en-US" dirty="0" smtClean="0">
                <a:solidFill>
                  <a:srgbClr val="FF0000"/>
                </a:solidFill>
              </a:rPr>
              <a:t> A ∩ B</a:t>
            </a:r>
            <a:r>
              <a:rPr lang="en-US" dirty="0" smtClean="0"/>
              <a:t> , is the set containing those elements in both A and B .</a:t>
            </a:r>
          </a:p>
          <a:p>
            <a:r>
              <a:rPr lang="en-US" dirty="0" smtClean="0"/>
              <a:t>An element x belongs to the intersection of the sets A and B if and only if x belongs to A and x belongs to B .</a:t>
            </a:r>
          </a:p>
          <a:p>
            <a:endParaRPr lang="en-US" dirty="0" smtClean="0"/>
          </a:p>
          <a:p>
            <a:endParaRPr lang="en-US" dirty="0" smtClean="0"/>
          </a:p>
          <a:p>
            <a:endParaRPr lang="en-US" dirty="0" smtClean="0"/>
          </a:p>
          <a:p>
            <a:pPr>
              <a:buNone/>
            </a:pPr>
            <a:r>
              <a:rPr lang="en-US" dirty="0" smtClean="0"/>
              <a:t>	Example:</a:t>
            </a:r>
          </a:p>
          <a:p>
            <a:pPr>
              <a:buNone/>
            </a:pPr>
            <a:r>
              <a:rPr lang="en-US" dirty="0" smtClean="0"/>
              <a:t>	Intersection of sets </a:t>
            </a:r>
          </a:p>
          <a:p>
            <a:pPr>
              <a:buNone/>
            </a:pPr>
            <a:r>
              <a:rPr lang="en-US" dirty="0" smtClean="0"/>
              <a:t>	{1, 3, 5} and {1, 2 , 3} </a:t>
            </a:r>
          </a:p>
          <a:p>
            <a:pPr>
              <a:buNone/>
            </a:pPr>
            <a:r>
              <a:rPr lang="en-US" dirty="0" smtClean="0"/>
              <a:t>	{1, 3, 5}∩{ 1, 2 , 3}={1, 3}.</a:t>
            </a:r>
          </a:p>
          <a:p>
            <a:pPr>
              <a:buNone/>
            </a:pPr>
            <a:endParaRPr lang="en-US" dirty="0"/>
          </a:p>
        </p:txBody>
      </p:sp>
      <p:sp>
        <p:nvSpPr>
          <p:cNvPr id="5" name="Rectangle 4"/>
          <p:cNvSpPr/>
          <p:nvPr/>
        </p:nvSpPr>
        <p:spPr>
          <a:xfrm>
            <a:off x="990600" y="3810000"/>
            <a:ext cx="4953000" cy="762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smtClean="0"/>
              <a:t>A ∩ B ={x | x ∈ A ∧ x ∈ B</a:t>
            </a:r>
            <a:endParaRPr lang="en-US" sz="3600" b="1" dirty="0"/>
          </a:p>
        </p:txBody>
      </p:sp>
      <p:pic>
        <p:nvPicPr>
          <p:cNvPr id="2050" name="Picture 2"/>
          <p:cNvPicPr>
            <a:picLocks noChangeAspect="1" noChangeArrowheads="1"/>
          </p:cNvPicPr>
          <p:nvPr/>
        </p:nvPicPr>
        <p:blipFill>
          <a:blip r:embed="rId2" cstate="print"/>
          <a:srcRect/>
          <a:stretch>
            <a:fillRect/>
          </a:stretch>
        </p:blipFill>
        <p:spPr bwMode="auto">
          <a:xfrm>
            <a:off x="5867400" y="4724400"/>
            <a:ext cx="3276601" cy="2133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Cardinality of Union</a:t>
            </a:r>
            <a:endParaRPr lang="en-US" dirty="0"/>
          </a:p>
        </p:txBody>
      </p:sp>
      <p:sp>
        <p:nvSpPr>
          <p:cNvPr id="3" name="Content Placeholder 2"/>
          <p:cNvSpPr>
            <a:spLocks noGrp="1"/>
          </p:cNvSpPr>
          <p:nvPr>
            <p:ph idx="1"/>
          </p:nvPr>
        </p:nvSpPr>
        <p:spPr/>
        <p:txBody>
          <a:bodyPr/>
          <a:lstStyle/>
          <a:p>
            <a:pPr>
              <a:buNone/>
            </a:pPr>
            <a:r>
              <a:rPr lang="en-US" dirty="0" smtClean="0"/>
              <a:t>	</a:t>
            </a:r>
          </a:p>
          <a:p>
            <a:pPr>
              <a:buNone/>
            </a:pPr>
            <a:endParaRPr lang="en-US" dirty="0" smtClean="0"/>
          </a:p>
          <a:p>
            <a:pPr>
              <a:buNone/>
            </a:pPr>
            <a:r>
              <a:rPr lang="en-US" dirty="0" smtClean="0"/>
              <a:t>	The generalization of this result to unions of an arbitrary number of sets is called the </a:t>
            </a:r>
            <a:r>
              <a:rPr lang="en-US" b="1" dirty="0" smtClean="0">
                <a:solidFill>
                  <a:srgbClr val="FF0000"/>
                </a:solidFill>
              </a:rPr>
              <a:t>principle of inclusion–exclusion. </a:t>
            </a:r>
          </a:p>
          <a:p>
            <a:pPr>
              <a:buNone/>
            </a:pPr>
            <a:r>
              <a:rPr lang="en-US" dirty="0" smtClean="0"/>
              <a:t>	The principle of inclusion–exclusion is an important technique used in enumeration.</a:t>
            </a:r>
            <a:endParaRPr lang="en-US" dirty="0"/>
          </a:p>
        </p:txBody>
      </p:sp>
      <p:sp>
        <p:nvSpPr>
          <p:cNvPr id="4" name="Rectangle 3"/>
          <p:cNvSpPr/>
          <p:nvPr/>
        </p:nvSpPr>
        <p:spPr>
          <a:xfrm>
            <a:off x="1447800" y="1828800"/>
            <a:ext cx="5486400" cy="762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smtClean="0"/>
              <a:t>|A ∪ B |=| A|+| B |−| A ∩ B |</a:t>
            </a:r>
            <a:endParaRPr lang="en-US" sz="3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Disjoint</a:t>
            </a:r>
            <a:endParaRPr lang="en-US" dirty="0"/>
          </a:p>
        </p:txBody>
      </p:sp>
      <p:sp>
        <p:nvSpPr>
          <p:cNvPr id="3" name="Content Placeholder 2"/>
          <p:cNvSpPr>
            <a:spLocks noGrp="1"/>
          </p:cNvSpPr>
          <p:nvPr>
            <p:ph idx="1"/>
          </p:nvPr>
        </p:nvSpPr>
        <p:spPr/>
        <p:txBody>
          <a:bodyPr/>
          <a:lstStyle/>
          <a:p>
            <a:pPr>
              <a:buNone/>
            </a:pPr>
            <a:r>
              <a:rPr lang="en-US" dirty="0" smtClean="0"/>
              <a:t>	Two sets are called </a:t>
            </a:r>
            <a:r>
              <a:rPr lang="en-US" b="1" dirty="0" smtClean="0">
                <a:solidFill>
                  <a:srgbClr val="FF0000"/>
                </a:solidFill>
              </a:rPr>
              <a:t>disjoint </a:t>
            </a:r>
            <a:r>
              <a:rPr lang="en-US" dirty="0" smtClean="0"/>
              <a:t>if their intersection is the empty set</a:t>
            </a:r>
          </a:p>
          <a:p>
            <a:pPr>
              <a:buNone/>
            </a:pPr>
            <a:r>
              <a:rPr lang="en-US" dirty="0" smtClean="0"/>
              <a:t>	Example</a:t>
            </a:r>
          </a:p>
          <a:p>
            <a:pPr>
              <a:buNone/>
            </a:pPr>
            <a:r>
              <a:rPr lang="en-US" dirty="0" smtClean="0"/>
              <a:t>	Let A ={1, 3, 5, 7, 9} and B ={2 , 4 , 6, 8, 10}.</a:t>
            </a:r>
          </a:p>
          <a:p>
            <a:pPr>
              <a:buNone/>
            </a:pPr>
            <a:r>
              <a:rPr lang="en-US" dirty="0" smtClean="0"/>
              <a:t>	Because A ∩ B =∅</a:t>
            </a:r>
          </a:p>
          <a:p>
            <a:pPr>
              <a:buNone/>
            </a:pPr>
            <a:r>
              <a:rPr lang="en-US" dirty="0" smtClean="0"/>
              <a:t>	 A and B are disjoint.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a:t>
            </a:r>
            <a:endParaRPr lang="en-US" dirty="0"/>
          </a:p>
        </p:txBody>
      </p:sp>
      <p:sp>
        <p:nvSpPr>
          <p:cNvPr id="3" name="Content Placeholder 2"/>
          <p:cNvSpPr>
            <a:spLocks noGrp="1"/>
          </p:cNvSpPr>
          <p:nvPr>
            <p:ph idx="1"/>
          </p:nvPr>
        </p:nvSpPr>
        <p:spPr>
          <a:xfrm>
            <a:off x="304800" y="1371600"/>
            <a:ext cx="8534400" cy="5486400"/>
          </a:xfrm>
        </p:spPr>
        <p:txBody>
          <a:bodyPr>
            <a:normAutofit fontScale="92500" lnSpcReduction="20000"/>
          </a:bodyPr>
          <a:lstStyle/>
          <a:p>
            <a:r>
              <a:rPr lang="en-US" dirty="0" smtClean="0"/>
              <a:t>Let A and B be sets. The difference of A and B, denoted by </a:t>
            </a:r>
            <a:r>
              <a:rPr lang="en-US" b="1" dirty="0" smtClean="0">
                <a:solidFill>
                  <a:srgbClr val="FF0000"/>
                </a:solidFill>
              </a:rPr>
              <a:t>A − B</a:t>
            </a:r>
            <a:r>
              <a:rPr lang="en-US" dirty="0" smtClean="0"/>
              <a:t>,</a:t>
            </a:r>
            <a:r>
              <a:rPr lang="en-US" b="1" dirty="0" smtClean="0">
                <a:solidFill>
                  <a:srgbClr val="FF0000"/>
                </a:solidFill>
              </a:rPr>
              <a:t> A\B</a:t>
            </a:r>
            <a:r>
              <a:rPr lang="en-US" dirty="0" smtClean="0"/>
              <a:t> or is the set containing those elements that are in A but not in B . </a:t>
            </a:r>
          </a:p>
          <a:p>
            <a:r>
              <a:rPr lang="en-US" dirty="0" smtClean="0"/>
              <a:t>The difference of A and B is also called the </a:t>
            </a:r>
            <a:r>
              <a:rPr lang="en-US" b="1" dirty="0" smtClean="0">
                <a:solidFill>
                  <a:srgbClr val="FF0000"/>
                </a:solidFill>
              </a:rPr>
              <a:t>complement</a:t>
            </a:r>
            <a:r>
              <a:rPr lang="en-US" dirty="0" smtClean="0"/>
              <a:t> of B with respect to A .</a:t>
            </a:r>
          </a:p>
          <a:p>
            <a:r>
              <a:rPr lang="en-US" dirty="0" smtClean="0"/>
              <a:t>An element x belongs to the difference of A and B if and only if x ∈ A and x∈ B .</a:t>
            </a:r>
          </a:p>
          <a:p>
            <a:endParaRPr lang="en-US" dirty="0" smtClean="0"/>
          </a:p>
          <a:p>
            <a:endParaRPr lang="en-US" dirty="0" smtClean="0"/>
          </a:p>
          <a:p>
            <a:pPr>
              <a:buNone/>
            </a:pPr>
            <a:r>
              <a:rPr lang="en-US" dirty="0" smtClean="0"/>
              <a:t>	Example:</a:t>
            </a:r>
          </a:p>
          <a:p>
            <a:pPr>
              <a:buNone/>
            </a:pPr>
            <a:r>
              <a:rPr lang="en-US" dirty="0" smtClean="0"/>
              <a:t>	The difference of{1, 3, 5} and {1, 2 , 3} </a:t>
            </a:r>
          </a:p>
          <a:p>
            <a:pPr>
              <a:buNone/>
            </a:pPr>
            <a:r>
              <a:rPr lang="en-US" dirty="0" smtClean="0"/>
              <a:t>	{1, 3, 5}−{ 1, 2 , 3}={5}. </a:t>
            </a:r>
          </a:p>
          <a:p>
            <a:pPr>
              <a:buNone/>
            </a:pPr>
            <a:r>
              <a:rPr lang="en-US" dirty="0" smtClean="0"/>
              <a:t>     The difference of {1, 2 , 3} and {1, 3, 5}</a:t>
            </a:r>
          </a:p>
          <a:p>
            <a:pPr>
              <a:buNone/>
            </a:pPr>
            <a:r>
              <a:rPr lang="en-US" dirty="0" smtClean="0"/>
              <a:t>	{1, 2, 3}−{ 1, 3 , 5}={2}.</a:t>
            </a:r>
          </a:p>
        </p:txBody>
      </p:sp>
      <p:sp>
        <p:nvSpPr>
          <p:cNvPr id="4" name="Rectangle 3"/>
          <p:cNvSpPr/>
          <p:nvPr/>
        </p:nvSpPr>
        <p:spPr>
          <a:xfrm>
            <a:off x="914400" y="4114800"/>
            <a:ext cx="5486400" cy="6096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smtClean="0">
                <a:solidFill>
                  <a:schemeClr val="bg1"/>
                </a:solidFill>
              </a:rPr>
              <a:t>A − B ={x | x ∈ A ∧ x∈ B }.</a:t>
            </a:r>
            <a:endParaRPr lang="en-US" sz="3600" b="1" dirty="0">
              <a:solidFill>
                <a:schemeClr val="bg1"/>
              </a:solidFill>
            </a:endParaRPr>
          </a:p>
        </p:txBody>
      </p:sp>
      <p:pic>
        <p:nvPicPr>
          <p:cNvPr id="3074" name="Picture 2"/>
          <p:cNvPicPr>
            <a:picLocks noChangeAspect="1" noChangeArrowheads="1"/>
          </p:cNvPicPr>
          <p:nvPr/>
        </p:nvPicPr>
        <p:blipFill>
          <a:blip r:embed="rId2" cstate="print"/>
          <a:srcRect/>
          <a:stretch>
            <a:fillRect/>
          </a:stretch>
        </p:blipFill>
        <p:spPr bwMode="auto">
          <a:xfrm>
            <a:off x="6829425" y="5334000"/>
            <a:ext cx="2314575" cy="1524000"/>
          </a:xfrm>
          <a:prstGeom prst="rect">
            <a:avLst/>
          </a:prstGeom>
          <a:noFill/>
          <a:ln w="9525">
            <a:noFill/>
            <a:miter lim="800000"/>
            <a:headEnd/>
            <a:tailEnd/>
          </a:ln>
          <a:effectLst/>
        </p:spPr>
      </p:pic>
      <p:cxnSp>
        <p:nvCxnSpPr>
          <p:cNvPr id="7" name="Straight Connector 6"/>
          <p:cNvCxnSpPr/>
          <p:nvPr/>
        </p:nvCxnSpPr>
        <p:spPr>
          <a:xfrm rot="5400000">
            <a:off x="4686300" y="4305300"/>
            <a:ext cx="457200" cy="2286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4572000" y="3657600"/>
            <a:ext cx="152400" cy="3048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3074"/>
                                        </p:tgtEl>
                                        <p:attrNameLst>
                                          <p:attrName>style.visibility</p:attrName>
                                        </p:attrNameLst>
                                      </p:cBhvr>
                                      <p:to>
                                        <p:strVal val="visible"/>
                                      </p:to>
                                    </p:set>
                                    <p:animEffect transition="in" filter="checkerboard(across)">
                                      <p:cBhvr>
                                        <p:cTn id="15" dur="500"/>
                                        <p:tgtEl>
                                          <p:spTgt spid="307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Complement</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Let U be the universal set. The complement of the set A, denoted by Ā, is the complement of A with respect to U . Therefore, the complement of the set A is U − A.</a:t>
            </a:r>
          </a:p>
          <a:p>
            <a:r>
              <a:rPr lang="en-US" dirty="0" smtClean="0"/>
              <a:t>An element belongs to Ā if and only if x∈ A.</a:t>
            </a:r>
          </a:p>
          <a:p>
            <a:endParaRPr lang="en-US" dirty="0" smtClean="0"/>
          </a:p>
          <a:p>
            <a:endParaRPr lang="en-US" dirty="0" smtClean="0"/>
          </a:p>
          <a:p>
            <a:pPr>
              <a:buNone/>
            </a:pPr>
            <a:r>
              <a:rPr lang="en-US" dirty="0" smtClean="0"/>
              <a:t>	Example:</a:t>
            </a:r>
          </a:p>
          <a:p>
            <a:pPr>
              <a:buNone/>
            </a:pPr>
            <a:r>
              <a:rPr lang="en-US" dirty="0" smtClean="0"/>
              <a:t>	Let A ={a, e, </a:t>
            </a:r>
            <a:r>
              <a:rPr lang="en-US" dirty="0" err="1" smtClean="0"/>
              <a:t>i</a:t>
            </a:r>
            <a:r>
              <a:rPr lang="en-US" dirty="0" smtClean="0"/>
              <a:t>, o, u}.Find Ā </a:t>
            </a:r>
          </a:p>
          <a:p>
            <a:pPr>
              <a:buNone/>
            </a:pPr>
            <a:r>
              <a:rPr lang="en-US" dirty="0" smtClean="0"/>
              <a:t>	Ā </a:t>
            </a:r>
            <a:r>
              <a:rPr lang="pt-BR" dirty="0" smtClean="0"/>
              <a:t>={b, c, d, f, g, h, j, k, l, m, n, p, </a:t>
            </a:r>
          </a:p>
          <a:p>
            <a:pPr>
              <a:buNone/>
            </a:pPr>
            <a:r>
              <a:rPr lang="pt-BR" dirty="0" smtClean="0"/>
              <a:t>		q, r, s, t,v , w ,x,y,z}.</a:t>
            </a:r>
            <a:endParaRPr lang="en-US" dirty="0" smtClean="0"/>
          </a:p>
        </p:txBody>
      </p:sp>
      <p:pic>
        <p:nvPicPr>
          <p:cNvPr id="4" name="Picture 3"/>
          <p:cNvPicPr>
            <a:picLocks noChangeAspect="1" noChangeArrowheads="1"/>
          </p:cNvPicPr>
          <p:nvPr/>
        </p:nvPicPr>
        <p:blipFill>
          <a:blip r:embed="rId2" cstate="print"/>
          <a:srcRect/>
          <a:stretch>
            <a:fillRect/>
          </a:stretch>
        </p:blipFill>
        <p:spPr bwMode="auto">
          <a:xfrm>
            <a:off x="6428849" y="5029201"/>
            <a:ext cx="2715151" cy="1828800"/>
          </a:xfrm>
          <a:prstGeom prst="rect">
            <a:avLst/>
          </a:prstGeom>
          <a:noFill/>
          <a:ln w="9525">
            <a:noFill/>
            <a:miter lim="800000"/>
            <a:headEnd/>
            <a:tailEnd/>
          </a:ln>
          <a:effectLst/>
        </p:spPr>
      </p:pic>
      <p:sp>
        <p:nvSpPr>
          <p:cNvPr id="6" name="Rectangle 5"/>
          <p:cNvSpPr/>
          <p:nvPr/>
        </p:nvSpPr>
        <p:spPr>
          <a:xfrm>
            <a:off x="990600" y="3810000"/>
            <a:ext cx="5486400" cy="6096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smtClean="0"/>
              <a:t>	Ā ={x ∈ U | x∈ A}</a:t>
            </a:r>
            <a:endParaRPr lang="en-US" sz="3600" b="1" dirty="0"/>
          </a:p>
        </p:txBody>
      </p:sp>
      <p:cxnSp>
        <p:nvCxnSpPr>
          <p:cNvPr id="8" name="Straight Connector 7"/>
          <p:cNvCxnSpPr/>
          <p:nvPr/>
        </p:nvCxnSpPr>
        <p:spPr>
          <a:xfrm rot="5400000">
            <a:off x="6972300" y="3467100"/>
            <a:ext cx="381000" cy="152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305300" y="4000500"/>
            <a:ext cx="457200" cy="2286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heckerboard(across)">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Set Identities</a:t>
            </a:r>
            <a:endParaRPr lang="en-US" dirty="0"/>
          </a:p>
        </p:txBody>
      </p:sp>
      <p:pic>
        <p:nvPicPr>
          <p:cNvPr id="1026" name="Picture 2"/>
          <p:cNvPicPr>
            <a:picLocks noChangeAspect="1" noChangeArrowheads="1"/>
          </p:cNvPicPr>
          <p:nvPr/>
        </p:nvPicPr>
        <p:blipFill>
          <a:blip r:embed="rId2" cstate="print"/>
          <a:srcRect l="208"/>
          <a:stretch>
            <a:fillRect/>
          </a:stretch>
        </p:blipFill>
        <p:spPr bwMode="auto">
          <a:xfrm>
            <a:off x="4419600" y="28575"/>
            <a:ext cx="4572000" cy="6829425"/>
          </a:xfrm>
          <a:prstGeom prst="rect">
            <a:avLst/>
          </a:prstGeom>
          <a:ln w="88900" cap="sq" cmpd="thickThin">
            <a:solidFill>
              <a:srgbClr val="0070C0"/>
            </a:solidFill>
            <a:prstDash val="solid"/>
            <a:miter lim="800000"/>
          </a:ln>
          <a:effectLst>
            <a:innerShdw blurRad="76200">
              <a:srgbClr val="000000"/>
            </a:innerShdw>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03376"/>
          </a:xfrm>
        </p:spPr>
        <p:txBody>
          <a:bodyPr/>
          <a:lstStyle/>
          <a:p>
            <a:r>
              <a:rPr lang="en-US" dirty="0" smtClean="0"/>
              <a:t>Set Identities</a:t>
            </a:r>
            <a:endParaRPr lang="en-US" dirty="0"/>
          </a:p>
        </p:txBody>
      </p:sp>
      <p:sp>
        <p:nvSpPr>
          <p:cNvPr id="3" name="Content Placeholder 2"/>
          <p:cNvSpPr>
            <a:spLocks noGrp="1"/>
          </p:cNvSpPr>
          <p:nvPr>
            <p:ph idx="1"/>
          </p:nvPr>
        </p:nvSpPr>
        <p:spPr/>
        <p:txBody>
          <a:bodyPr/>
          <a:lstStyle/>
          <a:p>
            <a:endParaRPr lang="en-US"/>
          </a:p>
        </p:txBody>
      </p:sp>
      <p:pic>
        <p:nvPicPr>
          <p:cNvPr id="4098" name="Picture 2"/>
          <p:cNvPicPr>
            <a:picLocks noChangeAspect="1" noChangeArrowheads="1"/>
          </p:cNvPicPr>
          <p:nvPr/>
        </p:nvPicPr>
        <p:blipFill>
          <a:blip r:embed="rId2" cstate="print"/>
          <a:srcRect/>
          <a:stretch>
            <a:fillRect/>
          </a:stretch>
        </p:blipFill>
        <p:spPr bwMode="auto">
          <a:xfrm>
            <a:off x="1219200" y="990601"/>
            <a:ext cx="6559307" cy="57912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38200" y="1828800"/>
            <a:ext cx="5048250" cy="8858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85800" y="3429000"/>
            <a:ext cx="8246952" cy="2590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Generalized Unions and Intersections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914400" y="1600200"/>
            <a:ext cx="6991350" cy="35242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pPr>
              <a:buNone/>
            </a:pPr>
            <a:r>
              <a:rPr lang="en-US" dirty="0" smtClean="0"/>
              <a:t>	Let </a:t>
            </a:r>
            <a:r>
              <a:rPr lang="en-US" i="1" dirty="0" smtClean="0"/>
              <a:t>A = {0, 2, 4, 6, 8}, B = {0, 1, 2, 3, 4}, and </a:t>
            </a:r>
          </a:p>
          <a:p>
            <a:pPr>
              <a:buNone/>
            </a:pPr>
            <a:r>
              <a:rPr lang="en-US" i="1" dirty="0" smtClean="0"/>
              <a:t>    C = {0, 3, 6, 9}. What are A ∪ B ∪ C and </a:t>
            </a:r>
          </a:p>
          <a:p>
            <a:pPr>
              <a:buNone/>
            </a:pPr>
            <a:r>
              <a:rPr lang="en-US" i="1" dirty="0" smtClean="0"/>
              <a:t>    A ∩ B ∩ C?</a:t>
            </a:r>
          </a:p>
          <a:p>
            <a:endParaRPr lang="en-US" i="1" dirty="0" smtClean="0">
              <a:solidFill>
                <a:srgbClr val="FF0000"/>
              </a:solidFill>
            </a:endParaRPr>
          </a:p>
          <a:p>
            <a:r>
              <a:rPr lang="en-US" i="1" dirty="0" smtClean="0">
                <a:solidFill>
                  <a:srgbClr val="FF0000"/>
                </a:solidFill>
              </a:rPr>
              <a:t>Solution: </a:t>
            </a:r>
            <a:endParaRPr lang="en-US" i="1" dirty="0" smtClean="0"/>
          </a:p>
          <a:p>
            <a:pPr>
              <a:buNone/>
            </a:pPr>
            <a:r>
              <a:rPr lang="pt-BR" i="1" dirty="0" smtClean="0"/>
              <a:t>	A ∪ B ∪ C = {0, 1, 2, 3, 4, 6, 8, 9}.</a:t>
            </a:r>
          </a:p>
          <a:p>
            <a:pPr>
              <a:buNone/>
            </a:pPr>
            <a:r>
              <a:rPr lang="en-US" dirty="0" smtClean="0"/>
              <a:t>	</a:t>
            </a:r>
            <a:r>
              <a:rPr lang="en-US" i="1" dirty="0" smtClean="0"/>
              <a:t>A ∩ B ∩ C = {0}.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ChangeAspect="1" noChangeArrowheads="1"/>
          </p:cNvPicPr>
          <p:nvPr/>
        </p:nvPicPr>
        <p:blipFill>
          <a:blip r:embed="rId2" cstate="print"/>
          <a:srcRect/>
          <a:stretch>
            <a:fillRect/>
          </a:stretch>
        </p:blipFill>
        <p:spPr bwMode="auto">
          <a:xfrm>
            <a:off x="1600200" y="1752600"/>
            <a:ext cx="5181600" cy="1914525"/>
          </a:xfrm>
          <a:prstGeom prst="rect">
            <a:avLst/>
          </a:prstGeom>
          <a:ln w="88900" cap="sq" cmpd="thickThin">
            <a:solidFill>
              <a:srgbClr val="000000"/>
            </a:solidFill>
            <a:prstDash val="solid"/>
            <a:miter lim="800000"/>
          </a:ln>
          <a:effectLst>
            <a:innerShdw blurRad="76200">
              <a:srgbClr val="000000"/>
            </a:innerShdw>
          </a:effectLst>
        </p:spPr>
      </p:pic>
      <p:pic>
        <p:nvPicPr>
          <p:cNvPr id="3075" name="Picture 3"/>
          <p:cNvPicPr>
            <a:picLocks noChangeAspect="1" noChangeArrowheads="1"/>
          </p:cNvPicPr>
          <p:nvPr/>
        </p:nvPicPr>
        <p:blipFill>
          <a:blip r:embed="rId3" cstate="print"/>
          <a:srcRect/>
          <a:stretch>
            <a:fillRect/>
          </a:stretch>
        </p:blipFill>
        <p:spPr bwMode="auto">
          <a:xfrm>
            <a:off x="1447800" y="4114800"/>
            <a:ext cx="5408448" cy="19050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Computer Representation of Sets</a:t>
            </a:r>
            <a:endParaRPr lang="en-US" dirty="0"/>
          </a:p>
        </p:txBody>
      </p:sp>
      <p:sp>
        <p:nvSpPr>
          <p:cNvPr id="3" name="Content Placeholder 2"/>
          <p:cNvSpPr>
            <a:spLocks noGrp="1"/>
          </p:cNvSpPr>
          <p:nvPr>
            <p:ph idx="1"/>
          </p:nvPr>
        </p:nvSpPr>
        <p:spPr/>
        <p:txBody>
          <a:bodyPr>
            <a:normAutofit/>
          </a:bodyPr>
          <a:lstStyle/>
          <a:p>
            <a:r>
              <a:rPr lang="en-US" dirty="0" smtClean="0"/>
              <a:t>Assume that the universal set </a:t>
            </a:r>
            <a:r>
              <a:rPr lang="en-US" i="1" dirty="0" smtClean="0"/>
              <a:t>U is finite.</a:t>
            </a:r>
          </a:p>
          <a:p>
            <a:r>
              <a:rPr lang="en-US" i="1" dirty="0" smtClean="0"/>
              <a:t>Specify an </a:t>
            </a:r>
            <a:r>
              <a:rPr lang="en-US" dirty="0" smtClean="0"/>
              <a:t>arbitrary ordering of the elements of </a:t>
            </a:r>
            <a:r>
              <a:rPr lang="en-US" i="1" dirty="0" smtClean="0"/>
              <a:t>U, for instance a1, a2, . . . , an. </a:t>
            </a:r>
          </a:p>
          <a:p>
            <a:r>
              <a:rPr lang="en-US" i="1" dirty="0" smtClean="0"/>
              <a:t>Represent a subset A of U </a:t>
            </a:r>
            <a:r>
              <a:rPr lang="en-US" dirty="0" smtClean="0"/>
              <a:t>with the bit string of length </a:t>
            </a:r>
            <a:r>
              <a:rPr lang="en-US" i="1" dirty="0" smtClean="0"/>
              <a:t>n, where the</a:t>
            </a:r>
            <a:r>
              <a:rPr lang="en-US" i="1" dirty="0" smtClean="0">
                <a:solidFill>
                  <a:srgbClr val="FF0000"/>
                </a:solidFill>
              </a:rPr>
              <a:t> </a:t>
            </a:r>
            <a:r>
              <a:rPr lang="en-US" i="1" dirty="0" err="1" smtClean="0">
                <a:solidFill>
                  <a:srgbClr val="FF0000"/>
                </a:solidFill>
              </a:rPr>
              <a:t>i</a:t>
            </a:r>
            <a:r>
              <a:rPr lang="en-US" i="1" baseline="30000" dirty="0" err="1" smtClean="0">
                <a:solidFill>
                  <a:srgbClr val="FF0000"/>
                </a:solidFill>
              </a:rPr>
              <a:t>th</a:t>
            </a:r>
            <a:r>
              <a:rPr lang="en-US" i="1" dirty="0" smtClean="0"/>
              <a:t> bit in this string is</a:t>
            </a:r>
            <a:r>
              <a:rPr lang="en-US" i="1" dirty="0" smtClean="0">
                <a:solidFill>
                  <a:srgbClr val="FF0000"/>
                </a:solidFill>
              </a:rPr>
              <a:t> 1 </a:t>
            </a:r>
            <a:r>
              <a:rPr lang="en-US" i="1" dirty="0" smtClean="0"/>
              <a:t>if </a:t>
            </a:r>
            <a:r>
              <a:rPr lang="en-US" i="1" dirty="0" err="1" smtClean="0">
                <a:solidFill>
                  <a:srgbClr val="FF0000"/>
                </a:solidFill>
              </a:rPr>
              <a:t>a</a:t>
            </a:r>
            <a:r>
              <a:rPr lang="en-US" i="1" baseline="-25000" dirty="0" err="1" smtClean="0">
                <a:solidFill>
                  <a:srgbClr val="FF0000"/>
                </a:solidFill>
              </a:rPr>
              <a:t>i</a:t>
            </a:r>
            <a:r>
              <a:rPr lang="en-US" i="1" dirty="0" smtClean="0">
                <a:solidFill>
                  <a:srgbClr val="FF0000"/>
                </a:solidFill>
              </a:rPr>
              <a:t> belongs to A</a:t>
            </a:r>
            <a:r>
              <a:rPr lang="en-US" i="1" dirty="0" smtClean="0"/>
              <a:t> and is</a:t>
            </a:r>
            <a:r>
              <a:rPr lang="en-US" i="1" dirty="0" smtClean="0">
                <a:solidFill>
                  <a:srgbClr val="FF0000"/>
                </a:solidFill>
              </a:rPr>
              <a:t> 0</a:t>
            </a:r>
            <a:r>
              <a:rPr lang="en-US" i="1" dirty="0" smtClean="0"/>
              <a:t> if </a:t>
            </a:r>
            <a:r>
              <a:rPr lang="en-US" i="1" dirty="0" err="1" smtClean="0">
                <a:solidFill>
                  <a:srgbClr val="FF0000"/>
                </a:solidFill>
              </a:rPr>
              <a:t>a</a:t>
            </a:r>
            <a:r>
              <a:rPr lang="en-US" i="1" baseline="-25000" dirty="0" err="1" smtClean="0">
                <a:solidFill>
                  <a:srgbClr val="FF0000"/>
                </a:solidFill>
              </a:rPr>
              <a:t>i</a:t>
            </a:r>
            <a:r>
              <a:rPr lang="en-US" i="1" dirty="0" smtClean="0">
                <a:solidFill>
                  <a:srgbClr val="FF0000"/>
                </a:solidFill>
              </a:rPr>
              <a:t> does not belong to A</a:t>
            </a:r>
            <a:r>
              <a:rPr lang="en-US" i="1" dirty="0" smtClean="0"/>
              <a: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152400" y="1775191"/>
            <a:ext cx="8534400" cy="4625609"/>
          </a:xfrm>
        </p:spPr>
        <p:txBody>
          <a:bodyPr>
            <a:normAutofit fontScale="70000" lnSpcReduction="20000"/>
          </a:bodyPr>
          <a:lstStyle/>
          <a:p>
            <a:pPr>
              <a:buNone/>
            </a:pPr>
            <a:r>
              <a:rPr lang="en-US" dirty="0" smtClean="0"/>
              <a:t>	</a:t>
            </a:r>
            <a:r>
              <a:rPr lang="en-US" sz="3400" dirty="0" smtClean="0"/>
              <a:t>Let </a:t>
            </a:r>
            <a:r>
              <a:rPr lang="en-US" sz="3400" i="1" dirty="0" smtClean="0"/>
              <a:t>U = {1, 2, 3, 4, 5, 6, 7, 8, 9, 10}, and the ordering of elements of U has the elements in </a:t>
            </a:r>
            <a:r>
              <a:rPr lang="en-US" sz="3400" dirty="0" smtClean="0"/>
              <a:t>increasing order; that is, </a:t>
            </a:r>
            <a:r>
              <a:rPr lang="en-US" sz="3400" i="1" dirty="0" err="1" smtClean="0"/>
              <a:t>a</a:t>
            </a:r>
            <a:r>
              <a:rPr lang="en-US" sz="3400" i="1" baseline="-25000" dirty="0" err="1" smtClean="0"/>
              <a:t>i</a:t>
            </a:r>
            <a:r>
              <a:rPr lang="en-US" sz="3400" i="1" dirty="0" smtClean="0"/>
              <a:t> = </a:t>
            </a:r>
            <a:r>
              <a:rPr lang="en-US" sz="3400" i="1" dirty="0" err="1" smtClean="0"/>
              <a:t>i</a:t>
            </a:r>
            <a:r>
              <a:rPr lang="en-US" sz="3400" i="1" dirty="0" smtClean="0"/>
              <a:t>. </a:t>
            </a:r>
          </a:p>
          <a:p>
            <a:pPr>
              <a:buNone/>
            </a:pPr>
            <a:r>
              <a:rPr lang="en-US" sz="3400" i="1" dirty="0" smtClean="0"/>
              <a:t>	What bit strings represent the subset of all odd integers in U, </a:t>
            </a:r>
            <a:r>
              <a:rPr lang="en-US" sz="3400" dirty="0" smtClean="0"/>
              <a:t>the subset of all even integers in </a:t>
            </a:r>
            <a:r>
              <a:rPr lang="en-US" sz="3400" i="1" dirty="0" smtClean="0"/>
              <a:t>U, and the subset of integers not exceeding 5 in U?</a:t>
            </a:r>
          </a:p>
          <a:p>
            <a:r>
              <a:rPr lang="en-US" sz="3400" i="1" dirty="0" smtClean="0">
                <a:solidFill>
                  <a:srgbClr val="FF0000"/>
                </a:solidFill>
              </a:rPr>
              <a:t>Solution: </a:t>
            </a:r>
          </a:p>
          <a:p>
            <a:r>
              <a:rPr lang="en-US" sz="3400" i="1" dirty="0" smtClean="0"/>
              <a:t>The bit string that represents the set of odd integers in U, namely, {1, 3, 5, 7, 9}, </a:t>
            </a:r>
          </a:p>
          <a:p>
            <a:pPr>
              <a:buNone/>
            </a:pPr>
            <a:r>
              <a:rPr lang="en-US" sz="3400" dirty="0" smtClean="0"/>
              <a:t>	</a:t>
            </a:r>
            <a:r>
              <a:rPr lang="en-US" sz="3400" dirty="0" smtClean="0">
                <a:solidFill>
                  <a:srgbClr val="7030A0"/>
                </a:solidFill>
              </a:rPr>
              <a:t>10 1010 1010</a:t>
            </a:r>
            <a:r>
              <a:rPr lang="en-US" sz="3400" i="1" dirty="0" smtClean="0">
                <a:solidFill>
                  <a:srgbClr val="7030A0"/>
                </a:solidFill>
              </a:rPr>
              <a:t>.</a:t>
            </a:r>
          </a:p>
          <a:p>
            <a:r>
              <a:rPr lang="en-US" sz="3400" dirty="0" smtClean="0"/>
              <a:t>The subset of all even integers in </a:t>
            </a:r>
            <a:r>
              <a:rPr lang="en-US" sz="3400" i="1" dirty="0" smtClean="0"/>
              <a:t>U, namely, {2, 4, 6, 8, 10}, </a:t>
            </a:r>
          </a:p>
          <a:p>
            <a:pPr>
              <a:buNone/>
            </a:pPr>
            <a:r>
              <a:rPr lang="en-US" sz="3400" dirty="0" smtClean="0"/>
              <a:t>	</a:t>
            </a:r>
            <a:r>
              <a:rPr lang="en-US" sz="3400" dirty="0" smtClean="0">
                <a:solidFill>
                  <a:srgbClr val="7030A0"/>
                </a:solidFill>
              </a:rPr>
              <a:t>01 0101 0101</a:t>
            </a:r>
            <a:r>
              <a:rPr lang="en-US" sz="3400" i="1" dirty="0" smtClean="0">
                <a:solidFill>
                  <a:srgbClr val="7030A0"/>
                </a:solidFill>
              </a:rPr>
              <a:t>.</a:t>
            </a:r>
          </a:p>
          <a:p>
            <a:r>
              <a:rPr lang="en-US" sz="3400" dirty="0" smtClean="0"/>
              <a:t>The set of all integers in </a:t>
            </a:r>
            <a:r>
              <a:rPr lang="en-US" sz="3400" i="1" dirty="0" smtClean="0"/>
              <a:t>U that do not exceed 5, namely, {1, 2, 3, 4, 5}</a:t>
            </a:r>
            <a:endParaRPr lang="en-US" sz="3400" dirty="0" smtClean="0"/>
          </a:p>
          <a:p>
            <a:pPr>
              <a:buNone/>
            </a:pPr>
            <a:r>
              <a:rPr lang="en-US" sz="3400" dirty="0" smtClean="0"/>
              <a:t>	</a:t>
            </a:r>
            <a:r>
              <a:rPr lang="en-US" sz="3400" dirty="0" smtClean="0">
                <a:solidFill>
                  <a:srgbClr val="7030A0"/>
                </a:solidFill>
              </a:rPr>
              <a:t>11 1110 0000</a:t>
            </a:r>
            <a:r>
              <a:rPr lang="en-US" sz="3400" i="1" dirty="0" smtClean="0">
                <a:solidFill>
                  <a:srgbClr val="7030A0"/>
                </a:solidFill>
              </a:rPr>
              <a:t>.</a:t>
            </a:r>
            <a:endParaRPr lang="en-US" sz="3400"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pPr>
              <a:buNone/>
            </a:pPr>
            <a:r>
              <a:rPr lang="en-US" dirty="0" smtClean="0"/>
              <a:t>	For the set {1</a:t>
            </a:r>
            <a:r>
              <a:rPr lang="en-US" i="1" dirty="0" smtClean="0"/>
              <a:t>, 3, 5, 7, 9} (with universal set {1, 2, 3, 4,</a:t>
            </a:r>
            <a:r>
              <a:rPr lang="nl-NL" dirty="0" smtClean="0"/>
              <a:t>5</a:t>
            </a:r>
            <a:r>
              <a:rPr lang="nl-NL" i="1" dirty="0" smtClean="0"/>
              <a:t>, 6, 7, 8, 9, 10}) .</a:t>
            </a:r>
            <a:r>
              <a:rPr lang="en-US" dirty="0" smtClean="0"/>
              <a:t>What is the bit string for the complement of this set?</a:t>
            </a:r>
          </a:p>
          <a:p>
            <a:pPr>
              <a:buNone/>
            </a:pPr>
            <a:endParaRPr lang="en-US" dirty="0" smtClean="0"/>
          </a:p>
          <a:p>
            <a:r>
              <a:rPr lang="en-US" i="1" dirty="0" smtClean="0">
                <a:solidFill>
                  <a:srgbClr val="FF0000"/>
                </a:solidFill>
              </a:rPr>
              <a:t>Solution:</a:t>
            </a:r>
            <a:r>
              <a:rPr lang="en-US" i="1" dirty="0" smtClean="0"/>
              <a:t> </a:t>
            </a:r>
          </a:p>
          <a:p>
            <a:pPr>
              <a:buNone/>
            </a:pPr>
            <a:r>
              <a:rPr lang="en-US" dirty="0" smtClean="0">
                <a:solidFill>
                  <a:srgbClr val="7030A0"/>
                </a:solidFill>
              </a:rPr>
              <a:t>	01 0101 0101</a:t>
            </a:r>
            <a:endParaRPr 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	The bit strings for the sets {1</a:t>
            </a:r>
            <a:r>
              <a:rPr lang="en-US" i="1" dirty="0" smtClean="0"/>
              <a:t>, 2, 3, 4, 5} and {1, 3, 5, 7, 9} are 11 1110 0000 and 10 1010 1010,</a:t>
            </a:r>
          </a:p>
          <a:p>
            <a:pPr>
              <a:buNone/>
            </a:pPr>
            <a:r>
              <a:rPr lang="en-US" dirty="0" smtClean="0"/>
              <a:t>	respectively. Use bit strings to find the union and intersection of these sets.</a:t>
            </a:r>
          </a:p>
          <a:p>
            <a:pPr>
              <a:buNone/>
            </a:pPr>
            <a:r>
              <a:rPr lang="en-US" i="1" dirty="0" smtClean="0">
                <a:solidFill>
                  <a:srgbClr val="FF0000"/>
                </a:solidFill>
              </a:rPr>
              <a:t>	Solution: </a:t>
            </a:r>
          </a:p>
          <a:p>
            <a:pPr lvl="1">
              <a:buNone/>
            </a:pPr>
            <a:r>
              <a:rPr lang="en-US" i="1" dirty="0" smtClean="0"/>
              <a:t>The bit string for the union of these sets is</a:t>
            </a:r>
          </a:p>
          <a:p>
            <a:pPr lvl="1">
              <a:buNone/>
            </a:pPr>
            <a:r>
              <a:rPr lang="en-US" dirty="0" smtClean="0">
                <a:solidFill>
                  <a:srgbClr val="7030A0"/>
                </a:solidFill>
              </a:rPr>
              <a:t>11 1110 0000 ∨ 10 1010 1010 = 11 1110 1010</a:t>
            </a:r>
            <a:r>
              <a:rPr lang="en-US" i="1" dirty="0" smtClean="0">
                <a:solidFill>
                  <a:srgbClr val="7030A0"/>
                </a:solidFill>
              </a:rPr>
              <a:t>,</a:t>
            </a:r>
          </a:p>
          <a:p>
            <a:pPr lvl="1">
              <a:buNone/>
            </a:pPr>
            <a:r>
              <a:rPr lang="en-US" dirty="0" smtClean="0"/>
              <a:t>which corresponds to the set </a:t>
            </a:r>
            <a:r>
              <a:rPr lang="en-US" dirty="0" smtClean="0">
                <a:solidFill>
                  <a:srgbClr val="7030A0"/>
                </a:solidFill>
              </a:rPr>
              <a:t>{1</a:t>
            </a:r>
            <a:r>
              <a:rPr lang="en-US" i="1" dirty="0" smtClean="0">
                <a:solidFill>
                  <a:srgbClr val="7030A0"/>
                </a:solidFill>
              </a:rPr>
              <a:t>, 2, 3, 4, 5, 7, 9}.</a:t>
            </a:r>
            <a:r>
              <a:rPr lang="en-US" i="1" dirty="0" smtClean="0"/>
              <a:t> </a:t>
            </a:r>
          </a:p>
          <a:p>
            <a:pPr lvl="1">
              <a:buNone/>
            </a:pPr>
            <a:endParaRPr lang="en-US" i="1" dirty="0" smtClean="0"/>
          </a:p>
          <a:p>
            <a:pPr lvl="1">
              <a:buNone/>
            </a:pPr>
            <a:r>
              <a:rPr lang="en-US" i="1" dirty="0" smtClean="0"/>
              <a:t>The bit string for the intersection of these sets </a:t>
            </a:r>
            <a:r>
              <a:rPr lang="en-US" dirty="0" smtClean="0"/>
              <a:t>is</a:t>
            </a:r>
          </a:p>
          <a:p>
            <a:pPr lvl="1">
              <a:buNone/>
            </a:pPr>
            <a:r>
              <a:rPr lang="en-US" dirty="0" smtClean="0">
                <a:solidFill>
                  <a:srgbClr val="7030A0"/>
                </a:solidFill>
              </a:rPr>
              <a:t>11 1110 0000 ∧ 10 1010 1010 = 10 1010 0000</a:t>
            </a:r>
            <a:r>
              <a:rPr lang="en-US" i="1" dirty="0" smtClean="0">
                <a:solidFill>
                  <a:srgbClr val="7030A0"/>
                </a:solidFill>
              </a:rPr>
              <a:t>,</a:t>
            </a:r>
          </a:p>
          <a:p>
            <a:pPr lvl="1">
              <a:buNone/>
            </a:pPr>
            <a:r>
              <a:rPr lang="en-US" dirty="0" smtClean="0"/>
              <a:t>which corresponds to the set </a:t>
            </a:r>
            <a:r>
              <a:rPr lang="en-US" dirty="0" smtClean="0">
                <a:solidFill>
                  <a:srgbClr val="7030A0"/>
                </a:solidFill>
              </a:rPr>
              <a:t>{1</a:t>
            </a:r>
            <a:r>
              <a:rPr lang="en-US" i="1" dirty="0" smtClean="0">
                <a:solidFill>
                  <a:srgbClr val="7030A0"/>
                </a:solidFill>
              </a:rPr>
              <a:t>, 3, 5}.</a:t>
            </a:r>
            <a:endParaRPr lang="en-US" dirty="0">
              <a:solidFill>
                <a:srgbClr val="7030A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a:t>
            </a:r>
            <a:endParaRPr lang="en-US" dirty="0"/>
          </a:p>
        </p:txBody>
      </p:sp>
      <p:sp>
        <p:nvSpPr>
          <p:cNvPr id="3" name="Content Placeholder 2"/>
          <p:cNvSpPr>
            <a:spLocks noGrp="1"/>
          </p:cNvSpPr>
          <p:nvPr>
            <p:ph idx="1"/>
          </p:nvPr>
        </p:nvSpPr>
        <p:spPr/>
        <p:txBody>
          <a:bodyPr>
            <a:normAutofit/>
          </a:bodyPr>
          <a:lstStyle/>
          <a:p>
            <a:pPr>
              <a:buNone/>
            </a:pPr>
            <a:r>
              <a:rPr lang="en-US" dirty="0" smtClean="0"/>
              <a:t>Exercise 2.2</a:t>
            </a:r>
          </a:p>
          <a:p>
            <a:r>
              <a:rPr lang="en-US" dirty="0" smtClean="0"/>
              <a:t>3</a:t>
            </a:r>
          </a:p>
          <a:p>
            <a:r>
              <a:rPr lang="en-US" dirty="0" smtClean="0"/>
              <a:t>14</a:t>
            </a:r>
          </a:p>
          <a:p>
            <a:r>
              <a:rPr lang="en-US" dirty="0" smtClean="0"/>
              <a:t>25</a:t>
            </a:r>
          </a:p>
          <a:p>
            <a:r>
              <a:rPr lang="en-US" dirty="0" smtClean="0"/>
              <a:t>27</a:t>
            </a:r>
          </a:p>
          <a:p>
            <a:r>
              <a:rPr lang="en-US" dirty="0" smtClean="0"/>
              <a:t>52</a:t>
            </a:r>
          </a:p>
          <a:p>
            <a:r>
              <a:rPr lang="en-US" dirty="0" smtClean="0"/>
              <a:t>53</a:t>
            </a:r>
          </a:p>
          <a:p>
            <a:r>
              <a:rPr lang="en-US" dirty="0" smtClean="0"/>
              <a:t>57</a:t>
            </a:r>
          </a:p>
          <a:p>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Functions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lstStyle/>
          <a:p>
            <a:pPr>
              <a:buNone/>
            </a:pPr>
            <a:r>
              <a:rPr lang="en-US" dirty="0" smtClean="0"/>
              <a:t>	In many instances we assign to each element of a set a particular element of a second set (which may be the same as the first).</a:t>
            </a:r>
            <a:endParaRPr lang="en-US" dirty="0"/>
          </a:p>
        </p:txBody>
      </p:sp>
      <p:sp>
        <p:nvSpPr>
          <p:cNvPr id="4" name="Rectangle 3"/>
          <p:cNvSpPr/>
          <p:nvPr/>
        </p:nvSpPr>
        <p:spPr>
          <a:xfrm>
            <a:off x="609600" y="5638800"/>
            <a:ext cx="7924800" cy="10668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bg1"/>
                </a:solidFill>
              </a:rPr>
              <a:t>The concept of a function is extremely important in mathematics and computer science.</a:t>
            </a:r>
            <a:endParaRPr lang="en-US" sz="2800" b="1" dirty="0">
              <a:solidFill>
                <a:schemeClr val="bg1"/>
              </a:solidFill>
            </a:endParaRPr>
          </a:p>
        </p:txBody>
      </p:sp>
      <p:pic>
        <p:nvPicPr>
          <p:cNvPr id="1026" name="Picture 2"/>
          <p:cNvPicPr>
            <a:picLocks noChangeAspect="1" noChangeArrowheads="1"/>
          </p:cNvPicPr>
          <p:nvPr/>
        </p:nvPicPr>
        <p:blipFill>
          <a:blip r:embed="rId2" cstate="print"/>
          <a:srcRect/>
          <a:stretch>
            <a:fillRect/>
          </a:stretch>
        </p:blipFill>
        <p:spPr bwMode="auto">
          <a:xfrm>
            <a:off x="2286000" y="3505200"/>
            <a:ext cx="3689908" cy="20764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heckerboard(across)">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lstStyle/>
          <a:p>
            <a:pPr>
              <a:buNone/>
            </a:pPr>
            <a:r>
              <a:rPr lang="en-US" dirty="0" smtClean="0"/>
              <a:t>	Let A and B be nonempty sets. A function </a:t>
            </a:r>
            <a:r>
              <a:rPr lang="en-US" i="1" dirty="0" smtClean="0"/>
              <a:t>f</a:t>
            </a:r>
            <a:r>
              <a:rPr lang="en-US" dirty="0" smtClean="0"/>
              <a:t> from A to B is an </a:t>
            </a:r>
            <a:r>
              <a:rPr lang="en-US" b="1" dirty="0" smtClean="0">
                <a:solidFill>
                  <a:srgbClr val="FF0000"/>
                </a:solidFill>
              </a:rPr>
              <a:t>assignment of exactly one</a:t>
            </a:r>
          </a:p>
          <a:p>
            <a:pPr>
              <a:buNone/>
            </a:pPr>
            <a:r>
              <a:rPr lang="en-US" b="1" dirty="0" smtClean="0">
                <a:solidFill>
                  <a:srgbClr val="FF0000"/>
                </a:solidFill>
              </a:rPr>
              <a:t>	element of B to each element of A</a:t>
            </a:r>
            <a:r>
              <a:rPr lang="en-US" dirty="0" smtClean="0"/>
              <a:t>. We write f(a) = b if b is the unique element of B</a:t>
            </a:r>
          </a:p>
          <a:p>
            <a:pPr>
              <a:buNone/>
            </a:pPr>
            <a:r>
              <a:rPr lang="en-US" dirty="0" smtClean="0"/>
              <a:t>	assigned by the function </a:t>
            </a:r>
            <a:r>
              <a:rPr lang="en-US" i="1" dirty="0" smtClean="0"/>
              <a:t>f</a:t>
            </a:r>
            <a:r>
              <a:rPr lang="en-US" dirty="0" smtClean="0"/>
              <a:t> to the element a of A.</a:t>
            </a:r>
          </a:p>
          <a:p>
            <a:pPr>
              <a:buNone/>
            </a:pPr>
            <a:r>
              <a:rPr lang="en-US" dirty="0" smtClean="0"/>
              <a:t>	If </a:t>
            </a:r>
            <a:r>
              <a:rPr lang="en-US" i="1" dirty="0" smtClean="0"/>
              <a:t>f</a:t>
            </a:r>
            <a:r>
              <a:rPr lang="en-US" dirty="0" smtClean="0"/>
              <a:t> is a function from A to B , we write</a:t>
            </a:r>
          </a:p>
          <a:p>
            <a:pPr>
              <a:buNone/>
            </a:pPr>
            <a:r>
              <a:rPr lang="en-US" i="1" dirty="0" smtClean="0"/>
              <a:t>		</a:t>
            </a:r>
            <a:r>
              <a:rPr lang="en-US" b="1" i="1" dirty="0" smtClean="0">
                <a:solidFill>
                  <a:srgbClr val="FF0000"/>
                </a:solidFill>
              </a:rPr>
              <a:t>f</a:t>
            </a:r>
            <a:r>
              <a:rPr lang="en-US" b="1" dirty="0" smtClean="0">
                <a:solidFill>
                  <a:srgbClr val="FF0000"/>
                </a:solidFill>
              </a:rPr>
              <a:t> : A →B .</a:t>
            </a:r>
            <a:endParaRPr 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lstStyle/>
          <a:p>
            <a:pPr>
              <a:buNone/>
            </a:pPr>
            <a:r>
              <a:rPr lang="en-US" dirty="0" smtClean="0"/>
              <a:t>	It is a relation between a set of inputs and a set of permissible outputs with the property that </a:t>
            </a:r>
            <a:r>
              <a:rPr lang="en-US" b="1" dirty="0" smtClean="0">
                <a:solidFill>
                  <a:srgbClr val="FF0000"/>
                </a:solidFill>
              </a:rPr>
              <a:t>each input is related to exactly one output</a:t>
            </a:r>
            <a:r>
              <a:rPr lang="en-US" dirty="0" smtClean="0"/>
              <a:t>.</a:t>
            </a:r>
            <a:endParaRPr lang="en-US" dirty="0"/>
          </a:p>
        </p:txBody>
      </p:sp>
      <p:sp>
        <p:nvSpPr>
          <p:cNvPr id="4" name="Rectangle 3"/>
          <p:cNvSpPr/>
          <p:nvPr/>
        </p:nvSpPr>
        <p:spPr>
          <a:xfrm>
            <a:off x="609600" y="5562600"/>
            <a:ext cx="7924800" cy="10668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bg1"/>
                </a:solidFill>
              </a:rPr>
              <a:t>Functions are sometimes also called mappings or transformations .</a:t>
            </a:r>
            <a:endParaRPr 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a:xfrm>
            <a:off x="457200" y="1600201"/>
            <a:ext cx="8229600" cy="4800600"/>
          </a:xfrm>
        </p:spPr>
        <p:txBody>
          <a:bodyPr>
            <a:normAutofit fontScale="85000" lnSpcReduction="20000"/>
          </a:bodyPr>
          <a:lstStyle/>
          <a:p>
            <a:pPr>
              <a:buNone/>
            </a:pPr>
            <a:r>
              <a:rPr lang="en-US" dirty="0" smtClean="0"/>
              <a:t>Functions are specified in many different ways:</a:t>
            </a:r>
          </a:p>
          <a:p>
            <a:r>
              <a:rPr lang="en-US" dirty="0" smtClean="0"/>
              <a:t>Explicitly state the assignments</a:t>
            </a:r>
          </a:p>
          <a:p>
            <a:r>
              <a:rPr lang="en-US" dirty="0" smtClean="0"/>
              <a:t>Give a formula, such as f(x)= x + 1, to define a function.</a:t>
            </a:r>
          </a:p>
          <a:p>
            <a:r>
              <a:rPr lang="en-US" dirty="0" smtClean="0"/>
              <a:t>Use a computer program to specify a function.</a:t>
            </a:r>
          </a:p>
          <a:p>
            <a:pPr>
              <a:buNone/>
            </a:pPr>
            <a:r>
              <a:rPr lang="en-US" dirty="0" smtClean="0"/>
              <a:t>A function </a:t>
            </a:r>
            <a:r>
              <a:rPr lang="en-US" i="1" dirty="0" smtClean="0"/>
              <a:t>f </a:t>
            </a:r>
            <a:r>
              <a:rPr lang="en-US" dirty="0" smtClean="0"/>
              <a:t>: A →B can also be defined in terms of a</a:t>
            </a:r>
          </a:p>
          <a:p>
            <a:pPr>
              <a:buNone/>
            </a:pPr>
            <a:r>
              <a:rPr lang="en-US" dirty="0" smtClean="0"/>
              <a:t>relation from A to B . </a:t>
            </a:r>
          </a:p>
          <a:p>
            <a:pPr>
              <a:buNone/>
            </a:pPr>
            <a:r>
              <a:rPr lang="en-US" dirty="0" smtClean="0"/>
              <a:t>	A relation from A to B is just a subset of A × B . A relation from A to B that </a:t>
            </a:r>
            <a:r>
              <a:rPr lang="en-US" b="1" dirty="0" smtClean="0">
                <a:solidFill>
                  <a:srgbClr val="FF0000"/>
                </a:solidFill>
              </a:rPr>
              <a:t>contains one, and only one</a:t>
            </a:r>
            <a:r>
              <a:rPr lang="en-US" dirty="0" smtClean="0"/>
              <a:t>, ordered pair (a, b) for every element a ∈ A, defines a function </a:t>
            </a:r>
            <a:r>
              <a:rPr lang="en-US" i="1" dirty="0" smtClean="0"/>
              <a:t>f  </a:t>
            </a:r>
            <a:r>
              <a:rPr lang="en-US" dirty="0" smtClean="0"/>
              <a:t>from A to B . This function is defined by the assignment f(a) = b , where (a, b) is the unique ordered pair in the relation that has a as its first element.</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a:xfrm>
            <a:off x="381000" y="1524000"/>
            <a:ext cx="8229600" cy="4625609"/>
          </a:xfrm>
        </p:spPr>
        <p:txBody>
          <a:bodyPr>
            <a:normAutofit/>
          </a:bodyPr>
          <a:lstStyle/>
          <a:p>
            <a:pPr>
              <a:buNone/>
            </a:pPr>
            <a:r>
              <a:rPr lang="en-US" sz="2800" dirty="0" smtClean="0"/>
              <a:t>If </a:t>
            </a:r>
            <a:r>
              <a:rPr lang="en-US" sz="2800" i="1" dirty="0" smtClean="0"/>
              <a:t>f</a:t>
            </a:r>
            <a:r>
              <a:rPr lang="en-US" sz="2800" dirty="0" smtClean="0"/>
              <a:t> is a function from A to B , we say that A is </a:t>
            </a:r>
          </a:p>
          <a:p>
            <a:pPr>
              <a:buNone/>
            </a:pPr>
            <a:r>
              <a:rPr lang="en-US" sz="2800" dirty="0" smtClean="0"/>
              <a:t>the </a:t>
            </a:r>
            <a:r>
              <a:rPr lang="en-US" sz="2800" b="1" dirty="0" smtClean="0">
                <a:solidFill>
                  <a:srgbClr val="FF0000"/>
                </a:solidFill>
              </a:rPr>
              <a:t>domain</a:t>
            </a:r>
            <a:r>
              <a:rPr lang="en-US" sz="2800" dirty="0" smtClean="0"/>
              <a:t> of </a:t>
            </a:r>
            <a:r>
              <a:rPr lang="en-US" sz="2800" i="1" dirty="0" smtClean="0"/>
              <a:t>f</a:t>
            </a:r>
            <a:r>
              <a:rPr lang="en-US" sz="2800" dirty="0" smtClean="0"/>
              <a:t> and B is the </a:t>
            </a:r>
            <a:r>
              <a:rPr lang="en-US" sz="2800" b="1" dirty="0" err="1" smtClean="0">
                <a:solidFill>
                  <a:srgbClr val="FF0000"/>
                </a:solidFill>
              </a:rPr>
              <a:t>codomain</a:t>
            </a:r>
            <a:r>
              <a:rPr lang="en-US" sz="2800" dirty="0" smtClean="0"/>
              <a:t> of f.</a:t>
            </a:r>
          </a:p>
          <a:p>
            <a:pPr>
              <a:buNone/>
            </a:pPr>
            <a:r>
              <a:rPr lang="en-US" sz="2800" dirty="0" smtClean="0"/>
              <a:t>If f(a) = b , we say that b is the </a:t>
            </a:r>
            <a:r>
              <a:rPr lang="en-US" sz="2800" b="1" dirty="0" smtClean="0">
                <a:solidFill>
                  <a:srgbClr val="FF0000"/>
                </a:solidFill>
              </a:rPr>
              <a:t>image</a:t>
            </a:r>
            <a:r>
              <a:rPr lang="en-US" sz="2800" dirty="0" smtClean="0"/>
              <a:t> of a and a </a:t>
            </a:r>
          </a:p>
          <a:p>
            <a:pPr>
              <a:buNone/>
            </a:pPr>
            <a:r>
              <a:rPr lang="en-US" sz="2800" dirty="0" smtClean="0"/>
              <a:t>is a </a:t>
            </a:r>
            <a:r>
              <a:rPr lang="en-US" sz="2800" b="1" dirty="0" err="1" smtClean="0">
                <a:solidFill>
                  <a:srgbClr val="FF0000"/>
                </a:solidFill>
              </a:rPr>
              <a:t>preimage</a:t>
            </a:r>
            <a:r>
              <a:rPr lang="en-US" sz="2800" dirty="0" smtClean="0"/>
              <a:t> of b . The </a:t>
            </a:r>
            <a:r>
              <a:rPr lang="en-US" sz="2800" b="1" dirty="0" smtClean="0">
                <a:solidFill>
                  <a:srgbClr val="FF0000"/>
                </a:solidFill>
              </a:rPr>
              <a:t>range, or image </a:t>
            </a:r>
            <a:r>
              <a:rPr lang="en-US" sz="2800" dirty="0" smtClean="0"/>
              <a:t>,</a:t>
            </a:r>
          </a:p>
          <a:p>
            <a:pPr>
              <a:buNone/>
            </a:pPr>
            <a:r>
              <a:rPr lang="en-US" sz="2800" dirty="0" smtClean="0"/>
              <a:t>of </a:t>
            </a:r>
            <a:r>
              <a:rPr lang="en-US" sz="2800" i="1" dirty="0" smtClean="0"/>
              <a:t>f</a:t>
            </a:r>
            <a:r>
              <a:rPr lang="en-US" sz="2800" dirty="0" smtClean="0"/>
              <a:t> is the set of all images of elements of A. </a:t>
            </a:r>
          </a:p>
          <a:p>
            <a:pPr>
              <a:buNone/>
            </a:pPr>
            <a:endParaRPr lang="en-US" sz="2800" dirty="0" smtClean="0"/>
          </a:p>
          <a:p>
            <a:pPr>
              <a:buNone/>
            </a:pPr>
            <a:r>
              <a:rPr lang="en-US" sz="2800" dirty="0" smtClean="0"/>
              <a:t>Also, if f is a function from A to B , we say</a:t>
            </a:r>
          </a:p>
          <a:p>
            <a:pPr>
              <a:buNone/>
            </a:pPr>
            <a:r>
              <a:rPr lang="en-US" sz="2800" dirty="0" smtClean="0"/>
              <a:t>that </a:t>
            </a:r>
            <a:r>
              <a:rPr lang="en-US" sz="2800" i="1" dirty="0" smtClean="0"/>
              <a:t>f</a:t>
            </a:r>
            <a:r>
              <a:rPr lang="en-US" sz="2800" dirty="0" smtClean="0"/>
              <a:t> maps A to B .</a:t>
            </a:r>
            <a:endParaRPr lang="en-US" sz="2800" dirty="0"/>
          </a:p>
        </p:txBody>
      </p:sp>
      <p:pic>
        <p:nvPicPr>
          <p:cNvPr id="2050" name="Picture 2"/>
          <p:cNvPicPr>
            <a:picLocks noChangeAspect="1" noChangeArrowheads="1"/>
          </p:cNvPicPr>
          <p:nvPr/>
        </p:nvPicPr>
        <p:blipFill>
          <a:blip r:embed="rId2" cstate="print"/>
          <a:srcRect/>
          <a:stretch>
            <a:fillRect/>
          </a:stretch>
        </p:blipFill>
        <p:spPr bwMode="auto">
          <a:xfrm>
            <a:off x="4194047" y="4648200"/>
            <a:ext cx="4949953" cy="22098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lstStyle/>
          <a:p>
            <a:r>
              <a:rPr lang="en-US" dirty="0" smtClean="0"/>
              <a:t>Two functions are equal when they have the </a:t>
            </a:r>
            <a:r>
              <a:rPr lang="en-US" b="1" dirty="0" smtClean="0">
                <a:solidFill>
                  <a:srgbClr val="FF0000"/>
                </a:solidFill>
              </a:rPr>
              <a:t>same domain</a:t>
            </a:r>
            <a:r>
              <a:rPr lang="en-US" dirty="0" smtClean="0"/>
              <a:t>, have </a:t>
            </a:r>
            <a:r>
              <a:rPr lang="en-US" b="1" dirty="0" smtClean="0">
                <a:solidFill>
                  <a:srgbClr val="FF0000"/>
                </a:solidFill>
              </a:rPr>
              <a:t>the same </a:t>
            </a:r>
            <a:r>
              <a:rPr lang="en-US" b="1" dirty="0" err="1" smtClean="0">
                <a:solidFill>
                  <a:srgbClr val="FF0000"/>
                </a:solidFill>
              </a:rPr>
              <a:t>codomain</a:t>
            </a:r>
            <a:r>
              <a:rPr lang="en-US" dirty="0" smtClean="0"/>
              <a:t>, and map each element of their </a:t>
            </a:r>
            <a:r>
              <a:rPr lang="en-US" b="1" dirty="0" smtClean="0">
                <a:solidFill>
                  <a:srgbClr val="FF0000"/>
                </a:solidFill>
              </a:rPr>
              <a:t>common domain to the same element in their common </a:t>
            </a:r>
            <a:r>
              <a:rPr lang="en-US" b="1" dirty="0" err="1" smtClean="0">
                <a:solidFill>
                  <a:srgbClr val="FF0000"/>
                </a:solidFill>
              </a:rPr>
              <a:t>codomain</a:t>
            </a:r>
            <a:r>
              <a:rPr lang="en-US" b="1" dirty="0" smtClean="0">
                <a:solidFill>
                  <a:srgbClr val="FF0000"/>
                </a:solidFill>
              </a:rPr>
              <a:t>.</a:t>
            </a:r>
            <a:endParaRPr lang="en-US" b="1" dirty="0">
              <a:solidFill>
                <a:srgbClr val="FF0000"/>
              </a:solidFill>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304800" y="1600200"/>
            <a:ext cx="8534400" cy="4625609"/>
          </a:xfrm>
        </p:spPr>
        <p:txBody>
          <a:bodyPr>
            <a:noAutofit/>
          </a:bodyPr>
          <a:lstStyle/>
          <a:p>
            <a:r>
              <a:rPr lang="en-US" sz="2400" dirty="0" smtClean="0"/>
              <a:t>What are the domain, </a:t>
            </a:r>
            <a:r>
              <a:rPr lang="en-US" sz="2400" dirty="0" err="1" smtClean="0"/>
              <a:t>codomain</a:t>
            </a:r>
            <a:r>
              <a:rPr lang="en-US" sz="2400" dirty="0" smtClean="0"/>
              <a:t>, and range of the function that assigns grades to students.</a:t>
            </a:r>
          </a:p>
          <a:p>
            <a:endParaRPr lang="en-US" sz="2400" dirty="0" smtClean="0"/>
          </a:p>
          <a:p>
            <a:endParaRPr lang="en-US" sz="2400" dirty="0" smtClean="0"/>
          </a:p>
          <a:p>
            <a:endParaRPr lang="en-US" sz="2400" dirty="0" smtClean="0"/>
          </a:p>
          <a:p>
            <a:endParaRPr lang="en-US" sz="2400" dirty="0" smtClean="0"/>
          </a:p>
          <a:p>
            <a:pPr>
              <a:buNone/>
            </a:pPr>
            <a:endParaRPr lang="en-US" sz="2400" dirty="0" smtClean="0"/>
          </a:p>
          <a:p>
            <a:endParaRPr lang="en-US" sz="2400" dirty="0" smtClean="0"/>
          </a:p>
          <a:p>
            <a:pPr lvl="1"/>
            <a:r>
              <a:rPr lang="en-US" sz="2000" dirty="0" smtClean="0"/>
              <a:t>Domain of G is the set {Adams, Chou, </a:t>
            </a:r>
            <a:r>
              <a:rPr lang="en-US" sz="2000" dirty="0" err="1" smtClean="0"/>
              <a:t>Goodfriend</a:t>
            </a:r>
            <a:r>
              <a:rPr lang="en-US" sz="2000" dirty="0" smtClean="0"/>
              <a:t>, Rodriguez, Stevens }</a:t>
            </a:r>
          </a:p>
          <a:p>
            <a:pPr lvl="1"/>
            <a:r>
              <a:rPr lang="en-US" sz="2000" dirty="0" err="1" smtClean="0"/>
              <a:t>Codomain</a:t>
            </a:r>
            <a:r>
              <a:rPr lang="en-US" sz="2000" dirty="0" smtClean="0"/>
              <a:t> is the set {A, B, C, D, F }. </a:t>
            </a:r>
          </a:p>
          <a:p>
            <a:pPr lvl="1"/>
            <a:r>
              <a:rPr lang="en-US" sz="2000" dirty="0" smtClean="0"/>
              <a:t>Range of G is the set {A, B, C, F}, because each grade except D is assigned to some student.</a:t>
            </a:r>
          </a:p>
        </p:txBody>
      </p:sp>
      <p:pic>
        <p:nvPicPr>
          <p:cNvPr id="4" name="Picture 2"/>
          <p:cNvPicPr>
            <a:picLocks noChangeAspect="1" noChangeArrowheads="1"/>
          </p:cNvPicPr>
          <p:nvPr/>
        </p:nvPicPr>
        <p:blipFill>
          <a:blip r:embed="rId2" cstate="print"/>
          <a:srcRect/>
          <a:stretch>
            <a:fillRect/>
          </a:stretch>
        </p:blipFill>
        <p:spPr bwMode="auto">
          <a:xfrm>
            <a:off x="4953000" y="2266950"/>
            <a:ext cx="3689908" cy="20764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600200"/>
            <a:ext cx="8229600" cy="4625609"/>
          </a:xfrm>
        </p:spPr>
        <p:txBody>
          <a:bodyPr>
            <a:noAutofit/>
          </a:bodyPr>
          <a:lstStyle/>
          <a:p>
            <a:r>
              <a:rPr lang="en-US" sz="2400" dirty="0" smtClean="0"/>
              <a:t>Let R be the relation with ordered pairs (Abdul, 22), (Brenda, 24), (Carla, 21), (Desire, 22), (Eddie, 24), and (Felicia, 22). Here each pair consists of a graduate student and this student’s age. Specify a function determined by this relation.</a:t>
            </a:r>
          </a:p>
          <a:p>
            <a:pPr lvl="1"/>
            <a:r>
              <a:rPr lang="en-US" sz="2000" dirty="0" smtClean="0"/>
              <a:t>If </a:t>
            </a:r>
            <a:r>
              <a:rPr lang="en-US" sz="2000" i="1" dirty="0" smtClean="0"/>
              <a:t>f</a:t>
            </a:r>
            <a:r>
              <a:rPr lang="en-US" sz="2000" dirty="0" smtClean="0"/>
              <a:t> is a function specified by R , then f(Abdul) = 22, f(Brenda ) = 24, f(Carla) = 21, f(Desire) = 22, f(Eddie) = 24, and f(Felicia ) = 22. (Here, f(x)is the age of x , where x is a student.)</a:t>
            </a:r>
          </a:p>
          <a:p>
            <a:pPr lvl="1"/>
            <a:r>
              <a:rPr lang="en-US" sz="2000" dirty="0" smtClean="0"/>
              <a:t> Domain set {Abdul, Brenda, Carla, Desire, Eddie, Felicia}. </a:t>
            </a:r>
          </a:p>
          <a:p>
            <a:pPr lvl="1"/>
            <a:r>
              <a:rPr lang="en-US" sz="2000" dirty="0" err="1" smtClean="0"/>
              <a:t>Codomain</a:t>
            </a:r>
            <a:r>
              <a:rPr lang="en-US" sz="2000" dirty="0" smtClean="0"/>
              <a:t>, which needs to contain all possible ages of students. Because it is highly likely that all students are less than 100 years old, we can take the set of positive integers less than 100 as the </a:t>
            </a:r>
            <a:r>
              <a:rPr lang="en-US" sz="2000" dirty="0" err="1" smtClean="0"/>
              <a:t>codomain</a:t>
            </a:r>
            <a:r>
              <a:rPr lang="en-US" sz="2000" dirty="0" smtClean="0"/>
              <a:t>.</a:t>
            </a:r>
          </a:p>
          <a:p>
            <a:pPr lvl="1"/>
            <a:r>
              <a:rPr lang="en-US" sz="2000" dirty="0" smtClean="0"/>
              <a:t>Range  {21, 22, 24}.</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Let </a:t>
            </a:r>
            <a:r>
              <a:rPr lang="en-US" i="1" dirty="0" smtClean="0"/>
              <a:t>f</a:t>
            </a:r>
            <a:r>
              <a:rPr lang="en-US" dirty="0" smtClean="0"/>
              <a:t> be the function that assigns the last two bits of a bit string of length 2 or greater to that string. For example,</a:t>
            </a:r>
          </a:p>
          <a:p>
            <a:pPr>
              <a:buNone/>
            </a:pPr>
            <a:r>
              <a:rPr lang="en-US" dirty="0" smtClean="0"/>
              <a:t>	 f(11010) = 10. </a:t>
            </a:r>
          </a:p>
          <a:p>
            <a:pPr lvl="1"/>
            <a:r>
              <a:rPr lang="en-US" dirty="0" smtClean="0"/>
              <a:t>Domain of </a:t>
            </a:r>
            <a:r>
              <a:rPr lang="en-US" i="1" dirty="0" smtClean="0"/>
              <a:t>f</a:t>
            </a:r>
            <a:r>
              <a:rPr lang="en-US" dirty="0" smtClean="0"/>
              <a:t> is the set of all bit strings of length 2 or greater.</a:t>
            </a:r>
          </a:p>
          <a:p>
            <a:pPr lvl="1"/>
            <a:r>
              <a:rPr lang="en-US" dirty="0" err="1" smtClean="0"/>
              <a:t>Codomain</a:t>
            </a:r>
            <a:r>
              <a:rPr lang="en-US" dirty="0" smtClean="0"/>
              <a:t> and range are the set {00, 01, 10, 11}. </a:t>
            </a:r>
          </a:p>
          <a:p>
            <a:pPr>
              <a:buNone/>
            </a:pPr>
            <a:endParaRPr lang="en-US" dirty="0" smtClean="0"/>
          </a:p>
          <a:p>
            <a:r>
              <a:rPr lang="en-US" dirty="0" smtClean="0"/>
              <a:t>Let </a:t>
            </a:r>
            <a:r>
              <a:rPr lang="en-US" i="1" dirty="0" smtClean="0"/>
              <a:t>f</a:t>
            </a:r>
            <a:r>
              <a:rPr lang="en-US" dirty="0" smtClean="0"/>
              <a:t> : Z →Z assign the square of an integer to this integer. Then, f(x)= x</a:t>
            </a:r>
            <a:r>
              <a:rPr lang="en-US" baseline="30000" dirty="0" smtClean="0"/>
              <a:t>2.</a:t>
            </a:r>
          </a:p>
          <a:p>
            <a:pPr lvl="1"/>
            <a:r>
              <a:rPr lang="en-US" dirty="0" smtClean="0"/>
              <a:t>Domain of </a:t>
            </a:r>
            <a:r>
              <a:rPr lang="en-US" i="1" dirty="0" smtClean="0"/>
              <a:t>f</a:t>
            </a:r>
            <a:r>
              <a:rPr lang="en-US" dirty="0" smtClean="0"/>
              <a:t> is the set of all integers</a:t>
            </a:r>
          </a:p>
          <a:p>
            <a:pPr lvl="1"/>
            <a:r>
              <a:rPr lang="en-US" dirty="0" err="1" smtClean="0"/>
              <a:t>Codomain</a:t>
            </a:r>
            <a:r>
              <a:rPr lang="en-US" dirty="0" smtClean="0"/>
              <a:t> of </a:t>
            </a:r>
            <a:r>
              <a:rPr lang="en-US" i="1" dirty="0" smtClean="0"/>
              <a:t>f</a:t>
            </a:r>
            <a:r>
              <a:rPr lang="en-US" dirty="0" smtClean="0"/>
              <a:t> is the set of all integers</a:t>
            </a:r>
          </a:p>
          <a:p>
            <a:pPr lvl="1"/>
            <a:r>
              <a:rPr lang="en-US" dirty="0" smtClean="0"/>
              <a:t>Range of</a:t>
            </a:r>
            <a:r>
              <a:rPr lang="en-US" i="1" dirty="0" smtClean="0"/>
              <a:t> f </a:t>
            </a:r>
            <a:r>
              <a:rPr lang="en-US" dirty="0" smtClean="0"/>
              <a:t>is the set of all integers that are perfect squares, namely, {0 , 1, 4 , 9,... }.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394191"/>
            <a:ext cx="8229600" cy="4625609"/>
          </a:xfrm>
        </p:spPr>
        <p:txBody>
          <a:bodyPr>
            <a:normAutofit/>
          </a:bodyPr>
          <a:lstStyle/>
          <a:p>
            <a:r>
              <a:rPr lang="en-US" dirty="0" smtClean="0"/>
              <a:t>Java statement</a:t>
            </a:r>
          </a:p>
          <a:p>
            <a:pPr lvl="1">
              <a:buNone/>
            </a:pPr>
            <a:r>
              <a:rPr lang="en-US" dirty="0" smtClean="0"/>
              <a:t>	</a:t>
            </a:r>
            <a:r>
              <a:rPr lang="en-US" dirty="0" err="1" smtClean="0"/>
              <a:t>int</a:t>
            </a:r>
            <a:r>
              <a:rPr lang="en-US" dirty="0" smtClean="0"/>
              <a:t> function(float  x){...}</a:t>
            </a:r>
          </a:p>
          <a:p>
            <a:pPr>
              <a:buNone/>
            </a:pPr>
            <a:r>
              <a:rPr lang="en-US" dirty="0" smtClean="0"/>
              <a:t>	and the C++ function statement</a:t>
            </a:r>
          </a:p>
          <a:p>
            <a:pPr>
              <a:buNone/>
            </a:pPr>
            <a:r>
              <a:rPr lang="en-US" dirty="0" smtClean="0"/>
              <a:t>		</a:t>
            </a:r>
            <a:r>
              <a:rPr lang="en-US" dirty="0" err="1" smtClean="0"/>
              <a:t>int</a:t>
            </a:r>
            <a:r>
              <a:rPr lang="en-US" dirty="0" smtClean="0"/>
              <a:t> function (float x ){...}</a:t>
            </a:r>
          </a:p>
          <a:p>
            <a:pPr lvl="1"/>
            <a:r>
              <a:rPr lang="en-US" dirty="0" smtClean="0"/>
              <a:t>Domain of the function is the set of real numbers (represented by floating point numbers) and its </a:t>
            </a:r>
            <a:r>
              <a:rPr lang="en-US" dirty="0" err="1" smtClean="0"/>
              <a:t>codomain</a:t>
            </a:r>
            <a:r>
              <a:rPr lang="en-US" dirty="0" smtClean="0"/>
              <a:t> is the set of integers.</a:t>
            </a:r>
            <a:endParaRPr lang="en-US" dirty="0"/>
          </a:p>
        </p:txBody>
      </p:sp>
      <p:sp>
        <p:nvSpPr>
          <p:cNvPr id="4" name="Rectangle 3"/>
          <p:cNvSpPr/>
          <p:nvPr/>
        </p:nvSpPr>
        <p:spPr>
          <a:xfrm>
            <a:off x="533400" y="5181600"/>
            <a:ext cx="8077200" cy="1524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A function is called real-valued if its  </a:t>
            </a:r>
            <a:r>
              <a:rPr lang="en-US" sz="2800" b="1" dirty="0" err="1" smtClean="0"/>
              <a:t>codomain</a:t>
            </a:r>
            <a:r>
              <a:rPr lang="en-US" sz="2800" b="1" dirty="0" smtClean="0"/>
              <a:t> is the set of real numbers, and it is called</a:t>
            </a:r>
          </a:p>
          <a:p>
            <a:pPr algn="ctr"/>
            <a:r>
              <a:rPr lang="en-US" sz="2800" b="1" dirty="0" smtClean="0"/>
              <a:t>integer-valued if its </a:t>
            </a:r>
            <a:r>
              <a:rPr lang="en-US" sz="2800" b="1" dirty="0" err="1" smtClean="0"/>
              <a:t>codomain</a:t>
            </a:r>
            <a:r>
              <a:rPr lang="en-US" sz="2800" b="1" dirty="0" smtClean="0"/>
              <a:t> is the set of integers.</a:t>
            </a:r>
            <a:endParaRPr 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394191"/>
            <a:ext cx="8229600" cy="4625609"/>
          </a:xfrm>
        </p:spPr>
        <p:txBody>
          <a:bodyPr>
            <a:normAutofit/>
          </a:bodyPr>
          <a:lstStyle/>
          <a:p>
            <a:r>
              <a:rPr lang="en-US" dirty="0" smtClean="0"/>
              <a:t>Two real-valued functions or two integer-valued functions with the same domain can be added, as well as multiplied.</a:t>
            </a:r>
          </a:p>
          <a:p>
            <a:endParaRPr lang="en-US" dirty="0" smtClean="0"/>
          </a:p>
        </p:txBody>
      </p:sp>
      <p:pic>
        <p:nvPicPr>
          <p:cNvPr id="3075" name="Picture 3"/>
          <p:cNvPicPr>
            <a:picLocks noChangeAspect="1" noChangeArrowheads="1"/>
          </p:cNvPicPr>
          <p:nvPr/>
        </p:nvPicPr>
        <p:blipFill>
          <a:blip r:embed="rId2" cstate="print"/>
          <a:srcRect/>
          <a:stretch>
            <a:fillRect/>
          </a:stretch>
        </p:blipFill>
        <p:spPr bwMode="auto">
          <a:xfrm>
            <a:off x="609600" y="3276600"/>
            <a:ext cx="7897649" cy="1752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Let f</a:t>
            </a:r>
            <a:r>
              <a:rPr lang="en-US" baseline="-25000" dirty="0" smtClean="0"/>
              <a:t>1</a:t>
            </a:r>
            <a:r>
              <a:rPr lang="en-US" dirty="0" smtClean="0"/>
              <a:t> and f</a:t>
            </a:r>
            <a:r>
              <a:rPr lang="en-US" baseline="-25000" dirty="0" smtClean="0"/>
              <a:t>2</a:t>
            </a:r>
            <a:r>
              <a:rPr lang="en-US" dirty="0" smtClean="0"/>
              <a:t> be functions from R to R such that f</a:t>
            </a:r>
            <a:r>
              <a:rPr lang="en-US" baseline="-25000" dirty="0" smtClean="0"/>
              <a:t>1</a:t>
            </a:r>
            <a:r>
              <a:rPr lang="en-US" dirty="0" smtClean="0"/>
              <a:t>(x) = x</a:t>
            </a:r>
            <a:r>
              <a:rPr lang="en-US" baseline="30000" dirty="0" smtClean="0"/>
              <a:t>2</a:t>
            </a:r>
            <a:r>
              <a:rPr lang="en-US" dirty="0" smtClean="0"/>
              <a:t> and f</a:t>
            </a:r>
            <a:r>
              <a:rPr lang="en-US" baseline="-25000" dirty="0" smtClean="0"/>
              <a:t>2</a:t>
            </a:r>
            <a:r>
              <a:rPr lang="en-US" dirty="0" smtClean="0"/>
              <a:t>(x) = x − x</a:t>
            </a:r>
            <a:r>
              <a:rPr lang="en-US" baseline="30000" dirty="0" smtClean="0"/>
              <a:t>2</a:t>
            </a:r>
            <a:r>
              <a:rPr lang="en-US" dirty="0" smtClean="0"/>
              <a:t>. What are the functions f</a:t>
            </a:r>
            <a:r>
              <a:rPr lang="en-US" baseline="-25000" dirty="0" smtClean="0"/>
              <a:t>1</a:t>
            </a:r>
            <a:r>
              <a:rPr lang="en-US" dirty="0" smtClean="0"/>
              <a:t> + f</a:t>
            </a:r>
            <a:r>
              <a:rPr lang="en-US" baseline="-25000" dirty="0" smtClean="0"/>
              <a:t>2</a:t>
            </a:r>
            <a:r>
              <a:rPr lang="en-US" dirty="0" smtClean="0"/>
              <a:t> and f</a:t>
            </a:r>
            <a:r>
              <a:rPr lang="en-US" baseline="-25000" dirty="0" smtClean="0"/>
              <a:t>1</a:t>
            </a:r>
            <a:r>
              <a:rPr lang="en-US" dirty="0" smtClean="0"/>
              <a:t> f</a:t>
            </a:r>
            <a:r>
              <a:rPr lang="en-US" baseline="-25000" dirty="0" smtClean="0"/>
              <a:t>2</a:t>
            </a:r>
            <a:r>
              <a:rPr lang="en-US" dirty="0" smtClean="0"/>
              <a:t>?</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921144" y="3761986"/>
            <a:ext cx="6775056" cy="195301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One-to-One Functions</a:t>
            </a:r>
            <a:endParaRPr lang="en-US" dirty="0"/>
          </a:p>
        </p:txBody>
      </p:sp>
      <p:sp>
        <p:nvSpPr>
          <p:cNvPr id="3" name="Content Placeholder 2"/>
          <p:cNvSpPr>
            <a:spLocks noGrp="1"/>
          </p:cNvSpPr>
          <p:nvPr>
            <p:ph idx="1"/>
          </p:nvPr>
        </p:nvSpPr>
        <p:spPr>
          <a:xfrm>
            <a:off x="228600" y="1371600"/>
            <a:ext cx="8915400" cy="4625609"/>
          </a:xfrm>
        </p:spPr>
        <p:txBody>
          <a:bodyPr>
            <a:normAutofit/>
          </a:bodyPr>
          <a:lstStyle/>
          <a:p>
            <a:r>
              <a:rPr lang="en-US" sz="2800" dirty="0" smtClean="0"/>
              <a:t>Some functions </a:t>
            </a:r>
            <a:r>
              <a:rPr lang="en-US" sz="2800" b="1" dirty="0" smtClean="0">
                <a:solidFill>
                  <a:srgbClr val="FF0000"/>
                </a:solidFill>
              </a:rPr>
              <a:t>never assign the same value to two different domain elements</a:t>
            </a:r>
            <a:r>
              <a:rPr lang="en-US" sz="2800" dirty="0" smtClean="0"/>
              <a:t>. These functions are said to be one-to-one.</a:t>
            </a:r>
          </a:p>
          <a:p>
            <a:r>
              <a:rPr lang="en-US" sz="2800" dirty="0" smtClean="0"/>
              <a:t>A function </a:t>
            </a:r>
            <a:r>
              <a:rPr lang="en-US" sz="2800" i="1" dirty="0" smtClean="0"/>
              <a:t>f</a:t>
            </a:r>
            <a:r>
              <a:rPr lang="en-US" sz="2800" dirty="0" smtClean="0"/>
              <a:t> is said to be </a:t>
            </a:r>
            <a:r>
              <a:rPr lang="en-US" sz="2800" b="1" dirty="0" smtClean="0">
                <a:solidFill>
                  <a:srgbClr val="FF0000"/>
                </a:solidFill>
              </a:rPr>
              <a:t>one-to-one,</a:t>
            </a:r>
            <a:r>
              <a:rPr lang="en-US" sz="2800" dirty="0" smtClean="0"/>
              <a:t> or an </a:t>
            </a:r>
            <a:r>
              <a:rPr lang="en-US" sz="2800" b="1" dirty="0" smtClean="0">
                <a:solidFill>
                  <a:srgbClr val="FF0000"/>
                </a:solidFill>
              </a:rPr>
              <a:t>injunction</a:t>
            </a:r>
            <a:r>
              <a:rPr lang="en-US" sz="2800" dirty="0" smtClean="0"/>
              <a:t>, </a:t>
            </a:r>
            <a:r>
              <a:rPr lang="en-US" sz="2800" b="1" dirty="0" smtClean="0">
                <a:solidFill>
                  <a:srgbClr val="FF0000"/>
                </a:solidFill>
              </a:rPr>
              <a:t>if and only if f(a) = f(b) </a:t>
            </a:r>
            <a:r>
              <a:rPr lang="en-US" sz="2800" dirty="0" smtClean="0"/>
              <a:t>implies that </a:t>
            </a:r>
            <a:r>
              <a:rPr lang="en-US" sz="2800" b="1" dirty="0" smtClean="0">
                <a:solidFill>
                  <a:srgbClr val="FF0000"/>
                </a:solidFill>
              </a:rPr>
              <a:t>a = b </a:t>
            </a:r>
            <a:r>
              <a:rPr lang="en-US" sz="2800" dirty="0" smtClean="0"/>
              <a:t>for all a and b in the domain of f.</a:t>
            </a:r>
          </a:p>
          <a:p>
            <a:r>
              <a:rPr lang="en-US" sz="2800" i="1" dirty="0" smtClean="0"/>
              <a:t>f</a:t>
            </a:r>
            <a:r>
              <a:rPr lang="en-US" sz="2800" dirty="0" smtClean="0"/>
              <a:t> is one-to-one if and only if f(a) ≠ f(b) whenever a ≠ b .</a:t>
            </a:r>
          </a:p>
          <a:p>
            <a:r>
              <a:rPr lang="en-US" sz="2800" i="1" dirty="0" smtClean="0"/>
              <a:t>f</a:t>
            </a:r>
            <a:r>
              <a:rPr lang="en-US" sz="2800" dirty="0" smtClean="0"/>
              <a:t> is one-to-one using as ∀a ∀b(f (a) = f(b) →a = b) or equivalently ∀a ∀b(a ≠ b →f(a) ≠ f(b))</a:t>
            </a:r>
            <a:endParaRPr lang="en-US" sz="2800" dirty="0"/>
          </a:p>
        </p:txBody>
      </p:sp>
      <p:pic>
        <p:nvPicPr>
          <p:cNvPr id="5122" name="Picture 2"/>
          <p:cNvPicPr>
            <a:picLocks noChangeAspect="1" noChangeArrowheads="1"/>
          </p:cNvPicPr>
          <p:nvPr/>
        </p:nvPicPr>
        <p:blipFill>
          <a:blip r:embed="rId2" cstate="print"/>
          <a:srcRect/>
          <a:stretch>
            <a:fillRect/>
          </a:stretch>
        </p:blipFill>
        <p:spPr bwMode="auto">
          <a:xfrm>
            <a:off x="6172200" y="4876800"/>
            <a:ext cx="3895725" cy="2286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normAutofit/>
          </a:bodyPr>
          <a:lstStyle/>
          <a:p>
            <a:r>
              <a:rPr lang="en-US" sz="2800" dirty="0" smtClean="0"/>
              <a:t>Determine whether the function f from {a, b, c, d } to {1, 2 , 3, 4 , 5} with f(a) = 4, f(b) = 5, f(c) = 1, and f(d)= 3 is one-to-one.</a:t>
            </a:r>
          </a:p>
          <a:p>
            <a:pPr marL="704088" lvl="2" indent="-320040">
              <a:spcBef>
                <a:spcPts val="0"/>
              </a:spcBef>
              <a:buClr>
                <a:schemeClr val="accent1"/>
              </a:buClr>
              <a:buSzPct val="80000"/>
              <a:buFont typeface="Wingdings 2"/>
              <a:buChar char=""/>
            </a:pPr>
            <a:r>
              <a:rPr lang="en-US" dirty="0" smtClean="0"/>
              <a:t>The function </a:t>
            </a:r>
            <a:r>
              <a:rPr lang="en-US" i="1" dirty="0" smtClean="0"/>
              <a:t>f</a:t>
            </a:r>
            <a:r>
              <a:rPr lang="en-US" dirty="0" smtClean="0"/>
              <a:t> is one-to-one because </a:t>
            </a:r>
            <a:r>
              <a:rPr lang="en-US" i="1" dirty="0" smtClean="0"/>
              <a:t>f</a:t>
            </a:r>
            <a:r>
              <a:rPr lang="en-US" dirty="0" smtClean="0"/>
              <a:t> takes on different values at the four elements of its domain.</a:t>
            </a:r>
          </a:p>
          <a:p>
            <a:endParaRPr lang="en-US" sz="2400" dirty="0" smtClean="0"/>
          </a:p>
          <a:p>
            <a:pPr marL="438912" lvl="1" indent="-320040">
              <a:spcBef>
                <a:spcPts val="0"/>
              </a:spcBef>
              <a:buClr>
                <a:schemeClr val="accent1"/>
              </a:buClr>
              <a:buSzPct val="80000"/>
              <a:buFont typeface="Wingdings 2"/>
              <a:buChar char=""/>
            </a:pPr>
            <a:r>
              <a:rPr lang="en-US" dirty="0" smtClean="0"/>
              <a:t>Determine whether the function f(x)= x</a:t>
            </a:r>
            <a:r>
              <a:rPr lang="en-US" baseline="30000" dirty="0" smtClean="0"/>
              <a:t>2</a:t>
            </a:r>
            <a:r>
              <a:rPr lang="en-US" dirty="0" smtClean="0"/>
              <a:t> from the set of integers to the set of integers is one-to-one.</a:t>
            </a:r>
          </a:p>
          <a:p>
            <a:pPr lvl="1"/>
            <a:r>
              <a:rPr lang="en-US" sz="2400" dirty="0" smtClean="0"/>
              <a:t>The function f(x)= x</a:t>
            </a:r>
            <a:r>
              <a:rPr lang="en-US" sz="2400" baseline="30000" dirty="0" smtClean="0"/>
              <a:t>2</a:t>
            </a:r>
            <a:r>
              <a:rPr lang="en-US" sz="2400" dirty="0" smtClean="0"/>
              <a:t> is not one-to-one because, for instance, f(1) = f(−1) = 1, but 1≠−1.</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Onto Functions</a:t>
            </a:r>
            <a:endParaRPr lang="en-US" dirty="0"/>
          </a:p>
        </p:txBody>
      </p:sp>
      <p:sp>
        <p:nvSpPr>
          <p:cNvPr id="3" name="Content Placeholder 2"/>
          <p:cNvSpPr>
            <a:spLocks noGrp="1"/>
          </p:cNvSpPr>
          <p:nvPr>
            <p:ph idx="1"/>
          </p:nvPr>
        </p:nvSpPr>
        <p:spPr/>
        <p:txBody>
          <a:bodyPr/>
          <a:lstStyle/>
          <a:p>
            <a:r>
              <a:rPr lang="en-US" dirty="0" smtClean="0"/>
              <a:t>For some functions the </a:t>
            </a:r>
            <a:r>
              <a:rPr lang="en-US" b="1" dirty="0" smtClean="0">
                <a:solidFill>
                  <a:srgbClr val="FF0000"/>
                </a:solidFill>
              </a:rPr>
              <a:t>range and the </a:t>
            </a:r>
            <a:r>
              <a:rPr lang="en-US" b="1" dirty="0" err="1" smtClean="0">
                <a:solidFill>
                  <a:srgbClr val="FF0000"/>
                </a:solidFill>
              </a:rPr>
              <a:t>codomain</a:t>
            </a:r>
            <a:r>
              <a:rPr lang="en-US" b="1" dirty="0" smtClean="0">
                <a:solidFill>
                  <a:srgbClr val="FF0000"/>
                </a:solidFill>
              </a:rPr>
              <a:t> are equal. </a:t>
            </a:r>
            <a:r>
              <a:rPr lang="en-US" dirty="0" smtClean="0"/>
              <a:t>That is, every member of the </a:t>
            </a:r>
            <a:r>
              <a:rPr lang="en-US" dirty="0" err="1" smtClean="0"/>
              <a:t>codomain</a:t>
            </a:r>
            <a:r>
              <a:rPr lang="en-US" dirty="0" smtClean="0"/>
              <a:t> is the image of some element of the domain. </a:t>
            </a:r>
          </a:p>
          <a:p>
            <a:r>
              <a:rPr lang="en-US" dirty="0" smtClean="0"/>
              <a:t>Functions with this property are called </a:t>
            </a:r>
            <a:r>
              <a:rPr lang="en-US" b="1" dirty="0" smtClean="0">
                <a:solidFill>
                  <a:srgbClr val="FF0000"/>
                </a:solidFill>
              </a:rPr>
              <a:t>onto functions.</a:t>
            </a:r>
            <a:endParaRPr lang="en-US" b="1" dirty="0">
              <a:solidFill>
                <a:srgbClr val="FF0000"/>
              </a:solidFill>
            </a:endParaRPr>
          </a:p>
        </p:txBody>
      </p:sp>
      <p:pic>
        <p:nvPicPr>
          <p:cNvPr id="1026" name="Picture 2"/>
          <p:cNvPicPr>
            <a:picLocks noChangeAspect="1" noChangeArrowheads="1"/>
          </p:cNvPicPr>
          <p:nvPr/>
        </p:nvPicPr>
        <p:blipFill>
          <a:blip r:embed="rId2" cstate="print"/>
          <a:srcRect/>
          <a:stretch>
            <a:fillRect/>
          </a:stretch>
        </p:blipFill>
        <p:spPr bwMode="auto">
          <a:xfrm>
            <a:off x="685800" y="4876800"/>
            <a:ext cx="7924800" cy="15240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animEffect transition="in" filter="checkerboard(across)">
                                      <p:cBhvr>
                                        <p:cTn id="15"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Let f be the function from {a, b, c, d } to {1, 2 , 3} defined by f(a) = 3, f(b) = 2, f(c) = 1 and f(d)= 3. Is </a:t>
            </a:r>
            <a:r>
              <a:rPr lang="en-US" i="1" dirty="0" smtClean="0"/>
              <a:t>f</a:t>
            </a:r>
            <a:r>
              <a:rPr lang="en-US" dirty="0" smtClean="0"/>
              <a:t> an onto function?</a:t>
            </a:r>
          </a:p>
          <a:p>
            <a:pPr lvl="1"/>
            <a:r>
              <a:rPr lang="en-US" dirty="0" smtClean="0"/>
              <a:t>Because all three elements of the </a:t>
            </a:r>
            <a:r>
              <a:rPr lang="en-US" dirty="0" err="1" smtClean="0"/>
              <a:t>codomain</a:t>
            </a:r>
            <a:r>
              <a:rPr lang="en-US" dirty="0" smtClean="0"/>
              <a:t> are images of elements in the domain, we see that f is onto. </a:t>
            </a:r>
          </a:p>
          <a:p>
            <a:pPr lvl="1"/>
            <a:r>
              <a:rPr lang="en-US" dirty="0" smtClean="0"/>
              <a:t>If the </a:t>
            </a:r>
            <a:r>
              <a:rPr lang="en-US" dirty="0" err="1" smtClean="0"/>
              <a:t>codomain</a:t>
            </a:r>
            <a:r>
              <a:rPr lang="en-US" dirty="0" smtClean="0"/>
              <a:t> were {1, 2 , 3, 4 }, then</a:t>
            </a:r>
            <a:r>
              <a:rPr lang="en-US" i="1" dirty="0" smtClean="0"/>
              <a:t> f </a:t>
            </a:r>
            <a:r>
              <a:rPr lang="en-US" dirty="0" smtClean="0"/>
              <a:t>would not be onto.</a:t>
            </a:r>
          </a:p>
          <a:p>
            <a:r>
              <a:rPr lang="en-US" dirty="0" smtClean="0"/>
              <a:t>Is the function f(x)= x</a:t>
            </a:r>
            <a:r>
              <a:rPr lang="en-US" baseline="30000" dirty="0" smtClean="0"/>
              <a:t>2</a:t>
            </a:r>
            <a:r>
              <a:rPr lang="en-US" dirty="0" smtClean="0"/>
              <a:t> from the set of integers to the set of integers onto?</a:t>
            </a:r>
          </a:p>
          <a:p>
            <a:pPr lvl="1"/>
            <a:r>
              <a:rPr lang="en-US" dirty="0" smtClean="0"/>
              <a:t>The function </a:t>
            </a:r>
            <a:r>
              <a:rPr lang="en-US" i="1" dirty="0" smtClean="0"/>
              <a:t>f</a:t>
            </a:r>
            <a:r>
              <a:rPr lang="en-US" dirty="0" smtClean="0"/>
              <a:t> is not onto because there is no integer x with x</a:t>
            </a:r>
            <a:r>
              <a:rPr lang="en-US" baseline="30000" dirty="0" smtClean="0"/>
              <a:t>2</a:t>
            </a:r>
            <a:r>
              <a:rPr lang="en-US" dirty="0" smtClean="0"/>
              <a:t> =−1, for instance.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One-to-One correspondence, or a </a:t>
            </a:r>
            <a:r>
              <a:rPr lang="en-US" dirty="0" err="1" smtClean="0"/>
              <a:t>Bijection</a:t>
            </a:r>
            <a:r>
              <a:rPr lang="en-US" dirty="0" smtClean="0"/>
              <a:t> Function</a:t>
            </a:r>
            <a:endParaRPr lang="en-US" dirty="0"/>
          </a:p>
        </p:txBody>
      </p:sp>
      <p:sp>
        <p:nvSpPr>
          <p:cNvPr id="3" name="Content Placeholder 2"/>
          <p:cNvSpPr>
            <a:spLocks noGrp="1"/>
          </p:cNvSpPr>
          <p:nvPr>
            <p:ph idx="1"/>
          </p:nvPr>
        </p:nvSpPr>
        <p:spPr>
          <a:xfrm>
            <a:off x="457200" y="1775191"/>
            <a:ext cx="8458200" cy="4625609"/>
          </a:xfrm>
        </p:spPr>
        <p:txBody>
          <a:bodyPr>
            <a:normAutofit fontScale="92500" lnSpcReduction="20000"/>
          </a:bodyPr>
          <a:lstStyle/>
          <a:p>
            <a:r>
              <a:rPr lang="en-US" dirty="0" smtClean="0"/>
              <a:t>The function </a:t>
            </a:r>
            <a:r>
              <a:rPr lang="en-US" i="1" dirty="0" smtClean="0"/>
              <a:t>f</a:t>
            </a:r>
            <a:r>
              <a:rPr lang="en-US" dirty="0" smtClean="0"/>
              <a:t> is a </a:t>
            </a:r>
            <a:r>
              <a:rPr lang="en-US" b="1" dirty="0" smtClean="0">
                <a:solidFill>
                  <a:srgbClr val="FF0000"/>
                </a:solidFill>
              </a:rPr>
              <a:t>one-to-one correspondence</a:t>
            </a:r>
            <a:r>
              <a:rPr lang="en-US" dirty="0" smtClean="0"/>
              <a:t>, or a </a:t>
            </a:r>
            <a:r>
              <a:rPr lang="en-US" b="1" dirty="0" err="1" smtClean="0">
                <a:solidFill>
                  <a:srgbClr val="FF0000"/>
                </a:solidFill>
              </a:rPr>
              <a:t>bijection</a:t>
            </a:r>
            <a:r>
              <a:rPr lang="en-US" dirty="0" smtClean="0"/>
              <a:t>, if it is </a:t>
            </a:r>
            <a:r>
              <a:rPr lang="en-US" b="1" dirty="0" smtClean="0">
                <a:solidFill>
                  <a:srgbClr val="FF0000"/>
                </a:solidFill>
              </a:rPr>
              <a:t>both one-to-one and onto</a:t>
            </a:r>
            <a:r>
              <a:rPr lang="en-US" dirty="0" smtClean="0"/>
              <a:t>. We also say that such a function is </a:t>
            </a:r>
            <a:r>
              <a:rPr lang="en-US" b="1" dirty="0" err="1" smtClean="0">
                <a:solidFill>
                  <a:srgbClr val="FF0000"/>
                </a:solidFill>
              </a:rPr>
              <a:t>bijective</a:t>
            </a:r>
            <a:r>
              <a:rPr lang="en-US" dirty="0" smtClean="0"/>
              <a:t>.</a:t>
            </a:r>
          </a:p>
          <a:p>
            <a:endParaRPr lang="en-US" dirty="0" smtClean="0"/>
          </a:p>
          <a:p>
            <a:pPr>
              <a:buNone/>
            </a:pPr>
            <a:r>
              <a:rPr lang="en-US" b="1" dirty="0" smtClean="0"/>
              <a:t>	Example: </a:t>
            </a:r>
            <a:r>
              <a:rPr lang="en-US" dirty="0" smtClean="0"/>
              <a:t>Let </a:t>
            </a:r>
            <a:r>
              <a:rPr lang="en-US" i="1" dirty="0" smtClean="0"/>
              <a:t>f</a:t>
            </a:r>
            <a:r>
              <a:rPr lang="en-US" dirty="0" smtClean="0"/>
              <a:t> be the function from {a, b, c, d } to {1, 2 , 3, 4 } with f(a) = 4, f(b) = 2, f(c) = 1, and f(d)= 3. Is </a:t>
            </a:r>
            <a:r>
              <a:rPr lang="en-US" i="1" dirty="0" smtClean="0"/>
              <a:t>f</a:t>
            </a:r>
            <a:r>
              <a:rPr lang="en-US" dirty="0" smtClean="0"/>
              <a:t> a </a:t>
            </a:r>
            <a:r>
              <a:rPr lang="en-US" dirty="0" err="1" smtClean="0"/>
              <a:t>bijection</a:t>
            </a:r>
            <a:r>
              <a:rPr lang="en-US" dirty="0" smtClean="0"/>
              <a:t>?</a:t>
            </a:r>
          </a:p>
          <a:p>
            <a:pPr lvl="1"/>
            <a:r>
              <a:rPr lang="en-US" dirty="0" smtClean="0"/>
              <a:t>The function </a:t>
            </a:r>
            <a:r>
              <a:rPr lang="en-US" i="1" dirty="0" smtClean="0"/>
              <a:t>f</a:t>
            </a:r>
            <a:r>
              <a:rPr lang="en-US" dirty="0" smtClean="0"/>
              <a:t> is one-to-one because no two values in the domain are assigned the same function value. </a:t>
            </a:r>
          </a:p>
          <a:p>
            <a:pPr lvl="1"/>
            <a:r>
              <a:rPr lang="en-US" dirty="0" smtClean="0"/>
              <a:t>It is onto because all four elements of the </a:t>
            </a:r>
            <a:r>
              <a:rPr lang="en-US" dirty="0" err="1" smtClean="0"/>
              <a:t>codomain</a:t>
            </a:r>
            <a:r>
              <a:rPr lang="en-US" dirty="0" smtClean="0"/>
              <a:t> are images of elements in the domain.</a:t>
            </a:r>
          </a:p>
          <a:p>
            <a:pPr lvl="1"/>
            <a:r>
              <a:rPr lang="en-US" dirty="0" smtClean="0"/>
              <a:t>Hence, </a:t>
            </a:r>
            <a:r>
              <a:rPr lang="en-US" i="1" dirty="0" smtClean="0"/>
              <a:t>f</a:t>
            </a:r>
            <a:r>
              <a:rPr lang="en-US" dirty="0" smtClean="0"/>
              <a:t> is a </a:t>
            </a:r>
            <a:r>
              <a:rPr lang="en-US" dirty="0" err="1" smtClean="0"/>
              <a:t>bijection</a:t>
            </a:r>
            <a:r>
              <a:rPr lang="en-US"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Different Types of Correspondences</a:t>
            </a: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381000" y="1600200"/>
            <a:ext cx="2024575" cy="16764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685800" y="3424989"/>
            <a:ext cx="1295400" cy="613611"/>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cstate="print"/>
          <a:srcRect/>
          <a:stretch>
            <a:fillRect/>
          </a:stretch>
        </p:blipFill>
        <p:spPr bwMode="auto">
          <a:xfrm>
            <a:off x="2743200" y="1524000"/>
            <a:ext cx="2043113" cy="1883721"/>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cstate="print"/>
          <a:srcRect/>
          <a:stretch>
            <a:fillRect/>
          </a:stretch>
        </p:blipFill>
        <p:spPr bwMode="auto">
          <a:xfrm>
            <a:off x="2971800" y="3581400"/>
            <a:ext cx="1200150" cy="521804"/>
          </a:xfrm>
          <a:prstGeom prst="rect">
            <a:avLst/>
          </a:prstGeom>
          <a:noFill/>
          <a:ln w="9525">
            <a:noFill/>
            <a:miter lim="800000"/>
            <a:headEnd/>
            <a:tailEnd/>
          </a:ln>
          <a:effectLst/>
        </p:spPr>
      </p:pic>
      <p:pic>
        <p:nvPicPr>
          <p:cNvPr id="2054" name="Picture 6"/>
          <p:cNvPicPr>
            <a:picLocks noChangeAspect="1" noChangeArrowheads="1"/>
          </p:cNvPicPr>
          <p:nvPr/>
        </p:nvPicPr>
        <p:blipFill>
          <a:blip r:embed="rId6" cstate="print"/>
          <a:srcRect/>
          <a:stretch>
            <a:fillRect/>
          </a:stretch>
        </p:blipFill>
        <p:spPr bwMode="auto">
          <a:xfrm>
            <a:off x="5039671" y="1752600"/>
            <a:ext cx="2123129" cy="1905000"/>
          </a:xfrm>
          <a:prstGeom prst="rect">
            <a:avLst/>
          </a:prstGeom>
          <a:noFill/>
          <a:ln w="9525">
            <a:noFill/>
            <a:miter lim="800000"/>
            <a:headEnd/>
            <a:tailEnd/>
          </a:ln>
          <a:effectLst/>
        </p:spPr>
      </p:pic>
      <p:pic>
        <p:nvPicPr>
          <p:cNvPr id="2055" name="Picture 7"/>
          <p:cNvPicPr>
            <a:picLocks noChangeAspect="1" noChangeArrowheads="1"/>
          </p:cNvPicPr>
          <p:nvPr/>
        </p:nvPicPr>
        <p:blipFill>
          <a:blip r:embed="rId7" cstate="print"/>
          <a:srcRect/>
          <a:stretch>
            <a:fillRect/>
          </a:stretch>
        </p:blipFill>
        <p:spPr bwMode="auto">
          <a:xfrm>
            <a:off x="5791200" y="3505200"/>
            <a:ext cx="1052512" cy="533090"/>
          </a:xfrm>
          <a:prstGeom prst="rect">
            <a:avLst/>
          </a:prstGeom>
          <a:noFill/>
          <a:ln w="9525">
            <a:noFill/>
            <a:miter lim="800000"/>
            <a:headEnd/>
            <a:tailEnd/>
          </a:ln>
          <a:effectLst/>
        </p:spPr>
      </p:pic>
      <p:pic>
        <p:nvPicPr>
          <p:cNvPr id="2056" name="Picture 8"/>
          <p:cNvPicPr>
            <a:picLocks noChangeAspect="1" noChangeArrowheads="1"/>
          </p:cNvPicPr>
          <p:nvPr/>
        </p:nvPicPr>
        <p:blipFill>
          <a:blip r:embed="rId8" cstate="print"/>
          <a:srcRect/>
          <a:stretch>
            <a:fillRect/>
          </a:stretch>
        </p:blipFill>
        <p:spPr bwMode="auto">
          <a:xfrm>
            <a:off x="381000" y="4267200"/>
            <a:ext cx="1905000" cy="1701800"/>
          </a:xfrm>
          <a:prstGeom prst="rect">
            <a:avLst/>
          </a:prstGeom>
          <a:noFill/>
          <a:ln w="9525">
            <a:noFill/>
            <a:miter lim="800000"/>
            <a:headEnd/>
            <a:tailEnd/>
          </a:ln>
          <a:effectLst/>
        </p:spPr>
      </p:pic>
      <p:pic>
        <p:nvPicPr>
          <p:cNvPr id="2057" name="Picture 9"/>
          <p:cNvPicPr>
            <a:picLocks noChangeAspect="1" noChangeArrowheads="1"/>
          </p:cNvPicPr>
          <p:nvPr/>
        </p:nvPicPr>
        <p:blipFill>
          <a:blip r:embed="rId9" cstate="print"/>
          <a:srcRect/>
          <a:stretch>
            <a:fillRect/>
          </a:stretch>
        </p:blipFill>
        <p:spPr bwMode="auto">
          <a:xfrm>
            <a:off x="533400" y="6096000"/>
            <a:ext cx="1524000" cy="552956"/>
          </a:xfrm>
          <a:prstGeom prst="rect">
            <a:avLst/>
          </a:prstGeom>
          <a:noFill/>
          <a:ln w="9525">
            <a:noFill/>
            <a:miter lim="800000"/>
            <a:headEnd/>
            <a:tailEnd/>
          </a:ln>
          <a:effectLst/>
        </p:spPr>
      </p:pic>
      <p:pic>
        <p:nvPicPr>
          <p:cNvPr id="2058" name="Picture 10"/>
          <p:cNvPicPr>
            <a:picLocks noChangeAspect="1" noChangeArrowheads="1"/>
          </p:cNvPicPr>
          <p:nvPr/>
        </p:nvPicPr>
        <p:blipFill>
          <a:blip r:embed="rId10" cstate="print"/>
          <a:srcRect/>
          <a:stretch>
            <a:fillRect/>
          </a:stretch>
        </p:blipFill>
        <p:spPr bwMode="auto">
          <a:xfrm>
            <a:off x="2895600" y="4267200"/>
            <a:ext cx="2133600" cy="1906016"/>
          </a:xfrm>
          <a:prstGeom prst="rect">
            <a:avLst/>
          </a:prstGeom>
          <a:noFill/>
          <a:ln w="9525">
            <a:noFill/>
            <a:miter lim="800000"/>
            <a:headEnd/>
            <a:tailEnd/>
          </a:ln>
          <a:effectLst/>
        </p:spPr>
      </p:pic>
      <p:pic>
        <p:nvPicPr>
          <p:cNvPr id="2059" name="Picture 11"/>
          <p:cNvPicPr>
            <a:picLocks noChangeAspect="1" noChangeArrowheads="1"/>
          </p:cNvPicPr>
          <p:nvPr/>
        </p:nvPicPr>
        <p:blipFill>
          <a:blip r:embed="rId11" cstate="print"/>
          <a:srcRect/>
          <a:stretch>
            <a:fillRect/>
          </a:stretch>
        </p:blipFill>
        <p:spPr bwMode="auto">
          <a:xfrm>
            <a:off x="3429000" y="6173932"/>
            <a:ext cx="1295400" cy="426893"/>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checkerboard(across)">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51"/>
                                        </p:tgtEl>
                                        <p:attrNameLst>
                                          <p:attrName>style.visibility</p:attrName>
                                        </p:attrNameLst>
                                      </p:cBhvr>
                                      <p:to>
                                        <p:strVal val="visible"/>
                                      </p:to>
                                    </p:set>
                                    <p:anim calcmode="lin" valueType="num">
                                      <p:cBhvr additive="base">
                                        <p:cTn id="12" dur="500" fill="hold"/>
                                        <p:tgtEl>
                                          <p:spTgt spid="2051"/>
                                        </p:tgtEl>
                                        <p:attrNameLst>
                                          <p:attrName>ppt_x</p:attrName>
                                        </p:attrNameLst>
                                      </p:cBhvr>
                                      <p:tavLst>
                                        <p:tav tm="0">
                                          <p:val>
                                            <p:strVal val="#ppt_x"/>
                                          </p:val>
                                        </p:tav>
                                        <p:tav tm="100000">
                                          <p:val>
                                            <p:strVal val="#ppt_x"/>
                                          </p:val>
                                        </p:tav>
                                      </p:tavLst>
                                    </p:anim>
                                    <p:anim calcmode="lin" valueType="num">
                                      <p:cBhvr additive="base">
                                        <p:cTn id="13"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checkerboard(across)">
                                      <p:cBhvr>
                                        <p:cTn id="18" dur="500"/>
                                        <p:tgtEl>
                                          <p:spTgt spid="2052"/>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53"/>
                                        </p:tgtEl>
                                        <p:attrNameLst>
                                          <p:attrName>style.visibility</p:attrName>
                                        </p:attrNameLst>
                                      </p:cBhvr>
                                      <p:to>
                                        <p:strVal val="visible"/>
                                      </p:to>
                                    </p:set>
                                    <p:anim calcmode="lin" valueType="num">
                                      <p:cBhvr additive="base">
                                        <p:cTn id="23" dur="500" fill="hold"/>
                                        <p:tgtEl>
                                          <p:spTgt spid="2053"/>
                                        </p:tgtEl>
                                        <p:attrNameLst>
                                          <p:attrName>ppt_x</p:attrName>
                                        </p:attrNameLst>
                                      </p:cBhvr>
                                      <p:tavLst>
                                        <p:tav tm="0">
                                          <p:val>
                                            <p:strVal val="#ppt_x"/>
                                          </p:val>
                                        </p:tav>
                                        <p:tav tm="100000">
                                          <p:val>
                                            <p:strVal val="#ppt_x"/>
                                          </p:val>
                                        </p:tav>
                                      </p:tavLst>
                                    </p:anim>
                                    <p:anim calcmode="lin" valueType="num">
                                      <p:cBhvr additive="base">
                                        <p:cTn id="24" dur="500" fill="hold"/>
                                        <p:tgtEl>
                                          <p:spTgt spid="205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2054"/>
                                        </p:tgtEl>
                                        <p:attrNameLst>
                                          <p:attrName>style.visibility</p:attrName>
                                        </p:attrNameLst>
                                      </p:cBhvr>
                                      <p:to>
                                        <p:strVal val="visible"/>
                                      </p:to>
                                    </p:set>
                                    <p:animEffect transition="in" filter="checkerboard(across)">
                                      <p:cBhvr>
                                        <p:cTn id="29" dur="500"/>
                                        <p:tgtEl>
                                          <p:spTgt spid="205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055"/>
                                        </p:tgtEl>
                                        <p:attrNameLst>
                                          <p:attrName>style.visibility</p:attrName>
                                        </p:attrNameLst>
                                      </p:cBhvr>
                                      <p:to>
                                        <p:strVal val="visible"/>
                                      </p:to>
                                    </p:set>
                                    <p:anim calcmode="lin" valueType="num">
                                      <p:cBhvr additive="base">
                                        <p:cTn id="34" dur="500" fill="hold"/>
                                        <p:tgtEl>
                                          <p:spTgt spid="2055"/>
                                        </p:tgtEl>
                                        <p:attrNameLst>
                                          <p:attrName>ppt_x</p:attrName>
                                        </p:attrNameLst>
                                      </p:cBhvr>
                                      <p:tavLst>
                                        <p:tav tm="0">
                                          <p:val>
                                            <p:strVal val="#ppt_x"/>
                                          </p:val>
                                        </p:tav>
                                        <p:tav tm="100000">
                                          <p:val>
                                            <p:strVal val="#ppt_x"/>
                                          </p:val>
                                        </p:tav>
                                      </p:tavLst>
                                    </p:anim>
                                    <p:anim calcmode="lin" valueType="num">
                                      <p:cBhvr additive="base">
                                        <p:cTn id="35" dur="500" fill="hold"/>
                                        <p:tgtEl>
                                          <p:spTgt spid="205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nodeType="clickEffect">
                                  <p:stCondLst>
                                    <p:cond delay="0"/>
                                  </p:stCondLst>
                                  <p:childTnLst>
                                    <p:set>
                                      <p:cBhvr>
                                        <p:cTn id="39" dur="1" fill="hold">
                                          <p:stCondLst>
                                            <p:cond delay="0"/>
                                          </p:stCondLst>
                                        </p:cTn>
                                        <p:tgtEl>
                                          <p:spTgt spid="2056"/>
                                        </p:tgtEl>
                                        <p:attrNameLst>
                                          <p:attrName>style.visibility</p:attrName>
                                        </p:attrNameLst>
                                      </p:cBhvr>
                                      <p:to>
                                        <p:strVal val="visible"/>
                                      </p:to>
                                    </p:set>
                                    <p:animEffect transition="in" filter="checkerboard(across)">
                                      <p:cBhvr>
                                        <p:cTn id="40" dur="500"/>
                                        <p:tgtEl>
                                          <p:spTgt spid="205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5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8" presetClass="entr" presetSubtype="16" fill="hold" nodeType="clickEffect">
                                  <p:stCondLst>
                                    <p:cond delay="0"/>
                                  </p:stCondLst>
                                  <p:childTnLst>
                                    <p:set>
                                      <p:cBhvr>
                                        <p:cTn id="48" dur="1" fill="hold">
                                          <p:stCondLst>
                                            <p:cond delay="0"/>
                                          </p:stCondLst>
                                        </p:cTn>
                                        <p:tgtEl>
                                          <p:spTgt spid="2058"/>
                                        </p:tgtEl>
                                        <p:attrNameLst>
                                          <p:attrName>style.visibility</p:attrName>
                                        </p:attrNameLst>
                                      </p:cBhvr>
                                      <p:to>
                                        <p:strVal val="visible"/>
                                      </p:to>
                                    </p:set>
                                    <p:animEffect transition="in" filter="diamond(in)">
                                      <p:cBhvr>
                                        <p:cTn id="49" dur="2000"/>
                                        <p:tgtEl>
                                          <p:spTgt spid="2058"/>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059"/>
                                        </p:tgtEl>
                                        <p:attrNameLst>
                                          <p:attrName>style.visibility</p:attrName>
                                        </p:attrNameLst>
                                      </p:cBhvr>
                                      <p:to>
                                        <p:strVal val="visible"/>
                                      </p:to>
                                    </p:set>
                                    <p:anim calcmode="lin" valueType="num">
                                      <p:cBhvr additive="base">
                                        <p:cTn id="54" dur="500" fill="hold"/>
                                        <p:tgtEl>
                                          <p:spTgt spid="2059"/>
                                        </p:tgtEl>
                                        <p:attrNameLst>
                                          <p:attrName>ppt_x</p:attrName>
                                        </p:attrNameLst>
                                      </p:cBhvr>
                                      <p:tavLst>
                                        <p:tav tm="0">
                                          <p:val>
                                            <p:strVal val="#ppt_x"/>
                                          </p:val>
                                        </p:tav>
                                        <p:tav tm="100000">
                                          <p:val>
                                            <p:strVal val="#ppt_x"/>
                                          </p:val>
                                        </p:tav>
                                      </p:tavLst>
                                    </p:anim>
                                    <p:anim calcmode="lin" valueType="num">
                                      <p:cBhvr additive="base">
                                        <p:cTn id="55" dur="500" fill="hold"/>
                                        <p:tgtEl>
                                          <p:spTgt spid="20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Identity function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Let </a:t>
            </a:r>
            <a:r>
              <a:rPr lang="en-US" i="1" dirty="0" smtClean="0"/>
              <a:t>f</a:t>
            </a:r>
            <a:r>
              <a:rPr lang="en-US" dirty="0" smtClean="0"/>
              <a:t> is a function from a </a:t>
            </a:r>
            <a:r>
              <a:rPr lang="en-US" b="1" dirty="0" smtClean="0">
                <a:solidFill>
                  <a:srgbClr val="FF0000"/>
                </a:solidFill>
              </a:rPr>
              <a:t>set A to itself</a:t>
            </a:r>
            <a:r>
              <a:rPr lang="en-US" dirty="0" smtClean="0"/>
              <a:t>. If </a:t>
            </a:r>
            <a:r>
              <a:rPr lang="en-US" b="1" dirty="0" smtClean="0">
                <a:solidFill>
                  <a:srgbClr val="FF0000"/>
                </a:solidFill>
              </a:rPr>
              <a:t>A is finite</a:t>
            </a:r>
            <a:r>
              <a:rPr lang="en-US" dirty="0" smtClean="0"/>
              <a:t>, then </a:t>
            </a:r>
            <a:r>
              <a:rPr lang="en-US" i="1" dirty="0" smtClean="0"/>
              <a:t>f</a:t>
            </a:r>
            <a:r>
              <a:rPr lang="en-US" dirty="0" smtClean="0"/>
              <a:t> is </a:t>
            </a:r>
            <a:r>
              <a:rPr lang="en-US" b="1" dirty="0" smtClean="0">
                <a:solidFill>
                  <a:srgbClr val="FF0000"/>
                </a:solidFill>
              </a:rPr>
              <a:t>one-to-one if and only if it is onto.</a:t>
            </a:r>
          </a:p>
          <a:p>
            <a:r>
              <a:rPr lang="en-US" dirty="0" smtClean="0"/>
              <a:t>Let A be a set. The </a:t>
            </a:r>
            <a:r>
              <a:rPr lang="en-US" b="1" dirty="0" smtClean="0">
                <a:solidFill>
                  <a:srgbClr val="FF0000"/>
                </a:solidFill>
              </a:rPr>
              <a:t>identity function on A </a:t>
            </a:r>
            <a:r>
              <a:rPr lang="en-US" dirty="0" smtClean="0"/>
              <a:t>is the function </a:t>
            </a:r>
            <a:r>
              <a:rPr lang="en-US" b="1" dirty="0" err="1" smtClean="0">
                <a:solidFill>
                  <a:srgbClr val="FF0000"/>
                </a:solidFill>
              </a:rPr>
              <a:t>ιA</a:t>
            </a:r>
            <a:r>
              <a:rPr lang="en-US" b="1" dirty="0" smtClean="0">
                <a:solidFill>
                  <a:srgbClr val="FF0000"/>
                </a:solidFill>
              </a:rPr>
              <a:t>: A →A, where </a:t>
            </a:r>
            <a:r>
              <a:rPr lang="en-US" b="1" dirty="0" err="1" smtClean="0">
                <a:solidFill>
                  <a:srgbClr val="FF0000"/>
                </a:solidFill>
              </a:rPr>
              <a:t>ιA</a:t>
            </a:r>
            <a:r>
              <a:rPr lang="en-US" b="1" dirty="0" smtClean="0">
                <a:solidFill>
                  <a:srgbClr val="FF0000"/>
                </a:solidFill>
              </a:rPr>
              <a:t>(x) = x for all x ∈ A</a:t>
            </a:r>
            <a:r>
              <a:rPr lang="en-US" dirty="0" smtClean="0"/>
              <a:t>. In other words, the identity function </a:t>
            </a:r>
            <a:r>
              <a:rPr lang="en-US" dirty="0" err="1" smtClean="0"/>
              <a:t>ιA</a:t>
            </a:r>
            <a:r>
              <a:rPr lang="en-US" dirty="0" smtClean="0"/>
              <a:t> is the function that assigns each element to itself. The </a:t>
            </a:r>
            <a:r>
              <a:rPr lang="en-US" b="1" dirty="0" smtClean="0">
                <a:solidFill>
                  <a:srgbClr val="FF0000"/>
                </a:solidFill>
              </a:rPr>
              <a:t>function </a:t>
            </a:r>
            <a:r>
              <a:rPr lang="en-US" b="1" dirty="0" err="1" smtClean="0">
                <a:solidFill>
                  <a:srgbClr val="FF0000"/>
                </a:solidFill>
              </a:rPr>
              <a:t>ιA</a:t>
            </a:r>
            <a:r>
              <a:rPr lang="en-US" b="1" dirty="0" smtClean="0">
                <a:solidFill>
                  <a:srgbClr val="FF0000"/>
                </a:solidFill>
              </a:rPr>
              <a:t> is one-to-one and onto, so it is a </a:t>
            </a:r>
            <a:r>
              <a:rPr lang="en-US" b="1" dirty="0" err="1" smtClean="0">
                <a:solidFill>
                  <a:srgbClr val="FF0000"/>
                </a:solidFill>
              </a:rPr>
              <a:t>bijection</a:t>
            </a:r>
            <a:r>
              <a:rPr lang="en-US" b="1" dirty="0" smtClean="0">
                <a:solidFill>
                  <a:srgbClr val="FF0000"/>
                </a:solidFill>
              </a:rPr>
              <a:t>. </a:t>
            </a:r>
          </a:p>
          <a:p>
            <a:r>
              <a:rPr lang="en-US" dirty="0" smtClean="0"/>
              <a:t>(Note that ι is the Greek letter iota.)</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Inverse Functions</a:t>
            </a:r>
            <a:endParaRPr lang="en-US" dirty="0"/>
          </a:p>
        </p:txBody>
      </p:sp>
      <p:sp>
        <p:nvSpPr>
          <p:cNvPr id="3" name="Content Placeholder 2"/>
          <p:cNvSpPr>
            <a:spLocks noGrp="1"/>
          </p:cNvSpPr>
          <p:nvPr>
            <p:ph idx="1"/>
          </p:nvPr>
        </p:nvSpPr>
        <p:spPr/>
        <p:txBody>
          <a:bodyPr>
            <a:normAutofit/>
          </a:bodyPr>
          <a:lstStyle/>
          <a:p>
            <a:r>
              <a:rPr lang="en-US" dirty="0" smtClean="0"/>
              <a:t>Let </a:t>
            </a:r>
            <a:r>
              <a:rPr lang="en-US" i="1" dirty="0" smtClean="0"/>
              <a:t>f</a:t>
            </a:r>
            <a:r>
              <a:rPr lang="en-US" dirty="0" smtClean="0"/>
              <a:t> be a </a:t>
            </a:r>
            <a:r>
              <a:rPr lang="en-US" b="1" dirty="0" smtClean="0">
                <a:solidFill>
                  <a:srgbClr val="FF0000"/>
                </a:solidFill>
              </a:rPr>
              <a:t>one-to-one correspondence </a:t>
            </a:r>
            <a:r>
              <a:rPr lang="en-US" dirty="0" smtClean="0"/>
              <a:t>from the set A to the set B . The inverse function of </a:t>
            </a:r>
            <a:r>
              <a:rPr lang="en-US" i="1" dirty="0" smtClean="0"/>
              <a:t>f</a:t>
            </a:r>
            <a:r>
              <a:rPr lang="en-US" dirty="0" smtClean="0"/>
              <a:t> is the function that assigns to an </a:t>
            </a:r>
            <a:r>
              <a:rPr lang="en-US" b="1" dirty="0" smtClean="0">
                <a:solidFill>
                  <a:srgbClr val="FF0000"/>
                </a:solidFill>
              </a:rPr>
              <a:t>element b belonging to B the unique element a in A </a:t>
            </a:r>
            <a:r>
              <a:rPr lang="en-US" dirty="0" smtClean="0"/>
              <a:t>such that </a:t>
            </a:r>
            <a:r>
              <a:rPr lang="en-US" b="1" dirty="0" smtClean="0">
                <a:solidFill>
                  <a:srgbClr val="FF0000"/>
                </a:solidFill>
              </a:rPr>
              <a:t>f(a) = b </a:t>
            </a:r>
            <a:r>
              <a:rPr lang="en-US" dirty="0" smtClean="0"/>
              <a:t>. The inverse function of </a:t>
            </a:r>
            <a:r>
              <a:rPr lang="en-US" i="1" dirty="0" smtClean="0"/>
              <a:t>f</a:t>
            </a:r>
            <a:r>
              <a:rPr lang="en-US" dirty="0" smtClean="0"/>
              <a:t> is denoted by f</a:t>
            </a:r>
            <a:r>
              <a:rPr lang="en-US" baseline="30000" dirty="0" smtClean="0"/>
              <a:t>−1</a:t>
            </a:r>
            <a:r>
              <a:rPr lang="en-US" dirty="0" smtClean="0"/>
              <a:t>. </a:t>
            </a:r>
          </a:p>
          <a:p>
            <a:r>
              <a:rPr lang="en-US" dirty="0" smtClean="0"/>
              <a:t>Hence, </a:t>
            </a:r>
            <a:r>
              <a:rPr lang="en-US" b="1" dirty="0" smtClean="0">
                <a:solidFill>
                  <a:srgbClr val="FF0000"/>
                </a:solidFill>
              </a:rPr>
              <a:t>f</a:t>
            </a:r>
            <a:r>
              <a:rPr lang="en-US" b="1" baseline="30000" dirty="0" smtClean="0">
                <a:solidFill>
                  <a:srgbClr val="FF0000"/>
                </a:solidFill>
              </a:rPr>
              <a:t>−1</a:t>
            </a:r>
            <a:r>
              <a:rPr lang="en-US" b="1" dirty="0" smtClean="0">
                <a:solidFill>
                  <a:srgbClr val="FF0000"/>
                </a:solidFill>
              </a:rPr>
              <a:t>(b) = a </a:t>
            </a:r>
            <a:r>
              <a:rPr lang="en-US" dirty="0" smtClean="0"/>
              <a:t>when </a:t>
            </a:r>
            <a:r>
              <a:rPr lang="en-US" b="1" dirty="0" smtClean="0">
                <a:solidFill>
                  <a:srgbClr val="FF0000"/>
                </a:solidFill>
              </a:rPr>
              <a:t>f(a) = b </a:t>
            </a:r>
            <a:r>
              <a:rPr lang="en-US" dirty="0" smtClean="0"/>
              <a:t>.</a:t>
            </a:r>
          </a:p>
          <a:p>
            <a:endParaRPr lang="en-US" dirty="0"/>
          </a:p>
        </p:txBody>
      </p:sp>
      <p:sp>
        <p:nvSpPr>
          <p:cNvPr id="4" name="Rectangle 3"/>
          <p:cNvSpPr/>
          <p:nvPr/>
        </p:nvSpPr>
        <p:spPr>
          <a:xfrm>
            <a:off x="457200" y="5257800"/>
            <a:ext cx="8534400" cy="16002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smtClean="0">
                <a:solidFill>
                  <a:schemeClr val="bg1"/>
                </a:solidFill>
              </a:rPr>
              <a:t>Be sure </a:t>
            </a:r>
            <a:r>
              <a:rPr lang="en-US" sz="2800" b="1" dirty="0" smtClean="0">
                <a:solidFill>
                  <a:srgbClr val="FFFF00"/>
                </a:solidFill>
              </a:rPr>
              <a:t>not to confuse</a:t>
            </a:r>
            <a:r>
              <a:rPr lang="en-US" sz="2800" b="1" dirty="0" smtClean="0">
                <a:solidFill>
                  <a:schemeClr val="bg1"/>
                </a:solidFill>
              </a:rPr>
              <a:t> the function </a:t>
            </a:r>
            <a:r>
              <a:rPr lang="en-US" sz="2800" b="1" dirty="0" smtClean="0">
                <a:solidFill>
                  <a:srgbClr val="FFFF00"/>
                </a:solidFill>
              </a:rPr>
              <a:t>f</a:t>
            </a:r>
            <a:r>
              <a:rPr lang="en-US" sz="2800" b="1" baseline="30000" dirty="0" smtClean="0">
                <a:solidFill>
                  <a:srgbClr val="FFFF00"/>
                </a:solidFill>
              </a:rPr>
              <a:t>−1</a:t>
            </a:r>
            <a:r>
              <a:rPr lang="en-US" sz="2800" b="1" baseline="30000" dirty="0" smtClean="0">
                <a:solidFill>
                  <a:schemeClr val="bg1"/>
                </a:solidFill>
              </a:rPr>
              <a:t> </a:t>
            </a:r>
            <a:r>
              <a:rPr lang="en-US" sz="2800" b="1" dirty="0" smtClean="0">
                <a:solidFill>
                  <a:schemeClr val="bg1"/>
                </a:solidFill>
              </a:rPr>
              <a:t>with the function </a:t>
            </a:r>
            <a:r>
              <a:rPr lang="en-US" sz="2800" b="1" dirty="0" smtClean="0">
                <a:solidFill>
                  <a:srgbClr val="FFFF00"/>
                </a:solidFill>
              </a:rPr>
              <a:t>1/f</a:t>
            </a:r>
            <a:r>
              <a:rPr lang="en-US" sz="2800" b="1" dirty="0" smtClean="0">
                <a:solidFill>
                  <a:schemeClr val="bg1"/>
                </a:solidFill>
              </a:rPr>
              <a:t> , which is the function that assigns to </a:t>
            </a:r>
          </a:p>
          <a:p>
            <a:r>
              <a:rPr lang="en-US" sz="2800" b="1" dirty="0" smtClean="0">
                <a:solidFill>
                  <a:schemeClr val="bg1"/>
                </a:solidFill>
              </a:rPr>
              <a:t>each x in the domain the value 1/f (x) .</a:t>
            </a:r>
            <a:endParaRPr 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609600" y="2743200"/>
            <a:ext cx="7543800" cy="28194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smtClean="0">
                <a:solidFill>
                  <a:schemeClr val="bg1"/>
                </a:solidFill>
              </a:rPr>
              <a:t>A one-to-one correspondence is called </a:t>
            </a:r>
            <a:r>
              <a:rPr lang="en-US" sz="2800" b="1" dirty="0" smtClean="0">
                <a:solidFill>
                  <a:srgbClr val="FFFF00"/>
                </a:solidFill>
              </a:rPr>
              <a:t>invertible</a:t>
            </a:r>
            <a:r>
              <a:rPr lang="en-US" sz="2800" b="1" dirty="0" smtClean="0">
                <a:solidFill>
                  <a:srgbClr val="FF0000"/>
                </a:solidFill>
              </a:rPr>
              <a:t> </a:t>
            </a:r>
            <a:r>
              <a:rPr lang="en-US" sz="2800" b="1" dirty="0" smtClean="0">
                <a:solidFill>
                  <a:schemeClr val="bg1"/>
                </a:solidFill>
              </a:rPr>
              <a:t>because we can define an inverse of this function. A function is not </a:t>
            </a:r>
            <a:r>
              <a:rPr lang="en-US" sz="2800" b="1" dirty="0" smtClean="0">
                <a:solidFill>
                  <a:srgbClr val="FFFF00"/>
                </a:solidFill>
              </a:rPr>
              <a:t>invertible if it is not a one-to-one correspondence, </a:t>
            </a:r>
            <a:r>
              <a:rPr lang="en-US" sz="2800" b="1" dirty="0" smtClean="0">
                <a:solidFill>
                  <a:schemeClr val="bg1"/>
                </a:solidFill>
              </a:rPr>
              <a:t>because the</a:t>
            </a:r>
          </a:p>
          <a:p>
            <a:r>
              <a:rPr lang="en-US" sz="2800" b="1" dirty="0" smtClean="0">
                <a:solidFill>
                  <a:schemeClr val="bg1"/>
                </a:solidFill>
              </a:rPr>
              <a:t>inverse of such a function does not exist. </a:t>
            </a:r>
            <a:endParaRPr lang="en-US" sz="28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775191"/>
            <a:ext cx="8458200" cy="4625609"/>
          </a:xfrm>
        </p:spPr>
        <p:txBody>
          <a:bodyPr>
            <a:normAutofit/>
          </a:bodyPr>
          <a:lstStyle/>
          <a:p>
            <a:r>
              <a:rPr lang="en-US" dirty="0" smtClean="0"/>
              <a:t>Let </a:t>
            </a:r>
            <a:r>
              <a:rPr lang="en-US" i="1" dirty="0" smtClean="0"/>
              <a:t>f</a:t>
            </a:r>
            <a:r>
              <a:rPr lang="en-US" dirty="0" smtClean="0"/>
              <a:t> be the function from {a, b, c} to {1, 2 , 3} such that f(a) = 2, f(b) = 3, and f(c) = 1. Is </a:t>
            </a:r>
            <a:r>
              <a:rPr lang="en-US" i="1" dirty="0" smtClean="0"/>
              <a:t>f</a:t>
            </a:r>
            <a:r>
              <a:rPr lang="en-US" dirty="0" smtClean="0"/>
              <a:t> invertible, and if it is, what is its inverse?</a:t>
            </a:r>
          </a:p>
          <a:p>
            <a:pPr lvl="1"/>
            <a:r>
              <a:rPr lang="en-US" dirty="0" smtClean="0"/>
              <a:t>The function </a:t>
            </a:r>
            <a:r>
              <a:rPr lang="en-US" i="1" dirty="0" smtClean="0"/>
              <a:t>f</a:t>
            </a:r>
            <a:r>
              <a:rPr lang="en-US" dirty="0" smtClean="0"/>
              <a:t> is invertible because it is a one-to-one correspondence. The inverse function f</a:t>
            </a:r>
            <a:r>
              <a:rPr lang="en-US" baseline="30000" dirty="0" smtClean="0"/>
              <a:t>−1 </a:t>
            </a:r>
            <a:r>
              <a:rPr lang="en-US" dirty="0" smtClean="0"/>
              <a:t>reverses the correspondence given by f ,</a:t>
            </a:r>
          </a:p>
          <a:p>
            <a:pPr lvl="1"/>
            <a:r>
              <a:rPr lang="en-US" dirty="0" smtClean="0"/>
              <a:t>so f</a:t>
            </a:r>
            <a:r>
              <a:rPr lang="en-US" baseline="30000" dirty="0" smtClean="0"/>
              <a:t>−1</a:t>
            </a:r>
            <a:r>
              <a:rPr lang="en-US" dirty="0" smtClean="0"/>
              <a:t>(1) = c , f</a:t>
            </a:r>
            <a:r>
              <a:rPr lang="en-US" baseline="30000" dirty="0" smtClean="0"/>
              <a:t>−1</a:t>
            </a:r>
            <a:r>
              <a:rPr lang="en-US" dirty="0" smtClean="0"/>
              <a:t>(2 ) = a , and f</a:t>
            </a:r>
            <a:r>
              <a:rPr lang="en-US" baseline="30000" dirty="0" smtClean="0"/>
              <a:t>−1</a:t>
            </a:r>
            <a:r>
              <a:rPr lang="en-US" dirty="0" smtClean="0"/>
              <a:t>(3) = 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smtClean="0"/>
              <a:t>Let </a:t>
            </a:r>
            <a:r>
              <a:rPr lang="en-US" i="1" dirty="0" smtClean="0"/>
              <a:t>f</a:t>
            </a:r>
            <a:r>
              <a:rPr lang="en-US" dirty="0" smtClean="0"/>
              <a:t> be the function from R to R with f(x)= x</a:t>
            </a:r>
            <a:r>
              <a:rPr lang="en-US" baseline="30000" dirty="0" smtClean="0"/>
              <a:t>2</a:t>
            </a:r>
            <a:r>
              <a:rPr lang="en-US" dirty="0" smtClean="0"/>
              <a:t>. Is </a:t>
            </a:r>
            <a:r>
              <a:rPr lang="en-US" i="1" dirty="0" smtClean="0"/>
              <a:t>f</a:t>
            </a:r>
            <a:r>
              <a:rPr lang="en-US" dirty="0" smtClean="0"/>
              <a:t> invertible?</a:t>
            </a:r>
          </a:p>
          <a:p>
            <a:pPr lvl="1"/>
            <a:r>
              <a:rPr lang="en-US" dirty="0" smtClean="0"/>
              <a:t>Because f(−2)= f(2) = 4, </a:t>
            </a:r>
            <a:r>
              <a:rPr lang="en-US" i="1" dirty="0" smtClean="0"/>
              <a:t>f</a:t>
            </a:r>
            <a:r>
              <a:rPr lang="en-US" dirty="0" smtClean="0"/>
              <a:t> is not one-to-one. If an inverse function were defined, it would have to assign two elements to 4. Hence, f is not invertible.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Compositions of Functions</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457200" y="1752600"/>
            <a:ext cx="8686800" cy="20859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1295400" y="3886200"/>
            <a:ext cx="6248400" cy="26289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diamond(in)">
                                      <p:cBhvr>
                                        <p:cTn id="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Compositions of Functions…</a:t>
            </a:r>
            <a:endParaRPr lang="en-US" dirty="0"/>
          </a:p>
        </p:txBody>
      </p:sp>
      <p:sp>
        <p:nvSpPr>
          <p:cNvPr id="3" name="Content Placeholder 2"/>
          <p:cNvSpPr>
            <a:spLocks noGrp="1"/>
          </p:cNvSpPr>
          <p:nvPr>
            <p:ph idx="1"/>
          </p:nvPr>
        </p:nvSpPr>
        <p:spPr>
          <a:xfrm>
            <a:off x="457200" y="1775191"/>
            <a:ext cx="8382000" cy="4625609"/>
          </a:xfrm>
        </p:spPr>
        <p:txBody>
          <a:bodyPr/>
          <a:lstStyle/>
          <a:p>
            <a:r>
              <a:rPr lang="en-US" dirty="0" smtClean="0"/>
              <a:t>To find (f ◦ g)(a)we first apply the function g to a to obtain g(a) </a:t>
            </a:r>
          </a:p>
          <a:p>
            <a:r>
              <a:rPr lang="en-US" dirty="0" smtClean="0"/>
              <a:t>Then apply the function f to the result g(a) to obtain (f ◦ g)(a)= f(g(a)). </a:t>
            </a:r>
          </a:p>
        </p:txBody>
      </p:sp>
      <p:sp>
        <p:nvSpPr>
          <p:cNvPr id="4" name="Rectangle 3"/>
          <p:cNvSpPr/>
          <p:nvPr/>
        </p:nvSpPr>
        <p:spPr>
          <a:xfrm>
            <a:off x="457200" y="4419600"/>
            <a:ext cx="8229600" cy="1524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smtClean="0"/>
              <a:t>Note that the composition </a:t>
            </a:r>
            <a:r>
              <a:rPr lang="en-US" sz="2800" b="1" dirty="0" smtClean="0">
                <a:solidFill>
                  <a:srgbClr val="FFFF00"/>
                </a:solidFill>
              </a:rPr>
              <a:t>f ◦ g</a:t>
            </a:r>
            <a:r>
              <a:rPr lang="en-US" sz="2800" b="1" dirty="0" smtClean="0"/>
              <a:t> </a:t>
            </a:r>
            <a:r>
              <a:rPr lang="en-US" sz="2800" b="1" dirty="0" smtClean="0">
                <a:solidFill>
                  <a:srgbClr val="FFFF00"/>
                </a:solidFill>
              </a:rPr>
              <a:t>cannot</a:t>
            </a:r>
            <a:r>
              <a:rPr lang="en-US" sz="2800" b="1" dirty="0" smtClean="0"/>
              <a:t> be </a:t>
            </a:r>
            <a:r>
              <a:rPr lang="en-US" sz="2800" b="1" dirty="0" smtClean="0">
                <a:solidFill>
                  <a:srgbClr val="FFFF00"/>
                </a:solidFill>
              </a:rPr>
              <a:t>defined </a:t>
            </a:r>
            <a:r>
              <a:rPr lang="en-US" sz="2800" b="1" dirty="0" smtClean="0"/>
              <a:t>unless the </a:t>
            </a:r>
            <a:r>
              <a:rPr lang="en-US" sz="2800" b="1" dirty="0" smtClean="0">
                <a:solidFill>
                  <a:srgbClr val="FFFF00"/>
                </a:solidFill>
              </a:rPr>
              <a:t>range of g </a:t>
            </a:r>
            <a:r>
              <a:rPr lang="en-US" sz="2800" b="1" dirty="0" smtClean="0"/>
              <a:t>is a </a:t>
            </a:r>
            <a:r>
              <a:rPr lang="en-US" sz="2800" b="1" dirty="0" smtClean="0">
                <a:solidFill>
                  <a:srgbClr val="FFFF00"/>
                </a:solidFill>
              </a:rPr>
              <a:t>subset </a:t>
            </a:r>
            <a:r>
              <a:rPr lang="en-US" sz="2800" b="1" dirty="0" smtClean="0"/>
              <a:t>of the </a:t>
            </a:r>
            <a:r>
              <a:rPr lang="en-US" sz="2800" b="1" dirty="0" smtClean="0">
                <a:solidFill>
                  <a:srgbClr val="FFFF00"/>
                </a:solidFill>
              </a:rPr>
              <a:t>domain of </a:t>
            </a:r>
            <a:r>
              <a:rPr lang="en-US" sz="2800" b="1" i="1" dirty="0" smtClean="0">
                <a:solidFill>
                  <a:srgbClr val="FFFF00"/>
                </a:solidFill>
              </a:rPr>
              <a:t>f</a:t>
            </a:r>
            <a:r>
              <a:rPr lang="en-US" sz="2800" b="1" dirty="0" smtClean="0"/>
              <a:t> .</a:t>
            </a:r>
            <a:endParaRPr 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775191"/>
            <a:ext cx="8305800" cy="4625609"/>
          </a:xfrm>
        </p:spPr>
        <p:txBody>
          <a:bodyPr>
            <a:normAutofit fontScale="85000" lnSpcReduction="20000"/>
          </a:bodyPr>
          <a:lstStyle/>
          <a:p>
            <a:r>
              <a:rPr lang="en-US" dirty="0" smtClean="0"/>
              <a:t>Let g be the function from the set {a, b, c} to itself such that g(a) = b , g(b) = c , and g(c) = a . Let f be the function from the set {a, b, c} to the set {1, 2 , 3} such that f(a) = 3, f(b) = 2, and f(c) = 1. What is the composition of  f and g , and what is the composition of g and f .</a:t>
            </a:r>
          </a:p>
          <a:p>
            <a:pPr lvl="1"/>
            <a:r>
              <a:rPr lang="en-US" dirty="0" smtClean="0"/>
              <a:t>The composition f ◦ g is defined by </a:t>
            </a:r>
          </a:p>
          <a:p>
            <a:pPr lvl="1"/>
            <a:r>
              <a:rPr lang="en-US" dirty="0" smtClean="0"/>
              <a:t>(f ◦ g)(a)= f(g(a))= f(b) = 2, </a:t>
            </a:r>
          </a:p>
          <a:p>
            <a:pPr lvl="1"/>
            <a:r>
              <a:rPr lang="en-US" dirty="0" smtClean="0"/>
              <a:t>(f ◦ g) (b) = f(g(b))= f(c) = 1</a:t>
            </a:r>
          </a:p>
          <a:p>
            <a:pPr lvl="1"/>
            <a:r>
              <a:rPr lang="en-US" dirty="0" smtClean="0"/>
              <a:t>(f ◦ g)(c)= f(g(c))= f(a) = 3.</a:t>
            </a:r>
          </a:p>
          <a:p>
            <a:pPr lvl="1"/>
            <a:r>
              <a:rPr lang="en-US" dirty="0" smtClean="0"/>
              <a:t>Note that g ◦ f is not defined, because the range of f is not a subset of the domain of g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152400" y="1775191"/>
            <a:ext cx="8763000" cy="4625609"/>
          </a:xfrm>
        </p:spPr>
        <p:txBody>
          <a:bodyPr>
            <a:normAutofit/>
          </a:bodyPr>
          <a:lstStyle/>
          <a:p>
            <a:r>
              <a:rPr lang="en-US" sz="2800" dirty="0" smtClean="0"/>
              <a:t>Let f and g be the functions from the set of integers to the set of integers defined by f(x)= 2 x + 3 and   g(x) = 3x + 2. What is the composition of f and g ? What is the com-position of g and f ?</a:t>
            </a:r>
          </a:p>
          <a:p>
            <a:pPr lvl="1"/>
            <a:r>
              <a:rPr lang="en-US" dirty="0" smtClean="0"/>
              <a:t>Both the compositions f ◦ g and g ◦ f are defined. </a:t>
            </a:r>
          </a:p>
          <a:p>
            <a:pPr lvl="1"/>
            <a:r>
              <a:rPr lang="en-US" dirty="0" smtClean="0"/>
              <a:t>(f ◦ g)(x)= f(g(x))= f(3x + 2 ) = 2 (3x + 2 ) + 3 = 6x + 7</a:t>
            </a:r>
          </a:p>
          <a:p>
            <a:pPr lvl="1"/>
            <a:r>
              <a:rPr lang="en-US" dirty="0" smtClean="0"/>
              <a:t>(g◦ f )(x) =g(f (x)) =g( 2 x + 3) =3(2 x + 3)+ 2 =6x +11.</a:t>
            </a:r>
            <a:endParaRPr lang="en-US" dirty="0"/>
          </a:p>
        </p:txBody>
      </p:sp>
      <p:sp>
        <p:nvSpPr>
          <p:cNvPr id="4" name="Rectangle 3"/>
          <p:cNvSpPr/>
          <p:nvPr/>
        </p:nvSpPr>
        <p:spPr>
          <a:xfrm>
            <a:off x="457200" y="5486400"/>
            <a:ext cx="8686800" cy="12192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smtClean="0"/>
              <a:t>     The commutative law does not hold for the  composition of functions. </a:t>
            </a:r>
            <a:r>
              <a:rPr lang="en-US" sz="2800" b="1" dirty="0" smtClean="0">
                <a:solidFill>
                  <a:srgbClr val="FFFF00"/>
                </a:solidFill>
              </a:rPr>
              <a:t>f ◦ g and g ◦ f are not equal.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Graphs of Functions</a:t>
            </a:r>
            <a:endParaRPr lang="en-US" dirty="0"/>
          </a:p>
        </p:txBody>
      </p:sp>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457200" y="1828800"/>
            <a:ext cx="7924800" cy="11083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smtClean="0"/>
              <a:t>Display the graph of the function </a:t>
            </a:r>
          </a:p>
          <a:p>
            <a:pPr>
              <a:buNone/>
            </a:pPr>
            <a:r>
              <a:rPr lang="en-US" dirty="0" smtClean="0"/>
              <a:t>	f (n) = 2 n + 1 from the set of integers to the set of integers.</a:t>
            </a:r>
          </a:p>
          <a:p>
            <a:pPr lvl="1"/>
            <a:r>
              <a:rPr lang="en-US" dirty="0" smtClean="0"/>
              <a:t>The graph off is the set of ordered pairs of the form (n, 2 n + 1), </a:t>
            </a:r>
          </a:p>
          <a:p>
            <a:pPr lvl="1"/>
            <a:r>
              <a:rPr lang="en-US" dirty="0" smtClean="0"/>
              <a:t>where n is an integer.</a:t>
            </a:r>
            <a:endParaRPr lang="en-US" dirty="0"/>
          </a:p>
        </p:txBody>
      </p:sp>
      <p:pic>
        <p:nvPicPr>
          <p:cNvPr id="4" name="Picture 4"/>
          <p:cNvPicPr>
            <a:picLocks noChangeAspect="1" noChangeArrowheads="1"/>
          </p:cNvPicPr>
          <p:nvPr/>
        </p:nvPicPr>
        <p:blipFill>
          <a:blip r:embed="rId2" cstate="print"/>
          <a:srcRect/>
          <a:stretch>
            <a:fillRect/>
          </a:stretch>
        </p:blipFill>
        <p:spPr bwMode="auto">
          <a:xfrm>
            <a:off x="5867400" y="3962400"/>
            <a:ext cx="3276600" cy="2895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smtClean="0"/>
              <a:t>Display the graph of the function f(x)= x</a:t>
            </a:r>
            <a:r>
              <a:rPr lang="en-US" baseline="30000" dirty="0" smtClean="0"/>
              <a:t>2</a:t>
            </a:r>
          </a:p>
          <a:p>
            <a:r>
              <a:rPr lang="en-US" dirty="0" smtClean="0"/>
              <a:t>from the set of integers to the set of integers.</a:t>
            </a:r>
          </a:p>
          <a:p>
            <a:pPr lvl="1"/>
            <a:r>
              <a:rPr lang="en-US" dirty="0" smtClean="0"/>
              <a:t>The graph of f is the set of ordered pairs of the form (x, f (x)) = (x, x</a:t>
            </a:r>
            <a:r>
              <a:rPr lang="en-US" baseline="30000" dirty="0" smtClean="0"/>
              <a:t>2</a:t>
            </a:r>
            <a:r>
              <a:rPr lang="en-US" dirty="0" smtClean="0"/>
              <a:t>), where x is an integer. </a:t>
            </a:r>
            <a:endParaRPr lang="en-US" dirty="0"/>
          </a:p>
        </p:txBody>
      </p:sp>
      <p:pic>
        <p:nvPicPr>
          <p:cNvPr id="3077" name="Picture 5"/>
          <p:cNvPicPr>
            <a:picLocks noChangeAspect="1" noChangeArrowheads="1"/>
          </p:cNvPicPr>
          <p:nvPr/>
        </p:nvPicPr>
        <p:blipFill>
          <a:blip r:embed="rId2" cstate="print"/>
          <a:srcRect/>
          <a:stretch>
            <a:fillRect/>
          </a:stretch>
        </p:blipFill>
        <p:spPr bwMode="auto">
          <a:xfrm>
            <a:off x="5334000" y="3733800"/>
            <a:ext cx="3429000" cy="31242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Important Functions</a:t>
            </a:r>
            <a:endParaRPr lang="en-US" dirty="0"/>
          </a:p>
        </p:txBody>
      </p:sp>
      <p:sp>
        <p:nvSpPr>
          <p:cNvPr id="3" name="Content Placeholder 2"/>
          <p:cNvSpPr>
            <a:spLocks noGrp="1"/>
          </p:cNvSpPr>
          <p:nvPr>
            <p:ph idx="1"/>
          </p:nvPr>
        </p:nvSpPr>
        <p:spPr/>
        <p:txBody>
          <a:bodyPr/>
          <a:lstStyle/>
          <a:p>
            <a:r>
              <a:rPr lang="en-US" dirty="0" smtClean="0"/>
              <a:t>The </a:t>
            </a:r>
            <a:r>
              <a:rPr lang="en-US" b="1" dirty="0" smtClean="0">
                <a:solidFill>
                  <a:srgbClr val="FF0000"/>
                </a:solidFill>
              </a:rPr>
              <a:t>floor function </a:t>
            </a:r>
            <a:r>
              <a:rPr lang="en-US" dirty="0" smtClean="0"/>
              <a:t>rounds x </a:t>
            </a:r>
            <a:r>
              <a:rPr lang="en-US" b="1" dirty="0" smtClean="0">
                <a:solidFill>
                  <a:srgbClr val="FF0000"/>
                </a:solidFill>
              </a:rPr>
              <a:t>down</a:t>
            </a:r>
            <a:r>
              <a:rPr lang="en-US" dirty="0" smtClean="0"/>
              <a:t> to the closest integer </a:t>
            </a:r>
            <a:r>
              <a:rPr lang="en-US" b="1" dirty="0" smtClean="0">
                <a:solidFill>
                  <a:srgbClr val="FF0000"/>
                </a:solidFill>
              </a:rPr>
              <a:t>less than or equal to x</a:t>
            </a:r>
            <a:r>
              <a:rPr lang="en-US" dirty="0" smtClean="0"/>
              <a:t> , and the </a:t>
            </a:r>
            <a:r>
              <a:rPr lang="en-US" b="1" dirty="0" smtClean="0">
                <a:solidFill>
                  <a:srgbClr val="FF0000"/>
                </a:solidFill>
              </a:rPr>
              <a:t>ceiling function </a:t>
            </a:r>
            <a:r>
              <a:rPr lang="en-US" dirty="0" smtClean="0"/>
              <a:t>rounds x </a:t>
            </a:r>
            <a:r>
              <a:rPr lang="en-US" b="1" dirty="0" smtClean="0">
                <a:solidFill>
                  <a:srgbClr val="FF0000"/>
                </a:solidFill>
              </a:rPr>
              <a:t>up</a:t>
            </a:r>
            <a:r>
              <a:rPr lang="en-US" dirty="0" smtClean="0"/>
              <a:t> to the closest integer </a:t>
            </a:r>
            <a:r>
              <a:rPr lang="en-US" b="1" dirty="0" smtClean="0">
                <a:solidFill>
                  <a:srgbClr val="FF0000"/>
                </a:solidFill>
              </a:rPr>
              <a:t>greater than or equal to x </a:t>
            </a:r>
            <a:r>
              <a:rPr lang="en-US" dirty="0" smtClean="0"/>
              <a:t>.</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0" y="4038600"/>
            <a:ext cx="9144000" cy="161925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pPr>
              <a:buNone/>
            </a:pP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990600" y="1905000"/>
            <a:ext cx="560509" cy="642937"/>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cstate="print"/>
          <a:srcRect/>
          <a:stretch>
            <a:fillRect/>
          </a:stretch>
        </p:blipFill>
        <p:spPr bwMode="auto">
          <a:xfrm>
            <a:off x="1676400" y="1905000"/>
            <a:ext cx="632979" cy="614362"/>
          </a:xfrm>
          <a:prstGeom prst="rect">
            <a:avLst/>
          </a:prstGeom>
          <a:noFill/>
          <a:ln w="9525">
            <a:noFill/>
            <a:miter lim="800000"/>
            <a:headEnd/>
            <a:tailEnd/>
          </a:ln>
          <a:effectLst/>
        </p:spPr>
      </p:pic>
      <p:pic>
        <p:nvPicPr>
          <p:cNvPr id="5124" name="Picture 4"/>
          <p:cNvPicPr>
            <a:picLocks noChangeAspect="1" noChangeArrowheads="1"/>
          </p:cNvPicPr>
          <p:nvPr/>
        </p:nvPicPr>
        <p:blipFill>
          <a:blip r:embed="rId4" cstate="print"/>
          <a:srcRect/>
          <a:stretch>
            <a:fillRect/>
          </a:stretch>
        </p:blipFill>
        <p:spPr bwMode="auto">
          <a:xfrm>
            <a:off x="914400" y="2667000"/>
            <a:ext cx="662873" cy="814387"/>
          </a:xfrm>
          <a:prstGeom prst="rect">
            <a:avLst/>
          </a:prstGeom>
          <a:noFill/>
          <a:ln w="9525">
            <a:noFill/>
            <a:miter lim="800000"/>
            <a:headEnd/>
            <a:tailEnd/>
          </a:ln>
          <a:effectLst/>
        </p:spPr>
      </p:pic>
      <p:pic>
        <p:nvPicPr>
          <p:cNvPr id="5125" name="Picture 5"/>
          <p:cNvPicPr>
            <a:picLocks noChangeAspect="1" noChangeArrowheads="1"/>
          </p:cNvPicPr>
          <p:nvPr/>
        </p:nvPicPr>
        <p:blipFill>
          <a:blip r:embed="rId5" cstate="print"/>
          <a:srcRect/>
          <a:stretch>
            <a:fillRect/>
          </a:stretch>
        </p:blipFill>
        <p:spPr bwMode="auto">
          <a:xfrm>
            <a:off x="1905000" y="2819400"/>
            <a:ext cx="538163" cy="652319"/>
          </a:xfrm>
          <a:prstGeom prst="rect">
            <a:avLst/>
          </a:prstGeom>
          <a:noFill/>
          <a:ln w="9525">
            <a:noFill/>
            <a:miter lim="800000"/>
            <a:headEnd/>
            <a:tailEnd/>
          </a:ln>
          <a:effectLst/>
        </p:spPr>
      </p:pic>
      <p:pic>
        <p:nvPicPr>
          <p:cNvPr id="5126" name="Picture 6"/>
          <p:cNvPicPr>
            <a:picLocks noChangeAspect="1" noChangeArrowheads="1"/>
          </p:cNvPicPr>
          <p:nvPr/>
        </p:nvPicPr>
        <p:blipFill>
          <a:blip r:embed="rId6" cstate="print"/>
          <a:srcRect/>
          <a:stretch>
            <a:fillRect/>
          </a:stretch>
        </p:blipFill>
        <p:spPr bwMode="auto">
          <a:xfrm>
            <a:off x="838200" y="3733800"/>
            <a:ext cx="817523" cy="728662"/>
          </a:xfrm>
          <a:prstGeom prst="rect">
            <a:avLst/>
          </a:prstGeom>
          <a:noFill/>
          <a:ln w="9525">
            <a:noFill/>
            <a:miter lim="800000"/>
            <a:headEnd/>
            <a:tailEnd/>
          </a:ln>
          <a:effectLst/>
        </p:spPr>
      </p:pic>
      <p:pic>
        <p:nvPicPr>
          <p:cNvPr id="5127" name="Picture 7"/>
          <p:cNvPicPr>
            <a:picLocks noChangeAspect="1" noChangeArrowheads="1"/>
          </p:cNvPicPr>
          <p:nvPr/>
        </p:nvPicPr>
        <p:blipFill>
          <a:blip r:embed="rId7" cstate="print"/>
          <a:srcRect/>
          <a:stretch>
            <a:fillRect/>
          </a:stretch>
        </p:blipFill>
        <p:spPr bwMode="auto">
          <a:xfrm>
            <a:off x="1828800" y="3657600"/>
            <a:ext cx="885092" cy="719137"/>
          </a:xfrm>
          <a:prstGeom prst="rect">
            <a:avLst/>
          </a:prstGeom>
          <a:noFill/>
          <a:ln w="9525">
            <a:noFill/>
            <a:miter lim="800000"/>
            <a:headEnd/>
            <a:tailEnd/>
          </a:ln>
          <a:effectLst/>
        </p:spPr>
      </p:pic>
      <p:pic>
        <p:nvPicPr>
          <p:cNvPr id="5128" name="Picture 8"/>
          <p:cNvPicPr>
            <a:picLocks noChangeAspect="1" noChangeArrowheads="1"/>
          </p:cNvPicPr>
          <p:nvPr/>
        </p:nvPicPr>
        <p:blipFill>
          <a:blip r:embed="rId8" cstate="print"/>
          <a:srcRect/>
          <a:stretch>
            <a:fillRect/>
          </a:stretch>
        </p:blipFill>
        <p:spPr bwMode="auto">
          <a:xfrm>
            <a:off x="838200" y="4572000"/>
            <a:ext cx="857250" cy="699796"/>
          </a:xfrm>
          <a:prstGeom prst="rect">
            <a:avLst/>
          </a:prstGeom>
          <a:noFill/>
          <a:ln w="9525">
            <a:noFill/>
            <a:miter lim="800000"/>
            <a:headEnd/>
            <a:tailEnd/>
          </a:ln>
          <a:effectLst/>
        </p:spPr>
      </p:pic>
      <p:pic>
        <p:nvPicPr>
          <p:cNvPr id="5129" name="Picture 9"/>
          <p:cNvPicPr>
            <a:picLocks noChangeAspect="1" noChangeArrowheads="1"/>
          </p:cNvPicPr>
          <p:nvPr/>
        </p:nvPicPr>
        <p:blipFill>
          <a:blip r:embed="rId9" cstate="print"/>
          <a:srcRect/>
          <a:stretch>
            <a:fillRect/>
          </a:stretch>
        </p:blipFill>
        <p:spPr bwMode="auto">
          <a:xfrm>
            <a:off x="1905000" y="4572000"/>
            <a:ext cx="660082" cy="700087"/>
          </a:xfrm>
          <a:prstGeom prst="rect">
            <a:avLst/>
          </a:prstGeom>
          <a:noFill/>
          <a:ln w="9525">
            <a:noFill/>
            <a:miter lim="800000"/>
            <a:headEnd/>
            <a:tailEnd/>
          </a:ln>
          <a:effectLst/>
        </p:spPr>
      </p:pic>
      <p:pic>
        <p:nvPicPr>
          <p:cNvPr id="5130" name="Picture 10"/>
          <p:cNvPicPr>
            <a:picLocks noChangeAspect="1" noChangeArrowheads="1"/>
          </p:cNvPicPr>
          <p:nvPr/>
        </p:nvPicPr>
        <p:blipFill>
          <a:blip r:embed="rId10" cstate="print"/>
          <a:srcRect/>
          <a:stretch>
            <a:fillRect/>
          </a:stretch>
        </p:blipFill>
        <p:spPr bwMode="auto">
          <a:xfrm>
            <a:off x="762000" y="5410200"/>
            <a:ext cx="844124" cy="804862"/>
          </a:xfrm>
          <a:prstGeom prst="rect">
            <a:avLst/>
          </a:prstGeom>
          <a:noFill/>
          <a:ln w="9525">
            <a:noFill/>
            <a:miter lim="800000"/>
            <a:headEnd/>
            <a:tailEnd/>
          </a:ln>
          <a:effectLst/>
        </p:spPr>
      </p:pic>
      <p:pic>
        <p:nvPicPr>
          <p:cNvPr id="5131" name="Picture 11"/>
          <p:cNvPicPr>
            <a:picLocks noChangeAspect="1" noChangeArrowheads="1"/>
          </p:cNvPicPr>
          <p:nvPr/>
        </p:nvPicPr>
        <p:blipFill>
          <a:blip r:embed="rId11" cstate="print"/>
          <a:srcRect/>
          <a:stretch>
            <a:fillRect/>
          </a:stretch>
        </p:blipFill>
        <p:spPr bwMode="auto">
          <a:xfrm>
            <a:off x="1828800" y="5410200"/>
            <a:ext cx="838200" cy="838200"/>
          </a:xfrm>
          <a:prstGeom prst="rect">
            <a:avLst/>
          </a:prstGeom>
          <a:noFill/>
          <a:ln w="9525">
            <a:noFill/>
            <a:miter lim="800000"/>
            <a:headEnd/>
            <a:tailEnd/>
          </a:ln>
          <a:effectLst/>
        </p:spPr>
      </p:pic>
      <p:pic>
        <p:nvPicPr>
          <p:cNvPr id="5132" name="Picture 12"/>
          <p:cNvPicPr>
            <a:picLocks noChangeAspect="1" noChangeArrowheads="1"/>
          </p:cNvPicPr>
          <p:nvPr/>
        </p:nvPicPr>
        <p:blipFill>
          <a:blip r:embed="rId12" cstate="print"/>
          <a:srcRect/>
          <a:stretch>
            <a:fillRect/>
          </a:stretch>
        </p:blipFill>
        <p:spPr bwMode="auto">
          <a:xfrm>
            <a:off x="762000" y="6172200"/>
            <a:ext cx="803275" cy="628650"/>
          </a:xfrm>
          <a:prstGeom prst="rect">
            <a:avLst/>
          </a:prstGeom>
          <a:noFill/>
          <a:ln w="9525">
            <a:noFill/>
            <a:miter lim="800000"/>
            <a:headEnd/>
            <a:tailEnd/>
          </a:ln>
          <a:effectLst/>
        </p:spPr>
      </p:pic>
      <p:pic>
        <p:nvPicPr>
          <p:cNvPr id="5133" name="Picture 13"/>
          <p:cNvPicPr>
            <a:picLocks noChangeAspect="1" noChangeArrowheads="1"/>
          </p:cNvPicPr>
          <p:nvPr/>
        </p:nvPicPr>
        <p:blipFill>
          <a:blip r:embed="rId13" cstate="print"/>
          <a:srcRect/>
          <a:stretch>
            <a:fillRect/>
          </a:stretch>
        </p:blipFill>
        <p:spPr bwMode="auto">
          <a:xfrm>
            <a:off x="1752600" y="5929313"/>
            <a:ext cx="928687" cy="928687"/>
          </a:xfrm>
          <a:prstGeom prst="rect">
            <a:avLst/>
          </a:prstGeom>
          <a:noFill/>
          <a:ln w="9525">
            <a:noFill/>
            <a:miter lim="800000"/>
            <a:headEnd/>
            <a:tailEnd/>
          </a:ln>
          <a:effectLst/>
        </p:spPr>
      </p:pic>
      <p:pic>
        <p:nvPicPr>
          <p:cNvPr id="5134" name="Picture 14"/>
          <p:cNvPicPr>
            <a:picLocks noChangeAspect="1" noChangeArrowheads="1"/>
          </p:cNvPicPr>
          <p:nvPr/>
        </p:nvPicPr>
        <p:blipFill>
          <a:blip r:embed="rId14" cstate="print"/>
          <a:srcRect/>
          <a:stretch>
            <a:fillRect/>
          </a:stretch>
        </p:blipFill>
        <p:spPr bwMode="auto">
          <a:xfrm>
            <a:off x="4724400" y="2057400"/>
            <a:ext cx="519112" cy="856591"/>
          </a:xfrm>
          <a:prstGeom prst="rect">
            <a:avLst/>
          </a:prstGeom>
          <a:noFill/>
          <a:ln w="9525">
            <a:noFill/>
            <a:miter lim="800000"/>
            <a:headEnd/>
            <a:tailEnd/>
          </a:ln>
          <a:effectLst/>
        </p:spPr>
      </p:pic>
      <p:pic>
        <p:nvPicPr>
          <p:cNvPr id="5135" name="Picture 15"/>
          <p:cNvPicPr>
            <a:picLocks noChangeAspect="1" noChangeArrowheads="1"/>
          </p:cNvPicPr>
          <p:nvPr/>
        </p:nvPicPr>
        <p:blipFill>
          <a:blip r:embed="rId15" cstate="print"/>
          <a:srcRect/>
          <a:stretch>
            <a:fillRect/>
          </a:stretch>
        </p:blipFill>
        <p:spPr bwMode="auto">
          <a:xfrm>
            <a:off x="5410200" y="2286000"/>
            <a:ext cx="640739" cy="504825"/>
          </a:xfrm>
          <a:prstGeom prst="rect">
            <a:avLst/>
          </a:prstGeom>
          <a:noFill/>
          <a:ln w="9525">
            <a:noFill/>
            <a:miter lim="800000"/>
            <a:headEnd/>
            <a:tailEnd/>
          </a:ln>
          <a:effectLst/>
        </p:spPr>
      </p:pic>
      <p:pic>
        <p:nvPicPr>
          <p:cNvPr id="5136" name="Picture 16"/>
          <p:cNvPicPr>
            <a:picLocks noChangeAspect="1" noChangeArrowheads="1"/>
          </p:cNvPicPr>
          <p:nvPr/>
        </p:nvPicPr>
        <p:blipFill>
          <a:blip r:embed="rId16" cstate="print"/>
          <a:srcRect/>
          <a:stretch>
            <a:fillRect/>
          </a:stretch>
        </p:blipFill>
        <p:spPr bwMode="auto">
          <a:xfrm>
            <a:off x="4711513" y="2819400"/>
            <a:ext cx="546287" cy="619125"/>
          </a:xfrm>
          <a:prstGeom prst="rect">
            <a:avLst/>
          </a:prstGeom>
          <a:noFill/>
          <a:ln w="9525">
            <a:noFill/>
            <a:miter lim="800000"/>
            <a:headEnd/>
            <a:tailEnd/>
          </a:ln>
          <a:effectLst/>
        </p:spPr>
      </p:pic>
      <p:pic>
        <p:nvPicPr>
          <p:cNvPr id="19" name="Picture 15"/>
          <p:cNvPicPr>
            <a:picLocks noChangeAspect="1" noChangeArrowheads="1"/>
          </p:cNvPicPr>
          <p:nvPr/>
        </p:nvPicPr>
        <p:blipFill>
          <a:blip r:embed="rId15" cstate="print"/>
          <a:srcRect/>
          <a:stretch>
            <a:fillRect/>
          </a:stretch>
        </p:blipFill>
        <p:spPr bwMode="auto">
          <a:xfrm>
            <a:off x="5410200" y="2847975"/>
            <a:ext cx="640739" cy="50482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3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3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1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1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1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13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1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Partial Functions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In abstract mathematics, we often want to discuss functions that are defined only for a subset of the real numbers, such as 1/x , √x , and </a:t>
            </a:r>
            <a:r>
              <a:rPr lang="en-US" dirty="0" err="1" smtClean="0"/>
              <a:t>arcsin</a:t>
            </a:r>
            <a:r>
              <a:rPr lang="en-US" dirty="0" smtClean="0"/>
              <a:t> (x).</a:t>
            </a:r>
          </a:p>
          <a:p>
            <a:r>
              <a:rPr lang="en-US" dirty="0" smtClean="0"/>
              <a:t>A partial function f from a set A to a set B is an assignment to each element a in a subset of A, called the domain of definition of f , of a unique element b in B . The sets A and B are called the domain and </a:t>
            </a:r>
            <a:r>
              <a:rPr lang="en-US" dirty="0" err="1" smtClean="0"/>
              <a:t>codomain</a:t>
            </a:r>
            <a:r>
              <a:rPr lang="en-US" dirty="0" smtClean="0"/>
              <a:t> of f , respectively. We say that f is undefined for elements in A that are not in the domain of definition of f . When the domain of definition of f equals A, we say that f is a </a:t>
            </a:r>
            <a:r>
              <a:rPr lang="en-US" b="1" dirty="0" smtClean="0">
                <a:solidFill>
                  <a:srgbClr val="FF0000"/>
                </a:solidFill>
              </a:rPr>
              <a:t>total function.</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The function f : Z →R where f (n) = √n is a partial function from Z to R where the domain of definition is the set of nonnegative integers. </a:t>
            </a:r>
          </a:p>
          <a:p>
            <a:pPr lvl="1"/>
            <a:r>
              <a:rPr lang="en-US" dirty="0" smtClean="0"/>
              <a:t>f is undefined for negative integers.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Exercise 2.3</a:t>
            </a:r>
          </a:p>
          <a:p>
            <a:r>
              <a:rPr lang="en-US" dirty="0" smtClean="0"/>
              <a:t>1</a:t>
            </a:r>
          </a:p>
          <a:p>
            <a:r>
              <a:rPr lang="en-US" dirty="0" smtClean="0"/>
              <a:t>5</a:t>
            </a:r>
          </a:p>
          <a:p>
            <a:r>
              <a:rPr lang="en-US" dirty="0" smtClean="0"/>
              <a:t>9</a:t>
            </a:r>
          </a:p>
          <a:p>
            <a:r>
              <a:rPr lang="en-US" dirty="0" smtClean="0"/>
              <a:t>10</a:t>
            </a:r>
          </a:p>
          <a:p>
            <a:r>
              <a:rPr lang="en-US" dirty="0" smtClean="0"/>
              <a:t>11</a:t>
            </a:r>
          </a:p>
          <a:p>
            <a:r>
              <a:rPr lang="en-US" dirty="0" smtClean="0"/>
              <a:t>12</a:t>
            </a:r>
          </a:p>
          <a:p>
            <a:r>
              <a:rPr lang="en-US" dirty="0" smtClean="0"/>
              <a:t>13</a:t>
            </a:r>
          </a:p>
          <a:p>
            <a:r>
              <a:rPr lang="en-US" dirty="0" smtClean="0"/>
              <a:t>15</a:t>
            </a:r>
          </a:p>
          <a:p>
            <a:r>
              <a:rPr lang="en-US" dirty="0" smtClean="0"/>
              <a:t>23</a:t>
            </a:r>
          </a:p>
          <a:p>
            <a:r>
              <a:rPr lang="en-US" dirty="0" smtClean="0"/>
              <a:t>36</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Sequences and Summations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Sequences</a:t>
            </a:r>
            <a:endParaRPr lang="en-US" dirty="0"/>
          </a:p>
        </p:txBody>
      </p:sp>
      <p:sp>
        <p:nvSpPr>
          <p:cNvPr id="3" name="Content Placeholder 2"/>
          <p:cNvSpPr>
            <a:spLocks noGrp="1"/>
          </p:cNvSpPr>
          <p:nvPr>
            <p:ph idx="1"/>
          </p:nvPr>
        </p:nvSpPr>
        <p:spPr/>
        <p:txBody>
          <a:bodyPr>
            <a:normAutofit/>
          </a:bodyPr>
          <a:lstStyle/>
          <a:p>
            <a:r>
              <a:rPr lang="en-US" dirty="0" smtClean="0"/>
              <a:t>A sequence is a discrete structure used to represent an ordered list. </a:t>
            </a:r>
          </a:p>
          <a:p>
            <a:r>
              <a:rPr lang="en-US" dirty="0" smtClean="0"/>
              <a:t>For example, 1, 2, 3, 5, 8 is  a sequence with five terms and 1, 3, 9, 27, 81,... ,3n,... is an infinite sequence.</a:t>
            </a:r>
          </a:p>
          <a:p>
            <a:r>
              <a:rPr lang="en-US" dirty="0" smtClean="0"/>
              <a:t>We use the notation a</a:t>
            </a:r>
            <a:r>
              <a:rPr lang="en-US" baseline="-25000" dirty="0" smtClean="0"/>
              <a:t>n</a:t>
            </a:r>
            <a:r>
              <a:rPr lang="en-US" dirty="0" smtClean="0"/>
              <a:t> to denote the image of the integer n. We call a</a:t>
            </a:r>
            <a:r>
              <a:rPr lang="en-US" baseline="-25000" dirty="0" smtClean="0"/>
              <a:t>n</a:t>
            </a:r>
            <a:r>
              <a:rPr lang="en-US" dirty="0" smtClean="0"/>
              <a:t> a term of the sequence.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r>
              <a:rPr lang="en-US" dirty="0" smtClean="0"/>
              <a:t>Consider the sequence</a:t>
            </a:r>
          </a:p>
          <a:p>
            <a:pPr>
              <a:buNone/>
            </a:pPr>
            <a:r>
              <a:rPr lang="pt-BR" dirty="0" smtClean="0"/>
              <a:t>	a</a:t>
            </a:r>
            <a:r>
              <a:rPr lang="pt-BR" baseline="-25000" dirty="0" smtClean="0"/>
              <a:t>1</a:t>
            </a:r>
            <a:r>
              <a:rPr lang="pt-BR" dirty="0" smtClean="0"/>
              <a:t>, a</a:t>
            </a:r>
            <a:r>
              <a:rPr lang="pt-BR" baseline="-25000" dirty="0" smtClean="0"/>
              <a:t>2</a:t>
            </a:r>
            <a:r>
              <a:rPr lang="pt-BR" dirty="0" smtClean="0"/>
              <a:t>,a</a:t>
            </a:r>
            <a:r>
              <a:rPr lang="pt-BR" baseline="-25000" dirty="0" smtClean="0"/>
              <a:t>3</a:t>
            </a:r>
            <a:r>
              <a:rPr lang="pt-BR" dirty="0" smtClean="0"/>
              <a:t>,a</a:t>
            </a:r>
            <a:r>
              <a:rPr lang="pt-BR" baseline="-25000" dirty="0" smtClean="0"/>
              <a:t>4</a:t>
            </a:r>
            <a:r>
              <a:rPr lang="pt-BR" dirty="0" smtClean="0"/>
              <a:t>,...,</a:t>
            </a:r>
            <a:r>
              <a:rPr lang="en-US" dirty="0" smtClean="0"/>
              <a:t> </a:t>
            </a:r>
          </a:p>
          <a:p>
            <a:pPr>
              <a:buNone/>
            </a:pPr>
            <a:r>
              <a:rPr lang="en-US" dirty="0" smtClean="0"/>
              <a:t>	where {a</a:t>
            </a:r>
            <a:r>
              <a:rPr lang="en-US" baseline="-25000" dirty="0" smtClean="0"/>
              <a:t>n</a:t>
            </a:r>
            <a:r>
              <a:rPr lang="en-US" dirty="0" smtClean="0"/>
              <a:t>},</a:t>
            </a:r>
          </a:p>
          <a:p>
            <a:pPr>
              <a:buNone/>
            </a:pPr>
            <a:r>
              <a:rPr lang="en-US" dirty="0" smtClean="0"/>
              <a:t>	a</a:t>
            </a:r>
            <a:r>
              <a:rPr lang="en-US" baseline="-25000" dirty="0" smtClean="0"/>
              <a:t>n</a:t>
            </a:r>
            <a:r>
              <a:rPr lang="en-US" dirty="0" smtClean="0"/>
              <a:t> = 1/n</a:t>
            </a:r>
          </a:p>
          <a:p>
            <a:pPr>
              <a:buNone/>
            </a:pPr>
            <a:r>
              <a:rPr lang="en-US" dirty="0" smtClean="0"/>
              <a:t>	starts with</a:t>
            </a:r>
          </a:p>
          <a:p>
            <a:pPr>
              <a:buNone/>
            </a:pPr>
            <a:r>
              <a:rPr lang="en-US" dirty="0" smtClean="0"/>
              <a:t>	1, ½, 1/3, 1/4,....</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Geometric progression</a:t>
            </a:r>
            <a:endParaRPr lang="en-US" dirty="0"/>
          </a:p>
        </p:txBody>
      </p:sp>
      <p:sp>
        <p:nvSpPr>
          <p:cNvPr id="3" name="Content Placeholder 2"/>
          <p:cNvSpPr>
            <a:spLocks noGrp="1"/>
          </p:cNvSpPr>
          <p:nvPr>
            <p:ph idx="1"/>
          </p:nvPr>
        </p:nvSpPr>
        <p:spPr/>
        <p:txBody>
          <a:bodyPr/>
          <a:lstStyle/>
          <a:p>
            <a:pPr>
              <a:buNone/>
            </a:pPr>
            <a:endParaRPr lang="en-US" dirty="0" smtClean="0"/>
          </a:p>
          <a:p>
            <a:endParaRPr lang="en-US" dirty="0" smtClean="0"/>
          </a:p>
          <a:p>
            <a:endParaRPr lang="en-US" dirty="0" smtClean="0"/>
          </a:p>
          <a:p>
            <a:endParaRPr lang="en-US" dirty="0" smtClean="0"/>
          </a:p>
          <a:p>
            <a:pPr>
              <a:buNone/>
            </a:pPr>
            <a:endParaRPr lang="en-US" dirty="0" smtClean="0"/>
          </a:p>
          <a:p>
            <a:r>
              <a:rPr lang="en-US" dirty="0" smtClean="0"/>
              <a:t>A geometric progression is a discrete analogue of the exponential function </a:t>
            </a:r>
            <a:r>
              <a:rPr lang="en-US" b="1" dirty="0" smtClean="0">
                <a:solidFill>
                  <a:srgbClr val="FF0000"/>
                </a:solidFill>
              </a:rPr>
              <a:t>f(x)=</a:t>
            </a:r>
            <a:r>
              <a:rPr lang="en-US" b="1" dirty="0" err="1" smtClean="0">
                <a:solidFill>
                  <a:srgbClr val="FF0000"/>
                </a:solidFill>
              </a:rPr>
              <a:t>ar</a:t>
            </a:r>
            <a:r>
              <a:rPr lang="en-US" b="1" baseline="30000" dirty="0" err="1" smtClean="0">
                <a:solidFill>
                  <a:srgbClr val="FF0000"/>
                </a:solidFill>
              </a:rPr>
              <a:t>x</a:t>
            </a:r>
            <a:endParaRPr lang="en-US" b="1" baseline="30000" dirty="0">
              <a:solidFill>
                <a:srgbClr val="FF0000"/>
              </a:solidFill>
            </a:endParaRPr>
          </a:p>
        </p:txBody>
      </p:sp>
      <p:pic>
        <p:nvPicPr>
          <p:cNvPr id="1026" name="Picture 2"/>
          <p:cNvPicPr>
            <a:picLocks noChangeAspect="1" noChangeArrowheads="1"/>
          </p:cNvPicPr>
          <p:nvPr/>
        </p:nvPicPr>
        <p:blipFill>
          <a:blip r:embed="rId2" cstate="print"/>
          <a:srcRect/>
          <a:stretch>
            <a:fillRect/>
          </a:stretch>
        </p:blipFill>
        <p:spPr bwMode="auto">
          <a:xfrm>
            <a:off x="457199" y="1752600"/>
            <a:ext cx="8264471" cy="20574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Autofit/>
          </a:bodyPr>
          <a:lstStyle/>
          <a:p>
            <a:r>
              <a:rPr lang="en-US" sz="2000" dirty="0" smtClean="0">
                <a:solidFill>
                  <a:srgbClr val="7030A0"/>
                </a:solidFill>
              </a:rPr>
              <a:t>The sequences {</a:t>
            </a:r>
            <a:r>
              <a:rPr lang="en-US" sz="2000" dirty="0" err="1" smtClean="0">
                <a:solidFill>
                  <a:srgbClr val="7030A0"/>
                </a:solidFill>
              </a:rPr>
              <a:t>b</a:t>
            </a:r>
            <a:r>
              <a:rPr lang="en-US" sz="2000" baseline="-25000" dirty="0" err="1" smtClean="0">
                <a:solidFill>
                  <a:srgbClr val="7030A0"/>
                </a:solidFill>
              </a:rPr>
              <a:t>n</a:t>
            </a:r>
            <a:r>
              <a:rPr lang="en-US" sz="2000" dirty="0" smtClean="0">
                <a:solidFill>
                  <a:srgbClr val="7030A0"/>
                </a:solidFill>
              </a:rPr>
              <a:t>} with </a:t>
            </a:r>
            <a:r>
              <a:rPr lang="en-US" sz="2000" dirty="0" err="1" smtClean="0">
                <a:solidFill>
                  <a:srgbClr val="7030A0"/>
                </a:solidFill>
              </a:rPr>
              <a:t>b</a:t>
            </a:r>
            <a:r>
              <a:rPr lang="en-US" sz="2000" baseline="-25000" dirty="0" err="1" smtClean="0">
                <a:solidFill>
                  <a:srgbClr val="7030A0"/>
                </a:solidFill>
              </a:rPr>
              <a:t>n</a:t>
            </a:r>
            <a:r>
              <a:rPr lang="en-US" sz="2000" dirty="0" smtClean="0">
                <a:solidFill>
                  <a:srgbClr val="7030A0"/>
                </a:solidFill>
              </a:rPr>
              <a:t> = (−1)</a:t>
            </a:r>
            <a:r>
              <a:rPr lang="en-US" sz="2000" baseline="30000" dirty="0" smtClean="0">
                <a:solidFill>
                  <a:srgbClr val="7030A0"/>
                </a:solidFill>
              </a:rPr>
              <a:t>n</a:t>
            </a:r>
            <a:r>
              <a:rPr lang="en-US" sz="2000" dirty="0" smtClean="0">
                <a:solidFill>
                  <a:srgbClr val="7030A0"/>
                </a:solidFill>
              </a:rPr>
              <a:t>, , {</a:t>
            </a:r>
            <a:r>
              <a:rPr lang="en-US" sz="2000" dirty="0" err="1" smtClean="0">
                <a:solidFill>
                  <a:srgbClr val="7030A0"/>
                </a:solidFill>
              </a:rPr>
              <a:t>c</a:t>
            </a:r>
            <a:r>
              <a:rPr lang="en-US" sz="2000" baseline="-25000" dirty="0" err="1" smtClean="0">
                <a:solidFill>
                  <a:srgbClr val="7030A0"/>
                </a:solidFill>
              </a:rPr>
              <a:t>n</a:t>
            </a:r>
            <a:r>
              <a:rPr lang="en-US" sz="2000" dirty="0" smtClean="0">
                <a:solidFill>
                  <a:srgbClr val="7030A0"/>
                </a:solidFill>
              </a:rPr>
              <a:t>} with </a:t>
            </a:r>
            <a:r>
              <a:rPr lang="en-US" sz="2000" dirty="0" err="1" smtClean="0">
                <a:solidFill>
                  <a:srgbClr val="7030A0"/>
                </a:solidFill>
              </a:rPr>
              <a:t>c</a:t>
            </a:r>
            <a:r>
              <a:rPr lang="en-US" sz="2000" baseline="-25000" dirty="0" err="1" smtClean="0">
                <a:solidFill>
                  <a:srgbClr val="7030A0"/>
                </a:solidFill>
              </a:rPr>
              <a:t>n</a:t>
            </a:r>
            <a:r>
              <a:rPr lang="en-US" sz="2000" dirty="0" smtClean="0">
                <a:solidFill>
                  <a:srgbClr val="7030A0"/>
                </a:solidFill>
              </a:rPr>
              <a:t> = 2 · 5</a:t>
            </a:r>
            <a:r>
              <a:rPr lang="en-US" sz="2000" baseline="30000" dirty="0" smtClean="0">
                <a:solidFill>
                  <a:srgbClr val="7030A0"/>
                </a:solidFill>
              </a:rPr>
              <a:t>n</a:t>
            </a:r>
            <a:r>
              <a:rPr lang="en-US" sz="2000" dirty="0" smtClean="0">
                <a:solidFill>
                  <a:srgbClr val="7030A0"/>
                </a:solidFill>
              </a:rPr>
              <a:t>, and {</a:t>
            </a:r>
            <a:r>
              <a:rPr lang="en-US" sz="2000" dirty="0" err="1" smtClean="0">
                <a:solidFill>
                  <a:srgbClr val="7030A0"/>
                </a:solidFill>
              </a:rPr>
              <a:t>d</a:t>
            </a:r>
            <a:r>
              <a:rPr lang="en-US" sz="2000" baseline="-25000" dirty="0" err="1" smtClean="0">
                <a:solidFill>
                  <a:srgbClr val="7030A0"/>
                </a:solidFill>
              </a:rPr>
              <a:t>n</a:t>
            </a:r>
            <a:r>
              <a:rPr lang="en-US" sz="2000" dirty="0" smtClean="0">
                <a:solidFill>
                  <a:srgbClr val="7030A0"/>
                </a:solidFill>
              </a:rPr>
              <a:t>} with </a:t>
            </a:r>
            <a:r>
              <a:rPr lang="en-US" sz="2000" dirty="0" err="1" smtClean="0">
                <a:solidFill>
                  <a:srgbClr val="7030A0"/>
                </a:solidFill>
              </a:rPr>
              <a:t>d</a:t>
            </a:r>
            <a:r>
              <a:rPr lang="en-US" sz="2000" baseline="-25000" dirty="0" err="1" smtClean="0">
                <a:solidFill>
                  <a:srgbClr val="7030A0"/>
                </a:solidFill>
              </a:rPr>
              <a:t>n</a:t>
            </a:r>
            <a:r>
              <a:rPr lang="en-US" sz="2000" dirty="0" smtClean="0">
                <a:solidFill>
                  <a:srgbClr val="7030A0"/>
                </a:solidFill>
              </a:rPr>
              <a:t> = 6 · (1/3)</a:t>
            </a:r>
            <a:r>
              <a:rPr lang="en-US" sz="2000" baseline="30000" dirty="0" smtClean="0">
                <a:solidFill>
                  <a:srgbClr val="7030A0"/>
                </a:solidFill>
              </a:rPr>
              <a:t>n</a:t>
            </a:r>
          </a:p>
          <a:p>
            <a:r>
              <a:rPr lang="en-US" sz="2000" dirty="0" smtClean="0"/>
              <a:t>Are  geometric progressions with initial term and common ratio equal to 1 and −1; </a:t>
            </a:r>
          </a:p>
          <a:p>
            <a:pPr>
              <a:buNone/>
            </a:pPr>
            <a:r>
              <a:rPr lang="en-US" sz="2000" dirty="0" smtClean="0"/>
              <a:t>	2 and 5;</a:t>
            </a:r>
          </a:p>
          <a:p>
            <a:pPr>
              <a:buNone/>
            </a:pPr>
            <a:r>
              <a:rPr lang="en-US" sz="2000" dirty="0" smtClean="0"/>
              <a:t>	 and 6 and 1/3, respectively.</a:t>
            </a:r>
          </a:p>
          <a:p>
            <a:endParaRPr lang="en-US" sz="2000" dirty="0" smtClean="0"/>
          </a:p>
          <a:p>
            <a:r>
              <a:rPr lang="en-US" sz="2000" dirty="0" smtClean="0"/>
              <a:t>If we start at n = 0. The list of terms b0,b1,b2,b3,b4,... begins with</a:t>
            </a:r>
          </a:p>
          <a:p>
            <a:pPr>
              <a:buNone/>
            </a:pPr>
            <a:r>
              <a:rPr lang="en-US" sz="2000" dirty="0" smtClean="0"/>
              <a:t>	1, −1, 1, −1, 1,... ;</a:t>
            </a:r>
          </a:p>
          <a:p>
            <a:r>
              <a:rPr lang="en-US" sz="2000" dirty="0" smtClean="0"/>
              <a:t>The list of terms c0,c1,c2,c3,c4,... begins with</a:t>
            </a:r>
          </a:p>
          <a:p>
            <a:pPr>
              <a:buNone/>
            </a:pPr>
            <a:r>
              <a:rPr lang="en-US" sz="2000" dirty="0" smtClean="0"/>
              <a:t>	2 , 10, 50, 250 , 1250,... ;</a:t>
            </a:r>
          </a:p>
          <a:p>
            <a:r>
              <a:rPr lang="en-US" sz="2000" dirty="0" smtClean="0"/>
              <a:t>The list of terms d0,d1,d2,d3,d4,... begins with</a:t>
            </a:r>
          </a:p>
          <a:p>
            <a:pPr>
              <a:buNone/>
            </a:pPr>
            <a:r>
              <a:rPr lang="en-US" sz="2000" dirty="0" smtClean="0"/>
              <a:t>	6, 2 ,2/3,2/9,2/27,....</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progression</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r>
              <a:rPr lang="en-US" dirty="0" smtClean="0"/>
              <a:t>An arithmetic progression is a discrete analogue of the linear function </a:t>
            </a:r>
            <a:r>
              <a:rPr lang="en-US" b="1" dirty="0" smtClean="0">
                <a:solidFill>
                  <a:srgbClr val="FF0000"/>
                </a:solidFill>
              </a:rPr>
              <a:t>f(x)= </a:t>
            </a:r>
            <a:r>
              <a:rPr lang="en-US" b="1" dirty="0" err="1" smtClean="0">
                <a:solidFill>
                  <a:srgbClr val="FF0000"/>
                </a:solidFill>
              </a:rPr>
              <a:t>dx</a:t>
            </a:r>
            <a:r>
              <a:rPr lang="en-US" b="1" dirty="0" smtClean="0">
                <a:solidFill>
                  <a:srgbClr val="FF0000"/>
                </a:solidFill>
              </a:rPr>
              <a:t>+ a </a:t>
            </a:r>
            <a:r>
              <a:rPr lang="en-US" dirty="0" smtClean="0"/>
              <a: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685800" y="1905000"/>
            <a:ext cx="7924800" cy="16287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solidFill>
                  <a:srgbClr val="7030A0"/>
                </a:solidFill>
              </a:rPr>
              <a:t>The sequences {</a:t>
            </a:r>
            <a:r>
              <a:rPr lang="en-US" dirty="0" err="1" smtClean="0">
                <a:solidFill>
                  <a:srgbClr val="7030A0"/>
                </a:solidFill>
              </a:rPr>
              <a:t>s</a:t>
            </a:r>
            <a:r>
              <a:rPr lang="en-US" baseline="-25000" dirty="0" err="1" smtClean="0">
                <a:solidFill>
                  <a:srgbClr val="7030A0"/>
                </a:solidFill>
              </a:rPr>
              <a:t>n</a:t>
            </a:r>
            <a:r>
              <a:rPr lang="en-US" dirty="0" smtClean="0">
                <a:solidFill>
                  <a:srgbClr val="7030A0"/>
                </a:solidFill>
              </a:rPr>
              <a:t>} with </a:t>
            </a:r>
            <a:r>
              <a:rPr lang="en-US" dirty="0" err="1" smtClean="0">
                <a:solidFill>
                  <a:srgbClr val="7030A0"/>
                </a:solidFill>
              </a:rPr>
              <a:t>s</a:t>
            </a:r>
            <a:r>
              <a:rPr lang="en-US" baseline="-25000" dirty="0" err="1" smtClean="0">
                <a:solidFill>
                  <a:srgbClr val="7030A0"/>
                </a:solidFill>
              </a:rPr>
              <a:t>n</a:t>
            </a:r>
            <a:r>
              <a:rPr lang="en-US" dirty="0" smtClean="0">
                <a:solidFill>
                  <a:srgbClr val="7030A0"/>
                </a:solidFill>
              </a:rPr>
              <a:t> =−1 + 4 n and </a:t>
            </a:r>
          </a:p>
          <a:p>
            <a:pPr>
              <a:buNone/>
            </a:pPr>
            <a:r>
              <a:rPr lang="en-US" dirty="0" smtClean="0">
                <a:solidFill>
                  <a:srgbClr val="7030A0"/>
                </a:solidFill>
              </a:rPr>
              <a:t>	{</a:t>
            </a:r>
            <a:r>
              <a:rPr lang="en-US" dirty="0" err="1" smtClean="0">
                <a:solidFill>
                  <a:srgbClr val="7030A0"/>
                </a:solidFill>
              </a:rPr>
              <a:t>tn</a:t>
            </a:r>
            <a:r>
              <a:rPr lang="en-US" dirty="0" smtClean="0">
                <a:solidFill>
                  <a:srgbClr val="7030A0"/>
                </a:solidFill>
              </a:rPr>
              <a:t>} with </a:t>
            </a:r>
            <a:r>
              <a:rPr lang="en-US" dirty="0" err="1" smtClean="0">
                <a:solidFill>
                  <a:srgbClr val="7030A0"/>
                </a:solidFill>
              </a:rPr>
              <a:t>t</a:t>
            </a:r>
            <a:r>
              <a:rPr lang="en-US" baseline="-25000" dirty="0" err="1" smtClean="0">
                <a:solidFill>
                  <a:srgbClr val="7030A0"/>
                </a:solidFill>
              </a:rPr>
              <a:t>n</a:t>
            </a:r>
            <a:r>
              <a:rPr lang="en-US" dirty="0" smtClean="0">
                <a:solidFill>
                  <a:srgbClr val="7030A0"/>
                </a:solidFill>
              </a:rPr>
              <a:t> = 7 − 3n </a:t>
            </a:r>
          </a:p>
          <a:p>
            <a:pPr>
              <a:buNone/>
            </a:pPr>
            <a:r>
              <a:rPr lang="en-US" dirty="0" smtClean="0">
                <a:solidFill>
                  <a:srgbClr val="7030A0"/>
                </a:solidFill>
              </a:rPr>
              <a:t>	</a:t>
            </a:r>
            <a:r>
              <a:rPr lang="en-US" dirty="0" smtClean="0"/>
              <a:t>are both arithmetic progressions with initial terms and common differences equal to </a:t>
            </a:r>
          </a:p>
          <a:p>
            <a:pPr>
              <a:buNone/>
            </a:pPr>
            <a:r>
              <a:rPr lang="en-US" dirty="0" smtClean="0"/>
              <a:t>	−1 and 4,</a:t>
            </a:r>
          </a:p>
          <a:p>
            <a:pPr>
              <a:buNone/>
            </a:pPr>
            <a:r>
              <a:rPr lang="en-US" dirty="0" smtClean="0"/>
              <a:t>	 and 7 and−3, respectively,</a:t>
            </a:r>
          </a:p>
          <a:p>
            <a:r>
              <a:rPr lang="en-US" dirty="0" smtClean="0"/>
              <a:t>If we start at n = 0. </a:t>
            </a:r>
          </a:p>
          <a:p>
            <a:r>
              <a:rPr lang="en-US" dirty="0" smtClean="0"/>
              <a:t>The list of terms s0,s1,s2,s3,... begins with</a:t>
            </a:r>
          </a:p>
          <a:p>
            <a:pPr>
              <a:buNone/>
            </a:pPr>
            <a:r>
              <a:rPr lang="en-US" dirty="0" smtClean="0"/>
              <a:t>	−1, 3, 7, 11,...,</a:t>
            </a:r>
          </a:p>
          <a:p>
            <a:r>
              <a:rPr lang="en-US" dirty="0" smtClean="0"/>
              <a:t>The list of terms t0,t1,t2,t3,... begins with</a:t>
            </a:r>
          </a:p>
          <a:p>
            <a:pPr>
              <a:buNone/>
            </a:pPr>
            <a:r>
              <a:rPr lang="en-US" dirty="0" smtClean="0"/>
              <a:t>	7, 4 , 1, −2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Strings</a:t>
            </a:r>
            <a:endParaRPr lang="en-US" dirty="0"/>
          </a:p>
        </p:txBody>
      </p:sp>
      <p:sp>
        <p:nvSpPr>
          <p:cNvPr id="3" name="Content Placeholder 2"/>
          <p:cNvSpPr>
            <a:spLocks noGrp="1"/>
          </p:cNvSpPr>
          <p:nvPr>
            <p:ph idx="1"/>
          </p:nvPr>
        </p:nvSpPr>
        <p:spPr>
          <a:xfrm>
            <a:off x="457200" y="1775191"/>
            <a:ext cx="8382000" cy="4625609"/>
          </a:xfrm>
        </p:spPr>
        <p:txBody>
          <a:bodyPr>
            <a:normAutofit fontScale="92500" lnSpcReduction="20000"/>
          </a:bodyPr>
          <a:lstStyle/>
          <a:p>
            <a:r>
              <a:rPr lang="en-US" dirty="0" smtClean="0"/>
              <a:t>Sequences of the form a1,a2,...,an are often used in computer science. </a:t>
            </a:r>
          </a:p>
          <a:p>
            <a:r>
              <a:rPr lang="en-US" dirty="0" smtClean="0"/>
              <a:t>These finite sequences are also called </a:t>
            </a:r>
            <a:r>
              <a:rPr lang="en-US" b="1" dirty="0" smtClean="0">
                <a:solidFill>
                  <a:srgbClr val="FF0000"/>
                </a:solidFill>
              </a:rPr>
              <a:t>strings</a:t>
            </a:r>
            <a:r>
              <a:rPr lang="en-US" dirty="0" smtClean="0"/>
              <a:t> . </a:t>
            </a:r>
          </a:p>
          <a:p>
            <a:r>
              <a:rPr lang="en-US" dirty="0" smtClean="0"/>
              <a:t>The </a:t>
            </a:r>
            <a:r>
              <a:rPr lang="en-US" b="1" dirty="0" smtClean="0">
                <a:solidFill>
                  <a:srgbClr val="FF0000"/>
                </a:solidFill>
              </a:rPr>
              <a:t>length of a string </a:t>
            </a:r>
            <a:r>
              <a:rPr lang="en-US" dirty="0" smtClean="0"/>
              <a:t>is the number of terms in this string. </a:t>
            </a:r>
          </a:p>
          <a:p>
            <a:r>
              <a:rPr lang="en-US" dirty="0" smtClean="0"/>
              <a:t>The </a:t>
            </a:r>
            <a:r>
              <a:rPr lang="en-US" b="1" dirty="0" smtClean="0">
                <a:solidFill>
                  <a:srgbClr val="FF0000"/>
                </a:solidFill>
              </a:rPr>
              <a:t>empty string </a:t>
            </a:r>
            <a:r>
              <a:rPr lang="en-US" dirty="0" smtClean="0"/>
              <a:t>, denoted by </a:t>
            </a:r>
            <a:r>
              <a:rPr lang="en-US" b="1" dirty="0" smtClean="0">
                <a:solidFill>
                  <a:srgbClr val="FF0000"/>
                </a:solidFill>
              </a:rPr>
              <a:t>λ</a:t>
            </a:r>
            <a:r>
              <a:rPr lang="en-US" dirty="0" smtClean="0"/>
              <a:t>, is the string that has no terms. </a:t>
            </a:r>
          </a:p>
          <a:p>
            <a:r>
              <a:rPr lang="en-US" dirty="0" smtClean="0"/>
              <a:t>The empty string has length zero.</a:t>
            </a:r>
          </a:p>
          <a:p>
            <a:r>
              <a:rPr lang="en-US" dirty="0" smtClean="0"/>
              <a:t>Example:</a:t>
            </a:r>
          </a:p>
          <a:p>
            <a:r>
              <a:rPr lang="en-US" dirty="0" smtClean="0"/>
              <a:t>The string </a:t>
            </a:r>
            <a:r>
              <a:rPr lang="en-US" dirty="0" err="1" smtClean="0"/>
              <a:t>abcd</a:t>
            </a:r>
            <a:r>
              <a:rPr lang="en-US" dirty="0" smtClean="0"/>
              <a:t> is a string of length ?</a:t>
            </a:r>
          </a:p>
          <a:p>
            <a:pPr lvl="1"/>
            <a:r>
              <a:rPr lang="en-US" dirty="0" smtClean="0"/>
              <a:t>four.</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Recurrence Relations</a:t>
            </a:r>
            <a:endParaRPr lang="en-US" dirty="0"/>
          </a:p>
        </p:txBody>
      </p:sp>
      <p:sp>
        <p:nvSpPr>
          <p:cNvPr id="3" name="Content Placeholder 2"/>
          <p:cNvSpPr>
            <a:spLocks noGrp="1"/>
          </p:cNvSpPr>
          <p:nvPr>
            <p:ph idx="1"/>
          </p:nvPr>
        </p:nvSpPr>
        <p:spPr/>
        <p:txBody>
          <a:bodyPr>
            <a:normAutofit/>
          </a:bodyPr>
          <a:lstStyle/>
          <a:p>
            <a:r>
              <a:rPr lang="en-US" dirty="0" smtClean="0"/>
              <a:t>A recurrence relation for the sequence {a</a:t>
            </a:r>
            <a:r>
              <a:rPr lang="en-US" baseline="-25000" dirty="0" smtClean="0"/>
              <a:t>n</a:t>
            </a:r>
            <a:r>
              <a:rPr lang="en-US" dirty="0" smtClean="0"/>
              <a:t>} is an </a:t>
            </a:r>
            <a:r>
              <a:rPr lang="en-US" b="1" dirty="0" smtClean="0">
                <a:solidFill>
                  <a:srgbClr val="FF0000"/>
                </a:solidFill>
              </a:rPr>
              <a:t>equation</a:t>
            </a:r>
            <a:r>
              <a:rPr lang="en-US" dirty="0" smtClean="0"/>
              <a:t> that </a:t>
            </a:r>
            <a:r>
              <a:rPr lang="en-US" b="1" dirty="0" smtClean="0">
                <a:solidFill>
                  <a:srgbClr val="FF0000"/>
                </a:solidFill>
              </a:rPr>
              <a:t>expresses a</a:t>
            </a:r>
            <a:r>
              <a:rPr lang="en-US" b="1" baseline="-25000" dirty="0" smtClean="0">
                <a:solidFill>
                  <a:srgbClr val="FF0000"/>
                </a:solidFill>
              </a:rPr>
              <a:t>n</a:t>
            </a:r>
            <a:r>
              <a:rPr lang="en-US" b="1" dirty="0" smtClean="0">
                <a:solidFill>
                  <a:srgbClr val="FF0000"/>
                </a:solidFill>
              </a:rPr>
              <a:t> in terms </a:t>
            </a:r>
            <a:r>
              <a:rPr lang="en-US" dirty="0" smtClean="0"/>
              <a:t>of </a:t>
            </a:r>
            <a:r>
              <a:rPr lang="en-US" b="1" dirty="0" smtClean="0">
                <a:solidFill>
                  <a:srgbClr val="FF0000"/>
                </a:solidFill>
              </a:rPr>
              <a:t>one or more of the previous terms</a:t>
            </a:r>
            <a:r>
              <a:rPr lang="en-US" dirty="0" smtClean="0"/>
              <a:t> of the sequence, namely, a</a:t>
            </a:r>
            <a:r>
              <a:rPr lang="en-US" baseline="-25000" dirty="0" smtClean="0"/>
              <a:t>0</a:t>
            </a:r>
            <a:r>
              <a:rPr lang="en-US" dirty="0" smtClean="0"/>
              <a:t>,a</a:t>
            </a:r>
            <a:r>
              <a:rPr lang="en-US" baseline="-25000" dirty="0" smtClean="0"/>
              <a:t>1</a:t>
            </a:r>
            <a:r>
              <a:rPr lang="en-US" dirty="0" smtClean="0"/>
              <a:t>,...,a</a:t>
            </a:r>
            <a:r>
              <a:rPr lang="en-US" baseline="-25000" dirty="0" smtClean="0"/>
              <a:t>n−1</a:t>
            </a:r>
            <a:r>
              <a:rPr lang="en-US" dirty="0" smtClean="0"/>
              <a:t>, for all integers n with n ≥ n</a:t>
            </a:r>
            <a:r>
              <a:rPr lang="en-US" baseline="-25000" dirty="0" smtClean="0"/>
              <a:t>0</a:t>
            </a:r>
            <a:r>
              <a:rPr lang="en-US" dirty="0" smtClean="0"/>
              <a:t>, where n</a:t>
            </a:r>
            <a:r>
              <a:rPr lang="en-US" baseline="-25000" dirty="0" smtClean="0"/>
              <a:t>0</a:t>
            </a:r>
            <a:r>
              <a:rPr lang="en-US" dirty="0" smtClean="0"/>
              <a:t> is a nonnegative integer.</a:t>
            </a:r>
          </a:p>
          <a:p>
            <a:r>
              <a:rPr lang="en-US" dirty="0" smtClean="0"/>
              <a:t> A </a:t>
            </a:r>
            <a:r>
              <a:rPr lang="en-US" b="1" dirty="0" smtClean="0">
                <a:solidFill>
                  <a:srgbClr val="FF0000"/>
                </a:solidFill>
              </a:rPr>
              <a:t>sequence</a:t>
            </a:r>
            <a:r>
              <a:rPr lang="en-US" dirty="0" smtClean="0"/>
              <a:t> is called a </a:t>
            </a:r>
            <a:r>
              <a:rPr lang="en-US" b="1" dirty="0" smtClean="0">
                <a:solidFill>
                  <a:srgbClr val="FF0000"/>
                </a:solidFill>
              </a:rPr>
              <a:t>solution</a:t>
            </a:r>
            <a:r>
              <a:rPr lang="en-US" dirty="0" smtClean="0"/>
              <a:t> of a recurrence relation if its terms </a:t>
            </a:r>
            <a:r>
              <a:rPr lang="en-US" b="1" dirty="0" smtClean="0">
                <a:solidFill>
                  <a:srgbClr val="FF0000"/>
                </a:solidFill>
              </a:rPr>
              <a:t>satisfy </a:t>
            </a:r>
            <a:r>
              <a:rPr lang="en-US" dirty="0" smtClean="0"/>
              <a:t>the recurrence relation.</a:t>
            </a:r>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r>
              <a:rPr lang="en-US" dirty="0" smtClean="0">
                <a:solidFill>
                  <a:srgbClr val="7030A0"/>
                </a:solidFill>
              </a:rPr>
              <a:t>Let {a</a:t>
            </a:r>
            <a:r>
              <a:rPr lang="en-US" baseline="-25000" dirty="0" smtClean="0">
                <a:solidFill>
                  <a:srgbClr val="7030A0"/>
                </a:solidFill>
              </a:rPr>
              <a:t>n</a:t>
            </a:r>
            <a:r>
              <a:rPr lang="en-US" dirty="0" smtClean="0">
                <a:solidFill>
                  <a:srgbClr val="7030A0"/>
                </a:solidFill>
              </a:rPr>
              <a:t>} be a sequence that satisfies the recurrence relation a</a:t>
            </a:r>
            <a:r>
              <a:rPr lang="en-US" baseline="-25000" dirty="0" smtClean="0">
                <a:solidFill>
                  <a:srgbClr val="7030A0"/>
                </a:solidFill>
              </a:rPr>
              <a:t>n</a:t>
            </a:r>
            <a:r>
              <a:rPr lang="en-US" dirty="0" smtClean="0">
                <a:solidFill>
                  <a:srgbClr val="7030A0"/>
                </a:solidFill>
              </a:rPr>
              <a:t> =a</a:t>
            </a:r>
            <a:r>
              <a:rPr lang="en-US" baseline="-25000" dirty="0" smtClean="0">
                <a:solidFill>
                  <a:srgbClr val="7030A0"/>
                </a:solidFill>
              </a:rPr>
              <a:t>n−1</a:t>
            </a:r>
            <a:r>
              <a:rPr lang="en-US" dirty="0" smtClean="0">
                <a:solidFill>
                  <a:srgbClr val="7030A0"/>
                </a:solidFill>
              </a:rPr>
              <a:t> − a</a:t>
            </a:r>
            <a:r>
              <a:rPr lang="en-US" baseline="-25000" dirty="0" smtClean="0">
                <a:solidFill>
                  <a:srgbClr val="7030A0"/>
                </a:solidFill>
              </a:rPr>
              <a:t>n−2 </a:t>
            </a:r>
            <a:r>
              <a:rPr lang="en-US" dirty="0" smtClean="0">
                <a:solidFill>
                  <a:srgbClr val="7030A0"/>
                </a:solidFill>
              </a:rPr>
              <a:t>for n =2 , 3, 4 ,...,and suppose that a0 = 3 and a1 = 5. What are a</a:t>
            </a:r>
            <a:r>
              <a:rPr lang="en-US" baseline="-25000" dirty="0" smtClean="0">
                <a:solidFill>
                  <a:srgbClr val="7030A0"/>
                </a:solidFill>
              </a:rPr>
              <a:t>2</a:t>
            </a:r>
            <a:r>
              <a:rPr lang="en-US" dirty="0" smtClean="0">
                <a:solidFill>
                  <a:srgbClr val="7030A0"/>
                </a:solidFill>
              </a:rPr>
              <a:t>and a</a:t>
            </a:r>
            <a:r>
              <a:rPr lang="en-US" baseline="-25000" dirty="0" smtClean="0">
                <a:solidFill>
                  <a:srgbClr val="7030A0"/>
                </a:solidFill>
              </a:rPr>
              <a:t>3</a:t>
            </a:r>
            <a:r>
              <a:rPr lang="en-US" dirty="0" smtClean="0">
                <a:solidFill>
                  <a:srgbClr val="7030A0"/>
                </a:solidFill>
              </a:rPr>
              <a:t>?</a:t>
            </a:r>
          </a:p>
          <a:p>
            <a:pPr lvl="1"/>
            <a:r>
              <a:rPr lang="en-US" dirty="0" smtClean="0"/>
              <a:t>The recurrence relation that </a:t>
            </a:r>
          </a:p>
          <a:p>
            <a:pPr lvl="1"/>
            <a:r>
              <a:rPr lang="en-US" dirty="0" smtClean="0"/>
              <a:t>a</a:t>
            </a:r>
            <a:r>
              <a:rPr lang="en-US" baseline="-25000" dirty="0" smtClean="0"/>
              <a:t>2</a:t>
            </a:r>
            <a:r>
              <a:rPr lang="en-US" dirty="0" smtClean="0"/>
              <a:t> = a</a:t>
            </a:r>
            <a:r>
              <a:rPr lang="en-US" baseline="-25000" dirty="0" smtClean="0"/>
              <a:t>1</a:t>
            </a:r>
            <a:r>
              <a:rPr lang="en-US" dirty="0" smtClean="0"/>
              <a:t> − a</a:t>
            </a:r>
            <a:r>
              <a:rPr lang="en-US" baseline="-25000" dirty="0" smtClean="0"/>
              <a:t>0</a:t>
            </a:r>
            <a:r>
              <a:rPr lang="en-US" dirty="0" smtClean="0"/>
              <a:t> = 5 − 3 = 2 </a:t>
            </a:r>
          </a:p>
          <a:p>
            <a:pPr lvl="1"/>
            <a:r>
              <a:rPr lang="en-US" dirty="0" smtClean="0"/>
              <a:t>a</a:t>
            </a:r>
            <a:r>
              <a:rPr lang="en-US" baseline="-25000" dirty="0" smtClean="0"/>
              <a:t>3</a:t>
            </a:r>
            <a:r>
              <a:rPr lang="en-US" dirty="0" smtClean="0"/>
              <a:t> = a</a:t>
            </a:r>
            <a:r>
              <a:rPr lang="en-US" baseline="-25000" dirty="0" smtClean="0"/>
              <a:t>2</a:t>
            </a:r>
            <a:r>
              <a:rPr lang="en-US" dirty="0" smtClean="0"/>
              <a:t> − a</a:t>
            </a:r>
            <a:r>
              <a:rPr lang="en-US" baseline="-25000" dirty="0" smtClean="0"/>
              <a:t>1</a:t>
            </a:r>
            <a:r>
              <a:rPr lang="en-US" dirty="0" smtClean="0"/>
              <a:t> = 2 − 5 =−3</a:t>
            </a:r>
          </a:p>
          <a:p>
            <a:pPr lvl="1"/>
            <a:r>
              <a:rPr lang="en-US" dirty="0" smtClean="0"/>
              <a:t>We can find a</a:t>
            </a:r>
            <a:r>
              <a:rPr lang="en-US" baseline="-25000" dirty="0" smtClean="0"/>
              <a:t>4</a:t>
            </a:r>
            <a:r>
              <a:rPr lang="en-US" dirty="0" smtClean="0"/>
              <a:t>, a</a:t>
            </a:r>
            <a:r>
              <a:rPr lang="en-US" baseline="-25000" dirty="0" smtClean="0"/>
              <a:t>5</a:t>
            </a:r>
            <a:r>
              <a:rPr lang="en-US" dirty="0" smtClean="0"/>
              <a:t>, and each successive term in a similar way.</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r>
              <a:rPr lang="en-US" dirty="0" smtClean="0">
                <a:solidFill>
                  <a:srgbClr val="7030A0"/>
                </a:solidFill>
              </a:rPr>
              <a:t>Let{a</a:t>
            </a:r>
            <a:r>
              <a:rPr lang="en-US" baseline="-25000" dirty="0" smtClean="0">
                <a:solidFill>
                  <a:srgbClr val="7030A0"/>
                </a:solidFill>
              </a:rPr>
              <a:t>n</a:t>
            </a:r>
            <a:r>
              <a:rPr lang="en-US" dirty="0" smtClean="0">
                <a:solidFill>
                  <a:srgbClr val="7030A0"/>
                </a:solidFill>
              </a:rPr>
              <a:t>} be a sequence that satisfies the recurrence relation a</a:t>
            </a:r>
            <a:r>
              <a:rPr lang="en-US" baseline="-25000" dirty="0" smtClean="0">
                <a:solidFill>
                  <a:srgbClr val="7030A0"/>
                </a:solidFill>
              </a:rPr>
              <a:t>n</a:t>
            </a:r>
            <a:r>
              <a:rPr lang="en-US" dirty="0" smtClean="0">
                <a:solidFill>
                  <a:srgbClr val="7030A0"/>
                </a:solidFill>
              </a:rPr>
              <a:t> = a </a:t>
            </a:r>
            <a:r>
              <a:rPr lang="en-US" baseline="-25000" dirty="0" smtClean="0">
                <a:solidFill>
                  <a:srgbClr val="7030A0"/>
                </a:solidFill>
              </a:rPr>
              <a:t>n−1</a:t>
            </a:r>
            <a:r>
              <a:rPr lang="en-US" dirty="0" smtClean="0">
                <a:solidFill>
                  <a:srgbClr val="7030A0"/>
                </a:solidFill>
              </a:rPr>
              <a:t> + 3 for n = 1, 2 , 3,...,and suppose that a</a:t>
            </a:r>
            <a:r>
              <a:rPr lang="en-US" baseline="-25000" dirty="0" smtClean="0">
                <a:solidFill>
                  <a:srgbClr val="7030A0"/>
                </a:solidFill>
              </a:rPr>
              <a:t>0</a:t>
            </a:r>
            <a:r>
              <a:rPr lang="en-US" dirty="0" smtClean="0">
                <a:solidFill>
                  <a:srgbClr val="7030A0"/>
                </a:solidFill>
              </a:rPr>
              <a:t> = 2. What are a</a:t>
            </a:r>
            <a:r>
              <a:rPr lang="en-US" baseline="-25000" dirty="0" smtClean="0">
                <a:solidFill>
                  <a:srgbClr val="7030A0"/>
                </a:solidFill>
              </a:rPr>
              <a:t>1</a:t>
            </a:r>
            <a:r>
              <a:rPr lang="en-US" dirty="0" smtClean="0">
                <a:solidFill>
                  <a:srgbClr val="7030A0"/>
                </a:solidFill>
              </a:rPr>
              <a:t>, a</a:t>
            </a:r>
            <a:r>
              <a:rPr lang="en-US" baseline="-25000" dirty="0" smtClean="0">
                <a:solidFill>
                  <a:srgbClr val="7030A0"/>
                </a:solidFill>
              </a:rPr>
              <a:t>2</a:t>
            </a:r>
            <a:r>
              <a:rPr lang="en-US" dirty="0" smtClean="0">
                <a:solidFill>
                  <a:srgbClr val="7030A0"/>
                </a:solidFill>
              </a:rPr>
              <a:t>, and a</a:t>
            </a:r>
            <a:r>
              <a:rPr lang="en-US" baseline="-25000" dirty="0" smtClean="0">
                <a:solidFill>
                  <a:srgbClr val="7030A0"/>
                </a:solidFill>
              </a:rPr>
              <a:t>3</a:t>
            </a:r>
            <a:r>
              <a:rPr lang="en-US" dirty="0" smtClean="0">
                <a:solidFill>
                  <a:srgbClr val="7030A0"/>
                </a:solidFill>
              </a:rPr>
              <a:t>?</a:t>
            </a:r>
          </a:p>
          <a:p>
            <a:pPr lvl="1"/>
            <a:r>
              <a:rPr lang="en-US" dirty="0" smtClean="0"/>
              <a:t>The recurrence relation that </a:t>
            </a:r>
          </a:p>
          <a:p>
            <a:pPr lvl="1"/>
            <a:r>
              <a:rPr lang="en-US" dirty="0" smtClean="0"/>
              <a:t>a</a:t>
            </a:r>
            <a:r>
              <a:rPr lang="en-US" baseline="-25000" dirty="0" smtClean="0"/>
              <a:t>1</a:t>
            </a:r>
            <a:r>
              <a:rPr lang="en-US" dirty="0" smtClean="0"/>
              <a:t> = a</a:t>
            </a:r>
            <a:r>
              <a:rPr lang="en-US" baseline="-25000" dirty="0" smtClean="0"/>
              <a:t>0</a:t>
            </a:r>
            <a:r>
              <a:rPr lang="en-US" dirty="0" smtClean="0"/>
              <a:t> + 3 = 2 + 3 = 5.</a:t>
            </a:r>
          </a:p>
          <a:p>
            <a:pPr lvl="1"/>
            <a:r>
              <a:rPr lang="en-US" dirty="0" smtClean="0"/>
              <a:t>a</a:t>
            </a:r>
            <a:r>
              <a:rPr lang="en-US" baseline="-25000" dirty="0" smtClean="0"/>
              <a:t>2</a:t>
            </a:r>
            <a:r>
              <a:rPr lang="en-US" dirty="0" smtClean="0"/>
              <a:t> = 5 + 3 = 8 </a:t>
            </a:r>
          </a:p>
          <a:p>
            <a:pPr lvl="1"/>
            <a:r>
              <a:rPr lang="en-US" dirty="0" smtClean="0"/>
              <a:t>a</a:t>
            </a:r>
            <a:r>
              <a:rPr lang="en-US" baseline="-25000" dirty="0" smtClean="0"/>
              <a:t>3</a:t>
            </a:r>
            <a:r>
              <a:rPr lang="en-US" dirty="0" smtClean="0"/>
              <a:t> = 8 + 3 = 11</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Fibonacci sequence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07184" y="1752600"/>
            <a:ext cx="7874815" cy="2133600"/>
          </a:xfrm>
          <a:prstGeom prst="rect">
            <a:avLst/>
          </a:prstGeom>
          <a:noFill/>
          <a:ln w="9525">
            <a:noFill/>
            <a:miter lim="800000"/>
            <a:headEnd/>
            <a:tailEnd/>
          </a:ln>
          <a:effectLst/>
        </p:spPr>
      </p:pic>
      <p:pic>
        <p:nvPicPr>
          <p:cNvPr id="1027" name="Picture 3"/>
          <p:cNvPicPr>
            <a:picLocks noChangeAspect="1" noChangeArrowheads="1"/>
          </p:cNvPicPr>
          <p:nvPr/>
        </p:nvPicPr>
        <p:blipFill>
          <a:blip r:embed="rId3" cstate="print"/>
          <a:srcRect/>
          <a:stretch>
            <a:fillRect/>
          </a:stretch>
        </p:blipFill>
        <p:spPr bwMode="auto">
          <a:xfrm>
            <a:off x="533400" y="3962400"/>
            <a:ext cx="5673498" cy="5905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4" cstate="print"/>
          <a:srcRect/>
          <a:stretch>
            <a:fillRect/>
          </a:stretch>
        </p:blipFill>
        <p:spPr bwMode="auto">
          <a:xfrm>
            <a:off x="609600" y="4552118"/>
            <a:ext cx="3810000" cy="2168558"/>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5" name="Rectangle 4"/>
          <p:cNvSpPr/>
          <p:nvPr/>
        </p:nvSpPr>
        <p:spPr>
          <a:xfrm>
            <a:off x="1143000" y="1981200"/>
            <a:ext cx="7086600" cy="3785652"/>
          </a:xfrm>
          <a:prstGeom prst="rect">
            <a:avLst/>
          </a:prstGeom>
        </p:spPr>
        <p:txBody>
          <a:bodyPr wrap="square">
            <a:spAutoFit/>
          </a:bodyPr>
          <a:lstStyle/>
          <a:p>
            <a:r>
              <a:rPr lang="en-US" sz="2400" b="1" dirty="0" smtClean="0">
                <a:solidFill>
                  <a:srgbClr val="7030A0"/>
                </a:solidFill>
              </a:rPr>
              <a:t>Suppose that {a</a:t>
            </a:r>
            <a:r>
              <a:rPr lang="en-US" sz="2400" b="1" baseline="-25000" dirty="0" smtClean="0">
                <a:solidFill>
                  <a:srgbClr val="7030A0"/>
                </a:solidFill>
              </a:rPr>
              <a:t>n</a:t>
            </a:r>
            <a:r>
              <a:rPr lang="en-US" sz="2400" b="1" dirty="0" smtClean="0">
                <a:solidFill>
                  <a:srgbClr val="7030A0"/>
                </a:solidFill>
              </a:rPr>
              <a:t>} is the sequence of integers defined by </a:t>
            </a:r>
            <a:r>
              <a:rPr lang="en-US" sz="2400" b="1" dirty="0" smtClean="0">
                <a:solidFill>
                  <a:srgbClr val="FF0000"/>
                </a:solidFill>
              </a:rPr>
              <a:t>a</a:t>
            </a:r>
            <a:r>
              <a:rPr lang="en-US" sz="2400" b="1" baseline="-25000" dirty="0" smtClean="0">
                <a:solidFill>
                  <a:srgbClr val="FF0000"/>
                </a:solidFill>
              </a:rPr>
              <a:t>n</a:t>
            </a:r>
            <a:r>
              <a:rPr lang="en-US" sz="2400" b="1" dirty="0" smtClean="0">
                <a:solidFill>
                  <a:srgbClr val="FF0000"/>
                </a:solidFill>
              </a:rPr>
              <a:t> = n!,</a:t>
            </a:r>
            <a:r>
              <a:rPr lang="en-US" sz="2400" b="1" dirty="0" smtClean="0">
                <a:solidFill>
                  <a:srgbClr val="7030A0"/>
                </a:solidFill>
              </a:rPr>
              <a:t> the value of the factorial function at the integer n, where n = 1, 2, 3, . . ..</a:t>
            </a:r>
          </a:p>
          <a:p>
            <a:r>
              <a:rPr lang="en-US" sz="2400" b="1" dirty="0" smtClean="0">
                <a:solidFill>
                  <a:srgbClr val="7030A0"/>
                </a:solidFill>
              </a:rPr>
              <a:t> Because n!  = n((n − 1)(n − 2) . . . 2 ・ 1) </a:t>
            </a:r>
          </a:p>
          <a:p>
            <a:r>
              <a:rPr lang="en-US" sz="2400" b="1" dirty="0" smtClean="0">
                <a:solidFill>
                  <a:srgbClr val="7030A0"/>
                </a:solidFill>
              </a:rPr>
              <a:t>                         = n(n − 1)! </a:t>
            </a:r>
          </a:p>
          <a:p>
            <a:r>
              <a:rPr lang="en-US" sz="2400" b="1" dirty="0" smtClean="0">
                <a:solidFill>
                  <a:srgbClr val="7030A0"/>
                </a:solidFill>
              </a:rPr>
              <a:t>                         = na</a:t>
            </a:r>
            <a:r>
              <a:rPr lang="en-US" sz="2400" b="1" baseline="-25000" dirty="0" smtClean="0">
                <a:solidFill>
                  <a:srgbClr val="7030A0"/>
                </a:solidFill>
              </a:rPr>
              <a:t>n−1</a:t>
            </a:r>
            <a:endParaRPr lang="en-US" sz="2400" b="1" dirty="0" smtClean="0">
              <a:solidFill>
                <a:srgbClr val="7030A0"/>
              </a:solidFill>
            </a:endParaRPr>
          </a:p>
          <a:p>
            <a:r>
              <a:rPr lang="en-US" sz="2400" b="1" dirty="0" smtClean="0">
                <a:solidFill>
                  <a:srgbClr val="7030A0"/>
                </a:solidFill>
              </a:rPr>
              <a:t> we see that the sequence of factorials satisfies the recurrence relation</a:t>
            </a:r>
          </a:p>
          <a:p>
            <a:pPr algn="ctr"/>
            <a:r>
              <a:rPr lang="en-US" sz="2400" b="1" dirty="0" smtClean="0">
                <a:solidFill>
                  <a:srgbClr val="FF0000"/>
                </a:solidFill>
              </a:rPr>
              <a:t>a</a:t>
            </a:r>
            <a:r>
              <a:rPr lang="en-US" sz="2400" b="1" baseline="-25000" dirty="0" smtClean="0">
                <a:solidFill>
                  <a:srgbClr val="FF0000"/>
                </a:solidFill>
              </a:rPr>
              <a:t>n</a:t>
            </a:r>
            <a:r>
              <a:rPr lang="en-US" sz="2400" b="1" dirty="0" smtClean="0">
                <a:solidFill>
                  <a:srgbClr val="FF0000"/>
                </a:solidFill>
              </a:rPr>
              <a:t> = na</a:t>
            </a:r>
            <a:r>
              <a:rPr lang="en-US" sz="2400" b="1" baseline="-25000" dirty="0" smtClean="0">
                <a:solidFill>
                  <a:srgbClr val="FF0000"/>
                </a:solidFill>
              </a:rPr>
              <a:t>n−1</a:t>
            </a:r>
            <a:endParaRPr lang="en-US" sz="2400" b="1" dirty="0" smtClean="0">
              <a:solidFill>
                <a:srgbClr val="FF0000"/>
              </a:solidFill>
            </a:endParaRPr>
          </a:p>
          <a:p>
            <a:r>
              <a:rPr lang="en-US" sz="2400" b="1" dirty="0" smtClean="0">
                <a:solidFill>
                  <a:srgbClr val="7030A0"/>
                </a:solidFill>
              </a:rPr>
              <a:t> together with the initial condition a</a:t>
            </a:r>
            <a:r>
              <a:rPr lang="en-US" sz="2400" b="1" baseline="-25000" dirty="0" smtClean="0">
                <a:solidFill>
                  <a:srgbClr val="7030A0"/>
                </a:solidFill>
              </a:rPr>
              <a:t>1</a:t>
            </a:r>
            <a:r>
              <a:rPr lang="en-US" sz="2400" b="1" dirty="0" smtClean="0">
                <a:solidFill>
                  <a:srgbClr val="7030A0"/>
                </a:solidFill>
              </a:rPr>
              <a:t> = 1.</a:t>
            </a:r>
            <a:endParaRPr lang="en-US" sz="2400" b="1" dirty="0">
              <a:solidFill>
                <a:srgbClr val="7030A0"/>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0" y="2057400"/>
            <a:ext cx="9240157" cy="1143000"/>
          </a:xfrm>
          <a:prstGeom prst="rect">
            <a:avLst/>
          </a:prstGeom>
          <a:noFill/>
          <a:ln w="9525">
            <a:noFill/>
            <a:miter lim="800000"/>
            <a:headEnd/>
            <a:tailEnd/>
          </a:ln>
          <a:effectLst/>
        </p:spPr>
      </p:pic>
      <p:pic>
        <p:nvPicPr>
          <p:cNvPr id="2052" name="Picture 4"/>
          <p:cNvPicPr>
            <a:picLocks noChangeAspect="1" noChangeArrowheads="1"/>
          </p:cNvPicPr>
          <p:nvPr/>
        </p:nvPicPr>
        <p:blipFill>
          <a:blip r:embed="rId3" cstate="print"/>
          <a:srcRect/>
          <a:stretch>
            <a:fillRect/>
          </a:stretch>
        </p:blipFill>
        <p:spPr bwMode="auto">
          <a:xfrm>
            <a:off x="-5526" y="3886200"/>
            <a:ext cx="9149526" cy="2514600"/>
          </a:xfrm>
          <a:prstGeom prst="rect">
            <a:avLst/>
          </a:prstGeom>
          <a:noFill/>
          <a:ln w="9525">
            <a:noFill/>
            <a:miter lim="800000"/>
            <a:headEnd/>
            <a:tailEnd/>
          </a:ln>
          <a:effectLst/>
        </p:spPr>
      </p:pic>
      <p:sp>
        <p:nvSpPr>
          <p:cNvPr id="7" name="Title 6"/>
          <p:cNvSpPr>
            <a:spLocks noGrp="1"/>
          </p:cNvSpPr>
          <p:nvPr>
            <p:ph type="title"/>
          </p:nvPr>
        </p:nvSpPr>
        <p:spPr/>
        <p:txBody>
          <a:bodyPr/>
          <a:lstStyle/>
          <a:p>
            <a:r>
              <a:rPr lang="en-US" dirty="0" smtClean="0"/>
              <a:t>Example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Summations</a:t>
            </a:r>
            <a:endParaRPr lang="en-US" dirty="0"/>
          </a:p>
        </p:txBody>
      </p:sp>
      <p:sp>
        <p:nvSpPr>
          <p:cNvPr id="3" name="Content Placeholder 2"/>
          <p:cNvSpPr>
            <a:spLocks noGrp="1"/>
          </p:cNvSpPr>
          <p:nvPr>
            <p:ph idx="1"/>
          </p:nvPr>
        </p:nvSpPr>
        <p:spPr/>
        <p:txBody>
          <a:bodyPr>
            <a:normAutofit lnSpcReduction="10000"/>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The index of summation runs through all integers starting with its </a:t>
            </a:r>
            <a:r>
              <a:rPr lang="en-US" b="1" dirty="0" smtClean="0">
                <a:solidFill>
                  <a:srgbClr val="FF0000"/>
                </a:solidFill>
              </a:rPr>
              <a:t>lower limit m </a:t>
            </a:r>
            <a:r>
              <a:rPr lang="en-US" dirty="0" smtClean="0"/>
              <a:t>and ending with its </a:t>
            </a:r>
            <a:r>
              <a:rPr lang="en-US" b="1" dirty="0" smtClean="0">
                <a:solidFill>
                  <a:srgbClr val="FF0000"/>
                </a:solidFill>
              </a:rPr>
              <a:t>upper limit n</a:t>
            </a:r>
            <a:r>
              <a:rPr lang="en-US" dirty="0" smtClean="0"/>
              <a: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87958" y="1600200"/>
            <a:ext cx="8198842" cy="33528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2050" name="Picture 2"/>
          <p:cNvPicPr>
            <a:picLocks noChangeAspect="1" noChangeArrowheads="1"/>
          </p:cNvPicPr>
          <p:nvPr/>
        </p:nvPicPr>
        <p:blipFill>
          <a:blip r:embed="rId2" cstate="print"/>
          <a:srcRect/>
          <a:stretch>
            <a:fillRect/>
          </a:stretch>
        </p:blipFill>
        <p:spPr bwMode="auto">
          <a:xfrm>
            <a:off x="228600" y="2971800"/>
            <a:ext cx="8534400" cy="175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normAutofit/>
          </a:bodyPr>
          <a:lstStyle/>
          <a:p>
            <a:r>
              <a:rPr lang="en-US" dirty="0" smtClean="0"/>
              <a:t>Use summation notation to express the sum of the first 100 terms of the sequence {</a:t>
            </a:r>
            <a:r>
              <a:rPr lang="en-US" dirty="0" err="1" smtClean="0"/>
              <a:t>a</a:t>
            </a:r>
            <a:r>
              <a:rPr lang="en-US" baseline="-25000" dirty="0" err="1" smtClean="0"/>
              <a:t>j</a:t>
            </a:r>
            <a:r>
              <a:rPr lang="en-US" dirty="0" smtClean="0"/>
              <a:t>}, where </a:t>
            </a:r>
            <a:r>
              <a:rPr lang="en-US" dirty="0" err="1" smtClean="0"/>
              <a:t>a</a:t>
            </a:r>
            <a:r>
              <a:rPr lang="en-US" baseline="-25000" dirty="0" err="1" smtClean="0"/>
              <a:t>j</a:t>
            </a:r>
            <a:r>
              <a:rPr lang="en-US" dirty="0" smtClean="0"/>
              <a:t> = 1/j for j = 1, 2 , 3,....</a:t>
            </a:r>
          </a:p>
          <a:p>
            <a:pPr lvl="1"/>
            <a:r>
              <a:rPr lang="en-US" dirty="0" smtClean="0"/>
              <a:t>The lower limit for the index of summation is 1, and the upper limit is 100. The sum is: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219200" y="4343400"/>
            <a:ext cx="1853120" cy="180498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990600" y="1905000"/>
            <a:ext cx="4122254" cy="752475"/>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cstate="print"/>
          <a:srcRect/>
          <a:stretch>
            <a:fillRect/>
          </a:stretch>
        </p:blipFill>
        <p:spPr bwMode="auto">
          <a:xfrm>
            <a:off x="960428" y="2719388"/>
            <a:ext cx="5140335" cy="238601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990600" y="1905000"/>
            <a:ext cx="4615958" cy="642937"/>
          </a:xfrm>
          <a:prstGeom prst="rect">
            <a:avLst/>
          </a:prstGeom>
          <a:noFill/>
          <a:ln w="9525">
            <a:noFill/>
            <a:miter lim="800000"/>
            <a:headEnd/>
            <a:tailEnd/>
          </a:ln>
          <a:effectLst/>
        </p:spPr>
      </p:pic>
      <p:pic>
        <p:nvPicPr>
          <p:cNvPr id="5123" name="Picture 3"/>
          <p:cNvPicPr>
            <a:picLocks noChangeAspect="1" noChangeArrowheads="1"/>
          </p:cNvPicPr>
          <p:nvPr/>
        </p:nvPicPr>
        <p:blipFill>
          <a:blip r:embed="rId3" cstate="print"/>
          <a:srcRect/>
          <a:stretch>
            <a:fillRect/>
          </a:stretch>
        </p:blipFill>
        <p:spPr bwMode="auto">
          <a:xfrm>
            <a:off x="958647" y="2690813"/>
            <a:ext cx="5946978" cy="188118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7170" name="Picture 2"/>
          <p:cNvPicPr>
            <a:picLocks noChangeAspect="1" noChangeArrowheads="1"/>
          </p:cNvPicPr>
          <p:nvPr/>
        </p:nvPicPr>
        <p:blipFill>
          <a:blip r:embed="rId2" cstate="print"/>
          <a:srcRect/>
          <a:stretch>
            <a:fillRect/>
          </a:stretch>
        </p:blipFill>
        <p:spPr bwMode="auto">
          <a:xfrm>
            <a:off x="2089228" y="2676524"/>
            <a:ext cx="5302172" cy="2276476"/>
          </a:xfrm>
          <a:prstGeom prst="rect">
            <a:avLst/>
          </a:prstGeom>
          <a:ln w="88900" cap="sq" cmpd="thickThin">
            <a:solidFill>
              <a:schemeClr val="accent4">
                <a:lumMod val="50000"/>
              </a:schemeClr>
            </a:solidFill>
            <a:prstDash val="solid"/>
            <a:miter lim="800000"/>
          </a:ln>
          <a:effectLst>
            <a:innerShdw blurRad="76200">
              <a:srgbClr val="000000"/>
            </a:innerShdw>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8195" name="Picture 3"/>
          <p:cNvPicPr>
            <a:picLocks noChangeAspect="1" noChangeArrowheads="1"/>
          </p:cNvPicPr>
          <p:nvPr/>
        </p:nvPicPr>
        <p:blipFill>
          <a:blip r:embed="rId2" cstate="print"/>
          <a:srcRect/>
          <a:stretch>
            <a:fillRect/>
          </a:stretch>
        </p:blipFill>
        <p:spPr bwMode="auto">
          <a:xfrm>
            <a:off x="914400" y="1600200"/>
            <a:ext cx="2003198" cy="1390650"/>
          </a:xfrm>
          <a:prstGeom prst="rect">
            <a:avLst/>
          </a:prstGeom>
          <a:noFill/>
          <a:ln w="9525">
            <a:noFill/>
            <a:miter lim="800000"/>
            <a:headEnd/>
            <a:tailEnd/>
          </a:ln>
          <a:effectLst/>
        </p:spPr>
      </p:pic>
      <p:pic>
        <p:nvPicPr>
          <p:cNvPr id="8196" name="Picture 4"/>
          <p:cNvPicPr>
            <a:picLocks noChangeAspect="1" noChangeArrowheads="1"/>
          </p:cNvPicPr>
          <p:nvPr/>
        </p:nvPicPr>
        <p:blipFill>
          <a:blip r:embed="rId3" cstate="print"/>
          <a:srcRect/>
          <a:stretch>
            <a:fillRect/>
          </a:stretch>
        </p:blipFill>
        <p:spPr bwMode="auto">
          <a:xfrm>
            <a:off x="838200" y="3133724"/>
            <a:ext cx="8153400" cy="1209676"/>
          </a:xfrm>
          <a:prstGeom prst="rect">
            <a:avLst/>
          </a:prstGeom>
          <a:noFill/>
          <a:ln w="9525">
            <a:noFill/>
            <a:miter lim="800000"/>
            <a:headEnd/>
            <a:tailEnd/>
          </a:ln>
          <a:effectLst/>
        </p:spPr>
      </p:pic>
      <p:pic>
        <p:nvPicPr>
          <p:cNvPr id="8197" name="Picture 5"/>
          <p:cNvPicPr>
            <a:picLocks noChangeAspect="1" noChangeArrowheads="1"/>
          </p:cNvPicPr>
          <p:nvPr/>
        </p:nvPicPr>
        <p:blipFill>
          <a:blip r:embed="rId4" cstate="print"/>
          <a:srcRect/>
          <a:stretch>
            <a:fillRect/>
          </a:stretch>
        </p:blipFill>
        <p:spPr bwMode="auto">
          <a:xfrm>
            <a:off x="1066800" y="4114800"/>
            <a:ext cx="3828288" cy="2133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9218" name="Picture 2"/>
          <p:cNvPicPr>
            <a:picLocks noChangeAspect="1" noChangeArrowheads="1"/>
          </p:cNvPicPr>
          <p:nvPr/>
        </p:nvPicPr>
        <p:blipFill>
          <a:blip r:embed="rId2" cstate="print"/>
          <a:srcRect/>
          <a:stretch>
            <a:fillRect/>
          </a:stretch>
        </p:blipFill>
        <p:spPr bwMode="auto">
          <a:xfrm>
            <a:off x="0" y="2609850"/>
            <a:ext cx="9220200" cy="2266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cstate="print"/>
          <a:srcRect b="6785"/>
          <a:stretch>
            <a:fillRect/>
          </a:stretch>
        </p:blipFill>
        <p:spPr bwMode="auto">
          <a:xfrm>
            <a:off x="1294457" y="0"/>
            <a:ext cx="6283289" cy="68580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pic>
        <p:nvPicPr>
          <p:cNvPr id="11266" name="Picture 2"/>
          <p:cNvPicPr>
            <a:picLocks noChangeAspect="1" noChangeArrowheads="1"/>
          </p:cNvPicPr>
          <p:nvPr/>
        </p:nvPicPr>
        <p:blipFill>
          <a:blip r:embed="rId2" cstate="print"/>
          <a:srcRect/>
          <a:stretch>
            <a:fillRect/>
          </a:stretch>
        </p:blipFill>
        <p:spPr bwMode="auto">
          <a:xfrm>
            <a:off x="914400" y="1905000"/>
            <a:ext cx="4631455" cy="538162"/>
          </a:xfrm>
          <a:prstGeom prst="rect">
            <a:avLst/>
          </a:prstGeom>
          <a:noFill/>
          <a:ln w="9525">
            <a:noFill/>
            <a:miter lim="800000"/>
            <a:headEnd/>
            <a:tailEnd/>
          </a:ln>
          <a:effectLst/>
        </p:spPr>
      </p:pic>
      <p:pic>
        <p:nvPicPr>
          <p:cNvPr id="11267" name="Picture 3"/>
          <p:cNvPicPr>
            <a:picLocks noChangeAspect="1" noChangeArrowheads="1"/>
          </p:cNvPicPr>
          <p:nvPr/>
        </p:nvPicPr>
        <p:blipFill>
          <a:blip r:embed="rId3" cstate="print"/>
          <a:srcRect/>
          <a:stretch>
            <a:fillRect/>
          </a:stretch>
        </p:blipFill>
        <p:spPr bwMode="auto">
          <a:xfrm>
            <a:off x="341171" y="2852738"/>
            <a:ext cx="8650429" cy="1414462"/>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pic>
        <p:nvPicPr>
          <p:cNvPr id="12290" name="Picture 2"/>
          <p:cNvPicPr>
            <a:picLocks noChangeAspect="1" noChangeArrowheads="1"/>
          </p:cNvPicPr>
          <p:nvPr/>
        </p:nvPicPr>
        <p:blipFill>
          <a:blip r:embed="rId2" cstate="print"/>
          <a:srcRect t="11765"/>
          <a:stretch>
            <a:fillRect/>
          </a:stretch>
        </p:blipFill>
        <p:spPr bwMode="auto">
          <a:xfrm>
            <a:off x="914400" y="1828800"/>
            <a:ext cx="2072640" cy="571500"/>
          </a:xfrm>
          <a:prstGeom prst="rect">
            <a:avLst/>
          </a:prstGeom>
          <a:noFill/>
          <a:ln w="9525">
            <a:noFill/>
            <a:miter lim="800000"/>
            <a:headEnd/>
            <a:tailEnd/>
          </a:ln>
          <a:effectLst/>
        </p:spPr>
      </p:pic>
      <p:pic>
        <p:nvPicPr>
          <p:cNvPr id="12292" name="Picture 4"/>
          <p:cNvPicPr>
            <a:picLocks noChangeAspect="1" noChangeArrowheads="1"/>
          </p:cNvPicPr>
          <p:nvPr/>
        </p:nvPicPr>
        <p:blipFill>
          <a:blip r:embed="rId3" cstate="print"/>
          <a:srcRect r="12802"/>
          <a:stretch>
            <a:fillRect/>
          </a:stretch>
        </p:blipFill>
        <p:spPr bwMode="auto">
          <a:xfrm>
            <a:off x="749127" y="2614613"/>
            <a:ext cx="8319883" cy="355758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Assignment</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Exercise 2.4</a:t>
            </a:r>
          </a:p>
          <a:p>
            <a:r>
              <a:rPr lang="en-US" b="1" dirty="0" smtClean="0"/>
              <a:t>1</a:t>
            </a:r>
          </a:p>
          <a:p>
            <a:r>
              <a:rPr lang="en-US" b="1" dirty="0" smtClean="0"/>
              <a:t>2</a:t>
            </a:r>
          </a:p>
          <a:p>
            <a:r>
              <a:rPr lang="en-US" b="1" dirty="0" smtClean="0"/>
              <a:t>3</a:t>
            </a:r>
          </a:p>
          <a:p>
            <a:r>
              <a:rPr lang="en-US" b="1" dirty="0" smtClean="0"/>
              <a:t>9</a:t>
            </a:r>
          </a:p>
          <a:p>
            <a:r>
              <a:rPr lang="en-US" b="1" dirty="0" smtClean="0"/>
              <a:t>10</a:t>
            </a:r>
          </a:p>
          <a:p>
            <a:r>
              <a:rPr lang="en-US" b="1" smtClean="0"/>
              <a:t>13</a:t>
            </a:r>
            <a:endParaRPr lang="en-US" b="1" dirty="0" smtClean="0"/>
          </a:p>
          <a:p>
            <a:r>
              <a:rPr lang="en-US" b="1" dirty="0" smtClean="0"/>
              <a:t>15a,b,d</a:t>
            </a:r>
          </a:p>
          <a:p>
            <a:r>
              <a:rPr lang="en-US" b="1" dirty="0" smtClean="0"/>
              <a:t>17a,b,d</a:t>
            </a:r>
          </a:p>
          <a:p>
            <a:r>
              <a:rPr lang="en-US" b="1" dirty="0" smtClean="0"/>
              <a:t>29</a:t>
            </a:r>
          </a:p>
          <a:p>
            <a:r>
              <a:rPr lang="en-US" b="1" dirty="0" smtClean="0"/>
              <a:t>31</a:t>
            </a:r>
          </a:p>
          <a:p>
            <a:r>
              <a:rPr lang="en-US" b="1" dirty="0" smtClean="0"/>
              <a:t>33</a:t>
            </a:r>
          </a:p>
          <a:p>
            <a:r>
              <a:rPr lang="en-US" b="1" dirty="0" smtClean="0"/>
              <a:t>39</a:t>
            </a:r>
          </a:p>
          <a:p>
            <a:pPr>
              <a:buNone/>
            </a:pPr>
            <a:endParaRPr lang="en-US" b="1" dirty="0" smtClean="0"/>
          </a:p>
          <a:p>
            <a:endParaRPr lang="en-US" b="1" dirty="0" smtClean="0"/>
          </a:p>
          <a:p>
            <a:endParaRPr lang="en-US" b="1"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SETS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Cardinality of Sets</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Cardinality</a:t>
            </a:r>
            <a:endParaRPr lang="en-US" dirty="0"/>
          </a:p>
        </p:txBody>
      </p:sp>
      <p:sp>
        <p:nvSpPr>
          <p:cNvPr id="3" name="Content Placeholder 2"/>
          <p:cNvSpPr>
            <a:spLocks noGrp="1"/>
          </p:cNvSpPr>
          <p:nvPr>
            <p:ph idx="1"/>
          </p:nvPr>
        </p:nvSpPr>
        <p:spPr>
          <a:blipFill>
            <a:blip r:embed="rId2" cstate="print"/>
            <a:tile tx="0" ty="0" sx="100000" sy="100000" flip="none" algn="tl"/>
          </a:blipFill>
          <a:ln w="38100">
            <a:solidFill>
              <a:srgbClr val="002060"/>
            </a:solidFill>
          </a:ln>
          <a:effectLst>
            <a:glow rad="101600">
              <a:schemeClr val="accent2">
                <a:satMod val="175000"/>
                <a:alpha val="40000"/>
              </a:schemeClr>
            </a:glow>
            <a:outerShdw blurRad="50800" dist="38100" dir="16200000" rotWithShape="0">
              <a:prstClr val="black">
                <a:alpha val="40000"/>
              </a:prstClr>
            </a:outerShdw>
          </a:effectLst>
          <a:scene3d>
            <a:camera prst="orthographicFront"/>
            <a:lightRig rig="threePt" dir="t"/>
          </a:scene3d>
          <a:sp3d>
            <a:bevelT/>
          </a:sp3d>
        </p:spPr>
        <p:txBody>
          <a:bodyPr/>
          <a:lstStyle/>
          <a:p>
            <a:r>
              <a:rPr lang="en-US" dirty="0" smtClean="0"/>
              <a:t>The sets </a:t>
            </a:r>
            <a:r>
              <a:rPr lang="en-US" b="1" dirty="0" smtClean="0">
                <a:solidFill>
                  <a:srgbClr val="FF0000"/>
                </a:solidFill>
              </a:rPr>
              <a:t>A and B </a:t>
            </a:r>
            <a:r>
              <a:rPr lang="en-US" dirty="0" smtClean="0"/>
              <a:t>have the </a:t>
            </a:r>
            <a:r>
              <a:rPr lang="en-US" b="1" dirty="0" smtClean="0">
                <a:solidFill>
                  <a:srgbClr val="FF0000"/>
                </a:solidFill>
              </a:rPr>
              <a:t>same cardinality </a:t>
            </a:r>
            <a:r>
              <a:rPr lang="en-US" dirty="0" smtClean="0"/>
              <a:t>if and only if there is a </a:t>
            </a:r>
            <a:r>
              <a:rPr lang="en-US" b="1" dirty="0" smtClean="0">
                <a:solidFill>
                  <a:srgbClr val="FF0000"/>
                </a:solidFill>
              </a:rPr>
              <a:t>one-to-one correspondence</a:t>
            </a:r>
            <a:r>
              <a:rPr lang="en-US" dirty="0" smtClean="0"/>
              <a:t> from A to B . </a:t>
            </a:r>
          </a:p>
          <a:p>
            <a:r>
              <a:rPr lang="en-US" dirty="0" smtClean="0"/>
              <a:t>When A and B have the same cardinality, we write |A|=| B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Countable Sets</a:t>
            </a:r>
            <a:endParaRPr lang="en-US" dirty="0"/>
          </a:p>
        </p:txBody>
      </p:sp>
      <p:sp>
        <p:nvSpPr>
          <p:cNvPr id="3" name="Content Placeholder 2"/>
          <p:cNvSpPr>
            <a:spLocks noGrp="1"/>
          </p:cNvSpPr>
          <p:nvPr>
            <p:ph idx="1"/>
          </p:nvPr>
        </p:nvSpPr>
        <p:spPr>
          <a:blipFill>
            <a:blip r:embed="rId2" cstate="print"/>
            <a:tile tx="0" ty="0" sx="100000" sy="100000" flip="none" algn="tl"/>
          </a:blipFill>
          <a:ln w="38100">
            <a:solidFill>
              <a:srgbClr val="002060"/>
            </a:solidFill>
          </a:ln>
          <a:scene3d>
            <a:camera prst="orthographicFront"/>
            <a:lightRig rig="threePt" dir="t"/>
          </a:scene3d>
          <a:sp3d>
            <a:bevelT prst="angle"/>
          </a:sp3d>
        </p:spPr>
        <p:txBody>
          <a:bodyPr>
            <a:normAutofit fontScale="92500" lnSpcReduction="10000"/>
          </a:bodyPr>
          <a:lstStyle/>
          <a:p>
            <a:r>
              <a:rPr lang="en-US" dirty="0" smtClean="0"/>
              <a:t>A set that is either </a:t>
            </a:r>
            <a:r>
              <a:rPr lang="en-US" b="1" dirty="0" smtClean="0">
                <a:solidFill>
                  <a:srgbClr val="FF0000"/>
                </a:solidFill>
              </a:rPr>
              <a:t>finite</a:t>
            </a:r>
            <a:r>
              <a:rPr lang="en-US" dirty="0" smtClean="0"/>
              <a:t> or has the </a:t>
            </a:r>
            <a:r>
              <a:rPr lang="en-US" b="1" dirty="0" smtClean="0">
                <a:solidFill>
                  <a:srgbClr val="FF0000"/>
                </a:solidFill>
              </a:rPr>
              <a:t>same cardinality</a:t>
            </a:r>
            <a:r>
              <a:rPr lang="en-US" dirty="0" smtClean="0"/>
              <a:t> as the </a:t>
            </a:r>
            <a:r>
              <a:rPr lang="en-US" b="1" dirty="0" smtClean="0">
                <a:solidFill>
                  <a:srgbClr val="FF0000"/>
                </a:solidFill>
              </a:rPr>
              <a:t>set of positive integers </a:t>
            </a:r>
            <a:r>
              <a:rPr lang="en-US" dirty="0" smtClean="0"/>
              <a:t>is called </a:t>
            </a:r>
            <a:r>
              <a:rPr lang="en-US" b="1" dirty="0" smtClean="0">
                <a:solidFill>
                  <a:srgbClr val="FF0000"/>
                </a:solidFill>
              </a:rPr>
              <a:t>countable</a:t>
            </a:r>
            <a:r>
              <a:rPr lang="en-US" dirty="0" smtClean="0"/>
              <a:t>.</a:t>
            </a:r>
          </a:p>
          <a:p>
            <a:r>
              <a:rPr lang="en-US" dirty="0" smtClean="0"/>
              <a:t>A set that is </a:t>
            </a:r>
            <a:r>
              <a:rPr lang="en-US" b="1" dirty="0" smtClean="0">
                <a:solidFill>
                  <a:srgbClr val="FF0000"/>
                </a:solidFill>
              </a:rPr>
              <a:t>not countable </a:t>
            </a:r>
            <a:r>
              <a:rPr lang="en-US" dirty="0" smtClean="0"/>
              <a:t>is called </a:t>
            </a:r>
            <a:r>
              <a:rPr lang="en-US" b="1" dirty="0" smtClean="0">
                <a:solidFill>
                  <a:srgbClr val="FF0000"/>
                </a:solidFill>
              </a:rPr>
              <a:t>uncountable.</a:t>
            </a:r>
          </a:p>
          <a:p>
            <a:r>
              <a:rPr lang="en-US" dirty="0" smtClean="0"/>
              <a:t>When an infinite set S is countable, we denote the cardinality of S byℵ0 (where ℵ is aleph, the first letter of the Hebrew alphabet).</a:t>
            </a:r>
          </a:p>
          <a:p>
            <a:r>
              <a:rPr lang="en-US" dirty="0" smtClean="0"/>
              <a:t>We write |S |=ℵ0 and say that S has cardinality “aleph null”.</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0" y="1447801"/>
            <a:ext cx="9144000" cy="3657599"/>
          </a:xfrm>
        </p:spPr>
        <p:txBody>
          <a:bodyPr>
            <a:normAutofit lnSpcReduction="10000"/>
          </a:bodyPr>
          <a:lstStyle/>
          <a:p>
            <a:r>
              <a:rPr lang="en-US" dirty="0" smtClean="0"/>
              <a:t>Show that the set of odd positive integers is a countable set.</a:t>
            </a:r>
          </a:p>
          <a:p>
            <a:pPr lvl="1"/>
            <a:r>
              <a:rPr lang="en-US" dirty="0" smtClean="0"/>
              <a:t>We will show a one-to-one correspondence between this set and the set of positive integers. </a:t>
            </a:r>
          </a:p>
          <a:p>
            <a:pPr lvl="1"/>
            <a:r>
              <a:rPr lang="en-US" dirty="0" smtClean="0"/>
              <a:t>Consider the function f (n) = 2 n − 1. from Z+ to the set of odd positive integers. </a:t>
            </a:r>
          </a:p>
          <a:p>
            <a:pPr lvl="1"/>
            <a:r>
              <a:rPr lang="en-US" dirty="0" smtClean="0"/>
              <a:t>We show that f is a one-to-one correspondence by showing that it is both one-to-one and onto. </a:t>
            </a:r>
          </a:p>
        </p:txBody>
      </p:sp>
      <p:pic>
        <p:nvPicPr>
          <p:cNvPr id="1026" name="Picture 2"/>
          <p:cNvPicPr>
            <a:picLocks noChangeAspect="1" noChangeArrowheads="1"/>
          </p:cNvPicPr>
          <p:nvPr/>
        </p:nvPicPr>
        <p:blipFill>
          <a:blip r:embed="rId2" cstate="print"/>
          <a:srcRect t="57669"/>
          <a:stretch>
            <a:fillRect/>
          </a:stretch>
        </p:blipFill>
        <p:spPr bwMode="auto">
          <a:xfrm>
            <a:off x="4695825" y="6242740"/>
            <a:ext cx="4448175" cy="615260"/>
          </a:xfrm>
          <a:prstGeom prst="rect">
            <a:avLst/>
          </a:prstGeom>
          <a:noFill/>
          <a:ln w="9525">
            <a:noFill/>
            <a:miter lim="800000"/>
            <a:headEnd/>
            <a:tailEnd/>
          </a:ln>
          <a:effectLst/>
        </p:spPr>
      </p:pic>
      <p:pic>
        <p:nvPicPr>
          <p:cNvPr id="5" name="Picture 2"/>
          <p:cNvPicPr>
            <a:picLocks noChangeAspect="1" noChangeArrowheads="1"/>
          </p:cNvPicPr>
          <p:nvPr/>
        </p:nvPicPr>
        <p:blipFill>
          <a:blip r:embed="rId2" cstate="print"/>
          <a:srcRect r="37687" b="37088"/>
          <a:stretch>
            <a:fillRect/>
          </a:stretch>
        </p:blipFill>
        <p:spPr bwMode="auto">
          <a:xfrm>
            <a:off x="4876800" y="5029200"/>
            <a:ext cx="4157663" cy="13716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HILBERT’S GRAND HOTEL</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We describe a </a:t>
            </a:r>
            <a:r>
              <a:rPr lang="en-US" dirty="0" smtClean="0">
                <a:solidFill>
                  <a:srgbClr val="FF0000"/>
                </a:solidFill>
              </a:rPr>
              <a:t>paradox</a:t>
            </a:r>
            <a:r>
              <a:rPr lang="en-US" dirty="0" smtClean="0"/>
              <a:t> that shows that something </a:t>
            </a:r>
            <a:r>
              <a:rPr lang="en-US" dirty="0" smtClean="0">
                <a:solidFill>
                  <a:srgbClr val="FF0000"/>
                </a:solidFill>
              </a:rPr>
              <a:t>impossible</a:t>
            </a:r>
            <a:r>
              <a:rPr lang="en-US" dirty="0" smtClean="0"/>
              <a:t> with </a:t>
            </a:r>
            <a:r>
              <a:rPr lang="en-US" dirty="0" smtClean="0">
                <a:solidFill>
                  <a:srgbClr val="FF0000"/>
                </a:solidFill>
              </a:rPr>
              <a:t>finite</a:t>
            </a:r>
            <a:r>
              <a:rPr lang="en-US" dirty="0" smtClean="0"/>
              <a:t> sets may </a:t>
            </a:r>
            <a:r>
              <a:rPr lang="en-US" dirty="0" smtClean="0">
                <a:solidFill>
                  <a:srgbClr val="FF0000"/>
                </a:solidFill>
              </a:rPr>
              <a:t>be possi</a:t>
            </a:r>
            <a:r>
              <a:rPr lang="en-US" dirty="0" smtClean="0"/>
              <a:t>ble with </a:t>
            </a:r>
            <a:r>
              <a:rPr lang="en-US" dirty="0" smtClean="0">
                <a:solidFill>
                  <a:srgbClr val="FF0000"/>
                </a:solidFill>
              </a:rPr>
              <a:t>infinite sets</a:t>
            </a:r>
            <a:r>
              <a:rPr lang="en-US" dirty="0" smtClean="0"/>
              <a:t>. </a:t>
            </a:r>
          </a:p>
          <a:p>
            <a:r>
              <a:rPr lang="en-US" dirty="0" smtClean="0"/>
              <a:t>The famous mathematician David Hilbert invented the  idea of the </a:t>
            </a:r>
            <a:r>
              <a:rPr lang="en-US" dirty="0" smtClean="0">
                <a:solidFill>
                  <a:srgbClr val="FF0000"/>
                </a:solidFill>
              </a:rPr>
              <a:t>Grand Hotel</a:t>
            </a:r>
            <a:r>
              <a:rPr lang="en-US" dirty="0" smtClean="0"/>
              <a:t>, which has </a:t>
            </a:r>
            <a:r>
              <a:rPr lang="en-US" dirty="0" smtClean="0">
                <a:solidFill>
                  <a:srgbClr val="FF0000"/>
                </a:solidFill>
              </a:rPr>
              <a:t>a </a:t>
            </a:r>
            <a:r>
              <a:rPr lang="en-US" dirty="0" err="1" smtClean="0">
                <a:solidFill>
                  <a:srgbClr val="FF0000"/>
                </a:solidFill>
              </a:rPr>
              <a:t>countably</a:t>
            </a:r>
            <a:r>
              <a:rPr lang="en-US" dirty="0" smtClean="0">
                <a:solidFill>
                  <a:srgbClr val="FF0000"/>
                </a:solidFill>
              </a:rPr>
              <a:t> infinite number of rooms</a:t>
            </a:r>
            <a:r>
              <a:rPr lang="en-US" dirty="0" smtClean="0"/>
              <a:t>, each occupied by a guest. </a:t>
            </a:r>
          </a:p>
          <a:p>
            <a:r>
              <a:rPr lang="en-US" dirty="0" smtClean="0"/>
              <a:t>When a new guest arrives at a hotel with a </a:t>
            </a:r>
            <a:r>
              <a:rPr lang="en-US" dirty="0" smtClean="0">
                <a:solidFill>
                  <a:srgbClr val="FF0000"/>
                </a:solidFill>
              </a:rPr>
              <a:t>finite</a:t>
            </a:r>
            <a:r>
              <a:rPr lang="en-US" dirty="0" smtClean="0"/>
              <a:t> number of rooms, and all rooms are occupied, this guest cannot be accommodated </a:t>
            </a:r>
            <a:r>
              <a:rPr lang="en-US" dirty="0" smtClean="0">
                <a:solidFill>
                  <a:srgbClr val="FF0000"/>
                </a:solidFill>
              </a:rPr>
              <a:t>without evicting </a:t>
            </a:r>
            <a:r>
              <a:rPr lang="en-US" dirty="0" smtClean="0"/>
              <a:t>a current guest.</a:t>
            </a:r>
          </a:p>
          <a:p>
            <a:r>
              <a:rPr lang="en-US" dirty="0" smtClean="0"/>
              <a:t>However, we can always </a:t>
            </a:r>
            <a:r>
              <a:rPr lang="en-US" dirty="0" smtClean="0">
                <a:solidFill>
                  <a:srgbClr val="FF0000"/>
                </a:solidFill>
              </a:rPr>
              <a:t>accommodate</a:t>
            </a:r>
            <a:r>
              <a:rPr lang="en-US" dirty="0" smtClean="0"/>
              <a:t> a new guest at the </a:t>
            </a:r>
            <a:r>
              <a:rPr lang="en-US" dirty="0" smtClean="0">
                <a:solidFill>
                  <a:srgbClr val="FF0000"/>
                </a:solidFill>
              </a:rPr>
              <a:t>Grand Hotel</a:t>
            </a:r>
            <a:r>
              <a:rPr lang="en-US" dirty="0" smtClean="0"/>
              <a:t>, even when all rooms are </a:t>
            </a:r>
            <a:r>
              <a:rPr lang="en-US" dirty="0" smtClean="0">
                <a:solidFill>
                  <a:srgbClr val="FF0000"/>
                </a:solidFill>
              </a:rPr>
              <a:t>already occupied.</a:t>
            </a:r>
            <a:endParaRPr lang="en-US" dirty="0">
              <a:solidFill>
                <a:srgbClr val="FF0000"/>
              </a:solidFill>
            </a:endParaRPr>
          </a:p>
        </p:txBody>
      </p:sp>
      <p:pic>
        <p:nvPicPr>
          <p:cNvPr id="2050" name="Picture 2"/>
          <p:cNvPicPr>
            <a:picLocks noChangeAspect="1" noChangeArrowheads="1"/>
          </p:cNvPicPr>
          <p:nvPr/>
        </p:nvPicPr>
        <p:blipFill>
          <a:blip r:embed="rId2" cstate="print"/>
          <a:srcRect/>
          <a:stretch>
            <a:fillRect/>
          </a:stretch>
        </p:blipFill>
        <p:spPr bwMode="auto">
          <a:xfrm>
            <a:off x="7716212" y="76200"/>
            <a:ext cx="1199188" cy="1447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2156191"/>
            <a:ext cx="8229600" cy="4625609"/>
          </a:xfrm>
        </p:spPr>
        <p:txBody>
          <a:bodyPr>
            <a:normAutofit fontScale="92500" lnSpcReduction="20000"/>
          </a:bodyPr>
          <a:lstStyle/>
          <a:p>
            <a:r>
              <a:rPr lang="en-US" dirty="0" smtClean="0"/>
              <a:t>How can we accommodate a </a:t>
            </a:r>
            <a:r>
              <a:rPr lang="en-US" dirty="0" smtClean="0">
                <a:solidFill>
                  <a:srgbClr val="FF0000"/>
                </a:solidFill>
              </a:rPr>
              <a:t>new guest </a:t>
            </a:r>
            <a:r>
              <a:rPr lang="en-US" dirty="0" smtClean="0"/>
              <a:t>arriving at the </a:t>
            </a:r>
            <a:r>
              <a:rPr lang="en-US" dirty="0" smtClean="0">
                <a:solidFill>
                  <a:srgbClr val="FF0000"/>
                </a:solidFill>
              </a:rPr>
              <a:t>fully occupied Grand Hotel </a:t>
            </a:r>
            <a:r>
              <a:rPr lang="en-US" dirty="0" smtClean="0"/>
              <a:t>without removing any of the current guests?</a:t>
            </a:r>
          </a:p>
          <a:p>
            <a:pPr lvl="1"/>
            <a:r>
              <a:rPr lang="en-US" dirty="0" smtClean="0"/>
              <a:t>Because the rooms of the Grand Hotel are countable, we can list them as </a:t>
            </a:r>
            <a:r>
              <a:rPr lang="en-US" dirty="0" smtClean="0">
                <a:solidFill>
                  <a:srgbClr val="FF0000"/>
                </a:solidFill>
              </a:rPr>
              <a:t>Room 1,Room 2, Room 3</a:t>
            </a:r>
            <a:r>
              <a:rPr lang="en-US" dirty="0" smtClean="0"/>
              <a:t>, and so on. </a:t>
            </a:r>
          </a:p>
          <a:p>
            <a:pPr lvl="1"/>
            <a:r>
              <a:rPr lang="en-US" dirty="0" smtClean="0"/>
              <a:t>When a new guest arrives, we </a:t>
            </a:r>
            <a:r>
              <a:rPr lang="en-US" dirty="0" smtClean="0">
                <a:solidFill>
                  <a:srgbClr val="FF0000"/>
                </a:solidFill>
              </a:rPr>
              <a:t>move</a:t>
            </a:r>
            <a:r>
              <a:rPr lang="en-US" dirty="0" smtClean="0"/>
              <a:t> the guest in </a:t>
            </a:r>
            <a:r>
              <a:rPr lang="en-US" dirty="0" smtClean="0">
                <a:solidFill>
                  <a:srgbClr val="FF0000"/>
                </a:solidFill>
              </a:rPr>
              <a:t>Room 1 to Room2</a:t>
            </a:r>
            <a:r>
              <a:rPr lang="en-US" dirty="0" smtClean="0"/>
              <a:t>, the guest in </a:t>
            </a:r>
            <a:r>
              <a:rPr lang="en-US" dirty="0" smtClean="0">
                <a:solidFill>
                  <a:srgbClr val="FF0000"/>
                </a:solidFill>
              </a:rPr>
              <a:t>Room 2 to Room 3</a:t>
            </a:r>
            <a:r>
              <a:rPr lang="en-US" dirty="0" smtClean="0"/>
              <a:t>, and in general, the guest in </a:t>
            </a:r>
            <a:r>
              <a:rPr lang="en-US" dirty="0" smtClean="0">
                <a:solidFill>
                  <a:srgbClr val="FF0000"/>
                </a:solidFill>
              </a:rPr>
              <a:t>Room n to Room n + 1</a:t>
            </a:r>
            <a:r>
              <a:rPr lang="en-US" dirty="0" smtClean="0"/>
              <a:t>, for all positive integers n. </a:t>
            </a:r>
          </a:p>
          <a:p>
            <a:pPr lvl="1"/>
            <a:r>
              <a:rPr lang="en-US" dirty="0" smtClean="0"/>
              <a:t>This frees up </a:t>
            </a:r>
            <a:r>
              <a:rPr lang="en-US" dirty="0" smtClean="0">
                <a:solidFill>
                  <a:srgbClr val="FF0000"/>
                </a:solidFill>
              </a:rPr>
              <a:t>Room 1</a:t>
            </a:r>
            <a:r>
              <a:rPr lang="en-US" dirty="0" smtClean="0"/>
              <a:t>, which we assign to the </a:t>
            </a:r>
            <a:r>
              <a:rPr lang="en-US" dirty="0" smtClean="0">
                <a:solidFill>
                  <a:srgbClr val="FF0000"/>
                </a:solidFill>
              </a:rPr>
              <a:t>new guest</a:t>
            </a:r>
            <a:r>
              <a:rPr lang="en-US" dirty="0" smtClean="0"/>
              <a:t>, and all the current guests still have rooms.</a:t>
            </a:r>
            <a:endParaRPr lang="en-US" dirty="0"/>
          </a:p>
        </p:txBody>
      </p:sp>
      <p:pic>
        <p:nvPicPr>
          <p:cNvPr id="4" name="Picture 3"/>
          <p:cNvPicPr>
            <a:picLocks noChangeAspect="1" noChangeArrowheads="1"/>
          </p:cNvPicPr>
          <p:nvPr/>
        </p:nvPicPr>
        <p:blipFill>
          <a:blip r:embed="rId2" cstate="print"/>
          <a:srcRect/>
          <a:stretch>
            <a:fillRect/>
          </a:stretch>
        </p:blipFill>
        <p:spPr bwMode="auto">
          <a:xfrm>
            <a:off x="4193200" y="0"/>
            <a:ext cx="4950800" cy="2209799"/>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Positive Rational </a:t>
            </a:r>
            <a:r>
              <a:rPr lang="en-US" dirty="0" smtClean="0"/>
              <a:t>Numbers</a:t>
            </a:r>
            <a:endParaRPr lang="en-US" dirty="0"/>
          </a:p>
        </p:txBody>
      </p:sp>
      <p:sp>
        <p:nvSpPr>
          <p:cNvPr id="3" name="Content Placeholder 2"/>
          <p:cNvSpPr>
            <a:spLocks noGrp="1"/>
          </p:cNvSpPr>
          <p:nvPr>
            <p:ph idx="1"/>
          </p:nvPr>
        </p:nvSpPr>
        <p:spPr/>
        <p:txBody>
          <a:bodyPr/>
          <a:lstStyle/>
          <a:p>
            <a:r>
              <a:rPr lang="en-US" dirty="0" smtClean="0"/>
              <a:t>Show that the set of positive rational numbers is countable.</a:t>
            </a:r>
          </a:p>
          <a:p>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371600" y="2900627"/>
            <a:ext cx="6172200" cy="3957374"/>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Every </a:t>
            </a:r>
            <a:r>
              <a:rPr lang="en-US" dirty="0" smtClean="0">
                <a:solidFill>
                  <a:srgbClr val="FF0000"/>
                </a:solidFill>
              </a:rPr>
              <a:t>positive rational number </a:t>
            </a:r>
            <a:r>
              <a:rPr lang="en-US" dirty="0" smtClean="0"/>
              <a:t>is the </a:t>
            </a:r>
            <a:r>
              <a:rPr lang="en-US" dirty="0" smtClean="0">
                <a:solidFill>
                  <a:srgbClr val="FF0000"/>
                </a:solidFill>
              </a:rPr>
              <a:t>quotient p/q </a:t>
            </a:r>
            <a:r>
              <a:rPr lang="en-US" dirty="0" smtClean="0"/>
              <a:t>of two positive integers.</a:t>
            </a:r>
          </a:p>
          <a:p>
            <a:r>
              <a:rPr lang="en-US" dirty="0" smtClean="0"/>
              <a:t>Arrange the positive rational numbers by listing those with denominator q = 1 in the first row, those with </a:t>
            </a:r>
            <a:r>
              <a:rPr lang="en-US" dirty="0" smtClean="0">
                <a:solidFill>
                  <a:srgbClr val="FF0000"/>
                </a:solidFill>
              </a:rPr>
              <a:t>denominator q = 2 in the second row</a:t>
            </a:r>
            <a:r>
              <a:rPr lang="en-US" dirty="0" smtClean="0"/>
              <a:t>, and so on.</a:t>
            </a:r>
          </a:p>
          <a:p>
            <a:r>
              <a:rPr lang="en-US" dirty="0" smtClean="0"/>
              <a:t>The key to listing the rational numbers in a sequence is to first list the positive rational numbers </a:t>
            </a:r>
            <a:r>
              <a:rPr lang="en-US" dirty="0" smtClean="0">
                <a:solidFill>
                  <a:srgbClr val="FF0000"/>
                </a:solidFill>
              </a:rPr>
              <a:t>p/q</a:t>
            </a:r>
            <a:r>
              <a:rPr lang="en-US" dirty="0" smtClean="0"/>
              <a:t> with </a:t>
            </a:r>
            <a:r>
              <a:rPr lang="en-US" dirty="0" smtClean="0">
                <a:solidFill>
                  <a:srgbClr val="FF0000"/>
                </a:solidFill>
              </a:rPr>
              <a:t>p + q = 2</a:t>
            </a:r>
            <a:r>
              <a:rPr lang="en-US" dirty="0" smtClean="0"/>
              <a:t>, followed by those with </a:t>
            </a:r>
            <a:r>
              <a:rPr lang="en-US" dirty="0" smtClean="0">
                <a:solidFill>
                  <a:srgbClr val="FF0000"/>
                </a:solidFill>
              </a:rPr>
              <a:t>p + q = 3</a:t>
            </a:r>
            <a:r>
              <a:rPr lang="en-US" dirty="0" smtClean="0"/>
              <a:t>, followed by those with </a:t>
            </a:r>
            <a:r>
              <a:rPr lang="en-US" dirty="0" smtClean="0">
                <a:solidFill>
                  <a:srgbClr val="FF0000"/>
                </a:solidFill>
              </a:rPr>
              <a:t>p + q = 4</a:t>
            </a:r>
            <a:r>
              <a:rPr lang="en-US" dirty="0" smtClean="0"/>
              <a:t>, and </a:t>
            </a:r>
            <a:r>
              <a:rPr lang="en-US" dirty="0" smtClean="0">
                <a:solidFill>
                  <a:srgbClr val="FF0000"/>
                </a:solidFill>
              </a:rPr>
              <a:t>so on</a:t>
            </a:r>
            <a:r>
              <a:rPr lang="en-US" dirty="0" smtClean="0"/>
              <a:t>.</a:t>
            </a:r>
          </a:p>
          <a:p>
            <a:r>
              <a:rPr lang="en-US" dirty="0" smtClean="0"/>
              <a:t>Whenever we encounter </a:t>
            </a:r>
            <a:r>
              <a:rPr lang="en-US" dirty="0" smtClean="0">
                <a:solidFill>
                  <a:srgbClr val="FF0000"/>
                </a:solidFill>
              </a:rPr>
              <a:t>p/q </a:t>
            </a:r>
            <a:r>
              <a:rPr lang="en-US" dirty="0" smtClean="0"/>
              <a:t>that is </a:t>
            </a:r>
            <a:r>
              <a:rPr lang="en-US" dirty="0" smtClean="0">
                <a:solidFill>
                  <a:srgbClr val="FF0000"/>
                </a:solidFill>
              </a:rPr>
              <a:t>already listed, </a:t>
            </a:r>
            <a:r>
              <a:rPr lang="en-US" dirty="0" smtClean="0"/>
              <a:t>we </a:t>
            </a:r>
            <a:r>
              <a:rPr lang="en-US" dirty="0" smtClean="0">
                <a:solidFill>
                  <a:srgbClr val="FF0000"/>
                </a:solidFill>
              </a:rPr>
              <a:t>do not list it again. </a:t>
            </a:r>
          </a:p>
          <a:p>
            <a:r>
              <a:rPr lang="en-US" dirty="0" smtClean="0"/>
              <a:t>The initial terms in the list of positive rational numbers we have constructed are </a:t>
            </a:r>
            <a:r>
              <a:rPr lang="en-US" dirty="0" smtClean="0">
                <a:solidFill>
                  <a:srgbClr val="FF0000"/>
                </a:solidFill>
              </a:rPr>
              <a:t>1 , 1/2 , 2 , 3, 1/3, 1/4 , 2 /3, 3/2 , 4 , 5, and so on</a:t>
            </a:r>
            <a:r>
              <a:rPr lang="en-US" dirty="0" smtClean="0"/>
              <a:t>. </a:t>
            </a:r>
          </a:p>
          <a:p>
            <a:r>
              <a:rPr lang="en-US" dirty="0" smtClean="0"/>
              <a:t>Because all positive rational numbers are listed once, thus the set of positive rational numbers is countable.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Uncountable Set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Show that the set of real numbers is an uncountable set.</a:t>
            </a:r>
          </a:p>
          <a:p>
            <a:pPr lvl="1"/>
            <a:r>
              <a:rPr lang="en-US" dirty="0" smtClean="0"/>
              <a:t>We use an important proof method, known as the </a:t>
            </a:r>
            <a:r>
              <a:rPr lang="en-US" dirty="0" smtClean="0">
                <a:solidFill>
                  <a:srgbClr val="FF0000"/>
                </a:solidFill>
              </a:rPr>
              <a:t>Cantor </a:t>
            </a:r>
            <a:r>
              <a:rPr lang="en-US" dirty="0" err="1" smtClean="0">
                <a:solidFill>
                  <a:srgbClr val="FF0000"/>
                </a:solidFill>
              </a:rPr>
              <a:t>diagonalization</a:t>
            </a:r>
            <a:r>
              <a:rPr lang="en-US" dirty="0" smtClean="0">
                <a:solidFill>
                  <a:srgbClr val="FF0000"/>
                </a:solidFill>
              </a:rPr>
              <a:t> argument</a:t>
            </a:r>
            <a:r>
              <a:rPr lang="en-US" dirty="0" smtClean="0"/>
              <a:t>, to prove that the set of </a:t>
            </a:r>
            <a:r>
              <a:rPr lang="en-US" dirty="0" smtClean="0">
                <a:solidFill>
                  <a:srgbClr val="FF0000"/>
                </a:solidFill>
              </a:rPr>
              <a:t>real numbers is not countable.</a:t>
            </a:r>
          </a:p>
          <a:p>
            <a:pPr lvl="1"/>
            <a:r>
              <a:rPr lang="en-US" dirty="0" smtClean="0"/>
              <a:t>We suppose that the set of </a:t>
            </a:r>
            <a:r>
              <a:rPr lang="en-US" dirty="0" smtClean="0">
                <a:solidFill>
                  <a:srgbClr val="FF0000"/>
                </a:solidFill>
              </a:rPr>
              <a:t>real numbers </a:t>
            </a:r>
            <a:r>
              <a:rPr lang="en-US" dirty="0" smtClean="0"/>
              <a:t>is </a:t>
            </a:r>
            <a:r>
              <a:rPr lang="en-US" dirty="0" smtClean="0">
                <a:solidFill>
                  <a:srgbClr val="FF0000"/>
                </a:solidFill>
              </a:rPr>
              <a:t>countable</a:t>
            </a:r>
            <a:r>
              <a:rPr lang="en-US" dirty="0" smtClean="0"/>
              <a:t> and arrive at a </a:t>
            </a:r>
            <a:r>
              <a:rPr lang="en-US" dirty="0" smtClean="0">
                <a:solidFill>
                  <a:srgbClr val="FF0000"/>
                </a:solidFill>
              </a:rPr>
              <a:t>contradiction.</a:t>
            </a:r>
            <a:r>
              <a:rPr lang="en-US" dirty="0" smtClean="0"/>
              <a:t> </a:t>
            </a:r>
          </a:p>
          <a:p>
            <a:pPr lvl="1"/>
            <a:r>
              <a:rPr lang="en-US" dirty="0" smtClean="0"/>
              <a:t>Then, the subset of all real numbers that fall </a:t>
            </a:r>
            <a:r>
              <a:rPr lang="en-US" dirty="0" smtClean="0">
                <a:solidFill>
                  <a:srgbClr val="FF0000"/>
                </a:solidFill>
              </a:rPr>
              <a:t>between 0 and 1 </a:t>
            </a:r>
            <a:r>
              <a:rPr lang="en-US" dirty="0" smtClean="0"/>
              <a:t>would also be </a:t>
            </a:r>
            <a:r>
              <a:rPr lang="en-US" dirty="0" smtClean="0">
                <a:solidFill>
                  <a:srgbClr val="FF0000"/>
                </a:solidFill>
              </a:rPr>
              <a:t>countable</a:t>
            </a:r>
            <a:r>
              <a:rPr lang="en-US" dirty="0" smtClean="0"/>
              <a:t> (because any subset of a countable set is also countable).</a:t>
            </a:r>
          </a:p>
          <a:p>
            <a:pPr lvl="1"/>
            <a:r>
              <a:rPr lang="en-US" dirty="0" smtClean="0"/>
              <a:t> Under this assumption, the real numbers between </a:t>
            </a:r>
            <a:r>
              <a:rPr lang="en-US" dirty="0" smtClean="0">
                <a:solidFill>
                  <a:srgbClr val="FF0000"/>
                </a:solidFill>
              </a:rPr>
              <a:t>0 and 1 </a:t>
            </a:r>
            <a:r>
              <a:rPr lang="en-US" dirty="0" smtClean="0"/>
              <a:t>can be </a:t>
            </a:r>
            <a:r>
              <a:rPr lang="en-US" dirty="0" smtClean="0">
                <a:solidFill>
                  <a:srgbClr val="FF0000"/>
                </a:solidFill>
              </a:rPr>
              <a:t>listed</a:t>
            </a:r>
            <a:r>
              <a:rPr lang="en-US" dirty="0" smtClean="0"/>
              <a:t> in some order, say, </a:t>
            </a:r>
            <a:r>
              <a:rPr lang="en-US" dirty="0" smtClean="0">
                <a:solidFill>
                  <a:srgbClr val="FF0000"/>
                </a:solidFill>
              </a:rPr>
              <a:t>r1,r2,r3</a:t>
            </a:r>
            <a:r>
              <a:rPr lang="en-US" dirty="0" smtClean="0"/>
              <a:t>,....Let the decimal representation of these real numbers be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pt-BR" dirty="0" smtClean="0"/>
              <a:t>r1 = 0 .d11d12d13d14...................</a:t>
            </a:r>
          </a:p>
          <a:p>
            <a:r>
              <a:rPr lang="pt-BR" dirty="0" smtClean="0"/>
              <a:t>r2 = 0 .d21d22d23d24..................</a:t>
            </a:r>
          </a:p>
          <a:p>
            <a:r>
              <a:rPr lang="pt-BR" dirty="0" smtClean="0"/>
              <a:t>r3 = 0 .d31d32d33d34...................</a:t>
            </a:r>
          </a:p>
          <a:p>
            <a:r>
              <a:rPr lang="pt-BR" dirty="0" smtClean="0"/>
              <a:t>r4 = 0 .d41d42d43d44..................</a:t>
            </a:r>
          </a:p>
          <a:p>
            <a:r>
              <a:rPr lang="pt-BR" dirty="0" smtClean="0"/>
              <a:t>.</a:t>
            </a:r>
          </a:p>
          <a:p>
            <a:r>
              <a:rPr lang="pt-BR" dirty="0" smtClean="0"/>
              <a:t>.</a:t>
            </a:r>
          </a:p>
          <a:p>
            <a:r>
              <a:rPr lang="en-US" dirty="0" smtClean="0"/>
              <a:t>where </a:t>
            </a:r>
            <a:r>
              <a:rPr lang="en-US" dirty="0" err="1" smtClean="0"/>
              <a:t>dij</a:t>
            </a:r>
            <a:r>
              <a:rPr lang="en-US" dirty="0" smtClean="0"/>
              <a:t> ∈{0 , 1, 2 , 3, 4 , 5, 6, 7, 8, 9}. (For example, if r1 = 0 .23794102..., we have d11=2, d12= 3, d13= 7, and so on.)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775191"/>
            <a:ext cx="8382000" cy="4625609"/>
          </a:xfrm>
        </p:spPr>
        <p:txBody>
          <a:bodyPr>
            <a:normAutofit fontScale="85000" lnSpcReduction="20000"/>
          </a:bodyPr>
          <a:lstStyle/>
          <a:p>
            <a:r>
              <a:rPr lang="en-US" dirty="0" smtClean="0"/>
              <a:t>Then, form a new real number with decimal expansion r = 0 .d1d2d3d4..., where the decimal digits are determined by the following rule:</a:t>
            </a:r>
          </a:p>
          <a:p>
            <a:endParaRPr lang="en-US" dirty="0" smtClean="0"/>
          </a:p>
          <a:p>
            <a:endParaRPr lang="en-US" dirty="0" smtClean="0"/>
          </a:p>
          <a:p>
            <a:endParaRPr lang="en-US" dirty="0" smtClean="0"/>
          </a:p>
          <a:p>
            <a:endParaRPr lang="en-US" dirty="0" smtClean="0"/>
          </a:p>
          <a:p>
            <a:endParaRPr lang="en-US" dirty="0" smtClean="0"/>
          </a:p>
          <a:p>
            <a:r>
              <a:rPr lang="en-US" dirty="0" smtClean="0"/>
              <a:t>As an example, suppose </a:t>
            </a:r>
          </a:p>
          <a:p>
            <a:r>
              <a:rPr lang="en-US" dirty="0" smtClean="0"/>
              <a:t>r1= 0 .23794102..., </a:t>
            </a:r>
          </a:p>
          <a:p>
            <a:pPr>
              <a:buNone/>
            </a:pPr>
            <a:r>
              <a:rPr lang="en-US" dirty="0" smtClean="0"/>
              <a:t>	r2= 0 .44590138..., </a:t>
            </a:r>
          </a:p>
          <a:p>
            <a:pPr>
              <a:buNone/>
            </a:pPr>
            <a:r>
              <a:rPr lang="en-US" dirty="0" smtClean="0"/>
              <a:t>	r3= 0 .09118764..., </a:t>
            </a:r>
          </a:p>
          <a:p>
            <a:pPr>
              <a:buNone/>
            </a:pPr>
            <a:r>
              <a:rPr lang="en-US" dirty="0" smtClean="0"/>
              <a:t>	r4= 0.80553900..., and so on.</a:t>
            </a:r>
          </a:p>
          <a:p>
            <a:pPr>
              <a:buNone/>
            </a:pPr>
            <a:endParaRPr lang="en-US" dirty="0" smtClean="0"/>
          </a:p>
          <a:p>
            <a:pPr>
              <a:buNone/>
            </a:pPr>
            <a:endParaRPr lang="en-US" dirty="0"/>
          </a:p>
        </p:txBody>
      </p:sp>
      <p:pic>
        <p:nvPicPr>
          <p:cNvPr id="1026" name="Picture 2"/>
          <p:cNvPicPr>
            <a:picLocks noChangeAspect="1" noChangeArrowheads="1"/>
          </p:cNvPicPr>
          <p:nvPr/>
        </p:nvPicPr>
        <p:blipFill>
          <a:blip r:embed="rId2" cstate="print"/>
          <a:srcRect t="7692"/>
          <a:stretch>
            <a:fillRect/>
          </a:stretch>
        </p:blipFill>
        <p:spPr bwMode="auto">
          <a:xfrm>
            <a:off x="990600" y="3124200"/>
            <a:ext cx="2514600" cy="9144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775191"/>
            <a:ext cx="8382000" cy="4625609"/>
          </a:xfrm>
        </p:spPr>
        <p:txBody>
          <a:bodyPr>
            <a:normAutofit fontScale="92500" lnSpcReduction="20000"/>
          </a:bodyPr>
          <a:lstStyle/>
          <a:p>
            <a:r>
              <a:rPr lang="en-US" dirty="0" smtClean="0"/>
              <a:t>As an example, suppose </a:t>
            </a:r>
          </a:p>
          <a:p>
            <a:r>
              <a:rPr lang="en-US" dirty="0" smtClean="0"/>
              <a:t>r1= 0 .</a:t>
            </a:r>
            <a:r>
              <a:rPr lang="en-US" dirty="0" smtClean="0">
                <a:solidFill>
                  <a:srgbClr val="FF0000"/>
                </a:solidFill>
              </a:rPr>
              <a:t>2</a:t>
            </a:r>
            <a:r>
              <a:rPr lang="en-US" dirty="0" smtClean="0"/>
              <a:t>3794102..., </a:t>
            </a:r>
          </a:p>
          <a:p>
            <a:pPr>
              <a:buNone/>
            </a:pPr>
            <a:r>
              <a:rPr lang="en-US" dirty="0" smtClean="0"/>
              <a:t>	r2= 0 .4</a:t>
            </a:r>
            <a:r>
              <a:rPr lang="en-US" dirty="0" smtClean="0">
                <a:solidFill>
                  <a:srgbClr val="FF0000"/>
                </a:solidFill>
              </a:rPr>
              <a:t>4</a:t>
            </a:r>
            <a:r>
              <a:rPr lang="en-US" dirty="0" smtClean="0"/>
              <a:t>590138..., </a:t>
            </a:r>
          </a:p>
          <a:p>
            <a:pPr>
              <a:buNone/>
            </a:pPr>
            <a:r>
              <a:rPr lang="en-US" dirty="0" smtClean="0"/>
              <a:t>	r3= 0 .09</a:t>
            </a:r>
            <a:r>
              <a:rPr lang="en-US" dirty="0" smtClean="0">
                <a:solidFill>
                  <a:srgbClr val="FF0000"/>
                </a:solidFill>
              </a:rPr>
              <a:t>1</a:t>
            </a:r>
            <a:r>
              <a:rPr lang="en-US" dirty="0" smtClean="0"/>
              <a:t>18764..., </a:t>
            </a:r>
          </a:p>
          <a:p>
            <a:pPr>
              <a:buNone/>
            </a:pPr>
            <a:r>
              <a:rPr lang="en-US" dirty="0" smtClean="0"/>
              <a:t>	r4= 0.805</a:t>
            </a:r>
            <a:r>
              <a:rPr lang="en-US" dirty="0" smtClean="0">
                <a:solidFill>
                  <a:srgbClr val="FF0000"/>
                </a:solidFill>
              </a:rPr>
              <a:t>5</a:t>
            </a:r>
            <a:r>
              <a:rPr lang="en-US" dirty="0" smtClean="0"/>
              <a:t>3900..., and so on.</a:t>
            </a:r>
          </a:p>
          <a:p>
            <a:pPr>
              <a:buNone/>
            </a:pPr>
            <a:endParaRPr lang="en-US" dirty="0" smtClean="0"/>
          </a:p>
          <a:p>
            <a:r>
              <a:rPr lang="en-US" dirty="0" smtClean="0"/>
              <a:t> Then we have r = 0 .d1d2d3d4...=0 .4544..., </a:t>
            </a:r>
          </a:p>
          <a:p>
            <a:pPr>
              <a:buNone/>
            </a:pPr>
            <a:r>
              <a:rPr lang="en-US" dirty="0" smtClean="0"/>
              <a:t>	 where</a:t>
            </a:r>
          </a:p>
          <a:p>
            <a:pPr>
              <a:buNone/>
            </a:pPr>
            <a:r>
              <a:rPr lang="en-US" dirty="0" smtClean="0"/>
              <a:t>      d1 = 4 because d11≠4,</a:t>
            </a:r>
          </a:p>
          <a:p>
            <a:pPr>
              <a:buNone/>
            </a:pPr>
            <a:r>
              <a:rPr lang="en-US" dirty="0" smtClean="0"/>
              <a:t>      d2 = 5 because d22= 4, </a:t>
            </a:r>
          </a:p>
          <a:p>
            <a:pPr>
              <a:buNone/>
            </a:pPr>
            <a:r>
              <a:rPr lang="en-US" dirty="0" smtClean="0"/>
              <a:t>      d3 = 4 because d33 ≠ 4,</a:t>
            </a:r>
          </a:p>
          <a:p>
            <a:pPr>
              <a:buNone/>
            </a:pPr>
            <a:r>
              <a:rPr lang="en-US" dirty="0" smtClean="0"/>
              <a:t>      d4 = 4 because d44 ≠ 4, and so on.</a:t>
            </a:r>
            <a:endParaRPr lang="en-US" dirty="0"/>
          </a:p>
        </p:txBody>
      </p:sp>
      <p:pic>
        <p:nvPicPr>
          <p:cNvPr id="1026" name="Picture 2"/>
          <p:cNvPicPr>
            <a:picLocks noChangeAspect="1" noChangeArrowheads="1"/>
          </p:cNvPicPr>
          <p:nvPr/>
        </p:nvPicPr>
        <p:blipFill>
          <a:blip r:embed="rId2" cstate="print"/>
          <a:srcRect t="7692"/>
          <a:stretch>
            <a:fillRect/>
          </a:stretch>
        </p:blipFill>
        <p:spPr bwMode="auto">
          <a:xfrm>
            <a:off x="6172200" y="3124200"/>
            <a:ext cx="2514600" cy="91440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524000"/>
            <a:ext cx="8229600" cy="4625609"/>
          </a:xfrm>
        </p:spPr>
        <p:txBody>
          <a:bodyPr>
            <a:noAutofit/>
          </a:bodyPr>
          <a:lstStyle/>
          <a:p>
            <a:r>
              <a:rPr lang="en-US" sz="2300" dirty="0" smtClean="0"/>
              <a:t>Every real number has a unique decimal expansion .</a:t>
            </a:r>
          </a:p>
          <a:p>
            <a:r>
              <a:rPr lang="en-US" sz="2300" dirty="0" smtClean="0"/>
              <a:t>Therefore, the real number r is not equal to any of r1,r2,... because the decimal expansion of r differs from the decimal expansion of </a:t>
            </a:r>
            <a:r>
              <a:rPr lang="en-US" sz="2300" dirty="0" err="1" smtClean="0">
                <a:solidFill>
                  <a:srgbClr val="FF0000"/>
                </a:solidFill>
              </a:rPr>
              <a:t>ri</a:t>
            </a:r>
            <a:r>
              <a:rPr lang="en-US" sz="2300" dirty="0" smtClean="0">
                <a:solidFill>
                  <a:srgbClr val="FF0000"/>
                </a:solidFill>
              </a:rPr>
              <a:t> </a:t>
            </a:r>
            <a:r>
              <a:rPr lang="en-US" sz="2300" dirty="0" smtClean="0"/>
              <a:t>in the </a:t>
            </a:r>
            <a:r>
              <a:rPr lang="en-US" sz="2300" dirty="0" err="1" smtClean="0">
                <a:solidFill>
                  <a:srgbClr val="FF0000"/>
                </a:solidFill>
              </a:rPr>
              <a:t>i</a:t>
            </a:r>
            <a:r>
              <a:rPr lang="en-US" sz="2300" dirty="0" smtClean="0">
                <a:solidFill>
                  <a:srgbClr val="FF0000"/>
                </a:solidFill>
              </a:rPr>
              <a:t> </a:t>
            </a:r>
            <a:r>
              <a:rPr lang="en-US" sz="2300" dirty="0" err="1" smtClean="0">
                <a:solidFill>
                  <a:srgbClr val="FF0000"/>
                </a:solidFill>
              </a:rPr>
              <a:t>th</a:t>
            </a:r>
            <a:r>
              <a:rPr lang="en-US" sz="2300" dirty="0" smtClean="0">
                <a:solidFill>
                  <a:srgbClr val="FF0000"/>
                </a:solidFill>
              </a:rPr>
              <a:t> place </a:t>
            </a:r>
            <a:r>
              <a:rPr lang="en-US" sz="2300" dirty="0" smtClean="0"/>
              <a:t>to the right of the decimal point, for each </a:t>
            </a:r>
            <a:r>
              <a:rPr lang="en-US" sz="2300" dirty="0" err="1" smtClean="0"/>
              <a:t>i</a:t>
            </a:r>
            <a:r>
              <a:rPr lang="en-US" sz="2300" dirty="0" smtClean="0"/>
              <a:t> .</a:t>
            </a:r>
          </a:p>
          <a:p>
            <a:r>
              <a:rPr lang="en-US" sz="2300" dirty="0" smtClean="0"/>
              <a:t>Because there is a </a:t>
            </a:r>
            <a:r>
              <a:rPr lang="en-US" sz="2300" dirty="0" smtClean="0">
                <a:solidFill>
                  <a:srgbClr val="FF0000"/>
                </a:solidFill>
              </a:rPr>
              <a:t>real number r </a:t>
            </a:r>
            <a:r>
              <a:rPr lang="en-US" sz="2300" dirty="0" smtClean="0"/>
              <a:t>between </a:t>
            </a:r>
            <a:r>
              <a:rPr lang="en-US" sz="2300" dirty="0" smtClean="0">
                <a:solidFill>
                  <a:srgbClr val="FF0000"/>
                </a:solidFill>
              </a:rPr>
              <a:t>0 and 1 </a:t>
            </a:r>
            <a:r>
              <a:rPr lang="en-US" sz="2300" dirty="0" smtClean="0"/>
              <a:t>that is </a:t>
            </a:r>
            <a:r>
              <a:rPr lang="en-US" sz="2300" dirty="0" smtClean="0">
                <a:solidFill>
                  <a:srgbClr val="FF0000"/>
                </a:solidFill>
              </a:rPr>
              <a:t>not in the list,</a:t>
            </a:r>
            <a:r>
              <a:rPr lang="en-US" sz="2300" dirty="0" smtClean="0"/>
              <a:t> the assumption that </a:t>
            </a:r>
            <a:r>
              <a:rPr lang="en-US" sz="2300" dirty="0" smtClean="0">
                <a:solidFill>
                  <a:srgbClr val="FF0000"/>
                </a:solidFill>
              </a:rPr>
              <a:t>all the real numbers </a:t>
            </a:r>
            <a:r>
              <a:rPr lang="en-US" sz="2300" dirty="0" smtClean="0"/>
              <a:t>between </a:t>
            </a:r>
            <a:r>
              <a:rPr lang="en-US" sz="2300" dirty="0" smtClean="0">
                <a:solidFill>
                  <a:srgbClr val="FF0000"/>
                </a:solidFill>
              </a:rPr>
              <a:t>0 and 1 </a:t>
            </a:r>
            <a:r>
              <a:rPr lang="en-US" sz="2300" dirty="0" smtClean="0"/>
              <a:t>could be listed must be </a:t>
            </a:r>
            <a:r>
              <a:rPr lang="en-US" sz="2300" dirty="0" smtClean="0">
                <a:solidFill>
                  <a:srgbClr val="FF0000"/>
                </a:solidFill>
              </a:rPr>
              <a:t>false</a:t>
            </a:r>
            <a:r>
              <a:rPr lang="en-US" sz="2300" dirty="0" smtClean="0"/>
              <a:t>. </a:t>
            </a:r>
          </a:p>
          <a:p>
            <a:r>
              <a:rPr lang="en-US" sz="2300" dirty="0" smtClean="0"/>
              <a:t>Therefore, </a:t>
            </a:r>
            <a:r>
              <a:rPr lang="en-US" sz="2300" dirty="0" smtClean="0">
                <a:solidFill>
                  <a:srgbClr val="FF0000"/>
                </a:solidFill>
              </a:rPr>
              <a:t>all the real numbers between 0 and 1 cannot be listed, </a:t>
            </a:r>
            <a:r>
              <a:rPr lang="en-US" sz="2300" dirty="0" smtClean="0"/>
              <a:t>so the set of real numbers between 0 and 1 is </a:t>
            </a:r>
            <a:r>
              <a:rPr lang="en-US" sz="2300" dirty="0" smtClean="0">
                <a:solidFill>
                  <a:srgbClr val="FF0000"/>
                </a:solidFill>
              </a:rPr>
              <a:t>uncountable.</a:t>
            </a:r>
            <a:r>
              <a:rPr lang="en-US" sz="2300" dirty="0" smtClean="0"/>
              <a:t> </a:t>
            </a:r>
          </a:p>
          <a:p>
            <a:r>
              <a:rPr lang="en-US" sz="2300" dirty="0" smtClean="0"/>
              <a:t>Any set with an uncountable subset is uncountable. </a:t>
            </a:r>
          </a:p>
          <a:p>
            <a:r>
              <a:rPr lang="en-US" sz="2300" dirty="0" smtClean="0"/>
              <a:t>Hence, the set of </a:t>
            </a:r>
            <a:r>
              <a:rPr lang="en-US" sz="2300" dirty="0" smtClean="0">
                <a:solidFill>
                  <a:srgbClr val="FF0000"/>
                </a:solidFill>
              </a:rPr>
              <a:t>real numbers is uncountable</a:t>
            </a:r>
            <a:r>
              <a:rPr lang="en-US" sz="2300" dirty="0" smtClean="0"/>
              <a:t>.</a:t>
            </a:r>
            <a:endParaRPr lang="en-US"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Results About Cardinality</a:t>
            </a:r>
            <a:endParaRPr lang="en-US" dirty="0"/>
          </a:p>
        </p:txBody>
      </p:sp>
      <p:sp>
        <p:nvSpPr>
          <p:cNvPr id="4" name="Horizontal Scroll 3"/>
          <p:cNvSpPr/>
          <p:nvPr/>
        </p:nvSpPr>
        <p:spPr>
          <a:xfrm>
            <a:off x="533400" y="2667000"/>
            <a:ext cx="8077200" cy="1752600"/>
          </a:xfrm>
          <a:prstGeom prst="horizontalScroll">
            <a:avLst/>
          </a:prstGeom>
          <a:blipFill>
            <a:blip r:embed="rId2" cstate="print"/>
            <a:tile tx="0" ty="0" sx="100000" sy="100000" flip="none" algn="tl"/>
          </a:blip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If A and B are countable sets, then A ∪ B is also countable.</a:t>
            </a:r>
          </a:p>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Uncomputable</a:t>
            </a:r>
            <a:r>
              <a:rPr lang="en-US" dirty="0" smtClean="0"/>
              <a:t> Functions</a:t>
            </a:r>
            <a:endParaRPr lang="en-US" dirty="0"/>
          </a:p>
        </p:txBody>
      </p:sp>
      <p:sp>
        <p:nvSpPr>
          <p:cNvPr id="3" name="Content Placeholder 2"/>
          <p:cNvSpPr>
            <a:spLocks noGrp="1"/>
          </p:cNvSpPr>
          <p:nvPr>
            <p:ph idx="1"/>
          </p:nvPr>
        </p:nvSpPr>
        <p:spPr/>
        <p:txBody>
          <a:bodyPr/>
          <a:lstStyle/>
          <a:p>
            <a:endParaRPr lang="en-US"/>
          </a:p>
        </p:txBody>
      </p:sp>
      <p:sp>
        <p:nvSpPr>
          <p:cNvPr id="5" name="Horizontal Scroll 4"/>
          <p:cNvSpPr/>
          <p:nvPr/>
        </p:nvSpPr>
        <p:spPr>
          <a:xfrm>
            <a:off x="533400" y="2057400"/>
            <a:ext cx="8305800" cy="3810000"/>
          </a:xfrm>
          <a:prstGeom prst="horizontalScroll">
            <a:avLst/>
          </a:prstGeom>
          <a:blipFill>
            <a:blip r:embed="rId2" cstate="print"/>
            <a:tile tx="0" ty="0" sx="100000" sy="100000" flip="none" algn="tl"/>
          </a:blipFill>
          <a:ln w="381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solidFill>
                  <a:schemeClr val="tx1"/>
                </a:solidFill>
              </a:rPr>
              <a:t>We say that a function is </a:t>
            </a:r>
            <a:r>
              <a:rPr lang="en-US" sz="2800" b="1" dirty="0" smtClean="0">
                <a:solidFill>
                  <a:srgbClr val="FF0000"/>
                </a:solidFill>
              </a:rPr>
              <a:t>computable </a:t>
            </a:r>
            <a:r>
              <a:rPr lang="en-US" sz="2800" b="1" dirty="0" smtClean="0">
                <a:solidFill>
                  <a:schemeClr val="tx1"/>
                </a:solidFill>
              </a:rPr>
              <a:t>if there is a computer program in some programming</a:t>
            </a:r>
          </a:p>
          <a:p>
            <a:pPr algn="ctr"/>
            <a:r>
              <a:rPr lang="en-US" sz="2800" b="1" dirty="0" smtClean="0">
                <a:solidFill>
                  <a:schemeClr val="tx1"/>
                </a:solidFill>
              </a:rPr>
              <a:t>language that finds the values of this function. If a function is not computable we say it is</a:t>
            </a:r>
          </a:p>
          <a:p>
            <a:pPr algn="ctr"/>
            <a:r>
              <a:rPr lang="en-US" sz="2800" b="1" dirty="0" err="1" smtClean="0">
                <a:solidFill>
                  <a:srgbClr val="FF0000"/>
                </a:solidFill>
              </a:rPr>
              <a:t>Uncomputable</a:t>
            </a:r>
            <a:r>
              <a:rPr lang="en-US" sz="2800" b="1" dirty="0" smtClean="0">
                <a:solidFill>
                  <a:srgbClr val="FF0000"/>
                </a:solidFill>
              </a:rPr>
              <a:t>.</a:t>
            </a:r>
            <a:endParaRPr lang="en-US" sz="2800" b="1" dirty="0" smtClean="0">
              <a:solidFill>
                <a:schemeClr val="tx1"/>
              </a:solidFill>
            </a:endParaRPr>
          </a:p>
          <a:p>
            <a:pPr algn="ct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26397</TotalTime>
  <Words>5490</Words>
  <Application>Microsoft Office PowerPoint</Application>
  <PresentationFormat>On-screen Show (4:3)</PresentationFormat>
  <Paragraphs>618</Paragraphs>
  <Slides>120</Slides>
  <Notes>1</Notes>
  <HiddenSlides>0</HiddenSlides>
  <MMClips>0</MMClips>
  <ScaleCrop>false</ScaleCrop>
  <HeadingPairs>
    <vt:vector size="4" baseType="variant">
      <vt:variant>
        <vt:lpstr>Theme</vt:lpstr>
      </vt:variant>
      <vt:variant>
        <vt:i4>1</vt:i4>
      </vt:variant>
      <vt:variant>
        <vt:lpstr>Slide Titles</vt:lpstr>
      </vt:variant>
      <vt:variant>
        <vt:i4>120</vt:i4>
      </vt:variant>
    </vt:vector>
  </HeadingPairs>
  <TitlesOfParts>
    <vt:vector size="121" baseType="lpstr">
      <vt:lpstr>Module</vt:lpstr>
      <vt:lpstr>SETS</vt:lpstr>
      <vt:lpstr>Set</vt:lpstr>
      <vt:lpstr>Ways to describe a set</vt:lpstr>
      <vt:lpstr>Ways to describe a set</vt:lpstr>
      <vt:lpstr>Important Sets </vt:lpstr>
      <vt:lpstr>PowerPoint Presentation</vt:lpstr>
      <vt:lpstr>PowerPoint Presentation</vt:lpstr>
      <vt:lpstr>The Empty Set</vt:lpstr>
      <vt:lpstr>Venn Diagrams</vt:lpstr>
      <vt:lpstr>Venn Diagrams…</vt:lpstr>
      <vt:lpstr>Subsets</vt:lpstr>
      <vt:lpstr>Subsets…</vt:lpstr>
      <vt:lpstr>Subsets…</vt:lpstr>
      <vt:lpstr>Proper Subset</vt:lpstr>
      <vt:lpstr>The Size of a Set</vt:lpstr>
      <vt:lpstr>Infinite Set</vt:lpstr>
      <vt:lpstr>Power Sets</vt:lpstr>
      <vt:lpstr>Cartesian Products</vt:lpstr>
      <vt:lpstr>Cartesian Products..</vt:lpstr>
      <vt:lpstr>Cartesian Products…</vt:lpstr>
      <vt:lpstr>Cartesian Products…</vt:lpstr>
      <vt:lpstr>Cartesian Products…</vt:lpstr>
      <vt:lpstr>Cartesian Products…</vt:lpstr>
      <vt:lpstr>Assignment</vt:lpstr>
      <vt:lpstr>SET OPERATIONS</vt:lpstr>
      <vt:lpstr>Union</vt:lpstr>
      <vt:lpstr>Intersection</vt:lpstr>
      <vt:lpstr>Cardinality of Union</vt:lpstr>
      <vt:lpstr>Disjoint</vt:lpstr>
      <vt:lpstr>Difference</vt:lpstr>
      <vt:lpstr>Complement</vt:lpstr>
      <vt:lpstr>Set Identities</vt:lpstr>
      <vt:lpstr>Set Identities</vt:lpstr>
      <vt:lpstr>Example</vt:lpstr>
      <vt:lpstr>Generalized Unions and Intersections</vt:lpstr>
      <vt:lpstr>Example</vt:lpstr>
      <vt:lpstr>PowerPoint Presentation</vt:lpstr>
      <vt:lpstr>Computer Representation of Sets</vt:lpstr>
      <vt:lpstr>Example</vt:lpstr>
      <vt:lpstr>Example…</vt:lpstr>
      <vt:lpstr>Example…</vt:lpstr>
      <vt:lpstr>Assignment</vt:lpstr>
      <vt:lpstr>Functions</vt:lpstr>
      <vt:lpstr>Functions</vt:lpstr>
      <vt:lpstr>Functions…</vt:lpstr>
      <vt:lpstr>Functions…</vt:lpstr>
      <vt:lpstr>Functions…</vt:lpstr>
      <vt:lpstr>Functions…</vt:lpstr>
      <vt:lpstr>Functions…</vt:lpstr>
      <vt:lpstr>Examples</vt:lpstr>
      <vt:lpstr>Examples…</vt:lpstr>
      <vt:lpstr>Examples…</vt:lpstr>
      <vt:lpstr>Examples…</vt:lpstr>
      <vt:lpstr>Examples…</vt:lpstr>
      <vt:lpstr>PowerPoint Presentation</vt:lpstr>
      <vt:lpstr>One-to-One Functions</vt:lpstr>
      <vt:lpstr>Examples</vt:lpstr>
      <vt:lpstr> Onto Functions</vt:lpstr>
      <vt:lpstr>Examples</vt:lpstr>
      <vt:lpstr>One-to-One correspondence, or a Bijection Function</vt:lpstr>
      <vt:lpstr>Examples of Different Types of Correspondences</vt:lpstr>
      <vt:lpstr>Identity function</vt:lpstr>
      <vt:lpstr>Inverse Functions</vt:lpstr>
      <vt:lpstr>PowerPoint Presentation</vt:lpstr>
      <vt:lpstr>Examples…</vt:lpstr>
      <vt:lpstr>Examples..</vt:lpstr>
      <vt:lpstr>Compositions of Functions</vt:lpstr>
      <vt:lpstr>Compositions of Functions…</vt:lpstr>
      <vt:lpstr>Examples</vt:lpstr>
      <vt:lpstr>Examples..</vt:lpstr>
      <vt:lpstr>The Graphs of Functions</vt:lpstr>
      <vt:lpstr>Examples..</vt:lpstr>
      <vt:lpstr>Examples..</vt:lpstr>
      <vt:lpstr>Some Important Functions</vt:lpstr>
      <vt:lpstr>Examples</vt:lpstr>
      <vt:lpstr>Partial Functions</vt:lpstr>
      <vt:lpstr>Example</vt:lpstr>
      <vt:lpstr>Assignment</vt:lpstr>
      <vt:lpstr>Sequences and Summations</vt:lpstr>
      <vt:lpstr>Sequences</vt:lpstr>
      <vt:lpstr>Example</vt:lpstr>
      <vt:lpstr>Geometric progression</vt:lpstr>
      <vt:lpstr>Example</vt:lpstr>
      <vt:lpstr>Arithmetic progression</vt:lpstr>
      <vt:lpstr>Example</vt:lpstr>
      <vt:lpstr>Strings</vt:lpstr>
      <vt:lpstr>Recurrence Relations</vt:lpstr>
      <vt:lpstr>Example…</vt:lpstr>
      <vt:lpstr>Example</vt:lpstr>
      <vt:lpstr>Fibonacci sequence</vt:lpstr>
      <vt:lpstr>PowerPoint Presentation</vt:lpstr>
      <vt:lpstr>Example</vt:lpstr>
      <vt:lpstr>Summations</vt:lpstr>
      <vt:lpstr>PowerPoint Presentation</vt:lpstr>
      <vt:lpstr>Example</vt:lpstr>
      <vt:lpstr>Example…</vt:lpstr>
      <vt:lpstr>Example…</vt:lpstr>
      <vt:lpstr>PowerPoint Presentation</vt:lpstr>
      <vt:lpstr>Example</vt:lpstr>
      <vt:lpstr>PowerPoint Presentation</vt:lpstr>
      <vt:lpstr>PowerPoint Presentation</vt:lpstr>
      <vt:lpstr>Example</vt:lpstr>
      <vt:lpstr>Examples…</vt:lpstr>
      <vt:lpstr>Assignment</vt:lpstr>
      <vt:lpstr>SETS</vt:lpstr>
      <vt:lpstr>Cardinality of Sets</vt:lpstr>
      <vt:lpstr>Cardinality</vt:lpstr>
      <vt:lpstr>Countable Sets</vt:lpstr>
      <vt:lpstr>Example</vt:lpstr>
      <vt:lpstr>HILBERT’S GRAND HOTEL</vt:lpstr>
      <vt:lpstr>PowerPoint Presentation</vt:lpstr>
      <vt:lpstr>Positive Rational Numbers</vt:lpstr>
      <vt:lpstr>PowerPoint Presentation</vt:lpstr>
      <vt:lpstr>An Uncountable Set</vt:lpstr>
      <vt:lpstr>PowerPoint Presentation</vt:lpstr>
      <vt:lpstr>PowerPoint Presentation</vt:lpstr>
      <vt:lpstr>PowerPoint Presentation</vt:lpstr>
      <vt:lpstr>PowerPoint Presentation</vt:lpstr>
      <vt:lpstr>Results About Cardinality</vt:lpstr>
      <vt:lpstr>Uncomputable Functions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SETS</dc:title>
  <dc:creator>amna.humayun</dc:creator>
  <cp:lastModifiedBy>bnu</cp:lastModifiedBy>
  <cp:revision>311</cp:revision>
  <cp:lastPrinted>2014-03-04T10:24:33Z</cp:lastPrinted>
  <dcterms:created xsi:type="dcterms:W3CDTF">2013-10-10T07:14:45Z</dcterms:created>
  <dcterms:modified xsi:type="dcterms:W3CDTF">2023-10-29T06:00:43Z</dcterms:modified>
</cp:coreProperties>
</file>