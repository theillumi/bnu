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359" r:id="rId10"/>
    <p:sldId id="358" r:id="rId11"/>
    <p:sldId id="392" r:id="rId12"/>
    <p:sldId id="393" r:id="rId13"/>
    <p:sldId id="389" r:id="rId14"/>
    <p:sldId id="390" r:id="rId15"/>
    <p:sldId id="391" r:id="rId16"/>
    <p:sldId id="394" r:id="rId17"/>
    <p:sldId id="383" r:id="rId18"/>
    <p:sldId id="384" r:id="rId19"/>
    <p:sldId id="385" r:id="rId20"/>
    <p:sldId id="386" r:id="rId21"/>
    <p:sldId id="387" r:id="rId22"/>
    <p:sldId id="395" r:id="rId23"/>
    <p:sldId id="396" r:id="rId24"/>
    <p:sldId id="38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5" y="274638"/>
            <a:ext cx="6842125" cy="9223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50825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41825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5FA5BC-B9CE-492A-B1BC-FE71E22C93CB}" type="datetimeFigureOut">
              <a:rPr lang="en-GB"/>
              <a:pPr>
                <a:defRPr/>
              </a:pPr>
              <a:t>31/12/2024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ED3ED-DB00-4E6F-BF37-BEBB6E275F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1B4BE89-50A2-4CBD-A7EA-53A2F1F42D65}" type="datetimeFigureOut">
              <a:rPr lang="en-US" smtClean="0"/>
              <a:pPr/>
              <a:t>12/31/2024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A3B8FA1-0783-408A-90AB-3B52566658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Vertex_(graph_theory)" TargetMode="External"/><Relationship Id="rId2" Type="http://schemas.openxmlformats.org/officeDocument/2006/relationships/hyperlink" Target="http://en.wikipedia.org/wiki/Path_(graph_theory)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zh-TW"/>
              <a:t>Graphs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 classical problem</a:t>
            </a: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Now I have N friends, but I have the phone numbers of some of them only</a:t>
            </a:r>
          </a:p>
          <a:p>
            <a:r>
              <a:rPr lang="en-US" altLang="zh-TW"/>
              <a:t>I want to deliver a message to Sarah by repeated calling</a:t>
            </a:r>
          </a:p>
          <a:p>
            <a:r>
              <a:rPr lang="en-US" altLang="zh-TW"/>
              <a:t>My memory is so good that I remember who can be contacted by my N friends</a:t>
            </a:r>
          </a:p>
          <a:p>
            <a:r>
              <a:rPr lang="en-US" altLang="zh-TW"/>
              <a:t>Give me a calling plan for me and my friends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A classical problem</a:t>
            </a:r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This is actually a graph!</a:t>
            </a:r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1692275" y="2205038"/>
            <a:ext cx="5314950" cy="3889375"/>
            <a:chOff x="1066" y="1389"/>
            <a:chExt cx="3348" cy="2450"/>
          </a:xfrm>
        </p:grpSpPr>
        <p:sp>
          <p:nvSpPr>
            <p:cNvPr id="5125" name="Oval 17"/>
            <p:cNvSpPr>
              <a:spLocks noChangeArrowheads="1"/>
            </p:cNvSpPr>
            <p:nvPr/>
          </p:nvSpPr>
          <p:spPr bwMode="auto">
            <a:xfrm>
              <a:off x="1066" y="2070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Gary</a:t>
              </a:r>
            </a:p>
          </p:txBody>
        </p:sp>
        <p:sp>
          <p:nvSpPr>
            <p:cNvPr id="5126" name="Oval 19"/>
            <p:cNvSpPr>
              <a:spLocks noChangeArrowheads="1"/>
            </p:cNvSpPr>
            <p:nvPr/>
          </p:nvSpPr>
          <p:spPr bwMode="auto">
            <a:xfrm>
              <a:off x="2336" y="2369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Joyce</a:t>
              </a:r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2336" y="1480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Ryan</a:t>
              </a:r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1655" y="3022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John</a:t>
              </a:r>
            </a:p>
          </p:txBody>
        </p:sp>
        <p:sp>
          <p:nvSpPr>
            <p:cNvPr id="5129" name="Oval 22"/>
            <p:cNvSpPr>
              <a:spLocks noChangeArrowheads="1"/>
            </p:cNvSpPr>
            <p:nvPr/>
          </p:nvSpPr>
          <p:spPr bwMode="auto">
            <a:xfrm>
              <a:off x="3733" y="2260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Ada</a:t>
              </a:r>
            </a:p>
          </p:txBody>
        </p:sp>
        <p:sp>
          <p:nvSpPr>
            <p:cNvPr id="5130" name="Oval 23"/>
            <p:cNvSpPr>
              <a:spLocks noChangeArrowheads="1"/>
            </p:cNvSpPr>
            <p:nvPr/>
          </p:nvSpPr>
          <p:spPr bwMode="auto">
            <a:xfrm>
              <a:off x="2971" y="3158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Sarah</a:t>
              </a:r>
            </a:p>
          </p:txBody>
        </p:sp>
        <p:sp>
          <p:nvSpPr>
            <p:cNvPr id="5131" name="Line 25"/>
            <p:cNvSpPr>
              <a:spLocks noChangeShapeType="1"/>
            </p:cNvSpPr>
            <p:nvPr/>
          </p:nvSpPr>
          <p:spPr bwMode="auto">
            <a:xfrm flipV="1">
              <a:off x="1655" y="1888"/>
              <a:ext cx="681" cy="3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2" name="Line 26"/>
            <p:cNvSpPr>
              <a:spLocks noChangeShapeType="1"/>
            </p:cNvSpPr>
            <p:nvPr/>
          </p:nvSpPr>
          <p:spPr bwMode="auto">
            <a:xfrm>
              <a:off x="1746" y="2478"/>
              <a:ext cx="590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Line 28"/>
            <p:cNvSpPr>
              <a:spLocks noChangeShapeType="1"/>
            </p:cNvSpPr>
            <p:nvPr/>
          </p:nvSpPr>
          <p:spPr bwMode="auto">
            <a:xfrm flipV="1">
              <a:off x="2653" y="2161"/>
              <a:ext cx="0" cy="2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Line 30"/>
            <p:cNvSpPr>
              <a:spLocks noChangeShapeType="1"/>
            </p:cNvSpPr>
            <p:nvPr/>
          </p:nvSpPr>
          <p:spPr bwMode="auto">
            <a:xfrm>
              <a:off x="1565" y="2705"/>
              <a:ext cx="272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Line 31"/>
            <p:cNvSpPr>
              <a:spLocks noChangeShapeType="1"/>
            </p:cNvSpPr>
            <p:nvPr/>
          </p:nvSpPr>
          <p:spPr bwMode="auto">
            <a:xfrm flipH="1" flipV="1">
              <a:off x="2336" y="3431"/>
              <a:ext cx="635" cy="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Line 32"/>
            <p:cNvSpPr>
              <a:spLocks noChangeShapeType="1"/>
            </p:cNvSpPr>
            <p:nvPr/>
          </p:nvSpPr>
          <p:spPr bwMode="auto">
            <a:xfrm flipH="1" flipV="1">
              <a:off x="2925" y="2932"/>
              <a:ext cx="227" cy="2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Line 33"/>
            <p:cNvSpPr>
              <a:spLocks noChangeShapeType="1"/>
            </p:cNvSpPr>
            <p:nvPr/>
          </p:nvSpPr>
          <p:spPr bwMode="auto">
            <a:xfrm flipV="1">
              <a:off x="2336" y="2796"/>
              <a:ext cx="1451" cy="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Line 34"/>
            <p:cNvSpPr>
              <a:spLocks noChangeShapeType="1"/>
            </p:cNvSpPr>
            <p:nvPr/>
          </p:nvSpPr>
          <p:spPr bwMode="auto">
            <a:xfrm flipH="1">
              <a:off x="3560" y="2886"/>
              <a:ext cx="363" cy="4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Line 35"/>
            <p:cNvSpPr>
              <a:spLocks noChangeShapeType="1"/>
            </p:cNvSpPr>
            <p:nvPr/>
          </p:nvSpPr>
          <p:spPr bwMode="auto">
            <a:xfrm>
              <a:off x="3016" y="1888"/>
              <a:ext cx="817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Line 36"/>
            <p:cNvSpPr>
              <a:spLocks noChangeShapeType="1"/>
            </p:cNvSpPr>
            <p:nvPr/>
          </p:nvSpPr>
          <p:spPr bwMode="auto">
            <a:xfrm flipH="1">
              <a:off x="3016" y="2569"/>
              <a:ext cx="726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Oval 38"/>
            <p:cNvSpPr>
              <a:spLocks noChangeArrowheads="1"/>
            </p:cNvSpPr>
            <p:nvPr/>
          </p:nvSpPr>
          <p:spPr bwMode="auto">
            <a:xfrm>
              <a:off x="3470" y="1389"/>
              <a:ext cx="681" cy="681"/>
            </a:xfrm>
            <a:prstGeom prst="ellipse">
              <a:avLst/>
            </a:prstGeom>
            <a:solidFill>
              <a:srgbClr val="64EAAD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TW" sz="2400"/>
                <a:t>Winnie</a:t>
              </a:r>
            </a:p>
          </p:txBody>
        </p:sp>
        <p:sp>
          <p:nvSpPr>
            <p:cNvPr id="5142" name="Line 39"/>
            <p:cNvSpPr>
              <a:spLocks noChangeShapeType="1"/>
            </p:cNvSpPr>
            <p:nvPr/>
          </p:nvSpPr>
          <p:spPr bwMode="auto">
            <a:xfrm flipV="1">
              <a:off x="3016" y="1706"/>
              <a:ext cx="454" cy="9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What is a graph?</a:t>
            </a:r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/>
              <a:t>A set of vertices (or nodes) linked by edges</a:t>
            </a:r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endParaRPr lang="en-US" altLang="zh-TW"/>
          </a:p>
          <a:p>
            <a:r>
              <a:rPr lang="en-US" altLang="zh-TW"/>
              <a:t>Mathematically, we often write G = (V,E)</a:t>
            </a:r>
          </a:p>
          <a:p>
            <a:pPr lvl="1"/>
            <a:r>
              <a:rPr lang="en-US" altLang="zh-TW"/>
              <a:t>V: set of vertices, so |V| = number of vertices</a:t>
            </a:r>
          </a:p>
          <a:p>
            <a:pPr lvl="1"/>
            <a:r>
              <a:rPr lang="en-US" altLang="zh-TW"/>
              <a:t>E: set of edges, so |E| = number of edges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2800350" y="2133600"/>
            <a:ext cx="576263" cy="576263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3200" dirty="0"/>
              <a:t>1</a:t>
            </a:r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3376613" y="2492375"/>
            <a:ext cx="1295400" cy="288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4643438" y="2520950"/>
            <a:ext cx="576262" cy="576263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3200"/>
              <a:t>3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3563938" y="4048125"/>
            <a:ext cx="576262" cy="576263"/>
          </a:xfrm>
          <a:prstGeom prst="ellipse">
            <a:avLst/>
          </a:prstGeom>
          <a:solidFill>
            <a:srgbClr val="CCFF99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3200"/>
              <a:t>4</a:t>
            </a:r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2584450" y="3357563"/>
            <a:ext cx="576263" cy="576262"/>
          </a:xfrm>
          <a:prstGeom prst="ellipse">
            <a:avLst/>
          </a:prstGeom>
          <a:solidFill>
            <a:srgbClr val="FF33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3200"/>
              <a:t>2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5219700" y="3414713"/>
            <a:ext cx="576263" cy="576262"/>
          </a:xfrm>
          <a:prstGeom prst="ellipse">
            <a:avLst/>
          </a:prstGeom>
          <a:solidFill>
            <a:srgbClr val="FFCC00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TW" sz="3200"/>
              <a:t>5</a:t>
            </a:r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V="1">
            <a:off x="2944813" y="2709863"/>
            <a:ext cx="142875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>
            <a:off x="3130550" y="3789363"/>
            <a:ext cx="503238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2" name="Line 12"/>
          <p:cNvSpPr>
            <a:spLocks noChangeShapeType="1"/>
          </p:cNvSpPr>
          <p:nvPr/>
        </p:nvSpPr>
        <p:spPr bwMode="auto">
          <a:xfrm>
            <a:off x="3305175" y="2636838"/>
            <a:ext cx="1943100" cy="9366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3" name="Line 13"/>
          <p:cNvSpPr>
            <a:spLocks noChangeShapeType="1"/>
          </p:cNvSpPr>
          <p:nvPr/>
        </p:nvSpPr>
        <p:spPr bwMode="auto">
          <a:xfrm flipV="1">
            <a:off x="3146425" y="2940050"/>
            <a:ext cx="1511300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54" name="AutoShape 14"/>
          <p:cNvSpPr>
            <a:spLocks noChangeArrowheads="1"/>
          </p:cNvSpPr>
          <p:nvPr/>
        </p:nvSpPr>
        <p:spPr bwMode="auto">
          <a:xfrm>
            <a:off x="1863725" y="2781300"/>
            <a:ext cx="1081088" cy="287338"/>
          </a:xfrm>
          <a:prstGeom prst="rightArrow">
            <a:avLst>
              <a:gd name="adj1" fmla="val 50000"/>
              <a:gd name="adj2" fmla="val 9406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5855" name="AutoShape 15"/>
          <p:cNvSpPr>
            <a:spLocks noChangeArrowheads="1"/>
          </p:cNvSpPr>
          <p:nvPr/>
        </p:nvSpPr>
        <p:spPr bwMode="auto">
          <a:xfrm rot="8595227">
            <a:off x="5724525" y="2967038"/>
            <a:ext cx="1081088" cy="287337"/>
          </a:xfrm>
          <a:prstGeom prst="rightArrow">
            <a:avLst>
              <a:gd name="adj1" fmla="val 50000"/>
              <a:gd name="adj2" fmla="val 94061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animBg="1"/>
      <p:bldP spid="35845" grpId="0" animBg="1"/>
      <p:bldP spid="35846" grpId="0" animBg="1"/>
      <p:bldP spid="35847" grpId="0" animBg="1"/>
      <p:bldP spid="35848" grpId="0" animBg="1"/>
      <p:bldP spid="35849" grpId="0" animBg="1"/>
      <p:bldP spid="35850" grpId="0" animBg="1"/>
      <p:bldP spid="35851" grpId="0" animBg="1"/>
      <p:bldP spid="35852" grpId="0" animBg="1"/>
      <p:bldP spid="35853" grpId="0" animBg="1"/>
      <p:bldP spid="35854" grpId="0" animBg="1"/>
      <p:bldP spid="358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7772400" cy="1143000"/>
          </a:xfrm>
        </p:spPr>
        <p:txBody>
          <a:bodyPr/>
          <a:lstStyle/>
          <a:p>
            <a:r>
              <a:rPr lang="en-US" altLang="en-US"/>
              <a:t>What is a Graph?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828800"/>
            <a:ext cx="8077200" cy="3657600"/>
          </a:xfrm>
        </p:spPr>
        <p:txBody>
          <a:bodyPr/>
          <a:lstStyle/>
          <a:p>
            <a:r>
              <a:rPr lang="en-US" altLang="en-US" sz="2000" dirty="0"/>
              <a:t>A graph G = (</a:t>
            </a:r>
            <a:r>
              <a:rPr lang="en-US" altLang="en-US" sz="2000" dirty="0">
                <a:solidFill>
                  <a:srgbClr val="FA2C25"/>
                </a:solidFill>
              </a:rPr>
              <a:t>V</a:t>
            </a:r>
            <a:r>
              <a:rPr lang="en-US" altLang="en-US" sz="2000" dirty="0"/>
              <a:t>,E) is composed of:</a:t>
            </a:r>
          </a:p>
          <a:p>
            <a:pPr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dirty="0">
                <a:solidFill>
                  <a:srgbClr val="FA2C25"/>
                </a:solidFill>
              </a:rPr>
              <a:t>V</a:t>
            </a:r>
            <a:r>
              <a:rPr lang="en-US" altLang="en-US" sz="2000" dirty="0"/>
              <a:t>: set of </a:t>
            </a:r>
            <a:r>
              <a:rPr lang="en-US" altLang="en-US" sz="2000" dirty="0">
                <a:solidFill>
                  <a:srgbClr val="FA2C25"/>
                </a:solidFill>
              </a:rPr>
              <a:t>vertices</a:t>
            </a:r>
          </a:p>
          <a:p>
            <a:pPr>
              <a:buFontTx/>
              <a:buNone/>
            </a:pPr>
            <a:r>
              <a:rPr lang="en-US" altLang="en-US" sz="2000" dirty="0"/>
              <a:t>		</a:t>
            </a:r>
            <a:r>
              <a:rPr lang="en-US" altLang="en-US" sz="2000" dirty="0">
                <a:solidFill>
                  <a:srgbClr val="008000"/>
                </a:solidFill>
              </a:rPr>
              <a:t>E</a:t>
            </a:r>
            <a:r>
              <a:rPr lang="en-US" altLang="en-US" sz="2000" dirty="0"/>
              <a:t>: set of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rgbClr val="008000"/>
                </a:solidFill>
              </a:rPr>
              <a:t>edges</a:t>
            </a:r>
            <a:r>
              <a:rPr lang="en-US" altLang="en-US" sz="2000" dirty="0"/>
              <a:t> connecting the </a:t>
            </a:r>
            <a:r>
              <a:rPr lang="en-US" altLang="en-US" sz="2000" dirty="0">
                <a:solidFill>
                  <a:srgbClr val="FA2C25"/>
                </a:solidFill>
              </a:rPr>
              <a:t>vertices</a:t>
            </a:r>
            <a:r>
              <a:rPr lang="en-US" altLang="en-US" sz="2000" dirty="0"/>
              <a:t> in V</a:t>
            </a:r>
          </a:p>
          <a:p>
            <a:r>
              <a:rPr lang="en-US" altLang="en-US" sz="2000" dirty="0"/>
              <a:t>An </a:t>
            </a:r>
            <a:r>
              <a:rPr lang="en-US" altLang="en-US" sz="2000" dirty="0">
                <a:solidFill>
                  <a:srgbClr val="008000"/>
                </a:solidFill>
              </a:rPr>
              <a:t>edge</a:t>
            </a:r>
            <a:r>
              <a:rPr lang="en-US" altLang="en-US" sz="2000" dirty="0"/>
              <a:t> e = (</a:t>
            </a:r>
            <a:r>
              <a:rPr lang="en-US" altLang="en-US" sz="2000" dirty="0" err="1"/>
              <a:t>u,v</a:t>
            </a:r>
            <a:r>
              <a:rPr lang="en-US" altLang="en-US" sz="2000" dirty="0"/>
              <a:t>) is a pair of </a:t>
            </a:r>
            <a:r>
              <a:rPr lang="en-US" altLang="en-US" sz="2000" dirty="0">
                <a:solidFill>
                  <a:srgbClr val="FA2C25"/>
                </a:solidFill>
              </a:rPr>
              <a:t>vertices</a:t>
            </a:r>
          </a:p>
          <a:p>
            <a:r>
              <a:rPr lang="en-US" altLang="en-US" sz="2000" dirty="0"/>
              <a:t>Example: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4994275" y="3983038"/>
            <a:ext cx="55563" cy="30162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994275" y="6257925"/>
            <a:ext cx="55563" cy="2857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4994275" y="4013200"/>
            <a:ext cx="55563" cy="22447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5" name="Freeform 7"/>
          <p:cNvSpPr>
            <a:spLocks/>
          </p:cNvSpPr>
          <p:nvPr/>
        </p:nvSpPr>
        <p:spPr bwMode="auto">
          <a:xfrm>
            <a:off x="5008563" y="6243638"/>
            <a:ext cx="53975" cy="58737"/>
          </a:xfrm>
          <a:custGeom>
            <a:avLst/>
            <a:gdLst>
              <a:gd name="T0" fmla="*/ 0 w 34"/>
              <a:gd name="T1" fmla="*/ 27 h 37"/>
              <a:gd name="T2" fmla="*/ 17 w 34"/>
              <a:gd name="T3" fmla="*/ 37 h 37"/>
              <a:gd name="T4" fmla="*/ 34 w 34"/>
              <a:gd name="T5" fmla="*/ 9 h 37"/>
              <a:gd name="T6" fmla="*/ 17 w 34"/>
              <a:gd name="T7" fmla="*/ 0 h 37"/>
              <a:gd name="T8" fmla="*/ 0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7"/>
                </a:moveTo>
                <a:lnTo>
                  <a:pt x="17" y="37"/>
                </a:lnTo>
                <a:lnTo>
                  <a:pt x="34" y="9"/>
                </a:lnTo>
                <a:lnTo>
                  <a:pt x="17" y="0"/>
                </a:lnTo>
                <a:lnTo>
                  <a:pt x="0" y="27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6" name="Freeform 8"/>
          <p:cNvSpPr>
            <a:spLocks/>
          </p:cNvSpPr>
          <p:nvPr/>
        </p:nvSpPr>
        <p:spPr bwMode="auto">
          <a:xfrm>
            <a:off x="3629025" y="5157788"/>
            <a:ext cx="53975" cy="73025"/>
          </a:xfrm>
          <a:custGeom>
            <a:avLst/>
            <a:gdLst>
              <a:gd name="T0" fmla="*/ 17 w 34"/>
              <a:gd name="T1" fmla="*/ 46 h 46"/>
              <a:gd name="T2" fmla="*/ 0 w 34"/>
              <a:gd name="T3" fmla="*/ 37 h 46"/>
              <a:gd name="T4" fmla="*/ 25 w 34"/>
              <a:gd name="T5" fmla="*/ 0 h 46"/>
              <a:gd name="T6" fmla="*/ 34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34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7" name="Freeform 9"/>
          <p:cNvSpPr>
            <a:spLocks/>
          </p:cNvSpPr>
          <p:nvPr/>
        </p:nvSpPr>
        <p:spPr bwMode="auto">
          <a:xfrm>
            <a:off x="3656013" y="5186363"/>
            <a:ext cx="1379537" cy="1100137"/>
          </a:xfrm>
          <a:custGeom>
            <a:avLst/>
            <a:gdLst>
              <a:gd name="T0" fmla="*/ 852 w 869"/>
              <a:gd name="T1" fmla="*/ 693 h 693"/>
              <a:gd name="T2" fmla="*/ 869 w 869"/>
              <a:gd name="T3" fmla="*/ 666 h 693"/>
              <a:gd name="T4" fmla="*/ 17 w 869"/>
              <a:gd name="T5" fmla="*/ 0 h 693"/>
              <a:gd name="T6" fmla="*/ 0 w 869"/>
              <a:gd name="T7" fmla="*/ 28 h 693"/>
              <a:gd name="T8" fmla="*/ 852 w 869"/>
              <a:gd name="T9" fmla="*/ 693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52" y="693"/>
                </a:moveTo>
                <a:lnTo>
                  <a:pt x="869" y="666"/>
                </a:lnTo>
                <a:lnTo>
                  <a:pt x="17" y="0"/>
                </a:lnTo>
                <a:lnTo>
                  <a:pt x="0" y="28"/>
                </a:lnTo>
                <a:lnTo>
                  <a:pt x="852" y="693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8" name="Freeform 10"/>
          <p:cNvSpPr>
            <a:spLocks/>
          </p:cNvSpPr>
          <p:nvPr/>
        </p:nvSpPr>
        <p:spPr bwMode="auto">
          <a:xfrm>
            <a:off x="3656013" y="5186363"/>
            <a:ext cx="53975" cy="58737"/>
          </a:xfrm>
          <a:custGeom>
            <a:avLst/>
            <a:gdLst>
              <a:gd name="T0" fmla="*/ 0 w 34"/>
              <a:gd name="T1" fmla="*/ 28 h 37"/>
              <a:gd name="T2" fmla="*/ 17 w 34"/>
              <a:gd name="T3" fmla="*/ 37 h 37"/>
              <a:gd name="T4" fmla="*/ 34 w 34"/>
              <a:gd name="T5" fmla="*/ 9 h 37"/>
              <a:gd name="T6" fmla="*/ 26 w 34"/>
              <a:gd name="T7" fmla="*/ 0 h 37"/>
              <a:gd name="T8" fmla="*/ 0 w 34"/>
              <a:gd name="T9" fmla="*/ 28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0" y="28"/>
                </a:moveTo>
                <a:lnTo>
                  <a:pt x="17" y="37"/>
                </a:lnTo>
                <a:lnTo>
                  <a:pt x="34" y="9"/>
                </a:lnTo>
                <a:lnTo>
                  <a:pt x="26" y="0"/>
                </a:lnTo>
                <a:lnTo>
                  <a:pt x="0" y="28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Freeform 11"/>
          <p:cNvSpPr>
            <a:spLocks/>
          </p:cNvSpPr>
          <p:nvPr/>
        </p:nvSpPr>
        <p:spPr bwMode="auto">
          <a:xfrm>
            <a:off x="2276475" y="3968750"/>
            <a:ext cx="68263" cy="73025"/>
          </a:xfrm>
          <a:custGeom>
            <a:avLst/>
            <a:gdLst>
              <a:gd name="T0" fmla="*/ 17 w 43"/>
              <a:gd name="T1" fmla="*/ 46 h 46"/>
              <a:gd name="T2" fmla="*/ 0 w 43"/>
              <a:gd name="T3" fmla="*/ 37 h 46"/>
              <a:gd name="T4" fmla="*/ 25 w 43"/>
              <a:gd name="T5" fmla="*/ 0 h 46"/>
              <a:gd name="T6" fmla="*/ 43 w 43"/>
              <a:gd name="T7" fmla="*/ 18 h 46"/>
              <a:gd name="T8" fmla="*/ 17 w 43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"/>
              <a:gd name="T16" fmla="*/ 0 h 46"/>
              <a:gd name="T17" fmla="*/ 43 w 43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" h="46">
                <a:moveTo>
                  <a:pt x="17" y="46"/>
                </a:moveTo>
                <a:lnTo>
                  <a:pt x="0" y="37"/>
                </a:lnTo>
                <a:lnTo>
                  <a:pt x="25" y="0"/>
                </a:lnTo>
                <a:lnTo>
                  <a:pt x="43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Freeform 12"/>
          <p:cNvSpPr>
            <a:spLocks/>
          </p:cNvSpPr>
          <p:nvPr/>
        </p:nvSpPr>
        <p:spPr bwMode="auto">
          <a:xfrm>
            <a:off x="2303463" y="3997325"/>
            <a:ext cx="1393825" cy="1233488"/>
          </a:xfrm>
          <a:custGeom>
            <a:avLst/>
            <a:gdLst>
              <a:gd name="T0" fmla="*/ 852 w 878"/>
              <a:gd name="T1" fmla="*/ 777 h 777"/>
              <a:gd name="T2" fmla="*/ 878 w 878"/>
              <a:gd name="T3" fmla="*/ 749 h 777"/>
              <a:gd name="T4" fmla="*/ 26 w 878"/>
              <a:gd name="T5" fmla="*/ 0 h 777"/>
              <a:gd name="T6" fmla="*/ 0 w 878"/>
              <a:gd name="T7" fmla="*/ 28 h 777"/>
              <a:gd name="T8" fmla="*/ 852 w 878"/>
              <a:gd name="T9" fmla="*/ 777 h 7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78"/>
              <a:gd name="T16" fmla="*/ 0 h 777"/>
              <a:gd name="T17" fmla="*/ 878 w 878"/>
              <a:gd name="T18" fmla="*/ 777 h 7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78" h="777">
                <a:moveTo>
                  <a:pt x="852" y="777"/>
                </a:moveTo>
                <a:lnTo>
                  <a:pt x="878" y="749"/>
                </a:lnTo>
                <a:lnTo>
                  <a:pt x="26" y="0"/>
                </a:lnTo>
                <a:lnTo>
                  <a:pt x="0" y="28"/>
                </a:lnTo>
                <a:lnTo>
                  <a:pt x="852" y="777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1" name="Freeform 13"/>
          <p:cNvSpPr>
            <a:spLocks/>
          </p:cNvSpPr>
          <p:nvPr/>
        </p:nvSpPr>
        <p:spPr bwMode="auto">
          <a:xfrm>
            <a:off x="3656013" y="5157788"/>
            <a:ext cx="53975" cy="73025"/>
          </a:xfrm>
          <a:custGeom>
            <a:avLst/>
            <a:gdLst>
              <a:gd name="T0" fmla="*/ 17 w 34"/>
              <a:gd name="T1" fmla="*/ 46 h 46"/>
              <a:gd name="T2" fmla="*/ 34 w 34"/>
              <a:gd name="T3" fmla="*/ 37 h 46"/>
              <a:gd name="T4" fmla="*/ 17 w 34"/>
              <a:gd name="T5" fmla="*/ 0 h 46"/>
              <a:gd name="T6" fmla="*/ 0 w 34"/>
              <a:gd name="T7" fmla="*/ 18 h 46"/>
              <a:gd name="T8" fmla="*/ 17 w 34"/>
              <a:gd name="T9" fmla="*/ 46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46"/>
              <a:gd name="T17" fmla="*/ 34 w 34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46">
                <a:moveTo>
                  <a:pt x="17" y="46"/>
                </a:moveTo>
                <a:lnTo>
                  <a:pt x="34" y="37"/>
                </a:lnTo>
                <a:lnTo>
                  <a:pt x="17" y="0"/>
                </a:lnTo>
                <a:lnTo>
                  <a:pt x="0" y="18"/>
                </a:lnTo>
                <a:lnTo>
                  <a:pt x="17" y="46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2" name="Freeform 14"/>
          <p:cNvSpPr>
            <a:spLocks/>
          </p:cNvSpPr>
          <p:nvPr/>
        </p:nvSpPr>
        <p:spPr bwMode="auto">
          <a:xfrm>
            <a:off x="2276475" y="6243638"/>
            <a:ext cx="53975" cy="58737"/>
          </a:xfrm>
          <a:custGeom>
            <a:avLst/>
            <a:gdLst>
              <a:gd name="T0" fmla="*/ 34 w 34"/>
              <a:gd name="T1" fmla="*/ 27 h 37"/>
              <a:gd name="T2" fmla="*/ 25 w 34"/>
              <a:gd name="T3" fmla="*/ 37 h 37"/>
              <a:gd name="T4" fmla="*/ 0 w 34"/>
              <a:gd name="T5" fmla="*/ 9 h 37"/>
              <a:gd name="T6" fmla="*/ 17 w 34"/>
              <a:gd name="T7" fmla="*/ 0 h 37"/>
              <a:gd name="T8" fmla="*/ 34 w 34"/>
              <a:gd name="T9" fmla="*/ 27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"/>
              <a:gd name="T16" fmla="*/ 0 h 37"/>
              <a:gd name="T17" fmla="*/ 34 w 34"/>
              <a:gd name="T18" fmla="*/ 37 h 3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" h="37">
                <a:moveTo>
                  <a:pt x="34" y="27"/>
                </a:moveTo>
                <a:lnTo>
                  <a:pt x="25" y="37"/>
                </a:lnTo>
                <a:lnTo>
                  <a:pt x="0" y="9"/>
                </a:lnTo>
                <a:lnTo>
                  <a:pt x="17" y="0"/>
                </a:lnTo>
                <a:lnTo>
                  <a:pt x="34" y="27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3" name="Freeform 15"/>
          <p:cNvSpPr>
            <a:spLocks/>
          </p:cNvSpPr>
          <p:nvPr/>
        </p:nvSpPr>
        <p:spPr bwMode="auto">
          <a:xfrm>
            <a:off x="2303463" y="5186363"/>
            <a:ext cx="1379537" cy="1100137"/>
          </a:xfrm>
          <a:custGeom>
            <a:avLst/>
            <a:gdLst>
              <a:gd name="T0" fmla="*/ 869 w 869"/>
              <a:gd name="T1" fmla="*/ 28 h 693"/>
              <a:gd name="T2" fmla="*/ 852 w 869"/>
              <a:gd name="T3" fmla="*/ 0 h 693"/>
              <a:gd name="T4" fmla="*/ 0 w 869"/>
              <a:gd name="T5" fmla="*/ 666 h 693"/>
              <a:gd name="T6" fmla="*/ 17 w 869"/>
              <a:gd name="T7" fmla="*/ 693 h 693"/>
              <a:gd name="T8" fmla="*/ 869 w 869"/>
              <a:gd name="T9" fmla="*/ 28 h 69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9"/>
              <a:gd name="T16" fmla="*/ 0 h 693"/>
              <a:gd name="T17" fmla="*/ 869 w 869"/>
              <a:gd name="T18" fmla="*/ 693 h 69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9" h="693">
                <a:moveTo>
                  <a:pt x="869" y="28"/>
                </a:moveTo>
                <a:lnTo>
                  <a:pt x="852" y="0"/>
                </a:lnTo>
                <a:lnTo>
                  <a:pt x="0" y="666"/>
                </a:lnTo>
                <a:lnTo>
                  <a:pt x="17" y="693"/>
                </a:lnTo>
                <a:lnTo>
                  <a:pt x="869" y="28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2289175" y="3983038"/>
            <a:ext cx="55563" cy="30162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2289175" y="6257925"/>
            <a:ext cx="55563" cy="2857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2289175" y="4013200"/>
            <a:ext cx="55563" cy="22447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7" name="Rectangle 19"/>
          <p:cNvSpPr>
            <a:spLocks noChangeArrowheads="1"/>
          </p:cNvSpPr>
          <p:nvPr/>
        </p:nvSpPr>
        <p:spPr bwMode="auto">
          <a:xfrm>
            <a:off x="2289175" y="3983038"/>
            <a:ext cx="26988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5021263" y="3983038"/>
            <a:ext cx="28575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2316163" y="3983038"/>
            <a:ext cx="2705100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2289175" y="6227763"/>
            <a:ext cx="26988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5021263" y="6227763"/>
            <a:ext cx="28575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2" name="Rectangle 24"/>
          <p:cNvSpPr>
            <a:spLocks noChangeArrowheads="1"/>
          </p:cNvSpPr>
          <p:nvPr/>
        </p:nvSpPr>
        <p:spPr bwMode="auto">
          <a:xfrm>
            <a:off x="2316163" y="6227763"/>
            <a:ext cx="2705100" cy="58737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2071688" y="3748088"/>
            <a:ext cx="490537" cy="528637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4" name="Oval 26"/>
          <p:cNvSpPr>
            <a:spLocks noChangeArrowheads="1"/>
          </p:cNvSpPr>
          <p:nvPr/>
        </p:nvSpPr>
        <p:spPr bwMode="auto">
          <a:xfrm>
            <a:off x="2078038" y="3754438"/>
            <a:ext cx="477837" cy="51593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4775200" y="5994400"/>
            <a:ext cx="492125" cy="527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6" name="Oval 28"/>
          <p:cNvSpPr>
            <a:spLocks noChangeArrowheads="1"/>
          </p:cNvSpPr>
          <p:nvPr/>
        </p:nvSpPr>
        <p:spPr bwMode="auto">
          <a:xfrm>
            <a:off x="4783138" y="5999163"/>
            <a:ext cx="477837" cy="517525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7" name="Oval 29"/>
          <p:cNvSpPr>
            <a:spLocks noChangeArrowheads="1"/>
          </p:cNvSpPr>
          <p:nvPr/>
        </p:nvSpPr>
        <p:spPr bwMode="auto">
          <a:xfrm>
            <a:off x="3424238" y="4937125"/>
            <a:ext cx="490537" cy="528638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8" name="Oval 30"/>
          <p:cNvSpPr>
            <a:spLocks noChangeArrowheads="1"/>
          </p:cNvSpPr>
          <p:nvPr/>
        </p:nvSpPr>
        <p:spPr bwMode="auto">
          <a:xfrm>
            <a:off x="3430588" y="4943475"/>
            <a:ext cx="477837" cy="515938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99" name="Oval 31"/>
          <p:cNvSpPr>
            <a:spLocks noChangeArrowheads="1"/>
          </p:cNvSpPr>
          <p:nvPr/>
        </p:nvSpPr>
        <p:spPr bwMode="auto">
          <a:xfrm>
            <a:off x="4775200" y="3748088"/>
            <a:ext cx="492125" cy="528637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0" name="Oval 32"/>
          <p:cNvSpPr>
            <a:spLocks noChangeArrowheads="1"/>
          </p:cNvSpPr>
          <p:nvPr/>
        </p:nvSpPr>
        <p:spPr bwMode="auto">
          <a:xfrm>
            <a:off x="4783138" y="3754438"/>
            <a:ext cx="477837" cy="515937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1" name="Oval 33"/>
          <p:cNvSpPr>
            <a:spLocks noChangeArrowheads="1"/>
          </p:cNvSpPr>
          <p:nvPr/>
        </p:nvSpPr>
        <p:spPr bwMode="auto">
          <a:xfrm>
            <a:off x="2071688" y="5994400"/>
            <a:ext cx="490537" cy="527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2" name="Oval 34"/>
          <p:cNvSpPr>
            <a:spLocks noChangeArrowheads="1"/>
          </p:cNvSpPr>
          <p:nvPr/>
        </p:nvSpPr>
        <p:spPr bwMode="auto">
          <a:xfrm>
            <a:off x="2078038" y="5999163"/>
            <a:ext cx="477837" cy="517525"/>
          </a:xfrm>
          <a:prstGeom prst="ellipse">
            <a:avLst/>
          </a:prstGeom>
          <a:noFill/>
          <a:ln w="412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3" name="Rectangle 35"/>
          <p:cNvSpPr>
            <a:spLocks noChangeArrowheads="1"/>
          </p:cNvSpPr>
          <p:nvPr/>
        </p:nvSpPr>
        <p:spPr bwMode="auto">
          <a:xfrm>
            <a:off x="2220913" y="3806825"/>
            <a:ext cx="32861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000000"/>
                </a:solidFill>
                <a:latin typeface="Arial" pitchFamily="34" charset="0"/>
              </a:rPr>
              <a:t>a</a:t>
            </a:r>
            <a:endParaRPr lang="en-US" altLang="en-US">
              <a:latin typeface="Times" charset="0"/>
            </a:endParaRPr>
          </a:p>
        </p:txBody>
      </p:sp>
      <p:sp>
        <p:nvSpPr>
          <p:cNvPr id="7204" name="Rectangle 36"/>
          <p:cNvSpPr>
            <a:spLocks noChangeArrowheads="1"/>
          </p:cNvSpPr>
          <p:nvPr/>
        </p:nvSpPr>
        <p:spPr bwMode="auto">
          <a:xfrm>
            <a:off x="4926013" y="3851275"/>
            <a:ext cx="341312" cy="48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000000"/>
                </a:solidFill>
                <a:latin typeface="Arial" pitchFamily="34" charset="0"/>
              </a:rPr>
              <a:t>b</a:t>
            </a:r>
            <a:endParaRPr lang="en-US" altLang="en-US">
              <a:latin typeface="Times" charset="0"/>
            </a:endParaRPr>
          </a:p>
        </p:txBody>
      </p:sp>
      <p:sp>
        <p:nvSpPr>
          <p:cNvPr id="7205" name="Rectangle 37"/>
          <p:cNvSpPr>
            <a:spLocks noChangeArrowheads="1"/>
          </p:cNvSpPr>
          <p:nvPr/>
        </p:nvSpPr>
        <p:spPr bwMode="auto">
          <a:xfrm>
            <a:off x="3587750" y="4995863"/>
            <a:ext cx="314325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000000"/>
                </a:solidFill>
                <a:latin typeface="Arial" pitchFamily="34" charset="0"/>
              </a:rPr>
              <a:t>c</a:t>
            </a:r>
            <a:endParaRPr lang="en-US" altLang="en-US">
              <a:latin typeface="Times" charset="0"/>
            </a:endParaRPr>
          </a:p>
        </p:txBody>
      </p:sp>
      <p:sp>
        <p:nvSpPr>
          <p:cNvPr id="7206" name="Rectangle 38"/>
          <p:cNvSpPr>
            <a:spLocks noChangeArrowheads="1"/>
          </p:cNvSpPr>
          <p:nvPr/>
        </p:nvSpPr>
        <p:spPr bwMode="auto">
          <a:xfrm>
            <a:off x="2220913" y="6081713"/>
            <a:ext cx="341312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000000"/>
                </a:solidFill>
                <a:latin typeface="Arial" pitchFamily="34" charset="0"/>
              </a:rPr>
              <a:t>d</a:t>
            </a:r>
            <a:endParaRPr lang="en-US" altLang="en-US">
              <a:latin typeface="Times" charset="0"/>
            </a:endParaRPr>
          </a:p>
        </p:txBody>
      </p:sp>
      <p:sp>
        <p:nvSpPr>
          <p:cNvPr id="7207" name="Rectangle 39"/>
          <p:cNvSpPr>
            <a:spLocks noChangeArrowheads="1"/>
          </p:cNvSpPr>
          <p:nvPr/>
        </p:nvSpPr>
        <p:spPr bwMode="auto">
          <a:xfrm>
            <a:off x="4940300" y="6053138"/>
            <a:ext cx="328613" cy="48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800">
                <a:solidFill>
                  <a:srgbClr val="000000"/>
                </a:solidFill>
                <a:latin typeface="Arial" pitchFamily="34" charset="0"/>
              </a:rPr>
              <a:t>e</a:t>
            </a:r>
            <a:endParaRPr lang="en-US" altLang="en-US">
              <a:latin typeface="Times" charset="0"/>
            </a:endParaRPr>
          </a:p>
        </p:txBody>
      </p:sp>
      <p:sp>
        <p:nvSpPr>
          <p:cNvPr id="7208" name="Rectangle 40"/>
          <p:cNvSpPr>
            <a:spLocks noChangeArrowheads="1"/>
          </p:cNvSpPr>
          <p:nvPr/>
        </p:nvSpPr>
        <p:spPr bwMode="auto">
          <a:xfrm>
            <a:off x="6172200" y="3886200"/>
            <a:ext cx="2674938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altLang="en-US" dirty="0">
                <a:solidFill>
                  <a:srgbClr val="FA2C25"/>
                </a:solidFill>
                <a:latin typeface="Times" charset="0"/>
              </a:rPr>
              <a:t>V</a:t>
            </a:r>
            <a:r>
              <a:rPr lang="en-US" altLang="en-US" dirty="0">
                <a:latin typeface="Times" charset="0"/>
              </a:rPr>
              <a:t>= {</a:t>
            </a:r>
            <a:r>
              <a:rPr lang="en-US" altLang="en-US" dirty="0" err="1">
                <a:latin typeface="Times" charset="0"/>
              </a:rPr>
              <a:t>a,b,c,d,e</a:t>
            </a:r>
            <a:r>
              <a:rPr lang="en-US" altLang="en-US" dirty="0">
                <a:latin typeface="Times" charset="0"/>
              </a:rPr>
              <a:t>}</a:t>
            </a:r>
          </a:p>
          <a:p>
            <a:pPr eaLnBrk="0" hangingPunct="0"/>
            <a:endParaRPr lang="en-US" altLang="en-US" dirty="0">
              <a:latin typeface="Times" charset="0"/>
            </a:endParaRPr>
          </a:p>
          <a:p>
            <a:pPr eaLnBrk="0" hangingPunct="0"/>
            <a:r>
              <a:rPr lang="en-US" altLang="en-US" dirty="0">
                <a:solidFill>
                  <a:srgbClr val="008000"/>
                </a:solidFill>
                <a:latin typeface="Times" charset="0"/>
              </a:rPr>
              <a:t>E</a:t>
            </a:r>
            <a:r>
              <a:rPr lang="en-US" altLang="en-US" dirty="0">
                <a:latin typeface="Times" charset="0"/>
              </a:rPr>
              <a:t>= {(</a:t>
            </a:r>
            <a:r>
              <a:rPr lang="en-US" altLang="en-US" dirty="0" err="1">
                <a:latin typeface="Times" charset="0"/>
              </a:rPr>
              <a:t>a,b</a:t>
            </a:r>
            <a:r>
              <a:rPr lang="en-US" altLang="en-US" dirty="0">
                <a:latin typeface="Times" charset="0"/>
              </a:rPr>
              <a:t>),(</a:t>
            </a:r>
            <a:r>
              <a:rPr lang="en-US" altLang="en-US" dirty="0" err="1">
                <a:latin typeface="Times" charset="0"/>
              </a:rPr>
              <a:t>a,c</a:t>
            </a:r>
            <a:r>
              <a:rPr lang="en-US" altLang="en-US" dirty="0">
                <a:latin typeface="Times" charset="0"/>
              </a:rPr>
              <a:t>),(</a:t>
            </a:r>
            <a:r>
              <a:rPr lang="en-US" altLang="en-US" dirty="0" err="1">
                <a:latin typeface="Times" charset="0"/>
              </a:rPr>
              <a:t>a,d</a:t>
            </a:r>
            <a:r>
              <a:rPr lang="en-US" altLang="en-US" dirty="0">
                <a:latin typeface="Times" charset="0"/>
              </a:rPr>
              <a:t>),</a:t>
            </a:r>
          </a:p>
          <a:p>
            <a:pPr eaLnBrk="0" hangingPunct="0"/>
            <a:r>
              <a:rPr lang="en-US" altLang="en-US" dirty="0">
                <a:latin typeface="Times" charset="0"/>
              </a:rPr>
              <a:t>(</a:t>
            </a:r>
            <a:r>
              <a:rPr lang="en-US" altLang="en-US" dirty="0" err="1">
                <a:latin typeface="Times" charset="0"/>
              </a:rPr>
              <a:t>b,e</a:t>
            </a:r>
            <a:r>
              <a:rPr lang="en-US" altLang="en-US" dirty="0">
                <a:latin typeface="Times" charset="0"/>
              </a:rPr>
              <a:t>),(</a:t>
            </a:r>
            <a:r>
              <a:rPr lang="en-US" altLang="en-US" dirty="0" err="1">
                <a:latin typeface="Times" charset="0"/>
              </a:rPr>
              <a:t>c,d</a:t>
            </a:r>
            <a:r>
              <a:rPr lang="en-US" altLang="en-US" dirty="0">
                <a:latin typeface="Times" charset="0"/>
              </a:rPr>
              <a:t>),(</a:t>
            </a:r>
            <a:r>
              <a:rPr lang="en-US" altLang="en-US" dirty="0" err="1">
                <a:latin typeface="Times" charset="0"/>
              </a:rPr>
              <a:t>c,e</a:t>
            </a:r>
            <a:r>
              <a:rPr lang="en-US" altLang="en-US" dirty="0">
                <a:latin typeface="Times" charset="0"/>
              </a:rPr>
              <a:t>),</a:t>
            </a:r>
          </a:p>
          <a:p>
            <a:pPr eaLnBrk="0" hangingPunct="0"/>
            <a:r>
              <a:rPr lang="en-US" altLang="en-US" dirty="0">
                <a:latin typeface="Times" charset="0"/>
              </a:rPr>
              <a:t>(</a:t>
            </a:r>
            <a:r>
              <a:rPr lang="en-US" altLang="en-US" dirty="0" err="1">
                <a:latin typeface="Times" charset="0"/>
              </a:rPr>
              <a:t>d,e</a:t>
            </a:r>
            <a:r>
              <a:rPr lang="en-US" altLang="en-US" dirty="0">
                <a:latin typeface="Times" charset="0"/>
              </a:rPr>
              <a:t>)}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Why do we need graphs?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To present the relationships between different objects/elements in a mathematical way</a:t>
            </a:r>
          </a:p>
          <a:p>
            <a:r>
              <a:rPr lang="en-US" altLang="zh-TW" dirty="0"/>
              <a:t>Examples:</a:t>
            </a:r>
          </a:p>
          <a:p>
            <a:pPr lvl="1"/>
            <a:r>
              <a:rPr lang="en-US" altLang="zh-TW" dirty="0"/>
              <a:t>Friendship</a:t>
            </a:r>
          </a:p>
          <a:p>
            <a:pPr lvl="1"/>
            <a:r>
              <a:rPr lang="en-US" altLang="zh-TW" dirty="0"/>
              <a:t>Local Area Network (LAN)</a:t>
            </a:r>
          </a:p>
          <a:p>
            <a:pPr lvl="1"/>
            <a:r>
              <a:rPr lang="en-US" altLang="zh-TW" dirty="0"/>
              <a:t>Map of a country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What could the vertices and edges represent in the above examples?</a:t>
            </a:r>
          </a:p>
          <a:p>
            <a:pPr lvl="1">
              <a:buFont typeface="Arial" pitchFamily="34" charset="0"/>
              <a:buNone/>
            </a:pPr>
            <a:endParaRPr lang="en-US" altLang="zh-TW" dirty="0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300788" y="2708275"/>
            <a:ext cx="1771650" cy="1374775"/>
            <a:chOff x="2898" y="1671"/>
            <a:chExt cx="2023" cy="1569"/>
          </a:xfrm>
        </p:grpSpPr>
        <p:sp>
          <p:nvSpPr>
            <p:cNvPr id="8197" name="Oval 17"/>
            <p:cNvSpPr>
              <a:spLocks noChangeArrowheads="1"/>
            </p:cNvSpPr>
            <p:nvPr/>
          </p:nvSpPr>
          <p:spPr bwMode="auto">
            <a:xfrm>
              <a:off x="3034" y="1671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8198" name="Line 18"/>
            <p:cNvSpPr>
              <a:spLocks noChangeShapeType="1"/>
            </p:cNvSpPr>
            <p:nvPr/>
          </p:nvSpPr>
          <p:spPr bwMode="auto">
            <a:xfrm>
              <a:off x="3397" y="1897"/>
              <a:ext cx="816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99" name="Oval 19"/>
            <p:cNvSpPr>
              <a:spLocks noChangeArrowheads="1"/>
            </p:cNvSpPr>
            <p:nvPr/>
          </p:nvSpPr>
          <p:spPr bwMode="auto">
            <a:xfrm>
              <a:off x="4195" y="1915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8200" name="Oval 20"/>
            <p:cNvSpPr>
              <a:spLocks noChangeArrowheads="1"/>
            </p:cNvSpPr>
            <p:nvPr/>
          </p:nvSpPr>
          <p:spPr bwMode="auto">
            <a:xfrm>
              <a:off x="3515" y="2877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8201" name="Oval 21"/>
            <p:cNvSpPr>
              <a:spLocks noChangeArrowheads="1"/>
            </p:cNvSpPr>
            <p:nvPr/>
          </p:nvSpPr>
          <p:spPr bwMode="auto">
            <a:xfrm>
              <a:off x="2898" y="2442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8202" name="Oval 22"/>
            <p:cNvSpPr>
              <a:spLocks noChangeArrowheads="1"/>
            </p:cNvSpPr>
            <p:nvPr/>
          </p:nvSpPr>
          <p:spPr bwMode="auto">
            <a:xfrm>
              <a:off x="4558" y="2478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8203" name="Line 23"/>
            <p:cNvSpPr>
              <a:spLocks noChangeShapeType="1"/>
            </p:cNvSpPr>
            <p:nvPr/>
          </p:nvSpPr>
          <p:spPr bwMode="auto">
            <a:xfrm flipV="1">
              <a:off x="3125" y="2034"/>
              <a:ext cx="9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Line 24"/>
            <p:cNvSpPr>
              <a:spLocks noChangeShapeType="1"/>
            </p:cNvSpPr>
            <p:nvPr/>
          </p:nvSpPr>
          <p:spPr bwMode="auto">
            <a:xfrm>
              <a:off x="3242" y="2714"/>
              <a:ext cx="31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Line 25"/>
            <p:cNvSpPr>
              <a:spLocks noChangeShapeType="1"/>
            </p:cNvSpPr>
            <p:nvPr/>
          </p:nvSpPr>
          <p:spPr bwMode="auto">
            <a:xfrm>
              <a:off x="3352" y="1988"/>
              <a:ext cx="1224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Line 26"/>
            <p:cNvSpPr>
              <a:spLocks noChangeShapeType="1"/>
            </p:cNvSpPr>
            <p:nvPr/>
          </p:nvSpPr>
          <p:spPr bwMode="auto">
            <a:xfrm flipV="1">
              <a:off x="3252" y="2179"/>
              <a:ext cx="952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7772400" cy="1143000"/>
          </a:xfrm>
        </p:spPr>
        <p:txBody>
          <a:bodyPr/>
          <a:lstStyle/>
          <a:p>
            <a:r>
              <a:rPr lang="en-US" altLang="en-US"/>
              <a:t>Applications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6019800" cy="2590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electronic circuits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>
              <a:lnSpc>
                <a:spcPct val="90000"/>
              </a:lnSpc>
              <a:buNone/>
            </a:pPr>
            <a:endParaRPr lang="en-US" altLang="en-US" sz="2400" dirty="0">
              <a:solidFill>
                <a:srgbClr val="FA2C25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FA2C25"/>
                </a:solidFill>
              </a:rPr>
              <a:t>networks</a:t>
            </a:r>
            <a:r>
              <a:rPr lang="en-US" altLang="en-US" sz="2400" dirty="0"/>
              <a:t> (roads, flights, communications)</a:t>
            </a:r>
          </a:p>
          <a:p>
            <a:pPr>
              <a:lnSpc>
                <a:spcPct val="90000"/>
              </a:lnSpc>
            </a:pPr>
            <a:endParaRPr lang="en-US" altLang="en-US" sz="2400" dirty="0"/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5029200" y="259080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5035550" y="2597150"/>
            <a:ext cx="1828800" cy="9144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5029200" y="30353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4559300" y="3035300"/>
            <a:ext cx="127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4572000" y="3035300"/>
            <a:ext cx="4572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Rectangle 9"/>
          <p:cNvSpPr>
            <a:spLocks noChangeArrowheads="1"/>
          </p:cNvSpPr>
          <p:nvPr/>
        </p:nvSpPr>
        <p:spPr bwMode="auto">
          <a:xfrm>
            <a:off x="6845300" y="2578100"/>
            <a:ext cx="127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7315200" y="25781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6858000" y="2578100"/>
            <a:ext cx="4572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7302500" y="23495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9" name="Rectangle 13"/>
          <p:cNvSpPr>
            <a:spLocks noChangeArrowheads="1"/>
          </p:cNvSpPr>
          <p:nvPr/>
        </p:nvSpPr>
        <p:spPr bwMode="auto">
          <a:xfrm>
            <a:off x="7302500" y="28194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0" name="Rectangle 14"/>
          <p:cNvSpPr>
            <a:spLocks noChangeArrowheads="1"/>
          </p:cNvSpPr>
          <p:nvPr/>
        </p:nvSpPr>
        <p:spPr bwMode="auto">
          <a:xfrm>
            <a:off x="7302500" y="2362200"/>
            <a:ext cx="38100" cy="4572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7416800" y="23495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7416800" y="28194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7416800" y="2362200"/>
            <a:ext cx="38100" cy="4572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7416800" y="2578100"/>
            <a:ext cx="127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5" name="Rectangle 19"/>
          <p:cNvSpPr>
            <a:spLocks noChangeArrowheads="1"/>
          </p:cNvSpPr>
          <p:nvPr/>
        </p:nvSpPr>
        <p:spPr bwMode="auto">
          <a:xfrm>
            <a:off x="7772400" y="25781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7429500" y="2578100"/>
            <a:ext cx="3429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7" name="Rectangle 22"/>
          <p:cNvSpPr>
            <a:spLocks noChangeArrowheads="1"/>
          </p:cNvSpPr>
          <p:nvPr/>
        </p:nvSpPr>
        <p:spPr bwMode="auto">
          <a:xfrm>
            <a:off x="8572500" y="34925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8" name="Rectangle 23"/>
          <p:cNvSpPr>
            <a:spLocks noChangeArrowheads="1"/>
          </p:cNvSpPr>
          <p:nvPr/>
        </p:nvSpPr>
        <p:spPr bwMode="auto">
          <a:xfrm>
            <a:off x="6858000" y="3492500"/>
            <a:ext cx="17145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9" name="Rectangle 24"/>
          <p:cNvSpPr>
            <a:spLocks noChangeArrowheads="1"/>
          </p:cNvSpPr>
          <p:nvPr/>
        </p:nvSpPr>
        <p:spPr bwMode="auto">
          <a:xfrm>
            <a:off x="8559800" y="35052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0" name="Rectangle 25"/>
          <p:cNvSpPr>
            <a:spLocks noChangeArrowheads="1"/>
          </p:cNvSpPr>
          <p:nvPr/>
        </p:nvSpPr>
        <p:spPr bwMode="auto">
          <a:xfrm>
            <a:off x="8559800" y="30353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1" name="Rectangle 26"/>
          <p:cNvSpPr>
            <a:spLocks noChangeArrowheads="1"/>
          </p:cNvSpPr>
          <p:nvPr/>
        </p:nvSpPr>
        <p:spPr bwMode="auto">
          <a:xfrm>
            <a:off x="8559800" y="3048000"/>
            <a:ext cx="38100" cy="4572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2" name="Rectangle 27"/>
          <p:cNvSpPr>
            <a:spLocks noChangeArrowheads="1"/>
          </p:cNvSpPr>
          <p:nvPr/>
        </p:nvSpPr>
        <p:spPr bwMode="auto">
          <a:xfrm>
            <a:off x="7759700" y="25908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3" name="Rectangle 28"/>
          <p:cNvSpPr>
            <a:spLocks noChangeArrowheads="1"/>
          </p:cNvSpPr>
          <p:nvPr/>
        </p:nvSpPr>
        <p:spPr bwMode="auto">
          <a:xfrm>
            <a:off x="7759700" y="20066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4" name="Rectangle 29"/>
          <p:cNvSpPr>
            <a:spLocks noChangeArrowheads="1"/>
          </p:cNvSpPr>
          <p:nvPr/>
        </p:nvSpPr>
        <p:spPr bwMode="auto">
          <a:xfrm>
            <a:off x="7759700" y="2019300"/>
            <a:ext cx="38100" cy="5715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5" name="Rectangle 30"/>
          <p:cNvSpPr>
            <a:spLocks noChangeArrowheads="1"/>
          </p:cNvSpPr>
          <p:nvPr/>
        </p:nvSpPr>
        <p:spPr bwMode="auto">
          <a:xfrm>
            <a:off x="8559800" y="20066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6" name="Rectangle 31"/>
          <p:cNvSpPr>
            <a:spLocks noChangeArrowheads="1"/>
          </p:cNvSpPr>
          <p:nvPr/>
        </p:nvSpPr>
        <p:spPr bwMode="auto">
          <a:xfrm>
            <a:off x="8559800" y="24765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7" name="Rectangle 32"/>
          <p:cNvSpPr>
            <a:spLocks noChangeArrowheads="1"/>
          </p:cNvSpPr>
          <p:nvPr/>
        </p:nvSpPr>
        <p:spPr bwMode="auto">
          <a:xfrm>
            <a:off x="8559800" y="2019300"/>
            <a:ext cx="38100" cy="4572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8" name="Rectangle 33"/>
          <p:cNvSpPr>
            <a:spLocks noChangeArrowheads="1"/>
          </p:cNvSpPr>
          <p:nvPr/>
        </p:nvSpPr>
        <p:spPr bwMode="auto">
          <a:xfrm>
            <a:off x="7435850" y="1524000"/>
            <a:ext cx="1371600" cy="5016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49" name="Rectangle 34"/>
          <p:cNvSpPr>
            <a:spLocks noChangeArrowheads="1"/>
          </p:cNvSpPr>
          <p:nvPr/>
        </p:nvSpPr>
        <p:spPr bwMode="auto">
          <a:xfrm>
            <a:off x="7759700" y="1549400"/>
            <a:ext cx="7635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dirty="0">
                <a:solidFill>
                  <a:srgbClr val="000000"/>
                </a:solidFill>
                <a:latin typeface="Arial" pitchFamily="34" charset="0"/>
              </a:rPr>
              <a:t>CS16</a:t>
            </a:r>
            <a:endParaRPr lang="en-US" altLang="en-US" dirty="0">
              <a:latin typeface="Times" charset="0"/>
            </a:endParaRPr>
          </a:p>
        </p:txBody>
      </p:sp>
      <p:sp>
        <p:nvSpPr>
          <p:cNvPr id="9250" name="Rectangle 35"/>
          <p:cNvSpPr>
            <a:spLocks noChangeArrowheads="1"/>
          </p:cNvSpPr>
          <p:nvPr/>
        </p:nvSpPr>
        <p:spPr bwMode="auto">
          <a:xfrm>
            <a:off x="5816600" y="32639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1" name="Rectangle 37"/>
          <p:cNvSpPr>
            <a:spLocks noChangeArrowheads="1"/>
          </p:cNvSpPr>
          <p:nvPr/>
        </p:nvSpPr>
        <p:spPr bwMode="auto">
          <a:xfrm>
            <a:off x="5816600" y="3276600"/>
            <a:ext cx="381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2" name="Rectangle 38"/>
          <p:cNvSpPr>
            <a:spLocks noChangeArrowheads="1"/>
          </p:cNvSpPr>
          <p:nvPr/>
        </p:nvSpPr>
        <p:spPr bwMode="auto">
          <a:xfrm>
            <a:off x="5816600" y="2705100"/>
            <a:ext cx="38100" cy="254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3" name="Rectangle 39"/>
          <p:cNvSpPr>
            <a:spLocks noChangeArrowheads="1"/>
          </p:cNvSpPr>
          <p:nvPr/>
        </p:nvSpPr>
        <p:spPr bwMode="auto">
          <a:xfrm>
            <a:off x="5816600" y="2578100"/>
            <a:ext cx="38100" cy="127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4" name="Rectangle 40"/>
          <p:cNvSpPr>
            <a:spLocks noChangeArrowheads="1"/>
          </p:cNvSpPr>
          <p:nvPr/>
        </p:nvSpPr>
        <p:spPr bwMode="auto">
          <a:xfrm>
            <a:off x="5816600" y="2590800"/>
            <a:ext cx="38100" cy="1143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5" name="Freeform 41"/>
          <p:cNvSpPr>
            <a:spLocks/>
          </p:cNvSpPr>
          <p:nvPr/>
        </p:nvSpPr>
        <p:spPr bwMode="auto">
          <a:xfrm>
            <a:off x="8382000" y="2476500"/>
            <a:ext cx="342900" cy="571500"/>
          </a:xfrm>
          <a:custGeom>
            <a:avLst/>
            <a:gdLst>
              <a:gd name="T0" fmla="*/ 120 w 216"/>
              <a:gd name="T1" fmla="*/ 0 h 360"/>
              <a:gd name="T2" fmla="*/ 0 w 216"/>
              <a:gd name="T3" fmla="*/ 40 h 360"/>
              <a:gd name="T4" fmla="*/ 216 w 216"/>
              <a:gd name="T5" fmla="*/ 80 h 360"/>
              <a:gd name="T6" fmla="*/ 0 w 216"/>
              <a:gd name="T7" fmla="*/ 112 h 360"/>
              <a:gd name="T8" fmla="*/ 208 w 216"/>
              <a:gd name="T9" fmla="*/ 144 h 360"/>
              <a:gd name="T10" fmla="*/ 0 w 216"/>
              <a:gd name="T11" fmla="*/ 184 h 360"/>
              <a:gd name="T12" fmla="*/ 208 w 216"/>
              <a:gd name="T13" fmla="*/ 216 h 360"/>
              <a:gd name="T14" fmla="*/ 8 w 216"/>
              <a:gd name="T15" fmla="*/ 256 h 360"/>
              <a:gd name="T16" fmla="*/ 208 w 216"/>
              <a:gd name="T17" fmla="*/ 280 h 360"/>
              <a:gd name="T18" fmla="*/ 8 w 216"/>
              <a:gd name="T19" fmla="*/ 328 h 360"/>
              <a:gd name="T20" fmla="*/ 120 w 216"/>
              <a:gd name="T21" fmla="*/ 360 h 36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6"/>
              <a:gd name="T34" fmla="*/ 0 h 360"/>
              <a:gd name="T35" fmla="*/ 216 w 216"/>
              <a:gd name="T36" fmla="*/ 360 h 36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6" h="360">
                <a:moveTo>
                  <a:pt x="120" y="0"/>
                </a:moveTo>
                <a:lnTo>
                  <a:pt x="0" y="40"/>
                </a:lnTo>
                <a:lnTo>
                  <a:pt x="216" y="80"/>
                </a:lnTo>
                <a:lnTo>
                  <a:pt x="0" y="112"/>
                </a:lnTo>
                <a:lnTo>
                  <a:pt x="208" y="144"/>
                </a:lnTo>
                <a:lnTo>
                  <a:pt x="0" y="184"/>
                </a:lnTo>
                <a:lnTo>
                  <a:pt x="208" y="216"/>
                </a:lnTo>
                <a:lnTo>
                  <a:pt x="8" y="256"/>
                </a:lnTo>
                <a:lnTo>
                  <a:pt x="208" y="280"/>
                </a:lnTo>
                <a:lnTo>
                  <a:pt x="8" y="328"/>
                </a:lnTo>
                <a:lnTo>
                  <a:pt x="120" y="36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6" name="Freeform 42"/>
          <p:cNvSpPr>
            <a:spLocks/>
          </p:cNvSpPr>
          <p:nvPr/>
        </p:nvSpPr>
        <p:spPr bwMode="auto">
          <a:xfrm>
            <a:off x="5664200" y="2705100"/>
            <a:ext cx="342900" cy="571500"/>
          </a:xfrm>
          <a:custGeom>
            <a:avLst/>
            <a:gdLst>
              <a:gd name="T0" fmla="*/ 120 w 216"/>
              <a:gd name="T1" fmla="*/ 0 h 360"/>
              <a:gd name="T2" fmla="*/ 0 w 216"/>
              <a:gd name="T3" fmla="*/ 40 h 360"/>
              <a:gd name="T4" fmla="*/ 216 w 216"/>
              <a:gd name="T5" fmla="*/ 80 h 360"/>
              <a:gd name="T6" fmla="*/ 0 w 216"/>
              <a:gd name="T7" fmla="*/ 112 h 360"/>
              <a:gd name="T8" fmla="*/ 208 w 216"/>
              <a:gd name="T9" fmla="*/ 144 h 360"/>
              <a:gd name="T10" fmla="*/ 0 w 216"/>
              <a:gd name="T11" fmla="*/ 184 h 360"/>
              <a:gd name="T12" fmla="*/ 208 w 216"/>
              <a:gd name="T13" fmla="*/ 216 h 360"/>
              <a:gd name="T14" fmla="*/ 8 w 216"/>
              <a:gd name="T15" fmla="*/ 256 h 360"/>
              <a:gd name="T16" fmla="*/ 208 w 216"/>
              <a:gd name="T17" fmla="*/ 280 h 360"/>
              <a:gd name="T18" fmla="*/ 8 w 216"/>
              <a:gd name="T19" fmla="*/ 328 h 360"/>
              <a:gd name="T20" fmla="*/ 120 w 216"/>
              <a:gd name="T21" fmla="*/ 360 h 36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6"/>
              <a:gd name="T34" fmla="*/ 0 h 360"/>
              <a:gd name="T35" fmla="*/ 216 w 216"/>
              <a:gd name="T36" fmla="*/ 360 h 36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6" h="360">
                <a:moveTo>
                  <a:pt x="120" y="0"/>
                </a:moveTo>
                <a:lnTo>
                  <a:pt x="0" y="40"/>
                </a:lnTo>
                <a:lnTo>
                  <a:pt x="216" y="80"/>
                </a:lnTo>
                <a:lnTo>
                  <a:pt x="0" y="112"/>
                </a:lnTo>
                <a:lnTo>
                  <a:pt x="208" y="144"/>
                </a:lnTo>
                <a:lnTo>
                  <a:pt x="0" y="184"/>
                </a:lnTo>
                <a:lnTo>
                  <a:pt x="208" y="216"/>
                </a:lnTo>
                <a:lnTo>
                  <a:pt x="8" y="256"/>
                </a:lnTo>
                <a:lnTo>
                  <a:pt x="208" y="280"/>
                </a:lnTo>
                <a:lnTo>
                  <a:pt x="8" y="328"/>
                </a:lnTo>
                <a:lnTo>
                  <a:pt x="120" y="360"/>
                </a:lnTo>
              </a:path>
            </a:pathLst>
          </a:custGeom>
          <a:noFill/>
          <a:ln w="1270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7" name="Oval 45"/>
          <p:cNvSpPr>
            <a:spLocks noChangeArrowheads="1"/>
          </p:cNvSpPr>
          <p:nvPr/>
        </p:nvSpPr>
        <p:spPr bwMode="auto">
          <a:xfrm>
            <a:off x="5772150" y="25336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8" name="Oval 46"/>
          <p:cNvSpPr>
            <a:spLocks noChangeArrowheads="1"/>
          </p:cNvSpPr>
          <p:nvPr/>
        </p:nvSpPr>
        <p:spPr bwMode="auto">
          <a:xfrm>
            <a:off x="6800850" y="25590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59" name="Oval 47"/>
          <p:cNvSpPr>
            <a:spLocks noChangeArrowheads="1"/>
          </p:cNvSpPr>
          <p:nvPr/>
        </p:nvSpPr>
        <p:spPr bwMode="auto">
          <a:xfrm>
            <a:off x="4972050" y="2990850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0" name="Rectangle 48"/>
          <p:cNvSpPr>
            <a:spLocks noChangeArrowheads="1"/>
          </p:cNvSpPr>
          <p:nvPr/>
        </p:nvSpPr>
        <p:spPr bwMode="auto">
          <a:xfrm>
            <a:off x="6629400" y="2984500"/>
            <a:ext cx="457200" cy="1143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1" name="Rectangle 49"/>
          <p:cNvSpPr>
            <a:spLocks noChangeArrowheads="1"/>
          </p:cNvSpPr>
          <p:nvPr/>
        </p:nvSpPr>
        <p:spPr bwMode="auto">
          <a:xfrm>
            <a:off x="7086600" y="30861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2" name="Rectangle 50"/>
          <p:cNvSpPr>
            <a:spLocks noChangeArrowheads="1"/>
          </p:cNvSpPr>
          <p:nvPr/>
        </p:nvSpPr>
        <p:spPr bwMode="auto">
          <a:xfrm>
            <a:off x="6616700" y="3086100"/>
            <a:ext cx="127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3" name="Rectangle 51"/>
          <p:cNvSpPr>
            <a:spLocks noChangeArrowheads="1"/>
          </p:cNvSpPr>
          <p:nvPr/>
        </p:nvSpPr>
        <p:spPr bwMode="auto">
          <a:xfrm>
            <a:off x="6629400" y="3086100"/>
            <a:ext cx="4572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4" name="Rectangle 52"/>
          <p:cNvSpPr>
            <a:spLocks noChangeArrowheads="1"/>
          </p:cNvSpPr>
          <p:nvPr/>
        </p:nvSpPr>
        <p:spPr bwMode="auto">
          <a:xfrm>
            <a:off x="7086600" y="2971800"/>
            <a:ext cx="254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5" name="Rectangle 53"/>
          <p:cNvSpPr>
            <a:spLocks noChangeArrowheads="1"/>
          </p:cNvSpPr>
          <p:nvPr/>
        </p:nvSpPr>
        <p:spPr bwMode="auto">
          <a:xfrm>
            <a:off x="6616700" y="2971800"/>
            <a:ext cx="127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66" name="Rectangle 54"/>
          <p:cNvSpPr>
            <a:spLocks noChangeArrowheads="1"/>
          </p:cNvSpPr>
          <p:nvPr/>
        </p:nvSpPr>
        <p:spPr bwMode="auto">
          <a:xfrm>
            <a:off x="6629400" y="2971800"/>
            <a:ext cx="457200" cy="381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152"/>
          <p:cNvGrpSpPr>
            <a:grpSpLocks/>
          </p:cNvGrpSpPr>
          <p:nvPr/>
        </p:nvGrpSpPr>
        <p:grpSpPr bwMode="auto">
          <a:xfrm>
            <a:off x="2133600" y="3476625"/>
            <a:ext cx="5662613" cy="3381375"/>
            <a:chOff x="793" y="2172"/>
            <a:chExt cx="3567" cy="2130"/>
          </a:xfrm>
        </p:grpSpPr>
        <p:sp>
          <p:nvSpPr>
            <p:cNvPr id="9269" name="Rectangle 21"/>
            <p:cNvSpPr>
              <a:spLocks noChangeArrowheads="1"/>
            </p:cNvSpPr>
            <p:nvPr/>
          </p:nvSpPr>
          <p:spPr bwMode="auto">
            <a:xfrm>
              <a:off x="4312" y="2200"/>
              <a:ext cx="8" cy="24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Rectangle 36"/>
            <p:cNvSpPr>
              <a:spLocks noChangeArrowheads="1"/>
            </p:cNvSpPr>
            <p:nvPr/>
          </p:nvSpPr>
          <p:spPr bwMode="auto">
            <a:xfrm>
              <a:off x="3664" y="2208"/>
              <a:ext cx="24" cy="16"/>
            </a:xfrm>
            <a:prstGeom prst="rect">
              <a:avLst/>
            </a:prstGeom>
            <a:solidFill>
              <a:srgbClr val="0000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Oval 43"/>
            <p:cNvSpPr>
              <a:spLocks noChangeArrowheads="1"/>
            </p:cNvSpPr>
            <p:nvPr/>
          </p:nvSpPr>
          <p:spPr bwMode="auto">
            <a:xfrm>
              <a:off x="4292" y="2172"/>
              <a:ext cx="64" cy="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Oval 44"/>
            <p:cNvSpPr>
              <a:spLocks noChangeArrowheads="1"/>
            </p:cNvSpPr>
            <p:nvPr/>
          </p:nvSpPr>
          <p:spPr bwMode="auto">
            <a:xfrm>
              <a:off x="3636" y="2172"/>
              <a:ext cx="64" cy="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3" name="Freeform 55"/>
            <p:cNvSpPr>
              <a:spLocks/>
            </p:cNvSpPr>
            <p:nvPr/>
          </p:nvSpPr>
          <p:spPr bwMode="auto">
            <a:xfrm>
              <a:off x="964" y="3703"/>
              <a:ext cx="34" cy="49"/>
            </a:xfrm>
            <a:custGeom>
              <a:avLst/>
              <a:gdLst>
                <a:gd name="T0" fmla="*/ 17 w 34"/>
                <a:gd name="T1" fmla="*/ 0 h 49"/>
                <a:gd name="T2" fmla="*/ 0 w 34"/>
                <a:gd name="T3" fmla="*/ 10 h 49"/>
                <a:gd name="T4" fmla="*/ 17 w 34"/>
                <a:gd name="T5" fmla="*/ 49 h 49"/>
                <a:gd name="T6" fmla="*/ 34 w 34"/>
                <a:gd name="T7" fmla="*/ 49 h 49"/>
                <a:gd name="T8" fmla="*/ 17 w 34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17" y="0"/>
                  </a:moveTo>
                  <a:lnTo>
                    <a:pt x="0" y="10"/>
                  </a:lnTo>
                  <a:lnTo>
                    <a:pt x="17" y="49"/>
                  </a:lnTo>
                  <a:lnTo>
                    <a:pt x="34" y="4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4" name="Freeform 56"/>
            <p:cNvSpPr>
              <a:spLocks/>
            </p:cNvSpPr>
            <p:nvPr/>
          </p:nvSpPr>
          <p:spPr bwMode="auto">
            <a:xfrm>
              <a:off x="1706" y="3429"/>
              <a:ext cx="35" cy="59"/>
            </a:xfrm>
            <a:custGeom>
              <a:avLst/>
              <a:gdLst>
                <a:gd name="T0" fmla="*/ 0 w 35"/>
                <a:gd name="T1" fmla="*/ 10 h 59"/>
                <a:gd name="T2" fmla="*/ 26 w 35"/>
                <a:gd name="T3" fmla="*/ 0 h 59"/>
                <a:gd name="T4" fmla="*/ 35 w 35"/>
                <a:gd name="T5" fmla="*/ 49 h 59"/>
                <a:gd name="T6" fmla="*/ 17 w 35"/>
                <a:gd name="T7" fmla="*/ 59 h 59"/>
                <a:gd name="T8" fmla="*/ 0 w 35"/>
                <a:gd name="T9" fmla="*/ 1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"/>
                <a:gd name="T16" fmla="*/ 0 h 59"/>
                <a:gd name="T17" fmla="*/ 35 w 35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" h="59">
                  <a:moveTo>
                    <a:pt x="0" y="10"/>
                  </a:moveTo>
                  <a:lnTo>
                    <a:pt x="26" y="0"/>
                  </a:lnTo>
                  <a:lnTo>
                    <a:pt x="35" y="49"/>
                  </a:lnTo>
                  <a:lnTo>
                    <a:pt x="17" y="5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5" name="Freeform 57"/>
            <p:cNvSpPr>
              <a:spLocks/>
            </p:cNvSpPr>
            <p:nvPr/>
          </p:nvSpPr>
          <p:spPr bwMode="auto">
            <a:xfrm>
              <a:off x="981" y="3439"/>
              <a:ext cx="742" cy="313"/>
            </a:xfrm>
            <a:custGeom>
              <a:avLst/>
              <a:gdLst>
                <a:gd name="T0" fmla="*/ 0 w 742"/>
                <a:gd name="T1" fmla="*/ 264 h 313"/>
                <a:gd name="T2" fmla="*/ 17 w 742"/>
                <a:gd name="T3" fmla="*/ 313 h 313"/>
                <a:gd name="T4" fmla="*/ 742 w 742"/>
                <a:gd name="T5" fmla="*/ 49 h 313"/>
                <a:gd name="T6" fmla="*/ 725 w 742"/>
                <a:gd name="T7" fmla="*/ 0 h 313"/>
                <a:gd name="T8" fmla="*/ 0 w 742"/>
                <a:gd name="T9" fmla="*/ 264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2"/>
                <a:gd name="T16" fmla="*/ 0 h 313"/>
                <a:gd name="T17" fmla="*/ 742 w 742"/>
                <a:gd name="T18" fmla="*/ 313 h 3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2" h="313">
                  <a:moveTo>
                    <a:pt x="0" y="264"/>
                  </a:moveTo>
                  <a:lnTo>
                    <a:pt x="17" y="313"/>
                  </a:lnTo>
                  <a:lnTo>
                    <a:pt x="742" y="49"/>
                  </a:lnTo>
                  <a:lnTo>
                    <a:pt x="725" y="0"/>
                  </a:lnTo>
                  <a:lnTo>
                    <a:pt x="0" y="264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6" name="Freeform 58"/>
            <p:cNvSpPr>
              <a:spLocks/>
            </p:cNvSpPr>
            <p:nvPr/>
          </p:nvSpPr>
          <p:spPr bwMode="auto">
            <a:xfrm>
              <a:off x="1698" y="2362"/>
              <a:ext cx="341" cy="284"/>
            </a:xfrm>
            <a:custGeom>
              <a:avLst/>
              <a:gdLst>
                <a:gd name="T0" fmla="*/ 341 w 341"/>
                <a:gd name="T1" fmla="*/ 78 h 284"/>
                <a:gd name="T2" fmla="*/ 102 w 341"/>
                <a:gd name="T3" fmla="*/ 0 h 284"/>
                <a:gd name="T4" fmla="*/ 102 w 341"/>
                <a:gd name="T5" fmla="*/ 19 h 284"/>
                <a:gd name="T6" fmla="*/ 111 w 341"/>
                <a:gd name="T7" fmla="*/ 29 h 284"/>
                <a:gd name="T8" fmla="*/ 111 w 341"/>
                <a:gd name="T9" fmla="*/ 39 h 284"/>
                <a:gd name="T10" fmla="*/ 102 w 341"/>
                <a:gd name="T11" fmla="*/ 39 h 284"/>
                <a:gd name="T12" fmla="*/ 102 w 341"/>
                <a:gd name="T13" fmla="*/ 59 h 284"/>
                <a:gd name="T14" fmla="*/ 111 w 341"/>
                <a:gd name="T15" fmla="*/ 78 h 284"/>
                <a:gd name="T16" fmla="*/ 102 w 341"/>
                <a:gd name="T17" fmla="*/ 88 h 284"/>
                <a:gd name="T18" fmla="*/ 94 w 341"/>
                <a:gd name="T19" fmla="*/ 107 h 284"/>
                <a:gd name="T20" fmla="*/ 85 w 341"/>
                <a:gd name="T21" fmla="*/ 117 h 284"/>
                <a:gd name="T22" fmla="*/ 85 w 341"/>
                <a:gd name="T23" fmla="*/ 98 h 284"/>
                <a:gd name="T24" fmla="*/ 94 w 341"/>
                <a:gd name="T25" fmla="*/ 78 h 284"/>
                <a:gd name="T26" fmla="*/ 85 w 341"/>
                <a:gd name="T27" fmla="*/ 59 h 284"/>
                <a:gd name="T28" fmla="*/ 68 w 341"/>
                <a:gd name="T29" fmla="*/ 49 h 284"/>
                <a:gd name="T30" fmla="*/ 43 w 341"/>
                <a:gd name="T31" fmla="*/ 39 h 284"/>
                <a:gd name="T32" fmla="*/ 25 w 341"/>
                <a:gd name="T33" fmla="*/ 19 h 284"/>
                <a:gd name="T34" fmla="*/ 8 w 341"/>
                <a:gd name="T35" fmla="*/ 10 h 284"/>
                <a:gd name="T36" fmla="*/ 8 w 341"/>
                <a:gd name="T37" fmla="*/ 29 h 284"/>
                <a:gd name="T38" fmla="*/ 8 w 341"/>
                <a:gd name="T39" fmla="*/ 49 h 284"/>
                <a:gd name="T40" fmla="*/ 8 w 341"/>
                <a:gd name="T41" fmla="*/ 68 h 284"/>
                <a:gd name="T42" fmla="*/ 8 w 341"/>
                <a:gd name="T43" fmla="*/ 88 h 284"/>
                <a:gd name="T44" fmla="*/ 8 w 341"/>
                <a:gd name="T45" fmla="*/ 107 h 284"/>
                <a:gd name="T46" fmla="*/ 17 w 341"/>
                <a:gd name="T47" fmla="*/ 127 h 284"/>
                <a:gd name="T48" fmla="*/ 8 w 341"/>
                <a:gd name="T49" fmla="*/ 137 h 284"/>
                <a:gd name="T50" fmla="*/ 8 w 341"/>
                <a:gd name="T51" fmla="*/ 147 h 284"/>
                <a:gd name="T52" fmla="*/ 0 w 341"/>
                <a:gd name="T53" fmla="*/ 166 h 284"/>
                <a:gd name="T54" fmla="*/ 0 w 341"/>
                <a:gd name="T55" fmla="*/ 166 h 284"/>
                <a:gd name="T56" fmla="*/ 17 w 341"/>
                <a:gd name="T57" fmla="*/ 176 h 284"/>
                <a:gd name="T58" fmla="*/ 25 w 341"/>
                <a:gd name="T59" fmla="*/ 186 h 284"/>
                <a:gd name="T60" fmla="*/ 43 w 341"/>
                <a:gd name="T61" fmla="*/ 196 h 284"/>
                <a:gd name="T62" fmla="*/ 43 w 341"/>
                <a:gd name="T63" fmla="*/ 215 h 284"/>
                <a:gd name="T64" fmla="*/ 43 w 341"/>
                <a:gd name="T65" fmla="*/ 235 h 284"/>
                <a:gd name="T66" fmla="*/ 68 w 341"/>
                <a:gd name="T67" fmla="*/ 245 h 284"/>
                <a:gd name="T68" fmla="*/ 94 w 341"/>
                <a:gd name="T69" fmla="*/ 245 h 284"/>
                <a:gd name="T70" fmla="*/ 111 w 341"/>
                <a:gd name="T71" fmla="*/ 264 h 284"/>
                <a:gd name="T72" fmla="*/ 136 w 341"/>
                <a:gd name="T73" fmla="*/ 254 h 284"/>
                <a:gd name="T74" fmla="*/ 145 w 341"/>
                <a:gd name="T75" fmla="*/ 264 h 284"/>
                <a:gd name="T76" fmla="*/ 171 w 341"/>
                <a:gd name="T77" fmla="*/ 254 h 284"/>
                <a:gd name="T78" fmla="*/ 205 w 341"/>
                <a:gd name="T79" fmla="*/ 264 h 284"/>
                <a:gd name="T80" fmla="*/ 239 w 341"/>
                <a:gd name="T81" fmla="*/ 264 h 284"/>
                <a:gd name="T82" fmla="*/ 264 w 341"/>
                <a:gd name="T83" fmla="*/ 274 h 284"/>
                <a:gd name="T84" fmla="*/ 281 w 341"/>
                <a:gd name="T85" fmla="*/ 284 h 284"/>
                <a:gd name="T86" fmla="*/ 298 w 341"/>
                <a:gd name="T87" fmla="*/ 284 h 284"/>
                <a:gd name="T88" fmla="*/ 298 w 341"/>
                <a:gd name="T89" fmla="*/ 264 h 284"/>
                <a:gd name="T90" fmla="*/ 307 w 341"/>
                <a:gd name="T91" fmla="*/ 235 h 284"/>
                <a:gd name="T92" fmla="*/ 316 w 341"/>
                <a:gd name="T93" fmla="*/ 186 h 284"/>
                <a:gd name="T94" fmla="*/ 333 w 341"/>
                <a:gd name="T95" fmla="*/ 127 h 284"/>
                <a:gd name="T96" fmla="*/ 333 w 341"/>
                <a:gd name="T97" fmla="*/ 98 h 284"/>
                <a:gd name="T98" fmla="*/ 341 w 341"/>
                <a:gd name="T99" fmla="*/ 78 h 28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41"/>
                <a:gd name="T151" fmla="*/ 0 h 284"/>
                <a:gd name="T152" fmla="*/ 341 w 341"/>
                <a:gd name="T153" fmla="*/ 284 h 284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41" h="284">
                  <a:moveTo>
                    <a:pt x="341" y="78"/>
                  </a:moveTo>
                  <a:lnTo>
                    <a:pt x="102" y="0"/>
                  </a:lnTo>
                  <a:lnTo>
                    <a:pt x="102" y="19"/>
                  </a:lnTo>
                  <a:lnTo>
                    <a:pt x="111" y="29"/>
                  </a:lnTo>
                  <a:lnTo>
                    <a:pt x="111" y="39"/>
                  </a:lnTo>
                  <a:lnTo>
                    <a:pt x="102" y="39"/>
                  </a:lnTo>
                  <a:lnTo>
                    <a:pt x="102" y="59"/>
                  </a:lnTo>
                  <a:lnTo>
                    <a:pt x="111" y="78"/>
                  </a:lnTo>
                  <a:lnTo>
                    <a:pt x="102" y="88"/>
                  </a:lnTo>
                  <a:lnTo>
                    <a:pt x="94" y="107"/>
                  </a:lnTo>
                  <a:lnTo>
                    <a:pt x="85" y="117"/>
                  </a:lnTo>
                  <a:lnTo>
                    <a:pt x="85" y="98"/>
                  </a:lnTo>
                  <a:lnTo>
                    <a:pt x="94" y="78"/>
                  </a:lnTo>
                  <a:lnTo>
                    <a:pt x="85" y="59"/>
                  </a:lnTo>
                  <a:lnTo>
                    <a:pt x="68" y="49"/>
                  </a:lnTo>
                  <a:lnTo>
                    <a:pt x="43" y="39"/>
                  </a:lnTo>
                  <a:lnTo>
                    <a:pt x="25" y="19"/>
                  </a:lnTo>
                  <a:lnTo>
                    <a:pt x="8" y="10"/>
                  </a:lnTo>
                  <a:lnTo>
                    <a:pt x="8" y="29"/>
                  </a:lnTo>
                  <a:lnTo>
                    <a:pt x="8" y="49"/>
                  </a:lnTo>
                  <a:lnTo>
                    <a:pt x="8" y="68"/>
                  </a:lnTo>
                  <a:lnTo>
                    <a:pt x="8" y="88"/>
                  </a:lnTo>
                  <a:lnTo>
                    <a:pt x="8" y="107"/>
                  </a:lnTo>
                  <a:lnTo>
                    <a:pt x="17" y="127"/>
                  </a:lnTo>
                  <a:lnTo>
                    <a:pt x="8" y="137"/>
                  </a:lnTo>
                  <a:lnTo>
                    <a:pt x="8" y="147"/>
                  </a:lnTo>
                  <a:lnTo>
                    <a:pt x="0" y="166"/>
                  </a:lnTo>
                  <a:lnTo>
                    <a:pt x="17" y="176"/>
                  </a:lnTo>
                  <a:lnTo>
                    <a:pt x="25" y="186"/>
                  </a:lnTo>
                  <a:lnTo>
                    <a:pt x="43" y="196"/>
                  </a:lnTo>
                  <a:lnTo>
                    <a:pt x="43" y="215"/>
                  </a:lnTo>
                  <a:lnTo>
                    <a:pt x="43" y="235"/>
                  </a:lnTo>
                  <a:lnTo>
                    <a:pt x="68" y="245"/>
                  </a:lnTo>
                  <a:lnTo>
                    <a:pt x="94" y="245"/>
                  </a:lnTo>
                  <a:lnTo>
                    <a:pt x="111" y="264"/>
                  </a:lnTo>
                  <a:lnTo>
                    <a:pt x="136" y="254"/>
                  </a:lnTo>
                  <a:lnTo>
                    <a:pt x="145" y="264"/>
                  </a:lnTo>
                  <a:lnTo>
                    <a:pt x="171" y="254"/>
                  </a:lnTo>
                  <a:lnTo>
                    <a:pt x="205" y="264"/>
                  </a:lnTo>
                  <a:lnTo>
                    <a:pt x="239" y="264"/>
                  </a:lnTo>
                  <a:lnTo>
                    <a:pt x="264" y="274"/>
                  </a:lnTo>
                  <a:lnTo>
                    <a:pt x="281" y="284"/>
                  </a:lnTo>
                  <a:lnTo>
                    <a:pt x="298" y="284"/>
                  </a:lnTo>
                  <a:lnTo>
                    <a:pt x="298" y="264"/>
                  </a:lnTo>
                  <a:lnTo>
                    <a:pt x="307" y="235"/>
                  </a:lnTo>
                  <a:lnTo>
                    <a:pt x="316" y="186"/>
                  </a:lnTo>
                  <a:lnTo>
                    <a:pt x="333" y="127"/>
                  </a:lnTo>
                  <a:lnTo>
                    <a:pt x="333" y="98"/>
                  </a:lnTo>
                  <a:lnTo>
                    <a:pt x="341" y="78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7" name="Freeform 59"/>
            <p:cNvSpPr>
              <a:spLocks/>
            </p:cNvSpPr>
            <p:nvPr/>
          </p:nvSpPr>
          <p:spPr bwMode="auto">
            <a:xfrm>
              <a:off x="1937" y="2440"/>
              <a:ext cx="307" cy="558"/>
            </a:xfrm>
            <a:custGeom>
              <a:avLst/>
              <a:gdLst>
                <a:gd name="T0" fmla="*/ 102 w 307"/>
                <a:gd name="T1" fmla="*/ 0 h 558"/>
                <a:gd name="T2" fmla="*/ 145 w 307"/>
                <a:gd name="T3" fmla="*/ 10 h 558"/>
                <a:gd name="T4" fmla="*/ 145 w 307"/>
                <a:gd name="T5" fmla="*/ 20 h 558"/>
                <a:gd name="T6" fmla="*/ 136 w 307"/>
                <a:gd name="T7" fmla="*/ 39 h 558"/>
                <a:gd name="T8" fmla="*/ 136 w 307"/>
                <a:gd name="T9" fmla="*/ 59 h 558"/>
                <a:gd name="T10" fmla="*/ 136 w 307"/>
                <a:gd name="T11" fmla="*/ 78 h 558"/>
                <a:gd name="T12" fmla="*/ 136 w 307"/>
                <a:gd name="T13" fmla="*/ 98 h 558"/>
                <a:gd name="T14" fmla="*/ 136 w 307"/>
                <a:gd name="T15" fmla="*/ 118 h 558"/>
                <a:gd name="T16" fmla="*/ 153 w 307"/>
                <a:gd name="T17" fmla="*/ 147 h 558"/>
                <a:gd name="T18" fmla="*/ 162 w 307"/>
                <a:gd name="T19" fmla="*/ 157 h 558"/>
                <a:gd name="T20" fmla="*/ 162 w 307"/>
                <a:gd name="T21" fmla="*/ 176 h 558"/>
                <a:gd name="T22" fmla="*/ 170 w 307"/>
                <a:gd name="T23" fmla="*/ 186 h 558"/>
                <a:gd name="T24" fmla="*/ 187 w 307"/>
                <a:gd name="T25" fmla="*/ 196 h 558"/>
                <a:gd name="T26" fmla="*/ 179 w 307"/>
                <a:gd name="T27" fmla="*/ 216 h 558"/>
                <a:gd name="T28" fmla="*/ 170 w 307"/>
                <a:gd name="T29" fmla="*/ 225 h 558"/>
                <a:gd name="T30" fmla="*/ 170 w 307"/>
                <a:gd name="T31" fmla="*/ 245 h 558"/>
                <a:gd name="T32" fmla="*/ 162 w 307"/>
                <a:gd name="T33" fmla="*/ 255 h 558"/>
                <a:gd name="T34" fmla="*/ 162 w 307"/>
                <a:gd name="T35" fmla="*/ 264 h 558"/>
                <a:gd name="T36" fmla="*/ 179 w 307"/>
                <a:gd name="T37" fmla="*/ 274 h 558"/>
                <a:gd name="T38" fmla="*/ 196 w 307"/>
                <a:gd name="T39" fmla="*/ 264 h 558"/>
                <a:gd name="T40" fmla="*/ 196 w 307"/>
                <a:gd name="T41" fmla="*/ 294 h 558"/>
                <a:gd name="T42" fmla="*/ 204 w 307"/>
                <a:gd name="T43" fmla="*/ 304 h 558"/>
                <a:gd name="T44" fmla="*/ 204 w 307"/>
                <a:gd name="T45" fmla="*/ 333 h 558"/>
                <a:gd name="T46" fmla="*/ 222 w 307"/>
                <a:gd name="T47" fmla="*/ 343 h 558"/>
                <a:gd name="T48" fmla="*/ 213 w 307"/>
                <a:gd name="T49" fmla="*/ 362 h 558"/>
                <a:gd name="T50" fmla="*/ 239 w 307"/>
                <a:gd name="T51" fmla="*/ 362 h 558"/>
                <a:gd name="T52" fmla="*/ 264 w 307"/>
                <a:gd name="T53" fmla="*/ 362 h 558"/>
                <a:gd name="T54" fmla="*/ 281 w 307"/>
                <a:gd name="T55" fmla="*/ 362 h 558"/>
                <a:gd name="T56" fmla="*/ 298 w 307"/>
                <a:gd name="T57" fmla="*/ 362 h 558"/>
                <a:gd name="T58" fmla="*/ 307 w 307"/>
                <a:gd name="T59" fmla="*/ 382 h 558"/>
                <a:gd name="T60" fmla="*/ 281 w 307"/>
                <a:gd name="T61" fmla="*/ 558 h 558"/>
                <a:gd name="T62" fmla="*/ 136 w 307"/>
                <a:gd name="T63" fmla="*/ 529 h 558"/>
                <a:gd name="T64" fmla="*/ 0 w 307"/>
                <a:gd name="T65" fmla="*/ 490 h 558"/>
                <a:gd name="T66" fmla="*/ 25 w 307"/>
                <a:gd name="T67" fmla="*/ 353 h 558"/>
                <a:gd name="T68" fmla="*/ 42 w 307"/>
                <a:gd name="T69" fmla="*/ 333 h 558"/>
                <a:gd name="T70" fmla="*/ 25 w 307"/>
                <a:gd name="T71" fmla="*/ 323 h 558"/>
                <a:gd name="T72" fmla="*/ 51 w 307"/>
                <a:gd name="T73" fmla="*/ 284 h 558"/>
                <a:gd name="T74" fmla="*/ 68 w 307"/>
                <a:gd name="T75" fmla="*/ 255 h 558"/>
                <a:gd name="T76" fmla="*/ 77 w 307"/>
                <a:gd name="T77" fmla="*/ 225 h 558"/>
                <a:gd name="T78" fmla="*/ 59 w 307"/>
                <a:gd name="T79" fmla="*/ 216 h 558"/>
                <a:gd name="T80" fmla="*/ 59 w 307"/>
                <a:gd name="T81" fmla="*/ 186 h 558"/>
                <a:gd name="T82" fmla="*/ 68 w 307"/>
                <a:gd name="T83" fmla="*/ 147 h 558"/>
                <a:gd name="T84" fmla="*/ 77 w 307"/>
                <a:gd name="T85" fmla="*/ 118 h 558"/>
                <a:gd name="T86" fmla="*/ 77 w 307"/>
                <a:gd name="T87" fmla="*/ 118 h 558"/>
                <a:gd name="T88" fmla="*/ 94 w 307"/>
                <a:gd name="T89" fmla="*/ 49 h 558"/>
                <a:gd name="T90" fmla="*/ 94 w 307"/>
                <a:gd name="T91" fmla="*/ 20 h 558"/>
                <a:gd name="T92" fmla="*/ 102 w 307"/>
                <a:gd name="T93" fmla="*/ 0 h 558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307"/>
                <a:gd name="T142" fmla="*/ 0 h 558"/>
                <a:gd name="T143" fmla="*/ 307 w 307"/>
                <a:gd name="T144" fmla="*/ 558 h 558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307" h="558">
                  <a:moveTo>
                    <a:pt x="102" y="0"/>
                  </a:moveTo>
                  <a:lnTo>
                    <a:pt x="145" y="10"/>
                  </a:lnTo>
                  <a:lnTo>
                    <a:pt x="145" y="20"/>
                  </a:lnTo>
                  <a:lnTo>
                    <a:pt x="136" y="39"/>
                  </a:lnTo>
                  <a:lnTo>
                    <a:pt x="136" y="59"/>
                  </a:lnTo>
                  <a:lnTo>
                    <a:pt x="136" y="78"/>
                  </a:lnTo>
                  <a:lnTo>
                    <a:pt x="136" y="98"/>
                  </a:lnTo>
                  <a:lnTo>
                    <a:pt x="136" y="118"/>
                  </a:lnTo>
                  <a:lnTo>
                    <a:pt x="153" y="147"/>
                  </a:lnTo>
                  <a:lnTo>
                    <a:pt x="162" y="157"/>
                  </a:lnTo>
                  <a:lnTo>
                    <a:pt x="162" y="176"/>
                  </a:lnTo>
                  <a:lnTo>
                    <a:pt x="170" y="186"/>
                  </a:lnTo>
                  <a:lnTo>
                    <a:pt x="187" y="196"/>
                  </a:lnTo>
                  <a:lnTo>
                    <a:pt x="179" y="216"/>
                  </a:lnTo>
                  <a:lnTo>
                    <a:pt x="170" y="225"/>
                  </a:lnTo>
                  <a:lnTo>
                    <a:pt x="170" y="245"/>
                  </a:lnTo>
                  <a:lnTo>
                    <a:pt x="162" y="255"/>
                  </a:lnTo>
                  <a:lnTo>
                    <a:pt x="162" y="264"/>
                  </a:lnTo>
                  <a:lnTo>
                    <a:pt x="179" y="274"/>
                  </a:lnTo>
                  <a:lnTo>
                    <a:pt x="196" y="264"/>
                  </a:lnTo>
                  <a:lnTo>
                    <a:pt x="196" y="294"/>
                  </a:lnTo>
                  <a:lnTo>
                    <a:pt x="204" y="304"/>
                  </a:lnTo>
                  <a:lnTo>
                    <a:pt x="204" y="333"/>
                  </a:lnTo>
                  <a:lnTo>
                    <a:pt x="222" y="343"/>
                  </a:lnTo>
                  <a:lnTo>
                    <a:pt x="213" y="362"/>
                  </a:lnTo>
                  <a:lnTo>
                    <a:pt x="239" y="362"/>
                  </a:lnTo>
                  <a:lnTo>
                    <a:pt x="264" y="362"/>
                  </a:lnTo>
                  <a:lnTo>
                    <a:pt x="281" y="362"/>
                  </a:lnTo>
                  <a:lnTo>
                    <a:pt x="298" y="362"/>
                  </a:lnTo>
                  <a:lnTo>
                    <a:pt x="307" y="382"/>
                  </a:lnTo>
                  <a:lnTo>
                    <a:pt x="281" y="558"/>
                  </a:lnTo>
                  <a:lnTo>
                    <a:pt x="136" y="529"/>
                  </a:lnTo>
                  <a:lnTo>
                    <a:pt x="0" y="490"/>
                  </a:lnTo>
                  <a:lnTo>
                    <a:pt x="25" y="353"/>
                  </a:lnTo>
                  <a:lnTo>
                    <a:pt x="42" y="333"/>
                  </a:lnTo>
                  <a:lnTo>
                    <a:pt x="25" y="323"/>
                  </a:lnTo>
                  <a:lnTo>
                    <a:pt x="51" y="284"/>
                  </a:lnTo>
                  <a:lnTo>
                    <a:pt x="68" y="255"/>
                  </a:lnTo>
                  <a:lnTo>
                    <a:pt x="77" y="225"/>
                  </a:lnTo>
                  <a:lnTo>
                    <a:pt x="59" y="216"/>
                  </a:lnTo>
                  <a:lnTo>
                    <a:pt x="59" y="186"/>
                  </a:lnTo>
                  <a:lnTo>
                    <a:pt x="68" y="147"/>
                  </a:lnTo>
                  <a:lnTo>
                    <a:pt x="77" y="118"/>
                  </a:lnTo>
                  <a:lnTo>
                    <a:pt x="94" y="49"/>
                  </a:lnTo>
                  <a:lnTo>
                    <a:pt x="94" y="20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8" name="Freeform 60"/>
            <p:cNvSpPr>
              <a:spLocks/>
            </p:cNvSpPr>
            <p:nvPr/>
          </p:nvSpPr>
          <p:spPr bwMode="auto">
            <a:xfrm>
              <a:off x="1604" y="2528"/>
              <a:ext cx="410" cy="402"/>
            </a:xfrm>
            <a:custGeom>
              <a:avLst/>
              <a:gdLst>
                <a:gd name="T0" fmla="*/ 94 w 410"/>
                <a:gd name="T1" fmla="*/ 0 h 402"/>
                <a:gd name="T2" fmla="*/ 94 w 410"/>
                <a:gd name="T3" fmla="*/ 10 h 402"/>
                <a:gd name="T4" fmla="*/ 85 w 410"/>
                <a:gd name="T5" fmla="*/ 49 h 402"/>
                <a:gd name="T6" fmla="*/ 77 w 410"/>
                <a:gd name="T7" fmla="*/ 59 h 402"/>
                <a:gd name="T8" fmla="*/ 77 w 410"/>
                <a:gd name="T9" fmla="*/ 88 h 402"/>
                <a:gd name="T10" fmla="*/ 60 w 410"/>
                <a:gd name="T11" fmla="*/ 108 h 402"/>
                <a:gd name="T12" fmla="*/ 51 w 410"/>
                <a:gd name="T13" fmla="*/ 128 h 402"/>
                <a:gd name="T14" fmla="*/ 43 w 410"/>
                <a:gd name="T15" fmla="*/ 147 h 402"/>
                <a:gd name="T16" fmla="*/ 34 w 410"/>
                <a:gd name="T17" fmla="*/ 176 h 402"/>
                <a:gd name="T18" fmla="*/ 26 w 410"/>
                <a:gd name="T19" fmla="*/ 196 h 402"/>
                <a:gd name="T20" fmla="*/ 17 w 410"/>
                <a:gd name="T21" fmla="*/ 196 h 402"/>
                <a:gd name="T22" fmla="*/ 17 w 410"/>
                <a:gd name="T23" fmla="*/ 216 h 402"/>
                <a:gd name="T24" fmla="*/ 0 w 410"/>
                <a:gd name="T25" fmla="*/ 225 h 402"/>
                <a:gd name="T26" fmla="*/ 0 w 410"/>
                <a:gd name="T27" fmla="*/ 255 h 402"/>
                <a:gd name="T28" fmla="*/ 0 w 410"/>
                <a:gd name="T29" fmla="*/ 265 h 402"/>
                <a:gd name="T30" fmla="*/ 0 w 410"/>
                <a:gd name="T31" fmla="*/ 284 h 402"/>
                <a:gd name="T32" fmla="*/ 0 w 410"/>
                <a:gd name="T33" fmla="*/ 294 h 402"/>
                <a:gd name="T34" fmla="*/ 196 w 410"/>
                <a:gd name="T35" fmla="*/ 363 h 402"/>
                <a:gd name="T36" fmla="*/ 333 w 410"/>
                <a:gd name="T37" fmla="*/ 402 h 402"/>
                <a:gd name="T38" fmla="*/ 358 w 410"/>
                <a:gd name="T39" fmla="*/ 265 h 402"/>
                <a:gd name="T40" fmla="*/ 375 w 410"/>
                <a:gd name="T41" fmla="*/ 245 h 402"/>
                <a:gd name="T42" fmla="*/ 358 w 410"/>
                <a:gd name="T43" fmla="*/ 235 h 402"/>
                <a:gd name="T44" fmla="*/ 384 w 410"/>
                <a:gd name="T45" fmla="*/ 196 h 402"/>
                <a:gd name="T46" fmla="*/ 401 w 410"/>
                <a:gd name="T47" fmla="*/ 167 h 402"/>
                <a:gd name="T48" fmla="*/ 410 w 410"/>
                <a:gd name="T49" fmla="*/ 137 h 402"/>
                <a:gd name="T50" fmla="*/ 392 w 410"/>
                <a:gd name="T51" fmla="*/ 128 h 402"/>
                <a:gd name="T52" fmla="*/ 392 w 410"/>
                <a:gd name="T53" fmla="*/ 118 h 402"/>
                <a:gd name="T54" fmla="*/ 375 w 410"/>
                <a:gd name="T55" fmla="*/ 118 h 402"/>
                <a:gd name="T56" fmla="*/ 358 w 410"/>
                <a:gd name="T57" fmla="*/ 108 h 402"/>
                <a:gd name="T58" fmla="*/ 333 w 410"/>
                <a:gd name="T59" fmla="*/ 98 h 402"/>
                <a:gd name="T60" fmla="*/ 299 w 410"/>
                <a:gd name="T61" fmla="*/ 98 h 402"/>
                <a:gd name="T62" fmla="*/ 265 w 410"/>
                <a:gd name="T63" fmla="*/ 88 h 402"/>
                <a:gd name="T64" fmla="*/ 239 w 410"/>
                <a:gd name="T65" fmla="*/ 98 h 402"/>
                <a:gd name="T66" fmla="*/ 230 w 410"/>
                <a:gd name="T67" fmla="*/ 88 h 402"/>
                <a:gd name="T68" fmla="*/ 205 w 410"/>
                <a:gd name="T69" fmla="*/ 98 h 402"/>
                <a:gd name="T70" fmla="*/ 188 w 410"/>
                <a:gd name="T71" fmla="*/ 79 h 402"/>
                <a:gd name="T72" fmla="*/ 162 w 410"/>
                <a:gd name="T73" fmla="*/ 79 h 402"/>
                <a:gd name="T74" fmla="*/ 137 w 410"/>
                <a:gd name="T75" fmla="*/ 69 h 402"/>
                <a:gd name="T76" fmla="*/ 137 w 410"/>
                <a:gd name="T77" fmla="*/ 49 h 402"/>
                <a:gd name="T78" fmla="*/ 137 w 410"/>
                <a:gd name="T79" fmla="*/ 30 h 402"/>
                <a:gd name="T80" fmla="*/ 119 w 410"/>
                <a:gd name="T81" fmla="*/ 20 h 402"/>
                <a:gd name="T82" fmla="*/ 111 w 410"/>
                <a:gd name="T83" fmla="*/ 10 h 402"/>
                <a:gd name="T84" fmla="*/ 94 w 410"/>
                <a:gd name="T85" fmla="*/ 0 h 40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10"/>
                <a:gd name="T130" fmla="*/ 0 h 402"/>
                <a:gd name="T131" fmla="*/ 410 w 410"/>
                <a:gd name="T132" fmla="*/ 402 h 40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10" h="402">
                  <a:moveTo>
                    <a:pt x="94" y="0"/>
                  </a:moveTo>
                  <a:lnTo>
                    <a:pt x="94" y="10"/>
                  </a:lnTo>
                  <a:lnTo>
                    <a:pt x="85" y="49"/>
                  </a:lnTo>
                  <a:lnTo>
                    <a:pt x="77" y="59"/>
                  </a:lnTo>
                  <a:lnTo>
                    <a:pt x="77" y="88"/>
                  </a:lnTo>
                  <a:lnTo>
                    <a:pt x="60" y="108"/>
                  </a:lnTo>
                  <a:lnTo>
                    <a:pt x="51" y="128"/>
                  </a:lnTo>
                  <a:lnTo>
                    <a:pt x="43" y="147"/>
                  </a:lnTo>
                  <a:lnTo>
                    <a:pt x="34" y="176"/>
                  </a:lnTo>
                  <a:lnTo>
                    <a:pt x="26" y="196"/>
                  </a:lnTo>
                  <a:lnTo>
                    <a:pt x="17" y="196"/>
                  </a:lnTo>
                  <a:lnTo>
                    <a:pt x="17" y="216"/>
                  </a:lnTo>
                  <a:lnTo>
                    <a:pt x="0" y="225"/>
                  </a:lnTo>
                  <a:lnTo>
                    <a:pt x="0" y="255"/>
                  </a:lnTo>
                  <a:lnTo>
                    <a:pt x="0" y="265"/>
                  </a:lnTo>
                  <a:lnTo>
                    <a:pt x="0" y="284"/>
                  </a:lnTo>
                  <a:lnTo>
                    <a:pt x="0" y="294"/>
                  </a:lnTo>
                  <a:lnTo>
                    <a:pt x="196" y="363"/>
                  </a:lnTo>
                  <a:lnTo>
                    <a:pt x="333" y="402"/>
                  </a:lnTo>
                  <a:lnTo>
                    <a:pt x="358" y="265"/>
                  </a:lnTo>
                  <a:lnTo>
                    <a:pt x="375" y="245"/>
                  </a:lnTo>
                  <a:lnTo>
                    <a:pt x="358" y="235"/>
                  </a:lnTo>
                  <a:lnTo>
                    <a:pt x="384" y="196"/>
                  </a:lnTo>
                  <a:lnTo>
                    <a:pt x="401" y="167"/>
                  </a:lnTo>
                  <a:lnTo>
                    <a:pt x="410" y="137"/>
                  </a:lnTo>
                  <a:lnTo>
                    <a:pt x="392" y="128"/>
                  </a:lnTo>
                  <a:lnTo>
                    <a:pt x="392" y="118"/>
                  </a:lnTo>
                  <a:lnTo>
                    <a:pt x="375" y="118"/>
                  </a:lnTo>
                  <a:lnTo>
                    <a:pt x="358" y="108"/>
                  </a:lnTo>
                  <a:lnTo>
                    <a:pt x="333" y="98"/>
                  </a:lnTo>
                  <a:lnTo>
                    <a:pt x="299" y="98"/>
                  </a:lnTo>
                  <a:lnTo>
                    <a:pt x="265" y="88"/>
                  </a:lnTo>
                  <a:lnTo>
                    <a:pt x="239" y="98"/>
                  </a:lnTo>
                  <a:lnTo>
                    <a:pt x="230" y="88"/>
                  </a:lnTo>
                  <a:lnTo>
                    <a:pt x="205" y="98"/>
                  </a:lnTo>
                  <a:lnTo>
                    <a:pt x="188" y="79"/>
                  </a:lnTo>
                  <a:lnTo>
                    <a:pt x="162" y="79"/>
                  </a:lnTo>
                  <a:lnTo>
                    <a:pt x="137" y="69"/>
                  </a:lnTo>
                  <a:lnTo>
                    <a:pt x="137" y="49"/>
                  </a:lnTo>
                  <a:lnTo>
                    <a:pt x="137" y="30"/>
                  </a:lnTo>
                  <a:lnTo>
                    <a:pt x="119" y="20"/>
                  </a:lnTo>
                  <a:lnTo>
                    <a:pt x="111" y="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79" name="Freeform 61"/>
            <p:cNvSpPr>
              <a:spLocks/>
            </p:cNvSpPr>
            <p:nvPr/>
          </p:nvSpPr>
          <p:spPr bwMode="auto">
            <a:xfrm>
              <a:off x="1561" y="2822"/>
              <a:ext cx="401" cy="793"/>
            </a:xfrm>
            <a:custGeom>
              <a:avLst/>
              <a:gdLst>
                <a:gd name="T0" fmla="*/ 43 w 401"/>
                <a:gd name="T1" fmla="*/ 0 h 793"/>
                <a:gd name="T2" fmla="*/ 35 w 401"/>
                <a:gd name="T3" fmla="*/ 49 h 793"/>
                <a:gd name="T4" fmla="*/ 26 w 401"/>
                <a:gd name="T5" fmla="*/ 78 h 793"/>
                <a:gd name="T6" fmla="*/ 0 w 401"/>
                <a:gd name="T7" fmla="*/ 117 h 793"/>
                <a:gd name="T8" fmla="*/ 9 w 401"/>
                <a:gd name="T9" fmla="*/ 147 h 793"/>
                <a:gd name="T10" fmla="*/ 9 w 401"/>
                <a:gd name="T11" fmla="*/ 196 h 793"/>
                <a:gd name="T12" fmla="*/ 0 w 401"/>
                <a:gd name="T13" fmla="*/ 225 h 793"/>
                <a:gd name="T14" fmla="*/ 17 w 401"/>
                <a:gd name="T15" fmla="*/ 264 h 793"/>
                <a:gd name="T16" fmla="*/ 35 w 401"/>
                <a:gd name="T17" fmla="*/ 323 h 793"/>
                <a:gd name="T18" fmla="*/ 52 w 401"/>
                <a:gd name="T19" fmla="*/ 313 h 793"/>
                <a:gd name="T20" fmla="*/ 52 w 401"/>
                <a:gd name="T21" fmla="*/ 333 h 793"/>
                <a:gd name="T22" fmla="*/ 52 w 401"/>
                <a:gd name="T23" fmla="*/ 343 h 793"/>
                <a:gd name="T24" fmla="*/ 35 w 401"/>
                <a:gd name="T25" fmla="*/ 323 h 793"/>
                <a:gd name="T26" fmla="*/ 35 w 401"/>
                <a:gd name="T27" fmla="*/ 372 h 793"/>
                <a:gd name="T28" fmla="*/ 60 w 401"/>
                <a:gd name="T29" fmla="*/ 392 h 793"/>
                <a:gd name="T30" fmla="*/ 43 w 401"/>
                <a:gd name="T31" fmla="*/ 441 h 793"/>
                <a:gd name="T32" fmla="*/ 60 w 401"/>
                <a:gd name="T33" fmla="*/ 480 h 793"/>
                <a:gd name="T34" fmla="*/ 77 w 401"/>
                <a:gd name="T35" fmla="*/ 519 h 793"/>
                <a:gd name="T36" fmla="*/ 86 w 401"/>
                <a:gd name="T37" fmla="*/ 548 h 793"/>
                <a:gd name="T38" fmla="*/ 94 w 401"/>
                <a:gd name="T39" fmla="*/ 597 h 793"/>
                <a:gd name="T40" fmla="*/ 137 w 401"/>
                <a:gd name="T41" fmla="*/ 617 h 793"/>
                <a:gd name="T42" fmla="*/ 154 w 401"/>
                <a:gd name="T43" fmla="*/ 646 h 793"/>
                <a:gd name="T44" fmla="*/ 180 w 401"/>
                <a:gd name="T45" fmla="*/ 676 h 793"/>
                <a:gd name="T46" fmla="*/ 214 w 401"/>
                <a:gd name="T47" fmla="*/ 715 h 793"/>
                <a:gd name="T48" fmla="*/ 222 w 401"/>
                <a:gd name="T49" fmla="*/ 764 h 793"/>
                <a:gd name="T50" fmla="*/ 316 w 401"/>
                <a:gd name="T51" fmla="*/ 793 h 793"/>
                <a:gd name="T52" fmla="*/ 367 w 401"/>
                <a:gd name="T53" fmla="*/ 783 h 793"/>
                <a:gd name="T54" fmla="*/ 367 w 401"/>
                <a:gd name="T55" fmla="*/ 764 h 793"/>
                <a:gd name="T56" fmla="*/ 376 w 401"/>
                <a:gd name="T57" fmla="*/ 734 h 793"/>
                <a:gd name="T58" fmla="*/ 401 w 401"/>
                <a:gd name="T59" fmla="*/ 695 h 793"/>
                <a:gd name="T60" fmla="*/ 393 w 401"/>
                <a:gd name="T61" fmla="*/ 646 h 793"/>
                <a:gd name="T62" fmla="*/ 180 w 401"/>
                <a:gd name="T63" fmla="*/ 284 h 79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401"/>
                <a:gd name="T97" fmla="*/ 0 h 793"/>
                <a:gd name="T98" fmla="*/ 401 w 401"/>
                <a:gd name="T99" fmla="*/ 793 h 79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401" h="793">
                  <a:moveTo>
                    <a:pt x="239" y="69"/>
                  </a:moveTo>
                  <a:lnTo>
                    <a:pt x="43" y="0"/>
                  </a:lnTo>
                  <a:lnTo>
                    <a:pt x="35" y="20"/>
                  </a:lnTo>
                  <a:lnTo>
                    <a:pt x="35" y="49"/>
                  </a:lnTo>
                  <a:lnTo>
                    <a:pt x="26" y="59"/>
                  </a:lnTo>
                  <a:lnTo>
                    <a:pt x="26" y="78"/>
                  </a:lnTo>
                  <a:lnTo>
                    <a:pt x="9" y="88"/>
                  </a:lnTo>
                  <a:lnTo>
                    <a:pt x="0" y="117"/>
                  </a:lnTo>
                  <a:lnTo>
                    <a:pt x="0" y="127"/>
                  </a:lnTo>
                  <a:lnTo>
                    <a:pt x="9" y="147"/>
                  </a:lnTo>
                  <a:lnTo>
                    <a:pt x="17" y="176"/>
                  </a:lnTo>
                  <a:lnTo>
                    <a:pt x="9" y="196"/>
                  </a:lnTo>
                  <a:lnTo>
                    <a:pt x="9" y="215"/>
                  </a:lnTo>
                  <a:lnTo>
                    <a:pt x="0" y="225"/>
                  </a:lnTo>
                  <a:lnTo>
                    <a:pt x="9" y="255"/>
                  </a:lnTo>
                  <a:lnTo>
                    <a:pt x="17" y="264"/>
                  </a:lnTo>
                  <a:lnTo>
                    <a:pt x="17" y="303"/>
                  </a:lnTo>
                  <a:lnTo>
                    <a:pt x="35" y="323"/>
                  </a:lnTo>
                  <a:lnTo>
                    <a:pt x="43" y="323"/>
                  </a:lnTo>
                  <a:lnTo>
                    <a:pt x="52" y="313"/>
                  </a:lnTo>
                  <a:lnTo>
                    <a:pt x="52" y="323"/>
                  </a:lnTo>
                  <a:lnTo>
                    <a:pt x="52" y="333"/>
                  </a:lnTo>
                  <a:lnTo>
                    <a:pt x="52" y="343"/>
                  </a:lnTo>
                  <a:lnTo>
                    <a:pt x="43" y="333"/>
                  </a:lnTo>
                  <a:lnTo>
                    <a:pt x="35" y="323"/>
                  </a:lnTo>
                  <a:lnTo>
                    <a:pt x="35" y="333"/>
                  </a:lnTo>
                  <a:lnTo>
                    <a:pt x="35" y="372"/>
                  </a:lnTo>
                  <a:lnTo>
                    <a:pt x="43" y="392"/>
                  </a:lnTo>
                  <a:lnTo>
                    <a:pt x="60" y="392"/>
                  </a:lnTo>
                  <a:lnTo>
                    <a:pt x="43" y="421"/>
                  </a:lnTo>
                  <a:lnTo>
                    <a:pt x="43" y="441"/>
                  </a:lnTo>
                  <a:lnTo>
                    <a:pt x="52" y="450"/>
                  </a:lnTo>
                  <a:lnTo>
                    <a:pt x="60" y="480"/>
                  </a:lnTo>
                  <a:lnTo>
                    <a:pt x="69" y="509"/>
                  </a:lnTo>
                  <a:lnTo>
                    <a:pt x="77" y="519"/>
                  </a:lnTo>
                  <a:lnTo>
                    <a:pt x="77" y="529"/>
                  </a:lnTo>
                  <a:lnTo>
                    <a:pt x="86" y="548"/>
                  </a:lnTo>
                  <a:lnTo>
                    <a:pt x="77" y="578"/>
                  </a:lnTo>
                  <a:lnTo>
                    <a:pt x="94" y="597"/>
                  </a:lnTo>
                  <a:lnTo>
                    <a:pt x="120" y="607"/>
                  </a:lnTo>
                  <a:lnTo>
                    <a:pt x="137" y="617"/>
                  </a:lnTo>
                  <a:lnTo>
                    <a:pt x="145" y="636"/>
                  </a:lnTo>
                  <a:lnTo>
                    <a:pt x="154" y="646"/>
                  </a:lnTo>
                  <a:lnTo>
                    <a:pt x="171" y="646"/>
                  </a:lnTo>
                  <a:lnTo>
                    <a:pt x="180" y="676"/>
                  </a:lnTo>
                  <a:lnTo>
                    <a:pt x="188" y="676"/>
                  </a:lnTo>
                  <a:lnTo>
                    <a:pt x="214" y="715"/>
                  </a:lnTo>
                  <a:lnTo>
                    <a:pt x="222" y="734"/>
                  </a:lnTo>
                  <a:lnTo>
                    <a:pt x="222" y="764"/>
                  </a:lnTo>
                  <a:lnTo>
                    <a:pt x="231" y="783"/>
                  </a:lnTo>
                  <a:lnTo>
                    <a:pt x="316" y="793"/>
                  </a:lnTo>
                  <a:lnTo>
                    <a:pt x="367" y="793"/>
                  </a:lnTo>
                  <a:lnTo>
                    <a:pt x="367" y="783"/>
                  </a:lnTo>
                  <a:lnTo>
                    <a:pt x="359" y="773"/>
                  </a:lnTo>
                  <a:lnTo>
                    <a:pt x="367" y="764"/>
                  </a:lnTo>
                  <a:lnTo>
                    <a:pt x="367" y="744"/>
                  </a:lnTo>
                  <a:lnTo>
                    <a:pt x="376" y="734"/>
                  </a:lnTo>
                  <a:lnTo>
                    <a:pt x="384" y="705"/>
                  </a:lnTo>
                  <a:lnTo>
                    <a:pt x="401" y="695"/>
                  </a:lnTo>
                  <a:lnTo>
                    <a:pt x="401" y="676"/>
                  </a:lnTo>
                  <a:lnTo>
                    <a:pt x="393" y="646"/>
                  </a:lnTo>
                  <a:lnTo>
                    <a:pt x="384" y="627"/>
                  </a:lnTo>
                  <a:lnTo>
                    <a:pt x="180" y="284"/>
                  </a:lnTo>
                  <a:lnTo>
                    <a:pt x="239" y="6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0" name="Freeform 62"/>
            <p:cNvSpPr>
              <a:spLocks/>
            </p:cNvSpPr>
            <p:nvPr/>
          </p:nvSpPr>
          <p:spPr bwMode="auto">
            <a:xfrm>
              <a:off x="1741" y="2891"/>
              <a:ext cx="324" cy="558"/>
            </a:xfrm>
            <a:custGeom>
              <a:avLst/>
              <a:gdLst>
                <a:gd name="T0" fmla="*/ 324 w 324"/>
                <a:gd name="T1" fmla="*/ 68 h 558"/>
                <a:gd name="T2" fmla="*/ 264 w 324"/>
                <a:gd name="T3" fmla="*/ 430 h 558"/>
                <a:gd name="T4" fmla="*/ 264 w 324"/>
                <a:gd name="T5" fmla="*/ 450 h 558"/>
                <a:gd name="T6" fmla="*/ 264 w 324"/>
                <a:gd name="T7" fmla="*/ 460 h 558"/>
                <a:gd name="T8" fmla="*/ 255 w 324"/>
                <a:gd name="T9" fmla="*/ 479 h 558"/>
                <a:gd name="T10" fmla="*/ 247 w 324"/>
                <a:gd name="T11" fmla="*/ 499 h 558"/>
                <a:gd name="T12" fmla="*/ 238 w 324"/>
                <a:gd name="T13" fmla="*/ 499 h 558"/>
                <a:gd name="T14" fmla="*/ 238 w 324"/>
                <a:gd name="T15" fmla="*/ 489 h 558"/>
                <a:gd name="T16" fmla="*/ 221 w 324"/>
                <a:gd name="T17" fmla="*/ 489 h 558"/>
                <a:gd name="T18" fmla="*/ 213 w 324"/>
                <a:gd name="T19" fmla="*/ 528 h 558"/>
                <a:gd name="T20" fmla="*/ 204 w 324"/>
                <a:gd name="T21" fmla="*/ 558 h 558"/>
                <a:gd name="T22" fmla="*/ 0 w 324"/>
                <a:gd name="T23" fmla="*/ 215 h 558"/>
                <a:gd name="T24" fmla="*/ 59 w 324"/>
                <a:gd name="T25" fmla="*/ 0 h 558"/>
                <a:gd name="T26" fmla="*/ 179 w 324"/>
                <a:gd name="T27" fmla="*/ 29 h 558"/>
                <a:gd name="T28" fmla="*/ 196 w 324"/>
                <a:gd name="T29" fmla="*/ 39 h 558"/>
                <a:gd name="T30" fmla="*/ 196 w 324"/>
                <a:gd name="T31" fmla="*/ 39 h 558"/>
                <a:gd name="T32" fmla="*/ 324 w 324"/>
                <a:gd name="T33" fmla="*/ 68 h 5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24"/>
                <a:gd name="T52" fmla="*/ 0 h 558"/>
                <a:gd name="T53" fmla="*/ 324 w 324"/>
                <a:gd name="T54" fmla="*/ 558 h 55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24" h="558">
                  <a:moveTo>
                    <a:pt x="324" y="68"/>
                  </a:moveTo>
                  <a:lnTo>
                    <a:pt x="264" y="430"/>
                  </a:lnTo>
                  <a:lnTo>
                    <a:pt x="264" y="450"/>
                  </a:lnTo>
                  <a:lnTo>
                    <a:pt x="264" y="460"/>
                  </a:lnTo>
                  <a:lnTo>
                    <a:pt x="255" y="479"/>
                  </a:lnTo>
                  <a:lnTo>
                    <a:pt x="247" y="499"/>
                  </a:lnTo>
                  <a:lnTo>
                    <a:pt x="238" y="499"/>
                  </a:lnTo>
                  <a:lnTo>
                    <a:pt x="238" y="489"/>
                  </a:lnTo>
                  <a:lnTo>
                    <a:pt x="221" y="489"/>
                  </a:lnTo>
                  <a:lnTo>
                    <a:pt x="213" y="528"/>
                  </a:lnTo>
                  <a:lnTo>
                    <a:pt x="204" y="558"/>
                  </a:lnTo>
                  <a:lnTo>
                    <a:pt x="0" y="215"/>
                  </a:lnTo>
                  <a:lnTo>
                    <a:pt x="59" y="0"/>
                  </a:lnTo>
                  <a:lnTo>
                    <a:pt x="179" y="29"/>
                  </a:lnTo>
                  <a:lnTo>
                    <a:pt x="196" y="39"/>
                  </a:lnTo>
                  <a:lnTo>
                    <a:pt x="324" y="68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1" name="Freeform 63"/>
            <p:cNvSpPr>
              <a:spLocks/>
            </p:cNvSpPr>
            <p:nvPr/>
          </p:nvSpPr>
          <p:spPr bwMode="auto">
            <a:xfrm>
              <a:off x="1911" y="3321"/>
              <a:ext cx="350" cy="460"/>
            </a:xfrm>
            <a:custGeom>
              <a:avLst/>
              <a:gdLst>
                <a:gd name="T0" fmla="*/ 94 w 350"/>
                <a:gd name="T1" fmla="*/ 0 h 460"/>
                <a:gd name="T2" fmla="*/ 265 w 350"/>
                <a:gd name="T3" fmla="*/ 39 h 460"/>
                <a:gd name="T4" fmla="*/ 350 w 350"/>
                <a:gd name="T5" fmla="*/ 49 h 460"/>
                <a:gd name="T6" fmla="*/ 316 w 350"/>
                <a:gd name="T7" fmla="*/ 304 h 460"/>
                <a:gd name="T8" fmla="*/ 307 w 350"/>
                <a:gd name="T9" fmla="*/ 353 h 460"/>
                <a:gd name="T10" fmla="*/ 299 w 350"/>
                <a:gd name="T11" fmla="*/ 402 h 460"/>
                <a:gd name="T12" fmla="*/ 290 w 350"/>
                <a:gd name="T13" fmla="*/ 460 h 460"/>
                <a:gd name="T14" fmla="*/ 230 w 350"/>
                <a:gd name="T15" fmla="*/ 451 h 460"/>
                <a:gd name="T16" fmla="*/ 179 w 350"/>
                <a:gd name="T17" fmla="*/ 441 h 460"/>
                <a:gd name="T18" fmla="*/ 94 w 350"/>
                <a:gd name="T19" fmla="*/ 372 h 460"/>
                <a:gd name="T20" fmla="*/ 0 w 350"/>
                <a:gd name="T21" fmla="*/ 314 h 460"/>
                <a:gd name="T22" fmla="*/ 0 w 350"/>
                <a:gd name="T23" fmla="*/ 294 h 460"/>
                <a:gd name="T24" fmla="*/ 17 w 350"/>
                <a:gd name="T25" fmla="*/ 294 h 460"/>
                <a:gd name="T26" fmla="*/ 17 w 350"/>
                <a:gd name="T27" fmla="*/ 284 h 460"/>
                <a:gd name="T28" fmla="*/ 9 w 350"/>
                <a:gd name="T29" fmla="*/ 274 h 460"/>
                <a:gd name="T30" fmla="*/ 17 w 350"/>
                <a:gd name="T31" fmla="*/ 265 h 460"/>
                <a:gd name="T32" fmla="*/ 17 w 350"/>
                <a:gd name="T33" fmla="*/ 245 h 460"/>
                <a:gd name="T34" fmla="*/ 26 w 350"/>
                <a:gd name="T35" fmla="*/ 235 h 460"/>
                <a:gd name="T36" fmla="*/ 34 w 350"/>
                <a:gd name="T37" fmla="*/ 206 h 460"/>
                <a:gd name="T38" fmla="*/ 51 w 350"/>
                <a:gd name="T39" fmla="*/ 196 h 460"/>
                <a:gd name="T40" fmla="*/ 51 w 350"/>
                <a:gd name="T41" fmla="*/ 177 h 460"/>
                <a:gd name="T42" fmla="*/ 43 w 350"/>
                <a:gd name="T43" fmla="*/ 147 h 460"/>
                <a:gd name="T44" fmla="*/ 34 w 350"/>
                <a:gd name="T45" fmla="*/ 128 h 460"/>
                <a:gd name="T46" fmla="*/ 43 w 350"/>
                <a:gd name="T47" fmla="*/ 98 h 460"/>
                <a:gd name="T48" fmla="*/ 51 w 350"/>
                <a:gd name="T49" fmla="*/ 59 h 460"/>
                <a:gd name="T50" fmla="*/ 68 w 350"/>
                <a:gd name="T51" fmla="*/ 59 h 460"/>
                <a:gd name="T52" fmla="*/ 68 w 350"/>
                <a:gd name="T53" fmla="*/ 69 h 460"/>
                <a:gd name="T54" fmla="*/ 77 w 350"/>
                <a:gd name="T55" fmla="*/ 69 h 460"/>
                <a:gd name="T56" fmla="*/ 85 w 350"/>
                <a:gd name="T57" fmla="*/ 49 h 460"/>
                <a:gd name="T58" fmla="*/ 94 w 350"/>
                <a:gd name="T59" fmla="*/ 30 h 460"/>
                <a:gd name="T60" fmla="*/ 94 w 350"/>
                <a:gd name="T61" fmla="*/ 20 h 460"/>
                <a:gd name="T62" fmla="*/ 94 w 350"/>
                <a:gd name="T63" fmla="*/ 0 h 46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50"/>
                <a:gd name="T97" fmla="*/ 0 h 460"/>
                <a:gd name="T98" fmla="*/ 350 w 350"/>
                <a:gd name="T99" fmla="*/ 460 h 46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50" h="460">
                  <a:moveTo>
                    <a:pt x="94" y="0"/>
                  </a:moveTo>
                  <a:lnTo>
                    <a:pt x="265" y="39"/>
                  </a:lnTo>
                  <a:lnTo>
                    <a:pt x="350" y="49"/>
                  </a:lnTo>
                  <a:lnTo>
                    <a:pt x="316" y="304"/>
                  </a:lnTo>
                  <a:lnTo>
                    <a:pt x="307" y="353"/>
                  </a:lnTo>
                  <a:lnTo>
                    <a:pt x="299" y="402"/>
                  </a:lnTo>
                  <a:lnTo>
                    <a:pt x="290" y="460"/>
                  </a:lnTo>
                  <a:lnTo>
                    <a:pt x="230" y="451"/>
                  </a:lnTo>
                  <a:lnTo>
                    <a:pt x="179" y="441"/>
                  </a:lnTo>
                  <a:lnTo>
                    <a:pt x="94" y="372"/>
                  </a:lnTo>
                  <a:lnTo>
                    <a:pt x="0" y="314"/>
                  </a:lnTo>
                  <a:lnTo>
                    <a:pt x="0" y="294"/>
                  </a:lnTo>
                  <a:lnTo>
                    <a:pt x="17" y="294"/>
                  </a:lnTo>
                  <a:lnTo>
                    <a:pt x="17" y="284"/>
                  </a:lnTo>
                  <a:lnTo>
                    <a:pt x="9" y="274"/>
                  </a:lnTo>
                  <a:lnTo>
                    <a:pt x="17" y="265"/>
                  </a:lnTo>
                  <a:lnTo>
                    <a:pt x="17" y="245"/>
                  </a:lnTo>
                  <a:lnTo>
                    <a:pt x="26" y="235"/>
                  </a:lnTo>
                  <a:lnTo>
                    <a:pt x="34" y="206"/>
                  </a:lnTo>
                  <a:lnTo>
                    <a:pt x="51" y="196"/>
                  </a:lnTo>
                  <a:lnTo>
                    <a:pt x="51" y="177"/>
                  </a:lnTo>
                  <a:lnTo>
                    <a:pt x="43" y="147"/>
                  </a:lnTo>
                  <a:lnTo>
                    <a:pt x="34" y="128"/>
                  </a:lnTo>
                  <a:lnTo>
                    <a:pt x="43" y="98"/>
                  </a:lnTo>
                  <a:lnTo>
                    <a:pt x="51" y="59"/>
                  </a:lnTo>
                  <a:lnTo>
                    <a:pt x="68" y="59"/>
                  </a:lnTo>
                  <a:lnTo>
                    <a:pt x="68" y="69"/>
                  </a:lnTo>
                  <a:lnTo>
                    <a:pt x="77" y="69"/>
                  </a:lnTo>
                  <a:lnTo>
                    <a:pt x="85" y="49"/>
                  </a:lnTo>
                  <a:lnTo>
                    <a:pt x="94" y="30"/>
                  </a:lnTo>
                  <a:lnTo>
                    <a:pt x="94" y="2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2" name="Freeform 64"/>
            <p:cNvSpPr>
              <a:spLocks/>
            </p:cNvSpPr>
            <p:nvPr/>
          </p:nvSpPr>
          <p:spPr bwMode="auto">
            <a:xfrm>
              <a:off x="2005" y="2959"/>
              <a:ext cx="290" cy="411"/>
            </a:xfrm>
            <a:custGeom>
              <a:avLst/>
              <a:gdLst>
                <a:gd name="T0" fmla="*/ 213 w 290"/>
                <a:gd name="T1" fmla="*/ 39 h 411"/>
                <a:gd name="T2" fmla="*/ 205 w 290"/>
                <a:gd name="T3" fmla="*/ 78 h 411"/>
                <a:gd name="T4" fmla="*/ 196 w 290"/>
                <a:gd name="T5" fmla="*/ 108 h 411"/>
                <a:gd name="T6" fmla="*/ 290 w 290"/>
                <a:gd name="T7" fmla="*/ 127 h 411"/>
                <a:gd name="T8" fmla="*/ 273 w 290"/>
                <a:gd name="T9" fmla="*/ 294 h 411"/>
                <a:gd name="T10" fmla="*/ 256 w 290"/>
                <a:gd name="T11" fmla="*/ 411 h 411"/>
                <a:gd name="T12" fmla="*/ 171 w 290"/>
                <a:gd name="T13" fmla="*/ 401 h 411"/>
                <a:gd name="T14" fmla="*/ 0 w 290"/>
                <a:gd name="T15" fmla="*/ 362 h 411"/>
                <a:gd name="T16" fmla="*/ 9 w 290"/>
                <a:gd name="T17" fmla="*/ 313 h 411"/>
                <a:gd name="T18" fmla="*/ 60 w 290"/>
                <a:gd name="T19" fmla="*/ 0 h 411"/>
                <a:gd name="T20" fmla="*/ 171 w 290"/>
                <a:gd name="T21" fmla="*/ 29 h 411"/>
                <a:gd name="T22" fmla="*/ 213 w 290"/>
                <a:gd name="T23" fmla="*/ 39 h 41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90"/>
                <a:gd name="T37" fmla="*/ 0 h 411"/>
                <a:gd name="T38" fmla="*/ 290 w 290"/>
                <a:gd name="T39" fmla="*/ 411 h 41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90" h="411">
                  <a:moveTo>
                    <a:pt x="213" y="39"/>
                  </a:moveTo>
                  <a:lnTo>
                    <a:pt x="205" y="78"/>
                  </a:lnTo>
                  <a:lnTo>
                    <a:pt x="196" y="108"/>
                  </a:lnTo>
                  <a:lnTo>
                    <a:pt x="290" y="127"/>
                  </a:lnTo>
                  <a:lnTo>
                    <a:pt x="273" y="294"/>
                  </a:lnTo>
                  <a:lnTo>
                    <a:pt x="256" y="411"/>
                  </a:lnTo>
                  <a:lnTo>
                    <a:pt x="171" y="401"/>
                  </a:lnTo>
                  <a:lnTo>
                    <a:pt x="0" y="362"/>
                  </a:lnTo>
                  <a:lnTo>
                    <a:pt x="9" y="313"/>
                  </a:lnTo>
                  <a:lnTo>
                    <a:pt x="60" y="0"/>
                  </a:lnTo>
                  <a:lnTo>
                    <a:pt x="171" y="29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3" name="Freeform 65"/>
            <p:cNvSpPr>
              <a:spLocks/>
            </p:cNvSpPr>
            <p:nvPr/>
          </p:nvSpPr>
          <p:spPr bwMode="auto">
            <a:xfrm>
              <a:off x="2064" y="2448"/>
              <a:ext cx="521" cy="382"/>
            </a:xfrm>
            <a:custGeom>
              <a:avLst/>
              <a:gdLst>
                <a:gd name="T0" fmla="*/ 9 w 521"/>
                <a:gd name="T1" fmla="*/ 0 h 382"/>
                <a:gd name="T2" fmla="*/ 77 w 521"/>
                <a:gd name="T3" fmla="*/ 10 h 382"/>
                <a:gd name="T4" fmla="*/ 145 w 521"/>
                <a:gd name="T5" fmla="*/ 29 h 382"/>
                <a:gd name="T6" fmla="*/ 205 w 521"/>
                <a:gd name="T7" fmla="*/ 39 h 382"/>
                <a:gd name="T8" fmla="*/ 290 w 521"/>
                <a:gd name="T9" fmla="*/ 59 h 382"/>
                <a:gd name="T10" fmla="*/ 367 w 521"/>
                <a:gd name="T11" fmla="*/ 68 h 382"/>
                <a:gd name="T12" fmla="*/ 435 w 521"/>
                <a:gd name="T13" fmla="*/ 78 h 382"/>
                <a:gd name="T14" fmla="*/ 521 w 521"/>
                <a:gd name="T15" fmla="*/ 98 h 382"/>
                <a:gd name="T16" fmla="*/ 512 w 521"/>
                <a:gd name="T17" fmla="*/ 157 h 382"/>
                <a:gd name="T18" fmla="*/ 504 w 521"/>
                <a:gd name="T19" fmla="*/ 264 h 382"/>
                <a:gd name="T20" fmla="*/ 495 w 521"/>
                <a:gd name="T21" fmla="*/ 382 h 382"/>
                <a:gd name="T22" fmla="*/ 179 w 521"/>
                <a:gd name="T23" fmla="*/ 333 h 382"/>
                <a:gd name="T24" fmla="*/ 171 w 521"/>
                <a:gd name="T25" fmla="*/ 372 h 382"/>
                <a:gd name="T26" fmla="*/ 162 w 521"/>
                <a:gd name="T27" fmla="*/ 352 h 382"/>
                <a:gd name="T28" fmla="*/ 145 w 521"/>
                <a:gd name="T29" fmla="*/ 352 h 382"/>
                <a:gd name="T30" fmla="*/ 137 w 521"/>
                <a:gd name="T31" fmla="*/ 352 h 382"/>
                <a:gd name="T32" fmla="*/ 128 w 521"/>
                <a:gd name="T33" fmla="*/ 352 h 382"/>
                <a:gd name="T34" fmla="*/ 111 w 521"/>
                <a:gd name="T35" fmla="*/ 352 h 382"/>
                <a:gd name="T36" fmla="*/ 103 w 521"/>
                <a:gd name="T37" fmla="*/ 352 h 382"/>
                <a:gd name="T38" fmla="*/ 94 w 521"/>
                <a:gd name="T39" fmla="*/ 352 h 382"/>
                <a:gd name="T40" fmla="*/ 77 w 521"/>
                <a:gd name="T41" fmla="*/ 352 h 382"/>
                <a:gd name="T42" fmla="*/ 86 w 521"/>
                <a:gd name="T43" fmla="*/ 333 h 382"/>
                <a:gd name="T44" fmla="*/ 68 w 521"/>
                <a:gd name="T45" fmla="*/ 323 h 382"/>
                <a:gd name="T46" fmla="*/ 68 w 521"/>
                <a:gd name="T47" fmla="*/ 294 h 382"/>
                <a:gd name="T48" fmla="*/ 60 w 521"/>
                <a:gd name="T49" fmla="*/ 284 h 382"/>
                <a:gd name="T50" fmla="*/ 60 w 521"/>
                <a:gd name="T51" fmla="*/ 254 h 382"/>
                <a:gd name="T52" fmla="*/ 43 w 521"/>
                <a:gd name="T53" fmla="*/ 264 h 382"/>
                <a:gd name="T54" fmla="*/ 26 w 521"/>
                <a:gd name="T55" fmla="*/ 254 h 382"/>
                <a:gd name="T56" fmla="*/ 26 w 521"/>
                <a:gd name="T57" fmla="*/ 245 h 382"/>
                <a:gd name="T58" fmla="*/ 34 w 521"/>
                <a:gd name="T59" fmla="*/ 235 h 382"/>
                <a:gd name="T60" fmla="*/ 34 w 521"/>
                <a:gd name="T61" fmla="*/ 215 h 382"/>
                <a:gd name="T62" fmla="*/ 51 w 521"/>
                <a:gd name="T63" fmla="*/ 186 h 382"/>
                <a:gd name="T64" fmla="*/ 34 w 521"/>
                <a:gd name="T65" fmla="*/ 176 h 382"/>
                <a:gd name="T66" fmla="*/ 26 w 521"/>
                <a:gd name="T67" fmla="*/ 166 h 382"/>
                <a:gd name="T68" fmla="*/ 26 w 521"/>
                <a:gd name="T69" fmla="*/ 147 h 382"/>
                <a:gd name="T70" fmla="*/ 17 w 521"/>
                <a:gd name="T71" fmla="*/ 137 h 382"/>
                <a:gd name="T72" fmla="*/ 0 w 521"/>
                <a:gd name="T73" fmla="*/ 108 h 382"/>
                <a:gd name="T74" fmla="*/ 0 w 521"/>
                <a:gd name="T75" fmla="*/ 88 h 382"/>
                <a:gd name="T76" fmla="*/ 0 w 521"/>
                <a:gd name="T77" fmla="*/ 68 h 382"/>
                <a:gd name="T78" fmla="*/ 0 w 521"/>
                <a:gd name="T79" fmla="*/ 49 h 382"/>
                <a:gd name="T80" fmla="*/ 9 w 521"/>
                <a:gd name="T81" fmla="*/ 10 h 382"/>
                <a:gd name="T82" fmla="*/ 9 w 521"/>
                <a:gd name="T83" fmla="*/ 0 h 3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521"/>
                <a:gd name="T127" fmla="*/ 0 h 382"/>
                <a:gd name="T128" fmla="*/ 521 w 521"/>
                <a:gd name="T129" fmla="*/ 382 h 38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521" h="382">
                  <a:moveTo>
                    <a:pt x="9" y="0"/>
                  </a:moveTo>
                  <a:lnTo>
                    <a:pt x="77" y="10"/>
                  </a:lnTo>
                  <a:lnTo>
                    <a:pt x="145" y="29"/>
                  </a:lnTo>
                  <a:lnTo>
                    <a:pt x="205" y="39"/>
                  </a:lnTo>
                  <a:lnTo>
                    <a:pt x="290" y="59"/>
                  </a:lnTo>
                  <a:lnTo>
                    <a:pt x="367" y="68"/>
                  </a:lnTo>
                  <a:lnTo>
                    <a:pt x="435" y="78"/>
                  </a:lnTo>
                  <a:lnTo>
                    <a:pt x="521" y="98"/>
                  </a:lnTo>
                  <a:lnTo>
                    <a:pt x="512" y="157"/>
                  </a:lnTo>
                  <a:lnTo>
                    <a:pt x="504" y="264"/>
                  </a:lnTo>
                  <a:lnTo>
                    <a:pt x="495" y="382"/>
                  </a:lnTo>
                  <a:lnTo>
                    <a:pt x="179" y="333"/>
                  </a:lnTo>
                  <a:lnTo>
                    <a:pt x="171" y="372"/>
                  </a:lnTo>
                  <a:lnTo>
                    <a:pt x="162" y="352"/>
                  </a:lnTo>
                  <a:lnTo>
                    <a:pt x="145" y="352"/>
                  </a:lnTo>
                  <a:lnTo>
                    <a:pt x="137" y="352"/>
                  </a:lnTo>
                  <a:lnTo>
                    <a:pt x="128" y="352"/>
                  </a:lnTo>
                  <a:lnTo>
                    <a:pt x="111" y="352"/>
                  </a:lnTo>
                  <a:lnTo>
                    <a:pt x="103" y="352"/>
                  </a:lnTo>
                  <a:lnTo>
                    <a:pt x="94" y="352"/>
                  </a:lnTo>
                  <a:lnTo>
                    <a:pt x="77" y="352"/>
                  </a:lnTo>
                  <a:lnTo>
                    <a:pt x="86" y="333"/>
                  </a:lnTo>
                  <a:lnTo>
                    <a:pt x="68" y="323"/>
                  </a:lnTo>
                  <a:lnTo>
                    <a:pt x="68" y="294"/>
                  </a:lnTo>
                  <a:lnTo>
                    <a:pt x="60" y="284"/>
                  </a:lnTo>
                  <a:lnTo>
                    <a:pt x="60" y="254"/>
                  </a:lnTo>
                  <a:lnTo>
                    <a:pt x="43" y="264"/>
                  </a:lnTo>
                  <a:lnTo>
                    <a:pt x="26" y="254"/>
                  </a:lnTo>
                  <a:lnTo>
                    <a:pt x="26" y="245"/>
                  </a:lnTo>
                  <a:lnTo>
                    <a:pt x="34" y="235"/>
                  </a:lnTo>
                  <a:lnTo>
                    <a:pt x="34" y="215"/>
                  </a:lnTo>
                  <a:lnTo>
                    <a:pt x="51" y="186"/>
                  </a:lnTo>
                  <a:lnTo>
                    <a:pt x="34" y="176"/>
                  </a:lnTo>
                  <a:lnTo>
                    <a:pt x="26" y="166"/>
                  </a:lnTo>
                  <a:lnTo>
                    <a:pt x="26" y="147"/>
                  </a:lnTo>
                  <a:lnTo>
                    <a:pt x="17" y="137"/>
                  </a:lnTo>
                  <a:lnTo>
                    <a:pt x="0" y="108"/>
                  </a:lnTo>
                  <a:lnTo>
                    <a:pt x="0" y="88"/>
                  </a:lnTo>
                  <a:lnTo>
                    <a:pt x="0" y="68"/>
                  </a:lnTo>
                  <a:lnTo>
                    <a:pt x="0" y="49"/>
                  </a:lnTo>
                  <a:lnTo>
                    <a:pt x="9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4" name="Freeform 66"/>
            <p:cNvSpPr>
              <a:spLocks/>
            </p:cNvSpPr>
            <p:nvPr/>
          </p:nvSpPr>
          <p:spPr bwMode="auto">
            <a:xfrm>
              <a:off x="2544" y="2784"/>
              <a:ext cx="367" cy="333"/>
            </a:xfrm>
            <a:custGeom>
              <a:avLst/>
              <a:gdLst>
                <a:gd name="T0" fmla="*/ 367 w 367"/>
                <a:gd name="T1" fmla="*/ 49 h 333"/>
                <a:gd name="T2" fmla="*/ 341 w 367"/>
                <a:gd name="T3" fmla="*/ 333 h 333"/>
                <a:gd name="T4" fmla="*/ 239 w 367"/>
                <a:gd name="T5" fmla="*/ 323 h 333"/>
                <a:gd name="T6" fmla="*/ 94 w 367"/>
                <a:gd name="T7" fmla="*/ 303 h 333"/>
                <a:gd name="T8" fmla="*/ 0 w 367"/>
                <a:gd name="T9" fmla="*/ 284 h 333"/>
                <a:gd name="T10" fmla="*/ 9 w 367"/>
                <a:gd name="T11" fmla="*/ 254 h 333"/>
                <a:gd name="T12" fmla="*/ 17 w 367"/>
                <a:gd name="T13" fmla="*/ 215 h 333"/>
                <a:gd name="T14" fmla="*/ 43 w 367"/>
                <a:gd name="T15" fmla="*/ 39 h 333"/>
                <a:gd name="T16" fmla="*/ 51 w 367"/>
                <a:gd name="T17" fmla="*/ 0 h 333"/>
                <a:gd name="T18" fmla="*/ 367 w 367"/>
                <a:gd name="T19" fmla="*/ 49 h 3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7"/>
                <a:gd name="T31" fmla="*/ 0 h 333"/>
                <a:gd name="T32" fmla="*/ 367 w 367"/>
                <a:gd name="T33" fmla="*/ 333 h 333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7" h="333">
                  <a:moveTo>
                    <a:pt x="367" y="49"/>
                  </a:moveTo>
                  <a:lnTo>
                    <a:pt x="341" y="333"/>
                  </a:lnTo>
                  <a:lnTo>
                    <a:pt x="239" y="323"/>
                  </a:lnTo>
                  <a:lnTo>
                    <a:pt x="94" y="303"/>
                  </a:lnTo>
                  <a:lnTo>
                    <a:pt x="0" y="284"/>
                  </a:lnTo>
                  <a:lnTo>
                    <a:pt x="9" y="254"/>
                  </a:lnTo>
                  <a:lnTo>
                    <a:pt x="17" y="215"/>
                  </a:lnTo>
                  <a:lnTo>
                    <a:pt x="43" y="39"/>
                  </a:lnTo>
                  <a:lnTo>
                    <a:pt x="51" y="0"/>
                  </a:lnTo>
                  <a:lnTo>
                    <a:pt x="367" y="4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5" name="Freeform 67"/>
            <p:cNvSpPr>
              <a:spLocks/>
            </p:cNvSpPr>
            <p:nvPr/>
          </p:nvSpPr>
          <p:spPr bwMode="auto">
            <a:xfrm>
              <a:off x="2261" y="3086"/>
              <a:ext cx="375" cy="343"/>
            </a:xfrm>
            <a:custGeom>
              <a:avLst/>
              <a:gdLst>
                <a:gd name="T0" fmla="*/ 34 w 375"/>
                <a:gd name="T1" fmla="*/ 0 h 343"/>
                <a:gd name="T2" fmla="*/ 179 w 375"/>
                <a:gd name="T3" fmla="*/ 20 h 343"/>
                <a:gd name="T4" fmla="*/ 281 w 375"/>
                <a:gd name="T5" fmla="*/ 30 h 343"/>
                <a:gd name="T6" fmla="*/ 375 w 375"/>
                <a:gd name="T7" fmla="*/ 49 h 343"/>
                <a:gd name="T8" fmla="*/ 367 w 375"/>
                <a:gd name="T9" fmla="*/ 216 h 343"/>
                <a:gd name="T10" fmla="*/ 358 w 375"/>
                <a:gd name="T11" fmla="*/ 343 h 343"/>
                <a:gd name="T12" fmla="*/ 299 w 375"/>
                <a:gd name="T13" fmla="*/ 333 h 343"/>
                <a:gd name="T14" fmla="*/ 0 w 375"/>
                <a:gd name="T15" fmla="*/ 284 h 343"/>
                <a:gd name="T16" fmla="*/ 17 w 375"/>
                <a:gd name="T17" fmla="*/ 167 h 343"/>
                <a:gd name="T18" fmla="*/ 34 w 375"/>
                <a:gd name="T19" fmla="*/ 0 h 343"/>
                <a:gd name="T20" fmla="*/ 34 w 375"/>
                <a:gd name="T21" fmla="*/ 0 h 34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375"/>
                <a:gd name="T34" fmla="*/ 0 h 343"/>
                <a:gd name="T35" fmla="*/ 375 w 375"/>
                <a:gd name="T36" fmla="*/ 343 h 34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375" h="343">
                  <a:moveTo>
                    <a:pt x="34" y="0"/>
                  </a:moveTo>
                  <a:lnTo>
                    <a:pt x="179" y="20"/>
                  </a:lnTo>
                  <a:lnTo>
                    <a:pt x="281" y="30"/>
                  </a:lnTo>
                  <a:lnTo>
                    <a:pt x="375" y="49"/>
                  </a:lnTo>
                  <a:lnTo>
                    <a:pt x="367" y="216"/>
                  </a:lnTo>
                  <a:lnTo>
                    <a:pt x="358" y="343"/>
                  </a:lnTo>
                  <a:lnTo>
                    <a:pt x="299" y="333"/>
                  </a:lnTo>
                  <a:lnTo>
                    <a:pt x="0" y="284"/>
                  </a:lnTo>
                  <a:lnTo>
                    <a:pt x="17" y="167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6" name="Freeform 68"/>
            <p:cNvSpPr>
              <a:spLocks/>
            </p:cNvSpPr>
            <p:nvPr/>
          </p:nvSpPr>
          <p:spPr bwMode="auto">
            <a:xfrm>
              <a:off x="2201" y="3370"/>
              <a:ext cx="367" cy="421"/>
            </a:xfrm>
            <a:custGeom>
              <a:avLst/>
              <a:gdLst>
                <a:gd name="T0" fmla="*/ 367 w 367"/>
                <a:gd name="T1" fmla="*/ 49 h 421"/>
                <a:gd name="T2" fmla="*/ 367 w 367"/>
                <a:gd name="T3" fmla="*/ 88 h 421"/>
                <a:gd name="T4" fmla="*/ 367 w 367"/>
                <a:gd name="T5" fmla="*/ 88 h 421"/>
                <a:gd name="T6" fmla="*/ 350 w 367"/>
                <a:gd name="T7" fmla="*/ 235 h 421"/>
                <a:gd name="T8" fmla="*/ 341 w 367"/>
                <a:gd name="T9" fmla="*/ 314 h 421"/>
                <a:gd name="T10" fmla="*/ 333 w 367"/>
                <a:gd name="T11" fmla="*/ 411 h 421"/>
                <a:gd name="T12" fmla="*/ 205 w 367"/>
                <a:gd name="T13" fmla="*/ 392 h 421"/>
                <a:gd name="T14" fmla="*/ 137 w 367"/>
                <a:gd name="T15" fmla="*/ 382 h 421"/>
                <a:gd name="T16" fmla="*/ 137 w 367"/>
                <a:gd name="T17" fmla="*/ 402 h 421"/>
                <a:gd name="T18" fmla="*/ 94 w 367"/>
                <a:gd name="T19" fmla="*/ 402 h 421"/>
                <a:gd name="T20" fmla="*/ 51 w 367"/>
                <a:gd name="T21" fmla="*/ 392 h 421"/>
                <a:gd name="T22" fmla="*/ 51 w 367"/>
                <a:gd name="T23" fmla="*/ 421 h 421"/>
                <a:gd name="T24" fmla="*/ 0 w 367"/>
                <a:gd name="T25" fmla="*/ 411 h 421"/>
                <a:gd name="T26" fmla="*/ 9 w 367"/>
                <a:gd name="T27" fmla="*/ 353 h 421"/>
                <a:gd name="T28" fmla="*/ 17 w 367"/>
                <a:gd name="T29" fmla="*/ 304 h 421"/>
                <a:gd name="T30" fmla="*/ 26 w 367"/>
                <a:gd name="T31" fmla="*/ 265 h 421"/>
                <a:gd name="T32" fmla="*/ 60 w 367"/>
                <a:gd name="T33" fmla="*/ 0 h 421"/>
                <a:gd name="T34" fmla="*/ 367 w 367"/>
                <a:gd name="T35" fmla="*/ 49 h 4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67"/>
                <a:gd name="T55" fmla="*/ 0 h 421"/>
                <a:gd name="T56" fmla="*/ 367 w 367"/>
                <a:gd name="T57" fmla="*/ 421 h 42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67" h="421">
                  <a:moveTo>
                    <a:pt x="367" y="49"/>
                  </a:moveTo>
                  <a:lnTo>
                    <a:pt x="367" y="88"/>
                  </a:lnTo>
                  <a:lnTo>
                    <a:pt x="350" y="235"/>
                  </a:lnTo>
                  <a:lnTo>
                    <a:pt x="341" y="314"/>
                  </a:lnTo>
                  <a:lnTo>
                    <a:pt x="333" y="411"/>
                  </a:lnTo>
                  <a:lnTo>
                    <a:pt x="205" y="392"/>
                  </a:lnTo>
                  <a:lnTo>
                    <a:pt x="137" y="382"/>
                  </a:lnTo>
                  <a:lnTo>
                    <a:pt x="137" y="402"/>
                  </a:lnTo>
                  <a:lnTo>
                    <a:pt x="94" y="402"/>
                  </a:lnTo>
                  <a:lnTo>
                    <a:pt x="51" y="392"/>
                  </a:lnTo>
                  <a:lnTo>
                    <a:pt x="51" y="421"/>
                  </a:lnTo>
                  <a:lnTo>
                    <a:pt x="0" y="411"/>
                  </a:lnTo>
                  <a:lnTo>
                    <a:pt x="9" y="353"/>
                  </a:lnTo>
                  <a:lnTo>
                    <a:pt x="17" y="304"/>
                  </a:lnTo>
                  <a:lnTo>
                    <a:pt x="26" y="265"/>
                  </a:lnTo>
                  <a:lnTo>
                    <a:pt x="60" y="0"/>
                  </a:lnTo>
                  <a:lnTo>
                    <a:pt x="367" y="4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7" name="Freeform 69"/>
            <p:cNvSpPr>
              <a:spLocks/>
            </p:cNvSpPr>
            <p:nvPr/>
          </p:nvSpPr>
          <p:spPr bwMode="auto">
            <a:xfrm>
              <a:off x="2338" y="3458"/>
              <a:ext cx="716" cy="793"/>
            </a:xfrm>
            <a:custGeom>
              <a:avLst/>
              <a:gdLst>
                <a:gd name="T0" fmla="*/ 384 w 716"/>
                <a:gd name="T1" fmla="*/ 10 h 793"/>
                <a:gd name="T2" fmla="*/ 392 w 716"/>
                <a:gd name="T3" fmla="*/ 167 h 793"/>
                <a:gd name="T4" fmla="*/ 426 w 716"/>
                <a:gd name="T5" fmla="*/ 186 h 793"/>
                <a:gd name="T6" fmla="*/ 477 w 716"/>
                <a:gd name="T7" fmla="*/ 196 h 793"/>
                <a:gd name="T8" fmla="*/ 495 w 716"/>
                <a:gd name="T9" fmla="*/ 206 h 793"/>
                <a:gd name="T10" fmla="*/ 520 w 716"/>
                <a:gd name="T11" fmla="*/ 226 h 793"/>
                <a:gd name="T12" fmla="*/ 554 w 716"/>
                <a:gd name="T13" fmla="*/ 216 h 793"/>
                <a:gd name="T14" fmla="*/ 588 w 716"/>
                <a:gd name="T15" fmla="*/ 206 h 793"/>
                <a:gd name="T16" fmla="*/ 640 w 716"/>
                <a:gd name="T17" fmla="*/ 206 h 793"/>
                <a:gd name="T18" fmla="*/ 674 w 716"/>
                <a:gd name="T19" fmla="*/ 235 h 793"/>
                <a:gd name="T20" fmla="*/ 691 w 716"/>
                <a:gd name="T21" fmla="*/ 353 h 793"/>
                <a:gd name="T22" fmla="*/ 699 w 716"/>
                <a:gd name="T23" fmla="*/ 382 h 793"/>
                <a:gd name="T24" fmla="*/ 716 w 716"/>
                <a:gd name="T25" fmla="*/ 441 h 793"/>
                <a:gd name="T26" fmla="*/ 708 w 716"/>
                <a:gd name="T27" fmla="*/ 470 h 793"/>
                <a:gd name="T28" fmla="*/ 699 w 716"/>
                <a:gd name="T29" fmla="*/ 500 h 793"/>
                <a:gd name="T30" fmla="*/ 665 w 716"/>
                <a:gd name="T31" fmla="*/ 529 h 793"/>
                <a:gd name="T32" fmla="*/ 648 w 716"/>
                <a:gd name="T33" fmla="*/ 519 h 793"/>
                <a:gd name="T34" fmla="*/ 640 w 716"/>
                <a:gd name="T35" fmla="*/ 539 h 793"/>
                <a:gd name="T36" fmla="*/ 614 w 716"/>
                <a:gd name="T37" fmla="*/ 568 h 793"/>
                <a:gd name="T38" fmla="*/ 571 w 716"/>
                <a:gd name="T39" fmla="*/ 598 h 793"/>
                <a:gd name="T40" fmla="*/ 546 w 716"/>
                <a:gd name="T41" fmla="*/ 598 h 793"/>
                <a:gd name="T42" fmla="*/ 546 w 716"/>
                <a:gd name="T43" fmla="*/ 607 h 793"/>
                <a:gd name="T44" fmla="*/ 529 w 716"/>
                <a:gd name="T45" fmla="*/ 627 h 793"/>
                <a:gd name="T46" fmla="*/ 520 w 716"/>
                <a:gd name="T47" fmla="*/ 637 h 793"/>
                <a:gd name="T48" fmla="*/ 495 w 716"/>
                <a:gd name="T49" fmla="*/ 647 h 793"/>
                <a:gd name="T50" fmla="*/ 495 w 716"/>
                <a:gd name="T51" fmla="*/ 686 h 793"/>
                <a:gd name="T52" fmla="*/ 486 w 716"/>
                <a:gd name="T53" fmla="*/ 725 h 793"/>
                <a:gd name="T54" fmla="*/ 512 w 716"/>
                <a:gd name="T55" fmla="*/ 784 h 793"/>
                <a:gd name="T56" fmla="*/ 495 w 716"/>
                <a:gd name="T57" fmla="*/ 793 h 793"/>
                <a:gd name="T58" fmla="*/ 443 w 716"/>
                <a:gd name="T59" fmla="*/ 774 h 793"/>
                <a:gd name="T60" fmla="*/ 392 w 716"/>
                <a:gd name="T61" fmla="*/ 745 h 793"/>
                <a:gd name="T62" fmla="*/ 375 w 716"/>
                <a:gd name="T63" fmla="*/ 696 h 793"/>
                <a:gd name="T64" fmla="*/ 375 w 716"/>
                <a:gd name="T65" fmla="*/ 676 h 793"/>
                <a:gd name="T66" fmla="*/ 358 w 716"/>
                <a:gd name="T67" fmla="*/ 647 h 793"/>
                <a:gd name="T68" fmla="*/ 315 w 716"/>
                <a:gd name="T69" fmla="*/ 568 h 793"/>
                <a:gd name="T70" fmla="*/ 273 w 716"/>
                <a:gd name="T71" fmla="*/ 500 h 793"/>
                <a:gd name="T72" fmla="*/ 230 w 716"/>
                <a:gd name="T73" fmla="*/ 480 h 793"/>
                <a:gd name="T74" fmla="*/ 187 w 716"/>
                <a:gd name="T75" fmla="*/ 529 h 793"/>
                <a:gd name="T76" fmla="*/ 102 w 716"/>
                <a:gd name="T77" fmla="*/ 490 h 793"/>
                <a:gd name="T78" fmla="*/ 94 w 716"/>
                <a:gd name="T79" fmla="*/ 441 h 793"/>
                <a:gd name="T80" fmla="*/ 85 w 716"/>
                <a:gd name="T81" fmla="*/ 412 h 793"/>
                <a:gd name="T82" fmla="*/ 34 w 716"/>
                <a:gd name="T83" fmla="*/ 353 h 793"/>
                <a:gd name="T84" fmla="*/ 17 w 716"/>
                <a:gd name="T85" fmla="*/ 323 h 793"/>
                <a:gd name="T86" fmla="*/ 0 w 716"/>
                <a:gd name="T87" fmla="*/ 294 h 793"/>
                <a:gd name="T88" fmla="*/ 204 w 716"/>
                <a:gd name="T89" fmla="*/ 226 h 793"/>
                <a:gd name="T90" fmla="*/ 230 w 716"/>
                <a:gd name="T91" fmla="*/ 0 h 7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716"/>
                <a:gd name="T139" fmla="*/ 0 h 793"/>
                <a:gd name="T140" fmla="*/ 716 w 716"/>
                <a:gd name="T141" fmla="*/ 793 h 79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716" h="793">
                  <a:moveTo>
                    <a:pt x="230" y="0"/>
                  </a:moveTo>
                  <a:lnTo>
                    <a:pt x="384" y="10"/>
                  </a:lnTo>
                  <a:lnTo>
                    <a:pt x="375" y="147"/>
                  </a:lnTo>
                  <a:lnTo>
                    <a:pt x="392" y="167"/>
                  </a:lnTo>
                  <a:lnTo>
                    <a:pt x="409" y="167"/>
                  </a:lnTo>
                  <a:lnTo>
                    <a:pt x="426" y="186"/>
                  </a:lnTo>
                  <a:lnTo>
                    <a:pt x="443" y="186"/>
                  </a:lnTo>
                  <a:lnTo>
                    <a:pt x="477" y="196"/>
                  </a:lnTo>
                  <a:lnTo>
                    <a:pt x="486" y="206"/>
                  </a:lnTo>
                  <a:lnTo>
                    <a:pt x="495" y="206"/>
                  </a:lnTo>
                  <a:lnTo>
                    <a:pt x="512" y="216"/>
                  </a:lnTo>
                  <a:lnTo>
                    <a:pt x="520" y="226"/>
                  </a:lnTo>
                  <a:lnTo>
                    <a:pt x="529" y="206"/>
                  </a:lnTo>
                  <a:lnTo>
                    <a:pt x="554" y="216"/>
                  </a:lnTo>
                  <a:lnTo>
                    <a:pt x="571" y="226"/>
                  </a:lnTo>
                  <a:lnTo>
                    <a:pt x="588" y="206"/>
                  </a:lnTo>
                  <a:lnTo>
                    <a:pt x="614" y="206"/>
                  </a:lnTo>
                  <a:lnTo>
                    <a:pt x="640" y="206"/>
                  </a:lnTo>
                  <a:lnTo>
                    <a:pt x="665" y="226"/>
                  </a:lnTo>
                  <a:lnTo>
                    <a:pt x="674" y="235"/>
                  </a:lnTo>
                  <a:lnTo>
                    <a:pt x="691" y="235"/>
                  </a:lnTo>
                  <a:lnTo>
                    <a:pt x="691" y="353"/>
                  </a:lnTo>
                  <a:lnTo>
                    <a:pt x="699" y="363"/>
                  </a:lnTo>
                  <a:lnTo>
                    <a:pt x="699" y="382"/>
                  </a:lnTo>
                  <a:lnTo>
                    <a:pt x="716" y="412"/>
                  </a:lnTo>
                  <a:lnTo>
                    <a:pt x="716" y="441"/>
                  </a:lnTo>
                  <a:lnTo>
                    <a:pt x="708" y="451"/>
                  </a:lnTo>
                  <a:lnTo>
                    <a:pt x="708" y="470"/>
                  </a:lnTo>
                  <a:lnTo>
                    <a:pt x="708" y="490"/>
                  </a:lnTo>
                  <a:lnTo>
                    <a:pt x="699" y="500"/>
                  </a:lnTo>
                  <a:lnTo>
                    <a:pt x="699" y="519"/>
                  </a:lnTo>
                  <a:lnTo>
                    <a:pt x="665" y="529"/>
                  </a:lnTo>
                  <a:lnTo>
                    <a:pt x="648" y="529"/>
                  </a:lnTo>
                  <a:lnTo>
                    <a:pt x="648" y="519"/>
                  </a:lnTo>
                  <a:lnTo>
                    <a:pt x="640" y="519"/>
                  </a:lnTo>
                  <a:lnTo>
                    <a:pt x="640" y="539"/>
                  </a:lnTo>
                  <a:lnTo>
                    <a:pt x="631" y="549"/>
                  </a:lnTo>
                  <a:lnTo>
                    <a:pt x="614" y="568"/>
                  </a:lnTo>
                  <a:lnTo>
                    <a:pt x="588" y="588"/>
                  </a:lnTo>
                  <a:lnTo>
                    <a:pt x="571" y="598"/>
                  </a:lnTo>
                  <a:lnTo>
                    <a:pt x="563" y="588"/>
                  </a:lnTo>
                  <a:lnTo>
                    <a:pt x="546" y="598"/>
                  </a:lnTo>
                  <a:lnTo>
                    <a:pt x="554" y="607"/>
                  </a:lnTo>
                  <a:lnTo>
                    <a:pt x="546" y="607"/>
                  </a:lnTo>
                  <a:lnTo>
                    <a:pt x="537" y="607"/>
                  </a:lnTo>
                  <a:lnTo>
                    <a:pt x="529" y="627"/>
                  </a:lnTo>
                  <a:lnTo>
                    <a:pt x="520" y="627"/>
                  </a:lnTo>
                  <a:lnTo>
                    <a:pt x="520" y="637"/>
                  </a:lnTo>
                  <a:lnTo>
                    <a:pt x="503" y="647"/>
                  </a:lnTo>
                  <a:lnTo>
                    <a:pt x="495" y="647"/>
                  </a:lnTo>
                  <a:lnTo>
                    <a:pt x="503" y="656"/>
                  </a:lnTo>
                  <a:lnTo>
                    <a:pt x="495" y="686"/>
                  </a:lnTo>
                  <a:lnTo>
                    <a:pt x="495" y="696"/>
                  </a:lnTo>
                  <a:lnTo>
                    <a:pt x="486" y="725"/>
                  </a:lnTo>
                  <a:lnTo>
                    <a:pt x="495" y="764"/>
                  </a:lnTo>
                  <a:lnTo>
                    <a:pt x="512" y="784"/>
                  </a:lnTo>
                  <a:lnTo>
                    <a:pt x="503" y="784"/>
                  </a:lnTo>
                  <a:lnTo>
                    <a:pt x="495" y="793"/>
                  </a:lnTo>
                  <a:lnTo>
                    <a:pt x="469" y="774"/>
                  </a:lnTo>
                  <a:lnTo>
                    <a:pt x="443" y="774"/>
                  </a:lnTo>
                  <a:lnTo>
                    <a:pt x="409" y="754"/>
                  </a:lnTo>
                  <a:lnTo>
                    <a:pt x="392" y="745"/>
                  </a:lnTo>
                  <a:lnTo>
                    <a:pt x="392" y="725"/>
                  </a:lnTo>
                  <a:lnTo>
                    <a:pt x="375" y="696"/>
                  </a:lnTo>
                  <a:lnTo>
                    <a:pt x="375" y="686"/>
                  </a:lnTo>
                  <a:lnTo>
                    <a:pt x="375" y="676"/>
                  </a:lnTo>
                  <a:lnTo>
                    <a:pt x="367" y="656"/>
                  </a:lnTo>
                  <a:lnTo>
                    <a:pt x="358" y="647"/>
                  </a:lnTo>
                  <a:lnTo>
                    <a:pt x="332" y="598"/>
                  </a:lnTo>
                  <a:lnTo>
                    <a:pt x="315" y="568"/>
                  </a:lnTo>
                  <a:lnTo>
                    <a:pt x="315" y="549"/>
                  </a:lnTo>
                  <a:lnTo>
                    <a:pt x="273" y="500"/>
                  </a:lnTo>
                  <a:lnTo>
                    <a:pt x="256" y="490"/>
                  </a:lnTo>
                  <a:lnTo>
                    <a:pt x="230" y="480"/>
                  </a:lnTo>
                  <a:lnTo>
                    <a:pt x="213" y="490"/>
                  </a:lnTo>
                  <a:lnTo>
                    <a:pt x="187" y="529"/>
                  </a:lnTo>
                  <a:lnTo>
                    <a:pt x="170" y="539"/>
                  </a:lnTo>
                  <a:lnTo>
                    <a:pt x="102" y="490"/>
                  </a:lnTo>
                  <a:lnTo>
                    <a:pt x="94" y="461"/>
                  </a:lnTo>
                  <a:lnTo>
                    <a:pt x="94" y="441"/>
                  </a:lnTo>
                  <a:lnTo>
                    <a:pt x="85" y="421"/>
                  </a:lnTo>
                  <a:lnTo>
                    <a:pt x="85" y="412"/>
                  </a:lnTo>
                  <a:lnTo>
                    <a:pt x="59" y="382"/>
                  </a:lnTo>
                  <a:lnTo>
                    <a:pt x="34" y="353"/>
                  </a:lnTo>
                  <a:lnTo>
                    <a:pt x="17" y="343"/>
                  </a:lnTo>
                  <a:lnTo>
                    <a:pt x="17" y="323"/>
                  </a:lnTo>
                  <a:lnTo>
                    <a:pt x="0" y="314"/>
                  </a:lnTo>
                  <a:lnTo>
                    <a:pt x="0" y="294"/>
                  </a:lnTo>
                  <a:lnTo>
                    <a:pt x="196" y="323"/>
                  </a:lnTo>
                  <a:lnTo>
                    <a:pt x="204" y="226"/>
                  </a:lnTo>
                  <a:lnTo>
                    <a:pt x="213" y="147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8" name="Freeform 70"/>
            <p:cNvSpPr>
              <a:spLocks/>
            </p:cNvSpPr>
            <p:nvPr/>
          </p:nvSpPr>
          <p:spPr bwMode="auto">
            <a:xfrm>
              <a:off x="2560" y="3419"/>
              <a:ext cx="443" cy="265"/>
            </a:xfrm>
            <a:custGeom>
              <a:avLst/>
              <a:gdLst>
                <a:gd name="T0" fmla="*/ 59 w 443"/>
                <a:gd name="T1" fmla="*/ 10 h 265"/>
                <a:gd name="T2" fmla="*/ 435 w 443"/>
                <a:gd name="T3" fmla="*/ 20 h 265"/>
                <a:gd name="T4" fmla="*/ 435 w 443"/>
                <a:gd name="T5" fmla="*/ 59 h 265"/>
                <a:gd name="T6" fmla="*/ 443 w 443"/>
                <a:gd name="T7" fmla="*/ 118 h 265"/>
                <a:gd name="T8" fmla="*/ 443 w 443"/>
                <a:gd name="T9" fmla="*/ 235 h 265"/>
                <a:gd name="T10" fmla="*/ 443 w 443"/>
                <a:gd name="T11" fmla="*/ 265 h 265"/>
                <a:gd name="T12" fmla="*/ 418 w 443"/>
                <a:gd name="T13" fmla="*/ 245 h 265"/>
                <a:gd name="T14" fmla="*/ 392 w 443"/>
                <a:gd name="T15" fmla="*/ 245 h 265"/>
                <a:gd name="T16" fmla="*/ 383 w 443"/>
                <a:gd name="T17" fmla="*/ 245 h 265"/>
                <a:gd name="T18" fmla="*/ 366 w 443"/>
                <a:gd name="T19" fmla="*/ 245 h 265"/>
                <a:gd name="T20" fmla="*/ 349 w 443"/>
                <a:gd name="T21" fmla="*/ 265 h 265"/>
                <a:gd name="T22" fmla="*/ 332 w 443"/>
                <a:gd name="T23" fmla="*/ 255 h 265"/>
                <a:gd name="T24" fmla="*/ 307 w 443"/>
                <a:gd name="T25" fmla="*/ 245 h 265"/>
                <a:gd name="T26" fmla="*/ 298 w 443"/>
                <a:gd name="T27" fmla="*/ 265 h 265"/>
                <a:gd name="T28" fmla="*/ 290 w 443"/>
                <a:gd name="T29" fmla="*/ 255 h 265"/>
                <a:gd name="T30" fmla="*/ 273 w 443"/>
                <a:gd name="T31" fmla="*/ 245 h 265"/>
                <a:gd name="T32" fmla="*/ 264 w 443"/>
                <a:gd name="T33" fmla="*/ 245 h 265"/>
                <a:gd name="T34" fmla="*/ 255 w 443"/>
                <a:gd name="T35" fmla="*/ 235 h 265"/>
                <a:gd name="T36" fmla="*/ 221 w 443"/>
                <a:gd name="T37" fmla="*/ 225 h 265"/>
                <a:gd name="T38" fmla="*/ 204 w 443"/>
                <a:gd name="T39" fmla="*/ 225 h 265"/>
                <a:gd name="T40" fmla="*/ 187 w 443"/>
                <a:gd name="T41" fmla="*/ 206 h 265"/>
                <a:gd name="T42" fmla="*/ 170 w 443"/>
                <a:gd name="T43" fmla="*/ 206 h 265"/>
                <a:gd name="T44" fmla="*/ 153 w 443"/>
                <a:gd name="T45" fmla="*/ 186 h 265"/>
                <a:gd name="T46" fmla="*/ 162 w 443"/>
                <a:gd name="T47" fmla="*/ 49 h 265"/>
                <a:gd name="T48" fmla="*/ 8 w 443"/>
                <a:gd name="T49" fmla="*/ 39 h 265"/>
                <a:gd name="T50" fmla="*/ 0 w 443"/>
                <a:gd name="T51" fmla="*/ 0 h 265"/>
                <a:gd name="T52" fmla="*/ 59 w 443"/>
                <a:gd name="T53" fmla="*/ 10 h 265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43"/>
                <a:gd name="T82" fmla="*/ 0 h 265"/>
                <a:gd name="T83" fmla="*/ 443 w 443"/>
                <a:gd name="T84" fmla="*/ 265 h 265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43" h="265">
                  <a:moveTo>
                    <a:pt x="59" y="10"/>
                  </a:moveTo>
                  <a:lnTo>
                    <a:pt x="435" y="20"/>
                  </a:lnTo>
                  <a:lnTo>
                    <a:pt x="435" y="59"/>
                  </a:lnTo>
                  <a:lnTo>
                    <a:pt x="443" y="118"/>
                  </a:lnTo>
                  <a:lnTo>
                    <a:pt x="443" y="235"/>
                  </a:lnTo>
                  <a:lnTo>
                    <a:pt x="443" y="265"/>
                  </a:lnTo>
                  <a:lnTo>
                    <a:pt x="418" y="245"/>
                  </a:lnTo>
                  <a:lnTo>
                    <a:pt x="392" y="245"/>
                  </a:lnTo>
                  <a:lnTo>
                    <a:pt x="383" y="245"/>
                  </a:lnTo>
                  <a:lnTo>
                    <a:pt x="366" y="245"/>
                  </a:lnTo>
                  <a:lnTo>
                    <a:pt x="349" y="265"/>
                  </a:lnTo>
                  <a:lnTo>
                    <a:pt x="332" y="255"/>
                  </a:lnTo>
                  <a:lnTo>
                    <a:pt x="307" y="245"/>
                  </a:lnTo>
                  <a:lnTo>
                    <a:pt x="298" y="265"/>
                  </a:lnTo>
                  <a:lnTo>
                    <a:pt x="290" y="255"/>
                  </a:lnTo>
                  <a:lnTo>
                    <a:pt x="273" y="245"/>
                  </a:lnTo>
                  <a:lnTo>
                    <a:pt x="264" y="245"/>
                  </a:lnTo>
                  <a:lnTo>
                    <a:pt x="255" y="235"/>
                  </a:lnTo>
                  <a:lnTo>
                    <a:pt x="221" y="225"/>
                  </a:lnTo>
                  <a:lnTo>
                    <a:pt x="204" y="225"/>
                  </a:lnTo>
                  <a:lnTo>
                    <a:pt x="187" y="206"/>
                  </a:lnTo>
                  <a:lnTo>
                    <a:pt x="170" y="206"/>
                  </a:lnTo>
                  <a:lnTo>
                    <a:pt x="153" y="186"/>
                  </a:lnTo>
                  <a:lnTo>
                    <a:pt x="162" y="49"/>
                  </a:lnTo>
                  <a:lnTo>
                    <a:pt x="8" y="39"/>
                  </a:lnTo>
                  <a:lnTo>
                    <a:pt x="0" y="0"/>
                  </a:lnTo>
                  <a:lnTo>
                    <a:pt x="59" y="1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89" name="Freeform 71"/>
            <p:cNvSpPr>
              <a:spLocks/>
            </p:cNvSpPr>
            <p:nvPr/>
          </p:nvSpPr>
          <p:spPr bwMode="auto">
            <a:xfrm>
              <a:off x="2619" y="3204"/>
              <a:ext cx="376" cy="235"/>
            </a:xfrm>
            <a:custGeom>
              <a:avLst/>
              <a:gdLst>
                <a:gd name="T0" fmla="*/ 17 w 376"/>
                <a:gd name="T1" fmla="*/ 0 h 235"/>
                <a:gd name="T2" fmla="*/ 282 w 376"/>
                <a:gd name="T3" fmla="*/ 19 h 235"/>
                <a:gd name="T4" fmla="*/ 341 w 376"/>
                <a:gd name="T5" fmla="*/ 19 h 235"/>
                <a:gd name="T6" fmla="*/ 359 w 376"/>
                <a:gd name="T7" fmla="*/ 29 h 235"/>
                <a:gd name="T8" fmla="*/ 359 w 376"/>
                <a:gd name="T9" fmla="*/ 39 h 235"/>
                <a:gd name="T10" fmla="*/ 359 w 376"/>
                <a:gd name="T11" fmla="*/ 49 h 235"/>
                <a:gd name="T12" fmla="*/ 367 w 376"/>
                <a:gd name="T13" fmla="*/ 59 h 235"/>
                <a:gd name="T14" fmla="*/ 367 w 376"/>
                <a:gd name="T15" fmla="*/ 78 h 235"/>
                <a:gd name="T16" fmla="*/ 376 w 376"/>
                <a:gd name="T17" fmla="*/ 78 h 235"/>
                <a:gd name="T18" fmla="*/ 376 w 376"/>
                <a:gd name="T19" fmla="*/ 235 h 235"/>
                <a:gd name="T20" fmla="*/ 0 w 376"/>
                <a:gd name="T21" fmla="*/ 225 h 235"/>
                <a:gd name="T22" fmla="*/ 0 w 376"/>
                <a:gd name="T23" fmla="*/ 156 h 235"/>
                <a:gd name="T24" fmla="*/ 9 w 376"/>
                <a:gd name="T25" fmla="*/ 98 h 235"/>
                <a:gd name="T26" fmla="*/ 17 w 376"/>
                <a:gd name="T27" fmla="*/ 0 h 23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76"/>
                <a:gd name="T43" fmla="*/ 0 h 235"/>
                <a:gd name="T44" fmla="*/ 376 w 376"/>
                <a:gd name="T45" fmla="*/ 235 h 235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76" h="235">
                  <a:moveTo>
                    <a:pt x="17" y="0"/>
                  </a:moveTo>
                  <a:lnTo>
                    <a:pt x="282" y="19"/>
                  </a:lnTo>
                  <a:lnTo>
                    <a:pt x="341" y="19"/>
                  </a:lnTo>
                  <a:lnTo>
                    <a:pt x="359" y="29"/>
                  </a:lnTo>
                  <a:lnTo>
                    <a:pt x="359" y="39"/>
                  </a:lnTo>
                  <a:lnTo>
                    <a:pt x="359" y="49"/>
                  </a:lnTo>
                  <a:lnTo>
                    <a:pt x="367" y="59"/>
                  </a:lnTo>
                  <a:lnTo>
                    <a:pt x="367" y="78"/>
                  </a:lnTo>
                  <a:lnTo>
                    <a:pt x="376" y="78"/>
                  </a:lnTo>
                  <a:lnTo>
                    <a:pt x="376" y="235"/>
                  </a:lnTo>
                  <a:lnTo>
                    <a:pt x="0" y="225"/>
                  </a:lnTo>
                  <a:lnTo>
                    <a:pt x="0" y="156"/>
                  </a:lnTo>
                  <a:lnTo>
                    <a:pt x="9" y="98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0" name="Freeform 72"/>
            <p:cNvSpPr>
              <a:spLocks/>
            </p:cNvSpPr>
            <p:nvPr/>
          </p:nvSpPr>
          <p:spPr bwMode="auto">
            <a:xfrm>
              <a:off x="2542" y="2969"/>
              <a:ext cx="418" cy="254"/>
            </a:xfrm>
            <a:custGeom>
              <a:avLst/>
              <a:gdLst>
                <a:gd name="T0" fmla="*/ 9 w 418"/>
                <a:gd name="T1" fmla="*/ 0 h 254"/>
                <a:gd name="T2" fmla="*/ 137 w 418"/>
                <a:gd name="T3" fmla="*/ 19 h 254"/>
                <a:gd name="T4" fmla="*/ 256 w 418"/>
                <a:gd name="T5" fmla="*/ 29 h 254"/>
                <a:gd name="T6" fmla="*/ 265 w 418"/>
                <a:gd name="T7" fmla="*/ 29 h 254"/>
                <a:gd name="T8" fmla="*/ 273 w 418"/>
                <a:gd name="T9" fmla="*/ 39 h 254"/>
                <a:gd name="T10" fmla="*/ 291 w 418"/>
                <a:gd name="T11" fmla="*/ 39 h 254"/>
                <a:gd name="T12" fmla="*/ 308 w 418"/>
                <a:gd name="T13" fmla="*/ 49 h 254"/>
                <a:gd name="T14" fmla="*/ 316 w 418"/>
                <a:gd name="T15" fmla="*/ 49 h 254"/>
                <a:gd name="T16" fmla="*/ 325 w 418"/>
                <a:gd name="T17" fmla="*/ 49 h 254"/>
                <a:gd name="T18" fmla="*/ 342 w 418"/>
                <a:gd name="T19" fmla="*/ 49 h 254"/>
                <a:gd name="T20" fmla="*/ 350 w 418"/>
                <a:gd name="T21" fmla="*/ 59 h 254"/>
                <a:gd name="T22" fmla="*/ 367 w 418"/>
                <a:gd name="T23" fmla="*/ 68 h 254"/>
                <a:gd name="T24" fmla="*/ 367 w 418"/>
                <a:gd name="T25" fmla="*/ 78 h 254"/>
                <a:gd name="T26" fmla="*/ 376 w 418"/>
                <a:gd name="T27" fmla="*/ 88 h 254"/>
                <a:gd name="T28" fmla="*/ 367 w 418"/>
                <a:gd name="T29" fmla="*/ 98 h 254"/>
                <a:gd name="T30" fmla="*/ 384 w 418"/>
                <a:gd name="T31" fmla="*/ 117 h 254"/>
                <a:gd name="T32" fmla="*/ 393 w 418"/>
                <a:gd name="T33" fmla="*/ 137 h 254"/>
                <a:gd name="T34" fmla="*/ 393 w 418"/>
                <a:gd name="T35" fmla="*/ 156 h 254"/>
                <a:gd name="T36" fmla="*/ 393 w 418"/>
                <a:gd name="T37" fmla="*/ 176 h 254"/>
                <a:gd name="T38" fmla="*/ 393 w 418"/>
                <a:gd name="T39" fmla="*/ 176 h 254"/>
                <a:gd name="T40" fmla="*/ 401 w 418"/>
                <a:gd name="T41" fmla="*/ 186 h 254"/>
                <a:gd name="T42" fmla="*/ 401 w 418"/>
                <a:gd name="T43" fmla="*/ 205 h 254"/>
                <a:gd name="T44" fmla="*/ 410 w 418"/>
                <a:gd name="T45" fmla="*/ 235 h 254"/>
                <a:gd name="T46" fmla="*/ 418 w 418"/>
                <a:gd name="T47" fmla="*/ 254 h 254"/>
                <a:gd name="T48" fmla="*/ 265 w 418"/>
                <a:gd name="T49" fmla="*/ 245 h 254"/>
                <a:gd name="T50" fmla="*/ 94 w 418"/>
                <a:gd name="T51" fmla="*/ 235 h 254"/>
                <a:gd name="T52" fmla="*/ 94 w 418"/>
                <a:gd name="T53" fmla="*/ 166 h 254"/>
                <a:gd name="T54" fmla="*/ 0 w 418"/>
                <a:gd name="T55" fmla="*/ 147 h 254"/>
                <a:gd name="T56" fmla="*/ 9 w 418"/>
                <a:gd name="T57" fmla="*/ 0 h 25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18"/>
                <a:gd name="T88" fmla="*/ 0 h 254"/>
                <a:gd name="T89" fmla="*/ 418 w 418"/>
                <a:gd name="T90" fmla="*/ 254 h 254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18" h="254">
                  <a:moveTo>
                    <a:pt x="9" y="0"/>
                  </a:moveTo>
                  <a:lnTo>
                    <a:pt x="137" y="19"/>
                  </a:lnTo>
                  <a:lnTo>
                    <a:pt x="256" y="29"/>
                  </a:lnTo>
                  <a:lnTo>
                    <a:pt x="265" y="29"/>
                  </a:lnTo>
                  <a:lnTo>
                    <a:pt x="273" y="39"/>
                  </a:lnTo>
                  <a:lnTo>
                    <a:pt x="291" y="39"/>
                  </a:lnTo>
                  <a:lnTo>
                    <a:pt x="308" y="49"/>
                  </a:lnTo>
                  <a:lnTo>
                    <a:pt x="316" y="49"/>
                  </a:lnTo>
                  <a:lnTo>
                    <a:pt x="325" y="49"/>
                  </a:lnTo>
                  <a:lnTo>
                    <a:pt x="342" y="49"/>
                  </a:lnTo>
                  <a:lnTo>
                    <a:pt x="350" y="59"/>
                  </a:lnTo>
                  <a:lnTo>
                    <a:pt x="367" y="68"/>
                  </a:lnTo>
                  <a:lnTo>
                    <a:pt x="367" y="78"/>
                  </a:lnTo>
                  <a:lnTo>
                    <a:pt x="376" y="88"/>
                  </a:lnTo>
                  <a:lnTo>
                    <a:pt x="367" y="98"/>
                  </a:lnTo>
                  <a:lnTo>
                    <a:pt x="384" y="117"/>
                  </a:lnTo>
                  <a:lnTo>
                    <a:pt x="393" y="137"/>
                  </a:lnTo>
                  <a:lnTo>
                    <a:pt x="393" y="156"/>
                  </a:lnTo>
                  <a:lnTo>
                    <a:pt x="393" y="176"/>
                  </a:lnTo>
                  <a:lnTo>
                    <a:pt x="401" y="186"/>
                  </a:lnTo>
                  <a:lnTo>
                    <a:pt x="401" y="205"/>
                  </a:lnTo>
                  <a:lnTo>
                    <a:pt x="410" y="235"/>
                  </a:lnTo>
                  <a:lnTo>
                    <a:pt x="418" y="254"/>
                  </a:lnTo>
                  <a:lnTo>
                    <a:pt x="265" y="245"/>
                  </a:lnTo>
                  <a:lnTo>
                    <a:pt x="94" y="235"/>
                  </a:lnTo>
                  <a:lnTo>
                    <a:pt x="94" y="166"/>
                  </a:lnTo>
                  <a:lnTo>
                    <a:pt x="0" y="14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1" name="Freeform 73"/>
            <p:cNvSpPr>
              <a:spLocks/>
            </p:cNvSpPr>
            <p:nvPr/>
          </p:nvSpPr>
          <p:spPr bwMode="auto">
            <a:xfrm>
              <a:off x="2551" y="2763"/>
              <a:ext cx="367" cy="274"/>
            </a:xfrm>
            <a:custGeom>
              <a:avLst/>
              <a:gdLst>
                <a:gd name="T0" fmla="*/ 17 w 367"/>
                <a:gd name="T1" fmla="*/ 0 h 274"/>
                <a:gd name="T2" fmla="*/ 358 w 367"/>
                <a:gd name="T3" fmla="*/ 20 h 274"/>
                <a:gd name="T4" fmla="*/ 358 w 367"/>
                <a:gd name="T5" fmla="*/ 30 h 274"/>
                <a:gd name="T6" fmla="*/ 350 w 367"/>
                <a:gd name="T7" fmla="*/ 39 h 274"/>
                <a:gd name="T8" fmla="*/ 350 w 367"/>
                <a:gd name="T9" fmla="*/ 49 h 274"/>
                <a:gd name="T10" fmla="*/ 358 w 367"/>
                <a:gd name="T11" fmla="*/ 59 h 274"/>
                <a:gd name="T12" fmla="*/ 367 w 367"/>
                <a:gd name="T13" fmla="*/ 69 h 274"/>
                <a:gd name="T14" fmla="*/ 358 w 367"/>
                <a:gd name="T15" fmla="*/ 196 h 274"/>
                <a:gd name="T16" fmla="*/ 358 w 367"/>
                <a:gd name="T17" fmla="*/ 206 h 274"/>
                <a:gd name="T18" fmla="*/ 358 w 367"/>
                <a:gd name="T19" fmla="*/ 225 h 274"/>
                <a:gd name="T20" fmla="*/ 358 w 367"/>
                <a:gd name="T21" fmla="*/ 235 h 274"/>
                <a:gd name="T22" fmla="*/ 350 w 367"/>
                <a:gd name="T23" fmla="*/ 255 h 274"/>
                <a:gd name="T24" fmla="*/ 358 w 367"/>
                <a:gd name="T25" fmla="*/ 274 h 274"/>
                <a:gd name="T26" fmla="*/ 341 w 367"/>
                <a:gd name="T27" fmla="*/ 265 h 274"/>
                <a:gd name="T28" fmla="*/ 333 w 367"/>
                <a:gd name="T29" fmla="*/ 255 h 274"/>
                <a:gd name="T30" fmla="*/ 316 w 367"/>
                <a:gd name="T31" fmla="*/ 255 h 274"/>
                <a:gd name="T32" fmla="*/ 307 w 367"/>
                <a:gd name="T33" fmla="*/ 255 h 274"/>
                <a:gd name="T34" fmla="*/ 299 w 367"/>
                <a:gd name="T35" fmla="*/ 255 h 274"/>
                <a:gd name="T36" fmla="*/ 282 w 367"/>
                <a:gd name="T37" fmla="*/ 245 h 274"/>
                <a:gd name="T38" fmla="*/ 264 w 367"/>
                <a:gd name="T39" fmla="*/ 245 h 274"/>
                <a:gd name="T40" fmla="*/ 256 w 367"/>
                <a:gd name="T41" fmla="*/ 235 h 274"/>
                <a:gd name="T42" fmla="*/ 247 w 367"/>
                <a:gd name="T43" fmla="*/ 235 h 274"/>
                <a:gd name="T44" fmla="*/ 128 w 367"/>
                <a:gd name="T45" fmla="*/ 225 h 274"/>
                <a:gd name="T46" fmla="*/ 0 w 367"/>
                <a:gd name="T47" fmla="*/ 206 h 274"/>
                <a:gd name="T48" fmla="*/ 17 w 367"/>
                <a:gd name="T49" fmla="*/ 69 h 274"/>
                <a:gd name="T50" fmla="*/ 17 w 367"/>
                <a:gd name="T51" fmla="*/ 30 h 274"/>
                <a:gd name="T52" fmla="*/ 17 w 367"/>
                <a:gd name="T53" fmla="*/ 0 h 27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67"/>
                <a:gd name="T82" fmla="*/ 0 h 274"/>
                <a:gd name="T83" fmla="*/ 367 w 367"/>
                <a:gd name="T84" fmla="*/ 274 h 27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67" h="274">
                  <a:moveTo>
                    <a:pt x="17" y="0"/>
                  </a:moveTo>
                  <a:lnTo>
                    <a:pt x="358" y="20"/>
                  </a:lnTo>
                  <a:lnTo>
                    <a:pt x="358" y="30"/>
                  </a:lnTo>
                  <a:lnTo>
                    <a:pt x="350" y="39"/>
                  </a:lnTo>
                  <a:lnTo>
                    <a:pt x="350" y="49"/>
                  </a:lnTo>
                  <a:lnTo>
                    <a:pt x="358" y="59"/>
                  </a:lnTo>
                  <a:lnTo>
                    <a:pt x="367" y="69"/>
                  </a:lnTo>
                  <a:lnTo>
                    <a:pt x="358" y="196"/>
                  </a:lnTo>
                  <a:lnTo>
                    <a:pt x="358" y="206"/>
                  </a:lnTo>
                  <a:lnTo>
                    <a:pt x="358" y="225"/>
                  </a:lnTo>
                  <a:lnTo>
                    <a:pt x="358" y="235"/>
                  </a:lnTo>
                  <a:lnTo>
                    <a:pt x="350" y="255"/>
                  </a:lnTo>
                  <a:lnTo>
                    <a:pt x="358" y="274"/>
                  </a:lnTo>
                  <a:lnTo>
                    <a:pt x="341" y="265"/>
                  </a:lnTo>
                  <a:lnTo>
                    <a:pt x="333" y="255"/>
                  </a:lnTo>
                  <a:lnTo>
                    <a:pt x="316" y="255"/>
                  </a:lnTo>
                  <a:lnTo>
                    <a:pt x="307" y="255"/>
                  </a:lnTo>
                  <a:lnTo>
                    <a:pt x="299" y="255"/>
                  </a:lnTo>
                  <a:lnTo>
                    <a:pt x="282" y="245"/>
                  </a:lnTo>
                  <a:lnTo>
                    <a:pt x="264" y="245"/>
                  </a:lnTo>
                  <a:lnTo>
                    <a:pt x="256" y="235"/>
                  </a:lnTo>
                  <a:lnTo>
                    <a:pt x="247" y="235"/>
                  </a:lnTo>
                  <a:lnTo>
                    <a:pt x="128" y="225"/>
                  </a:lnTo>
                  <a:lnTo>
                    <a:pt x="0" y="206"/>
                  </a:lnTo>
                  <a:lnTo>
                    <a:pt x="17" y="69"/>
                  </a:lnTo>
                  <a:lnTo>
                    <a:pt x="17" y="3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2" name="Freeform 74"/>
            <p:cNvSpPr>
              <a:spLocks/>
            </p:cNvSpPr>
            <p:nvPr/>
          </p:nvSpPr>
          <p:spPr bwMode="auto">
            <a:xfrm>
              <a:off x="2568" y="2548"/>
              <a:ext cx="341" cy="235"/>
            </a:xfrm>
            <a:custGeom>
              <a:avLst/>
              <a:gdLst>
                <a:gd name="T0" fmla="*/ 26 w 341"/>
                <a:gd name="T1" fmla="*/ 0 h 235"/>
                <a:gd name="T2" fmla="*/ 230 w 341"/>
                <a:gd name="T3" fmla="*/ 10 h 235"/>
                <a:gd name="T4" fmla="*/ 316 w 341"/>
                <a:gd name="T5" fmla="*/ 19 h 235"/>
                <a:gd name="T6" fmla="*/ 316 w 341"/>
                <a:gd name="T7" fmla="*/ 29 h 235"/>
                <a:gd name="T8" fmla="*/ 316 w 341"/>
                <a:gd name="T9" fmla="*/ 59 h 235"/>
                <a:gd name="T10" fmla="*/ 316 w 341"/>
                <a:gd name="T11" fmla="*/ 78 h 235"/>
                <a:gd name="T12" fmla="*/ 324 w 341"/>
                <a:gd name="T13" fmla="*/ 108 h 235"/>
                <a:gd name="T14" fmla="*/ 333 w 341"/>
                <a:gd name="T15" fmla="*/ 117 h 235"/>
                <a:gd name="T16" fmla="*/ 333 w 341"/>
                <a:gd name="T17" fmla="*/ 186 h 235"/>
                <a:gd name="T18" fmla="*/ 333 w 341"/>
                <a:gd name="T19" fmla="*/ 196 h 235"/>
                <a:gd name="T20" fmla="*/ 341 w 341"/>
                <a:gd name="T21" fmla="*/ 215 h 235"/>
                <a:gd name="T22" fmla="*/ 341 w 341"/>
                <a:gd name="T23" fmla="*/ 235 h 235"/>
                <a:gd name="T24" fmla="*/ 0 w 341"/>
                <a:gd name="T25" fmla="*/ 215 h 235"/>
                <a:gd name="T26" fmla="*/ 9 w 341"/>
                <a:gd name="T27" fmla="*/ 147 h 235"/>
                <a:gd name="T28" fmla="*/ 17 w 341"/>
                <a:gd name="T29" fmla="*/ 59 h 235"/>
                <a:gd name="T30" fmla="*/ 26 w 341"/>
                <a:gd name="T31" fmla="*/ 0 h 23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41"/>
                <a:gd name="T49" fmla="*/ 0 h 235"/>
                <a:gd name="T50" fmla="*/ 341 w 341"/>
                <a:gd name="T51" fmla="*/ 235 h 23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41" h="235">
                  <a:moveTo>
                    <a:pt x="26" y="0"/>
                  </a:moveTo>
                  <a:lnTo>
                    <a:pt x="230" y="10"/>
                  </a:lnTo>
                  <a:lnTo>
                    <a:pt x="316" y="19"/>
                  </a:lnTo>
                  <a:lnTo>
                    <a:pt x="316" y="29"/>
                  </a:lnTo>
                  <a:lnTo>
                    <a:pt x="316" y="59"/>
                  </a:lnTo>
                  <a:lnTo>
                    <a:pt x="316" y="78"/>
                  </a:lnTo>
                  <a:lnTo>
                    <a:pt x="324" y="108"/>
                  </a:lnTo>
                  <a:lnTo>
                    <a:pt x="333" y="117"/>
                  </a:lnTo>
                  <a:lnTo>
                    <a:pt x="333" y="186"/>
                  </a:lnTo>
                  <a:lnTo>
                    <a:pt x="333" y="196"/>
                  </a:lnTo>
                  <a:lnTo>
                    <a:pt x="341" y="215"/>
                  </a:lnTo>
                  <a:lnTo>
                    <a:pt x="341" y="235"/>
                  </a:lnTo>
                  <a:lnTo>
                    <a:pt x="0" y="215"/>
                  </a:lnTo>
                  <a:lnTo>
                    <a:pt x="9" y="147"/>
                  </a:lnTo>
                  <a:lnTo>
                    <a:pt x="17" y="59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3" name="Freeform 75"/>
            <p:cNvSpPr>
              <a:spLocks/>
            </p:cNvSpPr>
            <p:nvPr/>
          </p:nvSpPr>
          <p:spPr bwMode="auto">
            <a:xfrm>
              <a:off x="2884" y="2538"/>
              <a:ext cx="324" cy="421"/>
            </a:xfrm>
            <a:custGeom>
              <a:avLst/>
              <a:gdLst>
                <a:gd name="T0" fmla="*/ 0 w 324"/>
                <a:gd name="T1" fmla="*/ 29 h 421"/>
                <a:gd name="T2" fmla="*/ 85 w 324"/>
                <a:gd name="T3" fmla="*/ 29 h 421"/>
                <a:gd name="T4" fmla="*/ 94 w 324"/>
                <a:gd name="T5" fmla="*/ 20 h 421"/>
                <a:gd name="T6" fmla="*/ 94 w 324"/>
                <a:gd name="T7" fmla="*/ 0 h 421"/>
                <a:gd name="T8" fmla="*/ 102 w 324"/>
                <a:gd name="T9" fmla="*/ 0 h 421"/>
                <a:gd name="T10" fmla="*/ 111 w 324"/>
                <a:gd name="T11" fmla="*/ 10 h 421"/>
                <a:gd name="T12" fmla="*/ 111 w 324"/>
                <a:gd name="T13" fmla="*/ 39 h 421"/>
                <a:gd name="T14" fmla="*/ 119 w 324"/>
                <a:gd name="T15" fmla="*/ 49 h 421"/>
                <a:gd name="T16" fmla="*/ 145 w 324"/>
                <a:gd name="T17" fmla="*/ 59 h 421"/>
                <a:gd name="T18" fmla="*/ 153 w 324"/>
                <a:gd name="T19" fmla="*/ 59 h 421"/>
                <a:gd name="T20" fmla="*/ 162 w 324"/>
                <a:gd name="T21" fmla="*/ 59 h 421"/>
                <a:gd name="T22" fmla="*/ 170 w 324"/>
                <a:gd name="T23" fmla="*/ 59 h 421"/>
                <a:gd name="T24" fmla="*/ 187 w 324"/>
                <a:gd name="T25" fmla="*/ 59 h 421"/>
                <a:gd name="T26" fmla="*/ 196 w 324"/>
                <a:gd name="T27" fmla="*/ 59 h 421"/>
                <a:gd name="T28" fmla="*/ 204 w 324"/>
                <a:gd name="T29" fmla="*/ 78 h 421"/>
                <a:gd name="T30" fmla="*/ 213 w 324"/>
                <a:gd name="T31" fmla="*/ 78 h 421"/>
                <a:gd name="T32" fmla="*/ 222 w 324"/>
                <a:gd name="T33" fmla="*/ 78 h 421"/>
                <a:gd name="T34" fmla="*/ 230 w 324"/>
                <a:gd name="T35" fmla="*/ 88 h 421"/>
                <a:gd name="T36" fmla="*/ 247 w 324"/>
                <a:gd name="T37" fmla="*/ 98 h 421"/>
                <a:gd name="T38" fmla="*/ 256 w 324"/>
                <a:gd name="T39" fmla="*/ 98 h 421"/>
                <a:gd name="T40" fmla="*/ 273 w 324"/>
                <a:gd name="T41" fmla="*/ 78 h 421"/>
                <a:gd name="T42" fmla="*/ 281 w 324"/>
                <a:gd name="T43" fmla="*/ 88 h 421"/>
                <a:gd name="T44" fmla="*/ 307 w 324"/>
                <a:gd name="T45" fmla="*/ 88 h 421"/>
                <a:gd name="T46" fmla="*/ 324 w 324"/>
                <a:gd name="T47" fmla="*/ 98 h 421"/>
                <a:gd name="T48" fmla="*/ 324 w 324"/>
                <a:gd name="T49" fmla="*/ 108 h 421"/>
                <a:gd name="T50" fmla="*/ 315 w 324"/>
                <a:gd name="T51" fmla="*/ 108 h 421"/>
                <a:gd name="T52" fmla="*/ 298 w 324"/>
                <a:gd name="T53" fmla="*/ 118 h 421"/>
                <a:gd name="T54" fmla="*/ 290 w 324"/>
                <a:gd name="T55" fmla="*/ 127 h 421"/>
                <a:gd name="T56" fmla="*/ 281 w 324"/>
                <a:gd name="T57" fmla="*/ 127 h 421"/>
                <a:gd name="T58" fmla="*/ 256 w 324"/>
                <a:gd name="T59" fmla="*/ 157 h 421"/>
                <a:gd name="T60" fmla="*/ 222 w 324"/>
                <a:gd name="T61" fmla="*/ 196 h 421"/>
                <a:gd name="T62" fmla="*/ 213 w 324"/>
                <a:gd name="T63" fmla="*/ 235 h 421"/>
                <a:gd name="T64" fmla="*/ 196 w 324"/>
                <a:gd name="T65" fmla="*/ 255 h 421"/>
                <a:gd name="T66" fmla="*/ 187 w 324"/>
                <a:gd name="T67" fmla="*/ 274 h 421"/>
                <a:gd name="T68" fmla="*/ 204 w 324"/>
                <a:gd name="T69" fmla="*/ 294 h 421"/>
                <a:gd name="T70" fmla="*/ 196 w 324"/>
                <a:gd name="T71" fmla="*/ 333 h 421"/>
                <a:gd name="T72" fmla="*/ 204 w 324"/>
                <a:gd name="T73" fmla="*/ 343 h 421"/>
                <a:gd name="T74" fmla="*/ 222 w 324"/>
                <a:gd name="T75" fmla="*/ 353 h 421"/>
                <a:gd name="T76" fmla="*/ 230 w 324"/>
                <a:gd name="T77" fmla="*/ 362 h 421"/>
                <a:gd name="T78" fmla="*/ 239 w 324"/>
                <a:gd name="T79" fmla="*/ 362 h 421"/>
                <a:gd name="T80" fmla="*/ 239 w 324"/>
                <a:gd name="T81" fmla="*/ 372 h 421"/>
                <a:gd name="T82" fmla="*/ 264 w 324"/>
                <a:gd name="T83" fmla="*/ 392 h 421"/>
                <a:gd name="T84" fmla="*/ 273 w 324"/>
                <a:gd name="T85" fmla="*/ 401 h 421"/>
                <a:gd name="T86" fmla="*/ 264 w 324"/>
                <a:gd name="T87" fmla="*/ 421 h 421"/>
                <a:gd name="T88" fmla="*/ 25 w 324"/>
                <a:gd name="T89" fmla="*/ 421 h 421"/>
                <a:gd name="T90" fmla="*/ 34 w 324"/>
                <a:gd name="T91" fmla="*/ 294 h 421"/>
                <a:gd name="T92" fmla="*/ 17 w 324"/>
                <a:gd name="T93" fmla="*/ 274 h 421"/>
                <a:gd name="T94" fmla="*/ 17 w 324"/>
                <a:gd name="T95" fmla="*/ 264 h 421"/>
                <a:gd name="T96" fmla="*/ 25 w 324"/>
                <a:gd name="T97" fmla="*/ 255 h 421"/>
                <a:gd name="T98" fmla="*/ 25 w 324"/>
                <a:gd name="T99" fmla="*/ 245 h 421"/>
                <a:gd name="T100" fmla="*/ 25 w 324"/>
                <a:gd name="T101" fmla="*/ 225 h 421"/>
                <a:gd name="T102" fmla="*/ 17 w 324"/>
                <a:gd name="T103" fmla="*/ 196 h 421"/>
                <a:gd name="T104" fmla="*/ 17 w 324"/>
                <a:gd name="T105" fmla="*/ 127 h 421"/>
                <a:gd name="T106" fmla="*/ 8 w 324"/>
                <a:gd name="T107" fmla="*/ 118 h 421"/>
                <a:gd name="T108" fmla="*/ 0 w 324"/>
                <a:gd name="T109" fmla="*/ 88 h 421"/>
                <a:gd name="T110" fmla="*/ 0 w 324"/>
                <a:gd name="T111" fmla="*/ 69 h 421"/>
                <a:gd name="T112" fmla="*/ 0 w 324"/>
                <a:gd name="T113" fmla="*/ 29 h 421"/>
                <a:gd name="T114" fmla="*/ 0 w 324"/>
                <a:gd name="T115" fmla="*/ 29 h 42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24"/>
                <a:gd name="T175" fmla="*/ 0 h 421"/>
                <a:gd name="T176" fmla="*/ 324 w 324"/>
                <a:gd name="T177" fmla="*/ 421 h 42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24" h="421">
                  <a:moveTo>
                    <a:pt x="0" y="29"/>
                  </a:moveTo>
                  <a:lnTo>
                    <a:pt x="85" y="29"/>
                  </a:lnTo>
                  <a:lnTo>
                    <a:pt x="94" y="20"/>
                  </a:lnTo>
                  <a:lnTo>
                    <a:pt x="94" y="0"/>
                  </a:lnTo>
                  <a:lnTo>
                    <a:pt x="102" y="0"/>
                  </a:lnTo>
                  <a:lnTo>
                    <a:pt x="111" y="10"/>
                  </a:lnTo>
                  <a:lnTo>
                    <a:pt x="111" y="39"/>
                  </a:lnTo>
                  <a:lnTo>
                    <a:pt x="119" y="49"/>
                  </a:lnTo>
                  <a:lnTo>
                    <a:pt x="145" y="59"/>
                  </a:lnTo>
                  <a:lnTo>
                    <a:pt x="153" y="59"/>
                  </a:lnTo>
                  <a:lnTo>
                    <a:pt x="162" y="59"/>
                  </a:lnTo>
                  <a:lnTo>
                    <a:pt x="170" y="59"/>
                  </a:lnTo>
                  <a:lnTo>
                    <a:pt x="187" y="59"/>
                  </a:lnTo>
                  <a:lnTo>
                    <a:pt x="196" y="59"/>
                  </a:lnTo>
                  <a:lnTo>
                    <a:pt x="204" y="78"/>
                  </a:lnTo>
                  <a:lnTo>
                    <a:pt x="213" y="78"/>
                  </a:lnTo>
                  <a:lnTo>
                    <a:pt x="222" y="78"/>
                  </a:lnTo>
                  <a:lnTo>
                    <a:pt x="230" y="88"/>
                  </a:lnTo>
                  <a:lnTo>
                    <a:pt x="247" y="98"/>
                  </a:lnTo>
                  <a:lnTo>
                    <a:pt x="256" y="98"/>
                  </a:lnTo>
                  <a:lnTo>
                    <a:pt x="273" y="78"/>
                  </a:lnTo>
                  <a:lnTo>
                    <a:pt x="281" y="88"/>
                  </a:lnTo>
                  <a:lnTo>
                    <a:pt x="307" y="88"/>
                  </a:lnTo>
                  <a:lnTo>
                    <a:pt x="324" y="98"/>
                  </a:lnTo>
                  <a:lnTo>
                    <a:pt x="324" y="108"/>
                  </a:lnTo>
                  <a:lnTo>
                    <a:pt x="315" y="108"/>
                  </a:lnTo>
                  <a:lnTo>
                    <a:pt x="298" y="118"/>
                  </a:lnTo>
                  <a:lnTo>
                    <a:pt x="290" y="127"/>
                  </a:lnTo>
                  <a:lnTo>
                    <a:pt x="281" y="127"/>
                  </a:lnTo>
                  <a:lnTo>
                    <a:pt x="256" y="157"/>
                  </a:lnTo>
                  <a:lnTo>
                    <a:pt x="222" y="196"/>
                  </a:lnTo>
                  <a:lnTo>
                    <a:pt x="213" y="235"/>
                  </a:lnTo>
                  <a:lnTo>
                    <a:pt x="196" y="255"/>
                  </a:lnTo>
                  <a:lnTo>
                    <a:pt x="187" y="274"/>
                  </a:lnTo>
                  <a:lnTo>
                    <a:pt x="204" y="294"/>
                  </a:lnTo>
                  <a:lnTo>
                    <a:pt x="196" y="333"/>
                  </a:lnTo>
                  <a:lnTo>
                    <a:pt x="204" y="343"/>
                  </a:lnTo>
                  <a:lnTo>
                    <a:pt x="222" y="353"/>
                  </a:lnTo>
                  <a:lnTo>
                    <a:pt x="230" y="362"/>
                  </a:lnTo>
                  <a:lnTo>
                    <a:pt x="239" y="362"/>
                  </a:lnTo>
                  <a:lnTo>
                    <a:pt x="239" y="372"/>
                  </a:lnTo>
                  <a:lnTo>
                    <a:pt x="264" y="392"/>
                  </a:lnTo>
                  <a:lnTo>
                    <a:pt x="273" y="401"/>
                  </a:lnTo>
                  <a:lnTo>
                    <a:pt x="264" y="421"/>
                  </a:lnTo>
                  <a:lnTo>
                    <a:pt x="25" y="421"/>
                  </a:lnTo>
                  <a:lnTo>
                    <a:pt x="34" y="294"/>
                  </a:lnTo>
                  <a:lnTo>
                    <a:pt x="17" y="274"/>
                  </a:lnTo>
                  <a:lnTo>
                    <a:pt x="17" y="264"/>
                  </a:lnTo>
                  <a:lnTo>
                    <a:pt x="25" y="255"/>
                  </a:lnTo>
                  <a:lnTo>
                    <a:pt x="25" y="245"/>
                  </a:lnTo>
                  <a:lnTo>
                    <a:pt x="25" y="225"/>
                  </a:lnTo>
                  <a:lnTo>
                    <a:pt x="17" y="196"/>
                  </a:lnTo>
                  <a:lnTo>
                    <a:pt x="17" y="127"/>
                  </a:lnTo>
                  <a:lnTo>
                    <a:pt x="8" y="118"/>
                  </a:lnTo>
                  <a:lnTo>
                    <a:pt x="0" y="88"/>
                  </a:lnTo>
                  <a:lnTo>
                    <a:pt x="0" y="6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4" name="Freeform 76"/>
            <p:cNvSpPr>
              <a:spLocks/>
            </p:cNvSpPr>
            <p:nvPr/>
          </p:nvSpPr>
          <p:spPr bwMode="auto">
            <a:xfrm>
              <a:off x="2901" y="2959"/>
              <a:ext cx="307" cy="235"/>
            </a:xfrm>
            <a:custGeom>
              <a:avLst/>
              <a:gdLst>
                <a:gd name="T0" fmla="*/ 42 w 307"/>
                <a:gd name="T1" fmla="*/ 215 h 235"/>
                <a:gd name="T2" fmla="*/ 230 w 307"/>
                <a:gd name="T3" fmla="*/ 215 h 235"/>
                <a:gd name="T4" fmla="*/ 247 w 307"/>
                <a:gd name="T5" fmla="*/ 235 h 235"/>
                <a:gd name="T6" fmla="*/ 256 w 307"/>
                <a:gd name="T7" fmla="*/ 215 h 235"/>
                <a:gd name="T8" fmla="*/ 264 w 307"/>
                <a:gd name="T9" fmla="*/ 196 h 235"/>
                <a:gd name="T10" fmla="*/ 273 w 307"/>
                <a:gd name="T11" fmla="*/ 176 h 235"/>
                <a:gd name="T12" fmla="*/ 264 w 307"/>
                <a:gd name="T13" fmla="*/ 166 h 235"/>
                <a:gd name="T14" fmla="*/ 273 w 307"/>
                <a:gd name="T15" fmla="*/ 157 h 235"/>
                <a:gd name="T16" fmla="*/ 298 w 307"/>
                <a:gd name="T17" fmla="*/ 147 h 235"/>
                <a:gd name="T18" fmla="*/ 307 w 307"/>
                <a:gd name="T19" fmla="*/ 127 h 235"/>
                <a:gd name="T20" fmla="*/ 307 w 307"/>
                <a:gd name="T21" fmla="*/ 98 h 235"/>
                <a:gd name="T22" fmla="*/ 290 w 307"/>
                <a:gd name="T23" fmla="*/ 88 h 235"/>
                <a:gd name="T24" fmla="*/ 281 w 307"/>
                <a:gd name="T25" fmla="*/ 69 h 235"/>
                <a:gd name="T26" fmla="*/ 264 w 307"/>
                <a:gd name="T27" fmla="*/ 59 h 235"/>
                <a:gd name="T28" fmla="*/ 256 w 307"/>
                <a:gd name="T29" fmla="*/ 29 h 235"/>
                <a:gd name="T30" fmla="*/ 256 w 307"/>
                <a:gd name="T31" fmla="*/ 10 h 235"/>
                <a:gd name="T32" fmla="*/ 247 w 307"/>
                <a:gd name="T33" fmla="*/ 0 h 235"/>
                <a:gd name="T34" fmla="*/ 8 w 307"/>
                <a:gd name="T35" fmla="*/ 0 h 235"/>
                <a:gd name="T36" fmla="*/ 8 w 307"/>
                <a:gd name="T37" fmla="*/ 10 h 235"/>
                <a:gd name="T38" fmla="*/ 8 w 307"/>
                <a:gd name="T39" fmla="*/ 29 h 235"/>
                <a:gd name="T40" fmla="*/ 8 w 307"/>
                <a:gd name="T41" fmla="*/ 39 h 235"/>
                <a:gd name="T42" fmla="*/ 0 w 307"/>
                <a:gd name="T43" fmla="*/ 59 h 235"/>
                <a:gd name="T44" fmla="*/ 8 w 307"/>
                <a:gd name="T45" fmla="*/ 78 h 235"/>
                <a:gd name="T46" fmla="*/ 8 w 307"/>
                <a:gd name="T47" fmla="*/ 88 h 235"/>
                <a:gd name="T48" fmla="*/ 17 w 307"/>
                <a:gd name="T49" fmla="*/ 98 h 235"/>
                <a:gd name="T50" fmla="*/ 8 w 307"/>
                <a:gd name="T51" fmla="*/ 108 h 235"/>
                <a:gd name="T52" fmla="*/ 17 w 307"/>
                <a:gd name="T53" fmla="*/ 118 h 235"/>
                <a:gd name="T54" fmla="*/ 34 w 307"/>
                <a:gd name="T55" fmla="*/ 147 h 235"/>
                <a:gd name="T56" fmla="*/ 34 w 307"/>
                <a:gd name="T57" fmla="*/ 166 h 235"/>
                <a:gd name="T58" fmla="*/ 34 w 307"/>
                <a:gd name="T59" fmla="*/ 186 h 235"/>
                <a:gd name="T60" fmla="*/ 34 w 307"/>
                <a:gd name="T61" fmla="*/ 186 h 235"/>
                <a:gd name="T62" fmla="*/ 42 w 307"/>
                <a:gd name="T63" fmla="*/ 196 h 235"/>
                <a:gd name="T64" fmla="*/ 42 w 307"/>
                <a:gd name="T65" fmla="*/ 215 h 23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07"/>
                <a:gd name="T100" fmla="*/ 0 h 235"/>
                <a:gd name="T101" fmla="*/ 307 w 307"/>
                <a:gd name="T102" fmla="*/ 235 h 23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07" h="235">
                  <a:moveTo>
                    <a:pt x="42" y="215"/>
                  </a:moveTo>
                  <a:lnTo>
                    <a:pt x="230" y="215"/>
                  </a:lnTo>
                  <a:lnTo>
                    <a:pt x="247" y="235"/>
                  </a:lnTo>
                  <a:lnTo>
                    <a:pt x="256" y="215"/>
                  </a:lnTo>
                  <a:lnTo>
                    <a:pt x="264" y="196"/>
                  </a:lnTo>
                  <a:lnTo>
                    <a:pt x="273" y="176"/>
                  </a:lnTo>
                  <a:lnTo>
                    <a:pt x="264" y="166"/>
                  </a:lnTo>
                  <a:lnTo>
                    <a:pt x="273" y="157"/>
                  </a:lnTo>
                  <a:lnTo>
                    <a:pt x="298" y="147"/>
                  </a:lnTo>
                  <a:lnTo>
                    <a:pt x="307" y="127"/>
                  </a:lnTo>
                  <a:lnTo>
                    <a:pt x="307" y="98"/>
                  </a:lnTo>
                  <a:lnTo>
                    <a:pt x="290" y="88"/>
                  </a:lnTo>
                  <a:lnTo>
                    <a:pt x="281" y="69"/>
                  </a:lnTo>
                  <a:lnTo>
                    <a:pt x="264" y="59"/>
                  </a:lnTo>
                  <a:lnTo>
                    <a:pt x="256" y="29"/>
                  </a:lnTo>
                  <a:lnTo>
                    <a:pt x="256" y="10"/>
                  </a:lnTo>
                  <a:lnTo>
                    <a:pt x="247" y="0"/>
                  </a:lnTo>
                  <a:lnTo>
                    <a:pt x="8" y="0"/>
                  </a:lnTo>
                  <a:lnTo>
                    <a:pt x="8" y="10"/>
                  </a:lnTo>
                  <a:lnTo>
                    <a:pt x="8" y="29"/>
                  </a:lnTo>
                  <a:lnTo>
                    <a:pt x="8" y="39"/>
                  </a:lnTo>
                  <a:lnTo>
                    <a:pt x="0" y="59"/>
                  </a:lnTo>
                  <a:lnTo>
                    <a:pt x="8" y="78"/>
                  </a:lnTo>
                  <a:lnTo>
                    <a:pt x="8" y="88"/>
                  </a:lnTo>
                  <a:lnTo>
                    <a:pt x="17" y="98"/>
                  </a:lnTo>
                  <a:lnTo>
                    <a:pt x="8" y="108"/>
                  </a:lnTo>
                  <a:lnTo>
                    <a:pt x="17" y="118"/>
                  </a:lnTo>
                  <a:lnTo>
                    <a:pt x="34" y="147"/>
                  </a:lnTo>
                  <a:lnTo>
                    <a:pt x="34" y="166"/>
                  </a:lnTo>
                  <a:lnTo>
                    <a:pt x="34" y="186"/>
                  </a:lnTo>
                  <a:lnTo>
                    <a:pt x="42" y="196"/>
                  </a:lnTo>
                  <a:lnTo>
                    <a:pt x="42" y="215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5" name="Freeform 77"/>
            <p:cNvSpPr>
              <a:spLocks/>
            </p:cNvSpPr>
            <p:nvPr/>
          </p:nvSpPr>
          <p:spPr bwMode="auto">
            <a:xfrm>
              <a:off x="2943" y="3174"/>
              <a:ext cx="333" cy="343"/>
            </a:xfrm>
            <a:custGeom>
              <a:avLst/>
              <a:gdLst>
                <a:gd name="T0" fmla="*/ 52 w 333"/>
                <a:gd name="T1" fmla="*/ 304 h 343"/>
                <a:gd name="T2" fmla="*/ 282 w 333"/>
                <a:gd name="T3" fmla="*/ 294 h 343"/>
                <a:gd name="T4" fmla="*/ 290 w 333"/>
                <a:gd name="T5" fmla="*/ 304 h 343"/>
                <a:gd name="T6" fmla="*/ 290 w 333"/>
                <a:gd name="T7" fmla="*/ 314 h 343"/>
                <a:gd name="T8" fmla="*/ 273 w 333"/>
                <a:gd name="T9" fmla="*/ 324 h 343"/>
                <a:gd name="T10" fmla="*/ 273 w 333"/>
                <a:gd name="T11" fmla="*/ 343 h 343"/>
                <a:gd name="T12" fmla="*/ 308 w 333"/>
                <a:gd name="T13" fmla="*/ 333 h 343"/>
                <a:gd name="T14" fmla="*/ 316 w 333"/>
                <a:gd name="T15" fmla="*/ 304 h 343"/>
                <a:gd name="T16" fmla="*/ 325 w 333"/>
                <a:gd name="T17" fmla="*/ 294 h 343"/>
                <a:gd name="T18" fmla="*/ 333 w 333"/>
                <a:gd name="T19" fmla="*/ 275 h 343"/>
                <a:gd name="T20" fmla="*/ 333 w 333"/>
                <a:gd name="T21" fmla="*/ 265 h 343"/>
                <a:gd name="T22" fmla="*/ 325 w 333"/>
                <a:gd name="T23" fmla="*/ 265 h 343"/>
                <a:gd name="T24" fmla="*/ 316 w 333"/>
                <a:gd name="T25" fmla="*/ 245 h 343"/>
                <a:gd name="T26" fmla="*/ 316 w 333"/>
                <a:gd name="T27" fmla="*/ 235 h 343"/>
                <a:gd name="T28" fmla="*/ 308 w 333"/>
                <a:gd name="T29" fmla="*/ 206 h 343"/>
                <a:gd name="T30" fmla="*/ 273 w 333"/>
                <a:gd name="T31" fmla="*/ 186 h 343"/>
                <a:gd name="T32" fmla="*/ 265 w 333"/>
                <a:gd name="T33" fmla="*/ 177 h 343"/>
                <a:gd name="T34" fmla="*/ 265 w 333"/>
                <a:gd name="T35" fmla="*/ 157 h 343"/>
                <a:gd name="T36" fmla="*/ 273 w 333"/>
                <a:gd name="T37" fmla="*/ 147 h 343"/>
                <a:gd name="T38" fmla="*/ 273 w 333"/>
                <a:gd name="T39" fmla="*/ 128 h 343"/>
                <a:gd name="T40" fmla="*/ 265 w 333"/>
                <a:gd name="T41" fmla="*/ 118 h 343"/>
                <a:gd name="T42" fmla="*/ 256 w 333"/>
                <a:gd name="T43" fmla="*/ 128 h 343"/>
                <a:gd name="T44" fmla="*/ 256 w 333"/>
                <a:gd name="T45" fmla="*/ 128 h 343"/>
                <a:gd name="T46" fmla="*/ 248 w 333"/>
                <a:gd name="T47" fmla="*/ 118 h 343"/>
                <a:gd name="T48" fmla="*/ 248 w 333"/>
                <a:gd name="T49" fmla="*/ 108 h 343"/>
                <a:gd name="T50" fmla="*/ 239 w 333"/>
                <a:gd name="T51" fmla="*/ 89 h 343"/>
                <a:gd name="T52" fmla="*/ 222 w 333"/>
                <a:gd name="T53" fmla="*/ 79 h 343"/>
                <a:gd name="T54" fmla="*/ 205 w 333"/>
                <a:gd name="T55" fmla="*/ 49 h 343"/>
                <a:gd name="T56" fmla="*/ 205 w 333"/>
                <a:gd name="T57" fmla="*/ 20 h 343"/>
                <a:gd name="T58" fmla="*/ 188 w 333"/>
                <a:gd name="T59" fmla="*/ 0 h 343"/>
                <a:gd name="T60" fmla="*/ 0 w 333"/>
                <a:gd name="T61" fmla="*/ 0 h 343"/>
                <a:gd name="T62" fmla="*/ 9 w 333"/>
                <a:gd name="T63" fmla="*/ 20 h 343"/>
                <a:gd name="T64" fmla="*/ 9 w 333"/>
                <a:gd name="T65" fmla="*/ 30 h 343"/>
                <a:gd name="T66" fmla="*/ 17 w 333"/>
                <a:gd name="T67" fmla="*/ 40 h 343"/>
                <a:gd name="T68" fmla="*/ 17 w 333"/>
                <a:gd name="T69" fmla="*/ 49 h 343"/>
                <a:gd name="T70" fmla="*/ 35 w 333"/>
                <a:gd name="T71" fmla="*/ 59 h 343"/>
                <a:gd name="T72" fmla="*/ 35 w 333"/>
                <a:gd name="T73" fmla="*/ 79 h 343"/>
                <a:gd name="T74" fmla="*/ 43 w 333"/>
                <a:gd name="T75" fmla="*/ 89 h 343"/>
                <a:gd name="T76" fmla="*/ 43 w 333"/>
                <a:gd name="T77" fmla="*/ 108 h 343"/>
                <a:gd name="T78" fmla="*/ 52 w 333"/>
                <a:gd name="T79" fmla="*/ 108 h 343"/>
                <a:gd name="T80" fmla="*/ 52 w 333"/>
                <a:gd name="T81" fmla="*/ 265 h 343"/>
                <a:gd name="T82" fmla="*/ 52 w 333"/>
                <a:gd name="T83" fmla="*/ 304 h 34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33"/>
                <a:gd name="T127" fmla="*/ 0 h 343"/>
                <a:gd name="T128" fmla="*/ 333 w 333"/>
                <a:gd name="T129" fmla="*/ 343 h 34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33" h="343">
                  <a:moveTo>
                    <a:pt x="52" y="304"/>
                  </a:moveTo>
                  <a:lnTo>
                    <a:pt x="282" y="294"/>
                  </a:lnTo>
                  <a:lnTo>
                    <a:pt x="290" y="304"/>
                  </a:lnTo>
                  <a:lnTo>
                    <a:pt x="290" y="314"/>
                  </a:lnTo>
                  <a:lnTo>
                    <a:pt x="273" y="324"/>
                  </a:lnTo>
                  <a:lnTo>
                    <a:pt x="273" y="343"/>
                  </a:lnTo>
                  <a:lnTo>
                    <a:pt x="308" y="333"/>
                  </a:lnTo>
                  <a:lnTo>
                    <a:pt x="316" y="304"/>
                  </a:lnTo>
                  <a:lnTo>
                    <a:pt x="325" y="294"/>
                  </a:lnTo>
                  <a:lnTo>
                    <a:pt x="333" y="275"/>
                  </a:lnTo>
                  <a:lnTo>
                    <a:pt x="333" y="265"/>
                  </a:lnTo>
                  <a:lnTo>
                    <a:pt x="325" y="265"/>
                  </a:lnTo>
                  <a:lnTo>
                    <a:pt x="316" y="245"/>
                  </a:lnTo>
                  <a:lnTo>
                    <a:pt x="316" y="235"/>
                  </a:lnTo>
                  <a:lnTo>
                    <a:pt x="308" y="206"/>
                  </a:lnTo>
                  <a:lnTo>
                    <a:pt x="273" y="186"/>
                  </a:lnTo>
                  <a:lnTo>
                    <a:pt x="265" y="177"/>
                  </a:lnTo>
                  <a:lnTo>
                    <a:pt x="265" y="157"/>
                  </a:lnTo>
                  <a:lnTo>
                    <a:pt x="273" y="147"/>
                  </a:lnTo>
                  <a:lnTo>
                    <a:pt x="273" y="128"/>
                  </a:lnTo>
                  <a:lnTo>
                    <a:pt x="265" y="118"/>
                  </a:lnTo>
                  <a:lnTo>
                    <a:pt x="256" y="128"/>
                  </a:lnTo>
                  <a:lnTo>
                    <a:pt x="248" y="118"/>
                  </a:lnTo>
                  <a:lnTo>
                    <a:pt x="248" y="108"/>
                  </a:lnTo>
                  <a:lnTo>
                    <a:pt x="239" y="89"/>
                  </a:lnTo>
                  <a:lnTo>
                    <a:pt x="222" y="79"/>
                  </a:lnTo>
                  <a:lnTo>
                    <a:pt x="205" y="49"/>
                  </a:lnTo>
                  <a:lnTo>
                    <a:pt x="205" y="20"/>
                  </a:lnTo>
                  <a:lnTo>
                    <a:pt x="188" y="0"/>
                  </a:lnTo>
                  <a:lnTo>
                    <a:pt x="0" y="0"/>
                  </a:lnTo>
                  <a:lnTo>
                    <a:pt x="9" y="20"/>
                  </a:lnTo>
                  <a:lnTo>
                    <a:pt x="9" y="30"/>
                  </a:lnTo>
                  <a:lnTo>
                    <a:pt x="17" y="40"/>
                  </a:lnTo>
                  <a:lnTo>
                    <a:pt x="17" y="49"/>
                  </a:lnTo>
                  <a:lnTo>
                    <a:pt x="35" y="59"/>
                  </a:lnTo>
                  <a:lnTo>
                    <a:pt x="35" y="79"/>
                  </a:lnTo>
                  <a:lnTo>
                    <a:pt x="43" y="89"/>
                  </a:lnTo>
                  <a:lnTo>
                    <a:pt x="43" y="108"/>
                  </a:lnTo>
                  <a:lnTo>
                    <a:pt x="52" y="108"/>
                  </a:lnTo>
                  <a:lnTo>
                    <a:pt x="52" y="265"/>
                  </a:lnTo>
                  <a:lnTo>
                    <a:pt x="52" y="304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6" name="Freeform 78"/>
            <p:cNvSpPr>
              <a:spLocks/>
            </p:cNvSpPr>
            <p:nvPr/>
          </p:nvSpPr>
          <p:spPr bwMode="auto">
            <a:xfrm>
              <a:off x="2995" y="3468"/>
              <a:ext cx="256" cy="265"/>
            </a:xfrm>
            <a:custGeom>
              <a:avLst/>
              <a:gdLst>
                <a:gd name="T0" fmla="*/ 34 w 256"/>
                <a:gd name="T1" fmla="*/ 265 h 265"/>
                <a:gd name="T2" fmla="*/ 34 w 256"/>
                <a:gd name="T3" fmla="*/ 225 h 265"/>
                <a:gd name="T4" fmla="*/ 17 w 256"/>
                <a:gd name="T5" fmla="*/ 225 h 265"/>
                <a:gd name="T6" fmla="*/ 8 w 256"/>
                <a:gd name="T7" fmla="*/ 216 h 265"/>
                <a:gd name="T8" fmla="*/ 8 w 256"/>
                <a:gd name="T9" fmla="*/ 186 h 265"/>
                <a:gd name="T10" fmla="*/ 8 w 256"/>
                <a:gd name="T11" fmla="*/ 69 h 265"/>
                <a:gd name="T12" fmla="*/ 0 w 256"/>
                <a:gd name="T13" fmla="*/ 10 h 265"/>
                <a:gd name="T14" fmla="*/ 230 w 256"/>
                <a:gd name="T15" fmla="*/ 0 h 265"/>
                <a:gd name="T16" fmla="*/ 238 w 256"/>
                <a:gd name="T17" fmla="*/ 10 h 265"/>
                <a:gd name="T18" fmla="*/ 238 w 256"/>
                <a:gd name="T19" fmla="*/ 20 h 265"/>
                <a:gd name="T20" fmla="*/ 221 w 256"/>
                <a:gd name="T21" fmla="*/ 30 h 265"/>
                <a:gd name="T22" fmla="*/ 221 w 256"/>
                <a:gd name="T23" fmla="*/ 49 h 265"/>
                <a:gd name="T24" fmla="*/ 256 w 256"/>
                <a:gd name="T25" fmla="*/ 39 h 265"/>
                <a:gd name="T26" fmla="*/ 256 w 256"/>
                <a:gd name="T27" fmla="*/ 49 h 265"/>
                <a:gd name="T28" fmla="*/ 247 w 256"/>
                <a:gd name="T29" fmla="*/ 59 h 265"/>
                <a:gd name="T30" fmla="*/ 247 w 256"/>
                <a:gd name="T31" fmla="*/ 79 h 265"/>
                <a:gd name="T32" fmla="*/ 238 w 256"/>
                <a:gd name="T33" fmla="*/ 88 h 265"/>
                <a:gd name="T34" fmla="*/ 238 w 256"/>
                <a:gd name="T35" fmla="*/ 118 h 265"/>
                <a:gd name="T36" fmla="*/ 213 w 256"/>
                <a:gd name="T37" fmla="*/ 137 h 265"/>
                <a:gd name="T38" fmla="*/ 213 w 256"/>
                <a:gd name="T39" fmla="*/ 157 h 265"/>
                <a:gd name="T40" fmla="*/ 204 w 256"/>
                <a:gd name="T41" fmla="*/ 167 h 265"/>
                <a:gd name="T42" fmla="*/ 187 w 256"/>
                <a:gd name="T43" fmla="*/ 176 h 265"/>
                <a:gd name="T44" fmla="*/ 187 w 256"/>
                <a:gd name="T45" fmla="*/ 206 h 265"/>
                <a:gd name="T46" fmla="*/ 179 w 256"/>
                <a:gd name="T47" fmla="*/ 216 h 265"/>
                <a:gd name="T48" fmla="*/ 179 w 256"/>
                <a:gd name="T49" fmla="*/ 225 h 265"/>
                <a:gd name="T50" fmla="*/ 187 w 256"/>
                <a:gd name="T51" fmla="*/ 245 h 265"/>
                <a:gd name="T52" fmla="*/ 187 w 256"/>
                <a:gd name="T53" fmla="*/ 255 h 265"/>
                <a:gd name="T54" fmla="*/ 179 w 256"/>
                <a:gd name="T55" fmla="*/ 265 h 265"/>
                <a:gd name="T56" fmla="*/ 34 w 256"/>
                <a:gd name="T57" fmla="*/ 265 h 2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56"/>
                <a:gd name="T88" fmla="*/ 0 h 265"/>
                <a:gd name="T89" fmla="*/ 256 w 256"/>
                <a:gd name="T90" fmla="*/ 265 h 265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56" h="265">
                  <a:moveTo>
                    <a:pt x="34" y="265"/>
                  </a:moveTo>
                  <a:lnTo>
                    <a:pt x="34" y="225"/>
                  </a:lnTo>
                  <a:lnTo>
                    <a:pt x="17" y="225"/>
                  </a:lnTo>
                  <a:lnTo>
                    <a:pt x="8" y="216"/>
                  </a:lnTo>
                  <a:lnTo>
                    <a:pt x="8" y="186"/>
                  </a:lnTo>
                  <a:lnTo>
                    <a:pt x="8" y="69"/>
                  </a:lnTo>
                  <a:lnTo>
                    <a:pt x="0" y="10"/>
                  </a:lnTo>
                  <a:lnTo>
                    <a:pt x="230" y="0"/>
                  </a:lnTo>
                  <a:lnTo>
                    <a:pt x="238" y="10"/>
                  </a:lnTo>
                  <a:lnTo>
                    <a:pt x="238" y="20"/>
                  </a:lnTo>
                  <a:lnTo>
                    <a:pt x="221" y="30"/>
                  </a:lnTo>
                  <a:lnTo>
                    <a:pt x="221" y="49"/>
                  </a:lnTo>
                  <a:lnTo>
                    <a:pt x="256" y="39"/>
                  </a:lnTo>
                  <a:lnTo>
                    <a:pt x="256" y="49"/>
                  </a:lnTo>
                  <a:lnTo>
                    <a:pt x="247" y="59"/>
                  </a:lnTo>
                  <a:lnTo>
                    <a:pt x="247" y="79"/>
                  </a:lnTo>
                  <a:lnTo>
                    <a:pt x="238" y="88"/>
                  </a:lnTo>
                  <a:lnTo>
                    <a:pt x="238" y="118"/>
                  </a:lnTo>
                  <a:lnTo>
                    <a:pt x="213" y="137"/>
                  </a:lnTo>
                  <a:lnTo>
                    <a:pt x="213" y="157"/>
                  </a:lnTo>
                  <a:lnTo>
                    <a:pt x="204" y="167"/>
                  </a:lnTo>
                  <a:lnTo>
                    <a:pt x="187" y="176"/>
                  </a:lnTo>
                  <a:lnTo>
                    <a:pt x="187" y="206"/>
                  </a:lnTo>
                  <a:lnTo>
                    <a:pt x="179" y="216"/>
                  </a:lnTo>
                  <a:lnTo>
                    <a:pt x="179" y="225"/>
                  </a:lnTo>
                  <a:lnTo>
                    <a:pt x="187" y="245"/>
                  </a:lnTo>
                  <a:lnTo>
                    <a:pt x="187" y="255"/>
                  </a:lnTo>
                  <a:lnTo>
                    <a:pt x="179" y="265"/>
                  </a:lnTo>
                  <a:lnTo>
                    <a:pt x="34" y="265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7" name="Freeform 79"/>
            <p:cNvSpPr>
              <a:spLocks/>
            </p:cNvSpPr>
            <p:nvPr/>
          </p:nvSpPr>
          <p:spPr bwMode="auto">
            <a:xfrm>
              <a:off x="3029" y="3733"/>
              <a:ext cx="281" cy="283"/>
            </a:xfrm>
            <a:custGeom>
              <a:avLst/>
              <a:gdLst>
                <a:gd name="T0" fmla="*/ 34 w 281"/>
                <a:gd name="T1" fmla="*/ 235 h 283"/>
                <a:gd name="T2" fmla="*/ 68 w 281"/>
                <a:gd name="T3" fmla="*/ 244 h 283"/>
                <a:gd name="T4" fmla="*/ 102 w 281"/>
                <a:gd name="T5" fmla="*/ 244 h 283"/>
                <a:gd name="T6" fmla="*/ 119 w 281"/>
                <a:gd name="T7" fmla="*/ 235 h 283"/>
                <a:gd name="T8" fmla="*/ 145 w 281"/>
                <a:gd name="T9" fmla="*/ 254 h 283"/>
                <a:gd name="T10" fmla="*/ 170 w 281"/>
                <a:gd name="T11" fmla="*/ 274 h 283"/>
                <a:gd name="T12" fmla="*/ 196 w 281"/>
                <a:gd name="T13" fmla="*/ 264 h 283"/>
                <a:gd name="T14" fmla="*/ 222 w 281"/>
                <a:gd name="T15" fmla="*/ 274 h 283"/>
                <a:gd name="T16" fmla="*/ 222 w 281"/>
                <a:gd name="T17" fmla="*/ 254 h 283"/>
                <a:gd name="T18" fmla="*/ 239 w 281"/>
                <a:gd name="T19" fmla="*/ 264 h 283"/>
                <a:gd name="T20" fmla="*/ 264 w 281"/>
                <a:gd name="T21" fmla="*/ 283 h 283"/>
                <a:gd name="T22" fmla="*/ 281 w 281"/>
                <a:gd name="T23" fmla="*/ 264 h 283"/>
                <a:gd name="T24" fmla="*/ 247 w 281"/>
                <a:gd name="T25" fmla="*/ 244 h 283"/>
                <a:gd name="T26" fmla="*/ 273 w 281"/>
                <a:gd name="T27" fmla="*/ 215 h 283"/>
                <a:gd name="T28" fmla="*/ 247 w 281"/>
                <a:gd name="T29" fmla="*/ 205 h 283"/>
                <a:gd name="T30" fmla="*/ 239 w 281"/>
                <a:gd name="T31" fmla="*/ 215 h 283"/>
                <a:gd name="T32" fmla="*/ 239 w 281"/>
                <a:gd name="T33" fmla="*/ 205 h 283"/>
                <a:gd name="T34" fmla="*/ 222 w 281"/>
                <a:gd name="T35" fmla="*/ 205 h 283"/>
                <a:gd name="T36" fmla="*/ 204 w 281"/>
                <a:gd name="T37" fmla="*/ 195 h 283"/>
                <a:gd name="T38" fmla="*/ 213 w 281"/>
                <a:gd name="T39" fmla="*/ 186 h 283"/>
                <a:gd name="T40" fmla="*/ 230 w 281"/>
                <a:gd name="T41" fmla="*/ 195 h 283"/>
                <a:gd name="T42" fmla="*/ 239 w 281"/>
                <a:gd name="T43" fmla="*/ 195 h 283"/>
                <a:gd name="T44" fmla="*/ 230 w 281"/>
                <a:gd name="T45" fmla="*/ 176 h 283"/>
                <a:gd name="T46" fmla="*/ 136 w 281"/>
                <a:gd name="T47" fmla="*/ 146 h 283"/>
                <a:gd name="T48" fmla="*/ 145 w 281"/>
                <a:gd name="T49" fmla="*/ 97 h 283"/>
                <a:gd name="T50" fmla="*/ 153 w 281"/>
                <a:gd name="T51" fmla="*/ 58 h 283"/>
                <a:gd name="T52" fmla="*/ 162 w 281"/>
                <a:gd name="T53" fmla="*/ 39 h 283"/>
                <a:gd name="T54" fmla="*/ 153 w 281"/>
                <a:gd name="T55" fmla="*/ 19 h 283"/>
                <a:gd name="T56" fmla="*/ 145 w 281"/>
                <a:gd name="T57" fmla="*/ 0 h 283"/>
                <a:gd name="T58" fmla="*/ 0 w 281"/>
                <a:gd name="T59" fmla="*/ 78 h 283"/>
                <a:gd name="T60" fmla="*/ 8 w 281"/>
                <a:gd name="T61" fmla="*/ 107 h 283"/>
                <a:gd name="T62" fmla="*/ 25 w 281"/>
                <a:gd name="T63" fmla="*/ 166 h 283"/>
                <a:gd name="T64" fmla="*/ 17 w 281"/>
                <a:gd name="T65" fmla="*/ 195 h 283"/>
                <a:gd name="T66" fmla="*/ 8 w 281"/>
                <a:gd name="T67" fmla="*/ 225 h 28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81"/>
                <a:gd name="T103" fmla="*/ 0 h 283"/>
                <a:gd name="T104" fmla="*/ 281 w 281"/>
                <a:gd name="T105" fmla="*/ 283 h 28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81" h="283">
                  <a:moveTo>
                    <a:pt x="8" y="244"/>
                  </a:moveTo>
                  <a:lnTo>
                    <a:pt x="34" y="235"/>
                  </a:lnTo>
                  <a:lnTo>
                    <a:pt x="51" y="235"/>
                  </a:lnTo>
                  <a:lnTo>
                    <a:pt x="68" y="244"/>
                  </a:lnTo>
                  <a:lnTo>
                    <a:pt x="85" y="244"/>
                  </a:lnTo>
                  <a:lnTo>
                    <a:pt x="102" y="244"/>
                  </a:lnTo>
                  <a:lnTo>
                    <a:pt x="111" y="235"/>
                  </a:lnTo>
                  <a:lnTo>
                    <a:pt x="119" y="235"/>
                  </a:lnTo>
                  <a:lnTo>
                    <a:pt x="136" y="235"/>
                  </a:lnTo>
                  <a:lnTo>
                    <a:pt x="145" y="254"/>
                  </a:lnTo>
                  <a:lnTo>
                    <a:pt x="153" y="254"/>
                  </a:lnTo>
                  <a:lnTo>
                    <a:pt x="170" y="274"/>
                  </a:lnTo>
                  <a:lnTo>
                    <a:pt x="187" y="274"/>
                  </a:lnTo>
                  <a:lnTo>
                    <a:pt x="196" y="264"/>
                  </a:lnTo>
                  <a:lnTo>
                    <a:pt x="213" y="274"/>
                  </a:lnTo>
                  <a:lnTo>
                    <a:pt x="222" y="274"/>
                  </a:lnTo>
                  <a:lnTo>
                    <a:pt x="222" y="264"/>
                  </a:lnTo>
                  <a:lnTo>
                    <a:pt x="222" y="254"/>
                  </a:lnTo>
                  <a:lnTo>
                    <a:pt x="230" y="244"/>
                  </a:lnTo>
                  <a:lnTo>
                    <a:pt x="239" y="264"/>
                  </a:lnTo>
                  <a:lnTo>
                    <a:pt x="256" y="274"/>
                  </a:lnTo>
                  <a:lnTo>
                    <a:pt x="264" y="283"/>
                  </a:lnTo>
                  <a:lnTo>
                    <a:pt x="281" y="274"/>
                  </a:lnTo>
                  <a:lnTo>
                    <a:pt x="281" y="264"/>
                  </a:lnTo>
                  <a:lnTo>
                    <a:pt x="247" y="254"/>
                  </a:lnTo>
                  <a:lnTo>
                    <a:pt x="247" y="244"/>
                  </a:lnTo>
                  <a:lnTo>
                    <a:pt x="256" y="235"/>
                  </a:lnTo>
                  <a:lnTo>
                    <a:pt x="273" y="215"/>
                  </a:lnTo>
                  <a:lnTo>
                    <a:pt x="273" y="205"/>
                  </a:lnTo>
                  <a:lnTo>
                    <a:pt x="247" y="205"/>
                  </a:lnTo>
                  <a:lnTo>
                    <a:pt x="247" y="225"/>
                  </a:lnTo>
                  <a:lnTo>
                    <a:pt x="239" y="215"/>
                  </a:lnTo>
                  <a:lnTo>
                    <a:pt x="239" y="205"/>
                  </a:lnTo>
                  <a:lnTo>
                    <a:pt x="230" y="205"/>
                  </a:lnTo>
                  <a:lnTo>
                    <a:pt x="222" y="205"/>
                  </a:lnTo>
                  <a:lnTo>
                    <a:pt x="204" y="205"/>
                  </a:lnTo>
                  <a:lnTo>
                    <a:pt x="204" y="195"/>
                  </a:lnTo>
                  <a:lnTo>
                    <a:pt x="213" y="186"/>
                  </a:lnTo>
                  <a:lnTo>
                    <a:pt x="222" y="195"/>
                  </a:lnTo>
                  <a:lnTo>
                    <a:pt x="230" y="195"/>
                  </a:lnTo>
                  <a:lnTo>
                    <a:pt x="239" y="195"/>
                  </a:lnTo>
                  <a:lnTo>
                    <a:pt x="247" y="186"/>
                  </a:lnTo>
                  <a:lnTo>
                    <a:pt x="230" y="176"/>
                  </a:lnTo>
                  <a:lnTo>
                    <a:pt x="230" y="146"/>
                  </a:lnTo>
                  <a:lnTo>
                    <a:pt x="136" y="146"/>
                  </a:lnTo>
                  <a:lnTo>
                    <a:pt x="136" y="127"/>
                  </a:lnTo>
                  <a:lnTo>
                    <a:pt x="145" y="97"/>
                  </a:lnTo>
                  <a:lnTo>
                    <a:pt x="153" y="78"/>
                  </a:lnTo>
                  <a:lnTo>
                    <a:pt x="153" y="58"/>
                  </a:lnTo>
                  <a:lnTo>
                    <a:pt x="162" y="48"/>
                  </a:lnTo>
                  <a:lnTo>
                    <a:pt x="162" y="39"/>
                  </a:lnTo>
                  <a:lnTo>
                    <a:pt x="153" y="29"/>
                  </a:lnTo>
                  <a:lnTo>
                    <a:pt x="153" y="19"/>
                  </a:lnTo>
                  <a:lnTo>
                    <a:pt x="145" y="9"/>
                  </a:lnTo>
                  <a:lnTo>
                    <a:pt x="145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8" y="88"/>
                  </a:lnTo>
                  <a:lnTo>
                    <a:pt x="8" y="107"/>
                  </a:lnTo>
                  <a:lnTo>
                    <a:pt x="25" y="137"/>
                  </a:lnTo>
                  <a:lnTo>
                    <a:pt x="25" y="166"/>
                  </a:lnTo>
                  <a:lnTo>
                    <a:pt x="17" y="176"/>
                  </a:lnTo>
                  <a:lnTo>
                    <a:pt x="17" y="195"/>
                  </a:lnTo>
                  <a:lnTo>
                    <a:pt x="17" y="215"/>
                  </a:lnTo>
                  <a:lnTo>
                    <a:pt x="8" y="225"/>
                  </a:lnTo>
                  <a:lnTo>
                    <a:pt x="8" y="244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8" name="Freeform 80"/>
            <p:cNvSpPr>
              <a:spLocks/>
            </p:cNvSpPr>
            <p:nvPr/>
          </p:nvSpPr>
          <p:spPr bwMode="auto">
            <a:xfrm>
              <a:off x="3165" y="3576"/>
              <a:ext cx="179" cy="352"/>
            </a:xfrm>
            <a:custGeom>
              <a:avLst/>
              <a:gdLst>
                <a:gd name="T0" fmla="*/ 171 w 179"/>
                <a:gd name="T1" fmla="*/ 0 h 352"/>
                <a:gd name="T2" fmla="*/ 171 w 179"/>
                <a:gd name="T3" fmla="*/ 59 h 352"/>
                <a:gd name="T4" fmla="*/ 162 w 179"/>
                <a:gd name="T5" fmla="*/ 225 h 352"/>
                <a:gd name="T6" fmla="*/ 179 w 179"/>
                <a:gd name="T7" fmla="*/ 333 h 352"/>
                <a:gd name="T8" fmla="*/ 171 w 179"/>
                <a:gd name="T9" fmla="*/ 343 h 352"/>
                <a:gd name="T10" fmla="*/ 154 w 179"/>
                <a:gd name="T11" fmla="*/ 343 h 352"/>
                <a:gd name="T12" fmla="*/ 137 w 179"/>
                <a:gd name="T13" fmla="*/ 343 h 352"/>
                <a:gd name="T14" fmla="*/ 120 w 179"/>
                <a:gd name="T15" fmla="*/ 352 h 352"/>
                <a:gd name="T16" fmla="*/ 111 w 179"/>
                <a:gd name="T17" fmla="*/ 352 h 352"/>
                <a:gd name="T18" fmla="*/ 103 w 179"/>
                <a:gd name="T19" fmla="*/ 352 h 352"/>
                <a:gd name="T20" fmla="*/ 103 w 179"/>
                <a:gd name="T21" fmla="*/ 352 h 352"/>
                <a:gd name="T22" fmla="*/ 111 w 179"/>
                <a:gd name="T23" fmla="*/ 343 h 352"/>
                <a:gd name="T24" fmla="*/ 94 w 179"/>
                <a:gd name="T25" fmla="*/ 333 h 352"/>
                <a:gd name="T26" fmla="*/ 94 w 179"/>
                <a:gd name="T27" fmla="*/ 303 h 352"/>
                <a:gd name="T28" fmla="*/ 0 w 179"/>
                <a:gd name="T29" fmla="*/ 303 h 352"/>
                <a:gd name="T30" fmla="*/ 0 w 179"/>
                <a:gd name="T31" fmla="*/ 284 h 352"/>
                <a:gd name="T32" fmla="*/ 9 w 179"/>
                <a:gd name="T33" fmla="*/ 254 h 352"/>
                <a:gd name="T34" fmla="*/ 17 w 179"/>
                <a:gd name="T35" fmla="*/ 235 h 352"/>
                <a:gd name="T36" fmla="*/ 17 w 179"/>
                <a:gd name="T37" fmla="*/ 215 h 352"/>
                <a:gd name="T38" fmla="*/ 26 w 179"/>
                <a:gd name="T39" fmla="*/ 205 h 352"/>
                <a:gd name="T40" fmla="*/ 26 w 179"/>
                <a:gd name="T41" fmla="*/ 196 h 352"/>
                <a:gd name="T42" fmla="*/ 17 w 179"/>
                <a:gd name="T43" fmla="*/ 186 h 352"/>
                <a:gd name="T44" fmla="*/ 17 w 179"/>
                <a:gd name="T45" fmla="*/ 176 h 352"/>
                <a:gd name="T46" fmla="*/ 9 w 179"/>
                <a:gd name="T47" fmla="*/ 157 h 352"/>
                <a:gd name="T48" fmla="*/ 17 w 179"/>
                <a:gd name="T49" fmla="*/ 147 h 352"/>
                <a:gd name="T50" fmla="*/ 17 w 179"/>
                <a:gd name="T51" fmla="*/ 137 h 352"/>
                <a:gd name="T52" fmla="*/ 9 w 179"/>
                <a:gd name="T53" fmla="*/ 117 h 352"/>
                <a:gd name="T54" fmla="*/ 9 w 179"/>
                <a:gd name="T55" fmla="*/ 108 h 352"/>
                <a:gd name="T56" fmla="*/ 17 w 179"/>
                <a:gd name="T57" fmla="*/ 98 h 352"/>
                <a:gd name="T58" fmla="*/ 17 w 179"/>
                <a:gd name="T59" fmla="*/ 68 h 352"/>
                <a:gd name="T60" fmla="*/ 34 w 179"/>
                <a:gd name="T61" fmla="*/ 59 h 352"/>
                <a:gd name="T62" fmla="*/ 43 w 179"/>
                <a:gd name="T63" fmla="*/ 49 h 352"/>
                <a:gd name="T64" fmla="*/ 43 w 179"/>
                <a:gd name="T65" fmla="*/ 29 h 352"/>
                <a:gd name="T66" fmla="*/ 68 w 179"/>
                <a:gd name="T67" fmla="*/ 10 h 352"/>
                <a:gd name="T68" fmla="*/ 171 w 179"/>
                <a:gd name="T69" fmla="*/ 0 h 3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79"/>
                <a:gd name="T106" fmla="*/ 0 h 352"/>
                <a:gd name="T107" fmla="*/ 179 w 179"/>
                <a:gd name="T108" fmla="*/ 352 h 352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79" h="352">
                  <a:moveTo>
                    <a:pt x="171" y="0"/>
                  </a:moveTo>
                  <a:lnTo>
                    <a:pt x="171" y="59"/>
                  </a:lnTo>
                  <a:lnTo>
                    <a:pt x="162" y="225"/>
                  </a:lnTo>
                  <a:lnTo>
                    <a:pt x="179" y="333"/>
                  </a:lnTo>
                  <a:lnTo>
                    <a:pt x="171" y="343"/>
                  </a:lnTo>
                  <a:lnTo>
                    <a:pt x="154" y="343"/>
                  </a:lnTo>
                  <a:lnTo>
                    <a:pt x="137" y="343"/>
                  </a:lnTo>
                  <a:lnTo>
                    <a:pt x="120" y="352"/>
                  </a:lnTo>
                  <a:lnTo>
                    <a:pt x="111" y="352"/>
                  </a:lnTo>
                  <a:lnTo>
                    <a:pt x="103" y="352"/>
                  </a:lnTo>
                  <a:lnTo>
                    <a:pt x="111" y="343"/>
                  </a:lnTo>
                  <a:lnTo>
                    <a:pt x="94" y="333"/>
                  </a:lnTo>
                  <a:lnTo>
                    <a:pt x="94" y="303"/>
                  </a:lnTo>
                  <a:lnTo>
                    <a:pt x="0" y="303"/>
                  </a:lnTo>
                  <a:lnTo>
                    <a:pt x="0" y="284"/>
                  </a:lnTo>
                  <a:lnTo>
                    <a:pt x="9" y="254"/>
                  </a:lnTo>
                  <a:lnTo>
                    <a:pt x="17" y="235"/>
                  </a:lnTo>
                  <a:lnTo>
                    <a:pt x="17" y="215"/>
                  </a:lnTo>
                  <a:lnTo>
                    <a:pt x="26" y="205"/>
                  </a:lnTo>
                  <a:lnTo>
                    <a:pt x="26" y="196"/>
                  </a:lnTo>
                  <a:lnTo>
                    <a:pt x="17" y="186"/>
                  </a:lnTo>
                  <a:lnTo>
                    <a:pt x="17" y="176"/>
                  </a:lnTo>
                  <a:lnTo>
                    <a:pt x="9" y="157"/>
                  </a:lnTo>
                  <a:lnTo>
                    <a:pt x="17" y="147"/>
                  </a:lnTo>
                  <a:lnTo>
                    <a:pt x="17" y="137"/>
                  </a:lnTo>
                  <a:lnTo>
                    <a:pt x="9" y="117"/>
                  </a:lnTo>
                  <a:lnTo>
                    <a:pt x="9" y="108"/>
                  </a:lnTo>
                  <a:lnTo>
                    <a:pt x="17" y="98"/>
                  </a:lnTo>
                  <a:lnTo>
                    <a:pt x="17" y="68"/>
                  </a:lnTo>
                  <a:lnTo>
                    <a:pt x="34" y="59"/>
                  </a:lnTo>
                  <a:lnTo>
                    <a:pt x="43" y="49"/>
                  </a:lnTo>
                  <a:lnTo>
                    <a:pt x="43" y="29"/>
                  </a:lnTo>
                  <a:lnTo>
                    <a:pt x="68" y="10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99" name="Freeform 81"/>
            <p:cNvSpPr>
              <a:spLocks/>
            </p:cNvSpPr>
            <p:nvPr/>
          </p:nvSpPr>
          <p:spPr bwMode="auto">
            <a:xfrm>
              <a:off x="3327" y="3566"/>
              <a:ext cx="197" cy="353"/>
            </a:xfrm>
            <a:custGeom>
              <a:avLst/>
              <a:gdLst>
                <a:gd name="T0" fmla="*/ 9 w 197"/>
                <a:gd name="T1" fmla="*/ 10 h 353"/>
                <a:gd name="T2" fmla="*/ 137 w 197"/>
                <a:gd name="T3" fmla="*/ 0 h 353"/>
                <a:gd name="T4" fmla="*/ 154 w 197"/>
                <a:gd name="T5" fmla="*/ 69 h 353"/>
                <a:gd name="T6" fmla="*/ 171 w 197"/>
                <a:gd name="T7" fmla="*/ 147 h 353"/>
                <a:gd name="T8" fmla="*/ 179 w 197"/>
                <a:gd name="T9" fmla="*/ 167 h 353"/>
                <a:gd name="T10" fmla="*/ 179 w 197"/>
                <a:gd name="T11" fmla="*/ 176 h 353"/>
                <a:gd name="T12" fmla="*/ 188 w 197"/>
                <a:gd name="T13" fmla="*/ 176 h 353"/>
                <a:gd name="T14" fmla="*/ 197 w 197"/>
                <a:gd name="T15" fmla="*/ 196 h 353"/>
                <a:gd name="T16" fmla="*/ 188 w 197"/>
                <a:gd name="T17" fmla="*/ 206 h 353"/>
                <a:gd name="T18" fmla="*/ 188 w 197"/>
                <a:gd name="T19" fmla="*/ 225 h 353"/>
                <a:gd name="T20" fmla="*/ 188 w 197"/>
                <a:gd name="T21" fmla="*/ 245 h 353"/>
                <a:gd name="T22" fmla="*/ 197 w 197"/>
                <a:gd name="T23" fmla="*/ 274 h 353"/>
                <a:gd name="T24" fmla="*/ 197 w 197"/>
                <a:gd name="T25" fmla="*/ 284 h 353"/>
                <a:gd name="T26" fmla="*/ 77 w 197"/>
                <a:gd name="T27" fmla="*/ 294 h 353"/>
                <a:gd name="T28" fmla="*/ 60 w 197"/>
                <a:gd name="T29" fmla="*/ 294 h 353"/>
                <a:gd name="T30" fmla="*/ 52 w 197"/>
                <a:gd name="T31" fmla="*/ 304 h 353"/>
                <a:gd name="T32" fmla="*/ 60 w 197"/>
                <a:gd name="T33" fmla="*/ 323 h 353"/>
                <a:gd name="T34" fmla="*/ 69 w 197"/>
                <a:gd name="T35" fmla="*/ 323 h 353"/>
                <a:gd name="T36" fmla="*/ 69 w 197"/>
                <a:gd name="T37" fmla="*/ 353 h 353"/>
                <a:gd name="T38" fmla="*/ 52 w 197"/>
                <a:gd name="T39" fmla="*/ 353 h 353"/>
                <a:gd name="T40" fmla="*/ 43 w 197"/>
                <a:gd name="T41" fmla="*/ 343 h 353"/>
                <a:gd name="T42" fmla="*/ 34 w 197"/>
                <a:gd name="T43" fmla="*/ 323 h 353"/>
                <a:gd name="T44" fmla="*/ 26 w 197"/>
                <a:gd name="T45" fmla="*/ 333 h 353"/>
                <a:gd name="T46" fmla="*/ 26 w 197"/>
                <a:gd name="T47" fmla="*/ 353 h 353"/>
                <a:gd name="T48" fmla="*/ 17 w 197"/>
                <a:gd name="T49" fmla="*/ 343 h 353"/>
                <a:gd name="T50" fmla="*/ 0 w 197"/>
                <a:gd name="T51" fmla="*/ 235 h 353"/>
                <a:gd name="T52" fmla="*/ 9 w 197"/>
                <a:gd name="T53" fmla="*/ 69 h 353"/>
                <a:gd name="T54" fmla="*/ 9 w 197"/>
                <a:gd name="T55" fmla="*/ 20 h 353"/>
                <a:gd name="T56" fmla="*/ 9 w 197"/>
                <a:gd name="T57" fmla="*/ 10 h 35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197"/>
                <a:gd name="T88" fmla="*/ 0 h 353"/>
                <a:gd name="T89" fmla="*/ 197 w 197"/>
                <a:gd name="T90" fmla="*/ 353 h 353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197" h="353">
                  <a:moveTo>
                    <a:pt x="9" y="10"/>
                  </a:moveTo>
                  <a:lnTo>
                    <a:pt x="137" y="0"/>
                  </a:lnTo>
                  <a:lnTo>
                    <a:pt x="154" y="69"/>
                  </a:lnTo>
                  <a:lnTo>
                    <a:pt x="171" y="147"/>
                  </a:lnTo>
                  <a:lnTo>
                    <a:pt x="179" y="167"/>
                  </a:lnTo>
                  <a:lnTo>
                    <a:pt x="179" y="176"/>
                  </a:lnTo>
                  <a:lnTo>
                    <a:pt x="188" y="176"/>
                  </a:lnTo>
                  <a:lnTo>
                    <a:pt x="197" y="196"/>
                  </a:lnTo>
                  <a:lnTo>
                    <a:pt x="188" y="206"/>
                  </a:lnTo>
                  <a:lnTo>
                    <a:pt x="188" y="225"/>
                  </a:lnTo>
                  <a:lnTo>
                    <a:pt x="188" y="245"/>
                  </a:lnTo>
                  <a:lnTo>
                    <a:pt x="197" y="274"/>
                  </a:lnTo>
                  <a:lnTo>
                    <a:pt x="197" y="284"/>
                  </a:lnTo>
                  <a:lnTo>
                    <a:pt x="77" y="294"/>
                  </a:lnTo>
                  <a:lnTo>
                    <a:pt x="60" y="294"/>
                  </a:lnTo>
                  <a:lnTo>
                    <a:pt x="52" y="304"/>
                  </a:lnTo>
                  <a:lnTo>
                    <a:pt x="60" y="323"/>
                  </a:lnTo>
                  <a:lnTo>
                    <a:pt x="69" y="323"/>
                  </a:lnTo>
                  <a:lnTo>
                    <a:pt x="69" y="353"/>
                  </a:lnTo>
                  <a:lnTo>
                    <a:pt x="52" y="353"/>
                  </a:lnTo>
                  <a:lnTo>
                    <a:pt x="43" y="343"/>
                  </a:lnTo>
                  <a:lnTo>
                    <a:pt x="34" y="323"/>
                  </a:lnTo>
                  <a:lnTo>
                    <a:pt x="26" y="333"/>
                  </a:lnTo>
                  <a:lnTo>
                    <a:pt x="26" y="353"/>
                  </a:lnTo>
                  <a:lnTo>
                    <a:pt x="17" y="343"/>
                  </a:lnTo>
                  <a:lnTo>
                    <a:pt x="0" y="235"/>
                  </a:lnTo>
                  <a:lnTo>
                    <a:pt x="9" y="69"/>
                  </a:lnTo>
                  <a:lnTo>
                    <a:pt x="9" y="20"/>
                  </a:lnTo>
                  <a:lnTo>
                    <a:pt x="9" y="1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0" name="Freeform 82"/>
            <p:cNvSpPr>
              <a:spLocks/>
            </p:cNvSpPr>
            <p:nvPr/>
          </p:nvSpPr>
          <p:spPr bwMode="auto">
            <a:xfrm>
              <a:off x="3233" y="3429"/>
              <a:ext cx="410" cy="157"/>
            </a:xfrm>
            <a:custGeom>
              <a:avLst/>
              <a:gdLst>
                <a:gd name="T0" fmla="*/ 35 w 410"/>
                <a:gd name="T1" fmla="*/ 39 h 157"/>
                <a:gd name="T2" fmla="*/ 86 w 410"/>
                <a:gd name="T3" fmla="*/ 39 h 157"/>
                <a:gd name="T4" fmla="*/ 103 w 410"/>
                <a:gd name="T5" fmla="*/ 29 h 157"/>
                <a:gd name="T6" fmla="*/ 103 w 410"/>
                <a:gd name="T7" fmla="*/ 20 h 157"/>
                <a:gd name="T8" fmla="*/ 111 w 410"/>
                <a:gd name="T9" fmla="*/ 20 h 157"/>
                <a:gd name="T10" fmla="*/ 120 w 410"/>
                <a:gd name="T11" fmla="*/ 29 h 157"/>
                <a:gd name="T12" fmla="*/ 154 w 410"/>
                <a:gd name="T13" fmla="*/ 29 h 157"/>
                <a:gd name="T14" fmla="*/ 231 w 410"/>
                <a:gd name="T15" fmla="*/ 20 h 157"/>
                <a:gd name="T16" fmla="*/ 325 w 410"/>
                <a:gd name="T17" fmla="*/ 10 h 157"/>
                <a:gd name="T18" fmla="*/ 350 w 410"/>
                <a:gd name="T19" fmla="*/ 0 h 157"/>
                <a:gd name="T20" fmla="*/ 410 w 410"/>
                <a:gd name="T21" fmla="*/ 0 h 157"/>
                <a:gd name="T22" fmla="*/ 410 w 410"/>
                <a:gd name="T23" fmla="*/ 20 h 157"/>
                <a:gd name="T24" fmla="*/ 401 w 410"/>
                <a:gd name="T25" fmla="*/ 29 h 157"/>
                <a:gd name="T26" fmla="*/ 384 w 410"/>
                <a:gd name="T27" fmla="*/ 39 h 157"/>
                <a:gd name="T28" fmla="*/ 376 w 410"/>
                <a:gd name="T29" fmla="*/ 49 h 157"/>
                <a:gd name="T30" fmla="*/ 359 w 410"/>
                <a:gd name="T31" fmla="*/ 59 h 157"/>
                <a:gd name="T32" fmla="*/ 350 w 410"/>
                <a:gd name="T33" fmla="*/ 69 h 157"/>
                <a:gd name="T34" fmla="*/ 333 w 410"/>
                <a:gd name="T35" fmla="*/ 88 h 157"/>
                <a:gd name="T36" fmla="*/ 316 w 410"/>
                <a:gd name="T37" fmla="*/ 88 h 157"/>
                <a:gd name="T38" fmla="*/ 299 w 410"/>
                <a:gd name="T39" fmla="*/ 98 h 157"/>
                <a:gd name="T40" fmla="*/ 299 w 410"/>
                <a:gd name="T41" fmla="*/ 118 h 157"/>
                <a:gd name="T42" fmla="*/ 291 w 410"/>
                <a:gd name="T43" fmla="*/ 118 h 157"/>
                <a:gd name="T44" fmla="*/ 291 w 410"/>
                <a:gd name="T45" fmla="*/ 137 h 157"/>
                <a:gd name="T46" fmla="*/ 231 w 410"/>
                <a:gd name="T47" fmla="*/ 137 h 157"/>
                <a:gd name="T48" fmla="*/ 103 w 410"/>
                <a:gd name="T49" fmla="*/ 147 h 157"/>
                <a:gd name="T50" fmla="*/ 0 w 410"/>
                <a:gd name="T51" fmla="*/ 157 h 157"/>
                <a:gd name="T52" fmla="*/ 0 w 410"/>
                <a:gd name="T53" fmla="*/ 127 h 157"/>
                <a:gd name="T54" fmla="*/ 9 w 410"/>
                <a:gd name="T55" fmla="*/ 118 h 157"/>
                <a:gd name="T56" fmla="*/ 9 w 410"/>
                <a:gd name="T57" fmla="*/ 98 h 157"/>
                <a:gd name="T58" fmla="*/ 18 w 410"/>
                <a:gd name="T59" fmla="*/ 88 h 157"/>
                <a:gd name="T60" fmla="*/ 18 w 410"/>
                <a:gd name="T61" fmla="*/ 78 h 157"/>
                <a:gd name="T62" fmla="*/ 26 w 410"/>
                <a:gd name="T63" fmla="*/ 49 h 157"/>
                <a:gd name="T64" fmla="*/ 35 w 410"/>
                <a:gd name="T65" fmla="*/ 39 h 15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10"/>
                <a:gd name="T100" fmla="*/ 0 h 157"/>
                <a:gd name="T101" fmla="*/ 410 w 410"/>
                <a:gd name="T102" fmla="*/ 157 h 157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10" h="157">
                  <a:moveTo>
                    <a:pt x="35" y="39"/>
                  </a:moveTo>
                  <a:lnTo>
                    <a:pt x="86" y="39"/>
                  </a:lnTo>
                  <a:lnTo>
                    <a:pt x="103" y="29"/>
                  </a:lnTo>
                  <a:lnTo>
                    <a:pt x="103" y="20"/>
                  </a:lnTo>
                  <a:lnTo>
                    <a:pt x="111" y="20"/>
                  </a:lnTo>
                  <a:lnTo>
                    <a:pt x="120" y="29"/>
                  </a:lnTo>
                  <a:lnTo>
                    <a:pt x="154" y="29"/>
                  </a:lnTo>
                  <a:lnTo>
                    <a:pt x="231" y="20"/>
                  </a:lnTo>
                  <a:lnTo>
                    <a:pt x="325" y="10"/>
                  </a:lnTo>
                  <a:lnTo>
                    <a:pt x="350" y="0"/>
                  </a:lnTo>
                  <a:lnTo>
                    <a:pt x="410" y="0"/>
                  </a:lnTo>
                  <a:lnTo>
                    <a:pt x="410" y="20"/>
                  </a:lnTo>
                  <a:lnTo>
                    <a:pt x="401" y="29"/>
                  </a:lnTo>
                  <a:lnTo>
                    <a:pt x="384" y="39"/>
                  </a:lnTo>
                  <a:lnTo>
                    <a:pt x="376" y="49"/>
                  </a:lnTo>
                  <a:lnTo>
                    <a:pt x="359" y="59"/>
                  </a:lnTo>
                  <a:lnTo>
                    <a:pt x="350" y="69"/>
                  </a:lnTo>
                  <a:lnTo>
                    <a:pt x="333" y="88"/>
                  </a:lnTo>
                  <a:lnTo>
                    <a:pt x="316" y="88"/>
                  </a:lnTo>
                  <a:lnTo>
                    <a:pt x="299" y="98"/>
                  </a:lnTo>
                  <a:lnTo>
                    <a:pt x="299" y="118"/>
                  </a:lnTo>
                  <a:lnTo>
                    <a:pt x="291" y="118"/>
                  </a:lnTo>
                  <a:lnTo>
                    <a:pt x="291" y="137"/>
                  </a:lnTo>
                  <a:lnTo>
                    <a:pt x="231" y="137"/>
                  </a:lnTo>
                  <a:lnTo>
                    <a:pt x="103" y="147"/>
                  </a:lnTo>
                  <a:lnTo>
                    <a:pt x="0" y="157"/>
                  </a:lnTo>
                  <a:lnTo>
                    <a:pt x="0" y="127"/>
                  </a:lnTo>
                  <a:lnTo>
                    <a:pt x="9" y="118"/>
                  </a:lnTo>
                  <a:lnTo>
                    <a:pt x="9" y="98"/>
                  </a:lnTo>
                  <a:lnTo>
                    <a:pt x="18" y="88"/>
                  </a:lnTo>
                  <a:lnTo>
                    <a:pt x="18" y="78"/>
                  </a:lnTo>
                  <a:lnTo>
                    <a:pt x="26" y="49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1" name="Freeform 83"/>
            <p:cNvSpPr>
              <a:spLocks/>
            </p:cNvSpPr>
            <p:nvPr/>
          </p:nvSpPr>
          <p:spPr bwMode="auto">
            <a:xfrm>
              <a:off x="3268" y="3263"/>
              <a:ext cx="366" cy="205"/>
            </a:xfrm>
            <a:custGeom>
              <a:avLst/>
              <a:gdLst>
                <a:gd name="T0" fmla="*/ 290 w 366"/>
                <a:gd name="T1" fmla="*/ 176 h 205"/>
                <a:gd name="T2" fmla="*/ 315 w 366"/>
                <a:gd name="T3" fmla="*/ 166 h 205"/>
                <a:gd name="T4" fmla="*/ 332 w 366"/>
                <a:gd name="T5" fmla="*/ 137 h 205"/>
                <a:gd name="T6" fmla="*/ 341 w 366"/>
                <a:gd name="T7" fmla="*/ 127 h 205"/>
                <a:gd name="T8" fmla="*/ 349 w 366"/>
                <a:gd name="T9" fmla="*/ 117 h 205"/>
                <a:gd name="T10" fmla="*/ 366 w 366"/>
                <a:gd name="T11" fmla="*/ 107 h 205"/>
                <a:gd name="T12" fmla="*/ 366 w 366"/>
                <a:gd name="T13" fmla="*/ 97 h 205"/>
                <a:gd name="T14" fmla="*/ 358 w 366"/>
                <a:gd name="T15" fmla="*/ 88 h 205"/>
                <a:gd name="T16" fmla="*/ 341 w 366"/>
                <a:gd name="T17" fmla="*/ 78 h 205"/>
                <a:gd name="T18" fmla="*/ 332 w 366"/>
                <a:gd name="T19" fmla="*/ 58 h 205"/>
                <a:gd name="T20" fmla="*/ 332 w 366"/>
                <a:gd name="T21" fmla="*/ 29 h 205"/>
                <a:gd name="T22" fmla="*/ 324 w 366"/>
                <a:gd name="T23" fmla="*/ 29 h 205"/>
                <a:gd name="T24" fmla="*/ 307 w 366"/>
                <a:gd name="T25" fmla="*/ 19 h 205"/>
                <a:gd name="T26" fmla="*/ 298 w 366"/>
                <a:gd name="T27" fmla="*/ 19 h 205"/>
                <a:gd name="T28" fmla="*/ 290 w 366"/>
                <a:gd name="T29" fmla="*/ 19 h 205"/>
                <a:gd name="T30" fmla="*/ 281 w 366"/>
                <a:gd name="T31" fmla="*/ 19 h 205"/>
                <a:gd name="T32" fmla="*/ 273 w 366"/>
                <a:gd name="T33" fmla="*/ 29 h 205"/>
                <a:gd name="T34" fmla="*/ 264 w 366"/>
                <a:gd name="T35" fmla="*/ 19 h 205"/>
                <a:gd name="T36" fmla="*/ 247 w 366"/>
                <a:gd name="T37" fmla="*/ 19 h 205"/>
                <a:gd name="T38" fmla="*/ 238 w 366"/>
                <a:gd name="T39" fmla="*/ 0 h 205"/>
                <a:gd name="T40" fmla="*/ 213 w 366"/>
                <a:gd name="T41" fmla="*/ 0 h 205"/>
                <a:gd name="T42" fmla="*/ 213 w 366"/>
                <a:gd name="T43" fmla="*/ 19 h 205"/>
                <a:gd name="T44" fmla="*/ 204 w 366"/>
                <a:gd name="T45" fmla="*/ 29 h 205"/>
                <a:gd name="T46" fmla="*/ 196 w 366"/>
                <a:gd name="T47" fmla="*/ 29 h 205"/>
                <a:gd name="T48" fmla="*/ 187 w 366"/>
                <a:gd name="T49" fmla="*/ 39 h 205"/>
                <a:gd name="T50" fmla="*/ 187 w 366"/>
                <a:gd name="T51" fmla="*/ 49 h 205"/>
                <a:gd name="T52" fmla="*/ 170 w 366"/>
                <a:gd name="T53" fmla="*/ 58 h 205"/>
                <a:gd name="T54" fmla="*/ 170 w 366"/>
                <a:gd name="T55" fmla="*/ 78 h 205"/>
                <a:gd name="T56" fmla="*/ 162 w 366"/>
                <a:gd name="T57" fmla="*/ 88 h 205"/>
                <a:gd name="T58" fmla="*/ 153 w 366"/>
                <a:gd name="T59" fmla="*/ 88 h 205"/>
                <a:gd name="T60" fmla="*/ 145 w 366"/>
                <a:gd name="T61" fmla="*/ 78 h 205"/>
                <a:gd name="T62" fmla="*/ 136 w 366"/>
                <a:gd name="T63" fmla="*/ 78 h 205"/>
                <a:gd name="T64" fmla="*/ 136 w 366"/>
                <a:gd name="T65" fmla="*/ 88 h 205"/>
                <a:gd name="T66" fmla="*/ 128 w 366"/>
                <a:gd name="T67" fmla="*/ 97 h 205"/>
                <a:gd name="T68" fmla="*/ 119 w 366"/>
                <a:gd name="T69" fmla="*/ 88 h 205"/>
                <a:gd name="T70" fmla="*/ 111 w 366"/>
                <a:gd name="T71" fmla="*/ 97 h 205"/>
                <a:gd name="T72" fmla="*/ 102 w 366"/>
                <a:gd name="T73" fmla="*/ 107 h 205"/>
                <a:gd name="T74" fmla="*/ 93 w 366"/>
                <a:gd name="T75" fmla="*/ 97 h 205"/>
                <a:gd name="T76" fmla="*/ 68 w 366"/>
                <a:gd name="T77" fmla="*/ 97 h 205"/>
                <a:gd name="T78" fmla="*/ 59 w 366"/>
                <a:gd name="T79" fmla="*/ 117 h 205"/>
                <a:gd name="T80" fmla="*/ 59 w 366"/>
                <a:gd name="T81" fmla="*/ 127 h 205"/>
                <a:gd name="T82" fmla="*/ 42 w 366"/>
                <a:gd name="T83" fmla="*/ 137 h 205"/>
                <a:gd name="T84" fmla="*/ 42 w 366"/>
                <a:gd name="T85" fmla="*/ 156 h 205"/>
                <a:gd name="T86" fmla="*/ 34 w 366"/>
                <a:gd name="T87" fmla="*/ 166 h 205"/>
                <a:gd name="T88" fmla="*/ 17 w 366"/>
                <a:gd name="T89" fmla="*/ 156 h 205"/>
                <a:gd name="T90" fmla="*/ 8 w 366"/>
                <a:gd name="T91" fmla="*/ 166 h 205"/>
                <a:gd name="T92" fmla="*/ 0 w 366"/>
                <a:gd name="T93" fmla="*/ 176 h 205"/>
                <a:gd name="T94" fmla="*/ 8 w 366"/>
                <a:gd name="T95" fmla="*/ 176 h 205"/>
                <a:gd name="T96" fmla="*/ 8 w 366"/>
                <a:gd name="T97" fmla="*/ 186 h 205"/>
                <a:gd name="T98" fmla="*/ 0 w 366"/>
                <a:gd name="T99" fmla="*/ 205 h 205"/>
                <a:gd name="T100" fmla="*/ 51 w 366"/>
                <a:gd name="T101" fmla="*/ 205 h 205"/>
                <a:gd name="T102" fmla="*/ 68 w 366"/>
                <a:gd name="T103" fmla="*/ 195 h 205"/>
                <a:gd name="T104" fmla="*/ 68 w 366"/>
                <a:gd name="T105" fmla="*/ 186 h 205"/>
                <a:gd name="T106" fmla="*/ 76 w 366"/>
                <a:gd name="T107" fmla="*/ 186 h 205"/>
                <a:gd name="T108" fmla="*/ 85 w 366"/>
                <a:gd name="T109" fmla="*/ 195 h 205"/>
                <a:gd name="T110" fmla="*/ 119 w 366"/>
                <a:gd name="T111" fmla="*/ 195 h 205"/>
                <a:gd name="T112" fmla="*/ 196 w 366"/>
                <a:gd name="T113" fmla="*/ 186 h 205"/>
                <a:gd name="T114" fmla="*/ 290 w 366"/>
                <a:gd name="T115" fmla="*/ 176 h 205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366"/>
                <a:gd name="T175" fmla="*/ 0 h 205"/>
                <a:gd name="T176" fmla="*/ 366 w 366"/>
                <a:gd name="T177" fmla="*/ 205 h 205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366" h="205">
                  <a:moveTo>
                    <a:pt x="290" y="176"/>
                  </a:moveTo>
                  <a:lnTo>
                    <a:pt x="315" y="166"/>
                  </a:lnTo>
                  <a:lnTo>
                    <a:pt x="332" y="137"/>
                  </a:lnTo>
                  <a:lnTo>
                    <a:pt x="341" y="127"/>
                  </a:lnTo>
                  <a:lnTo>
                    <a:pt x="349" y="117"/>
                  </a:lnTo>
                  <a:lnTo>
                    <a:pt x="366" y="107"/>
                  </a:lnTo>
                  <a:lnTo>
                    <a:pt x="366" y="97"/>
                  </a:lnTo>
                  <a:lnTo>
                    <a:pt x="358" y="88"/>
                  </a:lnTo>
                  <a:lnTo>
                    <a:pt x="341" y="78"/>
                  </a:lnTo>
                  <a:lnTo>
                    <a:pt x="332" y="58"/>
                  </a:lnTo>
                  <a:lnTo>
                    <a:pt x="332" y="29"/>
                  </a:lnTo>
                  <a:lnTo>
                    <a:pt x="324" y="29"/>
                  </a:lnTo>
                  <a:lnTo>
                    <a:pt x="307" y="19"/>
                  </a:lnTo>
                  <a:lnTo>
                    <a:pt x="298" y="19"/>
                  </a:lnTo>
                  <a:lnTo>
                    <a:pt x="290" y="19"/>
                  </a:lnTo>
                  <a:lnTo>
                    <a:pt x="281" y="19"/>
                  </a:lnTo>
                  <a:lnTo>
                    <a:pt x="273" y="29"/>
                  </a:lnTo>
                  <a:lnTo>
                    <a:pt x="264" y="19"/>
                  </a:lnTo>
                  <a:lnTo>
                    <a:pt x="247" y="19"/>
                  </a:lnTo>
                  <a:lnTo>
                    <a:pt x="238" y="0"/>
                  </a:lnTo>
                  <a:lnTo>
                    <a:pt x="213" y="0"/>
                  </a:lnTo>
                  <a:lnTo>
                    <a:pt x="213" y="19"/>
                  </a:lnTo>
                  <a:lnTo>
                    <a:pt x="204" y="29"/>
                  </a:lnTo>
                  <a:lnTo>
                    <a:pt x="196" y="29"/>
                  </a:lnTo>
                  <a:lnTo>
                    <a:pt x="187" y="39"/>
                  </a:lnTo>
                  <a:lnTo>
                    <a:pt x="187" y="49"/>
                  </a:lnTo>
                  <a:lnTo>
                    <a:pt x="170" y="58"/>
                  </a:lnTo>
                  <a:lnTo>
                    <a:pt x="170" y="78"/>
                  </a:lnTo>
                  <a:lnTo>
                    <a:pt x="162" y="88"/>
                  </a:lnTo>
                  <a:lnTo>
                    <a:pt x="153" y="88"/>
                  </a:lnTo>
                  <a:lnTo>
                    <a:pt x="145" y="78"/>
                  </a:lnTo>
                  <a:lnTo>
                    <a:pt x="136" y="78"/>
                  </a:lnTo>
                  <a:lnTo>
                    <a:pt x="136" y="88"/>
                  </a:lnTo>
                  <a:lnTo>
                    <a:pt x="128" y="97"/>
                  </a:lnTo>
                  <a:lnTo>
                    <a:pt x="119" y="88"/>
                  </a:lnTo>
                  <a:lnTo>
                    <a:pt x="111" y="97"/>
                  </a:lnTo>
                  <a:lnTo>
                    <a:pt x="102" y="107"/>
                  </a:lnTo>
                  <a:lnTo>
                    <a:pt x="93" y="97"/>
                  </a:lnTo>
                  <a:lnTo>
                    <a:pt x="68" y="97"/>
                  </a:lnTo>
                  <a:lnTo>
                    <a:pt x="59" y="117"/>
                  </a:lnTo>
                  <a:lnTo>
                    <a:pt x="59" y="127"/>
                  </a:lnTo>
                  <a:lnTo>
                    <a:pt x="42" y="137"/>
                  </a:lnTo>
                  <a:lnTo>
                    <a:pt x="42" y="156"/>
                  </a:lnTo>
                  <a:lnTo>
                    <a:pt x="34" y="166"/>
                  </a:lnTo>
                  <a:lnTo>
                    <a:pt x="17" y="156"/>
                  </a:lnTo>
                  <a:lnTo>
                    <a:pt x="8" y="166"/>
                  </a:lnTo>
                  <a:lnTo>
                    <a:pt x="0" y="176"/>
                  </a:lnTo>
                  <a:lnTo>
                    <a:pt x="8" y="176"/>
                  </a:lnTo>
                  <a:lnTo>
                    <a:pt x="8" y="186"/>
                  </a:lnTo>
                  <a:lnTo>
                    <a:pt x="0" y="205"/>
                  </a:lnTo>
                  <a:lnTo>
                    <a:pt x="51" y="205"/>
                  </a:lnTo>
                  <a:lnTo>
                    <a:pt x="68" y="195"/>
                  </a:lnTo>
                  <a:lnTo>
                    <a:pt x="68" y="186"/>
                  </a:lnTo>
                  <a:lnTo>
                    <a:pt x="76" y="186"/>
                  </a:lnTo>
                  <a:lnTo>
                    <a:pt x="85" y="195"/>
                  </a:lnTo>
                  <a:lnTo>
                    <a:pt x="119" y="195"/>
                  </a:lnTo>
                  <a:lnTo>
                    <a:pt x="196" y="186"/>
                  </a:lnTo>
                  <a:lnTo>
                    <a:pt x="290" y="176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2" name="Freeform 84"/>
            <p:cNvSpPr>
              <a:spLocks/>
            </p:cNvSpPr>
            <p:nvPr/>
          </p:nvSpPr>
          <p:spPr bwMode="auto">
            <a:xfrm>
              <a:off x="3327" y="3067"/>
              <a:ext cx="154" cy="303"/>
            </a:xfrm>
            <a:custGeom>
              <a:avLst/>
              <a:gdLst>
                <a:gd name="T0" fmla="*/ 0 w 154"/>
                <a:gd name="T1" fmla="*/ 293 h 303"/>
                <a:gd name="T2" fmla="*/ 0 w 154"/>
                <a:gd name="T3" fmla="*/ 274 h 303"/>
                <a:gd name="T4" fmla="*/ 17 w 154"/>
                <a:gd name="T5" fmla="*/ 254 h 303"/>
                <a:gd name="T6" fmla="*/ 17 w 154"/>
                <a:gd name="T7" fmla="*/ 245 h 303"/>
                <a:gd name="T8" fmla="*/ 26 w 154"/>
                <a:gd name="T9" fmla="*/ 235 h 303"/>
                <a:gd name="T10" fmla="*/ 26 w 154"/>
                <a:gd name="T11" fmla="*/ 225 h 303"/>
                <a:gd name="T12" fmla="*/ 17 w 154"/>
                <a:gd name="T13" fmla="*/ 215 h 303"/>
                <a:gd name="T14" fmla="*/ 9 w 154"/>
                <a:gd name="T15" fmla="*/ 19 h 303"/>
                <a:gd name="T16" fmla="*/ 17 w 154"/>
                <a:gd name="T17" fmla="*/ 19 h 303"/>
                <a:gd name="T18" fmla="*/ 26 w 154"/>
                <a:gd name="T19" fmla="*/ 19 h 303"/>
                <a:gd name="T20" fmla="*/ 34 w 154"/>
                <a:gd name="T21" fmla="*/ 19 h 303"/>
                <a:gd name="T22" fmla="*/ 43 w 154"/>
                <a:gd name="T23" fmla="*/ 10 h 303"/>
                <a:gd name="T24" fmla="*/ 52 w 154"/>
                <a:gd name="T25" fmla="*/ 10 h 303"/>
                <a:gd name="T26" fmla="*/ 137 w 154"/>
                <a:gd name="T27" fmla="*/ 0 h 303"/>
                <a:gd name="T28" fmla="*/ 154 w 154"/>
                <a:gd name="T29" fmla="*/ 196 h 303"/>
                <a:gd name="T30" fmla="*/ 154 w 154"/>
                <a:gd name="T31" fmla="*/ 215 h 303"/>
                <a:gd name="T32" fmla="*/ 145 w 154"/>
                <a:gd name="T33" fmla="*/ 225 h 303"/>
                <a:gd name="T34" fmla="*/ 137 w 154"/>
                <a:gd name="T35" fmla="*/ 225 h 303"/>
                <a:gd name="T36" fmla="*/ 128 w 154"/>
                <a:gd name="T37" fmla="*/ 235 h 303"/>
                <a:gd name="T38" fmla="*/ 128 w 154"/>
                <a:gd name="T39" fmla="*/ 245 h 303"/>
                <a:gd name="T40" fmla="*/ 111 w 154"/>
                <a:gd name="T41" fmla="*/ 254 h 303"/>
                <a:gd name="T42" fmla="*/ 103 w 154"/>
                <a:gd name="T43" fmla="*/ 284 h 303"/>
                <a:gd name="T44" fmla="*/ 94 w 154"/>
                <a:gd name="T45" fmla="*/ 284 h 303"/>
                <a:gd name="T46" fmla="*/ 86 w 154"/>
                <a:gd name="T47" fmla="*/ 274 h 303"/>
                <a:gd name="T48" fmla="*/ 77 w 154"/>
                <a:gd name="T49" fmla="*/ 274 h 303"/>
                <a:gd name="T50" fmla="*/ 77 w 154"/>
                <a:gd name="T51" fmla="*/ 284 h 303"/>
                <a:gd name="T52" fmla="*/ 69 w 154"/>
                <a:gd name="T53" fmla="*/ 293 h 303"/>
                <a:gd name="T54" fmla="*/ 60 w 154"/>
                <a:gd name="T55" fmla="*/ 284 h 303"/>
                <a:gd name="T56" fmla="*/ 52 w 154"/>
                <a:gd name="T57" fmla="*/ 293 h 303"/>
                <a:gd name="T58" fmla="*/ 43 w 154"/>
                <a:gd name="T59" fmla="*/ 303 h 303"/>
                <a:gd name="T60" fmla="*/ 34 w 154"/>
                <a:gd name="T61" fmla="*/ 293 h 303"/>
                <a:gd name="T62" fmla="*/ 9 w 154"/>
                <a:gd name="T63" fmla="*/ 293 h 303"/>
                <a:gd name="T64" fmla="*/ 0 w 154"/>
                <a:gd name="T65" fmla="*/ 303 h 303"/>
                <a:gd name="T66" fmla="*/ 0 w 154"/>
                <a:gd name="T67" fmla="*/ 293 h 30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54"/>
                <a:gd name="T103" fmla="*/ 0 h 303"/>
                <a:gd name="T104" fmla="*/ 154 w 154"/>
                <a:gd name="T105" fmla="*/ 303 h 30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54" h="303">
                  <a:moveTo>
                    <a:pt x="0" y="293"/>
                  </a:moveTo>
                  <a:lnTo>
                    <a:pt x="0" y="274"/>
                  </a:lnTo>
                  <a:lnTo>
                    <a:pt x="17" y="254"/>
                  </a:lnTo>
                  <a:lnTo>
                    <a:pt x="17" y="245"/>
                  </a:lnTo>
                  <a:lnTo>
                    <a:pt x="26" y="235"/>
                  </a:lnTo>
                  <a:lnTo>
                    <a:pt x="26" y="225"/>
                  </a:lnTo>
                  <a:lnTo>
                    <a:pt x="17" y="215"/>
                  </a:lnTo>
                  <a:lnTo>
                    <a:pt x="9" y="19"/>
                  </a:lnTo>
                  <a:lnTo>
                    <a:pt x="17" y="19"/>
                  </a:lnTo>
                  <a:lnTo>
                    <a:pt x="26" y="19"/>
                  </a:lnTo>
                  <a:lnTo>
                    <a:pt x="34" y="19"/>
                  </a:lnTo>
                  <a:lnTo>
                    <a:pt x="43" y="10"/>
                  </a:lnTo>
                  <a:lnTo>
                    <a:pt x="52" y="10"/>
                  </a:lnTo>
                  <a:lnTo>
                    <a:pt x="137" y="0"/>
                  </a:lnTo>
                  <a:lnTo>
                    <a:pt x="154" y="196"/>
                  </a:lnTo>
                  <a:lnTo>
                    <a:pt x="154" y="215"/>
                  </a:lnTo>
                  <a:lnTo>
                    <a:pt x="145" y="225"/>
                  </a:lnTo>
                  <a:lnTo>
                    <a:pt x="137" y="225"/>
                  </a:lnTo>
                  <a:lnTo>
                    <a:pt x="128" y="235"/>
                  </a:lnTo>
                  <a:lnTo>
                    <a:pt x="128" y="245"/>
                  </a:lnTo>
                  <a:lnTo>
                    <a:pt x="111" y="254"/>
                  </a:lnTo>
                  <a:lnTo>
                    <a:pt x="103" y="284"/>
                  </a:lnTo>
                  <a:lnTo>
                    <a:pt x="94" y="284"/>
                  </a:lnTo>
                  <a:lnTo>
                    <a:pt x="86" y="274"/>
                  </a:lnTo>
                  <a:lnTo>
                    <a:pt x="77" y="274"/>
                  </a:lnTo>
                  <a:lnTo>
                    <a:pt x="77" y="284"/>
                  </a:lnTo>
                  <a:lnTo>
                    <a:pt x="69" y="293"/>
                  </a:lnTo>
                  <a:lnTo>
                    <a:pt x="60" y="284"/>
                  </a:lnTo>
                  <a:lnTo>
                    <a:pt x="52" y="293"/>
                  </a:lnTo>
                  <a:lnTo>
                    <a:pt x="43" y="303"/>
                  </a:lnTo>
                  <a:lnTo>
                    <a:pt x="34" y="293"/>
                  </a:lnTo>
                  <a:lnTo>
                    <a:pt x="9" y="293"/>
                  </a:lnTo>
                  <a:lnTo>
                    <a:pt x="0" y="303"/>
                  </a:lnTo>
                  <a:lnTo>
                    <a:pt x="0" y="293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3" name="Freeform 85"/>
            <p:cNvSpPr>
              <a:spLocks/>
            </p:cNvSpPr>
            <p:nvPr/>
          </p:nvSpPr>
          <p:spPr bwMode="auto">
            <a:xfrm>
              <a:off x="3148" y="3028"/>
              <a:ext cx="205" cy="411"/>
            </a:xfrm>
            <a:custGeom>
              <a:avLst/>
              <a:gdLst>
                <a:gd name="T0" fmla="*/ 34 w 205"/>
                <a:gd name="T1" fmla="*/ 9 h 411"/>
                <a:gd name="T2" fmla="*/ 171 w 205"/>
                <a:gd name="T3" fmla="*/ 0 h 411"/>
                <a:gd name="T4" fmla="*/ 171 w 205"/>
                <a:gd name="T5" fmla="*/ 19 h 411"/>
                <a:gd name="T6" fmla="*/ 179 w 205"/>
                <a:gd name="T7" fmla="*/ 29 h 411"/>
                <a:gd name="T8" fmla="*/ 179 w 205"/>
                <a:gd name="T9" fmla="*/ 49 h 411"/>
                <a:gd name="T10" fmla="*/ 188 w 205"/>
                <a:gd name="T11" fmla="*/ 58 h 411"/>
                <a:gd name="T12" fmla="*/ 196 w 205"/>
                <a:gd name="T13" fmla="*/ 254 h 411"/>
                <a:gd name="T14" fmla="*/ 205 w 205"/>
                <a:gd name="T15" fmla="*/ 264 h 411"/>
                <a:gd name="T16" fmla="*/ 205 w 205"/>
                <a:gd name="T17" fmla="*/ 274 h 411"/>
                <a:gd name="T18" fmla="*/ 196 w 205"/>
                <a:gd name="T19" fmla="*/ 284 h 411"/>
                <a:gd name="T20" fmla="*/ 196 w 205"/>
                <a:gd name="T21" fmla="*/ 293 h 411"/>
                <a:gd name="T22" fmla="*/ 179 w 205"/>
                <a:gd name="T23" fmla="*/ 313 h 411"/>
                <a:gd name="T24" fmla="*/ 179 w 205"/>
                <a:gd name="T25" fmla="*/ 332 h 411"/>
                <a:gd name="T26" fmla="*/ 179 w 205"/>
                <a:gd name="T27" fmla="*/ 342 h 411"/>
                <a:gd name="T28" fmla="*/ 179 w 205"/>
                <a:gd name="T29" fmla="*/ 352 h 411"/>
                <a:gd name="T30" fmla="*/ 179 w 205"/>
                <a:gd name="T31" fmla="*/ 362 h 411"/>
                <a:gd name="T32" fmla="*/ 162 w 205"/>
                <a:gd name="T33" fmla="*/ 372 h 411"/>
                <a:gd name="T34" fmla="*/ 162 w 205"/>
                <a:gd name="T35" fmla="*/ 391 h 411"/>
                <a:gd name="T36" fmla="*/ 154 w 205"/>
                <a:gd name="T37" fmla="*/ 401 h 411"/>
                <a:gd name="T38" fmla="*/ 137 w 205"/>
                <a:gd name="T39" fmla="*/ 391 h 411"/>
                <a:gd name="T40" fmla="*/ 128 w 205"/>
                <a:gd name="T41" fmla="*/ 401 h 411"/>
                <a:gd name="T42" fmla="*/ 120 w 205"/>
                <a:gd name="T43" fmla="*/ 411 h 411"/>
                <a:gd name="T44" fmla="*/ 111 w 205"/>
                <a:gd name="T45" fmla="*/ 391 h 411"/>
                <a:gd name="T46" fmla="*/ 111 w 205"/>
                <a:gd name="T47" fmla="*/ 381 h 411"/>
                <a:gd name="T48" fmla="*/ 103 w 205"/>
                <a:gd name="T49" fmla="*/ 352 h 411"/>
                <a:gd name="T50" fmla="*/ 68 w 205"/>
                <a:gd name="T51" fmla="*/ 332 h 411"/>
                <a:gd name="T52" fmla="*/ 60 w 205"/>
                <a:gd name="T53" fmla="*/ 323 h 411"/>
                <a:gd name="T54" fmla="*/ 60 w 205"/>
                <a:gd name="T55" fmla="*/ 303 h 411"/>
                <a:gd name="T56" fmla="*/ 68 w 205"/>
                <a:gd name="T57" fmla="*/ 293 h 411"/>
                <a:gd name="T58" fmla="*/ 68 w 205"/>
                <a:gd name="T59" fmla="*/ 274 h 411"/>
                <a:gd name="T60" fmla="*/ 60 w 205"/>
                <a:gd name="T61" fmla="*/ 264 h 411"/>
                <a:gd name="T62" fmla="*/ 51 w 205"/>
                <a:gd name="T63" fmla="*/ 274 h 411"/>
                <a:gd name="T64" fmla="*/ 51 w 205"/>
                <a:gd name="T65" fmla="*/ 274 h 411"/>
                <a:gd name="T66" fmla="*/ 43 w 205"/>
                <a:gd name="T67" fmla="*/ 264 h 411"/>
                <a:gd name="T68" fmla="*/ 43 w 205"/>
                <a:gd name="T69" fmla="*/ 254 h 411"/>
                <a:gd name="T70" fmla="*/ 34 w 205"/>
                <a:gd name="T71" fmla="*/ 235 h 411"/>
                <a:gd name="T72" fmla="*/ 17 w 205"/>
                <a:gd name="T73" fmla="*/ 225 h 411"/>
                <a:gd name="T74" fmla="*/ 0 w 205"/>
                <a:gd name="T75" fmla="*/ 195 h 411"/>
                <a:gd name="T76" fmla="*/ 0 w 205"/>
                <a:gd name="T77" fmla="*/ 166 h 411"/>
                <a:gd name="T78" fmla="*/ 17 w 205"/>
                <a:gd name="T79" fmla="*/ 127 h 411"/>
                <a:gd name="T80" fmla="*/ 26 w 205"/>
                <a:gd name="T81" fmla="*/ 107 h 411"/>
                <a:gd name="T82" fmla="*/ 17 w 205"/>
                <a:gd name="T83" fmla="*/ 97 h 411"/>
                <a:gd name="T84" fmla="*/ 26 w 205"/>
                <a:gd name="T85" fmla="*/ 88 h 411"/>
                <a:gd name="T86" fmla="*/ 51 w 205"/>
                <a:gd name="T87" fmla="*/ 78 h 411"/>
                <a:gd name="T88" fmla="*/ 60 w 205"/>
                <a:gd name="T89" fmla="*/ 58 h 411"/>
                <a:gd name="T90" fmla="*/ 60 w 205"/>
                <a:gd name="T91" fmla="*/ 29 h 411"/>
                <a:gd name="T92" fmla="*/ 43 w 205"/>
                <a:gd name="T93" fmla="*/ 19 h 411"/>
                <a:gd name="T94" fmla="*/ 34 w 205"/>
                <a:gd name="T95" fmla="*/ 9 h 41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5"/>
                <a:gd name="T145" fmla="*/ 0 h 411"/>
                <a:gd name="T146" fmla="*/ 205 w 205"/>
                <a:gd name="T147" fmla="*/ 411 h 41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5" h="411">
                  <a:moveTo>
                    <a:pt x="34" y="9"/>
                  </a:moveTo>
                  <a:lnTo>
                    <a:pt x="171" y="0"/>
                  </a:lnTo>
                  <a:lnTo>
                    <a:pt x="171" y="19"/>
                  </a:lnTo>
                  <a:lnTo>
                    <a:pt x="179" y="29"/>
                  </a:lnTo>
                  <a:lnTo>
                    <a:pt x="179" y="49"/>
                  </a:lnTo>
                  <a:lnTo>
                    <a:pt x="188" y="58"/>
                  </a:lnTo>
                  <a:lnTo>
                    <a:pt x="196" y="254"/>
                  </a:lnTo>
                  <a:lnTo>
                    <a:pt x="205" y="264"/>
                  </a:lnTo>
                  <a:lnTo>
                    <a:pt x="205" y="274"/>
                  </a:lnTo>
                  <a:lnTo>
                    <a:pt x="196" y="284"/>
                  </a:lnTo>
                  <a:lnTo>
                    <a:pt x="196" y="293"/>
                  </a:lnTo>
                  <a:lnTo>
                    <a:pt x="179" y="313"/>
                  </a:lnTo>
                  <a:lnTo>
                    <a:pt x="179" y="332"/>
                  </a:lnTo>
                  <a:lnTo>
                    <a:pt x="179" y="342"/>
                  </a:lnTo>
                  <a:lnTo>
                    <a:pt x="179" y="352"/>
                  </a:lnTo>
                  <a:lnTo>
                    <a:pt x="179" y="362"/>
                  </a:lnTo>
                  <a:lnTo>
                    <a:pt x="162" y="372"/>
                  </a:lnTo>
                  <a:lnTo>
                    <a:pt x="162" y="391"/>
                  </a:lnTo>
                  <a:lnTo>
                    <a:pt x="154" y="401"/>
                  </a:lnTo>
                  <a:lnTo>
                    <a:pt x="137" y="391"/>
                  </a:lnTo>
                  <a:lnTo>
                    <a:pt x="128" y="401"/>
                  </a:lnTo>
                  <a:lnTo>
                    <a:pt x="120" y="411"/>
                  </a:lnTo>
                  <a:lnTo>
                    <a:pt x="111" y="391"/>
                  </a:lnTo>
                  <a:lnTo>
                    <a:pt x="111" y="381"/>
                  </a:lnTo>
                  <a:lnTo>
                    <a:pt x="103" y="352"/>
                  </a:lnTo>
                  <a:lnTo>
                    <a:pt x="68" y="332"/>
                  </a:lnTo>
                  <a:lnTo>
                    <a:pt x="60" y="323"/>
                  </a:lnTo>
                  <a:lnTo>
                    <a:pt x="60" y="303"/>
                  </a:lnTo>
                  <a:lnTo>
                    <a:pt x="68" y="293"/>
                  </a:lnTo>
                  <a:lnTo>
                    <a:pt x="68" y="274"/>
                  </a:lnTo>
                  <a:lnTo>
                    <a:pt x="60" y="264"/>
                  </a:lnTo>
                  <a:lnTo>
                    <a:pt x="51" y="274"/>
                  </a:lnTo>
                  <a:lnTo>
                    <a:pt x="43" y="264"/>
                  </a:lnTo>
                  <a:lnTo>
                    <a:pt x="43" y="254"/>
                  </a:lnTo>
                  <a:lnTo>
                    <a:pt x="34" y="235"/>
                  </a:lnTo>
                  <a:lnTo>
                    <a:pt x="17" y="225"/>
                  </a:lnTo>
                  <a:lnTo>
                    <a:pt x="0" y="195"/>
                  </a:lnTo>
                  <a:lnTo>
                    <a:pt x="0" y="166"/>
                  </a:lnTo>
                  <a:lnTo>
                    <a:pt x="17" y="127"/>
                  </a:lnTo>
                  <a:lnTo>
                    <a:pt x="26" y="107"/>
                  </a:lnTo>
                  <a:lnTo>
                    <a:pt x="17" y="97"/>
                  </a:lnTo>
                  <a:lnTo>
                    <a:pt x="26" y="88"/>
                  </a:lnTo>
                  <a:lnTo>
                    <a:pt x="51" y="78"/>
                  </a:lnTo>
                  <a:lnTo>
                    <a:pt x="60" y="58"/>
                  </a:lnTo>
                  <a:lnTo>
                    <a:pt x="60" y="29"/>
                  </a:lnTo>
                  <a:lnTo>
                    <a:pt x="43" y="19"/>
                  </a:lnTo>
                  <a:lnTo>
                    <a:pt x="34" y="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4" name="Freeform 86"/>
            <p:cNvSpPr>
              <a:spLocks/>
            </p:cNvSpPr>
            <p:nvPr/>
          </p:nvSpPr>
          <p:spPr bwMode="auto">
            <a:xfrm>
              <a:off x="3071" y="2714"/>
              <a:ext cx="273" cy="323"/>
            </a:xfrm>
            <a:custGeom>
              <a:avLst/>
              <a:gdLst>
                <a:gd name="T0" fmla="*/ 43 w 273"/>
                <a:gd name="T1" fmla="*/ 20 h 323"/>
                <a:gd name="T2" fmla="*/ 52 w 273"/>
                <a:gd name="T3" fmla="*/ 20 h 323"/>
                <a:gd name="T4" fmla="*/ 77 w 273"/>
                <a:gd name="T5" fmla="*/ 0 h 323"/>
                <a:gd name="T6" fmla="*/ 94 w 273"/>
                <a:gd name="T7" fmla="*/ 0 h 323"/>
                <a:gd name="T8" fmla="*/ 94 w 273"/>
                <a:gd name="T9" fmla="*/ 20 h 323"/>
                <a:gd name="T10" fmla="*/ 111 w 273"/>
                <a:gd name="T11" fmla="*/ 30 h 323"/>
                <a:gd name="T12" fmla="*/ 120 w 273"/>
                <a:gd name="T13" fmla="*/ 30 h 323"/>
                <a:gd name="T14" fmla="*/ 128 w 273"/>
                <a:gd name="T15" fmla="*/ 39 h 323"/>
                <a:gd name="T16" fmla="*/ 154 w 273"/>
                <a:gd name="T17" fmla="*/ 49 h 323"/>
                <a:gd name="T18" fmla="*/ 180 w 273"/>
                <a:gd name="T19" fmla="*/ 49 h 323"/>
                <a:gd name="T20" fmla="*/ 188 w 273"/>
                <a:gd name="T21" fmla="*/ 59 h 323"/>
                <a:gd name="T22" fmla="*/ 197 w 273"/>
                <a:gd name="T23" fmla="*/ 59 h 323"/>
                <a:gd name="T24" fmla="*/ 222 w 273"/>
                <a:gd name="T25" fmla="*/ 69 h 323"/>
                <a:gd name="T26" fmla="*/ 231 w 273"/>
                <a:gd name="T27" fmla="*/ 79 h 323"/>
                <a:gd name="T28" fmla="*/ 231 w 273"/>
                <a:gd name="T29" fmla="*/ 108 h 323"/>
                <a:gd name="T30" fmla="*/ 239 w 273"/>
                <a:gd name="T31" fmla="*/ 108 h 323"/>
                <a:gd name="T32" fmla="*/ 248 w 273"/>
                <a:gd name="T33" fmla="*/ 128 h 323"/>
                <a:gd name="T34" fmla="*/ 239 w 273"/>
                <a:gd name="T35" fmla="*/ 137 h 323"/>
                <a:gd name="T36" fmla="*/ 231 w 273"/>
                <a:gd name="T37" fmla="*/ 147 h 323"/>
                <a:gd name="T38" fmla="*/ 231 w 273"/>
                <a:gd name="T39" fmla="*/ 157 h 323"/>
                <a:gd name="T40" fmla="*/ 231 w 273"/>
                <a:gd name="T41" fmla="*/ 167 h 323"/>
                <a:gd name="T42" fmla="*/ 248 w 273"/>
                <a:gd name="T43" fmla="*/ 147 h 323"/>
                <a:gd name="T44" fmla="*/ 256 w 273"/>
                <a:gd name="T45" fmla="*/ 137 h 323"/>
                <a:gd name="T46" fmla="*/ 265 w 273"/>
                <a:gd name="T47" fmla="*/ 118 h 323"/>
                <a:gd name="T48" fmla="*/ 273 w 273"/>
                <a:gd name="T49" fmla="*/ 108 h 323"/>
                <a:gd name="T50" fmla="*/ 273 w 273"/>
                <a:gd name="T51" fmla="*/ 118 h 323"/>
                <a:gd name="T52" fmla="*/ 265 w 273"/>
                <a:gd name="T53" fmla="*/ 137 h 323"/>
                <a:gd name="T54" fmla="*/ 256 w 273"/>
                <a:gd name="T55" fmla="*/ 157 h 323"/>
                <a:gd name="T56" fmla="*/ 248 w 273"/>
                <a:gd name="T57" fmla="*/ 167 h 323"/>
                <a:gd name="T58" fmla="*/ 248 w 273"/>
                <a:gd name="T59" fmla="*/ 196 h 323"/>
                <a:gd name="T60" fmla="*/ 248 w 273"/>
                <a:gd name="T61" fmla="*/ 235 h 323"/>
                <a:gd name="T62" fmla="*/ 239 w 273"/>
                <a:gd name="T63" fmla="*/ 255 h 323"/>
                <a:gd name="T64" fmla="*/ 248 w 273"/>
                <a:gd name="T65" fmla="*/ 284 h 323"/>
                <a:gd name="T66" fmla="*/ 248 w 273"/>
                <a:gd name="T67" fmla="*/ 314 h 323"/>
                <a:gd name="T68" fmla="*/ 111 w 273"/>
                <a:gd name="T69" fmla="*/ 323 h 323"/>
                <a:gd name="T70" fmla="*/ 111 w 273"/>
                <a:gd name="T71" fmla="*/ 314 h 323"/>
                <a:gd name="T72" fmla="*/ 94 w 273"/>
                <a:gd name="T73" fmla="*/ 304 h 323"/>
                <a:gd name="T74" fmla="*/ 86 w 273"/>
                <a:gd name="T75" fmla="*/ 274 h 323"/>
                <a:gd name="T76" fmla="*/ 86 w 273"/>
                <a:gd name="T77" fmla="*/ 255 h 323"/>
                <a:gd name="T78" fmla="*/ 77 w 273"/>
                <a:gd name="T79" fmla="*/ 245 h 323"/>
                <a:gd name="T80" fmla="*/ 86 w 273"/>
                <a:gd name="T81" fmla="*/ 225 h 323"/>
                <a:gd name="T82" fmla="*/ 77 w 273"/>
                <a:gd name="T83" fmla="*/ 216 h 323"/>
                <a:gd name="T84" fmla="*/ 52 w 273"/>
                <a:gd name="T85" fmla="*/ 196 h 323"/>
                <a:gd name="T86" fmla="*/ 52 w 273"/>
                <a:gd name="T87" fmla="*/ 186 h 323"/>
                <a:gd name="T88" fmla="*/ 43 w 273"/>
                <a:gd name="T89" fmla="*/ 186 h 323"/>
                <a:gd name="T90" fmla="*/ 35 w 273"/>
                <a:gd name="T91" fmla="*/ 177 h 323"/>
                <a:gd name="T92" fmla="*/ 17 w 273"/>
                <a:gd name="T93" fmla="*/ 167 h 323"/>
                <a:gd name="T94" fmla="*/ 9 w 273"/>
                <a:gd name="T95" fmla="*/ 157 h 323"/>
                <a:gd name="T96" fmla="*/ 17 w 273"/>
                <a:gd name="T97" fmla="*/ 118 h 323"/>
                <a:gd name="T98" fmla="*/ 0 w 273"/>
                <a:gd name="T99" fmla="*/ 98 h 323"/>
                <a:gd name="T100" fmla="*/ 9 w 273"/>
                <a:gd name="T101" fmla="*/ 79 h 323"/>
                <a:gd name="T102" fmla="*/ 26 w 273"/>
                <a:gd name="T103" fmla="*/ 59 h 323"/>
                <a:gd name="T104" fmla="*/ 35 w 273"/>
                <a:gd name="T105" fmla="*/ 20 h 323"/>
                <a:gd name="T106" fmla="*/ 43 w 273"/>
                <a:gd name="T107" fmla="*/ 20 h 32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73"/>
                <a:gd name="T163" fmla="*/ 0 h 323"/>
                <a:gd name="T164" fmla="*/ 273 w 273"/>
                <a:gd name="T165" fmla="*/ 323 h 32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73" h="323">
                  <a:moveTo>
                    <a:pt x="43" y="20"/>
                  </a:moveTo>
                  <a:lnTo>
                    <a:pt x="52" y="20"/>
                  </a:lnTo>
                  <a:lnTo>
                    <a:pt x="77" y="0"/>
                  </a:lnTo>
                  <a:lnTo>
                    <a:pt x="94" y="0"/>
                  </a:lnTo>
                  <a:lnTo>
                    <a:pt x="94" y="20"/>
                  </a:lnTo>
                  <a:lnTo>
                    <a:pt x="111" y="30"/>
                  </a:lnTo>
                  <a:lnTo>
                    <a:pt x="120" y="30"/>
                  </a:lnTo>
                  <a:lnTo>
                    <a:pt x="128" y="39"/>
                  </a:lnTo>
                  <a:lnTo>
                    <a:pt x="154" y="49"/>
                  </a:lnTo>
                  <a:lnTo>
                    <a:pt x="180" y="49"/>
                  </a:lnTo>
                  <a:lnTo>
                    <a:pt x="188" y="59"/>
                  </a:lnTo>
                  <a:lnTo>
                    <a:pt x="197" y="59"/>
                  </a:lnTo>
                  <a:lnTo>
                    <a:pt x="222" y="69"/>
                  </a:lnTo>
                  <a:lnTo>
                    <a:pt x="231" y="79"/>
                  </a:lnTo>
                  <a:lnTo>
                    <a:pt x="231" y="108"/>
                  </a:lnTo>
                  <a:lnTo>
                    <a:pt x="239" y="108"/>
                  </a:lnTo>
                  <a:lnTo>
                    <a:pt x="248" y="128"/>
                  </a:lnTo>
                  <a:lnTo>
                    <a:pt x="239" y="137"/>
                  </a:lnTo>
                  <a:lnTo>
                    <a:pt x="231" y="147"/>
                  </a:lnTo>
                  <a:lnTo>
                    <a:pt x="231" y="157"/>
                  </a:lnTo>
                  <a:lnTo>
                    <a:pt x="231" y="167"/>
                  </a:lnTo>
                  <a:lnTo>
                    <a:pt x="248" y="147"/>
                  </a:lnTo>
                  <a:lnTo>
                    <a:pt x="256" y="137"/>
                  </a:lnTo>
                  <a:lnTo>
                    <a:pt x="265" y="118"/>
                  </a:lnTo>
                  <a:lnTo>
                    <a:pt x="273" y="108"/>
                  </a:lnTo>
                  <a:lnTo>
                    <a:pt x="273" y="118"/>
                  </a:lnTo>
                  <a:lnTo>
                    <a:pt x="265" y="137"/>
                  </a:lnTo>
                  <a:lnTo>
                    <a:pt x="256" y="157"/>
                  </a:lnTo>
                  <a:lnTo>
                    <a:pt x="248" y="167"/>
                  </a:lnTo>
                  <a:lnTo>
                    <a:pt x="248" y="196"/>
                  </a:lnTo>
                  <a:lnTo>
                    <a:pt x="248" y="235"/>
                  </a:lnTo>
                  <a:lnTo>
                    <a:pt x="239" y="255"/>
                  </a:lnTo>
                  <a:lnTo>
                    <a:pt x="248" y="284"/>
                  </a:lnTo>
                  <a:lnTo>
                    <a:pt x="248" y="314"/>
                  </a:lnTo>
                  <a:lnTo>
                    <a:pt x="111" y="323"/>
                  </a:lnTo>
                  <a:lnTo>
                    <a:pt x="111" y="314"/>
                  </a:lnTo>
                  <a:lnTo>
                    <a:pt x="94" y="304"/>
                  </a:lnTo>
                  <a:lnTo>
                    <a:pt x="86" y="274"/>
                  </a:lnTo>
                  <a:lnTo>
                    <a:pt x="86" y="255"/>
                  </a:lnTo>
                  <a:lnTo>
                    <a:pt x="77" y="245"/>
                  </a:lnTo>
                  <a:lnTo>
                    <a:pt x="86" y="225"/>
                  </a:lnTo>
                  <a:lnTo>
                    <a:pt x="77" y="216"/>
                  </a:lnTo>
                  <a:lnTo>
                    <a:pt x="52" y="196"/>
                  </a:lnTo>
                  <a:lnTo>
                    <a:pt x="52" y="186"/>
                  </a:lnTo>
                  <a:lnTo>
                    <a:pt x="43" y="186"/>
                  </a:lnTo>
                  <a:lnTo>
                    <a:pt x="35" y="177"/>
                  </a:lnTo>
                  <a:lnTo>
                    <a:pt x="17" y="167"/>
                  </a:lnTo>
                  <a:lnTo>
                    <a:pt x="9" y="157"/>
                  </a:lnTo>
                  <a:lnTo>
                    <a:pt x="17" y="118"/>
                  </a:lnTo>
                  <a:lnTo>
                    <a:pt x="0" y="98"/>
                  </a:lnTo>
                  <a:lnTo>
                    <a:pt x="9" y="79"/>
                  </a:lnTo>
                  <a:lnTo>
                    <a:pt x="26" y="59"/>
                  </a:lnTo>
                  <a:lnTo>
                    <a:pt x="35" y="20"/>
                  </a:lnTo>
                  <a:lnTo>
                    <a:pt x="43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5" name="Freeform 87"/>
            <p:cNvSpPr>
              <a:spLocks/>
            </p:cNvSpPr>
            <p:nvPr/>
          </p:nvSpPr>
          <p:spPr bwMode="auto">
            <a:xfrm>
              <a:off x="3191" y="2665"/>
              <a:ext cx="298" cy="177"/>
            </a:xfrm>
            <a:custGeom>
              <a:avLst/>
              <a:gdLst>
                <a:gd name="T0" fmla="*/ 0 w 298"/>
                <a:gd name="T1" fmla="*/ 79 h 177"/>
                <a:gd name="T2" fmla="*/ 8 w 298"/>
                <a:gd name="T3" fmla="*/ 59 h 177"/>
                <a:gd name="T4" fmla="*/ 17 w 298"/>
                <a:gd name="T5" fmla="*/ 49 h 177"/>
                <a:gd name="T6" fmla="*/ 42 w 298"/>
                <a:gd name="T7" fmla="*/ 49 h 177"/>
                <a:gd name="T8" fmla="*/ 60 w 298"/>
                <a:gd name="T9" fmla="*/ 39 h 177"/>
                <a:gd name="T10" fmla="*/ 68 w 298"/>
                <a:gd name="T11" fmla="*/ 30 h 177"/>
                <a:gd name="T12" fmla="*/ 77 w 298"/>
                <a:gd name="T13" fmla="*/ 20 h 177"/>
                <a:gd name="T14" fmla="*/ 85 w 298"/>
                <a:gd name="T15" fmla="*/ 0 h 177"/>
                <a:gd name="T16" fmla="*/ 94 w 298"/>
                <a:gd name="T17" fmla="*/ 0 h 177"/>
                <a:gd name="T18" fmla="*/ 102 w 298"/>
                <a:gd name="T19" fmla="*/ 0 h 177"/>
                <a:gd name="T20" fmla="*/ 94 w 298"/>
                <a:gd name="T21" fmla="*/ 10 h 177"/>
                <a:gd name="T22" fmla="*/ 85 w 298"/>
                <a:gd name="T23" fmla="*/ 30 h 177"/>
                <a:gd name="T24" fmla="*/ 77 w 298"/>
                <a:gd name="T25" fmla="*/ 39 h 177"/>
                <a:gd name="T26" fmla="*/ 77 w 298"/>
                <a:gd name="T27" fmla="*/ 49 h 177"/>
                <a:gd name="T28" fmla="*/ 85 w 298"/>
                <a:gd name="T29" fmla="*/ 39 h 177"/>
                <a:gd name="T30" fmla="*/ 102 w 298"/>
                <a:gd name="T31" fmla="*/ 49 h 177"/>
                <a:gd name="T32" fmla="*/ 119 w 298"/>
                <a:gd name="T33" fmla="*/ 59 h 177"/>
                <a:gd name="T34" fmla="*/ 128 w 298"/>
                <a:gd name="T35" fmla="*/ 69 h 177"/>
                <a:gd name="T36" fmla="*/ 145 w 298"/>
                <a:gd name="T37" fmla="*/ 69 h 177"/>
                <a:gd name="T38" fmla="*/ 162 w 298"/>
                <a:gd name="T39" fmla="*/ 69 h 177"/>
                <a:gd name="T40" fmla="*/ 170 w 298"/>
                <a:gd name="T41" fmla="*/ 59 h 177"/>
                <a:gd name="T42" fmla="*/ 196 w 298"/>
                <a:gd name="T43" fmla="*/ 49 h 177"/>
                <a:gd name="T44" fmla="*/ 213 w 298"/>
                <a:gd name="T45" fmla="*/ 49 h 177"/>
                <a:gd name="T46" fmla="*/ 230 w 298"/>
                <a:gd name="T47" fmla="*/ 39 h 177"/>
                <a:gd name="T48" fmla="*/ 230 w 298"/>
                <a:gd name="T49" fmla="*/ 49 h 177"/>
                <a:gd name="T50" fmla="*/ 230 w 298"/>
                <a:gd name="T51" fmla="*/ 59 h 177"/>
                <a:gd name="T52" fmla="*/ 264 w 298"/>
                <a:gd name="T53" fmla="*/ 59 h 177"/>
                <a:gd name="T54" fmla="*/ 273 w 298"/>
                <a:gd name="T55" fmla="*/ 69 h 177"/>
                <a:gd name="T56" fmla="*/ 281 w 298"/>
                <a:gd name="T57" fmla="*/ 79 h 177"/>
                <a:gd name="T58" fmla="*/ 298 w 298"/>
                <a:gd name="T59" fmla="*/ 88 h 177"/>
                <a:gd name="T60" fmla="*/ 298 w 298"/>
                <a:gd name="T61" fmla="*/ 88 h 177"/>
                <a:gd name="T62" fmla="*/ 281 w 298"/>
                <a:gd name="T63" fmla="*/ 98 h 177"/>
                <a:gd name="T64" fmla="*/ 256 w 298"/>
                <a:gd name="T65" fmla="*/ 88 h 177"/>
                <a:gd name="T66" fmla="*/ 247 w 298"/>
                <a:gd name="T67" fmla="*/ 98 h 177"/>
                <a:gd name="T68" fmla="*/ 239 w 298"/>
                <a:gd name="T69" fmla="*/ 98 h 177"/>
                <a:gd name="T70" fmla="*/ 213 w 298"/>
                <a:gd name="T71" fmla="*/ 98 h 177"/>
                <a:gd name="T72" fmla="*/ 205 w 298"/>
                <a:gd name="T73" fmla="*/ 108 h 177"/>
                <a:gd name="T74" fmla="*/ 188 w 298"/>
                <a:gd name="T75" fmla="*/ 108 h 177"/>
                <a:gd name="T76" fmla="*/ 179 w 298"/>
                <a:gd name="T77" fmla="*/ 118 h 177"/>
                <a:gd name="T78" fmla="*/ 170 w 298"/>
                <a:gd name="T79" fmla="*/ 128 h 177"/>
                <a:gd name="T80" fmla="*/ 162 w 298"/>
                <a:gd name="T81" fmla="*/ 118 h 177"/>
                <a:gd name="T82" fmla="*/ 162 w 298"/>
                <a:gd name="T83" fmla="*/ 128 h 177"/>
                <a:gd name="T84" fmla="*/ 153 w 298"/>
                <a:gd name="T85" fmla="*/ 128 h 177"/>
                <a:gd name="T86" fmla="*/ 145 w 298"/>
                <a:gd name="T87" fmla="*/ 118 h 177"/>
                <a:gd name="T88" fmla="*/ 136 w 298"/>
                <a:gd name="T89" fmla="*/ 137 h 177"/>
                <a:gd name="T90" fmla="*/ 128 w 298"/>
                <a:gd name="T91" fmla="*/ 157 h 177"/>
                <a:gd name="T92" fmla="*/ 128 w 298"/>
                <a:gd name="T93" fmla="*/ 177 h 177"/>
                <a:gd name="T94" fmla="*/ 119 w 298"/>
                <a:gd name="T95" fmla="*/ 157 h 177"/>
                <a:gd name="T96" fmla="*/ 111 w 298"/>
                <a:gd name="T97" fmla="*/ 157 h 177"/>
                <a:gd name="T98" fmla="*/ 111 w 298"/>
                <a:gd name="T99" fmla="*/ 128 h 177"/>
                <a:gd name="T100" fmla="*/ 77 w 298"/>
                <a:gd name="T101" fmla="*/ 108 h 177"/>
                <a:gd name="T102" fmla="*/ 68 w 298"/>
                <a:gd name="T103" fmla="*/ 108 h 177"/>
                <a:gd name="T104" fmla="*/ 60 w 298"/>
                <a:gd name="T105" fmla="*/ 98 h 177"/>
                <a:gd name="T106" fmla="*/ 34 w 298"/>
                <a:gd name="T107" fmla="*/ 98 h 177"/>
                <a:gd name="T108" fmla="*/ 8 w 298"/>
                <a:gd name="T109" fmla="*/ 88 h 177"/>
                <a:gd name="T110" fmla="*/ 0 w 298"/>
                <a:gd name="T111" fmla="*/ 79 h 17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98"/>
                <a:gd name="T169" fmla="*/ 0 h 177"/>
                <a:gd name="T170" fmla="*/ 298 w 298"/>
                <a:gd name="T171" fmla="*/ 177 h 177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98" h="177">
                  <a:moveTo>
                    <a:pt x="0" y="79"/>
                  </a:moveTo>
                  <a:lnTo>
                    <a:pt x="8" y="59"/>
                  </a:lnTo>
                  <a:lnTo>
                    <a:pt x="17" y="49"/>
                  </a:lnTo>
                  <a:lnTo>
                    <a:pt x="42" y="49"/>
                  </a:lnTo>
                  <a:lnTo>
                    <a:pt x="60" y="39"/>
                  </a:lnTo>
                  <a:lnTo>
                    <a:pt x="68" y="30"/>
                  </a:lnTo>
                  <a:lnTo>
                    <a:pt x="77" y="20"/>
                  </a:lnTo>
                  <a:lnTo>
                    <a:pt x="85" y="0"/>
                  </a:lnTo>
                  <a:lnTo>
                    <a:pt x="94" y="0"/>
                  </a:lnTo>
                  <a:lnTo>
                    <a:pt x="102" y="0"/>
                  </a:lnTo>
                  <a:lnTo>
                    <a:pt x="94" y="10"/>
                  </a:lnTo>
                  <a:lnTo>
                    <a:pt x="85" y="30"/>
                  </a:lnTo>
                  <a:lnTo>
                    <a:pt x="77" y="39"/>
                  </a:lnTo>
                  <a:lnTo>
                    <a:pt x="77" y="49"/>
                  </a:lnTo>
                  <a:lnTo>
                    <a:pt x="85" y="39"/>
                  </a:lnTo>
                  <a:lnTo>
                    <a:pt x="102" y="49"/>
                  </a:lnTo>
                  <a:lnTo>
                    <a:pt x="119" y="59"/>
                  </a:lnTo>
                  <a:lnTo>
                    <a:pt x="128" y="69"/>
                  </a:lnTo>
                  <a:lnTo>
                    <a:pt x="145" y="69"/>
                  </a:lnTo>
                  <a:lnTo>
                    <a:pt x="162" y="69"/>
                  </a:lnTo>
                  <a:lnTo>
                    <a:pt x="170" y="59"/>
                  </a:lnTo>
                  <a:lnTo>
                    <a:pt x="196" y="49"/>
                  </a:lnTo>
                  <a:lnTo>
                    <a:pt x="213" y="49"/>
                  </a:lnTo>
                  <a:lnTo>
                    <a:pt x="230" y="39"/>
                  </a:lnTo>
                  <a:lnTo>
                    <a:pt x="230" y="49"/>
                  </a:lnTo>
                  <a:lnTo>
                    <a:pt x="230" y="59"/>
                  </a:lnTo>
                  <a:lnTo>
                    <a:pt x="264" y="59"/>
                  </a:lnTo>
                  <a:lnTo>
                    <a:pt x="273" y="69"/>
                  </a:lnTo>
                  <a:lnTo>
                    <a:pt x="281" y="79"/>
                  </a:lnTo>
                  <a:lnTo>
                    <a:pt x="298" y="88"/>
                  </a:lnTo>
                  <a:lnTo>
                    <a:pt x="281" y="98"/>
                  </a:lnTo>
                  <a:lnTo>
                    <a:pt x="256" y="88"/>
                  </a:lnTo>
                  <a:lnTo>
                    <a:pt x="247" y="98"/>
                  </a:lnTo>
                  <a:lnTo>
                    <a:pt x="239" y="98"/>
                  </a:lnTo>
                  <a:lnTo>
                    <a:pt x="213" y="98"/>
                  </a:lnTo>
                  <a:lnTo>
                    <a:pt x="205" y="108"/>
                  </a:lnTo>
                  <a:lnTo>
                    <a:pt x="188" y="108"/>
                  </a:lnTo>
                  <a:lnTo>
                    <a:pt x="179" y="118"/>
                  </a:lnTo>
                  <a:lnTo>
                    <a:pt x="170" y="128"/>
                  </a:lnTo>
                  <a:lnTo>
                    <a:pt x="162" y="118"/>
                  </a:lnTo>
                  <a:lnTo>
                    <a:pt x="162" y="128"/>
                  </a:lnTo>
                  <a:lnTo>
                    <a:pt x="153" y="128"/>
                  </a:lnTo>
                  <a:lnTo>
                    <a:pt x="145" y="118"/>
                  </a:lnTo>
                  <a:lnTo>
                    <a:pt x="136" y="137"/>
                  </a:lnTo>
                  <a:lnTo>
                    <a:pt x="128" y="157"/>
                  </a:lnTo>
                  <a:lnTo>
                    <a:pt x="128" y="177"/>
                  </a:lnTo>
                  <a:lnTo>
                    <a:pt x="119" y="157"/>
                  </a:lnTo>
                  <a:lnTo>
                    <a:pt x="111" y="157"/>
                  </a:lnTo>
                  <a:lnTo>
                    <a:pt x="111" y="128"/>
                  </a:lnTo>
                  <a:lnTo>
                    <a:pt x="77" y="108"/>
                  </a:lnTo>
                  <a:lnTo>
                    <a:pt x="68" y="108"/>
                  </a:lnTo>
                  <a:lnTo>
                    <a:pt x="60" y="98"/>
                  </a:lnTo>
                  <a:lnTo>
                    <a:pt x="34" y="98"/>
                  </a:lnTo>
                  <a:lnTo>
                    <a:pt x="8" y="88"/>
                  </a:lnTo>
                  <a:lnTo>
                    <a:pt x="0" y="7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6" name="Freeform 88"/>
            <p:cNvSpPr>
              <a:spLocks/>
            </p:cNvSpPr>
            <p:nvPr/>
          </p:nvSpPr>
          <p:spPr bwMode="auto">
            <a:xfrm>
              <a:off x="3302" y="2763"/>
              <a:ext cx="145" cy="323"/>
            </a:xfrm>
            <a:custGeom>
              <a:avLst/>
              <a:gdLst>
                <a:gd name="T0" fmla="*/ 136 w 145"/>
                <a:gd name="T1" fmla="*/ 0 h 323"/>
                <a:gd name="T2" fmla="*/ 145 w 145"/>
                <a:gd name="T3" fmla="*/ 10 h 323"/>
                <a:gd name="T4" fmla="*/ 128 w 145"/>
                <a:gd name="T5" fmla="*/ 20 h 323"/>
                <a:gd name="T6" fmla="*/ 119 w 145"/>
                <a:gd name="T7" fmla="*/ 39 h 323"/>
                <a:gd name="T8" fmla="*/ 128 w 145"/>
                <a:gd name="T9" fmla="*/ 39 h 323"/>
                <a:gd name="T10" fmla="*/ 119 w 145"/>
                <a:gd name="T11" fmla="*/ 59 h 323"/>
                <a:gd name="T12" fmla="*/ 119 w 145"/>
                <a:gd name="T13" fmla="*/ 79 h 323"/>
                <a:gd name="T14" fmla="*/ 111 w 145"/>
                <a:gd name="T15" fmla="*/ 79 h 323"/>
                <a:gd name="T16" fmla="*/ 102 w 145"/>
                <a:gd name="T17" fmla="*/ 79 h 323"/>
                <a:gd name="T18" fmla="*/ 102 w 145"/>
                <a:gd name="T19" fmla="*/ 69 h 323"/>
                <a:gd name="T20" fmla="*/ 94 w 145"/>
                <a:gd name="T21" fmla="*/ 79 h 323"/>
                <a:gd name="T22" fmla="*/ 85 w 145"/>
                <a:gd name="T23" fmla="*/ 79 h 323"/>
                <a:gd name="T24" fmla="*/ 77 w 145"/>
                <a:gd name="T25" fmla="*/ 98 h 323"/>
                <a:gd name="T26" fmla="*/ 77 w 145"/>
                <a:gd name="T27" fmla="*/ 128 h 323"/>
                <a:gd name="T28" fmla="*/ 68 w 145"/>
                <a:gd name="T29" fmla="*/ 147 h 323"/>
                <a:gd name="T30" fmla="*/ 68 w 145"/>
                <a:gd name="T31" fmla="*/ 176 h 323"/>
                <a:gd name="T32" fmla="*/ 77 w 145"/>
                <a:gd name="T33" fmla="*/ 186 h 323"/>
                <a:gd name="T34" fmla="*/ 85 w 145"/>
                <a:gd name="T35" fmla="*/ 216 h 323"/>
                <a:gd name="T36" fmla="*/ 94 w 145"/>
                <a:gd name="T37" fmla="*/ 235 h 323"/>
                <a:gd name="T38" fmla="*/ 85 w 145"/>
                <a:gd name="T39" fmla="*/ 255 h 323"/>
                <a:gd name="T40" fmla="*/ 77 w 145"/>
                <a:gd name="T41" fmla="*/ 284 h 323"/>
                <a:gd name="T42" fmla="*/ 77 w 145"/>
                <a:gd name="T43" fmla="*/ 314 h 323"/>
                <a:gd name="T44" fmla="*/ 59 w 145"/>
                <a:gd name="T45" fmla="*/ 323 h 323"/>
                <a:gd name="T46" fmla="*/ 51 w 145"/>
                <a:gd name="T47" fmla="*/ 323 h 323"/>
                <a:gd name="T48" fmla="*/ 42 w 145"/>
                <a:gd name="T49" fmla="*/ 323 h 323"/>
                <a:gd name="T50" fmla="*/ 34 w 145"/>
                <a:gd name="T51" fmla="*/ 323 h 323"/>
                <a:gd name="T52" fmla="*/ 25 w 145"/>
                <a:gd name="T53" fmla="*/ 314 h 323"/>
                <a:gd name="T54" fmla="*/ 25 w 145"/>
                <a:gd name="T55" fmla="*/ 294 h 323"/>
                <a:gd name="T56" fmla="*/ 17 w 145"/>
                <a:gd name="T57" fmla="*/ 284 h 323"/>
                <a:gd name="T58" fmla="*/ 17 w 145"/>
                <a:gd name="T59" fmla="*/ 265 h 323"/>
                <a:gd name="T60" fmla="*/ 17 w 145"/>
                <a:gd name="T61" fmla="*/ 235 h 323"/>
                <a:gd name="T62" fmla="*/ 8 w 145"/>
                <a:gd name="T63" fmla="*/ 206 h 323"/>
                <a:gd name="T64" fmla="*/ 17 w 145"/>
                <a:gd name="T65" fmla="*/ 186 h 323"/>
                <a:gd name="T66" fmla="*/ 17 w 145"/>
                <a:gd name="T67" fmla="*/ 118 h 323"/>
                <a:gd name="T68" fmla="*/ 25 w 145"/>
                <a:gd name="T69" fmla="*/ 108 h 323"/>
                <a:gd name="T70" fmla="*/ 34 w 145"/>
                <a:gd name="T71" fmla="*/ 88 h 323"/>
                <a:gd name="T72" fmla="*/ 42 w 145"/>
                <a:gd name="T73" fmla="*/ 69 h 323"/>
                <a:gd name="T74" fmla="*/ 42 w 145"/>
                <a:gd name="T75" fmla="*/ 59 h 323"/>
                <a:gd name="T76" fmla="*/ 34 w 145"/>
                <a:gd name="T77" fmla="*/ 69 h 323"/>
                <a:gd name="T78" fmla="*/ 25 w 145"/>
                <a:gd name="T79" fmla="*/ 88 h 323"/>
                <a:gd name="T80" fmla="*/ 17 w 145"/>
                <a:gd name="T81" fmla="*/ 98 h 323"/>
                <a:gd name="T82" fmla="*/ 0 w 145"/>
                <a:gd name="T83" fmla="*/ 118 h 323"/>
                <a:gd name="T84" fmla="*/ 0 w 145"/>
                <a:gd name="T85" fmla="*/ 108 h 323"/>
                <a:gd name="T86" fmla="*/ 0 w 145"/>
                <a:gd name="T87" fmla="*/ 98 h 323"/>
                <a:gd name="T88" fmla="*/ 17 w 145"/>
                <a:gd name="T89" fmla="*/ 79 h 323"/>
                <a:gd name="T90" fmla="*/ 17 w 145"/>
                <a:gd name="T91" fmla="*/ 59 h 323"/>
                <a:gd name="T92" fmla="*/ 25 w 145"/>
                <a:gd name="T93" fmla="*/ 39 h 323"/>
                <a:gd name="T94" fmla="*/ 34 w 145"/>
                <a:gd name="T95" fmla="*/ 20 h 323"/>
                <a:gd name="T96" fmla="*/ 42 w 145"/>
                <a:gd name="T97" fmla="*/ 30 h 323"/>
                <a:gd name="T98" fmla="*/ 51 w 145"/>
                <a:gd name="T99" fmla="*/ 30 h 323"/>
                <a:gd name="T100" fmla="*/ 51 w 145"/>
                <a:gd name="T101" fmla="*/ 20 h 323"/>
                <a:gd name="T102" fmla="*/ 59 w 145"/>
                <a:gd name="T103" fmla="*/ 30 h 323"/>
                <a:gd name="T104" fmla="*/ 68 w 145"/>
                <a:gd name="T105" fmla="*/ 20 h 323"/>
                <a:gd name="T106" fmla="*/ 77 w 145"/>
                <a:gd name="T107" fmla="*/ 10 h 323"/>
                <a:gd name="T108" fmla="*/ 94 w 145"/>
                <a:gd name="T109" fmla="*/ 10 h 323"/>
                <a:gd name="T110" fmla="*/ 102 w 145"/>
                <a:gd name="T111" fmla="*/ 0 h 323"/>
                <a:gd name="T112" fmla="*/ 128 w 145"/>
                <a:gd name="T113" fmla="*/ 0 h 323"/>
                <a:gd name="T114" fmla="*/ 136 w 145"/>
                <a:gd name="T115" fmla="*/ 0 h 32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45"/>
                <a:gd name="T175" fmla="*/ 0 h 323"/>
                <a:gd name="T176" fmla="*/ 145 w 145"/>
                <a:gd name="T177" fmla="*/ 323 h 323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45" h="323">
                  <a:moveTo>
                    <a:pt x="136" y="0"/>
                  </a:moveTo>
                  <a:lnTo>
                    <a:pt x="145" y="10"/>
                  </a:lnTo>
                  <a:lnTo>
                    <a:pt x="128" y="20"/>
                  </a:lnTo>
                  <a:lnTo>
                    <a:pt x="119" y="39"/>
                  </a:lnTo>
                  <a:lnTo>
                    <a:pt x="128" y="39"/>
                  </a:lnTo>
                  <a:lnTo>
                    <a:pt x="119" y="59"/>
                  </a:lnTo>
                  <a:lnTo>
                    <a:pt x="119" y="79"/>
                  </a:lnTo>
                  <a:lnTo>
                    <a:pt x="111" y="79"/>
                  </a:lnTo>
                  <a:lnTo>
                    <a:pt x="102" y="79"/>
                  </a:lnTo>
                  <a:lnTo>
                    <a:pt x="102" y="69"/>
                  </a:lnTo>
                  <a:lnTo>
                    <a:pt x="94" y="79"/>
                  </a:lnTo>
                  <a:lnTo>
                    <a:pt x="85" y="79"/>
                  </a:lnTo>
                  <a:lnTo>
                    <a:pt x="77" y="98"/>
                  </a:lnTo>
                  <a:lnTo>
                    <a:pt x="77" y="128"/>
                  </a:lnTo>
                  <a:lnTo>
                    <a:pt x="68" y="147"/>
                  </a:lnTo>
                  <a:lnTo>
                    <a:pt x="68" y="176"/>
                  </a:lnTo>
                  <a:lnTo>
                    <a:pt x="77" y="186"/>
                  </a:lnTo>
                  <a:lnTo>
                    <a:pt x="85" y="216"/>
                  </a:lnTo>
                  <a:lnTo>
                    <a:pt x="94" y="235"/>
                  </a:lnTo>
                  <a:lnTo>
                    <a:pt x="85" y="255"/>
                  </a:lnTo>
                  <a:lnTo>
                    <a:pt x="77" y="284"/>
                  </a:lnTo>
                  <a:lnTo>
                    <a:pt x="77" y="314"/>
                  </a:lnTo>
                  <a:lnTo>
                    <a:pt x="59" y="323"/>
                  </a:lnTo>
                  <a:lnTo>
                    <a:pt x="51" y="323"/>
                  </a:lnTo>
                  <a:lnTo>
                    <a:pt x="42" y="323"/>
                  </a:lnTo>
                  <a:lnTo>
                    <a:pt x="34" y="323"/>
                  </a:lnTo>
                  <a:lnTo>
                    <a:pt x="25" y="314"/>
                  </a:lnTo>
                  <a:lnTo>
                    <a:pt x="25" y="294"/>
                  </a:lnTo>
                  <a:lnTo>
                    <a:pt x="17" y="284"/>
                  </a:lnTo>
                  <a:lnTo>
                    <a:pt x="17" y="265"/>
                  </a:lnTo>
                  <a:lnTo>
                    <a:pt x="17" y="235"/>
                  </a:lnTo>
                  <a:lnTo>
                    <a:pt x="8" y="206"/>
                  </a:lnTo>
                  <a:lnTo>
                    <a:pt x="17" y="186"/>
                  </a:lnTo>
                  <a:lnTo>
                    <a:pt x="17" y="118"/>
                  </a:lnTo>
                  <a:lnTo>
                    <a:pt x="25" y="108"/>
                  </a:lnTo>
                  <a:lnTo>
                    <a:pt x="34" y="88"/>
                  </a:lnTo>
                  <a:lnTo>
                    <a:pt x="42" y="69"/>
                  </a:lnTo>
                  <a:lnTo>
                    <a:pt x="42" y="59"/>
                  </a:lnTo>
                  <a:lnTo>
                    <a:pt x="34" y="69"/>
                  </a:lnTo>
                  <a:lnTo>
                    <a:pt x="25" y="88"/>
                  </a:lnTo>
                  <a:lnTo>
                    <a:pt x="17" y="98"/>
                  </a:lnTo>
                  <a:lnTo>
                    <a:pt x="0" y="118"/>
                  </a:lnTo>
                  <a:lnTo>
                    <a:pt x="0" y="108"/>
                  </a:lnTo>
                  <a:lnTo>
                    <a:pt x="0" y="98"/>
                  </a:lnTo>
                  <a:lnTo>
                    <a:pt x="17" y="79"/>
                  </a:lnTo>
                  <a:lnTo>
                    <a:pt x="17" y="59"/>
                  </a:lnTo>
                  <a:lnTo>
                    <a:pt x="25" y="39"/>
                  </a:lnTo>
                  <a:lnTo>
                    <a:pt x="34" y="20"/>
                  </a:lnTo>
                  <a:lnTo>
                    <a:pt x="42" y="30"/>
                  </a:lnTo>
                  <a:lnTo>
                    <a:pt x="51" y="30"/>
                  </a:lnTo>
                  <a:lnTo>
                    <a:pt x="51" y="20"/>
                  </a:lnTo>
                  <a:lnTo>
                    <a:pt x="59" y="30"/>
                  </a:lnTo>
                  <a:lnTo>
                    <a:pt x="68" y="20"/>
                  </a:lnTo>
                  <a:lnTo>
                    <a:pt x="77" y="10"/>
                  </a:lnTo>
                  <a:lnTo>
                    <a:pt x="94" y="10"/>
                  </a:lnTo>
                  <a:lnTo>
                    <a:pt x="102" y="0"/>
                  </a:lnTo>
                  <a:lnTo>
                    <a:pt x="128" y="0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7" name="Freeform 89"/>
            <p:cNvSpPr>
              <a:spLocks/>
            </p:cNvSpPr>
            <p:nvPr/>
          </p:nvSpPr>
          <p:spPr bwMode="auto">
            <a:xfrm>
              <a:off x="3370" y="2773"/>
              <a:ext cx="196" cy="304"/>
            </a:xfrm>
            <a:custGeom>
              <a:avLst/>
              <a:gdLst>
                <a:gd name="T0" fmla="*/ 77 w 196"/>
                <a:gd name="T1" fmla="*/ 0 h 304"/>
                <a:gd name="T2" fmla="*/ 94 w 196"/>
                <a:gd name="T3" fmla="*/ 10 h 304"/>
                <a:gd name="T4" fmla="*/ 102 w 196"/>
                <a:gd name="T5" fmla="*/ 20 h 304"/>
                <a:gd name="T6" fmla="*/ 119 w 196"/>
                <a:gd name="T7" fmla="*/ 29 h 304"/>
                <a:gd name="T8" fmla="*/ 136 w 196"/>
                <a:gd name="T9" fmla="*/ 29 h 304"/>
                <a:gd name="T10" fmla="*/ 136 w 196"/>
                <a:gd name="T11" fmla="*/ 39 h 304"/>
                <a:gd name="T12" fmla="*/ 136 w 196"/>
                <a:gd name="T13" fmla="*/ 49 h 304"/>
                <a:gd name="T14" fmla="*/ 136 w 196"/>
                <a:gd name="T15" fmla="*/ 59 h 304"/>
                <a:gd name="T16" fmla="*/ 145 w 196"/>
                <a:gd name="T17" fmla="*/ 69 h 304"/>
                <a:gd name="T18" fmla="*/ 145 w 196"/>
                <a:gd name="T19" fmla="*/ 98 h 304"/>
                <a:gd name="T20" fmla="*/ 136 w 196"/>
                <a:gd name="T21" fmla="*/ 108 h 304"/>
                <a:gd name="T22" fmla="*/ 136 w 196"/>
                <a:gd name="T23" fmla="*/ 118 h 304"/>
                <a:gd name="T24" fmla="*/ 128 w 196"/>
                <a:gd name="T25" fmla="*/ 127 h 304"/>
                <a:gd name="T26" fmla="*/ 119 w 196"/>
                <a:gd name="T27" fmla="*/ 147 h 304"/>
                <a:gd name="T28" fmla="*/ 128 w 196"/>
                <a:gd name="T29" fmla="*/ 157 h 304"/>
                <a:gd name="T30" fmla="*/ 136 w 196"/>
                <a:gd name="T31" fmla="*/ 147 h 304"/>
                <a:gd name="T32" fmla="*/ 154 w 196"/>
                <a:gd name="T33" fmla="*/ 127 h 304"/>
                <a:gd name="T34" fmla="*/ 162 w 196"/>
                <a:gd name="T35" fmla="*/ 118 h 304"/>
                <a:gd name="T36" fmla="*/ 179 w 196"/>
                <a:gd name="T37" fmla="*/ 118 h 304"/>
                <a:gd name="T38" fmla="*/ 188 w 196"/>
                <a:gd name="T39" fmla="*/ 147 h 304"/>
                <a:gd name="T40" fmla="*/ 188 w 196"/>
                <a:gd name="T41" fmla="*/ 157 h 304"/>
                <a:gd name="T42" fmla="*/ 188 w 196"/>
                <a:gd name="T43" fmla="*/ 176 h 304"/>
                <a:gd name="T44" fmla="*/ 196 w 196"/>
                <a:gd name="T45" fmla="*/ 186 h 304"/>
                <a:gd name="T46" fmla="*/ 196 w 196"/>
                <a:gd name="T47" fmla="*/ 215 h 304"/>
                <a:gd name="T48" fmla="*/ 179 w 196"/>
                <a:gd name="T49" fmla="*/ 225 h 304"/>
                <a:gd name="T50" fmla="*/ 179 w 196"/>
                <a:gd name="T51" fmla="*/ 235 h 304"/>
                <a:gd name="T52" fmla="*/ 171 w 196"/>
                <a:gd name="T53" fmla="*/ 245 h 304"/>
                <a:gd name="T54" fmla="*/ 171 w 196"/>
                <a:gd name="T55" fmla="*/ 264 h 304"/>
                <a:gd name="T56" fmla="*/ 162 w 196"/>
                <a:gd name="T57" fmla="*/ 274 h 304"/>
                <a:gd name="T58" fmla="*/ 154 w 196"/>
                <a:gd name="T59" fmla="*/ 294 h 304"/>
                <a:gd name="T60" fmla="*/ 94 w 196"/>
                <a:gd name="T61" fmla="*/ 294 h 304"/>
                <a:gd name="T62" fmla="*/ 9 w 196"/>
                <a:gd name="T63" fmla="*/ 304 h 304"/>
                <a:gd name="T64" fmla="*/ 9 w 196"/>
                <a:gd name="T65" fmla="*/ 274 h 304"/>
                <a:gd name="T66" fmla="*/ 17 w 196"/>
                <a:gd name="T67" fmla="*/ 245 h 304"/>
                <a:gd name="T68" fmla="*/ 26 w 196"/>
                <a:gd name="T69" fmla="*/ 225 h 304"/>
                <a:gd name="T70" fmla="*/ 17 w 196"/>
                <a:gd name="T71" fmla="*/ 206 h 304"/>
                <a:gd name="T72" fmla="*/ 9 w 196"/>
                <a:gd name="T73" fmla="*/ 176 h 304"/>
                <a:gd name="T74" fmla="*/ 0 w 196"/>
                <a:gd name="T75" fmla="*/ 166 h 304"/>
                <a:gd name="T76" fmla="*/ 0 w 196"/>
                <a:gd name="T77" fmla="*/ 137 h 304"/>
                <a:gd name="T78" fmla="*/ 9 w 196"/>
                <a:gd name="T79" fmla="*/ 118 h 304"/>
                <a:gd name="T80" fmla="*/ 9 w 196"/>
                <a:gd name="T81" fmla="*/ 88 h 304"/>
                <a:gd name="T82" fmla="*/ 17 w 196"/>
                <a:gd name="T83" fmla="*/ 69 h 304"/>
                <a:gd name="T84" fmla="*/ 26 w 196"/>
                <a:gd name="T85" fmla="*/ 69 h 304"/>
                <a:gd name="T86" fmla="*/ 34 w 196"/>
                <a:gd name="T87" fmla="*/ 59 h 304"/>
                <a:gd name="T88" fmla="*/ 34 w 196"/>
                <a:gd name="T89" fmla="*/ 69 h 304"/>
                <a:gd name="T90" fmla="*/ 43 w 196"/>
                <a:gd name="T91" fmla="*/ 69 h 304"/>
                <a:gd name="T92" fmla="*/ 51 w 196"/>
                <a:gd name="T93" fmla="*/ 69 h 304"/>
                <a:gd name="T94" fmla="*/ 51 w 196"/>
                <a:gd name="T95" fmla="*/ 49 h 304"/>
                <a:gd name="T96" fmla="*/ 60 w 196"/>
                <a:gd name="T97" fmla="*/ 29 h 304"/>
                <a:gd name="T98" fmla="*/ 51 w 196"/>
                <a:gd name="T99" fmla="*/ 29 h 304"/>
                <a:gd name="T100" fmla="*/ 60 w 196"/>
                <a:gd name="T101" fmla="*/ 10 h 304"/>
                <a:gd name="T102" fmla="*/ 77 w 196"/>
                <a:gd name="T103" fmla="*/ 0 h 30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196"/>
                <a:gd name="T157" fmla="*/ 0 h 304"/>
                <a:gd name="T158" fmla="*/ 196 w 196"/>
                <a:gd name="T159" fmla="*/ 304 h 304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196" h="304">
                  <a:moveTo>
                    <a:pt x="77" y="0"/>
                  </a:moveTo>
                  <a:lnTo>
                    <a:pt x="94" y="10"/>
                  </a:lnTo>
                  <a:lnTo>
                    <a:pt x="102" y="20"/>
                  </a:lnTo>
                  <a:lnTo>
                    <a:pt x="119" y="29"/>
                  </a:lnTo>
                  <a:lnTo>
                    <a:pt x="136" y="29"/>
                  </a:lnTo>
                  <a:lnTo>
                    <a:pt x="136" y="39"/>
                  </a:lnTo>
                  <a:lnTo>
                    <a:pt x="136" y="49"/>
                  </a:lnTo>
                  <a:lnTo>
                    <a:pt x="136" y="59"/>
                  </a:lnTo>
                  <a:lnTo>
                    <a:pt x="145" y="69"/>
                  </a:lnTo>
                  <a:lnTo>
                    <a:pt x="145" y="98"/>
                  </a:lnTo>
                  <a:lnTo>
                    <a:pt x="136" y="108"/>
                  </a:lnTo>
                  <a:lnTo>
                    <a:pt x="136" y="118"/>
                  </a:lnTo>
                  <a:lnTo>
                    <a:pt x="128" y="127"/>
                  </a:lnTo>
                  <a:lnTo>
                    <a:pt x="119" y="147"/>
                  </a:lnTo>
                  <a:lnTo>
                    <a:pt x="128" y="157"/>
                  </a:lnTo>
                  <a:lnTo>
                    <a:pt x="136" y="147"/>
                  </a:lnTo>
                  <a:lnTo>
                    <a:pt x="154" y="127"/>
                  </a:lnTo>
                  <a:lnTo>
                    <a:pt x="162" y="118"/>
                  </a:lnTo>
                  <a:lnTo>
                    <a:pt x="179" y="118"/>
                  </a:lnTo>
                  <a:lnTo>
                    <a:pt x="188" y="147"/>
                  </a:lnTo>
                  <a:lnTo>
                    <a:pt x="188" y="157"/>
                  </a:lnTo>
                  <a:lnTo>
                    <a:pt x="188" y="176"/>
                  </a:lnTo>
                  <a:lnTo>
                    <a:pt x="196" y="186"/>
                  </a:lnTo>
                  <a:lnTo>
                    <a:pt x="196" y="215"/>
                  </a:lnTo>
                  <a:lnTo>
                    <a:pt x="179" y="225"/>
                  </a:lnTo>
                  <a:lnTo>
                    <a:pt x="179" y="235"/>
                  </a:lnTo>
                  <a:lnTo>
                    <a:pt x="171" y="245"/>
                  </a:lnTo>
                  <a:lnTo>
                    <a:pt x="171" y="264"/>
                  </a:lnTo>
                  <a:lnTo>
                    <a:pt x="162" y="274"/>
                  </a:lnTo>
                  <a:lnTo>
                    <a:pt x="154" y="294"/>
                  </a:lnTo>
                  <a:lnTo>
                    <a:pt x="94" y="294"/>
                  </a:lnTo>
                  <a:lnTo>
                    <a:pt x="9" y="304"/>
                  </a:lnTo>
                  <a:lnTo>
                    <a:pt x="9" y="274"/>
                  </a:lnTo>
                  <a:lnTo>
                    <a:pt x="17" y="245"/>
                  </a:lnTo>
                  <a:lnTo>
                    <a:pt x="26" y="225"/>
                  </a:lnTo>
                  <a:lnTo>
                    <a:pt x="17" y="206"/>
                  </a:lnTo>
                  <a:lnTo>
                    <a:pt x="9" y="176"/>
                  </a:lnTo>
                  <a:lnTo>
                    <a:pt x="0" y="166"/>
                  </a:lnTo>
                  <a:lnTo>
                    <a:pt x="0" y="137"/>
                  </a:lnTo>
                  <a:lnTo>
                    <a:pt x="9" y="118"/>
                  </a:lnTo>
                  <a:lnTo>
                    <a:pt x="9" y="88"/>
                  </a:lnTo>
                  <a:lnTo>
                    <a:pt x="17" y="69"/>
                  </a:lnTo>
                  <a:lnTo>
                    <a:pt x="26" y="69"/>
                  </a:lnTo>
                  <a:lnTo>
                    <a:pt x="34" y="59"/>
                  </a:lnTo>
                  <a:lnTo>
                    <a:pt x="34" y="69"/>
                  </a:lnTo>
                  <a:lnTo>
                    <a:pt x="43" y="69"/>
                  </a:lnTo>
                  <a:lnTo>
                    <a:pt x="51" y="69"/>
                  </a:lnTo>
                  <a:lnTo>
                    <a:pt x="51" y="49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60" y="1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8" name="Freeform 90"/>
            <p:cNvSpPr>
              <a:spLocks/>
            </p:cNvSpPr>
            <p:nvPr/>
          </p:nvSpPr>
          <p:spPr bwMode="auto">
            <a:xfrm>
              <a:off x="3464" y="3028"/>
              <a:ext cx="213" cy="264"/>
            </a:xfrm>
            <a:custGeom>
              <a:avLst/>
              <a:gdLst>
                <a:gd name="T0" fmla="*/ 68 w 213"/>
                <a:gd name="T1" fmla="*/ 39 h 264"/>
                <a:gd name="T2" fmla="*/ 94 w 213"/>
                <a:gd name="T3" fmla="*/ 39 h 264"/>
                <a:gd name="T4" fmla="*/ 102 w 213"/>
                <a:gd name="T5" fmla="*/ 49 h 264"/>
                <a:gd name="T6" fmla="*/ 119 w 213"/>
                <a:gd name="T7" fmla="*/ 58 h 264"/>
                <a:gd name="T8" fmla="*/ 128 w 213"/>
                <a:gd name="T9" fmla="*/ 49 h 264"/>
                <a:gd name="T10" fmla="*/ 153 w 213"/>
                <a:gd name="T11" fmla="*/ 39 h 264"/>
                <a:gd name="T12" fmla="*/ 162 w 213"/>
                <a:gd name="T13" fmla="*/ 29 h 264"/>
                <a:gd name="T14" fmla="*/ 179 w 213"/>
                <a:gd name="T15" fmla="*/ 9 h 264"/>
                <a:gd name="T16" fmla="*/ 205 w 213"/>
                <a:gd name="T17" fmla="*/ 0 h 264"/>
                <a:gd name="T18" fmla="*/ 213 w 213"/>
                <a:gd name="T19" fmla="*/ 88 h 264"/>
                <a:gd name="T20" fmla="*/ 213 w 213"/>
                <a:gd name="T21" fmla="*/ 107 h 264"/>
                <a:gd name="T22" fmla="*/ 205 w 213"/>
                <a:gd name="T23" fmla="*/ 117 h 264"/>
                <a:gd name="T24" fmla="*/ 213 w 213"/>
                <a:gd name="T25" fmla="*/ 127 h 264"/>
                <a:gd name="T26" fmla="*/ 213 w 213"/>
                <a:gd name="T27" fmla="*/ 146 h 264"/>
                <a:gd name="T28" fmla="*/ 213 w 213"/>
                <a:gd name="T29" fmla="*/ 156 h 264"/>
                <a:gd name="T30" fmla="*/ 213 w 213"/>
                <a:gd name="T31" fmla="*/ 166 h 264"/>
                <a:gd name="T32" fmla="*/ 205 w 213"/>
                <a:gd name="T33" fmla="*/ 176 h 264"/>
                <a:gd name="T34" fmla="*/ 187 w 213"/>
                <a:gd name="T35" fmla="*/ 195 h 264"/>
                <a:gd name="T36" fmla="*/ 179 w 213"/>
                <a:gd name="T37" fmla="*/ 195 h 264"/>
                <a:gd name="T38" fmla="*/ 170 w 213"/>
                <a:gd name="T39" fmla="*/ 205 h 264"/>
                <a:gd name="T40" fmla="*/ 170 w 213"/>
                <a:gd name="T41" fmla="*/ 225 h 264"/>
                <a:gd name="T42" fmla="*/ 162 w 213"/>
                <a:gd name="T43" fmla="*/ 235 h 264"/>
                <a:gd name="T44" fmla="*/ 153 w 213"/>
                <a:gd name="T45" fmla="*/ 225 h 264"/>
                <a:gd name="T46" fmla="*/ 153 w 213"/>
                <a:gd name="T47" fmla="*/ 244 h 264"/>
                <a:gd name="T48" fmla="*/ 153 w 213"/>
                <a:gd name="T49" fmla="*/ 254 h 264"/>
                <a:gd name="T50" fmla="*/ 145 w 213"/>
                <a:gd name="T51" fmla="*/ 264 h 264"/>
                <a:gd name="T52" fmla="*/ 136 w 213"/>
                <a:gd name="T53" fmla="*/ 264 h 264"/>
                <a:gd name="T54" fmla="*/ 128 w 213"/>
                <a:gd name="T55" fmla="*/ 264 h 264"/>
                <a:gd name="T56" fmla="*/ 111 w 213"/>
                <a:gd name="T57" fmla="*/ 254 h 264"/>
                <a:gd name="T58" fmla="*/ 102 w 213"/>
                <a:gd name="T59" fmla="*/ 254 h 264"/>
                <a:gd name="T60" fmla="*/ 94 w 213"/>
                <a:gd name="T61" fmla="*/ 254 h 264"/>
                <a:gd name="T62" fmla="*/ 85 w 213"/>
                <a:gd name="T63" fmla="*/ 254 h 264"/>
                <a:gd name="T64" fmla="*/ 77 w 213"/>
                <a:gd name="T65" fmla="*/ 264 h 264"/>
                <a:gd name="T66" fmla="*/ 68 w 213"/>
                <a:gd name="T67" fmla="*/ 254 h 264"/>
                <a:gd name="T68" fmla="*/ 51 w 213"/>
                <a:gd name="T69" fmla="*/ 254 h 264"/>
                <a:gd name="T70" fmla="*/ 42 w 213"/>
                <a:gd name="T71" fmla="*/ 235 h 264"/>
                <a:gd name="T72" fmla="*/ 17 w 213"/>
                <a:gd name="T73" fmla="*/ 235 h 264"/>
                <a:gd name="T74" fmla="*/ 0 w 213"/>
                <a:gd name="T75" fmla="*/ 39 h 264"/>
                <a:gd name="T76" fmla="*/ 60 w 213"/>
                <a:gd name="T77" fmla="*/ 39 h 264"/>
                <a:gd name="T78" fmla="*/ 68 w 213"/>
                <a:gd name="T79" fmla="*/ 39 h 26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13"/>
                <a:gd name="T121" fmla="*/ 0 h 264"/>
                <a:gd name="T122" fmla="*/ 213 w 213"/>
                <a:gd name="T123" fmla="*/ 264 h 26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13" h="264">
                  <a:moveTo>
                    <a:pt x="68" y="39"/>
                  </a:moveTo>
                  <a:lnTo>
                    <a:pt x="94" y="39"/>
                  </a:lnTo>
                  <a:lnTo>
                    <a:pt x="102" y="49"/>
                  </a:lnTo>
                  <a:lnTo>
                    <a:pt x="119" y="58"/>
                  </a:lnTo>
                  <a:lnTo>
                    <a:pt x="128" y="49"/>
                  </a:lnTo>
                  <a:lnTo>
                    <a:pt x="153" y="39"/>
                  </a:lnTo>
                  <a:lnTo>
                    <a:pt x="162" y="29"/>
                  </a:lnTo>
                  <a:lnTo>
                    <a:pt x="179" y="9"/>
                  </a:lnTo>
                  <a:lnTo>
                    <a:pt x="205" y="0"/>
                  </a:lnTo>
                  <a:lnTo>
                    <a:pt x="213" y="88"/>
                  </a:lnTo>
                  <a:lnTo>
                    <a:pt x="213" y="107"/>
                  </a:lnTo>
                  <a:lnTo>
                    <a:pt x="205" y="117"/>
                  </a:lnTo>
                  <a:lnTo>
                    <a:pt x="213" y="127"/>
                  </a:lnTo>
                  <a:lnTo>
                    <a:pt x="213" y="146"/>
                  </a:lnTo>
                  <a:lnTo>
                    <a:pt x="213" y="156"/>
                  </a:lnTo>
                  <a:lnTo>
                    <a:pt x="213" y="166"/>
                  </a:lnTo>
                  <a:lnTo>
                    <a:pt x="205" y="176"/>
                  </a:lnTo>
                  <a:lnTo>
                    <a:pt x="187" y="195"/>
                  </a:lnTo>
                  <a:lnTo>
                    <a:pt x="179" y="195"/>
                  </a:lnTo>
                  <a:lnTo>
                    <a:pt x="170" y="205"/>
                  </a:lnTo>
                  <a:lnTo>
                    <a:pt x="170" y="225"/>
                  </a:lnTo>
                  <a:lnTo>
                    <a:pt x="162" y="235"/>
                  </a:lnTo>
                  <a:lnTo>
                    <a:pt x="153" y="225"/>
                  </a:lnTo>
                  <a:lnTo>
                    <a:pt x="153" y="244"/>
                  </a:lnTo>
                  <a:lnTo>
                    <a:pt x="153" y="254"/>
                  </a:lnTo>
                  <a:lnTo>
                    <a:pt x="145" y="264"/>
                  </a:lnTo>
                  <a:lnTo>
                    <a:pt x="136" y="264"/>
                  </a:lnTo>
                  <a:lnTo>
                    <a:pt x="128" y="264"/>
                  </a:lnTo>
                  <a:lnTo>
                    <a:pt x="111" y="254"/>
                  </a:lnTo>
                  <a:lnTo>
                    <a:pt x="102" y="254"/>
                  </a:lnTo>
                  <a:lnTo>
                    <a:pt x="94" y="254"/>
                  </a:lnTo>
                  <a:lnTo>
                    <a:pt x="85" y="254"/>
                  </a:lnTo>
                  <a:lnTo>
                    <a:pt x="77" y="264"/>
                  </a:lnTo>
                  <a:lnTo>
                    <a:pt x="68" y="254"/>
                  </a:lnTo>
                  <a:lnTo>
                    <a:pt x="51" y="254"/>
                  </a:lnTo>
                  <a:lnTo>
                    <a:pt x="42" y="235"/>
                  </a:lnTo>
                  <a:lnTo>
                    <a:pt x="17" y="235"/>
                  </a:lnTo>
                  <a:lnTo>
                    <a:pt x="0" y="39"/>
                  </a:lnTo>
                  <a:lnTo>
                    <a:pt x="60" y="39"/>
                  </a:lnTo>
                  <a:lnTo>
                    <a:pt x="68" y="3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09" name="Freeform 91"/>
            <p:cNvSpPr>
              <a:spLocks/>
            </p:cNvSpPr>
            <p:nvPr/>
          </p:nvSpPr>
          <p:spPr bwMode="auto">
            <a:xfrm>
              <a:off x="3464" y="3556"/>
              <a:ext cx="281" cy="323"/>
            </a:xfrm>
            <a:custGeom>
              <a:avLst/>
              <a:gdLst>
                <a:gd name="T0" fmla="*/ 60 w 281"/>
                <a:gd name="T1" fmla="*/ 10 h 323"/>
                <a:gd name="T2" fmla="*/ 136 w 281"/>
                <a:gd name="T3" fmla="*/ 0 h 323"/>
                <a:gd name="T4" fmla="*/ 128 w 281"/>
                <a:gd name="T5" fmla="*/ 10 h 323"/>
                <a:gd name="T6" fmla="*/ 128 w 281"/>
                <a:gd name="T7" fmla="*/ 20 h 323"/>
                <a:gd name="T8" fmla="*/ 136 w 281"/>
                <a:gd name="T9" fmla="*/ 30 h 323"/>
                <a:gd name="T10" fmla="*/ 153 w 281"/>
                <a:gd name="T11" fmla="*/ 30 h 323"/>
                <a:gd name="T12" fmla="*/ 162 w 281"/>
                <a:gd name="T13" fmla="*/ 49 h 323"/>
                <a:gd name="T14" fmla="*/ 170 w 281"/>
                <a:gd name="T15" fmla="*/ 59 h 323"/>
                <a:gd name="T16" fmla="*/ 179 w 281"/>
                <a:gd name="T17" fmla="*/ 69 h 323"/>
                <a:gd name="T18" fmla="*/ 196 w 281"/>
                <a:gd name="T19" fmla="*/ 88 h 323"/>
                <a:gd name="T20" fmla="*/ 213 w 281"/>
                <a:gd name="T21" fmla="*/ 98 h 323"/>
                <a:gd name="T22" fmla="*/ 213 w 281"/>
                <a:gd name="T23" fmla="*/ 108 h 323"/>
                <a:gd name="T24" fmla="*/ 222 w 281"/>
                <a:gd name="T25" fmla="*/ 118 h 323"/>
                <a:gd name="T26" fmla="*/ 239 w 281"/>
                <a:gd name="T27" fmla="*/ 128 h 323"/>
                <a:gd name="T28" fmla="*/ 247 w 281"/>
                <a:gd name="T29" fmla="*/ 147 h 323"/>
                <a:gd name="T30" fmla="*/ 247 w 281"/>
                <a:gd name="T31" fmla="*/ 157 h 323"/>
                <a:gd name="T32" fmla="*/ 256 w 281"/>
                <a:gd name="T33" fmla="*/ 167 h 323"/>
                <a:gd name="T34" fmla="*/ 264 w 281"/>
                <a:gd name="T35" fmla="*/ 186 h 323"/>
                <a:gd name="T36" fmla="*/ 281 w 281"/>
                <a:gd name="T37" fmla="*/ 196 h 323"/>
                <a:gd name="T38" fmla="*/ 281 w 281"/>
                <a:gd name="T39" fmla="*/ 196 h 323"/>
                <a:gd name="T40" fmla="*/ 264 w 281"/>
                <a:gd name="T41" fmla="*/ 225 h 323"/>
                <a:gd name="T42" fmla="*/ 264 w 281"/>
                <a:gd name="T43" fmla="*/ 245 h 323"/>
                <a:gd name="T44" fmla="*/ 256 w 281"/>
                <a:gd name="T45" fmla="*/ 255 h 323"/>
                <a:gd name="T46" fmla="*/ 256 w 281"/>
                <a:gd name="T47" fmla="*/ 294 h 323"/>
                <a:gd name="T48" fmla="*/ 247 w 281"/>
                <a:gd name="T49" fmla="*/ 294 h 323"/>
                <a:gd name="T50" fmla="*/ 239 w 281"/>
                <a:gd name="T51" fmla="*/ 294 h 323"/>
                <a:gd name="T52" fmla="*/ 239 w 281"/>
                <a:gd name="T53" fmla="*/ 284 h 323"/>
                <a:gd name="T54" fmla="*/ 230 w 281"/>
                <a:gd name="T55" fmla="*/ 294 h 323"/>
                <a:gd name="T56" fmla="*/ 230 w 281"/>
                <a:gd name="T57" fmla="*/ 314 h 323"/>
                <a:gd name="T58" fmla="*/ 230 w 281"/>
                <a:gd name="T59" fmla="*/ 323 h 323"/>
                <a:gd name="T60" fmla="*/ 222 w 281"/>
                <a:gd name="T61" fmla="*/ 314 h 323"/>
                <a:gd name="T62" fmla="*/ 222 w 281"/>
                <a:gd name="T63" fmla="*/ 304 h 323"/>
                <a:gd name="T64" fmla="*/ 68 w 281"/>
                <a:gd name="T65" fmla="*/ 314 h 323"/>
                <a:gd name="T66" fmla="*/ 60 w 281"/>
                <a:gd name="T67" fmla="*/ 294 h 323"/>
                <a:gd name="T68" fmla="*/ 60 w 281"/>
                <a:gd name="T69" fmla="*/ 284 h 323"/>
                <a:gd name="T70" fmla="*/ 51 w 281"/>
                <a:gd name="T71" fmla="*/ 255 h 323"/>
                <a:gd name="T72" fmla="*/ 51 w 281"/>
                <a:gd name="T73" fmla="*/ 235 h 323"/>
                <a:gd name="T74" fmla="*/ 51 w 281"/>
                <a:gd name="T75" fmla="*/ 216 h 323"/>
                <a:gd name="T76" fmla="*/ 60 w 281"/>
                <a:gd name="T77" fmla="*/ 206 h 323"/>
                <a:gd name="T78" fmla="*/ 51 w 281"/>
                <a:gd name="T79" fmla="*/ 186 h 323"/>
                <a:gd name="T80" fmla="*/ 42 w 281"/>
                <a:gd name="T81" fmla="*/ 186 h 323"/>
                <a:gd name="T82" fmla="*/ 42 w 281"/>
                <a:gd name="T83" fmla="*/ 177 h 323"/>
                <a:gd name="T84" fmla="*/ 34 w 281"/>
                <a:gd name="T85" fmla="*/ 157 h 323"/>
                <a:gd name="T86" fmla="*/ 17 w 281"/>
                <a:gd name="T87" fmla="*/ 79 h 323"/>
                <a:gd name="T88" fmla="*/ 0 w 281"/>
                <a:gd name="T89" fmla="*/ 10 h 323"/>
                <a:gd name="T90" fmla="*/ 60 w 281"/>
                <a:gd name="T91" fmla="*/ 10 h 32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81"/>
                <a:gd name="T139" fmla="*/ 0 h 323"/>
                <a:gd name="T140" fmla="*/ 281 w 281"/>
                <a:gd name="T141" fmla="*/ 323 h 32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81" h="323">
                  <a:moveTo>
                    <a:pt x="60" y="10"/>
                  </a:moveTo>
                  <a:lnTo>
                    <a:pt x="136" y="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36" y="30"/>
                  </a:lnTo>
                  <a:lnTo>
                    <a:pt x="153" y="30"/>
                  </a:lnTo>
                  <a:lnTo>
                    <a:pt x="162" y="49"/>
                  </a:lnTo>
                  <a:lnTo>
                    <a:pt x="170" y="59"/>
                  </a:lnTo>
                  <a:lnTo>
                    <a:pt x="179" y="69"/>
                  </a:lnTo>
                  <a:lnTo>
                    <a:pt x="196" y="88"/>
                  </a:lnTo>
                  <a:lnTo>
                    <a:pt x="213" y="98"/>
                  </a:lnTo>
                  <a:lnTo>
                    <a:pt x="213" y="108"/>
                  </a:lnTo>
                  <a:lnTo>
                    <a:pt x="222" y="118"/>
                  </a:lnTo>
                  <a:lnTo>
                    <a:pt x="239" y="128"/>
                  </a:lnTo>
                  <a:lnTo>
                    <a:pt x="247" y="147"/>
                  </a:lnTo>
                  <a:lnTo>
                    <a:pt x="247" y="157"/>
                  </a:lnTo>
                  <a:lnTo>
                    <a:pt x="256" y="167"/>
                  </a:lnTo>
                  <a:lnTo>
                    <a:pt x="264" y="186"/>
                  </a:lnTo>
                  <a:lnTo>
                    <a:pt x="281" y="196"/>
                  </a:lnTo>
                  <a:lnTo>
                    <a:pt x="264" y="225"/>
                  </a:lnTo>
                  <a:lnTo>
                    <a:pt x="264" y="245"/>
                  </a:lnTo>
                  <a:lnTo>
                    <a:pt x="256" y="255"/>
                  </a:lnTo>
                  <a:lnTo>
                    <a:pt x="256" y="294"/>
                  </a:lnTo>
                  <a:lnTo>
                    <a:pt x="247" y="294"/>
                  </a:lnTo>
                  <a:lnTo>
                    <a:pt x="239" y="294"/>
                  </a:lnTo>
                  <a:lnTo>
                    <a:pt x="239" y="284"/>
                  </a:lnTo>
                  <a:lnTo>
                    <a:pt x="230" y="294"/>
                  </a:lnTo>
                  <a:lnTo>
                    <a:pt x="230" y="314"/>
                  </a:lnTo>
                  <a:lnTo>
                    <a:pt x="230" y="323"/>
                  </a:lnTo>
                  <a:lnTo>
                    <a:pt x="222" y="314"/>
                  </a:lnTo>
                  <a:lnTo>
                    <a:pt x="222" y="304"/>
                  </a:lnTo>
                  <a:lnTo>
                    <a:pt x="68" y="314"/>
                  </a:lnTo>
                  <a:lnTo>
                    <a:pt x="60" y="294"/>
                  </a:lnTo>
                  <a:lnTo>
                    <a:pt x="60" y="284"/>
                  </a:lnTo>
                  <a:lnTo>
                    <a:pt x="51" y="255"/>
                  </a:lnTo>
                  <a:lnTo>
                    <a:pt x="51" y="235"/>
                  </a:lnTo>
                  <a:lnTo>
                    <a:pt x="51" y="216"/>
                  </a:lnTo>
                  <a:lnTo>
                    <a:pt x="60" y="206"/>
                  </a:lnTo>
                  <a:lnTo>
                    <a:pt x="51" y="186"/>
                  </a:lnTo>
                  <a:lnTo>
                    <a:pt x="42" y="186"/>
                  </a:lnTo>
                  <a:lnTo>
                    <a:pt x="42" y="177"/>
                  </a:lnTo>
                  <a:lnTo>
                    <a:pt x="34" y="157"/>
                  </a:lnTo>
                  <a:lnTo>
                    <a:pt x="17" y="79"/>
                  </a:lnTo>
                  <a:lnTo>
                    <a:pt x="0" y="10"/>
                  </a:lnTo>
                  <a:lnTo>
                    <a:pt x="60" y="1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0" name="Freeform 92"/>
            <p:cNvSpPr>
              <a:spLocks/>
            </p:cNvSpPr>
            <p:nvPr/>
          </p:nvSpPr>
          <p:spPr bwMode="auto">
            <a:xfrm>
              <a:off x="3379" y="3840"/>
              <a:ext cx="469" cy="402"/>
            </a:xfrm>
            <a:custGeom>
              <a:avLst/>
              <a:gdLst>
                <a:gd name="T0" fmla="*/ 349 w 469"/>
                <a:gd name="T1" fmla="*/ 30 h 402"/>
                <a:gd name="T2" fmla="*/ 358 w 469"/>
                <a:gd name="T3" fmla="*/ 49 h 402"/>
                <a:gd name="T4" fmla="*/ 375 w 469"/>
                <a:gd name="T5" fmla="*/ 98 h 402"/>
                <a:gd name="T6" fmla="*/ 400 w 469"/>
                <a:gd name="T7" fmla="*/ 128 h 402"/>
                <a:gd name="T8" fmla="*/ 418 w 469"/>
                <a:gd name="T9" fmla="*/ 167 h 402"/>
                <a:gd name="T10" fmla="*/ 418 w 469"/>
                <a:gd name="T11" fmla="*/ 186 h 402"/>
                <a:gd name="T12" fmla="*/ 443 w 469"/>
                <a:gd name="T13" fmla="*/ 225 h 402"/>
                <a:gd name="T14" fmla="*/ 460 w 469"/>
                <a:gd name="T15" fmla="*/ 274 h 402"/>
                <a:gd name="T16" fmla="*/ 469 w 469"/>
                <a:gd name="T17" fmla="*/ 343 h 402"/>
                <a:gd name="T18" fmla="*/ 460 w 469"/>
                <a:gd name="T19" fmla="*/ 372 h 402"/>
                <a:gd name="T20" fmla="*/ 443 w 469"/>
                <a:gd name="T21" fmla="*/ 392 h 402"/>
                <a:gd name="T22" fmla="*/ 418 w 469"/>
                <a:gd name="T23" fmla="*/ 402 h 402"/>
                <a:gd name="T24" fmla="*/ 409 w 469"/>
                <a:gd name="T25" fmla="*/ 392 h 402"/>
                <a:gd name="T26" fmla="*/ 400 w 469"/>
                <a:gd name="T27" fmla="*/ 382 h 402"/>
                <a:gd name="T28" fmla="*/ 375 w 469"/>
                <a:gd name="T29" fmla="*/ 353 h 402"/>
                <a:gd name="T30" fmla="*/ 349 w 469"/>
                <a:gd name="T31" fmla="*/ 314 h 402"/>
                <a:gd name="T32" fmla="*/ 332 w 469"/>
                <a:gd name="T33" fmla="*/ 294 h 402"/>
                <a:gd name="T34" fmla="*/ 315 w 469"/>
                <a:gd name="T35" fmla="*/ 265 h 402"/>
                <a:gd name="T36" fmla="*/ 307 w 469"/>
                <a:gd name="T37" fmla="*/ 245 h 402"/>
                <a:gd name="T38" fmla="*/ 315 w 469"/>
                <a:gd name="T39" fmla="*/ 235 h 402"/>
                <a:gd name="T40" fmla="*/ 324 w 469"/>
                <a:gd name="T41" fmla="*/ 216 h 402"/>
                <a:gd name="T42" fmla="*/ 307 w 469"/>
                <a:gd name="T43" fmla="*/ 225 h 402"/>
                <a:gd name="T44" fmla="*/ 307 w 469"/>
                <a:gd name="T45" fmla="*/ 216 h 402"/>
                <a:gd name="T46" fmla="*/ 298 w 469"/>
                <a:gd name="T47" fmla="*/ 225 h 402"/>
                <a:gd name="T48" fmla="*/ 298 w 469"/>
                <a:gd name="T49" fmla="*/ 235 h 402"/>
                <a:gd name="T50" fmla="*/ 290 w 469"/>
                <a:gd name="T51" fmla="*/ 225 h 402"/>
                <a:gd name="T52" fmla="*/ 298 w 469"/>
                <a:gd name="T53" fmla="*/ 176 h 402"/>
                <a:gd name="T54" fmla="*/ 281 w 469"/>
                <a:gd name="T55" fmla="*/ 128 h 402"/>
                <a:gd name="T56" fmla="*/ 247 w 469"/>
                <a:gd name="T57" fmla="*/ 108 h 402"/>
                <a:gd name="T58" fmla="*/ 213 w 469"/>
                <a:gd name="T59" fmla="*/ 79 h 402"/>
                <a:gd name="T60" fmla="*/ 187 w 469"/>
                <a:gd name="T61" fmla="*/ 88 h 402"/>
                <a:gd name="T62" fmla="*/ 162 w 469"/>
                <a:gd name="T63" fmla="*/ 98 h 402"/>
                <a:gd name="T64" fmla="*/ 136 w 469"/>
                <a:gd name="T65" fmla="*/ 108 h 402"/>
                <a:gd name="T66" fmla="*/ 136 w 469"/>
                <a:gd name="T67" fmla="*/ 98 h 402"/>
                <a:gd name="T68" fmla="*/ 102 w 469"/>
                <a:gd name="T69" fmla="*/ 79 h 402"/>
                <a:gd name="T70" fmla="*/ 68 w 469"/>
                <a:gd name="T71" fmla="*/ 69 h 402"/>
                <a:gd name="T72" fmla="*/ 42 w 469"/>
                <a:gd name="T73" fmla="*/ 69 h 402"/>
                <a:gd name="T74" fmla="*/ 34 w 469"/>
                <a:gd name="T75" fmla="*/ 69 h 402"/>
                <a:gd name="T76" fmla="*/ 34 w 469"/>
                <a:gd name="T77" fmla="*/ 59 h 402"/>
                <a:gd name="T78" fmla="*/ 17 w 469"/>
                <a:gd name="T79" fmla="*/ 79 h 402"/>
                <a:gd name="T80" fmla="*/ 17 w 469"/>
                <a:gd name="T81" fmla="*/ 49 h 402"/>
                <a:gd name="T82" fmla="*/ 0 w 469"/>
                <a:gd name="T83" fmla="*/ 30 h 402"/>
                <a:gd name="T84" fmla="*/ 145 w 469"/>
                <a:gd name="T85" fmla="*/ 10 h 402"/>
                <a:gd name="T86" fmla="*/ 307 w 469"/>
                <a:gd name="T87" fmla="*/ 20 h 402"/>
                <a:gd name="T88" fmla="*/ 315 w 469"/>
                <a:gd name="T89" fmla="*/ 39 h 402"/>
                <a:gd name="T90" fmla="*/ 315 w 469"/>
                <a:gd name="T91" fmla="*/ 10 h 402"/>
                <a:gd name="T92" fmla="*/ 324 w 469"/>
                <a:gd name="T93" fmla="*/ 10 h 402"/>
                <a:gd name="T94" fmla="*/ 341 w 469"/>
                <a:gd name="T95" fmla="*/ 10 h 4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469"/>
                <a:gd name="T145" fmla="*/ 0 h 402"/>
                <a:gd name="T146" fmla="*/ 469 w 469"/>
                <a:gd name="T147" fmla="*/ 402 h 402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469" h="402">
                  <a:moveTo>
                    <a:pt x="341" y="10"/>
                  </a:moveTo>
                  <a:lnTo>
                    <a:pt x="349" y="30"/>
                  </a:lnTo>
                  <a:lnTo>
                    <a:pt x="358" y="39"/>
                  </a:lnTo>
                  <a:lnTo>
                    <a:pt x="358" y="49"/>
                  </a:lnTo>
                  <a:lnTo>
                    <a:pt x="366" y="79"/>
                  </a:lnTo>
                  <a:lnTo>
                    <a:pt x="375" y="98"/>
                  </a:lnTo>
                  <a:lnTo>
                    <a:pt x="383" y="128"/>
                  </a:lnTo>
                  <a:lnTo>
                    <a:pt x="400" y="128"/>
                  </a:lnTo>
                  <a:lnTo>
                    <a:pt x="418" y="157"/>
                  </a:lnTo>
                  <a:lnTo>
                    <a:pt x="418" y="167"/>
                  </a:lnTo>
                  <a:lnTo>
                    <a:pt x="418" y="186"/>
                  </a:lnTo>
                  <a:lnTo>
                    <a:pt x="426" y="206"/>
                  </a:lnTo>
                  <a:lnTo>
                    <a:pt x="443" y="225"/>
                  </a:lnTo>
                  <a:lnTo>
                    <a:pt x="452" y="245"/>
                  </a:lnTo>
                  <a:lnTo>
                    <a:pt x="460" y="274"/>
                  </a:lnTo>
                  <a:lnTo>
                    <a:pt x="460" y="323"/>
                  </a:lnTo>
                  <a:lnTo>
                    <a:pt x="469" y="343"/>
                  </a:lnTo>
                  <a:lnTo>
                    <a:pt x="460" y="363"/>
                  </a:lnTo>
                  <a:lnTo>
                    <a:pt x="460" y="372"/>
                  </a:lnTo>
                  <a:lnTo>
                    <a:pt x="460" y="382"/>
                  </a:lnTo>
                  <a:lnTo>
                    <a:pt x="443" y="392"/>
                  </a:lnTo>
                  <a:lnTo>
                    <a:pt x="435" y="402"/>
                  </a:lnTo>
                  <a:lnTo>
                    <a:pt x="418" y="402"/>
                  </a:lnTo>
                  <a:lnTo>
                    <a:pt x="409" y="402"/>
                  </a:lnTo>
                  <a:lnTo>
                    <a:pt x="409" y="392"/>
                  </a:lnTo>
                  <a:lnTo>
                    <a:pt x="418" y="392"/>
                  </a:lnTo>
                  <a:lnTo>
                    <a:pt x="400" y="382"/>
                  </a:lnTo>
                  <a:lnTo>
                    <a:pt x="392" y="363"/>
                  </a:lnTo>
                  <a:lnTo>
                    <a:pt x="375" y="353"/>
                  </a:lnTo>
                  <a:lnTo>
                    <a:pt x="366" y="323"/>
                  </a:lnTo>
                  <a:lnTo>
                    <a:pt x="349" y="314"/>
                  </a:lnTo>
                  <a:lnTo>
                    <a:pt x="341" y="294"/>
                  </a:lnTo>
                  <a:lnTo>
                    <a:pt x="332" y="294"/>
                  </a:lnTo>
                  <a:lnTo>
                    <a:pt x="324" y="284"/>
                  </a:lnTo>
                  <a:lnTo>
                    <a:pt x="315" y="265"/>
                  </a:lnTo>
                  <a:lnTo>
                    <a:pt x="307" y="255"/>
                  </a:lnTo>
                  <a:lnTo>
                    <a:pt x="307" y="245"/>
                  </a:lnTo>
                  <a:lnTo>
                    <a:pt x="307" y="235"/>
                  </a:lnTo>
                  <a:lnTo>
                    <a:pt x="315" y="235"/>
                  </a:lnTo>
                  <a:lnTo>
                    <a:pt x="324" y="225"/>
                  </a:lnTo>
                  <a:lnTo>
                    <a:pt x="324" y="216"/>
                  </a:lnTo>
                  <a:lnTo>
                    <a:pt x="315" y="225"/>
                  </a:lnTo>
                  <a:lnTo>
                    <a:pt x="307" y="225"/>
                  </a:lnTo>
                  <a:lnTo>
                    <a:pt x="307" y="216"/>
                  </a:lnTo>
                  <a:lnTo>
                    <a:pt x="298" y="216"/>
                  </a:lnTo>
                  <a:lnTo>
                    <a:pt x="298" y="225"/>
                  </a:lnTo>
                  <a:lnTo>
                    <a:pt x="298" y="235"/>
                  </a:lnTo>
                  <a:lnTo>
                    <a:pt x="290" y="235"/>
                  </a:lnTo>
                  <a:lnTo>
                    <a:pt x="290" y="225"/>
                  </a:lnTo>
                  <a:lnTo>
                    <a:pt x="290" y="206"/>
                  </a:lnTo>
                  <a:lnTo>
                    <a:pt x="298" y="176"/>
                  </a:lnTo>
                  <a:lnTo>
                    <a:pt x="290" y="157"/>
                  </a:lnTo>
                  <a:lnTo>
                    <a:pt x="281" y="128"/>
                  </a:lnTo>
                  <a:lnTo>
                    <a:pt x="272" y="128"/>
                  </a:lnTo>
                  <a:lnTo>
                    <a:pt x="247" y="108"/>
                  </a:lnTo>
                  <a:lnTo>
                    <a:pt x="230" y="88"/>
                  </a:lnTo>
                  <a:lnTo>
                    <a:pt x="213" y="79"/>
                  </a:lnTo>
                  <a:lnTo>
                    <a:pt x="196" y="79"/>
                  </a:lnTo>
                  <a:lnTo>
                    <a:pt x="187" y="88"/>
                  </a:lnTo>
                  <a:lnTo>
                    <a:pt x="179" y="88"/>
                  </a:lnTo>
                  <a:lnTo>
                    <a:pt x="162" y="98"/>
                  </a:lnTo>
                  <a:lnTo>
                    <a:pt x="145" y="108"/>
                  </a:lnTo>
                  <a:lnTo>
                    <a:pt x="136" y="108"/>
                  </a:lnTo>
                  <a:lnTo>
                    <a:pt x="136" y="98"/>
                  </a:lnTo>
                  <a:lnTo>
                    <a:pt x="119" y="79"/>
                  </a:lnTo>
                  <a:lnTo>
                    <a:pt x="102" y="79"/>
                  </a:lnTo>
                  <a:lnTo>
                    <a:pt x="93" y="69"/>
                  </a:lnTo>
                  <a:lnTo>
                    <a:pt x="68" y="69"/>
                  </a:lnTo>
                  <a:lnTo>
                    <a:pt x="68" y="59"/>
                  </a:lnTo>
                  <a:lnTo>
                    <a:pt x="42" y="69"/>
                  </a:lnTo>
                  <a:lnTo>
                    <a:pt x="34" y="69"/>
                  </a:lnTo>
                  <a:lnTo>
                    <a:pt x="42" y="59"/>
                  </a:lnTo>
                  <a:lnTo>
                    <a:pt x="34" y="59"/>
                  </a:lnTo>
                  <a:lnTo>
                    <a:pt x="34" y="69"/>
                  </a:lnTo>
                  <a:lnTo>
                    <a:pt x="17" y="79"/>
                  </a:lnTo>
                  <a:lnTo>
                    <a:pt x="17" y="49"/>
                  </a:lnTo>
                  <a:lnTo>
                    <a:pt x="8" y="49"/>
                  </a:lnTo>
                  <a:lnTo>
                    <a:pt x="0" y="30"/>
                  </a:lnTo>
                  <a:lnTo>
                    <a:pt x="8" y="20"/>
                  </a:lnTo>
                  <a:lnTo>
                    <a:pt x="145" y="10"/>
                  </a:lnTo>
                  <a:lnTo>
                    <a:pt x="153" y="30"/>
                  </a:lnTo>
                  <a:lnTo>
                    <a:pt x="307" y="20"/>
                  </a:lnTo>
                  <a:lnTo>
                    <a:pt x="307" y="30"/>
                  </a:lnTo>
                  <a:lnTo>
                    <a:pt x="315" y="39"/>
                  </a:lnTo>
                  <a:lnTo>
                    <a:pt x="315" y="30"/>
                  </a:lnTo>
                  <a:lnTo>
                    <a:pt x="315" y="10"/>
                  </a:lnTo>
                  <a:lnTo>
                    <a:pt x="324" y="0"/>
                  </a:lnTo>
                  <a:lnTo>
                    <a:pt x="324" y="10"/>
                  </a:lnTo>
                  <a:lnTo>
                    <a:pt x="332" y="10"/>
                  </a:lnTo>
                  <a:lnTo>
                    <a:pt x="341" y="1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1" name="Freeform 93"/>
            <p:cNvSpPr>
              <a:spLocks/>
            </p:cNvSpPr>
            <p:nvPr/>
          </p:nvSpPr>
          <p:spPr bwMode="auto">
            <a:xfrm>
              <a:off x="3592" y="3527"/>
              <a:ext cx="256" cy="225"/>
            </a:xfrm>
            <a:custGeom>
              <a:avLst/>
              <a:gdLst>
                <a:gd name="T0" fmla="*/ 8 w 256"/>
                <a:gd name="T1" fmla="*/ 29 h 225"/>
                <a:gd name="T2" fmla="*/ 25 w 256"/>
                <a:gd name="T3" fmla="*/ 10 h 225"/>
                <a:gd name="T4" fmla="*/ 42 w 256"/>
                <a:gd name="T5" fmla="*/ 0 h 225"/>
                <a:gd name="T6" fmla="*/ 51 w 256"/>
                <a:gd name="T7" fmla="*/ 0 h 225"/>
                <a:gd name="T8" fmla="*/ 111 w 256"/>
                <a:gd name="T9" fmla="*/ 0 h 225"/>
                <a:gd name="T10" fmla="*/ 119 w 256"/>
                <a:gd name="T11" fmla="*/ 10 h 225"/>
                <a:gd name="T12" fmla="*/ 128 w 256"/>
                <a:gd name="T13" fmla="*/ 10 h 225"/>
                <a:gd name="T14" fmla="*/ 128 w 256"/>
                <a:gd name="T15" fmla="*/ 20 h 225"/>
                <a:gd name="T16" fmla="*/ 187 w 256"/>
                <a:gd name="T17" fmla="*/ 20 h 225"/>
                <a:gd name="T18" fmla="*/ 213 w 256"/>
                <a:gd name="T19" fmla="*/ 29 h 225"/>
                <a:gd name="T20" fmla="*/ 256 w 256"/>
                <a:gd name="T21" fmla="*/ 68 h 225"/>
                <a:gd name="T22" fmla="*/ 239 w 256"/>
                <a:gd name="T23" fmla="*/ 88 h 225"/>
                <a:gd name="T24" fmla="*/ 230 w 256"/>
                <a:gd name="T25" fmla="*/ 98 h 225"/>
                <a:gd name="T26" fmla="*/ 230 w 256"/>
                <a:gd name="T27" fmla="*/ 127 h 225"/>
                <a:gd name="T28" fmla="*/ 222 w 256"/>
                <a:gd name="T29" fmla="*/ 137 h 225"/>
                <a:gd name="T30" fmla="*/ 213 w 256"/>
                <a:gd name="T31" fmla="*/ 147 h 225"/>
                <a:gd name="T32" fmla="*/ 196 w 256"/>
                <a:gd name="T33" fmla="*/ 166 h 225"/>
                <a:gd name="T34" fmla="*/ 179 w 256"/>
                <a:gd name="T35" fmla="*/ 186 h 225"/>
                <a:gd name="T36" fmla="*/ 170 w 256"/>
                <a:gd name="T37" fmla="*/ 186 h 225"/>
                <a:gd name="T38" fmla="*/ 162 w 256"/>
                <a:gd name="T39" fmla="*/ 196 h 225"/>
                <a:gd name="T40" fmla="*/ 153 w 256"/>
                <a:gd name="T41" fmla="*/ 196 h 225"/>
                <a:gd name="T42" fmla="*/ 153 w 256"/>
                <a:gd name="T43" fmla="*/ 215 h 225"/>
                <a:gd name="T44" fmla="*/ 153 w 256"/>
                <a:gd name="T45" fmla="*/ 225 h 225"/>
                <a:gd name="T46" fmla="*/ 136 w 256"/>
                <a:gd name="T47" fmla="*/ 215 h 225"/>
                <a:gd name="T48" fmla="*/ 128 w 256"/>
                <a:gd name="T49" fmla="*/ 196 h 225"/>
                <a:gd name="T50" fmla="*/ 119 w 256"/>
                <a:gd name="T51" fmla="*/ 186 h 225"/>
                <a:gd name="T52" fmla="*/ 119 w 256"/>
                <a:gd name="T53" fmla="*/ 176 h 225"/>
                <a:gd name="T54" fmla="*/ 111 w 256"/>
                <a:gd name="T55" fmla="*/ 157 h 225"/>
                <a:gd name="T56" fmla="*/ 94 w 256"/>
                <a:gd name="T57" fmla="*/ 147 h 225"/>
                <a:gd name="T58" fmla="*/ 85 w 256"/>
                <a:gd name="T59" fmla="*/ 137 h 225"/>
                <a:gd name="T60" fmla="*/ 85 w 256"/>
                <a:gd name="T61" fmla="*/ 127 h 225"/>
                <a:gd name="T62" fmla="*/ 68 w 256"/>
                <a:gd name="T63" fmla="*/ 117 h 225"/>
                <a:gd name="T64" fmla="*/ 51 w 256"/>
                <a:gd name="T65" fmla="*/ 98 h 225"/>
                <a:gd name="T66" fmla="*/ 42 w 256"/>
                <a:gd name="T67" fmla="*/ 88 h 225"/>
                <a:gd name="T68" fmla="*/ 34 w 256"/>
                <a:gd name="T69" fmla="*/ 78 h 225"/>
                <a:gd name="T70" fmla="*/ 25 w 256"/>
                <a:gd name="T71" fmla="*/ 59 h 225"/>
                <a:gd name="T72" fmla="*/ 8 w 256"/>
                <a:gd name="T73" fmla="*/ 59 h 225"/>
                <a:gd name="T74" fmla="*/ 0 w 256"/>
                <a:gd name="T75" fmla="*/ 49 h 225"/>
                <a:gd name="T76" fmla="*/ 0 w 256"/>
                <a:gd name="T77" fmla="*/ 39 h 225"/>
                <a:gd name="T78" fmla="*/ 8 w 256"/>
                <a:gd name="T79" fmla="*/ 29 h 22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6"/>
                <a:gd name="T121" fmla="*/ 0 h 225"/>
                <a:gd name="T122" fmla="*/ 256 w 256"/>
                <a:gd name="T123" fmla="*/ 225 h 22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6" h="225">
                  <a:moveTo>
                    <a:pt x="8" y="29"/>
                  </a:moveTo>
                  <a:lnTo>
                    <a:pt x="25" y="10"/>
                  </a:lnTo>
                  <a:lnTo>
                    <a:pt x="42" y="0"/>
                  </a:lnTo>
                  <a:lnTo>
                    <a:pt x="51" y="0"/>
                  </a:lnTo>
                  <a:lnTo>
                    <a:pt x="111" y="0"/>
                  </a:lnTo>
                  <a:lnTo>
                    <a:pt x="119" y="10"/>
                  </a:lnTo>
                  <a:lnTo>
                    <a:pt x="128" y="10"/>
                  </a:lnTo>
                  <a:lnTo>
                    <a:pt x="128" y="20"/>
                  </a:lnTo>
                  <a:lnTo>
                    <a:pt x="187" y="20"/>
                  </a:lnTo>
                  <a:lnTo>
                    <a:pt x="213" y="29"/>
                  </a:lnTo>
                  <a:lnTo>
                    <a:pt x="256" y="68"/>
                  </a:lnTo>
                  <a:lnTo>
                    <a:pt x="239" y="88"/>
                  </a:lnTo>
                  <a:lnTo>
                    <a:pt x="230" y="98"/>
                  </a:lnTo>
                  <a:lnTo>
                    <a:pt x="230" y="127"/>
                  </a:lnTo>
                  <a:lnTo>
                    <a:pt x="222" y="137"/>
                  </a:lnTo>
                  <a:lnTo>
                    <a:pt x="213" y="147"/>
                  </a:lnTo>
                  <a:lnTo>
                    <a:pt x="196" y="166"/>
                  </a:lnTo>
                  <a:lnTo>
                    <a:pt x="179" y="186"/>
                  </a:lnTo>
                  <a:lnTo>
                    <a:pt x="170" y="186"/>
                  </a:lnTo>
                  <a:lnTo>
                    <a:pt x="162" y="196"/>
                  </a:lnTo>
                  <a:lnTo>
                    <a:pt x="153" y="196"/>
                  </a:lnTo>
                  <a:lnTo>
                    <a:pt x="153" y="215"/>
                  </a:lnTo>
                  <a:lnTo>
                    <a:pt x="153" y="225"/>
                  </a:lnTo>
                  <a:lnTo>
                    <a:pt x="136" y="215"/>
                  </a:lnTo>
                  <a:lnTo>
                    <a:pt x="128" y="196"/>
                  </a:lnTo>
                  <a:lnTo>
                    <a:pt x="119" y="186"/>
                  </a:lnTo>
                  <a:lnTo>
                    <a:pt x="119" y="176"/>
                  </a:lnTo>
                  <a:lnTo>
                    <a:pt x="111" y="157"/>
                  </a:lnTo>
                  <a:lnTo>
                    <a:pt x="94" y="147"/>
                  </a:lnTo>
                  <a:lnTo>
                    <a:pt x="85" y="137"/>
                  </a:lnTo>
                  <a:lnTo>
                    <a:pt x="85" y="127"/>
                  </a:lnTo>
                  <a:lnTo>
                    <a:pt x="68" y="117"/>
                  </a:lnTo>
                  <a:lnTo>
                    <a:pt x="51" y="98"/>
                  </a:lnTo>
                  <a:lnTo>
                    <a:pt x="42" y="88"/>
                  </a:lnTo>
                  <a:lnTo>
                    <a:pt x="34" y="78"/>
                  </a:lnTo>
                  <a:lnTo>
                    <a:pt x="25" y="59"/>
                  </a:lnTo>
                  <a:lnTo>
                    <a:pt x="8" y="59"/>
                  </a:lnTo>
                  <a:lnTo>
                    <a:pt x="0" y="49"/>
                  </a:lnTo>
                  <a:lnTo>
                    <a:pt x="0" y="39"/>
                  </a:lnTo>
                  <a:lnTo>
                    <a:pt x="8" y="2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2" name="Freeform 94"/>
            <p:cNvSpPr>
              <a:spLocks/>
            </p:cNvSpPr>
            <p:nvPr/>
          </p:nvSpPr>
          <p:spPr bwMode="auto">
            <a:xfrm>
              <a:off x="3524" y="3380"/>
              <a:ext cx="452" cy="215"/>
            </a:xfrm>
            <a:custGeom>
              <a:avLst/>
              <a:gdLst>
                <a:gd name="T0" fmla="*/ 119 w 452"/>
                <a:gd name="T1" fmla="*/ 49 h 215"/>
                <a:gd name="T2" fmla="*/ 145 w 452"/>
                <a:gd name="T3" fmla="*/ 39 h 215"/>
                <a:gd name="T4" fmla="*/ 358 w 452"/>
                <a:gd name="T5" fmla="*/ 10 h 215"/>
                <a:gd name="T6" fmla="*/ 418 w 452"/>
                <a:gd name="T7" fmla="*/ 0 h 215"/>
                <a:gd name="T8" fmla="*/ 426 w 452"/>
                <a:gd name="T9" fmla="*/ 0 h 215"/>
                <a:gd name="T10" fmla="*/ 435 w 452"/>
                <a:gd name="T11" fmla="*/ 10 h 215"/>
                <a:gd name="T12" fmla="*/ 443 w 452"/>
                <a:gd name="T13" fmla="*/ 10 h 215"/>
                <a:gd name="T14" fmla="*/ 443 w 452"/>
                <a:gd name="T15" fmla="*/ 20 h 215"/>
                <a:gd name="T16" fmla="*/ 426 w 452"/>
                <a:gd name="T17" fmla="*/ 20 h 215"/>
                <a:gd name="T18" fmla="*/ 409 w 452"/>
                <a:gd name="T19" fmla="*/ 29 h 215"/>
                <a:gd name="T20" fmla="*/ 418 w 452"/>
                <a:gd name="T21" fmla="*/ 29 h 215"/>
                <a:gd name="T22" fmla="*/ 400 w 452"/>
                <a:gd name="T23" fmla="*/ 39 h 215"/>
                <a:gd name="T24" fmla="*/ 409 w 452"/>
                <a:gd name="T25" fmla="*/ 39 h 215"/>
                <a:gd name="T26" fmla="*/ 426 w 452"/>
                <a:gd name="T27" fmla="*/ 29 h 215"/>
                <a:gd name="T28" fmla="*/ 435 w 452"/>
                <a:gd name="T29" fmla="*/ 39 h 215"/>
                <a:gd name="T30" fmla="*/ 452 w 452"/>
                <a:gd name="T31" fmla="*/ 39 h 215"/>
                <a:gd name="T32" fmla="*/ 452 w 452"/>
                <a:gd name="T33" fmla="*/ 59 h 215"/>
                <a:gd name="T34" fmla="*/ 443 w 452"/>
                <a:gd name="T35" fmla="*/ 69 h 215"/>
                <a:gd name="T36" fmla="*/ 435 w 452"/>
                <a:gd name="T37" fmla="*/ 78 h 215"/>
                <a:gd name="T38" fmla="*/ 426 w 452"/>
                <a:gd name="T39" fmla="*/ 78 h 215"/>
                <a:gd name="T40" fmla="*/ 418 w 452"/>
                <a:gd name="T41" fmla="*/ 78 h 215"/>
                <a:gd name="T42" fmla="*/ 409 w 452"/>
                <a:gd name="T43" fmla="*/ 78 h 215"/>
                <a:gd name="T44" fmla="*/ 418 w 452"/>
                <a:gd name="T45" fmla="*/ 88 h 215"/>
                <a:gd name="T46" fmla="*/ 418 w 452"/>
                <a:gd name="T47" fmla="*/ 98 h 215"/>
                <a:gd name="T48" fmla="*/ 409 w 452"/>
                <a:gd name="T49" fmla="*/ 108 h 215"/>
                <a:gd name="T50" fmla="*/ 392 w 452"/>
                <a:gd name="T51" fmla="*/ 118 h 215"/>
                <a:gd name="T52" fmla="*/ 400 w 452"/>
                <a:gd name="T53" fmla="*/ 118 h 215"/>
                <a:gd name="T54" fmla="*/ 426 w 452"/>
                <a:gd name="T55" fmla="*/ 118 h 215"/>
                <a:gd name="T56" fmla="*/ 426 w 452"/>
                <a:gd name="T57" fmla="*/ 108 h 215"/>
                <a:gd name="T58" fmla="*/ 426 w 452"/>
                <a:gd name="T59" fmla="*/ 118 h 215"/>
                <a:gd name="T60" fmla="*/ 418 w 452"/>
                <a:gd name="T61" fmla="*/ 127 h 215"/>
                <a:gd name="T62" fmla="*/ 400 w 452"/>
                <a:gd name="T63" fmla="*/ 137 h 215"/>
                <a:gd name="T64" fmla="*/ 392 w 452"/>
                <a:gd name="T65" fmla="*/ 147 h 215"/>
                <a:gd name="T66" fmla="*/ 375 w 452"/>
                <a:gd name="T67" fmla="*/ 157 h 215"/>
                <a:gd name="T68" fmla="*/ 366 w 452"/>
                <a:gd name="T69" fmla="*/ 167 h 215"/>
                <a:gd name="T70" fmla="*/ 358 w 452"/>
                <a:gd name="T71" fmla="*/ 186 h 215"/>
                <a:gd name="T72" fmla="*/ 349 w 452"/>
                <a:gd name="T73" fmla="*/ 206 h 215"/>
                <a:gd name="T74" fmla="*/ 324 w 452"/>
                <a:gd name="T75" fmla="*/ 215 h 215"/>
                <a:gd name="T76" fmla="*/ 281 w 452"/>
                <a:gd name="T77" fmla="*/ 176 h 215"/>
                <a:gd name="T78" fmla="*/ 255 w 452"/>
                <a:gd name="T79" fmla="*/ 167 h 215"/>
                <a:gd name="T80" fmla="*/ 196 w 452"/>
                <a:gd name="T81" fmla="*/ 167 h 215"/>
                <a:gd name="T82" fmla="*/ 196 w 452"/>
                <a:gd name="T83" fmla="*/ 157 h 215"/>
                <a:gd name="T84" fmla="*/ 187 w 452"/>
                <a:gd name="T85" fmla="*/ 157 h 215"/>
                <a:gd name="T86" fmla="*/ 179 w 452"/>
                <a:gd name="T87" fmla="*/ 147 h 215"/>
                <a:gd name="T88" fmla="*/ 119 w 452"/>
                <a:gd name="T89" fmla="*/ 147 h 215"/>
                <a:gd name="T90" fmla="*/ 110 w 452"/>
                <a:gd name="T91" fmla="*/ 147 h 215"/>
                <a:gd name="T92" fmla="*/ 76 w 452"/>
                <a:gd name="T93" fmla="*/ 176 h 215"/>
                <a:gd name="T94" fmla="*/ 0 w 452"/>
                <a:gd name="T95" fmla="*/ 186 h 215"/>
                <a:gd name="T96" fmla="*/ 0 w 452"/>
                <a:gd name="T97" fmla="*/ 167 h 215"/>
                <a:gd name="T98" fmla="*/ 8 w 452"/>
                <a:gd name="T99" fmla="*/ 167 h 215"/>
                <a:gd name="T100" fmla="*/ 8 w 452"/>
                <a:gd name="T101" fmla="*/ 147 h 215"/>
                <a:gd name="T102" fmla="*/ 25 w 452"/>
                <a:gd name="T103" fmla="*/ 137 h 215"/>
                <a:gd name="T104" fmla="*/ 42 w 452"/>
                <a:gd name="T105" fmla="*/ 137 h 215"/>
                <a:gd name="T106" fmla="*/ 59 w 452"/>
                <a:gd name="T107" fmla="*/ 118 h 215"/>
                <a:gd name="T108" fmla="*/ 68 w 452"/>
                <a:gd name="T109" fmla="*/ 108 h 215"/>
                <a:gd name="T110" fmla="*/ 85 w 452"/>
                <a:gd name="T111" fmla="*/ 98 h 215"/>
                <a:gd name="T112" fmla="*/ 93 w 452"/>
                <a:gd name="T113" fmla="*/ 88 h 215"/>
                <a:gd name="T114" fmla="*/ 110 w 452"/>
                <a:gd name="T115" fmla="*/ 78 h 215"/>
                <a:gd name="T116" fmla="*/ 119 w 452"/>
                <a:gd name="T117" fmla="*/ 69 h 215"/>
                <a:gd name="T118" fmla="*/ 119 w 452"/>
                <a:gd name="T119" fmla="*/ 49 h 21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452"/>
                <a:gd name="T181" fmla="*/ 0 h 215"/>
                <a:gd name="T182" fmla="*/ 452 w 452"/>
                <a:gd name="T183" fmla="*/ 215 h 215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452" h="215">
                  <a:moveTo>
                    <a:pt x="119" y="49"/>
                  </a:moveTo>
                  <a:lnTo>
                    <a:pt x="145" y="39"/>
                  </a:lnTo>
                  <a:lnTo>
                    <a:pt x="358" y="10"/>
                  </a:lnTo>
                  <a:lnTo>
                    <a:pt x="418" y="0"/>
                  </a:lnTo>
                  <a:lnTo>
                    <a:pt x="426" y="0"/>
                  </a:lnTo>
                  <a:lnTo>
                    <a:pt x="435" y="10"/>
                  </a:lnTo>
                  <a:lnTo>
                    <a:pt x="443" y="10"/>
                  </a:lnTo>
                  <a:lnTo>
                    <a:pt x="443" y="20"/>
                  </a:lnTo>
                  <a:lnTo>
                    <a:pt x="426" y="20"/>
                  </a:lnTo>
                  <a:lnTo>
                    <a:pt x="409" y="29"/>
                  </a:lnTo>
                  <a:lnTo>
                    <a:pt x="418" y="29"/>
                  </a:lnTo>
                  <a:lnTo>
                    <a:pt x="400" y="39"/>
                  </a:lnTo>
                  <a:lnTo>
                    <a:pt x="409" y="39"/>
                  </a:lnTo>
                  <a:lnTo>
                    <a:pt x="426" y="29"/>
                  </a:lnTo>
                  <a:lnTo>
                    <a:pt x="435" y="39"/>
                  </a:lnTo>
                  <a:lnTo>
                    <a:pt x="452" y="39"/>
                  </a:lnTo>
                  <a:lnTo>
                    <a:pt x="452" y="59"/>
                  </a:lnTo>
                  <a:lnTo>
                    <a:pt x="443" y="69"/>
                  </a:lnTo>
                  <a:lnTo>
                    <a:pt x="435" y="78"/>
                  </a:lnTo>
                  <a:lnTo>
                    <a:pt x="426" y="78"/>
                  </a:lnTo>
                  <a:lnTo>
                    <a:pt x="418" y="78"/>
                  </a:lnTo>
                  <a:lnTo>
                    <a:pt x="409" y="78"/>
                  </a:lnTo>
                  <a:lnTo>
                    <a:pt x="418" y="88"/>
                  </a:lnTo>
                  <a:lnTo>
                    <a:pt x="418" y="98"/>
                  </a:lnTo>
                  <a:lnTo>
                    <a:pt x="409" y="108"/>
                  </a:lnTo>
                  <a:lnTo>
                    <a:pt x="392" y="118"/>
                  </a:lnTo>
                  <a:lnTo>
                    <a:pt x="400" y="118"/>
                  </a:lnTo>
                  <a:lnTo>
                    <a:pt x="426" y="118"/>
                  </a:lnTo>
                  <a:lnTo>
                    <a:pt x="426" y="108"/>
                  </a:lnTo>
                  <a:lnTo>
                    <a:pt x="426" y="118"/>
                  </a:lnTo>
                  <a:lnTo>
                    <a:pt x="418" y="127"/>
                  </a:lnTo>
                  <a:lnTo>
                    <a:pt x="400" y="137"/>
                  </a:lnTo>
                  <a:lnTo>
                    <a:pt x="392" y="147"/>
                  </a:lnTo>
                  <a:lnTo>
                    <a:pt x="375" y="157"/>
                  </a:lnTo>
                  <a:lnTo>
                    <a:pt x="366" y="167"/>
                  </a:lnTo>
                  <a:lnTo>
                    <a:pt x="358" y="186"/>
                  </a:lnTo>
                  <a:lnTo>
                    <a:pt x="349" y="206"/>
                  </a:lnTo>
                  <a:lnTo>
                    <a:pt x="324" y="215"/>
                  </a:lnTo>
                  <a:lnTo>
                    <a:pt x="281" y="176"/>
                  </a:lnTo>
                  <a:lnTo>
                    <a:pt x="255" y="167"/>
                  </a:lnTo>
                  <a:lnTo>
                    <a:pt x="196" y="167"/>
                  </a:lnTo>
                  <a:lnTo>
                    <a:pt x="196" y="157"/>
                  </a:lnTo>
                  <a:lnTo>
                    <a:pt x="187" y="157"/>
                  </a:lnTo>
                  <a:lnTo>
                    <a:pt x="179" y="147"/>
                  </a:lnTo>
                  <a:lnTo>
                    <a:pt x="119" y="147"/>
                  </a:lnTo>
                  <a:lnTo>
                    <a:pt x="110" y="147"/>
                  </a:lnTo>
                  <a:lnTo>
                    <a:pt x="76" y="176"/>
                  </a:lnTo>
                  <a:lnTo>
                    <a:pt x="0" y="186"/>
                  </a:lnTo>
                  <a:lnTo>
                    <a:pt x="0" y="167"/>
                  </a:lnTo>
                  <a:lnTo>
                    <a:pt x="8" y="167"/>
                  </a:lnTo>
                  <a:lnTo>
                    <a:pt x="8" y="147"/>
                  </a:lnTo>
                  <a:lnTo>
                    <a:pt x="25" y="137"/>
                  </a:lnTo>
                  <a:lnTo>
                    <a:pt x="42" y="137"/>
                  </a:lnTo>
                  <a:lnTo>
                    <a:pt x="59" y="118"/>
                  </a:lnTo>
                  <a:lnTo>
                    <a:pt x="68" y="108"/>
                  </a:lnTo>
                  <a:lnTo>
                    <a:pt x="85" y="98"/>
                  </a:lnTo>
                  <a:lnTo>
                    <a:pt x="93" y="88"/>
                  </a:lnTo>
                  <a:lnTo>
                    <a:pt x="110" y="78"/>
                  </a:lnTo>
                  <a:lnTo>
                    <a:pt x="119" y="69"/>
                  </a:lnTo>
                  <a:lnTo>
                    <a:pt x="119" y="4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3" name="Freeform 95"/>
            <p:cNvSpPr>
              <a:spLocks/>
            </p:cNvSpPr>
            <p:nvPr/>
          </p:nvSpPr>
          <p:spPr bwMode="auto">
            <a:xfrm>
              <a:off x="3583" y="3194"/>
              <a:ext cx="367" cy="235"/>
            </a:xfrm>
            <a:custGeom>
              <a:avLst/>
              <a:gdLst>
                <a:gd name="T0" fmla="*/ 60 w 367"/>
                <a:gd name="T1" fmla="*/ 166 h 235"/>
                <a:gd name="T2" fmla="*/ 68 w 367"/>
                <a:gd name="T3" fmla="*/ 186 h 235"/>
                <a:gd name="T4" fmla="*/ 86 w 367"/>
                <a:gd name="T5" fmla="*/ 176 h 235"/>
                <a:gd name="T6" fmla="*/ 111 w 367"/>
                <a:gd name="T7" fmla="*/ 176 h 235"/>
                <a:gd name="T8" fmla="*/ 137 w 367"/>
                <a:gd name="T9" fmla="*/ 157 h 235"/>
                <a:gd name="T10" fmla="*/ 145 w 367"/>
                <a:gd name="T11" fmla="*/ 127 h 235"/>
                <a:gd name="T12" fmla="*/ 154 w 367"/>
                <a:gd name="T13" fmla="*/ 98 h 235"/>
                <a:gd name="T14" fmla="*/ 162 w 367"/>
                <a:gd name="T15" fmla="*/ 69 h 235"/>
                <a:gd name="T16" fmla="*/ 171 w 367"/>
                <a:gd name="T17" fmla="*/ 78 h 235"/>
                <a:gd name="T18" fmla="*/ 188 w 367"/>
                <a:gd name="T19" fmla="*/ 59 h 235"/>
                <a:gd name="T20" fmla="*/ 196 w 367"/>
                <a:gd name="T21" fmla="*/ 39 h 235"/>
                <a:gd name="T22" fmla="*/ 214 w 367"/>
                <a:gd name="T23" fmla="*/ 20 h 235"/>
                <a:gd name="T24" fmla="*/ 222 w 367"/>
                <a:gd name="T25" fmla="*/ 0 h 235"/>
                <a:gd name="T26" fmla="*/ 239 w 367"/>
                <a:gd name="T27" fmla="*/ 10 h 235"/>
                <a:gd name="T28" fmla="*/ 248 w 367"/>
                <a:gd name="T29" fmla="*/ 0 h 235"/>
                <a:gd name="T30" fmla="*/ 265 w 367"/>
                <a:gd name="T31" fmla="*/ 10 h 235"/>
                <a:gd name="T32" fmla="*/ 282 w 367"/>
                <a:gd name="T33" fmla="*/ 29 h 235"/>
                <a:gd name="T34" fmla="*/ 290 w 367"/>
                <a:gd name="T35" fmla="*/ 39 h 235"/>
                <a:gd name="T36" fmla="*/ 282 w 367"/>
                <a:gd name="T37" fmla="*/ 59 h 235"/>
                <a:gd name="T38" fmla="*/ 316 w 367"/>
                <a:gd name="T39" fmla="*/ 78 h 235"/>
                <a:gd name="T40" fmla="*/ 341 w 367"/>
                <a:gd name="T41" fmla="*/ 88 h 235"/>
                <a:gd name="T42" fmla="*/ 333 w 367"/>
                <a:gd name="T43" fmla="*/ 108 h 235"/>
                <a:gd name="T44" fmla="*/ 341 w 367"/>
                <a:gd name="T45" fmla="*/ 127 h 235"/>
                <a:gd name="T46" fmla="*/ 341 w 367"/>
                <a:gd name="T47" fmla="*/ 137 h 235"/>
                <a:gd name="T48" fmla="*/ 341 w 367"/>
                <a:gd name="T49" fmla="*/ 157 h 235"/>
                <a:gd name="T50" fmla="*/ 359 w 367"/>
                <a:gd name="T51" fmla="*/ 157 h 235"/>
                <a:gd name="T52" fmla="*/ 367 w 367"/>
                <a:gd name="T53" fmla="*/ 166 h 235"/>
                <a:gd name="T54" fmla="*/ 359 w 367"/>
                <a:gd name="T55" fmla="*/ 186 h 235"/>
                <a:gd name="T56" fmla="*/ 86 w 367"/>
                <a:gd name="T57" fmla="*/ 225 h 235"/>
                <a:gd name="T58" fmla="*/ 0 w 367"/>
                <a:gd name="T59" fmla="*/ 235 h 235"/>
                <a:gd name="T60" fmla="*/ 26 w 367"/>
                <a:gd name="T61" fmla="*/ 196 h 235"/>
                <a:gd name="T62" fmla="*/ 51 w 367"/>
                <a:gd name="T63" fmla="*/ 176 h 23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67"/>
                <a:gd name="T97" fmla="*/ 0 h 235"/>
                <a:gd name="T98" fmla="*/ 367 w 367"/>
                <a:gd name="T99" fmla="*/ 235 h 235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67" h="235">
                  <a:moveTo>
                    <a:pt x="51" y="166"/>
                  </a:moveTo>
                  <a:lnTo>
                    <a:pt x="60" y="166"/>
                  </a:lnTo>
                  <a:lnTo>
                    <a:pt x="60" y="176"/>
                  </a:lnTo>
                  <a:lnTo>
                    <a:pt x="68" y="186"/>
                  </a:lnTo>
                  <a:lnTo>
                    <a:pt x="77" y="186"/>
                  </a:lnTo>
                  <a:lnTo>
                    <a:pt x="86" y="176"/>
                  </a:lnTo>
                  <a:lnTo>
                    <a:pt x="94" y="176"/>
                  </a:lnTo>
                  <a:lnTo>
                    <a:pt x="111" y="176"/>
                  </a:lnTo>
                  <a:lnTo>
                    <a:pt x="120" y="166"/>
                  </a:lnTo>
                  <a:lnTo>
                    <a:pt x="137" y="157"/>
                  </a:lnTo>
                  <a:lnTo>
                    <a:pt x="145" y="137"/>
                  </a:lnTo>
                  <a:lnTo>
                    <a:pt x="145" y="127"/>
                  </a:lnTo>
                  <a:lnTo>
                    <a:pt x="154" y="118"/>
                  </a:lnTo>
                  <a:lnTo>
                    <a:pt x="154" y="98"/>
                  </a:lnTo>
                  <a:lnTo>
                    <a:pt x="162" y="88"/>
                  </a:lnTo>
                  <a:lnTo>
                    <a:pt x="162" y="69"/>
                  </a:lnTo>
                  <a:lnTo>
                    <a:pt x="171" y="69"/>
                  </a:lnTo>
                  <a:lnTo>
                    <a:pt x="171" y="78"/>
                  </a:lnTo>
                  <a:lnTo>
                    <a:pt x="188" y="78"/>
                  </a:lnTo>
                  <a:lnTo>
                    <a:pt x="188" y="59"/>
                  </a:lnTo>
                  <a:lnTo>
                    <a:pt x="196" y="49"/>
                  </a:lnTo>
                  <a:lnTo>
                    <a:pt x="196" y="39"/>
                  </a:lnTo>
                  <a:lnTo>
                    <a:pt x="214" y="29"/>
                  </a:lnTo>
                  <a:lnTo>
                    <a:pt x="214" y="20"/>
                  </a:lnTo>
                  <a:lnTo>
                    <a:pt x="214" y="0"/>
                  </a:lnTo>
                  <a:lnTo>
                    <a:pt x="222" y="0"/>
                  </a:lnTo>
                  <a:lnTo>
                    <a:pt x="231" y="10"/>
                  </a:lnTo>
                  <a:lnTo>
                    <a:pt x="239" y="10"/>
                  </a:lnTo>
                  <a:lnTo>
                    <a:pt x="248" y="10"/>
                  </a:lnTo>
                  <a:lnTo>
                    <a:pt x="248" y="0"/>
                  </a:lnTo>
                  <a:lnTo>
                    <a:pt x="265" y="10"/>
                  </a:lnTo>
                  <a:lnTo>
                    <a:pt x="273" y="10"/>
                  </a:lnTo>
                  <a:lnTo>
                    <a:pt x="282" y="29"/>
                  </a:lnTo>
                  <a:lnTo>
                    <a:pt x="290" y="29"/>
                  </a:lnTo>
                  <a:lnTo>
                    <a:pt x="290" y="39"/>
                  </a:lnTo>
                  <a:lnTo>
                    <a:pt x="282" y="49"/>
                  </a:lnTo>
                  <a:lnTo>
                    <a:pt x="282" y="59"/>
                  </a:lnTo>
                  <a:lnTo>
                    <a:pt x="290" y="59"/>
                  </a:lnTo>
                  <a:lnTo>
                    <a:pt x="316" y="78"/>
                  </a:lnTo>
                  <a:lnTo>
                    <a:pt x="324" y="78"/>
                  </a:lnTo>
                  <a:lnTo>
                    <a:pt x="341" y="88"/>
                  </a:lnTo>
                  <a:lnTo>
                    <a:pt x="333" y="108"/>
                  </a:lnTo>
                  <a:lnTo>
                    <a:pt x="341" y="118"/>
                  </a:lnTo>
                  <a:lnTo>
                    <a:pt x="341" y="127"/>
                  </a:lnTo>
                  <a:lnTo>
                    <a:pt x="333" y="137"/>
                  </a:lnTo>
                  <a:lnTo>
                    <a:pt x="341" y="137"/>
                  </a:lnTo>
                  <a:lnTo>
                    <a:pt x="350" y="147"/>
                  </a:lnTo>
                  <a:lnTo>
                    <a:pt x="341" y="157"/>
                  </a:lnTo>
                  <a:lnTo>
                    <a:pt x="359" y="157"/>
                  </a:lnTo>
                  <a:lnTo>
                    <a:pt x="367" y="157"/>
                  </a:lnTo>
                  <a:lnTo>
                    <a:pt x="367" y="166"/>
                  </a:lnTo>
                  <a:lnTo>
                    <a:pt x="367" y="176"/>
                  </a:lnTo>
                  <a:lnTo>
                    <a:pt x="359" y="186"/>
                  </a:lnTo>
                  <a:lnTo>
                    <a:pt x="299" y="196"/>
                  </a:lnTo>
                  <a:lnTo>
                    <a:pt x="86" y="225"/>
                  </a:lnTo>
                  <a:lnTo>
                    <a:pt x="60" y="235"/>
                  </a:lnTo>
                  <a:lnTo>
                    <a:pt x="0" y="235"/>
                  </a:lnTo>
                  <a:lnTo>
                    <a:pt x="17" y="206"/>
                  </a:lnTo>
                  <a:lnTo>
                    <a:pt x="26" y="196"/>
                  </a:lnTo>
                  <a:lnTo>
                    <a:pt x="34" y="186"/>
                  </a:lnTo>
                  <a:lnTo>
                    <a:pt x="51" y="176"/>
                  </a:lnTo>
                  <a:lnTo>
                    <a:pt x="51" y="166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4" name="Freeform 96"/>
            <p:cNvSpPr>
              <a:spLocks/>
            </p:cNvSpPr>
            <p:nvPr/>
          </p:nvSpPr>
          <p:spPr bwMode="auto">
            <a:xfrm>
              <a:off x="3600" y="3116"/>
              <a:ext cx="231" cy="264"/>
            </a:xfrm>
            <a:custGeom>
              <a:avLst/>
              <a:gdLst>
                <a:gd name="T0" fmla="*/ 77 w 231"/>
                <a:gd name="T1" fmla="*/ 19 h 264"/>
                <a:gd name="T2" fmla="*/ 77 w 231"/>
                <a:gd name="T3" fmla="*/ 0 h 264"/>
                <a:gd name="T4" fmla="*/ 86 w 231"/>
                <a:gd name="T5" fmla="*/ 68 h 264"/>
                <a:gd name="T6" fmla="*/ 145 w 231"/>
                <a:gd name="T7" fmla="*/ 58 h 264"/>
                <a:gd name="T8" fmla="*/ 145 w 231"/>
                <a:gd name="T9" fmla="*/ 98 h 264"/>
                <a:gd name="T10" fmla="*/ 154 w 231"/>
                <a:gd name="T11" fmla="*/ 88 h 264"/>
                <a:gd name="T12" fmla="*/ 179 w 231"/>
                <a:gd name="T13" fmla="*/ 68 h 264"/>
                <a:gd name="T14" fmla="*/ 179 w 231"/>
                <a:gd name="T15" fmla="*/ 58 h 264"/>
                <a:gd name="T16" fmla="*/ 188 w 231"/>
                <a:gd name="T17" fmla="*/ 68 h 264"/>
                <a:gd name="T18" fmla="*/ 197 w 231"/>
                <a:gd name="T19" fmla="*/ 68 h 264"/>
                <a:gd name="T20" fmla="*/ 197 w 231"/>
                <a:gd name="T21" fmla="*/ 58 h 264"/>
                <a:gd name="T22" fmla="*/ 222 w 231"/>
                <a:gd name="T23" fmla="*/ 58 h 264"/>
                <a:gd name="T24" fmla="*/ 231 w 231"/>
                <a:gd name="T25" fmla="*/ 68 h 264"/>
                <a:gd name="T26" fmla="*/ 231 w 231"/>
                <a:gd name="T27" fmla="*/ 78 h 264"/>
                <a:gd name="T28" fmla="*/ 231 w 231"/>
                <a:gd name="T29" fmla="*/ 88 h 264"/>
                <a:gd name="T30" fmla="*/ 222 w 231"/>
                <a:gd name="T31" fmla="*/ 88 h 264"/>
                <a:gd name="T32" fmla="*/ 205 w 231"/>
                <a:gd name="T33" fmla="*/ 78 h 264"/>
                <a:gd name="T34" fmla="*/ 197 w 231"/>
                <a:gd name="T35" fmla="*/ 78 h 264"/>
                <a:gd name="T36" fmla="*/ 197 w 231"/>
                <a:gd name="T37" fmla="*/ 98 h 264"/>
                <a:gd name="T38" fmla="*/ 197 w 231"/>
                <a:gd name="T39" fmla="*/ 107 h 264"/>
                <a:gd name="T40" fmla="*/ 179 w 231"/>
                <a:gd name="T41" fmla="*/ 117 h 264"/>
                <a:gd name="T42" fmla="*/ 179 w 231"/>
                <a:gd name="T43" fmla="*/ 127 h 264"/>
                <a:gd name="T44" fmla="*/ 171 w 231"/>
                <a:gd name="T45" fmla="*/ 137 h 264"/>
                <a:gd name="T46" fmla="*/ 171 w 231"/>
                <a:gd name="T47" fmla="*/ 156 h 264"/>
                <a:gd name="T48" fmla="*/ 154 w 231"/>
                <a:gd name="T49" fmla="*/ 156 h 264"/>
                <a:gd name="T50" fmla="*/ 154 w 231"/>
                <a:gd name="T51" fmla="*/ 147 h 264"/>
                <a:gd name="T52" fmla="*/ 145 w 231"/>
                <a:gd name="T53" fmla="*/ 147 h 264"/>
                <a:gd name="T54" fmla="*/ 145 w 231"/>
                <a:gd name="T55" fmla="*/ 166 h 264"/>
                <a:gd name="T56" fmla="*/ 137 w 231"/>
                <a:gd name="T57" fmla="*/ 176 h 264"/>
                <a:gd name="T58" fmla="*/ 137 w 231"/>
                <a:gd name="T59" fmla="*/ 196 h 264"/>
                <a:gd name="T60" fmla="*/ 128 w 231"/>
                <a:gd name="T61" fmla="*/ 205 h 264"/>
                <a:gd name="T62" fmla="*/ 128 w 231"/>
                <a:gd name="T63" fmla="*/ 215 h 264"/>
                <a:gd name="T64" fmla="*/ 120 w 231"/>
                <a:gd name="T65" fmla="*/ 235 h 264"/>
                <a:gd name="T66" fmla="*/ 103 w 231"/>
                <a:gd name="T67" fmla="*/ 244 h 264"/>
                <a:gd name="T68" fmla="*/ 94 w 231"/>
                <a:gd name="T69" fmla="*/ 254 h 264"/>
                <a:gd name="T70" fmla="*/ 77 w 231"/>
                <a:gd name="T71" fmla="*/ 254 h 264"/>
                <a:gd name="T72" fmla="*/ 69 w 231"/>
                <a:gd name="T73" fmla="*/ 254 h 264"/>
                <a:gd name="T74" fmla="*/ 60 w 231"/>
                <a:gd name="T75" fmla="*/ 264 h 264"/>
                <a:gd name="T76" fmla="*/ 51 w 231"/>
                <a:gd name="T77" fmla="*/ 264 h 264"/>
                <a:gd name="T78" fmla="*/ 43 w 231"/>
                <a:gd name="T79" fmla="*/ 254 h 264"/>
                <a:gd name="T80" fmla="*/ 43 w 231"/>
                <a:gd name="T81" fmla="*/ 244 h 264"/>
                <a:gd name="T82" fmla="*/ 34 w 231"/>
                <a:gd name="T83" fmla="*/ 244 h 264"/>
                <a:gd name="T84" fmla="*/ 26 w 231"/>
                <a:gd name="T85" fmla="*/ 235 h 264"/>
                <a:gd name="T86" fmla="*/ 9 w 231"/>
                <a:gd name="T87" fmla="*/ 225 h 264"/>
                <a:gd name="T88" fmla="*/ 0 w 231"/>
                <a:gd name="T89" fmla="*/ 205 h 264"/>
                <a:gd name="T90" fmla="*/ 0 w 231"/>
                <a:gd name="T91" fmla="*/ 176 h 264"/>
                <a:gd name="T92" fmla="*/ 9 w 231"/>
                <a:gd name="T93" fmla="*/ 176 h 264"/>
                <a:gd name="T94" fmla="*/ 17 w 231"/>
                <a:gd name="T95" fmla="*/ 166 h 264"/>
                <a:gd name="T96" fmla="*/ 17 w 231"/>
                <a:gd name="T97" fmla="*/ 137 h 264"/>
                <a:gd name="T98" fmla="*/ 26 w 231"/>
                <a:gd name="T99" fmla="*/ 147 h 264"/>
                <a:gd name="T100" fmla="*/ 34 w 231"/>
                <a:gd name="T101" fmla="*/ 137 h 264"/>
                <a:gd name="T102" fmla="*/ 34 w 231"/>
                <a:gd name="T103" fmla="*/ 117 h 264"/>
                <a:gd name="T104" fmla="*/ 43 w 231"/>
                <a:gd name="T105" fmla="*/ 107 h 264"/>
                <a:gd name="T106" fmla="*/ 51 w 231"/>
                <a:gd name="T107" fmla="*/ 107 h 264"/>
                <a:gd name="T108" fmla="*/ 69 w 231"/>
                <a:gd name="T109" fmla="*/ 88 h 264"/>
                <a:gd name="T110" fmla="*/ 77 w 231"/>
                <a:gd name="T111" fmla="*/ 78 h 264"/>
                <a:gd name="T112" fmla="*/ 77 w 231"/>
                <a:gd name="T113" fmla="*/ 68 h 264"/>
                <a:gd name="T114" fmla="*/ 77 w 231"/>
                <a:gd name="T115" fmla="*/ 58 h 264"/>
                <a:gd name="T116" fmla="*/ 77 w 231"/>
                <a:gd name="T117" fmla="*/ 39 h 264"/>
                <a:gd name="T118" fmla="*/ 69 w 231"/>
                <a:gd name="T119" fmla="*/ 29 h 264"/>
                <a:gd name="T120" fmla="*/ 77 w 231"/>
                <a:gd name="T121" fmla="*/ 19 h 26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31"/>
                <a:gd name="T184" fmla="*/ 0 h 264"/>
                <a:gd name="T185" fmla="*/ 231 w 231"/>
                <a:gd name="T186" fmla="*/ 264 h 264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31" h="264">
                  <a:moveTo>
                    <a:pt x="77" y="19"/>
                  </a:moveTo>
                  <a:lnTo>
                    <a:pt x="77" y="0"/>
                  </a:lnTo>
                  <a:lnTo>
                    <a:pt x="86" y="68"/>
                  </a:lnTo>
                  <a:lnTo>
                    <a:pt x="145" y="58"/>
                  </a:lnTo>
                  <a:lnTo>
                    <a:pt x="145" y="98"/>
                  </a:lnTo>
                  <a:lnTo>
                    <a:pt x="154" y="88"/>
                  </a:lnTo>
                  <a:lnTo>
                    <a:pt x="179" y="68"/>
                  </a:lnTo>
                  <a:lnTo>
                    <a:pt x="179" y="58"/>
                  </a:lnTo>
                  <a:lnTo>
                    <a:pt x="188" y="68"/>
                  </a:lnTo>
                  <a:lnTo>
                    <a:pt x="197" y="68"/>
                  </a:lnTo>
                  <a:lnTo>
                    <a:pt x="197" y="58"/>
                  </a:lnTo>
                  <a:lnTo>
                    <a:pt x="222" y="58"/>
                  </a:lnTo>
                  <a:lnTo>
                    <a:pt x="231" y="68"/>
                  </a:lnTo>
                  <a:lnTo>
                    <a:pt x="231" y="78"/>
                  </a:lnTo>
                  <a:lnTo>
                    <a:pt x="231" y="88"/>
                  </a:lnTo>
                  <a:lnTo>
                    <a:pt x="222" y="88"/>
                  </a:lnTo>
                  <a:lnTo>
                    <a:pt x="205" y="78"/>
                  </a:lnTo>
                  <a:lnTo>
                    <a:pt x="197" y="78"/>
                  </a:lnTo>
                  <a:lnTo>
                    <a:pt x="197" y="98"/>
                  </a:lnTo>
                  <a:lnTo>
                    <a:pt x="197" y="107"/>
                  </a:lnTo>
                  <a:lnTo>
                    <a:pt x="179" y="117"/>
                  </a:lnTo>
                  <a:lnTo>
                    <a:pt x="179" y="127"/>
                  </a:lnTo>
                  <a:lnTo>
                    <a:pt x="171" y="137"/>
                  </a:lnTo>
                  <a:lnTo>
                    <a:pt x="171" y="156"/>
                  </a:lnTo>
                  <a:lnTo>
                    <a:pt x="154" y="156"/>
                  </a:lnTo>
                  <a:lnTo>
                    <a:pt x="154" y="147"/>
                  </a:lnTo>
                  <a:lnTo>
                    <a:pt x="145" y="147"/>
                  </a:lnTo>
                  <a:lnTo>
                    <a:pt x="145" y="166"/>
                  </a:lnTo>
                  <a:lnTo>
                    <a:pt x="137" y="176"/>
                  </a:lnTo>
                  <a:lnTo>
                    <a:pt x="137" y="196"/>
                  </a:lnTo>
                  <a:lnTo>
                    <a:pt x="128" y="205"/>
                  </a:lnTo>
                  <a:lnTo>
                    <a:pt x="128" y="215"/>
                  </a:lnTo>
                  <a:lnTo>
                    <a:pt x="120" y="235"/>
                  </a:lnTo>
                  <a:lnTo>
                    <a:pt x="103" y="244"/>
                  </a:lnTo>
                  <a:lnTo>
                    <a:pt x="94" y="254"/>
                  </a:lnTo>
                  <a:lnTo>
                    <a:pt x="77" y="254"/>
                  </a:lnTo>
                  <a:lnTo>
                    <a:pt x="69" y="254"/>
                  </a:lnTo>
                  <a:lnTo>
                    <a:pt x="60" y="264"/>
                  </a:lnTo>
                  <a:lnTo>
                    <a:pt x="51" y="264"/>
                  </a:lnTo>
                  <a:lnTo>
                    <a:pt x="43" y="254"/>
                  </a:lnTo>
                  <a:lnTo>
                    <a:pt x="43" y="244"/>
                  </a:lnTo>
                  <a:lnTo>
                    <a:pt x="34" y="244"/>
                  </a:lnTo>
                  <a:lnTo>
                    <a:pt x="26" y="235"/>
                  </a:lnTo>
                  <a:lnTo>
                    <a:pt x="9" y="225"/>
                  </a:lnTo>
                  <a:lnTo>
                    <a:pt x="0" y="205"/>
                  </a:lnTo>
                  <a:lnTo>
                    <a:pt x="0" y="176"/>
                  </a:lnTo>
                  <a:lnTo>
                    <a:pt x="9" y="176"/>
                  </a:lnTo>
                  <a:lnTo>
                    <a:pt x="17" y="166"/>
                  </a:lnTo>
                  <a:lnTo>
                    <a:pt x="17" y="137"/>
                  </a:lnTo>
                  <a:lnTo>
                    <a:pt x="26" y="147"/>
                  </a:lnTo>
                  <a:lnTo>
                    <a:pt x="34" y="137"/>
                  </a:lnTo>
                  <a:lnTo>
                    <a:pt x="34" y="117"/>
                  </a:lnTo>
                  <a:lnTo>
                    <a:pt x="43" y="107"/>
                  </a:lnTo>
                  <a:lnTo>
                    <a:pt x="51" y="107"/>
                  </a:lnTo>
                  <a:lnTo>
                    <a:pt x="69" y="88"/>
                  </a:lnTo>
                  <a:lnTo>
                    <a:pt x="77" y="78"/>
                  </a:lnTo>
                  <a:lnTo>
                    <a:pt x="77" y="68"/>
                  </a:lnTo>
                  <a:lnTo>
                    <a:pt x="77" y="58"/>
                  </a:lnTo>
                  <a:lnTo>
                    <a:pt x="77" y="39"/>
                  </a:lnTo>
                  <a:lnTo>
                    <a:pt x="69" y="29"/>
                  </a:lnTo>
                  <a:lnTo>
                    <a:pt x="77" y="1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5" name="Freeform 97"/>
            <p:cNvSpPr>
              <a:spLocks/>
            </p:cNvSpPr>
            <p:nvPr/>
          </p:nvSpPr>
          <p:spPr bwMode="auto">
            <a:xfrm>
              <a:off x="3669" y="2979"/>
              <a:ext cx="298" cy="205"/>
            </a:xfrm>
            <a:custGeom>
              <a:avLst/>
              <a:gdLst>
                <a:gd name="T0" fmla="*/ 0 w 298"/>
                <a:gd name="T1" fmla="*/ 49 h 205"/>
                <a:gd name="T2" fmla="*/ 8 w 298"/>
                <a:gd name="T3" fmla="*/ 39 h 205"/>
                <a:gd name="T4" fmla="*/ 34 w 298"/>
                <a:gd name="T5" fmla="*/ 19 h 205"/>
                <a:gd name="T6" fmla="*/ 34 w 298"/>
                <a:gd name="T7" fmla="*/ 39 h 205"/>
                <a:gd name="T8" fmla="*/ 34 w 298"/>
                <a:gd name="T9" fmla="*/ 39 h 205"/>
                <a:gd name="T10" fmla="*/ 238 w 298"/>
                <a:gd name="T11" fmla="*/ 0 h 205"/>
                <a:gd name="T12" fmla="*/ 247 w 298"/>
                <a:gd name="T13" fmla="*/ 0 h 205"/>
                <a:gd name="T14" fmla="*/ 255 w 298"/>
                <a:gd name="T15" fmla="*/ 9 h 205"/>
                <a:gd name="T16" fmla="*/ 264 w 298"/>
                <a:gd name="T17" fmla="*/ 29 h 205"/>
                <a:gd name="T18" fmla="*/ 281 w 298"/>
                <a:gd name="T19" fmla="*/ 39 h 205"/>
                <a:gd name="T20" fmla="*/ 273 w 298"/>
                <a:gd name="T21" fmla="*/ 49 h 205"/>
                <a:gd name="T22" fmla="*/ 273 w 298"/>
                <a:gd name="T23" fmla="*/ 58 h 205"/>
                <a:gd name="T24" fmla="*/ 264 w 298"/>
                <a:gd name="T25" fmla="*/ 68 h 205"/>
                <a:gd name="T26" fmla="*/ 273 w 298"/>
                <a:gd name="T27" fmla="*/ 78 h 205"/>
                <a:gd name="T28" fmla="*/ 273 w 298"/>
                <a:gd name="T29" fmla="*/ 78 h 205"/>
                <a:gd name="T30" fmla="*/ 264 w 298"/>
                <a:gd name="T31" fmla="*/ 88 h 205"/>
                <a:gd name="T32" fmla="*/ 273 w 298"/>
                <a:gd name="T33" fmla="*/ 98 h 205"/>
                <a:gd name="T34" fmla="*/ 281 w 298"/>
                <a:gd name="T35" fmla="*/ 98 h 205"/>
                <a:gd name="T36" fmla="*/ 281 w 298"/>
                <a:gd name="T37" fmla="*/ 107 h 205"/>
                <a:gd name="T38" fmla="*/ 298 w 298"/>
                <a:gd name="T39" fmla="*/ 117 h 205"/>
                <a:gd name="T40" fmla="*/ 298 w 298"/>
                <a:gd name="T41" fmla="*/ 127 h 205"/>
                <a:gd name="T42" fmla="*/ 281 w 298"/>
                <a:gd name="T43" fmla="*/ 137 h 205"/>
                <a:gd name="T44" fmla="*/ 281 w 298"/>
                <a:gd name="T45" fmla="*/ 146 h 205"/>
                <a:gd name="T46" fmla="*/ 273 w 298"/>
                <a:gd name="T47" fmla="*/ 156 h 205"/>
                <a:gd name="T48" fmla="*/ 255 w 298"/>
                <a:gd name="T49" fmla="*/ 156 h 205"/>
                <a:gd name="T50" fmla="*/ 247 w 298"/>
                <a:gd name="T51" fmla="*/ 166 h 205"/>
                <a:gd name="T52" fmla="*/ 76 w 298"/>
                <a:gd name="T53" fmla="*/ 195 h 205"/>
                <a:gd name="T54" fmla="*/ 17 w 298"/>
                <a:gd name="T55" fmla="*/ 205 h 205"/>
                <a:gd name="T56" fmla="*/ 8 w 298"/>
                <a:gd name="T57" fmla="*/ 137 h 205"/>
                <a:gd name="T58" fmla="*/ 0 w 298"/>
                <a:gd name="T59" fmla="*/ 49 h 205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98"/>
                <a:gd name="T91" fmla="*/ 0 h 205"/>
                <a:gd name="T92" fmla="*/ 298 w 298"/>
                <a:gd name="T93" fmla="*/ 205 h 205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98" h="205">
                  <a:moveTo>
                    <a:pt x="0" y="49"/>
                  </a:moveTo>
                  <a:lnTo>
                    <a:pt x="8" y="39"/>
                  </a:lnTo>
                  <a:lnTo>
                    <a:pt x="34" y="19"/>
                  </a:lnTo>
                  <a:lnTo>
                    <a:pt x="34" y="39"/>
                  </a:lnTo>
                  <a:lnTo>
                    <a:pt x="238" y="0"/>
                  </a:lnTo>
                  <a:lnTo>
                    <a:pt x="247" y="0"/>
                  </a:lnTo>
                  <a:lnTo>
                    <a:pt x="255" y="9"/>
                  </a:lnTo>
                  <a:lnTo>
                    <a:pt x="264" y="29"/>
                  </a:lnTo>
                  <a:lnTo>
                    <a:pt x="281" y="39"/>
                  </a:lnTo>
                  <a:lnTo>
                    <a:pt x="273" y="49"/>
                  </a:lnTo>
                  <a:lnTo>
                    <a:pt x="273" y="58"/>
                  </a:lnTo>
                  <a:lnTo>
                    <a:pt x="264" y="68"/>
                  </a:lnTo>
                  <a:lnTo>
                    <a:pt x="273" y="78"/>
                  </a:lnTo>
                  <a:lnTo>
                    <a:pt x="264" y="88"/>
                  </a:lnTo>
                  <a:lnTo>
                    <a:pt x="273" y="98"/>
                  </a:lnTo>
                  <a:lnTo>
                    <a:pt x="281" y="98"/>
                  </a:lnTo>
                  <a:lnTo>
                    <a:pt x="281" y="107"/>
                  </a:lnTo>
                  <a:lnTo>
                    <a:pt x="298" y="117"/>
                  </a:lnTo>
                  <a:lnTo>
                    <a:pt x="298" y="127"/>
                  </a:lnTo>
                  <a:lnTo>
                    <a:pt x="281" y="137"/>
                  </a:lnTo>
                  <a:lnTo>
                    <a:pt x="281" y="146"/>
                  </a:lnTo>
                  <a:lnTo>
                    <a:pt x="273" y="156"/>
                  </a:lnTo>
                  <a:lnTo>
                    <a:pt x="255" y="156"/>
                  </a:lnTo>
                  <a:lnTo>
                    <a:pt x="247" y="166"/>
                  </a:lnTo>
                  <a:lnTo>
                    <a:pt x="76" y="195"/>
                  </a:lnTo>
                  <a:lnTo>
                    <a:pt x="17" y="205"/>
                  </a:lnTo>
                  <a:lnTo>
                    <a:pt x="8" y="137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6" name="Freeform 98"/>
            <p:cNvSpPr>
              <a:spLocks/>
            </p:cNvSpPr>
            <p:nvPr/>
          </p:nvSpPr>
          <p:spPr bwMode="auto">
            <a:xfrm>
              <a:off x="3745" y="3145"/>
              <a:ext cx="179" cy="118"/>
            </a:xfrm>
            <a:custGeom>
              <a:avLst/>
              <a:gdLst>
                <a:gd name="T0" fmla="*/ 0 w 179"/>
                <a:gd name="T1" fmla="*/ 29 h 118"/>
                <a:gd name="T2" fmla="*/ 171 w 179"/>
                <a:gd name="T3" fmla="*/ 0 h 118"/>
                <a:gd name="T4" fmla="*/ 179 w 179"/>
                <a:gd name="T5" fmla="*/ 20 h 118"/>
                <a:gd name="T6" fmla="*/ 171 w 179"/>
                <a:gd name="T7" fmla="*/ 20 h 118"/>
                <a:gd name="T8" fmla="*/ 171 w 179"/>
                <a:gd name="T9" fmla="*/ 10 h 118"/>
                <a:gd name="T10" fmla="*/ 162 w 179"/>
                <a:gd name="T11" fmla="*/ 20 h 118"/>
                <a:gd name="T12" fmla="*/ 162 w 179"/>
                <a:gd name="T13" fmla="*/ 20 h 118"/>
                <a:gd name="T14" fmla="*/ 154 w 179"/>
                <a:gd name="T15" fmla="*/ 29 h 118"/>
                <a:gd name="T16" fmla="*/ 154 w 179"/>
                <a:gd name="T17" fmla="*/ 39 h 118"/>
                <a:gd name="T18" fmla="*/ 145 w 179"/>
                <a:gd name="T19" fmla="*/ 39 h 118"/>
                <a:gd name="T20" fmla="*/ 154 w 179"/>
                <a:gd name="T21" fmla="*/ 59 h 118"/>
                <a:gd name="T22" fmla="*/ 145 w 179"/>
                <a:gd name="T23" fmla="*/ 78 h 118"/>
                <a:gd name="T24" fmla="*/ 154 w 179"/>
                <a:gd name="T25" fmla="*/ 88 h 118"/>
                <a:gd name="T26" fmla="*/ 162 w 179"/>
                <a:gd name="T27" fmla="*/ 108 h 118"/>
                <a:gd name="T28" fmla="*/ 162 w 179"/>
                <a:gd name="T29" fmla="*/ 118 h 118"/>
                <a:gd name="T30" fmla="*/ 154 w 179"/>
                <a:gd name="T31" fmla="*/ 118 h 118"/>
                <a:gd name="T32" fmla="*/ 137 w 179"/>
                <a:gd name="T33" fmla="*/ 118 h 118"/>
                <a:gd name="T34" fmla="*/ 128 w 179"/>
                <a:gd name="T35" fmla="*/ 108 h 118"/>
                <a:gd name="T36" fmla="*/ 120 w 179"/>
                <a:gd name="T37" fmla="*/ 108 h 118"/>
                <a:gd name="T38" fmla="*/ 120 w 179"/>
                <a:gd name="T39" fmla="*/ 98 h 118"/>
                <a:gd name="T40" fmla="*/ 128 w 179"/>
                <a:gd name="T41" fmla="*/ 88 h 118"/>
                <a:gd name="T42" fmla="*/ 128 w 179"/>
                <a:gd name="T43" fmla="*/ 78 h 118"/>
                <a:gd name="T44" fmla="*/ 120 w 179"/>
                <a:gd name="T45" fmla="*/ 78 h 118"/>
                <a:gd name="T46" fmla="*/ 111 w 179"/>
                <a:gd name="T47" fmla="*/ 59 h 118"/>
                <a:gd name="T48" fmla="*/ 103 w 179"/>
                <a:gd name="T49" fmla="*/ 59 h 118"/>
                <a:gd name="T50" fmla="*/ 103 w 179"/>
                <a:gd name="T51" fmla="*/ 59 h 118"/>
                <a:gd name="T52" fmla="*/ 86 w 179"/>
                <a:gd name="T53" fmla="*/ 49 h 118"/>
                <a:gd name="T54" fmla="*/ 77 w 179"/>
                <a:gd name="T55" fmla="*/ 29 h 118"/>
                <a:gd name="T56" fmla="*/ 52 w 179"/>
                <a:gd name="T57" fmla="*/ 29 h 118"/>
                <a:gd name="T58" fmla="*/ 52 w 179"/>
                <a:gd name="T59" fmla="*/ 39 h 118"/>
                <a:gd name="T60" fmla="*/ 43 w 179"/>
                <a:gd name="T61" fmla="*/ 39 h 118"/>
                <a:gd name="T62" fmla="*/ 34 w 179"/>
                <a:gd name="T63" fmla="*/ 29 h 118"/>
                <a:gd name="T64" fmla="*/ 34 w 179"/>
                <a:gd name="T65" fmla="*/ 39 h 118"/>
                <a:gd name="T66" fmla="*/ 9 w 179"/>
                <a:gd name="T67" fmla="*/ 59 h 118"/>
                <a:gd name="T68" fmla="*/ 0 w 179"/>
                <a:gd name="T69" fmla="*/ 69 h 118"/>
                <a:gd name="T70" fmla="*/ 0 w 179"/>
                <a:gd name="T71" fmla="*/ 29 h 11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79"/>
                <a:gd name="T109" fmla="*/ 0 h 118"/>
                <a:gd name="T110" fmla="*/ 179 w 179"/>
                <a:gd name="T111" fmla="*/ 118 h 118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79" h="118">
                  <a:moveTo>
                    <a:pt x="0" y="29"/>
                  </a:moveTo>
                  <a:lnTo>
                    <a:pt x="171" y="0"/>
                  </a:lnTo>
                  <a:lnTo>
                    <a:pt x="179" y="20"/>
                  </a:lnTo>
                  <a:lnTo>
                    <a:pt x="171" y="20"/>
                  </a:lnTo>
                  <a:lnTo>
                    <a:pt x="171" y="10"/>
                  </a:lnTo>
                  <a:lnTo>
                    <a:pt x="162" y="20"/>
                  </a:lnTo>
                  <a:lnTo>
                    <a:pt x="154" y="29"/>
                  </a:lnTo>
                  <a:lnTo>
                    <a:pt x="154" y="39"/>
                  </a:lnTo>
                  <a:lnTo>
                    <a:pt x="145" y="39"/>
                  </a:lnTo>
                  <a:lnTo>
                    <a:pt x="154" y="59"/>
                  </a:lnTo>
                  <a:lnTo>
                    <a:pt x="145" y="78"/>
                  </a:lnTo>
                  <a:lnTo>
                    <a:pt x="154" y="88"/>
                  </a:lnTo>
                  <a:lnTo>
                    <a:pt x="162" y="108"/>
                  </a:lnTo>
                  <a:lnTo>
                    <a:pt x="162" y="118"/>
                  </a:lnTo>
                  <a:lnTo>
                    <a:pt x="154" y="118"/>
                  </a:lnTo>
                  <a:lnTo>
                    <a:pt x="137" y="118"/>
                  </a:lnTo>
                  <a:lnTo>
                    <a:pt x="128" y="108"/>
                  </a:lnTo>
                  <a:lnTo>
                    <a:pt x="120" y="108"/>
                  </a:lnTo>
                  <a:lnTo>
                    <a:pt x="120" y="98"/>
                  </a:lnTo>
                  <a:lnTo>
                    <a:pt x="128" y="88"/>
                  </a:lnTo>
                  <a:lnTo>
                    <a:pt x="128" y="78"/>
                  </a:lnTo>
                  <a:lnTo>
                    <a:pt x="120" y="78"/>
                  </a:lnTo>
                  <a:lnTo>
                    <a:pt x="111" y="59"/>
                  </a:lnTo>
                  <a:lnTo>
                    <a:pt x="103" y="59"/>
                  </a:lnTo>
                  <a:lnTo>
                    <a:pt x="86" y="49"/>
                  </a:lnTo>
                  <a:lnTo>
                    <a:pt x="77" y="29"/>
                  </a:lnTo>
                  <a:lnTo>
                    <a:pt x="52" y="29"/>
                  </a:lnTo>
                  <a:lnTo>
                    <a:pt x="52" y="39"/>
                  </a:lnTo>
                  <a:lnTo>
                    <a:pt x="43" y="39"/>
                  </a:lnTo>
                  <a:lnTo>
                    <a:pt x="34" y="29"/>
                  </a:lnTo>
                  <a:lnTo>
                    <a:pt x="34" y="39"/>
                  </a:lnTo>
                  <a:lnTo>
                    <a:pt x="9" y="59"/>
                  </a:lnTo>
                  <a:lnTo>
                    <a:pt x="0" y="69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7" name="Freeform 99"/>
            <p:cNvSpPr>
              <a:spLocks/>
            </p:cNvSpPr>
            <p:nvPr/>
          </p:nvSpPr>
          <p:spPr bwMode="auto">
            <a:xfrm>
              <a:off x="3907" y="3165"/>
              <a:ext cx="69" cy="107"/>
            </a:xfrm>
            <a:custGeom>
              <a:avLst/>
              <a:gdLst>
                <a:gd name="T0" fmla="*/ 17 w 69"/>
                <a:gd name="T1" fmla="*/ 0 h 107"/>
                <a:gd name="T2" fmla="*/ 9 w 69"/>
                <a:gd name="T3" fmla="*/ 9 h 107"/>
                <a:gd name="T4" fmla="*/ 0 w 69"/>
                <a:gd name="T5" fmla="*/ 19 h 107"/>
                <a:gd name="T6" fmla="*/ 0 w 69"/>
                <a:gd name="T7" fmla="*/ 29 h 107"/>
                <a:gd name="T8" fmla="*/ 9 w 69"/>
                <a:gd name="T9" fmla="*/ 39 h 107"/>
                <a:gd name="T10" fmla="*/ 9 w 69"/>
                <a:gd name="T11" fmla="*/ 49 h 107"/>
                <a:gd name="T12" fmla="*/ 0 w 69"/>
                <a:gd name="T13" fmla="*/ 58 h 107"/>
                <a:gd name="T14" fmla="*/ 0 w 69"/>
                <a:gd name="T15" fmla="*/ 58 h 107"/>
                <a:gd name="T16" fmla="*/ 9 w 69"/>
                <a:gd name="T17" fmla="*/ 58 h 107"/>
                <a:gd name="T18" fmla="*/ 9 w 69"/>
                <a:gd name="T19" fmla="*/ 78 h 107"/>
                <a:gd name="T20" fmla="*/ 9 w 69"/>
                <a:gd name="T21" fmla="*/ 88 h 107"/>
                <a:gd name="T22" fmla="*/ 26 w 69"/>
                <a:gd name="T23" fmla="*/ 88 h 107"/>
                <a:gd name="T24" fmla="*/ 26 w 69"/>
                <a:gd name="T25" fmla="*/ 98 h 107"/>
                <a:gd name="T26" fmla="*/ 35 w 69"/>
                <a:gd name="T27" fmla="*/ 107 h 107"/>
                <a:gd name="T28" fmla="*/ 43 w 69"/>
                <a:gd name="T29" fmla="*/ 107 h 107"/>
                <a:gd name="T30" fmla="*/ 60 w 69"/>
                <a:gd name="T31" fmla="*/ 98 h 107"/>
                <a:gd name="T32" fmla="*/ 69 w 69"/>
                <a:gd name="T33" fmla="*/ 78 h 107"/>
                <a:gd name="T34" fmla="*/ 69 w 69"/>
                <a:gd name="T35" fmla="*/ 68 h 107"/>
                <a:gd name="T36" fmla="*/ 35 w 69"/>
                <a:gd name="T37" fmla="*/ 68 h 107"/>
                <a:gd name="T38" fmla="*/ 17 w 69"/>
                <a:gd name="T39" fmla="*/ 0 h 10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"/>
                <a:gd name="T61" fmla="*/ 0 h 107"/>
                <a:gd name="T62" fmla="*/ 69 w 69"/>
                <a:gd name="T63" fmla="*/ 107 h 107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" h="107">
                  <a:moveTo>
                    <a:pt x="17" y="0"/>
                  </a:moveTo>
                  <a:lnTo>
                    <a:pt x="9" y="9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9" y="39"/>
                  </a:lnTo>
                  <a:lnTo>
                    <a:pt x="9" y="49"/>
                  </a:lnTo>
                  <a:lnTo>
                    <a:pt x="0" y="58"/>
                  </a:lnTo>
                  <a:lnTo>
                    <a:pt x="9" y="58"/>
                  </a:lnTo>
                  <a:lnTo>
                    <a:pt x="9" y="78"/>
                  </a:lnTo>
                  <a:lnTo>
                    <a:pt x="9" y="88"/>
                  </a:lnTo>
                  <a:lnTo>
                    <a:pt x="26" y="88"/>
                  </a:lnTo>
                  <a:lnTo>
                    <a:pt x="26" y="98"/>
                  </a:lnTo>
                  <a:lnTo>
                    <a:pt x="35" y="107"/>
                  </a:lnTo>
                  <a:lnTo>
                    <a:pt x="43" y="107"/>
                  </a:lnTo>
                  <a:lnTo>
                    <a:pt x="60" y="98"/>
                  </a:lnTo>
                  <a:lnTo>
                    <a:pt x="69" y="78"/>
                  </a:lnTo>
                  <a:lnTo>
                    <a:pt x="69" y="68"/>
                  </a:lnTo>
                  <a:lnTo>
                    <a:pt x="35" y="68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8" name="Freeform 100"/>
            <p:cNvSpPr>
              <a:spLocks/>
            </p:cNvSpPr>
            <p:nvPr/>
          </p:nvSpPr>
          <p:spPr bwMode="auto">
            <a:xfrm>
              <a:off x="3916" y="3135"/>
              <a:ext cx="60" cy="98"/>
            </a:xfrm>
            <a:custGeom>
              <a:avLst/>
              <a:gdLst>
                <a:gd name="T0" fmla="*/ 17 w 60"/>
                <a:gd name="T1" fmla="*/ 0 h 98"/>
                <a:gd name="T2" fmla="*/ 17 w 60"/>
                <a:gd name="T3" fmla="*/ 20 h 98"/>
                <a:gd name="T4" fmla="*/ 26 w 60"/>
                <a:gd name="T5" fmla="*/ 30 h 98"/>
                <a:gd name="T6" fmla="*/ 34 w 60"/>
                <a:gd name="T7" fmla="*/ 49 h 98"/>
                <a:gd name="T8" fmla="*/ 34 w 60"/>
                <a:gd name="T9" fmla="*/ 59 h 98"/>
                <a:gd name="T10" fmla="*/ 51 w 60"/>
                <a:gd name="T11" fmla="*/ 69 h 98"/>
                <a:gd name="T12" fmla="*/ 60 w 60"/>
                <a:gd name="T13" fmla="*/ 79 h 98"/>
                <a:gd name="T14" fmla="*/ 60 w 60"/>
                <a:gd name="T15" fmla="*/ 98 h 98"/>
                <a:gd name="T16" fmla="*/ 26 w 60"/>
                <a:gd name="T17" fmla="*/ 98 h 98"/>
                <a:gd name="T18" fmla="*/ 8 w 60"/>
                <a:gd name="T19" fmla="*/ 30 h 98"/>
                <a:gd name="T20" fmla="*/ 0 w 60"/>
                <a:gd name="T21" fmla="*/ 10 h 98"/>
                <a:gd name="T22" fmla="*/ 8 w 60"/>
                <a:gd name="T23" fmla="*/ 0 h 98"/>
                <a:gd name="T24" fmla="*/ 17 w 60"/>
                <a:gd name="T25" fmla="*/ 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0"/>
                <a:gd name="T40" fmla="*/ 0 h 98"/>
                <a:gd name="T41" fmla="*/ 60 w 60"/>
                <a:gd name="T42" fmla="*/ 98 h 9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0" h="98">
                  <a:moveTo>
                    <a:pt x="17" y="0"/>
                  </a:moveTo>
                  <a:lnTo>
                    <a:pt x="17" y="20"/>
                  </a:lnTo>
                  <a:lnTo>
                    <a:pt x="26" y="30"/>
                  </a:lnTo>
                  <a:lnTo>
                    <a:pt x="34" y="49"/>
                  </a:lnTo>
                  <a:lnTo>
                    <a:pt x="34" y="59"/>
                  </a:lnTo>
                  <a:lnTo>
                    <a:pt x="51" y="69"/>
                  </a:lnTo>
                  <a:lnTo>
                    <a:pt x="60" y="79"/>
                  </a:lnTo>
                  <a:lnTo>
                    <a:pt x="60" y="98"/>
                  </a:lnTo>
                  <a:lnTo>
                    <a:pt x="26" y="98"/>
                  </a:lnTo>
                  <a:lnTo>
                    <a:pt x="8" y="30"/>
                  </a:lnTo>
                  <a:lnTo>
                    <a:pt x="0" y="10"/>
                  </a:lnTo>
                  <a:lnTo>
                    <a:pt x="8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19" name="Freeform 101"/>
            <p:cNvSpPr>
              <a:spLocks/>
            </p:cNvSpPr>
            <p:nvPr/>
          </p:nvSpPr>
          <p:spPr bwMode="auto">
            <a:xfrm>
              <a:off x="3942" y="3272"/>
              <a:ext cx="17" cy="59"/>
            </a:xfrm>
            <a:custGeom>
              <a:avLst/>
              <a:gdLst>
                <a:gd name="T0" fmla="*/ 0 w 17"/>
                <a:gd name="T1" fmla="*/ 0 h 59"/>
                <a:gd name="T2" fmla="*/ 8 w 17"/>
                <a:gd name="T3" fmla="*/ 10 h 59"/>
                <a:gd name="T4" fmla="*/ 0 w 17"/>
                <a:gd name="T5" fmla="*/ 20 h 59"/>
                <a:gd name="T6" fmla="*/ 0 w 17"/>
                <a:gd name="T7" fmla="*/ 40 h 59"/>
                <a:gd name="T8" fmla="*/ 0 w 17"/>
                <a:gd name="T9" fmla="*/ 59 h 59"/>
                <a:gd name="T10" fmla="*/ 8 w 17"/>
                <a:gd name="T11" fmla="*/ 40 h 59"/>
                <a:gd name="T12" fmla="*/ 8 w 17"/>
                <a:gd name="T13" fmla="*/ 30 h 59"/>
                <a:gd name="T14" fmla="*/ 17 w 17"/>
                <a:gd name="T15" fmla="*/ 20 h 59"/>
                <a:gd name="T16" fmla="*/ 8 w 17"/>
                <a:gd name="T17" fmla="*/ 0 h 59"/>
                <a:gd name="T18" fmla="*/ 0 w 17"/>
                <a:gd name="T19" fmla="*/ 0 h 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59"/>
                <a:gd name="T32" fmla="*/ 17 w 17"/>
                <a:gd name="T33" fmla="*/ 59 h 5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59">
                  <a:moveTo>
                    <a:pt x="0" y="0"/>
                  </a:moveTo>
                  <a:lnTo>
                    <a:pt x="8" y="10"/>
                  </a:lnTo>
                  <a:lnTo>
                    <a:pt x="0" y="20"/>
                  </a:lnTo>
                  <a:lnTo>
                    <a:pt x="0" y="40"/>
                  </a:lnTo>
                  <a:lnTo>
                    <a:pt x="0" y="59"/>
                  </a:lnTo>
                  <a:lnTo>
                    <a:pt x="8" y="40"/>
                  </a:lnTo>
                  <a:lnTo>
                    <a:pt x="8" y="30"/>
                  </a:lnTo>
                  <a:lnTo>
                    <a:pt x="17" y="2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0" name="Freeform 102"/>
            <p:cNvSpPr>
              <a:spLocks/>
            </p:cNvSpPr>
            <p:nvPr/>
          </p:nvSpPr>
          <p:spPr bwMode="auto">
            <a:xfrm>
              <a:off x="3933" y="3018"/>
              <a:ext cx="68" cy="166"/>
            </a:xfrm>
            <a:custGeom>
              <a:avLst/>
              <a:gdLst>
                <a:gd name="T0" fmla="*/ 9 w 68"/>
                <a:gd name="T1" fmla="*/ 0 h 166"/>
                <a:gd name="T2" fmla="*/ 17 w 68"/>
                <a:gd name="T3" fmla="*/ 0 h 166"/>
                <a:gd name="T4" fmla="*/ 60 w 68"/>
                <a:gd name="T5" fmla="*/ 19 h 166"/>
                <a:gd name="T6" fmla="*/ 60 w 68"/>
                <a:gd name="T7" fmla="*/ 19 h 166"/>
                <a:gd name="T8" fmla="*/ 51 w 68"/>
                <a:gd name="T9" fmla="*/ 49 h 166"/>
                <a:gd name="T10" fmla="*/ 51 w 68"/>
                <a:gd name="T11" fmla="*/ 59 h 166"/>
                <a:gd name="T12" fmla="*/ 68 w 68"/>
                <a:gd name="T13" fmla="*/ 59 h 166"/>
                <a:gd name="T14" fmla="*/ 68 w 68"/>
                <a:gd name="T15" fmla="*/ 117 h 166"/>
                <a:gd name="T16" fmla="*/ 51 w 68"/>
                <a:gd name="T17" fmla="*/ 156 h 166"/>
                <a:gd name="T18" fmla="*/ 43 w 68"/>
                <a:gd name="T19" fmla="*/ 166 h 166"/>
                <a:gd name="T20" fmla="*/ 43 w 68"/>
                <a:gd name="T21" fmla="*/ 166 h 166"/>
                <a:gd name="T22" fmla="*/ 34 w 68"/>
                <a:gd name="T23" fmla="*/ 156 h 166"/>
                <a:gd name="T24" fmla="*/ 17 w 68"/>
                <a:gd name="T25" fmla="*/ 156 h 166"/>
                <a:gd name="T26" fmla="*/ 0 w 68"/>
                <a:gd name="T27" fmla="*/ 137 h 166"/>
                <a:gd name="T28" fmla="*/ 0 w 68"/>
                <a:gd name="T29" fmla="*/ 117 h 166"/>
                <a:gd name="T30" fmla="*/ 9 w 68"/>
                <a:gd name="T31" fmla="*/ 117 h 166"/>
                <a:gd name="T32" fmla="*/ 17 w 68"/>
                <a:gd name="T33" fmla="*/ 107 h 166"/>
                <a:gd name="T34" fmla="*/ 17 w 68"/>
                <a:gd name="T35" fmla="*/ 98 h 166"/>
                <a:gd name="T36" fmla="*/ 34 w 68"/>
                <a:gd name="T37" fmla="*/ 88 h 166"/>
                <a:gd name="T38" fmla="*/ 34 w 68"/>
                <a:gd name="T39" fmla="*/ 78 h 166"/>
                <a:gd name="T40" fmla="*/ 17 w 68"/>
                <a:gd name="T41" fmla="*/ 68 h 166"/>
                <a:gd name="T42" fmla="*/ 17 w 68"/>
                <a:gd name="T43" fmla="*/ 59 h 166"/>
                <a:gd name="T44" fmla="*/ 9 w 68"/>
                <a:gd name="T45" fmla="*/ 59 h 166"/>
                <a:gd name="T46" fmla="*/ 0 w 68"/>
                <a:gd name="T47" fmla="*/ 49 h 166"/>
                <a:gd name="T48" fmla="*/ 9 w 68"/>
                <a:gd name="T49" fmla="*/ 39 h 166"/>
                <a:gd name="T50" fmla="*/ 0 w 68"/>
                <a:gd name="T51" fmla="*/ 29 h 166"/>
                <a:gd name="T52" fmla="*/ 9 w 68"/>
                <a:gd name="T53" fmla="*/ 19 h 166"/>
                <a:gd name="T54" fmla="*/ 9 w 68"/>
                <a:gd name="T55" fmla="*/ 10 h 166"/>
                <a:gd name="T56" fmla="*/ 9 w 68"/>
                <a:gd name="T57" fmla="*/ 0 h 1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68"/>
                <a:gd name="T88" fmla="*/ 0 h 166"/>
                <a:gd name="T89" fmla="*/ 68 w 68"/>
                <a:gd name="T90" fmla="*/ 166 h 1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68" h="166">
                  <a:moveTo>
                    <a:pt x="9" y="0"/>
                  </a:moveTo>
                  <a:lnTo>
                    <a:pt x="17" y="0"/>
                  </a:lnTo>
                  <a:lnTo>
                    <a:pt x="60" y="19"/>
                  </a:lnTo>
                  <a:lnTo>
                    <a:pt x="51" y="49"/>
                  </a:lnTo>
                  <a:lnTo>
                    <a:pt x="51" y="59"/>
                  </a:lnTo>
                  <a:lnTo>
                    <a:pt x="68" y="59"/>
                  </a:lnTo>
                  <a:lnTo>
                    <a:pt x="68" y="117"/>
                  </a:lnTo>
                  <a:lnTo>
                    <a:pt x="51" y="156"/>
                  </a:lnTo>
                  <a:lnTo>
                    <a:pt x="43" y="166"/>
                  </a:lnTo>
                  <a:lnTo>
                    <a:pt x="34" y="156"/>
                  </a:lnTo>
                  <a:lnTo>
                    <a:pt x="17" y="156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9" y="117"/>
                  </a:lnTo>
                  <a:lnTo>
                    <a:pt x="17" y="107"/>
                  </a:lnTo>
                  <a:lnTo>
                    <a:pt x="17" y="98"/>
                  </a:lnTo>
                  <a:lnTo>
                    <a:pt x="34" y="88"/>
                  </a:lnTo>
                  <a:lnTo>
                    <a:pt x="34" y="78"/>
                  </a:lnTo>
                  <a:lnTo>
                    <a:pt x="17" y="68"/>
                  </a:lnTo>
                  <a:lnTo>
                    <a:pt x="17" y="59"/>
                  </a:lnTo>
                  <a:lnTo>
                    <a:pt x="9" y="59"/>
                  </a:lnTo>
                  <a:lnTo>
                    <a:pt x="0" y="49"/>
                  </a:lnTo>
                  <a:lnTo>
                    <a:pt x="9" y="39"/>
                  </a:lnTo>
                  <a:lnTo>
                    <a:pt x="0" y="29"/>
                  </a:lnTo>
                  <a:lnTo>
                    <a:pt x="9" y="19"/>
                  </a:lnTo>
                  <a:lnTo>
                    <a:pt x="9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1" name="Freeform 103"/>
            <p:cNvSpPr>
              <a:spLocks/>
            </p:cNvSpPr>
            <p:nvPr/>
          </p:nvSpPr>
          <p:spPr bwMode="auto">
            <a:xfrm>
              <a:off x="3703" y="2744"/>
              <a:ext cx="307" cy="293"/>
            </a:xfrm>
            <a:custGeom>
              <a:avLst/>
              <a:gdLst>
                <a:gd name="T0" fmla="*/ 0 w 307"/>
                <a:gd name="T1" fmla="*/ 254 h 293"/>
                <a:gd name="T2" fmla="*/ 17 w 307"/>
                <a:gd name="T3" fmla="*/ 235 h 293"/>
                <a:gd name="T4" fmla="*/ 25 w 307"/>
                <a:gd name="T5" fmla="*/ 225 h 293"/>
                <a:gd name="T6" fmla="*/ 34 w 307"/>
                <a:gd name="T7" fmla="*/ 205 h 293"/>
                <a:gd name="T8" fmla="*/ 34 w 307"/>
                <a:gd name="T9" fmla="*/ 205 h 293"/>
                <a:gd name="T10" fmla="*/ 25 w 307"/>
                <a:gd name="T11" fmla="*/ 195 h 293"/>
                <a:gd name="T12" fmla="*/ 17 w 307"/>
                <a:gd name="T13" fmla="*/ 186 h 293"/>
                <a:gd name="T14" fmla="*/ 25 w 307"/>
                <a:gd name="T15" fmla="*/ 166 h 293"/>
                <a:gd name="T16" fmla="*/ 42 w 307"/>
                <a:gd name="T17" fmla="*/ 166 h 293"/>
                <a:gd name="T18" fmla="*/ 59 w 307"/>
                <a:gd name="T19" fmla="*/ 166 h 293"/>
                <a:gd name="T20" fmla="*/ 85 w 307"/>
                <a:gd name="T21" fmla="*/ 166 h 293"/>
                <a:gd name="T22" fmla="*/ 119 w 307"/>
                <a:gd name="T23" fmla="*/ 156 h 293"/>
                <a:gd name="T24" fmla="*/ 136 w 307"/>
                <a:gd name="T25" fmla="*/ 137 h 293"/>
                <a:gd name="T26" fmla="*/ 145 w 307"/>
                <a:gd name="T27" fmla="*/ 127 h 293"/>
                <a:gd name="T28" fmla="*/ 145 w 307"/>
                <a:gd name="T29" fmla="*/ 117 h 293"/>
                <a:gd name="T30" fmla="*/ 136 w 307"/>
                <a:gd name="T31" fmla="*/ 98 h 293"/>
                <a:gd name="T32" fmla="*/ 136 w 307"/>
                <a:gd name="T33" fmla="*/ 88 h 293"/>
                <a:gd name="T34" fmla="*/ 145 w 307"/>
                <a:gd name="T35" fmla="*/ 78 h 293"/>
                <a:gd name="T36" fmla="*/ 153 w 307"/>
                <a:gd name="T37" fmla="*/ 68 h 293"/>
                <a:gd name="T38" fmla="*/ 153 w 307"/>
                <a:gd name="T39" fmla="*/ 58 h 293"/>
                <a:gd name="T40" fmla="*/ 170 w 307"/>
                <a:gd name="T41" fmla="*/ 29 h 293"/>
                <a:gd name="T42" fmla="*/ 196 w 307"/>
                <a:gd name="T43" fmla="*/ 9 h 293"/>
                <a:gd name="T44" fmla="*/ 256 w 307"/>
                <a:gd name="T45" fmla="*/ 0 h 293"/>
                <a:gd name="T46" fmla="*/ 264 w 307"/>
                <a:gd name="T47" fmla="*/ 19 h 293"/>
                <a:gd name="T48" fmla="*/ 273 w 307"/>
                <a:gd name="T49" fmla="*/ 29 h 293"/>
                <a:gd name="T50" fmla="*/ 273 w 307"/>
                <a:gd name="T51" fmla="*/ 49 h 293"/>
                <a:gd name="T52" fmla="*/ 273 w 307"/>
                <a:gd name="T53" fmla="*/ 58 h 293"/>
                <a:gd name="T54" fmla="*/ 273 w 307"/>
                <a:gd name="T55" fmla="*/ 68 h 293"/>
                <a:gd name="T56" fmla="*/ 273 w 307"/>
                <a:gd name="T57" fmla="*/ 78 h 293"/>
                <a:gd name="T58" fmla="*/ 273 w 307"/>
                <a:gd name="T59" fmla="*/ 98 h 293"/>
                <a:gd name="T60" fmla="*/ 290 w 307"/>
                <a:gd name="T61" fmla="*/ 107 h 293"/>
                <a:gd name="T62" fmla="*/ 290 w 307"/>
                <a:gd name="T63" fmla="*/ 127 h 293"/>
                <a:gd name="T64" fmla="*/ 290 w 307"/>
                <a:gd name="T65" fmla="*/ 156 h 293"/>
                <a:gd name="T66" fmla="*/ 298 w 307"/>
                <a:gd name="T67" fmla="*/ 205 h 293"/>
                <a:gd name="T68" fmla="*/ 298 w 307"/>
                <a:gd name="T69" fmla="*/ 244 h 293"/>
                <a:gd name="T70" fmla="*/ 307 w 307"/>
                <a:gd name="T71" fmla="*/ 264 h 293"/>
                <a:gd name="T72" fmla="*/ 298 w 307"/>
                <a:gd name="T73" fmla="*/ 284 h 293"/>
                <a:gd name="T74" fmla="*/ 290 w 307"/>
                <a:gd name="T75" fmla="*/ 293 h 293"/>
                <a:gd name="T76" fmla="*/ 247 w 307"/>
                <a:gd name="T77" fmla="*/ 274 h 293"/>
                <a:gd name="T78" fmla="*/ 230 w 307"/>
                <a:gd name="T79" fmla="*/ 264 h 293"/>
                <a:gd name="T80" fmla="*/ 221 w 307"/>
                <a:gd name="T81" fmla="*/ 244 h 293"/>
                <a:gd name="T82" fmla="*/ 213 w 307"/>
                <a:gd name="T83" fmla="*/ 235 h 293"/>
                <a:gd name="T84" fmla="*/ 204 w 307"/>
                <a:gd name="T85" fmla="*/ 235 h 293"/>
                <a:gd name="T86" fmla="*/ 0 w 307"/>
                <a:gd name="T87" fmla="*/ 274 h 293"/>
                <a:gd name="T88" fmla="*/ 0 w 307"/>
                <a:gd name="T89" fmla="*/ 274 h 293"/>
                <a:gd name="T90" fmla="*/ 0 w 307"/>
                <a:gd name="T91" fmla="*/ 254 h 29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07"/>
                <a:gd name="T139" fmla="*/ 0 h 293"/>
                <a:gd name="T140" fmla="*/ 307 w 307"/>
                <a:gd name="T141" fmla="*/ 293 h 29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07" h="293">
                  <a:moveTo>
                    <a:pt x="0" y="254"/>
                  </a:moveTo>
                  <a:lnTo>
                    <a:pt x="17" y="235"/>
                  </a:lnTo>
                  <a:lnTo>
                    <a:pt x="25" y="225"/>
                  </a:lnTo>
                  <a:lnTo>
                    <a:pt x="34" y="205"/>
                  </a:lnTo>
                  <a:lnTo>
                    <a:pt x="25" y="195"/>
                  </a:lnTo>
                  <a:lnTo>
                    <a:pt x="17" y="186"/>
                  </a:lnTo>
                  <a:lnTo>
                    <a:pt x="25" y="166"/>
                  </a:lnTo>
                  <a:lnTo>
                    <a:pt x="42" y="166"/>
                  </a:lnTo>
                  <a:lnTo>
                    <a:pt x="59" y="166"/>
                  </a:lnTo>
                  <a:lnTo>
                    <a:pt x="85" y="166"/>
                  </a:lnTo>
                  <a:lnTo>
                    <a:pt x="119" y="156"/>
                  </a:lnTo>
                  <a:lnTo>
                    <a:pt x="136" y="137"/>
                  </a:lnTo>
                  <a:lnTo>
                    <a:pt x="145" y="127"/>
                  </a:lnTo>
                  <a:lnTo>
                    <a:pt x="145" y="117"/>
                  </a:lnTo>
                  <a:lnTo>
                    <a:pt x="136" y="98"/>
                  </a:lnTo>
                  <a:lnTo>
                    <a:pt x="136" y="88"/>
                  </a:lnTo>
                  <a:lnTo>
                    <a:pt x="145" y="78"/>
                  </a:lnTo>
                  <a:lnTo>
                    <a:pt x="153" y="68"/>
                  </a:lnTo>
                  <a:lnTo>
                    <a:pt x="153" y="58"/>
                  </a:lnTo>
                  <a:lnTo>
                    <a:pt x="170" y="29"/>
                  </a:lnTo>
                  <a:lnTo>
                    <a:pt x="196" y="9"/>
                  </a:lnTo>
                  <a:lnTo>
                    <a:pt x="256" y="0"/>
                  </a:lnTo>
                  <a:lnTo>
                    <a:pt x="264" y="19"/>
                  </a:lnTo>
                  <a:lnTo>
                    <a:pt x="273" y="29"/>
                  </a:lnTo>
                  <a:lnTo>
                    <a:pt x="273" y="49"/>
                  </a:lnTo>
                  <a:lnTo>
                    <a:pt x="273" y="58"/>
                  </a:lnTo>
                  <a:lnTo>
                    <a:pt x="273" y="68"/>
                  </a:lnTo>
                  <a:lnTo>
                    <a:pt x="273" y="78"/>
                  </a:lnTo>
                  <a:lnTo>
                    <a:pt x="273" y="98"/>
                  </a:lnTo>
                  <a:lnTo>
                    <a:pt x="290" y="107"/>
                  </a:lnTo>
                  <a:lnTo>
                    <a:pt x="290" y="127"/>
                  </a:lnTo>
                  <a:lnTo>
                    <a:pt x="290" y="156"/>
                  </a:lnTo>
                  <a:lnTo>
                    <a:pt x="298" y="205"/>
                  </a:lnTo>
                  <a:lnTo>
                    <a:pt x="298" y="244"/>
                  </a:lnTo>
                  <a:lnTo>
                    <a:pt x="307" y="264"/>
                  </a:lnTo>
                  <a:lnTo>
                    <a:pt x="298" y="284"/>
                  </a:lnTo>
                  <a:lnTo>
                    <a:pt x="290" y="293"/>
                  </a:lnTo>
                  <a:lnTo>
                    <a:pt x="247" y="274"/>
                  </a:lnTo>
                  <a:lnTo>
                    <a:pt x="230" y="264"/>
                  </a:lnTo>
                  <a:lnTo>
                    <a:pt x="221" y="244"/>
                  </a:lnTo>
                  <a:lnTo>
                    <a:pt x="213" y="235"/>
                  </a:lnTo>
                  <a:lnTo>
                    <a:pt x="204" y="235"/>
                  </a:lnTo>
                  <a:lnTo>
                    <a:pt x="0" y="274"/>
                  </a:lnTo>
                  <a:lnTo>
                    <a:pt x="0" y="254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2" name="Freeform 104"/>
            <p:cNvSpPr>
              <a:spLocks/>
            </p:cNvSpPr>
            <p:nvPr/>
          </p:nvSpPr>
          <p:spPr bwMode="auto">
            <a:xfrm>
              <a:off x="3984" y="2998"/>
              <a:ext cx="103" cy="69"/>
            </a:xfrm>
            <a:custGeom>
              <a:avLst/>
              <a:gdLst>
                <a:gd name="T0" fmla="*/ 9 w 103"/>
                <a:gd name="T1" fmla="*/ 39 h 69"/>
                <a:gd name="T2" fmla="*/ 17 w 103"/>
                <a:gd name="T3" fmla="*/ 39 h 69"/>
                <a:gd name="T4" fmla="*/ 17 w 103"/>
                <a:gd name="T5" fmla="*/ 49 h 69"/>
                <a:gd name="T6" fmla="*/ 26 w 103"/>
                <a:gd name="T7" fmla="*/ 49 h 69"/>
                <a:gd name="T8" fmla="*/ 60 w 103"/>
                <a:gd name="T9" fmla="*/ 30 h 69"/>
                <a:gd name="T10" fmla="*/ 60 w 103"/>
                <a:gd name="T11" fmla="*/ 20 h 69"/>
                <a:gd name="T12" fmla="*/ 68 w 103"/>
                <a:gd name="T13" fmla="*/ 20 h 69"/>
                <a:gd name="T14" fmla="*/ 77 w 103"/>
                <a:gd name="T15" fmla="*/ 20 h 69"/>
                <a:gd name="T16" fmla="*/ 77 w 103"/>
                <a:gd name="T17" fmla="*/ 0 h 69"/>
                <a:gd name="T18" fmla="*/ 86 w 103"/>
                <a:gd name="T19" fmla="*/ 0 h 69"/>
                <a:gd name="T20" fmla="*/ 86 w 103"/>
                <a:gd name="T21" fmla="*/ 10 h 69"/>
                <a:gd name="T22" fmla="*/ 86 w 103"/>
                <a:gd name="T23" fmla="*/ 10 h 69"/>
                <a:gd name="T24" fmla="*/ 86 w 103"/>
                <a:gd name="T25" fmla="*/ 10 h 69"/>
                <a:gd name="T26" fmla="*/ 94 w 103"/>
                <a:gd name="T27" fmla="*/ 10 h 69"/>
                <a:gd name="T28" fmla="*/ 103 w 103"/>
                <a:gd name="T29" fmla="*/ 0 h 69"/>
                <a:gd name="T30" fmla="*/ 103 w 103"/>
                <a:gd name="T31" fmla="*/ 10 h 69"/>
                <a:gd name="T32" fmla="*/ 103 w 103"/>
                <a:gd name="T33" fmla="*/ 10 h 69"/>
                <a:gd name="T34" fmla="*/ 86 w 103"/>
                <a:gd name="T35" fmla="*/ 20 h 69"/>
                <a:gd name="T36" fmla="*/ 68 w 103"/>
                <a:gd name="T37" fmla="*/ 39 h 69"/>
                <a:gd name="T38" fmla="*/ 51 w 103"/>
                <a:gd name="T39" fmla="*/ 49 h 69"/>
                <a:gd name="T40" fmla="*/ 43 w 103"/>
                <a:gd name="T41" fmla="*/ 59 h 69"/>
                <a:gd name="T42" fmla="*/ 34 w 103"/>
                <a:gd name="T43" fmla="*/ 59 h 69"/>
                <a:gd name="T44" fmla="*/ 17 w 103"/>
                <a:gd name="T45" fmla="*/ 69 h 69"/>
                <a:gd name="T46" fmla="*/ 9 w 103"/>
                <a:gd name="T47" fmla="*/ 69 h 69"/>
                <a:gd name="T48" fmla="*/ 0 w 103"/>
                <a:gd name="T49" fmla="*/ 59 h 69"/>
                <a:gd name="T50" fmla="*/ 9 w 103"/>
                <a:gd name="T51" fmla="*/ 39 h 69"/>
                <a:gd name="T52" fmla="*/ 9 w 103"/>
                <a:gd name="T53" fmla="*/ 39 h 6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03"/>
                <a:gd name="T82" fmla="*/ 0 h 69"/>
                <a:gd name="T83" fmla="*/ 103 w 103"/>
                <a:gd name="T84" fmla="*/ 69 h 6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03" h="69">
                  <a:moveTo>
                    <a:pt x="9" y="39"/>
                  </a:moveTo>
                  <a:lnTo>
                    <a:pt x="17" y="39"/>
                  </a:lnTo>
                  <a:lnTo>
                    <a:pt x="17" y="49"/>
                  </a:lnTo>
                  <a:lnTo>
                    <a:pt x="26" y="49"/>
                  </a:lnTo>
                  <a:lnTo>
                    <a:pt x="60" y="30"/>
                  </a:lnTo>
                  <a:lnTo>
                    <a:pt x="60" y="20"/>
                  </a:lnTo>
                  <a:lnTo>
                    <a:pt x="68" y="20"/>
                  </a:lnTo>
                  <a:lnTo>
                    <a:pt x="77" y="20"/>
                  </a:lnTo>
                  <a:lnTo>
                    <a:pt x="77" y="0"/>
                  </a:lnTo>
                  <a:lnTo>
                    <a:pt x="86" y="0"/>
                  </a:lnTo>
                  <a:lnTo>
                    <a:pt x="86" y="10"/>
                  </a:lnTo>
                  <a:lnTo>
                    <a:pt x="94" y="10"/>
                  </a:lnTo>
                  <a:lnTo>
                    <a:pt x="103" y="0"/>
                  </a:lnTo>
                  <a:lnTo>
                    <a:pt x="103" y="10"/>
                  </a:lnTo>
                  <a:lnTo>
                    <a:pt x="86" y="20"/>
                  </a:lnTo>
                  <a:lnTo>
                    <a:pt x="68" y="39"/>
                  </a:lnTo>
                  <a:lnTo>
                    <a:pt x="51" y="49"/>
                  </a:lnTo>
                  <a:lnTo>
                    <a:pt x="43" y="59"/>
                  </a:lnTo>
                  <a:lnTo>
                    <a:pt x="34" y="59"/>
                  </a:lnTo>
                  <a:lnTo>
                    <a:pt x="17" y="69"/>
                  </a:lnTo>
                  <a:lnTo>
                    <a:pt x="9" y="69"/>
                  </a:lnTo>
                  <a:lnTo>
                    <a:pt x="0" y="59"/>
                  </a:lnTo>
                  <a:lnTo>
                    <a:pt x="9" y="3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3" name="Freeform 105"/>
            <p:cNvSpPr>
              <a:spLocks/>
            </p:cNvSpPr>
            <p:nvPr/>
          </p:nvSpPr>
          <p:spPr bwMode="auto">
            <a:xfrm>
              <a:off x="4001" y="2939"/>
              <a:ext cx="86" cy="89"/>
            </a:xfrm>
            <a:custGeom>
              <a:avLst/>
              <a:gdLst>
                <a:gd name="T0" fmla="*/ 34 w 86"/>
                <a:gd name="T1" fmla="*/ 10 h 89"/>
                <a:gd name="T2" fmla="*/ 60 w 86"/>
                <a:gd name="T3" fmla="*/ 0 h 89"/>
                <a:gd name="T4" fmla="*/ 77 w 86"/>
                <a:gd name="T5" fmla="*/ 0 h 89"/>
                <a:gd name="T6" fmla="*/ 86 w 86"/>
                <a:gd name="T7" fmla="*/ 20 h 89"/>
                <a:gd name="T8" fmla="*/ 86 w 86"/>
                <a:gd name="T9" fmla="*/ 40 h 89"/>
                <a:gd name="T10" fmla="*/ 77 w 86"/>
                <a:gd name="T11" fmla="*/ 49 h 89"/>
                <a:gd name="T12" fmla="*/ 60 w 86"/>
                <a:gd name="T13" fmla="*/ 49 h 89"/>
                <a:gd name="T14" fmla="*/ 34 w 86"/>
                <a:gd name="T15" fmla="*/ 59 h 89"/>
                <a:gd name="T16" fmla="*/ 26 w 86"/>
                <a:gd name="T17" fmla="*/ 79 h 89"/>
                <a:gd name="T18" fmla="*/ 17 w 86"/>
                <a:gd name="T19" fmla="*/ 89 h 89"/>
                <a:gd name="T20" fmla="*/ 0 w 86"/>
                <a:gd name="T21" fmla="*/ 89 h 89"/>
                <a:gd name="T22" fmla="*/ 9 w 86"/>
                <a:gd name="T23" fmla="*/ 69 h 89"/>
                <a:gd name="T24" fmla="*/ 0 w 86"/>
                <a:gd name="T25" fmla="*/ 49 h 89"/>
                <a:gd name="T26" fmla="*/ 0 w 86"/>
                <a:gd name="T27" fmla="*/ 10 h 89"/>
                <a:gd name="T28" fmla="*/ 34 w 86"/>
                <a:gd name="T29" fmla="*/ 10 h 8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86"/>
                <a:gd name="T46" fmla="*/ 0 h 89"/>
                <a:gd name="T47" fmla="*/ 86 w 86"/>
                <a:gd name="T48" fmla="*/ 89 h 8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86" h="89">
                  <a:moveTo>
                    <a:pt x="34" y="10"/>
                  </a:moveTo>
                  <a:lnTo>
                    <a:pt x="60" y="0"/>
                  </a:lnTo>
                  <a:lnTo>
                    <a:pt x="77" y="0"/>
                  </a:lnTo>
                  <a:lnTo>
                    <a:pt x="86" y="20"/>
                  </a:lnTo>
                  <a:lnTo>
                    <a:pt x="86" y="40"/>
                  </a:lnTo>
                  <a:lnTo>
                    <a:pt x="77" y="49"/>
                  </a:lnTo>
                  <a:lnTo>
                    <a:pt x="60" y="49"/>
                  </a:lnTo>
                  <a:lnTo>
                    <a:pt x="34" y="59"/>
                  </a:lnTo>
                  <a:lnTo>
                    <a:pt x="26" y="79"/>
                  </a:lnTo>
                  <a:lnTo>
                    <a:pt x="17" y="89"/>
                  </a:lnTo>
                  <a:lnTo>
                    <a:pt x="0" y="89"/>
                  </a:lnTo>
                  <a:lnTo>
                    <a:pt x="9" y="69"/>
                  </a:lnTo>
                  <a:lnTo>
                    <a:pt x="0" y="49"/>
                  </a:lnTo>
                  <a:lnTo>
                    <a:pt x="0" y="10"/>
                  </a:lnTo>
                  <a:lnTo>
                    <a:pt x="34" y="1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4" name="Freeform 106"/>
            <p:cNvSpPr>
              <a:spLocks/>
            </p:cNvSpPr>
            <p:nvPr/>
          </p:nvSpPr>
          <p:spPr bwMode="auto">
            <a:xfrm>
              <a:off x="3993" y="2861"/>
              <a:ext cx="179" cy="98"/>
            </a:xfrm>
            <a:custGeom>
              <a:avLst/>
              <a:gdLst>
                <a:gd name="T0" fmla="*/ 0 w 179"/>
                <a:gd name="T1" fmla="*/ 39 h 98"/>
                <a:gd name="T2" fmla="*/ 94 w 179"/>
                <a:gd name="T3" fmla="*/ 20 h 98"/>
                <a:gd name="T4" fmla="*/ 111 w 179"/>
                <a:gd name="T5" fmla="*/ 0 h 98"/>
                <a:gd name="T6" fmla="*/ 119 w 179"/>
                <a:gd name="T7" fmla="*/ 10 h 98"/>
                <a:gd name="T8" fmla="*/ 119 w 179"/>
                <a:gd name="T9" fmla="*/ 10 h 98"/>
                <a:gd name="T10" fmla="*/ 128 w 179"/>
                <a:gd name="T11" fmla="*/ 20 h 98"/>
                <a:gd name="T12" fmla="*/ 119 w 179"/>
                <a:gd name="T13" fmla="*/ 30 h 98"/>
                <a:gd name="T14" fmla="*/ 119 w 179"/>
                <a:gd name="T15" fmla="*/ 39 h 98"/>
                <a:gd name="T16" fmla="*/ 136 w 179"/>
                <a:gd name="T17" fmla="*/ 49 h 98"/>
                <a:gd name="T18" fmla="*/ 136 w 179"/>
                <a:gd name="T19" fmla="*/ 59 h 98"/>
                <a:gd name="T20" fmla="*/ 145 w 179"/>
                <a:gd name="T21" fmla="*/ 69 h 98"/>
                <a:gd name="T22" fmla="*/ 162 w 179"/>
                <a:gd name="T23" fmla="*/ 69 h 98"/>
                <a:gd name="T24" fmla="*/ 162 w 179"/>
                <a:gd name="T25" fmla="*/ 59 h 98"/>
                <a:gd name="T26" fmla="*/ 162 w 179"/>
                <a:gd name="T27" fmla="*/ 49 h 98"/>
                <a:gd name="T28" fmla="*/ 153 w 179"/>
                <a:gd name="T29" fmla="*/ 49 h 98"/>
                <a:gd name="T30" fmla="*/ 153 w 179"/>
                <a:gd name="T31" fmla="*/ 49 h 98"/>
                <a:gd name="T32" fmla="*/ 162 w 179"/>
                <a:gd name="T33" fmla="*/ 39 h 98"/>
                <a:gd name="T34" fmla="*/ 170 w 179"/>
                <a:gd name="T35" fmla="*/ 49 h 98"/>
                <a:gd name="T36" fmla="*/ 179 w 179"/>
                <a:gd name="T37" fmla="*/ 59 h 98"/>
                <a:gd name="T38" fmla="*/ 179 w 179"/>
                <a:gd name="T39" fmla="*/ 69 h 98"/>
                <a:gd name="T40" fmla="*/ 179 w 179"/>
                <a:gd name="T41" fmla="*/ 78 h 98"/>
                <a:gd name="T42" fmla="*/ 170 w 179"/>
                <a:gd name="T43" fmla="*/ 78 h 98"/>
                <a:gd name="T44" fmla="*/ 170 w 179"/>
                <a:gd name="T45" fmla="*/ 78 h 98"/>
                <a:gd name="T46" fmla="*/ 153 w 179"/>
                <a:gd name="T47" fmla="*/ 78 h 98"/>
                <a:gd name="T48" fmla="*/ 153 w 179"/>
                <a:gd name="T49" fmla="*/ 88 h 98"/>
                <a:gd name="T50" fmla="*/ 145 w 179"/>
                <a:gd name="T51" fmla="*/ 88 h 98"/>
                <a:gd name="T52" fmla="*/ 145 w 179"/>
                <a:gd name="T53" fmla="*/ 88 h 98"/>
                <a:gd name="T54" fmla="*/ 136 w 179"/>
                <a:gd name="T55" fmla="*/ 88 h 98"/>
                <a:gd name="T56" fmla="*/ 136 w 179"/>
                <a:gd name="T57" fmla="*/ 88 h 98"/>
                <a:gd name="T58" fmla="*/ 128 w 179"/>
                <a:gd name="T59" fmla="*/ 98 h 98"/>
                <a:gd name="T60" fmla="*/ 128 w 179"/>
                <a:gd name="T61" fmla="*/ 98 h 98"/>
                <a:gd name="T62" fmla="*/ 119 w 179"/>
                <a:gd name="T63" fmla="*/ 88 h 98"/>
                <a:gd name="T64" fmla="*/ 119 w 179"/>
                <a:gd name="T65" fmla="*/ 78 h 98"/>
                <a:gd name="T66" fmla="*/ 111 w 179"/>
                <a:gd name="T67" fmla="*/ 78 h 98"/>
                <a:gd name="T68" fmla="*/ 102 w 179"/>
                <a:gd name="T69" fmla="*/ 69 h 98"/>
                <a:gd name="T70" fmla="*/ 85 w 179"/>
                <a:gd name="T71" fmla="*/ 78 h 98"/>
                <a:gd name="T72" fmla="*/ 42 w 179"/>
                <a:gd name="T73" fmla="*/ 88 h 98"/>
                <a:gd name="T74" fmla="*/ 8 w 179"/>
                <a:gd name="T75" fmla="*/ 88 h 98"/>
                <a:gd name="T76" fmla="*/ 0 w 179"/>
                <a:gd name="T77" fmla="*/ 39 h 9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179"/>
                <a:gd name="T118" fmla="*/ 0 h 98"/>
                <a:gd name="T119" fmla="*/ 179 w 179"/>
                <a:gd name="T120" fmla="*/ 98 h 98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179" h="98">
                  <a:moveTo>
                    <a:pt x="0" y="39"/>
                  </a:moveTo>
                  <a:lnTo>
                    <a:pt x="94" y="20"/>
                  </a:lnTo>
                  <a:lnTo>
                    <a:pt x="111" y="0"/>
                  </a:lnTo>
                  <a:lnTo>
                    <a:pt x="119" y="10"/>
                  </a:lnTo>
                  <a:lnTo>
                    <a:pt x="128" y="20"/>
                  </a:lnTo>
                  <a:lnTo>
                    <a:pt x="119" y="30"/>
                  </a:lnTo>
                  <a:lnTo>
                    <a:pt x="119" y="39"/>
                  </a:lnTo>
                  <a:lnTo>
                    <a:pt x="136" y="49"/>
                  </a:lnTo>
                  <a:lnTo>
                    <a:pt x="136" y="59"/>
                  </a:lnTo>
                  <a:lnTo>
                    <a:pt x="145" y="69"/>
                  </a:lnTo>
                  <a:lnTo>
                    <a:pt x="162" y="69"/>
                  </a:lnTo>
                  <a:lnTo>
                    <a:pt x="162" y="59"/>
                  </a:lnTo>
                  <a:lnTo>
                    <a:pt x="162" y="49"/>
                  </a:lnTo>
                  <a:lnTo>
                    <a:pt x="153" y="49"/>
                  </a:lnTo>
                  <a:lnTo>
                    <a:pt x="162" y="39"/>
                  </a:lnTo>
                  <a:lnTo>
                    <a:pt x="170" y="49"/>
                  </a:lnTo>
                  <a:lnTo>
                    <a:pt x="179" y="59"/>
                  </a:lnTo>
                  <a:lnTo>
                    <a:pt x="179" y="69"/>
                  </a:lnTo>
                  <a:lnTo>
                    <a:pt x="179" y="78"/>
                  </a:lnTo>
                  <a:lnTo>
                    <a:pt x="170" y="78"/>
                  </a:lnTo>
                  <a:lnTo>
                    <a:pt x="153" y="78"/>
                  </a:lnTo>
                  <a:lnTo>
                    <a:pt x="153" y="88"/>
                  </a:lnTo>
                  <a:lnTo>
                    <a:pt x="145" y="88"/>
                  </a:lnTo>
                  <a:lnTo>
                    <a:pt x="136" y="88"/>
                  </a:lnTo>
                  <a:lnTo>
                    <a:pt x="128" y="98"/>
                  </a:lnTo>
                  <a:lnTo>
                    <a:pt x="119" y="88"/>
                  </a:lnTo>
                  <a:lnTo>
                    <a:pt x="119" y="78"/>
                  </a:lnTo>
                  <a:lnTo>
                    <a:pt x="111" y="78"/>
                  </a:lnTo>
                  <a:lnTo>
                    <a:pt x="102" y="69"/>
                  </a:lnTo>
                  <a:lnTo>
                    <a:pt x="85" y="78"/>
                  </a:lnTo>
                  <a:lnTo>
                    <a:pt x="42" y="88"/>
                  </a:lnTo>
                  <a:lnTo>
                    <a:pt x="8" y="88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5" name="Freeform 107"/>
            <p:cNvSpPr>
              <a:spLocks/>
            </p:cNvSpPr>
            <p:nvPr/>
          </p:nvSpPr>
          <p:spPr bwMode="auto">
            <a:xfrm>
              <a:off x="4078" y="2930"/>
              <a:ext cx="43" cy="58"/>
            </a:xfrm>
            <a:custGeom>
              <a:avLst/>
              <a:gdLst>
                <a:gd name="T0" fmla="*/ 0 w 43"/>
                <a:gd name="T1" fmla="*/ 58 h 58"/>
                <a:gd name="T2" fmla="*/ 17 w 43"/>
                <a:gd name="T3" fmla="*/ 49 h 58"/>
                <a:gd name="T4" fmla="*/ 26 w 43"/>
                <a:gd name="T5" fmla="*/ 39 h 58"/>
                <a:gd name="T6" fmla="*/ 26 w 43"/>
                <a:gd name="T7" fmla="*/ 29 h 58"/>
                <a:gd name="T8" fmla="*/ 26 w 43"/>
                <a:gd name="T9" fmla="*/ 29 h 58"/>
                <a:gd name="T10" fmla="*/ 26 w 43"/>
                <a:gd name="T11" fmla="*/ 19 h 58"/>
                <a:gd name="T12" fmla="*/ 34 w 43"/>
                <a:gd name="T13" fmla="*/ 29 h 58"/>
                <a:gd name="T14" fmla="*/ 34 w 43"/>
                <a:gd name="T15" fmla="*/ 29 h 58"/>
                <a:gd name="T16" fmla="*/ 34 w 43"/>
                <a:gd name="T17" fmla="*/ 39 h 58"/>
                <a:gd name="T18" fmla="*/ 43 w 43"/>
                <a:gd name="T19" fmla="*/ 29 h 58"/>
                <a:gd name="T20" fmla="*/ 43 w 43"/>
                <a:gd name="T21" fmla="*/ 29 h 58"/>
                <a:gd name="T22" fmla="*/ 43 w 43"/>
                <a:gd name="T23" fmla="*/ 29 h 58"/>
                <a:gd name="T24" fmla="*/ 34 w 43"/>
                <a:gd name="T25" fmla="*/ 19 h 58"/>
                <a:gd name="T26" fmla="*/ 34 w 43"/>
                <a:gd name="T27" fmla="*/ 9 h 58"/>
                <a:gd name="T28" fmla="*/ 26 w 43"/>
                <a:gd name="T29" fmla="*/ 9 h 58"/>
                <a:gd name="T30" fmla="*/ 17 w 43"/>
                <a:gd name="T31" fmla="*/ 0 h 58"/>
                <a:gd name="T32" fmla="*/ 0 w 43"/>
                <a:gd name="T33" fmla="*/ 9 h 58"/>
                <a:gd name="T34" fmla="*/ 9 w 43"/>
                <a:gd name="T35" fmla="*/ 29 h 58"/>
                <a:gd name="T36" fmla="*/ 9 w 43"/>
                <a:gd name="T37" fmla="*/ 49 h 58"/>
                <a:gd name="T38" fmla="*/ 0 w 43"/>
                <a:gd name="T39" fmla="*/ 58 h 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43"/>
                <a:gd name="T61" fmla="*/ 0 h 58"/>
                <a:gd name="T62" fmla="*/ 43 w 43"/>
                <a:gd name="T63" fmla="*/ 58 h 5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43" h="58">
                  <a:moveTo>
                    <a:pt x="0" y="58"/>
                  </a:moveTo>
                  <a:lnTo>
                    <a:pt x="17" y="49"/>
                  </a:lnTo>
                  <a:lnTo>
                    <a:pt x="26" y="39"/>
                  </a:lnTo>
                  <a:lnTo>
                    <a:pt x="26" y="29"/>
                  </a:lnTo>
                  <a:lnTo>
                    <a:pt x="26" y="19"/>
                  </a:lnTo>
                  <a:lnTo>
                    <a:pt x="34" y="29"/>
                  </a:lnTo>
                  <a:lnTo>
                    <a:pt x="34" y="39"/>
                  </a:lnTo>
                  <a:lnTo>
                    <a:pt x="43" y="29"/>
                  </a:lnTo>
                  <a:lnTo>
                    <a:pt x="34" y="19"/>
                  </a:lnTo>
                  <a:lnTo>
                    <a:pt x="34" y="9"/>
                  </a:lnTo>
                  <a:lnTo>
                    <a:pt x="26" y="9"/>
                  </a:lnTo>
                  <a:lnTo>
                    <a:pt x="17" y="0"/>
                  </a:lnTo>
                  <a:lnTo>
                    <a:pt x="0" y="9"/>
                  </a:lnTo>
                  <a:lnTo>
                    <a:pt x="9" y="29"/>
                  </a:lnTo>
                  <a:lnTo>
                    <a:pt x="9" y="49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6" name="Freeform 108"/>
            <p:cNvSpPr>
              <a:spLocks/>
            </p:cNvSpPr>
            <p:nvPr/>
          </p:nvSpPr>
          <p:spPr bwMode="auto">
            <a:xfrm>
              <a:off x="3959" y="2724"/>
              <a:ext cx="85" cy="176"/>
            </a:xfrm>
            <a:custGeom>
              <a:avLst/>
              <a:gdLst>
                <a:gd name="T0" fmla="*/ 0 w 85"/>
                <a:gd name="T1" fmla="*/ 20 h 176"/>
                <a:gd name="T2" fmla="*/ 85 w 85"/>
                <a:gd name="T3" fmla="*/ 0 h 176"/>
                <a:gd name="T4" fmla="*/ 85 w 85"/>
                <a:gd name="T5" fmla="*/ 20 h 176"/>
                <a:gd name="T6" fmla="*/ 85 w 85"/>
                <a:gd name="T7" fmla="*/ 20 h 176"/>
                <a:gd name="T8" fmla="*/ 85 w 85"/>
                <a:gd name="T9" fmla="*/ 39 h 176"/>
                <a:gd name="T10" fmla="*/ 76 w 85"/>
                <a:gd name="T11" fmla="*/ 49 h 176"/>
                <a:gd name="T12" fmla="*/ 76 w 85"/>
                <a:gd name="T13" fmla="*/ 59 h 176"/>
                <a:gd name="T14" fmla="*/ 68 w 85"/>
                <a:gd name="T15" fmla="*/ 59 h 176"/>
                <a:gd name="T16" fmla="*/ 76 w 85"/>
                <a:gd name="T17" fmla="*/ 69 h 176"/>
                <a:gd name="T18" fmla="*/ 68 w 85"/>
                <a:gd name="T19" fmla="*/ 88 h 176"/>
                <a:gd name="T20" fmla="*/ 68 w 85"/>
                <a:gd name="T21" fmla="*/ 108 h 176"/>
                <a:gd name="T22" fmla="*/ 68 w 85"/>
                <a:gd name="T23" fmla="*/ 127 h 176"/>
                <a:gd name="T24" fmla="*/ 68 w 85"/>
                <a:gd name="T25" fmla="*/ 147 h 176"/>
                <a:gd name="T26" fmla="*/ 76 w 85"/>
                <a:gd name="T27" fmla="*/ 167 h 176"/>
                <a:gd name="T28" fmla="*/ 34 w 85"/>
                <a:gd name="T29" fmla="*/ 176 h 176"/>
                <a:gd name="T30" fmla="*/ 34 w 85"/>
                <a:gd name="T31" fmla="*/ 147 h 176"/>
                <a:gd name="T32" fmla="*/ 34 w 85"/>
                <a:gd name="T33" fmla="*/ 127 h 176"/>
                <a:gd name="T34" fmla="*/ 17 w 85"/>
                <a:gd name="T35" fmla="*/ 118 h 176"/>
                <a:gd name="T36" fmla="*/ 17 w 85"/>
                <a:gd name="T37" fmla="*/ 98 h 176"/>
                <a:gd name="T38" fmla="*/ 17 w 85"/>
                <a:gd name="T39" fmla="*/ 88 h 176"/>
                <a:gd name="T40" fmla="*/ 17 w 85"/>
                <a:gd name="T41" fmla="*/ 78 h 176"/>
                <a:gd name="T42" fmla="*/ 17 w 85"/>
                <a:gd name="T43" fmla="*/ 69 h 176"/>
                <a:gd name="T44" fmla="*/ 17 w 85"/>
                <a:gd name="T45" fmla="*/ 49 h 176"/>
                <a:gd name="T46" fmla="*/ 8 w 85"/>
                <a:gd name="T47" fmla="*/ 39 h 176"/>
                <a:gd name="T48" fmla="*/ 0 w 85"/>
                <a:gd name="T49" fmla="*/ 20 h 1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5"/>
                <a:gd name="T76" fmla="*/ 0 h 176"/>
                <a:gd name="T77" fmla="*/ 85 w 85"/>
                <a:gd name="T78" fmla="*/ 176 h 17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5" h="176">
                  <a:moveTo>
                    <a:pt x="0" y="20"/>
                  </a:moveTo>
                  <a:lnTo>
                    <a:pt x="85" y="0"/>
                  </a:lnTo>
                  <a:lnTo>
                    <a:pt x="85" y="20"/>
                  </a:lnTo>
                  <a:lnTo>
                    <a:pt x="85" y="39"/>
                  </a:lnTo>
                  <a:lnTo>
                    <a:pt x="76" y="49"/>
                  </a:lnTo>
                  <a:lnTo>
                    <a:pt x="76" y="59"/>
                  </a:lnTo>
                  <a:lnTo>
                    <a:pt x="68" y="59"/>
                  </a:lnTo>
                  <a:lnTo>
                    <a:pt x="76" y="69"/>
                  </a:lnTo>
                  <a:lnTo>
                    <a:pt x="68" y="88"/>
                  </a:lnTo>
                  <a:lnTo>
                    <a:pt x="68" y="108"/>
                  </a:lnTo>
                  <a:lnTo>
                    <a:pt x="68" y="127"/>
                  </a:lnTo>
                  <a:lnTo>
                    <a:pt x="68" y="147"/>
                  </a:lnTo>
                  <a:lnTo>
                    <a:pt x="76" y="167"/>
                  </a:lnTo>
                  <a:lnTo>
                    <a:pt x="34" y="176"/>
                  </a:lnTo>
                  <a:lnTo>
                    <a:pt x="34" y="147"/>
                  </a:lnTo>
                  <a:lnTo>
                    <a:pt x="34" y="127"/>
                  </a:lnTo>
                  <a:lnTo>
                    <a:pt x="17" y="118"/>
                  </a:lnTo>
                  <a:lnTo>
                    <a:pt x="17" y="98"/>
                  </a:lnTo>
                  <a:lnTo>
                    <a:pt x="17" y="88"/>
                  </a:lnTo>
                  <a:lnTo>
                    <a:pt x="17" y="78"/>
                  </a:lnTo>
                  <a:lnTo>
                    <a:pt x="17" y="69"/>
                  </a:lnTo>
                  <a:lnTo>
                    <a:pt x="17" y="49"/>
                  </a:lnTo>
                  <a:lnTo>
                    <a:pt x="8" y="39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7" name="Freeform 109"/>
            <p:cNvSpPr>
              <a:spLocks/>
            </p:cNvSpPr>
            <p:nvPr/>
          </p:nvSpPr>
          <p:spPr bwMode="auto">
            <a:xfrm>
              <a:off x="4027" y="2695"/>
              <a:ext cx="85" cy="196"/>
            </a:xfrm>
            <a:custGeom>
              <a:avLst/>
              <a:gdLst>
                <a:gd name="T0" fmla="*/ 17 w 85"/>
                <a:gd name="T1" fmla="*/ 29 h 196"/>
                <a:gd name="T2" fmla="*/ 17 w 85"/>
                <a:gd name="T3" fmla="*/ 9 h 196"/>
                <a:gd name="T4" fmla="*/ 25 w 85"/>
                <a:gd name="T5" fmla="*/ 0 h 196"/>
                <a:gd name="T6" fmla="*/ 34 w 85"/>
                <a:gd name="T7" fmla="*/ 9 h 196"/>
                <a:gd name="T8" fmla="*/ 68 w 85"/>
                <a:gd name="T9" fmla="*/ 117 h 196"/>
                <a:gd name="T10" fmla="*/ 68 w 85"/>
                <a:gd name="T11" fmla="*/ 137 h 196"/>
                <a:gd name="T12" fmla="*/ 77 w 85"/>
                <a:gd name="T13" fmla="*/ 147 h 196"/>
                <a:gd name="T14" fmla="*/ 85 w 85"/>
                <a:gd name="T15" fmla="*/ 176 h 196"/>
                <a:gd name="T16" fmla="*/ 77 w 85"/>
                <a:gd name="T17" fmla="*/ 166 h 196"/>
                <a:gd name="T18" fmla="*/ 60 w 85"/>
                <a:gd name="T19" fmla="*/ 186 h 196"/>
                <a:gd name="T20" fmla="*/ 8 w 85"/>
                <a:gd name="T21" fmla="*/ 196 h 196"/>
                <a:gd name="T22" fmla="*/ 0 w 85"/>
                <a:gd name="T23" fmla="*/ 176 h 196"/>
                <a:gd name="T24" fmla="*/ 0 w 85"/>
                <a:gd name="T25" fmla="*/ 156 h 196"/>
                <a:gd name="T26" fmla="*/ 0 w 85"/>
                <a:gd name="T27" fmla="*/ 137 h 196"/>
                <a:gd name="T28" fmla="*/ 0 w 85"/>
                <a:gd name="T29" fmla="*/ 117 h 196"/>
                <a:gd name="T30" fmla="*/ 8 w 85"/>
                <a:gd name="T31" fmla="*/ 107 h 196"/>
                <a:gd name="T32" fmla="*/ 8 w 85"/>
                <a:gd name="T33" fmla="*/ 98 h 196"/>
                <a:gd name="T34" fmla="*/ 0 w 85"/>
                <a:gd name="T35" fmla="*/ 88 h 196"/>
                <a:gd name="T36" fmla="*/ 8 w 85"/>
                <a:gd name="T37" fmla="*/ 88 h 196"/>
                <a:gd name="T38" fmla="*/ 8 w 85"/>
                <a:gd name="T39" fmla="*/ 88 h 196"/>
                <a:gd name="T40" fmla="*/ 8 w 85"/>
                <a:gd name="T41" fmla="*/ 88 h 196"/>
                <a:gd name="T42" fmla="*/ 8 w 85"/>
                <a:gd name="T43" fmla="*/ 88 h 196"/>
                <a:gd name="T44" fmla="*/ 8 w 85"/>
                <a:gd name="T45" fmla="*/ 78 h 196"/>
                <a:gd name="T46" fmla="*/ 17 w 85"/>
                <a:gd name="T47" fmla="*/ 68 h 196"/>
                <a:gd name="T48" fmla="*/ 17 w 85"/>
                <a:gd name="T49" fmla="*/ 49 h 196"/>
                <a:gd name="T50" fmla="*/ 17 w 85"/>
                <a:gd name="T51" fmla="*/ 49 h 196"/>
                <a:gd name="T52" fmla="*/ 17 w 85"/>
                <a:gd name="T53" fmla="*/ 29 h 19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85"/>
                <a:gd name="T82" fmla="*/ 0 h 196"/>
                <a:gd name="T83" fmla="*/ 85 w 85"/>
                <a:gd name="T84" fmla="*/ 196 h 19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85" h="196">
                  <a:moveTo>
                    <a:pt x="17" y="29"/>
                  </a:moveTo>
                  <a:lnTo>
                    <a:pt x="17" y="9"/>
                  </a:lnTo>
                  <a:lnTo>
                    <a:pt x="25" y="0"/>
                  </a:lnTo>
                  <a:lnTo>
                    <a:pt x="34" y="9"/>
                  </a:lnTo>
                  <a:lnTo>
                    <a:pt x="68" y="117"/>
                  </a:lnTo>
                  <a:lnTo>
                    <a:pt x="68" y="137"/>
                  </a:lnTo>
                  <a:lnTo>
                    <a:pt x="77" y="147"/>
                  </a:lnTo>
                  <a:lnTo>
                    <a:pt x="85" y="176"/>
                  </a:lnTo>
                  <a:lnTo>
                    <a:pt x="77" y="166"/>
                  </a:lnTo>
                  <a:lnTo>
                    <a:pt x="60" y="186"/>
                  </a:lnTo>
                  <a:lnTo>
                    <a:pt x="8" y="196"/>
                  </a:lnTo>
                  <a:lnTo>
                    <a:pt x="0" y="176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8" y="107"/>
                  </a:lnTo>
                  <a:lnTo>
                    <a:pt x="8" y="98"/>
                  </a:lnTo>
                  <a:lnTo>
                    <a:pt x="0" y="88"/>
                  </a:lnTo>
                  <a:lnTo>
                    <a:pt x="8" y="88"/>
                  </a:lnTo>
                  <a:lnTo>
                    <a:pt x="8" y="78"/>
                  </a:lnTo>
                  <a:lnTo>
                    <a:pt x="17" y="68"/>
                  </a:lnTo>
                  <a:lnTo>
                    <a:pt x="17" y="49"/>
                  </a:lnTo>
                  <a:lnTo>
                    <a:pt x="17" y="2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8" name="Freeform 110"/>
            <p:cNvSpPr>
              <a:spLocks/>
            </p:cNvSpPr>
            <p:nvPr/>
          </p:nvSpPr>
          <p:spPr bwMode="auto">
            <a:xfrm>
              <a:off x="4052" y="2518"/>
              <a:ext cx="197" cy="353"/>
            </a:xfrm>
            <a:custGeom>
              <a:avLst/>
              <a:gdLst>
                <a:gd name="T0" fmla="*/ 9 w 197"/>
                <a:gd name="T1" fmla="*/ 177 h 353"/>
                <a:gd name="T2" fmla="*/ 18 w 197"/>
                <a:gd name="T3" fmla="*/ 167 h 353"/>
                <a:gd name="T4" fmla="*/ 18 w 197"/>
                <a:gd name="T5" fmla="*/ 167 h 353"/>
                <a:gd name="T6" fmla="*/ 18 w 197"/>
                <a:gd name="T7" fmla="*/ 147 h 353"/>
                <a:gd name="T8" fmla="*/ 26 w 197"/>
                <a:gd name="T9" fmla="*/ 147 h 353"/>
                <a:gd name="T10" fmla="*/ 35 w 197"/>
                <a:gd name="T11" fmla="*/ 128 h 353"/>
                <a:gd name="T12" fmla="*/ 26 w 197"/>
                <a:gd name="T13" fmla="*/ 118 h 353"/>
                <a:gd name="T14" fmla="*/ 26 w 197"/>
                <a:gd name="T15" fmla="*/ 98 h 353"/>
                <a:gd name="T16" fmla="*/ 35 w 197"/>
                <a:gd name="T17" fmla="*/ 89 h 353"/>
                <a:gd name="T18" fmla="*/ 35 w 197"/>
                <a:gd name="T19" fmla="*/ 79 h 353"/>
                <a:gd name="T20" fmla="*/ 26 w 197"/>
                <a:gd name="T21" fmla="*/ 69 h 353"/>
                <a:gd name="T22" fmla="*/ 52 w 197"/>
                <a:gd name="T23" fmla="*/ 0 h 353"/>
                <a:gd name="T24" fmla="*/ 60 w 197"/>
                <a:gd name="T25" fmla="*/ 0 h 353"/>
                <a:gd name="T26" fmla="*/ 60 w 197"/>
                <a:gd name="T27" fmla="*/ 10 h 353"/>
                <a:gd name="T28" fmla="*/ 69 w 197"/>
                <a:gd name="T29" fmla="*/ 20 h 353"/>
                <a:gd name="T30" fmla="*/ 77 w 197"/>
                <a:gd name="T31" fmla="*/ 0 h 353"/>
                <a:gd name="T32" fmla="*/ 94 w 197"/>
                <a:gd name="T33" fmla="*/ 0 h 353"/>
                <a:gd name="T34" fmla="*/ 120 w 197"/>
                <a:gd name="T35" fmla="*/ 10 h 353"/>
                <a:gd name="T36" fmla="*/ 128 w 197"/>
                <a:gd name="T37" fmla="*/ 49 h 353"/>
                <a:gd name="T38" fmla="*/ 145 w 197"/>
                <a:gd name="T39" fmla="*/ 98 h 353"/>
                <a:gd name="T40" fmla="*/ 154 w 197"/>
                <a:gd name="T41" fmla="*/ 108 h 353"/>
                <a:gd name="T42" fmla="*/ 163 w 197"/>
                <a:gd name="T43" fmla="*/ 108 h 353"/>
                <a:gd name="T44" fmla="*/ 163 w 197"/>
                <a:gd name="T45" fmla="*/ 128 h 353"/>
                <a:gd name="T46" fmla="*/ 171 w 197"/>
                <a:gd name="T47" fmla="*/ 138 h 353"/>
                <a:gd name="T48" fmla="*/ 188 w 197"/>
                <a:gd name="T49" fmla="*/ 138 h 353"/>
                <a:gd name="T50" fmla="*/ 197 w 197"/>
                <a:gd name="T51" fmla="*/ 147 h 353"/>
                <a:gd name="T52" fmla="*/ 188 w 197"/>
                <a:gd name="T53" fmla="*/ 167 h 353"/>
                <a:gd name="T54" fmla="*/ 171 w 197"/>
                <a:gd name="T55" fmla="*/ 186 h 353"/>
                <a:gd name="T56" fmla="*/ 163 w 197"/>
                <a:gd name="T57" fmla="*/ 196 h 353"/>
                <a:gd name="T58" fmla="*/ 145 w 197"/>
                <a:gd name="T59" fmla="*/ 196 h 353"/>
                <a:gd name="T60" fmla="*/ 137 w 197"/>
                <a:gd name="T61" fmla="*/ 206 h 353"/>
                <a:gd name="T62" fmla="*/ 137 w 197"/>
                <a:gd name="T63" fmla="*/ 216 h 353"/>
                <a:gd name="T64" fmla="*/ 120 w 197"/>
                <a:gd name="T65" fmla="*/ 216 h 353"/>
                <a:gd name="T66" fmla="*/ 120 w 197"/>
                <a:gd name="T67" fmla="*/ 235 h 353"/>
                <a:gd name="T68" fmla="*/ 111 w 197"/>
                <a:gd name="T69" fmla="*/ 245 h 353"/>
                <a:gd name="T70" fmla="*/ 103 w 197"/>
                <a:gd name="T71" fmla="*/ 255 h 353"/>
                <a:gd name="T72" fmla="*/ 86 w 197"/>
                <a:gd name="T73" fmla="*/ 265 h 353"/>
                <a:gd name="T74" fmla="*/ 86 w 197"/>
                <a:gd name="T75" fmla="*/ 265 h 353"/>
                <a:gd name="T76" fmla="*/ 77 w 197"/>
                <a:gd name="T77" fmla="*/ 275 h 353"/>
                <a:gd name="T78" fmla="*/ 69 w 197"/>
                <a:gd name="T79" fmla="*/ 284 h 353"/>
                <a:gd name="T80" fmla="*/ 69 w 197"/>
                <a:gd name="T81" fmla="*/ 294 h 353"/>
                <a:gd name="T82" fmla="*/ 60 w 197"/>
                <a:gd name="T83" fmla="*/ 314 h 353"/>
                <a:gd name="T84" fmla="*/ 60 w 197"/>
                <a:gd name="T85" fmla="*/ 324 h 353"/>
                <a:gd name="T86" fmla="*/ 60 w 197"/>
                <a:gd name="T87" fmla="*/ 333 h 353"/>
                <a:gd name="T88" fmla="*/ 60 w 197"/>
                <a:gd name="T89" fmla="*/ 353 h 353"/>
                <a:gd name="T90" fmla="*/ 52 w 197"/>
                <a:gd name="T91" fmla="*/ 324 h 353"/>
                <a:gd name="T92" fmla="*/ 43 w 197"/>
                <a:gd name="T93" fmla="*/ 314 h 353"/>
                <a:gd name="T94" fmla="*/ 43 w 197"/>
                <a:gd name="T95" fmla="*/ 294 h 353"/>
                <a:gd name="T96" fmla="*/ 9 w 197"/>
                <a:gd name="T97" fmla="*/ 186 h 353"/>
                <a:gd name="T98" fmla="*/ 0 w 197"/>
                <a:gd name="T99" fmla="*/ 177 h 353"/>
                <a:gd name="T100" fmla="*/ 9 w 197"/>
                <a:gd name="T101" fmla="*/ 177 h 353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97"/>
                <a:gd name="T154" fmla="*/ 0 h 353"/>
                <a:gd name="T155" fmla="*/ 197 w 197"/>
                <a:gd name="T156" fmla="*/ 353 h 353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97" h="353">
                  <a:moveTo>
                    <a:pt x="9" y="177"/>
                  </a:moveTo>
                  <a:lnTo>
                    <a:pt x="18" y="167"/>
                  </a:lnTo>
                  <a:lnTo>
                    <a:pt x="18" y="147"/>
                  </a:lnTo>
                  <a:lnTo>
                    <a:pt x="26" y="147"/>
                  </a:lnTo>
                  <a:lnTo>
                    <a:pt x="35" y="128"/>
                  </a:lnTo>
                  <a:lnTo>
                    <a:pt x="26" y="118"/>
                  </a:lnTo>
                  <a:lnTo>
                    <a:pt x="26" y="98"/>
                  </a:lnTo>
                  <a:lnTo>
                    <a:pt x="35" y="89"/>
                  </a:lnTo>
                  <a:lnTo>
                    <a:pt x="35" y="79"/>
                  </a:lnTo>
                  <a:lnTo>
                    <a:pt x="26" y="69"/>
                  </a:lnTo>
                  <a:lnTo>
                    <a:pt x="52" y="0"/>
                  </a:lnTo>
                  <a:lnTo>
                    <a:pt x="60" y="0"/>
                  </a:lnTo>
                  <a:lnTo>
                    <a:pt x="60" y="10"/>
                  </a:lnTo>
                  <a:lnTo>
                    <a:pt x="69" y="20"/>
                  </a:lnTo>
                  <a:lnTo>
                    <a:pt x="77" y="0"/>
                  </a:lnTo>
                  <a:lnTo>
                    <a:pt x="94" y="0"/>
                  </a:lnTo>
                  <a:lnTo>
                    <a:pt x="120" y="10"/>
                  </a:lnTo>
                  <a:lnTo>
                    <a:pt x="128" y="49"/>
                  </a:lnTo>
                  <a:lnTo>
                    <a:pt x="145" y="98"/>
                  </a:lnTo>
                  <a:lnTo>
                    <a:pt x="154" y="108"/>
                  </a:lnTo>
                  <a:lnTo>
                    <a:pt x="163" y="108"/>
                  </a:lnTo>
                  <a:lnTo>
                    <a:pt x="163" y="128"/>
                  </a:lnTo>
                  <a:lnTo>
                    <a:pt x="171" y="138"/>
                  </a:lnTo>
                  <a:lnTo>
                    <a:pt x="188" y="138"/>
                  </a:lnTo>
                  <a:lnTo>
                    <a:pt x="197" y="147"/>
                  </a:lnTo>
                  <a:lnTo>
                    <a:pt x="188" y="167"/>
                  </a:lnTo>
                  <a:lnTo>
                    <a:pt x="171" y="186"/>
                  </a:lnTo>
                  <a:lnTo>
                    <a:pt x="163" y="196"/>
                  </a:lnTo>
                  <a:lnTo>
                    <a:pt x="145" y="196"/>
                  </a:lnTo>
                  <a:lnTo>
                    <a:pt x="137" y="206"/>
                  </a:lnTo>
                  <a:lnTo>
                    <a:pt x="137" y="216"/>
                  </a:lnTo>
                  <a:lnTo>
                    <a:pt x="120" y="216"/>
                  </a:lnTo>
                  <a:lnTo>
                    <a:pt x="120" y="235"/>
                  </a:lnTo>
                  <a:lnTo>
                    <a:pt x="111" y="245"/>
                  </a:lnTo>
                  <a:lnTo>
                    <a:pt x="103" y="255"/>
                  </a:lnTo>
                  <a:lnTo>
                    <a:pt x="86" y="265"/>
                  </a:lnTo>
                  <a:lnTo>
                    <a:pt x="77" y="275"/>
                  </a:lnTo>
                  <a:lnTo>
                    <a:pt x="69" y="284"/>
                  </a:lnTo>
                  <a:lnTo>
                    <a:pt x="69" y="294"/>
                  </a:lnTo>
                  <a:lnTo>
                    <a:pt x="60" y="314"/>
                  </a:lnTo>
                  <a:lnTo>
                    <a:pt x="60" y="324"/>
                  </a:lnTo>
                  <a:lnTo>
                    <a:pt x="60" y="333"/>
                  </a:lnTo>
                  <a:lnTo>
                    <a:pt x="60" y="353"/>
                  </a:lnTo>
                  <a:lnTo>
                    <a:pt x="52" y="324"/>
                  </a:lnTo>
                  <a:lnTo>
                    <a:pt x="43" y="314"/>
                  </a:lnTo>
                  <a:lnTo>
                    <a:pt x="43" y="294"/>
                  </a:lnTo>
                  <a:lnTo>
                    <a:pt x="9" y="186"/>
                  </a:lnTo>
                  <a:lnTo>
                    <a:pt x="0" y="177"/>
                  </a:lnTo>
                  <a:lnTo>
                    <a:pt x="9" y="177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9" name="Freeform 111"/>
            <p:cNvSpPr>
              <a:spLocks/>
            </p:cNvSpPr>
            <p:nvPr/>
          </p:nvSpPr>
          <p:spPr bwMode="auto">
            <a:xfrm>
              <a:off x="1032" y="3586"/>
              <a:ext cx="69" cy="78"/>
            </a:xfrm>
            <a:custGeom>
              <a:avLst/>
              <a:gdLst>
                <a:gd name="T0" fmla="*/ 18 w 69"/>
                <a:gd name="T1" fmla="*/ 9 h 78"/>
                <a:gd name="T2" fmla="*/ 18 w 69"/>
                <a:gd name="T3" fmla="*/ 19 h 78"/>
                <a:gd name="T4" fmla="*/ 9 w 69"/>
                <a:gd name="T5" fmla="*/ 19 h 78"/>
                <a:gd name="T6" fmla="*/ 0 w 69"/>
                <a:gd name="T7" fmla="*/ 29 h 78"/>
                <a:gd name="T8" fmla="*/ 9 w 69"/>
                <a:gd name="T9" fmla="*/ 29 h 78"/>
                <a:gd name="T10" fmla="*/ 9 w 69"/>
                <a:gd name="T11" fmla="*/ 49 h 78"/>
                <a:gd name="T12" fmla="*/ 9 w 69"/>
                <a:gd name="T13" fmla="*/ 58 h 78"/>
                <a:gd name="T14" fmla="*/ 9 w 69"/>
                <a:gd name="T15" fmla="*/ 68 h 78"/>
                <a:gd name="T16" fmla="*/ 18 w 69"/>
                <a:gd name="T17" fmla="*/ 78 h 78"/>
                <a:gd name="T18" fmla="*/ 35 w 69"/>
                <a:gd name="T19" fmla="*/ 78 h 78"/>
                <a:gd name="T20" fmla="*/ 35 w 69"/>
                <a:gd name="T21" fmla="*/ 68 h 78"/>
                <a:gd name="T22" fmla="*/ 43 w 69"/>
                <a:gd name="T23" fmla="*/ 58 h 78"/>
                <a:gd name="T24" fmla="*/ 52 w 69"/>
                <a:gd name="T25" fmla="*/ 58 h 78"/>
                <a:gd name="T26" fmla="*/ 69 w 69"/>
                <a:gd name="T27" fmla="*/ 49 h 78"/>
                <a:gd name="T28" fmla="*/ 60 w 69"/>
                <a:gd name="T29" fmla="*/ 39 h 78"/>
                <a:gd name="T30" fmla="*/ 52 w 69"/>
                <a:gd name="T31" fmla="*/ 19 h 78"/>
                <a:gd name="T32" fmla="*/ 35 w 69"/>
                <a:gd name="T33" fmla="*/ 9 h 78"/>
                <a:gd name="T34" fmla="*/ 35 w 69"/>
                <a:gd name="T35" fmla="*/ 0 h 78"/>
                <a:gd name="T36" fmla="*/ 18 w 69"/>
                <a:gd name="T37" fmla="*/ 0 h 78"/>
                <a:gd name="T38" fmla="*/ 18 w 69"/>
                <a:gd name="T39" fmla="*/ 9 h 7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69"/>
                <a:gd name="T61" fmla="*/ 0 h 78"/>
                <a:gd name="T62" fmla="*/ 69 w 69"/>
                <a:gd name="T63" fmla="*/ 78 h 78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69" h="78">
                  <a:moveTo>
                    <a:pt x="18" y="9"/>
                  </a:moveTo>
                  <a:lnTo>
                    <a:pt x="18" y="19"/>
                  </a:lnTo>
                  <a:lnTo>
                    <a:pt x="9" y="19"/>
                  </a:lnTo>
                  <a:lnTo>
                    <a:pt x="0" y="29"/>
                  </a:lnTo>
                  <a:lnTo>
                    <a:pt x="9" y="29"/>
                  </a:lnTo>
                  <a:lnTo>
                    <a:pt x="9" y="49"/>
                  </a:lnTo>
                  <a:lnTo>
                    <a:pt x="9" y="58"/>
                  </a:lnTo>
                  <a:lnTo>
                    <a:pt x="9" y="68"/>
                  </a:lnTo>
                  <a:lnTo>
                    <a:pt x="18" y="78"/>
                  </a:lnTo>
                  <a:lnTo>
                    <a:pt x="35" y="78"/>
                  </a:lnTo>
                  <a:lnTo>
                    <a:pt x="35" y="68"/>
                  </a:lnTo>
                  <a:lnTo>
                    <a:pt x="43" y="58"/>
                  </a:lnTo>
                  <a:lnTo>
                    <a:pt x="52" y="58"/>
                  </a:lnTo>
                  <a:lnTo>
                    <a:pt x="69" y="49"/>
                  </a:lnTo>
                  <a:lnTo>
                    <a:pt x="60" y="39"/>
                  </a:lnTo>
                  <a:lnTo>
                    <a:pt x="52" y="19"/>
                  </a:lnTo>
                  <a:lnTo>
                    <a:pt x="35" y="9"/>
                  </a:lnTo>
                  <a:lnTo>
                    <a:pt x="35" y="0"/>
                  </a:lnTo>
                  <a:lnTo>
                    <a:pt x="18" y="0"/>
                  </a:lnTo>
                  <a:lnTo>
                    <a:pt x="18" y="9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FF00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0" name="Rectangle 112"/>
            <p:cNvSpPr>
              <a:spLocks noChangeArrowheads="1"/>
            </p:cNvSpPr>
            <p:nvPr/>
          </p:nvSpPr>
          <p:spPr bwMode="auto">
            <a:xfrm>
              <a:off x="1553" y="3360"/>
              <a:ext cx="37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LAX</a:t>
              </a:r>
              <a:endParaRPr lang="en-US" altLang="en-US">
                <a:latin typeface="Times" charset="0"/>
              </a:endParaRPr>
            </a:p>
          </p:txBody>
        </p:sp>
        <p:sp>
          <p:nvSpPr>
            <p:cNvPr id="9331" name="Freeform 113"/>
            <p:cNvSpPr>
              <a:spLocks/>
            </p:cNvSpPr>
            <p:nvPr/>
          </p:nvSpPr>
          <p:spPr bwMode="auto">
            <a:xfrm>
              <a:off x="4121" y="2881"/>
              <a:ext cx="42" cy="39"/>
            </a:xfrm>
            <a:custGeom>
              <a:avLst/>
              <a:gdLst>
                <a:gd name="T0" fmla="*/ 42 w 42"/>
                <a:gd name="T1" fmla="*/ 39 h 39"/>
                <a:gd name="T2" fmla="*/ 42 w 42"/>
                <a:gd name="T3" fmla="*/ 10 h 39"/>
                <a:gd name="T4" fmla="*/ 0 w 42"/>
                <a:gd name="T5" fmla="*/ 0 h 39"/>
                <a:gd name="T6" fmla="*/ 0 w 42"/>
                <a:gd name="T7" fmla="*/ 29 h 39"/>
                <a:gd name="T8" fmla="*/ 42 w 42"/>
                <a:gd name="T9" fmla="*/ 39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39"/>
                <a:gd name="T17" fmla="*/ 42 w 42"/>
                <a:gd name="T18" fmla="*/ 39 h 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39">
                  <a:moveTo>
                    <a:pt x="42" y="39"/>
                  </a:moveTo>
                  <a:lnTo>
                    <a:pt x="42" y="10"/>
                  </a:lnTo>
                  <a:lnTo>
                    <a:pt x="0" y="0"/>
                  </a:lnTo>
                  <a:lnTo>
                    <a:pt x="0" y="29"/>
                  </a:lnTo>
                  <a:lnTo>
                    <a:pt x="42" y="3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2" name="Freeform 114"/>
            <p:cNvSpPr>
              <a:spLocks/>
            </p:cNvSpPr>
            <p:nvPr/>
          </p:nvSpPr>
          <p:spPr bwMode="auto">
            <a:xfrm>
              <a:off x="3839" y="4144"/>
              <a:ext cx="51" cy="29"/>
            </a:xfrm>
            <a:custGeom>
              <a:avLst/>
              <a:gdLst>
                <a:gd name="T0" fmla="*/ 51 w 51"/>
                <a:gd name="T1" fmla="*/ 10 h 29"/>
                <a:gd name="T2" fmla="*/ 43 w 51"/>
                <a:gd name="T3" fmla="*/ 29 h 29"/>
                <a:gd name="T4" fmla="*/ 0 w 51"/>
                <a:gd name="T5" fmla="*/ 19 h 29"/>
                <a:gd name="T6" fmla="*/ 9 w 51"/>
                <a:gd name="T7" fmla="*/ 0 h 29"/>
                <a:gd name="T8" fmla="*/ 51 w 51"/>
                <a:gd name="T9" fmla="*/ 1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29"/>
                <a:gd name="T17" fmla="*/ 51 w 51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29">
                  <a:moveTo>
                    <a:pt x="51" y="10"/>
                  </a:moveTo>
                  <a:lnTo>
                    <a:pt x="43" y="29"/>
                  </a:lnTo>
                  <a:lnTo>
                    <a:pt x="0" y="19"/>
                  </a:lnTo>
                  <a:lnTo>
                    <a:pt x="9" y="0"/>
                  </a:lnTo>
                  <a:lnTo>
                    <a:pt x="51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3" name="Freeform 115"/>
            <p:cNvSpPr>
              <a:spLocks/>
            </p:cNvSpPr>
            <p:nvPr/>
          </p:nvSpPr>
          <p:spPr bwMode="auto">
            <a:xfrm>
              <a:off x="3848" y="2910"/>
              <a:ext cx="315" cy="1244"/>
            </a:xfrm>
            <a:custGeom>
              <a:avLst/>
              <a:gdLst>
                <a:gd name="T0" fmla="*/ 315 w 315"/>
                <a:gd name="T1" fmla="*/ 10 h 1244"/>
                <a:gd name="T2" fmla="*/ 273 w 315"/>
                <a:gd name="T3" fmla="*/ 0 h 1244"/>
                <a:gd name="T4" fmla="*/ 0 w 315"/>
                <a:gd name="T5" fmla="*/ 1234 h 1244"/>
                <a:gd name="T6" fmla="*/ 42 w 315"/>
                <a:gd name="T7" fmla="*/ 1244 h 1244"/>
                <a:gd name="T8" fmla="*/ 315 w 315"/>
                <a:gd name="T9" fmla="*/ 10 h 12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5"/>
                <a:gd name="T16" fmla="*/ 0 h 1244"/>
                <a:gd name="T17" fmla="*/ 315 w 315"/>
                <a:gd name="T18" fmla="*/ 1244 h 12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5" h="1244">
                  <a:moveTo>
                    <a:pt x="315" y="10"/>
                  </a:moveTo>
                  <a:lnTo>
                    <a:pt x="273" y="0"/>
                  </a:lnTo>
                  <a:lnTo>
                    <a:pt x="0" y="1234"/>
                  </a:lnTo>
                  <a:lnTo>
                    <a:pt x="42" y="1244"/>
                  </a:lnTo>
                  <a:lnTo>
                    <a:pt x="315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4" name="Freeform 116"/>
            <p:cNvSpPr>
              <a:spLocks/>
            </p:cNvSpPr>
            <p:nvPr/>
          </p:nvSpPr>
          <p:spPr bwMode="auto">
            <a:xfrm>
              <a:off x="4129" y="2881"/>
              <a:ext cx="43" cy="49"/>
            </a:xfrm>
            <a:custGeom>
              <a:avLst/>
              <a:gdLst>
                <a:gd name="T0" fmla="*/ 26 w 43"/>
                <a:gd name="T1" fmla="*/ 49 h 49"/>
                <a:gd name="T2" fmla="*/ 43 w 43"/>
                <a:gd name="T3" fmla="*/ 39 h 49"/>
                <a:gd name="T4" fmla="*/ 17 w 43"/>
                <a:gd name="T5" fmla="*/ 0 h 49"/>
                <a:gd name="T6" fmla="*/ 0 w 43"/>
                <a:gd name="T7" fmla="*/ 10 h 49"/>
                <a:gd name="T8" fmla="*/ 26 w 43"/>
                <a:gd name="T9" fmla="*/ 4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9"/>
                <a:gd name="T17" fmla="*/ 43 w 43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9">
                  <a:moveTo>
                    <a:pt x="26" y="49"/>
                  </a:moveTo>
                  <a:lnTo>
                    <a:pt x="43" y="39"/>
                  </a:lnTo>
                  <a:lnTo>
                    <a:pt x="17" y="0"/>
                  </a:lnTo>
                  <a:lnTo>
                    <a:pt x="0" y="10"/>
                  </a:lnTo>
                  <a:lnTo>
                    <a:pt x="26" y="4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5" name="Freeform 117"/>
            <p:cNvSpPr>
              <a:spLocks/>
            </p:cNvSpPr>
            <p:nvPr/>
          </p:nvSpPr>
          <p:spPr bwMode="auto">
            <a:xfrm>
              <a:off x="3293" y="3449"/>
              <a:ext cx="43" cy="58"/>
            </a:xfrm>
            <a:custGeom>
              <a:avLst/>
              <a:gdLst>
                <a:gd name="T0" fmla="*/ 43 w 43"/>
                <a:gd name="T1" fmla="*/ 39 h 58"/>
                <a:gd name="T2" fmla="*/ 17 w 43"/>
                <a:gd name="T3" fmla="*/ 58 h 58"/>
                <a:gd name="T4" fmla="*/ 0 w 43"/>
                <a:gd name="T5" fmla="*/ 9 h 58"/>
                <a:gd name="T6" fmla="*/ 17 w 43"/>
                <a:gd name="T7" fmla="*/ 0 h 58"/>
                <a:gd name="T8" fmla="*/ 43 w 43"/>
                <a:gd name="T9" fmla="*/ 39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58"/>
                <a:gd name="T17" fmla="*/ 43 w 43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58">
                  <a:moveTo>
                    <a:pt x="43" y="39"/>
                  </a:moveTo>
                  <a:lnTo>
                    <a:pt x="17" y="58"/>
                  </a:lnTo>
                  <a:lnTo>
                    <a:pt x="0" y="9"/>
                  </a:lnTo>
                  <a:lnTo>
                    <a:pt x="17" y="0"/>
                  </a:lnTo>
                  <a:lnTo>
                    <a:pt x="43" y="3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6" name="Freeform 118"/>
            <p:cNvSpPr>
              <a:spLocks/>
            </p:cNvSpPr>
            <p:nvPr/>
          </p:nvSpPr>
          <p:spPr bwMode="auto">
            <a:xfrm>
              <a:off x="3310" y="2891"/>
              <a:ext cx="845" cy="597"/>
            </a:xfrm>
            <a:custGeom>
              <a:avLst/>
              <a:gdLst>
                <a:gd name="T0" fmla="*/ 845 w 845"/>
                <a:gd name="T1" fmla="*/ 39 h 597"/>
                <a:gd name="T2" fmla="*/ 819 w 845"/>
                <a:gd name="T3" fmla="*/ 0 h 597"/>
                <a:gd name="T4" fmla="*/ 0 w 845"/>
                <a:gd name="T5" fmla="*/ 558 h 597"/>
                <a:gd name="T6" fmla="*/ 26 w 845"/>
                <a:gd name="T7" fmla="*/ 597 h 597"/>
                <a:gd name="T8" fmla="*/ 845 w 845"/>
                <a:gd name="T9" fmla="*/ 39 h 5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45"/>
                <a:gd name="T16" fmla="*/ 0 h 597"/>
                <a:gd name="T17" fmla="*/ 845 w 845"/>
                <a:gd name="T18" fmla="*/ 597 h 5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45" h="597">
                  <a:moveTo>
                    <a:pt x="845" y="39"/>
                  </a:moveTo>
                  <a:lnTo>
                    <a:pt x="819" y="0"/>
                  </a:lnTo>
                  <a:lnTo>
                    <a:pt x="0" y="558"/>
                  </a:lnTo>
                  <a:lnTo>
                    <a:pt x="26" y="597"/>
                  </a:lnTo>
                  <a:lnTo>
                    <a:pt x="845" y="3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7" name="Freeform 119"/>
            <p:cNvSpPr>
              <a:spLocks/>
            </p:cNvSpPr>
            <p:nvPr/>
          </p:nvSpPr>
          <p:spPr bwMode="auto">
            <a:xfrm>
              <a:off x="3293" y="3439"/>
              <a:ext cx="43" cy="49"/>
            </a:xfrm>
            <a:custGeom>
              <a:avLst/>
              <a:gdLst>
                <a:gd name="T0" fmla="*/ 43 w 43"/>
                <a:gd name="T1" fmla="*/ 19 h 49"/>
                <a:gd name="T2" fmla="*/ 26 w 43"/>
                <a:gd name="T3" fmla="*/ 0 h 49"/>
                <a:gd name="T4" fmla="*/ 0 w 43"/>
                <a:gd name="T5" fmla="*/ 29 h 49"/>
                <a:gd name="T6" fmla="*/ 9 w 43"/>
                <a:gd name="T7" fmla="*/ 49 h 49"/>
                <a:gd name="T8" fmla="*/ 43 w 43"/>
                <a:gd name="T9" fmla="*/ 1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9"/>
                <a:gd name="T17" fmla="*/ 43 w 43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9">
                  <a:moveTo>
                    <a:pt x="43" y="19"/>
                  </a:moveTo>
                  <a:lnTo>
                    <a:pt x="26" y="0"/>
                  </a:lnTo>
                  <a:lnTo>
                    <a:pt x="0" y="29"/>
                  </a:lnTo>
                  <a:lnTo>
                    <a:pt x="9" y="49"/>
                  </a:lnTo>
                  <a:lnTo>
                    <a:pt x="43" y="1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8" name="Freeform 120"/>
            <p:cNvSpPr>
              <a:spLocks/>
            </p:cNvSpPr>
            <p:nvPr/>
          </p:nvSpPr>
          <p:spPr bwMode="auto">
            <a:xfrm>
              <a:off x="3848" y="4134"/>
              <a:ext cx="51" cy="49"/>
            </a:xfrm>
            <a:custGeom>
              <a:avLst/>
              <a:gdLst>
                <a:gd name="T0" fmla="*/ 34 w 51"/>
                <a:gd name="T1" fmla="*/ 0 h 49"/>
                <a:gd name="T2" fmla="*/ 51 w 51"/>
                <a:gd name="T3" fmla="*/ 10 h 49"/>
                <a:gd name="T4" fmla="*/ 17 w 51"/>
                <a:gd name="T5" fmla="*/ 49 h 49"/>
                <a:gd name="T6" fmla="*/ 0 w 51"/>
                <a:gd name="T7" fmla="*/ 29 h 49"/>
                <a:gd name="T8" fmla="*/ 34 w 51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1"/>
                <a:gd name="T16" fmla="*/ 0 h 49"/>
                <a:gd name="T17" fmla="*/ 51 w 51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1" h="49">
                  <a:moveTo>
                    <a:pt x="34" y="0"/>
                  </a:moveTo>
                  <a:lnTo>
                    <a:pt x="51" y="10"/>
                  </a:lnTo>
                  <a:lnTo>
                    <a:pt x="17" y="49"/>
                  </a:lnTo>
                  <a:lnTo>
                    <a:pt x="0" y="29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39" name="Freeform 121"/>
            <p:cNvSpPr>
              <a:spLocks/>
            </p:cNvSpPr>
            <p:nvPr/>
          </p:nvSpPr>
          <p:spPr bwMode="auto">
            <a:xfrm>
              <a:off x="3302" y="3458"/>
              <a:ext cx="580" cy="705"/>
            </a:xfrm>
            <a:custGeom>
              <a:avLst/>
              <a:gdLst>
                <a:gd name="T0" fmla="*/ 34 w 580"/>
                <a:gd name="T1" fmla="*/ 0 h 705"/>
                <a:gd name="T2" fmla="*/ 0 w 580"/>
                <a:gd name="T3" fmla="*/ 30 h 705"/>
                <a:gd name="T4" fmla="*/ 546 w 580"/>
                <a:gd name="T5" fmla="*/ 705 h 705"/>
                <a:gd name="T6" fmla="*/ 580 w 580"/>
                <a:gd name="T7" fmla="*/ 676 h 705"/>
                <a:gd name="T8" fmla="*/ 34 w 580"/>
                <a:gd name="T9" fmla="*/ 0 h 7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80"/>
                <a:gd name="T16" fmla="*/ 0 h 705"/>
                <a:gd name="T17" fmla="*/ 580 w 580"/>
                <a:gd name="T18" fmla="*/ 705 h 7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80" h="705">
                  <a:moveTo>
                    <a:pt x="34" y="0"/>
                  </a:moveTo>
                  <a:lnTo>
                    <a:pt x="0" y="30"/>
                  </a:lnTo>
                  <a:lnTo>
                    <a:pt x="546" y="705"/>
                  </a:lnTo>
                  <a:lnTo>
                    <a:pt x="580" y="67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0" name="Freeform 122"/>
            <p:cNvSpPr>
              <a:spLocks/>
            </p:cNvSpPr>
            <p:nvPr/>
          </p:nvSpPr>
          <p:spPr bwMode="auto">
            <a:xfrm>
              <a:off x="3310" y="3439"/>
              <a:ext cx="43" cy="49"/>
            </a:xfrm>
            <a:custGeom>
              <a:avLst/>
              <a:gdLst>
                <a:gd name="T0" fmla="*/ 26 w 43"/>
                <a:gd name="T1" fmla="*/ 49 h 49"/>
                <a:gd name="T2" fmla="*/ 43 w 43"/>
                <a:gd name="T3" fmla="*/ 39 h 49"/>
                <a:gd name="T4" fmla="*/ 17 w 43"/>
                <a:gd name="T5" fmla="*/ 0 h 49"/>
                <a:gd name="T6" fmla="*/ 0 w 43"/>
                <a:gd name="T7" fmla="*/ 10 h 49"/>
                <a:gd name="T8" fmla="*/ 26 w 43"/>
                <a:gd name="T9" fmla="*/ 49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"/>
                <a:gd name="T16" fmla="*/ 0 h 49"/>
                <a:gd name="T17" fmla="*/ 43 w 43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" h="49">
                  <a:moveTo>
                    <a:pt x="26" y="49"/>
                  </a:moveTo>
                  <a:lnTo>
                    <a:pt x="43" y="39"/>
                  </a:lnTo>
                  <a:lnTo>
                    <a:pt x="17" y="0"/>
                  </a:lnTo>
                  <a:lnTo>
                    <a:pt x="0" y="10"/>
                  </a:lnTo>
                  <a:lnTo>
                    <a:pt x="26" y="4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1" name="Freeform 123"/>
            <p:cNvSpPr>
              <a:spLocks/>
            </p:cNvSpPr>
            <p:nvPr/>
          </p:nvSpPr>
          <p:spPr bwMode="auto">
            <a:xfrm>
              <a:off x="2867" y="3870"/>
              <a:ext cx="42" cy="58"/>
            </a:xfrm>
            <a:custGeom>
              <a:avLst/>
              <a:gdLst>
                <a:gd name="T0" fmla="*/ 42 w 42"/>
                <a:gd name="T1" fmla="*/ 39 h 58"/>
                <a:gd name="T2" fmla="*/ 25 w 42"/>
                <a:gd name="T3" fmla="*/ 58 h 58"/>
                <a:gd name="T4" fmla="*/ 0 w 42"/>
                <a:gd name="T5" fmla="*/ 19 h 58"/>
                <a:gd name="T6" fmla="*/ 17 w 42"/>
                <a:gd name="T7" fmla="*/ 0 h 58"/>
                <a:gd name="T8" fmla="*/ 42 w 42"/>
                <a:gd name="T9" fmla="*/ 39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58"/>
                <a:gd name="T17" fmla="*/ 42 w 42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58">
                  <a:moveTo>
                    <a:pt x="42" y="39"/>
                  </a:moveTo>
                  <a:lnTo>
                    <a:pt x="25" y="58"/>
                  </a:lnTo>
                  <a:lnTo>
                    <a:pt x="0" y="19"/>
                  </a:lnTo>
                  <a:lnTo>
                    <a:pt x="17" y="0"/>
                  </a:lnTo>
                  <a:lnTo>
                    <a:pt x="42" y="3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2" name="Freeform 124"/>
            <p:cNvSpPr>
              <a:spLocks/>
            </p:cNvSpPr>
            <p:nvPr/>
          </p:nvSpPr>
          <p:spPr bwMode="auto">
            <a:xfrm>
              <a:off x="2884" y="3449"/>
              <a:ext cx="452" cy="460"/>
            </a:xfrm>
            <a:custGeom>
              <a:avLst/>
              <a:gdLst>
                <a:gd name="T0" fmla="*/ 452 w 452"/>
                <a:gd name="T1" fmla="*/ 39 h 460"/>
                <a:gd name="T2" fmla="*/ 426 w 452"/>
                <a:gd name="T3" fmla="*/ 0 h 460"/>
                <a:gd name="T4" fmla="*/ 0 w 452"/>
                <a:gd name="T5" fmla="*/ 421 h 460"/>
                <a:gd name="T6" fmla="*/ 25 w 452"/>
                <a:gd name="T7" fmla="*/ 460 h 460"/>
                <a:gd name="T8" fmla="*/ 452 w 452"/>
                <a:gd name="T9" fmla="*/ 39 h 4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2"/>
                <a:gd name="T16" fmla="*/ 0 h 460"/>
                <a:gd name="T17" fmla="*/ 452 w 452"/>
                <a:gd name="T18" fmla="*/ 460 h 4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2" h="460">
                  <a:moveTo>
                    <a:pt x="452" y="39"/>
                  </a:moveTo>
                  <a:lnTo>
                    <a:pt x="426" y="0"/>
                  </a:lnTo>
                  <a:lnTo>
                    <a:pt x="0" y="421"/>
                  </a:lnTo>
                  <a:lnTo>
                    <a:pt x="25" y="460"/>
                  </a:lnTo>
                  <a:lnTo>
                    <a:pt x="452" y="39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3" name="Freeform 125"/>
            <p:cNvSpPr>
              <a:spLocks/>
            </p:cNvSpPr>
            <p:nvPr/>
          </p:nvSpPr>
          <p:spPr bwMode="auto">
            <a:xfrm>
              <a:off x="2867" y="3860"/>
              <a:ext cx="34" cy="59"/>
            </a:xfrm>
            <a:custGeom>
              <a:avLst/>
              <a:gdLst>
                <a:gd name="T0" fmla="*/ 34 w 34"/>
                <a:gd name="T1" fmla="*/ 10 h 59"/>
                <a:gd name="T2" fmla="*/ 8 w 34"/>
                <a:gd name="T3" fmla="*/ 0 h 59"/>
                <a:gd name="T4" fmla="*/ 0 w 34"/>
                <a:gd name="T5" fmla="*/ 49 h 59"/>
                <a:gd name="T6" fmla="*/ 25 w 34"/>
                <a:gd name="T7" fmla="*/ 59 h 59"/>
                <a:gd name="T8" fmla="*/ 34 w 34"/>
                <a:gd name="T9" fmla="*/ 1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10"/>
                  </a:moveTo>
                  <a:lnTo>
                    <a:pt x="8" y="0"/>
                  </a:lnTo>
                  <a:lnTo>
                    <a:pt x="0" y="49"/>
                  </a:lnTo>
                  <a:lnTo>
                    <a:pt x="25" y="59"/>
                  </a:lnTo>
                  <a:lnTo>
                    <a:pt x="34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4" name="Freeform 126"/>
            <p:cNvSpPr>
              <a:spLocks/>
            </p:cNvSpPr>
            <p:nvPr/>
          </p:nvSpPr>
          <p:spPr bwMode="auto">
            <a:xfrm>
              <a:off x="3924" y="4134"/>
              <a:ext cx="26" cy="49"/>
            </a:xfrm>
            <a:custGeom>
              <a:avLst/>
              <a:gdLst>
                <a:gd name="T0" fmla="*/ 9 w 26"/>
                <a:gd name="T1" fmla="*/ 0 h 49"/>
                <a:gd name="T2" fmla="*/ 26 w 26"/>
                <a:gd name="T3" fmla="*/ 0 h 49"/>
                <a:gd name="T4" fmla="*/ 18 w 26"/>
                <a:gd name="T5" fmla="*/ 49 h 49"/>
                <a:gd name="T6" fmla="*/ 0 w 26"/>
                <a:gd name="T7" fmla="*/ 49 h 49"/>
                <a:gd name="T8" fmla="*/ 9 w 26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49"/>
                <a:gd name="T17" fmla="*/ 26 w 26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49">
                  <a:moveTo>
                    <a:pt x="9" y="0"/>
                  </a:moveTo>
                  <a:lnTo>
                    <a:pt x="26" y="0"/>
                  </a:lnTo>
                  <a:lnTo>
                    <a:pt x="18" y="49"/>
                  </a:lnTo>
                  <a:lnTo>
                    <a:pt x="0" y="49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5" name="Freeform 127"/>
            <p:cNvSpPr>
              <a:spLocks/>
            </p:cNvSpPr>
            <p:nvPr/>
          </p:nvSpPr>
          <p:spPr bwMode="auto">
            <a:xfrm>
              <a:off x="2892" y="3870"/>
              <a:ext cx="1041" cy="313"/>
            </a:xfrm>
            <a:custGeom>
              <a:avLst/>
              <a:gdLst>
                <a:gd name="T0" fmla="*/ 9 w 1041"/>
                <a:gd name="T1" fmla="*/ 0 h 313"/>
                <a:gd name="T2" fmla="*/ 0 w 1041"/>
                <a:gd name="T3" fmla="*/ 49 h 313"/>
                <a:gd name="T4" fmla="*/ 1032 w 1041"/>
                <a:gd name="T5" fmla="*/ 313 h 313"/>
                <a:gd name="T6" fmla="*/ 1041 w 1041"/>
                <a:gd name="T7" fmla="*/ 264 h 313"/>
                <a:gd name="T8" fmla="*/ 9 w 1041"/>
                <a:gd name="T9" fmla="*/ 0 h 3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1"/>
                <a:gd name="T16" fmla="*/ 0 h 313"/>
                <a:gd name="T17" fmla="*/ 1041 w 1041"/>
                <a:gd name="T18" fmla="*/ 313 h 31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1" h="313">
                  <a:moveTo>
                    <a:pt x="9" y="0"/>
                  </a:moveTo>
                  <a:lnTo>
                    <a:pt x="0" y="49"/>
                  </a:lnTo>
                  <a:lnTo>
                    <a:pt x="1032" y="313"/>
                  </a:lnTo>
                  <a:lnTo>
                    <a:pt x="1041" y="26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6" name="Freeform 128"/>
            <p:cNvSpPr>
              <a:spLocks/>
            </p:cNvSpPr>
            <p:nvPr/>
          </p:nvSpPr>
          <p:spPr bwMode="auto">
            <a:xfrm>
              <a:off x="1698" y="3449"/>
              <a:ext cx="34" cy="49"/>
            </a:xfrm>
            <a:custGeom>
              <a:avLst/>
              <a:gdLst>
                <a:gd name="T0" fmla="*/ 25 w 34"/>
                <a:gd name="T1" fmla="*/ 0 h 49"/>
                <a:gd name="T2" fmla="*/ 0 w 34"/>
                <a:gd name="T3" fmla="*/ 0 h 49"/>
                <a:gd name="T4" fmla="*/ 8 w 34"/>
                <a:gd name="T5" fmla="*/ 49 h 49"/>
                <a:gd name="T6" fmla="*/ 34 w 34"/>
                <a:gd name="T7" fmla="*/ 49 h 49"/>
                <a:gd name="T8" fmla="*/ 25 w 34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25" y="0"/>
                  </a:moveTo>
                  <a:lnTo>
                    <a:pt x="0" y="0"/>
                  </a:lnTo>
                  <a:lnTo>
                    <a:pt x="8" y="49"/>
                  </a:lnTo>
                  <a:lnTo>
                    <a:pt x="34" y="49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7" name="Freeform 129"/>
            <p:cNvSpPr>
              <a:spLocks/>
            </p:cNvSpPr>
            <p:nvPr/>
          </p:nvSpPr>
          <p:spPr bwMode="auto">
            <a:xfrm>
              <a:off x="4129" y="2881"/>
              <a:ext cx="26" cy="58"/>
            </a:xfrm>
            <a:custGeom>
              <a:avLst/>
              <a:gdLst>
                <a:gd name="T0" fmla="*/ 0 w 26"/>
                <a:gd name="T1" fmla="*/ 10 h 58"/>
                <a:gd name="T2" fmla="*/ 17 w 26"/>
                <a:gd name="T3" fmla="*/ 0 h 58"/>
                <a:gd name="T4" fmla="*/ 26 w 26"/>
                <a:gd name="T5" fmla="*/ 49 h 58"/>
                <a:gd name="T6" fmla="*/ 9 w 26"/>
                <a:gd name="T7" fmla="*/ 58 h 58"/>
                <a:gd name="T8" fmla="*/ 0 w 26"/>
                <a:gd name="T9" fmla="*/ 10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58"/>
                <a:gd name="T17" fmla="*/ 26 w 26"/>
                <a:gd name="T18" fmla="*/ 58 h 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58">
                  <a:moveTo>
                    <a:pt x="0" y="10"/>
                  </a:moveTo>
                  <a:lnTo>
                    <a:pt x="17" y="0"/>
                  </a:lnTo>
                  <a:lnTo>
                    <a:pt x="26" y="49"/>
                  </a:lnTo>
                  <a:lnTo>
                    <a:pt x="9" y="5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8" name="Freeform 130"/>
            <p:cNvSpPr>
              <a:spLocks/>
            </p:cNvSpPr>
            <p:nvPr/>
          </p:nvSpPr>
          <p:spPr bwMode="auto">
            <a:xfrm>
              <a:off x="1723" y="2891"/>
              <a:ext cx="2415" cy="607"/>
            </a:xfrm>
            <a:custGeom>
              <a:avLst/>
              <a:gdLst>
                <a:gd name="T0" fmla="*/ 0 w 2415"/>
                <a:gd name="T1" fmla="*/ 558 h 607"/>
                <a:gd name="T2" fmla="*/ 9 w 2415"/>
                <a:gd name="T3" fmla="*/ 607 h 607"/>
                <a:gd name="T4" fmla="*/ 2415 w 2415"/>
                <a:gd name="T5" fmla="*/ 48 h 607"/>
                <a:gd name="T6" fmla="*/ 2406 w 2415"/>
                <a:gd name="T7" fmla="*/ 0 h 607"/>
                <a:gd name="T8" fmla="*/ 0 w 2415"/>
                <a:gd name="T9" fmla="*/ 558 h 6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5"/>
                <a:gd name="T16" fmla="*/ 0 h 607"/>
                <a:gd name="T17" fmla="*/ 2415 w 2415"/>
                <a:gd name="T18" fmla="*/ 607 h 6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5" h="607">
                  <a:moveTo>
                    <a:pt x="0" y="558"/>
                  </a:moveTo>
                  <a:lnTo>
                    <a:pt x="9" y="607"/>
                  </a:lnTo>
                  <a:lnTo>
                    <a:pt x="2415" y="48"/>
                  </a:lnTo>
                  <a:lnTo>
                    <a:pt x="2406" y="0"/>
                  </a:lnTo>
                  <a:lnTo>
                    <a:pt x="0" y="558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49" name="Freeform 131"/>
            <p:cNvSpPr>
              <a:spLocks/>
            </p:cNvSpPr>
            <p:nvPr/>
          </p:nvSpPr>
          <p:spPr bwMode="auto">
            <a:xfrm>
              <a:off x="1698" y="3439"/>
              <a:ext cx="34" cy="59"/>
            </a:xfrm>
            <a:custGeom>
              <a:avLst/>
              <a:gdLst>
                <a:gd name="T0" fmla="*/ 34 w 34"/>
                <a:gd name="T1" fmla="*/ 10 h 59"/>
                <a:gd name="T2" fmla="*/ 17 w 34"/>
                <a:gd name="T3" fmla="*/ 0 h 59"/>
                <a:gd name="T4" fmla="*/ 0 w 34"/>
                <a:gd name="T5" fmla="*/ 49 h 59"/>
                <a:gd name="T6" fmla="*/ 17 w 34"/>
                <a:gd name="T7" fmla="*/ 59 h 59"/>
                <a:gd name="T8" fmla="*/ 34 w 34"/>
                <a:gd name="T9" fmla="*/ 1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59"/>
                <a:gd name="T17" fmla="*/ 34 w 34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59">
                  <a:moveTo>
                    <a:pt x="34" y="10"/>
                  </a:moveTo>
                  <a:lnTo>
                    <a:pt x="17" y="0"/>
                  </a:lnTo>
                  <a:lnTo>
                    <a:pt x="0" y="49"/>
                  </a:lnTo>
                  <a:lnTo>
                    <a:pt x="17" y="59"/>
                  </a:lnTo>
                  <a:lnTo>
                    <a:pt x="34" y="1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0" name="Freeform 132"/>
            <p:cNvSpPr>
              <a:spLocks/>
            </p:cNvSpPr>
            <p:nvPr/>
          </p:nvSpPr>
          <p:spPr bwMode="auto">
            <a:xfrm>
              <a:off x="2884" y="3870"/>
              <a:ext cx="34" cy="49"/>
            </a:xfrm>
            <a:custGeom>
              <a:avLst/>
              <a:gdLst>
                <a:gd name="T0" fmla="*/ 17 w 34"/>
                <a:gd name="T1" fmla="*/ 0 h 49"/>
                <a:gd name="T2" fmla="*/ 34 w 34"/>
                <a:gd name="T3" fmla="*/ 9 h 49"/>
                <a:gd name="T4" fmla="*/ 25 w 34"/>
                <a:gd name="T5" fmla="*/ 49 h 49"/>
                <a:gd name="T6" fmla="*/ 0 w 34"/>
                <a:gd name="T7" fmla="*/ 49 h 49"/>
                <a:gd name="T8" fmla="*/ 17 w 34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4"/>
                <a:gd name="T16" fmla="*/ 0 h 49"/>
                <a:gd name="T17" fmla="*/ 34 w 34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4" h="49">
                  <a:moveTo>
                    <a:pt x="17" y="0"/>
                  </a:moveTo>
                  <a:lnTo>
                    <a:pt x="34" y="9"/>
                  </a:lnTo>
                  <a:lnTo>
                    <a:pt x="25" y="49"/>
                  </a:lnTo>
                  <a:lnTo>
                    <a:pt x="0" y="49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1" name="Freeform 133"/>
            <p:cNvSpPr>
              <a:spLocks/>
            </p:cNvSpPr>
            <p:nvPr/>
          </p:nvSpPr>
          <p:spPr bwMode="auto">
            <a:xfrm>
              <a:off x="1715" y="3449"/>
              <a:ext cx="1186" cy="470"/>
            </a:xfrm>
            <a:custGeom>
              <a:avLst/>
              <a:gdLst>
                <a:gd name="T0" fmla="*/ 17 w 1186"/>
                <a:gd name="T1" fmla="*/ 0 h 470"/>
                <a:gd name="T2" fmla="*/ 0 w 1186"/>
                <a:gd name="T3" fmla="*/ 49 h 470"/>
                <a:gd name="T4" fmla="*/ 1169 w 1186"/>
                <a:gd name="T5" fmla="*/ 470 h 470"/>
                <a:gd name="T6" fmla="*/ 1186 w 1186"/>
                <a:gd name="T7" fmla="*/ 421 h 470"/>
                <a:gd name="T8" fmla="*/ 17 w 1186"/>
                <a:gd name="T9" fmla="*/ 0 h 4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6"/>
                <a:gd name="T16" fmla="*/ 0 h 470"/>
                <a:gd name="T17" fmla="*/ 1186 w 1186"/>
                <a:gd name="T18" fmla="*/ 470 h 4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6" h="470">
                  <a:moveTo>
                    <a:pt x="17" y="0"/>
                  </a:moveTo>
                  <a:lnTo>
                    <a:pt x="0" y="49"/>
                  </a:lnTo>
                  <a:lnTo>
                    <a:pt x="1169" y="470"/>
                  </a:lnTo>
                  <a:lnTo>
                    <a:pt x="1186" y="421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2" name="Oval 134"/>
            <p:cNvSpPr>
              <a:spLocks noChangeArrowheads="1"/>
            </p:cNvSpPr>
            <p:nvPr/>
          </p:nvSpPr>
          <p:spPr bwMode="auto">
            <a:xfrm>
              <a:off x="3890" y="2744"/>
              <a:ext cx="470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3" name="Oval 135"/>
            <p:cNvSpPr>
              <a:spLocks noChangeArrowheads="1"/>
            </p:cNvSpPr>
            <p:nvPr/>
          </p:nvSpPr>
          <p:spPr bwMode="auto">
            <a:xfrm>
              <a:off x="3890" y="2742"/>
              <a:ext cx="470" cy="327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4" name="Rectangle 136"/>
            <p:cNvSpPr>
              <a:spLocks noChangeArrowheads="1"/>
            </p:cNvSpPr>
            <p:nvPr/>
          </p:nvSpPr>
          <p:spPr bwMode="auto">
            <a:xfrm>
              <a:off x="3976" y="2822"/>
              <a:ext cx="307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JFK</a:t>
              </a:r>
              <a:endParaRPr lang="en-US" altLang="en-US">
                <a:latin typeface="Times" charset="0"/>
              </a:endParaRPr>
            </a:p>
          </p:txBody>
        </p:sp>
        <p:sp>
          <p:nvSpPr>
            <p:cNvPr id="9355" name="Oval 137"/>
            <p:cNvSpPr>
              <a:spLocks noChangeArrowheads="1"/>
            </p:cNvSpPr>
            <p:nvPr/>
          </p:nvSpPr>
          <p:spPr bwMode="auto">
            <a:xfrm>
              <a:off x="2653" y="3713"/>
              <a:ext cx="470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6" name="Oval 138"/>
            <p:cNvSpPr>
              <a:spLocks noChangeArrowheads="1"/>
            </p:cNvSpPr>
            <p:nvPr/>
          </p:nvSpPr>
          <p:spPr bwMode="auto">
            <a:xfrm>
              <a:off x="2653" y="3711"/>
              <a:ext cx="470" cy="327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7" name="Oval 139"/>
            <p:cNvSpPr>
              <a:spLocks noChangeArrowheads="1"/>
            </p:cNvSpPr>
            <p:nvPr/>
          </p:nvSpPr>
          <p:spPr bwMode="auto">
            <a:xfrm>
              <a:off x="3626" y="3977"/>
              <a:ext cx="469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8" name="Oval 140"/>
            <p:cNvSpPr>
              <a:spLocks noChangeArrowheads="1"/>
            </p:cNvSpPr>
            <p:nvPr/>
          </p:nvSpPr>
          <p:spPr bwMode="auto">
            <a:xfrm>
              <a:off x="3625" y="3976"/>
              <a:ext cx="471" cy="326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59" name="Oval 141"/>
            <p:cNvSpPr>
              <a:spLocks noChangeArrowheads="1"/>
            </p:cNvSpPr>
            <p:nvPr/>
          </p:nvSpPr>
          <p:spPr bwMode="auto">
            <a:xfrm>
              <a:off x="3071" y="3302"/>
              <a:ext cx="470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0" name="Oval 142"/>
            <p:cNvSpPr>
              <a:spLocks noChangeArrowheads="1"/>
            </p:cNvSpPr>
            <p:nvPr/>
          </p:nvSpPr>
          <p:spPr bwMode="auto">
            <a:xfrm>
              <a:off x="3071" y="3300"/>
              <a:ext cx="470" cy="327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1" name="Oval 143"/>
            <p:cNvSpPr>
              <a:spLocks noChangeArrowheads="1"/>
            </p:cNvSpPr>
            <p:nvPr/>
          </p:nvSpPr>
          <p:spPr bwMode="auto">
            <a:xfrm>
              <a:off x="1476" y="3292"/>
              <a:ext cx="469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2" name="Oval 144"/>
            <p:cNvSpPr>
              <a:spLocks noChangeArrowheads="1"/>
            </p:cNvSpPr>
            <p:nvPr/>
          </p:nvSpPr>
          <p:spPr bwMode="auto">
            <a:xfrm>
              <a:off x="1476" y="3290"/>
              <a:ext cx="470" cy="327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3" name="Oval 145"/>
            <p:cNvSpPr>
              <a:spLocks noChangeArrowheads="1"/>
            </p:cNvSpPr>
            <p:nvPr/>
          </p:nvSpPr>
          <p:spPr bwMode="auto">
            <a:xfrm>
              <a:off x="794" y="3576"/>
              <a:ext cx="469" cy="323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4" name="Oval 146"/>
            <p:cNvSpPr>
              <a:spLocks noChangeArrowheads="1"/>
            </p:cNvSpPr>
            <p:nvPr/>
          </p:nvSpPr>
          <p:spPr bwMode="auto">
            <a:xfrm>
              <a:off x="793" y="3574"/>
              <a:ext cx="470" cy="327"/>
            </a:xfrm>
            <a:prstGeom prst="ellipse">
              <a:avLst/>
            </a:prstGeom>
            <a:noFill/>
            <a:ln w="269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65" name="Rectangle 147"/>
            <p:cNvSpPr>
              <a:spLocks noChangeArrowheads="1"/>
            </p:cNvSpPr>
            <p:nvPr/>
          </p:nvSpPr>
          <p:spPr bwMode="auto">
            <a:xfrm>
              <a:off x="1553" y="3380"/>
              <a:ext cx="37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LAX</a:t>
              </a:r>
              <a:endParaRPr lang="en-US" altLang="en-US">
                <a:latin typeface="Times" charset="0"/>
              </a:endParaRPr>
            </a:p>
          </p:txBody>
        </p:sp>
        <p:sp>
          <p:nvSpPr>
            <p:cNvPr id="9366" name="Rectangle 148"/>
            <p:cNvSpPr>
              <a:spLocks noChangeArrowheads="1"/>
            </p:cNvSpPr>
            <p:nvPr/>
          </p:nvSpPr>
          <p:spPr bwMode="auto">
            <a:xfrm>
              <a:off x="2713" y="3801"/>
              <a:ext cx="409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DFW</a:t>
              </a:r>
              <a:endParaRPr lang="en-US" altLang="en-US">
                <a:latin typeface="Times" charset="0"/>
              </a:endParaRPr>
            </a:p>
          </p:txBody>
        </p:sp>
        <p:sp>
          <p:nvSpPr>
            <p:cNvPr id="9367" name="Rectangle 150"/>
            <p:cNvSpPr>
              <a:spLocks noChangeArrowheads="1"/>
            </p:cNvSpPr>
            <p:nvPr/>
          </p:nvSpPr>
          <p:spPr bwMode="auto">
            <a:xfrm>
              <a:off x="3174" y="3380"/>
              <a:ext cx="326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STL</a:t>
              </a:r>
              <a:endParaRPr lang="en-US" altLang="en-US">
                <a:latin typeface="Times" charset="0"/>
              </a:endParaRPr>
            </a:p>
          </p:txBody>
        </p:sp>
        <p:sp>
          <p:nvSpPr>
            <p:cNvPr id="9368" name="Rectangle 151"/>
            <p:cNvSpPr>
              <a:spLocks noChangeArrowheads="1"/>
            </p:cNvSpPr>
            <p:nvPr/>
          </p:nvSpPr>
          <p:spPr bwMode="auto">
            <a:xfrm>
              <a:off x="870" y="3644"/>
              <a:ext cx="378" cy="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eaLnBrk="0" hangingPunct="0"/>
              <a:r>
                <a:rPr lang="en-US" altLang="en-US" sz="2300">
                  <a:solidFill>
                    <a:srgbClr val="000000"/>
                  </a:solidFill>
                </a:rPr>
                <a:t>HNL</a:t>
              </a:r>
              <a:endParaRPr lang="en-US" altLang="en-US">
                <a:latin typeface="Times" charset="0"/>
              </a:endParaRPr>
            </a:p>
          </p:txBody>
        </p:sp>
      </p:grpSp>
      <p:sp>
        <p:nvSpPr>
          <p:cNvPr id="9268" name="Rectangle 149"/>
          <p:cNvSpPr>
            <a:spLocks noChangeArrowheads="1"/>
          </p:cNvSpPr>
          <p:nvPr/>
        </p:nvSpPr>
        <p:spPr bwMode="auto">
          <a:xfrm>
            <a:off x="6781800" y="6400800"/>
            <a:ext cx="51752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300">
                <a:solidFill>
                  <a:srgbClr val="000000"/>
                </a:solidFill>
              </a:rPr>
              <a:t>FTL</a:t>
            </a:r>
            <a:endParaRPr lang="en-US" altLang="en-US">
              <a:latin typeface="Time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Various types of graphs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Char char="•"/>
              <a:defRPr/>
            </a:pPr>
            <a:r>
              <a:rPr lang="en-US" altLang="zh-TW" dirty="0">
                <a:cs typeface="Arial" charset="0"/>
              </a:rPr>
              <a:t>Directed/undirected(digraph) graphs</a:t>
            </a:r>
          </a:p>
          <a:p>
            <a:pPr>
              <a:buFont typeface="Arial" charset="0"/>
              <a:buChar char="•"/>
              <a:defRPr/>
            </a:pPr>
            <a:endParaRPr lang="en-US" altLang="zh-TW" dirty="0">
              <a:cs typeface="Arial" charset="0"/>
            </a:endParaRPr>
          </a:p>
          <a:p>
            <a:pPr>
              <a:buFont typeface="Arial" charset="0"/>
              <a:buChar char="•"/>
              <a:defRPr/>
            </a:pPr>
            <a:endParaRPr lang="en-US" altLang="zh-TW" dirty="0">
              <a:cs typeface="Arial" charset="0"/>
            </a:endParaRPr>
          </a:p>
          <a:p>
            <a:pPr>
              <a:buFont typeface="Arial" charset="0"/>
              <a:buChar char="•"/>
              <a:defRPr/>
            </a:pPr>
            <a:endParaRPr lang="en-US" altLang="zh-TW" dirty="0">
              <a:cs typeface="Arial" charset="0"/>
            </a:endParaRPr>
          </a:p>
          <a:p>
            <a:pPr>
              <a:buFont typeface="Arial" charset="0"/>
              <a:buChar char="•"/>
              <a:defRPr/>
            </a:pPr>
            <a:endParaRPr lang="en-US" altLang="zh-TW" dirty="0">
              <a:cs typeface="Arial" charset="0"/>
            </a:endParaRPr>
          </a:p>
          <a:p>
            <a:pPr>
              <a:buFont typeface="Arial" charset="0"/>
              <a:buChar char="•"/>
              <a:defRPr/>
            </a:pPr>
            <a:r>
              <a:rPr lang="en-US" altLang="zh-TW" dirty="0">
                <a:cs typeface="Arial" charset="0"/>
              </a:rPr>
              <a:t>You may treat each undirected edge as two directed edges in opposite directions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>
                <a:solidFill>
                  <a:srgbClr val="CC3300"/>
                </a:solidFill>
                <a:sym typeface="Symbol" pitchFamily="18" charset="2"/>
              </a:rPr>
              <a:t>Undirected:</a:t>
            </a:r>
            <a:r>
              <a:rPr lang="en-US" dirty="0">
                <a:sym typeface="Symbol" pitchFamily="18" charset="2"/>
              </a:rPr>
              <a:t> edge 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u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,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) = (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v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, </a:t>
            </a:r>
            <a:r>
              <a:rPr lang="en-US" i="1" dirty="0">
                <a:solidFill>
                  <a:schemeClr val="hlink"/>
                </a:solidFill>
                <a:sym typeface="Symbol" pitchFamily="18" charset="2"/>
              </a:rPr>
              <a:t>u),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dirty="0">
                <a:solidFill>
                  <a:schemeClr val="hlink"/>
                </a:solidFill>
                <a:sym typeface="Symbol" pitchFamily="18" charset="2"/>
              </a:rPr>
              <a:t>No self loops.</a:t>
            </a:r>
            <a:r>
              <a:rPr lang="en-US" dirty="0">
                <a:sym typeface="Symbol" pitchFamily="18" charset="2"/>
              </a:rPr>
              <a:t>)</a:t>
            </a:r>
          </a:p>
          <a:p>
            <a:pPr lvl="1">
              <a:lnSpc>
                <a:spcPct val="90000"/>
              </a:lnSpc>
              <a:buFont typeface="Arial" charset="0"/>
              <a:buChar char="–"/>
              <a:defRPr/>
            </a:pPr>
            <a:r>
              <a:rPr lang="en-US" dirty="0">
                <a:solidFill>
                  <a:srgbClr val="CC3300"/>
                </a:solidFill>
                <a:sym typeface="Symbol" pitchFamily="18" charset="2"/>
              </a:rPr>
              <a:t>Directed(Digraph):</a:t>
            </a:r>
            <a:r>
              <a:rPr lang="en-US" dirty="0">
                <a:sym typeface="Symbol" pitchFamily="18" charset="2"/>
              </a:rPr>
              <a:t> (</a:t>
            </a:r>
            <a:r>
              <a:rPr lang="en-US" i="1" dirty="0">
                <a:sym typeface="Symbol" pitchFamily="18" charset="2"/>
              </a:rPr>
              <a:t>u</a:t>
            </a:r>
            <a:r>
              <a:rPr lang="en-US" dirty="0">
                <a:sym typeface="Symbol" pitchFamily="18" charset="2"/>
              </a:rPr>
              <a:t>,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) is edge from </a:t>
            </a:r>
            <a:r>
              <a:rPr lang="en-US" i="1" dirty="0">
                <a:sym typeface="Symbol" pitchFamily="18" charset="2"/>
              </a:rPr>
              <a:t>u</a:t>
            </a:r>
            <a:r>
              <a:rPr lang="en-US" dirty="0">
                <a:sym typeface="Symbol" pitchFamily="18" charset="2"/>
              </a:rPr>
              <a:t> to </a:t>
            </a:r>
            <a:r>
              <a:rPr lang="en-US" i="1" dirty="0">
                <a:sym typeface="Symbol" pitchFamily="18" charset="2"/>
              </a:rPr>
              <a:t>v</a:t>
            </a:r>
            <a:r>
              <a:rPr lang="en-US" dirty="0">
                <a:sym typeface="Symbol" pitchFamily="18" charset="2"/>
              </a:rPr>
              <a:t>, denoted as </a:t>
            </a:r>
            <a:r>
              <a:rPr lang="en-US" i="1" dirty="0">
                <a:sym typeface="Symbol" pitchFamily="18" charset="2"/>
              </a:rPr>
              <a:t>u </a:t>
            </a:r>
            <a:r>
              <a:rPr lang="en-US" dirty="0">
                <a:sym typeface="Symbol" pitchFamily="18" charset="2"/>
              </a:rPr>
              <a:t></a:t>
            </a:r>
            <a:r>
              <a:rPr lang="en-US" i="1" dirty="0">
                <a:sym typeface="Symbol" pitchFamily="18" charset="2"/>
              </a:rPr>
              <a:t> v</a:t>
            </a:r>
            <a:r>
              <a:rPr lang="en-US" dirty="0">
                <a:sym typeface="Symbol" pitchFamily="18" charset="2"/>
              </a:rPr>
              <a:t>.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sym typeface="Symbol" pitchFamily="18" charset="2"/>
              </a:rPr>
              <a:t>Self loops are allowed</a:t>
            </a:r>
            <a:r>
              <a:rPr lang="en-US" dirty="0">
                <a:sym typeface="Symbol" pitchFamily="18" charset="2"/>
              </a:rPr>
              <a:t>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sym typeface="Symbol" pitchFamily="18" charset="2"/>
              </a:rPr>
              <a:t>.</a:t>
            </a:r>
          </a:p>
          <a:p>
            <a:pPr>
              <a:buFont typeface="Arial" charset="0"/>
              <a:buChar char="•"/>
              <a:defRPr/>
            </a:pPr>
            <a:endParaRPr lang="en-US" altLang="zh-TW" dirty="0">
              <a:cs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113337" y="2286000"/>
            <a:ext cx="2735263" cy="1752600"/>
            <a:chOff x="2898" y="1671"/>
            <a:chExt cx="2023" cy="1569"/>
          </a:xfrm>
        </p:grpSpPr>
        <p:sp>
          <p:nvSpPr>
            <p:cNvPr id="11280" name="Oval 5"/>
            <p:cNvSpPr>
              <a:spLocks noChangeArrowheads="1"/>
            </p:cNvSpPr>
            <p:nvPr/>
          </p:nvSpPr>
          <p:spPr bwMode="auto">
            <a:xfrm>
              <a:off x="3034" y="1671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81" name="Line 6"/>
            <p:cNvSpPr>
              <a:spLocks noChangeShapeType="1"/>
            </p:cNvSpPr>
            <p:nvPr/>
          </p:nvSpPr>
          <p:spPr bwMode="auto">
            <a:xfrm>
              <a:off x="3397" y="1897"/>
              <a:ext cx="816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Oval 7"/>
            <p:cNvSpPr>
              <a:spLocks noChangeArrowheads="1"/>
            </p:cNvSpPr>
            <p:nvPr/>
          </p:nvSpPr>
          <p:spPr bwMode="auto">
            <a:xfrm>
              <a:off x="4195" y="1915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83" name="Oval 8"/>
            <p:cNvSpPr>
              <a:spLocks noChangeArrowheads="1"/>
            </p:cNvSpPr>
            <p:nvPr/>
          </p:nvSpPr>
          <p:spPr bwMode="auto">
            <a:xfrm>
              <a:off x="3515" y="2877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84" name="Oval 9"/>
            <p:cNvSpPr>
              <a:spLocks noChangeArrowheads="1"/>
            </p:cNvSpPr>
            <p:nvPr/>
          </p:nvSpPr>
          <p:spPr bwMode="auto">
            <a:xfrm>
              <a:off x="2898" y="2442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85" name="Oval 10"/>
            <p:cNvSpPr>
              <a:spLocks noChangeArrowheads="1"/>
            </p:cNvSpPr>
            <p:nvPr/>
          </p:nvSpPr>
          <p:spPr bwMode="auto">
            <a:xfrm>
              <a:off x="4558" y="2478"/>
              <a:ext cx="363" cy="363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86" name="Line 11"/>
            <p:cNvSpPr>
              <a:spLocks noChangeShapeType="1"/>
            </p:cNvSpPr>
            <p:nvPr/>
          </p:nvSpPr>
          <p:spPr bwMode="auto">
            <a:xfrm flipV="1">
              <a:off x="3125" y="2034"/>
              <a:ext cx="90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Line 12"/>
            <p:cNvSpPr>
              <a:spLocks noChangeShapeType="1"/>
            </p:cNvSpPr>
            <p:nvPr/>
          </p:nvSpPr>
          <p:spPr bwMode="auto">
            <a:xfrm>
              <a:off x="3242" y="2714"/>
              <a:ext cx="31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Line 13"/>
            <p:cNvSpPr>
              <a:spLocks noChangeShapeType="1"/>
            </p:cNvSpPr>
            <p:nvPr/>
          </p:nvSpPr>
          <p:spPr bwMode="auto">
            <a:xfrm>
              <a:off x="3352" y="1988"/>
              <a:ext cx="1224" cy="5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Line 14"/>
            <p:cNvSpPr>
              <a:spLocks noChangeShapeType="1"/>
            </p:cNvSpPr>
            <p:nvPr/>
          </p:nvSpPr>
          <p:spPr bwMode="auto">
            <a:xfrm flipV="1">
              <a:off x="3252" y="2179"/>
              <a:ext cx="952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1258888" y="2362200"/>
            <a:ext cx="2735262" cy="1600200"/>
            <a:chOff x="3287" y="1616"/>
            <a:chExt cx="1723" cy="1337"/>
          </a:xfrm>
        </p:grpSpPr>
        <p:sp>
          <p:nvSpPr>
            <p:cNvPr id="11270" name="Oval 16"/>
            <p:cNvSpPr>
              <a:spLocks noChangeArrowheads="1"/>
            </p:cNvSpPr>
            <p:nvPr/>
          </p:nvSpPr>
          <p:spPr bwMode="auto">
            <a:xfrm>
              <a:off x="3403" y="1616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71" name="Line 17"/>
            <p:cNvSpPr>
              <a:spLocks noChangeShapeType="1"/>
            </p:cNvSpPr>
            <p:nvPr/>
          </p:nvSpPr>
          <p:spPr bwMode="auto">
            <a:xfrm>
              <a:off x="3712" y="1809"/>
              <a:ext cx="695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Oval 18"/>
            <p:cNvSpPr>
              <a:spLocks noChangeArrowheads="1"/>
            </p:cNvSpPr>
            <p:nvPr/>
          </p:nvSpPr>
          <p:spPr bwMode="auto">
            <a:xfrm>
              <a:off x="4392" y="182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73" name="Oval 19"/>
            <p:cNvSpPr>
              <a:spLocks noChangeArrowheads="1"/>
            </p:cNvSpPr>
            <p:nvPr/>
          </p:nvSpPr>
          <p:spPr bwMode="auto">
            <a:xfrm>
              <a:off x="3813" y="264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74" name="Oval 20"/>
            <p:cNvSpPr>
              <a:spLocks noChangeArrowheads="1"/>
            </p:cNvSpPr>
            <p:nvPr/>
          </p:nvSpPr>
          <p:spPr bwMode="auto">
            <a:xfrm>
              <a:off x="3287" y="2273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75" name="Oval 21"/>
            <p:cNvSpPr>
              <a:spLocks noChangeArrowheads="1"/>
            </p:cNvSpPr>
            <p:nvPr/>
          </p:nvSpPr>
          <p:spPr bwMode="auto">
            <a:xfrm>
              <a:off x="4701" y="230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1276" name="Line 22"/>
            <p:cNvSpPr>
              <a:spLocks noChangeShapeType="1"/>
            </p:cNvSpPr>
            <p:nvPr/>
          </p:nvSpPr>
          <p:spPr bwMode="auto">
            <a:xfrm flipV="1">
              <a:off x="3480" y="1925"/>
              <a:ext cx="77" cy="3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Line 23"/>
            <p:cNvSpPr>
              <a:spLocks noChangeShapeType="1"/>
            </p:cNvSpPr>
            <p:nvPr/>
          </p:nvSpPr>
          <p:spPr bwMode="auto">
            <a:xfrm>
              <a:off x="3580" y="2505"/>
              <a:ext cx="27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Line 24"/>
            <p:cNvSpPr>
              <a:spLocks noChangeShapeType="1"/>
            </p:cNvSpPr>
            <p:nvPr/>
          </p:nvSpPr>
          <p:spPr bwMode="auto">
            <a:xfrm>
              <a:off x="3674" y="1886"/>
              <a:ext cx="1042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Line 25"/>
            <p:cNvSpPr>
              <a:spLocks noChangeShapeType="1"/>
            </p:cNvSpPr>
            <p:nvPr/>
          </p:nvSpPr>
          <p:spPr bwMode="auto">
            <a:xfrm flipV="1">
              <a:off x="3589" y="2049"/>
              <a:ext cx="810" cy="3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r>
              <a:rPr lang="en-US" altLang="en-US" sz="4800" i="1" dirty="0">
                <a:solidFill>
                  <a:schemeClr val="hlink"/>
                </a:solidFill>
                <a:latin typeface="Georgia" pitchFamily="18" charset="0"/>
              </a:rPr>
              <a:t> </a:t>
            </a:r>
            <a:r>
              <a:rPr lang="en-US" altLang="en-US" sz="4900" dirty="0">
                <a:solidFill>
                  <a:srgbClr val="FFC000"/>
                </a:solidFill>
                <a:latin typeface="Georgia" pitchFamily="18" charset="0"/>
              </a:rPr>
              <a:t>Degree of a Vertex </a:t>
            </a:r>
            <a:endParaRPr lang="en-US" sz="4900" dirty="0">
              <a:solidFill>
                <a:srgbClr val="FFC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TW" sz="2800" dirty="0">
                <a:latin typeface="Georgia" pitchFamily="18" charset="0"/>
                <a:ea typeface="PMingLiU" pitchFamily="18" charset="-120"/>
              </a:rPr>
              <a:t>For undirected graph </a:t>
            </a:r>
          </a:p>
          <a:p>
            <a:pPr marL="635508" lvl="1" indent="-342900">
              <a:lnSpc>
                <a:spcPct val="80000"/>
              </a:lnSpc>
              <a:buFontTx/>
              <a:buBlip>
                <a:blip r:embed="rId2"/>
              </a:buBlip>
            </a:pPr>
            <a:r>
              <a:rPr lang="en-US" altLang="zh-TW" sz="2400" dirty="0">
                <a:latin typeface="Georgia" pitchFamily="18" charset="0"/>
                <a:ea typeface="PMingLiU" pitchFamily="18" charset="-120"/>
              </a:rPr>
              <a:t>The </a:t>
            </a:r>
            <a:r>
              <a:rPr lang="en-US" altLang="zh-TW" sz="2400" dirty="0">
                <a:solidFill>
                  <a:srgbClr val="CC3300"/>
                </a:solidFill>
                <a:latin typeface="Georgia" pitchFamily="18" charset="0"/>
                <a:ea typeface="PMingLiU" pitchFamily="18" charset="-120"/>
              </a:rPr>
              <a:t>degree</a:t>
            </a:r>
            <a:r>
              <a:rPr lang="en-US" altLang="zh-TW" sz="2400" dirty="0">
                <a:latin typeface="Georgia" pitchFamily="18" charset="0"/>
                <a:ea typeface="PMingLiU" pitchFamily="18" charset="-120"/>
              </a:rPr>
              <a:t> of a vertex is the number of edges incident to that vertex.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None/>
            </a:pPr>
            <a:endParaRPr lang="en-US" altLang="zh-TW" sz="2800" dirty="0">
              <a:latin typeface="Georgia" pitchFamily="18" charset="0"/>
              <a:ea typeface="PMingLiU" pitchFamily="18" charset="-12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Blip>
                <a:blip r:embed="rId2"/>
              </a:buBlip>
            </a:pPr>
            <a:r>
              <a:rPr lang="en-US" altLang="zh-TW" sz="2800" dirty="0">
                <a:latin typeface="Georgia" pitchFamily="18" charset="0"/>
                <a:ea typeface="PMingLiU" pitchFamily="18" charset="-120"/>
              </a:rPr>
              <a:t>For directed graph, </a:t>
            </a:r>
          </a:p>
          <a:p>
            <a:pPr marL="742950" lvl="1" indent="-285750">
              <a:lnSpc>
                <a:spcPct val="80000"/>
              </a:lnSpc>
              <a:buSzPct val="75000"/>
              <a:buBlip>
                <a:blip r:embed="rId3"/>
              </a:buBlip>
            </a:pPr>
            <a:r>
              <a:rPr lang="en-US" altLang="zh-TW" dirty="0">
                <a:latin typeface="Georgia" pitchFamily="18" charset="0"/>
                <a:ea typeface="PMingLiU" pitchFamily="18" charset="-120"/>
              </a:rPr>
              <a:t>the </a:t>
            </a:r>
            <a:r>
              <a:rPr lang="en-US" altLang="zh-TW" dirty="0">
                <a:solidFill>
                  <a:srgbClr val="CC3300"/>
                </a:solidFill>
                <a:latin typeface="Georgia" pitchFamily="18" charset="0"/>
                <a:ea typeface="PMingLiU" pitchFamily="18" charset="-120"/>
              </a:rPr>
              <a:t>in-degree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of a vertex </a:t>
            </a:r>
            <a:r>
              <a:rPr lang="en-US" altLang="zh-TW" i="1" dirty="0">
                <a:latin typeface="Georgia" pitchFamily="18" charset="0"/>
                <a:ea typeface="PMingLiU" pitchFamily="18" charset="-120"/>
              </a:rPr>
              <a:t>v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is the number of edges coming to  have </a:t>
            </a:r>
            <a:r>
              <a:rPr lang="en-US" altLang="zh-TW" i="1" dirty="0">
                <a:latin typeface="Georgia" pitchFamily="18" charset="0"/>
                <a:ea typeface="PMingLiU" pitchFamily="18" charset="-120"/>
              </a:rPr>
              <a:t>v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as the head</a:t>
            </a:r>
          </a:p>
          <a:p>
            <a:pPr marL="742950" lvl="1" indent="-285750">
              <a:lnSpc>
                <a:spcPct val="80000"/>
              </a:lnSpc>
              <a:buSzPct val="75000"/>
              <a:buBlip>
                <a:blip r:embed="rId3"/>
              </a:buBlip>
            </a:pPr>
            <a:r>
              <a:rPr lang="en-US" altLang="zh-TW" dirty="0">
                <a:latin typeface="Georgia" pitchFamily="18" charset="0"/>
                <a:ea typeface="PMingLiU" pitchFamily="18" charset="-120"/>
              </a:rPr>
              <a:t>the </a:t>
            </a:r>
            <a:r>
              <a:rPr lang="en-US" altLang="zh-TW" dirty="0">
                <a:solidFill>
                  <a:srgbClr val="CC3300"/>
                </a:solidFill>
                <a:latin typeface="Georgia" pitchFamily="18" charset="0"/>
                <a:ea typeface="PMingLiU" pitchFamily="18" charset="-120"/>
              </a:rPr>
              <a:t>out-degree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of a vertex </a:t>
            </a:r>
            <a:r>
              <a:rPr lang="en-US" altLang="zh-TW" i="1" dirty="0">
                <a:latin typeface="Georgia" pitchFamily="18" charset="0"/>
                <a:ea typeface="PMingLiU" pitchFamily="18" charset="-120"/>
              </a:rPr>
              <a:t>v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is the number of edges that have </a:t>
            </a:r>
            <a:r>
              <a:rPr lang="en-US" altLang="zh-TW" i="1" dirty="0">
                <a:latin typeface="Georgia" pitchFamily="18" charset="0"/>
                <a:ea typeface="PMingLiU" pitchFamily="18" charset="-120"/>
              </a:rPr>
              <a:t>v</a:t>
            </a:r>
            <a:r>
              <a:rPr lang="en-US" altLang="zh-TW" dirty="0">
                <a:latin typeface="Georgia" pitchFamily="18" charset="0"/>
                <a:ea typeface="PMingLiU" pitchFamily="18" charset="-120"/>
              </a:rPr>
              <a:t> as the tail</a:t>
            </a:r>
          </a:p>
          <a:p>
            <a:pPr marL="742950" lvl="1" indent="-285750">
              <a:lnSpc>
                <a:spcPct val="80000"/>
              </a:lnSpc>
              <a:buSzPct val="75000"/>
              <a:buNone/>
            </a:pPr>
            <a:endParaRPr lang="en-US" dirty="0"/>
          </a:p>
          <a:p>
            <a:pPr marL="742950" lvl="1" indent="-285750">
              <a:lnSpc>
                <a:spcPct val="80000"/>
              </a:lnSpc>
              <a:buSzPct val="75000"/>
              <a:buNone/>
            </a:pPr>
            <a:endParaRPr lang="en-US" dirty="0"/>
          </a:p>
          <a:p>
            <a:pPr marL="742950" lvl="1" indent="-285750">
              <a:lnSpc>
                <a:spcPct val="80000"/>
              </a:lnSpc>
              <a:buSzPct val="75000"/>
              <a:buNone/>
            </a:pPr>
            <a:endParaRPr lang="en-US" altLang="zh-TW" dirty="0">
              <a:latin typeface="Georgia" pitchFamily="18" charset="0"/>
              <a:ea typeface="PMingLiU" pitchFamily="18" charset="-120"/>
            </a:endParaRPr>
          </a:p>
          <a:p>
            <a:pPr eaLnBrk="1" hangingPunct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Oval 4"/>
          <p:cNvSpPr>
            <a:spLocks noChangeArrowheads="1"/>
          </p:cNvSpPr>
          <p:nvPr/>
        </p:nvSpPr>
        <p:spPr bwMode="auto">
          <a:xfrm>
            <a:off x="6159500" y="3048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0</a:t>
            </a:r>
          </a:p>
        </p:txBody>
      </p:sp>
      <p:sp>
        <p:nvSpPr>
          <p:cNvPr id="10243" name="Oval 5"/>
          <p:cNvSpPr>
            <a:spLocks noChangeArrowheads="1"/>
          </p:cNvSpPr>
          <p:nvPr/>
        </p:nvSpPr>
        <p:spPr bwMode="auto">
          <a:xfrm>
            <a:off x="5473700" y="10668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1</a:t>
            </a:r>
          </a:p>
        </p:txBody>
      </p:sp>
      <p:sp>
        <p:nvSpPr>
          <p:cNvPr id="10244" name="Oval 6"/>
          <p:cNvSpPr>
            <a:spLocks noChangeArrowheads="1"/>
          </p:cNvSpPr>
          <p:nvPr/>
        </p:nvSpPr>
        <p:spPr bwMode="auto">
          <a:xfrm>
            <a:off x="6845300" y="10668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2</a:t>
            </a:r>
          </a:p>
        </p:txBody>
      </p:sp>
      <p:sp>
        <p:nvSpPr>
          <p:cNvPr id="10245" name="Line 7"/>
          <p:cNvSpPr>
            <a:spLocks noChangeShapeType="1"/>
          </p:cNvSpPr>
          <p:nvPr/>
        </p:nvSpPr>
        <p:spPr bwMode="auto">
          <a:xfrm flipH="1">
            <a:off x="5813425" y="679450"/>
            <a:ext cx="407988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6" name="Line 8"/>
          <p:cNvSpPr>
            <a:spLocks noChangeShapeType="1"/>
          </p:cNvSpPr>
          <p:nvPr/>
        </p:nvSpPr>
        <p:spPr bwMode="auto">
          <a:xfrm>
            <a:off x="6534150" y="679450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7" name="Oval 9"/>
          <p:cNvSpPr>
            <a:spLocks noChangeArrowheads="1"/>
          </p:cNvSpPr>
          <p:nvPr/>
        </p:nvSpPr>
        <p:spPr bwMode="auto">
          <a:xfrm>
            <a:off x="5091113" y="1963737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3</a:t>
            </a:r>
          </a:p>
        </p:txBody>
      </p:sp>
      <p:sp>
        <p:nvSpPr>
          <p:cNvPr id="10248" name="Oval 10"/>
          <p:cNvSpPr>
            <a:spLocks noChangeArrowheads="1"/>
          </p:cNvSpPr>
          <p:nvPr/>
        </p:nvSpPr>
        <p:spPr bwMode="auto">
          <a:xfrm>
            <a:off x="5851525" y="1976437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4</a:t>
            </a:r>
          </a:p>
        </p:txBody>
      </p:sp>
      <p:sp>
        <p:nvSpPr>
          <p:cNvPr id="10249" name="Line 11"/>
          <p:cNvSpPr>
            <a:spLocks noChangeShapeType="1"/>
          </p:cNvSpPr>
          <p:nvPr/>
        </p:nvSpPr>
        <p:spPr bwMode="auto">
          <a:xfrm flipH="1">
            <a:off x="5318125" y="1508125"/>
            <a:ext cx="263525" cy="4603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0" name="Line 12"/>
          <p:cNvSpPr>
            <a:spLocks noChangeShapeType="1"/>
          </p:cNvSpPr>
          <p:nvPr/>
        </p:nvSpPr>
        <p:spPr bwMode="auto">
          <a:xfrm>
            <a:off x="5768975" y="1522412"/>
            <a:ext cx="298450" cy="4587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Oval 13"/>
          <p:cNvSpPr>
            <a:spLocks noChangeArrowheads="1"/>
          </p:cNvSpPr>
          <p:nvPr/>
        </p:nvSpPr>
        <p:spPr bwMode="auto">
          <a:xfrm>
            <a:off x="6496050" y="196532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5</a:t>
            </a:r>
          </a:p>
        </p:txBody>
      </p:sp>
      <p:sp>
        <p:nvSpPr>
          <p:cNvPr id="10252" name="Oval 14"/>
          <p:cNvSpPr>
            <a:spLocks noChangeArrowheads="1"/>
          </p:cNvSpPr>
          <p:nvPr/>
        </p:nvSpPr>
        <p:spPr bwMode="auto">
          <a:xfrm>
            <a:off x="7240588" y="1963737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6</a:t>
            </a:r>
          </a:p>
        </p:txBody>
      </p:sp>
      <p:sp>
        <p:nvSpPr>
          <p:cNvPr id="10253" name="Line 15"/>
          <p:cNvSpPr>
            <a:spLocks noChangeShapeType="1"/>
          </p:cNvSpPr>
          <p:nvPr/>
        </p:nvSpPr>
        <p:spPr bwMode="auto">
          <a:xfrm flipH="1">
            <a:off x="6692900" y="1492250"/>
            <a:ext cx="273050" cy="4619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Line 16"/>
          <p:cNvSpPr>
            <a:spLocks noChangeShapeType="1"/>
          </p:cNvSpPr>
          <p:nvPr/>
        </p:nvSpPr>
        <p:spPr bwMode="auto">
          <a:xfrm>
            <a:off x="7169150" y="1504950"/>
            <a:ext cx="273050" cy="449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5" name="Rectangle 17"/>
          <p:cNvSpPr>
            <a:spLocks noChangeArrowheads="1"/>
          </p:cNvSpPr>
          <p:nvPr/>
        </p:nvSpPr>
        <p:spPr bwMode="auto">
          <a:xfrm>
            <a:off x="1143000" y="2971800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en-US" altLang="zh-TW" sz="2800" dirty="0">
                <a:ea typeface="PMingLiU" pitchFamily="18" charset="-120"/>
              </a:rPr>
              <a:t>G</a:t>
            </a:r>
            <a:r>
              <a:rPr kumimoji="1" lang="en-US" altLang="zh-TW" sz="1800" dirty="0">
                <a:ea typeface="PMingLiU" pitchFamily="18" charset="-120"/>
              </a:rPr>
              <a:t>1</a:t>
            </a:r>
          </a:p>
        </p:txBody>
      </p:sp>
      <p:sp>
        <p:nvSpPr>
          <p:cNvPr id="10256" name="Rectangle 18"/>
          <p:cNvSpPr>
            <a:spLocks noChangeArrowheads="1"/>
          </p:cNvSpPr>
          <p:nvPr/>
        </p:nvSpPr>
        <p:spPr bwMode="auto">
          <a:xfrm>
            <a:off x="7848600" y="2286000"/>
            <a:ext cx="55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en-US" altLang="zh-TW" sz="2800" dirty="0">
                <a:ea typeface="PMingLiU" pitchFamily="18" charset="-120"/>
              </a:rPr>
              <a:t>G</a:t>
            </a:r>
            <a:r>
              <a:rPr kumimoji="1" lang="en-US" altLang="zh-TW" sz="1800" dirty="0">
                <a:ea typeface="PMingLiU" pitchFamily="18" charset="-120"/>
              </a:rPr>
              <a:t>2</a:t>
            </a:r>
          </a:p>
        </p:txBody>
      </p:sp>
      <p:sp>
        <p:nvSpPr>
          <p:cNvPr id="10257" name="Text Box 19"/>
          <p:cNvSpPr txBox="1">
            <a:spLocks noChangeArrowheads="1"/>
          </p:cNvSpPr>
          <p:nvPr/>
        </p:nvSpPr>
        <p:spPr bwMode="auto">
          <a:xfrm>
            <a:off x="1857375" y="6096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58" name="Text Box 20"/>
          <p:cNvSpPr txBox="1">
            <a:spLocks noChangeArrowheads="1"/>
          </p:cNvSpPr>
          <p:nvPr/>
        </p:nvSpPr>
        <p:spPr bwMode="auto">
          <a:xfrm>
            <a:off x="6234113" y="836612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2</a:t>
            </a:r>
          </a:p>
        </p:txBody>
      </p:sp>
      <p:sp>
        <p:nvSpPr>
          <p:cNvPr id="10259" name="Text Box 21"/>
          <p:cNvSpPr txBox="1">
            <a:spLocks noChangeArrowheads="1"/>
          </p:cNvSpPr>
          <p:nvPr/>
        </p:nvSpPr>
        <p:spPr bwMode="auto">
          <a:xfrm>
            <a:off x="5510213" y="15589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60" name="Text Box 22"/>
          <p:cNvSpPr txBox="1">
            <a:spLocks noChangeArrowheads="1"/>
          </p:cNvSpPr>
          <p:nvPr/>
        </p:nvSpPr>
        <p:spPr bwMode="auto">
          <a:xfrm>
            <a:off x="6886575" y="15589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61" name="Text Box 23"/>
          <p:cNvSpPr txBox="1">
            <a:spLocks noChangeArrowheads="1"/>
          </p:cNvSpPr>
          <p:nvPr/>
        </p:nvSpPr>
        <p:spPr bwMode="auto">
          <a:xfrm>
            <a:off x="5122863" y="24765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CC3300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0262" name="Text Box 24"/>
          <p:cNvSpPr txBox="1">
            <a:spLocks noChangeArrowheads="1"/>
          </p:cNvSpPr>
          <p:nvPr/>
        </p:nvSpPr>
        <p:spPr bwMode="auto">
          <a:xfrm>
            <a:off x="5864225" y="2528887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0263" name="Text Box 25"/>
          <p:cNvSpPr txBox="1">
            <a:spLocks noChangeArrowheads="1"/>
          </p:cNvSpPr>
          <p:nvPr/>
        </p:nvSpPr>
        <p:spPr bwMode="auto">
          <a:xfrm>
            <a:off x="6569075" y="251142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0264" name="Text Box 26"/>
          <p:cNvSpPr txBox="1">
            <a:spLocks noChangeArrowheads="1"/>
          </p:cNvSpPr>
          <p:nvPr/>
        </p:nvSpPr>
        <p:spPr bwMode="auto">
          <a:xfrm>
            <a:off x="7362825" y="24638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1</a:t>
            </a:r>
          </a:p>
        </p:txBody>
      </p:sp>
      <p:sp>
        <p:nvSpPr>
          <p:cNvPr id="10265" name="Rectangle 27"/>
          <p:cNvSpPr>
            <a:spLocks noChangeArrowheads="1"/>
          </p:cNvSpPr>
          <p:nvPr/>
        </p:nvSpPr>
        <p:spPr bwMode="auto">
          <a:xfrm>
            <a:off x="1400175" y="3854450"/>
            <a:ext cx="19335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tx2"/>
                </a:solidFill>
                <a:ea typeface="PMingLiU" pitchFamily="18" charset="-120"/>
              </a:rPr>
              <a:t>directed graph</a:t>
            </a:r>
          </a:p>
        </p:txBody>
      </p:sp>
      <p:sp>
        <p:nvSpPr>
          <p:cNvPr id="10266" name="Rectangle 28"/>
          <p:cNvSpPr>
            <a:spLocks noChangeArrowheads="1"/>
          </p:cNvSpPr>
          <p:nvPr/>
        </p:nvSpPr>
        <p:spPr bwMode="auto">
          <a:xfrm>
            <a:off x="1411288" y="4252913"/>
            <a:ext cx="14859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TW" dirty="0">
                <a:solidFill>
                  <a:schemeClr val="tx2"/>
                </a:solidFill>
                <a:ea typeface="PMingLiU" pitchFamily="18" charset="-120"/>
              </a:rPr>
              <a:t>in-degree</a:t>
            </a:r>
          </a:p>
          <a:p>
            <a:r>
              <a:rPr kumimoji="1" lang="en-US" altLang="zh-TW" dirty="0">
                <a:solidFill>
                  <a:schemeClr val="tx2"/>
                </a:solidFill>
                <a:ea typeface="PMingLiU" pitchFamily="18" charset="-120"/>
              </a:rPr>
              <a:t>out-degree</a:t>
            </a:r>
          </a:p>
        </p:txBody>
      </p:sp>
      <p:sp>
        <p:nvSpPr>
          <p:cNvPr id="10267" name="Oval 29"/>
          <p:cNvSpPr>
            <a:spLocks noChangeArrowheads="1"/>
          </p:cNvSpPr>
          <p:nvPr/>
        </p:nvSpPr>
        <p:spPr bwMode="auto">
          <a:xfrm>
            <a:off x="3908425" y="3470275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 dirty="0">
                <a:ea typeface="PMingLiU" pitchFamily="18" charset="-120"/>
              </a:rPr>
              <a:t>0</a:t>
            </a:r>
          </a:p>
        </p:txBody>
      </p:sp>
      <p:sp>
        <p:nvSpPr>
          <p:cNvPr id="10268" name="Oval 30"/>
          <p:cNvSpPr>
            <a:spLocks noChangeArrowheads="1"/>
          </p:cNvSpPr>
          <p:nvPr/>
        </p:nvSpPr>
        <p:spPr bwMode="auto">
          <a:xfrm>
            <a:off x="3906838" y="4573588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1</a:t>
            </a:r>
          </a:p>
        </p:txBody>
      </p:sp>
      <p:sp>
        <p:nvSpPr>
          <p:cNvPr id="10269" name="Oval 31"/>
          <p:cNvSpPr>
            <a:spLocks noChangeArrowheads="1"/>
          </p:cNvSpPr>
          <p:nvPr/>
        </p:nvSpPr>
        <p:spPr bwMode="auto">
          <a:xfrm>
            <a:off x="3922713" y="55927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2</a:t>
            </a:r>
          </a:p>
        </p:txBody>
      </p:sp>
      <p:sp>
        <p:nvSpPr>
          <p:cNvPr id="10270" name="Line 32"/>
          <p:cNvSpPr>
            <a:spLocks noChangeShapeType="1"/>
          </p:cNvSpPr>
          <p:nvPr/>
        </p:nvSpPr>
        <p:spPr bwMode="auto">
          <a:xfrm>
            <a:off x="4144963" y="5029200"/>
            <a:ext cx="0" cy="55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1" name="Line 33"/>
          <p:cNvSpPr>
            <a:spLocks noChangeShapeType="1"/>
          </p:cNvSpPr>
          <p:nvPr/>
        </p:nvSpPr>
        <p:spPr bwMode="auto">
          <a:xfrm flipV="1">
            <a:off x="4322763" y="385921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2" name="Line 34"/>
          <p:cNvSpPr>
            <a:spLocks noChangeShapeType="1"/>
          </p:cNvSpPr>
          <p:nvPr/>
        </p:nvSpPr>
        <p:spPr bwMode="auto">
          <a:xfrm>
            <a:off x="3954463" y="3886200"/>
            <a:ext cx="0" cy="73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73" name="Rectangle 35"/>
          <p:cNvSpPr>
            <a:spLocks noChangeArrowheads="1"/>
          </p:cNvSpPr>
          <p:nvPr/>
        </p:nvSpPr>
        <p:spPr bwMode="auto">
          <a:xfrm>
            <a:off x="3800475" y="6110288"/>
            <a:ext cx="555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kumimoji="1" lang="en-US" altLang="zh-TW" sz="2800">
                <a:ea typeface="PMingLiU" pitchFamily="18" charset="-120"/>
              </a:rPr>
              <a:t>G</a:t>
            </a:r>
            <a:r>
              <a:rPr kumimoji="1" lang="en-US" altLang="zh-TW" sz="1800">
                <a:ea typeface="PMingLiU" pitchFamily="18" charset="-120"/>
              </a:rPr>
              <a:t>3</a:t>
            </a:r>
          </a:p>
        </p:txBody>
      </p:sp>
      <p:sp>
        <p:nvSpPr>
          <p:cNvPr id="10274" name="Text Box 36"/>
          <p:cNvSpPr txBox="1">
            <a:spLocks noChangeArrowheads="1"/>
          </p:cNvSpPr>
          <p:nvPr/>
        </p:nvSpPr>
        <p:spPr bwMode="auto">
          <a:xfrm>
            <a:off x="4652963" y="3492500"/>
            <a:ext cx="15113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TW" dirty="0">
                <a:solidFill>
                  <a:srgbClr val="CC3300"/>
                </a:solidFill>
                <a:ea typeface="PMingLiU" pitchFamily="18" charset="-120"/>
              </a:rPr>
              <a:t>in:1, out: 1</a:t>
            </a:r>
          </a:p>
        </p:txBody>
      </p:sp>
      <p:sp>
        <p:nvSpPr>
          <p:cNvPr id="10275" name="Text Box 37"/>
          <p:cNvSpPr txBox="1">
            <a:spLocks noChangeArrowheads="1"/>
          </p:cNvSpPr>
          <p:nvPr/>
        </p:nvSpPr>
        <p:spPr bwMode="auto">
          <a:xfrm>
            <a:off x="4670425" y="4568825"/>
            <a:ext cx="158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in: 1, out: 2</a:t>
            </a:r>
          </a:p>
        </p:txBody>
      </p:sp>
      <p:sp>
        <p:nvSpPr>
          <p:cNvPr id="10276" name="Text Box 38"/>
          <p:cNvSpPr txBox="1">
            <a:spLocks noChangeArrowheads="1"/>
          </p:cNvSpPr>
          <p:nvPr/>
        </p:nvSpPr>
        <p:spPr bwMode="auto">
          <a:xfrm>
            <a:off x="4705350" y="5573713"/>
            <a:ext cx="1587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in: 1, out: 0</a:t>
            </a:r>
          </a:p>
        </p:txBody>
      </p:sp>
      <p:sp>
        <p:nvSpPr>
          <p:cNvPr id="10277" name="Oval 39"/>
          <p:cNvSpPr>
            <a:spLocks noChangeArrowheads="1"/>
          </p:cNvSpPr>
          <p:nvPr/>
        </p:nvSpPr>
        <p:spPr bwMode="auto">
          <a:xfrm>
            <a:off x="1776413" y="1071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0</a:t>
            </a:r>
          </a:p>
        </p:txBody>
      </p:sp>
      <p:sp>
        <p:nvSpPr>
          <p:cNvPr id="10278" name="Oval 40"/>
          <p:cNvSpPr>
            <a:spLocks noChangeArrowheads="1"/>
          </p:cNvSpPr>
          <p:nvPr/>
        </p:nvSpPr>
        <p:spPr bwMode="auto">
          <a:xfrm>
            <a:off x="1090613" y="1833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1</a:t>
            </a:r>
          </a:p>
        </p:txBody>
      </p:sp>
      <p:sp>
        <p:nvSpPr>
          <p:cNvPr id="10279" name="Oval 41"/>
          <p:cNvSpPr>
            <a:spLocks noChangeArrowheads="1"/>
          </p:cNvSpPr>
          <p:nvPr/>
        </p:nvSpPr>
        <p:spPr bwMode="auto">
          <a:xfrm>
            <a:off x="2462213" y="1833563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>
                <a:ea typeface="PMingLiU" pitchFamily="18" charset="-120"/>
              </a:rPr>
              <a:t>2</a:t>
            </a:r>
          </a:p>
        </p:txBody>
      </p:sp>
      <p:sp>
        <p:nvSpPr>
          <p:cNvPr id="10280" name="Oval 42"/>
          <p:cNvSpPr>
            <a:spLocks noChangeArrowheads="1"/>
          </p:cNvSpPr>
          <p:nvPr/>
        </p:nvSpPr>
        <p:spPr bwMode="auto">
          <a:xfrm>
            <a:off x="1752600" y="2438400"/>
            <a:ext cx="444500" cy="4445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kumimoji="1" lang="en-US" altLang="zh-TW" sz="2800" dirty="0">
                <a:ea typeface="PMingLiU" pitchFamily="18" charset="-120"/>
              </a:rPr>
              <a:t>3</a:t>
            </a:r>
          </a:p>
        </p:txBody>
      </p:sp>
      <p:sp>
        <p:nvSpPr>
          <p:cNvPr id="10281" name="Line 43"/>
          <p:cNvSpPr>
            <a:spLocks noChangeShapeType="1"/>
          </p:cNvSpPr>
          <p:nvPr/>
        </p:nvSpPr>
        <p:spPr bwMode="auto">
          <a:xfrm>
            <a:off x="1998663" y="1522413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2" name="Line 44"/>
          <p:cNvSpPr>
            <a:spLocks noChangeShapeType="1"/>
          </p:cNvSpPr>
          <p:nvPr/>
        </p:nvSpPr>
        <p:spPr bwMode="auto">
          <a:xfrm>
            <a:off x="1541463" y="2055813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3" name="Line 45"/>
          <p:cNvSpPr>
            <a:spLocks noChangeShapeType="1"/>
          </p:cNvSpPr>
          <p:nvPr/>
        </p:nvSpPr>
        <p:spPr bwMode="auto">
          <a:xfrm flipH="1">
            <a:off x="1430338" y="1446213"/>
            <a:ext cx="407987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Line 46"/>
          <p:cNvSpPr>
            <a:spLocks noChangeShapeType="1"/>
          </p:cNvSpPr>
          <p:nvPr/>
        </p:nvSpPr>
        <p:spPr bwMode="auto">
          <a:xfrm>
            <a:off x="2151063" y="1446213"/>
            <a:ext cx="422275" cy="434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5" name="Line 47"/>
          <p:cNvSpPr>
            <a:spLocks noChangeShapeType="1"/>
          </p:cNvSpPr>
          <p:nvPr/>
        </p:nvSpPr>
        <p:spPr bwMode="auto">
          <a:xfrm>
            <a:off x="1474787" y="2262188"/>
            <a:ext cx="354013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6" name="Line 48"/>
          <p:cNvSpPr>
            <a:spLocks noChangeShapeType="1"/>
          </p:cNvSpPr>
          <p:nvPr/>
        </p:nvSpPr>
        <p:spPr bwMode="auto">
          <a:xfrm flipH="1">
            <a:off x="2205038" y="2235200"/>
            <a:ext cx="327025" cy="339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87" name="Text Box 49"/>
          <p:cNvSpPr txBox="1">
            <a:spLocks noChangeArrowheads="1"/>
          </p:cNvSpPr>
          <p:nvPr/>
        </p:nvSpPr>
        <p:spPr bwMode="auto">
          <a:xfrm>
            <a:off x="2827338" y="191135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88" name="Text Box 50"/>
          <p:cNvSpPr txBox="1">
            <a:spLocks noChangeArrowheads="1"/>
          </p:cNvSpPr>
          <p:nvPr/>
        </p:nvSpPr>
        <p:spPr bwMode="auto">
          <a:xfrm>
            <a:off x="762000" y="18573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89" name="Text Box 51"/>
          <p:cNvSpPr txBox="1">
            <a:spLocks noChangeArrowheads="1"/>
          </p:cNvSpPr>
          <p:nvPr/>
        </p:nvSpPr>
        <p:spPr bwMode="auto">
          <a:xfrm>
            <a:off x="2065338" y="2667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CC3300"/>
                </a:solidFill>
                <a:ea typeface="PMingLiU" pitchFamily="18" charset="-120"/>
              </a:rPr>
              <a:t>3</a:t>
            </a:r>
          </a:p>
        </p:txBody>
      </p:sp>
      <p:sp>
        <p:nvSpPr>
          <p:cNvPr id="10290" name="Rectangle 52"/>
          <p:cNvSpPr>
            <a:spLocks noChangeArrowheads="1"/>
          </p:cNvSpPr>
          <p:nvPr/>
        </p:nvSpPr>
        <p:spPr bwMode="auto">
          <a:xfrm>
            <a:off x="1066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altLang="en-US" sz="4000" i="1">
                <a:solidFill>
                  <a:schemeClr val="hlink"/>
                </a:solidFill>
                <a:latin typeface="Georgia" pitchFamily="18" charset="0"/>
              </a:rPr>
              <a:t>Examples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7" grpId="0"/>
      <p:bldP spid="10258" grpId="0"/>
      <p:bldP spid="10259" grpId="0"/>
      <p:bldP spid="10260" grpId="0"/>
      <p:bldP spid="10261" grpId="0"/>
      <p:bldP spid="10262" grpId="0"/>
      <p:bldP spid="10263" grpId="0"/>
      <p:bldP spid="10264" grpId="0"/>
      <p:bldP spid="10274" grpId="0"/>
      <p:bldP spid="10275" grpId="0"/>
      <p:bldP spid="10276" grpId="0"/>
      <p:bldP spid="10287" grpId="0"/>
      <p:bldP spid="10288" grpId="0"/>
      <p:bldP spid="102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Terminology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447800"/>
            <a:ext cx="9067800" cy="5715000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solidFill>
                  <a:srgbClr val="FA2C25"/>
                </a:solidFill>
              </a:rPr>
              <a:t>simple path</a:t>
            </a:r>
            <a:r>
              <a:rPr lang="en-US" altLang="en-US" sz="2400" dirty="0"/>
              <a:t>:  no repeated vertices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>
              <a:buFontTx/>
              <a:buNone/>
            </a:pPr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400" dirty="0">
              <a:solidFill>
                <a:srgbClr val="FA2C25"/>
              </a:solidFill>
            </a:endParaRPr>
          </a:p>
          <a:p>
            <a:pPr eaLnBrk="1" hangingPunct="1">
              <a:buNone/>
            </a:pPr>
            <a:endParaRPr lang="en-US" altLang="en-US" sz="2400" dirty="0">
              <a:solidFill>
                <a:srgbClr val="FA2C25"/>
              </a:solidFill>
            </a:endParaRPr>
          </a:p>
          <a:p>
            <a:pPr eaLnBrk="1" hangingPunct="1"/>
            <a:r>
              <a:rPr lang="en-US" altLang="en-US" sz="2400" dirty="0">
                <a:solidFill>
                  <a:srgbClr val="FA2C25"/>
                </a:solidFill>
              </a:rPr>
              <a:t>cycle</a:t>
            </a:r>
            <a:r>
              <a:rPr lang="en-US" altLang="en-US" sz="2400" dirty="0"/>
              <a:t>:   simple path, except that the last vertex is the same as the first vertex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7796213" y="1820862"/>
            <a:ext cx="207962" cy="88900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7796213" y="3609975"/>
            <a:ext cx="207962" cy="100012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7796213" y="1909762"/>
            <a:ext cx="207962" cy="1700213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5" name="Freeform 7"/>
          <p:cNvSpPr>
            <a:spLocks/>
          </p:cNvSpPr>
          <p:nvPr/>
        </p:nvSpPr>
        <p:spPr bwMode="auto">
          <a:xfrm>
            <a:off x="7832725" y="3532187"/>
            <a:ext cx="207963" cy="211138"/>
          </a:xfrm>
          <a:custGeom>
            <a:avLst/>
            <a:gdLst>
              <a:gd name="T0" fmla="*/ 0 w 131"/>
              <a:gd name="T1" fmla="*/ 98 h 133"/>
              <a:gd name="T2" fmla="*/ 54 w 131"/>
              <a:gd name="T3" fmla="*/ 133 h 133"/>
              <a:gd name="T4" fmla="*/ 131 w 131"/>
              <a:gd name="T5" fmla="*/ 35 h 133"/>
              <a:gd name="T6" fmla="*/ 77 w 131"/>
              <a:gd name="T7" fmla="*/ 0 h 133"/>
              <a:gd name="T8" fmla="*/ 0 w 131"/>
              <a:gd name="T9" fmla="*/ 98 h 1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"/>
              <a:gd name="T16" fmla="*/ 0 h 133"/>
              <a:gd name="T17" fmla="*/ 131 w 131"/>
              <a:gd name="T18" fmla="*/ 133 h 1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" h="133">
                <a:moveTo>
                  <a:pt x="0" y="98"/>
                </a:moveTo>
                <a:lnTo>
                  <a:pt x="54" y="133"/>
                </a:lnTo>
                <a:lnTo>
                  <a:pt x="131" y="35"/>
                </a:lnTo>
                <a:lnTo>
                  <a:pt x="77" y="0"/>
                </a:lnTo>
                <a:lnTo>
                  <a:pt x="0" y="98"/>
                </a:ln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6" name="Freeform 8"/>
          <p:cNvSpPr>
            <a:spLocks/>
          </p:cNvSpPr>
          <p:nvPr/>
        </p:nvSpPr>
        <p:spPr bwMode="auto">
          <a:xfrm>
            <a:off x="6532563" y="2676525"/>
            <a:ext cx="209550" cy="211137"/>
          </a:xfrm>
          <a:custGeom>
            <a:avLst/>
            <a:gdLst>
              <a:gd name="T0" fmla="*/ 54 w 132"/>
              <a:gd name="T1" fmla="*/ 133 h 133"/>
              <a:gd name="T2" fmla="*/ 0 w 132"/>
              <a:gd name="T3" fmla="*/ 98 h 133"/>
              <a:gd name="T4" fmla="*/ 78 w 132"/>
              <a:gd name="T5" fmla="*/ 0 h 133"/>
              <a:gd name="T6" fmla="*/ 132 w 132"/>
              <a:gd name="T7" fmla="*/ 35 h 133"/>
              <a:gd name="T8" fmla="*/ 54 w 132"/>
              <a:gd name="T9" fmla="*/ 133 h 1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2"/>
              <a:gd name="T16" fmla="*/ 0 h 133"/>
              <a:gd name="T17" fmla="*/ 132 w 132"/>
              <a:gd name="T18" fmla="*/ 133 h 1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2" h="133">
                <a:moveTo>
                  <a:pt x="54" y="133"/>
                </a:moveTo>
                <a:lnTo>
                  <a:pt x="0" y="98"/>
                </a:lnTo>
                <a:lnTo>
                  <a:pt x="78" y="0"/>
                </a:lnTo>
                <a:lnTo>
                  <a:pt x="132" y="35"/>
                </a:lnTo>
                <a:lnTo>
                  <a:pt x="54" y="133"/>
                </a:ln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7" name="Freeform 9"/>
          <p:cNvSpPr>
            <a:spLocks/>
          </p:cNvSpPr>
          <p:nvPr/>
        </p:nvSpPr>
        <p:spPr bwMode="auto">
          <a:xfrm>
            <a:off x="6618288" y="2732087"/>
            <a:ext cx="1336675" cy="955675"/>
          </a:xfrm>
          <a:custGeom>
            <a:avLst/>
            <a:gdLst>
              <a:gd name="T0" fmla="*/ 765 w 842"/>
              <a:gd name="T1" fmla="*/ 602 h 602"/>
              <a:gd name="T2" fmla="*/ 842 w 842"/>
              <a:gd name="T3" fmla="*/ 504 h 602"/>
              <a:gd name="T4" fmla="*/ 78 w 842"/>
              <a:gd name="T5" fmla="*/ 0 h 602"/>
              <a:gd name="T6" fmla="*/ 0 w 842"/>
              <a:gd name="T7" fmla="*/ 98 h 602"/>
              <a:gd name="T8" fmla="*/ 765 w 842"/>
              <a:gd name="T9" fmla="*/ 602 h 6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2"/>
              <a:gd name="T16" fmla="*/ 0 h 602"/>
              <a:gd name="T17" fmla="*/ 842 w 842"/>
              <a:gd name="T18" fmla="*/ 602 h 60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2" h="602">
                <a:moveTo>
                  <a:pt x="765" y="602"/>
                </a:moveTo>
                <a:lnTo>
                  <a:pt x="842" y="504"/>
                </a:lnTo>
                <a:lnTo>
                  <a:pt x="78" y="0"/>
                </a:lnTo>
                <a:lnTo>
                  <a:pt x="0" y="98"/>
                </a:lnTo>
                <a:lnTo>
                  <a:pt x="765" y="602"/>
                </a:ln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8" name="Freeform 10"/>
          <p:cNvSpPr>
            <a:spLocks/>
          </p:cNvSpPr>
          <p:nvPr/>
        </p:nvSpPr>
        <p:spPr bwMode="auto">
          <a:xfrm>
            <a:off x="6667500" y="2798762"/>
            <a:ext cx="49213" cy="44450"/>
          </a:xfrm>
          <a:custGeom>
            <a:avLst/>
            <a:gdLst>
              <a:gd name="T0" fmla="*/ 0 w 31"/>
              <a:gd name="T1" fmla="*/ 21 h 28"/>
              <a:gd name="T2" fmla="*/ 16 w 31"/>
              <a:gd name="T3" fmla="*/ 28 h 28"/>
              <a:gd name="T4" fmla="*/ 31 w 31"/>
              <a:gd name="T5" fmla="*/ 7 h 28"/>
              <a:gd name="T6" fmla="*/ 24 w 31"/>
              <a:gd name="T7" fmla="*/ 0 h 28"/>
              <a:gd name="T8" fmla="*/ 0 w 31"/>
              <a:gd name="T9" fmla="*/ 21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28"/>
              <a:gd name="T17" fmla="*/ 31 w 31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28">
                <a:moveTo>
                  <a:pt x="0" y="21"/>
                </a:moveTo>
                <a:lnTo>
                  <a:pt x="16" y="28"/>
                </a:lnTo>
                <a:lnTo>
                  <a:pt x="31" y="7"/>
                </a:lnTo>
                <a:lnTo>
                  <a:pt x="24" y="0"/>
                </a:lnTo>
                <a:lnTo>
                  <a:pt x="0" y="21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299" name="Freeform 11"/>
          <p:cNvSpPr>
            <a:spLocks/>
          </p:cNvSpPr>
          <p:nvPr/>
        </p:nvSpPr>
        <p:spPr bwMode="auto">
          <a:xfrm>
            <a:off x="5430838" y="1876425"/>
            <a:ext cx="60325" cy="55562"/>
          </a:xfrm>
          <a:custGeom>
            <a:avLst/>
            <a:gdLst>
              <a:gd name="T0" fmla="*/ 15 w 38"/>
              <a:gd name="T1" fmla="*/ 35 h 35"/>
              <a:gd name="T2" fmla="*/ 0 w 38"/>
              <a:gd name="T3" fmla="*/ 28 h 35"/>
              <a:gd name="T4" fmla="*/ 23 w 38"/>
              <a:gd name="T5" fmla="*/ 0 h 35"/>
              <a:gd name="T6" fmla="*/ 38 w 38"/>
              <a:gd name="T7" fmla="*/ 14 h 35"/>
              <a:gd name="T8" fmla="*/ 15 w 38"/>
              <a:gd name="T9" fmla="*/ 35 h 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35"/>
              <a:gd name="T17" fmla="*/ 38 w 38"/>
              <a:gd name="T18" fmla="*/ 35 h 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35">
                <a:moveTo>
                  <a:pt x="15" y="35"/>
                </a:moveTo>
                <a:lnTo>
                  <a:pt x="0" y="28"/>
                </a:lnTo>
                <a:lnTo>
                  <a:pt x="23" y="0"/>
                </a:lnTo>
                <a:lnTo>
                  <a:pt x="38" y="14"/>
                </a:lnTo>
                <a:lnTo>
                  <a:pt x="15" y="35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0" name="Freeform 12"/>
          <p:cNvSpPr>
            <a:spLocks/>
          </p:cNvSpPr>
          <p:nvPr/>
        </p:nvSpPr>
        <p:spPr bwMode="auto">
          <a:xfrm>
            <a:off x="5454650" y="1898650"/>
            <a:ext cx="1250950" cy="933450"/>
          </a:xfrm>
          <a:custGeom>
            <a:avLst/>
            <a:gdLst>
              <a:gd name="T0" fmla="*/ 764 w 788"/>
              <a:gd name="T1" fmla="*/ 588 h 588"/>
              <a:gd name="T2" fmla="*/ 788 w 788"/>
              <a:gd name="T3" fmla="*/ 567 h 588"/>
              <a:gd name="T4" fmla="*/ 23 w 788"/>
              <a:gd name="T5" fmla="*/ 0 h 588"/>
              <a:gd name="T6" fmla="*/ 0 w 788"/>
              <a:gd name="T7" fmla="*/ 21 h 588"/>
              <a:gd name="T8" fmla="*/ 764 w 788"/>
              <a:gd name="T9" fmla="*/ 588 h 5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8"/>
              <a:gd name="T16" fmla="*/ 0 h 588"/>
              <a:gd name="T17" fmla="*/ 788 w 788"/>
              <a:gd name="T18" fmla="*/ 588 h 5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8" h="588">
                <a:moveTo>
                  <a:pt x="764" y="588"/>
                </a:moveTo>
                <a:lnTo>
                  <a:pt x="788" y="567"/>
                </a:lnTo>
                <a:lnTo>
                  <a:pt x="23" y="0"/>
                </a:lnTo>
                <a:lnTo>
                  <a:pt x="0" y="21"/>
                </a:lnTo>
                <a:lnTo>
                  <a:pt x="764" y="588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1" name="Freeform 13"/>
          <p:cNvSpPr>
            <a:spLocks/>
          </p:cNvSpPr>
          <p:nvPr/>
        </p:nvSpPr>
        <p:spPr bwMode="auto">
          <a:xfrm>
            <a:off x="6667500" y="2776537"/>
            <a:ext cx="49213" cy="55563"/>
          </a:xfrm>
          <a:custGeom>
            <a:avLst/>
            <a:gdLst>
              <a:gd name="T0" fmla="*/ 16 w 31"/>
              <a:gd name="T1" fmla="*/ 35 h 35"/>
              <a:gd name="T2" fmla="*/ 31 w 31"/>
              <a:gd name="T3" fmla="*/ 28 h 35"/>
              <a:gd name="T4" fmla="*/ 16 w 31"/>
              <a:gd name="T5" fmla="*/ 0 h 35"/>
              <a:gd name="T6" fmla="*/ 0 w 31"/>
              <a:gd name="T7" fmla="*/ 14 h 35"/>
              <a:gd name="T8" fmla="*/ 16 w 31"/>
              <a:gd name="T9" fmla="*/ 35 h 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35"/>
              <a:gd name="T17" fmla="*/ 31 w 31"/>
              <a:gd name="T18" fmla="*/ 35 h 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35">
                <a:moveTo>
                  <a:pt x="16" y="35"/>
                </a:moveTo>
                <a:lnTo>
                  <a:pt x="31" y="28"/>
                </a:lnTo>
                <a:lnTo>
                  <a:pt x="16" y="0"/>
                </a:lnTo>
                <a:lnTo>
                  <a:pt x="0" y="14"/>
                </a:lnTo>
                <a:lnTo>
                  <a:pt x="16" y="35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2" name="Freeform 14"/>
          <p:cNvSpPr>
            <a:spLocks/>
          </p:cNvSpPr>
          <p:nvPr/>
        </p:nvSpPr>
        <p:spPr bwMode="auto">
          <a:xfrm>
            <a:off x="5430838" y="3598862"/>
            <a:ext cx="47625" cy="44450"/>
          </a:xfrm>
          <a:custGeom>
            <a:avLst/>
            <a:gdLst>
              <a:gd name="T0" fmla="*/ 30 w 30"/>
              <a:gd name="T1" fmla="*/ 21 h 28"/>
              <a:gd name="T2" fmla="*/ 23 w 30"/>
              <a:gd name="T3" fmla="*/ 28 h 28"/>
              <a:gd name="T4" fmla="*/ 0 w 30"/>
              <a:gd name="T5" fmla="*/ 7 h 28"/>
              <a:gd name="T6" fmla="*/ 15 w 30"/>
              <a:gd name="T7" fmla="*/ 0 h 28"/>
              <a:gd name="T8" fmla="*/ 30 w 30"/>
              <a:gd name="T9" fmla="*/ 21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28"/>
              <a:gd name="T17" fmla="*/ 30 w 30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28">
                <a:moveTo>
                  <a:pt x="30" y="21"/>
                </a:moveTo>
                <a:lnTo>
                  <a:pt x="23" y="28"/>
                </a:lnTo>
                <a:lnTo>
                  <a:pt x="0" y="7"/>
                </a:lnTo>
                <a:lnTo>
                  <a:pt x="15" y="0"/>
                </a:lnTo>
                <a:lnTo>
                  <a:pt x="30" y="21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3" name="Freeform 15"/>
          <p:cNvSpPr>
            <a:spLocks/>
          </p:cNvSpPr>
          <p:nvPr/>
        </p:nvSpPr>
        <p:spPr bwMode="auto">
          <a:xfrm>
            <a:off x="5454650" y="2798762"/>
            <a:ext cx="1238250" cy="833438"/>
          </a:xfrm>
          <a:custGeom>
            <a:avLst/>
            <a:gdLst>
              <a:gd name="T0" fmla="*/ 780 w 780"/>
              <a:gd name="T1" fmla="*/ 21 h 525"/>
              <a:gd name="T2" fmla="*/ 764 w 780"/>
              <a:gd name="T3" fmla="*/ 0 h 525"/>
              <a:gd name="T4" fmla="*/ 0 w 780"/>
              <a:gd name="T5" fmla="*/ 504 h 525"/>
              <a:gd name="T6" fmla="*/ 15 w 780"/>
              <a:gd name="T7" fmla="*/ 525 h 525"/>
              <a:gd name="T8" fmla="*/ 780 w 780"/>
              <a:gd name="T9" fmla="*/ 21 h 5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0"/>
              <a:gd name="T16" fmla="*/ 0 h 525"/>
              <a:gd name="T17" fmla="*/ 780 w 780"/>
              <a:gd name="T18" fmla="*/ 525 h 5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0" h="525">
                <a:moveTo>
                  <a:pt x="780" y="21"/>
                </a:moveTo>
                <a:lnTo>
                  <a:pt x="764" y="0"/>
                </a:lnTo>
                <a:lnTo>
                  <a:pt x="0" y="504"/>
                </a:lnTo>
                <a:lnTo>
                  <a:pt x="15" y="525"/>
                </a:lnTo>
                <a:lnTo>
                  <a:pt x="780" y="21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5441950" y="1887537"/>
            <a:ext cx="49213" cy="222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5441950" y="3609975"/>
            <a:ext cx="49213" cy="222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5441950" y="1909762"/>
            <a:ext cx="49213" cy="1700213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5441950" y="1887537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8" name="Rectangle 20"/>
          <p:cNvSpPr>
            <a:spLocks noChangeArrowheads="1"/>
          </p:cNvSpPr>
          <p:nvPr/>
        </p:nvSpPr>
        <p:spPr bwMode="auto">
          <a:xfrm>
            <a:off x="7893050" y="1887537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Rectangle 21"/>
          <p:cNvSpPr>
            <a:spLocks noChangeArrowheads="1"/>
          </p:cNvSpPr>
          <p:nvPr/>
        </p:nvSpPr>
        <p:spPr bwMode="auto">
          <a:xfrm>
            <a:off x="5467350" y="1887537"/>
            <a:ext cx="24257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Rectangle 22"/>
          <p:cNvSpPr>
            <a:spLocks noChangeArrowheads="1"/>
          </p:cNvSpPr>
          <p:nvPr/>
        </p:nvSpPr>
        <p:spPr bwMode="auto">
          <a:xfrm>
            <a:off x="5441950" y="3587750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Rectangle 23"/>
          <p:cNvSpPr>
            <a:spLocks noChangeArrowheads="1"/>
          </p:cNvSpPr>
          <p:nvPr/>
        </p:nvSpPr>
        <p:spPr bwMode="auto">
          <a:xfrm>
            <a:off x="7893050" y="3587750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2" name="Rectangle 24"/>
          <p:cNvSpPr>
            <a:spLocks noChangeArrowheads="1"/>
          </p:cNvSpPr>
          <p:nvPr/>
        </p:nvSpPr>
        <p:spPr bwMode="auto">
          <a:xfrm>
            <a:off x="5467350" y="3587750"/>
            <a:ext cx="24257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3" name="Oval 25"/>
          <p:cNvSpPr>
            <a:spLocks noChangeArrowheads="1"/>
          </p:cNvSpPr>
          <p:nvPr/>
        </p:nvSpPr>
        <p:spPr bwMode="auto">
          <a:xfrm>
            <a:off x="5246688" y="1709737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4" name="Oval 26"/>
          <p:cNvSpPr>
            <a:spLocks noChangeArrowheads="1"/>
          </p:cNvSpPr>
          <p:nvPr/>
        </p:nvSpPr>
        <p:spPr bwMode="auto">
          <a:xfrm>
            <a:off x="5251450" y="1716087"/>
            <a:ext cx="430213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5" name="Oval 27"/>
          <p:cNvSpPr>
            <a:spLocks noChangeArrowheads="1"/>
          </p:cNvSpPr>
          <p:nvPr/>
        </p:nvSpPr>
        <p:spPr bwMode="auto">
          <a:xfrm>
            <a:off x="7673975" y="3409950"/>
            <a:ext cx="439738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6" name="Oval 28"/>
          <p:cNvSpPr>
            <a:spLocks noChangeArrowheads="1"/>
          </p:cNvSpPr>
          <p:nvPr/>
        </p:nvSpPr>
        <p:spPr bwMode="auto">
          <a:xfrm>
            <a:off x="7678738" y="3416300"/>
            <a:ext cx="430212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7" name="Oval 29"/>
          <p:cNvSpPr>
            <a:spLocks noChangeArrowheads="1"/>
          </p:cNvSpPr>
          <p:nvPr/>
        </p:nvSpPr>
        <p:spPr bwMode="auto">
          <a:xfrm>
            <a:off x="6459538" y="2609850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8" name="Oval 30"/>
          <p:cNvSpPr>
            <a:spLocks noChangeArrowheads="1"/>
          </p:cNvSpPr>
          <p:nvPr/>
        </p:nvSpPr>
        <p:spPr bwMode="auto">
          <a:xfrm>
            <a:off x="6464300" y="2616200"/>
            <a:ext cx="431800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19" name="Oval 31"/>
          <p:cNvSpPr>
            <a:spLocks noChangeArrowheads="1"/>
          </p:cNvSpPr>
          <p:nvPr/>
        </p:nvSpPr>
        <p:spPr bwMode="auto">
          <a:xfrm>
            <a:off x="7673975" y="1709737"/>
            <a:ext cx="439738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0" name="Oval 32"/>
          <p:cNvSpPr>
            <a:spLocks noChangeArrowheads="1"/>
          </p:cNvSpPr>
          <p:nvPr/>
        </p:nvSpPr>
        <p:spPr bwMode="auto">
          <a:xfrm>
            <a:off x="7678738" y="1716087"/>
            <a:ext cx="430212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1" name="Oval 33"/>
          <p:cNvSpPr>
            <a:spLocks noChangeArrowheads="1"/>
          </p:cNvSpPr>
          <p:nvPr/>
        </p:nvSpPr>
        <p:spPr bwMode="auto">
          <a:xfrm>
            <a:off x="5246688" y="3409950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2" name="Oval 34"/>
          <p:cNvSpPr>
            <a:spLocks noChangeArrowheads="1"/>
          </p:cNvSpPr>
          <p:nvPr/>
        </p:nvSpPr>
        <p:spPr bwMode="auto">
          <a:xfrm>
            <a:off x="5251450" y="3416300"/>
            <a:ext cx="430213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323" name="Rectangle 35"/>
          <p:cNvSpPr>
            <a:spLocks noChangeArrowheads="1"/>
          </p:cNvSpPr>
          <p:nvPr/>
        </p:nvSpPr>
        <p:spPr bwMode="auto">
          <a:xfrm>
            <a:off x="5381625" y="1743075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a</a:t>
            </a:r>
            <a:endParaRPr lang="en-US" altLang="en-US">
              <a:latin typeface="Times" charset="0"/>
            </a:endParaRPr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7820025" y="1754187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b</a:t>
            </a:r>
            <a:endParaRPr lang="en-US" altLang="en-US">
              <a:latin typeface="Times" charset="0"/>
            </a:endParaRP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6607175" y="2654300"/>
            <a:ext cx="1333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c</a:t>
            </a:r>
            <a:endParaRPr lang="en-US" altLang="en-US">
              <a:latin typeface="Times" charset="0"/>
            </a:endParaRPr>
          </a:p>
        </p:txBody>
      </p:sp>
      <p:sp>
        <p:nvSpPr>
          <p:cNvPr id="12326" name="Rectangle 38"/>
          <p:cNvSpPr>
            <a:spLocks noChangeArrowheads="1"/>
          </p:cNvSpPr>
          <p:nvPr/>
        </p:nvSpPr>
        <p:spPr bwMode="auto">
          <a:xfrm>
            <a:off x="5381625" y="3487737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d</a:t>
            </a:r>
            <a:endParaRPr lang="en-US" altLang="en-US">
              <a:latin typeface="Times" charset="0"/>
            </a:endParaRPr>
          </a:p>
        </p:txBody>
      </p:sp>
      <p:sp>
        <p:nvSpPr>
          <p:cNvPr id="12327" name="Rectangle 39"/>
          <p:cNvSpPr>
            <a:spLocks noChangeArrowheads="1"/>
          </p:cNvSpPr>
          <p:nvPr/>
        </p:nvSpPr>
        <p:spPr bwMode="auto">
          <a:xfrm>
            <a:off x="7820025" y="3465512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e</a:t>
            </a:r>
            <a:endParaRPr lang="en-US" altLang="en-US">
              <a:latin typeface="Times" charset="0"/>
            </a:endParaRPr>
          </a:p>
        </p:txBody>
      </p:sp>
      <p:sp>
        <p:nvSpPr>
          <p:cNvPr id="12328" name="Rectangle 40"/>
          <p:cNvSpPr>
            <a:spLocks noChangeArrowheads="1"/>
          </p:cNvSpPr>
          <p:nvPr/>
        </p:nvSpPr>
        <p:spPr bwMode="auto">
          <a:xfrm>
            <a:off x="8185150" y="2476500"/>
            <a:ext cx="5778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b e c</a:t>
            </a:r>
            <a:endParaRPr lang="en-US" altLang="en-US">
              <a:latin typeface="Times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419600"/>
            <a:ext cx="478155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247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Graph Terminology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447800"/>
            <a:ext cx="9067800" cy="571500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en-US" sz="2400" dirty="0">
                <a:solidFill>
                  <a:srgbClr val="FA2C25"/>
                </a:solidFill>
              </a:rPr>
              <a:t>For Undirected Graph</a:t>
            </a:r>
          </a:p>
          <a:p>
            <a:pPr eaLnBrk="1" hangingPunct="1"/>
            <a:r>
              <a:rPr lang="en-US" altLang="en-US" sz="2400" dirty="0">
                <a:solidFill>
                  <a:srgbClr val="FA2C25"/>
                </a:solidFill>
              </a:rPr>
              <a:t>cycle</a:t>
            </a:r>
            <a:r>
              <a:rPr lang="en-US" altLang="en-US" sz="2400" dirty="0"/>
              <a:t>:   simple path, except that the last vertex is the same as the first vertex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2400" dirty="0"/>
          </a:p>
          <a:p>
            <a:pPr>
              <a:buNone/>
            </a:pPr>
            <a:r>
              <a:rPr lang="en-US" altLang="en-US" sz="2400" dirty="0">
                <a:solidFill>
                  <a:srgbClr val="FA2C25"/>
                </a:solidFill>
              </a:rPr>
              <a:t>For Digraph</a:t>
            </a:r>
          </a:p>
          <a:p>
            <a:r>
              <a:rPr lang="en-US" altLang="en-US" sz="2400" dirty="0">
                <a:solidFill>
                  <a:srgbClr val="FA2C25"/>
                </a:solidFill>
              </a:rPr>
              <a:t>Loop</a:t>
            </a:r>
            <a:r>
              <a:rPr lang="en-US" altLang="en-US" sz="2400" dirty="0"/>
              <a:t>:  An edge terminates at the same vertex from which it has started</a:t>
            </a:r>
          </a:p>
          <a:p>
            <a:pPr eaLnBrk="1" hangingPunct="1"/>
            <a:endParaRPr lang="en-US" altLang="en-US" sz="2400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2362201"/>
            <a:ext cx="3562350" cy="162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" name="Rectangle 4"/>
          <p:cNvSpPr>
            <a:spLocks noChangeArrowheads="1"/>
          </p:cNvSpPr>
          <p:nvPr/>
        </p:nvSpPr>
        <p:spPr bwMode="auto">
          <a:xfrm>
            <a:off x="7578725" y="4683125"/>
            <a:ext cx="207962" cy="88900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5"/>
          <p:cNvSpPr>
            <a:spLocks noChangeArrowheads="1"/>
          </p:cNvSpPr>
          <p:nvPr/>
        </p:nvSpPr>
        <p:spPr bwMode="auto">
          <a:xfrm>
            <a:off x="7578725" y="6472238"/>
            <a:ext cx="207962" cy="100012"/>
          </a:xfrm>
          <a:prstGeom prst="rect">
            <a:avLst/>
          </a:prstGeom>
          <a:solidFill>
            <a:srgbClr val="FF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 7"/>
          <p:cNvSpPr>
            <a:spLocks/>
          </p:cNvSpPr>
          <p:nvPr/>
        </p:nvSpPr>
        <p:spPr bwMode="auto">
          <a:xfrm>
            <a:off x="7615237" y="6394450"/>
            <a:ext cx="207963" cy="211138"/>
          </a:xfrm>
          <a:custGeom>
            <a:avLst/>
            <a:gdLst>
              <a:gd name="T0" fmla="*/ 0 w 131"/>
              <a:gd name="T1" fmla="*/ 98 h 133"/>
              <a:gd name="T2" fmla="*/ 54 w 131"/>
              <a:gd name="T3" fmla="*/ 133 h 133"/>
              <a:gd name="T4" fmla="*/ 131 w 131"/>
              <a:gd name="T5" fmla="*/ 35 h 133"/>
              <a:gd name="T6" fmla="*/ 77 w 131"/>
              <a:gd name="T7" fmla="*/ 0 h 133"/>
              <a:gd name="T8" fmla="*/ 0 w 131"/>
              <a:gd name="T9" fmla="*/ 98 h 1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1"/>
              <a:gd name="T16" fmla="*/ 0 h 133"/>
              <a:gd name="T17" fmla="*/ 131 w 131"/>
              <a:gd name="T18" fmla="*/ 133 h 1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1" h="133">
                <a:moveTo>
                  <a:pt x="0" y="98"/>
                </a:moveTo>
                <a:lnTo>
                  <a:pt x="54" y="133"/>
                </a:lnTo>
                <a:lnTo>
                  <a:pt x="131" y="35"/>
                </a:lnTo>
                <a:lnTo>
                  <a:pt x="77" y="0"/>
                </a:lnTo>
                <a:lnTo>
                  <a:pt x="0" y="98"/>
                </a:ln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8"/>
          <p:cNvSpPr>
            <a:spLocks/>
          </p:cNvSpPr>
          <p:nvPr/>
        </p:nvSpPr>
        <p:spPr bwMode="auto">
          <a:xfrm>
            <a:off x="6315075" y="5538788"/>
            <a:ext cx="209550" cy="211137"/>
          </a:xfrm>
          <a:custGeom>
            <a:avLst/>
            <a:gdLst>
              <a:gd name="T0" fmla="*/ 54 w 132"/>
              <a:gd name="T1" fmla="*/ 133 h 133"/>
              <a:gd name="T2" fmla="*/ 0 w 132"/>
              <a:gd name="T3" fmla="*/ 98 h 133"/>
              <a:gd name="T4" fmla="*/ 78 w 132"/>
              <a:gd name="T5" fmla="*/ 0 h 133"/>
              <a:gd name="T6" fmla="*/ 132 w 132"/>
              <a:gd name="T7" fmla="*/ 35 h 133"/>
              <a:gd name="T8" fmla="*/ 54 w 132"/>
              <a:gd name="T9" fmla="*/ 133 h 1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2"/>
              <a:gd name="T16" fmla="*/ 0 h 133"/>
              <a:gd name="T17" fmla="*/ 132 w 132"/>
              <a:gd name="T18" fmla="*/ 133 h 1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2" h="133">
                <a:moveTo>
                  <a:pt x="54" y="133"/>
                </a:moveTo>
                <a:lnTo>
                  <a:pt x="0" y="98"/>
                </a:lnTo>
                <a:lnTo>
                  <a:pt x="78" y="0"/>
                </a:lnTo>
                <a:lnTo>
                  <a:pt x="132" y="35"/>
                </a:lnTo>
                <a:lnTo>
                  <a:pt x="54" y="133"/>
                </a:ln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 10"/>
          <p:cNvSpPr>
            <a:spLocks/>
          </p:cNvSpPr>
          <p:nvPr/>
        </p:nvSpPr>
        <p:spPr bwMode="auto">
          <a:xfrm>
            <a:off x="6450012" y="5661025"/>
            <a:ext cx="49213" cy="44450"/>
          </a:xfrm>
          <a:custGeom>
            <a:avLst/>
            <a:gdLst>
              <a:gd name="T0" fmla="*/ 0 w 31"/>
              <a:gd name="T1" fmla="*/ 21 h 28"/>
              <a:gd name="T2" fmla="*/ 16 w 31"/>
              <a:gd name="T3" fmla="*/ 28 h 28"/>
              <a:gd name="T4" fmla="*/ 31 w 31"/>
              <a:gd name="T5" fmla="*/ 7 h 28"/>
              <a:gd name="T6" fmla="*/ 24 w 31"/>
              <a:gd name="T7" fmla="*/ 0 h 28"/>
              <a:gd name="T8" fmla="*/ 0 w 31"/>
              <a:gd name="T9" fmla="*/ 21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28"/>
              <a:gd name="T17" fmla="*/ 31 w 31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28">
                <a:moveTo>
                  <a:pt x="0" y="21"/>
                </a:moveTo>
                <a:lnTo>
                  <a:pt x="16" y="28"/>
                </a:lnTo>
                <a:lnTo>
                  <a:pt x="31" y="7"/>
                </a:lnTo>
                <a:lnTo>
                  <a:pt x="24" y="0"/>
                </a:lnTo>
                <a:lnTo>
                  <a:pt x="0" y="21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 11"/>
          <p:cNvSpPr>
            <a:spLocks/>
          </p:cNvSpPr>
          <p:nvPr/>
        </p:nvSpPr>
        <p:spPr bwMode="auto">
          <a:xfrm>
            <a:off x="5213350" y="4738688"/>
            <a:ext cx="60325" cy="55562"/>
          </a:xfrm>
          <a:custGeom>
            <a:avLst/>
            <a:gdLst>
              <a:gd name="T0" fmla="*/ 15 w 38"/>
              <a:gd name="T1" fmla="*/ 35 h 35"/>
              <a:gd name="T2" fmla="*/ 0 w 38"/>
              <a:gd name="T3" fmla="*/ 28 h 35"/>
              <a:gd name="T4" fmla="*/ 23 w 38"/>
              <a:gd name="T5" fmla="*/ 0 h 35"/>
              <a:gd name="T6" fmla="*/ 38 w 38"/>
              <a:gd name="T7" fmla="*/ 14 h 35"/>
              <a:gd name="T8" fmla="*/ 15 w 38"/>
              <a:gd name="T9" fmla="*/ 35 h 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35"/>
              <a:gd name="T17" fmla="*/ 38 w 38"/>
              <a:gd name="T18" fmla="*/ 35 h 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35">
                <a:moveTo>
                  <a:pt x="15" y="35"/>
                </a:moveTo>
                <a:lnTo>
                  <a:pt x="0" y="28"/>
                </a:lnTo>
                <a:lnTo>
                  <a:pt x="23" y="0"/>
                </a:lnTo>
                <a:lnTo>
                  <a:pt x="38" y="14"/>
                </a:lnTo>
                <a:lnTo>
                  <a:pt x="15" y="35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eform 13"/>
          <p:cNvSpPr>
            <a:spLocks/>
          </p:cNvSpPr>
          <p:nvPr/>
        </p:nvSpPr>
        <p:spPr bwMode="auto">
          <a:xfrm>
            <a:off x="6450012" y="5638800"/>
            <a:ext cx="49213" cy="55563"/>
          </a:xfrm>
          <a:custGeom>
            <a:avLst/>
            <a:gdLst>
              <a:gd name="T0" fmla="*/ 16 w 31"/>
              <a:gd name="T1" fmla="*/ 35 h 35"/>
              <a:gd name="T2" fmla="*/ 31 w 31"/>
              <a:gd name="T3" fmla="*/ 28 h 35"/>
              <a:gd name="T4" fmla="*/ 16 w 31"/>
              <a:gd name="T5" fmla="*/ 0 h 35"/>
              <a:gd name="T6" fmla="*/ 0 w 31"/>
              <a:gd name="T7" fmla="*/ 14 h 35"/>
              <a:gd name="T8" fmla="*/ 16 w 31"/>
              <a:gd name="T9" fmla="*/ 35 h 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35"/>
              <a:gd name="T17" fmla="*/ 31 w 31"/>
              <a:gd name="T18" fmla="*/ 35 h 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35">
                <a:moveTo>
                  <a:pt x="16" y="35"/>
                </a:moveTo>
                <a:lnTo>
                  <a:pt x="31" y="28"/>
                </a:lnTo>
                <a:lnTo>
                  <a:pt x="16" y="0"/>
                </a:lnTo>
                <a:lnTo>
                  <a:pt x="0" y="14"/>
                </a:lnTo>
                <a:lnTo>
                  <a:pt x="16" y="35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14"/>
          <p:cNvSpPr>
            <a:spLocks/>
          </p:cNvSpPr>
          <p:nvPr/>
        </p:nvSpPr>
        <p:spPr bwMode="auto">
          <a:xfrm>
            <a:off x="5213350" y="6461125"/>
            <a:ext cx="47625" cy="44450"/>
          </a:xfrm>
          <a:custGeom>
            <a:avLst/>
            <a:gdLst>
              <a:gd name="T0" fmla="*/ 30 w 30"/>
              <a:gd name="T1" fmla="*/ 21 h 28"/>
              <a:gd name="T2" fmla="*/ 23 w 30"/>
              <a:gd name="T3" fmla="*/ 28 h 28"/>
              <a:gd name="T4" fmla="*/ 0 w 30"/>
              <a:gd name="T5" fmla="*/ 7 h 28"/>
              <a:gd name="T6" fmla="*/ 15 w 30"/>
              <a:gd name="T7" fmla="*/ 0 h 28"/>
              <a:gd name="T8" fmla="*/ 30 w 30"/>
              <a:gd name="T9" fmla="*/ 21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28"/>
              <a:gd name="T17" fmla="*/ 30 w 30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28">
                <a:moveTo>
                  <a:pt x="30" y="21"/>
                </a:moveTo>
                <a:lnTo>
                  <a:pt x="23" y="28"/>
                </a:lnTo>
                <a:lnTo>
                  <a:pt x="0" y="7"/>
                </a:lnTo>
                <a:lnTo>
                  <a:pt x="15" y="0"/>
                </a:lnTo>
                <a:lnTo>
                  <a:pt x="30" y="21"/>
                </a:lnTo>
                <a:close/>
              </a:path>
            </a:pathLst>
          </a:custGeom>
          <a:solidFill>
            <a:srgbClr val="00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5224462" y="4749800"/>
            <a:ext cx="49213" cy="222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5224462" y="6472238"/>
            <a:ext cx="49213" cy="22225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19"/>
          <p:cNvSpPr>
            <a:spLocks noChangeArrowheads="1"/>
          </p:cNvSpPr>
          <p:nvPr/>
        </p:nvSpPr>
        <p:spPr bwMode="auto">
          <a:xfrm>
            <a:off x="5224462" y="4749800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20"/>
          <p:cNvSpPr>
            <a:spLocks noChangeArrowheads="1"/>
          </p:cNvSpPr>
          <p:nvPr/>
        </p:nvSpPr>
        <p:spPr bwMode="auto">
          <a:xfrm>
            <a:off x="7675562" y="4749800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22"/>
          <p:cNvSpPr>
            <a:spLocks noChangeArrowheads="1"/>
          </p:cNvSpPr>
          <p:nvPr/>
        </p:nvSpPr>
        <p:spPr bwMode="auto">
          <a:xfrm>
            <a:off x="5224462" y="6450013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23"/>
          <p:cNvSpPr>
            <a:spLocks noChangeArrowheads="1"/>
          </p:cNvSpPr>
          <p:nvPr/>
        </p:nvSpPr>
        <p:spPr bwMode="auto">
          <a:xfrm>
            <a:off x="7675562" y="6450013"/>
            <a:ext cx="25400" cy="4445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25"/>
          <p:cNvSpPr>
            <a:spLocks noChangeArrowheads="1"/>
          </p:cNvSpPr>
          <p:nvPr/>
        </p:nvSpPr>
        <p:spPr bwMode="auto">
          <a:xfrm>
            <a:off x="5029200" y="4572000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26"/>
          <p:cNvSpPr>
            <a:spLocks noChangeArrowheads="1"/>
          </p:cNvSpPr>
          <p:nvPr/>
        </p:nvSpPr>
        <p:spPr bwMode="auto">
          <a:xfrm>
            <a:off x="5033962" y="4578350"/>
            <a:ext cx="430213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27"/>
          <p:cNvSpPr>
            <a:spLocks noChangeArrowheads="1"/>
          </p:cNvSpPr>
          <p:nvPr/>
        </p:nvSpPr>
        <p:spPr bwMode="auto">
          <a:xfrm>
            <a:off x="7456487" y="6272213"/>
            <a:ext cx="439738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28"/>
          <p:cNvSpPr>
            <a:spLocks noChangeArrowheads="1"/>
          </p:cNvSpPr>
          <p:nvPr/>
        </p:nvSpPr>
        <p:spPr bwMode="auto">
          <a:xfrm>
            <a:off x="7461250" y="6278563"/>
            <a:ext cx="430212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29"/>
          <p:cNvSpPr>
            <a:spLocks noChangeArrowheads="1"/>
          </p:cNvSpPr>
          <p:nvPr/>
        </p:nvSpPr>
        <p:spPr bwMode="auto">
          <a:xfrm>
            <a:off x="6242050" y="5472113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30"/>
          <p:cNvSpPr>
            <a:spLocks noChangeArrowheads="1"/>
          </p:cNvSpPr>
          <p:nvPr/>
        </p:nvSpPr>
        <p:spPr bwMode="auto">
          <a:xfrm>
            <a:off x="6246812" y="5478463"/>
            <a:ext cx="431800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31"/>
          <p:cNvSpPr>
            <a:spLocks noChangeArrowheads="1"/>
          </p:cNvSpPr>
          <p:nvPr/>
        </p:nvSpPr>
        <p:spPr bwMode="auto">
          <a:xfrm>
            <a:off x="7456487" y="4572000"/>
            <a:ext cx="439738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32"/>
          <p:cNvSpPr>
            <a:spLocks noChangeArrowheads="1"/>
          </p:cNvSpPr>
          <p:nvPr/>
        </p:nvSpPr>
        <p:spPr bwMode="auto">
          <a:xfrm>
            <a:off x="7461250" y="4578350"/>
            <a:ext cx="430212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33"/>
          <p:cNvSpPr>
            <a:spLocks noChangeArrowheads="1"/>
          </p:cNvSpPr>
          <p:nvPr/>
        </p:nvSpPr>
        <p:spPr bwMode="auto">
          <a:xfrm>
            <a:off x="5029200" y="6272213"/>
            <a:ext cx="441325" cy="400050"/>
          </a:xfrm>
          <a:prstGeom prst="ellipse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34"/>
          <p:cNvSpPr>
            <a:spLocks noChangeArrowheads="1"/>
          </p:cNvSpPr>
          <p:nvPr/>
        </p:nvSpPr>
        <p:spPr bwMode="auto">
          <a:xfrm>
            <a:off x="5033962" y="6278563"/>
            <a:ext cx="430213" cy="387350"/>
          </a:xfrm>
          <a:prstGeom prst="ellipse">
            <a:avLst/>
          </a:prstGeom>
          <a:noFill/>
          <a:ln w="36513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35"/>
          <p:cNvSpPr>
            <a:spLocks noChangeArrowheads="1"/>
          </p:cNvSpPr>
          <p:nvPr/>
        </p:nvSpPr>
        <p:spPr bwMode="auto">
          <a:xfrm>
            <a:off x="5164137" y="4605338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a</a:t>
            </a:r>
            <a:endParaRPr lang="en-US" altLang="en-US">
              <a:latin typeface="Times" charset="0"/>
            </a:endParaRPr>
          </a:p>
        </p:txBody>
      </p:sp>
      <p:sp>
        <p:nvSpPr>
          <p:cNvPr id="75" name="Rectangle 36"/>
          <p:cNvSpPr>
            <a:spLocks noChangeArrowheads="1"/>
          </p:cNvSpPr>
          <p:nvPr/>
        </p:nvSpPr>
        <p:spPr bwMode="auto">
          <a:xfrm>
            <a:off x="7602537" y="4616450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b</a:t>
            </a:r>
            <a:endParaRPr lang="en-US" altLang="en-US">
              <a:latin typeface="Times" charset="0"/>
            </a:endParaRPr>
          </a:p>
        </p:txBody>
      </p:sp>
      <p:sp>
        <p:nvSpPr>
          <p:cNvPr id="76" name="Rectangle 37"/>
          <p:cNvSpPr>
            <a:spLocks noChangeArrowheads="1"/>
          </p:cNvSpPr>
          <p:nvPr/>
        </p:nvSpPr>
        <p:spPr bwMode="auto">
          <a:xfrm>
            <a:off x="6389687" y="5516563"/>
            <a:ext cx="1333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c</a:t>
            </a:r>
            <a:endParaRPr lang="en-US" altLang="en-US">
              <a:latin typeface="Times" charset="0"/>
            </a:endParaRPr>
          </a:p>
        </p:txBody>
      </p:sp>
      <p:sp>
        <p:nvSpPr>
          <p:cNvPr id="77" name="Rectangle 38"/>
          <p:cNvSpPr>
            <a:spLocks noChangeArrowheads="1"/>
          </p:cNvSpPr>
          <p:nvPr/>
        </p:nvSpPr>
        <p:spPr bwMode="auto">
          <a:xfrm>
            <a:off x="5164137" y="6350000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d</a:t>
            </a:r>
            <a:endParaRPr lang="en-US" altLang="en-US">
              <a:latin typeface="Times" charset="0"/>
            </a:endParaRPr>
          </a:p>
        </p:txBody>
      </p:sp>
      <p:sp>
        <p:nvSpPr>
          <p:cNvPr id="78" name="Rectangle 39"/>
          <p:cNvSpPr>
            <a:spLocks noChangeArrowheads="1"/>
          </p:cNvSpPr>
          <p:nvPr/>
        </p:nvSpPr>
        <p:spPr bwMode="auto">
          <a:xfrm>
            <a:off x="7602537" y="6327775"/>
            <a:ext cx="147638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>
                <a:solidFill>
                  <a:srgbClr val="000000"/>
                </a:solidFill>
                <a:latin typeface="Arial" charset="0"/>
              </a:rPr>
              <a:t>e</a:t>
            </a:r>
            <a:endParaRPr lang="en-US" altLang="en-US">
              <a:latin typeface="Times" charset="0"/>
            </a:endParaRPr>
          </a:p>
        </p:txBody>
      </p:sp>
      <p:sp>
        <p:nvSpPr>
          <p:cNvPr id="79" name="Rectangle 40"/>
          <p:cNvSpPr>
            <a:spLocks noChangeArrowheads="1"/>
          </p:cNvSpPr>
          <p:nvPr/>
        </p:nvSpPr>
        <p:spPr bwMode="auto">
          <a:xfrm>
            <a:off x="7967662" y="5338763"/>
            <a:ext cx="58189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en-US" altLang="en-US" sz="2100" dirty="0" err="1">
                <a:solidFill>
                  <a:srgbClr val="000000"/>
                </a:solidFill>
                <a:latin typeface="Arial" charset="0"/>
              </a:rPr>
              <a:t>adca</a:t>
            </a:r>
            <a:endParaRPr lang="en-US" altLang="en-US" dirty="0">
              <a:latin typeface="Times" charset="0"/>
            </a:endParaRPr>
          </a:p>
        </p:txBody>
      </p:sp>
      <p:cxnSp>
        <p:nvCxnSpPr>
          <p:cNvPr id="81" name="Straight Arrow Connector 80"/>
          <p:cNvCxnSpPr>
            <a:stCxn id="65" idx="6"/>
            <a:endCxn id="70" idx="2"/>
          </p:cNvCxnSpPr>
          <p:nvPr/>
        </p:nvCxnSpPr>
        <p:spPr>
          <a:xfrm>
            <a:off x="5464175" y="4772025"/>
            <a:ext cx="199231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74" idx="2"/>
            <a:endCxn id="73" idx="0"/>
          </p:cNvCxnSpPr>
          <p:nvPr/>
        </p:nvCxnSpPr>
        <p:spPr>
          <a:xfrm>
            <a:off x="5237956" y="4926013"/>
            <a:ext cx="11113" cy="13525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stCxn id="73" idx="7"/>
            <a:endCxn id="68" idx="3"/>
          </p:cNvCxnSpPr>
          <p:nvPr/>
        </p:nvCxnSpPr>
        <p:spPr>
          <a:xfrm flipV="1">
            <a:off x="5401172" y="5813577"/>
            <a:ext cx="905509" cy="5217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69" idx="1"/>
          </p:cNvCxnSpPr>
          <p:nvPr/>
        </p:nvCxnSpPr>
        <p:spPr>
          <a:xfrm flipH="1" flipV="1">
            <a:off x="5497512" y="4919663"/>
            <a:ext cx="812536" cy="61552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73" idx="5"/>
            <a:endCxn id="67" idx="3"/>
          </p:cNvCxnSpPr>
          <p:nvPr/>
        </p:nvCxnSpPr>
        <p:spPr>
          <a:xfrm>
            <a:off x="5401172" y="6609187"/>
            <a:ext cx="212308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67" idx="0"/>
            <a:endCxn id="75" idx="2"/>
          </p:cNvCxnSpPr>
          <p:nvPr/>
        </p:nvCxnSpPr>
        <p:spPr>
          <a:xfrm flipV="1">
            <a:off x="7676356" y="4937125"/>
            <a:ext cx="0" cy="134143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595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Representation of Graphs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1"/>
            <a:ext cx="8229600" cy="4876800"/>
          </a:xfrm>
        </p:spPr>
        <p:txBody>
          <a:bodyPr/>
          <a:lstStyle/>
          <a:p>
            <a:r>
              <a:rPr lang="en-US" sz="2400" dirty="0">
                <a:solidFill>
                  <a:srgbClr val="CC3300"/>
                </a:solidFill>
              </a:rPr>
              <a:t>Two standard ways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Adjacency Lists.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400" dirty="0"/>
              <a:t>Adjacency Matrix</a:t>
            </a:r>
            <a:r>
              <a:rPr lang="en-US" dirty="0"/>
              <a:t>.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749550" y="2470150"/>
            <a:ext cx="5708650" cy="1644650"/>
            <a:chOff x="336" y="2880"/>
            <a:chExt cx="3596" cy="1036"/>
          </a:xfrm>
        </p:grpSpPr>
        <p:sp>
          <p:nvSpPr>
            <p:cNvPr id="7191" name="Oval 5"/>
            <p:cNvSpPr>
              <a:spLocks noChangeArrowheads="1"/>
            </p:cNvSpPr>
            <p:nvPr/>
          </p:nvSpPr>
          <p:spPr bwMode="auto">
            <a:xfrm>
              <a:off x="33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7192" name="Oval 6"/>
            <p:cNvSpPr>
              <a:spLocks noChangeArrowheads="1"/>
            </p:cNvSpPr>
            <p:nvPr/>
          </p:nvSpPr>
          <p:spPr bwMode="auto">
            <a:xfrm>
              <a:off x="81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7193" name="Oval 7"/>
            <p:cNvSpPr>
              <a:spLocks noChangeArrowheads="1"/>
            </p:cNvSpPr>
            <p:nvPr/>
          </p:nvSpPr>
          <p:spPr bwMode="auto">
            <a:xfrm>
              <a:off x="336" y="3456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7194" name="Oval 8"/>
            <p:cNvSpPr>
              <a:spLocks noChangeArrowheads="1"/>
            </p:cNvSpPr>
            <p:nvPr/>
          </p:nvSpPr>
          <p:spPr bwMode="auto">
            <a:xfrm>
              <a:off x="816" y="2880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7195" name="AutoShape 9"/>
            <p:cNvCxnSpPr>
              <a:cxnSpLocks noChangeShapeType="1"/>
              <a:stCxn id="7191" idx="6"/>
              <a:endCxn id="7194" idx="2"/>
            </p:cNvCxnSpPr>
            <p:nvPr/>
          </p:nvCxnSpPr>
          <p:spPr bwMode="auto">
            <a:xfrm>
              <a:off x="528" y="2976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96" name="AutoShape 10"/>
            <p:cNvCxnSpPr>
              <a:cxnSpLocks noChangeShapeType="1"/>
              <a:stCxn id="7194" idx="4"/>
              <a:endCxn id="7193" idx="7"/>
            </p:cNvCxnSpPr>
            <p:nvPr/>
          </p:nvCxnSpPr>
          <p:spPr bwMode="auto">
            <a:xfrm flipH="1">
              <a:off x="500" y="3072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97" name="AutoShape 11"/>
            <p:cNvCxnSpPr>
              <a:cxnSpLocks noChangeShapeType="1"/>
              <a:stCxn id="7191" idx="4"/>
              <a:endCxn id="7193" idx="0"/>
            </p:cNvCxnSpPr>
            <p:nvPr/>
          </p:nvCxnSpPr>
          <p:spPr bwMode="auto">
            <a:xfrm>
              <a:off x="432" y="3072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98" name="AutoShape 12"/>
            <p:cNvCxnSpPr>
              <a:cxnSpLocks noChangeShapeType="1"/>
              <a:stCxn id="7191" idx="5"/>
              <a:endCxn id="7192" idx="1"/>
            </p:cNvCxnSpPr>
            <p:nvPr/>
          </p:nvCxnSpPr>
          <p:spPr bwMode="auto">
            <a:xfrm>
              <a:off x="500" y="3044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sp>
          <p:nvSpPr>
            <p:cNvPr id="7199" name="Text Box 13"/>
            <p:cNvSpPr txBox="1">
              <a:spLocks noChangeArrowheads="1"/>
            </p:cNvSpPr>
            <p:nvPr/>
          </p:nvSpPr>
          <p:spPr bwMode="auto">
            <a:xfrm>
              <a:off x="1728" y="2880"/>
              <a:ext cx="204" cy="1026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u="none"/>
                <a:t> </a:t>
              </a:r>
            </a:p>
            <a:p>
              <a:endParaRPr lang="en-US" sz="2000" u="none"/>
            </a:p>
            <a:p>
              <a:endParaRPr lang="en-US" sz="2000" u="none"/>
            </a:p>
            <a:p>
              <a:r>
                <a:rPr lang="en-US" sz="2000" u="none"/>
                <a:t>  </a:t>
              </a:r>
            </a:p>
            <a:p>
              <a:endParaRPr lang="en-US" sz="2000" u="none"/>
            </a:p>
          </p:txBody>
        </p:sp>
        <p:sp>
          <p:nvSpPr>
            <p:cNvPr id="7200" name="Text Box 14"/>
            <p:cNvSpPr txBox="1">
              <a:spLocks noChangeArrowheads="1"/>
            </p:cNvSpPr>
            <p:nvPr/>
          </p:nvSpPr>
          <p:spPr bwMode="auto">
            <a:xfrm>
              <a:off x="1526" y="2889"/>
              <a:ext cx="196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b="1" u="none"/>
                <a:t>a</a:t>
              </a:r>
            </a:p>
          </p:txBody>
        </p:sp>
        <p:sp>
          <p:nvSpPr>
            <p:cNvPr id="7201" name="Text Box 15"/>
            <p:cNvSpPr txBox="1">
              <a:spLocks noChangeArrowheads="1"/>
            </p:cNvSpPr>
            <p:nvPr/>
          </p:nvSpPr>
          <p:spPr bwMode="auto">
            <a:xfrm>
              <a:off x="1536" y="3168"/>
              <a:ext cx="205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b="1" u="none"/>
                <a:t>b</a:t>
              </a:r>
            </a:p>
          </p:txBody>
        </p:sp>
        <p:sp>
          <p:nvSpPr>
            <p:cNvPr id="7202" name="Text Box 16"/>
            <p:cNvSpPr txBox="1">
              <a:spLocks noChangeArrowheads="1"/>
            </p:cNvSpPr>
            <p:nvPr/>
          </p:nvSpPr>
          <p:spPr bwMode="auto">
            <a:xfrm>
              <a:off x="1536" y="3408"/>
              <a:ext cx="187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b="1" u="none"/>
                <a:t>c</a:t>
              </a:r>
            </a:p>
          </p:txBody>
        </p:sp>
        <p:sp>
          <p:nvSpPr>
            <p:cNvPr id="7203" name="Text Box 17"/>
            <p:cNvSpPr txBox="1">
              <a:spLocks noChangeArrowheads="1"/>
            </p:cNvSpPr>
            <p:nvPr/>
          </p:nvSpPr>
          <p:spPr bwMode="auto">
            <a:xfrm>
              <a:off x="1536" y="3648"/>
              <a:ext cx="205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b="1" u="none"/>
                <a:t>d</a:t>
              </a:r>
            </a:p>
          </p:txBody>
        </p:sp>
        <p:sp>
          <p:nvSpPr>
            <p:cNvPr id="7204" name="Line 18"/>
            <p:cNvSpPr>
              <a:spLocks noChangeShapeType="1"/>
            </p:cNvSpPr>
            <p:nvPr/>
          </p:nvSpPr>
          <p:spPr bwMode="auto">
            <a:xfrm>
              <a:off x="1728" y="316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5" name="Line 19"/>
            <p:cNvSpPr>
              <a:spLocks noChangeShapeType="1"/>
            </p:cNvSpPr>
            <p:nvPr/>
          </p:nvSpPr>
          <p:spPr bwMode="auto">
            <a:xfrm>
              <a:off x="1728" y="340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6" name="Line 20"/>
            <p:cNvSpPr>
              <a:spLocks noChangeShapeType="1"/>
            </p:cNvSpPr>
            <p:nvPr/>
          </p:nvSpPr>
          <p:spPr bwMode="auto">
            <a:xfrm>
              <a:off x="1728" y="3648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7" name="Text Box 21"/>
            <p:cNvSpPr txBox="1">
              <a:spLocks noChangeArrowheads="1"/>
            </p:cNvSpPr>
            <p:nvPr/>
          </p:nvSpPr>
          <p:spPr bwMode="auto">
            <a:xfrm>
              <a:off x="2064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7208" name="Text Box 22"/>
            <p:cNvSpPr txBox="1">
              <a:spLocks noChangeArrowheads="1"/>
            </p:cNvSpPr>
            <p:nvPr/>
          </p:nvSpPr>
          <p:spPr bwMode="auto">
            <a:xfrm>
              <a:off x="2064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7209" name="Text Box 23"/>
            <p:cNvSpPr txBox="1">
              <a:spLocks noChangeArrowheads="1"/>
            </p:cNvSpPr>
            <p:nvPr/>
          </p:nvSpPr>
          <p:spPr bwMode="auto">
            <a:xfrm>
              <a:off x="2064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cxnSp>
          <p:nvCxnSpPr>
            <p:cNvPr id="7210" name="AutoShape 24"/>
            <p:cNvCxnSpPr>
              <a:cxnSpLocks noChangeShapeType="1"/>
              <a:stCxn id="7193" idx="6"/>
              <a:endCxn id="7192" idx="2"/>
            </p:cNvCxnSpPr>
            <p:nvPr/>
          </p:nvCxnSpPr>
          <p:spPr bwMode="auto">
            <a:xfrm>
              <a:off x="528" y="3552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sp>
          <p:nvSpPr>
            <p:cNvPr id="7211" name="Line 25"/>
            <p:cNvSpPr>
              <a:spLocks noChangeShapeType="1"/>
            </p:cNvSpPr>
            <p:nvPr/>
          </p:nvSpPr>
          <p:spPr bwMode="auto">
            <a:xfrm>
              <a:off x="2304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Line 26"/>
            <p:cNvSpPr>
              <a:spLocks noChangeShapeType="1"/>
            </p:cNvSpPr>
            <p:nvPr/>
          </p:nvSpPr>
          <p:spPr bwMode="auto">
            <a:xfrm>
              <a:off x="2304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3" name="Line 27"/>
            <p:cNvSpPr>
              <a:spLocks noChangeShapeType="1"/>
            </p:cNvSpPr>
            <p:nvPr/>
          </p:nvSpPr>
          <p:spPr bwMode="auto">
            <a:xfrm>
              <a:off x="2304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Text Box 28"/>
            <p:cNvSpPr txBox="1">
              <a:spLocks noChangeArrowheads="1"/>
            </p:cNvSpPr>
            <p:nvPr/>
          </p:nvSpPr>
          <p:spPr bwMode="auto">
            <a:xfrm>
              <a:off x="2736" y="2880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d</a:t>
              </a:r>
              <a:r>
                <a:rPr lang="en-US" sz="1600"/>
                <a:t>         </a:t>
              </a:r>
            </a:p>
          </p:txBody>
        </p:sp>
        <p:sp>
          <p:nvSpPr>
            <p:cNvPr id="7215" name="Line 29"/>
            <p:cNvSpPr>
              <a:spLocks noChangeShapeType="1"/>
            </p:cNvSpPr>
            <p:nvPr/>
          </p:nvSpPr>
          <p:spPr bwMode="auto">
            <a:xfrm>
              <a:off x="297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6" name="Text Box 30"/>
            <p:cNvSpPr txBox="1">
              <a:spLocks noChangeArrowheads="1"/>
            </p:cNvSpPr>
            <p:nvPr/>
          </p:nvSpPr>
          <p:spPr bwMode="auto">
            <a:xfrm>
              <a:off x="3456" y="2880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7217" name="Line 31"/>
            <p:cNvSpPr>
              <a:spLocks noChangeShapeType="1"/>
            </p:cNvSpPr>
            <p:nvPr/>
          </p:nvSpPr>
          <p:spPr bwMode="auto">
            <a:xfrm>
              <a:off x="3696" y="288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8" name="Line 32"/>
            <p:cNvSpPr>
              <a:spLocks noChangeShapeType="1"/>
            </p:cNvSpPr>
            <p:nvPr/>
          </p:nvSpPr>
          <p:spPr bwMode="auto">
            <a:xfrm>
              <a:off x="1872" y="297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9" name="Line 33"/>
            <p:cNvSpPr>
              <a:spLocks noChangeShapeType="1"/>
            </p:cNvSpPr>
            <p:nvPr/>
          </p:nvSpPr>
          <p:spPr bwMode="auto">
            <a:xfrm>
              <a:off x="2448" y="297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0" name="Line 34"/>
            <p:cNvSpPr>
              <a:spLocks noChangeShapeType="1"/>
            </p:cNvSpPr>
            <p:nvPr/>
          </p:nvSpPr>
          <p:spPr bwMode="auto">
            <a:xfrm>
              <a:off x="3120" y="2976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1" name="Line 35"/>
            <p:cNvSpPr>
              <a:spLocks noChangeShapeType="1"/>
            </p:cNvSpPr>
            <p:nvPr/>
          </p:nvSpPr>
          <p:spPr bwMode="auto">
            <a:xfrm flipH="1">
              <a:off x="3744" y="2928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2" name="Line 36"/>
            <p:cNvSpPr>
              <a:spLocks noChangeShapeType="1"/>
            </p:cNvSpPr>
            <p:nvPr/>
          </p:nvSpPr>
          <p:spPr bwMode="auto">
            <a:xfrm>
              <a:off x="1872" y="326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3" name="Line 37"/>
            <p:cNvSpPr>
              <a:spLocks noChangeShapeType="1"/>
            </p:cNvSpPr>
            <p:nvPr/>
          </p:nvSpPr>
          <p:spPr bwMode="auto">
            <a:xfrm>
              <a:off x="1872" y="350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4" name="Text Box 38"/>
            <p:cNvSpPr txBox="1">
              <a:spLocks noChangeArrowheads="1"/>
            </p:cNvSpPr>
            <p:nvPr/>
          </p:nvSpPr>
          <p:spPr bwMode="auto">
            <a:xfrm>
              <a:off x="2736" y="3144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7225" name="Line 39"/>
            <p:cNvSpPr>
              <a:spLocks noChangeShapeType="1"/>
            </p:cNvSpPr>
            <p:nvPr/>
          </p:nvSpPr>
          <p:spPr bwMode="auto">
            <a:xfrm>
              <a:off x="2976" y="316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6" name="Text Box 40"/>
            <p:cNvSpPr txBox="1">
              <a:spLocks noChangeArrowheads="1"/>
            </p:cNvSpPr>
            <p:nvPr/>
          </p:nvSpPr>
          <p:spPr bwMode="auto">
            <a:xfrm>
              <a:off x="2760" y="3408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7227" name="Line 41"/>
            <p:cNvSpPr>
              <a:spLocks noChangeShapeType="1"/>
            </p:cNvSpPr>
            <p:nvPr/>
          </p:nvSpPr>
          <p:spPr bwMode="auto">
            <a:xfrm>
              <a:off x="297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Text Box 42"/>
            <p:cNvSpPr txBox="1">
              <a:spLocks noChangeArrowheads="1"/>
            </p:cNvSpPr>
            <p:nvPr/>
          </p:nvSpPr>
          <p:spPr bwMode="auto">
            <a:xfrm>
              <a:off x="3456" y="3408"/>
              <a:ext cx="476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b</a:t>
              </a:r>
              <a:r>
                <a:rPr lang="en-US" sz="1600"/>
                <a:t>         </a:t>
              </a:r>
            </a:p>
          </p:txBody>
        </p:sp>
        <p:sp>
          <p:nvSpPr>
            <p:cNvPr id="7229" name="Line 43"/>
            <p:cNvSpPr>
              <a:spLocks noChangeShapeType="1"/>
            </p:cNvSpPr>
            <p:nvPr/>
          </p:nvSpPr>
          <p:spPr bwMode="auto">
            <a:xfrm>
              <a:off x="3696" y="340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0" name="Text Box 44"/>
            <p:cNvSpPr txBox="1">
              <a:spLocks noChangeArrowheads="1"/>
            </p:cNvSpPr>
            <p:nvPr/>
          </p:nvSpPr>
          <p:spPr bwMode="auto">
            <a:xfrm>
              <a:off x="2064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a</a:t>
              </a:r>
              <a:r>
                <a:rPr lang="en-US" sz="1600"/>
                <a:t>         </a:t>
              </a:r>
            </a:p>
          </p:txBody>
        </p:sp>
        <p:sp>
          <p:nvSpPr>
            <p:cNvPr id="7231" name="Line 45"/>
            <p:cNvSpPr>
              <a:spLocks noChangeShapeType="1"/>
            </p:cNvSpPr>
            <p:nvPr/>
          </p:nvSpPr>
          <p:spPr bwMode="auto">
            <a:xfrm>
              <a:off x="2304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2" name="Text Box 46"/>
            <p:cNvSpPr txBox="1">
              <a:spLocks noChangeArrowheads="1"/>
            </p:cNvSpPr>
            <p:nvPr/>
          </p:nvSpPr>
          <p:spPr bwMode="auto">
            <a:xfrm>
              <a:off x="2760" y="3696"/>
              <a:ext cx="469" cy="22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600" u="none"/>
                <a:t>c</a:t>
              </a:r>
              <a:r>
                <a:rPr lang="en-US" sz="1600"/>
                <a:t>         </a:t>
              </a:r>
            </a:p>
          </p:txBody>
        </p:sp>
        <p:sp>
          <p:nvSpPr>
            <p:cNvPr id="7233" name="Line 47"/>
            <p:cNvSpPr>
              <a:spLocks noChangeShapeType="1"/>
            </p:cNvSpPr>
            <p:nvPr/>
          </p:nvSpPr>
          <p:spPr bwMode="auto">
            <a:xfrm>
              <a:off x="2976" y="369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4" name="Line 48"/>
            <p:cNvSpPr>
              <a:spLocks noChangeShapeType="1"/>
            </p:cNvSpPr>
            <p:nvPr/>
          </p:nvSpPr>
          <p:spPr bwMode="auto">
            <a:xfrm>
              <a:off x="2448" y="326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5" name="Line 49"/>
            <p:cNvSpPr>
              <a:spLocks noChangeShapeType="1"/>
            </p:cNvSpPr>
            <p:nvPr/>
          </p:nvSpPr>
          <p:spPr bwMode="auto">
            <a:xfrm>
              <a:off x="3120" y="3504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6" name="Line 50"/>
            <p:cNvSpPr>
              <a:spLocks noChangeShapeType="1"/>
            </p:cNvSpPr>
            <p:nvPr/>
          </p:nvSpPr>
          <p:spPr bwMode="auto">
            <a:xfrm>
              <a:off x="2448" y="3504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Line 51"/>
            <p:cNvSpPr>
              <a:spLocks noChangeShapeType="1"/>
            </p:cNvSpPr>
            <p:nvPr/>
          </p:nvSpPr>
          <p:spPr bwMode="auto">
            <a:xfrm>
              <a:off x="2448" y="3792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8" name="Line 52"/>
            <p:cNvSpPr>
              <a:spLocks noChangeShapeType="1"/>
            </p:cNvSpPr>
            <p:nvPr/>
          </p:nvSpPr>
          <p:spPr bwMode="auto">
            <a:xfrm flipH="1">
              <a:off x="3024" y="3168"/>
              <a:ext cx="14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9" name="Line 53"/>
            <p:cNvSpPr>
              <a:spLocks noChangeShapeType="1"/>
            </p:cNvSpPr>
            <p:nvPr/>
          </p:nvSpPr>
          <p:spPr bwMode="auto">
            <a:xfrm flipH="1">
              <a:off x="3072" y="3744"/>
              <a:ext cx="96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40" name="Line 54"/>
            <p:cNvSpPr>
              <a:spLocks noChangeShapeType="1"/>
            </p:cNvSpPr>
            <p:nvPr/>
          </p:nvSpPr>
          <p:spPr bwMode="auto">
            <a:xfrm>
              <a:off x="1872" y="3792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55"/>
          <p:cNvGrpSpPr>
            <a:grpSpLocks/>
          </p:cNvGrpSpPr>
          <p:nvPr/>
        </p:nvGrpSpPr>
        <p:grpSpPr bwMode="auto">
          <a:xfrm>
            <a:off x="2819400" y="4860925"/>
            <a:ext cx="3444875" cy="1692275"/>
            <a:chOff x="240" y="2928"/>
            <a:chExt cx="2170" cy="1066"/>
          </a:xfrm>
        </p:grpSpPr>
        <p:sp>
          <p:nvSpPr>
            <p:cNvPr id="7175" name="Oval 56"/>
            <p:cNvSpPr>
              <a:spLocks noChangeArrowheads="1"/>
            </p:cNvSpPr>
            <p:nvPr/>
          </p:nvSpPr>
          <p:spPr bwMode="auto">
            <a:xfrm>
              <a:off x="33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a</a:t>
              </a:r>
            </a:p>
          </p:txBody>
        </p:sp>
        <p:sp>
          <p:nvSpPr>
            <p:cNvPr id="7176" name="Oval 57"/>
            <p:cNvSpPr>
              <a:spLocks noChangeArrowheads="1"/>
            </p:cNvSpPr>
            <p:nvPr/>
          </p:nvSpPr>
          <p:spPr bwMode="auto">
            <a:xfrm>
              <a:off x="81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d</a:t>
              </a:r>
            </a:p>
          </p:txBody>
        </p:sp>
        <p:sp>
          <p:nvSpPr>
            <p:cNvPr id="7177" name="Oval 58"/>
            <p:cNvSpPr>
              <a:spLocks noChangeArrowheads="1"/>
            </p:cNvSpPr>
            <p:nvPr/>
          </p:nvSpPr>
          <p:spPr bwMode="auto">
            <a:xfrm>
              <a:off x="336" y="3648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c</a:t>
              </a:r>
            </a:p>
          </p:txBody>
        </p:sp>
        <p:sp>
          <p:nvSpPr>
            <p:cNvPr id="7178" name="Oval 59"/>
            <p:cNvSpPr>
              <a:spLocks noChangeArrowheads="1"/>
            </p:cNvSpPr>
            <p:nvPr/>
          </p:nvSpPr>
          <p:spPr bwMode="auto">
            <a:xfrm>
              <a:off x="816" y="3072"/>
              <a:ext cx="192" cy="192"/>
            </a:xfrm>
            <a:prstGeom prst="ellipse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2000" b="1" u="none"/>
                <a:t>b</a:t>
              </a:r>
            </a:p>
          </p:txBody>
        </p:sp>
        <p:cxnSp>
          <p:nvCxnSpPr>
            <p:cNvPr id="7179" name="AutoShape 60"/>
            <p:cNvCxnSpPr>
              <a:cxnSpLocks noChangeShapeType="1"/>
              <a:stCxn id="7175" idx="6"/>
              <a:endCxn id="7178" idx="2"/>
            </p:cNvCxnSpPr>
            <p:nvPr/>
          </p:nvCxnSpPr>
          <p:spPr bwMode="auto">
            <a:xfrm>
              <a:off x="528" y="3168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80" name="AutoShape 61"/>
            <p:cNvCxnSpPr>
              <a:cxnSpLocks noChangeShapeType="1"/>
              <a:stCxn id="7178" idx="4"/>
              <a:endCxn id="7177" idx="7"/>
            </p:cNvCxnSpPr>
            <p:nvPr/>
          </p:nvCxnSpPr>
          <p:spPr bwMode="auto">
            <a:xfrm flipH="1">
              <a:off x="500" y="3264"/>
              <a:ext cx="412" cy="41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81" name="AutoShape 62"/>
            <p:cNvCxnSpPr>
              <a:cxnSpLocks noChangeShapeType="1"/>
              <a:stCxn id="7175" idx="4"/>
              <a:endCxn id="7177" idx="0"/>
            </p:cNvCxnSpPr>
            <p:nvPr/>
          </p:nvCxnSpPr>
          <p:spPr bwMode="auto">
            <a:xfrm>
              <a:off x="432" y="3264"/>
              <a:ext cx="0" cy="38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82" name="AutoShape 63"/>
            <p:cNvCxnSpPr>
              <a:cxnSpLocks noChangeShapeType="1"/>
              <a:stCxn id="7175" idx="5"/>
              <a:endCxn id="7176" idx="1"/>
            </p:cNvCxnSpPr>
            <p:nvPr/>
          </p:nvCxnSpPr>
          <p:spPr bwMode="auto">
            <a:xfrm>
              <a:off x="500" y="3236"/>
              <a:ext cx="344" cy="44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cxnSp>
          <p:nvCxnSpPr>
            <p:cNvPr id="7183" name="AutoShape 64"/>
            <p:cNvCxnSpPr>
              <a:cxnSpLocks noChangeShapeType="1"/>
              <a:stCxn id="7177" idx="6"/>
              <a:endCxn id="7176" idx="2"/>
            </p:cNvCxnSpPr>
            <p:nvPr/>
          </p:nvCxnSpPr>
          <p:spPr bwMode="auto">
            <a:xfrm>
              <a:off x="528" y="3744"/>
              <a:ext cx="288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</p:spPr>
        </p:cxnSp>
        <p:sp>
          <p:nvSpPr>
            <p:cNvPr id="7184" name="Text Box 65"/>
            <p:cNvSpPr txBox="1">
              <a:spLocks noChangeArrowheads="1"/>
            </p:cNvSpPr>
            <p:nvPr/>
          </p:nvSpPr>
          <p:spPr bwMode="auto">
            <a:xfrm>
              <a:off x="240" y="2928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800" u="none"/>
                <a:t>1</a:t>
              </a:r>
            </a:p>
          </p:txBody>
        </p:sp>
        <p:sp>
          <p:nvSpPr>
            <p:cNvPr id="7185" name="Text Box 66"/>
            <p:cNvSpPr txBox="1">
              <a:spLocks noChangeArrowheads="1"/>
            </p:cNvSpPr>
            <p:nvPr/>
          </p:nvSpPr>
          <p:spPr bwMode="auto">
            <a:xfrm>
              <a:off x="960" y="2928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800" u="none"/>
                <a:t>2</a:t>
              </a:r>
            </a:p>
          </p:txBody>
        </p:sp>
        <p:sp>
          <p:nvSpPr>
            <p:cNvPr id="7186" name="Text Box 67"/>
            <p:cNvSpPr txBox="1">
              <a:spLocks noChangeArrowheads="1"/>
            </p:cNvSpPr>
            <p:nvPr/>
          </p:nvSpPr>
          <p:spPr bwMode="auto">
            <a:xfrm>
              <a:off x="240" y="3744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800" u="none"/>
                <a:t>3</a:t>
              </a:r>
            </a:p>
          </p:txBody>
        </p:sp>
        <p:sp>
          <p:nvSpPr>
            <p:cNvPr id="7187" name="Text Box 68"/>
            <p:cNvSpPr txBox="1">
              <a:spLocks noChangeArrowheads="1"/>
            </p:cNvSpPr>
            <p:nvPr/>
          </p:nvSpPr>
          <p:spPr bwMode="auto">
            <a:xfrm>
              <a:off x="960" y="3744"/>
              <a:ext cx="18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1800" u="none"/>
                <a:t>4</a:t>
              </a:r>
            </a:p>
          </p:txBody>
        </p:sp>
        <p:sp>
          <p:nvSpPr>
            <p:cNvPr id="7188" name="Text Box 69"/>
            <p:cNvSpPr txBox="1">
              <a:spLocks noChangeArrowheads="1"/>
            </p:cNvSpPr>
            <p:nvPr/>
          </p:nvSpPr>
          <p:spPr bwMode="auto">
            <a:xfrm>
              <a:off x="1440" y="2976"/>
              <a:ext cx="956" cy="101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sz="2000" u="none"/>
                <a:t>    1   2   3   4</a:t>
              </a:r>
            </a:p>
            <a:p>
              <a:r>
                <a:rPr lang="en-US" sz="2000" u="none"/>
                <a:t>1  0   1   1   1</a:t>
              </a:r>
            </a:p>
            <a:p>
              <a:r>
                <a:rPr lang="en-US" sz="2000" u="none"/>
                <a:t>2  1   0   1   0</a:t>
              </a:r>
            </a:p>
            <a:p>
              <a:r>
                <a:rPr lang="en-US" sz="2000" u="none"/>
                <a:t>3  1   1   0   1</a:t>
              </a:r>
            </a:p>
            <a:p>
              <a:r>
                <a:rPr lang="en-US" sz="2000" u="none"/>
                <a:t>4  1   0   1   0</a:t>
              </a:r>
            </a:p>
          </p:txBody>
        </p:sp>
        <p:sp>
          <p:nvSpPr>
            <p:cNvPr id="7189" name="Line 70"/>
            <p:cNvSpPr>
              <a:spLocks noChangeShapeType="1"/>
            </p:cNvSpPr>
            <p:nvPr/>
          </p:nvSpPr>
          <p:spPr bwMode="auto">
            <a:xfrm>
              <a:off x="1498" y="3207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0" name="Line 71"/>
            <p:cNvSpPr>
              <a:spLocks noChangeShapeType="1"/>
            </p:cNvSpPr>
            <p:nvPr/>
          </p:nvSpPr>
          <p:spPr bwMode="auto">
            <a:xfrm>
              <a:off x="1594" y="3063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Graph representation – undirected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/>
          </a:p>
        </p:txBody>
      </p:sp>
      <p:sp>
        <p:nvSpPr>
          <p:cNvPr id="6150" name="Text Box 9"/>
          <p:cNvSpPr txBox="1">
            <a:spLocks noChangeArrowheads="1"/>
          </p:cNvSpPr>
          <p:nvPr/>
        </p:nvSpPr>
        <p:spPr bwMode="auto">
          <a:xfrm>
            <a:off x="762000" y="49530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graph</a:t>
            </a:r>
          </a:p>
        </p:txBody>
      </p:sp>
      <p:sp>
        <p:nvSpPr>
          <p:cNvPr id="6151" name="Text Box 10"/>
          <p:cNvSpPr txBox="1">
            <a:spLocks noChangeArrowheads="1"/>
          </p:cNvSpPr>
          <p:nvPr/>
        </p:nvSpPr>
        <p:spPr bwMode="auto">
          <a:xfrm>
            <a:off x="3581400" y="49530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Adjacency list</a:t>
            </a:r>
          </a:p>
        </p:txBody>
      </p:sp>
      <p:sp>
        <p:nvSpPr>
          <p:cNvPr id="6152" name="Text Box 11"/>
          <p:cNvSpPr txBox="1">
            <a:spLocks noChangeArrowheads="1"/>
          </p:cNvSpPr>
          <p:nvPr/>
        </p:nvSpPr>
        <p:spPr bwMode="auto">
          <a:xfrm>
            <a:off x="6248400" y="49530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Adjacency matrix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743200"/>
            <a:ext cx="15811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213" y="2857500"/>
            <a:ext cx="3457575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2781300"/>
            <a:ext cx="1562100" cy="186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/>
      <p:bldP spid="615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/>
            <a:r>
              <a:rPr lang="en-US"/>
              <a:t>Graph representation – directed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36675"/>
            <a:ext cx="8229600" cy="48355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/>
          </a:p>
        </p:txBody>
      </p:sp>
      <p:sp>
        <p:nvSpPr>
          <p:cNvPr id="7174" name="Text Box 8"/>
          <p:cNvSpPr txBox="1">
            <a:spLocks noChangeArrowheads="1"/>
          </p:cNvSpPr>
          <p:nvPr/>
        </p:nvSpPr>
        <p:spPr bwMode="auto">
          <a:xfrm>
            <a:off x="762000" y="4953000"/>
            <a:ext cx="1905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graph</a:t>
            </a:r>
          </a:p>
        </p:txBody>
      </p:sp>
      <p:sp>
        <p:nvSpPr>
          <p:cNvPr id="7175" name="Text Box 9"/>
          <p:cNvSpPr txBox="1">
            <a:spLocks noChangeArrowheads="1"/>
          </p:cNvSpPr>
          <p:nvPr/>
        </p:nvSpPr>
        <p:spPr bwMode="auto">
          <a:xfrm>
            <a:off x="3581400" y="4953000"/>
            <a:ext cx="1981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Adjacency list</a:t>
            </a:r>
          </a:p>
        </p:txBody>
      </p:sp>
      <p:sp>
        <p:nvSpPr>
          <p:cNvPr id="7176" name="Text Box 10"/>
          <p:cNvSpPr txBox="1">
            <a:spLocks noChangeArrowheads="1"/>
          </p:cNvSpPr>
          <p:nvPr/>
        </p:nvSpPr>
        <p:spPr bwMode="auto">
          <a:xfrm>
            <a:off x="6248400" y="49530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Adjacency matrix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667000"/>
            <a:ext cx="20955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0" y="2514600"/>
            <a:ext cx="22098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2590800"/>
            <a:ext cx="184785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  <p:bldP spid="71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8229600" cy="762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900" b="1" dirty="0">
                <a:solidFill>
                  <a:srgbClr val="FFC000"/>
                </a:solidFill>
              </a:rPr>
              <a:t>Connected Graph-</a:t>
            </a:r>
            <a:r>
              <a:rPr lang="en-US" sz="4900" b="1" dirty="0" err="1">
                <a:solidFill>
                  <a:srgbClr val="FFC000"/>
                </a:solidFill>
              </a:rPr>
              <a:t>Undirected</a:t>
            </a:r>
            <a:r>
              <a:rPr lang="en-US" sz="3600" b="1" dirty="0" err="1">
                <a:solidFill>
                  <a:schemeClr val="tx1"/>
                </a:solidFill>
              </a:rPr>
              <a:t>tivity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9916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An undirected graph is said to be </a:t>
            </a:r>
            <a:r>
              <a:rPr lang="en-US" sz="2800" i="1" dirty="0"/>
              <a:t>connected</a:t>
            </a:r>
            <a:r>
              <a:rPr lang="en-US" sz="2800" dirty="0"/>
              <a:t> if there is a path between every pair of nodes. Otherwise, the graph is </a:t>
            </a:r>
            <a:r>
              <a:rPr lang="en-US" sz="2800" i="1" dirty="0"/>
              <a:t>disconnected.</a:t>
            </a:r>
          </a:p>
          <a:p>
            <a:pPr>
              <a:lnSpc>
                <a:spcPct val="90000"/>
              </a:lnSpc>
              <a:buNone/>
            </a:pPr>
            <a:r>
              <a:rPr lang="en-US" sz="2800" dirty="0"/>
              <a:t> </a:t>
            </a:r>
            <a:endParaRPr lang="en-US" sz="2800" i="1" dirty="0"/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Informally, an undirected graph is connected if it hangs in one piece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66800" y="4495800"/>
            <a:ext cx="2819400" cy="1600200"/>
            <a:chOff x="1104" y="2400"/>
            <a:chExt cx="2448" cy="1200"/>
          </a:xfrm>
        </p:grpSpPr>
        <p:sp>
          <p:nvSpPr>
            <p:cNvPr id="24600" name="Oval 5"/>
            <p:cNvSpPr>
              <a:spLocks noChangeArrowheads="1"/>
            </p:cNvSpPr>
            <p:nvPr/>
          </p:nvSpPr>
          <p:spPr bwMode="auto">
            <a:xfrm>
              <a:off x="1104" y="288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1" name="Oval 6"/>
            <p:cNvSpPr>
              <a:spLocks noChangeArrowheads="1"/>
            </p:cNvSpPr>
            <p:nvPr/>
          </p:nvSpPr>
          <p:spPr bwMode="auto">
            <a:xfrm>
              <a:off x="1728" y="240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2" name="Oval 7"/>
            <p:cNvSpPr>
              <a:spLocks noChangeArrowheads="1"/>
            </p:cNvSpPr>
            <p:nvPr/>
          </p:nvSpPr>
          <p:spPr bwMode="auto">
            <a:xfrm>
              <a:off x="1776" y="3504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3" name="Oval 8"/>
            <p:cNvSpPr>
              <a:spLocks noChangeArrowheads="1"/>
            </p:cNvSpPr>
            <p:nvPr/>
          </p:nvSpPr>
          <p:spPr bwMode="auto">
            <a:xfrm>
              <a:off x="2880" y="3504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4" name="Oval 9"/>
            <p:cNvSpPr>
              <a:spLocks noChangeArrowheads="1"/>
            </p:cNvSpPr>
            <p:nvPr/>
          </p:nvSpPr>
          <p:spPr bwMode="auto">
            <a:xfrm>
              <a:off x="3408" y="2832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5" name="Oval 10"/>
            <p:cNvSpPr>
              <a:spLocks noChangeArrowheads="1"/>
            </p:cNvSpPr>
            <p:nvPr/>
          </p:nvSpPr>
          <p:spPr bwMode="auto">
            <a:xfrm>
              <a:off x="2736" y="2400"/>
              <a:ext cx="144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06" name="Line 11"/>
            <p:cNvSpPr>
              <a:spLocks noChangeShapeType="1"/>
            </p:cNvSpPr>
            <p:nvPr/>
          </p:nvSpPr>
          <p:spPr bwMode="auto">
            <a:xfrm>
              <a:off x="1824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Line 12"/>
            <p:cNvSpPr>
              <a:spLocks noChangeShapeType="1"/>
            </p:cNvSpPr>
            <p:nvPr/>
          </p:nvSpPr>
          <p:spPr bwMode="auto">
            <a:xfrm>
              <a:off x="1200" y="2928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Line 13"/>
            <p:cNvSpPr>
              <a:spLocks noChangeShapeType="1"/>
            </p:cNvSpPr>
            <p:nvPr/>
          </p:nvSpPr>
          <p:spPr bwMode="auto">
            <a:xfrm flipV="1">
              <a:off x="1200" y="2448"/>
              <a:ext cx="57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Line 14"/>
            <p:cNvSpPr>
              <a:spLocks noChangeShapeType="1"/>
            </p:cNvSpPr>
            <p:nvPr/>
          </p:nvSpPr>
          <p:spPr bwMode="auto">
            <a:xfrm>
              <a:off x="2832" y="2448"/>
              <a:ext cx="62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Line 15"/>
            <p:cNvSpPr>
              <a:spLocks noChangeShapeType="1"/>
            </p:cNvSpPr>
            <p:nvPr/>
          </p:nvSpPr>
          <p:spPr bwMode="auto">
            <a:xfrm>
              <a:off x="1872" y="355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Line 16"/>
            <p:cNvSpPr>
              <a:spLocks noChangeShapeType="1"/>
            </p:cNvSpPr>
            <p:nvPr/>
          </p:nvSpPr>
          <p:spPr bwMode="auto">
            <a:xfrm flipV="1">
              <a:off x="1248" y="2448"/>
              <a:ext cx="15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Line 17"/>
            <p:cNvSpPr>
              <a:spLocks noChangeShapeType="1"/>
            </p:cNvSpPr>
            <p:nvPr/>
          </p:nvSpPr>
          <p:spPr bwMode="auto">
            <a:xfrm>
              <a:off x="1824" y="2448"/>
              <a:ext cx="158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583" name="Oval 18"/>
          <p:cNvSpPr>
            <a:spLocks noChangeArrowheads="1"/>
          </p:cNvSpPr>
          <p:nvPr/>
        </p:nvSpPr>
        <p:spPr bwMode="auto">
          <a:xfrm>
            <a:off x="5257800" y="5059363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Oval 19"/>
          <p:cNvSpPr>
            <a:spLocks noChangeArrowheads="1"/>
          </p:cNvSpPr>
          <p:nvPr/>
        </p:nvSpPr>
        <p:spPr bwMode="auto">
          <a:xfrm>
            <a:off x="5976938" y="44196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Oval 20"/>
          <p:cNvSpPr>
            <a:spLocks noChangeArrowheads="1"/>
          </p:cNvSpPr>
          <p:nvPr/>
        </p:nvSpPr>
        <p:spPr bwMode="auto">
          <a:xfrm>
            <a:off x="6032500" y="5891213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6" name="Oval 21"/>
          <p:cNvSpPr>
            <a:spLocks noChangeArrowheads="1"/>
          </p:cNvSpPr>
          <p:nvPr/>
        </p:nvSpPr>
        <p:spPr bwMode="auto">
          <a:xfrm>
            <a:off x="7302500" y="5891213"/>
            <a:ext cx="166688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7" name="Oval 22"/>
          <p:cNvSpPr>
            <a:spLocks noChangeArrowheads="1"/>
          </p:cNvSpPr>
          <p:nvPr/>
        </p:nvSpPr>
        <p:spPr bwMode="auto">
          <a:xfrm>
            <a:off x="7912100" y="4995863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8" name="Oval 23"/>
          <p:cNvSpPr>
            <a:spLocks noChangeArrowheads="1"/>
          </p:cNvSpPr>
          <p:nvPr/>
        </p:nvSpPr>
        <p:spPr bwMode="auto">
          <a:xfrm>
            <a:off x="7137400" y="44196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Line 24"/>
          <p:cNvSpPr>
            <a:spLocks noChangeShapeType="1"/>
          </p:cNvSpPr>
          <p:nvPr/>
        </p:nvSpPr>
        <p:spPr bwMode="auto">
          <a:xfrm>
            <a:off x="6086475" y="4483100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0" name="Line 25"/>
          <p:cNvSpPr>
            <a:spLocks noChangeShapeType="1"/>
          </p:cNvSpPr>
          <p:nvPr/>
        </p:nvSpPr>
        <p:spPr bwMode="auto">
          <a:xfrm>
            <a:off x="5368925" y="5124450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1" name="Line 26"/>
          <p:cNvSpPr>
            <a:spLocks noChangeShapeType="1"/>
          </p:cNvSpPr>
          <p:nvPr/>
        </p:nvSpPr>
        <p:spPr bwMode="auto">
          <a:xfrm flipV="1">
            <a:off x="5368925" y="4483100"/>
            <a:ext cx="663575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2" name="Line 27"/>
          <p:cNvSpPr>
            <a:spLocks noChangeShapeType="1"/>
          </p:cNvSpPr>
          <p:nvPr/>
        </p:nvSpPr>
        <p:spPr bwMode="auto">
          <a:xfrm>
            <a:off x="7248525" y="4483100"/>
            <a:ext cx="717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3" name="Line 28"/>
          <p:cNvSpPr>
            <a:spLocks noChangeShapeType="1"/>
          </p:cNvSpPr>
          <p:nvPr/>
        </p:nvSpPr>
        <p:spPr bwMode="auto">
          <a:xfrm>
            <a:off x="6142038" y="5956300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4" name="Line 29"/>
          <p:cNvSpPr>
            <a:spLocks noChangeShapeType="1"/>
          </p:cNvSpPr>
          <p:nvPr/>
        </p:nvSpPr>
        <p:spPr bwMode="auto">
          <a:xfrm flipV="1">
            <a:off x="5422900" y="4483100"/>
            <a:ext cx="1770063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5" name="Line 30"/>
          <p:cNvSpPr>
            <a:spLocks noChangeShapeType="1"/>
          </p:cNvSpPr>
          <p:nvPr/>
        </p:nvSpPr>
        <p:spPr bwMode="auto">
          <a:xfrm>
            <a:off x="6086475" y="4483100"/>
            <a:ext cx="18256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6" name="Line 31"/>
          <p:cNvSpPr>
            <a:spLocks noChangeShapeType="1"/>
          </p:cNvSpPr>
          <p:nvPr/>
        </p:nvSpPr>
        <p:spPr bwMode="auto">
          <a:xfrm flipH="1" flipV="1">
            <a:off x="5334000" y="51816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7" name="Line 32"/>
          <p:cNvSpPr>
            <a:spLocks noChangeShapeType="1"/>
          </p:cNvSpPr>
          <p:nvPr/>
        </p:nvSpPr>
        <p:spPr bwMode="auto">
          <a:xfrm>
            <a:off x="4495800" y="4343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98" name="Text Box 33"/>
          <p:cNvSpPr txBox="1">
            <a:spLocks noChangeArrowheads="1"/>
          </p:cNvSpPr>
          <p:nvPr/>
        </p:nvSpPr>
        <p:spPr bwMode="auto">
          <a:xfrm>
            <a:off x="1766888" y="6248400"/>
            <a:ext cx="1841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Disconnected</a:t>
            </a:r>
          </a:p>
        </p:txBody>
      </p:sp>
      <p:sp>
        <p:nvSpPr>
          <p:cNvPr id="24599" name="Text Box 34"/>
          <p:cNvSpPr txBox="1">
            <a:spLocks noChangeArrowheads="1"/>
          </p:cNvSpPr>
          <p:nvPr/>
        </p:nvSpPr>
        <p:spPr bwMode="auto">
          <a:xfrm>
            <a:off x="5980113" y="6172200"/>
            <a:ext cx="1485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Connected</a:t>
            </a:r>
          </a:p>
        </p:txBody>
      </p:sp>
    </p:spTree>
    <p:extLst>
      <p:ext uri="{BB962C8B-B14F-4D97-AF65-F5344CB8AC3E}">
        <p14:creationId xmlns:p14="http://schemas.microsoft.com/office/powerpoint/2010/main" val="1161737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 graph with the adjacency matrix.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895600"/>
            <a:ext cx="2231766" cy="122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886200"/>
            <a:ext cx="1799100" cy="165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293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a graph of the following adjacency matrix.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581400"/>
          <a:ext cx="27432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0" y="3048000"/>
            <a:ext cx="3886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9144000" cy="125272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Hamiltonian Path and Hamiltonian Cycle( Circuit)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660" y="1828800"/>
            <a:ext cx="8593540" cy="249450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 </a:t>
            </a:r>
            <a:r>
              <a:rPr lang="en-US" b="1" dirty="0">
                <a:solidFill>
                  <a:srgbClr val="FF0000"/>
                </a:solidFill>
              </a:rPr>
              <a:t>Hamiltonian path</a:t>
            </a:r>
            <a:r>
              <a:rPr lang="en-US" dirty="0"/>
              <a:t> (or </a:t>
            </a:r>
            <a:r>
              <a:rPr lang="en-US" b="1" dirty="0"/>
              <a:t>traceable path</a:t>
            </a:r>
            <a:r>
              <a:rPr lang="en-US" dirty="0"/>
              <a:t>) is a </a:t>
            </a:r>
            <a:r>
              <a:rPr lang="en-US" u="sng" dirty="0">
                <a:hlinkClick r:id="rId2" tooltip="Path (graph theory)"/>
              </a:rPr>
              <a:t>path</a:t>
            </a:r>
            <a:r>
              <a:rPr lang="en-US" dirty="0"/>
              <a:t> in an undirected or directed graph that visits each </a:t>
            </a:r>
            <a:r>
              <a:rPr lang="en-US" dirty="0">
                <a:hlinkClick r:id="rId3" tooltip="Vertex (graph theory)"/>
              </a:rPr>
              <a:t>vertex</a:t>
            </a:r>
            <a:r>
              <a:rPr lang="en-US" dirty="0"/>
              <a:t> exactly once.</a:t>
            </a:r>
          </a:p>
          <a:p>
            <a:r>
              <a:rPr lang="en-US" dirty="0"/>
              <a:t>A </a:t>
            </a:r>
            <a:r>
              <a:rPr lang="en-US" b="1" dirty="0">
                <a:solidFill>
                  <a:srgbClr val="FF0000"/>
                </a:solidFill>
              </a:rPr>
              <a:t>Hamiltonian cycle</a:t>
            </a:r>
            <a:r>
              <a:rPr lang="en-US" dirty="0"/>
              <a:t> (or </a:t>
            </a:r>
            <a:r>
              <a:rPr lang="en-US" b="1" dirty="0">
                <a:solidFill>
                  <a:srgbClr val="FF0000"/>
                </a:solidFill>
              </a:rPr>
              <a:t>Hamiltonian circuit</a:t>
            </a:r>
            <a:r>
              <a:rPr lang="en-US" dirty="0"/>
              <a:t>) is a </a:t>
            </a:r>
            <a:r>
              <a:rPr lang="en-US" i="1" dirty="0"/>
              <a:t>graph cycle</a:t>
            </a:r>
            <a:r>
              <a:rPr lang="en-US" dirty="0"/>
              <a:t>  (i.e., closed loop) that visits each vertex exactly once (except for the vertex that is both the start and end, which is visited twice). </a:t>
            </a:r>
          </a:p>
          <a:p>
            <a:r>
              <a:rPr lang="en-US" dirty="0"/>
              <a:t>A graph that contains a Hamiltonian cycle is called a </a:t>
            </a:r>
            <a:r>
              <a:rPr lang="en-US" b="1" dirty="0">
                <a:solidFill>
                  <a:srgbClr val="FF0000"/>
                </a:solidFill>
              </a:rPr>
              <a:t>Hamiltonian graph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/>
          <a:srcRect l="57031" t="18750" r="5469" b="13542"/>
          <a:stretch/>
        </p:blipFill>
        <p:spPr>
          <a:xfrm>
            <a:off x="1369752" y="3942299"/>
            <a:ext cx="2819400" cy="24585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24567" y="6381884"/>
            <a:ext cx="39157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Hamilton circuit is A,F, B, C, G, D, E, A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 cstate="print"/>
          <a:srcRect l="57031" t="18750" r="5469" b="13542"/>
          <a:stretch/>
        </p:blipFill>
        <p:spPr>
          <a:xfrm>
            <a:off x="6173957" y="3919193"/>
            <a:ext cx="2819400" cy="245850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33400" y="6377694"/>
            <a:ext cx="39157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Hamilton Path is A,F, B, C, G, D, E 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905000" y="4191000"/>
            <a:ext cx="874452" cy="4797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2779452" y="5715000"/>
            <a:ext cx="801948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779452" y="4191000"/>
            <a:ext cx="801948" cy="430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905000" y="5654661"/>
            <a:ext cx="801948" cy="430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81400" y="4657117"/>
            <a:ext cx="0" cy="10578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1905000" y="5160337"/>
            <a:ext cx="829954" cy="4943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6723844" y="4180024"/>
            <a:ext cx="874452" cy="4797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750098" y="5652119"/>
            <a:ext cx="801948" cy="430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6762157" y="4701605"/>
            <a:ext cx="801948" cy="430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580052" y="5715000"/>
            <a:ext cx="801948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580052" y="4191000"/>
            <a:ext cx="801948" cy="430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6767062" y="5091492"/>
            <a:ext cx="829954" cy="4943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8382000" y="4657117"/>
            <a:ext cx="0" cy="10578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38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C000"/>
                </a:solidFill>
              </a:rPr>
              <a:t>Euler Path and Hamiltonian Cycle( Circuit)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26373"/>
            <a:ext cx="8229600" cy="4625609"/>
          </a:xfrm>
        </p:spPr>
        <p:txBody>
          <a:bodyPr>
            <a:normAutofit/>
          </a:bodyPr>
          <a:lstStyle/>
          <a:p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Euler path </a:t>
            </a:r>
            <a:r>
              <a:rPr lang="en-US" sz="2400" dirty="0"/>
              <a:t>is a path that uses </a:t>
            </a:r>
            <a:r>
              <a:rPr lang="en-US" sz="2400" dirty="0">
                <a:solidFill>
                  <a:srgbClr val="FF0000"/>
                </a:solidFill>
              </a:rPr>
              <a:t>every edge </a:t>
            </a:r>
            <a:r>
              <a:rPr lang="en-US" sz="2400" dirty="0"/>
              <a:t>of a graph </a:t>
            </a:r>
            <a:r>
              <a:rPr lang="en-US" sz="2400" dirty="0">
                <a:solidFill>
                  <a:srgbClr val="FF0000"/>
                </a:solidFill>
              </a:rPr>
              <a:t>exactly once.</a:t>
            </a:r>
          </a:p>
          <a:p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Euler circuit </a:t>
            </a:r>
            <a:r>
              <a:rPr lang="en-US" sz="2400" dirty="0"/>
              <a:t>is a circuit that </a:t>
            </a:r>
            <a:r>
              <a:rPr lang="en-US" sz="2400" dirty="0">
                <a:solidFill>
                  <a:srgbClr val="FF0000"/>
                </a:solidFill>
              </a:rPr>
              <a:t>uses every edge</a:t>
            </a:r>
            <a:r>
              <a:rPr lang="en-US" sz="2400" dirty="0"/>
              <a:t> of a graph </a:t>
            </a:r>
            <a:r>
              <a:rPr lang="en-US" sz="2400" dirty="0">
                <a:solidFill>
                  <a:srgbClr val="FF0000"/>
                </a:solidFill>
              </a:rPr>
              <a:t>exactly once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Euler path </a:t>
            </a:r>
            <a:r>
              <a:rPr lang="en-US" sz="2400" dirty="0">
                <a:solidFill>
                  <a:srgbClr val="00B0F0"/>
                </a:solidFill>
              </a:rPr>
              <a:t>starts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B0F0"/>
                </a:solidFill>
              </a:rPr>
              <a:t>ends</a:t>
            </a:r>
            <a:r>
              <a:rPr lang="en-US" sz="2400" dirty="0"/>
              <a:t> at </a:t>
            </a:r>
            <a:r>
              <a:rPr lang="en-US" sz="2400" dirty="0">
                <a:solidFill>
                  <a:srgbClr val="00B0F0"/>
                </a:solidFill>
              </a:rPr>
              <a:t>different vertices.</a:t>
            </a:r>
          </a:p>
          <a:p>
            <a:pPr lvl="1"/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Euler circuit </a:t>
            </a:r>
            <a:r>
              <a:rPr lang="en-US" sz="2400" dirty="0">
                <a:solidFill>
                  <a:srgbClr val="00B0F0"/>
                </a:solidFill>
              </a:rPr>
              <a:t>starts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00B0F0"/>
                </a:solidFill>
              </a:rPr>
              <a:t>ends</a:t>
            </a:r>
            <a:r>
              <a:rPr lang="en-US" sz="2400" dirty="0"/>
              <a:t> at the </a:t>
            </a:r>
            <a:r>
              <a:rPr lang="en-US" sz="2400" dirty="0">
                <a:solidFill>
                  <a:srgbClr val="00B0F0"/>
                </a:solidFill>
              </a:rPr>
              <a:t>same </a:t>
            </a:r>
            <a:r>
              <a:rPr lang="en-US" dirty="0">
                <a:solidFill>
                  <a:srgbClr val="00B0F0"/>
                </a:solidFill>
              </a:rPr>
              <a:t>vertex.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l="28125" t="19792" r="28125" b="48958"/>
          <a:stretch/>
        </p:blipFill>
        <p:spPr>
          <a:xfrm>
            <a:off x="609600" y="4267200"/>
            <a:ext cx="4114800" cy="22043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/>
          <a:srcRect l="51991" t="36459" r="28125" b="36384"/>
          <a:stretch/>
        </p:blipFill>
        <p:spPr>
          <a:xfrm>
            <a:off x="6248400" y="4109357"/>
            <a:ext cx="1990299" cy="19866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/>
          <a:srcRect l="42187" t="64583" r="37500" b="31250"/>
          <a:stretch/>
        </p:blipFill>
        <p:spPr>
          <a:xfrm>
            <a:off x="6296167" y="6166757"/>
            <a:ext cx="19812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4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90600" y="2286000"/>
            <a:ext cx="7315200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Eulerian</a:t>
            </a:r>
            <a:r>
              <a:rPr lang="en-US" sz="3600" b="1" dirty="0">
                <a:solidFill>
                  <a:srgbClr val="FF0000"/>
                </a:solidFill>
              </a:rPr>
              <a:t> circuit </a:t>
            </a:r>
            <a:r>
              <a:rPr lang="en-US" sz="3600" dirty="0">
                <a:solidFill>
                  <a:srgbClr val="0000FF"/>
                </a:solidFill>
              </a:rPr>
              <a:t>traverses </a:t>
            </a:r>
            <a:r>
              <a:rPr lang="en-US" sz="3600" dirty="0">
                <a:solidFill>
                  <a:srgbClr val="FF0000"/>
                </a:solidFill>
              </a:rPr>
              <a:t>every edge exactly once</a:t>
            </a:r>
            <a:r>
              <a:rPr lang="en-US" sz="3600" dirty="0"/>
              <a:t>, but may repeat vertices, while a </a:t>
            </a:r>
            <a:r>
              <a:rPr lang="en-US" sz="3600" b="1" dirty="0">
                <a:solidFill>
                  <a:srgbClr val="FF0000"/>
                </a:solidFill>
              </a:rPr>
              <a:t>Hamiltonian</a:t>
            </a:r>
            <a:r>
              <a:rPr lang="en-US" sz="3600" dirty="0">
                <a:solidFill>
                  <a:srgbClr val="0000FF"/>
                </a:solidFill>
              </a:rPr>
              <a:t> circuit visits each vertex exactly once but may repeat edges</a:t>
            </a:r>
            <a:r>
              <a:rPr lang="en-US" sz="3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88335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zh-TW" dirty="0"/>
              <a:t>Special graphs</a:t>
            </a:r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Tree: </a:t>
            </a:r>
            <a:r>
              <a:rPr lang="en-US" altLang="zh-TW" dirty="0"/>
              <a:t>either one of the followings is the definition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>
                <a:solidFill>
                  <a:srgbClr val="00B050"/>
                </a:solidFill>
              </a:rPr>
              <a:t>connected</a:t>
            </a:r>
            <a:r>
              <a:rPr lang="en-US" altLang="zh-TW" dirty="0"/>
              <a:t> graph with </a:t>
            </a:r>
            <a:r>
              <a:rPr lang="en-US" altLang="zh-TW" dirty="0">
                <a:solidFill>
                  <a:srgbClr val="00B050"/>
                </a:solidFill>
              </a:rPr>
              <a:t>|V|-1 edges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>
                <a:solidFill>
                  <a:srgbClr val="00B050"/>
                </a:solidFill>
              </a:rPr>
              <a:t>connected</a:t>
            </a:r>
            <a:r>
              <a:rPr lang="en-US" altLang="zh-TW" dirty="0"/>
              <a:t> graph </a:t>
            </a:r>
            <a:r>
              <a:rPr lang="en-US" altLang="zh-TW" dirty="0">
                <a:solidFill>
                  <a:srgbClr val="00B050"/>
                </a:solidFill>
              </a:rPr>
              <a:t>without cycles</a:t>
            </a:r>
          </a:p>
          <a:p>
            <a:pPr lvl="1"/>
            <a:r>
              <a:rPr lang="en-US" altLang="zh-TW" dirty="0"/>
              <a:t>A graph with exactly </a:t>
            </a:r>
            <a:r>
              <a:rPr lang="en-US" altLang="zh-TW" dirty="0">
                <a:solidFill>
                  <a:srgbClr val="00B050"/>
                </a:solidFill>
              </a:rPr>
              <a:t>one path </a:t>
            </a:r>
            <a:r>
              <a:rPr lang="en-US" altLang="zh-TW" dirty="0"/>
              <a:t>between every pair of vertices</a:t>
            </a:r>
          </a:p>
          <a:p>
            <a:pPr lvl="1"/>
            <a:endParaRPr lang="en-US" altLang="zh-TW" dirty="0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3203575" y="4648200"/>
            <a:ext cx="2735263" cy="2122488"/>
            <a:chOff x="3107" y="2546"/>
            <a:chExt cx="1723" cy="1337"/>
          </a:xfrm>
        </p:grpSpPr>
        <p:sp>
          <p:nvSpPr>
            <p:cNvPr id="14341" name="Oval 15"/>
            <p:cNvSpPr>
              <a:spLocks noChangeArrowheads="1"/>
            </p:cNvSpPr>
            <p:nvPr/>
          </p:nvSpPr>
          <p:spPr bwMode="auto">
            <a:xfrm>
              <a:off x="3223" y="2546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4342" name="Line 16"/>
            <p:cNvSpPr>
              <a:spLocks noChangeShapeType="1"/>
            </p:cNvSpPr>
            <p:nvPr/>
          </p:nvSpPr>
          <p:spPr bwMode="auto">
            <a:xfrm>
              <a:off x="3532" y="2739"/>
              <a:ext cx="695" cy="15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Oval 17"/>
            <p:cNvSpPr>
              <a:spLocks noChangeArrowheads="1"/>
            </p:cNvSpPr>
            <p:nvPr/>
          </p:nvSpPr>
          <p:spPr bwMode="auto">
            <a:xfrm>
              <a:off x="4212" y="275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4344" name="Oval 18"/>
            <p:cNvSpPr>
              <a:spLocks noChangeArrowheads="1"/>
            </p:cNvSpPr>
            <p:nvPr/>
          </p:nvSpPr>
          <p:spPr bwMode="auto">
            <a:xfrm>
              <a:off x="3633" y="357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4345" name="Oval 19"/>
            <p:cNvSpPr>
              <a:spLocks noChangeArrowheads="1"/>
            </p:cNvSpPr>
            <p:nvPr/>
          </p:nvSpPr>
          <p:spPr bwMode="auto">
            <a:xfrm>
              <a:off x="3107" y="3203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4346" name="Oval 20"/>
            <p:cNvSpPr>
              <a:spLocks noChangeArrowheads="1"/>
            </p:cNvSpPr>
            <p:nvPr/>
          </p:nvSpPr>
          <p:spPr bwMode="auto">
            <a:xfrm>
              <a:off x="4521" y="3234"/>
              <a:ext cx="309" cy="309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TW" altLang="en-US"/>
            </a:p>
          </p:txBody>
        </p:sp>
        <p:sp>
          <p:nvSpPr>
            <p:cNvPr id="14347" name="Line 22"/>
            <p:cNvSpPr>
              <a:spLocks noChangeShapeType="1"/>
            </p:cNvSpPr>
            <p:nvPr/>
          </p:nvSpPr>
          <p:spPr bwMode="auto">
            <a:xfrm>
              <a:off x="3400" y="3435"/>
              <a:ext cx="270" cy="1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Line 23"/>
            <p:cNvSpPr>
              <a:spLocks noChangeShapeType="1"/>
            </p:cNvSpPr>
            <p:nvPr/>
          </p:nvSpPr>
          <p:spPr bwMode="auto">
            <a:xfrm>
              <a:off x="3494" y="2816"/>
              <a:ext cx="1042" cy="5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Line 24"/>
            <p:cNvSpPr>
              <a:spLocks noChangeShapeType="1"/>
            </p:cNvSpPr>
            <p:nvPr/>
          </p:nvSpPr>
          <p:spPr bwMode="auto">
            <a:xfrm flipV="1">
              <a:off x="3409" y="2979"/>
              <a:ext cx="810" cy="3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55979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zh-TW" dirty="0"/>
              <a:t>Special graphs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Tree edges could be directed or undirected</a:t>
            </a:r>
          </a:p>
          <a:p>
            <a:r>
              <a:rPr lang="en-US" altLang="zh-TW" dirty="0"/>
              <a:t>For trees with directed edges, a </a:t>
            </a:r>
            <a:r>
              <a:rPr lang="en-US" altLang="zh-TW" dirty="0">
                <a:solidFill>
                  <a:srgbClr val="00B050"/>
                </a:solidFill>
              </a:rPr>
              <a:t>root</a:t>
            </a:r>
            <a:r>
              <a:rPr lang="en-US" altLang="zh-TW" dirty="0"/>
              <a:t> usually exists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4241800" y="3025775"/>
            <a:ext cx="490538" cy="490538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3492500" y="3860800"/>
            <a:ext cx="490538" cy="490538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4429125" y="3860800"/>
            <a:ext cx="490538" cy="490538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5437188" y="3860800"/>
            <a:ext cx="490537" cy="490538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2714625" y="4840288"/>
            <a:ext cx="490538" cy="490537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3506788" y="4840288"/>
            <a:ext cx="490537" cy="490537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4602163" y="4811713"/>
            <a:ext cx="490537" cy="490537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4067175" y="5949950"/>
            <a:ext cx="490538" cy="490538"/>
          </a:xfrm>
          <a:prstGeom prst="ellipse">
            <a:avLst/>
          </a:prstGeom>
          <a:solidFill>
            <a:schemeClr val="hlink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sp>
        <p:nvSpPr>
          <p:cNvPr id="15372" name="Line 12"/>
          <p:cNvSpPr>
            <a:spLocks noChangeShapeType="1"/>
          </p:cNvSpPr>
          <p:nvPr/>
        </p:nvSpPr>
        <p:spPr bwMode="auto">
          <a:xfrm flipH="1">
            <a:off x="3881438" y="3457575"/>
            <a:ext cx="431800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Line 13"/>
          <p:cNvSpPr>
            <a:spLocks noChangeShapeType="1"/>
          </p:cNvSpPr>
          <p:nvPr/>
        </p:nvSpPr>
        <p:spPr bwMode="auto">
          <a:xfrm>
            <a:off x="4572000" y="3500438"/>
            <a:ext cx="71438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Line 14"/>
          <p:cNvSpPr>
            <a:spLocks noChangeShapeType="1"/>
          </p:cNvSpPr>
          <p:nvPr/>
        </p:nvSpPr>
        <p:spPr bwMode="auto">
          <a:xfrm>
            <a:off x="4716463" y="3357563"/>
            <a:ext cx="863600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Line 15"/>
          <p:cNvSpPr>
            <a:spLocks noChangeShapeType="1"/>
          </p:cNvSpPr>
          <p:nvPr/>
        </p:nvSpPr>
        <p:spPr bwMode="auto">
          <a:xfrm flipH="1">
            <a:off x="3059113" y="4292600"/>
            <a:ext cx="576262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Line 16"/>
          <p:cNvSpPr>
            <a:spLocks noChangeShapeType="1"/>
          </p:cNvSpPr>
          <p:nvPr/>
        </p:nvSpPr>
        <p:spPr bwMode="auto">
          <a:xfrm>
            <a:off x="3779838" y="4365625"/>
            <a:ext cx="0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7" name="Line 17"/>
          <p:cNvSpPr>
            <a:spLocks noChangeShapeType="1"/>
          </p:cNvSpPr>
          <p:nvPr/>
        </p:nvSpPr>
        <p:spPr bwMode="auto">
          <a:xfrm>
            <a:off x="4716463" y="4365625"/>
            <a:ext cx="14287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Line 18"/>
          <p:cNvSpPr>
            <a:spLocks noChangeShapeType="1"/>
          </p:cNvSpPr>
          <p:nvPr/>
        </p:nvSpPr>
        <p:spPr bwMode="auto">
          <a:xfrm flipH="1">
            <a:off x="4427538" y="5300663"/>
            <a:ext cx="360362" cy="6492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006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Exercise 10.5</a:t>
            </a:r>
          </a:p>
          <a:p>
            <a:r>
              <a:rPr lang="en-US" dirty="0"/>
              <a:t>Q1</a:t>
            </a:r>
          </a:p>
          <a:p>
            <a:r>
              <a:rPr lang="en-US" dirty="0"/>
              <a:t>Q2</a:t>
            </a:r>
          </a:p>
          <a:p>
            <a:r>
              <a:rPr lang="en-US" dirty="0"/>
              <a:t>Q3</a:t>
            </a:r>
          </a:p>
          <a:p>
            <a:r>
              <a:rPr lang="en-US" dirty="0"/>
              <a:t>Q5</a:t>
            </a:r>
          </a:p>
          <a:p>
            <a:r>
              <a:rPr lang="en-US" dirty="0"/>
              <a:t>Q7</a:t>
            </a:r>
          </a:p>
          <a:p>
            <a:r>
              <a:rPr lang="en-US" dirty="0"/>
              <a:t>Q31</a:t>
            </a:r>
          </a:p>
          <a:p>
            <a:r>
              <a:rPr lang="en-US" dirty="0"/>
              <a:t>Q33</a:t>
            </a:r>
          </a:p>
          <a:p>
            <a:r>
              <a:rPr lang="en-US"/>
              <a:t>Q35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2877</TotalTime>
  <Words>1007</Words>
  <Application>Microsoft Office PowerPoint</Application>
  <PresentationFormat>On-screen Show (4:3)</PresentationFormat>
  <Paragraphs>253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PMingLiU</vt:lpstr>
      <vt:lpstr>Arial</vt:lpstr>
      <vt:lpstr>Corbel</vt:lpstr>
      <vt:lpstr>Georgia</vt:lpstr>
      <vt:lpstr>Symbol</vt:lpstr>
      <vt:lpstr>Times</vt:lpstr>
      <vt:lpstr>Wingdings</vt:lpstr>
      <vt:lpstr>Wingdings 2</vt:lpstr>
      <vt:lpstr>Wingdings 3</vt:lpstr>
      <vt:lpstr>Module</vt:lpstr>
      <vt:lpstr>Graphs</vt:lpstr>
      <vt:lpstr>A classical problem</vt:lpstr>
      <vt:lpstr>A classical problem</vt:lpstr>
      <vt:lpstr>What is a graph?</vt:lpstr>
      <vt:lpstr>What is a Graph?</vt:lpstr>
      <vt:lpstr>Why do we need graphs?</vt:lpstr>
      <vt:lpstr>Applications</vt:lpstr>
      <vt:lpstr>Various types of graphs</vt:lpstr>
      <vt:lpstr>   Degree of a Vertex </vt:lpstr>
      <vt:lpstr>PowerPoint Presentation</vt:lpstr>
      <vt:lpstr>Graph Terminology</vt:lpstr>
      <vt:lpstr>Graph Terminology</vt:lpstr>
      <vt:lpstr>Representation of Graphs</vt:lpstr>
      <vt:lpstr>Graph representation – undirected</vt:lpstr>
      <vt:lpstr>Graph representation – directed</vt:lpstr>
      <vt:lpstr>Connected Graph-Undirectedtivity</vt:lpstr>
      <vt:lpstr>PowerPoint Presentation</vt:lpstr>
      <vt:lpstr>PowerPoint Presentation</vt:lpstr>
      <vt:lpstr>Hamiltonian Path and Hamiltonian Cycle( Circuit)</vt:lpstr>
      <vt:lpstr>Euler Path and Hamiltonian Cycle( Circuit)</vt:lpstr>
      <vt:lpstr>PowerPoint Presentation</vt:lpstr>
      <vt:lpstr>Special graphs</vt:lpstr>
      <vt:lpstr>Special graphs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Representation, DFS and BFS</dc:title>
  <dc:creator>admin</dc:creator>
  <cp:lastModifiedBy>amna humayun</cp:lastModifiedBy>
  <cp:revision>133</cp:revision>
  <dcterms:created xsi:type="dcterms:W3CDTF">2012-08-02T04:24:06Z</dcterms:created>
  <dcterms:modified xsi:type="dcterms:W3CDTF">2024-12-31T17:52:03Z</dcterms:modified>
</cp:coreProperties>
</file>