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8" r:id="rId8"/>
    <p:sldId id="261" r:id="rId9"/>
    <p:sldId id="267" r:id="rId10"/>
    <p:sldId id="269" r:id="rId11"/>
    <p:sldId id="272" r:id="rId12"/>
    <p:sldId id="270" r:id="rId13"/>
    <p:sldId id="273" r:id="rId14"/>
    <p:sldId id="271" r:id="rId15"/>
    <p:sldId id="274" r:id="rId16"/>
    <p:sldId id="275" r:id="rId17"/>
    <p:sldId id="276" r:id="rId18"/>
    <p:sldId id="263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BCE06FF-7994-431C-9A70-C1A980E16D4C}" type="datetimeFigureOut">
              <a:rPr lang="en-US" smtClean="0"/>
              <a:pPr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56C5E56-3311-4F54-A672-E41E2C596A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Proofs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Terminologies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theorem is a statement that can be shown to be true. </a:t>
            </a:r>
          </a:p>
          <a:p>
            <a:r>
              <a:rPr lang="en-US" dirty="0"/>
              <a:t>In mathematical writing, the term theorem is usually reserved for </a:t>
            </a:r>
            <a:r>
              <a:rPr lang="en-US" dirty="0">
                <a:solidFill>
                  <a:srgbClr val="FF0000"/>
                </a:solidFill>
              </a:rPr>
              <a:t>a statement that is considered at least somewhat important</a:t>
            </a:r>
            <a:r>
              <a:rPr lang="en-US" dirty="0"/>
              <a:t>.</a:t>
            </a:r>
          </a:p>
          <a:p>
            <a:r>
              <a:rPr lang="en-US" dirty="0"/>
              <a:t>Less important theorems sometimes are called </a:t>
            </a:r>
            <a:r>
              <a:rPr lang="en-US" b="1" dirty="0">
                <a:solidFill>
                  <a:srgbClr val="FF0000"/>
                </a:solidFill>
              </a:rPr>
              <a:t>propositions.</a:t>
            </a:r>
            <a:r>
              <a:rPr lang="en-US" b="1" dirty="0"/>
              <a:t> </a:t>
            </a:r>
          </a:p>
          <a:p>
            <a:r>
              <a:rPr lang="en-US" b="1" dirty="0"/>
              <a:t>Theorems can also be referred to </a:t>
            </a:r>
            <a:r>
              <a:rPr lang="en-US" dirty="0"/>
              <a:t>as </a:t>
            </a:r>
            <a:r>
              <a:rPr lang="en-US" b="1" dirty="0">
                <a:solidFill>
                  <a:srgbClr val="FF0000"/>
                </a:solidFill>
              </a:rPr>
              <a:t>facts</a:t>
            </a:r>
            <a:r>
              <a:rPr lang="en-US" b="1" dirty="0"/>
              <a:t> or </a:t>
            </a:r>
            <a:r>
              <a:rPr lang="en-US" b="1" dirty="0">
                <a:solidFill>
                  <a:srgbClr val="FF0000"/>
                </a:solidFill>
              </a:rPr>
              <a:t>results</a:t>
            </a:r>
            <a:r>
              <a:rPr lang="en-US" b="1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Terminologies 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truth of a theorem is demonstrated with a  </a:t>
            </a:r>
            <a:r>
              <a:rPr lang="en-US" b="1" dirty="0"/>
              <a:t>proof. </a:t>
            </a:r>
          </a:p>
          <a:p>
            <a:r>
              <a:rPr lang="en-US" b="1" dirty="0"/>
              <a:t>A </a:t>
            </a:r>
            <a:r>
              <a:rPr lang="en-US" b="1" dirty="0">
                <a:solidFill>
                  <a:srgbClr val="FF0000"/>
                </a:solidFill>
              </a:rPr>
              <a:t>proof is a valid argument that establishes the truth of a theorem</a:t>
            </a:r>
            <a:r>
              <a:rPr lang="en-US" b="1" dirty="0"/>
              <a:t>. </a:t>
            </a:r>
          </a:p>
          <a:p>
            <a:r>
              <a:rPr lang="en-US" b="1" dirty="0"/>
              <a:t>The statements </a:t>
            </a:r>
            <a:r>
              <a:rPr lang="en-US" dirty="0"/>
              <a:t>used in a proof can include </a:t>
            </a:r>
            <a:r>
              <a:rPr lang="en-US" b="1" dirty="0"/>
              <a:t>axioms (or postulates), which are statements we assume to be true.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Terminologies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less important theorem that is helpful in the proof of other results is called </a:t>
            </a:r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lemma </a:t>
            </a:r>
            <a:r>
              <a:rPr lang="en-US" dirty="0"/>
              <a:t>(plural </a:t>
            </a:r>
            <a:r>
              <a:rPr lang="en-US" i="1" dirty="0"/>
              <a:t>lemmas or </a:t>
            </a:r>
            <a:r>
              <a:rPr lang="en-US" i="1" dirty="0" err="1"/>
              <a:t>lemmata</a:t>
            </a:r>
            <a:r>
              <a:rPr lang="en-US" i="1" dirty="0"/>
              <a:t>).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corollary</a:t>
            </a:r>
            <a:r>
              <a:rPr lang="en-US" b="1" dirty="0"/>
              <a:t> is a </a:t>
            </a:r>
            <a:r>
              <a:rPr lang="en-US" dirty="0"/>
              <a:t>theorem that can be established directly from a theorem that has been proved. 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conjecture</a:t>
            </a:r>
            <a:r>
              <a:rPr lang="en-US" b="1" dirty="0"/>
              <a:t> is </a:t>
            </a:r>
            <a:r>
              <a:rPr lang="en-US" dirty="0"/>
              <a:t>a statement that is being proposed to be a true statement, usually on the basis of some partial evidence, a heuristic argument, or the intuition of an expert. </a:t>
            </a:r>
          </a:p>
          <a:p>
            <a:r>
              <a:rPr lang="en-US" dirty="0"/>
              <a:t>When a proof of a conjecture is found, the conjecture becomes a theorem. </a:t>
            </a:r>
          </a:p>
          <a:p>
            <a:r>
              <a:rPr lang="en-US" dirty="0"/>
              <a:t>Many times conjectures are shown to be false, so they are not theorems.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325112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 lnSpcReduction="10000"/>
          </a:bodyPr>
          <a:lstStyle/>
          <a:p>
            <a:r>
              <a:rPr lang="en-US" dirty="0"/>
              <a:t>The integer </a:t>
            </a:r>
            <a:r>
              <a:rPr lang="en-US" i="1" dirty="0">
                <a:solidFill>
                  <a:srgbClr val="FF0000"/>
                </a:solidFill>
              </a:rPr>
              <a:t>n is even </a:t>
            </a:r>
            <a:r>
              <a:rPr lang="en-US" i="1" dirty="0"/>
              <a:t>if there exists an integer k such that </a:t>
            </a:r>
            <a:r>
              <a:rPr lang="en-US" i="1" dirty="0">
                <a:solidFill>
                  <a:srgbClr val="FF0000"/>
                </a:solidFill>
              </a:rPr>
              <a:t>n = 2k</a:t>
            </a:r>
            <a:r>
              <a:rPr lang="en-US" i="1" dirty="0"/>
              <a:t>, and </a:t>
            </a:r>
            <a:r>
              <a:rPr lang="en-US" i="1" dirty="0">
                <a:solidFill>
                  <a:srgbClr val="FF0000"/>
                </a:solidFill>
              </a:rPr>
              <a:t>n is odd </a:t>
            </a:r>
            <a:r>
              <a:rPr lang="en-US" i="1" dirty="0"/>
              <a:t>if there exists </a:t>
            </a:r>
            <a:r>
              <a:rPr lang="en-US" dirty="0"/>
              <a:t>an integer </a:t>
            </a:r>
            <a:r>
              <a:rPr lang="en-US" i="1" dirty="0"/>
              <a:t>k such that </a:t>
            </a:r>
            <a:r>
              <a:rPr lang="en-US" i="1" dirty="0">
                <a:solidFill>
                  <a:srgbClr val="FF0000"/>
                </a:solidFill>
              </a:rPr>
              <a:t>n = 2k + 1</a:t>
            </a:r>
            <a:r>
              <a:rPr lang="en-US" i="1" dirty="0"/>
              <a:t>.</a:t>
            </a:r>
          </a:p>
          <a:p>
            <a:pPr>
              <a:buNone/>
            </a:pPr>
            <a:endParaRPr lang="en-US" i="1" dirty="0"/>
          </a:p>
          <a:p>
            <a:r>
              <a:rPr lang="en-US" dirty="0"/>
              <a:t>An integer </a:t>
            </a:r>
            <a:r>
              <a:rPr lang="en-US" i="1" dirty="0"/>
              <a:t>a is </a:t>
            </a:r>
            <a:r>
              <a:rPr lang="en-US" i="1" dirty="0">
                <a:solidFill>
                  <a:srgbClr val="FF0000"/>
                </a:solidFill>
              </a:rPr>
              <a:t>a </a:t>
            </a:r>
            <a:r>
              <a:rPr lang="en-US" b="1" i="1" dirty="0">
                <a:solidFill>
                  <a:srgbClr val="FF0000"/>
                </a:solidFill>
              </a:rPr>
              <a:t>perfect square </a:t>
            </a:r>
            <a:r>
              <a:rPr lang="en-US" b="1" i="1" dirty="0"/>
              <a:t>if there is an integer b such that </a:t>
            </a:r>
            <a:r>
              <a:rPr lang="en-US" b="1" i="1" dirty="0">
                <a:solidFill>
                  <a:srgbClr val="FF0000"/>
                </a:solidFill>
              </a:rPr>
              <a:t>a = b</a:t>
            </a:r>
            <a:r>
              <a:rPr lang="en-US" b="1" i="1" baseline="30000" dirty="0">
                <a:solidFill>
                  <a:srgbClr val="FF0000"/>
                </a:solidFill>
              </a:rPr>
              <a:t>2</a:t>
            </a:r>
            <a:r>
              <a:rPr lang="en-US" b="1" i="1" dirty="0"/>
              <a:t>.</a:t>
            </a:r>
          </a:p>
          <a:p>
            <a:r>
              <a:rPr lang="en-US" dirty="0"/>
              <a:t>The real number </a:t>
            </a:r>
            <a:r>
              <a:rPr lang="en-US" b="1" i="1" dirty="0">
                <a:solidFill>
                  <a:srgbClr val="FF0000"/>
                </a:solidFill>
              </a:rPr>
              <a:t>r is rational </a:t>
            </a:r>
            <a:r>
              <a:rPr lang="en-US" i="1" dirty="0"/>
              <a:t>if there exist integers p and q with q ≠ 0 such that </a:t>
            </a:r>
            <a:r>
              <a:rPr lang="en-US" i="1" dirty="0">
                <a:solidFill>
                  <a:srgbClr val="FF0000"/>
                </a:solidFill>
              </a:rPr>
              <a:t>r = p/q.</a:t>
            </a:r>
          </a:p>
          <a:p>
            <a:r>
              <a:rPr lang="en-US" dirty="0"/>
              <a:t>A real number that is </a:t>
            </a:r>
            <a:r>
              <a:rPr lang="en-US" b="1" i="1" dirty="0">
                <a:solidFill>
                  <a:srgbClr val="FF0000"/>
                </a:solidFill>
              </a:rPr>
              <a:t>not rational </a:t>
            </a:r>
            <a:r>
              <a:rPr lang="en-US" dirty="0"/>
              <a:t>is called </a:t>
            </a:r>
            <a:r>
              <a:rPr lang="en-US" b="1" i="1" dirty="0">
                <a:solidFill>
                  <a:srgbClr val="FF0000"/>
                </a:solidFill>
              </a:rPr>
              <a:t>irrational.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 of Proving Theorems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Direct Proofs</a:t>
            </a:r>
          </a:p>
          <a:p>
            <a:pPr lvl="0"/>
            <a:r>
              <a:rPr lang="en-US" dirty="0"/>
              <a:t>Proof by Contraposition </a:t>
            </a:r>
          </a:p>
          <a:p>
            <a:pPr lvl="0"/>
            <a:r>
              <a:rPr lang="en-US" dirty="0"/>
              <a:t>Proofs by Contradiction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72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Direct Proofs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229600" cy="4800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Give a direct proof of the theorem </a:t>
            </a:r>
          </a:p>
          <a:p>
            <a:pPr>
              <a:buNone/>
            </a:pPr>
            <a:r>
              <a:rPr lang="en-US" dirty="0"/>
              <a:t>“If </a:t>
            </a:r>
            <a:r>
              <a:rPr lang="en-US" i="1" dirty="0"/>
              <a:t>n is an odd integer, then n</a:t>
            </a:r>
            <a:r>
              <a:rPr lang="en-US" i="1" baseline="30000" dirty="0"/>
              <a:t>2</a:t>
            </a:r>
            <a:r>
              <a:rPr lang="en-US" i="1" dirty="0"/>
              <a:t> is odd.”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r>
              <a:rPr lang="en-US" b="1" dirty="0"/>
              <a:t>We assume t</a:t>
            </a:r>
            <a:r>
              <a:rPr lang="en-US" dirty="0"/>
              <a:t>hat </a:t>
            </a:r>
            <a:r>
              <a:rPr lang="en-US" i="1" dirty="0"/>
              <a:t>n is odd. </a:t>
            </a:r>
          </a:p>
          <a:p>
            <a:r>
              <a:rPr lang="en-US" b="1" i="1" dirty="0"/>
              <a:t>By the definition of an </a:t>
            </a:r>
            <a:r>
              <a:rPr lang="en-US" i="1" dirty="0"/>
              <a:t>odd integer:  n = 2k + 1, where k is some integer. </a:t>
            </a:r>
          </a:p>
          <a:p>
            <a:r>
              <a:rPr lang="en-US" b="1" i="1" dirty="0"/>
              <a:t>We want to show that </a:t>
            </a:r>
            <a:r>
              <a:rPr lang="en-US" i="1" dirty="0"/>
              <a:t>n</a:t>
            </a:r>
            <a:r>
              <a:rPr lang="en-US" i="1" baseline="30000" dirty="0"/>
              <a:t>2</a:t>
            </a:r>
            <a:r>
              <a:rPr lang="en-US" i="1" dirty="0"/>
              <a:t> is also odd. </a:t>
            </a:r>
          </a:p>
          <a:p>
            <a:pPr>
              <a:buNone/>
            </a:pPr>
            <a:r>
              <a:rPr lang="en-US" i="1" dirty="0"/>
              <a:t>     Taking square on </a:t>
            </a:r>
            <a:r>
              <a:rPr lang="en-US" dirty="0"/>
              <a:t>both sides of the equation </a:t>
            </a:r>
            <a:r>
              <a:rPr lang="en-US" i="1" dirty="0"/>
              <a:t>n = 2k + 1.</a:t>
            </a:r>
          </a:p>
          <a:p>
            <a:pPr>
              <a:buNone/>
            </a:pPr>
            <a:r>
              <a:rPr lang="en-US" i="1" dirty="0"/>
              <a:t>	                       n</a:t>
            </a:r>
            <a:r>
              <a:rPr lang="en-US" i="1" baseline="30000" dirty="0"/>
              <a:t>2</a:t>
            </a:r>
            <a:r>
              <a:rPr lang="en-US" i="1" dirty="0"/>
              <a:t> = (2k + 1)</a:t>
            </a:r>
            <a:r>
              <a:rPr lang="en-US" i="1" baseline="30000" dirty="0"/>
              <a:t>2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i="1" dirty="0"/>
              <a:t>                                = 4k</a:t>
            </a:r>
            <a:r>
              <a:rPr lang="en-US" i="1" baseline="30000" dirty="0"/>
              <a:t>2</a:t>
            </a:r>
            <a:r>
              <a:rPr lang="en-US" i="1" dirty="0"/>
              <a:t> + 4k + 1 </a:t>
            </a:r>
          </a:p>
          <a:p>
            <a:pPr>
              <a:buNone/>
            </a:pPr>
            <a:r>
              <a:rPr lang="en-US" i="1" dirty="0"/>
              <a:t>                                = 2(2k</a:t>
            </a:r>
            <a:r>
              <a:rPr lang="en-US" i="1" baseline="30000" dirty="0"/>
              <a:t>2</a:t>
            </a:r>
            <a:r>
              <a:rPr lang="en-US" i="1" dirty="0"/>
              <a:t> + 2k) + 1. </a:t>
            </a:r>
          </a:p>
          <a:p>
            <a:pPr>
              <a:buNone/>
            </a:pPr>
            <a:r>
              <a:rPr lang="en-US" i="1" dirty="0"/>
              <a:t>    By the definition of an </a:t>
            </a:r>
            <a:r>
              <a:rPr lang="en-US" dirty="0"/>
              <a:t>odd integer, we can conclude that </a:t>
            </a:r>
            <a:r>
              <a:rPr lang="en-US" i="1" dirty="0"/>
              <a:t>n</a:t>
            </a:r>
            <a:r>
              <a:rPr lang="en-US" i="1" baseline="30000" dirty="0"/>
              <a:t>2</a:t>
            </a:r>
            <a:r>
              <a:rPr lang="en-US" i="1" dirty="0"/>
              <a:t> is an odd integer (it is one more than twice an integer).</a:t>
            </a:r>
          </a:p>
          <a:p>
            <a:r>
              <a:rPr lang="en-US" b="1" dirty="0"/>
              <a:t>Consequently, we have proved</a:t>
            </a:r>
            <a:r>
              <a:rPr lang="en-US" dirty="0"/>
              <a:t> that if </a:t>
            </a:r>
            <a:r>
              <a:rPr lang="en-US" i="1" dirty="0"/>
              <a:t>n is an odd integer, then n</a:t>
            </a:r>
            <a:r>
              <a:rPr lang="en-US" i="1" baseline="30000" dirty="0"/>
              <a:t>2</a:t>
            </a:r>
            <a:r>
              <a:rPr lang="en-US" i="1" dirty="0"/>
              <a:t> is an odd integer.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229600" cy="48006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Give a direct proof of the theorem </a:t>
            </a:r>
          </a:p>
          <a:p>
            <a:pPr>
              <a:buNone/>
            </a:pPr>
            <a:r>
              <a:rPr lang="en-US" dirty="0"/>
              <a:t>“If </a:t>
            </a:r>
            <a:r>
              <a:rPr lang="en-US" i="1" dirty="0"/>
              <a:t>m and n are both perfect squares, then nm is also a perfect square.”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r>
              <a:rPr lang="en-US" b="1" dirty="0"/>
              <a:t>We assume t</a:t>
            </a:r>
            <a:r>
              <a:rPr lang="en-US" dirty="0"/>
              <a:t>hat </a:t>
            </a:r>
            <a:r>
              <a:rPr lang="en-US" i="1" dirty="0"/>
              <a:t>m and n are both perfect squares.. </a:t>
            </a:r>
          </a:p>
          <a:p>
            <a:r>
              <a:rPr lang="en-US" b="1" i="1" dirty="0"/>
              <a:t>By the definition of a </a:t>
            </a:r>
            <a:r>
              <a:rPr lang="en-US" dirty="0"/>
              <a:t>of a perfect square, it follows that there are integers </a:t>
            </a:r>
            <a:r>
              <a:rPr lang="en-US" i="1" dirty="0"/>
              <a:t>s and t such that m = s</a:t>
            </a:r>
            <a:r>
              <a:rPr lang="en-US" i="1" baseline="30000" dirty="0"/>
              <a:t>2</a:t>
            </a:r>
            <a:r>
              <a:rPr lang="en-US" i="1" dirty="0"/>
              <a:t> and n = t</a:t>
            </a:r>
            <a:r>
              <a:rPr lang="en-US" i="1" baseline="30000" dirty="0"/>
              <a:t>2</a:t>
            </a:r>
            <a:r>
              <a:rPr lang="en-US" i="1" dirty="0"/>
              <a:t>.</a:t>
            </a:r>
          </a:p>
          <a:p>
            <a:r>
              <a:rPr lang="en-US" b="1" i="1" dirty="0"/>
              <a:t>We want to show that </a:t>
            </a:r>
            <a:r>
              <a:rPr lang="en-US" i="1" dirty="0" err="1"/>
              <a:t>mn</a:t>
            </a:r>
            <a:r>
              <a:rPr lang="en-US" i="1" dirty="0"/>
              <a:t> must also be a perfect square. </a:t>
            </a:r>
          </a:p>
          <a:p>
            <a:pPr>
              <a:buNone/>
            </a:pPr>
            <a:r>
              <a:rPr lang="en-US" i="1" dirty="0"/>
              <a:t>                               </a:t>
            </a:r>
            <a:r>
              <a:rPr lang="en-US" i="1" dirty="0" err="1"/>
              <a:t>mn</a:t>
            </a:r>
            <a:r>
              <a:rPr lang="en-US" i="1" dirty="0"/>
              <a:t> = s</a:t>
            </a:r>
            <a:r>
              <a:rPr lang="en-US" i="1" baseline="30000" dirty="0"/>
              <a:t>2</a:t>
            </a:r>
            <a:r>
              <a:rPr lang="en-US" i="1" dirty="0"/>
              <a:t>t</a:t>
            </a:r>
            <a:r>
              <a:rPr lang="en-US" i="1" baseline="30000" dirty="0"/>
              <a:t>2</a:t>
            </a:r>
            <a:endParaRPr lang="en-US" i="1" dirty="0"/>
          </a:p>
          <a:p>
            <a:pPr>
              <a:buNone/>
            </a:pPr>
            <a:r>
              <a:rPr lang="en-US" i="1" dirty="0"/>
              <a:t>                                      = (</a:t>
            </a:r>
            <a:r>
              <a:rPr lang="en-US" i="1" dirty="0" err="1"/>
              <a:t>ss</a:t>
            </a:r>
            <a:r>
              <a:rPr lang="en-US" i="1" dirty="0"/>
              <a:t>)(t </a:t>
            </a:r>
            <a:r>
              <a:rPr lang="en-US" i="1" dirty="0" err="1"/>
              <a:t>t</a:t>
            </a:r>
            <a:r>
              <a:rPr lang="en-US" i="1" dirty="0"/>
              <a:t>) </a:t>
            </a:r>
          </a:p>
          <a:p>
            <a:pPr>
              <a:buNone/>
            </a:pPr>
            <a:r>
              <a:rPr lang="en-US" i="1" dirty="0"/>
              <a:t>                                      = (</a:t>
            </a:r>
            <a:r>
              <a:rPr lang="en-US" i="1" dirty="0" err="1"/>
              <a:t>st</a:t>
            </a:r>
            <a:r>
              <a:rPr lang="en-US" i="1" dirty="0"/>
              <a:t>)(</a:t>
            </a:r>
            <a:r>
              <a:rPr lang="en-US" i="1" dirty="0" err="1"/>
              <a:t>st</a:t>
            </a:r>
            <a:r>
              <a:rPr lang="en-US" i="1" dirty="0"/>
              <a:t>) </a:t>
            </a:r>
          </a:p>
          <a:p>
            <a:pPr>
              <a:buNone/>
            </a:pPr>
            <a:r>
              <a:rPr lang="en-US" i="1" dirty="0"/>
              <a:t>                                      = (</a:t>
            </a:r>
            <a:r>
              <a:rPr lang="en-US" i="1" dirty="0" err="1"/>
              <a:t>st</a:t>
            </a:r>
            <a:r>
              <a:rPr lang="en-US" i="1" dirty="0"/>
              <a:t>)</a:t>
            </a:r>
            <a:r>
              <a:rPr lang="en-US" i="1" baseline="30000" dirty="0"/>
              <a:t>2</a:t>
            </a:r>
          </a:p>
          <a:p>
            <a:pPr>
              <a:buNone/>
            </a:pPr>
            <a:r>
              <a:rPr lang="en-US" sz="2900" i="1" dirty="0"/>
              <a:t>    By the definition of perfect square, it follows that </a:t>
            </a:r>
            <a:r>
              <a:rPr lang="en-US" sz="2900" i="1" dirty="0" err="1"/>
              <a:t>mn</a:t>
            </a:r>
            <a:r>
              <a:rPr lang="en-US" sz="2900" i="1" dirty="0"/>
              <a:t> is also a perfect square.</a:t>
            </a:r>
          </a:p>
          <a:p>
            <a:r>
              <a:rPr lang="en-US" sz="2900" b="1" i="1" dirty="0"/>
              <a:t> We have proved </a:t>
            </a:r>
            <a:r>
              <a:rPr lang="en-US" sz="2900" i="1" dirty="0"/>
              <a:t>that if m and n are both perfect squares, then </a:t>
            </a:r>
            <a:r>
              <a:rPr lang="en-US" sz="2900" i="1" dirty="0" err="1"/>
              <a:t>mn</a:t>
            </a:r>
            <a:r>
              <a:rPr lang="en-US" sz="2900" i="1" dirty="0"/>
              <a:t> is also a perfect </a:t>
            </a:r>
            <a:r>
              <a:rPr lang="en-US" i="1" dirty="0"/>
              <a:t>square.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2819400"/>
            <a:ext cx="7772400" cy="1362075"/>
          </a:xfrm>
        </p:spPr>
        <p:txBody>
          <a:bodyPr/>
          <a:lstStyle/>
          <a:p>
            <a:pPr lvl="0"/>
            <a:r>
              <a:rPr lang="en-US" sz="72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Proof by Contraposition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Proof by Contraposition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Contrapositive</a:t>
            </a:r>
            <a:r>
              <a:rPr lang="en-US" dirty="0"/>
              <a:t>   </a:t>
            </a:r>
            <a:r>
              <a:rPr lang="en-US" b="1" dirty="0"/>
              <a:t>￢ </a:t>
            </a:r>
            <a:r>
              <a:rPr lang="en-US" b="1" i="1" dirty="0"/>
              <a:t>q →￢ p</a:t>
            </a:r>
            <a:endParaRPr lang="en-US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	 </a:t>
            </a:r>
            <a:r>
              <a:rPr lang="en-US" b="1" i="1" dirty="0"/>
              <a:t>p → q </a:t>
            </a:r>
            <a:r>
              <a:rPr lang="en-US" dirty="0"/>
              <a:t>≡ </a:t>
            </a:r>
            <a:r>
              <a:rPr lang="en-US" b="1" dirty="0"/>
              <a:t>￢ </a:t>
            </a:r>
            <a:r>
              <a:rPr lang="en-US" b="1" i="1" dirty="0"/>
              <a:t>q →￢ p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534400" cy="4800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Prove </a:t>
            </a:r>
            <a:r>
              <a:rPr lang="en-US" i="1" dirty="0"/>
              <a:t>that” if n is an integer and 3n + 2 is odd, then n is odd.”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sz="2600" b="1" u="sng" dirty="0"/>
              <a:t>Direct proof</a:t>
            </a:r>
          </a:p>
          <a:p>
            <a:r>
              <a:rPr lang="en-US" b="1" dirty="0"/>
              <a:t>We assume t</a:t>
            </a:r>
            <a:r>
              <a:rPr lang="en-US" dirty="0"/>
              <a:t>hat 3</a:t>
            </a:r>
            <a:r>
              <a:rPr lang="en-US" i="1" dirty="0"/>
              <a:t>n + 2 is odd integer</a:t>
            </a:r>
          </a:p>
          <a:p>
            <a:r>
              <a:rPr lang="en-US" b="1" i="1" dirty="0"/>
              <a:t>By the definition of an </a:t>
            </a:r>
            <a:r>
              <a:rPr lang="en-US" i="1" dirty="0"/>
              <a:t>odd integer: 3n+2 = 2k + 1, where k is some integer. </a:t>
            </a:r>
          </a:p>
          <a:p>
            <a:r>
              <a:rPr lang="en-US" b="1" i="1" dirty="0"/>
              <a:t>We want to show that </a:t>
            </a:r>
            <a:r>
              <a:rPr lang="en-US" i="1" dirty="0"/>
              <a:t>n is also odd. </a:t>
            </a:r>
          </a:p>
          <a:p>
            <a:pPr>
              <a:buNone/>
            </a:pPr>
            <a:r>
              <a:rPr lang="en-US" dirty="0"/>
              <a:t>                           3</a:t>
            </a:r>
            <a:r>
              <a:rPr lang="en-US" i="1" dirty="0"/>
              <a:t>n + 2=  2k+1</a:t>
            </a:r>
          </a:p>
          <a:p>
            <a:pPr>
              <a:buNone/>
            </a:pPr>
            <a:r>
              <a:rPr lang="en-US" i="1" dirty="0"/>
              <a:t>                           3n + 1= 2k</a:t>
            </a:r>
          </a:p>
          <a:p>
            <a:pPr>
              <a:buNone/>
            </a:pPr>
            <a:r>
              <a:rPr lang="en-US" i="1" dirty="0"/>
              <a:t>                             n= (2k-1)/3</a:t>
            </a:r>
          </a:p>
          <a:p>
            <a:r>
              <a:rPr lang="en-US" dirty="0">
                <a:solidFill>
                  <a:srgbClr val="FF0000"/>
                </a:solidFill>
              </a:rPr>
              <a:t>Unable to prove that if </a:t>
            </a:r>
            <a:r>
              <a:rPr lang="en-US" i="1" dirty="0">
                <a:solidFill>
                  <a:srgbClr val="FF0000"/>
                </a:solidFill>
              </a:rPr>
              <a:t>n is an integer and 3n + 2 is odd, then n is odd.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Proof by Contraposition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Contrapositive</a:t>
            </a:r>
            <a:r>
              <a:rPr lang="en-US" dirty="0"/>
              <a:t>   </a:t>
            </a:r>
            <a:r>
              <a:rPr lang="en-US" b="1" dirty="0"/>
              <a:t>￢ </a:t>
            </a:r>
            <a:r>
              <a:rPr lang="en-US" b="1" i="1" dirty="0"/>
              <a:t>q →￢ p</a:t>
            </a:r>
            <a:endParaRPr lang="en-US" b="1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	 </a:t>
            </a:r>
            <a:r>
              <a:rPr lang="en-US" b="1" i="1" dirty="0"/>
              <a:t>p → q </a:t>
            </a:r>
            <a:r>
              <a:rPr lang="en-US" dirty="0"/>
              <a:t>≡ </a:t>
            </a:r>
            <a:r>
              <a:rPr lang="en-US" b="1" dirty="0"/>
              <a:t>￢ </a:t>
            </a:r>
            <a:r>
              <a:rPr lang="en-US" b="1" i="1" dirty="0"/>
              <a:t>q →￢ p</a:t>
            </a:r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 dirty="0"/>
              <a:t>Example 1…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458200" cy="4800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Prove that “if n is an integer and </a:t>
            </a:r>
            <a:r>
              <a:rPr lang="en-US" i="1" dirty="0"/>
              <a:t>3n + 2 is odd, then n is odd.”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sz="2600" b="1" u="sng" dirty="0"/>
              <a:t>Proof by contraposition</a:t>
            </a:r>
          </a:p>
          <a:p>
            <a:r>
              <a:rPr lang="en-US" b="1" dirty="0">
                <a:solidFill>
                  <a:srgbClr val="7030A0"/>
                </a:solidFill>
              </a:rPr>
              <a:t>“If n is even then </a:t>
            </a:r>
            <a:r>
              <a:rPr lang="en-US" b="1" i="1" dirty="0">
                <a:solidFill>
                  <a:srgbClr val="7030A0"/>
                </a:solidFill>
              </a:rPr>
              <a:t>3n + 2 is even”</a:t>
            </a:r>
          </a:p>
          <a:p>
            <a:r>
              <a:rPr lang="en-US" b="1" dirty="0"/>
              <a:t>We assume t</a:t>
            </a:r>
            <a:r>
              <a:rPr lang="en-US" dirty="0"/>
              <a:t>hat </a:t>
            </a:r>
            <a:r>
              <a:rPr lang="en-US" i="1" dirty="0"/>
              <a:t>n is an even integer</a:t>
            </a:r>
          </a:p>
          <a:p>
            <a:r>
              <a:rPr lang="en-US" b="1" i="1" dirty="0"/>
              <a:t>By the definition of an even</a:t>
            </a:r>
            <a:r>
              <a:rPr lang="en-US" i="1" dirty="0"/>
              <a:t> integer:  n = 2k, where k is some integer. </a:t>
            </a:r>
          </a:p>
          <a:p>
            <a:r>
              <a:rPr lang="en-US" b="1" i="1" dirty="0"/>
              <a:t>We want to show that </a:t>
            </a:r>
            <a:r>
              <a:rPr lang="en-US" i="1" dirty="0"/>
              <a:t>3n +2 is also even. </a:t>
            </a:r>
          </a:p>
          <a:p>
            <a:r>
              <a:rPr lang="en-US" dirty="0"/>
              <a:t> Substituting 2</a:t>
            </a:r>
            <a:r>
              <a:rPr lang="en-US" i="1" dirty="0"/>
              <a:t>k for n, we find </a:t>
            </a:r>
            <a:r>
              <a:rPr lang="en-US" dirty="0"/>
              <a:t>that </a:t>
            </a:r>
          </a:p>
          <a:p>
            <a:pPr>
              <a:buNone/>
            </a:pPr>
            <a:r>
              <a:rPr lang="en-US" dirty="0"/>
              <a:t>                                    3</a:t>
            </a:r>
            <a:r>
              <a:rPr lang="en-US" i="1" dirty="0"/>
              <a:t>n + 2 = 3(2k) + 2 </a:t>
            </a:r>
          </a:p>
          <a:p>
            <a:pPr>
              <a:buNone/>
            </a:pPr>
            <a:r>
              <a:rPr lang="en-US" i="1" dirty="0"/>
              <a:t>                                                 = 6k + 2 </a:t>
            </a:r>
          </a:p>
          <a:p>
            <a:pPr>
              <a:buNone/>
            </a:pPr>
            <a:r>
              <a:rPr lang="en-US" i="1" dirty="0"/>
              <a:t>                                            = 2(3k + 1) </a:t>
            </a:r>
            <a:r>
              <a:rPr lang="en-US" dirty="0"/>
              <a:t>(because it is a multiple of 2)</a:t>
            </a:r>
            <a:endParaRPr lang="en-US" i="1" dirty="0"/>
          </a:p>
          <a:p>
            <a:pPr>
              <a:buNone/>
            </a:pPr>
            <a:r>
              <a:rPr lang="en-US" i="1" dirty="0"/>
              <a:t>    This tells us that 3n + 2 is even</a:t>
            </a:r>
          </a:p>
          <a:p>
            <a:pPr>
              <a:buNone/>
            </a:pPr>
            <a:r>
              <a:rPr lang="en-US" b="1" i="1" dirty="0"/>
              <a:t> </a:t>
            </a:r>
            <a:r>
              <a:rPr lang="en-US" b="1" dirty="0"/>
              <a:t>We have proved that </a:t>
            </a:r>
            <a:r>
              <a:rPr lang="en-US" b="1" dirty="0">
                <a:solidFill>
                  <a:srgbClr val="FF0000"/>
                </a:solidFill>
              </a:rPr>
              <a:t>“If 3</a:t>
            </a:r>
            <a:r>
              <a:rPr lang="en-US" b="1" i="1" dirty="0">
                <a:solidFill>
                  <a:srgbClr val="FF0000"/>
                </a:solidFill>
              </a:rPr>
              <a:t>n + 2 is odd, then n is odd.”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0668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6868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Prove that” if </a:t>
            </a:r>
            <a:r>
              <a:rPr lang="en-US" i="1" dirty="0"/>
              <a:t>n = </a:t>
            </a:r>
            <a:r>
              <a:rPr lang="en-US" i="1" dirty="0" err="1"/>
              <a:t>ab</a:t>
            </a:r>
            <a:r>
              <a:rPr lang="en-US" i="1" dirty="0"/>
              <a:t>, where a and b are positive integers, then </a:t>
            </a:r>
          </a:p>
          <a:p>
            <a:pPr>
              <a:buNone/>
            </a:pPr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sz="2600" b="1" u="sng" dirty="0"/>
              <a:t>Proof by contraposition</a:t>
            </a:r>
          </a:p>
          <a:p>
            <a:r>
              <a:rPr lang="en-US" b="1" dirty="0"/>
              <a:t>“If                                    then  </a:t>
            </a:r>
            <a:r>
              <a:rPr lang="en-US" b="1" dirty="0" err="1"/>
              <a:t>n≠ab</a:t>
            </a:r>
            <a:r>
              <a:rPr lang="en-US" b="1" i="1" dirty="0"/>
              <a:t>”</a:t>
            </a:r>
          </a:p>
          <a:p>
            <a:r>
              <a:rPr lang="en-US" b="1" dirty="0"/>
              <a:t>We assume t</a:t>
            </a:r>
            <a:r>
              <a:rPr lang="en-US" dirty="0"/>
              <a:t>hat                                          </a:t>
            </a:r>
            <a:endParaRPr lang="en-US" i="1" dirty="0"/>
          </a:p>
          <a:p>
            <a:r>
              <a:rPr lang="en-US" b="1" i="1" dirty="0"/>
              <a:t>By the definition </a:t>
            </a:r>
            <a:r>
              <a:rPr lang="en-US" i="1" dirty="0"/>
              <a:t> </a:t>
            </a:r>
          </a:p>
          <a:p>
            <a:r>
              <a:rPr lang="en-US" b="1" i="1" dirty="0"/>
              <a:t>We want to show that </a:t>
            </a:r>
            <a:r>
              <a:rPr lang="en-US" dirty="0" err="1"/>
              <a:t>n≠ab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n-US" dirty="0"/>
              <a:t>   Using the fact that if 0 </a:t>
            </a:r>
            <a:r>
              <a:rPr lang="en-US" i="1" dirty="0"/>
              <a:t>&lt; s &lt; t and 0 &lt; u &lt; v, then </a:t>
            </a:r>
            <a:r>
              <a:rPr lang="en-US" i="1" dirty="0" err="1"/>
              <a:t>su</a:t>
            </a:r>
            <a:r>
              <a:rPr lang="en-US" i="1" dirty="0"/>
              <a:t> &lt; </a:t>
            </a:r>
            <a:r>
              <a:rPr lang="en-US" i="1" dirty="0" err="1"/>
              <a:t>tv</a:t>
            </a:r>
            <a:endParaRPr lang="en-US" i="1" dirty="0"/>
          </a:p>
          <a:p>
            <a:pPr>
              <a:buNone/>
            </a:pPr>
            <a:r>
              <a:rPr lang="en-US" i="1" dirty="0"/>
              <a:t>                                              </a:t>
            </a:r>
            <a:r>
              <a:rPr lang="en-US" i="1" dirty="0" err="1"/>
              <a:t>ab</a:t>
            </a:r>
            <a:r>
              <a:rPr lang="en-US" i="1" dirty="0"/>
              <a:t> &gt;</a:t>
            </a:r>
            <a:r>
              <a:rPr lang="en-US" dirty="0"/>
              <a:t>√</a:t>
            </a:r>
            <a:r>
              <a:rPr lang="en-US" i="1" dirty="0"/>
              <a:t>n *</a:t>
            </a:r>
            <a:r>
              <a:rPr lang="en-US" dirty="0"/>
              <a:t>√</a:t>
            </a:r>
            <a:r>
              <a:rPr lang="en-US" i="1" dirty="0"/>
              <a:t>n </a:t>
            </a:r>
          </a:p>
          <a:p>
            <a:pPr>
              <a:buNone/>
            </a:pPr>
            <a:r>
              <a:rPr lang="en-US" i="1" dirty="0"/>
              <a:t>                                              </a:t>
            </a:r>
            <a:r>
              <a:rPr lang="en-US" i="1" dirty="0" err="1"/>
              <a:t>ab</a:t>
            </a:r>
            <a:r>
              <a:rPr lang="en-US" i="1" dirty="0"/>
              <a:t> &gt; n. </a:t>
            </a:r>
          </a:p>
          <a:p>
            <a:pPr>
              <a:buNone/>
            </a:pPr>
            <a:r>
              <a:rPr lang="en-US" i="1" dirty="0"/>
              <a:t>               This shows </a:t>
            </a:r>
            <a:r>
              <a:rPr lang="en-US" dirty="0"/>
              <a:t>that </a:t>
            </a:r>
            <a:r>
              <a:rPr lang="en-US" i="1" dirty="0" err="1"/>
              <a:t>ab</a:t>
            </a:r>
            <a:r>
              <a:rPr lang="en-US" i="1" dirty="0"/>
              <a:t> ≠ n</a:t>
            </a:r>
          </a:p>
          <a:p>
            <a:pPr>
              <a:buNone/>
            </a:pPr>
            <a:r>
              <a:rPr lang="en-US" i="1" dirty="0"/>
              <a:t> </a:t>
            </a:r>
            <a:r>
              <a:rPr lang="en-US" b="1" dirty="0"/>
              <a:t>We have proved that </a:t>
            </a:r>
            <a:r>
              <a:rPr lang="en-US" b="1" dirty="0">
                <a:solidFill>
                  <a:srgbClr val="FF0000"/>
                </a:solidFill>
              </a:rPr>
              <a:t>“If </a:t>
            </a:r>
            <a:r>
              <a:rPr lang="en-US" b="1" i="1" dirty="0">
                <a:solidFill>
                  <a:srgbClr val="FF0000"/>
                </a:solidFill>
              </a:rPr>
              <a:t>n = </a:t>
            </a:r>
            <a:r>
              <a:rPr lang="en-US" b="1" i="1" dirty="0" err="1">
                <a:solidFill>
                  <a:srgbClr val="FF0000"/>
                </a:solidFill>
              </a:rPr>
              <a:t>ab</a:t>
            </a:r>
            <a:r>
              <a:rPr lang="en-US" b="1" i="1" dirty="0">
                <a:solidFill>
                  <a:srgbClr val="FF0000"/>
                </a:solidFill>
              </a:rPr>
              <a:t>, where a and b are positive integers, then a ≤</a:t>
            </a:r>
            <a:r>
              <a:rPr lang="en-US" b="1" dirty="0">
                <a:solidFill>
                  <a:srgbClr val="FF0000"/>
                </a:solidFill>
              </a:rPr>
              <a:t> √</a:t>
            </a:r>
            <a:r>
              <a:rPr lang="en-US" b="1" i="1" dirty="0">
                <a:solidFill>
                  <a:srgbClr val="FF0000"/>
                </a:solidFill>
              </a:rPr>
              <a:t>n  or b ≤ </a:t>
            </a:r>
            <a:r>
              <a:rPr lang="en-US" b="1" dirty="0">
                <a:solidFill>
                  <a:srgbClr val="FF0000"/>
                </a:solidFill>
              </a:rPr>
              <a:t>√</a:t>
            </a:r>
            <a:r>
              <a:rPr lang="en-US" b="1" i="1" dirty="0">
                <a:solidFill>
                  <a:srgbClr val="FF0000"/>
                </a:solidFill>
              </a:rPr>
              <a:t>n “</a:t>
            </a: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9091"/>
          <a:stretch>
            <a:fillRect/>
          </a:stretch>
        </p:blipFill>
        <p:spPr bwMode="auto">
          <a:xfrm>
            <a:off x="762000" y="2057400"/>
            <a:ext cx="19240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971800"/>
            <a:ext cx="20193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3276600"/>
            <a:ext cx="20193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3581400"/>
            <a:ext cx="20193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534400" cy="5105400"/>
          </a:xfrm>
        </p:spPr>
        <p:txBody>
          <a:bodyPr>
            <a:normAutofit fontScale="47500" lnSpcReduction="20000"/>
          </a:bodyPr>
          <a:lstStyle/>
          <a:p>
            <a:r>
              <a:rPr lang="en-US" sz="3800" dirty="0"/>
              <a:t>Prove that “Prove that the sum of two rational numbers is rational.</a:t>
            </a:r>
            <a:r>
              <a:rPr lang="en-US" sz="3800" i="1" dirty="0"/>
              <a:t>” </a:t>
            </a:r>
            <a:r>
              <a:rPr lang="en-US" sz="3800" dirty="0"/>
              <a:t>“For every real number </a:t>
            </a:r>
            <a:r>
              <a:rPr lang="en-US" sz="3800" i="1" dirty="0"/>
              <a:t>r and every real </a:t>
            </a:r>
            <a:r>
              <a:rPr lang="en-US" sz="3800" dirty="0"/>
              <a:t>number </a:t>
            </a:r>
            <a:r>
              <a:rPr lang="en-US" sz="3800" i="1" dirty="0"/>
              <a:t>s, if r and s are rational numbers, then r + s is rational.”</a:t>
            </a:r>
          </a:p>
          <a:p>
            <a:pPr>
              <a:buNone/>
            </a:pPr>
            <a:r>
              <a:rPr lang="en-US" sz="3300" i="1" dirty="0">
                <a:solidFill>
                  <a:srgbClr val="FF0000"/>
                </a:solidFill>
              </a:rPr>
              <a:t>Solution:</a:t>
            </a:r>
          </a:p>
          <a:p>
            <a:r>
              <a:rPr lang="en-US" sz="3800" b="1" dirty="0"/>
              <a:t>We assume t</a:t>
            </a:r>
            <a:r>
              <a:rPr lang="en-US" sz="3800" dirty="0"/>
              <a:t>hat </a:t>
            </a:r>
            <a:r>
              <a:rPr lang="en-US" sz="3800" i="1" dirty="0"/>
              <a:t>r and s are rational numbers. </a:t>
            </a:r>
          </a:p>
          <a:p>
            <a:r>
              <a:rPr lang="en-US" sz="3800" b="1" i="1" dirty="0"/>
              <a:t>By the definition of a</a:t>
            </a:r>
            <a:r>
              <a:rPr lang="en-US" sz="3800" dirty="0"/>
              <a:t> </a:t>
            </a:r>
            <a:r>
              <a:rPr lang="en-US" sz="3800" dirty="0" err="1"/>
              <a:t>a</a:t>
            </a:r>
            <a:r>
              <a:rPr lang="en-US" sz="3800" dirty="0"/>
              <a:t> rational number, it follows that there are integers </a:t>
            </a:r>
            <a:r>
              <a:rPr lang="en-US" sz="3800" i="1" dirty="0"/>
              <a:t>p and q, with q ≠ 0, such </a:t>
            </a:r>
            <a:r>
              <a:rPr lang="en-US" sz="3800" dirty="0"/>
              <a:t>that </a:t>
            </a:r>
            <a:r>
              <a:rPr lang="en-US" sz="3800" i="1" dirty="0"/>
              <a:t>r = p/q, and integers t and u, with u ≠ 0, such that s = t/u. </a:t>
            </a:r>
          </a:p>
          <a:p>
            <a:r>
              <a:rPr lang="en-US" sz="3800" b="1" i="1" dirty="0"/>
              <a:t>We want to show that </a:t>
            </a:r>
            <a:r>
              <a:rPr lang="en-US" sz="3800" i="1" dirty="0"/>
              <a:t>r + s is rational. </a:t>
            </a:r>
          </a:p>
          <a:p>
            <a:pPr>
              <a:buNone/>
            </a:pPr>
            <a:r>
              <a:rPr lang="en-US" sz="3300" i="1" dirty="0"/>
              <a:t>     </a:t>
            </a:r>
          </a:p>
          <a:p>
            <a:pPr>
              <a:buNone/>
            </a:pPr>
            <a:r>
              <a:rPr lang="en-US" sz="3300" i="1" dirty="0"/>
              <a:t>	</a:t>
            </a:r>
          </a:p>
          <a:p>
            <a:pPr>
              <a:buNone/>
            </a:pPr>
            <a:endParaRPr lang="en-US" sz="3300" i="1" dirty="0"/>
          </a:p>
          <a:p>
            <a:pPr>
              <a:buNone/>
            </a:pPr>
            <a:endParaRPr lang="en-US" sz="3300" i="1" dirty="0"/>
          </a:p>
          <a:p>
            <a:pPr>
              <a:buNone/>
            </a:pPr>
            <a:endParaRPr lang="en-US" sz="3300" i="1" dirty="0"/>
          </a:p>
          <a:p>
            <a:pPr>
              <a:buNone/>
            </a:pPr>
            <a:endParaRPr lang="en-US" sz="3300" i="1" dirty="0"/>
          </a:p>
          <a:p>
            <a:pPr>
              <a:buNone/>
            </a:pPr>
            <a:r>
              <a:rPr lang="en-US" sz="3300" dirty="0"/>
              <a:t>	</a:t>
            </a:r>
            <a:r>
              <a:rPr lang="en-US" sz="3800" dirty="0"/>
              <a:t>Because </a:t>
            </a:r>
            <a:r>
              <a:rPr lang="en-US" sz="3800" i="1" dirty="0"/>
              <a:t>q ≠ 0 and u ≠ 0, it follows that </a:t>
            </a:r>
            <a:r>
              <a:rPr lang="en-US" sz="3800" i="1" dirty="0" err="1"/>
              <a:t>qu</a:t>
            </a:r>
            <a:r>
              <a:rPr lang="en-US" sz="3800" i="1" dirty="0"/>
              <a:t> ≠ 0. </a:t>
            </a:r>
          </a:p>
          <a:p>
            <a:pPr>
              <a:buNone/>
            </a:pPr>
            <a:r>
              <a:rPr lang="en-US" sz="3800" i="1" dirty="0"/>
              <a:t>	Consequently, we have expressed r + s as  </a:t>
            </a:r>
            <a:r>
              <a:rPr lang="en-US" sz="3800" dirty="0"/>
              <a:t>the ratio of two integers, </a:t>
            </a:r>
            <a:r>
              <a:rPr lang="en-US" sz="3800" i="1" dirty="0" err="1"/>
              <a:t>pu</a:t>
            </a:r>
            <a:r>
              <a:rPr lang="en-US" sz="3800" i="1" dirty="0"/>
              <a:t> + qt and </a:t>
            </a:r>
            <a:r>
              <a:rPr lang="en-US" sz="3800" i="1" dirty="0" err="1"/>
              <a:t>qu</a:t>
            </a:r>
            <a:r>
              <a:rPr lang="en-US" sz="3800" i="1" dirty="0"/>
              <a:t>, where </a:t>
            </a:r>
            <a:r>
              <a:rPr lang="en-US" sz="3800" i="1" dirty="0" err="1"/>
              <a:t>qu</a:t>
            </a:r>
            <a:r>
              <a:rPr lang="en-US" sz="3800" i="1" dirty="0"/>
              <a:t> ≠ 0. </a:t>
            </a:r>
          </a:p>
          <a:p>
            <a:pPr>
              <a:buNone/>
            </a:pPr>
            <a:r>
              <a:rPr lang="en-US" sz="3800" i="1" dirty="0"/>
              <a:t>	This means that r + s is rational. </a:t>
            </a:r>
            <a:endParaRPr lang="en-US" sz="3800" dirty="0"/>
          </a:p>
          <a:p>
            <a:r>
              <a:rPr lang="en-US" sz="3800" b="1" dirty="0"/>
              <a:t>Consequently, we have proved</a:t>
            </a:r>
            <a:r>
              <a:rPr lang="en-US" sz="3800" dirty="0"/>
              <a:t> that the sum of two rational numbers is rational.</a:t>
            </a:r>
            <a:endParaRPr lang="en-US" sz="3800" dirty="0">
              <a:solidFill>
                <a:srgbClr val="FF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t="16477" b="17614"/>
          <a:stretch>
            <a:fillRect/>
          </a:stretch>
        </p:blipFill>
        <p:spPr bwMode="auto">
          <a:xfrm>
            <a:off x="2286000" y="3657600"/>
            <a:ext cx="1828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4343400"/>
            <a:ext cx="10668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2819400"/>
            <a:ext cx="7772400" cy="1362075"/>
          </a:xfrm>
        </p:spPr>
        <p:txBody>
          <a:bodyPr/>
          <a:lstStyle/>
          <a:p>
            <a:pPr lvl="0"/>
            <a:r>
              <a:rPr lang="en-US" sz="72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Proof by Contradiction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8229600" cy="10668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229600" cy="4953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Prove that “√2 is irrational.”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Solution:</a:t>
            </a:r>
          </a:p>
          <a:p>
            <a:r>
              <a:rPr lang="en-US" dirty="0"/>
              <a:t>Let </a:t>
            </a:r>
            <a:r>
              <a:rPr lang="en-US" i="1" dirty="0"/>
              <a:t>p = </a:t>
            </a:r>
            <a:r>
              <a:rPr lang="en-US" dirty="0"/>
              <a:t>√ 2 is irrational.</a:t>
            </a:r>
          </a:p>
          <a:p>
            <a:r>
              <a:rPr lang="en-US" dirty="0"/>
              <a:t>To start a </a:t>
            </a:r>
            <a:r>
              <a:rPr lang="en-US" dirty="0">
                <a:solidFill>
                  <a:srgbClr val="FF0000"/>
                </a:solidFill>
              </a:rPr>
              <a:t>proof by contradiction</a:t>
            </a:r>
            <a:r>
              <a:rPr lang="en-US" dirty="0"/>
              <a:t>: </a:t>
            </a:r>
          </a:p>
          <a:p>
            <a:r>
              <a:rPr lang="en-US" dirty="0"/>
              <a:t>We suppose that </a:t>
            </a:r>
            <a:r>
              <a:rPr lang="en-US" dirty="0">
                <a:solidFill>
                  <a:srgbClr val="FF0000"/>
                </a:solidFill>
              </a:rPr>
              <a:t>￢</a:t>
            </a:r>
            <a:r>
              <a:rPr lang="en-US" i="1" dirty="0">
                <a:solidFill>
                  <a:srgbClr val="FF0000"/>
                </a:solidFill>
              </a:rPr>
              <a:t>p is true</a:t>
            </a:r>
            <a:r>
              <a:rPr lang="en-US" i="1" dirty="0"/>
              <a:t>.</a:t>
            </a:r>
          </a:p>
          <a:p>
            <a:r>
              <a:rPr lang="en-US" i="1" dirty="0">
                <a:solidFill>
                  <a:srgbClr val="FF0000"/>
                </a:solidFill>
              </a:rPr>
              <a:t>￢ p =</a:t>
            </a:r>
            <a:r>
              <a:rPr lang="en-US" dirty="0">
                <a:solidFill>
                  <a:srgbClr val="FF0000"/>
                </a:solidFill>
              </a:rPr>
              <a:t> √2 is rational</a:t>
            </a:r>
            <a:r>
              <a:rPr lang="en-US" dirty="0"/>
              <a:t>.</a:t>
            </a:r>
          </a:p>
          <a:p>
            <a:r>
              <a:rPr lang="en-US" dirty="0"/>
              <a:t>If √ 2 is rational, there exist integers </a:t>
            </a:r>
            <a:r>
              <a:rPr lang="en-US" i="1" dirty="0"/>
              <a:t>a and b with</a:t>
            </a:r>
          </a:p>
          <a:p>
            <a:r>
              <a:rPr lang="en-US" dirty="0"/>
              <a:t>√2 = </a:t>
            </a:r>
            <a:r>
              <a:rPr lang="en-US" i="1" dirty="0"/>
              <a:t>a/b, where b ≠0 and a and b </a:t>
            </a:r>
            <a:r>
              <a:rPr lang="en-US" dirty="0"/>
              <a:t>have no common factors (so that the fraction </a:t>
            </a:r>
            <a:r>
              <a:rPr lang="en-US" i="1" dirty="0"/>
              <a:t>a/b is in lowest terms.) (Here, we are using the </a:t>
            </a:r>
            <a:r>
              <a:rPr lang="en-US" dirty="0"/>
              <a:t>fact that every rational number can be written in lowest terms.)</a:t>
            </a:r>
          </a:p>
          <a:p>
            <a:pPr>
              <a:buNone/>
            </a:pPr>
            <a:r>
              <a:rPr lang="en-US" dirty="0"/>
              <a:t>               √2 = </a:t>
            </a:r>
            <a:r>
              <a:rPr lang="en-US" i="1" dirty="0"/>
              <a:t>a/b</a:t>
            </a:r>
          </a:p>
          <a:p>
            <a:r>
              <a:rPr lang="en-US" dirty="0"/>
              <a:t>Squaring both sides</a:t>
            </a:r>
          </a:p>
          <a:p>
            <a:pPr>
              <a:buNone/>
            </a:pPr>
            <a:r>
              <a:rPr lang="en-US" dirty="0"/>
              <a:t>               2 = </a:t>
            </a:r>
            <a:r>
              <a:rPr lang="en-US" i="1" dirty="0"/>
              <a:t>a</a:t>
            </a:r>
            <a:r>
              <a:rPr lang="en-US" i="1" baseline="30000" dirty="0"/>
              <a:t>2</a:t>
            </a:r>
            <a:r>
              <a:rPr lang="en-US" i="1" dirty="0"/>
              <a:t>/b</a:t>
            </a:r>
            <a:r>
              <a:rPr lang="en-US" i="1" baseline="30000" dirty="0"/>
              <a:t>2</a:t>
            </a:r>
            <a:r>
              <a:rPr lang="en-US" i="1" dirty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53157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             2</a:t>
            </a:r>
            <a:r>
              <a:rPr lang="en-US" i="1" dirty="0"/>
              <a:t>b</a:t>
            </a:r>
            <a:r>
              <a:rPr lang="en-US" i="1" baseline="30000" dirty="0"/>
              <a:t>2</a:t>
            </a:r>
            <a:r>
              <a:rPr lang="en-US" i="1" dirty="0"/>
              <a:t> = a</a:t>
            </a:r>
            <a:r>
              <a:rPr lang="en-US" i="1" baseline="30000" dirty="0"/>
              <a:t>2</a:t>
            </a:r>
            <a:r>
              <a:rPr lang="en-US" i="1" dirty="0"/>
              <a:t>.</a:t>
            </a:r>
          </a:p>
          <a:p>
            <a:r>
              <a:rPr lang="en-US" dirty="0"/>
              <a:t>By the definition of an even integer,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i="1" baseline="30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 is even</a:t>
            </a:r>
            <a:r>
              <a:rPr lang="en-US" i="1" dirty="0"/>
              <a:t>.</a:t>
            </a:r>
          </a:p>
          <a:p>
            <a:r>
              <a:rPr lang="en-US" i="1" dirty="0"/>
              <a:t>If a</a:t>
            </a:r>
            <a:r>
              <a:rPr lang="en-US" i="1" baseline="30000" dirty="0"/>
              <a:t>2</a:t>
            </a:r>
            <a:r>
              <a:rPr lang="en-US" i="1" dirty="0"/>
              <a:t> is </a:t>
            </a:r>
            <a:r>
              <a:rPr lang="en-US" dirty="0"/>
              <a:t>even, </a:t>
            </a:r>
            <a:r>
              <a:rPr lang="en-US" i="1" dirty="0">
                <a:solidFill>
                  <a:srgbClr val="FF0000"/>
                </a:solidFill>
              </a:rPr>
              <a:t>a must also be even</a:t>
            </a:r>
            <a:r>
              <a:rPr lang="en-US" i="1" dirty="0"/>
              <a:t>.</a:t>
            </a:r>
          </a:p>
          <a:p>
            <a:r>
              <a:rPr lang="en-US" i="1" dirty="0"/>
              <a:t>Because a is even, by </a:t>
            </a:r>
            <a:r>
              <a:rPr lang="en-US" dirty="0"/>
              <a:t>the definition of an even integer, </a:t>
            </a:r>
            <a:r>
              <a:rPr lang="en-US" i="1" dirty="0">
                <a:solidFill>
                  <a:srgbClr val="FF0000"/>
                </a:solidFill>
              </a:rPr>
              <a:t>a = 2c, </a:t>
            </a:r>
            <a:r>
              <a:rPr lang="en-US" i="1" dirty="0"/>
              <a:t>for some integer c. </a:t>
            </a:r>
          </a:p>
          <a:p>
            <a:pPr>
              <a:buNone/>
            </a:pPr>
            <a:r>
              <a:rPr lang="en-US" dirty="0"/>
              <a:t>                  2</a:t>
            </a:r>
            <a:r>
              <a:rPr lang="en-US" i="1" dirty="0"/>
              <a:t>b</a:t>
            </a:r>
            <a:r>
              <a:rPr lang="en-US" i="1" baseline="30000" dirty="0"/>
              <a:t>2</a:t>
            </a:r>
            <a:r>
              <a:rPr lang="en-US" i="1" dirty="0"/>
              <a:t> = 4c</a:t>
            </a:r>
            <a:r>
              <a:rPr lang="en-US" i="1" baseline="30000" dirty="0"/>
              <a:t>2</a:t>
            </a:r>
            <a:r>
              <a:rPr lang="en-US" i="1" dirty="0"/>
              <a:t>.</a:t>
            </a:r>
          </a:p>
          <a:p>
            <a:r>
              <a:rPr lang="en-US" dirty="0"/>
              <a:t>Dividing both sides by 2:</a:t>
            </a:r>
          </a:p>
          <a:p>
            <a:pPr>
              <a:buNone/>
            </a:pPr>
            <a:r>
              <a:rPr lang="en-US" i="1" dirty="0"/>
              <a:t>                 b</a:t>
            </a:r>
            <a:r>
              <a:rPr lang="en-US" i="1" baseline="30000" dirty="0"/>
              <a:t>2</a:t>
            </a:r>
            <a:r>
              <a:rPr lang="en-US" i="1" dirty="0"/>
              <a:t> = 2c</a:t>
            </a:r>
            <a:r>
              <a:rPr lang="en-US" i="1" baseline="30000" dirty="0"/>
              <a:t>2</a:t>
            </a:r>
            <a:r>
              <a:rPr lang="en-US" i="1" dirty="0"/>
              <a:t>.</a:t>
            </a:r>
          </a:p>
          <a:p>
            <a:r>
              <a:rPr lang="en-US" dirty="0"/>
              <a:t>By the definition of even, this means that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i="1" baseline="30000" dirty="0">
                <a:solidFill>
                  <a:srgbClr val="FF0000"/>
                </a:solidFill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 is even.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i="1" dirty="0"/>
              <a:t>If b</a:t>
            </a:r>
            <a:r>
              <a:rPr lang="en-US" i="1" baseline="30000" dirty="0"/>
              <a:t>2</a:t>
            </a:r>
            <a:r>
              <a:rPr lang="en-US" i="1" dirty="0"/>
              <a:t> is </a:t>
            </a:r>
            <a:r>
              <a:rPr lang="en-US" dirty="0"/>
              <a:t>even,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i="1" dirty="0">
                <a:solidFill>
                  <a:srgbClr val="FF0000"/>
                </a:solidFill>
              </a:rPr>
              <a:t> must also be even</a:t>
            </a:r>
            <a:r>
              <a:rPr lang="en-US" i="1" dirty="0"/>
              <a:t> as well.</a:t>
            </a:r>
          </a:p>
          <a:p>
            <a:r>
              <a:rPr lang="en-US" dirty="0"/>
              <a:t>Our initial assumption </a:t>
            </a:r>
            <a:r>
              <a:rPr lang="en-US" i="1" dirty="0">
                <a:solidFill>
                  <a:srgbClr val="FF0000"/>
                </a:solidFill>
              </a:rPr>
              <a:t>￢ p =</a:t>
            </a:r>
            <a:r>
              <a:rPr lang="en-US" dirty="0">
                <a:solidFill>
                  <a:srgbClr val="FF0000"/>
                </a:solidFill>
              </a:rPr>
              <a:t> √2 is rational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                                                       √2 = </a:t>
            </a:r>
            <a:r>
              <a:rPr lang="en-US" i="1" dirty="0">
                <a:solidFill>
                  <a:srgbClr val="FF0000"/>
                </a:solidFill>
              </a:rPr>
              <a:t>a/b</a:t>
            </a:r>
          </a:p>
          <a:p>
            <a:pPr>
              <a:buNone/>
            </a:pPr>
            <a:r>
              <a:rPr lang="en-US" i="1" dirty="0">
                <a:solidFill>
                  <a:srgbClr val="FF0000"/>
                </a:solidFill>
              </a:rPr>
              <a:t>   </a:t>
            </a:r>
            <a:r>
              <a:rPr lang="en-US" i="1" dirty="0"/>
              <a:t> where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i="1" dirty="0"/>
              <a:t> have </a:t>
            </a:r>
            <a:r>
              <a:rPr lang="en-US" b="1" i="1" dirty="0">
                <a:solidFill>
                  <a:srgbClr val="FF0000"/>
                </a:solidFill>
              </a:rPr>
              <a:t>no common factors</a:t>
            </a:r>
            <a:r>
              <a:rPr lang="en-US" i="1" dirty="0"/>
              <a:t>, but both </a:t>
            </a:r>
            <a:r>
              <a:rPr lang="en-US" i="1" dirty="0">
                <a:solidFill>
                  <a:srgbClr val="FF0000"/>
                </a:solidFill>
              </a:rPr>
              <a:t>a</a:t>
            </a:r>
            <a:r>
              <a:rPr lang="en-US" i="1" dirty="0"/>
              <a:t> and </a:t>
            </a:r>
            <a:r>
              <a:rPr lang="en-US" i="1" dirty="0">
                <a:solidFill>
                  <a:srgbClr val="FF0000"/>
                </a:solidFill>
              </a:rPr>
              <a:t>b</a:t>
            </a:r>
            <a:r>
              <a:rPr lang="en-US" i="1" dirty="0"/>
              <a:t> are </a:t>
            </a:r>
            <a:r>
              <a:rPr lang="en-US" i="1" dirty="0">
                <a:solidFill>
                  <a:srgbClr val="FF0000"/>
                </a:solidFill>
              </a:rPr>
              <a:t>even</a:t>
            </a:r>
            <a:r>
              <a:rPr lang="en-US" i="1" dirty="0"/>
              <a:t>, that is, </a:t>
            </a:r>
            <a:r>
              <a:rPr lang="en-US" i="1" dirty="0">
                <a:solidFill>
                  <a:srgbClr val="FF0000"/>
                </a:solidFill>
              </a:rPr>
              <a:t>2 divides</a:t>
            </a:r>
            <a:r>
              <a:rPr lang="en-US" i="1" dirty="0"/>
              <a:t> both a and b. </a:t>
            </a:r>
          </a:p>
          <a:p>
            <a:r>
              <a:rPr lang="en-US" i="1" dirty="0"/>
              <a:t>Because our assumption of </a:t>
            </a:r>
            <a:r>
              <a:rPr lang="en-US" i="1" dirty="0">
                <a:solidFill>
                  <a:srgbClr val="FF0000"/>
                </a:solidFill>
              </a:rPr>
              <a:t>￢ p</a:t>
            </a:r>
            <a:r>
              <a:rPr lang="en-US" i="1" dirty="0"/>
              <a:t> leads to the </a:t>
            </a:r>
            <a:r>
              <a:rPr lang="en-US" i="1" dirty="0">
                <a:solidFill>
                  <a:srgbClr val="FF0000"/>
                </a:solidFill>
              </a:rPr>
              <a:t>contradiction</a:t>
            </a:r>
            <a:r>
              <a:rPr lang="en-US" i="1" dirty="0"/>
              <a:t>.</a:t>
            </a:r>
          </a:p>
          <a:p>
            <a:r>
              <a:rPr lang="en-US" dirty="0"/>
              <a:t>Hence  </a:t>
            </a:r>
            <a:r>
              <a:rPr lang="en-US" i="1" dirty="0"/>
              <a:t>p, “ </a:t>
            </a:r>
            <a:r>
              <a:rPr lang="en-US" dirty="0"/>
              <a:t>√2 is irrational,” is true.</a:t>
            </a:r>
          </a:p>
          <a:p>
            <a:r>
              <a:rPr lang="en-US" b="1" dirty="0"/>
              <a:t>We have proved that </a:t>
            </a:r>
            <a:r>
              <a:rPr lang="en-US" dirty="0">
                <a:solidFill>
                  <a:srgbClr val="FF0000"/>
                </a:solidFill>
              </a:rPr>
              <a:t>√2 is irrational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15</a:t>
            </a:r>
          </a:p>
          <a:p>
            <a:r>
              <a:rPr lang="en-US" dirty="0"/>
              <a:t>18 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2609</TotalTime>
  <Words>1526</Words>
  <Application>Microsoft Office PowerPoint</Application>
  <PresentationFormat>On-screen Show (4:3)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Georgia</vt:lpstr>
      <vt:lpstr>Trebuchet MS</vt:lpstr>
      <vt:lpstr>Wingdings 2</vt:lpstr>
      <vt:lpstr>Urban</vt:lpstr>
      <vt:lpstr>Introduction to Proofs</vt:lpstr>
      <vt:lpstr>Some Terminologies</vt:lpstr>
      <vt:lpstr>Some Terminologies ..</vt:lpstr>
      <vt:lpstr>Some Terminologies …</vt:lpstr>
      <vt:lpstr>DEFINITIONS</vt:lpstr>
      <vt:lpstr>Methods of Proving Theorems</vt:lpstr>
      <vt:lpstr>Direct Proofs</vt:lpstr>
      <vt:lpstr>Example 1</vt:lpstr>
      <vt:lpstr>Example 2</vt:lpstr>
      <vt:lpstr>Proof by Contraposition</vt:lpstr>
      <vt:lpstr>Proof by Contraposition</vt:lpstr>
      <vt:lpstr>Example 1</vt:lpstr>
      <vt:lpstr>Proof by Contraposition</vt:lpstr>
      <vt:lpstr>Example 1…</vt:lpstr>
      <vt:lpstr>Example 2</vt:lpstr>
      <vt:lpstr>Example </vt:lpstr>
      <vt:lpstr>Proof by Contradiction</vt:lpstr>
      <vt:lpstr>Example</vt:lpstr>
      <vt:lpstr>PowerPoint Presentation</vt:lpstr>
      <vt:lpstr>Exercise 1.7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Proofs</dc:title>
  <dc:creator>shahjee</dc:creator>
  <cp:lastModifiedBy>amna humayun</cp:lastModifiedBy>
  <cp:revision>61</cp:revision>
  <dcterms:created xsi:type="dcterms:W3CDTF">2020-11-24T16:54:20Z</dcterms:created>
  <dcterms:modified xsi:type="dcterms:W3CDTF">2024-12-01T20:45:10Z</dcterms:modified>
</cp:coreProperties>
</file>