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5" r:id="rId3"/>
    <p:sldId id="276" r:id="rId4"/>
    <p:sldId id="277" r:id="rId5"/>
    <p:sldId id="278" r:id="rId6"/>
    <p:sldId id="279" r:id="rId7"/>
    <p:sldId id="28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85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84DEF-C718-442A-B70E-80B2B1FBC12E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B16AD-089E-4AD6-BC77-7F341EBB37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9873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E2914-1B92-42EF-AA79-C13280F6C215}" type="datetimeFigureOut">
              <a:rPr lang="en-US" smtClean="0"/>
              <a:pPr/>
              <a:t>3/19/2018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76535-72CB-412B-A847-E701EFC517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7200" dirty="0" smtClean="0">
                <a:solidFill>
                  <a:srgbClr val="FFFF00"/>
                </a:solidFill>
              </a:rPr>
              <a:t>RECURSION</a:t>
            </a:r>
          </a:p>
        </p:txBody>
      </p:sp>
      <p:sp>
        <p:nvSpPr>
          <p:cNvPr id="307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 smtClean="0">
                <a:latin typeface="Tahoma" pitchFamily="34" charset="0"/>
              </a:rPr>
              <a:t>Activation Records</a:t>
            </a: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2913063" y="1320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9700" name="Picture 4" descr="stackfram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143000"/>
            <a:ext cx="3805238" cy="526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Recursive Functions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001000" cy="48768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z="2000" b="1" dirty="0" smtClean="0">
                <a:solidFill>
                  <a:srgbClr val="CC0099"/>
                </a:solidFill>
                <a:latin typeface="Tahoma" pitchFamily="34" charset="0"/>
              </a:rPr>
              <a:t>Recursion is a very powerful algorithm design tool.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sz="5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000" b="1" dirty="0" smtClean="0">
                <a:solidFill>
                  <a:srgbClr val="CC0099"/>
                </a:solidFill>
                <a:latin typeface="Tahoma" pitchFamily="34" charset="0"/>
              </a:rPr>
              <a:t>A subprogram is called recursive if it </a:t>
            </a:r>
            <a:r>
              <a:rPr lang="en-US" sz="2000" b="1" i="1" dirty="0" smtClean="0">
                <a:solidFill>
                  <a:srgbClr val="CC0099"/>
                </a:solidFill>
                <a:latin typeface="Tahoma" pitchFamily="34" charset="0"/>
              </a:rPr>
              <a:t>directly or indirectly </a:t>
            </a:r>
            <a:r>
              <a:rPr lang="en-US" sz="2000" b="1" dirty="0" smtClean="0">
                <a:solidFill>
                  <a:srgbClr val="CC0099"/>
                </a:solidFill>
                <a:latin typeface="Tahoma" pitchFamily="34" charset="0"/>
              </a:rPr>
              <a:t>calls it self.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sz="9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1371600" lvl="2" indent="-457200" eaLnBrk="1" hangingPunct="1">
              <a:lnSpc>
                <a:spcPct val="80000"/>
              </a:lnSpc>
              <a:buFontTx/>
              <a:buAutoNum type="arabicPeriod"/>
            </a:pPr>
            <a:endParaRPr lang="en-US" sz="8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000" b="1" dirty="0" smtClean="0">
                <a:solidFill>
                  <a:srgbClr val="CC0099"/>
                </a:solidFill>
                <a:latin typeface="Tahoma" pitchFamily="34" charset="0"/>
              </a:rPr>
              <a:t>The end condition specifies where to stop.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sz="8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000" b="1" dirty="0" smtClean="0">
                <a:solidFill>
                  <a:srgbClr val="CC0099"/>
                </a:solidFill>
                <a:latin typeface="Tahoma" pitchFamily="34" charset="0"/>
              </a:rPr>
              <a:t>With each recursive step you should come closer to the end condition.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sz="800" b="1" dirty="0" smtClean="0">
              <a:solidFill>
                <a:srgbClr val="CC00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000" b="1" dirty="0" smtClean="0">
                <a:solidFill>
                  <a:srgbClr val="CC0099"/>
                </a:solidFill>
                <a:latin typeface="Tahoma" pitchFamily="34" charset="0"/>
              </a:rPr>
              <a:t>In other words, with a recursive step, you apply the same algorithm on a scaled down problem and its process is repeated until the end of condition is reached. 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752600" y="2667000"/>
            <a:ext cx="4876800" cy="1524000"/>
          </a:xfrm>
          <a:prstGeom prst="rect">
            <a:avLst/>
          </a:prstGeom>
          <a:solidFill>
            <a:srgbClr val="FF7C8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80000"/>
              </a:lnSpc>
            </a:pPr>
            <a:endParaRPr lang="en-US" sz="2000" dirty="0" smtClean="0">
              <a:solidFill>
                <a:srgbClr val="333399"/>
              </a:solidFill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000" dirty="0" smtClean="0">
                <a:solidFill>
                  <a:srgbClr val="333399"/>
                </a:solidFill>
                <a:latin typeface="Tahoma" pitchFamily="34" charset="0"/>
              </a:rPr>
              <a:t>A recursive program has two parts: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sz="2000" dirty="0" smtClean="0">
              <a:solidFill>
                <a:srgbClr val="333399"/>
              </a:solidFill>
              <a:latin typeface="Tahoma" pitchFamily="34" charset="0"/>
            </a:endParaRPr>
          </a:p>
          <a:p>
            <a:pPr marL="1371600" lvl="2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 smtClean="0">
                <a:solidFill>
                  <a:srgbClr val="333399"/>
                </a:solidFill>
                <a:latin typeface="Tahoma" pitchFamily="34" charset="0"/>
              </a:rPr>
              <a:t>The End Condition.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 smtClean="0">
                <a:solidFill>
                  <a:srgbClr val="333399"/>
                </a:solidFill>
                <a:latin typeface="Tahoma" pitchFamily="34" charset="0"/>
              </a:rPr>
              <a:t>The Recursive Step.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dirty="0" smtClean="0">
                <a:solidFill>
                  <a:schemeClr val="tx1"/>
                </a:solidFill>
                <a:latin typeface="Tahoma" pitchFamily="34" charset="0"/>
              </a:rPr>
              <a:t>How Does Recursion Work</a:t>
            </a:r>
            <a:br>
              <a:rPr lang="en-US" sz="3200" b="1" dirty="0" smtClean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3200" b="1" dirty="0" smtClean="0">
                <a:solidFill>
                  <a:schemeClr val="tx1"/>
                </a:solidFill>
                <a:latin typeface="Tahoma" pitchFamily="34" charset="0"/>
              </a:rPr>
              <a:t>Some More Recursive Functions and Their Simulation</a:t>
            </a:r>
            <a:r>
              <a:rPr lang="en-US" b="1" dirty="0" smtClean="0">
                <a:solidFill>
                  <a:srgbClr val="FFFF00"/>
                </a:solidFill>
                <a:latin typeface="Tahoma" pitchFamily="34" charset="0"/>
              </a:rPr>
              <a:t/>
            </a:r>
            <a:br>
              <a:rPr lang="en-US" b="1" dirty="0" smtClean="0">
                <a:solidFill>
                  <a:srgbClr val="FFFF00"/>
                </a:solidFill>
                <a:latin typeface="Tahoma" pitchFamily="34" charset="0"/>
              </a:rPr>
            </a:br>
            <a:endParaRPr lang="en-US" b="1" dirty="0" smtClean="0">
              <a:solidFill>
                <a:srgbClr val="FFFF00"/>
              </a:solidFill>
              <a:latin typeface="Tahoma" pitchFamily="34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000" dirty="0" err="1" smtClean="0">
                <a:latin typeface="Arial" charset="0"/>
              </a:rPr>
              <a:t>int</a:t>
            </a:r>
            <a:r>
              <a:rPr lang="en-US" sz="2000" dirty="0" smtClean="0">
                <a:latin typeface="Arial" charset="0"/>
              </a:rPr>
              <a:t> factorial (</a:t>
            </a:r>
            <a:r>
              <a:rPr lang="en-US" sz="2000" dirty="0" err="1" smtClean="0">
                <a:latin typeface="Arial" charset="0"/>
              </a:rPr>
              <a:t>int</a:t>
            </a:r>
            <a:r>
              <a:rPr lang="en-US" sz="2000" dirty="0" smtClean="0">
                <a:latin typeface="Arial" charset="0"/>
              </a:rPr>
              <a:t> n)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latin typeface="Arial" charset="0"/>
              </a:rPr>
              <a:t>{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latin typeface="Arial" charset="0"/>
              </a:rPr>
              <a:t>		</a:t>
            </a:r>
            <a:r>
              <a:rPr lang="en-US" sz="2000" dirty="0" err="1" smtClean="0">
                <a:latin typeface="Arial" charset="0"/>
              </a:rPr>
              <a:t>int</a:t>
            </a:r>
            <a:r>
              <a:rPr lang="en-US" sz="2000" dirty="0" smtClean="0">
                <a:latin typeface="Arial" charset="0"/>
              </a:rPr>
              <a:t> temp;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if (n&lt;0)		return 0;	//end condition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else if (n &lt;=1)	return 1;	//end condition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else  {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	temp = factorial(n-1);	//recursive step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	return n*temp;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latin typeface="Arial" charset="0"/>
              </a:rPr>
              <a:t>		}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2000" dirty="0" smtClean="0">
                <a:latin typeface="Arial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Simulation of factorial(4)</a:t>
            </a:r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762000" y="43434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/>
            </a:pPr>
            <a:r>
              <a:rPr lang="en-US" sz="2000" b="0">
                <a:solidFill>
                  <a:srgbClr val="CC3300"/>
                </a:solidFill>
                <a:latin typeface="Arial" charset="0"/>
              </a:rPr>
              <a:t>	if (n&lt;0)		return 0;	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/>
            </a:pPr>
            <a:r>
              <a:rPr lang="en-US" sz="2000" b="0">
                <a:solidFill>
                  <a:srgbClr val="CC3300"/>
                </a:solidFill>
                <a:latin typeface="Arial" charset="0"/>
              </a:rPr>
              <a:t>	else if (n &lt;=1)	return 1;	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/>
            </a:pPr>
            <a:r>
              <a:rPr lang="en-US" sz="2000" b="0">
                <a:solidFill>
                  <a:srgbClr val="CC3300"/>
                </a:solidFill>
                <a:latin typeface="Arial" charset="0"/>
              </a:rPr>
              <a:t>	else  {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/>
            </a:pPr>
            <a:r>
              <a:rPr lang="en-US" sz="2000" b="0">
                <a:solidFill>
                  <a:srgbClr val="CC3300"/>
                </a:solidFill>
                <a:latin typeface="Arial" charset="0"/>
              </a:rPr>
              <a:t>		temp = factorial (n-1);	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/>
            </a:pPr>
            <a:r>
              <a:rPr lang="en-US" sz="2000" b="0">
                <a:solidFill>
                  <a:srgbClr val="CC3300"/>
                </a:solidFill>
                <a:latin typeface="Arial" charset="0"/>
              </a:rPr>
              <a:t>		return n*temp;</a:t>
            </a:r>
          </a:p>
          <a:p>
            <a:pPr marL="990600" lvl="1" indent="-5334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2000" b="0">
                <a:solidFill>
                  <a:srgbClr val="CC3300"/>
                </a:solidFill>
                <a:latin typeface="Arial" charset="0"/>
              </a:rPr>
              <a:t>      }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76400" y="1752600"/>
            <a:ext cx="1524000" cy="2057400"/>
            <a:chOff x="3504" y="2688"/>
            <a:chExt cx="960" cy="1296"/>
          </a:xfrm>
        </p:grpSpPr>
        <p:sp>
          <p:nvSpPr>
            <p:cNvPr id="34839" name="Rectangle 6"/>
            <p:cNvSpPr>
              <a:spLocks noChangeArrowheads="1"/>
            </p:cNvSpPr>
            <p:nvPr/>
          </p:nvSpPr>
          <p:spPr bwMode="auto">
            <a:xfrm>
              <a:off x="3504" y="2688"/>
              <a:ext cx="96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latin typeface="Tahoma" pitchFamily="34" charset="0"/>
                </a:rPr>
                <a:t>n = 4</a:t>
              </a:r>
            </a:p>
          </p:txBody>
        </p:sp>
        <p:sp>
          <p:nvSpPr>
            <p:cNvPr id="34840" name="Rectangle 7"/>
            <p:cNvSpPr>
              <a:spLocks noChangeArrowheads="1"/>
            </p:cNvSpPr>
            <p:nvPr/>
          </p:nvSpPr>
          <p:spPr bwMode="auto">
            <a:xfrm>
              <a:off x="3504" y="2928"/>
              <a:ext cx="960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1.</a:t>
              </a:r>
            </a:p>
            <a:p>
              <a:r>
                <a:rPr lang="en-US" sz="1600">
                  <a:latin typeface="Tahoma" pitchFamily="34" charset="0"/>
                </a:rPr>
                <a:t>2.</a:t>
              </a:r>
            </a:p>
            <a:p>
              <a:r>
                <a:rPr lang="en-US" sz="1600">
                  <a:latin typeface="Tahoma" pitchFamily="34" charset="0"/>
                </a:rPr>
                <a:t>3.</a:t>
              </a:r>
            </a:p>
            <a:p>
              <a:r>
                <a:rPr lang="en-US" sz="1600">
                  <a:latin typeface="Tahoma" pitchFamily="34" charset="0"/>
                </a:rPr>
                <a:t>4.</a:t>
              </a:r>
            </a:p>
            <a:p>
              <a:r>
                <a:rPr lang="en-US" sz="1600"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200400" y="1752600"/>
            <a:ext cx="1524000" cy="2057400"/>
            <a:chOff x="1920" y="1104"/>
            <a:chExt cx="960" cy="1296"/>
          </a:xfrm>
        </p:grpSpPr>
        <p:sp>
          <p:nvSpPr>
            <p:cNvPr id="34837" name="Rectangle 12"/>
            <p:cNvSpPr>
              <a:spLocks noChangeArrowheads="1"/>
            </p:cNvSpPr>
            <p:nvPr/>
          </p:nvSpPr>
          <p:spPr bwMode="auto">
            <a:xfrm>
              <a:off x="1920" y="1104"/>
              <a:ext cx="96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latin typeface="Tahoma" pitchFamily="34" charset="0"/>
                </a:rPr>
                <a:t>n = 3</a:t>
              </a:r>
            </a:p>
          </p:txBody>
        </p:sp>
        <p:sp>
          <p:nvSpPr>
            <p:cNvPr id="34838" name="Rectangle 13"/>
            <p:cNvSpPr>
              <a:spLocks noChangeArrowheads="1"/>
            </p:cNvSpPr>
            <p:nvPr/>
          </p:nvSpPr>
          <p:spPr bwMode="auto">
            <a:xfrm>
              <a:off x="1920" y="1344"/>
              <a:ext cx="960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1.</a:t>
              </a:r>
            </a:p>
            <a:p>
              <a:r>
                <a:rPr lang="en-US" sz="1600">
                  <a:latin typeface="Tahoma" pitchFamily="34" charset="0"/>
                </a:rPr>
                <a:t>2.</a:t>
              </a:r>
            </a:p>
            <a:p>
              <a:r>
                <a:rPr lang="en-US" sz="1600">
                  <a:latin typeface="Tahoma" pitchFamily="34" charset="0"/>
                </a:rPr>
                <a:t>3.</a:t>
              </a:r>
            </a:p>
            <a:p>
              <a:r>
                <a:rPr lang="en-US" sz="1600">
                  <a:latin typeface="Tahoma" pitchFamily="34" charset="0"/>
                </a:rPr>
                <a:t>4.</a:t>
              </a:r>
            </a:p>
            <a:p>
              <a:r>
                <a:rPr lang="en-US" sz="1600"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724400" y="1752600"/>
            <a:ext cx="1524000" cy="2057400"/>
            <a:chOff x="3264" y="1104"/>
            <a:chExt cx="960" cy="1296"/>
          </a:xfrm>
        </p:grpSpPr>
        <p:sp>
          <p:nvSpPr>
            <p:cNvPr id="34835" name="Rectangle 16"/>
            <p:cNvSpPr>
              <a:spLocks noChangeArrowheads="1"/>
            </p:cNvSpPr>
            <p:nvPr/>
          </p:nvSpPr>
          <p:spPr bwMode="auto">
            <a:xfrm>
              <a:off x="3264" y="1104"/>
              <a:ext cx="96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latin typeface="Tahoma" pitchFamily="34" charset="0"/>
                </a:rPr>
                <a:t>n = 2</a:t>
              </a:r>
            </a:p>
          </p:txBody>
        </p:sp>
        <p:sp>
          <p:nvSpPr>
            <p:cNvPr id="34836" name="Rectangle 17"/>
            <p:cNvSpPr>
              <a:spLocks noChangeArrowheads="1"/>
            </p:cNvSpPr>
            <p:nvPr/>
          </p:nvSpPr>
          <p:spPr bwMode="auto">
            <a:xfrm>
              <a:off x="3264" y="1344"/>
              <a:ext cx="960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1.</a:t>
              </a:r>
            </a:p>
            <a:p>
              <a:r>
                <a:rPr lang="en-US" sz="1600">
                  <a:latin typeface="Tahoma" pitchFamily="34" charset="0"/>
                </a:rPr>
                <a:t>2.</a:t>
              </a:r>
            </a:p>
            <a:p>
              <a:r>
                <a:rPr lang="en-US" sz="1600">
                  <a:latin typeface="Tahoma" pitchFamily="34" charset="0"/>
                </a:rPr>
                <a:t>3.</a:t>
              </a:r>
            </a:p>
            <a:p>
              <a:r>
                <a:rPr lang="en-US" sz="1600">
                  <a:latin typeface="Tahoma" pitchFamily="34" charset="0"/>
                </a:rPr>
                <a:t>4.</a:t>
              </a:r>
            </a:p>
            <a:p>
              <a:r>
                <a:rPr lang="en-US" sz="1600"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248400" y="1752600"/>
            <a:ext cx="1524000" cy="2057400"/>
            <a:chOff x="4608" y="1104"/>
            <a:chExt cx="960" cy="1296"/>
          </a:xfrm>
        </p:grpSpPr>
        <p:sp>
          <p:nvSpPr>
            <p:cNvPr id="34833" name="Rectangle 20"/>
            <p:cNvSpPr>
              <a:spLocks noChangeArrowheads="1"/>
            </p:cNvSpPr>
            <p:nvPr/>
          </p:nvSpPr>
          <p:spPr bwMode="auto">
            <a:xfrm>
              <a:off x="4608" y="1104"/>
              <a:ext cx="96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latin typeface="Tahoma" pitchFamily="34" charset="0"/>
                </a:rPr>
                <a:t>n = 1</a:t>
              </a:r>
            </a:p>
          </p:txBody>
        </p:sp>
        <p:sp>
          <p:nvSpPr>
            <p:cNvPr id="34834" name="Rectangle 21"/>
            <p:cNvSpPr>
              <a:spLocks noChangeArrowheads="1"/>
            </p:cNvSpPr>
            <p:nvPr/>
          </p:nvSpPr>
          <p:spPr bwMode="auto">
            <a:xfrm>
              <a:off x="4608" y="1344"/>
              <a:ext cx="960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1.</a:t>
              </a:r>
            </a:p>
            <a:p>
              <a:r>
                <a:rPr lang="en-US" sz="1600">
                  <a:latin typeface="Tahoma" pitchFamily="34" charset="0"/>
                </a:rPr>
                <a:t>2. return 1</a:t>
              </a: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  <a:p>
              <a:r>
                <a:rPr lang="en-US" sz="1600"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6" name="Group 56"/>
          <p:cNvGrpSpPr>
            <a:grpSpLocks/>
          </p:cNvGrpSpPr>
          <p:nvPr/>
        </p:nvGrpSpPr>
        <p:grpSpPr bwMode="auto">
          <a:xfrm>
            <a:off x="4724400" y="1752600"/>
            <a:ext cx="3048000" cy="2057400"/>
            <a:chOff x="2976" y="1104"/>
            <a:chExt cx="1920" cy="1296"/>
          </a:xfrm>
        </p:grpSpPr>
        <p:sp>
          <p:nvSpPr>
            <p:cNvPr id="34831" name="Rectangle 18"/>
            <p:cNvSpPr>
              <a:spLocks noChangeArrowheads="1"/>
            </p:cNvSpPr>
            <p:nvPr/>
          </p:nvSpPr>
          <p:spPr bwMode="auto">
            <a:xfrm>
              <a:off x="2976" y="2064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    temp = 1</a:t>
              </a:r>
            </a:p>
            <a:p>
              <a:r>
                <a:rPr lang="en-US" sz="1600">
                  <a:latin typeface="Tahoma" pitchFamily="34" charset="0"/>
                </a:rPr>
                <a:t>5. return 2*1</a:t>
              </a:r>
            </a:p>
          </p:txBody>
        </p:sp>
        <p:sp>
          <p:nvSpPr>
            <p:cNvPr id="34832" name="Rectangle 32"/>
            <p:cNvSpPr>
              <a:spLocks noChangeArrowheads="1"/>
            </p:cNvSpPr>
            <p:nvPr/>
          </p:nvSpPr>
          <p:spPr bwMode="auto">
            <a:xfrm>
              <a:off x="3936" y="1104"/>
              <a:ext cx="960" cy="12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1.</a:t>
              </a: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2. return 1</a:t>
              </a: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7" name="Group 57"/>
          <p:cNvGrpSpPr>
            <a:grpSpLocks/>
          </p:cNvGrpSpPr>
          <p:nvPr/>
        </p:nvGrpSpPr>
        <p:grpSpPr bwMode="auto">
          <a:xfrm>
            <a:off x="3200400" y="1752600"/>
            <a:ext cx="3048000" cy="2057400"/>
            <a:chOff x="2016" y="1104"/>
            <a:chExt cx="1920" cy="1296"/>
          </a:xfrm>
        </p:grpSpPr>
        <p:sp>
          <p:nvSpPr>
            <p:cNvPr id="34829" name="Rectangle 14"/>
            <p:cNvSpPr>
              <a:spLocks noChangeArrowheads="1"/>
            </p:cNvSpPr>
            <p:nvPr/>
          </p:nvSpPr>
          <p:spPr bwMode="auto">
            <a:xfrm>
              <a:off x="2016" y="2064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    temp = 2</a:t>
              </a:r>
            </a:p>
            <a:p>
              <a:r>
                <a:rPr lang="en-US" sz="1600">
                  <a:latin typeface="Tahoma" pitchFamily="34" charset="0"/>
                </a:rPr>
                <a:t>5. return 3*2</a:t>
              </a:r>
            </a:p>
          </p:txBody>
        </p:sp>
        <p:sp>
          <p:nvSpPr>
            <p:cNvPr id="34830" name="Rectangle 53"/>
            <p:cNvSpPr>
              <a:spLocks noChangeArrowheads="1"/>
            </p:cNvSpPr>
            <p:nvPr/>
          </p:nvSpPr>
          <p:spPr bwMode="auto">
            <a:xfrm>
              <a:off x="2976" y="1104"/>
              <a:ext cx="960" cy="12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1.</a:t>
              </a: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2. return 1</a:t>
              </a: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1676400" y="1752600"/>
            <a:ext cx="3048000" cy="2057400"/>
            <a:chOff x="1056" y="1104"/>
            <a:chExt cx="1920" cy="1296"/>
          </a:xfrm>
        </p:grpSpPr>
        <p:sp>
          <p:nvSpPr>
            <p:cNvPr id="34827" name="Rectangle 8"/>
            <p:cNvSpPr>
              <a:spLocks noChangeArrowheads="1"/>
            </p:cNvSpPr>
            <p:nvPr/>
          </p:nvSpPr>
          <p:spPr bwMode="auto">
            <a:xfrm>
              <a:off x="1056" y="2112"/>
              <a:ext cx="9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    temp = 6</a:t>
              </a:r>
            </a:p>
            <a:p>
              <a:r>
                <a:rPr lang="en-US" sz="1600">
                  <a:latin typeface="Tahoma" pitchFamily="34" charset="0"/>
                </a:rPr>
                <a:t>5. return 4*6</a:t>
              </a:r>
            </a:p>
          </p:txBody>
        </p:sp>
        <p:sp>
          <p:nvSpPr>
            <p:cNvPr id="34828" name="Rectangle 54"/>
            <p:cNvSpPr>
              <a:spLocks noChangeArrowheads="1"/>
            </p:cNvSpPr>
            <p:nvPr/>
          </p:nvSpPr>
          <p:spPr bwMode="auto">
            <a:xfrm>
              <a:off x="2016" y="1104"/>
              <a:ext cx="960" cy="12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1.</a:t>
              </a: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2. return 1</a:t>
              </a: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   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Fibonacci Sequence</a:t>
            </a:r>
            <a:b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ahoma" pitchFamily="34" charset="0"/>
              </a:rPr>
              <a:t>0,1,1,2,3,5,8,13,…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err="1" smtClean="0">
                <a:latin typeface="Arial" charset="0"/>
              </a:rPr>
              <a:t>int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fibonacci</a:t>
            </a:r>
            <a:r>
              <a:rPr lang="en-US" sz="2400" dirty="0" smtClean="0">
                <a:latin typeface="Arial" charset="0"/>
              </a:rPr>
              <a:t> (</a:t>
            </a:r>
            <a:r>
              <a:rPr lang="en-US" sz="2400" dirty="0" err="1" smtClean="0">
                <a:latin typeface="Arial" charset="0"/>
              </a:rPr>
              <a:t>int</a:t>
            </a:r>
            <a:r>
              <a:rPr lang="en-US" sz="2400" dirty="0" smtClean="0">
                <a:latin typeface="Arial" charset="0"/>
              </a:rPr>
              <a:t> n)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{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</a:t>
            </a:r>
            <a:r>
              <a:rPr lang="en-US" sz="2400" dirty="0" err="1" smtClean="0">
                <a:latin typeface="Arial" charset="0"/>
              </a:rPr>
              <a:t>int</a:t>
            </a:r>
            <a:r>
              <a:rPr lang="en-US" sz="2400" dirty="0" smtClean="0">
                <a:latin typeface="Arial" charset="0"/>
              </a:rPr>
              <a:t> temp1, temp2;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if (n&lt;=0)	 return 0;		//end condition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else if (n&lt;=2)	return 1;	//end condition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else{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temp1 = </a:t>
            </a:r>
            <a:r>
              <a:rPr lang="en-US" sz="2400" dirty="0" err="1" smtClean="0">
                <a:latin typeface="Arial" charset="0"/>
              </a:rPr>
              <a:t>fibonacci</a:t>
            </a:r>
            <a:r>
              <a:rPr lang="en-US" sz="2400" dirty="0" smtClean="0">
                <a:latin typeface="Arial" charset="0"/>
              </a:rPr>
              <a:t>(n - 1);	// recursive step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	 temp2 = </a:t>
            </a:r>
            <a:r>
              <a:rPr lang="en-US" sz="2400" dirty="0" err="1" smtClean="0">
                <a:latin typeface="Arial" charset="0"/>
              </a:rPr>
              <a:t>fibonacci</a:t>
            </a:r>
            <a:r>
              <a:rPr lang="en-US" sz="2400" dirty="0" smtClean="0">
                <a:latin typeface="Arial" charset="0"/>
              </a:rPr>
              <a:t>(n - 2);	//recursive step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	 return temp1 + temp2;	//</a:t>
            </a:r>
            <a:r>
              <a:rPr lang="en-US" sz="1600" dirty="0" smtClean="0">
                <a:latin typeface="Arial" charset="0"/>
              </a:rPr>
              <a:t>same as return fib(N-1)+fib(N-2)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	}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latin typeface="Arial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 smtClean="0">
                <a:latin typeface="Tahoma" pitchFamily="34" charset="0"/>
              </a:rPr>
              <a:t>Simulation of fibonacci(4)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304800" y="4267200"/>
            <a:ext cx="41148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/>
            </a:pPr>
            <a:r>
              <a:rPr lang="en-US" sz="1800" b="0">
                <a:solidFill>
                  <a:srgbClr val="CC3300"/>
                </a:solidFill>
                <a:latin typeface="Arial" charset="0"/>
              </a:rPr>
              <a:t>if (n&lt;=0)           return 0;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/>
            </a:pPr>
            <a:r>
              <a:rPr lang="en-US" sz="1800" b="0">
                <a:solidFill>
                  <a:srgbClr val="CC3300"/>
                </a:solidFill>
                <a:latin typeface="Arial" charset="0"/>
              </a:rPr>
              <a:t>else if (n&lt;=2)   return 1;	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1800" b="0">
                <a:solidFill>
                  <a:srgbClr val="CC3300"/>
                </a:solidFill>
                <a:latin typeface="Arial" charset="0"/>
              </a:rPr>
              <a:t>	else {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 startAt="3"/>
            </a:pPr>
            <a:r>
              <a:rPr lang="en-US" sz="1800" b="0">
                <a:solidFill>
                  <a:srgbClr val="CC3300"/>
                </a:solidFill>
                <a:latin typeface="Arial" charset="0"/>
              </a:rPr>
              <a:t>      temp1 = fibonacci(n - 1);	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 startAt="3"/>
            </a:pPr>
            <a:r>
              <a:rPr lang="en-US" sz="1800" b="0">
                <a:solidFill>
                  <a:srgbClr val="CC3300"/>
                </a:solidFill>
                <a:latin typeface="Arial" charset="0"/>
              </a:rPr>
              <a:t>	 temp2 = fibonacci(n - 2);	</a:t>
            </a: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  <a:buFontTx/>
              <a:buAutoNum type="arabicPeriod" startAt="3"/>
            </a:pPr>
            <a:r>
              <a:rPr lang="en-US" sz="1800" b="0">
                <a:solidFill>
                  <a:srgbClr val="CC3300"/>
                </a:solidFill>
                <a:latin typeface="Arial" charset="0"/>
              </a:rPr>
              <a:t>	 return temp1 + temp2;	</a:t>
            </a:r>
            <a:endParaRPr lang="en-US" sz="1200" b="0">
              <a:solidFill>
                <a:srgbClr val="CC3300"/>
              </a:solidFill>
              <a:latin typeface="Arial" charset="0"/>
            </a:endParaRPr>
          </a:p>
          <a:p>
            <a:pPr marL="609600" indent="-60960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1800" b="0">
                <a:solidFill>
                  <a:srgbClr val="CC3300"/>
                </a:solidFill>
                <a:latin typeface="Arial" charset="0"/>
              </a:rPr>
              <a:t>	}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724400" y="1066800"/>
            <a:ext cx="1524000" cy="2057400"/>
            <a:chOff x="3504" y="2688"/>
            <a:chExt cx="960" cy="1296"/>
          </a:xfrm>
        </p:grpSpPr>
        <p:sp>
          <p:nvSpPr>
            <p:cNvPr id="36893" name="Rectangle 12"/>
            <p:cNvSpPr>
              <a:spLocks noChangeArrowheads="1"/>
            </p:cNvSpPr>
            <p:nvPr/>
          </p:nvSpPr>
          <p:spPr bwMode="auto">
            <a:xfrm>
              <a:off x="3504" y="2688"/>
              <a:ext cx="96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latin typeface="Tahoma" pitchFamily="34" charset="0"/>
                </a:rPr>
                <a:t>n = 2</a:t>
              </a:r>
            </a:p>
          </p:txBody>
        </p:sp>
        <p:sp>
          <p:nvSpPr>
            <p:cNvPr id="36894" name="Rectangle 13"/>
            <p:cNvSpPr>
              <a:spLocks noChangeArrowheads="1"/>
            </p:cNvSpPr>
            <p:nvPr/>
          </p:nvSpPr>
          <p:spPr bwMode="auto">
            <a:xfrm>
              <a:off x="3504" y="2928"/>
              <a:ext cx="960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457200" indent="-457200"/>
              <a:r>
                <a:rPr lang="en-US" sz="1600">
                  <a:latin typeface="Tahoma" pitchFamily="34" charset="0"/>
                </a:rPr>
                <a:t>1.</a:t>
              </a:r>
            </a:p>
            <a:p>
              <a:pPr marL="457200" indent="-457200">
                <a:buFontTx/>
                <a:buAutoNum type="arabicPeriod" startAt="2"/>
              </a:pPr>
              <a:r>
                <a:rPr lang="en-US" sz="1600">
                  <a:latin typeface="Tahoma" pitchFamily="34" charset="0"/>
                </a:rPr>
                <a:t>return 1</a:t>
              </a:r>
            </a:p>
            <a:p>
              <a:pPr marL="457200" indent="-457200"/>
              <a:endParaRPr lang="en-US" sz="1600">
                <a:latin typeface="Tahoma" pitchFamily="34" charset="0"/>
              </a:endParaRPr>
            </a:p>
            <a:p>
              <a:pPr marL="457200" indent="-457200"/>
              <a:endParaRPr lang="en-US" sz="1600">
                <a:latin typeface="Tahoma" pitchFamily="34" charset="0"/>
              </a:endParaRPr>
            </a:p>
            <a:p>
              <a:pPr marL="457200" indent="-457200"/>
              <a:endParaRPr lang="en-US" sz="1600">
                <a:latin typeface="Tahoma" pitchFamily="34" charset="0"/>
              </a:endParaRPr>
            </a:p>
            <a:p>
              <a:pPr marL="457200" indent="-457200"/>
              <a:endParaRPr lang="en-US" sz="1600">
                <a:latin typeface="Tahoma" pitchFamily="34" charset="0"/>
              </a:endParaRPr>
            </a:p>
            <a:p>
              <a:pPr marL="457200" indent="-457200"/>
              <a:r>
                <a:rPr lang="en-US" sz="1600"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3200400" y="1066800"/>
            <a:ext cx="1524000" cy="2057400"/>
            <a:chOff x="3504" y="2688"/>
            <a:chExt cx="960" cy="1296"/>
          </a:xfrm>
        </p:grpSpPr>
        <p:sp>
          <p:nvSpPr>
            <p:cNvPr id="36889" name="Rectangle 35"/>
            <p:cNvSpPr>
              <a:spLocks noChangeArrowheads="1"/>
            </p:cNvSpPr>
            <p:nvPr/>
          </p:nvSpPr>
          <p:spPr bwMode="auto">
            <a:xfrm>
              <a:off x="3504" y="2688"/>
              <a:ext cx="96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latin typeface="Tahoma" pitchFamily="34" charset="0"/>
                </a:rPr>
                <a:t>n = 3</a:t>
              </a:r>
            </a:p>
          </p:txBody>
        </p:sp>
        <p:sp>
          <p:nvSpPr>
            <p:cNvPr id="36890" name="Rectangle 36"/>
            <p:cNvSpPr>
              <a:spLocks noChangeArrowheads="1"/>
            </p:cNvSpPr>
            <p:nvPr/>
          </p:nvSpPr>
          <p:spPr bwMode="auto">
            <a:xfrm>
              <a:off x="3504" y="2928"/>
              <a:ext cx="960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1.</a:t>
              </a:r>
            </a:p>
            <a:p>
              <a:r>
                <a:rPr lang="en-US" sz="1600">
                  <a:latin typeface="Tahoma" pitchFamily="34" charset="0"/>
                </a:rPr>
                <a:t>2.</a:t>
              </a:r>
            </a:p>
            <a:p>
              <a:r>
                <a:rPr lang="en-US" sz="1600">
                  <a:latin typeface="Tahoma" pitchFamily="34" charset="0"/>
                </a:rPr>
                <a:t>3.</a:t>
              </a:r>
            </a:p>
            <a:p>
              <a:r>
                <a:rPr lang="en-US" sz="1600">
                  <a:latin typeface="Tahoma" pitchFamily="34" charset="0"/>
                </a:rPr>
                <a:t>     </a:t>
              </a: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</p:txBody>
        </p:sp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3200400" y="1066800"/>
            <a:ext cx="3048000" cy="2057400"/>
            <a:chOff x="2016" y="672"/>
            <a:chExt cx="1920" cy="1296"/>
          </a:xfrm>
        </p:grpSpPr>
        <p:sp>
          <p:nvSpPr>
            <p:cNvPr id="36887" name="Rectangle 44"/>
            <p:cNvSpPr>
              <a:spLocks noChangeArrowheads="1"/>
            </p:cNvSpPr>
            <p:nvPr/>
          </p:nvSpPr>
          <p:spPr bwMode="auto">
            <a:xfrm>
              <a:off x="2016" y="1392"/>
              <a:ext cx="9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    temp1 = 1</a:t>
              </a:r>
            </a:p>
            <a:p>
              <a:r>
                <a:rPr lang="en-US" sz="1600">
                  <a:latin typeface="Tahoma" pitchFamily="34" charset="0"/>
                </a:rPr>
                <a:t>4.</a:t>
              </a:r>
            </a:p>
          </p:txBody>
        </p:sp>
        <p:sp>
          <p:nvSpPr>
            <p:cNvPr id="36888" name="Rectangle 45"/>
            <p:cNvSpPr>
              <a:spLocks noChangeArrowheads="1"/>
            </p:cNvSpPr>
            <p:nvPr/>
          </p:nvSpPr>
          <p:spPr bwMode="auto">
            <a:xfrm>
              <a:off x="2976" y="672"/>
              <a:ext cx="960" cy="12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1.</a:t>
              </a: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2. return 1</a:t>
              </a: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4724400" y="1066800"/>
            <a:ext cx="1524000" cy="2057400"/>
            <a:chOff x="3504" y="2688"/>
            <a:chExt cx="960" cy="1296"/>
          </a:xfrm>
        </p:grpSpPr>
        <p:sp>
          <p:nvSpPr>
            <p:cNvPr id="36885" name="Rectangle 50"/>
            <p:cNvSpPr>
              <a:spLocks noChangeArrowheads="1"/>
            </p:cNvSpPr>
            <p:nvPr/>
          </p:nvSpPr>
          <p:spPr bwMode="auto">
            <a:xfrm>
              <a:off x="3504" y="2688"/>
              <a:ext cx="96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latin typeface="Tahoma" pitchFamily="34" charset="0"/>
                </a:rPr>
                <a:t>n = 1</a:t>
              </a:r>
            </a:p>
          </p:txBody>
        </p:sp>
        <p:sp>
          <p:nvSpPr>
            <p:cNvPr id="36886" name="Rectangle 51"/>
            <p:cNvSpPr>
              <a:spLocks noChangeArrowheads="1"/>
            </p:cNvSpPr>
            <p:nvPr/>
          </p:nvSpPr>
          <p:spPr bwMode="auto">
            <a:xfrm>
              <a:off x="3504" y="2928"/>
              <a:ext cx="960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1.</a:t>
              </a:r>
            </a:p>
            <a:p>
              <a:r>
                <a:rPr lang="en-US" sz="1600">
                  <a:latin typeface="Tahoma" pitchFamily="34" charset="0"/>
                </a:rPr>
                <a:t>2.   return 1</a:t>
              </a: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  <a:p>
              <a:r>
                <a:rPr lang="en-US" sz="1600"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3200400" y="1066800"/>
            <a:ext cx="3048000" cy="2057400"/>
            <a:chOff x="2016" y="672"/>
            <a:chExt cx="1920" cy="1296"/>
          </a:xfrm>
        </p:grpSpPr>
        <p:sp>
          <p:nvSpPr>
            <p:cNvPr id="36883" name="Rectangle 54"/>
            <p:cNvSpPr>
              <a:spLocks noChangeArrowheads="1"/>
            </p:cNvSpPr>
            <p:nvPr/>
          </p:nvSpPr>
          <p:spPr bwMode="auto">
            <a:xfrm>
              <a:off x="2016" y="1584"/>
              <a:ext cx="912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    temp2 = 1</a:t>
              </a:r>
            </a:p>
            <a:p>
              <a:r>
                <a:rPr lang="en-US" sz="1600">
                  <a:latin typeface="Tahoma" pitchFamily="34" charset="0"/>
                </a:rPr>
                <a:t>5. return 2</a:t>
              </a:r>
            </a:p>
          </p:txBody>
        </p:sp>
        <p:sp>
          <p:nvSpPr>
            <p:cNvPr id="36884" name="Rectangle 55"/>
            <p:cNvSpPr>
              <a:spLocks noChangeArrowheads="1"/>
            </p:cNvSpPr>
            <p:nvPr/>
          </p:nvSpPr>
          <p:spPr bwMode="auto">
            <a:xfrm>
              <a:off x="2976" y="672"/>
              <a:ext cx="960" cy="12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1.</a:t>
              </a: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2. return 1</a:t>
              </a: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endParaRPr lang="en-US" sz="1600">
                <a:solidFill>
                  <a:schemeClr val="bg1"/>
                </a:solidFill>
                <a:latin typeface="Tahoma" pitchFamily="34" charset="0"/>
              </a:endParaRPr>
            </a:p>
            <a:p>
              <a:r>
                <a:rPr lang="en-US" sz="1600">
                  <a:solidFill>
                    <a:schemeClr val="bg1"/>
                  </a:solidFill>
                  <a:latin typeface="Tahoma" pitchFamily="34" charset="0"/>
                </a:rPr>
                <a:t>    </a:t>
              </a:r>
            </a:p>
          </p:txBody>
        </p:sp>
      </p:grpSp>
      <p:grpSp>
        <p:nvGrpSpPr>
          <p:cNvPr id="9" name="Group 14"/>
          <p:cNvGrpSpPr>
            <a:grpSpLocks/>
          </p:cNvGrpSpPr>
          <p:nvPr/>
        </p:nvGrpSpPr>
        <p:grpSpPr bwMode="auto">
          <a:xfrm>
            <a:off x="3200400" y="1066800"/>
            <a:ext cx="1524000" cy="2057400"/>
            <a:chOff x="3504" y="2688"/>
            <a:chExt cx="960" cy="1296"/>
          </a:xfrm>
        </p:grpSpPr>
        <p:sp>
          <p:nvSpPr>
            <p:cNvPr id="36879" name="Rectangle 15"/>
            <p:cNvSpPr>
              <a:spLocks noChangeArrowheads="1"/>
            </p:cNvSpPr>
            <p:nvPr/>
          </p:nvSpPr>
          <p:spPr bwMode="auto">
            <a:xfrm>
              <a:off x="3504" y="2688"/>
              <a:ext cx="96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latin typeface="Tahoma" pitchFamily="34" charset="0"/>
                </a:rPr>
                <a:t>n = 2</a:t>
              </a:r>
            </a:p>
          </p:txBody>
        </p:sp>
        <p:sp>
          <p:nvSpPr>
            <p:cNvPr id="36880" name="Rectangle 16"/>
            <p:cNvSpPr>
              <a:spLocks noChangeArrowheads="1"/>
            </p:cNvSpPr>
            <p:nvPr/>
          </p:nvSpPr>
          <p:spPr bwMode="auto">
            <a:xfrm>
              <a:off x="3504" y="2928"/>
              <a:ext cx="960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600">
                  <a:latin typeface="Tahoma" pitchFamily="34" charset="0"/>
                </a:rPr>
                <a:t>1.</a:t>
              </a:r>
            </a:p>
            <a:p>
              <a:r>
                <a:rPr lang="en-US" sz="1600">
                  <a:latin typeface="Tahoma" pitchFamily="34" charset="0"/>
                </a:rPr>
                <a:t>2.   return 1</a:t>
              </a: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  <a:p>
              <a:endParaRPr lang="en-US" sz="1600">
                <a:latin typeface="Tahoma" pitchFamily="34" charset="0"/>
              </a:endParaRPr>
            </a:p>
            <a:p>
              <a:r>
                <a:rPr lang="en-US" sz="1600">
                  <a:latin typeface="Tahoma" pitchFamily="34" charset="0"/>
                </a:rPr>
                <a:t>    </a:t>
              </a:r>
            </a:p>
          </p:txBody>
        </p:sp>
      </p:grpSp>
      <p:sp>
        <p:nvSpPr>
          <p:cNvPr id="36878" name="Rectangle 42"/>
          <p:cNvSpPr>
            <a:spLocks noChangeArrowheads="1"/>
          </p:cNvSpPr>
          <p:nvPr/>
        </p:nvSpPr>
        <p:spPr bwMode="auto">
          <a:xfrm>
            <a:off x="3200400" y="1066800"/>
            <a:ext cx="1524000" cy="2057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>
                <a:solidFill>
                  <a:schemeClr val="bg1"/>
                </a:solidFill>
                <a:latin typeface="Tahoma" pitchFamily="34" charset="0"/>
              </a:rPr>
              <a:t>1.</a:t>
            </a:r>
          </a:p>
          <a:p>
            <a:r>
              <a:rPr lang="en-US" sz="1600">
                <a:solidFill>
                  <a:schemeClr val="bg1"/>
                </a:solidFill>
                <a:latin typeface="Tahoma" pitchFamily="34" charset="0"/>
              </a:rPr>
              <a:t>2. return 1</a:t>
            </a:r>
          </a:p>
          <a:p>
            <a:endParaRPr lang="en-US" sz="1600">
              <a:solidFill>
                <a:schemeClr val="bg1"/>
              </a:solidFill>
              <a:latin typeface="Tahoma" pitchFamily="34" charset="0"/>
            </a:endParaRPr>
          </a:p>
          <a:p>
            <a:endParaRPr lang="en-US" sz="1600">
              <a:solidFill>
                <a:schemeClr val="bg1"/>
              </a:solidFill>
              <a:latin typeface="Tahoma" pitchFamily="34" charset="0"/>
            </a:endParaRPr>
          </a:p>
          <a:p>
            <a:r>
              <a:rPr lang="en-US" sz="1600">
                <a:solidFill>
                  <a:schemeClr val="bg1"/>
                </a:solidFill>
                <a:latin typeface="Tahoma" pitchFamily="34" charset="0"/>
              </a:rPr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307</Words>
  <Application>Microsoft Office PowerPoint</Application>
  <PresentationFormat>On-screen Show (4:3)</PresentationFormat>
  <Paragraphs>161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RECURSION</vt:lpstr>
      <vt:lpstr>Activation Records</vt:lpstr>
      <vt:lpstr>Recursive Functions</vt:lpstr>
      <vt:lpstr>How Does Recursion Work Some More Recursive Functions and Their Simulation </vt:lpstr>
      <vt:lpstr>Simulation of factorial(4)</vt:lpstr>
      <vt:lpstr>Fibonacci Sequence 0,1,1,2,3,5,8,13,…</vt:lpstr>
      <vt:lpstr>Simulation of fibonacci(4)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shahjee</cp:lastModifiedBy>
  <cp:revision>11</cp:revision>
  <dcterms:created xsi:type="dcterms:W3CDTF">2011-12-20T04:43:13Z</dcterms:created>
  <dcterms:modified xsi:type="dcterms:W3CDTF">2018-03-19T15:17:27Z</dcterms:modified>
</cp:coreProperties>
</file>