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4" r:id="rId9"/>
    <p:sldId id="265" r:id="rId10"/>
    <p:sldId id="267" r:id="rId11"/>
    <p:sldId id="281" r:id="rId12"/>
    <p:sldId id="268" r:id="rId13"/>
    <p:sldId id="269" r:id="rId14"/>
    <p:sldId id="270" r:id="rId15"/>
    <p:sldId id="283" r:id="rId16"/>
    <p:sldId id="284" r:id="rId17"/>
    <p:sldId id="285" r:id="rId18"/>
    <p:sldId id="286" r:id="rId19"/>
    <p:sldId id="287" r:id="rId20"/>
    <p:sldId id="288" r:id="rId21"/>
    <p:sldId id="289" r:id="rId22"/>
    <p:sldId id="290" r:id="rId23"/>
    <p:sldId id="291" r:id="rId24"/>
    <p:sldId id="292" r:id="rId25"/>
    <p:sldId id="293" r:id="rId26"/>
    <p:sldId id="294"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542" y="6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15"/>
          <p:cNvGrpSpPr/>
          <p:nvPr/>
        </p:nvGrpSpPr>
        <p:grpSpPr>
          <a:xfrm>
            <a:off x="0" y="0"/>
            <a:ext cx="9144000" cy="6858000"/>
            <a:chOff x="0" y="0"/>
            <a:chExt cx="9144000" cy="6858000"/>
          </a:xfrm>
        </p:grpSpPr>
        <p:sp>
          <p:nvSpPr>
            <p:cNvPr id="8" name="Rectangle 7"/>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9"/>
          <p:cNvSpPr/>
          <p:nvPr/>
        </p:nvSpPr>
        <p:spPr>
          <a:xfrm rot="10800000">
            <a:off x="891821" y="5617774"/>
            <a:ext cx="7382935"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989952" y="1016990"/>
            <a:ext cx="7179733" cy="4831643"/>
          </a:xfrm>
          <a:prstGeom prst="rect">
            <a:avLst/>
          </a:prstGeom>
          <a:solidFill>
            <a:schemeClr val="bg1">
              <a:lumMod val="75000"/>
              <a:lumOff val="25000"/>
            </a:schemeClr>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990600" y="1009650"/>
            <a:ext cx="7179733" cy="4831643"/>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769521" y="702069"/>
            <a:ext cx="567831" cy="567830"/>
          </a:xfrm>
          <a:prstGeom prst="rect">
            <a:avLst/>
          </a:prstGeom>
          <a:noFill/>
        </p:spPr>
      </p:pic>
      <p:pic>
        <p:nvPicPr>
          <p:cNvPr id="14"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7855433" y="749720"/>
            <a:ext cx="566928" cy="566928"/>
          </a:xfrm>
          <a:prstGeom prst="rect">
            <a:avLst/>
          </a:prstGeom>
          <a:noFill/>
        </p:spPr>
      </p:pic>
      <p:sp>
        <p:nvSpPr>
          <p:cNvPr id="2" name="Title 1"/>
          <p:cNvSpPr>
            <a:spLocks noGrp="1"/>
          </p:cNvSpPr>
          <p:nvPr>
            <p:ph type="ctrTitle"/>
          </p:nvPr>
        </p:nvSpPr>
        <p:spPr>
          <a:xfrm>
            <a:off x="1727201" y="1794935"/>
            <a:ext cx="5723468" cy="1828090"/>
          </a:xfrm>
        </p:spPr>
        <p:txBody>
          <a:bodyPr anchor="b">
            <a:normAutofit/>
          </a:bodyPr>
          <a:lstStyle>
            <a:lvl1pPr>
              <a:defRPr sz="4800"/>
            </a:lvl1pPr>
          </a:lstStyle>
          <a:p>
            <a:r>
              <a:rPr lang="en-US"/>
              <a:t>Click to edit Master title style</a:t>
            </a:r>
          </a:p>
        </p:txBody>
      </p:sp>
      <p:sp>
        <p:nvSpPr>
          <p:cNvPr id="3" name="Subtitle 2"/>
          <p:cNvSpPr>
            <a:spLocks noGrp="1"/>
          </p:cNvSpPr>
          <p:nvPr>
            <p:ph type="subTitle" idx="1"/>
          </p:nvPr>
        </p:nvSpPr>
        <p:spPr>
          <a:xfrm>
            <a:off x="1727200" y="3736622"/>
            <a:ext cx="5712179" cy="1524000"/>
          </a:xfrm>
        </p:spPr>
        <p:txBody>
          <a:bodyPr/>
          <a:lstStyle>
            <a:lvl1pPr marL="0" indent="0" algn="ctr">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770676" y="5357592"/>
            <a:ext cx="1213821" cy="365125"/>
          </a:xfrm>
        </p:spPr>
        <p:txBody>
          <a:bodyPr/>
          <a:lstStyle/>
          <a:p>
            <a:fld id="{F3595E0E-5D95-480A-B461-0B2DBE7C7A30}" type="datetimeFigureOut">
              <a:rPr lang="en-US" smtClean="0"/>
              <a:pPr/>
              <a:t>12/15/2024</a:t>
            </a:fld>
            <a:endParaRPr lang="en-US"/>
          </a:p>
        </p:txBody>
      </p:sp>
      <p:sp>
        <p:nvSpPr>
          <p:cNvPr id="5" name="Footer Placeholder 4"/>
          <p:cNvSpPr>
            <a:spLocks noGrp="1"/>
          </p:cNvSpPr>
          <p:nvPr>
            <p:ph type="ftr" sz="quarter" idx="11"/>
          </p:nvPr>
        </p:nvSpPr>
        <p:spPr>
          <a:xfrm>
            <a:off x="1174044" y="5357592"/>
            <a:ext cx="5034845" cy="365125"/>
          </a:xfrm>
        </p:spPr>
        <p:txBody>
          <a:bodyPr/>
          <a:lstStyle/>
          <a:p>
            <a:endParaRPr lang="en-US"/>
          </a:p>
        </p:txBody>
      </p:sp>
      <p:sp>
        <p:nvSpPr>
          <p:cNvPr id="6" name="Slide Number Placeholder 5"/>
          <p:cNvSpPr>
            <a:spLocks noGrp="1"/>
          </p:cNvSpPr>
          <p:nvPr>
            <p:ph type="sldNum" sz="quarter" idx="12"/>
          </p:nvPr>
        </p:nvSpPr>
        <p:spPr>
          <a:xfrm>
            <a:off x="6213930" y="5357592"/>
            <a:ext cx="554023" cy="365125"/>
          </a:xfrm>
        </p:spPr>
        <p:txBody>
          <a:bodyPr/>
          <a:lstStyle>
            <a:lvl1pPr algn="ctr">
              <a:defRPr/>
            </a:lvl1pPr>
          </a:lstStyle>
          <a:p>
            <a:fld id="{5106F55A-6189-4A17-91FE-37FACCE3BB7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595E0E-5D95-480A-B461-0B2DBE7C7A30}" type="datetimeFigureOut">
              <a:rPr lang="en-US" smtClean="0"/>
              <a:pPr/>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06F55A-6189-4A17-91FE-37FACCE3BB7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4979" y="2239430"/>
            <a:ext cx="6254044" cy="1362075"/>
          </a:xfrm>
        </p:spPr>
        <p:txBody>
          <a:bodyPr anchor="b"/>
          <a:lstStyle>
            <a:lvl1pPr algn="ctr">
              <a:defRPr sz="4000" b="0" cap="none" baseline="0"/>
            </a:lvl1pPr>
          </a:lstStyle>
          <a:p>
            <a:r>
              <a:rPr lang="en-US"/>
              <a:t>Click to edit Master title style</a:t>
            </a:r>
            <a:endParaRPr lang="en-US" dirty="0"/>
          </a:p>
        </p:txBody>
      </p:sp>
      <p:sp>
        <p:nvSpPr>
          <p:cNvPr id="3" name="Text Placeholder 2"/>
          <p:cNvSpPr>
            <a:spLocks noGrp="1"/>
          </p:cNvSpPr>
          <p:nvPr>
            <p:ph type="body" idx="1"/>
          </p:nvPr>
        </p:nvSpPr>
        <p:spPr>
          <a:xfrm>
            <a:off x="1456267" y="3725334"/>
            <a:ext cx="6231467" cy="1309511"/>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595E0E-5D95-480A-B461-0B2DBE7C7A30}" type="datetimeFigureOut">
              <a:rPr lang="en-US" smtClean="0"/>
              <a:pPr/>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06F55A-6189-4A17-91FE-37FACCE3BB7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F3595E0E-5D95-480A-B461-0B2DBE7C7A30}" type="datetimeFigureOut">
              <a:rPr lang="en-US" smtClean="0"/>
              <a:pPr/>
              <a:t>12/15/2024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06F55A-6189-4A17-91FE-37FACCE3BB7C}" type="slidenum">
              <a:rPr lang="en-US" smtClean="0"/>
              <a:pPr/>
              <a:t>‹#›</a:t>
            </a:fld>
            <a:endParaRPr lang="en-US"/>
          </a:p>
        </p:txBody>
      </p:sp>
      <p:sp>
        <p:nvSpPr>
          <p:cNvPr id="9" name="Content Placeholder 8"/>
          <p:cNvSpPr>
            <a:spLocks noGrp="1"/>
          </p:cNvSpPr>
          <p:nvPr>
            <p:ph sz="quarter" idx="13"/>
          </p:nvPr>
        </p:nvSpPr>
        <p:spPr>
          <a:xfrm>
            <a:off x="1298448" y="2121407"/>
            <a:ext cx="3200400" cy="36027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63440" y="2119313"/>
            <a:ext cx="3200400" cy="3605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557869" y="2122312"/>
            <a:ext cx="2939521" cy="820208"/>
          </a:xfrm>
        </p:spPr>
        <p:txBody>
          <a:bodyPr anchor="b">
            <a:norm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910669" y="2122311"/>
            <a:ext cx="2944368" cy="822960"/>
          </a:xfrm>
        </p:spPr>
        <p:txBody>
          <a:bodyPr anchor="b">
            <a:norm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F3595E0E-5D95-480A-B461-0B2DBE7C7A30}" type="datetimeFigureOut">
              <a:rPr lang="en-US" smtClean="0"/>
              <a:pPr/>
              <a:t>12/15/2024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06F55A-6189-4A17-91FE-37FACCE3BB7C}" type="slidenum">
              <a:rPr lang="en-US" smtClean="0"/>
              <a:pPr/>
              <a:t>‹#›</a:t>
            </a:fld>
            <a:endParaRPr lang="en-US"/>
          </a:p>
        </p:txBody>
      </p:sp>
      <p:sp>
        <p:nvSpPr>
          <p:cNvPr id="11" name="Content Placeholder 10"/>
          <p:cNvSpPr>
            <a:spLocks noGrp="1"/>
          </p:cNvSpPr>
          <p:nvPr>
            <p:ph sz="quarter" idx="13"/>
          </p:nvPr>
        </p:nvSpPr>
        <p:spPr>
          <a:xfrm>
            <a:off x="1298448" y="2944368"/>
            <a:ext cx="3227832" cy="2779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45151" y="2944813"/>
            <a:ext cx="3227832" cy="2779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3595E0E-5D95-480A-B461-0B2DBE7C7A30}" type="datetimeFigureOut">
              <a:rPr lang="en-US" smtClean="0"/>
              <a:pPr/>
              <a:t>12/15/2024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06F55A-6189-4A17-91FE-37FACCE3BB7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595E0E-5D95-480A-B461-0B2DBE7C7A30}" type="datetimeFigureOut">
              <a:rPr lang="en-US" smtClean="0"/>
              <a:pPr/>
              <a:t>12/15/2024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06F55A-6189-4A17-91FE-37FACCE3BB7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15"/>
          <p:cNvGrpSpPr/>
          <p:nvPr/>
        </p:nvGrpSpPr>
        <p:grpSpPr>
          <a:xfrm>
            <a:off x="0" y="0"/>
            <a:ext cx="9144000" cy="6858000"/>
            <a:chOff x="0" y="0"/>
            <a:chExt cx="9144000" cy="6858000"/>
          </a:xfrm>
        </p:grpSpPr>
        <p:sp>
          <p:nvSpPr>
            <p:cNvPr id="9" name="Rectangle 8"/>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Freeform 10"/>
          <p:cNvSpPr/>
          <p:nvPr/>
        </p:nvSpPr>
        <p:spPr>
          <a:xfrm rot="10800000">
            <a:off x="632177" y="6058038"/>
            <a:ext cx="772160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rot="60000">
            <a:off x="4468872" y="605163"/>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rot="60000">
            <a:off x="4471416" y="603504"/>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21540000">
            <a:off x="749204" y="576868"/>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rot="21540000">
            <a:off x="749808" y="576072"/>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2371106" y="293953"/>
            <a:ext cx="567831" cy="567830"/>
          </a:xfrm>
          <a:prstGeom prst="rect">
            <a:avLst/>
          </a:prstGeom>
          <a:noFill/>
        </p:spPr>
      </p:pic>
      <p:pic>
        <p:nvPicPr>
          <p:cNvPr id="19"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6279647" y="333163"/>
            <a:ext cx="566928" cy="566928"/>
          </a:xfrm>
          <a:prstGeom prst="rect">
            <a:avLst/>
          </a:prstGeom>
          <a:noFill/>
        </p:spPr>
      </p:pic>
      <p:sp>
        <p:nvSpPr>
          <p:cNvPr id="2" name="Title 1"/>
          <p:cNvSpPr>
            <a:spLocks noGrp="1"/>
          </p:cNvSpPr>
          <p:nvPr>
            <p:ph type="title"/>
          </p:nvPr>
        </p:nvSpPr>
        <p:spPr>
          <a:xfrm rot="-60000">
            <a:off x="1108976" y="2020042"/>
            <a:ext cx="3064827" cy="1503037"/>
          </a:xfrm>
        </p:spPr>
        <p:txBody>
          <a:bodyPr anchor="b">
            <a:normAutofit/>
          </a:bodyPr>
          <a:lstStyle>
            <a:lvl1pPr algn="ctr">
              <a:defRPr sz="2400" b="0"/>
            </a:lvl1pPr>
          </a:lstStyle>
          <a:p>
            <a:r>
              <a:rPr lang="en-US"/>
              <a:t>Click to edit Master title style</a:t>
            </a:r>
          </a:p>
        </p:txBody>
      </p:sp>
      <p:sp>
        <p:nvSpPr>
          <p:cNvPr id="3" name="Content Placeholder 2"/>
          <p:cNvSpPr>
            <a:spLocks noGrp="1"/>
          </p:cNvSpPr>
          <p:nvPr>
            <p:ph idx="1"/>
          </p:nvPr>
        </p:nvSpPr>
        <p:spPr>
          <a:xfrm rot="60000">
            <a:off x="4854291" y="1150993"/>
            <a:ext cx="3020792" cy="4625489"/>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rot="-60000">
            <a:off x="1148125" y="3623748"/>
            <a:ext cx="3048891" cy="2100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rot="60000">
            <a:off x="6341698" y="5885672"/>
            <a:ext cx="1213821" cy="365125"/>
          </a:xfrm>
        </p:spPr>
        <p:txBody>
          <a:bodyPr/>
          <a:lstStyle/>
          <a:p>
            <a:fld id="{F3595E0E-5D95-480A-B461-0B2DBE7C7A30}" type="datetimeFigureOut">
              <a:rPr lang="en-US" smtClean="0"/>
              <a:pPr/>
              <a:t>12/15/2024</a:t>
            </a:fld>
            <a:endParaRPr lang="en-US"/>
          </a:p>
        </p:txBody>
      </p:sp>
      <p:sp>
        <p:nvSpPr>
          <p:cNvPr id="6" name="Footer Placeholder 5"/>
          <p:cNvSpPr>
            <a:spLocks noGrp="1"/>
          </p:cNvSpPr>
          <p:nvPr>
            <p:ph type="ftr" sz="quarter" idx="11"/>
          </p:nvPr>
        </p:nvSpPr>
        <p:spPr>
          <a:xfrm rot="-60000">
            <a:off x="914554" y="5829261"/>
            <a:ext cx="3522607" cy="365125"/>
          </a:xfrm>
        </p:spPr>
        <p:txBody>
          <a:bodyPr/>
          <a:lstStyle/>
          <a:p>
            <a:endParaRPr lang="en-US"/>
          </a:p>
        </p:txBody>
      </p:sp>
      <p:sp>
        <p:nvSpPr>
          <p:cNvPr id="7" name="Slide Number Placeholder 6"/>
          <p:cNvSpPr>
            <a:spLocks noGrp="1"/>
          </p:cNvSpPr>
          <p:nvPr>
            <p:ph type="sldNum" sz="quarter" idx="12"/>
          </p:nvPr>
        </p:nvSpPr>
        <p:spPr>
          <a:xfrm rot="60000">
            <a:off x="7557313" y="5896961"/>
            <a:ext cx="554023" cy="365125"/>
          </a:xfrm>
        </p:spPr>
        <p:txBody>
          <a:bodyPr/>
          <a:lstStyle/>
          <a:p>
            <a:fld id="{5106F55A-6189-4A17-91FE-37FACCE3BB7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15"/>
          <p:cNvGrpSpPr/>
          <p:nvPr/>
        </p:nvGrpSpPr>
        <p:grpSpPr>
          <a:xfrm>
            <a:off x="0" y="0"/>
            <a:ext cx="9144000" cy="6858000"/>
            <a:chOff x="0" y="0"/>
            <a:chExt cx="9144000" cy="6858000"/>
          </a:xfrm>
        </p:grpSpPr>
        <p:sp>
          <p:nvSpPr>
            <p:cNvPr id="9" name="Rectangle 8"/>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30"/>
          <p:cNvSpPr/>
          <p:nvPr/>
        </p:nvSpPr>
        <p:spPr>
          <a:xfrm rot="10800000">
            <a:off x="632177" y="6058038"/>
            <a:ext cx="772160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rot="21540000">
            <a:off x="749204" y="576868"/>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21540000">
            <a:off x="745058" y="575769"/>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rot="60000">
            <a:off x="4468872" y="605163"/>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rot="60000">
            <a:off x="4464768" y="603920"/>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2371106" y="293953"/>
            <a:ext cx="567831" cy="567830"/>
          </a:xfrm>
          <a:prstGeom prst="rect">
            <a:avLst/>
          </a:prstGeom>
          <a:noFill/>
        </p:spPr>
      </p:pic>
      <p:pic>
        <p:nvPicPr>
          <p:cNvPr id="15"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6279647" y="333163"/>
            <a:ext cx="566928" cy="566928"/>
          </a:xfrm>
          <a:prstGeom prst="rect">
            <a:avLst/>
          </a:prstGeom>
          <a:noFill/>
        </p:spPr>
      </p:pic>
      <p:sp>
        <p:nvSpPr>
          <p:cNvPr id="2" name="Title 1"/>
          <p:cNvSpPr>
            <a:spLocks noGrp="1"/>
          </p:cNvSpPr>
          <p:nvPr>
            <p:ph type="title"/>
          </p:nvPr>
        </p:nvSpPr>
        <p:spPr>
          <a:xfrm rot="-60000">
            <a:off x="1106424" y="2020824"/>
            <a:ext cx="3063240" cy="1499616"/>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p:cNvSpPr>
          <p:nvPr>
            <p:ph type="pic" idx="1"/>
          </p:nvPr>
        </p:nvSpPr>
        <p:spPr>
          <a:xfrm rot="60000">
            <a:off x="4898615" y="1207272"/>
            <a:ext cx="2913863" cy="4539412"/>
          </a:xfrm>
          <a:ln w="101600" cap="rnd">
            <a:solidFill>
              <a:srgbClr val="FFFFFF"/>
            </a:solidFill>
          </a:ln>
          <a:effectLst>
            <a:outerShdw blurRad="88900" dir="2700000" algn="tl" rotWithShape="0">
              <a:prstClr val="black">
                <a:alpha val="40000"/>
              </a:prstClr>
            </a:outerShdw>
          </a:effectLst>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rot="-60000">
            <a:off x="1152144" y="3621024"/>
            <a:ext cx="3044952" cy="210312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rot="60000">
            <a:off x="6345936" y="5888737"/>
            <a:ext cx="1213821" cy="365125"/>
          </a:xfrm>
        </p:spPr>
        <p:txBody>
          <a:bodyPr/>
          <a:lstStyle/>
          <a:p>
            <a:fld id="{F3595E0E-5D95-480A-B461-0B2DBE7C7A30}" type="datetimeFigureOut">
              <a:rPr lang="en-US" smtClean="0"/>
              <a:pPr/>
              <a:t>12/15/2024</a:t>
            </a:fld>
            <a:endParaRPr lang="en-US"/>
          </a:p>
        </p:txBody>
      </p:sp>
      <p:sp>
        <p:nvSpPr>
          <p:cNvPr id="6" name="Footer Placeholder 5"/>
          <p:cNvSpPr>
            <a:spLocks noGrp="1"/>
          </p:cNvSpPr>
          <p:nvPr>
            <p:ph type="ftr" sz="quarter" idx="11"/>
          </p:nvPr>
        </p:nvSpPr>
        <p:spPr>
          <a:xfrm rot="-60000">
            <a:off x="914569" y="5831037"/>
            <a:ext cx="3319043" cy="365125"/>
          </a:xfrm>
        </p:spPr>
        <p:txBody>
          <a:bodyPr/>
          <a:lstStyle/>
          <a:p>
            <a:endParaRPr lang="en-US"/>
          </a:p>
        </p:txBody>
      </p:sp>
      <p:sp>
        <p:nvSpPr>
          <p:cNvPr id="7" name="Slide Number Placeholder 6"/>
          <p:cNvSpPr>
            <a:spLocks noGrp="1"/>
          </p:cNvSpPr>
          <p:nvPr>
            <p:ph type="sldNum" sz="quarter" idx="12"/>
          </p:nvPr>
        </p:nvSpPr>
        <p:spPr>
          <a:xfrm rot="60000">
            <a:off x="7562089" y="5900026"/>
            <a:ext cx="554023" cy="365125"/>
          </a:xfrm>
        </p:spPr>
        <p:txBody>
          <a:bodyPr/>
          <a:lstStyle/>
          <a:p>
            <a:fld id="{5106F55A-6189-4A17-91FE-37FACCE3BB7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595E0E-5D95-480A-B461-0B2DBE7C7A30}" type="datetimeFigureOut">
              <a:rPr lang="en-US" smtClean="0"/>
              <a:pPr/>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06F55A-6189-4A17-91FE-37FACCE3BB7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1" y="925690"/>
            <a:ext cx="1430867" cy="476391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298221" y="1106312"/>
            <a:ext cx="5178779" cy="440266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595E0E-5D95-480A-B461-0B2DBE7C7A30}" type="datetimeFigureOut">
              <a:rPr lang="en-US" smtClean="0"/>
              <a:pPr/>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06F55A-6189-4A17-91FE-37FACCE3BB7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15"/>
          <p:cNvGrpSpPr/>
          <p:nvPr/>
        </p:nvGrpSpPr>
        <p:grpSpPr>
          <a:xfrm>
            <a:off x="0" y="0"/>
            <a:ext cx="9144000" cy="6858000"/>
            <a:chOff x="0" y="0"/>
            <a:chExt cx="9144000" cy="6858000"/>
          </a:xfrm>
        </p:grpSpPr>
        <p:sp>
          <p:nvSpPr>
            <p:cNvPr id="8" name="Rectangle 7"/>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9"/>
          <p:cNvSpPr/>
          <p:nvPr/>
        </p:nvSpPr>
        <p:spPr>
          <a:xfrm rot="10800000">
            <a:off x="628650" y="6069330"/>
            <a:ext cx="792099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31520" y="575310"/>
            <a:ext cx="7696200" cy="5715000"/>
          </a:xfrm>
          <a:prstGeom prst="rect">
            <a:avLst/>
          </a:prstGeom>
          <a:solidFill>
            <a:schemeClr val="bg1">
              <a:lumMod val="75000"/>
              <a:lumOff val="25000"/>
            </a:schemeClr>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31520" y="576072"/>
            <a:ext cx="7696200" cy="5715000"/>
          </a:xfrm>
          <a:prstGeom prst="rect">
            <a:avLst/>
          </a:prstGeom>
          <a:blipFill dpi="0" rotWithShape="1">
            <a:blip r:embed="rId13"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C:\Users\Administrator\Desktop\Pushpin Dev\Assets\pushpinLeft.png"/>
          <p:cNvPicPr>
            <a:picLocks noChangeAspect="1" noChangeArrowheads="1"/>
          </p:cNvPicPr>
          <p:nvPr/>
        </p:nvPicPr>
        <p:blipFill>
          <a:blip r:embed="rId14" cstate="print"/>
          <a:srcRect/>
          <a:stretch>
            <a:fillRect/>
          </a:stretch>
        </p:blipFill>
        <p:spPr bwMode="auto">
          <a:xfrm rot="1435684">
            <a:off x="543741" y="273091"/>
            <a:ext cx="567831" cy="567830"/>
          </a:xfrm>
          <a:prstGeom prst="rect">
            <a:avLst/>
          </a:prstGeom>
          <a:noFill/>
        </p:spPr>
      </p:pic>
      <p:pic>
        <p:nvPicPr>
          <p:cNvPr id="14" name="Picture 2" descr="C:\Users\Administrator\Desktop\Pushpin Dev\Assets\pushpinLeft.png"/>
          <p:cNvPicPr>
            <a:picLocks noChangeAspect="1" noChangeArrowheads="1"/>
          </p:cNvPicPr>
          <p:nvPr/>
        </p:nvPicPr>
        <p:blipFill>
          <a:blip r:embed="rId14" cstate="print"/>
          <a:srcRect/>
          <a:stretch>
            <a:fillRect/>
          </a:stretch>
        </p:blipFill>
        <p:spPr bwMode="auto">
          <a:xfrm rot="4096196">
            <a:off x="8115079" y="298163"/>
            <a:ext cx="566928" cy="566928"/>
          </a:xfrm>
          <a:prstGeom prst="rect">
            <a:avLst/>
          </a:prstGeom>
          <a:noFill/>
        </p:spPr>
      </p:pic>
      <p:sp>
        <p:nvSpPr>
          <p:cNvPr id="2" name="Title Placeholder 1"/>
          <p:cNvSpPr>
            <a:spLocks noGrp="1"/>
          </p:cNvSpPr>
          <p:nvPr>
            <p:ph type="title"/>
          </p:nvPr>
        </p:nvSpPr>
        <p:spPr>
          <a:xfrm>
            <a:off x="1095023" y="817582"/>
            <a:ext cx="6965245" cy="120248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63040" y="2119257"/>
            <a:ext cx="6196405" cy="3603812"/>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54588" y="5809152"/>
            <a:ext cx="1213821" cy="365125"/>
          </a:xfrm>
          <a:prstGeom prst="rect">
            <a:avLst/>
          </a:prstGeom>
        </p:spPr>
        <p:txBody>
          <a:bodyPr vert="horz" lIns="91440" tIns="45720" rIns="91440" bIns="45720" rtlCol="0" anchor="ctr"/>
          <a:lstStyle>
            <a:lvl1pPr algn="r">
              <a:defRPr sz="1200">
                <a:solidFill>
                  <a:schemeClr val="tx2"/>
                </a:solidFill>
                <a:latin typeface="Rage Italic" pitchFamily="66" charset="0"/>
              </a:defRPr>
            </a:lvl1pPr>
          </a:lstStyle>
          <a:p>
            <a:fld id="{F3595E0E-5D95-480A-B461-0B2DBE7C7A30}" type="datetimeFigureOut">
              <a:rPr lang="en-US" smtClean="0"/>
              <a:pPr/>
              <a:t>12/15/2024</a:t>
            </a:fld>
            <a:endParaRPr lang="en-US"/>
          </a:p>
        </p:txBody>
      </p:sp>
      <p:sp>
        <p:nvSpPr>
          <p:cNvPr id="5" name="Footer Placeholder 4"/>
          <p:cNvSpPr>
            <a:spLocks noGrp="1"/>
          </p:cNvSpPr>
          <p:nvPr>
            <p:ph type="ftr" sz="quarter" idx="3"/>
          </p:nvPr>
        </p:nvSpPr>
        <p:spPr>
          <a:xfrm>
            <a:off x="914401" y="5809152"/>
            <a:ext cx="5540188" cy="365125"/>
          </a:xfrm>
          <a:prstGeom prst="rect">
            <a:avLst/>
          </a:prstGeom>
        </p:spPr>
        <p:txBody>
          <a:bodyPr vert="horz" lIns="91440" tIns="45720" rIns="91440" bIns="45720" rtlCol="0" anchor="ctr"/>
          <a:lstStyle>
            <a:lvl1pPr algn="l">
              <a:defRPr sz="1400">
                <a:solidFill>
                  <a:schemeClr val="tx2"/>
                </a:solidFill>
                <a:latin typeface="Rage Italic" pitchFamily="66" charset="0"/>
              </a:defRPr>
            </a:lvl1pPr>
          </a:lstStyle>
          <a:p>
            <a:endParaRPr lang="en-US"/>
          </a:p>
        </p:txBody>
      </p:sp>
      <p:sp>
        <p:nvSpPr>
          <p:cNvPr id="6" name="Slide Number Placeholder 5"/>
          <p:cNvSpPr>
            <a:spLocks noGrp="1"/>
          </p:cNvSpPr>
          <p:nvPr>
            <p:ph type="sldNum" sz="quarter" idx="4"/>
          </p:nvPr>
        </p:nvSpPr>
        <p:spPr>
          <a:xfrm>
            <a:off x="7670202" y="5809152"/>
            <a:ext cx="554023" cy="365125"/>
          </a:xfrm>
          <a:prstGeom prst="rect">
            <a:avLst/>
          </a:prstGeom>
        </p:spPr>
        <p:txBody>
          <a:bodyPr vert="horz" lIns="91440" tIns="45720" rIns="91440" bIns="45720" rtlCol="0" anchor="ctr"/>
          <a:lstStyle>
            <a:lvl1pPr algn="r">
              <a:defRPr sz="1400">
                <a:solidFill>
                  <a:schemeClr val="tx2"/>
                </a:solidFill>
                <a:latin typeface="Rage Italic" pitchFamily="66" charset="0"/>
              </a:defRPr>
            </a:lvl1pPr>
          </a:lstStyle>
          <a:p>
            <a:fld id="{5106F55A-6189-4A17-91FE-37FACCE3BB7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2"/>
        </a:buClr>
        <a:buSzPct val="85000"/>
        <a:buFont typeface="Brush Script MT" pitchFamily="66" charset="0"/>
        <a:buChar char="O"/>
        <a:defRPr sz="2400" kern="1200">
          <a:solidFill>
            <a:schemeClr val="tx1"/>
          </a:solidFill>
          <a:latin typeface="+mn-lt"/>
          <a:ea typeface="+mn-ea"/>
          <a:cs typeface="+mn-cs"/>
        </a:defRPr>
      </a:lvl1pPr>
      <a:lvl2pPr marL="640080" indent="-274320" algn="l" defTabSz="914400" rtl="0" eaLnBrk="1" latinLnBrk="0" hangingPunct="1">
        <a:spcBef>
          <a:spcPct val="20000"/>
        </a:spcBef>
        <a:buClr>
          <a:schemeClr val="accent2"/>
        </a:buClr>
        <a:buSzPct val="85000"/>
        <a:buFont typeface="Brush Script MT" pitchFamily="66" charset="0"/>
        <a:buChar char="O"/>
        <a:defRPr sz="2200" kern="1200">
          <a:solidFill>
            <a:schemeClr val="tx1"/>
          </a:solidFill>
          <a:latin typeface="+mn-lt"/>
          <a:ea typeface="+mn-ea"/>
          <a:cs typeface="+mn-cs"/>
        </a:defRPr>
      </a:lvl2pPr>
      <a:lvl3pPr marL="914400" indent="-228600" algn="l" defTabSz="914400" rtl="0" eaLnBrk="1" latinLnBrk="0" hangingPunct="1">
        <a:spcBef>
          <a:spcPct val="20000"/>
        </a:spcBef>
        <a:buClr>
          <a:schemeClr val="accent2"/>
        </a:buClr>
        <a:buSzPct val="85000"/>
        <a:buFont typeface="Brush Script MT" pitchFamily="66" charset="0"/>
        <a:buChar char="O"/>
        <a:defRPr sz="2000" kern="1200">
          <a:solidFill>
            <a:schemeClr val="tx1"/>
          </a:solidFill>
          <a:latin typeface="+mn-lt"/>
          <a:ea typeface="+mn-ea"/>
          <a:cs typeface="+mn-cs"/>
        </a:defRPr>
      </a:lvl3pPr>
      <a:lvl4pPr marL="1280160" indent="-228600" algn="l" defTabSz="914400" rtl="0" eaLnBrk="1" latinLnBrk="0" hangingPunct="1">
        <a:spcBef>
          <a:spcPct val="20000"/>
        </a:spcBef>
        <a:buClr>
          <a:schemeClr val="accent2"/>
        </a:buClr>
        <a:buSzPct val="85000"/>
        <a:buFont typeface="Brush Script MT" pitchFamily="66" charset="0"/>
        <a:buChar char="O"/>
        <a:defRPr sz="1800" kern="1200">
          <a:solidFill>
            <a:schemeClr val="tx1"/>
          </a:solidFill>
          <a:latin typeface="+mn-lt"/>
          <a:ea typeface="+mn-ea"/>
          <a:cs typeface="+mn-cs"/>
        </a:defRPr>
      </a:lvl4pPr>
      <a:lvl5pPr marL="164592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5pPr>
      <a:lvl6pPr marL="201168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6pPr>
      <a:lvl7pPr marL="237744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7pPr>
      <a:lvl8pPr marL="274320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8pPr>
      <a:lvl9pPr marL="310896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7.xml"/><Relationship Id="rId4" Type="http://schemas.openxmlformats.org/officeDocument/2006/relationships/image" Target="../media/image15.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Counting</a:t>
            </a:r>
          </a:p>
        </p:txBody>
      </p:sp>
      <p:sp>
        <p:nvSpPr>
          <p:cNvPr id="3" name="Subtitle 2"/>
          <p:cNvSpPr>
            <a:spLocks noGrp="1"/>
          </p:cNvSpPr>
          <p:nvPr>
            <p:ph type="subTitle" idx="1"/>
          </p:nvPr>
        </p:nvSpPr>
        <p:spPr/>
        <p:txBody>
          <a:bodyPr/>
          <a:lstStyle/>
          <a:p>
            <a:r>
              <a:rPr lang="en-US" dirty="0"/>
              <a:t>Chapter 6</a:t>
            </a:r>
          </a:p>
        </p:txBody>
      </p:sp>
    </p:spTree>
    <p:extLst>
      <p:ext uri="{BB962C8B-B14F-4D97-AF65-F5344CB8AC3E}">
        <p14:creationId xmlns:p14="http://schemas.microsoft.com/office/powerpoint/2010/main" val="1974186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Basic Counting Principles</a:t>
            </a:r>
            <a:endParaRPr lang="en-US" dirty="0"/>
          </a:p>
        </p:txBody>
      </p:sp>
      <p:sp>
        <p:nvSpPr>
          <p:cNvPr id="3" name="Content Placeholder 2"/>
          <p:cNvSpPr>
            <a:spLocks noGrp="1"/>
          </p:cNvSpPr>
          <p:nvPr>
            <p:ph idx="1"/>
          </p:nvPr>
        </p:nvSpPr>
        <p:spPr/>
        <p:txBody>
          <a:bodyPr/>
          <a:lstStyle/>
          <a:p>
            <a:r>
              <a:rPr lang="en-US" dirty="0"/>
              <a:t>THE PRODUCT RULE</a:t>
            </a:r>
          </a:p>
          <a:p>
            <a:r>
              <a:rPr lang="en-US" dirty="0"/>
              <a:t>THE SUM RULE</a:t>
            </a:r>
          </a:p>
        </p:txBody>
      </p:sp>
    </p:spTree>
    <p:extLst>
      <p:ext uri="{BB962C8B-B14F-4D97-AF65-F5344CB8AC3E}">
        <p14:creationId xmlns:p14="http://schemas.microsoft.com/office/powerpoint/2010/main" val="783400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PRODUCT RULE</a:t>
            </a:r>
            <a:br>
              <a:rPr lang="en-US" dirty="0"/>
            </a:br>
            <a:endParaRPr lang="en-US" dirty="0"/>
          </a:p>
        </p:txBody>
      </p:sp>
      <p:sp>
        <p:nvSpPr>
          <p:cNvPr id="3" name="Content Placeholder 2"/>
          <p:cNvSpPr>
            <a:spLocks noGrp="1"/>
          </p:cNvSpPr>
          <p:nvPr>
            <p:ph idx="1"/>
          </p:nvPr>
        </p:nvSpPr>
        <p:spPr/>
        <p:txBody>
          <a:bodyPr/>
          <a:lstStyle/>
          <a:p>
            <a:pPr marL="0" indent="0">
              <a:buNone/>
            </a:pPr>
            <a:r>
              <a:rPr lang="en-US" dirty="0"/>
              <a:t>Suppose that a procedure can be broken down into a sequence of </a:t>
            </a:r>
            <a:r>
              <a:rPr lang="en-US" b="1" dirty="0">
                <a:solidFill>
                  <a:srgbClr val="FF0000"/>
                </a:solidFill>
              </a:rPr>
              <a:t>two tasks</a:t>
            </a:r>
            <a:r>
              <a:rPr lang="en-US" dirty="0"/>
              <a:t>. If there are </a:t>
            </a:r>
            <a:r>
              <a:rPr lang="en-US" b="1" i="1" dirty="0">
                <a:solidFill>
                  <a:srgbClr val="FF0000"/>
                </a:solidFill>
              </a:rPr>
              <a:t>n</a:t>
            </a:r>
            <a:r>
              <a:rPr lang="en-US" b="1" baseline="-25000" dirty="0">
                <a:solidFill>
                  <a:srgbClr val="FF0000"/>
                </a:solidFill>
              </a:rPr>
              <a:t>1 </a:t>
            </a:r>
            <a:r>
              <a:rPr lang="en-US" b="1" dirty="0">
                <a:solidFill>
                  <a:srgbClr val="FF0000"/>
                </a:solidFill>
              </a:rPr>
              <a:t>ways to do the first task </a:t>
            </a:r>
            <a:r>
              <a:rPr lang="en-US" dirty="0"/>
              <a:t>and </a:t>
            </a:r>
            <a:r>
              <a:rPr lang="en-US" b="1" dirty="0">
                <a:solidFill>
                  <a:srgbClr val="FF0000"/>
                </a:solidFill>
              </a:rPr>
              <a:t>for each of these ways of doing the first task, there are </a:t>
            </a:r>
            <a:r>
              <a:rPr lang="en-US" b="1" i="1" dirty="0">
                <a:solidFill>
                  <a:srgbClr val="FF0000"/>
                </a:solidFill>
              </a:rPr>
              <a:t>n</a:t>
            </a:r>
            <a:r>
              <a:rPr lang="en-US" b="1" baseline="-25000" dirty="0">
                <a:solidFill>
                  <a:srgbClr val="FF0000"/>
                </a:solidFill>
              </a:rPr>
              <a:t>2</a:t>
            </a:r>
            <a:r>
              <a:rPr lang="en-US" b="1" dirty="0">
                <a:solidFill>
                  <a:srgbClr val="FF0000"/>
                </a:solidFill>
              </a:rPr>
              <a:t> ways to do the second task</a:t>
            </a:r>
            <a:r>
              <a:rPr lang="en-US" dirty="0"/>
              <a:t>, then there are </a:t>
            </a:r>
            <a:r>
              <a:rPr lang="en-US" b="1" i="1" dirty="0">
                <a:solidFill>
                  <a:srgbClr val="FF0000"/>
                </a:solidFill>
              </a:rPr>
              <a:t>n</a:t>
            </a:r>
            <a:r>
              <a:rPr lang="en-US" b="1" baseline="-25000" dirty="0">
                <a:solidFill>
                  <a:srgbClr val="FF0000"/>
                </a:solidFill>
              </a:rPr>
              <a:t>1</a:t>
            </a:r>
            <a:r>
              <a:rPr lang="en-US" b="1" i="1" dirty="0">
                <a:solidFill>
                  <a:srgbClr val="FF0000"/>
                </a:solidFill>
              </a:rPr>
              <a:t>n</a:t>
            </a:r>
            <a:r>
              <a:rPr lang="en-US" b="1" baseline="-25000" dirty="0">
                <a:solidFill>
                  <a:srgbClr val="FF0000"/>
                </a:solidFill>
              </a:rPr>
              <a:t>2</a:t>
            </a:r>
            <a:r>
              <a:rPr lang="en-US" b="1" dirty="0">
                <a:solidFill>
                  <a:srgbClr val="FF0000"/>
                </a:solidFill>
              </a:rPr>
              <a:t> ways</a:t>
            </a:r>
            <a:r>
              <a:rPr lang="en-US" dirty="0"/>
              <a:t> to do the procedure.</a:t>
            </a:r>
          </a:p>
        </p:txBody>
      </p:sp>
    </p:spTree>
    <p:extLst>
      <p:ext uri="{BB962C8B-B14F-4D97-AF65-F5344CB8AC3E}">
        <p14:creationId xmlns:p14="http://schemas.microsoft.com/office/powerpoint/2010/main" val="1536988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a:t>
            </a:r>
          </a:p>
        </p:txBody>
      </p:sp>
      <p:sp>
        <p:nvSpPr>
          <p:cNvPr id="3" name="Content Placeholder 2"/>
          <p:cNvSpPr>
            <a:spLocks noGrp="1"/>
          </p:cNvSpPr>
          <p:nvPr>
            <p:ph idx="1"/>
          </p:nvPr>
        </p:nvSpPr>
        <p:spPr/>
        <p:txBody>
          <a:bodyPr>
            <a:normAutofit fontScale="85000" lnSpcReduction="10000"/>
          </a:bodyPr>
          <a:lstStyle/>
          <a:p>
            <a:pPr>
              <a:buNone/>
            </a:pPr>
            <a:r>
              <a:rPr lang="en-US" dirty="0"/>
              <a:t>	Example 1:</a:t>
            </a:r>
          </a:p>
          <a:p>
            <a:pPr>
              <a:buNone/>
            </a:pPr>
            <a:r>
              <a:rPr lang="en-US" dirty="0"/>
              <a:t>	A new company with just two employees, Sam and Patel, rents a floor of a building with 12 offices. How many ways are there to assign different offices to these two employees?</a:t>
            </a:r>
          </a:p>
          <a:p>
            <a:r>
              <a:rPr lang="en-US" dirty="0"/>
              <a:t>The procedure of assigning offices to these two employees consists of assigning an office to Sam, which can be done in 12 ways, then assigning an office to Patel different from the office assigned to Sam, which can be done in 11 ways.</a:t>
            </a:r>
          </a:p>
          <a:p>
            <a:r>
              <a:rPr lang="en-US" dirty="0"/>
              <a:t>By the product rule, there are </a:t>
            </a:r>
            <a:r>
              <a:rPr lang="en-US" b="1" dirty="0">
                <a:solidFill>
                  <a:srgbClr val="FF0000"/>
                </a:solidFill>
              </a:rPr>
              <a:t>12 · 11 = 132 </a:t>
            </a:r>
            <a:r>
              <a:rPr lang="en-US" dirty="0"/>
              <a:t>ways to assign offices to these two employees.</a:t>
            </a:r>
          </a:p>
        </p:txBody>
      </p:sp>
    </p:spTree>
    <p:extLst>
      <p:ext uri="{BB962C8B-B14F-4D97-AF65-F5344CB8AC3E}">
        <p14:creationId xmlns:p14="http://schemas.microsoft.com/office/powerpoint/2010/main" val="3570865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a:buNone/>
            </a:pPr>
            <a:r>
              <a:rPr lang="en-US" dirty="0"/>
              <a:t>	Example 2:</a:t>
            </a:r>
          </a:p>
          <a:p>
            <a:pPr>
              <a:buNone/>
            </a:pPr>
            <a:r>
              <a:rPr lang="en-US" dirty="0"/>
              <a:t>	The chairs of an auditorium are to be labeled with an uppercase English letter followed by a positive integer not exceeding 100. What is the largest number of chairs that can be labeled differently?</a:t>
            </a:r>
          </a:p>
          <a:p>
            <a:r>
              <a:rPr lang="en-US" dirty="0"/>
              <a:t>The procedure of labeling a chair consists of two tasks, namely, assigning to the seat one of the 26 uppercase English letters, and then assigning to it one of the 100 possible integers.</a:t>
            </a:r>
          </a:p>
          <a:p>
            <a:r>
              <a:rPr lang="en-US" dirty="0"/>
              <a:t>The product rule shows that there are </a:t>
            </a:r>
            <a:r>
              <a:rPr lang="en-US" dirty="0">
                <a:solidFill>
                  <a:srgbClr val="FF0000"/>
                </a:solidFill>
              </a:rPr>
              <a:t>26 · 100 = 2600</a:t>
            </a:r>
            <a:r>
              <a:rPr lang="en-US" dirty="0"/>
              <a:t> different ways that a chair can be labeled.</a:t>
            </a:r>
          </a:p>
          <a:p>
            <a:r>
              <a:rPr lang="en-US" dirty="0"/>
              <a:t>Therefore, the largest number of chairs that can be labeled differently is 2600.</a:t>
            </a:r>
          </a:p>
          <a:p>
            <a:endParaRPr lang="en-US" dirty="0"/>
          </a:p>
        </p:txBody>
      </p:sp>
    </p:spTree>
    <p:extLst>
      <p:ext uri="{BB962C8B-B14F-4D97-AF65-F5344CB8AC3E}">
        <p14:creationId xmlns:p14="http://schemas.microsoft.com/office/powerpoint/2010/main" val="2100600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dirty="0"/>
              <a:t>	Example 3:</a:t>
            </a:r>
          </a:p>
          <a:p>
            <a:pPr>
              <a:buNone/>
            </a:pPr>
            <a:r>
              <a:rPr lang="en-US" dirty="0"/>
              <a:t>	There are 32 microcomputers in a computer center. Each microcomputer has 24 ports. How many different ports to a microcomputer in the center are there?</a:t>
            </a:r>
          </a:p>
          <a:p>
            <a:r>
              <a:rPr lang="en-US" dirty="0"/>
              <a:t> The product rule shows that there are </a:t>
            </a:r>
          </a:p>
          <a:p>
            <a:pPr>
              <a:buNone/>
            </a:pPr>
            <a:r>
              <a:rPr lang="en-US" dirty="0"/>
              <a:t>     </a:t>
            </a:r>
            <a:r>
              <a:rPr lang="en-US" dirty="0">
                <a:solidFill>
                  <a:srgbClr val="FF0000"/>
                </a:solidFill>
              </a:rPr>
              <a:t>32 · 24 = 768 ports.</a:t>
            </a:r>
          </a:p>
        </p:txBody>
      </p:sp>
    </p:spTree>
    <p:extLst>
      <p:ext uri="{BB962C8B-B14F-4D97-AF65-F5344CB8AC3E}">
        <p14:creationId xmlns:p14="http://schemas.microsoft.com/office/powerpoint/2010/main" val="1780801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marL="0" indent="0">
              <a:buNone/>
            </a:pPr>
            <a:r>
              <a:rPr lang="en-US" dirty="0"/>
              <a:t>An extended version of the product rule is often useful. </a:t>
            </a:r>
          </a:p>
          <a:p>
            <a:pPr marL="0" indent="0">
              <a:buNone/>
            </a:pPr>
            <a:r>
              <a:rPr lang="en-US" dirty="0"/>
              <a:t>Suppose that a procedure is carried out by performing the tasks </a:t>
            </a:r>
            <a:r>
              <a:rPr lang="en-US" i="1" dirty="0"/>
              <a:t>T</a:t>
            </a:r>
            <a:r>
              <a:rPr lang="en-US" baseline="-25000" dirty="0"/>
              <a:t>1</a:t>
            </a:r>
            <a:r>
              <a:rPr lang="en-US" i="1" dirty="0"/>
              <a:t>, T</a:t>
            </a:r>
            <a:r>
              <a:rPr lang="en-US" baseline="-25000" dirty="0"/>
              <a:t>2</a:t>
            </a:r>
            <a:r>
              <a:rPr lang="en-US" i="1" dirty="0"/>
              <a:t>, . . . , T</a:t>
            </a:r>
            <a:r>
              <a:rPr lang="en-US" i="1" baseline="-25000" dirty="0"/>
              <a:t>m</a:t>
            </a:r>
            <a:r>
              <a:rPr lang="en-US" i="1" dirty="0"/>
              <a:t> </a:t>
            </a:r>
            <a:r>
              <a:rPr lang="en-US" dirty="0"/>
              <a:t>in sequence. </a:t>
            </a:r>
          </a:p>
          <a:p>
            <a:pPr marL="0" indent="0">
              <a:buNone/>
            </a:pPr>
            <a:r>
              <a:rPr lang="en-US" dirty="0"/>
              <a:t>If each task </a:t>
            </a:r>
            <a:r>
              <a:rPr lang="en-US" i="1" dirty="0"/>
              <a:t>T</a:t>
            </a:r>
            <a:r>
              <a:rPr lang="en-US" i="1" baseline="-25000" dirty="0"/>
              <a:t>i</a:t>
            </a:r>
            <a:r>
              <a:rPr lang="en-US" i="1" dirty="0"/>
              <a:t> </a:t>
            </a:r>
            <a:r>
              <a:rPr lang="en-US" dirty="0"/>
              <a:t>, </a:t>
            </a:r>
            <a:r>
              <a:rPr lang="en-US" i="1" dirty="0"/>
              <a:t>i </a:t>
            </a:r>
            <a:r>
              <a:rPr lang="en-US" dirty="0"/>
              <a:t>= 1</a:t>
            </a:r>
            <a:r>
              <a:rPr lang="en-US" i="1" dirty="0"/>
              <a:t>, </a:t>
            </a:r>
            <a:r>
              <a:rPr lang="en-US" dirty="0"/>
              <a:t>2</a:t>
            </a:r>
            <a:r>
              <a:rPr lang="en-US" i="1" dirty="0"/>
              <a:t>, . . . , n</a:t>
            </a:r>
            <a:r>
              <a:rPr lang="en-US" dirty="0"/>
              <a:t>, can be done in </a:t>
            </a:r>
            <a:r>
              <a:rPr lang="en-US" i="1" dirty="0" err="1"/>
              <a:t>n</a:t>
            </a:r>
            <a:r>
              <a:rPr lang="en-US" i="1" baseline="-25000" dirty="0" err="1"/>
              <a:t>i</a:t>
            </a:r>
            <a:r>
              <a:rPr lang="en-US" i="1" dirty="0"/>
              <a:t> </a:t>
            </a:r>
            <a:r>
              <a:rPr lang="en-US" dirty="0"/>
              <a:t>ways, regardless of how the previous tasks were done, then there are</a:t>
            </a:r>
          </a:p>
          <a:p>
            <a:pPr marL="0" indent="0">
              <a:buNone/>
            </a:pPr>
            <a:r>
              <a:rPr lang="en-US" dirty="0"/>
              <a:t> </a:t>
            </a:r>
            <a:r>
              <a:rPr lang="en-US" i="1" dirty="0">
                <a:solidFill>
                  <a:srgbClr val="FF0000"/>
                </a:solidFill>
              </a:rPr>
              <a:t>n</a:t>
            </a:r>
            <a:r>
              <a:rPr lang="en-US" baseline="-25000" dirty="0">
                <a:solidFill>
                  <a:srgbClr val="FF0000"/>
                </a:solidFill>
              </a:rPr>
              <a:t>1</a:t>
            </a:r>
            <a:r>
              <a:rPr lang="en-US" dirty="0">
                <a:solidFill>
                  <a:srgbClr val="FF0000"/>
                </a:solidFill>
              </a:rPr>
              <a:t> · </a:t>
            </a:r>
            <a:r>
              <a:rPr lang="en-US" i="1" dirty="0">
                <a:solidFill>
                  <a:srgbClr val="FF0000"/>
                </a:solidFill>
              </a:rPr>
              <a:t>n</a:t>
            </a:r>
            <a:r>
              <a:rPr lang="en-US" baseline="-25000" dirty="0">
                <a:solidFill>
                  <a:srgbClr val="FF0000"/>
                </a:solidFill>
              </a:rPr>
              <a:t>2</a:t>
            </a:r>
            <a:r>
              <a:rPr lang="en-US" dirty="0">
                <a:solidFill>
                  <a:srgbClr val="FF0000"/>
                </a:solidFill>
              </a:rPr>
              <a:t> · · · · · </a:t>
            </a:r>
            <a:r>
              <a:rPr lang="en-US" i="1" dirty="0">
                <a:solidFill>
                  <a:srgbClr val="FF0000"/>
                </a:solidFill>
              </a:rPr>
              <a:t>n</a:t>
            </a:r>
            <a:r>
              <a:rPr lang="en-US" i="1" baseline="-25000" dirty="0">
                <a:solidFill>
                  <a:srgbClr val="FF0000"/>
                </a:solidFill>
              </a:rPr>
              <a:t>m</a:t>
            </a:r>
          </a:p>
          <a:p>
            <a:pPr marL="0" indent="0">
              <a:buNone/>
            </a:pPr>
            <a:r>
              <a:rPr lang="en-US" i="1" baseline="-25000" dirty="0">
                <a:solidFill>
                  <a:srgbClr val="FF0000"/>
                </a:solidFill>
              </a:rPr>
              <a:t> </a:t>
            </a:r>
            <a:r>
              <a:rPr lang="en-US" dirty="0"/>
              <a:t>ways to carry out the procedure.</a:t>
            </a:r>
          </a:p>
        </p:txBody>
      </p:sp>
    </p:spTree>
    <p:extLst>
      <p:ext uri="{BB962C8B-B14F-4D97-AF65-F5344CB8AC3E}">
        <p14:creationId xmlns:p14="http://schemas.microsoft.com/office/powerpoint/2010/main" val="1404263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dirty="0"/>
              <a:t>	Example 4:</a:t>
            </a:r>
          </a:p>
          <a:p>
            <a:pPr>
              <a:buNone/>
            </a:pPr>
            <a:r>
              <a:rPr lang="en-US" dirty="0"/>
              <a:t>	How many different bit strings of length seven are there?</a:t>
            </a:r>
          </a:p>
          <a:p>
            <a:r>
              <a:rPr lang="en-US" dirty="0"/>
              <a:t>Each of the seven bits can be chosen in two ways, because each bit is either 0 or 1.</a:t>
            </a:r>
          </a:p>
          <a:p>
            <a:r>
              <a:rPr lang="en-US" dirty="0"/>
              <a:t>Therefore, the product rule shows there are a total of </a:t>
            </a:r>
            <a:r>
              <a:rPr lang="en-US" dirty="0">
                <a:solidFill>
                  <a:srgbClr val="FF0000"/>
                </a:solidFill>
              </a:rPr>
              <a:t>2</a:t>
            </a:r>
            <a:r>
              <a:rPr lang="en-US" baseline="30000" dirty="0">
                <a:solidFill>
                  <a:srgbClr val="FF0000"/>
                </a:solidFill>
              </a:rPr>
              <a:t>7</a:t>
            </a:r>
            <a:r>
              <a:rPr lang="en-US" dirty="0">
                <a:solidFill>
                  <a:srgbClr val="FF0000"/>
                </a:solidFill>
              </a:rPr>
              <a:t> = 128 </a:t>
            </a:r>
            <a:r>
              <a:rPr lang="en-US" dirty="0"/>
              <a:t>different bit strings of length seven.</a:t>
            </a:r>
          </a:p>
        </p:txBody>
      </p:sp>
    </p:spTree>
    <p:extLst>
      <p:ext uri="{BB962C8B-B14F-4D97-AF65-F5344CB8AC3E}">
        <p14:creationId xmlns:p14="http://schemas.microsoft.com/office/powerpoint/2010/main" val="4110140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buNone/>
            </a:pPr>
            <a:r>
              <a:rPr lang="en-US" dirty="0"/>
              <a:t>	Example 5:</a:t>
            </a:r>
          </a:p>
          <a:p>
            <a:pPr>
              <a:buNone/>
            </a:pPr>
            <a:r>
              <a:rPr lang="en-US" dirty="0"/>
              <a:t>	How many different license plates can be made if each plate contains a sequence of three uppercase English letters followed by three digits?</a:t>
            </a:r>
          </a:p>
          <a:p>
            <a:r>
              <a:rPr lang="en-US" dirty="0"/>
              <a:t>There are 26 choices for each of the three uppercase English letters and ten choices for each of the three digits.</a:t>
            </a:r>
          </a:p>
          <a:p>
            <a:r>
              <a:rPr lang="en-US" dirty="0"/>
              <a:t> Hence, by the product rule there are a total of </a:t>
            </a:r>
            <a:r>
              <a:rPr lang="en-US" dirty="0">
                <a:solidFill>
                  <a:srgbClr val="FF0000"/>
                </a:solidFill>
              </a:rPr>
              <a:t>26 · 26 · 26 · 10 · 10 · 10 =17</a:t>
            </a:r>
            <a:r>
              <a:rPr lang="en-US" i="1" dirty="0">
                <a:solidFill>
                  <a:srgbClr val="FF0000"/>
                </a:solidFill>
              </a:rPr>
              <a:t>,</a:t>
            </a:r>
            <a:r>
              <a:rPr lang="en-US" dirty="0">
                <a:solidFill>
                  <a:srgbClr val="FF0000"/>
                </a:solidFill>
              </a:rPr>
              <a:t>576</a:t>
            </a:r>
            <a:r>
              <a:rPr lang="en-US" i="1" dirty="0">
                <a:solidFill>
                  <a:srgbClr val="FF0000"/>
                </a:solidFill>
              </a:rPr>
              <a:t>,</a:t>
            </a:r>
            <a:r>
              <a:rPr lang="en-US" dirty="0">
                <a:solidFill>
                  <a:srgbClr val="FF0000"/>
                </a:solidFill>
              </a:rPr>
              <a:t>000 </a:t>
            </a:r>
            <a:r>
              <a:rPr lang="en-US" dirty="0"/>
              <a:t>possible license plates.</a:t>
            </a:r>
          </a:p>
          <a:p>
            <a:endParaRPr lang="en-US" dirty="0"/>
          </a:p>
        </p:txBody>
      </p:sp>
    </p:spTree>
    <p:extLst>
      <p:ext uri="{BB962C8B-B14F-4D97-AF65-F5344CB8AC3E}">
        <p14:creationId xmlns:p14="http://schemas.microsoft.com/office/powerpoint/2010/main" val="335878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838200"/>
            <a:ext cx="6965245" cy="858818"/>
          </a:xfrm>
        </p:spPr>
        <p:txBody>
          <a:bodyPr>
            <a:noAutofit/>
          </a:bodyPr>
          <a:lstStyle/>
          <a:p>
            <a:r>
              <a:rPr lang="en-US" sz="3200" b="1" dirty="0"/>
              <a:t>The Telephone Numbering Plan</a:t>
            </a:r>
            <a:br>
              <a:rPr lang="en-US" sz="3200" b="1" dirty="0"/>
            </a:br>
            <a:endParaRPr lang="en-US" sz="3200" dirty="0"/>
          </a:p>
        </p:txBody>
      </p:sp>
      <p:sp>
        <p:nvSpPr>
          <p:cNvPr id="3" name="Content Placeholder 2"/>
          <p:cNvSpPr>
            <a:spLocks noGrp="1"/>
          </p:cNvSpPr>
          <p:nvPr>
            <p:ph idx="1"/>
          </p:nvPr>
        </p:nvSpPr>
        <p:spPr>
          <a:xfrm>
            <a:off x="1066800" y="1524000"/>
            <a:ext cx="7010400" cy="4495800"/>
          </a:xfrm>
        </p:spPr>
        <p:txBody>
          <a:bodyPr>
            <a:normAutofit fontScale="55000" lnSpcReduction="20000"/>
          </a:bodyPr>
          <a:lstStyle/>
          <a:p>
            <a:pPr>
              <a:buNone/>
            </a:pPr>
            <a:r>
              <a:rPr lang="en-US" dirty="0"/>
              <a:t>	</a:t>
            </a:r>
            <a:r>
              <a:rPr lang="en-US" sz="2900" dirty="0"/>
              <a:t>The </a:t>
            </a:r>
            <a:r>
              <a:rPr lang="en-US" sz="2900" i="1" dirty="0"/>
              <a:t>North American numbering plan (NANP) specifies the </a:t>
            </a:r>
            <a:r>
              <a:rPr lang="en-US" sz="2900" dirty="0"/>
              <a:t>format of telephone numbers in the U.S., Canada, and many other parts of North America. </a:t>
            </a:r>
          </a:p>
          <a:p>
            <a:pPr>
              <a:buNone/>
            </a:pPr>
            <a:r>
              <a:rPr lang="en-US" sz="2900" dirty="0"/>
              <a:t>	A telephone number in this plan consists of </a:t>
            </a:r>
            <a:r>
              <a:rPr lang="en-US" sz="2900" dirty="0">
                <a:solidFill>
                  <a:srgbClr val="FF0000"/>
                </a:solidFill>
              </a:rPr>
              <a:t>10 digits</a:t>
            </a:r>
            <a:r>
              <a:rPr lang="en-US" sz="2900" dirty="0"/>
              <a:t>, which are split into a </a:t>
            </a:r>
            <a:r>
              <a:rPr lang="en-US" sz="2900" dirty="0">
                <a:solidFill>
                  <a:srgbClr val="FF0000"/>
                </a:solidFill>
              </a:rPr>
              <a:t>three-digit area code</a:t>
            </a:r>
            <a:r>
              <a:rPr lang="en-US" sz="2900" dirty="0"/>
              <a:t>, a </a:t>
            </a:r>
            <a:r>
              <a:rPr lang="en-US" sz="2900" dirty="0">
                <a:solidFill>
                  <a:srgbClr val="FF0000"/>
                </a:solidFill>
              </a:rPr>
              <a:t>three-digit office code</a:t>
            </a:r>
            <a:r>
              <a:rPr lang="en-US" sz="2900" dirty="0"/>
              <a:t>, and a </a:t>
            </a:r>
            <a:r>
              <a:rPr lang="en-US" sz="2900" dirty="0">
                <a:solidFill>
                  <a:srgbClr val="FF0000"/>
                </a:solidFill>
              </a:rPr>
              <a:t>four-digit station code</a:t>
            </a:r>
            <a:r>
              <a:rPr lang="en-US" sz="2900" dirty="0"/>
              <a:t>.  </a:t>
            </a:r>
          </a:p>
          <a:p>
            <a:pPr>
              <a:buNone/>
            </a:pPr>
            <a:r>
              <a:rPr lang="en-US" sz="2900" dirty="0"/>
              <a:t>	To specify the allowable format, let </a:t>
            </a:r>
          </a:p>
          <a:p>
            <a:pPr>
              <a:buNone/>
            </a:pPr>
            <a:r>
              <a:rPr lang="en-US" sz="2900" i="1" dirty="0">
                <a:solidFill>
                  <a:srgbClr val="FF0000"/>
                </a:solidFill>
              </a:rPr>
              <a:t>     X </a:t>
            </a:r>
            <a:r>
              <a:rPr lang="en-US" sz="2900" i="1" dirty="0"/>
              <a:t>denote </a:t>
            </a:r>
            <a:r>
              <a:rPr lang="en-US" sz="2900" dirty="0"/>
              <a:t>a digit that can take any of the values </a:t>
            </a:r>
            <a:r>
              <a:rPr lang="en-US" sz="2900" dirty="0">
                <a:solidFill>
                  <a:srgbClr val="FF0000"/>
                </a:solidFill>
              </a:rPr>
              <a:t>0 through 9,</a:t>
            </a:r>
          </a:p>
          <a:p>
            <a:pPr>
              <a:buNone/>
            </a:pPr>
            <a:r>
              <a:rPr lang="en-US" sz="2900" dirty="0">
                <a:solidFill>
                  <a:srgbClr val="FF0000"/>
                </a:solidFill>
              </a:rPr>
              <a:t>     </a:t>
            </a:r>
            <a:r>
              <a:rPr lang="en-US" sz="2900" i="1" dirty="0">
                <a:solidFill>
                  <a:srgbClr val="FF0000"/>
                </a:solidFill>
              </a:rPr>
              <a:t>N</a:t>
            </a:r>
            <a:r>
              <a:rPr lang="en-US" sz="2900" i="1" dirty="0"/>
              <a:t> denote a digit that can take any of </a:t>
            </a:r>
            <a:r>
              <a:rPr lang="en-US" sz="2900" dirty="0"/>
              <a:t>the values </a:t>
            </a:r>
            <a:r>
              <a:rPr lang="en-US" sz="2900" dirty="0">
                <a:solidFill>
                  <a:srgbClr val="FF0000"/>
                </a:solidFill>
              </a:rPr>
              <a:t>2 through 9</a:t>
            </a:r>
            <a:r>
              <a:rPr lang="en-US" sz="2900" dirty="0"/>
              <a:t>, and</a:t>
            </a:r>
          </a:p>
          <a:p>
            <a:pPr>
              <a:buNone/>
            </a:pPr>
            <a:r>
              <a:rPr lang="en-US" sz="2900" i="1" dirty="0">
                <a:solidFill>
                  <a:srgbClr val="FF0000"/>
                </a:solidFill>
              </a:rPr>
              <a:t>     Y </a:t>
            </a:r>
            <a:r>
              <a:rPr lang="en-US" sz="2900" i="1" dirty="0"/>
              <a:t>denote a digit that must be a </a:t>
            </a:r>
            <a:r>
              <a:rPr lang="en-US" sz="2900" i="1" dirty="0">
                <a:solidFill>
                  <a:srgbClr val="FF0000"/>
                </a:solidFill>
              </a:rPr>
              <a:t>0 or a 1</a:t>
            </a:r>
            <a:r>
              <a:rPr lang="en-US" sz="2900" i="1" dirty="0"/>
              <a:t>. </a:t>
            </a:r>
          </a:p>
          <a:p>
            <a:pPr>
              <a:buNone/>
            </a:pPr>
            <a:r>
              <a:rPr lang="en-US" sz="2900" i="1" dirty="0"/>
              <a:t>	Two numbering plans, </a:t>
            </a:r>
            <a:r>
              <a:rPr lang="en-US" sz="2900" dirty="0"/>
              <a:t>which will be called the old plan, and the new plan, will be discussed. </a:t>
            </a:r>
          </a:p>
          <a:p>
            <a:pPr>
              <a:buNone/>
            </a:pPr>
            <a:r>
              <a:rPr lang="en-US" sz="2900" dirty="0"/>
              <a:t>	The old plan, the formats of the area code, office code, and station code are </a:t>
            </a:r>
            <a:r>
              <a:rPr lang="en-US" sz="2900" i="1" dirty="0"/>
              <a:t>NYX, NNX, and XXXX, respectively, so that telephone numbers had the form </a:t>
            </a:r>
            <a:r>
              <a:rPr lang="en-US" sz="2900" i="1" dirty="0">
                <a:solidFill>
                  <a:srgbClr val="FF0000"/>
                </a:solidFill>
              </a:rPr>
              <a:t>NYX-NNX-XXXX. </a:t>
            </a:r>
          </a:p>
          <a:p>
            <a:pPr>
              <a:buNone/>
            </a:pPr>
            <a:r>
              <a:rPr lang="en-US" sz="2900" i="1" dirty="0"/>
              <a:t>      In the new plan, </a:t>
            </a:r>
            <a:r>
              <a:rPr lang="en-US" sz="2900" dirty="0"/>
              <a:t>the formats of these codes are </a:t>
            </a:r>
            <a:r>
              <a:rPr lang="en-US" sz="2900" i="1" dirty="0"/>
              <a:t>NXX, NXX, and XXXX, respectively, so that telephone numbers </a:t>
            </a:r>
            <a:r>
              <a:rPr lang="en-US" sz="2900" dirty="0"/>
              <a:t>have the form </a:t>
            </a:r>
            <a:r>
              <a:rPr lang="en-US" sz="2900" i="1" dirty="0">
                <a:solidFill>
                  <a:srgbClr val="FF0000"/>
                </a:solidFill>
              </a:rPr>
              <a:t>NXX-NXX-XXXX. </a:t>
            </a:r>
          </a:p>
          <a:p>
            <a:pPr>
              <a:buNone/>
            </a:pPr>
            <a:r>
              <a:rPr lang="en-US" sz="2900" i="1" dirty="0"/>
              <a:t>	How many different North American telephone numbers are </a:t>
            </a:r>
            <a:r>
              <a:rPr lang="en-US" sz="2900" dirty="0"/>
              <a:t>possible under the old plan and under the new plan?</a:t>
            </a:r>
          </a:p>
        </p:txBody>
      </p:sp>
    </p:spTree>
    <p:extLst>
      <p:ext uri="{BB962C8B-B14F-4D97-AF65-F5344CB8AC3E}">
        <p14:creationId xmlns:p14="http://schemas.microsoft.com/office/powerpoint/2010/main" val="10177247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838200"/>
            <a:ext cx="6965245" cy="858818"/>
          </a:xfrm>
        </p:spPr>
        <p:txBody>
          <a:bodyPr>
            <a:noAutofit/>
          </a:bodyPr>
          <a:lstStyle/>
          <a:p>
            <a:r>
              <a:rPr lang="en-US" sz="3200" b="1" dirty="0"/>
              <a:t>The Telephone Numbering Plan</a:t>
            </a:r>
            <a:br>
              <a:rPr lang="en-US" sz="3200" b="1" dirty="0"/>
            </a:br>
            <a:endParaRPr lang="en-US" sz="3200" dirty="0"/>
          </a:p>
        </p:txBody>
      </p:sp>
      <p:sp>
        <p:nvSpPr>
          <p:cNvPr id="3" name="Content Placeholder 2"/>
          <p:cNvSpPr>
            <a:spLocks noGrp="1"/>
          </p:cNvSpPr>
          <p:nvPr>
            <p:ph idx="1"/>
          </p:nvPr>
        </p:nvSpPr>
        <p:spPr>
          <a:xfrm>
            <a:off x="1066800" y="1524000"/>
            <a:ext cx="7239000" cy="4199069"/>
          </a:xfrm>
        </p:spPr>
        <p:txBody>
          <a:bodyPr>
            <a:normAutofit fontScale="70000" lnSpcReduction="20000"/>
          </a:bodyPr>
          <a:lstStyle/>
          <a:p>
            <a:r>
              <a:rPr lang="en-US" sz="3200" i="1" dirty="0"/>
              <a:t>Solution: </a:t>
            </a:r>
          </a:p>
          <a:p>
            <a:r>
              <a:rPr lang="en-US" sz="3200" i="1" dirty="0"/>
              <a:t>By the product rule, there are :</a:t>
            </a:r>
          </a:p>
          <a:p>
            <a:r>
              <a:rPr lang="en-US" sz="3200" i="1" dirty="0"/>
              <a:t>8 · 2 · 10 = 160 area codes with format NYX.</a:t>
            </a:r>
          </a:p>
          <a:p>
            <a:r>
              <a:rPr lang="en-US" sz="3200" dirty="0"/>
              <a:t>8 · 10 · 10 = 800 area codes with format </a:t>
            </a:r>
            <a:r>
              <a:rPr lang="en-US" sz="3200" i="1" dirty="0"/>
              <a:t>NXX. </a:t>
            </a:r>
          </a:p>
          <a:p>
            <a:r>
              <a:rPr lang="en-US" sz="3200" dirty="0"/>
              <a:t>8 · 8 · 10 = 640 office codes with format </a:t>
            </a:r>
            <a:r>
              <a:rPr lang="en-US" sz="3200" i="1" dirty="0"/>
              <a:t>NNX. </a:t>
            </a:r>
          </a:p>
          <a:p>
            <a:r>
              <a:rPr lang="en-US" sz="3200" dirty="0"/>
              <a:t>10 · 10 · 10 · 10 = 10</a:t>
            </a:r>
            <a:r>
              <a:rPr lang="en-US" sz="3200" i="1" dirty="0"/>
              <a:t>,000 station codes with format XXXX.</a:t>
            </a:r>
          </a:p>
          <a:p>
            <a:r>
              <a:rPr lang="en-US" sz="2800" dirty="0"/>
              <a:t>Consequently, applying the product rule again, it follows that under the old plan there are </a:t>
            </a:r>
          </a:p>
          <a:p>
            <a:pPr>
              <a:buNone/>
            </a:pPr>
            <a:r>
              <a:rPr lang="en-US" sz="2800" dirty="0"/>
              <a:t>	160 · 640 · 10</a:t>
            </a:r>
            <a:r>
              <a:rPr lang="en-US" sz="2800" i="1" dirty="0"/>
              <a:t>,000 = 1,024,000,000</a:t>
            </a:r>
          </a:p>
          <a:p>
            <a:pPr>
              <a:buNone/>
            </a:pPr>
            <a:r>
              <a:rPr lang="en-US" sz="2800" dirty="0"/>
              <a:t>    different numbers available in North America. </a:t>
            </a:r>
          </a:p>
          <a:p>
            <a:pPr>
              <a:buNone/>
            </a:pPr>
            <a:r>
              <a:rPr lang="en-US" sz="2800" dirty="0"/>
              <a:t>    Under the new plan, there are</a:t>
            </a:r>
          </a:p>
          <a:p>
            <a:pPr>
              <a:buNone/>
            </a:pPr>
            <a:r>
              <a:rPr lang="en-US" sz="2800" dirty="0"/>
              <a:t>	800 · 800 · 10</a:t>
            </a:r>
            <a:r>
              <a:rPr lang="en-US" sz="2800" i="1" dirty="0"/>
              <a:t>,000 = 6,400,000,000</a:t>
            </a:r>
          </a:p>
          <a:p>
            <a:pPr>
              <a:buNone/>
            </a:pPr>
            <a:r>
              <a:rPr lang="en-US" sz="2800" dirty="0"/>
              <a:t>	different numbers available.</a:t>
            </a:r>
            <a:endParaRPr lang="en-US" sz="2900" dirty="0"/>
          </a:p>
        </p:txBody>
      </p:sp>
    </p:spTree>
    <p:extLst>
      <p:ext uri="{BB962C8B-B14F-4D97-AF65-F5344CB8AC3E}">
        <p14:creationId xmlns:p14="http://schemas.microsoft.com/office/powerpoint/2010/main" val="1017724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SUM RULE</a:t>
            </a:r>
          </a:p>
        </p:txBody>
      </p:sp>
      <p:sp>
        <p:nvSpPr>
          <p:cNvPr id="3" name="Content Placeholder 2"/>
          <p:cNvSpPr>
            <a:spLocks noGrp="1"/>
          </p:cNvSpPr>
          <p:nvPr>
            <p:ph idx="1"/>
          </p:nvPr>
        </p:nvSpPr>
        <p:spPr/>
        <p:txBody>
          <a:bodyPr/>
          <a:lstStyle/>
          <a:p>
            <a:r>
              <a:rPr lang="en-US" dirty="0"/>
              <a:t>If a task can be done either in one of </a:t>
            </a:r>
            <a:r>
              <a:rPr lang="en-US" i="1" dirty="0"/>
              <a:t>n</a:t>
            </a:r>
            <a:r>
              <a:rPr lang="en-US" baseline="-25000" dirty="0"/>
              <a:t>1</a:t>
            </a:r>
            <a:r>
              <a:rPr lang="en-US" dirty="0"/>
              <a:t> ways or in one of </a:t>
            </a:r>
            <a:r>
              <a:rPr lang="en-US" i="1" dirty="0"/>
              <a:t>n</a:t>
            </a:r>
            <a:r>
              <a:rPr lang="en-US" baseline="-25000" dirty="0"/>
              <a:t>2</a:t>
            </a:r>
            <a:r>
              <a:rPr lang="en-US" dirty="0"/>
              <a:t> ways, where none of the set of </a:t>
            </a:r>
            <a:r>
              <a:rPr lang="en-US" i="1" dirty="0"/>
              <a:t>n</a:t>
            </a:r>
            <a:r>
              <a:rPr lang="en-US" baseline="-25000" dirty="0"/>
              <a:t>1</a:t>
            </a:r>
            <a:r>
              <a:rPr lang="en-US" dirty="0"/>
              <a:t> ways is the same as any of the set of </a:t>
            </a:r>
            <a:r>
              <a:rPr lang="en-US" i="1" dirty="0"/>
              <a:t>n</a:t>
            </a:r>
            <a:r>
              <a:rPr lang="en-US" baseline="-25000" dirty="0"/>
              <a:t>2</a:t>
            </a:r>
            <a:r>
              <a:rPr lang="en-US" dirty="0"/>
              <a:t> ways, then there are </a:t>
            </a:r>
            <a:r>
              <a:rPr lang="en-US" i="1" dirty="0"/>
              <a:t>n</a:t>
            </a:r>
            <a:r>
              <a:rPr lang="en-US" baseline="-25000" dirty="0"/>
              <a:t>1</a:t>
            </a:r>
            <a:r>
              <a:rPr lang="en-US" dirty="0"/>
              <a:t> + </a:t>
            </a:r>
            <a:r>
              <a:rPr lang="en-US" i="1" dirty="0"/>
              <a:t>n</a:t>
            </a:r>
            <a:r>
              <a:rPr lang="en-US" baseline="-25000" dirty="0"/>
              <a:t>2 </a:t>
            </a:r>
            <a:r>
              <a:rPr lang="en-US" dirty="0"/>
              <a:t>ways to do the task.</a:t>
            </a:r>
          </a:p>
        </p:txBody>
      </p:sp>
    </p:spTree>
    <p:extLst>
      <p:ext uri="{BB962C8B-B14F-4D97-AF65-F5344CB8AC3E}">
        <p14:creationId xmlns:p14="http://schemas.microsoft.com/office/powerpoint/2010/main" val="3492537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a:buNone/>
            </a:pPr>
            <a:r>
              <a:rPr lang="en-US" dirty="0"/>
              <a:t>	Example 1:</a:t>
            </a:r>
          </a:p>
          <a:p>
            <a:pPr>
              <a:buNone/>
            </a:pPr>
            <a:r>
              <a:rPr lang="en-US" dirty="0"/>
              <a:t>	Suppose that either a member of the mathematics faculty or a student who is a mathematics major is chosen as a representative to a university committee. How many different choices are there for this representative if there are 37 members of the mathematics faculty and 83 mathematics majors and no one is both a faculty member and a student?</a:t>
            </a:r>
          </a:p>
          <a:p>
            <a:r>
              <a:rPr lang="en-US" dirty="0"/>
              <a:t>By the sum rule it follows that there are </a:t>
            </a:r>
          </a:p>
          <a:p>
            <a:r>
              <a:rPr lang="en-US" dirty="0">
                <a:solidFill>
                  <a:srgbClr val="FF0000"/>
                </a:solidFill>
              </a:rPr>
              <a:t>37 + 83 = 120 </a:t>
            </a:r>
            <a:r>
              <a:rPr lang="en-US" dirty="0"/>
              <a:t>possible ways to pick this representative.</a:t>
            </a:r>
          </a:p>
        </p:txBody>
      </p:sp>
    </p:spTree>
    <p:extLst>
      <p:ext uri="{BB962C8B-B14F-4D97-AF65-F5344CB8AC3E}">
        <p14:creationId xmlns:p14="http://schemas.microsoft.com/office/powerpoint/2010/main" val="4155528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buNone/>
            </a:pPr>
            <a:r>
              <a:rPr lang="en-US" dirty="0"/>
              <a:t>	Example 2:</a:t>
            </a:r>
          </a:p>
          <a:p>
            <a:pPr>
              <a:buNone/>
            </a:pPr>
            <a:r>
              <a:rPr lang="en-US" dirty="0"/>
              <a:t>	A student can choose a computer project from one of three lists. The three lists contain 23, 15, and 19 possible projects, respectively. No project is on more than one list. How many possible projects are there to choose from?</a:t>
            </a:r>
          </a:p>
          <a:p>
            <a:r>
              <a:rPr lang="en-US" dirty="0"/>
              <a:t>The student can choose a project by selecting a project from the first list, the second list, or the third list. Because no project is on more than one list, by the sum rule there are </a:t>
            </a:r>
          </a:p>
          <a:p>
            <a:r>
              <a:rPr lang="en-US" dirty="0">
                <a:solidFill>
                  <a:srgbClr val="FF0000"/>
                </a:solidFill>
              </a:rPr>
              <a:t>23 + 15 + 19 = 57 </a:t>
            </a:r>
            <a:r>
              <a:rPr lang="en-US" dirty="0"/>
              <a:t>ways to choose a project.</a:t>
            </a:r>
          </a:p>
        </p:txBody>
      </p:sp>
    </p:spTree>
    <p:extLst>
      <p:ext uri="{BB962C8B-B14F-4D97-AF65-F5344CB8AC3E}">
        <p14:creationId xmlns:p14="http://schemas.microsoft.com/office/powerpoint/2010/main" val="46582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 Questions</a:t>
            </a:r>
          </a:p>
        </p:txBody>
      </p:sp>
      <p:sp>
        <p:nvSpPr>
          <p:cNvPr id="3" name="Content Placeholder 2"/>
          <p:cNvSpPr>
            <a:spLocks noGrp="1"/>
          </p:cNvSpPr>
          <p:nvPr>
            <p:ph idx="1"/>
          </p:nvPr>
        </p:nvSpPr>
        <p:spPr/>
        <p:txBody>
          <a:bodyPr/>
          <a:lstStyle/>
          <a:p>
            <a:r>
              <a:rPr lang="en-US" b="1" dirty="0"/>
              <a:t>Exercise 6.1</a:t>
            </a:r>
            <a:endParaRPr lang="en-US" dirty="0"/>
          </a:p>
          <a:p>
            <a:pPr>
              <a:buNone/>
            </a:pPr>
            <a:r>
              <a:rPr lang="en-US" b="1" dirty="0"/>
              <a:t>	Questions 1, 5, 7, 11, 15, 31 </a:t>
            </a:r>
            <a:endParaRPr lang="en-US" dirty="0"/>
          </a:p>
          <a:p>
            <a:pPr>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b="1" dirty="0"/>
              <a:t>The Pigeonhole Principle</a:t>
            </a:r>
            <a:endParaRPr lang="en-US" dirty="0"/>
          </a:p>
        </p:txBody>
      </p:sp>
    </p:spTree>
    <p:extLst>
      <p:ext uri="{BB962C8B-B14F-4D97-AF65-F5344CB8AC3E}">
        <p14:creationId xmlns:p14="http://schemas.microsoft.com/office/powerpoint/2010/main" val="1008253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Pigeonhole Principle</a:t>
            </a:r>
            <a:endParaRPr lang="en-US" dirty="0"/>
          </a:p>
        </p:txBody>
      </p:sp>
      <p:sp>
        <p:nvSpPr>
          <p:cNvPr id="3" name="Content Placeholder 2"/>
          <p:cNvSpPr>
            <a:spLocks noGrp="1"/>
          </p:cNvSpPr>
          <p:nvPr>
            <p:ph idx="1"/>
          </p:nvPr>
        </p:nvSpPr>
        <p:spPr>
          <a:xfrm>
            <a:off x="1463040" y="2119257"/>
            <a:ext cx="6667169" cy="3603812"/>
          </a:xfrm>
        </p:spPr>
        <p:txBody>
          <a:bodyPr/>
          <a:lstStyle/>
          <a:p>
            <a:r>
              <a:rPr lang="en-US" dirty="0"/>
              <a:t>Suppose that a flock of 20 pigeons flies into a set of 19 pigeonholes to roost. Because there are 20 pigeons but only 19 pigeonholes, a least one of these 19 pigeonholes must have at least two pigeons in it</a:t>
            </a:r>
          </a:p>
        </p:txBody>
      </p:sp>
      <p:sp>
        <p:nvSpPr>
          <p:cNvPr id="4" name="AutoShape 2" descr="data:image/jpeg;base64,/9j/4AAQSkZJRgABAQAAAQABAAD/2wCEAAkGBxMSEhUUEhMWFBUVFyAYGBYUFxgcGBoYGhUYFhoSGxYbHCggGBonHRkVIjEkJiorLy8vGyAzOT8sNygtLisBCgoKDAUMDg8MDisZExkrLCsrKysrKysrKysrKysrKysrKysrKysrKysrKysrKysrKysrKysrKysrKysrKysrK//AABEIALgBEgMBIgACEQEDEQH/xAAbAAEBAAMBAQEAAAAAAAAAAAAABQMEBgIBB//EAEsQAAIBAwEEAwkMCQMCBwAAAAECAwAEERIFBiExEyJBFjRRVHSTsrPRFTIzNVNhZHFygdLiFCNCUmJzkZS0JEOhorEHY4KSweHw/8QAFAEBAAAAAAAAAAAAAAAAAAAAAP/EABQRAQAAAAAAAAAAAAAAAAAAAAD/2gAMAwEAAhEDEQA/AP2u8u0iQvIwRF5s3ADsyTWGHakLAFZVIOnHH98lU/qQQPqr3tK3MkMkYOC6MoJ5AspGf+ajXG7rNMJekIwYOqGYKehdmbKjgSc8M0FK323bvG0qTI0aDUzg9ULjOrVyxjjX0bZt9Ovpk04JzqGMKwQ/0YqPrIqNs3d+ZLF7R3GoxCNXEkj/ALGnVhx1BwBAGRWW73bOpXjfLL1yZckvIJoZcsVAwMRaeA4cOBxxCou2bcsiiZCzgFQDnIJIBGPnBH3GvUG1oHxomRstoGGHF8FtH14BNRLHd+eOVXMgcFdL5kkUj9bM/LBEuBLga8e9z21iXdJnWNZXX9X0a9QEHTDDKiSAnlJrkV/ANI50HRrtKE8pFPve0ftsUT+rAgfOK8W+1oJDhJUY6tOFYHrYLaf6Kx+41z1rulIBGZJtToIAxUsqsYpnkdjGDpydfDOcGvdvu9cIYnDRM0Cxoo66qyRRzx6icEqx6bOACBp5nNB0Me0omkMQkUyLzQHiOAbj4OBB+8Vrd0Frgnp4+qdJ6w5nUMf9Lf0PgrX2Zs2aO4lkbTplOogSSdU9HGmkRldJ4oetwODWkm6fCPMz61cksrEFUIlwkekDHWkB45zjHKguJtSElQJUJcgJhh1iyM4A8JKqx+oGvK7YtyVUTR5ZdajUMlcE6h82AT9QNc/3HlliV3UdGyMGXOoPHBLGJlz+1rdX457Qc9ufZe700MYj6SJgUUOxU6tawdD1ByUHCtns4jBzkBX927bLDpo8quphqHBQocsfm0kN9RzWWfaUSOsbSKHfGlSeJycA4+vhUBt0yYp1aTLOpEY/21c2i23SEAZJ4N2kYPLNbQ2dcG4SZujGFVGVJpQMK7HVgIBJwY8GwB99B0FKUoFKUoFKUoFKUoFKUoFKUoFKUoFKUoFKUoFKUoFKUoFKUoFKUoFKUoFKUoFKUoFKUoFKUoFYby6SJGkldURBlmYgKAO0k8qnbb2+luVjVWmuHBMdvHjW2P2iTwjTPAuxAH/FaNnu880iz7QZZXU6ordc9BAew4Pw0o+UYcP2QvaGSPfGBgGWO6ZSMgi0uMEdhGU5GvXdbD8jd/2k/wCCr9KCB3Ww/I3f9pP+CndbD8jd/wBpP+Cr9KCB3Ww/I3f9pP8Agp3Ww/I3f9pP+Cr9KCB3Ww/I3f8AaT/gp3Ww/I3f9pP+Cr9KCB3Ww/I3f9pP+CndbD8jd/2k/wCCr9KCB3Ww/I3f9pP+CndbD8jd/wBpP+Cr9KCB3Ww/I3f9pP8Agp3Ww/I3f9pP+Cr9KCB3Ww/I3f8AaT/gp3Ww/I3f9pP+Cr9KCB3Ww/I3f9pP+Csm7+9VtevNHAzF4CBIro6FS2rA6wHHqtWhdX8l+7QWjmO3RtM90vNiPfW8B7W7Gk5LxAy3vfO71hHb7QuYoUEccdnbKqryA6W8/wD2aDrKUpQKUpQKUpQKUpQKUpQKUpQKUpQKUpQcDuZuurwfpP6RdLLckvKyzY1MGKjmDwAAAHZV/uY+mXvn/wAtfNxD/oIPsn02qLtTeu5aeMWseuBiV6VcNhlUnLpjVgtgBeqSOOeIwFvuY+mXvn/y07mPpl75/wDLVbZt30sauVKE8GQkEq6kq6ZHA4YEZHA4rZoIHcx9MvfP/lqZvRsZ4LK6mjvLzXFbySLmbI1JGzDI08RkCuyqHv38W33kk3qHoNe13cLIrG8vMlQT+v8ACM/u1l7mPpl75/8ALVazYCFCeQQE/wDtFcVtDe27a4QWsPSW7htMikcWVSVV1IyNTYXHVKg6j4AF/uY+mXvn/wAtO5j6Ze+f/LViyuRJGrgY1DiDzB5FT84OR91Z6CB3MfTL3z/5a0N4NhtDa3EqXl5qjhd1zNkaljZhw08eIFddUne7vG78ml9U1BPsN3S8UbG8vMsik/ru0qCf2az9zH0y98/+WqmyfgIv5a+iKg74bxywqyWiCWdF1smcNpPIKCOsT4QDpAJI5UG13MfTL3z/AOWncx9MvfP/AJa97r7VlmUidCjqFYE46yMOfADirh05DOkMMBhVyggdzH0y98/+Wo29uxDFbahd3bapoY2VpzgpLdRQuvAAjKOwyCDXcVz2/neg8ptf8+3oLdpbJEixxqERAFVVGAABgADsFQtn/Gt35LbetvK6Ouc2f8a3fktt628oOjpSlApSlApSlApSlApSlApSlApSlApSlBA3C7wg+yfTas7XIWWWbSTjTAirjU7gknjyxlwvHgNLHlWDcLvCD7J9Nqy9DlpYdWhw/TxNjIIJBzjhqAfUrDOcEctQNAsrww6lnQxhpGKvkMnXbVpZh7w5JHHAPDjk4q1Us7S0jTcxFM8CwBeJvD1gMqPthfvrXsrtIiOjkWS2ZtAKsG6FyQBHkf7ZJAGeKkgciNIXKh79/Ft95JN6h6uVD37+Lb7ySb1D0FWw+Cj+wvoipqXIWSWbSSWZYEVcZcx6yTk4/aaQceQTNUrD4KP7C+iKlxwEmSENokjlM0ZIyCHZm1YzxXLyIRnP1ZBoPuzrswjROhj1SMUfIKHXIzKhYe9brAdbGTyzyq1UttpAApcxGPIwTgyRMMceuBwH2wtYbC7WMqEkEtu50o4YN0b8hCWHNT2E8QeB5rQWqk73d43fk0vqmqtUne7vG78ml9U1Bt7J+Ai/lr6IrDtLryQx/wAXSk+BYyDw+csyD6tVZtk/ARfy19EVgv3CTRSN7whoiewFyhUn5iV0/WwoNVL1zIs6wuYWjxkEF8agyyCMHJXGo4GW4jh2VXtrhZFDowZTyI/oR9ecjFTonktwEZGkiUYV4xllUcleMdZsDAyuSe0DnWBrmMuZLZ1MuMyQZCtIBwzobBWQDk3DPI8MFQu1z2/neg8ptf8APt6uWtwsiK6HKsMg8v8Ag8QfmqHv53oPKbX/AD7eg6Guc2f8a3fktt628ro65zZ/xrd+S23rbyg6OlKUClKUClKUClKUClKUClKUClKUClKUEDcLvCD7J9NqrX1ksoGrIKnUjrwZGxjUp/8Ag5BHAgg4qTuF3hB9k+m1XiM0HM2W8bI0qXBBETsjSqrKqsMNGjnipZ42VsqeBIBALLn7tIu2l5IlhMidGSX1I4blbTDSCgOogOM6T9rS29NuvaMnR9CqIWVmSLMauUzpDhCNajPI5HKqghXToxlcacHjkYxg558PDQQN1NuNKOikU6l1aZAwdZI0YKJC69UMQVPz5JHIhc+/fxbfeSTeoergFQ9+/i2+8km9Q9BVsPgo/sL6Irze2ayAZJVlOVdeDKfCOwjwg5B7Qa9WHwUf2F9EVldQQQRkEYIPg8FBzVlvKy9ILgA9GzoZEVgvSIx0xHOQWdcMNJ5nScNgH7tQMetJGsJkXSxL5ifwQyMFBjbidMgzgjt4KdybdWzZQnQKiBg5SLMasygBGZUIDacDGeRAPMCq5iBXSRkYxg8eHz550ELdXbjTrolUiRQesCGV1VtIk1LlVJ4HGeOcjODja3u7xu/JpfVNVapO93eN35NL6pqDb2T8BF/LX0RWzLGGBVgCpGCCMgg8CCO0VrbJ+Ai/lr6IrboOavL+S0mSJcyo6FkjIZpcIyiQBx2KrKRrHE8M8RWe6u/0hGMcXSRo3VkjfEmoAEvGCuCyklcZ4kMD2it+fY1u79KYk6X5UKBIOoUyJB1gdJI5162TsqK2j6OBSqZJwWZuJ4liWJJJOST2kkniTQc3s7bhinKHTLFIA5khOSHYgZ6EZZS2QSvYQx45Omhv53oPKbX/AD7er6IBnAAycnA7TzP11A3870HlNr/n29B0Nc5s/wCNbvyW29beV0dc5s/41u/Jbb1t5QdHSlKBSlKBSlKBX55t+7nTeHZ8YlcQzRPmIMdBZIpzqK9vNP6CqO/kstvNZXiyMIYpujuI8nQUm/VrIRyyrMP6jwV53tS2XaWzZprnoZI2kWOLonYzGRRHjWvCMAtzIPPsoO0pSlApSlApSlApSlBw+52wOks4X/SrpNQY6Ulwo67cANPAVZ7mPpl75/8ALXzcM/6CD7J9Nqi7U3ounuIxax64GJUuuCwYKTmSMgtgnAC9Ukcc8eAW+5j6Ze+f/LTuY+mXvn/y1V2Zd9LGrldLcQy5zpdSVdMjnhgRntxmtqggdzH0y98/+Wo++e7ujZ9436XdtptZTpabKnELnSRp4g129Q9+/i2+8km9Q9BrWe7WY0P6ZeDKjlP8w/hrN3MfTL3z/wCWq1mwEKE8ggP/AEiuKv8Aeu8e4QWsOu3YHDrpzrCkqsikFlLNpGnqFQdR7QAv9zH0y98/+Wncx9MvfP8A5asWVz0kavjGRxB5g8ip+cHI+6s9BA7mPpl75/8ALUzejdzTZ3Tfpd22LeQ4abIOI2OCNPEV2VSd7u8bvyaX1TUE3Zu7WYYz+mXgyi8BNw96P4a2e5j6Ze+f/LVTZPwEX8tfRFQN8d4ZYVaO0TpZ1GplyA2OxUDDDMe0gNpAJI5UG33MfTL3z/5adzH0y98/+Wve6+05ZkInjKOArDVjLKw54AHFXDryGQobgGFXKCB3MfTL3z/5ajb27C6KBX/SbmTFzbdWSXUhzewDiuOPPP1gV3Fc9v53oPKbX/Pt6Doa5zZ/xrd+S23rbyujrnNn/Gt35LbetvKDo6UpQKUpQKUpQau07dpIpERgrMpCsVVgrY6r6WBBwcHBHZUK9sLeG3gm2mUuJbYACcx9YyFgBojXJ1s2kALxJxXT1wm8c88t8rxKZINmujSwoAXkkljbLKO0xRujgD32vA4gUGS0/wDFGwa6NrIZLeUNp/XqFXVjOksCQp+vt4c67evyPbO7OzL+6EtrDLJcSyI8rMsyQRIrq0kkgkVRrZVZdHPLZwOJroN2t4Vt5lsFIuowxWKa2Jk6JCxKQzgA6NKkKH1HIXjjtDvKUpQKUpQKUpQQNwu8IPsn02rObrEksuknGmBFXGXbJYnPIDL448tLHkawbhd4QfZPptWYRZaSAtofX08TYzwJBLY7cOSCPAy8tQoPlndtBqFwhjVpGZZAQyddtWlmHFDkkZI08uOTirVTPdEqNNxEy9mpAZIm+9QWUfbAHzmtWyu44iOikWS2LaOqwboXOMR8OUZJAAPvSQPekaQu1D37+Lb7ySb1D1cqHv38W33kk3qHoKth8FH9hfRFTRdaZJZdJYsywRquMsYy5JyeXWaTOeQTPbVKw+Cj+wvoipccGS8IbRIkhniYjIIdixbGRqXLuhGc4PZkGg+7PuzANFwnRgyMVfIaM65GYIWHvG62OsADwwSTirVS22jgFbmJkzwJAMkTDHHrKOqPthfvrDY3aRlQkgkt2bQjBtXROcYhJ/dOeGeIOB2jAWqk73d43fk0vqmqtUne7vG78ml9U1Bt7J+Ai/lr6IrDtLryQx/xdKx8CxkEY+cuyfdms2yfgIv5a+iKw37aJYpG95homPYpcoVJ+YldP1sKDUS8kMizrCxhaMjIIL6dQZJBHzxjUcA6uI4Z4VXtblJFDowZT2j5jgj5iDkEdlT4mktwEKGWJeCvHxdVHJWj5tgYGVyT4O0673MZkMls6mY8XgJ0tKoGPeNgq4GMNjwA8MEBdrnt/O9B5Ta/59vVy1uVkRXQ5Vhkdn3EHiD2EHlUPfzvQeU2v+fb0HQ1zmz/AI1u/Jbb1t5XR1zmz/jW78ltvW3lB0dKUoFKUoFKUoFc5u23+r2kvguI/wDmzgNbe2N4Y4HWJVaa4cZSCIAuQP2iSQsafxOQKi7F2ftOPppW/RFeeUytGelb9lUSIyjAGlFUZCntNBQ3/TNjKSNSKUeRf3oUlR5UwOYMYfh28u2rloiBF6IKExlQgAXB4jAHDFT9hbWF0kiyR9FLE3RzQsQ2ltIbg2MOjKQwOBkHkDkDQ3SJgeawY5FtpaEnmbaTV0anw6GSSPw4RSedB0tKUoFKUoFKUoIG4XeEH2T6bVXvbNZQA2QVOpWU4ZWxgMp8PE/MQSDkEipG4feEH2T6bVeIzQcvs/eNleVJyHWF3jaVUICMMPGjnJVmeNlOVwAeqQCRn3tPW2mSaNIdadGzFy6FW4/o840LpU5IDjOkn+Iht+43ZtHTQYFVMqxWPKK2kHSHCEB1GTwbI5eAVUWJQunGVxjB48MYwc86Dn909tPKOilQ6l1aJFIdZI1YKrl16oYgqf4hxGOKrn37+Lb7ySb1D1cqHv38W33kk3qHoKth8FH9hfRFeb2yWUDOVZTlHXgynwg/9wcg8iCK9WHwUf2F9EVldQQQRkEYIPIg9lBy9hvMy9IJ+sImeMyohVelQ9WE8SGZ1IYFeAJ0nDYBybU1nrSokPSLoY9IWifgT0Mp0KYzz0yDOD9elt643XtHUIYECBg+hMojMowpZUID44Y1ZwQDzAqt0YxpxkYxg8f+9BC3V208y6JUIdQcOCGR1DaQ+peAYjS2O0HI7QNne7vG78ml9U1Vqk73d43fk0vqmoNvZPwEX8tfRFbMkYYFWAIIwQRkEHmCO0Vr7K+Ai/lr6IraoOZvL6S0nSFCZUdC0cJBaXCMokCvngoVlI1g5PVzxArYuLs3CMY4hJErDTIkhWTIAJeNSmNSkkYLcSCD2iqE+yIHcyGJOkP+4ABIOoUyJB1gdJIyDXrZWy4rZOjgTQmc4yxyTzYliSSTxJPEkkniaDmtm7aaOcr1ZoZAGMkR4q7EDJhHWQsCCy9hDN2kChv53oPKbX/Pt66BVA5ADt4eE8zXP7+d6Dym1/z7eg6Guc2f8a3fktt628ro65zZ/wAa3fktt628oOjpSlApSlArn9t7XkaQ2lnpNyQC7sMpbo3KVx+0xwdKduMnAFZd5drPFogtwGurglYg3FVAxruH/gQHOO0lV/ara2FsdLWLQhLMSWkkfi8kje+lc9pJ+4DAGABQedhbEjtUITLO51SyucySv++7dp8AHADgABVOte/vooEMk0ixovNnYKo+81z0m0bm+6toHtoD767lTEjDtEELgMD/AOY4AHAgNQZdjMJNo3sqe8WOGBj4ZYzNIwz26VmjH15HZWSXhtSPHbZyZ+6eLSf+pv61V2Vs2O2iWGFdKJyGSSSSSWLHizEkkk8SSTUXdyT9Jubm7HGPhbQnsZYmYyyD5jKzL8/Rg9tB0tKUoFKUoFKUoOE3P3PsJrOKSWzt3dwxZ2iUsTrbiSRxNVpNydlLgNZWo1HAzFGMnwDhxNZdxO8IPsn02qHf7tz3N0ryS6HC9dAdUTRtqQKBjUVHHKnTk4bI5ALXcJszxC28ynsp3CbM8QtvMp7Kp7FZuiCuxdkZoy5xltDlA5wANRABOBjOa36Dne4TZniFt5lPZUffLcvZ0ez7x0srdXS2lZWWJAVYQsQwOOBBANd1UPfv4tvvJJvUPQadluNs0xoTYWxJUE/qk8A+avb7k7KUgGytQW4AGKMEnwDhxq5Z56FMcToGM8BnSO3sribrdie4u9ck5jcRjpVU5jKv0ioUyM9XSSoOnDDVk8RQXe4TZniFt5lPZTuE2Z4hbeZT2VW2RKzRLqOpgShb94o5Qt82dOfvrcoOd7hNmeIW3mU9lTN59ytnJZ3LpY26ssEjKwiQEERsQwOOBBrtak73d43fk0vqmoJWzdx9mmGMmxtiSikkxJxJUceVZ33G2WASbG1AHEkxJgDw5xVnZPwEX8tfRFc7vtsqa5XRr6KMsojaM9YSFgNbqf6LjOknVxxgBspuPssgEWNqQeIIiQgjw5xXruE2Z4hbeZT2V73asZLZmheTpNSrJyGFbijY4DOrCsT2sXPDVgX6Dne4TZniFt5lPZUbevdOxggSWG0gikW5ttLpGoYZvYFOCBwyCR99d3XPb+d6Dym1/wA+3oOhrnNn/Gt35LbetvK6Ouc2f8a3fktt628oOjpSlArFdXCxozuwVEUszHkFAyT/AErLXC747ft5pv0FnHRp+uvXPvI4Y9L9CzdrOxjUqP2Sc88EN7YcoSKbad4eiMyhsP8A7NsuTHF9o51tjiWfHHSKyQDaN0iuZEsUfjoWMS3AU+9DO56NHxjI0PjOPnrWJ/Sf9bffqLOD9ZDDIME6eIu515g9qR/s8CetgLvSb4RhC6294wC6j/ppFwMZz1wvZQZ7HdW3jkEzhp5xymuGMjj7APVj/wDQBVypt9tqKK1a7Y/qli6XP8OnUB9Z4D7647a6XlxHame6VFupY0/RrQYBRgZJVa5yXfEavxTR28+FBZ2ptB712tLNiEU6bq6U8IxjJt4j+1MwOCRwQHJ62BXSWVokMaRRKERFCqo5BQMAV8srSOGNY4kWNEGFRAAoHgAFZ6BSlKBSlKBSlKCBuF3hB9k+m1epJG/WOG0NJMsOvAOhA2gAA8M6i5GQeL8cjhXncLvCD7J9Nqz3gELSGQareb4QniEbSFJYfJsAMn9kgk8CSA9JYywZaFzKCdTRy6QSTzKOANLduCCCf3c5resrxZV1LngdLKRhlYc0Ydh/+iMgg1ppayoB0ModOxJsnh2BZh1gPnYOa07qd0lDmPRNp4qralnQZLRq2BmVRllBAPMci2A6Coe/fxbfeSTeoerMEyuqupyrAMpHIgjIP9Kjb9/Ft95JN6h6CrYfBR/YX0RUhZWwzBtDTXJiL8CUVGaNQAwxxKYGQRmTPGq9h8FH9hfRFTblViMglANvMcknkjEAMreBGxnV2HOcZFB7jspbfJiYzKWLNFJpDZY6mKOAADkk4bgSea1v2d2sq6kORnBBGCpHNWU8VYeA1prazR/BSiROxJs5x2KJhxx87K5+etK4umjl1mPRJpy6A6lmiHNkOBmROJxjJHDtBAdBUne7vG78ml9U1VI3DAMpyCMgjkQeINS97u8bvyaX1TUG3sn4CL+WvoisV2NVxEp4hVeQD+IaEB/o7/1+asuyfgIv5a+iK8bSifKSxjU8eepkDWjY1ICeAbgrD51xwBJoNCytJJVjuBOwlZM+9QxgPpYx6MAkAgD3wbhzrfs7/LdHKvRygZ05yrKOBdGwNQ4jI4EZGRxBOtBCsmZbWXoyxOtSuUL9uuI4ZH8OCp48c1h2o76P9QgVVYETwsSY2HKYoygqM8DxYYJz1c0F2ue3870HlNr/AJ9vVXZl2ZFIbAkQ6XA5ZwCGH8LAhh9eOYNSt/O9B5Ta/wCfb0HQ1zmz/jW78ltvW3ldHXObP+NbvyW29beUHR0pSgjb2R3bW5WyIEjMAWLBWEeeuYyVKiTGQCRgZz2Vxse7bQzxT+5jNHAgVYVu1Ygh2Y3Ah0ATy5YsS75yMjrYr9LpQcnEr7RnV5I3js4GDLHKhRp5xgh2RuIjjPIH3zceSjPVsM8DxBr7Sg/J939o20t0tk92jWVuwe0VlIFwQxKwmV+EogbTgLnV1SSdJqtfbvTwbRS42dZRBI0YS9LLojkMuknoVCt0TDHWYKA2ccedd5c2qSDTIiuOeHUEZ8ODWag1dmSyvGrTxrFIc6kSTpFHEgYfSucjB5DnitqlKBSlKBSlKBSlKCBuF3hB9k+m1Xia5Tcja9uljCrTxKwBBDSICDrbgQTwq57uWvjMPnU9tByMMtxa9NIttJGDMyxW+nWZRN+s6QmFnWMq+vAwMKME9ZdPQz7MYxqVLzcBrjlZgW5HWpY5hlB4jGOPDhwK7vu5a+Mw+dT2093LXxmHzqe2gn7tbNuICwdh0bFm0mTWwZn1cD0aBRxbI4jljHEnJv38W33kk3qHrc93LXxmHzqe2ou++2LdtnXqrPESbWYACRCSTC+ABniaDo7D4KP7C+iKyueB4Z4ch2/NxqXY7bthGn+oh94P91P3R89Zvdy18Zh86ntoOOt5rm1WQrbyx6pWjit9OssjnWLjMTOq9HluHV6q4OWK10t5ss6F0F5hgao5HbUTwxIjscxSLz5jmRw4Ebnu5a+Mw+dT2093LXxmHzqe2g0d2Nm3FuCkjAx8SFL62DFtWA3RoFUA4xg8hjHbsb3d43fk0vqmrN7uWvjMPnU9tS969s2xsbsC4hJNvKABImSeibhzoLOyfgIv5a+iK26jbL21bCGIG4h+DX/dT90fPWz7uWvjMPnU9tBC2/bSm8V44niXoyJLoBWAKYkjARZA7D4QHK4447Qa2titJdxNMxmt5GY6EYSAIFACt0bhQ6tjXxAPW0nBFU/dy18Zh86ntp7uWvjMPnU9tBDtdjXKziWJVgAUIU6XVGQGySsYj97xbSNS4z2cQdvfzvQeU2v+fb1R93LXxmHzqe2ud/8AEDb1sLIt08RCT27kK4ZtK3sDMQqkk4AJ4DsoOsu7lIkaSRlREBZmYgKAOZJPIVz+7Gue4uL0xmKKaOKOFX4SMkTTN07Jj9WGMvBTxwMnGcDxa7PlvnWe7QxwI2qC0bmSDlbicZwW7Vj5LzOW971NApSlApSlApSlApSlApSlApSlApSlApSlBoHYtsedvD5pPZXz3EtfFofNJ7K+0oPnuJa+LQ+aT2U9xLXxaHzSeyvtKD57iWvi0Pmk9lffcS28Wh80nspSg+e4lr4tD5pPZT3EtfFofNJ7K+0oPnuJa+LQ+aT2U9xLXxaHzSeyvtKD57iWvi0Pmk9lffcS28Wh80nspSg+e4lr4tD5pPZT3EtfFofNJ7K+0oPnuJa+LQ+aT2U9xLXxaHzSeyvtKD57iWvi0Pmk9lek2NbAgi3hBByCI0BBHIg450pQb1KUoFKUoP/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data:image/jpeg;base64,/9j/4AAQSkZJRgABAQAAAQABAAD/2wCEAAkGBxMSEhUUEhMWFBUVFyAYGBYUFxgcGBoYGhUYFhoSGxYbHCggGBonHRkVIjEkJiorLy8vGyAzOT8sNygtLisBCgoKDAUMDg8MDisZExkrLCsrKysrKysrKysrKysrKysrKysrKysrKysrKysrKysrKysrKysrKysrKysrKysrK//AABEIALgBEgMBIgACEQEDEQH/xAAbAAEBAAMBAQEAAAAAAAAAAAAABQMEBgIBB//EAEsQAAIBAwEEAwkMCQMCBwAAAAECAwAEERIFBiExEyJBFjRRVHSTsrPRFTIzNVNhZHFygdLiFCNCUmJzkZS0JEOhorEHY4KSweHw/8QAFAEBAAAAAAAAAAAAAAAAAAAAAP/EABQRAQAAAAAAAAAAAAAAAAAAAAD/2gAMAwEAAhEDEQA/AP2u8u0iQvIwRF5s3ADsyTWGHakLAFZVIOnHH98lU/qQQPqr3tK3MkMkYOC6MoJ5AspGf+ajXG7rNMJekIwYOqGYKehdmbKjgSc8M0FK323bvG0qTI0aDUzg9ULjOrVyxjjX0bZt9Ovpk04JzqGMKwQ/0YqPrIqNs3d+ZLF7R3GoxCNXEkj/ALGnVhx1BwBAGRWW73bOpXjfLL1yZckvIJoZcsVAwMRaeA4cOBxxCou2bcsiiZCzgFQDnIJIBGPnBH3GvUG1oHxomRstoGGHF8FtH14BNRLHd+eOVXMgcFdL5kkUj9bM/LBEuBLga8e9z21iXdJnWNZXX9X0a9QEHTDDKiSAnlJrkV/ANI50HRrtKE8pFPve0ftsUT+rAgfOK8W+1oJDhJUY6tOFYHrYLaf6Kx+41z1rulIBGZJtToIAxUsqsYpnkdjGDpydfDOcGvdvu9cIYnDRM0Cxoo66qyRRzx6icEqx6bOACBp5nNB0Me0omkMQkUyLzQHiOAbj4OBB+8Vrd0Frgnp4+qdJ6w5nUMf9Lf0PgrX2Zs2aO4lkbTplOogSSdU9HGmkRldJ4oetwODWkm6fCPMz61cksrEFUIlwkekDHWkB45zjHKguJtSElQJUJcgJhh1iyM4A8JKqx+oGvK7YtyVUTR5ZdajUMlcE6h82AT9QNc/3HlliV3UdGyMGXOoPHBLGJlz+1rdX457Qc9ufZe700MYj6SJgUUOxU6tawdD1ByUHCtns4jBzkBX927bLDpo8quphqHBQocsfm0kN9RzWWfaUSOsbSKHfGlSeJycA4+vhUBt0yYp1aTLOpEY/21c2i23SEAZJ4N2kYPLNbQ2dcG4SZujGFVGVJpQMK7HVgIBJwY8GwB99B0FKUoFKUoFKUoFKUoFKUoFKUoFKUoFKUoFKUoFKUoFKUoFKUoFKUoFKUoFKUoFKUoFKUoFKUoFYby6SJGkldURBlmYgKAO0k8qnbb2+luVjVWmuHBMdvHjW2P2iTwjTPAuxAH/FaNnu880iz7QZZXU6ordc9BAew4Pw0o+UYcP2QvaGSPfGBgGWO6ZSMgi0uMEdhGU5GvXdbD8jd/2k/wCCr9KCB3Ww/I3f9pP+CndbD8jd/wBpP+Cr9KCB3Ww/I3f9pP8Agp3Ww/I3f9pP+Cr9KCB3Ww/I3f8AaT/gp3Ww/I3f9pP+Cr9KCB3Ww/I3f9pP+CndbD8jd/2k/wCCr9KCB3Ww/I3f9pP+CndbD8jd/wBpP+Cr9KCB3Ww/I3f9pP8Agp3Ww/I3f9pP+Cr9KCB3Ww/I3f8AaT/gp3Ww/I3f9pP+Cr9KCB3Ww/I3f9pP+Csm7+9VtevNHAzF4CBIro6FS2rA6wHHqtWhdX8l+7QWjmO3RtM90vNiPfW8B7W7Gk5LxAy3vfO71hHb7QuYoUEccdnbKqryA6W8/wD2aDrKUpQKUpQKUpQKUpQKUpQKUpQKUpQKUpQcDuZuurwfpP6RdLLckvKyzY1MGKjmDwAAAHZV/uY+mXvn/wAtfNxD/oIPsn02qLtTeu5aeMWseuBiV6VcNhlUnLpjVgtgBeqSOOeIwFvuY+mXvn/y07mPpl75/wDLVbZt30sauVKE8GQkEq6kq6ZHA4YEZHA4rZoIHcx9MvfP/lqZvRsZ4LK6mjvLzXFbySLmbI1JGzDI08RkCuyqHv38W33kk3qHoNe13cLIrG8vMlQT+v8ACM/u1l7mPpl75/8ALVazYCFCeQQE/wDtFcVtDe27a4QWsPSW7htMikcWVSVV1IyNTYXHVKg6j4AF/uY+mXvn/wAtO5j6Ze+f/LViyuRJGrgY1DiDzB5FT84OR91Z6CB3MfTL3z/5a0N4NhtDa3EqXl5qjhd1zNkaljZhw08eIFddUne7vG78ml9U1BPsN3S8UbG8vMsik/ru0qCf2az9zH0y98/+WqmyfgIv5a+iKg74bxywqyWiCWdF1smcNpPIKCOsT4QDpAJI5UG13MfTL3z/AOWncx9MvfP/AJa97r7VlmUidCjqFYE46yMOfADirh05DOkMMBhVyggdzH0y98/+Wo29uxDFbahd3bapoY2VpzgpLdRQuvAAjKOwyCDXcVz2/neg8ptf8+3oLdpbJEixxqERAFVVGAABgADsFQtn/Gt35LbetvK6Ouc2f8a3fktt628oOjpSlApSlApSlApSlApSlApSlApSlApSlBA3C7wg+yfTas7XIWWWbSTjTAirjU7gknjyxlwvHgNLHlWDcLvCD7J9Nqy9DlpYdWhw/TxNjIIJBzjhqAfUrDOcEctQNAsrww6lnQxhpGKvkMnXbVpZh7w5JHHAPDjk4q1Us7S0jTcxFM8CwBeJvD1gMqPthfvrXsrtIiOjkWS2ZtAKsG6FyQBHkf7ZJAGeKkgciNIXKh79/Ft95JN6h6uVD37+Lb7ySb1D0FWw+Cj+wvoipqXIWSWbSSWZYEVcZcx6yTk4/aaQceQTNUrD4KP7C+iKlxwEmSENokjlM0ZIyCHZm1YzxXLyIRnP1ZBoPuzrswjROhj1SMUfIKHXIzKhYe9brAdbGTyzyq1UttpAApcxGPIwTgyRMMceuBwH2wtYbC7WMqEkEtu50o4YN0b8hCWHNT2E8QeB5rQWqk73d43fk0vqmqtUne7vG78ml9U1Bt7J+Ai/lr6IrDtLryQx/wAXSk+BYyDw+csyD6tVZtk/ARfy19EVgv3CTRSN7whoiewFyhUn5iV0/WwoNVL1zIs6wuYWjxkEF8agyyCMHJXGo4GW4jh2VXtrhZFDowZTyI/oR9ecjFTonktwEZGkiUYV4xllUcleMdZsDAyuSe0DnWBrmMuZLZ1MuMyQZCtIBwzobBWQDk3DPI8MFQu1z2/neg8ptf8APt6uWtwsiK6HKsMg8v8Ag8QfmqHv53oPKbX/AD7eg6Guc2f8a3fktt628ro65zZ/xrd+S23rbyg6OlKUClKUClKUClKUClKUClKUClKUClKUEDcLvCD7J9NqrX1ksoGrIKnUjrwZGxjUp/8Ag5BHAgg4qTuF3hB9k+m1XiM0HM2W8bI0qXBBETsjSqrKqsMNGjnipZ42VsqeBIBALLn7tIu2l5IlhMidGSX1I4blbTDSCgOogOM6T9rS29NuvaMnR9CqIWVmSLMauUzpDhCNajPI5HKqghXToxlcacHjkYxg558PDQQN1NuNKOikU6l1aZAwdZI0YKJC69UMQVPz5JHIhc+/fxbfeSTeoergFQ9+/i2+8km9Q9BVsPgo/sL6Irze2ayAZJVlOVdeDKfCOwjwg5B7Qa9WHwUf2F9EVldQQQRkEYIPg8FBzVlvKy9ILgA9GzoZEVgvSIx0xHOQWdcMNJ5nScNgH7tQMetJGsJkXSxL5ifwQyMFBjbidMgzgjt4KdybdWzZQnQKiBg5SLMasygBGZUIDacDGeRAPMCq5iBXSRkYxg8eHz550ELdXbjTrolUiRQesCGV1VtIk1LlVJ4HGeOcjODja3u7xu/JpfVNVapO93eN35NL6pqDb2T8BF/LX0RWzLGGBVgCpGCCMgg8CCO0VrbJ+Ai/lr6IrboOavL+S0mSJcyo6FkjIZpcIyiQBx2KrKRrHE8M8RWe6u/0hGMcXSRo3VkjfEmoAEvGCuCyklcZ4kMD2it+fY1u79KYk6X5UKBIOoUyJB1gdJI5162TsqK2j6OBSqZJwWZuJ4liWJJJOST2kkniTQc3s7bhinKHTLFIA5khOSHYgZ6EZZS2QSvYQx45Omhv53oPKbX/AD7er6IBnAAycnA7TzP11A3870HlNr/n29B0Nc5s/wCNbvyW29beV0dc5s/41u/Jbb1t5QdHSlKBSlKBSlKBX55t+7nTeHZ8YlcQzRPmIMdBZIpzqK9vNP6CqO/kstvNZXiyMIYpujuI8nQUm/VrIRyyrMP6jwV53tS2XaWzZprnoZI2kWOLonYzGRRHjWvCMAtzIPPsoO0pSlApSlApSlApSlBw+52wOks4X/SrpNQY6Ulwo67cANPAVZ7mPpl75/8ALXzcM/6CD7J9Nqi7U3ounuIxax64GJUuuCwYKTmSMgtgnAC9Ukcc8eAW+5j6Ze+f/LTuY+mXvn/y1V2Zd9LGrldLcQy5zpdSVdMjnhgRntxmtqggdzH0y98/+Wo++e7ujZ9436XdtptZTpabKnELnSRp4g129Q9+/i2+8km9Q9BrWe7WY0P6ZeDKjlP8w/hrN3MfTL3z/wCWq1mwEKE8ggP/AEiuKv8Aeu8e4QWsOu3YHDrpzrCkqsikFlLNpGnqFQdR7QAv9zH0y98/+Wncx9MvfP8A5asWVz0kavjGRxB5g8ip+cHI+6s9BA7mPpl75/8ALUzejdzTZ3Tfpd22LeQ4abIOI2OCNPEV2VSd7u8bvyaX1TUE3Zu7WYYz+mXgyi8BNw96P4a2e5j6Ze+f/LVTZPwEX8tfRFQN8d4ZYVaO0TpZ1GplyA2OxUDDDMe0gNpAJI5UG33MfTL3z/5adzH0y98/+Wve6+05ZkInjKOArDVjLKw54AHFXDryGQobgGFXKCB3MfTL3z/5ajb27C6KBX/SbmTFzbdWSXUhzewDiuOPPP1gV3Fc9v53oPKbX/Pt6Doa5zZ/xrd+S23rbyujrnNn/Gt35LbetvKDo6UpQKUpQKUpQau07dpIpERgrMpCsVVgrY6r6WBBwcHBHZUK9sLeG3gm2mUuJbYACcx9YyFgBojXJ1s2kALxJxXT1wm8c88t8rxKZINmujSwoAXkkljbLKO0xRujgD32vA4gUGS0/wDFGwa6NrIZLeUNp/XqFXVjOksCQp+vt4c67evyPbO7OzL+6EtrDLJcSyI8rMsyQRIrq0kkgkVRrZVZdHPLZwOJroN2t4Vt5lsFIuowxWKa2Jk6JCxKQzgA6NKkKH1HIXjjtDvKUpQKUpQKUpQQNwu8IPsn02rObrEksuknGmBFXGXbJYnPIDL448tLHkawbhd4QfZPptWYRZaSAtofX08TYzwJBLY7cOSCPAy8tQoPlndtBqFwhjVpGZZAQyddtWlmHFDkkZI08uOTirVTPdEqNNxEy9mpAZIm+9QWUfbAHzmtWyu44iOikWS2LaOqwboXOMR8OUZJAAPvSQPekaQu1D37+Lb7ySb1D1cqHv38W33kk3qHoKth8FH9hfRFTRdaZJZdJYsywRquMsYy5JyeXWaTOeQTPbVKw+Cj+wvoipccGS8IbRIkhniYjIIdixbGRqXLuhGc4PZkGg+7PuzANFwnRgyMVfIaM65GYIWHvG62OsADwwSTirVS22jgFbmJkzwJAMkTDHHrKOqPthfvrDY3aRlQkgkt2bQjBtXROcYhJ/dOeGeIOB2jAWqk73d43fk0vqmqtUne7vG78ml9U1Bt7J+Ai/lr6IrDtLryQx/xdKx8CxkEY+cuyfdms2yfgIv5a+iKw37aJYpG95homPYpcoVJ+YldP1sKDUS8kMizrCxhaMjIIL6dQZJBHzxjUcA6uI4Z4VXtblJFDowZT2j5jgj5iDkEdlT4mktwEKGWJeCvHxdVHJWj5tgYGVyT4O0673MZkMls6mY8XgJ0tKoGPeNgq4GMNjwA8MEBdrnt/O9B5Ta/59vVy1uVkRXQ5Vhkdn3EHiD2EHlUPfzvQeU2v+fb0HQ1zmz/AI1u/Jbb1t5XR1zmz/jW78ltvW3lB0dKUoFKUoFKUoFc5u23+r2kvguI/wDmzgNbe2N4Y4HWJVaa4cZSCIAuQP2iSQsafxOQKi7F2ftOPppW/RFeeUytGelb9lUSIyjAGlFUZCntNBQ3/TNjKSNSKUeRf3oUlR5UwOYMYfh28u2rloiBF6IKExlQgAXB4jAHDFT9hbWF0kiyR9FLE3RzQsQ2ltIbg2MOjKQwOBkHkDkDQ3SJgeawY5FtpaEnmbaTV0anw6GSSPw4RSedB0tKUoFKUoFKUoIG4XeEH2T6bVXvbNZQA2QVOpWU4ZWxgMp8PE/MQSDkEipG4feEH2T6bVeIzQcvs/eNleVJyHWF3jaVUICMMPGjnJVmeNlOVwAeqQCRn3tPW2mSaNIdadGzFy6FW4/o840LpU5IDjOkn+Iht+43ZtHTQYFVMqxWPKK2kHSHCEB1GTwbI5eAVUWJQunGVxjB48MYwc86Dn909tPKOilQ6l1aJFIdZI1YKrl16oYgqf4hxGOKrn37+Lb7ySb1D1cqHv38W33kk3qHoKth8FH9hfRFeb2yWUDOVZTlHXgynwg/9wcg8iCK9WHwUf2F9EVldQQQRkEYIPIg9lBy9hvMy9IJ+sImeMyohVelQ9WE8SGZ1IYFeAJ0nDYBybU1nrSokPSLoY9IWifgT0Mp0KYzz0yDOD9elt643XtHUIYECBg+hMojMowpZUID44Y1ZwQDzAqt0YxpxkYxg8f+9BC3V208y6JUIdQcOCGR1DaQ+peAYjS2O0HI7QNne7vG78ml9U1Vqk73d43fk0vqmoNvZPwEX8tfRFbMkYYFWAIIwQRkEHmCO0Vr7K+Ai/lr6IraoOZvL6S0nSFCZUdC0cJBaXCMokCvngoVlI1g5PVzxArYuLs3CMY4hJErDTIkhWTIAJeNSmNSkkYLcSCD2iqE+yIHcyGJOkP+4ABIOoUyJB1gdJIyDXrZWy4rZOjgTQmc4yxyTzYliSSTxJPEkkniaDmtm7aaOcr1ZoZAGMkR4q7EDJhHWQsCCy9hDN2kChv53oPKbX/Pt66BVA5ADt4eE8zXP7+d6Dym1/z7eg6Guc2f8a3fktt628ro65zZ/wAa3fktt628oOjpSlApSlArn9t7XkaQ2lnpNyQC7sMpbo3KVx+0xwdKduMnAFZd5drPFogtwGurglYg3FVAxruH/gQHOO0lV/ara2FsdLWLQhLMSWkkfi8kje+lc9pJ+4DAGABQedhbEjtUITLO51SyucySv++7dp8AHADgABVOte/vooEMk0ixovNnYKo+81z0m0bm+6toHtoD767lTEjDtEELgMD/AOY4AHAgNQZdjMJNo3sqe8WOGBj4ZYzNIwz26VmjH15HZWSXhtSPHbZyZ+6eLSf+pv61V2Vs2O2iWGFdKJyGSSSSSWLHizEkkk8SSTUXdyT9Jubm7HGPhbQnsZYmYyyD5jKzL8/Rg9tB0tKUoFKUoFKUoOE3P3PsJrOKSWzt3dwxZ2iUsTrbiSRxNVpNydlLgNZWo1HAzFGMnwDhxNZdxO8IPsn02qHf7tz3N0ryS6HC9dAdUTRtqQKBjUVHHKnTk4bI5ALXcJszxC28ynsp3CbM8QtvMp7Kp7FZuiCuxdkZoy5xltDlA5wANRABOBjOa36Dne4TZniFt5lPZUffLcvZ0ez7x0srdXS2lZWWJAVYQsQwOOBBANd1UPfv4tvvJJvUPQadluNs0xoTYWxJUE/qk8A+avb7k7KUgGytQW4AGKMEnwDhxq5Z56FMcToGM8BnSO3sribrdie4u9ck5jcRjpVU5jKv0ioUyM9XSSoOnDDVk8RQXe4TZniFt5lPZTuE2Z4hbeZT2VW2RKzRLqOpgShb94o5Qt82dOfvrcoOd7hNmeIW3mU9lTN59ytnJZ3LpY26ssEjKwiQEERsQwOOBBrtak73d43fk0vqmoJWzdx9mmGMmxtiSikkxJxJUceVZ33G2WASbG1AHEkxJgDw5xVnZPwEX8tfRFc7vtsqa5XRr6KMsojaM9YSFgNbqf6LjOknVxxgBspuPssgEWNqQeIIiQgjw5xXruE2Z4hbeZT2V73asZLZmheTpNSrJyGFbijY4DOrCsT2sXPDVgX6Dne4TZniFt5lPZUbevdOxggSWG0gikW5ttLpGoYZvYFOCBwyCR99d3XPb+d6Dym1/wA+3oOhrnNn/Gt35LbetvK6Ouc2f8a3fktt628oOjpSlArFdXCxozuwVEUszHkFAyT/AErLXC747ft5pv0FnHRp+uvXPvI4Y9L9CzdrOxjUqP2Sc88EN7YcoSKbad4eiMyhsP8A7NsuTHF9o51tjiWfHHSKyQDaN0iuZEsUfjoWMS3AU+9DO56NHxjI0PjOPnrWJ/Sf9bffqLOD9ZDDIME6eIu515g9qR/s8CetgLvSb4RhC6294wC6j/ppFwMZz1wvZQZ7HdW3jkEzhp5xymuGMjj7APVj/wDQBVypt9tqKK1a7Y/qli6XP8OnUB9Z4D7647a6XlxHame6VFupY0/RrQYBRgZJVa5yXfEavxTR28+FBZ2ptB712tLNiEU6bq6U8IxjJt4j+1MwOCRwQHJ62BXSWVokMaRRKERFCqo5BQMAV8srSOGNY4kWNEGFRAAoHgAFZ6BSlKBSlKBSlKCBuF3hB9k+m1epJG/WOG0NJMsOvAOhA2gAA8M6i5GQeL8cjhXncLvCD7J9Nqz3gELSGQareb4QniEbSFJYfJsAMn9kgk8CSA9JYywZaFzKCdTRy6QSTzKOANLduCCCf3c5resrxZV1LngdLKRhlYc0Ydh/+iMgg1ppayoB0ModOxJsnh2BZh1gPnYOa07qd0lDmPRNp4qralnQZLRq2BmVRllBAPMci2A6Coe/fxbfeSTeoerMEyuqupyrAMpHIgjIP9Kjb9/Ft95JN6h6CrYfBR/YX0RUhZWwzBtDTXJiL8CUVGaNQAwxxKYGQRmTPGq9h8FH9hfRFTblViMglANvMcknkjEAMreBGxnV2HOcZFB7jspbfJiYzKWLNFJpDZY6mKOAADkk4bgSea1v2d2sq6kORnBBGCpHNWU8VYeA1prazR/BSiROxJs5x2KJhxx87K5+etK4umjl1mPRJpy6A6lmiHNkOBmROJxjJHDtBAdBUne7vG78ml9U1VI3DAMpyCMgjkQeINS97u8bvyaX1TUG3sn4CL+WvoisV2NVxEp4hVeQD+IaEB/o7/1+asuyfgIv5a+iK8bSifKSxjU8eepkDWjY1ICeAbgrD51xwBJoNCytJJVjuBOwlZM+9QxgPpYx6MAkAgD3wbhzrfs7/LdHKvRygZ05yrKOBdGwNQ4jI4EZGRxBOtBCsmZbWXoyxOtSuUL9uuI4ZH8OCp48c1h2o76P9QgVVYETwsSY2HKYoygqM8DxYYJz1c0F2ue3870HlNr/AJ9vVXZl2ZFIbAkQ6XA5ZwCGH8LAhh9eOYNSt/O9B5Ta/wCfb0HQ1zmz/jW78ltvW3ldHXObP+NbvyW29beUHR0pSgjb2R3bW5WyIEjMAWLBWEeeuYyVKiTGQCRgZz2Vxse7bQzxT+5jNHAgVYVu1Ygh2Y3Ah0ATy5YsS75yMjrYr9LpQcnEr7RnV5I3js4GDLHKhRp5xgh2RuIjjPIH3zceSjPVsM8DxBr7Sg/J939o20t0tk92jWVuwe0VlIFwQxKwmV+EogbTgLnV1SSdJqtfbvTwbRS42dZRBI0YS9LLojkMuknoVCt0TDHWYKA2ccedd5c2qSDTIiuOeHUEZ8ODWag1dmSyvGrTxrFIc6kSTpFHEgYfSucjB5DnitqlKBSlKBSlKBSlKCBuF3hB9k+m1Xia5Tcja9uljCrTxKwBBDSICDrbgQTwq57uWvjMPnU9tByMMtxa9NIttJGDMyxW+nWZRN+s6QmFnWMq+vAwMKME9ZdPQz7MYxqVLzcBrjlZgW5HWpY5hlB4jGOPDhwK7vu5a+Mw+dT2093LXxmHzqe2gn7tbNuICwdh0bFm0mTWwZn1cD0aBRxbI4jljHEnJv38W33kk3qHrc93LXxmHzqe2ou++2LdtnXqrPESbWYACRCSTC+ABniaDo7D4KP7C+iKyueB4Z4ch2/NxqXY7bthGn+oh94P91P3R89Zvdy18Zh86ntoOOt5rm1WQrbyx6pWjit9OssjnWLjMTOq9HluHV6q4OWK10t5ss6F0F5hgao5HbUTwxIjscxSLz5jmRw4Ebnu5a+Mw+dT2093LXxmHzqe2g0d2Nm3FuCkjAx8SFL62DFtWA3RoFUA4xg8hjHbsb3d43fk0vqmrN7uWvjMPnU9tS969s2xsbsC4hJNvKABImSeibhzoLOyfgIv5a+iK26jbL21bCGIG4h+DX/dT90fPWz7uWvjMPnU9tBC2/bSm8V44niXoyJLoBWAKYkjARZA7D4QHK4447Qa2titJdxNMxmt5GY6EYSAIFACt0bhQ6tjXxAPW0nBFU/dy18Zh86ntp7uWvjMPnU9tBDtdjXKziWJVgAUIU6XVGQGySsYj97xbSNS4z2cQdvfzvQeU2v+fb1R93LXxmHzqe2ud/8AEDb1sLIt08RCT27kK4ZtK3sDMQqkk4AJ4DsoOsu7lIkaSRlREBZmYgKAOZJPIVz+7Gue4uL0xmKKaOKOFX4SMkTTN07Jj9WGMvBTxwMnGcDxa7PlvnWe7QxwI2qC0bmSDlbicZwW7Vj5LzOW971NApSlApSlApSlApSlApSlApSlApSlApSlBoHYtsedvD5pPZXz3EtfFofNJ7K+0oPnuJa+LQ+aT2U9xLXxaHzSeyvtKD57iWvi0Pmk9lffcS28Wh80nspSg+e4lr4tD5pPZT3EtfFofNJ7K+0oPnuJa+LQ+aT2U9xLXxaHzSeyvtKD57iWvi0Pmk9lffcS28Wh80nspSg+e4lr4tD5pPZT3EtfFofNJ7K+0oPnuJa+LQ+aT2U9xLXxaHzSeyvtKD57iWvi0Pmk9lek2NbAgi3hBByCI0BBHIg450pQb1KUoFKUoP/Z"/>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data:image/jpeg;base64,/9j/4AAQSkZJRgABAQAAAQABAAD/2wCEAAkGBxMSEhUUEhMWFBUVFyAYGBYUFxgcGBoYGhUYFhoSGxYbHCggGBonHRkVIjEkJiorLy8vGyAzOT8sNygtLisBCgoKDAUMDg8MDisZExkrLCsrKysrKysrKysrKysrKysrKysrKysrKysrKysrKysrKysrKysrKysrKysrKysrK//AABEIALgBEgMBIgACEQEDEQH/xAAbAAEBAAMBAQEAAAAAAAAAAAAABQMEBgIBB//EAEsQAAIBAwEEAwkMCQMCBwAAAAECAwAEERIFBiExEyJBFjRRVHSTsrPRFTIzNVNhZHFygdLiFCNCUmJzkZS0JEOhorEHY4KSweHw/8QAFAEBAAAAAAAAAAAAAAAAAAAAAP/EABQRAQAAAAAAAAAAAAAAAAAAAAD/2gAMAwEAAhEDEQA/AP2u8u0iQvIwRF5s3ADsyTWGHakLAFZVIOnHH98lU/qQQPqr3tK3MkMkYOC6MoJ5AspGf+ajXG7rNMJekIwYOqGYKehdmbKjgSc8M0FK323bvG0qTI0aDUzg9ULjOrVyxjjX0bZt9Ovpk04JzqGMKwQ/0YqPrIqNs3d+ZLF7R3GoxCNXEkj/ALGnVhx1BwBAGRWW73bOpXjfLL1yZckvIJoZcsVAwMRaeA4cOBxxCou2bcsiiZCzgFQDnIJIBGPnBH3GvUG1oHxomRstoGGHF8FtH14BNRLHd+eOVXMgcFdL5kkUj9bM/LBEuBLga8e9z21iXdJnWNZXX9X0a9QEHTDDKiSAnlJrkV/ANI50HRrtKE8pFPve0ftsUT+rAgfOK8W+1oJDhJUY6tOFYHrYLaf6Kx+41z1rulIBGZJtToIAxUsqsYpnkdjGDpydfDOcGvdvu9cIYnDRM0Cxoo66qyRRzx6icEqx6bOACBp5nNB0Me0omkMQkUyLzQHiOAbj4OBB+8Vrd0Frgnp4+qdJ6w5nUMf9Lf0PgrX2Zs2aO4lkbTplOogSSdU9HGmkRldJ4oetwODWkm6fCPMz61cksrEFUIlwkekDHWkB45zjHKguJtSElQJUJcgJhh1iyM4A8JKqx+oGvK7YtyVUTR5ZdajUMlcE6h82AT9QNc/3HlliV3UdGyMGXOoPHBLGJlz+1rdX457Qc9ufZe700MYj6SJgUUOxU6tawdD1ByUHCtns4jBzkBX927bLDpo8quphqHBQocsfm0kN9RzWWfaUSOsbSKHfGlSeJycA4+vhUBt0yYp1aTLOpEY/21c2i23SEAZJ4N2kYPLNbQ2dcG4SZujGFVGVJpQMK7HVgIBJwY8GwB99B0FKUoFKUoFKUoFKUoFKUoFKUoFKUoFKUoFKUoFKUoFKUoFKUoFKUoFKUoFKUoFKUoFKUoFKUoFYby6SJGkldURBlmYgKAO0k8qnbb2+luVjVWmuHBMdvHjW2P2iTwjTPAuxAH/FaNnu880iz7QZZXU6ordc9BAew4Pw0o+UYcP2QvaGSPfGBgGWO6ZSMgi0uMEdhGU5GvXdbD8jd/2k/wCCr9KCB3Ww/I3f9pP+CndbD8jd/wBpP+Cr9KCB3Ww/I3f9pP8Agp3Ww/I3f9pP+Cr9KCB3Ww/I3f8AaT/gp3Ww/I3f9pP+Cr9KCB3Ww/I3f9pP+CndbD8jd/2k/wCCr9KCB3Ww/I3f9pP+CndbD8jd/wBpP+Cr9KCB3Ww/I3f9pP8Agp3Ww/I3f9pP+Cr9KCB3Ww/I3f8AaT/gp3Ww/I3f9pP+Cr9KCB3Ww/I3f9pP+Csm7+9VtevNHAzF4CBIro6FS2rA6wHHqtWhdX8l+7QWjmO3RtM90vNiPfW8B7W7Gk5LxAy3vfO71hHb7QuYoUEccdnbKqryA6W8/wD2aDrKUpQKUpQKUpQKUpQKUpQKUpQKUpQKUpQcDuZuurwfpP6RdLLckvKyzY1MGKjmDwAAAHZV/uY+mXvn/wAtfNxD/oIPsn02qLtTeu5aeMWseuBiV6VcNhlUnLpjVgtgBeqSOOeIwFvuY+mXvn/y07mPpl75/wDLVbZt30sauVKE8GQkEq6kq6ZHA4YEZHA4rZoIHcx9MvfP/lqZvRsZ4LK6mjvLzXFbySLmbI1JGzDI08RkCuyqHv38W33kk3qHoNe13cLIrG8vMlQT+v8ACM/u1l7mPpl75/8ALVazYCFCeQQE/wDtFcVtDe27a4QWsPSW7htMikcWVSVV1IyNTYXHVKg6j4AF/uY+mXvn/wAtO5j6Ze+f/LViyuRJGrgY1DiDzB5FT84OR91Z6CB3MfTL3z/5a0N4NhtDa3EqXl5qjhd1zNkaljZhw08eIFddUne7vG78ml9U1BPsN3S8UbG8vMsik/ru0qCf2az9zH0y98/+WqmyfgIv5a+iKg74bxywqyWiCWdF1smcNpPIKCOsT4QDpAJI5UG13MfTL3z/AOWncx9MvfP/AJa97r7VlmUidCjqFYE46yMOfADirh05DOkMMBhVyggdzH0y98/+Wo29uxDFbahd3bapoY2VpzgpLdRQuvAAjKOwyCDXcVz2/neg8ptf8+3oLdpbJEixxqERAFVVGAABgADsFQtn/Gt35LbetvK6Ouc2f8a3fktt628oOjpSlApSlApSlApSlApSlApSlApSlApSlBA3C7wg+yfTas7XIWWWbSTjTAirjU7gknjyxlwvHgNLHlWDcLvCD7J9Nqy9DlpYdWhw/TxNjIIJBzjhqAfUrDOcEctQNAsrww6lnQxhpGKvkMnXbVpZh7w5JHHAPDjk4q1Us7S0jTcxFM8CwBeJvD1gMqPthfvrXsrtIiOjkWS2ZtAKsG6FyQBHkf7ZJAGeKkgciNIXKh79/Ft95JN6h6uVD37+Lb7ySb1D0FWw+Cj+wvoipqXIWSWbSSWZYEVcZcx6yTk4/aaQceQTNUrD4KP7C+iKlxwEmSENokjlM0ZIyCHZm1YzxXLyIRnP1ZBoPuzrswjROhj1SMUfIKHXIzKhYe9brAdbGTyzyq1UttpAApcxGPIwTgyRMMceuBwH2wtYbC7WMqEkEtu50o4YN0b8hCWHNT2E8QeB5rQWqk73d43fk0vqmqtUne7vG78ml9U1Bt7J+Ai/lr6IrDtLryQx/wAXSk+BYyDw+csyD6tVZtk/ARfy19EVgv3CTRSN7whoiewFyhUn5iV0/WwoNVL1zIs6wuYWjxkEF8agyyCMHJXGo4GW4jh2VXtrhZFDowZTyI/oR9ecjFTonktwEZGkiUYV4xllUcleMdZsDAyuSe0DnWBrmMuZLZ1MuMyQZCtIBwzobBWQDk3DPI8MFQu1z2/neg8ptf8APt6uWtwsiK6HKsMg8v8Ag8QfmqHv53oPKbX/AD7eg6Guc2f8a3fktt628ro65zZ/xrd+S23rbyg6OlKUClKUClKUClKUClKUClKUClKUClKUEDcLvCD7J9NqrX1ksoGrIKnUjrwZGxjUp/8Ag5BHAgg4qTuF3hB9k+m1XiM0HM2W8bI0qXBBETsjSqrKqsMNGjnipZ42VsqeBIBALLn7tIu2l5IlhMidGSX1I4blbTDSCgOogOM6T9rS29NuvaMnR9CqIWVmSLMauUzpDhCNajPI5HKqghXToxlcacHjkYxg558PDQQN1NuNKOikU6l1aZAwdZI0YKJC69UMQVPz5JHIhc+/fxbfeSTeoergFQ9+/i2+8km9Q9BVsPgo/sL6Irze2ayAZJVlOVdeDKfCOwjwg5B7Qa9WHwUf2F9EVldQQQRkEYIPg8FBzVlvKy9ILgA9GzoZEVgvSIx0xHOQWdcMNJ5nScNgH7tQMetJGsJkXSxL5ifwQyMFBjbidMgzgjt4KdybdWzZQnQKiBg5SLMasygBGZUIDacDGeRAPMCq5iBXSRkYxg8eHz550ELdXbjTrolUiRQesCGV1VtIk1LlVJ4HGeOcjODja3u7xu/JpfVNVapO93eN35NL6pqDb2T8BF/LX0RWzLGGBVgCpGCCMgg8CCO0VrbJ+Ai/lr6IrboOavL+S0mSJcyo6FkjIZpcIyiQBx2KrKRrHE8M8RWe6u/0hGMcXSRo3VkjfEmoAEvGCuCyklcZ4kMD2it+fY1u79KYk6X5UKBIOoUyJB1gdJI5162TsqK2j6OBSqZJwWZuJ4liWJJJOST2kkniTQc3s7bhinKHTLFIA5khOSHYgZ6EZZS2QSvYQx45Omhv53oPKbX/AD7er6IBnAAycnA7TzP11A3870HlNr/n29B0Nc5s/wCNbvyW29beV0dc5s/41u/Jbb1t5QdHSlKBSlKBSlKBX55t+7nTeHZ8YlcQzRPmIMdBZIpzqK9vNP6CqO/kstvNZXiyMIYpujuI8nQUm/VrIRyyrMP6jwV53tS2XaWzZprnoZI2kWOLonYzGRRHjWvCMAtzIPPsoO0pSlApSlApSlApSlBw+52wOks4X/SrpNQY6Ulwo67cANPAVZ7mPpl75/8ALXzcM/6CD7J9Nqi7U3ounuIxax64GJUuuCwYKTmSMgtgnAC9Ukcc8eAW+5j6Ze+f/LTuY+mXvn/y1V2Zd9LGrldLcQy5zpdSVdMjnhgRntxmtqggdzH0y98/+Wo++e7ujZ9436XdtptZTpabKnELnSRp4g129Q9+/i2+8km9Q9BrWe7WY0P6ZeDKjlP8w/hrN3MfTL3z/wCWq1mwEKE8ggP/AEiuKv8Aeu8e4QWsOu3YHDrpzrCkqsikFlLNpGnqFQdR7QAv9zH0y98/+Wncx9MvfP8A5asWVz0kavjGRxB5g8ip+cHI+6s9BA7mPpl75/8ALUzejdzTZ3Tfpd22LeQ4abIOI2OCNPEV2VSd7u8bvyaX1TUE3Zu7WYYz+mXgyi8BNw96P4a2e5j6Ze+f/LVTZPwEX8tfRFQN8d4ZYVaO0TpZ1GplyA2OxUDDDMe0gNpAJI5UG33MfTL3z/5adzH0y98/+Wve6+05ZkInjKOArDVjLKw54AHFXDryGQobgGFXKCB3MfTL3z/5ajb27C6KBX/SbmTFzbdWSXUhzewDiuOPPP1gV3Fc9v53oPKbX/Pt6Doa5zZ/xrd+S23rbyujrnNn/Gt35LbetvKDo6UpQKUpQKUpQau07dpIpERgrMpCsVVgrY6r6WBBwcHBHZUK9sLeG3gm2mUuJbYACcx9YyFgBojXJ1s2kALxJxXT1wm8c88t8rxKZINmujSwoAXkkljbLKO0xRujgD32vA4gUGS0/wDFGwa6NrIZLeUNp/XqFXVjOksCQp+vt4c67evyPbO7OzL+6EtrDLJcSyI8rMsyQRIrq0kkgkVRrZVZdHPLZwOJroN2t4Vt5lsFIuowxWKa2Jk6JCxKQzgA6NKkKH1HIXjjtDvKUpQKUpQKUpQQNwu8IPsn02rObrEksuknGmBFXGXbJYnPIDL448tLHkawbhd4QfZPptWYRZaSAtofX08TYzwJBLY7cOSCPAy8tQoPlndtBqFwhjVpGZZAQyddtWlmHFDkkZI08uOTirVTPdEqNNxEy9mpAZIm+9QWUfbAHzmtWyu44iOikWS2LaOqwboXOMR8OUZJAAPvSQPekaQu1D37+Lb7ySb1D1cqHv38W33kk3qHoKth8FH9hfRFTRdaZJZdJYsywRquMsYy5JyeXWaTOeQTPbVKw+Cj+wvoipccGS8IbRIkhniYjIIdixbGRqXLuhGc4PZkGg+7PuzANFwnRgyMVfIaM65GYIWHvG62OsADwwSTirVS22jgFbmJkzwJAMkTDHHrKOqPthfvrDY3aRlQkgkt2bQjBtXROcYhJ/dOeGeIOB2jAWqk73d43fk0vqmqtUne7vG78ml9U1Bt7J+Ai/lr6IrDtLryQx/xdKx8CxkEY+cuyfdms2yfgIv5a+iKw37aJYpG95homPYpcoVJ+YldP1sKDUS8kMizrCxhaMjIIL6dQZJBHzxjUcA6uI4Z4VXtblJFDowZT2j5jgj5iDkEdlT4mktwEKGWJeCvHxdVHJWj5tgYGVyT4O0673MZkMls6mY8XgJ0tKoGPeNgq4GMNjwA8MEBdrnt/O9B5Ta/59vVy1uVkRXQ5Vhkdn3EHiD2EHlUPfzvQeU2v+fb0HQ1zmz/AI1u/Jbb1t5XR1zmz/jW78ltvW3lB0dKUoFKUoFKUoFc5u23+r2kvguI/wDmzgNbe2N4Y4HWJVaa4cZSCIAuQP2iSQsafxOQKi7F2ftOPppW/RFeeUytGelb9lUSIyjAGlFUZCntNBQ3/TNjKSNSKUeRf3oUlR5UwOYMYfh28u2rloiBF6IKExlQgAXB4jAHDFT9hbWF0kiyR9FLE3RzQsQ2ltIbg2MOjKQwOBkHkDkDQ3SJgeawY5FtpaEnmbaTV0anw6GSSPw4RSedB0tKUoFKUoFKUoIG4XeEH2T6bVXvbNZQA2QVOpWU4ZWxgMp8PE/MQSDkEipG4feEH2T6bVeIzQcvs/eNleVJyHWF3jaVUICMMPGjnJVmeNlOVwAeqQCRn3tPW2mSaNIdadGzFy6FW4/o840LpU5IDjOkn+Iht+43ZtHTQYFVMqxWPKK2kHSHCEB1GTwbI5eAVUWJQunGVxjB48MYwc86Dn909tPKOilQ6l1aJFIdZI1YKrl16oYgqf4hxGOKrn37+Lb7ySb1D1cqHv38W33kk3qHoKth8FH9hfRFeb2yWUDOVZTlHXgynwg/9wcg8iCK9WHwUf2F9EVldQQQRkEYIPIg9lBy9hvMy9IJ+sImeMyohVelQ9WE8SGZ1IYFeAJ0nDYBybU1nrSokPSLoY9IWifgT0Mp0KYzz0yDOD9elt643XtHUIYECBg+hMojMowpZUID44Y1ZwQDzAqt0YxpxkYxg8f+9BC3V208y6JUIdQcOCGR1DaQ+peAYjS2O0HI7QNne7vG78ml9U1Vqk73d43fk0vqmoNvZPwEX8tfRFbMkYYFWAIIwQRkEHmCO0Vr7K+Ai/lr6IraoOZvL6S0nSFCZUdC0cJBaXCMokCvngoVlI1g5PVzxArYuLs3CMY4hJErDTIkhWTIAJeNSmNSkkYLcSCD2iqE+yIHcyGJOkP+4ABIOoUyJB1gdJIyDXrZWy4rZOjgTQmc4yxyTzYliSSTxJPEkkniaDmtm7aaOcr1ZoZAGMkR4q7EDJhHWQsCCy9hDN2kChv53oPKbX/Pt66BVA5ADt4eE8zXP7+d6Dym1/z7eg6Guc2f8a3fktt628ro65zZ/wAa3fktt628oOjpSlApSlArn9t7XkaQ2lnpNyQC7sMpbo3KVx+0xwdKduMnAFZd5drPFogtwGurglYg3FVAxruH/gQHOO0lV/ara2FsdLWLQhLMSWkkfi8kje+lc9pJ+4DAGABQedhbEjtUITLO51SyucySv++7dp8AHADgABVOte/vooEMk0ixovNnYKo+81z0m0bm+6toHtoD767lTEjDtEELgMD/AOY4AHAgNQZdjMJNo3sqe8WOGBj4ZYzNIwz26VmjH15HZWSXhtSPHbZyZ+6eLSf+pv61V2Vs2O2iWGFdKJyGSSSSSWLHizEkkk8SSTUXdyT9Jubm7HGPhbQnsZYmYyyD5jKzL8/Rg9tB0tKUoFKUoFKUoOE3P3PsJrOKSWzt3dwxZ2iUsTrbiSRxNVpNydlLgNZWo1HAzFGMnwDhxNZdxO8IPsn02qHf7tz3N0ryS6HC9dAdUTRtqQKBjUVHHKnTk4bI5ALXcJszxC28ynsp3CbM8QtvMp7Kp7FZuiCuxdkZoy5xltDlA5wANRABOBjOa36Dne4TZniFt5lPZUffLcvZ0ez7x0srdXS2lZWWJAVYQsQwOOBBANd1UPfv4tvvJJvUPQadluNs0xoTYWxJUE/qk8A+avb7k7KUgGytQW4AGKMEnwDhxq5Z56FMcToGM8BnSO3sribrdie4u9ck5jcRjpVU5jKv0ioUyM9XSSoOnDDVk8RQXe4TZniFt5lPZTuE2Z4hbeZT2VW2RKzRLqOpgShb94o5Qt82dOfvrcoOd7hNmeIW3mU9lTN59ytnJZ3LpY26ssEjKwiQEERsQwOOBBrtak73d43fk0vqmoJWzdx9mmGMmxtiSikkxJxJUceVZ33G2WASbG1AHEkxJgDw5xVnZPwEX8tfRFc7vtsqa5XRr6KMsojaM9YSFgNbqf6LjOknVxxgBspuPssgEWNqQeIIiQgjw5xXruE2Z4hbeZT2V73asZLZmheTpNSrJyGFbijY4DOrCsT2sXPDVgX6Dne4TZniFt5lPZUbevdOxggSWG0gikW5ttLpGoYZvYFOCBwyCR99d3XPb+d6Dym1/wA+3oOhrnNn/Gt35LbetvK6Ouc2f8a3fktt628oOjpSlArFdXCxozuwVEUszHkFAyT/AErLXC747ft5pv0FnHRp+uvXPvI4Y9L9CzdrOxjUqP2Sc88EN7YcoSKbad4eiMyhsP8A7NsuTHF9o51tjiWfHHSKyQDaN0iuZEsUfjoWMS3AU+9DO56NHxjI0PjOPnrWJ/Sf9bffqLOD9ZDDIME6eIu515g9qR/s8CetgLvSb4RhC6294wC6j/ppFwMZz1wvZQZ7HdW3jkEzhp5xymuGMjj7APVj/wDQBVypt9tqKK1a7Y/qli6XP8OnUB9Z4D7647a6XlxHame6VFupY0/RrQYBRgZJVa5yXfEavxTR28+FBZ2ptB712tLNiEU6bq6U8IxjJt4j+1MwOCRwQHJ62BXSWVokMaRRKERFCqo5BQMAV8srSOGNY4kWNEGFRAAoHgAFZ6BSlKBSlKBSlKCBuF3hB9k+m1epJG/WOG0NJMsOvAOhA2gAA8M6i5GQeL8cjhXncLvCD7J9Nqz3gELSGQareb4QniEbSFJYfJsAMn9kgk8CSA9JYywZaFzKCdTRy6QSTzKOANLduCCCf3c5resrxZV1LngdLKRhlYc0Ydh/+iMgg1ppayoB0ModOxJsnh2BZh1gPnYOa07qd0lDmPRNp4qralnQZLRq2BmVRllBAPMci2A6Coe/fxbfeSTeoerMEyuqupyrAMpHIgjIP9Kjb9/Ft95JN6h6CrYfBR/YX0RUhZWwzBtDTXJiL8CUVGaNQAwxxKYGQRmTPGq9h8FH9hfRFTblViMglANvMcknkjEAMreBGxnV2HOcZFB7jspbfJiYzKWLNFJpDZY6mKOAADkk4bgSea1v2d2sq6kORnBBGCpHNWU8VYeA1prazR/BSiROxJs5x2KJhxx87K5+etK4umjl1mPRJpy6A6lmiHNkOBmROJxjJHDtBAdBUne7vG78ml9U1VI3DAMpyCMgjkQeINS97u8bvyaX1TUG3sn4CL+WvoisV2NVxEp4hVeQD+IaEB/o7/1+asuyfgIv5a+iK8bSifKSxjU8eepkDWjY1ICeAbgrD51xwBJoNCytJJVjuBOwlZM+9QxgPpYx6MAkAgD3wbhzrfs7/LdHKvRygZ05yrKOBdGwNQ4jI4EZGRxBOtBCsmZbWXoyxOtSuUL9uuI4ZH8OCp48c1h2o76P9QgVVYETwsSY2HKYoygqM8DxYYJz1c0F2ue3870HlNr/AJ9vVXZl2ZFIbAkQ6XA5ZwCGH8LAhh9eOYNSt/O9B5Ta/wCfb0HQ1zmz/jW78ltvW3ldHXObP+NbvyW29beUHR0pSgjb2R3bW5WyIEjMAWLBWEeeuYyVKiTGQCRgZz2Vxse7bQzxT+5jNHAgVYVu1Ygh2Y3Ah0ATy5YsS75yMjrYr9LpQcnEr7RnV5I3js4GDLHKhRp5xgh2RuIjjPIH3zceSjPVsM8DxBr7Sg/J939o20t0tk92jWVuwe0VlIFwQxKwmV+EogbTgLnV1SSdJqtfbvTwbRS42dZRBI0YS9LLojkMuknoVCt0TDHWYKA2ccedd5c2qSDTIiuOeHUEZ8ODWag1dmSyvGrTxrFIc6kSTpFHEgYfSucjB5DnitqlKBSlKBSlKBSlKCBuF3hB9k+m1Xia5Tcja9uljCrTxKwBBDSICDrbgQTwq57uWvjMPnU9tByMMtxa9NIttJGDMyxW+nWZRN+s6QmFnWMq+vAwMKME9ZdPQz7MYxqVLzcBrjlZgW5HWpY5hlB4jGOPDhwK7vu5a+Mw+dT2093LXxmHzqe2gn7tbNuICwdh0bFm0mTWwZn1cD0aBRxbI4jljHEnJv38W33kk3qHrc93LXxmHzqe2ou++2LdtnXqrPESbWYACRCSTC+ABniaDo7D4KP7C+iKyueB4Z4ch2/NxqXY7bthGn+oh94P91P3R89Zvdy18Zh86ntoOOt5rm1WQrbyx6pWjit9OssjnWLjMTOq9HluHV6q4OWK10t5ss6F0F5hgao5HbUTwxIjscxSLz5jmRw4Ebnu5a+Mw+dT2093LXxmHzqe2g0d2Nm3FuCkjAx8SFL62DFtWA3RoFUA4xg8hjHbsb3d43fk0vqmrN7uWvjMPnU9tS969s2xsbsC4hJNvKABImSeibhzoLOyfgIv5a+iK26jbL21bCGIG4h+DX/dT90fPWz7uWvjMPnU9tBC2/bSm8V44niXoyJLoBWAKYkjARZA7D4QHK4447Qa2titJdxNMxmt5GY6EYSAIFACt0bhQ6tjXxAPW0nBFU/dy18Zh86ntp7uWvjMPnU9tBDtdjXKziWJVgAUIU6XVGQGySsYj97xbSNS4z2cQdvfzvQeU2v+fb1R93LXxmHzqe2ud/8AEDb1sLIt08RCT27kK4ZtK3sDMQqkk4AJ4DsoOsu7lIkaSRlREBZmYgKAOZJPIVz+7Gue4uL0xmKKaOKOFX4SMkTTN07Jj9WGMvBTxwMnGcDxa7PlvnWe7QxwI2qC0bmSDlbicZwW7Vj5LzOW971NApSlApSlApSlApSlApSlApSlApSlApSlBoHYtsedvD5pPZXz3EtfFofNJ7K+0oPnuJa+LQ+aT2U9xLXxaHzSeyvtKD57iWvi0Pmk9lffcS28Wh80nspSg+e4lr4tD5pPZT3EtfFofNJ7K+0oPnuJa+LQ+aT2U9xLXxaHzSeyvtKD57iWvi0Pmk9lffcS28Wh80nspSg+e4lr4tD5pPZT3EtfFofNJ7K+0oPnuJa+LQ+aT2U9xLXxaHzSeyvtKD57iWvi0Pmk9lek2NbAgi3hBByCI0BBHIg450pQb1KUoFKUoP/Z"/>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1"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24401" y="3921163"/>
            <a:ext cx="3405808" cy="2287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32291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Pigeonhole Principle</a:t>
            </a:r>
            <a:endParaRPr lang="en-US" dirty="0"/>
          </a:p>
        </p:txBody>
      </p:sp>
      <p:sp>
        <p:nvSpPr>
          <p:cNvPr id="3" name="Content Placeholder 2"/>
          <p:cNvSpPr>
            <a:spLocks noGrp="1"/>
          </p:cNvSpPr>
          <p:nvPr>
            <p:ph idx="1"/>
          </p:nvPr>
        </p:nvSpPr>
        <p:spPr/>
        <p:txBody>
          <a:bodyPr/>
          <a:lstStyle/>
          <a:p>
            <a:r>
              <a:rPr lang="en-US" dirty="0"/>
              <a:t>If </a:t>
            </a:r>
            <a:r>
              <a:rPr lang="en-US" i="1" dirty="0">
                <a:solidFill>
                  <a:srgbClr val="FF0000"/>
                </a:solidFill>
              </a:rPr>
              <a:t>k</a:t>
            </a:r>
            <a:r>
              <a:rPr lang="en-US" i="1" dirty="0"/>
              <a:t> </a:t>
            </a:r>
            <a:r>
              <a:rPr lang="en-US" dirty="0"/>
              <a:t>is a positive integer and </a:t>
            </a:r>
            <a:r>
              <a:rPr lang="en-US" i="1" dirty="0">
                <a:solidFill>
                  <a:srgbClr val="FF0000"/>
                </a:solidFill>
              </a:rPr>
              <a:t>k </a:t>
            </a:r>
            <a:r>
              <a:rPr lang="en-US" dirty="0">
                <a:solidFill>
                  <a:srgbClr val="FF0000"/>
                </a:solidFill>
              </a:rPr>
              <a:t>+ 1 or more objects</a:t>
            </a:r>
            <a:r>
              <a:rPr lang="en-US" dirty="0"/>
              <a:t> are placed into </a:t>
            </a:r>
            <a:r>
              <a:rPr lang="en-US" i="1" dirty="0">
                <a:solidFill>
                  <a:srgbClr val="FF0000"/>
                </a:solidFill>
              </a:rPr>
              <a:t>k </a:t>
            </a:r>
            <a:r>
              <a:rPr lang="en-US" dirty="0">
                <a:solidFill>
                  <a:srgbClr val="FF0000"/>
                </a:solidFill>
              </a:rPr>
              <a:t>boxes</a:t>
            </a:r>
            <a:r>
              <a:rPr lang="en-US" dirty="0"/>
              <a:t>, then there is at </a:t>
            </a:r>
            <a:r>
              <a:rPr lang="en-US" dirty="0">
                <a:solidFill>
                  <a:srgbClr val="FF0000"/>
                </a:solidFill>
              </a:rPr>
              <a:t>least one box </a:t>
            </a:r>
            <a:r>
              <a:rPr lang="en-US" dirty="0"/>
              <a:t>containing </a:t>
            </a:r>
            <a:r>
              <a:rPr lang="en-US" dirty="0">
                <a:solidFill>
                  <a:srgbClr val="FF0000"/>
                </a:solidFill>
              </a:rPr>
              <a:t>two or more of the objects</a:t>
            </a:r>
            <a:r>
              <a:rPr lang="en-US" dirty="0"/>
              <a:t>.</a:t>
            </a:r>
          </a:p>
        </p:txBody>
      </p:sp>
      <p:sp>
        <p:nvSpPr>
          <p:cNvPr id="4" name="AutoShape 2" descr="data:image/jpeg;base64,/9j/4AAQSkZJRgABAQAAAQABAAD/2wCEAAkGBxMSEhUUEhMWFBUVFyAYGBYUFxgcGBoYGhUYFhoSGxYbHCggGBonHRkVIjEkJiorLy8vGyAzOT8sNygtLisBCgoKDAUMDg8MDisZExkrLCsrKysrKysrKysrKysrKysrKysrKysrKysrKysrKysrKysrKysrKysrKysrKysrK//AABEIALgBEgMBIgACEQEDEQH/xAAbAAEBAAMBAQEAAAAAAAAAAAAABQMEBgIBB//EAEsQAAIBAwEEAwkMCQMCBwAAAAECAwAEERIFBiExEyJBFjRRVHSTsrPRFTIzNVNhZHFygdLiFCNCUmJzkZS0JEOhorEHY4KSweHw/8QAFAEBAAAAAAAAAAAAAAAAAAAAAP/EABQRAQAAAAAAAAAAAAAAAAAAAAD/2gAMAwEAAhEDEQA/AP2u8u0iQvIwRF5s3ADsyTWGHakLAFZVIOnHH98lU/qQQPqr3tK3MkMkYOC6MoJ5AspGf+ajXG7rNMJekIwYOqGYKehdmbKjgSc8M0FK323bvG0qTI0aDUzg9ULjOrVyxjjX0bZt9Ovpk04JzqGMKwQ/0YqPrIqNs3d+ZLF7R3GoxCNXEkj/ALGnVhx1BwBAGRWW73bOpXjfLL1yZckvIJoZcsVAwMRaeA4cOBxxCou2bcsiiZCzgFQDnIJIBGPnBH3GvUG1oHxomRstoGGHF8FtH14BNRLHd+eOVXMgcFdL5kkUj9bM/LBEuBLga8e9z21iXdJnWNZXX9X0a9QEHTDDKiSAnlJrkV/ANI50HRrtKE8pFPve0ftsUT+rAgfOK8W+1oJDhJUY6tOFYHrYLaf6Kx+41z1rulIBGZJtToIAxUsqsYpnkdjGDpydfDOcGvdvu9cIYnDRM0Cxoo66qyRRzx6icEqx6bOACBp5nNB0Me0omkMQkUyLzQHiOAbj4OBB+8Vrd0Frgnp4+qdJ6w5nUMf9Lf0PgrX2Zs2aO4lkbTplOogSSdU9HGmkRldJ4oetwODWkm6fCPMz61cksrEFUIlwkekDHWkB45zjHKguJtSElQJUJcgJhh1iyM4A8JKqx+oGvK7YtyVUTR5ZdajUMlcE6h82AT9QNc/3HlliV3UdGyMGXOoPHBLGJlz+1rdX457Qc9ufZe700MYj6SJgUUOxU6tawdD1ByUHCtns4jBzkBX927bLDpo8quphqHBQocsfm0kN9RzWWfaUSOsbSKHfGlSeJycA4+vhUBt0yYp1aTLOpEY/21c2i23SEAZJ4N2kYPLNbQ2dcG4SZujGFVGVJpQMK7HVgIBJwY8GwB99B0FKUoFKUoFKUoFKUoFKUoFKUoFKUoFKUoFKUoFKUoFKUoFKUoFKUoFKUoFKUoFKUoFKUoFKUoFYby6SJGkldURBlmYgKAO0k8qnbb2+luVjVWmuHBMdvHjW2P2iTwjTPAuxAH/FaNnu880iz7QZZXU6ordc9BAew4Pw0o+UYcP2QvaGSPfGBgGWO6ZSMgi0uMEdhGU5GvXdbD8jd/2k/wCCr9KCB3Ww/I3f9pP+CndbD8jd/wBpP+Cr9KCB3Ww/I3f9pP8Agp3Ww/I3f9pP+Cr9KCB3Ww/I3f8AaT/gp3Ww/I3f9pP+Cr9KCB3Ww/I3f9pP+CndbD8jd/2k/wCCr9KCB3Ww/I3f9pP+CndbD8jd/wBpP+Cr9KCB3Ww/I3f9pP8Agp3Ww/I3f9pP+Cr9KCB3Ww/I3f8AaT/gp3Ww/I3f9pP+Cr9KCB3Ww/I3f9pP+Csm7+9VtevNHAzF4CBIro6FS2rA6wHHqtWhdX8l+7QWjmO3RtM90vNiPfW8B7W7Gk5LxAy3vfO71hHb7QuYoUEccdnbKqryA6W8/wD2aDrKUpQKUpQKUpQKUpQKUpQKUpQKUpQKUpQcDuZuurwfpP6RdLLckvKyzY1MGKjmDwAAAHZV/uY+mXvn/wAtfNxD/oIPsn02qLtTeu5aeMWseuBiV6VcNhlUnLpjVgtgBeqSOOeIwFvuY+mXvn/y07mPpl75/wDLVbZt30sauVKE8GQkEq6kq6ZHA4YEZHA4rZoIHcx9MvfP/lqZvRsZ4LK6mjvLzXFbySLmbI1JGzDI08RkCuyqHv38W33kk3qHoNe13cLIrG8vMlQT+v8ACM/u1l7mPpl75/8ALVazYCFCeQQE/wDtFcVtDe27a4QWsPSW7htMikcWVSVV1IyNTYXHVKg6j4AF/uY+mXvn/wAtO5j6Ze+f/LViyuRJGrgY1DiDzB5FT84OR91Z6CB3MfTL3z/5a0N4NhtDa3EqXl5qjhd1zNkaljZhw08eIFddUne7vG78ml9U1BPsN3S8UbG8vMsik/ru0qCf2az9zH0y98/+WqmyfgIv5a+iKg74bxywqyWiCWdF1smcNpPIKCOsT4QDpAJI5UG13MfTL3z/AOWncx9MvfP/AJa97r7VlmUidCjqFYE46yMOfADirh05DOkMMBhVyggdzH0y98/+Wo29uxDFbahd3bapoY2VpzgpLdRQuvAAjKOwyCDXcVz2/neg8ptf8+3oLdpbJEixxqERAFVVGAABgADsFQtn/Gt35LbetvK6Ouc2f8a3fktt628oOjpSlApSlApSlApSlApSlApSlApSlApSlBA3C7wg+yfTas7XIWWWbSTjTAirjU7gknjyxlwvHgNLHlWDcLvCD7J9Nqy9DlpYdWhw/TxNjIIJBzjhqAfUrDOcEctQNAsrww6lnQxhpGKvkMnXbVpZh7w5JHHAPDjk4q1Us7S0jTcxFM8CwBeJvD1gMqPthfvrXsrtIiOjkWS2ZtAKsG6FyQBHkf7ZJAGeKkgciNIXKh79/Ft95JN6h6uVD37+Lb7ySb1D0FWw+Cj+wvoipqXIWSWbSSWZYEVcZcx6yTk4/aaQceQTNUrD4KP7C+iKlxwEmSENokjlM0ZIyCHZm1YzxXLyIRnP1ZBoPuzrswjROhj1SMUfIKHXIzKhYe9brAdbGTyzyq1UttpAApcxGPIwTgyRMMceuBwH2wtYbC7WMqEkEtu50o4YN0b8hCWHNT2E8QeB5rQWqk73d43fk0vqmqtUne7vG78ml9U1Bt7J+Ai/lr6IrDtLryQx/wAXSk+BYyDw+csyD6tVZtk/ARfy19EVgv3CTRSN7whoiewFyhUn5iV0/WwoNVL1zIs6wuYWjxkEF8agyyCMHJXGo4GW4jh2VXtrhZFDowZTyI/oR9ecjFTonktwEZGkiUYV4xllUcleMdZsDAyuSe0DnWBrmMuZLZ1MuMyQZCtIBwzobBWQDk3DPI8MFQu1z2/neg8ptf8APt6uWtwsiK6HKsMg8v8Ag8QfmqHv53oPKbX/AD7eg6Guc2f8a3fktt628ro65zZ/xrd+S23rbyg6OlKUClKUClKUClKUClKUClKUClKUClKUEDcLvCD7J9NqrX1ksoGrIKnUjrwZGxjUp/8Ag5BHAgg4qTuF3hB9k+m1XiM0HM2W8bI0qXBBETsjSqrKqsMNGjnipZ42VsqeBIBALLn7tIu2l5IlhMidGSX1I4blbTDSCgOogOM6T9rS29NuvaMnR9CqIWVmSLMauUzpDhCNajPI5HKqghXToxlcacHjkYxg558PDQQN1NuNKOikU6l1aZAwdZI0YKJC69UMQVPz5JHIhc+/fxbfeSTeoergFQ9+/i2+8km9Q9BVsPgo/sL6Irze2ayAZJVlOVdeDKfCOwjwg5B7Qa9WHwUf2F9EVldQQQRkEYIPg8FBzVlvKy9ILgA9GzoZEVgvSIx0xHOQWdcMNJ5nScNgH7tQMetJGsJkXSxL5ifwQyMFBjbidMgzgjt4KdybdWzZQnQKiBg5SLMasygBGZUIDacDGeRAPMCq5iBXSRkYxg8eHz550ELdXbjTrolUiRQesCGV1VtIk1LlVJ4HGeOcjODja3u7xu/JpfVNVapO93eN35NL6pqDb2T8BF/LX0RWzLGGBVgCpGCCMgg8CCO0VrbJ+Ai/lr6IrboOavL+S0mSJcyo6FkjIZpcIyiQBx2KrKRrHE8M8RWe6u/0hGMcXSRo3VkjfEmoAEvGCuCyklcZ4kMD2it+fY1u79KYk6X5UKBIOoUyJB1gdJI5162TsqK2j6OBSqZJwWZuJ4liWJJJOST2kkniTQc3s7bhinKHTLFIA5khOSHYgZ6EZZS2QSvYQx45Omhv53oPKbX/AD7er6IBnAAycnA7TzP11A3870HlNr/n29B0Nc5s/wCNbvyW29beV0dc5s/41u/Jbb1t5QdHSlKBSlKBSlKBX55t+7nTeHZ8YlcQzRPmIMdBZIpzqK9vNP6CqO/kstvNZXiyMIYpujuI8nQUm/VrIRyyrMP6jwV53tS2XaWzZprnoZI2kWOLonYzGRRHjWvCMAtzIPPsoO0pSlApSlApSlApSlBw+52wOks4X/SrpNQY6Ulwo67cANPAVZ7mPpl75/8ALXzcM/6CD7J9Nqi7U3ounuIxax64GJUuuCwYKTmSMgtgnAC9Ukcc8eAW+5j6Ze+f/LTuY+mXvn/y1V2Zd9LGrldLcQy5zpdSVdMjnhgRntxmtqggdzH0y98/+Wo++e7ujZ9436XdtptZTpabKnELnSRp4g129Q9+/i2+8km9Q9BrWe7WY0P6ZeDKjlP8w/hrN3MfTL3z/wCWq1mwEKE8ggP/AEiuKv8Aeu8e4QWsOu3YHDrpzrCkqsikFlLNpGnqFQdR7QAv9zH0y98/+Wncx9MvfP8A5asWVz0kavjGRxB5g8ip+cHI+6s9BA7mPpl75/8ALUzejdzTZ3Tfpd22LeQ4abIOI2OCNPEV2VSd7u8bvyaX1TUE3Zu7WYYz+mXgyi8BNw96P4a2e5j6Ze+f/LVTZPwEX8tfRFQN8d4ZYVaO0TpZ1GplyA2OxUDDDMe0gNpAJI5UG33MfTL3z/5adzH0y98/+Wve6+05ZkInjKOArDVjLKw54AHFXDryGQobgGFXKCB3MfTL3z/5ajb27C6KBX/SbmTFzbdWSXUhzewDiuOPPP1gV3Fc9v53oPKbX/Pt6Doa5zZ/xrd+S23rbyujrnNn/Gt35LbetvKDo6UpQKUpQKUpQau07dpIpERgrMpCsVVgrY6r6WBBwcHBHZUK9sLeG3gm2mUuJbYACcx9YyFgBojXJ1s2kALxJxXT1wm8c88t8rxKZINmujSwoAXkkljbLKO0xRujgD32vA4gUGS0/wDFGwa6NrIZLeUNp/XqFXVjOksCQp+vt4c67evyPbO7OzL+6EtrDLJcSyI8rMsyQRIrq0kkgkVRrZVZdHPLZwOJroN2t4Vt5lsFIuowxWKa2Jk6JCxKQzgA6NKkKH1HIXjjtDvKUpQKUpQKUpQQNwu8IPsn02rObrEksuknGmBFXGXbJYnPIDL448tLHkawbhd4QfZPptWYRZaSAtofX08TYzwJBLY7cOSCPAy8tQoPlndtBqFwhjVpGZZAQyddtWlmHFDkkZI08uOTirVTPdEqNNxEy9mpAZIm+9QWUfbAHzmtWyu44iOikWS2LaOqwboXOMR8OUZJAAPvSQPekaQu1D37+Lb7ySb1D1cqHv38W33kk3qHoKth8FH9hfRFTRdaZJZdJYsywRquMsYy5JyeXWaTOeQTPbVKw+Cj+wvoipccGS8IbRIkhniYjIIdixbGRqXLuhGc4PZkGg+7PuzANFwnRgyMVfIaM65GYIWHvG62OsADwwSTirVS22jgFbmJkzwJAMkTDHHrKOqPthfvrDY3aRlQkgkt2bQjBtXROcYhJ/dOeGeIOB2jAWqk73d43fk0vqmqtUne7vG78ml9U1Bt7J+Ai/lr6IrDtLryQx/xdKx8CxkEY+cuyfdms2yfgIv5a+iKw37aJYpG95homPYpcoVJ+YldP1sKDUS8kMizrCxhaMjIIL6dQZJBHzxjUcA6uI4Z4VXtblJFDowZT2j5jgj5iDkEdlT4mktwEKGWJeCvHxdVHJWj5tgYGVyT4O0673MZkMls6mY8XgJ0tKoGPeNgq4GMNjwA8MEBdrnt/O9B5Ta/59vVy1uVkRXQ5Vhkdn3EHiD2EHlUPfzvQeU2v+fb0HQ1zmz/AI1u/Jbb1t5XR1zmz/jW78ltvW3lB0dKUoFKUoFKUoFc5u23+r2kvguI/wDmzgNbe2N4Y4HWJVaa4cZSCIAuQP2iSQsafxOQKi7F2ftOPppW/RFeeUytGelb9lUSIyjAGlFUZCntNBQ3/TNjKSNSKUeRf3oUlR5UwOYMYfh28u2rloiBF6IKExlQgAXB4jAHDFT9hbWF0kiyR9FLE3RzQsQ2ltIbg2MOjKQwOBkHkDkDQ3SJgeawY5FtpaEnmbaTV0anw6GSSPw4RSedB0tKUoFKUoFKUoIG4XeEH2T6bVXvbNZQA2QVOpWU4ZWxgMp8PE/MQSDkEipG4feEH2T6bVeIzQcvs/eNleVJyHWF3jaVUICMMPGjnJVmeNlOVwAeqQCRn3tPW2mSaNIdadGzFy6FW4/o840LpU5IDjOkn+Iht+43ZtHTQYFVMqxWPKK2kHSHCEB1GTwbI5eAVUWJQunGVxjB48MYwc86Dn909tPKOilQ6l1aJFIdZI1YKrl16oYgqf4hxGOKrn37+Lb7ySb1D1cqHv38W33kk3qHoKth8FH9hfRFeb2yWUDOVZTlHXgynwg/9wcg8iCK9WHwUf2F9EVldQQQRkEYIPIg9lBy9hvMy9IJ+sImeMyohVelQ9WE8SGZ1IYFeAJ0nDYBybU1nrSokPSLoY9IWifgT0Mp0KYzz0yDOD9elt643XtHUIYECBg+hMojMowpZUID44Y1ZwQDzAqt0YxpxkYxg8f+9BC3V208y6JUIdQcOCGR1DaQ+peAYjS2O0HI7QNne7vG78ml9U1Vqk73d43fk0vqmoNvZPwEX8tfRFbMkYYFWAIIwQRkEHmCO0Vr7K+Ai/lr6IraoOZvL6S0nSFCZUdC0cJBaXCMokCvngoVlI1g5PVzxArYuLs3CMY4hJErDTIkhWTIAJeNSmNSkkYLcSCD2iqE+yIHcyGJOkP+4ABIOoUyJB1gdJIyDXrZWy4rZOjgTQmc4yxyTzYliSSTxJPEkkniaDmtm7aaOcr1ZoZAGMkR4q7EDJhHWQsCCy9hDN2kChv53oPKbX/Pt66BVA5ADt4eE8zXP7+d6Dym1/z7eg6Guc2f8a3fktt628ro65zZ/wAa3fktt628oOjpSlApSlArn9t7XkaQ2lnpNyQC7sMpbo3KVx+0xwdKduMnAFZd5drPFogtwGurglYg3FVAxruH/gQHOO0lV/ara2FsdLWLQhLMSWkkfi8kje+lc9pJ+4DAGABQedhbEjtUITLO51SyucySv++7dp8AHADgABVOte/vooEMk0ixovNnYKo+81z0m0bm+6toHtoD767lTEjDtEELgMD/AOY4AHAgNQZdjMJNo3sqe8WOGBj4ZYzNIwz26VmjH15HZWSXhtSPHbZyZ+6eLSf+pv61V2Vs2O2iWGFdKJyGSSSSSWLHizEkkk8SSTUXdyT9Jubm7HGPhbQnsZYmYyyD5jKzL8/Rg9tB0tKUoFKUoFKUoOE3P3PsJrOKSWzt3dwxZ2iUsTrbiSRxNVpNydlLgNZWo1HAzFGMnwDhxNZdxO8IPsn02qHf7tz3N0ryS6HC9dAdUTRtqQKBjUVHHKnTk4bI5ALXcJszxC28ynsp3CbM8QtvMp7Kp7FZuiCuxdkZoy5xltDlA5wANRABOBjOa36Dne4TZniFt5lPZUffLcvZ0ez7x0srdXS2lZWWJAVYQsQwOOBBANd1UPfv4tvvJJvUPQadluNs0xoTYWxJUE/qk8A+avb7k7KUgGytQW4AGKMEnwDhxq5Z56FMcToGM8BnSO3sribrdie4u9ck5jcRjpVU5jKv0ioUyM9XSSoOnDDVk8RQXe4TZniFt5lPZTuE2Z4hbeZT2VW2RKzRLqOpgShb94o5Qt82dOfvrcoOd7hNmeIW3mU9lTN59ytnJZ3LpY26ssEjKwiQEERsQwOOBBrtak73d43fk0vqmoJWzdx9mmGMmxtiSikkxJxJUceVZ33G2WASbG1AHEkxJgDw5xVnZPwEX8tfRFc7vtsqa5XRr6KMsojaM9YSFgNbqf6LjOknVxxgBspuPssgEWNqQeIIiQgjw5xXruE2Z4hbeZT2V73asZLZmheTpNSrJyGFbijY4DOrCsT2sXPDVgX6Dne4TZniFt5lPZUbevdOxggSWG0gikW5ttLpGoYZvYFOCBwyCR99d3XPb+d6Dym1/wA+3oOhrnNn/Gt35LbetvK6Ouc2f8a3fktt628oOjpSlArFdXCxozuwVEUszHkFAyT/AErLXC747ft5pv0FnHRp+uvXPvI4Y9L9CzdrOxjUqP2Sc88EN7YcoSKbad4eiMyhsP8A7NsuTHF9o51tjiWfHHSKyQDaN0iuZEsUfjoWMS3AU+9DO56NHxjI0PjOPnrWJ/Sf9bffqLOD9ZDDIME6eIu515g9qR/s8CetgLvSb4RhC6294wC6j/ppFwMZz1wvZQZ7HdW3jkEzhp5xymuGMjj7APVj/wDQBVypt9tqKK1a7Y/qli6XP8OnUB9Z4D7647a6XlxHame6VFupY0/RrQYBRgZJVa5yXfEavxTR28+FBZ2ptB712tLNiEU6bq6U8IxjJt4j+1MwOCRwQHJ62BXSWVokMaRRKERFCqo5BQMAV8srSOGNY4kWNEGFRAAoHgAFZ6BSlKBSlKBSlKCBuF3hB9k+m1epJG/WOG0NJMsOvAOhA2gAA8M6i5GQeL8cjhXncLvCD7J9Nqz3gELSGQareb4QniEbSFJYfJsAMn9kgk8CSA9JYywZaFzKCdTRy6QSTzKOANLduCCCf3c5resrxZV1LngdLKRhlYc0Ydh/+iMgg1ppayoB0ModOxJsnh2BZh1gPnYOa07qd0lDmPRNp4qralnQZLRq2BmVRllBAPMci2A6Coe/fxbfeSTeoerMEyuqupyrAMpHIgjIP9Kjb9/Ft95JN6h6CrYfBR/YX0RUhZWwzBtDTXJiL8CUVGaNQAwxxKYGQRmTPGq9h8FH9hfRFTblViMglANvMcknkjEAMreBGxnV2HOcZFB7jspbfJiYzKWLNFJpDZY6mKOAADkk4bgSea1v2d2sq6kORnBBGCpHNWU8VYeA1prazR/BSiROxJs5x2KJhxx87K5+etK4umjl1mPRJpy6A6lmiHNkOBmROJxjJHDtBAdBUne7vG78ml9U1VI3DAMpyCMgjkQeINS97u8bvyaX1TUG3sn4CL+WvoisV2NVxEp4hVeQD+IaEB/o7/1+asuyfgIv5a+iK8bSifKSxjU8eepkDWjY1ICeAbgrD51xwBJoNCytJJVjuBOwlZM+9QxgPpYx6MAkAgD3wbhzrfs7/LdHKvRygZ05yrKOBdGwNQ4jI4EZGRxBOtBCsmZbWXoyxOtSuUL9uuI4ZH8OCp48c1h2o76P9QgVVYETwsSY2HKYoygqM8DxYYJz1c0F2ue3870HlNr/AJ9vVXZl2ZFIbAkQ6XA5ZwCGH8LAhh9eOYNSt/O9B5Ta/wCfb0HQ1zmz/jW78ltvW3ldHXObP+NbvyW29beUHR0pSgjb2R3bW5WyIEjMAWLBWEeeuYyVKiTGQCRgZz2Vxse7bQzxT+5jNHAgVYVu1Ygh2Y3Ah0ATy5YsS75yMjrYr9LpQcnEr7RnV5I3js4GDLHKhRp5xgh2RuIjjPIH3zceSjPVsM8DxBr7Sg/J939o20t0tk92jWVuwe0VlIFwQxKwmV+EogbTgLnV1SSdJqtfbvTwbRS42dZRBI0YS9LLojkMuknoVCt0TDHWYKA2ccedd5c2qSDTIiuOeHUEZ8ODWag1dmSyvGrTxrFIc6kSTpFHEgYfSucjB5DnitqlKBSlKBSlKBSlKCBuF3hB9k+m1Xia5Tcja9uljCrTxKwBBDSICDrbgQTwq57uWvjMPnU9tByMMtxa9NIttJGDMyxW+nWZRN+s6QmFnWMq+vAwMKME9ZdPQz7MYxqVLzcBrjlZgW5HWpY5hlB4jGOPDhwK7vu5a+Mw+dT2093LXxmHzqe2gn7tbNuICwdh0bFm0mTWwZn1cD0aBRxbI4jljHEnJv38W33kk3qHrc93LXxmHzqe2ou++2LdtnXqrPESbWYACRCSTC+ABniaDo7D4KP7C+iKyueB4Z4ch2/NxqXY7bthGn+oh94P91P3R89Zvdy18Zh86ntoOOt5rm1WQrbyx6pWjit9OssjnWLjMTOq9HluHV6q4OWK10t5ss6F0F5hgao5HbUTwxIjscxSLz5jmRw4Ebnu5a+Mw+dT2093LXxmHzqe2g0d2Nm3FuCkjAx8SFL62DFtWA3RoFUA4xg8hjHbsb3d43fk0vqmrN7uWvjMPnU9tS969s2xsbsC4hJNvKABImSeibhzoLOyfgIv5a+iK26jbL21bCGIG4h+DX/dT90fPWz7uWvjMPnU9tBC2/bSm8V44niXoyJLoBWAKYkjARZA7D4QHK4447Qa2titJdxNMxmt5GY6EYSAIFACt0bhQ6tjXxAPW0nBFU/dy18Zh86ntp7uWvjMPnU9tBDtdjXKziWJVgAUIU6XVGQGySsYj97xbSNS4z2cQdvfzvQeU2v+fb1R93LXxmHzqe2ud/8AEDb1sLIt08RCT27kK4ZtK3sDMQqkk4AJ4DsoOsu7lIkaSRlREBZmYgKAOZJPIVz+7Gue4uL0xmKKaOKOFX4SMkTTN07Jj9WGMvBTxwMnGcDxa7PlvnWe7QxwI2qC0bmSDlbicZwW7Vj5LzOW971NApSlApSlApSlApSlApSlApSlApSlApSlBoHYtsedvD5pPZXz3EtfFofNJ7K+0oPnuJa+LQ+aT2U9xLXxaHzSeyvtKD57iWvi0Pmk9lffcS28Wh80nspSg+e4lr4tD5pPZT3EtfFofNJ7K+0oPnuJa+LQ+aT2U9xLXxaHzSeyvtKD57iWvi0Pmk9lffcS28Wh80nspSg+e4lr4tD5pPZT3EtfFofNJ7K+0oPnuJa+LQ+aT2U9xLXxaHzSeyvtKD57iWvi0Pmk9lek2NbAgi3hBByCI0BBHIg450pQb1KUoFKUoP/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data:image/jpeg;base64,/9j/4AAQSkZJRgABAQAAAQABAAD/2wCEAAkGBxMSEhUUEhMWFBUVFyAYGBYUFxgcGBoYGhUYFhoSGxYbHCggGBonHRkVIjEkJiorLy8vGyAzOT8sNygtLisBCgoKDAUMDg8MDisZExkrLCsrKysrKysrKysrKysrKysrKysrKysrKysrKysrKysrKysrKysrKysrKysrKysrK//AABEIALgBEgMBIgACEQEDEQH/xAAbAAEBAAMBAQEAAAAAAAAAAAAABQMEBgIBB//EAEsQAAIBAwEEAwkMCQMCBwAAAAECAwAEERIFBiExEyJBFjRRVHSTsrPRFTIzNVNhZHFygdLiFCNCUmJzkZS0JEOhorEHY4KSweHw/8QAFAEBAAAAAAAAAAAAAAAAAAAAAP/EABQRAQAAAAAAAAAAAAAAAAAAAAD/2gAMAwEAAhEDEQA/AP2u8u0iQvIwRF5s3ADsyTWGHakLAFZVIOnHH98lU/qQQPqr3tK3MkMkYOC6MoJ5AspGf+ajXG7rNMJekIwYOqGYKehdmbKjgSc8M0FK323bvG0qTI0aDUzg9ULjOrVyxjjX0bZt9Ovpk04JzqGMKwQ/0YqPrIqNs3d+ZLF7R3GoxCNXEkj/ALGnVhx1BwBAGRWW73bOpXjfLL1yZckvIJoZcsVAwMRaeA4cOBxxCou2bcsiiZCzgFQDnIJIBGPnBH3GvUG1oHxomRstoGGHF8FtH14BNRLHd+eOVXMgcFdL5kkUj9bM/LBEuBLga8e9z21iXdJnWNZXX9X0a9QEHTDDKiSAnlJrkV/ANI50HRrtKE8pFPve0ftsUT+rAgfOK8W+1oJDhJUY6tOFYHrYLaf6Kx+41z1rulIBGZJtToIAxUsqsYpnkdjGDpydfDOcGvdvu9cIYnDRM0Cxoo66qyRRzx6icEqx6bOACBp5nNB0Me0omkMQkUyLzQHiOAbj4OBB+8Vrd0Frgnp4+qdJ6w5nUMf9Lf0PgrX2Zs2aO4lkbTplOogSSdU9HGmkRldJ4oetwODWkm6fCPMz61cksrEFUIlwkekDHWkB45zjHKguJtSElQJUJcgJhh1iyM4A8JKqx+oGvK7YtyVUTR5ZdajUMlcE6h82AT9QNc/3HlliV3UdGyMGXOoPHBLGJlz+1rdX457Qc9ufZe700MYj6SJgUUOxU6tawdD1ByUHCtns4jBzkBX927bLDpo8quphqHBQocsfm0kN9RzWWfaUSOsbSKHfGlSeJycA4+vhUBt0yYp1aTLOpEY/21c2i23SEAZJ4N2kYPLNbQ2dcG4SZujGFVGVJpQMK7HVgIBJwY8GwB99B0FKUoFKUoFKUoFKUoFKUoFKUoFKUoFKUoFKUoFKUoFKUoFKUoFKUoFKUoFKUoFKUoFKUoFKUoFYby6SJGkldURBlmYgKAO0k8qnbb2+luVjVWmuHBMdvHjW2P2iTwjTPAuxAH/FaNnu880iz7QZZXU6ordc9BAew4Pw0o+UYcP2QvaGSPfGBgGWO6ZSMgi0uMEdhGU5GvXdbD8jd/2k/wCCr9KCB3Ww/I3f9pP+CndbD8jd/wBpP+Cr9KCB3Ww/I3f9pP8Agp3Ww/I3f9pP+Cr9KCB3Ww/I3f8AaT/gp3Ww/I3f9pP+Cr9KCB3Ww/I3f9pP+CndbD8jd/2k/wCCr9KCB3Ww/I3f9pP+CndbD8jd/wBpP+Cr9KCB3Ww/I3f9pP8Agp3Ww/I3f9pP+Cr9KCB3Ww/I3f8AaT/gp3Ww/I3f9pP+Cr9KCB3Ww/I3f9pP+Csm7+9VtevNHAzF4CBIro6FS2rA6wHHqtWhdX8l+7QWjmO3RtM90vNiPfW8B7W7Gk5LxAy3vfO71hHb7QuYoUEccdnbKqryA6W8/wD2aDrKUpQKUpQKUpQKUpQKUpQKUpQKUpQKUpQcDuZuurwfpP6RdLLckvKyzY1MGKjmDwAAAHZV/uY+mXvn/wAtfNxD/oIPsn02qLtTeu5aeMWseuBiV6VcNhlUnLpjVgtgBeqSOOeIwFvuY+mXvn/y07mPpl75/wDLVbZt30sauVKE8GQkEq6kq6ZHA4YEZHA4rZoIHcx9MvfP/lqZvRsZ4LK6mjvLzXFbySLmbI1JGzDI08RkCuyqHv38W33kk3qHoNe13cLIrG8vMlQT+v8ACM/u1l7mPpl75/8ALVazYCFCeQQE/wDtFcVtDe27a4QWsPSW7htMikcWVSVV1IyNTYXHVKg6j4AF/uY+mXvn/wAtO5j6Ze+f/LViyuRJGrgY1DiDzB5FT84OR91Z6CB3MfTL3z/5a0N4NhtDa3EqXl5qjhd1zNkaljZhw08eIFddUne7vG78ml9U1BPsN3S8UbG8vMsik/ru0qCf2az9zH0y98/+WqmyfgIv5a+iKg74bxywqyWiCWdF1smcNpPIKCOsT4QDpAJI5UG13MfTL3z/AOWncx9MvfP/AJa97r7VlmUidCjqFYE46yMOfADirh05DOkMMBhVyggdzH0y98/+Wo29uxDFbahd3bapoY2VpzgpLdRQuvAAjKOwyCDXcVz2/neg8ptf8+3oLdpbJEixxqERAFVVGAABgADsFQtn/Gt35LbetvK6Ouc2f8a3fktt628oOjpSlApSlApSlApSlApSlApSlApSlApSlBA3C7wg+yfTas7XIWWWbSTjTAirjU7gknjyxlwvHgNLHlWDcLvCD7J9Nqy9DlpYdWhw/TxNjIIJBzjhqAfUrDOcEctQNAsrww6lnQxhpGKvkMnXbVpZh7w5JHHAPDjk4q1Us7S0jTcxFM8CwBeJvD1gMqPthfvrXsrtIiOjkWS2ZtAKsG6FyQBHkf7ZJAGeKkgciNIXKh79/Ft95JN6h6uVD37+Lb7ySb1D0FWw+Cj+wvoipqXIWSWbSSWZYEVcZcx6yTk4/aaQceQTNUrD4KP7C+iKlxwEmSENokjlM0ZIyCHZm1YzxXLyIRnP1ZBoPuzrswjROhj1SMUfIKHXIzKhYe9brAdbGTyzyq1UttpAApcxGPIwTgyRMMceuBwH2wtYbC7WMqEkEtu50o4YN0b8hCWHNT2E8QeB5rQWqk73d43fk0vqmqtUne7vG78ml9U1Bt7J+Ai/lr6IrDtLryQx/wAXSk+BYyDw+csyD6tVZtk/ARfy19EVgv3CTRSN7whoiewFyhUn5iV0/WwoNVL1zIs6wuYWjxkEF8agyyCMHJXGo4GW4jh2VXtrhZFDowZTyI/oR9ecjFTonktwEZGkiUYV4xllUcleMdZsDAyuSe0DnWBrmMuZLZ1MuMyQZCtIBwzobBWQDk3DPI8MFQu1z2/neg8ptf8APt6uWtwsiK6HKsMg8v8Ag8QfmqHv53oPKbX/AD7eg6Guc2f8a3fktt628ro65zZ/xrd+S23rbyg6OlKUClKUClKUClKUClKUClKUClKUClKUEDcLvCD7J9NqrX1ksoGrIKnUjrwZGxjUp/8Ag5BHAgg4qTuF3hB9k+m1XiM0HM2W8bI0qXBBETsjSqrKqsMNGjnipZ42VsqeBIBALLn7tIu2l5IlhMidGSX1I4blbTDSCgOogOM6T9rS29NuvaMnR9CqIWVmSLMauUzpDhCNajPI5HKqghXToxlcacHjkYxg558PDQQN1NuNKOikU6l1aZAwdZI0YKJC69UMQVPz5JHIhc+/fxbfeSTeoergFQ9+/i2+8km9Q9BVsPgo/sL6Irze2ayAZJVlOVdeDKfCOwjwg5B7Qa9WHwUf2F9EVldQQQRkEYIPg8FBzVlvKy9ILgA9GzoZEVgvSIx0xHOQWdcMNJ5nScNgH7tQMetJGsJkXSxL5ifwQyMFBjbidMgzgjt4KdybdWzZQnQKiBg5SLMasygBGZUIDacDGeRAPMCq5iBXSRkYxg8eHz550ELdXbjTrolUiRQesCGV1VtIk1LlVJ4HGeOcjODja3u7xu/JpfVNVapO93eN35NL6pqDb2T8BF/LX0RWzLGGBVgCpGCCMgg8CCO0VrbJ+Ai/lr6IrboOavL+S0mSJcyo6FkjIZpcIyiQBx2KrKRrHE8M8RWe6u/0hGMcXSRo3VkjfEmoAEvGCuCyklcZ4kMD2it+fY1u79KYk6X5UKBIOoUyJB1gdJI5162TsqK2j6OBSqZJwWZuJ4liWJJJOST2kkniTQc3s7bhinKHTLFIA5khOSHYgZ6EZZS2QSvYQx45Omhv53oPKbX/AD7er6IBnAAycnA7TzP11A3870HlNr/n29B0Nc5s/wCNbvyW29beV0dc5s/41u/Jbb1t5QdHSlKBSlKBSlKBX55t+7nTeHZ8YlcQzRPmIMdBZIpzqK9vNP6CqO/kstvNZXiyMIYpujuI8nQUm/VrIRyyrMP6jwV53tS2XaWzZprnoZI2kWOLonYzGRRHjWvCMAtzIPPsoO0pSlApSlApSlApSlBw+52wOks4X/SrpNQY6Ulwo67cANPAVZ7mPpl75/8ALXzcM/6CD7J9Nqi7U3ounuIxax64GJUuuCwYKTmSMgtgnAC9Ukcc8eAW+5j6Ze+f/LTuY+mXvn/y1V2Zd9LGrldLcQy5zpdSVdMjnhgRntxmtqggdzH0y98/+Wo++e7ujZ9436XdtptZTpabKnELnSRp4g129Q9+/i2+8km9Q9BrWe7WY0P6ZeDKjlP8w/hrN3MfTL3z/wCWq1mwEKE8ggP/AEiuKv8Aeu8e4QWsOu3YHDrpzrCkqsikFlLNpGnqFQdR7QAv9zH0y98/+Wncx9MvfP8A5asWVz0kavjGRxB5g8ip+cHI+6s9BA7mPpl75/8ALUzejdzTZ3Tfpd22LeQ4abIOI2OCNPEV2VSd7u8bvyaX1TUE3Zu7WYYz+mXgyi8BNw96P4a2e5j6Ze+f/LVTZPwEX8tfRFQN8d4ZYVaO0TpZ1GplyA2OxUDDDMe0gNpAJI5UG33MfTL3z/5adzH0y98/+Wve6+05ZkInjKOArDVjLKw54AHFXDryGQobgGFXKCB3MfTL3z/5ajb27C6KBX/SbmTFzbdWSXUhzewDiuOPPP1gV3Fc9v53oPKbX/Pt6Doa5zZ/xrd+S23rbyujrnNn/Gt35LbetvKDo6UpQKUpQKUpQau07dpIpERgrMpCsVVgrY6r6WBBwcHBHZUK9sLeG3gm2mUuJbYACcx9YyFgBojXJ1s2kALxJxXT1wm8c88t8rxKZINmujSwoAXkkljbLKO0xRujgD32vA4gUGS0/wDFGwa6NrIZLeUNp/XqFXVjOksCQp+vt4c67evyPbO7OzL+6EtrDLJcSyI8rMsyQRIrq0kkgkVRrZVZdHPLZwOJroN2t4Vt5lsFIuowxWKa2Jk6JCxKQzgA6NKkKH1HIXjjtDvKUpQKUpQKUpQQNwu8IPsn02rObrEksuknGmBFXGXbJYnPIDL448tLHkawbhd4QfZPptWYRZaSAtofX08TYzwJBLY7cOSCPAy8tQoPlndtBqFwhjVpGZZAQyddtWlmHFDkkZI08uOTirVTPdEqNNxEy9mpAZIm+9QWUfbAHzmtWyu44iOikWS2LaOqwboXOMR8OUZJAAPvSQPekaQu1D37+Lb7ySb1D1cqHv38W33kk3qHoKth8FH9hfRFTRdaZJZdJYsywRquMsYy5JyeXWaTOeQTPbVKw+Cj+wvoipccGS8IbRIkhniYjIIdixbGRqXLuhGc4PZkGg+7PuzANFwnRgyMVfIaM65GYIWHvG62OsADwwSTirVS22jgFbmJkzwJAMkTDHHrKOqPthfvrDY3aRlQkgkt2bQjBtXROcYhJ/dOeGeIOB2jAWqk73d43fk0vqmqtUne7vG78ml9U1Bt7J+Ai/lr6IrDtLryQx/xdKx8CxkEY+cuyfdms2yfgIv5a+iKw37aJYpG95homPYpcoVJ+YldP1sKDUS8kMizrCxhaMjIIL6dQZJBHzxjUcA6uI4Z4VXtblJFDowZT2j5jgj5iDkEdlT4mktwEKGWJeCvHxdVHJWj5tgYGVyT4O0673MZkMls6mY8XgJ0tKoGPeNgq4GMNjwA8MEBdrnt/O9B5Ta/59vVy1uVkRXQ5Vhkdn3EHiD2EHlUPfzvQeU2v+fb0HQ1zmz/AI1u/Jbb1t5XR1zmz/jW78ltvW3lB0dKUoFKUoFKUoFc5u23+r2kvguI/wDmzgNbe2N4Y4HWJVaa4cZSCIAuQP2iSQsafxOQKi7F2ftOPppW/RFeeUytGelb9lUSIyjAGlFUZCntNBQ3/TNjKSNSKUeRf3oUlR5UwOYMYfh28u2rloiBF6IKExlQgAXB4jAHDFT9hbWF0kiyR9FLE3RzQsQ2ltIbg2MOjKQwOBkHkDkDQ3SJgeawY5FtpaEnmbaTV0anw6GSSPw4RSedB0tKUoFKUoFKUoIG4XeEH2T6bVXvbNZQA2QVOpWU4ZWxgMp8PE/MQSDkEipG4feEH2T6bVeIzQcvs/eNleVJyHWF3jaVUICMMPGjnJVmeNlOVwAeqQCRn3tPW2mSaNIdadGzFy6FW4/o840LpU5IDjOkn+Iht+43ZtHTQYFVMqxWPKK2kHSHCEB1GTwbI5eAVUWJQunGVxjB48MYwc86Dn909tPKOilQ6l1aJFIdZI1YKrl16oYgqf4hxGOKrn37+Lb7ySb1D1cqHv38W33kk3qHoKth8FH9hfRFeb2yWUDOVZTlHXgynwg/9wcg8iCK9WHwUf2F9EVldQQQRkEYIPIg9lBy9hvMy9IJ+sImeMyohVelQ9WE8SGZ1IYFeAJ0nDYBybU1nrSokPSLoY9IWifgT0Mp0KYzz0yDOD9elt643XtHUIYECBg+hMojMowpZUID44Y1ZwQDzAqt0YxpxkYxg8f+9BC3V208y6JUIdQcOCGR1DaQ+peAYjS2O0HI7QNne7vG78ml9U1Vqk73d43fk0vqmoNvZPwEX8tfRFbMkYYFWAIIwQRkEHmCO0Vr7K+Ai/lr6IraoOZvL6S0nSFCZUdC0cJBaXCMokCvngoVlI1g5PVzxArYuLs3CMY4hJErDTIkhWTIAJeNSmNSkkYLcSCD2iqE+yIHcyGJOkP+4ABIOoUyJB1gdJIyDXrZWy4rZOjgTQmc4yxyTzYliSSTxJPEkkniaDmtm7aaOcr1ZoZAGMkR4q7EDJhHWQsCCy9hDN2kChv53oPKbX/Pt66BVA5ADt4eE8zXP7+d6Dym1/z7eg6Guc2f8a3fktt628ro65zZ/wAa3fktt628oOjpSlApSlArn9t7XkaQ2lnpNyQC7sMpbo3KVx+0xwdKduMnAFZd5drPFogtwGurglYg3FVAxruH/gQHOO0lV/ara2FsdLWLQhLMSWkkfi8kje+lc9pJ+4DAGABQedhbEjtUITLO51SyucySv++7dp8AHADgABVOte/vooEMk0ixovNnYKo+81z0m0bm+6toHtoD767lTEjDtEELgMD/AOY4AHAgNQZdjMJNo3sqe8WOGBj4ZYzNIwz26VmjH15HZWSXhtSPHbZyZ+6eLSf+pv61V2Vs2O2iWGFdKJyGSSSSSWLHizEkkk8SSTUXdyT9Jubm7HGPhbQnsZYmYyyD5jKzL8/Rg9tB0tKUoFKUoFKUoOE3P3PsJrOKSWzt3dwxZ2iUsTrbiSRxNVpNydlLgNZWo1HAzFGMnwDhxNZdxO8IPsn02qHf7tz3N0ryS6HC9dAdUTRtqQKBjUVHHKnTk4bI5ALXcJszxC28ynsp3CbM8QtvMp7Kp7FZuiCuxdkZoy5xltDlA5wANRABOBjOa36Dne4TZniFt5lPZUffLcvZ0ez7x0srdXS2lZWWJAVYQsQwOOBBANd1UPfv4tvvJJvUPQadluNs0xoTYWxJUE/qk8A+avb7k7KUgGytQW4AGKMEnwDhxq5Z56FMcToGM8BnSO3sribrdie4u9ck5jcRjpVU5jKv0ioUyM9XSSoOnDDVk8RQXe4TZniFt5lPZTuE2Z4hbeZT2VW2RKzRLqOpgShb94o5Qt82dOfvrcoOd7hNmeIW3mU9lTN59ytnJZ3LpY26ssEjKwiQEERsQwOOBBrtak73d43fk0vqmoJWzdx9mmGMmxtiSikkxJxJUceVZ33G2WASbG1AHEkxJgDw5xVnZPwEX8tfRFc7vtsqa5XRr6KMsojaM9YSFgNbqf6LjOknVxxgBspuPssgEWNqQeIIiQgjw5xXruE2Z4hbeZT2V73asZLZmheTpNSrJyGFbijY4DOrCsT2sXPDVgX6Dne4TZniFt5lPZUbevdOxggSWG0gikW5ttLpGoYZvYFOCBwyCR99d3XPb+d6Dym1/wA+3oOhrnNn/Gt35LbetvK6Ouc2f8a3fktt628oOjpSlArFdXCxozuwVEUszHkFAyT/AErLXC747ft5pv0FnHRp+uvXPvI4Y9L9CzdrOxjUqP2Sc88EN7YcoSKbad4eiMyhsP8A7NsuTHF9o51tjiWfHHSKyQDaN0iuZEsUfjoWMS3AU+9DO56NHxjI0PjOPnrWJ/Sf9bffqLOD9ZDDIME6eIu515g9qR/s8CetgLvSb4RhC6294wC6j/ppFwMZz1wvZQZ7HdW3jkEzhp5xymuGMjj7APVj/wDQBVypt9tqKK1a7Y/qli6XP8OnUB9Z4D7647a6XlxHame6VFupY0/RrQYBRgZJVa5yXfEavxTR28+FBZ2ptB712tLNiEU6bq6U8IxjJt4j+1MwOCRwQHJ62BXSWVokMaRRKERFCqo5BQMAV8srSOGNY4kWNEGFRAAoHgAFZ6BSlKBSlKBSlKCBuF3hB9k+m1epJG/WOG0NJMsOvAOhA2gAA8M6i5GQeL8cjhXncLvCD7J9Nqz3gELSGQareb4QniEbSFJYfJsAMn9kgk8CSA9JYywZaFzKCdTRy6QSTzKOANLduCCCf3c5resrxZV1LngdLKRhlYc0Ydh/+iMgg1ppayoB0ModOxJsnh2BZh1gPnYOa07qd0lDmPRNp4qralnQZLRq2BmVRllBAPMci2A6Coe/fxbfeSTeoerMEyuqupyrAMpHIgjIP9Kjb9/Ft95JN6h6CrYfBR/YX0RUhZWwzBtDTXJiL8CUVGaNQAwxxKYGQRmTPGq9h8FH9hfRFTblViMglANvMcknkjEAMreBGxnV2HOcZFB7jspbfJiYzKWLNFJpDZY6mKOAADkk4bgSea1v2d2sq6kORnBBGCpHNWU8VYeA1prazR/BSiROxJs5x2KJhxx87K5+etK4umjl1mPRJpy6A6lmiHNkOBmROJxjJHDtBAdBUne7vG78ml9U1VI3DAMpyCMgjkQeINS97u8bvyaX1TUG3sn4CL+WvoisV2NVxEp4hVeQD+IaEB/o7/1+asuyfgIv5a+iK8bSifKSxjU8eepkDWjY1ICeAbgrD51xwBJoNCytJJVjuBOwlZM+9QxgPpYx6MAkAgD3wbhzrfs7/LdHKvRygZ05yrKOBdGwNQ4jI4EZGRxBOtBCsmZbWXoyxOtSuUL9uuI4ZH8OCp48c1h2o76P9QgVVYETwsSY2HKYoygqM8DxYYJz1c0F2ue3870HlNr/AJ9vVXZl2ZFIbAkQ6XA5ZwCGH8LAhh9eOYNSt/O9B5Ta/wCfb0HQ1zmz/jW78ltvW3ldHXObP+NbvyW29beUHR0pSgjb2R3bW5WyIEjMAWLBWEeeuYyVKiTGQCRgZz2Vxse7bQzxT+5jNHAgVYVu1Ygh2Y3Ah0ATy5YsS75yMjrYr9LpQcnEr7RnV5I3js4GDLHKhRp5xgh2RuIjjPIH3zceSjPVsM8DxBr7Sg/J939o20t0tk92jWVuwe0VlIFwQxKwmV+EogbTgLnV1SSdJqtfbvTwbRS42dZRBI0YS9LLojkMuknoVCt0TDHWYKA2ccedd5c2qSDTIiuOeHUEZ8ODWag1dmSyvGrTxrFIc6kSTpFHEgYfSucjB5DnitqlKBSlKBSlKBSlKCBuF3hB9k+m1Xia5Tcja9uljCrTxKwBBDSICDrbgQTwq57uWvjMPnU9tByMMtxa9NIttJGDMyxW+nWZRN+s6QmFnWMq+vAwMKME9ZdPQz7MYxqVLzcBrjlZgW5HWpY5hlB4jGOPDhwK7vu5a+Mw+dT2093LXxmHzqe2gn7tbNuICwdh0bFm0mTWwZn1cD0aBRxbI4jljHEnJv38W33kk3qHrc93LXxmHzqe2ou++2LdtnXqrPESbWYACRCSTC+ABniaDo7D4KP7C+iKyueB4Z4ch2/NxqXY7bthGn+oh94P91P3R89Zvdy18Zh86ntoOOt5rm1WQrbyx6pWjit9OssjnWLjMTOq9HluHV6q4OWK10t5ss6F0F5hgao5HbUTwxIjscxSLz5jmRw4Ebnu5a+Mw+dT2093LXxmHzqe2g0d2Nm3FuCkjAx8SFL62DFtWA3RoFUA4xg8hjHbsb3d43fk0vqmrN7uWvjMPnU9tS969s2xsbsC4hJNvKABImSeibhzoLOyfgIv5a+iK26jbL21bCGIG4h+DX/dT90fPWz7uWvjMPnU9tBC2/bSm8V44niXoyJLoBWAKYkjARZA7D4QHK4447Qa2titJdxNMxmt5GY6EYSAIFACt0bhQ6tjXxAPW0nBFU/dy18Zh86ntp7uWvjMPnU9tBDtdjXKziWJVgAUIU6XVGQGySsYj97xbSNS4z2cQdvfzvQeU2v+fb1R93LXxmHzqe2ud/8AEDb1sLIt08RCT27kK4ZtK3sDMQqkk4AJ4DsoOsu7lIkaSRlREBZmYgKAOZJPIVz+7Gue4uL0xmKKaOKOFX4SMkTTN07Jj9WGMvBTxwMnGcDxa7PlvnWe7QxwI2qC0bmSDlbicZwW7Vj5LzOW971NApSlApSlApSlApSlApSlApSlApSlApSlBoHYtsedvD5pPZXz3EtfFofNJ7K+0oPnuJa+LQ+aT2U9xLXxaHzSeyvtKD57iWvi0Pmk9lffcS28Wh80nspSg+e4lr4tD5pPZT3EtfFofNJ7K+0oPnuJa+LQ+aT2U9xLXxaHzSeyvtKD57iWvi0Pmk9lffcS28Wh80nspSg+e4lr4tD5pPZT3EtfFofNJ7K+0oPnuJa+LQ+aT2U9xLXxaHzSeyvtKD57iWvi0Pmk9lek2NbAgi3hBByCI0BBHIg450pQb1KUoFKUoP/Z"/>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data:image/jpeg;base64,/9j/4AAQSkZJRgABAQAAAQABAAD/2wCEAAkGBxMSEhUUEhMWFBUVFyAYGBYUFxgcGBoYGhUYFhoSGxYbHCggGBonHRkVIjEkJiorLy8vGyAzOT8sNygtLisBCgoKDAUMDg8MDisZExkrLCsrKysrKysrKysrKysrKysrKysrKysrKysrKysrKysrKysrKysrKysrKysrKysrK//AABEIALgBEgMBIgACEQEDEQH/xAAbAAEBAAMBAQEAAAAAAAAAAAAABQMEBgIBB//EAEsQAAIBAwEEAwkMCQMCBwAAAAECAwAEERIFBiExEyJBFjRRVHSTsrPRFTIzNVNhZHFygdLiFCNCUmJzkZS0JEOhorEHY4KSweHw/8QAFAEBAAAAAAAAAAAAAAAAAAAAAP/EABQRAQAAAAAAAAAAAAAAAAAAAAD/2gAMAwEAAhEDEQA/AP2u8u0iQvIwRF5s3ADsyTWGHakLAFZVIOnHH98lU/qQQPqr3tK3MkMkYOC6MoJ5AspGf+ajXG7rNMJekIwYOqGYKehdmbKjgSc8M0FK323bvG0qTI0aDUzg9ULjOrVyxjjX0bZt9Ovpk04JzqGMKwQ/0YqPrIqNs3d+ZLF7R3GoxCNXEkj/ALGnVhx1BwBAGRWW73bOpXjfLL1yZckvIJoZcsVAwMRaeA4cOBxxCou2bcsiiZCzgFQDnIJIBGPnBH3GvUG1oHxomRstoGGHF8FtH14BNRLHd+eOVXMgcFdL5kkUj9bM/LBEuBLga8e9z21iXdJnWNZXX9X0a9QEHTDDKiSAnlJrkV/ANI50HRrtKE8pFPve0ftsUT+rAgfOK8W+1oJDhJUY6tOFYHrYLaf6Kx+41z1rulIBGZJtToIAxUsqsYpnkdjGDpydfDOcGvdvu9cIYnDRM0Cxoo66qyRRzx6icEqx6bOACBp5nNB0Me0omkMQkUyLzQHiOAbj4OBB+8Vrd0Frgnp4+qdJ6w5nUMf9Lf0PgrX2Zs2aO4lkbTplOogSSdU9HGmkRldJ4oetwODWkm6fCPMz61cksrEFUIlwkekDHWkB45zjHKguJtSElQJUJcgJhh1iyM4A8JKqx+oGvK7YtyVUTR5ZdajUMlcE6h82AT9QNc/3HlliV3UdGyMGXOoPHBLGJlz+1rdX457Qc9ufZe700MYj6SJgUUOxU6tawdD1ByUHCtns4jBzkBX927bLDpo8quphqHBQocsfm0kN9RzWWfaUSOsbSKHfGlSeJycA4+vhUBt0yYp1aTLOpEY/21c2i23SEAZJ4N2kYPLNbQ2dcG4SZujGFVGVJpQMK7HVgIBJwY8GwB99B0FKUoFKUoFKUoFKUoFKUoFKUoFKUoFKUoFKUoFKUoFKUoFKUoFKUoFKUoFKUoFKUoFKUoFKUoFYby6SJGkldURBlmYgKAO0k8qnbb2+luVjVWmuHBMdvHjW2P2iTwjTPAuxAH/FaNnu880iz7QZZXU6ordc9BAew4Pw0o+UYcP2QvaGSPfGBgGWO6ZSMgi0uMEdhGU5GvXdbD8jd/2k/wCCr9KCB3Ww/I3f9pP+CndbD8jd/wBpP+Cr9KCB3Ww/I3f9pP8Agp3Ww/I3f9pP+Cr9KCB3Ww/I3f8AaT/gp3Ww/I3f9pP+Cr9KCB3Ww/I3f9pP+CndbD8jd/2k/wCCr9KCB3Ww/I3f9pP+CndbD8jd/wBpP+Cr9KCB3Ww/I3f9pP8Agp3Ww/I3f9pP+Cr9KCB3Ww/I3f8AaT/gp3Ww/I3f9pP+Cr9KCB3Ww/I3f9pP+Csm7+9VtevNHAzF4CBIro6FS2rA6wHHqtWhdX8l+7QWjmO3RtM90vNiPfW8B7W7Gk5LxAy3vfO71hHb7QuYoUEccdnbKqryA6W8/wD2aDrKUpQKUpQKUpQKUpQKUpQKUpQKUpQKUpQcDuZuurwfpP6RdLLckvKyzY1MGKjmDwAAAHZV/uY+mXvn/wAtfNxD/oIPsn02qLtTeu5aeMWseuBiV6VcNhlUnLpjVgtgBeqSOOeIwFvuY+mXvn/y07mPpl75/wDLVbZt30sauVKE8GQkEq6kq6ZHA4YEZHA4rZoIHcx9MvfP/lqZvRsZ4LK6mjvLzXFbySLmbI1JGzDI08RkCuyqHv38W33kk3qHoNe13cLIrG8vMlQT+v8ACM/u1l7mPpl75/8ALVazYCFCeQQE/wDtFcVtDe27a4QWsPSW7htMikcWVSVV1IyNTYXHVKg6j4AF/uY+mXvn/wAtO5j6Ze+f/LViyuRJGrgY1DiDzB5FT84OR91Z6CB3MfTL3z/5a0N4NhtDa3EqXl5qjhd1zNkaljZhw08eIFddUne7vG78ml9U1BPsN3S8UbG8vMsik/ru0qCf2az9zH0y98/+WqmyfgIv5a+iKg74bxywqyWiCWdF1smcNpPIKCOsT4QDpAJI5UG13MfTL3z/AOWncx9MvfP/AJa97r7VlmUidCjqFYE46yMOfADirh05DOkMMBhVyggdzH0y98/+Wo29uxDFbahd3bapoY2VpzgpLdRQuvAAjKOwyCDXcVz2/neg8ptf8+3oLdpbJEixxqERAFVVGAABgADsFQtn/Gt35LbetvK6Ouc2f8a3fktt628oOjpSlApSlApSlApSlApSlApSlApSlApSlBA3C7wg+yfTas7XIWWWbSTjTAirjU7gknjyxlwvHgNLHlWDcLvCD7J9Nqy9DlpYdWhw/TxNjIIJBzjhqAfUrDOcEctQNAsrww6lnQxhpGKvkMnXbVpZh7w5JHHAPDjk4q1Us7S0jTcxFM8CwBeJvD1gMqPthfvrXsrtIiOjkWS2ZtAKsG6FyQBHkf7ZJAGeKkgciNIXKh79/Ft95JN6h6uVD37+Lb7ySb1D0FWw+Cj+wvoipqXIWSWbSSWZYEVcZcx6yTk4/aaQceQTNUrD4KP7C+iKlxwEmSENokjlM0ZIyCHZm1YzxXLyIRnP1ZBoPuzrswjROhj1SMUfIKHXIzKhYe9brAdbGTyzyq1UttpAApcxGPIwTgyRMMceuBwH2wtYbC7WMqEkEtu50o4YN0b8hCWHNT2E8QeB5rQWqk73d43fk0vqmqtUne7vG78ml9U1Bt7J+Ai/lr6IrDtLryQx/wAXSk+BYyDw+csyD6tVZtk/ARfy19EVgv3CTRSN7whoiewFyhUn5iV0/WwoNVL1zIs6wuYWjxkEF8agyyCMHJXGo4GW4jh2VXtrhZFDowZTyI/oR9ecjFTonktwEZGkiUYV4xllUcleMdZsDAyuSe0DnWBrmMuZLZ1MuMyQZCtIBwzobBWQDk3DPI8MFQu1z2/neg8ptf8APt6uWtwsiK6HKsMg8v8Ag8QfmqHv53oPKbX/AD7eg6Guc2f8a3fktt628ro65zZ/xrd+S23rbyg6OlKUClKUClKUClKUClKUClKUClKUClKUEDcLvCD7J9NqrX1ksoGrIKnUjrwZGxjUp/8Ag5BHAgg4qTuF3hB9k+m1XiM0HM2W8bI0qXBBETsjSqrKqsMNGjnipZ42VsqeBIBALLn7tIu2l5IlhMidGSX1I4blbTDSCgOogOM6T9rS29NuvaMnR9CqIWVmSLMauUzpDhCNajPI5HKqghXToxlcacHjkYxg558PDQQN1NuNKOikU6l1aZAwdZI0YKJC69UMQVPz5JHIhc+/fxbfeSTeoergFQ9+/i2+8km9Q9BVsPgo/sL6Irze2ayAZJVlOVdeDKfCOwjwg5B7Qa9WHwUf2F9EVldQQQRkEYIPg8FBzVlvKy9ILgA9GzoZEVgvSIx0xHOQWdcMNJ5nScNgH7tQMetJGsJkXSxL5ifwQyMFBjbidMgzgjt4KdybdWzZQnQKiBg5SLMasygBGZUIDacDGeRAPMCq5iBXSRkYxg8eHz550ELdXbjTrolUiRQesCGV1VtIk1LlVJ4HGeOcjODja3u7xu/JpfVNVapO93eN35NL6pqDb2T8BF/LX0RWzLGGBVgCpGCCMgg8CCO0VrbJ+Ai/lr6IrboOavL+S0mSJcyo6FkjIZpcIyiQBx2KrKRrHE8M8RWe6u/0hGMcXSRo3VkjfEmoAEvGCuCyklcZ4kMD2it+fY1u79KYk6X5UKBIOoUyJB1gdJI5162TsqK2j6OBSqZJwWZuJ4liWJJJOST2kkniTQc3s7bhinKHTLFIA5khOSHYgZ6EZZS2QSvYQx45Omhv53oPKbX/AD7er6IBnAAycnA7TzP11A3870HlNr/n29B0Nc5s/wCNbvyW29beV0dc5s/41u/Jbb1t5QdHSlKBSlKBSlKBX55t+7nTeHZ8YlcQzRPmIMdBZIpzqK9vNP6CqO/kstvNZXiyMIYpujuI8nQUm/VrIRyyrMP6jwV53tS2XaWzZprnoZI2kWOLonYzGRRHjWvCMAtzIPPsoO0pSlApSlApSlApSlBw+52wOks4X/SrpNQY6Ulwo67cANPAVZ7mPpl75/8ALXzcM/6CD7J9Nqi7U3ounuIxax64GJUuuCwYKTmSMgtgnAC9Ukcc8eAW+5j6Ze+f/LTuY+mXvn/y1V2Zd9LGrldLcQy5zpdSVdMjnhgRntxmtqggdzH0y98/+Wo++e7ujZ9436XdtptZTpabKnELnSRp4g129Q9+/i2+8km9Q9BrWe7WY0P6ZeDKjlP8w/hrN3MfTL3z/wCWq1mwEKE8ggP/AEiuKv8Aeu8e4QWsOu3YHDrpzrCkqsikFlLNpGnqFQdR7QAv9zH0y98/+Wncx9MvfP8A5asWVz0kavjGRxB5g8ip+cHI+6s9BA7mPpl75/8ALUzejdzTZ3Tfpd22LeQ4abIOI2OCNPEV2VSd7u8bvyaX1TUE3Zu7WYYz+mXgyi8BNw96P4a2e5j6Ze+f/LVTZPwEX8tfRFQN8d4ZYVaO0TpZ1GplyA2OxUDDDMe0gNpAJI5UG33MfTL3z/5adzH0y98/+Wve6+05ZkInjKOArDVjLKw54AHFXDryGQobgGFXKCB3MfTL3z/5ajb27C6KBX/SbmTFzbdWSXUhzewDiuOPPP1gV3Fc9v53oPKbX/Pt6Doa5zZ/xrd+S23rbyujrnNn/Gt35LbetvKDo6UpQKUpQKUpQau07dpIpERgrMpCsVVgrY6r6WBBwcHBHZUK9sLeG3gm2mUuJbYACcx9YyFgBojXJ1s2kALxJxXT1wm8c88t8rxKZINmujSwoAXkkljbLKO0xRujgD32vA4gUGS0/wDFGwa6NrIZLeUNp/XqFXVjOksCQp+vt4c67evyPbO7OzL+6EtrDLJcSyI8rMsyQRIrq0kkgkVRrZVZdHPLZwOJroN2t4Vt5lsFIuowxWKa2Jk6JCxKQzgA6NKkKH1HIXjjtDvKUpQKUpQKUpQQNwu8IPsn02rObrEksuknGmBFXGXbJYnPIDL448tLHkawbhd4QfZPptWYRZaSAtofX08TYzwJBLY7cOSCPAy8tQoPlndtBqFwhjVpGZZAQyddtWlmHFDkkZI08uOTirVTPdEqNNxEy9mpAZIm+9QWUfbAHzmtWyu44iOikWS2LaOqwboXOMR8OUZJAAPvSQPekaQu1D37+Lb7ySb1D1cqHv38W33kk3qHoKth8FH9hfRFTRdaZJZdJYsywRquMsYy5JyeXWaTOeQTPbVKw+Cj+wvoipccGS8IbRIkhniYjIIdixbGRqXLuhGc4PZkGg+7PuzANFwnRgyMVfIaM65GYIWHvG62OsADwwSTirVS22jgFbmJkzwJAMkTDHHrKOqPthfvrDY3aRlQkgkt2bQjBtXROcYhJ/dOeGeIOB2jAWqk73d43fk0vqmqtUne7vG78ml9U1Bt7J+Ai/lr6IrDtLryQx/xdKx8CxkEY+cuyfdms2yfgIv5a+iKw37aJYpG95homPYpcoVJ+YldP1sKDUS8kMizrCxhaMjIIL6dQZJBHzxjUcA6uI4Z4VXtblJFDowZT2j5jgj5iDkEdlT4mktwEKGWJeCvHxdVHJWj5tgYGVyT4O0673MZkMls6mY8XgJ0tKoGPeNgq4GMNjwA8MEBdrnt/O9B5Ta/59vVy1uVkRXQ5Vhkdn3EHiD2EHlUPfzvQeU2v+fb0HQ1zmz/AI1u/Jbb1t5XR1zmz/jW78ltvW3lB0dKUoFKUoFKUoFc5u23+r2kvguI/wDmzgNbe2N4Y4HWJVaa4cZSCIAuQP2iSQsafxOQKi7F2ftOPppW/RFeeUytGelb9lUSIyjAGlFUZCntNBQ3/TNjKSNSKUeRf3oUlR5UwOYMYfh28u2rloiBF6IKExlQgAXB4jAHDFT9hbWF0kiyR9FLE3RzQsQ2ltIbg2MOjKQwOBkHkDkDQ3SJgeawY5FtpaEnmbaTV0anw6GSSPw4RSedB0tKUoFKUoFKUoIG4XeEH2T6bVXvbNZQA2QVOpWU4ZWxgMp8PE/MQSDkEipG4feEH2T6bVeIzQcvs/eNleVJyHWF3jaVUICMMPGjnJVmeNlOVwAeqQCRn3tPW2mSaNIdadGzFy6FW4/o840LpU5IDjOkn+Iht+43ZtHTQYFVMqxWPKK2kHSHCEB1GTwbI5eAVUWJQunGVxjB48MYwc86Dn909tPKOilQ6l1aJFIdZI1YKrl16oYgqf4hxGOKrn37+Lb7ySb1D1cqHv38W33kk3qHoKth8FH9hfRFeb2yWUDOVZTlHXgynwg/9wcg8iCK9WHwUf2F9EVldQQQRkEYIPIg9lBy9hvMy9IJ+sImeMyohVelQ9WE8SGZ1IYFeAJ0nDYBybU1nrSokPSLoY9IWifgT0Mp0KYzz0yDOD9elt643XtHUIYECBg+hMojMowpZUID44Y1ZwQDzAqt0YxpxkYxg8f+9BC3V208y6JUIdQcOCGR1DaQ+peAYjS2O0HI7QNne7vG78ml9U1Vqk73d43fk0vqmoNvZPwEX8tfRFbMkYYFWAIIwQRkEHmCO0Vr7K+Ai/lr6IraoOZvL6S0nSFCZUdC0cJBaXCMokCvngoVlI1g5PVzxArYuLs3CMY4hJErDTIkhWTIAJeNSmNSkkYLcSCD2iqE+yIHcyGJOkP+4ABIOoUyJB1gdJIyDXrZWy4rZOjgTQmc4yxyTzYliSSTxJPEkkniaDmtm7aaOcr1ZoZAGMkR4q7EDJhHWQsCCy9hDN2kChv53oPKbX/Pt66BVA5ADt4eE8zXP7+d6Dym1/z7eg6Guc2f8a3fktt628ro65zZ/wAa3fktt628oOjpSlApSlArn9t7XkaQ2lnpNyQC7sMpbo3KVx+0xwdKduMnAFZd5drPFogtwGurglYg3FVAxruH/gQHOO0lV/ara2FsdLWLQhLMSWkkfi8kje+lc9pJ+4DAGABQedhbEjtUITLO51SyucySv++7dp8AHADgABVOte/vooEMk0ixovNnYKo+81z0m0bm+6toHtoD767lTEjDtEELgMD/AOY4AHAgNQZdjMJNo3sqe8WOGBj4ZYzNIwz26VmjH15HZWSXhtSPHbZyZ+6eLSf+pv61V2Vs2O2iWGFdKJyGSSSSSWLHizEkkk8SSTUXdyT9Jubm7HGPhbQnsZYmYyyD5jKzL8/Rg9tB0tKUoFKUoFKUoOE3P3PsJrOKSWzt3dwxZ2iUsTrbiSRxNVpNydlLgNZWo1HAzFGMnwDhxNZdxO8IPsn02qHf7tz3N0ryS6HC9dAdUTRtqQKBjUVHHKnTk4bI5ALXcJszxC28ynsp3CbM8QtvMp7Kp7FZuiCuxdkZoy5xltDlA5wANRABOBjOa36Dne4TZniFt5lPZUffLcvZ0ez7x0srdXS2lZWWJAVYQsQwOOBBANd1UPfv4tvvJJvUPQadluNs0xoTYWxJUE/qk8A+avb7k7KUgGytQW4AGKMEnwDhxq5Z56FMcToGM8BnSO3sribrdie4u9ck5jcRjpVU5jKv0ioUyM9XSSoOnDDVk8RQXe4TZniFt5lPZTuE2Z4hbeZT2VW2RKzRLqOpgShb94o5Qt82dOfvrcoOd7hNmeIW3mU9lTN59ytnJZ3LpY26ssEjKwiQEERsQwOOBBrtak73d43fk0vqmoJWzdx9mmGMmxtiSikkxJxJUceVZ33G2WASbG1AHEkxJgDw5xVnZPwEX8tfRFc7vtsqa5XRr6KMsojaM9YSFgNbqf6LjOknVxxgBspuPssgEWNqQeIIiQgjw5xXruE2Z4hbeZT2V73asZLZmheTpNSrJyGFbijY4DOrCsT2sXPDVgX6Dne4TZniFt5lPZUbevdOxggSWG0gikW5ttLpGoYZvYFOCBwyCR99d3XPb+d6Dym1/wA+3oOhrnNn/Gt35LbetvK6Ouc2f8a3fktt628oOjpSlArFdXCxozuwVEUszHkFAyT/AErLXC747ft5pv0FnHRp+uvXPvI4Y9L9CzdrOxjUqP2Sc88EN7YcoSKbad4eiMyhsP8A7NsuTHF9o51tjiWfHHSKyQDaN0iuZEsUfjoWMS3AU+9DO56NHxjI0PjOPnrWJ/Sf9bffqLOD9ZDDIME6eIu515g9qR/s8CetgLvSb4RhC6294wC6j/ppFwMZz1wvZQZ7HdW3jkEzhp5xymuGMjj7APVj/wDQBVypt9tqKK1a7Y/qli6XP8OnUB9Z4D7647a6XlxHame6VFupY0/RrQYBRgZJVa5yXfEavxTR28+FBZ2ptB712tLNiEU6bq6U8IxjJt4j+1MwOCRwQHJ62BXSWVokMaRRKERFCqo5BQMAV8srSOGNY4kWNEGFRAAoHgAFZ6BSlKBSlKBSlKCBuF3hB9k+m1epJG/WOG0NJMsOvAOhA2gAA8M6i5GQeL8cjhXncLvCD7J9Nqz3gELSGQareb4QniEbSFJYfJsAMn9kgk8CSA9JYywZaFzKCdTRy6QSTzKOANLduCCCf3c5resrxZV1LngdLKRhlYc0Ydh/+iMgg1ppayoB0ModOxJsnh2BZh1gPnYOa07qd0lDmPRNp4qralnQZLRq2BmVRllBAPMci2A6Coe/fxbfeSTeoerMEyuqupyrAMpHIgjIP9Kjb9/Ft95JN6h6CrYfBR/YX0RUhZWwzBtDTXJiL8CUVGaNQAwxxKYGQRmTPGq9h8FH9hfRFTblViMglANvMcknkjEAMreBGxnV2HOcZFB7jspbfJiYzKWLNFJpDZY6mKOAADkk4bgSea1v2d2sq6kORnBBGCpHNWU8VYeA1prazR/BSiROxJs5x2KJhxx87K5+etK4umjl1mPRJpy6A6lmiHNkOBmROJxjJHDtBAdBUne7vG78ml9U1VI3DAMpyCMgjkQeINS97u8bvyaX1TUG3sn4CL+WvoisV2NVxEp4hVeQD+IaEB/o7/1+asuyfgIv5a+iK8bSifKSxjU8eepkDWjY1ICeAbgrD51xwBJoNCytJJVjuBOwlZM+9QxgPpYx6MAkAgD3wbhzrfs7/LdHKvRygZ05yrKOBdGwNQ4jI4EZGRxBOtBCsmZbWXoyxOtSuUL9uuI4ZH8OCp48c1h2o76P9QgVVYETwsSY2HKYoygqM8DxYYJz1c0F2ue3870HlNr/AJ9vVXZl2ZFIbAkQ6XA5ZwCGH8LAhh9eOYNSt/O9B5Ta/wCfb0HQ1zmz/jW78ltvW3ldHXObP+NbvyW29beUHR0pSgjb2R3bW5WyIEjMAWLBWEeeuYyVKiTGQCRgZz2Vxse7bQzxT+5jNHAgVYVu1Ygh2Y3Ah0ATy5YsS75yMjrYr9LpQcnEr7RnV5I3js4GDLHKhRp5xgh2RuIjjPIH3zceSjPVsM8DxBr7Sg/J939o20t0tk92jWVuwe0VlIFwQxKwmV+EogbTgLnV1SSdJqtfbvTwbRS42dZRBI0YS9LLojkMuknoVCt0TDHWYKA2ccedd5c2qSDTIiuOeHUEZ8ODWag1dmSyvGrTxrFIc6kSTpFHEgYfSucjB5DnitqlKBSlKBSlKBSlKCBuF3hB9k+m1Xia5Tcja9uljCrTxKwBBDSICDrbgQTwq57uWvjMPnU9tByMMtxa9NIttJGDMyxW+nWZRN+s6QmFnWMq+vAwMKME9ZdPQz7MYxqVLzcBrjlZgW5HWpY5hlB4jGOPDhwK7vu5a+Mw+dT2093LXxmHzqe2gn7tbNuICwdh0bFm0mTWwZn1cD0aBRxbI4jljHEnJv38W33kk3qHrc93LXxmHzqe2ou++2LdtnXqrPESbWYACRCSTC+ABniaDo7D4KP7C+iKyueB4Z4ch2/NxqXY7bthGn+oh94P91P3R89Zvdy18Zh86ntoOOt5rm1WQrbyx6pWjit9OssjnWLjMTOq9HluHV6q4OWK10t5ss6F0F5hgao5HbUTwxIjscxSLz5jmRw4Ebnu5a+Mw+dT2093LXxmHzqe2g0d2Nm3FuCkjAx8SFL62DFtWA3RoFUA4xg8hjHbsb3d43fk0vqmrN7uWvjMPnU9tS969s2xsbsC4hJNvKABImSeibhzoLOyfgIv5a+iK26jbL21bCGIG4h+DX/dT90fPWz7uWvjMPnU9tBC2/bSm8V44niXoyJLoBWAKYkjARZA7D4QHK4447Qa2titJdxNMxmt5GY6EYSAIFACt0bhQ6tjXxAPW0nBFU/dy18Zh86ntp7uWvjMPnU9tBDtdjXKziWJVgAUIU6XVGQGySsYj97xbSNS4z2cQdvfzvQeU2v+fb1R93LXxmHzqe2ud/8AEDb1sLIt08RCT27kK4ZtK3sDMQqkk4AJ4DsoOsu7lIkaSRlREBZmYgKAOZJPIVz+7Gue4uL0xmKKaOKOFX4SMkTTN07Jj9WGMvBTxwMnGcDxa7PlvnWe7QxwI2qC0bmSDlbicZwW7Vj5LzOW971NApSlApSlApSlApSlApSlApSlApSlApSlBoHYtsedvD5pPZXz3EtfFofNJ7K+0oPnuJa+LQ+aT2U9xLXxaHzSeyvtKD57iWvi0Pmk9lffcS28Wh80nspSg+e4lr4tD5pPZT3EtfFofNJ7K+0oPnuJa+LQ+aT2U9xLXxaHzSeyvtKD57iWvi0Pmk9lffcS28Wh80nspSg+e4lr4tD5pPZT3EtfFofNJ7K+0oPnuJa+LQ+aT2U9xLXxaHzSeyvtKD57iWvi0Pmk9lek2NbAgi3hBByCI0BBHIg450pQb1KUoFKUoP/Z"/>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2" cstate="print"/>
          <a:stretch>
            <a:fillRect/>
          </a:stretch>
        </p:blipFill>
        <p:spPr>
          <a:xfrm>
            <a:off x="1438019" y="3909790"/>
            <a:ext cx="2284453" cy="2096016"/>
          </a:xfrm>
          <a:prstGeom prst="rect">
            <a:avLst/>
          </a:prstGeom>
        </p:spPr>
      </p:pic>
      <p:pic>
        <p:nvPicPr>
          <p:cNvPr id="8" name="Picture 7"/>
          <p:cNvPicPr>
            <a:picLocks noChangeAspect="1"/>
          </p:cNvPicPr>
          <p:nvPr/>
        </p:nvPicPr>
        <p:blipFill>
          <a:blip r:embed="rId3" cstate="print"/>
          <a:stretch>
            <a:fillRect/>
          </a:stretch>
        </p:blipFill>
        <p:spPr>
          <a:xfrm>
            <a:off x="3962400" y="3921163"/>
            <a:ext cx="2132157" cy="2032500"/>
          </a:xfrm>
          <a:prstGeom prst="rect">
            <a:avLst/>
          </a:prstGeom>
        </p:spPr>
      </p:pic>
      <p:pic>
        <p:nvPicPr>
          <p:cNvPr id="9" name="Picture 8"/>
          <p:cNvPicPr>
            <a:picLocks noChangeAspect="1"/>
          </p:cNvPicPr>
          <p:nvPr/>
        </p:nvPicPr>
        <p:blipFill>
          <a:blip r:embed="rId4" cstate="print"/>
          <a:stretch>
            <a:fillRect/>
          </a:stretch>
        </p:blipFill>
        <p:spPr>
          <a:xfrm>
            <a:off x="6258967" y="3954251"/>
            <a:ext cx="2182922" cy="2007094"/>
          </a:xfrm>
          <a:prstGeom prst="rect">
            <a:avLst/>
          </a:prstGeom>
        </p:spPr>
      </p:pic>
    </p:spTree>
    <p:extLst>
      <p:ext uri="{BB962C8B-B14F-4D97-AF65-F5344CB8AC3E}">
        <p14:creationId xmlns:p14="http://schemas.microsoft.com/office/powerpoint/2010/main" val="1391068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solidFill>
                  <a:srgbClr val="C00000"/>
                </a:solidFill>
              </a:rPr>
              <a:t>Example:</a:t>
            </a:r>
          </a:p>
          <a:p>
            <a:r>
              <a:rPr lang="en-US" dirty="0"/>
              <a:t>Among any group of 367 people, there must be at least how many with the same birthday.</a:t>
            </a:r>
          </a:p>
          <a:p>
            <a:r>
              <a:rPr lang="en-US" dirty="0">
                <a:solidFill>
                  <a:srgbClr val="C00000"/>
                </a:solidFill>
              </a:rPr>
              <a:t>Solution: </a:t>
            </a:r>
            <a:r>
              <a:rPr lang="en-US" dirty="0"/>
              <a:t>At least 2 with the same birthday, because there are only 366 possible birthdays.</a:t>
            </a:r>
          </a:p>
          <a:p>
            <a:endParaRPr lang="en-US" dirty="0"/>
          </a:p>
        </p:txBody>
      </p:sp>
    </p:spTree>
    <p:extLst>
      <p:ext uri="{BB962C8B-B14F-4D97-AF65-F5344CB8AC3E}">
        <p14:creationId xmlns:p14="http://schemas.microsoft.com/office/powerpoint/2010/main" val="3097190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solidFill>
                  <a:srgbClr val="C00000"/>
                </a:solidFill>
              </a:rPr>
              <a:t>Example:</a:t>
            </a:r>
          </a:p>
          <a:p>
            <a:r>
              <a:rPr lang="en-US" dirty="0"/>
              <a:t>In any group of 27 English words, there must be at least how many that begin with the same letter</a:t>
            </a:r>
          </a:p>
          <a:p>
            <a:r>
              <a:rPr lang="en-US" dirty="0">
                <a:solidFill>
                  <a:srgbClr val="C00000"/>
                </a:solidFill>
              </a:rPr>
              <a:t>Solution: </a:t>
            </a:r>
            <a:r>
              <a:rPr lang="en-US" dirty="0"/>
              <a:t>At least 2 that begin with the same letter because there are 26 letters in the English alphabet.</a:t>
            </a:r>
          </a:p>
        </p:txBody>
      </p:sp>
    </p:spTree>
    <p:extLst>
      <p:ext uri="{BB962C8B-B14F-4D97-AF65-F5344CB8AC3E}">
        <p14:creationId xmlns:p14="http://schemas.microsoft.com/office/powerpoint/2010/main" val="814055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a:solidFill>
                  <a:srgbClr val="C00000"/>
                </a:solidFill>
              </a:rPr>
              <a:t>Example</a:t>
            </a:r>
            <a:r>
              <a:rPr lang="en-US" dirty="0"/>
              <a:t>:</a:t>
            </a:r>
          </a:p>
          <a:p>
            <a:r>
              <a:rPr lang="en-US" dirty="0"/>
              <a:t>How many students must be in a class to guarantee that at least two students receive the same score on the final exam, if the exam is graded on a scale from 0 to 100 points?</a:t>
            </a:r>
          </a:p>
          <a:p>
            <a:r>
              <a:rPr lang="en-US" dirty="0">
                <a:solidFill>
                  <a:srgbClr val="C00000"/>
                </a:solidFill>
              </a:rPr>
              <a:t>Solution: </a:t>
            </a:r>
            <a:r>
              <a:rPr lang="en-US" dirty="0"/>
              <a:t>There are 101 possible scores on the final. The pigeonhole principle shows that among any 102 students there must be at least 2 students with the same score.</a:t>
            </a:r>
          </a:p>
        </p:txBody>
      </p:sp>
    </p:spTree>
    <p:extLst>
      <p:ext uri="{BB962C8B-B14F-4D97-AF65-F5344CB8AC3E}">
        <p14:creationId xmlns:p14="http://schemas.microsoft.com/office/powerpoint/2010/main" val="3284361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Generalized Pigeonhole Principle</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842963" y="3095625"/>
            <a:ext cx="7458075" cy="666750"/>
          </a:xfrm>
          <a:prstGeom prst="rect">
            <a:avLst/>
          </a:prstGeom>
          <a:noFill/>
          <a:ln w="9525">
            <a:noFill/>
            <a:miter lim="800000"/>
            <a:headEnd/>
            <a:tailEnd/>
          </a:ln>
        </p:spPr>
      </p:pic>
    </p:spTree>
    <p:extLst>
      <p:ext uri="{BB962C8B-B14F-4D97-AF65-F5344CB8AC3E}">
        <p14:creationId xmlns:p14="http://schemas.microsoft.com/office/powerpoint/2010/main" val="5437819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Example:</a:t>
            </a:r>
          </a:p>
          <a:p>
            <a:r>
              <a:rPr lang="en-US" dirty="0"/>
              <a:t>Among 100 people at least how many were born on the same month.</a:t>
            </a:r>
          </a:p>
          <a:p>
            <a:endParaRPr lang="en-US" dirty="0"/>
          </a:p>
        </p:txBody>
      </p:sp>
      <p:pic>
        <p:nvPicPr>
          <p:cNvPr id="4" name="Picture 3"/>
          <p:cNvPicPr>
            <a:picLocks noChangeAspect="1"/>
          </p:cNvPicPr>
          <p:nvPr/>
        </p:nvPicPr>
        <p:blipFill>
          <a:blip r:embed="rId2" cstate="print"/>
          <a:stretch>
            <a:fillRect/>
          </a:stretch>
        </p:blipFill>
        <p:spPr>
          <a:xfrm>
            <a:off x="1066800" y="3810000"/>
            <a:ext cx="7315200" cy="695437"/>
          </a:xfrm>
          <a:prstGeom prst="rect">
            <a:avLst/>
          </a:prstGeom>
        </p:spPr>
      </p:pic>
    </p:spTree>
    <p:extLst>
      <p:ext uri="{BB962C8B-B14F-4D97-AF65-F5344CB8AC3E}">
        <p14:creationId xmlns:p14="http://schemas.microsoft.com/office/powerpoint/2010/main" val="97266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Example:</a:t>
            </a:r>
          </a:p>
          <a:p>
            <a:endParaRPr lang="en-US" dirty="0"/>
          </a:p>
        </p:txBody>
      </p:sp>
      <p:pic>
        <p:nvPicPr>
          <p:cNvPr id="4" name="Picture 3"/>
          <p:cNvPicPr>
            <a:picLocks noChangeAspect="1"/>
          </p:cNvPicPr>
          <p:nvPr/>
        </p:nvPicPr>
        <p:blipFill>
          <a:blip r:embed="rId2" cstate="print"/>
          <a:stretch>
            <a:fillRect/>
          </a:stretch>
        </p:blipFill>
        <p:spPr>
          <a:xfrm>
            <a:off x="914400" y="2895600"/>
            <a:ext cx="7463029" cy="685800"/>
          </a:xfrm>
          <a:prstGeom prst="rect">
            <a:avLst/>
          </a:prstGeom>
        </p:spPr>
      </p:pic>
      <p:pic>
        <p:nvPicPr>
          <p:cNvPr id="5" name="Picture 4"/>
          <p:cNvPicPr>
            <a:picLocks noChangeAspect="1"/>
          </p:cNvPicPr>
          <p:nvPr/>
        </p:nvPicPr>
        <p:blipFill>
          <a:blip r:embed="rId3" cstate="print"/>
          <a:stretch>
            <a:fillRect/>
          </a:stretch>
        </p:blipFill>
        <p:spPr>
          <a:xfrm>
            <a:off x="879143" y="4267200"/>
            <a:ext cx="7512384" cy="1205020"/>
          </a:xfrm>
          <a:prstGeom prst="rect">
            <a:avLst/>
          </a:prstGeom>
        </p:spPr>
      </p:pic>
    </p:spTree>
    <p:extLst>
      <p:ext uri="{BB962C8B-B14F-4D97-AF65-F5344CB8AC3E}">
        <p14:creationId xmlns:p14="http://schemas.microsoft.com/office/powerpoint/2010/main" val="1140662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066800" y="840810"/>
            <a:ext cx="6196013" cy="3605213"/>
          </a:xfrm>
        </p:spPr>
        <p:txBody>
          <a:bodyPr/>
          <a:lstStyle/>
          <a:p>
            <a:r>
              <a:rPr lang="en-US" dirty="0"/>
              <a:t>Example:</a:t>
            </a:r>
          </a:p>
        </p:txBody>
      </p:sp>
      <p:pic>
        <p:nvPicPr>
          <p:cNvPr id="4" name="Picture 3"/>
          <p:cNvPicPr>
            <a:picLocks noChangeAspect="1"/>
          </p:cNvPicPr>
          <p:nvPr/>
        </p:nvPicPr>
        <p:blipFill>
          <a:blip r:embed="rId2" cstate="print"/>
          <a:stretch>
            <a:fillRect/>
          </a:stretch>
        </p:blipFill>
        <p:spPr>
          <a:xfrm>
            <a:off x="813055" y="1353813"/>
            <a:ext cx="7588320" cy="876384"/>
          </a:xfrm>
          <a:prstGeom prst="rect">
            <a:avLst/>
          </a:prstGeom>
        </p:spPr>
      </p:pic>
      <p:pic>
        <p:nvPicPr>
          <p:cNvPr id="5" name="Picture 4"/>
          <p:cNvPicPr>
            <a:picLocks noChangeAspect="1"/>
          </p:cNvPicPr>
          <p:nvPr/>
        </p:nvPicPr>
        <p:blipFill>
          <a:blip r:embed="rId3" cstate="print"/>
          <a:stretch>
            <a:fillRect/>
          </a:stretch>
        </p:blipFill>
        <p:spPr>
          <a:xfrm>
            <a:off x="791650" y="2464374"/>
            <a:ext cx="7609725" cy="1873449"/>
          </a:xfrm>
          <a:prstGeom prst="rect">
            <a:avLst/>
          </a:prstGeom>
        </p:spPr>
      </p:pic>
      <p:pic>
        <p:nvPicPr>
          <p:cNvPr id="6" name="Picture 5"/>
          <p:cNvPicPr>
            <a:picLocks noChangeAspect="1"/>
          </p:cNvPicPr>
          <p:nvPr/>
        </p:nvPicPr>
        <p:blipFill>
          <a:blip r:embed="rId4" cstate="print"/>
          <a:stretch>
            <a:fillRect/>
          </a:stretch>
        </p:blipFill>
        <p:spPr>
          <a:xfrm>
            <a:off x="791650" y="4572000"/>
            <a:ext cx="7640726" cy="1199016"/>
          </a:xfrm>
          <a:prstGeom prst="rect">
            <a:avLst/>
          </a:prstGeom>
        </p:spPr>
      </p:pic>
    </p:spTree>
    <p:extLst>
      <p:ext uri="{BB962C8B-B14F-4D97-AF65-F5344CB8AC3E}">
        <p14:creationId xmlns:p14="http://schemas.microsoft.com/office/powerpoint/2010/main" val="1809499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 Questions</a:t>
            </a:r>
          </a:p>
        </p:txBody>
      </p:sp>
      <p:sp>
        <p:nvSpPr>
          <p:cNvPr id="3" name="Content Placeholder 2"/>
          <p:cNvSpPr>
            <a:spLocks noGrp="1"/>
          </p:cNvSpPr>
          <p:nvPr>
            <p:ph idx="1"/>
          </p:nvPr>
        </p:nvSpPr>
        <p:spPr/>
        <p:txBody>
          <a:bodyPr>
            <a:normAutofit/>
          </a:bodyPr>
          <a:lstStyle/>
          <a:p>
            <a:r>
              <a:rPr lang="en-US" b="1" dirty="0"/>
              <a:t>Exercise 6.2</a:t>
            </a:r>
            <a:endParaRPr lang="en-US" dirty="0"/>
          </a:p>
          <a:p>
            <a:r>
              <a:rPr lang="en-US" b="1" dirty="0"/>
              <a:t>Questions 1, 3</a:t>
            </a:r>
            <a:r>
              <a:rPr lang="en-US" b="1"/>
              <a:t>, 9 </a:t>
            </a:r>
            <a:endParaRPr lang="en-US" b="1" dirty="0"/>
          </a:p>
          <a:p>
            <a:pPr>
              <a:buNone/>
            </a:pPr>
            <a:endParaRPr lang="en-US" dirty="0"/>
          </a:p>
          <a:p>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ushpin">
  <a:themeElements>
    <a:clrScheme name="Pushpin">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D83E2C"/>
      </a:hlink>
      <a:folHlink>
        <a:srgbClr val="ED7D27"/>
      </a:folHlink>
    </a:clrScheme>
    <a:fontScheme name="Pushpin">
      <a:majorFont>
        <a:latin typeface="Constantia"/>
        <a:ea typeface=""/>
        <a:cs typeface=""/>
        <a:font script="Jpan" typeface="HGS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Grek" typeface="Arial"/>
        <a:font script="Cyrl" typeface="Arial"/>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ushpin">
      <a:fillStyleLst>
        <a:solidFill>
          <a:schemeClr val="phClr"/>
        </a:solidFill>
        <a:gradFill rotWithShape="1">
          <a:gsLst>
            <a:gs pos="0">
              <a:schemeClr val="phClr">
                <a:tint val="50000"/>
                <a:satMod val="180000"/>
                <a:lumMod val="100000"/>
              </a:schemeClr>
            </a:gs>
            <a:gs pos="40000">
              <a:schemeClr val="phClr">
                <a:tint val="60000"/>
                <a:satMod val="130000"/>
                <a:lumMod val="100000"/>
              </a:schemeClr>
            </a:gs>
            <a:gs pos="100000">
              <a:schemeClr val="phClr">
                <a:tint val="96000"/>
                <a:lumMod val="108000"/>
              </a:schemeClr>
            </a:gs>
          </a:gsLst>
          <a:lin ang="5400000" scaled="0"/>
        </a:gradFill>
        <a:gradFill rotWithShape="1">
          <a:gsLst>
            <a:gs pos="0">
              <a:schemeClr val="phClr"/>
            </a:gs>
            <a:gs pos="100000">
              <a:schemeClr val="phClr">
                <a:shade val="76000"/>
                <a:lumMod val="90000"/>
              </a:schemeClr>
            </a:gs>
          </a:gsLst>
          <a:lin ang="5400000" scaled="0"/>
        </a:gradFill>
      </a:fillStyleLst>
      <a:lnStyleLst>
        <a:ln w="9525" cap="flat" cmpd="sng" algn="ctr">
          <a:solidFill>
            <a:schemeClr val="phClr"/>
          </a:solidFill>
          <a:prstDash val="solid"/>
        </a:ln>
        <a:ln w="15875" cap="flat" cmpd="sng" algn="ctr">
          <a:solidFill>
            <a:schemeClr val="phClr">
              <a:shade val="80000"/>
              <a:lumMod val="90000"/>
            </a:schemeClr>
          </a:solidFill>
          <a:prstDash val="solid"/>
        </a:ln>
        <a:ln w="25400" cap="flat" cmpd="sng" algn="ctr">
          <a:solidFill>
            <a:schemeClr val="phClr"/>
          </a:solidFill>
          <a:prstDash val="solid"/>
        </a:ln>
      </a:lnStyleLst>
      <a:effectStyleLst>
        <a:effectStyle>
          <a:effectLst/>
        </a:effectStyle>
        <a:effectStyle>
          <a:effectLst>
            <a:outerShdw blurRad="38100" dist="38100" dir="4800000" sx="98000" sy="98000" rotWithShape="0">
              <a:srgbClr val="000000">
                <a:alpha val="32000"/>
              </a:srgbClr>
            </a:outerShdw>
          </a:effectLst>
        </a:effectStyle>
        <a:effectStyle>
          <a:effectLst>
            <a:outerShdw blurRad="38100" dist="38100" dir="4800000" sx="96000" sy="96000" rotWithShape="0">
              <a:srgbClr val="000000">
                <a:alpha val="40000"/>
              </a:srgbClr>
            </a:outerShdw>
          </a:effectLst>
          <a:scene3d>
            <a:camera prst="orthographicFront">
              <a:rot lat="0" lon="0" rev="0"/>
            </a:camera>
            <a:lightRig rig="threePt" dir="t">
              <a:rot lat="0" lon="0" rev="3240000"/>
            </a:lightRig>
          </a:scene3d>
          <a:sp3d>
            <a:bevelT w="28575" h="28575"/>
          </a:sp3d>
        </a:effectStyle>
      </a:effectStyleLst>
      <a:bgFillStyleLst>
        <a:solidFill>
          <a:schemeClr val="phClr">
            <a:tint val="93000"/>
          </a:schemeClr>
        </a:solidFill>
        <a:blipFill rotWithShape="1">
          <a:blip xmlns:r="http://schemas.openxmlformats.org/officeDocument/2006/relationships" r:embed="rId1">
            <a:duotone>
              <a:schemeClr val="phClr">
                <a:shade val="80000"/>
                <a:satMod val="140000"/>
                <a:lumMod val="50000"/>
              </a:schemeClr>
              <a:schemeClr val="phClr">
                <a:tint val="95000"/>
                <a:satMod val="180000"/>
                <a:lumMod val="160000"/>
              </a:schemeClr>
            </a:duotone>
          </a:blip>
          <a:stretch/>
        </a:blipFill>
        <a:blipFill rotWithShape="1">
          <a:blip xmlns:r="http://schemas.openxmlformats.org/officeDocument/2006/relationships" r:embed="rId2">
            <a:duotone>
              <a:schemeClr val="phClr">
                <a:tint val="98000"/>
                <a:shade val="90000"/>
                <a:satMod val="120000"/>
                <a:lumMod val="54000"/>
              </a:schemeClr>
              <a:schemeClr val="phClr">
                <a:tint val="80000"/>
                <a:satMod val="160000"/>
                <a:lumMod val="14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Pushpin</Template>
  <TotalTime>4175</TotalTime>
  <Words>1464</Words>
  <Application>Microsoft Office PowerPoint</Application>
  <PresentationFormat>On-screen Show (4:3)</PresentationFormat>
  <Paragraphs>93</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Brush Script MT</vt:lpstr>
      <vt:lpstr>Constantia</vt:lpstr>
      <vt:lpstr>Franklin Gothic Book</vt:lpstr>
      <vt:lpstr>Rage Italic</vt:lpstr>
      <vt:lpstr>Pushpin</vt:lpstr>
      <vt:lpstr>Counting</vt:lpstr>
      <vt:lpstr>Basic Counting Principles</vt:lpstr>
      <vt:lpstr>THE PRODUCT RULE </vt:lpstr>
      <vt:lpstr>EXAMPLES</vt:lpstr>
      <vt:lpstr>PowerPoint Presentation</vt:lpstr>
      <vt:lpstr>PowerPoint Presentation</vt:lpstr>
      <vt:lpstr>PowerPoint Presentation</vt:lpstr>
      <vt:lpstr>PowerPoint Presentation</vt:lpstr>
      <vt:lpstr>PowerPoint Presentation</vt:lpstr>
      <vt:lpstr>The Telephone Numbering Plan </vt:lpstr>
      <vt:lpstr>The Telephone Numbering Plan </vt:lpstr>
      <vt:lpstr>THE SUM RULE</vt:lpstr>
      <vt:lpstr>PowerPoint Presentation</vt:lpstr>
      <vt:lpstr>PowerPoint Presentation</vt:lpstr>
      <vt:lpstr>Assignment Questions</vt:lpstr>
      <vt:lpstr>The Pigeonhole Principle</vt:lpstr>
      <vt:lpstr>The Pigeonhole Principle</vt:lpstr>
      <vt:lpstr>The Pigeonhole Principle</vt:lpstr>
      <vt:lpstr>PowerPoint Presentation</vt:lpstr>
      <vt:lpstr>PowerPoint Presentation</vt:lpstr>
      <vt:lpstr>PowerPoint Presentation</vt:lpstr>
      <vt:lpstr>The Generalized Pigeonhole Principle</vt:lpstr>
      <vt:lpstr>PowerPoint Presentation</vt:lpstr>
      <vt:lpstr>PowerPoint Presentation</vt:lpstr>
      <vt:lpstr>PowerPoint Presentation</vt:lpstr>
      <vt:lpstr>Assignment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Counting</dc:title>
  <dc:creator>amna.humayun</dc:creator>
  <cp:lastModifiedBy>amna humayun</cp:lastModifiedBy>
  <cp:revision>86</cp:revision>
  <dcterms:created xsi:type="dcterms:W3CDTF">2014-05-13T08:56:16Z</dcterms:created>
  <dcterms:modified xsi:type="dcterms:W3CDTF">2024-12-15T18:31:57Z</dcterms:modified>
</cp:coreProperties>
</file>