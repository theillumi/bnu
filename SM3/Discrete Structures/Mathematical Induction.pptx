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94" r:id="rId4"/>
    <p:sldId id="280" r:id="rId5"/>
    <p:sldId id="257" r:id="rId6"/>
    <p:sldId id="263" r:id="rId7"/>
    <p:sldId id="283" r:id="rId8"/>
    <p:sldId id="284" r:id="rId9"/>
    <p:sldId id="288" r:id="rId10"/>
    <p:sldId id="289" r:id="rId11"/>
    <p:sldId id="290" r:id="rId12"/>
    <p:sldId id="296" r:id="rId13"/>
    <p:sldId id="297" r:id="rId14"/>
    <p:sldId id="295" r:id="rId15"/>
    <p:sldId id="299" r:id="rId16"/>
    <p:sldId id="307" r:id="rId17"/>
    <p:sldId id="300" r:id="rId18"/>
    <p:sldId id="301" r:id="rId19"/>
    <p:sldId id="303" r:id="rId20"/>
    <p:sldId id="291" r:id="rId21"/>
    <p:sldId id="292" r:id="rId23"/>
    <p:sldId id="298" r:id="rId24"/>
    <p:sldId id="304" r:id="rId25"/>
    <p:sldId id="305" r:id="rId26"/>
    <p:sldId id="309" r:id="rId27"/>
    <p:sldId id="308" r:id="rId28"/>
    <p:sldId id="29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43BEA-5599-4BC9-AC50-97B84298994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8369E-4FEB-4137-B7A8-FC917546685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A8369E-4FEB-4137-B7A8-FC917546685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8369E-4FEB-4137-B7A8-FC917546685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2858A3C-7497-4E08-9BC7-47FEE97EF8CD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8A3C-7497-4E08-9BC7-47FEE97EF8C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55CE102-EC97-4468-918F-170660E9F68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2858A3C-7497-4E08-9BC7-47FEE97EF8C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Mathematical Induction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PRINCIPLE OF MATHEMATICAL INDUCTION: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Let P(n) be a propositional function defined for all positive integers n. P(n) is true for every positive integer n if</a:t>
            </a: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1.Basis Step:</a:t>
            </a:r>
            <a:r>
              <a:rPr lang="en-US" dirty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/>
              <a:t>	         The proposition </a:t>
            </a:r>
            <a:r>
              <a:rPr lang="en-US" dirty="0">
                <a:solidFill>
                  <a:srgbClr val="00B050"/>
                </a:solidFill>
              </a:rPr>
              <a:t>P(1) is true</a:t>
            </a:r>
            <a:r>
              <a:rPr lang="en-US" dirty="0"/>
              <a:t>.</a:t>
            </a: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2.Inductive Step: 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/>
              <a:t>	   </a:t>
            </a:r>
            <a:r>
              <a:rPr lang="en-US" dirty="0"/>
              <a:t>If </a:t>
            </a:r>
            <a:r>
              <a:rPr lang="en-US" dirty="0">
                <a:solidFill>
                  <a:srgbClr val="00B050"/>
                </a:solidFill>
              </a:rPr>
              <a:t>P(k) is true </a:t>
            </a:r>
            <a:r>
              <a:rPr lang="en-US" dirty="0"/>
              <a:t>then </a:t>
            </a:r>
            <a:r>
              <a:rPr lang="en-US" dirty="0">
                <a:solidFill>
                  <a:srgbClr val="00B050"/>
                </a:solidFill>
              </a:rPr>
              <a:t>P(k + 1) </a:t>
            </a:r>
            <a:r>
              <a:rPr lang="en-US" dirty="0"/>
              <a:t>is true for all integers </a:t>
            </a:r>
            <a:r>
              <a:rPr lang="en-US" dirty="0">
                <a:solidFill>
                  <a:srgbClr val="00B050"/>
                </a:solidFill>
              </a:rPr>
              <a:t>k </a:t>
            </a:r>
            <a:r>
              <a:rPr lang="en-US" dirty="0">
                <a:solidFill>
                  <a:srgbClr val="00B050"/>
                </a:solidFill>
                <a:sym typeface="Symbol" panose="05050102010706020507"/>
              </a:rPr>
              <a:t></a:t>
            </a:r>
            <a:r>
              <a:rPr lang="en-US" dirty="0">
                <a:solidFill>
                  <a:srgbClr val="00B050"/>
                </a:solidFill>
              </a:rPr>
              <a:t> 1</a:t>
            </a:r>
            <a:r>
              <a:rPr lang="en-US" dirty="0"/>
              <a:t>.</a:t>
            </a:r>
            <a:endParaRPr lang="en-US" dirty="0"/>
          </a:p>
          <a:p>
            <a:pPr>
              <a:buNone/>
            </a:pPr>
            <a:r>
              <a:rPr lang="en-US" dirty="0"/>
              <a:t>		i.e</a:t>
            </a:r>
            <a:r>
              <a:rPr lang="en-US" b="1" dirty="0"/>
              <a:t>. </a:t>
            </a:r>
            <a:r>
              <a:rPr lang="en-US" b="1" dirty="0">
                <a:solidFill>
                  <a:srgbClr val="00B050"/>
                </a:solidFill>
                <a:sym typeface="Symbol" panose="05050102010706020507"/>
              </a:rPr>
              <a:t></a:t>
            </a:r>
            <a:r>
              <a:rPr lang="en-US" dirty="0">
                <a:solidFill>
                  <a:srgbClr val="00B050"/>
                </a:solidFill>
              </a:rPr>
              <a:t>k(p(k) </a:t>
            </a:r>
            <a:r>
              <a:rPr lang="en-US" dirty="0">
                <a:solidFill>
                  <a:srgbClr val="00B050"/>
                </a:solidFill>
                <a:sym typeface="Symbol" panose="05050102010706020507"/>
              </a:rPr>
              <a:t></a:t>
            </a:r>
            <a:r>
              <a:rPr lang="en-US" dirty="0">
                <a:solidFill>
                  <a:srgbClr val="00B050"/>
                </a:solidFill>
              </a:rPr>
              <a:t> P(k + 1))</a:t>
            </a: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00B050"/>
                </a:solidFill>
              </a:rPr>
              <a:t>(P (1) ∧ ∀k(P(k) → P(k + 1))) → ∀</a:t>
            </a:r>
            <a:r>
              <a:rPr lang="en-US" dirty="0" err="1">
                <a:solidFill>
                  <a:srgbClr val="00B050"/>
                </a:solidFill>
              </a:rPr>
              <a:t>nP</a:t>
            </a:r>
            <a:r>
              <a:rPr lang="en-US" dirty="0">
                <a:solidFill>
                  <a:srgbClr val="00B050"/>
                </a:solidFill>
              </a:rPr>
              <a:t> (n)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0"/>
            <a:ext cx="54864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181600" y="381000"/>
            <a:ext cx="343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Climbing an Infinite Ladder.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1: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4572000"/>
          </a:xfrm>
        </p:spPr>
        <p:txBody>
          <a:bodyPr/>
          <a:lstStyle/>
          <a:p>
            <a:pPr>
              <a:buNone/>
            </a:pPr>
            <a:r>
              <a:rPr lang="en-US" dirty="0"/>
              <a:t>Use Mathematical Induction to prove that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                             for all integers n </a:t>
            </a:r>
            <a:r>
              <a:rPr lang="en-US" dirty="0">
                <a:sym typeface="Symbol" panose="05050102010706020507"/>
              </a:rPr>
              <a:t></a:t>
            </a:r>
            <a:r>
              <a:rPr lang="en-US" dirty="0"/>
              <a:t>1.</a:t>
            </a: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SOLUTION: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800" dirty="0"/>
              <a:t>Let</a:t>
            </a:r>
            <a:endParaRPr lang="en-US" sz="1800" dirty="0"/>
          </a:p>
          <a:p>
            <a:pPr>
              <a:buNone/>
            </a:pPr>
            <a:r>
              <a:rPr lang="en-US" dirty="0"/>
              <a:t> 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762000" y="1937611"/>
          <a:ext cx="5080000" cy="12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612900" imgH="393700" progId="">
                  <p:embed/>
                </p:oleObj>
              </mc:Choice>
              <mc:Fallback>
                <p:oleObj name="" r:id="rId1" imgW="1612900" imgH="3937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37611"/>
                        <a:ext cx="5080000" cy="12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171700" y="3276600"/>
          <a:ext cx="4076700" cy="804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993900" imgH="393700" progId="">
                  <p:embed/>
                </p:oleObj>
              </mc:Choice>
              <mc:Fallback>
                <p:oleObj name="" r:id="rId3" imgW="1993900" imgH="3937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276600"/>
                        <a:ext cx="4076700" cy="8049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228600" y="3808512"/>
            <a:ext cx="8786380" cy="1600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1.Basis Step</a:t>
            </a: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: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                 </a:t>
            </a: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P(1) is true.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For n = 1, left hand side of P(1) is the sum of all the successive integers starting at 1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MS Mincho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 and ending at 1, so LHS = 1 and RHS  is </a:t>
            </a:r>
            <a:endParaRPr kumimoji="0" lang="en-US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2209800" y="5410200"/>
          <a:ext cx="1905000" cy="51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1447165" imgH="393700" progId="">
                  <p:embed/>
                </p:oleObj>
              </mc:Choice>
              <mc:Fallback>
                <p:oleObj name="" r:id="rId5" imgW="1447165" imgH="3937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410200"/>
                        <a:ext cx="1905000" cy="518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762000" y="6096000"/>
            <a:ext cx="3679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 the proposition is true for n = 1.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28600"/>
            <a:ext cx="792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2. Inductive Step</a:t>
            </a:r>
            <a:r>
              <a:rPr lang="en-US" sz="2000" dirty="0"/>
              <a:t>:  </a:t>
            </a:r>
            <a:r>
              <a:rPr lang="en-US" sz="2000" dirty="0">
                <a:solidFill>
                  <a:srgbClr val="00B050"/>
                </a:solidFill>
              </a:rPr>
              <a:t>Suppose P(k) is true </a:t>
            </a:r>
            <a:r>
              <a:rPr lang="en-US" sz="2000" dirty="0"/>
              <a:t>for, some integers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 1.</a:t>
            </a:r>
            <a:endParaRPr lang="en-US" sz="2000" dirty="0"/>
          </a:p>
        </p:txBody>
      </p:sp>
      <p:graphicFrame>
        <p:nvGraphicFramePr>
          <p:cNvPr id="19457" name="Object 1"/>
          <p:cNvGraphicFramePr>
            <a:graphicFrameLocks noChangeAspect="1"/>
          </p:cNvGraphicFramePr>
          <p:nvPr/>
        </p:nvGraphicFramePr>
        <p:xfrm>
          <a:off x="990600" y="685800"/>
          <a:ext cx="3733800" cy="7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12900" imgH="393700" progId="">
                  <p:embed/>
                </p:oleObj>
              </mc:Choice>
              <mc:Fallback>
                <p:oleObj name="" r:id="rId1" imgW="1612900" imgH="3937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685800"/>
                        <a:ext cx="3733800" cy="75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5410200" y="838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0" y="1371600"/>
            <a:ext cx="4038600" cy="38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prove P(k + 1) is true. That is,</a:t>
            </a:r>
            <a:endParaRPr lang="en-US" dirty="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914400" y="1828800"/>
          <a:ext cx="5562600" cy="77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222500" imgH="393700" progId="">
                  <p:embed/>
                </p:oleObj>
              </mc:Choice>
              <mc:Fallback>
                <p:oleObj name="" r:id="rId3" imgW="2222500" imgH="3937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5562600" cy="7741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6934200" y="19050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(2)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90600" y="2590800"/>
            <a:ext cx="2416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Consider L.H.S. of (2)</a:t>
            </a:r>
            <a:endParaRPr lang="en-US" dirty="0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789039" y="2971800"/>
          <a:ext cx="7821561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3352800" imgH="1930400" progId="">
                  <p:embed/>
                </p:oleObj>
              </mc:Choice>
              <mc:Fallback>
                <p:oleObj name="" r:id="rId5" imgW="3352800" imgH="19304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039" y="2971800"/>
                        <a:ext cx="7821561" cy="327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228600" y="6211669"/>
            <a:ext cx="8915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Hence by principle of Mathematical Induction the given result true for all integers greater or equal to 1.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3: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4572000"/>
          </a:xfrm>
        </p:spPr>
        <p:txBody>
          <a:bodyPr/>
          <a:lstStyle/>
          <a:p>
            <a:pPr>
              <a:buNone/>
            </a:pPr>
            <a:r>
              <a:rPr lang="en-US" dirty="0"/>
              <a:t>Use Mathematical Induction to prove that</a:t>
            </a:r>
            <a:endParaRPr lang="en-US" dirty="0"/>
          </a:p>
          <a:p>
            <a:pPr>
              <a:buNone/>
            </a:pPr>
            <a:r>
              <a:rPr lang="en-US" dirty="0"/>
              <a:t> 1+2+2</a:t>
            </a:r>
            <a:r>
              <a:rPr lang="en-US" baseline="30000" dirty="0"/>
              <a:t>2</a:t>
            </a:r>
            <a:r>
              <a:rPr lang="en-US" dirty="0"/>
              <a:t> + … + 2</a:t>
            </a:r>
            <a:r>
              <a:rPr lang="en-US" baseline="30000" dirty="0"/>
              <a:t>n</a:t>
            </a:r>
            <a:r>
              <a:rPr lang="en-US" dirty="0"/>
              <a:t> = 2</a:t>
            </a:r>
            <a:r>
              <a:rPr lang="en-US" baseline="30000" dirty="0"/>
              <a:t>n+1</a:t>
            </a:r>
            <a:r>
              <a:rPr lang="en-US" dirty="0"/>
              <a:t> - 1 for all integers n </a:t>
            </a:r>
            <a:r>
              <a:rPr lang="en-US" dirty="0">
                <a:sym typeface="Symbol" panose="05050102010706020507"/>
              </a:rPr>
              <a:t>0</a:t>
            </a:r>
            <a:r>
              <a:rPr lang="en-US" dirty="0"/>
              <a:t>.</a:t>
            </a:r>
            <a:endParaRPr lang="en-US" dirty="0"/>
          </a:p>
          <a:p>
            <a:pPr>
              <a:buNone/>
            </a:pPr>
            <a:endParaRPr lang="en-US" b="1" u="sng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SOLUTION: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400" dirty="0"/>
              <a:t>Let P(n): 1 + 2 + 2</a:t>
            </a:r>
            <a:r>
              <a:rPr lang="en-US" sz="2400" baseline="30000" dirty="0"/>
              <a:t>2</a:t>
            </a:r>
            <a:r>
              <a:rPr lang="en-US" sz="2400" dirty="0"/>
              <a:t> + … + 2</a:t>
            </a:r>
            <a:r>
              <a:rPr lang="en-US" sz="2400" baseline="30000" dirty="0"/>
              <a:t>n</a:t>
            </a:r>
            <a:r>
              <a:rPr lang="en-US" sz="2400" dirty="0"/>
              <a:t> = 2</a:t>
            </a:r>
            <a:r>
              <a:rPr lang="en-US" sz="2400" baseline="30000" dirty="0"/>
              <a:t>n+1</a:t>
            </a:r>
            <a:r>
              <a:rPr lang="en-US" sz="2400" dirty="0"/>
              <a:t> - 1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3400" y="3886200"/>
            <a:ext cx="7620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Basis Step:  </a:t>
            </a:r>
            <a:endParaRPr lang="en-US" dirty="0"/>
          </a:p>
          <a:p>
            <a:r>
              <a:rPr lang="en-US" b="1" dirty="0"/>
              <a:t>                         </a:t>
            </a:r>
            <a:r>
              <a:rPr lang="en-US" sz="2400" dirty="0"/>
              <a:t>P(0) is true.</a:t>
            </a:r>
            <a:endParaRPr lang="en-US" sz="2400" dirty="0"/>
          </a:p>
          <a:p>
            <a:r>
              <a:rPr lang="en-US" sz="2400" dirty="0"/>
              <a:t>                               For n = 0</a:t>
            </a:r>
            <a:endParaRPr lang="en-US" sz="2400" dirty="0"/>
          </a:p>
          <a:p>
            <a:r>
              <a:rPr lang="en-US" sz="2400" dirty="0"/>
              <a:t>                               L.H.S of P(0) = 1</a:t>
            </a:r>
            <a:endParaRPr lang="en-US" sz="2400" dirty="0"/>
          </a:p>
          <a:p>
            <a:r>
              <a:rPr lang="en-US" sz="2400" dirty="0"/>
              <a:t>                               R.H.S of P(0) = 2</a:t>
            </a:r>
            <a:r>
              <a:rPr lang="en-US" sz="2400" baseline="30000" dirty="0"/>
              <a:t>0+1</a:t>
            </a:r>
            <a:r>
              <a:rPr lang="en-US" sz="2400" dirty="0"/>
              <a:t> - 1 = 2 - 1 = 1</a:t>
            </a:r>
            <a:endParaRPr lang="en-US" sz="2400" dirty="0"/>
          </a:p>
          <a:p>
            <a:r>
              <a:rPr lang="en-US" sz="2400" dirty="0"/>
              <a:t>                               Hence P(0) is true.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28600" y="120134"/>
            <a:ext cx="9144000" cy="56323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2.   Inductive Step: 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      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Suppose P(k) is true for some integer k 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 0; i.e.,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	1+2+2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+…+2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= 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– 1……………………(1)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ja-JP" sz="2400" dirty="0"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ja-JP" sz="2400" dirty="0">
              <a:latin typeface="Times New Roman" panose="02020603050405020304" pitchFamily="18" charset="0"/>
              <a:ea typeface="MS Mincho" pitchFamily="49" charset="-128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   To prove P(k+1) is true, i.e.,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	  1+2+2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+…+2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= 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– 1…………………(2)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MS Mincho" pitchFamily="49" charset="-128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ja-JP" sz="2400" dirty="0"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Consider LHS of equation (2)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            1+2+2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+…+2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= (1+2+2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+…+2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) + 2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	                                       = (2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- 1) +2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= 2·2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- 1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		                           = 2</a:t>
            </a:r>
            <a:r>
              <a:rPr kumimoji="0" lang="en-US" altLang="ja-JP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k+1+1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 - 1 = R.H.S of (2)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MS Mincho" pitchFamily="49" charset="-128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Hence P(k+1) is true and consequently by mathematical induction the given propositional function is true for all integers n</a:t>
            </a:r>
            <a:r>
              <a:rPr kumimoji="0" lang="en-US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0.</a:t>
            </a:r>
            <a:endParaRPr kumimoji="0" lang="en-US" altLang="ja-JP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MS Mincho" pitchFamily="49" charset="-128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5: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2590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Use Mathematical Induction to prove that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endParaRPr lang="en-US" dirty="0"/>
          </a:p>
          <a:p>
            <a:pPr>
              <a:buNone/>
            </a:pPr>
            <a:r>
              <a:rPr lang="en-US"/>
              <a:t>                                                                </a:t>
            </a:r>
            <a:r>
              <a:rPr lang="en-US" dirty="0"/>
              <a:t>for all integers n </a:t>
            </a:r>
            <a:r>
              <a:rPr lang="en-US" dirty="0">
                <a:sym typeface="Symbol" panose="05050102010706020507"/>
              </a:rPr>
              <a:t></a:t>
            </a:r>
            <a:r>
              <a:rPr lang="en-US" dirty="0"/>
              <a:t>1.</a:t>
            </a: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SOLUTION: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dirty="0"/>
              <a:t>Let P(n) denotes the given equation</a:t>
            </a:r>
            <a:endParaRPr lang="en-US" sz="2000" dirty="0"/>
          </a:p>
          <a:p>
            <a:pPr>
              <a:buNone/>
            </a:pPr>
            <a:r>
              <a:rPr lang="en-US" dirty="0"/>
              <a:t> 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33400" y="3657600"/>
            <a:ext cx="5486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Basis Step:  </a:t>
            </a:r>
            <a:endParaRPr lang="en-US" dirty="0"/>
          </a:p>
          <a:p>
            <a:r>
              <a:rPr lang="en-US" b="1" dirty="0"/>
              <a:t>                         </a:t>
            </a:r>
            <a:r>
              <a:rPr lang="en-US" dirty="0"/>
              <a:t>P(1) is true.</a:t>
            </a:r>
            <a:endParaRPr lang="en-US" dirty="0"/>
          </a:p>
          <a:p>
            <a:r>
              <a:rPr lang="en-US" dirty="0"/>
              <a:t>                               For n = 1</a:t>
            </a:r>
            <a:endParaRPr lang="en-US" dirty="0"/>
          </a:p>
          <a:p>
            <a:r>
              <a:rPr lang="en-US" dirty="0"/>
              <a:t>                               L.H.S of P(1) =                               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</a:t>
            </a:r>
            <a:endParaRPr lang="en-US" dirty="0"/>
          </a:p>
          <a:p>
            <a:r>
              <a:rPr lang="en-US" dirty="0"/>
              <a:t>                              R.H.S of P(1) =                               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So L.H.S = R.H.S of P(1).Hence P(1) is true</a:t>
            </a:r>
            <a:endParaRPr lang="en-US" dirty="0"/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762000" y="2057400"/>
          <a:ext cx="4267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955800" imgH="419100" progId="">
                  <p:embed/>
                </p:oleObj>
              </mc:Choice>
              <mc:Fallback>
                <p:oleObj name="" r:id="rId1" imgW="1955800" imgH="4191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057400"/>
                        <a:ext cx="42672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4267200" y="4267200"/>
          <a:ext cx="1752600" cy="734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939165" imgH="393700" progId="">
                  <p:embed/>
                </p:oleObj>
              </mc:Choice>
              <mc:Fallback>
                <p:oleObj name="" r:id="rId3" imgW="939165" imgH="3937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267200"/>
                        <a:ext cx="1752600" cy="7341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4191000" y="5181600"/>
          <a:ext cx="1371600" cy="65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558800" imgH="393700" progId="">
                  <p:embed/>
                </p:oleObj>
              </mc:Choice>
              <mc:Fallback>
                <p:oleObj name="" r:id="rId5" imgW="558800" imgH="3937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181600"/>
                        <a:ext cx="1371600" cy="6508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1;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0" y="1752600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010400" y="2283397"/>
            <a:ext cx="8382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2895600"/>
            <a:ext cx="3865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Consider LHS of above equation (2)</a:t>
            </a:r>
            <a:endParaRPr lang="en-US" dirty="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838200" y="914400"/>
          <a:ext cx="4648200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955800" imgH="419100" progId="">
                  <p:embed/>
                </p:oleObj>
              </mc:Choice>
              <mc:Fallback>
                <p:oleObj name="" r:id="rId1" imgW="1955800" imgH="4191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914400"/>
                        <a:ext cx="4648200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990600" y="2209800"/>
          <a:ext cx="51816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717800" imgH="419100" progId="">
                  <p:embed/>
                </p:oleObj>
              </mc:Choice>
              <mc:Fallback>
                <p:oleObj name="" r:id="rId3" imgW="2717800" imgH="4191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9800"/>
                        <a:ext cx="5181600" cy="65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1752600" y="3276600"/>
          <a:ext cx="4724400" cy="2026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2565400" imgH="1308100" progId="">
                  <p:embed/>
                </p:oleObj>
              </mc:Choice>
              <mc:Fallback>
                <p:oleObj name="" r:id="rId5" imgW="2565400" imgH="13081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276600"/>
                        <a:ext cx="4724400" cy="20269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44036" grpId="0" autoUpdateAnimBg="0"/>
      <p:bldP spid="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81000" y="152400"/>
            <a:ext cx="3865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Consider LHS of above equation (2)</a:t>
            </a:r>
            <a:endParaRPr lang="en-US" dirty="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990600" y="533400"/>
          <a:ext cx="4953000" cy="2124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565400" imgH="1308100" progId="">
                  <p:embed/>
                </p:oleObj>
              </mc:Choice>
              <mc:Fallback>
                <p:oleObj name="" r:id="rId1" imgW="2565400" imgH="13081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33400"/>
                        <a:ext cx="4953000" cy="21249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/>
          <p:cNvGraphicFramePr>
            <a:graphicFrameLocks noChangeAspect="1"/>
          </p:cNvGraphicFramePr>
          <p:nvPr/>
        </p:nvGraphicFramePr>
        <p:xfrm>
          <a:off x="1066800" y="2895600"/>
          <a:ext cx="25146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952500" imgH="2019300" progId="">
                  <p:embed/>
                </p:oleObj>
              </mc:Choice>
              <mc:Fallback>
                <p:oleObj name="" r:id="rId3" imgW="952500" imgH="20193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95600"/>
                        <a:ext cx="2514600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93467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Hence P(k+1) is also true and so by Mathematical induction the given equation is true for all integers n </a:t>
            </a:r>
            <a:r>
              <a:rPr lang="en-US" dirty="0">
                <a:sym typeface="Symbol" panose="05050102010706020507"/>
              </a:rPr>
              <a:t></a:t>
            </a:r>
            <a:r>
              <a:rPr lang="en-US" dirty="0"/>
              <a:t>1.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60338"/>
            <a:ext cx="7772400" cy="1173162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6: </a:t>
            </a:r>
            <a:r>
              <a:rPr lang="en-US" dirty="0">
                <a:solidFill>
                  <a:schemeClr val="bg1"/>
                </a:solidFill>
              </a:rPr>
              <a:t>Sums of Geometric Progressions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25908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4400" dirty="0"/>
              <a:t>Use Mathematical Induction to prove that</a:t>
            </a:r>
            <a:endParaRPr lang="en-US" sz="4400" dirty="0"/>
          </a:p>
          <a:p>
            <a:pPr>
              <a:buNone/>
            </a:pPr>
            <a:endParaRPr lang="en-US" sz="44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endParaRPr lang="en-US" dirty="0"/>
          </a:p>
          <a:p>
            <a:pPr>
              <a:buNone/>
            </a:pPr>
            <a:endParaRPr lang="en-US" b="1" u="sng" dirty="0">
              <a:solidFill>
                <a:srgbClr val="FF0000"/>
              </a:solidFill>
            </a:endParaRPr>
          </a:p>
          <a:p>
            <a:pPr>
              <a:buNone/>
            </a:pPr>
            <a:endParaRPr lang="en-US" b="1" u="sng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200" b="1" u="sng" dirty="0">
                <a:solidFill>
                  <a:srgbClr val="FF0000"/>
                </a:solidFill>
              </a:rPr>
              <a:t>SOLUTION:</a:t>
            </a:r>
            <a:endParaRPr lang="en-US" sz="2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 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914400" y="3616271"/>
                <a:ext cx="5486400" cy="2954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b="1" dirty="0"/>
                  <a:t>Basis Step:  </a:t>
                </a:r>
                <a:endParaRPr lang="en-US" dirty="0"/>
              </a:p>
              <a:p>
                <a:r>
                  <a:rPr lang="en-US" b="1" dirty="0"/>
                  <a:t>                         </a:t>
                </a:r>
                <a:r>
                  <a:rPr lang="en-US" dirty="0"/>
                  <a:t>P(0) is true.</a:t>
                </a:r>
                <a:endParaRPr lang="en-US" dirty="0"/>
              </a:p>
              <a:p>
                <a:r>
                  <a:rPr lang="en-US" dirty="0"/>
                  <a:t>                               For n = 0</a:t>
                </a:r>
                <a:endParaRPr lang="en-US" dirty="0"/>
              </a:p>
              <a:p>
                <a:r>
                  <a:rPr lang="en-US" dirty="0"/>
                  <a:t>                               L.H.S of P(0) =     </a:t>
                </a:r>
                <a:r>
                  <a:rPr lang="en-US" sz="2000" dirty="0"/>
                  <a:t>        </a:t>
                </a:r>
                <a:r>
                  <a:rPr lang="en-US" dirty="0"/>
                  <a:t>    =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  <a:p>
                <a:r>
                  <a:rPr lang="en-US" dirty="0"/>
                  <a:t>                               </a:t>
                </a:r>
                <a:endParaRPr lang="en-US" dirty="0"/>
              </a:p>
              <a:p>
                <a:r>
                  <a:rPr lang="en-US" dirty="0"/>
                  <a:t>                              R.H.S of P(0) =                                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       So L.H.S = R.H.S of P(0).Hence P(0) is true</a:t>
                </a:r>
                <a:endParaRPr lang="en-US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616271"/>
                <a:ext cx="5486400" cy="2954655"/>
              </a:xfrm>
              <a:prstGeom prst="rect">
                <a:avLst/>
              </a:prstGeom>
              <a:blipFill rotWithShape="1">
                <a:blip r:embed="rId1"/>
                <a:stretch>
                  <a:fillRect t="-20" b="20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36666" t="38143" r="14166" b="45553"/>
          <a:stretch>
            <a:fillRect/>
          </a:stretch>
        </p:blipFill>
        <p:spPr>
          <a:xfrm>
            <a:off x="381000" y="1828799"/>
            <a:ext cx="8361212" cy="15588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092197" y="4488248"/>
                <a:ext cx="5514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197" y="4488248"/>
                <a:ext cx="55143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7" t="-18" r="-3823" b="126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39167" t="55103" r="35000" b="33695"/>
          <a:stretch>
            <a:fillRect/>
          </a:stretch>
        </p:blipFill>
        <p:spPr>
          <a:xfrm>
            <a:off x="4092197" y="4841730"/>
            <a:ext cx="4520053" cy="1101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1;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0" y="1752600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010400" y="2283397"/>
            <a:ext cx="8382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2895600"/>
            <a:ext cx="3865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Consider LHS of above equation (2)</a:t>
            </a:r>
            <a:endParaRPr lang="en-US" dirty="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322006" y="917377"/>
                <a:ext cx="5307394" cy="592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+…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06" y="917377"/>
                <a:ext cx="5307394" cy="592470"/>
              </a:xfrm>
              <a:prstGeom prst="rect">
                <a:avLst/>
              </a:prstGeom>
              <a:blipFill rotWithShape="1">
                <a:blip r:embed="rId1"/>
                <a:stretch>
                  <a:fillRect l="-11" t="-74" b="76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322006" y="2091037"/>
                <a:ext cx="5307394" cy="592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+…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006" y="2091037"/>
                <a:ext cx="5307394" cy="592470"/>
              </a:xfrm>
              <a:prstGeom prst="rect">
                <a:avLst/>
              </a:prstGeom>
              <a:blipFill rotWithShape="1">
                <a:blip r:embed="rId2"/>
                <a:stretch>
                  <a:fillRect l="-11" t="-104" b="10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355586" y="3429000"/>
                <a:ext cx="5307394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+…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586" y="3429000"/>
                <a:ext cx="5307394" cy="375872"/>
              </a:xfrm>
              <a:prstGeom prst="rect">
                <a:avLst/>
              </a:prstGeom>
              <a:blipFill rotWithShape="1">
                <a:blip r:embed="rId3"/>
                <a:stretch>
                  <a:fillRect l="-9" r="11" b="-4405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355586" y="4010425"/>
                <a:ext cx="5307394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+…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586" y="4010425"/>
                <a:ext cx="5307394" cy="375872"/>
              </a:xfrm>
              <a:prstGeom prst="rect">
                <a:avLst/>
              </a:prstGeom>
              <a:blipFill rotWithShape="1">
                <a:blip r:embed="rId4"/>
                <a:stretch>
                  <a:fillRect l="-9" t="-2472" r="11" b="94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971800" y="4512930"/>
                <a:ext cx="5307394" cy="592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512930"/>
                <a:ext cx="5307394" cy="592470"/>
              </a:xfrm>
              <a:prstGeom prst="rect">
                <a:avLst/>
              </a:prstGeom>
              <a:blipFill rotWithShape="1">
                <a:blip r:embed="rId5"/>
                <a:stretch>
                  <a:fillRect t="-105" r="1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918147" y="5349105"/>
                <a:ext cx="5307394" cy="592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147" y="5349105"/>
                <a:ext cx="5307394" cy="592470"/>
              </a:xfrm>
              <a:prstGeom prst="rect">
                <a:avLst/>
              </a:prstGeom>
              <a:blipFill rotWithShape="1">
                <a:blip r:embed="rId6"/>
                <a:stretch>
                  <a:fillRect l="-6" t="-84" r="7" b="8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71800" y="6068208"/>
                <a:ext cx="5307394" cy="592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6068208"/>
                <a:ext cx="5307394" cy="592470"/>
              </a:xfrm>
              <a:prstGeom prst="rect">
                <a:avLst/>
              </a:prstGeom>
              <a:blipFill rotWithShape="1">
                <a:blip r:embed="rId7"/>
                <a:stretch>
                  <a:fillRect t="-25" r="1" b="28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44036" grpId="0" autoUpdateAnimBg="0"/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600200" y="457200"/>
                <a:ext cx="5307394" cy="592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57200"/>
                <a:ext cx="5307394" cy="592470"/>
              </a:xfrm>
              <a:prstGeom prst="rect">
                <a:avLst/>
              </a:prstGeom>
              <a:blipFill rotWithShape="1">
                <a:blip r:embed="rId1"/>
                <a:stretch>
                  <a:fillRect r="1" b="3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614407" y="1371600"/>
                <a:ext cx="5307394" cy="7463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07" y="1371600"/>
                <a:ext cx="5307394" cy="746358"/>
              </a:xfrm>
              <a:prstGeom prst="rect">
                <a:avLst/>
              </a:prstGeom>
              <a:blipFill rotWithShape="1">
                <a:blip r:embed="rId2"/>
                <a:stretch>
                  <a:fillRect l="-4" r="6" b="31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 flipH="1">
            <a:off x="2667000" y="1371600"/>
            <a:ext cx="5334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562600" y="1371600"/>
            <a:ext cx="5334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614407" y="2645188"/>
                <a:ext cx="5307394" cy="7463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07" y="2645188"/>
                <a:ext cx="5307394" cy="746358"/>
              </a:xfrm>
              <a:prstGeom prst="rect">
                <a:avLst/>
              </a:prstGeom>
              <a:blipFill rotWithShape="1">
                <a:blip r:embed="rId3"/>
                <a:stretch>
                  <a:fillRect l="-4" t="-55" r="6" b="1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334000" y="30183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= R.H.S of 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8719" y="3964942"/>
            <a:ext cx="7046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  <a:sym typeface="Symbol" panose="05050102010706020507" pitchFamily="18" charset="2"/>
              </a:rPr>
              <a:t>Hence P(k+1) is true and consequently by mathematical induction the given propositional function is true for all integers n</a:t>
            </a:r>
            <a:r>
              <a:rPr kumimoji="0" lang="en-US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0.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MS Mincho" pitchFamily="49" charset="-128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60338"/>
            <a:ext cx="7772400" cy="1173162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7: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241312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600" dirty="0"/>
              <a:t>Use Mathematical Induction to prove the inequality </a:t>
            </a:r>
            <a:endParaRPr lang="en-US" sz="3600" dirty="0"/>
          </a:p>
          <a:p>
            <a:pPr>
              <a:buNone/>
            </a:pPr>
            <a:r>
              <a:rPr lang="en-US" sz="8400" dirty="0"/>
              <a:t>	</a:t>
            </a:r>
            <a:r>
              <a:rPr lang="en-US" sz="8400" b="1" dirty="0"/>
              <a:t>n &lt; 2</a:t>
            </a:r>
            <a:r>
              <a:rPr lang="en-US" sz="8400" b="1" baseline="30000" dirty="0"/>
              <a:t>n</a:t>
            </a:r>
            <a:endParaRPr lang="en-US" sz="8400" b="1" baseline="30000" dirty="0"/>
          </a:p>
          <a:p>
            <a:pPr>
              <a:buNone/>
            </a:pPr>
            <a:r>
              <a:rPr lang="en-US" sz="8400" dirty="0"/>
              <a:t> </a:t>
            </a:r>
            <a:r>
              <a:rPr lang="en-US" sz="4400" dirty="0"/>
              <a:t>for all positive integers n. </a:t>
            </a:r>
            <a:endParaRPr lang="en-US" b="1" u="sng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200" b="1" u="sng" dirty="0">
                <a:solidFill>
                  <a:srgbClr val="FF0000"/>
                </a:solidFill>
              </a:rPr>
              <a:t>SOLUTION:</a:t>
            </a:r>
            <a:endParaRPr lang="en-US" sz="2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 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914400" y="3616271"/>
            <a:ext cx="6858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Basis Step:  </a:t>
            </a:r>
            <a:endParaRPr lang="en-US" dirty="0"/>
          </a:p>
          <a:p>
            <a:r>
              <a:rPr lang="en-US" sz="2400" dirty="0"/>
              <a:t>P (1) is true, because 1 &lt; 2</a:t>
            </a:r>
            <a:r>
              <a:rPr lang="en-US" sz="2400" baseline="30000" dirty="0"/>
              <a:t>1</a:t>
            </a:r>
            <a:r>
              <a:rPr lang="en-US" sz="2400" dirty="0"/>
              <a:t> = 2. </a:t>
            </a:r>
            <a:endParaRPr lang="en-US" sz="2400" dirty="0"/>
          </a:p>
          <a:p>
            <a:r>
              <a:rPr lang="en-US" sz="2400" dirty="0"/>
              <a:t>	This completes the basis step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1;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3992" y="1569132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010400" y="2283397"/>
            <a:ext cx="8382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2667000"/>
            <a:ext cx="190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Taking L.H.S of eq 2</a:t>
            </a:r>
            <a:endParaRPr lang="en-US" sz="2400" baseline="30000" dirty="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90270" y="1117766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&lt; 2</a:t>
            </a:r>
            <a:r>
              <a:rPr lang="en-US" sz="2400" baseline="30000" dirty="0"/>
              <a:t>k</a:t>
            </a:r>
            <a:endParaRPr lang="en-US" sz="2400" baseline="30000" dirty="0"/>
          </a:p>
        </p:txBody>
      </p:sp>
      <p:sp>
        <p:nvSpPr>
          <p:cNvPr id="2" name="TextBox 1"/>
          <p:cNvSpPr txBox="1"/>
          <p:nvPr/>
        </p:nvSpPr>
        <p:spPr>
          <a:xfrm>
            <a:off x="1169606" y="2229530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&lt; 2</a:t>
            </a:r>
            <a:r>
              <a:rPr lang="en-US" sz="2400" baseline="30000" dirty="0"/>
              <a:t>k+1</a:t>
            </a:r>
            <a:endParaRPr lang="en-US" sz="2400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1636400" y="3048000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</a:t>
            </a:r>
            <a:endParaRPr lang="en-US" sz="2400" baseline="30000" dirty="0"/>
          </a:p>
        </p:txBody>
      </p:sp>
      <p:sp>
        <p:nvSpPr>
          <p:cNvPr id="17" name="TextBox 16"/>
          <p:cNvSpPr txBox="1"/>
          <p:nvPr/>
        </p:nvSpPr>
        <p:spPr>
          <a:xfrm>
            <a:off x="1636400" y="3996164"/>
            <a:ext cx="56026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≤ 2</a:t>
            </a:r>
            <a:r>
              <a:rPr lang="en-US" sz="2400" baseline="30000" dirty="0"/>
              <a:t>k</a:t>
            </a:r>
            <a:r>
              <a:rPr lang="en-US" sz="2400" dirty="0"/>
              <a:t> + 2</a:t>
            </a:r>
            <a:r>
              <a:rPr lang="en-US" sz="2400" baseline="30000" dirty="0"/>
              <a:t>k    </a:t>
            </a:r>
            <a:r>
              <a:rPr lang="en-US" sz="2400" dirty="0"/>
              <a:t>since1 ≤ 2</a:t>
            </a:r>
            <a:r>
              <a:rPr lang="en-US" sz="2400" baseline="30000" dirty="0"/>
              <a:t>k</a:t>
            </a:r>
            <a:endParaRPr lang="en-US" sz="2400" baseline="30000" dirty="0"/>
          </a:p>
          <a:p>
            <a:endParaRPr lang="en-US" sz="2400" baseline="30000" dirty="0"/>
          </a:p>
        </p:txBody>
      </p:sp>
      <p:sp>
        <p:nvSpPr>
          <p:cNvPr id="18" name="TextBox 17"/>
          <p:cNvSpPr txBox="1"/>
          <p:nvPr/>
        </p:nvSpPr>
        <p:spPr>
          <a:xfrm>
            <a:off x="1672563" y="4501891"/>
            <a:ext cx="56026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≤ 2.2</a:t>
            </a:r>
            <a:r>
              <a:rPr lang="en-US" sz="2400" baseline="30000" dirty="0"/>
              <a:t>k</a:t>
            </a:r>
            <a:r>
              <a:rPr lang="en-US" sz="2400" dirty="0"/>
              <a:t> </a:t>
            </a:r>
            <a:endParaRPr lang="en-US" sz="2400" baseline="30000" dirty="0"/>
          </a:p>
        </p:txBody>
      </p:sp>
      <p:sp>
        <p:nvSpPr>
          <p:cNvPr id="19" name="TextBox 18"/>
          <p:cNvSpPr txBox="1"/>
          <p:nvPr/>
        </p:nvSpPr>
        <p:spPr>
          <a:xfrm>
            <a:off x="1770700" y="5028920"/>
            <a:ext cx="56026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≤ 2</a:t>
            </a:r>
            <a:r>
              <a:rPr lang="en-US" sz="2400" baseline="30000" dirty="0"/>
              <a:t>k+1</a:t>
            </a:r>
            <a:r>
              <a:rPr lang="en-US" sz="2400" dirty="0"/>
              <a:t> </a:t>
            </a:r>
            <a:endParaRPr lang="en-US" sz="2400" baseline="30000" dirty="0"/>
          </a:p>
        </p:txBody>
      </p:sp>
      <p:sp>
        <p:nvSpPr>
          <p:cNvPr id="21" name="TextBox 20"/>
          <p:cNvSpPr txBox="1"/>
          <p:nvPr/>
        </p:nvSpPr>
        <p:spPr>
          <a:xfrm>
            <a:off x="693992" y="5588013"/>
            <a:ext cx="8221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shows that P (k + 1) is true, namely, that k + 1 &lt; 2k+1, based on the assumption that P (k) is true. 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93992" y="6258883"/>
            <a:ext cx="730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have shown that n &lt; 2n is true for all positive integers n.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00200" y="3505200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&lt; 2</a:t>
            </a:r>
            <a:r>
              <a:rPr lang="en-US" sz="2400" baseline="30000" dirty="0"/>
              <a:t>k</a:t>
            </a:r>
            <a:r>
              <a:rPr lang="en-US" sz="2400" dirty="0"/>
              <a:t> +1</a:t>
            </a:r>
            <a:endParaRPr lang="en-US" sz="2400" baseline="30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44036" grpId="0" autoUpdateAnimBg="0"/>
      <p:bldP spid="1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3992" y="1569132"/>
            <a:ext cx="2247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ANOTHER METHOD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2895600"/>
            <a:ext cx="2765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add 1 to both sides of  </a:t>
            </a:r>
            <a:r>
              <a:rPr lang="en-US" sz="2400" dirty="0"/>
              <a:t>k &lt; 2</a:t>
            </a:r>
            <a:r>
              <a:rPr lang="en-US" sz="2400" baseline="30000" dirty="0"/>
              <a:t>k</a:t>
            </a:r>
            <a:endParaRPr lang="en-US" sz="2400" baseline="30000" dirty="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636400" y="3519599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&lt; 2</a:t>
            </a:r>
            <a:r>
              <a:rPr lang="en-US" sz="2400" baseline="30000" dirty="0"/>
              <a:t>k</a:t>
            </a:r>
            <a:r>
              <a:rPr lang="en-US" sz="2400" dirty="0"/>
              <a:t> +1</a:t>
            </a:r>
            <a:endParaRPr lang="en-US" sz="2400" baseline="30000" dirty="0"/>
          </a:p>
        </p:txBody>
      </p:sp>
      <p:sp>
        <p:nvSpPr>
          <p:cNvPr id="17" name="TextBox 16"/>
          <p:cNvSpPr txBox="1"/>
          <p:nvPr/>
        </p:nvSpPr>
        <p:spPr>
          <a:xfrm>
            <a:off x="1636400" y="3996164"/>
            <a:ext cx="56026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≤ 2</a:t>
            </a:r>
            <a:r>
              <a:rPr lang="en-US" sz="2400" baseline="30000" dirty="0"/>
              <a:t>k</a:t>
            </a:r>
            <a:r>
              <a:rPr lang="en-US" sz="2400" dirty="0"/>
              <a:t> + 2</a:t>
            </a:r>
            <a:r>
              <a:rPr lang="en-US" sz="2400" baseline="30000" dirty="0"/>
              <a:t>k    </a:t>
            </a:r>
            <a:r>
              <a:rPr lang="en-US" sz="2400" dirty="0"/>
              <a:t>since1 ≤ 2</a:t>
            </a:r>
            <a:r>
              <a:rPr lang="en-US" sz="2400" baseline="30000" dirty="0"/>
              <a:t>k</a:t>
            </a:r>
            <a:endParaRPr lang="en-US" sz="2400" baseline="30000" dirty="0"/>
          </a:p>
          <a:p>
            <a:endParaRPr lang="en-US" sz="2400" baseline="30000" dirty="0"/>
          </a:p>
        </p:txBody>
      </p:sp>
      <p:sp>
        <p:nvSpPr>
          <p:cNvPr id="18" name="TextBox 17"/>
          <p:cNvSpPr txBox="1"/>
          <p:nvPr/>
        </p:nvSpPr>
        <p:spPr>
          <a:xfrm>
            <a:off x="1672563" y="4501891"/>
            <a:ext cx="56026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≤ 2.2</a:t>
            </a:r>
            <a:r>
              <a:rPr lang="en-US" sz="2400" baseline="30000" dirty="0"/>
              <a:t>k</a:t>
            </a:r>
            <a:r>
              <a:rPr lang="en-US" sz="2400" dirty="0"/>
              <a:t> </a:t>
            </a:r>
            <a:endParaRPr lang="en-US" sz="2400" baseline="30000" dirty="0"/>
          </a:p>
        </p:txBody>
      </p:sp>
      <p:sp>
        <p:nvSpPr>
          <p:cNvPr id="19" name="TextBox 18"/>
          <p:cNvSpPr txBox="1"/>
          <p:nvPr/>
        </p:nvSpPr>
        <p:spPr>
          <a:xfrm>
            <a:off x="1770700" y="5028920"/>
            <a:ext cx="56026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k +1 ≤ 2</a:t>
            </a:r>
            <a:r>
              <a:rPr lang="en-US" sz="2400" baseline="30000" dirty="0"/>
              <a:t>k+1</a:t>
            </a:r>
            <a:r>
              <a:rPr lang="en-US" sz="2400" dirty="0"/>
              <a:t> </a:t>
            </a:r>
            <a:endParaRPr lang="en-US" sz="2400" baseline="30000" dirty="0"/>
          </a:p>
        </p:txBody>
      </p:sp>
      <p:sp>
        <p:nvSpPr>
          <p:cNvPr id="21" name="TextBox 20"/>
          <p:cNvSpPr txBox="1"/>
          <p:nvPr/>
        </p:nvSpPr>
        <p:spPr>
          <a:xfrm>
            <a:off x="693992" y="5588013"/>
            <a:ext cx="8221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shows that P (k + 1) is true, namely, that k + 1 &lt; 2k+1, based on the assumption that P (k) is true. 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93992" y="6258883"/>
            <a:ext cx="730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have shown that n &lt; 2n is true for all positive integers n.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5509858" y="2876736"/>
            <a:ext cx="3543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Multiplying 2 to both sides of  </a:t>
            </a:r>
            <a:r>
              <a:rPr lang="en-US" sz="2400" dirty="0">
                <a:solidFill>
                  <a:srgbClr val="00B0F0"/>
                </a:solidFill>
              </a:rPr>
              <a:t>k &lt; 2</a:t>
            </a:r>
            <a:r>
              <a:rPr lang="en-US" sz="2400" baseline="30000" dirty="0">
                <a:solidFill>
                  <a:srgbClr val="00B0F0"/>
                </a:solidFill>
              </a:rPr>
              <a:t>k</a:t>
            </a:r>
            <a:endParaRPr lang="en-US" sz="2400" baseline="30000" dirty="0">
              <a:solidFill>
                <a:srgbClr val="00B0F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6000" y="3482531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2k &lt; 2.2</a:t>
            </a:r>
            <a:r>
              <a:rPr lang="en-US" sz="2400" baseline="30000" dirty="0">
                <a:solidFill>
                  <a:srgbClr val="00B0F0"/>
                </a:solidFill>
              </a:rPr>
              <a:t>k</a:t>
            </a:r>
            <a:endParaRPr lang="en-US" sz="2400" baseline="30000" dirty="0">
              <a:solidFill>
                <a:srgbClr val="00B0F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96000" y="3942798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k + k &lt; 2</a:t>
            </a:r>
            <a:r>
              <a:rPr lang="en-US" sz="2400" baseline="30000" dirty="0">
                <a:solidFill>
                  <a:srgbClr val="00B0F0"/>
                </a:solidFill>
              </a:rPr>
              <a:t>k+1</a:t>
            </a:r>
            <a:endParaRPr lang="en-US" sz="2400" baseline="30000" dirty="0">
              <a:solidFill>
                <a:srgbClr val="00B0F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96000" y="4469827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k + 1 &lt; 2</a:t>
            </a:r>
            <a:r>
              <a:rPr lang="en-US" sz="2400" baseline="30000" dirty="0">
                <a:solidFill>
                  <a:srgbClr val="00B0F0"/>
                </a:solidFill>
              </a:rPr>
              <a:t>k+1  </a:t>
            </a:r>
            <a:r>
              <a:rPr lang="en-US" sz="2400" dirty="0">
                <a:solidFill>
                  <a:srgbClr val="00B0F0"/>
                </a:solidFill>
              </a:rPr>
              <a:t>since  1≤ k</a:t>
            </a:r>
            <a:r>
              <a:rPr lang="en-US" sz="2400" baseline="30000" dirty="0">
                <a:solidFill>
                  <a:srgbClr val="00B0F0"/>
                </a:solidFill>
              </a:rPr>
              <a:t>       </a:t>
            </a:r>
            <a:endParaRPr lang="en-US" sz="2400" baseline="30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0" grpId="0" autoUpdateAnimBg="0"/>
      <p:bldP spid="2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60338"/>
            <a:ext cx="7772400" cy="1173162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8: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61950" y="1333500"/>
            <a:ext cx="8496300" cy="14334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Use mathematical induction to prove that </a:t>
            </a:r>
            <a:r>
              <a:rPr lang="en-US" sz="2800" b="1" dirty="0"/>
              <a:t>2</a:t>
            </a:r>
            <a:r>
              <a:rPr lang="en-US" sz="2800" b="1" baseline="30000" dirty="0"/>
              <a:t>n</a:t>
            </a:r>
            <a:r>
              <a:rPr lang="en-US" sz="2800" b="1" dirty="0"/>
              <a:t> &lt; n! </a:t>
            </a:r>
            <a:r>
              <a:rPr lang="en-US" sz="2800" dirty="0"/>
              <a:t>for every integer n with n ≥ 4. (Note that this inequality is false for n = 1, 2, and 3.) </a:t>
            </a:r>
            <a:endParaRPr lang="en-US" sz="2800" dirty="0"/>
          </a:p>
          <a:p>
            <a:pPr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SOLUTION: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3616271"/>
            <a:ext cx="6858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Basis Step:  </a:t>
            </a:r>
            <a:endParaRPr lang="en-US" dirty="0"/>
          </a:p>
          <a:p>
            <a:r>
              <a:rPr lang="en-US" sz="2400" dirty="0"/>
              <a:t>To prove the inequality for n ≥ 4 requires that the basis step be P (4). </a:t>
            </a:r>
            <a:endParaRPr lang="en-US" sz="2400" dirty="0"/>
          </a:p>
          <a:p>
            <a:r>
              <a:rPr lang="en-US" sz="2400" dirty="0"/>
              <a:t>P (4) is true, because 2</a:t>
            </a:r>
            <a:r>
              <a:rPr lang="en-US" sz="2400" baseline="30000" dirty="0"/>
              <a:t>4</a:t>
            </a:r>
            <a:r>
              <a:rPr lang="en-US" sz="2400" dirty="0"/>
              <a:t> &lt; 4! </a:t>
            </a:r>
            <a:endParaRPr lang="en-US" sz="2400" dirty="0"/>
          </a:p>
          <a:p>
            <a:r>
              <a:rPr lang="en-US" sz="2400" dirty="0"/>
              <a:t>                                  16 &lt; 24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1;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3992" y="1569132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010400" y="2283397"/>
            <a:ext cx="8382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90270" y="1117766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k</a:t>
            </a:r>
            <a:r>
              <a:rPr lang="en-US" sz="2400" dirty="0"/>
              <a:t> &lt; k!</a:t>
            </a:r>
            <a:endParaRPr lang="en-US" sz="2400" baseline="30000" dirty="0"/>
          </a:p>
        </p:txBody>
      </p:sp>
      <p:sp>
        <p:nvSpPr>
          <p:cNvPr id="8" name="TextBox 7"/>
          <p:cNvSpPr txBox="1"/>
          <p:nvPr/>
        </p:nvSpPr>
        <p:spPr>
          <a:xfrm>
            <a:off x="1403003" y="2287986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k+1</a:t>
            </a:r>
            <a:r>
              <a:rPr lang="en-US" sz="2400" dirty="0"/>
              <a:t> &lt; (k+1)!</a:t>
            </a:r>
            <a:endParaRPr lang="en-US" sz="2400" baseline="30000" dirty="0"/>
          </a:p>
        </p:txBody>
      </p:sp>
      <p:sp>
        <p:nvSpPr>
          <p:cNvPr id="11" name="TextBox 10"/>
          <p:cNvSpPr txBox="1"/>
          <p:nvPr/>
        </p:nvSpPr>
        <p:spPr>
          <a:xfrm>
            <a:off x="1403002" y="3277353"/>
            <a:ext cx="7543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2</a:t>
            </a:r>
            <a:r>
              <a:rPr lang="en-US" sz="2400" baseline="30000" dirty="0"/>
              <a:t>k+1</a:t>
            </a:r>
            <a:r>
              <a:rPr lang="en-US" sz="2400" dirty="0"/>
              <a:t> = 2 · 2</a:t>
            </a:r>
            <a:r>
              <a:rPr lang="en-US" sz="2400" baseline="30000" dirty="0"/>
              <a:t>k</a:t>
            </a:r>
            <a:r>
              <a:rPr lang="en-US" sz="2400" dirty="0"/>
              <a:t> 			by definition of exponent </a:t>
            </a:r>
            <a:endParaRPr lang="en-US" sz="2400" dirty="0"/>
          </a:p>
          <a:p>
            <a:r>
              <a:rPr lang="en-US" sz="2400" dirty="0"/>
              <a:t>         &lt; 2 · k! 			by the inductive hypothesis </a:t>
            </a:r>
            <a:endParaRPr lang="en-US" sz="2400" dirty="0"/>
          </a:p>
          <a:p>
            <a:r>
              <a:rPr lang="en-US" sz="2400" dirty="0"/>
              <a:t>         &lt; (k + 1)k!		because 2 &lt; k + 1</a:t>
            </a:r>
            <a:endParaRPr lang="en-US" sz="2400" dirty="0"/>
          </a:p>
          <a:p>
            <a:r>
              <a:rPr lang="en-US" sz="2400" dirty="0"/>
              <a:t>         = (k + 1)! 	              by definition of factorial function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5028963"/>
            <a:ext cx="784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shows that P (k + 1) is true when P (k) is true. This completes the inductive step of the proof.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11078" y="5889503"/>
            <a:ext cx="7570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 is, we have proved that 2n &lt; n! is true for all integers n with n ≥ 4.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4403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9: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2590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Use Mathematical Induction to prove that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          </a:t>
            </a:r>
            <a:endParaRPr lang="en-US" dirty="0"/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SOLUTION: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dirty="0"/>
              <a:t>Let P(n) denotes the given equation</a:t>
            </a:r>
            <a:endParaRPr lang="en-US" sz="2000" dirty="0"/>
          </a:p>
          <a:p>
            <a:pPr>
              <a:buNone/>
            </a:pPr>
            <a:r>
              <a:rPr lang="en-US" dirty="0"/>
              <a:t> 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33400" y="3657600"/>
            <a:ext cx="67818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Basis Step:  </a:t>
            </a:r>
            <a:endParaRPr lang="en-US" dirty="0"/>
          </a:p>
          <a:p>
            <a:pPr lvl="0"/>
            <a:r>
              <a:rPr lang="en-US" b="1" dirty="0"/>
              <a:t> </a:t>
            </a:r>
            <a:r>
              <a:rPr lang="en-US" dirty="0"/>
              <a:t>To prove the formula for n = 0, we need to show that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Now, L.H.S =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sz="2000" dirty="0"/>
              <a:t>R.H.S = 0·2</a:t>
            </a:r>
            <a:r>
              <a:rPr lang="en-US" sz="2000" baseline="30000" dirty="0"/>
              <a:t>2</a:t>
            </a:r>
            <a:r>
              <a:rPr lang="en-US" sz="2000" dirty="0"/>
              <a:t> + 2 = 0 + 2 = 2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So L.H.S = R.H.S of P(0).Hence P(0) is true</a:t>
            </a:r>
            <a:endParaRPr lang="en-US" dirty="0"/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1219200" y="1905000"/>
          <a:ext cx="5638800" cy="568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2895600" imgH="292100" progId="">
                  <p:embed/>
                </p:oleObj>
              </mc:Choice>
              <mc:Fallback>
                <p:oleObj name="" r:id="rId1" imgW="2895600" imgH="2921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05000"/>
                        <a:ext cx="5638800" cy="5688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1752600" y="4267201"/>
          <a:ext cx="3429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320165" imgH="292100" progId="">
                  <p:embed/>
                </p:oleObj>
              </mc:Choice>
              <mc:Fallback>
                <p:oleObj name="" r:id="rId3" imgW="1320165" imgH="2921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267201"/>
                        <a:ext cx="34290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3276599" y="4800599"/>
          <a:ext cx="2295943" cy="533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1257300" imgH="292100" progId="">
                  <p:embed/>
                </p:oleObj>
              </mc:Choice>
              <mc:Fallback>
                <p:oleObj name="" r:id="rId5" imgW="1257300" imgH="2921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599" y="4800599"/>
                        <a:ext cx="2295943" cy="533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0</a:t>
            </a:r>
            <a:r>
              <a:rPr lang="en-US" sz="2000" dirty="0"/>
              <a:t>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0" y="1752600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8200" y="2895600"/>
            <a:ext cx="3865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Consider LHS of above equation (2)</a:t>
            </a:r>
            <a:endParaRPr lang="en-US" dirty="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1143000" y="914400"/>
          <a:ext cx="3276600" cy="691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384300" imgH="292100" progId="">
                  <p:embed/>
                </p:oleObj>
              </mc:Choice>
              <mc:Fallback>
                <p:oleObj name="" r:id="rId1" imgW="1384300" imgH="2921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914400"/>
                        <a:ext cx="3276600" cy="6913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1066800" y="2209800"/>
          <a:ext cx="6400800" cy="64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289300" imgH="330200" progId="">
                  <p:embed/>
                </p:oleObj>
              </mc:Choice>
              <mc:Fallback>
                <p:oleObj name="" r:id="rId3" imgW="3289300" imgH="3302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09800"/>
                        <a:ext cx="6400800" cy="6425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990600" y="3276600"/>
          <a:ext cx="43434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2667000" imgH="1778000" progId="">
                  <p:embed/>
                </p:oleObj>
              </mc:Choice>
              <mc:Fallback>
                <p:oleObj name="" r:id="rId5" imgW="2667000" imgH="17780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76600"/>
                        <a:ext cx="4343400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381000" y="6211669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Hence the inductive step is proved as well. Accordingly by mathematical induction the given formula is true for all integers n</a:t>
            </a:r>
            <a:r>
              <a:rPr lang="en-US" dirty="0">
                <a:sym typeface="Symbol" panose="05050102010706020507"/>
              </a:rPr>
              <a:t></a:t>
            </a:r>
            <a:r>
              <a:rPr lang="en-US" dirty="0"/>
              <a:t>0.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10" grpId="0" autoUpdateAnimBg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1752600"/>
            <a:ext cx="777240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Harmonic Progression (HP) is defined as a sequence of real numbers which is determined by taking the reciprocals of the arithmetic progression that does not contain 0.  </a:t>
            </a:r>
            <a:endParaRPr lang="en-US" sz="2400" b="0" i="0" dirty="0">
              <a:solidFill>
                <a:srgbClr val="44444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example, the sequence a, b, c, d, …is considered as an arithmetic progression; the harmonic progression can be written as 1/a, 1/b, 1/c, 1/d, …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60338"/>
            <a:ext cx="7772400" cy="1173162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EXAMPLE 10: </a:t>
            </a:r>
            <a:r>
              <a:rPr lang="en-US" dirty="0">
                <a:solidFill>
                  <a:schemeClr val="bg1"/>
                </a:solidFill>
              </a:rPr>
              <a:t>An Inequality for Harmonic Numbers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23441" y="5638800"/>
            <a:ext cx="6858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Basis Step:  </a:t>
            </a:r>
            <a:endParaRPr lang="en-US" dirty="0"/>
          </a:p>
          <a:p>
            <a:r>
              <a:rPr lang="en-US" sz="2400" dirty="0"/>
              <a:t>P (0) is true, because H</a:t>
            </a:r>
            <a:r>
              <a:rPr lang="en-US" sz="2400" baseline="-25000" dirty="0"/>
              <a:t>2</a:t>
            </a:r>
            <a:r>
              <a:rPr lang="en-US" sz="2400" baseline="30000" dirty="0"/>
              <a:t>0</a:t>
            </a:r>
            <a:r>
              <a:rPr lang="en-US" sz="2400" baseline="-25000" dirty="0"/>
              <a:t> </a:t>
            </a:r>
            <a:r>
              <a:rPr lang="en-US" sz="2400" dirty="0"/>
              <a:t>= H1 = 1 ≥ 1 + 0/ 2 .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39999" t="35177" r="10001" b="21839"/>
          <a:stretch>
            <a:fillRect/>
          </a:stretch>
        </p:blipFill>
        <p:spPr>
          <a:xfrm>
            <a:off x="438099" y="1333500"/>
            <a:ext cx="8671030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1;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3992" y="1569132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010400" y="2283397"/>
            <a:ext cx="8382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23003" y="1178106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baseline="30000" dirty="0"/>
              <a:t>k</a:t>
            </a:r>
            <a:r>
              <a:rPr lang="en-US" sz="2400" dirty="0"/>
              <a:t> ≥ 1 + k /2</a:t>
            </a:r>
            <a:endParaRPr lang="en-US" sz="2400" baseline="30000" dirty="0"/>
          </a:p>
        </p:txBody>
      </p:sp>
      <p:sp>
        <p:nvSpPr>
          <p:cNvPr id="2" name="TextBox 1"/>
          <p:cNvSpPr txBox="1"/>
          <p:nvPr/>
        </p:nvSpPr>
        <p:spPr>
          <a:xfrm>
            <a:off x="1403003" y="2210862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baseline="30000" dirty="0"/>
              <a:t>k+1</a:t>
            </a:r>
            <a:r>
              <a:rPr lang="en-US" sz="2400" dirty="0"/>
              <a:t> ≥ 1 +( k+1) /2</a:t>
            </a:r>
            <a:endParaRPr lang="en-US" sz="2400" baseline="30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l="44167" t="38862" r="6667" b="18075"/>
          <a:stretch>
            <a:fillRect/>
          </a:stretch>
        </p:blipFill>
        <p:spPr>
          <a:xfrm>
            <a:off x="893705" y="2624189"/>
            <a:ext cx="7786053" cy="38340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3705" y="6407036"/>
            <a:ext cx="876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inequality H</a:t>
            </a:r>
            <a:r>
              <a:rPr lang="en-US" baseline="-25000" dirty="0"/>
              <a:t>2</a:t>
            </a:r>
            <a:r>
              <a:rPr lang="en-US" baseline="30000" dirty="0"/>
              <a:t>n</a:t>
            </a:r>
            <a:r>
              <a:rPr lang="en-US" dirty="0"/>
              <a:t> ≥ 1 + n /2 for the harmonic numbers holds for all nonnegative integers n.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4403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543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2.Inductive Step</a:t>
            </a:r>
            <a:r>
              <a:rPr lang="en-US" dirty="0"/>
              <a:t>:  </a:t>
            </a:r>
            <a:endParaRPr lang="en-US" dirty="0"/>
          </a:p>
          <a:p>
            <a:r>
              <a:rPr lang="en-US" sz="2000" dirty="0"/>
              <a:t>      Suppose P(k) is true for some integer k </a:t>
            </a:r>
            <a:r>
              <a:rPr lang="en-US" sz="2000" dirty="0">
                <a:sym typeface="Symbol" panose="05050102010706020507"/>
              </a:rPr>
              <a:t></a:t>
            </a:r>
            <a:r>
              <a:rPr lang="en-US" sz="2000" dirty="0"/>
              <a:t>1;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77000" y="1219200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3992" y="1569132"/>
            <a:ext cx="3012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prove P(k+1) is true; i.e.;</a:t>
            </a:r>
            <a:endParaRPr lang="en-US" dirty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010400" y="2283397"/>
            <a:ext cx="8382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ja-JP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itchFamily="49" charset="-128"/>
                <a:cs typeface="Times New Roman" panose="02020603050405020304" pitchFamily="18" charset="0"/>
              </a:rPr>
              <a:t>(2)</a:t>
            </a: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23003" y="1178106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baseline="30000" dirty="0"/>
              <a:t>k</a:t>
            </a:r>
            <a:r>
              <a:rPr lang="en-US" sz="2400" dirty="0"/>
              <a:t> ≥ 1 + k /2</a:t>
            </a:r>
            <a:endParaRPr lang="en-US" sz="2400" baseline="30000" dirty="0"/>
          </a:p>
        </p:txBody>
      </p:sp>
      <p:sp>
        <p:nvSpPr>
          <p:cNvPr id="2" name="TextBox 1"/>
          <p:cNvSpPr txBox="1"/>
          <p:nvPr/>
        </p:nvSpPr>
        <p:spPr>
          <a:xfrm>
            <a:off x="1403003" y="2210862"/>
            <a:ext cx="530739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baseline="30000" dirty="0"/>
              <a:t>k+1</a:t>
            </a:r>
            <a:r>
              <a:rPr lang="en-US" sz="2400" dirty="0"/>
              <a:t> ≥ 1 +( k+1) /2</a:t>
            </a:r>
            <a:endParaRPr lang="en-US" sz="2400" baseline="30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l="44167" t="38862" r="6667" b="40422"/>
          <a:stretch>
            <a:fillRect/>
          </a:stretch>
        </p:blipFill>
        <p:spPr>
          <a:xfrm>
            <a:off x="893705" y="2624190"/>
            <a:ext cx="7786053" cy="18443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20833" t="27767" r="30833" b="64744"/>
          <a:stretch>
            <a:fillRect/>
          </a:stretch>
        </p:blipFill>
        <p:spPr>
          <a:xfrm>
            <a:off x="285434" y="5507842"/>
            <a:ext cx="9621808" cy="8381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20833" t="27767" r="55000" b="64744"/>
          <a:stretch>
            <a:fillRect/>
          </a:stretch>
        </p:blipFill>
        <p:spPr>
          <a:xfrm>
            <a:off x="338380" y="4477790"/>
            <a:ext cx="4810911" cy="838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4403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20833" t="27767" r="30833" b="54447"/>
          <a:stretch>
            <a:fillRect/>
          </a:stretch>
        </p:blipFill>
        <p:spPr>
          <a:xfrm>
            <a:off x="305035" y="172277"/>
            <a:ext cx="8470880" cy="175259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44167" t="50844" r="6667" b="18075"/>
          <a:stretch>
            <a:fillRect/>
          </a:stretch>
        </p:blipFill>
        <p:spPr>
          <a:xfrm>
            <a:off x="869473" y="2192989"/>
            <a:ext cx="7786053" cy="27672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1000" y="5791200"/>
            <a:ext cx="876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inequality H</a:t>
            </a:r>
            <a:r>
              <a:rPr lang="en-US" baseline="-25000" dirty="0"/>
              <a:t>2</a:t>
            </a:r>
            <a:r>
              <a:rPr lang="en-US" baseline="30000" dirty="0"/>
              <a:t>n</a:t>
            </a:r>
            <a:r>
              <a:rPr lang="en-US" dirty="0"/>
              <a:t> ≥ 1 + n /2 for the harmonic numbers holds for all nonnegative integers 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S" dirty="0"/>
          </a:p>
          <a:p>
            <a:r>
              <a:rPr lang="en-US" dirty="0"/>
              <a:t>15</a:t>
            </a:r>
            <a:endParaRPr lang="en-US" dirty="0"/>
          </a:p>
          <a:p>
            <a:r>
              <a:rPr lang="en-US" dirty="0"/>
              <a:t>18</a:t>
            </a:r>
            <a:endParaRPr lang="en-US" dirty="0"/>
          </a:p>
          <a:p>
            <a:r>
              <a:rPr lang="en-US" dirty="0"/>
              <a:t>Use Mathematical Induction to prove that</a:t>
            </a:r>
            <a:endParaRPr lang="en-US" dirty="0"/>
          </a:p>
          <a:p>
            <a:pPr>
              <a:buNone/>
            </a:pPr>
            <a:r>
              <a:rPr lang="en-US" dirty="0"/>
              <a:t> 1+3+5+…+(2n -1) = n</a:t>
            </a:r>
            <a:r>
              <a:rPr lang="en-US" baseline="30000" dirty="0"/>
              <a:t>2</a:t>
            </a:r>
            <a:r>
              <a:rPr lang="en-US" dirty="0"/>
              <a:t>     for all integers n </a:t>
            </a:r>
            <a:r>
              <a:rPr lang="en-US" dirty="0">
                <a:sym typeface="Symbol" panose="05050102010706020507"/>
              </a:rPr>
              <a:t></a:t>
            </a:r>
            <a:r>
              <a:rPr lang="en-US" dirty="0"/>
              <a:t>1.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7327</Words>
  <Application>WPS Presentation</Application>
  <PresentationFormat>On-screen Show (4:3)</PresentationFormat>
  <Paragraphs>351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Arial</vt:lpstr>
      <vt:lpstr>SimSun</vt:lpstr>
      <vt:lpstr>Wingdings</vt:lpstr>
      <vt:lpstr>Wingdings 2</vt:lpstr>
      <vt:lpstr>Symbol</vt:lpstr>
      <vt:lpstr>Times New Roman</vt:lpstr>
      <vt:lpstr>MS Mincho</vt:lpstr>
      <vt:lpstr>Yu Gothic</vt:lpstr>
      <vt:lpstr>Symbol</vt:lpstr>
      <vt:lpstr>Perpetua</vt:lpstr>
      <vt:lpstr>Franklin Gothic Book</vt:lpstr>
      <vt:lpstr>Microsoft YaHei</vt:lpstr>
      <vt:lpstr>Arial Unicode MS</vt:lpstr>
      <vt:lpstr>Calibri</vt:lpstr>
      <vt:lpstr>Cambria Math</vt:lpstr>
      <vt:lpstr>Poppins</vt:lpstr>
      <vt:lpstr>PC Senior</vt:lpstr>
      <vt:lpstr>Agency FB</vt:lpstr>
      <vt:lpstr>Arabic Typesetting</vt:lpstr>
      <vt:lpstr>Equity</vt:lpstr>
      <vt:lpstr>Mathematical Induction</vt:lpstr>
      <vt:lpstr>PRINCIPLE OF MATHEMATICAL INDUCTION:</vt:lpstr>
      <vt:lpstr>PowerPoint 演示文稿</vt:lpstr>
      <vt:lpstr>EXAMPLE 1: </vt:lpstr>
      <vt:lpstr>PowerPoint 演示文稿</vt:lpstr>
      <vt:lpstr>EXAMPLE 3: </vt:lpstr>
      <vt:lpstr>PowerPoint 演示文稿</vt:lpstr>
      <vt:lpstr>EXAMPLE 5: </vt:lpstr>
      <vt:lpstr>PowerPoint 演示文稿</vt:lpstr>
      <vt:lpstr>PowerPoint 演示文稿</vt:lpstr>
      <vt:lpstr>EXAMPLE 6: Sums of Geometric Progressions</vt:lpstr>
      <vt:lpstr>PowerPoint 演示文稿</vt:lpstr>
      <vt:lpstr>PowerPoint 演示文稿</vt:lpstr>
      <vt:lpstr>EXAMPLE 7:</vt:lpstr>
      <vt:lpstr>PowerPoint 演示文稿</vt:lpstr>
      <vt:lpstr>PowerPoint 演示文稿</vt:lpstr>
      <vt:lpstr>EXAMPLE 8:</vt:lpstr>
      <vt:lpstr>PowerPoint 演示文稿</vt:lpstr>
      <vt:lpstr>EXAMPLE 9: </vt:lpstr>
      <vt:lpstr>PowerPoint 演示文稿</vt:lpstr>
      <vt:lpstr>PowerPoint 演示文稿</vt:lpstr>
      <vt:lpstr>EXAMPLE 10: An Inequality for Harmonic Numbers</vt:lpstr>
      <vt:lpstr>PowerPoint 演示文稿</vt:lpstr>
      <vt:lpstr>PowerPoint 演示文稿</vt:lpstr>
      <vt:lpstr>PowerPoint 演示文稿</vt:lpstr>
      <vt:lpstr>Exercise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Induction</dc:title>
  <dc:creator>shahjee</dc:creator>
  <cp:lastModifiedBy>Lone_Tuber :/</cp:lastModifiedBy>
  <cp:revision>76</cp:revision>
  <dcterms:created xsi:type="dcterms:W3CDTF">2020-04-29T18:41:00Z</dcterms:created>
  <dcterms:modified xsi:type="dcterms:W3CDTF">2024-12-17T19:26:43Z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E6A5479F88A84E8199FD60EDB60044AE_12</vt:lpwstr>
  </property>
  <property fmtid="{D5CDD505-2E9C-101B-9397-08002B2CF9AE}" pid="3" name="KSOProductBuildVer">
    <vt:lpwstr>2057-12.2.0.19307</vt:lpwstr>
  </property>
</Properties>
</file>