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070" r:id="rId4"/>
  </p:sldMasterIdLst>
  <p:notesMasterIdLst>
    <p:notesMasterId r:id="rId48"/>
  </p:notesMasterIdLst>
  <p:handoutMasterIdLst>
    <p:handoutMasterId r:id="rId49"/>
  </p:handoutMasterIdLst>
  <p:sldIdLst>
    <p:sldId id="256"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95"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2" r:id="rId34"/>
    <p:sldId id="313" r:id="rId35"/>
    <p:sldId id="314" r:id="rId36"/>
    <p:sldId id="315" r:id="rId37"/>
    <p:sldId id="316" r:id="rId38"/>
    <p:sldId id="317" r:id="rId39"/>
    <p:sldId id="318" r:id="rId40"/>
    <p:sldId id="319" r:id="rId41"/>
    <p:sldId id="320" r:id="rId42"/>
    <p:sldId id="323" r:id="rId43"/>
    <p:sldId id="327" r:id="rId44"/>
    <p:sldId id="328" r:id="rId45"/>
    <p:sldId id="329" r:id="rId46"/>
    <p:sldId id="32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8" d="100"/>
          <a:sy n="78" d="100"/>
        </p:scale>
        <p:origin x="54" y="156"/>
      </p:cViewPr>
      <p:guideLst/>
    </p:cSldViewPr>
  </p:slideViewPr>
  <p:notesTextViewPr>
    <p:cViewPr>
      <p:scale>
        <a:sx n="1" d="1"/>
        <a:sy n="1" d="1"/>
      </p:scale>
      <p:origin x="0" y="0"/>
    </p:cViewPr>
  </p:notesTextViewPr>
  <p:notesViewPr>
    <p:cSldViewPr snapToGrid="0">
      <p:cViewPr varScale="1">
        <p:scale>
          <a:sx n="50" d="100"/>
          <a:sy n="50" d="100"/>
        </p:scale>
        <p:origin x="2886"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A259BEA-82BC-4476-91F2-380E77DBAD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29DE9C3-2AB8-44E5-BCFE-5DD42DFC56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D7858F-6309-4F09-BEA0-6CBF97E55806}" type="datetimeFigureOut">
              <a:rPr lang="en-US" smtClean="0"/>
              <a:t>9/23/2024</a:t>
            </a:fld>
            <a:endParaRPr lang="en-US" dirty="0"/>
          </a:p>
        </p:txBody>
      </p:sp>
      <p:sp>
        <p:nvSpPr>
          <p:cNvPr id="4" name="Footer Placeholder 3">
            <a:extLst>
              <a:ext uri="{FF2B5EF4-FFF2-40B4-BE49-F238E27FC236}">
                <a16:creationId xmlns:a16="http://schemas.microsoft.com/office/drawing/2014/main" id="{5E1B971B-9BC3-41DB-91DC-F03F5C808D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4A0720E-F4E2-435B-A885-9194BA3026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F8AE00-5498-4F06-8655-F21703489BCA}" type="slidenum">
              <a:rPr lang="en-US" smtClean="0"/>
              <a:t>‹#›</a:t>
            </a:fld>
            <a:endParaRPr lang="en-US" dirty="0"/>
          </a:p>
        </p:txBody>
      </p:sp>
    </p:spTree>
    <p:extLst>
      <p:ext uri="{BB962C8B-B14F-4D97-AF65-F5344CB8AC3E}">
        <p14:creationId xmlns:p14="http://schemas.microsoft.com/office/powerpoint/2010/main" val="3773420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F53C5D-CD12-6D4C-A980-0612968271E2}" type="datetimeFigureOut">
              <a:rPr lang="en-US" smtClean="0"/>
              <a:t>9/23/2024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167F0-0840-1348-BFE4-C6298BBC0698}" type="slidenum">
              <a:rPr lang="en-US" smtClean="0"/>
              <a:t>‹#›</a:t>
            </a:fld>
            <a:endParaRPr lang="en-US" dirty="0"/>
          </a:p>
        </p:txBody>
      </p:sp>
    </p:spTree>
    <p:extLst>
      <p:ext uri="{BB962C8B-B14F-4D97-AF65-F5344CB8AC3E}">
        <p14:creationId xmlns:p14="http://schemas.microsoft.com/office/powerpoint/2010/main" val="148990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6ACA6CA-E140-824D-8E8B-5CC5036BDBAE}" type="datetime1">
              <a:rPr lang="en-US" noProof="0" smtClean="0"/>
              <a:pPr/>
              <a:t>9/23/2024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7510645"/>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06691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AF7560-49B8-714F-A7F1-D946D3E64C23}" type="datetime1">
              <a:rPr lang="en-US" noProof="0" smtClean="0"/>
              <a:t>9/23/2024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481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B17C1C-DA5E-F743-826B-CB70C940D4E6}" type="datetime1">
              <a:rPr lang="en-US" noProof="0" smtClean="0"/>
              <a:t>9/23/2024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085994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F10E4C-E478-1D40-94DF-17D7429B053A}" type="datetime1">
              <a:rPr lang="en-US" noProof="0" smtClean="0"/>
              <a:t>9/23/2024</a:t>
            </a:fld>
            <a:endParaRPr lang="en-US" noProof="0" dirty="0"/>
          </a:p>
        </p:txBody>
      </p:sp>
      <p:sp>
        <p:nvSpPr>
          <p:cNvPr id="8" name="Footer Placeholder 7"/>
          <p:cNvSpPr>
            <a:spLocks noGrp="1"/>
          </p:cNvSpPr>
          <p:nvPr>
            <p:ph type="ftr" sz="quarter" idx="11"/>
          </p:nvPr>
        </p:nvSpPr>
        <p:spPr/>
        <p:txBody>
          <a:bodyPr/>
          <a:lstStyle/>
          <a:p>
            <a:endParaRPr lang="en-US" noProof="0" dirty="0"/>
          </a:p>
        </p:txBody>
      </p:sp>
      <p:sp>
        <p:nvSpPr>
          <p:cNvPr id="9" name="Slide Number Placeholder 8"/>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931310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27717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15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ACA6CA-E140-824D-8E8B-5CC5036BDBAE}" type="datetime1">
              <a:rPr lang="en-US" noProof="0" smtClean="0"/>
              <a:pPr/>
              <a:t>9/23/2024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03910373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9/23/2024</a:t>
            </a:fld>
            <a:endParaRPr lang="en-US" noProof="0"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07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CA6CA-E140-824D-8E8B-5CC5036BDBAE}" type="datetime1">
              <a:rPr lang="en-US" noProof="0" smtClean="0"/>
              <a:pPr/>
              <a:t>9/23/2024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96220073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CA6CA-E140-824D-8E8B-5CC5036BDBAE}" type="datetime1">
              <a:rPr lang="en-US" noProof="0" smtClean="0"/>
              <a:pPr/>
              <a:t>9/23/2024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98918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2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4632" y="180578"/>
            <a:ext cx="11502731" cy="426912"/>
          </a:xfrm>
          <a:prstGeom prst="rect">
            <a:avLst/>
          </a:prstGeom>
        </p:spPr>
        <p:txBody>
          <a:bodyPr wrap="square" lIns="0" tIns="0" rIns="0" bIns="0">
            <a:spAutoFit/>
          </a:bodyPr>
          <a:lstStyle>
            <a:lvl1pPr>
              <a:defRPr sz="2774" b="0" i="0" u="sng">
                <a:solidFill>
                  <a:srgbClr val="898CFC"/>
                </a:solidFill>
                <a:latin typeface="Tahoma"/>
                <a:cs typeface="Tahoma"/>
              </a:defRPr>
            </a:lvl1pPr>
          </a:lstStyle>
          <a:p>
            <a:endParaRPr/>
          </a:p>
        </p:txBody>
      </p:sp>
      <p:sp>
        <p:nvSpPr>
          <p:cNvPr id="3" name="Holder 3"/>
          <p:cNvSpPr>
            <a:spLocks noGrp="1"/>
          </p:cNvSpPr>
          <p:nvPr>
            <p:ph type="subTitle" idx="4"/>
          </p:nvPr>
        </p:nvSpPr>
        <p:spPr>
          <a:xfrm>
            <a:off x="1828800" y="3840481"/>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89" b="0" i="0">
                <a:solidFill>
                  <a:schemeClr val="bg1"/>
                </a:solidFill>
                <a:latin typeface="Calibri"/>
                <a:cs typeface="Calibri"/>
              </a:defRPr>
            </a:lvl1pPr>
          </a:lstStyle>
          <a:p>
            <a:pPr marL="25168">
              <a:lnSpc>
                <a:spcPts val="1338"/>
              </a:lnSpc>
            </a:pPr>
            <a:r>
              <a:rPr lang="en-US" spc="178"/>
              <a:t>I</a:t>
            </a:r>
            <a:r>
              <a:rPr lang="en-US" cap="small" spc="89"/>
              <a:t>m</a:t>
            </a:r>
            <a:r>
              <a:rPr lang="en-US" cap="small" spc="40"/>
              <a:t>d</a:t>
            </a:r>
            <a:r>
              <a:rPr lang="en-US" cap="small" spc="139"/>
              <a:t>ad</a:t>
            </a:r>
            <a:r>
              <a:rPr lang="en-US"/>
              <a:t> </a:t>
            </a:r>
            <a:r>
              <a:rPr lang="en-US" spc="-99"/>
              <a:t> </a:t>
            </a:r>
            <a:r>
              <a:rPr lang="en-US" cap="small" spc="139"/>
              <a:t>ullah</a:t>
            </a:r>
            <a:r>
              <a:rPr lang="en-US"/>
              <a:t> </a:t>
            </a:r>
            <a:r>
              <a:rPr lang="en-US" spc="-99"/>
              <a:t> </a:t>
            </a:r>
            <a:r>
              <a:rPr lang="en-US" spc="377"/>
              <a:t>K</a:t>
            </a:r>
            <a:r>
              <a:rPr lang="en-US" cap="small" spc="109"/>
              <a:t>han</a:t>
            </a:r>
            <a:r>
              <a:rPr lang="en-US"/>
              <a:t>  </a:t>
            </a:r>
            <a:r>
              <a:rPr lang="en-US" spc="30"/>
              <a:t> </a:t>
            </a:r>
            <a:r>
              <a:rPr lang="en-US" spc="109">
                <a:latin typeface="Trebuchet MS"/>
                <a:cs typeface="Trebuchet MS"/>
              </a:rPr>
              <a:t>(LUMS)</a:t>
            </a:r>
            <a:endParaRPr lang="en-US" spc="109" dirty="0">
              <a:latin typeface="Trebuchet MS"/>
              <a:cs typeface="Trebuchet M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9/22/2024</a:t>
            </a:fld>
            <a:endParaRPr lang="en-US"/>
          </a:p>
        </p:txBody>
      </p:sp>
      <p:sp>
        <p:nvSpPr>
          <p:cNvPr id="6" name="Holder 6"/>
          <p:cNvSpPr>
            <a:spLocks noGrp="1"/>
          </p:cNvSpPr>
          <p:nvPr>
            <p:ph type="sldNum" sz="quarter" idx="7"/>
          </p:nvPr>
        </p:nvSpPr>
        <p:spPr/>
        <p:txBody>
          <a:bodyPr lIns="0" tIns="0" rIns="0" bIns="0"/>
          <a:lstStyle>
            <a:lvl1pPr>
              <a:defRPr sz="1189" b="0" i="0">
                <a:solidFill>
                  <a:schemeClr val="tx1"/>
                </a:solidFill>
                <a:latin typeface="Trebuchet MS"/>
                <a:cs typeface="Trebuchet MS"/>
              </a:defRPr>
            </a:lvl1pPr>
          </a:lstStyle>
          <a:p>
            <a:pPr marL="75503">
              <a:lnSpc>
                <a:spcPts val="1338"/>
              </a:lnSpc>
            </a:pPr>
            <a:fld id="{81D60167-4931-47E6-BA6A-407CBD079E47}" type="slidenum">
              <a:rPr lang="en-US" smtClean="0"/>
              <a:pPr marL="75503">
                <a:lnSpc>
                  <a:spcPts val="1338"/>
                </a:lnSpc>
              </a:pPr>
              <a:t>‹#›</a:t>
            </a:fld>
            <a:r>
              <a:rPr lang="en-US" spc="-149"/>
              <a:t> </a:t>
            </a:r>
            <a:r>
              <a:rPr lang="en-US"/>
              <a:t>/</a:t>
            </a:r>
            <a:r>
              <a:rPr lang="en-US" spc="-149"/>
              <a:t> </a:t>
            </a:r>
            <a:r>
              <a:rPr lang="en-US"/>
              <a:t>71</a:t>
            </a:r>
            <a:endParaRPr lang="en-US" dirty="0"/>
          </a:p>
        </p:txBody>
      </p:sp>
    </p:spTree>
    <p:extLst>
      <p:ext uri="{BB962C8B-B14F-4D97-AF65-F5344CB8AC3E}">
        <p14:creationId xmlns:p14="http://schemas.microsoft.com/office/powerpoint/2010/main" val="2687725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 Icon Bullets Vertical">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86F73ED6-3B3B-5A45-912C-FCFD7D53593C}"/>
              </a:ext>
            </a:extLst>
          </p:cNvPr>
          <p:cNvSpPr>
            <a:spLocks noChangeAspect="1"/>
          </p:cNvSpPr>
          <p:nvPr userDrawn="1"/>
        </p:nvSpPr>
        <p:spPr>
          <a:xfrm>
            <a:off x="8699143" y="3702940"/>
            <a:ext cx="1261872" cy="126187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Picture Placeholder 9">
            <a:extLst>
              <a:ext uri="{FF2B5EF4-FFF2-40B4-BE49-F238E27FC236}">
                <a16:creationId xmlns:a16="http://schemas.microsoft.com/office/drawing/2014/main" id="{B5971407-B12A-EE45-895D-769807DFC767}"/>
              </a:ext>
            </a:extLst>
          </p:cNvPr>
          <p:cNvSpPr>
            <a:spLocks noGrp="1"/>
          </p:cNvSpPr>
          <p:nvPr>
            <p:ph type="pic" sz="quarter" idx="24" hasCustomPrompt="1"/>
          </p:nvPr>
        </p:nvSpPr>
        <p:spPr>
          <a:xfrm>
            <a:off x="8865103" y="3869836"/>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2" name="Oval 21">
            <a:extLst>
              <a:ext uri="{FF2B5EF4-FFF2-40B4-BE49-F238E27FC236}">
                <a16:creationId xmlns:a16="http://schemas.microsoft.com/office/drawing/2014/main" id="{36215321-76D7-AD41-B779-DE347C617DB3}"/>
              </a:ext>
            </a:extLst>
          </p:cNvPr>
          <p:cNvSpPr>
            <a:spLocks noChangeAspect="1"/>
          </p:cNvSpPr>
          <p:nvPr userDrawn="1"/>
        </p:nvSpPr>
        <p:spPr>
          <a:xfrm>
            <a:off x="6288183" y="3706777"/>
            <a:ext cx="1261872" cy="126187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9">
            <a:extLst>
              <a:ext uri="{FF2B5EF4-FFF2-40B4-BE49-F238E27FC236}">
                <a16:creationId xmlns:a16="http://schemas.microsoft.com/office/drawing/2014/main" id="{E61684B2-1403-BD44-80B1-6A5C0D0A3C67}"/>
              </a:ext>
            </a:extLst>
          </p:cNvPr>
          <p:cNvSpPr>
            <a:spLocks noGrp="1"/>
          </p:cNvSpPr>
          <p:nvPr>
            <p:ph type="pic" sz="quarter" idx="23" hasCustomPrompt="1"/>
          </p:nvPr>
        </p:nvSpPr>
        <p:spPr>
          <a:xfrm>
            <a:off x="6454143" y="387367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29" name="Oval 28">
            <a:extLst>
              <a:ext uri="{FF2B5EF4-FFF2-40B4-BE49-F238E27FC236}">
                <a16:creationId xmlns:a16="http://schemas.microsoft.com/office/drawing/2014/main" id="{3B87B079-A5F0-D34B-90BD-17403B51EF47}"/>
              </a:ext>
            </a:extLst>
          </p:cNvPr>
          <p:cNvSpPr>
            <a:spLocks noChangeAspect="1"/>
          </p:cNvSpPr>
          <p:nvPr userDrawn="1"/>
        </p:nvSpPr>
        <p:spPr>
          <a:xfrm>
            <a:off x="8699143" y="799317"/>
            <a:ext cx="1261872" cy="12618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Oval 29">
            <a:extLst>
              <a:ext uri="{FF2B5EF4-FFF2-40B4-BE49-F238E27FC236}">
                <a16:creationId xmlns:a16="http://schemas.microsoft.com/office/drawing/2014/main" id="{67169BE7-153A-034D-B3C8-A226C22DE09C}"/>
              </a:ext>
            </a:extLst>
          </p:cNvPr>
          <p:cNvSpPr>
            <a:spLocks noChangeAspect="1"/>
          </p:cNvSpPr>
          <p:nvPr userDrawn="1"/>
        </p:nvSpPr>
        <p:spPr>
          <a:xfrm>
            <a:off x="6288183" y="799317"/>
            <a:ext cx="1261872" cy="12618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Picture Placeholder 9">
            <a:extLst>
              <a:ext uri="{FF2B5EF4-FFF2-40B4-BE49-F238E27FC236}">
                <a16:creationId xmlns:a16="http://schemas.microsoft.com/office/drawing/2014/main" id="{604C6493-8619-1749-A32C-8C1C4E875339}"/>
              </a:ext>
            </a:extLst>
          </p:cNvPr>
          <p:cNvSpPr>
            <a:spLocks noGrp="1"/>
          </p:cNvSpPr>
          <p:nvPr>
            <p:ph type="pic" sz="quarter" idx="21" hasCustomPrompt="1"/>
          </p:nvPr>
        </p:nvSpPr>
        <p:spPr>
          <a:xfrm>
            <a:off x="6454143" y="966213"/>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sp>
        <p:nvSpPr>
          <p:cNvPr id="32" name="Picture Placeholder 9">
            <a:extLst>
              <a:ext uri="{FF2B5EF4-FFF2-40B4-BE49-F238E27FC236}">
                <a16:creationId xmlns:a16="http://schemas.microsoft.com/office/drawing/2014/main" id="{EE25A905-577F-154D-BA89-4F485EEBC4BD}"/>
              </a:ext>
            </a:extLst>
          </p:cNvPr>
          <p:cNvSpPr>
            <a:spLocks noGrp="1"/>
          </p:cNvSpPr>
          <p:nvPr>
            <p:ph type="pic" sz="quarter" idx="22" hasCustomPrompt="1"/>
          </p:nvPr>
        </p:nvSpPr>
        <p:spPr>
          <a:xfrm>
            <a:off x="8865103" y="965277"/>
            <a:ext cx="929952" cy="929952"/>
          </a:xfrm>
          <a:prstGeom prst="ellipse">
            <a:avLst/>
          </a:prstGeom>
          <a:noFill/>
          <a:effectLst/>
        </p:spPr>
        <p:txBody>
          <a:bodyPr anchor="ctr">
            <a:normAutofit/>
          </a:bodyPr>
          <a:lstStyle>
            <a:lvl1pPr marL="0" indent="0" algn="ctr">
              <a:buNone/>
              <a:defRPr sz="1200" i="1"/>
            </a:lvl1pPr>
          </a:lstStyle>
          <a:p>
            <a:r>
              <a:rPr lang="en-US" noProof="0" dirty="0"/>
              <a:t>Select Icon</a:t>
            </a:r>
          </a:p>
        </p:txBody>
      </p:sp>
      <p:grpSp>
        <p:nvGrpSpPr>
          <p:cNvPr id="23" name="Group 22">
            <a:extLst>
              <a:ext uri="{FF2B5EF4-FFF2-40B4-BE49-F238E27FC236}">
                <a16:creationId xmlns:a16="http://schemas.microsoft.com/office/drawing/2014/main" id="{A9677FD5-9A91-4866-B075-6DDE16433AC7}"/>
              </a:ext>
            </a:extLst>
          </p:cNvPr>
          <p:cNvGrpSpPr/>
          <p:nvPr userDrawn="1"/>
        </p:nvGrpSpPr>
        <p:grpSpPr>
          <a:xfrm>
            <a:off x="16303" y="0"/>
            <a:ext cx="12192000" cy="6858000"/>
            <a:chOff x="16303" y="6430358"/>
            <a:chExt cx="12192000" cy="6858000"/>
          </a:xfrm>
        </p:grpSpPr>
        <p:sp>
          <p:nvSpPr>
            <p:cNvPr id="11" name="Rectangle 10"/>
            <p:cNvSpPr/>
            <p:nvPr/>
          </p:nvSpPr>
          <p:spPr>
            <a:xfrm>
              <a:off x="236937" y="6430358"/>
              <a:ext cx="507801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r="-140094"/>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Freeform 5"/>
            <p:cNvSpPr/>
            <p:nvPr/>
          </p:nvSpPr>
          <p:spPr bwMode="gray">
            <a:xfrm rot="15922489">
              <a:off x="3144589" y="8256436"/>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2233481" y="9232079"/>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16303" y="6431945"/>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287088"/>
            <a:ext cx="3438881" cy="2283824"/>
          </a:xfrm>
        </p:spPr>
        <p:txBody>
          <a:bodyPr anchor="ctr"/>
          <a:lstStyle>
            <a:lvl1pPr algn="l">
              <a:defRPr sz="2300" b="0" cap="none"/>
            </a:lvl1pPr>
          </a:lstStyle>
          <a:p>
            <a:r>
              <a:rPr lang="en-US" noProof="0"/>
              <a:t>Click to edit Master title style</a:t>
            </a:r>
          </a:p>
        </p:txBody>
      </p:sp>
      <p:sp>
        <p:nvSpPr>
          <p:cNvPr id="4" name="Date Placeholder 3"/>
          <p:cNvSpPr>
            <a:spLocks noGrp="1"/>
          </p:cNvSpPr>
          <p:nvPr>
            <p:ph type="dt" sz="half" idx="10"/>
          </p:nvPr>
        </p:nvSpPr>
        <p:spPr/>
        <p:txBody>
          <a:bodyPr/>
          <a:lstStyle/>
          <a:p>
            <a:fld id="{A177F711-7020-994E-A797-D04033A0CF12}" type="datetime1">
              <a:rPr lang="en-US" noProof="0" smtClean="0"/>
              <a:t>9/23/2024</a:t>
            </a:fld>
            <a:endParaRPr lang="en-US" noProof="0" dirty="0"/>
          </a:p>
        </p:txBody>
      </p:sp>
      <p:sp>
        <p:nvSpPr>
          <p:cNvPr id="5" name="Footer Placeholder 4"/>
          <p:cNvSpPr>
            <a:spLocks noGrp="1"/>
          </p:cNvSpPr>
          <p:nvPr>
            <p:ph type="ftr" sz="quarter" idx="11"/>
          </p:nvPr>
        </p:nvSpPr>
        <p:spPr/>
        <p:txBody>
          <a:bodyPr/>
          <a:lstStyle/>
          <a:p>
            <a:endParaRPr lang="en-US" noProof="0"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FF96B15-8338-45D5-A943-561235072D66}" type="slidenum">
              <a:rPr lang="en-US" noProof="0" smtClean="0"/>
              <a:t>‹#›</a:t>
            </a:fld>
            <a:endParaRPr lang="en-US" noProof="0" dirty="0"/>
          </a:p>
        </p:txBody>
      </p:sp>
      <p:sp>
        <p:nvSpPr>
          <p:cNvPr id="14" name="Text Placeholder 13">
            <a:extLst>
              <a:ext uri="{FF2B5EF4-FFF2-40B4-BE49-F238E27FC236}">
                <a16:creationId xmlns:a16="http://schemas.microsoft.com/office/drawing/2014/main" id="{9ADD13A9-A8EA-4B1C-AE31-FE189E0E8B86}"/>
              </a:ext>
            </a:extLst>
          </p:cNvPr>
          <p:cNvSpPr>
            <a:spLocks noGrp="1"/>
          </p:cNvSpPr>
          <p:nvPr>
            <p:ph type="body" sz="quarter" idx="14" hasCustomPrompt="1"/>
          </p:nvPr>
        </p:nvSpPr>
        <p:spPr>
          <a:xfrm>
            <a:off x="5756275" y="2351088"/>
            <a:ext cx="2325688" cy="774700"/>
          </a:xfrm>
        </p:spPr>
        <p:txBody>
          <a:bodyPr>
            <a:normAutofit/>
          </a:bodyPr>
          <a:lstStyle>
            <a:lvl1pPr marL="0" indent="0" algn="ctr">
              <a:buNone/>
              <a:defRPr sz="1200"/>
            </a:lvl1pPr>
          </a:lstStyle>
          <a:p>
            <a:pPr lvl="0"/>
            <a:r>
              <a:rPr lang="en-US" noProof="0"/>
              <a:t>Edit bullet description</a:t>
            </a:r>
          </a:p>
        </p:txBody>
      </p:sp>
      <p:sp>
        <p:nvSpPr>
          <p:cNvPr id="18" name="Text Placeholder 13">
            <a:extLst>
              <a:ext uri="{FF2B5EF4-FFF2-40B4-BE49-F238E27FC236}">
                <a16:creationId xmlns:a16="http://schemas.microsoft.com/office/drawing/2014/main" id="{A2BAC124-81DA-4B8B-86CD-75C69A4D0DBB}"/>
              </a:ext>
            </a:extLst>
          </p:cNvPr>
          <p:cNvSpPr>
            <a:spLocks noGrp="1"/>
          </p:cNvSpPr>
          <p:nvPr>
            <p:ph type="body" sz="quarter" idx="16" hasCustomPrompt="1"/>
          </p:nvPr>
        </p:nvSpPr>
        <p:spPr>
          <a:xfrm>
            <a:off x="8167235" y="2351088"/>
            <a:ext cx="2325688" cy="774700"/>
          </a:xfrm>
        </p:spPr>
        <p:txBody>
          <a:bodyPr>
            <a:normAutofit/>
          </a:bodyPr>
          <a:lstStyle>
            <a:lvl1pPr marL="0" indent="0" algn="ctr">
              <a:buNone/>
              <a:defRPr sz="1200"/>
            </a:lvl1pPr>
          </a:lstStyle>
          <a:p>
            <a:pPr lvl="0"/>
            <a:r>
              <a:rPr lang="en-US" noProof="0"/>
              <a:t>Edit bullet description</a:t>
            </a:r>
          </a:p>
        </p:txBody>
      </p:sp>
      <p:sp>
        <p:nvSpPr>
          <p:cNvPr id="26" name="Text Placeholder 13">
            <a:extLst>
              <a:ext uri="{FF2B5EF4-FFF2-40B4-BE49-F238E27FC236}">
                <a16:creationId xmlns:a16="http://schemas.microsoft.com/office/drawing/2014/main" id="{B493D355-B592-4395-8255-D1D4FB1CF1A6}"/>
              </a:ext>
            </a:extLst>
          </p:cNvPr>
          <p:cNvSpPr>
            <a:spLocks noGrp="1"/>
          </p:cNvSpPr>
          <p:nvPr>
            <p:ph type="body" sz="quarter" idx="18" hasCustomPrompt="1"/>
          </p:nvPr>
        </p:nvSpPr>
        <p:spPr>
          <a:xfrm>
            <a:off x="5756275" y="5258548"/>
            <a:ext cx="2325688" cy="774700"/>
          </a:xfrm>
        </p:spPr>
        <p:txBody>
          <a:bodyPr>
            <a:normAutofit/>
          </a:bodyPr>
          <a:lstStyle>
            <a:lvl1pPr marL="0" indent="0" algn="ctr">
              <a:buNone/>
              <a:defRPr sz="1200"/>
            </a:lvl1pPr>
          </a:lstStyle>
          <a:p>
            <a:pPr lvl="0"/>
            <a:r>
              <a:rPr lang="en-US" noProof="0"/>
              <a:t>Edit bullet description</a:t>
            </a:r>
          </a:p>
        </p:txBody>
      </p:sp>
      <p:sp>
        <p:nvSpPr>
          <p:cNvPr id="28" name="Text Placeholder 13">
            <a:extLst>
              <a:ext uri="{FF2B5EF4-FFF2-40B4-BE49-F238E27FC236}">
                <a16:creationId xmlns:a16="http://schemas.microsoft.com/office/drawing/2014/main" id="{D0A496BB-AA13-44AE-AFA6-30D4ED5099E9}"/>
              </a:ext>
            </a:extLst>
          </p:cNvPr>
          <p:cNvSpPr>
            <a:spLocks noGrp="1"/>
          </p:cNvSpPr>
          <p:nvPr>
            <p:ph type="body" sz="quarter" idx="20" hasCustomPrompt="1"/>
          </p:nvPr>
        </p:nvSpPr>
        <p:spPr>
          <a:xfrm>
            <a:off x="8167235" y="5258548"/>
            <a:ext cx="2325688" cy="774700"/>
          </a:xfrm>
        </p:spPr>
        <p:txBody>
          <a:bodyPr>
            <a:normAutofit/>
          </a:bodyPr>
          <a:lstStyle>
            <a:lvl1pPr marL="0" indent="0" algn="ctr">
              <a:buNone/>
              <a:defRPr sz="1200"/>
            </a:lvl1pPr>
          </a:lstStyle>
          <a:p>
            <a:pPr lvl="0"/>
            <a:r>
              <a:rPr lang="en-US" noProof="0"/>
              <a:t>Edit bullet description</a:t>
            </a:r>
          </a:p>
        </p:txBody>
      </p:sp>
    </p:spTree>
    <p:extLst>
      <p:ext uri="{BB962C8B-B14F-4D97-AF65-F5344CB8AC3E}">
        <p14:creationId xmlns:p14="http://schemas.microsoft.com/office/powerpoint/2010/main" val="32541318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US" noProof="0"/>
              <a:t>Click to edit Master title style</a:t>
            </a:r>
          </a:p>
        </p:txBody>
      </p:sp>
      <p:sp>
        <p:nvSpPr>
          <p:cNvPr id="22" name="Picture Placeholder 21">
            <a:extLst>
              <a:ext uri="{FF2B5EF4-FFF2-40B4-BE49-F238E27FC236}">
                <a16:creationId xmlns:a16="http://schemas.microsoft.com/office/drawing/2014/main" id="{215A5A73-8E13-4E38-8362-0A09BA944115}"/>
              </a:ext>
            </a:extLst>
          </p:cNvPr>
          <p:cNvSpPr>
            <a:spLocks noGrp="1"/>
          </p:cNvSpPr>
          <p:nvPr>
            <p:ph type="pic" idx="1"/>
          </p:nvPr>
        </p:nvSpPr>
        <p:spPr>
          <a:xfrm>
            <a:off x="6058861" y="478881"/>
            <a:ext cx="5582675" cy="5908526"/>
          </a:xfrm>
          <a:custGeom>
            <a:avLst/>
            <a:gdLst>
              <a:gd name="connsiteX0" fmla="*/ 10816 w 5582675"/>
              <a:gd name="connsiteY0" fmla="*/ 0 h 5908526"/>
              <a:gd name="connsiteX1" fmla="*/ 5582675 w 5582675"/>
              <a:gd name="connsiteY1" fmla="*/ 0 h 5908526"/>
              <a:gd name="connsiteX2" fmla="*/ 5582675 w 5582675"/>
              <a:gd name="connsiteY2" fmla="*/ 5908526 h 5908526"/>
              <a:gd name="connsiteX3" fmla="*/ 0 w 5582675"/>
              <a:gd name="connsiteY3" fmla="*/ 5908526 h 5908526"/>
              <a:gd name="connsiteX4" fmla="*/ 30693 w 5582675"/>
              <a:gd name="connsiteY4" fmla="*/ 5722836 h 5908526"/>
              <a:gd name="connsiteX5" fmla="*/ 223682 w 5582675"/>
              <a:gd name="connsiteY5" fmla="*/ 2921544 h 5908526"/>
              <a:gd name="connsiteX6" fmla="*/ 30693 w 5582675"/>
              <a:gd name="connsiteY6" fmla="*/ 120253 h 590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2675" h="5908526">
                <a:moveTo>
                  <a:pt x="10816" y="0"/>
                </a:moveTo>
                <a:lnTo>
                  <a:pt x="5582675" y="0"/>
                </a:lnTo>
                <a:lnTo>
                  <a:pt x="5582675" y="5908526"/>
                </a:lnTo>
                <a:lnTo>
                  <a:pt x="0" y="5908526"/>
                </a:lnTo>
                <a:lnTo>
                  <a:pt x="30693" y="5722836"/>
                </a:lnTo>
                <a:cubicBezTo>
                  <a:pt x="153771" y="4890115"/>
                  <a:pt x="223682" y="3935837"/>
                  <a:pt x="223682" y="2921544"/>
                </a:cubicBezTo>
                <a:cubicBezTo>
                  <a:pt x="223682" y="1907252"/>
                  <a:pt x="153771" y="952973"/>
                  <a:pt x="30693" y="120253"/>
                </a:cubicBezTo>
                <a:close/>
              </a:path>
            </a:pathLst>
          </a:custGeom>
          <a:effectLst/>
        </p:spPr>
        <p:txBody>
          <a:bodyPr wrap="square" anchor="ctr">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9/23/2024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4183431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ntent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Content Placeholder 10">
            <a:extLst>
              <a:ext uri="{FF2B5EF4-FFF2-40B4-BE49-F238E27FC236}">
                <a16:creationId xmlns:a16="http://schemas.microsoft.com/office/drawing/2014/main" id="{B50BDD93-02DA-4B21-9556-FA8B9894F903}"/>
              </a:ext>
            </a:extLst>
          </p:cNvPr>
          <p:cNvSpPr>
            <a:spLocks noGrp="1"/>
          </p:cNvSpPr>
          <p:nvPr>
            <p:ph sz="quarter" idx="13"/>
          </p:nvPr>
        </p:nvSpPr>
        <p:spPr>
          <a:xfrm>
            <a:off x="6058861" y="478880"/>
            <a:ext cx="5582675" cy="5900239"/>
          </a:xfrm>
          <a:custGeom>
            <a:avLst/>
            <a:gdLst>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0 w 5582675"/>
              <a:gd name="connsiteY4" fmla="*/ 0 h 5900239"/>
              <a:gd name="connsiteX0" fmla="*/ 3501 w 5586176"/>
              <a:gd name="connsiteY0" fmla="*/ 0 h 5900239"/>
              <a:gd name="connsiteX1" fmla="*/ 5586176 w 5586176"/>
              <a:gd name="connsiteY1" fmla="*/ 0 h 5900239"/>
              <a:gd name="connsiteX2" fmla="*/ 5586176 w 5586176"/>
              <a:gd name="connsiteY2" fmla="*/ 5900239 h 5900239"/>
              <a:gd name="connsiteX3" fmla="*/ 3501 w 5586176"/>
              <a:gd name="connsiteY3" fmla="*/ 5900239 h 5900239"/>
              <a:gd name="connsiteX4" fmla="*/ 0 w 5586176"/>
              <a:gd name="connsiteY4" fmla="*/ 3615600 h 5900239"/>
              <a:gd name="connsiteX5" fmla="*/ 3501 w 5586176"/>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0 w 5582675"/>
              <a:gd name="connsiteY5"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117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62539 w 5582675"/>
              <a:gd name="connsiteY5" fmla="*/ 23740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220019 w 5582675"/>
              <a:gd name="connsiteY4" fmla="*/ 3442880 h 5900239"/>
              <a:gd name="connsiteX5" fmla="*/ 47299 w 5582675"/>
              <a:gd name="connsiteY5" fmla="*/ 247560 h 5900239"/>
              <a:gd name="connsiteX6" fmla="*/ 0 w 5582675"/>
              <a:gd name="connsiteY6"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1173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52379 w 5582675"/>
              <a:gd name="connsiteY4" fmla="*/ 5647600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 name="connsiteX0" fmla="*/ 0 w 5582675"/>
              <a:gd name="connsiteY0" fmla="*/ 0 h 5900239"/>
              <a:gd name="connsiteX1" fmla="*/ 5582675 w 5582675"/>
              <a:gd name="connsiteY1" fmla="*/ 0 h 5900239"/>
              <a:gd name="connsiteX2" fmla="*/ 5582675 w 5582675"/>
              <a:gd name="connsiteY2" fmla="*/ 5900239 h 5900239"/>
              <a:gd name="connsiteX3" fmla="*/ 0 w 5582675"/>
              <a:gd name="connsiteY3" fmla="*/ 5900239 h 5900239"/>
              <a:gd name="connsiteX4" fmla="*/ 42854 w 5582675"/>
              <a:gd name="connsiteY4" fmla="*/ 5653315 h 5900239"/>
              <a:gd name="connsiteX5" fmla="*/ 220019 w 5582675"/>
              <a:gd name="connsiteY5" fmla="*/ 3442880 h 5900239"/>
              <a:gd name="connsiteX6" fmla="*/ 47299 w 5582675"/>
              <a:gd name="connsiteY6" fmla="*/ 247560 h 5900239"/>
              <a:gd name="connsiteX7" fmla="*/ 0 w 5582675"/>
              <a:gd name="connsiteY7" fmla="*/ 0 h 590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82675" h="5900239">
                <a:moveTo>
                  <a:pt x="0" y="0"/>
                </a:moveTo>
                <a:lnTo>
                  <a:pt x="5582675" y="0"/>
                </a:lnTo>
                <a:lnTo>
                  <a:pt x="5582675" y="5900239"/>
                </a:lnTo>
                <a:lnTo>
                  <a:pt x="0" y="5900239"/>
                </a:lnTo>
                <a:cubicBezTo>
                  <a:pt x="14285" y="5817931"/>
                  <a:pt x="34284" y="5741338"/>
                  <a:pt x="42854" y="5653315"/>
                </a:cubicBezTo>
                <a:cubicBezTo>
                  <a:pt x="145724" y="4908883"/>
                  <a:pt x="181919" y="4332092"/>
                  <a:pt x="220019" y="3442880"/>
                </a:cubicBezTo>
                <a:cubicBezTo>
                  <a:pt x="221712" y="2333747"/>
                  <a:pt x="182766" y="1285573"/>
                  <a:pt x="47299" y="247560"/>
                </a:cubicBezTo>
                <a:lnTo>
                  <a:pt x="0" y="0"/>
                </a:lnTo>
                <a:close/>
              </a:path>
            </a:pathLst>
          </a:cu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1153907" y="1693332"/>
            <a:ext cx="3860260" cy="1735668"/>
          </a:xfrm>
        </p:spPr>
        <p:txBody>
          <a:bodyPr anchor="b">
            <a:normAutofit/>
          </a:bodyPr>
          <a:lstStyle>
            <a:lvl1pPr algn="l">
              <a:defRPr sz="2300" b="0"/>
            </a:lvl1pPr>
          </a:lstStyle>
          <a:p>
            <a:r>
              <a:rPr lang="en-US" noProof="0"/>
              <a:t>Click to edit Master title style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285750" indent="-285750">
              <a:buFont typeface="Arial" panose="020B0604020202020204" pitchFamily="34" charset="0"/>
              <a:buChar char="•"/>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163A5200-74F0-9445-8847-A53AA9C11C7B}" type="datetime1">
              <a:rPr lang="en-US" noProof="0" smtClean="0"/>
              <a:t>9/23/2024</a:t>
            </a:fld>
            <a:endParaRPr lang="en-US" noProof="0" dirty="0"/>
          </a:p>
        </p:txBody>
      </p:sp>
      <p:sp>
        <p:nvSpPr>
          <p:cNvPr id="6" name="Footer Placeholder 5"/>
          <p:cNvSpPr>
            <a:spLocks noGrp="1"/>
          </p:cNvSpPr>
          <p:nvPr>
            <p:ph type="ftr" sz="quarter" idx="11"/>
          </p:nvPr>
        </p:nvSpPr>
        <p:spPr/>
        <p:txBody>
          <a:bodyPr/>
          <a:lstStyle/>
          <a:p>
            <a:endParaRPr lang="en-US" noProof="0"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FF96B15-8338-45D5-A943-561235072D66}" type="slidenum">
              <a:rPr lang="en-US" noProof="0" smtClean="0"/>
              <a:t>‹#›</a:t>
            </a:fld>
            <a:endParaRPr lang="en-US" noProof="0" dirty="0"/>
          </a:p>
        </p:txBody>
      </p:sp>
    </p:spTree>
    <p:extLst>
      <p:ext uri="{BB962C8B-B14F-4D97-AF65-F5344CB8AC3E}">
        <p14:creationId xmlns:p14="http://schemas.microsoft.com/office/powerpoint/2010/main" val="339773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6ACA6CA-E140-824D-8E8B-5CC5036BDBAE}" type="datetime1">
              <a:rPr lang="en-US" noProof="0" smtClean="0"/>
              <a:pPr/>
              <a:t>9/23/2024</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noProof="0"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FF96B15-8338-45D5-A943-561235072D66}" type="slidenum">
              <a:rPr lang="en-US" noProof="0" smtClean="0"/>
              <a:t>‹#›</a:t>
            </a:fld>
            <a:endParaRPr lang="en-US" noProof="0"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7641850"/>
      </p:ext>
    </p:extLst>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8" r:id="rId12"/>
    <p:sldLayoutId id="2147483862" r:id="rId13"/>
    <p:sldLayoutId id="2147483858" r:id="rId14"/>
    <p:sldLayoutId id="2147483865" r:id="rId15"/>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12.xml"/><Relationship Id="rId4" Type="http://schemas.openxmlformats.org/officeDocument/2006/relationships/image" Target="../media/image33.jpg"/></Relationships>
</file>

<file path=ppt/slides/_rels/slide40.xml.rels><?xml version="1.0" encoding="UTF-8" standalone="yes"?>
<Relationships xmlns="http://schemas.openxmlformats.org/package/2006/relationships"><Relationship Id="rId2" Type="http://schemas.openxmlformats.org/officeDocument/2006/relationships/hyperlink" Target="https://www.geeksforgeeks.org/graph-data-structure-and-algorithms/"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B41E-FC51-4047-9C2D-7FA6782DAFEB}"/>
              </a:ext>
            </a:extLst>
          </p:cNvPr>
          <p:cNvSpPr>
            <a:spLocks noGrp="1"/>
          </p:cNvSpPr>
          <p:nvPr>
            <p:ph type="ctrTitle"/>
          </p:nvPr>
        </p:nvSpPr>
        <p:spPr/>
        <p:txBody>
          <a:bodyPr/>
          <a:lstStyle/>
          <a:p>
            <a:r>
              <a:rPr lang="en-US" dirty="0">
                <a:solidFill>
                  <a:schemeClr val="bg1"/>
                </a:solidFill>
              </a:rPr>
              <a:t>Beginning of the Year Procedures</a:t>
            </a:r>
          </a:p>
        </p:txBody>
      </p:sp>
      <p:sp>
        <p:nvSpPr>
          <p:cNvPr id="3" name="Subtitle 2">
            <a:extLst>
              <a:ext uri="{FF2B5EF4-FFF2-40B4-BE49-F238E27FC236}">
                <a16:creationId xmlns:a16="http://schemas.microsoft.com/office/drawing/2014/main" id="{252E989F-747B-4007-9C7A-A35E8B662A7B}"/>
              </a:ext>
            </a:extLst>
          </p:cNvPr>
          <p:cNvSpPr>
            <a:spLocks noGrp="1"/>
          </p:cNvSpPr>
          <p:nvPr>
            <p:ph type="subTitle" idx="1"/>
          </p:nvPr>
        </p:nvSpPr>
        <p:spPr/>
        <p:txBody>
          <a:bodyPr>
            <a:normAutofit/>
          </a:bodyPr>
          <a:lstStyle/>
          <a:p>
            <a:r>
              <a:rPr lang="en-US" sz="3600" dirty="0">
                <a:solidFill>
                  <a:schemeClr val="tx1"/>
                </a:solidFill>
              </a:rPr>
              <a:t>INTRODUCTION</a:t>
            </a:r>
          </a:p>
        </p:txBody>
      </p:sp>
    </p:spTree>
    <p:extLst>
      <p:ext uri="{BB962C8B-B14F-4D97-AF65-F5344CB8AC3E}">
        <p14:creationId xmlns:p14="http://schemas.microsoft.com/office/powerpoint/2010/main" val="306700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211136" y="550229"/>
            <a:ext cx="22794403" cy="461219"/>
          </a:xfrm>
          <a:prstGeom prst="rect">
            <a:avLst/>
          </a:prstGeom>
        </p:spPr>
        <p:txBody>
          <a:bodyPr vert="horz" wrap="square" lIns="0" tIns="33975" rIns="0" bIns="0" rtlCol="0" anchor="ctr">
            <a:spAutoFit/>
          </a:bodyPr>
          <a:lstStyle/>
          <a:p>
            <a:pPr marL="26426">
              <a:spcBef>
                <a:spcPts val="268"/>
              </a:spcBef>
              <a:tabLst>
                <a:tab pos="8593474" algn="l"/>
              </a:tabLst>
            </a:pPr>
            <a:r>
              <a:rPr spc="-50" dirty="0"/>
              <a:t>Why</a:t>
            </a:r>
            <a:r>
              <a:rPr spc="30" dirty="0"/>
              <a:t> </a:t>
            </a:r>
            <a:r>
              <a:rPr spc="-59" dirty="0"/>
              <a:t>Study</a:t>
            </a:r>
            <a:r>
              <a:rPr spc="30" dirty="0"/>
              <a:t> </a:t>
            </a:r>
            <a:r>
              <a:rPr spc="-69" dirty="0"/>
              <a:t>Discrete</a:t>
            </a:r>
            <a:r>
              <a:rPr spc="40" dirty="0"/>
              <a:t> </a:t>
            </a:r>
            <a:r>
              <a:rPr spc="20" dirty="0"/>
              <a:t>Math?	</a:t>
            </a:r>
          </a:p>
        </p:txBody>
      </p:sp>
      <p:sp>
        <p:nvSpPr>
          <p:cNvPr id="10" name="object 10"/>
          <p:cNvSpPr txBox="1">
            <a:spLocks noGrp="1"/>
          </p:cNvSpPr>
          <p:nvPr>
            <p:ph type="ftr" sz="quarter" idx="5"/>
          </p:nvPr>
        </p:nvSpPr>
        <p:spPr>
          <a:xfrm>
            <a:off x="2575217" y="13103692"/>
            <a:ext cx="7648768" cy="166712"/>
          </a:xfrm>
          <a:prstGeom prst="rect">
            <a:avLst/>
          </a:prstGeom>
        </p:spPr>
        <p:txBody>
          <a:bodyPr vert="horz" wrap="square" lIns="0" tIns="0" rIns="0" bIns="0" rtlCol="0" anchor="b">
            <a:spAutoFit/>
          </a:bodyPr>
          <a:lstStyle/>
          <a:p>
            <a:pPr marL="25168">
              <a:lnSpc>
                <a:spcPts val="1338"/>
              </a:lnSpc>
            </a:pPr>
            <a:r>
              <a:rPr spc="178" dirty="0"/>
              <a:t>I</a:t>
            </a:r>
            <a:r>
              <a:rPr cap="small" spc="89" dirty="0"/>
              <a:t>m</a:t>
            </a:r>
            <a:r>
              <a:rPr cap="small" spc="40" dirty="0"/>
              <a:t>d</a:t>
            </a:r>
            <a:r>
              <a:rPr cap="small" spc="139" dirty="0"/>
              <a:t>ad</a:t>
            </a:r>
            <a:r>
              <a:rPr dirty="0"/>
              <a:t> </a:t>
            </a:r>
            <a:r>
              <a:rPr spc="-99" dirty="0"/>
              <a:t> </a:t>
            </a:r>
            <a:r>
              <a:rPr cap="small" spc="139" dirty="0"/>
              <a:t>ullah</a:t>
            </a:r>
            <a:r>
              <a:rPr dirty="0"/>
              <a:t> </a:t>
            </a:r>
            <a:r>
              <a:rPr spc="-99" dirty="0"/>
              <a:t> </a:t>
            </a:r>
            <a:r>
              <a:rPr spc="377" dirty="0"/>
              <a:t>K</a:t>
            </a:r>
            <a:r>
              <a:rPr cap="small" spc="109" dirty="0"/>
              <a:t>han</a:t>
            </a:r>
            <a:r>
              <a:rPr dirty="0"/>
              <a:t>  </a:t>
            </a:r>
            <a:r>
              <a:rPr spc="30" dirty="0"/>
              <a:t> </a:t>
            </a:r>
            <a:r>
              <a:rPr spc="109" dirty="0">
                <a:latin typeface="Trebuchet MS"/>
                <a:cs typeface="Trebuchet MS"/>
              </a:rPr>
              <a:t>(LUMS)</a:t>
            </a:r>
          </a:p>
        </p:txBody>
      </p:sp>
      <p:sp>
        <p:nvSpPr>
          <p:cNvPr id="12" name="object 12"/>
          <p:cNvSpPr txBox="1">
            <a:spLocks noGrp="1"/>
          </p:cNvSpPr>
          <p:nvPr>
            <p:ph type="sldNum" sz="quarter" idx="7"/>
          </p:nvPr>
        </p:nvSpPr>
        <p:spPr>
          <a:xfrm>
            <a:off x="23571514" y="1940608"/>
            <a:ext cx="1661018" cy="166712"/>
          </a:xfrm>
          <a:prstGeom prst="rect">
            <a:avLst/>
          </a:prstGeom>
        </p:spPr>
        <p:txBody>
          <a:bodyPr vert="horz" wrap="square" lIns="0" tIns="0" rIns="0" bIns="0" rtlCol="0" anchor="b">
            <a:spAutoFit/>
          </a:bodyPr>
          <a:lstStyle/>
          <a:p>
            <a:pPr marL="75503">
              <a:lnSpc>
                <a:spcPts val="1338"/>
              </a:lnSpc>
            </a:pPr>
            <a:fld id="{81D60167-4931-47E6-BA6A-407CBD079E47}" type="slidenum">
              <a:rPr dirty="0"/>
              <a:pPr marL="75503">
                <a:lnSpc>
                  <a:spcPts val="1338"/>
                </a:lnSpc>
              </a:pPr>
              <a:t>2</a:t>
            </a:fld>
            <a:r>
              <a:rPr spc="-149" dirty="0"/>
              <a:t> </a:t>
            </a:r>
            <a:r>
              <a:rPr dirty="0"/>
              <a:t>/</a:t>
            </a:r>
            <a:r>
              <a:rPr spc="-149" dirty="0"/>
              <a:t> </a:t>
            </a:r>
            <a:r>
              <a:rPr dirty="0"/>
              <a:t>71</a:t>
            </a:r>
          </a:p>
        </p:txBody>
      </p:sp>
      <p:sp>
        <p:nvSpPr>
          <p:cNvPr id="3" name="object 3"/>
          <p:cNvSpPr txBox="1"/>
          <p:nvPr/>
        </p:nvSpPr>
        <p:spPr>
          <a:xfrm>
            <a:off x="1788395" y="941695"/>
            <a:ext cx="8612138" cy="1072582"/>
          </a:xfrm>
          <a:prstGeom prst="rect">
            <a:avLst/>
          </a:prstGeom>
        </p:spPr>
        <p:txBody>
          <a:bodyPr vert="horz" wrap="square" lIns="0" tIns="22650" rIns="0" bIns="0" rtlCol="0">
            <a:spAutoFit/>
          </a:bodyPr>
          <a:lstStyle/>
          <a:p>
            <a:pPr marL="25168">
              <a:spcBef>
                <a:spcPts val="178"/>
              </a:spcBef>
            </a:pPr>
            <a:r>
              <a:rPr sz="2180" spc="-59" dirty="0">
                <a:latin typeface="Tahoma"/>
                <a:cs typeface="Tahoma"/>
              </a:rPr>
              <a:t>Discrete</a:t>
            </a:r>
            <a:r>
              <a:rPr sz="2180" spc="40" dirty="0">
                <a:latin typeface="Tahoma"/>
                <a:cs typeface="Tahoma"/>
              </a:rPr>
              <a:t> </a:t>
            </a:r>
            <a:r>
              <a:rPr sz="2180" spc="-50" dirty="0">
                <a:latin typeface="Tahoma"/>
                <a:cs typeface="Tahoma"/>
              </a:rPr>
              <a:t>Mathematics</a:t>
            </a:r>
            <a:r>
              <a:rPr sz="2180" spc="50" dirty="0">
                <a:latin typeface="Tahoma"/>
                <a:cs typeface="Tahoma"/>
              </a:rPr>
              <a:t> </a:t>
            </a:r>
            <a:r>
              <a:rPr sz="2180" spc="-69" dirty="0">
                <a:latin typeface="Tahoma"/>
                <a:cs typeface="Tahoma"/>
              </a:rPr>
              <a:t>is</a:t>
            </a:r>
            <a:r>
              <a:rPr sz="2180" spc="50" dirty="0">
                <a:latin typeface="Tahoma"/>
                <a:cs typeface="Tahoma"/>
              </a:rPr>
              <a:t> </a:t>
            </a:r>
            <a:r>
              <a:rPr sz="2180" spc="-79" dirty="0">
                <a:latin typeface="Tahoma"/>
                <a:cs typeface="Tahoma"/>
              </a:rPr>
              <a:t>the</a:t>
            </a:r>
            <a:r>
              <a:rPr sz="2180" spc="50" dirty="0">
                <a:latin typeface="Tahoma"/>
                <a:cs typeface="Tahoma"/>
              </a:rPr>
              <a:t> </a:t>
            </a:r>
            <a:r>
              <a:rPr sz="2180" spc="-79" dirty="0">
                <a:latin typeface="Tahoma"/>
                <a:cs typeface="Tahoma"/>
              </a:rPr>
              <a:t>study</a:t>
            </a:r>
            <a:r>
              <a:rPr sz="2180" spc="40" dirty="0">
                <a:latin typeface="Tahoma"/>
                <a:cs typeface="Tahoma"/>
              </a:rPr>
              <a:t> </a:t>
            </a:r>
            <a:r>
              <a:rPr sz="2180" spc="-69" dirty="0">
                <a:latin typeface="Tahoma"/>
                <a:cs typeface="Tahoma"/>
              </a:rPr>
              <a:t>of</a:t>
            </a:r>
            <a:r>
              <a:rPr sz="2180" spc="40" dirty="0">
                <a:latin typeface="Tahoma"/>
                <a:cs typeface="Tahoma"/>
              </a:rPr>
              <a:t> </a:t>
            </a:r>
            <a:r>
              <a:rPr sz="2180" spc="-89" dirty="0">
                <a:latin typeface="Tahoma"/>
                <a:cs typeface="Tahoma"/>
              </a:rPr>
              <a:t>discrete</a:t>
            </a:r>
            <a:r>
              <a:rPr sz="2180" spc="59" dirty="0">
                <a:latin typeface="Tahoma"/>
                <a:cs typeface="Tahoma"/>
              </a:rPr>
              <a:t> </a:t>
            </a:r>
            <a:r>
              <a:rPr sz="2180" spc="-40" dirty="0">
                <a:latin typeface="Tahoma"/>
                <a:cs typeface="Tahoma"/>
              </a:rPr>
              <a:t>(not</a:t>
            </a:r>
            <a:r>
              <a:rPr sz="2180" spc="50" dirty="0">
                <a:latin typeface="Tahoma"/>
                <a:cs typeface="Tahoma"/>
              </a:rPr>
              <a:t> </a:t>
            </a:r>
            <a:r>
              <a:rPr sz="2180" spc="-69" dirty="0">
                <a:latin typeface="Tahoma"/>
                <a:cs typeface="Tahoma"/>
              </a:rPr>
              <a:t>continuous)</a:t>
            </a:r>
            <a:r>
              <a:rPr sz="2180" spc="50" dirty="0">
                <a:latin typeface="Tahoma"/>
                <a:cs typeface="Tahoma"/>
              </a:rPr>
              <a:t> </a:t>
            </a:r>
            <a:r>
              <a:rPr sz="2180" spc="-89" dirty="0">
                <a:latin typeface="Tahoma"/>
                <a:cs typeface="Tahoma"/>
              </a:rPr>
              <a:t>objects</a:t>
            </a:r>
            <a:endParaRPr sz="2180">
              <a:latin typeface="Tahoma"/>
              <a:cs typeface="Tahoma"/>
            </a:endParaRPr>
          </a:p>
          <a:p>
            <a:pPr>
              <a:spcBef>
                <a:spcPts val="50"/>
              </a:spcBef>
            </a:pPr>
            <a:endParaRPr sz="2378">
              <a:latin typeface="Tahoma"/>
              <a:cs typeface="Tahoma"/>
            </a:endParaRPr>
          </a:p>
          <a:p>
            <a:pPr marL="2276409"/>
            <a:r>
              <a:rPr sz="2180" spc="-654" dirty="0">
                <a:latin typeface="Lucida Sans Unicode"/>
                <a:cs typeface="Lucida Sans Unicode"/>
              </a:rPr>
              <a:t>▷</a:t>
            </a:r>
            <a:r>
              <a:rPr sz="2180" spc="-59" dirty="0">
                <a:latin typeface="Lucida Sans Unicode"/>
                <a:cs typeface="Lucida Sans Unicode"/>
              </a:rPr>
              <a:t> </a:t>
            </a:r>
            <a:r>
              <a:rPr sz="2180" spc="-50" dirty="0">
                <a:latin typeface="Tahoma"/>
                <a:cs typeface="Tahoma"/>
              </a:rPr>
              <a:t>Unlike</a:t>
            </a:r>
            <a:r>
              <a:rPr sz="2180" spc="40" dirty="0">
                <a:latin typeface="Tahoma"/>
                <a:cs typeface="Tahoma"/>
              </a:rPr>
              <a:t> </a:t>
            </a:r>
            <a:r>
              <a:rPr sz="2180" spc="-59" dirty="0">
                <a:latin typeface="Tahoma"/>
                <a:cs typeface="Tahoma"/>
              </a:rPr>
              <a:t>Calculus</a:t>
            </a:r>
            <a:r>
              <a:rPr sz="2180" spc="50" dirty="0">
                <a:latin typeface="Tahoma"/>
                <a:cs typeface="Tahoma"/>
              </a:rPr>
              <a:t> </a:t>
            </a:r>
            <a:r>
              <a:rPr sz="2180" spc="-69" dirty="0">
                <a:latin typeface="Tahoma"/>
                <a:cs typeface="Tahoma"/>
              </a:rPr>
              <a:t>(no</a:t>
            </a:r>
            <a:r>
              <a:rPr sz="2180" spc="40" dirty="0">
                <a:latin typeface="Tahoma"/>
                <a:cs typeface="Tahoma"/>
              </a:rPr>
              <a:t> </a:t>
            </a:r>
            <a:r>
              <a:rPr sz="2180" spc="-40" dirty="0">
                <a:latin typeface="Tahoma"/>
                <a:cs typeface="Tahoma"/>
              </a:rPr>
              <a:t>limits,</a:t>
            </a:r>
            <a:r>
              <a:rPr sz="2180" spc="50" dirty="0">
                <a:latin typeface="Tahoma"/>
                <a:cs typeface="Tahoma"/>
              </a:rPr>
              <a:t> </a:t>
            </a:r>
            <a:r>
              <a:rPr sz="2180" spc="-69" dirty="0">
                <a:latin typeface="Tahoma"/>
                <a:cs typeface="Tahoma"/>
              </a:rPr>
              <a:t>continuity,</a:t>
            </a:r>
            <a:r>
              <a:rPr sz="2180" spc="40" dirty="0">
                <a:latin typeface="Tahoma"/>
                <a:cs typeface="Tahoma"/>
              </a:rPr>
              <a:t> </a:t>
            </a:r>
            <a:r>
              <a:rPr sz="2180" spc="-59" dirty="0">
                <a:latin typeface="Tahoma"/>
                <a:cs typeface="Tahoma"/>
              </a:rPr>
              <a:t>differentiation)</a:t>
            </a:r>
            <a:endParaRPr sz="2180">
              <a:latin typeface="Tahoma"/>
              <a:cs typeface="Tahoma"/>
            </a:endParaRPr>
          </a:p>
        </p:txBody>
      </p:sp>
      <p:pic>
        <p:nvPicPr>
          <p:cNvPr id="4" name="object 4"/>
          <p:cNvPicPr/>
          <p:nvPr/>
        </p:nvPicPr>
        <p:blipFill>
          <a:blip r:embed="rId2" cstate="print"/>
          <a:stretch>
            <a:fillRect/>
          </a:stretch>
        </p:blipFill>
        <p:spPr>
          <a:xfrm>
            <a:off x="3311708" y="2445387"/>
            <a:ext cx="5564485" cy="3402283"/>
          </a:xfrm>
          <a:prstGeom prst="rect">
            <a:avLst/>
          </a:prstGeom>
        </p:spPr>
      </p:pic>
      <p:sp>
        <p:nvSpPr>
          <p:cNvPr id="5" name="object 5"/>
          <p:cNvSpPr txBox="1"/>
          <p:nvPr/>
        </p:nvSpPr>
        <p:spPr>
          <a:xfrm>
            <a:off x="7711529" y="5823643"/>
            <a:ext cx="1156422" cy="162694"/>
          </a:xfrm>
          <a:prstGeom prst="rect">
            <a:avLst/>
          </a:prstGeom>
        </p:spPr>
        <p:txBody>
          <a:bodyPr vert="horz" wrap="square" lIns="0" tIns="25167" rIns="0" bIns="0" rtlCol="0">
            <a:spAutoFit/>
          </a:bodyPr>
          <a:lstStyle/>
          <a:p>
            <a:pPr marL="25168">
              <a:spcBef>
                <a:spcPts val="198"/>
              </a:spcBef>
            </a:pPr>
            <a:r>
              <a:rPr sz="892" dirty="0">
                <a:solidFill>
                  <a:srgbClr val="FF0000"/>
                </a:solidFill>
                <a:latin typeface="Calibri"/>
                <a:cs typeface="Calibri"/>
              </a:rPr>
              <a:t>source:</a:t>
            </a:r>
            <a:r>
              <a:rPr sz="892" spc="119" dirty="0">
                <a:solidFill>
                  <a:srgbClr val="FF0000"/>
                </a:solidFill>
                <a:latin typeface="Calibri"/>
                <a:cs typeface="Calibri"/>
              </a:rPr>
              <a:t> </a:t>
            </a:r>
            <a:r>
              <a:rPr sz="892" spc="20" dirty="0">
                <a:solidFill>
                  <a:srgbClr val="FF0000"/>
                </a:solidFill>
                <a:latin typeface="Calibri"/>
                <a:cs typeface="Calibri"/>
              </a:rPr>
              <a:t>Google</a:t>
            </a:r>
            <a:r>
              <a:rPr sz="892" spc="40" dirty="0">
                <a:solidFill>
                  <a:srgbClr val="FF0000"/>
                </a:solidFill>
                <a:latin typeface="Calibri"/>
                <a:cs typeface="Calibri"/>
              </a:rPr>
              <a:t> </a:t>
            </a:r>
            <a:r>
              <a:rPr sz="892" spc="10" dirty="0">
                <a:solidFill>
                  <a:srgbClr val="FF0000"/>
                </a:solidFill>
                <a:latin typeface="Calibri"/>
                <a:cs typeface="Calibri"/>
              </a:rPr>
              <a:t>images</a:t>
            </a:r>
            <a:endParaRPr sz="892">
              <a:latin typeface="Calibri"/>
              <a:cs typeface="Calibri"/>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5611" y="263753"/>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30" dirty="0"/>
              <a:t> </a:t>
            </a:r>
            <a:r>
              <a:rPr spc="-59" dirty="0"/>
              <a:t>Study</a:t>
            </a:r>
            <a:r>
              <a:rPr spc="30" dirty="0"/>
              <a:t> </a:t>
            </a:r>
            <a:r>
              <a:rPr spc="-69" dirty="0"/>
              <a:t>Discrete</a:t>
            </a:r>
            <a:r>
              <a:rPr spc="40" dirty="0"/>
              <a:t> </a:t>
            </a:r>
            <a:r>
              <a:rPr spc="20" dirty="0"/>
              <a:t>Math?	</a:t>
            </a:r>
          </a:p>
        </p:txBody>
      </p:sp>
      <p:sp>
        <p:nvSpPr>
          <p:cNvPr id="17" name="object 17"/>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3" name="object 3"/>
          <p:cNvSpPr/>
          <p:nvPr/>
        </p:nvSpPr>
        <p:spPr>
          <a:xfrm>
            <a:off x="2008228" y="1742309"/>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4" name="object 4"/>
          <p:cNvSpPr/>
          <p:nvPr/>
        </p:nvSpPr>
        <p:spPr>
          <a:xfrm>
            <a:off x="2567918" y="2103908"/>
            <a:ext cx="111993" cy="111993"/>
          </a:xfrm>
          <a:custGeom>
            <a:avLst/>
            <a:gdLst/>
            <a:ahLst/>
            <a:cxnLst/>
            <a:rect l="l" t="t" r="r" b="b"/>
            <a:pathLst>
              <a:path w="56515" h="56515">
                <a:moveTo>
                  <a:pt x="56235" y="0"/>
                </a:moveTo>
                <a:lnTo>
                  <a:pt x="0" y="0"/>
                </a:lnTo>
                <a:lnTo>
                  <a:pt x="0" y="56235"/>
                </a:lnTo>
                <a:lnTo>
                  <a:pt x="56235" y="56235"/>
                </a:lnTo>
                <a:lnTo>
                  <a:pt x="56235" y="0"/>
                </a:lnTo>
                <a:close/>
              </a:path>
            </a:pathLst>
          </a:custGeom>
          <a:solidFill>
            <a:srgbClr val="3333B2"/>
          </a:solidFill>
        </p:spPr>
        <p:txBody>
          <a:bodyPr wrap="square" lIns="0" tIns="0" rIns="0" bIns="0" rtlCol="0"/>
          <a:lstStyle/>
          <a:p>
            <a:endParaRPr sz="3567"/>
          </a:p>
        </p:txBody>
      </p:sp>
      <p:sp>
        <p:nvSpPr>
          <p:cNvPr id="5" name="object 5"/>
          <p:cNvSpPr/>
          <p:nvPr/>
        </p:nvSpPr>
        <p:spPr>
          <a:xfrm>
            <a:off x="2008228" y="2634905"/>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6" name="object 6"/>
          <p:cNvSpPr txBox="1"/>
          <p:nvPr/>
        </p:nvSpPr>
        <p:spPr>
          <a:xfrm>
            <a:off x="1693264" y="830228"/>
            <a:ext cx="5954506" cy="2315316"/>
          </a:xfrm>
          <a:prstGeom prst="rect">
            <a:avLst/>
          </a:prstGeom>
        </p:spPr>
        <p:txBody>
          <a:bodyPr vert="horz" wrap="square" lIns="0" tIns="33975" rIns="0" bIns="0" rtlCol="0">
            <a:spAutoFit/>
          </a:bodyPr>
          <a:lstStyle/>
          <a:p>
            <a:pPr marL="25168">
              <a:spcBef>
                <a:spcPts val="268"/>
              </a:spcBef>
            </a:pPr>
            <a:r>
              <a:rPr sz="2180" b="1" spc="-79" dirty="0">
                <a:solidFill>
                  <a:srgbClr val="FF0000"/>
                </a:solidFill>
                <a:latin typeface="Arial"/>
                <a:cs typeface="Arial"/>
              </a:rPr>
              <a:t>Computer</a:t>
            </a:r>
            <a:r>
              <a:rPr sz="2180" b="1" spc="178" dirty="0">
                <a:solidFill>
                  <a:srgbClr val="FF0000"/>
                </a:solidFill>
                <a:latin typeface="Arial"/>
                <a:cs typeface="Arial"/>
              </a:rPr>
              <a:t> </a:t>
            </a:r>
            <a:r>
              <a:rPr sz="2180" b="1" spc="-129" dirty="0">
                <a:solidFill>
                  <a:srgbClr val="FF0000"/>
                </a:solidFill>
                <a:latin typeface="Arial"/>
                <a:cs typeface="Arial"/>
              </a:rPr>
              <a:t>Science</a:t>
            </a:r>
            <a:r>
              <a:rPr sz="2180" b="1" spc="188" dirty="0">
                <a:solidFill>
                  <a:srgbClr val="FF0000"/>
                </a:solidFill>
                <a:latin typeface="Arial"/>
                <a:cs typeface="Arial"/>
              </a:rPr>
              <a:t> </a:t>
            </a:r>
            <a:r>
              <a:rPr sz="2774" b="1" spc="803" dirty="0">
                <a:solidFill>
                  <a:srgbClr val="FF0000"/>
                </a:solidFill>
                <a:latin typeface="Arial"/>
                <a:cs typeface="Arial"/>
              </a:rPr>
              <a:t>=</a:t>
            </a:r>
            <a:r>
              <a:rPr sz="2774" b="1" spc="1060" dirty="0">
                <a:solidFill>
                  <a:srgbClr val="FF0000"/>
                </a:solidFill>
                <a:latin typeface="Arial"/>
                <a:cs typeface="Arial"/>
              </a:rPr>
              <a:t> </a:t>
            </a:r>
            <a:r>
              <a:rPr sz="2180" b="1" spc="-69" dirty="0">
                <a:solidFill>
                  <a:srgbClr val="FF0000"/>
                </a:solidFill>
                <a:latin typeface="Arial"/>
                <a:cs typeface="Arial"/>
              </a:rPr>
              <a:t>Problem</a:t>
            </a:r>
            <a:r>
              <a:rPr sz="2180" b="1" spc="188" dirty="0">
                <a:solidFill>
                  <a:srgbClr val="FF0000"/>
                </a:solidFill>
                <a:latin typeface="Arial"/>
                <a:cs typeface="Arial"/>
              </a:rPr>
              <a:t> </a:t>
            </a:r>
            <a:r>
              <a:rPr sz="2180" b="1" spc="-119" dirty="0">
                <a:solidFill>
                  <a:srgbClr val="FF0000"/>
                </a:solidFill>
                <a:latin typeface="Arial"/>
                <a:cs typeface="Arial"/>
              </a:rPr>
              <a:t>Solving</a:t>
            </a:r>
            <a:endParaRPr sz="2180" dirty="0">
              <a:latin typeface="Arial"/>
              <a:cs typeface="Arial"/>
            </a:endParaRPr>
          </a:p>
          <a:p>
            <a:pPr marL="573821">
              <a:spcBef>
                <a:spcPts val="2358"/>
              </a:spcBef>
            </a:pPr>
            <a:r>
              <a:rPr sz="2180" spc="-50" dirty="0">
                <a:latin typeface="Tahoma"/>
                <a:cs typeface="Tahoma"/>
              </a:rPr>
              <a:t>Mathematics</a:t>
            </a:r>
            <a:r>
              <a:rPr sz="2180" dirty="0">
                <a:latin typeface="Tahoma"/>
                <a:cs typeface="Tahoma"/>
              </a:rPr>
              <a:t> </a:t>
            </a:r>
            <a:r>
              <a:rPr sz="2180" spc="-69" dirty="0">
                <a:latin typeface="Tahoma"/>
                <a:cs typeface="Tahoma"/>
              </a:rPr>
              <a:t>is</a:t>
            </a:r>
            <a:r>
              <a:rPr sz="2180" spc="10" dirty="0">
                <a:latin typeface="Tahoma"/>
                <a:cs typeface="Tahoma"/>
              </a:rPr>
              <a:t> </a:t>
            </a:r>
            <a:r>
              <a:rPr sz="2180" spc="-30" dirty="0">
                <a:latin typeface="Tahoma"/>
                <a:cs typeface="Tahoma"/>
              </a:rPr>
              <a:t>at</a:t>
            </a:r>
            <a:r>
              <a:rPr sz="2180" spc="10" dirty="0">
                <a:latin typeface="Tahoma"/>
                <a:cs typeface="Tahoma"/>
              </a:rPr>
              <a:t> </a:t>
            </a:r>
            <a:r>
              <a:rPr sz="2180" spc="-79" dirty="0">
                <a:latin typeface="Tahoma"/>
                <a:cs typeface="Tahoma"/>
              </a:rPr>
              <a:t>the</a:t>
            </a:r>
            <a:r>
              <a:rPr sz="2180" dirty="0">
                <a:latin typeface="Tahoma"/>
                <a:cs typeface="Tahoma"/>
              </a:rPr>
              <a:t> </a:t>
            </a:r>
            <a:r>
              <a:rPr sz="2180" spc="-99" dirty="0">
                <a:latin typeface="Tahoma"/>
                <a:cs typeface="Tahoma"/>
              </a:rPr>
              <a:t>heart</a:t>
            </a:r>
            <a:r>
              <a:rPr sz="2180" spc="10" dirty="0">
                <a:latin typeface="Tahoma"/>
                <a:cs typeface="Tahoma"/>
              </a:rPr>
              <a:t> </a:t>
            </a:r>
            <a:r>
              <a:rPr sz="2180" spc="-69" dirty="0">
                <a:latin typeface="Tahoma"/>
                <a:cs typeface="Tahoma"/>
              </a:rPr>
              <a:t>of</a:t>
            </a:r>
            <a:r>
              <a:rPr sz="2180" spc="10" dirty="0">
                <a:latin typeface="Tahoma"/>
                <a:cs typeface="Tahoma"/>
              </a:rPr>
              <a:t> </a:t>
            </a:r>
            <a:r>
              <a:rPr sz="2180" spc="-99" dirty="0">
                <a:latin typeface="Tahoma"/>
                <a:cs typeface="Tahoma"/>
              </a:rPr>
              <a:t>problem</a:t>
            </a:r>
            <a:r>
              <a:rPr sz="2180" spc="10" dirty="0">
                <a:latin typeface="Tahoma"/>
                <a:cs typeface="Tahoma"/>
              </a:rPr>
              <a:t> </a:t>
            </a:r>
            <a:r>
              <a:rPr sz="2180" spc="-79" dirty="0">
                <a:latin typeface="Tahoma"/>
                <a:cs typeface="Tahoma"/>
              </a:rPr>
              <a:t>solving</a:t>
            </a:r>
            <a:endParaRPr sz="2180" dirty="0">
              <a:latin typeface="Tahoma"/>
              <a:cs typeface="Tahoma"/>
            </a:endParaRPr>
          </a:p>
          <a:p>
            <a:pPr marL="1122475">
              <a:spcBef>
                <a:spcPts val="347"/>
              </a:spcBef>
            </a:pPr>
            <a:r>
              <a:rPr sz="1982" spc="-50" dirty="0">
                <a:latin typeface="Tahoma"/>
                <a:cs typeface="Tahoma"/>
              </a:rPr>
              <a:t>definition,</a:t>
            </a:r>
            <a:r>
              <a:rPr sz="1982" spc="40" dirty="0">
                <a:latin typeface="Tahoma"/>
                <a:cs typeface="Tahoma"/>
              </a:rPr>
              <a:t> </a:t>
            </a:r>
            <a:r>
              <a:rPr sz="1982" spc="-69" dirty="0">
                <a:latin typeface="Tahoma"/>
                <a:cs typeface="Tahoma"/>
              </a:rPr>
              <a:t>modeling,</a:t>
            </a:r>
            <a:r>
              <a:rPr sz="1982" spc="50" dirty="0">
                <a:latin typeface="Tahoma"/>
                <a:cs typeface="Tahoma"/>
              </a:rPr>
              <a:t> </a:t>
            </a:r>
            <a:r>
              <a:rPr sz="1982" spc="-59" dirty="0">
                <a:latin typeface="Tahoma"/>
                <a:cs typeface="Tahoma"/>
              </a:rPr>
              <a:t>solution,</a:t>
            </a:r>
            <a:r>
              <a:rPr sz="1982" spc="40" dirty="0">
                <a:latin typeface="Tahoma"/>
                <a:cs typeface="Tahoma"/>
              </a:rPr>
              <a:t> </a:t>
            </a:r>
            <a:r>
              <a:rPr sz="1982" spc="-79" dirty="0">
                <a:latin typeface="Tahoma"/>
                <a:cs typeface="Tahoma"/>
              </a:rPr>
              <a:t>analysis</a:t>
            </a:r>
            <a:endParaRPr sz="1982" dirty="0">
              <a:latin typeface="Tahoma"/>
              <a:cs typeface="Tahoma"/>
            </a:endParaRPr>
          </a:p>
          <a:p>
            <a:pPr marL="573821" marR="181207">
              <a:lnSpc>
                <a:spcPct val="102699"/>
              </a:lnSpc>
              <a:spcBef>
                <a:spcPts val="1625"/>
              </a:spcBef>
            </a:pPr>
            <a:r>
              <a:rPr sz="2180" spc="-89" dirty="0">
                <a:latin typeface="Tahoma"/>
                <a:cs typeface="Tahoma"/>
              </a:rPr>
              <a:t>Computers</a:t>
            </a:r>
            <a:r>
              <a:rPr sz="2180" spc="50" dirty="0">
                <a:latin typeface="Tahoma"/>
                <a:cs typeface="Tahoma"/>
              </a:rPr>
              <a:t> </a:t>
            </a:r>
            <a:r>
              <a:rPr sz="2180" spc="-139" dirty="0">
                <a:latin typeface="Tahoma"/>
                <a:cs typeface="Tahoma"/>
              </a:rPr>
              <a:t>are</a:t>
            </a:r>
            <a:r>
              <a:rPr sz="2180" spc="59" dirty="0">
                <a:latin typeface="Tahoma"/>
                <a:cs typeface="Tahoma"/>
              </a:rPr>
              <a:t> </a:t>
            </a:r>
            <a:r>
              <a:rPr sz="2180" spc="-89" dirty="0">
                <a:latin typeface="Tahoma"/>
                <a:cs typeface="Tahoma"/>
              </a:rPr>
              <a:t>discrete</a:t>
            </a:r>
            <a:r>
              <a:rPr sz="2180" spc="59" dirty="0">
                <a:latin typeface="Tahoma"/>
                <a:cs typeface="Tahoma"/>
              </a:rPr>
              <a:t> </a:t>
            </a:r>
            <a:r>
              <a:rPr sz="2180" spc="-89" dirty="0">
                <a:latin typeface="Tahoma"/>
                <a:cs typeface="Tahoma"/>
              </a:rPr>
              <a:t>objects</a:t>
            </a:r>
            <a:r>
              <a:rPr sz="2180" spc="69" dirty="0">
                <a:latin typeface="Tahoma"/>
                <a:cs typeface="Tahoma"/>
              </a:rPr>
              <a:t> </a:t>
            </a:r>
            <a:r>
              <a:rPr sz="2180" spc="-79" dirty="0">
                <a:latin typeface="Tahoma"/>
                <a:cs typeface="Tahoma"/>
              </a:rPr>
              <a:t>operating</a:t>
            </a:r>
            <a:r>
              <a:rPr sz="2180" spc="59" dirty="0">
                <a:latin typeface="Tahoma"/>
                <a:cs typeface="Tahoma"/>
              </a:rPr>
              <a:t> </a:t>
            </a:r>
            <a:r>
              <a:rPr sz="2180" spc="-139" dirty="0">
                <a:latin typeface="Tahoma"/>
                <a:cs typeface="Tahoma"/>
              </a:rPr>
              <a:t>one </a:t>
            </a:r>
            <a:r>
              <a:rPr sz="2180" spc="-654" dirty="0">
                <a:latin typeface="Tahoma"/>
                <a:cs typeface="Tahoma"/>
              </a:rPr>
              <a:t> </a:t>
            </a:r>
            <a:r>
              <a:rPr sz="2180" spc="-79" dirty="0">
                <a:latin typeface="Tahoma"/>
                <a:cs typeface="Tahoma"/>
              </a:rPr>
              <a:t>discontinuous</a:t>
            </a:r>
            <a:r>
              <a:rPr sz="2180" spc="30" dirty="0">
                <a:latin typeface="Tahoma"/>
                <a:cs typeface="Tahoma"/>
              </a:rPr>
              <a:t> </a:t>
            </a:r>
            <a:r>
              <a:rPr sz="2180" spc="-69" dirty="0">
                <a:latin typeface="Tahoma"/>
                <a:cs typeface="Tahoma"/>
              </a:rPr>
              <a:t>(discrete)</a:t>
            </a:r>
            <a:r>
              <a:rPr sz="2180" spc="40" dirty="0">
                <a:latin typeface="Tahoma"/>
                <a:cs typeface="Tahoma"/>
              </a:rPr>
              <a:t> </a:t>
            </a:r>
            <a:r>
              <a:rPr sz="2180" spc="-99" dirty="0">
                <a:latin typeface="Tahoma"/>
                <a:cs typeface="Tahoma"/>
              </a:rPr>
              <a:t>step</a:t>
            </a:r>
            <a:r>
              <a:rPr sz="2180" spc="30" dirty="0">
                <a:latin typeface="Tahoma"/>
                <a:cs typeface="Tahoma"/>
              </a:rPr>
              <a:t> </a:t>
            </a:r>
            <a:r>
              <a:rPr sz="2180" spc="-30" dirty="0">
                <a:latin typeface="Tahoma"/>
                <a:cs typeface="Tahoma"/>
              </a:rPr>
              <a:t>at</a:t>
            </a:r>
            <a:r>
              <a:rPr sz="2180" spc="40" dirty="0">
                <a:latin typeface="Tahoma"/>
                <a:cs typeface="Tahoma"/>
              </a:rPr>
              <a:t> </a:t>
            </a:r>
            <a:r>
              <a:rPr sz="2180" spc="-109" dirty="0">
                <a:latin typeface="Tahoma"/>
                <a:cs typeface="Tahoma"/>
              </a:rPr>
              <a:t>a</a:t>
            </a:r>
            <a:r>
              <a:rPr sz="2180" spc="40" dirty="0">
                <a:latin typeface="Tahoma"/>
                <a:cs typeface="Tahoma"/>
              </a:rPr>
              <a:t> </a:t>
            </a:r>
            <a:r>
              <a:rPr sz="2180" spc="-59" dirty="0">
                <a:latin typeface="Tahoma"/>
                <a:cs typeface="Tahoma"/>
              </a:rPr>
              <a:t>time</a:t>
            </a:r>
            <a:endParaRPr sz="2180" dirty="0">
              <a:latin typeface="Tahoma"/>
              <a:cs typeface="Tahoma"/>
            </a:endParaRPr>
          </a:p>
        </p:txBody>
      </p:sp>
      <p:sp>
        <p:nvSpPr>
          <p:cNvPr id="7" name="object 7"/>
          <p:cNvSpPr/>
          <p:nvPr/>
        </p:nvSpPr>
        <p:spPr>
          <a:xfrm>
            <a:off x="2008228" y="3517487"/>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8" name="object 8"/>
          <p:cNvSpPr txBox="1"/>
          <p:nvPr/>
        </p:nvSpPr>
        <p:spPr>
          <a:xfrm>
            <a:off x="2242357" y="3339781"/>
            <a:ext cx="5150421" cy="676146"/>
          </a:xfrm>
          <a:prstGeom prst="rect">
            <a:avLst/>
          </a:prstGeom>
        </p:spPr>
        <p:txBody>
          <a:bodyPr vert="horz" wrap="square" lIns="0" tIns="13842" rIns="0" bIns="0" rtlCol="0">
            <a:spAutoFit/>
          </a:bodyPr>
          <a:lstStyle/>
          <a:p>
            <a:pPr marL="25168" marR="10067">
              <a:lnSpc>
                <a:spcPct val="102600"/>
              </a:lnSpc>
              <a:spcBef>
                <a:spcPts val="109"/>
              </a:spcBef>
            </a:pPr>
            <a:r>
              <a:rPr sz="2180" spc="-59" dirty="0">
                <a:latin typeface="Tahoma"/>
                <a:cs typeface="Tahoma"/>
              </a:rPr>
              <a:t>Discrete</a:t>
            </a:r>
            <a:r>
              <a:rPr sz="2180" spc="30" dirty="0">
                <a:latin typeface="Tahoma"/>
                <a:cs typeface="Tahoma"/>
              </a:rPr>
              <a:t> </a:t>
            </a:r>
            <a:r>
              <a:rPr sz="2180" spc="-79" dirty="0">
                <a:latin typeface="Tahoma"/>
                <a:cs typeface="Tahoma"/>
              </a:rPr>
              <a:t>mathematics</a:t>
            </a:r>
            <a:r>
              <a:rPr sz="2180" spc="40" dirty="0">
                <a:latin typeface="Tahoma"/>
                <a:cs typeface="Tahoma"/>
              </a:rPr>
              <a:t> </a:t>
            </a:r>
            <a:r>
              <a:rPr sz="2180" spc="-69" dirty="0">
                <a:latin typeface="Tahoma"/>
                <a:cs typeface="Tahoma"/>
              </a:rPr>
              <a:t>is</a:t>
            </a:r>
            <a:r>
              <a:rPr sz="2180" spc="30" dirty="0">
                <a:latin typeface="Tahoma"/>
                <a:cs typeface="Tahoma"/>
              </a:rPr>
              <a:t> </a:t>
            </a:r>
            <a:r>
              <a:rPr sz="2180" spc="-79" dirty="0">
                <a:latin typeface="Tahoma"/>
                <a:cs typeface="Tahoma"/>
              </a:rPr>
              <a:t>the</a:t>
            </a:r>
            <a:r>
              <a:rPr sz="2180" spc="40" dirty="0">
                <a:latin typeface="Tahoma"/>
                <a:cs typeface="Tahoma"/>
              </a:rPr>
              <a:t> </a:t>
            </a:r>
            <a:r>
              <a:rPr sz="2180" spc="-50" dirty="0">
                <a:latin typeface="Tahoma"/>
                <a:cs typeface="Tahoma"/>
              </a:rPr>
              <a:t>right</a:t>
            </a:r>
            <a:r>
              <a:rPr sz="2180" spc="30" dirty="0">
                <a:latin typeface="Tahoma"/>
                <a:cs typeface="Tahoma"/>
              </a:rPr>
              <a:t> </a:t>
            </a:r>
            <a:r>
              <a:rPr sz="2180" spc="-109" dirty="0">
                <a:latin typeface="Tahoma"/>
                <a:cs typeface="Tahoma"/>
              </a:rPr>
              <a:t>framework </a:t>
            </a:r>
            <a:r>
              <a:rPr sz="2180" spc="-654" dirty="0">
                <a:latin typeface="Tahoma"/>
                <a:cs typeface="Tahoma"/>
              </a:rPr>
              <a:t> </a:t>
            </a:r>
            <a:r>
              <a:rPr sz="2180" spc="-89" dirty="0">
                <a:latin typeface="Tahoma"/>
                <a:cs typeface="Tahoma"/>
              </a:rPr>
              <a:t>for</a:t>
            </a:r>
            <a:r>
              <a:rPr sz="2180" spc="40" dirty="0">
                <a:latin typeface="Tahoma"/>
                <a:cs typeface="Tahoma"/>
              </a:rPr>
              <a:t> </a:t>
            </a:r>
            <a:r>
              <a:rPr sz="2180" spc="-89" dirty="0">
                <a:latin typeface="Tahoma"/>
                <a:cs typeface="Tahoma"/>
              </a:rPr>
              <a:t>describing</a:t>
            </a:r>
            <a:r>
              <a:rPr sz="2180" spc="40" dirty="0">
                <a:latin typeface="Tahoma"/>
                <a:cs typeface="Tahoma"/>
              </a:rPr>
              <a:t> </a:t>
            </a:r>
            <a:r>
              <a:rPr sz="2180" spc="-99" dirty="0">
                <a:latin typeface="Tahoma"/>
                <a:cs typeface="Tahoma"/>
              </a:rPr>
              <a:t>precisely</a:t>
            </a:r>
            <a:r>
              <a:rPr sz="2180" spc="40" dirty="0">
                <a:latin typeface="Tahoma"/>
                <a:cs typeface="Tahoma"/>
              </a:rPr>
              <a:t> </a:t>
            </a:r>
            <a:r>
              <a:rPr sz="2180" spc="20" dirty="0">
                <a:latin typeface="Tahoma"/>
                <a:cs typeface="Tahoma"/>
              </a:rPr>
              <a:t>CS</a:t>
            </a:r>
            <a:r>
              <a:rPr sz="2180" spc="40" dirty="0">
                <a:latin typeface="Tahoma"/>
                <a:cs typeface="Tahoma"/>
              </a:rPr>
              <a:t> </a:t>
            </a:r>
            <a:r>
              <a:rPr sz="2180" spc="-89" dirty="0">
                <a:latin typeface="Tahoma"/>
                <a:cs typeface="Tahoma"/>
              </a:rPr>
              <a:t>concepts</a:t>
            </a:r>
            <a:endParaRPr sz="2180">
              <a:latin typeface="Tahoma"/>
              <a:cs typeface="Tahoma"/>
            </a:endParaRPr>
          </a:p>
        </p:txBody>
      </p:sp>
      <p:pic>
        <p:nvPicPr>
          <p:cNvPr id="9" name="object 9"/>
          <p:cNvPicPr/>
          <p:nvPr/>
        </p:nvPicPr>
        <p:blipFill>
          <a:blip r:embed="rId2" cstate="print"/>
          <a:stretch>
            <a:fillRect/>
          </a:stretch>
        </p:blipFill>
        <p:spPr>
          <a:xfrm>
            <a:off x="8019595" y="1783199"/>
            <a:ext cx="2344892" cy="1626516"/>
          </a:xfrm>
          <a:prstGeom prst="rect">
            <a:avLst/>
          </a:prstGeom>
        </p:spPr>
      </p:pic>
      <p:sp>
        <p:nvSpPr>
          <p:cNvPr id="10" name="object 10"/>
          <p:cNvSpPr txBox="1"/>
          <p:nvPr/>
        </p:nvSpPr>
        <p:spPr>
          <a:xfrm>
            <a:off x="9191100" y="3448713"/>
            <a:ext cx="1221857" cy="133507"/>
          </a:xfrm>
          <a:prstGeom prst="rect">
            <a:avLst/>
          </a:prstGeom>
        </p:spPr>
        <p:txBody>
          <a:bodyPr vert="horz" wrap="square" lIns="0" tIns="26425" rIns="0" bIns="0" rtlCol="0">
            <a:spAutoFit/>
          </a:bodyPr>
          <a:lstStyle/>
          <a:p>
            <a:pPr marL="25168">
              <a:spcBef>
                <a:spcPts val="208"/>
              </a:spcBef>
            </a:pPr>
            <a:r>
              <a:rPr sz="694" dirty="0">
                <a:solidFill>
                  <a:srgbClr val="FF0000"/>
                </a:solidFill>
                <a:latin typeface="Calibri"/>
                <a:cs typeface="Calibri"/>
              </a:rPr>
              <a:t>source:</a:t>
            </a:r>
            <a:r>
              <a:rPr sz="694" spc="69" dirty="0">
                <a:solidFill>
                  <a:srgbClr val="FF0000"/>
                </a:solidFill>
                <a:latin typeface="Calibri"/>
                <a:cs typeface="Calibri"/>
              </a:rPr>
              <a:t> </a:t>
            </a:r>
            <a:r>
              <a:rPr sz="694" spc="30" dirty="0">
                <a:solidFill>
                  <a:srgbClr val="FF0000"/>
                </a:solidFill>
                <a:latin typeface="Calibri"/>
                <a:cs typeface="Calibri"/>
              </a:rPr>
              <a:t>ProgrammerHumor.io</a:t>
            </a:r>
            <a:endParaRPr sz="694">
              <a:latin typeface="Calibri"/>
              <a:cs typeface="Calibri"/>
            </a:endParaRPr>
          </a:p>
        </p:txBody>
      </p:sp>
      <p:sp>
        <p:nvSpPr>
          <p:cNvPr id="11" name="object 11"/>
          <p:cNvSpPr/>
          <p:nvPr/>
        </p:nvSpPr>
        <p:spPr>
          <a:xfrm>
            <a:off x="3054874" y="5713832"/>
            <a:ext cx="7319814" cy="0"/>
          </a:xfrm>
          <a:custGeom>
            <a:avLst/>
            <a:gdLst/>
            <a:ahLst/>
            <a:cxnLst/>
            <a:rect l="l" t="t" r="r" b="b"/>
            <a:pathLst>
              <a:path w="3693795">
                <a:moveTo>
                  <a:pt x="0" y="0"/>
                </a:moveTo>
                <a:lnTo>
                  <a:pt x="3693591" y="0"/>
                </a:lnTo>
              </a:path>
            </a:pathLst>
          </a:custGeom>
          <a:ln w="5054">
            <a:solidFill>
              <a:srgbClr val="000000"/>
            </a:solidFill>
          </a:ln>
        </p:spPr>
        <p:txBody>
          <a:bodyPr wrap="square" lIns="0" tIns="0" rIns="0" bIns="0" rtlCol="0"/>
          <a:lstStyle/>
          <a:p>
            <a:endParaRPr sz="3567"/>
          </a:p>
        </p:txBody>
      </p:sp>
      <p:sp>
        <p:nvSpPr>
          <p:cNvPr id="12" name="object 12"/>
          <p:cNvSpPr txBox="1"/>
          <p:nvPr/>
        </p:nvSpPr>
        <p:spPr>
          <a:xfrm>
            <a:off x="3029705" y="4896925"/>
            <a:ext cx="7368890" cy="1131562"/>
          </a:xfrm>
          <a:prstGeom prst="rect">
            <a:avLst/>
          </a:prstGeom>
        </p:spPr>
        <p:txBody>
          <a:bodyPr vert="horz" wrap="square" lIns="0" tIns="23909" rIns="0" bIns="0" rtlCol="0">
            <a:spAutoFit/>
          </a:bodyPr>
          <a:lstStyle/>
          <a:p>
            <a:pPr marL="25168" marR="449241">
              <a:spcBef>
                <a:spcPts val="188"/>
              </a:spcBef>
            </a:pPr>
            <a:r>
              <a:rPr sz="1982" i="1" spc="-89" dirty="0">
                <a:latin typeface="Arial"/>
                <a:cs typeface="Arial"/>
              </a:rPr>
              <a:t>Computer</a:t>
            </a:r>
            <a:r>
              <a:rPr sz="1982" i="1" spc="99" dirty="0">
                <a:latin typeface="Arial"/>
                <a:cs typeface="Arial"/>
              </a:rPr>
              <a:t> </a:t>
            </a:r>
            <a:r>
              <a:rPr sz="1982" i="1" spc="-139" dirty="0">
                <a:latin typeface="Arial"/>
                <a:cs typeface="Arial"/>
              </a:rPr>
              <a:t>Science</a:t>
            </a:r>
            <a:r>
              <a:rPr sz="1982" i="1" spc="109" dirty="0">
                <a:latin typeface="Arial"/>
                <a:cs typeface="Arial"/>
              </a:rPr>
              <a:t> </a:t>
            </a:r>
            <a:r>
              <a:rPr sz="1982" i="1" spc="-109" dirty="0">
                <a:latin typeface="Arial"/>
                <a:cs typeface="Arial"/>
              </a:rPr>
              <a:t>is</a:t>
            </a:r>
            <a:r>
              <a:rPr sz="1982" i="1" spc="109" dirty="0">
                <a:latin typeface="Arial"/>
                <a:cs typeface="Arial"/>
              </a:rPr>
              <a:t> </a:t>
            </a:r>
            <a:r>
              <a:rPr sz="1982" i="1" spc="-109" dirty="0">
                <a:latin typeface="Arial"/>
                <a:cs typeface="Arial"/>
              </a:rPr>
              <a:t>no</a:t>
            </a:r>
            <a:r>
              <a:rPr sz="1982" i="1" spc="99" dirty="0">
                <a:latin typeface="Arial"/>
                <a:cs typeface="Arial"/>
              </a:rPr>
              <a:t> </a:t>
            </a:r>
            <a:r>
              <a:rPr sz="1982" i="1" spc="-119" dirty="0">
                <a:latin typeface="Arial"/>
                <a:cs typeface="Arial"/>
              </a:rPr>
              <a:t>more</a:t>
            </a:r>
            <a:r>
              <a:rPr sz="1982" i="1" spc="109" dirty="0">
                <a:latin typeface="Arial"/>
                <a:cs typeface="Arial"/>
              </a:rPr>
              <a:t> </a:t>
            </a:r>
            <a:r>
              <a:rPr sz="1982" i="1" spc="-50" dirty="0">
                <a:latin typeface="Arial"/>
                <a:cs typeface="Arial"/>
              </a:rPr>
              <a:t>about</a:t>
            </a:r>
            <a:r>
              <a:rPr sz="1982" i="1" spc="99" dirty="0">
                <a:latin typeface="Arial"/>
                <a:cs typeface="Arial"/>
              </a:rPr>
              <a:t> </a:t>
            </a:r>
            <a:r>
              <a:rPr sz="1982" i="1" spc="-89" dirty="0">
                <a:latin typeface="Arial"/>
                <a:cs typeface="Arial"/>
              </a:rPr>
              <a:t>computers</a:t>
            </a:r>
            <a:r>
              <a:rPr sz="1982" i="1" spc="109" dirty="0">
                <a:latin typeface="Arial"/>
                <a:cs typeface="Arial"/>
              </a:rPr>
              <a:t> </a:t>
            </a:r>
            <a:r>
              <a:rPr sz="1982" i="1" spc="-50" dirty="0">
                <a:latin typeface="Arial"/>
                <a:cs typeface="Arial"/>
              </a:rPr>
              <a:t>than</a:t>
            </a:r>
            <a:r>
              <a:rPr sz="1982" i="1" spc="119" dirty="0">
                <a:latin typeface="Arial"/>
                <a:cs typeface="Arial"/>
              </a:rPr>
              <a:t> </a:t>
            </a:r>
            <a:r>
              <a:rPr sz="1982" i="1" spc="-79" dirty="0">
                <a:latin typeface="Arial"/>
                <a:cs typeface="Arial"/>
              </a:rPr>
              <a:t>astronomy</a:t>
            </a:r>
            <a:r>
              <a:rPr sz="1982" i="1" spc="99" dirty="0">
                <a:latin typeface="Arial"/>
                <a:cs typeface="Arial"/>
              </a:rPr>
              <a:t> </a:t>
            </a:r>
            <a:r>
              <a:rPr sz="1982" i="1" spc="-109" dirty="0">
                <a:latin typeface="Arial"/>
                <a:cs typeface="Arial"/>
              </a:rPr>
              <a:t>is </a:t>
            </a:r>
            <a:r>
              <a:rPr sz="1982" i="1" spc="-515" dirty="0">
                <a:latin typeface="Arial"/>
                <a:cs typeface="Arial"/>
              </a:rPr>
              <a:t> </a:t>
            </a:r>
            <a:r>
              <a:rPr sz="1982" i="1" spc="-50" dirty="0">
                <a:latin typeface="Arial"/>
                <a:cs typeface="Arial"/>
              </a:rPr>
              <a:t>about</a:t>
            </a:r>
            <a:r>
              <a:rPr sz="1982" i="1" spc="89" dirty="0">
                <a:latin typeface="Arial"/>
                <a:cs typeface="Arial"/>
              </a:rPr>
              <a:t> </a:t>
            </a:r>
            <a:r>
              <a:rPr sz="1982" i="1" spc="-119" dirty="0">
                <a:latin typeface="Arial"/>
                <a:cs typeface="Arial"/>
              </a:rPr>
              <a:t>telescopes.</a:t>
            </a:r>
            <a:endParaRPr sz="1982" dirty="0">
              <a:latin typeface="Arial"/>
              <a:cs typeface="Arial"/>
            </a:endParaRPr>
          </a:p>
          <a:p>
            <a:pPr marR="10067" algn="r">
              <a:spcBef>
                <a:spcPts val="1546"/>
              </a:spcBef>
            </a:pPr>
            <a:r>
              <a:rPr sz="1982" spc="-79" dirty="0">
                <a:latin typeface="Tahoma"/>
                <a:cs typeface="Tahoma"/>
              </a:rPr>
              <a:t>Edsger</a:t>
            </a:r>
            <a:r>
              <a:rPr sz="1982" spc="-30" dirty="0">
                <a:latin typeface="Tahoma"/>
                <a:cs typeface="Tahoma"/>
              </a:rPr>
              <a:t> Dijkstra</a:t>
            </a:r>
            <a:endParaRPr sz="1982" dirty="0">
              <a:latin typeface="Tahoma"/>
              <a:cs typeface="Tahoma"/>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1422" y="281678"/>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30" dirty="0"/>
              <a:t> </a:t>
            </a:r>
            <a:r>
              <a:rPr spc="-59" dirty="0"/>
              <a:t>Study</a:t>
            </a:r>
            <a:r>
              <a:rPr spc="30" dirty="0"/>
              <a:t> </a:t>
            </a:r>
            <a:r>
              <a:rPr spc="-69" dirty="0"/>
              <a:t>Discrete</a:t>
            </a:r>
            <a:r>
              <a:rPr spc="40" dirty="0"/>
              <a:t> </a:t>
            </a:r>
            <a:r>
              <a:rPr spc="20" dirty="0"/>
              <a:t>Math?	</a:t>
            </a:r>
          </a:p>
        </p:txBody>
      </p:sp>
      <p:sp>
        <p:nvSpPr>
          <p:cNvPr id="3" name="object 3"/>
          <p:cNvSpPr/>
          <p:nvPr/>
        </p:nvSpPr>
        <p:spPr>
          <a:xfrm>
            <a:off x="2103359" y="2782611"/>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4" name="object 4"/>
          <p:cNvSpPr/>
          <p:nvPr/>
        </p:nvSpPr>
        <p:spPr>
          <a:xfrm>
            <a:off x="2103359" y="3274047"/>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5" name="object 5"/>
          <p:cNvSpPr/>
          <p:nvPr/>
        </p:nvSpPr>
        <p:spPr>
          <a:xfrm>
            <a:off x="2103359" y="376548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6" name="object 6"/>
          <p:cNvSpPr txBox="1"/>
          <p:nvPr/>
        </p:nvSpPr>
        <p:spPr>
          <a:xfrm>
            <a:off x="1788396" y="941696"/>
            <a:ext cx="6003581" cy="2957329"/>
          </a:xfrm>
          <a:prstGeom prst="rect">
            <a:avLst/>
          </a:prstGeom>
        </p:spPr>
        <p:txBody>
          <a:bodyPr vert="horz" wrap="square" lIns="0" tIns="22650" rIns="0" bIns="0" rtlCol="0">
            <a:spAutoFit/>
          </a:bodyPr>
          <a:lstStyle/>
          <a:p>
            <a:pPr marL="25168">
              <a:spcBef>
                <a:spcPts val="178"/>
              </a:spcBef>
            </a:pPr>
            <a:r>
              <a:rPr sz="2180" spc="-69" dirty="0">
                <a:latin typeface="Tahoma"/>
                <a:cs typeface="Tahoma"/>
              </a:rPr>
              <a:t>Conceptual</a:t>
            </a:r>
            <a:r>
              <a:rPr sz="2180" spc="30" dirty="0">
                <a:latin typeface="Tahoma"/>
                <a:cs typeface="Tahoma"/>
              </a:rPr>
              <a:t> </a:t>
            </a:r>
            <a:r>
              <a:rPr sz="2180" spc="-119" dirty="0">
                <a:latin typeface="Tahoma"/>
                <a:cs typeface="Tahoma"/>
              </a:rPr>
              <a:t>core</a:t>
            </a:r>
            <a:r>
              <a:rPr sz="2180" spc="40" dirty="0">
                <a:latin typeface="Tahoma"/>
                <a:cs typeface="Tahoma"/>
              </a:rPr>
              <a:t> </a:t>
            </a:r>
            <a:r>
              <a:rPr sz="2180" spc="-69" dirty="0">
                <a:latin typeface="Tahoma"/>
                <a:cs typeface="Tahoma"/>
              </a:rPr>
              <a:t>of</a:t>
            </a:r>
            <a:r>
              <a:rPr sz="2180" spc="30" dirty="0">
                <a:latin typeface="Tahoma"/>
                <a:cs typeface="Tahoma"/>
              </a:rPr>
              <a:t> </a:t>
            </a:r>
            <a:r>
              <a:rPr sz="2180" spc="-89" dirty="0">
                <a:latin typeface="Tahoma"/>
                <a:cs typeface="Tahoma"/>
              </a:rPr>
              <a:t>computer</a:t>
            </a:r>
            <a:r>
              <a:rPr sz="2180" spc="40" dirty="0">
                <a:latin typeface="Tahoma"/>
                <a:cs typeface="Tahoma"/>
              </a:rPr>
              <a:t> </a:t>
            </a:r>
            <a:r>
              <a:rPr sz="2180" spc="-109" dirty="0">
                <a:latin typeface="Tahoma"/>
                <a:cs typeface="Tahoma"/>
              </a:rPr>
              <a:t>science</a:t>
            </a:r>
            <a:r>
              <a:rPr sz="2180" spc="30" dirty="0">
                <a:latin typeface="Tahoma"/>
                <a:cs typeface="Tahoma"/>
              </a:rPr>
              <a:t> </a:t>
            </a:r>
            <a:r>
              <a:rPr sz="2180" spc="-69" dirty="0">
                <a:latin typeface="Tahoma"/>
                <a:cs typeface="Tahoma"/>
              </a:rPr>
              <a:t>is</a:t>
            </a:r>
            <a:r>
              <a:rPr sz="2180" spc="40" dirty="0">
                <a:latin typeface="Tahoma"/>
                <a:cs typeface="Tahoma"/>
              </a:rPr>
              <a:t> </a:t>
            </a:r>
            <a:r>
              <a:rPr sz="2180" spc="-40" dirty="0">
                <a:solidFill>
                  <a:srgbClr val="FF0000"/>
                </a:solidFill>
                <a:latin typeface="Tahoma"/>
                <a:cs typeface="Tahoma"/>
              </a:rPr>
              <a:t>Algorithm</a:t>
            </a:r>
            <a:endParaRPr sz="2180" dirty="0">
              <a:latin typeface="Tahoma"/>
              <a:cs typeface="Tahoma"/>
            </a:endParaRPr>
          </a:p>
          <a:p>
            <a:pPr marL="573821" marR="1796966" indent="-549912">
              <a:lnSpc>
                <a:spcPct val="234400"/>
              </a:lnSpc>
              <a:spcBef>
                <a:spcPts val="832"/>
              </a:spcBef>
            </a:pPr>
            <a:r>
              <a:rPr sz="2180" spc="-59" dirty="0">
                <a:latin typeface="Tahoma"/>
                <a:cs typeface="Tahoma"/>
              </a:rPr>
              <a:t>Discrete</a:t>
            </a:r>
            <a:r>
              <a:rPr sz="2180" spc="20" dirty="0">
                <a:latin typeface="Tahoma"/>
                <a:cs typeface="Tahoma"/>
              </a:rPr>
              <a:t> </a:t>
            </a:r>
            <a:r>
              <a:rPr sz="2180" spc="-50" dirty="0">
                <a:latin typeface="Tahoma"/>
                <a:cs typeface="Tahoma"/>
              </a:rPr>
              <a:t>Mathematics</a:t>
            </a:r>
            <a:r>
              <a:rPr sz="2180" spc="30" dirty="0">
                <a:latin typeface="Tahoma"/>
                <a:cs typeface="Tahoma"/>
              </a:rPr>
              <a:t> </a:t>
            </a:r>
            <a:r>
              <a:rPr sz="2180" spc="-109" dirty="0">
                <a:latin typeface="Tahoma"/>
                <a:cs typeface="Tahoma"/>
              </a:rPr>
              <a:t>helps</a:t>
            </a:r>
            <a:r>
              <a:rPr sz="2180" spc="30" dirty="0">
                <a:latin typeface="Tahoma"/>
                <a:cs typeface="Tahoma"/>
              </a:rPr>
              <a:t> </a:t>
            </a:r>
            <a:r>
              <a:rPr sz="2180" spc="-99" dirty="0">
                <a:latin typeface="Tahoma"/>
                <a:cs typeface="Tahoma"/>
              </a:rPr>
              <a:t>provide </a:t>
            </a:r>
            <a:r>
              <a:rPr sz="2180" spc="-89" dirty="0">
                <a:latin typeface="Tahoma"/>
                <a:cs typeface="Tahoma"/>
              </a:rPr>
              <a:t> techniques</a:t>
            </a:r>
            <a:r>
              <a:rPr sz="2180" dirty="0">
                <a:latin typeface="Tahoma"/>
                <a:cs typeface="Tahoma"/>
              </a:rPr>
              <a:t> </a:t>
            </a:r>
            <a:r>
              <a:rPr sz="2180" spc="-30" dirty="0">
                <a:latin typeface="Tahoma"/>
                <a:cs typeface="Tahoma"/>
              </a:rPr>
              <a:t>to</a:t>
            </a:r>
            <a:r>
              <a:rPr sz="2180" spc="10" dirty="0">
                <a:latin typeface="Tahoma"/>
                <a:cs typeface="Tahoma"/>
              </a:rPr>
              <a:t> </a:t>
            </a:r>
            <a:r>
              <a:rPr sz="2180" spc="-109" dirty="0">
                <a:latin typeface="Tahoma"/>
                <a:cs typeface="Tahoma"/>
              </a:rPr>
              <a:t>design</a:t>
            </a:r>
            <a:r>
              <a:rPr sz="2180" spc="10" dirty="0">
                <a:latin typeface="Tahoma"/>
                <a:cs typeface="Tahoma"/>
              </a:rPr>
              <a:t> </a:t>
            </a:r>
            <a:r>
              <a:rPr sz="2180" spc="-79" dirty="0">
                <a:latin typeface="Tahoma"/>
                <a:cs typeface="Tahoma"/>
              </a:rPr>
              <a:t>algorithms</a:t>
            </a:r>
            <a:endParaRPr sz="2180" dirty="0">
              <a:latin typeface="Tahoma"/>
              <a:cs typeface="Tahoma"/>
            </a:endParaRPr>
          </a:p>
          <a:p>
            <a:pPr marL="573821" marR="10067">
              <a:lnSpc>
                <a:spcPct val="147900"/>
              </a:lnSpc>
            </a:pPr>
            <a:r>
              <a:rPr sz="2180" spc="-99" dirty="0">
                <a:latin typeface="Tahoma"/>
                <a:cs typeface="Tahoma"/>
              </a:rPr>
              <a:t>methods</a:t>
            </a:r>
            <a:r>
              <a:rPr sz="2180" spc="30" dirty="0">
                <a:latin typeface="Tahoma"/>
                <a:cs typeface="Tahoma"/>
              </a:rPr>
              <a:t> </a:t>
            </a:r>
            <a:r>
              <a:rPr sz="2180" spc="-30" dirty="0">
                <a:latin typeface="Tahoma"/>
                <a:cs typeface="Tahoma"/>
              </a:rPr>
              <a:t>to</a:t>
            </a:r>
            <a:r>
              <a:rPr sz="2180" spc="40" dirty="0">
                <a:latin typeface="Tahoma"/>
                <a:cs typeface="Tahoma"/>
              </a:rPr>
              <a:t> </a:t>
            </a:r>
            <a:r>
              <a:rPr sz="2180" spc="-119" dirty="0">
                <a:latin typeface="Tahoma"/>
                <a:cs typeface="Tahoma"/>
              </a:rPr>
              <a:t>prove</a:t>
            </a:r>
            <a:r>
              <a:rPr sz="2180" spc="40" dirty="0">
                <a:latin typeface="Tahoma"/>
                <a:cs typeface="Tahoma"/>
              </a:rPr>
              <a:t> </a:t>
            </a:r>
            <a:r>
              <a:rPr sz="2180" spc="-79" dirty="0">
                <a:latin typeface="Tahoma"/>
                <a:cs typeface="Tahoma"/>
              </a:rPr>
              <a:t>the</a:t>
            </a:r>
            <a:r>
              <a:rPr sz="2180" spc="30" dirty="0">
                <a:latin typeface="Tahoma"/>
                <a:cs typeface="Tahoma"/>
              </a:rPr>
              <a:t> </a:t>
            </a:r>
            <a:r>
              <a:rPr sz="2180" spc="-99" dirty="0">
                <a:latin typeface="Tahoma"/>
                <a:cs typeface="Tahoma"/>
              </a:rPr>
              <a:t>correctness</a:t>
            </a:r>
            <a:r>
              <a:rPr sz="2180" spc="40" dirty="0">
                <a:latin typeface="Tahoma"/>
                <a:cs typeface="Tahoma"/>
              </a:rPr>
              <a:t> </a:t>
            </a:r>
            <a:r>
              <a:rPr sz="2180" spc="-69" dirty="0">
                <a:latin typeface="Tahoma"/>
                <a:cs typeface="Tahoma"/>
              </a:rPr>
              <a:t>of</a:t>
            </a:r>
            <a:r>
              <a:rPr sz="2180" spc="30" dirty="0">
                <a:latin typeface="Tahoma"/>
                <a:cs typeface="Tahoma"/>
              </a:rPr>
              <a:t> </a:t>
            </a:r>
            <a:r>
              <a:rPr sz="2180" spc="-79" dirty="0">
                <a:latin typeface="Tahoma"/>
                <a:cs typeface="Tahoma"/>
              </a:rPr>
              <a:t>algorithms </a:t>
            </a:r>
            <a:r>
              <a:rPr sz="2180" spc="-644" dirty="0">
                <a:latin typeface="Tahoma"/>
                <a:cs typeface="Tahoma"/>
              </a:rPr>
              <a:t> </a:t>
            </a:r>
            <a:r>
              <a:rPr sz="2180" spc="-50" dirty="0">
                <a:latin typeface="Tahoma"/>
                <a:cs typeface="Tahoma"/>
              </a:rPr>
              <a:t>tools</a:t>
            </a:r>
            <a:r>
              <a:rPr sz="2180" spc="20" dirty="0">
                <a:latin typeface="Tahoma"/>
                <a:cs typeface="Tahoma"/>
              </a:rPr>
              <a:t> </a:t>
            </a:r>
            <a:r>
              <a:rPr sz="2180" spc="-30" dirty="0">
                <a:latin typeface="Tahoma"/>
                <a:cs typeface="Tahoma"/>
              </a:rPr>
              <a:t>to</a:t>
            </a:r>
            <a:r>
              <a:rPr sz="2180" spc="30" dirty="0">
                <a:latin typeface="Tahoma"/>
                <a:cs typeface="Tahoma"/>
              </a:rPr>
              <a:t> </a:t>
            </a:r>
            <a:r>
              <a:rPr sz="2180" spc="-89" dirty="0">
                <a:latin typeface="Tahoma"/>
                <a:cs typeface="Tahoma"/>
              </a:rPr>
              <a:t>analyze</a:t>
            </a:r>
            <a:r>
              <a:rPr sz="2180" spc="40" dirty="0">
                <a:latin typeface="Tahoma"/>
                <a:cs typeface="Tahoma"/>
              </a:rPr>
              <a:t> </a:t>
            </a:r>
            <a:r>
              <a:rPr sz="2180" spc="-79" dirty="0">
                <a:latin typeface="Tahoma"/>
                <a:cs typeface="Tahoma"/>
              </a:rPr>
              <a:t>algorithms</a:t>
            </a:r>
            <a:endParaRPr sz="2180" dirty="0">
              <a:latin typeface="Tahoma"/>
              <a:cs typeface="Tahoma"/>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0" dirty="0">
                <a:solidFill>
                  <a:srgbClr val="898CFC"/>
                </a:solidFill>
                <a:uFill>
                  <a:solidFill>
                    <a:srgbClr val="898CFC"/>
                  </a:solidFill>
                </a:uFill>
                <a:latin typeface="Tahoma"/>
                <a:cs typeface="Tahoma"/>
              </a:rPr>
              <a:t>Why</a:t>
            </a:r>
            <a:r>
              <a:rPr sz="2774" u="sng" spc="50" dirty="0">
                <a:solidFill>
                  <a:srgbClr val="898CFC"/>
                </a:solidFill>
                <a:uFill>
                  <a:solidFill>
                    <a:srgbClr val="898CFC"/>
                  </a:solidFill>
                </a:uFill>
                <a:latin typeface="Tahoma"/>
                <a:cs typeface="Tahoma"/>
              </a:rPr>
              <a:t> </a:t>
            </a:r>
            <a:r>
              <a:rPr sz="2774" u="sng" spc="-59" dirty="0">
                <a:solidFill>
                  <a:srgbClr val="898CFC"/>
                </a:solidFill>
                <a:uFill>
                  <a:solidFill>
                    <a:srgbClr val="898CFC"/>
                  </a:solidFill>
                </a:uFill>
                <a:latin typeface="Tahoma"/>
                <a:cs typeface="Tahoma"/>
              </a:rPr>
              <a:t>Study</a:t>
            </a:r>
            <a:r>
              <a:rPr sz="2774" u="sng" spc="40" dirty="0">
                <a:solidFill>
                  <a:srgbClr val="898CFC"/>
                </a:solidFill>
                <a:uFill>
                  <a:solidFill>
                    <a:srgbClr val="898CFC"/>
                  </a:solidFill>
                </a:uFill>
                <a:latin typeface="Tahoma"/>
                <a:cs typeface="Tahoma"/>
              </a:rPr>
              <a:t> </a:t>
            </a:r>
            <a:r>
              <a:rPr sz="2774" u="sng" spc="-69" dirty="0">
                <a:solidFill>
                  <a:srgbClr val="898CFC"/>
                </a:solidFill>
                <a:uFill>
                  <a:solidFill>
                    <a:srgbClr val="898CFC"/>
                  </a:solidFill>
                </a:uFill>
                <a:latin typeface="Tahoma"/>
                <a:cs typeface="Tahoma"/>
              </a:rPr>
              <a:t>Discrete</a:t>
            </a:r>
            <a:r>
              <a:rPr sz="2774" u="sng" spc="50" dirty="0">
                <a:solidFill>
                  <a:srgbClr val="898CFC"/>
                </a:solidFill>
                <a:uFill>
                  <a:solidFill>
                    <a:srgbClr val="898CFC"/>
                  </a:solidFill>
                </a:uFill>
                <a:latin typeface="Tahoma"/>
                <a:cs typeface="Tahoma"/>
              </a:rPr>
              <a:t> </a:t>
            </a:r>
            <a:r>
              <a:rPr sz="2774" u="sng" spc="20" dirty="0">
                <a:solidFill>
                  <a:srgbClr val="898CFC"/>
                </a:solidFill>
                <a:uFill>
                  <a:solidFill>
                    <a:srgbClr val="898CFC"/>
                  </a:solidFill>
                </a:uFill>
                <a:latin typeface="Tahoma"/>
                <a:cs typeface="Tahoma"/>
              </a:rPr>
              <a:t>Math?</a:t>
            </a:r>
            <a:r>
              <a:rPr sz="2774" u="sng" spc="357" dirty="0">
                <a:solidFill>
                  <a:srgbClr val="898CFC"/>
                </a:solidFill>
                <a:uFill>
                  <a:solidFill>
                    <a:srgbClr val="898CFC"/>
                  </a:solidFill>
                </a:uFill>
                <a:latin typeface="Tahoma"/>
                <a:cs typeface="Tahoma"/>
              </a:rPr>
              <a:t> </a:t>
            </a:r>
            <a:r>
              <a:rPr sz="2774" u="sng" spc="-69" dirty="0">
                <a:solidFill>
                  <a:srgbClr val="898CFC"/>
                </a:solidFill>
                <a:uFill>
                  <a:solidFill>
                    <a:srgbClr val="898CFC"/>
                  </a:solidFill>
                </a:uFill>
                <a:latin typeface="Tahoma"/>
                <a:cs typeface="Tahoma"/>
              </a:rPr>
              <a:t>Topics	</a:t>
            </a:r>
            <a:endParaRPr sz="2774">
              <a:latin typeface="Tahoma"/>
              <a:cs typeface="Tahoma"/>
            </a:endParaRPr>
          </a:p>
        </p:txBody>
      </p:sp>
      <p:pic>
        <p:nvPicPr>
          <p:cNvPr id="3" name="object 3"/>
          <p:cNvPicPr/>
          <p:nvPr/>
        </p:nvPicPr>
        <p:blipFill>
          <a:blip r:embed="rId2" cstate="print"/>
          <a:stretch>
            <a:fillRect/>
          </a:stretch>
        </p:blipFill>
        <p:spPr>
          <a:xfrm>
            <a:off x="1927350" y="1181679"/>
            <a:ext cx="2589584" cy="5146935"/>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217420072"/>
              </p:ext>
            </p:extLst>
          </p:nvPr>
        </p:nvGraphicFramePr>
        <p:xfrm>
          <a:off x="3075421" y="918615"/>
          <a:ext cx="7411674" cy="5361038"/>
        </p:xfrm>
        <a:graphic>
          <a:graphicData uri="http://schemas.openxmlformats.org/drawingml/2006/table">
            <a:tbl>
              <a:tblPr firstRow="1" bandRow="1">
                <a:tableStyleId>{2D5ABB26-0587-4C30-8999-92F81FD0307C}</a:tableStyleId>
              </a:tblPr>
              <a:tblGrid>
                <a:gridCol w="1901365">
                  <a:extLst>
                    <a:ext uri="{9D8B030D-6E8A-4147-A177-3AD203B41FA5}">
                      <a16:colId xmlns:a16="http://schemas.microsoft.com/office/drawing/2014/main" val="20000"/>
                    </a:ext>
                  </a:extLst>
                </a:gridCol>
                <a:gridCol w="3178589">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407180">
                <a:tc>
                  <a:txBody>
                    <a:bodyPr/>
                    <a:lstStyle/>
                    <a:p>
                      <a:pPr>
                        <a:lnSpc>
                          <a:spcPct val="100000"/>
                        </a:lnSpc>
                        <a:spcBef>
                          <a:spcPts val="20"/>
                        </a:spcBef>
                      </a:pPr>
                      <a:endParaRPr sz="1100">
                        <a:latin typeface="Times New Roman"/>
                        <a:cs typeface="Times New Roman"/>
                      </a:endParaRPr>
                    </a:p>
                    <a:p>
                      <a:pPr marL="31750">
                        <a:lnSpc>
                          <a:spcPct val="100000"/>
                        </a:lnSpc>
                      </a:pPr>
                      <a:r>
                        <a:rPr sz="700" spc="10" dirty="0">
                          <a:solidFill>
                            <a:srgbClr val="FF0000"/>
                          </a:solidFill>
                          <a:latin typeface="Calibri"/>
                          <a:cs typeface="Calibri"/>
                        </a:rPr>
                        <a:t>source:</a:t>
                      </a:r>
                      <a:r>
                        <a:rPr sz="700" spc="75" dirty="0">
                          <a:solidFill>
                            <a:srgbClr val="FF0000"/>
                          </a:solidFill>
                          <a:latin typeface="Calibri"/>
                          <a:cs typeface="Calibri"/>
                        </a:rPr>
                        <a:t> </a:t>
                      </a:r>
                      <a:r>
                        <a:rPr sz="700" spc="20" dirty="0">
                          <a:solidFill>
                            <a:srgbClr val="FF0000"/>
                          </a:solidFill>
                          <a:latin typeface="Calibri"/>
                          <a:cs typeface="Calibri"/>
                        </a:rPr>
                        <a:t>Colorado</a:t>
                      </a:r>
                      <a:r>
                        <a:rPr sz="700" spc="40" dirty="0">
                          <a:solidFill>
                            <a:srgbClr val="FF0000"/>
                          </a:solidFill>
                          <a:latin typeface="Calibri"/>
                          <a:cs typeface="Calibri"/>
                        </a:rPr>
                        <a:t> </a:t>
                      </a:r>
                      <a:r>
                        <a:rPr sz="700" spc="25" dirty="0">
                          <a:solidFill>
                            <a:srgbClr val="FF0000"/>
                          </a:solidFill>
                          <a:latin typeface="Calibri"/>
                          <a:cs typeface="Calibri"/>
                        </a:rPr>
                        <a:t>State</a:t>
                      </a:r>
                      <a:r>
                        <a:rPr sz="700" spc="35" dirty="0">
                          <a:solidFill>
                            <a:srgbClr val="FF0000"/>
                          </a:solidFill>
                          <a:latin typeface="Calibri"/>
                          <a:cs typeface="Calibri"/>
                        </a:rPr>
                        <a:t> </a:t>
                      </a:r>
                      <a:r>
                        <a:rPr sz="700" spc="25" dirty="0">
                          <a:solidFill>
                            <a:srgbClr val="FF0000"/>
                          </a:solidFill>
                          <a:latin typeface="Calibri"/>
                          <a:cs typeface="Calibri"/>
                        </a:rPr>
                        <a:t>University</a:t>
                      </a:r>
                      <a:endParaRPr sz="700">
                        <a:latin typeface="Calibri"/>
                        <a:cs typeface="Calibri"/>
                      </a:endParaRPr>
                    </a:p>
                  </a:txBody>
                  <a:tcPr marL="0" marR="0" marT="5033" marB="0"/>
                </a:tc>
                <a:tc>
                  <a:txBody>
                    <a:bodyPr/>
                    <a:lstStyle/>
                    <a:p>
                      <a:pPr marL="59055">
                        <a:lnSpc>
                          <a:spcPct val="100000"/>
                        </a:lnSpc>
                        <a:spcBef>
                          <a:spcPts val="175"/>
                        </a:spcBef>
                      </a:pPr>
                      <a:r>
                        <a:rPr sz="1700" spc="-15" dirty="0">
                          <a:solidFill>
                            <a:srgbClr val="0000FF"/>
                          </a:solidFill>
                          <a:latin typeface="Tahoma"/>
                          <a:cs typeface="Tahoma"/>
                        </a:rPr>
                        <a:t>Topic</a:t>
                      </a:r>
                      <a:endParaRPr sz="1700">
                        <a:latin typeface="Tahoma"/>
                        <a:cs typeface="Tahoma"/>
                      </a:endParaRPr>
                    </a:p>
                  </a:txBody>
                  <a:tcPr marL="0" marR="0" marT="44042" marB="0">
                    <a:lnT w="9525">
                      <a:solidFill>
                        <a:srgbClr val="000000"/>
                      </a:solidFill>
                      <a:prstDash val="solid"/>
                    </a:lnT>
                    <a:lnB w="6350">
                      <a:solidFill>
                        <a:srgbClr val="000000"/>
                      </a:solidFill>
                      <a:prstDash val="solid"/>
                    </a:lnB>
                  </a:tcPr>
                </a:tc>
                <a:tc>
                  <a:txBody>
                    <a:bodyPr/>
                    <a:lstStyle/>
                    <a:p>
                      <a:pPr marL="59690">
                        <a:lnSpc>
                          <a:spcPct val="100000"/>
                        </a:lnSpc>
                        <a:spcBef>
                          <a:spcPts val="175"/>
                        </a:spcBef>
                      </a:pPr>
                      <a:endParaRPr sz="1700" dirty="0">
                        <a:latin typeface="Tahoma"/>
                        <a:cs typeface="Tahoma"/>
                      </a:endParaRPr>
                    </a:p>
                  </a:txBody>
                  <a:tcPr marL="0" marR="0" marT="44042" marB="0">
                    <a:lnT w="9525">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0396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260"/>
                        </a:spcBef>
                      </a:pPr>
                      <a:r>
                        <a:rPr sz="1700" spc="-10" dirty="0">
                          <a:latin typeface="Tahoma"/>
                          <a:cs typeface="Tahoma"/>
                        </a:rPr>
                        <a:t>Logic</a:t>
                      </a:r>
                      <a:endParaRPr sz="1700">
                        <a:latin typeface="Tahoma"/>
                        <a:cs typeface="Tahoma"/>
                      </a:endParaRPr>
                    </a:p>
                  </a:txBody>
                  <a:tcPr marL="0" marR="0" marT="65434" marB="0">
                    <a:lnT w="6350">
                      <a:solidFill>
                        <a:srgbClr val="000000"/>
                      </a:solidFill>
                      <a:prstDash val="solid"/>
                    </a:lnT>
                    <a:lnB w="6350">
                      <a:solidFill>
                        <a:srgbClr val="000000"/>
                      </a:solidFill>
                      <a:prstDash val="solid"/>
                    </a:lnB>
                  </a:tcPr>
                </a:tc>
                <a:tc>
                  <a:txBody>
                    <a:bodyPr/>
                    <a:lstStyle/>
                    <a:p>
                      <a:pPr marL="59690">
                        <a:lnSpc>
                          <a:spcPct val="100000"/>
                        </a:lnSpc>
                        <a:spcBef>
                          <a:spcPts val="260"/>
                        </a:spcBef>
                      </a:pPr>
                      <a:endParaRPr sz="1700" dirty="0">
                        <a:latin typeface="Tahoma"/>
                        <a:cs typeface="Tahoma"/>
                      </a:endParaRPr>
                    </a:p>
                  </a:txBody>
                  <a:tcPr marL="0" marR="0" marT="65434"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7888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25" dirty="0">
                          <a:latin typeface="Tahoma"/>
                          <a:cs typeface="Tahoma"/>
                        </a:rPr>
                        <a:t>Sets</a:t>
                      </a:r>
                      <a:endParaRPr sz="170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7890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20" dirty="0">
                          <a:latin typeface="Tahoma"/>
                          <a:cs typeface="Tahoma"/>
                        </a:rPr>
                        <a:t>Functions</a:t>
                      </a:r>
                      <a:endParaRPr sz="170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60325">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7888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40" dirty="0">
                          <a:latin typeface="Tahoma"/>
                          <a:cs typeface="Tahoma"/>
                        </a:rPr>
                        <a:t>Sequence</a:t>
                      </a:r>
                      <a:r>
                        <a:rPr sz="1700" spc="-5" dirty="0">
                          <a:latin typeface="Tahoma"/>
                          <a:cs typeface="Tahoma"/>
                        </a:rPr>
                        <a:t> </a:t>
                      </a:r>
                      <a:r>
                        <a:rPr sz="1700" spc="-35" dirty="0">
                          <a:latin typeface="Tahoma"/>
                          <a:cs typeface="Tahoma"/>
                        </a:rPr>
                        <a:t>and</a:t>
                      </a:r>
                      <a:r>
                        <a:rPr sz="1700" spc="-5" dirty="0">
                          <a:latin typeface="Tahoma"/>
                          <a:cs typeface="Tahoma"/>
                        </a:rPr>
                        <a:t> </a:t>
                      </a:r>
                      <a:r>
                        <a:rPr sz="1700" spc="-30" dirty="0">
                          <a:latin typeface="Tahoma"/>
                          <a:cs typeface="Tahoma"/>
                        </a:rPr>
                        <a:t>Sums</a:t>
                      </a:r>
                      <a:endParaRPr sz="170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78900">
                <a:tc>
                  <a:txBody>
                    <a:bodyPr/>
                    <a:lstStyle/>
                    <a:p>
                      <a:pPr>
                        <a:lnSpc>
                          <a:spcPct val="100000"/>
                        </a:lnSpc>
                      </a:pPr>
                      <a:endParaRPr sz="1600">
                        <a:latin typeface="Times New Roman"/>
                        <a:cs typeface="Times New Roman"/>
                      </a:endParaRPr>
                    </a:p>
                  </a:txBody>
                  <a:tcPr marL="0" marR="0" marT="0" marB="0"/>
                </a:tc>
                <a:tc>
                  <a:txBody>
                    <a:bodyPr/>
                    <a:lstStyle/>
                    <a:p>
                      <a:pPr marL="59055" marR="0" lvl="0" indent="0" algn="l" defTabSz="914400" rtl="0" eaLnBrk="1" fontAlgn="auto" latinLnBrk="0" hangingPunct="1">
                        <a:lnSpc>
                          <a:spcPct val="100000"/>
                        </a:lnSpc>
                        <a:spcBef>
                          <a:spcPts val="160"/>
                        </a:spcBef>
                        <a:spcAft>
                          <a:spcPts val="0"/>
                        </a:spcAft>
                        <a:buClrTx/>
                        <a:buSzTx/>
                        <a:buFontTx/>
                        <a:buNone/>
                        <a:tabLst/>
                        <a:defRPr/>
                      </a:pPr>
                      <a:r>
                        <a:rPr lang="en-US" sz="1700" spc="-25" dirty="0">
                          <a:latin typeface="Tahoma"/>
                          <a:cs typeface="Tahoma"/>
                        </a:rPr>
                        <a:t>Recursion</a:t>
                      </a:r>
                      <a:r>
                        <a:rPr lang="en-US" sz="1700" spc="5" dirty="0">
                          <a:latin typeface="Tahoma"/>
                          <a:cs typeface="Tahoma"/>
                        </a:rPr>
                        <a:t> </a:t>
                      </a:r>
                      <a:r>
                        <a:rPr lang="en-US" sz="1700" spc="-35" dirty="0">
                          <a:latin typeface="Tahoma"/>
                          <a:cs typeface="Tahoma"/>
                        </a:rPr>
                        <a:t>and</a:t>
                      </a:r>
                      <a:r>
                        <a:rPr lang="en-US" sz="1700" spc="10" dirty="0">
                          <a:latin typeface="Tahoma"/>
                          <a:cs typeface="Tahoma"/>
                        </a:rPr>
                        <a:t> </a:t>
                      </a:r>
                      <a:r>
                        <a:rPr lang="en-US" sz="1700" spc="-35" dirty="0">
                          <a:latin typeface="Tahoma"/>
                          <a:cs typeface="Tahoma"/>
                        </a:rPr>
                        <a:t>Recurrences</a:t>
                      </a:r>
                      <a:r>
                        <a:rPr sz="1700" spc="5" dirty="0">
                          <a:latin typeface="Tahoma"/>
                          <a:cs typeface="Tahoma"/>
                        </a:rPr>
                        <a:t> </a:t>
                      </a: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37888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10" dirty="0">
                          <a:latin typeface="Tahoma"/>
                          <a:cs typeface="Tahoma"/>
                        </a:rPr>
                        <a:t>Proofs</a:t>
                      </a: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37890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25" dirty="0">
                          <a:latin typeface="Tahoma"/>
                          <a:cs typeface="Tahoma"/>
                        </a:rPr>
                        <a:t>Induction</a:t>
                      </a: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60325">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37888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20" dirty="0">
                          <a:latin typeface="Tahoma"/>
                          <a:cs typeface="Tahoma"/>
                        </a:rPr>
                        <a:t>Counting</a:t>
                      </a: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37890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lang="en-US" sz="1700" spc="-20" dirty="0">
                          <a:latin typeface="Tahoma"/>
                          <a:cs typeface="Tahoma"/>
                        </a:rPr>
                        <a:t>Relations</a:t>
                      </a:r>
                      <a:endParaRPr sz="1700" dirty="0">
                        <a:latin typeface="Tahoma"/>
                        <a:cs typeface="Tahoma"/>
                      </a:endParaRPr>
                    </a:p>
                  </a:txBody>
                  <a:tcPr marL="0" marR="0" marT="40267" marB="0">
                    <a:lnT w="6350">
                      <a:solidFill>
                        <a:srgbClr val="000000"/>
                      </a:solidFill>
                      <a:prstDash val="solid"/>
                    </a:lnT>
                    <a:lnB w="6350" cap="flat" cmpd="sng" algn="ctr">
                      <a:solidFill>
                        <a:srgbClr val="000000"/>
                      </a:solidFill>
                      <a:prstDash val="solid"/>
                      <a:round/>
                      <a:headEnd type="none" w="med" len="med"/>
                      <a:tailEnd type="none" w="med" len="me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r h="37888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35" dirty="0">
                          <a:latin typeface="Tahoma"/>
                          <a:cs typeface="Tahoma"/>
                        </a:rPr>
                        <a:t>Graphs</a:t>
                      </a: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60325">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0"/>
                  </a:ext>
                </a:extLst>
              </a:tr>
              <a:tr h="37890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40" dirty="0">
                          <a:latin typeface="Tahoma"/>
                          <a:cs typeface="Tahoma"/>
                        </a:rPr>
                        <a:t>Trees</a:t>
                      </a: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tc>
                  <a:txBody>
                    <a:bodyPr/>
                    <a:lstStyle/>
                    <a:p>
                      <a:pPr marL="59055">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1"/>
                  </a:ext>
                </a:extLst>
              </a:tr>
              <a:tr h="378880">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r>
                        <a:rPr sz="1700" spc="-20" dirty="0">
                          <a:latin typeface="Tahoma"/>
                          <a:cs typeface="Tahoma"/>
                        </a:rPr>
                        <a:t>Number</a:t>
                      </a:r>
                      <a:r>
                        <a:rPr sz="1700" spc="-5" dirty="0">
                          <a:latin typeface="Tahoma"/>
                          <a:cs typeface="Tahoma"/>
                        </a:rPr>
                        <a:t> </a:t>
                      </a:r>
                      <a:r>
                        <a:rPr sz="1700" spc="-20" dirty="0">
                          <a:latin typeface="Tahoma"/>
                          <a:cs typeface="Tahoma"/>
                        </a:rPr>
                        <a:t>Theory</a:t>
                      </a:r>
                      <a:r>
                        <a:rPr sz="1700" dirty="0">
                          <a:latin typeface="Tahoma"/>
                          <a:cs typeface="Tahoma"/>
                        </a:rPr>
                        <a:t> </a:t>
                      </a:r>
                    </a:p>
                  </a:txBody>
                  <a:tcPr marL="0" marR="0" marT="40267" marB="0">
                    <a:lnT w="6350">
                      <a:solidFill>
                        <a:srgbClr val="000000"/>
                      </a:solidFill>
                      <a:prstDash val="solid"/>
                    </a:lnT>
                    <a:lnB w="6350">
                      <a:solidFill>
                        <a:srgbClr val="000000"/>
                      </a:solidFill>
                      <a:prstDash val="solid"/>
                    </a:lnB>
                  </a:tcPr>
                </a:tc>
                <a:tc>
                  <a:txBody>
                    <a:bodyPr/>
                    <a:lstStyle/>
                    <a:p>
                      <a:pPr marL="59690">
                        <a:lnSpc>
                          <a:spcPct val="100000"/>
                        </a:lnSpc>
                        <a:spcBef>
                          <a:spcPts val="160"/>
                        </a:spcBef>
                      </a:pPr>
                      <a:endParaRPr sz="1700" dirty="0">
                        <a:latin typeface="Tahoma"/>
                        <a:cs typeface="Tahoma"/>
                      </a:endParaRPr>
                    </a:p>
                  </a:txBody>
                  <a:tcPr marL="0" marR="0" marT="40267" marB="0">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12"/>
                  </a:ext>
                </a:extLst>
              </a:tr>
              <a:tr h="382118">
                <a:tc>
                  <a:txBody>
                    <a:bodyPr/>
                    <a:lstStyle/>
                    <a:p>
                      <a:pPr>
                        <a:lnSpc>
                          <a:spcPct val="100000"/>
                        </a:lnSpc>
                      </a:pPr>
                      <a:endParaRPr sz="1600">
                        <a:latin typeface="Times New Roman"/>
                        <a:cs typeface="Times New Roman"/>
                      </a:endParaRPr>
                    </a:p>
                  </a:txBody>
                  <a:tcPr marL="0" marR="0" marT="0" marB="0"/>
                </a:tc>
                <a:tc>
                  <a:txBody>
                    <a:bodyPr/>
                    <a:lstStyle/>
                    <a:p>
                      <a:pPr marL="59055">
                        <a:lnSpc>
                          <a:spcPct val="100000"/>
                        </a:lnSpc>
                        <a:spcBef>
                          <a:spcPts val="160"/>
                        </a:spcBef>
                      </a:pPr>
                      <a:endParaRPr sz="1700" dirty="0">
                        <a:latin typeface="Tahoma"/>
                        <a:cs typeface="Tahoma"/>
                      </a:endParaRPr>
                    </a:p>
                  </a:txBody>
                  <a:tcPr marL="0" marR="0" marT="40267" marB="0">
                    <a:lnT w="6350" cap="flat" cmpd="sng" algn="ctr">
                      <a:solidFill>
                        <a:srgbClr val="000000"/>
                      </a:solidFill>
                      <a:prstDash val="solid"/>
                      <a:round/>
                      <a:headEnd type="none" w="med" len="med"/>
                      <a:tailEnd type="none" w="med" len="med"/>
                    </a:lnT>
                    <a:lnB w="9525">
                      <a:solidFill>
                        <a:srgbClr val="000000"/>
                      </a:solidFill>
                      <a:prstDash val="solid"/>
                    </a:lnB>
                  </a:tcPr>
                </a:tc>
                <a:tc>
                  <a:txBody>
                    <a:bodyPr/>
                    <a:lstStyle/>
                    <a:p>
                      <a:pPr marL="59055">
                        <a:lnSpc>
                          <a:spcPct val="100000"/>
                        </a:lnSpc>
                        <a:spcBef>
                          <a:spcPts val="160"/>
                        </a:spcBef>
                      </a:pPr>
                      <a:endParaRPr sz="1700" dirty="0">
                        <a:latin typeface="Tahoma"/>
                        <a:cs typeface="Tahoma"/>
                      </a:endParaRPr>
                    </a:p>
                  </a:txBody>
                  <a:tcPr marL="0" marR="0" marT="40267" marB="0">
                    <a:lnT w="6350">
                      <a:solidFill>
                        <a:srgbClr val="000000"/>
                      </a:solidFill>
                      <a:prstDash val="solid"/>
                    </a:lnT>
                    <a:lnB w="9525">
                      <a:solidFill>
                        <a:srgbClr val="000000"/>
                      </a:solidFill>
                      <a:prstDash val="solid"/>
                    </a:lnB>
                  </a:tcPr>
                </a:tc>
                <a:extLst>
                  <a:ext uri="{0D108BD9-81ED-4DB2-BD59-A6C34878D82A}">
                    <a16:rowId xmlns:a16="http://schemas.microsoft.com/office/drawing/2014/main" val="10013"/>
                  </a:ext>
                </a:extLst>
              </a:tr>
            </a:tbl>
          </a:graphicData>
        </a:graphic>
      </p:graphicFrame>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5614" y="521818"/>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50" dirty="0"/>
              <a:t> </a:t>
            </a:r>
            <a:r>
              <a:rPr spc="-59" dirty="0"/>
              <a:t>Study</a:t>
            </a:r>
            <a:r>
              <a:rPr spc="40" dirty="0"/>
              <a:t> </a:t>
            </a:r>
            <a:r>
              <a:rPr spc="-69" dirty="0"/>
              <a:t>Discrete</a:t>
            </a:r>
            <a:r>
              <a:rPr spc="50" dirty="0"/>
              <a:t> </a:t>
            </a:r>
            <a:r>
              <a:rPr spc="20" dirty="0"/>
              <a:t>Math?</a:t>
            </a:r>
            <a:r>
              <a:rPr spc="357" dirty="0"/>
              <a:t> </a:t>
            </a:r>
            <a:r>
              <a:rPr spc="-69" dirty="0"/>
              <a:t>Topics	</a:t>
            </a:r>
          </a:p>
        </p:txBody>
      </p:sp>
      <p:sp>
        <p:nvSpPr>
          <p:cNvPr id="19" name="object 19"/>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11" name="object 11"/>
          <p:cNvSpPr/>
          <p:nvPr/>
        </p:nvSpPr>
        <p:spPr>
          <a:xfrm>
            <a:off x="2103359" y="4157231"/>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2" name="object 12"/>
          <p:cNvSpPr/>
          <p:nvPr/>
        </p:nvSpPr>
        <p:spPr>
          <a:xfrm>
            <a:off x="2103359" y="4648667"/>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3" name="object 13"/>
          <p:cNvSpPr/>
          <p:nvPr/>
        </p:nvSpPr>
        <p:spPr>
          <a:xfrm>
            <a:off x="2103359" y="514010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4" name="object 14"/>
          <p:cNvSpPr txBox="1"/>
          <p:nvPr/>
        </p:nvSpPr>
        <p:spPr>
          <a:xfrm>
            <a:off x="1788395" y="3174583"/>
            <a:ext cx="7869712" cy="2486483"/>
          </a:xfrm>
          <a:prstGeom prst="rect">
            <a:avLst/>
          </a:prstGeom>
        </p:spPr>
        <p:txBody>
          <a:bodyPr vert="horz" wrap="square" lIns="0" tIns="23909" rIns="0" bIns="0" rtlCol="0">
            <a:spAutoFit/>
          </a:bodyPr>
          <a:lstStyle/>
          <a:p>
            <a:pPr marL="25168">
              <a:spcBef>
                <a:spcPts val="188"/>
              </a:spcBef>
            </a:pPr>
            <a:r>
              <a:rPr sz="2378" spc="-89" dirty="0">
                <a:solidFill>
                  <a:srgbClr val="FF0000"/>
                </a:solidFill>
                <a:latin typeface="Tahoma"/>
                <a:cs typeface="Tahoma"/>
              </a:rPr>
              <a:t>Logic:</a:t>
            </a:r>
            <a:endParaRPr sz="2378" dirty="0">
              <a:latin typeface="Tahoma"/>
              <a:cs typeface="Tahoma"/>
            </a:endParaRPr>
          </a:p>
          <a:p>
            <a:pPr>
              <a:spcBef>
                <a:spcPts val="69"/>
              </a:spcBef>
            </a:pPr>
            <a:endParaRPr sz="1784" dirty="0">
              <a:latin typeface="Tahoma"/>
              <a:cs typeface="Tahoma"/>
            </a:endParaRPr>
          </a:p>
          <a:p>
            <a:pPr marL="573821" marR="1571716">
              <a:lnSpc>
                <a:spcPct val="147900"/>
              </a:lnSpc>
            </a:pPr>
            <a:r>
              <a:rPr sz="2180" spc="-79" dirty="0">
                <a:latin typeface="Tahoma"/>
                <a:cs typeface="Tahoma"/>
              </a:rPr>
              <a:t>Fundamental</a:t>
            </a:r>
            <a:r>
              <a:rPr sz="2180" spc="30" dirty="0">
                <a:latin typeface="Tahoma"/>
                <a:cs typeface="Tahoma"/>
              </a:rPr>
              <a:t> </a:t>
            </a:r>
            <a:r>
              <a:rPr sz="2180" spc="-30" dirty="0">
                <a:latin typeface="Tahoma"/>
                <a:cs typeface="Tahoma"/>
              </a:rPr>
              <a:t>to</a:t>
            </a:r>
            <a:r>
              <a:rPr sz="2180" spc="40" dirty="0">
                <a:latin typeface="Tahoma"/>
                <a:cs typeface="Tahoma"/>
              </a:rPr>
              <a:t> </a:t>
            </a:r>
            <a:r>
              <a:rPr sz="2180" spc="-30" dirty="0">
                <a:latin typeface="Tahoma"/>
                <a:cs typeface="Tahoma"/>
              </a:rPr>
              <a:t>all</a:t>
            </a:r>
            <a:r>
              <a:rPr sz="2180" spc="40" dirty="0">
                <a:latin typeface="Tahoma"/>
                <a:cs typeface="Tahoma"/>
              </a:rPr>
              <a:t> </a:t>
            </a:r>
            <a:r>
              <a:rPr sz="2180" spc="-69" dirty="0">
                <a:latin typeface="Tahoma"/>
                <a:cs typeface="Tahoma"/>
              </a:rPr>
              <a:t>mathematical</a:t>
            </a:r>
            <a:r>
              <a:rPr sz="2180" spc="40" dirty="0">
                <a:latin typeface="Tahoma"/>
                <a:cs typeface="Tahoma"/>
              </a:rPr>
              <a:t> </a:t>
            </a:r>
            <a:r>
              <a:rPr sz="2180" spc="-69" dirty="0">
                <a:latin typeface="Tahoma"/>
                <a:cs typeface="Tahoma"/>
              </a:rPr>
              <a:t>disciplines </a:t>
            </a:r>
            <a:r>
              <a:rPr sz="2180" spc="-59" dirty="0">
                <a:latin typeface="Tahoma"/>
                <a:cs typeface="Tahoma"/>
              </a:rPr>
              <a:t> </a:t>
            </a:r>
            <a:r>
              <a:rPr sz="2180" spc="-69" dirty="0">
                <a:latin typeface="Tahoma"/>
                <a:cs typeface="Tahoma"/>
              </a:rPr>
              <a:t>Useful</a:t>
            </a:r>
            <a:r>
              <a:rPr sz="2180" spc="30" dirty="0">
                <a:latin typeface="Tahoma"/>
                <a:cs typeface="Tahoma"/>
              </a:rPr>
              <a:t> </a:t>
            </a:r>
            <a:r>
              <a:rPr sz="2180" spc="-89" dirty="0">
                <a:latin typeface="Tahoma"/>
                <a:cs typeface="Tahoma"/>
              </a:rPr>
              <a:t>for</a:t>
            </a:r>
            <a:r>
              <a:rPr sz="2180" spc="30" dirty="0">
                <a:latin typeface="Tahoma"/>
                <a:cs typeface="Tahoma"/>
              </a:rPr>
              <a:t> </a:t>
            </a:r>
            <a:r>
              <a:rPr sz="2180" spc="-129" dirty="0">
                <a:latin typeface="Tahoma"/>
                <a:cs typeface="Tahoma"/>
              </a:rPr>
              <a:t>hardware</a:t>
            </a:r>
            <a:r>
              <a:rPr sz="2180" spc="40" dirty="0">
                <a:latin typeface="Tahoma"/>
                <a:cs typeface="Tahoma"/>
              </a:rPr>
              <a:t> </a:t>
            </a:r>
            <a:r>
              <a:rPr sz="2180" spc="-99" dirty="0">
                <a:latin typeface="Tahoma"/>
                <a:cs typeface="Tahoma"/>
              </a:rPr>
              <a:t>design,</a:t>
            </a:r>
            <a:r>
              <a:rPr sz="2180" spc="30" dirty="0">
                <a:latin typeface="Tahoma"/>
                <a:cs typeface="Tahoma"/>
              </a:rPr>
              <a:t> </a:t>
            </a:r>
            <a:r>
              <a:rPr sz="2180" spc="-89" dirty="0">
                <a:latin typeface="Tahoma"/>
                <a:cs typeface="Tahoma"/>
              </a:rPr>
              <a:t>computer</a:t>
            </a:r>
            <a:r>
              <a:rPr sz="2180" spc="40" dirty="0">
                <a:latin typeface="Tahoma"/>
                <a:cs typeface="Tahoma"/>
              </a:rPr>
              <a:t> </a:t>
            </a:r>
            <a:r>
              <a:rPr sz="2180" spc="-69" dirty="0">
                <a:latin typeface="Tahoma"/>
                <a:cs typeface="Tahoma"/>
              </a:rPr>
              <a:t>architecture</a:t>
            </a:r>
            <a:endParaRPr sz="2180" dirty="0">
              <a:latin typeface="Tahoma"/>
              <a:cs typeface="Tahoma"/>
            </a:endParaRPr>
          </a:p>
          <a:p>
            <a:pPr marL="573821" marR="10067">
              <a:lnSpc>
                <a:spcPct val="102600"/>
              </a:lnSpc>
              <a:spcBef>
                <a:spcPts val="1189"/>
              </a:spcBef>
            </a:pPr>
            <a:r>
              <a:rPr sz="2180" spc="-10" dirty="0">
                <a:latin typeface="Tahoma"/>
                <a:cs typeface="Tahoma"/>
              </a:rPr>
              <a:t>Artificial</a:t>
            </a:r>
            <a:r>
              <a:rPr sz="2180" spc="59" dirty="0">
                <a:latin typeface="Tahoma"/>
                <a:cs typeface="Tahoma"/>
              </a:rPr>
              <a:t> </a:t>
            </a:r>
            <a:r>
              <a:rPr sz="2180" spc="-89" dirty="0">
                <a:latin typeface="Tahoma"/>
                <a:cs typeface="Tahoma"/>
              </a:rPr>
              <a:t>Intelligence,</a:t>
            </a:r>
            <a:r>
              <a:rPr sz="2180" spc="59" dirty="0">
                <a:latin typeface="Tahoma"/>
                <a:cs typeface="Tahoma"/>
              </a:rPr>
              <a:t> </a:t>
            </a:r>
            <a:r>
              <a:rPr sz="2180" spc="-40" dirty="0">
                <a:latin typeface="Tahoma"/>
                <a:cs typeface="Tahoma"/>
              </a:rPr>
              <a:t>Natural</a:t>
            </a:r>
            <a:r>
              <a:rPr sz="2180" spc="59" dirty="0">
                <a:latin typeface="Tahoma"/>
                <a:cs typeface="Tahoma"/>
              </a:rPr>
              <a:t> </a:t>
            </a:r>
            <a:r>
              <a:rPr sz="2180" spc="-99" dirty="0">
                <a:latin typeface="Tahoma"/>
                <a:cs typeface="Tahoma"/>
              </a:rPr>
              <a:t>Language</a:t>
            </a:r>
            <a:r>
              <a:rPr sz="2180" spc="59" dirty="0">
                <a:latin typeface="Tahoma"/>
                <a:cs typeface="Tahoma"/>
              </a:rPr>
              <a:t> </a:t>
            </a:r>
            <a:r>
              <a:rPr sz="2180" spc="-69" dirty="0">
                <a:latin typeface="Tahoma"/>
                <a:cs typeface="Tahoma"/>
              </a:rPr>
              <a:t>Processing,</a:t>
            </a:r>
            <a:r>
              <a:rPr sz="2180" spc="69" dirty="0">
                <a:latin typeface="Tahoma"/>
                <a:cs typeface="Tahoma"/>
              </a:rPr>
              <a:t> </a:t>
            </a:r>
            <a:r>
              <a:rPr sz="2180" spc="-89" dirty="0">
                <a:latin typeface="Tahoma"/>
                <a:cs typeface="Tahoma"/>
              </a:rPr>
              <a:t>Knowledge </a:t>
            </a:r>
            <a:r>
              <a:rPr sz="2180" spc="-654" dirty="0">
                <a:latin typeface="Tahoma"/>
                <a:cs typeface="Tahoma"/>
              </a:rPr>
              <a:t> </a:t>
            </a:r>
            <a:r>
              <a:rPr sz="2180" spc="-89" dirty="0">
                <a:latin typeface="Tahoma"/>
                <a:cs typeface="Tahoma"/>
              </a:rPr>
              <a:t>Representation</a:t>
            </a:r>
            <a:endParaRPr sz="2180" dirty="0">
              <a:latin typeface="Tahoma"/>
              <a:cs typeface="Tahoma"/>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989" y="761662"/>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50" dirty="0"/>
              <a:t> </a:t>
            </a:r>
            <a:r>
              <a:rPr spc="-59" dirty="0"/>
              <a:t>Study</a:t>
            </a:r>
            <a:r>
              <a:rPr spc="40" dirty="0"/>
              <a:t> </a:t>
            </a:r>
            <a:r>
              <a:rPr spc="-69" dirty="0"/>
              <a:t>Discrete</a:t>
            </a:r>
            <a:r>
              <a:rPr spc="50" dirty="0"/>
              <a:t> </a:t>
            </a:r>
            <a:r>
              <a:rPr spc="20" dirty="0"/>
              <a:t>Math?</a:t>
            </a:r>
            <a:r>
              <a:rPr spc="357" dirty="0"/>
              <a:t> </a:t>
            </a:r>
            <a:r>
              <a:rPr spc="-69" dirty="0"/>
              <a:t>Topics	</a:t>
            </a:r>
          </a:p>
        </p:txBody>
      </p:sp>
      <p:sp>
        <p:nvSpPr>
          <p:cNvPr id="22" name="object 22"/>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11" name="object 11"/>
          <p:cNvSpPr/>
          <p:nvPr/>
        </p:nvSpPr>
        <p:spPr>
          <a:xfrm>
            <a:off x="2103359" y="3984611"/>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2" name="object 12"/>
          <p:cNvSpPr/>
          <p:nvPr/>
        </p:nvSpPr>
        <p:spPr>
          <a:xfrm>
            <a:off x="2103359" y="4425887"/>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3" name="object 13"/>
          <p:cNvSpPr/>
          <p:nvPr/>
        </p:nvSpPr>
        <p:spPr>
          <a:xfrm>
            <a:off x="2663050" y="4914330"/>
            <a:ext cx="111993" cy="111993"/>
          </a:xfrm>
          <a:custGeom>
            <a:avLst/>
            <a:gdLst/>
            <a:ahLst/>
            <a:cxnLst/>
            <a:rect l="l" t="t" r="r" b="b"/>
            <a:pathLst>
              <a:path w="56515" h="56514">
                <a:moveTo>
                  <a:pt x="56235" y="0"/>
                </a:moveTo>
                <a:lnTo>
                  <a:pt x="0" y="0"/>
                </a:lnTo>
                <a:lnTo>
                  <a:pt x="0" y="56235"/>
                </a:lnTo>
                <a:lnTo>
                  <a:pt x="56235" y="56235"/>
                </a:lnTo>
                <a:lnTo>
                  <a:pt x="56235" y="0"/>
                </a:lnTo>
                <a:close/>
              </a:path>
            </a:pathLst>
          </a:custGeom>
          <a:solidFill>
            <a:srgbClr val="3333B2"/>
          </a:solidFill>
        </p:spPr>
        <p:txBody>
          <a:bodyPr wrap="square" lIns="0" tIns="0" rIns="0" bIns="0" rtlCol="0"/>
          <a:lstStyle/>
          <a:p>
            <a:endParaRPr sz="3567"/>
          </a:p>
        </p:txBody>
      </p:sp>
      <p:sp>
        <p:nvSpPr>
          <p:cNvPr id="14" name="object 14"/>
          <p:cNvSpPr/>
          <p:nvPr/>
        </p:nvSpPr>
        <p:spPr>
          <a:xfrm>
            <a:off x="2663050" y="5290426"/>
            <a:ext cx="111993" cy="111993"/>
          </a:xfrm>
          <a:custGeom>
            <a:avLst/>
            <a:gdLst/>
            <a:ahLst/>
            <a:cxnLst/>
            <a:rect l="l" t="t" r="r" b="b"/>
            <a:pathLst>
              <a:path w="56515" h="56514">
                <a:moveTo>
                  <a:pt x="56235" y="0"/>
                </a:moveTo>
                <a:lnTo>
                  <a:pt x="0" y="0"/>
                </a:lnTo>
                <a:lnTo>
                  <a:pt x="0" y="56235"/>
                </a:lnTo>
                <a:lnTo>
                  <a:pt x="56235" y="56235"/>
                </a:lnTo>
                <a:lnTo>
                  <a:pt x="56235" y="0"/>
                </a:lnTo>
                <a:close/>
              </a:path>
            </a:pathLst>
          </a:custGeom>
          <a:solidFill>
            <a:srgbClr val="3333B2"/>
          </a:solidFill>
        </p:spPr>
        <p:txBody>
          <a:bodyPr wrap="square" lIns="0" tIns="0" rIns="0" bIns="0" rtlCol="0"/>
          <a:lstStyle/>
          <a:p>
            <a:endParaRPr sz="3567"/>
          </a:p>
        </p:txBody>
      </p:sp>
      <p:sp>
        <p:nvSpPr>
          <p:cNvPr id="15" name="object 15"/>
          <p:cNvSpPr/>
          <p:nvPr/>
        </p:nvSpPr>
        <p:spPr>
          <a:xfrm>
            <a:off x="2663050" y="5666521"/>
            <a:ext cx="111993" cy="111993"/>
          </a:xfrm>
          <a:custGeom>
            <a:avLst/>
            <a:gdLst/>
            <a:ahLst/>
            <a:cxnLst/>
            <a:rect l="l" t="t" r="r" b="b"/>
            <a:pathLst>
              <a:path w="56515" h="56514">
                <a:moveTo>
                  <a:pt x="56235" y="0"/>
                </a:moveTo>
                <a:lnTo>
                  <a:pt x="0" y="0"/>
                </a:lnTo>
                <a:lnTo>
                  <a:pt x="0" y="56235"/>
                </a:lnTo>
                <a:lnTo>
                  <a:pt x="56235" y="56235"/>
                </a:lnTo>
                <a:lnTo>
                  <a:pt x="56235" y="0"/>
                </a:lnTo>
                <a:close/>
              </a:path>
            </a:pathLst>
          </a:custGeom>
          <a:solidFill>
            <a:srgbClr val="3333B2"/>
          </a:solidFill>
        </p:spPr>
        <p:txBody>
          <a:bodyPr wrap="square" lIns="0" tIns="0" rIns="0" bIns="0" rtlCol="0"/>
          <a:lstStyle/>
          <a:p>
            <a:endParaRPr sz="3567"/>
          </a:p>
        </p:txBody>
      </p:sp>
      <p:sp>
        <p:nvSpPr>
          <p:cNvPr id="16" name="object 16"/>
          <p:cNvSpPr/>
          <p:nvPr/>
        </p:nvSpPr>
        <p:spPr>
          <a:xfrm>
            <a:off x="2663050" y="6042615"/>
            <a:ext cx="111993" cy="111993"/>
          </a:xfrm>
          <a:custGeom>
            <a:avLst/>
            <a:gdLst/>
            <a:ahLst/>
            <a:cxnLst/>
            <a:rect l="l" t="t" r="r" b="b"/>
            <a:pathLst>
              <a:path w="56515" h="56514">
                <a:moveTo>
                  <a:pt x="56235" y="0"/>
                </a:moveTo>
                <a:lnTo>
                  <a:pt x="0" y="0"/>
                </a:lnTo>
                <a:lnTo>
                  <a:pt x="0" y="56235"/>
                </a:lnTo>
                <a:lnTo>
                  <a:pt x="56235" y="56235"/>
                </a:lnTo>
                <a:lnTo>
                  <a:pt x="56235" y="0"/>
                </a:lnTo>
                <a:close/>
              </a:path>
            </a:pathLst>
          </a:custGeom>
          <a:solidFill>
            <a:srgbClr val="3333B2"/>
          </a:solidFill>
        </p:spPr>
        <p:txBody>
          <a:bodyPr wrap="square" lIns="0" tIns="0" rIns="0" bIns="0" rtlCol="0"/>
          <a:lstStyle/>
          <a:p>
            <a:endParaRPr sz="3567"/>
          </a:p>
        </p:txBody>
      </p:sp>
      <p:sp>
        <p:nvSpPr>
          <p:cNvPr id="17" name="object 17"/>
          <p:cNvSpPr txBox="1"/>
          <p:nvPr/>
        </p:nvSpPr>
        <p:spPr>
          <a:xfrm>
            <a:off x="1788396" y="3183140"/>
            <a:ext cx="7065628" cy="3030286"/>
          </a:xfrm>
          <a:prstGeom prst="rect">
            <a:avLst/>
          </a:prstGeom>
        </p:spPr>
        <p:txBody>
          <a:bodyPr vert="horz" wrap="square" lIns="0" tIns="23909" rIns="0" bIns="0" rtlCol="0">
            <a:spAutoFit/>
          </a:bodyPr>
          <a:lstStyle/>
          <a:p>
            <a:pPr marL="25168">
              <a:spcBef>
                <a:spcPts val="188"/>
              </a:spcBef>
            </a:pPr>
            <a:r>
              <a:rPr sz="2378" spc="-119" dirty="0">
                <a:solidFill>
                  <a:srgbClr val="FF0000"/>
                </a:solidFill>
                <a:latin typeface="Tahoma"/>
                <a:cs typeface="Tahoma"/>
              </a:rPr>
              <a:t>Sets:</a:t>
            </a:r>
            <a:endParaRPr sz="2378">
              <a:latin typeface="Tahoma"/>
              <a:cs typeface="Tahoma"/>
            </a:endParaRPr>
          </a:p>
          <a:p>
            <a:pPr marL="573821">
              <a:spcBef>
                <a:spcPts val="2051"/>
              </a:spcBef>
            </a:pPr>
            <a:r>
              <a:rPr sz="2180" spc="-79" dirty="0">
                <a:latin typeface="Tahoma"/>
                <a:cs typeface="Tahoma"/>
              </a:rPr>
              <a:t>Fundamental</a:t>
            </a:r>
            <a:r>
              <a:rPr sz="2180" spc="30" dirty="0">
                <a:latin typeface="Tahoma"/>
                <a:cs typeface="Tahoma"/>
              </a:rPr>
              <a:t> </a:t>
            </a:r>
            <a:r>
              <a:rPr sz="2180" spc="-30" dirty="0">
                <a:latin typeface="Tahoma"/>
                <a:cs typeface="Tahoma"/>
              </a:rPr>
              <a:t>to</a:t>
            </a:r>
            <a:r>
              <a:rPr sz="2180" spc="40" dirty="0">
                <a:latin typeface="Tahoma"/>
                <a:cs typeface="Tahoma"/>
              </a:rPr>
              <a:t> </a:t>
            </a:r>
            <a:r>
              <a:rPr sz="2180" spc="-30" dirty="0">
                <a:latin typeface="Tahoma"/>
                <a:cs typeface="Tahoma"/>
              </a:rPr>
              <a:t>all</a:t>
            </a:r>
            <a:r>
              <a:rPr sz="2180" spc="40" dirty="0">
                <a:latin typeface="Tahoma"/>
                <a:cs typeface="Tahoma"/>
              </a:rPr>
              <a:t> </a:t>
            </a:r>
            <a:r>
              <a:rPr sz="2180" spc="-69" dirty="0">
                <a:latin typeface="Tahoma"/>
                <a:cs typeface="Tahoma"/>
              </a:rPr>
              <a:t>mathematical</a:t>
            </a:r>
            <a:r>
              <a:rPr sz="2180" spc="40" dirty="0">
                <a:latin typeface="Tahoma"/>
                <a:cs typeface="Tahoma"/>
              </a:rPr>
              <a:t> </a:t>
            </a:r>
            <a:r>
              <a:rPr sz="2180" spc="-69" dirty="0">
                <a:latin typeface="Tahoma"/>
                <a:cs typeface="Tahoma"/>
              </a:rPr>
              <a:t>disciplines</a:t>
            </a:r>
            <a:endParaRPr sz="2180">
              <a:latin typeface="Tahoma"/>
              <a:cs typeface="Tahoma"/>
            </a:endParaRPr>
          </a:p>
          <a:p>
            <a:pPr marL="573821">
              <a:spcBef>
                <a:spcPts val="852"/>
              </a:spcBef>
            </a:pPr>
            <a:r>
              <a:rPr sz="2180" spc="-50" dirty="0">
                <a:latin typeface="Tahoma"/>
                <a:cs typeface="Tahoma"/>
              </a:rPr>
              <a:t>Provide</a:t>
            </a:r>
            <a:r>
              <a:rPr sz="2180" spc="40" dirty="0">
                <a:latin typeface="Tahoma"/>
                <a:cs typeface="Tahoma"/>
              </a:rPr>
              <a:t> </a:t>
            </a:r>
            <a:r>
              <a:rPr sz="2180" spc="-79" dirty="0">
                <a:latin typeface="Tahoma"/>
                <a:cs typeface="Tahoma"/>
              </a:rPr>
              <a:t>foundations</a:t>
            </a:r>
            <a:r>
              <a:rPr sz="2180" spc="50" dirty="0">
                <a:latin typeface="Tahoma"/>
                <a:cs typeface="Tahoma"/>
              </a:rPr>
              <a:t> </a:t>
            </a:r>
            <a:r>
              <a:rPr sz="2180" spc="-89" dirty="0">
                <a:latin typeface="Tahoma"/>
                <a:cs typeface="Tahoma"/>
              </a:rPr>
              <a:t>for</a:t>
            </a:r>
            <a:r>
              <a:rPr sz="2180" spc="50" dirty="0">
                <a:latin typeface="Tahoma"/>
                <a:cs typeface="Tahoma"/>
              </a:rPr>
              <a:t> </a:t>
            </a:r>
            <a:r>
              <a:rPr sz="2180" spc="-99" dirty="0">
                <a:latin typeface="Tahoma"/>
                <a:cs typeface="Tahoma"/>
              </a:rPr>
              <a:t>various</a:t>
            </a:r>
            <a:r>
              <a:rPr sz="2180" spc="50" dirty="0">
                <a:latin typeface="Tahoma"/>
                <a:cs typeface="Tahoma"/>
              </a:rPr>
              <a:t> </a:t>
            </a:r>
            <a:r>
              <a:rPr sz="2180" spc="20" dirty="0">
                <a:latin typeface="Tahoma"/>
                <a:cs typeface="Tahoma"/>
              </a:rPr>
              <a:t>CS</a:t>
            </a:r>
            <a:r>
              <a:rPr sz="2180" spc="40" dirty="0">
                <a:latin typeface="Tahoma"/>
                <a:cs typeface="Tahoma"/>
              </a:rPr>
              <a:t> </a:t>
            </a:r>
            <a:r>
              <a:rPr sz="2180" spc="-69" dirty="0">
                <a:latin typeface="Tahoma"/>
                <a:cs typeface="Tahoma"/>
              </a:rPr>
              <a:t>disciplines,</a:t>
            </a:r>
            <a:r>
              <a:rPr sz="2180" spc="50" dirty="0">
                <a:latin typeface="Tahoma"/>
                <a:cs typeface="Tahoma"/>
              </a:rPr>
              <a:t> </a:t>
            </a:r>
            <a:r>
              <a:rPr sz="2180" spc="-79" dirty="0">
                <a:latin typeface="Tahoma"/>
                <a:cs typeface="Tahoma"/>
              </a:rPr>
              <a:t>especially</a:t>
            </a:r>
            <a:endParaRPr sz="2180">
              <a:latin typeface="Tahoma"/>
              <a:cs typeface="Tahoma"/>
            </a:endParaRPr>
          </a:p>
          <a:p>
            <a:pPr marL="1122475" marR="4259615">
              <a:lnSpc>
                <a:spcPct val="124500"/>
              </a:lnSpc>
              <a:spcBef>
                <a:spcPts val="763"/>
              </a:spcBef>
            </a:pPr>
            <a:r>
              <a:rPr sz="1982" spc="-20" dirty="0">
                <a:latin typeface="Tahoma"/>
                <a:cs typeface="Tahoma"/>
              </a:rPr>
              <a:t>Data</a:t>
            </a:r>
            <a:r>
              <a:rPr sz="1982" spc="-129" dirty="0">
                <a:latin typeface="Tahoma"/>
                <a:cs typeface="Tahoma"/>
              </a:rPr>
              <a:t> </a:t>
            </a:r>
            <a:r>
              <a:rPr sz="1982" spc="-50" dirty="0">
                <a:latin typeface="Tahoma"/>
                <a:cs typeface="Tahoma"/>
              </a:rPr>
              <a:t>Structures </a:t>
            </a:r>
            <a:r>
              <a:rPr sz="1982" spc="-595" dirty="0">
                <a:latin typeface="Tahoma"/>
                <a:cs typeface="Tahoma"/>
              </a:rPr>
              <a:t> </a:t>
            </a:r>
            <a:r>
              <a:rPr sz="1982" spc="-50" dirty="0">
                <a:latin typeface="Tahoma"/>
                <a:cs typeface="Tahoma"/>
              </a:rPr>
              <a:t>Algorithms </a:t>
            </a:r>
            <a:r>
              <a:rPr sz="1982" spc="-40" dirty="0">
                <a:latin typeface="Tahoma"/>
                <a:cs typeface="Tahoma"/>
              </a:rPr>
              <a:t> </a:t>
            </a:r>
            <a:r>
              <a:rPr sz="1982" spc="-30" dirty="0">
                <a:latin typeface="Tahoma"/>
                <a:cs typeface="Tahoma"/>
              </a:rPr>
              <a:t>Probability </a:t>
            </a:r>
            <a:r>
              <a:rPr sz="1982" spc="-20" dirty="0">
                <a:latin typeface="Tahoma"/>
                <a:cs typeface="Tahoma"/>
              </a:rPr>
              <a:t> </a:t>
            </a:r>
            <a:r>
              <a:rPr sz="1982" spc="-69" dirty="0">
                <a:latin typeface="Tahoma"/>
                <a:cs typeface="Tahoma"/>
              </a:rPr>
              <a:t>Database</a:t>
            </a:r>
            <a:endParaRPr sz="1982">
              <a:latin typeface="Tahoma"/>
              <a:cs typeface="Tahoma"/>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0527" y="58178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50" dirty="0"/>
              <a:t> </a:t>
            </a:r>
            <a:r>
              <a:rPr spc="-59" dirty="0"/>
              <a:t>Study</a:t>
            </a:r>
            <a:r>
              <a:rPr spc="40" dirty="0"/>
              <a:t> </a:t>
            </a:r>
            <a:r>
              <a:rPr spc="-69" dirty="0"/>
              <a:t>Discrete</a:t>
            </a:r>
            <a:r>
              <a:rPr spc="50" dirty="0"/>
              <a:t> </a:t>
            </a:r>
            <a:r>
              <a:rPr spc="20" dirty="0"/>
              <a:t>Math?</a:t>
            </a:r>
            <a:r>
              <a:rPr spc="357" dirty="0"/>
              <a:t> </a:t>
            </a:r>
            <a:r>
              <a:rPr spc="-69" dirty="0"/>
              <a:t>Topics	</a:t>
            </a:r>
          </a:p>
        </p:txBody>
      </p:sp>
      <p:sp>
        <p:nvSpPr>
          <p:cNvPr id="19" name="object 19"/>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9" name="object 9"/>
          <p:cNvSpPr/>
          <p:nvPr/>
        </p:nvSpPr>
        <p:spPr>
          <a:xfrm>
            <a:off x="2103359" y="4523107"/>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0" name="object 10"/>
          <p:cNvSpPr/>
          <p:nvPr/>
        </p:nvSpPr>
        <p:spPr>
          <a:xfrm>
            <a:off x="2103359" y="4939319"/>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1" name="object 11"/>
          <p:cNvSpPr/>
          <p:nvPr/>
        </p:nvSpPr>
        <p:spPr>
          <a:xfrm>
            <a:off x="2103359" y="535553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2" name="object 12"/>
          <p:cNvSpPr/>
          <p:nvPr/>
        </p:nvSpPr>
        <p:spPr>
          <a:xfrm>
            <a:off x="2103359" y="577174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3" name="object 13"/>
          <p:cNvSpPr/>
          <p:nvPr/>
        </p:nvSpPr>
        <p:spPr>
          <a:xfrm>
            <a:off x="2103359" y="6187954"/>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4" name="object 14"/>
          <p:cNvSpPr txBox="1"/>
          <p:nvPr/>
        </p:nvSpPr>
        <p:spPr>
          <a:xfrm>
            <a:off x="1788395" y="3199447"/>
            <a:ext cx="4248185" cy="3200077"/>
          </a:xfrm>
          <a:prstGeom prst="rect">
            <a:avLst/>
          </a:prstGeom>
        </p:spPr>
        <p:txBody>
          <a:bodyPr vert="horz" wrap="square" lIns="0" tIns="23909" rIns="0" bIns="0" rtlCol="0">
            <a:spAutoFit/>
          </a:bodyPr>
          <a:lstStyle/>
          <a:p>
            <a:pPr marL="25168">
              <a:spcBef>
                <a:spcPts val="188"/>
              </a:spcBef>
            </a:pPr>
            <a:r>
              <a:rPr sz="2378" spc="-89" dirty="0">
                <a:solidFill>
                  <a:srgbClr val="FF0000"/>
                </a:solidFill>
                <a:latin typeface="Tahoma"/>
                <a:cs typeface="Tahoma"/>
              </a:rPr>
              <a:t>Functions,</a:t>
            </a:r>
            <a:r>
              <a:rPr sz="2378" spc="40" dirty="0">
                <a:solidFill>
                  <a:srgbClr val="FF0000"/>
                </a:solidFill>
                <a:latin typeface="Tahoma"/>
                <a:cs typeface="Tahoma"/>
              </a:rPr>
              <a:t> </a:t>
            </a:r>
            <a:r>
              <a:rPr sz="2378" spc="-89" dirty="0">
                <a:solidFill>
                  <a:srgbClr val="FF0000"/>
                </a:solidFill>
                <a:latin typeface="Tahoma"/>
                <a:cs typeface="Tahoma"/>
              </a:rPr>
              <a:t>Relations,</a:t>
            </a:r>
            <a:r>
              <a:rPr sz="2378" spc="50" dirty="0">
                <a:solidFill>
                  <a:srgbClr val="FF0000"/>
                </a:solidFill>
                <a:latin typeface="Tahoma"/>
                <a:cs typeface="Tahoma"/>
              </a:rPr>
              <a:t> </a:t>
            </a:r>
            <a:r>
              <a:rPr sz="2378" spc="-139" dirty="0">
                <a:solidFill>
                  <a:srgbClr val="FF0000"/>
                </a:solidFill>
                <a:latin typeface="Tahoma"/>
                <a:cs typeface="Tahoma"/>
              </a:rPr>
              <a:t>Recurrences:</a:t>
            </a:r>
            <a:endParaRPr sz="2378">
              <a:latin typeface="Tahoma"/>
              <a:cs typeface="Tahoma"/>
            </a:endParaRPr>
          </a:p>
          <a:p>
            <a:pPr marL="573821" indent="-549912">
              <a:spcBef>
                <a:spcPts val="1883"/>
              </a:spcBef>
            </a:pPr>
            <a:r>
              <a:rPr sz="2180" spc="-30" dirty="0">
                <a:latin typeface="Tahoma"/>
                <a:cs typeface="Tahoma"/>
              </a:rPr>
              <a:t>Building</a:t>
            </a:r>
            <a:r>
              <a:rPr sz="2180" spc="-10" dirty="0">
                <a:latin typeface="Tahoma"/>
                <a:cs typeface="Tahoma"/>
              </a:rPr>
              <a:t> </a:t>
            </a:r>
            <a:r>
              <a:rPr sz="2180" spc="-59" dirty="0">
                <a:latin typeface="Tahoma"/>
                <a:cs typeface="Tahoma"/>
              </a:rPr>
              <a:t>blocks</a:t>
            </a:r>
            <a:r>
              <a:rPr sz="2180" dirty="0">
                <a:latin typeface="Tahoma"/>
                <a:cs typeface="Tahoma"/>
              </a:rPr>
              <a:t> </a:t>
            </a:r>
            <a:r>
              <a:rPr sz="2180" spc="-89" dirty="0">
                <a:latin typeface="Tahoma"/>
                <a:cs typeface="Tahoma"/>
              </a:rPr>
              <a:t>for</a:t>
            </a:r>
            <a:endParaRPr sz="2180">
              <a:latin typeface="Tahoma"/>
              <a:cs typeface="Tahoma"/>
            </a:endParaRPr>
          </a:p>
          <a:p>
            <a:pPr marL="573821" marR="2111561">
              <a:lnSpc>
                <a:spcPct val="125299"/>
              </a:lnSpc>
              <a:spcBef>
                <a:spcPts val="1001"/>
              </a:spcBef>
            </a:pPr>
            <a:r>
              <a:rPr sz="2180" spc="-79" dirty="0">
                <a:latin typeface="Tahoma"/>
                <a:cs typeface="Tahoma"/>
              </a:rPr>
              <a:t>Hashing </a:t>
            </a:r>
            <a:r>
              <a:rPr sz="2180" spc="-69" dirty="0">
                <a:latin typeface="Tahoma"/>
                <a:cs typeface="Tahoma"/>
              </a:rPr>
              <a:t> </a:t>
            </a:r>
            <a:r>
              <a:rPr sz="2180" spc="-79" dirty="0">
                <a:latin typeface="Tahoma"/>
                <a:cs typeface="Tahoma"/>
              </a:rPr>
              <a:t>Cryptography</a:t>
            </a:r>
            <a:endParaRPr sz="2180">
              <a:latin typeface="Tahoma"/>
              <a:cs typeface="Tahoma"/>
            </a:endParaRPr>
          </a:p>
          <a:p>
            <a:pPr marL="573821" marR="815430">
              <a:lnSpc>
                <a:spcPct val="125299"/>
              </a:lnSpc>
            </a:pPr>
            <a:r>
              <a:rPr sz="2180" spc="-69" dirty="0">
                <a:latin typeface="Tahoma"/>
                <a:cs typeface="Tahoma"/>
              </a:rPr>
              <a:t>Programming</a:t>
            </a:r>
            <a:r>
              <a:rPr sz="2180" spc="-10" dirty="0">
                <a:latin typeface="Tahoma"/>
                <a:cs typeface="Tahoma"/>
              </a:rPr>
              <a:t> </a:t>
            </a:r>
            <a:r>
              <a:rPr sz="2180" spc="-109" dirty="0">
                <a:latin typeface="Tahoma"/>
                <a:cs typeface="Tahoma"/>
              </a:rPr>
              <a:t>Languages </a:t>
            </a:r>
            <a:r>
              <a:rPr sz="2180" spc="-654" dirty="0">
                <a:latin typeface="Tahoma"/>
                <a:cs typeface="Tahoma"/>
              </a:rPr>
              <a:t> </a:t>
            </a:r>
            <a:r>
              <a:rPr sz="2180" spc="-79" dirty="0">
                <a:latin typeface="Tahoma"/>
                <a:cs typeface="Tahoma"/>
              </a:rPr>
              <a:t>Database</a:t>
            </a:r>
            <a:r>
              <a:rPr sz="2180" spc="10" dirty="0">
                <a:latin typeface="Tahoma"/>
                <a:cs typeface="Tahoma"/>
              </a:rPr>
              <a:t> </a:t>
            </a:r>
            <a:r>
              <a:rPr sz="2180" spc="-119" dirty="0">
                <a:latin typeface="Tahoma"/>
                <a:cs typeface="Tahoma"/>
              </a:rPr>
              <a:t>systems</a:t>
            </a:r>
            <a:endParaRPr sz="2180">
              <a:latin typeface="Tahoma"/>
              <a:cs typeface="Tahoma"/>
            </a:endParaRPr>
          </a:p>
          <a:p>
            <a:pPr marL="573821">
              <a:spcBef>
                <a:spcPts val="662"/>
              </a:spcBef>
            </a:pPr>
            <a:r>
              <a:rPr sz="2180" spc="-89" dirty="0">
                <a:latin typeface="Tahoma"/>
                <a:cs typeface="Tahoma"/>
              </a:rPr>
              <a:t>Recursive</a:t>
            </a:r>
            <a:r>
              <a:rPr sz="2180" spc="10" dirty="0">
                <a:latin typeface="Tahoma"/>
                <a:cs typeface="Tahoma"/>
              </a:rPr>
              <a:t> </a:t>
            </a:r>
            <a:r>
              <a:rPr sz="2180" spc="-40" dirty="0">
                <a:latin typeface="Tahoma"/>
                <a:cs typeface="Tahoma"/>
              </a:rPr>
              <a:t>Algorithm</a:t>
            </a:r>
            <a:r>
              <a:rPr sz="2180" spc="20" dirty="0">
                <a:latin typeface="Tahoma"/>
                <a:cs typeface="Tahoma"/>
              </a:rPr>
              <a:t> </a:t>
            </a:r>
            <a:r>
              <a:rPr sz="2180" spc="-59" dirty="0">
                <a:latin typeface="Tahoma"/>
                <a:cs typeface="Tahoma"/>
              </a:rPr>
              <a:t>Analysis</a:t>
            </a:r>
            <a:endParaRPr sz="2180">
              <a:latin typeface="Tahoma"/>
              <a:cs typeface="Tahoma"/>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078" y="596766"/>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50" dirty="0"/>
              <a:t> </a:t>
            </a:r>
            <a:r>
              <a:rPr spc="-59" dirty="0"/>
              <a:t>Study</a:t>
            </a:r>
            <a:r>
              <a:rPr spc="40" dirty="0"/>
              <a:t> </a:t>
            </a:r>
            <a:r>
              <a:rPr spc="-69" dirty="0"/>
              <a:t>Discrete</a:t>
            </a:r>
            <a:r>
              <a:rPr spc="50" dirty="0"/>
              <a:t> </a:t>
            </a:r>
            <a:r>
              <a:rPr spc="20" dirty="0"/>
              <a:t>Math?</a:t>
            </a:r>
            <a:r>
              <a:rPr spc="357" dirty="0"/>
              <a:t> </a:t>
            </a:r>
            <a:r>
              <a:rPr spc="-69" dirty="0"/>
              <a:t>Topics	</a:t>
            </a:r>
          </a:p>
        </p:txBody>
      </p:sp>
      <p:sp>
        <p:nvSpPr>
          <p:cNvPr id="18" name="object 1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11" name="object 11"/>
          <p:cNvSpPr/>
          <p:nvPr/>
        </p:nvSpPr>
        <p:spPr>
          <a:xfrm>
            <a:off x="2103359" y="5072629"/>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2" name="object 12"/>
          <p:cNvSpPr/>
          <p:nvPr/>
        </p:nvSpPr>
        <p:spPr>
          <a:xfrm>
            <a:off x="2103359" y="5564065"/>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3" name="object 13"/>
          <p:cNvSpPr txBox="1"/>
          <p:nvPr/>
        </p:nvSpPr>
        <p:spPr>
          <a:xfrm>
            <a:off x="1788396" y="4118638"/>
            <a:ext cx="8610880" cy="1690368"/>
          </a:xfrm>
          <a:prstGeom prst="rect">
            <a:avLst/>
          </a:prstGeom>
        </p:spPr>
        <p:txBody>
          <a:bodyPr vert="horz" wrap="square" lIns="0" tIns="23909" rIns="0" bIns="0" rtlCol="0">
            <a:spAutoFit/>
          </a:bodyPr>
          <a:lstStyle/>
          <a:p>
            <a:pPr marL="25168">
              <a:spcBef>
                <a:spcPts val="188"/>
              </a:spcBef>
            </a:pPr>
            <a:r>
              <a:rPr sz="2378" spc="-79" dirty="0">
                <a:solidFill>
                  <a:srgbClr val="FF0000"/>
                </a:solidFill>
                <a:latin typeface="Tahoma"/>
                <a:cs typeface="Tahoma"/>
              </a:rPr>
              <a:t>Proofs:</a:t>
            </a:r>
            <a:endParaRPr sz="2378" dirty="0">
              <a:latin typeface="Tahoma"/>
              <a:cs typeface="Tahoma"/>
            </a:endParaRPr>
          </a:p>
          <a:p>
            <a:pPr>
              <a:spcBef>
                <a:spcPts val="20"/>
              </a:spcBef>
            </a:pPr>
            <a:endParaRPr sz="2180" dirty="0">
              <a:latin typeface="Tahoma"/>
              <a:cs typeface="Tahoma"/>
            </a:endParaRPr>
          </a:p>
          <a:p>
            <a:pPr marL="573821" marR="3826732">
              <a:lnSpc>
                <a:spcPct val="147900"/>
              </a:lnSpc>
              <a:spcBef>
                <a:spcPts val="337"/>
              </a:spcBef>
            </a:pPr>
            <a:r>
              <a:rPr sz="2180" spc="-30" dirty="0">
                <a:latin typeface="Tahoma"/>
                <a:cs typeface="Tahoma"/>
              </a:rPr>
              <a:t>that</a:t>
            </a:r>
            <a:r>
              <a:rPr sz="2180" spc="30" dirty="0">
                <a:latin typeface="Tahoma"/>
                <a:cs typeface="Tahoma"/>
              </a:rPr>
              <a:t> </a:t>
            </a:r>
            <a:r>
              <a:rPr sz="2180" spc="-109" dirty="0">
                <a:latin typeface="Tahoma"/>
                <a:cs typeface="Tahoma"/>
              </a:rPr>
              <a:t>your</a:t>
            </a:r>
            <a:r>
              <a:rPr sz="2180" spc="20" dirty="0">
                <a:latin typeface="Tahoma"/>
                <a:cs typeface="Tahoma"/>
              </a:rPr>
              <a:t> </a:t>
            </a:r>
            <a:r>
              <a:rPr sz="2180" spc="-99" dirty="0">
                <a:latin typeface="Tahoma"/>
                <a:cs typeface="Tahoma"/>
              </a:rPr>
              <a:t>program</a:t>
            </a:r>
            <a:r>
              <a:rPr sz="2180" spc="30" dirty="0">
                <a:latin typeface="Tahoma"/>
                <a:cs typeface="Tahoma"/>
              </a:rPr>
              <a:t> </a:t>
            </a:r>
            <a:r>
              <a:rPr sz="2180" spc="-119" dirty="0">
                <a:latin typeface="Tahoma"/>
                <a:cs typeface="Tahoma"/>
              </a:rPr>
              <a:t>has</a:t>
            </a:r>
            <a:r>
              <a:rPr sz="2180" spc="20" dirty="0">
                <a:latin typeface="Tahoma"/>
                <a:cs typeface="Tahoma"/>
              </a:rPr>
              <a:t> </a:t>
            </a:r>
            <a:r>
              <a:rPr sz="2180" spc="-109" dirty="0">
                <a:latin typeface="Tahoma"/>
                <a:cs typeface="Tahoma"/>
              </a:rPr>
              <a:t>no</a:t>
            </a:r>
            <a:r>
              <a:rPr sz="2180" spc="30" dirty="0">
                <a:latin typeface="Tahoma"/>
                <a:cs typeface="Tahoma"/>
              </a:rPr>
              <a:t> </a:t>
            </a:r>
            <a:r>
              <a:rPr sz="2180" spc="-109" dirty="0">
                <a:latin typeface="Tahoma"/>
                <a:cs typeface="Tahoma"/>
              </a:rPr>
              <a:t>bug </a:t>
            </a:r>
            <a:r>
              <a:rPr sz="2180" spc="-654" dirty="0">
                <a:latin typeface="Tahoma"/>
                <a:cs typeface="Tahoma"/>
              </a:rPr>
              <a:t> </a:t>
            </a:r>
            <a:r>
              <a:rPr sz="2180" spc="-50" dirty="0">
                <a:latin typeface="Tahoma"/>
                <a:cs typeface="Tahoma"/>
              </a:rPr>
              <a:t>Verify</a:t>
            </a:r>
            <a:r>
              <a:rPr sz="2180" spc="30" dirty="0">
                <a:latin typeface="Tahoma"/>
                <a:cs typeface="Tahoma"/>
              </a:rPr>
              <a:t> </a:t>
            </a:r>
            <a:r>
              <a:rPr sz="2180" spc="-30" dirty="0">
                <a:latin typeface="Tahoma"/>
                <a:cs typeface="Tahoma"/>
              </a:rPr>
              <a:t>that</a:t>
            </a:r>
            <a:r>
              <a:rPr sz="2180" spc="30" dirty="0">
                <a:latin typeface="Tahoma"/>
                <a:cs typeface="Tahoma"/>
              </a:rPr>
              <a:t> </a:t>
            </a:r>
            <a:r>
              <a:rPr sz="2180" spc="-79" dirty="0">
                <a:latin typeface="Tahoma"/>
                <a:cs typeface="Tahoma"/>
              </a:rPr>
              <a:t>the</a:t>
            </a:r>
            <a:r>
              <a:rPr sz="2180" spc="30" dirty="0">
                <a:latin typeface="Tahoma"/>
                <a:cs typeface="Tahoma"/>
              </a:rPr>
              <a:t> </a:t>
            </a:r>
            <a:r>
              <a:rPr sz="2180" spc="-129" dirty="0">
                <a:latin typeface="Tahoma"/>
                <a:cs typeface="Tahoma"/>
              </a:rPr>
              <a:t>hardware</a:t>
            </a:r>
            <a:r>
              <a:rPr sz="2180" spc="30" dirty="0">
                <a:latin typeface="Tahoma"/>
                <a:cs typeface="Tahoma"/>
              </a:rPr>
              <a:t> </a:t>
            </a:r>
            <a:r>
              <a:rPr sz="2180" spc="-69" dirty="0">
                <a:latin typeface="Tahoma"/>
                <a:cs typeface="Tahoma"/>
              </a:rPr>
              <a:t>is</a:t>
            </a:r>
            <a:r>
              <a:rPr sz="2180" spc="40" dirty="0">
                <a:latin typeface="Tahoma"/>
                <a:cs typeface="Tahoma"/>
              </a:rPr>
              <a:t> </a:t>
            </a:r>
            <a:r>
              <a:rPr sz="2180" spc="-79" dirty="0">
                <a:latin typeface="Tahoma"/>
                <a:cs typeface="Tahoma"/>
              </a:rPr>
              <a:t>correct</a:t>
            </a:r>
            <a:endParaRPr sz="2180" dirty="0">
              <a:latin typeface="Tahoma"/>
              <a:cs typeface="Tahoma"/>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078" y="371916"/>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50" dirty="0"/>
              <a:t> </a:t>
            </a:r>
            <a:r>
              <a:rPr spc="-59" dirty="0"/>
              <a:t>Study</a:t>
            </a:r>
            <a:r>
              <a:rPr spc="40" dirty="0"/>
              <a:t> </a:t>
            </a:r>
            <a:r>
              <a:rPr spc="-69" dirty="0"/>
              <a:t>Discrete</a:t>
            </a:r>
            <a:r>
              <a:rPr spc="50" dirty="0"/>
              <a:t> </a:t>
            </a:r>
            <a:r>
              <a:rPr spc="20" dirty="0"/>
              <a:t>Math?</a:t>
            </a:r>
            <a:r>
              <a:rPr spc="357" dirty="0"/>
              <a:t> </a:t>
            </a:r>
            <a:r>
              <a:rPr spc="-69" dirty="0"/>
              <a:t>Topics	</a:t>
            </a:r>
          </a:p>
        </p:txBody>
      </p:sp>
      <p:sp>
        <p:nvSpPr>
          <p:cNvPr id="22" name="object 22"/>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12" name="object 12"/>
          <p:cNvSpPr/>
          <p:nvPr/>
        </p:nvSpPr>
        <p:spPr>
          <a:xfrm>
            <a:off x="2008228" y="5032085"/>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3" name="object 13"/>
          <p:cNvSpPr/>
          <p:nvPr/>
        </p:nvSpPr>
        <p:spPr>
          <a:xfrm>
            <a:off x="2008228" y="5473363"/>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4" name="object 14"/>
          <p:cNvSpPr/>
          <p:nvPr/>
        </p:nvSpPr>
        <p:spPr>
          <a:xfrm>
            <a:off x="2008228" y="5914666"/>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5" name="object 15"/>
          <p:cNvSpPr txBox="1"/>
          <p:nvPr/>
        </p:nvSpPr>
        <p:spPr>
          <a:xfrm>
            <a:off x="1788396" y="3586110"/>
            <a:ext cx="8610880" cy="2578881"/>
          </a:xfrm>
          <a:prstGeom prst="rect">
            <a:avLst/>
          </a:prstGeom>
        </p:spPr>
        <p:txBody>
          <a:bodyPr vert="horz" wrap="square" lIns="0" tIns="23909" rIns="0" bIns="0" rtlCol="0">
            <a:spAutoFit/>
          </a:bodyPr>
          <a:lstStyle/>
          <a:p>
            <a:pPr marL="25168">
              <a:spcBef>
                <a:spcPts val="188"/>
              </a:spcBef>
            </a:pPr>
            <a:r>
              <a:rPr sz="2378" spc="-89" dirty="0">
                <a:solidFill>
                  <a:srgbClr val="FF0000"/>
                </a:solidFill>
                <a:latin typeface="Tahoma"/>
                <a:cs typeface="Tahoma"/>
              </a:rPr>
              <a:t>Counting</a:t>
            </a:r>
            <a:r>
              <a:rPr sz="2378" spc="10" dirty="0">
                <a:solidFill>
                  <a:srgbClr val="FF0000"/>
                </a:solidFill>
                <a:latin typeface="Tahoma"/>
                <a:cs typeface="Tahoma"/>
              </a:rPr>
              <a:t> </a:t>
            </a:r>
            <a:r>
              <a:rPr sz="2378" spc="-139" dirty="0">
                <a:solidFill>
                  <a:srgbClr val="FF0000"/>
                </a:solidFill>
                <a:latin typeface="Tahoma"/>
                <a:cs typeface="Tahoma"/>
              </a:rPr>
              <a:t>and</a:t>
            </a:r>
            <a:r>
              <a:rPr sz="2378" spc="30" dirty="0">
                <a:solidFill>
                  <a:srgbClr val="FF0000"/>
                </a:solidFill>
                <a:latin typeface="Tahoma"/>
                <a:cs typeface="Tahoma"/>
              </a:rPr>
              <a:t> </a:t>
            </a:r>
            <a:r>
              <a:rPr sz="2378" spc="-109" dirty="0">
                <a:solidFill>
                  <a:srgbClr val="FF0000"/>
                </a:solidFill>
                <a:latin typeface="Tahoma"/>
                <a:cs typeface="Tahoma"/>
              </a:rPr>
              <a:t>Combinatorics:</a:t>
            </a:r>
            <a:endParaRPr sz="2378" dirty="0">
              <a:latin typeface="Tahoma"/>
              <a:cs typeface="Tahoma"/>
            </a:endParaRPr>
          </a:p>
          <a:p>
            <a:pPr marR="10067" algn="r">
              <a:spcBef>
                <a:spcPts val="1566"/>
              </a:spcBef>
            </a:pPr>
            <a:endParaRPr lang="en-US" sz="1982" dirty="0">
              <a:latin typeface="Tahoma"/>
              <a:cs typeface="Tahoma"/>
            </a:endParaRPr>
          </a:p>
          <a:p>
            <a:pPr>
              <a:spcBef>
                <a:spcPts val="50"/>
              </a:spcBef>
            </a:pPr>
            <a:endParaRPr lang="en-US" sz="2477" dirty="0">
              <a:latin typeface="Tahoma"/>
              <a:cs typeface="Tahoma"/>
            </a:endParaRPr>
          </a:p>
          <a:p>
            <a:pPr marL="478184" marR="2808703">
              <a:lnSpc>
                <a:spcPct val="132800"/>
              </a:lnSpc>
              <a:spcBef>
                <a:spcPts val="10"/>
              </a:spcBef>
            </a:pPr>
            <a:r>
              <a:rPr lang="en-US" sz="2180" spc="-59" dirty="0">
                <a:latin typeface="Tahoma"/>
                <a:cs typeface="Tahoma"/>
              </a:rPr>
              <a:t>Calcu</a:t>
            </a:r>
            <a:r>
              <a:rPr sz="2180" spc="-59" dirty="0">
                <a:latin typeface="Tahoma"/>
                <a:cs typeface="Tahoma"/>
              </a:rPr>
              <a:t>late</a:t>
            </a:r>
            <a:r>
              <a:rPr sz="2180" spc="30" dirty="0">
                <a:latin typeface="Tahoma"/>
                <a:cs typeface="Tahoma"/>
              </a:rPr>
              <a:t> </a:t>
            </a:r>
            <a:r>
              <a:rPr sz="2180" spc="-109" dirty="0">
                <a:latin typeface="Tahoma"/>
                <a:cs typeface="Tahoma"/>
              </a:rPr>
              <a:t>your</a:t>
            </a:r>
            <a:r>
              <a:rPr sz="2180" spc="40" dirty="0">
                <a:latin typeface="Tahoma"/>
                <a:cs typeface="Tahoma"/>
              </a:rPr>
              <a:t> </a:t>
            </a:r>
            <a:r>
              <a:rPr sz="2180" spc="-109" dirty="0">
                <a:latin typeface="Tahoma"/>
                <a:cs typeface="Tahoma"/>
              </a:rPr>
              <a:t>chances</a:t>
            </a:r>
            <a:r>
              <a:rPr sz="2180" spc="50" dirty="0">
                <a:latin typeface="Tahoma"/>
                <a:cs typeface="Tahoma"/>
              </a:rPr>
              <a:t> </a:t>
            </a:r>
            <a:r>
              <a:rPr sz="2180" spc="-69" dirty="0">
                <a:latin typeface="Tahoma"/>
                <a:cs typeface="Tahoma"/>
              </a:rPr>
              <a:t>of</a:t>
            </a:r>
            <a:r>
              <a:rPr sz="2180" spc="50" dirty="0">
                <a:latin typeface="Tahoma"/>
                <a:cs typeface="Tahoma"/>
              </a:rPr>
              <a:t> </a:t>
            </a:r>
            <a:r>
              <a:rPr sz="2180" spc="-109" dirty="0">
                <a:latin typeface="Tahoma"/>
                <a:cs typeface="Tahoma"/>
              </a:rPr>
              <a:t>a</a:t>
            </a:r>
            <a:r>
              <a:rPr sz="2180" spc="50" dirty="0">
                <a:latin typeface="Tahoma"/>
                <a:cs typeface="Tahoma"/>
              </a:rPr>
              <a:t> </a:t>
            </a:r>
            <a:r>
              <a:rPr sz="2180" spc="-89" dirty="0">
                <a:latin typeface="Tahoma"/>
                <a:cs typeface="Tahoma"/>
              </a:rPr>
              <a:t>component</a:t>
            </a:r>
            <a:r>
              <a:rPr sz="2180" spc="40" dirty="0">
                <a:latin typeface="Tahoma"/>
                <a:cs typeface="Tahoma"/>
              </a:rPr>
              <a:t> </a:t>
            </a:r>
            <a:r>
              <a:rPr sz="2180" spc="-69" dirty="0">
                <a:latin typeface="Tahoma"/>
                <a:cs typeface="Tahoma"/>
              </a:rPr>
              <a:t>failure </a:t>
            </a:r>
            <a:r>
              <a:rPr sz="2180" spc="-654" dirty="0">
                <a:latin typeface="Tahoma"/>
                <a:cs typeface="Tahoma"/>
              </a:rPr>
              <a:t> </a:t>
            </a:r>
            <a:r>
              <a:rPr sz="2180" spc="-59" dirty="0">
                <a:latin typeface="Tahoma"/>
                <a:cs typeface="Tahoma"/>
              </a:rPr>
              <a:t>Analyze</a:t>
            </a:r>
            <a:r>
              <a:rPr sz="2180" spc="30" dirty="0">
                <a:latin typeface="Tahoma"/>
                <a:cs typeface="Tahoma"/>
              </a:rPr>
              <a:t> </a:t>
            </a:r>
            <a:r>
              <a:rPr sz="2180" spc="-139" dirty="0">
                <a:latin typeface="Tahoma"/>
                <a:cs typeface="Tahoma"/>
              </a:rPr>
              <a:t>how</a:t>
            </a:r>
            <a:r>
              <a:rPr sz="2180" spc="30" dirty="0">
                <a:latin typeface="Tahoma"/>
                <a:cs typeface="Tahoma"/>
              </a:rPr>
              <a:t> </a:t>
            </a:r>
            <a:r>
              <a:rPr sz="2180" spc="-79" dirty="0">
                <a:latin typeface="Tahoma"/>
                <a:cs typeface="Tahoma"/>
              </a:rPr>
              <a:t>long</a:t>
            </a:r>
            <a:r>
              <a:rPr sz="2180" spc="30" dirty="0">
                <a:latin typeface="Tahoma"/>
                <a:cs typeface="Tahoma"/>
              </a:rPr>
              <a:t> </a:t>
            </a:r>
            <a:r>
              <a:rPr sz="2180" spc="-109" dirty="0">
                <a:latin typeface="Tahoma"/>
                <a:cs typeface="Tahoma"/>
              </a:rPr>
              <a:t>a</a:t>
            </a:r>
            <a:r>
              <a:rPr sz="2180" spc="40" dirty="0">
                <a:latin typeface="Tahoma"/>
                <a:cs typeface="Tahoma"/>
              </a:rPr>
              <a:t> </a:t>
            </a:r>
            <a:r>
              <a:rPr sz="2180" spc="-99" dirty="0">
                <a:latin typeface="Tahoma"/>
                <a:cs typeface="Tahoma"/>
              </a:rPr>
              <a:t>program</a:t>
            </a:r>
            <a:r>
              <a:rPr sz="2180" spc="30" dirty="0">
                <a:latin typeface="Tahoma"/>
                <a:cs typeface="Tahoma"/>
              </a:rPr>
              <a:t> </a:t>
            </a:r>
            <a:r>
              <a:rPr sz="2180" spc="-99" dirty="0">
                <a:latin typeface="Tahoma"/>
                <a:cs typeface="Tahoma"/>
              </a:rPr>
              <a:t>takes</a:t>
            </a:r>
            <a:r>
              <a:rPr sz="2180" spc="30" dirty="0">
                <a:latin typeface="Tahoma"/>
                <a:cs typeface="Tahoma"/>
              </a:rPr>
              <a:t> </a:t>
            </a:r>
            <a:r>
              <a:rPr sz="2180" spc="-30" dirty="0">
                <a:latin typeface="Tahoma"/>
                <a:cs typeface="Tahoma"/>
              </a:rPr>
              <a:t>to</a:t>
            </a:r>
            <a:r>
              <a:rPr sz="2180" spc="30" dirty="0">
                <a:latin typeface="Tahoma"/>
                <a:cs typeface="Tahoma"/>
              </a:rPr>
              <a:t> </a:t>
            </a:r>
            <a:r>
              <a:rPr sz="2180" spc="-69" dirty="0">
                <a:latin typeface="Tahoma"/>
                <a:cs typeface="Tahoma"/>
              </a:rPr>
              <a:t>finish </a:t>
            </a:r>
            <a:r>
              <a:rPr sz="2180" spc="-59" dirty="0">
                <a:latin typeface="Tahoma"/>
                <a:cs typeface="Tahoma"/>
              </a:rPr>
              <a:t> </a:t>
            </a:r>
            <a:r>
              <a:rPr sz="2180" spc="-69" dirty="0">
                <a:latin typeface="Tahoma"/>
                <a:cs typeface="Tahoma"/>
              </a:rPr>
              <a:t>Very</a:t>
            </a:r>
            <a:r>
              <a:rPr sz="2180" spc="40" dirty="0">
                <a:latin typeface="Tahoma"/>
                <a:cs typeface="Tahoma"/>
              </a:rPr>
              <a:t> </a:t>
            </a:r>
            <a:r>
              <a:rPr sz="2180" spc="-99" dirty="0">
                <a:latin typeface="Tahoma"/>
                <a:cs typeface="Tahoma"/>
              </a:rPr>
              <a:t>useful</a:t>
            </a:r>
            <a:r>
              <a:rPr sz="2180" spc="40" dirty="0">
                <a:latin typeface="Tahoma"/>
                <a:cs typeface="Tahoma"/>
              </a:rPr>
              <a:t> </a:t>
            </a:r>
            <a:r>
              <a:rPr sz="2180" spc="-50" dirty="0">
                <a:latin typeface="Tahoma"/>
                <a:cs typeface="Tahoma"/>
              </a:rPr>
              <a:t>in</a:t>
            </a:r>
            <a:r>
              <a:rPr sz="2180" spc="40" dirty="0">
                <a:latin typeface="Tahoma"/>
                <a:cs typeface="Tahoma"/>
              </a:rPr>
              <a:t> </a:t>
            </a:r>
            <a:r>
              <a:rPr sz="2180" spc="-99" dirty="0">
                <a:latin typeface="Tahoma"/>
                <a:cs typeface="Tahoma"/>
              </a:rPr>
              <a:t>designing</a:t>
            </a:r>
            <a:r>
              <a:rPr sz="2180" spc="40" dirty="0">
                <a:latin typeface="Tahoma"/>
                <a:cs typeface="Tahoma"/>
              </a:rPr>
              <a:t> </a:t>
            </a:r>
            <a:r>
              <a:rPr sz="2180" spc="-79" dirty="0">
                <a:latin typeface="Tahoma"/>
                <a:cs typeface="Tahoma"/>
              </a:rPr>
              <a:t>algorithms</a:t>
            </a:r>
            <a:endParaRPr sz="2180" dirty="0">
              <a:latin typeface="Tahoma"/>
              <a:cs typeface="Tahoma"/>
            </a:endParaRPr>
          </a:p>
        </p:txBody>
      </p:sp>
      <p:pic>
        <p:nvPicPr>
          <p:cNvPr id="16" name="object 16"/>
          <p:cNvPicPr/>
          <p:nvPr/>
        </p:nvPicPr>
        <p:blipFill>
          <a:blip r:embed="rId2" cstate="print"/>
          <a:stretch>
            <a:fillRect/>
          </a:stretch>
        </p:blipFill>
        <p:spPr>
          <a:xfrm>
            <a:off x="8286407" y="4754723"/>
            <a:ext cx="1797673" cy="1569206"/>
          </a:xfrm>
          <a:prstGeom prst="rect">
            <a:avLst/>
          </a:prstGeom>
        </p:spPr>
      </p:pic>
      <p:sp>
        <p:nvSpPr>
          <p:cNvPr id="17" name="object 17"/>
          <p:cNvSpPr txBox="1"/>
          <p:nvPr/>
        </p:nvSpPr>
        <p:spPr>
          <a:xfrm>
            <a:off x="9451418" y="6206307"/>
            <a:ext cx="644274" cy="85057"/>
          </a:xfrm>
          <a:prstGeom prst="rect">
            <a:avLst/>
          </a:prstGeom>
        </p:spPr>
        <p:txBody>
          <a:bodyPr vert="horz" wrap="square" lIns="0" tIns="23909" rIns="0" bIns="0" rtlCol="0">
            <a:spAutoFit/>
          </a:bodyPr>
          <a:lstStyle/>
          <a:p>
            <a:pPr marL="25168">
              <a:spcBef>
                <a:spcPts val="188"/>
              </a:spcBef>
            </a:pPr>
            <a:r>
              <a:rPr sz="396" dirty="0">
                <a:solidFill>
                  <a:srgbClr val="FF0000"/>
                </a:solidFill>
                <a:latin typeface="Calibri"/>
                <a:cs typeface="Calibri"/>
              </a:rPr>
              <a:t>credit:</a:t>
            </a:r>
            <a:r>
              <a:rPr sz="396" spc="50" dirty="0">
                <a:solidFill>
                  <a:srgbClr val="FF0000"/>
                </a:solidFill>
                <a:latin typeface="Calibri"/>
                <a:cs typeface="Calibri"/>
              </a:rPr>
              <a:t> </a:t>
            </a:r>
            <a:r>
              <a:rPr sz="396" spc="10" dirty="0">
                <a:solidFill>
                  <a:srgbClr val="FF0000"/>
                </a:solidFill>
                <a:latin typeface="Calibri"/>
                <a:cs typeface="Calibri"/>
              </a:rPr>
              <a:t>https://zazzle.com/</a:t>
            </a:r>
            <a:endParaRPr sz="396">
              <a:latin typeface="Calibri"/>
              <a:cs typeface="Calibri"/>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5910" y="731682"/>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0" dirty="0"/>
              <a:t>Why</a:t>
            </a:r>
            <a:r>
              <a:rPr spc="50" dirty="0"/>
              <a:t> </a:t>
            </a:r>
            <a:r>
              <a:rPr spc="-59" dirty="0"/>
              <a:t>Study</a:t>
            </a:r>
            <a:r>
              <a:rPr spc="40" dirty="0"/>
              <a:t> </a:t>
            </a:r>
            <a:r>
              <a:rPr spc="-69" dirty="0"/>
              <a:t>Discrete</a:t>
            </a:r>
            <a:r>
              <a:rPr spc="50" dirty="0"/>
              <a:t> </a:t>
            </a:r>
            <a:r>
              <a:rPr spc="20" dirty="0"/>
              <a:t>Math?</a:t>
            </a:r>
            <a:r>
              <a:rPr spc="357" dirty="0"/>
              <a:t> </a:t>
            </a:r>
            <a:r>
              <a:rPr spc="-69" dirty="0"/>
              <a:t>Topics	</a:t>
            </a:r>
          </a:p>
        </p:txBody>
      </p:sp>
      <p:sp>
        <p:nvSpPr>
          <p:cNvPr id="16" name="object 16"/>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8" name="object 8"/>
          <p:cNvSpPr/>
          <p:nvPr/>
        </p:nvSpPr>
        <p:spPr>
          <a:xfrm>
            <a:off x="2103359" y="4167524"/>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9" name="object 9"/>
          <p:cNvSpPr/>
          <p:nvPr/>
        </p:nvSpPr>
        <p:spPr>
          <a:xfrm>
            <a:off x="2103359" y="4999946"/>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0" name="object 10"/>
          <p:cNvSpPr/>
          <p:nvPr/>
        </p:nvSpPr>
        <p:spPr>
          <a:xfrm>
            <a:off x="2103359" y="5491356"/>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1" name="object 11"/>
          <p:cNvSpPr txBox="1"/>
          <p:nvPr/>
        </p:nvSpPr>
        <p:spPr>
          <a:xfrm>
            <a:off x="1788396" y="3184875"/>
            <a:ext cx="8077340" cy="2447242"/>
          </a:xfrm>
          <a:prstGeom prst="rect">
            <a:avLst/>
          </a:prstGeom>
        </p:spPr>
        <p:txBody>
          <a:bodyPr vert="horz" wrap="square" lIns="0" tIns="23909" rIns="0" bIns="0" rtlCol="0">
            <a:spAutoFit/>
          </a:bodyPr>
          <a:lstStyle/>
          <a:p>
            <a:pPr marL="25168">
              <a:spcBef>
                <a:spcPts val="188"/>
              </a:spcBef>
            </a:pPr>
            <a:r>
              <a:rPr sz="2378" spc="-119" dirty="0">
                <a:solidFill>
                  <a:srgbClr val="FF0000"/>
                </a:solidFill>
                <a:latin typeface="Tahoma"/>
                <a:cs typeface="Tahoma"/>
              </a:rPr>
              <a:t>Graph</a:t>
            </a:r>
            <a:r>
              <a:rPr sz="2378" spc="-59" dirty="0">
                <a:solidFill>
                  <a:srgbClr val="FF0000"/>
                </a:solidFill>
                <a:latin typeface="Tahoma"/>
                <a:cs typeface="Tahoma"/>
              </a:rPr>
              <a:t> </a:t>
            </a:r>
            <a:r>
              <a:rPr sz="2378" spc="-109" dirty="0">
                <a:solidFill>
                  <a:srgbClr val="FF0000"/>
                </a:solidFill>
                <a:latin typeface="Tahoma"/>
                <a:cs typeface="Tahoma"/>
              </a:rPr>
              <a:t>Theory:</a:t>
            </a:r>
            <a:endParaRPr sz="2378">
              <a:latin typeface="Tahoma"/>
              <a:cs typeface="Tahoma"/>
            </a:endParaRPr>
          </a:p>
          <a:p>
            <a:pPr>
              <a:spcBef>
                <a:spcPts val="59"/>
              </a:spcBef>
            </a:pPr>
            <a:endParaRPr sz="2774">
              <a:latin typeface="Tahoma"/>
              <a:cs typeface="Tahoma"/>
            </a:endParaRPr>
          </a:p>
          <a:p>
            <a:pPr marL="573821" marR="10067">
              <a:lnSpc>
                <a:spcPct val="102600"/>
              </a:lnSpc>
            </a:pPr>
            <a:r>
              <a:rPr sz="2180" spc="-50" dirty="0">
                <a:latin typeface="Tahoma"/>
                <a:cs typeface="Tahoma"/>
              </a:rPr>
              <a:t>Provide</a:t>
            </a:r>
            <a:r>
              <a:rPr sz="2180" spc="30" dirty="0">
                <a:latin typeface="Tahoma"/>
                <a:cs typeface="Tahoma"/>
              </a:rPr>
              <a:t> </a:t>
            </a:r>
            <a:r>
              <a:rPr sz="2180" spc="-89" dirty="0">
                <a:latin typeface="Tahoma"/>
                <a:cs typeface="Tahoma"/>
              </a:rPr>
              <a:t>techniques</a:t>
            </a:r>
            <a:r>
              <a:rPr sz="2180" spc="30" dirty="0">
                <a:latin typeface="Tahoma"/>
                <a:cs typeface="Tahoma"/>
              </a:rPr>
              <a:t> </a:t>
            </a:r>
            <a:r>
              <a:rPr sz="2180" spc="-89" dirty="0">
                <a:latin typeface="Tahoma"/>
                <a:cs typeface="Tahoma"/>
              </a:rPr>
              <a:t>for</a:t>
            </a:r>
            <a:r>
              <a:rPr sz="2180" spc="40" dirty="0">
                <a:latin typeface="Tahoma"/>
                <a:cs typeface="Tahoma"/>
              </a:rPr>
              <a:t> </a:t>
            </a:r>
            <a:r>
              <a:rPr sz="2180" spc="-109" dirty="0">
                <a:latin typeface="Tahoma"/>
                <a:cs typeface="Tahoma"/>
              </a:rPr>
              <a:t>many</a:t>
            </a:r>
            <a:r>
              <a:rPr sz="2180" spc="30" dirty="0">
                <a:latin typeface="Tahoma"/>
                <a:cs typeface="Tahoma"/>
              </a:rPr>
              <a:t> </a:t>
            </a:r>
            <a:r>
              <a:rPr sz="2180" spc="-99" dirty="0">
                <a:latin typeface="Tahoma"/>
                <a:cs typeface="Tahoma"/>
              </a:rPr>
              <a:t>clever</a:t>
            </a:r>
            <a:r>
              <a:rPr sz="2180" spc="30" dirty="0">
                <a:latin typeface="Tahoma"/>
                <a:cs typeface="Tahoma"/>
              </a:rPr>
              <a:t> </a:t>
            </a:r>
            <a:r>
              <a:rPr sz="2180" spc="-69" dirty="0">
                <a:latin typeface="Tahoma"/>
                <a:cs typeface="Tahoma"/>
              </a:rPr>
              <a:t>data-structures</a:t>
            </a:r>
            <a:r>
              <a:rPr sz="2180" spc="30" dirty="0">
                <a:latin typeface="Tahoma"/>
                <a:cs typeface="Tahoma"/>
              </a:rPr>
              <a:t> </a:t>
            </a:r>
            <a:r>
              <a:rPr sz="2180" spc="-89" dirty="0">
                <a:latin typeface="Tahoma"/>
                <a:cs typeface="Tahoma"/>
              </a:rPr>
              <a:t>for</a:t>
            </a:r>
            <a:r>
              <a:rPr sz="2180" spc="40" dirty="0">
                <a:latin typeface="Tahoma"/>
                <a:cs typeface="Tahoma"/>
              </a:rPr>
              <a:t> </a:t>
            </a:r>
            <a:r>
              <a:rPr sz="2180" spc="-79" dirty="0">
                <a:latin typeface="Tahoma"/>
                <a:cs typeface="Tahoma"/>
              </a:rPr>
              <a:t>organizing </a:t>
            </a:r>
            <a:r>
              <a:rPr sz="2180" spc="-654" dirty="0">
                <a:latin typeface="Tahoma"/>
                <a:cs typeface="Tahoma"/>
              </a:rPr>
              <a:t> </a:t>
            </a:r>
            <a:r>
              <a:rPr sz="2180" spc="-69" dirty="0">
                <a:latin typeface="Tahoma"/>
                <a:cs typeface="Tahoma"/>
              </a:rPr>
              <a:t>information</a:t>
            </a:r>
            <a:endParaRPr sz="2180">
              <a:latin typeface="Tahoma"/>
              <a:cs typeface="Tahoma"/>
            </a:endParaRPr>
          </a:p>
          <a:p>
            <a:pPr marL="573821" marR="157297">
              <a:lnSpc>
                <a:spcPct val="147900"/>
              </a:lnSpc>
            </a:pPr>
            <a:r>
              <a:rPr sz="2180" spc="-30" dirty="0">
                <a:latin typeface="Tahoma"/>
                <a:cs typeface="Tahoma"/>
              </a:rPr>
              <a:t>Many</a:t>
            </a:r>
            <a:r>
              <a:rPr sz="2180" spc="40" dirty="0">
                <a:latin typeface="Tahoma"/>
                <a:cs typeface="Tahoma"/>
              </a:rPr>
              <a:t> </a:t>
            </a:r>
            <a:r>
              <a:rPr sz="2180" spc="-109" dirty="0">
                <a:latin typeface="Tahoma"/>
                <a:cs typeface="Tahoma"/>
              </a:rPr>
              <a:t>problems</a:t>
            </a:r>
            <a:r>
              <a:rPr sz="2180" spc="50" dirty="0">
                <a:latin typeface="Tahoma"/>
                <a:cs typeface="Tahoma"/>
              </a:rPr>
              <a:t> </a:t>
            </a:r>
            <a:r>
              <a:rPr sz="2180" spc="-139" dirty="0">
                <a:latin typeface="Tahoma"/>
                <a:cs typeface="Tahoma"/>
              </a:rPr>
              <a:t>are</a:t>
            </a:r>
            <a:r>
              <a:rPr sz="2180" spc="59" dirty="0">
                <a:latin typeface="Tahoma"/>
                <a:cs typeface="Tahoma"/>
              </a:rPr>
              <a:t> </a:t>
            </a:r>
            <a:r>
              <a:rPr sz="2180" spc="-109" dirty="0">
                <a:latin typeface="Tahoma"/>
                <a:cs typeface="Tahoma"/>
              </a:rPr>
              <a:t>modeled</a:t>
            </a:r>
            <a:r>
              <a:rPr sz="2180" spc="50" dirty="0">
                <a:latin typeface="Tahoma"/>
                <a:cs typeface="Tahoma"/>
              </a:rPr>
              <a:t> </a:t>
            </a:r>
            <a:r>
              <a:rPr sz="2180" spc="-109" dirty="0">
                <a:latin typeface="Tahoma"/>
                <a:cs typeface="Tahoma"/>
              </a:rPr>
              <a:t>and</a:t>
            </a:r>
            <a:r>
              <a:rPr sz="2180" spc="59" dirty="0">
                <a:latin typeface="Tahoma"/>
                <a:cs typeface="Tahoma"/>
              </a:rPr>
              <a:t> </a:t>
            </a:r>
            <a:r>
              <a:rPr sz="2180" spc="-59" dirty="0">
                <a:latin typeface="Tahoma"/>
                <a:cs typeface="Tahoma"/>
              </a:rPr>
              <a:t>efficiently</a:t>
            </a:r>
            <a:r>
              <a:rPr sz="2180" spc="50" dirty="0">
                <a:latin typeface="Tahoma"/>
                <a:cs typeface="Tahoma"/>
              </a:rPr>
              <a:t> </a:t>
            </a:r>
            <a:r>
              <a:rPr sz="2180" spc="-109" dirty="0">
                <a:latin typeface="Tahoma"/>
                <a:cs typeface="Tahoma"/>
              </a:rPr>
              <a:t>solved</a:t>
            </a:r>
            <a:r>
              <a:rPr sz="2180" spc="59" dirty="0">
                <a:latin typeface="Tahoma"/>
                <a:cs typeface="Tahoma"/>
              </a:rPr>
              <a:t> </a:t>
            </a:r>
            <a:r>
              <a:rPr sz="2180" spc="-99" dirty="0">
                <a:latin typeface="Tahoma"/>
                <a:cs typeface="Tahoma"/>
              </a:rPr>
              <a:t>using</a:t>
            </a:r>
            <a:r>
              <a:rPr sz="2180" spc="50" dirty="0">
                <a:latin typeface="Tahoma"/>
                <a:cs typeface="Tahoma"/>
              </a:rPr>
              <a:t> </a:t>
            </a:r>
            <a:r>
              <a:rPr sz="2180" spc="-109" dirty="0">
                <a:latin typeface="Tahoma"/>
                <a:cs typeface="Tahoma"/>
              </a:rPr>
              <a:t>graphs </a:t>
            </a:r>
            <a:r>
              <a:rPr sz="2180" spc="-99" dirty="0">
                <a:latin typeface="Tahoma"/>
                <a:cs typeface="Tahoma"/>
              </a:rPr>
              <a:t> </a:t>
            </a:r>
            <a:r>
              <a:rPr sz="2180" spc="-59" dirty="0">
                <a:latin typeface="Tahoma"/>
                <a:cs typeface="Tahoma"/>
              </a:rPr>
              <a:t>particularly</a:t>
            </a:r>
            <a:r>
              <a:rPr sz="2180" spc="40" dirty="0">
                <a:latin typeface="Tahoma"/>
                <a:cs typeface="Tahoma"/>
              </a:rPr>
              <a:t> </a:t>
            </a:r>
            <a:r>
              <a:rPr sz="2180" spc="-109" dirty="0">
                <a:latin typeface="Tahoma"/>
                <a:cs typeface="Tahoma"/>
              </a:rPr>
              <a:t>problems</a:t>
            </a:r>
            <a:r>
              <a:rPr sz="2180" spc="50" dirty="0">
                <a:latin typeface="Tahoma"/>
                <a:cs typeface="Tahoma"/>
              </a:rPr>
              <a:t> </a:t>
            </a:r>
            <a:r>
              <a:rPr sz="2180" spc="-50" dirty="0">
                <a:latin typeface="Tahoma"/>
                <a:cs typeface="Tahoma"/>
              </a:rPr>
              <a:t>in</a:t>
            </a:r>
            <a:r>
              <a:rPr sz="2180" spc="50" dirty="0">
                <a:latin typeface="Tahoma"/>
                <a:cs typeface="Tahoma"/>
              </a:rPr>
              <a:t> </a:t>
            </a:r>
            <a:r>
              <a:rPr sz="2180" spc="-89" dirty="0">
                <a:latin typeface="Tahoma"/>
                <a:cs typeface="Tahoma"/>
              </a:rPr>
              <a:t>Networks,</a:t>
            </a:r>
            <a:r>
              <a:rPr sz="2180" spc="40" dirty="0">
                <a:latin typeface="Tahoma"/>
                <a:cs typeface="Tahoma"/>
              </a:rPr>
              <a:t> </a:t>
            </a:r>
            <a:r>
              <a:rPr sz="2180" spc="-59" dirty="0">
                <a:latin typeface="Tahoma"/>
                <a:cs typeface="Tahoma"/>
              </a:rPr>
              <a:t>Operating</a:t>
            </a:r>
            <a:r>
              <a:rPr sz="2180" spc="50" dirty="0">
                <a:latin typeface="Tahoma"/>
                <a:cs typeface="Tahoma"/>
              </a:rPr>
              <a:t> </a:t>
            </a:r>
            <a:r>
              <a:rPr sz="2180" spc="-109" dirty="0">
                <a:latin typeface="Tahoma"/>
                <a:cs typeface="Tahoma"/>
              </a:rPr>
              <a:t>systems,</a:t>
            </a:r>
            <a:r>
              <a:rPr sz="2180" spc="40" dirty="0">
                <a:latin typeface="Tahoma"/>
                <a:cs typeface="Tahoma"/>
              </a:rPr>
              <a:t> </a:t>
            </a:r>
            <a:r>
              <a:rPr sz="2180" spc="-79" dirty="0">
                <a:latin typeface="Tahoma"/>
                <a:cs typeface="Tahoma"/>
              </a:rPr>
              <a:t>Database</a:t>
            </a:r>
            <a:endParaRPr sz="2180">
              <a:latin typeface="Tahoma"/>
              <a:cs typeface="Tahoma"/>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9914" y="2935232"/>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27" dirty="0"/>
              <a:t> </a:t>
            </a:r>
            <a:r>
              <a:rPr spc="-40" dirty="0"/>
              <a:t>Logic	</a:t>
            </a:r>
          </a:p>
        </p:txBody>
      </p:sp>
      <p:sp>
        <p:nvSpPr>
          <p:cNvPr id="13" name="object 13"/>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3" name="object 3"/>
          <p:cNvSpPr txBox="1"/>
          <p:nvPr/>
        </p:nvSpPr>
        <p:spPr>
          <a:xfrm>
            <a:off x="1788395" y="941696"/>
            <a:ext cx="5534217" cy="358348"/>
          </a:xfrm>
          <a:prstGeom prst="rect">
            <a:avLst/>
          </a:prstGeom>
        </p:spPr>
        <p:txBody>
          <a:bodyPr vert="horz" wrap="square" lIns="0" tIns="22650" rIns="0" bIns="0" rtlCol="0">
            <a:spAutoFit/>
          </a:bodyPr>
          <a:lstStyle/>
          <a:p>
            <a:pPr marL="25168">
              <a:spcBef>
                <a:spcPts val="178"/>
              </a:spcBef>
            </a:pPr>
            <a:r>
              <a:rPr sz="2180" spc="-159" dirty="0">
                <a:latin typeface="Tahoma"/>
                <a:cs typeface="Tahoma"/>
              </a:rPr>
              <a:t>In</a:t>
            </a:r>
            <a:r>
              <a:rPr sz="2180" spc="30" dirty="0">
                <a:latin typeface="Tahoma"/>
                <a:cs typeface="Tahoma"/>
              </a:rPr>
              <a:t> </a:t>
            </a:r>
            <a:r>
              <a:rPr sz="2180" spc="-109" dirty="0">
                <a:latin typeface="Tahoma"/>
                <a:cs typeface="Tahoma"/>
              </a:rPr>
              <a:t>a</a:t>
            </a:r>
            <a:r>
              <a:rPr sz="2180" spc="40" dirty="0">
                <a:latin typeface="Tahoma"/>
                <a:cs typeface="Tahoma"/>
              </a:rPr>
              <a:t> </a:t>
            </a:r>
            <a:r>
              <a:rPr sz="2180" spc="-69" dirty="0">
                <a:latin typeface="Tahoma"/>
                <a:cs typeface="Tahoma"/>
              </a:rPr>
              <a:t>certain</a:t>
            </a:r>
            <a:r>
              <a:rPr sz="2180" spc="40" dirty="0">
                <a:latin typeface="Tahoma"/>
                <a:cs typeface="Tahoma"/>
              </a:rPr>
              <a:t> </a:t>
            </a:r>
            <a:r>
              <a:rPr sz="2180" spc="-69" dirty="0">
                <a:latin typeface="Tahoma"/>
                <a:cs typeface="Tahoma"/>
              </a:rPr>
              <a:t>island</a:t>
            </a:r>
            <a:r>
              <a:rPr sz="2180" spc="40" dirty="0">
                <a:latin typeface="Tahoma"/>
                <a:cs typeface="Tahoma"/>
              </a:rPr>
              <a:t> </a:t>
            </a:r>
            <a:r>
              <a:rPr sz="2180" spc="-99" dirty="0">
                <a:latin typeface="Tahoma"/>
                <a:cs typeface="Tahoma"/>
              </a:rPr>
              <a:t>there</a:t>
            </a:r>
            <a:r>
              <a:rPr sz="2180" spc="30" dirty="0">
                <a:latin typeface="Tahoma"/>
                <a:cs typeface="Tahoma"/>
              </a:rPr>
              <a:t> </a:t>
            </a:r>
            <a:r>
              <a:rPr sz="2180" spc="-139" dirty="0">
                <a:latin typeface="Tahoma"/>
                <a:cs typeface="Tahoma"/>
              </a:rPr>
              <a:t>are</a:t>
            </a:r>
            <a:r>
              <a:rPr sz="2180" spc="30" dirty="0">
                <a:latin typeface="Tahoma"/>
                <a:cs typeface="Tahoma"/>
              </a:rPr>
              <a:t> </a:t>
            </a:r>
            <a:r>
              <a:rPr sz="2180" spc="-119" dirty="0">
                <a:latin typeface="Tahoma"/>
                <a:cs typeface="Tahoma"/>
              </a:rPr>
              <a:t>two</a:t>
            </a:r>
            <a:r>
              <a:rPr sz="2180" spc="40" dirty="0">
                <a:latin typeface="Tahoma"/>
                <a:cs typeface="Tahoma"/>
              </a:rPr>
              <a:t> </a:t>
            </a:r>
            <a:r>
              <a:rPr sz="2180" spc="-99" dirty="0">
                <a:latin typeface="Tahoma"/>
                <a:cs typeface="Tahoma"/>
              </a:rPr>
              <a:t>types</a:t>
            </a:r>
            <a:r>
              <a:rPr sz="2180" spc="40" dirty="0">
                <a:latin typeface="Tahoma"/>
                <a:cs typeface="Tahoma"/>
              </a:rPr>
              <a:t> </a:t>
            </a:r>
            <a:r>
              <a:rPr sz="2180" spc="-69" dirty="0">
                <a:latin typeface="Tahoma"/>
                <a:cs typeface="Tahoma"/>
              </a:rPr>
              <a:t>of</a:t>
            </a:r>
            <a:r>
              <a:rPr sz="2180" spc="30" dirty="0">
                <a:latin typeface="Tahoma"/>
                <a:cs typeface="Tahoma"/>
              </a:rPr>
              <a:t> </a:t>
            </a:r>
            <a:r>
              <a:rPr sz="2180" spc="-99" dirty="0">
                <a:latin typeface="Tahoma"/>
                <a:cs typeface="Tahoma"/>
              </a:rPr>
              <a:t>people</a:t>
            </a:r>
            <a:endParaRPr sz="2180">
              <a:latin typeface="Tahoma"/>
              <a:cs typeface="Tahoma"/>
            </a:endParaRPr>
          </a:p>
        </p:txBody>
      </p:sp>
      <p:pic>
        <p:nvPicPr>
          <p:cNvPr id="4" name="object 4"/>
          <p:cNvPicPr/>
          <p:nvPr/>
        </p:nvPicPr>
        <p:blipFill>
          <a:blip r:embed="rId2" cstate="print"/>
          <a:stretch>
            <a:fillRect/>
          </a:stretch>
        </p:blipFill>
        <p:spPr>
          <a:xfrm>
            <a:off x="3240001" y="1545528"/>
            <a:ext cx="5653507" cy="1981144"/>
          </a:xfrm>
          <a:prstGeom prst="rect">
            <a:avLst/>
          </a:prstGeom>
        </p:spPr>
      </p:pic>
      <p:sp>
        <p:nvSpPr>
          <p:cNvPr id="5" name="object 5"/>
          <p:cNvSpPr txBox="1"/>
          <p:nvPr/>
        </p:nvSpPr>
        <p:spPr>
          <a:xfrm>
            <a:off x="5196481" y="3366242"/>
            <a:ext cx="1770495" cy="161424"/>
          </a:xfrm>
          <a:prstGeom prst="rect">
            <a:avLst/>
          </a:prstGeom>
        </p:spPr>
        <p:txBody>
          <a:bodyPr vert="horz" wrap="square" lIns="0" tIns="23909" rIns="0" bIns="0" rtlCol="0">
            <a:spAutoFit/>
          </a:bodyPr>
          <a:lstStyle/>
          <a:p>
            <a:pPr marL="25168">
              <a:spcBef>
                <a:spcPts val="188"/>
              </a:spcBef>
            </a:pPr>
            <a:r>
              <a:rPr sz="892" spc="10" dirty="0">
                <a:solidFill>
                  <a:srgbClr val="FF0000"/>
                </a:solidFill>
                <a:latin typeface="Calibri"/>
                <a:cs typeface="Calibri"/>
              </a:rPr>
              <a:t>source:</a:t>
            </a:r>
            <a:r>
              <a:rPr sz="892" spc="159" dirty="0">
                <a:solidFill>
                  <a:srgbClr val="FF0000"/>
                </a:solidFill>
                <a:latin typeface="Calibri"/>
                <a:cs typeface="Calibri"/>
              </a:rPr>
              <a:t> </a:t>
            </a:r>
            <a:r>
              <a:rPr sz="892" spc="30" dirty="0">
                <a:solidFill>
                  <a:srgbClr val="FF0000"/>
                </a:solidFill>
                <a:latin typeface="Calibri"/>
                <a:cs typeface="Calibri"/>
              </a:rPr>
              <a:t>Matthew</a:t>
            </a:r>
            <a:r>
              <a:rPr sz="892" spc="69" dirty="0">
                <a:solidFill>
                  <a:srgbClr val="FF0000"/>
                </a:solidFill>
                <a:latin typeface="Calibri"/>
                <a:cs typeface="Calibri"/>
              </a:rPr>
              <a:t> </a:t>
            </a:r>
            <a:r>
              <a:rPr sz="892" spc="40" dirty="0">
                <a:solidFill>
                  <a:srgbClr val="FF0000"/>
                </a:solidFill>
                <a:latin typeface="Calibri"/>
                <a:cs typeface="Calibri"/>
              </a:rPr>
              <a:t>Sgambati,</a:t>
            </a:r>
            <a:r>
              <a:rPr sz="892" spc="69" dirty="0">
                <a:solidFill>
                  <a:srgbClr val="FF0000"/>
                </a:solidFill>
                <a:latin typeface="Calibri"/>
                <a:cs typeface="Calibri"/>
              </a:rPr>
              <a:t> </a:t>
            </a:r>
            <a:r>
              <a:rPr sz="892" spc="109" dirty="0">
                <a:solidFill>
                  <a:srgbClr val="FF0000"/>
                </a:solidFill>
                <a:latin typeface="Calibri"/>
                <a:cs typeface="Calibri"/>
              </a:rPr>
              <a:t>UMD</a:t>
            </a:r>
            <a:endParaRPr sz="892">
              <a:latin typeface="Calibri"/>
              <a:cs typeface="Calibri"/>
            </a:endParaRPr>
          </a:p>
        </p:txBody>
      </p:sp>
      <p:sp>
        <p:nvSpPr>
          <p:cNvPr id="6" name="object 6"/>
          <p:cNvSpPr/>
          <p:nvPr/>
        </p:nvSpPr>
        <p:spPr>
          <a:xfrm>
            <a:off x="2103359" y="4421005"/>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7" name="object 7"/>
          <p:cNvSpPr txBox="1"/>
          <p:nvPr/>
        </p:nvSpPr>
        <p:spPr>
          <a:xfrm>
            <a:off x="2337487" y="4050543"/>
            <a:ext cx="3322040" cy="1004592"/>
          </a:xfrm>
          <a:prstGeom prst="rect">
            <a:avLst/>
          </a:prstGeom>
        </p:spPr>
        <p:txBody>
          <a:bodyPr vert="horz" wrap="square" lIns="0" tIns="25167" rIns="0" bIns="0" rtlCol="0">
            <a:spAutoFit/>
          </a:bodyPr>
          <a:lstStyle/>
          <a:p>
            <a:pPr marL="25168" marR="10067">
              <a:lnSpc>
                <a:spcPct val="157200"/>
              </a:lnSpc>
              <a:spcBef>
                <a:spcPts val="198"/>
              </a:spcBef>
            </a:pPr>
            <a:r>
              <a:rPr sz="2180" spc="-30" dirty="0">
                <a:latin typeface="Tahoma"/>
                <a:cs typeface="Tahoma"/>
              </a:rPr>
              <a:t>Knights</a:t>
            </a:r>
            <a:r>
              <a:rPr sz="2180" dirty="0">
                <a:latin typeface="Tahoma"/>
                <a:cs typeface="Tahoma"/>
              </a:rPr>
              <a:t> </a:t>
            </a:r>
            <a:r>
              <a:rPr sz="2180" spc="-119" dirty="0">
                <a:latin typeface="Tahoma"/>
                <a:cs typeface="Tahoma"/>
              </a:rPr>
              <a:t>always</a:t>
            </a:r>
            <a:r>
              <a:rPr sz="2180" dirty="0">
                <a:latin typeface="Tahoma"/>
                <a:cs typeface="Tahoma"/>
              </a:rPr>
              <a:t> </a:t>
            </a:r>
            <a:r>
              <a:rPr sz="2180" spc="-30" dirty="0">
                <a:latin typeface="Tahoma"/>
                <a:cs typeface="Tahoma"/>
              </a:rPr>
              <a:t>tell</a:t>
            </a:r>
            <a:r>
              <a:rPr sz="2180" dirty="0">
                <a:latin typeface="Tahoma"/>
                <a:cs typeface="Tahoma"/>
              </a:rPr>
              <a:t> </a:t>
            </a:r>
            <a:r>
              <a:rPr sz="2180" spc="-79" dirty="0">
                <a:latin typeface="Tahoma"/>
                <a:cs typeface="Tahoma"/>
              </a:rPr>
              <a:t>the</a:t>
            </a:r>
            <a:r>
              <a:rPr sz="2180" spc="10" dirty="0">
                <a:latin typeface="Tahoma"/>
                <a:cs typeface="Tahoma"/>
              </a:rPr>
              <a:t> </a:t>
            </a:r>
            <a:r>
              <a:rPr sz="2180" spc="-30" dirty="0">
                <a:latin typeface="Tahoma"/>
                <a:cs typeface="Tahoma"/>
              </a:rPr>
              <a:t>truth </a:t>
            </a:r>
            <a:r>
              <a:rPr sz="2180" spc="-654" dirty="0">
                <a:latin typeface="Tahoma"/>
                <a:cs typeface="Tahoma"/>
              </a:rPr>
              <a:t> </a:t>
            </a:r>
            <a:r>
              <a:rPr sz="2180" spc="-69" dirty="0">
                <a:latin typeface="Tahoma"/>
                <a:cs typeface="Tahoma"/>
              </a:rPr>
              <a:t>Knaves</a:t>
            </a:r>
            <a:r>
              <a:rPr sz="2180" spc="30" dirty="0">
                <a:latin typeface="Tahoma"/>
                <a:cs typeface="Tahoma"/>
              </a:rPr>
              <a:t> </a:t>
            </a:r>
            <a:r>
              <a:rPr sz="2180" spc="-119" dirty="0">
                <a:latin typeface="Tahoma"/>
                <a:cs typeface="Tahoma"/>
              </a:rPr>
              <a:t>always</a:t>
            </a:r>
            <a:r>
              <a:rPr sz="2180" spc="20" dirty="0">
                <a:latin typeface="Tahoma"/>
                <a:cs typeface="Tahoma"/>
              </a:rPr>
              <a:t> </a:t>
            </a:r>
            <a:r>
              <a:rPr sz="2180" spc="-59" dirty="0">
                <a:latin typeface="Tahoma"/>
                <a:cs typeface="Tahoma"/>
              </a:rPr>
              <a:t>lie</a:t>
            </a:r>
            <a:endParaRPr sz="2180">
              <a:latin typeface="Tahoma"/>
              <a:cs typeface="Tahoma"/>
            </a:endParaRPr>
          </a:p>
        </p:txBody>
      </p:sp>
      <p:sp>
        <p:nvSpPr>
          <p:cNvPr id="8" name="object 8"/>
          <p:cNvSpPr/>
          <p:nvPr/>
        </p:nvSpPr>
        <p:spPr>
          <a:xfrm>
            <a:off x="2103359" y="4943219"/>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5989" y="38690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27" dirty="0"/>
              <a:t> </a:t>
            </a:r>
            <a:r>
              <a:rPr spc="-40" dirty="0"/>
              <a:t>Logic	</a:t>
            </a:r>
          </a:p>
        </p:txBody>
      </p:sp>
      <p:sp>
        <p:nvSpPr>
          <p:cNvPr id="19" name="object 19"/>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grpSp>
        <p:nvGrpSpPr>
          <p:cNvPr id="3" name="object 3"/>
          <p:cNvGrpSpPr/>
          <p:nvPr/>
        </p:nvGrpSpPr>
        <p:grpSpPr>
          <a:xfrm>
            <a:off x="1712892" y="1201395"/>
            <a:ext cx="8863808" cy="1063305"/>
            <a:chOff x="93204" y="606259"/>
            <a:chExt cx="4472940" cy="536575"/>
          </a:xfrm>
        </p:grpSpPr>
        <p:sp>
          <p:nvSpPr>
            <p:cNvPr id="4" name="object 4"/>
            <p:cNvSpPr/>
            <p:nvPr/>
          </p:nvSpPr>
          <p:spPr>
            <a:xfrm>
              <a:off x="93204" y="606259"/>
              <a:ext cx="4422140" cy="82550"/>
            </a:xfrm>
            <a:custGeom>
              <a:avLst/>
              <a:gdLst/>
              <a:ahLst/>
              <a:cxnLst/>
              <a:rect l="l" t="t" r="r" b="b"/>
              <a:pathLst>
                <a:path w="4422140" h="82550">
                  <a:moveTo>
                    <a:pt x="4370857" y="0"/>
                  </a:moveTo>
                  <a:lnTo>
                    <a:pt x="50800" y="0"/>
                  </a:lnTo>
                  <a:lnTo>
                    <a:pt x="31075" y="4008"/>
                  </a:lnTo>
                  <a:lnTo>
                    <a:pt x="14922" y="14922"/>
                  </a:lnTo>
                  <a:lnTo>
                    <a:pt x="4008" y="31075"/>
                  </a:lnTo>
                  <a:lnTo>
                    <a:pt x="0" y="50800"/>
                  </a:lnTo>
                  <a:lnTo>
                    <a:pt x="0" y="82384"/>
                  </a:lnTo>
                  <a:lnTo>
                    <a:pt x="4421658" y="82384"/>
                  </a:lnTo>
                  <a:lnTo>
                    <a:pt x="4421658" y="50800"/>
                  </a:lnTo>
                  <a:lnTo>
                    <a:pt x="4417649" y="31075"/>
                  </a:lnTo>
                  <a:lnTo>
                    <a:pt x="4406735" y="14922"/>
                  </a:lnTo>
                  <a:lnTo>
                    <a:pt x="4390582" y="4008"/>
                  </a:lnTo>
                  <a:lnTo>
                    <a:pt x="4370857" y="0"/>
                  </a:lnTo>
                  <a:close/>
                </a:path>
              </a:pathLst>
            </a:custGeom>
            <a:solidFill>
              <a:srgbClr val="E9E9F2"/>
            </a:solidFill>
          </p:spPr>
          <p:txBody>
            <a:bodyPr wrap="square" lIns="0" tIns="0" rIns="0" bIns="0" rtlCol="0"/>
            <a:lstStyle/>
            <a:p>
              <a:endParaRPr sz="3567"/>
            </a:p>
          </p:txBody>
        </p:sp>
        <p:sp>
          <p:nvSpPr>
            <p:cNvPr id="5" name="object 5"/>
            <p:cNvSpPr/>
            <p:nvPr/>
          </p:nvSpPr>
          <p:spPr>
            <a:xfrm>
              <a:off x="144005" y="669511"/>
              <a:ext cx="4422140" cy="473075"/>
            </a:xfrm>
            <a:custGeom>
              <a:avLst/>
              <a:gdLst/>
              <a:ahLst/>
              <a:cxnLst/>
              <a:rect l="l" t="t" r="r" b="b"/>
              <a:pathLst>
                <a:path w="4422140" h="473075">
                  <a:moveTo>
                    <a:pt x="4421658" y="0"/>
                  </a:moveTo>
                  <a:lnTo>
                    <a:pt x="0" y="0"/>
                  </a:lnTo>
                  <a:lnTo>
                    <a:pt x="0" y="472842"/>
                  </a:lnTo>
                  <a:lnTo>
                    <a:pt x="4421658" y="472842"/>
                  </a:lnTo>
                  <a:lnTo>
                    <a:pt x="4421658" y="0"/>
                  </a:lnTo>
                  <a:close/>
                </a:path>
              </a:pathLst>
            </a:custGeom>
            <a:solidFill>
              <a:srgbClr val="000000"/>
            </a:solidFill>
          </p:spPr>
          <p:txBody>
            <a:bodyPr wrap="square" lIns="0" tIns="0" rIns="0" bIns="0" rtlCol="0"/>
            <a:lstStyle/>
            <a:p>
              <a:endParaRPr sz="3567"/>
            </a:p>
          </p:txBody>
        </p:sp>
        <p:sp>
          <p:nvSpPr>
            <p:cNvPr id="6" name="object 6"/>
            <p:cNvSpPr/>
            <p:nvPr/>
          </p:nvSpPr>
          <p:spPr>
            <a:xfrm>
              <a:off x="93204" y="650674"/>
              <a:ext cx="4422140" cy="441325"/>
            </a:xfrm>
            <a:custGeom>
              <a:avLst/>
              <a:gdLst/>
              <a:ahLst/>
              <a:cxnLst/>
              <a:rect l="l" t="t" r="r" b="b"/>
              <a:pathLst>
                <a:path w="4422140" h="441325">
                  <a:moveTo>
                    <a:pt x="4421658" y="0"/>
                  </a:moveTo>
                  <a:lnTo>
                    <a:pt x="0" y="0"/>
                  </a:lnTo>
                  <a:lnTo>
                    <a:pt x="0" y="390077"/>
                  </a:lnTo>
                  <a:lnTo>
                    <a:pt x="4008" y="409802"/>
                  </a:lnTo>
                  <a:lnTo>
                    <a:pt x="14922" y="425955"/>
                  </a:lnTo>
                  <a:lnTo>
                    <a:pt x="31075" y="436869"/>
                  </a:lnTo>
                  <a:lnTo>
                    <a:pt x="50800" y="440878"/>
                  </a:lnTo>
                  <a:lnTo>
                    <a:pt x="4370857" y="440878"/>
                  </a:lnTo>
                  <a:lnTo>
                    <a:pt x="4390582" y="436869"/>
                  </a:lnTo>
                  <a:lnTo>
                    <a:pt x="4406735" y="425955"/>
                  </a:lnTo>
                  <a:lnTo>
                    <a:pt x="4417649" y="409802"/>
                  </a:lnTo>
                  <a:lnTo>
                    <a:pt x="4421658" y="390077"/>
                  </a:lnTo>
                  <a:lnTo>
                    <a:pt x="4421658" y="0"/>
                  </a:lnTo>
                  <a:close/>
                </a:path>
              </a:pathLst>
            </a:custGeom>
            <a:solidFill>
              <a:srgbClr val="E9E9F2"/>
            </a:solidFill>
          </p:spPr>
          <p:txBody>
            <a:bodyPr wrap="square" lIns="0" tIns="0" rIns="0" bIns="0" rtlCol="0"/>
            <a:lstStyle/>
            <a:p>
              <a:endParaRPr sz="3567"/>
            </a:p>
          </p:txBody>
        </p:sp>
        <p:sp>
          <p:nvSpPr>
            <p:cNvPr id="7" name="object 7"/>
            <p:cNvSpPr/>
            <p:nvPr/>
          </p:nvSpPr>
          <p:spPr>
            <a:xfrm>
              <a:off x="290233" y="710628"/>
              <a:ext cx="61594" cy="309880"/>
            </a:xfrm>
            <a:custGeom>
              <a:avLst/>
              <a:gdLst/>
              <a:ahLst/>
              <a:cxnLst/>
              <a:rect l="l" t="t" r="r" b="b"/>
              <a:pathLst>
                <a:path w="61595" h="309880">
                  <a:moveTo>
                    <a:pt x="61569" y="247992"/>
                  </a:moveTo>
                  <a:lnTo>
                    <a:pt x="0" y="247992"/>
                  </a:lnTo>
                  <a:lnTo>
                    <a:pt x="0" y="309562"/>
                  </a:lnTo>
                  <a:lnTo>
                    <a:pt x="61569" y="309562"/>
                  </a:lnTo>
                  <a:lnTo>
                    <a:pt x="61569" y="247992"/>
                  </a:lnTo>
                  <a:close/>
                </a:path>
                <a:path w="61595" h="309880">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grpSp>
      <p:sp>
        <p:nvSpPr>
          <p:cNvPr id="8" name="object 8"/>
          <p:cNvSpPr txBox="1"/>
          <p:nvPr/>
        </p:nvSpPr>
        <p:spPr>
          <a:xfrm>
            <a:off x="2337487" y="1068535"/>
            <a:ext cx="3820346" cy="1011625"/>
          </a:xfrm>
          <a:prstGeom prst="rect">
            <a:avLst/>
          </a:prstGeom>
        </p:spPr>
        <p:txBody>
          <a:bodyPr vert="horz" wrap="square" lIns="0" tIns="184977" rIns="0" bIns="0" rtlCol="0">
            <a:spAutoFit/>
          </a:bodyPr>
          <a:lstStyle/>
          <a:p>
            <a:pPr marL="25168">
              <a:spcBef>
                <a:spcPts val="1457"/>
              </a:spcBef>
            </a:pPr>
            <a:r>
              <a:rPr sz="2180" i="1" spc="-20" dirty="0">
                <a:latin typeface="Arial"/>
                <a:cs typeface="Arial"/>
              </a:rPr>
              <a:t>A</a:t>
            </a:r>
            <a:r>
              <a:rPr sz="2180" i="1" spc="89" dirty="0">
                <a:latin typeface="Arial"/>
                <a:cs typeface="Arial"/>
              </a:rPr>
              <a:t> </a:t>
            </a:r>
            <a:r>
              <a:rPr sz="2180" spc="-149" dirty="0">
                <a:latin typeface="Tahoma"/>
                <a:cs typeface="Tahoma"/>
              </a:rPr>
              <a:t>says:</a:t>
            </a:r>
            <a:r>
              <a:rPr sz="2180" spc="248" dirty="0">
                <a:latin typeface="Tahoma"/>
                <a:cs typeface="Tahoma"/>
              </a:rPr>
              <a:t> </a:t>
            </a:r>
            <a:r>
              <a:rPr sz="2180" spc="40" dirty="0">
                <a:solidFill>
                  <a:srgbClr val="0000FF"/>
                </a:solidFill>
                <a:latin typeface="Tahoma"/>
                <a:cs typeface="Tahoma"/>
              </a:rPr>
              <a:t>“Both</a:t>
            </a:r>
            <a:r>
              <a:rPr sz="2180" spc="10" dirty="0">
                <a:solidFill>
                  <a:srgbClr val="0000FF"/>
                </a:solidFill>
                <a:latin typeface="Tahoma"/>
                <a:cs typeface="Tahoma"/>
              </a:rPr>
              <a:t> </a:t>
            </a:r>
            <a:r>
              <a:rPr sz="2180" spc="-69" dirty="0">
                <a:solidFill>
                  <a:srgbClr val="0000FF"/>
                </a:solidFill>
                <a:latin typeface="Tahoma"/>
                <a:cs typeface="Tahoma"/>
              </a:rPr>
              <a:t>of</a:t>
            </a:r>
            <a:r>
              <a:rPr sz="2180" spc="10" dirty="0">
                <a:solidFill>
                  <a:srgbClr val="0000FF"/>
                </a:solidFill>
                <a:latin typeface="Tahoma"/>
                <a:cs typeface="Tahoma"/>
              </a:rPr>
              <a:t> </a:t>
            </a:r>
            <a:r>
              <a:rPr sz="2180" spc="-129" dirty="0">
                <a:solidFill>
                  <a:srgbClr val="0000FF"/>
                </a:solidFill>
                <a:latin typeface="Tahoma"/>
                <a:cs typeface="Tahoma"/>
              </a:rPr>
              <a:t>us</a:t>
            </a:r>
            <a:r>
              <a:rPr sz="2180" spc="30" dirty="0">
                <a:solidFill>
                  <a:srgbClr val="0000FF"/>
                </a:solidFill>
                <a:latin typeface="Tahoma"/>
                <a:cs typeface="Tahoma"/>
              </a:rPr>
              <a:t> </a:t>
            </a:r>
            <a:r>
              <a:rPr sz="2180" spc="-139" dirty="0">
                <a:solidFill>
                  <a:srgbClr val="0000FF"/>
                </a:solidFill>
                <a:latin typeface="Tahoma"/>
                <a:cs typeface="Tahoma"/>
              </a:rPr>
              <a:t>are</a:t>
            </a:r>
            <a:r>
              <a:rPr sz="2180" spc="20" dirty="0">
                <a:solidFill>
                  <a:srgbClr val="0000FF"/>
                </a:solidFill>
                <a:latin typeface="Tahoma"/>
                <a:cs typeface="Tahoma"/>
              </a:rPr>
              <a:t> </a:t>
            </a:r>
            <a:r>
              <a:rPr sz="2180" spc="-30" dirty="0">
                <a:solidFill>
                  <a:srgbClr val="0000FF"/>
                </a:solidFill>
                <a:latin typeface="Tahoma"/>
                <a:cs typeface="Tahoma"/>
              </a:rPr>
              <a:t>knights”</a:t>
            </a:r>
            <a:endParaRPr sz="2180">
              <a:latin typeface="Tahoma"/>
              <a:cs typeface="Tahoma"/>
            </a:endParaRPr>
          </a:p>
          <a:p>
            <a:pPr marL="25168">
              <a:spcBef>
                <a:spcPts val="1248"/>
              </a:spcBef>
            </a:pPr>
            <a:r>
              <a:rPr sz="2180" i="1" spc="-20" dirty="0">
                <a:latin typeface="Arial"/>
                <a:cs typeface="Arial"/>
              </a:rPr>
              <a:t>B</a:t>
            </a:r>
            <a:r>
              <a:rPr sz="2180" i="1" spc="268" dirty="0">
                <a:latin typeface="Arial"/>
                <a:cs typeface="Arial"/>
              </a:rPr>
              <a:t> </a:t>
            </a:r>
            <a:r>
              <a:rPr sz="2180" spc="-149" dirty="0">
                <a:latin typeface="Tahoma"/>
                <a:cs typeface="Tahoma"/>
              </a:rPr>
              <a:t>says:</a:t>
            </a:r>
            <a:r>
              <a:rPr sz="2180" spc="258" dirty="0">
                <a:latin typeface="Tahoma"/>
                <a:cs typeface="Tahoma"/>
              </a:rPr>
              <a:t> </a:t>
            </a:r>
            <a:r>
              <a:rPr sz="2180" spc="89" dirty="0">
                <a:solidFill>
                  <a:srgbClr val="0000FF"/>
                </a:solidFill>
                <a:latin typeface="Tahoma"/>
                <a:cs typeface="Tahoma"/>
              </a:rPr>
              <a:t>“</a:t>
            </a:r>
            <a:r>
              <a:rPr sz="2180" i="1" spc="89" dirty="0">
                <a:solidFill>
                  <a:srgbClr val="0000FF"/>
                </a:solidFill>
                <a:latin typeface="Arial"/>
                <a:cs typeface="Arial"/>
              </a:rPr>
              <a:t>A </a:t>
            </a:r>
            <a:r>
              <a:rPr sz="2180" spc="-69" dirty="0">
                <a:solidFill>
                  <a:srgbClr val="0000FF"/>
                </a:solidFill>
                <a:latin typeface="Tahoma"/>
                <a:cs typeface="Tahoma"/>
              </a:rPr>
              <a:t>is</a:t>
            </a:r>
            <a:r>
              <a:rPr sz="2180" spc="20" dirty="0">
                <a:solidFill>
                  <a:srgbClr val="0000FF"/>
                </a:solidFill>
                <a:latin typeface="Tahoma"/>
                <a:cs typeface="Tahoma"/>
              </a:rPr>
              <a:t> </a:t>
            </a:r>
            <a:r>
              <a:rPr sz="2180" spc="-109" dirty="0">
                <a:solidFill>
                  <a:srgbClr val="0000FF"/>
                </a:solidFill>
                <a:latin typeface="Tahoma"/>
                <a:cs typeface="Tahoma"/>
              </a:rPr>
              <a:t>a</a:t>
            </a:r>
            <a:r>
              <a:rPr sz="2180" spc="30" dirty="0">
                <a:solidFill>
                  <a:srgbClr val="0000FF"/>
                </a:solidFill>
                <a:latin typeface="Tahoma"/>
                <a:cs typeface="Tahoma"/>
              </a:rPr>
              <a:t> </a:t>
            </a:r>
            <a:r>
              <a:rPr sz="2180" spc="-59" dirty="0">
                <a:solidFill>
                  <a:srgbClr val="0000FF"/>
                </a:solidFill>
                <a:latin typeface="Tahoma"/>
                <a:cs typeface="Tahoma"/>
              </a:rPr>
              <a:t>knave”</a:t>
            </a:r>
            <a:endParaRPr sz="2180">
              <a:latin typeface="Tahoma"/>
              <a:cs typeface="Tahoma"/>
            </a:endParaRPr>
          </a:p>
        </p:txBody>
      </p:sp>
      <p:sp>
        <p:nvSpPr>
          <p:cNvPr id="9" name="object 9"/>
          <p:cNvSpPr/>
          <p:nvPr/>
        </p:nvSpPr>
        <p:spPr>
          <a:xfrm>
            <a:off x="2103359" y="292007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0" name="object 10"/>
          <p:cNvSpPr txBox="1"/>
          <p:nvPr/>
        </p:nvSpPr>
        <p:spPr>
          <a:xfrm>
            <a:off x="2337487" y="2670334"/>
            <a:ext cx="5040945" cy="1011625"/>
          </a:xfrm>
          <a:prstGeom prst="rect">
            <a:avLst/>
          </a:prstGeom>
        </p:spPr>
        <p:txBody>
          <a:bodyPr vert="horz" wrap="square" lIns="0" tIns="184977" rIns="0" bIns="0" rtlCol="0">
            <a:spAutoFit/>
          </a:bodyPr>
          <a:lstStyle/>
          <a:p>
            <a:pPr marL="25168">
              <a:spcBef>
                <a:spcPts val="1457"/>
              </a:spcBef>
            </a:pPr>
            <a:r>
              <a:rPr sz="2180" spc="-99" dirty="0">
                <a:latin typeface="Tahoma"/>
                <a:cs typeface="Tahoma"/>
              </a:rPr>
              <a:t>Suppose</a:t>
            </a:r>
            <a:r>
              <a:rPr sz="2180" spc="40" dirty="0">
                <a:latin typeface="Tahoma"/>
                <a:cs typeface="Tahoma"/>
              </a:rPr>
              <a:t> </a:t>
            </a:r>
            <a:r>
              <a:rPr sz="2180" i="1" spc="-20" dirty="0">
                <a:solidFill>
                  <a:srgbClr val="FF0000"/>
                </a:solidFill>
                <a:latin typeface="Arial"/>
                <a:cs typeface="Arial"/>
              </a:rPr>
              <a:t>A</a:t>
            </a:r>
            <a:r>
              <a:rPr sz="2180" i="1" spc="109" dirty="0">
                <a:solidFill>
                  <a:srgbClr val="FF0000"/>
                </a:solidFill>
                <a:latin typeface="Arial"/>
                <a:cs typeface="Arial"/>
              </a:rPr>
              <a:t> </a:t>
            </a:r>
            <a:r>
              <a:rPr sz="2180" spc="-69" dirty="0">
                <a:solidFill>
                  <a:srgbClr val="FF0000"/>
                </a:solidFill>
                <a:latin typeface="Tahoma"/>
                <a:cs typeface="Tahoma"/>
              </a:rPr>
              <a:t>is</a:t>
            </a:r>
            <a:r>
              <a:rPr sz="2180" spc="40" dirty="0">
                <a:solidFill>
                  <a:srgbClr val="FF0000"/>
                </a:solidFill>
                <a:latin typeface="Tahoma"/>
                <a:cs typeface="Tahoma"/>
              </a:rPr>
              <a:t> </a:t>
            </a:r>
            <a:r>
              <a:rPr sz="2180" spc="-109" dirty="0">
                <a:solidFill>
                  <a:srgbClr val="FF0000"/>
                </a:solidFill>
                <a:latin typeface="Tahoma"/>
                <a:cs typeface="Tahoma"/>
              </a:rPr>
              <a:t>a</a:t>
            </a:r>
            <a:r>
              <a:rPr sz="2180" spc="40" dirty="0">
                <a:solidFill>
                  <a:srgbClr val="FF0000"/>
                </a:solidFill>
                <a:latin typeface="Tahoma"/>
                <a:cs typeface="Tahoma"/>
              </a:rPr>
              <a:t> </a:t>
            </a:r>
            <a:r>
              <a:rPr sz="2180" spc="-59" dirty="0">
                <a:solidFill>
                  <a:srgbClr val="FF0000"/>
                </a:solidFill>
                <a:latin typeface="Tahoma"/>
                <a:cs typeface="Tahoma"/>
              </a:rPr>
              <a:t>knight</a:t>
            </a:r>
            <a:r>
              <a:rPr sz="2180" spc="-59" dirty="0">
                <a:latin typeface="Tahoma"/>
                <a:cs typeface="Tahoma"/>
              </a:rPr>
              <a:t>.</a:t>
            </a:r>
            <a:r>
              <a:rPr sz="2180" spc="277" dirty="0">
                <a:latin typeface="Tahoma"/>
                <a:cs typeface="Tahoma"/>
              </a:rPr>
              <a:t> </a:t>
            </a:r>
            <a:r>
              <a:rPr sz="2180" spc="-30" dirty="0">
                <a:latin typeface="Tahoma"/>
                <a:cs typeface="Tahoma"/>
              </a:rPr>
              <a:t>What</a:t>
            </a:r>
            <a:r>
              <a:rPr sz="2180" spc="30" dirty="0">
                <a:latin typeface="Tahoma"/>
                <a:cs typeface="Tahoma"/>
              </a:rPr>
              <a:t> </a:t>
            </a:r>
            <a:r>
              <a:rPr sz="2180" i="1" spc="-20" dirty="0">
                <a:latin typeface="Arial"/>
                <a:cs typeface="Arial"/>
              </a:rPr>
              <a:t>A</a:t>
            </a:r>
            <a:r>
              <a:rPr sz="2180" i="1" spc="109" dirty="0">
                <a:latin typeface="Arial"/>
                <a:cs typeface="Arial"/>
              </a:rPr>
              <a:t> </a:t>
            </a:r>
            <a:r>
              <a:rPr sz="2180" spc="-139" dirty="0">
                <a:latin typeface="Tahoma"/>
                <a:cs typeface="Tahoma"/>
              </a:rPr>
              <a:t>says</a:t>
            </a:r>
            <a:r>
              <a:rPr sz="2180" spc="40" dirty="0">
                <a:latin typeface="Tahoma"/>
                <a:cs typeface="Tahoma"/>
              </a:rPr>
              <a:t> </a:t>
            </a:r>
            <a:r>
              <a:rPr sz="2180" spc="-69" dirty="0">
                <a:latin typeface="Tahoma"/>
                <a:cs typeface="Tahoma"/>
              </a:rPr>
              <a:t>is</a:t>
            </a:r>
            <a:r>
              <a:rPr sz="2180" spc="40" dirty="0">
                <a:latin typeface="Tahoma"/>
                <a:cs typeface="Tahoma"/>
              </a:rPr>
              <a:t> </a:t>
            </a:r>
            <a:r>
              <a:rPr sz="2180" spc="-79" dirty="0">
                <a:latin typeface="Tahoma"/>
                <a:cs typeface="Tahoma"/>
              </a:rPr>
              <a:t>true</a:t>
            </a:r>
            <a:endParaRPr sz="2180" dirty="0">
              <a:latin typeface="Tahoma"/>
              <a:cs typeface="Tahoma"/>
            </a:endParaRPr>
          </a:p>
          <a:p>
            <a:pPr marL="25168">
              <a:spcBef>
                <a:spcPts val="1248"/>
              </a:spcBef>
            </a:pPr>
            <a:r>
              <a:rPr sz="2180" i="1" spc="-20" dirty="0">
                <a:latin typeface="Arial"/>
                <a:cs typeface="Arial"/>
              </a:rPr>
              <a:t>B</a:t>
            </a:r>
            <a:r>
              <a:rPr sz="2180" i="1" spc="277" dirty="0">
                <a:latin typeface="Arial"/>
                <a:cs typeface="Arial"/>
              </a:rPr>
              <a:t> </a:t>
            </a:r>
            <a:r>
              <a:rPr sz="2180" spc="-69" dirty="0">
                <a:latin typeface="Tahoma"/>
                <a:cs typeface="Tahoma"/>
              </a:rPr>
              <a:t>is</a:t>
            </a:r>
            <a:r>
              <a:rPr sz="2180" spc="40" dirty="0">
                <a:latin typeface="Tahoma"/>
                <a:cs typeface="Tahoma"/>
              </a:rPr>
              <a:t> </a:t>
            </a:r>
            <a:r>
              <a:rPr sz="2180" spc="-109" dirty="0">
                <a:latin typeface="Tahoma"/>
                <a:cs typeface="Tahoma"/>
              </a:rPr>
              <a:t>a</a:t>
            </a:r>
            <a:r>
              <a:rPr sz="2180" spc="40" dirty="0">
                <a:latin typeface="Tahoma"/>
                <a:cs typeface="Tahoma"/>
              </a:rPr>
              <a:t> </a:t>
            </a:r>
            <a:r>
              <a:rPr sz="2180" spc="-59" dirty="0">
                <a:latin typeface="Tahoma"/>
                <a:cs typeface="Tahoma"/>
              </a:rPr>
              <a:t>knight.</a:t>
            </a:r>
            <a:r>
              <a:rPr sz="2180" spc="268" dirty="0">
                <a:latin typeface="Tahoma"/>
                <a:cs typeface="Tahoma"/>
              </a:rPr>
              <a:t> </a:t>
            </a:r>
            <a:r>
              <a:rPr sz="2180" spc="-30" dirty="0">
                <a:latin typeface="Tahoma"/>
                <a:cs typeface="Tahoma"/>
              </a:rPr>
              <a:t>What</a:t>
            </a:r>
            <a:r>
              <a:rPr sz="2180" spc="30" dirty="0">
                <a:latin typeface="Tahoma"/>
                <a:cs typeface="Tahoma"/>
              </a:rPr>
              <a:t> </a:t>
            </a:r>
            <a:r>
              <a:rPr sz="2180" i="1" spc="-20" dirty="0">
                <a:latin typeface="Arial"/>
                <a:cs typeface="Arial"/>
              </a:rPr>
              <a:t>B</a:t>
            </a:r>
            <a:r>
              <a:rPr sz="2180" i="1" spc="287" dirty="0">
                <a:latin typeface="Arial"/>
                <a:cs typeface="Arial"/>
              </a:rPr>
              <a:t> </a:t>
            </a:r>
            <a:r>
              <a:rPr sz="2180" spc="-139" dirty="0">
                <a:latin typeface="Tahoma"/>
                <a:cs typeface="Tahoma"/>
              </a:rPr>
              <a:t>says</a:t>
            </a:r>
            <a:r>
              <a:rPr sz="2180" spc="40" dirty="0">
                <a:latin typeface="Tahoma"/>
                <a:cs typeface="Tahoma"/>
              </a:rPr>
              <a:t> </a:t>
            </a:r>
            <a:r>
              <a:rPr sz="2180" spc="-69" dirty="0">
                <a:latin typeface="Tahoma"/>
                <a:cs typeface="Tahoma"/>
              </a:rPr>
              <a:t>is</a:t>
            </a:r>
            <a:r>
              <a:rPr sz="2180" spc="30" dirty="0">
                <a:latin typeface="Tahoma"/>
                <a:cs typeface="Tahoma"/>
              </a:rPr>
              <a:t> </a:t>
            </a:r>
            <a:r>
              <a:rPr sz="2180" spc="-79" dirty="0">
                <a:latin typeface="Tahoma"/>
                <a:cs typeface="Tahoma"/>
              </a:rPr>
              <a:t>true</a:t>
            </a:r>
            <a:endParaRPr sz="2180" dirty="0">
              <a:latin typeface="Tahoma"/>
              <a:cs typeface="Tahoma"/>
            </a:endParaRPr>
          </a:p>
        </p:txBody>
      </p:sp>
      <p:sp>
        <p:nvSpPr>
          <p:cNvPr id="11" name="object 11"/>
          <p:cNvSpPr/>
          <p:nvPr/>
        </p:nvSpPr>
        <p:spPr>
          <a:xfrm>
            <a:off x="2103359" y="3411508"/>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13" name="object 13"/>
          <p:cNvSpPr txBox="1"/>
          <p:nvPr/>
        </p:nvSpPr>
        <p:spPr>
          <a:xfrm>
            <a:off x="8549301" y="3725212"/>
            <a:ext cx="1851031" cy="358348"/>
          </a:xfrm>
          <a:prstGeom prst="rect">
            <a:avLst/>
          </a:prstGeom>
        </p:spPr>
        <p:txBody>
          <a:bodyPr vert="horz" wrap="square" lIns="0" tIns="22650" rIns="0" bIns="0" rtlCol="0">
            <a:spAutoFit/>
          </a:bodyPr>
          <a:lstStyle/>
          <a:p>
            <a:pPr marL="25168">
              <a:spcBef>
                <a:spcPts val="178"/>
              </a:spcBef>
            </a:pPr>
            <a:r>
              <a:rPr sz="2180" spc="-654" dirty="0">
                <a:latin typeface="Lucida Sans Unicode"/>
                <a:cs typeface="Lucida Sans Unicode"/>
              </a:rPr>
              <a:t>▷</a:t>
            </a:r>
            <a:r>
              <a:rPr sz="2180" spc="30" dirty="0">
                <a:latin typeface="Lucida Sans Unicode"/>
                <a:cs typeface="Lucida Sans Unicode"/>
              </a:rPr>
              <a:t> </a:t>
            </a:r>
            <a:r>
              <a:rPr sz="2180" spc="20" dirty="0">
                <a:solidFill>
                  <a:srgbClr val="FF0000"/>
                </a:solidFill>
                <a:latin typeface="Tahoma"/>
                <a:cs typeface="Tahoma"/>
              </a:rPr>
              <a:t>IMPOSSIBLE</a:t>
            </a:r>
            <a:endParaRPr sz="2180">
              <a:latin typeface="Tahoma"/>
              <a:cs typeface="Tahoma"/>
            </a:endParaRPr>
          </a:p>
        </p:txBody>
      </p:sp>
      <p:sp>
        <p:nvSpPr>
          <p:cNvPr id="23" name="TextBox 22">
            <a:extLst>
              <a:ext uri="{FF2B5EF4-FFF2-40B4-BE49-F238E27FC236}">
                <a16:creationId xmlns:a16="http://schemas.microsoft.com/office/drawing/2014/main" id="{562FEBE1-3172-576B-6F80-F01C87EE0657}"/>
              </a:ext>
            </a:extLst>
          </p:cNvPr>
          <p:cNvSpPr txBox="1"/>
          <p:nvPr/>
        </p:nvSpPr>
        <p:spPr>
          <a:xfrm>
            <a:off x="2263512" y="3744670"/>
            <a:ext cx="11452484" cy="984885"/>
          </a:xfrm>
          <a:prstGeom prst="rect">
            <a:avLst/>
          </a:prstGeom>
          <a:noFill/>
        </p:spPr>
        <p:txBody>
          <a:bodyPr wrap="square">
            <a:spAutoFit/>
          </a:bodyPr>
          <a:lstStyle/>
          <a:p>
            <a:pPr marL="25168">
              <a:spcBef>
                <a:spcPts val="1258"/>
              </a:spcBef>
            </a:pPr>
            <a:r>
              <a:rPr lang="en-US" sz="2400" i="1" spc="-20" dirty="0">
                <a:solidFill>
                  <a:srgbClr val="FF0000"/>
                </a:solidFill>
                <a:latin typeface="Arial"/>
                <a:cs typeface="Arial"/>
              </a:rPr>
              <a:t>A</a:t>
            </a:r>
            <a:r>
              <a:rPr lang="en-US" sz="2400" i="1" spc="69" dirty="0">
                <a:solidFill>
                  <a:srgbClr val="FF0000"/>
                </a:solidFill>
                <a:latin typeface="Arial"/>
                <a:cs typeface="Arial"/>
              </a:rPr>
              <a:t> </a:t>
            </a:r>
            <a:r>
              <a:rPr lang="en-US" sz="2400" spc="-69" dirty="0">
                <a:solidFill>
                  <a:srgbClr val="FF0000"/>
                </a:solidFill>
                <a:latin typeface="Tahoma"/>
                <a:cs typeface="Tahoma"/>
              </a:rPr>
              <a:t>is</a:t>
            </a:r>
            <a:r>
              <a:rPr lang="en-US" sz="2400" dirty="0">
                <a:solidFill>
                  <a:srgbClr val="FF0000"/>
                </a:solidFill>
                <a:latin typeface="Tahoma"/>
                <a:cs typeface="Tahoma"/>
              </a:rPr>
              <a:t> </a:t>
            </a:r>
            <a:r>
              <a:rPr lang="en-US" sz="2400" spc="-109" dirty="0">
                <a:solidFill>
                  <a:srgbClr val="FF0000"/>
                </a:solidFill>
                <a:latin typeface="Tahoma"/>
                <a:cs typeface="Tahoma"/>
              </a:rPr>
              <a:t>a</a:t>
            </a:r>
            <a:r>
              <a:rPr lang="en-US" sz="2400" dirty="0">
                <a:solidFill>
                  <a:srgbClr val="FF0000"/>
                </a:solidFill>
                <a:latin typeface="Tahoma"/>
                <a:cs typeface="Tahoma"/>
              </a:rPr>
              <a:t> </a:t>
            </a:r>
            <a:r>
              <a:rPr lang="en-US" sz="2400" spc="-109" dirty="0">
                <a:solidFill>
                  <a:srgbClr val="FF0000"/>
                </a:solidFill>
                <a:latin typeface="Tahoma"/>
                <a:cs typeface="Tahoma"/>
              </a:rPr>
              <a:t>knave</a:t>
            </a:r>
            <a:endParaRPr lang="en-US" sz="2400" dirty="0">
              <a:latin typeface="Tahoma"/>
              <a:cs typeface="Tahoma"/>
            </a:endParaRPr>
          </a:p>
          <a:p>
            <a:pPr marL="25168">
              <a:spcBef>
                <a:spcPts val="1248"/>
              </a:spcBef>
            </a:pPr>
            <a:r>
              <a:rPr lang="en-US" sz="2400" spc="-79" dirty="0">
                <a:latin typeface="Tahoma"/>
                <a:cs typeface="Tahoma"/>
              </a:rPr>
              <a:t>Result:</a:t>
            </a:r>
            <a:r>
              <a:rPr lang="en-US" sz="2400" spc="258" dirty="0">
                <a:latin typeface="Tahoma"/>
                <a:cs typeface="Tahoma"/>
              </a:rPr>
              <a:t> </a:t>
            </a:r>
            <a:r>
              <a:rPr lang="en-US" sz="2400" i="1" spc="-20" dirty="0">
                <a:solidFill>
                  <a:srgbClr val="0000FF"/>
                </a:solidFill>
                <a:latin typeface="Arial"/>
                <a:cs typeface="Arial"/>
              </a:rPr>
              <a:t>A</a:t>
            </a:r>
            <a:r>
              <a:rPr lang="en-US" sz="2400" i="1" spc="99" dirty="0">
                <a:solidFill>
                  <a:srgbClr val="0000FF"/>
                </a:solidFill>
                <a:latin typeface="Arial"/>
                <a:cs typeface="Arial"/>
              </a:rPr>
              <a:t> </a:t>
            </a:r>
            <a:r>
              <a:rPr lang="en-US" sz="2400" spc="-69" dirty="0">
                <a:solidFill>
                  <a:srgbClr val="0000FF"/>
                </a:solidFill>
                <a:latin typeface="Tahoma"/>
                <a:cs typeface="Tahoma"/>
              </a:rPr>
              <a:t>is</a:t>
            </a:r>
            <a:r>
              <a:rPr lang="en-US" sz="2400" spc="30" dirty="0">
                <a:solidFill>
                  <a:srgbClr val="0000FF"/>
                </a:solidFill>
                <a:latin typeface="Tahoma"/>
                <a:cs typeface="Tahoma"/>
              </a:rPr>
              <a:t> </a:t>
            </a:r>
            <a:r>
              <a:rPr lang="en-US" sz="2400" spc="-99" dirty="0">
                <a:solidFill>
                  <a:srgbClr val="0000FF"/>
                </a:solidFill>
                <a:latin typeface="Tahoma"/>
                <a:cs typeface="Tahoma"/>
              </a:rPr>
              <a:t>knave,</a:t>
            </a:r>
            <a:r>
              <a:rPr lang="en-US" sz="2400" spc="20" dirty="0">
                <a:solidFill>
                  <a:srgbClr val="0000FF"/>
                </a:solidFill>
                <a:latin typeface="Tahoma"/>
                <a:cs typeface="Tahoma"/>
              </a:rPr>
              <a:t> </a:t>
            </a:r>
            <a:r>
              <a:rPr lang="en-US" sz="2400" i="1" spc="-20" dirty="0">
                <a:solidFill>
                  <a:srgbClr val="0000FF"/>
                </a:solidFill>
                <a:latin typeface="Arial"/>
                <a:cs typeface="Arial"/>
              </a:rPr>
              <a:t>B</a:t>
            </a:r>
            <a:r>
              <a:rPr lang="en-US" sz="2400" i="1" spc="277" dirty="0">
                <a:solidFill>
                  <a:srgbClr val="0000FF"/>
                </a:solidFill>
                <a:latin typeface="Arial"/>
                <a:cs typeface="Arial"/>
              </a:rPr>
              <a:t> </a:t>
            </a:r>
            <a:r>
              <a:rPr lang="en-US" sz="2400" spc="-69" dirty="0">
                <a:solidFill>
                  <a:srgbClr val="0000FF"/>
                </a:solidFill>
                <a:latin typeface="Tahoma"/>
                <a:cs typeface="Tahoma"/>
              </a:rPr>
              <a:t>is</a:t>
            </a:r>
            <a:r>
              <a:rPr lang="en-US" sz="2400" spc="30" dirty="0">
                <a:solidFill>
                  <a:srgbClr val="0000FF"/>
                </a:solidFill>
                <a:latin typeface="Tahoma"/>
                <a:cs typeface="Tahoma"/>
              </a:rPr>
              <a:t> </a:t>
            </a:r>
            <a:r>
              <a:rPr lang="en-US" sz="2400" spc="-50" dirty="0">
                <a:solidFill>
                  <a:srgbClr val="0000FF"/>
                </a:solidFill>
                <a:latin typeface="Tahoma"/>
                <a:cs typeface="Tahoma"/>
              </a:rPr>
              <a:t>knight</a:t>
            </a:r>
            <a:endParaRPr lang="en-US" sz="2400" dirty="0">
              <a:latin typeface="Tahoma"/>
              <a:cs typeface="Tahoma"/>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12892" y="1201395"/>
            <a:ext cx="8863808" cy="1063305"/>
            <a:chOff x="93204" y="606259"/>
            <a:chExt cx="4472940" cy="536575"/>
          </a:xfrm>
        </p:grpSpPr>
        <p:sp>
          <p:nvSpPr>
            <p:cNvPr id="3" name="object 3"/>
            <p:cNvSpPr/>
            <p:nvPr/>
          </p:nvSpPr>
          <p:spPr>
            <a:xfrm>
              <a:off x="93204" y="606259"/>
              <a:ext cx="4422140" cy="82550"/>
            </a:xfrm>
            <a:custGeom>
              <a:avLst/>
              <a:gdLst/>
              <a:ahLst/>
              <a:cxnLst/>
              <a:rect l="l" t="t" r="r" b="b"/>
              <a:pathLst>
                <a:path w="4422140" h="82550">
                  <a:moveTo>
                    <a:pt x="4370857" y="0"/>
                  </a:moveTo>
                  <a:lnTo>
                    <a:pt x="50800" y="0"/>
                  </a:lnTo>
                  <a:lnTo>
                    <a:pt x="31075" y="4008"/>
                  </a:lnTo>
                  <a:lnTo>
                    <a:pt x="14922" y="14922"/>
                  </a:lnTo>
                  <a:lnTo>
                    <a:pt x="4008" y="31075"/>
                  </a:lnTo>
                  <a:lnTo>
                    <a:pt x="0" y="50800"/>
                  </a:lnTo>
                  <a:lnTo>
                    <a:pt x="0" y="82384"/>
                  </a:lnTo>
                  <a:lnTo>
                    <a:pt x="4421658" y="82384"/>
                  </a:lnTo>
                  <a:lnTo>
                    <a:pt x="4421658" y="50800"/>
                  </a:lnTo>
                  <a:lnTo>
                    <a:pt x="4417649" y="31075"/>
                  </a:lnTo>
                  <a:lnTo>
                    <a:pt x="4406735" y="14922"/>
                  </a:lnTo>
                  <a:lnTo>
                    <a:pt x="4390582" y="4008"/>
                  </a:lnTo>
                  <a:lnTo>
                    <a:pt x="4370857" y="0"/>
                  </a:lnTo>
                  <a:close/>
                </a:path>
              </a:pathLst>
            </a:custGeom>
            <a:solidFill>
              <a:srgbClr val="E9E9F2"/>
            </a:solidFill>
          </p:spPr>
          <p:txBody>
            <a:bodyPr wrap="square" lIns="0" tIns="0" rIns="0" bIns="0" rtlCol="0"/>
            <a:lstStyle/>
            <a:p>
              <a:endParaRPr sz="3567"/>
            </a:p>
          </p:txBody>
        </p:sp>
        <p:sp>
          <p:nvSpPr>
            <p:cNvPr id="4" name="object 4"/>
            <p:cNvSpPr/>
            <p:nvPr/>
          </p:nvSpPr>
          <p:spPr>
            <a:xfrm>
              <a:off x="144005" y="669511"/>
              <a:ext cx="4422140" cy="473075"/>
            </a:xfrm>
            <a:custGeom>
              <a:avLst/>
              <a:gdLst/>
              <a:ahLst/>
              <a:cxnLst/>
              <a:rect l="l" t="t" r="r" b="b"/>
              <a:pathLst>
                <a:path w="4422140" h="473075">
                  <a:moveTo>
                    <a:pt x="4421658" y="0"/>
                  </a:moveTo>
                  <a:lnTo>
                    <a:pt x="0" y="0"/>
                  </a:lnTo>
                  <a:lnTo>
                    <a:pt x="0" y="472842"/>
                  </a:lnTo>
                  <a:lnTo>
                    <a:pt x="4421658" y="472842"/>
                  </a:lnTo>
                  <a:lnTo>
                    <a:pt x="4421658" y="0"/>
                  </a:lnTo>
                  <a:close/>
                </a:path>
              </a:pathLst>
            </a:custGeom>
            <a:solidFill>
              <a:srgbClr val="000000"/>
            </a:solidFill>
          </p:spPr>
          <p:txBody>
            <a:bodyPr wrap="square" lIns="0" tIns="0" rIns="0" bIns="0" rtlCol="0"/>
            <a:lstStyle/>
            <a:p>
              <a:endParaRPr sz="3567"/>
            </a:p>
          </p:txBody>
        </p:sp>
        <p:sp>
          <p:nvSpPr>
            <p:cNvPr id="5" name="object 5"/>
            <p:cNvSpPr/>
            <p:nvPr/>
          </p:nvSpPr>
          <p:spPr>
            <a:xfrm>
              <a:off x="93204" y="650674"/>
              <a:ext cx="4422140" cy="441325"/>
            </a:xfrm>
            <a:custGeom>
              <a:avLst/>
              <a:gdLst/>
              <a:ahLst/>
              <a:cxnLst/>
              <a:rect l="l" t="t" r="r" b="b"/>
              <a:pathLst>
                <a:path w="4422140" h="441325">
                  <a:moveTo>
                    <a:pt x="4421658" y="0"/>
                  </a:moveTo>
                  <a:lnTo>
                    <a:pt x="0" y="0"/>
                  </a:lnTo>
                  <a:lnTo>
                    <a:pt x="0" y="390077"/>
                  </a:lnTo>
                  <a:lnTo>
                    <a:pt x="4008" y="409802"/>
                  </a:lnTo>
                  <a:lnTo>
                    <a:pt x="14922" y="425955"/>
                  </a:lnTo>
                  <a:lnTo>
                    <a:pt x="31075" y="436869"/>
                  </a:lnTo>
                  <a:lnTo>
                    <a:pt x="50800" y="440878"/>
                  </a:lnTo>
                  <a:lnTo>
                    <a:pt x="4370857" y="440878"/>
                  </a:lnTo>
                  <a:lnTo>
                    <a:pt x="4390582" y="436869"/>
                  </a:lnTo>
                  <a:lnTo>
                    <a:pt x="4406735" y="425955"/>
                  </a:lnTo>
                  <a:lnTo>
                    <a:pt x="4417649" y="409802"/>
                  </a:lnTo>
                  <a:lnTo>
                    <a:pt x="4421658" y="390077"/>
                  </a:lnTo>
                  <a:lnTo>
                    <a:pt x="4421658" y="0"/>
                  </a:lnTo>
                  <a:close/>
                </a:path>
              </a:pathLst>
            </a:custGeom>
            <a:solidFill>
              <a:srgbClr val="E9E9F2"/>
            </a:solidFill>
          </p:spPr>
          <p:txBody>
            <a:bodyPr wrap="square" lIns="0" tIns="0" rIns="0" bIns="0" rtlCol="0"/>
            <a:lstStyle/>
            <a:p>
              <a:endParaRPr sz="3567"/>
            </a:p>
          </p:txBody>
        </p:sp>
        <p:sp>
          <p:nvSpPr>
            <p:cNvPr id="6" name="object 6"/>
            <p:cNvSpPr/>
            <p:nvPr/>
          </p:nvSpPr>
          <p:spPr>
            <a:xfrm>
              <a:off x="290233" y="710628"/>
              <a:ext cx="61594" cy="309880"/>
            </a:xfrm>
            <a:custGeom>
              <a:avLst/>
              <a:gdLst/>
              <a:ahLst/>
              <a:cxnLst/>
              <a:rect l="l" t="t" r="r" b="b"/>
              <a:pathLst>
                <a:path w="61595" h="309880">
                  <a:moveTo>
                    <a:pt x="61569" y="247992"/>
                  </a:moveTo>
                  <a:lnTo>
                    <a:pt x="0" y="247992"/>
                  </a:lnTo>
                  <a:lnTo>
                    <a:pt x="0" y="309562"/>
                  </a:lnTo>
                  <a:lnTo>
                    <a:pt x="61569" y="309562"/>
                  </a:lnTo>
                  <a:lnTo>
                    <a:pt x="61569" y="247992"/>
                  </a:lnTo>
                  <a:close/>
                </a:path>
                <a:path w="61595" h="309880">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grpSp>
      <p:sp>
        <p:nvSpPr>
          <p:cNvPr id="7" name="object 7"/>
          <p:cNvSpPr txBox="1"/>
          <p:nvPr/>
        </p:nvSpPr>
        <p:spPr>
          <a:xfrm>
            <a:off x="1788395" y="151801"/>
            <a:ext cx="8617171" cy="2553843"/>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27" dirty="0">
                <a:solidFill>
                  <a:srgbClr val="898CFC"/>
                </a:solidFill>
                <a:uFill>
                  <a:solidFill>
                    <a:srgbClr val="898CFC"/>
                  </a:solidFill>
                </a:uFill>
                <a:latin typeface="Tahoma"/>
                <a:cs typeface="Tahoma"/>
              </a:rPr>
              <a:t> </a:t>
            </a:r>
            <a:r>
              <a:rPr sz="2774" u="sng" spc="-40" dirty="0">
                <a:solidFill>
                  <a:srgbClr val="898CFC"/>
                </a:solidFill>
                <a:uFill>
                  <a:solidFill>
                    <a:srgbClr val="898CFC"/>
                  </a:solidFill>
                </a:uFill>
                <a:latin typeface="Tahoma"/>
                <a:cs typeface="Tahoma"/>
              </a:rPr>
              <a:t>Logic	</a:t>
            </a:r>
            <a:endParaRPr sz="2774" dirty="0">
              <a:latin typeface="Tahoma"/>
              <a:cs typeface="Tahoma"/>
            </a:endParaRPr>
          </a:p>
          <a:p>
            <a:pPr>
              <a:lnSpc>
                <a:spcPct val="100000"/>
              </a:lnSpc>
            </a:pPr>
            <a:endParaRPr sz="2774" dirty="0">
              <a:latin typeface="Tahoma"/>
              <a:cs typeface="Tahoma"/>
            </a:endParaRPr>
          </a:p>
          <a:p>
            <a:pPr marL="573821">
              <a:spcBef>
                <a:spcPts val="1722"/>
              </a:spcBef>
            </a:pPr>
            <a:r>
              <a:rPr sz="2180" i="1" spc="-20" dirty="0">
                <a:latin typeface="Arial"/>
                <a:cs typeface="Arial"/>
              </a:rPr>
              <a:t>A</a:t>
            </a:r>
            <a:r>
              <a:rPr sz="2180" i="1" spc="99" dirty="0">
                <a:latin typeface="Arial"/>
                <a:cs typeface="Arial"/>
              </a:rPr>
              <a:t> </a:t>
            </a:r>
            <a:r>
              <a:rPr sz="2180" spc="-129" dirty="0">
                <a:latin typeface="Tahoma"/>
                <a:cs typeface="Tahoma"/>
              </a:rPr>
              <a:t>says,</a:t>
            </a:r>
            <a:r>
              <a:rPr sz="2180" spc="40" dirty="0">
                <a:latin typeface="Tahoma"/>
                <a:cs typeface="Tahoma"/>
              </a:rPr>
              <a:t> </a:t>
            </a:r>
            <a:r>
              <a:rPr sz="2180" spc="-10" dirty="0">
                <a:solidFill>
                  <a:srgbClr val="0000FF"/>
                </a:solidFill>
                <a:latin typeface="Tahoma"/>
                <a:cs typeface="Tahoma"/>
              </a:rPr>
              <a:t>“I</a:t>
            </a:r>
            <a:r>
              <a:rPr sz="2180" spc="30" dirty="0">
                <a:solidFill>
                  <a:srgbClr val="0000FF"/>
                </a:solidFill>
                <a:latin typeface="Tahoma"/>
                <a:cs typeface="Tahoma"/>
              </a:rPr>
              <a:t> </a:t>
            </a:r>
            <a:r>
              <a:rPr sz="2180" spc="-119" dirty="0">
                <a:solidFill>
                  <a:srgbClr val="0000FF"/>
                </a:solidFill>
                <a:latin typeface="Tahoma"/>
                <a:cs typeface="Tahoma"/>
              </a:rPr>
              <a:t>am</a:t>
            </a:r>
            <a:r>
              <a:rPr sz="2180" spc="40" dirty="0">
                <a:solidFill>
                  <a:srgbClr val="0000FF"/>
                </a:solidFill>
                <a:latin typeface="Tahoma"/>
                <a:cs typeface="Tahoma"/>
              </a:rPr>
              <a:t> </a:t>
            </a:r>
            <a:r>
              <a:rPr sz="2180" spc="-109" dirty="0">
                <a:solidFill>
                  <a:srgbClr val="0000FF"/>
                </a:solidFill>
                <a:latin typeface="Tahoma"/>
                <a:cs typeface="Tahoma"/>
              </a:rPr>
              <a:t>a</a:t>
            </a:r>
            <a:r>
              <a:rPr sz="2180" spc="40" dirty="0">
                <a:solidFill>
                  <a:srgbClr val="0000FF"/>
                </a:solidFill>
                <a:latin typeface="Tahoma"/>
                <a:cs typeface="Tahoma"/>
              </a:rPr>
              <a:t> </a:t>
            </a:r>
            <a:r>
              <a:rPr sz="2180" spc="-109" dirty="0">
                <a:solidFill>
                  <a:srgbClr val="0000FF"/>
                </a:solidFill>
                <a:latin typeface="Tahoma"/>
                <a:cs typeface="Tahoma"/>
              </a:rPr>
              <a:t>knave</a:t>
            </a:r>
            <a:r>
              <a:rPr sz="2180" spc="40" dirty="0">
                <a:solidFill>
                  <a:srgbClr val="0000FF"/>
                </a:solidFill>
                <a:latin typeface="Tahoma"/>
                <a:cs typeface="Tahoma"/>
              </a:rPr>
              <a:t> </a:t>
            </a:r>
            <a:r>
              <a:rPr sz="2180" spc="-119" dirty="0">
                <a:solidFill>
                  <a:srgbClr val="0000FF"/>
                </a:solidFill>
                <a:latin typeface="Tahoma"/>
                <a:cs typeface="Tahoma"/>
              </a:rPr>
              <a:t>or</a:t>
            </a:r>
            <a:r>
              <a:rPr sz="2180" spc="30" dirty="0">
                <a:solidFill>
                  <a:srgbClr val="0000FF"/>
                </a:solidFill>
                <a:latin typeface="Tahoma"/>
                <a:cs typeface="Tahoma"/>
              </a:rPr>
              <a:t> </a:t>
            </a:r>
            <a:r>
              <a:rPr sz="2180" i="1" spc="-20" dirty="0">
                <a:solidFill>
                  <a:srgbClr val="0000FF"/>
                </a:solidFill>
                <a:latin typeface="Arial"/>
                <a:cs typeface="Arial"/>
              </a:rPr>
              <a:t>B</a:t>
            </a:r>
            <a:r>
              <a:rPr sz="2180" i="1" spc="287" dirty="0">
                <a:solidFill>
                  <a:srgbClr val="0000FF"/>
                </a:solidFill>
                <a:latin typeface="Arial"/>
                <a:cs typeface="Arial"/>
              </a:rPr>
              <a:t> </a:t>
            </a:r>
            <a:r>
              <a:rPr sz="2180" spc="-69" dirty="0">
                <a:solidFill>
                  <a:srgbClr val="0000FF"/>
                </a:solidFill>
                <a:latin typeface="Tahoma"/>
                <a:cs typeface="Tahoma"/>
              </a:rPr>
              <a:t>is</a:t>
            </a:r>
            <a:r>
              <a:rPr sz="2180" spc="40" dirty="0">
                <a:solidFill>
                  <a:srgbClr val="0000FF"/>
                </a:solidFill>
                <a:latin typeface="Tahoma"/>
                <a:cs typeface="Tahoma"/>
              </a:rPr>
              <a:t> </a:t>
            </a:r>
            <a:r>
              <a:rPr sz="2180" spc="-109" dirty="0">
                <a:solidFill>
                  <a:srgbClr val="0000FF"/>
                </a:solidFill>
                <a:latin typeface="Tahoma"/>
                <a:cs typeface="Tahoma"/>
              </a:rPr>
              <a:t>a</a:t>
            </a:r>
            <a:r>
              <a:rPr sz="2180" spc="40" dirty="0">
                <a:solidFill>
                  <a:srgbClr val="0000FF"/>
                </a:solidFill>
                <a:latin typeface="Tahoma"/>
                <a:cs typeface="Tahoma"/>
              </a:rPr>
              <a:t> </a:t>
            </a:r>
            <a:r>
              <a:rPr sz="2180" spc="-20" dirty="0">
                <a:solidFill>
                  <a:srgbClr val="0000FF"/>
                </a:solidFill>
                <a:latin typeface="Tahoma"/>
                <a:cs typeface="Tahoma"/>
              </a:rPr>
              <a:t>knight”</a:t>
            </a:r>
            <a:endParaRPr sz="2180" dirty="0">
              <a:latin typeface="Tahoma"/>
              <a:cs typeface="Tahoma"/>
            </a:endParaRPr>
          </a:p>
          <a:p>
            <a:pPr marL="573821">
              <a:spcBef>
                <a:spcPts val="1258"/>
              </a:spcBef>
            </a:pPr>
            <a:r>
              <a:rPr sz="2180" i="1" spc="-20" dirty="0">
                <a:latin typeface="Arial"/>
                <a:cs typeface="Arial"/>
              </a:rPr>
              <a:t>B</a:t>
            </a:r>
            <a:r>
              <a:rPr sz="2180" i="1" spc="218" dirty="0">
                <a:latin typeface="Arial"/>
                <a:cs typeface="Arial"/>
              </a:rPr>
              <a:t> </a:t>
            </a:r>
            <a:r>
              <a:rPr sz="2180" spc="-139" dirty="0">
                <a:latin typeface="Tahoma"/>
                <a:cs typeface="Tahoma"/>
              </a:rPr>
              <a:t>says</a:t>
            </a:r>
            <a:r>
              <a:rPr sz="2180" spc="-20" dirty="0">
                <a:latin typeface="Tahoma"/>
                <a:cs typeface="Tahoma"/>
              </a:rPr>
              <a:t> </a:t>
            </a:r>
            <a:r>
              <a:rPr sz="2180" spc="-69" dirty="0">
                <a:solidFill>
                  <a:srgbClr val="0000FF"/>
                </a:solidFill>
                <a:latin typeface="Tahoma"/>
                <a:cs typeface="Tahoma"/>
              </a:rPr>
              <a:t>nothing</a:t>
            </a:r>
            <a:endParaRPr sz="2180" dirty="0">
              <a:latin typeface="Tahoma"/>
              <a:cs typeface="Tahoma"/>
            </a:endParaRPr>
          </a:p>
          <a:p>
            <a:pPr>
              <a:lnSpc>
                <a:spcPct val="100000"/>
              </a:lnSpc>
            </a:pPr>
            <a:endParaRPr sz="2180" dirty="0">
              <a:latin typeface="Tahoma"/>
              <a:cs typeface="Tahoma"/>
            </a:endParaRPr>
          </a:p>
          <a:p>
            <a:pPr>
              <a:spcBef>
                <a:spcPts val="40"/>
              </a:spcBef>
            </a:pPr>
            <a:endParaRPr sz="1784" dirty="0">
              <a:latin typeface="Tahoma"/>
              <a:cs typeface="Tahoma"/>
            </a:endParaRPr>
          </a:p>
        </p:txBody>
      </p:sp>
      <p:sp>
        <p:nvSpPr>
          <p:cNvPr id="12" name="object 12"/>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16" name="TextBox 15">
            <a:extLst>
              <a:ext uri="{FF2B5EF4-FFF2-40B4-BE49-F238E27FC236}">
                <a16:creationId xmlns:a16="http://schemas.microsoft.com/office/drawing/2014/main" id="{B7158169-00ED-4EB1-BDE7-3CF2E29D91D1}"/>
              </a:ext>
            </a:extLst>
          </p:cNvPr>
          <p:cNvSpPr txBox="1"/>
          <p:nvPr/>
        </p:nvSpPr>
        <p:spPr>
          <a:xfrm>
            <a:off x="1857830" y="3262477"/>
            <a:ext cx="6096000" cy="369332"/>
          </a:xfrm>
          <a:prstGeom prst="rect">
            <a:avLst/>
          </a:prstGeom>
          <a:noFill/>
        </p:spPr>
        <p:txBody>
          <a:bodyPr wrap="square">
            <a:spAutoFit/>
          </a:bodyPr>
          <a:lstStyle/>
          <a:p>
            <a:pPr marL="25168"/>
            <a:r>
              <a:rPr lang="en-US" sz="1800" spc="-79" dirty="0">
                <a:latin typeface="Tahoma"/>
                <a:cs typeface="Tahoma"/>
              </a:rPr>
              <a:t>Result:</a:t>
            </a:r>
            <a:r>
              <a:rPr lang="en-US" sz="1800" spc="248" dirty="0">
                <a:latin typeface="Tahoma"/>
                <a:cs typeface="Tahoma"/>
              </a:rPr>
              <a:t> </a:t>
            </a:r>
            <a:r>
              <a:rPr lang="en-US" sz="1800" dirty="0">
                <a:solidFill>
                  <a:srgbClr val="0000FF"/>
                </a:solidFill>
                <a:latin typeface="Tahoma"/>
                <a:cs typeface="Tahoma"/>
              </a:rPr>
              <a:t>Both</a:t>
            </a:r>
            <a:r>
              <a:rPr lang="en-US" sz="1800" spc="30" dirty="0">
                <a:solidFill>
                  <a:srgbClr val="0000FF"/>
                </a:solidFill>
                <a:latin typeface="Tahoma"/>
                <a:cs typeface="Tahoma"/>
              </a:rPr>
              <a:t> </a:t>
            </a:r>
            <a:r>
              <a:rPr lang="en-US" sz="1800" spc="-139" dirty="0">
                <a:solidFill>
                  <a:srgbClr val="0000FF"/>
                </a:solidFill>
                <a:latin typeface="Tahoma"/>
                <a:cs typeface="Tahoma"/>
              </a:rPr>
              <a:t>are</a:t>
            </a:r>
            <a:r>
              <a:rPr lang="en-US" sz="1800" spc="20" dirty="0">
                <a:solidFill>
                  <a:srgbClr val="0000FF"/>
                </a:solidFill>
                <a:latin typeface="Tahoma"/>
                <a:cs typeface="Tahoma"/>
              </a:rPr>
              <a:t> </a:t>
            </a:r>
            <a:r>
              <a:rPr lang="en-US" sz="1800" spc="-69" dirty="0">
                <a:solidFill>
                  <a:srgbClr val="0000FF"/>
                </a:solidFill>
                <a:latin typeface="Tahoma"/>
                <a:cs typeface="Tahoma"/>
              </a:rPr>
              <a:t>knights</a:t>
            </a:r>
            <a:endParaRPr lang="en-US" sz="1800" dirty="0">
              <a:latin typeface="Tahoma"/>
              <a:cs typeface="Tahoma"/>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5910" y="431878"/>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47" dirty="0"/>
              <a:t> </a:t>
            </a:r>
            <a:r>
              <a:rPr spc="-69" dirty="0"/>
              <a:t>Counting	</a:t>
            </a:r>
          </a:p>
        </p:txBody>
      </p:sp>
      <p:sp>
        <p:nvSpPr>
          <p:cNvPr id="11" name="object 11"/>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pic>
        <p:nvPicPr>
          <p:cNvPr id="3" name="object 3"/>
          <p:cNvPicPr/>
          <p:nvPr/>
        </p:nvPicPr>
        <p:blipFill>
          <a:blip r:embed="rId2" cstate="print"/>
          <a:stretch>
            <a:fillRect/>
          </a:stretch>
        </p:blipFill>
        <p:spPr>
          <a:xfrm>
            <a:off x="5867352" y="1344894"/>
            <a:ext cx="453150" cy="271889"/>
          </a:xfrm>
          <a:prstGeom prst="rect">
            <a:avLst/>
          </a:prstGeom>
        </p:spPr>
      </p:pic>
      <p:graphicFrame>
        <p:nvGraphicFramePr>
          <p:cNvPr id="4" name="object 4"/>
          <p:cNvGraphicFramePr>
            <a:graphicFrameLocks noGrp="1"/>
          </p:cNvGraphicFramePr>
          <p:nvPr/>
        </p:nvGraphicFramePr>
        <p:xfrm>
          <a:off x="3097678" y="1251432"/>
          <a:ext cx="2265030" cy="453150"/>
        </p:xfrm>
        <a:graphic>
          <a:graphicData uri="http://schemas.openxmlformats.org/drawingml/2006/table">
            <a:tbl>
              <a:tblPr firstRow="1" bandRow="1">
                <a:tableStyleId>{2D5ABB26-0587-4C30-8999-92F81FD0307C}</a:tableStyleId>
              </a:tblPr>
              <a:tblGrid>
                <a:gridCol w="453006">
                  <a:extLst>
                    <a:ext uri="{9D8B030D-6E8A-4147-A177-3AD203B41FA5}">
                      <a16:colId xmlns:a16="http://schemas.microsoft.com/office/drawing/2014/main" val="20000"/>
                    </a:ext>
                  </a:extLst>
                </a:gridCol>
                <a:gridCol w="453006">
                  <a:extLst>
                    <a:ext uri="{9D8B030D-6E8A-4147-A177-3AD203B41FA5}">
                      <a16:colId xmlns:a16="http://schemas.microsoft.com/office/drawing/2014/main" val="20001"/>
                    </a:ext>
                  </a:extLst>
                </a:gridCol>
                <a:gridCol w="453006">
                  <a:extLst>
                    <a:ext uri="{9D8B030D-6E8A-4147-A177-3AD203B41FA5}">
                      <a16:colId xmlns:a16="http://schemas.microsoft.com/office/drawing/2014/main" val="20002"/>
                    </a:ext>
                  </a:extLst>
                </a:gridCol>
                <a:gridCol w="453006">
                  <a:extLst>
                    <a:ext uri="{9D8B030D-6E8A-4147-A177-3AD203B41FA5}">
                      <a16:colId xmlns:a16="http://schemas.microsoft.com/office/drawing/2014/main" val="20003"/>
                    </a:ext>
                  </a:extLst>
                </a:gridCol>
                <a:gridCol w="453006">
                  <a:extLst>
                    <a:ext uri="{9D8B030D-6E8A-4147-A177-3AD203B41FA5}">
                      <a16:colId xmlns:a16="http://schemas.microsoft.com/office/drawing/2014/main" val="20004"/>
                    </a:ext>
                  </a:extLst>
                </a:gridCol>
              </a:tblGrid>
              <a:tr h="453150">
                <a:tc>
                  <a:txBody>
                    <a:bodyPr/>
                    <a:lstStyle/>
                    <a:p>
                      <a:pPr algn="ctr">
                        <a:lnSpc>
                          <a:spcPct val="100000"/>
                        </a:lnSpc>
                        <a:spcBef>
                          <a:spcPts val="125"/>
                        </a:spcBef>
                      </a:pPr>
                      <a:r>
                        <a:rPr sz="2300" dirty="0">
                          <a:latin typeface="Calibri"/>
                          <a:cs typeface="Calibri"/>
                        </a:rPr>
                        <a:t>8</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125"/>
                        </a:spcBef>
                      </a:pPr>
                      <a:r>
                        <a:rPr sz="2300" dirty="0">
                          <a:latin typeface="Calibri"/>
                          <a:cs typeface="Calibri"/>
                        </a:rPr>
                        <a:t>9</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125"/>
                        </a:spcBef>
                      </a:pPr>
                      <a:r>
                        <a:rPr sz="2300" dirty="0">
                          <a:latin typeface="Calibri"/>
                          <a:cs typeface="Calibri"/>
                        </a:rPr>
                        <a:t>3</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125"/>
                        </a:spcBef>
                      </a:pPr>
                      <a:r>
                        <a:rPr sz="2300" dirty="0">
                          <a:latin typeface="Calibri"/>
                          <a:cs typeface="Calibri"/>
                        </a:rPr>
                        <a:t>4</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a:txBody>
                    <a:bodyPr/>
                    <a:lstStyle/>
                    <a:p>
                      <a:pPr algn="ctr">
                        <a:lnSpc>
                          <a:spcPct val="100000"/>
                        </a:lnSpc>
                        <a:spcBef>
                          <a:spcPts val="125"/>
                        </a:spcBef>
                      </a:pPr>
                      <a:r>
                        <a:rPr sz="2300" dirty="0">
                          <a:latin typeface="Calibri"/>
                          <a:cs typeface="Calibri"/>
                        </a:rPr>
                        <a:t>2</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 name="object 5"/>
          <p:cNvGraphicFramePr>
            <a:graphicFrameLocks noGrp="1"/>
          </p:cNvGraphicFramePr>
          <p:nvPr/>
        </p:nvGraphicFramePr>
        <p:xfrm>
          <a:off x="6818740" y="1251432"/>
          <a:ext cx="2265030" cy="453150"/>
        </p:xfrm>
        <a:graphic>
          <a:graphicData uri="http://schemas.openxmlformats.org/drawingml/2006/table">
            <a:tbl>
              <a:tblPr firstRow="1" bandRow="1">
                <a:tableStyleId>{2D5ABB26-0587-4C30-8999-92F81FD0307C}</a:tableStyleId>
              </a:tblPr>
              <a:tblGrid>
                <a:gridCol w="453006">
                  <a:extLst>
                    <a:ext uri="{9D8B030D-6E8A-4147-A177-3AD203B41FA5}">
                      <a16:colId xmlns:a16="http://schemas.microsoft.com/office/drawing/2014/main" val="20000"/>
                    </a:ext>
                  </a:extLst>
                </a:gridCol>
                <a:gridCol w="453006">
                  <a:extLst>
                    <a:ext uri="{9D8B030D-6E8A-4147-A177-3AD203B41FA5}">
                      <a16:colId xmlns:a16="http://schemas.microsoft.com/office/drawing/2014/main" val="20001"/>
                    </a:ext>
                  </a:extLst>
                </a:gridCol>
                <a:gridCol w="453006">
                  <a:extLst>
                    <a:ext uri="{9D8B030D-6E8A-4147-A177-3AD203B41FA5}">
                      <a16:colId xmlns:a16="http://schemas.microsoft.com/office/drawing/2014/main" val="20002"/>
                    </a:ext>
                  </a:extLst>
                </a:gridCol>
                <a:gridCol w="453006">
                  <a:extLst>
                    <a:ext uri="{9D8B030D-6E8A-4147-A177-3AD203B41FA5}">
                      <a16:colId xmlns:a16="http://schemas.microsoft.com/office/drawing/2014/main" val="20003"/>
                    </a:ext>
                  </a:extLst>
                </a:gridCol>
                <a:gridCol w="453006">
                  <a:extLst>
                    <a:ext uri="{9D8B030D-6E8A-4147-A177-3AD203B41FA5}">
                      <a16:colId xmlns:a16="http://schemas.microsoft.com/office/drawing/2014/main" val="20004"/>
                    </a:ext>
                  </a:extLst>
                </a:gridCol>
              </a:tblGrid>
              <a:tr h="453150">
                <a:tc>
                  <a:txBody>
                    <a:bodyPr/>
                    <a:lstStyle/>
                    <a:p>
                      <a:pPr algn="ctr">
                        <a:lnSpc>
                          <a:spcPct val="100000"/>
                        </a:lnSpc>
                        <a:spcBef>
                          <a:spcPts val="125"/>
                        </a:spcBef>
                      </a:pPr>
                      <a:r>
                        <a:rPr sz="2300" dirty="0">
                          <a:latin typeface="Calibri"/>
                          <a:cs typeface="Calibri"/>
                        </a:rPr>
                        <a:t>2</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DDF9DD"/>
                    </a:solidFill>
                  </a:tcPr>
                </a:tc>
                <a:tc>
                  <a:txBody>
                    <a:bodyPr/>
                    <a:lstStyle/>
                    <a:p>
                      <a:pPr algn="ctr">
                        <a:lnSpc>
                          <a:spcPct val="100000"/>
                        </a:lnSpc>
                        <a:spcBef>
                          <a:spcPts val="125"/>
                        </a:spcBef>
                      </a:pPr>
                      <a:r>
                        <a:rPr sz="2300" dirty="0">
                          <a:latin typeface="Calibri"/>
                          <a:cs typeface="Calibri"/>
                        </a:rPr>
                        <a:t>3</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DDF9DD"/>
                    </a:solidFill>
                  </a:tcPr>
                </a:tc>
                <a:tc>
                  <a:txBody>
                    <a:bodyPr/>
                    <a:lstStyle/>
                    <a:p>
                      <a:pPr algn="ctr">
                        <a:lnSpc>
                          <a:spcPct val="100000"/>
                        </a:lnSpc>
                        <a:spcBef>
                          <a:spcPts val="125"/>
                        </a:spcBef>
                      </a:pPr>
                      <a:r>
                        <a:rPr sz="2300" dirty="0">
                          <a:latin typeface="Calibri"/>
                          <a:cs typeface="Calibri"/>
                        </a:rPr>
                        <a:t>4</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DDF9DD"/>
                    </a:solidFill>
                  </a:tcPr>
                </a:tc>
                <a:tc>
                  <a:txBody>
                    <a:bodyPr/>
                    <a:lstStyle/>
                    <a:p>
                      <a:pPr algn="ctr">
                        <a:lnSpc>
                          <a:spcPct val="100000"/>
                        </a:lnSpc>
                        <a:spcBef>
                          <a:spcPts val="125"/>
                        </a:spcBef>
                      </a:pPr>
                      <a:r>
                        <a:rPr sz="2300" dirty="0">
                          <a:latin typeface="Calibri"/>
                          <a:cs typeface="Calibri"/>
                        </a:rPr>
                        <a:t>8</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DDF9DD"/>
                    </a:solidFill>
                  </a:tcPr>
                </a:tc>
                <a:tc>
                  <a:txBody>
                    <a:bodyPr/>
                    <a:lstStyle/>
                    <a:p>
                      <a:pPr algn="ctr">
                        <a:lnSpc>
                          <a:spcPct val="100000"/>
                        </a:lnSpc>
                        <a:spcBef>
                          <a:spcPts val="125"/>
                        </a:spcBef>
                      </a:pPr>
                      <a:r>
                        <a:rPr sz="2300" dirty="0">
                          <a:latin typeface="Calibri"/>
                          <a:cs typeface="Calibri"/>
                        </a:rPr>
                        <a:t>9</a:t>
                      </a:r>
                      <a:endParaRPr sz="2300">
                        <a:latin typeface="Calibri"/>
                        <a:cs typeface="Calibri"/>
                      </a:endParaRPr>
                    </a:p>
                  </a:txBody>
                  <a:tcPr marL="0" marR="0" marT="31459"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solidFill>
                      <a:srgbClr val="DDF9DD"/>
                    </a:solidFill>
                  </a:tcPr>
                </a:tc>
                <a:extLst>
                  <a:ext uri="{0D108BD9-81ED-4DB2-BD59-A6C34878D82A}">
                    <a16:rowId xmlns:a16="http://schemas.microsoft.com/office/drawing/2014/main" val="10000"/>
                  </a:ext>
                </a:extLst>
              </a:tr>
            </a:tbl>
          </a:graphicData>
        </a:graphic>
      </p:graphicFrame>
      <p:sp>
        <p:nvSpPr>
          <p:cNvPr id="6" name="object 6"/>
          <p:cNvSpPr txBox="1"/>
          <p:nvPr/>
        </p:nvSpPr>
        <p:spPr>
          <a:xfrm>
            <a:off x="1788395" y="2158391"/>
            <a:ext cx="4905043" cy="3587373"/>
          </a:xfrm>
          <a:prstGeom prst="rect">
            <a:avLst/>
          </a:prstGeom>
        </p:spPr>
        <p:txBody>
          <a:bodyPr vert="horz" wrap="square" lIns="0" tIns="22650" rIns="0" bIns="0" rtlCol="0">
            <a:spAutoFit/>
          </a:bodyPr>
          <a:lstStyle/>
          <a:p>
            <a:pPr marL="25168">
              <a:spcBef>
                <a:spcPts val="178"/>
              </a:spcBef>
            </a:pPr>
            <a:r>
              <a:rPr sz="2180" b="1" spc="-69" dirty="0">
                <a:latin typeface="Arial"/>
                <a:cs typeface="Arial"/>
              </a:rPr>
              <a:t>Sort</a:t>
            </a:r>
            <a:endParaRPr sz="2180" dirty="0">
              <a:latin typeface="Arial"/>
              <a:cs typeface="Arial"/>
            </a:endParaRPr>
          </a:p>
          <a:p>
            <a:pPr>
              <a:lnSpc>
                <a:spcPct val="100000"/>
              </a:lnSpc>
            </a:pPr>
            <a:endParaRPr sz="2180" dirty="0">
              <a:latin typeface="Arial"/>
              <a:cs typeface="Arial"/>
            </a:endParaRPr>
          </a:p>
          <a:p>
            <a:pPr marL="366188" marR="2531860" indent="-342279">
              <a:lnSpc>
                <a:spcPct val="125299"/>
              </a:lnSpc>
              <a:spcBef>
                <a:spcPts val="1833"/>
              </a:spcBef>
            </a:pPr>
            <a:r>
              <a:rPr sz="2180" spc="-59" dirty="0">
                <a:latin typeface="Tahoma"/>
                <a:cs typeface="Tahoma"/>
              </a:rPr>
              <a:t>f</a:t>
            </a:r>
            <a:r>
              <a:rPr sz="2180" spc="-149" dirty="0">
                <a:latin typeface="Tahoma"/>
                <a:cs typeface="Tahoma"/>
              </a:rPr>
              <a:t>o</a:t>
            </a:r>
            <a:r>
              <a:rPr sz="2180" spc="-50" dirty="0">
                <a:latin typeface="Tahoma"/>
                <a:cs typeface="Tahoma"/>
              </a:rPr>
              <a:t>r</a:t>
            </a:r>
            <a:r>
              <a:rPr sz="2180" spc="40" dirty="0">
                <a:latin typeface="Tahoma"/>
                <a:cs typeface="Tahoma"/>
              </a:rPr>
              <a:t> </a:t>
            </a:r>
            <a:r>
              <a:rPr sz="2180" i="1" spc="30" dirty="0">
                <a:latin typeface="Arial"/>
                <a:cs typeface="Arial"/>
              </a:rPr>
              <a:t>i</a:t>
            </a:r>
            <a:r>
              <a:rPr sz="2180" i="1" spc="198" dirty="0">
                <a:latin typeface="Arial"/>
                <a:cs typeface="Arial"/>
              </a:rPr>
              <a:t> </a:t>
            </a:r>
            <a:r>
              <a:rPr sz="2180" spc="89" dirty="0">
                <a:latin typeface="Tahoma"/>
                <a:cs typeface="Tahoma"/>
              </a:rPr>
              <a:t>=</a:t>
            </a:r>
            <a:r>
              <a:rPr sz="2180" spc="-79" dirty="0">
                <a:latin typeface="Tahoma"/>
                <a:cs typeface="Tahoma"/>
              </a:rPr>
              <a:t> </a:t>
            </a:r>
            <a:r>
              <a:rPr sz="2180" spc="-109" dirty="0">
                <a:latin typeface="Tahoma"/>
                <a:cs typeface="Tahoma"/>
              </a:rPr>
              <a:t>1</a:t>
            </a:r>
            <a:r>
              <a:rPr sz="2180" spc="30" dirty="0">
                <a:latin typeface="Tahoma"/>
                <a:cs typeface="Tahoma"/>
              </a:rPr>
              <a:t> </a:t>
            </a:r>
            <a:r>
              <a:rPr sz="2180" spc="-30" dirty="0">
                <a:latin typeface="Tahoma"/>
                <a:cs typeface="Tahoma"/>
              </a:rPr>
              <a:t>to</a:t>
            </a:r>
            <a:r>
              <a:rPr sz="2180" spc="40" dirty="0">
                <a:latin typeface="Tahoma"/>
                <a:cs typeface="Tahoma"/>
              </a:rPr>
              <a:t> </a:t>
            </a:r>
            <a:r>
              <a:rPr sz="2180" i="1" spc="-99" dirty="0">
                <a:latin typeface="Arial"/>
                <a:cs typeface="Arial"/>
              </a:rPr>
              <a:t>n</a:t>
            </a:r>
            <a:r>
              <a:rPr sz="2180" i="1" spc="-89" dirty="0">
                <a:latin typeface="Arial"/>
                <a:cs typeface="Arial"/>
              </a:rPr>
              <a:t> </a:t>
            </a:r>
            <a:r>
              <a:rPr sz="2180" i="1" spc="208" dirty="0">
                <a:latin typeface="Times New Roman"/>
                <a:cs typeface="Times New Roman"/>
              </a:rPr>
              <a:t>−</a:t>
            </a:r>
            <a:r>
              <a:rPr sz="2180" i="1" spc="-69" dirty="0">
                <a:latin typeface="Times New Roman"/>
                <a:cs typeface="Times New Roman"/>
              </a:rPr>
              <a:t> </a:t>
            </a:r>
            <a:r>
              <a:rPr sz="2180" spc="-79" dirty="0">
                <a:latin typeface="Tahoma"/>
                <a:cs typeface="Tahoma"/>
              </a:rPr>
              <a:t>1  </a:t>
            </a:r>
            <a:r>
              <a:rPr sz="2180" spc="-59" dirty="0">
                <a:latin typeface="Tahoma"/>
                <a:cs typeface="Tahoma"/>
              </a:rPr>
              <a:t>f</a:t>
            </a:r>
            <a:r>
              <a:rPr sz="2180" spc="-149" dirty="0">
                <a:latin typeface="Tahoma"/>
                <a:cs typeface="Tahoma"/>
              </a:rPr>
              <a:t>o</a:t>
            </a:r>
            <a:r>
              <a:rPr sz="2180" spc="-50" dirty="0">
                <a:latin typeface="Tahoma"/>
                <a:cs typeface="Tahoma"/>
              </a:rPr>
              <a:t>r</a:t>
            </a:r>
            <a:r>
              <a:rPr sz="2180" spc="40" dirty="0">
                <a:latin typeface="Tahoma"/>
                <a:cs typeface="Tahoma"/>
              </a:rPr>
              <a:t> </a:t>
            </a:r>
            <a:r>
              <a:rPr sz="2180" i="1" spc="89" dirty="0">
                <a:latin typeface="Arial"/>
                <a:cs typeface="Arial"/>
              </a:rPr>
              <a:t>j</a:t>
            </a:r>
            <a:r>
              <a:rPr sz="2180" i="1" spc="188" dirty="0">
                <a:latin typeface="Arial"/>
                <a:cs typeface="Arial"/>
              </a:rPr>
              <a:t> </a:t>
            </a:r>
            <a:r>
              <a:rPr sz="2180" spc="89" dirty="0">
                <a:latin typeface="Tahoma"/>
                <a:cs typeface="Tahoma"/>
              </a:rPr>
              <a:t>=</a:t>
            </a:r>
            <a:r>
              <a:rPr sz="2180" spc="-79" dirty="0">
                <a:latin typeface="Tahoma"/>
                <a:cs typeface="Tahoma"/>
              </a:rPr>
              <a:t> </a:t>
            </a:r>
            <a:r>
              <a:rPr sz="2180" i="1" spc="30" dirty="0">
                <a:latin typeface="Arial"/>
                <a:cs typeface="Arial"/>
              </a:rPr>
              <a:t>i</a:t>
            </a:r>
            <a:r>
              <a:rPr sz="2180" i="1" spc="79" dirty="0">
                <a:latin typeface="Arial"/>
                <a:cs typeface="Arial"/>
              </a:rPr>
              <a:t> </a:t>
            </a:r>
            <a:r>
              <a:rPr sz="2180" spc="89" dirty="0">
                <a:latin typeface="Tahoma"/>
                <a:cs typeface="Tahoma"/>
              </a:rPr>
              <a:t>+</a:t>
            </a:r>
            <a:r>
              <a:rPr sz="2180" spc="-208" dirty="0">
                <a:latin typeface="Tahoma"/>
                <a:cs typeface="Tahoma"/>
              </a:rPr>
              <a:t> </a:t>
            </a:r>
            <a:r>
              <a:rPr sz="2180" spc="-109" dirty="0">
                <a:latin typeface="Tahoma"/>
                <a:cs typeface="Tahoma"/>
              </a:rPr>
              <a:t>1</a:t>
            </a:r>
            <a:r>
              <a:rPr sz="2180" spc="40" dirty="0">
                <a:latin typeface="Tahoma"/>
                <a:cs typeface="Tahoma"/>
              </a:rPr>
              <a:t> </a:t>
            </a:r>
            <a:r>
              <a:rPr sz="2180" spc="-30" dirty="0">
                <a:latin typeface="Tahoma"/>
                <a:cs typeface="Tahoma"/>
              </a:rPr>
              <a:t>to</a:t>
            </a:r>
            <a:r>
              <a:rPr sz="2180" spc="30" dirty="0">
                <a:latin typeface="Tahoma"/>
                <a:cs typeface="Tahoma"/>
              </a:rPr>
              <a:t> </a:t>
            </a:r>
            <a:r>
              <a:rPr sz="2180" i="1" spc="-99" dirty="0">
                <a:latin typeface="Arial"/>
                <a:cs typeface="Arial"/>
              </a:rPr>
              <a:t>n</a:t>
            </a:r>
            <a:endParaRPr sz="2180" dirty="0">
              <a:latin typeface="Arial"/>
              <a:cs typeface="Arial"/>
            </a:endParaRPr>
          </a:p>
          <a:p>
            <a:pPr marL="617864">
              <a:spcBef>
                <a:spcPts val="664"/>
              </a:spcBef>
            </a:pPr>
            <a:r>
              <a:rPr sz="2180" spc="-10" dirty="0">
                <a:solidFill>
                  <a:srgbClr val="0000FF"/>
                </a:solidFill>
                <a:latin typeface="Tahoma"/>
                <a:cs typeface="Tahoma"/>
              </a:rPr>
              <a:t>if</a:t>
            </a:r>
            <a:r>
              <a:rPr sz="2180" spc="40" dirty="0">
                <a:solidFill>
                  <a:srgbClr val="0000FF"/>
                </a:solidFill>
                <a:latin typeface="Tahoma"/>
                <a:cs typeface="Tahoma"/>
              </a:rPr>
              <a:t> </a:t>
            </a:r>
            <a:r>
              <a:rPr sz="2180" dirty="0">
                <a:solidFill>
                  <a:srgbClr val="0000FF"/>
                </a:solidFill>
                <a:latin typeface="Tahoma"/>
                <a:cs typeface="Tahoma"/>
              </a:rPr>
              <a:t>(</a:t>
            </a:r>
            <a:r>
              <a:rPr sz="2180" i="1" spc="-20" dirty="0">
                <a:solidFill>
                  <a:srgbClr val="0000FF"/>
                </a:solidFill>
                <a:latin typeface="Arial"/>
                <a:cs typeface="Arial"/>
              </a:rPr>
              <a:t>A</a:t>
            </a:r>
            <a:r>
              <a:rPr sz="2180" spc="-218" dirty="0">
                <a:solidFill>
                  <a:srgbClr val="0000FF"/>
                </a:solidFill>
                <a:latin typeface="Tahoma"/>
                <a:cs typeface="Tahoma"/>
              </a:rPr>
              <a:t>[</a:t>
            </a:r>
            <a:r>
              <a:rPr sz="2180" i="1" spc="30" dirty="0">
                <a:solidFill>
                  <a:srgbClr val="0000FF"/>
                </a:solidFill>
                <a:latin typeface="Arial"/>
                <a:cs typeface="Arial"/>
              </a:rPr>
              <a:t>i</a:t>
            </a:r>
            <a:r>
              <a:rPr sz="2180" i="1" spc="-396" dirty="0">
                <a:solidFill>
                  <a:srgbClr val="0000FF"/>
                </a:solidFill>
                <a:latin typeface="Arial"/>
                <a:cs typeface="Arial"/>
              </a:rPr>
              <a:t> </a:t>
            </a:r>
            <a:r>
              <a:rPr sz="2180" spc="-218" dirty="0">
                <a:solidFill>
                  <a:srgbClr val="0000FF"/>
                </a:solidFill>
                <a:latin typeface="Tahoma"/>
                <a:cs typeface="Tahoma"/>
              </a:rPr>
              <a:t>]</a:t>
            </a:r>
            <a:r>
              <a:rPr sz="2180" spc="-79" dirty="0">
                <a:solidFill>
                  <a:srgbClr val="0000FF"/>
                </a:solidFill>
                <a:latin typeface="Tahoma"/>
                <a:cs typeface="Tahoma"/>
              </a:rPr>
              <a:t> </a:t>
            </a:r>
            <a:r>
              <a:rPr sz="2180" spc="-59" dirty="0">
                <a:solidFill>
                  <a:srgbClr val="0000FF"/>
                </a:solidFill>
                <a:latin typeface="Lucida Sans Unicode"/>
                <a:cs typeface="Lucida Sans Unicode"/>
              </a:rPr>
              <a:t>&gt;</a:t>
            </a:r>
            <a:r>
              <a:rPr sz="2180" spc="-89" dirty="0">
                <a:solidFill>
                  <a:srgbClr val="0000FF"/>
                </a:solidFill>
                <a:latin typeface="Lucida Sans Unicode"/>
                <a:cs typeface="Lucida Sans Unicode"/>
              </a:rPr>
              <a:t> </a:t>
            </a:r>
            <a:r>
              <a:rPr sz="2180" i="1" spc="-20" dirty="0">
                <a:solidFill>
                  <a:srgbClr val="0000FF"/>
                </a:solidFill>
                <a:latin typeface="Arial"/>
                <a:cs typeface="Arial"/>
              </a:rPr>
              <a:t>A</a:t>
            </a:r>
            <a:r>
              <a:rPr sz="2180" spc="-218" dirty="0">
                <a:solidFill>
                  <a:srgbClr val="0000FF"/>
                </a:solidFill>
                <a:latin typeface="Tahoma"/>
                <a:cs typeface="Tahoma"/>
              </a:rPr>
              <a:t>[</a:t>
            </a:r>
            <a:r>
              <a:rPr sz="2180" i="1" spc="287" dirty="0">
                <a:solidFill>
                  <a:srgbClr val="0000FF"/>
                </a:solidFill>
                <a:latin typeface="Arial"/>
                <a:cs typeface="Arial"/>
              </a:rPr>
              <a:t>j</a:t>
            </a:r>
            <a:r>
              <a:rPr sz="2180" spc="-109" dirty="0">
                <a:solidFill>
                  <a:srgbClr val="0000FF"/>
                </a:solidFill>
                <a:latin typeface="Tahoma"/>
                <a:cs typeface="Tahoma"/>
              </a:rPr>
              <a:t>])</a:t>
            </a:r>
            <a:endParaRPr sz="2180" dirty="0">
              <a:latin typeface="Tahoma"/>
              <a:cs typeface="Tahoma"/>
            </a:endParaRPr>
          </a:p>
          <a:p>
            <a:pPr marL="868282">
              <a:spcBef>
                <a:spcPts val="664"/>
              </a:spcBef>
            </a:pPr>
            <a:r>
              <a:rPr sz="2180" spc="-119" dirty="0">
                <a:latin typeface="Tahoma"/>
                <a:cs typeface="Tahoma"/>
              </a:rPr>
              <a:t>exchange</a:t>
            </a:r>
            <a:r>
              <a:rPr sz="2180" spc="40" dirty="0">
                <a:latin typeface="Tahoma"/>
                <a:cs typeface="Tahoma"/>
              </a:rPr>
              <a:t> </a:t>
            </a:r>
            <a:r>
              <a:rPr sz="2180" i="1" spc="-20" dirty="0">
                <a:latin typeface="Arial"/>
                <a:cs typeface="Arial"/>
              </a:rPr>
              <a:t>A</a:t>
            </a:r>
            <a:r>
              <a:rPr sz="2180" spc="-218" dirty="0">
                <a:latin typeface="Tahoma"/>
                <a:cs typeface="Tahoma"/>
              </a:rPr>
              <a:t>[</a:t>
            </a:r>
            <a:r>
              <a:rPr sz="2180" i="1" spc="30" dirty="0">
                <a:latin typeface="Arial"/>
                <a:cs typeface="Arial"/>
              </a:rPr>
              <a:t>i</a:t>
            </a:r>
            <a:r>
              <a:rPr sz="2180" i="1" spc="-396" dirty="0">
                <a:latin typeface="Arial"/>
                <a:cs typeface="Arial"/>
              </a:rPr>
              <a:t> </a:t>
            </a:r>
            <a:r>
              <a:rPr sz="2180" spc="-218" dirty="0">
                <a:latin typeface="Tahoma"/>
                <a:cs typeface="Tahoma"/>
              </a:rPr>
              <a:t>]</a:t>
            </a:r>
            <a:r>
              <a:rPr sz="2180" spc="40" dirty="0">
                <a:latin typeface="Tahoma"/>
                <a:cs typeface="Tahoma"/>
              </a:rPr>
              <a:t> </a:t>
            </a:r>
            <a:r>
              <a:rPr sz="2180" spc="-99" dirty="0">
                <a:latin typeface="Tahoma"/>
                <a:cs typeface="Tahoma"/>
              </a:rPr>
              <a:t>and</a:t>
            </a:r>
            <a:r>
              <a:rPr sz="2180" spc="40" dirty="0">
                <a:latin typeface="Tahoma"/>
                <a:cs typeface="Tahoma"/>
              </a:rPr>
              <a:t> </a:t>
            </a:r>
            <a:r>
              <a:rPr sz="2180" i="1" spc="-20" dirty="0">
                <a:latin typeface="Arial"/>
                <a:cs typeface="Arial"/>
              </a:rPr>
              <a:t>A</a:t>
            </a:r>
            <a:r>
              <a:rPr sz="2180" spc="-218" dirty="0">
                <a:latin typeface="Tahoma"/>
                <a:cs typeface="Tahoma"/>
              </a:rPr>
              <a:t>[</a:t>
            </a:r>
            <a:r>
              <a:rPr sz="2180" i="1" spc="287" dirty="0">
                <a:latin typeface="Arial"/>
                <a:cs typeface="Arial"/>
              </a:rPr>
              <a:t>j</a:t>
            </a:r>
            <a:r>
              <a:rPr sz="2180" spc="-218" dirty="0">
                <a:latin typeface="Tahoma"/>
                <a:cs typeface="Tahoma"/>
              </a:rPr>
              <a:t>]</a:t>
            </a:r>
            <a:endParaRPr sz="2180" dirty="0">
              <a:latin typeface="Tahoma"/>
              <a:cs typeface="Tahoma"/>
            </a:endParaRPr>
          </a:p>
          <a:p>
            <a:pPr>
              <a:lnSpc>
                <a:spcPct val="100000"/>
              </a:lnSpc>
            </a:pPr>
            <a:endParaRPr sz="2180" dirty="0">
              <a:latin typeface="Tahoma"/>
              <a:cs typeface="Tahoma"/>
            </a:endParaRPr>
          </a:p>
          <a:p>
            <a:pPr>
              <a:spcBef>
                <a:spcPts val="99"/>
              </a:spcBef>
            </a:pPr>
            <a:endParaRPr sz="1883" dirty="0">
              <a:latin typeface="Tahoma"/>
              <a:cs typeface="Tahoma"/>
            </a:endParaRPr>
          </a:p>
          <a:p>
            <a:pPr marL="25168"/>
            <a:r>
              <a:rPr sz="2180" spc="-89" dirty="0">
                <a:solidFill>
                  <a:srgbClr val="FF0000"/>
                </a:solidFill>
                <a:latin typeface="Tahoma"/>
                <a:cs typeface="Tahoma"/>
              </a:rPr>
              <a:t>How</a:t>
            </a:r>
            <a:r>
              <a:rPr sz="2180" spc="30" dirty="0">
                <a:solidFill>
                  <a:srgbClr val="FF0000"/>
                </a:solidFill>
                <a:latin typeface="Tahoma"/>
                <a:cs typeface="Tahoma"/>
              </a:rPr>
              <a:t> </a:t>
            </a:r>
            <a:r>
              <a:rPr sz="2180" spc="-109" dirty="0">
                <a:solidFill>
                  <a:srgbClr val="FF0000"/>
                </a:solidFill>
                <a:latin typeface="Tahoma"/>
                <a:cs typeface="Tahoma"/>
              </a:rPr>
              <a:t>many</a:t>
            </a:r>
            <a:r>
              <a:rPr sz="2180" spc="40" dirty="0">
                <a:solidFill>
                  <a:srgbClr val="FF0000"/>
                </a:solidFill>
                <a:latin typeface="Tahoma"/>
                <a:cs typeface="Tahoma"/>
              </a:rPr>
              <a:t> </a:t>
            </a:r>
            <a:r>
              <a:rPr sz="2180" spc="-79" dirty="0">
                <a:solidFill>
                  <a:srgbClr val="FF0000"/>
                </a:solidFill>
                <a:latin typeface="Tahoma"/>
                <a:cs typeface="Tahoma"/>
              </a:rPr>
              <a:t>times</a:t>
            </a:r>
            <a:r>
              <a:rPr sz="2180" spc="30" dirty="0">
                <a:solidFill>
                  <a:srgbClr val="FF0000"/>
                </a:solidFill>
                <a:latin typeface="Tahoma"/>
                <a:cs typeface="Tahoma"/>
              </a:rPr>
              <a:t> </a:t>
            </a:r>
            <a:r>
              <a:rPr sz="2180" spc="-69" dirty="0">
                <a:solidFill>
                  <a:srgbClr val="FF0000"/>
                </a:solidFill>
                <a:latin typeface="Tahoma"/>
                <a:cs typeface="Tahoma"/>
              </a:rPr>
              <a:t>is</a:t>
            </a:r>
            <a:r>
              <a:rPr sz="2180" spc="40" dirty="0">
                <a:solidFill>
                  <a:srgbClr val="FF0000"/>
                </a:solidFill>
                <a:latin typeface="Tahoma"/>
                <a:cs typeface="Tahoma"/>
              </a:rPr>
              <a:t> </a:t>
            </a:r>
            <a:r>
              <a:rPr sz="2180" spc="-79" dirty="0">
                <a:solidFill>
                  <a:srgbClr val="FF0000"/>
                </a:solidFill>
                <a:latin typeface="Tahoma"/>
                <a:cs typeface="Tahoma"/>
              </a:rPr>
              <a:t>the</a:t>
            </a:r>
            <a:r>
              <a:rPr sz="2180" spc="30" dirty="0">
                <a:solidFill>
                  <a:srgbClr val="FF0000"/>
                </a:solidFill>
                <a:latin typeface="Tahoma"/>
                <a:cs typeface="Tahoma"/>
              </a:rPr>
              <a:t> </a:t>
            </a:r>
            <a:r>
              <a:rPr sz="2180" spc="-99" dirty="0">
                <a:solidFill>
                  <a:srgbClr val="FF0000"/>
                </a:solidFill>
                <a:latin typeface="Tahoma"/>
                <a:cs typeface="Tahoma"/>
              </a:rPr>
              <a:t>comparison</a:t>
            </a:r>
            <a:r>
              <a:rPr sz="2180" spc="30" dirty="0">
                <a:solidFill>
                  <a:srgbClr val="FF0000"/>
                </a:solidFill>
                <a:latin typeface="Tahoma"/>
                <a:cs typeface="Tahoma"/>
              </a:rPr>
              <a:t> </a:t>
            </a:r>
            <a:r>
              <a:rPr sz="2180" spc="-109" dirty="0">
                <a:solidFill>
                  <a:srgbClr val="FF0000"/>
                </a:solidFill>
                <a:latin typeface="Tahoma"/>
                <a:cs typeface="Tahoma"/>
              </a:rPr>
              <a:t>made?</a:t>
            </a:r>
            <a:endParaRPr sz="2180" dirty="0">
              <a:latin typeface="Tahoma"/>
              <a:cs typeface="Tahoma"/>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689924" y="1748611"/>
            <a:ext cx="6744749" cy="2335495"/>
            <a:chOff x="586243" y="882401"/>
            <a:chExt cx="3403600" cy="1178560"/>
          </a:xfrm>
        </p:grpSpPr>
        <p:pic>
          <p:nvPicPr>
            <p:cNvPr id="3" name="object 3"/>
            <p:cNvPicPr/>
            <p:nvPr/>
          </p:nvPicPr>
          <p:blipFill>
            <a:blip r:embed="rId2" cstate="print"/>
            <a:stretch>
              <a:fillRect/>
            </a:stretch>
          </p:blipFill>
          <p:spPr>
            <a:xfrm>
              <a:off x="586243" y="882401"/>
              <a:ext cx="1936754" cy="1178448"/>
            </a:xfrm>
            <a:prstGeom prst="rect">
              <a:avLst/>
            </a:prstGeom>
          </p:spPr>
        </p:pic>
        <p:pic>
          <p:nvPicPr>
            <p:cNvPr id="4" name="object 4"/>
            <p:cNvPicPr/>
            <p:nvPr/>
          </p:nvPicPr>
          <p:blipFill>
            <a:blip r:embed="rId3" cstate="print"/>
            <a:stretch>
              <a:fillRect/>
            </a:stretch>
          </p:blipFill>
          <p:spPr>
            <a:xfrm>
              <a:off x="2565306" y="1069415"/>
              <a:ext cx="1424385" cy="778800"/>
            </a:xfrm>
            <a:prstGeom prst="rect">
              <a:avLst/>
            </a:prstGeom>
          </p:spPr>
        </p:pic>
      </p:grpSp>
      <p:sp>
        <p:nvSpPr>
          <p:cNvPr id="5" name="object 5"/>
          <p:cNvSpPr txBox="1"/>
          <p:nvPr/>
        </p:nvSpPr>
        <p:spPr>
          <a:xfrm>
            <a:off x="1788395" y="151800"/>
            <a:ext cx="8617171" cy="1996447"/>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47" dirty="0">
                <a:solidFill>
                  <a:srgbClr val="898CFC"/>
                </a:solidFill>
                <a:uFill>
                  <a:solidFill>
                    <a:srgbClr val="898CFC"/>
                  </a:solidFill>
                </a:uFill>
                <a:latin typeface="Tahoma"/>
                <a:cs typeface="Tahoma"/>
              </a:rPr>
              <a:t> </a:t>
            </a:r>
            <a:r>
              <a:rPr sz="2774" u="sng" spc="-69" dirty="0">
                <a:solidFill>
                  <a:srgbClr val="898CFC"/>
                </a:solidFill>
                <a:uFill>
                  <a:solidFill>
                    <a:srgbClr val="898CFC"/>
                  </a:solidFill>
                </a:uFill>
                <a:latin typeface="Tahoma"/>
                <a:cs typeface="Tahoma"/>
              </a:rPr>
              <a:t>Counting	</a:t>
            </a:r>
            <a:endParaRPr sz="2774">
              <a:latin typeface="Tahoma"/>
              <a:cs typeface="Tahoma"/>
            </a:endParaRPr>
          </a:p>
          <a:p>
            <a:pPr>
              <a:spcBef>
                <a:spcPts val="50"/>
              </a:spcBef>
            </a:pPr>
            <a:endParaRPr sz="2279">
              <a:latin typeface="Tahoma"/>
              <a:cs typeface="Tahoma"/>
            </a:endParaRPr>
          </a:p>
          <a:p>
            <a:pPr marL="25168"/>
            <a:r>
              <a:rPr sz="2180" spc="-89" dirty="0">
                <a:solidFill>
                  <a:srgbClr val="FF0000"/>
                </a:solidFill>
                <a:latin typeface="Tahoma"/>
                <a:cs typeface="Tahoma"/>
              </a:rPr>
              <a:t>How</a:t>
            </a:r>
            <a:r>
              <a:rPr sz="2180" spc="40" dirty="0">
                <a:solidFill>
                  <a:srgbClr val="FF0000"/>
                </a:solidFill>
                <a:latin typeface="Tahoma"/>
                <a:cs typeface="Tahoma"/>
              </a:rPr>
              <a:t> </a:t>
            </a:r>
            <a:r>
              <a:rPr sz="2180" spc="-109" dirty="0">
                <a:solidFill>
                  <a:srgbClr val="FF0000"/>
                </a:solidFill>
                <a:latin typeface="Tahoma"/>
                <a:cs typeface="Tahoma"/>
              </a:rPr>
              <a:t>many</a:t>
            </a:r>
            <a:r>
              <a:rPr sz="2180" spc="40" dirty="0">
                <a:solidFill>
                  <a:srgbClr val="FF0000"/>
                </a:solidFill>
                <a:latin typeface="Tahoma"/>
                <a:cs typeface="Tahoma"/>
              </a:rPr>
              <a:t> </a:t>
            </a:r>
            <a:r>
              <a:rPr sz="2180" spc="-109" dirty="0">
                <a:solidFill>
                  <a:srgbClr val="FF0000"/>
                </a:solidFill>
                <a:latin typeface="Tahoma"/>
                <a:cs typeface="Tahoma"/>
              </a:rPr>
              <a:t>watermelons</a:t>
            </a:r>
            <a:r>
              <a:rPr sz="2180" spc="50" dirty="0">
                <a:solidFill>
                  <a:srgbClr val="FF0000"/>
                </a:solidFill>
                <a:latin typeface="Tahoma"/>
                <a:cs typeface="Tahoma"/>
              </a:rPr>
              <a:t> </a:t>
            </a:r>
            <a:r>
              <a:rPr sz="2180" spc="-139" dirty="0">
                <a:solidFill>
                  <a:srgbClr val="FF0000"/>
                </a:solidFill>
                <a:latin typeface="Tahoma"/>
                <a:cs typeface="Tahoma"/>
              </a:rPr>
              <a:t>are</a:t>
            </a:r>
            <a:r>
              <a:rPr sz="2180" spc="40" dirty="0">
                <a:solidFill>
                  <a:srgbClr val="FF0000"/>
                </a:solidFill>
                <a:latin typeface="Tahoma"/>
                <a:cs typeface="Tahoma"/>
              </a:rPr>
              <a:t> </a:t>
            </a:r>
            <a:r>
              <a:rPr sz="2180" spc="-50" dirty="0">
                <a:solidFill>
                  <a:srgbClr val="FF0000"/>
                </a:solidFill>
                <a:latin typeface="Tahoma"/>
                <a:cs typeface="Tahoma"/>
              </a:rPr>
              <a:t>in</a:t>
            </a:r>
            <a:r>
              <a:rPr sz="2180" spc="50" dirty="0">
                <a:solidFill>
                  <a:srgbClr val="FF0000"/>
                </a:solidFill>
                <a:latin typeface="Tahoma"/>
                <a:cs typeface="Tahoma"/>
              </a:rPr>
              <a:t> </a:t>
            </a:r>
            <a:r>
              <a:rPr sz="2180" spc="-119" dirty="0">
                <a:solidFill>
                  <a:srgbClr val="FF0000"/>
                </a:solidFill>
                <a:latin typeface="Tahoma"/>
                <a:cs typeface="Tahoma"/>
              </a:rPr>
              <a:t>each</a:t>
            </a:r>
            <a:r>
              <a:rPr sz="2180" spc="40" dirty="0">
                <a:solidFill>
                  <a:srgbClr val="FF0000"/>
                </a:solidFill>
                <a:latin typeface="Tahoma"/>
                <a:cs typeface="Tahoma"/>
              </a:rPr>
              <a:t> </a:t>
            </a:r>
            <a:r>
              <a:rPr sz="2180" spc="-89" dirty="0">
                <a:solidFill>
                  <a:srgbClr val="FF0000"/>
                </a:solidFill>
                <a:latin typeface="Tahoma"/>
                <a:cs typeface="Tahoma"/>
              </a:rPr>
              <a:t>group?</a:t>
            </a:r>
            <a:endParaRPr sz="2180">
              <a:latin typeface="Tahoma"/>
              <a:cs typeface="Tahoma"/>
            </a:endParaRPr>
          </a:p>
          <a:p>
            <a:pPr>
              <a:spcBef>
                <a:spcPts val="20"/>
              </a:spcBef>
            </a:pPr>
            <a:endParaRPr sz="1982">
              <a:latin typeface="Tahoma"/>
              <a:cs typeface="Tahoma"/>
            </a:endParaRPr>
          </a:p>
          <a:p>
            <a:pPr marR="138422" algn="ctr">
              <a:tabLst>
                <a:tab pos="366188" algn="l"/>
              </a:tabLst>
            </a:pPr>
            <a:r>
              <a:rPr sz="1684" spc="-69" dirty="0">
                <a:solidFill>
                  <a:srgbClr val="0000FF"/>
                </a:solidFill>
                <a:latin typeface="Calibri"/>
                <a:cs typeface="Calibri"/>
              </a:rPr>
              <a:t>5	5</a:t>
            </a:r>
            <a:endParaRPr sz="1684">
              <a:latin typeface="Calibri"/>
              <a:cs typeface="Calibri"/>
            </a:endParaRPr>
          </a:p>
          <a:p>
            <a:pPr marL="6348525" algn="ctr">
              <a:spcBef>
                <a:spcPts val="119"/>
              </a:spcBef>
              <a:tabLst>
                <a:tab pos="6715971" algn="l"/>
              </a:tabLst>
            </a:pPr>
            <a:r>
              <a:rPr sz="1684" spc="-69" dirty="0">
                <a:solidFill>
                  <a:srgbClr val="0000FF"/>
                </a:solidFill>
                <a:latin typeface="Calibri"/>
                <a:cs typeface="Calibri"/>
              </a:rPr>
              <a:t>4	4</a:t>
            </a:r>
            <a:endParaRPr sz="1684">
              <a:latin typeface="Calibri"/>
              <a:cs typeface="Calibri"/>
            </a:endParaRPr>
          </a:p>
        </p:txBody>
      </p:sp>
      <p:pic>
        <p:nvPicPr>
          <p:cNvPr id="6" name="object 6"/>
          <p:cNvPicPr/>
          <p:nvPr/>
        </p:nvPicPr>
        <p:blipFill>
          <a:blip r:embed="rId4" cstate="print"/>
          <a:stretch>
            <a:fillRect/>
          </a:stretch>
        </p:blipFill>
        <p:spPr>
          <a:xfrm>
            <a:off x="2948834" y="4424021"/>
            <a:ext cx="2325119" cy="1350396"/>
          </a:xfrm>
          <a:prstGeom prst="rect">
            <a:avLst/>
          </a:prstGeom>
        </p:spPr>
      </p:pic>
      <p:pic>
        <p:nvPicPr>
          <p:cNvPr id="7" name="object 7"/>
          <p:cNvPicPr/>
          <p:nvPr/>
        </p:nvPicPr>
        <p:blipFill>
          <a:blip r:embed="rId5" cstate="print"/>
          <a:stretch>
            <a:fillRect/>
          </a:stretch>
        </p:blipFill>
        <p:spPr>
          <a:xfrm>
            <a:off x="5798160" y="4550940"/>
            <a:ext cx="1736224" cy="1116869"/>
          </a:xfrm>
          <a:prstGeom prst="rect">
            <a:avLst/>
          </a:prstGeom>
        </p:spPr>
      </p:pic>
      <p:pic>
        <p:nvPicPr>
          <p:cNvPr id="8" name="object 8"/>
          <p:cNvPicPr/>
          <p:nvPr/>
        </p:nvPicPr>
        <p:blipFill>
          <a:blip r:embed="rId6" cstate="print"/>
          <a:stretch>
            <a:fillRect/>
          </a:stretch>
        </p:blipFill>
        <p:spPr>
          <a:xfrm>
            <a:off x="8459649" y="4759084"/>
            <a:ext cx="680275" cy="659967"/>
          </a:xfrm>
          <a:prstGeom prst="rect">
            <a:avLst/>
          </a:prstGeom>
        </p:spPr>
      </p:pic>
      <p:sp>
        <p:nvSpPr>
          <p:cNvPr id="9" name="object 9"/>
          <p:cNvSpPr txBox="1"/>
          <p:nvPr/>
        </p:nvSpPr>
        <p:spPr>
          <a:xfrm>
            <a:off x="4898738" y="4196178"/>
            <a:ext cx="518440" cy="288396"/>
          </a:xfrm>
          <a:prstGeom prst="rect">
            <a:avLst/>
          </a:prstGeom>
        </p:spPr>
        <p:txBody>
          <a:bodyPr vert="horz" wrap="square" lIns="0" tIns="28940" rIns="0" bIns="0" rtlCol="0">
            <a:spAutoFit/>
          </a:bodyPr>
          <a:lstStyle/>
          <a:p>
            <a:pPr marL="25168">
              <a:spcBef>
                <a:spcPts val="226"/>
              </a:spcBef>
              <a:tabLst>
                <a:tab pos="391356" algn="l"/>
              </a:tabLst>
            </a:pPr>
            <a:r>
              <a:rPr sz="1684" spc="-69" dirty="0">
                <a:solidFill>
                  <a:srgbClr val="0000FF"/>
                </a:solidFill>
                <a:latin typeface="Calibri"/>
                <a:cs typeface="Calibri"/>
              </a:rPr>
              <a:t>3	3</a:t>
            </a:r>
            <a:endParaRPr sz="1684">
              <a:latin typeface="Calibri"/>
              <a:cs typeface="Calibri"/>
            </a:endParaRPr>
          </a:p>
        </p:txBody>
      </p:sp>
      <p:sp>
        <p:nvSpPr>
          <p:cNvPr id="10" name="object 10"/>
          <p:cNvSpPr txBox="1"/>
          <p:nvPr/>
        </p:nvSpPr>
        <p:spPr>
          <a:xfrm>
            <a:off x="7189628" y="4211406"/>
            <a:ext cx="518440" cy="288396"/>
          </a:xfrm>
          <a:prstGeom prst="rect">
            <a:avLst/>
          </a:prstGeom>
        </p:spPr>
        <p:txBody>
          <a:bodyPr vert="horz" wrap="square" lIns="0" tIns="28940" rIns="0" bIns="0" rtlCol="0">
            <a:spAutoFit/>
          </a:bodyPr>
          <a:lstStyle/>
          <a:p>
            <a:pPr marL="25168">
              <a:spcBef>
                <a:spcPts val="226"/>
              </a:spcBef>
              <a:tabLst>
                <a:tab pos="391356" algn="l"/>
              </a:tabLst>
            </a:pPr>
            <a:r>
              <a:rPr sz="1684" spc="-69" dirty="0">
                <a:solidFill>
                  <a:srgbClr val="0000FF"/>
                </a:solidFill>
                <a:latin typeface="Calibri"/>
                <a:cs typeface="Calibri"/>
              </a:rPr>
              <a:t>2	2</a:t>
            </a:r>
            <a:endParaRPr sz="1684">
              <a:latin typeface="Calibri"/>
              <a:cs typeface="Calibri"/>
            </a:endParaRPr>
          </a:p>
        </p:txBody>
      </p:sp>
      <p:sp>
        <p:nvSpPr>
          <p:cNvPr id="11" name="object 11"/>
          <p:cNvSpPr txBox="1"/>
          <p:nvPr/>
        </p:nvSpPr>
        <p:spPr>
          <a:xfrm>
            <a:off x="8764706" y="4321559"/>
            <a:ext cx="518440" cy="288396"/>
          </a:xfrm>
          <a:prstGeom prst="rect">
            <a:avLst/>
          </a:prstGeom>
        </p:spPr>
        <p:txBody>
          <a:bodyPr vert="horz" wrap="square" lIns="0" tIns="28940" rIns="0" bIns="0" rtlCol="0">
            <a:spAutoFit/>
          </a:bodyPr>
          <a:lstStyle/>
          <a:p>
            <a:pPr marL="25168">
              <a:spcBef>
                <a:spcPts val="226"/>
              </a:spcBef>
              <a:tabLst>
                <a:tab pos="391356" algn="l"/>
              </a:tabLst>
            </a:pPr>
            <a:r>
              <a:rPr sz="1684" spc="-69" dirty="0">
                <a:solidFill>
                  <a:srgbClr val="0000FF"/>
                </a:solidFill>
                <a:latin typeface="Calibri"/>
                <a:cs typeface="Calibri"/>
              </a:rPr>
              <a:t>1	1</a:t>
            </a:r>
            <a:endParaRPr sz="1684">
              <a:latin typeface="Calibri"/>
              <a:cs typeface="Calibri"/>
            </a:endParaRPr>
          </a:p>
        </p:txBody>
      </p:sp>
      <p:sp>
        <p:nvSpPr>
          <p:cNvPr id="16" name="object 16"/>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5888" y="34193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47" dirty="0"/>
              <a:t> </a:t>
            </a:r>
            <a:r>
              <a:rPr spc="-69" dirty="0"/>
              <a:t>Counting	</a:t>
            </a:r>
          </a:p>
        </p:txBody>
      </p:sp>
      <p:sp>
        <p:nvSpPr>
          <p:cNvPr id="3" name="object 3"/>
          <p:cNvSpPr txBox="1"/>
          <p:nvPr/>
        </p:nvSpPr>
        <p:spPr>
          <a:xfrm>
            <a:off x="1788396" y="941696"/>
            <a:ext cx="6220017" cy="358348"/>
          </a:xfrm>
          <a:prstGeom prst="rect">
            <a:avLst/>
          </a:prstGeom>
        </p:spPr>
        <p:txBody>
          <a:bodyPr vert="horz" wrap="square" lIns="0" tIns="22650" rIns="0" bIns="0" rtlCol="0">
            <a:spAutoFit/>
          </a:bodyPr>
          <a:lstStyle/>
          <a:p>
            <a:pPr marL="25168">
              <a:spcBef>
                <a:spcPts val="178"/>
              </a:spcBef>
            </a:pPr>
            <a:r>
              <a:rPr sz="2180" spc="-89" dirty="0">
                <a:solidFill>
                  <a:srgbClr val="FF0000"/>
                </a:solidFill>
                <a:latin typeface="Tahoma"/>
                <a:cs typeface="Tahoma"/>
              </a:rPr>
              <a:t>How</a:t>
            </a:r>
            <a:r>
              <a:rPr sz="2180" spc="40" dirty="0">
                <a:solidFill>
                  <a:srgbClr val="FF0000"/>
                </a:solidFill>
                <a:latin typeface="Tahoma"/>
                <a:cs typeface="Tahoma"/>
              </a:rPr>
              <a:t> </a:t>
            </a:r>
            <a:r>
              <a:rPr sz="2180" spc="-109" dirty="0">
                <a:solidFill>
                  <a:srgbClr val="FF0000"/>
                </a:solidFill>
                <a:latin typeface="Tahoma"/>
                <a:cs typeface="Tahoma"/>
              </a:rPr>
              <a:t>many</a:t>
            </a:r>
            <a:r>
              <a:rPr sz="2180" spc="50" dirty="0">
                <a:solidFill>
                  <a:srgbClr val="FF0000"/>
                </a:solidFill>
                <a:latin typeface="Tahoma"/>
                <a:cs typeface="Tahoma"/>
              </a:rPr>
              <a:t> </a:t>
            </a:r>
            <a:r>
              <a:rPr sz="2180" spc="-109" dirty="0">
                <a:solidFill>
                  <a:srgbClr val="FF0000"/>
                </a:solidFill>
                <a:latin typeface="Tahoma"/>
                <a:cs typeface="Tahoma"/>
              </a:rPr>
              <a:t>watermelons</a:t>
            </a:r>
            <a:r>
              <a:rPr sz="2180" spc="40" dirty="0">
                <a:solidFill>
                  <a:srgbClr val="FF0000"/>
                </a:solidFill>
                <a:latin typeface="Tahoma"/>
                <a:cs typeface="Tahoma"/>
              </a:rPr>
              <a:t> </a:t>
            </a:r>
            <a:r>
              <a:rPr sz="2180" spc="-50" dirty="0">
                <a:solidFill>
                  <a:srgbClr val="FF0000"/>
                </a:solidFill>
                <a:latin typeface="Tahoma"/>
                <a:cs typeface="Tahoma"/>
              </a:rPr>
              <a:t>in</a:t>
            </a:r>
            <a:r>
              <a:rPr sz="2180" spc="50" dirty="0">
                <a:solidFill>
                  <a:srgbClr val="FF0000"/>
                </a:solidFill>
                <a:latin typeface="Tahoma"/>
                <a:cs typeface="Tahoma"/>
              </a:rPr>
              <a:t> </a:t>
            </a:r>
            <a:r>
              <a:rPr sz="2180" spc="-50" dirty="0">
                <a:solidFill>
                  <a:srgbClr val="FF0000"/>
                </a:solidFill>
                <a:latin typeface="Tahoma"/>
                <a:cs typeface="Tahoma"/>
              </a:rPr>
              <a:t>this</a:t>
            </a:r>
            <a:r>
              <a:rPr sz="2180" spc="30" dirty="0">
                <a:solidFill>
                  <a:srgbClr val="FF0000"/>
                </a:solidFill>
                <a:latin typeface="Tahoma"/>
                <a:cs typeface="Tahoma"/>
              </a:rPr>
              <a:t> </a:t>
            </a:r>
            <a:r>
              <a:rPr sz="2180" spc="-129" dirty="0">
                <a:solidFill>
                  <a:srgbClr val="FF0000"/>
                </a:solidFill>
                <a:latin typeface="Tahoma"/>
                <a:cs typeface="Tahoma"/>
              </a:rPr>
              <a:t>square</a:t>
            </a:r>
            <a:r>
              <a:rPr sz="2180" spc="50" dirty="0">
                <a:solidFill>
                  <a:srgbClr val="FF0000"/>
                </a:solidFill>
                <a:latin typeface="Tahoma"/>
                <a:cs typeface="Tahoma"/>
              </a:rPr>
              <a:t> </a:t>
            </a:r>
            <a:r>
              <a:rPr sz="2180" spc="-139" dirty="0">
                <a:solidFill>
                  <a:srgbClr val="FF0000"/>
                </a:solidFill>
                <a:latin typeface="Tahoma"/>
                <a:cs typeface="Tahoma"/>
              </a:rPr>
              <a:t>base</a:t>
            </a:r>
            <a:r>
              <a:rPr sz="2180" spc="40" dirty="0">
                <a:solidFill>
                  <a:srgbClr val="FF0000"/>
                </a:solidFill>
                <a:latin typeface="Tahoma"/>
                <a:cs typeface="Tahoma"/>
              </a:rPr>
              <a:t> </a:t>
            </a:r>
            <a:r>
              <a:rPr sz="2180" spc="-89" dirty="0">
                <a:solidFill>
                  <a:srgbClr val="FF0000"/>
                </a:solidFill>
                <a:latin typeface="Tahoma"/>
                <a:cs typeface="Tahoma"/>
              </a:rPr>
              <a:t>pyramid</a:t>
            </a:r>
            <a:r>
              <a:rPr sz="2180" spc="40" dirty="0">
                <a:solidFill>
                  <a:srgbClr val="FF0000"/>
                </a:solidFill>
                <a:latin typeface="Tahoma"/>
                <a:cs typeface="Tahoma"/>
              </a:rPr>
              <a:t> </a:t>
            </a:r>
            <a:r>
              <a:rPr sz="2180" spc="-20" dirty="0">
                <a:solidFill>
                  <a:srgbClr val="FF0000"/>
                </a:solidFill>
                <a:latin typeface="Tahoma"/>
                <a:cs typeface="Tahoma"/>
              </a:rPr>
              <a:t>?</a:t>
            </a:r>
            <a:endParaRPr sz="2180">
              <a:latin typeface="Tahoma"/>
              <a:cs typeface="Tahoma"/>
            </a:endParaRPr>
          </a:p>
        </p:txBody>
      </p:sp>
      <p:pic>
        <p:nvPicPr>
          <p:cNvPr id="4" name="object 4"/>
          <p:cNvPicPr/>
          <p:nvPr/>
        </p:nvPicPr>
        <p:blipFill>
          <a:blip r:embed="rId2" cstate="print"/>
          <a:stretch>
            <a:fillRect/>
          </a:stretch>
        </p:blipFill>
        <p:spPr>
          <a:xfrm>
            <a:off x="3112113" y="1998520"/>
            <a:ext cx="5630529" cy="3912495"/>
          </a:xfrm>
          <a:prstGeom prst="rect">
            <a:avLst/>
          </a:prstGeom>
        </p:spPr>
      </p:pic>
      <p:sp>
        <p:nvSpPr>
          <p:cNvPr id="5" name="object 5"/>
          <p:cNvSpPr txBox="1"/>
          <p:nvPr/>
        </p:nvSpPr>
        <p:spPr>
          <a:xfrm>
            <a:off x="8770364" y="1768213"/>
            <a:ext cx="380021" cy="3452896"/>
          </a:xfrm>
          <a:prstGeom prst="rect">
            <a:avLst/>
          </a:prstGeom>
        </p:spPr>
        <p:txBody>
          <a:bodyPr vert="horz" wrap="square" lIns="0" tIns="31459" rIns="0" bIns="0" rtlCol="0">
            <a:spAutoFit/>
          </a:bodyPr>
          <a:lstStyle/>
          <a:p>
            <a:pPr marL="75503">
              <a:lnSpc>
                <a:spcPts val="2418"/>
              </a:lnSpc>
              <a:spcBef>
                <a:spcPts val="248"/>
              </a:spcBef>
            </a:pPr>
            <a:r>
              <a:rPr sz="3121" spc="-133" baseline="-21164" dirty="0">
                <a:solidFill>
                  <a:srgbClr val="0000FF"/>
                </a:solidFill>
                <a:latin typeface="Calibri"/>
                <a:cs typeface="Calibri"/>
              </a:rPr>
              <a:t>1</a:t>
            </a:r>
            <a:r>
              <a:rPr sz="1784" spc="-89" dirty="0">
                <a:solidFill>
                  <a:srgbClr val="0000FF"/>
                </a:solidFill>
                <a:latin typeface="Calibri"/>
                <a:cs typeface="Calibri"/>
              </a:rPr>
              <a:t>2</a:t>
            </a:r>
            <a:endParaRPr sz="1784">
              <a:latin typeface="Calibri"/>
              <a:cs typeface="Calibri"/>
            </a:endParaRPr>
          </a:p>
          <a:p>
            <a:pPr marL="75503" marR="60402" indent="10067">
              <a:lnSpc>
                <a:spcPct val="66200"/>
              </a:lnSpc>
              <a:spcBef>
                <a:spcPts val="773"/>
              </a:spcBef>
            </a:pPr>
            <a:r>
              <a:rPr sz="2081" spc="317" dirty="0">
                <a:solidFill>
                  <a:srgbClr val="0000FF"/>
                </a:solidFill>
                <a:latin typeface="Calibri"/>
                <a:cs typeface="Calibri"/>
              </a:rPr>
              <a:t>+  </a:t>
            </a:r>
            <a:r>
              <a:rPr sz="3121" spc="-119" baseline="-21164" dirty="0">
                <a:solidFill>
                  <a:srgbClr val="0000FF"/>
                </a:solidFill>
                <a:latin typeface="Calibri"/>
                <a:cs typeface="Calibri"/>
              </a:rPr>
              <a:t>2</a:t>
            </a:r>
            <a:r>
              <a:rPr sz="1784" spc="-89" dirty="0">
                <a:solidFill>
                  <a:srgbClr val="0000FF"/>
                </a:solidFill>
                <a:latin typeface="Calibri"/>
                <a:cs typeface="Calibri"/>
              </a:rPr>
              <a:t>2</a:t>
            </a:r>
            <a:endParaRPr sz="1784">
              <a:latin typeface="Calibri"/>
              <a:cs typeface="Calibri"/>
            </a:endParaRPr>
          </a:p>
          <a:p>
            <a:pPr marL="75503" marR="60402" indent="10067">
              <a:lnSpc>
                <a:spcPct val="66200"/>
              </a:lnSpc>
              <a:spcBef>
                <a:spcPts val="694"/>
              </a:spcBef>
            </a:pPr>
            <a:r>
              <a:rPr sz="2081" spc="317" dirty="0">
                <a:solidFill>
                  <a:srgbClr val="0000FF"/>
                </a:solidFill>
                <a:latin typeface="Calibri"/>
                <a:cs typeface="Calibri"/>
              </a:rPr>
              <a:t>+  </a:t>
            </a:r>
            <a:r>
              <a:rPr sz="3121" spc="-119" baseline="-21164" dirty="0">
                <a:solidFill>
                  <a:srgbClr val="0000FF"/>
                </a:solidFill>
                <a:latin typeface="Calibri"/>
                <a:cs typeface="Calibri"/>
              </a:rPr>
              <a:t>3</a:t>
            </a:r>
            <a:r>
              <a:rPr sz="1784" spc="-89" dirty="0">
                <a:solidFill>
                  <a:srgbClr val="0000FF"/>
                </a:solidFill>
                <a:latin typeface="Calibri"/>
                <a:cs typeface="Calibri"/>
              </a:rPr>
              <a:t>2</a:t>
            </a:r>
            <a:endParaRPr sz="1784">
              <a:latin typeface="Calibri"/>
              <a:cs typeface="Calibri"/>
            </a:endParaRPr>
          </a:p>
          <a:p>
            <a:pPr marL="75503" marR="60402" indent="10067">
              <a:lnSpc>
                <a:spcPct val="66200"/>
              </a:lnSpc>
              <a:spcBef>
                <a:spcPts val="694"/>
              </a:spcBef>
            </a:pPr>
            <a:r>
              <a:rPr sz="2081" spc="317" dirty="0">
                <a:solidFill>
                  <a:srgbClr val="0000FF"/>
                </a:solidFill>
                <a:latin typeface="Calibri"/>
                <a:cs typeface="Calibri"/>
              </a:rPr>
              <a:t>+  </a:t>
            </a:r>
            <a:r>
              <a:rPr sz="3121" spc="-119" baseline="-21164" dirty="0">
                <a:solidFill>
                  <a:srgbClr val="0000FF"/>
                </a:solidFill>
                <a:latin typeface="Calibri"/>
                <a:cs typeface="Calibri"/>
              </a:rPr>
              <a:t>4</a:t>
            </a:r>
            <a:r>
              <a:rPr sz="1784" spc="-89" dirty="0">
                <a:solidFill>
                  <a:srgbClr val="0000FF"/>
                </a:solidFill>
                <a:latin typeface="Calibri"/>
                <a:cs typeface="Calibri"/>
              </a:rPr>
              <a:t>2</a:t>
            </a:r>
            <a:endParaRPr sz="1784">
              <a:latin typeface="Calibri"/>
              <a:cs typeface="Calibri"/>
            </a:endParaRPr>
          </a:p>
          <a:p>
            <a:pPr marL="75503" marR="60402" indent="10067">
              <a:lnSpc>
                <a:spcPct val="66200"/>
              </a:lnSpc>
              <a:spcBef>
                <a:spcPts val="694"/>
              </a:spcBef>
            </a:pPr>
            <a:r>
              <a:rPr sz="2081" spc="317" dirty="0">
                <a:solidFill>
                  <a:srgbClr val="0000FF"/>
                </a:solidFill>
                <a:latin typeface="Calibri"/>
                <a:cs typeface="Calibri"/>
              </a:rPr>
              <a:t>+  </a:t>
            </a:r>
            <a:r>
              <a:rPr sz="3121" spc="-119" baseline="-21164" dirty="0">
                <a:solidFill>
                  <a:srgbClr val="0000FF"/>
                </a:solidFill>
                <a:latin typeface="Calibri"/>
                <a:cs typeface="Calibri"/>
              </a:rPr>
              <a:t>5</a:t>
            </a:r>
            <a:r>
              <a:rPr sz="1784" spc="-89" dirty="0">
                <a:solidFill>
                  <a:srgbClr val="0000FF"/>
                </a:solidFill>
                <a:latin typeface="Calibri"/>
                <a:cs typeface="Calibri"/>
              </a:rPr>
              <a:t>2</a:t>
            </a:r>
            <a:endParaRPr sz="1784">
              <a:latin typeface="Calibri"/>
              <a:cs typeface="Calibri"/>
            </a:endParaRPr>
          </a:p>
          <a:p>
            <a:pPr marL="75503" marR="60402" indent="10067">
              <a:lnSpc>
                <a:spcPct val="66200"/>
              </a:lnSpc>
              <a:spcBef>
                <a:spcPts val="694"/>
              </a:spcBef>
            </a:pPr>
            <a:r>
              <a:rPr sz="2081" spc="317" dirty="0">
                <a:solidFill>
                  <a:srgbClr val="0000FF"/>
                </a:solidFill>
                <a:latin typeface="Calibri"/>
                <a:cs typeface="Calibri"/>
              </a:rPr>
              <a:t>+  </a:t>
            </a:r>
            <a:r>
              <a:rPr sz="3121" spc="-119" baseline="-21164" dirty="0">
                <a:solidFill>
                  <a:srgbClr val="0000FF"/>
                </a:solidFill>
                <a:latin typeface="Calibri"/>
                <a:cs typeface="Calibri"/>
              </a:rPr>
              <a:t>6</a:t>
            </a:r>
            <a:r>
              <a:rPr sz="1784" spc="-89" dirty="0">
                <a:solidFill>
                  <a:srgbClr val="0000FF"/>
                </a:solidFill>
                <a:latin typeface="Calibri"/>
                <a:cs typeface="Calibri"/>
              </a:rPr>
              <a:t>2</a:t>
            </a:r>
            <a:endParaRPr sz="1784">
              <a:latin typeface="Calibri"/>
              <a:cs typeface="Calibri"/>
            </a:endParaRPr>
          </a:p>
          <a:p>
            <a:pPr marL="85570">
              <a:lnSpc>
                <a:spcPts val="2041"/>
              </a:lnSpc>
            </a:pPr>
            <a:r>
              <a:rPr sz="2081" spc="495" dirty="0">
                <a:solidFill>
                  <a:srgbClr val="0000FF"/>
                </a:solidFill>
                <a:latin typeface="Calibri"/>
                <a:cs typeface="Calibri"/>
              </a:rPr>
              <a:t>+</a:t>
            </a:r>
            <a:endParaRPr sz="2081">
              <a:latin typeface="Calibri"/>
              <a:cs typeface="Calibri"/>
            </a:endParaRPr>
          </a:p>
          <a:p>
            <a:pPr marL="129613">
              <a:lnSpc>
                <a:spcPts val="2190"/>
              </a:lnSpc>
            </a:pPr>
            <a:r>
              <a:rPr sz="2081" b="1" spc="-50" dirty="0">
                <a:solidFill>
                  <a:srgbClr val="0000FF"/>
                </a:solidFill>
                <a:latin typeface="Arial"/>
                <a:cs typeface="Arial"/>
              </a:rPr>
              <a:t>.</a:t>
            </a:r>
            <a:endParaRPr sz="2081">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0368" y="37191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47" dirty="0"/>
              <a:t> </a:t>
            </a:r>
            <a:r>
              <a:rPr spc="-69" dirty="0"/>
              <a:t>Counting	</a:t>
            </a:r>
          </a:p>
        </p:txBody>
      </p:sp>
      <p:sp>
        <p:nvSpPr>
          <p:cNvPr id="31" name="object 31"/>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3" name="object 3"/>
          <p:cNvSpPr/>
          <p:nvPr/>
        </p:nvSpPr>
        <p:spPr>
          <a:xfrm>
            <a:off x="2103359" y="231619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4" name="object 4"/>
          <p:cNvSpPr/>
          <p:nvPr/>
        </p:nvSpPr>
        <p:spPr>
          <a:xfrm>
            <a:off x="2103359" y="2732402"/>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5" name="object 5"/>
          <p:cNvSpPr txBox="1"/>
          <p:nvPr/>
        </p:nvSpPr>
        <p:spPr>
          <a:xfrm>
            <a:off x="1788395" y="930358"/>
            <a:ext cx="8157872" cy="2729114"/>
          </a:xfrm>
          <a:prstGeom prst="rect">
            <a:avLst/>
          </a:prstGeom>
        </p:spPr>
        <p:txBody>
          <a:bodyPr vert="horz" wrap="square" lIns="0" tIns="23909" rIns="0" bIns="0" rtlCol="0">
            <a:spAutoFit/>
          </a:bodyPr>
          <a:lstStyle/>
          <a:p>
            <a:pPr marL="25168">
              <a:spcBef>
                <a:spcPts val="188"/>
              </a:spcBef>
            </a:pPr>
            <a:r>
              <a:rPr sz="2378" spc="-129" dirty="0">
                <a:solidFill>
                  <a:srgbClr val="FF0000"/>
                </a:solidFill>
                <a:latin typeface="Tahoma"/>
                <a:cs typeface="Tahoma"/>
              </a:rPr>
              <a:t>How</a:t>
            </a:r>
            <a:r>
              <a:rPr sz="2378" spc="30" dirty="0">
                <a:solidFill>
                  <a:srgbClr val="FF0000"/>
                </a:solidFill>
                <a:latin typeface="Tahoma"/>
                <a:cs typeface="Tahoma"/>
              </a:rPr>
              <a:t> </a:t>
            </a:r>
            <a:r>
              <a:rPr sz="2378" spc="-149" dirty="0">
                <a:solidFill>
                  <a:srgbClr val="FF0000"/>
                </a:solidFill>
                <a:latin typeface="Tahoma"/>
                <a:cs typeface="Tahoma"/>
              </a:rPr>
              <a:t>many</a:t>
            </a:r>
            <a:r>
              <a:rPr sz="2378" spc="40" dirty="0">
                <a:solidFill>
                  <a:srgbClr val="FF0000"/>
                </a:solidFill>
                <a:latin typeface="Tahoma"/>
                <a:cs typeface="Tahoma"/>
              </a:rPr>
              <a:t> </a:t>
            </a:r>
            <a:r>
              <a:rPr sz="2378" spc="-168" dirty="0">
                <a:solidFill>
                  <a:srgbClr val="FF0000"/>
                </a:solidFill>
                <a:latin typeface="Tahoma"/>
                <a:cs typeface="Tahoma"/>
              </a:rPr>
              <a:t>passwords</a:t>
            </a:r>
            <a:r>
              <a:rPr sz="2378" spc="40" dirty="0">
                <a:solidFill>
                  <a:srgbClr val="FF0000"/>
                </a:solidFill>
                <a:latin typeface="Tahoma"/>
                <a:cs typeface="Tahoma"/>
              </a:rPr>
              <a:t> </a:t>
            </a:r>
            <a:r>
              <a:rPr sz="2378" spc="-119" dirty="0">
                <a:solidFill>
                  <a:srgbClr val="FF0000"/>
                </a:solidFill>
                <a:latin typeface="Tahoma"/>
                <a:cs typeface="Tahoma"/>
              </a:rPr>
              <a:t>can</a:t>
            </a:r>
            <a:r>
              <a:rPr sz="2378" spc="40" dirty="0">
                <a:solidFill>
                  <a:srgbClr val="FF0000"/>
                </a:solidFill>
                <a:latin typeface="Tahoma"/>
                <a:cs typeface="Tahoma"/>
              </a:rPr>
              <a:t> </a:t>
            </a:r>
            <a:r>
              <a:rPr sz="2378" spc="-149" dirty="0">
                <a:solidFill>
                  <a:srgbClr val="FF0000"/>
                </a:solidFill>
                <a:latin typeface="Tahoma"/>
                <a:cs typeface="Tahoma"/>
              </a:rPr>
              <a:t>be</a:t>
            </a:r>
            <a:r>
              <a:rPr sz="2378" spc="30" dirty="0">
                <a:solidFill>
                  <a:srgbClr val="FF0000"/>
                </a:solidFill>
                <a:latin typeface="Tahoma"/>
                <a:cs typeface="Tahoma"/>
              </a:rPr>
              <a:t> </a:t>
            </a:r>
            <a:r>
              <a:rPr sz="2378" spc="-168" dirty="0">
                <a:solidFill>
                  <a:srgbClr val="FF0000"/>
                </a:solidFill>
                <a:latin typeface="Tahoma"/>
                <a:cs typeface="Tahoma"/>
              </a:rPr>
              <a:t>made</a:t>
            </a:r>
            <a:r>
              <a:rPr sz="2378" spc="40" dirty="0">
                <a:solidFill>
                  <a:srgbClr val="FF0000"/>
                </a:solidFill>
                <a:latin typeface="Tahoma"/>
                <a:cs typeface="Tahoma"/>
              </a:rPr>
              <a:t> </a:t>
            </a:r>
            <a:r>
              <a:rPr sz="2378" spc="-109" dirty="0">
                <a:solidFill>
                  <a:srgbClr val="FF0000"/>
                </a:solidFill>
                <a:latin typeface="Tahoma"/>
                <a:cs typeface="Tahoma"/>
              </a:rPr>
              <a:t>from</a:t>
            </a:r>
            <a:r>
              <a:rPr sz="2378" spc="40" dirty="0">
                <a:solidFill>
                  <a:srgbClr val="FF0000"/>
                </a:solidFill>
                <a:latin typeface="Tahoma"/>
                <a:cs typeface="Tahoma"/>
              </a:rPr>
              <a:t> </a:t>
            </a:r>
            <a:r>
              <a:rPr sz="2378" spc="-109" dirty="0">
                <a:solidFill>
                  <a:srgbClr val="FF0000"/>
                </a:solidFill>
                <a:latin typeface="Tahoma"/>
                <a:cs typeface="Tahoma"/>
              </a:rPr>
              <a:t>the</a:t>
            </a:r>
            <a:r>
              <a:rPr sz="2378" spc="40" dirty="0">
                <a:solidFill>
                  <a:srgbClr val="FF0000"/>
                </a:solidFill>
                <a:latin typeface="Tahoma"/>
                <a:cs typeface="Tahoma"/>
              </a:rPr>
              <a:t> </a:t>
            </a:r>
            <a:r>
              <a:rPr sz="2378" spc="-119" dirty="0">
                <a:solidFill>
                  <a:srgbClr val="FF0000"/>
                </a:solidFill>
                <a:latin typeface="Tahoma"/>
                <a:cs typeface="Tahoma"/>
              </a:rPr>
              <a:t>characters</a:t>
            </a:r>
            <a:endParaRPr sz="2378" dirty="0">
              <a:latin typeface="Tahoma"/>
              <a:cs typeface="Tahoma"/>
            </a:endParaRPr>
          </a:p>
          <a:p>
            <a:pPr>
              <a:spcBef>
                <a:spcPts val="50"/>
              </a:spcBef>
            </a:pPr>
            <a:endParaRPr sz="1784" dirty="0">
              <a:latin typeface="Tahoma"/>
              <a:cs typeface="Tahoma"/>
            </a:endParaRPr>
          </a:p>
          <a:p>
            <a:pPr marL="453017" algn="ctr"/>
            <a:r>
              <a:rPr sz="2180" i="1" spc="208" dirty="0">
                <a:solidFill>
                  <a:srgbClr val="0000FF"/>
                </a:solidFill>
                <a:latin typeface="Times New Roman"/>
                <a:cs typeface="Times New Roman"/>
              </a:rPr>
              <a:t>{</a:t>
            </a:r>
            <a:r>
              <a:rPr sz="2180" i="1" spc="-159" dirty="0">
                <a:solidFill>
                  <a:srgbClr val="0000FF"/>
                </a:solidFill>
                <a:latin typeface="Arial"/>
                <a:cs typeface="Arial"/>
              </a:rPr>
              <a:t>a</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40" dirty="0">
                <a:solidFill>
                  <a:srgbClr val="0000FF"/>
                </a:solidFill>
                <a:latin typeface="Arial"/>
                <a:cs typeface="Arial"/>
              </a:rPr>
              <a:t>b</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50" dirty="0">
                <a:solidFill>
                  <a:srgbClr val="0000FF"/>
                </a:solidFill>
                <a:latin typeface="Arial"/>
                <a:cs typeface="Arial"/>
              </a:rPr>
              <a:t>f</a:t>
            </a:r>
            <a:r>
              <a:rPr sz="2180" i="1" spc="-139" dirty="0">
                <a:solidFill>
                  <a:srgbClr val="0000FF"/>
                </a:solidFill>
                <a:latin typeface="Arial"/>
                <a:cs typeface="Arial"/>
              </a:rPr>
              <a:t> </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139" dirty="0">
                <a:solidFill>
                  <a:srgbClr val="0000FF"/>
                </a:solidFill>
                <a:latin typeface="Arial"/>
                <a:cs typeface="Arial"/>
              </a:rPr>
              <a:t>g</a:t>
            </a:r>
            <a:r>
              <a:rPr sz="2180" i="1" spc="-377" dirty="0">
                <a:solidFill>
                  <a:srgbClr val="0000FF"/>
                </a:solidFill>
                <a:latin typeface="Arial"/>
                <a:cs typeface="Arial"/>
              </a:rPr>
              <a:t> </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59" dirty="0">
                <a:solidFill>
                  <a:srgbClr val="0000FF"/>
                </a:solidFill>
                <a:latin typeface="Arial"/>
                <a:cs typeface="Arial"/>
              </a:rPr>
              <a:t>h</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30" dirty="0">
                <a:solidFill>
                  <a:srgbClr val="0000FF"/>
                </a:solidFill>
                <a:latin typeface="Arial"/>
                <a:cs typeface="Arial"/>
              </a:rPr>
              <a:t>l</a:t>
            </a:r>
            <a:r>
              <a:rPr sz="2180" i="1" spc="-404" dirty="0">
                <a:solidFill>
                  <a:srgbClr val="0000FF"/>
                </a:solidFill>
                <a:latin typeface="Arial"/>
                <a:cs typeface="Arial"/>
              </a:rPr>
              <a:t> </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79" dirty="0">
                <a:solidFill>
                  <a:srgbClr val="0000FF"/>
                </a:solidFill>
                <a:latin typeface="Arial"/>
                <a:cs typeface="Arial"/>
              </a:rPr>
              <a:t>m</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dirty="0">
                <a:solidFill>
                  <a:srgbClr val="0000FF"/>
                </a:solidFill>
                <a:latin typeface="Arial"/>
                <a:cs typeface="Arial"/>
              </a:rPr>
              <a:t>o</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317" dirty="0">
                <a:solidFill>
                  <a:srgbClr val="0000FF"/>
                </a:solidFill>
                <a:latin typeface="Arial"/>
                <a:cs typeface="Arial"/>
              </a:rPr>
              <a:t>t</a:t>
            </a:r>
            <a:r>
              <a:rPr sz="2180" spc="-99" dirty="0">
                <a:solidFill>
                  <a:srgbClr val="0000FF"/>
                </a:solidFill>
                <a:latin typeface="Lucida Sans Unicode"/>
                <a:cs typeface="Lucida Sans Unicode"/>
              </a:rPr>
              <a:t>,</a:t>
            </a:r>
            <a:r>
              <a:rPr sz="2180" spc="-337" dirty="0">
                <a:solidFill>
                  <a:srgbClr val="0000FF"/>
                </a:solidFill>
                <a:latin typeface="Lucida Sans Unicode"/>
                <a:cs typeface="Lucida Sans Unicode"/>
              </a:rPr>
              <a:t> </a:t>
            </a:r>
            <a:r>
              <a:rPr sz="2180" i="1" spc="-10" dirty="0">
                <a:solidFill>
                  <a:srgbClr val="0000FF"/>
                </a:solidFill>
                <a:latin typeface="Arial"/>
                <a:cs typeface="Arial"/>
              </a:rPr>
              <a:t>u</a:t>
            </a:r>
            <a:r>
              <a:rPr sz="2180" i="1" spc="208" dirty="0">
                <a:solidFill>
                  <a:srgbClr val="0000FF"/>
                </a:solidFill>
                <a:latin typeface="Times New Roman"/>
                <a:cs typeface="Times New Roman"/>
              </a:rPr>
              <a:t>}</a:t>
            </a:r>
            <a:endParaRPr sz="2180" dirty="0">
              <a:latin typeface="Times New Roman"/>
              <a:cs typeface="Times New Roman"/>
            </a:endParaRPr>
          </a:p>
          <a:p>
            <a:pPr marL="573821">
              <a:spcBef>
                <a:spcPts val="1952"/>
              </a:spcBef>
            </a:pPr>
            <a:r>
              <a:rPr sz="2180" spc="-69" dirty="0">
                <a:latin typeface="Tahoma"/>
                <a:cs typeface="Tahoma"/>
              </a:rPr>
              <a:t>Length</a:t>
            </a:r>
            <a:r>
              <a:rPr sz="2180" spc="30" dirty="0">
                <a:latin typeface="Tahoma"/>
                <a:cs typeface="Tahoma"/>
              </a:rPr>
              <a:t> </a:t>
            </a:r>
            <a:r>
              <a:rPr sz="2180" spc="-69" dirty="0">
                <a:latin typeface="Tahoma"/>
                <a:cs typeface="Tahoma"/>
              </a:rPr>
              <a:t>of</a:t>
            </a:r>
            <a:r>
              <a:rPr sz="2180" spc="40" dirty="0">
                <a:latin typeface="Tahoma"/>
                <a:cs typeface="Tahoma"/>
              </a:rPr>
              <a:t> </a:t>
            </a:r>
            <a:r>
              <a:rPr sz="2180" spc="-129" dirty="0">
                <a:latin typeface="Tahoma"/>
                <a:cs typeface="Tahoma"/>
              </a:rPr>
              <a:t>password</a:t>
            </a:r>
            <a:r>
              <a:rPr sz="2180" spc="30" dirty="0">
                <a:latin typeface="Tahoma"/>
                <a:cs typeface="Tahoma"/>
              </a:rPr>
              <a:t> </a:t>
            </a:r>
            <a:r>
              <a:rPr sz="2180" spc="-69" dirty="0">
                <a:latin typeface="Tahoma"/>
                <a:cs typeface="Tahoma"/>
              </a:rPr>
              <a:t>is</a:t>
            </a:r>
            <a:r>
              <a:rPr sz="2180" spc="40" dirty="0">
                <a:latin typeface="Tahoma"/>
                <a:cs typeface="Tahoma"/>
              </a:rPr>
              <a:t> </a:t>
            </a:r>
            <a:r>
              <a:rPr sz="2180" spc="-109" dirty="0">
                <a:latin typeface="Tahoma"/>
                <a:cs typeface="Tahoma"/>
              </a:rPr>
              <a:t>10</a:t>
            </a:r>
            <a:r>
              <a:rPr sz="2180" spc="30" dirty="0">
                <a:latin typeface="Tahoma"/>
                <a:cs typeface="Tahoma"/>
              </a:rPr>
              <a:t> </a:t>
            </a:r>
            <a:r>
              <a:rPr sz="2180" spc="-50" dirty="0">
                <a:latin typeface="Tahoma"/>
                <a:cs typeface="Tahoma"/>
              </a:rPr>
              <a:t>but</a:t>
            </a:r>
            <a:r>
              <a:rPr sz="2180" spc="30" dirty="0">
                <a:latin typeface="Tahoma"/>
                <a:cs typeface="Tahoma"/>
              </a:rPr>
              <a:t> </a:t>
            </a:r>
            <a:r>
              <a:rPr sz="2180" spc="-109" dirty="0">
                <a:latin typeface="Tahoma"/>
                <a:cs typeface="Tahoma"/>
              </a:rPr>
              <a:t>no</a:t>
            </a:r>
            <a:r>
              <a:rPr sz="2180" spc="40" dirty="0">
                <a:latin typeface="Tahoma"/>
                <a:cs typeface="Tahoma"/>
              </a:rPr>
              <a:t> </a:t>
            </a:r>
            <a:r>
              <a:rPr sz="2180" spc="-59" dirty="0">
                <a:latin typeface="Tahoma"/>
                <a:cs typeface="Tahoma"/>
              </a:rPr>
              <a:t>repetition</a:t>
            </a:r>
            <a:endParaRPr sz="2180" dirty="0">
              <a:latin typeface="Tahoma"/>
              <a:cs typeface="Tahoma"/>
            </a:endParaRPr>
          </a:p>
          <a:p>
            <a:pPr marL="573821">
              <a:spcBef>
                <a:spcPts val="654"/>
              </a:spcBef>
            </a:pPr>
            <a:r>
              <a:rPr sz="2180" spc="-20" dirty="0">
                <a:latin typeface="Tahoma"/>
                <a:cs typeface="Tahoma"/>
              </a:rPr>
              <a:t>No</a:t>
            </a:r>
            <a:r>
              <a:rPr sz="2180" spc="30" dirty="0">
                <a:latin typeface="Tahoma"/>
                <a:cs typeface="Tahoma"/>
              </a:rPr>
              <a:t> </a:t>
            </a:r>
            <a:r>
              <a:rPr sz="2180" spc="-129" dirty="0">
                <a:latin typeface="Tahoma"/>
                <a:cs typeface="Tahoma"/>
              </a:rPr>
              <a:t>password</a:t>
            </a:r>
            <a:r>
              <a:rPr sz="2180" spc="40" dirty="0">
                <a:latin typeface="Tahoma"/>
                <a:cs typeface="Tahoma"/>
              </a:rPr>
              <a:t> </a:t>
            </a:r>
            <a:r>
              <a:rPr sz="2180" spc="-59" dirty="0">
                <a:latin typeface="Tahoma"/>
                <a:cs typeface="Tahoma"/>
              </a:rPr>
              <a:t>contain</a:t>
            </a:r>
            <a:r>
              <a:rPr sz="2180" spc="40" dirty="0">
                <a:latin typeface="Tahoma"/>
                <a:cs typeface="Tahoma"/>
              </a:rPr>
              <a:t> </a:t>
            </a:r>
            <a:r>
              <a:rPr sz="2180" spc="-79" dirty="0">
                <a:latin typeface="Tahoma"/>
                <a:cs typeface="Tahoma"/>
              </a:rPr>
              <a:t>the</a:t>
            </a:r>
            <a:r>
              <a:rPr sz="2180" spc="40" dirty="0">
                <a:latin typeface="Tahoma"/>
                <a:cs typeface="Tahoma"/>
              </a:rPr>
              <a:t> </a:t>
            </a:r>
            <a:r>
              <a:rPr sz="2180" spc="-139" dirty="0">
                <a:latin typeface="Tahoma"/>
                <a:cs typeface="Tahoma"/>
              </a:rPr>
              <a:t>word</a:t>
            </a:r>
            <a:r>
              <a:rPr sz="2180" spc="40" dirty="0">
                <a:latin typeface="Tahoma"/>
                <a:cs typeface="Tahoma"/>
              </a:rPr>
              <a:t> </a:t>
            </a:r>
            <a:r>
              <a:rPr sz="2180" spc="10" dirty="0">
                <a:latin typeface="Tahoma"/>
                <a:cs typeface="Tahoma"/>
              </a:rPr>
              <a:t>‘gulf’,</a:t>
            </a:r>
            <a:r>
              <a:rPr sz="2180" spc="40" dirty="0">
                <a:latin typeface="Tahoma"/>
                <a:cs typeface="Tahoma"/>
              </a:rPr>
              <a:t> </a:t>
            </a:r>
            <a:r>
              <a:rPr sz="2180" dirty="0">
                <a:latin typeface="Tahoma"/>
                <a:cs typeface="Tahoma"/>
              </a:rPr>
              <a:t>‘math’</a:t>
            </a:r>
            <a:r>
              <a:rPr sz="2180" spc="50" dirty="0">
                <a:latin typeface="Tahoma"/>
                <a:cs typeface="Tahoma"/>
              </a:rPr>
              <a:t> </a:t>
            </a:r>
            <a:r>
              <a:rPr sz="2180" spc="-109" dirty="0">
                <a:latin typeface="Tahoma"/>
                <a:cs typeface="Tahoma"/>
              </a:rPr>
              <a:t>or</a:t>
            </a:r>
            <a:r>
              <a:rPr sz="2180" spc="40" dirty="0">
                <a:latin typeface="Tahoma"/>
                <a:cs typeface="Tahoma"/>
              </a:rPr>
              <a:t> </a:t>
            </a:r>
            <a:r>
              <a:rPr sz="2180" dirty="0">
                <a:latin typeface="Tahoma"/>
                <a:cs typeface="Tahoma"/>
              </a:rPr>
              <a:t>’boat’.</a:t>
            </a:r>
          </a:p>
          <a:p>
            <a:pPr>
              <a:spcBef>
                <a:spcPts val="89"/>
              </a:spcBef>
            </a:pPr>
            <a:endParaRPr sz="2081" dirty="0">
              <a:latin typeface="Tahoma"/>
              <a:cs typeface="Tahoma"/>
            </a:endParaRPr>
          </a:p>
          <a:p>
            <a:pPr marL="25168">
              <a:spcBef>
                <a:spcPts val="10"/>
              </a:spcBef>
            </a:pPr>
            <a:r>
              <a:rPr sz="2378" spc="-129" dirty="0">
                <a:solidFill>
                  <a:srgbClr val="FF0000"/>
                </a:solidFill>
                <a:latin typeface="Tahoma"/>
                <a:cs typeface="Tahoma"/>
              </a:rPr>
              <a:t>How</a:t>
            </a:r>
            <a:r>
              <a:rPr sz="2378" spc="30" dirty="0">
                <a:solidFill>
                  <a:srgbClr val="FF0000"/>
                </a:solidFill>
                <a:latin typeface="Tahoma"/>
                <a:cs typeface="Tahoma"/>
              </a:rPr>
              <a:t> </a:t>
            </a:r>
            <a:r>
              <a:rPr sz="2378" spc="-149" dirty="0">
                <a:solidFill>
                  <a:srgbClr val="FF0000"/>
                </a:solidFill>
                <a:latin typeface="Tahoma"/>
                <a:cs typeface="Tahoma"/>
              </a:rPr>
              <a:t>many</a:t>
            </a:r>
            <a:r>
              <a:rPr sz="2378" spc="30" dirty="0">
                <a:solidFill>
                  <a:srgbClr val="FF0000"/>
                </a:solidFill>
                <a:latin typeface="Tahoma"/>
                <a:cs typeface="Tahoma"/>
              </a:rPr>
              <a:t> </a:t>
            </a:r>
            <a:r>
              <a:rPr sz="2378" spc="-129" dirty="0">
                <a:solidFill>
                  <a:srgbClr val="FF0000"/>
                </a:solidFill>
                <a:latin typeface="Tahoma"/>
                <a:cs typeface="Tahoma"/>
              </a:rPr>
              <a:t>rooms</a:t>
            </a:r>
            <a:r>
              <a:rPr sz="2378" spc="30" dirty="0">
                <a:solidFill>
                  <a:srgbClr val="FF0000"/>
                </a:solidFill>
                <a:latin typeface="Tahoma"/>
                <a:cs typeface="Tahoma"/>
              </a:rPr>
              <a:t> </a:t>
            </a:r>
            <a:r>
              <a:rPr sz="2378" spc="-168" dirty="0">
                <a:solidFill>
                  <a:srgbClr val="FF0000"/>
                </a:solidFill>
                <a:latin typeface="Tahoma"/>
                <a:cs typeface="Tahoma"/>
              </a:rPr>
              <a:t>are</a:t>
            </a:r>
            <a:r>
              <a:rPr sz="2378" spc="30" dirty="0">
                <a:solidFill>
                  <a:srgbClr val="FF0000"/>
                </a:solidFill>
                <a:latin typeface="Tahoma"/>
                <a:cs typeface="Tahoma"/>
              </a:rPr>
              <a:t> </a:t>
            </a:r>
            <a:r>
              <a:rPr sz="2378" spc="-178" dirty="0">
                <a:solidFill>
                  <a:srgbClr val="FF0000"/>
                </a:solidFill>
                <a:latin typeface="Tahoma"/>
                <a:cs typeface="Tahoma"/>
              </a:rPr>
              <a:t>needed</a:t>
            </a:r>
            <a:r>
              <a:rPr sz="2378" spc="30" dirty="0">
                <a:solidFill>
                  <a:srgbClr val="FF0000"/>
                </a:solidFill>
                <a:latin typeface="Tahoma"/>
                <a:cs typeface="Tahoma"/>
              </a:rPr>
              <a:t> </a:t>
            </a:r>
            <a:r>
              <a:rPr sz="2378" spc="-50" dirty="0">
                <a:solidFill>
                  <a:srgbClr val="FF0000"/>
                </a:solidFill>
                <a:latin typeface="Tahoma"/>
                <a:cs typeface="Tahoma"/>
              </a:rPr>
              <a:t>to</a:t>
            </a:r>
            <a:r>
              <a:rPr sz="2378" spc="30" dirty="0">
                <a:solidFill>
                  <a:srgbClr val="FF0000"/>
                </a:solidFill>
                <a:latin typeface="Tahoma"/>
                <a:cs typeface="Tahoma"/>
              </a:rPr>
              <a:t> </a:t>
            </a:r>
            <a:r>
              <a:rPr sz="2378" spc="-139" dirty="0">
                <a:solidFill>
                  <a:srgbClr val="FF0000"/>
                </a:solidFill>
                <a:latin typeface="Tahoma"/>
                <a:cs typeface="Tahoma"/>
              </a:rPr>
              <a:t>schedule</a:t>
            </a:r>
            <a:r>
              <a:rPr sz="2378" spc="30" dirty="0">
                <a:solidFill>
                  <a:srgbClr val="FF0000"/>
                </a:solidFill>
                <a:latin typeface="Tahoma"/>
                <a:cs typeface="Tahoma"/>
              </a:rPr>
              <a:t> </a:t>
            </a:r>
            <a:r>
              <a:rPr sz="2378" spc="-149" dirty="0">
                <a:solidFill>
                  <a:srgbClr val="FF0000"/>
                </a:solidFill>
                <a:latin typeface="Tahoma"/>
                <a:cs typeface="Tahoma"/>
              </a:rPr>
              <a:t>300</a:t>
            </a:r>
            <a:r>
              <a:rPr sz="2378" spc="30" dirty="0">
                <a:solidFill>
                  <a:srgbClr val="FF0000"/>
                </a:solidFill>
                <a:latin typeface="Tahoma"/>
                <a:cs typeface="Tahoma"/>
              </a:rPr>
              <a:t> </a:t>
            </a:r>
            <a:r>
              <a:rPr sz="2378" spc="-168" dirty="0">
                <a:solidFill>
                  <a:srgbClr val="FF0000"/>
                </a:solidFill>
                <a:latin typeface="Tahoma"/>
                <a:cs typeface="Tahoma"/>
              </a:rPr>
              <a:t>exams</a:t>
            </a:r>
            <a:r>
              <a:rPr sz="2378" spc="40" dirty="0">
                <a:solidFill>
                  <a:srgbClr val="FF0000"/>
                </a:solidFill>
                <a:latin typeface="Tahoma"/>
                <a:cs typeface="Tahoma"/>
              </a:rPr>
              <a:t> </a:t>
            </a:r>
            <a:r>
              <a:rPr sz="2378" spc="-69" dirty="0">
                <a:solidFill>
                  <a:srgbClr val="FF0000"/>
                </a:solidFill>
                <a:latin typeface="Tahoma"/>
                <a:cs typeface="Tahoma"/>
              </a:rPr>
              <a:t>in</a:t>
            </a:r>
            <a:r>
              <a:rPr sz="2378" spc="30" dirty="0">
                <a:solidFill>
                  <a:srgbClr val="FF0000"/>
                </a:solidFill>
                <a:latin typeface="Tahoma"/>
                <a:cs typeface="Tahoma"/>
              </a:rPr>
              <a:t> </a:t>
            </a:r>
            <a:r>
              <a:rPr sz="2378" spc="-168" dirty="0">
                <a:solidFill>
                  <a:srgbClr val="FF0000"/>
                </a:solidFill>
                <a:latin typeface="Tahoma"/>
                <a:cs typeface="Tahoma"/>
              </a:rPr>
              <a:t>one</a:t>
            </a:r>
            <a:r>
              <a:rPr sz="2378" spc="30" dirty="0">
                <a:solidFill>
                  <a:srgbClr val="FF0000"/>
                </a:solidFill>
                <a:latin typeface="Tahoma"/>
                <a:cs typeface="Tahoma"/>
              </a:rPr>
              <a:t> </a:t>
            </a:r>
            <a:r>
              <a:rPr sz="2378" spc="-159" dirty="0">
                <a:solidFill>
                  <a:srgbClr val="FF0000"/>
                </a:solidFill>
                <a:latin typeface="Tahoma"/>
                <a:cs typeface="Tahoma"/>
              </a:rPr>
              <a:t>week?</a:t>
            </a:r>
            <a:endParaRPr sz="2378" dirty="0">
              <a:latin typeface="Tahoma"/>
              <a:cs typeface="Tahoma"/>
            </a:endParaRPr>
          </a:p>
        </p:txBody>
      </p:sp>
      <p:grpSp>
        <p:nvGrpSpPr>
          <p:cNvPr id="6" name="object 6"/>
          <p:cNvGrpSpPr/>
          <p:nvPr/>
        </p:nvGrpSpPr>
        <p:grpSpPr>
          <a:xfrm>
            <a:off x="3375881" y="4128827"/>
            <a:ext cx="5437324" cy="210144"/>
            <a:chOff x="932397" y="2083528"/>
            <a:chExt cx="2743835" cy="106045"/>
          </a:xfrm>
        </p:grpSpPr>
        <p:sp>
          <p:nvSpPr>
            <p:cNvPr id="7" name="object 7"/>
            <p:cNvSpPr/>
            <p:nvPr/>
          </p:nvSpPr>
          <p:spPr>
            <a:xfrm>
              <a:off x="935117" y="2136394"/>
              <a:ext cx="2738120" cy="0"/>
            </a:xfrm>
            <a:custGeom>
              <a:avLst/>
              <a:gdLst/>
              <a:ahLst/>
              <a:cxnLst/>
              <a:rect l="l" t="t" r="r" b="b"/>
              <a:pathLst>
                <a:path w="2738120">
                  <a:moveTo>
                    <a:pt x="0" y="0"/>
                  </a:moveTo>
                  <a:lnTo>
                    <a:pt x="2737788" y="0"/>
                  </a:lnTo>
                </a:path>
              </a:pathLst>
            </a:custGeom>
            <a:ln w="5438">
              <a:solidFill>
                <a:srgbClr val="000000"/>
              </a:solidFill>
            </a:ln>
          </p:spPr>
          <p:txBody>
            <a:bodyPr wrap="square" lIns="0" tIns="0" rIns="0" bIns="0" rtlCol="0"/>
            <a:lstStyle/>
            <a:p>
              <a:endParaRPr sz="3567"/>
            </a:p>
          </p:txBody>
        </p:sp>
        <p:sp>
          <p:nvSpPr>
            <p:cNvPr id="8" name="object 8"/>
            <p:cNvSpPr/>
            <p:nvPr/>
          </p:nvSpPr>
          <p:spPr>
            <a:xfrm>
              <a:off x="1391415" y="2083528"/>
              <a:ext cx="0" cy="106045"/>
            </a:xfrm>
            <a:custGeom>
              <a:avLst/>
              <a:gdLst/>
              <a:ahLst/>
              <a:cxnLst/>
              <a:rect l="l" t="t" r="r" b="b"/>
              <a:pathLst>
                <a:path h="106044">
                  <a:moveTo>
                    <a:pt x="0" y="0"/>
                  </a:moveTo>
                  <a:lnTo>
                    <a:pt x="0" y="105717"/>
                  </a:lnTo>
                </a:path>
              </a:pathLst>
            </a:custGeom>
            <a:solidFill>
              <a:srgbClr val="FFFFFF"/>
            </a:solidFill>
          </p:spPr>
          <p:txBody>
            <a:bodyPr wrap="square" lIns="0" tIns="0" rIns="0" bIns="0" rtlCol="0"/>
            <a:lstStyle/>
            <a:p>
              <a:endParaRPr sz="3567"/>
            </a:p>
          </p:txBody>
        </p:sp>
        <p:sp>
          <p:nvSpPr>
            <p:cNvPr id="9" name="object 9"/>
            <p:cNvSpPr/>
            <p:nvPr/>
          </p:nvSpPr>
          <p:spPr>
            <a:xfrm>
              <a:off x="1391415" y="2083528"/>
              <a:ext cx="0" cy="106045"/>
            </a:xfrm>
            <a:custGeom>
              <a:avLst/>
              <a:gdLst/>
              <a:ahLst/>
              <a:cxnLst/>
              <a:rect l="l" t="t" r="r" b="b"/>
              <a:pathLst>
                <a:path h="106044">
                  <a:moveTo>
                    <a:pt x="0" y="0"/>
                  </a:moveTo>
                  <a:lnTo>
                    <a:pt x="0" y="105717"/>
                  </a:lnTo>
                </a:path>
              </a:pathLst>
            </a:custGeom>
            <a:ln w="5438">
              <a:solidFill>
                <a:srgbClr val="000000"/>
              </a:solidFill>
            </a:ln>
          </p:spPr>
          <p:txBody>
            <a:bodyPr wrap="square" lIns="0" tIns="0" rIns="0" bIns="0" rtlCol="0"/>
            <a:lstStyle/>
            <a:p>
              <a:endParaRPr sz="3567"/>
            </a:p>
          </p:txBody>
        </p:sp>
        <p:sp>
          <p:nvSpPr>
            <p:cNvPr id="10" name="object 10"/>
            <p:cNvSpPr/>
            <p:nvPr/>
          </p:nvSpPr>
          <p:spPr>
            <a:xfrm>
              <a:off x="1847716" y="2083528"/>
              <a:ext cx="0" cy="106045"/>
            </a:xfrm>
            <a:custGeom>
              <a:avLst/>
              <a:gdLst/>
              <a:ahLst/>
              <a:cxnLst/>
              <a:rect l="l" t="t" r="r" b="b"/>
              <a:pathLst>
                <a:path h="106044">
                  <a:moveTo>
                    <a:pt x="0" y="0"/>
                  </a:moveTo>
                  <a:lnTo>
                    <a:pt x="0" y="105717"/>
                  </a:lnTo>
                </a:path>
              </a:pathLst>
            </a:custGeom>
            <a:solidFill>
              <a:srgbClr val="FFFFFF"/>
            </a:solidFill>
          </p:spPr>
          <p:txBody>
            <a:bodyPr wrap="square" lIns="0" tIns="0" rIns="0" bIns="0" rtlCol="0"/>
            <a:lstStyle/>
            <a:p>
              <a:endParaRPr sz="3567"/>
            </a:p>
          </p:txBody>
        </p:sp>
        <p:sp>
          <p:nvSpPr>
            <p:cNvPr id="11" name="object 11"/>
            <p:cNvSpPr/>
            <p:nvPr/>
          </p:nvSpPr>
          <p:spPr>
            <a:xfrm>
              <a:off x="1847716" y="2083528"/>
              <a:ext cx="0" cy="106045"/>
            </a:xfrm>
            <a:custGeom>
              <a:avLst/>
              <a:gdLst/>
              <a:ahLst/>
              <a:cxnLst/>
              <a:rect l="l" t="t" r="r" b="b"/>
              <a:pathLst>
                <a:path h="106044">
                  <a:moveTo>
                    <a:pt x="0" y="0"/>
                  </a:moveTo>
                  <a:lnTo>
                    <a:pt x="0" y="105717"/>
                  </a:lnTo>
                </a:path>
              </a:pathLst>
            </a:custGeom>
            <a:ln w="5438">
              <a:solidFill>
                <a:srgbClr val="000000"/>
              </a:solidFill>
            </a:ln>
          </p:spPr>
          <p:txBody>
            <a:bodyPr wrap="square" lIns="0" tIns="0" rIns="0" bIns="0" rtlCol="0"/>
            <a:lstStyle/>
            <a:p>
              <a:endParaRPr sz="3567"/>
            </a:p>
          </p:txBody>
        </p:sp>
        <p:sp>
          <p:nvSpPr>
            <p:cNvPr id="12" name="object 12"/>
            <p:cNvSpPr/>
            <p:nvPr/>
          </p:nvSpPr>
          <p:spPr>
            <a:xfrm>
              <a:off x="2304010" y="2083528"/>
              <a:ext cx="0" cy="106045"/>
            </a:xfrm>
            <a:custGeom>
              <a:avLst/>
              <a:gdLst/>
              <a:ahLst/>
              <a:cxnLst/>
              <a:rect l="l" t="t" r="r" b="b"/>
              <a:pathLst>
                <a:path h="106044">
                  <a:moveTo>
                    <a:pt x="0" y="0"/>
                  </a:moveTo>
                  <a:lnTo>
                    <a:pt x="0" y="105717"/>
                  </a:lnTo>
                </a:path>
              </a:pathLst>
            </a:custGeom>
            <a:solidFill>
              <a:srgbClr val="FFFFFF"/>
            </a:solidFill>
          </p:spPr>
          <p:txBody>
            <a:bodyPr wrap="square" lIns="0" tIns="0" rIns="0" bIns="0" rtlCol="0"/>
            <a:lstStyle/>
            <a:p>
              <a:endParaRPr sz="3567"/>
            </a:p>
          </p:txBody>
        </p:sp>
        <p:sp>
          <p:nvSpPr>
            <p:cNvPr id="13" name="object 13"/>
            <p:cNvSpPr/>
            <p:nvPr/>
          </p:nvSpPr>
          <p:spPr>
            <a:xfrm>
              <a:off x="2304010" y="2083528"/>
              <a:ext cx="0" cy="106045"/>
            </a:xfrm>
            <a:custGeom>
              <a:avLst/>
              <a:gdLst/>
              <a:ahLst/>
              <a:cxnLst/>
              <a:rect l="l" t="t" r="r" b="b"/>
              <a:pathLst>
                <a:path h="106044">
                  <a:moveTo>
                    <a:pt x="0" y="0"/>
                  </a:moveTo>
                  <a:lnTo>
                    <a:pt x="0" y="105717"/>
                  </a:lnTo>
                </a:path>
              </a:pathLst>
            </a:custGeom>
            <a:ln w="5438">
              <a:solidFill>
                <a:srgbClr val="000000"/>
              </a:solidFill>
            </a:ln>
          </p:spPr>
          <p:txBody>
            <a:bodyPr wrap="square" lIns="0" tIns="0" rIns="0" bIns="0" rtlCol="0"/>
            <a:lstStyle/>
            <a:p>
              <a:endParaRPr sz="3567"/>
            </a:p>
          </p:txBody>
        </p:sp>
        <p:sp>
          <p:nvSpPr>
            <p:cNvPr id="14" name="object 14"/>
            <p:cNvSpPr/>
            <p:nvPr/>
          </p:nvSpPr>
          <p:spPr>
            <a:xfrm>
              <a:off x="2760311" y="2083528"/>
              <a:ext cx="0" cy="106045"/>
            </a:xfrm>
            <a:custGeom>
              <a:avLst/>
              <a:gdLst/>
              <a:ahLst/>
              <a:cxnLst/>
              <a:rect l="l" t="t" r="r" b="b"/>
              <a:pathLst>
                <a:path h="106044">
                  <a:moveTo>
                    <a:pt x="0" y="0"/>
                  </a:moveTo>
                  <a:lnTo>
                    <a:pt x="0" y="105717"/>
                  </a:lnTo>
                </a:path>
              </a:pathLst>
            </a:custGeom>
            <a:solidFill>
              <a:srgbClr val="FFFFFF"/>
            </a:solidFill>
          </p:spPr>
          <p:txBody>
            <a:bodyPr wrap="square" lIns="0" tIns="0" rIns="0" bIns="0" rtlCol="0"/>
            <a:lstStyle/>
            <a:p>
              <a:endParaRPr sz="3567"/>
            </a:p>
          </p:txBody>
        </p:sp>
        <p:sp>
          <p:nvSpPr>
            <p:cNvPr id="15" name="object 15"/>
            <p:cNvSpPr/>
            <p:nvPr/>
          </p:nvSpPr>
          <p:spPr>
            <a:xfrm>
              <a:off x="2760311" y="2083528"/>
              <a:ext cx="0" cy="106045"/>
            </a:xfrm>
            <a:custGeom>
              <a:avLst/>
              <a:gdLst/>
              <a:ahLst/>
              <a:cxnLst/>
              <a:rect l="l" t="t" r="r" b="b"/>
              <a:pathLst>
                <a:path h="106044">
                  <a:moveTo>
                    <a:pt x="0" y="0"/>
                  </a:moveTo>
                  <a:lnTo>
                    <a:pt x="0" y="105717"/>
                  </a:lnTo>
                </a:path>
              </a:pathLst>
            </a:custGeom>
            <a:ln w="5438">
              <a:solidFill>
                <a:srgbClr val="000000"/>
              </a:solidFill>
            </a:ln>
          </p:spPr>
          <p:txBody>
            <a:bodyPr wrap="square" lIns="0" tIns="0" rIns="0" bIns="0" rtlCol="0"/>
            <a:lstStyle/>
            <a:p>
              <a:endParaRPr sz="3567"/>
            </a:p>
          </p:txBody>
        </p:sp>
        <p:sp>
          <p:nvSpPr>
            <p:cNvPr id="16" name="object 16"/>
            <p:cNvSpPr/>
            <p:nvPr/>
          </p:nvSpPr>
          <p:spPr>
            <a:xfrm>
              <a:off x="3216611" y="2083528"/>
              <a:ext cx="0" cy="106045"/>
            </a:xfrm>
            <a:custGeom>
              <a:avLst/>
              <a:gdLst/>
              <a:ahLst/>
              <a:cxnLst/>
              <a:rect l="l" t="t" r="r" b="b"/>
              <a:pathLst>
                <a:path h="106044">
                  <a:moveTo>
                    <a:pt x="0" y="0"/>
                  </a:moveTo>
                  <a:lnTo>
                    <a:pt x="0" y="105717"/>
                  </a:lnTo>
                </a:path>
              </a:pathLst>
            </a:custGeom>
            <a:solidFill>
              <a:srgbClr val="FFFFFF"/>
            </a:solidFill>
          </p:spPr>
          <p:txBody>
            <a:bodyPr wrap="square" lIns="0" tIns="0" rIns="0" bIns="0" rtlCol="0"/>
            <a:lstStyle/>
            <a:p>
              <a:endParaRPr sz="3567"/>
            </a:p>
          </p:txBody>
        </p:sp>
        <p:sp>
          <p:nvSpPr>
            <p:cNvPr id="17" name="object 17"/>
            <p:cNvSpPr/>
            <p:nvPr/>
          </p:nvSpPr>
          <p:spPr>
            <a:xfrm>
              <a:off x="935116" y="2083528"/>
              <a:ext cx="2738120" cy="106045"/>
            </a:xfrm>
            <a:custGeom>
              <a:avLst/>
              <a:gdLst/>
              <a:ahLst/>
              <a:cxnLst/>
              <a:rect l="l" t="t" r="r" b="b"/>
              <a:pathLst>
                <a:path w="2738120" h="106044">
                  <a:moveTo>
                    <a:pt x="2281495" y="0"/>
                  </a:moveTo>
                  <a:lnTo>
                    <a:pt x="2281495" y="105717"/>
                  </a:lnTo>
                </a:path>
                <a:path w="2738120" h="106044">
                  <a:moveTo>
                    <a:pt x="2737789" y="0"/>
                  </a:moveTo>
                  <a:lnTo>
                    <a:pt x="2737789" y="105717"/>
                  </a:lnTo>
                </a:path>
                <a:path w="2738120" h="106044">
                  <a:moveTo>
                    <a:pt x="0" y="0"/>
                  </a:moveTo>
                  <a:lnTo>
                    <a:pt x="0" y="105717"/>
                  </a:lnTo>
                </a:path>
              </a:pathLst>
            </a:custGeom>
            <a:ln w="5438">
              <a:solidFill>
                <a:srgbClr val="000000"/>
              </a:solidFill>
            </a:ln>
          </p:spPr>
          <p:txBody>
            <a:bodyPr wrap="square" lIns="0" tIns="0" rIns="0" bIns="0" rtlCol="0"/>
            <a:lstStyle/>
            <a:p>
              <a:endParaRPr sz="3567"/>
            </a:p>
          </p:txBody>
        </p:sp>
      </p:grpSp>
      <p:sp>
        <p:nvSpPr>
          <p:cNvPr id="18" name="object 18"/>
          <p:cNvSpPr txBox="1"/>
          <p:nvPr/>
        </p:nvSpPr>
        <p:spPr>
          <a:xfrm>
            <a:off x="3539449" y="4334768"/>
            <a:ext cx="580099" cy="350816"/>
          </a:xfrm>
          <a:prstGeom prst="rect">
            <a:avLst/>
          </a:prstGeom>
        </p:spPr>
        <p:txBody>
          <a:bodyPr vert="horz" wrap="square" lIns="0" tIns="32717" rIns="0" bIns="0" rtlCol="0">
            <a:spAutoFit/>
          </a:bodyPr>
          <a:lstStyle/>
          <a:p>
            <a:pPr marL="25168">
              <a:spcBef>
                <a:spcPts val="258"/>
              </a:spcBef>
            </a:pPr>
            <a:r>
              <a:rPr sz="991" spc="59" dirty="0">
                <a:latin typeface="Calibri"/>
                <a:cs typeface="Calibri"/>
              </a:rPr>
              <a:t>08:00AM</a:t>
            </a:r>
            <a:endParaRPr sz="991" dirty="0">
              <a:latin typeface="Calibri"/>
              <a:cs typeface="Calibri"/>
            </a:endParaRPr>
          </a:p>
          <a:p>
            <a:pPr marL="25168">
              <a:spcBef>
                <a:spcPts val="79"/>
              </a:spcBef>
            </a:pPr>
            <a:r>
              <a:rPr sz="991" spc="59" dirty="0">
                <a:latin typeface="Calibri"/>
                <a:cs typeface="Calibri"/>
              </a:rPr>
              <a:t>10:00AM</a:t>
            </a:r>
            <a:endParaRPr sz="991" dirty="0">
              <a:latin typeface="Calibri"/>
              <a:cs typeface="Calibri"/>
            </a:endParaRPr>
          </a:p>
        </p:txBody>
      </p:sp>
      <p:sp>
        <p:nvSpPr>
          <p:cNvPr id="19" name="object 19"/>
          <p:cNvSpPr txBox="1"/>
          <p:nvPr/>
        </p:nvSpPr>
        <p:spPr>
          <a:xfrm>
            <a:off x="5347891" y="4334767"/>
            <a:ext cx="571290" cy="350816"/>
          </a:xfrm>
          <a:prstGeom prst="rect">
            <a:avLst/>
          </a:prstGeom>
        </p:spPr>
        <p:txBody>
          <a:bodyPr vert="horz" wrap="square" lIns="0" tIns="32717" rIns="0" bIns="0" rtlCol="0">
            <a:spAutoFit/>
          </a:bodyPr>
          <a:lstStyle/>
          <a:p>
            <a:pPr marL="25168">
              <a:spcBef>
                <a:spcPts val="258"/>
              </a:spcBef>
            </a:pPr>
            <a:r>
              <a:rPr sz="991" spc="59" dirty="0">
                <a:latin typeface="Calibri"/>
                <a:cs typeface="Calibri"/>
              </a:rPr>
              <a:t>12:00PM</a:t>
            </a:r>
            <a:endParaRPr sz="991">
              <a:latin typeface="Calibri"/>
              <a:cs typeface="Calibri"/>
            </a:endParaRPr>
          </a:p>
          <a:p>
            <a:pPr marL="25168">
              <a:spcBef>
                <a:spcPts val="79"/>
              </a:spcBef>
            </a:pPr>
            <a:r>
              <a:rPr sz="991" spc="59" dirty="0">
                <a:latin typeface="Calibri"/>
                <a:cs typeface="Calibri"/>
              </a:rPr>
              <a:t>02:00PM</a:t>
            </a:r>
            <a:endParaRPr sz="991">
              <a:latin typeface="Calibri"/>
              <a:cs typeface="Calibri"/>
            </a:endParaRPr>
          </a:p>
        </p:txBody>
      </p:sp>
      <p:sp>
        <p:nvSpPr>
          <p:cNvPr id="20" name="object 20"/>
          <p:cNvSpPr txBox="1"/>
          <p:nvPr/>
        </p:nvSpPr>
        <p:spPr>
          <a:xfrm>
            <a:off x="4443676" y="4334768"/>
            <a:ext cx="580099" cy="350816"/>
          </a:xfrm>
          <a:prstGeom prst="rect">
            <a:avLst/>
          </a:prstGeom>
        </p:spPr>
        <p:txBody>
          <a:bodyPr vert="horz" wrap="square" lIns="0" tIns="32717" rIns="0" bIns="0" rtlCol="0">
            <a:spAutoFit/>
          </a:bodyPr>
          <a:lstStyle/>
          <a:p>
            <a:pPr marL="25168">
              <a:spcBef>
                <a:spcPts val="258"/>
              </a:spcBef>
            </a:pPr>
            <a:r>
              <a:rPr sz="991" spc="59" dirty="0">
                <a:latin typeface="Calibri"/>
                <a:cs typeface="Calibri"/>
              </a:rPr>
              <a:t>10:00AM</a:t>
            </a:r>
            <a:endParaRPr sz="991">
              <a:latin typeface="Calibri"/>
              <a:cs typeface="Calibri"/>
            </a:endParaRPr>
          </a:p>
          <a:p>
            <a:pPr marL="25168">
              <a:spcBef>
                <a:spcPts val="79"/>
              </a:spcBef>
            </a:pPr>
            <a:r>
              <a:rPr sz="991" spc="59" dirty="0">
                <a:latin typeface="Calibri"/>
                <a:cs typeface="Calibri"/>
              </a:rPr>
              <a:t>12:00PM</a:t>
            </a:r>
            <a:endParaRPr sz="991">
              <a:latin typeface="Calibri"/>
              <a:cs typeface="Calibri"/>
            </a:endParaRPr>
          </a:p>
        </p:txBody>
      </p:sp>
      <p:sp>
        <p:nvSpPr>
          <p:cNvPr id="21" name="object 21"/>
          <p:cNvSpPr txBox="1"/>
          <p:nvPr/>
        </p:nvSpPr>
        <p:spPr>
          <a:xfrm>
            <a:off x="6252121" y="4334768"/>
            <a:ext cx="580099" cy="350816"/>
          </a:xfrm>
          <a:prstGeom prst="rect">
            <a:avLst/>
          </a:prstGeom>
        </p:spPr>
        <p:txBody>
          <a:bodyPr vert="horz" wrap="square" lIns="0" tIns="32717" rIns="0" bIns="0" rtlCol="0">
            <a:spAutoFit/>
          </a:bodyPr>
          <a:lstStyle/>
          <a:p>
            <a:pPr marL="25168">
              <a:spcBef>
                <a:spcPts val="258"/>
              </a:spcBef>
            </a:pPr>
            <a:r>
              <a:rPr sz="991" spc="59" dirty="0">
                <a:latin typeface="Calibri"/>
                <a:cs typeface="Calibri"/>
              </a:rPr>
              <a:t>02:00PM</a:t>
            </a:r>
            <a:endParaRPr sz="991">
              <a:latin typeface="Calibri"/>
              <a:cs typeface="Calibri"/>
            </a:endParaRPr>
          </a:p>
          <a:p>
            <a:pPr marL="25168">
              <a:spcBef>
                <a:spcPts val="79"/>
              </a:spcBef>
            </a:pPr>
            <a:r>
              <a:rPr sz="991" spc="59" dirty="0">
                <a:latin typeface="Calibri"/>
                <a:cs typeface="Calibri"/>
              </a:rPr>
              <a:t>04:00AM</a:t>
            </a:r>
            <a:endParaRPr sz="991">
              <a:latin typeface="Calibri"/>
              <a:cs typeface="Calibri"/>
            </a:endParaRPr>
          </a:p>
        </p:txBody>
      </p:sp>
      <p:sp>
        <p:nvSpPr>
          <p:cNvPr id="22" name="object 22"/>
          <p:cNvSpPr txBox="1"/>
          <p:nvPr/>
        </p:nvSpPr>
        <p:spPr>
          <a:xfrm>
            <a:off x="7156351" y="4334768"/>
            <a:ext cx="580099" cy="350816"/>
          </a:xfrm>
          <a:prstGeom prst="rect">
            <a:avLst/>
          </a:prstGeom>
        </p:spPr>
        <p:txBody>
          <a:bodyPr vert="horz" wrap="square" lIns="0" tIns="32717" rIns="0" bIns="0" rtlCol="0">
            <a:spAutoFit/>
          </a:bodyPr>
          <a:lstStyle/>
          <a:p>
            <a:pPr marL="25168">
              <a:spcBef>
                <a:spcPts val="258"/>
              </a:spcBef>
            </a:pPr>
            <a:r>
              <a:rPr sz="991" spc="59" dirty="0">
                <a:latin typeface="Calibri"/>
                <a:cs typeface="Calibri"/>
              </a:rPr>
              <a:t>04:00PM</a:t>
            </a:r>
            <a:endParaRPr sz="991">
              <a:latin typeface="Calibri"/>
              <a:cs typeface="Calibri"/>
            </a:endParaRPr>
          </a:p>
          <a:p>
            <a:pPr marL="25168">
              <a:spcBef>
                <a:spcPts val="79"/>
              </a:spcBef>
            </a:pPr>
            <a:r>
              <a:rPr sz="991" spc="59" dirty="0">
                <a:latin typeface="Calibri"/>
                <a:cs typeface="Calibri"/>
              </a:rPr>
              <a:t>06:00AM</a:t>
            </a:r>
            <a:endParaRPr sz="991">
              <a:latin typeface="Calibri"/>
              <a:cs typeface="Calibri"/>
            </a:endParaRPr>
          </a:p>
        </p:txBody>
      </p:sp>
      <p:sp>
        <p:nvSpPr>
          <p:cNvPr id="23" name="object 23"/>
          <p:cNvSpPr txBox="1"/>
          <p:nvPr/>
        </p:nvSpPr>
        <p:spPr>
          <a:xfrm>
            <a:off x="8060566" y="4334767"/>
            <a:ext cx="571290" cy="350816"/>
          </a:xfrm>
          <a:prstGeom prst="rect">
            <a:avLst/>
          </a:prstGeom>
        </p:spPr>
        <p:txBody>
          <a:bodyPr vert="horz" wrap="square" lIns="0" tIns="32717" rIns="0" bIns="0" rtlCol="0">
            <a:spAutoFit/>
          </a:bodyPr>
          <a:lstStyle/>
          <a:p>
            <a:pPr marL="25168">
              <a:spcBef>
                <a:spcPts val="258"/>
              </a:spcBef>
            </a:pPr>
            <a:r>
              <a:rPr sz="991" spc="59" dirty="0">
                <a:latin typeface="Calibri"/>
                <a:cs typeface="Calibri"/>
              </a:rPr>
              <a:t>06:00PM</a:t>
            </a:r>
            <a:endParaRPr sz="991">
              <a:latin typeface="Calibri"/>
              <a:cs typeface="Calibri"/>
            </a:endParaRPr>
          </a:p>
          <a:p>
            <a:pPr marL="25168">
              <a:spcBef>
                <a:spcPts val="79"/>
              </a:spcBef>
            </a:pPr>
            <a:r>
              <a:rPr sz="991" spc="59" dirty="0">
                <a:latin typeface="Calibri"/>
                <a:cs typeface="Calibri"/>
              </a:rPr>
              <a:t>08:00PM</a:t>
            </a:r>
            <a:endParaRPr sz="991">
              <a:latin typeface="Calibri"/>
              <a:cs typeface="Calibri"/>
            </a:endParaRPr>
          </a:p>
        </p:txBody>
      </p:sp>
      <p:sp>
        <p:nvSpPr>
          <p:cNvPr id="24" name="object 24"/>
          <p:cNvSpPr/>
          <p:nvPr/>
        </p:nvSpPr>
        <p:spPr>
          <a:xfrm>
            <a:off x="2103359" y="5369724"/>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25" name="object 25"/>
          <p:cNvSpPr txBox="1"/>
          <p:nvPr/>
        </p:nvSpPr>
        <p:spPr>
          <a:xfrm>
            <a:off x="2337487" y="5105266"/>
            <a:ext cx="5453683" cy="871264"/>
          </a:xfrm>
          <a:prstGeom prst="rect">
            <a:avLst/>
          </a:prstGeom>
        </p:spPr>
        <p:txBody>
          <a:bodyPr vert="horz" wrap="square" lIns="0" tIns="109474" rIns="0" bIns="0" rtlCol="0">
            <a:spAutoFit/>
          </a:bodyPr>
          <a:lstStyle/>
          <a:p>
            <a:pPr marL="25168">
              <a:spcBef>
                <a:spcPts val="860"/>
              </a:spcBef>
            </a:pPr>
            <a:r>
              <a:rPr sz="2180" spc="-20" dirty="0">
                <a:latin typeface="Tahoma"/>
                <a:cs typeface="Tahoma"/>
              </a:rPr>
              <a:t>No</a:t>
            </a:r>
            <a:r>
              <a:rPr sz="2180" spc="20" dirty="0">
                <a:latin typeface="Tahoma"/>
                <a:cs typeface="Tahoma"/>
              </a:rPr>
              <a:t> </a:t>
            </a:r>
            <a:r>
              <a:rPr sz="2180" spc="-109" dirty="0">
                <a:latin typeface="Tahoma"/>
                <a:cs typeface="Tahoma"/>
              </a:rPr>
              <a:t>two</a:t>
            </a:r>
            <a:r>
              <a:rPr sz="2180" spc="20" dirty="0">
                <a:latin typeface="Tahoma"/>
                <a:cs typeface="Tahoma"/>
              </a:rPr>
              <a:t> </a:t>
            </a:r>
            <a:r>
              <a:rPr sz="2180" spc="-89" dirty="0">
                <a:latin typeface="Tahoma"/>
                <a:cs typeface="Tahoma"/>
              </a:rPr>
              <a:t>simultaneous</a:t>
            </a:r>
            <a:r>
              <a:rPr sz="2180" spc="30" dirty="0">
                <a:latin typeface="Tahoma"/>
                <a:cs typeface="Tahoma"/>
              </a:rPr>
              <a:t> </a:t>
            </a:r>
            <a:r>
              <a:rPr sz="2180" spc="-129" dirty="0">
                <a:latin typeface="Tahoma"/>
                <a:cs typeface="Tahoma"/>
              </a:rPr>
              <a:t>exams</a:t>
            </a:r>
            <a:r>
              <a:rPr sz="2180" spc="30" dirty="0">
                <a:latin typeface="Tahoma"/>
                <a:cs typeface="Tahoma"/>
              </a:rPr>
              <a:t> </a:t>
            </a:r>
            <a:r>
              <a:rPr sz="2180" spc="-50" dirty="0">
                <a:latin typeface="Tahoma"/>
                <a:cs typeface="Tahoma"/>
              </a:rPr>
              <a:t>in</a:t>
            </a:r>
            <a:r>
              <a:rPr sz="2180" spc="30" dirty="0">
                <a:latin typeface="Tahoma"/>
                <a:cs typeface="Tahoma"/>
              </a:rPr>
              <a:t> </a:t>
            </a:r>
            <a:r>
              <a:rPr sz="2180" spc="-109" dirty="0">
                <a:latin typeface="Tahoma"/>
                <a:cs typeface="Tahoma"/>
              </a:rPr>
              <a:t>a</a:t>
            </a:r>
            <a:r>
              <a:rPr sz="2180" spc="30" dirty="0">
                <a:latin typeface="Tahoma"/>
                <a:cs typeface="Tahoma"/>
              </a:rPr>
              <a:t> </a:t>
            </a:r>
            <a:r>
              <a:rPr sz="2180" spc="-89" dirty="0">
                <a:latin typeface="Tahoma"/>
                <a:cs typeface="Tahoma"/>
              </a:rPr>
              <a:t>room</a:t>
            </a:r>
            <a:endParaRPr sz="2180">
              <a:latin typeface="Tahoma"/>
              <a:cs typeface="Tahoma"/>
            </a:endParaRPr>
          </a:p>
          <a:p>
            <a:pPr marL="25168">
              <a:spcBef>
                <a:spcPts val="662"/>
              </a:spcBef>
            </a:pPr>
            <a:r>
              <a:rPr sz="2180" spc="-109" dirty="0">
                <a:latin typeface="Tahoma"/>
                <a:cs typeface="Tahoma"/>
              </a:rPr>
              <a:t>6</a:t>
            </a:r>
            <a:r>
              <a:rPr sz="2180" spc="20" dirty="0">
                <a:latin typeface="Tahoma"/>
                <a:cs typeface="Tahoma"/>
              </a:rPr>
              <a:t> </a:t>
            </a:r>
            <a:r>
              <a:rPr sz="2180" spc="-59" dirty="0">
                <a:latin typeface="Tahoma"/>
                <a:cs typeface="Tahoma"/>
              </a:rPr>
              <a:t>time</a:t>
            </a:r>
            <a:r>
              <a:rPr sz="2180" spc="30" dirty="0">
                <a:latin typeface="Tahoma"/>
                <a:cs typeface="Tahoma"/>
              </a:rPr>
              <a:t> </a:t>
            </a:r>
            <a:r>
              <a:rPr sz="2180" spc="-69" dirty="0">
                <a:latin typeface="Tahoma"/>
                <a:cs typeface="Tahoma"/>
              </a:rPr>
              <a:t>slots</a:t>
            </a:r>
            <a:r>
              <a:rPr sz="2180" spc="20" dirty="0">
                <a:latin typeface="Tahoma"/>
                <a:cs typeface="Tahoma"/>
              </a:rPr>
              <a:t> </a:t>
            </a:r>
            <a:r>
              <a:rPr sz="2180" spc="-89" dirty="0">
                <a:latin typeface="Tahoma"/>
                <a:cs typeface="Tahoma"/>
              </a:rPr>
              <a:t>per</a:t>
            </a:r>
            <a:r>
              <a:rPr sz="2180" spc="40" dirty="0">
                <a:latin typeface="Tahoma"/>
                <a:cs typeface="Tahoma"/>
              </a:rPr>
              <a:t> </a:t>
            </a:r>
            <a:r>
              <a:rPr sz="2180" spc="-119" dirty="0">
                <a:latin typeface="Tahoma"/>
                <a:cs typeface="Tahoma"/>
              </a:rPr>
              <a:t>day</a:t>
            </a:r>
            <a:r>
              <a:rPr sz="2180" spc="30" dirty="0">
                <a:latin typeface="Tahoma"/>
                <a:cs typeface="Tahoma"/>
              </a:rPr>
              <a:t> </a:t>
            </a:r>
            <a:r>
              <a:rPr sz="2180" spc="-50" dirty="0">
                <a:latin typeface="Tahoma"/>
                <a:cs typeface="Tahoma"/>
              </a:rPr>
              <a:t>in</a:t>
            </a:r>
            <a:r>
              <a:rPr sz="2180" spc="30" dirty="0">
                <a:latin typeface="Tahoma"/>
                <a:cs typeface="Tahoma"/>
              </a:rPr>
              <a:t> </a:t>
            </a:r>
            <a:r>
              <a:rPr sz="2180" spc="-79" dirty="0">
                <a:latin typeface="Tahoma"/>
                <a:cs typeface="Tahoma"/>
              </a:rPr>
              <a:t>the</a:t>
            </a:r>
            <a:r>
              <a:rPr sz="2180" spc="20" dirty="0">
                <a:latin typeface="Tahoma"/>
                <a:cs typeface="Tahoma"/>
              </a:rPr>
              <a:t> </a:t>
            </a:r>
            <a:r>
              <a:rPr sz="2180" spc="-129" dirty="0">
                <a:latin typeface="Tahoma"/>
                <a:cs typeface="Tahoma"/>
              </a:rPr>
              <a:t>exam</a:t>
            </a:r>
            <a:r>
              <a:rPr sz="2180" spc="40" dirty="0">
                <a:latin typeface="Tahoma"/>
                <a:cs typeface="Tahoma"/>
              </a:rPr>
              <a:t> </a:t>
            </a:r>
            <a:r>
              <a:rPr sz="2180" spc="-159" dirty="0">
                <a:latin typeface="Tahoma"/>
                <a:cs typeface="Tahoma"/>
              </a:rPr>
              <a:t>week</a:t>
            </a:r>
            <a:r>
              <a:rPr sz="2180" spc="30" dirty="0">
                <a:latin typeface="Tahoma"/>
                <a:cs typeface="Tahoma"/>
              </a:rPr>
              <a:t> </a:t>
            </a:r>
            <a:r>
              <a:rPr sz="2180" spc="-59" dirty="0">
                <a:latin typeface="Tahoma"/>
                <a:cs typeface="Tahoma"/>
              </a:rPr>
              <a:t>(7</a:t>
            </a:r>
            <a:r>
              <a:rPr sz="2180" spc="30" dirty="0">
                <a:latin typeface="Tahoma"/>
                <a:cs typeface="Tahoma"/>
              </a:rPr>
              <a:t> </a:t>
            </a:r>
            <a:r>
              <a:rPr sz="2180" spc="-99" dirty="0">
                <a:latin typeface="Tahoma"/>
                <a:cs typeface="Tahoma"/>
              </a:rPr>
              <a:t>days)</a:t>
            </a:r>
            <a:endParaRPr sz="2180">
              <a:latin typeface="Tahoma"/>
              <a:cs typeface="Tahoma"/>
            </a:endParaRPr>
          </a:p>
        </p:txBody>
      </p:sp>
      <p:sp>
        <p:nvSpPr>
          <p:cNvPr id="26" name="object 26"/>
          <p:cNvSpPr/>
          <p:nvPr/>
        </p:nvSpPr>
        <p:spPr>
          <a:xfrm>
            <a:off x="2103359" y="5785936"/>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47" dirty="0">
                <a:solidFill>
                  <a:srgbClr val="898CFC"/>
                </a:solidFill>
                <a:uFill>
                  <a:solidFill>
                    <a:srgbClr val="898CFC"/>
                  </a:solidFill>
                </a:uFill>
                <a:latin typeface="Tahoma"/>
                <a:cs typeface="Tahoma"/>
              </a:rPr>
              <a:t> </a:t>
            </a:r>
            <a:r>
              <a:rPr sz="2774" u="sng" spc="-69" dirty="0">
                <a:solidFill>
                  <a:srgbClr val="898CFC"/>
                </a:solidFill>
                <a:uFill>
                  <a:solidFill>
                    <a:srgbClr val="898CFC"/>
                  </a:solidFill>
                </a:uFill>
                <a:latin typeface="Tahoma"/>
                <a:cs typeface="Tahoma"/>
              </a:rPr>
              <a:t>Counting	</a:t>
            </a:r>
            <a:endParaRPr sz="2774">
              <a:latin typeface="Tahoma"/>
              <a:cs typeface="Tahoma"/>
            </a:endParaRPr>
          </a:p>
        </p:txBody>
      </p:sp>
      <p:sp>
        <p:nvSpPr>
          <p:cNvPr id="3" name="object 3"/>
          <p:cNvSpPr txBox="1">
            <a:spLocks noGrp="1"/>
          </p:cNvSpPr>
          <p:nvPr>
            <p:ph type="title"/>
          </p:nvPr>
        </p:nvSpPr>
        <p:spPr>
          <a:xfrm>
            <a:off x="1788396" y="627893"/>
            <a:ext cx="6514471" cy="693824"/>
          </a:xfrm>
          <a:prstGeom prst="rect">
            <a:avLst/>
          </a:prstGeom>
        </p:spPr>
        <p:txBody>
          <a:bodyPr vert="horz" wrap="square" lIns="0" tIns="22650" rIns="0" bIns="0" rtlCol="0" anchor="b">
            <a:spAutoFit/>
          </a:bodyPr>
          <a:lstStyle/>
          <a:p>
            <a:pPr marL="25168">
              <a:spcBef>
                <a:spcPts val="178"/>
              </a:spcBef>
            </a:pPr>
            <a:r>
              <a:rPr sz="2180" spc="-40" dirty="0">
                <a:solidFill>
                  <a:srgbClr val="FF0000"/>
                </a:solidFill>
              </a:rPr>
              <a:t>Write</a:t>
            </a:r>
            <a:r>
              <a:rPr sz="2180" spc="40" dirty="0">
                <a:solidFill>
                  <a:srgbClr val="FF0000"/>
                </a:solidFill>
              </a:rPr>
              <a:t> </a:t>
            </a:r>
            <a:r>
              <a:rPr sz="2180" spc="-109" dirty="0">
                <a:solidFill>
                  <a:srgbClr val="FF0000"/>
                </a:solidFill>
              </a:rPr>
              <a:t>a</a:t>
            </a:r>
            <a:r>
              <a:rPr sz="2180" spc="50" dirty="0">
                <a:solidFill>
                  <a:srgbClr val="FF0000"/>
                </a:solidFill>
              </a:rPr>
              <a:t> </a:t>
            </a:r>
            <a:r>
              <a:rPr sz="2180" spc="-69" dirty="0">
                <a:solidFill>
                  <a:srgbClr val="FF0000"/>
                </a:solidFill>
              </a:rPr>
              <a:t>small</a:t>
            </a:r>
            <a:r>
              <a:rPr sz="2180" spc="30" dirty="0">
                <a:solidFill>
                  <a:srgbClr val="FF0000"/>
                </a:solidFill>
              </a:rPr>
              <a:t> </a:t>
            </a:r>
            <a:r>
              <a:rPr sz="2180" spc="-99" dirty="0">
                <a:solidFill>
                  <a:srgbClr val="FF0000"/>
                </a:solidFill>
              </a:rPr>
              <a:t>piece</a:t>
            </a:r>
            <a:r>
              <a:rPr sz="2180" spc="50" dirty="0">
                <a:solidFill>
                  <a:srgbClr val="FF0000"/>
                </a:solidFill>
              </a:rPr>
              <a:t> </a:t>
            </a:r>
            <a:r>
              <a:rPr sz="2180" spc="-69" dirty="0">
                <a:solidFill>
                  <a:srgbClr val="FF0000"/>
                </a:solidFill>
              </a:rPr>
              <a:t>of</a:t>
            </a:r>
            <a:r>
              <a:rPr sz="2180" spc="30" dirty="0">
                <a:solidFill>
                  <a:srgbClr val="FF0000"/>
                </a:solidFill>
              </a:rPr>
              <a:t> </a:t>
            </a:r>
            <a:r>
              <a:rPr sz="2180" spc="-99" dirty="0">
                <a:solidFill>
                  <a:srgbClr val="FF0000"/>
                </a:solidFill>
              </a:rPr>
              <a:t>code</a:t>
            </a:r>
            <a:r>
              <a:rPr sz="2180" spc="50" dirty="0">
                <a:solidFill>
                  <a:srgbClr val="FF0000"/>
                </a:solidFill>
              </a:rPr>
              <a:t> </a:t>
            </a:r>
            <a:r>
              <a:rPr sz="2180" spc="-30" dirty="0">
                <a:solidFill>
                  <a:srgbClr val="FF0000"/>
                </a:solidFill>
              </a:rPr>
              <a:t>to</a:t>
            </a:r>
            <a:r>
              <a:rPr sz="2180" spc="30" dirty="0">
                <a:solidFill>
                  <a:srgbClr val="FF0000"/>
                </a:solidFill>
              </a:rPr>
              <a:t> </a:t>
            </a:r>
            <a:r>
              <a:rPr sz="2180" spc="-119" dirty="0">
                <a:solidFill>
                  <a:srgbClr val="FF0000"/>
                </a:solidFill>
              </a:rPr>
              <a:t>draw</a:t>
            </a:r>
            <a:r>
              <a:rPr sz="2180" spc="40" dirty="0">
                <a:solidFill>
                  <a:srgbClr val="FF0000"/>
                </a:solidFill>
              </a:rPr>
              <a:t> </a:t>
            </a:r>
            <a:r>
              <a:rPr sz="2180" spc="-50" dirty="0">
                <a:solidFill>
                  <a:srgbClr val="FF0000"/>
                </a:solidFill>
              </a:rPr>
              <a:t>this</a:t>
            </a:r>
            <a:r>
              <a:rPr sz="2180" spc="30" dirty="0">
                <a:solidFill>
                  <a:srgbClr val="FF0000"/>
                </a:solidFill>
              </a:rPr>
              <a:t> </a:t>
            </a:r>
            <a:r>
              <a:rPr sz="2180" spc="-69" dirty="0">
                <a:solidFill>
                  <a:srgbClr val="FF0000"/>
                </a:solidFill>
              </a:rPr>
              <a:t>pattern</a:t>
            </a:r>
            <a:r>
              <a:rPr sz="2180" spc="50" dirty="0">
                <a:solidFill>
                  <a:srgbClr val="FF0000"/>
                </a:solidFill>
              </a:rPr>
              <a:t> </a:t>
            </a:r>
            <a:r>
              <a:rPr sz="2180" spc="-50" dirty="0">
                <a:solidFill>
                  <a:srgbClr val="FF0000"/>
                </a:solidFill>
              </a:rPr>
              <a:t>in</a:t>
            </a:r>
            <a:r>
              <a:rPr sz="2180" spc="50" dirty="0">
                <a:solidFill>
                  <a:srgbClr val="FF0000"/>
                </a:solidFill>
              </a:rPr>
              <a:t> </a:t>
            </a:r>
            <a:r>
              <a:rPr sz="2180" spc="-79" dirty="0">
                <a:solidFill>
                  <a:srgbClr val="FF0000"/>
                </a:solidFill>
              </a:rPr>
              <a:t>color</a:t>
            </a:r>
            <a:endParaRPr sz="2180"/>
          </a:p>
        </p:txBody>
      </p:sp>
      <p:grpSp>
        <p:nvGrpSpPr>
          <p:cNvPr id="4" name="object 4"/>
          <p:cNvGrpSpPr/>
          <p:nvPr/>
        </p:nvGrpSpPr>
        <p:grpSpPr>
          <a:xfrm>
            <a:off x="3125537" y="1671654"/>
            <a:ext cx="5965831" cy="4590456"/>
            <a:chOff x="806066" y="843566"/>
            <a:chExt cx="3010535" cy="2316480"/>
          </a:xfrm>
        </p:grpSpPr>
        <p:pic>
          <p:nvPicPr>
            <p:cNvPr id="5" name="object 5"/>
            <p:cNvPicPr/>
            <p:nvPr/>
          </p:nvPicPr>
          <p:blipFill>
            <a:blip r:embed="rId2" cstate="print"/>
            <a:stretch>
              <a:fillRect/>
            </a:stretch>
          </p:blipFill>
          <p:spPr>
            <a:xfrm>
              <a:off x="872216" y="843566"/>
              <a:ext cx="2927522" cy="2315950"/>
            </a:xfrm>
            <a:prstGeom prst="rect">
              <a:avLst/>
            </a:prstGeom>
          </p:spPr>
        </p:pic>
        <p:sp>
          <p:nvSpPr>
            <p:cNvPr id="6" name="object 6"/>
            <p:cNvSpPr/>
            <p:nvPr/>
          </p:nvSpPr>
          <p:spPr>
            <a:xfrm>
              <a:off x="3138760" y="911791"/>
              <a:ext cx="675640" cy="834390"/>
            </a:xfrm>
            <a:custGeom>
              <a:avLst/>
              <a:gdLst/>
              <a:ahLst/>
              <a:cxnLst/>
              <a:rect l="l" t="t" r="r" b="b"/>
              <a:pathLst>
                <a:path w="675639" h="834389">
                  <a:moveTo>
                    <a:pt x="287809" y="0"/>
                  </a:moveTo>
                  <a:lnTo>
                    <a:pt x="0" y="167299"/>
                  </a:lnTo>
                  <a:lnTo>
                    <a:pt x="387415" y="833762"/>
                  </a:lnTo>
                  <a:lnTo>
                    <a:pt x="675224" y="666452"/>
                  </a:lnTo>
                  <a:lnTo>
                    <a:pt x="287809" y="0"/>
                  </a:lnTo>
                  <a:close/>
                </a:path>
              </a:pathLst>
            </a:custGeom>
            <a:solidFill>
              <a:srgbClr val="FFFFFF"/>
            </a:solidFill>
          </p:spPr>
          <p:txBody>
            <a:bodyPr wrap="square" lIns="0" tIns="0" rIns="0" bIns="0" rtlCol="0"/>
            <a:lstStyle/>
            <a:p>
              <a:endParaRPr sz="3567"/>
            </a:p>
          </p:txBody>
        </p:sp>
        <p:sp>
          <p:nvSpPr>
            <p:cNvPr id="7" name="object 7"/>
            <p:cNvSpPr/>
            <p:nvPr/>
          </p:nvSpPr>
          <p:spPr>
            <a:xfrm>
              <a:off x="3138760" y="911791"/>
              <a:ext cx="675640" cy="834390"/>
            </a:xfrm>
            <a:custGeom>
              <a:avLst/>
              <a:gdLst/>
              <a:ahLst/>
              <a:cxnLst/>
              <a:rect l="l" t="t" r="r" b="b"/>
              <a:pathLst>
                <a:path w="675639" h="834389">
                  <a:moveTo>
                    <a:pt x="0" y="167299"/>
                  </a:moveTo>
                  <a:lnTo>
                    <a:pt x="387415" y="833762"/>
                  </a:lnTo>
                  <a:lnTo>
                    <a:pt x="675224" y="666452"/>
                  </a:lnTo>
                  <a:lnTo>
                    <a:pt x="287809" y="0"/>
                  </a:lnTo>
                  <a:lnTo>
                    <a:pt x="0" y="167299"/>
                  </a:lnTo>
                  <a:close/>
                </a:path>
              </a:pathLst>
            </a:custGeom>
            <a:ln w="4010">
              <a:solidFill>
                <a:srgbClr val="FFFFFF"/>
              </a:solidFill>
            </a:ln>
          </p:spPr>
          <p:txBody>
            <a:bodyPr wrap="square" lIns="0" tIns="0" rIns="0" bIns="0" rtlCol="0"/>
            <a:lstStyle/>
            <a:p>
              <a:endParaRPr sz="3567"/>
            </a:p>
          </p:txBody>
        </p:sp>
        <p:sp>
          <p:nvSpPr>
            <p:cNvPr id="8" name="object 8"/>
            <p:cNvSpPr/>
            <p:nvPr/>
          </p:nvSpPr>
          <p:spPr>
            <a:xfrm>
              <a:off x="808071" y="918949"/>
              <a:ext cx="485140" cy="600075"/>
            </a:xfrm>
            <a:custGeom>
              <a:avLst/>
              <a:gdLst/>
              <a:ahLst/>
              <a:cxnLst/>
              <a:rect l="l" t="t" r="r" b="b"/>
              <a:pathLst>
                <a:path w="485140" h="600075">
                  <a:moveTo>
                    <a:pt x="476654" y="0"/>
                  </a:moveTo>
                  <a:lnTo>
                    <a:pt x="0" y="6536"/>
                  </a:lnTo>
                  <a:lnTo>
                    <a:pt x="8130" y="599841"/>
                  </a:lnTo>
                  <a:lnTo>
                    <a:pt x="484775" y="593314"/>
                  </a:lnTo>
                  <a:lnTo>
                    <a:pt x="476654" y="0"/>
                  </a:lnTo>
                  <a:close/>
                </a:path>
              </a:pathLst>
            </a:custGeom>
            <a:solidFill>
              <a:srgbClr val="FFFFFF"/>
            </a:solidFill>
          </p:spPr>
          <p:txBody>
            <a:bodyPr wrap="square" lIns="0" tIns="0" rIns="0" bIns="0" rtlCol="0"/>
            <a:lstStyle/>
            <a:p>
              <a:endParaRPr sz="3567"/>
            </a:p>
          </p:txBody>
        </p:sp>
        <p:sp>
          <p:nvSpPr>
            <p:cNvPr id="9" name="object 9"/>
            <p:cNvSpPr/>
            <p:nvPr/>
          </p:nvSpPr>
          <p:spPr>
            <a:xfrm>
              <a:off x="808071" y="918949"/>
              <a:ext cx="485140" cy="600075"/>
            </a:xfrm>
            <a:custGeom>
              <a:avLst/>
              <a:gdLst/>
              <a:ahLst/>
              <a:cxnLst/>
              <a:rect l="l" t="t" r="r" b="b"/>
              <a:pathLst>
                <a:path w="485140" h="600075">
                  <a:moveTo>
                    <a:pt x="0" y="6536"/>
                  </a:moveTo>
                  <a:lnTo>
                    <a:pt x="8130" y="599841"/>
                  </a:lnTo>
                  <a:lnTo>
                    <a:pt x="484775" y="593314"/>
                  </a:lnTo>
                  <a:lnTo>
                    <a:pt x="476654" y="0"/>
                  </a:lnTo>
                  <a:lnTo>
                    <a:pt x="0" y="6536"/>
                  </a:lnTo>
                  <a:close/>
                </a:path>
              </a:pathLst>
            </a:custGeom>
            <a:ln w="4010">
              <a:solidFill>
                <a:srgbClr val="FFFFFF"/>
              </a:solidFill>
            </a:ln>
          </p:spPr>
          <p:txBody>
            <a:bodyPr wrap="square" lIns="0" tIns="0" rIns="0" bIns="0" rtlCol="0"/>
            <a:lstStyle/>
            <a:p>
              <a:endParaRPr sz="3567"/>
            </a:p>
          </p:txBody>
        </p:sp>
      </p:gr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5831" y="40190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57" dirty="0"/>
              <a:t> </a:t>
            </a:r>
            <a:r>
              <a:rPr spc="-119" dirty="0"/>
              <a:t>Recurrences	</a:t>
            </a:r>
          </a:p>
        </p:txBody>
      </p:sp>
      <p:sp>
        <p:nvSpPr>
          <p:cNvPr id="10" name="object 10"/>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3" name="object 3"/>
          <p:cNvSpPr/>
          <p:nvPr/>
        </p:nvSpPr>
        <p:spPr>
          <a:xfrm>
            <a:off x="2103359" y="3986799"/>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4" name="object 4"/>
          <p:cNvSpPr/>
          <p:nvPr/>
        </p:nvSpPr>
        <p:spPr>
          <a:xfrm>
            <a:off x="2103359" y="4509014"/>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5" name="object 5"/>
          <p:cNvSpPr txBox="1"/>
          <p:nvPr/>
        </p:nvSpPr>
        <p:spPr>
          <a:xfrm>
            <a:off x="1788395" y="1107935"/>
            <a:ext cx="8609621" cy="3610264"/>
          </a:xfrm>
          <a:prstGeom prst="rect">
            <a:avLst/>
          </a:prstGeom>
        </p:spPr>
        <p:txBody>
          <a:bodyPr vert="horz" wrap="square" lIns="0" tIns="22650" rIns="0" bIns="0" rtlCol="0">
            <a:spAutoFit/>
          </a:bodyPr>
          <a:lstStyle/>
          <a:p>
            <a:pPr marL="25168">
              <a:spcBef>
                <a:spcPts val="178"/>
              </a:spcBef>
            </a:pPr>
            <a:r>
              <a:rPr sz="2180" b="1" dirty="0">
                <a:latin typeface="Arial"/>
                <a:cs typeface="Arial"/>
              </a:rPr>
              <a:t>The</a:t>
            </a:r>
            <a:r>
              <a:rPr sz="2180" b="1" spc="178" dirty="0">
                <a:latin typeface="Arial"/>
                <a:cs typeface="Arial"/>
              </a:rPr>
              <a:t> </a:t>
            </a:r>
            <a:r>
              <a:rPr sz="2180" b="1" spc="-168" dirty="0">
                <a:latin typeface="Arial"/>
                <a:cs typeface="Arial"/>
              </a:rPr>
              <a:t>Josephus</a:t>
            </a:r>
            <a:r>
              <a:rPr sz="2180" b="1" spc="178" dirty="0">
                <a:latin typeface="Arial"/>
                <a:cs typeface="Arial"/>
              </a:rPr>
              <a:t> </a:t>
            </a:r>
            <a:r>
              <a:rPr sz="2180" b="1" spc="-69" dirty="0">
                <a:latin typeface="Arial"/>
                <a:cs typeface="Arial"/>
              </a:rPr>
              <a:t>Problem:</a:t>
            </a:r>
            <a:r>
              <a:rPr sz="2180" b="1" spc="446" dirty="0">
                <a:latin typeface="Arial"/>
                <a:cs typeface="Arial"/>
              </a:rPr>
              <a:t> </a:t>
            </a:r>
            <a:r>
              <a:rPr sz="2180" b="1" spc="59" dirty="0">
                <a:latin typeface="Arial"/>
                <a:cs typeface="Arial"/>
              </a:rPr>
              <a:t>Matter</a:t>
            </a:r>
            <a:r>
              <a:rPr sz="2180" b="1" spc="188" dirty="0">
                <a:latin typeface="Arial"/>
                <a:cs typeface="Arial"/>
              </a:rPr>
              <a:t> </a:t>
            </a:r>
            <a:r>
              <a:rPr sz="2180" b="1" spc="-79" dirty="0">
                <a:latin typeface="Arial"/>
                <a:cs typeface="Arial"/>
              </a:rPr>
              <a:t>of</a:t>
            </a:r>
            <a:r>
              <a:rPr sz="2180" b="1" spc="178" dirty="0">
                <a:latin typeface="Arial"/>
                <a:cs typeface="Arial"/>
              </a:rPr>
              <a:t> </a:t>
            </a:r>
            <a:r>
              <a:rPr sz="2180" b="1" spc="-69" dirty="0">
                <a:latin typeface="Arial"/>
                <a:cs typeface="Arial"/>
              </a:rPr>
              <a:t>Life</a:t>
            </a:r>
            <a:r>
              <a:rPr sz="2180" b="1" spc="188" dirty="0">
                <a:latin typeface="Arial"/>
                <a:cs typeface="Arial"/>
              </a:rPr>
              <a:t> </a:t>
            </a:r>
            <a:r>
              <a:rPr sz="2180" b="1" spc="-109" dirty="0">
                <a:latin typeface="Arial"/>
                <a:cs typeface="Arial"/>
              </a:rPr>
              <a:t>and</a:t>
            </a:r>
            <a:r>
              <a:rPr sz="2180" b="1" spc="178" dirty="0">
                <a:latin typeface="Arial"/>
                <a:cs typeface="Arial"/>
              </a:rPr>
              <a:t> </a:t>
            </a:r>
            <a:r>
              <a:rPr sz="2180" b="1" spc="-10" dirty="0">
                <a:latin typeface="Arial"/>
                <a:cs typeface="Arial"/>
              </a:rPr>
              <a:t>Death</a:t>
            </a:r>
            <a:endParaRPr sz="2180" dirty="0">
              <a:latin typeface="Arial"/>
              <a:cs typeface="Arial"/>
            </a:endParaRPr>
          </a:p>
          <a:p>
            <a:pPr>
              <a:lnSpc>
                <a:spcPct val="100000"/>
              </a:lnSpc>
            </a:pPr>
            <a:endParaRPr sz="2477" dirty="0">
              <a:latin typeface="Arial"/>
              <a:cs typeface="Arial"/>
            </a:endParaRPr>
          </a:p>
          <a:p>
            <a:pPr marL="25168" marR="10067">
              <a:lnSpc>
                <a:spcPct val="102600"/>
              </a:lnSpc>
              <a:spcBef>
                <a:spcPts val="10"/>
              </a:spcBef>
            </a:pPr>
            <a:r>
              <a:rPr sz="2180" spc="-50" dirty="0">
                <a:latin typeface="Tahoma"/>
                <a:cs typeface="Tahoma"/>
              </a:rPr>
              <a:t>During</a:t>
            </a:r>
            <a:r>
              <a:rPr sz="2180" spc="30" dirty="0">
                <a:latin typeface="Tahoma"/>
                <a:cs typeface="Tahoma"/>
              </a:rPr>
              <a:t> </a:t>
            </a:r>
            <a:r>
              <a:rPr sz="2180" spc="-79" dirty="0">
                <a:latin typeface="Tahoma"/>
                <a:cs typeface="Tahoma"/>
              </a:rPr>
              <a:t>the</a:t>
            </a:r>
            <a:r>
              <a:rPr sz="2180" spc="50" dirty="0">
                <a:latin typeface="Tahoma"/>
                <a:cs typeface="Tahoma"/>
              </a:rPr>
              <a:t> </a:t>
            </a:r>
            <a:r>
              <a:rPr sz="2180" spc="-79" dirty="0">
                <a:latin typeface="Tahoma"/>
                <a:cs typeface="Tahoma"/>
              </a:rPr>
              <a:t>Jewish-Roman</a:t>
            </a:r>
            <a:r>
              <a:rPr sz="2180" spc="30" dirty="0">
                <a:latin typeface="Tahoma"/>
                <a:cs typeface="Tahoma"/>
              </a:rPr>
              <a:t> </a:t>
            </a:r>
            <a:r>
              <a:rPr sz="2180" spc="-129" dirty="0">
                <a:latin typeface="Tahoma"/>
                <a:cs typeface="Tahoma"/>
              </a:rPr>
              <a:t>war,</a:t>
            </a:r>
            <a:r>
              <a:rPr sz="2180" spc="50" dirty="0">
                <a:latin typeface="Tahoma"/>
                <a:cs typeface="Tahoma"/>
              </a:rPr>
              <a:t> </a:t>
            </a:r>
            <a:r>
              <a:rPr sz="2180" spc="-59" dirty="0">
                <a:latin typeface="Tahoma"/>
                <a:cs typeface="Tahoma"/>
              </a:rPr>
              <a:t>Falvius</a:t>
            </a:r>
            <a:r>
              <a:rPr sz="2180" spc="40" dirty="0">
                <a:latin typeface="Tahoma"/>
                <a:cs typeface="Tahoma"/>
              </a:rPr>
              <a:t> </a:t>
            </a:r>
            <a:r>
              <a:rPr sz="2180" spc="-99" dirty="0">
                <a:latin typeface="Tahoma"/>
                <a:cs typeface="Tahoma"/>
              </a:rPr>
              <a:t>Josephus</a:t>
            </a:r>
            <a:r>
              <a:rPr sz="2180" spc="50" dirty="0">
                <a:latin typeface="Tahoma"/>
                <a:cs typeface="Tahoma"/>
              </a:rPr>
              <a:t> </a:t>
            </a:r>
            <a:r>
              <a:rPr sz="2180" spc="-159" dirty="0">
                <a:latin typeface="Tahoma"/>
                <a:cs typeface="Tahoma"/>
              </a:rPr>
              <a:t>was</a:t>
            </a:r>
            <a:r>
              <a:rPr sz="2180" spc="40" dirty="0">
                <a:latin typeface="Tahoma"/>
                <a:cs typeface="Tahoma"/>
              </a:rPr>
              <a:t> </a:t>
            </a:r>
            <a:r>
              <a:rPr sz="2180" spc="-119" dirty="0">
                <a:latin typeface="Tahoma"/>
                <a:cs typeface="Tahoma"/>
              </a:rPr>
              <a:t>among</a:t>
            </a:r>
            <a:r>
              <a:rPr sz="2180" spc="50" dirty="0">
                <a:latin typeface="Tahoma"/>
                <a:cs typeface="Tahoma"/>
              </a:rPr>
              <a:t> </a:t>
            </a:r>
            <a:r>
              <a:rPr sz="2180" spc="-109" dirty="0">
                <a:latin typeface="Tahoma"/>
                <a:cs typeface="Tahoma"/>
              </a:rPr>
              <a:t>41</a:t>
            </a:r>
            <a:r>
              <a:rPr sz="2180" spc="30" dirty="0">
                <a:latin typeface="Tahoma"/>
                <a:cs typeface="Tahoma"/>
              </a:rPr>
              <a:t> </a:t>
            </a:r>
            <a:r>
              <a:rPr sz="2180" spc="-89" dirty="0">
                <a:latin typeface="Tahoma"/>
                <a:cs typeface="Tahoma"/>
              </a:rPr>
              <a:t>soldiers </a:t>
            </a:r>
            <a:r>
              <a:rPr sz="2180" spc="-79" dirty="0">
                <a:latin typeface="Tahoma"/>
                <a:cs typeface="Tahoma"/>
              </a:rPr>
              <a:t> trapped</a:t>
            </a:r>
            <a:r>
              <a:rPr sz="2180" dirty="0">
                <a:latin typeface="Tahoma"/>
                <a:cs typeface="Tahoma"/>
              </a:rPr>
              <a:t> </a:t>
            </a:r>
            <a:r>
              <a:rPr sz="2180" spc="-50" dirty="0">
                <a:latin typeface="Tahoma"/>
                <a:cs typeface="Tahoma"/>
              </a:rPr>
              <a:t>in</a:t>
            </a:r>
            <a:r>
              <a:rPr sz="2180" spc="10" dirty="0">
                <a:latin typeface="Tahoma"/>
                <a:cs typeface="Tahoma"/>
              </a:rPr>
              <a:t> </a:t>
            </a:r>
            <a:r>
              <a:rPr sz="2180" spc="-109" dirty="0">
                <a:latin typeface="Tahoma"/>
                <a:cs typeface="Tahoma"/>
              </a:rPr>
              <a:t>a</a:t>
            </a:r>
            <a:r>
              <a:rPr sz="2180" spc="10" dirty="0">
                <a:latin typeface="Tahoma"/>
                <a:cs typeface="Tahoma"/>
              </a:rPr>
              <a:t> </a:t>
            </a:r>
            <a:r>
              <a:rPr sz="2180" spc="-99" dirty="0">
                <a:latin typeface="Tahoma"/>
                <a:cs typeface="Tahoma"/>
              </a:rPr>
              <a:t>cave.</a:t>
            </a:r>
            <a:r>
              <a:rPr sz="2180" spc="277" dirty="0">
                <a:latin typeface="Tahoma"/>
                <a:cs typeface="Tahoma"/>
              </a:rPr>
              <a:t> </a:t>
            </a:r>
            <a:r>
              <a:rPr sz="2180" spc="-50" dirty="0">
                <a:latin typeface="Tahoma"/>
                <a:cs typeface="Tahoma"/>
              </a:rPr>
              <a:t>They</a:t>
            </a:r>
            <a:r>
              <a:rPr sz="2180" spc="10" dirty="0">
                <a:latin typeface="Tahoma"/>
                <a:cs typeface="Tahoma"/>
              </a:rPr>
              <a:t> </a:t>
            </a:r>
            <a:r>
              <a:rPr sz="2180" spc="-119" dirty="0">
                <a:latin typeface="Tahoma"/>
                <a:cs typeface="Tahoma"/>
              </a:rPr>
              <a:t>preferred</a:t>
            </a:r>
            <a:r>
              <a:rPr sz="2180" dirty="0">
                <a:latin typeface="Tahoma"/>
                <a:cs typeface="Tahoma"/>
              </a:rPr>
              <a:t> </a:t>
            </a:r>
            <a:r>
              <a:rPr sz="2180" spc="-79" dirty="0">
                <a:latin typeface="Tahoma"/>
                <a:cs typeface="Tahoma"/>
              </a:rPr>
              <a:t>suicide</a:t>
            </a:r>
            <a:r>
              <a:rPr sz="2180" spc="10" dirty="0">
                <a:latin typeface="Tahoma"/>
                <a:cs typeface="Tahoma"/>
              </a:rPr>
              <a:t> </a:t>
            </a:r>
            <a:r>
              <a:rPr sz="2180" spc="-109" dirty="0">
                <a:latin typeface="Tahoma"/>
                <a:cs typeface="Tahoma"/>
              </a:rPr>
              <a:t>over</a:t>
            </a:r>
            <a:r>
              <a:rPr sz="2180" spc="10" dirty="0">
                <a:latin typeface="Tahoma"/>
                <a:cs typeface="Tahoma"/>
              </a:rPr>
              <a:t> </a:t>
            </a:r>
            <a:r>
              <a:rPr sz="2180" spc="-79" dirty="0">
                <a:latin typeface="Tahoma"/>
                <a:cs typeface="Tahoma"/>
              </a:rPr>
              <a:t>capture</a:t>
            </a:r>
            <a:r>
              <a:rPr sz="2180" spc="10" dirty="0">
                <a:latin typeface="Tahoma"/>
                <a:cs typeface="Tahoma"/>
              </a:rPr>
              <a:t> </a:t>
            </a:r>
            <a:r>
              <a:rPr sz="2180" spc="-99" dirty="0">
                <a:latin typeface="Tahoma"/>
                <a:cs typeface="Tahoma"/>
              </a:rPr>
              <a:t>and</a:t>
            </a:r>
            <a:r>
              <a:rPr sz="2180" spc="10" dirty="0">
                <a:latin typeface="Tahoma"/>
                <a:cs typeface="Tahoma"/>
              </a:rPr>
              <a:t> </a:t>
            </a:r>
            <a:r>
              <a:rPr sz="2180" spc="-109" dirty="0">
                <a:latin typeface="Tahoma"/>
                <a:cs typeface="Tahoma"/>
              </a:rPr>
              <a:t>formed</a:t>
            </a:r>
            <a:r>
              <a:rPr sz="2180" dirty="0">
                <a:latin typeface="Tahoma"/>
                <a:cs typeface="Tahoma"/>
              </a:rPr>
              <a:t> </a:t>
            </a:r>
            <a:r>
              <a:rPr sz="2180" spc="-109" dirty="0">
                <a:latin typeface="Tahoma"/>
                <a:cs typeface="Tahoma"/>
              </a:rPr>
              <a:t>a</a:t>
            </a:r>
            <a:r>
              <a:rPr sz="2180" spc="10" dirty="0">
                <a:latin typeface="Tahoma"/>
                <a:cs typeface="Tahoma"/>
              </a:rPr>
              <a:t> </a:t>
            </a:r>
            <a:r>
              <a:rPr sz="2180" spc="-59" dirty="0">
                <a:latin typeface="Tahoma"/>
                <a:cs typeface="Tahoma"/>
              </a:rPr>
              <a:t>circle. </a:t>
            </a:r>
            <a:r>
              <a:rPr sz="2180" spc="-654" dirty="0">
                <a:latin typeface="Tahoma"/>
                <a:cs typeface="Tahoma"/>
              </a:rPr>
              <a:t> </a:t>
            </a:r>
            <a:r>
              <a:rPr sz="2180" spc="-79" dirty="0">
                <a:latin typeface="Tahoma"/>
                <a:cs typeface="Tahoma"/>
              </a:rPr>
              <a:t>Going</a:t>
            </a:r>
            <a:r>
              <a:rPr sz="2180" spc="40" dirty="0">
                <a:latin typeface="Tahoma"/>
                <a:cs typeface="Tahoma"/>
              </a:rPr>
              <a:t> </a:t>
            </a:r>
            <a:r>
              <a:rPr sz="2180" spc="-109" dirty="0">
                <a:latin typeface="Tahoma"/>
                <a:cs typeface="Tahoma"/>
              </a:rPr>
              <a:t>around</a:t>
            </a:r>
            <a:r>
              <a:rPr sz="2180" spc="59" dirty="0">
                <a:latin typeface="Tahoma"/>
                <a:cs typeface="Tahoma"/>
              </a:rPr>
              <a:t> </a:t>
            </a:r>
            <a:r>
              <a:rPr sz="2180" spc="-79" dirty="0">
                <a:latin typeface="Tahoma"/>
                <a:cs typeface="Tahoma"/>
              </a:rPr>
              <a:t>the</a:t>
            </a:r>
            <a:r>
              <a:rPr sz="2180" spc="50" dirty="0">
                <a:latin typeface="Tahoma"/>
                <a:cs typeface="Tahoma"/>
              </a:rPr>
              <a:t> </a:t>
            </a:r>
            <a:r>
              <a:rPr sz="2180" spc="-59" dirty="0">
                <a:latin typeface="Tahoma"/>
                <a:cs typeface="Tahoma"/>
              </a:rPr>
              <a:t>circle,</a:t>
            </a:r>
            <a:r>
              <a:rPr sz="2180" spc="50" dirty="0">
                <a:latin typeface="Tahoma"/>
                <a:cs typeface="Tahoma"/>
              </a:rPr>
              <a:t> </a:t>
            </a:r>
            <a:r>
              <a:rPr sz="2180" spc="-89" dirty="0">
                <a:latin typeface="Tahoma"/>
                <a:cs typeface="Tahoma"/>
              </a:rPr>
              <a:t>they</a:t>
            </a:r>
            <a:r>
              <a:rPr sz="2180" spc="59" dirty="0">
                <a:latin typeface="Tahoma"/>
                <a:cs typeface="Tahoma"/>
              </a:rPr>
              <a:t> </a:t>
            </a:r>
            <a:r>
              <a:rPr sz="2180" spc="-50" dirty="0">
                <a:latin typeface="Tahoma"/>
                <a:cs typeface="Tahoma"/>
              </a:rPr>
              <a:t>killed</a:t>
            </a:r>
            <a:r>
              <a:rPr sz="2180" spc="59" dirty="0">
                <a:latin typeface="Tahoma"/>
                <a:cs typeface="Tahoma"/>
              </a:rPr>
              <a:t> </a:t>
            </a:r>
            <a:r>
              <a:rPr sz="2180" spc="-129" dirty="0">
                <a:latin typeface="Tahoma"/>
                <a:cs typeface="Tahoma"/>
              </a:rPr>
              <a:t>every</a:t>
            </a:r>
            <a:r>
              <a:rPr sz="2180" spc="59" dirty="0">
                <a:latin typeface="Tahoma"/>
                <a:cs typeface="Tahoma"/>
              </a:rPr>
              <a:t> </a:t>
            </a:r>
            <a:r>
              <a:rPr sz="2180" spc="-40" dirty="0">
                <a:latin typeface="Tahoma"/>
                <a:cs typeface="Tahoma"/>
              </a:rPr>
              <a:t>third</a:t>
            </a:r>
            <a:r>
              <a:rPr sz="2180" spc="50" dirty="0">
                <a:latin typeface="Tahoma"/>
                <a:cs typeface="Tahoma"/>
              </a:rPr>
              <a:t> </a:t>
            </a:r>
            <a:r>
              <a:rPr sz="2180" spc="-89" dirty="0">
                <a:latin typeface="Tahoma"/>
                <a:cs typeface="Tahoma"/>
              </a:rPr>
              <a:t>remaining</a:t>
            </a:r>
            <a:r>
              <a:rPr sz="2180" spc="59" dirty="0">
                <a:latin typeface="Tahoma"/>
                <a:cs typeface="Tahoma"/>
              </a:rPr>
              <a:t> </a:t>
            </a:r>
            <a:r>
              <a:rPr sz="2180" spc="-109" dirty="0">
                <a:latin typeface="Tahoma"/>
                <a:cs typeface="Tahoma"/>
              </a:rPr>
              <a:t>person</a:t>
            </a:r>
            <a:r>
              <a:rPr sz="2180" spc="59" dirty="0">
                <a:latin typeface="Tahoma"/>
                <a:cs typeface="Tahoma"/>
              </a:rPr>
              <a:t> </a:t>
            </a:r>
            <a:r>
              <a:rPr sz="2180" spc="-30" dirty="0">
                <a:latin typeface="Tahoma"/>
                <a:cs typeface="Tahoma"/>
              </a:rPr>
              <a:t>until</a:t>
            </a:r>
            <a:r>
              <a:rPr sz="2180" spc="50" dirty="0">
                <a:latin typeface="Tahoma"/>
                <a:cs typeface="Tahoma"/>
              </a:rPr>
              <a:t> </a:t>
            </a:r>
            <a:r>
              <a:rPr sz="2180" spc="-109" dirty="0">
                <a:latin typeface="Tahoma"/>
                <a:cs typeface="Tahoma"/>
              </a:rPr>
              <a:t>no </a:t>
            </a:r>
            <a:r>
              <a:rPr sz="2180" spc="-99" dirty="0">
                <a:latin typeface="Tahoma"/>
                <a:cs typeface="Tahoma"/>
              </a:rPr>
              <a:t> </a:t>
            </a:r>
            <a:r>
              <a:rPr sz="2180" spc="-139" dirty="0">
                <a:latin typeface="Tahoma"/>
                <a:cs typeface="Tahoma"/>
              </a:rPr>
              <a:t>one</a:t>
            </a:r>
            <a:r>
              <a:rPr sz="2180" spc="30" dirty="0">
                <a:latin typeface="Tahoma"/>
                <a:cs typeface="Tahoma"/>
              </a:rPr>
              <a:t> </a:t>
            </a:r>
            <a:r>
              <a:rPr sz="2180" spc="-159" dirty="0">
                <a:latin typeface="Tahoma"/>
                <a:cs typeface="Tahoma"/>
              </a:rPr>
              <a:t>was</a:t>
            </a:r>
            <a:r>
              <a:rPr sz="2180" spc="40" dirty="0">
                <a:latin typeface="Tahoma"/>
                <a:cs typeface="Tahoma"/>
              </a:rPr>
              <a:t> </a:t>
            </a:r>
            <a:r>
              <a:rPr sz="2180" spc="-50" dirty="0">
                <a:latin typeface="Tahoma"/>
                <a:cs typeface="Tahoma"/>
              </a:rPr>
              <a:t>left.</a:t>
            </a:r>
            <a:r>
              <a:rPr sz="2180" spc="277" dirty="0">
                <a:latin typeface="Tahoma"/>
                <a:cs typeface="Tahoma"/>
              </a:rPr>
              <a:t> </a:t>
            </a:r>
            <a:r>
              <a:rPr sz="2180" spc="30" dirty="0">
                <a:latin typeface="Tahoma"/>
                <a:cs typeface="Tahoma"/>
              </a:rPr>
              <a:t>But</a:t>
            </a:r>
            <a:r>
              <a:rPr sz="2180" spc="40" dirty="0">
                <a:latin typeface="Tahoma"/>
                <a:cs typeface="Tahoma"/>
              </a:rPr>
              <a:t> </a:t>
            </a:r>
            <a:r>
              <a:rPr sz="2180" spc="-99" dirty="0">
                <a:latin typeface="Tahoma"/>
                <a:cs typeface="Tahoma"/>
              </a:rPr>
              <a:t>Josephus</a:t>
            </a:r>
            <a:r>
              <a:rPr sz="2180" spc="30" dirty="0">
                <a:latin typeface="Tahoma"/>
                <a:cs typeface="Tahoma"/>
              </a:rPr>
              <a:t> </a:t>
            </a:r>
            <a:r>
              <a:rPr sz="2180" spc="-99" dirty="0">
                <a:latin typeface="Tahoma"/>
                <a:cs typeface="Tahoma"/>
              </a:rPr>
              <a:t>and</a:t>
            </a:r>
            <a:r>
              <a:rPr sz="2180" spc="40" dirty="0">
                <a:latin typeface="Tahoma"/>
                <a:cs typeface="Tahoma"/>
              </a:rPr>
              <a:t> </a:t>
            </a:r>
            <a:r>
              <a:rPr sz="2180" spc="-89" dirty="0">
                <a:latin typeface="Tahoma"/>
                <a:cs typeface="Tahoma"/>
              </a:rPr>
              <a:t>another</a:t>
            </a:r>
            <a:r>
              <a:rPr sz="2180" spc="40" dirty="0">
                <a:latin typeface="Tahoma"/>
                <a:cs typeface="Tahoma"/>
              </a:rPr>
              <a:t> </a:t>
            </a:r>
            <a:r>
              <a:rPr sz="2180" spc="-109" dirty="0">
                <a:latin typeface="Tahoma"/>
                <a:cs typeface="Tahoma"/>
              </a:rPr>
              <a:t>person</a:t>
            </a:r>
            <a:r>
              <a:rPr sz="2180" spc="40" dirty="0">
                <a:latin typeface="Tahoma"/>
                <a:cs typeface="Tahoma"/>
              </a:rPr>
              <a:t> </a:t>
            </a:r>
            <a:r>
              <a:rPr sz="2180" spc="-89" dirty="0">
                <a:latin typeface="Tahoma"/>
                <a:cs typeface="Tahoma"/>
              </a:rPr>
              <a:t>survived.</a:t>
            </a:r>
            <a:endParaRPr sz="2180" dirty="0">
              <a:latin typeface="Tahoma"/>
              <a:cs typeface="Tahoma"/>
            </a:endParaRPr>
          </a:p>
          <a:p>
            <a:pPr>
              <a:lnSpc>
                <a:spcPct val="100000"/>
              </a:lnSpc>
            </a:pPr>
            <a:endParaRPr sz="2180" dirty="0">
              <a:latin typeface="Tahoma"/>
              <a:cs typeface="Tahoma"/>
            </a:endParaRPr>
          </a:p>
          <a:p>
            <a:pPr>
              <a:spcBef>
                <a:spcPts val="30"/>
              </a:spcBef>
            </a:pPr>
            <a:endParaRPr sz="1883" dirty="0">
              <a:latin typeface="Tahoma"/>
              <a:cs typeface="Tahoma"/>
            </a:endParaRPr>
          </a:p>
          <a:p>
            <a:pPr marL="573821"/>
            <a:r>
              <a:rPr sz="2180" spc="-69" dirty="0">
                <a:solidFill>
                  <a:srgbClr val="FF0000"/>
                </a:solidFill>
                <a:latin typeface="Tahoma"/>
                <a:cs typeface="Tahoma"/>
              </a:rPr>
              <a:t>He</a:t>
            </a:r>
            <a:r>
              <a:rPr sz="2180" spc="-30" dirty="0">
                <a:solidFill>
                  <a:srgbClr val="FF0000"/>
                </a:solidFill>
                <a:latin typeface="Tahoma"/>
                <a:cs typeface="Tahoma"/>
              </a:rPr>
              <a:t> </a:t>
            </a:r>
            <a:r>
              <a:rPr sz="2180" spc="-159" dirty="0">
                <a:solidFill>
                  <a:srgbClr val="FF0000"/>
                </a:solidFill>
                <a:latin typeface="Tahoma"/>
                <a:cs typeface="Tahoma"/>
              </a:rPr>
              <a:t>was</a:t>
            </a:r>
            <a:r>
              <a:rPr sz="2180" spc="-10" dirty="0">
                <a:solidFill>
                  <a:srgbClr val="FF0000"/>
                </a:solidFill>
                <a:latin typeface="Tahoma"/>
                <a:cs typeface="Tahoma"/>
              </a:rPr>
              <a:t> </a:t>
            </a:r>
            <a:r>
              <a:rPr sz="2180" spc="-50" dirty="0">
                <a:solidFill>
                  <a:srgbClr val="FF0000"/>
                </a:solidFill>
                <a:latin typeface="Tahoma"/>
                <a:cs typeface="Tahoma"/>
              </a:rPr>
              <a:t>lucky!</a:t>
            </a:r>
            <a:endParaRPr sz="2180" dirty="0">
              <a:latin typeface="Tahoma"/>
              <a:cs typeface="Tahoma"/>
            </a:endParaRPr>
          </a:p>
          <a:p>
            <a:pPr marL="573821">
              <a:spcBef>
                <a:spcPts val="1496"/>
              </a:spcBef>
            </a:pPr>
            <a:r>
              <a:rPr sz="2180" spc="-30" dirty="0">
                <a:latin typeface="Tahoma"/>
                <a:cs typeface="Tahoma"/>
              </a:rPr>
              <a:t>No,</a:t>
            </a:r>
            <a:r>
              <a:rPr sz="2180" spc="10" dirty="0">
                <a:latin typeface="Tahoma"/>
                <a:cs typeface="Tahoma"/>
              </a:rPr>
              <a:t> </a:t>
            </a:r>
            <a:r>
              <a:rPr sz="2180" spc="-149" dirty="0">
                <a:latin typeface="Tahoma"/>
                <a:cs typeface="Tahoma"/>
              </a:rPr>
              <a:t>he</a:t>
            </a:r>
            <a:r>
              <a:rPr sz="2180" spc="20" dirty="0">
                <a:latin typeface="Tahoma"/>
                <a:cs typeface="Tahoma"/>
              </a:rPr>
              <a:t> </a:t>
            </a:r>
            <a:r>
              <a:rPr sz="2180" spc="-119" dirty="0">
                <a:latin typeface="Tahoma"/>
                <a:cs typeface="Tahoma"/>
              </a:rPr>
              <a:t>knew</a:t>
            </a:r>
            <a:r>
              <a:rPr sz="2180" spc="20" dirty="0">
                <a:latin typeface="Tahoma"/>
                <a:cs typeface="Tahoma"/>
              </a:rPr>
              <a:t> </a:t>
            </a:r>
            <a:r>
              <a:rPr sz="2180" spc="-59" dirty="0">
                <a:latin typeface="Tahoma"/>
                <a:cs typeface="Tahoma"/>
              </a:rPr>
              <a:t>Discrete</a:t>
            </a:r>
            <a:r>
              <a:rPr sz="2180" spc="10" dirty="0">
                <a:latin typeface="Tahoma"/>
                <a:cs typeface="Tahoma"/>
              </a:rPr>
              <a:t> </a:t>
            </a:r>
            <a:r>
              <a:rPr sz="2180" spc="-50" dirty="0">
                <a:latin typeface="Tahoma"/>
                <a:cs typeface="Tahoma"/>
              </a:rPr>
              <a:t>Mathematics</a:t>
            </a:r>
            <a:endParaRPr sz="2180" dirty="0">
              <a:latin typeface="Tahoma"/>
              <a:cs typeface="Tahoma"/>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5932" y="311962"/>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57" dirty="0"/>
              <a:t> </a:t>
            </a:r>
            <a:r>
              <a:rPr spc="-119" dirty="0"/>
              <a:t>Recurrences	</a:t>
            </a:r>
          </a:p>
        </p:txBody>
      </p:sp>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3" name="object 3"/>
          <p:cNvSpPr txBox="1"/>
          <p:nvPr/>
        </p:nvSpPr>
        <p:spPr>
          <a:xfrm>
            <a:off x="1788396" y="941695"/>
            <a:ext cx="5965831" cy="2329144"/>
          </a:xfrm>
          <a:prstGeom prst="rect">
            <a:avLst/>
          </a:prstGeom>
        </p:spPr>
        <p:txBody>
          <a:bodyPr vert="horz" wrap="square" lIns="0" tIns="22650" rIns="0" bIns="0" rtlCol="0">
            <a:spAutoFit/>
          </a:bodyPr>
          <a:lstStyle/>
          <a:p>
            <a:pPr marL="25168">
              <a:spcBef>
                <a:spcPts val="178"/>
              </a:spcBef>
            </a:pPr>
            <a:r>
              <a:rPr sz="2180" b="1" dirty="0">
                <a:latin typeface="Arial"/>
                <a:cs typeface="Arial"/>
              </a:rPr>
              <a:t>The</a:t>
            </a:r>
            <a:r>
              <a:rPr sz="2180" b="1" spc="159" dirty="0">
                <a:latin typeface="Arial"/>
                <a:cs typeface="Arial"/>
              </a:rPr>
              <a:t> </a:t>
            </a:r>
            <a:r>
              <a:rPr sz="2180" b="1" spc="-168" dirty="0">
                <a:latin typeface="Arial"/>
                <a:cs typeface="Arial"/>
              </a:rPr>
              <a:t>Josephus</a:t>
            </a:r>
            <a:r>
              <a:rPr sz="2180" b="1" spc="159" dirty="0">
                <a:latin typeface="Arial"/>
                <a:cs typeface="Arial"/>
              </a:rPr>
              <a:t> </a:t>
            </a:r>
            <a:r>
              <a:rPr sz="2180" b="1" spc="-69" dirty="0">
                <a:latin typeface="Arial"/>
                <a:cs typeface="Arial"/>
              </a:rPr>
              <a:t>Problem</a:t>
            </a:r>
            <a:r>
              <a:rPr sz="2180" b="1" spc="168" dirty="0">
                <a:latin typeface="Arial"/>
                <a:cs typeface="Arial"/>
              </a:rPr>
              <a:t> </a:t>
            </a:r>
            <a:r>
              <a:rPr sz="2180" b="1" spc="59" dirty="0">
                <a:latin typeface="Arial"/>
                <a:cs typeface="Arial"/>
              </a:rPr>
              <a:t>(a</a:t>
            </a:r>
            <a:r>
              <a:rPr sz="2180" b="1" spc="168" dirty="0">
                <a:latin typeface="Arial"/>
                <a:cs typeface="Arial"/>
              </a:rPr>
              <a:t> </a:t>
            </a:r>
            <a:r>
              <a:rPr sz="2180" b="1" spc="-30" dirty="0">
                <a:latin typeface="Arial"/>
                <a:cs typeface="Arial"/>
              </a:rPr>
              <a:t>variant)</a:t>
            </a:r>
            <a:endParaRPr sz="2180">
              <a:latin typeface="Arial"/>
              <a:cs typeface="Arial"/>
            </a:endParaRPr>
          </a:p>
          <a:p>
            <a:pPr>
              <a:lnSpc>
                <a:spcPct val="100000"/>
              </a:lnSpc>
            </a:pPr>
            <a:endParaRPr sz="2180">
              <a:latin typeface="Arial"/>
              <a:cs typeface="Arial"/>
            </a:endParaRPr>
          </a:p>
          <a:p>
            <a:pPr marL="25168">
              <a:spcBef>
                <a:spcPts val="1506"/>
              </a:spcBef>
            </a:pPr>
            <a:r>
              <a:rPr sz="2180" spc="-109" dirty="0">
                <a:latin typeface="Tahoma"/>
                <a:cs typeface="Tahoma"/>
              </a:rPr>
              <a:t>10</a:t>
            </a:r>
            <a:r>
              <a:rPr sz="2180" spc="10" dirty="0">
                <a:latin typeface="Tahoma"/>
                <a:cs typeface="Tahoma"/>
              </a:rPr>
              <a:t> </a:t>
            </a:r>
            <a:r>
              <a:rPr sz="2180" spc="-79" dirty="0">
                <a:latin typeface="Tahoma"/>
                <a:cs typeface="Tahoma"/>
              </a:rPr>
              <a:t>People</a:t>
            </a:r>
            <a:r>
              <a:rPr sz="2180" spc="30" dirty="0">
                <a:latin typeface="Tahoma"/>
                <a:cs typeface="Tahoma"/>
              </a:rPr>
              <a:t> </a:t>
            </a:r>
            <a:r>
              <a:rPr sz="2180" spc="-109" dirty="0">
                <a:latin typeface="Tahoma"/>
                <a:cs typeface="Tahoma"/>
              </a:rPr>
              <a:t>numbered</a:t>
            </a:r>
            <a:r>
              <a:rPr sz="2180" spc="30" dirty="0">
                <a:latin typeface="Tahoma"/>
                <a:cs typeface="Tahoma"/>
              </a:rPr>
              <a:t> </a:t>
            </a:r>
            <a:r>
              <a:rPr sz="2180" spc="-109" dirty="0">
                <a:latin typeface="Tahoma"/>
                <a:cs typeface="Tahoma"/>
              </a:rPr>
              <a:t>1</a:t>
            </a:r>
            <a:r>
              <a:rPr sz="2180" spc="20" dirty="0">
                <a:latin typeface="Tahoma"/>
                <a:cs typeface="Tahoma"/>
              </a:rPr>
              <a:t> </a:t>
            </a:r>
            <a:r>
              <a:rPr sz="2180" spc="-30" dirty="0">
                <a:latin typeface="Tahoma"/>
                <a:cs typeface="Tahoma"/>
              </a:rPr>
              <a:t>to</a:t>
            </a:r>
            <a:r>
              <a:rPr sz="2180" spc="20" dirty="0">
                <a:latin typeface="Tahoma"/>
                <a:cs typeface="Tahoma"/>
              </a:rPr>
              <a:t> </a:t>
            </a:r>
            <a:r>
              <a:rPr sz="2180" spc="-99" dirty="0">
                <a:latin typeface="Tahoma"/>
                <a:cs typeface="Tahoma"/>
              </a:rPr>
              <a:t>10,</a:t>
            </a:r>
            <a:r>
              <a:rPr sz="2180" spc="30" dirty="0">
                <a:latin typeface="Tahoma"/>
                <a:cs typeface="Tahoma"/>
              </a:rPr>
              <a:t> </a:t>
            </a:r>
            <a:r>
              <a:rPr sz="2180" i="1" spc="-99" dirty="0">
                <a:latin typeface="Arial"/>
                <a:cs typeface="Arial"/>
              </a:rPr>
              <a:t>n</a:t>
            </a:r>
            <a:r>
              <a:rPr sz="2180" i="1" spc="20" dirty="0">
                <a:latin typeface="Arial"/>
                <a:cs typeface="Arial"/>
              </a:rPr>
              <a:t> </a:t>
            </a:r>
            <a:r>
              <a:rPr sz="2180" spc="89" dirty="0">
                <a:latin typeface="Tahoma"/>
                <a:cs typeface="Tahoma"/>
              </a:rPr>
              <a:t>=</a:t>
            </a:r>
            <a:r>
              <a:rPr sz="2180" spc="-89" dirty="0">
                <a:latin typeface="Tahoma"/>
                <a:cs typeface="Tahoma"/>
              </a:rPr>
              <a:t> </a:t>
            </a:r>
            <a:r>
              <a:rPr sz="2180" spc="-109" dirty="0">
                <a:latin typeface="Tahoma"/>
                <a:cs typeface="Tahoma"/>
              </a:rPr>
              <a:t>10</a:t>
            </a:r>
            <a:endParaRPr sz="2180">
              <a:latin typeface="Tahoma"/>
              <a:cs typeface="Tahoma"/>
            </a:endParaRPr>
          </a:p>
          <a:p>
            <a:pPr marL="25168" marR="10067">
              <a:lnSpc>
                <a:spcPct val="178100"/>
              </a:lnSpc>
            </a:pPr>
            <a:r>
              <a:rPr sz="2180" spc="-69" dirty="0">
                <a:latin typeface="Tahoma"/>
                <a:cs typeface="Tahoma"/>
              </a:rPr>
              <a:t>Every</a:t>
            </a:r>
            <a:r>
              <a:rPr sz="2180" spc="20" dirty="0">
                <a:latin typeface="Tahoma"/>
                <a:cs typeface="Tahoma"/>
              </a:rPr>
              <a:t> </a:t>
            </a:r>
            <a:r>
              <a:rPr sz="2180" spc="-79" dirty="0">
                <a:latin typeface="Tahoma"/>
                <a:cs typeface="Tahoma"/>
              </a:rPr>
              <a:t>other</a:t>
            </a:r>
            <a:r>
              <a:rPr sz="2180" spc="40" dirty="0">
                <a:latin typeface="Tahoma"/>
                <a:cs typeface="Tahoma"/>
              </a:rPr>
              <a:t> </a:t>
            </a:r>
            <a:r>
              <a:rPr sz="2180" spc="-109" dirty="0">
                <a:latin typeface="Tahoma"/>
                <a:cs typeface="Tahoma"/>
              </a:rPr>
              <a:t>person</a:t>
            </a:r>
            <a:r>
              <a:rPr sz="2180" spc="30" dirty="0">
                <a:latin typeface="Tahoma"/>
                <a:cs typeface="Tahoma"/>
              </a:rPr>
              <a:t> </a:t>
            </a:r>
            <a:r>
              <a:rPr sz="2180" spc="-69" dirty="0">
                <a:latin typeface="Tahoma"/>
                <a:cs typeface="Tahoma"/>
              </a:rPr>
              <a:t>is</a:t>
            </a:r>
            <a:r>
              <a:rPr sz="2180" spc="40" dirty="0">
                <a:latin typeface="Tahoma"/>
                <a:cs typeface="Tahoma"/>
              </a:rPr>
              <a:t> </a:t>
            </a:r>
            <a:r>
              <a:rPr sz="2180" spc="-50" dirty="0">
                <a:latin typeface="Tahoma"/>
                <a:cs typeface="Tahoma"/>
              </a:rPr>
              <a:t>killed</a:t>
            </a:r>
            <a:r>
              <a:rPr sz="2180" spc="30" dirty="0">
                <a:latin typeface="Tahoma"/>
                <a:cs typeface="Tahoma"/>
              </a:rPr>
              <a:t> </a:t>
            </a:r>
            <a:r>
              <a:rPr sz="2180" spc="-59" dirty="0">
                <a:latin typeface="Tahoma"/>
                <a:cs typeface="Tahoma"/>
              </a:rPr>
              <a:t>starting</a:t>
            </a:r>
            <a:r>
              <a:rPr sz="2180" spc="30" dirty="0">
                <a:latin typeface="Tahoma"/>
                <a:cs typeface="Tahoma"/>
              </a:rPr>
              <a:t> </a:t>
            </a:r>
            <a:r>
              <a:rPr sz="2180" spc="-50" dirty="0">
                <a:latin typeface="Tahoma"/>
                <a:cs typeface="Tahoma"/>
              </a:rPr>
              <a:t>with</a:t>
            </a:r>
            <a:r>
              <a:rPr sz="2180" spc="30" dirty="0">
                <a:latin typeface="Tahoma"/>
                <a:cs typeface="Tahoma"/>
              </a:rPr>
              <a:t> </a:t>
            </a:r>
            <a:r>
              <a:rPr sz="2180" spc="-99" dirty="0">
                <a:latin typeface="Tahoma"/>
                <a:cs typeface="Tahoma"/>
              </a:rPr>
              <a:t>number</a:t>
            </a:r>
            <a:r>
              <a:rPr sz="2180" spc="30" dirty="0">
                <a:latin typeface="Tahoma"/>
                <a:cs typeface="Tahoma"/>
              </a:rPr>
              <a:t> </a:t>
            </a:r>
            <a:r>
              <a:rPr sz="2180" spc="-89" dirty="0">
                <a:latin typeface="Tahoma"/>
                <a:cs typeface="Tahoma"/>
              </a:rPr>
              <a:t>2. </a:t>
            </a:r>
            <a:r>
              <a:rPr sz="2180" spc="-644" dirty="0">
                <a:latin typeface="Tahoma"/>
                <a:cs typeface="Tahoma"/>
              </a:rPr>
              <a:t> </a:t>
            </a:r>
            <a:r>
              <a:rPr sz="2180" spc="-40" dirty="0">
                <a:latin typeface="Tahoma"/>
                <a:cs typeface="Tahoma"/>
              </a:rPr>
              <a:t>Which</a:t>
            </a:r>
            <a:r>
              <a:rPr sz="2180" spc="30" dirty="0">
                <a:latin typeface="Tahoma"/>
                <a:cs typeface="Tahoma"/>
              </a:rPr>
              <a:t> </a:t>
            </a:r>
            <a:r>
              <a:rPr sz="2180" spc="-109" dirty="0">
                <a:latin typeface="Tahoma"/>
                <a:cs typeface="Tahoma"/>
              </a:rPr>
              <a:t>person</a:t>
            </a:r>
            <a:r>
              <a:rPr sz="2180" spc="40" dirty="0">
                <a:latin typeface="Tahoma"/>
                <a:cs typeface="Tahoma"/>
              </a:rPr>
              <a:t> </a:t>
            </a:r>
            <a:r>
              <a:rPr sz="2180" spc="-89" dirty="0">
                <a:latin typeface="Tahoma"/>
                <a:cs typeface="Tahoma"/>
              </a:rPr>
              <a:t>survives?</a:t>
            </a:r>
            <a:r>
              <a:rPr sz="2180" spc="277" dirty="0">
                <a:latin typeface="Tahoma"/>
                <a:cs typeface="Tahoma"/>
              </a:rPr>
              <a:t> </a:t>
            </a:r>
            <a:r>
              <a:rPr sz="2180" spc="-30" dirty="0">
                <a:latin typeface="Tahoma"/>
                <a:cs typeface="Tahoma"/>
              </a:rPr>
              <a:t>What</a:t>
            </a:r>
            <a:r>
              <a:rPr sz="2180" spc="40" dirty="0">
                <a:latin typeface="Tahoma"/>
                <a:cs typeface="Tahoma"/>
              </a:rPr>
              <a:t> </a:t>
            </a:r>
            <a:r>
              <a:rPr sz="2180" spc="-69" dirty="0">
                <a:latin typeface="Tahoma"/>
                <a:cs typeface="Tahoma"/>
              </a:rPr>
              <a:t>is</a:t>
            </a:r>
            <a:r>
              <a:rPr sz="2180" spc="40" dirty="0">
                <a:latin typeface="Tahoma"/>
                <a:cs typeface="Tahoma"/>
              </a:rPr>
              <a:t> </a:t>
            </a:r>
            <a:r>
              <a:rPr sz="2180" i="1" spc="-30" dirty="0">
                <a:latin typeface="Arial"/>
                <a:cs typeface="Arial"/>
              </a:rPr>
              <a:t>J</a:t>
            </a:r>
            <a:r>
              <a:rPr sz="2180" spc="-30" dirty="0">
                <a:latin typeface="Tahoma"/>
                <a:cs typeface="Tahoma"/>
              </a:rPr>
              <a:t>(10)?</a:t>
            </a:r>
            <a:endParaRPr sz="2180">
              <a:latin typeface="Tahoma"/>
              <a:cs typeface="Tahoma"/>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8"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6" y="1251479"/>
            <a:ext cx="3578742" cy="4265800"/>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4" y="1251479"/>
            <a:ext cx="3578742" cy="4265800"/>
          </a:xfrm>
          <a:prstGeom prst="rect">
            <a:avLst/>
          </a:prstGeom>
        </p:spPr>
      </p:pic>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4536" y="1251479"/>
            <a:ext cx="3578742" cy="4265800"/>
          </a:xfrm>
          <a:prstGeom prst="rect">
            <a:avLst/>
          </a:prstGeom>
        </p:spPr>
      </p:pic>
      <p:sp>
        <p:nvSpPr>
          <p:cNvPr id="4" name="object 4"/>
          <p:cNvSpPr txBox="1"/>
          <p:nvPr/>
        </p:nvSpPr>
        <p:spPr>
          <a:xfrm>
            <a:off x="5646839" y="3223606"/>
            <a:ext cx="1011712" cy="265501"/>
          </a:xfrm>
          <a:prstGeom prst="rect">
            <a:avLst/>
          </a:prstGeom>
          <a:solidFill>
            <a:srgbClr val="FFFFFF"/>
          </a:solidFill>
          <a:ln w="3175">
            <a:solidFill>
              <a:srgbClr val="90ED90"/>
            </a:solidFill>
          </a:ln>
        </p:spPr>
        <p:txBody>
          <a:bodyPr vert="horz" wrap="square" lIns="0" tIns="36492" rIns="0" bIns="0" rtlCol="0">
            <a:spAutoFit/>
          </a:bodyPr>
          <a:lstStyle/>
          <a:p>
            <a:pPr marL="118288">
              <a:spcBef>
                <a:spcPts val="287"/>
              </a:spcBef>
            </a:pPr>
            <a:r>
              <a:rPr sz="1486" b="1" spc="357" dirty="0">
                <a:solidFill>
                  <a:srgbClr val="00008A"/>
                </a:solidFill>
                <a:latin typeface="Calibri"/>
                <a:cs typeface="Calibri"/>
              </a:rPr>
              <a:t>J</a:t>
            </a:r>
            <a:r>
              <a:rPr sz="1486" spc="-50" dirty="0">
                <a:solidFill>
                  <a:srgbClr val="00008A"/>
                </a:solidFill>
                <a:latin typeface="Tahoma"/>
                <a:cs typeface="Tahoma"/>
              </a:rPr>
              <a:t>(</a:t>
            </a:r>
            <a:r>
              <a:rPr sz="1486" b="1" spc="69" dirty="0">
                <a:solidFill>
                  <a:srgbClr val="00008A"/>
                </a:solidFill>
                <a:latin typeface="Calibri"/>
                <a:cs typeface="Calibri"/>
              </a:rPr>
              <a:t>10</a:t>
            </a:r>
            <a:r>
              <a:rPr sz="1486" spc="-50" dirty="0">
                <a:solidFill>
                  <a:srgbClr val="00008A"/>
                </a:solidFill>
                <a:latin typeface="Tahoma"/>
                <a:cs typeface="Tahoma"/>
              </a:rPr>
              <a:t>)</a:t>
            </a:r>
            <a:r>
              <a:rPr sz="1486" spc="-59" dirty="0">
                <a:solidFill>
                  <a:srgbClr val="00008A"/>
                </a:solidFill>
                <a:latin typeface="Tahoma"/>
                <a:cs typeface="Tahoma"/>
              </a:rPr>
              <a:t> </a:t>
            </a:r>
            <a:r>
              <a:rPr sz="1486" spc="-30" dirty="0">
                <a:solidFill>
                  <a:srgbClr val="00008A"/>
                </a:solidFill>
                <a:latin typeface="Tahoma"/>
                <a:cs typeface="Tahoma"/>
              </a:rPr>
              <a:t>=</a:t>
            </a:r>
            <a:r>
              <a:rPr sz="1486" spc="-59" dirty="0">
                <a:solidFill>
                  <a:srgbClr val="00008A"/>
                </a:solidFill>
                <a:latin typeface="Tahoma"/>
                <a:cs typeface="Tahoma"/>
              </a:rPr>
              <a:t> </a:t>
            </a:r>
            <a:r>
              <a:rPr sz="1486" b="1" spc="69" dirty="0">
                <a:solidFill>
                  <a:srgbClr val="00008A"/>
                </a:solidFill>
                <a:latin typeface="Calibri"/>
                <a:cs typeface="Calibri"/>
              </a:rPr>
              <a:t>5</a:t>
            </a:r>
            <a:endParaRPr sz="1486">
              <a:latin typeface="Calibri"/>
              <a:cs typeface="Calibri"/>
            </a:endParaRP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pic>
        <p:nvPicPr>
          <p:cNvPr id="3" name="object 3"/>
          <p:cNvPicPr/>
          <p:nvPr/>
        </p:nvPicPr>
        <p:blipFill>
          <a:blip r:embed="rId2" cstate="print"/>
          <a:stretch>
            <a:fillRect/>
          </a:stretch>
        </p:blipFill>
        <p:spPr>
          <a:xfrm>
            <a:off x="4300055" y="1251474"/>
            <a:ext cx="3587701" cy="4258281"/>
          </a:xfrm>
          <a:prstGeom prst="rect">
            <a:avLst/>
          </a:prstGeom>
        </p:spPr>
      </p:pic>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0"/>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9" dirty="0">
                <a:solidFill>
                  <a:srgbClr val="898CFC"/>
                </a:solidFill>
                <a:uFill>
                  <a:solidFill>
                    <a:srgbClr val="898CFC"/>
                  </a:solidFill>
                </a:uFill>
                <a:latin typeface="Tahoma"/>
                <a:cs typeface="Tahoma"/>
              </a:rPr>
              <a:t>Applications:</a:t>
            </a:r>
            <a:r>
              <a:rPr sz="2774" u="sng" spc="357" dirty="0">
                <a:solidFill>
                  <a:srgbClr val="898CFC"/>
                </a:solidFill>
                <a:uFill>
                  <a:solidFill>
                    <a:srgbClr val="898CFC"/>
                  </a:solidFill>
                </a:uFill>
                <a:latin typeface="Tahoma"/>
                <a:cs typeface="Tahoma"/>
              </a:rPr>
              <a:t> </a:t>
            </a:r>
            <a:r>
              <a:rPr sz="2774" u="sng" spc="-119" dirty="0">
                <a:solidFill>
                  <a:srgbClr val="898CFC"/>
                </a:solidFill>
                <a:uFill>
                  <a:solidFill>
                    <a:srgbClr val="898CFC"/>
                  </a:solidFill>
                </a:uFill>
                <a:latin typeface="Tahoma"/>
                <a:cs typeface="Tahoma"/>
              </a:rPr>
              <a:t>Recurrences	</a:t>
            </a:r>
            <a:endParaRPr sz="2774">
              <a:latin typeface="Tahoma"/>
              <a:cs typeface="Tahoma"/>
            </a:endParaRPr>
          </a:p>
        </p:txBody>
      </p:sp>
      <p:graphicFrame>
        <p:nvGraphicFramePr>
          <p:cNvPr id="3" name="object 3"/>
          <p:cNvGraphicFramePr>
            <a:graphicFrameLocks noGrp="1"/>
          </p:cNvGraphicFramePr>
          <p:nvPr>
            <p:extLst>
              <p:ext uri="{D42A27DB-BD31-4B8C-83A1-F6EECF244321}">
                <p14:modId xmlns:p14="http://schemas.microsoft.com/office/powerpoint/2010/main" val="879385982"/>
              </p:ext>
            </p:extLst>
          </p:nvPr>
        </p:nvGraphicFramePr>
        <p:xfrm>
          <a:off x="5384654" y="1454653"/>
          <a:ext cx="1408092" cy="4172122"/>
        </p:xfrm>
        <a:graphic>
          <a:graphicData uri="http://schemas.openxmlformats.org/drawingml/2006/table">
            <a:tbl>
              <a:tblPr firstRow="1" bandRow="1">
                <a:tableStyleId>{2D5ABB26-0587-4C30-8999-92F81FD0307C}</a:tableStyleId>
              </a:tblPr>
              <a:tblGrid>
                <a:gridCol w="585132">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tblGrid>
              <a:tr h="381115">
                <a:tc>
                  <a:txBody>
                    <a:bodyPr/>
                    <a:lstStyle/>
                    <a:p>
                      <a:pPr algn="ctr">
                        <a:lnSpc>
                          <a:spcPts val="1190"/>
                        </a:lnSpc>
                      </a:pPr>
                      <a:endParaRPr lang="en-US" sz="2200" i="1" dirty="0">
                        <a:latin typeface="Arial"/>
                        <a:cs typeface="Arial"/>
                      </a:endParaRPr>
                    </a:p>
                    <a:p>
                      <a:pPr algn="ctr">
                        <a:lnSpc>
                          <a:spcPts val="1190"/>
                        </a:lnSpc>
                      </a:pPr>
                      <a:r>
                        <a:rPr lang="en-US" sz="2200" i="1" dirty="0">
                          <a:latin typeface="Arial"/>
                          <a:cs typeface="Arial"/>
                        </a:rPr>
                        <a:t>n</a:t>
                      </a:r>
                      <a:endParaRPr sz="2200" dirty="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190"/>
                        </a:lnSpc>
                      </a:pPr>
                      <a:endParaRPr lang="en-US" sz="2200" i="1" spc="5" dirty="0">
                        <a:latin typeface="Arial"/>
                        <a:cs typeface="Arial"/>
                      </a:endParaRPr>
                    </a:p>
                    <a:p>
                      <a:pPr algn="ctr">
                        <a:lnSpc>
                          <a:spcPts val="1190"/>
                        </a:lnSpc>
                      </a:pPr>
                      <a:r>
                        <a:rPr sz="2200" i="1" spc="5" dirty="0">
                          <a:latin typeface="Arial"/>
                          <a:cs typeface="Arial"/>
                        </a:rPr>
                        <a:t>J</a:t>
                      </a:r>
                      <a:r>
                        <a:rPr sz="2200" spc="5" dirty="0">
                          <a:latin typeface="Tahoma"/>
                          <a:cs typeface="Tahoma"/>
                        </a:rPr>
                        <a:t>(</a:t>
                      </a:r>
                      <a:r>
                        <a:rPr sz="2200" i="1" spc="5" dirty="0">
                          <a:latin typeface="Arial"/>
                          <a:cs typeface="Arial"/>
                        </a:rPr>
                        <a:t>n</a:t>
                      </a:r>
                      <a:r>
                        <a:rPr sz="2200" spc="5" dirty="0">
                          <a:latin typeface="Tahoma"/>
                          <a:cs typeface="Tahoma"/>
                        </a:rPr>
                        <a:t>)</a:t>
                      </a:r>
                      <a:endParaRPr sz="2200" dirty="0">
                        <a:latin typeface="Tahoma"/>
                        <a:cs typeface="Tahoma"/>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74399">
                <a:tc>
                  <a:txBody>
                    <a:bodyPr/>
                    <a:lstStyle/>
                    <a:p>
                      <a:pPr algn="ctr">
                        <a:lnSpc>
                          <a:spcPts val="1310"/>
                        </a:lnSpc>
                      </a:pPr>
                      <a:endParaRPr lang="en-US" sz="2200" dirty="0">
                        <a:latin typeface="Tahoma"/>
                        <a:cs typeface="Tahoma"/>
                      </a:endParaRPr>
                    </a:p>
                    <a:p>
                      <a:pPr algn="ctr">
                        <a:lnSpc>
                          <a:spcPts val="1310"/>
                        </a:lnSpc>
                      </a:pPr>
                      <a:r>
                        <a:rPr sz="2200" dirty="0">
                          <a:latin typeface="Tahoma"/>
                          <a:cs typeface="Tahoma"/>
                        </a:rPr>
                        <a:t>1</a:t>
                      </a: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tc>
                  <a:txBody>
                    <a:bodyPr/>
                    <a:lstStyle/>
                    <a:p>
                      <a:pPr algn="ctr">
                        <a:lnSpc>
                          <a:spcPts val="1310"/>
                        </a:lnSpc>
                      </a:pPr>
                      <a:endParaRPr lang="en-US" sz="2200" dirty="0">
                        <a:latin typeface="Tahoma"/>
                        <a:cs typeface="Tahoma"/>
                      </a:endParaRPr>
                    </a:p>
                    <a:p>
                      <a:pPr algn="ctr">
                        <a:lnSpc>
                          <a:spcPts val="1310"/>
                        </a:lnSpc>
                      </a:pPr>
                      <a:r>
                        <a:rPr sz="2200" dirty="0">
                          <a:latin typeface="Tahoma"/>
                          <a:cs typeface="Tahoma"/>
                        </a:rPr>
                        <a:t>1</a:t>
                      </a:r>
                    </a:p>
                  </a:txBody>
                  <a:tcPr marL="0" marR="0" marT="0" marB="0">
                    <a:lnL w="6350">
                      <a:solidFill>
                        <a:srgbClr val="000000"/>
                      </a:solidFill>
                      <a:prstDash val="solid"/>
                    </a:lnL>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1"/>
                  </a:ext>
                </a:extLst>
              </a:tr>
              <a:tr h="340999">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2</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1</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2"/>
                  </a:ext>
                </a:extLst>
              </a:tr>
              <a:tr h="340999">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3</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3</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3"/>
                  </a:ext>
                </a:extLst>
              </a:tr>
              <a:tr h="340987">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4</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1</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4"/>
                  </a:ext>
                </a:extLst>
              </a:tr>
              <a:tr h="340987">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5</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3</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5"/>
                  </a:ext>
                </a:extLst>
              </a:tr>
              <a:tr h="340987">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6</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5</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6"/>
                  </a:ext>
                </a:extLst>
              </a:tr>
              <a:tr h="340987">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7</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7</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7"/>
                  </a:ext>
                </a:extLst>
              </a:tr>
              <a:tr h="340999">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8</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1</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8"/>
                  </a:ext>
                </a:extLst>
              </a:tr>
              <a:tr h="340999">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9</a:t>
                      </a: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3</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09"/>
                  </a:ext>
                </a:extLst>
              </a:tr>
              <a:tr h="340987">
                <a:tc>
                  <a:txBody>
                    <a:bodyPr/>
                    <a:lstStyle/>
                    <a:p>
                      <a:pPr algn="ctr">
                        <a:lnSpc>
                          <a:spcPts val="1175"/>
                        </a:lnSpc>
                      </a:pPr>
                      <a:endParaRPr lang="en-US" sz="2200" spc="-55" dirty="0">
                        <a:latin typeface="Tahoma"/>
                        <a:cs typeface="Tahoma"/>
                      </a:endParaRPr>
                    </a:p>
                    <a:p>
                      <a:pPr algn="ctr">
                        <a:lnSpc>
                          <a:spcPts val="1175"/>
                        </a:lnSpc>
                      </a:pPr>
                      <a:r>
                        <a:rPr sz="2200" spc="-55" dirty="0">
                          <a:latin typeface="Tahoma"/>
                          <a:cs typeface="Tahoma"/>
                        </a:rPr>
                        <a:t>10</a:t>
                      </a:r>
                      <a:endParaRPr sz="2200" dirty="0">
                        <a:latin typeface="Tahoma"/>
                        <a:cs typeface="Tahoma"/>
                      </a:endParaRPr>
                    </a:p>
                  </a:txBody>
                  <a:tcPr marL="0" marR="0" marT="0" marB="0">
                    <a:lnL w="6350">
                      <a:solidFill>
                        <a:srgbClr val="000000"/>
                      </a:solidFill>
                      <a:prstDash val="solid"/>
                    </a:lnL>
                    <a:lnR w="6350">
                      <a:solidFill>
                        <a:srgbClr val="000000"/>
                      </a:solidFill>
                      <a:prstDash val="solid"/>
                    </a:lnR>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5</a:t>
                      </a:r>
                    </a:p>
                  </a:txBody>
                  <a:tcPr marL="0" marR="0" marT="0" marB="0">
                    <a:lnL w="6350">
                      <a:solidFill>
                        <a:srgbClr val="000000"/>
                      </a:solidFill>
                      <a:prstDash val="solid"/>
                    </a:lnL>
                    <a:lnR w="6350">
                      <a:solidFill>
                        <a:srgbClr val="000000"/>
                      </a:solidFill>
                      <a:prstDash val="solid"/>
                    </a:lnR>
                  </a:tcPr>
                </a:tc>
                <a:extLst>
                  <a:ext uri="{0D108BD9-81ED-4DB2-BD59-A6C34878D82A}">
                    <a16:rowId xmlns:a16="http://schemas.microsoft.com/office/drawing/2014/main" val="10010"/>
                  </a:ext>
                </a:extLst>
              </a:tr>
              <a:tr h="347677">
                <a:tc>
                  <a:txBody>
                    <a:bodyPr/>
                    <a:lstStyle/>
                    <a:p>
                      <a:pPr algn="ctr">
                        <a:lnSpc>
                          <a:spcPts val="1175"/>
                        </a:lnSpc>
                      </a:pPr>
                      <a:endParaRPr lang="en-US" sz="2200" spc="-55" dirty="0">
                        <a:latin typeface="Tahoma"/>
                        <a:cs typeface="Tahoma"/>
                      </a:endParaRPr>
                    </a:p>
                    <a:p>
                      <a:pPr algn="ctr">
                        <a:lnSpc>
                          <a:spcPts val="1175"/>
                        </a:lnSpc>
                      </a:pPr>
                      <a:r>
                        <a:rPr sz="2200" spc="-55" dirty="0">
                          <a:latin typeface="Tahoma"/>
                          <a:cs typeface="Tahoma"/>
                        </a:rPr>
                        <a:t>11</a:t>
                      </a:r>
                      <a:endParaRPr sz="2200" dirty="0">
                        <a:latin typeface="Tahoma"/>
                        <a:cs typeface="Tahoma"/>
                      </a:endParaRP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tc>
                  <a:txBody>
                    <a:bodyPr/>
                    <a:lstStyle/>
                    <a:p>
                      <a:pPr algn="ctr">
                        <a:lnSpc>
                          <a:spcPts val="1175"/>
                        </a:lnSpc>
                      </a:pPr>
                      <a:endParaRPr lang="en-US" sz="2200" dirty="0">
                        <a:latin typeface="Tahoma"/>
                        <a:cs typeface="Tahoma"/>
                      </a:endParaRPr>
                    </a:p>
                    <a:p>
                      <a:pPr algn="ctr">
                        <a:lnSpc>
                          <a:spcPts val="1175"/>
                        </a:lnSpc>
                      </a:pPr>
                      <a:r>
                        <a:rPr sz="2200" dirty="0">
                          <a:latin typeface="Tahoma"/>
                          <a:cs typeface="Tahoma"/>
                        </a:rPr>
                        <a:t>7</a:t>
                      </a:r>
                    </a:p>
                  </a:txBody>
                  <a:tcPr marL="0" marR="0" marT="0" marB="0">
                    <a:lnL w="6350">
                      <a:solidFill>
                        <a:srgbClr val="000000"/>
                      </a:solidFill>
                      <a:prstDash val="solid"/>
                    </a:lnL>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11"/>
                  </a:ext>
                </a:extLst>
              </a:tr>
            </a:tbl>
          </a:graphicData>
        </a:graphic>
      </p:graphicFrame>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5831" y="28197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57" dirty="0"/>
              <a:t> </a:t>
            </a:r>
            <a:r>
              <a:rPr spc="-119" dirty="0"/>
              <a:t>Recurrences	</a:t>
            </a:r>
          </a:p>
        </p:txBody>
      </p:sp>
      <p:sp>
        <p:nvSpPr>
          <p:cNvPr id="12" name="object 12"/>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
        <p:nvSpPr>
          <p:cNvPr id="3" name="object 3"/>
          <p:cNvSpPr txBox="1"/>
          <p:nvPr/>
        </p:nvSpPr>
        <p:spPr>
          <a:xfrm>
            <a:off x="1788396" y="941695"/>
            <a:ext cx="7035427" cy="358348"/>
          </a:xfrm>
          <a:prstGeom prst="rect">
            <a:avLst/>
          </a:prstGeom>
        </p:spPr>
        <p:txBody>
          <a:bodyPr vert="horz" wrap="square" lIns="0" tIns="22650" rIns="0" bIns="0" rtlCol="0">
            <a:spAutoFit/>
          </a:bodyPr>
          <a:lstStyle/>
          <a:p>
            <a:pPr marL="25168">
              <a:spcBef>
                <a:spcPts val="178"/>
              </a:spcBef>
            </a:pPr>
            <a:r>
              <a:rPr sz="2180" spc="-109" dirty="0">
                <a:latin typeface="Tahoma"/>
                <a:cs typeface="Tahoma"/>
              </a:rPr>
              <a:t>Josesphus</a:t>
            </a:r>
            <a:r>
              <a:rPr sz="2180" spc="40" dirty="0">
                <a:latin typeface="Tahoma"/>
                <a:cs typeface="Tahoma"/>
              </a:rPr>
              <a:t> </a:t>
            </a:r>
            <a:r>
              <a:rPr sz="2180" spc="-119" dirty="0">
                <a:latin typeface="Tahoma"/>
                <a:cs typeface="Tahoma"/>
              </a:rPr>
              <a:t>knew</a:t>
            </a:r>
            <a:r>
              <a:rPr sz="2180" spc="50" dirty="0">
                <a:latin typeface="Tahoma"/>
                <a:cs typeface="Tahoma"/>
              </a:rPr>
              <a:t> </a:t>
            </a:r>
            <a:r>
              <a:rPr sz="2180" spc="-59" dirty="0">
                <a:latin typeface="Tahoma"/>
                <a:cs typeface="Tahoma"/>
              </a:rPr>
              <a:t>Discrete</a:t>
            </a:r>
            <a:r>
              <a:rPr sz="2180" spc="40" dirty="0">
                <a:latin typeface="Tahoma"/>
                <a:cs typeface="Tahoma"/>
              </a:rPr>
              <a:t> </a:t>
            </a:r>
            <a:r>
              <a:rPr sz="2180" spc="-50" dirty="0">
                <a:latin typeface="Tahoma"/>
                <a:cs typeface="Tahoma"/>
              </a:rPr>
              <a:t>Mathematics,</a:t>
            </a:r>
            <a:r>
              <a:rPr sz="2180" spc="50" dirty="0">
                <a:latin typeface="Tahoma"/>
                <a:cs typeface="Tahoma"/>
              </a:rPr>
              <a:t> </a:t>
            </a:r>
            <a:r>
              <a:rPr sz="2180" spc="-99" dirty="0">
                <a:latin typeface="Tahoma"/>
                <a:cs typeface="Tahoma"/>
              </a:rPr>
              <a:t>Recurrence</a:t>
            </a:r>
            <a:r>
              <a:rPr sz="2180" spc="50" dirty="0">
                <a:latin typeface="Tahoma"/>
                <a:cs typeface="Tahoma"/>
              </a:rPr>
              <a:t> </a:t>
            </a:r>
            <a:r>
              <a:rPr sz="2180" spc="-79" dirty="0">
                <a:latin typeface="Tahoma"/>
                <a:cs typeface="Tahoma"/>
              </a:rPr>
              <a:t>(Week</a:t>
            </a:r>
            <a:r>
              <a:rPr sz="2180" spc="50" dirty="0">
                <a:latin typeface="Tahoma"/>
                <a:cs typeface="Tahoma"/>
              </a:rPr>
              <a:t> </a:t>
            </a:r>
            <a:r>
              <a:rPr sz="2180" spc="-59" dirty="0">
                <a:latin typeface="Tahoma"/>
                <a:cs typeface="Tahoma"/>
              </a:rPr>
              <a:t>8)</a:t>
            </a:r>
            <a:endParaRPr sz="2180">
              <a:latin typeface="Tahoma"/>
              <a:cs typeface="Tahoma"/>
            </a:endParaRPr>
          </a:p>
        </p:txBody>
      </p:sp>
      <p:sp>
        <p:nvSpPr>
          <p:cNvPr id="4" name="object 4"/>
          <p:cNvSpPr txBox="1"/>
          <p:nvPr/>
        </p:nvSpPr>
        <p:spPr>
          <a:xfrm>
            <a:off x="3867943" y="1722095"/>
            <a:ext cx="2890427" cy="1567533"/>
          </a:xfrm>
          <a:prstGeom prst="rect">
            <a:avLst/>
          </a:prstGeom>
        </p:spPr>
        <p:txBody>
          <a:bodyPr vert="horz" wrap="square" lIns="0" tIns="200077" rIns="0" bIns="0" rtlCol="0">
            <a:spAutoFit/>
          </a:bodyPr>
          <a:lstStyle/>
          <a:p>
            <a:pPr marL="25168">
              <a:spcBef>
                <a:spcPts val="1575"/>
              </a:spcBef>
            </a:pPr>
            <a:r>
              <a:rPr sz="2180" i="1" spc="-10" dirty="0">
                <a:latin typeface="Arial"/>
                <a:cs typeface="Arial"/>
              </a:rPr>
              <a:t>J</a:t>
            </a:r>
            <a:r>
              <a:rPr sz="2180" spc="-10" dirty="0">
                <a:latin typeface="Tahoma"/>
                <a:cs typeface="Tahoma"/>
              </a:rPr>
              <a:t>(1)</a:t>
            </a:r>
            <a:r>
              <a:rPr sz="2180" spc="454" dirty="0">
                <a:latin typeface="Tahoma"/>
                <a:cs typeface="Tahoma"/>
              </a:rPr>
              <a:t> </a:t>
            </a:r>
            <a:r>
              <a:rPr sz="2180" spc="89" dirty="0">
                <a:latin typeface="Tahoma"/>
                <a:cs typeface="Tahoma"/>
              </a:rPr>
              <a:t>=</a:t>
            </a:r>
            <a:r>
              <a:rPr sz="2180" spc="454" dirty="0">
                <a:latin typeface="Tahoma"/>
                <a:cs typeface="Tahoma"/>
              </a:rPr>
              <a:t> </a:t>
            </a:r>
            <a:r>
              <a:rPr sz="2180" spc="-109" dirty="0">
                <a:latin typeface="Tahoma"/>
                <a:cs typeface="Tahoma"/>
              </a:rPr>
              <a:t>1</a:t>
            </a:r>
            <a:endParaRPr sz="2180" dirty="0">
              <a:latin typeface="Tahoma"/>
              <a:cs typeface="Tahoma"/>
            </a:endParaRPr>
          </a:p>
          <a:p>
            <a:pPr marL="25168">
              <a:spcBef>
                <a:spcPts val="1377"/>
              </a:spcBef>
            </a:pPr>
            <a:r>
              <a:rPr sz="2180" i="1" spc="89" dirty="0">
                <a:latin typeface="Arial"/>
                <a:cs typeface="Arial"/>
              </a:rPr>
              <a:t>J</a:t>
            </a:r>
            <a:r>
              <a:rPr sz="2180" spc="-59" dirty="0">
                <a:latin typeface="Tahoma"/>
                <a:cs typeface="Tahoma"/>
              </a:rPr>
              <a:t>(2</a:t>
            </a:r>
            <a:r>
              <a:rPr sz="2180" i="1" spc="-59" dirty="0">
                <a:latin typeface="Arial"/>
                <a:cs typeface="Arial"/>
              </a:rPr>
              <a:t>n</a:t>
            </a:r>
            <a:r>
              <a:rPr sz="2180" dirty="0">
                <a:latin typeface="Tahoma"/>
                <a:cs typeface="Tahoma"/>
              </a:rPr>
              <a:t>) </a:t>
            </a:r>
            <a:r>
              <a:rPr sz="2180" spc="-159" dirty="0">
                <a:latin typeface="Tahoma"/>
                <a:cs typeface="Tahoma"/>
              </a:rPr>
              <a:t> </a:t>
            </a:r>
            <a:r>
              <a:rPr sz="2180" spc="89" dirty="0">
                <a:latin typeface="Tahoma"/>
                <a:cs typeface="Tahoma"/>
              </a:rPr>
              <a:t>=</a:t>
            </a:r>
            <a:r>
              <a:rPr sz="2180" dirty="0">
                <a:latin typeface="Tahoma"/>
                <a:cs typeface="Tahoma"/>
              </a:rPr>
              <a:t> </a:t>
            </a:r>
            <a:r>
              <a:rPr sz="2180" spc="-168" dirty="0">
                <a:latin typeface="Tahoma"/>
                <a:cs typeface="Tahoma"/>
              </a:rPr>
              <a:t> </a:t>
            </a:r>
            <a:r>
              <a:rPr sz="2180" spc="-109" dirty="0">
                <a:latin typeface="Tahoma"/>
                <a:cs typeface="Tahoma"/>
              </a:rPr>
              <a:t>2</a:t>
            </a:r>
            <a:r>
              <a:rPr sz="2180" i="1" spc="89" dirty="0">
                <a:latin typeface="Arial"/>
                <a:cs typeface="Arial"/>
              </a:rPr>
              <a:t>J</a:t>
            </a:r>
            <a:r>
              <a:rPr sz="2180" dirty="0">
                <a:latin typeface="Tahoma"/>
                <a:cs typeface="Tahoma"/>
              </a:rPr>
              <a:t>(</a:t>
            </a:r>
            <a:r>
              <a:rPr sz="2180" i="1" spc="-59" dirty="0">
                <a:latin typeface="Arial"/>
                <a:cs typeface="Arial"/>
              </a:rPr>
              <a:t>n</a:t>
            </a:r>
            <a:r>
              <a:rPr sz="2180" dirty="0">
                <a:latin typeface="Tahoma"/>
                <a:cs typeface="Tahoma"/>
              </a:rPr>
              <a:t>)</a:t>
            </a:r>
            <a:r>
              <a:rPr sz="2180" spc="-208" dirty="0">
                <a:latin typeface="Tahoma"/>
                <a:cs typeface="Tahoma"/>
              </a:rPr>
              <a:t> </a:t>
            </a:r>
            <a:r>
              <a:rPr sz="2180" i="1" spc="208" dirty="0">
                <a:latin typeface="Times New Roman"/>
                <a:cs typeface="Times New Roman"/>
              </a:rPr>
              <a:t>−</a:t>
            </a:r>
            <a:r>
              <a:rPr sz="2180" i="1" spc="-69" dirty="0">
                <a:latin typeface="Times New Roman"/>
                <a:cs typeface="Times New Roman"/>
              </a:rPr>
              <a:t> </a:t>
            </a:r>
            <a:r>
              <a:rPr sz="2180" spc="-109" dirty="0">
                <a:latin typeface="Tahoma"/>
                <a:cs typeface="Tahoma"/>
              </a:rPr>
              <a:t>1</a:t>
            </a:r>
            <a:r>
              <a:rPr sz="2180" spc="-99" dirty="0">
                <a:latin typeface="Lucida Sans Unicode"/>
                <a:cs typeface="Lucida Sans Unicode"/>
              </a:rPr>
              <a:t>,</a:t>
            </a:r>
            <a:endParaRPr sz="2180" dirty="0">
              <a:latin typeface="Lucida Sans Unicode"/>
              <a:cs typeface="Lucida Sans Unicode"/>
            </a:endParaRPr>
          </a:p>
          <a:p>
            <a:pPr marL="25168">
              <a:spcBef>
                <a:spcPts val="1367"/>
              </a:spcBef>
            </a:pPr>
            <a:r>
              <a:rPr sz="2180" i="1" spc="89" dirty="0">
                <a:latin typeface="Arial"/>
                <a:cs typeface="Arial"/>
              </a:rPr>
              <a:t>J</a:t>
            </a:r>
            <a:r>
              <a:rPr sz="2180" spc="-59" dirty="0">
                <a:latin typeface="Tahoma"/>
                <a:cs typeface="Tahoma"/>
              </a:rPr>
              <a:t>(2</a:t>
            </a:r>
            <a:r>
              <a:rPr sz="2180" i="1" spc="-99" dirty="0">
                <a:latin typeface="Arial"/>
                <a:cs typeface="Arial"/>
              </a:rPr>
              <a:t>n</a:t>
            </a:r>
            <a:r>
              <a:rPr sz="2180" i="1" spc="-89" dirty="0">
                <a:latin typeface="Arial"/>
                <a:cs typeface="Arial"/>
              </a:rPr>
              <a:t> </a:t>
            </a:r>
            <a:r>
              <a:rPr sz="2180" spc="89" dirty="0">
                <a:latin typeface="Tahoma"/>
                <a:cs typeface="Tahoma"/>
              </a:rPr>
              <a:t>+</a:t>
            </a:r>
            <a:r>
              <a:rPr sz="2180" spc="-208" dirty="0">
                <a:latin typeface="Tahoma"/>
                <a:cs typeface="Tahoma"/>
              </a:rPr>
              <a:t> </a:t>
            </a:r>
            <a:r>
              <a:rPr sz="2180" spc="-59" dirty="0">
                <a:latin typeface="Tahoma"/>
                <a:cs typeface="Tahoma"/>
              </a:rPr>
              <a:t>1)</a:t>
            </a:r>
            <a:r>
              <a:rPr sz="2180" dirty="0">
                <a:latin typeface="Tahoma"/>
                <a:cs typeface="Tahoma"/>
              </a:rPr>
              <a:t> </a:t>
            </a:r>
            <a:r>
              <a:rPr sz="2180" spc="-168" dirty="0">
                <a:latin typeface="Tahoma"/>
                <a:cs typeface="Tahoma"/>
              </a:rPr>
              <a:t> </a:t>
            </a:r>
            <a:r>
              <a:rPr sz="2180" spc="89" dirty="0">
                <a:latin typeface="Tahoma"/>
                <a:cs typeface="Tahoma"/>
              </a:rPr>
              <a:t>=</a:t>
            </a:r>
            <a:r>
              <a:rPr sz="2180" dirty="0">
                <a:latin typeface="Tahoma"/>
                <a:cs typeface="Tahoma"/>
              </a:rPr>
              <a:t> </a:t>
            </a:r>
            <a:r>
              <a:rPr sz="2180" spc="-168" dirty="0">
                <a:latin typeface="Tahoma"/>
                <a:cs typeface="Tahoma"/>
              </a:rPr>
              <a:t> </a:t>
            </a:r>
            <a:r>
              <a:rPr sz="2180" spc="-109" dirty="0">
                <a:latin typeface="Tahoma"/>
                <a:cs typeface="Tahoma"/>
              </a:rPr>
              <a:t>2</a:t>
            </a:r>
            <a:r>
              <a:rPr sz="2180" i="1" spc="89" dirty="0">
                <a:latin typeface="Arial"/>
                <a:cs typeface="Arial"/>
              </a:rPr>
              <a:t>J</a:t>
            </a:r>
            <a:r>
              <a:rPr sz="2180" dirty="0">
                <a:latin typeface="Tahoma"/>
                <a:cs typeface="Tahoma"/>
              </a:rPr>
              <a:t>(</a:t>
            </a:r>
            <a:r>
              <a:rPr sz="2180" i="1" spc="-59" dirty="0">
                <a:latin typeface="Arial"/>
                <a:cs typeface="Arial"/>
              </a:rPr>
              <a:t>n</a:t>
            </a:r>
            <a:r>
              <a:rPr sz="2180" dirty="0">
                <a:latin typeface="Tahoma"/>
                <a:cs typeface="Tahoma"/>
              </a:rPr>
              <a:t>)</a:t>
            </a:r>
            <a:r>
              <a:rPr sz="2180" spc="-208" dirty="0">
                <a:latin typeface="Tahoma"/>
                <a:cs typeface="Tahoma"/>
              </a:rPr>
              <a:t> </a:t>
            </a:r>
            <a:r>
              <a:rPr sz="2180" spc="89" dirty="0">
                <a:latin typeface="Tahoma"/>
                <a:cs typeface="Tahoma"/>
              </a:rPr>
              <a:t>+</a:t>
            </a:r>
            <a:r>
              <a:rPr sz="2180" spc="-208" dirty="0">
                <a:latin typeface="Tahoma"/>
                <a:cs typeface="Tahoma"/>
              </a:rPr>
              <a:t> </a:t>
            </a:r>
            <a:r>
              <a:rPr sz="2180" spc="-109" dirty="0">
                <a:latin typeface="Tahoma"/>
                <a:cs typeface="Tahoma"/>
              </a:rPr>
              <a:t>1</a:t>
            </a:r>
            <a:r>
              <a:rPr sz="2180" spc="-99" dirty="0">
                <a:latin typeface="Lucida Sans Unicode"/>
                <a:cs typeface="Lucida Sans Unicode"/>
              </a:rPr>
              <a:t>,</a:t>
            </a:r>
            <a:endParaRPr sz="2180" dirty="0">
              <a:latin typeface="Lucida Sans Unicode"/>
              <a:cs typeface="Lucida Sans Unicode"/>
            </a:endParaRPr>
          </a:p>
        </p:txBody>
      </p:sp>
      <p:sp>
        <p:nvSpPr>
          <p:cNvPr id="5" name="object 5"/>
          <p:cNvSpPr txBox="1"/>
          <p:nvPr/>
        </p:nvSpPr>
        <p:spPr>
          <a:xfrm>
            <a:off x="6747822" y="2228958"/>
            <a:ext cx="1572936" cy="1052520"/>
          </a:xfrm>
          <a:prstGeom prst="rect">
            <a:avLst/>
          </a:prstGeom>
        </p:spPr>
        <p:txBody>
          <a:bodyPr vert="horz" wrap="square" lIns="0" tIns="200077" rIns="0" bIns="0" rtlCol="0">
            <a:spAutoFit/>
          </a:bodyPr>
          <a:lstStyle/>
          <a:p>
            <a:pPr marL="25168">
              <a:spcBef>
                <a:spcPts val="1575"/>
              </a:spcBef>
            </a:pPr>
            <a:r>
              <a:rPr sz="2180" spc="-89" dirty="0">
                <a:latin typeface="Tahoma"/>
                <a:cs typeface="Tahoma"/>
              </a:rPr>
              <a:t>for</a:t>
            </a:r>
            <a:r>
              <a:rPr sz="2180" spc="-10" dirty="0">
                <a:latin typeface="Tahoma"/>
                <a:cs typeface="Tahoma"/>
              </a:rPr>
              <a:t> </a:t>
            </a:r>
            <a:r>
              <a:rPr sz="2180" i="1" spc="-99" dirty="0">
                <a:latin typeface="Arial"/>
                <a:cs typeface="Arial"/>
              </a:rPr>
              <a:t>n</a:t>
            </a:r>
            <a:r>
              <a:rPr sz="2180" i="1" spc="-10" dirty="0">
                <a:latin typeface="Arial"/>
                <a:cs typeface="Arial"/>
              </a:rPr>
              <a:t> </a:t>
            </a:r>
            <a:r>
              <a:rPr sz="2180" i="1" spc="476" dirty="0">
                <a:latin typeface="Times New Roman"/>
                <a:cs typeface="Times New Roman"/>
              </a:rPr>
              <a:t>≥</a:t>
            </a:r>
            <a:r>
              <a:rPr sz="2180" i="1" spc="10" dirty="0">
                <a:latin typeface="Times New Roman"/>
                <a:cs typeface="Times New Roman"/>
              </a:rPr>
              <a:t> </a:t>
            </a:r>
            <a:r>
              <a:rPr sz="2180" spc="-109" dirty="0">
                <a:latin typeface="Tahoma"/>
                <a:cs typeface="Tahoma"/>
              </a:rPr>
              <a:t>1</a:t>
            </a:r>
            <a:endParaRPr sz="2180">
              <a:latin typeface="Tahoma"/>
              <a:cs typeface="Tahoma"/>
            </a:endParaRPr>
          </a:p>
          <a:p>
            <a:pPr marL="497060">
              <a:spcBef>
                <a:spcPts val="1377"/>
              </a:spcBef>
            </a:pPr>
            <a:r>
              <a:rPr sz="2180" spc="-89" dirty="0">
                <a:latin typeface="Tahoma"/>
                <a:cs typeface="Tahoma"/>
              </a:rPr>
              <a:t>for</a:t>
            </a:r>
            <a:r>
              <a:rPr sz="2180" spc="-20" dirty="0">
                <a:latin typeface="Tahoma"/>
                <a:cs typeface="Tahoma"/>
              </a:rPr>
              <a:t> </a:t>
            </a:r>
            <a:r>
              <a:rPr sz="2180" i="1" spc="-99" dirty="0">
                <a:latin typeface="Arial"/>
                <a:cs typeface="Arial"/>
              </a:rPr>
              <a:t>n</a:t>
            </a:r>
            <a:r>
              <a:rPr sz="2180" i="1" spc="-20" dirty="0">
                <a:latin typeface="Arial"/>
                <a:cs typeface="Arial"/>
              </a:rPr>
              <a:t> </a:t>
            </a:r>
            <a:r>
              <a:rPr sz="2180" i="1" spc="476" dirty="0">
                <a:latin typeface="Times New Roman"/>
                <a:cs typeface="Times New Roman"/>
              </a:rPr>
              <a:t>≥</a:t>
            </a:r>
            <a:r>
              <a:rPr sz="2180" i="1" spc="10" dirty="0">
                <a:latin typeface="Times New Roman"/>
                <a:cs typeface="Times New Roman"/>
              </a:rPr>
              <a:t> </a:t>
            </a:r>
            <a:r>
              <a:rPr sz="2180" spc="-109" dirty="0">
                <a:latin typeface="Tahoma"/>
                <a:cs typeface="Tahoma"/>
              </a:rPr>
              <a:t>1</a:t>
            </a:r>
            <a:endParaRPr sz="2180">
              <a:latin typeface="Tahoma"/>
              <a:cs typeface="Tahoma"/>
            </a:endParaRP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211136" y="742614"/>
            <a:ext cx="22794403" cy="461219"/>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57" dirty="0"/>
              <a:t> </a:t>
            </a:r>
            <a:r>
              <a:rPr spc="-119" dirty="0"/>
              <a:t>Recurrences	</a:t>
            </a:r>
          </a:p>
        </p:txBody>
      </p:sp>
      <p:sp>
        <p:nvSpPr>
          <p:cNvPr id="10" name="object 10"/>
          <p:cNvSpPr txBox="1">
            <a:spLocks noGrp="1"/>
          </p:cNvSpPr>
          <p:nvPr>
            <p:ph type="ftr" sz="quarter" idx="5"/>
          </p:nvPr>
        </p:nvSpPr>
        <p:spPr>
          <a:xfrm>
            <a:off x="2679914" y="12072832"/>
            <a:ext cx="13707499" cy="166712"/>
          </a:xfrm>
          <a:prstGeom prst="rect">
            <a:avLst/>
          </a:prstGeom>
        </p:spPr>
        <p:txBody>
          <a:bodyPr vert="horz" wrap="square" lIns="0" tIns="0" rIns="0" bIns="0" rtlCol="0" anchor="ctr">
            <a:spAutoFit/>
          </a:bodyPr>
          <a:lstStyle/>
          <a:p>
            <a:pPr marL="25168">
              <a:lnSpc>
                <a:spcPts val="1338"/>
              </a:lnSpc>
            </a:pPr>
            <a:r>
              <a:rPr spc="178" dirty="0"/>
              <a:t>I</a:t>
            </a:r>
            <a:r>
              <a:rPr cap="small" spc="89" dirty="0"/>
              <a:t>m</a:t>
            </a:r>
            <a:r>
              <a:rPr cap="small" spc="40" dirty="0"/>
              <a:t>d</a:t>
            </a:r>
            <a:r>
              <a:rPr cap="small" spc="139" dirty="0"/>
              <a:t>ad</a:t>
            </a:r>
            <a:r>
              <a:rPr dirty="0"/>
              <a:t> </a:t>
            </a:r>
            <a:r>
              <a:rPr spc="-99" dirty="0"/>
              <a:t> </a:t>
            </a:r>
            <a:r>
              <a:rPr cap="small" spc="139" dirty="0"/>
              <a:t>ullah</a:t>
            </a:r>
            <a:r>
              <a:rPr dirty="0"/>
              <a:t> </a:t>
            </a:r>
            <a:r>
              <a:rPr spc="-99" dirty="0"/>
              <a:t> </a:t>
            </a:r>
            <a:r>
              <a:rPr spc="377" dirty="0"/>
              <a:t>K</a:t>
            </a:r>
            <a:r>
              <a:rPr cap="small" spc="109" dirty="0"/>
              <a:t>han</a:t>
            </a:r>
            <a:r>
              <a:rPr dirty="0"/>
              <a:t>  </a:t>
            </a:r>
            <a:r>
              <a:rPr spc="30" dirty="0"/>
              <a:t> </a:t>
            </a:r>
            <a:r>
              <a:rPr spc="109" dirty="0">
                <a:latin typeface="Trebuchet MS"/>
                <a:cs typeface="Trebuchet MS"/>
              </a:rPr>
              <a:t>(LUMS)</a:t>
            </a:r>
          </a:p>
        </p:txBody>
      </p:sp>
      <p:sp>
        <p:nvSpPr>
          <p:cNvPr id="12" name="object 12"/>
          <p:cNvSpPr txBox="1">
            <a:spLocks noGrp="1"/>
          </p:cNvSpPr>
          <p:nvPr>
            <p:ph type="sldNum" sz="quarter" idx="7"/>
          </p:nvPr>
        </p:nvSpPr>
        <p:spPr>
          <a:xfrm>
            <a:off x="23979259" y="12081405"/>
            <a:ext cx="2085708" cy="166712"/>
          </a:xfrm>
          <a:prstGeom prst="rect">
            <a:avLst/>
          </a:prstGeom>
        </p:spPr>
        <p:txBody>
          <a:bodyPr vert="horz" wrap="square" lIns="0" tIns="0" rIns="0" bIns="0" rtlCol="0" anchor="ctr">
            <a:spAutoFit/>
          </a:bodyPr>
          <a:lstStyle/>
          <a:p>
            <a:pPr marL="75503">
              <a:lnSpc>
                <a:spcPts val="1338"/>
              </a:lnSpc>
            </a:pPr>
            <a:fld id="{81D60167-4931-47E6-BA6A-407CBD079E47}" type="slidenum">
              <a:rPr dirty="0"/>
              <a:pPr marL="75503">
                <a:lnSpc>
                  <a:spcPts val="1338"/>
                </a:lnSpc>
              </a:pPr>
              <a:t>37</a:t>
            </a:fld>
            <a:r>
              <a:rPr spc="-149" dirty="0"/>
              <a:t> </a:t>
            </a:r>
            <a:r>
              <a:rPr dirty="0"/>
              <a:t>/</a:t>
            </a:r>
            <a:r>
              <a:rPr spc="-149" dirty="0"/>
              <a:t> </a:t>
            </a:r>
            <a:r>
              <a:rPr dirty="0"/>
              <a:t>71</a:t>
            </a:r>
          </a:p>
        </p:txBody>
      </p:sp>
      <p:sp>
        <p:nvSpPr>
          <p:cNvPr id="3" name="object 3"/>
          <p:cNvSpPr txBox="1"/>
          <p:nvPr/>
        </p:nvSpPr>
        <p:spPr>
          <a:xfrm>
            <a:off x="1788396" y="1346427"/>
            <a:ext cx="3504501" cy="358348"/>
          </a:xfrm>
          <a:prstGeom prst="rect">
            <a:avLst/>
          </a:prstGeom>
        </p:spPr>
        <p:txBody>
          <a:bodyPr vert="horz" wrap="square" lIns="0" tIns="22650" rIns="0" bIns="0" rtlCol="0">
            <a:spAutoFit/>
          </a:bodyPr>
          <a:lstStyle/>
          <a:p>
            <a:pPr marL="25168">
              <a:spcBef>
                <a:spcPts val="178"/>
              </a:spcBef>
            </a:pPr>
            <a:r>
              <a:rPr sz="2180" spc="-40" dirty="0">
                <a:latin typeface="Tahoma"/>
                <a:cs typeface="Tahoma"/>
              </a:rPr>
              <a:t>Bacteria</a:t>
            </a:r>
            <a:r>
              <a:rPr sz="2180" spc="10" dirty="0">
                <a:latin typeface="Tahoma"/>
                <a:cs typeface="Tahoma"/>
              </a:rPr>
              <a:t> </a:t>
            </a:r>
            <a:r>
              <a:rPr sz="2180" spc="-59" dirty="0">
                <a:latin typeface="Tahoma"/>
                <a:cs typeface="Tahoma"/>
              </a:rPr>
              <a:t>Doubling</a:t>
            </a:r>
            <a:r>
              <a:rPr sz="2180" spc="10" dirty="0">
                <a:latin typeface="Tahoma"/>
                <a:cs typeface="Tahoma"/>
              </a:rPr>
              <a:t> </a:t>
            </a:r>
            <a:r>
              <a:rPr sz="2180" spc="-69" dirty="0">
                <a:latin typeface="Tahoma"/>
                <a:cs typeface="Tahoma"/>
              </a:rPr>
              <a:t>Every</a:t>
            </a:r>
            <a:r>
              <a:rPr sz="2180" spc="10" dirty="0">
                <a:latin typeface="Tahoma"/>
                <a:cs typeface="Tahoma"/>
              </a:rPr>
              <a:t> </a:t>
            </a:r>
            <a:r>
              <a:rPr sz="2180" spc="-50" dirty="0">
                <a:latin typeface="Tahoma"/>
                <a:cs typeface="Tahoma"/>
              </a:rPr>
              <a:t>Hour</a:t>
            </a:r>
            <a:endParaRPr sz="2180" dirty="0">
              <a:latin typeface="Tahoma"/>
              <a:cs typeface="Tahoma"/>
            </a:endParaRPr>
          </a:p>
        </p:txBody>
      </p:sp>
      <p:pic>
        <p:nvPicPr>
          <p:cNvPr id="4" name="object 4"/>
          <p:cNvPicPr/>
          <p:nvPr/>
        </p:nvPicPr>
        <p:blipFill>
          <a:blip r:embed="rId2" cstate="print"/>
          <a:stretch>
            <a:fillRect/>
          </a:stretch>
        </p:blipFill>
        <p:spPr>
          <a:xfrm>
            <a:off x="3102136" y="1731181"/>
            <a:ext cx="5983642" cy="3610238"/>
          </a:xfrm>
          <a:prstGeom prst="rect">
            <a:avLst/>
          </a:prstGeom>
        </p:spPr>
      </p:pic>
      <p:sp>
        <p:nvSpPr>
          <p:cNvPr id="5" name="object 5"/>
          <p:cNvSpPr txBox="1"/>
          <p:nvPr/>
        </p:nvSpPr>
        <p:spPr>
          <a:xfrm>
            <a:off x="1738061" y="5877593"/>
            <a:ext cx="6698188" cy="358348"/>
          </a:xfrm>
          <a:prstGeom prst="rect">
            <a:avLst/>
          </a:prstGeom>
        </p:spPr>
        <p:txBody>
          <a:bodyPr vert="horz" wrap="square" lIns="0" tIns="22650" rIns="0" bIns="0" rtlCol="0">
            <a:spAutoFit/>
          </a:bodyPr>
          <a:lstStyle/>
          <a:p>
            <a:pPr marL="75503">
              <a:spcBef>
                <a:spcPts val="178"/>
              </a:spcBef>
            </a:pPr>
            <a:r>
              <a:rPr sz="2180" spc="-20" dirty="0">
                <a:solidFill>
                  <a:srgbClr val="FF0000"/>
                </a:solidFill>
                <a:latin typeface="Tahoma"/>
                <a:cs typeface="Tahoma"/>
              </a:rPr>
              <a:t>Let</a:t>
            </a:r>
            <a:r>
              <a:rPr sz="2180" spc="20" dirty="0">
                <a:solidFill>
                  <a:srgbClr val="FF0000"/>
                </a:solidFill>
                <a:latin typeface="Tahoma"/>
                <a:cs typeface="Tahoma"/>
              </a:rPr>
              <a:t> </a:t>
            </a:r>
            <a:r>
              <a:rPr sz="2180" i="1" spc="-99" dirty="0">
                <a:solidFill>
                  <a:srgbClr val="FF0000"/>
                </a:solidFill>
                <a:latin typeface="Arial"/>
                <a:cs typeface="Arial"/>
              </a:rPr>
              <a:t>a</a:t>
            </a:r>
            <a:r>
              <a:rPr sz="2378" i="1" spc="-149" baseline="-10416" dirty="0">
                <a:solidFill>
                  <a:srgbClr val="FF0000"/>
                </a:solidFill>
                <a:latin typeface="Arial"/>
                <a:cs typeface="Arial"/>
              </a:rPr>
              <a:t>n</a:t>
            </a:r>
            <a:r>
              <a:rPr sz="2378" i="1" spc="103" baseline="-10416" dirty="0">
                <a:solidFill>
                  <a:srgbClr val="FF0000"/>
                </a:solidFill>
                <a:latin typeface="Arial"/>
                <a:cs typeface="Arial"/>
              </a:rPr>
              <a:t> </a:t>
            </a:r>
            <a:r>
              <a:rPr sz="2180" spc="-109" dirty="0">
                <a:solidFill>
                  <a:srgbClr val="FF0000"/>
                </a:solidFill>
                <a:latin typeface="Tahoma"/>
                <a:cs typeface="Tahoma"/>
              </a:rPr>
              <a:t>be</a:t>
            </a:r>
            <a:r>
              <a:rPr sz="2180" spc="40" dirty="0">
                <a:solidFill>
                  <a:srgbClr val="FF0000"/>
                </a:solidFill>
                <a:latin typeface="Tahoma"/>
                <a:cs typeface="Tahoma"/>
              </a:rPr>
              <a:t> </a:t>
            </a:r>
            <a:r>
              <a:rPr sz="2180" spc="-79" dirty="0">
                <a:solidFill>
                  <a:srgbClr val="FF0000"/>
                </a:solidFill>
                <a:latin typeface="Tahoma"/>
                <a:cs typeface="Tahoma"/>
              </a:rPr>
              <a:t>the</a:t>
            </a:r>
            <a:r>
              <a:rPr sz="2180" spc="20" dirty="0">
                <a:solidFill>
                  <a:srgbClr val="FF0000"/>
                </a:solidFill>
                <a:latin typeface="Tahoma"/>
                <a:cs typeface="Tahoma"/>
              </a:rPr>
              <a:t> </a:t>
            </a:r>
            <a:r>
              <a:rPr sz="2180" spc="-99" dirty="0">
                <a:solidFill>
                  <a:srgbClr val="FF0000"/>
                </a:solidFill>
                <a:latin typeface="Tahoma"/>
                <a:cs typeface="Tahoma"/>
              </a:rPr>
              <a:t>number</a:t>
            </a:r>
            <a:r>
              <a:rPr sz="2180" spc="40" dirty="0">
                <a:solidFill>
                  <a:srgbClr val="FF0000"/>
                </a:solidFill>
                <a:latin typeface="Tahoma"/>
                <a:cs typeface="Tahoma"/>
              </a:rPr>
              <a:t> </a:t>
            </a:r>
            <a:r>
              <a:rPr sz="2180" spc="-69" dirty="0">
                <a:solidFill>
                  <a:srgbClr val="FF0000"/>
                </a:solidFill>
                <a:latin typeface="Tahoma"/>
                <a:cs typeface="Tahoma"/>
              </a:rPr>
              <a:t>of</a:t>
            </a:r>
            <a:r>
              <a:rPr sz="2180" spc="20" dirty="0">
                <a:solidFill>
                  <a:srgbClr val="FF0000"/>
                </a:solidFill>
                <a:latin typeface="Tahoma"/>
                <a:cs typeface="Tahoma"/>
              </a:rPr>
              <a:t> </a:t>
            </a:r>
            <a:r>
              <a:rPr sz="2180" spc="-69" dirty="0">
                <a:solidFill>
                  <a:srgbClr val="FF0000"/>
                </a:solidFill>
                <a:latin typeface="Tahoma"/>
                <a:cs typeface="Tahoma"/>
              </a:rPr>
              <a:t>bacteria</a:t>
            </a:r>
            <a:r>
              <a:rPr sz="2180" spc="40" dirty="0">
                <a:solidFill>
                  <a:srgbClr val="FF0000"/>
                </a:solidFill>
                <a:latin typeface="Tahoma"/>
                <a:cs typeface="Tahoma"/>
              </a:rPr>
              <a:t> </a:t>
            </a:r>
            <a:r>
              <a:rPr sz="2180" spc="-30" dirty="0">
                <a:solidFill>
                  <a:srgbClr val="FF0000"/>
                </a:solidFill>
                <a:latin typeface="Tahoma"/>
                <a:cs typeface="Tahoma"/>
              </a:rPr>
              <a:t>at</a:t>
            </a:r>
            <a:r>
              <a:rPr sz="2180" spc="30" dirty="0">
                <a:solidFill>
                  <a:srgbClr val="FF0000"/>
                </a:solidFill>
                <a:latin typeface="Tahoma"/>
                <a:cs typeface="Tahoma"/>
              </a:rPr>
              <a:t> </a:t>
            </a:r>
            <a:r>
              <a:rPr sz="2180" spc="-89" dirty="0">
                <a:solidFill>
                  <a:srgbClr val="FF0000"/>
                </a:solidFill>
                <a:latin typeface="Tahoma"/>
                <a:cs typeface="Tahoma"/>
              </a:rPr>
              <a:t>hour</a:t>
            </a:r>
            <a:r>
              <a:rPr sz="2180" spc="40" dirty="0">
                <a:solidFill>
                  <a:srgbClr val="FF0000"/>
                </a:solidFill>
                <a:latin typeface="Tahoma"/>
                <a:cs typeface="Tahoma"/>
              </a:rPr>
              <a:t> </a:t>
            </a:r>
            <a:r>
              <a:rPr sz="2180" i="1" spc="-59" dirty="0">
                <a:solidFill>
                  <a:srgbClr val="FF0000"/>
                </a:solidFill>
                <a:latin typeface="Arial"/>
                <a:cs typeface="Arial"/>
              </a:rPr>
              <a:t>n</a:t>
            </a:r>
            <a:r>
              <a:rPr sz="2180" spc="-59" dirty="0">
                <a:solidFill>
                  <a:srgbClr val="FF0000"/>
                </a:solidFill>
                <a:latin typeface="Tahoma"/>
                <a:cs typeface="Tahoma"/>
              </a:rPr>
              <a:t>.</a:t>
            </a:r>
            <a:r>
              <a:rPr sz="2180" spc="268" dirty="0">
                <a:solidFill>
                  <a:srgbClr val="FF0000"/>
                </a:solidFill>
                <a:latin typeface="Tahoma"/>
                <a:cs typeface="Tahoma"/>
              </a:rPr>
              <a:t> </a:t>
            </a:r>
            <a:r>
              <a:rPr sz="2180" spc="-30" dirty="0">
                <a:solidFill>
                  <a:srgbClr val="FF0000"/>
                </a:solidFill>
                <a:latin typeface="Tahoma"/>
                <a:cs typeface="Tahoma"/>
              </a:rPr>
              <a:t>What</a:t>
            </a:r>
            <a:r>
              <a:rPr sz="2180" spc="40" dirty="0">
                <a:solidFill>
                  <a:srgbClr val="FF0000"/>
                </a:solidFill>
                <a:latin typeface="Tahoma"/>
                <a:cs typeface="Tahoma"/>
              </a:rPr>
              <a:t> </a:t>
            </a:r>
            <a:r>
              <a:rPr sz="2180" spc="-69" dirty="0">
                <a:solidFill>
                  <a:srgbClr val="FF0000"/>
                </a:solidFill>
                <a:latin typeface="Tahoma"/>
                <a:cs typeface="Tahoma"/>
              </a:rPr>
              <a:t>is</a:t>
            </a:r>
            <a:r>
              <a:rPr sz="2180" spc="30" dirty="0">
                <a:solidFill>
                  <a:srgbClr val="FF0000"/>
                </a:solidFill>
                <a:latin typeface="Tahoma"/>
                <a:cs typeface="Tahoma"/>
              </a:rPr>
              <a:t> </a:t>
            </a:r>
            <a:r>
              <a:rPr sz="2180" i="1" spc="-30" dirty="0">
                <a:solidFill>
                  <a:srgbClr val="FF0000"/>
                </a:solidFill>
                <a:latin typeface="Arial"/>
                <a:cs typeface="Arial"/>
              </a:rPr>
              <a:t>a</a:t>
            </a:r>
            <a:r>
              <a:rPr sz="2378" i="1" spc="-44" baseline="-10416" dirty="0">
                <a:solidFill>
                  <a:srgbClr val="FF0000"/>
                </a:solidFill>
                <a:latin typeface="Arial"/>
                <a:cs typeface="Arial"/>
              </a:rPr>
              <a:t>n</a:t>
            </a:r>
            <a:r>
              <a:rPr sz="2180" spc="-30" dirty="0">
                <a:solidFill>
                  <a:srgbClr val="FF0000"/>
                </a:solidFill>
                <a:latin typeface="Tahoma"/>
                <a:cs typeface="Tahoma"/>
              </a:rPr>
              <a:t>?</a:t>
            </a:r>
            <a:endParaRPr sz="2180">
              <a:latin typeface="Tahoma"/>
              <a:cs typeface="Tahoma"/>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35143" y="207024"/>
            <a:ext cx="21856854" cy="465194"/>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27" dirty="0"/>
              <a:t> </a:t>
            </a:r>
            <a:r>
              <a:rPr spc="-109" dirty="0"/>
              <a:t>Graphs	</a:t>
            </a:r>
          </a:p>
        </p:txBody>
      </p:sp>
      <p:pic>
        <p:nvPicPr>
          <p:cNvPr id="3" name="object 3"/>
          <p:cNvPicPr/>
          <p:nvPr/>
        </p:nvPicPr>
        <p:blipFill>
          <a:blip r:embed="rId2" cstate="print"/>
          <a:stretch>
            <a:fillRect/>
          </a:stretch>
        </p:blipFill>
        <p:spPr>
          <a:xfrm>
            <a:off x="2712450" y="3960057"/>
            <a:ext cx="2983414" cy="2351166"/>
          </a:xfrm>
          <a:prstGeom prst="rect">
            <a:avLst/>
          </a:prstGeom>
        </p:spPr>
      </p:pic>
      <p:grpSp>
        <p:nvGrpSpPr>
          <p:cNvPr id="4" name="object 4"/>
          <p:cNvGrpSpPr/>
          <p:nvPr/>
        </p:nvGrpSpPr>
        <p:grpSpPr>
          <a:xfrm>
            <a:off x="5885508" y="3808729"/>
            <a:ext cx="3590069" cy="2653857"/>
            <a:chOff x="2198829" y="1921997"/>
            <a:chExt cx="1811655" cy="1339215"/>
          </a:xfrm>
        </p:grpSpPr>
        <p:sp>
          <p:nvSpPr>
            <p:cNvPr id="5" name="object 5"/>
            <p:cNvSpPr/>
            <p:nvPr/>
          </p:nvSpPr>
          <p:spPr>
            <a:xfrm>
              <a:off x="2202291" y="1986118"/>
              <a:ext cx="1804670" cy="1203325"/>
            </a:xfrm>
            <a:custGeom>
              <a:avLst/>
              <a:gdLst/>
              <a:ahLst/>
              <a:cxnLst/>
              <a:rect l="l" t="t" r="r" b="b"/>
              <a:pathLst>
                <a:path w="1804670" h="1203325">
                  <a:moveTo>
                    <a:pt x="0" y="0"/>
                  </a:moveTo>
                  <a:lnTo>
                    <a:pt x="0" y="1203097"/>
                  </a:lnTo>
                  <a:lnTo>
                    <a:pt x="1804640" y="1203097"/>
                  </a:lnTo>
                  <a:lnTo>
                    <a:pt x="1804640" y="0"/>
                  </a:lnTo>
                  <a:lnTo>
                    <a:pt x="0" y="0"/>
                  </a:lnTo>
                  <a:close/>
                </a:path>
              </a:pathLst>
            </a:custGeom>
            <a:ln w="6923">
              <a:solidFill>
                <a:srgbClr val="006300"/>
              </a:solidFill>
            </a:ln>
          </p:spPr>
          <p:txBody>
            <a:bodyPr wrap="square" lIns="0" tIns="0" rIns="0" bIns="0" rtlCol="0"/>
            <a:lstStyle/>
            <a:p>
              <a:endParaRPr sz="3567"/>
            </a:p>
          </p:txBody>
        </p:sp>
        <p:pic>
          <p:nvPicPr>
            <p:cNvPr id="6" name="object 6"/>
            <p:cNvPicPr/>
            <p:nvPr/>
          </p:nvPicPr>
          <p:blipFill>
            <a:blip r:embed="rId3" cstate="print"/>
            <a:stretch>
              <a:fillRect/>
            </a:stretch>
          </p:blipFill>
          <p:spPr>
            <a:xfrm>
              <a:off x="3019690" y="1921997"/>
              <a:ext cx="169841" cy="130266"/>
            </a:xfrm>
            <a:prstGeom prst="rect">
              <a:avLst/>
            </a:prstGeom>
          </p:spPr>
        </p:pic>
        <p:pic>
          <p:nvPicPr>
            <p:cNvPr id="7" name="object 7"/>
            <p:cNvPicPr/>
            <p:nvPr/>
          </p:nvPicPr>
          <p:blipFill>
            <a:blip r:embed="rId3" cstate="print"/>
            <a:stretch>
              <a:fillRect/>
            </a:stretch>
          </p:blipFill>
          <p:spPr>
            <a:xfrm>
              <a:off x="3019690" y="3130928"/>
              <a:ext cx="169841" cy="130266"/>
            </a:xfrm>
            <a:prstGeom prst="rect">
              <a:avLst/>
            </a:prstGeom>
          </p:spPr>
        </p:pic>
      </p:grpSp>
      <p:graphicFrame>
        <p:nvGraphicFramePr>
          <p:cNvPr id="8" name="object 8"/>
          <p:cNvGraphicFramePr>
            <a:graphicFrameLocks noGrp="1"/>
          </p:cNvGraphicFramePr>
          <p:nvPr/>
        </p:nvGraphicFramePr>
        <p:xfrm>
          <a:off x="6105094" y="4179895"/>
          <a:ext cx="3135802" cy="1882188"/>
        </p:xfrm>
        <a:graphic>
          <a:graphicData uri="http://schemas.openxmlformats.org/drawingml/2006/table">
            <a:tbl>
              <a:tblPr firstRow="1" bandRow="1">
                <a:tableStyleId>{2D5ABB26-0587-4C30-8999-92F81FD0307C}</a:tableStyleId>
              </a:tblPr>
              <a:tblGrid>
                <a:gridCol w="783951">
                  <a:extLst>
                    <a:ext uri="{9D8B030D-6E8A-4147-A177-3AD203B41FA5}">
                      <a16:colId xmlns:a16="http://schemas.microsoft.com/office/drawing/2014/main" val="20000"/>
                    </a:ext>
                  </a:extLst>
                </a:gridCol>
                <a:gridCol w="783951">
                  <a:extLst>
                    <a:ext uri="{9D8B030D-6E8A-4147-A177-3AD203B41FA5}">
                      <a16:colId xmlns:a16="http://schemas.microsoft.com/office/drawing/2014/main" val="20001"/>
                    </a:ext>
                  </a:extLst>
                </a:gridCol>
                <a:gridCol w="783949">
                  <a:extLst>
                    <a:ext uri="{9D8B030D-6E8A-4147-A177-3AD203B41FA5}">
                      <a16:colId xmlns:a16="http://schemas.microsoft.com/office/drawing/2014/main" val="20002"/>
                    </a:ext>
                  </a:extLst>
                </a:gridCol>
                <a:gridCol w="783951">
                  <a:extLst>
                    <a:ext uri="{9D8B030D-6E8A-4147-A177-3AD203B41FA5}">
                      <a16:colId xmlns:a16="http://schemas.microsoft.com/office/drawing/2014/main" val="20003"/>
                    </a:ext>
                  </a:extLst>
                </a:gridCol>
              </a:tblGrid>
              <a:tr h="470547">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extLst>
                  <a:ext uri="{0D108BD9-81ED-4DB2-BD59-A6C34878D82A}">
                    <a16:rowId xmlns:a16="http://schemas.microsoft.com/office/drawing/2014/main" val="10000"/>
                  </a:ext>
                </a:extLst>
              </a:tr>
              <a:tr h="470547">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extLst>
                  <a:ext uri="{0D108BD9-81ED-4DB2-BD59-A6C34878D82A}">
                    <a16:rowId xmlns:a16="http://schemas.microsoft.com/office/drawing/2014/main" val="10001"/>
                  </a:ext>
                </a:extLst>
              </a:tr>
              <a:tr h="470547">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extLst>
                  <a:ext uri="{0D108BD9-81ED-4DB2-BD59-A6C34878D82A}">
                    <a16:rowId xmlns:a16="http://schemas.microsoft.com/office/drawing/2014/main" val="10002"/>
                  </a:ext>
                </a:extLst>
              </a:tr>
              <a:tr h="470547">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6300"/>
                      </a:solidFill>
                      <a:prstDash val="solid"/>
                    </a:lnL>
                    <a:lnR w="9525">
                      <a:solidFill>
                        <a:srgbClr val="006300"/>
                      </a:solidFill>
                      <a:prstDash val="solid"/>
                    </a:lnR>
                    <a:lnT w="9525">
                      <a:solidFill>
                        <a:srgbClr val="006300"/>
                      </a:solidFill>
                      <a:prstDash val="solid"/>
                    </a:lnT>
                    <a:lnB w="9525">
                      <a:solidFill>
                        <a:srgbClr val="006300"/>
                      </a:solidFill>
                      <a:prstDash val="solid"/>
                    </a:lnB>
                  </a:tcPr>
                </a:tc>
                <a:extLst>
                  <a:ext uri="{0D108BD9-81ED-4DB2-BD59-A6C34878D82A}">
                    <a16:rowId xmlns:a16="http://schemas.microsoft.com/office/drawing/2014/main" val="10003"/>
                  </a:ext>
                </a:extLst>
              </a:tr>
            </a:tbl>
          </a:graphicData>
        </a:graphic>
      </p:graphicFrame>
      <p:sp>
        <p:nvSpPr>
          <p:cNvPr id="14" name="object 14"/>
          <p:cNvSpPr txBox="1"/>
          <p:nvPr/>
        </p:nvSpPr>
        <p:spPr>
          <a:xfrm>
            <a:off x="2698718" y="3471950"/>
            <a:ext cx="6311877" cy="261689"/>
          </a:xfrm>
          <a:prstGeom prst="rect">
            <a:avLst/>
          </a:prstGeom>
        </p:spPr>
        <p:txBody>
          <a:bodyPr vert="horz" wrap="square" lIns="0" tIns="32717" rIns="0" bIns="0" rtlCol="0">
            <a:spAutoFit/>
          </a:bodyPr>
          <a:lstStyle/>
          <a:p>
            <a:pPr marL="25168">
              <a:spcBef>
                <a:spcPts val="258"/>
              </a:spcBef>
            </a:pPr>
            <a:r>
              <a:rPr sz="1486" b="1" spc="188" dirty="0">
                <a:solidFill>
                  <a:srgbClr val="FF0000"/>
                </a:solidFill>
                <a:latin typeface="Calibri"/>
                <a:cs typeface="Calibri"/>
              </a:rPr>
              <a:t>Tour</a:t>
            </a:r>
            <a:r>
              <a:rPr sz="1486" b="1" spc="238" dirty="0">
                <a:solidFill>
                  <a:srgbClr val="FF0000"/>
                </a:solidFill>
                <a:latin typeface="Calibri"/>
                <a:cs typeface="Calibri"/>
              </a:rPr>
              <a:t> </a:t>
            </a:r>
            <a:r>
              <a:rPr sz="1486" b="1" spc="119" dirty="0">
                <a:solidFill>
                  <a:srgbClr val="FF0000"/>
                </a:solidFill>
                <a:latin typeface="Calibri"/>
                <a:cs typeface="Calibri"/>
              </a:rPr>
              <a:t>the</a:t>
            </a:r>
            <a:r>
              <a:rPr sz="1486" b="1" spc="248" dirty="0">
                <a:solidFill>
                  <a:srgbClr val="FF0000"/>
                </a:solidFill>
                <a:latin typeface="Calibri"/>
                <a:cs typeface="Calibri"/>
              </a:rPr>
              <a:t> </a:t>
            </a:r>
            <a:r>
              <a:rPr sz="1486" b="1" spc="139" dirty="0">
                <a:solidFill>
                  <a:srgbClr val="FF0000"/>
                </a:solidFill>
                <a:latin typeface="Calibri"/>
                <a:cs typeface="Calibri"/>
              </a:rPr>
              <a:t>building/place</a:t>
            </a:r>
            <a:r>
              <a:rPr sz="1486" b="1" spc="238" dirty="0">
                <a:solidFill>
                  <a:srgbClr val="FF0000"/>
                </a:solidFill>
                <a:latin typeface="Calibri"/>
                <a:cs typeface="Calibri"/>
              </a:rPr>
              <a:t> </a:t>
            </a:r>
            <a:r>
              <a:rPr sz="1486" b="1" spc="129" dirty="0">
                <a:solidFill>
                  <a:srgbClr val="FF0000"/>
                </a:solidFill>
                <a:latin typeface="Calibri"/>
                <a:cs typeface="Calibri"/>
              </a:rPr>
              <a:t>passing</a:t>
            </a:r>
            <a:r>
              <a:rPr sz="1486" b="1" spc="248" dirty="0">
                <a:solidFill>
                  <a:srgbClr val="FF0000"/>
                </a:solidFill>
                <a:latin typeface="Calibri"/>
                <a:cs typeface="Calibri"/>
              </a:rPr>
              <a:t> </a:t>
            </a:r>
            <a:r>
              <a:rPr sz="1486" b="1" spc="99" dirty="0">
                <a:solidFill>
                  <a:srgbClr val="FF0000"/>
                </a:solidFill>
                <a:latin typeface="Calibri"/>
                <a:cs typeface="Calibri"/>
              </a:rPr>
              <a:t>each</a:t>
            </a:r>
            <a:r>
              <a:rPr sz="1486" b="1" spc="238" dirty="0">
                <a:solidFill>
                  <a:srgbClr val="FF0000"/>
                </a:solidFill>
                <a:latin typeface="Calibri"/>
                <a:cs typeface="Calibri"/>
              </a:rPr>
              <a:t> </a:t>
            </a:r>
            <a:r>
              <a:rPr sz="1486" b="1" spc="149" dirty="0">
                <a:solidFill>
                  <a:srgbClr val="FF0000"/>
                </a:solidFill>
                <a:latin typeface="Calibri"/>
                <a:cs typeface="Calibri"/>
              </a:rPr>
              <a:t>door/building</a:t>
            </a:r>
            <a:r>
              <a:rPr sz="1486" b="1" spc="248" dirty="0">
                <a:solidFill>
                  <a:srgbClr val="FF0000"/>
                </a:solidFill>
                <a:latin typeface="Calibri"/>
                <a:cs typeface="Calibri"/>
              </a:rPr>
              <a:t> </a:t>
            </a:r>
            <a:r>
              <a:rPr sz="1486" b="1" spc="149" dirty="0">
                <a:solidFill>
                  <a:srgbClr val="FF0000"/>
                </a:solidFill>
                <a:latin typeface="Calibri"/>
                <a:cs typeface="Calibri"/>
              </a:rPr>
              <a:t>exactly</a:t>
            </a:r>
            <a:r>
              <a:rPr sz="1486" b="1" spc="238" dirty="0">
                <a:solidFill>
                  <a:srgbClr val="FF0000"/>
                </a:solidFill>
                <a:latin typeface="Calibri"/>
                <a:cs typeface="Calibri"/>
              </a:rPr>
              <a:t> </a:t>
            </a:r>
            <a:r>
              <a:rPr sz="1486" b="1" spc="109" dirty="0">
                <a:solidFill>
                  <a:srgbClr val="FF0000"/>
                </a:solidFill>
                <a:latin typeface="Calibri"/>
                <a:cs typeface="Calibri"/>
              </a:rPr>
              <a:t>once</a:t>
            </a:r>
            <a:endParaRPr sz="1486">
              <a:latin typeface="Calibri"/>
              <a:cs typeface="Calibri"/>
            </a:endParaRP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211136" y="292910"/>
            <a:ext cx="22794403" cy="461219"/>
          </a:xfrm>
          <a:prstGeom prst="rect">
            <a:avLst/>
          </a:prstGeom>
        </p:spPr>
        <p:txBody>
          <a:bodyPr vert="horz" wrap="square" lIns="0" tIns="33975" rIns="0" bIns="0" rtlCol="0" anchor="b">
            <a:spAutoFit/>
          </a:bodyPr>
          <a:lstStyle/>
          <a:p>
            <a:pPr marL="26426">
              <a:spcBef>
                <a:spcPts val="268"/>
              </a:spcBef>
              <a:tabLst>
                <a:tab pos="8593474" algn="l"/>
              </a:tabLst>
            </a:pPr>
            <a:r>
              <a:rPr spc="-59" dirty="0"/>
              <a:t>Applications:</a:t>
            </a:r>
            <a:r>
              <a:rPr spc="327" dirty="0"/>
              <a:t> </a:t>
            </a:r>
            <a:r>
              <a:rPr spc="-109" dirty="0"/>
              <a:t>Graphs	</a:t>
            </a:r>
          </a:p>
        </p:txBody>
      </p:sp>
      <p:sp>
        <p:nvSpPr>
          <p:cNvPr id="14" name="object 14"/>
          <p:cNvSpPr txBox="1">
            <a:spLocks noGrp="1"/>
          </p:cNvSpPr>
          <p:nvPr>
            <p:ph type="ftr" sz="quarter" idx="5"/>
          </p:nvPr>
        </p:nvSpPr>
        <p:spPr>
          <a:xfrm>
            <a:off x="2679914" y="12072832"/>
            <a:ext cx="13707499" cy="166712"/>
          </a:xfrm>
          <a:prstGeom prst="rect">
            <a:avLst/>
          </a:prstGeom>
        </p:spPr>
        <p:txBody>
          <a:bodyPr vert="horz" wrap="square" lIns="0" tIns="0" rIns="0" bIns="0" rtlCol="0" anchor="ctr">
            <a:spAutoFit/>
          </a:bodyPr>
          <a:lstStyle/>
          <a:p>
            <a:pPr marL="25168">
              <a:lnSpc>
                <a:spcPts val="1338"/>
              </a:lnSpc>
            </a:pPr>
            <a:r>
              <a:rPr spc="178" dirty="0"/>
              <a:t>I</a:t>
            </a:r>
            <a:r>
              <a:rPr cap="small" spc="89" dirty="0"/>
              <a:t>m</a:t>
            </a:r>
            <a:r>
              <a:rPr cap="small" spc="40" dirty="0"/>
              <a:t>d</a:t>
            </a:r>
            <a:r>
              <a:rPr cap="small" spc="139" dirty="0"/>
              <a:t>ad</a:t>
            </a:r>
            <a:r>
              <a:rPr dirty="0"/>
              <a:t> </a:t>
            </a:r>
            <a:r>
              <a:rPr spc="-99" dirty="0"/>
              <a:t> </a:t>
            </a:r>
            <a:r>
              <a:rPr cap="small" spc="139" dirty="0"/>
              <a:t>ullah</a:t>
            </a:r>
            <a:r>
              <a:rPr dirty="0"/>
              <a:t> </a:t>
            </a:r>
            <a:r>
              <a:rPr spc="-99" dirty="0"/>
              <a:t> </a:t>
            </a:r>
            <a:r>
              <a:rPr spc="377" dirty="0"/>
              <a:t>K</a:t>
            </a:r>
            <a:r>
              <a:rPr cap="small" spc="109" dirty="0"/>
              <a:t>han</a:t>
            </a:r>
            <a:r>
              <a:rPr dirty="0"/>
              <a:t>  </a:t>
            </a:r>
            <a:r>
              <a:rPr spc="30" dirty="0"/>
              <a:t> </a:t>
            </a:r>
            <a:r>
              <a:rPr spc="109" dirty="0">
                <a:latin typeface="Trebuchet MS"/>
                <a:cs typeface="Trebuchet MS"/>
              </a:rPr>
              <a:t>(LUMS)</a:t>
            </a:r>
          </a:p>
        </p:txBody>
      </p:sp>
      <p:sp>
        <p:nvSpPr>
          <p:cNvPr id="16" name="object 16"/>
          <p:cNvSpPr txBox="1">
            <a:spLocks noGrp="1"/>
          </p:cNvSpPr>
          <p:nvPr>
            <p:ph type="sldNum" sz="quarter" idx="7"/>
          </p:nvPr>
        </p:nvSpPr>
        <p:spPr>
          <a:xfrm>
            <a:off x="23979259" y="12081405"/>
            <a:ext cx="2085708" cy="166712"/>
          </a:xfrm>
          <a:prstGeom prst="rect">
            <a:avLst/>
          </a:prstGeom>
        </p:spPr>
        <p:txBody>
          <a:bodyPr vert="horz" wrap="square" lIns="0" tIns="0" rIns="0" bIns="0" rtlCol="0" anchor="ctr">
            <a:spAutoFit/>
          </a:bodyPr>
          <a:lstStyle/>
          <a:p>
            <a:pPr marL="75503">
              <a:lnSpc>
                <a:spcPts val="1338"/>
              </a:lnSpc>
            </a:pPr>
            <a:fld id="{81D60167-4931-47E6-BA6A-407CBD079E47}" type="slidenum">
              <a:rPr dirty="0"/>
              <a:pPr marL="75503">
                <a:lnSpc>
                  <a:spcPts val="1338"/>
                </a:lnSpc>
              </a:pPr>
              <a:t>39</a:t>
            </a:fld>
            <a:r>
              <a:rPr spc="-149" dirty="0"/>
              <a:t> </a:t>
            </a:r>
            <a:r>
              <a:rPr dirty="0"/>
              <a:t>/</a:t>
            </a:r>
            <a:r>
              <a:rPr spc="-149" dirty="0"/>
              <a:t> </a:t>
            </a:r>
            <a:r>
              <a:rPr dirty="0"/>
              <a:t>71</a:t>
            </a:r>
          </a:p>
        </p:txBody>
      </p:sp>
      <p:sp>
        <p:nvSpPr>
          <p:cNvPr id="3" name="object 3"/>
          <p:cNvSpPr/>
          <p:nvPr/>
        </p:nvSpPr>
        <p:spPr>
          <a:xfrm>
            <a:off x="2103359" y="1104023"/>
            <a:ext cx="122058" cy="122058"/>
          </a:xfrm>
          <a:custGeom>
            <a:avLst/>
            <a:gdLst/>
            <a:ahLst/>
            <a:cxnLst/>
            <a:rect l="l" t="t" r="r" b="b"/>
            <a:pathLst>
              <a:path w="61595" h="61595">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sp>
        <p:nvSpPr>
          <p:cNvPr id="4" name="object 4"/>
          <p:cNvSpPr txBox="1"/>
          <p:nvPr/>
        </p:nvSpPr>
        <p:spPr>
          <a:xfrm>
            <a:off x="2337487" y="944494"/>
            <a:ext cx="6304327" cy="816720"/>
          </a:xfrm>
          <a:prstGeom prst="rect">
            <a:avLst/>
          </a:prstGeom>
        </p:spPr>
        <p:txBody>
          <a:bodyPr vert="horz" wrap="square" lIns="0" tIns="25167" rIns="0" bIns="0" rtlCol="0">
            <a:spAutoFit/>
          </a:bodyPr>
          <a:lstStyle/>
          <a:p>
            <a:pPr marL="25168" marR="10067">
              <a:lnSpc>
                <a:spcPct val="125299"/>
              </a:lnSpc>
              <a:spcBef>
                <a:spcPts val="198"/>
              </a:spcBef>
            </a:pPr>
            <a:r>
              <a:rPr sz="2180" spc="129" dirty="0">
                <a:latin typeface="Tahoma"/>
                <a:cs typeface="Tahoma"/>
              </a:rPr>
              <a:t>A</a:t>
            </a:r>
            <a:r>
              <a:rPr sz="2180" spc="40" dirty="0">
                <a:latin typeface="Tahoma"/>
                <a:cs typeface="Tahoma"/>
              </a:rPr>
              <a:t> </a:t>
            </a:r>
            <a:r>
              <a:rPr sz="2180" spc="-119" dirty="0">
                <a:latin typeface="Tahoma"/>
                <a:cs typeface="Tahoma"/>
              </a:rPr>
              <a:t>salesman</a:t>
            </a:r>
            <a:r>
              <a:rPr sz="2180" spc="50" dirty="0">
                <a:latin typeface="Tahoma"/>
                <a:cs typeface="Tahoma"/>
              </a:rPr>
              <a:t> </a:t>
            </a:r>
            <a:r>
              <a:rPr sz="2180" spc="-109" dirty="0">
                <a:latin typeface="Tahoma"/>
                <a:cs typeface="Tahoma"/>
              </a:rPr>
              <a:t>wants</a:t>
            </a:r>
            <a:r>
              <a:rPr sz="2180" spc="50" dirty="0">
                <a:latin typeface="Tahoma"/>
                <a:cs typeface="Tahoma"/>
              </a:rPr>
              <a:t> </a:t>
            </a:r>
            <a:r>
              <a:rPr sz="2180" spc="-30" dirty="0">
                <a:latin typeface="Tahoma"/>
                <a:cs typeface="Tahoma"/>
              </a:rPr>
              <a:t>to</a:t>
            </a:r>
            <a:r>
              <a:rPr sz="2180" spc="50" dirty="0">
                <a:latin typeface="Tahoma"/>
                <a:cs typeface="Tahoma"/>
              </a:rPr>
              <a:t> </a:t>
            </a:r>
            <a:r>
              <a:rPr sz="2180" spc="-40" dirty="0">
                <a:latin typeface="Tahoma"/>
                <a:cs typeface="Tahoma"/>
              </a:rPr>
              <a:t>visit</a:t>
            </a:r>
            <a:r>
              <a:rPr sz="2180" spc="40" dirty="0">
                <a:latin typeface="Tahoma"/>
                <a:cs typeface="Tahoma"/>
              </a:rPr>
              <a:t> </a:t>
            </a:r>
            <a:r>
              <a:rPr sz="2180" spc="-30" dirty="0">
                <a:latin typeface="Tahoma"/>
                <a:cs typeface="Tahoma"/>
              </a:rPr>
              <a:t>all</a:t>
            </a:r>
            <a:r>
              <a:rPr sz="2180" spc="50" dirty="0">
                <a:latin typeface="Tahoma"/>
                <a:cs typeface="Tahoma"/>
              </a:rPr>
              <a:t> </a:t>
            </a:r>
            <a:r>
              <a:rPr sz="2180" spc="-50" dirty="0">
                <a:latin typeface="Tahoma"/>
                <a:cs typeface="Tahoma"/>
              </a:rPr>
              <a:t>cities</a:t>
            </a:r>
            <a:r>
              <a:rPr sz="2180" spc="50" dirty="0">
                <a:latin typeface="Tahoma"/>
                <a:cs typeface="Tahoma"/>
              </a:rPr>
              <a:t> </a:t>
            </a:r>
            <a:r>
              <a:rPr sz="2180" spc="-50" dirty="0">
                <a:latin typeface="Tahoma"/>
                <a:cs typeface="Tahoma"/>
              </a:rPr>
              <a:t>with</a:t>
            </a:r>
            <a:r>
              <a:rPr sz="2180" spc="40" dirty="0">
                <a:latin typeface="Tahoma"/>
                <a:cs typeface="Tahoma"/>
              </a:rPr>
              <a:t> </a:t>
            </a:r>
            <a:r>
              <a:rPr sz="2180" spc="-79" dirty="0">
                <a:latin typeface="Tahoma"/>
                <a:cs typeface="Tahoma"/>
              </a:rPr>
              <a:t>minimum</a:t>
            </a:r>
            <a:r>
              <a:rPr sz="2180" spc="50" dirty="0">
                <a:latin typeface="Tahoma"/>
                <a:cs typeface="Tahoma"/>
              </a:rPr>
              <a:t> </a:t>
            </a:r>
            <a:r>
              <a:rPr sz="2180" spc="-69" dirty="0">
                <a:latin typeface="Tahoma"/>
                <a:cs typeface="Tahoma"/>
              </a:rPr>
              <a:t>cost </a:t>
            </a:r>
            <a:r>
              <a:rPr sz="2180" spc="-654" dirty="0">
                <a:latin typeface="Tahoma"/>
                <a:cs typeface="Tahoma"/>
              </a:rPr>
              <a:t> </a:t>
            </a:r>
            <a:r>
              <a:rPr sz="2180" spc="-40" dirty="0">
                <a:latin typeface="Tahoma"/>
                <a:cs typeface="Tahoma"/>
              </a:rPr>
              <a:t>Optimize</a:t>
            </a:r>
            <a:r>
              <a:rPr sz="2180" spc="20" dirty="0">
                <a:latin typeface="Tahoma"/>
                <a:cs typeface="Tahoma"/>
              </a:rPr>
              <a:t> </a:t>
            </a:r>
            <a:r>
              <a:rPr sz="2180" spc="-79" dirty="0">
                <a:latin typeface="Tahoma"/>
                <a:cs typeface="Tahoma"/>
              </a:rPr>
              <a:t>the</a:t>
            </a:r>
            <a:r>
              <a:rPr sz="2180" spc="40" dirty="0">
                <a:latin typeface="Tahoma"/>
                <a:cs typeface="Tahoma"/>
              </a:rPr>
              <a:t> </a:t>
            </a:r>
            <a:r>
              <a:rPr sz="2180" spc="-20" dirty="0">
                <a:latin typeface="Tahoma"/>
                <a:cs typeface="Tahoma"/>
              </a:rPr>
              <a:t>tool</a:t>
            </a:r>
            <a:r>
              <a:rPr sz="2180" spc="30" dirty="0">
                <a:latin typeface="Tahoma"/>
                <a:cs typeface="Tahoma"/>
              </a:rPr>
              <a:t> </a:t>
            </a:r>
            <a:r>
              <a:rPr sz="2180" spc="-69" dirty="0">
                <a:latin typeface="Tahoma"/>
                <a:cs typeface="Tahoma"/>
              </a:rPr>
              <a:t>path</a:t>
            </a:r>
            <a:r>
              <a:rPr sz="2180" spc="40" dirty="0">
                <a:latin typeface="Tahoma"/>
                <a:cs typeface="Tahoma"/>
              </a:rPr>
              <a:t> </a:t>
            </a:r>
            <a:r>
              <a:rPr sz="2180" spc="-89" dirty="0">
                <a:latin typeface="Tahoma"/>
                <a:cs typeface="Tahoma"/>
              </a:rPr>
              <a:t>for</a:t>
            </a:r>
            <a:r>
              <a:rPr sz="2180" spc="40" dirty="0">
                <a:latin typeface="Tahoma"/>
                <a:cs typeface="Tahoma"/>
              </a:rPr>
              <a:t> </a:t>
            </a:r>
            <a:r>
              <a:rPr sz="2180" spc="-79" dirty="0">
                <a:latin typeface="Tahoma"/>
                <a:cs typeface="Tahoma"/>
              </a:rPr>
              <a:t>manufacturing</a:t>
            </a:r>
            <a:r>
              <a:rPr sz="2180" spc="40" dirty="0">
                <a:latin typeface="Tahoma"/>
                <a:cs typeface="Tahoma"/>
              </a:rPr>
              <a:t> </a:t>
            </a:r>
            <a:r>
              <a:rPr sz="2180" spc="-89" dirty="0">
                <a:latin typeface="Tahoma"/>
                <a:cs typeface="Tahoma"/>
              </a:rPr>
              <a:t>equipment</a:t>
            </a:r>
            <a:endParaRPr sz="2180" dirty="0">
              <a:latin typeface="Tahoma"/>
              <a:cs typeface="Tahoma"/>
            </a:endParaRPr>
          </a:p>
        </p:txBody>
      </p:sp>
      <p:sp>
        <p:nvSpPr>
          <p:cNvPr id="5" name="object 5"/>
          <p:cNvSpPr/>
          <p:nvPr/>
        </p:nvSpPr>
        <p:spPr>
          <a:xfrm>
            <a:off x="2103359" y="1520236"/>
            <a:ext cx="122058" cy="122058"/>
          </a:xfrm>
          <a:custGeom>
            <a:avLst/>
            <a:gdLst/>
            <a:ahLst/>
            <a:cxnLst/>
            <a:rect l="l" t="t" r="r" b="b"/>
            <a:pathLst>
              <a:path w="61595" h="61594">
                <a:moveTo>
                  <a:pt x="61569" y="0"/>
                </a:moveTo>
                <a:lnTo>
                  <a:pt x="0" y="0"/>
                </a:lnTo>
                <a:lnTo>
                  <a:pt x="0" y="61569"/>
                </a:lnTo>
                <a:lnTo>
                  <a:pt x="61569" y="61569"/>
                </a:lnTo>
                <a:lnTo>
                  <a:pt x="61569" y="0"/>
                </a:lnTo>
                <a:close/>
              </a:path>
            </a:pathLst>
          </a:custGeom>
          <a:solidFill>
            <a:srgbClr val="3333B2"/>
          </a:solidFill>
        </p:spPr>
        <p:txBody>
          <a:bodyPr wrap="square" lIns="0" tIns="0" rIns="0" bIns="0" rtlCol="0"/>
          <a:lstStyle/>
          <a:p>
            <a:endParaRPr sz="3567"/>
          </a:p>
        </p:txBody>
      </p:sp>
      <p:pic>
        <p:nvPicPr>
          <p:cNvPr id="6" name="object 6"/>
          <p:cNvPicPr/>
          <p:nvPr/>
        </p:nvPicPr>
        <p:blipFill>
          <a:blip r:embed="rId2" cstate="print"/>
          <a:stretch>
            <a:fillRect/>
          </a:stretch>
        </p:blipFill>
        <p:spPr>
          <a:xfrm>
            <a:off x="1899177" y="2097574"/>
            <a:ext cx="3868667" cy="1899914"/>
          </a:xfrm>
          <a:prstGeom prst="rect">
            <a:avLst/>
          </a:prstGeom>
        </p:spPr>
      </p:pic>
      <p:pic>
        <p:nvPicPr>
          <p:cNvPr id="7" name="object 7"/>
          <p:cNvPicPr/>
          <p:nvPr/>
        </p:nvPicPr>
        <p:blipFill>
          <a:blip r:embed="rId3" cstate="print"/>
          <a:stretch>
            <a:fillRect/>
          </a:stretch>
        </p:blipFill>
        <p:spPr>
          <a:xfrm>
            <a:off x="9286436" y="3333974"/>
            <a:ext cx="985235" cy="830352"/>
          </a:xfrm>
          <a:prstGeom prst="rect">
            <a:avLst/>
          </a:prstGeom>
        </p:spPr>
      </p:pic>
      <p:pic>
        <p:nvPicPr>
          <p:cNvPr id="8" name="object 8"/>
          <p:cNvPicPr/>
          <p:nvPr/>
        </p:nvPicPr>
        <p:blipFill>
          <a:blip r:embed="rId4" cstate="print"/>
          <a:stretch>
            <a:fillRect/>
          </a:stretch>
        </p:blipFill>
        <p:spPr>
          <a:xfrm>
            <a:off x="6224298" y="2293367"/>
            <a:ext cx="2939705" cy="1913982"/>
          </a:xfrm>
          <a:prstGeom prst="rect">
            <a:avLst/>
          </a:prstGeom>
        </p:spPr>
      </p:pic>
      <p:sp>
        <p:nvSpPr>
          <p:cNvPr id="9" name="object 9"/>
          <p:cNvSpPr txBox="1"/>
          <p:nvPr/>
        </p:nvSpPr>
        <p:spPr>
          <a:xfrm>
            <a:off x="4682727" y="4040214"/>
            <a:ext cx="1138806" cy="196961"/>
          </a:xfrm>
          <a:prstGeom prst="rect">
            <a:avLst/>
          </a:prstGeom>
        </p:spPr>
        <p:txBody>
          <a:bodyPr vert="horz" wrap="square" lIns="0" tIns="28940" rIns="0" bIns="0" rtlCol="0">
            <a:spAutoFit/>
          </a:bodyPr>
          <a:lstStyle/>
          <a:p>
            <a:pPr marL="25168">
              <a:spcBef>
                <a:spcPts val="226"/>
              </a:spcBef>
            </a:pPr>
            <a:r>
              <a:rPr sz="1090" spc="30" dirty="0">
                <a:solidFill>
                  <a:srgbClr val="FF0000"/>
                </a:solidFill>
                <a:latin typeface="Calibri"/>
                <a:cs typeface="Calibri"/>
              </a:rPr>
              <a:t>credit:</a:t>
            </a:r>
            <a:r>
              <a:rPr sz="1090" spc="178" dirty="0">
                <a:solidFill>
                  <a:srgbClr val="FF0000"/>
                </a:solidFill>
                <a:latin typeface="Calibri"/>
                <a:cs typeface="Calibri"/>
              </a:rPr>
              <a:t> </a:t>
            </a:r>
            <a:r>
              <a:rPr sz="1090" spc="30" dirty="0">
                <a:solidFill>
                  <a:srgbClr val="FF0000"/>
                </a:solidFill>
                <a:latin typeface="Calibri"/>
                <a:cs typeface="Calibri"/>
              </a:rPr>
              <a:t>study.com</a:t>
            </a:r>
            <a:endParaRPr sz="1090">
              <a:latin typeface="Calibri"/>
              <a:cs typeface="Calibri"/>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807C23-3CA5-1299-49FD-830B9570D98F}"/>
              </a:ext>
            </a:extLst>
          </p:cNvPr>
          <p:cNvSpPr txBox="1"/>
          <p:nvPr/>
        </p:nvSpPr>
        <p:spPr>
          <a:xfrm>
            <a:off x="1653917" y="1873734"/>
            <a:ext cx="8659318" cy="2031325"/>
          </a:xfrm>
          <a:prstGeom prst="rect">
            <a:avLst/>
          </a:prstGeom>
          <a:noFill/>
        </p:spPr>
        <p:txBody>
          <a:bodyPr wrap="square">
            <a:spAutoFit/>
          </a:bodyPr>
          <a:lstStyle/>
          <a:p>
            <a:pPr algn="just" rtl="0" fontAlgn="base"/>
            <a:r>
              <a:rPr lang="en-US" b="0" i="0" dirty="0">
                <a:solidFill>
                  <a:srgbClr val="273239"/>
                </a:solidFill>
                <a:effectLst/>
                <a:latin typeface="Nunito" panose="020F0502020204030204" pitchFamily="2" charset="0"/>
              </a:rPr>
              <a:t>Google Maps utilizes discrete mathematics, particularly graph theory, to provide users with optimal routes and real-time traffic information. </a:t>
            </a:r>
          </a:p>
          <a:p>
            <a:pPr algn="just" rtl="0" fontAlgn="base"/>
            <a:r>
              <a:rPr lang="en-US" b="0" i="0" u="sng" dirty="0">
                <a:solidFill>
                  <a:srgbClr val="273239"/>
                </a:solidFill>
                <a:effectLst/>
                <a:latin typeface="Nunito" panose="020F0502020204030204" pitchFamily="2" charset="0"/>
                <a:hlinkClick r:id="rId2"/>
              </a:rPr>
              <a:t>Graph algorithms </a:t>
            </a:r>
            <a:r>
              <a:rPr lang="en-US" b="0" i="0" dirty="0">
                <a:solidFill>
                  <a:srgbClr val="273239"/>
                </a:solidFill>
                <a:effectLst/>
                <a:latin typeface="Nunito" panose="020F0502020204030204" pitchFamily="2" charset="0"/>
              </a:rPr>
              <a:t>like Dijkstra’s algorithm and A search algorithm enable efficient route planning, considering factors such as distance, traffic congestion, and road closures.</a:t>
            </a:r>
          </a:p>
          <a:p>
            <a:br>
              <a:rPr lang="en-US" dirty="0"/>
            </a:br>
            <a:endParaRPr lang="en-US" dirty="0"/>
          </a:p>
        </p:txBody>
      </p:sp>
      <p:sp>
        <p:nvSpPr>
          <p:cNvPr id="4" name="object 2">
            <a:extLst>
              <a:ext uri="{FF2B5EF4-FFF2-40B4-BE49-F238E27FC236}">
                <a16:creationId xmlns:a16="http://schemas.microsoft.com/office/drawing/2014/main" id="{3768F0E1-67AD-EC06-DA6C-40FD08E75B6A}"/>
              </a:ext>
            </a:extLst>
          </p:cNvPr>
          <p:cNvSpPr txBox="1">
            <a:spLocks/>
          </p:cNvSpPr>
          <p:nvPr/>
        </p:nvSpPr>
        <p:spPr>
          <a:xfrm>
            <a:off x="2211136" y="292910"/>
            <a:ext cx="22794403" cy="461219"/>
          </a:xfrm>
          <a:prstGeom prst="rect">
            <a:avLst/>
          </a:prstGeom>
        </p:spPr>
        <p:txBody>
          <a:bodyPr vert="horz" wrap="square" lIns="0" tIns="33975" rIns="0" bIns="0" rtlCol="0" anchor="b">
            <a:sp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marL="26426">
              <a:spcBef>
                <a:spcPts val="268"/>
              </a:spcBef>
              <a:tabLst>
                <a:tab pos="8593474" algn="l"/>
              </a:tabLst>
            </a:pPr>
            <a:r>
              <a:rPr lang="en-US" spc="-59"/>
              <a:t>Applications:</a:t>
            </a:r>
            <a:r>
              <a:rPr lang="en-US" spc="327"/>
              <a:t> </a:t>
            </a:r>
            <a:r>
              <a:rPr lang="en-US" spc="-109"/>
              <a:t>Graphs	</a:t>
            </a:r>
            <a:endParaRPr lang="en-US" spc="-109" dirty="0"/>
          </a:p>
        </p:txBody>
      </p:sp>
    </p:spTree>
    <p:extLst>
      <p:ext uri="{BB962C8B-B14F-4D97-AF65-F5344CB8AC3E}">
        <p14:creationId xmlns:p14="http://schemas.microsoft.com/office/powerpoint/2010/main" val="22285407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3768F0E1-67AD-EC06-DA6C-40FD08E75B6A}"/>
              </a:ext>
            </a:extLst>
          </p:cNvPr>
          <p:cNvSpPr txBox="1">
            <a:spLocks/>
          </p:cNvSpPr>
          <p:nvPr/>
        </p:nvSpPr>
        <p:spPr>
          <a:xfrm>
            <a:off x="2211136" y="292910"/>
            <a:ext cx="22794403" cy="461219"/>
          </a:xfrm>
          <a:prstGeom prst="rect">
            <a:avLst/>
          </a:prstGeom>
        </p:spPr>
        <p:txBody>
          <a:bodyPr vert="horz" wrap="square" lIns="0" tIns="33975" rIns="0" bIns="0" rtlCol="0" anchor="b">
            <a:sp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marL="26426">
              <a:spcBef>
                <a:spcPts val="268"/>
              </a:spcBef>
              <a:tabLst>
                <a:tab pos="8593474" algn="l"/>
              </a:tabLst>
            </a:pPr>
            <a:r>
              <a:rPr lang="en-US" spc="-59"/>
              <a:t>Applications:</a:t>
            </a:r>
            <a:r>
              <a:rPr lang="en-US" spc="327"/>
              <a:t> </a:t>
            </a:r>
            <a:r>
              <a:rPr lang="en-US" spc="-109"/>
              <a:t>Graphs	</a:t>
            </a:r>
            <a:endParaRPr lang="en-US" spc="-109" dirty="0"/>
          </a:p>
        </p:txBody>
      </p:sp>
      <p:sp>
        <p:nvSpPr>
          <p:cNvPr id="5" name="TextBox 4">
            <a:extLst>
              <a:ext uri="{FF2B5EF4-FFF2-40B4-BE49-F238E27FC236}">
                <a16:creationId xmlns:a16="http://schemas.microsoft.com/office/drawing/2014/main" id="{E831A41B-E7B5-8C57-A6CC-E4F47AE80DC9}"/>
              </a:ext>
            </a:extLst>
          </p:cNvPr>
          <p:cNvSpPr txBox="1"/>
          <p:nvPr/>
        </p:nvSpPr>
        <p:spPr>
          <a:xfrm>
            <a:off x="629586" y="1681930"/>
            <a:ext cx="10418165" cy="1200329"/>
          </a:xfrm>
          <a:prstGeom prst="rect">
            <a:avLst/>
          </a:prstGeom>
          <a:noFill/>
        </p:spPr>
        <p:txBody>
          <a:bodyPr wrap="square">
            <a:spAutoFit/>
          </a:bodyPr>
          <a:lstStyle/>
          <a:p>
            <a:r>
              <a:rPr lang="en-US" b="0" i="0" dirty="0">
                <a:solidFill>
                  <a:srgbClr val="273239"/>
                </a:solidFill>
                <a:effectLst/>
                <a:latin typeface="Nunito" pitchFamily="2" charset="0"/>
              </a:rPr>
              <a:t>Railway planning involves intricate scheduling and optimization problems that can be effectively tackled using discrete mathematics techniques. Graph theory helps in modeling railway networks, optimizing train schedules, and minimizing conflicts between trains, thereby enhancing efficiency and safety.</a:t>
            </a:r>
            <a:endParaRPr lang="en-US" dirty="0"/>
          </a:p>
        </p:txBody>
      </p:sp>
      <p:pic>
        <p:nvPicPr>
          <p:cNvPr id="9" name="Picture 8">
            <a:extLst>
              <a:ext uri="{FF2B5EF4-FFF2-40B4-BE49-F238E27FC236}">
                <a16:creationId xmlns:a16="http://schemas.microsoft.com/office/drawing/2014/main" id="{832D7EB2-EF50-C825-23E5-FA519920B74E}"/>
              </a:ext>
            </a:extLst>
          </p:cNvPr>
          <p:cNvPicPr>
            <a:picLocks noChangeAspect="1"/>
          </p:cNvPicPr>
          <p:nvPr/>
        </p:nvPicPr>
        <p:blipFill>
          <a:blip r:embed="rId2"/>
          <a:srcRect l="38615" t="46125" r="43547" b="32604"/>
          <a:stretch/>
        </p:blipFill>
        <p:spPr>
          <a:xfrm>
            <a:off x="8427322" y="3744100"/>
            <a:ext cx="2174790" cy="1458098"/>
          </a:xfrm>
          <a:prstGeom prst="rect">
            <a:avLst/>
          </a:prstGeom>
        </p:spPr>
      </p:pic>
    </p:spTree>
    <p:extLst>
      <p:ext uri="{BB962C8B-B14F-4D97-AF65-F5344CB8AC3E}">
        <p14:creationId xmlns:p14="http://schemas.microsoft.com/office/powerpoint/2010/main" val="1554793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3768F0E1-67AD-EC06-DA6C-40FD08E75B6A}"/>
              </a:ext>
            </a:extLst>
          </p:cNvPr>
          <p:cNvSpPr txBox="1">
            <a:spLocks/>
          </p:cNvSpPr>
          <p:nvPr/>
        </p:nvSpPr>
        <p:spPr>
          <a:xfrm>
            <a:off x="2211136" y="84455"/>
            <a:ext cx="22794403" cy="669674"/>
          </a:xfrm>
          <a:prstGeom prst="rect">
            <a:avLst/>
          </a:prstGeom>
        </p:spPr>
        <p:txBody>
          <a:bodyPr vert="horz" wrap="square" lIns="0" tIns="33975" rIns="0" bIns="0" rtlCol="0" anchor="b">
            <a:sp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marL="26426">
              <a:spcBef>
                <a:spcPts val="268"/>
              </a:spcBef>
              <a:tabLst>
                <a:tab pos="8593474" algn="l"/>
              </a:tabLst>
            </a:pPr>
            <a:r>
              <a:rPr lang="en-US" spc="-59" dirty="0"/>
              <a:t>Applications:</a:t>
            </a:r>
            <a:r>
              <a:rPr lang="en-US" spc="327" dirty="0"/>
              <a:t> </a:t>
            </a:r>
            <a:r>
              <a:rPr lang="en-US" spc="-109" dirty="0"/>
              <a:t>Number theory	</a:t>
            </a:r>
          </a:p>
        </p:txBody>
      </p:sp>
      <p:sp>
        <p:nvSpPr>
          <p:cNvPr id="3" name="TextBox 2">
            <a:extLst>
              <a:ext uri="{FF2B5EF4-FFF2-40B4-BE49-F238E27FC236}">
                <a16:creationId xmlns:a16="http://schemas.microsoft.com/office/drawing/2014/main" id="{FD0143AE-578B-2F94-3AB6-69C05C127D10}"/>
              </a:ext>
            </a:extLst>
          </p:cNvPr>
          <p:cNvSpPr txBox="1"/>
          <p:nvPr/>
        </p:nvSpPr>
        <p:spPr>
          <a:xfrm>
            <a:off x="299802" y="1235815"/>
            <a:ext cx="10463992" cy="646331"/>
          </a:xfrm>
          <a:prstGeom prst="rect">
            <a:avLst/>
          </a:prstGeom>
          <a:noFill/>
        </p:spPr>
        <p:txBody>
          <a:bodyPr wrap="square">
            <a:spAutoFit/>
          </a:bodyPr>
          <a:lstStyle/>
          <a:p>
            <a:r>
              <a:rPr lang="en-US" b="0" i="0" dirty="0">
                <a:solidFill>
                  <a:srgbClr val="273239"/>
                </a:solidFill>
                <a:effectLst/>
                <a:latin typeface="Nunito" pitchFamily="2" charset="0"/>
              </a:rPr>
              <a:t>Cryptography, the study of secure communication, heavily relies on discrete mathematics concepts such as modular arithmetic, number theory, and combinatorics.</a:t>
            </a:r>
            <a:endParaRPr lang="en-US" dirty="0"/>
          </a:p>
        </p:txBody>
      </p:sp>
      <p:sp>
        <p:nvSpPr>
          <p:cNvPr id="7" name="TextBox 6">
            <a:extLst>
              <a:ext uri="{FF2B5EF4-FFF2-40B4-BE49-F238E27FC236}">
                <a16:creationId xmlns:a16="http://schemas.microsoft.com/office/drawing/2014/main" id="{B804DE9A-487F-A559-4202-D0D7AB3A8225}"/>
              </a:ext>
            </a:extLst>
          </p:cNvPr>
          <p:cNvSpPr txBox="1"/>
          <p:nvPr/>
        </p:nvSpPr>
        <p:spPr>
          <a:xfrm>
            <a:off x="346151" y="2258086"/>
            <a:ext cx="12501154" cy="369332"/>
          </a:xfrm>
          <a:prstGeom prst="rect">
            <a:avLst/>
          </a:prstGeom>
          <a:noFill/>
        </p:spPr>
        <p:txBody>
          <a:bodyPr wrap="square">
            <a:spAutoFit/>
          </a:bodyPr>
          <a:lstStyle/>
          <a:p>
            <a:r>
              <a:rPr lang="en-US" b="0" i="0" dirty="0">
                <a:solidFill>
                  <a:srgbClr val="111111"/>
                </a:solidFill>
                <a:effectLst/>
                <a:latin typeface="Arial" panose="020B0604020202020204" pitchFamily="34" charset="0"/>
              </a:rPr>
              <a:t>The best known application of number theory is </a:t>
            </a:r>
            <a:r>
              <a:rPr lang="en-US" b="1" i="0" dirty="0">
                <a:solidFill>
                  <a:srgbClr val="111111"/>
                </a:solidFill>
                <a:effectLst/>
                <a:latin typeface="Arial" panose="020B0604020202020204" pitchFamily="34" charset="0"/>
              </a:rPr>
              <a:t>public key cryptography</a:t>
            </a:r>
            <a:r>
              <a:rPr lang="en-US" b="0" i="0" dirty="0">
                <a:solidFill>
                  <a:srgbClr val="111111"/>
                </a:solidFill>
                <a:effectLst/>
                <a:latin typeface="Arial" panose="020B0604020202020204" pitchFamily="34" charset="0"/>
              </a:rPr>
              <a:t>, such as the RSA algorithm.</a:t>
            </a:r>
            <a:endParaRPr lang="en-US" dirty="0"/>
          </a:p>
        </p:txBody>
      </p:sp>
      <p:pic>
        <p:nvPicPr>
          <p:cNvPr id="10" name="Picture 9">
            <a:extLst>
              <a:ext uri="{FF2B5EF4-FFF2-40B4-BE49-F238E27FC236}">
                <a16:creationId xmlns:a16="http://schemas.microsoft.com/office/drawing/2014/main" id="{B0A6CEA8-3746-1755-5795-18A00F6904EE}"/>
              </a:ext>
            </a:extLst>
          </p:cNvPr>
          <p:cNvPicPr>
            <a:picLocks noChangeAspect="1"/>
          </p:cNvPicPr>
          <p:nvPr/>
        </p:nvPicPr>
        <p:blipFill>
          <a:blip r:embed="rId2"/>
          <a:srcRect l="41785" t="67876" r="43429" b="13697"/>
          <a:stretch/>
        </p:blipFill>
        <p:spPr>
          <a:xfrm>
            <a:off x="8246789" y="4361933"/>
            <a:ext cx="1802675" cy="1263096"/>
          </a:xfrm>
          <a:prstGeom prst="rect">
            <a:avLst/>
          </a:prstGeom>
        </p:spPr>
      </p:pic>
    </p:spTree>
    <p:extLst>
      <p:ext uri="{BB962C8B-B14F-4D97-AF65-F5344CB8AC3E}">
        <p14:creationId xmlns:p14="http://schemas.microsoft.com/office/powerpoint/2010/main" val="172830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88395" y="151802"/>
            <a:ext cx="8617171" cy="461219"/>
          </a:xfrm>
          <a:prstGeom prst="rect">
            <a:avLst/>
          </a:prstGeom>
        </p:spPr>
        <p:txBody>
          <a:bodyPr vert="horz" wrap="square" lIns="0" tIns="33975" rIns="0" bIns="0" rtlCol="0">
            <a:spAutoFit/>
          </a:bodyPr>
          <a:lstStyle/>
          <a:p>
            <a:pPr marL="25168">
              <a:spcBef>
                <a:spcPts val="268"/>
              </a:spcBef>
              <a:tabLst>
                <a:tab pos="8590957" algn="l"/>
              </a:tabLst>
            </a:pPr>
            <a:r>
              <a:rPr sz="2774" u="sng" spc="-50" dirty="0">
                <a:solidFill>
                  <a:srgbClr val="898CFC"/>
                </a:solidFill>
                <a:uFill>
                  <a:solidFill>
                    <a:srgbClr val="898CFC"/>
                  </a:solidFill>
                </a:uFill>
                <a:latin typeface="Tahoma"/>
                <a:cs typeface="Tahoma"/>
              </a:rPr>
              <a:t>Why</a:t>
            </a:r>
            <a:r>
              <a:rPr sz="2774" u="sng" spc="69" dirty="0">
                <a:solidFill>
                  <a:srgbClr val="898CFC"/>
                </a:solidFill>
                <a:uFill>
                  <a:solidFill>
                    <a:srgbClr val="898CFC"/>
                  </a:solidFill>
                </a:uFill>
                <a:latin typeface="Tahoma"/>
                <a:cs typeface="Tahoma"/>
              </a:rPr>
              <a:t> </a:t>
            </a:r>
            <a:r>
              <a:rPr sz="2774" u="sng" spc="-59" dirty="0">
                <a:solidFill>
                  <a:srgbClr val="898CFC"/>
                </a:solidFill>
                <a:uFill>
                  <a:solidFill>
                    <a:srgbClr val="898CFC"/>
                  </a:solidFill>
                </a:uFill>
                <a:latin typeface="Tahoma"/>
                <a:cs typeface="Tahoma"/>
              </a:rPr>
              <a:t>Study</a:t>
            </a:r>
            <a:r>
              <a:rPr sz="2774" u="sng" spc="59" dirty="0">
                <a:solidFill>
                  <a:srgbClr val="898CFC"/>
                </a:solidFill>
                <a:uFill>
                  <a:solidFill>
                    <a:srgbClr val="898CFC"/>
                  </a:solidFill>
                </a:uFill>
                <a:latin typeface="Tahoma"/>
                <a:cs typeface="Tahoma"/>
              </a:rPr>
              <a:t> </a:t>
            </a:r>
            <a:r>
              <a:rPr sz="2774" u="sng" spc="-69" dirty="0">
                <a:solidFill>
                  <a:srgbClr val="898CFC"/>
                </a:solidFill>
                <a:uFill>
                  <a:solidFill>
                    <a:srgbClr val="898CFC"/>
                  </a:solidFill>
                </a:uFill>
                <a:latin typeface="Tahoma"/>
                <a:cs typeface="Tahoma"/>
              </a:rPr>
              <a:t>Discrete</a:t>
            </a:r>
            <a:r>
              <a:rPr sz="2774" u="sng" spc="79" dirty="0">
                <a:solidFill>
                  <a:srgbClr val="898CFC"/>
                </a:solidFill>
                <a:uFill>
                  <a:solidFill>
                    <a:srgbClr val="898CFC"/>
                  </a:solidFill>
                </a:uFill>
                <a:latin typeface="Tahoma"/>
                <a:cs typeface="Tahoma"/>
              </a:rPr>
              <a:t> </a:t>
            </a:r>
            <a:r>
              <a:rPr sz="2774" u="sng" spc="-50" dirty="0">
                <a:solidFill>
                  <a:srgbClr val="898CFC"/>
                </a:solidFill>
                <a:uFill>
                  <a:solidFill>
                    <a:srgbClr val="898CFC"/>
                  </a:solidFill>
                </a:uFill>
                <a:latin typeface="Tahoma"/>
                <a:cs typeface="Tahoma"/>
              </a:rPr>
              <a:t>Mathematics</a:t>
            </a:r>
            <a:r>
              <a:rPr sz="2774" u="sng" spc="69" dirty="0">
                <a:solidFill>
                  <a:srgbClr val="898CFC"/>
                </a:solidFill>
                <a:uFill>
                  <a:solidFill>
                    <a:srgbClr val="898CFC"/>
                  </a:solidFill>
                </a:uFill>
                <a:latin typeface="Tahoma"/>
                <a:cs typeface="Tahoma"/>
              </a:rPr>
              <a:t> </a:t>
            </a:r>
            <a:r>
              <a:rPr sz="2774" u="sng" spc="-50" dirty="0">
                <a:solidFill>
                  <a:srgbClr val="898CFC"/>
                </a:solidFill>
                <a:uFill>
                  <a:solidFill>
                    <a:srgbClr val="898CFC"/>
                  </a:solidFill>
                </a:uFill>
                <a:latin typeface="Tahoma"/>
                <a:cs typeface="Tahoma"/>
              </a:rPr>
              <a:t>(Textbook</a:t>
            </a:r>
            <a:r>
              <a:rPr sz="2774" u="sng" spc="79" dirty="0">
                <a:solidFill>
                  <a:srgbClr val="898CFC"/>
                </a:solidFill>
                <a:uFill>
                  <a:solidFill>
                    <a:srgbClr val="898CFC"/>
                  </a:solidFill>
                </a:uFill>
                <a:latin typeface="Tahoma"/>
                <a:cs typeface="Tahoma"/>
              </a:rPr>
              <a:t> </a:t>
            </a:r>
            <a:r>
              <a:rPr sz="2774" u="sng" spc="-99" dirty="0">
                <a:solidFill>
                  <a:srgbClr val="898CFC"/>
                </a:solidFill>
                <a:uFill>
                  <a:solidFill>
                    <a:srgbClr val="898CFC"/>
                  </a:solidFill>
                </a:uFill>
                <a:latin typeface="Tahoma"/>
                <a:cs typeface="Tahoma"/>
              </a:rPr>
              <a:t>backcover)	</a:t>
            </a:r>
            <a:endParaRPr sz="2774">
              <a:latin typeface="Tahoma"/>
              <a:cs typeface="Tahoma"/>
            </a:endParaRPr>
          </a:p>
        </p:txBody>
      </p:sp>
      <p:pic>
        <p:nvPicPr>
          <p:cNvPr id="3" name="object 3"/>
          <p:cNvPicPr/>
          <p:nvPr/>
        </p:nvPicPr>
        <p:blipFill>
          <a:blip r:embed="rId2" cstate="print"/>
          <a:stretch>
            <a:fillRect/>
          </a:stretch>
        </p:blipFill>
        <p:spPr>
          <a:xfrm>
            <a:off x="2279345" y="812724"/>
            <a:ext cx="7610465" cy="5484567"/>
          </a:xfrm>
          <a:prstGeom prst="rect">
            <a:avLst/>
          </a:prstGeom>
        </p:spPr>
      </p:pic>
      <p:sp>
        <p:nvSpPr>
          <p:cNvPr id="8" name="object 8"/>
          <p:cNvSpPr txBox="1">
            <a:spLocks noGrp="1"/>
          </p:cNvSpPr>
          <p:nvPr>
            <p:ph type="ftr" sz="quarter" idx="4294967295"/>
          </p:nvPr>
        </p:nvSpPr>
        <p:spPr>
          <a:xfrm>
            <a:off x="4842932" y="6470704"/>
            <a:ext cx="5901459" cy="274320"/>
          </a:xfrm>
          <a:prstGeom prst="rect">
            <a:avLst/>
          </a:prstGeom>
        </p:spPr>
        <p:txBody>
          <a:bodyPr vert="horz" wrap="square" lIns="0" tIns="0" rIns="0" bIns="0" rtlCol="0">
            <a:spAutoFit/>
          </a:bodyPr>
          <a:lstStyle>
            <a:defPPr>
              <a:defRPr lang="en-US"/>
            </a:defPPr>
            <a:lvl1pPr marL="0" algn="l" defTabSz="914400" rtl="0" eaLnBrk="1" latinLnBrk="0" hangingPunct="1">
              <a:defRPr sz="600" b="0" i="0" kern="1200">
                <a:solidFill>
                  <a:schemeClr val="bg1"/>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168">
              <a:lnSpc>
                <a:spcPts val="1338"/>
              </a:lnSpc>
            </a:pPr>
            <a:r>
              <a:rPr lang="en-US" spc="90"/>
              <a:t>I</a:t>
            </a:r>
            <a:r>
              <a:rPr lang="en-US" cap="small" spc="45"/>
              <a:t>m</a:t>
            </a:r>
            <a:r>
              <a:rPr lang="en-US" cap="small" spc="20"/>
              <a:t>d</a:t>
            </a:r>
            <a:r>
              <a:rPr lang="en-US" cap="small" spc="70"/>
              <a:t>ad</a:t>
            </a:r>
            <a:r>
              <a:rPr lang="en-US"/>
              <a:t> </a:t>
            </a:r>
            <a:r>
              <a:rPr lang="en-US" spc="-50"/>
              <a:t> </a:t>
            </a:r>
            <a:r>
              <a:rPr lang="en-US" cap="small" spc="70"/>
              <a:t>ullah</a:t>
            </a:r>
            <a:r>
              <a:rPr lang="en-US"/>
              <a:t> </a:t>
            </a:r>
            <a:r>
              <a:rPr lang="en-US" spc="-50"/>
              <a:t> </a:t>
            </a:r>
            <a:r>
              <a:rPr lang="en-US" spc="190"/>
              <a:t>K</a:t>
            </a:r>
            <a:r>
              <a:rPr lang="en-US" cap="small" spc="55"/>
              <a:t>han</a:t>
            </a:r>
            <a:r>
              <a:rPr lang="en-US"/>
              <a:t>  </a:t>
            </a:r>
            <a:r>
              <a:rPr lang="en-US" spc="15"/>
              <a:t> </a:t>
            </a:r>
            <a:r>
              <a:rPr lang="en-US" spc="55">
                <a:latin typeface="Trebuchet MS"/>
                <a:cs typeface="Trebuchet MS"/>
              </a:rPr>
              <a:t>(LUMS)</a:t>
            </a:r>
            <a:endParaRPr spc="109" dirty="0">
              <a:latin typeface="Trebuchet MS"/>
              <a:cs typeface="Trebuchet MS"/>
            </a:endParaRPr>
          </a:p>
        </p:txBody>
      </p:sp>
    </p:spTree>
  </p:cSld>
  <p:clrMapOvr>
    <a:masterClrMapping/>
  </p:clrMapOvr>
  <p:transition>
    <p:cu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83CA34-C6E2-49BA-ACFF-78ADEC0C28FA}">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CB9AE35-8A31-4380-94A6-86E5DFCDD123}">
  <ds:schemaRefs>
    <ds:schemaRef ds:uri="http://schemas.microsoft.com/sharepoint/v3/contenttype/forms"/>
  </ds:schemaRefs>
</ds:datastoreItem>
</file>

<file path=customXml/itemProps3.xml><?xml version="1.0" encoding="utf-8"?>
<ds:datastoreItem xmlns:ds="http://schemas.openxmlformats.org/officeDocument/2006/customXml" ds:itemID="{570D0EAE-52CD-493E-A174-3A7CD0E9C7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Template>
  <TotalTime>80</TotalTime>
  <Words>1362</Words>
  <Application>Microsoft Office PowerPoint</Application>
  <PresentationFormat>Widescreen</PresentationFormat>
  <Paragraphs>280</Paragraphs>
  <Slides>43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Arial</vt:lpstr>
      <vt:lpstr>Calibri</vt:lpstr>
      <vt:lpstr>Lucida Sans Unicode</vt:lpstr>
      <vt:lpstr>Nunito</vt:lpstr>
      <vt:lpstr>Tahoma</vt:lpstr>
      <vt:lpstr>Times New Roman</vt:lpstr>
      <vt:lpstr>Trebuchet MS</vt:lpstr>
      <vt:lpstr>Tw Cen MT</vt:lpstr>
      <vt:lpstr>Tw Cen MT Condensed</vt:lpstr>
      <vt:lpstr>Wingdings 3</vt:lpstr>
      <vt:lpstr>Integral</vt:lpstr>
      <vt:lpstr>Beginning of the Year Procedures</vt:lpstr>
      <vt:lpstr>Why Study Discrete Math? </vt:lpstr>
      <vt:lpstr>Why Study Discrete Math? </vt:lpstr>
      <vt:lpstr>Why Study Discrete Math? </vt:lpstr>
      <vt:lpstr>PowerPoint Presentation</vt:lpstr>
      <vt:lpstr>Why Study Discrete Math? Topics </vt:lpstr>
      <vt:lpstr>Why Study Discrete Math? Topics </vt:lpstr>
      <vt:lpstr>Why Study Discrete Math? Topics </vt:lpstr>
      <vt:lpstr>Why Study Discrete Math? Topics </vt:lpstr>
      <vt:lpstr>Why Study Discrete Math? Topics </vt:lpstr>
      <vt:lpstr>Why Study Discrete Math? Topics </vt:lpstr>
      <vt:lpstr>Applications: Logic </vt:lpstr>
      <vt:lpstr>Applications: Logic </vt:lpstr>
      <vt:lpstr>PowerPoint Presentation</vt:lpstr>
      <vt:lpstr>Applications: Counting </vt:lpstr>
      <vt:lpstr>PowerPoint Presentation</vt:lpstr>
      <vt:lpstr>Applications: Counting </vt:lpstr>
      <vt:lpstr>Applications: Counting </vt:lpstr>
      <vt:lpstr>Write a small piece of code to draw this pattern in color</vt:lpstr>
      <vt:lpstr>Applications: Recurrences </vt:lpstr>
      <vt:lpstr>Applications: Recurrences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 Recurrences </vt:lpstr>
      <vt:lpstr>Applications: Recurrences </vt:lpstr>
      <vt:lpstr>Applications: Graphs </vt:lpstr>
      <vt:lpstr>Applications: Graphs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amna humayun</dc:creator>
  <cp:lastModifiedBy>amna humayun</cp:lastModifiedBy>
  <cp:revision>11</cp:revision>
  <dcterms:created xsi:type="dcterms:W3CDTF">2024-09-22T19:08:38Z</dcterms:created>
  <dcterms:modified xsi:type="dcterms:W3CDTF">2024-09-22T20:29:32Z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