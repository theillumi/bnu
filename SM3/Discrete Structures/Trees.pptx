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F7EE5D47-F313-414C-801C-69C3B1A8C07C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62BF1CFF-E575-4AF2-A7E3-83818A04E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3600" b="1">
                <a:cs typeface="Times New Roman" pitchFamily="18" charset="0"/>
              </a:rPr>
              <a:t>Trees</a:t>
            </a:r>
            <a:endParaRPr lang="en-US" sz="3600"/>
          </a:p>
        </p:txBody>
      </p:sp>
      <p:graphicFrame>
        <p:nvGraphicFramePr>
          <p:cNvPr id="2155" name="Object 107"/>
          <p:cNvGraphicFramePr>
            <a:graphicFrameLocks noChangeAspect="1"/>
          </p:cNvGraphicFramePr>
          <p:nvPr/>
        </p:nvGraphicFramePr>
        <p:xfrm>
          <a:off x="2963863" y="1828800"/>
          <a:ext cx="3513137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029373" imgH="3809524" progId="PBrush">
                  <p:embed/>
                </p:oleObj>
              </mc:Choice>
              <mc:Fallback>
                <p:oleObj name="Bitmap Image" r:id="rId2" imgW="3029373" imgH="3809524" progId="PBrush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863" y="1828800"/>
                        <a:ext cx="3513137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762000" y="2667000"/>
            <a:ext cx="7086600" cy="3048000"/>
            <a:chOff x="480" y="2208"/>
            <a:chExt cx="4464" cy="1920"/>
          </a:xfrm>
        </p:grpSpPr>
        <p:sp>
          <p:nvSpPr>
            <p:cNvPr id="4100" name="Rectangle 4"/>
            <p:cNvSpPr>
              <a:spLocks noChangeArrowheads="1"/>
            </p:cNvSpPr>
            <p:nvPr/>
          </p:nvSpPr>
          <p:spPr bwMode="auto">
            <a:xfrm>
              <a:off x="480" y="2208"/>
              <a:ext cx="4464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" name="Text Box 5"/>
            <p:cNvSpPr txBox="1">
              <a:spLocks noChangeArrowheads="1"/>
            </p:cNvSpPr>
            <p:nvPr/>
          </p:nvSpPr>
          <p:spPr bwMode="auto">
            <a:xfrm>
              <a:off x="2112" y="3840"/>
              <a:ext cx="17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Recursive Definition</a:t>
              </a:r>
            </a:p>
          </p:txBody>
        </p:sp>
        <p:sp>
          <p:nvSpPr>
            <p:cNvPr id="4102" name="Line 6"/>
            <p:cNvSpPr>
              <a:spLocks noChangeShapeType="1"/>
            </p:cNvSpPr>
            <p:nvPr/>
          </p:nvSpPr>
          <p:spPr bwMode="auto">
            <a:xfrm flipH="1" flipV="1">
              <a:off x="2928" y="3072"/>
              <a:ext cx="0" cy="7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en-US"/>
              <a:t>Tree - Definition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752600"/>
            <a:ext cx="8915400" cy="41148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dirty="0"/>
              <a:t>A tree is a finite set of one or more nodes such that:</a:t>
            </a:r>
          </a:p>
          <a:p>
            <a:pPr marL="609600" indent="-609600">
              <a:buFontTx/>
              <a:buAutoNum type="arabicPeriod"/>
            </a:pPr>
            <a:r>
              <a:rPr lang="en-US" sz="2000" dirty="0"/>
              <a:t>There is a specially designated node called the </a:t>
            </a:r>
            <a:r>
              <a:rPr lang="en-US" sz="2000" i="1" dirty="0">
                <a:solidFill>
                  <a:srgbClr val="FF3300"/>
                </a:solidFill>
              </a:rPr>
              <a:t>root.</a:t>
            </a:r>
            <a:endParaRPr lang="en-US" sz="2000" dirty="0">
              <a:solidFill>
                <a:srgbClr val="FF3300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sz="2000" dirty="0"/>
              <a:t>The remaining nodes are partitioned in n 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</a:t>
            </a:r>
            <a:r>
              <a:rPr lang="en-US" sz="2000" dirty="0"/>
              <a:t> 0 disjoint sets </a:t>
            </a:r>
          </a:p>
          <a:p>
            <a:pPr marL="609600" indent="-609600">
              <a:buNone/>
            </a:pPr>
            <a:r>
              <a:rPr lang="en-US" sz="2000" i="1" dirty="0"/>
              <a:t>         T</a:t>
            </a:r>
            <a:r>
              <a:rPr lang="en-US" sz="2000" i="1" baseline="-25000" dirty="0"/>
              <a:t>1</a:t>
            </a:r>
            <a:r>
              <a:rPr lang="en-US" sz="2000" i="1" dirty="0"/>
              <a:t>, T</a:t>
            </a:r>
            <a:r>
              <a:rPr lang="en-US" sz="2000" i="1" baseline="-25000" dirty="0"/>
              <a:t>2</a:t>
            </a:r>
            <a:r>
              <a:rPr lang="en-US" sz="2000" i="1" dirty="0"/>
              <a:t>, …, </a:t>
            </a:r>
            <a:r>
              <a:rPr lang="en-US" sz="2000" i="1" dirty="0" err="1"/>
              <a:t>T</a:t>
            </a:r>
            <a:r>
              <a:rPr lang="en-US" sz="2000" i="1" baseline="-25000" dirty="0" err="1"/>
              <a:t>n</a:t>
            </a:r>
            <a:r>
              <a:rPr lang="en-US" sz="2000" dirty="0"/>
              <a:t>, where each of these sets is a tree. </a:t>
            </a:r>
          </a:p>
          <a:p>
            <a:pPr marL="609600" indent="-609600">
              <a:buFontTx/>
              <a:buAutoNum type="arabicPeriod"/>
            </a:pPr>
            <a:r>
              <a:rPr lang="en-US" sz="2000" dirty="0"/>
              <a:t> </a:t>
            </a:r>
            <a:r>
              <a:rPr lang="en-US" sz="2000" i="1" dirty="0"/>
              <a:t>T</a:t>
            </a:r>
            <a:r>
              <a:rPr lang="en-US" sz="2000" i="1" baseline="-25000" dirty="0"/>
              <a:t>1</a:t>
            </a:r>
            <a:r>
              <a:rPr lang="en-US" sz="2000" i="1" dirty="0"/>
              <a:t>, T</a:t>
            </a:r>
            <a:r>
              <a:rPr lang="en-US" sz="2000" i="1" baseline="-25000" dirty="0"/>
              <a:t>2</a:t>
            </a:r>
            <a:r>
              <a:rPr lang="en-US" sz="2000" i="1" dirty="0"/>
              <a:t>, …, </a:t>
            </a:r>
            <a:r>
              <a:rPr lang="en-US" sz="2000" i="1" dirty="0" err="1"/>
              <a:t>T</a:t>
            </a:r>
            <a:r>
              <a:rPr lang="en-US" sz="2000" i="1" baseline="-25000" dirty="0" err="1"/>
              <a:t>n</a:t>
            </a:r>
            <a:r>
              <a:rPr lang="en-US" sz="2000" baseline="-25000" dirty="0"/>
              <a:t> </a:t>
            </a:r>
            <a:r>
              <a:rPr lang="en-US" sz="2000" dirty="0"/>
              <a:t>are called the </a:t>
            </a:r>
            <a:r>
              <a:rPr lang="en-US" sz="2000" i="1" dirty="0">
                <a:solidFill>
                  <a:srgbClr val="FF3300"/>
                </a:solidFill>
              </a:rPr>
              <a:t>sub-trees</a:t>
            </a:r>
            <a:r>
              <a:rPr lang="en-US" sz="2000" dirty="0"/>
              <a:t> of the root.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828800" y="1828800"/>
            <a:ext cx="4876800" cy="2743200"/>
            <a:chOff x="1152" y="1152"/>
            <a:chExt cx="3072" cy="1728"/>
          </a:xfrm>
        </p:grpSpPr>
        <p:sp>
          <p:nvSpPr>
            <p:cNvPr id="12291" name="Oval 3"/>
            <p:cNvSpPr>
              <a:spLocks noChangeArrowheads="1"/>
            </p:cNvSpPr>
            <p:nvPr/>
          </p:nvSpPr>
          <p:spPr bwMode="auto">
            <a:xfrm>
              <a:off x="2592" y="11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12292" name="Oval 4"/>
            <p:cNvSpPr>
              <a:spLocks noChangeArrowheads="1"/>
            </p:cNvSpPr>
            <p:nvPr/>
          </p:nvSpPr>
          <p:spPr bwMode="auto">
            <a:xfrm>
              <a:off x="259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12293" name="Oval 5"/>
            <p:cNvSpPr>
              <a:spLocks noChangeArrowheads="1"/>
            </p:cNvSpPr>
            <p:nvPr/>
          </p:nvSpPr>
          <p:spPr bwMode="auto">
            <a:xfrm>
              <a:off x="331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12294" name="Oval 6"/>
            <p:cNvSpPr>
              <a:spLocks noChangeArrowheads="1"/>
            </p:cNvSpPr>
            <p:nvPr/>
          </p:nvSpPr>
          <p:spPr bwMode="auto">
            <a:xfrm>
              <a:off x="187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12295" name="Oval 7"/>
            <p:cNvSpPr>
              <a:spLocks noChangeArrowheads="1"/>
            </p:cNvSpPr>
            <p:nvPr/>
          </p:nvSpPr>
          <p:spPr bwMode="auto">
            <a:xfrm>
              <a:off x="1536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12296" name="Oval 8"/>
            <p:cNvSpPr>
              <a:spLocks noChangeArrowheads="1"/>
            </p:cNvSpPr>
            <p:nvPr/>
          </p:nvSpPr>
          <p:spPr bwMode="auto">
            <a:xfrm>
              <a:off x="2160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12297" name="Oval 9"/>
            <p:cNvSpPr>
              <a:spLocks noChangeArrowheads="1"/>
            </p:cNvSpPr>
            <p:nvPr/>
          </p:nvSpPr>
          <p:spPr bwMode="auto">
            <a:xfrm>
              <a:off x="2592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12298" name="Oval 10"/>
            <p:cNvSpPr>
              <a:spLocks noChangeArrowheads="1"/>
            </p:cNvSpPr>
            <p:nvPr/>
          </p:nvSpPr>
          <p:spPr bwMode="auto">
            <a:xfrm>
              <a:off x="2352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12299" name="Oval 11"/>
            <p:cNvSpPr>
              <a:spLocks noChangeArrowheads="1"/>
            </p:cNvSpPr>
            <p:nvPr/>
          </p:nvSpPr>
          <p:spPr bwMode="auto">
            <a:xfrm>
              <a:off x="3312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12300" name="Oval 12"/>
            <p:cNvSpPr>
              <a:spLocks noChangeArrowheads="1"/>
            </p:cNvSpPr>
            <p:nvPr/>
          </p:nvSpPr>
          <p:spPr bwMode="auto">
            <a:xfrm>
              <a:off x="2880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N</a:t>
              </a:r>
            </a:p>
          </p:txBody>
        </p:sp>
        <p:sp>
          <p:nvSpPr>
            <p:cNvPr id="12301" name="Oval 13"/>
            <p:cNvSpPr>
              <a:spLocks noChangeArrowheads="1"/>
            </p:cNvSpPr>
            <p:nvPr/>
          </p:nvSpPr>
          <p:spPr bwMode="auto">
            <a:xfrm>
              <a:off x="3936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X</a:t>
              </a:r>
            </a:p>
          </p:txBody>
        </p:sp>
        <p:sp>
          <p:nvSpPr>
            <p:cNvPr id="12302" name="Oval 14"/>
            <p:cNvSpPr>
              <a:spLocks noChangeArrowheads="1"/>
            </p:cNvSpPr>
            <p:nvPr/>
          </p:nvSpPr>
          <p:spPr bwMode="auto">
            <a:xfrm>
              <a:off x="3936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12303" name="Oval 15"/>
            <p:cNvSpPr>
              <a:spLocks noChangeArrowheads="1"/>
            </p:cNvSpPr>
            <p:nvPr/>
          </p:nvSpPr>
          <p:spPr bwMode="auto">
            <a:xfrm>
              <a:off x="1536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12304" name="Oval 16"/>
            <p:cNvSpPr>
              <a:spLocks noChangeArrowheads="1"/>
            </p:cNvSpPr>
            <p:nvPr/>
          </p:nvSpPr>
          <p:spPr bwMode="auto">
            <a:xfrm>
              <a:off x="1920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12305" name="Oval 17"/>
            <p:cNvSpPr>
              <a:spLocks noChangeArrowheads="1"/>
            </p:cNvSpPr>
            <p:nvPr/>
          </p:nvSpPr>
          <p:spPr bwMode="auto">
            <a:xfrm>
              <a:off x="1152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12306" name="Line 18"/>
            <p:cNvSpPr>
              <a:spLocks noChangeShapeType="1"/>
            </p:cNvSpPr>
            <p:nvPr/>
          </p:nvSpPr>
          <p:spPr bwMode="auto">
            <a:xfrm flipH="1">
              <a:off x="2112" y="139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Line 19"/>
            <p:cNvSpPr>
              <a:spLocks noChangeShapeType="1"/>
            </p:cNvSpPr>
            <p:nvPr/>
          </p:nvSpPr>
          <p:spPr bwMode="auto">
            <a:xfrm>
              <a:off x="2736" y="14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Line 20"/>
            <p:cNvSpPr>
              <a:spLocks noChangeShapeType="1"/>
            </p:cNvSpPr>
            <p:nvPr/>
          </p:nvSpPr>
          <p:spPr bwMode="auto">
            <a:xfrm>
              <a:off x="2880" y="139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Line 21"/>
            <p:cNvSpPr>
              <a:spLocks noChangeShapeType="1"/>
            </p:cNvSpPr>
            <p:nvPr/>
          </p:nvSpPr>
          <p:spPr bwMode="auto">
            <a:xfrm>
              <a:off x="2736" y="192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Line 22"/>
            <p:cNvSpPr>
              <a:spLocks noChangeShapeType="1"/>
            </p:cNvSpPr>
            <p:nvPr/>
          </p:nvSpPr>
          <p:spPr bwMode="auto">
            <a:xfrm>
              <a:off x="1680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Line 23"/>
            <p:cNvSpPr>
              <a:spLocks noChangeShapeType="1"/>
            </p:cNvSpPr>
            <p:nvPr/>
          </p:nvSpPr>
          <p:spPr bwMode="auto">
            <a:xfrm>
              <a:off x="3600" y="1872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Line 24"/>
            <p:cNvSpPr>
              <a:spLocks noChangeShapeType="1"/>
            </p:cNvSpPr>
            <p:nvPr/>
          </p:nvSpPr>
          <p:spPr bwMode="auto">
            <a:xfrm>
              <a:off x="3456" y="192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Line 25"/>
            <p:cNvSpPr>
              <a:spLocks noChangeShapeType="1"/>
            </p:cNvSpPr>
            <p:nvPr/>
          </p:nvSpPr>
          <p:spPr bwMode="auto">
            <a:xfrm flipH="1">
              <a:off x="1776" y="187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Line 26"/>
            <p:cNvSpPr>
              <a:spLocks noChangeShapeType="1"/>
            </p:cNvSpPr>
            <p:nvPr/>
          </p:nvSpPr>
          <p:spPr bwMode="auto">
            <a:xfrm>
              <a:off x="2112" y="187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Line 27"/>
            <p:cNvSpPr>
              <a:spLocks noChangeShapeType="1"/>
            </p:cNvSpPr>
            <p:nvPr/>
          </p:nvSpPr>
          <p:spPr bwMode="auto">
            <a:xfrm>
              <a:off x="4080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Line 28"/>
            <p:cNvSpPr>
              <a:spLocks noChangeShapeType="1"/>
            </p:cNvSpPr>
            <p:nvPr/>
          </p:nvSpPr>
          <p:spPr bwMode="auto">
            <a:xfrm flipH="1">
              <a:off x="2544" y="235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Line 29"/>
            <p:cNvSpPr>
              <a:spLocks noChangeShapeType="1"/>
            </p:cNvSpPr>
            <p:nvPr/>
          </p:nvSpPr>
          <p:spPr bwMode="auto">
            <a:xfrm>
              <a:off x="2832" y="235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Line 30"/>
            <p:cNvSpPr>
              <a:spLocks noChangeShapeType="1"/>
            </p:cNvSpPr>
            <p:nvPr/>
          </p:nvSpPr>
          <p:spPr bwMode="auto">
            <a:xfrm flipH="1">
              <a:off x="1392" y="235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Line 31"/>
            <p:cNvSpPr>
              <a:spLocks noChangeShapeType="1"/>
            </p:cNvSpPr>
            <p:nvPr/>
          </p:nvSpPr>
          <p:spPr bwMode="auto">
            <a:xfrm>
              <a:off x="1776" y="235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20" name="Rectangle 3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  <a:noFill/>
          <a:ln/>
        </p:spPr>
        <p:txBody>
          <a:bodyPr/>
          <a:lstStyle/>
          <a:p>
            <a:r>
              <a:rPr lang="en-US"/>
              <a:t>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828800" y="1371600"/>
            <a:ext cx="4876800" cy="2743200"/>
            <a:chOff x="1152" y="1152"/>
            <a:chExt cx="3072" cy="1728"/>
          </a:xfrm>
        </p:grpSpPr>
        <p:sp>
          <p:nvSpPr>
            <p:cNvPr id="9219" name="Oval 3"/>
            <p:cNvSpPr>
              <a:spLocks noChangeArrowheads="1"/>
            </p:cNvSpPr>
            <p:nvPr/>
          </p:nvSpPr>
          <p:spPr bwMode="auto">
            <a:xfrm>
              <a:off x="2592" y="11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9220" name="Oval 4"/>
            <p:cNvSpPr>
              <a:spLocks noChangeArrowheads="1"/>
            </p:cNvSpPr>
            <p:nvPr/>
          </p:nvSpPr>
          <p:spPr bwMode="auto">
            <a:xfrm>
              <a:off x="259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9221" name="Oval 5"/>
            <p:cNvSpPr>
              <a:spLocks noChangeArrowheads="1"/>
            </p:cNvSpPr>
            <p:nvPr/>
          </p:nvSpPr>
          <p:spPr bwMode="auto">
            <a:xfrm>
              <a:off x="331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9222" name="Oval 6"/>
            <p:cNvSpPr>
              <a:spLocks noChangeArrowheads="1"/>
            </p:cNvSpPr>
            <p:nvPr/>
          </p:nvSpPr>
          <p:spPr bwMode="auto">
            <a:xfrm>
              <a:off x="187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9223" name="Oval 7"/>
            <p:cNvSpPr>
              <a:spLocks noChangeArrowheads="1"/>
            </p:cNvSpPr>
            <p:nvPr/>
          </p:nvSpPr>
          <p:spPr bwMode="auto">
            <a:xfrm>
              <a:off x="1536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9224" name="Oval 8"/>
            <p:cNvSpPr>
              <a:spLocks noChangeArrowheads="1"/>
            </p:cNvSpPr>
            <p:nvPr/>
          </p:nvSpPr>
          <p:spPr bwMode="auto">
            <a:xfrm>
              <a:off x="2160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9225" name="Oval 9"/>
            <p:cNvSpPr>
              <a:spLocks noChangeArrowheads="1"/>
            </p:cNvSpPr>
            <p:nvPr/>
          </p:nvSpPr>
          <p:spPr bwMode="auto">
            <a:xfrm>
              <a:off x="2592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9226" name="Oval 10"/>
            <p:cNvSpPr>
              <a:spLocks noChangeArrowheads="1"/>
            </p:cNvSpPr>
            <p:nvPr/>
          </p:nvSpPr>
          <p:spPr bwMode="auto">
            <a:xfrm>
              <a:off x="2352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9227" name="Oval 11"/>
            <p:cNvSpPr>
              <a:spLocks noChangeArrowheads="1"/>
            </p:cNvSpPr>
            <p:nvPr/>
          </p:nvSpPr>
          <p:spPr bwMode="auto">
            <a:xfrm>
              <a:off x="3312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9228" name="Oval 12"/>
            <p:cNvSpPr>
              <a:spLocks noChangeArrowheads="1"/>
            </p:cNvSpPr>
            <p:nvPr/>
          </p:nvSpPr>
          <p:spPr bwMode="auto">
            <a:xfrm>
              <a:off x="2880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N</a:t>
              </a:r>
            </a:p>
          </p:txBody>
        </p:sp>
        <p:sp>
          <p:nvSpPr>
            <p:cNvPr id="9229" name="Oval 13"/>
            <p:cNvSpPr>
              <a:spLocks noChangeArrowheads="1"/>
            </p:cNvSpPr>
            <p:nvPr/>
          </p:nvSpPr>
          <p:spPr bwMode="auto">
            <a:xfrm>
              <a:off x="3936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X</a:t>
              </a:r>
            </a:p>
          </p:txBody>
        </p:sp>
        <p:sp>
          <p:nvSpPr>
            <p:cNvPr id="9230" name="Oval 14"/>
            <p:cNvSpPr>
              <a:spLocks noChangeArrowheads="1"/>
            </p:cNvSpPr>
            <p:nvPr/>
          </p:nvSpPr>
          <p:spPr bwMode="auto">
            <a:xfrm>
              <a:off x="3936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9231" name="Oval 15"/>
            <p:cNvSpPr>
              <a:spLocks noChangeArrowheads="1"/>
            </p:cNvSpPr>
            <p:nvPr/>
          </p:nvSpPr>
          <p:spPr bwMode="auto">
            <a:xfrm>
              <a:off x="1536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9232" name="Oval 16"/>
            <p:cNvSpPr>
              <a:spLocks noChangeArrowheads="1"/>
            </p:cNvSpPr>
            <p:nvPr/>
          </p:nvSpPr>
          <p:spPr bwMode="auto">
            <a:xfrm>
              <a:off x="1920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9233" name="Oval 17"/>
            <p:cNvSpPr>
              <a:spLocks noChangeArrowheads="1"/>
            </p:cNvSpPr>
            <p:nvPr/>
          </p:nvSpPr>
          <p:spPr bwMode="auto">
            <a:xfrm>
              <a:off x="1152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9234" name="Line 18"/>
            <p:cNvSpPr>
              <a:spLocks noChangeShapeType="1"/>
            </p:cNvSpPr>
            <p:nvPr/>
          </p:nvSpPr>
          <p:spPr bwMode="auto">
            <a:xfrm flipH="1">
              <a:off x="2112" y="139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Line 19"/>
            <p:cNvSpPr>
              <a:spLocks noChangeShapeType="1"/>
            </p:cNvSpPr>
            <p:nvPr/>
          </p:nvSpPr>
          <p:spPr bwMode="auto">
            <a:xfrm>
              <a:off x="2736" y="14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Line 20"/>
            <p:cNvSpPr>
              <a:spLocks noChangeShapeType="1"/>
            </p:cNvSpPr>
            <p:nvPr/>
          </p:nvSpPr>
          <p:spPr bwMode="auto">
            <a:xfrm>
              <a:off x="2880" y="139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7" name="Line 21"/>
            <p:cNvSpPr>
              <a:spLocks noChangeShapeType="1"/>
            </p:cNvSpPr>
            <p:nvPr/>
          </p:nvSpPr>
          <p:spPr bwMode="auto">
            <a:xfrm>
              <a:off x="2736" y="192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8" name="Line 22"/>
            <p:cNvSpPr>
              <a:spLocks noChangeShapeType="1"/>
            </p:cNvSpPr>
            <p:nvPr/>
          </p:nvSpPr>
          <p:spPr bwMode="auto">
            <a:xfrm>
              <a:off x="1680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9" name="Line 23"/>
            <p:cNvSpPr>
              <a:spLocks noChangeShapeType="1"/>
            </p:cNvSpPr>
            <p:nvPr/>
          </p:nvSpPr>
          <p:spPr bwMode="auto">
            <a:xfrm>
              <a:off x="3600" y="1872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40" name="Line 24"/>
            <p:cNvSpPr>
              <a:spLocks noChangeShapeType="1"/>
            </p:cNvSpPr>
            <p:nvPr/>
          </p:nvSpPr>
          <p:spPr bwMode="auto">
            <a:xfrm>
              <a:off x="3456" y="192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41" name="Line 25"/>
            <p:cNvSpPr>
              <a:spLocks noChangeShapeType="1"/>
            </p:cNvSpPr>
            <p:nvPr/>
          </p:nvSpPr>
          <p:spPr bwMode="auto">
            <a:xfrm flipH="1">
              <a:off x="1776" y="187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Line 26"/>
            <p:cNvSpPr>
              <a:spLocks noChangeShapeType="1"/>
            </p:cNvSpPr>
            <p:nvPr/>
          </p:nvSpPr>
          <p:spPr bwMode="auto">
            <a:xfrm>
              <a:off x="2112" y="187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43" name="Line 27"/>
            <p:cNvSpPr>
              <a:spLocks noChangeShapeType="1"/>
            </p:cNvSpPr>
            <p:nvPr/>
          </p:nvSpPr>
          <p:spPr bwMode="auto">
            <a:xfrm>
              <a:off x="4080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Line 28"/>
            <p:cNvSpPr>
              <a:spLocks noChangeShapeType="1"/>
            </p:cNvSpPr>
            <p:nvPr/>
          </p:nvSpPr>
          <p:spPr bwMode="auto">
            <a:xfrm flipH="1">
              <a:off x="2544" y="235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45" name="Line 29"/>
            <p:cNvSpPr>
              <a:spLocks noChangeShapeType="1"/>
            </p:cNvSpPr>
            <p:nvPr/>
          </p:nvSpPr>
          <p:spPr bwMode="auto">
            <a:xfrm>
              <a:off x="2832" y="235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Line 30"/>
            <p:cNvSpPr>
              <a:spLocks noChangeShapeType="1"/>
            </p:cNvSpPr>
            <p:nvPr/>
          </p:nvSpPr>
          <p:spPr bwMode="auto">
            <a:xfrm flipH="1">
              <a:off x="1392" y="235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Line 31"/>
            <p:cNvSpPr>
              <a:spLocks noChangeShapeType="1"/>
            </p:cNvSpPr>
            <p:nvPr/>
          </p:nvSpPr>
          <p:spPr bwMode="auto">
            <a:xfrm>
              <a:off x="1776" y="235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219200" y="1371600"/>
            <a:ext cx="3352800" cy="3733800"/>
            <a:chOff x="768" y="864"/>
            <a:chExt cx="2112" cy="2352"/>
          </a:xfrm>
        </p:grpSpPr>
        <p:sp>
          <p:nvSpPr>
            <p:cNvPr id="9249" name="Oval 33"/>
            <p:cNvSpPr>
              <a:spLocks noChangeArrowheads="1"/>
            </p:cNvSpPr>
            <p:nvPr/>
          </p:nvSpPr>
          <p:spPr bwMode="auto">
            <a:xfrm>
              <a:off x="2592" y="864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grpSp>
          <p:nvGrpSpPr>
            <p:cNvPr id="4" name="Group 34"/>
            <p:cNvGrpSpPr>
              <a:grpSpLocks/>
            </p:cNvGrpSpPr>
            <p:nvPr/>
          </p:nvGrpSpPr>
          <p:grpSpPr bwMode="auto">
            <a:xfrm>
              <a:off x="768" y="2928"/>
              <a:ext cx="2016" cy="288"/>
              <a:chOff x="768" y="2928"/>
              <a:chExt cx="2016" cy="288"/>
            </a:xfrm>
          </p:grpSpPr>
          <p:sp>
            <p:nvSpPr>
              <p:cNvPr id="9251" name="Text Box 35"/>
              <p:cNvSpPr txBox="1">
                <a:spLocks noChangeArrowheads="1"/>
              </p:cNvSpPr>
              <p:nvPr/>
            </p:nvSpPr>
            <p:spPr bwMode="auto">
              <a:xfrm>
                <a:off x="1056" y="2928"/>
                <a:ext cx="172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solidFill>
                      <a:srgbClr val="FF3300"/>
                    </a:solidFill>
                  </a:rPr>
                  <a:t>Root (no parent)</a:t>
                </a:r>
              </a:p>
            </p:txBody>
          </p:sp>
          <p:sp>
            <p:nvSpPr>
              <p:cNvPr id="9252" name="Oval 36"/>
              <p:cNvSpPr>
                <a:spLocks noChangeArrowheads="1"/>
              </p:cNvSpPr>
              <p:nvPr/>
            </p:nvSpPr>
            <p:spPr bwMode="auto">
              <a:xfrm>
                <a:off x="768" y="2928"/>
                <a:ext cx="288" cy="288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1219200" y="2133600"/>
            <a:ext cx="7620000" cy="3505200"/>
            <a:chOff x="768" y="1344"/>
            <a:chExt cx="4800" cy="2208"/>
          </a:xfrm>
        </p:grpSpPr>
        <p:grpSp>
          <p:nvGrpSpPr>
            <p:cNvPr id="6" name="Group 38"/>
            <p:cNvGrpSpPr>
              <a:grpSpLocks/>
            </p:cNvGrpSpPr>
            <p:nvPr/>
          </p:nvGrpSpPr>
          <p:grpSpPr bwMode="auto">
            <a:xfrm>
              <a:off x="1536" y="1344"/>
              <a:ext cx="2688" cy="768"/>
              <a:chOff x="192" y="144"/>
              <a:chExt cx="2688" cy="768"/>
            </a:xfrm>
          </p:grpSpPr>
          <p:sp>
            <p:nvSpPr>
              <p:cNvPr id="9255" name="Oval 39"/>
              <p:cNvSpPr>
                <a:spLocks noChangeArrowheads="1"/>
              </p:cNvSpPr>
              <p:nvPr/>
            </p:nvSpPr>
            <p:spPr bwMode="auto">
              <a:xfrm>
                <a:off x="1248" y="144"/>
                <a:ext cx="288" cy="28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F</a:t>
                </a:r>
              </a:p>
            </p:txBody>
          </p:sp>
          <p:sp>
            <p:nvSpPr>
              <p:cNvPr id="9256" name="Oval 40"/>
              <p:cNvSpPr>
                <a:spLocks noChangeArrowheads="1"/>
              </p:cNvSpPr>
              <p:nvPr/>
            </p:nvSpPr>
            <p:spPr bwMode="auto">
              <a:xfrm>
                <a:off x="1968" y="144"/>
                <a:ext cx="288" cy="28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K</a:t>
                </a:r>
              </a:p>
            </p:txBody>
          </p:sp>
          <p:sp>
            <p:nvSpPr>
              <p:cNvPr id="9257" name="Oval 41"/>
              <p:cNvSpPr>
                <a:spLocks noChangeArrowheads="1"/>
              </p:cNvSpPr>
              <p:nvPr/>
            </p:nvSpPr>
            <p:spPr bwMode="auto">
              <a:xfrm>
                <a:off x="528" y="144"/>
                <a:ext cx="288" cy="28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B</a:t>
                </a:r>
              </a:p>
            </p:txBody>
          </p:sp>
          <p:sp>
            <p:nvSpPr>
              <p:cNvPr id="9258" name="Oval 42"/>
              <p:cNvSpPr>
                <a:spLocks noChangeArrowheads="1"/>
              </p:cNvSpPr>
              <p:nvPr/>
            </p:nvSpPr>
            <p:spPr bwMode="auto">
              <a:xfrm>
                <a:off x="192" y="624"/>
                <a:ext cx="288" cy="28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C</a:t>
                </a:r>
              </a:p>
            </p:txBody>
          </p:sp>
          <p:sp>
            <p:nvSpPr>
              <p:cNvPr id="9259" name="Oval 43"/>
              <p:cNvSpPr>
                <a:spLocks noChangeArrowheads="1"/>
              </p:cNvSpPr>
              <p:nvPr/>
            </p:nvSpPr>
            <p:spPr bwMode="auto">
              <a:xfrm>
                <a:off x="1248" y="624"/>
                <a:ext cx="288" cy="28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D</a:t>
                </a:r>
              </a:p>
            </p:txBody>
          </p:sp>
          <p:sp>
            <p:nvSpPr>
              <p:cNvPr id="9260" name="Oval 44"/>
              <p:cNvSpPr>
                <a:spLocks noChangeArrowheads="1"/>
              </p:cNvSpPr>
              <p:nvPr/>
            </p:nvSpPr>
            <p:spPr bwMode="auto">
              <a:xfrm>
                <a:off x="2592" y="624"/>
                <a:ext cx="288" cy="28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X</a:t>
                </a:r>
              </a:p>
            </p:txBody>
          </p:sp>
        </p:grpSp>
        <p:sp>
          <p:nvSpPr>
            <p:cNvPr id="9261" name="Text Box 45"/>
            <p:cNvSpPr txBox="1">
              <a:spLocks noChangeArrowheads="1"/>
            </p:cNvSpPr>
            <p:nvPr/>
          </p:nvSpPr>
          <p:spPr bwMode="auto">
            <a:xfrm>
              <a:off x="1056" y="3264"/>
              <a:ext cx="45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Intermediate nodes (has a parent and at least one child)</a:t>
              </a:r>
            </a:p>
          </p:txBody>
        </p:sp>
        <p:sp>
          <p:nvSpPr>
            <p:cNvPr id="9262" name="Oval 46"/>
            <p:cNvSpPr>
              <a:spLocks noChangeArrowheads="1"/>
            </p:cNvSpPr>
            <p:nvPr/>
          </p:nvSpPr>
          <p:spPr bwMode="auto">
            <a:xfrm>
              <a:off x="768" y="3264"/>
              <a:ext cx="288" cy="28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1219200" y="2895600"/>
            <a:ext cx="5486400" cy="3276600"/>
            <a:chOff x="768" y="1824"/>
            <a:chExt cx="3456" cy="2064"/>
          </a:xfrm>
        </p:grpSpPr>
        <p:grpSp>
          <p:nvGrpSpPr>
            <p:cNvPr id="8" name="Group 48"/>
            <p:cNvGrpSpPr>
              <a:grpSpLocks/>
            </p:cNvGrpSpPr>
            <p:nvPr/>
          </p:nvGrpSpPr>
          <p:grpSpPr bwMode="auto">
            <a:xfrm>
              <a:off x="1152" y="1824"/>
              <a:ext cx="3072" cy="768"/>
              <a:chOff x="1152" y="2976"/>
              <a:chExt cx="3072" cy="768"/>
            </a:xfrm>
          </p:grpSpPr>
          <p:sp>
            <p:nvSpPr>
              <p:cNvPr id="9265" name="Oval 49"/>
              <p:cNvSpPr>
                <a:spLocks noChangeArrowheads="1"/>
              </p:cNvSpPr>
              <p:nvPr/>
            </p:nvSpPr>
            <p:spPr bwMode="auto">
              <a:xfrm>
                <a:off x="2160" y="297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H</a:t>
                </a:r>
              </a:p>
            </p:txBody>
          </p:sp>
          <p:sp>
            <p:nvSpPr>
              <p:cNvPr id="9266" name="Oval 50"/>
              <p:cNvSpPr>
                <a:spLocks noChangeArrowheads="1"/>
              </p:cNvSpPr>
              <p:nvPr/>
            </p:nvSpPr>
            <p:spPr bwMode="auto">
              <a:xfrm>
                <a:off x="2352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I</a:t>
                </a:r>
              </a:p>
            </p:txBody>
          </p:sp>
          <p:sp>
            <p:nvSpPr>
              <p:cNvPr id="9267" name="Oval 51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L</a:t>
                </a:r>
              </a:p>
            </p:txBody>
          </p:sp>
          <p:sp>
            <p:nvSpPr>
              <p:cNvPr id="9268" name="Oval 52"/>
              <p:cNvSpPr>
                <a:spLocks noChangeArrowheads="1"/>
              </p:cNvSpPr>
              <p:nvPr/>
            </p:nvSpPr>
            <p:spPr bwMode="auto">
              <a:xfrm>
                <a:off x="2880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N</a:t>
                </a:r>
              </a:p>
            </p:txBody>
          </p:sp>
          <p:sp>
            <p:nvSpPr>
              <p:cNvPr id="9269" name="Oval 53"/>
              <p:cNvSpPr>
                <a:spLocks noChangeArrowheads="1"/>
              </p:cNvSpPr>
              <p:nvPr/>
            </p:nvSpPr>
            <p:spPr bwMode="auto">
              <a:xfrm>
                <a:off x="3936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P</a:t>
                </a:r>
              </a:p>
            </p:txBody>
          </p:sp>
          <p:sp>
            <p:nvSpPr>
              <p:cNvPr id="9270" name="Oval 54"/>
              <p:cNvSpPr>
                <a:spLocks noChangeArrowheads="1"/>
              </p:cNvSpPr>
              <p:nvPr/>
            </p:nvSpPr>
            <p:spPr bwMode="auto">
              <a:xfrm>
                <a:off x="1536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9271" name="Oval 55"/>
              <p:cNvSpPr>
                <a:spLocks noChangeArrowheads="1"/>
              </p:cNvSpPr>
              <p:nvPr/>
            </p:nvSpPr>
            <p:spPr bwMode="auto">
              <a:xfrm>
                <a:off x="1920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M</a:t>
                </a:r>
              </a:p>
            </p:txBody>
          </p:sp>
          <p:sp>
            <p:nvSpPr>
              <p:cNvPr id="9272" name="Oval 56"/>
              <p:cNvSpPr>
                <a:spLocks noChangeArrowheads="1"/>
              </p:cNvSpPr>
              <p:nvPr/>
            </p:nvSpPr>
            <p:spPr bwMode="auto">
              <a:xfrm>
                <a:off x="1152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Q</a:t>
                </a:r>
              </a:p>
            </p:txBody>
          </p:sp>
        </p:grpSp>
        <p:sp>
          <p:nvSpPr>
            <p:cNvPr id="9273" name="Text Box 57"/>
            <p:cNvSpPr txBox="1">
              <a:spLocks noChangeArrowheads="1"/>
            </p:cNvSpPr>
            <p:nvPr/>
          </p:nvSpPr>
          <p:spPr bwMode="auto">
            <a:xfrm>
              <a:off x="1056" y="3600"/>
              <a:ext cx="28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008000"/>
                  </a:solidFill>
                </a:rPr>
                <a:t>Leaf nodes (0 children)</a:t>
              </a:r>
            </a:p>
          </p:txBody>
        </p:sp>
        <p:sp>
          <p:nvSpPr>
            <p:cNvPr id="9274" name="Oval 58"/>
            <p:cNvSpPr>
              <a:spLocks noChangeArrowheads="1"/>
            </p:cNvSpPr>
            <p:nvPr/>
          </p:nvSpPr>
          <p:spPr bwMode="auto">
            <a:xfrm>
              <a:off x="768" y="3600"/>
              <a:ext cx="288" cy="28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sp>
        <p:nvSpPr>
          <p:cNvPr id="9275" name="Rectangle 59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noFill/>
          <a:ln/>
        </p:spPr>
        <p:txBody>
          <a:bodyPr/>
          <a:lstStyle/>
          <a:p>
            <a:r>
              <a:rPr lang="en-US"/>
              <a:t>Node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828800" y="1828800"/>
            <a:ext cx="4876800" cy="2743200"/>
            <a:chOff x="1152" y="1008"/>
            <a:chExt cx="3072" cy="1728"/>
          </a:xfrm>
        </p:grpSpPr>
        <p:sp>
          <p:nvSpPr>
            <p:cNvPr id="10243" name="Oval 3"/>
            <p:cNvSpPr>
              <a:spLocks noChangeArrowheads="1"/>
            </p:cNvSpPr>
            <p:nvPr/>
          </p:nvSpPr>
          <p:spPr bwMode="auto">
            <a:xfrm>
              <a:off x="2592" y="100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10244" name="Oval 4"/>
            <p:cNvSpPr>
              <a:spLocks noChangeArrowheads="1"/>
            </p:cNvSpPr>
            <p:nvPr/>
          </p:nvSpPr>
          <p:spPr bwMode="auto">
            <a:xfrm>
              <a:off x="2592" y="148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10245" name="Oval 5"/>
            <p:cNvSpPr>
              <a:spLocks noChangeArrowheads="1"/>
            </p:cNvSpPr>
            <p:nvPr/>
          </p:nvSpPr>
          <p:spPr bwMode="auto">
            <a:xfrm>
              <a:off x="3312" y="148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10246" name="Oval 6"/>
            <p:cNvSpPr>
              <a:spLocks noChangeArrowheads="1"/>
            </p:cNvSpPr>
            <p:nvPr/>
          </p:nvSpPr>
          <p:spPr bwMode="auto">
            <a:xfrm>
              <a:off x="1872" y="148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10247" name="Oval 7"/>
            <p:cNvSpPr>
              <a:spLocks noChangeArrowheads="1"/>
            </p:cNvSpPr>
            <p:nvPr/>
          </p:nvSpPr>
          <p:spPr bwMode="auto">
            <a:xfrm>
              <a:off x="1536" y="19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10248" name="Oval 8"/>
            <p:cNvSpPr>
              <a:spLocks noChangeArrowheads="1"/>
            </p:cNvSpPr>
            <p:nvPr/>
          </p:nvSpPr>
          <p:spPr bwMode="auto">
            <a:xfrm>
              <a:off x="2160" y="19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10249" name="Oval 9"/>
            <p:cNvSpPr>
              <a:spLocks noChangeArrowheads="1"/>
            </p:cNvSpPr>
            <p:nvPr/>
          </p:nvSpPr>
          <p:spPr bwMode="auto">
            <a:xfrm>
              <a:off x="2592" y="19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10250" name="Oval 10"/>
            <p:cNvSpPr>
              <a:spLocks noChangeArrowheads="1"/>
            </p:cNvSpPr>
            <p:nvPr/>
          </p:nvSpPr>
          <p:spPr bwMode="auto">
            <a:xfrm>
              <a:off x="2352" y="24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10251" name="Oval 11"/>
            <p:cNvSpPr>
              <a:spLocks noChangeArrowheads="1"/>
            </p:cNvSpPr>
            <p:nvPr/>
          </p:nvSpPr>
          <p:spPr bwMode="auto">
            <a:xfrm>
              <a:off x="3312" y="19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10252" name="Oval 12"/>
            <p:cNvSpPr>
              <a:spLocks noChangeArrowheads="1"/>
            </p:cNvSpPr>
            <p:nvPr/>
          </p:nvSpPr>
          <p:spPr bwMode="auto">
            <a:xfrm>
              <a:off x="2880" y="24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N</a:t>
              </a:r>
            </a:p>
          </p:txBody>
        </p:sp>
        <p:sp>
          <p:nvSpPr>
            <p:cNvPr id="10253" name="Oval 13"/>
            <p:cNvSpPr>
              <a:spLocks noChangeArrowheads="1"/>
            </p:cNvSpPr>
            <p:nvPr/>
          </p:nvSpPr>
          <p:spPr bwMode="auto">
            <a:xfrm>
              <a:off x="3936" y="196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X</a:t>
              </a:r>
            </a:p>
          </p:txBody>
        </p:sp>
        <p:sp>
          <p:nvSpPr>
            <p:cNvPr id="10254" name="Oval 14"/>
            <p:cNvSpPr>
              <a:spLocks noChangeArrowheads="1"/>
            </p:cNvSpPr>
            <p:nvPr/>
          </p:nvSpPr>
          <p:spPr bwMode="auto">
            <a:xfrm>
              <a:off x="3936" y="24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10255" name="Oval 15"/>
            <p:cNvSpPr>
              <a:spLocks noChangeArrowheads="1"/>
            </p:cNvSpPr>
            <p:nvPr/>
          </p:nvSpPr>
          <p:spPr bwMode="auto">
            <a:xfrm>
              <a:off x="1536" y="24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10256" name="Oval 16"/>
            <p:cNvSpPr>
              <a:spLocks noChangeArrowheads="1"/>
            </p:cNvSpPr>
            <p:nvPr/>
          </p:nvSpPr>
          <p:spPr bwMode="auto">
            <a:xfrm>
              <a:off x="1920" y="24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10257" name="Oval 17"/>
            <p:cNvSpPr>
              <a:spLocks noChangeArrowheads="1"/>
            </p:cNvSpPr>
            <p:nvPr/>
          </p:nvSpPr>
          <p:spPr bwMode="auto">
            <a:xfrm>
              <a:off x="1152" y="24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 flipH="1">
              <a:off x="2112" y="124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>
              <a:off x="2736" y="12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Line 20"/>
            <p:cNvSpPr>
              <a:spLocks noChangeShapeType="1"/>
            </p:cNvSpPr>
            <p:nvPr/>
          </p:nvSpPr>
          <p:spPr bwMode="auto">
            <a:xfrm>
              <a:off x="2880" y="124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Line 21"/>
            <p:cNvSpPr>
              <a:spLocks noChangeShapeType="1"/>
            </p:cNvSpPr>
            <p:nvPr/>
          </p:nvSpPr>
          <p:spPr bwMode="auto">
            <a:xfrm>
              <a:off x="2736" y="17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Line 22"/>
            <p:cNvSpPr>
              <a:spLocks noChangeShapeType="1"/>
            </p:cNvSpPr>
            <p:nvPr/>
          </p:nvSpPr>
          <p:spPr bwMode="auto">
            <a:xfrm>
              <a:off x="1680" y="22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Line 23"/>
            <p:cNvSpPr>
              <a:spLocks noChangeShapeType="1"/>
            </p:cNvSpPr>
            <p:nvPr/>
          </p:nvSpPr>
          <p:spPr bwMode="auto">
            <a:xfrm>
              <a:off x="3600" y="1728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Line 24"/>
            <p:cNvSpPr>
              <a:spLocks noChangeShapeType="1"/>
            </p:cNvSpPr>
            <p:nvPr/>
          </p:nvSpPr>
          <p:spPr bwMode="auto">
            <a:xfrm>
              <a:off x="3456" y="17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25"/>
            <p:cNvSpPr>
              <a:spLocks noChangeShapeType="1"/>
            </p:cNvSpPr>
            <p:nvPr/>
          </p:nvSpPr>
          <p:spPr bwMode="auto">
            <a:xfrm flipH="1">
              <a:off x="1776" y="1728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Line 26"/>
            <p:cNvSpPr>
              <a:spLocks noChangeShapeType="1"/>
            </p:cNvSpPr>
            <p:nvPr/>
          </p:nvSpPr>
          <p:spPr bwMode="auto">
            <a:xfrm>
              <a:off x="2112" y="1728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27"/>
            <p:cNvSpPr>
              <a:spLocks noChangeShapeType="1"/>
            </p:cNvSpPr>
            <p:nvPr/>
          </p:nvSpPr>
          <p:spPr bwMode="auto">
            <a:xfrm>
              <a:off x="4080" y="22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Line 28"/>
            <p:cNvSpPr>
              <a:spLocks noChangeShapeType="1"/>
            </p:cNvSpPr>
            <p:nvPr/>
          </p:nvSpPr>
          <p:spPr bwMode="auto">
            <a:xfrm flipH="1">
              <a:off x="2544" y="220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Line 29"/>
            <p:cNvSpPr>
              <a:spLocks noChangeShapeType="1"/>
            </p:cNvSpPr>
            <p:nvPr/>
          </p:nvSpPr>
          <p:spPr bwMode="auto">
            <a:xfrm>
              <a:off x="2832" y="2208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30"/>
            <p:cNvSpPr>
              <a:spLocks noChangeShapeType="1"/>
            </p:cNvSpPr>
            <p:nvPr/>
          </p:nvSpPr>
          <p:spPr bwMode="auto">
            <a:xfrm flipH="1">
              <a:off x="1392" y="220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Line 31"/>
            <p:cNvSpPr>
              <a:spLocks noChangeShapeType="1"/>
            </p:cNvSpPr>
            <p:nvPr/>
          </p:nvSpPr>
          <p:spPr bwMode="auto">
            <a:xfrm>
              <a:off x="1776" y="220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2438400" y="1828800"/>
            <a:ext cx="5029200" cy="4267200"/>
            <a:chOff x="1536" y="1152"/>
            <a:chExt cx="3168" cy="2688"/>
          </a:xfrm>
        </p:grpSpPr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1536" y="1152"/>
              <a:ext cx="1344" cy="1248"/>
              <a:chOff x="336" y="96"/>
              <a:chExt cx="1344" cy="1248"/>
            </a:xfrm>
          </p:grpSpPr>
          <p:sp>
            <p:nvSpPr>
              <p:cNvPr id="10274" name="Oval 34"/>
              <p:cNvSpPr>
                <a:spLocks noChangeArrowheads="1"/>
              </p:cNvSpPr>
              <p:nvPr/>
            </p:nvSpPr>
            <p:spPr bwMode="auto">
              <a:xfrm>
                <a:off x="1392" y="96"/>
                <a:ext cx="288" cy="28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A</a:t>
                </a:r>
              </a:p>
            </p:txBody>
          </p:sp>
          <p:sp>
            <p:nvSpPr>
              <p:cNvPr id="10275" name="Oval 35"/>
              <p:cNvSpPr>
                <a:spLocks noChangeArrowheads="1"/>
              </p:cNvSpPr>
              <p:nvPr/>
            </p:nvSpPr>
            <p:spPr bwMode="auto">
              <a:xfrm>
                <a:off x="336" y="1056"/>
                <a:ext cx="288" cy="28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C</a:t>
                </a:r>
              </a:p>
            </p:txBody>
          </p:sp>
        </p:grpSp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3602" y="3552"/>
              <a:ext cx="1102" cy="288"/>
              <a:chOff x="3602" y="3552"/>
              <a:chExt cx="1102" cy="288"/>
            </a:xfrm>
          </p:grpSpPr>
          <p:sp>
            <p:nvSpPr>
              <p:cNvPr id="10277" name="Oval 37"/>
              <p:cNvSpPr>
                <a:spLocks noChangeArrowheads="1"/>
              </p:cNvSpPr>
              <p:nvPr/>
            </p:nvSpPr>
            <p:spPr bwMode="auto">
              <a:xfrm>
                <a:off x="3602" y="3552"/>
                <a:ext cx="288" cy="28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10278" name="Text Box 38"/>
              <p:cNvSpPr txBox="1">
                <a:spLocks noChangeArrowheads="1"/>
              </p:cNvSpPr>
              <p:nvPr/>
            </p:nvSpPr>
            <p:spPr bwMode="auto">
              <a:xfrm>
                <a:off x="3890" y="3552"/>
                <a:ext cx="8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Degree 3</a:t>
                </a:r>
              </a:p>
            </p:txBody>
          </p:sp>
        </p:grpSp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1219200" y="2590800"/>
            <a:ext cx="5486400" cy="3505200"/>
            <a:chOff x="768" y="1632"/>
            <a:chExt cx="3456" cy="2208"/>
          </a:xfrm>
        </p:grpSpPr>
        <p:grpSp>
          <p:nvGrpSpPr>
            <p:cNvPr id="7" name="Group 40"/>
            <p:cNvGrpSpPr>
              <a:grpSpLocks/>
            </p:cNvGrpSpPr>
            <p:nvPr/>
          </p:nvGrpSpPr>
          <p:grpSpPr bwMode="auto">
            <a:xfrm>
              <a:off x="2592" y="1632"/>
              <a:ext cx="1632" cy="768"/>
              <a:chOff x="3936" y="3360"/>
              <a:chExt cx="1632" cy="768"/>
            </a:xfrm>
          </p:grpSpPr>
          <p:sp>
            <p:nvSpPr>
              <p:cNvPr id="10281" name="Oval 41"/>
              <p:cNvSpPr>
                <a:spLocks noChangeArrowheads="1"/>
              </p:cNvSpPr>
              <p:nvPr/>
            </p:nvSpPr>
            <p:spPr bwMode="auto">
              <a:xfrm>
                <a:off x="3936" y="3360"/>
                <a:ext cx="288" cy="288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F</a:t>
                </a:r>
              </a:p>
            </p:txBody>
          </p:sp>
          <p:sp>
            <p:nvSpPr>
              <p:cNvPr id="10282" name="Oval 42"/>
              <p:cNvSpPr>
                <a:spLocks noChangeArrowheads="1"/>
              </p:cNvSpPr>
              <p:nvPr/>
            </p:nvSpPr>
            <p:spPr bwMode="auto">
              <a:xfrm>
                <a:off x="5280" y="3840"/>
                <a:ext cx="288" cy="288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X</a:t>
                </a:r>
              </a:p>
            </p:txBody>
          </p:sp>
        </p:grpSp>
        <p:grpSp>
          <p:nvGrpSpPr>
            <p:cNvPr id="8" name="Group 43"/>
            <p:cNvGrpSpPr>
              <a:grpSpLocks/>
            </p:cNvGrpSpPr>
            <p:nvPr/>
          </p:nvGrpSpPr>
          <p:grpSpPr bwMode="auto">
            <a:xfrm>
              <a:off x="768" y="3552"/>
              <a:ext cx="1102" cy="288"/>
              <a:chOff x="768" y="3552"/>
              <a:chExt cx="1102" cy="288"/>
            </a:xfrm>
          </p:grpSpPr>
          <p:sp>
            <p:nvSpPr>
              <p:cNvPr id="10284" name="Oval 44"/>
              <p:cNvSpPr>
                <a:spLocks noChangeArrowheads="1"/>
              </p:cNvSpPr>
              <p:nvPr/>
            </p:nvSpPr>
            <p:spPr bwMode="auto">
              <a:xfrm>
                <a:off x="768" y="3552"/>
                <a:ext cx="288" cy="288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10285" name="Text Box 45"/>
              <p:cNvSpPr txBox="1">
                <a:spLocks noChangeArrowheads="1"/>
              </p:cNvSpPr>
              <p:nvPr/>
            </p:nvSpPr>
            <p:spPr bwMode="auto">
              <a:xfrm>
                <a:off x="1056" y="3552"/>
                <a:ext cx="8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Degree 1</a:t>
                </a:r>
              </a:p>
            </p:txBody>
          </p:sp>
        </p:grp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1219200" y="3352800"/>
            <a:ext cx="5486400" cy="3276600"/>
            <a:chOff x="768" y="1824"/>
            <a:chExt cx="3456" cy="2064"/>
          </a:xfrm>
        </p:grpSpPr>
        <p:grpSp>
          <p:nvGrpSpPr>
            <p:cNvPr id="10" name="Group 47"/>
            <p:cNvGrpSpPr>
              <a:grpSpLocks/>
            </p:cNvGrpSpPr>
            <p:nvPr/>
          </p:nvGrpSpPr>
          <p:grpSpPr bwMode="auto">
            <a:xfrm>
              <a:off x="1152" y="1824"/>
              <a:ext cx="3072" cy="768"/>
              <a:chOff x="1152" y="2976"/>
              <a:chExt cx="3072" cy="768"/>
            </a:xfrm>
          </p:grpSpPr>
          <p:sp>
            <p:nvSpPr>
              <p:cNvPr id="10288" name="Oval 48"/>
              <p:cNvSpPr>
                <a:spLocks noChangeArrowheads="1"/>
              </p:cNvSpPr>
              <p:nvPr/>
            </p:nvSpPr>
            <p:spPr bwMode="auto">
              <a:xfrm>
                <a:off x="2160" y="297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H</a:t>
                </a:r>
              </a:p>
            </p:txBody>
          </p:sp>
          <p:sp>
            <p:nvSpPr>
              <p:cNvPr id="10289" name="Oval 49"/>
              <p:cNvSpPr>
                <a:spLocks noChangeArrowheads="1"/>
              </p:cNvSpPr>
              <p:nvPr/>
            </p:nvSpPr>
            <p:spPr bwMode="auto">
              <a:xfrm>
                <a:off x="2352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I</a:t>
                </a:r>
              </a:p>
            </p:txBody>
          </p:sp>
          <p:sp>
            <p:nvSpPr>
              <p:cNvPr id="10290" name="Oval 50"/>
              <p:cNvSpPr>
                <a:spLocks noChangeArrowheads="1"/>
              </p:cNvSpPr>
              <p:nvPr/>
            </p:nvSpPr>
            <p:spPr bwMode="auto">
              <a:xfrm>
                <a:off x="3312" y="297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L</a:t>
                </a:r>
              </a:p>
            </p:txBody>
          </p:sp>
          <p:sp>
            <p:nvSpPr>
              <p:cNvPr id="10291" name="Oval 51"/>
              <p:cNvSpPr>
                <a:spLocks noChangeArrowheads="1"/>
              </p:cNvSpPr>
              <p:nvPr/>
            </p:nvSpPr>
            <p:spPr bwMode="auto">
              <a:xfrm>
                <a:off x="2880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N</a:t>
                </a:r>
              </a:p>
            </p:txBody>
          </p:sp>
          <p:sp>
            <p:nvSpPr>
              <p:cNvPr id="10292" name="Oval 52"/>
              <p:cNvSpPr>
                <a:spLocks noChangeArrowheads="1"/>
              </p:cNvSpPr>
              <p:nvPr/>
            </p:nvSpPr>
            <p:spPr bwMode="auto">
              <a:xfrm>
                <a:off x="3936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P</a:t>
                </a:r>
              </a:p>
            </p:txBody>
          </p:sp>
          <p:sp>
            <p:nvSpPr>
              <p:cNvPr id="10293" name="Oval 53"/>
              <p:cNvSpPr>
                <a:spLocks noChangeArrowheads="1"/>
              </p:cNvSpPr>
              <p:nvPr/>
            </p:nvSpPr>
            <p:spPr bwMode="auto">
              <a:xfrm>
                <a:off x="1536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0294" name="Oval 54"/>
              <p:cNvSpPr>
                <a:spLocks noChangeArrowheads="1"/>
              </p:cNvSpPr>
              <p:nvPr/>
            </p:nvSpPr>
            <p:spPr bwMode="auto">
              <a:xfrm>
                <a:off x="1920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M</a:t>
                </a:r>
              </a:p>
            </p:txBody>
          </p:sp>
          <p:sp>
            <p:nvSpPr>
              <p:cNvPr id="10295" name="Oval 55"/>
              <p:cNvSpPr>
                <a:spLocks noChangeArrowheads="1"/>
              </p:cNvSpPr>
              <p:nvPr/>
            </p:nvSpPr>
            <p:spPr bwMode="auto">
              <a:xfrm>
                <a:off x="1152" y="3456"/>
                <a:ext cx="288" cy="288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Q</a:t>
                </a:r>
              </a:p>
            </p:txBody>
          </p:sp>
        </p:grpSp>
        <p:sp>
          <p:nvSpPr>
            <p:cNvPr id="10296" name="Text Box 56"/>
            <p:cNvSpPr txBox="1">
              <a:spLocks noChangeArrowheads="1"/>
            </p:cNvSpPr>
            <p:nvPr/>
          </p:nvSpPr>
          <p:spPr bwMode="auto">
            <a:xfrm>
              <a:off x="1056" y="3600"/>
              <a:ext cx="28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Degree 0</a:t>
              </a:r>
            </a:p>
          </p:txBody>
        </p:sp>
        <p:sp>
          <p:nvSpPr>
            <p:cNvPr id="10297" name="Oval 57"/>
            <p:cNvSpPr>
              <a:spLocks noChangeArrowheads="1"/>
            </p:cNvSpPr>
            <p:nvPr/>
          </p:nvSpPr>
          <p:spPr bwMode="auto">
            <a:xfrm>
              <a:off x="768" y="3600"/>
              <a:ext cx="288" cy="28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58"/>
          <p:cNvGrpSpPr>
            <a:grpSpLocks/>
          </p:cNvGrpSpPr>
          <p:nvPr/>
        </p:nvGrpSpPr>
        <p:grpSpPr bwMode="auto">
          <a:xfrm>
            <a:off x="2971800" y="2590800"/>
            <a:ext cx="4495800" cy="4038600"/>
            <a:chOff x="1872" y="1632"/>
            <a:chExt cx="2832" cy="2544"/>
          </a:xfrm>
        </p:grpSpPr>
        <p:grpSp>
          <p:nvGrpSpPr>
            <p:cNvPr id="12" name="Group 59"/>
            <p:cNvGrpSpPr>
              <a:grpSpLocks/>
            </p:cNvGrpSpPr>
            <p:nvPr/>
          </p:nvGrpSpPr>
          <p:grpSpPr bwMode="auto">
            <a:xfrm>
              <a:off x="1872" y="1632"/>
              <a:ext cx="1728" cy="768"/>
              <a:chOff x="3840" y="144"/>
              <a:chExt cx="1728" cy="768"/>
            </a:xfrm>
          </p:grpSpPr>
          <p:sp>
            <p:nvSpPr>
              <p:cNvPr id="10300" name="Oval 60"/>
              <p:cNvSpPr>
                <a:spLocks noChangeArrowheads="1"/>
              </p:cNvSpPr>
              <p:nvPr/>
            </p:nvSpPr>
            <p:spPr bwMode="auto">
              <a:xfrm>
                <a:off x="5280" y="144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K</a:t>
                </a:r>
              </a:p>
            </p:txBody>
          </p:sp>
          <p:sp>
            <p:nvSpPr>
              <p:cNvPr id="10301" name="Oval 61"/>
              <p:cNvSpPr>
                <a:spLocks noChangeArrowheads="1"/>
              </p:cNvSpPr>
              <p:nvPr/>
            </p:nvSpPr>
            <p:spPr bwMode="auto">
              <a:xfrm>
                <a:off x="3840" y="144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B</a:t>
                </a:r>
              </a:p>
            </p:txBody>
          </p:sp>
          <p:sp>
            <p:nvSpPr>
              <p:cNvPr id="10302" name="Oval 62"/>
              <p:cNvSpPr>
                <a:spLocks noChangeArrowheads="1"/>
              </p:cNvSpPr>
              <p:nvPr/>
            </p:nvSpPr>
            <p:spPr bwMode="auto">
              <a:xfrm>
                <a:off x="4560" y="624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D</a:t>
                </a:r>
              </a:p>
            </p:txBody>
          </p:sp>
        </p:grpSp>
        <p:grpSp>
          <p:nvGrpSpPr>
            <p:cNvPr id="13" name="Group 63"/>
            <p:cNvGrpSpPr>
              <a:grpSpLocks/>
            </p:cNvGrpSpPr>
            <p:nvPr/>
          </p:nvGrpSpPr>
          <p:grpSpPr bwMode="auto">
            <a:xfrm>
              <a:off x="3602" y="3888"/>
              <a:ext cx="1102" cy="288"/>
              <a:chOff x="3602" y="3888"/>
              <a:chExt cx="1102" cy="288"/>
            </a:xfrm>
          </p:grpSpPr>
          <p:sp>
            <p:nvSpPr>
              <p:cNvPr id="10304" name="Oval 64"/>
              <p:cNvSpPr>
                <a:spLocks noChangeArrowheads="1"/>
              </p:cNvSpPr>
              <p:nvPr/>
            </p:nvSpPr>
            <p:spPr bwMode="auto">
              <a:xfrm>
                <a:off x="3602" y="3888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10305" name="Text Box 65"/>
              <p:cNvSpPr txBox="1">
                <a:spLocks noChangeArrowheads="1"/>
              </p:cNvSpPr>
              <p:nvPr/>
            </p:nvSpPr>
            <p:spPr bwMode="auto">
              <a:xfrm>
                <a:off x="3890" y="3888"/>
                <a:ext cx="8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Degree 2</a:t>
                </a:r>
              </a:p>
            </p:txBody>
          </p:sp>
        </p:grpSp>
      </p:grpSp>
      <p:sp>
        <p:nvSpPr>
          <p:cNvPr id="10306" name="Rectangle 66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  <a:noFill/>
          <a:ln/>
        </p:spPr>
        <p:txBody>
          <a:bodyPr>
            <a:normAutofit/>
          </a:bodyPr>
          <a:lstStyle/>
          <a:p>
            <a:r>
              <a:rPr lang="en-US"/>
              <a:t>Degree of a Node</a:t>
            </a:r>
            <a:br>
              <a:rPr lang="en-US"/>
            </a:br>
            <a:r>
              <a:rPr lang="en-US" sz="3200"/>
              <a:t>Number of Children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905000" y="1371600"/>
            <a:ext cx="4876800" cy="2743200"/>
            <a:chOff x="1152" y="480"/>
            <a:chExt cx="3072" cy="1728"/>
          </a:xfrm>
        </p:grpSpPr>
        <p:sp>
          <p:nvSpPr>
            <p:cNvPr id="11267" name="Oval 3"/>
            <p:cNvSpPr>
              <a:spLocks noChangeArrowheads="1"/>
            </p:cNvSpPr>
            <p:nvPr/>
          </p:nvSpPr>
          <p:spPr bwMode="auto">
            <a:xfrm>
              <a:off x="2592" y="48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11268" name="Oval 4"/>
            <p:cNvSpPr>
              <a:spLocks noChangeArrowheads="1"/>
            </p:cNvSpPr>
            <p:nvPr/>
          </p:nvSpPr>
          <p:spPr bwMode="auto">
            <a:xfrm>
              <a:off x="2592" y="96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11269" name="Oval 5"/>
            <p:cNvSpPr>
              <a:spLocks noChangeArrowheads="1"/>
            </p:cNvSpPr>
            <p:nvPr/>
          </p:nvSpPr>
          <p:spPr bwMode="auto">
            <a:xfrm>
              <a:off x="3312" y="96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11270" name="Oval 6"/>
            <p:cNvSpPr>
              <a:spLocks noChangeArrowheads="1"/>
            </p:cNvSpPr>
            <p:nvPr/>
          </p:nvSpPr>
          <p:spPr bwMode="auto">
            <a:xfrm>
              <a:off x="1872" y="96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11271" name="Oval 7"/>
            <p:cNvSpPr>
              <a:spLocks noChangeArrowheads="1"/>
            </p:cNvSpPr>
            <p:nvPr/>
          </p:nvSpPr>
          <p:spPr bwMode="auto">
            <a:xfrm>
              <a:off x="1536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11272" name="Oval 8"/>
            <p:cNvSpPr>
              <a:spLocks noChangeArrowheads="1"/>
            </p:cNvSpPr>
            <p:nvPr/>
          </p:nvSpPr>
          <p:spPr bwMode="auto">
            <a:xfrm>
              <a:off x="21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11273" name="Oval 9"/>
            <p:cNvSpPr>
              <a:spLocks noChangeArrowheads="1"/>
            </p:cNvSpPr>
            <p:nvPr/>
          </p:nvSpPr>
          <p:spPr bwMode="auto">
            <a:xfrm>
              <a:off x="2592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11274" name="Oval 10"/>
            <p:cNvSpPr>
              <a:spLocks noChangeArrowheads="1"/>
            </p:cNvSpPr>
            <p:nvPr/>
          </p:nvSpPr>
          <p:spPr bwMode="auto">
            <a:xfrm>
              <a:off x="2352" y="192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11275" name="Oval 11"/>
            <p:cNvSpPr>
              <a:spLocks noChangeArrowheads="1"/>
            </p:cNvSpPr>
            <p:nvPr/>
          </p:nvSpPr>
          <p:spPr bwMode="auto">
            <a:xfrm>
              <a:off x="3312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11276" name="Oval 12"/>
            <p:cNvSpPr>
              <a:spLocks noChangeArrowheads="1"/>
            </p:cNvSpPr>
            <p:nvPr/>
          </p:nvSpPr>
          <p:spPr bwMode="auto">
            <a:xfrm>
              <a:off x="2880" y="192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N</a:t>
              </a:r>
            </a:p>
          </p:txBody>
        </p:sp>
        <p:sp>
          <p:nvSpPr>
            <p:cNvPr id="11277" name="Oval 13"/>
            <p:cNvSpPr>
              <a:spLocks noChangeArrowheads="1"/>
            </p:cNvSpPr>
            <p:nvPr/>
          </p:nvSpPr>
          <p:spPr bwMode="auto">
            <a:xfrm>
              <a:off x="3936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X</a:t>
              </a:r>
            </a:p>
          </p:txBody>
        </p:sp>
        <p:sp>
          <p:nvSpPr>
            <p:cNvPr id="11278" name="Oval 14"/>
            <p:cNvSpPr>
              <a:spLocks noChangeArrowheads="1"/>
            </p:cNvSpPr>
            <p:nvPr/>
          </p:nvSpPr>
          <p:spPr bwMode="auto">
            <a:xfrm>
              <a:off x="3936" y="192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11279" name="Oval 15"/>
            <p:cNvSpPr>
              <a:spLocks noChangeArrowheads="1"/>
            </p:cNvSpPr>
            <p:nvPr/>
          </p:nvSpPr>
          <p:spPr bwMode="auto">
            <a:xfrm>
              <a:off x="1536" y="192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11280" name="Oval 16"/>
            <p:cNvSpPr>
              <a:spLocks noChangeArrowheads="1"/>
            </p:cNvSpPr>
            <p:nvPr/>
          </p:nvSpPr>
          <p:spPr bwMode="auto">
            <a:xfrm>
              <a:off x="1920" y="192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11281" name="Oval 17"/>
            <p:cNvSpPr>
              <a:spLocks noChangeArrowheads="1"/>
            </p:cNvSpPr>
            <p:nvPr/>
          </p:nvSpPr>
          <p:spPr bwMode="auto">
            <a:xfrm>
              <a:off x="1152" y="192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11282" name="Line 18"/>
            <p:cNvSpPr>
              <a:spLocks noChangeShapeType="1"/>
            </p:cNvSpPr>
            <p:nvPr/>
          </p:nvSpPr>
          <p:spPr bwMode="auto">
            <a:xfrm flipH="1">
              <a:off x="2112" y="720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Line 19"/>
            <p:cNvSpPr>
              <a:spLocks noChangeShapeType="1"/>
            </p:cNvSpPr>
            <p:nvPr/>
          </p:nvSpPr>
          <p:spPr bwMode="auto">
            <a:xfrm>
              <a:off x="2736" y="7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Line 20"/>
            <p:cNvSpPr>
              <a:spLocks noChangeShapeType="1"/>
            </p:cNvSpPr>
            <p:nvPr/>
          </p:nvSpPr>
          <p:spPr bwMode="auto">
            <a:xfrm>
              <a:off x="2880" y="720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Line 21"/>
            <p:cNvSpPr>
              <a:spLocks noChangeShapeType="1"/>
            </p:cNvSpPr>
            <p:nvPr/>
          </p:nvSpPr>
          <p:spPr bwMode="auto">
            <a:xfrm>
              <a:off x="2736" y="12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Line 22"/>
            <p:cNvSpPr>
              <a:spLocks noChangeShapeType="1"/>
            </p:cNvSpPr>
            <p:nvPr/>
          </p:nvSpPr>
          <p:spPr bwMode="auto">
            <a:xfrm>
              <a:off x="1680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Line 23"/>
            <p:cNvSpPr>
              <a:spLocks noChangeShapeType="1"/>
            </p:cNvSpPr>
            <p:nvPr/>
          </p:nvSpPr>
          <p:spPr bwMode="auto">
            <a:xfrm>
              <a:off x="3600" y="1200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Line 24"/>
            <p:cNvSpPr>
              <a:spLocks noChangeShapeType="1"/>
            </p:cNvSpPr>
            <p:nvPr/>
          </p:nvSpPr>
          <p:spPr bwMode="auto">
            <a:xfrm>
              <a:off x="3456" y="12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Line 25"/>
            <p:cNvSpPr>
              <a:spLocks noChangeShapeType="1"/>
            </p:cNvSpPr>
            <p:nvPr/>
          </p:nvSpPr>
          <p:spPr bwMode="auto">
            <a:xfrm flipH="1">
              <a:off x="1776" y="1200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Line 26"/>
            <p:cNvSpPr>
              <a:spLocks noChangeShapeType="1"/>
            </p:cNvSpPr>
            <p:nvPr/>
          </p:nvSpPr>
          <p:spPr bwMode="auto">
            <a:xfrm>
              <a:off x="2112" y="120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Line 27"/>
            <p:cNvSpPr>
              <a:spLocks noChangeShapeType="1"/>
            </p:cNvSpPr>
            <p:nvPr/>
          </p:nvSpPr>
          <p:spPr bwMode="auto">
            <a:xfrm>
              <a:off x="4080" y="172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Line 28"/>
            <p:cNvSpPr>
              <a:spLocks noChangeShapeType="1"/>
            </p:cNvSpPr>
            <p:nvPr/>
          </p:nvSpPr>
          <p:spPr bwMode="auto">
            <a:xfrm flipH="1">
              <a:off x="2544" y="1680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Line 29"/>
            <p:cNvSpPr>
              <a:spLocks noChangeShapeType="1"/>
            </p:cNvSpPr>
            <p:nvPr/>
          </p:nvSpPr>
          <p:spPr bwMode="auto">
            <a:xfrm>
              <a:off x="2832" y="1680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Line 30"/>
            <p:cNvSpPr>
              <a:spLocks noChangeShapeType="1"/>
            </p:cNvSpPr>
            <p:nvPr/>
          </p:nvSpPr>
          <p:spPr bwMode="auto">
            <a:xfrm flipH="1">
              <a:off x="1392" y="168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Line 31"/>
            <p:cNvSpPr>
              <a:spLocks noChangeShapeType="1"/>
            </p:cNvSpPr>
            <p:nvPr/>
          </p:nvSpPr>
          <p:spPr bwMode="auto">
            <a:xfrm>
              <a:off x="1776" y="168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752600" y="1371600"/>
            <a:ext cx="2895600" cy="3810000"/>
            <a:chOff x="1056" y="1152"/>
            <a:chExt cx="1824" cy="2400"/>
          </a:xfrm>
        </p:grpSpPr>
        <p:sp>
          <p:nvSpPr>
            <p:cNvPr id="11297" name="Oval 33"/>
            <p:cNvSpPr>
              <a:spLocks noChangeArrowheads="1"/>
            </p:cNvSpPr>
            <p:nvPr/>
          </p:nvSpPr>
          <p:spPr bwMode="auto">
            <a:xfrm>
              <a:off x="2592" y="1152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11298" name="Oval 34"/>
            <p:cNvSpPr>
              <a:spLocks noChangeArrowheads="1"/>
            </p:cNvSpPr>
            <p:nvPr/>
          </p:nvSpPr>
          <p:spPr bwMode="auto">
            <a:xfrm>
              <a:off x="1056" y="3264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299" name="Text Box 35"/>
            <p:cNvSpPr txBox="1">
              <a:spLocks noChangeArrowheads="1"/>
            </p:cNvSpPr>
            <p:nvPr/>
          </p:nvSpPr>
          <p:spPr bwMode="auto">
            <a:xfrm>
              <a:off x="1392" y="3264"/>
              <a:ext cx="6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/>
                <a:t>Level 0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1752600" y="2133600"/>
            <a:ext cx="4038600" cy="3581400"/>
            <a:chOff x="1056" y="1632"/>
            <a:chExt cx="2544" cy="2256"/>
          </a:xfrm>
        </p:grpSpPr>
        <p:grpSp>
          <p:nvGrpSpPr>
            <p:cNvPr id="5" name="Group 37"/>
            <p:cNvGrpSpPr>
              <a:grpSpLocks/>
            </p:cNvGrpSpPr>
            <p:nvPr/>
          </p:nvGrpSpPr>
          <p:grpSpPr bwMode="auto">
            <a:xfrm>
              <a:off x="1872" y="1632"/>
              <a:ext cx="1728" cy="288"/>
              <a:chOff x="1056" y="2976"/>
              <a:chExt cx="1728" cy="288"/>
            </a:xfrm>
          </p:grpSpPr>
          <p:sp>
            <p:nvSpPr>
              <p:cNvPr id="11302" name="Oval 38"/>
              <p:cNvSpPr>
                <a:spLocks noChangeArrowheads="1"/>
              </p:cNvSpPr>
              <p:nvPr/>
            </p:nvSpPr>
            <p:spPr bwMode="auto">
              <a:xfrm>
                <a:off x="1776" y="2976"/>
                <a:ext cx="288" cy="288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F</a:t>
                </a:r>
              </a:p>
            </p:txBody>
          </p:sp>
          <p:sp>
            <p:nvSpPr>
              <p:cNvPr id="11303" name="Oval 39"/>
              <p:cNvSpPr>
                <a:spLocks noChangeArrowheads="1"/>
              </p:cNvSpPr>
              <p:nvPr/>
            </p:nvSpPr>
            <p:spPr bwMode="auto">
              <a:xfrm>
                <a:off x="2496" y="2976"/>
                <a:ext cx="288" cy="288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K</a:t>
                </a:r>
              </a:p>
            </p:txBody>
          </p:sp>
          <p:sp>
            <p:nvSpPr>
              <p:cNvPr id="11304" name="Oval 40"/>
              <p:cNvSpPr>
                <a:spLocks noChangeArrowheads="1"/>
              </p:cNvSpPr>
              <p:nvPr/>
            </p:nvSpPr>
            <p:spPr bwMode="auto">
              <a:xfrm>
                <a:off x="1056" y="2976"/>
                <a:ext cx="288" cy="288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B</a:t>
                </a:r>
              </a:p>
            </p:txBody>
          </p:sp>
        </p:grpSp>
        <p:sp>
          <p:nvSpPr>
            <p:cNvPr id="11305" name="Oval 41"/>
            <p:cNvSpPr>
              <a:spLocks noChangeArrowheads="1"/>
            </p:cNvSpPr>
            <p:nvPr/>
          </p:nvSpPr>
          <p:spPr bwMode="auto">
            <a:xfrm>
              <a:off x="1056" y="3600"/>
              <a:ext cx="288" cy="288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306" name="Text Box 42"/>
            <p:cNvSpPr txBox="1">
              <a:spLocks noChangeArrowheads="1"/>
            </p:cNvSpPr>
            <p:nvPr/>
          </p:nvSpPr>
          <p:spPr bwMode="auto">
            <a:xfrm>
              <a:off x="1392" y="3600"/>
              <a:ext cx="6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Level 1</a:t>
              </a:r>
            </a:p>
          </p:txBody>
        </p:sp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2514600" y="2895600"/>
            <a:ext cx="4419600" cy="2286000"/>
            <a:chOff x="1536" y="2112"/>
            <a:chExt cx="2784" cy="1440"/>
          </a:xfrm>
        </p:grpSpPr>
        <p:grpSp>
          <p:nvGrpSpPr>
            <p:cNvPr id="7" name="Group 44"/>
            <p:cNvGrpSpPr>
              <a:grpSpLocks/>
            </p:cNvGrpSpPr>
            <p:nvPr/>
          </p:nvGrpSpPr>
          <p:grpSpPr bwMode="auto">
            <a:xfrm>
              <a:off x="1536" y="2112"/>
              <a:ext cx="2688" cy="288"/>
              <a:chOff x="1056" y="3360"/>
              <a:chExt cx="2688" cy="288"/>
            </a:xfrm>
          </p:grpSpPr>
          <p:sp>
            <p:nvSpPr>
              <p:cNvPr id="11309" name="Oval 45"/>
              <p:cNvSpPr>
                <a:spLocks noChangeArrowheads="1"/>
              </p:cNvSpPr>
              <p:nvPr/>
            </p:nvSpPr>
            <p:spPr bwMode="auto">
              <a:xfrm>
                <a:off x="1056" y="3360"/>
                <a:ext cx="288" cy="28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C</a:t>
                </a:r>
              </a:p>
            </p:txBody>
          </p:sp>
          <p:sp>
            <p:nvSpPr>
              <p:cNvPr id="11310" name="Oval 46"/>
              <p:cNvSpPr>
                <a:spLocks noChangeArrowheads="1"/>
              </p:cNvSpPr>
              <p:nvPr/>
            </p:nvSpPr>
            <p:spPr bwMode="auto">
              <a:xfrm>
                <a:off x="1680" y="3360"/>
                <a:ext cx="288" cy="28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H</a:t>
                </a:r>
              </a:p>
            </p:txBody>
          </p:sp>
          <p:sp>
            <p:nvSpPr>
              <p:cNvPr id="11311" name="Oval 47"/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288" cy="28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D</a:t>
                </a:r>
              </a:p>
            </p:txBody>
          </p:sp>
          <p:sp>
            <p:nvSpPr>
              <p:cNvPr id="11312" name="Oval 48"/>
              <p:cNvSpPr>
                <a:spLocks noChangeArrowheads="1"/>
              </p:cNvSpPr>
              <p:nvPr/>
            </p:nvSpPr>
            <p:spPr bwMode="auto">
              <a:xfrm>
                <a:off x="2832" y="3360"/>
                <a:ext cx="288" cy="28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L</a:t>
                </a:r>
              </a:p>
            </p:txBody>
          </p:sp>
          <p:sp>
            <p:nvSpPr>
              <p:cNvPr id="11313" name="Oval 49"/>
              <p:cNvSpPr>
                <a:spLocks noChangeArrowheads="1"/>
              </p:cNvSpPr>
              <p:nvPr/>
            </p:nvSpPr>
            <p:spPr bwMode="auto">
              <a:xfrm>
                <a:off x="3456" y="3360"/>
                <a:ext cx="288" cy="288"/>
              </a:xfrm>
              <a:prstGeom prst="ellipse">
                <a:avLst/>
              </a:prstGeom>
              <a:solidFill>
                <a:srgbClr val="99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X</a:t>
                </a:r>
              </a:p>
            </p:txBody>
          </p:sp>
        </p:grpSp>
        <p:sp>
          <p:nvSpPr>
            <p:cNvPr id="11314" name="Oval 50"/>
            <p:cNvSpPr>
              <a:spLocks noChangeArrowheads="1"/>
            </p:cNvSpPr>
            <p:nvPr/>
          </p:nvSpPr>
          <p:spPr bwMode="auto">
            <a:xfrm>
              <a:off x="3288" y="3264"/>
              <a:ext cx="288" cy="288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315" name="Text Box 51"/>
            <p:cNvSpPr txBox="1">
              <a:spLocks noChangeArrowheads="1"/>
            </p:cNvSpPr>
            <p:nvPr/>
          </p:nvSpPr>
          <p:spPr bwMode="auto">
            <a:xfrm>
              <a:off x="3624" y="3264"/>
              <a:ext cx="6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Level 2</a:t>
              </a:r>
            </a:p>
          </p:txBody>
        </p:sp>
      </p:grpSp>
      <p:grpSp>
        <p:nvGrpSpPr>
          <p:cNvPr id="8" name="Group 52"/>
          <p:cNvGrpSpPr>
            <a:grpSpLocks/>
          </p:cNvGrpSpPr>
          <p:nvPr/>
        </p:nvGrpSpPr>
        <p:grpSpPr bwMode="auto">
          <a:xfrm>
            <a:off x="1905000" y="3657600"/>
            <a:ext cx="5029200" cy="2057400"/>
            <a:chOff x="1152" y="2592"/>
            <a:chExt cx="3168" cy="1296"/>
          </a:xfrm>
        </p:grpSpPr>
        <p:grpSp>
          <p:nvGrpSpPr>
            <p:cNvPr id="9" name="Group 53"/>
            <p:cNvGrpSpPr>
              <a:grpSpLocks/>
            </p:cNvGrpSpPr>
            <p:nvPr/>
          </p:nvGrpSpPr>
          <p:grpSpPr bwMode="auto">
            <a:xfrm>
              <a:off x="1152" y="2592"/>
              <a:ext cx="3072" cy="288"/>
              <a:chOff x="1056" y="3792"/>
              <a:chExt cx="3072" cy="288"/>
            </a:xfrm>
          </p:grpSpPr>
          <p:sp>
            <p:nvSpPr>
              <p:cNvPr id="11318" name="Oval 54"/>
              <p:cNvSpPr>
                <a:spLocks noChangeArrowheads="1"/>
              </p:cNvSpPr>
              <p:nvPr/>
            </p:nvSpPr>
            <p:spPr bwMode="auto">
              <a:xfrm>
                <a:off x="2256" y="3792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I</a:t>
                </a:r>
              </a:p>
            </p:txBody>
          </p:sp>
          <p:sp>
            <p:nvSpPr>
              <p:cNvPr id="11319" name="Oval 55"/>
              <p:cNvSpPr>
                <a:spLocks noChangeArrowheads="1"/>
              </p:cNvSpPr>
              <p:nvPr/>
            </p:nvSpPr>
            <p:spPr bwMode="auto">
              <a:xfrm>
                <a:off x="2784" y="3792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N</a:t>
                </a:r>
              </a:p>
            </p:txBody>
          </p:sp>
          <p:sp>
            <p:nvSpPr>
              <p:cNvPr id="11320" name="Oval 56"/>
              <p:cNvSpPr>
                <a:spLocks noChangeArrowheads="1"/>
              </p:cNvSpPr>
              <p:nvPr/>
            </p:nvSpPr>
            <p:spPr bwMode="auto">
              <a:xfrm>
                <a:off x="3840" y="3792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P</a:t>
                </a:r>
              </a:p>
            </p:txBody>
          </p:sp>
          <p:sp>
            <p:nvSpPr>
              <p:cNvPr id="11321" name="Oval 57"/>
              <p:cNvSpPr>
                <a:spLocks noChangeArrowheads="1"/>
              </p:cNvSpPr>
              <p:nvPr/>
            </p:nvSpPr>
            <p:spPr bwMode="auto">
              <a:xfrm>
                <a:off x="1440" y="3792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1322" name="Oval 58"/>
              <p:cNvSpPr>
                <a:spLocks noChangeArrowheads="1"/>
              </p:cNvSpPr>
              <p:nvPr/>
            </p:nvSpPr>
            <p:spPr bwMode="auto">
              <a:xfrm>
                <a:off x="1824" y="3792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M</a:t>
                </a:r>
              </a:p>
            </p:txBody>
          </p:sp>
          <p:sp>
            <p:nvSpPr>
              <p:cNvPr id="11323" name="Oval 59"/>
              <p:cNvSpPr>
                <a:spLocks noChangeArrowheads="1"/>
              </p:cNvSpPr>
              <p:nvPr/>
            </p:nvSpPr>
            <p:spPr bwMode="auto">
              <a:xfrm>
                <a:off x="1056" y="3792"/>
                <a:ext cx="288" cy="288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/>
                  <a:t>Q</a:t>
                </a:r>
              </a:p>
            </p:txBody>
          </p:sp>
        </p:grpSp>
        <p:sp>
          <p:nvSpPr>
            <p:cNvPr id="11324" name="Oval 60"/>
            <p:cNvSpPr>
              <a:spLocks noChangeArrowheads="1"/>
            </p:cNvSpPr>
            <p:nvPr/>
          </p:nvSpPr>
          <p:spPr bwMode="auto">
            <a:xfrm>
              <a:off x="3288" y="3600"/>
              <a:ext cx="288" cy="28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325" name="Text Box 61"/>
            <p:cNvSpPr txBox="1">
              <a:spLocks noChangeArrowheads="1"/>
            </p:cNvSpPr>
            <p:nvPr/>
          </p:nvSpPr>
          <p:spPr bwMode="auto">
            <a:xfrm>
              <a:off x="3624" y="3600"/>
              <a:ext cx="6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Level 3</a:t>
              </a:r>
            </a:p>
          </p:txBody>
        </p:sp>
      </p:grpSp>
      <p:sp>
        <p:nvSpPr>
          <p:cNvPr id="11326" name="Rectangle 6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Level of a Node</a:t>
            </a:r>
            <a:br>
              <a:rPr lang="en-US" dirty="0"/>
            </a:br>
            <a:r>
              <a:rPr lang="en-US" sz="3200" dirty="0"/>
              <a:t>Distance from the root</a:t>
            </a:r>
            <a:endParaRPr lang="en-US" dirty="0"/>
          </a:p>
        </p:txBody>
      </p:sp>
      <p:sp>
        <p:nvSpPr>
          <p:cNvPr id="11327" name="Rectangle 63"/>
          <p:cNvSpPr>
            <a:spLocks noChangeArrowheads="1"/>
          </p:cNvSpPr>
          <p:nvPr/>
        </p:nvSpPr>
        <p:spPr bwMode="auto">
          <a:xfrm>
            <a:off x="228600" y="5791200"/>
            <a:ext cx="7772400" cy="914400"/>
          </a:xfrm>
          <a:prstGeom prst="rect">
            <a:avLst/>
          </a:prstGeom>
          <a:solidFill>
            <a:srgbClr val="CC3399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Height of the Tree = Maximum Level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The height of a tree is a height of the root.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7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Binary Trees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2209800"/>
            <a:ext cx="4495800" cy="2743200"/>
            <a:chOff x="1152" y="1152"/>
            <a:chExt cx="2832" cy="1728"/>
          </a:xfrm>
        </p:grpSpPr>
        <p:sp>
          <p:nvSpPr>
            <p:cNvPr id="14341" name="Oval 5"/>
            <p:cNvSpPr>
              <a:spLocks noChangeArrowheads="1"/>
            </p:cNvSpPr>
            <p:nvPr/>
          </p:nvSpPr>
          <p:spPr bwMode="auto">
            <a:xfrm>
              <a:off x="2592" y="11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14342" name="Oval 6"/>
            <p:cNvSpPr>
              <a:spLocks noChangeArrowheads="1"/>
            </p:cNvSpPr>
            <p:nvPr/>
          </p:nvSpPr>
          <p:spPr bwMode="auto">
            <a:xfrm>
              <a:off x="331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14343" name="Oval 7"/>
            <p:cNvSpPr>
              <a:spLocks noChangeArrowheads="1"/>
            </p:cNvSpPr>
            <p:nvPr/>
          </p:nvSpPr>
          <p:spPr bwMode="auto">
            <a:xfrm>
              <a:off x="187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14344" name="Oval 8"/>
            <p:cNvSpPr>
              <a:spLocks noChangeArrowheads="1"/>
            </p:cNvSpPr>
            <p:nvPr/>
          </p:nvSpPr>
          <p:spPr bwMode="auto">
            <a:xfrm>
              <a:off x="1536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14345" name="Oval 9"/>
            <p:cNvSpPr>
              <a:spLocks noChangeArrowheads="1"/>
            </p:cNvSpPr>
            <p:nvPr/>
          </p:nvSpPr>
          <p:spPr bwMode="auto">
            <a:xfrm>
              <a:off x="2160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14346" name="Oval 10"/>
            <p:cNvSpPr>
              <a:spLocks noChangeArrowheads="1"/>
            </p:cNvSpPr>
            <p:nvPr/>
          </p:nvSpPr>
          <p:spPr bwMode="auto">
            <a:xfrm>
              <a:off x="3072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14347" name="Oval 11"/>
            <p:cNvSpPr>
              <a:spLocks noChangeArrowheads="1"/>
            </p:cNvSpPr>
            <p:nvPr/>
          </p:nvSpPr>
          <p:spPr bwMode="auto">
            <a:xfrm>
              <a:off x="3696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X</a:t>
              </a:r>
            </a:p>
          </p:txBody>
        </p:sp>
        <p:sp>
          <p:nvSpPr>
            <p:cNvPr id="14348" name="Oval 12"/>
            <p:cNvSpPr>
              <a:spLocks noChangeArrowheads="1"/>
            </p:cNvSpPr>
            <p:nvPr/>
          </p:nvSpPr>
          <p:spPr bwMode="auto">
            <a:xfrm>
              <a:off x="3696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14349" name="Oval 13"/>
            <p:cNvSpPr>
              <a:spLocks noChangeArrowheads="1"/>
            </p:cNvSpPr>
            <p:nvPr/>
          </p:nvSpPr>
          <p:spPr bwMode="auto">
            <a:xfrm>
              <a:off x="1920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14350" name="Oval 14"/>
            <p:cNvSpPr>
              <a:spLocks noChangeArrowheads="1"/>
            </p:cNvSpPr>
            <p:nvPr/>
          </p:nvSpPr>
          <p:spPr bwMode="auto">
            <a:xfrm>
              <a:off x="1152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 flipH="1">
              <a:off x="2112" y="139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16"/>
            <p:cNvSpPr>
              <a:spLocks noChangeShapeType="1"/>
            </p:cNvSpPr>
            <p:nvPr/>
          </p:nvSpPr>
          <p:spPr bwMode="auto">
            <a:xfrm>
              <a:off x="2880" y="139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17"/>
            <p:cNvSpPr>
              <a:spLocks noChangeShapeType="1"/>
            </p:cNvSpPr>
            <p:nvPr/>
          </p:nvSpPr>
          <p:spPr bwMode="auto">
            <a:xfrm>
              <a:off x="3552" y="187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Line 18"/>
            <p:cNvSpPr>
              <a:spLocks noChangeShapeType="1"/>
            </p:cNvSpPr>
            <p:nvPr/>
          </p:nvSpPr>
          <p:spPr bwMode="auto">
            <a:xfrm flipH="1">
              <a:off x="3264" y="1920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Line 19"/>
            <p:cNvSpPr>
              <a:spLocks noChangeShapeType="1"/>
            </p:cNvSpPr>
            <p:nvPr/>
          </p:nvSpPr>
          <p:spPr bwMode="auto">
            <a:xfrm flipH="1">
              <a:off x="1728" y="187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Line 20"/>
            <p:cNvSpPr>
              <a:spLocks noChangeShapeType="1"/>
            </p:cNvSpPr>
            <p:nvPr/>
          </p:nvSpPr>
          <p:spPr bwMode="auto">
            <a:xfrm>
              <a:off x="2112" y="187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Line 21"/>
            <p:cNvSpPr>
              <a:spLocks noChangeShapeType="1"/>
            </p:cNvSpPr>
            <p:nvPr/>
          </p:nvSpPr>
          <p:spPr bwMode="auto">
            <a:xfrm>
              <a:off x="3840" y="24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Line 22"/>
            <p:cNvSpPr>
              <a:spLocks noChangeShapeType="1"/>
            </p:cNvSpPr>
            <p:nvPr/>
          </p:nvSpPr>
          <p:spPr bwMode="auto">
            <a:xfrm flipH="1">
              <a:off x="1392" y="235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Line 23"/>
            <p:cNvSpPr>
              <a:spLocks noChangeShapeType="1"/>
            </p:cNvSpPr>
            <p:nvPr/>
          </p:nvSpPr>
          <p:spPr bwMode="auto">
            <a:xfrm>
              <a:off x="1776" y="235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4953000" y="2133600"/>
            <a:ext cx="2819400" cy="3657600"/>
            <a:chOff x="768" y="1104"/>
            <a:chExt cx="1776" cy="2304"/>
          </a:xfrm>
        </p:grpSpPr>
        <p:sp>
          <p:nvSpPr>
            <p:cNvPr id="14361" name="Oval 25"/>
            <p:cNvSpPr>
              <a:spLocks noChangeArrowheads="1"/>
            </p:cNvSpPr>
            <p:nvPr/>
          </p:nvSpPr>
          <p:spPr bwMode="auto">
            <a:xfrm>
              <a:off x="2256" y="11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14362" name="Oval 26"/>
            <p:cNvSpPr>
              <a:spLocks noChangeArrowheads="1"/>
            </p:cNvSpPr>
            <p:nvPr/>
          </p:nvSpPr>
          <p:spPr bwMode="auto">
            <a:xfrm>
              <a:off x="1872" y="16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14363" name="Oval 27"/>
            <p:cNvSpPr>
              <a:spLocks noChangeArrowheads="1"/>
            </p:cNvSpPr>
            <p:nvPr/>
          </p:nvSpPr>
          <p:spPr bwMode="auto">
            <a:xfrm>
              <a:off x="1536" y="211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14364" name="Oval 28"/>
            <p:cNvSpPr>
              <a:spLocks noChangeArrowheads="1"/>
            </p:cNvSpPr>
            <p:nvPr/>
          </p:nvSpPr>
          <p:spPr bwMode="auto">
            <a:xfrm>
              <a:off x="1152" y="25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14365" name="Line 29"/>
            <p:cNvSpPr>
              <a:spLocks noChangeShapeType="1"/>
            </p:cNvSpPr>
            <p:nvPr/>
          </p:nvSpPr>
          <p:spPr bwMode="auto">
            <a:xfrm flipH="1">
              <a:off x="2112" y="1392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Line 30"/>
            <p:cNvSpPr>
              <a:spLocks noChangeShapeType="1"/>
            </p:cNvSpPr>
            <p:nvPr/>
          </p:nvSpPr>
          <p:spPr bwMode="auto">
            <a:xfrm flipH="1">
              <a:off x="1728" y="1872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Line 31"/>
            <p:cNvSpPr>
              <a:spLocks noChangeShapeType="1"/>
            </p:cNvSpPr>
            <p:nvPr/>
          </p:nvSpPr>
          <p:spPr bwMode="auto">
            <a:xfrm flipH="1">
              <a:off x="1392" y="235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Oval 32"/>
            <p:cNvSpPr>
              <a:spLocks noChangeArrowheads="1"/>
            </p:cNvSpPr>
            <p:nvPr/>
          </p:nvSpPr>
          <p:spPr bwMode="auto">
            <a:xfrm>
              <a:off x="768" y="312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14369" name="Line 33"/>
            <p:cNvSpPr>
              <a:spLocks noChangeShapeType="1"/>
            </p:cNvSpPr>
            <p:nvPr/>
          </p:nvSpPr>
          <p:spPr bwMode="auto">
            <a:xfrm flipH="1">
              <a:off x="1008" y="288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Binary Trees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209800"/>
            <a:ext cx="7239000" cy="3572184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The maximum number of nodes on level </a:t>
            </a:r>
            <a:r>
              <a:rPr lang="en-US" sz="3600" i="1" dirty="0">
                <a:solidFill>
                  <a:schemeClr val="bg1"/>
                </a:solidFill>
              </a:rPr>
              <a:t>i</a:t>
            </a:r>
            <a:r>
              <a:rPr lang="en-US" sz="3600" dirty="0">
                <a:solidFill>
                  <a:schemeClr val="bg1"/>
                </a:solidFill>
              </a:rPr>
              <a:t> of a binary tree is </a:t>
            </a:r>
            <a:r>
              <a:rPr lang="en-US" sz="3600" i="1" dirty="0">
                <a:solidFill>
                  <a:schemeClr val="bg1"/>
                </a:solidFill>
              </a:rPr>
              <a:t>2</a:t>
            </a:r>
            <a:r>
              <a:rPr lang="en-US" sz="3600" i="1" baseline="30000" dirty="0">
                <a:solidFill>
                  <a:schemeClr val="bg1"/>
                </a:solidFill>
              </a:rPr>
              <a:t>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maximum number of nodes in a binary tree of height </a:t>
            </a:r>
            <a:r>
              <a:rPr lang="en-US" sz="3600" i="1" dirty="0">
                <a:solidFill>
                  <a:schemeClr val="bg1"/>
                </a:solidFill>
              </a:rPr>
              <a:t>k</a:t>
            </a:r>
            <a:r>
              <a:rPr lang="en-US" sz="3600" dirty="0">
                <a:solidFill>
                  <a:schemeClr val="bg1"/>
                </a:solidFill>
              </a:rPr>
              <a:t> is </a:t>
            </a:r>
            <a:r>
              <a:rPr lang="en-US" sz="3600" i="1" dirty="0">
                <a:solidFill>
                  <a:schemeClr val="bg1"/>
                </a:solidFill>
              </a:rPr>
              <a:t>2</a:t>
            </a:r>
            <a:r>
              <a:rPr lang="en-US" sz="3600" i="1" baseline="30000" dirty="0">
                <a:solidFill>
                  <a:schemeClr val="bg1"/>
                </a:solidFill>
              </a:rPr>
              <a:t>k+1</a:t>
            </a:r>
            <a:r>
              <a:rPr lang="en-US" sz="3600" i="1" dirty="0">
                <a:solidFill>
                  <a:schemeClr val="bg1"/>
                </a:solidFill>
              </a:rPr>
              <a:t> – 1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685800" y="3048000"/>
            <a:ext cx="4953000" cy="26670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sz="3600"/>
              <a:t>Binary Tree Traversal</a:t>
            </a:r>
            <a:br>
              <a:rPr lang="en-US" sz="3600"/>
            </a:br>
            <a:r>
              <a:rPr lang="en-US" sz="2800"/>
              <a:t>In order Traversal (LNR)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876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void </a:t>
            </a:r>
            <a:r>
              <a:rPr lang="en-US" sz="2000" b="1" dirty="0" err="1">
                <a:latin typeface="Arial" charset="0"/>
              </a:rPr>
              <a:t>BinaryTree</a:t>
            </a:r>
            <a:r>
              <a:rPr lang="en-US" sz="2000" b="1" dirty="0">
                <a:latin typeface="Arial" charset="0"/>
              </a:rPr>
              <a:t>::</a:t>
            </a:r>
            <a:r>
              <a:rPr lang="en-US" sz="2000" b="1" dirty="0" err="1">
                <a:latin typeface="Arial" charset="0"/>
              </a:rPr>
              <a:t>InOrder</a:t>
            </a:r>
            <a:r>
              <a:rPr lang="en-US" sz="2000" b="1" dirty="0">
                <a:latin typeface="Arial" charset="0"/>
              </a:rPr>
              <a:t>(</a:t>
            </a:r>
            <a:r>
              <a:rPr lang="en-US" sz="2000" b="1" dirty="0" err="1">
                <a:latin typeface="Arial" charset="0"/>
              </a:rPr>
              <a:t>TNode</a:t>
            </a:r>
            <a:r>
              <a:rPr lang="en-US" sz="2000" b="1" dirty="0">
                <a:latin typeface="Arial" charset="0"/>
              </a:rPr>
              <a:t> *t)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if (t)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</a:t>
            </a:r>
            <a:r>
              <a:rPr lang="en-US" sz="2000" b="1" dirty="0" err="1">
                <a:latin typeface="Arial" charset="0"/>
              </a:rPr>
              <a:t>InOrder</a:t>
            </a:r>
            <a:r>
              <a:rPr lang="en-US" sz="2000" b="1" dirty="0">
                <a:latin typeface="Arial" charset="0"/>
              </a:rPr>
              <a:t>(t-&gt;</a:t>
            </a:r>
            <a:r>
              <a:rPr lang="en-US" sz="2000" b="1" dirty="0" err="1">
                <a:latin typeface="Arial" charset="0"/>
              </a:rPr>
              <a:t>getleft</a:t>
            </a:r>
            <a:r>
              <a:rPr lang="en-US" sz="2000" b="1" dirty="0">
                <a:latin typeface="Arial" charset="0"/>
              </a:rPr>
              <a:t>());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visit(t);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</a:t>
            </a:r>
            <a:r>
              <a:rPr lang="en-US" sz="2000" b="1" dirty="0" err="1">
                <a:latin typeface="Arial" charset="0"/>
              </a:rPr>
              <a:t>InOrder</a:t>
            </a:r>
            <a:r>
              <a:rPr lang="en-US" sz="2000" b="1" dirty="0">
                <a:latin typeface="Arial" charset="0"/>
              </a:rPr>
              <a:t>(t-&gt;</a:t>
            </a:r>
            <a:r>
              <a:rPr lang="en-US" sz="2000" b="1" dirty="0" err="1">
                <a:latin typeface="Arial" charset="0"/>
              </a:rPr>
              <a:t>getright</a:t>
            </a:r>
            <a:r>
              <a:rPr lang="en-US" sz="2000" b="1" dirty="0">
                <a:latin typeface="Arial" charset="0"/>
              </a:rPr>
              <a:t>());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void </a:t>
            </a:r>
            <a:r>
              <a:rPr lang="en-US" sz="2000" b="1" dirty="0" err="1">
                <a:latin typeface="Arial" charset="0"/>
              </a:rPr>
              <a:t>BinaryTree</a:t>
            </a:r>
            <a:r>
              <a:rPr lang="en-US" sz="2000" b="1" dirty="0">
                <a:latin typeface="Arial" charset="0"/>
              </a:rPr>
              <a:t>::visit (</a:t>
            </a:r>
            <a:r>
              <a:rPr lang="en-US" sz="2000" b="1" dirty="0" err="1">
                <a:latin typeface="Arial" charset="0"/>
              </a:rPr>
              <a:t>TNode</a:t>
            </a:r>
            <a:r>
              <a:rPr lang="en-US" sz="2000" b="1" dirty="0">
                <a:latin typeface="Arial" charset="0"/>
              </a:rPr>
              <a:t> *t) { </a:t>
            </a:r>
            <a:r>
              <a:rPr lang="en-US" sz="2000" b="1" dirty="0" err="1">
                <a:latin typeface="Arial" charset="0"/>
              </a:rPr>
              <a:t>cout</a:t>
            </a:r>
            <a:r>
              <a:rPr lang="en-US" sz="2000" b="1" dirty="0">
                <a:latin typeface="Arial" charset="0"/>
              </a:rPr>
              <a:t> &lt;&lt; t-&gt;</a:t>
            </a:r>
            <a:r>
              <a:rPr lang="en-US" sz="2000" b="1" dirty="0" err="1">
                <a:latin typeface="Arial" charset="0"/>
              </a:rPr>
              <a:t>getdata</a:t>
            </a:r>
            <a:r>
              <a:rPr lang="en-US" sz="2000" b="1" dirty="0">
                <a:latin typeface="Arial" charset="0"/>
              </a:rPr>
              <a:t>();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nimBg="1"/>
      <p:bldP spid="3994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" y="2209800"/>
            <a:ext cx="5029200" cy="2743200"/>
            <a:chOff x="1296" y="1392"/>
            <a:chExt cx="3168" cy="1728"/>
          </a:xfrm>
        </p:grpSpPr>
        <p:sp>
          <p:nvSpPr>
            <p:cNvPr id="40963" name="Oval 3"/>
            <p:cNvSpPr>
              <a:spLocks noChangeArrowheads="1"/>
            </p:cNvSpPr>
            <p:nvPr/>
          </p:nvSpPr>
          <p:spPr bwMode="auto">
            <a:xfrm>
              <a:off x="2736" y="13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40964" name="Oval 4"/>
            <p:cNvSpPr>
              <a:spLocks noChangeArrowheads="1"/>
            </p:cNvSpPr>
            <p:nvPr/>
          </p:nvSpPr>
          <p:spPr bwMode="auto">
            <a:xfrm>
              <a:off x="3456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40965" name="Oval 5"/>
            <p:cNvSpPr>
              <a:spLocks noChangeArrowheads="1"/>
            </p:cNvSpPr>
            <p:nvPr/>
          </p:nvSpPr>
          <p:spPr bwMode="auto">
            <a:xfrm>
              <a:off x="2016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40966" name="Oval 6"/>
            <p:cNvSpPr>
              <a:spLocks noChangeArrowheads="1"/>
            </p:cNvSpPr>
            <p:nvPr/>
          </p:nvSpPr>
          <p:spPr bwMode="auto">
            <a:xfrm>
              <a:off x="1680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40967" name="Oval 7"/>
            <p:cNvSpPr>
              <a:spLocks noChangeArrowheads="1"/>
            </p:cNvSpPr>
            <p:nvPr/>
          </p:nvSpPr>
          <p:spPr bwMode="auto">
            <a:xfrm>
              <a:off x="2304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40968" name="Oval 8"/>
            <p:cNvSpPr>
              <a:spLocks noChangeArrowheads="1"/>
            </p:cNvSpPr>
            <p:nvPr/>
          </p:nvSpPr>
          <p:spPr bwMode="auto">
            <a:xfrm>
              <a:off x="3216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40969" name="Oval 9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X</a:t>
              </a:r>
            </a:p>
          </p:txBody>
        </p:sp>
        <p:sp>
          <p:nvSpPr>
            <p:cNvPr id="40970" name="Oval 10"/>
            <p:cNvSpPr>
              <a:spLocks noChangeArrowheads="1"/>
            </p:cNvSpPr>
            <p:nvPr/>
          </p:nvSpPr>
          <p:spPr bwMode="auto">
            <a:xfrm>
              <a:off x="4176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40971" name="Oval 11"/>
            <p:cNvSpPr>
              <a:spLocks noChangeArrowheads="1"/>
            </p:cNvSpPr>
            <p:nvPr/>
          </p:nvSpPr>
          <p:spPr bwMode="auto">
            <a:xfrm>
              <a:off x="2064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40972" name="Oval 12"/>
            <p:cNvSpPr>
              <a:spLocks noChangeArrowheads="1"/>
            </p:cNvSpPr>
            <p:nvPr/>
          </p:nvSpPr>
          <p:spPr bwMode="auto">
            <a:xfrm>
              <a:off x="1296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 flipH="1">
              <a:off x="2256" y="163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Line 14"/>
            <p:cNvSpPr>
              <a:spLocks noChangeShapeType="1"/>
            </p:cNvSpPr>
            <p:nvPr/>
          </p:nvSpPr>
          <p:spPr bwMode="auto">
            <a:xfrm>
              <a:off x="3024" y="163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>
              <a:off x="3696" y="211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Line 16"/>
            <p:cNvSpPr>
              <a:spLocks noChangeShapeType="1"/>
            </p:cNvSpPr>
            <p:nvPr/>
          </p:nvSpPr>
          <p:spPr bwMode="auto">
            <a:xfrm flipH="1">
              <a:off x="3408" y="2160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7" name="Line 17"/>
            <p:cNvSpPr>
              <a:spLocks noChangeShapeType="1"/>
            </p:cNvSpPr>
            <p:nvPr/>
          </p:nvSpPr>
          <p:spPr bwMode="auto">
            <a:xfrm flipH="1">
              <a:off x="1872" y="211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Line 18"/>
            <p:cNvSpPr>
              <a:spLocks noChangeShapeType="1"/>
            </p:cNvSpPr>
            <p:nvPr/>
          </p:nvSpPr>
          <p:spPr bwMode="auto">
            <a:xfrm>
              <a:off x="2256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Line 19"/>
            <p:cNvSpPr>
              <a:spLocks noChangeShapeType="1"/>
            </p:cNvSpPr>
            <p:nvPr/>
          </p:nvSpPr>
          <p:spPr bwMode="auto">
            <a:xfrm>
              <a:off x="4080" y="259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Line 20"/>
            <p:cNvSpPr>
              <a:spLocks noChangeShapeType="1"/>
            </p:cNvSpPr>
            <p:nvPr/>
          </p:nvSpPr>
          <p:spPr bwMode="auto">
            <a:xfrm flipH="1">
              <a:off x="1536" y="259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Line 21"/>
            <p:cNvSpPr>
              <a:spLocks noChangeShapeType="1"/>
            </p:cNvSpPr>
            <p:nvPr/>
          </p:nvSpPr>
          <p:spPr bwMode="auto">
            <a:xfrm>
              <a:off x="1920" y="259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982" name="Oval 22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0983" name="Oval 23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0984" name="Oval 24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0985" name="Oval 25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0986" name="Oval 26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0987" name="Oval 27"/>
          <p:cNvSpPr>
            <a:spLocks noChangeArrowheads="1"/>
          </p:cNvSpPr>
          <p:nvPr/>
        </p:nvSpPr>
        <p:spPr bwMode="auto">
          <a:xfrm>
            <a:off x="1524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0988" name="Oval 28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0989" name="Oval 29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0990" name="Oval 30"/>
          <p:cNvSpPr>
            <a:spLocks noChangeArrowheads="1"/>
          </p:cNvSpPr>
          <p:nvPr/>
        </p:nvSpPr>
        <p:spPr bwMode="auto">
          <a:xfrm>
            <a:off x="6858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0991" name="Oval 31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0992" name="Oval 32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0993" name="Oval 33"/>
          <p:cNvSpPr>
            <a:spLocks noChangeArrowheads="1"/>
          </p:cNvSpPr>
          <p:nvPr/>
        </p:nvSpPr>
        <p:spPr bwMode="auto">
          <a:xfrm>
            <a:off x="12192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0994" name="Oval 34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0995" name="Oval 35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0996" name="Oval 36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0997" name="Oval 37"/>
          <p:cNvSpPr>
            <a:spLocks noChangeArrowheads="1"/>
          </p:cNvSpPr>
          <p:nvPr/>
        </p:nvSpPr>
        <p:spPr bwMode="auto">
          <a:xfrm>
            <a:off x="17526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0998" name="Oval 38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0999" name="Oval 39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1000" name="Oval 40"/>
          <p:cNvSpPr>
            <a:spLocks noChangeArrowheads="1"/>
          </p:cNvSpPr>
          <p:nvPr/>
        </p:nvSpPr>
        <p:spPr bwMode="auto">
          <a:xfrm>
            <a:off x="22860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1001" name="Oval 41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1002" name="Oval 42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1003" name="Oval 43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1004" name="Oval 44"/>
          <p:cNvSpPr>
            <a:spLocks noChangeArrowheads="1"/>
          </p:cNvSpPr>
          <p:nvPr/>
        </p:nvSpPr>
        <p:spPr bwMode="auto">
          <a:xfrm>
            <a:off x="28194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1005" name="Oval 45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1006" name="Oval 46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1007" name="Oval 47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1008" name="Oval 48"/>
          <p:cNvSpPr>
            <a:spLocks noChangeArrowheads="1"/>
          </p:cNvSpPr>
          <p:nvPr/>
        </p:nvSpPr>
        <p:spPr bwMode="auto">
          <a:xfrm>
            <a:off x="33528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1009" name="Oval 49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1010" name="Oval 50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1011" name="Oval 51"/>
          <p:cNvSpPr>
            <a:spLocks noChangeArrowheads="1"/>
          </p:cNvSpPr>
          <p:nvPr/>
        </p:nvSpPr>
        <p:spPr bwMode="auto">
          <a:xfrm>
            <a:off x="38862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1012" name="Oval 52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1013" name="Oval 53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1014" name="Oval 54"/>
          <p:cNvSpPr>
            <a:spLocks noChangeArrowheads="1"/>
          </p:cNvSpPr>
          <p:nvPr/>
        </p:nvSpPr>
        <p:spPr bwMode="auto">
          <a:xfrm>
            <a:off x="44196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1015" name="Oval 55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1016" name="Oval 56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1017" name="Oval 57"/>
          <p:cNvSpPr>
            <a:spLocks noChangeArrowheads="1"/>
          </p:cNvSpPr>
          <p:nvPr/>
        </p:nvSpPr>
        <p:spPr bwMode="auto">
          <a:xfrm>
            <a:off x="49530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1018" name="Oval 58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1019" name="Oval 59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1020" name="Oval 60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1021" name="Oval 61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grpSp>
        <p:nvGrpSpPr>
          <p:cNvPr id="3" name="Group 62"/>
          <p:cNvGrpSpPr>
            <a:grpSpLocks/>
          </p:cNvGrpSpPr>
          <p:nvPr/>
        </p:nvGrpSpPr>
        <p:grpSpPr bwMode="auto">
          <a:xfrm>
            <a:off x="4724400" y="1524000"/>
            <a:ext cx="3657600" cy="2209800"/>
            <a:chOff x="3360" y="672"/>
            <a:chExt cx="2304" cy="1392"/>
          </a:xfrm>
        </p:grpSpPr>
        <p:sp>
          <p:nvSpPr>
            <p:cNvPr id="41023" name="Rectangle 63"/>
            <p:cNvSpPr>
              <a:spLocks noChangeArrowheads="1"/>
            </p:cNvSpPr>
            <p:nvPr/>
          </p:nvSpPr>
          <p:spPr bwMode="auto">
            <a:xfrm>
              <a:off x="3360" y="1536"/>
              <a:ext cx="2112" cy="240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4" name="Rectangle 64"/>
            <p:cNvSpPr>
              <a:spLocks noChangeArrowheads="1"/>
            </p:cNvSpPr>
            <p:nvPr/>
          </p:nvSpPr>
          <p:spPr bwMode="auto">
            <a:xfrm>
              <a:off x="3360" y="1248"/>
              <a:ext cx="2112" cy="240"/>
            </a:xfrm>
            <a:prstGeom prst="rect">
              <a:avLst/>
            </a:prstGeom>
            <a:solidFill>
              <a:srgbClr val="CC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5" name="Rectangle 65"/>
            <p:cNvSpPr>
              <a:spLocks noChangeArrowheads="1"/>
            </p:cNvSpPr>
            <p:nvPr/>
          </p:nvSpPr>
          <p:spPr bwMode="auto">
            <a:xfrm>
              <a:off x="3360" y="960"/>
              <a:ext cx="2112" cy="240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6" name="Rectangle 66"/>
            <p:cNvSpPr>
              <a:spLocks noChangeArrowheads="1"/>
            </p:cNvSpPr>
            <p:nvPr/>
          </p:nvSpPr>
          <p:spPr bwMode="auto">
            <a:xfrm>
              <a:off x="3360" y="1824"/>
              <a:ext cx="21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7" name="Rectangle 67"/>
            <p:cNvSpPr>
              <a:spLocks noChangeArrowheads="1"/>
            </p:cNvSpPr>
            <p:nvPr/>
          </p:nvSpPr>
          <p:spPr bwMode="auto">
            <a:xfrm>
              <a:off x="3360" y="672"/>
              <a:ext cx="21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8" name="Rectangle 68"/>
            <p:cNvSpPr>
              <a:spLocks noChangeArrowheads="1"/>
            </p:cNvSpPr>
            <p:nvPr/>
          </p:nvSpPr>
          <p:spPr bwMode="auto">
            <a:xfrm>
              <a:off x="3408" y="709"/>
              <a:ext cx="2256" cy="1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if (t) {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     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InOrder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(t-&gt;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getleft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());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     visit(t);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     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InOrder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(t-&gt;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getright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());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}</a:t>
              </a:r>
            </a:p>
          </p:txBody>
        </p:sp>
      </p:grpSp>
      <p:sp>
        <p:nvSpPr>
          <p:cNvPr id="41029" name="Rectangle 69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  <a:ln/>
        </p:spPr>
        <p:txBody>
          <a:bodyPr>
            <a:normAutofit/>
          </a:bodyPr>
          <a:lstStyle/>
          <a:p>
            <a:r>
              <a:rPr lang="en-US" sz="4000"/>
              <a:t>Binary Tree Traversal</a:t>
            </a:r>
            <a:br>
              <a:rPr lang="en-US" sz="4000"/>
            </a:br>
            <a:r>
              <a:rPr lang="en-US" sz="3200"/>
              <a:t>In Order Traversal (LNR)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0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0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0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1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1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1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1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1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1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1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1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1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1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1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1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1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41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41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4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1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4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41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4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4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2" grpId="0" animBg="1" autoUpdateAnimBg="0"/>
      <p:bldP spid="40983" grpId="0" animBg="1" autoUpdateAnimBg="0"/>
      <p:bldP spid="40984" grpId="0" animBg="1" autoUpdateAnimBg="0"/>
      <p:bldP spid="40985" grpId="0" animBg="1" autoUpdateAnimBg="0"/>
      <p:bldP spid="40986" grpId="0" animBg="1" autoUpdateAnimBg="0"/>
      <p:bldP spid="40987" grpId="0" animBg="1" autoUpdateAnimBg="0"/>
      <p:bldP spid="40988" grpId="0" animBg="1" autoUpdateAnimBg="0"/>
      <p:bldP spid="40989" grpId="0" animBg="1" autoUpdateAnimBg="0"/>
      <p:bldP spid="40990" grpId="0" animBg="1" autoUpdateAnimBg="0"/>
      <p:bldP spid="40991" grpId="0" animBg="1" autoUpdateAnimBg="0"/>
      <p:bldP spid="40992" grpId="0" animBg="1" autoUpdateAnimBg="0"/>
      <p:bldP spid="40993" grpId="0" animBg="1" autoUpdateAnimBg="0"/>
      <p:bldP spid="40994" grpId="0" animBg="1" autoUpdateAnimBg="0"/>
      <p:bldP spid="40995" grpId="0" animBg="1" autoUpdateAnimBg="0"/>
      <p:bldP spid="40996" grpId="0" animBg="1" autoUpdateAnimBg="0"/>
      <p:bldP spid="40997" grpId="0" animBg="1" autoUpdateAnimBg="0"/>
      <p:bldP spid="40998" grpId="0" animBg="1" autoUpdateAnimBg="0"/>
      <p:bldP spid="40999" grpId="0" animBg="1" autoUpdateAnimBg="0"/>
      <p:bldP spid="41000" grpId="0" animBg="1" autoUpdateAnimBg="0"/>
      <p:bldP spid="41001" grpId="0" animBg="1" autoUpdateAnimBg="0"/>
      <p:bldP spid="41002" grpId="0" animBg="1" autoUpdateAnimBg="0"/>
      <p:bldP spid="41003" grpId="0" animBg="1" autoUpdateAnimBg="0"/>
      <p:bldP spid="41004" grpId="0" animBg="1" autoUpdateAnimBg="0"/>
      <p:bldP spid="41005" grpId="0" animBg="1" autoUpdateAnimBg="0"/>
      <p:bldP spid="41006" grpId="0" animBg="1" autoUpdateAnimBg="0"/>
      <p:bldP spid="41007" grpId="0" animBg="1" autoUpdateAnimBg="0"/>
      <p:bldP spid="41008" grpId="0" animBg="1" autoUpdateAnimBg="0"/>
      <p:bldP spid="41009" grpId="0" animBg="1" autoUpdateAnimBg="0"/>
      <p:bldP spid="41010" grpId="0" animBg="1" autoUpdateAnimBg="0"/>
      <p:bldP spid="41011" grpId="0" animBg="1" autoUpdateAnimBg="0"/>
      <p:bldP spid="41012" grpId="0" animBg="1" autoUpdateAnimBg="0"/>
      <p:bldP spid="41013" grpId="0" animBg="1" autoUpdateAnimBg="0"/>
      <p:bldP spid="41014" grpId="0" animBg="1" autoUpdateAnimBg="0"/>
      <p:bldP spid="41015" grpId="0" animBg="1" autoUpdateAnimBg="0"/>
      <p:bldP spid="41016" grpId="0" animBg="1" autoUpdateAnimBg="0"/>
      <p:bldP spid="41017" grpId="0" animBg="1" autoUpdateAnimBg="0"/>
      <p:bldP spid="41018" grpId="0" animBg="1" autoUpdateAnimBg="0"/>
      <p:bldP spid="41019" grpId="0" animBg="1" autoUpdateAnimBg="0"/>
      <p:bldP spid="41020" grpId="0" animBg="1" autoUpdateAnimBg="0"/>
      <p:bldP spid="41021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457200" y="2819400"/>
            <a:ext cx="5562600" cy="28194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sz="3600"/>
              <a:t>Binary Tree Traversal</a:t>
            </a:r>
            <a:br>
              <a:rPr lang="en-US" sz="3600"/>
            </a:br>
            <a:r>
              <a:rPr lang="en-US" sz="2800"/>
              <a:t>Pre Order Traversal (NLR)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void </a:t>
            </a:r>
            <a:r>
              <a:rPr lang="en-US" sz="2000" b="1" dirty="0" err="1">
                <a:latin typeface="Arial" charset="0"/>
              </a:rPr>
              <a:t>BinaryTree</a:t>
            </a:r>
            <a:r>
              <a:rPr lang="en-US" sz="2000" b="1" dirty="0">
                <a:latin typeface="Arial" charset="0"/>
              </a:rPr>
              <a:t>::</a:t>
            </a:r>
            <a:r>
              <a:rPr lang="en-US" sz="2000" b="1" dirty="0" err="1">
                <a:latin typeface="Arial" charset="0"/>
              </a:rPr>
              <a:t>PreOrder</a:t>
            </a:r>
            <a:r>
              <a:rPr lang="en-US" sz="2000" b="1" dirty="0">
                <a:latin typeface="Arial" charset="0"/>
              </a:rPr>
              <a:t>(</a:t>
            </a:r>
            <a:r>
              <a:rPr lang="en-US" sz="2000" b="1" dirty="0" err="1">
                <a:latin typeface="Arial" charset="0"/>
              </a:rPr>
              <a:t>TNode</a:t>
            </a:r>
            <a:r>
              <a:rPr lang="en-US" sz="2000" b="1" dirty="0">
                <a:latin typeface="Arial" charset="0"/>
              </a:rPr>
              <a:t> *t)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if (t)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visit(t);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</a:t>
            </a:r>
            <a:r>
              <a:rPr lang="en-US" sz="2000" b="1" dirty="0" err="1">
                <a:latin typeface="Arial" charset="0"/>
              </a:rPr>
              <a:t>PreOrder</a:t>
            </a:r>
            <a:r>
              <a:rPr lang="en-US" sz="2000" b="1" dirty="0">
                <a:latin typeface="Arial" charset="0"/>
              </a:rPr>
              <a:t>(t-&gt;</a:t>
            </a:r>
            <a:r>
              <a:rPr lang="en-US" sz="2000" b="1" dirty="0" err="1">
                <a:latin typeface="Arial" charset="0"/>
              </a:rPr>
              <a:t>getleft</a:t>
            </a:r>
            <a:r>
              <a:rPr lang="en-US" sz="2000" b="1" dirty="0">
                <a:latin typeface="Arial" charset="0"/>
              </a:rPr>
              <a:t>());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</a:t>
            </a:r>
            <a:r>
              <a:rPr lang="en-US" sz="2000" b="1" dirty="0" err="1">
                <a:latin typeface="Arial" charset="0"/>
              </a:rPr>
              <a:t>PreOrder</a:t>
            </a:r>
            <a:r>
              <a:rPr lang="en-US" sz="2000" b="1" dirty="0">
                <a:latin typeface="Arial" charset="0"/>
              </a:rPr>
              <a:t>(t-&gt;</a:t>
            </a:r>
            <a:r>
              <a:rPr lang="en-US" sz="2000" b="1" dirty="0" err="1">
                <a:latin typeface="Arial" charset="0"/>
              </a:rPr>
              <a:t>getright</a:t>
            </a:r>
            <a:r>
              <a:rPr lang="en-US" sz="2000" b="1" dirty="0">
                <a:latin typeface="Arial" charset="0"/>
              </a:rPr>
              <a:t>());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void </a:t>
            </a:r>
            <a:r>
              <a:rPr lang="en-US" sz="2000" b="1" dirty="0" err="1">
                <a:latin typeface="Arial" charset="0"/>
              </a:rPr>
              <a:t>BinaryTree</a:t>
            </a:r>
            <a:r>
              <a:rPr lang="en-US" sz="2000" b="1" dirty="0">
                <a:latin typeface="Arial" charset="0"/>
              </a:rPr>
              <a:t>::visit (</a:t>
            </a:r>
            <a:r>
              <a:rPr lang="en-US" sz="2000" b="1" dirty="0" err="1">
                <a:latin typeface="Arial" charset="0"/>
              </a:rPr>
              <a:t>TreeNode</a:t>
            </a:r>
            <a:r>
              <a:rPr lang="en-US" sz="2000" b="1" dirty="0">
                <a:latin typeface="Arial" charset="0"/>
              </a:rPr>
              <a:t> *t) { </a:t>
            </a:r>
            <a:r>
              <a:rPr lang="en-US" sz="2000" b="1" dirty="0" err="1">
                <a:latin typeface="Arial" charset="0"/>
              </a:rPr>
              <a:t>cout</a:t>
            </a:r>
            <a:r>
              <a:rPr lang="en-US" sz="2000" b="1" dirty="0">
                <a:latin typeface="Arial" charset="0"/>
              </a:rPr>
              <a:t> &lt;&lt; t-&gt;</a:t>
            </a:r>
            <a:r>
              <a:rPr lang="en-US" sz="2000" b="1" dirty="0" err="1">
                <a:latin typeface="Arial" charset="0"/>
              </a:rPr>
              <a:t>getdata</a:t>
            </a:r>
            <a:r>
              <a:rPr lang="en-US" sz="2000" b="1" dirty="0">
                <a:latin typeface="Arial" charset="0"/>
              </a:rPr>
              <a:t>();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/>
      <p:bldP spid="4198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" y="2209800"/>
            <a:ext cx="5029200" cy="2743200"/>
            <a:chOff x="1296" y="1392"/>
            <a:chExt cx="3168" cy="1728"/>
          </a:xfrm>
        </p:grpSpPr>
        <p:sp>
          <p:nvSpPr>
            <p:cNvPr id="43011" name="Oval 3"/>
            <p:cNvSpPr>
              <a:spLocks noChangeArrowheads="1"/>
            </p:cNvSpPr>
            <p:nvPr/>
          </p:nvSpPr>
          <p:spPr bwMode="auto">
            <a:xfrm>
              <a:off x="2736" y="13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43012" name="Oval 4"/>
            <p:cNvSpPr>
              <a:spLocks noChangeArrowheads="1"/>
            </p:cNvSpPr>
            <p:nvPr/>
          </p:nvSpPr>
          <p:spPr bwMode="auto">
            <a:xfrm>
              <a:off x="3456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43013" name="Oval 5"/>
            <p:cNvSpPr>
              <a:spLocks noChangeArrowheads="1"/>
            </p:cNvSpPr>
            <p:nvPr/>
          </p:nvSpPr>
          <p:spPr bwMode="auto">
            <a:xfrm>
              <a:off x="2016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43014" name="Oval 6"/>
            <p:cNvSpPr>
              <a:spLocks noChangeArrowheads="1"/>
            </p:cNvSpPr>
            <p:nvPr/>
          </p:nvSpPr>
          <p:spPr bwMode="auto">
            <a:xfrm>
              <a:off x="1680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43015" name="Oval 7"/>
            <p:cNvSpPr>
              <a:spLocks noChangeArrowheads="1"/>
            </p:cNvSpPr>
            <p:nvPr/>
          </p:nvSpPr>
          <p:spPr bwMode="auto">
            <a:xfrm>
              <a:off x="2304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43016" name="Oval 8"/>
            <p:cNvSpPr>
              <a:spLocks noChangeArrowheads="1"/>
            </p:cNvSpPr>
            <p:nvPr/>
          </p:nvSpPr>
          <p:spPr bwMode="auto">
            <a:xfrm>
              <a:off x="3216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43017" name="Oval 9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X</a:t>
              </a:r>
            </a:p>
          </p:txBody>
        </p:sp>
        <p:sp>
          <p:nvSpPr>
            <p:cNvPr id="43018" name="Oval 10"/>
            <p:cNvSpPr>
              <a:spLocks noChangeArrowheads="1"/>
            </p:cNvSpPr>
            <p:nvPr/>
          </p:nvSpPr>
          <p:spPr bwMode="auto">
            <a:xfrm>
              <a:off x="4176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43019" name="Oval 11"/>
            <p:cNvSpPr>
              <a:spLocks noChangeArrowheads="1"/>
            </p:cNvSpPr>
            <p:nvPr/>
          </p:nvSpPr>
          <p:spPr bwMode="auto">
            <a:xfrm>
              <a:off x="2064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43020" name="Oval 12"/>
            <p:cNvSpPr>
              <a:spLocks noChangeArrowheads="1"/>
            </p:cNvSpPr>
            <p:nvPr/>
          </p:nvSpPr>
          <p:spPr bwMode="auto">
            <a:xfrm>
              <a:off x="1296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 flipH="1">
              <a:off x="2256" y="163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>
              <a:off x="3024" y="163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>
              <a:off x="3696" y="211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024" name="Line 16"/>
            <p:cNvSpPr>
              <a:spLocks noChangeShapeType="1"/>
            </p:cNvSpPr>
            <p:nvPr/>
          </p:nvSpPr>
          <p:spPr bwMode="auto">
            <a:xfrm flipH="1">
              <a:off x="3408" y="2160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025" name="Line 17"/>
            <p:cNvSpPr>
              <a:spLocks noChangeShapeType="1"/>
            </p:cNvSpPr>
            <p:nvPr/>
          </p:nvSpPr>
          <p:spPr bwMode="auto">
            <a:xfrm flipH="1">
              <a:off x="1872" y="211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>
              <a:off x="2256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>
              <a:off x="4080" y="259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028" name="Line 20"/>
            <p:cNvSpPr>
              <a:spLocks noChangeShapeType="1"/>
            </p:cNvSpPr>
            <p:nvPr/>
          </p:nvSpPr>
          <p:spPr bwMode="auto">
            <a:xfrm flipH="1">
              <a:off x="1536" y="259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029" name="Line 21"/>
            <p:cNvSpPr>
              <a:spLocks noChangeShapeType="1"/>
            </p:cNvSpPr>
            <p:nvPr/>
          </p:nvSpPr>
          <p:spPr bwMode="auto">
            <a:xfrm>
              <a:off x="1920" y="259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030" name="Oval 22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3031" name="Oval 23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3032" name="Oval 24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3033" name="Oval 25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3034" name="Oval 26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3035" name="Oval 27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3036" name="Oval 28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3037" name="Oval 29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3038" name="Oval 30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3039" name="Oval 31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3040" name="Oval 32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3041" name="Oval 33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3042" name="Oval 34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3043" name="Oval 35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3044" name="Oval 36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3045" name="Oval 37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3046" name="Oval 38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3047" name="Oval 39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3048" name="Oval 40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3049" name="Oval 41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3050" name="Oval 42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3051" name="Oval 43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3052" name="Oval 44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3053" name="Oval 45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3054" name="Oval 46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3055" name="Oval 47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3056" name="Oval 48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3057" name="Oval 49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3058" name="Oval 50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3059" name="Oval 51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4724400" y="1524000"/>
            <a:ext cx="3657600" cy="2209800"/>
            <a:chOff x="3360" y="672"/>
            <a:chExt cx="2304" cy="1392"/>
          </a:xfrm>
        </p:grpSpPr>
        <p:sp>
          <p:nvSpPr>
            <p:cNvPr id="43061" name="Rectangle 53"/>
            <p:cNvSpPr>
              <a:spLocks noChangeArrowheads="1"/>
            </p:cNvSpPr>
            <p:nvPr/>
          </p:nvSpPr>
          <p:spPr bwMode="auto">
            <a:xfrm>
              <a:off x="3360" y="1536"/>
              <a:ext cx="2112" cy="240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2" name="Rectangle 54"/>
            <p:cNvSpPr>
              <a:spLocks noChangeArrowheads="1"/>
            </p:cNvSpPr>
            <p:nvPr/>
          </p:nvSpPr>
          <p:spPr bwMode="auto">
            <a:xfrm>
              <a:off x="3360" y="1248"/>
              <a:ext cx="2112" cy="240"/>
            </a:xfrm>
            <a:prstGeom prst="rect">
              <a:avLst/>
            </a:prstGeom>
            <a:solidFill>
              <a:srgbClr val="CC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3" name="Rectangle 55"/>
            <p:cNvSpPr>
              <a:spLocks noChangeArrowheads="1"/>
            </p:cNvSpPr>
            <p:nvPr/>
          </p:nvSpPr>
          <p:spPr bwMode="auto">
            <a:xfrm>
              <a:off x="3360" y="960"/>
              <a:ext cx="2112" cy="240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4" name="Rectangle 56"/>
            <p:cNvSpPr>
              <a:spLocks noChangeArrowheads="1"/>
            </p:cNvSpPr>
            <p:nvPr/>
          </p:nvSpPr>
          <p:spPr bwMode="auto">
            <a:xfrm>
              <a:off x="3360" y="1824"/>
              <a:ext cx="21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5" name="Rectangle 57"/>
            <p:cNvSpPr>
              <a:spLocks noChangeArrowheads="1"/>
            </p:cNvSpPr>
            <p:nvPr/>
          </p:nvSpPr>
          <p:spPr bwMode="auto">
            <a:xfrm>
              <a:off x="3360" y="672"/>
              <a:ext cx="21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6" name="Rectangle 58"/>
            <p:cNvSpPr>
              <a:spLocks noChangeArrowheads="1"/>
            </p:cNvSpPr>
            <p:nvPr/>
          </p:nvSpPr>
          <p:spPr bwMode="auto">
            <a:xfrm>
              <a:off x="3408" y="709"/>
              <a:ext cx="2256" cy="1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if (t) {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  visit(t);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  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PreOrder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(t-&gt;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getleft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());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  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PreOrder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(t-&gt;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getright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());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}</a:t>
              </a:r>
            </a:p>
          </p:txBody>
        </p:sp>
      </p:grpSp>
      <p:sp>
        <p:nvSpPr>
          <p:cNvPr id="43067" name="Rectangle 59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  <a:ln/>
        </p:spPr>
        <p:txBody>
          <a:bodyPr>
            <a:normAutofit/>
          </a:bodyPr>
          <a:lstStyle/>
          <a:p>
            <a:r>
              <a:rPr lang="en-US" sz="4000" dirty="0"/>
              <a:t>Binary Tree Traversal</a:t>
            </a:r>
            <a:br>
              <a:rPr lang="en-US" sz="4000" dirty="0"/>
            </a:br>
            <a:r>
              <a:rPr lang="en-US" sz="3200" dirty="0"/>
              <a:t>Pre Order Traversal (NLR)</a:t>
            </a:r>
          </a:p>
        </p:txBody>
      </p:sp>
      <p:sp>
        <p:nvSpPr>
          <p:cNvPr id="43068" name="Oval 60"/>
          <p:cNvSpPr>
            <a:spLocks noChangeArrowheads="1"/>
          </p:cNvSpPr>
          <p:nvPr/>
        </p:nvSpPr>
        <p:spPr bwMode="auto">
          <a:xfrm>
            <a:off x="1524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3069" name="Oval 61"/>
          <p:cNvSpPr>
            <a:spLocks noChangeArrowheads="1"/>
          </p:cNvSpPr>
          <p:nvPr/>
        </p:nvSpPr>
        <p:spPr bwMode="auto">
          <a:xfrm>
            <a:off x="6858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3070" name="Oval 62"/>
          <p:cNvSpPr>
            <a:spLocks noChangeArrowheads="1"/>
          </p:cNvSpPr>
          <p:nvPr/>
        </p:nvSpPr>
        <p:spPr bwMode="auto">
          <a:xfrm>
            <a:off x="12192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3071" name="Oval 63"/>
          <p:cNvSpPr>
            <a:spLocks noChangeArrowheads="1"/>
          </p:cNvSpPr>
          <p:nvPr/>
        </p:nvSpPr>
        <p:spPr bwMode="auto">
          <a:xfrm>
            <a:off x="17526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3072" name="Oval 64"/>
          <p:cNvSpPr>
            <a:spLocks noChangeArrowheads="1"/>
          </p:cNvSpPr>
          <p:nvPr/>
        </p:nvSpPr>
        <p:spPr bwMode="auto">
          <a:xfrm>
            <a:off x="22860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3073" name="Oval 65"/>
          <p:cNvSpPr>
            <a:spLocks noChangeArrowheads="1"/>
          </p:cNvSpPr>
          <p:nvPr/>
        </p:nvSpPr>
        <p:spPr bwMode="auto">
          <a:xfrm>
            <a:off x="28194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3074" name="Oval 66"/>
          <p:cNvSpPr>
            <a:spLocks noChangeArrowheads="1"/>
          </p:cNvSpPr>
          <p:nvPr/>
        </p:nvSpPr>
        <p:spPr bwMode="auto">
          <a:xfrm>
            <a:off x="33528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3075" name="Oval 67"/>
          <p:cNvSpPr>
            <a:spLocks noChangeArrowheads="1"/>
          </p:cNvSpPr>
          <p:nvPr/>
        </p:nvSpPr>
        <p:spPr bwMode="auto">
          <a:xfrm>
            <a:off x="38862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3076" name="Oval 68"/>
          <p:cNvSpPr>
            <a:spLocks noChangeArrowheads="1"/>
          </p:cNvSpPr>
          <p:nvPr/>
        </p:nvSpPr>
        <p:spPr bwMode="auto">
          <a:xfrm>
            <a:off x="44196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3077" name="Oval 69"/>
          <p:cNvSpPr>
            <a:spLocks noChangeArrowheads="1"/>
          </p:cNvSpPr>
          <p:nvPr/>
        </p:nvSpPr>
        <p:spPr bwMode="auto">
          <a:xfrm>
            <a:off x="49530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3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3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3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3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3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3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3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3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3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3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3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3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3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43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3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3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3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4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3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43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43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43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43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1000" fill="hold"/>
                                        <p:tgtEl>
                                          <p:spTgt spid="43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1000" fill="hold"/>
                                        <p:tgtEl>
                                          <p:spTgt spid="43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00" fill="hold"/>
                                        <p:tgtEl>
                                          <p:spTgt spid="43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00" fill="hold"/>
                                        <p:tgtEl>
                                          <p:spTgt spid="43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43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43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00" fill="hold"/>
                                        <p:tgtEl>
                                          <p:spTgt spid="4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00" fill="hold"/>
                                        <p:tgtEl>
                                          <p:spTgt spid="4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1000" fill="hold"/>
                                        <p:tgtEl>
                                          <p:spTgt spid="43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1000" fill="hold"/>
                                        <p:tgtEl>
                                          <p:spTgt spid="43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1000" fill="hold"/>
                                        <p:tgtEl>
                                          <p:spTgt spid="4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1000" fill="hold"/>
                                        <p:tgtEl>
                                          <p:spTgt spid="4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1000" fill="hold"/>
                                        <p:tgtEl>
                                          <p:spTgt spid="43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1000" fill="hold"/>
                                        <p:tgtEl>
                                          <p:spTgt spid="43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000" fill="hold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1000" fill="hold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10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1000" fill="hold"/>
                                        <p:tgtEl>
                                          <p:spTgt spid="43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1000" fill="hold"/>
                                        <p:tgtEl>
                                          <p:spTgt spid="43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1000" fill="hold"/>
                                        <p:tgtEl>
                                          <p:spTgt spid="43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1000" fill="hold"/>
                                        <p:tgtEl>
                                          <p:spTgt spid="4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1000" fill="hold"/>
                                        <p:tgtEl>
                                          <p:spTgt spid="4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1000" fill="hold"/>
                                        <p:tgtEl>
                                          <p:spTgt spid="43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1000" fill="hold"/>
                                        <p:tgtEl>
                                          <p:spTgt spid="43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1000" fill="hold"/>
                                        <p:tgtEl>
                                          <p:spTgt spid="43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1000" fill="hold"/>
                                        <p:tgtEl>
                                          <p:spTgt spid="43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1000" fill="hold"/>
                                        <p:tgtEl>
                                          <p:spTgt spid="4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1000" fill="hold"/>
                                        <p:tgtEl>
                                          <p:spTgt spid="4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000" fill="hold"/>
                                        <p:tgtEl>
                                          <p:spTgt spid="43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000" fill="hold"/>
                                        <p:tgtEl>
                                          <p:spTgt spid="43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1000" fill="hold"/>
                                        <p:tgtEl>
                                          <p:spTgt spid="43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1000" fill="hold"/>
                                        <p:tgtEl>
                                          <p:spTgt spid="43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1000" fill="hold"/>
                                        <p:tgtEl>
                                          <p:spTgt spid="43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1000" fill="hold"/>
                                        <p:tgtEl>
                                          <p:spTgt spid="43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1000" fill="hold"/>
                                        <p:tgtEl>
                                          <p:spTgt spid="43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1000" fill="hold"/>
                                        <p:tgtEl>
                                          <p:spTgt spid="43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1000" fill="hold"/>
                                        <p:tgtEl>
                                          <p:spTgt spid="43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1000" fill="hold"/>
                                        <p:tgtEl>
                                          <p:spTgt spid="43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30" grpId="0" animBg="1" autoUpdateAnimBg="0"/>
      <p:bldP spid="43031" grpId="0" animBg="1" autoUpdateAnimBg="0"/>
      <p:bldP spid="43032" grpId="0" animBg="1" autoUpdateAnimBg="0"/>
      <p:bldP spid="43033" grpId="0" animBg="1" autoUpdateAnimBg="0"/>
      <p:bldP spid="43034" grpId="0" animBg="1" autoUpdateAnimBg="0"/>
      <p:bldP spid="43035" grpId="0" animBg="1" autoUpdateAnimBg="0"/>
      <p:bldP spid="43036" grpId="0" animBg="1" autoUpdateAnimBg="0"/>
      <p:bldP spid="43037" grpId="0" animBg="1" autoUpdateAnimBg="0"/>
      <p:bldP spid="43038" grpId="0" animBg="1" autoUpdateAnimBg="0"/>
      <p:bldP spid="43039" grpId="0" animBg="1" autoUpdateAnimBg="0"/>
      <p:bldP spid="43040" grpId="0" animBg="1" autoUpdateAnimBg="0"/>
      <p:bldP spid="43041" grpId="0" animBg="1" autoUpdateAnimBg="0"/>
      <p:bldP spid="43042" grpId="0" animBg="1" autoUpdateAnimBg="0"/>
      <p:bldP spid="43043" grpId="0" animBg="1" autoUpdateAnimBg="0"/>
      <p:bldP spid="43044" grpId="0" animBg="1" autoUpdateAnimBg="0"/>
      <p:bldP spid="43045" grpId="0" animBg="1" autoUpdateAnimBg="0"/>
      <p:bldP spid="43046" grpId="0" animBg="1" autoUpdateAnimBg="0"/>
      <p:bldP spid="43047" grpId="0" animBg="1" autoUpdateAnimBg="0"/>
      <p:bldP spid="43048" grpId="0" animBg="1" autoUpdateAnimBg="0"/>
      <p:bldP spid="43049" grpId="0" animBg="1" autoUpdateAnimBg="0"/>
      <p:bldP spid="43050" grpId="0" animBg="1" autoUpdateAnimBg="0"/>
      <p:bldP spid="43051" grpId="0" animBg="1" autoUpdateAnimBg="0"/>
      <p:bldP spid="43052" grpId="0" animBg="1" autoUpdateAnimBg="0"/>
      <p:bldP spid="43053" grpId="0" animBg="1" autoUpdateAnimBg="0"/>
      <p:bldP spid="43054" grpId="0" animBg="1" autoUpdateAnimBg="0"/>
      <p:bldP spid="43055" grpId="0" animBg="1" autoUpdateAnimBg="0"/>
      <p:bldP spid="43056" grpId="0" animBg="1" autoUpdateAnimBg="0"/>
      <p:bldP spid="43057" grpId="0" animBg="1" autoUpdateAnimBg="0"/>
      <p:bldP spid="43058" grpId="0" animBg="1" autoUpdateAnimBg="0"/>
      <p:bldP spid="43059" grpId="0" animBg="1" autoUpdateAnimBg="0"/>
      <p:bldP spid="43068" grpId="0" animBg="1" autoUpdateAnimBg="0"/>
      <p:bldP spid="43069" grpId="0" animBg="1" autoUpdateAnimBg="0"/>
      <p:bldP spid="43070" grpId="0" animBg="1" autoUpdateAnimBg="0"/>
      <p:bldP spid="43071" grpId="0" animBg="1" autoUpdateAnimBg="0"/>
      <p:bldP spid="43072" grpId="0" animBg="1" autoUpdateAnimBg="0"/>
      <p:bldP spid="43073" grpId="0" animBg="1" autoUpdateAnimBg="0"/>
      <p:bldP spid="43074" grpId="0" animBg="1" autoUpdateAnimBg="0"/>
      <p:bldP spid="43075" grpId="0" animBg="1" autoUpdateAnimBg="0"/>
      <p:bldP spid="43076" grpId="0" animBg="1" autoUpdateAnimBg="0"/>
      <p:bldP spid="43077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457200" y="3048000"/>
            <a:ext cx="5334000" cy="2819400"/>
          </a:xfrm>
          <a:prstGeom prst="rect">
            <a:avLst/>
          </a:prstGeom>
          <a:solidFill>
            <a:srgbClr val="99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sz="3600"/>
              <a:t>Binary Tree Traversal</a:t>
            </a:r>
            <a:br>
              <a:rPr lang="en-US" sz="3600"/>
            </a:br>
            <a:r>
              <a:rPr lang="en-US" sz="2800"/>
              <a:t>Post Order Traversal (LRN)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7772400" cy="4876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void </a:t>
            </a:r>
            <a:r>
              <a:rPr lang="en-US" sz="2000" b="1" dirty="0" err="1">
                <a:latin typeface="Arial" charset="0"/>
              </a:rPr>
              <a:t>BinaryTree</a:t>
            </a:r>
            <a:r>
              <a:rPr lang="en-US" sz="2000" b="1" dirty="0">
                <a:latin typeface="Arial" charset="0"/>
              </a:rPr>
              <a:t>::</a:t>
            </a:r>
            <a:r>
              <a:rPr lang="en-US" sz="2000" b="1" dirty="0" err="1">
                <a:latin typeface="Arial" charset="0"/>
              </a:rPr>
              <a:t>PostOrder</a:t>
            </a:r>
            <a:r>
              <a:rPr lang="en-US" sz="2000" b="1" dirty="0">
                <a:latin typeface="Arial" charset="0"/>
              </a:rPr>
              <a:t>(</a:t>
            </a:r>
            <a:r>
              <a:rPr lang="en-US" sz="2000" b="1" dirty="0" err="1">
                <a:latin typeface="Arial" charset="0"/>
              </a:rPr>
              <a:t>TNode</a:t>
            </a:r>
            <a:r>
              <a:rPr lang="en-US" sz="2000" b="1" dirty="0">
                <a:latin typeface="Arial" charset="0"/>
              </a:rPr>
              <a:t> *t)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if (t)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</a:t>
            </a:r>
            <a:r>
              <a:rPr lang="en-US" sz="2000" b="1" dirty="0" err="1">
                <a:latin typeface="Arial" charset="0"/>
              </a:rPr>
              <a:t>PostOrder</a:t>
            </a:r>
            <a:r>
              <a:rPr lang="en-US" sz="2000" b="1" dirty="0">
                <a:latin typeface="Arial" charset="0"/>
              </a:rPr>
              <a:t>(t-&gt;</a:t>
            </a:r>
            <a:r>
              <a:rPr lang="en-US" sz="2000" b="1" dirty="0" err="1">
                <a:latin typeface="Arial" charset="0"/>
              </a:rPr>
              <a:t>getleft</a:t>
            </a:r>
            <a:r>
              <a:rPr lang="en-US" sz="2000" b="1" dirty="0">
                <a:latin typeface="Arial" charset="0"/>
              </a:rPr>
              <a:t>());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</a:t>
            </a:r>
            <a:r>
              <a:rPr lang="en-US" sz="2000" b="1" dirty="0" err="1">
                <a:latin typeface="Arial" charset="0"/>
              </a:rPr>
              <a:t>PostOrder</a:t>
            </a:r>
            <a:r>
              <a:rPr lang="en-US" sz="2000" b="1" dirty="0">
                <a:latin typeface="Arial" charset="0"/>
              </a:rPr>
              <a:t>(t-&gt;</a:t>
            </a:r>
            <a:r>
              <a:rPr lang="en-US" sz="2000" b="1" dirty="0" err="1">
                <a:latin typeface="Arial" charset="0"/>
              </a:rPr>
              <a:t>getright</a:t>
            </a:r>
            <a:r>
              <a:rPr lang="en-US" sz="2000" b="1" dirty="0">
                <a:latin typeface="Arial" charset="0"/>
              </a:rPr>
              <a:t>());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	visit(t);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latin typeface="Arial" charset="0"/>
              </a:rPr>
              <a:t>void </a:t>
            </a:r>
            <a:r>
              <a:rPr lang="en-US" sz="2000" b="1" dirty="0" err="1">
                <a:latin typeface="Arial" charset="0"/>
              </a:rPr>
              <a:t>BinaryTree</a:t>
            </a:r>
            <a:r>
              <a:rPr lang="en-US" sz="2000" b="1" dirty="0">
                <a:latin typeface="Arial" charset="0"/>
              </a:rPr>
              <a:t>::visit (</a:t>
            </a:r>
            <a:r>
              <a:rPr lang="en-US" sz="2000" b="1" dirty="0" err="1">
                <a:latin typeface="Arial" charset="0"/>
              </a:rPr>
              <a:t>TNode</a:t>
            </a:r>
            <a:r>
              <a:rPr lang="en-US" sz="2000" b="1" dirty="0">
                <a:latin typeface="Arial" charset="0"/>
              </a:rPr>
              <a:t> *t) { </a:t>
            </a:r>
            <a:r>
              <a:rPr lang="en-US" sz="2000" b="1" dirty="0" err="1">
                <a:latin typeface="Arial" charset="0"/>
              </a:rPr>
              <a:t>cout</a:t>
            </a:r>
            <a:r>
              <a:rPr lang="en-US" sz="2000" b="1" dirty="0">
                <a:latin typeface="Arial" charset="0"/>
              </a:rPr>
              <a:t> &lt;&lt; t-&gt;</a:t>
            </a:r>
            <a:r>
              <a:rPr lang="en-US" sz="2000" b="1" dirty="0" err="1">
                <a:latin typeface="Arial" charset="0"/>
              </a:rPr>
              <a:t>getdata</a:t>
            </a:r>
            <a:r>
              <a:rPr lang="en-US" sz="2000" b="1" dirty="0">
                <a:latin typeface="Arial" charset="0"/>
              </a:rPr>
              <a:t>(); 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nimBg="1"/>
      <p:bldP spid="4403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" y="2209800"/>
            <a:ext cx="5029200" cy="2743200"/>
            <a:chOff x="1296" y="1392"/>
            <a:chExt cx="3168" cy="1728"/>
          </a:xfrm>
        </p:grpSpPr>
        <p:sp>
          <p:nvSpPr>
            <p:cNvPr id="45059" name="Oval 3"/>
            <p:cNvSpPr>
              <a:spLocks noChangeArrowheads="1"/>
            </p:cNvSpPr>
            <p:nvPr/>
          </p:nvSpPr>
          <p:spPr bwMode="auto">
            <a:xfrm>
              <a:off x="2736" y="139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45060" name="Oval 4"/>
            <p:cNvSpPr>
              <a:spLocks noChangeArrowheads="1"/>
            </p:cNvSpPr>
            <p:nvPr/>
          </p:nvSpPr>
          <p:spPr bwMode="auto">
            <a:xfrm>
              <a:off x="3456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K</a:t>
              </a:r>
            </a:p>
          </p:txBody>
        </p:sp>
        <p:sp>
          <p:nvSpPr>
            <p:cNvPr id="45061" name="Oval 5"/>
            <p:cNvSpPr>
              <a:spLocks noChangeArrowheads="1"/>
            </p:cNvSpPr>
            <p:nvPr/>
          </p:nvSpPr>
          <p:spPr bwMode="auto">
            <a:xfrm>
              <a:off x="2016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45062" name="Oval 6"/>
            <p:cNvSpPr>
              <a:spLocks noChangeArrowheads="1"/>
            </p:cNvSpPr>
            <p:nvPr/>
          </p:nvSpPr>
          <p:spPr bwMode="auto">
            <a:xfrm>
              <a:off x="1680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45063" name="Oval 7"/>
            <p:cNvSpPr>
              <a:spLocks noChangeArrowheads="1"/>
            </p:cNvSpPr>
            <p:nvPr/>
          </p:nvSpPr>
          <p:spPr bwMode="auto">
            <a:xfrm>
              <a:off x="2304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45064" name="Oval 8"/>
            <p:cNvSpPr>
              <a:spLocks noChangeArrowheads="1"/>
            </p:cNvSpPr>
            <p:nvPr/>
          </p:nvSpPr>
          <p:spPr bwMode="auto">
            <a:xfrm>
              <a:off x="3216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</a:t>
              </a:r>
            </a:p>
          </p:txBody>
        </p:sp>
        <p:sp>
          <p:nvSpPr>
            <p:cNvPr id="45065" name="Oval 9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X</a:t>
              </a:r>
            </a:p>
          </p:txBody>
        </p:sp>
        <p:sp>
          <p:nvSpPr>
            <p:cNvPr id="45066" name="Oval 10"/>
            <p:cNvSpPr>
              <a:spLocks noChangeArrowheads="1"/>
            </p:cNvSpPr>
            <p:nvPr/>
          </p:nvSpPr>
          <p:spPr bwMode="auto">
            <a:xfrm>
              <a:off x="4176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</a:p>
          </p:txBody>
        </p:sp>
        <p:sp>
          <p:nvSpPr>
            <p:cNvPr id="45067" name="Oval 11"/>
            <p:cNvSpPr>
              <a:spLocks noChangeArrowheads="1"/>
            </p:cNvSpPr>
            <p:nvPr/>
          </p:nvSpPr>
          <p:spPr bwMode="auto">
            <a:xfrm>
              <a:off x="2064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M</a:t>
              </a:r>
            </a:p>
          </p:txBody>
        </p:sp>
        <p:sp>
          <p:nvSpPr>
            <p:cNvPr id="45068" name="Oval 12"/>
            <p:cNvSpPr>
              <a:spLocks noChangeArrowheads="1"/>
            </p:cNvSpPr>
            <p:nvPr/>
          </p:nvSpPr>
          <p:spPr bwMode="auto">
            <a:xfrm>
              <a:off x="1296" y="283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Q</a:t>
              </a:r>
            </a:p>
          </p:txBody>
        </p:sp>
        <p:sp>
          <p:nvSpPr>
            <p:cNvPr id="45069" name="Line 13"/>
            <p:cNvSpPr>
              <a:spLocks noChangeShapeType="1"/>
            </p:cNvSpPr>
            <p:nvPr/>
          </p:nvSpPr>
          <p:spPr bwMode="auto">
            <a:xfrm flipH="1">
              <a:off x="2256" y="163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070" name="Line 14"/>
            <p:cNvSpPr>
              <a:spLocks noChangeShapeType="1"/>
            </p:cNvSpPr>
            <p:nvPr/>
          </p:nvSpPr>
          <p:spPr bwMode="auto">
            <a:xfrm>
              <a:off x="3024" y="163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071" name="Line 15"/>
            <p:cNvSpPr>
              <a:spLocks noChangeShapeType="1"/>
            </p:cNvSpPr>
            <p:nvPr/>
          </p:nvSpPr>
          <p:spPr bwMode="auto">
            <a:xfrm>
              <a:off x="3696" y="211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Line 16"/>
            <p:cNvSpPr>
              <a:spLocks noChangeShapeType="1"/>
            </p:cNvSpPr>
            <p:nvPr/>
          </p:nvSpPr>
          <p:spPr bwMode="auto">
            <a:xfrm flipH="1">
              <a:off x="3408" y="2160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073" name="Line 17"/>
            <p:cNvSpPr>
              <a:spLocks noChangeShapeType="1"/>
            </p:cNvSpPr>
            <p:nvPr/>
          </p:nvSpPr>
          <p:spPr bwMode="auto">
            <a:xfrm flipH="1">
              <a:off x="1872" y="211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074" name="Line 18"/>
            <p:cNvSpPr>
              <a:spLocks noChangeShapeType="1"/>
            </p:cNvSpPr>
            <p:nvPr/>
          </p:nvSpPr>
          <p:spPr bwMode="auto">
            <a:xfrm>
              <a:off x="2256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075" name="Line 19"/>
            <p:cNvSpPr>
              <a:spLocks noChangeShapeType="1"/>
            </p:cNvSpPr>
            <p:nvPr/>
          </p:nvSpPr>
          <p:spPr bwMode="auto">
            <a:xfrm>
              <a:off x="4080" y="259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076" name="Line 20"/>
            <p:cNvSpPr>
              <a:spLocks noChangeShapeType="1"/>
            </p:cNvSpPr>
            <p:nvPr/>
          </p:nvSpPr>
          <p:spPr bwMode="auto">
            <a:xfrm flipH="1">
              <a:off x="1536" y="259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077" name="Line 21"/>
            <p:cNvSpPr>
              <a:spLocks noChangeShapeType="1"/>
            </p:cNvSpPr>
            <p:nvPr/>
          </p:nvSpPr>
          <p:spPr bwMode="auto">
            <a:xfrm>
              <a:off x="1920" y="259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78" name="Oval 22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5079" name="Oval 23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5080" name="Oval 24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5081" name="Oval 25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5082" name="Oval 26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5083" name="Oval 27"/>
          <p:cNvSpPr>
            <a:spLocks noChangeArrowheads="1"/>
          </p:cNvSpPr>
          <p:nvPr/>
        </p:nvSpPr>
        <p:spPr bwMode="auto">
          <a:xfrm>
            <a:off x="1524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5084" name="Oval 28"/>
          <p:cNvSpPr>
            <a:spLocks noChangeArrowheads="1"/>
          </p:cNvSpPr>
          <p:nvPr/>
        </p:nvSpPr>
        <p:spPr bwMode="auto">
          <a:xfrm>
            <a:off x="2286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45085" name="Oval 29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5086" name="Oval 30"/>
          <p:cNvSpPr>
            <a:spLocks noChangeArrowheads="1"/>
          </p:cNvSpPr>
          <p:nvPr/>
        </p:nvSpPr>
        <p:spPr bwMode="auto">
          <a:xfrm>
            <a:off x="12192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5087" name="Oval 31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5088" name="Oval 32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5089" name="Oval 33"/>
          <p:cNvSpPr>
            <a:spLocks noChangeArrowheads="1"/>
          </p:cNvSpPr>
          <p:nvPr/>
        </p:nvSpPr>
        <p:spPr bwMode="auto">
          <a:xfrm>
            <a:off x="6858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5090" name="Oval 34"/>
          <p:cNvSpPr>
            <a:spLocks noChangeArrowheads="1"/>
          </p:cNvSpPr>
          <p:nvPr/>
        </p:nvSpPr>
        <p:spPr bwMode="auto">
          <a:xfrm>
            <a:off x="14478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5091" name="Oval 35"/>
          <p:cNvSpPr>
            <a:spLocks noChangeArrowheads="1"/>
          </p:cNvSpPr>
          <p:nvPr/>
        </p:nvSpPr>
        <p:spPr bwMode="auto">
          <a:xfrm>
            <a:off x="8382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5092" name="Oval 36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5093" name="Oval 37"/>
          <p:cNvSpPr>
            <a:spLocks noChangeArrowheads="1"/>
          </p:cNvSpPr>
          <p:nvPr/>
        </p:nvSpPr>
        <p:spPr bwMode="auto">
          <a:xfrm>
            <a:off x="22860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5094" name="Oval 38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5095" name="Oval 39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5096" name="Oval 40"/>
          <p:cNvSpPr>
            <a:spLocks noChangeArrowheads="1"/>
          </p:cNvSpPr>
          <p:nvPr/>
        </p:nvSpPr>
        <p:spPr bwMode="auto">
          <a:xfrm>
            <a:off x="17526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5097" name="Oval 41"/>
          <p:cNvSpPr>
            <a:spLocks noChangeArrowheads="1"/>
          </p:cNvSpPr>
          <p:nvPr/>
        </p:nvSpPr>
        <p:spPr bwMode="auto">
          <a:xfrm>
            <a:off x="18288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45098" name="Oval 42"/>
          <p:cNvSpPr>
            <a:spLocks noChangeArrowheads="1"/>
          </p:cNvSpPr>
          <p:nvPr/>
        </p:nvSpPr>
        <p:spPr bwMode="auto">
          <a:xfrm>
            <a:off x="1371600" y="2971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5099" name="Oval 43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5100" name="Oval 44"/>
          <p:cNvSpPr>
            <a:spLocks noChangeArrowheads="1"/>
          </p:cNvSpPr>
          <p:nvPr/>
        </p:nvSpPr>
        <p:spPr bwMode="auto">
          <a:xfrm>
            <a:off x="49530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5101" name="Oval 45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5102" name="Oval 46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5103" name="Oval 47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5104" name="Oval 48"/>
          <p:cNvSpPr>
            <a:spLocks noChangeArrowheads="1"/>
          </p:cNvSpPr>
          <p:nvPr/>
        </p:nvSpPr>
        <p:spPr bwMode="auto">
          <a:xfrm>
            <a:off x="28194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5105" name="Oval 49"/>
          <p:cNvSpPr>
            <a:spLocks noChangeArrowheads="1"/>
          </p:cNvSpPr>
          <p:nvPr/>
        </p:nvSpPr>
        <p:spPr bwMode="auto">
          <a:xfrm>
            <a:off x="32766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45106" name="Oval 50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5107" name="Oval 51"/>
          <p:cNvSpPr>
            <a:spLocks noChangeArrowheads="1"/>
          </p:cNvSpPr>
          <p:nvPr/>
        </p:nvSpPr>
        <p:spPr bwMode="auto">
          <a:xfrm>
            <a:off x="44196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5108" name="Oval 52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5109" name="Oval 53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5110" name="Oval 54"/>
          <p:cNvSpPr>
            <a:spLocks noChangeArrowheads="1"/>
          </p:cNvSpPr>
          <p:nvPr/>
        </p:nvSpPr>
        <p:spPr bwMode="auto">
          <a:xfrm>
            <a:off x="38862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5111" name="Oval 55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996633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5112" name="Oval 56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CC33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5113" name="Oval 57"/>
          <p:cNvSpPr>
            <a:spLocks noChangeArrowheads="1"/>
          </p:cNvSpPr>
          <p:nvPr/>
        </p:nvSpPr>
        <p:spPr bwMode="auto">
          <a:xfrm>
            <a:off x="3352800" y="5562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5114" name="Oval 58"/>
          <p:cNvSpPr>
            <a:spLocks noChangeArrowheads="1"/>
          </p:cNvSpPr>
          <p:nvPr/>
        </p:nvSpPr>
        <p:spPr bwMode="auto">
          <a:xfrm>
            <a:off x="4800600" y="4495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5115" name="Oval 59"/>
          <p:cNvSpPr>
            <a:spLocks noChangeArrowheads="1"/>
          </p:cNvSpPr>
          <p:nvPr/>
        </p:nvSpPr>
        <p:spPr bwMode="auto">
          <a:xfrm>
            <a:off x="4267200" y="3733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45116" name="Oval 60"/>
          <p:cNvSpPr>
            <a:spLocks noChangeArrowheads="1"/>
          </p:cNvSpPr>
          <p:nvPr/>
        </p:nvSpPr>
        <p:spPr bwMode="auto">
          <a:xfrm>
            <a:off x="3657600" y="2971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45117" name="Oval 61"/>
          <p:cNvSpPr>
            <a:spLocks noChangeArrowheads="1"/>
          </p:cNvSpPr>
          <p:nvPr/>
        </p:nvSpPr>
        <p:spPr bwMode="auto">
          <a:xfrm>
            <a:off x="2514600" y="2209800"/>
            <a:ext cx="457200" cy="457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grpSp>
        <p:nvGrpSpPr>
          <p:cNvPr id="3" name="Group 62"/>
          <p:cNvGrpSpPr>
            <a:grpSpLocks/>
          </p:cNvGrpSpPr>
          <p:nvPr/>
        </p:nvGrpSpPr>
        <p:grpSpPr bwMode="auto">
          <a:xfrm>
            <a:off x="4724400" y="1600200"/>
            <a:ext cx="3657600" cy="2209800"/>
            <a:chOff x="3360" y="672"/>
            <a:chExt cx="2304" cy="1392"/>
          </a:xfrm>
        </p:grpSpPr>
        <p:sp>
          <p:nvSpPr>
            <p:cNvPr id="45119" name="Rectangle 63"/>
            <p:cNvSpPr>
              <a:spLocks noChangeArrowheads="1"/>
            </p:cNvSpPr>
            <p:nvPr/>
          </p:nvSpPr>
          <p:spPr bwMode="auto">
            <a:xfrm>
              <a:off x="3360" y="1536"/>
              <a:ext cx="2112" cy="240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120" name="Rectangle 64"/>
            <p:cNvSpPr>
              <a:spLocks noChangeArrowheads="1"/>
            </p:cNvSpPr>
            <p:nvPr/>
          </p:nvSpPr>
          <p:spPr bwMode="auto">
            <a:xfrm>
              <a:off x="3360" y="1248"/>
              <a:ext cx="2112" cy="240"/>
            </a:xfrm>
            <a:prstGeom prst="rect">
              <a:avLst/>
            </a:prstGeom>
            <a:solidFill>
              <a:srgbClr val="CC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121" name="Rectangle 65"/>
            <p:cNvSpPr>
              <a:spLocks noChangeArrowheads="1"/>
            </p:cNvSpPr>
            <p:nvPr/>
          </p:nvSpPr>
          <p:spPr bwMode="auto">
            <a:xfrm>
              <a:off x="3360" y="960"/>
              <a:ext cx="2112" cy="240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122" name="Rectangle 66"/>
            <p:cNvSpPr>
              <a:spLocks noChangeArrowheads="1"/>
            </p:cNvSpPr>
            <p:nvPr/>
          </p:nvSpPr>
          <p:spPr bwMode="auto">
            <a:xfrm>
              <a:off x="3360" y="1824"/>
              <a:ext cx="21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123" name="Rectangle 67"/>
            <p:cNvSpPr>
              <a:spLocks noChangeArrowheads="1"/>
            </p:cNvSpPr>
            <p:nvPr/>
          </p:nvSpPr>
          <p:spPr bwMode="auto">
            <a:xfrm>
              <a:off x="3360" y="672"/>
              <a:ext cx="211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124" name="Rectangle 68"/>
            <p:cNvSpPr>
              <a:spLocks noChangeArrowheads="1"/>
            </p:cNvSpPr>
            <p:nvPr/>
          </p:nvSpPr>
          <p:spPr bwMode="auto">
            <a:xfrm>
              <a:off x="3408" y="709"/>
              <a:ext cx="2256" cy="1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if (t) {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PostOrder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(t-&gt;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getleft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());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PostOrder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(t-&gt;</a:t>
              </a:r>
              <a:r>
                <a:rPr lang="en-US" sz="2000" b="1" dirty="0" err="1">
                  <a:solidFill>
                    <a:schemeClr val="bg1"/>
                  </a:solidFill>
                  <a:latin typeface="Arial" charset="0"/>
                </a:rPr>
                <a:t>getright</a:t>
              </a: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());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    visit(t);</a:t>
              </a: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sz="2000" b="1" dirty="0">
                  <a:solidFill>
                    <a:schemeClr val="bg1"/>
                  </a:solidFill>
                  <a:latin typeface="Arial" charset="0"/>
                </a:rPr>
                <a:t>}</a:t>
              </a:r>
            </a:p>
          </p:txBody>
        </p:sp>
      </p:grpSp>
      <p:sp>
        <p:nvSpPr>
          <p:cNvPr id="45125" name="Rectangle 69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  <a:ln/>
        </p:spPr>
        <p:txBody>
          <a:bodyPr>
            <a:normAutofit/>
          </a:bodyPr>
          <a:lstStyle/>
          <a:p>
            <a:r>
              <a:rPr lang="en-US" sz="4000"/>
              <a:t>Binary Tree Traversal</a:t>
            </a:r>
            <a:br>
              <a:rPr lang="en-US" sz="4000"/>
            </a:br>
            <a:r>
              <a:rPr lang="en-US" sz="3200"/>
              <a:t>Post Order Traversal (LRN)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5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5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5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5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5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5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5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5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5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45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5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5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45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5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45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45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45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45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45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45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5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5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45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45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45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45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45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45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5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5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45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45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45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45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1000" fill="hold"/>
                                        <p:tgtEl>
                                          <p:spTgt spid="45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1000" fill="hold"/>
                                        <p:tgtEl>
                                          <p:spTgt spid="45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00" fill="hold"/>
                                        <p:tgtEl>
                                          <p:spTgt spid="45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00" fill="hold"/>
                                        <p:tgtEl>
                                          <p:spTgt spid="45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45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45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00" fill="hold"/>
                                        <p:tgtEl>
                                          <p:spTgt spid="45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00" fill="hold"/>
                                        <p:tgtEl>
                                          <p:spTgt spid="45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1000" fill="hold"/>
                                        <p:tgtEl>
                                          <p:spTgt spid="45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1000" fill="hold"/>
                                        <p:tgtEl>
                                          <p:spTgt spid="45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1000" fill="hold"/>
                                        <p:tgtEl>
                                          <p:spTgt spid="45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1000" fill="hold"/>
                                        <p:tgtEl>
                                          <p:spTgt spid="45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1000" fill="hold"/>
                                        <p:tgtEl>
                                          <p:spTgt spid="45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1000" fill="hold"/>
                                        <p:tgtEl>
                                          <p:spTgt spid="45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000" fill="hold"/>
                                        <p:tgtEl>
                                          <p:spTgt spid="45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1000" fill="hold"/>
                                        <p:tgtEl>
                                          <p:spTgt spid="45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1000" fill="hold"/>
                                        <p:tgtEl>
                                          <p:spTgt spid="4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1000" fill="hold"/>
                                        <p:tgtEl>
                                          <p:spTgt spid="4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1000" fill="hold"/>
                                        <p:tgtEl>
                                          <p:spTgt spid="45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1000" fill="hold"/>
                                        <p:tgtEl>
                                          <p:spTgt spid="45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1000" fill="hold"/>
                                        <p:tgtEl>
                                          <p:spTgt spid="45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1000" fill="hold"/>
                                        <p:tgtEl>
                                          <p:spTgt spid="45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1000" fill="hold"/>
                                        <p:tgtEl>
                                          <p:spTgt spid="45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1000" fill="hold"/>
                                        <p:tgtEl>
                                          <p:spTgt spid="45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1000" fill="hold"/>
                                        <p:tgtEl>
                                          <p:spTgt spid="45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1000" fill="hold"/>
                                        <p:tgtEl>
                                          <p:spTgt spid="45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1000" fill="hold"/>
                                        <p:tgtEl>
                                          <p:spTgt spid="45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1000" fill="hold"/>
                                        <p:tgtEl>
                                          <p:spTgt spid="45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000" fill="hold"/>
                                        <p:tgtEl>
                                          <p:spTgt spid="45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000" fill="hold"/>
                                        <p:tgtEl>
                                          <p:spTgt spid="45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1000" fill="hold"/>
                                        <p:tgtEl>
                                          <p:spTgt spid="45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1000" fill="hold"/>
                                        <p:tgtEl>
                                          <p:spTgt spid="45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1000" fill="hold"/>
                                        <p:tgtEl>
                                          <p:spTgt spid="45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1000" fill="hold"/>
                                        <p:tgtEl>
                                          <p:spTgt spid="45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1000" fill="hold"/>
                                        <p:tgtEl>
                                          <p:spTgt spid="45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1000" fill="hold"/>
                                        <p:tgtEl>
                                          <p:spTgt spid="45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10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1000" fill="hold"/>
                                        <p:tgtEl>
                                          <p:spTgt spid="45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8" grpId="0" animBg="1" autoUpdateAnimBg="0"/>
      <p:bldP spid="45079" grpId="0" animBg="1" autoUpdateAnimBg="0"/>
      <p:bldP spid="45080" grpId="0" animBg="1" autoUpdateAnimBg="0"/>
      <p:bldP spid="45081" grpId="0" animBg="1" autoUpdateAnimBg="0"/>
      <p:bldP spid="45082" grpId="0" animBg="1" autoUpdateAnimBg="0"/>
      <p:bldP spid="45083" grpId="0" animBg="1" autoUpdateAnimBg="0"/>
      <p:bldP spid="45084" grpId="0" animBg="1" autoUpdateAnimBg="0"/>
      <p:bldP spid="45085" grpId="0" animBg="1" autoUpdateAnimBg="0"/>
      <p:bldP spid="45086" grpId="0" animBg="1" autoUpdateAnimBg="0"/>
      <p:bldP spid="45087" grpId="0" animBg="1" autoUpdateAnimBg="0"/>
      <p:bldP spid="45088" grpId="0" animBg="1" autoUpdateAnimBg="0"/>
      <p:bldP spid="45089" grpId="0" animBg="1" autoUpdateAnimBg="0"/>
      <p:bldP spid="45090" grpId="0" animBg="1" autoUpdateAnimBg="0"/>
      <p:bldP spid="45091" grpId="0" animBg="1" autoUpdateAnimBg="0"/>
      <p:bldP spid="45092" grpId="0" animBg="1" autoUpdateAnimBg="0"/>
      <p:bldP spid="45093" grpId="0" animBg="1" autoUpdateAnimBg="0"/>
      <p:bldP spid="45094" grpId="0" animBg="1" autoUpdateAnimBg="0"/>
      <p:bldP spid="45095" grpId="0" animBg="1" autoUpdateAnimBg="0"/>
      <p:bldP spid="45096" grpId="0" animBg="1" autoUpdateAnimBg="0"/>
      <p:bldP spid="45097" grpId="0" animBg="1" autoUpdateAnimBg="0"/>
      <p:bldP spid="45098" grpId="0" animBg="1" autoUpdateAnimBg="0"/>
      <p:bldP spid="45099" grpId="0" animBg="1" autoUpdateAnimBg="0"/>
      <p:bldP spid="45100" grpId="0" animBg="1" autoUpdateAnimBg="0"/>
      <p:bldP spid="45101" grpId="0" animBg="1" autoUpdateAnimBg="0"/>
      <p:bldP spid="45102" grpId="0" animBg="1" autoUpdateAnimBg="0"/>
      <p:bldP spid="45103" grpId="0" animBg="1" autoUpdateAnimBg="0"/>
      <p:bldP spid="45104" grpId="0" animBg="1" autoUpdateAnimBg="0"/>
      <p:bldP spid="45105" grpId="0" animBg="1" autoUpdateAnimBg="0"/>
      <p:bldP spid="45106" grpId="0" animBg="1" autoUpdateAnimBg="0"/>
      <p:bldP spid="45107" grpId="0" animBg="1" autoUpdateAnimBg="0"/>
      <p:bldP spid="45108" grpId="0" animBg="1" autoUpdateAnimBg="0"/>
      <p:bldP spid="45109" grpId="0" animBg="1" autoUpdateAnimBg="0"/>
      <p:bldP spid="45110" grpId="0" animBg="1" autoUpdateAnimBg="0"/>
      <p:bldP spid="45111" grpId="0" animBg="1" autoUpdateAnimBg="0"/>
      <p:bldP spid="45112" grpId="0" animBg="1" autoUpdateAnimBg="0"/>
      <p:bldP spid="45113" grpId="0" animBg="1" autoUpdateAnimBg="0"/>
      <p:bldP spid="45114" grpId="0" animBg="1" autoUpdateAnimBg="0"/>
      <p:bldP spid="45115" grpId="0" animBg="1" autoUpdateAnimBg="0"/>
      <p:bldP spid="45116" grpId="0" animBg="1" autoUpdateAnimBg="0"/>
      <p:bldP spid="4511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  <a:ln/>
        </p:spPr>
        <p:txBody>
          <a:bodyPr/>
          <a:lstStyle/>
          <a:p>
            <a:r>
              <a:rPr lang="en-US" sz="4000"/>
              <a:t>Binary Tree Traversal</a:t>
            </a:r>
            <a:endParaRPr lang="en-US" sz="320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86000" y="1600200"/>
            <a:ext cx="5029200" cy="2743200"/>
            <a:chOff x="1296" y="1392"/>
            <a:chExt cx="3168" cy="1728"/>
          </a:xfrm>
        </p:grpSpPr>
        <p:sp>
          <p:nvSpPr>
            <p:cNvPr id="46084" name="Oval 4"/>
            <p:cNvSpPr>
              <a:spLocks noChangeArrowheads="1"/>
            </p:cNvSpPr>
            <p:nvPr/>
          </p:nvSpPr>
          <p:spPr bwMode="auto">
            <a:xfrm>
              <a:off x="2736" y="139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46085" name="Oval 5"/>
            <p:cNvSpPr>
              <a:spLocks noChangeArrowheads="1"/>
            </p:cNvSpPr>
            <p:nvPr/>
          </p:nvSpPr>
          <p:spPr bwMode="auto">
            <a:xfrm>
              <a:off x="3456" y="187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K</a:t>
              </a:r>
            </a:p>
          </p:txBody>
        </p:sp>
        <p:sp>
          <p:nvSpPr>
            <p:cNvPr id="46086" name="Oval 6"/>
            <p:cNvSpPr>
              <a:spLocks noChangeArrowheads="1"/>
            </p:cNvSpPr>
            <p:nvPr/>
          </p:nvSpPr>
          <p:spPr bwMode="auto">
            <a:xfrm>
              <a:off x="2016" y="187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46087" name="Oval 7"/>
            <p:cNvSpPr>
              <a:spLocks noChangeArrowheads="1"/>
            </p:cNvSpPr>
            <p:nvPr/>
          </p:nvSpPr>
          <p:spPr bwMode="auto">
            <a:xfrm>
              <a:off x="1680" y="235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46088" name="Oval 8"/>
            <p:cNvSpPr>
              <a:spLocks noChangeArrowheads="1"/>
            </p:cNvSpPr>
            <p:nvPr/>
          </p:nvSpPr>
          <p:spPr bwMode="auto">
            <a:xfrm>
              <a:off x="2304" y="235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46089" name="Oval 9"/>
            <p:cNvSpPr>
              <a:spLocks noChangeArrowheads="1"/>
            </p:cNvSpPr>
            <p:nvPr/>
          </p:nvSpPr>
          <p:spPr bwMode="auto">
            <a:xfrm>
              <a:off x="3216" y="235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L</a:t>
              </a:r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auto">
            <a:xfrm>
              <a:off x="3840" y="235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auto">
            <a:xfrm>
              <a:off x="4176" y="283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auto">
            <a:xfrm>
              <a:off x="2064" y="283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1296" y="2832"/>
              <a:ext cx="288" cy="288"/>
            </a:xfrm>
            <a:prstGeom prst="ellipse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46094" name="Line 14"/>
            <p:cNvSpPr>
              <a:spLocks noChangeShapeType="1"/>
            </p:cNvSpPr>
            <p:nvPr/>
          </p:nvSpPr>
          <p:spPr bwMode="auto">
            <a:xfrm flipH="1">
              <a:off x="2256" y="163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095" name="Line 15"/>
            <p:cNvSpPr>
              <a:spLocks noChangeShapeType="1"/>
            </p:cNvSpPr>
            <p:nvPr/>
          </p:nvSpPr>
          <p:spPr bwMode="auto">
            <a:xfrm>
              <a:off x="3024" y="1632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096" name="Line 16"/>
            <p:cNvSpPr>
              <a:spLocks noChangeShapeType="1"/>
            </p:cNvSpPr>
            <p:nvPr/>
          </p:nvSpPr>
          <p:spPr bwMode="auto">
            <a:xfrm>
              <a:off x="3696" y="211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097" name="Line 17"/>
            <p:cNvSpPr>
              <a:spLocks noChangeShapeType="1"/>
            </p:cNvSpPr>
            <p:nvPr/>
          </p:nvSpPr>
          <p:spPr bwMode="auto">
            <a:xfrm flipH="1">
              <a:off x="3408" y="2160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098" name="Line 18"/>
            <p:cNvSpPr>
              <a:spLocks noChangeShapeType="1"/>
            </p:cNvSpPr>
            <p:nvPr/>
          </p:nvSpPr>
          <p:spPr bwMode="auto">
            <a:xfrm flipH="1">
              <a:off x="1872" y="211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099" name="Line 19"/>
            <p:cNvSpPr>
              <a:spLocks noChangeShapeType="1"/>
            </p:cNvSpPr>
            <p:nvPr/>
          </p:nvSpPr>
          <p:spPr bwMode="auto">
            <a:xfrm>
              <a:off x="2256" y="211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100" name="Line 20"/>
            <p:cNvSpPr>
              <a:spLocks noChangeShapeType="1"/>
            </p:cNvSpPr>
            <p:nvPr/>
          </p:nvSpPr>
          <p:spPr bwMode="auto">
            <a:xfrm>
              <a:off x="4080" y="259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101" name="Line 21"/>
            <p:cNvSpPr>
              <a:spLocks noChangeShapeType="1"/>
            </p:cNvSpPr>
            <p:nvPr/>
          </p:nvSpPr>
          <p:spPr bwMode="auto">
            <a:xfrm flipH="1">
              <a:off x="1536" y="259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102" name="Line 22"/>
            <p:cNvSpPr>
              <a:spLocks noChangeShapeType="1"/>
            </p:cNvSpPr>
            <p:nvPr/>
          </p:nvSpPr>
          <p:spPr bwMode="auto">
            <a:xfrm>
              <a:off x="1920" y="259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103" name="Freeform 23"/>
          <p:cNvSpPr>
            <a:spLocks/>
          </p:cNvSpPr>
          <p:nvPr/>
        </p:nvSpPr>
        <p:spPr bwMode="auto">
          <a:xfrm>
            <a:off x="2054225" y="1579563"/>
            <a:ext cx="5521325" cy="3068637"/>
          </a:xfrm>
          <a:custGeom>
            <a:avLst/>
            <a:gdLst/>
            <a:ahLst/>
            <a:cxnLst>
              <a:cxn ang="0">
                <a:pos x="1272" y="250"/>
              </a:cxn>
              <a:cxn ang="0">
                <a:pos x="1107" y="317"/>
              </a:cxn>
              <a:cxn ang="0">
                <a:pos x="845" y="497"/>
              </a:cxn>
              <a:cxn ang="0">
                <a:pos x="711" y="699"/>
              </a:cxn>
              <a:cxn ang="0">
                <a:pos x="516" y="968"/>
              </a:cxn>
              <a:cxn ang="0">
                <a:pos x="389" y="1162"/>
              </a:cxn>
              <a:cxn ang="0">
                <a:pos x="142" y="1477"/>
              </a:cxn>
              <a:cxn ang="0">
                <a:pos x="45" y="1596"/>
              </a:cxn>
              <a:cxn ang="0">
                <a:pos x="8" y="1746"/>
              </a:cxn>
              <a:cxn ang="0">
                <a:pos x="232" y="1910"/>
              </a:cxn>
              <a:cxn ang="0">
                <a:pos x="539" y="1641"/>
              </a:cxn>
              <a:cxn ang="0">
                <a:pos x="688" y="1297"/>
              </a:cxn>
              <a:cxn ang="0">
                <a:pos x="905" y="1776"/>
              </a:cxn>
              <a:cxn ang="0">
                <a:pos x="1047" y="1896"/>
              </a:cxn>
              <a:cxn ang="0">
                <a:pos x="1264" y="1806"/>
              </a:cxn>
              <a:cxn ang="0">
                <a:pos x="1257" y="1514"/>
              </a:cxn>
              <a:cxn ang="0">
                <a:pos x="1055" y="1379"/>
              </a:cxn>
              <a:cxn ang="0">
                <a:pos x="905" y="1282"/>
              </a:cxn>
              <a:cxn ang="0">
                <a:pos x="1017" y="871"/>
              </a:cxn>
              <a:cxn ang="0">
                <a:pos x="1145" y="1267"/>
              </a:cxn>
              <a:cxn ang="0">
                <a:pos x="1504" y="1402"/>
              </a:cxn>
              <a:cxn ang="0">
                <a:pos x="1534" y="1065"/>
              </a:cxn>
              <a:cxn ang="0">
                <a:pos x="1264" y="714"/>
              </a:cxn>
              <a:cxn ang="0">
                <a:pos x="1481" y="437"/>
              </a:cxn>
              <a:cxn ang="0">
                <a:pos x="1975" y="467"/>
              </a:cxn>
              <a:cxn ang="0">
                <a:pos x="2147" y="601"/>
              </a:cxn>
              <a:cxn ang="0">
                <a:pos x="2125" y="893"/>
              </a:cxn>
              <a:cxn ang="0">
                <a:pos x="2027" y="1013"/>
              </a:cxn>
              <a:cxn ang="0">
                <a:pos x="1945" y="1118"/>
              </a:cxn>
              <a:cxn ang="0">
                <a:pos x="1982" y="1275"/>
              </a:cxn>
              <a:cxn ang="0">
                <a:pos x="2117" y="1349"/>
              </a:cxn>
              <a:cxn ang="0">
                <a:pos x="2364" y="1387"/>
              </a:cxn>
              <a:cxn ang="0">
                <a:pos x="2499" y="901"/>
              </a:cxn>
              <a:cxn ang="0">
                <a:pos x="2716" y="1409"/>
              </a:cxn>
              <a:cxn ang="0">
                <a:pos x="2985" y="1484"/>
              </a:cxn>
              <a:cxn ang="0">
                <a:pos x="3142" y="1873"/>
              </a:cxn>
              <a:cxn ang="0">
                <a:pos x="3456" y="1589"/>
              </a:cxn>
              <a:cxn ang="0">
                <a:pos x="3202" y="1312"/>
              </a:cxn>
              <a:cxn ang="0">
                <a:pos x="3045" y="1088"/>
              </a:cxn>
              <a:cxn ang="0">
                <a:pos x="2947" y="916"/>
              </a:cxn>
              <a:cxn ang="0">
                <a:pos x="2760" y="744"/>
              </a:cxn>
              <a:cxn ang="0">
                <a:pos x="2641" y="519"/>
              </a:cxn>
              <a:cxn ang="0">
                <a:pos x="2334" y="280"/>
              </a:cxn>
              <a:cxn ang="0">
                <a:pos x="2102" y="197"/>
              </a:cxn>
              <a:cxn ang="0">
                <a:pos x="1975" y="3"/>
              </a:cxn>
            </a:cxnLst>
            <a:rect l="0" t="0" r="r" b="b"/>
            <a:pathLst>
              <a:path w="3478" h="1933">
                <a:moveTo>
                  <a:pt x="1451" y="40"/>
                </a:moveTo>
                <a:cubicBezTo>
                  <a:pt x="1447" y="94"/>
                  <a:pt x="1459" y="144"/>
                  <a:pt x="1414" y="175"/>
                </a:cubicBezTo>
                <a:cubicBezTo>
                  <a:pt x="1393" y="206"/>
                  <a:pt x="1311" y="240"/>
                  <a:pt x="1272" y="250"/>
                </a:cubicBezTo>
                <a:cubicBezTo>
                  <a:pt x="1259" y="257"/>
                  <a:pt x="1248" y="267"/>
                  <a:pt x="1234" y="272"/>
                </a:cubicBezTo>
                <a:cubicBezTo>
                  <a:pt x="1215" y="279"/>
                  <a:pt x="1175" y="287"/>
                  <a:pt x="1175" y="287"/>
                </a:cubicBezTo>
                <a:cubicBezTo>
                  <a:pt x="1152" y="302"/>
                  <a:pt x="1133" y="309"/>
                  <a:pt x="1107" y="317"/>
                </a:cubicBezTo>
                <a:cubicBezTo>
                  <a:pt x="1083" y="341"/>
                  <a:pt x="1056" y="360"/>
                  <a:pt x="1032" y="384"/>
                </a:cubicBezTo>
                <a:cubicBezTo>
                  <a:pt x="984" y="432"/>
                  <a:pt x="1036" y="397"/>
                  <a:pt x="988" y="437"/>
                </a:cubicBezTo>
                <a:cubicBezTo>
                  <a:pt x="947" y="472"/>
                  <a:pt x="894" y="480"/>
                  <a:pt x="845" y="497"/>
                </a:cubicBezTo>
                <a:cubicBezTo>
                  <a:pt x="794" y="600"/>
                  <a:pt x="872" y="453"/>
                  <a:pt x="801" y="549"/>
                </a:cubicBezTo>
                <a:cubicBezTo>
                  <a:pt x="779" y="579"/>
                  <a:pt x="774" y="622"/>
                  <a:pt x="756" y="654"/>
                </a:cubicBezTo>
                <a:cubicBezTo>
                  <a:pt x="733" y="695"/>
                  <a:pt x="740" y="674"/>
                  <a:pt x="711" y="699"/>
                </a:cubicBezTo>
                <a:cubicBezTo>
                  <a:pt x="667" y="737"/>
                  <a:pt x="699" y="723"/>
                  <a:pt x="658" y="736"/>
                </a:cubicBezTo>
                <a:cubicBezTo>
                  <a:pt x="632" y="774"/>
                  <a:pt x="589" y="804"/>
                  <a:pt x="569" y="848"/>
                </a:cubicBezTo>
                <a:cubicBezTo>
                  <a:pt x="551" y="888"/>
                  <a:pt x="540" y="932"/>
                  <a:pt x="516" y="968"/>
                </a:cubicBezTo>
                <a:cubicBezTo>
                  <a:pt x="499" y="993"/>
                  <a:pt x="477" y="1014"/>
                  <a:pt x="464" y="1043"/>
                </a:cubicBezTo>
                <a:cubicBezTo>
                  <a:pt x="458" y="1057"/>
                  <a:pt x="456" y="1074"/>
                  <a:pt x="449" y="1088"/>
                </a:cubicBezTo>
                <a:cubicBezTo>
                  <a:pt x="423" y="1140"/>
                  <a:pt x="423" y="1124"/>
                  <a:pt x="389" y="1162"/>
                </a:cubicBezTo>
                <a:cubicBezTo>
                  <a:pt x="355" y="1200"/>
                  <a:pt x="327" y="1239"/>
                  <a:pt x="284" y="1267"/>
                </a:cubicBezTo>
                <a:cubicBezTo>
                  <a:pt x="266" y="1298"/>
                  <a:pt x="241" y="1325"/>
                  <a:pt x="225" y="1357"/>
                </a:cubicBezTo>
                <a:cubicBezTo>
                  <a:pt x="201" y="1405"/>
                  <a:pt x="185" y="1444"/>
                  <a:pt x="142" y="1477"/>
                </a:cubicBezTo>
                <a:cubicBezTo>
                  <a:pt x="105" y="1550"/>
                  <a:pt x="150" y="1479"/>
                  <a:pt x="105" y="1514"/>
                </a:cubicBezTo>
                <a:cubicBezTo>
                  <a:pt x="86" y="1529"/>
                  <a:pt x="81" y="1555"/>
                  <a:pt x="67" y="1574"/>
                </a:cubicBezTo>
                <a:cubicBezTo>
                  <a:pt x="61" y="1582"/>
                  <a:pt x="52" y="1588"/>
                  <a:pt x="45" y="1596"/>
                </a:cubicBezTo>
                <a:cubicBezTo>
                  <a:pt x="39" y="1603"/>
                  <a:pt x="35" y="1611"/>
                  <a:pt x="30" y="1619"/>
                </a:cubicBezTo>
                <a:cubicBezTo>
                  <a:pt x="22" y="1643"/>
                  <a:pt x="9" y="1662"/>
                  <a:pt x="0" y="1686"/>
                </a:cubicBezTo>
                <a:cubicBezTo>
                  <a:pt x="3" y="1706"/>
                  <a:pt x="1" y="1727"/>
                  <a:pt x="8" y="1746"/>
                </a:cubicBezTo>
                <a:cubicBezTo>
                  <a:pt x="11" y="1754"/>
                  <a:pt x="22" y="1757"/>
                  <a:pt x="30" y="1761"/>
                </a:cubicBezTo>
                <a:cubicBezTo>
                  <a:pt x="65" y="1781"/>
                  <a:pt x="101" y="1784"/>
                  <a:pt x="135" y="1806"/>
                </a:cubicBezTo>
                <a:cubicBezTo>
                  <a:pt x="165" y="1848"/>
                  <a:pt x="181" y="1894"/>
                  <a:pt x="232" y="1910"/>
                </a:cubicBezTo>
                <a:cubicBezTo>
                  <a:pt x="414" y="1903"/>
                  <a:pt x="400" y="1933"/>
                  <a:pt x="486" y="1843"/>
                </a:cubicBezTo>
                <a:cubicBezTo>
                  <a:pt x="508" y="1782"/>
                  <a:pt x="474" y="1881"/>
                  <a:pt x="501" y="1761"/>
                </a:cubicBezTo>
                <a:cubicBezTo>
                  <a:pt x="510" y="1721"/>
                  <a:pt x="528" y="1681"/>
                  <a:pt x="539" y="1641"/>
                </a:cubicBezTo>
                <a:cubicBezTo>
                  <a:pt x="543" y="1595"/>
                  <a:pt x="541" y="1520"/>
                  <a:pt x="569" y="1477"/>
                </a:cubicBezTo>
                <a:cubicBezTo>
                  <a:pt x="583" y="1456"/>
                  <a:pt x="614" y="1417"/>
                  <a:pt x="614" y="1417"/>
                </a:cubicBezTo>
                <a:cubicBezTo>
                  <a:pt x="632" y="1360"/>
                  <a:pt x="636" y="1333"/>
                  <a:pt x="688" y="1297"/>
                </a:cubicBezTo>
                <a:cubicBezTo>
                  <a:pt x="710" y="1364"/>
                  <a:pt x="725" y="1437"/>
                  <a:pt x="786" y="1477"/>
                </a:cubicBezTo>
                <a:cubicBezTo>
                  <a:pt x="800" y="1539"/>
                  <a:pt x="807" y="1631"/>
                  <a:pt x="838" y="1686"/>
                </a:cubicBezTo>
                <a:cubicBezTo>
                  <a:pt x="857" y="1719"/>
                  <a:pt x="888" y="1743"/>
                  <a:pt x="905" y="1776"/>
                </a:cubicBezTo>
                <a:cubicBezTo>
                  <a:pt x="917" y="1799"/>
                  <a:pt x="916" y="1832"/>
                  <a:pt x="935" y="1851"/>
                </a:cubicBezTo>
                <a:cubicBezTo>
                  <a:pt x="948" y="1864"/>
                  <a:pt x="962" y="1877"/>
                  <a:pt x="980" y="1881"/>
                </a:cubicBezTo>
                <a:cubicBezTo>
                  <a:pt x="1002" y="1886"/>
                  <a:pt x="1047" y="1896"/>
                  <a:pt x="1047" y="1896"/>
                </a:cubicBezTo>
                <a:cubicBezTo>
                  <a:pt x="1090" y="1893"/>
                  <a:pt x="1133" y="1896"/>
                  <a:pt x="1175" y="1888"/>
                </a:cubicBezTo>
                <a:cubicBezTo>
                  <a:pt x="1186" y="1886"/>
                  <a:pt x="1214" y="1840"/>
                  <a:pt x="1219" y="1836"/>
                </a:cubicBezTo>
                <a:cubicBezTo>
                  <a:pt x="1232" y="1824"/>
                  <a:pt x="1264" y="1806"/>
                  <a:pt x="1264" y="1806"/>
                </a:cubicBezTo>
                <a:cubicBezTo>
                  <a:pt x="1283" y="1751"/>
                  <a:pt x="1262" y="1817"/>
                  <a:pt x="1279" y="1709"/>
                </a:cubicBezTo>
                <a:cubicBezTo>
                  <a:pt x="1283" y="1683"/>
                  <a:pt x="1301" y="1659"/>
                  <a:pt x="1309" y="1634"/>
                </a:cubicBezTo>
                <a:cubicBezTo>
                  <a:pt x="1304" y="1566"/>
                  <a:pt x="1319" y="1534"/>
                  <a:pt x="1257" y="1514"/>
                </a:cubicBezTo>
                <a:cubicBezTo>
                  <a:pt x="1245" y="1506"/>
                  <a:pt x="1212" y="1485"/>
                  <a:pt x="1204" y="1477"/>
                </a:cubicBezTo>
                <a:cubicBezTo>
                  <a:pt x="1198" y="1471"/>
                  <a:pt x="1197" y="1460"/>
                  <a:pt x="1190" y="1454"/>
                </a:cubicBezTo>
                <a:cubicBezTo>
                  <a:pt x="1148" y="1416"/>
                  <a:pt x="1099" y="1409"/>
                  <a:pt x="1055" y="1379"/>
                </a:cubicBezTo>
                <a:cubicBezTo>
                  <a:pt x="1046" y="1365"/>
                  <a:pt x="1032" y="1342"/>
                  <a:pt x="1017" y="1334"/>
                </a:cubicBezTo>
                <a:cubicBezTo>
                  <a:pt x="1004" y="1327"/>
                  <a:pt x="986" y="1328"/>
                  <a:pt x="973" y="1320"/>
                </a:cubicBezTo>
                <a:cubicBezTo>
                  <a:pt x="925" y="1291"/>
                  <a:pt x="948" y="1304"/>
                  <a:pt x="905" y="1282"/>
                </a:cubicBezTo>
                <a:cubicBezTo>
                  <a:pt x="882" y="1248"/>
                  <a:pt x="881" y="1227"/>
                  <a:pt x="875" y="1185"/>
                </a:cubicBezTo>
                <a:cubicBezTo>
                  <a:pt x="882" y="1055"/>
                  <a:pt x="867" y="1006"/>
                  <a:pt x="950" y="923"/>
                </a:cubicBezTo>
                <a:cubicBezTo>
                  <a:pt x="977" y="896"/>
                  <a:pt x="981" y="883"/>
                  <a:pt x="1017" y="871"/>
                </a:cubicBezTo>
                <a:cubicBezTo>
                  <a:pt x="1070" y="883"/>
                  <a:pt x="1062" y="906"/>
                  <a:pt x="1077" y="953"/>
                </a:cubicBezTo>
                <a:cubicBezTo>
                  <a:pt x="1081" y="1036"/>
                  <a:pt x="1074" y="1109"/>
                  <a:pt x="1100" y="1185"/>
                </a:cubicBezTo>
                <a:cubicBezTo>
                  <a:pt x="1106" y="1230"/>
                  <a:pt x="1101" y="1254"/>
                  <a:pt x="1145" y="1267"/>
                </a:cubicBezTo>
                <a:cubicBezTo>
                  <a:pt x="1180" y="1291"/>
                  <a:pt x="1200" y="1326"/>
                  <a:pt x="1234" y="1349"/>
                </a:cubicBezTo>
                <a:cubicBezTo>
                  <a:pt x="1266" y="1398"/>
                  <a:pt x="1322" y="1402"/>
                  <a:pt x="1377" y="1409"/>
                </a:cubicBezTo>
                <a:cubicBezTo>
                  <a:pt x="1419" y="1407"/>
                  <a:pt x="1463" y="1411"/>
                  <a:pt x="1504" y="1402"/>
                </a:cubicBezTo>
                <a:cubicBezTo>
                  <a:pt x="1512" y="1400"/>
                  <a:pt x="1506" y="1385"/>
                  <a:pt x="1511" y="1379"/>
                </a:cubicBezTo>
                <a:cubicBezTo>
                  <a:pt x="1528" y="1358"/>
                  <a:pt x="1563" y="1335"/>
                  <a:pt x="1586" y="1320"/>
                </a:cubicBezTo>
                <a:cubicBezTo>
                  <a:pt x="1581" y="1150"/>
                  <a:pt x="1629" y="1130"/>
                  <a:pt x="1534" y="1065"/>
                </a:cubicBezTo>
                <a:cubicBezTo>
                  <a:pt x="1491" y="1000"/>
                  <a:pt x="1464" y="965"/>
                  <a:pt x="1406" y="916"/>
                </a:cubicBezTo>
                <a:cubicBezTo>
                  <a:pt x="1375" y="890"/>
                  <a:pt x="1359" y="856"/>
                  <a:pt x="1324" y="833"/>
                </a:cubicBezTo>
                <a:cubicBezTo>
                  <a:pt x="1299" y="796"/>
                  <a:pt x="1287" y="753"/>
                  <a:pt x="1264" y="714"/>
                </a:cubicBezTo>
                <a:cubicBezTo>
                  <a:pt x="1255" y="699"/>
                  <a:pt x="1234" y="669"/>
                  <a:pt x="1234" y="669"/>
                </a:cubicBezTo>
                <a:cubicBezTo>
                  <a:pt x="1240" y="617"/>
                  <a:pt x="1228" y="580"/>
                  <a:pt x="1279" y="564"/>
                </a:cubicBezTo>
                <a:cubicBezTo>
                  <a:pt x="1330" y="513"/>
                  <a:pt x="1412" y="459"/>
                  <a:pt x="1481" y="437"/>
                </a:cubicBezTo>
                <a:cubicBezTo>
                  <a:pt x="1553" y="365"/>
                  <a:pt x="1674" y="388"/>
                  <a:pt x="1766" y="384"/>
                </a:cubicBezTo>
                <a:cubicBezTo>
                  <a:pt x="1828" y="387"/>
                  <a:pt x="1891" y="382"/>
                  <a:pt x="1953" y="392"/>
                </a:cubicBezTo>
                <a:cubicBezTo>
                  <a:pt x="1958" y="393"/>
                  <a:pt x="1967" y="459"/>
                  <a:pt x="1975" y="467"/>
                </a:cubicBezTo>
                <a:cubicBezTo>
                  <a:pt x="1990" y="482"/>
                  <a:pt x="2027" y="504"/>
                  <a:pt x="2027" y="504"/>
                </a:cubicBezTo>
                <a:cubicBezTo>
                  <a:pt x="2062" y="556"/>
                  <a:pt x="2040" y="543"/>
                  <a:pt x="2080" y="557"/>
                </a:cubicBezTo>
                <a:cubicBezTo>
                  <a:pt x="2103" y="580"/>
                  <a:pt x="2121" y="583"/>
                  <a:pt x="2147" y="601"/>
                </a:cubicBezTo>
                <a:cubicBezTo>
                  <a:pt x="2157" y="616"/>
                  <a:pt x="2167" y="631"/>
                  <a:pt x="2177" y="646"/>
                </a:cubicBezTo>
                <a:cubicBezTo>
                  <a:pt x="2182" y="654"/>
                  <a:pt x="2192" y="669"/>
                  <a:pt x="2192" y="669"/>
                </a:cubicBezTo>
                <a:cubicBezTo>
                  <a:pt x="2190" y="713"/>
                  <a:pt x="2199" y="869"/>
                  <a:pt x="2125" y="893"/>
                </a:cubicBezTo>
                <a:cubicBezTo>
                  <a:pt x="2124" y="896"/>
                  <a:pt x="2098" y="950"/>
                  <a:pt x="2087" y="960"/>
                </a:cubicBezTo>
                <a:cubicBezTo>
                  <a:pt x="2073" y="972"/>
                  <a:pt x="2042" y="990"/>
                  <a:pt x="2042" y="990"/>
                </a:cubicBezTo>
                <a:cubicBezTo>
                  <a:pt x="2037" y="998"/>
                  <a:pt x="2033" y="1006"/>
                  <a:pt x="2027" y="1013"/>
                </a:cubicBezTo>
                <a:cubicBezTo>
                  <a:pt x="2021" y="1019"/>
                  <a:pt x="2011" y="1021"/>
                  <a:pt x="2005" y="1028"/>
                </a:cubicBezTo>
                <a:cubicBezTo>
                  <a:pt x="1993" y="1042"/>
                  <a:pt x="1985" y="1058"/>
                  <a:pt x="1975" y="1073"/>
                </a:cubicBezTo>
                <a:cubicBezTo>
                  <a:pt x="1965" y="1088"/>
                  <a:pt x="1945" y="1118"/>
                  <a:pt x="1945" y="1118"/>
                </a:cubicBezTo>
                <a:cubicBezTo>
                  <a:pt x="1943" y="1125"/>
                  <a:pt x="1938" y="1132"/>
                  <a:pt x="1938" y="1140"/>
                </a:cubicBezTo>
                <a:cubicBezTo>
                  <a:pt x="1938" y="1175"/>
                  <a:pt x="1939" y="1210"/>
                  <a:pt x="1945" y="1245"/>
                </a:cubicBezTo>
                <a:cubicBezTo>
                  <a:pt x="1950" y="1272"/>
                  <a:pt x="1965" y="1265"/>
                  <a:pt x="1982" y="1275"/>
                </a:cubicBezTo>
                <a:cubicBezTo>
                  <a:pt x="2021" y="1297"/>
                  <a:pt x="2032" y="1306"/>
                  <a:pt x="2072" y="1320"/>
                </a:cubicBezTo>
                <a:cubicBezTo>
                  <a:pt x="2080" y="1327"/>
                  <a:pt x="2086" y="1336"/>
                  <a:pt x="2095" y="1342"/>
                </a:cubicBezTo>
                <a:cubicBezTo>
                  <a:pt x="2101" y="1346"/>
                  <a:pt x="2111" y="1344"/>
                  <a:pt x="2117" y="1349"/>
                </a:cubicBezTo>
                <a:cubicBezTo>
                  <a:pt x="2124" y="1355"/>
                  <a:pt x="2125" y="1366"/>
                  <a:pt x="2132" y="1372"/>
                </a:cubicBezTo>
                <a:cubicBezTo>
                  <a:pt x="2147" y="1384"/>
                  <a:pt x="2189" y="1390"/>
                  <a:pt x="2207" y="1394"/>
                </a:cubicBezTo>
                <a:cubicBezTo>
                  <a:pt x="2259" y="1392"/>
                  <a:pt x="2312" y="1396"/>
                  <a:pt x="2364" y="1387"/>
                </a:cubicBezTo>
                <a:cubicBezTo>
                  <a:pt x="2380" y="1384"/>
                  <a:pt x="2385" y="1331"/>
                  <a:pt x="2386" y="1327"/>
                </a:cubicBezTo>
                <a:cubicBezTo>
                  <a:pt x="2408" y="1239"/>
                  <a:pt x="2387" y="1260"/>
                  <a:pt x="2431" y="1230"/>
                </a:cubicBezTo>
                <a:cubicBezTo>
                  <a:pt x="2469" y="1120"/>
                  <a:pt x="2389" y="973"/>
                  <a:pt x="2499" y="901"/>
                </a:cubicBezTo>
                <a:cubicBezTo>
                  <a:pt x="2574" y="913"/>
                  <a:pt x="2579" y="938"/>
                  <a:pt x="2633" y="975"/>
                </a:cubicBezTo>
                <a:cubicBezTo>
                  <a:pt x="2661" y="1056"/>
                  <a:pt x="2630" y="1142"/>
                  <a:pt x="2611" y="1222"/>
                </a:cubicBezTo>
                <a:cubicBezTo>
                  <a:pt x="2619" y="1346"/>
                  <a:pt x="2597" y="1387"/>
                  <a:pt x="2716" y="1409"/>
                </a:cubicBezTo>
                <a:cubicBezTo>
                  <a:pt x="2826" y="1404"/>
                  <a:pt x="2833" y="1405"/>
                  <a:pt x="2910" y="1387"/>
                </a:cubicBezTo>
                <a:cubicBezTo>
                  <a:pt x="2917" y="1382"/>
                  <a:pt x="2923" y="1371"/>
                  <a:pt x="2932" y="1372"/>
                </a:cubicBezTo>
                <a:cubicBezTo>
                  <a:pt x="2957" y="1376"/>
                  <a:pt x="2977" y="1462"/>
                  <a:pt x="2985" y="1484"/>
                </a:cubicBezTo>
                <a:cubicBezTo>
                  <a:pt x="2979" y="1547"/>
                  <a:pt x="2973" y="1604"/>
                  <a:pt x="2918" y="1641"/>
                </a:cubicBezTo>
                <a:cubicBezTo>
                  <a:pt x="2927" y="1724"/>
                  <a:pt x="2923" y="1815"/>
                  <a:pt x="3015" y="1843"/>
                </a:cubicBezTo>
                <a:cubicBezTo>
                  <a:pt x="3052" y="1869"/>
                  <a:pt x="3098" y="1867"/>
                  <a:pt x="3142" y="1873"/>
                </a:cubicBezTo>
                <a:cubicBezTo>
                  <a:pt x="3269" y="1869"/>
                  <a:pt x="3329" y="1909"/>
                  <a:pt x="3389" y="1821"/>
                </a:cubicBezTo>
                <a:cubicBezTo>
                  <a:pt x="3398" y="1774"/>
                  <a:pt x="3399" y="1725"/>
                  <a:pt x="3411" y="1679"/>
                </a:cubicBezTo>
                <a:cubicBezTo>
                  <a:pt x="3419" y="1649"/>
                  <a:pt x="3446" y="1620"/>
                  <a:pt x="3456" y="1589"/>
                </a:cubicBezTo>
                <a:cubicBezTo>
                  <a:pt x="3452" y="1524"/>
                  <a:pt x="3478" y="1452"/>
                  <a:pt x="3411" y="1432"/>
                </a:cubicBezTo>
                <a:cubicBezTo>
                  <a:pt x="3353" y="1372"/>
                  <a:pt x="3311" y="1374"/>
                  <a:pt x="3239" y="1349"/>
                </a:cubicBezTo>
                <a:cubicBezTo>
                  <a:pt x="3199" y="1290"/>
                  <a:pt x="3251" y="1361"/>
                  <a:pt x="3202" y="1312"/>
                </a:cubicBezTo>
                <a:cubicBezTo>
                  <a:pt x="3166" y="1276"/>
                  <a:pt x="3148" y="1225"/>
                  <a:pt x="3120" y="1185"/>
                </a:cubicBezTo>
                <a:cubicBezTo>
                  <a:pt x="3072" y="1116"/>
                  <a:pt x="3119" y="1204"/>
                  <a:pt x="3082" y="1140"/>
                </a:cubicBezTo>
                <a:cubicBezTo>
                  <a:pt x="3030" y="1049"/>
                  <a:pt x="3105" y="1166"/>
                  <a:pt x="3045" y="1088"/>
                </a:cubicBezTo>
                <a:cubicBezTo>
                  <a:pt x="3034" y="1074"/>
                  <a:pt x="3015" y="1043"/>
                  <a:pt x="3015" y="1043"/>
                </a:cubicBezTo>
                <a:cubicBezTo>
                  <a:pt x="3009" y="1020"/>
                  <a:pt x="3004" y="989"/>
                  <a:pt x="2992" y="968"/>
                </a:cubicBezTo>
                <a:cubicBezTo>
                  <a:pt x="2967" y="925"/>
                  <a:pt x="2976" y="950"/>
                  <a:pt x="2947" y="916"/>
                </a:cubicBezTo>
                <a:cubicBezTo>
                  <a:pt x="2909" y="871"/>
                  <a:pt x="2879" y="829"/>
                  <a:pt x="2820" y="811"/>
                </a:cubicBezTo>
                <a:cubicBezTo>
                  <a:pt x="2810" y="803"/>
                  <a:pt x="2798" y="797"/>
                  <a:pt x="2790" y="788"/>
                </a:cubicBezTo>
                <a:cubicBezTo>
                  <a:pt x="2778" y="775"/>
                  <a:pt x="2760" y="744"/>
                  <a:pt x="2760" y="744"/>
                </a:cubicBezTo>
                <a:cubicBezTo>
                  <a:pt x="2752" y="709"/>
                  <a:pt x="2746" y="696"/>
                  <a:pt x="2716" y="676"/>
                </a:cubicBezTo>
                <a:cubicBezTo>
                  <a:pt x="2699" y="651"/>
                  <a:pt x="2680" y="627"/>
                  <a:pt x="2663" y="601"/>
                </a:cubicBezTo>
                <a:cubicBezTo>
                  <a:pt x="2657" y="576"/>
                  <a:pt x="2651" y="543"/>
                  <a:pt x="2641" y="519"/>
                </a:cubicBezTo>
                <a:cubicBezTo>
                  <a:pt x="2614" y="455"/>
                  <a:pt x="2535" y="442"/>
                  <a:pt x="2484" y="407"/>
                </a:cubicBezTo>
                <a:cubicBezTo>
                  <a:pt x="2465" y="378"/>
                  <a:pt x="2445" y="359"/>
                  <a:pt x="2416" y="340"/>
                </a:cubicBezTo>
                <a:cubicBezTo>
                  <a:pt x="2393" y="308"/>
                  <a:pt x="2372" y="292"/>
                  <a:pt x="2334" y="280"/>
                </a:cubicBezTo>
                <a:cubicBezTo>
                  <a:pt x="2292" y="236"/>
                  <a:pt x="2335" y="273"/>
                  <a:pt x="2274" y="250"/>
                </a:cubicBezTo>
                <a:cubicBezTo>
                  <a:pt x="2266" y="247"/>
                  <a:pt x="2260" y="238"/>
                  <a:pt x="2252" y="235"/>
                </a:cubicBezTo>
                <a:cubicBezTo>
                  <a:pt x="2204" y="218"/>
                  <a:pt x="2151" y="214"/>
                  <a:pt x="2102" y="197"/>
                </a:cubicBezTo>
                <a:cubicBezTo>
                  <a:pt x="2068" y="147"/>
                  <a:pt x="2089" y="159"/>
                  <a:pt x="2050" y="145"/>
                </a:cubicBezTo>
                <a:cubicBezTo>
                  <a:pt x="2032" y="119"/>
                  <a:pt x="2015" y="119"/>
                  <a:pt x="1997" y="93"/>
                </a:cubicBezTo>
                <a:cubicBezTo>
                  <a:pt x="1989" y="65"/>
                  <a:pt x="1985" y="29"/>
                  <a:pt x="1975" y="3"/>
                </a:cubicBezTo>
                <a:cubicBezTo>
                  <a:pt x="1974" y="0"/>
                  <a:pt x="1970" y="8"/>
                  <a:pt x="1968" y="1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104" name="Text Box 24"/>
          <p:cNvSpPr txBox="1">
            <a:spLocks noChangeArrowheads="1"/>
          </p:cNvSpPr>
          <p:nvPr/>
        </p:nvSpPr>
        <p:spPr bwMode="auto">
          <a:xfrm>
            <a:off x="152400" y="49530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NLR – visit when at the left of the Node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5943600" y="4953000"/>
            <a:ext cx="2362200" cy="457200"/>
            <a:chOff x="3744" y="3120"/>
            <a:chExt cx="1488" cy="288"/>
          </a:xfrm>
        </p:grpSpPr>
        <p:sp>
          <p:nvSpPr>
            <p:cNvPr id="46106" name="Text Box 26"/>
            <p:cNvSpPr txBox="1">
              <a:spLocks noChangeArrowheads="1"/>
            </p:cNvSpPr>
            <p:nvPr/>
          </p:nvSpPr>
          <p:spPr bwMode="auto">
            <a:xfrm>
              <a:off x="3744" y="312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46107" name="Text Box 27"/>
            <p:cNvSpPr txBox="1">
              <a:spLocks noChangeArrowheads="1"/>
            </p:cNvSpPr>
            <p:nvPr/>
          </p:nvSpPr>
          <p:spPr bwMode="auto">
            <a:xfrm>
              <a:off x="3888" y="312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B</a:t>
              </a:r>
            </a:p>
          </p:txBody>
        </p:sp>
        <p:sp>
          <p:nvSpPr>
            <p:cNvPr id="46108" name="Text Box 28"/>
            <p:cNvSpPr txBox="1">
              <a:spLocks noChangeArrowheads="1"/>
            </p:cNvSpPr>
            <p:nvPr/>
          </p:nvSpPr>
          <p:spPr bwMode="auto">
            <a:xfrm>
              <a:off x="4032" y="312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C</a:t>
              </a:r>
            </a:p>
          </p:txBody>
        </p:sp>
        <p:sp>
          <p:nvSpPr>
            <p:cNvPr id="46109" name="Text Box 29"/>
            <p:cNvSpPr txBox="1">
              <a:spLocks noChangeArrowheads="1"/>
            </p:cNvSpPr>
            <p:nvPr/>
          </p:nvSpPr>
          <p:spPr bwMode="auto">
            <a:xfrm>
              <a:off x="4176" y="312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Q</a:t>
              </a:r>
            </a:p>
          </p:txBody>
        </p:sp>
        <p:sp>
          <p:nvSpPr>
            <p:cNvPr id="46110" name="Text Box 30"/>
            <p:cNvSpPr txBox="1">
              <a:spLocks noChangeArrowheads="1"/>
            </p:cNvSpPr>
            <p:nvPr/>
          </p:nvSpPr>
          <p:spPr bwMode="auto">
            <a:xfrm>
              <a:off x="4320" y="3120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46111" name="Text Box 31"/>
            <p:cNvSpPr txBox="1">
              <a:spLocks noChangeArrowheads="1"/>
            </p:cNvSpPr>
            <p:nvPr/>
          </p:nvSpPr>
          <p:spPr bwMode="auto">
            <a:xfrm>
              <a:off x="4464" y="3120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46112" name="Text Box 32"/>
            <p:cNvSpPr txBox="1">
              <a:spLocks noChangeArrowheads="1"/>
            </p:cNvSpPr>
            <p:nvPr/>
          </p:nvSpPr>
          <p:spPr bwMode="auto">
            <a:xfrm>
              <a:off x="4608" y="312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K</a:t>
              </a:r>
            </a:p>
          </p:txBody>
        </p:sp>
        <p:sp>
          <p:nvSpPr>
            <p:cNvPr id="46113" name="Text Box 33"/>
            <p:cNvSpPr txBox="1">
              <a:spLocks noChangeArrowheads="1"/>
            </p:cNvSpPr>
            <p:nvPr/>
          </p:nvSpPr>
          <p:spPr bwMode="auto">
            <a:xfrm>
              <a:off x="4752" y="312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46114" name="Text Box 34"/>
            <p:cNvSpPr txBox="1">
              <a:spLocks noChangeArrowheads="1"/>
            </p:cNvSpPr>
            <p:nvPr/>
          </p:nvSpPr>
          <p:spPr bwMode="auto">
            <a:xfrm>
              <a:off x="4848" y="3120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X</a:t>
              </a:r>
            </a:p>
          </p:txBody>
        </p:sp>
        <p:sp>
          <p:nvSpPr>
            <p:cNvPr id="46115" name="Text Box 35"/>
            <p:cNvSpPr txBox="1">
              <a:spLocks noChangeArrowheads="1"/>
            </p:cNvSpPr>
            <p:nvPr/>
          </p:nvSpPr>
          <p:spPr bwMode="auto">
            <a:xfrm>
              <a:off x="4992" y="312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P</a:t>
              </a:r>
            </a:p>
          </p:txBody>
        </p:sp>
      </p:grpSp>
      <p:sp>
        <p:nvSpPr>
          <p:cNvPr id="46116" name="Text Box 36"/>
          <p:cNvSpPr txBox="1">
            <a:spLocks noChangeArrowheads="1"/>
          </p:cNvSpPr>
          <p:nvPr/>
        </p:nvSpPr>
        <p:spPr bwMode="auto">
          <a:xfrm>
            <a:off x="152400" y="54102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LNR – visit when under the Node</a:t>
            </a:r>
          </a:p>
        </p:txBody>
      </p: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5943600" y="5410200"/>
            <a:ext cx="2438400" cy="457200"/>
            <a:chOff x="3744" y="3408"/>
            <a:chExt cx="1536" cy="288"/>
          </a:xfrm>
        </p:grpSpPr>
        <p:sp>
          <p:nvSpPr>
            <p:cNvPr id="46118" name="Text Box 38"/>
            <p:cNvSpPr txBox="1">
              <a:spLocks noChangeArrowheads="1"/>
            </p:cNvSpPr>
            <p:nvPr/>
          </p:nvSpPr>
          <p:spPr bwMode="auto">
            <a:xfrm>
              <a:off x="3744" y="340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Q</a:t>
              </a:r>
            </a:p>
          </p:txBody>
        </p:sp>
        <p:sp>
          <p:nvSpPr>
            <p:cNvPr id="46119" name="Text Box 39"/>
            <p:cNvSpPr txBox="1">
              <a:spLocks noChangeArrowheads="1"/>
            </p:cNvSpPr>
            <p:nvPr/>
          </p:nvSpPr>
          <p:spPr bwMode="auto">
            <a:xfrm>
              <a:off x="3888" y="340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C</a:t>
              </a:r>
            </a:p>
          </p:txBody>
        </p:sp>
        <p:sp>
          <p:nvSpPr>
            <p:cNvPr id="46120" name="Text Box 40"/>
            <p:cNvSpPr txBox="1">
              <a:spLocks noChangeArrowheads="1"/>
            </p:cNvSpPr>
            <p:nvPr/>
          </p:nvSpPr>
          <p:spPr bwMode="auto">
            <a:xfrm>
              <a:off x="4032" y="340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46121" name="Text Box 41"/>
            <p:cNvSpPr txBox="1">
              <a:spLocks noChangeArrowheads="1"/>
            </p:cNvSpPr>
            <p:nvPr/>
          </p:nvSpPr>
          <p:spPr bwMode="auto">
            <a:xfrm>
              <a:off x="4224" y="340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B</a:t>
              </a:r>
            </a:p>
          </p:txBody>
        </p:sp>
        <p:sp>
          <p:nvSpPr>
            <p:cNvPr id="46122" name="Text Box 42"/>
            <p:cNvSpPr txBox="1">
              <a:spLocks noChangeArrowheads="1"/>
            </p:cNvSpPr>
            <p:nvPr/>
          </p:nvSpPr>
          <p:spPr bwMode="auto">
            <a:xfrm>
              <a:off x="4368" y="340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46123" name="Text Box 43"/>
            <p:cNvSpPr txBox="1">
              <a:spLocks noChangeArrowheads="1"/>
            </p:cNvSpPr>
            <p:nvPr/>
          </p:nvSpPr>
          <p:spPr bwMode="auto">
            <a:xfrm>
              <a:off x="4512" y="340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46124" name="Text Box 44"/>
            <p:cNvSpPr txBox="1">
              <a:spLocks noChangeArrowheads="1"/>
            </p:cNvSpPr>
            <p:nvPr/>
          </p:nvSpPr>
          <p:spPr bwMode="auto">
            <a:xfrm>
              <a:off x="4656" y="340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46125" name="Text Box 45"/>
            <p:cNvSpPr txBox="1">
              <a:spLocks noChangeArrowheads="1"/>
            </p:cNvSpPr>
            <p:nvPr/>
          </p:nvSpPr>
          <p:spPr bwMode="auto">
            <a:xfrm>
              <a:off x="4800" y="340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K</a:t>
              </a:r>
            </a:p>
          </p:txBody>
        </p:sp>
        <p:sp>
          <p:nvSpPr>
            <p:cNvPr id="46126" name="Text Box 46"/>
            <p:cNvSpPr txBox="1">
              <a:spLocks noChangeArrowheads="1"/>
            </p:cNvSpPr>
            <p:nvPr/>
          </p:nvSpPr>
          <p:spPr bwMode="auto">
            <a:xfrm>
              <a:off x="4896" y="340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X</a:t>
              </a:r>
            </a:p>
          </p:txBody>
        </p:sp>
        <p:sp>
          <p:nvSpPr>
            <p:cNvPr id="46127" name="Text Box 47"/>
            <p:cNvSpPr txBox="1">
              <a:spLocks noChangeArrowheads="1"/>
            </p:cNvSpPr>
            <p:nvPr/>
          </p:nvSpPr>
          <p:spPr bwMode="auto">
            <a:xfrm>
              <a:off x="5040" y="340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P</a:t>
              </a:r>
            </a:p>
          </p:txBody>
        </p:sp>
      </p:grpSp>
      <p:sp>
        <p:nvSpPr>
          <p:cNvPr id="46128" name="Text Box 48"/>
          <p:cNvSpPr txBox="1">
            <a:spLocks noChangeArrowheads="1"/>
          </p:cNvSpPr>
          <p:nvPr/>
        </p:nvSpPr>
        <p:spPr bwMode="auto">
          <a:xfrm>
            <a:off x="152400" y="5867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LRN – visit when at the right of the Node</a:t>
            </a:r>
          </a:p>
        </p:txBody>
      </p: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5943600" y="5867400"/>
            <a:ext cx="2438400" cy="457200"/>
            <a:chOff x="3744" y="3696"/>
            <a:chExt cx="1536" cy="288"/>
          </a:xfrm>
        </p:grpSpPr>
        <p:sp>
          <p:nvSpPr>
            <p:cNvPr id="46130" name="Text Box 50"/>
            <p:cNvSpPr txBox="1">
              <a:spLocks noChangeArrowheads="1"/>
            </p:cNvSpPr>
            <p:nvPr/>
          </p:nvSpPr>
          <p:spPr bwMode="auto">
            <a:xfrm>
              <a:off x="3744" y="369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Q</a:t>
              </a:r>
            </a:p>
          </p:txBody>
        </p:sp>
        <p:sp>
          <p:nvSpPr>
            <p:cNvPr id="46131" name="Text Box 51"/>
            <p:cNvSpPr txBox="1">
              <a:spLocks noChangeArrowheads="1"/>
            </p:cNvSpPr>
            <p:nvPr/>
          </p:nvSpPr>
          <p:spPr bwMode="auto">
            <a:xfrm>
              <a:off x="3888" y="369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46132" name="Text Box 52"/>
            <p:cNvSpPr txBox="1">
              <a:spLocks noChangeArrowheads="1"/>
            </p:cNvSpPr>
            <p:nvPr/>
          </p:nvSpPr>
          <p:spPr bwMode="auto">
            <a:xfrm>
              <a:off x="4032" y="369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C</a:t>
              </a:r>
            </a:p>
          </p:txBody>
        </p:sp>
        <p:sp>
          <p:nvSpPr>
            <p:cNvPr id="46133" name="Text Box 53"/>
            <p:cNvSpPr txBox="1">
              <a:spLocks noChangeArrowheads="1"/>
            </p:cNvSpPr>
            <p:nvPr/>
          </p:nvSpPr>
          <p:spPr bwMode="auto">
            <a:xfrm>
              <a:off x="4224" y="369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46134" name="Text Box 54"/>
            <p:cNvSpPr txBox="1">
              <a:spLocks noChangeArrowheads="1"/>
            </p:cNvSpPr>
            <p:nvPr/>
          </p:nvSpPr>
          <p:spPr bwMode="auto">
            <a:xfrm>
              <a:off x="4368" y="369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B</a:t>
              </a:r>
            </a:p>
          </p:txBody>
        </p:sp>
        <p:sp>
          <p:nvSpPr>
            <p:cNvPr id="46135" name="Text Box 55"/>
            <p:cNvSpPr txBox="1">
              <a:spLocks noChangeArrowheads="1"/>
            </p:cNvSpPr>
            <p:nvPr/>
          </p:nvSpPr>
          <p:spPr bwMode="auto">
            <a:xfrm>
              <a:off x="4512" y="369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46136" name="Text Box 56"/>
            <p:cNvSpPr txBox="1">
              <a:spLocks noChangeArrowheads="1"/>
            </p:cNvSpPr>
            <p:nvPr/>
          </p:nvSpPr>
          <p:spPr bwMode="auto">
            <a:xfrm>
              <a:off x="4656" y="369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P</a:t>
              </a:r>
            </a:p>
          </p:txBody>
        </p:sp>
        <p:sp>
          <p:nvSpPr>
            <p:cNvPr id="46137" name="Text Box 57"/>
            <p:cNvSpPr txBox="1">
              <a:spLocks noChangeArrowheads="1"/>
            </p:cNvSpPr>
            <p:nvPr/>
          </p:nvSpPr>
          <p:spPr bwMode="auto">
            <a:xfrm>
              <a:off x="4800" y="369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X</a:t>
              </a:r>
            </a:p>
          </p:txBody>
        </p:sp>
        <p:sp>
          <p:nvSpPr>
            <p:cNvPr id="46138" name="Text Box 58"/>
            <p:cNvSpPr txBox="1">
              <a:spLocks noChangeArrowheads="1"/>
            </p:cNvSpPr>
            <p:nvPr/>
          </p:nvSpPr>
          <p:spPr bwMode="auto">
            <a:xfrm>
              <a:off x="4896" y="369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K</a:t>
              </a:r>
            </a:p>
          </p:txBody>
        </p:sp>
        <p:sp>
          <p:nvSpPr>
            <p:cNvPr id="46139" name="Text Box 59"/>
            <p:cNvSpPr txBox="1">
              <a:spLocks noChangeArrowheads="1"/>
            </p:cNvSpPr>
            <p:nvPr/>
          </p:nvSpPr>
          <p:spPr bwMode="auto">
            <a:xfrm>
              <a:off x="5040" y="369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</a:rPr>
                <a:t>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03" grpId="0" animBg="1"/>
      <p:bldP spid="46104" grpId="0" autoUpdateAnimBg="0"/>
      <p:bldP spid="46116" grpId="0" autoUpdateAnimBg="0"/>
      <p:bldP spid="4612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38400" y="1066800"/>
            <a:ext cx="4419600" cy="2743200"/>
            <a:chOff x="1824" y="1008"/>
            <a:chExt cx="2784" cy="1728"/>
          </a:xfrm>
        </p:grpSpPr>
        <p:sp>
          <p:nvSpPr>
            <p:cNvPr id="47107" name="Oval 3"/>
            <p:cNvSpPr>
              <a:spLocks noChangeArrowheads="1"/>
            </p:cNvSpPr>
            <p:nvPr/>
          </p:nvSpPr>
          <p:spPr bwMode="auto">
            <a:xfrm>
              <a:off x="2880" y="100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-</a:t>
              </a:r>
            </a:p>
          </p:txBody>
        </p:sp>
        <p:sp>
          <p:nvSpPr>
            <p:cNvPr id="47108" name="Oval 4"/>
            <p:cNvSpPr>
              <a:spLocks noChangeArrowheads="1"/>
            </p:cNvSpPr>
            <p:nvPr/>
          </p:nvSpPr>
          <p:spPr bwMode="auto">
            <a:xfrm>
              <a:off x="3600" y="148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/</a:t>
              </a:r>
            </a:p>
          </p:txBody>
        </p:sp>
        <p:sp>
          <p:nvSpPr>
            <p:cNvPr id="47109" name="Oval 5"/>
            <p:cNvSpPr>
              <a:spLocks noChangeArrowheads="1"/>
            </p:cNvSpPr>
            <p:nvPr/>
          </p:nvSpPr>
          <p:spPr bwMode="auto">
            <a:xfrm>
              <a:off x="2160" y="148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+</a:t>
              </a:r>
            </a:p>
          </p:txBody>
        </p:sp>
        <p:sp>
          <p:nvSpPr>
            <p:cNvPr id="47110" name="Oval 6"/>
            <p:cNvSpPr>
              <a:spLocks noChangeArrowheads="1"/>
            </p:cNvSpPr>
            <p:nvPr/>
          </p:nvSpPr>
          <p:spPr bwMode="auto">
            <a:xfrm>
              <a:off x="1824" y="196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47111" name="Oval 7"/>
            <p:cNvSpPr>
              <a:spLocks noChangeArrowheads="1"/>
            </p:cNvSpPr>
            <p:nvPr/>
          </p:nvSpPr>
          <p:spPr bwMode="auto">
            <a:xfrm>
              <a:off x="2448" y="196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*</a:t>
              </a:r>
            </a:p>
          </p:txBody>
        </p:sp>
        <p:sp>
          <p:nvSpPr>
            <p:cNvPr id="47112" name="Oval 8"/>
            <p:cNvSpPr>
              <a:spLocks noChangeArrowheads="1"/>
            </p:cNvSpPr>
            <p:nvPr/>
          </p:nvSpPr>
          <p:spPr bwMode="auto">
            <a:xfrm>
              <a:off x="3360" y="196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3984" y="196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*</a:t>
              </a: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4320" y="244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47115" name="Oval 11"/>
            <p:cNvSpPr>
              <a:spLocks noChangeArrowheads="1"/>
            </p:cNvSpPr>
            <p:nvPr/>
          </p:nvSpPr>
          <p:spPr bwMode="auto">
            <a:xfrm>
              <a:off x="2832" y="244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2064" y="244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47117" name="Line 13"/>
            <p:cNvSpPr>
              <a:spLocks noChangeShapeType="1"/>
            </p:cNvSpPr>
            <p:nvPr/>
          </p:nvSpPr>
          <p:spPr bwMode="auto">
            <a:xfrm flipH="1">
              <a:off x="2400" y="124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18" name="Line 14"/>
            <p:cNvSpPr>
              <a:spLocks noChangeShapeType="1"/>
            </p:cNvSpPr>
            <p:nvPr/>
          </p:nvSpPr>
          <p:spPr bwMode="auto">
            <a:xfrm>
              <a:off x="3168" y="1248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19" name="Line 15"/>
            <p:cNvSpPr>
              <a:spLocks noChangeShapeType="1"/>
            </p:cNvSpPr>
            <p:nvPr/>
          </p:nvSpPr>
          <p:spPr bwMode="auto">
            <a:xfrm>
              <a:off x="3840" y="1728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0" name="Line 16"/>
            <p:cNvSpPr>
              <a:spLocks noChangeShapeType="1"/>
            </p:cNvSpPr>
            <p:nvPr/>
          </p:nvSpPr>
          <p:spPr bwMode="auto">
            <a:xfrm flipH="1">
              <a:off x="3552" y="177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1" name="Line 17"/>
            <p:cNvSpPr>
              <a:spLocks noChangeShapeType="1"/>
            </p:cNvSpPr>
            <p:nvPr/>
          </p:nvSpPr>
          <p:spPr bwMode="auto">
            <a:xfrm flipH="1">
              <a:off x="2016" y="172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2" name="Line 18"/>
            <p:cNvSpPr>
              <a:spLocks noChangeShapeType="1"/>
            </p:cNvSpPr>
            <p:nvPr/>
          </p:nvSpPr>
          <p:spPr bwMode="auto">
            <a:xfrm>
              <a:off x="2400" y="1728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3" name="Line 19"/>
            <p:cNvSpPr>
              <a:spLocks noChangeShapeType="1"/>
            </p:cNvSpPr>
            <p:nvPr/>
          </p:nvSpPr>
          <p:spPr bwMode="auto">
            <a:xfrm>
              <a:off x="4224" y="2208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 flipH="1">
              <a:off x="2304" y="220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Line 21"/>
            <p:cNvSpPr>
              <a:spLocks noChangeShapeType="1"/>
            </p:cNvSpPr>
            <p:nvPr/>
          </p:nvSpPr>
          <p:spPr bwMode="auto">
            <a:xfrm>
              <a:off x="2688" y="220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3744" y="2448"/>
              <a:ext cx="288" cy="28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chemeClr val="bg1"/>
                  </a:solidFill>
                </a:rPr>
                <a:t>E</a:t>
              </a:r>
            </a:p>
          </p:txBody>
        </p:sp>
        <p:sp>
          <p:nvSpPr>
            <p:cNvPr id="47127" name="Line 23"/>
            <p:cNvSpPr>
              <a:spLocks noChangeShapeType="1"/>
            </p:cNvSpPr>
            <p:nvPr/>
          </p:nvSpPr>
          <p:spPr bwMode="auto">
            <a:xfrm flipH="1">
              <a:off x="3936" y="225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28" name="Text Box 24"/>
          <p:cNvSpPr txBox="1">
            <a:spLocks noChangeArrowheads="1"/>
          </p:cNvSpPr>
          <p:nvPr/>
        </p:nvSpPr>
        <p:spPr bwMode="auto">
          <a:xfrm>
            <a:off x="304800" y="4038600"/>
            <a:ext cx="7772400" cy="584775"/>
          </a:xfrm>
          <a:prstGeom prst="rect">
            <a:avLst/>
          </a:prstGeom>
          <a:solidFill>
            <a:srgbClr val="990099"/>
          </a:solidFill>
          <a:ln w="9525">
            <a:solidFill>
              <a:srgbClr val="990099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chemeClr val="bg1"/>
                </a:solidFill>
              </a:rPr>
              <a:t>LNR: A+B*C-D/E*F      Infix Expression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>
            <a:off x="304800" y="4911725"/>
            <a:ext cx="7772400" cy="584775"/>
          </a:xfrm>
          <a:prstGeom prst="rect">
            <a:avLst/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chemeClr val="bg1"/>
                </a:solidFill>
              </a:rPr>
              <a:t>NLR: -+A*BC/D*EF      Prefix Expression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304800" y="5749925"/>
            <a:ext cx="7772400" cy="584775"/>
          </a:xfrm>
          <a:prstGeom prst="rect">
            <a:avLst/>
          </a:prstGeom>
          <a:solidFill>
            <a:srgbClr val="008000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>
                <a:solidFill>
                  <a:schemeClr val="bg1"/>
                </a:solidFill>
              </a:rPr>
              <a:t>LRN: ABC*+DEF*/-      Postfix Expression</a:t>
            </a:r>
          </a:p>
        </p:txBody>
      </p:sp>
      <p:sp>
        <p:nvSpPr>
          <p:cNvPr id="47131" name="Rectangle 27"/>
          <p:cNvSpPr>
            <a:spLocks noChangeArrowheads="1"/>
          </p:cNvSpPr>
          <p:nvPr/>
        </p:nvSpPr>
        <p:spPr bwMode="auto">
          <a:xfrm>
            <a:off x="685800" y="2286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4000">
                <a:solidFill>
                  <a:schemeClr val="tx2"/>
                </a:solidFill>
              </a:rPr>
              <a:t>Expression Tree</a:t>
            </a:r>
            <a:endParaRPr lang="en-US" sz="32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8" grpId="0" animBg="1" autoUpdateAnimBg="0"/>
      <p:bldP spid="47129" grpId="0" animBg="1" autoUpdateAnimBg="0"/>
      <p:bldP spid="47130" grpId="0" animBg="1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666</TotalTime>
  <Words>886</Words>
  <Application>Microsoft Office PowerPoint</Application>
  <PresentationFormat>On-screen Show (4:3)</PresentationFormat>
  <Paragraphs>426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Courier New</vt:lpstr>
      <vt:lpstr>Times New Roman</vt:lpstr>
      <vt:lpstr>Trebuchet MS</vt:lpstr>
      <vt:lpstr>Wingdings</vt:lpstr>
      <vt:lpstr>Wingdings 2</vt:lpstr>
      <vt:lpstr>Opulent</vt:lpstr>
      <vt:lpstr>Bitmap Image</vt:lpstr>
      <vt:lpstr>Trees</vt:lpstr>
      <vt:lpstr>Tree - Definition</vt:lpstr>
      <vt:lpstr>Tree</vt:lpstr>
      <vt:lpstr>Node Types</vt:lpstr>
      <vt:lpstr>Degree of a Node Number of Children</vt:lpstr>
      <vt:lpstr>Level of a Node Distance from the root</vt:lpstr>
      <vt:lpstr>Examples of Binary Trees</vt:lpstr>
      <vt:lpstr>Properties of Binary Trees</vt:lpstr>
      <vt:lpstr>Binary Tree Traversal In order Traversal (LNR)</vt:lpstr>
      <vt:lpstr>Binary Tree Traversal In Order Traversal (LNR)</vt:lpstr>
      <vt:lpstr>Binary Tree Traversal Pre Order Traversal (NLR)</vt:lpstr>
      <vt:lpstr>Binary Tree Traversal Pre Order Traversal (NLR)</vt:lpstr>
      <vt:lpstr>Binary Tree Traversal Post Order Traversal (LRN)</vt:lpstr>
      <vt:lpstr>Binary Tree Traversal Post Order Traversal (LRN)</vt:lpstr>
      <vt:lpstr>Binary Tree Traversal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admin</dc:creator>
  <cp:lastModifiedBy>amna humayun</cp:lastModifiedBy>
  <cp:revision>47</cp:revision>
  <dcterms:created xsi:type="dcterms:W3CDTF">2012-02-06T06:21:46Z</dcterms:created>
  <dcterms:modified xsi:type="dcterms:W3CDTF">2024-12-29T17:38:35Z</dcterms:modified>
</cp:coreProperties>
</file>