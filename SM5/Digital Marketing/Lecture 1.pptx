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80" r:id="rId4"/>
    <p:sldId id="397" r:id="rId5"/>
    <p:sldId id="279" r:id="rId6"/>
    <p:sldId id="281" r:id="rId8"/>
    <p:sldId id="398" r:id="rId9"/>
    <p:sldId id="283" r:id="rId10"/>
    <p:sldId id="282" r:id="rId11"/>
    <p:sldId id="304" r:id="rId12"/>
    <p:sldId id="258" r:id="rId13"/>
    <p:sldId id="306" r:id="rId14"/>
    <p:sldId id="307" r:id="rId15"/>
    <p:sldId id="309" r:id="rId16"/>
    <p:sldId id="310" r:id="rId17"/>
    <p:sldId id="259" r:id="rId18"/>
    <p:sldId id="312" r:id="rId19"/>
    <p:sldId id="314" r:id="rId20"/>
    <p:sldId id="315" r:id="rId21"/>
    <p:sldId id="316" r:id="rId22"/>
    <p:sldId id="305" r:id="rId23"/>
    <p:sldId id="317" r:id="rId24"/>
    <p:sldId id="318" r:id="rId25"/>
    <p:sldId id="319" r:id="rId26"/>
    <p:sldId id="320" r:id="rId27"/>
    <p:sldId id="321" r:id="rId28"/>
    <p:sldId id="414" r:id="rId29"/>
  </p:sldIdLst>
  <p:sldSz cx="18288000" cy="10287000"/>
  <p:notesSz cx="6858000" cy="9144000"/>
  <p:embeddedFontLst>
    <p:embeddedFont>
      <p:font typeface="Clear Sans" panose="020B05030302020203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74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1.) jazz.com.pk, zong.com.pk (explain content part), content creation responsibility ? -&gt; designer</a:t>
            </a:r>
            <a:endParaRPr lang="en-US"/>
          </a:p>
          <a:p>
            <a:r>
              <a:rPr lang="en-US"/>
              <a:t>2.) explain branding, logo, theme</a:t>
            </a:r>
            <a:endParaRPr lang="en-US"/>
          </a:p>
          <a:p>
            <a:r>
              <a:rPr lang="en-US"/>
              <a:t>3.) Tool for designing - canva, illustrator, photoshop. Same we have different tools for making websites - wix, shopify, wordpress, etc 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Bata has two websites,</a:t>
            </a:r>
            <a:endParaRPr lang="en-US"/>
          </a:p>
          <a:p>
            <a:r>
              <a:rPr lang="en-US"/>
              <a:t>1.) bata.com.pk - ecommerce website</a:t>
            </a:r>
            <a:endParaRPr lang="en-US"/>
          </a:p>
          <a:p>
            <a:r>
              <a:rPr lang="en-US"/>
              <a:t>2.) thebatacompany.com - corporate website</a:t>
            </a:r>
            <a:endParaRPr lang="en-US"/>
          </a:p>
          <a:p>
            <a:endParaRPr lang="en-US"/>
          </a:p>
          <a:p>
            <a:r>
              <a:rPr lang="en-US"/>
              <a:t>Gulahmed has two websites,</a:t>
            </a:r>
            <a:endParaRPr lang="en-US"/>
          </a:p>
          <a:p>
            <a:r>
              <a:rPr lang="en-US"/>
              <a:t>1.) gulahmed.com - corporate website</a:t>
            </a:r>
            <a:endParaRPr lang="en-US"/>
          </a:p>
          <a:p>
            <a:r>
              <a:rPr lang="en-US"/>
              <a:t>2.) gulahmedshop.com - ecommerce website</a:t>
            </a:r>
            <a:endParaRPr lang="en-US"/>
          </a:p>
          <a:p>
            <a:endParaRPr lang="en-US"/>
          </a:p>
          <a:p>
            <a:r>
              <a:rPr lang="en-US"/>
              <a:t>Unilever has </a:t>
            </a:r>
            <a:endParaRPr lang="en-US"/>
          </a:p>
          <a:p>
            <a:r>
              <a:rPr lang="en-US"/>
              <a:t>1.) unilever.pk - corporate website</a:t>
            </a:r>
            <a:endParaRPr lang="en-US"/>
          </a:p>
          <a:p>
            <a:endParaRPr lang="en-US"/>
          </a:p>
          <a:p>
            <a:r>
              <a:rPr lang="en-US"/>
              <a:t>3.) Classified website :</a:t>
            </a:r>
            <a:endParaRPr lang="en-US"/>
          </a:p>
          <a:p>
            <a:endParaRPr lang="en-US"/>
          </a:p>
          <a:p>
            <a:r>
              <a:rPr lang="en-US"/>
              <a:t>website where one can place ads ? - contains ads, olx, zameen.com, pakwheels.com, rozee.pk, etc.</a:t>
            </a:r>
            <a:endParaRPr lang="en-US"/>
          </a:p>
          <a:p>
            <a:endParaRPr lang="en-US"/>
          </a:p>
          <a:p>
            <a:r>
              <a:rPr lang="en-US"/>
              <a:t>But why not daraz? alibaba? are classified ? They are somehow similar as both used for selling but their business model is different. </a:t>
            </a:r>
            <a:endParaRPr lang="en-US"/>
          </a:p>
          <a:p>
            <a:endParaRPr lang="en-US"/>
          </a:p>
          <a:p>
            <a:r>
              <a:rPr lang="en-US"/>
              <a:t>On olx anyone can place the add but this is not the case with daraz, alibaba. </a:t>
            </a:r>
            <a:endParaRPr lang="en-US"/>
          </a:p>
          <a:p>
            <a:endParaRPr lang="en-US"/>
          </a:p>
          <a:p>
            <a:r>
              <a:rPr lang="en-US"/>
              <a:t>Daraz, alibaba type websites own the product but this is not the case with olx.</a:t>
            </a:r>
            <a:endParaRPr lang="en-US"/>
          </a:p>
          <a:p>
            <a:endParaRPr lang="en-US"/>
          </a:p>
          <a:p>
            <a:r>
              <a:rPr lang="en-US"/>
              <a:t>4.) Ecommerce website:</a:t>
            </a:r>
            <a:endParaRPr lang="en-US"/>
          </a:p>
          <a:p>
            <a:endParaRPr lang="en-US"/>
          </a:p>
          <a:p>
            <a:r>
              <a:rPr lang="en-US"/>
              <a:t>As mentioned above, two more types </a:t>
            </a:r>
            <a:endParaRPr lang="en-US"/>
          </a:p>
          <a:p>
            <a:endParaRPr lang="en-US"/>
          </a:p>
          <a:p>
            <a:r>
              <a:rPr lang="en-US"/>
              <a:t>1.) multiple vendor, (daraz, alibaba) </a:t>
            </a:r>
            <a:endParaRPr lang="en-US"/>
          </a:p>
          <a:p>
            <a:r>
              <a:rPr lang="en-US"/>
              <a:t>2.) single vendor (khaddi, sapphire, etc)</a:t>
            </a:r>
            <a:endParaRPr lang="en-US"/>
          </a:p>
          <a:p>
            <a:endParaRPr lang="en-US"/>
          </a:p>
          <a:p>
            <a:r>
              <a:rPr lang="en-US"/>
              <a:t>5.) Social media website:</a:t>
            </a:r>
            <a:endParaRPr lang="en-US"/>
          </a:p>
          <a:p>
            <a:endParaRPr lang="en-US"/>
          </a:p>
          <a:p>
            <a:r>
              <a:rPr lang="en-US"/>
              <a:t>Linked in, Facebook, Instagram </a:t>
            </a:r>
            <a:endParaRPr lang="en-US"/>
          </a:p>
          <a:p>
            <a:endParaRPr lang="en-US"/>
          </a:p>
          <a:p>
            <a:r>
              <a:rPr lang="en-US"/>
              <a:t>6.) Educational website:</a:t>
            </a:r>
            <a:endParaRPr lang="en-US"/>
          </a:p>
          <a:p>
            <a:endParaRPr lang="en-US"/>
          </a:p>
          <a:p>
            <a:r>
              <a:rPr lang="en-US"/>
              <a:t>Udemy, Khan acedmy, Coursera, Universities websites, etc</a:t>
            </a:r>
            <a:endParaRPr lang="en-US"/>
          </a:p>
          <a:p>
            <a:endParaRPr lang="en-US"/>
          </a:p>
          <a:p>
            <a:r>
              <a:rPr lang="en-US"/>
              <a:t>7.) Government website:</a:t>
            </a:r>
            <a:endParaRPr lang="en-US"/>
          </a:p>
          <a:p>
            <a:endParaRPr lang="en-US"/>
          </a:p>
          <a:p>
            <a:r>
              <a:rPr lang="en-US"/>
              <a:t>NAB, Nadra, LESCO, etc</a:t>
            </a:r>
            <a:endParaRPr lang="en-US"/>
          </a:p>
          <a:p>
            <a:endParaRPr lang="en-US"/>
          </a:p>
          <a:p>
            <a:r>
              <a:rPr lang="en-US"/>
              <a:t>8.) Entertainment Website:</a:t>
            </a:r>
            <a:endParaRPr lang="en-US"/>
          </a:p>
          <a:p>
            <a:endParaRPr lang="en-US"/>
          </a:p>
          <a:p>
            <a:r>
              <a:rPr lang="en-US"/>
              <a:t>Netflix, Amazon Prime, Spotify, Dailymotion, Youtube, etc. </a:t>
            </a:r>
            <a:endParaRPr lang="en-US"/>
          </a:p>
          <a:p>
            <a:endParaRPr lang="en-US"/>
          </a:p>
          <a:p>
            <a:r>
              <a:rPr lang="en-US"/>
              <a:t>One website can be fall in more than one category, e.g., tiktok (both entairtainment, social media category)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here (one hour)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4.svg"/><Relationship Id="rId7" Type="http://schemas.openxmlformats.org/officeDocument/2006/relationships/image" Target="../media/image4.png"/><Relationship Id="rId6" Type="http://schemas.openxmlformats.org/officeDocument/2006/relationships/image" Target="../media/image3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.svg"/><Relationship Id="rId11" Type="http://schemas.openxmlformats.org/officeDocument/2006/relationships/image" Target="../media/image6.png"/><Relationship Id="rId10" Type="http://schemas.openxmlformats.org/officeDocument/2006/relationships/image" Target="../media/image5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.sv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svg"/><Relationship Id="rId2" Type="http://schemas.openxmlformats.org/officeDocument/2006/relationships/image" Target="../media/image5.png"/><Relationship Id="rId1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.svg"/><Relationship Id="rId11" Type="http://schemas.openxmlformats.org/officeDocument/2006/relationships/image" Target="../media/image15.png"/><Relationship Id="rId10" Type="http://schemas.openxmlformats.org/officeDocument/2006/relationships/image" Target="../media/image14.sv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.svg"/><Relationship Id="rId7" Type="http://schemas.openxmlformats.org/officeDocument/2006/relationships/image" Target="../media/image3.png"/><Relationship Id="rId6" Type="http://schemas.openxmlformats.org/officeDocument/2006/relationships/image" Target="../media/image16.svg"/><Relationship Id="rId5" Type="http://schemas.openxmlformats.org/officeDocument/2006/relationships/image" Target="../media/image18.png"/><Relationship Id="rId4" Type="http://schemas.openxmlformats.org/officeDocument/2006/relationships/image" Target="../media/image10.svg"/><Relationship Id="rId3" Type="http://schemas.openxmlformats.org/officeDocument/2006/relationships/image" Target="../media/image10.png"/><Relationship Id="rId2" Type="http://schemas.openxmlformats.org/officeDocument/2006/relationships/image" Target="../media/image15.sv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.svg"/><Relationship Id="rId7" Type="http://schemas.openxmlformats.org/officeDocument/2006/relationships/image" Target="../media/image3.png"/><Relationship Id="rId6" Type="http://schemas.openxmlformats.org/officeDocument/2006/relationships/image" Target="../media/image16.svg"/><Relationship Id="rId5" Type="http://schemas.openxmlformats.org/officeDocument/2006/relationships/image" Target="../media/image18.png"/><Relationship Id="rId4" Type="http://schemas.openxmlformats.org/officeDocument/2006/relationships/image" Target="../media/image10.svg"/><Relationship Id="rId3" Type="http://schemas.openxmlformats.org/officeDocument/2006/relationships/image" Target="../media/image10.png"/><Relationship Id="rId2" Type="http://schemas.openxmlformats.org/officeDocument/2006/relationships/image" Target="../media/image15.sv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sv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sv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183760" y="2868295"/>
            <a:ext cx="9664065" cy="3037863"/>
            <a:chOff x="-665741" y="271560"/>
            <a:chExt cx="11947997" cy="4050386"/>
          </a:xfrm>
        </p:grpSpPr>
        <p:sp>
          <p:nvSpPr>
            <p:cNvPr id="3" name="TextBox 3"/>
            <p:cNvSpPr txBox="1"/>
            <p:nvPr/>
          </p:nvSpPr>
          <p:spPr>
            <a:xfrm>
              <a:off x="-665741" y="1387440"/>
              <a:ext cx="11947997" cy="13673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000"/>
                </a:lnSpc>
              </a:pPr>
              <a:r>
                <a:rPr lang="en-US" sz="48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Module 1: WEBSITE CREATION</a:t>
              </a:r>
              <a:r>
                <a:rPr lang="en-US" sz="7200" b="1">
                  <a:solidFill>
                    <a:srgbClr val="F7B4A7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endParaRPr lang="en-US" sz="72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515007" y="271560"/>
              <a:ext cx="10956112" cy="5740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94DDDE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 Complete Guide To</a:t>
              </a:r>
              <a:endParaRPr lang="en-US" sz="2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785" y="3508319"/>
              <a:ext cx="10956112" cy="8136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60"/>
                </a:lnSpc>
              </a:pPr>
              <a:endParaRPr lang="en-US" sz="3400">
                <a:solidFill>
                  <a:srgbClr val="94DDDE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82834" y="-1921745"/>
            <a:ext cx="6755642" cy="4114800"/>
          </a:xfrm>
          <a:custGeom>
            <a:avLst/>
            <a:gdLst/>
            <a:ahLst/>
            <a:cxnLst/>
            <a:rect l="l" t="t" r="r" b="b"/>
            <a:pathLst>
              <a:path w="6755642" h="4114800">
                <a:moveTo>
                  <a:pt x="0" y="0"/>
                </a:moveTo>
                <a:lnTo>
                  <a:pt x="6755642" y="0"/>
                </a:lnTo>
                <a:lnTo>
                  <a:pt x="67556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03834" y="1790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095190" y="202115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47148" y="1264426"/>
            <a:ext cx="3144039" cy="2440918"/>
          </a:xfrm>
          <a:custGeom>
            <a:avLst/>
            <a:gdLst/>
            <a:ahLst/>
            <a:cxnLst/>
            <a:rect l="l" t="t" r="r" b="b"/>
            <a:pathLst>
              <a:path w="3144039" h="2440918">
                <a:moveTo>
                  <a:pt x="0" y="0"/>
                </a:moveTo>
                <a:lnTo>
                  <a:pt x="3144040" y="0"/>
                </a:lnTo>
                <a:lnTo>
                  <a:pt x="3144040" y="2440918"/>
                </a:lnTo>
                <a:lnTo>
                  <a:pt x="0" y="2440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09632" y="4991195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438273" y="7124421"/>
            <a:ext cx="3486358" cy="4114800"/>
          </a:xfrm>
          <a:custGeom>
            <a:avLst/>
            <a:gdLst/>
            <a:ahLst/>
            <a:cxnLst/>
            <a:rect l="l" t="t" r="r" b="b"/>
            <a:pathLst>
              <a:path w="3486358" h="4114800">
                <a:moveTo>
                  <a:pt x="0" y="0"/>
                </a:moveTo>
                <a:lnTo>
                  <a:pt x="3486358" y="0"/>
                </a:lnTo>
                <a:lnTo>
                  <a:pt x="34863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381899" y="1817370"/>
            <a:ext cx="9179026" cy="7161057"/>
            <a:chOff x="-481142" y="617251"/>
            <a:chExt cx="13024306" cy="4861401"/>
          </a:xfrm>
        </p:grpSpPr>
        <p:sp>
          <p:nvSpPr>
            <p:cNvPr id="4" name="TextBox 4"/>
            <p:cNvSpPr txBox="1"/>
            <p:nvPr/>
          </p:nvSpPr>
          <p:spPr>
            <a:xfrm>
              <a:off x="-481142" y="617251"/>
              <a:ext cx="13024306" cy="58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Agenda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372876" y="1944226"/>
              <a:ext cx="12478551" cy="3534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the Website Importance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Understanding Website Basics 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Website Creation Tools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Installing WordPress on Localhost using FlyWheel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 WordPress on Localhost using XAMPP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Applying Security on Your Website Through Wordfence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 Bold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 Bold"/>
                </a:rPr>
                <a:t>Installling Other Plugins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Creating your Own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8382000" y="2933700"/>
            <a:ext cx="7955280" cy="1132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ts val="4060"/>
              </a:lnSpc>
              <a:defRPr/>
            </a:pPr>
            <a:r>
              <a:rPr lang="en-US" sz="2400" b="1">
                <a:solidFill>
                  <a:schemeClr val="accent2">
                    <a:lumMod val="60000"/>
                    <a:lumOff val="4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KEY TOPICS DISCUSSED IN THIS PRESENTATION</a:t>
            </a: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algn="l">
              <a:lnSpc>
                <a:spcPts val="4060"/>
              </a:lnSpc>
              <a:defRPr/>
            </a:pPr>
            <a:endParaRPr lang="en-US" sz="2400" b="1">
              <a:solidFill>
                <a:schemeClr val="accent2">
                  <a:lumMod val="60000"/>
                  <a:lumOff val="4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</p:txBody>
      </p:sp>
      <p:grpSp>
        <p:nvGrpSpPr>
          <p:cNvPr id="7" name="Group 2"/>
          <p:cNvGrpSpPr/>
          <p:nvPr/>
        </p:nvGrpSpPr>
        <p:grpSpPr>
          <a:xfrm rot="0">
            <a:off x="1309758" y="1817226"/>
            <a:ext cx="6060519" cy="6652549"/>
            <a:chOff x="0" y="0"/>
            <a:chExt cx="8080692" cy="8870065"/>
          </a:xfrm>
        </p:grpSpPr>
        <p:sp>
          <p:nvSpPr>
            <p:cNvPr id="8" name="Freeform 3"/>
            <p:cNvSpPr/>
            <p:nvPr/>
          </p:nvSpPr>
          <p:spPr>
            <a:xfrm>
              <a:off x="0" y="0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4"/>
            <p:cNvSpPr/>
            <p:nvPr/>
          </p:nvSpPr>
          <p:spPr>
            <a:xfrm>
              <a:off x="1428290" y="1054304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0" y="0"/>
                  </a:lnTo>
                  <a:lnTo>
                    <a:pt x="5166060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5"/>
            <p:cNvSpPr/>
            <p:nvPr/>
          </p:nvSpPr>
          <p:spPr>
            <a:xfrm>
              <a:off x="2914631" y="2039937"/>
              <a:ext cx="5166060" cy="6830128"/>
            </a:xfrm>
            <a:custGeom>
              <a:avLst/>
              <a:gdLst/>
              <a:ahLst/>
              <a:cxnLst/>
              <a:rect l="l" t="t" r="r" b="b"/>
              <a:pathLst>
                <a:path w="5166060" h="6830128">
                  <a:moveTo>
                    <a:pt x="0" y="0"/>
                  </a:moveTo>
                  <a:lnTo>
                    <a:pt x="5166061" y="0"/>
                  </a:lnTo>
                  <a:lnTo>
                    <a:pt x="5166061" y="6830128"/>
                  </a:lnTo>
                  <a:lnTo>
                    <a:pt x="0" y="6830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451860"/>
            <a:ext cx="8382635" cy="4308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Understanding the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Website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 Importance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" panose="020B0503030202020304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4782989" y="3314711"/>
            <a:ext cx="1194327" cy="2586142"/>
          </a:xfrm>
          <a:custGeom>
            <a:avLst/>
            <a:gdLst/>
            <a:ahLst/>
            <a:cxnLst/>
            <a:rect l="l" t="t" r="r" b="b"/>
            <a:pathLst>
              <a:path w="1194327" h="2586142">
                <a:moveTo>
                  <a:pt x="0" y="0"/>
                </a:moveTo>
                <a:lnTo>
                  <a:pt x="1194327" y="0"/>
                </a:lnTo>
                <a:lnTo>
                  <a:pt x="1194327" y="2586142"/>
                </a:lnTo>
                <a:lnTo>
                  <a:pt x="0" y="25861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0134290" y="2857449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5357753" y="0"/>
                </a:moveTo>
                <a:lnTo>
                  <a:pt x="0" y="0"/>
                </a:lnTo>
                <a:lnTo>
                  <a:pt x="0" y="5591582"/>
                </a:lnTo>
                <a:lnTo>
                  <a:pt x="5357753" y="5591582"/>
                </a:lnTo>
                <a:lnTo>
                  <a:pt x="535775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990600" y="1257300"/>
          <a:ext cx="10413365" cy="4985385"/>
        </p:xfrm>
        <a:graphic>
          <a:graphicData uri="http://schemas.openxmlformats.org/drawingml/2006/table">
            <a:tbl>
              <a:tblPr/>
              <a:tblGrid>
                <a:gridCol w="10413365"/>
              </a:tblGrid>
              <a:tr h="198437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81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Planning &amp; Concept</a:t>
                      </a:r>
                      <a:endParaRPr lang="en-US" sz="1100"/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01010">
                <a:tc>
                  <a:txBody>
                    <a:bodyPr rtlCol="0"/>
                    <a:p>
                      <a:pPr marL="457200" indent="-457200" algn="l">
                        <a:lnSpc>
                          <a:spcPts val="406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Purpose and Goal</a:t>
                      </a:r>
                      <a:endParaRPr lang="en-US" sz="29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ts val="406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Content</a:t>
                      </a:r>
                      <a:endParaRPr lang="en-US" sz="29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ts val="406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Graphics / Branding</a:t>
                      </a:r>
                      <a:endParaRPr lang="en-US" sz="29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ts val="406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29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Which Tool to Use</a:t>
                      </a:r>
                      <a:endParaRPr lang="en-US" sz="29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8686699" y="1790700"/>
            <a:ext cx="9179026" cy="6475258"/>
            <a:chOff x="-481142" y="617251"/>
            <a:chExt cx="13024306" cy="4395835"/>
          </a:xfrm>
        </p:grpSpPr>
        <p:sp>
          <p:nvSpPr>
            <p:cNvPr id="4" name="TextBox 4"/>
            <p:cNvSpPr txBox="1"/>
            <p:nvPr/>
          </p:nvSpPr>
          <p:spPr>
            <a:xfrm>
              <a:off x="-481142" y="617251"/>
              <a:ext cx="13024306" cy="584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Types of Websites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-480998" y="1478660"/>
              <a:ext cx="12478551" cy="35344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Corporate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Personal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Classified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Social Media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E-commerce Websites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Forums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Educational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Government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Entertainment Website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"/>
                <a:defRPr/>
              </a:pPr>
              <a:r>
                <a:rPr lang="en-US" sz="2900">
                  <a:solidFill>
                    <a:schemeClr val="tx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Many more</a:t>
              </a:r>
              <a:endParaRPr lang="en-US" sz="2900">
                <a:solidFill>
                  <a:schemeClr val="tx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pic>
        <p:nvPicPr>
          <p:cNvPr id="12" name="Picture 11" descr="img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00300"/>
            <a:ext cx="6379210" cy="4265930"/>
          </a:xfrm>
          <a:prstGeom prst="rect">
            <a:avLst/>
          </a:prstGeom>
        </p:spPr>
      </p:pic>
      <p:sp>
        <p:nvSpPr>
          <p:cNvPr id="13" name="Freeform 10"/>
          <p:cNvSpPr/>
          <p:nvPr/>
        </p:nvSpPr>
        <p:spPr>
          <a:xfrm>
            <a:off x="381032" y="4457795"/>
            <a:ext cx="1894295" cy="4252500"/>
          </a:xfrm>
          <a:custGeom>
            <a:avLst/>
            <a:gdLst/>
            <a:ahLst/>
            <a:cxnLst/>
            <a:rect l="l" t="t" r="r" b="b"/>
            <a:pathLst>
              <a:path w="1894295" h="4252500">
                <a:moveTo>
                  <a:pt x="0" y="0"/>
                </a:moveTo>
                <a:lnTo>
                  <a:pt x="1894295" y="0"/>
                </a:lnTo>
                <a:lnTo>
                  <a:pt x="1894295" y="4252500"/>
                </a:lnTo>
                <a:lnTo>
                  <a:pt x="0" y="4252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42300" y="3451860"/>
            <a:ext cx="8382635" cy="34467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fontAlgn="t">
              <a:lnSpc>
                <a:spcPts val="6720"/>
              </a:lnSpc>
            </a:pPr>
            <a:r>
              <a:rPr lang="en-US" sz="6400" b="1" i="1">
                <a:solidFill>
                  <a:srgbClr val="94DDDE"/>
                </a:solidFill>
                <a:effectLst>
                  <a:glow rad="101600">
                    <a:schemeClr val="accent6">
                      <a:satMod val="175000"/>
                      <a:alpha val="40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6350" stA="60000" endA="900" endPos="58000" dir="5400000" sy="-100000" algn="bl" rotWithShape="0"/>
                </a:effectLst>
                <a:latin typeface="Clear Sans Bold"/>
                <a:ea typeface="Clear Sans Bold"/>
                <a:cs typeface="Clear Sans Bold"/>
                <a:sym typeface="Clear Sans Bold"/>
              </a:rPr>
              <a:t>         </a:t>
            </a:r>
            <a:endParaRPr lang="en-US" sz="6400" b="1" i="1">
              <a:solidFill>
                <a:srgbClr val="94DDDE"/>
              </a:solidFill>
              <a:effectLst>
                <a:glow rad="101600">
                  <a:schemeClr val="accent6">
                    <a:satMod val="175000"/>
                    <a:alpha val="40000"/>
                  </a:schemeClr>
                </a:glow>
                <a:innerShdw blurRad="63500" dist="50800" dir="13500000">
                  <a:prstClr val="black">
                    <a:alpha val="50000"/>
                  </a:prstClr>
                </a:innerShdw>
                <a:reflection blurRad="6350" stA="60000" endA="900" endPos="58000" dir="5400000" sy="-100000" algn="bl" rotWithShape="0"/>
              </a:effectLst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Understanding </a:t>
            </a:r>
            <a:r>
              <a:rPr lang="en-US" sz="6400" b="1">
                <a:solidFill>
                  <a:schemeClr val="accent6">
                    <a:lumMod val="60000"/>
                    <a:lumOff val="40000"/>
                  </a:schemeClr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Website</a:t>
            </a:r>
            <a:r>
              <a:rPr lang="en-US" sz="6400" b="1">
                <a:solidFill>
                  <a:srgbClr val="94DDDE"/>
                </a:solidFill>
                <a:latin typeface="Clear Sans Bold"/>
                <a:ea typeface="Clear Sans Bold"/>
                <a:cs typeface="Clear Sans Bold"/>
                <a:sym typeface="Clear Sans" panose="020B0503030202020304"/>
              </a:rPr>
              <a:t> Basics </a:t>
            </a: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ctr">
              <a:lnSpc>
                <a:spcPts val="6720"/>
              </a:lnSpc>
            </a:pPr>
            <a:endParaRPr lang="en-US" sz="6400" b="1">
              <a:solidFill>
                <a:srgbClr val="94DDD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610774" y="1441513"/>
            <a:ext cx="2645731" cy="1625922"/>
          </a:xfrm>
          <a:custGeom>
            <a:avLst/>
            <a:gdLst/>
            <a:ahLst/>
            <a:cxnLst/>
            <a:rect l="l" t="t" r="r" b="b"/>
            <a:pathLst>
              <a:path w="2645731" h="1625922">
                <a:moveTo>
                  <a:pt x="0" y="0"/>
                </a:moveTo>
                <a:lnTo>
                  <a:pt x="2645731" y="0"/>
                </a:lnTo>
                <a:lnTo>
                  <a:pt x="2645731" y="1625922"/>
                </a:lnTo>
                <a:lnTo>
                  <a:pt x="0" y="162592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879313" y="5316566"/>
            <a:ext cx="5758626" cy="4114800"/>
          </a:xfrm>
          <a:custGeom>
            <a:avLst/>
            <a:gdLst/>
            <a:ahLst/>
            <a:cxnLst/>
            <a:rect l="l" t="t" r="r" b="b"/>
            <a:pathLst>
              <a:path w="5758626" h="4114800">
                <a:moveTo>
                  <a:pt x="0" y="0"/>
                </a:moveTo>
                <a:lnTo>
                  <a:pt x="5758626" y="0"/>
                </a:lnTo>
                <a:lnTo>
                  <a:pt x="57586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340312" y="-1788377"/>
            <a:ext cx="1491622" cy="3229890"/>
          </a:xfrm>
          <a:custGeom>
            <a:avLst/>
            <a:gdLst/>
            <a:ahLst/>
            <a:cxnLst/>
            <a:rect l="l" t="t" r="r" b="b"/>
            <a:pathLst>
              <a:path w="1491622" h="3229890">
                <a:moveTo>
                  <a:pt x="0" y="0"/>
                </a:moveTo>
                <a:lnTo>
                  <a:pt x="1491622" y="0"/>
                </a:lnTo>
                <a:lnTo>
                  <a:pt x="1491622" y="3229890"/>
                </a:lnTo>
                <a:lnTo>
                  <a:pt x="0" y="3229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242167" y="-1536821"/>
            <a:ext cx="3748344" cy="3073642"/>
          </a:xfrm>
          <a:custGeom>
            <a:avLst/>
            <a:gdLst/>
            <a:ahLst/>
            <a:cxnLst/>
            <a:rect l="l" t="t" r="r" b="b"/>
            <a:pathLst>
              <a:path w="3748344" h="3073642">
                <a:moveTo>
                  <a:pt x="0" y="0"/>
                </a:moveTo>
                <a:lnTo>
                  <a:pt x="3748345" y="0"/>
                </a:lnTo>
                <a:lnTo>
                  <a:pt x="3748345" y="3073642"/>
                </a:lnTo>
                <a:lnTo>
                  <a:pt x="0" y="307364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566643" y="-2441088"/>
            <a:ext cx="4317873" cy="5892879"/>
          </a:xfrm>
          <a:custGeom>
            <a:avLst/>
            <a:gdLst/>
            <a:ahLst/>
            <a:cxnLst/>
            <a:rect l="l" t="t" r="r" b="b"/>
            <a:pathLst>
              <a:path w="4317873" h="5892879">
                <a:moveTo>
                  <a:pt x="0" y="0"/>
                </a:moveTo>
                <a:lnTo>
                  <a:pt x="4317873" y="0"/>
                </a:lnTo>
                <a:lnTo>
                  <a:pt x="4317873" y="5892879"/>
                </a:lnTo>
                <a:lnTo>
                  <a:pt x="0" y="5892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1742874" y="3067435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4597438" y="0"/>
                </a:moveTo>
                <a:lnTo>
                  <a:pt x="0" y="0"/>
                </a:lnTo>
                <a:lnTo>
                  <a:pt x="0" y="2842053"/>
                </a:lnTo>
                <a:lnTo>
                  <a:pt x="4597438" y="2842053"/>
                </a:lnTo>
                <a:lnTo>
                  <a:pt x="4597438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990600" y="494030"/>
          <a:ext cx="16256000" cy="8910320"/>
        </p:xfrm>
        <a:graphic>
          <a:graphicData uri="http://schemas.openxmlformats.org/drawingml/2006/table">
            <a:tbl>
              <a:tblPr/>
              <a:tblGrid>
                <a:gridCol w="16256000"/>
              </a:tblGrid>
              <a:tr h="3547110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81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Domains &amp; Hosting</a:t>
                      </a:r>
                      <a:endParaRPr lang="en-US" sz="1100"/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63210">
                <a:tc>
                  <a:txBody>
                    <a:bodyPr rtlCol="0"/>
                    <a:p>
                      <a:pPr indent="0" algn="l">
                        <a:lnSpc>
                          <a:spcPts val="406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29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Picture 1" descr="Image 01-07-2025 at 11.0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400300"/>
            <a:ext cx="13002895" cy="719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666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9" y="0"/>
                </a:lnTo>
                <a:lnTo>
                  <a:pt x="4597439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207503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9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9" y="1276208"/>
                </a:lnTo>
                <a:lnTo>
                  <a:pt x="20766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94348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6" y="0"/>
                </a:lnTo>
                <a:lnTo>
                  <a:pt x="3837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49912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216025" y="3619500"/>
          <a:ext cx="16230600" cy="5214620"/>
        </p:xfrm>
        <a:graphic>
          <a:graphicData uri="http://schemas.openxmlformats.org/drawingml/2006/table">
            <a:tbl>
              <a:tblPr/>
              <a:tblGrid>
                <a:gridCol w="8115300"/>
                <a:gridCol w="8115300"/>
              </a:tblGrid>
              <a:tr h="993140">
                <a:tc>
                  <a:txBody>
                    <a:bodyPr rtlCol="0"/>
                    <a:lstStyle/>
                    <a:p>
                      <a:pPr algn="l">
                        <a:lnSpc>
                          <a:spcPts val="6600"/>
                        </a:lnSpc>
                        <a:defRPr/>
                      </a:pPr>
                      <a:r>
                        <a:rPr lang="en-US" sz="5500" b="1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Reliable Sources</a:t>
                      </a:r>
                      <a:endParaRPr lang="en-US" sz="5500" b="1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algn="l">
                        <a:lnSpc>
                          <a:spcPts val="6720"/>
                        </a:lnSpc>
                        <a:defRPr/>
                      </a:pPr>
                      <a:r>
                        <a:rPr lang="en-US" sz="5500" b="1">
                          <a:solidFill>
                            <a:schemeClr val="accent2">
                              <a:lumMod val="60000"/>
                              <a:lumOff val="40000"/>
                            </a:schemeClr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Other Options </a:t>
                      </a:r>
                      <a:endParaRPr lang="en-US" sz="5500" b="1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lear Sans Bold"/>
                        <a:ea typeface="Clear Sans Bold"/>
                        <a:cs typeface="Clear Sans Bold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480">
                <a:tc>
                  <a:txBody>
                    <a:bodyPr rtlCol="0"/>
                    <a:lstStyle/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Hostinger.com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Namecheap.com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Thebeehost.com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Hostgator.com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Bluehost.com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601980" lvl="1" indent="-342900" algn="just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Hostbreak , and many more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rtlCol="0"/>
                    <a:lstStyle/>
                    <a:p>
                      <a:pPr lvl="1" indent="-457200" algn="l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GoDaddy.com (Low Quality)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457200" algn="l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A2Hosting.com (Expensive)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457200" algn="l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Dreamhost.com (Expensive)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457200" algn="l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KnownHost.com (Expensive)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457200" algn="l">
                        <a:lnSpc>
                          <a:spcPct val="150000"/>
                        </a:lnSpc>
                        <a:buFont typeface="Wingdings" panose="05000000000000000000" charset="0"/>
                        <a:buChar char=""/>
                        <a:defRPr/>
                      </a:pPr>
                      <a:r>
                        <a:rPr lang="en-US" sz="28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Cloudways.com (Expensive)</a:t>
                      </a: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18160" lvl="1" indent="-259080" algn="l">
                        <a:lnSpc>
                          <a:spcPts val="3360"/>
                        </a:lnSpc>
                        <a:buFont typeface="Arial" panose="020B0604020202020204"/>
                        <a:buChar char="•"/>
                        <a:defRPr/>
                      </a:pPr>
                      <a:endParaRPr lang="en-US" sz="28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3352800" y="2095500"/>
            <a:ext cx="11957685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55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</a:rPr>
              <a:t>Where to Buy Domain and Hosting 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1181100"/>
          <a:ext cx="16679545" cy="683831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79895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81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Searching for a Domain Name</a:t>
                      </a:r>
                      <a:endParaRPr lang="en-US" sz="81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9360">
                <a:tc>
                  <a:txBody>
                    <a:bodyPr rtlCol="0"/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Domains available on multiple platforms, pricing may vary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Different domain extensions have different prices (e.g., nimra.com vs nimra.org)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Some domain extensions are limited or restricted: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600">
                          <a:solidFill>
                            <a:srgbClr val="FF0000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For example: Getting a .pk Domain</a:t>
                      </a:r>
                      <a:endParaRPr lang="en-US" sz="3600">
                        <a:solidFill>
                          <a:srgbClr val="FF0000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.pk domains can be purchased from: pknic.net.pk, or any other Pakistani hosting companies like “thebeehost.com”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Local providers offer .pk domains with region-specific benefits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85800" y="1296804"/>
            <a:ext cx="17166590" cy="7703723"/>
            <a:chOff x="0" y="650875"/>
            <a:chExt cx="13024306" cy="6913182"/>
          </a:xfrm>
        </p:grpSpPr>
        <p:sp>
          <p:nvSpPr>
            <p:cNvPr id="4" name="TextBox 4"/>
            <p:cNvSpPr txBox="1"/>
            <p:nvPr/>
          </p:nvSpPr>
          <p:spPr>
            <a:xfrm>
              <a:off x="0" y="650875"/>
              <a:ext cx="13024306" cy="773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Domain Ownership and Transfer 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77926"/>
              <a:ext cx="12478551" cy="578613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If domain doesn’t suit your business, it can be sold/transferred to others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Transfer process involves: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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Contacting your domain registrar/hosting provider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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Sharing credentials securely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1028700" lvl="1" indent="-571500" algn="just">
                <a:lnSpc>
                  <a:spcPct val="100000"/>
                </a:lnSpc>
                <a:buFont typeface="Wingdings" panose="05000000000000000000" charset="0"/>
                <a:buChar char="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Registrar handles the ownership transfer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Transfer can be lengthy, details usually handled by hosting company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723900"/>
          <a:ext cx="17588865" cy="12404090"/>
        </p:xfrm>
        <a:graphic>
          <a:graphicData uri="http://schemas.openxmlformats.org/drawingml/2006/table">
            <a:tbl>
              <a:tblPr/>
              <a:tblGrid>
                <a:gridCol w="17588865"/>
              </a:tblGrid>
              <a:tr h="140525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Tips for Choosing a Domain Name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8565">
                <a:tc>
                  <a:txBody>
                    <a:bodyPr rtlCol="0"/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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Keep it short and simple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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Easy to remember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"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Match domain name with your target audience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028700" lvl="1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Example: Brands like “Minnie Minors, Hopscotch” target modern, educated users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1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"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Use generic, brandable names (e.g., ECS instead of “Ehsan Chappal Store”)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1705"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8565"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85800" y="1296804"/>
            <a:ext cx="17166590" cy="6629302"/>
            <a:chOff x="0" y="650875"/>
            <a:chExt cx="13024306" cy="5949016"/>
          </a:xfrm>
        </p:grpSpPr>
        <p:sp>
          <p:nvSpPr>
            <p:cNvPr id="4" name="TextBox 4"/>
            <p:cNvSpPr txBox="1"/>
            <p:nvPr/>
          </p:nvSpPr>
          <p:spPr>
            <a:xfrm>
              <a:off x="0" y="650875"/>
              <a:ext cx="13024306" cy="773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Domain Naming Do’s and Don’ts 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77926"/>
              <a:ext cx="12478551" cy="48219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Avoid numbers unless part of your brand (e.g., McDonald’s, not McDonald1)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Avoid special characters (e.g., &amp;, $, etc.). These are also not allowed.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Hyphen (-) is allowed but not recommended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571500" indent="-571500" algn="just">
                <a:lnSpc>
                  <a:spcPct val="100000"/>
                </a:lnSpc>
                <a:buFont typeface="Wingdings" panose="05000000000000000000" charset="0"/>
                <a:buChar char=""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For Example: 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indent="0" algn="just">
                <a:lnSpc>
                  <a:spcPct val="100000"/>
                </a:lnSpc>
                <a:buFont typeface="Wingdings" panose="05000000000000000000" charset="0"/>
                <a:buNone/>
              </a:pPr>
              <a:r>
                <a:rPr lang="en-US" sz="36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    K&amp;N’s domain is written as KandNs.pk without special characters</a:t>
              </a:r>
              <a:endParaRPr lang="en-US" sz="36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495300"/>
          <a:ext cx="16679545" cy="6654800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342390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81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Different Types of Hosting</a:t>
                      </a:r>
                      <a:endParaRPr lang="en-US" sz="81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39360">
                <a:tc>
                  <a:txBody>
                    <a:bodyPr rtlCol="0"/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Web hosting provides space on a server to make websites accessible online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Different types of hosting cater to different needs and budgets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/>
          <p:nvPr/>
        </p:nvGraphicFramePr>
        <p:xfrm>
          <a:off x="762000" y="3695700"/>
          <a:ext cx="16924655" cy="624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2970"/>
                <a:gridCol w="8401685"/>
              </a:tblGrid>
              <a:tr h="6241415"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1.) Shared Hosting</a:t>
                      </a:r>
                      <a:endParaRPr lang="en-US" sz="28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Multiple websites share the same server resource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Cost-effective and beginner-friendly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Ideal for small websites or blogs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endParaRPr lang="en-US" sz="2800"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endParaRPr lang="en-US" sz="2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3.) Dedicated Hosting</a:t>
                      </a:r>
                      <a:endParaRPr lang="en-US" sz="2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Entire physical server dedicated to one user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Full control, high performance, and better security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Best for large websites or high-traffic applications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2.) Virtual Private Server (VPS) Hosting</a:t>
                      </a:r>
                      <a:endParaRPr lang="en-US" sz="28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Server split into virtual servers for each user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More control and resources than shared hosting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Suitable for growing websites with moderate traffic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>
                        <a:buNone/>
                      </a:pPr>
                      <a:endParaRPr lang="en-US" sz="2800"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4.) Cloud Hosting</a:t>
                      </a:r>
                      <a:endParaRPr lang="en-US" sz="28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Resources come from multiple servers (cloud infrastructure)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Highly scalable and flexible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>
                        <a:buFont typeface="Wingdings" panose="05000000000000000000" charset="0"/>
                        <a:buChar char=""/>
                      </a:pPr>
                      <a:r>
                        <a:rPr lang="en-US" sz="28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Pay-as-you-go pricing with high uptime</a:t>
                      </a:r>
                      <a:endParaRPr lang="en-US" sz="28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685800" y="1105034"/>
            <a:ext cx="17166590" cy="3821967"/>
            <a:chOff x="0" y="683926"/>
            <a:chExt cx="13024306" cy="3429764"/>
          </a:xfrm>
        </p:grpSpPr>
        <p:sp>
          <p:nvSpPr>
            <p:cNvPr id="4" name="TextBox 4"/>
            <p:cNvSpPr txBox="1"/>
            <p:nvPr/>
          </p:nvSpPr>
          <p:spPr>
            <a:xfrm>
              <a:off x="0" y="683926"/>
              <a:ext cx="13024306" cy="1546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Different Types of Hosting (Cont...)</a:t>
              </a:r>
              <a:endParaRPr lang="en-US" sz="6400" b="1">
                <a:solidFill>
                  <a:srgbClr val="F7B4A7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endPara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777926"/>
              <a:ext cx="12478551" cy="23357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graphicFrame>
        <p:nvGraphicFramePr>
          <p:cNvPr id="2" name="Table 1"/>
          <p:cNvGraphicFramePr/>
          <p:nvPr/>
        </p:nvGraphicFramePr>
        <p:xfrm>
          <a:off x="685800" y="2476500"/>
          <a:ext cx="16924655" cy="6583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8670"/>
                <a:gridCol w="8515985"/>
              </a:tblGrid>
              <a:tr h="6583045">
                <a:tc>
                  <a:txBody>
                    <a:bodyPr/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5.) Managed Hosting</a:t>
                      </a:r>
                      <a:endParaRPr lang="en-US" sz="2800" b="1">
                        <a:solidFill>
                          <a:schemeClr val="accent6">
                            <a:lumMod val="5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Hosting provider manages the server, updates, and security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Can be shared, VPS, or dedicated but with management services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Ideal for users who want to focus on their website without server management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2800">
                        <a:solidFill>
                          <a:srgbClr val="FF0000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endParaRPr lang="en-US" sz="2800">
                        <a:solidFill>
                          <a:srgbClr val="FF0000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</a:pPr>
                      <a:r>
                        <a:rPr lang="en-US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7.) WordPress Hosting</a:t>
                      </a:r>
                      <a:endParaRPr lang="en-US"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Optimized specifically for WordPress sites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May include pre-installed WordPress, automatic updates, and security features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buClrTx/>
                        <a:buSzTx/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2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6.) Reseller Hosting </a:t>
                      </a:r>
                      <a:endParaRPr lang="en-US" sz="2800">
                        <a:solidFill>
                          <a:schemeClr val="accent6">
                            <a:lumMod val="5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You buy hosting resources and resell them to others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2800" b="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Suitable for businesses or individuals offering hosting services</a:t>
                      </a:r>
                      <a:endParaRPr lang="en-US" sz="2800" b="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>
                        <a:buNone/>
                      </a:pPr>
                      <a:endParaRPr lang="en-US" sz="2800">
                        <a:solidFill>
                          <a:srgbClr val="FF0000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55666" y="-963412"/>
            <a:ext cx="4597438" cy="2842053"/>
          </a:xfrm>
          <a:custGeom>
            <a:avLst/>
            <a:gdLst/>
            <a:ahLst/>
            <a:cxnLst/>
            <a:rect l="l" t="t" r="r" b="b"/>
            <a:pathLst>
              <a:path w="4597438" h="2842053">
                <a:moveTo>
                  <a:pt x="0" y="0"/>
                </a:moveTo>
                <a:lnTo>
                  <a:pt x="4597439" y="0"/>
                </a:lnTo>
                <a:lnTo>
                  <a:pt x="4597439" y="2842052"/>
                </a:lnTo>
                <a:lnTo>
                  <a:pt x="0" y="284205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207503" y="390596"/>
            <a:ext cx="2076668" cy="1276207"/>
          </a:xfrm>
          <a:custGeom>
            <a:avLst/>
            <a:gdLst/>
            <a:ahLst/>
            <a:cxnLst/>
            <a:rect l="l" t="t" r="r" b="b"/>
            <a:pathLst>
              <a:path w="2076668" h="1276207">
                <a:moveTo>
                  <a:pt x="2076669" y="0"/>
                </a:moveTo>
                <a:lnTo>
                  <a:pt x="0" y="0"/>
                </a:lnTo>
                <a:lnTo>
                  <a:pt x="0" y="1276208"/>
                </a:lnTo>
                <a:lnTo>
                  <a:pt x="2076669" y="1276208"/>
                </a:lnTo>
                <a:lnTo>
                  <a:pt x="207666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94348" y="-2447996"/>
            <a:ext cx="3837986" cy="4114800"/>
          </a:xfrm>
          <a:custGeom>
            <a:avLst/>
            <a:gdLst/>
            <a:ahLst/>
            <a:cxnLst/>
            <a:rect l="l" t="t" r="r" b="b"/>
            <a:pathLst>
              <a:path w="3837986" h="4114800">
                <a:moveTo>
                  <a:pt x="0" y="0"/>
                </a:moveTo>
                <a:lnTo>
                  <a:pt x="3837986" y="0"/>
                </a:lnTo>
                <a:lnTo>
                  <a:pt x="38379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49912" y="-3759204"/>
            <a:ext cx="5357753" cy="5591583"/>
          </a:xfrm>
          <a:custGeom>
            <a:avLst/>
            <a:gdLst/>
            <a:ahLst/>
            <a:cxnLst/>
            <a:rect l="l" t="t" r="r" b="b"/>
            <a:pathLst>
              <a:path w="5357753" h="5591583">
                <a:moveTo>
                  <a:pt x="0" y="0"/>
                </a:moveTo>
                <a:lnTo>
                  <a:pt x="5357753" y="0"/>
                </a:lnTo>
                <a:lnTo>
                  <a:pt x="5357753" y="5591583"/>
                </a:lnTo>
                <a:lnTo>
                  <a:pt x="0" y="55915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32790" y="1943100"/>
          <a:ext cx="16823055" cy="8115300"/>
        </p:xfrm>
        <a:graphic>
          <a:graphicData uri="http://schemas.openxmlformats.org/drawingml/2006/table">
            <a:tbl>
              <a:tblPr/>
              <a:tblGrid>
                <a:gridCol w="16823055"/>
              </a:tblGrid>
              <a:tr h="1517650">
                <a:tc>
                  <a:txBody>
                    <a:bodyPr rtlCol="0"/>
                    <a:lstStyle/>
                    <a:p>
                      <a:pPr algn="l">
                        <a:lnSpc>
                          <a:spcPts val="6720"/>
                        </a:lnSpc>
                        <a:defRPr/>
                      </a:pPr>
                      <a:r>
                        <a:rPr lang="en-US" sz="6400" b="1">
                          <a:solidFill>
                            <a:srgbClr val="31356E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Things to Check Before Buying </a:t>
                      </a:r>
                      <a:endParaRPr lang="en-US" sz="6400"/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97650">
                <a:tc>
                  <a:txBody>
                    <a:bodyPr rtlCol="0"/>
                    <a:lstStyle/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Many types of hosting exist, but we will focus on Shared Hosting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Shared Hosting is the least powerful and most affordable option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Ideal for beginners and small websites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Also known as web hosting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 b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To select shared hosting:  </a:t>
                      </a:r>
                      <a:endParaRPr lang="en-US" sz="3200" b="1">
                        <a:solidFill>
                          <a:schemeClr val="accent6">
                            <a:lumMod val="5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Visit your hosting provider’s website              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Navigate to the hosting section from the menu                                                       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Choose Web Hosting / Shared Hosting option                                                            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716280" lvl="1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 b="1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Plans usually comes as:</a:t>
                      </a:r>
                      <a:endParaRPr lang="en-US" sz="3200" b="1">
                        <a:solidFill>
                          <a:schemeClr val="accent6">
                            <a:lumMod val="5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Standard performance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1173480" lvl="2" indent="-457200" algn="l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2B4B82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High performance</a:t>
                      </a:r>
                      <a:endParaRPr lang="en-US" sz="3200">
                        <a:solidFill>
                          <a:srgbClr val="2B4B82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855710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910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Important Features That Impact Cost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marL="0" lvl="2"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It includes : d</a:t>
                      </a: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isk space/storage, number of domains allowed, bandwidth, SSL certificate, and number of domain emails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0" lvl="2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"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1.) Disk Space/ Storage</a:t>
                      </a:r>
                      <a:endParaRPr lang="en-US" sz="36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Disk space defines how much data your website can store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The domain name affects branding, but hosting affects website performance, security, and storage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Hosting plans vary: 2GB, 4GB, 10GB, 20GB, 50GB, etc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Most websites require 2-3 GB; larger sites may need 10 GB or more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6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Choose hosting with enough disk space for your website’s needs</a:t>
                      </a: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85800" y="647700"/>
            <a:ext cx="17166590" cy="9417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64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Important Features That Impact Cost</a:t>
            </a:r>
            <a:endParaRPr lang="en-US" sz="6400" b="1">
              <a:solidFill>
                <a:srgbClr val="31356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indent="0" algn="l">
              <a:lnSpc>
                <a:spcPct val="100000"/>
              </a:lnSpc>
              <a:buFont typeface="Wingdings" panose="05000000000000000000" charset="0"/>
              <a:buNone/>
              <a:defRPr/>
            </a:pPr>
            <a:endParaRPr lang="en-US" sz="3200" b="1">
              <a:solidFill>
                <a:schemeClr val="accent6">
                  <a:lumMod val="5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just">
              <a:lnSpc>
                <a:spcPct val="100000"/>
              </a:lnSpc>
              <a:buFont typeface="Wingdings" panose="05000000000000000000" charset="0"/>
              <a:buNone/>
              <a:defRPr/>
            </a:pPr>
            <a:r>
              <a:rPr lang="en-US" sz="3200" b="1">
                <a:solidFill>
                  <a:schemeClr val="accent6">
                    <a:lumMod val="5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2.) Number of Domains Allowed </a:t>
            </a:r>
            <a:endParaRPr lang="en-US" sz="3200" b="1">
              <a:solidFill>
                <a:schemeClr val="accent6">
                  <a:lumMod val="5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Hosting plans specify how many domains/websites you can host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If you own multiple businesses, you may need multiple domains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You can attach multiple domains/websites to a single hosting plan if the storage and plan allow it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Check hosting plans for the number of websites allowed before purchase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Example: A 40GB hosting plan may allow hosting multiple domains easily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just">
              <a:lnSpc>
                <a:spcPct val="100000"/>
              </a:lnSpc>
              <a:buFont typeface="Wingdings" panose="05000000000000000000" charset="0"/>
              <a:buNone/>
              <a:defRPr/>
            </a:pPr>
            <a:endParaRPr lang="en-US" sz="3600" b="1">
              <a:solidFill>
                <a:srgbClr val="31356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indent="0" algn="just">
              <a:lnSpc>
                <a:spcPct val="100000"/>
              </a:lnSpc>
              <a:buFont typeface="Wingdings" panose="05000000000000000000" charset="0"/>
              <a:buNone/>
              <a:defRPr/>
            </a:pPr>
            <a:r>
              <a:rPr lang="en-US" sz="3600" b="1">
                <a:solidFill>
                  <a:schemeClr val="accent6">
                    <a:lumMod val="50000"/>
                  </a:schemeClr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3.) Bandwidth</a:t>
            </a:r>
            <a:endParaRPr lang="en-US" sz="3600" b="1">
              <a:solidFill>
                <a:schemeClr val="accent6">
                  <a:lumMod val="50000"/>
                </a:schemeClr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Bandwidth = The amount of data your server can transfer to visitors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Minimum recommended bandwidth: 10 GB per month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More bandwidth means better handling of traffic and faster website speeds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just">
              <a:lnSpc>
                <a:spcPct val="100000"/>
              </a:lnSpc>
              <a:buFont typeface="Wingdings" panose="05000000000000000000" charset="0"/>
              <a:buNone/>
              <a:defRPr/>
            </a:pPr>
            <a:r>
              <a:rPr lang="en-US" sz="3200">
                <a:solidFill>
                  <a:srgbClr val="FF0000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     Example:</a:t>
            </a: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 On sale days with high traffic, adequate bandwidth prevents website crashes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10 GB bandwidth can handle approximately 8,000-10,000 visitors monthly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marL="571500" indent="-571500" algn="just">
              <a:lnSpc>
                <a:spcPct val="100000"/>
              </a:lnSpc>
              <a:buFont typeface="Wingdings" panose="05000000000000000000" charset="0"/>
              <a:buChar char=""/>
              <a:defRPr/>
            </a:pPr>
            <a:r>
              <a:rPr lang="en-US" sz="32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rPr>
              <a:t>Bandwidth also impacts website loading speed</a:t>
            </a:r>
            <a:endParaRPr lang="en-US" sz="3200">
              <a:solidFill>
                <a:srgbClr val="2B4B82"/>
              </a:solidFill>
              <a:latin typeface="Clear Sans" panose="020B0503030202020304"/>
              <a:ea typeface="Clear Sans" panose="020B0503030202020304"/>
              <a:cs typeface="Clear Sans" panose="020B0503030202020304"/>
              <a:sym typeface="Clear Sans" panose="020B0503030202020304"/>
            </a:endParaRPr>
          </a:p>
          <a:p>
            <a:pPr indent="0" algn="l">
              <a:lnSpc>
                <a:spcPct val="100000"/>
              </a:lnSpc>
              <a:buFont typeface="Wingdings" panose="05000000000000000000" charset="0"/>
              <a:buNone/>
              <a:defRPr/>
            </a:pPr>
            <a:endParaRPr lang="en-US" sz="3600" b="1">
              <a:solidFill>
                <a:srgbClr val="31356E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11315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Important Features That Impact Cost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marL="0" lvl="2"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6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6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4.)</a:t>
                      </a:r>
                      <a:r>
                        <a:rPr lang="en-US" sz="3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SSL Certificate</a:t>
                      </a:r>
                      <a:endParaRPr lang="en-US" sz="3200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SSL = Secure Socket Layer, adds security to your website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Like vaccinations protect children, SSL protects your website from cyber threats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Converts your URL from http:// to https://, encrypting user data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Protects user information such as login details, payments, and personal data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SSL certificates are often included free with hosting plans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Easy to install with a click in most hosting control panels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5.) Number of Domain Emails</a:t>
                      </a:r>
                      <a:endParaRPr lang="en-US" sz="32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Professional email accounts linked to your domain name (e.g., info@yourdomain.com)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Important for brand trust and communication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457200" indent="-4572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Check hosting plans for the number of included email accounts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6912767" cy="10287000"/>
          </a:xfrm>
          <a:custGeom>
            <a:avLst/>
            <a:gdLst/>
            <a:ahLst/>
            <a:cxnLst/>
            <a:rect l="l" t="t" r="r" b="b"/>
            <a:pathLst>
              <a:path w="6912767" h="10287000">
                <a:moveTo>
                  <a:pt x="0" y="0"/>
                </a:moveTo>
                <a:lnTo>
                  <a:pt x="6912767" y="0"/>
                </a:lnTo>
                <a:lnTo>
                  <a:pt x="691276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6" b="-336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8097063" y="2429187"/>
            <a:ext cx="9162237" cy="5325121"/>
            <a:chOff x="0" y="85725"/>
            <a:chExt cx="12216316" cy="7100162"/>
          </a:xfrm>
        </p:grpSpPr>
        <p:sp>
          <p:nvSpPr>
            <p:cNvPr id="4" name="TextBox 4"/>
            <p:cNvSpPr txBox="1"/>
            <p:nvPr/>
          </p:nvSpPr>
          <p:spPr>
            <a:xfrm>
              <a:off x="0" y="85725"/>
              <a:ext cx="12216316" cy="22978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6400" b="1">
                  <a:solidFill>
                    <a:srgbClr val="2B4B82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Website Development Options</a:t>
              </a:r>
              <a:endParaRPr lang="en-US" sz="6400" b="1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059083"/>
              <a:ext cx="12216316" cy="693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Two main ways to develop websites: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313994"/>
              <a:ext cx="12216316" cy="2871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360"/>
                </a:lnSpc>
                <a:buFont typeface="Wingdings" panose="05000000000000000000" charset="0"/>
                <a:buChar char=""/>
              </a:pPr>
              <a:r>
                <a:rPr lang="en-US" sz="2800" b="1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Offline practice: </a:t>
              </a: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Using tools like XAMPP or Flywheel (free, local environment)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3360"/>
                </a:lnSpc>
                <a:buFont typeface="Wingdings" panose="05000000000000000000" charset="0"/>
                <a:buChar char=""/>
              </a:pPr>
              <a:endParaRPr lang="en-US" sz="2800" b="1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3360"/>
                </a:lnSpc>
                <a:buFont typeface="Wingdings" panose="05000000000000000000" charset="0"/>
                <a:buChar char=""/>
              </a:pPr>
              <a:r>
                <a:rPr lang="en-US" sz="2800" b="1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Online:</a:t>
              </a:r>
              <a:r>
                <a:rPr lang="en-US" sz="28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 Buy domain and hosting and publish the site on the internet.</a:t>
              </a:r>
              <a:endParaRPr lang="en-US" sz="28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4DD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0">
            <a:off x="1066800" y="1333222"/>
            <a:ext cx="9927590" cy="7924326"/>
            <a:chOff x="0" y="86126"/>
            <a:chExt cx="12735130" cy="8989338"/>
          </a:xfrm>
        </p:grpSpPr>
        <p:sp>
          <p:nvSpPr>
            <p:cNvPr id="4" name="TextBox 4"/>
            <p:cNvSpPr txBox="1"/>
            <p:nvPr/>
          </p:nvSpPr>
          <p:spPr>
            <a:xfrm>
              <a:off x="0" y="86126"/>
              <a:ext cx="12735130" cy="97750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6720"/>
                </a:lnSpc>
              </a:pPr>
              <a:r>
                <a:rPr lang="en-US" sz="4000" b="1">
                  <a:solidFill>
                    <a:srgbClr val="31356E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Types of E-commerce / Online Services</a:t>
              </a:r>
              <a:endParaRPr lang="en-US" sz="4000" b="1">
                <a:solidFill>
                  <a:srgbClr val="31356E"/>
                </a:solidFill>
                <a:latin typeface="Clear Sans Bold"/>
                <a:ea typeface="Clear Sans Bold"/>
                <a:cs typeface="Clear Sans Bold"/>
                <a:sym typeface="Clear Sans Bold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88013"/>
              <a:ext cx="12478551" cy="7087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060"/>
                </a:lnSpc>
              </a:pPr>
              <a:r>
                <a:rPr lang="en-US" sz="29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You can run:</a:t>
              </a:r>
              <a:endParaRPr lang="en-US" sz="29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Local e-commerce targeting nearby customers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Online services (teaching Quran, cooking, coding, etc.)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l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Personal branding or freelancing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l">
                <a:lnSpc>
                  <a:spcPts val="4060"/>
                </a:lnSpc>
              </a:pPr>
              <a:endParaRPr lang="en-US" sz="2900" b="1"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just">
                <a:lnSpc>
                  <a:spcPts val="4060"/>
                </a:lnSpc>
              </a:pPr>
              <a:r>
                <a:rPr lang="en-US" sz="2900" b="1"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E-commerce Examples: </a:t>
              </a:r>
              <a:r>
                <a:rPr lang="en-US" sz="2900"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  <a:alpha val="40000"/>
                      </a:schemeClr>
                    </a:outerShdw>
                  </a:effectLst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(Go for brand names instead of generic ones)</a:t>
              </a:r>
              <a:endParaRPr lang="en-US" sz="290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algn="just">
                <a:lnSpc>
                  <a:spcPts val="4060"/>
                </a:lnSpc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Successful brand examples: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Dari Mooch (darimooch.com)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MENDEEZ (mendeez.com)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FittedShop (fittedshop.com)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  <a:p>
              <a:pPr marL="457200" indent="-457200" algn="just">
                <a:lnSpc>
                  <a:spcPts val="4060"/>
                </a:lnSpc>
                <a:buFont typeface="Wingdings" panose="05000000000000000000" charset="0"/>
                <a:buChar char=""/>
              </a:pPr>
              <a:r>
                <a:rPr lang="en-US" sz="2900">
                  <a:solidFill>
                    <a:srgbClr val="2B4B82"/>
                  </a:solidFill>
                  <a:latin typeface="Clear Sans" panose="020B0503030202020304"/>
                  <a:ea typeface="Clear Sans" panose="020B0503030202020304"/>
                  <a:cs typeface="Clear Sans" panose="020B0503030202020304"/>
                  <a:sym typeface="Clear Sans" panose="020B0503030202020304"/>
                </a:rPr>
                <a:t>TIFMO (tifmo.co)</a:t>
              </a:r>
              <a:endParaRPr lang="en-US" sz="2900">
                <a:solidFill>
                  <a:srgbClr val="2B4B82"/>
                </a:solidFill>
                <a:latin typeface="Clear Sans" panose="020B0503030202020304"/>
                <a:ea typeface="Clear Sans" panose="020B0503030202020304"/>
                <a:cs typeface="Clear Sans" panose="020B0503030202020304"/>
                <a:sym typeface="Clear Sans" panose="020B0503030202020304"/>
              </a:endParaRPr>
            </a:p>
          </p:txBody>
        </p:sp>
      </p:grpSp>
      <p:sp>
        <p:nvSpPr>
          <p:cNvPr id="8" name="Freeform 2"/>
          <p:cNvSpPr/>
          <p:nvPr/>
        </p:nvSpPr>
        <p:spPr>
          <a:xfrm>
            <a:off x="12443088" y="-1095217"/>
            <a:ext cx="6414740" cy="6631780"/>
          </a:xfrm>
          <a:custGeom>
            <a:avLst/>
            <a:gdLst/>
            <a:ahLst/>
            <a:cxnLst/>
            <a:rect l="l" t="t" r="r" b="b"/>
            <a:pathLst>
              <a:path w="6414740" h="6631780">
                <a:moveTo>
                  <a:pt x="0" y="0"/>
                </a:moveTo>
                <a:lnTo>
                  <a:pt x="6414740" y="0"/>
                </a:lnTo>
                <a:lnTo>
                  <a:pt x="6414740" y="6631780"/>
                </a:lnTo>
                <a:lnTo>
                  <a:pt x="0" y="663178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021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Product/Service Validation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marL="0" lvl="2"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r>
                        <a:rPr lang="en-US" sz="32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Use tools to validate your product/service idea:</a:t>
                      </a:r>
                      <a:endParaRPr lang="en-US" sz="32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 b="1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Google Trends</a:t>
                      </a: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for search popularity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 b="1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Facebook Ads Library</a:t>
                      </a: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 to check competitor ads and popularity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Search product ads to see if they are actively running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marL="571500" indent="-571500" algn="just">
                        <a:lnSpc>
                          <a:spcPct val="100000"/>
                        </a:lnSpc>
                        <a:buFont typeface="Wingdings" panose="05000000000000000000" charset="0"/>
                        <a:buChar char=""/>
                        <a:defRPr/>
                      </a:pPr>
                      <a:r>
                        <a:rPr lang="en-US" sz="3200">
                          <a:solidFill>
                            <a:srgbClr val="94DDDE"/>
                          </a:solidFill>
                          <a:latin typeface="Clear Sans" panose="020B0503030202020304"/>
                          <a:ea typeface="Clear Sans" panose="020B0503030202020304"/>
                          <a:cs typeface="Clear Sans" panose="020B0503030202020304"/>
                          <a:sym typeface="Clear Sans" panose="020B0503030202020304"/>
                        </a:rPr>
                        <a:t>Longer-running ads usually indicate successful products</a:t>
                      </a: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Picture 1" descr="6F631304-FF5A-4858-B465-3D947C1D189B_1_105_c"/>
          <p:cNvPicPr>
            <a:picLocks noChangeAspect="1"/>
          </p:cNvPicPr>
          <p:nvPr/>
        </p:nvPicPr>
        <p:blipFill>
          <a:blip r:embed="rId1"/>
          <a:srcRect r="18024"/>
          <a:stretch>
            <a:fillRect/>
          </a:stretch>
        </p:blipFill>
        <p:spPr>
          <a:xfrm>
            <a:off x="1546225" y="4533900"/>
            <a:ext cx="15196185" cy="552513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021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Product/Service Validation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Picture 3" descr="1CA20527-FB9D-49E4-9CE8-277902B520BD_1_1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95500"/>
            <a:ext cx="17729200" cy="7137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021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Product/Service Validation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Picture 1" descr="827A4EA8-D2B8-4735-BE3A-46EE984053EF_1_1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0" y="1866900"/>
            <a:ext cx="16637000" cy="7607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021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Product/Service Validation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2" descr="DE8616E9-4DAA-4AAA-BB61-8D7C34E8E302_1_1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835" y="2171700"/>
            <a:ext cx="17372965" cy="64585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4B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6"/>
          <p:cNvGraphicFramePr>
            <a:graphicFrameLocks noGrp="1"/>
          </p:cNvGraphicFramePr>
          <p:nvPr/>
        </p:nvGraphicFramePr>
        <p:xfrm>
          <a:off x="533400" y="291465"/>
          <a:ext cx="16679545" cy="8331835"/>
        </p:xfrm>
        <a:graphic>
          <a:graphicData uri="http://schemas.openxmlformats.org/drawingml/2006/table">
            <a:tbl>
              <a:tblPr/>
              <a:tblGrid>
                <a:gridCol w="16679545"/>
              </a:tblGrid>
              <a:tr h="1021715">
                <a:tc>
                  <a:txBody>
                    <a:bodyPr rtlCol="0"/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r>
                        <a:rPr lang="en-US" sz="6600" b="1">
                          <a:solidFill>
                            <a:srgbClr val="F7B4A7"/>
                          </a:solidFill>
                          <a:latin typeface="Clear Sans Bold"/>
                          <a:ea typeface="Clear Sans Bold"/>
                          <a:cs typeface="Clear Sans Bold"/>
                          <a:sym typeface="Clear Sans Bold"/>
                        </a:rPr>
                        <a:t>Product/Service Validation</a:t>
                      </a: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  <a:p>
                      <a:pPr algn="l" fontAlgn="t">
                        <a:lnSpc>
                          <a:spcPct val="100000"/>
                        </a:lnSpc>
                        <a:defRPr/>
                      </a:pPr>
                      <a:endParaRPr lang="en-US" sz="6600" b="1">
                        <a:solidFill>
                          <a:srgbClr val="F7B4A7"/>
                        </a:solidFill>
                        <a:latin typeface="Clear Sans Bold"/>
                        <a:ea typeface="Clear Sans Bold"/>
                        <a:cs typeface="Clear Sans Bold"/>
                        <a:sym typeface="Clear Sans Bold"/>
                      </a:endParaRPr>
                    </a:p>
                  </a:txBody>
                  <a:tcPr marL="190500" marR="190500" marT="190500" marB="190500" anchor="t" anchorCtr="0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4995">
                <a:tc>
                  <a:txBody>
                    <a:bodyPr rtlCol="0"/>
                    <a:p>
                      <a:pPr indent="0" algn="just">
                        <a:lnSpc>
                          <a:spcPct val="100000"/>
                        </a:lnSpc>
                        <a:buFont typeface="Wingdings" panose="05000000000000000000" charset="0"/>
                        <a:buNone/>
                        <a:defRPr/>
                      </a:pPr>
                      <a:endParaRPr lang="en-US" sz="3200">
                        <a:solidFill>
                          <a:srgbClr val="94DDDE"/>
                        </a:solidFill>
                        <a:latin typeface="Clear Sans" panose="020B0503030202020304"/>
                        <a:ea typeface="Clear Sans" panose="020B0503030202020304"/>
                        <a:cs typeface="Clear Sans" panose="020B0503030202020304"/>
                        <a:sym typeface="Clear Sans" panose="020B0503030202020304"/>
                      </a:endParaRPr>
                    </a:p>
                  </a:txBody>
                  <a:tcPr marL="190500" marR="190500" marT="190500" marB="190500" anchor="t">
                    <a:lnL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75" cap="flat" cmpd="sng" algn="ctr">
                      <a:solidFill>
                        <a:srgbClr val="2B4B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" name="Picture 1" descr="406B1D9B-E912-4CB5-9739-AD869BB70330_1_105_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43100"/>
            <a:ext cx="16713200" cy="7569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B4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3320348" y="712171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854137" y="3018272"/>
            <a:ext cx="7411325" cy="4635447"/>
          </a:xfrm>
          <a:custGeom>
            <a:avLst/>
            <a:gdLst/>
            <a:ahLst/>
            <a:cxnLst/>
            <a:rect l="l" t="t" r="r" b="b"/>
            <a:pathLst>
              <a:path w="7411325" h="4635447">
                <a:moveTo>
                  <a:pt x="0" y="0"/>
                </a:moveTo>
                <a:lnTo>
                  <a:pt x="7411325" y="0"/>
                </a:lnTo>
                <a:lnTo>
                  <a:pt x="7411325" y="4635447"/>
                </a:lnTo>
                <a:lnTo>
                  <a:pt x="0" y="463544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6"/>
          <p:cNvSpPr/>
          <p:nvPr/>
        </p:nvSpPr>
        <p:spPr>
          <a:xfrm>
            <a:off x="8665100" y="8613636"/>
            <a:ext cx="4338720" cy="2713672"/>
          </a:xfrm>
          <a:custGeom>
            <a:avLst/>
            <a:gdLst/>
            <a:ahLst/>
            <a:cxnLst/>
            <a:rect l="l" t="t" r="r" b="b"/>
            <a:pathLst>
              <a:path w="4338720" h="2713672">
                <a:moveTo>
                  <a:pt x="0" y="0"/>
                </a:moveTo>
                <a:lnTo>
                  <a:pt x="4338720" y="0"/>
                </a:lnTo>
                <a:lnTo>
                  <a:pt x="4338720" y="2713671"/>
                </a:lnTo>
                <a:lnTo>
                  <a:pt x="0" y="271367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976014" y="7483497"/>
            <a:ext cx="3289448" cy="2057400"/>
          </a:xfrm>
          <a:custGeom>
            <a:avLst/>
            <a:gdLst/>
            <a:ahLst/>
            <a:cxnLst/>
            <a:rect l="l" t="t" r="r" b="b"/>
            <a:pathLst>
              <a:path w="3289448" h="2057400">
                <a:moveTo>
                  <a:pt x="0" y="0"/>
                </a:moveTo>
                <a:lnTo>
                  <a:pt x="3289448" y="0"/>
                </a:lnTo>
                <a:lnTo>
                  <a:pt x="3289448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/>
          <p:cNvSpPr txBox="1"/>
          <p:nvPr/>
        </p:nvSpPr>
        <p:spPr>
          <a:xfrm>
            <a:off x="1519555" y="3258185"/>
            <a:ext cx="731266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7520"/>
              </a:lnSpc>
            </a:pPr>
            <a:r>
              <a:rPr lang="en-US" sz="8000" b="1" spc="-88">
                <a:solidFill>
                  <a:srgbClr val="2B4B82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End of Lecture</a:t>
            </a:r>
            <a:endParaRPr lang="en-US" sz="8000" b="1" spc="-88">
              <a:solidFill>
                <a:srgbClr val="2B4B82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7137</Words>
  <Application>WPS Writer</Application>
  <PresentationFormat>On-screen Show (4:3)</PresentationFormat>
  <Paragraphs>272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Clear Sans Bold</vt:lpstr>
      <vt:lpstr>Thonburi</vt:lpstr>
      <vt:lpstr>Clear Sans</vt:lpstr>
      <vt:lpstr>Wingdings</vt:lpstr>
      <vt:lpstr>Arial</vt:lpstr>
      <vt:lpstr>Clear Sans Medium</vt:lpstr>
      <vt:lpstr>Microsoft YaHei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Education Technology Presentation in Blue Peach Illustrative Style</dc:title>
  <dc:creator/>
  <cp:lastModifiedBy>Nimra Abbas</cp:lastModifiedBy>
  <cp:revision>74</cp:revision>
  <dcterms:created xsi:type="dcterms:W3CDTF">2025-09-25T10:39:17Z</dcterms:created>
  <dcterms:modified xsi:type="dcterms:W3CDTF">2025-09-25T10:39:17Z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