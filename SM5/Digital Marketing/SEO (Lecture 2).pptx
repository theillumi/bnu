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532" r:id="rId3"/>
    <p:sldId id="573" r:id="rId4"/>
    <p:sldId id="578" r:id="rId5"/>
    <p:sldId id="579" r:id="rId6"/>
    <p:sldId id="580" r:id="rId7"/>
    <p:sldId id="582" r:id="rId8"/>
    <p:sldId id="583" r:id="rId9"/>
    <p:sldId id="574" r:id="rId10"/>
    <p:sldId id="542" r:id="rId11"/>
    <p:sldId id="575" r:id="rId12"/>
    <p:sldId id="576" r:id="rId13"/>
    <p:sldId id="588" r:id="rId15"/>
    <p:sldId id="589" r:id="rId16"/>
    <p:sldId id="590" r:id="rId17"/>
    <p:sldId id="591" r:id="rId18"/>
    <p:sldId id="592" r:id="rId19"/>
    <p:sldId id="593" r:id="rId20"/>
    <p:sldId id="584" r:id="rId21"/>
    <p:sldId id="585" r:id="rId22"/>
    <p:sldId id="586" r:id="rId23"/>
    <p:sldId id="587" r:id="rId24"/>
    <p:sldId id="547" r:id="rId25"/>
    <p:sldId id="548" r:id="rId26"/>
    <p:sldId id="549" r:id="rId27"/>
    <p:sldId id="550" r:id="rId28"/>
    <p:sldId id="554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Unique Selling Proposition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" y="3810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295" y="2552700"/>
            <a:ext cx="13529310" cy="6046470"/>
          </a:xfrm>
          <a:noFill/>
        </p:spPr>
        <p:txBody>
          <a:bodyPr anchor="t">
            <a:normAutofit/>
          </a:bodyPr>
          <a:lstStyle/>
          <a:p>
            <a:br>
              <a:rPr lang="en-US" sz="7200" b="1"/>
            </a:br>
            <a:r>
              <a:rPr lang="en-US" sz="7200" b="1"/>
              <a:t>       Digital Marketing </a:t>
            </a:r>
            <a:br>
              <a:rPr lang="en-US" sz="7200" b="1"/>
            </a:br>
            <a:endParaRPr lang="en-US" sz="72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95300"/>
            <a:ext cx="15544800" cy="1384935"/>
          </a:xfrm>
        </p:spPr>
        <p:txBody>
          <a:bodyPr/>
          <a:p>
            <a:r>
              <a:rPr lang="en-US"/>
              <a:t>Introduction to SEO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43000" y="2247900"/>
            <a:ext cx="1548130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What is SEO?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Types of Search Engines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How Search Engines Work?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Understanding SERPs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SEO Approaches (White hat/Black Hat/Grey Hat)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Technical SEO, Onpage SEO &amp; Offpage SEO 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Identify your niche &amp; audiences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Introduction to Keywords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rgbClr val="458C9D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Keywords Research (Relevancy, Searches, Competition)Low Entry Resistance</a:t>
            </a: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</a:endParaRPr>
          </a:p>
          <a:p>
            <a:pPr marL="685800" marR="0" indent="-685800" algn="l" rtl="0" eaLnBrk="1" fontAlgn="auto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kumimoji="0" lang="en-US" sz="2800" b="1" i="0" u="none" strike="noStrike" kern="0" cap="none" spc="0" normalizeH="0" baseline="0" noProof="1">
              <a:solidFill>
                <a:srgbClr val="458C9D"/>
              </a:solidFill>
              <a:latin typeface="Liberation Sans Narrow"/>
              <a:ea typeface="+mn-ea"/>
              <a:cs typeface="Liberation Sans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/>
              <a:t>How much does it  take for a website  to rank in Google?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2801600" cy="6401435"/>
          </a:xfrm>
        </p:spPr>
        <p:txBody>
          <a:bodyPr/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/>
              <a:t>It depends on different factors: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Industry/niche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Target region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Domain age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SEO efforts/strategy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Usually it requires 3-6 months.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7000220" cy="830580"/>
          </a:xfrm>
        </p:spPr>
        <p:txBody>
          <a:bodyPr wrap="square"/>
          <a:p>
            <a:r>
              <a:rPr lang="en-US" sz="5400"/>
              <a:t>How do search engines work  (being SEO specialist)?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554450" cy="6894195"/>
          </a:xfrm>
        </p:spPr>
        <p:txBody>
          <a:bodyPr wrap="square"/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/>
              <a:t>Google, Yahoo, Bing ----&gt; Seach engine crawlers/bots/spiders/robots ---&gt; Google bot, Bingbot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sz="3200"/>
          </a:p>
          <a:p>
            <a:pPr marL="457200" indent="-457200"/>
            <a:r>
              <a:rPr lang="en-US" sz="3200"/>
              <a:t>Search engine crawlers crawls(read) websites ----&gt; make a copy of pages being crawled ---&gt; store copy in its database (datacenters)-- this process is known as “indexing/indexation”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A user searches on Google ---&gt; Google shows results from its database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So, the sequence  is:</a:t>
            </a:r>
            <a:endParaRPr lang="en-US" sz="3200"/>
          </a:p>
          <a:p>
            <a:pPr marL="457200" indent="-457200"/>
            <a:r>
              <a:rPr lang="en-US" sz="3200"/>
              <a:t>Google ---&gt; website crawl ---&gt; index ---&gt; rank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7188815" cy="1661795"/>
          </a:xfrm>
        </p:spPr>
        <p:txBody>
          <a:bodyPr wrap="square"/>
          <a:p>
            <a:r>
              <a:rPr lang="en-US" sz="5400"/>
              <a:t>How do search engines work  (being SEO specialist)? (Cont...)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554450" cy="6894195"/>
          </a:xfrm>
        </p:spPr>
        <p:txBody>
          <a:bodyPr wrap="square"/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/>
              <a:t>Q: How frequently does Google crawl/index our website?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Ans: Normally it takes </a:t>
            </a: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3 days to four weeks</a:t>
            </a:r>
            <a:r>
              <a:rPr lang="en-US" sz="3200"/>
              <a:t>. The timing depends on different factors:</a:t>
            </a:r>
            <a:endParaRPr lang="en-US" sz="3200"/>
          </a:p>
          <a:p>
            <a:pPr marL="457200" indent="-457200"/>
            <a:r>
              <a:rPr lang="en-US" sz="3200"/>
              <a:t>   </a:t>
            </a:r>
            <a:r>
              <a:rPr lang="en-US" sz="2400"/>
              <a:t>1.) Website popularity/traffic  --- good SEO</a:t>
            </a:r>
            <a:endParaRPr lang="en-US" sz="2400"/>
          </a:p>
          <a:p>
            <a:pPr marL="457200" indent="-457200"/>
            <a:r>
              <a:rPr lang="en-US" sz="2400"/>
              <a:t>    2.) Website updates (How frequently  it is  updated with anew content, page, data, etc)</a:t>
            </a:r>
            <a:endParaRPr lang="en-US" sz="24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This is called “Crawling fequency”  and it is different for different websites and depend upon the above mentioned factors. 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marL="457200" indent="-457200"/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marL="457200" indent="-457200"/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=&gt; How to see when a website was crawled last time?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marL="457200" indent="-457200"/>
            <a:endParaRPr lang="en-US" sz="2400">
              <a:sym typeface="+mn-ea"/>
            </a:endParaRPr>
          </a:p>
          <a:p>
            <a:pPr marL="457200" indent="-457200"/>
            <a:r>
              <a:rPr lang="en-US" sz="2400">
                <a:sym typeface="+mn-ea"/>
              </a:rPr>
              <a:t>Ans: Write a command on browser, “cache:websiteurl.com” and you will see the date along with the tine. </a:t>
            </a:r>
            <a:endParaRPr lang="en-US" sz="2400"/>
          </a:p>
          <a:p>
            <a:pPr marL="457200" indent="-457200"/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7120870" cy="1661795"/>
          </a:xfrm>
        </p:spPr>
        <p:txBody>
          <a:bodyPr wrap="square"/>
          <a:p>
            <a:r>
              <a:rPr lang="en-US" sz="5400"/>
              <a:t>How do search engines work  (being SEO specialist)? (Cont...)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554450" cy="7263765"/>
          </a:xfrm>
        </p:spPr>
        <p:txBody>
          <a:bodyPr wrap="square"/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/>
              <a:t>Google SERP ---&gt; Search engine result page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Organic result ---&gt;results obtained by applying SEO</a:t>
            </a:r>
            <a:endParaRPr lang="en-US" sz="3200"/>
          </a:p>
          <a:p>
            <a:pPr marL="457200" indent="-457200"/>
            <a:r>
              <a:rPr lang="en-US" sz="3200"/>
              <a:t>Organic traffic </a:t>
            </a:r>
            <a:endParaRPr lang="en-US" sz="3200"/>
          </a:p>
          <a:p>
            <a:pPr marL="457200" indent="-457200"/>
            <a:r>
              <a:rPr lang="en-US" sz="3200"/>
              <a:t>Organic ranking 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--&gt; sponsored content (ads.google.com) --&gt; for promoting websites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r>
              <a:rPr lang="en-US" sz="3200"/>
              <a:t>--&gt; SERP Structure normally:</a:t>
            </a:r>
            <a:endParaRPr lang="en-US" sz="3200"/>
          </a:p>
          <a:p>
            <a:pPr marL="457200" indent="-457200"/>
            <a:r>
              <a:rPr lang="en-US" sz="3200"/>
              <a:t>	- Some sponsored/paid results </a:t>
            </a:r>
            <a:r>
              <a:rPr 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(around 4-5 results)</a:t>
            </a:r>
            <a:endParaRPr lang="en-US" sz="3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marL="457200" indent="-457200"/>
            <a:r>
              <a:rPr lang="en-US" sz="3200">
                <a:sym typeface="+mn-ea"/>
              </a:rPr>
              <a:t>    -(7-10) SEO results - organic traffic  </a:t>
            </a:r>
            <a:endParaRPr lang="en-US" sz="3200">
              <a:sym typeface="+mn-ea"/>
            </a:endParaRPr>
          </a:p>
          <a:p>
            <a:pPr marL="457200" indent="-457200"/>
            <a:r>
              <a:rPr lang="en-US" sz="3200">
                <a:sym typeface="+mn-ea"/>
              </a:rPr>
              <a:t>    - Upto 3 more paid results </a:t>
            </a: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190" y="876300"/>
            <a:ext cx="14900275" cy="114300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p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Structure of a SERP (Search Engine Result Page)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8B277E15-1A05-426F-BA82-A701147247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2095500"/>
            <a:ext cx="16131540" cy="7535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Image 29-07-2024 at 4.1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65" y="362585"/>
            <a:ext cx="17577435" cy="9645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800100"/>
            <a:ext cx="14900275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3 Keys to Higher Search Engine Rankings 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4D6416C3-4B7B-422F-AB7F-D9C6119B967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400300"/>
            <a:ext cx="14081125" cy="7189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830580"/>
          </a:xfrm>
        </p:spPr>
        <p:txBody>
          <a:bodyPr/>
          <a:p>
            <a:r>
              <a:rPr lang="en-US" sz="5400"/>
              <a:t>SEO Learning Roadmap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2801600" cy="3939540"/>
          </a:xfrm>
        </p:spPr>
        <p:txBody>
          <a:bodyPr/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Onpage SEO - Keyword research</a:t>
            </a:r>
            <a:endParaRPr lang="en-US" sz="32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Onpage SEO  - Keyword placement</a:t>
            </a:r>
            <a:endParaRPr lang="en-US" sz="32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Onpage SEO - Content Creation</a:t>
            </a:r>
            <a:endParaRPr lang="en-US" sz="32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Onpage SEO - Technical SEO</a:t>
            </a:r>
            <a:endParaRPr lang="en-US" sz="32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Offpage SEO</a:t>
            </a:r>
            <a:endParaRPr lang="en-US" sz="32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+mn-ea"/>
              </a:rPr>
              <a:t>Local SEO</a:t>
            </a:r>
            <a:endParaRPr lang="en-US" sz="3200" dirty="0">
              <a:sym typeface="+mn-ea"/>
            </a:endParaRPr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19000"/>
            <a:ext cx="12344400" cy="1015365"/>
          </a:xfrm>
        </p:spPr>
        <p:txBody>
          <a:bodyPr wrap="square"/>
          <a:lstStyle/>
          <a:p>
            <a:r>
              <a:rPr lang="en-US" sz="6600" dirty="0" smtClean="0"/>
              <a:t>On-page Optimization	</a:t>
            </a:r>
            <a:endParaRPr lang="en-US" sz="66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735"/>
            <a:ext cx="15784195" cy="7202170"/>
          </a:xfrm>
        </p:spPr>
        <p:txBody>
          <a:bodyPr>
            <a:normAutofit fontScale="25000"/>
          </a:bodyPr>
          <a:lstStyle/>
          <a:p>
            <a:pPr>
              <a:lnSpc>
                <a:spcPct val="150000"/>
              </a:lnSpc>
            </a:pPr>
            <a:r>
              <a:rPr lang="en-US" sz="8000" dirty="0" smtClean="0"/>
              <a:t>Keywords Placement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Anatomy of a SEO friendly webpage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Descriptive URLs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HTML Basics for SEO (SEO related HTML Tags)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Title (keyword +  USP | Brand name)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Meta Description (</a:t>
            </a:r>
            <a:r>
              <a:rPr lang="en-US" sz="8000" dirty="0" err="1" smtClean="0"/>
              <a:t>keywords+brand</a:t>
            </a:r>
            <a:r>
              <a:rPr lang="en-US" sz="8000" dirty="0" smtClean="0"/>
              <a:t> </a:t>
            </a:r>
            <a:r>
              <a:rPr lang="en-US" sz="8000" dirty="0" err="1" smtClean="0"/>
              <a:t>name+USP+power</a:t>
            </a:r>
            <a:r>
              <a:rPr lang="en-US" sz="8000" dirty="0" smtClean="0"/>
              <a:t> words)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Heading tags, h1,….h6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H1 (should be only one on one webpage)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Bold Keywords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Contextual Internal Linking (user experience, search engines)</a:t>
            </a:r>
            <a:endParaRPr lang="en-US" sz="8000" dirty="0" smtClean="0"/>
          </a:p>
          <a:p>
            <a:pPr>
              <a:lnSpc>
                <a:spcPct val="150000"/>
              </a:lnSpc>
            </a:pPr>
            <a:r>
              <a:rPr lang="en-US" sz="8000" dirty="0" smtClean="0"/>
              <a:t>Image Alt Tags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2364720" cy="1384935"/>
          </a:xfrm>
        </p:spPr>
        <p:txBody>
          <a:bodyPr wrap="square"/>
          <a:lstStyle/>
          <a:p>
            <a:r>
              <a:rPr lang="en-US" dirty="0" smtClean="0"/>
              <a:t>Keywords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71700"/>
            <a:ext cx="15417165" cy="2954655"/>
          </a:xfrm>
        </p:spPr>
        <p:txBody>
          <a:bodyPr wrap="square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Primary Keywords vs Secondary keywords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Long </a:t>
            </a:r>
            <a:r>
              <a:rPr lang="en-US" sz="3200" dirty="0"/>
              <a:t>Tail Keywords Vs Short Tail Keywords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Keyword Clustering or Grouping of closely related keywords for every </a:t>
            </a:r>
            <a:r>
              <a:rPr lang="en-US" sz="3200" dirty="0" smtClean="0"/>
              <a:t>webpage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Analyzing competitor websites for </a:t>
            </a:r>
            <a:r>
              <a:rPr lang="en-US" sz="3200" dirty="0" smtClean="0"/>
              <a:t>Keywords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2364720" cy="1384935"/>
          </a:xfrm>
        </p:spPr>
        <p:txBody>
          <a:bodyPr wrap="square"/>
          <a:lstStyle/>
          <a:p>
            <a:r>
              <a:rPr lang="en-US" dirty="0" smtClean="0"/>
              <a:t>Keyword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71700"/>
            <a:ext cx="16379190" cy="8371205"/>
          </a:xfrm>
        </p:spPr>
        <p:txBody>
          <a:bodyPr wrap="square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Ecommerce site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Services website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Blogging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For example we look for services first 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1.) Services  --&gt; Food delivery 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Website name is --&gt; yummyfood.pk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Target region --&gt; karachi, lahore, islamabad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 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Page 1 --&gt; </a:t>
            </a:r>
            <a:r>
              <a:rPr lang="en-US" sz="3200" dirty="0">
                <a:sym typeface="+mn-ea"/>
              </a:rPr>
              <a:t>yummyfood.pk/karachi/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Now i want to rannk this page in Google? What should be the keywords for this page?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Keywords ---&gt; search queries related to our pages on which we want to rank.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7121505" cy="1384935"/>
          </a:xfrm>
        </p:spPr>
        <p:txBody>
          <a:bodyPr wrap="square"/>
          <a:lstStyle/>
          <a:p>
            <a:r>
              <a:rPr lang="en-US" dirty="0" smtClean="0"/>
              <a:t>Keyword Research (Cont...)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040" y="1866900"/>
            <a:ext cx="16379190" cy="783399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/>
          <a:lstStyle/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Keywords ---&gt; search queries related to our pages on which we want to rank. 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Keywords could be: (Our guess)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food delivery in karachi (yes)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fast food delivery in karachi (yes)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order food in karachi (yes)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Quality food delivery karachi (yes)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restaurant near karachi ? (NO) -- WHY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But which one is the best ? On which basis should we select the keyword?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>
                <a:sym typeface="+mn-ea"/>
              </a:rPr>
              <a:t>In Digital markting, we don’t guess, wecheck numbers. 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7121505" cy="1384935"/>
          </a:xfrm>
        </p:spPr>
        <p:txBody>
          <a:bodyPr wrap="square"/>
          <a:lstStyle/>
          <a:p>
            <a:r>
              <a:rPr lang="en-US" dirty="0" smtClean="0"/>
              <a:t>SEO Keyword Research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040" y="1790700"/>
            <a:ext cx="16379190" cy="760984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/>
          <a:lstStyle/>
          <a:p>
            <a:pPr indent="0">
              <a:buFont typeface="Arial" panose="020B0604020202020204" pitchFamily="34" charset="0"/>
              <a:buNone/>
            </a:pP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1.) Ahrefs/SEMrush ---&gt; paid tools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2.) Chatgpt for guessing keywords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Q: How to use </a:t>
            </a:r>
            <a:r>
              <a:rPr lang="en-US" sz="3200" dirty="0">
                <a:sym typeface="+mn-ea"/>
              </a:rPr>
              <a:t>SEMrush for keyword research?</a:t>
            </a:r>
            <a:endParaRPr lang="en-US" sz="32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Go on SEMrush tool on your browser --&gt; Keyword overview ---&gt;Enter your keywords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Keyword Selection Criteria: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Volume --&gt; </a:t>
            </a:r>
            <a:r>
              <a:rPr lang="en-US" sz="2400" dirty="0"/>
              <a:t>how many times this keyword is being searched (montly search volume)-- e.g its its 480 then it means if this keyword is ranked, then the no. of people on this score who can come to your website is around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400-420 </a:t>
            </a:r>
            <a:endParaRPr 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--&gt; Higher the search volume,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more is the traffic</a:t>
            </a:r>
            <a:endParaRPr 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7121505" cy="1384935"/>
          </a:xfrm>
        </p:spPr>
        <p:txBody>
          <a:bodyPr wrap="square"/>
          <a:lstStyle/>
          <a:p>
            <a:r>
              <a:rPr lang="en-US" dirty="0" smtClean="0"/>
              <a:t>SEO Keyword Research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71700"/>
            <a:ext cx="16379190" cy="800227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/>
          <a:lstStyle/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Keyword Selection Criteria:</a:t>
            </a:r>
            <a:endParaRPr lang="en-US" sz="32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3200" dirty="0"/>
              <a:t>Volume --&gt; </a:t>
            </a:r>
            <a:r>
              <a:rPr lang="en-US" sz="2400" dirty="0"/>
              <a:t>how many times this keywordis searched (montly search volume)-- e.g its its 480 then it means if this keyword is ranbked, then the no of people on this score who can come to your website is around 400-420 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--&gt; Higher the search volume, more is the traffic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--&gt; KD --&gt; Keyword Difficulty - It means how difficult it is to rank on that keyword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--&gt; If the keyword difficulty is between 0-20, then it means it is very easy to rank on that keyword (less difficulty means less competition)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KD ---&gt; (0-20) ---&gt; Very easy to rank 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KD ---&gt; (20-35) ---&gt; Easy to rank </a:t>
            </a:r>
            <a:endParaRPr lang="en-US" sz="24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KD ---&gt; (35-45) ---&gt; Hard to rank </a:t>
            </a:r>
            <a:endParaRPr lang="en-US" sz="24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KD ---&gt; (45-60) ---&gt; Very hard to rank</a:t>
            </a:r>
            <a:endParaRPr lang="en-US" sz="24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KD ---&gt; &lt; 60 ---&gt; Don’t go for such keyword 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CPC - Cost per click - not related to SEO (This is something that comes in Gogle Ads module)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Intent - 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What is intent ?</a:t>
            </a:r>
            <a:endParaRPr 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7121505" cy="1384935"/>
          </a:xfrm>
        </p:spPr>
        <p:txBody>
          <a:bodyPr wrap="square"/>
          <a:lstStyle/>
          <a:p>
            <a:r>
              <a:rPr lang="en-US" dirty="0" smtClean="0"/>
              <a:t>SEO Keyword Research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71700"/>
            <a:ext cx="16379190" cy="489839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/>
          <a:lstStyle/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Intent - 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What is intent ?</a:t>
            </a:r>
            <a:endParaRPr 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    1.) C  and T - type ---&gt; It means commerical/transitional intent - the intent is buying - e.g for jewellery    store  (buy jewellery)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     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    </a:t>
            </a:r>
            <a:r>
              <a:rPr lang="en-US" sz="2400" dirty="0">
                <a:sym typeface="+mn-ea"/>
              </a:rPr>
              <a:t>1.) I type ---&gt; It mean information --&gt; keywords are like “how to make jewellery etc, how to clean jewellery at home, etc”</a:t>
            </a: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endParaRPr lang="en-US" sz="24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/>
              <a:t>Question: </a:t>
            </a:r>
            <a:r>
              <a:rPr lang="en-US" sz="2400" dirty="0">
                <a:solidFill>
                  <a:schemeClr val="tx1"/>
                </a:solidFill>
              </a:rPr>
              <a:t>One should rank their jewellery store website on commerical keywords or informational keywords?</a:t>
            </a:r>
            <a:endParaRPr lang="en-US" sz="2400" dirty="0">
              <a:solidFill>
                <a:schemeClr val="tx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42900"/>
            <a:ext cx="14900275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Title Tags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70E6A25B-DBE3-465F-82F9-3ABF7918C319"/>
          <p:cNvPicPr>
            <a:picLocks noChangeAspect="1"/>
          </p:cNvPicPr>
          <p:nvPr/>
        </p:nvPicPr>
        <p:blipFill>
          <a:blip r:embed="rId1"/>
          <a:srcRect t="3950" r="4321"/>
          <a:stretch>
            <a:fillRect/>
          </a:stretch>
        </p:blipFill>
        <p:spPr>
          <a:xfrm>
            <a:off x="1384300" y="1690370"/>
            <a:ext cx="14923770" cy="8420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325" y="1905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Tags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FBA932C3-723D-4383-81DE-1879DF883A48"/>
          <p:cNvPicPr>
            <a:picLocks noChangeAspect="1"/>
          </p:cNvPicPr>
          <p:nvPr/>
        </p:nvPicPr>
        <p:blipFill>
          <a:blip r:embed="rId1"/>
          <a:srcRect r="5115"/>
          <a:stretch>
            <a:fillRect/>
          </a:stretch>
        </p:blipFill>
        <p:spPr>
          <a:xfrm>
            <a:off x="2134235" y="1700530"/>
            <a:ext cx="14391640" cy="8413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325" y="1905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Meta Description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3D354268-4F84-4DDC-BFDE-7F4C247AB3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10970"/>
            <a:ext cx="14954250" cy="86277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Creating Engaging Content 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72AE7277-D684-4015-8F3D-6CAB7A0EF4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866900"/>
            <a:ext cx="1558163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Content - Keyword Research Factors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33C01B78-F4D8-47DA-B3E9-94A74982D83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790700"/>
            <a:ext cx="15521940" cy="80860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0" y="9183370"/>
            <a:ext cx="2362200" cy="44132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Content - Internal Links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4CB54343-7D07-4D6D-92F2-C97D4100D552"/>
          <p:cNvPicPr>
            <a:picLocks noChangeAspect="1"/>
          </p:cNvPicPr>
          <p:nvPr/>
        </p:nvPicPr>
        <p:blipFill>
          <a:blip r:embed="rId1"/>
          <a:srcRect t="7393"/>
          <a:stretch>
            <a:fillRect/>
          </a:stretch>
        </p:blipFill>
        <p:spPr>
          <a:xfrm>
            <a:off x="1371600" y="1852930"/>
            <a:ext cx="16190595" cy="79863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Content - Anchor Text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Picture 2" descr="1C171CD1-0582-4FF3-8BD5-F7C1190C2EE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638300"/>
            <a:ext cx="15281275" cy="82270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Promote Your Good Content 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AE0B9DDD-C156-4472-935A-662F87843C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171700"/>
            <a:ext cx="15634970" cy="74479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3543300"/>
            <a:ext cx="8229600" cy="4525963"/>
          </a:xfrm>
        </p:spPr>
        <p:txBody>
          <a:bodyPr/>
          <a:p>
            <a:pPr marL="0" indent="0" algn="ctr">
              <a:buNone/>
            </a:pPr>
            <a:r>
              <a:rPr lang="en-US" sz="480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End of Lecture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5592</Words>
  <Application>WPS Presentation</Application>
  <PresentationFormat>On-screen Show (4:3)</PresentationFormat>
  <Paragraphs>212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SimSun</vt:lpstr>
      <vt:lpstr>Wingdings</vt:lpstr>
      <vt:lpstr>Clear Sans Medium</vt:lpstr>
      <vt:lpstr>Clear Sans</vt:lpstr>
      <vt:lpstr>Clear Sans Bold</vt:lpstr>
      <vt:lpstr>Thonburi</vt:lpstr>
      <vt:lpstr>Liberation Sans Narrow</vt:lpstr>
      <vt:lpstr>Calibri</vt:lpstr>
      <vt:lpstr>Helvetica Neue</vt:lpstr>
      <vt:lpstr>Microsoft YaHei</vt:lpstr>
      <vt:lpstr>汉仪旗黑</vt:lpstr>
      <vt:lpstr>Arial Unicode MS</vt:lpstr>
      <vt:lpstr>Office Theme</vt:lpstr>
      <vt:lpstr>        Digital Marketing  </vt:lpstr>
      <vt:lpstr>Introduction to SEO</vt:lpstr>
      <vt:lpstr>How much does it  take for a website  to rank in Google?</vt:lpstr>
      <vt:lpstr>How do search engines work  (being SEO specialist)?</vt:lpstr>
      <vt:lpstr>How do search engines work  (being SEO specialist)? (Cont...)</vt:lpstr>
      <vt:lpstr>How do search engines work  (being SEO specialist)? (Cont...)</vt:lpstr>
      <vt:lpstr>Structure of a SERP (Search Engine Result Page)</vt:lpstr>
      <vt:lpstr>PowerPoint 演示文稿</vt:lpstr>
      <vt:lpstr>3 Keys to Higher Search Engine Rankings </vt:lpstr>
      <vt:lpstr>SEO Learning Roadmap</vt:lpstr>
      <vt:lpstr>On-page Optimization	</vt:lpstr>
      <vt:lpstr>Keywords </vt:lpstr>
      <vt:lpstr>Keyword Research</vt:lpstr>
      <vt:lpstr>Keyword Research (Cont...)</vt:lpstr>
      <vt:lpstr>SEO Keyword Research Tools</vt:lpstr>
      <vt:lpstr>SEO Keyword Research Tools</vt:lpstr>
      <vt:lpstr>SEO Keyword Research Tools</vt:lpstr>
      <vt:lpstr>Title Tags</vt:lpstr>
      <vt:lpstr>Tags</vt:lpstr>
      <vt:lpstr>Meta Description</vt:lpstr>
      <vt:lpstr>Creating Engaging Content </vt:lpstr>
      <vt:lpstr>Content - Keyword Research Factors</vt:lpstr>
      <vt:lpstr>Content - Internal Links</vt:lpstr>
      <vt:lpstr>Content - Anchor Text</vt:lpstr>
      <vt:lpstr>Promote Your Good Content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85</cp:revision>
  <dcterms:created xsi:type="dcterms:W3CDTF">2025-10-23T19:35:40Z</dcterms:created>
  <dcterms:modified xsi:type="dcterms:W3CDTF">2025-10-23T19:35:40Z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