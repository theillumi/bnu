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532" r:id="rId3"/>
    <p:sldId id="573" r:id="rId4"/>
    <p:sldId id="603" r:id="rId5"/>
    <p:sldId id="608" r:id="rId6"/>
    <p:sldId id="612" r:id="rId7"/>
    <p:sldId id="613" r:id="rId8"/>
    <p:sldId id="614" r:id="rId9"/>
    <p:sldId id="615" r:id="rId10"/>
    <p:sldId id="616" r:id="rId11"/>
    <p:sldId id="618" r:id="rId12"/>
    <p:sldId id="617" r:id="rId13"/>
    <p:sldId id="619" r:id="rId14"/>
    <p:sldId id="620" r:id="rId16"/>
    <p:sldId id="621" r:id="rId17"/>
    <p:sldId id="622" r:id="rId18"/>
    <p:sldId id="623" r:id="rId19"/>
    <p:sldId id="624" r:id="rId20"/>
    <p:sldId id="554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2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Open links &gt; view source page option from right click &gt; look for title 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Open links &gt; view source page option from right click &gt; look for title 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Open links &gt; view source page option from right click &gt; look for title 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chromewebstore.google.com/detail/aiprm-for-chatgpt/ojnbohmppadfgpejeebfnmnknjdlckgj?hl=en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27" y="3810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13" name="Group 12"/>
          <p:cNvGrpSpPr>
            <a:grpSpLocks noGrp="1" noRot="1" noChangeAspect="1" noMove="1" noResize="1" noUngrp="1"/>
          </p:cNvGrpSpPr>
          <p:nvPr/>
        </p:nvGrpSpPr>
        <p:grpSpPr>
          <a:xfrm rot="16200000">
            <a:off x="176022" y="1162371"/>
            <a:ext cx="457200" cy="644652"/>
            <a:chOff x="215328" y="-46937"/>
            <a:chExt cx="304800" cy="2773841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2" y="3113130"/>
            <a:ext cx="18073094" cy="6139959"/>
            <a:chOff x="1" y="2075420"/>
            <a:chExt cx="12048729" cy="4093306"/>
          </a:xfrm>
        </p:grpSpPr>
        <p:sp>
          <p:nvSpPr>
            <p:cNvPr id="20" name="Oval 19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Oval 20"/>
            <p:cNvSpPr/>
            <p:nvPr/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" name="Oval 21"/>
            <p:cNvSpPr/>
            <p:nvPr/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3" name="Oval 22"/>
            <p:cNvSpPr/>
            <p:nvPr/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4" name="Oval 2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5" name="Oval 24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9" name="Group 28"/>
          <p:cNvGrpSpPr>
            <a:grpSpLocks noGrp="1" noRot="1" noChangeAspect="1" noMove="1" noResize="1" noUngrp="1"/>
          </p:cNvGrpSpPr>
          <p:nvPr/>
        </p:nvGrpSpPr>
        <p:grpSpPr>
          <a:xfrm>
            <a:off x="16889309" y="476367"/>
            <a:ext cx="822960" cy="823511"/>
            <a:chOff x="7029447" y="3514725"/>
            <a:chExt cx="1285875" cy="54900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>
            <a:grpSpLocks noGrp="1" noRot="1" noChangeAspect="1" noMove="1" noResize="1" noUngrp="1"/>
          </p:cNvGrpSpPr>
          <p:nvPr/>
        </p:nvGrpSpPr>
        <p:grpSpPr>
          <a:xfrm rot="5400000">
            <a:off x="924518" y="8910840"/>
            <a:ext cx="1928813" cy="823511"/>
            <a:chOff x="7029447" y="3514725"/>
            <a:chExt cx="1285875" cy="549007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295" y="2552700"/>
            <a:ext cx="13529310" cy="6046470"/>
          </a:xfrm>
          <a:noFill/>
        </p:spPr>
        <p:txBody>
          <a:bodyPr anchor="t">
            <a:normAutofit/>
          </a:bodyPr>
          <a:lstStyle/>
          <a:p>
            <a:br>
              <a:rPr lang="en-US" sz="7200" b="1"/>
            </a:br>
            <a:r>
              <a:rPr lang="en-US" sz="7200" b="1"/>
              <a:t>       Digital Marketing </a:t>
            </a:r>
            <a:br>
              <a:rPr lang="en-US" sz="7200" b="1"/>
            </a:br>
            <a:endParaRPr lang="en-US" sz="72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495300"/>
            <a:ext cx="15544800" cy="1384935"/>
          </a:xfrm>
        </p:spPr>
        <p:txBody>
          <a:bodyPr/>
          <a:p>
            <a:r>
              <a:rPr lang="en-US"/>
              <a:t>Introduction to SEO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143000" y="2247900"/>
            <a:ext cx="1548130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chemeClr val="tx1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Intent</a:t>
            </a: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chemeClr val="tx1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How to Access SMERush Tool?</a:t>
            </a: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chemeClr val="tx1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Another Approach - AIPRM </a:t>
            </a: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chemeClr val="tx1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Short Tail keywords vs. long Tail keywords</a:t>
            </a: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chemeClr val="tx1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Keyword Placement  </a:t>
            </a: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1661795"/>
          </a:xfrm>
        </p:spPr>
        <p:txBody>
          <a:bodyPr/>
          <a:p>
            <a:r>
              <a:rPr lang="en-US" sz="5400" b="1"/>
              <a:t>Intent</a:t>
            </a:r>
            <a:endParaRPr lang="en-US" sz="5400" b="1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6643985" cy="8071485"/>
          </a:xfrm>
        </p:spPr>
        <p:txBody>
          <a:bodyPr>
            <a:normAutofit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 b="1"/>
              <a:t>Keyword Intent </a:t>
            </a:r>
            <a:endParaRPr lang="en-US" sz="3200" b="1"/>
          </a:p>
          <a:p>
            <a:pPr marL="914400" lvl="1" indent="-457200" algn="l">
              <a:buClrTx/>
              <a:buSzTx/>
            </a:pPr>
            <a:r>
              <a:rPr lang="en-US">
                <a:sym typeface="+mn-ea"/>
              </a:rPr>
              <a:t>C -&gt; Commerical Keywords - buying/purchase intent, e.g., smartphone prices</a:t>
            </a:r>
            <a:endParaRPr lang="en-US">
              <a:sym typeface="+mn-ea"/>
            </a:endParaRPr>
          </a:p>
          <a:p>
            <a:pPr marL="914400" lvl="1" indent="-457200" algn="l">
              <a:buClrTx/>
              <a:buSzTx/>
            </a:pPr>
            <a:r>
              <a:rPr lang="en-US" sz="2800"/>
              <a:t>T </a:t>
            </a:r>
            <a:r>
              <a:rPr lang="en-US">
                <a:sym typeface="+mn-ea"/>
              </a:rPr>
              <a:t>-&gt; Transcational Keywords - more buying intent, e.g., buy smartphone, hire accountant </a:t>
            </a:r>
            <a:endParaRPr lang="en-US" sz="2800"/>
          </a:p>
          <a:p>
            <a:pPr marL="914400" lvl="1" indent="-457200" algn="l">
              <a:buClrTx/>
              <a:buSzTx/>
            </a:pPr>
            <a:r>
              <a:rPr lang="en-US" sz="2800"/>
              <a:t>I </a:t>
            </a:r>
            <a:r>
              <a:rPr lang="en-US">
                <a:sym typeface="+mn-ea"/>
              </a:rPr>
              <a:t>-&gt; Informational Keywords - information intent, e.g., how to hire accountant, how to speed up your smartphones, etc</a:t>
            </a:r>
            <a:endParaRPr lang="en-US">
              <a:sym typeface="+mn-ea"/>
            </a:endParaRPr>
          </a:p>
          <a:p>
            <a:pPr marL="914400" lvl="1" indent="-457200" algn="l">
              <a:buClrTx/>
              <a:buSzTx/>
            </a:pPr>
            <a:r>
              <a:rPr lang="en-US">
                <a:solidFill>
                  <a:srgbClr val="FF0000"/>
                </a:solidFill>
                <a:sym typeface="+mn-ea"/>
              </a:rPr>
              <a:t>N -&gt; Navigational keywords -&gt; competatiors keywords -&gt; e.g., daraz smartphones -&gt; never target these keywords</a:t>
            </a:r>
            <a:endParaRPr lang="en-US" sz="280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200" b="1"/>
              <a:t>Keyword Selection Criteria</a:t>
            </a:r>
            <a:endParaRPr lang="en-US" sz="3200" b="1"/>
          </a:p>
          <a:p>
            <a:pPr marL="914400" lvl="1" indent="-457200"/>
            <a:r>
              <a:rPr lang="en-US" sz="2450">
                <a:sym typeface="+mn-ea"/>
              </a:rPr>
              <a:t>Search Volumne -&gt; more than 300</a:t>
            </a:r>
            <a:endParaRPr lang="en-US" sz="2450">
              <a:sym typeface="+mn-ea"/>
            </a:endParaRPr>
          </a:p>
          <a:p>
            <a:pPr marL="914400" lvl="1" indent="-457200"/>
            <a:r>
              <a:rPr lang="en-US" sz="2800"/>
              <a:t>Keyword Difficulty / Competition -&gt; less than 35</a:t>
            </a:r>
            <a:endParaRPr lang="en-US" sz="2800"/>
          </a:p>
          <a:p>
            <a:pPr marL="914400" lvl="1" indent="-457200"/>
            <a:r>
              <a:rPr lang="en-US" sz="2800"/>
              <a:t>Intent : a.) Ecommerce/Service/Real Estate/Portfolio/Company -&gt; Commercial</a:t>
            </a:r>
            <a:endParaRPr lang="en-US" sz="2800"/>
          </a:p>
          <a:p>
            <a:pPr marL="457200" lvl="1" indent="0">
              <a:buNone/>
            </a:pPr>
            <a:r>
              <a:rPr lang="en-US" sz="2800"/>
              <a:t>                 b</a:t>
            </a:r>
            <a:r>
              <a:rPr lang="en-US" sz="2800">
                <a:sym typeface="+mn-ea"/>
              </a:rPr>
              <a:t>.) Blogging -&gt; Informational</a:t>
            </a:r>
            <a:endParaRPr lang="en-US" sz="2800"/>
          </a:p>
          <a:p>
            <a:pPr marL="457200" indent="-457200"/>
            <a:endParaRPr lang="en-US" sz="3200"/>
          </a:p>
          <a:p>
            <a:pPr marL="0" indent="0">
              <a:buNone/>
            </a:pP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1661795"/>
          </a:xfrm>
        </p:spPr>
        <p:txBody>
          <a:bodyPr/>
          <a:p>
            <a:r>
              <a:rPr lang="en-US" sz="5400" b="1" kern="0">
                <a:latin typeface="Liberation Sans Narrow"/>
                <a:ea typeface="+mn-ea"/>
                <a:cs typeface="Liberation Sans Narrow"/>
                <a:sym typeface="+mn-ea"/>
              </a:rPr>
              <a:t>How to Access SMERush Tool?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6643985" cy="8071485"/>
          </a:xfrm>
        </p:spPr>
        <p:txBody>
          <a:bodyPr>
            <a:normAutofit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 b="1"/>
              <a:t>Keyword Intent </a:t>
            </a:r>
            <a:endParaRPr lang="en-US" sz="3200" b="1"/>
          </a:p>
          <a:p>
            <a:pPr marL="914400" lvl="1" indent="-457200" algn="l">
              <a:buClrTx/>
              <a:buSzTx/>
            </a:pPr>
            <a:r>
              <a:rPr lang="en-US">
                <a:sym typeface="+mn-ea"/>
              </a:rPr>
              <a:t>Group buy SEO Tools</a:t>
            </a:r>
            <a:endParaRPr lang="en-US">
              <a:sym typeface="+mn-ea"/>
            </a:endParaRPr>
          </a:p>
          <a:p>
            <a:pPr marL="1371600" lvl="2" indent="-457200" algn="l">
              <a:buClrTx/>
              <a:buSzTx/>
            </a:pPr>
            <a:r>
              <a:rPr lang="en-US" sz="2800">
                <a:sym typeface="+mn-ea"/>
              </a:rPr>
              <a:t>Digitavision</a:t>
            </a:r>
            <a:endParaRPr lang="en-US" sz="2800">
              <a:sym typeface="+mn-ea"/>
            </a:endParaRPr>
          </a:p>
          <a:p>
            <a:pPr marL="1371600" lvl="2" indent="-457200" algn="l">
              <a:buClrTx/>
              <a:buSzTx/>
            </a:pPr>
            <a:r>
              <a:rPr lang="en-US" sz="2800">
                <a:sym typeface="+mn-ea"/>
              </a:rPr>
              <a:t>Azadseotool</a:t>
            </a:r>
            <a:endParaRPr lang="en-US" sz="2800">
              <a:sym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200" b="1"/>
              <a:t>Keyword Selection Criteria</a:t>
            </a:r>
            <a:endParaRPr lang="en-US" sz="3200" b="1"/>
          </a:p>
          <a:p>
            <a:pPr marL="914400" lvl="1" indent="-457200"/>
            <a:r>
              <a:rPr lang="en-US" sz="2450">
                <a:sym typeface="+mn-ea"/>
              </a:rPr>
              <a:t>Search Volumne -&gt; more than 300</a:t>
            </a:r>
            <a:endParaRPr lang="en-US" sz="2450">
              <a:sym typeface="+mn-ea"/>
            </a:endParaRPr>
          </a:p>
          <a:p>
            <a:pPr marL="914400" lvl="1" indent="-457200"/>
            <a:r>
              <a:rPr lang="en-US" sz="2800"/>
              <a:t>Keyword Difficulty / Competition -&gt; less than 35</a:t>
            </a:r>
            <a:endParaRPr lang="en-US" sz="2800"/>
          </a:p>
          <a:p>
            <a:pPr marL="914400" lvl="1" indent="-457200"/>
            <a:r>
              <a:rPr lang="en-US" sz="2800"/>
              <a:t>Intent : a.) Ecommerce/Service/Real Estate/Portfolio/Company -&gt; Commercial</a:t>
            </a:r>
            <a:endParaRPr lang="en-US" sz="2800"/>
          </a:p>
          <a:p>
            <a:pPr marL="457200" lvl="1" indent="0">
              <a:buNone/>
            </a:pPr>
            <a:r>
              <a:rPr lang="en-US" sz="2800"/>
              <a:t>                 b</a:t>
            </a:r>
            <a:r>
              <a:rPr lang="en-US" sz="2800">
                <a:sym typeface="+mn-ea"/>
              </a:rPr>
              <a:t>.) Blogging -&gt; Informational</a:t>
            </a:r>
            <a:endParaRPr lang="en-US" sz="2800"/>
          </a:p>
          <a:p>
            <a:pPr marL="457200" indent="-457200"/>
            <a:endParaRPr lang="en-US" sz="3200"/>
          </a:p>
          <a:p>
            <a:pPr marL="0" indent="0">
              <a:buNone/>
            </a:pP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1661795"/>
          </a:xfrm>
        </p:spPr>
        <p:txBody>
          <a:bodyPr/>
          <a:p>
            <a:r>
              <a:rPr lang="en-US" sz="5400" b="1" kern="0">
                <a:latin typeface="Liberation Sans Narrow"/>
                <a:ea typeface="+mn-ea"/>
                <a:cs typeface="Liberation Sans Narrow"/>
              </a:rPr>
              <a:t>Another Approach - AIPRM</a:t>
            </a:r>
            <a:endParaRPr lang="en-US" sz="5400" b="1" kern="0">
              <a:latin typeface="Liberation Sans Narrow"/>
              <a:ea typeface="+mn-ea"/>
              <a:cs typeface="Liberation Sans Narrow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2094230"/>
            <a:ext cx="15285720" cy="7920355"/>
          </a:xfrm>
        </p:spPr>
        <p:txBody>
          <a:bodyPr>
            <a:normAutofit lnSpcReduction="10000"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3200"/>
              <a:t>If you face a difficulty in using SEMRush, there is another way of searching the keywords</a:t>
            </a:r>
            <a:endParaRPr lang="en-US" sz="3200"/>
          </a:p>
          <a:p>
            <a:pPr marL="914400" lvl="1" indent="-457200" algn="l">
              <a:lnSpc>
                <a:spcPct val="150000"/>
              </a:lnSpc>
              <a:buClrTx/>
              <a:buSzTx/>
            </a:pPr>
            <a:r>
              <a:rPr lang="en-US">
                <a:sym typeface="+mn-ea"/>
              </a:rPr>
              <a:t>You can download Google </a:t>
            </a:r>
            <a:r>
              <a:rPr lang="en-US" b="1">
                <a:sym typeface="+mn-ea"/>
              </a:rPr>
              <a:t>Chrome Extension</a:t>
            </a:r>
            <a:r>
              <a:rPr lang="en-US">
                <a:sym typeface="+mn-ea"/>
              </a:rPr>
              <a:t> on your browser named as “AIPRM”</a:t>
            </a:r>
            <a:endParaRPr lang="en-US">
              <a:sym typeface="+mn-ea"/>
            </a:endParaRPr>
          </a:p>
          <a:p>
            <a:pPr marL="1371600" lvl="2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Select </a:t>
            </a:r>
            <a:r>
              <a:rPr lang="en-US" sz="2800" b="1">
                <a:sym typeface="+mn-ea"/>
                <a:hlinkClick r:id="rId1" tooltip="" action="ppaction://hlinkfile"/>
              </a:rPr>
              <a:t>AIPRM for ChatGPT - Chrome Web Store</a:t>
            </a:r>
            <a:r>
              <a:rPr lang="en-US" sz="2800" b="1">
                <a:sym typeface="+mn-ea"/>
              </a:rPr>
              <a:t> </a:t>
            </a:r>
            <a:r>
              <a:rPr lang="en-US" sz="2800">
                <a:sym typeface="+mn-ea"/>
              </a:rPr>
              <a:t>option</a:t>
            </a:r>
            <a:r>
              <a:rPr lang="en-US" sz="2800" b="1">
                <a:sym typeface="+mn-ea"/>
              </a:rPr>
              <a:t> </a:t>
            </a:r>
            <a:r>
              <a:rPr lang="en-US" sz="2800">
                <a:sym typeface="+mn-ea"/>
              </a:rPr>
              <a:t>and add it to chrome</a:t>
            </a:r>
            <a:endParaRPr lang="en-US" sz="2800" b="1">
              <a:sym typeface="+mn-ea"/>
            </a:endParaRPr>
          </a:p>
          <a:p>
            <a:pPr marL="1371600" lvl="2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After this, select the extension icon from top, and pin it </a:t>
            </a:r>
            <a:endParaRPr lang="en-US" sz="2800">
              <a:sym typeface="+mn-ea"/>
            </a:endParaRPr>
          </a:p>
          <a:p>
            <a:pPr marL="1371600" lvl="2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Now here you can see different types of prompts </a:t>
            </a:r>
            <a:endParaRPr lang="en-US" sz="2800">
              <a:sym typeface="+mn-ea"/>
            </a:endParaRPr>
          </a:p>
          <a:p>
            <a:pPr marL="1371600" lvl="2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Now in the search bar, type </a:t>
            </a:r>
            <a:r>
              <a:rPr lang="en-US" sz="2800" b="1">
                <a:sym typeface="+mn-ea"/>
              </a:rPr>
              <a:t>SEMRush</a:t>
            </a:r>
            <a:r>
              <a:rPr lang="en-US" sz="2800">
                <a:sym typeface="+mn-ea"/>
              </a:rPr>
              <a:t> and search it </a:t>
            </a:r>
            <a:endParaRPr lang="en-US" sz="2800">
              <a:sym typeface="+mn-ea"/>
            </a:endParaRPr>
          </a:p>
          <a:p>
            <a:pPr marL="1371600" lvl="2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Once you find it, click on it and a prompt will load</a:t>
            </a:r>
            <a:endParaRPr lang="en-US" sz="2800">
              <a:sym typeface="+mn-ea"/>
            </a:endParaRPr>
          </a:p>
          <a:p>
            <a:pPr marL="1371600" lvl="2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Now type your business content/ generic keyword there and press enter </a:t>
            </a:r>
            <a:endParaRPr lang="en-US" sz="2800">
              <a:sym typeface="+mn-ea"/>
            </a:endParaRPr>
          </a:p>
          <a:p>
            <a:pPr marL="1371600" lvl="2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You will be given a list of keywords along with a score </a:t>
            </a:r>
            <a:endParaRPr lang="en-US" sz="2800">
              <a:sym typeface="+mn-ea"/>
            </a:endParaRPr>
          </a:p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1661795"/>
          </a:xfrm>
        </p:spPr>
        <p:txBody>
          <a:bodyPr/>
          <a:p>
            <a:r>
              <a:rPr lang="en-US" sz="5400" b="1" kern="0">
                <a:latin typeface="Liberation Sans Narrow"/>
                <a:ea typeface="+mn-ea"/>
                <a:cs typeface="Liberation Sans Narrow"/>
              </a:rPr>
              <a:t>Short Tail vs. Long Tail Keywords</a:t>
            </a:r>
            <a:endParaRPr lang="en-US" sz="5400" b="1" kern="0">
              <a:latin typeface="Liberation Sans Narrow"/>
              <a:ea typeface="+mn-ea"/>
              <a:cs typeface="Liberation Sans Narrow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12620"/>
            <a:ext cx="16948150" cy="8101965"/>
          </a:xfrm>
        </p:spPr>
        <p:txBody>
          <a:bodyPr>
            <a:normAutofit lnSpcReduction="10000"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 algn="just">
              <a:lnSpc>
                <a:spcPct val="150000"/>
              </a:lnSpc>
            </a:pPr>
            <a:r>
              <a:rPr lang="en-US" sz="3200"/>
              <a:t>A </a:t>
            </a:r>
            <a:r>
              <a:rPr lang="en-US" sz="3200" b="1"/>
              <a:t>short-tail keyword</a:t>
            </a:r>
            <a:r>
              <a:rPr lang="en-US" sz="3200"/>
              <a:t> (also called a broad keyword) is a general search phrase usually made up of one to two words that covers a wide topic and has high search volume, high competition, and broad user intent.</a:t>
            </a:r>
            <a:endParaRPr lang="en-US" sz="3200"/>
          </a:p>
          <a:p>
            <a:pPr lvl="2" algn="just">
              <a:lnSpc>
                <a:spcPct val="150000"/>
              </a:lnSpc>
              <a:buClrTx/>
              <a:buSzTx/>
              <a:buFont typeface="Wingdings" panose="05000000000000000000" charset="0"/>
              <a:buChar char=""/>
            </a:pPr>
            <a:r>
              <a:rPr lang="en-US" sz="3200" b="1"/>
              <a:t> For example</a:t>
            </a:r>
            <a:r>
              <a:rPr lang="en-US" sz="3200"/>
              <a:t> : “shoes”, “digital marketing”, “laptop”</a:t>
            </a:r>
            <a:endParaRPr lang="en-US" sz="3200"/>
          </a:p>
          <a:p>
            <a:pPr lvl="2" algn="just">
              <a:lnSpc>
                <a:spcPct val="150000"/>
              </a:lnSpc>
              <a:buClrTx/>
              <a:buSzTx/>
              <a:buFont typeface="Wingdings" panose="05000000000000000000" charset="0"/>
              <a:buChar char=""/>
            </a:pPr>
            <a:r>
              <a:rPr lang="en-US" sz="3200" b="1"/>
              <a:t> Key Characterictics</a:t>
            </a:r>
            <a:endParaRPr lang="en-US" sz="3200" b="1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1–2 words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Very high search volume and high keyword difficulty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High competition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Broad and unclear intent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Harder to rank for</a:t>
            </a:r>
            <a:endParaRPr lang="en-US" sz="2665"/>
          </a:p>
          <a:p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917575"/>
          </a:xfrm>
        </p:spPr>
        <p:txBody>
          <a:bodyPr/>
          <a:p>
            <a:r>
              <a:rPr lang="en-US" sz="5400" b="1" kern="0">
                <a:latin typeface="Liberation Sans Narrow"/>
                <a:ea typeface="+mn-ea"/>
                <a:cs typeface="Liberation Sans Narrow"/>
              </a:rPr>
              <a:t>Short Tail vs. Long Tail Keywords</a:t>
            </a:r>
            <a:endParaRPr lang="en-US" sz="5400" b="1" kern="0">
              <a:latin typeface="Liberation Sans Narrow"/>
              <a:ea typeface="+mn-ea"/>
              <a:cs typeface="Liberation Sans Narrow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247775"/>
            <a:ext cx="16948150" cy="8766810"/>
          </a:xfrm>
        </p:spPr>
        <p:txBody>
          <a:bodyPr>
            <a:normAutofit fontScale="90000"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 algn="just">
              <a:lnSpc>
                <a:spcPct val="150000"/>
              </a:lnSpc>
            </a:pPr>
            <a:r>
              <a:rPr lang="en-US" sz="3200"/>
              <a:t>A </a:t>
            </a:r>
            <a:r>
              <a:rPr lang="en-US" sz="3200" b="1"/>
              <a:t>long-tail keyword</a:t>
            </a:r>
            <a:r>
              <a:rPr lang="en-US" sz="3200"/>
              <a:t> is a specific search phrase usually made of 3 or more words that targets a narrow topic and shows clear user intent. These keywords have lower search volume, lower competition, and higher conversion rates.</a:t>
            </a:r>
            <a:endParaRPr lang="en-US" sz="3200"/>
          </a:p>
          <a:p>
            <a:pPr lvl="2" algn="just">
              <a:lnSpc>
                <a:spcPct val="150000"/>
              </a:lnSpc>
              <a:buClrTx/>
              <a:buSzTx/>
              <a:buFont typeface="Wingdings" panose="05000000000000000000" charset="0"/>
              <a:buChar char=""/>
            </a:pPr>
            <a:r>
              <a:rPr lang="en-US" sz="3200" b="1"/>
              <a:t> For example</a:t>
            </a:r>
            <a:r>
              <a:rPr lang="en-US" sz="3200"/>
              <a:t> : “best running shoes for flat feet women”, “affordable digital marketing course in Lahore”, “buy lightweight gaming laptop under $1000”</a:t>
            </a:r>
            <a:endParaRPr lang="en-US" sz="3200"/>
          </a:p>
          <a:p>
            <a:pPr lvl="2" algn="just">
              <a:lnSpc>
                <a:spcPct val="150000"/>
              </a:lnSpc>
              <a:buClrTx/>
              <a:buSzTx/>
              <a:buFont typeface="Wingdings" panose="05000000000000000000" charset="0"/>
              <a:buChar char=""/>
            </a:pPr>
            <a:r>
              <a:rPr lang="en-US" sz="3200" b="1"/>
              <a:t> Key Characterictics</a:t>
            </a:r>
            <a:endParaRPr lang="en-US" sz="3200" b="1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3 or more words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Specific and detailed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Lower search volume and low diffiulty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Low competition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Higher chances of ranking</a:t>
            </a:r>
            <a:endParaRPr lang="en-US" sz="2665"/>
          </a:p>
          <a:p>
            <a:pPr lvl="3" algn="just">
              <a:lnSpc>
                <a:spcPct val="150000"/>
              </a:lnSpc>
              <a:buClrTx/>
              <a:buSzTx/>
              <a:buFont typeface="Wingdings" panose="05000000000000000000" charset="0"/>
              <a:buChar char=""/>
            </a:pPr>
            <a:r>
              <a:rPr lang="en-US" sz="2665"/>
              <a:t>Strong, clear user intent</a:t>
            </a:r>
            <a:endParaRPr lang="en-US" sz="2665"/>
          </a:p>
          <a:p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917575"/>
          </a:xfrm>
        </p:spPr>
        <p:txBody>
          <a:bodyPr/>
          <a:p>
            <a:r>
              <a:rPr lang="en-US" sz="5400" b="1" kern="0">
                <a:latin typeface="Liberation Sans Narrow"/>
                <a:ea typeface="+mn-ea"/>
                <a:cs typeface="Liberation Sans Narrow"/>
              </a:rPr>
              <a:t>Short Tail vs. Long Tail Keywords</a:t>
            </a:r>
            <a:endParaRPr lang="en-US" sz="5400" b="1" kern="0">
              <a:latin typeface="Liberation Sans Narrow"/>
              <a:ea typeface="+mn-ea"/>
              <a:cs typeface="Liberation Sans Narrow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470660"/>
            <a:ext cx="16948150" cy="8543925"/>
          </a:xfrm>
        </p:spPr>
        <p:txBody>
          <a:bodyPr>
            <a:normAutofit fontScale="90000"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914400" lvl="1" indent="-457200" algn="just">
              <a:lnSpc>
                <a:spcPct val="150000"/>
              </a:lnSpc>
            </a:pPr>
            <a:r>
              <a:rPr lang="en-US" sz="2800"/>
              <a:t>So the question here is where to focus ? short tail keywords or long tail keywords?</a:t>
            </a:r>
            <a:endParaRPr lang="en-US" sz="2800"/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800"/>
              <a:t>Answer is : </a:t>
            </a:r>
            <a:r>
              <a:rPr lang="en-US" sz="2800" b="1"/>
              <a:t>long tail keyword </a:t>
            </a:r>
            <a:r>
              <a:rPr lang="en-US" sz="2800"/>
              <a:t>because the keyword difficulty is lower but make sure there should be some search volume</a:t>
            </a:r>
            <a:endParaRPr lang="en-US" sz="2800"/>
          </a:p>
          <a:p>
            <a:pPr marL="914400" lvl="1" indent="-457200" algn="just">
              <a:lnSpc>
                <a:spcPct val="150000"/>
              </a:lnSpc>
            </a:pPr>
            <a:r>
              <a:rPr lang="en-US" sz="2800"/>
              <a:t>Long tail keywords are also known as low hanging fruits </a:t>
            </a:r>
            <a:endParaRPr lang="en-US" sz="2800"/>
          </a:p>
          <a:p>
            <a:pPr marL="914400" lvl="1" indent="-457200" algn="just">
              <a:lnSpc>
                <a:spcPct val="150000"/>
              </a:lnSpc>
            </a:pPr>
            <a:r>
              <a:rPr lang="en-US" sz="2800"/>
              <a:t>Suppose there is a web page of your website for which you need 5-7 keywords, so the right approach is:</a:t>
            </a:r>
            <a:endParaRPr lang="en-US" sz="2800"/>
          </a:p>
          <a:p>
            <a:pPr marL="1371600" lvl="2" indent="-457200" algn="just">
              <a:lnSpc>
                <a:spcPct val="150000"/>
              </a:lnSpc>
            </a:pPr>
            <a:r>
              <a:rPr lang="en-US" sz="2400"/>
              <a:t>1st keyword -&gt; short tail keywords</a:t>
            </a:r>
            <a:endParaRPr lang="en-US" sz="2400"/>
          </a:p>
          <a:p>
            <a:pPr marL="1371600" lvl="2" indent="-457200" algn="just">
              <a:lnSpc>
                <a:spcPct val="150000"/>
              </a:lnSpc>
            </a:pPr>
            <a:r>
              <a:rPr lang="en-US" sz="2400"/>
              <a:t>2nd keyword → long tail keywords</a:t>
            </a:r>
            <a:endParaRPr lang="en-US" sz="2400"/>
          </a:p>
          <a:p>
            <a:pPr marL="1371600" lvl="2" indent="-457200" algn="just">
              <a:lnSpc>
                <a:spcPct val="150000"/>
              </a:lnSpc>
            </a:pPr>
            <a:r>
              <a:rPr lang="en-US" sz="2400"/>
              <a:t>3rd keywords → long tail keywords</a:t>
            </a:r>
            <a:endParaRPr lang="en-US" sz="2400"/>
          </a:p>
          <a:p>
            <a:pPr marL="1371600" lvl="2" indent="-457200" algn="just">
              <a:lnSpc>
                <a:spcPct val="150000"/>
              </a:lnSpc>
            </a:pPr>
            <a:r>
              <a:rPr lang="en-US" sz="2400"/>
              <a:t>4th </a:t>
            </a:r>
            <a:r>
              <a:rPr lang="en-US">
                <a:sym typeface="+mn-ea"/>
              </a:rPr>
              <a:t>keywords </a:t>
            </a:r>
            <a:r>
              <a:rPr lang="en-US" sz="2400"/>
              <a:t>→ long tail keywords</a:t>
            </a:r>
            <a:endParaRPr lang="en-US" sz="2400"/>
          </a:p>
          <a:p>
            <a:pPr marL="1371600" lvl="2" indent="-457200" algn="just">
              <a:lnSpc>
                <a:spcPct val="150000"/>
              </a:lnSpc>
            </a:pPr>
            <a:r>
              <a:rPr lang="en-US" sz="2400"/>
              <a:t>5th </a:t>
            </a:r>
            <a:r>
              <a:rPr lang="en-US">
                <a:sym typeface="+mn-ea"/>
              </a:rPr>
              <a:t>keywords </a:t>
            </a:r>
            <a:r>
              <a:rPr lang="en-US" sz="2400"/>
              <a:t>→ long tail keywords</a:t>
            </a:r>
            <a:endParaRPr lang="en-US" sz="2400"/>
          </a:p>
          <a:p>
            <a:pPr marL="1371600" lvl="2" indent="-457200" algn="just">
              <a:lnSpc>
                <a:spcPct val="150000"/>
              </a:lnSpc>
            </a:pPr>
            <a:r>
              <a:rPr lang="en-US" sz="2400"/>
              <a:t>6th </a:t>
            </a:r>
            <a:r>
              <a:rPr lang="en-US">
                <a:sym typeface="+mn-ea"/>
              </a:rPr>
              <a:t>keywords </a:t>
            </a:r>
            <a:r>
              <a:rPr lang="en-US" sz="2400"/>
              <a:t>→ long tail keywords</a:t>
            </a:r>
            <a:endParaRPr lang="en-US" sz="2400"/>
          </a:p>
          <a:p>
            <a:pPr marL="1371600" lvl="2" indent="-457200" algn="just">
              <a:lnSpc>
                <a:spcPct val="150000"/>
              </a:lnSpc>
            </a:pPr>
            <a:r>
              <a:rPr lang="en-US" sz="2400"/>
              <a:t>7th </a:t>
            </a:r>
            <a:r>
              <a:rPr lang="en-US">
                <a:sym typeface="+mn-ea"/>
              </a:rPr>
              <a:t>keywords </a:t>
            </a:r>
            <a:r>
              <a:rPr lang="en-US" sz="2400"/>
              <a:t>→ long tail keywords</a:t>
            </a:r>
            <a:endParaRPr lang="en-US" sz="24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917575"/>
          </a:xfrm>
        </p:spPr>
        <p:txBody>
          <a:bodyPr/>
          <a:p>
            <a:r>
              <a:rPr lang="en-US" sz="5400" b="1" kern="0">
                <a:latin typeface="Liberation Sans Narrow"/>
                <a:ea typeface="+mn-ea"/>
                <a:cs typeface="Liberation Sans Narrow"/>
              </a:rPr>
              <a:t>Keyword Placement</a:t>
            </a:r>
            <a:endParaRPr lang="en-US" sz="5400" b="1" kern="0">
              <a:latin typeface="Liberation Sans Narrow"/>
              <a:ea typeface="+mn-ea"/>
              <a:cs typeface="Liberation Sans Narrow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470660"/>
            <a:ext cx="16948150" cy="8543925"/>
          </a:xfrm>
        </p:spPr>
        <p:txBody>
          <a:bodyPr>
            <a:normAutofit lnSpcReduction="10000"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sz="2800"/>
              <a:t> There are “Prominent Locations” on every page for keyword placement</a:t>
            </a:r>
            <a:endParaRPr lang="en-US" sz="28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sz="2800"/>
              <a:t> Keyword Placement → add/use selected keywords on relevant pages to improve ranking of our pages for target keywords</a:t>
            </a:r>
            <a:endParaRPr lang="en-US" sz="2800"/>
          </a:p>
          <a:p>
            <a:pPr marL="457200" indent="-457200"/>
            <a:endParaRPr lang="en-US" sz="3200"/>
          </a:p>
          <a:p>
            <a:pPr>
              <a:buFont typeface="Wingdings" panose="05000000000000000000" charset="0"/>
              <a:buChar char=""/>
            </a:pPr>
            <a:r>
              <a:rPr lang="en-US" sz="3200" b="1"/>
              <a:t> Keyword Placement Checklist:</a:t>
            </a:r>
            <a:endParaRPr lang="en-US" sz="3200"/>
          </a:p>
          <a:p>
            <a:pPr marL="914400" lvl="1" indent="-457200"/>
            <a:endParaRPr lang="en-US" sz="2800"/>
          </a:p>
          <a:p>
            <a:pPr marL="914400" lvl="1" indent="-457200"/>
            <a:r>
              <a:rPr lang="en-US" sz="2800"/>
              <a:t>URL</a:t>
            </a:r>
            <a:endParaRPr lang="en-US" sz="2800"/>
          </a:p>
          <a:p>
            <a:pPr marL="914400" lvl="1" indent="-457200"/>
            <a:r>
              <a:rPr lang="en-US" sz="2800"/>
              <a:t>Title</a:t>
            </a:r>
            <a:endParaRPr lang="en-US" sz="2800"/>
          </a:p>
          <a:p>
            <a:pPr marL="914400" lvl="1" indent="-457200"/>
            <a:r>
              <a:rPr lang="en-US" sz="2800"/>
              <a:t>Meta Description</a:t>
            </a:r>
            <a:endParaRPr lang="en-US" sz="2800"/>
          </a:p>
          <a:p>
            <a:pPr marL="914400" lvl="1" indent="-457200"/>
            <a:r>
              <a:rPr lang="en-US" sz="2800"/>
              <a:t>Mainheading</a:t>
            </a:r>
            <a:endParaRPr lang="en-US" sz="2800"/>
          </a:p>
          <a:p>
            <a:pPr marL="914400" lvl="1" indent="-457200"/>
            <a:r>
              <a:rPr lang="en-US" sz="2800"/>
              <a:t>First 150 words of content</a:t>
            </a:r>
            <a:endParaRPr lang="en-US" sz="2800"/>
          </a:p>
          <a:p>
            <a:pPr marL="914400" lvl="1" indent="-457200"/>
            <a:r>
              <a:rPr lang="en-US" sz="2800"/>
              <a:t>Remaining sub-headings (h2, h3, h4)</a:t>
            </a:r>
            <a:endParaRPr lang="en-US" sz="2800"/>
          </a:p>
          <a:p>
            <a:pPr marL="914400" lvl="1" indent="-457200"/>
            <a:r>
              <a:rPr lang="en-US" sz="2800"/>
              <a:t>Remaining paragraphs</a:t>
            </a:r>
            <a:endParaRPr lang="en-US" sz="2800"/>
          </a:p>
          <a:p>
            <a:pPr marL="914400" lvl="1" indent="-457200"/>
            <a:r>
              <a:rPr lang="en-US" sz="2800"/>
              <a:t>Image ALT Tags</a:t>
            </a:r>
            <a:endParaRPr lang="en-US" sz="2800"/>
          </a:p>
          <a:p>
            <a:pPr marL="914400" lvl="1" indent="-457200"/>
            <a:r>
              <a:rPr lang="en-US" sz="2800"/>
              <a:t>SILO SEO</a:t>
            </a:r>
            <a:endParaRPr 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7258665" cy="1143000"/>
          </a:xfrm>
        </p:spPr>
        <p:txBody>
          <a:bodyPr/>
          <a:p>
            <a:r>
              <a:rPr lang="en-US" b="1"/>
              <a:t>Keyword Placement - URL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7364710" cy="8107045"/>
          </a:xfrm>
        </p:spPr>
        <p:txBody>
          <a:bodyPr/>
          <a:p>
            <a:pPr marL="0" indent="0">
              <a:buNone/>
            </a:pPr>
            <a:r>
              <a:rPr lang="en-US" b="1"/>
              <a:t>1.) URL </a:t>
            </a:r>
            <a:endParaRPr lang="en-US" b="1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Suppose my website has URL  </a:t>
            </a:r>
            <a:r>
              <a:rPr lang="en-US" b="1"/>
              <a:t>www.mywebsite.com </a:t>
            </a:r>
            <a:r>
              <a:rPr lang="en-US"/>
              <a:t>and suppose there is a page on my website which is related to </a:t>
            </a:r>
            <a:r>
              <a:rPr lang="en-US" b="1"/>
              <a:t>Cake Delivery</a:t>
            </a:r>
            <a:r>
              <a:rPr lang="en-US"/>
              <a:t> and my target region is London so </a:t>
            </a:r>
            <a:r>
              <a:rPr lang="en-US" b="1">
                <a:sym typeface="+mn-ea"/>
              </a:rPr>
              <a:t>Cake Delivery in London</a:t>
            </a:r>
            <a:endParaRPr lang="en-US" b="1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- Now the URL’s of page can be of two types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1.) https://www.mywebsite.com/fdewibnwie/ 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2.) https://www.mywebsite.com/cake-devliery-london/ </a:t>
            </a:r>
            <a:endParaRPr lang="en-US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>
                <a:solidFill>
                  <a:srgbClr val="FF0000"/>
                </a:solidFill>
              </a:rPr>
              <a:t>Which one looks better? </a:t>
            </a:r>
            <a:endParaRPr lang="en-US" sz="4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7258665" cy="1143000"/>
          </a:xfrm>
        </p:spPr>
        <p:txBody>
          <a:bodyPr/>
          <a:p>
            <a:r>
              <a:rPr lang="en-US" b="1"/>
              <a:t>Keyword Placement - URL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7364710" cy="810704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/>
              <a:t>Answer: The second one which is </a:t>
            </a:r>
            <a:r>
              <a:rPr lang="en-US" b="1"/>
              <a:t>https://www.mywebsite.com/cake-devliery-london/</a:t>
            </a:r>
            <a:r>
              <a:rPr lang="en-US"/>
              <a:t> —-&gt; Because its a descriptive URL (SEO friendly, users also like this)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Our website must have descriptive URLs (SEO friendly URLs)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Wordpress/Shopify/Wix → by default descriptive URLs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Custom coding (php, asp, python, laravell, reactjs) --&gt; ask the developer for descriptive URLs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7258665" cy="1143000"/>
          </a:xfrm>
        </p:spPr>
        <p:txBody>
          <a:bodyPr/>
          <a:p>
            <a:r>
              <a:rPr lang="en-US" b="1"/>
              <a:t>Keyword Placement - Title (SEO Title/Meta Title)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7364710" cy="810704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b="1"/>
              <a:t>2.) Title</a:t>
            </a:r>
            <a:endParaRPr lang="en-US" b="1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Appears in :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US">
                <a:sym typeface="+mn-ea"/>
              </a:rPr>
              <a:t>HTML source code</a:t>
            </a:r>
            <a:endParaRPr lang="en-US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>
                <a:sym typeface="+mn-ea"/>
              </a:rPr>
              <a:t>Browser tab</a:t>
            </a:r>
            <a:endParaRPr lang="en-US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>
                <a:sym typeface="+mn-ea"/>
              </a:rPr>
              <a:t>Google search engine resul</a:t>
            </a:r>
            <a:r>
              <a:rPr lang="en-US">
                <a:sym typeface="+mn-ea"/>
              </a:rPr>
              <a:t>t page</a:t>
            </a:r>
            <a:endParaRPr lang="en-US" b="1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This is how a title look like : </a:t>
            </a:r>
            <a:r>
              <a:rPr lang="en-US" sz="2800"/>
              <a:t>&lt;title&gt;Birthday Cake Delivery | Order London &amp; UK Birthday Cakes Delivered Cutter &amp; Squidge&lt;/title&gt;</a:t>
            </a: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r>
              <a:rPr lang="en-US" sz="2800" b="1"/>
              <a:t>Another Method:</a:t>
            </a:r>
            <a:endParaRPr lang="en-US" sz="2800" b="1"/>
          </a:p>
          <a:p>
            <a:pPr marL="0" indent="0">
              <a:lnSpc>
                <a:spcPct val="150000"/>
              </a:lnSpc>
              <a:buNone/>
            </a:pPr>
            <a:r>
              <a:rPr lang="en-US" sz="2800"/>
              <a:t>Go to Google.com &gt; search for “detailed SEO extension chrome” &gt; open it and add to chrome &gt; After this pin it</a:t>
            </a:r>
            <a:endParaRPr lang="en-US" sz="2800"/>
          </a:p>
          <a:p>
            <a:pPr marL="0" indent="0">
              <a:lnSpc>
                <a:spcPct val="150000"/>
              </a:lnSpc>
              <a:buNone/>
            </a:pPr>
            <a:r>
              <a:rPr lang="en-US" sz="3600" b="1">
                <a:solidFill>
                  <a:srgbClr val="FF0000"/>
                </a:solidFill>
              </a:rPr>
              <a:t>What is its benefit? </a:t>
            </a:r>
            <a:endParaRPr lang="en-US" sz="3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7258665" cy="1143000"/>
          </a:xfrm>
        </p:spPr>
        <p:txBody>
          <a:bodyPr/>
          <a:p>
            <a:r>
              <a:rPr lang="en-US" b="1"/>
              <a:t>Keyword Placement - Title (SEO Title/Meta Title)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3125"/>
            <a:ext cx="17364710" cy="7564120"/>
          </a:xfrm>
        </p:spPr>
        <p:txBody>
          <a:bodyPr>
            <a:normAutofit lnSpcReduction="20000"/>
          </a:bodyPr>
          <a:p>
            <a:pPr marL="0" indent="0">
              <a:lnSpc>
                <a:spcPct val="150000"/>
              </a:lnSpc>
              <a:buNone/>
            </a:pPr>
            <a:endParaRPr lang="en-US" sz="3600" b="1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4000" b="1">
                <a:solidFill>
                  <a:srgbClr val="FF0000"/>
                </a:solidFill>
              </a:rPr>
              <a:t>Is there any limit for a page title length ?</a:t>
            </a:r>
            <a:endParaRPr lang="en-US" sz="4000" b="1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4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7258665" cy="1143000"/>
          </a:xfrm>
        </p:spPr>
        <p:txBody>
          <a:bodyPr/>
          <a:p>
            <a:r>
              <a:rPr lang="en-US" b="1"/>
              <a:t>Keyword Placement - Title (SEO Title/Meta Title)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495" y="1924685"/>
            <a:ext cx="17364710" cy="7277735"/>
          </a:xfrm>
        </p:spPr>
        <p:txBody>
          <a:bodyPr>
            <a:normAutofit lnSpcReduction="20000"/>
          </a:bodyPr>
          <a:p>
            <a:pPr marL="0" indent="0">
              <a:lnSpc>
                <a:spcPct val="150000"/>
              </a:lnSpc>
              <a:buNone/>
            </a:pPr>
            <a:r>
              <a:rPr lang="en-US" sz="4000" b="1">
                <a:solidFill>
                  <a:srgbClr val="FF0000"/>
                </a:solidFill>
              </a:rPr>
              <a:t>Q: Is there any limit for a page title length ?</a:t>
            </a:r>
            <a:endParaRPr lang="en-US" sz="4000" b="1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>
                <a:solidFill>
                  <a:schemeClr val="tx1"/>
                </a:solidFill>
              </a:rPr>
              <a:t>Answer: Title → character limit → 70 characters</a:t>
            </a:r>
            <a:endParaRPr lang="en-US" b="1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1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>
                <a:solidFill>
                  <a:srgbClr val="FF0000"/>
                </a:solidFill>
              </a:rPr>
              <a:t>Q: How to add Title to the website?</a:t>
            </a:r>
            <a:r>
              <a:rPr lang="en-US" sz="3600" b="1">
                <a:solidFill>
                  <a:schemeClr val="tx1"/>
                </a:solidFill>
              </a:rPr>
              <a:t> → </a:t>
            </a:r>
            <a:r>
              <a:rPr lang="en-US" sz="3600">
                <a:solidFill>
                  <a:schemeClr val="tx1"/>
                </a:solidFill>
              </a:rPr>
              <a:t>We’ll cover this in later lecture</a:t>
            </a:r>
            <a:endParaRPr lang="en-US" sz="3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>
                <a:solidFill>
                  <a:srgbClr val="FF0000"/>
                </a:solidFill>
              </a:rPr>
              <a:t>Q: How to generate SEO keywords optimized and eye catching Title of a page?</a:t>
            </a:r>
            <a:endParaRPr lang="en-US" sz="3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7258665" cy="1143000"/>
          </a:xfrm>
        </p:spPr>
        <p:txBody>
          <a:bodyPr/>
          <a:p>
            <a:r>
              <a:rPr lang="en-US" b="1"/>
              <a:t>Keyword Placement - Title (SEO Title/Meta Title)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495" y="1333500"/>
            <a:ext cx="17364710" cy="7277735"/>
          </a:xfrm>
        </p:spPr>
        <p:txBody>
          <a:bodyPr>
            <a:normAutofit lnSpcReduction="20000"/>
          </a:bodyPr>
          <a:p>
            <a:pPr marL="0" indent="0">
              <a:lnSpc>
                <a:spcPct val="150000"/>
              </a:lnSpc>
              <a:buNone/>
            </a:pPr>
            <a:r>
              <a:rPr lang="en-US" sz="3600" b="1">
                <a:solidFill>
                  <a:srgbClr val="FF0000"/>
                </a:solidFill>
              </a:rPr>
              <a:t>Q: How to generate SEO keywords optimized and eye catching Title of a page?</a:t>
            </a:r>
            <a:endParaRPr lang="en-US" sz="3600" b="1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chemeClr val="tx1"/>
                </a:solidFill>
              </a:rPr>
              <a:t>Suppose you have a page related to accountancy and it has the following keywords: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2065020" y="2933700"/>
          <a:ext cx="1404366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5325"/>
                <a:gridCol w="4505325"/>
                <a:gridCol w="503301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/>
                        <a:t>Keywords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/>
                        <a:t>Search Volume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/>
                        <a:t>Keyword Difficulty</a:t>
                      </a:r>
                      <a:endParaRPr 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accounting sites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>
                          <a:sym typeface="+mn-ea"/>
                        </a:rPr>
                        <a:t>260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>
                          <a:sym typeface="+mn-ea"/>
                        </a:rPr>
                        <a:t>27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</a:tr>
              <a:tr h="9448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business accountants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260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28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accounting services for small business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260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22</a:t>
                      </a:r>
                      <a:endParaRPr 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account book keeping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590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30</a:t>
                      </a:r>
                      <a:endParaRPr lang="en-US" sz="28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Accredited Small Business Accountant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210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24</a:t>
                      </a:r>
                      <a:endParaRPr 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small business accountant</a:t>
                      </a:r>
                      <a:endParaRPr lang="en-US" sz="2800"/>
                    </a:p>
                    <a:p>
                      <a:pPr algn="l"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720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/>
                        <a:t>29</a:t>
                      </a:r>
                      <a:endParaRPr lang="en-US"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7258665" cy="1143000"/>
          </a:xfrm>
        </p:spPr>
        <p:txBody>
          <a:bodyPr/>
          <a:p>
            <a:r>
              <a:rPr lang="en-US" b="1"/>
              <a:t>Keyword Placement - Title (SEO Title/Meta Title)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495" y="1562100"/>
            <a:ext cx="17364710" cy="7277735"/>
          </a:xfrm>
        </p:spPr>
        <p:txBody>
          <a:bodyPr>
            <a:normAutofit fontScale="90000" lnSpcReduction="10000"/>
          </a:bodyPr>
          <a:p>
            <a:pPr marL="0" indent="0">
              <a:lnSpc>
                <a:spcPct val="150000"/>
              </a:lnSpc>
              <a:buNone/>
            </a:pPr>
            <a:r>
              <a:rPr lang="en-US" sz="3600" b="1">
                <a:solidFill>
                  <a:srgbClr val="FF0000"/>
                </a:solidFill>
              </a:rPr>
              <a:t>Q: How to generate SEO keywords optimized and eye catching Title of a page?</a:t>
            </a:r>
            <a:endParaRPr lang="en-US" sz="3600" b="1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chemeClr val="tx1"/>
                </a:solidFill>
              </a:rPr>
              <a:t>Ans: Format of an eye catching and keywords optimized Title (for websites)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>
                <a:solidFill>
                  <a:schemeClr val="tx1"/>
                </a:solidFill>
              </a:rPr>
              <a:t>“Keyphrase + USP | website name”</a:t>
            </a:r>
            <a:endParaRPr lang="en-US" b="1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1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chemeClr val="tx1"/>
                </a:solidFill>
              </a:rPr>
              <a:t>Keyhprase → combination of multiple keywords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chemeClr val="tx1"/>
                </a:solidFill>
              </a:rPr>
              <a:t>USP -&gt; Unique Selling Point (or Unique Selling Proposition)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chemeClr val="tx1"/>
                </a:solidFill>
              </a:rPr>
              <a:t>USP examples→ cash on delivery, free shipping, free home delivery, buy 1 get 1 free, 14% off, 14 days warranty, award winning, starting from $200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chemeClr val="tx1"/>
                </a:solidFill>
              </a:rPr>
              <a:t>e.g., Accredited Small Business Accountant London - Affordable Rates | IDMAccounts 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7258665" cy="1143000"/>
          </a:xfrm>
        </p:spPr>
        <p:txBody>
          <a:bodyPr/>
          <a:p>
            <a:r>
              <a:rPr lang="en-US" b="1"/>
              <a:t>Keyword Placement - Title (SEO Title/Meta Title)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495" y="1562100"/>
            <a:ext cx="17364710" cy="7277735"/>
          </a:xfrm>
        </p:spPr>
        <p:txBody>
          <a:bodyPr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en-US" sz="3600" b="1">
                <a:solidFill>
                  <a:srgbClr val="FF0000"/>
                </a:solidFill>
              </a:rPr>
              <a:t>Q: How to generate SEO optimized and eye catching Title using ChatGpt?</a:t>
            </a:r>
            <a:endParaRPr lang="en-US" sz="3600" b="1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chemeClr val="tx1"/>
                </a:solidFill>
              </a:rPr>
              <a:t>e.g., Online Birthday Cake Delivery London - Fast &amp; Fresh Cakes!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>
                <a:solidFill>
                  <a:schemeClr val="tx1"/>
                </a:solidFill>
              </a:rPr>
              <a:t>Chatgpt Prompt for generating Landing Page Title:</a:t>
            </a:r>
            <a:endParaRPr lang="en-US" b="1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solidFill>
                  <a:schemeClr val="tx1"/>
                </a:solidFill>
              </a:rPr>
              <a:t>Generate 3 70 characters eye catching SEO optimized Titles for page {page name} for target region {mention region} for website {website name} with unique selling point {mention USPs} for keywords {mention 5-7 keywords here}. Analyze titles of other websites ranking on top for the keywords and suggest best SEO optimized Titles.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3543300"/>
            <a:ext cx="8229600" cy="4525963"/>
          </a:xfrm>
        </p:spPr>
        <p:txBody>
          <a:bodyPr/>
          <a:p>
            <a:pPr marL="0" indent="0" algn="ctr">
              <a:buNone/>
            </a:pPr>
            <a:r>
              <a:rPr lang="en-US" sz="480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End of Lecture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6794</Words>
  <Application>WPS Presentation</Application>
  <PresentationFormat>On-screen Show (4:3)</PresentationFormat>
  <Paragraphs>247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Liberation Sans Narrow</vt:lpstr>
      <vt:lpstr>Thonburi</vt:lpstr>
      <vt:lpstr>Calibri</vt:lpstr>
      <vt:lpstr>Helvetica Neue</vt:lpstr>
      <vt:lpstr>Microsoft YaHei</vt:lpstr>
      <vt:lpstr>汉仪旗黑</vt:lpstr>
      <vt:lpstr>Arial Unicode MS</vt:lpstr>
      <vt:lpstr>宋体-简</vt:lpstr>
      <vt:lpstr>Wingdings</vt:lpstr>
      <vt:lpstr>Office Theme</vt:lpstr>
      <vt:lpstr>        Digital Marketing  </vt:lpstr>
      <vt:lpstr>Introduction to SEO</vt:lpstr>
      <vt:lpstr>Intent</vt:lpstr>
      <vt:lpstr>How to Access SMERush Tool?</vt:lpstr>
      <vt:lpstr>How to Access SMERush Tool?</vt:lpstr>
      <vt:lpstr>Another Approach - AIPRM</vt:lpstr>
      <vt:lpstr>Short Tail vs. Long Tail Keywords</vt:lpstr>
      <vt:lpstr>Short Tail vs. Long Tail Keywords</vt:lpstr>
      <vt:lpstr>Short Tail vs. Long Tail Keywords</vt:lpstr>
      <vt:lpstr>Keyword Placement </vt:lpstr>
      <vt:lpstr>PowerPoint 演示文稿</vt:lpstr>
      <vt:lpstr>Keyword Placement - URL</vt:lpstr>
      <vt:lpstr>Keyword Placement - Title (SEO Title/Meta Title) </vt:lpstr>
      <vt:lpstr>Keyword Placement - Title (SEO Title/Meta Title) </vt:lpstr>
      <vt:lpstr>Keyword Placement - Title (SEO Title/Meta Title) </vt:lpstr>
      <vt:lpstr>Keyword Placement - Title (SEO Title/Meta Title) </vt:lpstr>
      <vt:lpstr>Keyword Placement - Title (SEO Title/Meta Title)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dc:creator/>
  <cp:lastModifiedBy>nimraabbas</cp:lastModifiedBy>
  <cp:revision>94</cp:revision>
  <dcterms:created xsi:type="dcterms:W3CDTF">2025-11-04T17:21:23Z</dcterms:created>
  <dcterms:modified xsi:type="dcterms:W3CDTF">2025-11-04T17:21:23Z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