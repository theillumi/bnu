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5" r:id="rId10"/>
    <p:sldId id="298" r:id="rId11"/>
    <p:sldId id="266" r:id="rId12"/>
    <p:sldId id="267" r:id="rId13"/>
    <p:sldId id="268" r:id="rId14"/>
    <p:sldId id="269" r:id="rId15"/>
    <p:sldId id="29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26" r:id="rId36"/>
    <p:sldId id="327" r:id="rId37"/>
    <p:sldId id="328" r:id="rId38"/>
    <p:sldId id="329" r:id="rId39"/>
    <p:sldId id="330" r:id="rId40"/>
    <p:sldId id="332" r:id="rId41"/>
    <p:sldId id="300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18312" y="1071131"/>
            <a:ext cx="4206240" cy="475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4896" y="1071131"/>
            <a:ext cx="4973320" cy="345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160" y="201295"/>
            <a:ext cx="11649710" cy="546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49601"/>
            <a:ext cx="11470005" cy="4199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93554" y="651924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jpeg"/><Relationship Id="rId5" Type="http://schemas.openxmlformats.org/officeDocument/2006/relationships/image" Target="../media/image30.jpe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jpe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png"/><Relationship Id="rId4" Type="http://schemas.openxmlformats.org/officeDocument/2006/relationships/image" Target="../media/image50.jpe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jpeg"/><Relationship Id="rId5" Type="http://schemas.openxmlformats.org/officeDocument/2006/relationships/image" Target="../media/image63.jpe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jpeg"/><Relationship Id="rId4" Type="http://schemas.openxmlformats.org/officeDocument/2006/relationships/image" Target="../media/image72.png"/><Relationship Id="rId9" Type="http://schemas.openxmlformats.org/officeDocument/2006/relationships/image" Target="../media/image7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e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7" Type="http://schemas.openxmlformats.org/officeDocument/2006/relationships/image" Target="../media/image96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jpeg"/><Relationship Id="rId4" Type="http://schemas.openxmlformats.org/officeDocument/2006/relationships/image" Target="../media/image9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jpeg"/><Relationship Id="rId4" Type="http://schemas.openxmlformats.org/officeDocument/2006/relationships/image" Target="../media/image10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527" y="2327909"/>
            <a:ext cx="639381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07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Email</a:t>
            </a:r>
            <a:r>
              <a:rPr sz="6000" spc="-145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Marketing</a:t>
            </a:r>
            <a:endParaRPr sz="6000"/>
          </a:p>
          <a:p>
            <a:pPr marL="43815">
              <a:lnSpc>
                <a:spcPts val="3230"/>
              </a:lnSpc>
            </a:pPr>
            <a:br>
              <a:rPr sz="2800" dirty="0">
                <a:solidFill>
                  <a:srgbClr val="FFFFFF"/>
                </a:solidFill>
              </a:rPr>
            </a:br>
            <a:r>
              <a:rPr sz="2800" dirty="0">
                <a:solidFill>
                  <a:srgbClr val="FFFFFF"/>
                </a:solidFill>
              </a:rPr>
              <a:t>How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14" dirty="0">
                <a:solidFill>
                  <a:srgbClr val="FFFFFF"/>
                </a:solidFill>
              </a:rPr>
              <a:t>To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Build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Successful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Email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Program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50" y="457200"/>
            <a:ext cx="11649710" cy="546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65" dirty="0"/>
              <a:t> </a:t>
            </a:r>
            <a:r>
              <a:rPr spc="-10" dirty="0"/>
              <a:t>Marketing</a:t>
            </a:r>
            <a:r>
              <a:rPr spc="-80" dirty="0"/>
              <a:t> </a:t>
            </a:r>
            <a:r>
              <a:rPr dirty="0"/>
              <a:t>101</a:t>
            </a:r>
            <a:r>
              <a:rPr spc="-70" dirty="0"/>
              <a:t> </a:t>
            </a:r>
            <a:r>
              <a:rPr spc="-10" dirty="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96678" y="648106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279" y="1447800"/>
            <a:ext cx="3175000" cy="21291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Why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Marketing?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Types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Emails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Best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Practices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Health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Recommended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Platforms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69945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Why</a:t>
            </a:r>
            <a:r>
              <a:rPr sz="6000" spc="-6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Email</a:t>
            </a:r>
            <a:r>
              <a:rPr sz="6000" spc="-70" dirty="0">
                <a:solidFill>
                  <a:srgbClr val="FFFFFF"/>
                </a:solidFill>
              </a:rPr>
              <a:t> </a:t>
            </a:r>
            <a:r>
              <a:rPr sz="6000" spc="-20" dirty="0">
                <a:solidFill>
                  <a:srgbClr val="FFFFFF"/>
                </a:solidFill>
              </a:rPr>
              <a:t>Marketing?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585" y="139065"/>
            <a:ext cx="11649710" cy="546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95" dirty="0"/>
              <a:t> </a:t>
            </a:r>
            <a:r>
              <a:rPr dirty="0"/>
              <a:t>email</a:t>
            </a:r>
            <a:r>
              <a:rPr spc="-85" dirty="0"/>
              <a:t> </a:t>
            </a:r>
            <a:r>
              <a:rPr spc="-10" dirty="0"/>
              <a:t>marketing?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2120" y="965835"/>
            <a:ext cx="7731760" cy="51219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Affordable</a:t>
            </a:r>
            <a:endParaRPr sz="18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platform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fees,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subscribers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It </a:t>
            </a:r>
            <a:r>
              <a:rPr sz="1800" b="1" spc="-10" dirty="0">
                <a:latin typeface="Calibri"/>
                <a:cs typeface="Calibri"/>
              </a:rPr>
              <a:t>works!</a:t>
            </a:r>
            <a:endParaRPr sz="18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Engage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10" dirty="0">
                <a:latin typeface="Calibri"/>
                <a:cs typeface="Calibri"/>
              </a:rPr>
              <a:t> subscribers,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foster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loyalty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(most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importantly)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revenue</a:t>
            </a:r>
            <a:endParaRPr sz="16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It’s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becoming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harder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harder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consumers</a:t>
            </a:r>
            <a:r>
              <a:rPr sz="1600" spc="-10" dirty="0">
                <a:latin typeface="Calibri"/>
                <a:cs typeface="Calibri"/>
              </a:rPr>
              <a:t> organically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media</a:t>
            </a:r>
            <a:endParaRPr sz="1600">
              <a:latin typeface="Calibri"/>
              <a:cs typeface="Calibri"/>
            </a:endParaRPr>
          </a:p>
          <a:p>
            <a:pPr marL="469900" marR="104140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easily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measured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organic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efforts,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track improvements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quantify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return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Consumers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prefer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email</a:t>
            </a:r>
            <a:endParaRPr sz="18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Subscribers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you!</a:t>
            </a:r>
            <a:endParaRPr sz="16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disruptive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notifications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It’s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great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testing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ground</a:t>
            </a:r>
            <a:endParaRPr sz="1800">
              <a:latin typeface="Calibri"/>
              <a:cs typeface="Calibri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tagline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your </a:t>
            </a:r>
            <a:r>
              <a:rPr sz="1600" dirty="0">
                <a:latin typeface="Calibri"/>
                <a:cs typeface="Calibri"/>
              </a:rPr>
              <a:t>brand?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easiest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audience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responds.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addresses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valuable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pieces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target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advertising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platforms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fin</a:t>
            </a:r>
            <a:r>
              <a:rPr lang="en-US" altLang="en-US" sz="1600" spc="-20" dirty="0">
                <a:latin typeface="Calibri"/>
                <a:cs typeface="Calibri"/>
              </a:rPr>
              <a:t>d </a:t>
            </a:r>
            <a:r>
              <a:rPr sz="1600" spc="-10" dirty="0">
                <a:latin typeface="Calibri"/>
                <a:cs typeface="Calibri"/>
              </a:rPr>
              <a:t>lookalike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audiences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136" y="1001267"/>
            <a:ext cx="1395983" cy="13929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89007" y="1001267"/>
            <a:ext cx="2277110" cy="505079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83515">
              <a:lnSpc>
                <a:spcPct val="100000"/>
              </a:lnSpc>
            </a:pP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“Email</a:t>
            </a:r>
            <a:r>
              <a:rPr sz="20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is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83515" marR="200025">
              <a:lnSpc>
                <a:spcPct val="100000"/>
              </a:lnSpc>
            </a:pP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40-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year-old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technology</a:t>
            </a:r>
            <a:r>
              <a:rPr sz="2000" b="1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that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 is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not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going</a:t>
            </a:r>
            <a:r>
              <a:rPr sz="2000" b="1" spc="-20" dirty="0">
                <a:solidFill>
                  <a:srgbClr val="44536A"/>
                </a:solidFill>
                <a:latin typeface="Calibri"/>
                <a:cs typeface="Calibri"/>
              </a:rPr>
              <a:t> away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sz="2000" b="1" spc="-5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very</a:t>
            </a:r>
            <a:r>
              <a:rPr sz="2000" b="1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4536A"/>
                </a:solidFill>
                <a:latin typeface="Calibri"/>
                <a:cs typeface="Calibri"/>
              </a:rPr>
              <a:t>good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reasons</a:t>
            </a:r>
            <a:r>
              <a:rPr sz="2000" b="1" spc="-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—</a:t>
            </a:r>
            <a:r>
              <a:rPr sz="2000" b="1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it’s</a:t>
            </a:r>
            <a:r>
              <a:rPr sz="2000" b="1" spc="-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the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cockroach</a:t>
            </a:r>
            <a:r>
              <a:rPr sz="2000" b="1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sz="2000" b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44536A"/>
                </a:solidFill>
                <a:latin typeface="Calibri"/>
                <a:cs typeface="Calibri"/>
              </a:rPr>
              <a:t>Internet.”</a:t>
            </a:r>
            <a:endParaRPr sz="2000">
              <a:latin typeface="Calibri"/>
              <a:cs typeface="Calibri"/>
            </a:endParaRPr>
          </a:p>
          <a:p>
            <a:pPr marL="183515">
              <a:lnSpc>
                <a:spcPct val="100000"/>
              </a:lnSpc>
              <a:spcBef>
                <a:spcPts val="1720"/>
              </a:spcBef>
            </a:pPr>
            <a:r>
              <a:rPr sz="1400" b="1" dirty="0">
                <a:solidFill>
                  <a:srgbClr val="44536A"/>
                </a:solidFill>
                <a:latin typeface="Calibri"/>
                <a:cs typeface="Calibri"/>
              </a:rPr>
              <a:t>Jason</a:t>
            </a:r>
            <a:r>
              <a:rPr sz="14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44536A"/>
                </a:solidFill>
                <a:latin typeface="Calibri"/>
                <a:cs typeface="Calibri"/>
              </a:rPr>
              <a:t>Hirschhorn</a:t>
            </a:r>
            <a:endParaRPr sz="1400">
              <a:latin typeface="Calibri"/>
              <a:cs typeface="Calibri"/>
            </a:endParaRPr>
          </a:p>
          <a:p>
            <a:pPr marL="183515">
              <a:lnSpc>
                <a:spcPct val="100000"/>
              </a:lnSpc>
            </a:pPr>
            <a:r>
              <a:rPr sz="1400" dirty="0">
                <a:solidFill>
                  <a:srgbClr val="44536A"/>
                </a:solidFill>
                <a:latin typeface="Calibri"/>
                <a:cs typeface="Calibri"/>
              </a:rPr>
              <a:t>CEO</a:t>
            </a:r>
            <a:r>
              <a:rPr sz="1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4536A"/>
                </a:solidFill>
                <a:latin typeface="Calibri"/>
                <a:cs typeface="Calibri"/>
              </a:rPr>
              <a:t>REDEF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96678" y="651924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47561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>
                <a:solidFill>
                  <a:srgbClr val="FFFFFF"/>
                </a:solidFill>
              </a:rPr>
              <a:t>Types</a:t>
            </a:r>
            <a:r>
              <a:rPr sz="6000" spc="-16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of</a:t>
            </a:r>
            <a:r>
              <a:rPr sz="6000" spc="-16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Emails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85" dirty="0"/>
              <a:t> </a:t>
            </a:r>
            <a:r>
              <a:rPr dirty="0"/>
              <a:t>Types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Purposes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424" y="1577339"/>
            <a:ext cx="3154680" cy="151511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57150" rIns="0" bIns="0" rtlCol="0">
            <a:spAutoFit/>
          </a:bodyPr>
          <a:lstStyle/>
          <a:p>
            <a:pPr marL="1010920">
              <a:lnSpc>
                <a:spcPct val="100000"/>
              </a:lnSpc>
              <a:spcBef>
                <a:spcPts val="45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Newsletters</a:t>
            </a:r>
            <a:endParaRPr sz="1800">
              <a:latin typeface="Calibri"/>
              <a:cs typeface="Calibri"/>
            </a:endParaRPr>
          </a:p>
          <a:p>
            <a:pPr marL="187960" marR="183515" indent="-635" algn="ctr">
              <a:lnSpc>
                <a:spcPct val="100000"/>
              </a:lnSpc>
              <a:spcBef>
                <a:spcPts val="61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Newsletters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meant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maintain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keep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brand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top-of-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mind.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Examples:</a:t>
            </a:r>
            <a:r>
              <a:rPr sz="14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Launches;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8076" y="1577339"/>
            <a:ext cx="3154680" cy="151511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Lifecycle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Campaigns</a:t>
            </a:r>
            <a:endParaRPr sz="1800">
              <a:latin typeface="Calibri"/>
              <a:cs typeface="Calibri"/>
            </a:endParaRPr>
          </a:p>
          <a:p>
            <a:pPr marL="273050" marR="264795" algn="ctr">
              <a:lnSpc>
                <a:spcPct val="100000"/>
              </a:lnSpc>
              <a:spcBef>
                <a:spcPts val="61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Nurturing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communications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sent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their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stage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lifecycle.</a:t>
            </a:r>
            <a:endParaRPr sz="16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61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Examples: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Welcome;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Reengagement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3252" y="1577339"/>
            <a:ext cx="3154680" cy="151511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1790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Transactional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Emails</a:t>
            </a:r>
            <a:endParaRPr sz="1800">
              <a:latin typeface="Calibri"/>
              <a:cs typeface="Calibri"/>
            </a:endParaRPr>
          </a:p>
          <a:p>
            <a:pPr marL="184785" marR="179070" algn="ctr">
              <a:lnSpc>
                <a:spcPct val="100000"/>
              </a:lnSpc>
              <a:spcBef>
                <a:spcPts val="61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campaigns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behaviors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actions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Examples:</a:t>
            </a:r>
            <a:r>
              <a:rPr sz="14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Abandoned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Cart;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Receipt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7179" y="748283"/>
            <a:ext cx="11550650" cy="757555"/>
          </a:xfrm>
          <a:custGeom>
            <a:avLst/>
            <a:gdLst/>
            <a:ahLst/>
            <a:cxnLst/>
            <a:rect l="l" t="t" r="r" b="b"/>
            <a:pathLst>
              <a:path w="11550650" h="757555">
                <a:moveTo>
                  <a:pt x="11171682" y="0"/>
                </a:moveTo>
                <a:lnTo>
                  <a:pt x="11171682" y="189356"/>
                </a:lnTo>
                <a:lnTo>
                  <a:pt x="0" y="189356"/>
                </a:lnTo>
                <a:lnTo>
                  <a:pt x="0" y="568070"/>
                </a:lnTo>
                <a:lnTo>
                  <a:pt x="11171682" y="568070"/>
                </a:lnTo>
                <a:lnTo>
                  <a:pt x="11171682" y="757427"/>
                </a:lnTo>
                <a:lnTo>
                  <a:pt x="11550396" y="378713"/>
                </a:lnTo>
                <a:lnTo>
                  <a:pt x="1117168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48200" y="981710"/>
            <a:ext cx="323850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RELEVANCE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IMPACT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01036" y="3265902"/>
            <a:ext cx="2588260" cy="3533140"/>
            <a:chOff x="8801036" y="3265902"/>
            <a:chExt cx="2588260" cy="35331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1036" y="3265902"/>
              <a:ext cx="2587879" cy="35326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8719" y="3273550"/>
              <a:ext cx="2522220" cy="346709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885883" y="3265902"/>
            <a:ext cx="2269490" cy="3533140"/>
            <a:chOff x="4885883" y="3265902"/>
            <a:chExt cx="2269490" cy="353314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5883" y="3265902"/>
              <a:ext cx="2269356" cy="35326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3564" y="3273550"/>
              <a:ext cx="2203704" cy="346709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077421" y="3265902"/>
            <a:ext cx="1742439" cy="3533140"/>
            <a:chOff x="1077421" y="3265902"/>
            <a:chExt cx="1742439" cy="353314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7421" y="3265902"/>
              <a:ext cx="1742025" cy="35326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088" y="3273550"/>
              <a:ext cx="1676400" cy="34670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0C76EFA-17B8-4E6B-A881-5D382AFF24C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87007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61645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Email</a:t>
            </a:r>
            <a:r>
              <a:rPr sz="6000" spc="-10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Best</a:t>
            </a:r>
            <a:r>
              <a:rPr sz="6000" spc="-105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Practices</a:t>
            </a:r>
            <a:endParaRPr sz="6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0" dirty="0"/>
              <a:t>Open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9295" y="6454140"/>
            <a:ext cx="1568196" cy="26212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02532" y="1071364"/>
            <a:ext cx="8237855" cy="3629025"/>
            <a:chOff x="2002532" y="1071364"/>
            <a:chExt cx="8237855" cy="36290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2532" y="1071364"/>
              <a:ext cx="8237226" cy="36286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0155" y="1078991"/>
              <a:ext cx="8171688" cy="35631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9268" y="5021579"/>
            <a:ext cx="2228215" cy="160972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165735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305"/>
              </a:spcBef>
            </a:pP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LINE</a:t>
            </a:r>
            <a:endParaRPr sz="1800">
              <a:latin typeface="Calibri"/>
              <a:cs typeface="Calibri"/>
            </a:endParaRPr>
          </a:p>
          <a:p>
            <a:pPr marL="125095" marR="114935" indent="12319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associated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sender's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email.</a:t>
            </a:r>
            <a:endParaRPr sz="16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piece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24892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branding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email.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68117" y="4746497"/>
            <a:ext cx="819150" cy="1093470"/>
          </a:xfrm>
          <a:custGeom>
            <a:avLst/>
            <a:gdLst/>
            <a:ahLst/>
            <a:cxnLst/>
            <a:rect l="l" t="t" r="r" b="b"/>
            <a:pathLst>
              <a:path w="819150" h="1093470">
                <a:moveTo>
                  <a:pt x="742950" y="1067523"/>
                </a:moveTo>
                <a:lnTo>
                  <a:pt x="0" y="1067523"/>
                </a:lnTo>
                <a:lnTo>
                  <a:pt x="0" y="1092923"/>
                </a:lnTo>
                <a:lnTo>
                  <a:pt x="768350" y="1092923"/>
                </a:lnTo>
                <a:lnTo>
                  <a:pt x="768350" y="1080223"/>
                </a:lnTo>
                <a:lnTo>
                  <a:pt x="742950" y="1080223"/>
                </a:lnTo>
                <a:lnTo>
                  <a:pt x="742950" y="1067523"/>
                </a:lnTo>
                <a:close/>
              </a:path>
              <a:path w="819150" h="1093470">
                <a:moveTo>
                  <a:pt x="768350" y="114300"/>
                </a:moveTo>
                <a:lnTo>
                  <a:pt x="742950" y="114300"/>
                </a:lnTo>
                <a:lnTo>
                  <a:pt x="742950" y="1080223"/>
                </a:lnTo>
                <a:lnTo>
                  <a:pt x="755650" y="1067523"/>
                </a:lnTo>
                <a:lnTo>
                  <a:pt x="768350" y="1067523"/>
                </a:lnTo>
                <a:lnTo>
                  <a:pt x="768350" y="114300"/>
                </a:lnTo>
                <a:close/>
              </a:path>
              <a:path w="819150" h="1093470">
                <a:moveTo>
                  <a:pt x="768350" y="1067523"/>
                </a:moveTo>
                <a:lnTo>
                  <a:pt x="755650" y="1067523"/>
                </a:lnTo>
                <a:lnTo>
                  <a:pt x="742950" y="1080223"/>
                </a:lnTo>
                <a:lnTo>
                  <a:pt x="768350" y="1080223"/>
                </a:lnTo>
                <a:lnTo>
                  <a:pt x="768350" y="1067523"/>
                </a:lnTo>
                <a:close/>
              </a:path>
              <a:path w="819150" h="1093470">
                <a:moveTo>
                  <a:pt x="755650" y="0"/>
                </a:moveTo>
                <a:lnTo>
                  <a:pt x="692150" y="127000"/>
                </a:lnTo>
                <a:lnTo>
                  <a:pt x="742950" y="127000"/>
                </a:lnTo>
                <a:lnTo>
                  <a:pt x="742950" y="114300"/>
                </a:lnTo>
                <a:lnTo>
                  <a:pt x="812799" y="114300"/>
                </a:lnTo>
                <a:lnTo>
                  <a:pt x="755650" y="0"/>
                </a:lnTo>
                <a:close/>
              </a:path>
              <a:path w="819150" h="1093470">
                <a:moveTo>
                  <a:pt x="812799" y="114300"/>
                </a:moveTo>
                <a:lnTo>
                  <a:pt x="768350" y="114300"/>
                </a:lnTo>
                <a:lnTo>
                  <a:pt x="768350" y="127000"/>
                </a:lnTo>
                <a:lnTo>
                  <a:pt x="819149" y="127000"/>
                </a:lnTo>
                <a:lnTo>
                  <a:pt x="812799" y="1143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38244" y="5021579"/>
            <a:ext cx="2228215" cy="160972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1657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05"/>
              </a:spcBef>
            </a:pPr>
            <a:r>
              <a:rPr sz="1800" b="1" dirty="0">
                <a:latin typeface="Calibri"/>
                <a:cs typeface="Calibri"/>
              </a:rPr>
              <a:t>SUBJECT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LINE</a:t>
            </a:r>
            <a:endParaRPr sz="1800">
              <a:latin typeface="Calibri"/>
              <a:cs typeface="Calibri"/>
            </a:endParaRPr>
          </a:p>
          <a:p>
            <a:pPr marL="212725" marR="205105" algn="ctr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“teaser.”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copy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outlines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reason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email.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9550" y="4557521"/>
            <a:ext cx="127000" cy="466090"/>
          </a:xfrm>
          <a:custGeom>
            <a:avLst/>
            <a:gdLst/>
            <a:ahLst/>
            <a:cxnLst/>
            <a:rect l="l" t="t" r="r" b="b"/>
            <a:pathLst>
              <a:path w="127000" h="466089">
                <a:moveTo>
                  <a:pt x="76200" y="220217"/>
                </a:moveTo>
                <a:lnTo>
                  <a:pt x="63500" y="220217"/>
                </a:lnTo>
                <a:lnTo>
                  <a:pt x="50800" y="232917"/>
                </a:lnTo>
                <a:lnTo>
                  <a:pt x="50800" y="465708"/>
                </a:lnTo>
                <a:lnTo>
                  <a:pt x="76200" y="465708"/>
                </a:lnTo>
                <a:lnTo>
                  <a:pt x="76200" y="245617"/>
                </a:lnTo>
                <a:lnTo>
                  <a:pt x="63500" y="245617"/>
                </a:lnTo>
                <a:lnTo>
                  <a:pt x="76200" y="232917"/>
                </a:lnTo>
                <a:lnTo>
                  <a:pt x="76200" y="220217"/>
                </a:lnTo>
                <a:close/>
              </a:path>
              <a:path w="127000" h="466089">
                <a:moveTo>
                  <a:pt x="76200" y="232917"/>
                </a:moveTo>
                <a:lnTo>
                  <a:pt x="63500" y="245617"/>
                </a:lnTo>
                <a:lnTo>
                  <a:pt x="76200" y="245617"/>
                </a:lnTo>
                <a:lnTo>
                  <a:pt x="76200" y="232917"/>
                </a:lnTo>
                <a:close/>
              </a:path>
              <a:path w="127000" h="466089">
                <a:moveTo>
                  <a:pt x="76200" y="114300"/>
                </a:moveTo>
                <a:lnTo>
                  <a:pt x="50800" y="114300"/>
                </a:lnTo>
                <a:lnTo>
                  <a:pt x="50800" y="232917"/>
                </a:lnTo>
                <a:lnTo>
                  <a:pt x="63500" y="220217"/>
                </a:lnTo>
                <a:lnTo>
                  <a:pt x="76200" y="220217"/>
                </a:lnTo>
                <a:lnTo>
                  <a:pt x="76200" y="114300"/>
                </a:lnTo>
                <a:close/>
              </a:path>
              <a:path w="127000" h="466089">
                <a:moveTo>
                  <a:pt x="63500" y="0"/>
                </a:moveTo>
                <a:lnTo>
                  <a:pt x="0" y="127000"/>
                </a:lnTo>
                <a:lnTo>
                  <a:pt x="50800" y="127000"/>
                </a:lnTo>
                <a:lnTo>
                  <a:pt x="5080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66089">
                <a:moveTo>
                  <a:pt x="120650" y="114300"/>
                </a:moveTo>
                <a:lnTo>
                  <a:pt x="76200" y="114300"/>
                </a:lnTo>
                <a:lnTo>
                  <a:pt x="7620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80376" y="5021579"/>
            <a:ext cx="2228215" cy="1607820"/>
          </a:xfrm>
          <a:prstGeom prst="rect">
            <a:avLst/>
          </a:prstGeom>
          <a:solidFill>
            <a:srgbClr val="D5DCE4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00"/>
              </a:spcBef>
            </a:pPr>
            <a:r>
              <a:rPr sz="1800" b="1" dirty="0">
                <a:latin typeface="Calibri"/>
                <a:cs typeface="Calibri"/>
              </a:rPr>
              <a:t>PREVIEW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TEXT</a:t>
            </a:r>
            <a:endParaRPr sz="1800">
              <a:latin typeface="Calibri"/>
              <a:cs typeface="Calibri"/>
            </a:endParaRPr>
          </a:p>
          <a:p>
            <a:pPr marL="95885" marR="86360" algn="ctr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“hook.”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typically </a:t>
            </a:r>
            <a:r>
              <a:rPr sz="1600" dirty="0">
                <a:latin typeface="Calibri"/>
                <a:cs typeface="Calibri"/>
              </a:rPr>
              <a:t>displayed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subject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subscriber’s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inbox.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10282" y="1641348"/>
            <a:ext cx="8169909" cy="3380740"/>
            <a:chOff x="2010282" y="1641348"/>
            <a:chExt cx="8169909" cy="338074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0282" y="1641348"/>
              <a:ext cx="8169529" cy="30007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31681" y="4555998"/>
              <a:ext cx="127000" cy="466090"/>
            </a:xfrm>
            <a:custGeom>
              <a:avLst/>
              <a:gdLst/>
              <a:ahLst/>
              <a:cxnLst/>
              <a:rect l="l" t="t" r="r" b="b"/>
              <a:pathLst>
                <a:path w="127000" h="466089">
                  <a:moveTo>
                    <a:pt x="76200" y="220218"/>
                  </a:moveTo>
                  <a:lnTo>
                    <a:pt x="63500" y="220218"/>
                  </a:lnTo>
                  <a:lnTo>
                    <a:pt x="50800" y="232918"/>
                  </a:lnTo>
                  <a:lnTo>
                    <a:pt x="50800" y="465708"/>
                  </a:lnTo>
                  <a:lnTo>
                    <a:pt x="76200" y="465708"/>
                  </a:lnTo>
                  <a:lnTo>
                    <a:pt x="76200" y="245618"/>
                  </a:lnTo>
                  <a:lnTo>
                    <a:pt x="63500" y="245618"/>
                  </a:lnTo>
                  <a:lnTo>
                    <a:pt x="76200" y="232918"/>
                  </a:lnTo>
                  <a:lnTo>
                    <a:pt x="76200" y="220218"/>
                  </a:lnTo>
                  <a:close/>
                </a:path>
                <a:path w="127000" h="466089">
                  <a:moveTo>
                    <a:pt x="76200" y="232918"/>
                  </a:moveTo>
                  <a:lnTo>
                    <a:pt x="63500" y="245618"/>
                  </a:lnTo>
                  <a:lnTo>
                    <a:pt x="76200" y="245618"/>
                  </a:lnTo>
                  <a:lnTo>
                    <a:pt x="76200" y="232918"/>
                  </a:lnTo>
                  <a:close/>
                </a:path>
                <a:path w="127000" h="466089">
                  <a:moveTo>
                    <a:pt x="76200" y="114300"/>
                  </a:moveTo>
                  <a:lnTo>
                    <a:pt x="50800" y="114300"/>
                  </a:lnTo>
                  <a:lnTo>
                    <a:pt x="50800" y="232918"/>
                  </a:lnTo>
                  <a:lnTo>
                    <a:pt x="63500" y="220218"/>
                  </a:lnTo>
                  <a:lnTo>
                    <a:pt x="76200" y="220218"/>
                  </a:lnTo>
                  <a:lnTo>
                    <a:pt x="76200" y="114300"/>
                  </a:lnTo>
                  <a:close/>
                </a:path>
                <a:path w="127000" h="466089">
                  <a:moveTo>
                    <a:pt x="63500" y="0"/>
                  </a:moveTo>
                  <a:lnTo>
                    <a:pt x="0" y="127000"/>
                  </a:lnTo>
                  <a:lnTo>
                    <a:pt x="50800" y="127000"/>
                  </a:lnTo>
                  <a:lnTo>
                    <a:pt x="5080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466089">
                  <a:moveTo>
                    <a:pt x="120650" y="114300"/>
                  </a:moveTo>
                  <a:lnTo>
                    <a:pt x="76200" y="114300"/>
                  </a:lnTo>
                  <a:lnTo>
                    <a:pt x="7620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84635" y="6477685"/>
            <a:ext cx="77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135" y="234315"/>
            <a:ext cx="442595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70" dirty="0"/>
              <a:t> </a:t>
            </a:r>
            <a:r>
              <a:rPr spc="-10" dirty="0"/>
              <a:t>Anatomy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274692" y="144757"/>
            <a:ext cx="2147570" cy="6562725"/>
            <a:chOff x="4274692" y="144757"/>
            <a:chExt cx="2147570" cy="65627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9195" y="144757"/>
              <a:ext cx="1944680" cy="48494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6843" y="152400"/>
              <a:ext cx="1879092" cy="47838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0935" y="4910327"/>
              <a:ext cx="1981200" cy="17967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6843" y="4936236"/>
              <a:ext cx="1879092" cy="16946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77867" y="6227063"/>
              <a:ext cx="321945" cy="323215"/>
            </a:xfrm>
            <a:custGeom>
              <a:avLst/>
              <a:gdLst/>
              <a:ahLst/>
              <a:cxnLst/>
              <a:rect l="l" t="t" r="r" b="b"/>
              <a:pathLst>
                <a:path w="321945" h="323215">
                  <a:moveTo>
                    <a:pt x="160782" y="0"/>
                  </a:moveTo>
                  <a:lnTo>
                    <a:pt x="118048" y="5770"/>
                  </a:lnTo>
                  <a:lnTo>
                    <a:pt x="79643" y="22055"/>
                  </a:lnTo>
                  <a:lnTo>
                    <a:pt x="47101" y="47315"/>
                  </a:lnTo>
                  <a:lnTo>
                    <a:pt x="21956" y="80010"/>
                  </a:lnTo>
                  <a:lnTo>
                    <a:pt x="5744" y="118599"/>
                  </a:lnTo>
                  <a:lnTo>
                    <a:pt x="0" y="161544"/>
                  </a:lnTo>
                  <a:lnTo>
                    <a:pt x="5744" y="204488"/>
                  </a:lnTo>
                  <a:lnTo>
                    <a:pt x="21956" y="243078"/>
                  </a:lnTo>
                  <a:lnTo>
                    <a:pt x="47101" y="275772"/>
                  </a:lnTo>
                  <a:lnTo>
                    <a:pt x="79643" y="301032"/>
                  </a:lnTo>
                  <a:lnTo>
                    <a:pt x="118048" y="317317"/>
                  </a:lnTo>
                  <a:lnTo>
                    <a:pt x="160782" y="323088"/>
                  </a:lnTo>
                  <a:lnTo>
                    <a:pt x="203515" y="317317"/>
                  </a:lnTo>
                  <a:lnTo>
                    <a:pt x="241920" y="301032"/>
                  </a:lnTo>
                  <a:lnTo>
                    <a:pt x="274462" y="275772"/>
                  </a:lnTo>
                  <a:lnTo>
                    <a:pt x="299607" y="243078"/>
                  </a:lnTo>
                  <a:lnTo>
                    <a:pt x="315819" y="204488"/>
                  </a:lnTo>
                  <a:lnTo>
                    <a:pt x="321564" y="161544"/>
                  </a:lnTo>
                  <a:lnTo>
                    <a:pt x="315819" y="118599"/>
                  </a:lnTo>
                  <a:lnTo>
                    <a:pt x="299607" y="80010"/>
                  </a:lnTo>
                  <a:lnTo>
                    <a:pt x="274462" y="47315"/>
                  </a:lnTo>
                  <a:lnTo>
                    <a:pt x="241920" y="22055"/>
                  </a:lnTo>
                  <a:lnTo>
                    <a:pt x="203515" y="5770"/>
                  </a:lnTo>
                  <a:lnTo>
                    <a:pt x="160782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7867" y="6227063"/>
              <a:ext cx="321945" cy="323215"/>
            </a:xfrm>
            <a:custGeom>
              <a:avLst/>
              <a:gdLst/>
              <a:ahLst/>
              <a:cxnLst/>
              <a:rect l="l" t="t" r="r" b="b"/>
              <a:pathLst>
                <a:path w="321945" h="323215">
                  <a:moveTo>
                    <a:pt x="0" y="161544"/>
                  </a:moveTo>
                  <a:lnTo>
                    <a:pt x="5744" y="118599"/>
                  </a:lnTo>
                  <a:lnTo>
                    <a:pt x="21956" y="80010"/>
                  </a:lnTo>
                  <a:lnTo>
                    <a:pt x="47101" y="47315"/>
                  </a:lnTo>
                  <a:lnTo>
                    <a:pt x="79643" y="22055"/>
                  </a:lnTo>
                  <a:lnTo>
                    <a:pt x="118048" y="5770"/>
                  </a:lnTo>
                  <a:lnTo>
                    <a:pt x="160782" y="0"/>
                  </a:lnTo>
                  <a:lnTo>
                    <a:pt x="203515" y="5770"/>
                  </a:lnTo>
                  <a:lnTo>
                    <a:pt x="241920" y="22055"/>
                  </a:lnTo>
                  <a:lnTo>
                    <a:pt x="274462" y="47315"/>
                  </a:lnTo>
                  <a:lnTo>
                    <a:pt x="299607" y="80010"/>
                  </a:lnTo>
                  <a:lnTo>
                    <a:pt x="315819" y="118599"/>
                  </a:lnTo>
                  <a:lnTo>
                    <a:pt x="321564" y="161544"/>
                  </a:lnTo>
                  <a:lnTo>
                    <a:pt x="315819" y="204488"/>
                  </a:lnTo>
                  <a:lnTo>
                    <a:pt x="299607" y="243078"/>
                  </a:lnTo>
                  <a:lnTo>
                    <a:pt x="274462" y="275772"/>
                  </a:lnTo>
                  <a:lnTo>
                    <a:pt x="241920" y="301032"/>
                  </a:lnTo>
                  <a:lnTo>
                    <a:pt x="203515" y="317317"/>
                  </a:lnTo>
                  <a:lnTo>
                    <a:pt x="160782" y="323088"/>
                  </a:lnTo>
                  <a:lnTo>
                    <a:pt x="118048" y="317317"/>
                  </a:lnTo>
                  <a:lnTo>
                    <a:pt x="79643" y="301032"/>
                  </a:lnTo>
                  <a:lnTo>
                    <a:pt x="47101" y="275772"/>
                  </a:lnTo>
                  <a:lnTo>
                    <a:pt x="21956" y="243078"/>
                  </a:lnTo>
                  <a:lnTo>
                    <a:pt x="5744" y="204488"/>
                  </a:lnTo>
                  <a:lnTo>
                    <a:pt x="0" y="16154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42900" y="1833372"/>
            <a:ext cx="321945" cy="323215"/>
          </a:xfrm>
          <a:custGeom>
            <a:avLst/>
            <a:gdLst/>
            <a:ahLst/>
            <a:cxnLst/>
            <a:rect l="l" t="t" r="r" b="b"/>
            <a:pathLst>
              <a:path w="321945" h="323214">
                <a:moveTo>
                  <a:pt x="160781" y="0"/>
                </a:moveTo>
                <a:lnTo>
                  <a:pt x="118039" y="5766"/>
                </a:lnTo>
                <a:lnTo>
                  <a:pt x="79631" y="22041"/>
                </a:lnTo>
                <a:lnTo>
                  <a:pt x="47091" y="47291"/>
                </a:lnTo>
                <a:lnTo>
                  <a:pt x="21951" y="79981"/>
                </a:lnTo>
                <a:lnTo>
                  <a:pt x="5743" y="118577"/>
                </a:lnTo>
                <a:lnTo>
                  <a:pt x="0" y="161543"/>
                </a:lnTo>
                <a:lnTo>
                  <a:pt x="5743" y="204510"/>
                </a:lnTo>
                <a:lnTo>
                  <a:pt x="21951" y="243106"/>
                </a:lnTo>
                <a:lnTo>
                  <a:pt x="47091" y="275796"/>
                </a:lnTo>
                <a:lnTo>
                  <a:pt x="79631" y="301046"/>
                </a:lnTo>
                <a:lnTo>
                  <a:pt x="118039" y="317321"/>
                </a:lnTo>
                <a:lnTo>
                  <a:pt x="160781" y="323088"/>
                </a:lnTo>
                <a:lnTo>
                  <a:pt x="203524" y="317321"/>
                </a:lnTo>
                <a:lnTo>
                  <a:pt x="241932" y="301046"/>
                </a:lnTo>
                <a:lnTo>
                  <a:pt x="274472" y="275796"/>
                </a:lnTo>
                <a:lnTo>
                  <a:pt x="299612" y="243106"/>
                </a:lnTo>
                <a:lnTo>
                  <a:pt x="315820" y="204510"/>
                </a:lnTo>
                <a:lnTo>
                  <a:pt x="321564" y="161543"/>
                </a:lnTo>
                <a:lnTo>
                  <a:pt x="315820" y="118577"/>
                </a:lnTo>
                <a:lnTo>
                  <a:pt x="299612" y="79981"/>
                </a:lnTo>
                <a:lnTo>
                  <a:pt x="274472" y="47291"/>
                </a:lnTo>
                <a:lnTo>
                  <a:pt x="241932" y="22041"/>
                </a:lnTo>
                <a:lnTo>
                  <a:pt x="203524" y="5766"/>
                </a:lnTo>
                <a:lnTo>
                  <a:pt x="16078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8157" y="1882266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900" y="1165860"/>
            <a:ext cx="321945" cy="323215"/>
          </a:xfrm>
          <a:custGeom>
            <a:avLst/>
            <a:gdLst/>
            <a:ahLst/>
            <a:cxnLst/>
            <a:rect l="l" t="t" r="r" b="b"/>
            <a:pathLst>
              <a:path w="321945" h="323215">
                <a:moveTo>
                  <a:pt x="160781" y="0"/>
                </a:moveTo>
                <a:lnTo>
                  <a:pt x="118039" y="5766"/>
                </a:lnTo>
                <a:lnTo>
                  <a:pt x="79631" y="22041"/>
                </a:lnTo>
                <a:lnTo>
                  <a:pt x="47091" y="47291"/>
                </a:lnTo>
                <a:lnTo>
                  <a:pt x="21951" y="79981"/>
                </a:lnTo>
                <a:lnTo>
                  <a:pt x="5743" y="118577"/>
                </a:lnTo>
                <a:lnTo>
                  <a:pt x="0" y="161543"/>
                </a:lnTo>
                <a:lnTo>
                  <a:pt x="5743" y="204510"/>
                </a:lnTo>
                <a:lnTo>
                  <a:pt x="21951" y="243106"/>
                </a:lnTo>
                <a:lnTo>
                  <a:pt x="47091" y="275796"/>
                </a:lnTo>
                <a:lnTo>
                  <a:pt x="79631" y="301046"/>
                </a:lnTo>
                <a:lnTo>
                  <a:pt x="118039" y="317321"/>
                </a:lnTo>
                <a:lnTo>
                  <a:pt x="160781" y="323088"/>
                </a:lnTo>
                <a:lnTo>
                  <a:pt x="203524" y="317321"/>
                </a:lnTo>
                <a:lnTo>
                  <a:pt x="241932" y="301046"/>
                </a:lnTo>
                <a:lnTo>
                  <a:pt x="274472" y="275796"/>
                </a:lnTo>
                <a:lnTo>
                  <a:pt x="299612" y="243106"/>
                </a:lnTo>
                <a:lnTo>
                  <a:pt x="315820" y="204510"/>
                </a:lnTo>
                <a:lnTo>
                  <a:pt x="321564" y="161543"/>
                </a:lnTo>
                <a:lnTo>
                  <a:pt x="315820" y="118577"/>
                </a:lnTo>
                <a:lnTo>
                  <a:pt x="299612" y="79981"/>
                </a:lnTo>
                <a:lnTo>
                  <a:pt x="274472" y="47291"/>
                </a:lnTo>
                <a:lnTo>
                  <a:pt x="241932" y="22041"/>
                </a:lnTo>
                <a:lnTo>
                  <a:pt x="203524" y="5766"/>
                </a:lnTo>
                <a:lnTo>
                  <a:pt x="16078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5109" y="1214373"/>
            <a:ext cx="118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027" y="1207770"/>
            <a:ext cx="7378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471C4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471C4"/>
                </a:solidFill>
                <a:latin typeface="Calibri"/>
                <a:cs typeface="Calibri"/>
              </a:rPr>
              <a:t>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9027" y="1875536"/>
            <a:ext cx="8972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471C4"/>
                </a:solidFill>
                <a:latin typeface="Calibri"/>
                <a:cs typeface="Calibri"/>
              </a:rPr>
              <a:t>Subject</a:t>
            </a:r>
            <a:r>
              <a:rPr sz="14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471C4"/>
                </a:solidFill>
                <a:latin typeface="Calibri"/>
                <a:cs typeface="Calibri"/>
              </a:rPr>
              <a:t>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2900" y="2502407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4">
                <a:moveTo>
                  <a:pt x="160781" y="0"/>
                </a:moveTo>
                <a:lnTo>
                  <a:pt x="109962" y="8199"/>
                </a:lnTo>
                <a:lnTo>
                  <a:pt x="65825" y="31028"/>
                </a:lnTo>
                <a:lnTo>
                  <a:pt x="31021" y="65836"/>
                </a:lnTo>
                <a:lnTo>
                  <a:pt x="8196" y="109971"/>
                </a:lnTo>
                <a:lnTo>
                  <a:pt x="0" y="160781"/>
                </a:lnTo>
                <a:lnTo>
                  <a:pt x="8196" y="211592"/>
                </a:lnTo>
                <a:lnTo>
                  <a:pt x="31021" y="255727"/>
                </a:lnTo>
                <a:lnTo>
                  <a:pt x="65825" y="290535"/>
                </a:lnTo>
                <a:lnTo>
                  <a:pt x="109962" y="313364"/>
                </a:lnTo>
                <a:lnTo>
                  <a:pt x="160781" y="321563"/>
                </a:lnTo>
                <a:lnTo>
                  <a:pt x="211601" y="313364"/>
                </a:lnTo>
                <a:lnTo>
                  <a:pt x="255738" y="290535"/>
                </a:lnTo>
                <a:lnTo>
                  <a:pt x="290542" y="255727"/>
                </a:lnTo>
                <a:lnTo>
                  <a:pt x="313367" y="211592"/>
                </a:lnTo>
                <a:lnTo>
                  <a:pt x="321564" y="160781"/>
                </a:lnTo>
                <a:lnTo>
                  <a:pt x="313367" y="109971"/>
                </a:lnTo>
                <a:lnTo>
                  <a:pt x="290542" y="65836"/>
                </a:lnTo>
                <a:lnTo>
                  <a:pt x="255738" y="31028"/>
                </a:lnTo>
                <a:lnTo>
                  <a:pt x="211601" y="8199"/>
                </a:lnTo>
                <a:lnTo>
                  <a:pt x="16078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0595" y="255003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9027" y="2543301"/>
            <a:ext cx="9232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471C4"/>
                </a:solidFill>
                <a:latin typeface="Calibri"/>
                <a:cs typeface="Calibri"/>
              </a:rPr>
              <a:t>Preview</a:t>
            </a:r>
            <a:r>
              <a:rPr sz="1400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471C4"/>
                </a:solidFill>
                <a:latin typeface="Calibri"/>
                <a:cs typeface="Calibri"/>
              </a:rPr>
              <a:t>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51660" y="1170432"/>
            <a:ext cx="481965" cy="1653539"/>
          </a:xfrm>
          <a:custGeom>
            <a:avLst/>
            <a:gdLst/>
            <a:ahLst/>
            <a:cxnLst/>
            <a:rect l="l" t="t" r="r" b="b"/>
            <a:pathLst>
              <a:path w="481964" h="1653539">
                <a:moveTo>
                  <a:pt x="0" y="1653539"/>
                </a:moveTo>
                <a:lnTo>
                  <a:pt x="93720" y="1653539"/>
                </a:lnTo>
                <a:lnTo>
                  <a:pt x="170259" y="1653539"/>
                </a:lnTo>
                <a:lnTo>
                  <a:pt x="221867" y="1653539"/>
                </a:lnTo>
                <a:lnTo>
                  <a:pt x="240791" y="1653539"/>
                </a:lnTo>
                <a:lnTo>
                  <a:pt x="240791" y="826769"/>
                </a:lnTo>
                <a:lnTo>
                  <a:pt x="305204" y="826769"/>
                </a:lnTo>
                <a:lnTo>
                  <a:pt x="351758" y="826769"/>
                </a:lnTo>
                <a:lnTo>
                  <a:pt x="403026" y="826769"/>
                </a:lnTo>
                <a:lnTo>
                  <a:pt x="481583" y="826769"/>
                </a:lnTo>
                <a:lnTo>
                  <a:pt x="387863" y="826769"/>
                </a:lnTo>
                <a:lnTo>
                  <a:pt x="311324" y="826769"/>
                </a:lnTo>
                <a:lnTo>
                  <a:pt x="259716" y="826769"/>
                </a:lnTo>
                <a:lnTo>
                  <a:pt x="240791" y="826769"/>
                </a:lnTo>
                <a:lnTo>
                  <a:pt x="240791" y="0"/>
                </a:lnTo>
                <a:lnTo>
                  <a:pt x="176379" y="0"/>
                </a:lnTo>
                <a:lnTo>
                  <a:pt x="129825" y="0"/>
                </a:lnTo>
                <a:lnTo>
                  <a:pt x="78557" y="0"/>
                </a:lnTo>
                <a:lnTo>
                  <a:pt x="0" y="0"/>
                </a:lnTo>
              </a:path>
            </a:pathLst>
          </a:custGeom>
          <a:ln w="1587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30601" y="1869135"/>
            <a:ext cx="10179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4471C4"/>
                </a:solidFill>
                <a:latin typeface="Calibri"/>
                <a:cs typeface="Calibri"/>
              </a:rPr>
              <a:t>Get</a:t>
            </a:r>
            <a:r>
              <a:rPr sz="14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4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4471C4"/>
                </a:solidFill>
                <a:latin typeface="Calibri"/>
                <a:cs typeface="Calibri"/>
              </a:rPr>
              <a:t>Open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2900" y="3206495"/>
            <a:ext cx="321945" cy="323215"/>
          </a:xfrm>
          <a:custGeom>
            <a:avLst/>
            <a:gdLst/>
            <a:ahLst/>
            <a:cxnLst/>
            <a:rect l="l" t="t" r="r" b="b"/>
            <a:pathLst>
              <a:path w="321945" h="323214">
                <a:moveTo>
                  <a:pt x="160781" y="0"/>
                </a:moveTo>
                <a:lnTo>
                  <a:pt x="118039" y="5766"/>
                </a:lnTo>
                <a:lnTo>
                  <a:pt x="79631" y="22041"/>
                </a:lnTo>
                <a:lnTo>
                  <a:pt x="47091" y="47291"/>
                </a:lnTo>
                <a:lnTo>
                  <a:pt x="21951" y="79981"/>
                </a:lnTo>
                <a:lnTo>
                  <a:pt x="5743" y="118577"/>
                </a:lnTo>
                <a:lnTo>
                  <a:pt x="0" y="161543"/>
                </a:lnTo>
                <a:lnTo>
                  <a:pt x="5743" y="204510"/>
                </a:lnTo>
                <a:lnTo>
                  <a:pt x="21951" y="243106"/>
                </a:lnTo>
                <a:lnTo>
                  <a:pt x="47091" y="275796"/>
                </a:lnTo>
                <a:lnTo>
                  <a:pt x="79631" y="301046"/>
                </a:lnTo>
                <a:lnTo>
                  <a:pt x="118039" y="317321"/>
                </a:lnTo>
                <a:lnTo>
                  <a:pt x="160781" y="323088"/>
                </a:lnTo>
                <a:lnTo>
                  <a:pt x="203524" y="317321"/>
                </a:lnTo>
                <a:lnTo>
                  <a:pt x="241932" y="301046"/>
                </a:lnTo>
                <a:lnTo>
                  <a:pt x="274472" y="275796"/>
                </a:lnTo>
                <a:lnTo>
                  <a:pt x="299612" y="243106"/>
                </a:lnTo>
                <a:lnTo>
                  <a:pt x="315820" y="204510"/>
                </a:lnTo>
                <a:lnTo>
                  <a:pt x="321564" y="161543"/>
                </a:lnTo>
                <a:lnTo>
                  <a:pt x="315820" y="118577"/>
                </a:lnTo>
                <a:lnTo>
                  <a:pt x="299612" y="79981"/>
                </a:lnTo>
                <a:lnTo>
                  <a:pt x="274472" y="47291"/>
                </a:lnTo>
                <a:lnTo>
                  <a:pt x="241932" y="22041"/>
                </a:lnTo>
                <a:lnTo>
                  <a:pt x="203524" y="5766"/>
                </a:lnTo>
                <a:lnTo>
                  <a:pt x="160781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2671" y="3255645"/>
            <a:ext cx="121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9155" y="3248660"/>
            <a:ext cx="90297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6FAC46"/>
                </a:solidFill>
                <a:latin typeface="Calibri"/>
                <a:cs typeface="Calibri"/>
              </a:rPr>
              <a:t>Headline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9155" y="4622165"/>
            <a:ext cx="585470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EC7C30"/>
                </a:solidFill>
                <a:latin typeface="Calibri"/>
                <a:cs typeface="Calibri"/>
              </a:rPr>
              <a:t>Body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2900" y="4581144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5">
                <a:moveTo>
                  <a:pt x="160781" y="0"/>
                </a:moveTo>
                <a:lnTo>
                  <a:pt x="109962" y="8199"/>
                </a:lnTo>
                <a:lnTo>
                  <a:pt x="65825" y="31028"/>
                </a:lnTo>
                <a:lnTo>
                  <a:pt x="31021" y="65836"/>
                </a:lnTo>
                <a:lnTo>
                  <a:pt x="8196" y="109971"/>
                </a:lnTo>
                <a:lnTo>
                  <a:pt x="0" y="160781"/>
                </a:lnTo>
                <a:lnTo>
                  <a:pt x="8196" y="211592"/>
                </a:lnTo>
                <a:lnTo>
                  <a:pt x="31021" y="255727"/>
                </a:lnTo>
                <a:lnTo>
                  <a:pt x="65825" y="290535"/>
                </a:lnTo>
                <a:lnTo>
                  <a:pt x="109962" y="313364"/>
                </a:lnTo>
                <a:lnTo>
                  <a:pt x="160781" y="321563"/>
                </a:lnTo>
                <a:lnTo>
                  <a:pt x="211601" y="313364"/>
                </a:lnTo>
                <a:lnTo>
                  <a:pt x="255738" y="290535"/>
                </a:lnTo>
                <a:lnTo>
                  <a:pt x="290542" y="255727"/>
                </a:lnTo>
                <a:lnTo>
                  <a:pt x="313367" y="211592"/>
                </a:lnTo>
                <a:lnTo>
                  <a:pt x="321564" y="160781"/>
                </a:lnTo>
                <a:lnTo>
                  <a:pt x="313367" y="109971"/>
                </a:lnTo>
                <a:lnTo>
                  <a:pt x="290542" y="65836"/>
                </a:lnTo>
                <a:lnTo>
                  <a:pt x="255738" y="31028"/>
                </a:lnTo>
                <a:lnTo>
                  <a:pt x="211601" y="8199"/>
                </a:lnTo>
                <a:lnTo>
                  <a:pt x="160781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6082" y="4629404"/>
            <a:ext cx="9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9155" y="5290820"/>
            <a:ext cx="744855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EC7C30"/>
                </a:solidFill>
                <a:latin typeface="Calibri"/>
                <a:cs typeface="Calibri"/>
              </a:rPr>
              <a:t>Banner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9027" y="3916807"/>
            <a:ext cx="99821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FAC46"/>
                </a:solidFill>
                <a:latin typeface="Calibri"/>
                <a:cs typeface="Calibri"/>
              </a:rPr>
              <a:t>Preview</a:t>
            </a:r>
            <a:r>
              <a:rPr sz="1400" spc="-7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6FAC46"/>
                </a:solidFill>
                <a:latin typeface="Calibri"/>
                <a:cs typeface="Calibri"/>
              </a:rPr>
              <a:t>Pane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2900" y="3875532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5">
                <a:moveTo>
                  <a:pt x="160781" y="0"/>
                </a:moveTo>
                <a:lnTo>
                  <a:pt x="109962" y="8199"/>
                </a:lnTo>
                <a:lnTo>
                  <a:pt x="65825" y="31028"/>
                </a:lnTo>
                <a:lnTo>
                  <a:pt x="31021" y="65836"/>
                </a:lnTo>
                <a:lnTo>
                  <a:pt x="8196" y="109971"/>
                </a:lnTo>
                <a:lnTo>
                  <a:pt x="0" y="160782"/>
                </a:lnTo>
                <a:lnTo>
                  <a:pt x="8196" y="211592"/>
                </a:lnTo>
                <a:lnTo>
                  <a:pt x="31021" y="255727"/>
                </a:lnTo>
                <a:lnTo>
                  <a:pt x="65825" y="290535"/>
                </a:lnTo>
                <a:lnTo>
                  <a:pt x="109962" y="313364"/>
                </a:lnTo>
                <a:lnTo>
                  <a:pt x="160781" y="321564"/>
                </a:lnTo>
                <a:lnTo>
                  <a:pt x="211601" y="313364"/>
                </a:lnTo>
                <a:lnTo>
                  <a:pt x="255738" y="290535"/>
                </a:lnTo>
                <a:lnTo>
                  <a:pt x="290542" y="255727"/>
                </a:lnTo>
                <a:lnTo>
                  <a:pt x="313367" y="211592"/>
                </a:lnTo>
                <a:lnTo>
                  <a:pt x="321564" y="160782"/>
                </a:lnTo>
                <a:lnTo>
                  <a:pt x="313367" y="109971"/>
                </a:lnTo>
                <a:lnTo>
                  <a:pt x="290542" y="65836"/>
                </a:lnTo>
                <a:lnTo>
                  <a:pt x="255738" y="31028"/>
                </a:lnTo>
                <a:lnTo>
                  <a:pt x="211601" y="8199"/>
                </a:lnTo>
                <a:lnTo>
                  <a:pt x="160781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3948" y="3923792"/>
            <a:ext cx="100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851660" y="3201923"/>
            <a:ext cx="481965" cy="995680"/>
          </a:xfrm>
          <a:custGeom>
            <a:avLst/>
            <a:gdLst/>
            <a:ahLst/>
            <a:cxnLst/>
            <a:rect l="l" t="t" r="r" b="b"/>
            <a:pathLst>
              <a:path w="481964" h="995679">
                <a:moveTo>
                  <a:pt x="0" y="995171"/>
                </a:moveTo>
                <a:lnTo>
                  <a:pt x="93720" y="995171"/>
                </a:lnTo>
                <a:lnTo>
                  <a:pt x="170259" y="995171"/>
                </a:lnTo>
                <a:lnTo>
                  <a:pt x="221867" y="995171"/>
                </a:lnTo>
                <a:lnTo>
                  <a:pt x="240791" y="995171"/>
                </a:lnTo>
                <a:lnTo>
                  <a:pt x="240791" y="497586"/>
                </a:lnTo>
                <a:lnTo>
                  <a:pt x="305204" y="497586"/>
                </a:lnTo>
                <a:lnTo>
                  <a:pt x="351758" y="497586"/>
                </a:lnTo>
                <a:lnTo>
                  <a:pt x="403026" y="497586"/>
                </a:lnTo>
                <a:lnTo>
                  <a:pt x="481583" y="497586"/>
                </a:lnTo>
                <a:lnTo>
                  <a:pt x="387863" y="497586"/>
                </a:lnTo>
                <a:lnTo>
                  <a:pt x="311324" y="497586"/>
                </a:lnTo>
                <a:lnTo>
                  <a:pt x="259716" y="497586"/>
                </a:lnTo>
                <a:lnTo>
                  <a:pt x="240791" y="497586"/>
                </a:lnTo>
                <a:lnTo>
                  <a:pt x="240791" y="0"/>
                </a:lnTo>
                <a:lnTo>
                  <a:pt x="176379" y="0"/>
                </a:lnTo>
                <a:lnTo>
                  <a:pt x="129825" y="0"/>
                </a:lnTo>
                <a:lnTo>
                  <a:pt x="78557" y="0"/>
                </a:lnTo>
                <a:lnTo>
                  <a:pt x="0" y="0"/>
                </a:lnTo>
              </a:path>
            </a:pathLst>
          </a:custGeom>
          <a:ln w="15875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530475" y="3459480"/>
            <a:ext cx="1397635" cy="443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6FAC46"/>
                </a:solidFill>
                <a:latin typeface="Calibri"/>
                <a:cs typeface="Calibri"/>
              </a:rPr>
              <a:t>Capture Attention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2900" y="5248655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5">
                <a:moveTo>
                  <a:pt x="160781" y="0"/>
                </a:moveTo>
                <a:lnTo>
                  <a:pt x="109962" y="8199"/>
                </a:lnTo>
                <a:lnTo>
                  <a:pt x="65825" y="31028"/>
                </a:lnTo>
                <a:lnTo>
                  <a:pt x="31021" y="65836"/>
                </a:lnTo>
                <a:lnTo>
                  <a:pt x="8196" y="109971"/>
                </a:lnTo>
                <a:lnTo>
                  <a:pt x="0" y="160782"/>
                </a:lnTo>
                <a:lnTo>
                  <a:pt x="8196" y="211592"/>
                </a:lnTo>
                <a:lnTo>
                  <a:pt x="31021" y="255727"/>
                </a:lnTo>
                <a:lnTo>
                  <a:pt x="65825" y="290535"/>
                </a:lnTo>
                <a:lnTo>
                  <a:pt x="109962" y="313364"/>
                </a:lnTo>
                <a:lnTo>
                  <a:pt x="160781" y="321564"/>
                </a:lnTo>
                <a:lnTo>
                  <a:pt x="211601" y="313364"/>
                </a:lnTo>
                <a:lnTo>
                  <a:pt x="255738" y="290535"/>
                </a:lnTo>
                <a:lnTo>
                  <a:pt x="290542" y="255727"/>
                </a:lnTo>
                <a:lnTo>
                  <a:pt x="313367" y="211592"/>
                </a:lnTo>
                <a:lnTo>
                  <a:pt x="321564" y="160782"/>
                </a:lnTo>
                <a:lnTo>
                  <a:pt x="313367" y="109971"/>
                </a:lnTo>
                <a:lnTo>
                  <a:pt x="290542" y="65836"/>
                </a:lnTo>
                <a:lnTo>
                  <a:pt x="255738" y="31028"/>
                </a:lnTo>
                <a:lnTo>
                  <a:pt x="211601" y="8199"/>
                </a:lnTo>
                <a:lnTo>
                  <a:pt x="160781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42671" y="529717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51660" y="4575047"/>
            <a:ext cx="481965" cy="989330"/>
          </a:xfrm>
          <a:custGeom>
            <a:avLst/>
            <a:gdLst/>
            <a:ahLst/>
            <a:cxnLst/>
            <a:rect l="l" t="t" r="r" b="b"/>
            <a:pathLst>
              <a:path w="481964" h="989329">
                <a:moveTo>
                  <a:pt x="0" y="989076"/>
                </a:moveTo>
                <a:lnTo>
                  <a:pt x="93720" y="989076"/>
                </a:lnTo>
                <a:lnTo>
                  <a:pt x="170259" y="989076"/>
                </a:lnTo>
                <a:lnTo>
                  <a:pt x="221867" y="989076"/>
                </a:lnTo>
                <a:lnTo>
                  <a:pt x="240791" y="989076"/>
                </a:lnTo>
                <a:lnTo>
                  <a:pt x="240791" y="494538"/>
                </a:lnTo>
                <a:lnTo>
                  <a:pt x="305204" y="494538"/>
                </a:lnTo>
                <a:lnTo>
                  <a:pt x="351758" y="494538"/>
                </a:lnTo>
                <a:lnTo>
                  <a:pt x="403026" y="494538"/>
                </a:lnTo>
                <a:lnTo>
                  <a:pt x="481583" y="494538"/>
                </a:lnTo>
                <a:lnTo>
                  <a:pt x="387863" y="494538"/>
                </a:lnTo>
                <a:lnTo>
                  <a:pt x="311324" y="494538"/>
                </a:lnTo>
                <a:lnTo>
                  <a:pt x="259716" y="494538"/>
                </a:lnTo>
                <a:lnTo>
                  <a:pt x="240791" y="494538"/>
                </a:lnTo>
                <a:lnTo>
                  <a:pt x="240791" y="0"/>
                </a:lnTo>
                <a:lnTo>
                  <a:pt x="176379" y="0"/>
                </a:lnTo>
                <a:lnTo>
                  <a:pt x="129825" y="0"/>
                </a:lnTo>
                <a:lnTo>
                  <a:pt x="78557" y="0"/>
                </a:lnTo>
                <a:lnTo>
                  <a:pt x="0" y="0"/>
                </a:lnTo>
              </a:path>
            </a:pathLst>
          </a:custGeom>
          <a:ln w="15875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530601" y="4829683"/>
            <a:ext cx="90233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C7C30"/>
                </a:solidFill>
                <a:latin typeface="Calibri"/>
                <a:cs typeface="Calibri"/>
              </a:rPr>
              <a:t>Engage</a:t>
            </a:r>
            <a:r>
              <a:rPr sz="1400" b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EC7C30"/>
                </a:solidFill>
                <a:latin typeface="Calibri"/>
                <a:cs typeface="Calibri"/>
              </a:rPr>
              <a:t>&amp;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C7C30"/>
                </a:solidFill>
                <a:latin typeface="Calibri"/>
                <a:cs typeface="Calibri"/>
              </a:rPr>
              <a:t>drive</a:t>
            </a:r>
            <a:r>
              <a:rPr sz="1400" b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C7C30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42900" y="5888862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5">
                <a:moveTo>
                  <a:pt x="160781" y="0"/>
                </a:moveTo>
                <a:lnTo>
                  <a:pt x="109962" y="8196"/>
                </a:lnTo>
                <a:lnTo>
                  <a:pt x="65825" y="31021"/>
                </a:lnTo>
                <a:lnTo>
                  <a:pt x="31021" y="65825"/>
                </a:lnTo>
                <a:lnTo>
                  <a:pt x="8196" y="109962"/>
                </a:lnTo>
                <a:lnTo>
                  <a:pt x="0" y="160781"/>
                </a:lnTo>
                <a:lnTo>
                  <a:pt x="8196" y="211601"/>
                </a:lnTo>
                <a:lnTo>
                  <a:pt x="31021" y="255738"/>
                </a:lnTo>
                <a:lnTo>
                  <a:pt x="65825" y="290542"/>
                </a:lnTo>
                <a:lnTo>
                  <a:pt x="109962" y="313367"/>
                </a:lnTo>
                <a:lnTo>
                  <a:pt x="160781" y="321563"/>
                </a:lnTo>
                <a:lnTo>
                  <a:pt x="211601" y="313367"/>
                </a:lnTo>
                <a:lnTo>
                  <a:pt x="255738" y="290542"/>
                </a:lnTo>
                <a:lnTo>
                  <a:pt x="290542" y="255738"/>
                </a:lnTo>
                <a:lnTo>
                  <a:pt x="313367" y="211601"/>
                </a:lnTo>
                <a:lnTo>
                  <a:pt x="321564" y="160781"/>
                </a:lnTo>
                <a:lnTo>
                  <a:pt x="313367" y="109962"/>
                </a:lnTo>
                <a:lnTo>
                  <a:pt x="290542" y="65825"/>
                </a:lnTo>
                <a:lnTo>
                  <a:pt x="255738" y="31021"/>
                </a:lnTo>
                <a:lnTo>
                  <a:pt x="211601" y="8196"/>
                </a:lnTo>
                <a:lnTo>
                  <a:pt x="160781" y="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2595" y="5888990"/>
            <a:ext cx="195580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51535" y="5875020"/>
            <a:ext cx="74549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4536A"/>
                </a:solidFill>
                <a:latin typeface="Calibri"/>
                <a:cs typeface="Calibri"/>
              </a:rPr>
              <a:t>Footer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30601" y="5875121"/>
            <a:ext cx="109093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4536A"/>
                </a:solidFill>
                <a:latin typeface="Calibri"/>
                <a:cs typeface="Calibri"/>
              </a:rPr>
              <a:t>Footer</a:t>
            </a:r>
            <a:r>
              <a:rPr sz="1400" b="1" spc="-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sz="14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44536A"/>
                </a:solidFill>
                <a:latin typeface="Calibri"/>
                <a:cs typeface="Calibri"/>
              </a:rPr>
              <a:t>Legal </a:t>
            </a:r>
            <a:r>
              <a:rPr sz="1400" b="1" spc="-10" dirty="0">
                <a:solidFill>
                  <a:srgbClr val="44536A"/>
                </a:solidFill>
                <a:latin typeface="Calibri"/>
                <a:cs typeface="Calibri"/>
              </a:rPr>
              <a:t>Requirements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51660" y="5839967"/>
            <a:ext cx="481965" cy="548640"/>
          </a:xfrm>
          <a:custGeom>
            <a:avLst/>
            <a:gdLst/>
            <a:ahLst/>
            <a:cxnLst/>
            <a:rect l="l" t="t" r="r" b="b"/>
            <a:pathLst>
              <a:path w="481964" h="548639">
                <a:moveTo>
                  <a:pt x="0" y="548639"/>
                </a:moveTo>
                <a:lnTo>
                  <a:pt x="93720" y="548639"/>
                </a:lnTo>
                <a:lnTo>
                  <a:pt x="170259" y="548639"/>
                </a:lnTo>
                <a:lnTo>
                  <a:pt x="221867" y="548639"/>
                </a:lnTo>
                <a:lnTo>
                  <a:pt x="240791" y="548639"/>
                </a:lnTo>
                <a:lnTo>
                  <a:pt x="240791" y="274319"/>
                </a:lnTo>
                <a:lnTo>
                  <a:pt x="305204" y="274319"/>
                </a:lnTo>
                <a:lnTo>
                  <a:pt x="351758" y="274319"/>
                </a:lnTo>
                <a:lnTo>
                  <a:pt x="403026" y="274319"/>
                </a:lnTo>
                <a:lnTo>
                  <a:pt x="481583" y="274319"/>
                </a:lnTo>
                <a:lnTo>
                  <a:pt x="387863" y="274319"/>
                </a:lnTo>
                <a:lnTo>
                  <a:pt x="311324" y="274319"/>
                </a:lnTo>
                <a:lnTo>
                  <a:pt x="259716" y="274319"/>
                </a:lnTo>
                <a:lnTo>
                  <a:pt x="240791" y="274319"/>
                </a:lnTo>
                <a:lnTo>
                  <a:pt x="240791" y="0"/>
                </a:lnTo>
                <a:lnTo>
                  <a:pt x="176379" y="0"/>
                </a:lnTo>
                <a:lnTo>
                  <a:pt x="129825" y="0"/>
                </a:lnTo>
                <a:lnTo>
                  <a:pt x="78557" y="0"/>
                </a:lnTo>
                <a:lnTo>
                  <a:pt x="0" y="0"/>
                </a:lnTo>
              </a:path>
            </a:pathLst>
          </a:custGeom>
          <a:ln w="15875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6577558" y="1031490"/>
            <a:ext cx="5433695" cy="375920"/>
            <a:chOff x="6577558" y="1031490"/>
            <a:chExt cx="5433695" cy="375920"/>
          </a:xfrm>
        </p:grpSpPr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7558" y="1031490"/>
              <a:ext cx="5433110" cy="37536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5203" y="1048511"/>
              <a:ext cx="5367528" cy="291084"/>
            </a:xfrm>
            <a:prstGeom prst="rect">
              <a:avLst/>
            </a:prstGeom>
          </p:spPr>
        </p:pic>
      </p:grpSp>
      <p:sp>
        <p:nvSpPr>
          <p:cNvPr id="47" name="object 47"/>
          <p:cNvSpPr/>
          <p:nvPr/>
        </p:nvSpPr>
        <p:spPr>
          <a:xfrm>
            <a:off x="7211568" y="557783"/>
            <a:ext cx="321945" cy="323215"/>
          </a:xfrm>
          <a:custGeom>
            <a:avLst/>
            <a:gdLst/>
            <a:ahLst/>
            <a:cxnLst/>
            <a:rect l="l" t="t" r="r" b="b"/>
            <a:pathLst>
              <a:path w="321945" h="323215">
                <a:moveTo>
                  <a:pt x="160781" y="0"/>
                </a:moveTo>
                <a:lnTo>
                  <a:pt x="118048" y="5766"/>
                </a:lnTo>
                <a:lnTo>
                  <a:pt x="79643" y="22041"/>
                </a:lnTo>
                <a:lnTo>
                  <a:pt x="47101" y="47291"/>
                </a:lnTo>
                <a:lnTo>
                  <a:pt x="21956" y="79981"/>
                </a:lnTo>
                <a:lnTo>
                  <a:pt x="5744" y="118577"/>
                </a:lnTo>
                <a:lnTo>
                  <a:pt x="0" y="161543"/>
                </a:lnTo>
                <a:lnTo>
                  <a:pt x="5744" y="204510"/>
                </a:lnTo>
                <a:lnTo>
                  <a:pt x="21956" y="243106"/>
                </a:lnTo>
                <a:lnTo>
                  <a:pt x="47101" y="275796"/>
                </a:lnTo>
                <a:lnTo>
                  <a:pt x="79643" y="301046"/>
                </a:lnTo>
                <a:lnTo>
                  <a:pt x="118048" y="317321"/>
                </a:lnTo>
                <a:lnTo>
                  <a:pt x="160781" y="323088"/>
                </a:lnTo>
                <a:lnTo>
                  <a:pt x="203515" y="317321"/>
                </a:lnTo>
                <a:lnTo>
                  <a:pt x="241920" y="301046"/>
                </a:lnTo>
                <a:lnTo>
                  <a:pt x="274462" y="275796"/>
                </a:lnTo>
                <a:lnTo>
                  <a:pt x="299607" y="243106"/>
                </a:lnTo>
                <a:lnTo>
                  <a:pt x="315819" y="204510"/>
                </a:lnTo>
                <a:lnTo>
                  <a:pt x="321563" y="161543"/>
                </a:lnTo>
                <a:lnTo>
                  <a:pt x="315819" y="118577"/>
                </a:lnTo>
                <a:lnTo>
                  <a:pt x="299607" y="79981"/>
                </a:lnTo>
                <a:lnTo>
                  <a:pt x="274462" y="47291"/>
                </a:lnTo>
                <a:lnTo>
                  <a:pt x="241920" y="22041"/>
                </a:lnTo>
                <a:lnTo>
                  <a:pt x="203515" y="5766"/>
                </a:lnTo>
                <a:lnTo>
                  <a:pt x="16078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314692" y="606297"/>
            <a:ext cx="118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720328" y="557783"/>
            <a:ext cx="323215" cy="323215"/>
          </a:xfrm>
          <a:custGeom>
            <a:avLst/>
            <a:gdLst/>
            <a:ahLst/>
            <a:cxnLst/>
            <a:rect l="l" t="t" r="r" b="b"/>
            <a:pathLst>
              <a:path w="323215" h="323215">
                <a:moveTo>
                  <a:pt x="161544" y="0"/>
                </a:moveTo>
                <a:lnTo>
                  <a:pt x="118577" y="5766"/>
                </a:lnTo>
                <a:lnTo>
                  <a:pt x="79981" y="22041"/>
                </a:lnTo>
                <a:lnTo>
                  <a:pt x="47291" y="47291"/>
                </a:lnTo>
                <a:lnTo>
                  <a:pt x="22041" y="79981"/>
                </a:lnTo>
                <a:lnTo>
                  <a:pt x="5766" y="118577"/>
                </a:lnTo>
                <a:lnTo>
                  <a:pt x="0" y="161543"/>
                </a:lnTo>
                <a:lnTo>
                  <a:pt x="5766" y="204510"/>
                </a:lnTo>
                <a:lnTo>
                  <a:pt x="22041" y="243106"/>
                </a:lnTo>
                <a:lnTo>
                  <a:pt x="47291" y="275796"/>
                </a:lnTo>
                <a:lnTo>
                  <a:pt x="79981" y="301046"/>
                </a:lnTo>
                <a:lnTo>
                  <a:pt x="118577" y="317321"/>
                </a:lnTo>
                <a:lnTo>
                  <a:pt x="161544" y="323088"/>
                </a:lnTo>
                <a:lnTo>
                  <a:pt x="204510" y="317321"/>
                </a:lnTo>
                <a:lnTo>
                  <a:pt x="243106" y="301046"/>
                </a:lnTo>
                <a:lnTo>
                  <a:pt x="275796" y="275796"/>
                </a:lnTo>
                <a:lnTo>
                  <a:pt x="301046" y="243106"/>
                </a:lnTo>
                <a:lnTo>
                  <a:pt x="317321" y="204510"/>
                </a:lnTo>
                <a:lnTo>
                  <a:pt x="323088" y="161543"/>
                </a:lnTo>
                <a:lnTo>
                  <a:pt x="317321" y="118577"/>
                </a:lnTo>
                <a:lnTo>
                  <a:pt x="301046" y="79981"/>
                </a:lnTo>
                <a:lnTo>
                  <a:pt x="275796" y="47291"/>
                </a:lnTo>
                <a:lnTo>
                  <a:pt x="243106" y="22041"/>
                </a:lnTo>
                <a:lnTo>
                  <a:pt x="204510" y="5766"/>
                </a:lnTo>
                <a:lnTo>
                  <a:pt x="16154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827389" y="606297"/>
            <a:ext cx="11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518647" y="557783"/>
            <a:ext cx="321945" cy="323215"/>
          </a:xfrm>
          <a:custGeom>
            <a:avLst/>
            <a:gdLst/>
            <a:ahLst/>
            <a:cxnLst/>
            <a:rect l="l" t="t" r="r" b="b"/>
            <a:pathLst>
              <a:path w="321945" h="323215">
                <a:moveTo>
                  <a:pt x="160781" y="0"/>
                </a:moveTo>
                <a:lnTo>
                  <a:pt x="118048" y="5766"/>
                </a:lnTo>
                <a:lnTo>
                  <a:pt x="79643" y="22041"/>
                </a:lnTo>
                <a:lnTo>
                  <a:pt x="47101" y="47291"/>
                </a:lnTo>
                <a:lnTo>
                  <a:pt x="21956" y="79981"/>
                </a:lnTo>
                <a:lnTo>
                  <a:pt x="5744" y="118577"/>
                </a:lnTo>
                <a:lnTo>
                  <a:pt x="0" y="161543"/>
                </a:lnTo>
                <a:lnTo>
                  <a:pt x="5744" y="204510"/>
                </a:lnTo>
                <a:lnTo>
                  <a:pt x="21956" y="243106"/>
                </a:lnTo>
                <a:lnTo>
                  <a:pt x="47101" y="275796"/>
                </a:lnTo>
                <a:lnTo>
                  <a:pt x="79643" y="301046"/>
                </a:lnTo>
                <a:lnTo>
                  <a:pt x="118048" y="317321"/>
                </a:lnTo>
                <a:lnTo>
                  <a:pt x="160781" y="323088"/>
                </a:lnTo>
                <a:lnTo>
                  <a:pt x="203515" y="317321"/>
                </a:lnTo>
                <a:lnTo>
                  <a:pt x="241920" y="301046"/>
                </a:lnTo>
                <a:lnTo>
                  <a:pt x="274462" y="275796"/>
                </a:lnTo>
                <a:lnTo>
                  <a:pt x="299607" y="243106"/>
                </a:lnTo>
                <a:lnTo>
                  <a:pt x="315819" y="204510"/>
                </a:lnTo>
                <a:lnTo>
                  <a:pt x="321563" y="161543"/>
                </a:lnTo>
                <a:lnTo>
                  <a:pt x="315819" y="118577"/>
                </a:lnTo>
                <a:lnTo>
                  <a:pt x="299607" y="79981"/>
                </a:lnTo>
                <a:lnTo>
                  <a:pt x="274462" y="47291"/>
                </a:lnTo>
                <a:lnTo>
                  <a:pt x="241920" y="22041"/>
                </a:lnTo>
                <a:lnTo>
                  <a:pt x="203515" y="5766"/>
                </a:lnTo>
                <a:lnTo>
                  <a:pt x="16078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0627868" y="606297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77690" y="6277152"/>
            <a:ext cx="121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274692" y="5050409"/>
            <a:ext cx="328295" cy="329565"/>
            <a:chOff x="4274692" y="5050409"/>
            <a:chExt cx="328295" cy="329565"/>
          </a:xfrm>
        </p:grpSpPr>
        <p:sp>
          <p:nvSpPr>
            <p:cNvPr id="55" name="object 55"/>
            <p:cNvSpPr/>
            <p:nvPr/>
          </p:nvSpPr>
          <p:spPr>
            <a:xfrm>
              <a:off x="4277867" y="5053584"/>
              <a:ext cx="321945" cy="323215"/>
            </a:xfrm>
            <a:custGeom>
              <a:avLst/>
              <a:gdLst/>
              <a:ahLst/>
              <a:cxnLst/>
              <a:rect l="l" t="t" r="r" b="b"/>
              <a:pathLst>
                <a:path w="321945" h="323214">
                  <a:moveTo>
                    <a:pt x="160782" y="0"/>
                  </a:moveTo>
                  <a:lnTo>
                    <a:pt x="118048" y="5766"/>
                  </a:lnTo>
                  <a:lnTo>
                    <a:pt x="79643" y="22041"/>
                  </a:lnTo>
                  <a:lnTo>
                    <a:pt x="47101" y="47291"/>
                  </a:lnTo>
                  <a:lnTo>
                    <a:pt x="21956" y="79981"/>
                  </a:lnTo>
                  <a:lnTo>
                    <a:pt x="5744" y="118577"/>
                  </a:lnTo>
                  <a:lnTo>
                    <a:pt x="0" y="161544"/>
                  </a:lnTo>
                  <a:lnTo>
                    <a:pt x="5744" y="204510"/>
                  </a:lnTo>
                  <a:lnTo>
                    <a:pt x="21956" y="243106"/>
                  </a:lnTo>
                  <a:lnTo>
                    <a:pt x="47101" y="275796"/>
                  </a:lnTo>
                  <a:lnTo>
                    <a:pt x="79643" y="301046"/>
                  </a:lnTo>
                  <a:lnTo>
                    <a:pt x="118048" y="317321"/>
                  </a:lnTo>
                  <a:lnTo>
                    <a:pt x="160782" y="323088"/>
                  </a:lnTo>
                  <a:lnTo>
                    <a:pt x="203515" y="317321"/>
                  </a:lnTo>
                  <a:lnTo>
                    <a:pt x="241920" y="301046"/>
                  </a:lnTo>
                  <a:lnTo>
                    <a:pt x="274462" y="275796"/>
                  </a:lnTo>
                  <a:lnTo>
                    <a:pt x="299607" y="243106"/>
                  </a:lnTo>
                  <a:lnTo>
                    <a:pt x="315819" y="204510"/>
                  </a:lnTo>
                  <a:lnTo>
                    <a:pt x="321564" y="161544"/>
                  </a:lnTo>
                  <a:lnTo>
                    <a:pt x="315819" y="118577"/>
                  </a:lnTo>
                  <a:lnTo>
                    <a:pt x="299607" y="79981"/>
                  </a:lnTo>
                  <a:lnTo>
                    <a:pt x="274462" y="47291"/>
                  </a:lnTo>
                  <a:lnTo>
                    <a:pt x="241920" y="22041"/>
                  </a:lnTo>
                  <a:lnTo>
                    <a:pt x="203515" y="5766"/>
                  </a:lnTo>
                  <a:lnTo>
                    <a:pt x="16078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77867" y="5053584"/>
              <a:ext cx="321945" cy="323215"/>
            </a:xfrm>
            <a:custGeom>
              <a:avLst/>
              <a:gdLst/>
              <a:ahLst/>
              <a:cxnLst/>
              <a:rect l="l" t="t" r="r" b="b"/>
              <a:pathLst>
                <a:path w="321945" h="323214">
                  <a:moveTo>
                    <a:pt x="0" y="161544"/>
                  </a:moveTo>
                  <a:lnTo>
                    <a:pt x="5744" y="118577"/>
                  </a:lnTo>
                  <a:lnTo>
                    <a:pt x="21956" y="79981"/>
                  </a:lnTo>
                  <a:lnTo>
                    <a:pt x="47101" y="47291"/>
                  </a:lnTo>
                  <a:lnTo>
                    <a:pt x="79643" y="22041"/>
                  </a:lnTo>
                  <a:lnTo>
                    <a:pt x="118048" y="5766"/>
                  </a:lnTo>
                  <a:lnTo>
                    <a:pt x="160782" y="0"/>
                  </a:lnTo>
                  <a:lnTo>
                    <a:pt x="203515" y="5766"/>
                  </a:lnTo>
                  <a:lnTo>
                    <a:pt x="241920" y="22041"/>
                  </a:lnTo>
                  <a:lnTo>
                    <a:pt x="274462" y="47291"/>
                  </a:lnTo>
                  <a:lnTo>
                    <a:pt x="299607" y="79981"/>
                  </a:lnTo>
                  <a:lnTo>
                    <a:pt x="315819" y="118577"/>
                  </a:lnTo>
                  <a:lnTo>
                    <a:pt x="321564" y="161544"/>
                  </a:lnTo>
                  <a:lnTo>
                    <a:pt x="315819" y="204510"/>
                  </a:lnTo>
                  <a:lnTo>
                    <a:pt x="299607" y="243106"/>
                  </a:lnTo>
                  <a:lnTo>
                    <a:pt x="274462" y="275796"/>
                  </a:lnTo>
                  <a:lnTo>
                    <a:pt x="241920" y="301046"/>
                  </a:lnTo>
                  <a:lnTo>
                    <a:pt x="203515" y="317321"/>
                  </a:lnTo>
                  <a:lnTo>
                    <a:pt x="160782" y="323088"/>
                  </a:lnTo>
                  <a:lnTo>
                    <a:pt x="118048" y="317321"/>
                  </a:lnTo>
                  <a:lnTo>
                    <a:pt x="79643" y="301046"/>
                  </a:lnTo>
                  <a:lnTo>
                    <a:pt x="47101" y="275796"/>
                  </a:lnTo>
                  <a:lnTo>
                    <a:pt x="21956" y="243106"/>
                  </a:lnTo>
                  <a:lnTo>
                    <a:pt x="5744" y="204510"/>
                  </a:lnTo>
                  <a:lnTo>
                    <a:pt x="0" y="16154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377690" y="5103114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274692" y="2893948"/>
            <a:ext cx="328295" cy="328295"/>
            <a:chOff x="4274692" y="2893948"/>
            <a:chExt cx="328295" cy="328295"/>
          </a:xfrm>
        </p:grpSpPr>
        <p:sp>
          <p:nvSpPr>
            <p:cNvPr id="59" name="object 59"/>
            <p:cNvSpPr/>
            <p:nvPr/>
          </p:nvSpPr>
          <p:spPr>
            <a:xfrm>
              <a:off x="4277867" y="2897123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160782" y="0"/>
                  </a:moveTo>
                  <a:lnTo>
                    <a:pt x="109971" y="8199"/>
                  </a:lnTo>
                  <a:lnTo>
                    <a:pt x="65836" y="31028"/>
                  </a:lnTo>
                  <a:lnTo>
                    <a:pt x="31028" y="65836"/>
                  </a:lnTo>
                  <a:lnTo>
                    <a:pt x="8199" y="109971"/>
                  </a:lnTo>
                  <a:lnTo>
                    <a:pt x="0" y="160781"/>
                  </a:lnTo>
                  <a:lnTo>
                    <a:pt x="8199" y="211592"/>
                  </a:lnTo>
                  <a:lnTo>
                    <a:pt x="31028" y="255727"/>
                  </a:lnTo>
                  <a:lnTo>
                    <a:pt x="65836" y="290535"/>
                  </a:lnTo>
                  <a:lnTo>
                    <a:pt x="109971" y="313364"/>
                  </a:lnTo>
                  <a:lnTo>
                    <a:pt x="160782" y="321563"/>
                  </a:lnTo>
                  <a:lnTo>
                    <a:pt x="211592" y="313364"/>
                  </a:lnTo>
                  <a:lnTo>
                    <a:pt x="255727" y="290535"/>
                  </a:lnTo>
                  <a:lnTo>
                    <a:pt x="290535" y="255727"/>
                  </a:lnTo>
                  <a:lnTo>
                    <a:pt x="313364" y="211592"/>
                  </a:lnTo>
                  <a:lnTo>
                    <a:pt x="321564" y="160781"/>
                  </a:lnTo>
                  <a:lnTo>
                    <a:pt x="313364" y="109971"/>
                  </a:lnTo>
                  <a:lnTo>
                    <a:pt x="290535" y="65836"/>
                  </a:lnTo>
                  <a:lnTo>
                    <a:pt x="255727" y="31028"/>
                  </a:lnTo>
                  <a:lnTo>
                    <a:pt x="211592" y="8199"/>
                  </a:lnTo>
                  <a:lnTo>
                    <a:pt x="16078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77867" y="2897123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0" y="160781"/>
                  </a:moveTo>
                  <a:lnTo>
                    <a:pt x="8199" y="109971"/>
                  </a:lnTo>
                  <a:lnTo>
                    <a:pt x="31028" y="65836"/>
                  </a:lnTo>
                  <a:lnTo>
                    <a:pt x="65836" y="31028"/>
                  </a:lnTo>
                  <a:lnTo>
                    <a:pt x="109971" y="8199"/>
                  </a:lnTo>
                  <a:lnTo>
                    <a:pt x="160782" y="0"/>
                  </a:lnTo>
                  <a:lnTo>
                    <a:pt x="211592" y="8199"/>
                  </a:lnTo>
                  <a:lnTo>
                    <a:pt x="255727" y="31028"/>
                  </a:lnTo>
                  <a:lnTo>
                    <a:pt x="290535" y="65836"/>
                  </a:lnTo>
                  <a:lnTo>
                    <a:pt x="313364" y="109971"/>
                  </a:lnTo>
                  <a:lnTo>
                    <a:pt x="321564" y="160781"/>
                  </a:lnTo>
                  <a:lnTo>
                    <a:pt x="313364" y="211592"/>
                  </a:lnTo>
                  <a:lnTo>
                    <a:pt x="290535" y="255727"/>
                  </a:lnTo>
                  <a:lnTo>
                    <a:pt x="255727" y="290535"/>
                  </a:lnTo>
                  <a:lnTo>
                    <a:pt x="211592" y="313364"/>
                  </a:lnTo>
                  <a:lnTo>
                    <a:pt x="160782" y="321563"/>
                  </a:lnTo>
                  <a:lnTo>
                    <a:pt x="109971" y="313364"/>
                  </a:lnTo>
                  <a:lnTo>
                    <a:pt x="65836" y="290535"/>
                  </a:lnTo>
                  <a:lnTo>
                    <a:pt x="31028" y="255727"/>
                  </a:lnTo>
                  <a:lnTo>
                    <a:pt x="8199" y="211592"/>
                  </a:lnTo>
                  <a:lnTo>
                    <a:pt x="0" y="160781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391025" y="2945384"/>
            <a:ext cx="9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274692" y="1124585"/>
            <a:ext cx="328295" cy="328295"/>
            <a:chOff x="4274692" y="1124585"/>
            <a:chExt cx="328295" cy="328295"/>
          </a:xfrm>
        </p:grpSpPr>
        <p:sp>
          <p:nvSpPr>
            <p:cNvPr id="63" name="object 63"/>
            <p:cNvSpPr/>
            <p:nvPr/>
          </p:nvSpPr>
          <p:spPr>
            <a:xfrm>
              <a:off x="4277867" y="1127760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160782" y="0"/>
                  </a:moveTo>
                  <a:lnTo>
                    <a:pt x="109971" y="8199"/>
                  </a:lnTo>
                  <a:lnTo>
                    <a:pt x="65836" y="31028"/>
                  </a:lnTo>
                  <a:lnTo>
                    <a:pt x="31028" y="65836"/>
                  </a:lnTo>
                  <a:lnTo>
                    <a:pt x="8199" y="109971"/>
                  </a:lnTo>
                  <a:lnTo>
                    <a:pt x="0" y="160781"/>
                  </a:lnTo>
                  <a:lnTo>
                    <a:pt x="8199" y="211592"/>
                  </a:lnTo>
                  <a:lnTo>
                    <a:pt x="31028" y="255727"/>
                  </a:lnTo>
                  <a:lnTo>
                    <a:pt x="65836" y="290535"/>
                  </a:lnTo>
                  <a:lnTo>
                    <a:pt x="109971" y="313364"/>
                  </a:lnTo>
                  <a:lnTo>
                    <a:pt x="160782" y="321563"/>
                  </a:lnTo>
                  <a:lnTo>
                    <a:pt x="211592" y="313364"/>
                  </a:lnTo>
                  <a:lnTo>
                    <a:pt x="255727" y="290535"/>
                  </a:lnTo>
                  <a:lnTo>
                    <a:pt x="290535" y="255727"/>
                  </a:lnTo>
                  <a:lnTo>
                    <a:pt x="313364" y="211592"/>
                  </a:lnTo>
                  <a:lnTo>
                    <a:pt x="321564" y="160781"/>
                  </a:lnTo>
                  <a:lnTo>
                    <a:pt x="313364" y="109971"/>
                  </a:lnTo>
                  <a:lnTo>
                    <a:pt x="290535" y="65836"/>
                  </a:lnTo>
                  <a:lnTo>
                    <a:pt x="255727" y="31028"/>
                  </a:lnTo>
                  <a:lnTo>
                    <a:pt x="211592" y="8199"/>
                  </a:lnTo>
                  <a:lnTo>
                    <a:pt x="16078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77867" y="1127760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0" y="160781"/>
                  </a:moveTo>
                  <a:lnTo>
                    <a:pt x="8199" y="109971"/>
                  </a:lnTo>
                  <a:lnTo>
                    <a:pt x="31028" y="65836"/>
                  </a:lnTo>
                  <a:lnTo>
                    <a:pt x="65836" y="31028"/>
                  </a:lnTo>
                  <a:lnTo>
                    <a:pt x="109971" y="8199"/>
                  </a:lnTo>
                  <a:lnTo>
                    <a:pt x="160782" y="0"/>
                  </a:lnTo>
                  <a:lnTo>
                    <a:pt x="211592" y="8199"/>
                  </a:lnTo>
                  <a:lnTo>
                    <a:pt x="255727" y="31028"/>
                  </a:lnTo>
                  <a:lnTo>
                    <a:pt x="290535" y="65836"/>
                  </a:lnTo>
                  <a:lnTo>
                    <a:pt x="313364" y="109971"/>
                  </a:lnTo>
                  <a:lnTo>
                    <a:pt x="321564" y="160781"/>
                  </a:lnTo>
                  <a:lnTo>
                    <a:pt x="313364" y="211592"/>
                  </a:lnTo>
                  <a:lnTo>
                    <a:pt x="290535" y="255727"/>
                  </a:lnTo>
                  <a:lnTo>
                    <a:pt x="255727" y="290535"/>
                  </a:lnTo>
                  <a:lnTo>
                    <a:pt x="211592" y="313364"/>
                  </a:lnTo>
                  <a:lnTo>
                    <a:pt x="160782" y="321563"/>
                  </a:lnTo>
                  <a:lnTo>
                    <a:pt x="109971" y="313364"/>
                  </a:lnTo>
                  <a:lnTo>
                    <a:pt x="65836" y="290535"/>
                  </a:lnTo>
                  <a:lnTo>
                    <a:pt x="31028" y="255727"/>
                  </a:lnTo>
                  <a:lnTo>
                    <a:pt x="8199" y="211592"/>
                  </a:lnTo>
                  <a:lnTo>
                    <a:pt x="0" y="160781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377690" y="1175461"/>
            <a:ext cx="1219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291774" y="1802892"/>
            <a:ext cx="2640965" cy="946150"/>
            <a:chOff x="4291774" y="1802892"/>
            <a:chExt cx="2640965" cy="946150"/>
          </a:xfrm>
        </p:grpSpPr>
        <p:sp>
          <p:nvSpPr>
            <p:cNvPr id="67" name="object 67"/>
            <p:cNvSpPr/>
            <p:nvPr/>
          </p:nvSpPr>
          <p:spPr>
            <a:xfrm>
              <a:off x="4306061" y="2125218"/>
              <a:ext cx="2466340" cy="609600"/>
            </a:xfrm>
            <a:custGeom>
              <a:avLst/>
              <a:gdLst/>
              <a:ahLst/>
              <a:cxnLst/>
              <a:rect l="l" t="t" r="r" b="b"/>
              <a:pathLst>
                <a:path w="2466340" h="609600">
                  <a:moveTo>
                    <a:pt x="0" y="609092"/>
                  </a:moveTo>
                  <a:lnTo>
                    <a:pt x="2465832" y="609092"/>
                  </a:lnTo>
                  <a:lnTo>
                    <a:pt x="2465832" y="0"/>
                  </a:lnTo>
                </a:path>
              </a:pathLst>
            </a:custGeom>
            <a:ln w="28574">
              <a:solidFill>
                <a:srgbClr val="6FAC4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11111" y="1802892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4">
                  <a:moveTo>
                    <a:pt x="160782" y="0"/>
                  </a:moveTo>
                  <a:lnTo>
                    <a:pt x="109971" y="8199"/>
                  </a:lnTo>
                  <a:lnTo>
                    <a:pt x="65836" y="31028"/>
                  </a:lnTo>
                  <a:lnTo>
                    <a:pt x="31028" y="65836"/>
                  </a:lnTo>
                  <a:lnTo>
                    <a:pt x="8199" y="109971"/>
                  </a:lnTo>
                  <a:lnTo>
                    <a:pt x="0" y="160782"/>
                  </a:lnTo>
                  <a:lnTo>
                    <a:pt x="8199" y="211592"/>
                  </a:lnTo>
                  <a:lnTo>
                    <a:pt x="31028" y="255727"/>
                  </a:lnTo>
                  <a:lnTo>
                    <a:pt x="65836" y="290535"/>
                  </a:lnTo>
                  <a:lnTo>
                    <a:pt x="109971" y="313364"/>
                  </a:lnTo>
                  <a:lnTo>
                    <a:pt x="160782" y="321563"/>
                  </a:lnTo>
                  <a:lnTo>
                    <a:pt x="211592" y="313364"/>
                  </a:lnTo>
                  <a:lnTo>
                    <a:pt x="255727" y="290535"/>
                  </a:lnTo>
                  <a:lnTo>
                    <a:pt x="290535" y="255727"/>
                  </a:lnTo>
                  <a:lnTo>
                    <a:pt x="313364" y="211592"/>
                  </a:lnTo>
                  <a:lnTo>
                    <a:pt x="321564" y="160782"/>
                  </a:lnTo>
                  <a:lnTo>
                    <a:pt x="313364" y="109971"/>
                  </a:lnTo>
                  <a:lnTo>
                    <a:pt x="290535" y="65836"/>
                  </a:lnTo>
                  <a:lnTo>
                    <a:pt x="255727" y="31028"/>
                  </a:lnTo>
                  <a:lnTo>
                    <a:pt x="211592" y="8199"/>
                  </a:lnTo>
                  <a:lnTo>
                    <a:pt x="16078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722491" y="1850593"/>
            <a:ext cx="1003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0" dirty="0"/>
              <a:t>Open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752" y="1557934"/>
            <a:ext cx="3102610" cy="2433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10" dirty="0">
                <a:latin typeface="Calibri"/>
                <a:cs typeface="Calibri"/>
              </a:rPr>
              <a:t>Recognizable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10" dirty="0">
                <a:latin typeface="Calibri"/>
                <a:cs typeface="Calibri"/>
              </a:rPr>
              <a:t>Descriptive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10" dirty="0">
                <a:latin typeface="Calibri"/>
                <a:cs typeface="Calibri"/>
              </a:rPr>
              <a:t>Supplemental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subject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line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20" dirty="0">
                <a:latin typeface="Calibri"/>
                <a:cs typeface="Calibri"/>
              </a:rPr>
              <a:t>Try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25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characters</a:t>
            </a:r>
            <a:endParaRPr sz="1600">
              <a:latin typeface="Calibri"/>
              <a:cs typeface="Calibri"/>
            </a:endParaRPr>
          </a:p>
          <a:p>
            <a:pPr marL="194945" marR="5080" indent="-182880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600" dirty="0">
                <a:latin typeface="Calibri"/>
                <a:cs typeface="Calibri"/>
              </a:rPr>
              <a:t>Be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consistent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continue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deliverability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dirty="0">
                <a:latin typeface="Calibri"/>
                <a:cs typeface="Calibri"/>
              </a:rPr>
              <a:t>Need</a:t>
            </a:r>
            <a:r>
              <a:rPr sz="1600" spc="-10" dirty="0">
                <a:latin typeface="Calibri"/>
                <a:cs typeface="Calibri"/>
              </a:rPr>
              <a:t> inspiration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 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start?</a:t>
            </a:r>
            <a:endParaRPr sz="16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navigation!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104900"/>
            <a:ext cx="3533140" cy="34290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1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6635" y="1104900"/>
            <a:ext cx="3533140" cy="34290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3175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SUBJECT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2480" y="1104900"/>
            <a:ext cx="3533140" cy="342900"/>
          </a:xfrm>
          <a:prstGeom prst="rect">
            <a:avLst/>
          </a:prstGeom>
          <a:solidFill>
            <a:srgbClr val="44536A"/>
          </a:solidFill>
        </p:spPr>
        <p:txBody>
          <a:bodyPr vert="horz" wrap="square" lIns="0" tIns="3175" rIns="0" bIns="0" rtlCol="0">
            <a:spAutoFit/>
          </a:bodyPr>
          <a:lstStyle/>
          <a:p>
            <a:pPr marL="992505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PREVIEW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6815" y="1634743"/>
            <a:ext cx="3134360" cy="2601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marR="274955" indent="-183515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195580" algn="l"/>
              </a:tabLst>
            </a:pPr>
            <a:r>
              <a:rPr sz="1600" dirty="0">
                <a:latin typeface="Calibri"/>
                <a:cs typeface="Calibri"/>
              </a:rPr>
              <a:t>Develop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subject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along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content/creative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production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dirty="0">
                <a:latin typeface="Calibri"/>
                <a:cs typeface="Calibri"/>
              </a:rPr>
              <a:t>Make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special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characters,</a:t>
            </a:r>
            <a:r>
              <a:rPr sz="1600" dirty="0">
                <a:latin typeface="Calibri"/>
                <a:cs typeface="Calibri"/>
              </a:rPr>
              <a:t> all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caps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emojis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compelling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hook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front</a:t>
            </a:r>
            <a:endParaRPr sz="1600">
              <a:latin typeface="Calibri"/>
              <a:cs typeface="Calibri"/>
            </a:endParaRPr>
          </a:p>
          <a:p>
            <a:pPr marL="195580" marR="5080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5580" algn="l"/>
              </a:tabLst>
            </a:pPr>
            <a:r>
              <a:rPr sz="1600" dirty="0">
                <a:latin typeface="Calibri"/>
                <a:cs typeface="Calibri"/>
              </a:rPr>
              <a:t>Language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crisp,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clear</a:t>
            </a:r>
            <a:r>
              <a:rPr sz="1600" spc="-25" dirty="0">
                <a:latin typeface="Calibri"/>
                <a:cs typeface="Calibri"/>
              </a:rPr>
              <a:t> and </a:t>
            </a:r>
            <a:r>
              <a:rPr sz="1600" spc="-10" dirty="0">
                <a:latin typeface="Calibri"/>
                <a:cs typeface="Calibri"/>
              </a:rPr>
              <a:t>intuitive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25" dirty="0">
                <a:latin typeface="Calibri"/>
                <a:cs typeface="Calibri"/>
              </a:rPr>
              <a:t>Test,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Test,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Test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5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golden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length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4183" y="1634743"/>
            <a:ext cx="3272790" cy="244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marR="5080" indent="-182880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195580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“hook” 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Write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SL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use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“hook”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reasons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open.</a:t>
            </a:r>
            <a:endParaRPr sz="1600">
              <a:latin typeface="Calibri"/>
              <a:cs typeface="Calibri"/>
            </a:endParaRPr>
          </a:p>
          <a:p>
            <a:pPr marL="195580" marR="113030" indent="-182880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5580" algn="l"/>
              </a:tabLst>
            </a:pPr>
            <a:r>
              <a:rPr sz="1600" dirty="0">
                <a:latin typeface="Calibri"/>
                <a:cs typeface="Calibri"/>
              </a:rPr>
              <a:t>Put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preview</a:t>
            </a:r>
            <a:r>
              <a:rPr sz="1600" spc="-20" dirty="0">
                <a:latin typeface="Calibri"/>
                <a:cs typeface="Calibri"/>
              </a:rPr>
              <a:t> text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dirty="0">
                <a:latin typeface="Calibri"/>
                <a:cs typeface="Calibri"/>
              </a:rPr>
              <a:t>Be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engaging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specific</a:t>
            </a:r>
            <a:endParaRPr sz="1600">
              <a:latin typeface="Calibri"/>
              <a:cs typeface="Calibri"/>
            </a:endParaRPr>
          </a:p>
          <a:p>
            <a:pPr marL="196215" indent="-18351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6215" algn="l"/>
              </a:tabLst>
            </a:pPr>
            <a:r>
              <a:rPr sz="1600" spc="-10" dirty="0">
                <a:latin typeface="Calibri"/>
                <a:cs typeface="Calibri"/>
              </a:rPr>
              <a:t>Avoid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covering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everything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email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9268" y="4544567"/>
            <a:ext cx="11698605" cy="443865"/>
          </a:xfrm>
          <a:custGeom>
            <a:avLst/>
            <a:gdLst/>
            <a:ahLst/>
            <a:cxnLst/>
            <a:rect l="l" t="t" r="r" b="b"/>
            <a:pathLst>
              <a:path w="11698605" h="443864">
                <a:moveTo>
                  <a:pt x="11698224" y="0"/>
                </a:moveTo>
                <a:lnTo>
                  <a:pt x="11682387" y="54586"/>
                </a:lnTo>
                <a:lnTo>
                  <a:pt x="11637473" y="104225"/>
                </a:lnTo>
                <a:lnTo>
                  <a:pt x="11605326" y="126669"/>
                </a:lnTo>
                <a:lnTo>
                  <a:pt x="11567369" y="147252"/>
                </a:lnTo>
                <a:lnTo>
                  <a:pt x="11524087" y="165766"/>
                </a:lnTo>
                <a:lnTo>
                  <a:pt x="11475967" y="182003"/>
                </a:lnTo>
                <a:lnTo>
                  <a:pt x="11423495" y="195754"/>
                </a:lnTo>
                <a:lnTo>
                  <a:pt x="11367156" y="206811"/>
                </a:lnTo>
                <a:lnTo>
                  <a:pt x="11307439" y="214967"/>
                </a:lnTo>
                <a:lnTo>
                  <a:pt x="11244828" y="220013"/>
                </a:lnTo>
                <a:lnTo>
                  <a:pt x="11179810" y="221741"/>
                </a:lnTo>
                <a:lnTo>
                  <a:pt x="6367526" y="221741"/>
                </a:lnTo>
                <a:lnTo>
                  <a:pt x="6302507" y="223470"/>
                </a:lnTo>
                <a:lnTo>
                  <a:pt x="6239896" y="228516"/>
                </a:lnTo>
                <a:lnTo>
                  <a:pt x="6180179" y="236672"/>
                </a:lnTo>
                <a:lnTo>
                  <a:pt x="6123840" y="247729"/>
                </a:lnTo>
                <a:lnTo>
                  <a:pt x="6071368" y="261480"/>
                </a:lnTo>
                <a:lnTo>
                  <a:pt x="6023248" y="277717"/>
                </a:lnTo>
                <a:lnTo>
                  <a:pt x="5979966" y="296231"/>
                </a:lnTo>
                <a:lnTo>
                  <a:pt x="5942009" y="316814"/>
                </a:lnTo>
                <a:lnTo>
                  <a:pt x="5909862" y="339258"/>
                </a:lnTo>
                <a:lnTo>
                  <a:pt x="5864948" y="388897"/>
                </a:lnTo>
                <a:lnTo>
                  <a:pt x="5849112" y="443483"/>
                </a:lnTo>
                <a:lnTo>
                  <a:pt x="5845071" y="415676"/>
                </a:lnTo>
                <a:lnTo>
                  <a:pt x="5814210" y="363355"/>
                </a:lnTo>
                <a:lnTo>
                  <a:pt x="5756214" y="316814"/>
                </a:lnTo>
                <a:lnTo>
                  <a:pt x="5718257" y="296231"/>
                </a:lnTo>
                <a:lnTo>
                  <a:pt x="5674975" y="277717"/>
                </a:lnTo>
                <a:lnTo>
                  <a:pt x="5626855" y="261480"/>
                </a:lnTo>
                <a:lnTo>
                  <a:pt x="5574383" y="247729"/>
                </a:lnTo>
                <a:lnTo>
                  <a:pt x="5518044" y="236672"/>
                </a:lnTo>
                <a:lnTo>
                  <a:pt x="5458327" y="228516"/>
                </a:lnTo>
                <a:lnTo>
                  <a:pt x="5395716" y="223470"/>
                </a:lnTo>
                <a:lnTo>
                  <a:pt x="5330698" y="221741"/>
                </a:lnTo>
                <a:lnTo>
                  <a:pt x="518452" y="221741"/>
                </a:lnTo>
                <a:lnTo>
                  <a:pt x="453418" y="220013"/>
                </a:lnTo>
                <a:lnTo>
                  <a:pt x="390795" y="214967"/>
                </a:lnTo>
                <a:lnTo>
                  <a:pt x="331068" y="206811"/>
                </a:lnTo>
                <a:lnTo>
                  <a:pt x="274724" y="195754"/>
                </a:lnTo>
                <a:lnTo>
                  <a:pt x="222248" y="182003"/>
                </a:lnTo>
                <a:lnTo>
                  <a:pt x="174127" y="165766"/>
                </a:lnTo>
                <a:lnTo>
                  <a:pt x="130845" y="147252"/>
                </a:lnTo>
                <a:lnTo>
                  <a:pt x="92889" y="126669"/>
                </a:lnTo>
                <a:lnTo>
                  <a:pt x="60744" y="104225"/>
                </a:lnTo>
                <a:lnTo>
                  <a:pt x="15833" y="54586"/>
                </a:lnTo>
                <a:lnTo>
                  <a:pt x="4039" y="27807"/>
                </a:ln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21022" y="5243525"/>
            <a:ext cx="395160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All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3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elements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work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together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tell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story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drive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open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312" y="234441"/>
            <a:ext cx="51225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Template</a:t>
            </a:r>
            <a:r>
              <a:rPr spc="-75" dirty="0"/>
              <a:t> </a:t>
            </a:r>
            <a:r>
              <a:rPr dirty="0"/>
              <a:t>Design</a:t>
            </a:r>
            <a:r>
              <a:rPr spc="-85" dirty="0"/>
              <a:t> </a:t>
            </a:r>
            <a:r>
              <a:rPr dirty="0"/>
              <a:t>Best</a:t>
            </a:r>
            <a:r>
              <a:rPr spc="-8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847" y="1269522"/>
            <a:ext cx="6890384" cy="403542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82245" marR="467995" indent="-182245" algn="r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182245" algn="l"/>
              </a:tabLst>
            </a:pPr>
            <a:r>
              <a:rPr sz="1800" b="1" dirty="0">
                <a:latin typeface="Calibri"/>
                <a:cs typeface="Calibri"/>
              </a:rPr>
              <a:t>Inbox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copy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should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tell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enticing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story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introduce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content</a:t>
            </a:r>
            <a:endParaRPr sz="1800">
              <a:latin typeface="Calibri"/>
              <a:cs typeface="Calibri"/>
            </a:endParaRPr>
          </a:p>
          <a:p>
            <a:pPr marL="182880" marR="407035" lvl="1" indent="-182880" algn="r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18288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subject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pre-</a:t>
            </a:r>
            <a:r>
              <a:rPr sz="1600" dirty="0">
                <a:latin typeface="Calibri"/>
                <a:cs typeface="Calibri"/>
              </a:rPr>
              <a:t>header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text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together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story.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Follow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hierarchy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information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(inverted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pyramid)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tell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story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headline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0" dirty="0">
                <a:latin typeface="Calibri"/>
                <a:cs typeface="Calibri"/>
              </a:rPr>
              <a:t> CTA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campaign.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CTAs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text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subscriber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scrolls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call-to-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preview pane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(first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~600</a:t>
            </a:r>
            <a:r>
              <a:rPr sz="1600" spc="-10" dirty="0">
                <a:latin typeface="Calibri"/>
                <a:cs typeface="Calibri"/>
              </a:rPr>
              <a:t> pixels)</a:t>
            </a:r>
            <a:endParaRPr sz="1600">
              <a:latin typeface="Calibri"/>
              <a:cs typeface="Calibri"/>
            </a:endParaRPr>
          </a:p>
          <a:p>
            <a:pPr marL="926465" lvl="2" indent="-274320">
              <a:lnSpc>
                <a:spcPct val="100000"/>
              </a:lnSpc>
              <a:spcBef>
                <a:spcPts val="610"/>
              </a:spcBef>
              <a:buFont typeface="Wingdings" panose="05000000000000000000"/>
              <a:buChar char=""/>
              <a:tabLst>
                <a:tab pos="926465" algn="l"/>
              </a:tabLst>
            </a:pPr>
            <a:r>
              <a:rPr sz="1400" spc="-30" dirty="0">
                <a:latin typeface="Calibri"/>
                <a:cs typeface="Calibri"/>
              </a:rPr>
              <a:t>You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grab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subscriber’s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attention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–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way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engage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without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scrolling</a:t>
            </a:r>
            <a:endParaRPr sz="14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59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Imagery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complement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Calls-to-</a:t>
            </a:r>
            <a:r>
              <a:rPr sz="1800" b="1" dirty="0">
                <a:latin typeface="Calibri"/>
                <a:cs typeface="Calibri"/>
              </a:rPr>
              <a:t>action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should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descriptive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 action-</a:t>
            </a:r>
            <a:r>
              <a:rPr sz="1800" b="1" spc="-10" dirty="0">
                <a:latin typeface="Calibri"/>
                <a:cs typeface="Calibri"/>
              </a:rPr>
              <a:t>oriented</a:t>
            </a:r>
            <a:endParaRPr sz="18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Ensure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template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mobile-friendly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10" dirty="0">
                <a:latin typeface="Calibri"/>
                <a:cs typeface="Calibri"/>
              </a:rPr>
              <a:t> responsive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spc="-40" dirty="0">
                <a:latin typeface="Calibri"/>
                <a:cs typeface="Calibri"/>
              </a:rPr>
              <a:t>Test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devices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inboxes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renders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correctly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32064" y="365759"/>
            <a:ext cx="3820795" cy="6265545"/>
          </a:xfrm>
          <a:custGeom>
            <a:avLst/>
            <a:gdLst/>
            <a:ahLst/>
            <a:cxnLst/>
            <a:rect l="l" t="t" r="r" b="b"/>
            <a:pathLst>
              <a:path w="3820795" h="6265545">
                <a:moveTo>
                  <a:pt x="0" y="6265164"/>
                </a:moveTo>
                <a:lnTo>
                  <a:pt x="3820668" y="6265164"/>
                </a:lnTo>
                <a:lnTo>
                  <a:pt x="3820668" y="0"/>
                </a:lnTo>
                <a:lnTo>
                  <a:pt x="0" y="0"/>
                </a:lnTo>
                <a:lnTo>
                  <a:pt x="0" y="6265164"/>
                </a:lnTo>
                <a:close/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55507" y="454151"/>
            <a:ext cx="3575685" cy="32004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Brand</a:t>
            </a:r>
            <a:r>
              <a:rPr sz="1800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Logo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507" y="1269491"/>
            <a:ext cx="3575685" cy="2546985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7E7E7E"/>
                </a:solidFill>
                <a:latin typeface="Calibri"/>
                <a:cs typeface="Calibri"/>
              </a:rPr>
              <a:t>Hero</a:t>
            </a:r>
            <a:r>
              <a:rPr sz="1800" b="1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E7E7E"/>
                </a:solidFill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Includes: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Headline,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CTA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&amp;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short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introductory</a:t>
            </a:r>
            <a:r>
              <a:rPr sz="18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copy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9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This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area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should</a:t>
            </a:r>
            <a:r>
              <a:rPr sz="14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image-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heavy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somehow</a:t>
            </a:r>
            <a:r>
              <a:rPr sz="14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grab</a:t>
            </a:r>
            <a:r>
              <a:rPr sz="14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reader’s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attention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within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4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preview</a:t>
            </a:r>
            <a:r>
              <a:rPr sz="14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pane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5507" y="5894832"/>
            <a:ext cx="3575685" cy="597535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79070" marR="172085" indent="12065">
              <a:lnSpc>
                <a:spcPct val="101000"/>
              </a:lnSpc>
              <a:spcBef>
                <a:spcPts val="190"/>
              </a:spcBef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Footer</a:t>
            </a:r>
            <a:r>
              <a:rPr sz="18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(include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all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legal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requirements,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social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links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&amp;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key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business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information)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5507" y="3904488"/>
            <a:ext cx="3575685" cy="112649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137160" rIns="0" bIns="0" rtlCol="0">
            <a:spAutoFit/>
          </a:bodyPr>
          <a:lstStyle/>
          <a:p>
            <a:pPr marL="701675" marR="692150" indent="-1905" algn="ctr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7E7E7E"/>
                </a:solidFill>
                <a:latin typeface="Calibri"/>
                <a:cs typeface="Calibri"/>
              </a:rPr>
              <a:t>Secondary</a:t>
            </a:r>
            <a:r>
              <a:rPr sz="18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E7E7E"/>
                </a:solidFill>
                <a:latin typeface="Calibri"/>
                <a:cs typeface="Calibri"/>
              </a:rPr>
              <a:t>Content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Includes:</a:t>
            </a:r>
            <a:r>
              <a:rPr sz="18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Headline,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CTA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&amp;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short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copy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507" y="5117591"/>
            <a:ext cx="3575685" cy="69088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50"/>
              </a:spcBef>
            </a:pPr>
            <a:r>
              <a:rPr sz="1800" b="1" spc="-20" dirty="0">
                <a:solidFill>
                  <a:srgbClr val="7E7E7E"/>
                </a:solidFill>
                <a:latin typeface="Calibri"/>
                <a:cs typeface="Calibri"/>
              </a:rPr>
              <a:t>Tertiary</a:t>
            </a:r>
            <a:r>
              <a:rPr sz="1800" b="1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E7E7E"/>
                </a:solidFill>
                <a:latin typeface="Calibri"/>
                <a:cs typeface="Calibri"/>
              </a:rPr>
              <a:t>Content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Includes: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Short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copy</a:t>
            </a:r>
            <a:r>
              <a:rPr sz="18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&amp;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CTA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44840" y="862583"/>
            <a:ext cx="1099185" cy="32004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0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Navigation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92995" y="862583"/>
            <a:ext cx="1099185" cy="32004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20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Navigation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42676" y="862583"/>
            <a:ext cx="1097280" cy="320040"/>
          </a:xfrm>
          <a:prstGeom prst="rect">
            <a:avLst/>
          </a:prstGeom>
          <a:ln w="12700">
            <a:solidFill>
              <a:srgbClr val="A6A6A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0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Navigation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  <a:r>
              <a:rPr spc="-110" dirty="0"/>
              <a:t> </a:t>
            </a:r>
            <a:r>
              <a:rPr dirty="0"/>
              <a:t>Strategy</a:t>
            </a:r>
            <a:r>
              <a:rPr spc="-130" dirty="0"/>
              <a:t> </a:t>
            </a:r>
            <a:r>
              <a:rPr dirty="0"/>
              <a:t>Best</a:t>
            </a:r>
            <a:r>
              <a:rPr spc="-114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371" y="909320"/>
            <a:ext cx="3039745" cy="3488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301625" indent="-18288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Build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quarterly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</a:t>
            </a:r>
            <a:r>
              <a:rPr sz="1800" b="1" spc="-10" dirty="0">
                <a:latin typeface="Calibri"/>
                <a:cs typeface="Calibri"/>
              </a:rPr>
              <a:t> annual content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calendar</a:t>
            </a:r>
            <a:endParaRPr sz="1800">
              <a:latin typeface="Calibri"/>
              <a:cs typeface="Calibri"/>
            </a:endParaRPr>
          </a:p>
          <a:p>
            <a:pPr marL="469900" marR="5270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prepare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upcoming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holidays,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seasons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major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promotions relevant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business</a:t>
            </a:r>
            <a:endParaRPr sz="1600">
              <a:latin typeface="Calibri"/>
              <a:cs typeface="Calibri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ahead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you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have </a:t>
            </a:r>
            <a:r>
              <a:rPr sz="1600" dirty="0">
                <a:latin typeface="Calibri"/>
                <a:cs typeface="Calibri"/>
              </a:rPr>
              <a:t>enough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months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still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your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fresh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engaging</a:t>
            </a:r>
            <a:endParaRPr sz="1600">
              <a:latin typeface="Calibri"/>
              <a:cs typeface="Calibri"/>
            </a:endParaRPr>
          </a:p>
          <a:p>
            <a:pPr marL="469900" marR="111125" lvl="1" indent="-182880">
              <a:lnSpc>
                <a:spcPct val="100000"/>
              </a:lnSpc>
              <a:spcBef>
                <a:spcPts val="605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Plan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2-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newsletters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month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37095" y="998186"/>
            <a:ext cx="2097405" cy="4965700"/>
            <a:chOff x="6137095" y="998186"/>
            <a:chExt cx="2097405" cy="4965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7095" y="998186"/>
              <a:ext cx="2097128" cy="49652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4768" y="1005840"/>
              <a:ext cx="2031491" cy="489966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093366" y="998186"/>
            <a:ext cx="1902460" cy="4965700"/>
            <a:chOff x="10093366" y="998186"/>
            <a:chExt cx="1902460" cy="49657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3366" y="998186"/>
              <a:ext cx="1902123" cy="496525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01071" y="1005840"/>
              <a:ext cx="1836420" cy="489965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343834" y="998186"/>
            <a:ext cx="1640205" cy="4965700"/>
            <a:chOff x="8343834" y="998186"/>
            <a:chExt cx="1640205" cy="49657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3834" y="998186"/>
              <a:ext cx="1639956" cy="496525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1520" y="1005840"/>
              <a:ext cx="1574292" cy="489966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838918" y="998186"/>
            <a:ext cx="2190115" cy="4965700"/>
            <a:chOff x="3838918" y="998186"/>
            <a:chExt cx="2190115" cy="49657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8918" y="998186"/>
              <a:ext cx="2190062" cy="49652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6575" y="1005840"/>
              <a:ext cx="2124455" cy="489966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  <a:r>
              <a:rPr spc="-110" dirty="0"/>
              <a:t> </a:t>
            </a:r>
            <a:r>
              <a:rPr dirty="0"/>
              <a:t>Strategy</a:t>
            </a:r>
            <a:r>
              <a:rPr spc="-130" dirty="0"/>
              <a:t> </a:t>
            </a:r>
            <a:r>
              <a:rPr dirty="0"/>
              <a:t>Best</a:t>
            </a:r>
            <a:r>
              <a:rPr spc="-114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371" y="819942"/>
            <a:ext cx="3903345" cy="19310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Use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variety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content</a:t>
            </a:r>
            <a:endParaRPr sz="1800">
              <a:latin typeface="Calibri"/>
              <a:cs typeface="Calibri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newsletters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</a:t>
            </a:r>
            <a:r>
              <a:rPr sz="1600" dirty="0">
                <a:latin typeface="Calibri"/>
                <a:cs typeface="Calibri"/>
              </a:rPr>
              <a:t> promote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purchasing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behavior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encourage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greater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interaction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brand.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Balance</a:t>
            </a:r>
            <a:r>
              <a:rPr sz="1600" spc="-20" dirty="0">
                <a:latin typeface="Calibri"/>
                <a:cs typeface="Calibri"/>
              </a:rPr>
              <a:t> promotion-heavy </a:t>
            </a:r>
            <a:r>
              <a:rPr sz="1600" dirty="0">
                <a:latin typeface="Calibri"/>
                <a:cs typeface="Calibri"/>
              </a:rPr>
              <a:t>messages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keep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interested.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56666" y="888476"/>
            <a:ext cx="1227455" cy="5445760"/>
            <a:chOff x="9256666" y="888476"/>
            <a:chExt cx="1227455" cy="5445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6666" y="888476"/>
              <a:ext cx="1227051" cy="54452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4396" y="896112"/>
              <a:ext cx="1161288" cy="537972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797416" y="877813"/>
            <a:ext cx="1080770" cy="5456555"/>
            <a:chOff x="10797416" y="877813"/>
            <a:chExt cx="1080770" cy="54565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7416" y="877813"/>
              <a:ext cx="1080776" cy="54559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5159" y="885444"/>
              <a:ext cx="1014983" cy="539038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130355" y="877813"/>
            <a:ext cx="860425" cy="5456555"/>
            <a:chOff x="8130355" y="877813"/>
            <a:chExt cx="860425" cy="54565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0355" y="877813"/>
              <a:ext cx="859929" cy="54559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38159" y="885444"/>
              <a:ext cx="794003" cy="539038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559188" y="877813"/>
            <a:ext cx="1254760" cy="5456555"/>
            <a:chOff x="6559188" y="877813"/>
            <a:chExt cx="1254760" cy="545655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9188" y="877813"/>
              <a:ext cx="1254466" cy="54559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66916" y="885444"/>
              <a:ext cx="1188720" cy="539038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000222" y="888476"/>
            <a:ext cx="1242695" cy="5445760"/>
            <a:chOff x="5000222" y="888476"/>
            <a:chExt cx="1242695" cy="544576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00222" y="888476"/>
              <a:ext cx="1242103" cy="54452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7864" y="896112"/>
              <a:ext cx="1176527" cy="537972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47568" y="993620"/>
            <a:ext cx="2588260" cy="5076825"/>
            <a:chOff x="9247568" y="993620"/>
            <a:chExt cx="2588260" cy="5076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568" y="993620"/>
              <a:ext cx="2587879" cy="5076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5252" y="1001267"/>
              <a:ext cx="2522220" cy="501091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  <a:r>
              <a:rPr spc="-110" dirty="0"/>
              <a:t> </a:t>
            </a:r>
            <a:r>
              <a:rPr dirty="0"/>
              <a:t>Strategy</a:t>
            </a:r>
            <a:r>
              <a:rPr spc="-130" dirty="0"/>
              <a:t> </a:t>
            </a:r>
            <a:r>
              <a:rPr dirty="0"/>
              <a:t>Best</a:t>
            </a:r>
            <a:r>
              <a:rPr spc="-114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8371" y="819942"/>
            <a:ext cx="4338320" cy="36703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Integrate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across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channels</a:t>
            </a:r>
            <a:endParaRPr sz="1800">
              <a:latin typeface="Calibri"/>
              <a:cs typeface="Calibri"/>
            </a:endParaRPr>
          </a:p>
          <a:p>
            <a:pPr marL="469900" marR="7302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unified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messaging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strategy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every platform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formats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10" dirty="0">
                <a:latin typeface="Calibri"/>
                <a:cs typeface="Calibri"/>
              </a:rPr>
              <a:t> better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platforms.</a:t>
            </a:r>
            <a:endParaRPr sz="1600">
              <a:latin typeface="Calibri"/>
              <a:cs typeface="Calibri"/>
            </a:endParaRPr>
          </a:p>
          <a:p>
            <a:pPr marL="469900" marR="140970" lvl="1" indent="-182880">
              <a:lnSpc>
                <a:spcPct val="100000"/>
              </a:lnSpc>
              <a:spcBef>
                <a:spcPts val="605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Integrating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messaging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make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10" dirty="0">
                <a:latin typeface="Calibri"/>
                <a:cs typeface="Calibri"/>
              </a:rPr>
              <a:t> efficient.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single </a:t>
            </a:r>
            <a:r>
              <a:rPr sz="1600" dirty="0">
                <a:latin typeface="Calibri"/>
                <a:cs typeface="Calibri"/>
              </a:rPr>
              <a:t>piece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reformatted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&amp; </a:t>
            </a:r>
            <a:r>
              <a:rPr sz="1600" dirty="0">
                <a:latin typeface="Calibri"/>
                <a:cs typeface="Calibri"/>
              </a:rPr>
              <a:t>repurposed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platforms.</a:t>
            </a:r>
            <a:endParaRPr sz="1600">
              <a:latin typeface="Calibri"/>
              <a:cs typeface="Calibri"/>
            </a:endParaRPr>
          </a:p>
          <a:p>
            <a:pPr marL="927100" marR="5080" lvl="2" indent="-274955" algn="just">
              <a:lnSpc>
                <a:spcPct val="100000"/>
              </a:lnSpc>
              <a:spcBef>
                <a:spcPts val="610"/>
              </a:spcBef>
              <a:buFont typeface="Wingdings" panose="05000000000000000000"/>
              <a:buChar char=""/>
              <a:tabLst>
                <a:tab pos="927100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website,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animated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Facebook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that </a:t>
            </a:r>
            <a:r>
              <a:rPr sz="1400" dirty="0">
                <a:latin typeface="Calibri"/>
                <a:cs typeface="Calibri"/>
              </a:rPr>
              <a:t>leads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include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short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snippet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compelling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image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email.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54908" y="993620"/>
            <a:ext cx="1521460" cy="5076825"/>
            <a:chOff x="5554908" y="993620"/>
            <a:chExt cx="1521460" cy="50768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4908" y="993620"/>
              <a:ext cx="1521094" cy="50764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2599" y="1001267"/>
              <a:ext cx="1455420" cy="501091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418760" y="3718501"/>
            <a:ext cx="1521460" cy="2352040"/>
            <a:chOff x="7418760" y="3718501"/>
            <a:chExt cx="1521460" cy="23520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8760" y="3718501"/>
              <a:ext cx="1521094" cy="23516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6451" y="3726179"/>
              <a:ext cx="1455420" cy="22860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7418760" y="993590"/>
            <a:ext cx="1521460" cy="2388235"/>
            <a:chOff x="7418760" y="993590"/>
            <a:chExt cx="1521460" cy="238823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18760" y="993590"/>
              <a:ext cx="1521094" cy="23882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26451" y="1001268"/>
              <a:ext cx="1455420" cy="2322576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64423" y="6175247"/>
            <a:ext cx="379475" cy="3215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28147" y="6184391"/>
            <a:ext cx="377951" cy="30175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0571" y="6146291"/>
            <a:ext cx="379475" cy="37947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075680" y="6606540"/>
            <a:ext cx="62547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99070" y="6606540"/>
            <a:ext cx="96837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FACEBOOK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32365" y="6602095"/>
            <a:ext cx="130365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WEBSITE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BLOG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914" y="140207"/>
            <a:ext cx="8161020" cy="6548755"/>
            <a:chOff x="3887914" y="140207"/>
            <a:chExt cx="8161020" cy="6548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41815" y="140207"/>
              <a:ext cx="1066104" cy="62925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4467" y="920491"/>
              <a:ext cx="1071634" cy="5768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2212" y="928116"/>
              <a:ext cx="1005839" cy="57028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1501" y="981226"/>
              <a:ext cx="4846388" cy="4393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9156" y="998537"/>
              <a:ext cx="4780788" cy="35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1501" y="1767824"/>
              <a:ext cx="4846388" cy="1799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9156" y="1775459"/>
              <a:ext cx="4780788" cy="17343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02202" y="861821"/>
              <a:ext cx="8132445" cy="5674360"/>
            </a:xfrm>
            <a:custGeom>
              <a:avLst/>
              <a:gdLst/>
              <a:ahLst/>
              <a:cxnLst/>
              <a:rect l="l" t="t" r="r" b="b"/>
              <a:pathLst>
                <a:path w="8132445" h="5674359">
                  <a:moveTo>
                    <a:pt x="6565392" y="5497068"/>
                  </a:moveTo>
                  <a:lnTo>
                    <a:pt x="8132064" y="5497068"/>
                  </a:lnTo>
                  <a:lnTo>
                    <a:pt x="8132064" y="4995672"/>
                  </a:lnTo>
                  <a:lnTo>
                    <a:pt x="6565392" y="4995672"/>
                  </a:lnTo>
                  <a:lnTo>
                    <a:pt x="6565392" y="5497068"/>
                  </a:lnTo>
                  <a:close/>
                </a:path>
                <a:path w="8132445" h="5674359">
                  <a:moveTo>
                    <a:pt x="0" y="204215"/>
                  </a:moveTo>
                  <a:lnTo>
                    <a:pt x="1184148" y="204215"/>
                  </a:lnTo>
                  <a:lnTo>
                    <a:pt x="1184148" y="0"/>
                  </a:lnTo>
                  <a:lnTo>
                    <a:pt x="0" y="0"/>
                  </a:lnTo>
                  <a:lnTo>
                    <a:pt x="0" y="204215"/>
                  </a:lnTo>
                  <a:close/>
                </a:path>
                <a:path w="8132445" h="5674359">
                  <a:moveTo>
                    <a:pt x="0" y="5673852"/>
                  </a:moveTo>
                  <a:lnTo>
                    <a:pt x="1184148" y="5673852"/>
                  </a:lnTo>
                  <a:lnTo>
                    <a:pt x="1184148" y="5253228"/>
                  </a:lnTo>
                  <a:lnTo>
                    <a:pt x="0" y="5253228"/>
                  </a:lnTo>
                  <a:lnTo>
                    <a:pt x="0" y="5673852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86350" y="952753"/>
              <a:ext cx="5382260" cy="5384165"/>
            </a:xfrm>
            <a:custGeom>
              <a:avLst/>
              <a:gdLst/>
              <a:ahLst/>
              <a:cxnLst/>
              <a:rect l="l" t="t" r="r" b="b"/>
              <a:pathLst>
                <a:path w="5382259" h="5384165">
                  <a:moveTo>
                    <a:pt x="22225" y="5361533"/>
                  </a:moveTo>
                  <a:lnTo>
                    <a:pt x="0" y="5361533"/>
                  </a:lnTo>
                  <a:lnTo>
                    <a:pt x="0" y="5383758"/>
                  </a:lnTo>
                  <a:lnTo>
                    <a:pt x="22225" y="5383758"/>
                  </a:lnTo>
                  <a:lnTo>
                    <a:pt x="22225" y="5361533"/>
                  </a:lnTo>
                  <a:close/>
                </a:path>
                <a:path w="5382259" h="5384165">
                  <a:moveTo>
                    <a:pt x="22225" y="0"/>
                  </a:moveTo>
                  <a:lnTo>
                    <a:pt x="0" y="0"/>
                  </a:lnTo>
                  <a:lnTo>
                    <a:pt x="0" y="22225"/>
                  </a:lnTo>
                  <a:lnTo>
                    <a:pt x="22225" y="22225"/>
                  </a:lnTo>
                  <a:lnTo>
                    <a:pt x="22225" y="0"/>
                  </a:lnTo>
                  <a:close/>
                </a:path>
                <a:path w="5382259" h="5384165">
                  <a:moveTo>
                    <a:pt x="66675" y="5361533"/>
                  </a:moveTo>
                  <a:lnTo>
                    <a:pt x="44450" y="5361533"/>
                  </a:lnTo>
                  <a:lnTo>
                    <a:pt x="44450" y="5383758"/>
                  </a:lnTo>
                  <a:lnTo>
                    <a:pt x="66675" y="5383758"/>
                  </a:lnTo>
                  <a:lnTo>
                    <a:pt x="66675" y="5361533"/>
                  </a:lnTo>
                  <a:close/>
                </a:path>
                <a:path w="5382259" h="5384165">
                  <a:moveTo>
                    <a:pt x="66675" y="0"/>
                  </a:moveTo>
                  <a:lnTo>
                    <a:pt x="44450" y="0"/>
                  </a:lnTo>
                  <a:lnTo>
                    <a:pt x="44450" y="22225"/>
                  </a:lnTo>
                  <a:lnTo>
                    <a:pt x="66675" y="22225"/>
                  </a:lnTo>
                  <a:lnTo>
                    <a:pt x="66675" y="0"/>
                  </a:lnTo>
                  <a:close/>
                </a:path>
                <a:path w="5382259" h="5384165">
                  <a:moveTo>
                    <a:pt x="111125" y="5361533"/>
                  </a:moveTo>
                  <a:lnTo>
                    <a:pt x="88900" y="5361533"/>
                  </a:lnTo>
                  <a:lnTo>
                    <a:pt x="88900" y="5383758"/>
                  </a:lnTo>
                  <a:lnTo>
                    <a:pt x="111125" y="5383758"/>
                  </a:lnTo>
                  <a:lnTo>
                    <a:pt x="111125" y="5361533"/>
                  </a:lnTo>
                  <a:close/>
                </a:path>
                <a:path w="5382259" h="5384165">
                  <a:moveTo>
                    <a:pt x="111125" y="0"/>
                  </a:moveTo>
                  <a:lnTo>
                    <a:pt x="88900" y="0"/>
                  </a:lnTo>
                  <a:lnTo>
                    <a:pt x="88900" y="22225"/>
                  </a:lnTo>
                  <a:lnTo>
                    <a:pt x="111125" y="22225"/>
                  </a:lnTo>
                  <a:lnTo>
                    <a:pt x="111125" y="0"/>
                  </a:lnTo>
                  <a:close/>
                </a:path>
                <a:path w="5382259" h="5384165">
                  <a:moveTo>
                    <a:pt x="155575" y="5361533"/>
                  </a:moveTo>
                  <a:lnTo>
                    <a:pt x="133350" y="5361533"/>
                  </a:lnTo>
                  <a:lnTo>
                    <a:pt x="133350" y="5383758"/>
                  </a:lnTo>
                  <a:lnTo>
                    <a:pt x="155575" y="5383758"/>
                  </a:lnTo>
                  <a:lnTo>
                    <a:pt x="155575" y="5361533"/>
                  </a:lnTo>
                  <a:close/>
                </a:path>
                <a:path w="5382259" h="5384165">
                  <a:moveTo>
                    <a:pt x="155575" y="0"/>
                  </a:moveTo>
                  <a:lnTo>
                    <a:pt x="133350" y="0"/>
                  </a:lnTo>
                  <a:lnTo>
                    <a:pt x="133350" y="22225"/>
                  </a:lnTo>
                  <a:lnTo>
                    <a:pt x="155575" y="22225"/>
                  </a:lnTo>
                  <a:lnTo>
                    <a:pt x="155575" y="0"/>
                  </a:lnTo>
                  <a:close/>
                </a:path>
                <a:path w="5382259" h="5384165">
                  <a:moveTo>
                    <a:pt x="187833" y="5349341"/>
                  </a:moveTo>
                  <a:lnTo>
                    <a:pt x="165608" y="5349341"/>
                  </a:lnTo>
                  <a:lnTo>
                    <a:pt x="165608" y="5371566"/>
                  </a:lnTo>
                  <a:lnTo>
                    <a:pt x="187833" y="5371566"/>
                  </a:lnTo>
                  <a:lnTo>
                    <a:pt x="187833" y="5349341"/>
                  </a:lnTo>
                  <a:close/>
                </a:path>
                <a:path w="5382259" h="5384165">
                  <a:moveTo>
                    <a:pt x="187833" y="5304891"/>
                  </a:moveTo>
                  <a:lnTo>
                    <a:pt x="165608" y="5304891"/>
                  </a:lnTo>
                  <a:lnTo>
                    <a:pt x="165608" y="5327116"/>
                  </a:lnTo>
                  <a:lnTo>
                    <a:pt x="187833" y="5327116"/>
                  </a:lnTo>
                  <a:lnTo>
                    <a:pt x="187833" y="5304891"/>
                  </a:lnTo>
                  <a:close/>
                </a:path>
                <a:path w="5382259" h="5384165">
                  <a:moveTo>
                    <a:pt x="187833" y="5260441"/>
                  </a:moveTo>
                  <a:lnTo>
                    <a:pt x="165608" y="5260441"/>
                  </a:lnTo>
                  <a:lnTo>
                    <a:pt x="165608" y="5282666"/>
                  </a:lnTo>
                  <a:lnTo>
                    <a:pt x="187833" y="5282666"/>
                  </a:lnTo>
                  <a:lnTo>
                    <a:pt x="187833" y="5260441"/>
                  </a:lnTo>
                  <a:close/>
                </a:path>
                <a:path w="5382259" h="5384165">
                  <a:moveTo>
                    <a:pt x="187833" y="5215991"/>
                  </a:moveTo>
                  <a:lnTo>
                    <a:pt x="165608" y="5215991"/>
                  </a:lnTo>
                  <a:lnTo>
                    <a:pt x="165608" y="5238216"/>
                  </a:lnTo>
                  <a:lnTo>
                    <a:pt x="187833" y="5238216"/>
                  </a:lnTo>
                  <a:lnTo>
                    <a:pt x="187833" y="5215991"/>
                  </a:lnTo>
                  <a:close/>
                </a:path>
                <a:path w="5382259" h="5384165">
                  <a:moveTo>
                    <a:pt x="187833" y="5171541"/>
                  </a:moveTo>
                  <a:lnTo>
                    <a:pt x="165608" y="5171541"/>
                  </a:lnTo>
                  <a:lnTo>
                    <a:pt x="165608" y="5193766"/>
                  </a:lnTo>
                  <a:lnTo>
                    <a:pt x="187833" y="5193766"/>
                  </a:lnTo>
                  <a:lnTo>
                    <a:pt x="187833" y="5171541"/>
                  </a:lnTo>
                  <a:close/>
                </a:path>
                <a:path w="5382259" h="5384165">
                  <a:moveTo>
                    <a:pt x="187833" y="5127091"/>
                  </a:moveTo>
                  <a:lnTo>
                    <a:pt x="165608" y="5127091"/>
                  </a:lnTo>
                  <a:lnTo>
                    <a:pt x="165608" y="5149316"/>
                  </a:lnTo>
                  <a:lnTo>
                    <a:pt x="187833" y="5149316"/>
                  </a:lnTo>
                  <a:lnTo>
                    <a:pt x="187833" y="5127091"/>
                  </a:lnTo>
                  <a:close/>
                </a:path>
                <a:path w="5382259" h="5384165">
                  <a:moveTo>
                    <a:pt x="187833" y="5082641"/>
                  </a:moveTo>
                  <a:lnTo>
                    <a:pt x="165608" y="5082641"/>
                  </a:lnTo>
                  <a:lnTo>
                    <a:pt x="165608" y="5104866"/>
                  </a:lnTo>
                  <a:lnTo>
                    <a:pt x="187833" y="5104866"/>
                  </a:lnTo>
                  <a:lnTo>
                    <a:pt x="187833" y="5082641"/>
                  </a:lnTo>
                  <a:close/>
                </a:path>
                <a:path w="5382259" h="5384165">
                  <a:moveTo>
                    <a:pt x="187833" y="5038191"/>
                  </a:moveTo>
                  <a:lnTo>
                    <a:pt x="165608" y="5038191"/>
                  </a:lnTo>
                  <a:lnTo>
                    <a:pt x="165608" y="5060416"/>
                  </a:lnTo>
                  <a:lnTo>
                    <a:pt x="187833" y="5060416"/>
                  </a:lnTo>
                  <a:lnTo>
                    <a:pt x="187833" y="5038191"/>
                  </a:lnTo>
                  <a:close/>
                </a:path>
                <a:path w="5382259" h="5384165">
                  <a:moveTo>
                    <a:pt x="187833" y="4993741"/>
                  </a:moveTo>
                  <a:lnTo>
                    <a:pt x="165608" y="4993741"/>
                  </a:lnTo>
                  <a:lnTo>
                    <a:pt x="165608" y="5015966"/>
                  </a:lnTo>
                  <a:lnTo>
                    <a:pt x="187833" y="5015966"/>
                  </a:lnTo>
                  <a:lnTo>
                    <a:pt x="187833" y="4993741"/>
                  </a:lnTo>
                  <a:close/>
                </a:path>
                <a:path w="5382259" h="5384165">
                  <a:moveTo>
                    <a:pt x="187833" y="4949291"/>
                  </a:moveTo>
                  <a:lnTo>
                    <a:pt x="165608" y="4949291"/>
                  </a:lnTo>
                  <a:lnTo>
                    <a:pt x="165608" y="4971516"/>
                  </a:lnTo>
                  <a:lnTo>
                    <a:pt x="187833" y="4971516"/>
                  </a:lnTo>
                  <a:lnTo>
                    <a:pt x="187833" y="4949291"/>
                  </a:lnTo>
                  <a:close/>
                </a:path>
                <a:path w="5382259" h="5384165">
                  <a:moveTo>
                    <a:pt x="187833" y="4904841"/>
                  </a:moveTo>
                  <a:lnTo>
                    <a:pt x="165608" y="4904841"/>
                  </a:lnTo>
                  <a:lnTo>
                    <a:pt x="165608" y="4927066"/>
                  </a:lnTo>
                  <a:lnTo>
                    <a:pt x="187833" y="4927066"/>
                  </a:lnTo>
                  <a:lnTo>
                    <a:pt x="187833" y="4904841"/>
                  </a:lnTo>
                  <a:close/>
                </a:path>
                <a:path w="5382259" h="5384165">
                  <a:moveTo>
                    <a:pt x="187833" y="4860391"/>
                  </a:moveTo>
                  <a:lnTo>
                    <a:pt x="165608" y="4860391"/>
                  </a:lnTo>
                  <a:lnTo>
                    <a:pt x="165608" y="4882616"/>
                  </a:lnTo>
                  <a:lnTo>
                    <a:pt x="187833" y="4882616"/>
                  </a:lnTo>
                  <a:lnTo>
                    <a:pt x="187833" y="4860391"/>
                  </a:lnTo>
                  <a:close/>
                </a:path>
                <a:path w="5382259" h="5384165">
                  <a:moveTo>
                    <a:pt x="187833" y="4815941"/>
                  </a:moveTo>
                  <a:lnTo>
                    <a:pt x="165608" y="4815941"/>
                  </a:lnTo>
                  <a:lnTo>
                    <a:pt x="165608" y="4838166"/>
                  </a:lnTo>
                  <a:lnTo>
                    <a:pt x="187833" y="4838166"/>
                  </a:lnTo>
                  <a:lnTo>
                    <a:pt x="187833" y="4815941"/>
                  </a:lnTo>
                  <a:close/>
                </a:path>
                <a:path w="5382259" h="5384165">
                  <a:moveTo>
                    <a:pt x="187833" y="4771491"/>
                  </a:moveTo>
                  <a:lnTo>
                    <a:pt x="165608" y="4771491"/>
                  </a:lnTo>
                  <a:lnTo>
                    <a:pt x="165608" y="4793716"/>
                  </a:lnTo>
                  <a:lnTo>
                    <a:pt x="187833" y="4793716"/>
                  </a:lnTo>
                  <a:lnTo>
                    <a:pt x="187833" y="4771491"/>
                  </a:lnTo>
                  <a:close/>
                </a:path>
                <a:path w="5382259" h="5384165">
                  <a:moveTo>
                    <a:pt x="187833" y="4727041"/>
                  </a:moveTo>
                  <a:lnTo>
                    <a:pt x="165608" y="4727041"/>
                  </a:lnTo>
                  <a:lnTo>
                    <a:pt x="165608" y="4749266"/>
                  </a:lnTo>
                  <a:lnTo>
                    <a:pt x="187833" y="4749266"/>
                  </a:lnTo>
                  <a:lnTo>
                    <a:pt x="187833" y="4727041"/>
                  </a:lnTo>
                  <a:close/>
                </a:path>
                <a:path w="5382259" h="5384165">
                  <a:moveTo>
                    <a:pt x="187833" y="4682591"/>
                  </a:moveTo>
                  <a:lnTo>
                    <a:pt x="165608" y="4682591"/>
                  </a:lnTo>
                  <a:lnTo>
                    <a:pt x="165608" y="4704816"/>
                  </a:lnTo>
                  <a:lnTo>
                    <a:pt x="187833" y="4704816"/>
                  </a:lnTo>
                  <a:lnTo>
                    <a:pt x="187833" y="4682591"/>
                  </a:lnTo>
                  <a:close/>
                </a:path>
                <a:path w="5382259" h="5384165">
                  <a:moveTo>
                    <a:pt x="187833" y="4638141"/>
                  </a:moveTo>
                  <a:lnTo>
                    <a:pt x="165608" y="4638141"/>
                  </a:lnTo>
                  <a:lnTo>
                    <a:pt x="165608" y="4660366"/>
                  </a:lnTo>
                  <a:lnTo>
                    <a:pt x="187833" y="4660366"/>
                  </a:lnTo>
                  <a:lnTo>
                    <a:pt x="187833" y="4638141"/>
                  </a:lnTo>
                  <a:close/>
                </a:path>
                <a:path w="5382259" h="5384165">
                  <a:moveTo>
                    <a:pt x="187833" y="4593717"/>
                  </a:moveTo>
                  <a:lnTo>
                    <a:pt x="165608" y="4593717"/>
                  </a:lnTo>
                  <a:lnTo>
                    <a:pt x="165608" y="4615942"/>
                  </a:lnTo>
                  <a:lnTo>
                    <a:pt x="187833" y="4615942"/>
                  </a:lnTo>
                  <a:lnTo>
                    <a:pt x="187833" y="4593717"/>
                  </a:lnTo>
                  <a:close/>
                </a:path>
                <a:path w="5382259" h="5384165">
                  <a:moveTo>
                    <a:pt x="187833" y="4549267"/>
                  </a:moveTo>
                  <a:lnTo>
                    <a:pt x="165608" y="4549267"/>
                  </a:lnTo>
                  <a:lnTo>
                    <a:pt x="165608" y="4571492"/>
                  </a:lnTo>
                  <a:lnTo>
                    <a:pt x="187833" y="4571492"/>
                  </a:lnTo>
                  <a:lnTo>
                    <a:pt x="187833" y="4549267"/>
                  </a:lnTo>
                  <a:close/>
                </a:path>
                <a:path w="5382259" h="5384165">
                  <a:moveTo>
                    <a:pt x="187833" y="4504817"/>
                  </a:moveTo>
                  <a:lnTo>
                    <a:pt x="165608" y="4504817"/>
                  </a:lnTo>
                  <a:lnTo>
                    <a:pt x="165608" y="4527042"/>
                  </a:lnTo>
                  <a:lnTo>
                    <a:pt x="187833" y="4527042"/>
                  </a:lnTo>
                  <a:lnTo>
                    <a:pt x="187833" y="4504817"/>
                  </a:lnTo>
                  <a:close/>
                </a:path>
                <a:path w="5382259" h="5384165">
                  <a:moveTo>
                    <a:pt x="187833" y="4460367"/>
                  </a:moveTo>
                  <a:lnTo>
                    <a:pt x="165608" y="4460367"/>
                  </a:lnTo>
                  <a:lnTo>
                    <a:pt x="165608" y="4482592"/>
                  </a:lnTo>
                  <a:lnTo>
                    <a:pt x="187833" y="4482592"/>
                  </a:lnTo>
                  <a:lnTo>
                    <a:pt x="187833" y="4460367"/>
                  </a:lnTo>
                  <a:close/>
                </a:path>
                <a:path w="5382259" h="5384165">
                  <a:moveTo>
                    <a:pt x="187833" y="4415917"/>
                  </a:moveTo>
                  <a:lnTo>
                    <a:pt x="165608" y="4415917"/>
                  </a:lnTo>
                  <a:lnTo>
                    <a:pt x="165608" y="4438142"/>
                  </a:lnTo>
                  <a:lnTo>
                    <a:pt x="187833" y="4438142"/>
                  </a:lnTo>
                  <a:lnTo>
                    <a:pt x="187833" y="4415917"/>
                  </a:lnTo>
                  <a:close/>
                </a:path>
                <a:path w="5382259" h="5384165">
                  <a:moveTo>
                    <a:pt x="187833" y="4371467"/>
                  </a:moveTo>
                  <a:lnTo>
                    <a:pt x="165608" y="4371467"/>
                  </a:lnTo>
                  <a:lnTo>
                    <a:pt x="165608" y="4393692"/>
                  </a:lnTo>
                  <a:lnTo>
                    <a:pt x="187833" y="4393692"/>
                  </a:lnTo>
                  <a:lnTo>
                    <a:pt x="187833" y="4371467"/>
                  </a:lnTo>
                  <a:close/>
                </a:path>
                <a:path w="5382259" h="5384165">
                  <a:moveTo>
                    <a:pt x="187833" y="4327017"/>
                  </a:moveTo>
                  <a:lnTo>
                    <a:pt x="165608" y="4327017"/>
                  </a:lnTo>
                  <a:lnTo>
                    <a:pt x="165608" y="4349242"/>
                  </a:lnTo>
                  <a:lnTo>
                    <a:pt x="187833" y="4349242"/>
                  </a:lnTo>
                  <a:lnTo>
                    <a:pt x="187833" y="4327017"/>
                  </a:lnTo>
                  <a:close/>
                </a:path>
                <a:path w="5382259" h="5384165">
                  <a:moveTo>
                    <a:pt x="187833" y="4282567"/>
                  </a:moveTo>
                  <a:lnTo>
                    <a:pt x="165608" y="4282567"/>
                  </a:lnTo>
                  <a:lnTo>
                    <a:pt x="165608" y="4304792"/>
                  </a:lnTo>
                  <a:lnTo>
                    <a:pt x="187833" y="4304792"/>
                  </a:lnTo>
                  <a:lnTo>
                    <a:pt x="187833" y="4282567"/>
                  </a:lnTo>
                  <a:close/>
                </a:path>
                <a:path w="5382259" h="5384165">
                  <a:moveTo>
                    <a:pt x="187833" y="4238117"/>
                  </a:moveTo>
                  <a:lnTo>
                    <a:pt x="165608" y="4238117"/>
                  </a:lnTo>
                  <a:lnTo>
                    <a:pt x="165608" y="4260342"/>
                  </a:lnTo>
                  <a:lnTo>
                    <a:pt x="187833" y="4260342"/>
                  </a:lnTo>
                  <a:lnTo>
                    <a:pt x="187833" y="4238117"/>
                  </a:lnTo>
                  <a:close/>
                </a:path>
                <a:path w="5382259" h="5384165">
                  <a:moveTo>
                    <a:pt x="187833" y="4193667"/>
                  </a:moveTo>
                  <a:lnTo>
                    <a:pt x="165608" y="4193667"/>
                  </a:lnTo>
                  <a:lnTo>
                    <a:pt x="165608" y="4215892"/>
                  </a:lnTo>
                  <a:lnTo>
                    <a:pt x="187833" y="4215892"/>
                  </a:lnTo>
                  <a:lnTo>
                    <a:pt x="187833" y="4193667"/>
                  </a:lnTo>
                  <a:close/>
                </a:path>
                <a:path w="5382259" h="5384165">
                  <a:moveTo>
                    <a:pt x="187833" y="4149217"/>
                  </a:moveTo>
                  <a:lnTo>
                    <a:pt x="165608" y="4149217"/>
                  </a:lnTo>
                  <a:lnTo>
                    <a:pt x="165608" y="4171442"/>
                  </a:lnTo>
                  <a:lnTo>
                    <a:pt x="187833" y="4171442"/>
                  </a:lnTo>
                  <a:lnTo>
                    <a:pt x="187833" y="4149217"/>
                  </a:lnTo>
                  <a:close/>
                </a:path>
                <a:path w="5382259" h="5384165">
                  <a:moveTo>
                    <a:pt x="187833" y="4104767"/>
                  </a:moveTo>
                  <a:lnTo>
                    <a:pt x="165608" y="4104767"/>
                  </a:lnTo>
                  <a:lnTo>
                    <a:pt x="165608" y="4126992"/>
                  </a:lnTo>
                  <a:lnTo>
                    <a:pt x="187833" y="4126992"/>
                  </a:lnTo>
                  <a:lnTo>
                    <a:pt x="187833" y="4104767"/>
                  </a:lnTo>
                  <a:close/>
                </a:path>
                <a:path w="5382259" h="5384165">
                  <a:moveTo>
                    <a:pt x="187833" y="4060317"/>
                  </a:moveTo>
                  <a:lnTo>
                    <a:pt x="165608" y="4060317"/>
                  </a:lnTo>
                  <a:lnTo>
                    <a:pt x="165608" y="4082542"/>
                  </a:lnTo>
                  <a:lnTo>
                    <a:pt x="187833" y="4082542"/>
                  </a:lnTo>
                  <a:lnTo>
                    <a:pt x="187833" y="4060317"/>
                  </a:lnTo>
                  <a:close/>
                </a:path>
                <a:path w="5382259" h="5384165">
                  <a:moveTo>
                    <a:pt x="187833" y="4015867"/>
                  </a:moveTo>
                  <a:lnTo>
                    <a:pt x="165608" y="4015867"/>
                  </a:lnTo>
                  <a:lnTo>
                    <a:pt x="165608" y="4038092"/>
                  </a:lnTo>
                  <a:lnTo>
                    <a:pt x="187833" y="4038092"/>
                  </a:lnTo>
                  <a:lnTo>
                    <a:pt x="187833" y="4015867"/>
                  </a:lnTo>
                  <a:close/>
                </a:path>
                <a:path w="5382259" h="5384165">
                  <a:moveTo>
                    <a:pt x="187833" y="3971417"/>
                  </a:moveTo>
                  <a:lnTo>
                    <a:pt x="165608" y="3971417"/>
                  </a:lnTo>
                  <a:lnTo>
                    <a:pt x="165608" y="3993642"/>
                  </a:lnTo>
                  <a:lnTo>
                    <a:pt x="187833" y="3993642"/>
                  </a:lnTo>
                  <a:lnTo>
                    <a:pt x="187833" y="3971417"/>
                  </a:lnTo>
                  <a:close/>
                </a:path>
                <a:path w="5382259" h="5384165">
                  <a:moveTo>
                    <a:pt x="187833" y="3926967"/>
                  </a:moveTo>
                  <a:lnTo>
                    <a:pt x="165608" y="3926967"/>
                  </a:lnTo>
                  <a:lnTo>
                    <a:pt x="165608" y="3949192"/>
                  </a:lnTo>
                  <a:lnTo>
                    <a:pt x="187833" y="3949192"/>
                  </a:lnTo>
                  <a:lnTo>
                    <a:pt x="187833" y="3926967"/>
                  </a:lnTo>
                  <a:close/>
                </a:path>
                <a:path w="5382259" h="5384165">
                  <a:moveTo>
                    <a:pt x="187833" y="3882517"/>
                  </a:moveTo>
                  <a:lnTo>
                    <a:pt x="165608" y="3882517"/>
                  </a:lnTo>
                  <a:lnTo>
                    <a:pt x="165608" y="3904742"/>
                  </a:lnTo>
                  <a:lnTo>
                    <a:pt x="187833" y="3904742"/>
                  </a:lnTo>
                  <a:lnTo>
                    <a:pt x="187833" y="3882517"/>
                  </a:lnTo>
                  <a:close/>
                </a:path>
                <a:path w="5382259" h="5384165">
                  <a:moveTo>
                    <a:pt x="187833" y="3838067"/>
                  </a:moveTo>
                  <a:lnTo>
                    <a:pt x="165608" y="3838067"/>
                  </a:lnTo>
                  <a:lnTo>
                    <a:pt x="165608" y="3860292"/>
                  </a:lnTo>
                  <a:lnTo>
                    <a:pt x="187833" y="3860292"/>
                  </a:lnTo>
                  <a:lnTo>
                    <a:pt x="187833" y="3838067"/>
                  </a:lnTo>
                  <a:close/>
                </a:path>
                <a:path w="5382259" h="5384165">
                  <a:moveTo>
                    <a:pt x="187833" y="3793617"/>
                  </a:moveTo>
                  <a:lnTo>
                    <a:pt x="165608" y="3793617"/>
                  </a:lnTo>
                  <a:lnTo>
                    <a:pt x="165608" y="3815842"/>
                  </a:lnTo>
                  <a:lnTo>
                    <a:pt x="187833" y="3815842"/>
                  </a:lnTo>
                  <a:lnTo>
                    <a:pt x="187833" y="3793617"/>
                  </a:lnTo>
                  <a:close/>
                </a:path>
                <a:path w="5382259" h="5384165">
                  <a:moveTo>
                    <a:pt x="187833" y="3749167"/>
                  </a:moveTo>
                  <a:lnTo>
                    <a:pt x="165608" y="3749167"/>
                  </a:lnTo>
                  <a:lnTo>
                    <a:pt x="165608" y="3771392"/>
                  </a:lnTo>
                  <a:lnTo>
                    <a:pt x="187833" y="3771392"/>
                  </a:lnTo>
                  <a:lnTo>
                    <a:pt x="187833" y="3749167"/>
                  </a:lnTo>
                  <a:close/>
                </a:path>
                <a:path w="5382259" h="5384165">
                  <a:moveTo>
                    <a:pt x="187833" y="3704717"/>
                  </a:moveTo>
                  <a:lnTo>
                    <a:pt x="165608" y="3704717"/>
                  </a:lnTo>
                  <a:lnTo>
                    <a:pt x="165608" y="3726942"/>
                  </a:lnTo>
                  <a:lnTo>
                    <a:pt x="187833" y="3726942"/>
                  </a:lnTo>
                  <a:lnTo>
                    <a:pt x="187833" y="3704717"/>
                  </a:lnTo>
                  <a:close/>
                </a:path>
                <a:path w="5382259" h="5384165">
                  <a:moveTo>
                    <a:pt x="187833" y="3660267"/>
                  </a:moveTo>
                  <a:lnTo>
                    <a:pt x="165608" y="3660267"/>
                  </a:lnTo>
                  <a:lnTo>
                    <a:pt x="165608" y="3682492"/>
                  </a:lnTo>
                  <a:lnTo>
                    <a:pt x="187833" y="3682492"/>
                  </a:lnTo>
                  <a:lnTo>
                    <a:pt x="187833" y="3660267"/>
                  </a:lnTo>
                  <a:close/>
                </a:path>
                <a:path w="5382259" h="5384165">
                  <a:moveTo>
                    <a:pt x="187833" y="3615817"/>
                  </a:moveTo>
                  <a:lnTo>
                    <a:pt x="165608" y="3615817"/>
                  </a:lnTo>
                  <a:lnTo>
                    <a:pt x="165608" y="3638042"/>
                  </a:lnTo>
                  <a:lnTo>
                    <a:pt x="187833" y="3638042"/>
                  </a:lnTo>
                  <a:lnTo>
                    <a:pt x="187833" y="3615817"/>
                  </a:lnTo>
                  <a:close/>
                </a:path>
                <a:path w="5382259" h="5384165">
                  <a:moveTo>
                    <a:pt x="187833" y="3571367"/>
                  </a:moveTo>
                  <a:lnTo>
                    <a:pt x="165608" y="3571367"/>
                  </a:lnTo>
                  <a:lnTo>
                    <a:pt x="165608" y="3593592"/>
                  </a:lnTo>
                  <a:lnTo>
                    <a:pt x="187833" y="3593592"/>
                  </a:lnTo>
                  <a:lnTo>
                    <a:pt x="187833" y="3571367"/>
                  </a:lnTo>
                  <a:close/>
                </a:path>
                <a:path w="5382259" h="5384165">
                  <a:moveTo>
                    <a:pt x="187833" y="3526917"/>
                  </a:moveTo>
                  <a:lnTo>
                    <a:pt x="165608" y="3526917"/>
                  </a:lnTo>
                  <a:lnTo>
                    <a:pt x="165608" y="3549142"/>
                  </a:lnTo>
                  <a:lnTo>
                    <a:pt x="187833" y="3549142"/>
                  </a:lnTo>
                  <a:lnTo>
                    <a:pt x="187833" y="3526917"/>
                  </a:lnTo>
                  <a:close/>
                </a:path>
                <a:path w="5382259" h="5384165">
                  <a:moveTo>
                    <a:pt x="187833" y="3482467"/>
                  </a:moveTo>
                  <a:lnTo>
                    <a:pt x="165608" y="3482467"/>
                  </a:lnTo>
                  <a:lnTo>
                    <a:pt x="165608" y="3504692"/>
                  </a:lnTo>
                  <a:lnTo>
                    <a:pt x="187833" y="3504692"/>
                  </a:lnTo>
                  <a:lnTo>
                    <a:pt x="187833" y="3482467"/>
                  </a:lnTo>
                  <a:close/>
                </a:path>
                <a:path w="5382259" h="5384165">
                  <a:moveTo>
                    <a:pt x="187833" y="3438017"/>
                  </a:moveTo>
                  <a:lnTo>
                    <a:pt x="165608" y="3438017"/>
                  </a:lnTo>
                  <a:lnTo>
                    <a:pt x="165608" y="3460242"/>
                  </a:lnTo>
                  <a:lnTo>
                    <a:pt x="187833" y="3460242"/>
                  </a:lnTo>
                  <a:lnTo>
                    <a:pt x="187833" y="3438017"/>
                  </a:lnTo>
                  <a:close/>
                </a:path>
                <a:path w="5382259" h="5384165">
                  <a:moveTo>
                    <a:pt x="187833" y="3393567"/>
                  </a:moveTo>
                  <a:lnTo>
                    <a:pt x="165608" y="3393567"/>
                  </a:lnTo>
                  <a:lnTo>
                    <a:pt x="165608" y="3415792"/>
                  </a:lnTo>
                  <a:lnTo>
                    <a:pt x="187833" y="3415792"/>
                  </a:lnTo>
                  <a:lnTo>
                    <a:pt x="187833" y="3393567"/>
                  </a:lnTo>
                  <a:close/>
                </a:path>
                <a:path w="5382259" h="5384165">
                  <a:moveTo>
                    <a:pt x="187833" y="3349117"/>
                  </a:moveTo>
                  <a:lnTo>
                    <a:pt x="165608" y="3349117"/>
                  </a:lnTo>
                  <a:lnTo>
                    <a:pt x="165608" y="3371342"/>
                  </a:lnTo>
                  <a:lnTo>
                    <a:pt x="187833" y="3371342"/>
                  </a:lnTo>
                  <a:lnTo>
                    <a:pt x="187833" y="3349117"/>
                  </a:lnTo>
                  <a:close/>
                </a:path>
                <a:path w="5382259" h="5384165">
                  <a:moveTo>
                    <a:pt x="187833" y="3304667"/>
                  </a:moveTo>
                  <a:lnTo>
                    <a:pt x="165608" y="3304667"/>
                  </a:lnTo>
                  <a:lnTo>
                    <a:pt x="165608" y="3326892"/>
                  </a:lnTo>
                  <a:lnTo>
                    <a:pt x="187833" y="3326892"/>
                  </a:lnTo>
                  <a:lnTo>
                    <a:pt x="187833" y="3304667"/>
                  </a:lnTo>
                  <a:close/>
                </a:path>
                <a:path w="5382259" h="5384165">
                  <a:moveTo>
                    <a:pt x="187833" y="3260217"/>
                  </a:moveTo>
                  <a:lnTo>
                    <a:pt x="165608" y="3260217"/>
                  </a:lnTo>
                  <a:lnTo>
                    <a:pt x="165608" y="3282442"/>
                  </a:lnTo>
                  <a:lnTo>
                    <a:pt x="187833" y="3282442"/>
                  </a:lnTo>
                  <a:lnTo>
                    <a:pt x="187833" y="3260217"/>
                  </a:lnTo>
                  <a:close/>
                </a:path>
                <a:path w="5382259" h="5384165">
                  <a:moveTo>
                    <a:pt x="187833" y="3215767"/>
                  </a:moveTo>
                  <a:lnTo>
                    <a:pt x="165608" y="3215767"/>
                  </a:lnTo>
                  <a:lnTo>
                    <a:pt x="165608" y="3237992"/>
                  </a:lnTo>
                  <a:lnTo>
                    <a:pt x="187833" y="3237992"/>
                  </a:lnTo>
                  <a:lnTo>
                    <a:pt x="187833" y="3215767"/>
                  </a:lnTo>
                  <a:close/>
                </a:path>
                <a:path w="5382259" h="5384165">
                  <a:moveTo>
                    <a:pt x="187833" y="3171317"/>
                  </a:moveTo>
                  <a:lnTo>
                    <a:pt x="165608" y="3171317"/>
                  </a:lnTo>
                  <a:lnTo>
                    <a:pt x="165608" y="3193542"/>
                  </a:lnTo>
                  <a:lnTo>
                    <a:pt x="187833" y="3193542"/>
                  </a:lnTo>
                  <a:lnTo>
                    <a:pt x="187833" y="3171317"/>
                  </a:lnTo>
                  <a:close/>
                </a:path>
                <a:path w="5382259" h="5384165">
                  <a:moveTo>
                    <a:pt x="187833" y="3126867"/>
                  </a:moveTo>
                  <a:lnTo>
                    <a:pt x="165608" y="3126867"/>
                  </a:lnTo>
                  <a:lnTo>
                    <a:pt x="165608" y="3149092"/>
                  </a:lnTo>
                  <a:lnTo>
                    <a:pt x="187833" y="3149092"/>
                  </a:lnTo>
                  <a:lnTo>
                    <a:pt x="187833" y="3126867"/>
                  </a:lnTo>
                  <a:close/>
                </a:path>
                <a:path w="5382259" h="5384165">
                  <a:moveTo>
                    <a:pt x="187833" y="3082417"/>
                  </a:moveTo>
                  <a:lnTo>
                    <a:pt x="165608" y="3082417"/>
                  </a:lnTo>
                  <a:lnTo>
                    <a:pt x="165608" y="3104642"/>
                  </a:lnTo>
                  <a:lnTo>
                    <a:pt x="187833" y="3104642"/>
                  </a:lnTo>
                  <a:lnTo>
                    <a:pt x="187833" y="3082417"/>
                  </a:lnTo>
                  <a:close/>
                </a:path>
                <a:path w="5382259" h="5384165">
                  <a:moveTo>
                    <a:pt x="187833" y="3037967"/>
                  </a:moveTo>
                  <a:lnTo>
                    <a:pt x="165608" y="3037967"/>
                  </a:lnTo>
                  <a:lnTo>
                    <a:pt x="165608" y="3060192"/>
                  </a:lnTo>
                  <a:lnTo>
                    <a:pt x="187833" y="3060192"/>
                  </a:lnTo>
                  <a:lnTo>
                    <a:pt x="187833" y="3037967"/>
                  </a:lnTo>
                  <a:close/>
                </a:path>
                <a:path w="5382259" h="5384165">
                  <a:moveTo>
                    <a:pt x="187833" y="2993517"/>
                  </a:moveTo>
                  <a:lnTo>
                    <a:pt x="165608" y="2993517"/>
                  </a:lnTo>
                  <a:lnTo>
                    <a:pt x="165608" y="3015742"/>
                  </a:lnTo>
                  <a:lnTo>
                    <a:pt x="187833" y="3015742"/>
                  </a:lnTo>
                  <a:lnTo>
                    <a:pt x="187833" y="2993517"/>
                  </a:lnTo>
                  <a:close/>
                </a:path>
                <a:path w="5382259" h="5384165">
                  <a:moveTo>
                    <a:pt x="187833" y="2949067"/>
                  </a:moveTo>
                  <a:lnTo>
                    <a:pt x="165608" y="2949067"/>
                  </a:lnTo>
                  <a:lnTo>
                    <a:pt x="165608" y="2971292"/>
                  </a:lnTo>
                  <a:lnTo>
                    <a:pt x="187833" y="2971292"/>
                  </a:lnTo>
                  <a:lnTo>
                    <a:pt x="187833" y="2949067"/>
                  </a:lnTo>
                  <a:close/>
                </a:path>
                <a:path w="5382259" h="5384165">
                  <a:moveTo>
                    <a:pt x="187833" y="2904617"/>
                  </a:moveTo>
                  <a:lnTo>
                    <a:pt x="165608" y="2904617"/>
                  </a:lnTo>
                  <a:lnTo>
                    <a:pt x="165608" y="2926842"/>
                  </a:lnTo>
                  <a:lnTo>
                    <a:pt x="187833" y="2926842"/>
                  </a:lnTo>
                  <a:lnTo>
                    <a:pt x="187833" y="2904617"/>
                  </a:lnTo>
                  <a:close/>
                </a:path>
                <a:path w="5382259" h="5384165">
                  <a:moveTo>
                    <a:pt x="187833" y="2860167"/>
                  </a:moveTo>
                  <a:lnTo>
                    <a:pt x="165608" y="2860167"/>
                  </a:lnTo>
                  <a:lnTo>
                    <a:pt x="165608" y="2882392"/>
                  </a:lnTo>
                  <a:lnTo>
                    <a:pt x="187833" y="2882392"/>
                  </a:lnTo>
                  <a:lnTo>
                    <a:pt x="187833" y="2860167"/>
                  </a:lnTo>
                  <a:close/>
                </a:path>
                <a:path w="5382259" h="5384165">
                  <a:moveTo>
                    <a:pt x="187833" y="2815717"/>
                  </a:moveTo>
                  <a:lnTo>
                    <a:pt x="165608" y="2815717"/>
                  </a:lnTo>
                  <a:lnTo>
                    <a:pt x="165608" y="2837942"/>
                  </a:lnTo>
                  <a:lnTo>
                    <a:pt x="187833" y="2837942"/>
                  </a:lnTo>
                  <a:lnTo>
                    <a:pt x="187833" y="2815717"/>
                  </a:lnTo>
                  <a:close/>
                </a:path>
                <a:path w="5382259" h="5384165">
                  <a:moveTo>
                    <a:pt x="187833" y="2771267"/>
                  </a:moveTo>
                  <a:lnTo>
                    <a:pt x="165608" y="2771267"/>
                  </a:lnTo>
                  <a:lnTo>
                    <a:pt x="165608" y="2793492"/>
                  </a:lnTo>
                  <a:lnTo>
                    <a:pt x="187833" y="2793492"/>
                  </a:lnTo>
                  <a:lnTo>
                    <a:pt x="187833" y="2771267"/>
                  </a:lnTo>
                  <a:close/>
                </a:path>
                <a:path w="5382259" h="5384165">
                  <a:moveTo>
                    <a:pt x="187833" y="2726817"/>
                  </a:moveTo>
                  <a:lnTo>
                    <a:pt x="165608" y="2726817"/>
                  </a:lnTo>
                  <a:lnTo>
                    <a:pt x="165608" y="2749042"/>
                  </a:lnTo>
                  <a:lnTo>
                    <a:pt x="187833" y="2749042"/>
                  </a:lnTo>
                  <a:lnTo>
                    <a:pt x="187833" y="2726817"/>
                  </a:lnTo>
                  <a:close/>
                </a:path>
                <a:path w="5382259" h="5384165">
                  <a:moveTo>
                    <a:pt x="187833" y="2682367"/>
                  </a:moveTo>
                  <a:lnTo>
                    <a:pt x="165608" y="2682367"/>
                  </a:lnTo>
                  <a:lnTo>
                    <a:pt x="165608" y="2704592"/>
                  </a:lnTo>
                  <a:lnTo>
                    <a:pt x="187833" y="2704592"/>
                  </a:lnTo>
                  <a:lnTo>
                    <a:pt x="187833" y="2682367"/>
                  </a:lnTo>
                  <a:close/>
                </a:path>
                <a:path w="5382259" h="5384165">
                  <a:moveTo>
                    <a:pt x="187833" y="2637929"/>
                  </a:moveTo>
                  <a:lnTo>
                    <a:pt x="165608" y="2637929"/>
                  </a:lnTo>
                  <a:lnTo>
                    <a:pt x="165608" y="2660142"/>
                  </a:lnTo>
                  <a:lnTo>
                    <a:pt x="187833" y="2660142"/>
                  </a:lnTo>
                  <a:lnTo>
                    <a:pt x="187833" y="2637929"/>
                  </a:lnTo>
                  <a:close/>
                </a:path>
                <a:path w="5382259" h="5384165">
                  <a:moveTo>
                    <a:pt x="187833" y="2593479"/>
                  </a:moveTo>
                  <a:lnTo>
                    <a:pt x="165608" y="2593479"/>
                  </a:lnTo>
                  <a:lnTo>
                    <a:pt x="165608" y="2615704"/>
                  </a:lnTo>
                  <a:lnTo>
                    <a:pt x="187833" y="2615704"/>
                  </a:lnTo>
                  <a:lnTo>
                    <a:pt x="187833" y="2593479"/>
                  </a:lnTo>
                  <a:close/>
                </a:path>
                <a:path w="5382259" h="5384165">
                  <a:moveTo>
                    <a:pt x="187833" y="2549017"/>
                  </a:moveTo>
                  <a:lnTo>
                    <a:pt x="165608" y="2549017"/>
                  </a:lnTo>
                  <a:lnTo>
                    <a:pt x="165608" y="2571242"/>
                  </a:lnTo>
                  <a:lnTo>
                    <a:pt x="187833" y="2571242"/>
                  </a:lnTo>
                  <a:lnTo>
                    <a:pt x="187833" y="2549017"/>
                  </a:lnTo>
                  <a:close/>
                </a:path>
                <a:path w="5382259" h="5384165">
                  <a:moveTo>
                    <a:pt x="187833" y="2504567"/>
                  </a:moveTo>
                  <a:lnTo>
                    <a:pt x="165608" y="2504567"/>
                  </a:lnTo>
                  <a:lnTo>
                    <a:pt x="165608" y="2526792"/>
                  </a:lnTo>
                  <a:lnTo>
                    <a:pt x="187833" y="2526792"/>
                  </a:lnTo>
                  <a:lnTo>
                    <a:pt x="187833" y="2504567"/>
                  </a:lnTo>
                  <a:close/>
                </a:path>
                <a:path w="5382259" h="5384165">
                  <a:moveTo>
                    <a:pt x="187833" y="2460117"/>
                  </a:moveTo>
                  <a:lnTo>
                    <a:pt x="165608" y="2460117"/>
                  </a:lnTo>
                  <a:lnTo>
                    <a:pt x="165608" y="2482342"/>
                  </a:lnTo>
                  <a:lnTo>
                    <a:pt x="187833" y="2482342"/>
                  </a:lnTo>
                  <a:lnTo>
                    <a:pt x="187833" y="2460117"/>
                  </a:lnTo>
                  <a:close/>
                </a:path>
                <a:path w="5382259" h="5384165">
                  <a:moveTo>
                    <a:pt x="187833" y="2415667"/>
                  </a:moveTo>
                  <a:lnTo>
                    <a:pt x="165608" y="2415667"/>
                  </a:lnTo>
                  <a:lnTo>
                    <a:pt x="165608" y="2437892"/>
                  </a:lnTo>
                  <a:lnTo>
                    <a:pt x="187833" y="2437892"/>
                  </a:lnTo>
                  <a:lnTo>
                    <a:pt x="187833" y="2415667"/>
                  </a:lnTo>
                  <a:close/>
                </a:path>
                <a:path w="5382259" h="5384165">
                  <a:moveTo>
                    <a:pt x="187833" y="2371217"/>
                  </a:moveTo>
                  <a:lnTo>
                    <a:pt x="165608" y="2371217"/>
                  </a:lnTo>
                  <a:lnTo>
                    <a:pt x="165608" y="2393442"/>
                  </a:lnTo>
                  <a:lnTo>
                    <a:pt x="187833" y="2393442"/>
                  </a:lnTo>
                  <a:lnTo>
                    <a:pt x="187833" y="2371217"/>
                  </a:lnTo>
                  <a:close/>
                </a:path>
                <a:path w="5382259" h="5384165">
                  <a:moveTo>
                    <a:pt x="187833" y="2326767"/>
                  </a:moveTo>
                  <a:lnTo>
                    <a:pt x="165608" y="2326767"/>
                  </a:lnTo>
                  <a:lnTo>
                    <a:pt x="165608" y="2348992"/>
                  </a:lnTo>
                  <a:lnTo>
                    <a:pt x="187833" y="2348992"/>
                  </a:lnTo>
                  <a:lnTo>
                    <a:pt x="187833" y="2326767"/>
                  </a:lnTo>
                  <a:close/>
                </a:path>
                <a:path w="5382259" h="5384165">
                  <a:moveTo>
                    <a:pt x="187833" y="2282317"/>
                  </a:moveTo>
                  <a:lnTo>
                    <a:pt x="165608" y="2282317"/>
                  </a:lnTo>
                  <a:lnTo>
                    <a:pt x="165608" y="2304542"/>
                  </a:lnTo>
                  <a:lnTo>
                    <a:pt x="187833" y="2304542"/>
                  </a:lnTo>
                  <a:lnTo>
                    <a:pt x="187833" y="2282317"/>
                  </a:lnTo>
                  <a:close/>
                </a:path>
                <a:path w="5382259" h="5384165">
                  <a:moveTo>
                    <a:pt x="187833" y="2237867"/>
                  </a:moveTo>
                  <a:lnTo>
                    <a:pt x="165608" y="2237867"/>
                  </a:lnTo>
                  <a:lnTo>
                    <a:pt x="165608" y="2260092"/>
                  </a:lnTo>
                  <a:lnTo>
                    <a:pt x="187833" y="2260092"/>
                  </a:lnTo>
                  <a:lnTo>
                    <a:pt x="187833" y="2237867"/>
                  </a:lnTo>
                  <a:close/>
                </a:path>
                <a:path w="5382259" h="5384165">
                  <a:moveTo>
                    <a:pt x="187833" y="2193417"/>
                  </a:moveTo>
                  <a:lnTo>
                    <a:pt x="165608" y="2193417"/>
                  </a:lnTo>
                  <a:lnTo>
                    <a:pt x="165608" y="2215642"/>
                  </a:lnTo>
                  <a:lnTo>
                    <a:pt x="187833" y="2215642"/>
                  </a:lnTo>
                  <a:lnTo>
                    <a:pt x="187833" y="2193417"/>
                  </a:lnTo>
                  <a:close/>
                </a:path>
                <a:path w="5382259" h="5384165">
                  <a:moveTo>
                    <a:pt x="187833" y="2148967"/>
                  </a:moveTo>
                  <a:lnTo>
                    <a:pt x="165608" y="2148967"/>
                  </a:lnTo>
                  <a:lnTo>
                    <a:pt x="165608" y="2171192"/>
                  </a:lnTo>
                  <a:lnTo>
                    <a:pt x="187833" y="2171192"/>
                  </a:lnTo>
                  <a:lnTo>
                    <a:pt x="187833" y="2148967"/>
                  </a:lnTo>
                  <a:close/>
                </a:path>
                <a:path w="5382259" h="5384165">
                  <a:moveTo>
                    <a:pt x="187833" y="2104517"/>
                  </a:moveTo>
                  <a:lnTo>
                    <a:pt x="165608" y="2104517"/>
                  </a:lnTo>
                  <a:lnTo>
                    <a:pt x="165608" y="2126742"/>
                  </a:lnTo>
                  <a:lnTo>
                    <a:pt x="187833" y="2126742"/>
                  </a:lnTo>
                  <a:lnTo>
                    <a:pt x="187833" y="2104517"/>
                  </a:lnTo>
                  <a:close/>
                </a:path>
                <a:path w="5382259" h="5384165">
                  <a:moveTo>
                    <a:pt x="187833" y="2060067"/>
                  </a:moveTo>
                  <a:lnTo>
                    <a:pt x="165608" y="2060067"/>
                  </a:lnTo>
                  <a:lnTo>
                    <a:pt x="165608" y="2082292"/>
                  </a:lnTo>
                  <a:lnTo>
                    <a:pt x="187833" y="2082292"/>
                  </a:lnTo>
                  <a:lnTo>
                    <a:pt x="187833" y="2060067"/>
                  </a:lnTo>
                  <a:close/>
                </a:path>
                <a:path w="5382259" h="5384165">
                  <a:moveTo>
                    <a:pt x="187833" y="2015617"/>
                  </a:moveTo>
                  <a:lnTo>
                    <a:pt x="165608" y="2015617"/>
                  </a:lnTo>
                  <a:lnTo>
                    <a:pt x="165608" y="2037842"/>
                  </a:lnTo>
                  <a:lnTo>
                    <a:pt x="187833" y="2037842"/>
                  </a:lnTo>
                  <a:lnTo>
                    <a:pt x="187833" y="2015617"/>
                  </a:lnTo>
                  <a:close/>
                </a:path>
                <a:path w="5382259" h="5384165">
                  <a:moveTo>
                    <a:pt x="187833" y="1971167"/>
                  </a:moveTo>
                  <a:lnTo>
                    <a:pt x="165608" y="1971167"/>
                  </a:lnTo>
                  <a:lnTo>
                    <a:pt x="165608" y="1993392"/>
                  </a:lnTo>
                  <a:lnTo>
                    <a:pt x="187833" y="1993392"/>
                  </a:lnTo>
                  <a:lnTo>
                    <a:pt x="187833" y="1971167"/>
                  </a:lnTo>
                  <a:close/>
                </a:path>
                <a:path w="5382259" h="5384165">
                  <a:moveTo>
                    <a:pt x="187833" y="1926717"/>
                  </a:moveTo>
                  <a:lnTo>
                    <a:pt x="165608" y="1926717"/>
                  </a:lnTo>
                  <a:lnTo>
                    <a:pt x="165608" y="1948942"/>
                  </a:lnTo>
                  <a:lnTo>
                    <a:pt x="187833" y="1948942"/>
                  </a:lnTo>
                  <a:lnTo>
                    <a:pt x="187833" y="1926717"/>
                  </a:lnTo>
                  <a:close/>
                </a:path>
                <a:path w="5382259" h="5384165">
                  <a:moveTo>
                    <a:pt x="187833" y="1882267"/>
                  </a:moveTo>
                  <a:lnTo>
                    <a:pt x="165608" y="1882267"/>
                  </a:lnTo>
                  <a:lnTo>
                    <a:pt x="165608" y="1904492"/>
                  </a:lnTo>
                  <a:lnTo>
                    <a:pt x="187833" y="1904492"/>
                  </a:lnTo>
                  <a:lnTo>
                    <a:pt x="187833" y="1882267"/>
                  </a:lnTo>
                  <a:close/>
                </a:path>
                <a:path w="5382259" h="5384165">
                  <a:moveTo>
                    <a:pt x="187833" y="1837817"/>
                  </a:moveTo>
                  <a:lnTo>
                    <a:pt x="165608" y="1837817"/>
                  </a:lnTo>
                  <a:lnTo>
                    <a:pt x="165608" y="1860042"/>
                  </a:lnTo>
                  <a:lnTo>
                    <a:pt x="187833" y="1860042"/>
                  </a:lnTo>
                  <a:lnTo>
                    <a:pt x="187833" y="1837817"/>
                  </a:lnTo>
                  <a:close/>
                </a:path>
                <a:path w="5382259" h="5384165">
                  <a:moveTo>
                    <a:pt x="187833" y="1793367"/>
                  </a:moveTo>
                  <a:lnTo>
                    <a:pt x="165608" y="1793367"/>
                  </a:lnTo>
                  <a:lnTo>
                    <a:pt x="165608" y="1815592"/>
                  </a:lnTo>
                  <a:lnTo>
                    <a:pt x="187833" y="1815592"/>
                  </a:lnTo>
                  <a:lnTo>
                    <a:pt x="187833" y="1793367"/>
                  </a:lnTo>
                  <a:close/>
                </a:path>
                <a:path w="5382259" h="5384165">
                  <a:moveTo>
                    <a:pt x="187833" y="1748917"/>
                  </a:moveTo>
                  <a:lnTo>
                    <a:pt x="165608" y="1748917"/>
                  </a:lnTo>
                  <a:lnTo>
                    <a:pt x="165608" y="1771142"/>
                  </a:lnTo>
                  <a:lnTo>
                    <a:pt x="187833" y="1771142"/>
                  </a:lnTo>
                  <a:lnTo>
                    <a:pt x="187833" y="1748917"/>
                  </a:lnTo>
                  <a:close/>
                </a:path>
                <a:path w="5382259" h="5384165">
                  <a:moveTo>
                    <a:pt x="187833" y="1704467"/>
                  </a:moveTo>
                  <a:lnTo>
                    <a:pt x="165608" y="1704467"/>
                  </a:lnTo>
                  <a:lnTo>
                    <a:pt x="165608" y="1726692"/>
                  </a:lnTo>
                  <a:lnTo>
                    <a:pt x="187833" y="1726692"/>
                  </a:lnTo>
                  <a:lnTo>
                    <a:pt x="187833" y="1704467"/>
                  </a:lnTo>
                  <a:close/>
                </a:path>
                <a:path w="5382259" h="5384165">
                  <a:moveTo>
                    <a:pt x="187833" y="189992"/>
                  </a:moveTo>
                  <a:lnTo>
                    <a:pt x="165608" y="189992"/>
                  </a:lnTo>
                  <a:lnTo>
                    <a:pt x="165608" y="212217"/>
                  </a:lnTo>
                  <a:lnTo>
                    <a:pt x="187833" y="212217"/>
                  </a:lnTo>
                  <a:lnTo>
                    <a:pt x="187833" y="189992"/>
                  </a:lnTo>
                  <a:close/>
                </a:path>
                <a:path w="5382259" h="5384165">
                  <a:moveTo>
                    <a:pt x="187833" y="145542"/>
                  </a:moveTo>
                  <a:lnTo>
                    <a:pt x="165608" y="145542"/>
                  </a:lnTo>
                  <a:lnTo>
                    <a:pt x="165608" y="167767"/>
                  </a:lnTo>
                  <a:lnTo>
                    <a:pt x="187833" y="167767"/>
                  </a:lnTo>
                  <a:lnTo>
                    <a:pt x="187833" y="145542"/>
                  </a:lnTo>
                  <a:close/>
                </a:path>
                <a:path w="5382259" h="5384165">
                  <a:moveTo>
                    <a:pt x="187833" y="101092"/>
                  </a:moveTo>
                  <a:lnTo>
                    <a:pt x="165608" y="101092"/>
                  </a:lnTo>
                  <a:lnTo>
                    <a:pt x="165608" y="123317"/>
                  </a:lnTo>
                  <a:lnTo>
                    <a:pt x="187833" y="123317"/>
                  </a:lnTo>
                  <a:lnTo>
                    <a:pt x="187833" y="101092"/>
                  </a:lnTo>
                  <a:close/>
                </a:path>
                <a:path w="5382259" h="5384165">
                  <a:moveTo>
                    <a:pt x="187833" y="56642"/>
                  </a:moveTo>
                  <a:lnTo>
                    <a:pt x="165608" y="56642"/>
                  </a:lnTo>
                  <a:lnTo>
                    <a:pt x="165608" y="78867"/>
                  </a:lnTo>
                  <a:lnTo>
                    <a:pt x="187833" y="78867"/>
                  </a:lnTo>
                  <a:lnTo>
                    <a:pt x="187833" y="56642"/>
                  </a:lnTo>
                  <a:close/>
                </a:path>
                <a:path w="5382259" h="5384165">
                  <a:moveTo>
                    <a:pt x="187833" y="12192"/>
                  </a:moveTo>
                  <a:lnTo>
                    <a:pt x="165608" y="12192"/>
                  </a:lnTo>
                  <a:lnTo>
                    <a:pt x="165608" y="34417"/>
                  </a:lnTo>
                  <a:lnTo>
                    <a:pt x="187833" y="34417"/>
                  </a:lnTo>
                  <a:lnTo>
                    <a:pt x="187833" y="12192"/>
                  </a:lnTo>
                  <a:close/>
                </a:path>
                <a:path w="5382259" h="5384165">
                  <a:moveTo>
                    <a:pt x="207391" y="1679575"/>
                  </a:moveTo>
                  <a:lnTo>
                    <a:pt x="185166" y="1679575"/>
                  </a:lnTo>
                  <a:lnTo>
                    <a:pt x="185166" y="1701800"/>
                  </a:lnTo>
                  <a:lnTo>
                    <a:pt x="207391" y="1701800"/>
                  </a:lnTo>
                  <a:lnTo>
                    <a:pt x="207391" y="1679575"/>
                  </a:lnTo>
                  <a:close/>
                </a:path>
                <a:path w="5382259" h="5384165">
                  <a:moveTo>
                    <a:pt x="209550" y="212852"/>
                  </a:moveTo>
                  <a:lnTo>
                    <a:pt x="187325" y="212852"/>
                  </a:lnTo>
                  <a:lnTo>
                    <a:pt x="187325" y="235077"/>
                  </a:lnTo>
                  <a:lnTo>
                    <a:pt x="209550" y="235077"/>
                  </a:lnTo>
                  <a:lnTo>
                    <a:pt x="209550" y="212852"/>
                  </a:lnTo>
                  <a:close/>
                </a:path>
                <a:path w="5382259" h="5384165">
                  <a:moveTo>
                    <a:pt x="353441" y="1690624"/>
                  </a:moveTo>
                  <a:lnTo>
                    <a:pt x="331343" y="1679575"/>
                  </a:lnTo>
                  <a:lnTo>
                    <a:pt x="226441" y="1627124"/>
                  </a:lnTo>
                  <a:lnTo>
                    <a:pt x="226441" y="1754124"/>
                  </a:lnTo>
                  <a:lnTo>
                    <a:pt x="331089" y="1701800"/>
                  </a:lnTo>
                  <a:lnTo>
                    <a:pt x="353441" y="1690624"/>
                  </a:lnTo>
                  <a:close/>
                </a:path>
                <a:path w="5382259" h="5384165">
                  <a:moveTo>
                    <a:pt x="353441" y="223901"/>
                  </a:moveTo>
                  <a:lnTo>
                    <a:pt x="331343" y="212852"/>
                  </a:lnTo>
                  <a:lnTo>
                    <a:pt x="226441" y="160401"/>
                  </a:lnTo>
                  <a:lnTo>
                    <a:pt x="226441" y="287401"/>
                  </a:lnTo>
                  <a:lnTo>
                    <a:pt x="331089" y="235077"/>
                  </a:lnTo>
                  <a:lnTo>
                    <a:pt x="353441" y="223901"/>
                  </a:lnTo>
                  <a:close/>
                </a:path>
                <a:path w="5382259" h="5384165">
                  <a:moveTo>
                    <a:pt x="2801493" y="5102085"/>
                  </a:moveTo>
                  <a:lnTo>
                    <a:pt x="2779268" y="5102085"/>
                  </a:lnTo>
                  <a:lnTo>
                    <a:pt x="2779268" y="5124310"/>
                  </a:lnTo>
                  <a:lnTo>
                    <a:pt x="2801493" y="5124310"/>
                  </a:lnTo>
                  <a:lnTo>
                    <a:pt x="2801493" y="5102085"/>
                  </a:lnTo>
                  <a:close/>
                </a:path>
                <a:path w="5382259" h="5384165">
                  <a:moveTo>
                    <a:pt x="2801493" y="5057635"/>
                  </a:moveTo>
                  <a:lnTo>
                    <a:pt x="2779268" y="5057635"/>
                  </a:lnTo>
                  <a:lnTo>
                    <a:pt x="2779268" y="5079860"/>
                  </a:lnTo>
                  <a:lnTo>
                    <a:pt x="2801493" y="5079860"/>
                  </a:lnTo>
                  <a:lnTo>
                    <a:pt x="2801493" y="5057635"/>
                  </a:lnTo>
                  <a:close/>
                </a:path>
                <a:path w="5382259" h="5384165">
                  <a:moveTo>
                    <a:pt x="2801493" y="5013185"/>
                  </a:moveTo>
                  <a:lnTo>
                    <a:pt x="2779268" y="5013185"/>
                  </a:lnTo>
                  <a:lnTo>
                    <a:pt x="2779268" y="5035410"/>
                  </a:lnTo>
                  <a:lnTo>
                    <a:pt x="2801493" y="5035410"/>
                  </a:lnTo>
                  <a:lnTo>
                    <a:pt x="2801493" y="5013185"/>
                  </a:lnTo>
                  <a:close/>
                </a:path>
                <a:path w="5382259" h="5384165">
                  <a:moveTo>
                    <a:pt x="2801493" y="4968735"/>
                  </a:moveTo>
                  <a:lnTo>
                    <a:pt x="2779268" y="4968735"/>
                  </a:lnTo>
                  <a:lnTo>
                    <a:pt x="2779268" y="4990960"/>
                  </a:lnTo>
                  <a:lnTo>
                    <a:pt x="2801493" y="4990960"/>
                  </a:lnTo>
                  <a:lnTo>
                    <a:pt x="2801493" y="4968735"/>
                  </a:lnTo>
                  <a:close/>
                </a:path>
                <a:path w="5382259" h="5384165">
                  <a:moveTo>
                    <a:pt x="2801493" y="4924285"/>
                  </a:moveTo>
                  <a:lnTo>
                    <a:pt x="2779268" y="4924285"/>
                  </a:lnTo>
                  <a:lnTo>
                    <a:pt x="2779268" y="4946510"/>
                  </a:lnTo>
                  <a:lnTo>
                    <a:pt x="2801493" y="4946510"/>
                  </a:lnTo>
                  <a:lnTo>
                    <a:pt x="2801493" y="4924285"/>
                  </a:lnTo>
                  <a:close/>
                </a:path>
                <a:path w="5382259" h="5384165">
                  <a:moveTo>
                    <a:pt x="2801493" y="4879835"/>
                  </a:moveTo>
                  <a:lnTo>
                    <a:pt x="2779268" y="4879835"/>
                  </a:lnTo>
                  <a:lnTo>
                    <a:pt x="2779268" y="4902060"/>
                  </a:lnTo>
                  <a:lnTo>
                    <a:pt x="2801493" y="4902060"/>
                  </a:lnTo>
                  <a:lnTo>
                    <a:pt x="2801493" y="4879835"/>
                  </a:lnTo>
                  <a:close/>
                </a:path>
                <a:path w="5382259" h="5384165">
                  <a:moveTo>
                    <a:pt x="2801493" y="4835385"/>
                  </a:moveTo>
                  <a:lnTo>
                    <a:pt x="2779268" y="4835385"/>
                  </a:lnTo>
                  <a:lnTo>
                    <a:pt x="2779268" y="4857610"/>
                  </a:lnTo>
                  <a:lnTo>
                    <a:pt x="2801493" y="4857610"/>
                  </a:lnTo>
                  <a:lnTo>
                    <a:pt x="2801493" y="4835385"/>
                  </a:lnTo>
                  <a:close/>
                </a:path>
                <a:path w="5382259" h="5384165">
                  <a:moveTo>
                    <a:pt x="2801493" y="4790935"/>
                  </a:moveTo>
                  <a:lnTo>
                    <a:pt x="2779268" y="4790935"/>
                  </a:lnTo>
                  <a:lnTo>
                    <a:pt x="2779268" y="4813160"/>
                  </a:lnTo>
                  <a:lnTo>
                    <a:pt x="2801493" y="4813160"/>
                  </a:lnTo>
                  <a:lnTo>
                    <a:pt x="2801493" y="4790935"/>
                  </a:lnTo>
                  <a:close/>
                </a:path>
                <a:path w="5382259" h="5384165">
                  <a:moveTo>
                    <a:pt x="2801493" y="4746485"/>
                  </a:moveTo>
                  <a:lnTo>
                    <a:pt x="2779268" y="4746485"/>
                  </a:lnTo>
                  <a:lnTo>
                    <a:pt x="2779268" y="4768710"/>
                  </a:lnTo>
                  <a:lnTo>
                    <a:pt x="2801493" y="4768710"/>
                  </a:lnTo>
                  <a:lnTo>
                    <a:pt x="2801493" y="4746485"/>
                  </a:lnTo>
                  <a:close/>
                </a:path>
                <a:path w="5382259" h="5384165">
                  <a:moveTo>
                    <a:pt x="2801493" y="4702035"/>
                  </a:moveTo>
                  <a:lnTo>
                    <a:pt x="2779268" y="4702035"/>
                  </a:lnTo>
                  <a:lnTo>
                    <a:pt x="2779268" y="4724260"/>
                  </a:lnTo>
                  <a:lnTo>
                    <a:pt x="2801493" y="4724260"/>
                  </a:lnTo>
                  <a:lnTo>
                    <a:pt x="2801493" y="4702035"/>
                  </a:lnTo>
                  <a:close/>
                </a:path>
                <a:path w="5382259" h="5384165">
                  <a:moveTo>
                    <a:pt x="2801493" y="4657585"/>
                  </a:moveTo>
                  <a:lnTo>
                    <a:pt x="2779268" y="4657585"/>
                  </a:lnTo>
                  <a:lnTo>
                    <a:pt x="2779268" y="4679810"/>
                  </a:lnTo>
                  <a:lnTo>
                    <a:pt x="2801493" y="4679810"/>
                  </a:lnTo>
                  <a:lnTo>
                    <a:pt x="2801493" y="4657585"/>
                  </a:lnTo>
                  <a:close/>
                </a:path>
                <a:path w="5382259" h="5384165">
                  <a:moveTo>
                    <a:pt x="2801493" y="4613148"/>
                  </a:moveTo>
                  <a:lnTo>
                    <a:pt x="2779268" y="4613148"/>
                  </a:lnTo>
                  <a:lnTo>
                    <a:pt x="2779268" y="4635360"/>
                  </a:lnTo>
                  <a:lnTo>
                    <a:pt x="2801493" y="4635360"/>
                  </a:lnTo>
                  <a:lnTo>
                    <a:pt x="2801493" y="4613148"/>
                  </a:lnTo>
                  <a:close/>
                </a:path>
                <a:path w="5382259" h="5384165">
                  <a:moveTo>
                    <a:pt x="2801493" y="4568698"/>
                  </a:moveTo>
                  <a:lnTo>
                    <a:pt x="2779268" y="4568698"/>
                  </a:lnTo>
                  <a:lnTo>
                    <a:pt x="2779268" y="4590923"/>
                  </a:lnTo>
                  <a:lnTo>
                    <a:pt x="2801493" y="4590923"/>
                  </a:lnTo>
                  <a:lnTo>
                    <a:pt x="2801493" y="4568698"/>
                  </a:lnTo>
                  <a:close/>
                </a:path>
                <a:path w="5382259" h="5384165">
                  <a:moveTo>
                    <a:pt x="2803906" y="5144173"/>
                  </a:moveTo>
                  <a:lnTo>
                    <a:pt x="2790444" y="5144173"/>
                  </a:lnTo>
                  <a:lnTo>
                    <a:pt x="2792780" y="5146535"/>
                  </a:lnTo>
                  <a:lnTo>
                    <a:pt x="2779268" y="5146535"/>
                  </a:lnTo>
                  <a:lnTo>
                    <a:pt x="2779268" y="5166398"/>
                  </a:lnTo>
                  <a:lnTo>
                    <a:pt x="2803906" y="5166398"/>
                  </a:lnTo>
                  <a:lnTo>
                    <a:pt x="2803906" y="5155285"/>
                  </a:lnTo>
                  <a:lnTo>
                    <a:pt x="2803906" y="5146535"/>
                  </a:lnTo>
                  <a:lnTo>
                    <a:pt x="2803906" y="5144173"/>
                  </a:lnTo>
                  <a:close/>
                </a:path>
                <a:path w="5382259" h="5384165">
                  <a:moveTo>
                    <a:pt x="2848356" y="5144173"/>
                  </a:moveTo>
                  <a:lnTo>
                    <a:pt x="2826131" y="5144173"/>
                  </a:lnTo>
                  <a:lnTo>
                    <a:pt x="2826131" y="5166398"/>
                  </a:lnTo>
                  <a:lnTo>
                    <a:pt x="2848356" y="5166398"/>
                  </a:lnTo>
                  <a:lnTo>
                    <a:pt x="2848356" y="5144173"/>
                  </a:lnTo>
                  <a:close/>
                </a:path>
                <a:path w="5382259" h="5384165">
                  <a:moveTo>
                    <a:pt x="2853944" y="4539488"/>
                  </a:moveTo>
                  <a:lnTo>
                    <a:pt x="2847594" y="4526788"/>
                  </a:lnTo>
                  <a:lnTo>
                    <a:pt x="2790444" y="4412488"/>
                  </a:lnTo>
                  <a:lnTo>
                    <a:pt x="2726944" y="4539488"/>
                  </a:lnTo>
                  <a:lnTo>
                    <a:pt x="2779268" y="4539488"/>
                  </a:lnTo>
                  <a:lnTo>
                    <a:pt x="2779268" y="4546473"/>
                  </a:lnTo>
                  <a:lnTo>
                    <a:pt x="2801493" y="4546473"/>
                  </a:lnTo>
                  <a:lnTo>
                    <a:pt x="2801493" y="4539488"/>
                  </a:lnTo>
                  <a:lnTo>
                    <a:pt x="2853944" y="4539488"/>
                  </a:lnTo>
                  <a:close/>
                </a:path>
                <a:path w="5382259" h="5384165">
                  <a:moveTo>
                    <a:pt x="2892806" y="5144173"/>
                  </a:moveTo>
                  <a:lnTo>
                    <a:pt x="2870581" y="5144173"/>
                  </a:lnTo>
                  <a:lnTo>
                    <a:pt x="2870581" y="5166398"/>
                  </a:lnTo>
                  <a:lnTo>
                    <a:pt x="2892806" y="5166398"/>
                  </a:lnTo>
                  <a:lnTo>
                    <a:pt x="2892806" y="5144173"/>
                  </a:lnTo>
                  <a:close/>
                </a:path>
                <a:path w="5382259" h="5384165">
                  <a:moveTo>
                    <a:pt x="2937256" y="5144173"/>
                  </a:moveTo>
                  <a:lnTo>
                    <a:pt x="2915031" y="5144173"/>
                  </a:lnTo>
                  <a:lnTo>
                    <a:pt x="2915031" y="5166398"/>
                  </a:lnTo>
                  <a:lnTo>
                    <a:pt x="2937256" y="5166398"/>
                  </a:lnTo>
                  <a:lnTo>
                    <a:pt x="2937256" y="5144173"/>
                  </a:lnTo>
                  <a:close/>
                </a:path>
                <a:path w="5382259" h="5384165">
                  <a:moveTo>
                    <a:pt x="2981706" y="5144173"/>
                  </a:moveTo>
                  <a:lnTo>
                    <a:pt x="2959481" y="5144173"/>
                  </a:lnTo>
                  <a:lnTo>
                    <a:pt x="2959481" y="5166398"/>
                  </a:lnTo>
                  <a:lnTo>
                    <a:pt x="2981706" y="5166398"/>
                  </a:lnTo>
                  <a:lnTo>
                    <a:pt x="2981706" y="5144173"/>
                  </a:lnTo>
                  <a:close/>
                </a:path>
                <a:path w="5382259" h="5384165">
                  <a:moveTo>
                    <a:pt x="3026156" y="5144173"/>
                  </a:moveTo>
                  <a:lnTo>
                    <a:pt x="3003931" y="5144173"/>
                  </a:lnTo>
                  <a:lnTo>
                    <a:pt x="3003931" y="5166398"/>
                  </a:lnTo>
                  <a:lnTo>
                    <a:pt x="3026156" y="5166398"/>
                  </a:lnTo>
                  <a:lnTo>
                    <a:pt x="3026156" y="5144173"/>
                  </a:lnTo>
                  <a:close/>
                </a:path>
                <a:path w="5382259" h="5384165">
                  <a:moveTo>
                    <a:pt x="3070606" y="5144173"/>
                  </a:moveTo>
                  <a:lnTo>
                    <a:pt x="3048381" y="5144173"/>
                  </a:lnTo>
                  <a:lnTo>
                    <a:pt x="3048381" y="5166398"/>
                  </a:lnTo>
                  <a:lnTo>
                    <a:pt x="3070606" y="5166398"/>
                  </a:lnTo>
                  <a:lnTo>
                    <a:pt x="3070606" y="5144173"/>
                  </a:lnTo>
                  <a:close/>
                </a:path>
                <a:path w="5382259" h="5384165">
                  <a:moveTo>
                    <a:pt x="3115056" y="5144173"/>
                  </a:moveTo>
                  <a:lnTo>
                    <a:pt x="3092831" y="5144173"/>
                  </a:lnTo>
                  <a:lnTo>
                    <a:pt x="3092831" y="5166398"/>
                  </a:lnTo>
                  <a:lnTo>
                    <a:pt x="3115056" y="5166398"/>
                  </a:lnTo>
                  <a:lnTo>
                    <a:pt x="3115056" y="5144173"/>
                  </a:lnTo>
                  <a:close/>
                </a:path>
                <a:path w="5382259" h="5384165">
                  <a:moveTo>
                    <a:pt x="3159506" y="5144173"/>
                  </a:moveTo>
                  <a:lnTo>
                    <a:pt x="3137281" y="5144173"/>
                  </a:lnTo>
                  <a:lnTo>
                    <a:pt x="3137281" y="5166398"/>
                  </a:lnTo>
                  <a:lnTo>
                    <a:pt x="3159506" y="5166398"/>
                  </a:lnTo>
                  <a:lnTo>
                    <a:pt x="3159506" y="5144173"/>
                  </a:lnTo>
                  <a:close/>
                </a:path>
                <a:path w="5382259" h="5384165">
                  <a:moveTo>
                    <a:pt x="3203956" y="5144173"/>
                  </a:moveTo>
                  <a:lnTo>
                    <a:pt x="3181731" y="5144173"/>
                  </a:lnTo>
                  <a:lnTo>
                    <a:pt x="3181731" y="5166398"/>
                  </a:lnTo>
                  <a:lnTo>
                    <a:pt x="3203956" y="5166398"/>
                  </a:lnTo>
                  <a:lnTo>
                    <a:pt x="3203956" y="5144173"/>
                  </a:lnTo>
                  <a:close/>
                </a:path>
                <a:path w="5382259" h="5384165">
                  <a:moveTo>
                    <a:pt x="3248406" y="5144173"/>
                  </a:moveTo>
                  <a:lnTo>
                    <a:pt x="3226181" y="5144173"/>
                  </a:lnTo>
                  <a:lnTo>
                    <a:pt x="3226181" y="5166398"/>
                  </a:lnTo>
                  <a:lnTo>
                    <a:pt x="3248406" y="5166398"/>
                  </a:lnTo>
                  <a:lnTo>
                    <a:pt x="3248406" y="5144173"/>
                  </a:lnTo>
                  <a:close/>
                </a:path>
                <a:path w="5382259" h="5384165">
                  <a:moveTo>
                    <a:pt x="3292856" y="5144173"/>
                  </a:moveTo>
                  <a:lnTo>
                    <a:pt x="3270631" y="5144173"/>
                  </a:lnTo>
                  <a:lnTo>
                    <a:pt x="3270631" y="5166398"/>
                  </a:lnTo>
                  <a:lnTo>
                    <a:pt x="3292856" y="5166398"/>
                  </a:lnTo>
                  <a:lnTo>
                    <a:pt x="3292856" y="5144173"/>
                  </a:lnTo>
                  <a:close/>
                </a:path>
                <a:path w="5382259" h="5384165">
                  <a:moveTo>
                    <a:pt x="3337306" y="5144173"/>
                  </a:moveTo>
                  <a:lnTo>
                    <a:pt x="3315081" y="5144173"/>
                  </a:lnTo>
                  <a:lnTo>
                    <a:pt x="3315081" y="5166398"/>
                  </a:lnTo>
                  <a:lnTo>
                    <a:pt x="3337306" y="5166398"/>
                  </a:lnTo>
                  <a:lnTo>
                    <a:pt x="3337306" y="5144173"/>
                  </a:lnTo>
                  <a:close/>
                </a:path>
                <a:path w="5382259" h="5384165">
                  <a:moveTo>
                    <a:pt x="3381756" y="5144173"/>
                  </a:moveTo>
                  <a:lnTo>
                    <a:pt x="3359531" y="5144173"/>
                  </a:lnTo>
                  <a:lnTo>
                    <a:pt x="3359531" y="5166398"/>
                  </a:lnTo>
                  <a:lnTo>
                    <a:pt x="3381756" y="5166398"/>
                  </a:lnTo>
                  <a:lnTo>
                    <a:pt x="3381756" y="5144173"/>
                  </a:lnTo>
                  <a:close/>
                </a:path>
                <a:path w="5382259" h="5384165">
                  <a:moveTo>
                    <a:pt x="3426206" y="5144173"/>
                  </a:moveTo>
                  <a:lnTo>
                    <a:pt x="3403981" y="5144173"/>
                  </a:lnTo>
                  <a:lnTo>
                    <a:pt x="3403981" y="5166398"/>
                  </a:lnTo>
                  <a:lnTo>
                    <a:pt x="3426206" y="5166398"/>
                  </a:lnTo>
                  <a:lnTo>
                    <a:pt x="3426206" y="5144173"/>
                  </a:lnTo>
                  <a:close/>
                </a:path>
                <a:path w="5382259" h="5384165">
                  <a:moveTo>
                    <a:pt x="3470656" y="5144173"/>
                  </a:moveTo>
                  <a:lnTo>
                    <a:pt x="3448431" y="5144173"/>
                  </a:lnTo>
                  <a:lnTo>
                    <a:pt x="3448431" y="5166398"/>
                  </a:lnTo>
                  <a:lnTo>
                    <a:pt x="3470656" y="5166398"/>
                  </a:lnTo>
                  <a:lnTo>
                    <a:pt x="3470656" y="5144173"/>
                  </a:lnTo>
                  <a:close/>
                </a:path>
                <a:path w="5382259" h="5384165">
                  <a:moveTo>
                    <a:pt x="3515106" y="5144173"/>
                  </a:moveTo>
                  <a:lnTo>
                    <a:pt x="3492881" y="5144173"/>
                  </a:lnTo>
                  <a:lnTo>
                    <a:pt x="3492881" y="5166398"/>
                  </a:lnTo>
                  <a:lnTo>
                    <a:pt x="3515106" y="5166398"/>
                  </a:lnTo>
                  <a:lnTo>
                    <a:pt x="3515106" y="5144173"/>
                  </a:lnTo>
                  <a:close/>
                </a:path>
                <a:path w="5382259" h="5384165">
                  <a:moveTo>
                    <a:pt x="3559556" y="5144173"/>
                  </a:moveTo>
                  <a:lnTo>
                    <a:pt x="3537331" y="5144173"/>
                  </a:lnTo>
                  <a:lnTo>
                    <a:pt x="3537331" y="5166398"/>
                  </a:lnTo>
                  <a:lnTo>
                    <a:pt x="3559556" y="5166398"/>
                  </a:lnTo>
                  <a:lnTo>
                    <a:pt x="3559556" y="5144173"/>
                  </a:lnTo>
                  <a:close/>
                </a:path>
                <a:path w="5382259" h="5384165">
                  <a:moveTo>
                    <a:pt x="3604006" y="5144173"/>
                  </a:moveTo>
                  <a:lnTo>
                    <a:pt x="3581781" y="5144173"/>
                  </a:lnTo>
                  <a:lnTo>
                    <a:pt x="3581781" y="5166398"/>
                  </a:lnTo>
                  <a:lnTo>
                    <a:pt x="3604006" y="5166398"/>
                  </a:lnTo>
                  <a:lnTo>
                    <a:pt x="3604006" y="5144173"/>
                  </a:lnTo>
                  <a:close/>
                </a:path>
                <a:path w="5382259" h="5384165">
                  <a:moveTo>
                    <a:pt x="3648456" y="5144173"/>
                  </a:moveTo>
                  <a:lnTo>
                    <a:pt x="3626231" y="5144173"/>
                  </a:lnTo>
                  <a:lnTo>
                    <a:pt x="3626231" y="5166398"/>
                  </a:lnTo>
                  <a:lnTo>
                    <a:pt x="3648456" y="5166398"/>
                  </a:lnTo>
                  <a:lnTo>
                    <a:pt x="3648456" y="5144173"/>
                  </a:lnTo>
                  <a:close/>
                </a:path>
                <a:path w="5382259" h="5384165">
                  <a:moveTo>
                    <a:pt x="3692906" y="5144173"/>
                  </a:moveTo>
                  <a:lnTo>
                    <a:pt x="3670681" y="5144173"/>
                  </a:lnTo>
                  <a:lnTo>
                    <a:pt x="3670681" y="5166398"/>
                  </a:lnTo>
                  <a:lnTo>
                    <a:pt x="3692906" y="5166398"/>
                  </a:lnTo>
                  <a:lnTo>
                    <a:pt x="3692906" y="5144173"/>
                  </a:lnTo>
                  <a:close/>
                </a:path>
                <a:path w="5382259" h="5384165">
                  <a:moveTo>
                    <a:pt x="3737356" y="5144173"/>
                  </a:moveTo>
                  <a:lnTo>
                    <a:pt x="3715131" y="5144173"/>
                  </a:lnTo>
                  <a:lnTo>
                    <a:pt x="3715131" y="5166398"/>
                  </a:lnTo>
                  <a:lnTo>
                    <a:pt x="3737356" y="5166398"/>
                  </a:lnTo>
                  <a:lnTo>
                    <a:pt x="3737356" y="5144173"/>
                  </a:lnTo>
                  <a:close/>
                </a:path>
                <a:path w="5382259" h="5384165">
                  <a:moveTo>
                    <a:pt x="3781806" y="5144173"/>
                  </a:moveTo>
                  <a:lnTo>
                    <a:pt x="3759581" y="5144173"/>
                  </a:lnTo>
                  <a:lnTo>
                    <a:pt x="3759581" y="5166398"/>
                  </a:lnTo>
                  <a:lnTo>
                    <a:pt x="3781806" y="5166398"/>
                  </a:lnTo>
                  <a:lnTo>
                    <a:pt x="3781806" y="5144173"/>
                  </a:lnTo>
                  <a:close/>
                </a:path>
                <a:path w="5382259" h="5384165">
                  <a:moveTo>
                    <a:pt x="3826256" y="5144173"/>
                  </a:moveTo>
                  <a:lnTo>
                    <a:pt x="3804031" y="5144173"/>
                  </a:lnTo>
                  <a:lnTo>
                    <a:pt x="3804031" y="5166398"/>
                  </a:lnTo>
                  <a:lnTo>
                    <a:pt x="3826256" y="5166398"/>
                  </a:lnTo>
                  <a:lnTo>
                    <a:pt x="3826256" y="5144173"/>
                  </a:lnTo>
                  <a:close/>
                </a:path>
                <a:path w="5382259" h="5384165">
                  <a:moveTo>
                    <a:pt x="3870706" y="5144173"/>
                  </a:moveTo>
                  <a:lnTo>
                    <a:pt x="3848481" y="5144173"/>
                  </a:lnTo>
                  <a:lnTo>
                    <a:pt x="3848481" y="5166398"/>
                  </a:lnTo>
                  <a:lnTo>
                    <a:pt x="3870706" y="5166398"/>
                  </a:lnTo>
                  <a:lnTo>
                    <a:pt x="3870706" y="5144173"/>
                  </a:lnTo>
                  <a:close/>
                </a:path>
                <a:path w="5382259" h="5384165">
                  <a:moveTo>
                    <a:pt x="3915156" y="5144173"/>
                  </a:moveTo>
                  <a:lnTo>
                    <a:pt x="3892931" y="5144173"/>
                  </a:lnTo>
                  <a:lnTo>
                    <a:pt x="3892931" y="5166398"/>
                  </a:lnTo>
                  <a:lnTo>
                    <a:pt x="3915156" y="5166398"/>
                  </a:lnTo>
                  <a:lnTo>
                    <a:pt x="3915156" y="5144173"/>
                  </a:lnTo>
                  <a:close/>
                </a:path>
                <a:path w="5382259" h="5384165">
                  <a:moveTo>
                    <a:pt x="3959606" y="5144173"/>
                  </a:moveTo>
                  <a:lnTo>
                    <a:pt x="3937381" y="5144173"/>
                  </a:lnTo>
                  <a:lnTo>
                    <a:pt x="3937381" y="5166398"/>
                  </a:lnTo>
                  <a:lnTo>
                    <a:pt x="3959606" y="5166398"/>
                  </a:lnTo>
                  <a:lnTo>
                    <a:pt x="3959606" y="5144173"/>
                  </a:lnTo>
                  <a:close/>
                </a:path>
                <a:path w="5382259" h="5384165">
                  <a:moveTo>
                    <a:pt x="4004056" y="5144173"/>
                  </a:moveTo>
                  <a:lnTo>
                    <a:pt x="3981831" y="5144173"/>
                  </a:lnTo>
                  <a:lnTo>
                    <a:pt x="3981831" y="5166398"/>
                  </a:lnTo>
                  <a:lnTo>
                    <a:pt x="4004056" y="5166398"/>
                  </a:lnTo>
                  <a:lnTo>
                    <a:pt x="4004056" y="5144173"/>
                  </a:lnTo>
                  <a:close/>
                </a:path>
                <a:path w="5382259" h="5384165">
                  <a:moveTo>
                    <a:pt x="4048506" y="5144173"/>
                  </a:moveTo>
                  <a:lnTo>
                    <a:pt x="4026281" y="5144173"/>
                  </a:lnTo>
                  <a:lnTo>
                    <a:pt x="4026281" y="5166398"/>
                  </a:lnTo>
                  <a:lnTo>
                    <a:pt x="4048506" y="5166398"/>
                  </a:lnTo>
                  <a:lnTo>
                    <a:pt x="4048506" y="5144173"/>
                  </a:lnTo>
                  <a:close/>
                </a:path>
                <a:path w="5382259" h="5384165">
                  <a:moveTo>
                    <a:pt x="4092956" y="5144173"/>
                  </a:moveTo>
                  <a:lnTo>
                    <a:pt x="4070731" y="5144173"/>
                  </a:lnTo>
                  <a:lnTo>
                    <a:pt x="4070731" y="5166398"/>
                  </a:lnTo>
                  <a:lnTo>
                    <a:pt x="4092956" y="5166398"/>
                  </a:lnTo>
                  <a:lnTo>
                    <a:pt x="4092956" y="5144173"/>
                  </a:lnTo>
                  <a:close/>
                </a:path>
                <a:path w="5382259" h="5384165">
                  <a:moveTo>
                    <a:pt x="4137406" y="5144173"/>
                  </a:moveTo>
                  <a:lnTo>
                    <a:pt x="4115181" y="5144173"/>
                  </a:lnTo>
                  <a:lnTo>
                    <a:pt x="4115181" y="5166398"/>
                  </a:lnTo>
                  <a:lnTo>
                    <a:pt x="4137406" y="5166398"/>
                  </a:lnTo>
                  <a:lnTo>
                    <a:pt x="4137406" y="5144173"/>
                  </a:lnTo>
                  <a:close/>
                </a:path>
                <a:path w="5382259" h="5384165">
                  <a:moveTo>
                    <a:pt x="4181856" y="5144173"/>
                  </a:moveTo>
                  <a:lnTo>
                    <a:pt x="4159631" y="5144173"/>
                  </a:lnTo>
                  <a:lnTo>
                    <a:pt x="4159631" y="5166398"/>
                  </a:lnTo>
                  <a:lnTo>
                    <a:pt x="4181856" y="5166398"/>
                  </a:lnTo>
                  <a:lnTo>
                    <a:pt x="4181856" y="5144173"/>
                  </a:lnTo>
                  <a:close/>
                </a:path>
                <a:path w="5382259" h="5384165">
                  <a:moveTo>
                    <a:pt x="4226306" y="5144173"/>
                  </a:moveTo>
                  <a:lnTo>
                    <a:pt x="4204081" y="5144173"/>
                  </a:lnTo>
                  <a:lnTo>
                    <a:pt x="4204081" y="5166398"/>
                  </a:lnTo>
                  <a:lnTo>
                    <a:pt x="4226306" y="5166398"/>
                  </a:lnTo>
                  <a:lnTo>
                    <a:pt x="4226306" y="5144173"/>
                  </a:lnTo>
                  <a:close/>
                </a:path>
                <a:path w="5382259" h="5384165">
                  <a:moveTo>
                    <a:pt x="4270756" y="5144173"/>
                  </a:moveTo>
                  <a:lnTo>
                    <a:pt x="4248531" y="5144173"/>
                  </a:lnTo>
                  <a:lnTo>
                    <a:pt x="4248531" y="5166398"/>
                  </a:lnTo>
                  <a:lnTo>
                    <a:pt x="4270756" y="5166398"/>
                  </a:lnTo>
                  <a:lnTo>
                    <a:pt x="4270756" y="5144173"/>
                  </a:lnTo>
                  <a:close/>
                </a:path>
                <a:path w="5382259" h="5384165">
                  <a:moveTo>
                    <a:pt x="4315206" y="5144173"/>
                  </a:moveTo>
                  <a:lnTo>
                    <a:pt x="4292981" y="5144173"/>
                  </a:lnTo>
                  <a:lnTo>
                    <a:pt x="4292981" y="5166398"/>
                  </a:lnTo>
                  <a:lnTo>
                    <a:pt x="4315206" y="5166398"/>
                  </a:lnTo>
                  <a:lnTo>
                    <a:pt x="4315206" y="5144173"/>
                  </a:lnTo>
                  <a:close/>
                </a:path>
                <a:path w="5382259" h="5384165">
                  <a:moveTo>
                    <a:pt x="4359656" y="5144173"/>
                  </a:moveTo>
                  <a:lnTo>
                    <a:pt x="4337431" y="5144173"/>
                  </a:lnTo>
                  <a:lnTo>
                    <a:pt x="4337431" y="5166398"/>
                  </a:lnTo>
                  <a:lnTo>
                    <a:pt x="4359656" y="5166398"/>
                  </a:lnTo>
                  <a:lnTo>
                    <a:pt x="4359656" y="5144173"/>
                  </a:lnTo>
                  <a:close/>
                </a:path>
                <a:path w="5382259" h="5384165">
                  <a:moveTo>
                    <a:pt x="4404106" y="5144173"/>
                  </a:moveTo>
                  <a:lnTo>
                    <a:pt x="4381881" y="5144173"/>
                  </a:lnTo>
                  <a:lnTo>
                    <a:pt x="4381881" y="5166398"/>
                  </a:lnTo>
                  <a:lnTo>
                    <a:pt x="4404106" y="5166398"/>
                  </a:lnTo>
                  <a:lnTo>
                    <a:pt x="4404106" y="5144173"/>
                  </a:lnTo>
                  <a:close/>
                </a:path>
                <a:path w="5382259" h="5384165">
                  <a:moveTo>
                    <a:pt x="4448556" y="5144173"/>
                  </a:moveTo>
                  <a:lnTo>
                    <a:pt x="4426331" y="5144173"/>
                  </a:lnTo>
                  <a:lnTo>
                    <a:pt x="4426331" y="5166398"/>
                  </a:lnTo>
                  <a:lnTo>
                    <a:pt x="4448556" y="5166398"/>
                  </a:lnTo>
                  <a:lnTo>
                    <a:pt x="4448556" y="5144173"/>
                  </a:lnTo>
                  <a:close/>
                </a:path>
                <a:path w="5382259" h="5384165">
                  <a:moveTo>
                    <a:pt x="4493006" y="5144173"/>
                  </a:moveTo>
                  <a:lnTo>
                    <a:pt x="4470781" y="5144173"/>
                  </a:lnTo>
                  <a:lnTo>
                    <a:pt x="4470781" y="5166398"/>
                  </a:lnTo>
                  <a:lnTo>
                    <a:pt x="4493006" y="5166398"/>
                  </a:lnTo>
                  <a:lnTo>
                    <a:pt x="4493006" y="5144173"/>
                  </a:lnTo>
                  <a:close/>
                </a:path>
                <a:path w="5382259" h="5384165">
                  <a:moveTo>
                    <a:pt x="4537456" y="5144173"/>
                  </a:moveTo>
                  <a:lnTo>
                    <a:pt x="4515231" y="5144173"/>
                  </a:lnTo>
                  <a:lnTo>
                    <a:pt x="4515231" y="5166398"/>
                  </a:lnTo>
                  <a:lnTo>
                    <a:pt x="4537456" y="5166398"/>
                  </a:lnTo>
                  <a:lnTo>
                    <a:pt x="4537456" y="5144173"/>
                  </a:lnTo>
                  <a:close/>
                </a:path>
                <a:path w="5382259" h="5384165">
                  <a:moveTo>
                    <a:pt x="4581906" y="5144173"/>
                  </a:moveTo>
                  <a:lnTo>
                    <a:pt x="4559681" y="5144173"/>
                  </a:lnTo>
                  <a:lnTo>
                    <a:pt x="4559681" y="5166398"/>
                  </a:lnTo>
                  <a:lnTo>
                    <a:pt x="4581906" y="5166398"/>
                  </a:lnTo>
                  <a:lnTo>
                    <a:pt x="4581906" y="5144173"/>
                  </a:lnTo>
                  <a:close/>
                </a:path>
                <a:path w="5382259" h="5384165">
                  <a:moveTo>
                    <a:pt x="4626356" y="5144173"/>
                  </a:moveTo>
                  <a:lnTo>
                    <a:pt x="4604131" y="5144173"/>
                  </a:lnTo>
                  <a:lnTo>
                    <a:pt x="4604131" y="5166398"/>
                  </a:lnTo>
                  <a:lnTo>
                    <a:pt x="4626356" y="5166398"/>
                  </a:lnTo>
                  <a:lnTo>
                    <a:pt x="4626356" y="5144173"/>
                  </a:lnTo>
                  <a:close/>
                </a:path>
                <a:path w="5382259" h="5384165">
                  <a:moveTo>
                    <a:pt x="4670806" y="5144173"/>
                  </a:moveTo>
                  <a:lnTo>
                    <a:pt x="4648581" y="5144173"/>
                  </a:lnTo>
                  <a:lnTo>
                    <a:pt x="4648581" y="5166398"/>
                  </a:lnTo>
                  <a:lnTo>
                    <a:pt x="4670806" y="5166398"/>
                  </a:lnTo>
                  <a:lnTo>
                    <a:pt x="4670806" y="5144173"/>
                  </a:lnTo>
                  <a:close/>
                </a:path>
                <a:path w="5382259" h="5384165">
                  <a:moveTo>
                    <a:pt x="4715256" y="5144173"/>
                  </a:moveTo>
                  <a:lnTo>
                    <a:pt x="4693031" y="5144173"/>
                  </a:lnTo>
                  <a:lnTo>
                    <a:pt x="4693031" y="5166398"/>
                  </a:lnTo>
                  <a:lnTo>
                    <a:pt x="4715256" y="5166398"/>
                  </a:lnTo>
                  <a:lnTo>
                    <a:pt x="4715256" y="5144173"/>
                  </a:lnTo>
                  <a:close/>
                </a:path>
                <a:path w="5382259" h="5384165">
                  <a:moveTo>
                    <a:pt x="4759706" y="5144173"/>
                  </a:moveTo>
                  <a:lnTo>
                    <a:pt x="4737481" y="5144173"/>
                  </a:lnTo>
                  <a:lnTo>
                    <a:pt x="4737481" y="5166398"/>
                  </a:lnTo>
                  <a:lnTo>
                    <a:pt x="4759706" y="5166398"/>
                  </a:lnTo>
                  <a:lnTo>
                    <a:pt x="4759706" y="5144173"/>
                  </a:lnTo>
                  <a:close/>
                </a:path>
                <a:path w="5382259" h="5384165">
                  <a:moveTo>
                    <a:pt x="4804156" y="5144173"/>
                  </a:moveTo>
                  <a:lnTo>
                    <a:pt x="4781931" y="5144173"/>
                  </a:lnTo>
                  <a:lnTo>
                    <a:pt x="4781931" y="5166398"/>
                  </a:lnTo>
                  <a:lnTo>
                    <a:pt x="4804156" y="5166398"/>
                  </a:lnTo>
                  <a:lnTo>
                    <a:pt x="4804156" y="5144173"/>
                  </a:lnTo>
                  <a:close/>
                </a:path>
                <a:path w="5382259" h="5384165">
                  <a:moveTo>
                    <a:pt x="4848606" y="5144173"/>
                  </a:moveTo>
                  <a:lnTo>
                    <a:pt x="4826381" y="5144173"/>
                  </a:lnTo>
                  <a:lnTo>
                    <a:pt x="4826381" y="5166398"/>
                  </a:lnTo>
                  <a:lnTo>
                    <a:pt x="4848606" y="5166398"/>
                  </a:lnTo>
                  <a:lnTo>
                    <a:pt x="4848606" y="5144173"/>
                  </a:lnTo>
                  <a:close/>
                </a:path>
                <a:path w="5382259" h="5384165">
                  <a:moveTo>
                    <a:pt x="4893056" y="5144173"/>
                  </a:moveTo>
                  <a:lnTo>
                    <a:pt x="4870831" y="5144173"/>
                  </a:lnTo>
                  <a:lnTo>
                    <a:pt x="4870831" y="5166398"/>
                  </a:lnTo>
                  <a:lnTo>
                    <a:pt x="4893056" y="5166398"/>
                  </a:lnTo>
                  <a:lnTo>
                    <a:pt x="4893056" y="5144173"/>
                  </a:lnTo>
                  <a:close/>
                </a:path>
                <a:path w="5382259" h="5384165">
                  <a:moveTo>
                    <a:pt x="4937506" y="5144173"/>
                  </a:moveTo>
                  <a:lnTo>
                    <a:pt x="4915281" y="5144173"/>
                  </a:lnTo>
                  <a:lnTo>
                    <a:pt x="4915281" y="5166398"/>
                  </a:lnTo>
                  <a:lnTo>
                    <a:pt x="4937506" y="5166398"/>
                  </a:lnTo>
                  <a:lnTo>
                    <a:pt x="4937506" y="5144173"/>
                  </a:lnTo>
                  <a:close/>
                </a:path>
                <a:path w="5382259" h="5384165">
                  <a:moveTo>
                    <a:pt x="4981956" y="5144173"/>
                  </a:moveTo>
                  <a:lnTo>
                    <a:pt x="4959731" y="5144173"/>
                  </a:lnTo>
                  <a:lnTo>
                    <a:pt x="4959731" y="5166398"/>
                  </a:lnTo>
                  <a:lnTo>
                    <a:pt x="4981956" y="5166398"/>
                  </a:lnTo>
                  <a:lnTo>
                    <a:pt x="4981956" y="5144173"/>
                  </a:lnTo>
                  <a:close/>
                </a:path>
                <a:path w="5382259" h="5384165">
                  <a:moveTo>
                    <a:pt x="5026406" y="5144173"/>
                  </a:moveTo>
                  <a:lnTo>
                    <a:pt x="5004181" y="5144173"/>
                  </a:lnTo>
                  <a:lnTo>
                    <a:pt x="5004181" y="5166398"/>
                  </a:lnTo>
                  <a:lnTo>
                    <a:pt x="5026406" y="5166398"/>
                  </a:lnTo>
                  <a:lnTo>
                    <a:pt x="5026406" y="5144173"/>
                  </a:lnTo>
                  <a:close/>
                </a:path>
                <a:path w="5382259" h="5384165">
                  <a:moveTo>
                    <a:pt x="5070856" y="5144173"/>
                  </a:moveTo>
                  <a:lnTo>
                    <a:pt x="5048631" y="5144173"/>
                  </a:lnTo>
                  <a:lnTo>
                    <a:pt x="5048631" y="5166398"/>
                  </a:lnTo>
                  <a:lnTo>
                    <a:pt x="5070856" y="5166398"/>
                  </a:lnTo>
                  <a:lnTo>
                    <a:pt x="5070856" y="5144173"/>
                  </a:lnTo>
                  <a:close/>
                </a:path>
                <a:path w="5382259" h="5384165">
                  <a:moveTo>
                    <a:pt x="5115306" y="5144173"/>
                  </a:moveTo>
                  <a:lnTo>
                    <a:pt x="5093081" y="5144173"/>
                  </a:lnTo>
                  <a:lnTo>
                    <a:pt x="5093081" y="5166398"/>
                  </a:lnTo>
                  <a:lnTo>
                    <a:pt x="5115306" y="5166398"/>
                  </a:lnTo>
                  <a:lnTo>
                    <a:pt x="5115306" y="5144173"/>
                  </a:lnTo>
                  <a:close/>
                </a:path>
                <a:path w="5382259" h="5384165">
                  <a:moveTo>
                    <a:pt x="5159756" y="5144173"/>
                  </a:moveTo>
                  <a:lnTo>
                    <a:pt x="5137531" y="5144173"/>
                  </a:lnTo>
                  <a:lnTo>
                    <a:pt x="5137531" y="5166398"/>
                  </a:lnTo>
                  <a:lnTo>
                    <a:pt x="5159756" y="5166398"/>
                  </a:lnTo>
                  <a:lnTo>
                    <a:pt x="5159756" y="5144173"/>
                  </a:lnTo>
                  <a:close/>
                </a:path>
                <a:path w="5382259" h="5384165">
                  <a:moveTo>
                    <a:pt x="5204206" y="5144173"/>
                  </a:moveTo>
                  <a:lnTo>
                    <a:pt x="5181981" y="5144173"/>
                  </a:lnTo>
                  <a:lnTo>
                    <a:pt x="5181981" y="5166398"/>
                  </a:lnTo>
                  <a:lnTo>
                    <a:pt x="5204206" y="5166398"/>
                  </a:lnTo>
                  <a:lnTo>
                    <a:pt x="5204206" y="5144173"/>
                  </a:lnTo>
                  <a:close/>
                </a:path>
                <a:path w="5382259" h="5384165">
                  <a:moveTo>
                    <a:pt x="5248656" y="5144173"/>
                  </a:moveTo>
                  <a:lnTo>
                    <a:pt x="5226431" y="5144173"/>
                  </a:lnTo>
                  <a:lnTo>
                    <a:pt x="5226431" y="5166398"/>
                  </a:lnTo>
                  <a:lnTo>
                    <a:pt x="5248656" y="5166398"/>
                  </a:lnTo>
                  <a:lnTo>
                    <a:pt x="5248656" y="5144173"/>
                  </a:lnTo>
                  <a:close/>
                </a:path>
                <a:path w="5382259" h="5384165">
                  <a:moveTo>
                    <a:pt x="5293106" y="5144173"/>
                  </a:moveTo>
                  <a:lnTo>
                    <a:pt x="5270881" y="5144173"/>
                  </a:lnTo>
                  <a:lnTo>
                    <a:pt x="5270881" y="5166398"/>
                  </a:lnTo>
                  <a:lnTo>
                    <a:pt x="5293106" y="5166398"/>
                  </a:lnTo>
                  <a:lnTo>
                    <a:pt x="5293106" y="5144173"/>
                  </a:lnTo>
                  <a:close/>
                </a:path>
                <a:path w="5382259" h="5384165">
                  <a:moveTo>
                    <a:pt x="5337556" y="5144173"/>
                  </a:moveTo>
                  <a:lnTo>
                    <a:pt x="5315331" y="5144173"/>
                  </a:lnTo>
                  <a:lnTo>
                    <a:pt x="5315331" y="5166398"/>
                  </a:lnTo>
                  <a:lnTo>
                    <a:pt x="5337556" y="5166398"/>
                  </a:lnTo>
                  <a:lnTo>
                    <a:pt x="5337556" y="5144173"/>
                  </a:lnTo>
                  <a:close/>
                </a:path>
                <a:path w="5382259" h="5384165">
                  <a:moveTo>
                    <a:pt x="5382006" y="5144173"/>
                  </a:moveTo>
                  <a:lnTo>
                    <a:pt x="5359781" y="5144173"/>
                  </a:lnTo>
                  <a:lnTo>
                    <a:pt x="5359781" y="5166398"/>
                  </a:lnTo>
                  <a:lnTo>
                    <a:pt x="5382006" y="5166398"/>
                  </a:lnTo>
                  <a:lnTo>
                    <a:pt x="5382006" y="514417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23332" y="3785616"/>
              <a:ext cx="5103875" cy="157886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  <a:r>
              <a:rPr spc="-110" dirty="0"/>
              <a:t> </a:t>
            </a:r>
            <a:r>
              <a:rPr dirty="0"/>
              <a:t>Strategy</a:t>
            </a:r>
            <a:r>
              <a:rPr spc="-130" dirty="0"/>
              <a:t> </a:t>
            </a:r>
            <a:r>
              <a:rPr dirty="0"/>
              <a:t>Best</a:t>
            </a:r>
            <a:r>
              <a:rPr spc="-114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8371" y="909320"/>
            <a:ext cx="3098800" cy="211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Develop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“banners”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for</a:t>
            </a:r>
            <a:endParaRPr sz="18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reusable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messages</a:t>
            </a:r>
            <a:endParaRPr sz="1800">
              <a:latin typeface="Calibri"/>
              <a:cs typeface="Calibri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brands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have </a:t>
            </a:r>
            <a:r>
              <a:rPr sz="1600" spc="-10" dirty="0">
                <a:latin typeface="Calibri"/>
                <a:cs typeface="Calibri"/>
              </a:rPr>
              <a:t>“banners”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information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consistently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</a:t>
            </a:r>
            <a:r>
              <a:rPr sz="1600" spc="-10" dirty="0">
                <a:latin typeface="Calibri"/>
                <a:cs typeface="Calibri"/>
              </a:rPr>
              <a:t>subscribers,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0" dirty="0">
                <a:latin typeface="Calibri"/>
                <a:cs typeface="Calibri"/>
              </a:rPr>
              <a:t> payment </a:t>
            </a:r>
            <a:r>
              <a:rPr sz="1600" dirty="0">
                <a:latin typeface="Calibri"/>
                <a:cs typeface="Calibri"/>
              </a:rPr>
              <a:t>options,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reminders.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  <a:r>
              <a:rPr spc="-110" dirty="0"/>
              <a:t> </a:t>
            </a:r>
            <a:r>
              <a:rPr dirty="0"/>
              <a:t>Strategy</a:t>
            </a:r>
            <a:r>
              <a:rPr spc="-130" dirty="0"/>
              <a:t> </a:t>
            </a:r>
            <a:r>
              <a:rPr dirty="0"/>
              <a:t>Best</a:t>
            </a:r>
            <a:r>
              <a:rPr spc="-114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371" y="909320"/>
            <a:ext cx="5225415" cy="138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Customize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content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based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audience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segment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past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behavior</a:t>
            </a:r>
            <a:endParaRPr sz="1800">
              <a:latin typeface="Calibri"/>
              <a:cs typeface="Calibri"/>
            </a:endParaRPr>
          </a:p>
          <a:p>
            <a:pPr marL="469900" marR="4381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spc="-10" dirty="0">
                <a:latin typeface="Calibri"/>
                <a:cs typeface="Calibri"/>
              </a:rPr>
              <a:t>segmentation,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purchase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behavior,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past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engagement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geographic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location.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954" y="648106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72554" y="883903"/>
            <a:ext cx="5523230" cy="5320030"/>
            <a:chOff x="6472554" y="883903"/>
            <a:chExt cx="5523230" cy="53200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4795" y="883903"/>
              <a:ext cx="2069697" cy="51343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2467" y="891539"/>
              <a:ext cx="2004060" cy="5068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9437" y="883903"/>
              <a:ext cx="2695976" cy="51343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07067" y="891540"/>
              <a:ext cx="2630423" cy="50688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15505" y="2661666"/>
              <a:ext cx="1160145" cy="1134110"/>
            </a:xfrm>
            <a:custGeom>
              <a:avLst/>
              <a:gdLst/>
              <a:ahLst/>
              <a:cxnLst/>
              <a:rect l="l" t="t" r="r" b="b"/>
              <a:pathLst>
                <a:path w="1160145" h="1134110">
                  <a:moveTo>
                    <a:pt x="0" y="1133855"/>
                  </a:moveTo>
                  <a:lnTo>
                    <a:pt x="1159763" y="1133855"/>
                  </a:lnTo>
                  <a:lnTo>
                    <a:pt x="1159763" y="0"/>
                  </a:lnTo>
                  <a:lnTo>
                    <a:pt x="0" y="0"/>
                  </a:lnTo>
                  <a:lnTo>
                    <a:pt x="0" y="1133855"/>
                  </a:lnTo>
                  <a:close/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2554" y="3214242"/>
              <a:ext cx="4222115" cy="2989580"/>
            </a:xfrm>
            <a:custGeom>
              <a:avLst/>
              <a:gdLst/>
              <a:ahLst/>
              <a:cxnLst/>
              <a:rect l="l" t="t" r="r" b="b"/>
              <a:pathLst>
                <a:path w="4222115" h="2989579">
                  <a:moveTo>
                    <a:pt x="242950" y="0"/>
                  </a:moveTo>
                  <a:lnTo>
                    <a:pt x="0" y="0"/>
                  </a:lnTo>
                  <a:lnTo>
                    <a:pt x="0" y="2989249"/>
                  </a:lnTo>
                  <a:lnTo>
                    <a:pt x="4164965" y="2989249"/>
                  </a:lnTo>
                  <a:lnTo>
                    <a:pt x="4164965" y="2974962"/>
                  </a:lnTo>
                  <a:lnTo>
                    <a:pt x="28575" y="2974962"/>
                  </a:lnTo>
                  <a:lnTo>
                    <a:pt x="14350" y="2960674"/>
                  </a:lnTo>
                  <a:lnTo>
                    <a:pt x="28575" y="2960674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1"/>
                  </a:lnTo>
                  <a:lnTo>
                    <a:pt x="242950" y="14351"/>
                  </a:lnTo>
                  <a:lnTo>
                    <a:pt x="242950" y="0"/>
                  </a:lnTo>
                  <a:close/>
                </a:path>
                <a:path w="4222115" h="2989579">
                  <a:moveTo>
                    <a:pt x="28575" y="2960674"/>
                  </a:moveTo>
                  <a:lnTo>
                    <a:pt x="14350" y="2960674"/>
                  </a:lnTo>
                  <a:lnTo>
                    <a:pt x="28575" y="2974962"/>
                  </a:lnTo>
                  <a:lnTo>
                    <a:pt x="28575" y="2960674"/>
                  </a:lnTo>
                  <a:close/>
                </a:path>
                <a:path w="4222115" h="2989579">
                  <a:moveTo>
                    <a:pt x="4136390" y="2960674"/>
                  </a:moveTo>
                  <a:lnTo>
                    <a:pt x="28575" y="2960674"/>
                  </a:lnTo>
                  <a:lnTo>
                    <a:pt x="28575" y="2974962"/>
                  </a:lnTo>
                  <a:lnTo>
                    <a:pt x="4136390" y="2974962"/>
                  </a:lnTo>
                  <a:lnTo>
                    <a:pt x="4136390" y="2960674"/>
                  </a:lnTo>
                  <a:close/>
                </a:path>
                <a:path w="4222115" h="2989579">
                  <a:moveTo>
                    <a:pt x="4164965" y="2874962"/>
                  </a:moveTo>
                  <a:lnTo>
                    <a:pt x="4136390" y="2874962"/>
                  </a:lnTo>
                  <a:lnTo>
                    <a:pt x="4136390" y="2974962"/>
                  </a:lnTo>
                  <a:lnTo>
                    <a:pt x="4150741" y="2960674"/>
                  </a:lnTo>
                  <a:lnTo>
                    <a:pt x="4164965" y="2960674"/>
                  </a:lnTo>
                  <a:lnTo>
                    <a:pt x="4164965" y="2874962"/>
                  </a:lnTo>
                  <a:close/>
                </a:path>
                <a:path w="4222115" h="2989579">
                  <a:moveTo>
                    <a:pt x="4164965" y="2960674"/>
                  </a:moveTo>
                  <a:lnTo>
                    <a:pt x="4150741" y="2960674"/>
                  </a:lnTo>
                  <a:lnTo>
                    <a:pt x="4136390" y="2974962"/>
                  </a:lnTo>
                  <a:lnTo>
                    <a:pt x="4164965" y="2974962"/>
                  </a:lnTo>
                  <a:lnTo>
                    <a:pt x="4164965" y="2960674"/>
                  </a:lnTo>
                  <a:close/>
                </a:path>
                <a:path w="4222115" h="2989579">
                  <a:moveTo>
                    <a:pt x="4150741" y="2746375"/>
                  </a:moveTo>
                  <a:lnTo>
                    <a:pt x="4079240" y="2889250"/>
                  </a:lnTo>
                  <a:lnTo>
                    <a:pt x="4136390" y="2889250"/>
                  </a:lnTo>
                  <a:lnTo>
                    <a:pt x="4136390" y="2874962"/>
                  </a:lnTo>
                  <a:lnTo>
                    <a:pt x="4214977" y="2874962"/>
                  </a:lnTo>
                  <a:lnTo>
                    <a:pt x="4150741" y="2746375"/>
                  </a:lnTo>
                  <a:close/>
                </a:path>
                <a:path w="4222115" h="2989579">
                  <a:moveTo>
                    <a:pt x="4214977" y="2874962"/>
                  </a:moveTo>
                  <a:lnTo>
                    <a:pt x="4164965" y="2874962"/>
                  </a:lnTo>
                  <a:lnTo>
                    <a:pt x="4164965" y="2889250"/>
                  </a:lnTo>
                  <a:lnTo>
                    <a:pt x="4222115" y="2889250"/>
                  </a:lnTo>
                  <a:lnTo>
                    <a:pt x="4214977" y="2874962"/>
                  </a:lnTo>
                  <a:close/>
                </a:path>
                <a:path w="4222115" h="2989579">
                  <a:moveTo>
                    <a:pt x="28575" y="14351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1"/>
                  </a:lnTo>
                  <a:close/>
                </a:path>
                <a:path w="4222115" h="2989579">
                  <a:moveTo>
                    <a:pt x="242950" y="14351"/>
                  </a:moveTo>
                  <a:lnTo>
                    <a:pt x="28575" y="14351"/>
                  </a:lnTo>
                  <a:lnTo>
                    <a:pt x="28575" y="28575"/>
                  </a:lnTo>
                  <a:lnTo>
                    <a:pt x="242950" y="28575"/>
                  </a:lnTo>
                  <a:lnTo>
                    <a:pt x="242950" y="1435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Best-</a:t>
            </a:r>
            <a:r>
              <a:rPr spc="-20" dirty="0"/>
              <a:t>in-</a:t>
            </a:r>
            <a:r>
              <a:rPr dirty="0"/>
              <a:t>Class</a:t>
            </a:r>
            <a:r>
              <a:rPr spc="-15" dirty="0"/>
              <a:t> </a:t>
            </a:r>
            <a:r>
              <a:rPr spc="-10" dirty="0"/>
              <a:t>Newsletters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312" y="1066037"/>
            <a:ext cx="3870960" cy="50507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Getaway</a:t>
            </a:r>
            <a:endParaRPr sz="1800">
              <a:latin typeface="Calibri"/>
              <a:cs typeface="Calibri"/>
            </a:endParaRPr>
          </a:p>
          <a:p>
            <a:pPr marL="287020" marR="8572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travel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job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maintaining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its </a:t>
            </a:r>
            <a:r>
              <a:rPr sz="1800" spc="-10" dirty="0">
                <a:latin typeface="Calibri"/>
                <a:cs typeface="Calibri"/>
              </a:rPr>
              <a:t>newsletters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varying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  <a:p>
            <a:pPr marL="286385" indent="-18224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template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aligns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practices:</a:t>
            </a:r>
            <a:endParaRPr sz="1800">
              <a:latin typeface="Calibri"/>
              <a:cs typeface="Calibri"/>
            </a:endParaRPr>
          </a:p>
          <a:p>
            <a:pPr marL="560705" marR="5080" lvl="1" indent="-182880">
              <a:lnSpc>
                <a:spcPct val="100000"/>
              </a:lnSpc>
              <a:spcBef>
                <a:spcPts val="320"/>
              </a:spcBef>
              <a:buFont typeface="Courier New" panose="02070309020205020404"/>
              <a:buChar char="o"/>
              <a:tabLst>
                <a:tab pos="56070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valuable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navigation </a:t>
            </a:r>
            <a:r>
              <a:rPr sz="1600" dirty="0">
                <a:latin typeface="Calibri"/>
                <a:cs typeface="Calibri"/>
              </a:rPr>
              <a:t>links.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CTAs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descriptive, action-oriented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language.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modular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mobile- and</a:t>
            </a:r>
            <a:r>
              <a:rPr sz="1600" spc="-20" dirty="0">
                <a:latin typeface="Calibri"/>
                <a:cs typeface="Calibri"/>
              </a:rPr>
              <a:t> reader-</a:t>
            </a:r>
            <a:r>
              <a:rPr sz="1600" spc="-10" dirty="0">
                <a:latin typeface="Calibri"/>
                <a:cs typeface="Calibri"/>
              </a:rPr>
              <a:t>friendly.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Font typeface="Courier New" panose="02070309020205020404"/>
              <a:buChar char="o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Subject</a:t>
            </a:r>
            <a:r>
              <a:rPr sz="1600" b="1" spc="-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Lines</a:t>
            </a:r>
            <a:r>
              <a:rPr sz="1600" b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(left</a:t>
            </a:r>
            <a:r>
              <a:rPr sz="1600" b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sz="1600" b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F2023"/>
                </a:solidFill>
                <a:latin typeface="Calibri"/>
                <a:cs typeface="Calibri"/>
              </a:rPr>
              <a:t>right)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Announcing</a:t>
            </a:r>
            <a:r>
              <a:rPr sz="1600" i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a</a:t>
            </a:r>
            <a:r>
              <a:rPr sz="1600" i="1" spc="-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Brand</a:t>
            </a:r>
            <a:r>
              <a:rPr sz="1600" i="1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New</a:t>
            </a:r>
            <a:r>
              <a:rPr sz="1600" i="1" spc="-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1F2023"/>
                </a:solidFill>
                <a:latin typeface="Calibri"/>
                <a:cs typeface="Calibri"/>
              </a:rPr>
              <a:t>Outpost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A</a:t>
            </a:r>
            <a:r>
              <a:rPr sz="1600" i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moment</a:t>
            </a:r>
            <a:r>
              <a:rPr sz="1600" i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1600" i="1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spc="-25" dirty="0">
                <a:solidFill>
                  <a:srgbClr val="1F2023"/>
                </a:solidFill>
                <a:latin typeface="Calibri"/>
                <a:cs typeface="Calibri"/>
              </a:rPr>
              <a:t>Zen</a:t>
            </a:r>
            <a:endParaRPr sz="1600">
              <a:latin typeface="Calibri"/>
              <a:cs typeface="Calibri"/>
            </a:endParaRPr>
          </a:p>
          <a:p>
            <a:pPr marL="287020" marR="12001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600" i="1" dirty="0">
                <a:latin typeface="Calibri"/>
                <a:cs typeface="Calibri"/>
              </a:rPr>
              <a:t>Simple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Tips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Building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Off-</a:t>
            </a:r>
            <a:r>
              <a:rPr sz="1600" i="1" dirty="0">
                <a:latin typeface="Calibri"/>
                <a:cs typeface="Calibri"/>
              </a:rPr>
              <a:t>Time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into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Your </a:t>
            </a:r>
            <a:r>
              <a:rPr sz="1600" i="1" spc="-10" dirty="0">
                <a:latin typeface="Calibri"/>
                <a:cs typeface="Calibri"/>
              </a:rPr>
              <a:t>Routine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Getaway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Podcast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back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05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latin typeface="Calibri"/>
                <a:cs typeface="Calibri"/>
              </a:rPr>
              <a:t>Last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Chance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25%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off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Escape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35762" y="152383"/>
            <a:ext cx="1606550" cy="6614795"/>
            <a:chOff x="9035762" y="152383"/>
            <a:chExt cx="1606550" cy="6614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5762" y="152383"/>
              <a:ext cx="1606363" cy="66141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3416" y="160019"/>
              <a:ext cx="1540764" cy="654862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0773134" y="152383"/>
            <a:ext cx="1270000" cy="6614795"/>
            <a:chOff x="10773134" y="152383"/>
            <a:chExt cx="1270000" cy="66147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3134" y="152383"/>
              <a:ext cx="1269534" cy="66141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0775" y="160019"/>
              <a:ext cx="1203959" cy="654862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760090" y="152383"/>
            <a:ext cx="1144905" cy="6614795"/>
            <a:chOff x="7760090" y="152383"/>
            <a:chExt cx="1144905" cy="661479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0090" y="152383"/>
              <a:ext cx="1144770" cy="66141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7827" y="160019"/>
              <a:ext cx="1078992" cy="654862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374784" y="152383"/>
            <a:ext cx="1254760" cy="6614795"/>
            <a:chOff x="6374784" y="152383"/>
            <a:chExt cx="1254760" cy="661479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4784" y="152383"/>
              <a:ext cx="1254466" cy="66141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2511" y="160019"/>
              <a:ext cx="1188719" cy="654862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945255" y="152383"/>
            <a:ext cx="1299210" cy="6614795"/>
            <a:chOff x="4945255" y="152383"/>
            <a:chExt cx="1299210" cy="661479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5255" y="152383"/>
              <a:ext cx="1298696" cy="66141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2999" y="160019"/>
              <a:ext cx="1232915" cy="65486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04282" y="944855"/>
            <a:ext cx="1748789" cy="5744210"/>
            <a:chOff x="4404282" y="944855"/>
            <a:chExt cx="1748789" cy="5744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4282" y="944855"/>
              <a:ext cx="1748183" cy="57440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1980" y="952499"/>
              <a:ext cx="1682496" cy="56784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Best-</a:t>
            </a:r>
            <a:r>
              <a:rPr spc="-20" dirty="0"/>
              <a:t>in-</a:t>
            </a:r>
            <a:r>
              <a:rPr dirty="0"/>
              <a:t>Class</a:t>
            </a:r>
            <a:r>
              <a:rPr spc="-15" dirty="0"/>
              <a:t> </a:t>
            </a:r>
            <a:r>
              <a:rPr spc="-10" dirty="0"/>
              <a:t>Newsletters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8312" y="925535"/>
            <a:ext cx="3721735" cy="54419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Pressed</a:t>
            </a:r>
            <a:r>
              <a:rPr sz="1800" b="1" spc="-9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Juicery</a:t>
            </a:r>
            <a:endParaRPr sz="1800">
              <a:latin typeface="Calibri"/>
              <a:cs typeface="Calibri"/>
            </a:endParaRPr>
          </a:p>
          <a:p>
            <a:pPr marL="287020" marR="14668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Across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campaign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– </a:t>
            </a:r>
            <a:r>
              <a:rPr sz="1800" dirty="0">
                <a:latin typeface="Calibri"/>
                <a:cs typeface="Calibri"/>
              </a:rPr>
              <a:t>promotions,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lifecycle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brand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announcements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template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clean.</a:t>
            </a:r>
            <a:endParaRPr sz="1800">
              <a:latin typeface="Calibri"/>
              <a:cs typeface="Calibri"/>
            </a:endParaRPr>
          </a:p>
          <a:p>
            <a:pPr marL="287020" marR="5080" indent="-182880">
              <a:lnSpc>
                <a:spcPct val="100000"/>
              </a:lnSpc>
              <a:spcBef>
                <a:spcPts val="305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banner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email </a:t>
            </a:r>
            <a:r>
              <a:rPr sz="1800" dirty="0">
                <a:latin typeface="Calibri"/>
                <a:cs typeface="Calibri"/>
              </a:rPr>
              <a:t>promotes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options.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reminder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drive </a:t>
            </a:r>
            <a:r>
              <a:rPr sz="1800" dirty="0">
                <a:latin typeface="Calibri"/>
                <a:cs typeface="Calibri"/>
              </a:rPr>
              <a:t>additional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purchases.</a:t>
            </a:r>
            <a:endParaRPr sz="1800">
              <a:latin typeface="Calibri"/>
              <a:cs typeface="Calibri"/>
            </a:endParaRPr>
          </a:p>
          <a:p>
            <a:pPr marL="287020" marR="40894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techniques,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ensure </a:t>
            </a:r>
            <a:r>
              <a:rPr sz="1800" dirty="0">
                <a:latin typeface="Calibri"/>
                <a:cs typeface="Calibri"/>
              </a:rPr>
              <a:t>subscribers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continue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open.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Subject</a:t>
            </a:r>
            <a:r>
              <a:rPr sz="1600" b="1" spc="-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Lines</a:t>
            </a:r>
            <a:r>
              <a:rPr sz="1600" b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(left</a:t>
            </a:r>
            <a:r>
              <a:rPr sz="1600" b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sz="1600" b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F2023"/>
                </a:solidFill>
                <a:latin typeface="Calibri"/>
                <a:cs typeface="Calibri"/>
              </a:rPr>
              <a:t>right)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New</a:t>
            </a:r>
            <a:r>
              <a:rPr sz="1600" i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Flavor</a:t>
            </a:r>
            <a:r>
              <a:rPr sz="1600" i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F2023"/>
                </a:solidFill>
                <a:latin typeface="Calibri"/>
                <a:cs typeface="Calibri"/>
              </a:rPr>
              <a:t>Alert</a:t>
            </a:r>
            <a:r>
              <a:rPr sz="1600" i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1F2023"/>
                </a:solidFill>
                <a:latin typeface="Segoe UI Emoji"/>
                <a:cs typeface="Segoe UI Emoji"/>
              </a:rPr>
              <a:t>🍉</a:t>
            </a:r>
            <a:endParaRPr sz="1600">
              <a:latin typeface="Segoe UI Emoji"/>
              <a:cs typeface="Segoe UI Emoji"/>
            </a:endParaRPr>
          </a:p>
          <a:p>
            <a:pPr marL="287655" indent="-183515">
              <a:lnSpc>
                <a:spcPct val="100000"/>
              </a:lnSpc>
              <a:spcBef>
                <a:spcPts val="285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latin typeface="Calibri"/>
                <a:cs typeface="Calibri"/>
              </a:rPr>
              <a:t>Pressed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Juicery: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From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Farm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Fridge.</a:t>
            </a:r>
            <a:endParaRPr sz="1600">
              <a:latin typeface="Calibri"/>
              <a:cs typeface="Calibri"/>
            </a:endParaRPr>
          </a:p>
          <a:p>
            <a:pPr marL="287020" marR="10160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600" i="1" dirty="0">
                <a:latin typeface="Calibri"/>
                <a:cs typeface="Calibri"/>
              </a:rPr>
              <a:t>Start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your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weekend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with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Any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2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Juices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+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2 </a:t>
            </a:r>
            <a:r>
              <a:rPr sz="1600" i="1" dirty="0">
                <a:latin typeface="Calibri"/>
                <a:cs typeface="Calibri"/>
              </a:rPr>
              <a:t>Shots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$15</a:t>
            </a:r>
            <a:endParaRPr sz="1600">
              <a:latin typeface="Calibri"/>
              <a:cs typeface="Calibri"/>
            </a:endParaRPr>
          </a:p>
          <a:p>
            <a:pPr marL="287655" indent="-183515">
              <a:lnSpc>
                <a:spcPct val="100000"/>
              </a:lnSpc>
              <a:spcBef>
                <a:spcPts val="315"/>
              </a:spcBef>
              <a:buFont typeface="Arial" panose="020B0604020202020204"/>
              <a:buChar char="•"/>
              <a:tabLst>
                <a:tab pos="287655" algn="l"/>
              </a:tabLst>
            </a:pPr>
            <a:r>
              <a:rPr sz="1600" i="1" dirty="0">
                <a:latin typeface="Calibri"/>
                <a:cs typeface="Calibri"/>
              </a:rPr>
              <a:t>It's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National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Soft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Serve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Day!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spc="-50" dirty="0">
                <a:latin typeface="Segoe UI Emoji"/>
                <a:cs typeface="Segoe UI Emoji"/>
              </a:rPr>
              <a:t>🍦</a:t>
            </a:r>
            <a:endParaRPr sz="1600">
              <a:latin typeface="Segoe UI Emoji"/>
              <a:cs typeface="Segoe UI Emoj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92465" y="944855"/>
            <a:ext cx="1235075" cy="5744210"/>
            <a:chOff x="6292465" y="944855"/>
            <a:chExt cx="1235075" cy="57442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2465" y="944855"/>
              <a:ext cx="1234701" cy="57440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0216" y="952499"/>
              <a:ext cx="1168908" cy="56784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667145" y="944855"/>
            <a:ext cx="1655445" cy="5744210"/>
            <a:chOff x="7667145" y="944855"/>
            <a:chExt cx="1655445" cy="574421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7145" y="944855"/>
              <a:ext cx="1655260" cy="57440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4864" y="952499"/>
              <a:ext cx="1589531" cy="56784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462483" y="944855"/>
            <a:ext cx="2538095" cy="5744210"/>
            <a:chOff x="9462483" y="944855"/>
            <a:chExt cx="2538095" cy="574421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2483" y="944855"/>
              <a:ext cx="2537524" cy="57440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70136" y="952499"/>
              <a:ext cx="2471928" cy="5678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71056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Holiday</a:t>
            </a:r>
            <a:r>
              <a:rPr sz="6000" spc="-21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Marketing</a:t>
            </a:r>
            <a:r>
              <a:rPr sz="6000" spc="-175" dirty="0">
                <a:solidFill>
                  <a:srgbClr val="FFFFFF"/>
                </a:solidFill>
              </a:rPr>
              <a:t> </a:t>
            </a:r>
            <a:r>
              <a:rPr sz="6000" spc="-20" dirty="0">
                <a:solidFill>
                  <a:srgbClr val="FFFFFF"/>
                </a:solidFill>
              </a:rPr>
              <a:t>Tips</a:t>
            </a:r>
            <a:endParaRPr sz="6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3471" y="1110996"/>
            <a:ext cx="7626310" cy="52301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Most</a:t>
            </a:r>
            <a:r>
              <a:rPr spc="-105" dirty="0"/>
              <a:t> </a:t>
            </a:r>
            <a:r>
              <a:rPr dirty="0"/>
              <a:t>shoppers</a:t>
            </a:r>
            <a:r>
              <a:rPr spc="-95" dirty="0"/>
              <a:t> </a:t>
            </a:r>
            <a:r>
              <a:rPr dirty="0"/>
              <a:t>start</a:t>
            </a:r>
            <a:r>
              <a:rPr spc="-110" dirty="0"/>
              <a:t> </a:t>
            </a:r>
            <a:r>
              <a:rPr dirty="0"/>
              <a:t>before</a:t>
            </a:r>
            <a:r>
              <a:rPr spc="-120" dirty="0"/>
              <a:t> </a:t>
            </a:r>
            <a:r>
              <a:rPr spc="-10" dirty="0"/>
              <a:t>Thanksgiving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88905" y="6068669"/>
            <a:ext cx="14046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Source: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Deloitte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Insights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621" y="1173058"/>
            <a:ext cx="3803015" cy="413448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Start</a:t>
            </a:r>
            <a:r>
              <a:rPr sz="1800" b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Early</a:t>
            </a:r>
            <a:endParaRPr sz="1800">
              <a:latin typeface="Calibri"/>
              <a:cs typeface="Calibri"/>
            </a:endParaRPr>
          </a:p>
          <a:p>
            <a:pPr marL="286385" marR="74358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60%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holiday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shoppers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start </a:t>
            </a:r>
            <a:r>
              <a:rPr sz="1800" dirty="0">
                <a:latin typeface="Calibri"/>
                <a:cs typeface="Calibri"/>
              </a:rPr>
              <a:t>shopping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Thanksgiving</a:t>
            </a:r>
            <a:endParaRPr sz="1800">
              <a:latin typeface="Calibri"/>
              <a:cs typeface="Calibri"/>
            </a:endParaRPr>
          </a:p>
          <a:p>
            <a:pPr marL="286385" indent="-18224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Early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shoppers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spend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$370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start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shopping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Continue</a:t>
            </a:r>
            <a:r>
              <a:rPr sz="1800" b="1" spc="-5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Through</a:t>
            </a:r>
            <a:r>
              <a:rPr sz="1800" b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December</a:t>
            </a:r>
            <a:endParaRPr sz="1800">
              <a:latin typeface="Calibri"/>
              <a:cs typeface="Calibri"/>
            </a:endParaRPr>
          </a:p>
          <a:p>
            <a:pPr marL="286385" marR="508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half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shoppers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 </a:t>
            </a:r>
            <a:r>
              <a:rPr sz="1800" dirty="0">
                <a:latin typeface="Calibri"/>
                <a:cs typeface="Calibri"/>
              </a:rPr>
              <a:t>complete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shopping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until December</a:t>
            </a:r>
            <a:endParaRPr sz="1800">
              <a:latin typeface="Calibri"/>
              <a:cs typeface="Calibri"/>
            </a:endParaRPr>
          </a:p>
          <a:p>
            <a:pPr marL="286385" marR="46355" indent="-182880">
              <a:lnSpc>
                <a:spcPct val="100000"/>
              </a:lnSpc>
              <a:spcBef>
                <a:spcPts val="305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Late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November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mid-</a:t>
            </a:r>
            <a:r>
              <a:rPr sz="1800" dirty="0">
                <a:latin typeface="Calibri"/>
                <a:cs typeface="Calibri"/>
              </a:rPr>
              <a:t>December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almost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half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holiday </a:t>
            </a:r>
            <a:r>
              <a:rPr sz="1800" dirty="0">
                <a:latin typeface="Calibri"/>
                <a:cs typeface="Calibri"/>
              </a:rPr>
              <a:t>shopping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occurs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spc="-75" dirty="0"/>
              <a:t> </a:t>
            </a:r>
            <a:r>
              <a:rPr dirty="0"/>
              <a:t>holiday</a:t>
            </a:r>
            <a:r>
              <a:rPr spc="-70" dirty="0"/>
              <a:t> </a:t>
            </a:r>
            <a:r>
              <a:rPr dirty="0"/>
              <a:t>sales</a:t>
            </a:r>
            <a:r>
              <a:rPr spc="-95" dirty="0"/>
              <a:t> </a:t>
            </a:r>
            <a:r>
              <a:rPr dirty="0"/>
              <a:t>will</a:t>
            </a:r>
            <a:r>
              <a:rPr spc="-85" dirty="0"/>
              <a:t> </a:t>
            </a:r>
            <a:r>
              <a:rPr dirty="0"/>
              <a:t>surge</a:t>
            </a:r>
            <a:r>
              <a:rPr spc="-85" dirty="0"/>
              <a:t> </a:t>
            </a:r>
            <a:r>
              <a:rPr spc="-10" dirty="0"/>
              <a:t>25-</a:t>
            </a:r>
            <a:r>
              <a:rPr spc="-25" dirty="0"/>
              <a:t>35%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621" y="1173058"/>
            <a:ext cx="3731895" cy="44469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This</a:t>
            </a:r>
            <a:r>
              <a:rPr sz="1800" b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year</a:t>
            </a:r>
            <a:r>
              <a:rPr sz="1800" b="1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consumers</a:t>
            </a:r>
            <a:r>
              <a:rPr sz="1800" b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will</a:t>
            </a:r>
            <a:r>
              <a:rPr sz="1800" b="1" spc="-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shop</a:t>
            </a:r>
            <a:r>
              <a:rPr sz="1800" b="1" spc="-5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online</a:t>
            </a:r>
            <a:endParaRPr sz="1800">
              <a:latin typeface="Calibri"/>
              <a:cs typeface="Calibri"/>
            </a:endParaRPr>
          </a:p>
          <a:p>
            <a:pPr marL="286385" marR="6731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Deloitte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expects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online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holiday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sales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25-</a:t>
            </a:r>
            <a:r>
              <a:rPr sz="1800" dirty="0">
                <a:latin typeface="Calibri"/>
                <a:cs typeface="Calibri"/>
              </a:rPr>
              <a:t>35%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2020 </a:t>
            </a:r>
            <a:r>
              <a:rPr sz="1800" dirty="0">
                <a:latin typeface="Calibri"/>
                <a:cs typeface="Calibri"/>
              </a:rPr>
              <a:t>season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$182-</a:t>
            </a:r>
            <a:r>
              <a:rPr sz="1800" dirty="0">
                <a:latin typeface="Calibri"/>
                <a:cs typeface="Calibri"/>
              </a:rPr>
              <a:t>$196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billion</a:t>
            </a:r>
            <a:endParaRPr sz="1800">
              <a:latin typeface="Calibri"/>
              <a:cs typeface="Calibri"/>
            </a:endParaRPr>
          </a:p>
          <a:p>
            <a:pPr marL="286385" indent="-182245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2019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eCommerce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increased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13.6% </a:t>
            </a:r>
            <a:r>
              <a:rPr sz="1800" spc="-25" dirty="0">
                <a:latin typeface="Calibri"/>
                <a:cs typeface="Calibri"/>
              </a:rPr>
              <a:t>YoY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Holiday</a:t>
            </a:r>
            <a:r>
              <a:rPr sz="1800" b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sales</a:t>
            </a:r>
            <a:r>
              <a:rPr sz="1800" b="1" spc="-4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will</a:t>
            </a:r>
            <a:r>
              <a:rPr sz="1800" b="1" spc="-3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be</a:t>
            </a:r>
            <a:r>
              <a:rPr sz="1800" b="1" spc="-20" dirty="0">
                <a:solidFill>
                  <a:srgbClr val="1F2023"/>
                </a:solidFill>
                <a:latin typeface="Calibri"/>
                <a:cs typeface="Calibri"/>
              </a:rPr>
              <a:t> flat</a:t>
            </a:r>
            <a:endParaRPr sz="1800">
              <a:latin typeface="Calibri"/>
              <a:cs typeface="Calibri"/>
            </a:endParaRPr>
          </a:p>
          <a:p>
            <a:pPr marL="286385" marR="2857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spc="-25" dirty="0">
                <a:latin typeface="Calibri"/>
                <a:cs typeface="Calibri"/>
              </a:rPr>
              <a:t>Total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retail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holiday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increase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1-</a:t>
            </a:r>
            <a:r>
              <a:rPr sz="1800" dirty="0">
                <a:latin typeface="Calibri"/>
                <a:cs typeface="Calibri"/>
              </a:rPr>
              <a:t>1.5%</a:t>
            </a:r>
            <a:r>
              <a:rPr sz="1800" spc="-25" dirty="0">
                <a:latin typeface="Calibri"/>
                <a:cs typeface="Calibri"/>
              </a:rPr>
              <a:t> YoY</a:t>
            </a:r>
            <a:endParaRPr sz="1800">
              <a:latin typeface="Calibri"/>
              <a:cs typeface="Calibri"/>
            </a:endParaRPr>
          </a:p>
          <a:p>
            <a:pPr marL="286385" marR="5080" indent="-182880">
              <a:lnSpc>
                <a:spcPct val="100000"/>
              </a:lnSpc>
              <a:spcBef>
                <a:spcPts val="305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2019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retail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4.1% </a:t>
            </a:r>
            <a:r>
              <a:rPr sz="1800" spc="-25" dirty="0">
                <a:latin typeface="Calibri"/>
                <a:cs typeface="Calibri"/>
              </a:rPr>
              <a:t>YoY</a:t>
            </a:r>
            <a:endParaRPr sz="1800">
              <a:latin typeface="Calibri"/>
              <a:cs typeface="Calibri"/>
            </a:endParaRPr>
          </a:p>
          <a:p>
            <a:pPr marL="286385" marR="20383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34%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merchants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said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 </a:t>
            </a:r>
            <a:r>
              <a:rPr sz="1800" dirty="0">
                <a:latin typeface="Calibri"/>
                <a:cs typeface="Calibri"/>
              </a:rPr>
              <a:t>holiday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last year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1690" y="6168948"/>
            <a:ext cx="23787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Source: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Deloitte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Insights,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Adobe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7436" y="1471123"/>
            <a:ext cx="7283291" cy="42638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811" y="6464985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To</a:t>
            </a:r>
            <a:r>
              <a:rPr spc="-65" dirty="0"/>
              <a:t> </a:t>
            </a:r>
            <a:r>
              <a:rPr dirty="0"/>
              <a:t>succeed</a:t>
            </a:r>
            <a:r>
              <a:rPr spc="-9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email</a:t>
            </a:r>
            <a:r>
              <a:rPr spc="-65" dirty="0"/>
              <a:t> </a:t>
            </a:r>
            <a:r>
              <a:rPr spc="-10" dirty="0"/>
              <a:t>marketing</a:t>
            </a:r>
            <a:r>
              <a:rPr spc="-70" dirty="0"/>
              <a:t> </a:t>
            </a:r>
            <a:r>
              <a:rPr dirty="0"/>
              <a:t>channel</a:t>
            </a:r>
            <a:r>
              <a:rPr spc="-60" dirty="0"/>
              <a:t> </a:t>
            </a:r>
            <a:r>
              <a:rPr dirty="0"/>
              <a:t>consider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following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654" y="1523822"/>
            <a:ext cx="60572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Start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promoting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holidays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early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Increase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newsletter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November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December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automations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setup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103" y="1207008"/>
            <a:ext cx="5603708" cy="42428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Start</a:t>
            </a:r>
            <a:r>
              <a:rPr spc="-90" dirty="0"/>
              <a:t> </a:t>
            </a:r>
            <a:r>
              <a:rPr dirty="0"/>
              <a:t>early</a:t>
            </a:r>
            <a:r>
              <a:rPr spc="-8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map</a:t>
            </a:r>
            <a:r>
              <a:rPr spc="-85" dirty="0"/>
              <a:t> </a:t>
            </a:r>
            <a:r>
              <a:rPr dirty="0"/>
              <a:t>out</a:t>
            </a:r>
            <a:r>
              <a:rPr spc="-65" dirty="0"/>
              <a:t> </a:t>
            </a:r>
            <a:r>
              <a:rPr spc="-10" dirty="0"/>
              <a:t>content</a:t>
            </a:r>
            <a:r>
              <a:rPr spc="-7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entire</a:t>
            </a:r>
            <a:r>
              <a:rPr spc="-75" dirty="0"/>
              <a:t> </a:t>
            </a:r>
            <a:r>
              <a:rPr dirty="0"/>
              <a:t>holiday</a:t>
            </a:r>
            <a:r>
              <a:rPr spc="-65" dirty="0"/>
              <a:t> </a:t>
            </a:r>
            <a:r>
              <a:rPr spc="-10" dirty="0"/>
              <a:t>season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2131" y="1211584"/>
            <a:ext cx="5670786" cy="42655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75" dirty="0"/>
              <a:t> </a:t>
            </a:r>
            <a:r>
              <a:rPr dirty="0"/>
              <a:t>send</a:t>
            </a:r>
            <a:r>
              <a:rPr spc="-90" dirty="0"/>
              <a:t> </a:t>
            </a:r>
            <a:r>
              <a:rPr dirty="0"/>
              <a:t>volume</a:t>
            </a:r>
            <a:r>
              <a:rPr spc="-90" dirty="0"/>
              <a:t> </a:t>
            </a:r>
            <a:r>
              <a:rPr dirty="0"/>
              <a:t>increases</a:t>
            </a:r>
            <a:r>
              <a:rPr spc="-110" dirty="0"/>
              <a:t> </a:t>
            </a:r>
            <a:r>
              <a:rPr spc="-10" dirty="0"/>
              <a:t>dramatically</a:t>
            </a:r>
            <a:r>
              <a:rPr spc="-75" dirty="0"/>
              <a:t> </a:t>
            </a:r>
            <a:r>
              <a:rPr dirty="0"/>
              <a:t>during</a:t>
            </a:r>
            <a:r>
              <a:rPr spc="-70" dirty="0"/>
              <a:t> </a:t>
            </a:r>
            <a:r>
              <a:rPr spc="-10" dirty="0"/>
              <a:t>holidays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266" y="1076959"/>
            <a:ext cx="3249295" cy="44081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0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Email</a:t>
            </a:r>
            <a:r>
              <a:rPr sz="1800" b="1" spc="-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by</a:t>
            </a:r>
            <a:r>
              <a:rPr sz="1800" b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numbers</a:t>
            </a:r>
            <a:r>
              <a:rPr sz="1800" b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1F2023"/>
                </a:solidFill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marL="287020" marR="79375" indent="-182880" algn="just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116.5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million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sent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Black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Friday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(more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any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day)</a:t>
            </a:r>
            <a:endParaRPr sz="1800">
              <a:latin typeface="Calibri"/>
              <a:cs typeface="Calibri"/>
            </a:endParaRPr>
          </a:p>
          <a:p>
            <a:pPr marL="287020" marR="5080" indent="-182880" algn="just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106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million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Cyber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Monday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" panose="020B0604020202020204"/>
              <a:buChar char="•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Recommendation</a:t>
            </a:r>
            <a:endParaRPr sz="1800">
              <a:latin typeface="Calibri"/>
              <a:cs typeface="Calibri"/>
            </a:endParaRPr>
          </a:p>
          <a:p>
            <a:pPr marL="287020" marR="10731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capitalize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holiday </a:t>
            </a:r>
            <a:r>
              <a:rPr sz="1800" dirty="0">
                <a:latin typeface="Calibri"/>
                <a:cs typeface="Calibri"/>
              </a:rPr>
              <a:t>shopping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intent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email </a:t>
            </a:r>
            <a:r>
              <a:rPr sz="1800" dirty="0">
                <a:latin typeface="Calibri"/>
                <a:cs typeface="Calibri"/>
              </a:rPr>
              <a:t>send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keep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your </a:t>
            </a:r>
            <a:r>
              <a:rPr sz="1800" dirty="0">
                <a:latin typeface="Calibri"/>
                <a:cs typeface="Calibri"/>
              </a:rPr>
              <a:t>brand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mind</a:t>
            </a:r>
            <a:endParaRPr sz="1800">
              <a:latin typeface="Calibri"/>
              <a:cs typeface="Calibri"/>
            </a:endParaRPr>
          </a:p>
          <a:p>
            <a:pPr marL="287020" marR="6731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Monitor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KPIs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rates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you’re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sending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7379" y="845819"/>
            <a:ext cx="1937003" cy="4367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7428" y="935736"/>
            <a:ext cx="1379347" cy="56951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22741" y="1086775"/>
            <a:ext cx="2054230" cy="37747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37647" y="909827"/>
            <a:ext cx="1886711" cy="43677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68811" y="6464985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Ensure</a:t>
            </a:r>
            <a:r>
              <a:rPr spc="-80" dirty="0"/>
              <a:t> </a:t>
            </a:r>
            <a:r>
              <a:rPr dirty="0"/>
              <a:t>key</a:t>
            </a:r>
            <a:r>
              <a:rPr spc="-85" dirty="0"/>
              <a:t> </a:t>
            </a:r>
            <a:r>
              <a:rPr dirty="0"/>
              <a:t>email</a:t>
            </a:r>
            <a:r>
              <a:rPr spc="-90" dirty="0"/>
              <a:t> </a:t>
            </a:r>
            <a:r>
              <a:rPr spc="-10" dirty="0"/>
              <a:t>automations</a:t>
            </a:r>
            <a:r>
              <a:rPr spc="-65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dirty="0"/>
              <a:t>setup</a:t>
            </a:r>
            <a:r>
              <a:rPr spc="-7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running</a:t>
            </a:r>
            <a:r>
              <a:rPr spc="-50" dirty="0"/>
              <a:t> </a:t>
            </a:r>
            <a:r>
              <a:rPr dirty="0"/>
              <a:t>during</a:t>
            </a:r>
            <a:r>
              <a:rPr spc="-70" dirty="0"/>
              <a:t> </a:t>
            </a:r>
            <a:r>
              <a:rPr spc="-10" dirty="0"/>
              <a:t>holidays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266" y="1076959"/>
            <a:ext cx="3790315" cy="385952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Email</a:t>
            </a:r>
            <a:r>
              <a:rPr sz="1800" b="1" spc="-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by</a:t>
            </a:r>
            <a:r>
              <a:rPr sz="1800" b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numbers</a:t>
            </a:r>
            <a:r>
              <a:rPr sz="1800" b="1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1F2023"/>
                </a:solidFill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marL="287020" marR="3175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responsible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20%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online </a:t>
            </a:r>
            <a:r>
              <a:rPr sz="1800" dirty="0">
                <a:latin typeface="Calibri"/>
                <a:cs typeface="Calibri"/>
              </a:rPr>
              <a:t>holiday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visits</a:t>
            </a:r>
            <a:endParaRPr sz="1800">
              <a:latin typeface="Calibri"/>
              <a:cs typeface="Calibri"/>
            </a:endParaRPr>
          </a:p>
          <a:p>
            <a:pPr marL="287020" marR="177165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Cart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abandonment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than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Black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Friday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Cyber </a:t>
            </a:r>
            <a:r>
              <a:rPr sz="1800" spc="-20" dirty="0">
                <a:latin typeface="Calibri"/>
                <a:cs typeface="Calibri"/>
              </a:rPr>
              <a:t>Monday,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74.5%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" panose="020B0604020202020204"/>
              <a:buChar char="•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Recommendation</a:t>
            </a:r>
            <a:endParaRPr sz="1800">
              <a:latin typeface="Calibri"/>
              <a:cs typeface="Calibri"/>
            </a:endParaRPr>
          </a:p>
          <a:p>
            <a:pPr marL="287020" marR="508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abandon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abandon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browse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campaign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place</a:t>
            </a:r>
            <a:endParaRPr sz="1800">
              <a:latin typeface="Calibri"/>
              <a:cs typeface="Calibri"/>
            </a:endParaRPr>
          </a:p>
          <a:p>
            <a:pPr marL="287020" marR="251460" indent="-182880">
              <a:lnSpc>
                <a:spcPct val="10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87020" algn="l"/>
              </a:tabLst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festive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abandon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abandon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browse campaigns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2834" y="978377"/>
            <a:ext cx="2673350" cy="4491355"/>
            <a:chOff x="4722834" y="978377"/>
            <a:chExt cx="2673350" cy="4491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2834" y="978377"/>
              <a:ext cx="2673178" cy="449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496" y="986028"/>
              <a:ext cx="2607563" cy="442569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891207" y="856483"/>
            <a:ext cx="2113915" cy="5741035"/>
            <a:chOff x="7891207" y="856483"/>
            <a:chExt cx="2113915" cy="57410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207" y="856483"/>
              <a:ext cx="2113917" cy="57409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8892" y="864108"/>
              <a:ext cx="2048255" cy="567537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068811" y="6464985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42348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Email </a:t>
            </a:r>
            <a:r>
              <a:rPr sz="6000" spc="-10" dirty="0">
                <a:solidFill>
                  <a:srgbClr val="FFFFFF"/>
                </a:solidFill>
              </a:rPr>
              <a:t>Metrics</a:t>
            </a:r>
            <a:endParaRPr sz="6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70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6677" y="949558"/>
            <a:ext cx="9330055" cy="41059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46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Open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Rate</a:t>
            </a:r>
            <a:endParaRPr sz="1800" dirty="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3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Open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Opened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÷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Email</a:t>
            </a:r>
            <a:endParaRPr sz="1600" dirty="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305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metric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indication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interested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subscribers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you.</a:t>
            </a:r>
            <a:endParaRPr sz="1600" dirty="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Click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Rate</a:t>
            </a:r>
            <a:endParaRPr sz="1800" dirty="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3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Click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Clicked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÷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Email</a:t>
            </a:r>
            <a:endParaRPr sz="1600" dirty="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3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metric</a:t>
            </a:r>
            <a:r>
              <a:rPr sz="1600" spc="-10" dirty="0">
                <a:latin typeface="Calibri"/>
                <a:cs typeface="Calibri"/>
              </a:rPr>
              <a:t> provides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indication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interesting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20" dirty="0">
                <a:latin typeface="Calibri"/>
                <a:cs typeface="Calibri"/>
              </a:rPr>
              <a:t> was.</a:t>
            </a:r>
            <a:endParaRPr sz="1600" dirty="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Deliverability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Spam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Issues</a:t>
            </a:r>
            <a:endParaRPr sz="1800" dirty="0">
              <a:latin typeface="Calibri"/>
              <a:cs typeface="Calibri"/>
            </a:endParaRPr>
          </a:p>
          <a:p>
            <a:pPr marL="469900" marR="135255" lvl="1" indent="-182880">
              <a:lnSpc>
                <a:spcPct val="100000"/>
              </a:lnSpc>
              <a:spcBef>
                <a:spcPts val="3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Monitor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(number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÷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attempted)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healthy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subscribers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messages</a:t>
            </a:r>
            <a:endParaRPr sz="1600" dirty="0">
              <a:latin typeface="Calibri"/>
              <a:cs typeface="Calibri"/>
            </a:endParaRPr>
          </a:p>
          <a:p>
            <a:pPr marL="469900" lvl="1" indent="-182880">
              <a:lnSpc>
                <a:spcPct val="100000"/>
              </a:lnSpc>
              <a:spcBef>
                <a:spcPts val="30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Also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monitor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unsubscribes,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spam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complaints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bounces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reputation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among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inbox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providers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(i.e.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Gmail,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Yahoo)</a:t>
            </a:r>
            <a:endParaRPr sz="1600" dirty="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Revenue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Orders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Placed</a:t>
            </a:r>
            <a:endParaRPr sz="1800" dirty="0">
              <a:latin typeface="Calibri"/>
              <a:cs typeface="Calibri"/>
            </a:endParaRPr>
          </a:p>
          <a:p>
            <a:pPr marL="469900" marR="681990" lvl="1" indent="-182880">
              <a:lnSpc>
                <a:spcPct val="100000"/>
              </a:lnSpc>
              <a:spcBef>
                <a:spcPts val="320"/>
              </a:spcBef>
              <a:buFont typeface="Courier New" panose="02070309020205020404"/>
              <a:buChar char="o"/>
              <a:tabLst>
                <a:tab pos="469900" algn="l"/>
              </a:tabLst>
            </a:pPr>
            <a:r>
              <a:rPr sz="1600" spc="-20" dirty="0">
                <a:latin typeface="Calibri"/>
                <a:cs typeface="Calibri"/>
              </a:rPr>
              <a:t>Your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purchases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email.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Attribution methodologies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differ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settings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005839"/>
            <a:ext cx="1560576" cy="15605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1636" y="998149"/>
            <a:ext cx="9751060" cy="1940560"/>
            <a:chOff x="231636" y="998149"/>
            <a:chExt cx="9751060" cy="1940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636" y="998149"/>
              <a:ext cx="9750574" cy="19401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267" y="1005839"/>
              <a:ext cx="9685020" cy="187451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31632" y="3101291"/>
            <a:ext cx="5427345" cy="3411220"/>
            <a:chOff x="231632" y="3101291"/>
            <a:chExt cx="5427345" cy="341122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632" y="3101291"/>
              <a:ext cx="5426994" cy="34108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268" y="3108960"/>
              <a:ext cx="5361432" cy="33451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70" dirty="0"/>
              <a:t> </a:t>
            </a:r>
            <a:r>
              <a:rPr dirty="0"/>
              <a:t>Email</a:t>
            </a:r>
            <a:r>
              <a:rPr spc="-55" dirty="0"/>
              <a:t> </a:t>
            </a:r>
            <a:r>
              <a:rPr dirty="0"/>
              <a:t>Metrics</a:t>
            </a:r>
            <a:r>
              <a:rPr spc="-85" dirty="0"/>
              <a:t> </a:t>
            </a:r>
            <a:r>
              <a:rPr spc="-10" dirty="0"/>
              <a:t>Reports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5890242" y="3101298"/>
            <a:ext cx="6120765" cy="3035935"/>
            <a:chOff x="5890242" y="3101298"/>
            <a:chExt cx="6120765" cy="303593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90242" y="3101298"/>
              <a:ext cx="6120420" cy="30359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7880" y="3108960"/>
              <a:ext cx="6054852" cy="297027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328802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List</a:t>
            </a:r>
            <a:r>
              <a:rPr sz="6000" spc="-17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Health</a:t>
            </a:r>
            <a:endParaRPr sz="6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95" dirty="0"/>
              <a:t> </a:t>
            </a:r>
            <a:r>
              <a:rPr dirty="0"/>
              <a:t>Health</a:t>
            </a:r>
            <a:r>
              <a:rPr spc="-90" dirty="0"/>
              <a:t> </a:t>
            </a:r>
            <a:r>
              <a:rPr spc="-20" dirty="0"/>
              <a:t>Tips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52600" y="748030"/>
            <a:ext cx="10015855" cy="581533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805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Don’t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buy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lists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permission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subscribers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acquire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legally,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explain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0" dirty="0">
                <a:latin typeface="Calibri"/>
                <a:cs typeface="Calibri"/>
              </a:rPr>
              <a:t> received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person’s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(i.e.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partner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provided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require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opt-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before </a:t>
            </a:r>
            <a:r>
              <a:rPr sz="1600" dirty="0">
                <a:latin typeface="Calibri"/>
                <a:cs typeface="Calibri"/>
              </a:rPr>
              <a:t>emailing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again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consistently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spc="-20" dirty="0">
                <a:latin typeface="Calibri"/>
                <a:cs typeface="Calibri"/>
              </a:rPr>
              <a:t>Try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2-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maintain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sender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reputation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inbox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Clean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your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periodically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Remove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subscribers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engaged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year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Send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win-</a:t>
            </a:r>
            <a:r>
              <a:rPr sz="1600" dirty="0">
                <a:latin typeface="Calibri"/>
                <a:cs typeface="Calibri"/>
              </a:rPr>
              <a:t>back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permission-</a:t>
            </a:r>
            <a:r>
              <a:rPr sz="1600" dirty="0">
                <a:latin typeface="Calibri"/>
                <a:cs typeface="Calibri"/>
              </a:rPr>
              <a:t>gathering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campaigns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subscribers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engaged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9-12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months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5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 </a:t>
            </a:r>
            <a:r>
              <a:rPr sz="1600" spc="-10" dirty="0">
                <a:latin typeface="Calibri"/>
                <a:cs typeface="Calibri"/>
              </a:rPr>
              <a:t>engaged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you’ll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spam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folder</a:t>
            </a:r>
            <a:endParaRPr sz="1600">
              <a:latin typeface="Calibri"/>
              <a:cs typeface="Calibri"/>
            </a:endParaRPr>
          </a:p>
          <a:p>
            <a:pPr marL="194310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310" algn="l"/>
                <a:tab pos="286385" algn="l"/>
              </a:tabLst>
            </a:pPr>
            <a:r>
              <a:rPr sz="1800" b="1" dirty="0">
                <a:latin typeface="Calibri"/>
                <a:cs typeface="Calibri"/>
              </a:rPr>
              <a:t>Follow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all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CAN-</a:t>
            </a:r>
            <a:r>
              <a:rPr sz="1800" b="1" spc="-20" dirty="0">
                <a:latin typeface="Calibri"/>
                <a:cs typeface="Calibri"/>
              </a:rPr>
              <a:t>SPAM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regulations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(penalties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reach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$43,280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email!)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Don’t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false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misleading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(i.e.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reply-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address)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Don’t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deceptive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subject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lines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Identify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message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ad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valid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physical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postal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spc="-25" dirty="0">
                <a:latin typeface="Calibri"/>
                <a:cs typeface="Calibri"/>
              </a:rPr>
              <a:t>Tell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recipients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receiving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future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honor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opt-out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requests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promptly.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Monitor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behalf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043" y="979932"/>
            <a:ext cx="1312164" cy="125120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get</a:t>
            </a:r>
            <a:r>
              <a:rPr spc="-65" dirty="0"/>
              <a:t> </a:t>
            </a:r>
            <a:r>
              <a:rPr dirty="0"/>
              <a:t>people</a:t>
            </a:r>
            <a:r>
              <a:rPr spc="-65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dirty="0"/>
              <a:t>your</a:t>
            </a:r>
            <a:r>
              <a:rPr spc="-65" dirty="0"/>
              <a:t> </a:t>
            </a:r>
            <a:r>
              <a:rPr dirty="0"/>
              <a:t>email</a:t>
            </a:r>
            <a:r>
              <a:rPr spc="-65" dirty="0"/>
              <a:t> </a:t>
            </a:r>
            <a:r>
              <a:rPr dirty="0"/>
              <a:t>list</a:t>
            </a:r>
            <a:r>
              <a:rPr spc="-55" dirty="0"/>
              <a:t> </a:t>
            </a:r>
            <a:r>
              <a:rPr dirty="0"/>
              <a:t>(when</a:t>
            </a:r>
            <a:r>
              <a:rPr spc="-70" dirty="0"/>
              <a:t> </a:t>
            </a:r>
            <a:r>
              <a:rPr spc="-10" dirty="0"/>
              <a:t>you’re</a:t>
            </a:r>
            <a:r>
              <a:rPr spc="-8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small</a:t>
            </a:r>
            <a:r>
              <a:rPr spc="-55" dirty="0"/>
              <a:t> </a:t>
            </a:r>
            <a:r>
              <a:rPr spc="-10" dirty="0"/>
              <a:t>business)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0" y="1371836"/>
            <a:ext cx="8999855" cy="368490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805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spc="-10" dirty="0">
                <a:latin typeface="Calibri"/>
                <a:cs typeface="Calibri"/>
              </a:rPr>
              <a:t>Website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Options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sign-up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footer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pop-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sign-up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Require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email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address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purchase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purchasers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marketing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 </a:t>
            </a:r>
            <a:r>
              <a:rPr sz="1600" spc="-10" dirty="0">
                <a:latin typeface="Calibri"/>
                <a:cs typeface="Calibri"/>
              </a:rPr>
              <a:t>notifications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Social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Media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advertisements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encouraging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people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newsletters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Encourage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followers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newsletters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organic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post</a:t>
            </a:r>
            <a:endParaRPr sz="16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580"/>
              </a:spcBef>
              <a:buFont typeface="Arial" panose="020B0604020202020204"/>
              <a:buChar char="•"/>
              <a:tabLst>
                <a:tab pos="194945" algn="l"/>
              </a:tabLst>
            </a:pPr>
            <a:r>
              <a:rPr sz="1800" b="1" dirty="0">
                <a:latin typeface="Calibri"/>
                <a:cs typeface="Calibri"/>
              </a:rPr>
              <a:t>Offline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Methods</a:t>
            </a:r>
            <a:endParaRPr sz="18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25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Collect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addresses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checkout</a:t>
            </a:r>
            <a:endParaRPr sz="1600">
              <a:latin typeface="Calibri"/>
              <a:cs typeface="Calibri"/>
            </a:endParaRPr>
          </a:p>
          <a:p>
            <a:pPr marL="469265" lvl="1" indent="-18288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Promote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sign-ups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events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26" y="1676653"/>
            <a:ext cx="1310639" cy="16642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561" y="2705227"/>
            <a:ext cx="97097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Recommended</a:t>
            </a:r>
            <a:r>
              <a:rPr sz="6000" spc="-155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Email</a:t>
            </a:r>
            <a:r>
              <a:rPr sz="6000" spc="-145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Platforms</a:t>
            </a:r>
            <a:endParaRPr sz="6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6911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Email</a:t>
            </a:r>
            <a:r>
              <a:rPr spc="-100" dirty="0"/>
              <a:t> </a:t>
            </a:r>
            <a:r>
              <a:rPr dirty="0"/>
              <a:t>Platforms</a:t>
            </a:r>
            <a:r>
              <a:rPr spc="-105" dirty="0"/>
              <a:t> </a:t>
            </a:r>
            <a:r>
              <a:rPr dirty="0"/>
              <a:t>We</a:t>
            </a:r>
            <a:r>
              <a:rPr spc="-125" dirty="0"/>
              <a:t> </a:t>
            </a:r>
            <a:r>
              <a:rPr spc="-10" dirty="0"/>
              <a:t>Recommend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9752" y="1170177"/>
            <a:ext cx="1087755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There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several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email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platforms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designed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small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businesses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non-</a:t>
            </a:r>
            <a:r>
              <a:rPr sz="2000" b="1" spc="-10" dirty="0">
                <a:latin typeface="Calibri"/>
                <a:cs typeface="Calibri"/>
              </a:rPr>
              <a:t>technical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users.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recommend </a:t>
            </a:r>
            <a:r>
              <a:rPr sz="2000" b="1" dirty="0">
                <a:latin typeface="Calibri"/>
                <a:cs typeface="Calibri"/>
              </a:rPr>
              <a:t>these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platforms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because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good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value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have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lots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documentation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available.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1000" y="2149601"/>
          <a:ext cx="11393805" cy="419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7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2000" b="1" spc="-5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R w="19050">
                      <a:solidFill>
                        <a:srgbClr val="AEABAB"/>
                      </a:solidFill>
                      <a:prstDash val="sysDash"/>
                    </a:lnR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03695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BASIC</a:t>
                      </a:r>
                      <a:r>
                        <a:rPr sz="2000" b="1" spc="-8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AEABAB"/>
                      </a:solidFill>
                      <a:prstDash val="sysDash"/>
                    </a:lnL>
                    <a:lnR w="19050">
                      <a:solidFill>
                        <a:srgbClr val="AEABAB"/>
                      </a:solidFill>
                      <a:prstDash val="sysDash"/>
                    </a:lnR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SOPHISTICATED</a:t>
                      </a:r>
                      <a:r>
                        <a:rPr sz="2000" b="1" spc="-9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AEABAB"/>
                      </a:solidFill>
                      <a:prstDash val="sysDash"/>
                    </a:lnL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Business-to-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Business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(B2B)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8120" marB="0">
                    <a:lnR w="19050">
                      <a:solidFill>
                        <a:srgbClr val="AEABAB"/>
                      </a:solidFill>
                      <a:prstDash val="sysDash"/>
                    </a:lnR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AEABAB"/>
                      </a:solidFill>
                      <a:prstDash val="sysDash"/>
                    </a:lnL>
                    <a:lnR w="19050">
                      <a:solidFill>
                        <a:srgbClr val="AEABAB"/>
                      </a:solidFill>
                      <a:prstDash val="sysDash"/>
                    </a:lnR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AEABAB"/>
                      </a:solidFill>
                      <a:prstDash val="sysDash"/>
                    </a:lnL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Business-to-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Consumer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(B2C)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R w="19050">
                      <a:solidFill>
                        <a:srgbClr val="AEABAB"/>
                      </a:solidFill>
                      <a:prstDash val="sysDash"/>
                    </a:lnR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AEABAB"/>
                      </a:solidFill>
                      <a:prstDash val="sysDash"/>
                    </a:lnL>
                    <a:lnR w="19050">
                      <a:solidFill>
                        <a:srgbClr val="AEABAB"/>
                      </a:solidFill>
                      <a:prstDash val="sysDash"/>
                    </a:lnR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AEABAB"/>
                      </a:solidFill>
                      <a:prstDash val="sysDash"/>
                    </a:lnL>
                    <a:lnT w="19050">
                      <a:solidFill>
                        <a:srgbClr val="AEABAB"/>
                      </a:solidFill>
                      <a:prstDash val="sysDash"/>
                    </a:lnT>
                    <a:lnB w="19050">
                      <a:solidFill>
                        <a:srgbClr val="AEABAB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Non-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Profits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R w="19050">
                      <a:solidFill>
                        <a:srgbClr val="AEABAB"/>
                      </a:solidFill>
                      <a:prstDash val="sysDash"/>
                    </a:lnR>
                    <a:lnT w="19050">
                      <a:solidFill>
                        <a:srgbClr val="AEABAB"/>
                      </a:solidFill>
                      <a:prstDash val="sysDash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AEABAB"/>
                      </a:solidFill>
                      <a:prstDash val="sysDash"/>
                    </a:lnL>
                    <a:lnT w="19050">
                      <a:solidFill>
                        <a:srgbClr val="AEABAB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3064" y="4197285"/>
            <a:ext cx="2642448" cy="6183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1241" y="2917379"/>
            <a:ext cx="2709515" cy="733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5799" y="2935985"/>
            <a:ext cx="1992275" cy="6172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4826" y="5355335"/>
            <a:ext cx="4546831" cy="858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1241" y="4153121"/>
            <a:ext cx="2709515" cy="73262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980440" y="2967990"/>
            <a:ext cx="10947400" cy="119888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LAB WORK: Create an Email Using Brevo </a:t>
            </a:r>
          </a:p>
          <a:p>
            <a:pPr algn="ctr"/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(Email Marketing Tool)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10363200" cy="7017385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2"/>
                </a:solidFill>
                <a:sym typeface="+mn-ea"/>
              </a:rPr>
              <a:t>Step 1: Open the tool</a:t>
            </a:r>
            <a:br>
              <a:rPr lang="en-US" sz="2400" b="1" dirty="0">
                <a:solidFill>
                  <a:schemeClr val="tx2"/>
                </a:solidFill>
                <a:sym typeface="+mn-ea"/>
              </a:rPr>
            </a:br>
            <a:r>
              <a:rPr lang="en-US" sz="2000" dirty="0">
                <a:sym typeface="+mn-ea"/>
              </a:rPr>
              <a:t>a.) Go to www.brevo.com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b.) Click Sign up free</a:t>
            </a:r>
            <a:br>
              <a:rPr lang="en-US" sz="2400" dirty="0">
                <a:sym typeface="+mn-ea"/>
              </a:rPr>
            </a:br>
            <a:r>
              <a:rPr lang="en-US" sz="2400" b="1" dirty="0">
                <a:solidFill>
                  <a:schemeClr val="tx2"/>
                </a:solidFill>
                <a:sym typeface="+mn-ea"/>
              </a:rPr>
              <a:t>Step 2: Create your account</a:t>
            </a:r>
            <a:br>
              <a:rPr lang="en-US" sz="2400" dirty="0">
                <a:sym typeface="+mn-ea"/>
              </a:rPr>
            </a:br>
            <a:r>
              <a:rPr lang="en-US" sz="2400" dirty="0">
                <a:sym typeface="+mn-ea"/>
              </a:rPr>
              <a:t>a.) </a:t>
            </a:r>
            <a:r>
              <a:rPr lang="en-US" sz="2000" dirty="0">
                <a:sym typeface="+mn-ea"/>
              </a:rPr>
              <a:t>Sign up using email / Google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b.) Enter basic details (name, project/brand name)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c.) Select Student / Personal project (if asked)</a:t>
            </a:r>
            <a:br>
              <a:rPr lang="en-US" sz="2400" dirty="0">
                <a:sym typeface="+mn-ea"/>
              </a:rPr>
            </a:br>
            <a:r>
              <a:rPr lang="en-US" sz="2400" b="1" dirty="0">
                <a:solidFill>
                  <a:schemeClr val="tx2"/>
                </a:solidFill>
                <a:sym typeface="+mn-ea"/>
              </a:rPr>
              <a:t>Step 3: Verify your Email</a:t>
            </a:r>
            <a:br>
              <a:rPr lang="en-US" sz="2400" dirty="0">
                <a:sym typeface="+mn-ea"/>
              </a:rPr>
            </a:br>
            <a:r>
              <a:rPr lang="en-US" sz="2400" dirty="0">
                <a:sym typeface="+mn-ea"/>
              </a:rPr>
              <a:t>a.) </a:t>
            </a:r>
            <a:r>
              <a:rPr lang="en-US" sz="2000" dirty="0">
                <a:sym typeface="+mn-ea"/>
              </a:rPr>
              <a:t>Check your inbox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b.) Click the verification link</a:t>
            </a:r>
            <a:br>
              <a:rPr lang="en-US" sz="2000" dirty="0">
                <a:sym typeface="+mn-ea"/>
              </a:rPr>
            </a:br>
            <a:r>
              <a:rPr lang="en-US" sz="2000" b="1" dirty="0">
                <a:sym typeface="+mn-ea"/>
              </a:rPr>
              <a:t>Log in to Brevo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⚠️ If Brevo shows paid plans → skip / close</a:t>
            </a:r>
            <a:br>
              <a:rPr lang="en-US" sz="2000" dirty="0">
                <a:sym typeface="+mn-ea"/>
              </a:rPr>
            </a:br>
            <a:r>
              <a:rPr lang="en-US" sz="2000" dirty="0">
                <a:sym typeface="+mn-ea"/>
              </a:rPr>
              <a:t>You are already on the Free plan, so go for it </a:t>
            </a:r>
            <a:br>
              <a:rPr lang="en-US" sz="2400" dirty="0">
                <a:sym typeface="+mn-ea"/>
              </a:rPr>
            </a:b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10363200" cy="6740525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tx2"/>
                </a:solidFill>
                <a:sym typeface="+mn-ea"/>
              </a:rPr>
              <a:t>Step 4: Go to the Dashboard</a:t>
            </a:r>
            <a:br>
              <a:rPr lang="en-US" sz="2400" b="1">
                <a:solidFill>
                  <a:schemeClr val="tx2"/>
                </a:solidFill>
                <a:sym typeface="+mn-ea"/>
              </a:rPr>
            </a:br>
            <a:r>
              <a:rPr lang="en-US" sz="2000">
                <a:sym typeface="+mn-ea"/>
              </a:rPr>
              <a:t>a.) After login, you should see the Brevo Dashboard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b.) Left menu will show: Home, CRM, Marketing, Campaigns</a:t>
            </a:r>
            <a:br>
              <a:rPr lang="en-US" sz="2400">
                <a:sym typeface="+mn-ea"/>
              </a:rPr>
            </a:br>
            <a:r>
              <a:rPr lang="en-US" sz="2400" b="1">
                <a:solidFill>
                  <a:schemeClr val="tx2"/>
                </a:solidFill>
                <a:sym typeface="+mn-ea"/>
              </a:rPr>
              <a:t>Step 5: Create a Contact List </a:t>
            </a:r>
            <a:br>
              <a:rPr lang="en-US" sz="2400">
                <a:sym typeface="+mn-ea"/>
              </a:rPr>
            </a:br>
            <a:r>
              <a:rPr lang="en-US" sz="2000">
                <a:sym typeface="+mn-ea"/>
              </a:rPr>
              <a:t>a.) Go to CRM → Lists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b.) Click Create a list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c.) Name it as : Email Marketing Students List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d.) Select “Your First Folder”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e.) Click Create</a:t>
            </a:r>
            <a:br>
              <a:rPr lang="en-US" sz="2400">
                <a:sym typeface="+mn-ea"/>
              </a:rPr>
            </a:br>
            <a:r>
              <a:rPr lang="en-US" sz="2400" b="1">
                <a:solidFill>
                  <a:schemeClr val="tx2"/>
                </a:solidFill>
                <a:sym typeface="+mn-ea"/>
              </a:rPr>
              <a:t>Step 6: Add sample contacts</a:t>
            </a:r>
            <a:br>
              <a:rPr lang="en-US" sz="2400" b="1">
                <a:solidFill>
                  <a:schemeClr val="tx2"/>
                </a:solidFill>
                <a:sym typeface="+mn-ea"/>
              </a:rPr>
            </a:br>
            <a:r>
              <a:rPr lang="en-US" sz="2000">
                <a:sym typeface="+mn-ea"/>
              </a:rPr>
              <a:t>a.) </a:t>
            </a:r>
            <a:r>
              <a:rPr lang="en-US" sz="2000"/>
              <a:t>Open your list</a:t>
            </a:r>
            <a:br>
              <a:rPr lang="en-US" sz="2000"/>
            </a:br>
            <a:r>
              <a:rPr lang="en-US" sz="2000"/>
              <a:t>b</a:t>
            </a:r>
            <a:r>
              <a:rPr lang="en-US" sz="2000">
                <a:sym typeface="+mn-ea"/>
              </a:rPr>
              <a:t>.) </a:t>
            </a:r>
            <a:r>
              <a:rPr lang="en-US" sz="2000"/>
              <a:t>Click Add contacts</a:t>
            </a:r>
            <a:br>
              <a:rPr lang="en-US" sz="2000"/>
            </a:br>
            <a:r>
              <a:rPr lang="en-US" sz="2000"/>
              <a:t>c</a:t>
            </a:r>
            <a:r>
              <a:rPr lang="en-US" sz="2000">
                <a:sym typeface="+mn-ea"/>
              </a:rPr>
              <a:t>.) </a:t>
            </a:r>
            <a:r>
              <a:rPr lang="en-US" sz="2000"/>
              <a:t>Add at least 5 email addresses</a:t>
            </a:r>
            <a:br>
              <a:rPr lang="en-US" sz="2000"/>
            </a:br>
            <a:r>
              <a:rPr lang="en-US" sz="2000"/>
              <a:t>(You may use your own email for testing)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10363200" cy="3508375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tx2"/>
                </a:solidFill>
                <a:sym typeface="+mn-ea"/>
              </a:rPr>
              <a:t>Step 7: Create an Email Campaign</a:t>
            </a:r>
            <a:br>
              <a:rPr lang="en-US" sz="2400" b="1">
                <a:solidFill>
                  <a:schemeClr val="tx2"/>
                </a:solidFill>
                <a:sym typeface="+mn-ea"/>
              </a:rPr>
            </a:br>
            <a:r>
              <a:rPr lang="en-US" sz="2000">
                <a:sym typeface="+mn-ea"/>
              </a:rPr>
              <a:t>a.) Go to Marketing → Campaigns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b.) Click Create campaign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c.) Select Email</a:t>
            </a:r>
            <a:br>
              <a:rPr lang="en-US" sz="2000">
                <a:sym typeface="+mn-ea"/>
              </a:rPr>
            </a:br>
            <a:r>
              <a:rPr lang="en-US" sz="2000">
                <a:sym typeface="+mn-ea"/>
              </a:rPr>
              <a:t>d.) Choose Regular campaign</a:t>
            </a:r>
            <a:br>
              <a:rPr lang="en-US" sz="2400">
                <a:sym typeface="+mn-ea"/>
              </a:rPr>
            </a:br>
            <a:r>
              <a:rPr lang="en-US" sz="2400" b="1">
                <a:solidFill>
                  <a:schemeClr val="tx2"/>
                </a:solidFill>
                <a:sym typeface="+mn-ea"/>
              </a:rPr>
              <a:t>Step 8: Design the email (Drag &amp; Drop) </a:t>
            </a:r>
            <a:br>
              <a:rPr lang="en-US" sz="2400" b="1">
                <a:solidFill>
                  <a:schemeClr val="tx2"/>
                </a:solidFill>
                <a:sym typeface="+mn-ea"/>
              </a:rPr>
            </a:br>
            <a:r>
              <a:rPr lang="en-US" sz="2400" b="1">
                <a:solidFill>
                  <a:schemeClr val="tx2"/>
                </a:solidFill>
                <a:sym typeface="+mn-ea"/>
              </a:rPr>
              <a:t> </a:t>
            </a:r>
            <a:r>
              <a:rPr lang="en-US" sz="2000">
                <a:sym typeface="+mn-ea"/>
              </a:rPr>
              <a:t>Use the Drag &amp; Drop editor and add blocks in the order of your choice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21FA113E-34DD-4F23-903D-A7D1F5AC1959_4_5005_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0"/>
            <a:ext cx="3662680" cy="67494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10363200" cy="984885"/>
          </a:xfrm>
        </p:spPr>
        <p:txBody>
          <a:bodyPr/>
          <a:lstStyle/>
          <a:p>
            <a:r>
              <a:rPr lang="en-US"/>
              <a:t>You can explore these links too in case in you face a problem regarding sign 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838200" y="2209800"/>
            <a:ext cx="11006455" cy="1477328"/>
          </a:xfrm>
        </p:spPr>
        <p:txBody>
          <a:bodyPr wrap="square"/>
          <a:lstStyle/>
          <a:p>
            <a:r>
              <a:rPr lang="en-US" sz="2400" dirty="0"/>
              <a:t>1.) </a:t>
            </a:r>
            <a:r>
              <a:rPr lang="en-US" sz="2400" b="1" dirty="0"/>
              <a:t>Brevo</a:t>
            </a:r>
            <a:r>
              <a:rPr lang="en-US" sz="2400" dirty="0"/>
              <a:t> : </a:t>
            </a:r>
            <a:r>
              <a:rPr lang="en-US" sz="2400" dirty="0">
                <a:sym typeface="+mn-ea"/>
              </a:rPr>
              <a:t>www.brevo.com</a:t>
            </a:r>
            <a:endParaRPr lang="en-US" sz="2400" dirty="0"/>
          </a:p>
          <a:p>
            <a:r>
              <a:rPr lang="en-US" sz="2400" b="1" dirty="0"/>
              <a:t>2.) Mailchimp</a:t>
            </a:r>
            <a:r>
              <a:rPr lang="en-US" sz="2400" dirty="0"/>
              <a:t> : https://login.mailchimp.com/signup/ </a:t>
            </a:r>
          </a:p>
          <a:p>
            <a:r>
              <a:rPr lang="en-US" sz="2400" dirty="0"/>
              <a:t>3.) </a:t>
            </a:r>
            <a:r>
              <a:rPr lang="en-US" sz="2400" b="1" dirty="0" err="1"/>
              <a:t>MailerLite</a:t>
            </a:r>
            <a:r>
              <a:rPr lang="en-US" sz="2400" b="1" dirty="0"/>
              <a:t> – Free Forever Plan: </a:t>
            </a:r>
            <a:r>
              <a:rPr lang="en-US" sz="2400" dirty="0"/>
              <a:t>https://accounts.mailerlite.com/signup</a:t>
            </a:r>
          </a:p>
          <a:p>
            <a:r>
              <a:rPr lang="en-US" sz="2400" dirty="0"/>
              <a:t>4.) </a:t>
            </a:r>
            <a:r>
              <a:rPr lang="en-US" sz="2400" b="1" dirty="0" err="1"/>
              <a:t>SendPulse</a:t>
            </a:r>
            <a:r>
              <a:rPr lang="en-US" sz="2400" b="1" dirty="0"/>
              <a:t> Free Signup:</a:t>
            </a:r>
            <a:r>
              <a:rPr lang="en-US" sz="2400" dirty="0"/>
              <a:t> https://login.sendpulse.com/login/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5590" y="2125980"/>
            <a:ext cx="2786380" cy="492125"/>
          </a:xfrm>
        </p:spPr>
        <p:txBody>
          <a:bodyPr wrap="square"/>
          <a:lstStyle/>
          <a:p>
            <a:r>
              <a:rPr lang="en-US"/>
              <a:t>End of Lecture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2483</Words>
  <Application>Microsoft Office PowerPoint</Application>
  <PresentationFormat>Widescreen</PresentationFormat>
  <Paragraphs>319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Segoe UI Emoji</vt:lpstr>
      <vt:lpstr>Times New Roman</vt:lpstr>
      <vt:lpstr>Wingdings</vt:lpstr>
      <vt:lpstr>Office Theme</vt:lpstr>
      <vt:lpstr>Email Marketing  How To Build A Successful Email Program</vt:lpstr>
      <vt:lpstr>Email Marketing 101 Agenda</vt:lpstr>
      <vt:lpstr>Why Email Marketing?</vt:lpstr>
      <vt:lpstr>Why email marketing?</vt:lpstr>
      <vt:lpstr>Types of Emails</vt:lpstr>
      <vt:lpstr>Email Types &amp; Purposes</vt:lpstr>
      <vt:lpstr>PowerPoint Presentation</vt:lpstr>
      <vt:lpstr>Email Best Practices</vt:lpstr>
      <vt:lpstr>Getting the Open</vt:lpstr>
      <vt:lpstr>Email Anatomy</vt:lpstr>
      <vt:lpstr>Getting the Open</vt:lpstr>
      <vt:lpstr>Template Design Best Practices</vt:lpstr>
      <vt:lpstr>Content Strategy Best Practices</vt:lpstr>
      <vt:lpstr>Content Strategy Best Practices</vt:lpstr>
      <vt:lpstr>Content Strategy Best Practices</vt:lpstr>
      <vt:lpstr>Content Strategy Best Practices</vt:lpstr>
      <vt:lpstr>Content Strategy Best Practices</vt:lpstr>
      <vt:lpstr>Best-in-Class Newsletters</vt:lpstr>
      <vt:lpstr>Best-in-Class Newsletters</vt:lpstr>
      <vt:lpstr>Holiday Marketing Tips</vt:lpstr>
      <vt:lpstr>Most shoppers start before Thanksgiving</vt:lpstr>
      <vt:lpstr>Online holiday sales will surge 25-35%</vt:lpstr>
      <vt:lpstr>To succeed in the email marketing channel consider the following</vt:lpstr>
      <vt:lpstr>Start early and map out content for the entire holiday season</vt:lpstr>
      <vt:lpstr>Email send volume increases dramatically during holidays</vt:lpstr>
      <vt:lpstr>Ensure key email automations are setup and running during holidays</vt:lpstr>
      <vt:lpstr>Email Metrics</vt:lpstr>
      <vt:lpstr>Email Metrics</vt:lpstr>
      <vt:lpstr>Sample Email Metrics Reports</vt:lpstr>
      <vt:lpstr>List Health</vt:lpstr>
      <vt:lpstr>List Health Tips</vt:lpstr>
      <vt:lpstr>How to get people on your email list (when you’re a small business)</vt:lpstr>
      <vt:lpstr>Recommended Email Platforms</vt:lpstr>
      <vt:lpstr>Email Platforms We Recommend</vt:lpstr>
      <vt:lpstr>PowerPoint Presentation</vt:lpstr>
      <vt:lpstr>Step 1: Open the tool a.) Go to www.brevo.com b.) Click Sign up free Step 2: Create your account a.) Sign up using email / Google b.) Enter basic details (name, project/brand name) c.) Select Student / Personal project (if asked) Step 3: Verify your Email a.) Check your inbox b.) Click the verification link Log in to Brevo ⚠️ If Brevo shows paid plans → skip / close You are already on the Free plan, so go for it  </vt:lpstr>
      <vt:lpstr>Step 4: Go to the Dashboard a.) After login, you should see the Brevo Dashboard b.) Left menu will show: Home, CRM, Marketing, Campaigns Step 5: Create a Contact List  a.) Go to CRM → Lists b.) Click Create a list c.) Name it as : Email Marketing Students List d.) Select “Your First Folder” e.) Click Create Step 6: Add sample contacts a.) Open your list b.) Click Add contacts c.) Add at least 5 email addresses (You may use your own email for testing)</vt:lpstr>
      <vt:lpstr>Step 7: Create an Email Campaign a.) Go to Marketing → Campaigns b.) Click Create campaign c.) Select Email d.) Choose Regular campaign Step 8: Design the email (Drag &amp; Drop)   Use the Drag &amp; Drop editor and add blocks in the order of your choice </vt:lpstr>
      <vt:lpstr>PowerPoint Presentation</vt:lpstr>
      <vt:lpstr>You can explore these links too in case in you face a problem regarding sign up</vt:lpstr>
      <vt:lpstr>End of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Marketing 101_x000d_How To Build A Successful Email Program</dc:title>
  <dc:creator>Bortner, Megan</dc:creator>
  <cp:lastModifiedBy>Nimra Abbas</cp:lastModifiedBy>
  <cp:revision>5</cp:revision>
  <dcterms:created xsi:type="dcterms:W3CDTF">2025-12-27T15:31:07Z</dcterms:created>
  <dcterms:modified xsi:type="dcterms:W3CDTF">2025-12-31T07:17:06Z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2020-10-19T15:00:00Z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2025-12-18T15:00:00Z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KSOProductBuildVer">
    <vt:lpwstr>1033-5.7.0.8090</vt:lpwstr>
  </property>
</Properties>
</file>