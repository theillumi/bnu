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532" r:id="rId3"/>
    <p:sldId id="573" r:id="rId4"/>
    <p:sldId id="603" r:id="rId5"/>
    <p:sldId id="608" r:id="rId6"/>
    <p:sldId id="548" r:id="rId7"/>
    <p:sldId id="605" r:id="rId8"/>
    <p:sldId id="554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20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27" y="3810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13" name="Group 12"/>
          <p:cNvGrpSpPr>
            <a:grpSpLocks noGrp="1" noRot="1" noChangeAspect="1" noMove="1" noResize="1" noUngrp="1"/>
          </p:cNvGrpSpPr>
          <p:nvPr/>
        </p:nvGrpSpPr>
        <p:grpSpPr>
          <a:xfrm rot="16200000">
            <a:off x="176022" y="1162371"/>
            <a:ext cx="457200" cy="644652"/>
            <a:chOff x="215328" y="-46937"/>
            <a:chExt cx="304800" cy="2773841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>
            <a:grpSpLocks noGrp="1" noRot="1" noChangeAspect="1" noMove="1" noResize="1" noUngrp="1"/>
          </p:cNvGrpSpPr>
          <p:nvPr/>
        </p:nvGrpSpPr>
        <p:grpSpPr>
          <a:xfrm>
            <a:off x="2" y="3113130"/>
            <a:ext cx="18073094" cy="6139959"/>
            <a:chOff x="1" y="2075420"/>
            <a:chExt cx="12048729" cy="4093306"/>
          </a:xfrm>
        </p:grpSpPr>
        <p:sp>
          <p:nvSpPr>
            <p:cNvPr id="20" name="Oval 19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1" name="Oval 20"/>
            <p:cNvSpPr/>
            <p:nvPr/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2" name="Oval 21"/>
            <p:cNvSpPr/>
            <p:nvPr/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3" name="Oval 22"/>
            <p:cNvSpPr/>
            <p:nvPr/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24" name="Oval 23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5" name="Oval 24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</p:grp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15657219" y="1563908"/>
            <a:ext cx="4194692" cy="1066878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29" name="Group 28"/>
          <p:cNvGrpSpPr>
            <a:grpSpLocks noGrp="1" noRot="1" noChangeAspect="1" noMove="1" noResize="1" noUngrp="1"/>
          </p:cNvGrpSpPr>
          <p:nvPr/>
        </p:nvGrpSpPr>
        <p:grpSpPr>
          <a:xfrm>
            <a:off x="16889309" y="476367"/>
            <a:ext cx="822960" cy="823511"/>
            <a:chOff x="7029447" y="3514725"/>
            <a:chExt cx="1285875" cy="549007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>
            <a:grpSpLocks noGrp="1" noRot="1" noChangeAspect="1" noMove="1" noResize="1" noUngrp="1"/>
          </p:cNvGrpSpPr>
          <p:nvPr/>
        </p:nvGrpSpPr>
        <p:grpSpPr>
          <a:xfrm rot="5400000">
            <a:off x="924518" y="8910840"/>
            <a:ext cx="1928813" cy="823511"/>
            <a:chOff x="7029447" y="3514725"/>
            <a:chExt cx="1285875" cy="549007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295" y="2552700"/>
            <a:ext cx="13529310" cy="6046470"/>
          </a:xfrm>
          <a:noFill/>
        </p:spPr>
        <p:txBody>
          <a:bodyPr anchor="t">
            <a:normAutofit/>
          </a:bodyPr>
          <a:lstStyle/>
          <a:p>
            <a:br>
              <a:rPr lang="en-US" sz="7200" b="1"/>
            </a:br>
            <a:r>
              <a:rPr lang="en-US" sz="7200" b="1"/>
              <a:t>       Digital Marketing </a:t>
            </a:r>
            <a:br>
              <a:rPr lang="en-US" sz="7200" b="1"/>
            </a:br>
            <a:endParaRPr lang="en-US" sz="72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495300"/>
            <a:ext cx="15544800" cy="1384935"/>
          </a:xfrm>
        </p:spPr>
        <p:txBody>
          <a:bodyPr/>
          <a:p>
            <a:r>
              <a:rPr lang="en-US"/>
              <a:t>Introduction to SEO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1143000" y="2247900"/>
            <a:ext cx="154813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685800" marR="0" indent="-685800" algn="l" rtl="0" eaLnBrk="1" fontAlgn="auto" latinLnBrk="0" hangingPunct="1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800" b="1" i="0" u="none" strike="noStrike" kern="0" cap="none" spc="0" normalizeH="0" baseline="0" noProof="1">
                <a:solidFill>
                  <a:schemeClr val="tx1"/>
                </a:solidFill>
                <a:latin typeface="Liberation Sans Narrow"/>
                <a:ea typeface="+mn-ea"/>
                <a:cs typeface="Liberation Sans Narrow"/>
                <a:sym typeface="+mn-ea"/>
              </a:rPr>
              <a:t>Intent</a:t>
            </a:r>
            <a:endParaRPr kumimoji="0" lang="en-US" sz="2800" b="1" i="0" u="none" strike="noStrike" kern="0" cap="none" spc="0" normalizeH="0" baseline="0" noProof="1">
              <a:solidFill>
                <a:schemeClr val="tx1"/>
              </a:solidFill>
              <a:latin typeface="Liberation Sans Narrow"/>
              <a:ea typeface="+mn-ea"/>
              <a:cs typeface="Liberation Sans Narrow"/>
              <a:sym typeface="+mn-ea"/>
            </a:endParaRPr>
          </a:p>
          <a:p>
            <a:pPr marL="685800" marR="0" indent="-685800" algn="l" rtl="0" eaLnBrk="1" fontAlgn="auto" latinLnBrk="0" hangingPunct="1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800" b="1" i="0" u="none" strike="noStrike" kern="0" cap="none" spc="0" normalizeH="0" baseline="0" noProof="1">
                <a:solidFill>
                  <a:schemeClr val="tx1"/>
                </a:solidFill>
                <a:latin typeface="Liberation Sans Narrow"/>
                <a:ea typeface="+mn-ea"/>
                <a:cs typeface="Liberation Sans Narrow"/>
                <a:sym typeface="+mn-ea"/>
              </a:rPr>
              <a:t>How to Access SMERush Tool? </a:t>
            </a:r>
            <a:endParaRPr kumimoji="0" lang="en-US" sz="2800" b="1" i="0" u="none" strike="noStrike" kern="0" cap="none" spc="0" normalizeH="0" baseline="0" noProof="1">
              <a:solidFill>
                <a:schemeClr val="tx1"/>
              </a:solidFill>
              <a:latin typeface="Liberation Sans Narrow"/>
              <a:ea typeface="+mn-ea"/>
              <a:cs typeface="Liberation Sans Narrow"/>
              <a:sym typeface="+mn-ea"/>
            </a:endParaRPr>
          </a:p>
          <a:p>
            <a:pPr marL="685800" marR="0" indent="-685800" algn="l" rtl="0" eaLnBrk="1" fontAlgn="auto" latinLnBrk="0" hangingPunct="1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kumimoji="0" lang="en-US" sz="2800" b="1" i="0" u="none" strike="noStrike" kern="0" cap="none" spc="0" normalizeH="0" baseline="0" noProof="1">
              <a:solidFill>
                <a:schemeClr val="tx1"/>
              </a:solidFill>
              <a:latin typeface="Liberation Sans Narrow"/>
              <a:ea typeface="+mn-ea"/>
              <a:cs typeface="Liberation Sans Narrow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95300"/>
            <a:ext cx="15544800" cy="1661795"/>
          </a:xfrm>
        </p:spPr>
        <p:txBody>
          <a:bodyPr/>
          <a:p>
            <a:r>
              <a:rPr lang="en-US" sz="5400" b="1"/>
              <a:t>Intent</a:t>
            </a:r>
            <a:endParaRPr lang="en-US" sz="5400" b="1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914400" y="1943100"/>
            <a:ext cx="16643985" cy="8071485"/>
          </a:xfrm>
        </p:spPr>
        <p:txBody>
          <a:bodyPr>
            <a:normAutofit/>
          </a:bodyPr>
          <a:p>
            <a:pPr lvl="8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458C9D"/>
              </a:solidFill>
              <a:latin typeface="Liberation Sans Narrow"/>
              <a:cs typeface="Liberation Sans Narrow"/>
            </a:endParaRPr>
          </a:p>
          <a:p>
            <a:pPr marL="457200" indent="-457200"/>
            <a:r>
              <a:rPr lang="en-US" sz="3200" b="1"/>
              <a:t>Keyword Intent </a:t>
            </a:r>
            <a:endParaRPr lang="en-US" sz="3200" b="1"/>
          </a:p>
          <a:p>
            <a:pPr marL="914400" lvl="1" indent="-457200" algn="l">
              <a:buClrTx/>
              <a:buSzTx/>
            </a:pPr>
            <a:r>
              <a:rPr lang="en-US">
                <a:sym typeface="+mn-ea"/>
              </a:rPr>
              <a:t>C -&gt; Commerical Keywords - buying/purchase intent, e.g., smartphone prices</a:t>
            </a:r>
            <a:endParaRPr lang="en-US">
              <a:sym typeface="+mn-ea"/>
            </a:endParaRPr>
          </a:p>
          <a:p>
            <a:pPr marL="914400" lvl="1" indent="-457200" algn="l">
              <a:buClrTx/>
              <a:buSzTx/>
            </a:pPr>
            <a:r>
              <a:rPr lang="en-US" sz="2800"/>
              <a:t>T </a:t>
            </a:r>
            <a:r>
              <a:rPr lang="en-US">
                <a:sym typeface="+mn-ea"/>
              </a:rPr>
              <a:t>-&gt; Transcational Keywords - more buying intent, e.g., buy smartphone, hire accountant </a:t>
            </a:r>
            <a:endParaRPr lang="en-US" sz="2800"/>
          </a:p>
          <a:p>
            <a:pPr marL="914400" lvl="1" indent="-457200" algn="l">
              <a:buClrTx/>
              <a:buSzTx/>
            </a:pPr>
            <a:r>
              <a:rPr lang="en-US" sz="2800"/>
              <a:t>I </a:t>
            </a:r>
            <a:r>
              <a:rPr lang="en-US">
                <a:sym typeface="+mn-ea"/>
              </a:rPr>
              <a:t>-&gt; Informational Keywords - information intent, e.g., how to hire accountant, how to speed up your smartphones, etc</a:t>
            </a:r>
            <a:endParaRPr lang="en-US">
              <a:sym typeface="+mn-ea"/>
            </a:endParaRPr>
          </a:p>
          <a:p>
            <a:pPr marL="914400" lvl="1" indent="-457200" algn="l">
              <a:buClrTx/>
              <a:buSzTx/>
            </a:pPr>
            <a:r>
              <a:rPr lang="en-US">
                <a:solidFill>
                  <a:srgbClr val="FF0000"/>
                </a:solidFill>
                <a:sym typeface="+mn-ea"/>
              </a:rPr>
              <a:t>N -&gt; Navigational keywords -&gt; competatiors keywords -&gt; e.g., daraz smartphones -&gt; never target these keywords</a:t>
            </a:r>
            <a:endParaRPr lang="en-US" sz="2800">
              <a:solidFill>
                <a:srgbClr val="FF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3200" b="1"/>
              <a:t>Keyword Selection Criteria</a:t>
            </a:r>
            <a:endParaRPr lang="en-US" sz="3200" b="1"/>
          </a:p>
          <a:p>
            <a:pPr marL="914400" lvl="1" indent="-457200"/>
            <a:r>
              <a:rPr lang="en-US" sz="2450">
                <a:sym typeface="+mn-ea"/>
              </a:rPr>
              <a:t>Search Volumne -&gt; more than 300</a:t>
            </a:r>
            <a:endParaRPr lang="en-US" sz="2450">
              <a:sym typeface="+mn-ea"/>
            </a:endParaRPr>
          </a:p>
          <a:p>
            <a:pPr marL="914400" lvl="1" indent="-457200"/>
            <a:r>
              <a:rPr lang="en-US" sz="2800"/>
              <a:t>Keyword Difficulty / Competition -&gt; less than 35</a:t>
            </a:r>
            <a:endParaRPr lang="en-US" sz="2800"/>
          </a:p>
          <a:p>
            <a:pPr marL="914400" lvl="1" indent="-457200"/>
            <a:r>
              <a:rPr lang="en-US" sz="2800"/>
              <a:t>Intent : a.) Ecommerce/Service/Real Estate/Portfolio/Company -&gt; Commercial</a:t>
            </a:r>
            <a:endParaRPr lang="en-US" sz="2800"/>
          </a:p>
          <a:p>
            <a:pPr marL="457200" lvl="1" indent="0">
              <a:buNone/>
            </a:pPr>
            <a:r>
              <a:rPr lang="en-US" sz="2800"/>
              <a:t>                 b</a:t>
            </a:r>
            <a:r>
              <a:rPr lang="en-US" sz="2800">
                <a:sym typeface="+mn-ea"/>
              </a:rPr>
              <a:t>.) Blogging -&gt; Informational</a:t>
            </a:r>
            <a:endParaRPr lang="en-US" sz="2800"/>
          </a:p>
          <a:p>
            <a:pPr marL="457200" indent="-457200"/>
            <a:endParaRPr lang="en-US" sz="3200"/>
          </a:p>
          <a:p>
            <a:pPr marL="0" indent="0">
              <a:buNone/>
            </a:pPr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endParaRPr lang="en-US"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95300"/>
            <a:ext cx="15544800" cy="1661795"/>
          </a:xfrm>
        </p:spPr>
        <p:txBody>
          <a:bodyPr/>
          <a:p>
            <a:r>
              <a:rPr lang="en-US" sz="5400" b="1" kern="0">
                <a:latin typeface="Liberation Sans Narrow"/>
                <a:ea typeface="+mn-ea"/>
                <a:cs typeface="Liberation Sans Narrow"/>
                <a:sym typeface="+mn-ea"/>
              </a:rPr>
              <a:t>How to Access SMERush Tool?</a:t>
            </a:r>
            <a:endParaRPr lang="en-US" sz="5400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914400" y="1943100"/>
            <a:ext cx="16643985" cy="8071485"/>
          </a:xfrm>
        </p:spPr>
        <p:txBody>
          <a:bodyPr>
            <a:normAutofit/>
          </a:bodyPr>
          <a:p>
            <a:pPr lvl="8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458C9D"/>
              </a:solidFill>
              <a:latin typeface="Liberation Sans Narrow"/>
              <a:cs typeface="Liberation Sans Narrow"/>
            </a:endParaRPr>
          </a:p>
          <a:p>
            <a:pPr marL="457200" indent="-457200"/>
            <a:r>
              <a:rPr lang="en-US" sz="3200" b="1"/>
              <a:t>Keyword Intent </a:t>
            </a:r>
            <a:endParaRPr lang="en-US" sz="3200" b="1"/>
          </a:p>
          <a:p>
            <a:pPr marL="914400" lvl="1" indent="-457200" algn="l">
              <a:buClrTx/>
              <a:buSzTx/>
            </a:pPr>
            <a:r>
              <a:rPr lang="en-US">
                <a:sym typeface="+mn-ea"/>
              </a:rPr>
              <a:t>Group buy SEO Tools</a:t>
            </a:r>
            <a:endParaRPr lang="en-US">
              <a:sym typeface="+mn-ea"/>
            </a:endParaRPr>
          </a:p>
          <a:p>
            <a:pPr marL="1371600" lvl="2" indent="-457200" algn="l">
              <a:buClrTx/>
              <a:buSzTx/>
            </a:pPr>
            <a:r>
              <a:rPr lang="en-US" sz="2800">
                <a:sym typeface="+mn-ea"/>
              </a:rPr>
              <a:t>Digitavision</a:t>
            </a:r>
            <a:endParaRPr lang="en-US" sz="2800">
              <a:sym typeface="+mn-ea"/>
            </a:endParaRPr>
          </a:p>
          <a:p>
            <a:pPr marL="1371600" lvl="2" indent="-457200" algn="l">
              <a:buClrTx/>
              <a:buSzTx/>
            </a:pPr>
            <a:r>
              <a:rPr lang="en-US" sz="2800">
                <a:sym typeface="+mn-ea"/>
              </a:rPr>
              <a:t>Azadseotool</a:t>
            </a:r>
            <a:endParaRPr lang="en-US" sz="2800">
              <a:sym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3200" b="1"/>
              <a:t>Keyword Selection Criteria</a:t>
            </a:r>
            <a:endParaRPr lang="en-US" sz="3200" b="1"/>
          </a:p>
          <a:p>
            <a:pPr marL="914400" lvl="1" indent="-457200"/>
            <a:r>
              <a:rPr lang="en-US" sz="2450">
                <a:sym typeface="+mn-ea"/>
              </a:rPr>
              <a:t>Search Volumne -&gt; more than 300</a:t>
            </a:r>
            <a:endParaRPr lang="en-US" sz="2450">
              <a:sym typeface="+mn-ea"/>
            </a:endParaRPr>
          </a:p>
          <a:p>
            <a:pPr marL="914400" lvl="1" indent="-457200"/>
            <a:r>
              <a:rPr lang="en-US" sz="2800"/>
              <a:t>Keyword Difficulty / Competition -&gt; less than 35</a:t>
            </a:r>
            <a:endParaRPr lang="en-US" sz="2800"/>
          </a:p>
          <a:p>
            <a:pPr marL="914400" lvl="1" indent="-457200"/>
            <a:r>
              <a:rPr lang="en-US" sz="2800"/>
              <a:t>Intent : a.) Ecommerce/Service/Real Estate/Portfolio/Company -&gt; Commercial</a:t>
            </a:r>
            <a:endParaRPr lang="en-US" sz="2800"/>
          </a:p>
          <a:p>
            <a:pPr marL="457200" lvl="1" indent="0">
              <a:buNone/>
            </a:pPr>
            <a:r>
              <a:rPr lang="en-US" sz="2800"/>
              <a:t>                 b</a:t>
            </a:r>
            <a:r>
              <a:rPr lang="en-US" sz="2800">
                <a:sym typeface="+mn-ea"/>
              </a:rPr>
              <a:t>.) Blogging -&gt; Informational</a:t>
            </a:r>
            <a:endParaRPr lang="en-US" sz="2800"/>
          </a:p>
          <a:p>
            <a:pPr marL="457200" indent="-457200"/>
            <a:endParaRPr lang="en-US" sz="3200"/>
          </a:p>
          <a:p>
            <a:pPr marL="0" indent="0">
              <a:buNone/>
            </a:pPr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endParaRPr lang="en-US"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19100"/>
            <a:ext cx="14712950" cy="1143000"/>
          </a:xfrm>
        </p:spPr>
        <p:txBody>
          <a:bodyPr>
            <a:norm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sz="5400" b="1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Content - Internal Links</a:t>
            </a:r>
            <a:endParaRPr lang="en-US" sz="5400" b="1">
              <a:pattFill prst="dkUpDiag">
                <a:fgClr>
                  <a:schemeClr val="bg1">
                    <a:lumMod val="50000"/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  <a:alpha val="40000"/>
                    <a:lumMod val="50000"/>
                  </a:schemeClr>
                </a:outerShdw>
              </a:effectLst>
            </a:endParaRPr>
          </a:p>
        </p:txBody>
      </p:sp>
      <p:pic>
        <p:nvPicPr>
          <p:cNvPr id="4" name="Picture 3" descr="4CB54343-7D07-4D6D-92F2-C97D4100D552"/>
          <p:cNvPicPr>
            <a:picLocks noChangeAspect="1"/>
          </p:cNvPicPr>
          <p:nvPr/>
        </p:nvPicPr>
        <p:blipFill>
          <a:blip r:embed="rId1"/>
          <a:srcRect t="7393"/>
          <a:stretch>
            <a:fillRect/>
          </a:stretch>
        </p:blipFill>
        <p:spPr>
          <a:xfrm>
            <a:off x="1371600" y="1852930"/>
            <a:ext cx="16190595" cy="79863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95300"/>
            <a:ext cx="15544800" cy="1661795"/>
          </a:xfrm>
        </p:spPr>
        <p:txBody>
          <a:bodyPr/>
          <a:p>
            <a:r>
              <a:rPr lang="en-US" sz="5400"/>
              <a:t>Talking about SEO</a:t>
            </a:r>
            <a:endParaRPr lang="en-US" sz="5400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914400" y="1943100"/>
            <a:ext cx="16515080" cy="8071485"/>
          </a:xfrm>
        </p:spPr>
        <p:txBody>
          <a:bodyPr>
            <a:normAutofit fontScale="90000" lnSpcReduction="10000"/>
          </a:bodyPr>
          <a:p>
            <a:pPr lvl="8" indent="0">
              <a:buFont typeface="Arial" panose="020B0604020202020204" pitchFamily="34" charset="0"/>
              <a:buNone/>
            </a:pPr>
            <a:endParaRPr lang="en-US" sz="3200" b="1" dirty="0">
              <a:solidFill>
                <a:srgbClr val="458C9D"/>
              </a:solidFill>
              <a:latin typeface="Liberation Sans Narrow"/>
              <a:cs typeface="Liberation Sans Narrow"/>
            </a:endParaRPr>
          </a:p>
          <a:p>
            <a:pPr marL="457200" indent="-457200"/>
            <a:r>
              <a:rPr lang="en-US" sz="3200" b="1"/>
              <a:t>SEMRush Tool</a:t>
            </a:r>
            <a:endParaRPr lang="en-US" sz="3200" b="1"/>
          </a:p>
          <a:p>
            <a:pPr marL="914400" lvl="1" indent="-457200" algn="l">
              <a:lnSpc>
                <a:spcPct val="150000"/>
              </a:lnSpc>
              <a:buClrTx/>
              <a:buSzTx/>
            </a:pPr>
            <a:r>
              <a:rPr lang="en-US">
                <a:sym typeface="+mn-ea"/>
              </a:rPr>
              <a:t>SEMRush tool -&gt; Keyword Overview -&gt; Enter Keywords</a:t>
            </a:r>
            <a:endParaRPr lang="en-US"/>
          </a:p>
          <a:p>
            <a:pPr marL="914400" lvl="1" indent="-457200">
              <a:lnSpc>
                <a:spcPct val="100000"/>
              </a:lnSpc>
            </a:pPr>
            <a:r>
              <a:rPr lang="en-US"/>
              <a:t>Pick Target Region</a:t>
            </a:r>
            <a:endParaRPr lang="en-US"/>
          </a:p>
          <a:p>
            <a:pPr marL="914400" lvl="1" indent="-457200">
              <a:lnSpc>
                <a:spcPct val="100000"/>
              </a:lnSpc>
            </a:pPr>
            <a:r>
              <a:rPr lang="en-US"/>
              <a:t>Click on “Search”</a:t>
            </a:r>
            <a:endParaRPr lang="en-US"/>
          </a:p>
          <a:p>
            <a:pPr marL="914400" lvl="1" indent="-457200">
              <a:lnSpc>
                <a:spcPct val="100000"/>
              </a:lnSpc>
            </a:pPr>
            <a:endParaRPr lang="en-US"/>
          </a:p>
          <a:p>
            <a:pPr marL="914400" lvl="1" indent="-457200">
              <a:lnSpc>
                <a:spcPct val="100000"/>
              </a:lnSpc>
            </a:pPr>
            <a:r>
              <a:rPr lang="en-US"/>
              <a:t>Class Activity : Think of your brand and generate keywords using gpt and check its score and pick the kewyords</a:t>
            </a:r>
            <a:endParaRPr lang="en-US"/>
          </a:p>
          <a:p>
            <a:pPr marL="914400" lvl="1" indent="-457200">
              <a:lnSpc>
                <a:spcPct val="100000"/>
              </a:lnSpc>
            </a:pPr>
            <a:endParaRPr lang="en-US"/>
          </a:p>
          <a:p>
            <a:pPr marL="457200" indent="-457200"/>
            <a:r>
              <a:rPr lang="en-US" sz="2800" b="1"/>
              <a:t>Keyword Selection Criteria</a:t>
            </a:r>
            <a:endParaRPr lang="en-US" sz="2800" b="1"/>
          </a:p>
          <a:p>
            <a:pPr marL="914400" lvl="1" indent="-457200" algn="l">
              <a:lnSpc>
                <a:spcPct val="150000"/>
              </a:lnSpc>
              <a:buClrTx/>
              <a:buSzTx/>
            </a:pPr>
            <a:r>
              <a:rPr lang="en-US" sz="2800">
                <a:sym typeface="+mn-ea"/>
              </a:rPr>
              <a:t>Volume -&gt; montlhy search volume -&gt; higher the search volumne, more the traffic</a:t>
            </a:r>
            <a:endParaRPr lang="en-US" sz="2800">
              <a:sym typeface="+mn-ea"/>
            </a:endParaRPr>
          </a:p>
          <a:p>
            <a:pPr marL="914400" lvl="1" indent="-457200" algn="l">
              <a:lnSpc>
                <a:spcPct val="150000"/>
              </a:lnSpc>
              <a:buClrTx/>
              <a:buSzTx/>
            </a:pPr>
            <a:r>
              <a:rPr lang="en-US" sz="2800">
                <a:sym typeface="+mn-ea"/>
              </a:rPr>
              <a:t>KD (Keyword Difficulty) -&gt; It means that how much it is difficult to rank on some keyword, higher the KB more difficult to rank means it has more competition in the market</a:t>
            </a:r>
            <a:endParaRPr lang="en-US" sz="2800">
              <a:sym typeface="+mn-ea"/>
            </a:endParaRPr>
          </a:p>
          <a:p>
            <a:pPr marL="914400" lvl="1" indent="-457200" algn="l">
              <a:lnSpc>
                <a:spcPct val="150000"/>
              </a:lnSpc>
              <a:buClrTx/>
              <a:buSzTx/>
            </a:pPr>
            <a:r>
              <a:rPr lang="en-US" b="1"/>
              <a:t>KD : 0 - 20</a:t>
            </a:r>
            <a:r>
              <a:rPr lang="en-US"/>
              <a:t> : very easy to rank, ifs its between </a:t>
            </a:r>
            <a:r>
              <a:rPr lang="en-US" b="1"/>
              <a:t>20 - 35:</a:t>
            </a:r>
            <a:r>
              <a:rPr lang="en-US"/>
              <a:t> easy to rank, if its </a:t>
            </a:r>
            <a:r>
              <a:rPr lang="en-US">
                <a:sym typeface="+mn-ea"/>
              </a:rPr>
              <a:t>between</a:t>
            </a:r>
            <a:r>
              <a:rPr lang="en-US" b="1">
                <a:sym typeface="+mn-ea"/>
              </a:rPr>
              <a:t> 35: - 45:</a:t>
            </a:r>
            <a:r>
              <a:rPr lang="en-US">
                <a:sym typeface="+mn-ea"/>
              </a:rPr>
              <a:t> hard to rank, and if its </a:t>
            </a:r>
            <a:r>
              <a:rPr lang="en-US">
                <a:sym typeface="+mn-ea"/>
              </a:rPr>
              <a:t>between</a:t>
            </a:r>
            <a:r>
              <a:rPr lang="en-US" b="1">
                <a:sym typeface="+mn-ea"/>
              </a:rPr>
              <a:t> 45: - 60:</a:t>
            </a:r>
            <a:r>
              <a:rPr lang="en-US">
                <a:sym typeface="+mn-ea"/>
              </a:rPr>
              <a:t> very hard to rank, </a:t>
            </a:r>
            <a:endParaRPr lang="en-US">
              <a:sym typeface="+mn-ea"/>
            </a:endParaRPr>
          </a:p>
          <a:p>
            <a:pPr marL="914400" lvl="1" indent="-457200" algn="l">
              <a:lnSpc>
                <a:spcPct val="150000"/>
              </a:lnSpc>
              <a:buClrTx/>
              <a:buSzTx/>
            </a:pPr>
            <a:r>
              <a:rPr lang="en-US">
                <a:sym typeface="+mn-ea"/>
              </a:rPr>
              <a:t>Explore keyword magic tool</a:t>
            </a:r>
            <a:endParaRPr lang="en-US">
              <a:sym typeface="+mn-ea"/>
            </a:endParaRPr>
          </a:p>
          <a:p>
            <a:pPr marL="457200" indent="-457200"/>
            <a:endParaRPr lang="en-US" sz="3200"/>
          </a:p>
          <a:p>
            <a:pPr marL="0" indent="0">
              <a:buNone/>
            </a:pPr>
            <a:endParaRPr lang="en-US" sz="3200"/>
          </a:p>
          <a:p>
            <a:pPr marL="457200" indent="-457200"/>
            <a:endParaRPr lang="en-US" sz="3200"/>
          </a:p>
          <a:p>
            <a:pPr marL="457200" indent="-457200"/>
            <a:endParaRPr lang="en-US"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7800" y="3543300"/>
            <a:ext cx="8229600" cy="4525963"/>
          </a:xfrm>
        </p:spPr>
        <p:txBody>
          <a:bodyPr/>
          <a:p>
            <a:pPr marL="0" indent="0" algn="ctr">
              <a:buNone/>
            </a:pPr>
            <a:r>
              <a:rPr lang="en-US" sz="4800">
                <a:pattFill prst="dkUpDiag">
                  <a:fgClr>
                    <a:schemeClr val="bg1">
                      <a:lumMod val="50000"/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  <a:alpha val="40000"/>
                      <a:lumMod val="50000"/>
                    </a:schemeClr>
                  </a:outerShdw>
                </a:effectLst>
              </a:rPr>
              <a:t>End of Lecture</a:t>
            </a: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1749</Words>
  <Application>WPS Presentation</Application>
  <PresentationFormat>On-screen Show (4:3)</PresentationFormat>
  <Paragraphs>66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Liberation Sans Narrow</vt:lpstr>
      <vt:lpstr>Thonburi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        Digital Marketing  </vt:lpstr>
      <vt:lpstr>Introduction to SEO</vt:lpstr>
      <vt:lpstr>Talking about SEO</vt:lpstr>
      <vt:lpstr>Intent</vt:lpstr>
      <vt:lpstr>Content - Internal Links</vt:lpstr>
      <vt:lpstr>Talking about SEO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in Education Technology Presentation in Blue Peach Illustrative Style</dc:title>
  <dc:creator/>
  <cp:lastModifiedBy>nimraabbas</cp:lastModifiedBy>
  <cp:revision>88</cp:revision>
  <dcterms:created xsi:type="dcterms:W3CDTF">2025-11-01T02:41:22Z</dcterms:created>
  <dcterms:modified xsi:type="dcterms:W3CDTF">2025-11-01T02:41:22Z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