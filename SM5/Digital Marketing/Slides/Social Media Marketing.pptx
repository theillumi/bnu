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77" r:id="rId21"/>
    <p:sldId id="378" r:id="rId22"/>
    <p:sldId id="280" r:id="rId23"/>
    <p:sldId id="281" r:id="rId24"/>
    <p:sldId id="283" r:id="rId25"/>
    <p:sldId id="381" r:id="rId26"/>
    <p:sldId id="286" r:id="rId27"/>
    <p:sldId id="287" r:id="rId28"/>
    <p:sldId id="288" r:id="rId29"/>
    <p:sldId id="289" r:id="rId30"/>
    <p:sldId id="482" r:id="rId31"/>
  </p:sldIdLst>
  <p:sldSz cx="18288000" cy="10287000"/>
  <p:notesSz cx="6858000" cy="9144000"/>
  <p:embeddedFontLst>
    <p:embeddedFont>
      <p:font typeface="Poppins" panose="00000500000000000000"/>
      <p:regular r:id="rId35"/>
    </p:embeddedFont>
    <p:embeddedFont>
      <p:font typeface="Poppins Bold"/>
      <p:regular r:id="rId36"/>
    </p:embeddedFont>
    <p:embeddedFont>
      <p:font typeface="Poppins Italics"/>
      <p:regular r:id="rId37"/>
    </p:embeddedFont>
    <p:embeddedFont>
      <p:font typeface="Poppins" panose="00000500000000000000" pitchFamily="2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88" autoAdjust="0"/>
    <p:restoredTop sz="95407" autoAdjust="0"/>
  </p:normalViewPr>
  <p:slideViewPr>
    <p:cSldViewPr>
      <p:cViewPr varScale="1">
        <p:scale>
          <a:sx n="61" d="100"/>
          <a:sy n="61" d="100"/>
        </p:scale>
        <p:origin x="456" y="66"/>
      </p:cViewPr>
      <p:guideLst>
        <p:guide orient="horz" pos="214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What does usable mean?</a:t>
            </a:r>
            <a:endParaRPr lang="en-US"/>
          </a:p>
          <a:p>
            <a:endParaRPr lang="en-US"/>
          </a:p>
          <a:p>
            <a:r>
              <a:rPr lang="en-US"/>
              <a:t>Example of formal, friendly, youthful tones</a:t>
            </a:r>
            <a:endParaRPr lang="en-US"/>
          </a:p>
          <a:p>
            <a:r>
              <a:rPr lang="en-US"/>
              <a:t>Formal: “Kindly DM to place your order.”</a:t>
            </a:r>
            <a:endParaRPr lang="en-US"/>
          </a:p>
          <a:p>
            <a:r>
              <a:rPr lang="en-US"/>
              <a:t>Friendly: “DM karein, I’ll get back soon ♥️”</a:t>
            </a:r>
            <a:endParaRPr lang="en-US"/>
          </a:p>
          <a:p>
            <a:endParaRPr lang="en-US"/>
          </a:p>
          <a:p>
            <a:r>
              <a:rPr lang="en-US"/>
              <a:t>Examples of promises: Gluten free, organic, no harmful chemicals, sugar free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B2C: visual and engaging content works best</a:t>
            </a:r>
            <a:endParaRPr lang="en-US"/>
          </a:p>
          <a:p>
            <a:r>
              <a:rPr lang="en-US"/>
              <a:t>Examples of B2C??</a:t>
            </a:r>
            <a:endParaRPr lang="en-US"/>
          </a:p>
          <a:p>
            <a:r>
              <a:rPr lang="en-US"/>
              <a:t>-Food, fashion, retail</a:t>
            </a:r>
            <a:endParaRPr lang="en-US"/>
          </a:p>
          <a:p>
            <a:endParaRPr lang="en-US"/>
          </a:p>
          <a:p>
            <a:r>
              <a:rPr lang="en-US"/>
              <a:t>B2B: professional, informative content is more effective</a:t>
            </a:r>
            <a:endParaRPr lang="en-US"/>
          </a:p>
          <a:p>
            <a:r>
              <a:rPr lang="en-US"/>
              <a:t>-consulting services</a:t>
            </a:r>
            <a:endParaRPr lang="en-US"/>
          </a:p>
          <a:p>
            <a:r>
              <a:rPr lang="en-US"/>
              <a:t>-raw materials</a:t>
            </a:r>
            <a:endParaRPr lang="en-US"/>
          </a:p>
          <a:p>
            <a:r>
              <a:rPr lang="en-US"/>
              <a:t>-supplying finished products to other B2C in bulk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Instagram: visual products, short videos, behind-the-scenes</a:t>
            </a:r>
            <a:endParaRPr lang="en-US"/>
          </a:p>
          <a:p>
            <a:r>
              <a:rPr lang="en-US"/>
              <a:t>Facebook: community building, events, ads for local targeting</a:t>
            </a:r>
            <a:endParaRPr lang="en-US"/>
          </a:p>
          <a:p>
            <a:r>
              <a:rPr lang="en-US"/>
              <a:t>LinkedIn: B2B networking, recruitment</a:t>
            </a:r>
            <a:endParaRPr lang="en-US"/>
          </a:p>
          <a:p>
            <a:r>
              <a:rPr lang="en-US"/>
              <a:t>YouTube: Tutorials, demkos, ong-form video content</a:t>
            </a:r>
            <a:endParaRPr lang="en-US"/>
          </a:p>
          <a:p>
            <a:r>
              <a:rPr lang="en-US"/>
              <a:t>X: Real-time updates, news</a:t>
            </a:r>
            <a:endParaRPr lang="en-US"/>
          </a:p>
          <a:p>
            <a:r>
              <a:rPr lang="en-US"/>
              <a:t>WhatsApp/Messenger: customer service, personalized communications</a:t>
            </a:r>
            <a:endParaRPr lang="en-US"/>
          </a:p>
          <a:p>
            <a:r>
              <a:rPr lang="en-US"/>
              <a:t>Pinterest: DIY, fahion, recipes, home decor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canva.com/dream-lab" TargetMode="External"/><Relationship Id="rId2" Type="http://schemas.openxmlformats.org/officeDocument/2006/relationships/hyperlink" Target="https://www.canva.com/s/templates" TargetMode="External"/><Relationship Id="rId1" Type="http://schemas.openxmlformats.org/officeDocument/2006/relationships/hyperlink" Target="https://www.canva.com/ai-logo-generator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facebook.com/business/tools/facebook-pages/get-started/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029" y="356951"/>
            <a:ext cx="17441942" cy="9573098"/>
            <a:chOff x="0" y="0"/>
            <a:chExt cx="459376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763" cy="2521310"/>
            </a:xfrm>
            <a:custGeom>
              <a:avLst/>
              <a:gdLst/>
              <a:ahLst/>
              <a:cxnLst/>
              <a:rect l="l" t="t" r="r" b="b"/>
              <a:pathLst>
                <a:path w="4593763" h="2521310">
                  <a:moveTo>
                    <a:pt x="0" y="0"/>
                  </a:moveTo>
                  <a:lnTo>
                    <a:pt x="4593763" y="0"/>
                  </a:lnTo>
                  <a:lnTo>
                    <a:pt x="459376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9376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0887" y="611780"/>
            <a:ext cx="9531971" cy="9127903"/>
            <a:chOff x="0" y="0"/>
            <a:chExt cx="2510478" cy="2404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0478" cy="2404057"/>
            </a:xfrm>
            <a:custGeom>
              <a:avLst/>
              <a:gdLst/>
              <a:ahLst/>
              <a:cxnLst/>
              <a:rect l="l" t="t" r="r" b="b"/>
              <a:pathLst>
                <a:path w="2510478" h="2404057">
                  <a:moveTo>
                    <a:pt x="0" y="0"/>
                  </a:moveTo>
                  <a:lnTo>
                    <a:pt x="2510478" y="0"/>
                  </a:lnTo>
                  <a:lnTo>
                    <a:pt x="2510478" y="2404057"/>
                  </a:lnTo>
                  <a:lnTo>
                    <a:pt x="0" y="2404057"/>
                  </a:lnTo>
                  <a:close/>
                </a:path>
              </a:pathLst>
            </a:custGeom>
            <a:solidFill>
              <a:srgbClr val="A2D07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10478" cy="2461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3418759" y="6084614"/>
            <a:ext cx="1469712" cy="1493762"/>
          </a:xfrm>
          <a:custGeom>
            <a:avLst/>
            <a:gdLst/>
            <a:ahLst/>
            <a:cxnLst/>
            <a:rect l="l" t="t" r="r" b="b"/>
            <a:pathLst>
              <a:path w="1469712" h="1493762">
                <a:moveTo>
                  <a:pt x="0" y="0"/>
                </a:moveTo>
                <a:lnTo>
                  <a:pt x="1469712" y="0"/>
                </a:lnTo>
                <a:lnTo>
                  <a:pt x="1469712" y="1493762"/>
                </a:lnTo>
                <a:lnTo>
                  <a:pt x="0" y="14937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07986" y="652572"/>
            <a:ext cx="7091259" cy="9087111"/>
          </a:xfrm>
          <a:custGeom>
            <a:avLst/>
            <a:gdLst/>
            <a:ahLst/>
            <a:cxnLst/>
            <a:rect l="l" t="t" r="r" b="b"/>
            <a:pathLst>
              <a:path w="7091259" h="9087111">
                <a:moveTo>
                  <a:pt x="0" y="0"/>
                </a:moveTo>
                <a:lnTo>
                  <a:pt x="7091259" y="0"/>
                </a:lnTo>
                <a:lnTo>
                  <a:pt x="7091259" y="9087111"/>
                </a:lnTo>
                <a:lnTo>
                  <a:pt x="0" y="9087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58" r="-8415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76510" y="7503244"/>
            <a:ext cx="2444584" cy="2426805"/>
          </a:xfrm>
          <a:custGeom>
            <a:avLst/>
            <a:gdLst/>
            <a:ahLst/>
            <a:cxnLst/>
            <a:rect l="l" t="t" r="r" b="b"/>
            <a:pathLst>
              <a:path w="2444584" h="2426805">
                <a:moveTo>
                  <a:pt x="0" y="0"/>
                </a:moveTo>
                <a:lnTo>
                  <a:pt x="2444584" y="0"/>
                </a:lnTo>
                <a:lnTo>
                  <a:pt x="2444584" y="2426805"/>
                </a:lnTo>
                <a:lnTo>
                  <a:pt x="0" y="2426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749754">
            <a:off x="13743530" y="5816524"/>
            <a:ext cx="1033424" cy="1406326"/>
          </a:xfrm>
          <a:custGeom>
            <a:avLst/>
            <a:gdLst/>
            <a:ahLst/>
            <a:cxnLst/>
            <a:rect l="l" t="t" r="r" b="b"/>
            <a:pathLst>
              <a:path w="1033424" h="1406326">
                <a:moveTo>
                  <a:pt x="0" y="0"/>
                </a:moveTo>
                <a:lnTo>
                  <a:pt x="1033424" y="0"/>
                </a:lnTo>
                <a:lnTo>
                  <a:pt x="1033424" y="1406327"/>
                </a:lnTo>
                <a:lnTo>
                  <a:pt x="0" y="1406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100" r="-1698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26162" y="4414549"/>
            <a:ext cx="5089246" cy="182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6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 Beginner’s Guide to Social Media Presence for Entrepreneurs</a:t>
            </a:r>
            <a:endParaRPr lang="en-US" sz="26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655"/>
              </a:lnSpc>
              <a:spcBef>
                <a:spcPct val="0"/>
              </a:spcBef>
            </a:pPr>
            <a:endParaRPr lang="en-US" sz="26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26162" y="1388698"/>
            <a:ext cx="8706696" cy="289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65"/>
              </a:lnSpc>
              <a:spcBef>
                <a:spcPct val="0"/>
              </a:spcBef>
            </a:pPr>
            <a:r>
              <a:rPr lang="en-US" sz="81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BUILD YOUR BRAND</a:t>
            </a:r>
            <a:endParaRPr lang="en-US" sz="81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5886" y="356951"/>
            <a:ext cx="5775932" cy="9573098"/>
            <a:chOff x="0" y="0"/>
            <a:chExt cx="152123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1233" cy="2521310"/>
            </a:xfrm>
            <a:custGeom>
              <a:avLst/>
              <a:gdLst/>
              <a:ahLst/>
              <a:cxnLst/>
              <a:rect l="l" t="t" r="r" b="b"/>
              <a:pathLst>
                <a:path w="1521233" h="2521310">
                  <a:moveTo>
                    <a:pt x="0" y="0"/>
                  </a:moveTo>
                  <a:lnTo>
                    <a:pt x="1521233" y="0"/>
                  </a:lnTo>
                  <a:lnTo>
                    <a:pt x="152123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52123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38107" y="356951"/>
            <a:ext cx="11694007" cy="9573098"/>
            <a:chOff x="0" y="0"/>
            <a:chExt cx="3079903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79903" cy="2521310"/>
            </a:xfrm>
            <a:custGeom>
              <a:avLst/>
              <a:gdLst/>
              <a:ahLst/>
              <a:cxnLst/>
              <a:rect l="l" t="t" r="r" b="b"/>
              <a:pathLst>
                <a:path w="3079903" h="2521310">
                  <a:moveTo>
                    <a:pt x="0" y="0"/>
                  </a:moveTo>
                  <a:lnTo>
                    <a:pt x="3079903" y="0"/>
                  </a:lnTo>
                  <a:lnTo>
                    <a:pt x="307990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07990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49322" y="4233551"/>
            <a:ext cx="1229258" cy="122925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75718" y="4205962"/>
            <a:ext cx="1229258" cy="122925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49322" y="6088366"/>
            <a:ext cx="1229258" cy="12292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75718" y="6060777"/>
            <a:ext cx="1229258" cy="122925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49322" y="8001453"/>
            <a:ext cx="1229258" cy="1229258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75718" y="7973864"/>
            <a:ext cx="1229258" cy="1229258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sp>
        <p:nvSpPr>
          <p:cNvPr id="26" name="Freeform 26"/>
          <p:cNvSpPr/>
          <p:nvPr/>
        </p:nvSpPr>
        <p:spPr>
          <a:xfrm>
            <a:off x="6849322" y="940171"/>
            <a:ext cx="10271577" cy="2799945"/>
          </a:xfrm>
          <a:custGeom>
            <a:avLst/>
            <a:gdLst/>
            <a:ahLst/>
            <a:cxnLst/>
            <a:rect l="l" t="t" r="r" b="b"/>
            <a:pathLst>
              <a:path w="10271577" h="2799945">
                <a:moveTo>
                  <a:pt x="0" y="0"/>
                </a:moveTo>
                <a:lnTo>
                  <a:pt x="10271577" y="0"/>
                </a:lnTo>
                <a:lnTo>
                  <a:pt x="10271577" y="2799945"/>
                </a:lnTo>
                <a:lnTo>
                  <a:pt x="0" y="279994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72206" b="-72206"/>
            </a:stretch>
          </a:blipFill>
        </p:spPr>
      </p:sp>
      <p:sp>
        <p:nvSpPr>
          <p:cNvPr id="27" name="TextBox 27"/>
          <p:cNvSpPr txBox="1"/>
          <p:nvPr/>
        </p:nvSpPr>
        <p:spPr>
          <a:xfrm rot="-5400000">
            <a:off x="-1707103" y="4955529"/>
            <a:ext cx="6752824" cy="185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35"/>
              </a:lnSpc>
              <a:spcBef>
                <a:spcPct val="0"/>
              </a:spcBef>
            </a:pPr>
            <a:r>
              <a:rPr lang="en-US" sz="1031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  <a:endParaRPr lang="en-US" sz="1031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029660" y="4023015"/>
            <a:ext cx="868582" cy="146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5"/>
              </a:lnSpc>
              <a:spcBef>
                <a:spcPct val="0"/>
              </a:spcBef>
            </a:pPr>
            <a:r>
              <a:rPr lang="en-US" sz="80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endParaRPr lang="en-US" sz="808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62934" y="4425166"/>
            <a:ext cx="2150809" cy="11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Social Media Basics &amp; Why It Matters</a:t>
            </a:r>
            <a:endParaRPr lang="en-US" sz="229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356057" y="3995426"/>
            <a:ext cx="868582" cy="146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5"/>
              </a:lnSpc>
              <a:spcBef>
                <a:spcPct val="0"/>
              </a:spcBef>
            </a:pPr>
            <a:r>
              <a:rPr lang="en-US" sz="80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endParaRPr lang="en-US" sz="808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789330" y="4397577"/>
            <a:ext cx="2150809" cy="11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29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Shaping Your Brand</a:t>
            </a:r>
            <a:endParaRPr lang="en-US" sz="229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205"/>
              </a:lnSpc>
              <a:spcBef>
                <a:spcPct val="0"/>
              </a:spcBef>
            </a:pPr>
            <a:endParaRPr lang="en-US" sz="229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029660" y="5877830"/>
            <a:ext cx="868582" cy="146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5"/>
              </a:lnSpc>
              <a:spcBef>
                <a:spcPct val="0"/>
              </a:spcBef>
            </a:pPr>
            <a:r>
              <a:rPr lang="en-US" sz="80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endParaRPr lang="en-US" sz="808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435629" y="6064081"/>
            <a:ext cx="2150809" cy="159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Creating a Social Media Presence From Scratch</a:t>
            </a:r>
            <a:endParaRPr lang="en-US" sz="229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356057" y="5850241"/>
            <a:ext cx="868582" cy="146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5"/>
              </a:lnSpc>
              <a:spcBef>
                <a:spcPct val="0"/>
              </a:spcBef>
            </a:pPr>
            <a:r>
              <a:rPr lang="en-US" sz="80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endParaRPr lang="en-US" sz="808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789330" y="6252392"/>
            <a:ext cx="2150809" cy="79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Social Media Content Type</a:t>
            </a:r>
            <a:endParaRPr lang="en-US" sz="229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029660" y="7790917"/>
            <a:ext cx="868582" cy="146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5"/>
              </a:lnSpc>
              <a:spcBef>
                <a:spcPct val="0"/>
              </a:spcBef>
            </a:pPr>
            <a:r>
              <a:rPr lang="en-US" sz="80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  <a:endParaRPr lang="en-US" sz="808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462934" y="7960924"/>
            <a:ext cx="2150809" cy="119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Effective Marketing Strategy</a:t>
            </a:r>
            <a:endParaRPr lang="en-US" sz="229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356057" y="7763328"/>
            <a:ext cx="868582" cy="146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5"/>
              </a:lnSpc>
              <a:spcBef>
                <a:spcPct val="0"/>
              </a:spcBef>
            </a:pPr>
            <a:r>
              <a:rPr lang="en-US" sz="80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  <a:endParaRPr lang="en-US" sz="808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789330" y="8165478"/>
            <a:ext cx="2150809" cy="39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Q&amp;A</a:t>
            </a:r>
            <a:endParaRPr lang="en-US" sz="229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15828558" y="7766164"/>
            <a:ext cx="1430742" cy="1420336"/>
          </a:xfrm>
          <a:custGeom>
            <a:avLst/>
            <a:gdLst/>
            <a:ahLst/>
            <a:cxnLst/>
            <a:rect l="l" t="t" r="r" b="b"/>
            <a:pathLst>
              <a:path w="1430742" h="1420336">
                <a:moveTo>
                  <a:pt x="0" y="0"/>
                </a:moveTo>
                <a:lnTo>
                  <a:pt x="1430742" y="0"/>
                </a:lnTo>
                <a:lnTo>
                  <a:pt x="1430742" y="1420336"/>
                </a:lnTo>
                <a:lnTo>
                  <a:pt x="0" y="142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2858362" cy="9573098"/>
            <a:chOff x="0" y="0"/>
            <a:chExt cx="338656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86565" cy="2521310"/>
            </a:xfrm>
            <a:custGeom>
              <a:avLst/>
              <a:gdLst/>
              <a:ahLst/>
              <a:cxnLst/>
              <a:rect l="l" t="t" r="r" b="b"/>
              <a:pathLst>
                <a:path w="3386565" h="2521310">
                  <a:moveTo>
                    <a:pt x="0" y="0"/>
                  </a:moveTo>
                  <a:lnTo>
                    <a:pt x="3386565" y="0"/>
                  </a:lnTo>
                  <a:lnTo>
                    <a:pt x="3386565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38656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215457"/>
            <a:ext cx="11186551" cy="365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Media Basics &amp; Why It Matters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9540"/>
              </a:lnSpc>
              <a:spcBef>
                <a:spcPct val="0"/>
              </a:spcBef>
            </a:pP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612032" y="356951"/>
            <a:ext cx="2647268" cy="26472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57736" y="373283"/>
            <a:ext cx="1355860" cy="226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5"/>
              </a:lnSpc>
              <a:spcBef>
                <a:spcPct val="0"/>
              </a:spcBef>
            </a:pPr>
            <a:r>
              <a:rPr lang="en-US" sz="1262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endParaRPr lang="en-US" sz="1262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85" y="356951"/>
            <a:ext cx="13069529" cy="9573098"/>
            <a:chOff x="0" y="0"/>
            <a:chExt cx="3442181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2181" cy="2521310"/>
            </a:xfrm>
            <a:custGeom>
              <a:avLst/>
              <a:gdLst/>
              <a:ahLst/>
              <a:cxnLst/>
              <a:rect l="l" t="t" r="r" b="b"/>
              <a:pathLst>
                <a:path w="3442181" h="2521310">
                  <a:moveTo>
                    <a:pt x="0" y="0"/>
                  </a:moveTo>
                  <a:lnTo>
                    <a:pt x="3442181" y="0"/>
                  </a:lnTo>
                  <a:lnTo>
                    <a:pt x="3442181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42181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769" y="356951"/>
            <a:ext cx="4472126" cy="9573098"/>
            <a:chOff x="0" y="0"/>
            <a:chExt cx="117784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7844" cy="2521310"/>
            </a:xfrm>
            <a:custGeom>
              <a:avLst/>
              <a:gdLst/>
              <a:ahLst/>
              <a:cxnLst/>
              <a:rect l="l" t="t" r="r" b="b"/>
              <a:pathLst>
                <a:path w="1177844" h="2521310">
                  <a:moveTo>
                    <a:pt x="0" y="0"/>
                  </a:moveTo>
                  <a:lnTo>
                    <a:pt x="1177844" y="0"/>
                  </a:lnTo>
                  <a:lnTo>
                    <a:pt x="117784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7784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22024" y="1882741"/>
            <a:ext cx="3565616" cy="119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brand?</a:t>
            </a:r>
            <a:endParaRPr lang="en-US" sz="333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73003" y="3315726"/>
            <a:ext cx="2863659" cy="56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Any ideas?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85" y="356951"/>
            <a:ext cx="13069529" cy="9573098"/>
            <a:chOff x="0" y="0"/>
            <a:chExt cx="3442181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2181" cy="2521310"/>
            </a:xfrm>
            <a:custGeom>
              <a:avLst/>
              <a:gdLst/>
              <a:ahLst/>
              <a:cxnLst/>
              <a:rect l="l" t="t" r="r" b="b"/>
              <a:pathLst>
                <a:path w="3442181" h="2521310">
                  <a:moveTo>
                    <a:pt x="0" y="0"/>
                  </a:moveTo>
                  <a:lnTo>
                    <a:pt x="3442181" y="0"/>
                  </a:lnTo>
                  <a:lnTo>
                    <a:pt x="3442181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42181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769" y="356951"/>
            <a:ext cx="4472126" cy="9573098"/>
            <a:chOff x="0" y="0"/>
            <a:chExt cx="117784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7844" cy="2521310"/>
            </a:xfrm>
            <a:custGeom>
              <a:avLst/>
              <a:gdLst/>
              <a:ahLst/>
              <a:cxnLst/>
              <a:rect l="l" t="t" r="r" b="b"/>
              <a:pathLst>
                <a:path w="1177844" h="2521310">
                  <a:moveTo>
                    <a:pt x="0" y="0"/>
                  </a:moveTo>
                  <a:lnTo>
                    <a:pt x="1177844" y="0"/>
                  </a:lnTo>
                  <a:lnTo>
                    <a:pt x="117784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7784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622695" y="1544464"/>
            <a:ext cx="11301259" cy="1963594"/>
          </a:xfrm>
          <a:custGeom>
            <a:avLst/>
            <a:gdLst/>
            <a:ahLst/>
            <a:cxnLst/>
            <a:rect l="l" t="t" r="r" b="b"/>
            <a:pathLst>
              <a:path w="11301259" h="1963594">
                <a:moveTo>
                  <a:pt x="0" y="0"/>
                </a:moveTo>
                <a:lnTo>
                  <a:pt x="11301258" y="0"/>
                </a:lnTo>
                <a:lnTo>
                  <a:pt x="11301258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22024" y="1882741"/>
            <a:ext cx="3565616" cy="119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brand?</a:t>
            </a:r>
            <a:endParaRPr lang="en-US" sz="333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73003" y="3315726"/>
            <a:ext cx="2863659" cy="112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Are these brands?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85" y="356951"/>
            <a:ext cx="13069529" cy="9573098"/>
            <a:chOff x="0" y="0"/>
            <a:chExt cx="3442181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2181" cy="2521310"/>
            </a:xfrm>
            <a:custGeom>
              <a:avLst/>
              <a:gdLst/>
              <a:ahLst/>
              <a:cxnLst/>
              <a:rect l="l" t="t" r="r" b="b"/>
              <a:pathLst>
                <a:path w="3442181" h="2521310">
                  <a:moveTo>
                    <a:pt x="0" y="0"/>
                  </a:moveTo>
                  <a:lnTo>
                    <a:pt x="3442181" y="0"/>
                  </a:lnTo>
                  <a:lnTo>
                    <a:pt x="3442181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42181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769" y="356951"/>
            <a:ext cx="4472126" cy="9573098"/>
            <a:chOff x="0" y="0"/>
            <a:chExt cx="117784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7844" cy="2521310"/>
            </a:xfrm>
            <a:custGeom>
              <a:avLst/>
              <a:gdLst/>
              <a:ahLst/>
              <a:cxnLst/>
              <a:rect l="l" t="t" r="r" b="b"/>
              <a:pathLst>
                <a:path w="1177844" h="2521310">
                  <a:moveTo>
                    <a:pt x="0" y="0"/>
                  </a:moveTo>
                  <a:lnTo>
                    <a:pt x="1177844" y="0"/>
                  </a:lnTo>
                  <a:lnTo>
                    <a:pt x="117784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7784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622695" y="1544464"/>
            <a:ext cx="11301259" cy="1963594"/>
          </a:xfrm>
          <a:custGeom>
            <a:avLst/>
            <a:gdLst/>
            <a:ahLst/>
            <a:cxnLst/>
            <a:rect l="l" t="t" r="r" b="b"/>
            <a:pathLst>
              <a:path w="11301259" h="1963594">
                <a:moveTo>
                  <a:pt x="0" y="0"/>
                </a:moveTo>
                <a:lnTo>
                  <a:pt x="11301258" y="0"/>
                </a:lnTo>
                <a:lnTo>
                  <a:pt x="11301258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22695" y="4281779"/>
            <a:ext cx="11301259" cy="1723442"/>
          </a:xfrm>
          <a:custGeom>
            <a:avLst/>
            <a:gdLst/>
            <a:ahLst/>
            <a:cxnLst/>
            <a:rect l="l" t="t" r="r" b="b"/>
            <a:pathLst>
              <a:path w="11301259" h="1723442">
                <a:moveTo>
                  <a:pt x="0" y="0"/>
                </a:moveTo>
                <a:lnTo>
                  <a:pt x="11301258" y="0"/>
                </a:lnTo>
                <a:lnTo>
                  <a:pt x="11301258" y="1723442"/>
                </a:lnTo>
                <a:lnTo>
                  <a:pt x="0" y="172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22024" y="1882741"/>
            <a:ext cx="3565616" cy="119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brand?</a:t>
            </a:r>
            <a:endParaRPr lang="en-US" sz="333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73003" y="3315726"/>
            <a:ext cx="2863659" cy="112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 about these?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85" y="356951"/>
            <a:ext cx="13069529" cy="9573098"/>
            <a:chOff x="0" y="0"/>
            <a:chExt cx="3442181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2181" cy="2521310"/>
            </a:xfrm>
            <a:custGeom>
              <a:avLst/>
              <a:gdLst/>
              <a:ahLst/>
              <a:cxnLst/>
              <a:rect l="l" t="t" r="r" b="b"/>
              <a:pathLst>
                <a:path w="3442181" h="2521310">
                  <a:moveTo>
                    <a:pt x="0" y="0"/>
                  </a:moveTo>
                  <a:lnTo>
                    <a:pt x="3442181" y="0"/>
                  </a:lnTo>
                  <a:lnTo>
                    <a:pt x="3442181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42181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769" y="356951"/>
            <a:ext cx="4472126" cy="9573098"/>
            <a:chOff x="0" y="0"/>
            <a:chExt cx="117784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7844" cy="2521310"/>
            </a:xfrm>
            <a:custGeom>
              <a:avLst/>
              <a:gdLst/>
              <a:ahLst/>
              <a:cxnLst/>
              <a:rect l="l" t="t" r="r" b="b"/>
              <a:pathLst>
                <a:path w="1177844" h="2521310">
                  <a:moveTo>
                    <a:pt x="0" y="0"/>
                  </a:moveTo>
                  <a:lnTo>
                    <a:pt x="1177844" y="0"/>
                  </a:lnTo>
                  <a:lnTo>
                    <a:pt x="117784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7784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622695" y="1544464"/>
            <a:ext cx="11301259" cy="1963594"/>
          </a:xfrm>
          <a:custGeom>
            <a:avLst/>
            <a:gdLst/>
            <a:ahLst/>
            <a:cxnLst/>
            <a:rect l="l" t="t" r="r" b="b"/>
            <a:pathLst>
              <a:path w="11301259" h="1963594">
                <a:moveTo>
                  <a:pt x="0" y="0"/>
                </a:moveTo>
                <a:lnTo>
                  <a:pt x="11301258" y="0"/>
                </a:lnTo>
                <a:lnTo>
                  <a:pt x="11301258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22695" y="4281779"/>
            <a:ext cx="11301259" cy="1723442"/>
          </a:xfrm>
          <a:custGeom>
            <a:avLst/>
            <a:gdLst/>
            <a:ahLst/>
            <a:cxnLst/>
            <a:rect l="l" t="t" r="r" b="b"/>
            <a:pathLst>
              <a:path w="11301259" h="1723442">
                <a:moveTo>
                  <a:pt x="0" y="0"/>
                </a:moveTo>
                <a:lnTo>
                  <a:pt x="11301258" y="0"/>
                </a:lnTo>
                <a:lnTo>
                  <a:pt x="11301258" y="1723442"/>
                </a:lnTo>
                <a:lnTo>
                  <a:pt x="0" y="172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442356" y="6953821"/>
            <a:ext cx="11301259" cy="1440911"/>
          </a:xfrm>
          <a:custGeom>
            <a:avLst/>
            <a:gdLst/>
            <a:ahLst/>
            <a:cxnLst/>
            <a:rect l="l" t="t" r="r" b="b"/>
            <a:pathLst>
              <a:path w="11301259" h="1440911">
                <a:moveTo>
                  <a:pt x="0" y="0"/>
                </a:moveTo>
                <a:lnTo>
                  <a:pt x="11301259" y="0"/>
                </a:lnTo>
                <a:lnTo>
                  <a:pt x="11301259" y="1440910"/>
                </a:lnTo>
                <a:lnTo>
                  <a:pt x="0" y="1440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22024" y="1882741"/>
            <a:ext cx="3565616" cy="119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brand?</a:t>
            </a:r>
            <a:endParaRPr lang="en-US" sz="333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73003" y="3315726"/>
            <a:ext cx="2863659" cy="56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And these?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585" y="356951"/>
            <a:ext cx="13069529" cy="9573098"/>
            <a:chOff x="0" y="0"/>
            <a:chExt cx="3442181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2181" cy="2521310"/>
            </a:xfrm>
            <a:custGeom>
              <a:avLst/>
              <a:gdLst/>
              <a:ahLst/>
              <a:cxnLst/>
              <a:rect l="l" t="t" r="r" b="b"/>
              <a:pathLst>
                <a:path w="3442181" h="2521310">
                  <a:moveTo>
                    <a:pt x="0" y="0"/>
                  </a:moveTo>
                  <a:lnTo>
                    <a:pt x="3442181" y="0"/>
                  </a:lnTo>
                  <a:lnTo>
                    <a:pt x="3442181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42181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8769" y="356951"/>
            <a:ext cx="4472126" cy="9573098"/>
            <a:chOff x="0" y="0"/>
            <a:chExt cx="117784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7844" cy="2521310"/>
            </a:xfrm>
            <a:custGeom>
              <a:avLst/>
              <a:gdLst/>
              <a:ahLst/>
              <a:cxnLst/>
              <a:rect l="l" t="t" r="r" b="b"/>
              <a:pathLst>
                <a:path w="1177844" h="2521310">
                  <a:moveTo>
                    <a:pt x="0" y="0"/>
                  </a:moveTo>
                  <a:lnTo>
                    <a:pt x="1177844" y="0"/>
                  </a:lnTo>
                  <a:lnTo>
                    <a:pt x="117784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7784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622695" y="1544464"/>
            <a:ext cx="11301259" cy="1963594"/>
          </a:xfrm>
          <a:custGeom>
            <a:avLst/>
            <a:gdLst/>
            <a:ahLst/>
            <a:cxnLst/>
            <a:rect l="l" t="t" r="r" b="b"/>
            <a:pathLst>
              <a:path w="11301259" h="1963594">
                <a:moveTo>
                  <a:pt x="0" y="0"/>
                </a:moveTo>
                <a:lnTo>
                  <a:pt x="11301258" y="0"/>
                </a:lnTo>
                <a:lnTo>
                  <a:pt x="11301258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22695" y="4281779"/>
            <a:ext cx="11301259" cy="1723442"/>
          </a:xfrm>
          <a:custGeom>
            <a:avLst/>
            <a:gdLst/>
            <a:ahLst/>
            <a:cxnLst/>
            <a:rect l="l" t="t" r="r" b="b"/>
            <a:pathLst>
              <a:path w="11301259" h="1723442">
                <a:moveTo>
                  <a:pt x="0" y="0"/>
                </a:moveTo>
                <a:lnTo>
                  <a:pt x="11301258" y="0"/>
                </a:lnTo>
                <a:lnTo>
                  <a:pt x="11301258" y="1723442"/>
                </a:lnTo>
                <a:lnTo>
                  <a:pt x="0" y="172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442356" y="6953821"/>
            <a:ext cx="11301259" cy="1440911"/>
          </a:xfrm>
          <a:custGeom>
            <a:avLst/>
            <a:gdLst/>
            <a:ahLst/>
            <a:cxnLst/>
            <a:rect l="l" t="t" r="r" b="b"/>
            <a:pathLst>
              <a:path w="11301259" h="1440911">
                <a:moveTo>
                  <a:pt x="0" y="0"/>
                </a:moveTo>
                <a:lnTo>
                  <a:pt x="11301259" y="0"/>
                </a:lnTo>
                <a:lnTo>
                  <a:pt x="11301259" y="1440910"/>
                </a:lnTo>
                <a:lnTo>
                  <a:pt x="0" y="1440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22024" y="1882741"/>
            <a:ext cx="3565616" cy="119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brand?</a:t>
            </a:r>
            <a:endParaRPr lang="en-US" sz="333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24708" y="3412335"/>
            <a:ext cx="2837877" cy="33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Name 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Logo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Product Tagline Colors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EC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663" y="2624910"/>
            <a:ext cx="15465421" cy="5161584"/>
          </a:xfrm>
          <a:custGeom>
            <a:avLst/>
            <a:gdLst/>
            <a:ahLst/>
            <a:cxnLst/>
            <a:rect l="l" t="t" r="r" b="b"/>
            <a:pathLst>
              <a:path w="15465421" h="5161584">
                <a:moveTo>
                  <a:pt x="0" y="0"/>
                </a:moveTo>
                <a:lnTo>
                  <a:pt x="15465421" y="0"/>
                </a:lnTo>
                <a:lnTo>
                  <a:pt x="15465421" y="5161584"/>
                </a:lnTo>
                <a:lnTo>
                  <a:pt x="0" y="516158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27284"/>
            <a:ext cx="16230600" cy="502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0"/>
              </a:lnSpc>
              <a:spcBef>
                <a:spcPct val="0"/>
              </a:spcBef>
            </a:pPr>
            <a:r>
              <a:rPr lang="en-US" sz="7025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Your brand is not just what you post—it’s what people feel when they think of your business.</a:t>
            </a:r>
            <a:endParaRPr lang="en-US" sz="7025" i="1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  <a:p>
            <a:pPr algn="l">
              <a:lnSpc>
                <a:spcPts val="9840"/>
              </a:lnSpc>
              <a:spcBef>
                <a:spcPct val="0"/>
              </a:spcBef>
            </a:pPr>
            <a:endParaRPr lang="en-US" sz="7025" i="1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5886" y="356951"/>
            <a:ext cx="7603614" cy="9573098"/>
            <a:chOff x="0" y="0"/>
            <a:chExt cx="2002598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2598" cy="2521310"/>
            </a:xfrm>
            <a:custGeom>
              <a:avLst/>
              <a:gdLst/>
              <a:ahLst/>
              <a:cxnLst/>
              <a:rect l="l" t="t" r="r" b="b"/>
              <a:pathLst>
                <a:path w="2002598" h="2521310">
                  <a:moveTo>
                    <a:pt x="0" y="0"/>
                  </a:moveTo>
                  <a:lnTo>
                    <a:pt x="2002598" y="0"/>
                  </a:lnTo>
                  <a:lnTo>
                    <a:pt x="2002598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02598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59500" y="356951"/>
            <a:ext cx="9772614" cy="9573098"/>
            <a:chOff x="0" y="0"/>
            <a:chExt cx="2573857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73857" cy="2521310"/>
            </a:xfrm>
            <a:custGeom>
              <a:avLst/>
              <a:gdLst/>
              <a:ahLst/>
              <a:cxnLst/>
              <a:rect l="l" t="t" r="r" b="b"/>
              <a:pathLst>
                <a:path w="2573857" h="2521310">
                  <a:moveTo>
                    <a:pt x="0" y="0"/>
                  </a:moveTo>
                  <a:lnTo>
                    <a:pt x="2573857" y="0"/>
                  </a:lnTo>
                  <a:lnTo>
                    <a:pt x="2573857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73857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8803437" y="43270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787842" y="43270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803437" y="603241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787842" y="603241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92359" y="563592"/>
            <a:ext cx="7048145" cy="2348577"/>
          </a:xfrm>
          <a:custGeom>
            <a:avLst/>
            <a:gdLst/>
            <a:ahLst/>
            <a:cxnLst/>
            <a:rect l="l" t="t" r="r" b="b"/>
            <a:pathLst>
              <a:path w="7048145" h="2348577">
                <a:moveTo>
                  <a:pt x="0" y="0"/>
                </a:moveTo>
                <a:lnTo>
                  <a:pt x="7048145" y="0"/>
                </a:lnTo>
                <a:lnTo>
                  <a:pt x="7048145" y="2348577"/>
                </a:lnTo>
                <a:lnTo>
                  <a:pt x="0" y="2348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106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305335" y="473282"/>
            <a:ext cx="9484563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does it matter?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09460" y="4260395"/>
            <a:ext cx="2916853" cy="4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WhatsApp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693865" y="4260395"/>
            <a:ext cx="3133420" cy="129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Instagram: Fastest growing among youth and women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09460" y="5965740"/>
            <a:ext cx="2916853" cy="86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Facebook: 38M+ users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693865" y="5965740"/>
            <a:ext cx="3133420" cy="129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TikTok: Huge reach in small cities for visual content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468521" y="1835952"/>
            <a:ext cx="7778975" cy="107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Global social media users: 4.86 billion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Pakistan: 71 million active users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92359" y="3272879"/>
            <a:ext cx="7048145" cy="104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  <a:spcBef>
                <a:spcPct val="0"/>
              </a:spcBef>
            </a:pPr>
            <a:r>
              <a:rPr lang="en-US" sz="297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Can you name any social media apps?</a:t>
            </a:r>
            <a:endParaRPr lang="en-US" sz="297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5886" y="356951"/>
            <a:ext cx="7603614" cy="9573098"/>
            <a:chOff x="0" y="0"/>
            <a:chExt cx="2002598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2598" cy="2521310"/>
            </a:xfrm>
            <a:custGeom>
              <a:avLst/>
              <a:gdLst/>
              <a:ahLst/>
              <a:cxnLst/>
              <a:rect l="l" t="t" r="r" b="b"/>
              <a:pathLst>
                <a:path w="2002598" h="2521310">
                  <a:moveTo>
                    <a:pt x="0" y="0"/>
                  </a:moveTo>
                  <a:lnTo>
                    <a:pt x="2002598" y="0"/>
                  </a:lnTo>
                  <a:lnTo>
                    <a:pt x="2002598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02598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59500" y="356951"/>
            <a:ext cx="9772614" cy="9573098"/>
            <a:chOff x="0" y="0"/>
            <a:chExt cx="2573857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73857" cy="2521310"/>
            </a:xfrm>
            <a:custGeom>
              <a:avLst/>
              <a:gdLst/>
              <a:ahLst/>
              <a:cxnLst/>
              <a:rect l="l" t="t" r="r" b="b"/>
              <a:pathLst>
                <a:path w="2573857" h="2521310">
                  <a:moveTo>
                    <a:pt x="0" y="0"/>
                  </a:moveTo>
                  <a:lnTo>
                    <a:pt x="2573857" y="0"/>
                  </a:lnTo>
                  <a:lnTo>
                    <a:pt x="2573857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73857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8803437" y="43270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787842" y="43270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803437" y="603241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787842" y="603241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92359" y="563592"/>
            <a:ext cx="7048145" cy="2348577"/>
          </a:xfrm>
          <a:custGeom>
            <a:avLst/>
            <a:gdLst/>
            <a:ahLst/>
            <a:cxnLst/>
            <a:rect l="l" t="t" r="r" b="b"/>
            <a:pathLst>
              <a:path w="7048145" h="2348577">
                <a:moveTo>
                  <a:pt x="0" y="0"/>
                </a:moveTo>
                <a:lnTo>
                  <a:pt x="7048145" y="0"/>
                </a:lnTo>
                <a:lnTo>
                  <a:pt x="7048145" y="2348577"/>
                </a:lnTo>
                <a:lnTo>
                  <a:pt x="0" y="2348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106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305335" y="473282"/>
            <a:ext cx="9484563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does it matter?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09460" y="4260395"/>
            <a:ext cx="2916853" cy="4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WhatsApp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693865" y="4260395"/>
            <a:ext cx="3133420" cy="129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Instagram: Fastest growing among youth and women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09460" y="5965740"/>
            <a:ext cx="2916853" cy="86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Facebook: 38M+ users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693865" y="5965740"/>
            <a:ext cx="3133420" cy="129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TikTok: Huge reach in small cities for visual content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468521" y="1835952"/>
            <a:ext cx="7778975" cy="107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Global social media users: 4.86 billion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647700" lvl="1" indent="-323850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Pakistan: 71 million active users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92359" y="3272879"/>
            <a:ext cx="7048145" cy="104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  <a:spcBef>
                <a:spcPct val="0"/>
              </a:spcBef>
            </a:pPr>
            <a:r>
              <a:rPr lang="en-US" sz="297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Can you name any social media apps?</a:t>
            </a:r>
            <a:endParaRPr lang="en-US" sz="297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99540" y="5446395"/>
            <a:ext cx="2982595" cy="3074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Facebook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YouTube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WhatsApp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Instagram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95"/>
              </a:lnSpc>
              <a:spcBef>
                <a:spcPct val="0"/>
              </a:spcBef>
            </a:pP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00575" y="5446395"/>
            <a:ext cx="2451100" cy="2459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TikTok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Snapchat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Pinterest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795"/>
              </a:lnSpc>
              <a:spcBef>
                <a:spcPct val="0"/>
              </a:spcBef>
            </a:pPr>
            <a:r>
              <a:rPr lang="en-US" sz="3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LinkedIn</a:t>
            </a:r>
            <a:endParaRPr lang="en-US" sz="3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5886" y="356951"/>
            <a:ext cx="7603614" cy="9573098"/>
            <a:chOff x="0" y="0"/>
            <a:chExt cx="2002598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2598" cy="2521310"/>
            </a:xfrm>
            <a:custGeom>
              <a:avLst/>
              <a:gdLst/>
              <a:ahLst/>
              <a:cxnLst/>
              <a:rect l="l" t="t" r="r" b="b"/>
              <a:pathLst>
                <a:path w="2002598" h="2521310">
                  <a:moveTo>
                    <a:pt x="0" y="0"/>
                  </a:moveTo>
                  <a:lnTo>
                    <a:pt x="2002598" y="0"/>
                  </a:lnTo>
                  <a:lnTo>
                    <a:pt x="2002598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02598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692359" y="563592"/>
            <a:ext cx="7048145" cy="2348577"/>
          </a:xfrm>
          <a:custGeom>
            <a:avLst/>
            <a:gdLst/>
            <a:ahLst/>
            <a:cxnLst/>
            <a:rect l="l" t="t" r="r" b="b"/>
            <a:pathLst>
              <a:path w="7048145" h="2348577">
                <a:moveTo>
                  <a:pt x="0" y="0"/>
                </a:moveTo>
                <a:lnTo>
                  <a:pt x="7048145" y="0"/>
                </a:lnTo>
                <a:lnTo>
                  <a:pt x="7048145" y="2348577"/>
                </a:lnTo>
                <a:lnTo>
                  <a:pt x="0" y="23485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0106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1265" y="3619286"/>
            <a:ext cx="6650334" cy="6069600"/>
          </a:xfrm>
          <a:custGeom>
            <a:avLst/>
            <a:gdLst/>
            <a:ahLst/>
            <a:cxnLst/>
            <a:rect l="l" t="t" r="r" b="b"/>
            <a:pathLst>
              <a:path w="6650334" h="6069600">
                <a:moveTo>
                  <a:pt x="0" y="0"/>
                </a:moveTo>
                <a:lnTo>
                  <a:pt x="6650333" y="0"/>
                </a:lnTo>
                <a:lnTo>
                  <a:pt x="6650333" y="6069600"/>
                </a:lnTo>
                <a:lnTo>
                  <a:pt x="0" y="606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203525" y="530459"/>
            <a:ext cx="9484563" cy="245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Which app is better for your business?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5886" y="356951"/>
            <a:ext cx="7603614" cy="9573098"/>
            <a:chOff x="0" y="0"/>
            <a:chExt cx="2002598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2598" cy="2521310"/>
            </a:xfrm>
            <a:custGeom>
              <a:avLst/>
              <a:gdLst/>
              <a:ahLst/>
              <a:cxnLst/>
              <a:rect l="l" t="t" r="r" b="b"/>
              <a:pathLst>
                <a:path w="2002598" h="2521310">
                  <a:moveTo>
                    <a:pt x="0" y="0"/>
                  </a:moveTo>
                  <a:lnTo>
                    <a:pt x="2002598" y="0"/>
                  </a:lnTo>
                  <a:lnTo>
                    <a:pt x="2002598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02598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59500" y="356951"/>
            <a:ext cx="9772614" cy="9573098"/>
            <a:chOff x="0" y="0"/>
            <a:chExt cx="2573857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73857" cy="2521310"/>
            </a:xfrm>
            <a:custGeom>
              <a:avLst/>
              <a:gdLst/>
              <a:ahLst/>
              <a:cxnLst/>
              <a:rect l="l" t="t" r="r" b="b"/>
              <a:pathLst>
                <a:path w="2573857" h="2521310">
                  <a:moveTo>
                    <a:pt x="0" y="0"/>
                  </a:moveTo>
                  <a:lnTo>
                    <a:pt x="2573857" y="0"/>
                  </a:lnTo>
                  <a:lnTo>
                    <a:pt x="2573857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73857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692359" y="563592"/>
            <a:ext cx="7048145" cy="2348577"/>
          </a:xfrm>
          <a:custGeom>
            <a:avLst/>
            <a:gdLst/>
            <a:ahLst/>
            <a:cxnLst/>
            <a:rect l="l" t="t" r="r" b="b"/>
            <a:pathLst>
              <a:path w="7048145" h="2348577">
                <a:moveTo>
                  <a:pt x="0" y="0"/>
                </a:moveTo>
                <a:lnTo>
                  <a:pt x="7048145" y="0"/>
                </a:lnTo>
                <a:lnTo>
                  <a:pt x="7048145" y="2348577"/>
                </a:lnTo>
                <a:lnTo>
                  <a:pt x="0" y="23485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0106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1265" y="3609761"/>
            <a:ext cx="6650334" cy="6069600"/>
          </a:xfrm>
          <a:custGeom>
            <a:avLst/>
            <a:gdLst/>
            <a:ahLst/>
            <a:cxnLst/>
            <a:rect l="l" t="t" r="r" b="b"/>
            <a:pathLst>
              <a:path w="6650334" h="6069600">
                <a:moveTo>
                  <a:pt x="0" y="0"/>
                </a:moveTo>
                <a:lnTo>
                  <a:pt x="6650333" y="0"/>
                </a:lnTo>
                <a:lnTo>
                  <a:pt x="6650333" y="6069600"/>
                </a:lnTo>
                <a:lnTo>
                  <a:pt x="0" y="606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203525" y="530459"/>
            <a:ext cx="9484563" cy="245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Which app is better for your business?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8803437" y="43270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787842" y="43270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803437" y="603241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787842" y="78793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803437" y="774014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709460" y="4260395"/>
            <a:ext cx="2916853" cy="86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Know your target audience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693865" y="4260395"/>
            <a:ext cx="3133420" cy="86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Understand Your Business Type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709460" y="5965740"/>
            <a:ext cx="2916853" cy="4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Define Your Goals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662503" y="7740145"/>
            <a:ext cx="3133420" cy="86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Match Content Style with Platform</a:t>
            </a:r>
            <a:endParaRPr lang="en-US" sz="24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709460" y="7673470"/>
            <a:ext cx="2916853" cy="86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Check Your Resources</a:t>
            </a:r>
            <a:endParaRPr lang="en-US" sz="24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235" y="1613344"/>
            <a:ext cx="16411065" cy="7138813"/>
          </a:xfrm>
          <a:custGeom>
            <a:avLst/>
            <a:gdLst/>
            <a:ahLst/>
            <a:cxnLst/>
            <a:rect l="l" t="t" r="r" b="b"/>
            <a:pathLst>
              <a:path w="16411065" h="7138813">
                <a:moveTo>
                  <a:pt x="0" y="0"/>
                </a:moveTo>
                <a:lnTo>
                  <a:pt x="16411065" y="0"/>
                </a:lnTo>
                <a:lnTo>
                  <a:pt x="16411065" y="7138814"/>
                </a:lnTo>
                <a:lnTo>
                  <a:pt x="0" y="71388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5777" y="1419902"/>
            <a:ext cx="14788293" cy="6026229"/>
          </a:xfrm>
          <a:custGeom>
            <a:avLst/>
            <a:gdLst/>
            <a:ahLst/>
            <a:cxnLst/>
            <a:rect l="l" t="t" r="r" b="b"/>
            <a:pathLst>
              <a:path w="14788293" h="6026229">
                <a:moveTo>
                  <a:pt x="0" y="0"/>
                </a:moveTo>
                <a:lnTo>
                  <a:pt x="14788293" y="0"/>
                </a:lnTo>
                <a:lnTo>
                  <a:pt x="14788293" y="6026230"/>
                </a:lnTo>
                <a:lnTo>
                  <a:pt x="0" y="60262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2858362" cy="9573098"/>
            <a:chOff x="0" y="0"/>
            <a:chExt cx="338656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86565" cy="2521310"/>
            </a:xfrm>
            <a:custGeom>
              <a:avLst/>
              <a:gdLst/>
              <a:ahLst/>
              <a:cxnLst/>
              <a:rect l="l" t="t" r="r" b="b"/>
              <a:pathLst>
                <a:path w="3386565" h="2521310">
                  <a:moveTo>
                    <a:pt x="0" y="0"/>
                  </a:moveTo>
                  <a:lnTo>
                    <a:pt x="3386565" y="0"/>
                  </a:lnTo>
                  <a:lnTo>
                    <a:pt x="3386565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38656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469173"/>
            <a:ext cx="11186551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Shaping your brand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612032" y="356951"/>
            <a:ext cx="2647268" cy="26472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57736" y="373283"/>
            <a:ext cx="1355860" cy="226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5"/>
              </a:lnSpc>
              <a:spcBef>
                <a:spcPct val="0"/>
              </a:spcBef>
            </a:pPr>
            <a:r>
              <a:rPr lang="en-US" sz="1262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endParaRPr lang="en-US" sz="1262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18771" y="141855"/>
            <a:ext cx="11250459" cy="1029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1: Identify Your Business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 do you want to sell or promote?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Why do you want to start this business?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2: Know Your Audience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Who are your ideal customers?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Where do they spend time online? (max 2)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3: Define Your Digital Brand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 feeling do you want your brand to give people?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Example: friendly, fun, elegant, premium, comforting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 is one line you could write in your bio?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4: Name your brand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Write 3 possible names for your business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Short, easy to say and easy to remember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Combo of your name + product (eg: Fatima’s Threads)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Avoid: Hard spellings or symbols or difficult to pronounce words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4787" y="2290092"/>
            <a:ext cx="17091717" cy="5823204"/>
            <a:chOff x="0" y="0"/>
            <a:chExt cx="4501522" cy="1533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1522" cy="1533683"/>
            </a:xfrm>
            <a:custGeom>
              <a:avLst/>
              <a:gdLst/>
              <a:ahLst/>
              <a:cxnLst/>
              <a:rect l="l" t="t" r="r" b="b"/>
              <a:pathLst>
                <a:path w="4501522" h="1533683">
                  <a:moveTo>
                    <a:pt x="24913" y="0"/>
                  </a:moveTo>
                  <a:lnTo>
                    <a:pt x="4476609" y="0"/>
                  </a:lnTo>
                  <a:cubicBezTo>
                    <a:pt x="4483217" y="0"/>
                    <a:pt x="4489553" y="2625"/>
                    <a:pt x="4494225" y="7297"/>
                  </a:cubicBezTo>
                  <a:cubicBezTo>
                    <a:pt x="4498897" y="11969"/>
                    <a:pt x="4501522" y="18306"/>
                    <a:pt x="4501522" y="24913"/>
                  </a:cubicBezTo>
                  <a:lnTo>
                    <a:pt x="4501522" y="1508770"/>
                  </a:lnTo>
                  <a:cubicBezTo>
                    <a:pt x="4501522" y="1515378"/>
                    <a:pt x="4498897" y="1521714"/>
                    <a:pt x="4494225" y="1526386"/>
                  </a:cubicBezTo>
                  <a:cubicBezTo>
                    <a:pt x="4489553" y="1531058"/>
                    <a:pt x="4483217" y="1533683"/>
                    <a:pt x="4476609" y="1533683"/>
                  </a:cubicBezTo>
                  <a:lnTo>
                    <a:pt x="24913" y="1533683"/>
                  </a:lnTo>
                  <a:cubicBezTo>
                    <a:pt x="18306" y="1533683"/>
                    <a:pt x="11969" y="1531058"/>
                    <a:pt x="7297" y="1526386"/>
                  </a:cubicBezTo>
                  <a:cubicBezTo>
                    <a:pt x="2625" y="1521714"/>
                    <a:pt x="0" y="1515378"/>
                    <a:pt x="0" y="1508770"/>
                  </a:cubicBezTo>
                  <a:lnTo>
                    <a:pt x="0" y="24913"/>
                  </a:lnTo>
                  <a:cubicBezTo>
                    <a:pt x="0" y="18306"/>
                    <a:pt x="2625" y="11969"/>
                    <a:pt x="7297" y="7297"/>
                  </a:cubicBezTo>
                  <a:cubicBezTo>
                    <a:pt x="11969" y="2625"/>
                    <a:pt x="18306" y="0"/>
                    <a:pt x="24913" y="0"/>
                  </a:cubicBez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01522" cy="1590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11374" y="2415153"/>
            <a:ext cx="15323071" cy="548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Prompt</a:t>
            </a:r>
            <a:endParaRPr lang="en-US" sz="42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 want to start a small business in Pakistan. I plan to sell ______ to _______. I want a brand name that is short, easy to remember</a:t>
            </a:r>
            <a:r>
              <a:rPr lang="en-US" sz="3800" i="1" u="sng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, and preferably in English or a mix of Urdu and English</a:t>
            </a:r>
            <a:r>
              <a:rPr lang="en-US" sz="3800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 Please give me 10 business name ideas that sound local and friendly. Avoid anything too long or difficult to spell. Also suggest 3 Instagram username ideas that match the brand name.</a:t>
            </a:r>
            <a:endParaRPr lang="en-US" sz="3800" i="1" dirty="0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343369" y="8517494"/>
            <a:ext cx="1457758" cy="1481613"/>
          </a:xfrm>
          <a:custGeom>
            <a:avLst/>
            <a:gdLst/>
            <a:ahLst/>
            <a:cxnLst/>
            <a:rect l="l" t="t" r="r" b="b"/>
            <a:pathLst>
              <a:path w="1457758" h="1481613">
                <a:moveTo>
                  <a:pt x="0" y="0"/>
                </a:moveTo>
                <a:lnTo>
                  <a:pt x="1457758" y="0"/>
                </a:lnTo>
                <a:lnTo>
                  <a:pt x="1457758" y="1481612"/>
                </a:lnTo>
                <a:lnTo>
                  <a:pt x="0" y="148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05566" y="287894"/>
            <a:ext cx="1457758" cy="1481613"/>
          </a:xfrm>
          <a:custGeom>
            <a:avLst/>
            <a:gdLst/>
            <a:ahLst/>
            <a:cxnLst/>
            <a:rect l="l" t="t" r="r" b="b"/>
            <a:pathLst>
              <a:path w="1457758" h="1481613">
                <a:moveTo>
                  <a:pt x="0" y="0"/>
                </a:moveTo>
                <a:lnTo>
                  <a:pt x="1457759" y="0"/>
                </a:lnTo>
                <a:lnTo>
                  <a:pt x="1457759" y="1481612"/>
                </a:lnTo>
                <a:lnTo>
                  <a:pt x="0" y="148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28243" y="860085"/>
            <a:ext cx="894780" cy="909421"/>
          </a:xfrm>
          <a:custGeom>
            <a:avLst/>
            <a:gdLst/>
            <a:ahLst/>
            <a:cxnLst/>
            <a:rect l="l" t="t" r="r" b="b"/>
            <a:pathLst>
              <a:path w="894780" h="909421">
                <a:moveTo>
                  <a:pt x="0" y="0"/>
                </a:moveTo>
                <a:lnTo>
                  <a:pt x="894780" y="0"/>
                </a:lnTo>
                <a:lnTo>
                  <a:pt x="894780" y="909421"/>
                </a:lnTo>
                <a:lnTo>
                  <a:pt x="0" y="90942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487056" y="6928605"/>
            <a:ext cx="894780" cy="909421"/>
          </a:xfrm>
          <a:custGeom>
            <a:avLst/>
            <a:gdLst/>
            <a:ahLst/>
            <a:cxnLst/>
            <a:rect l="l" t="t" r="r" b="b"/>
            <a:pathLst>
              <a:path w="894780" h="909421">
                <a:moveTo>
                  <a:pt x="0" y="0"/>
                </a:moveTo>
                <a:lnTo>
                  <a:pt x="894779" y="0"/>
                </a:lnTo>
                <a:lnTo>
                  <a:pt x="894779" y="909421"/>
                </a:lnTo>
                <a:lnTo>
                  <a:pt x="0" y="909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30421" y="9258300"/>
            <a:ext cx="1457758" cy="1481613"/>
          </a:xfrm>
          <a:custGeom>
            <a:avLst/>
            <a:gdLst/>
            <a:ahLst/>
            <a:cxnLst/>
            <a:rect l="l" t="t" r="r" b="b"/>
            <a:pathLst>
              <a:path w="1457758" h="1481613">
                <a:moveTo>
                  <a:pt x="0" y="0"/>
                </a:moveTo>
                <a:lnTo>
                  <a:pt x="1457758" y="0"/>
                </a:lnTo>
                <a:lnTo>
                  <a:pt x="1457758" y="1481613"/>
                </a:lnTo>
                <a:lnTo>
                  <a:pt x="0" y="14816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48558"/>
            <a:ext cx="16230600" cy="4114372"/>
            <a:chOff x="0" y="0"/>
            <a:chExt cx="4274726" cy="10836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083621"/>
            </a:xfrm>
            <a:custGeom>
              <a:avLst/>
              <a:gdLst/>
              <a:ahLst/>
              <a:cxnLst/>
              <a:rect l="l" t="t" r="r" b="b"/>
              <a:pathLst>
                <a:path w="4274726" h="1083621">
                  <a:moveTo>
                    <a:pt x="26235" y="0"/>
                  </a:moveTo>
                  <a:lnTo>
                    <a:pt x="4248491" y="0"/>
                  </a:lnTo>
                  <a:cubicBezTo>
                    <a:pt x="4262980" y="0"/>
                    <a:pt x="4274726" y="11746"/>
                    <a:pt x="4274726" y="26235"/>
                  </a:cubicBezTo>
                  <a:lnTo>
                    <a:pt x="4274726" y="1057386"/>
                  </a:lnTo>
                  <a:cubicBezTo>
                    <a:pt x="4274726" y="1064344"/>
                    <a:pt x="4271962" y="1071017"/>
                    <a:pt x="4267042" y="1075937"/>
                  </a:cubicBezTo>
                  <a:cubicBezTo>
                    <a:pt x="4262122" y="1080857"/>
                    <a:pt x="4255449" y="1083621"/>
                    <a:pt x="4248491" y="1083621"/>
                  </a:cubicBezTo>
                  <a:lnTo>
                    <a:pt x="26235" y="1083621"/>
                  </a:lnTo>
                  <a:cubicBezTo>
                    <a:pt x="19277" y="1083621"/>
                    <a:pt x="12604" y="1080857"/>
                    <a:pt x="7684" y="1075937"/>
                  </a:cubicBezTo>
                  <a:cubicBezTo>
                    <a:pt x="2764" y="1071017"/>
                    <a:pt x="0" y="1064344"/>
                    <a:pt x="0" y="1057386"/>
                  </a:cubicBezTo>
                  <a:lnTo>
                    <a:pt x="0" y="26235"/>
                  </a:lnTo>
                  <a:cubicBezTo>
                    <a:pt x="0" y="11746"/>
                    <a:pt x="11746" y="0"/>
                    <a:pt x="262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1140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09141" y="141855"/>
            <a:ext cx="14669717" cy="341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5: Design Your Look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Your profile picture could be a logo, a photo of your product or a picture of yourself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a logo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a cover photo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719984"/>
            <a:ext cx="7307046" cy="32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a logo: </a:t>
            </a:r>
            <a:endParaRPr lang="en-US" sz="3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1" tooltip="https://www.canva.com/ai-logo-generator/"/>
              </a:rPr>
              <a:t>canva.com/ai-logo-generator/</a:t>
            </a:r>
            <a:endParaRPr lang="en-US" sz="3000" u="sng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2" tooltip="https://www.canva.com/s/templates"/>
              </a:rPr>
              <a:t>canva.com/s/templates</a:t>
            </a:r>
            <a:endParaRPr lang="en-US" sz="3000" u="sng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200"/>
              </a:lnSpc>
            </a:pPr>
            <a:endParaRPr lang="en-US" sz="3000" u="sng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  <a:hlinkClick r:id="rId2" tooltip="https://www.canva.com/s/templates"/>
            </a:endParaR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Aspect ratio: 1:1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790581" y="3719984"/>
            <a:ext cx="6688278" cy="3742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a cover photo: </a:t>
            </a:r>
            <a:r>
              <a:rPr lang="en-US" sz="3000" u="sng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3" tooltip="https://www.canva.com/dream-lab"/>
              </a:rPr>
              <a:t>canva.com/dream-lab</a:t>
            </a:r>
            <a:endParaRPr lang="en-US" sz="3000" u="sng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4200"/>
              </a:lnSpc>
            </a:pPr>
            <a:endParaRPr lang="en-US" sz="3000" u="sng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  <a:hlinkClick r:id="rId3" tooltip="https://www.canva.com/dream-lab"/>
            </a:endParaRPr>
          </a:p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2" tooltip="https://www.canva.com/s/templates"/>
              </a:rPr>
              <a:t>canva.com/s/templates</a:t>
            </a:r>
            <a:endParaRPr lang="en-US" sz="3000" u="sng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u="sng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  <a:hlinkClick r:id="rId2" tooltip="https://www.canva.com/s/templates"/>
            </a:endParaRP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Use the suggested aspect ratio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621" y="141855"/>
            <a:ext cx="15778758" cy="8390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5: Design Your Look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Your profile picture could be a logo, a photo of your product or a picture of yourself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a logo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a cover photo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6: Bio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Write a 1-line Instagram/Facebook bio: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Format: What you do/sell + For whom + Location + How to contact/order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“Homemade cakes in Lahore 🍰 DM to order 💌”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“Custom cakes 🍰 | Lahore | Order via DM 📩”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“Handmade khussas 👡 | Nationwide delivery | Tap link to order 👇”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7 (OPTIONAL): Create your business-related Gmail address</a:t>
            </a:r>
            <a:endParaRPr lang="en-US" sz="3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You may use your personal Gmail account for now</a:t>
            </a: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2858362" cy="9573098"/>
            <a:chOff x="0" y="0"/>
            <a:chExt cx="338656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86565" cy="2521310"/>
            </a:xfrm>
            <a:custGeom>
              <a:avLst/>
              <a:gdLst/>
              <a:ahLst/>
              <a:cxnLst/>
              <a:rect l="l" t="t" r="r" b="b"/>
              <a:pathLst>
                <a:path w="3386565" h="2521310">
                  <a:moveTo>
                    <a:pt x="0" y="0"/>
                  </a:moveTo>
                  <a:lnTo>
                    <a:pt x="3386565" y="0"/>
                  </a:lnTo>
                  <a:lnTo>
                    <a:pt x="3386565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38656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215457"/>
            <a:ext cx="11186551" cy="365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Creating a Social Media Presence From Scratch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9540"/>
              </a:lnSpc>
              <a:spcBef>
                <a:spcPct val="0"/>
              </a:spcBef>
            </a:pP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612032" y="356951"/>
            <a:ext cx="2647268" cy="26472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57736" y="373283"/>
            <a:ext cx="1355860" cy="226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5"/>
              </a:lnSpc>
              <a:spcBef>
                <a:spcPct val="0"/>
              </a:spcBef>
            </a:pPr>
            <a:r>
              <a:rPr lang="en-US" sz="1262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endParaRPr lang="en-US" sz="1262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29938" y="227115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29938" y="324846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9938" y="54034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21419" y="510453"/>
            <a:ext cx="8284741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Facebook Page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81165" y="2194959"/>
            <a:ext cx="13763835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Log into your personal Facebook account.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DON’T: create a new Facebook account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a Facebook page for your company: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lvl="0"/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Click on your profile picture on the top right with (menu ≡) -&gt; ‘See more’ button -&gt; Pages -&gt; Create -&gt; Professional -&gt; Create a new page -&gt;  Add the page name -&gt; Add category -&gt; Create -&gt; Add all the details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Desktop link:  </a:t>
            </a:r>
            <a:r>
              <a:rPr lang="en-US" sz="3000" u="sng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https://www.facebook.com/business/tools/facebook-pages/get-started/</a:t>
            </a:r>
            <a:endParaRPr lang="en-US" sz="3000" u="sng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2729938" y="4324214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729938" y="71247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64065"/>
            <a:ext cx="16230600" cy="6958870"/>
          </a:xfrm>
          <a:custGeom>
            <a:avLst/>
            <a:gdLst/>
            <a:ahLst/>
            <a:cxnLst/>
            <a:rect l="l" t="t" r="r" b="b"/>
            <a:pathLst>
              <a:path w="16230600" h="6958870">
                <a:moveTo>
                  <a:pt x="0" y="0"/>
                </a:moveTo>
                <a:lnTo>
                  <a:pt x="16230600" y="0"/>
                </a:lnTo>
                <a:lnTo>
                  <a:pt x="16230600" y="6958870"/>
                </a:lnTo>
                <a:lnTo>
                  <a:pt x="0" y="695887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9390" y="177386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9390" y="281567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59390" y="484822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859390" y="3856833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59390" y="588937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59390" y="695776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 Business Page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24416" y="1697666"/>
            <a:ext cx="14763584" cy="720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Open instagram.com and click “Sign up”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profile picture and Bio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NOTE: Can only change to business profile on mobile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Click your profile picture and go to Settings (gear icon ⚙️ or the menu ≡)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 the search bar, type: Switch to professional account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Select Business (not “Creator”) and choose category (e.g., Bakery, Clothing, Artist)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your contact info (email, phone, WhatsApp if you want)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859390" y="845063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43" y="2430816"/>
            <a:ext cx="3526384" cy="5430631"/>
          </a:xfrm>
          <a:prstGeom prst="rect">
            <a:avLst/>
          </a:prstGeom>
        </p:spPr>
      </p:pic>
      <p:pic>
        <p:nvPicPr>
          <p:cNvPr id="9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150" y="2425553"/>
            <a:ext cx="2663213" cy="59430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0" y="2425558"/>
            <a:ext cx="2663213" cy="59430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7795" y="2429499"/>
            <a:ext cx="2849560" cy="63588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196" y="2430816"/>
            <a:ext cx="2849558" cy="63588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733" y="2425553"/>
            <a:ext cx="2849560" cy="635885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06508" y="215880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06508" y="366936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06508" y="62103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823477" y="4754843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71533" y="2082601"/>
            <a:ext cx="6053467" cy="5231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 Your Instagram to Your Facebook Page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Share posts across both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Manage everything via Meta Business Suite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Run ads in future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59390" y="316244"/>
            <a:ext cx="12052880" cy="118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 both accounts</a:t>
            </a:r>
            <a:endParaRPr lang="en-US" sz="6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Freeform 2"/>
          <p:cNvSpPr/>
          <p:nvPr/>
        </p:nvSpPr>
        <p:spPr>
          <a:xfrm>
            <a:off x="9296400" y="2609406"/>
            <a:ext cx="3687849" cy="7103274"/>
          </a:xfrm>
          <a:custGeom>
            <a:avLst/>
            <a:gdLst/>
            <a:ahLst/>
            <a:cxnLst/>
            <a:rect l="l" t="t" r="r" b="b"/>
            <a:pathLst>
              <a:path w="2713049" h="6071617">
                <a:moveTo>
                  <a:pt x="0" y="0"/>
                </a:moveTo>
                <a:lnTo>
                  <a:pt x="2713049" y="0"/>
                </a:lnTo>
                <a:lnTo>
                  <a:pt x="2713049" y="6071618"/>
                </a:lnTo>
                <a:lnTo>
                  <a:pt x="0" y="6071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3"/>
          <p:cNvSpPr/>
          <p:nvPr/>
        </p:nvSpPr>
        <p:spPr>
          <a:xfrm>
            <a:off x="14450066" y="2609406"/>
            <a:ext cx="3244532" cy="7103274"/>
          </a:xfrm>
          <a:custGeom>
            <a:avLst/>
            <a:gdLst/>
            <a:ahLst/>
            <a:cxnLst/>
            <a:rect l="l" t="t" r="r" b="b"/>
            <a:pathLst>
              <a:path w="2722405" h="6071617">
                <a:moveTo>
                  <a:pt x="0" y="0"/>
                </a:moveTo>
                <a:lnTo>
                  <a:pt x="2722404" y="0"/>
                </a:lnTo>
                <a:lnTo>
                  <a:pt x="2722404" y="6071618"/>
                </a:lnTo>
                <a:lnTo>
                  <a:pt x="0" y="6071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143125" y="1475105"/>
            <a:ext cx="14849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5400"/>
              <a:t>End of Lecture</a:t>
            </a:r>
            <a:endParaRPr lang="en-US"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4177</Words>
  <Application>WPS Writer</Application>
  <PresentationFormat>Custom</PresentationFormat>
  <Paragraphs>264</Paragraphs>
  <Slides>28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SimSun</vt:lpstr>
      <vt:lpstr>Wingdings</vt:lpstr>
      <vt:lpstr>Poppins</vt:lpstr>
      <vt:lpstr>Poppins Bold</vt:lpstr>
      <vt:lpstr>Poppins Italics</vt:lpstr>
      <vt:lpstr>Arial</vt:lpstr>
      <vt:lpstr>Poppins</vt:lpstr>
      <vt:lpstr>Microsoft YaHei</vt:lpstr>
      <vt:lpstr>汉仪旗黑</vt:lpstr>
      <vt:lpstr>Calibri</vt:lpstr>
      <vt:lpstr>Helvetica Neue</vt:lpstr>
      <vt:lpstr>宋体-简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pack</dc:title>
  <dc:creator/>
  <cp:lastModifiedBy>Nimra Abbas</cp:lastModifiedBy>
  <cp:revision>36</cp:revision>
  <dcterms:created xsi:type="dcterms:W3CDTF">2025-11-25T18:06:26Z</dcterms:created>
  <dcterms:modified xsi:type="dcterms:W3CDTF">2025-11-25T18:06:26Z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