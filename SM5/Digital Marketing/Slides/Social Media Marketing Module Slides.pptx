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media/image1.svg" ContentType="image/svg+xml"/>
  <Override PartName="/ppt/media/image2.svg" ContentType="image/svg+xml"/>
  <Override PartName="/ppt/media/image3.svg" ContentType="image/svg+xml"/>
  <Override PartName="/ppt/media/image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6"/>
  </p:notesMasterIdLst>
  <p:sldIdLst>
    <p:sldId id="256" r:id="rId3"/>
    <p:sldId id="312" r:id="rId4"/>
    <p:sldId id="427" r:id="rId5"/>
    <p:sldId id="428" r:id="rId7"/>
    <p:sldId id="429" r:id="rId8"/>
    <p:sldId id="430" r:id="rId9"/>
    <p:sldId id="431" r:id="rId10"/>
    <p:sldId id="432" r:id="rId11"/>
    <p:sldId id="433" r:id="rId12"/>
    <p:sldId id="434" r:id="rId13"/>
    <p:sldId id="435" r:id="rId14"/>
    <p:sldId id="436" r:id="rId15"/>
    <p:sldId id="411" r:id="rId16"/>
    <p:sldId id="320" r:id="rId17"/>
    <p:sldId id="321" r:id="rId18"/>
    <p:sldId id="322" r:id="rId19"/>
    <p:sldId id="323" r:id="rId20"/>
    <p:sldId id="324" r:id="rId21"/>
    <p:sldId id="325" r:id="rId22"/>
    <p:sldId id="326" r:id="rId23"/>
    <p:sldId id="327" r:id="rId24"/>
    <p:sldId id="328" r:id="rId25"/>
    <p:sldId id="329" r:id="rId26"/>
    <p:sldId id="330" r:id="rId27"/>
    <p:sldId id="331" r:id="rId28"/>
    <p:sldId id="332" r:id="rId29"/>
    <p:sldId id="419" r:id="rId30"/>
    <p:sldId id="437" r:id="rId31"/>
    <p:sldId id="438" r:id="rId32"/>
    <p:sldId id="439" r:id="rId33"/>
    <p:sldId id="440" r:id="rId34"/>
    <p:sldId id="441" r:id="rId35"/>
    <p:sldId id="442" r:id="rId36"/>
    <p:sldId id="443" r:id="rId37"/>
    <p:sldId id="444" r:id="rId38"/>
    <p:sldId id="445" r:id="rId39"/>
    <p:sldId id="446" r:id="rId40"/>
    <p:sldId id="368" r:id="rId41"/>
  </p:sldIdLst>
  <p:sldSz cx="18288000" cy="10287000"/>
  <p:notesSz cx="6858000" cy="9144000"/>
  <p:embeddedFontLst>
    <p:embeddedFont>
      <p:font typeface="Poppins" panose="00000500000000000000"/>
      <p:regular r:id="rId45"/>
    </p:embeddedFont>
    <p:embeddedFont>
      <p:font typeface="Poppins Bold"/>
      <p:regular r:id="rId46"/>
    </p:embeddedFont>
    <p:embeddedFont>
      <p:font typeface="Poppins" panose="00000500000000000000" pitchFamily="2" charset="0"/>
      <p:regular r:id="rId4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9CF1AB2-1976-4502-BF36-3FF5EA218861}" styleName="中度样式 4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688" autoAdjust="0"/>
    <p:restoredTop sz="95407" autoAdjust="0"/>
  </p:normalViewPr>
  <p:slideViewPr>
    <p:cSldViewPr>
      <p:cViewPr varScale="1">
        <p:scale>
          <a:sx n="61" d="100"/>
          <a:sy n="61" d="100"/>
        </p:scale>
        <p:origin x="456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7" Type="http://schemas.openxmlformats.org/officeDocument/2006/relationships/font" Target="fonts/font3.fntdata"/><Relationship Id="rId46" Type="http://schemas.openxmlformats.org/officeDocument/2006/relationships/font" Target="fonts/font2.fntdata"/><Relationship Id="rId45" Type="http://schemas.openxmlformats.org/officeDocument/2006/relationships/font" Target="fonts/font1.fntdata"/><Relationship Id="rId44" Type="http://schemas.openxmlformats.org/officeDocument/2006/relationships/tableStyles" Target="tableStyles.xml"/><Relationship Id="rId43" Type="http://schemas.openxmlformats.org/officeDocument/2006/relationships/viewProps" Target="viewProps.xml"/><Relationship Id="rId42" Type="http://schemas.openxmlformats.org/officeDocument/2006/relationships/presProps" Target="presProps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Avoid audience overlap</a:t>
            </a:r>
            <a:endParaRPr lang="en-US"/>
          </a:p>
          <a:p>
            <a:r>
              <a:rPr lang="en-US"/>
              <a:t>Avoid auction overlap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Avoid audience overlap</a:t>
            </a:r>
            <a:endParaRPr lang="en-US"/>
          </a:p>
          <a:p>
            <a:r>
              <a:rPr lang="en-US"/>
              <a:t>Avoid auction overlap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Avoid audience overlap</a:t>
            </a:r>
            <a:endParaRPr lang="en-US"/>
          </a:p>
          <a:p>
            <a:r>
              <a:rPr lang="en-US"/>
              <a:t>Avoid auction overlap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Avoid audience overlap</a:t>
            </a:r>
            <a:endParaRPr lang="en-US"/>
          </a:p>
          <a:p>
            <a:r>
              <a:rPr lang="en-US"/>
              <a:t>Avoid auction overlap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Avoid audience overlap</a:t>
            </a:r>
            <a:endParaRPr lang="en-US"/>
          </a:p>
          <a:p>
            <a:r>
              <a:rPr lang="en-US"/>
              <a:t>Avoid auction overlap</a:t>
            </a:r>
            <a:endParaRPr lang="en-US"/>
          </a:p>
          <a:p>
            <a:endParaRPr lang="en-US"/>
          </a:p>
          <a:p>
            <a:r>
              <a:rPr lang="en-US"/>
              <a:t>Engagement: no website, increase likes engagement on post, algorithm will boost those posts and profiles. Or direct to DMs or WhatsApp or call</a:t>
            </a:r>
            <a:endParaRPr lang="en-US"/>
          </a:p>
          <a:p>
            <a:endParaRPr lang="en-US"/>
          </a:p>
          <a:p>
            <a:r>
              <a:rPr lang="en-US"/>
              <a:t>Leads: data collection, hiring, real estate</a:t>
            </a:r>
            <a:endParaRPr lang="en-US"/>
          </a:p>
          <a:p>
            <a:endParaRPr lang="en-US"/>
          </a:p>
          <a:p>
            <a:r>
              <a:rPr lang="en-US"/>
              <a:t>App promotion: perform action inside the app is of higher priority than installation</a:t>
            </a:r>
            <a:endParaRPr lang="en-US"/>
          </a:p>
          <a:p>
            <a:endParaRPr lang="en-US"/>
          </a:p>
          <a:p>
            <a:r>
              <a:rPr lang="en-US"/>
              <a:t>Sales: e-commerce store</a:t>
            </a:r>
            <a:endParaRPr lang="en-US"/>
          </a:p>
          <a:p>
            <a:endParaRPr lang="en-US"/>
          </a:p>
          <a:p>
            <a:r>
              <a:rPr lang="en-US"/>
              <a:t>Traffic vs sales: website, info or service or cooking website, landing page views. Sales is only for selling.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Avoid audience overlap</a:t>
            </a:r>
            <a:endParaRPr lang="en-US"/>
          </a:p>
          <a:p>
            <a:r>
              <a:rPr lang="en-US"/>
              <a:t>Avoid auction overlap</a:t>
            </a:r>
            <a:endParaRPr lang="en-US"/>
          </a:p>
          <a:p>
            <a:endParaRPr lang="en-US"/>
          </a:p>
          <a:p>
            <a:r>
              <a:rPr lang="en-US"/>
              <a:t>Engagement: no website, increase likes engagement on post, algorithm will boost those posts and profiles. Or direct to DMs or WhatsApp or call</a:t>
            </a:r>
            <a:endParaRPr lang="en-US"/>
          </a:p>
          <a:p>
            <a:endParaRPr lang="en-US"/>
          </a:p>
          <a:p>
            <a:r>
              <a:rPr lang="en-US"/>
              <a:t>Leads: data collection, hiring, real estate</a:t>
            </a:r>
            <a:endParaRPr lang="en-US"/>
          </a:p>
          <a:p>
            <a:endParaRPr lang="en-US"/>
          </a:p>
          <a:p>
            <a:r>
              <a:rPr lang="en-US"/>
              <a:t>App promotion: perform action inside the app is of higher priority than installation</a:t>
            </a:r>
            <a:endParaRPr lang="en-US"/>
          </a:p>
          <a:p>
            <a:endParaRPr lang="en-US"/>
          </a:p>
          <a:p>
            <a:r>
              <a:rPr lang="en-US"/>
              <a:t>Sales: e-commerce store</a:t>
            </a:r>
            <a:endParaRPr lang="en-US"/>
          </a:p>
          <a:p>
            <a:endParaRPr lang="en-US"/>
          </a:p>
          <a:p>
            <a:r>
              <a:rPr lang="en-US"/>
              <a:t>Traffic vs sales: website, info or service or cooking website, landing page views. Sales is only for selling.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Avoid audience overlap</a:t>
            </a:r>
            <a:endParaRPr lang="en-US"/>
          </a:p>
          <a:p>
            <a:r>
              <a:rPr lang="en-US"/>
              <a:t>Avoid auction overlap</a:t>
            </a:r>
            <a:endParaRPr lang="en-US"/>
          </a:p>
          <a:p>
            <a:endParaRPr lang="en-US"/>
          </a:p>
          <a:p>
            <a:r>
              <a:rPr lang="en-US"/>
              <a:t>Engagement: no website, increase likes engagement on post, algorithm will boost those posts and profiles. Or direct to DMs or WhatsApp or call</a:t>
            </a:r>
            <a:endParaRPr lang="en-US"/>
          </a:p>
          <a:p>
            <a:endParaRPr lang="en-US"/>
          </a:p>
          <a:p>
            <a:r>
              <a:rPr lang="en-US"/>
              <a:t>Leads: data collection, hiring, real estate</a:t>
            </a:r>
            <a:endParaRPr lang="en-US"/>
          </a:p>
          <a:p>
            <a:endParaRPr lang="en-US"/>
          </a:p>
          <a:p>
            <a:r>
              <a:rPr lang="en-US"/>
              <a:t>App promotion: perform action inside the app is of higher priority than installation</a:t>
            </a:r>
            <a:endParaRPr lang="en-US"/>
          </a:p>
          <a:p>
            <a:endParaRPr lang="en-US"/>
          </a:p>
          <a:p>
            <a:r>
              <a:rPr lang="en-US"/>
              <a:t>Sales: e-commerce store</a:t>
            </a:r>
            <a:endParaRPr lang="en-US"/>
          </a:p>
          <a:p>
            <a:endParaRPr lang="en-US"/>
          </a:p>
          <a:p>
            <a:r>
              <a:rPr lang="en-US"/>
              <a:t>Traffic vs sales: website, info or service or cooking website, landing page views. Sales is only for selling.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Avoid audience overlap</a:t>
            </a:r>
            <a:endParaRPr lang="en-US"/>
          </a:p>
          <a:p>
            <a:r>
              <a:rPr lang="en-US"/>
              <a:t>Avoid auction overlap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Avoid audience overlap</a:t>
            </a:r>
            <a:endParaRPr lang="en-US"/>
          </a:p>
          <a:p>
            <a:r>
              <a:rPr lang="en-US"/>
              <a:t>Avoid auction overlap</a:t>
            </a:r>
            <a:endParaRPr lang="en-US"/>
          </a:p>
          <a:p>
            <a:endParaRPr lang="en-US"/>
          </a:p>
          <a:p>
            <a:r>
              <a:rPr lang="en-US"/>
              <a:t>Social issues: needs verification with Passport or CNIC to run such a campaign</a:t>
            </a:r>
            <a:endParaRPr lang="en-US"/>
          </a:p>
          <a:p>
            <a:endParaRPr lang="en-US"/>
          </a:p>
          <a:p>
            <a:r>
              <a:rPr lang="en-US"/>
              <a:t>Auction vs Reservation:</a:t>
            </a:r>
            <a:endParaRPr lang="en-US"/>
          </a:p>
          <a:p>
            <a:r>
              <a:rPr lang="en-US"/>
              <a:t>-Auction: competition, less cost, depends on how good the ad creative and ad copy is, along with budget</a:t>
            </a:r>
            <a:endParaRPr lang="en-US"/>
          </a:p>
          <a:p>
            <a:endParaRPr lang="en-US"/>
          </a:p>
          <a:p>
            <a:r>
              <a:rPr lang="en-US"/>
              <a:t>-Reservation: booking, pay more, reserve slot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Avoid audience overlap</a:t>
            </a:r>
            <a:endParaRPr lang="en-US"/>
          </a:p>
          <a:p>
            <a:r>
              <a:rPr lang="en-US"/>
              <a:t>Avoid auction overlap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Avoid audience overlap</a:t>
            </a:r>
            <a:endParaRPr lang="en-US"/>
          </a:p>
          <a:p>
            <a:r>
              <a:rPr lang="en-US"/>
              <a:t>Avoid auction overlap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Avoid audience overlap</a:t>
            </a:r>
            <a:endParaRPr lang="en-US"/>
          </a:p>
          <a:p>
            <a:r>
              <a:rPr lang="en-US"/>
              <a:t>Avoid auction overlap</a:t>
            </a:r>
            <a:endParaRPr lang="en-US"/>
          </a:p>
          <a:p>
            <a:endParaRPr lang="en-US"/>
          </a:p>
          <a:p>
            <a:r>
              <a:rPr lang="en-US"/>
              <a:t>Social issues: needs verification with Passport or CNIC to run such a campaign</a:t>
            </a:r>
            <a:endParaRPr lang="en-US"/>
          </a:p>
          <a:p>
            <a:endParaRPr lang="en-US"/>
          </a:p>
          <a:p>
            <a:r>
              <a:rPr lang="en-US"/>
              <a:t>Auction vs Reservation:</a:t>
            </a:r>
            <a:endParaRPr lang="en-US"/>
          </a:p>
          <a:p>
            <a:r>
              <a:rPr lang="en-US"/>
              <a:t>-Auction: competition, less cost, depends on how good the ad creative and ad copy is, along with budget</a:t>
            </a:r>
            <a:endParaRPr lang="en-US"/>
          </a:p>
          <a:p>
            <a:endParaRPr lang="en-US"/>
          </a:p>
          <a:p>
            <a:r>
              <a:rPr lang="en-US"/>
              <a:t>-Reservation: booking, pay more, reserve slot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Avoid audience overlap</a:t>
            </a:r>
            <a:endParaRPr lang="en-US"/>
          </a:p>
          <a:p>
            <a:r>
              <a:rPr lang="en-US"/>
              <a:t>Avoid auction overlap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Avoid audience overlap</a:t>
            </a:r>
            <a:endParaRPr lang="en-US"/>
          </a:p>
          <a:p>
            <a:r>
              <a:rPr lang="en-US"/>
              <a:t>Avoid auction overlap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Avoid audience overlap</a:t>
            </a:r>
            <a:endParaRPr lang="en-US"/>
          </a:p>
          <a:p>
            <a:r>
              <a:rPr lang="en-US"/>
              <a:t>Avoid auction overlap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Avoid audience overlap</a:t>
            </a:r>
            <a:endParaRPr lang="en-US"/>
          </a:p>
          <a:p>
            <a:r>
              <a:rPr lang="en-US"/>
              <a:t>Avoid auction overlap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Avoid audience overlap</a:t>
            </a:r>
            <a:endParaRPr lang="en-US"/>
          </a:p>
          <a:p>
            <a:r>
              <a:rPr lang="en-US"/>
              <a:t>Avoid auction overlap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Avoid audience overlap</a:t>
            </a:r>
            <a:endParaRPr lang="en-US"/>
          </a:p>
          <a:p>
            <a:r>
              <a:rPr lang="en-US"/>
              <a:t>Avoid auction overlap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demographics:</a:t>
            </a:r>
            <a:endParaRPr lang="en-US"/>
          </a:p>
          <a:p>
            <a:r>
              <a:rPr lang="en-US"/>
              <a:t>Company size</a:t>
            </a:r>
            <a:endParaRPr lang="en-US"/>
          </a:p>
          <a:p>
            <a:r>
              <a:rPr lang="en-US"/>
              <a:t>Age	18–24, 25–34, etc.</a:t>
            </a:r>
            <a:endParaRPr lang="en-US"/>
          </a:p>
          <a:p>
            <a:r>
              <a:rPr lang="en-US"/>
              <a:t>Gender	Men, Women, Education level	High school, College grads, Master's, etc.</a:t>
            </a:r>
            <a:endParaRPr lang="en-US"/>
          </a:p>
          <a:p>
            <a:r>
              <a:rPr lang="en-US"/>
              <a:t>Job title / industry	Engineer, Artist, Self-employed</a:t>
            </a:r>
            <a:endParaRPr lang="en-US"/>
          </a:p>
          <a:p>
            <a:r>
              <a:rPr lang="en-US"/>
              <a:t>Life events	Recently moved, Just got married, Birthdays coming up</a:t>
            </a:r>
            <a:endParaRPr lang="en-US"/>
          </a:p>
          <a:p>
            <a:r>
              <a:rPr lang="en-US"/>
              <a:t>Relationship status	Single, Married, In a relationship</a:t>
            </a:r>
            <a:endParaRPr lang="en-US"/>
          </a:p>
          <a:p>
            <a:r>
              <a:rPr lang="en-US"/>
              <a:t>Parents	Parents with toddlers (1–2 years), New parents</a:t>
            </a:r>
            <a:endParaRPr lang="en-US"/>
          </a:p>
          <a:p>
            <a:endParaRPr lang="en-US"/>
          </a:p>
          <a:p>
            <a:r>
              <a:rPr lang="en-US"/>
              <a:t>Behaviors:</a:t>
            </a:r>
            <a:endParaRPr lang="en-US"/>
          </a:p>
          <a:p>
            <a:r>
              <a:rPr lang="en-US"/>
              <a:t>Hobbies(Cooking, Photography, Gardening)</a:t>
            </a:r>
            <a:endParaRPr lang="en-US"/>
          </a:p>
          <a:p>
            <a:endParaRPr lang="en-US"/>
          </a:p>
          <a:p>
            <a:r>
              <a:rPr lang="en-US"/>
              <a:t>Entertainment(K-dramas, Marvel, Netflix, Coke Studio)</a:t>
            </a:r>
            <a:endParaRPr lang="en-US"/>
          </a:p>
          <a:p>
            <a:endParaRPr lang="en-US"/>
          </a:p>
          <a:p>
            <a:r>
              <a:rPr lang="en-US"/>
              <a:t>Shopping(Online shoppers, Fashion lovers)</a:t>
            </a:r>
            <a:endParaRPr lang="en-US"/>
          </a:p>
          <a:p>
            <a:endParaRPr lang="en-US"/>
          </a:p>
          <a:p>
            <a:r>
              <a:rPr lang="en-US"/>
              <a:t>Fitness(	Yoga, Running, Gyms)</a:t>
            </a:r>
            <a:endParaRPr lang="en-US"/>
          </a:p>
          <a:p>
            <a:endParaRPr lang="en-US"/>
          </a:p>
          <a:p>
            <a:r>
              <a:rPr lang="en-US"/>
              <a:t>Technology(Android, iPhone users, Gadgets)</a:t>
            </a:r>
            <a:endParaRPr lang="en-US"/>
          </a:p>
          <a:p>
            <a:endParaRPr lang="en-US"/>
          </a:p>
          <a:p>
            <a:r>
              <a:rPr lang="en-US"/>
              <a:t>Beauty &amp; Fashion(Skincare, Makeup, Men’s fashion)</a:t>
            </a:r>
            <a:endParaRPr lang="en-US"/>
          </a:p>
          <a:p>
            <a:endParaRPr lang="en-US"/>
          </a:p>
          <a:p>
            <a:r>
              <a:rPr lang="en-US"/>
              <a:t>Food(Baking, Street food, Vegan cuisine)</a:t>
            </a:r>
            <a:endParaRPr lang="en-US"/>
          </a:p>
          <a:p>
            <a:endParaRPr lang="en-US"/>
          </a:p>
          <a:p>
            <a:r>
              <a:rPr lang="en-US"/>
              <a:t>Behaviors:</a:t>
            </a:r>
            <a:endParaRPr lang="en-US"/>
          </a:p>
          <a:p>
            <a:r>
              <a:rPr lang="en-US"/>
              <a:t>Purchase behavior(Engaged shoppers (clicked 'Shop Now'), High-value spenders)</a:t>
            </a:r>
            <a:endParaRPr lang="en-US"/>
          </a:p>
          <a:p>
            <a:endParaRPr lang="en-US"/>
          </a:p>
          <a:p>
            <a:r>
              <a:rPr lang="en-US"/>
              <a:t>Device use(iPhone 13 users, Android tablet users)</a:t>
            </a:r>
            <a:endParaRPr lang="en-US"/>
          </a:p>
          <a:p>
            <a:r>
              <a:rPr lang="en-US"/>
              <a:t>Travel behavior(Frequent international travelers, Commuters)</a:t>
            </a:r>
            <a:endParaRPr lang="en-US"/>
          </a:p>
          <a:p>
            <a:r>
              <a:rPr lang="en-US"/>
              <a:t>Page admins(Business page admins (great for B2B)</a:t>
            </a:r>
            <a:endParaRPr lang="en-US"/>
          </a:p>
          <a:p>
            <a:endParaRPr lang="en-US"/>
          </a:p>
          <a:p>
            <a:r>
              <a:rPr lang="en-US"/>
              <a:t>Engaged with ads(Clicked ads in the past 7 days)</a:t>
            </a:r>
            <a:endParaRPr lang="en-US"/>
          </a:p>
          <a:p>
            <a:endParaRPr lang="en-US"/>
          </a:p>
          <a:p>
            <a:r>
              <a:rPr lang="en-US"/>
              <a:t>Facebook payment users(Made in-app purchases before)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Q: What’s the best targeting strategy?</a:t>
            </a:r>
            <a:endParaRPr lang="en-US"/>
          </a:p>
          <a:p>
            <a:endParaRPr lang="en-US"/>
          </a:p>
          <a:p>
            <a:r>
              <a:rPr lang="en-US"/>
              <a:t>(A) Parents of infants → ___?</a:t>
            </a:r>
            <a:endParaRPr lang="en-US"/>
          </a:p>
          <a:p>
            <a:endParaRPr lang="en-US"/>
          </a:p>
          <a:p>
            <a:r>
              <a:rPr lang="en-US"/>
              <a:t>(B) People who follow parenting blogs → ___?</a:t>
            </a:r>
            <a:endParaRPr lang="en-US"/>
          </a:p>
          <a:p>
            <a:endParaRPr lang="en-US"/>
          </a:p>
          <a:p>
            <a:r>
              <a:rPr lang="en-US"/>
              <a:t>(C) People who have recently shopped for baby items → ___?</a:t>
            </a:r>
            <a:endParaRPr lang="en-US"/>
          </a:p>
          <a:p>
            <a:endParaRPr lang="en-US"/>
          </a:p>
          <a:p>
            <a:r>
              <a:rPr lang="en-US"/>
              <a:t>Expected Answers:</a:t>
            </a:r>
            <a:endParaRPr lang="en-US"/>
          </a:p>
          <a:p>
            <a:endParaRPr lang="en-US"/>
          </a:p>
          <a:p>
            <a:r>
              <a:rPr lang="en-US"/>
              <a:t>(A) Demographic</a:t>
            </a:r>
            <a:endParaRPr lang="en-US"/>
          </a:p>
          <a:p>
            <a:endParaRPr lang="en-US"/>
          </a:p>
          <a:p>
            <a:r>
              <a:rPr lang="en-US"/>
              <a:t>(B) Interest</a:t>
            </a:r>
            <a:endParaRPr lang="en-US"/>
          </a:p>
          <a:p>
            <a:endParaRPr lang="en-US"/>
          </a:p>
          <a:p>
            <a:r>
              <a:rPr lang="en-US"/>
              <a:t>(C) Behavior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Q: What would you use to target effectively?</a:t>
            </a:r>
            <a:endParaRPr lang="en-US"/>
          </a:p>
          <a:p>
            <a:endParaRPr lang="en-US"/>
          </a:p>
          <a:p>
            <a:r>
              <a:rPr lang="en-US"/>
              <a:t>(A) People who live near the shop → ___?</a:t>
            </a:r>
            <a:endParaRPr lang="en-US"/>
          </a:p>
          <a:p>
            <a:endParaRPr lang="en-US"/>
          </a:p>
          <a:p>
            <a:r>
              <a:rPr lang="en-US"/>
              <a:t>(B) People who follow food pages or food bloggers → ___?</a:t>
            </a:r>
            <a:endParaRPr lang="en-US"/>
          </a:p>
          <a:p>
            <a:endParaRPr lang="en-US"/>
          </a:p>
          <a:p>
            <a:r>
              <a:rPr lang="en-US"/>
              <a:t>(C) People who often use Facebook Offers → ___?</a:t>
            </a:r>
            <a:endParaRPr lang="en-US"/>
          </a:p>
          <a:p>
            <a:endParaRPr lang="en-US"/>
          </a:p>
          <a:p>
            <a:r>
              <a:rPr lang="en-US"/>
              <a:t>Expected Answers:</a:t>
            </a:r>
            <a:endParaRPr lang="en-US"/>
          </a:p>
          <a:p>
            <a:endParaRPr lang="en-US"/>
          </a:p>
          <a:p>
            <a:r>
              <a:rPr lang="en-US"/>
              <a:t>(A) Demographic (location)</a:t>
            </a:r>
            <a:endParaRPr lang="en-US"/>
          </a:p>
          <a:p>
            <a:endParaRPr lang="en-US"/>
          </a:p>
          <a:p>
            <a:r>
              <a:rPr lang="en-US"/>
              <a:t>(B) Interest</a:t>
            </a:r>
            <a:endParaRPr lang="en-US"/>
          </a:p>
          <a:p>
            <a:endParaRPr lang="en-US"/>
          </a:p>
          <a:p>
            <a:r>
              <a:rPr lang="en-US"/>
              <a:t>(C) Behavior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-Anniersary</a:t>
            </a:r>
            <a:endParaRPr lang="en-US"/>
          </a:p>
          <a:p>
            <a:r>
              <a:rPr lang="en-US"/>
              <a:t>-Friends of men with birthday in 0 -7 days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Avoid audience overlap</a:t>
            </a:r>
            <a:endParaRPr lang="en-US"/>
          </a:p>
          <a:p>
            <a:r>
              <a:rPr lang="en-US"/>
              <a:t>Avoid auction overlap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Avoid audience overlap</a:t>
            </a:r>
            <a:endParaRPr lang="en-US"/>
          </a:p>
          <a:p>
            <a:r>
              <a:rPr lang="en-US"/>
              <a:t>Avoid auction overlap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Avoid audience overlap</a:t>
            </a:r>
            <a:endParaRPr lang="en-US"/>
          </a:p>
          <a:p>
            <a:r>
              <a:rPr lang="en-US"/>
              <a:t>Avoid auction overlap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Avoid audience overlap</a:t>
            </a:r>
            <a:endParaRPr lang="en-US"/>
          </a:p>
          <a:p>
            <a:r>
              <a:rPr lang="en-US"/>
              <a:t>Avoid auction overlap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Avoid audience overlap</a:t>
            </a:r>
            <a:endParaRPr lang="en-US"/>
          </a:p>
          <a:p>
            <a:r>
              <a:rPr lang="en-US"/>
              <a:t>Avoid auction overlap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Avoid audience overlap</a:t>
            </a:r>
            <a:endParaRPr lang="en-US"/>
          </a:p>
          <a:p>
            <a:r>
              <a:rPr lang="en-US"/>
              <a:t>Avoid auction overlap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Avoid audience overlap</a:t>
            </a:r>
            <a:endParaRPr lang="en-US"/>
          </a:p>
          <a:p>
            <a:r>
              <a:rPr lang="en-US"/>
              <a:t>Avoid auction overlap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Post: A regular image, video, or carousel (multiple images) that you share on your profile.</a:t>
            </a:r>
            <a:endParaRPr lang="en-US"/>
          </a:p>
          <a:p>
            <a:r>
              <a:rPr lang="en-US"/>
              <a:t>Story: A short video or photo that stays visible for 24 hours only. Often used for behind-the-scenes, updates, and casual interaction.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Post: A regular image, video, or carousel (multiple images) that you share on your profile.</a:t>
            </a:r>
            <a:endParaRPr lang="en-US"/>
          </a:p>
          <a:p>
            <a:r>
              <a:rPr lang="en-US"/>
              <a:t>Story: A short video or photo that stays visible for 24 hours only. Often used for behind-the-scenes, updates, and casual interaction.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Reel: A short, vertical video (up to 90 seconds) with music, filters, or captions—made to entertain and go viral.</a:t>
            </a:r>
            <a:endParaRPr lang="en-US"/>
          </a:p>
          <a:p>
            <a:endParaRPr lang="en-US"/>
          </a:p>
          <a:p>
            <a:r>
              <a:rPr lang="en-US"/>
              <a:t>Hashtag: A clickable keyword (with # symbol) that helps people discover your posts.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DM: A private message someone sends you via Instagram or Facebook.</a:t>
            </a:r>
            <a:endParaRPr lang="en-US"/>
          </a:p>
          <a:p>
            <a:r>
              <a:rPr lang="en-US"/>
              <a:t>Engagement: Any action a follower takes on your content—likes, shares, saves, comments, clicks, replies.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5.png"/><Relationship Id="rId6" Type="http://schemas.openxmlformats.org/officeDocument/2006/relationships/image" Target="../media/image4.png"/><Relationship Id="rId5" Type="http://schemas.openxmlformats.org/officeDocument/2006/relationships/image" Target="../media/image2.svg"/><Relationship Id="rId4" Type="http://schemas.openxmlformats.org/officeDocument/2006/relationships/image" Target="../media/image3.png"/><Relationship Id="rId3" Type="http://schemas.openxmlformats.org/officeDocument/2006/relationships/image" Target="../media/image2.jpeg"/><Relationship Id="rId2" Type="http://schemas.openxmlformats.org/officeDocument/2006/relationships/image" Target="../media/image1.sv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7.xml"/><Relationship Id="rId3" Type="http://schemas.openxmlformats.org/officeDocument/2006/relationships/hyperlink" Target="https://business.facebook.com/settings" TargetMode="External"/><Relationship Id="rId2" Type="http://schemas.openxmlformats.org/officeDocument/2006/relationships/image" Target="../media/image3.svg"/><Relationship Id="rId1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3.svg"/><Relationship Id="rId1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7.xml"/><Relationship Id="rId4" Type="http://schemas.openxmlformats.org/officeDocument/2006/relationships/hyperlink" Target="https://adsmanager.facebook.com/" TargetMode="External"/><Relationship Id="rId3" Type="http://schemas.openxmlformats.org/officeDocument/2006/relationships/image" Target="../media/image14.png"/><Relationship Id="rId2" Type="http://schemas.openxmlformats.org/officeDocument/2006/relationships/image" Target="../media/image3.svg"/><Relationship Id="rId1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svg"/><Relationship Id="rId1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svg"/><Relationship Id="rId1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svg"/><Relationship Id="rId1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7.png"/><Relationship Id="rId2" Type="http://schemas.openxmlformats.org/officeDocument/2006/relationships/image" Target="../media/image3.svg"/><Relationship Id="rId1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9.png"/><Relationship Id="rId2" Type="http://schemas.openxmlformats.org/officeDocument/2006/relationships/image" Target="../media/image3.svg"/><Relationship Id="rId1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7.png"/><Relationship Id="rId2" Type="http://schemas.openxmlformats.org/officeDocument/2006/relationships/image" Target="../media/image3.svg"/><Relationship Id="rId1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9.png"/><Relationship Id="rId2" Type="http://schemas.openxmlformats.org/officeDocument/2006/relationships/image" Target="../media/image3.svg"/><Relationship Id="rId1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svg"/><Relationship Id="rId1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7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3.svg"/><Relationship Id="rId3" Type="http://schemas.openxmlformats.org/officeDocument/2006/relationships/image" Target="../media/image11.png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svg"/><Relationship Id="rId1" Type="http://schemas.openxmlformats.org/officeDocument/2006/relationships/image" Target="../media/image11.png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svg"/><Relationship Id="rId1" Type="http://schemas.openxmlformats.org/officeDocument/2006/relationships/image" Target="../media/image11.png"/></Relationships>
</file>

<file path=ppt/slides/_rels/slide2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0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4.svg"/><Relationship Id="rId3" Type="http://schemas.openxmlformats.org/officeDocument/2006/relationships/image" Target="../media/image25.png"/><Relationship Id="rId2" Type="http://schemas.openxmlformats.org/officeDocument/2006/relationships/image" Target="../media/image3.svg"/><Relationship Id="rId1" Type="http://schemas.openxmlformats.org/officeDocument/2006/relationships/image" Target="../media/image11.png"/></Relationships>
</file>

<file path=ppt/slides/_rels/slide2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1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4.svg"/><Relationship Id="rId3" Type="http://schemas.openxmlformats.org/officeDocument/2006/relationships/image" Target="../media/image25.png"/><Relationship Id="rId2" Type="http://schemas.openxmlformats.org/officeDocument/2006/relationships/image" Target="../media/image3.svg"/><Relationship Id="rId1" Type="http://schemas.openxmlformats.org/officeDocument/2006/relationships/image" Target="../media/image11.png"/></Relationships>
</file>

<file path=ppt/slides/_rels/slide2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2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4.svg"/><Relationship Id="rId3" Type="http://schemas.openxmlformats.org/officeDocument/2006/relationships/image" Target="../media/image25.png"/><Relationship Id="rId2" Type="http://schemas.openxmlformats.org/officeDocument/2006/relationships/image" Target="../media/image3.svg"/><Relationship Id="rId1" Type="http://schemas.openxmlformats.org/officeDocument/2006/relationships/image" Target="../media/image11.png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3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svg"/><Relationship Id="rId1" Type="http://schemas.openxmlformats.org/officeDocument/2006/relationships/image" Target="../media/image11.png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4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svg"/><Relationship Id="rId1" Type="http://schemas.openxmlformats.org/officeDocument/2006/relationships/image" Target="../media/image11.png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5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svg"/><Relationship Id="rId1" Type="http://schemas.openxmlformats.org/officeDocument/2006/relationships/image" Target="../media/image11.png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6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svg"/><Relationship Id="rId1" Type="http://schemas.openxmlformats.org/officeDocument/2006/relationships/image" Target="../media/image11.png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7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svg"/><Relationship Id="rId1" Type="http://schemas.openxmlformats.org/officeDocument/2006/relationships/image" Target="../media/image11.png"/></Relationships>
</file>

<file path=ppt/slides/_rels/slide3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8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svg"/><Relationship Id="rId1" Type="http://schemas.openxmlformats.org/officeDocument/2006/relationships/image" Target="../media/image11.png"/></Relationships>
</file>

<file path=ppt/slides/_rels/slide3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9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svg"/><Relationship Id="rId1" Type="http://schemas.openxmlformats.org/officeDocument/2006/relationships/image" Target="../media/image11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0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1" Type="http://schemas.openxmlformats.org/officeDocument/2006/relationships/image" Target="../media/image26.png"/></Relationships>
</file>

<file path=ppt/slides/_rels/slide3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1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image" Target="../media/image28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image" Target="../media/image31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2D0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23029" y="356951"/>
            <a:ext cx="17441942" cy="9573098"/>
            <a:chOff x="0" y="0"/>
            <a:chExt cx="4593763" cy="252131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93763" cy="2521310"/>
            </a:xfrm>
            <a:custGeom>
              <a:avLst/>
              <a:gdLst/>
              <a:ahLst/>
              <a:cxnLst/>
              <a:rect l="l" t="t" r="r" b="b"/>
              <a:pathLst>
                <a:path w="4593763" h="2521310">
                  <a:moveTo>
                    <a:pt x="0" y="0"/>
                  </a:moveTo>
                  <a:lnTo>
                    <a:pt x="4593763" y="0"/>
                  </a:lnTo>
                  <a:lnTo>
                    <a:pt x="4593763" y="2521310"/>
                  </a:lnTo>
                  <a:lnTo>
                    <a:pt x="0" y="2521310"/>
                  </a:lnTo>
                  <a:close/>
                </a:path>
              </a:pathLst>
            </a:custGeom>
            <a:solidFill>
              <a:srgbClr val="FCCC38"/>
            </a:solidFill>
            <a:ln w="19050" cap="sq">
              <a:solidFill>
                <a:srgbClr val="011FBB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593763" cy="2578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00887" y="611780"/>
            <a:ext cx="9531971" cy="9127903"/>
            <a:chOff x="0" y="0"/>
            <a:chExt cx="2510478" cy="240405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510478" cy="2404057"/>
            </a:xfrm>
            <a:custGeom>
              <a:avLst/>
              <a:gdLst/>
              <a:ahLst/>
              <a:cxnLst/>
              <a:rect l="l" t="t" r="r" b="b"/>
              <a:pathLst>
                <a:path w="2510478" h="2404057">
                  <a:moveTo>
                    <a:pt x="0" y="0"/>
                  </a:moveTo>
                  <a:lnTo>
                    <a:pt x="2510478" y="0"/>
                  </a:lnTo>
                  <a:lnTo>
                    <a:pt x="2510478" y="2404057"/>
                  </a:lnTo>
                  <a:lnTo>
                    <a:pt x="0" y="2404057"/>
                  </a:lnTo>
                  <a:close/>
                </a:path>
              </a:pathLst>
            </a:custGeom>
            <a:solidFill>
              <a:srgbClr val="A2D078"/>
            </a:soli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2510478" cy="24612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8" name="Freeform 8"/>
          <p:cNvSpPr/>
          <p:nvPr/>
        </p:nvSpPr>
        <p:spPr>
          <a:xfrm>
            <a:off x="13418759" y="6084614"/>
            <a:ext cx="1469712" cy="1493762"/>
          </a:xfrm>
          <a:custGeom>
            <a:avLst/>
            <a:gdLst/>
            <a:ahLst/>
            <a:cxnLst/>
            <a:rect l="l" t="t" r="r" b="b"/>
            <a:pathLst>
              <a:path w="1469712" h="1493762">
                <a:moveTo>
                  <a:pt x="0" y="0"/>
                </a:moveTo>
                <a:lnTo>
                  <a:pt x="1469712" y="0"/>
                </a:lnTo>
                <a:lnTo>
                  <a:pt x="1469712" y="1493762"/>
                </a:lnTo>
                <a:lnTo>
                  <a:pt x="0" y="1493762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0607986" y="652572"/>
            <a:ext cx="7091259" cy="9087111"/>
          </a:xfrm>
          <a:custGeom>
            <a:avLst/>
            <a:gdLst/>
            <a:ahLst/>
            <a:cxnLst/>
            <a:rect l="l" t="t" r="r" b="b"/>
            <a:pathLst>
              <a:path w="7091259" h="9087111">
                <a:moveTo>
                  <a:pt x="0" y="0"/>
                </a:moveTo>
                <a:lnTo>
                  <a:pt x="7091259" y="0"/>
                </a:lnTo>
                <a:lnTo>
                  <a:pt x="7091259" y="9087111"/>
                </a:lnTo>
                <a:lnTo>
                  <a:pt x="0" y="90871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3658" r="-84154"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8576510" y="7503244"/>
            <a:ext cx="2444584" cy="2426805"/>
          </a:xfrm>
          <a:custGeom>
            <a:avLst/>
            <a:gdLst/>
            <a:ahLst/>
            <a:cxnLst/>
            <a:rect l="l" t="t" r="r" b="b"/>
            <a:pathLst>
              <a:path w="2444584" h="2426805">
                <a:moveTo>
                  <a:pt x="0" y="0"/>
                </a:moveTo>
                <a:lnTo>
                  <a:pt x="2444584" y="0"/>
                </a:lnTo>
                <a:lnTo>
                  <a:pt x="2444584" y="2426805"/>
                </a:lnTo>
                <a:lnTo>
                  <a:pt x="0" y="242680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-1749754">
            <a:off x="13743530" y="5816524"/>
            <a:ext cx="1033424" cy="1406326"/>
          </a:xfrm>
          <a:custGeom>
            <a:avLst/>
            <a:gdLst/>
            <a:ahLst/>
            <a:cxnLst/>
            <a:rect l="l" t="t" r="r" b="b"/>
            <a:pathLst>
              <a:path w="1033424" h="1406326">
                <a:moveTo>
                  <a:pt x="0" y="0"/>
                </a:moveTo>
                <a:lnTo>
                  <a:pt x="1033424" y="0"/>
                </a:lnTo>
                <a:lnTo>
                  <a:pt x="1033424" y="1406327"/>
                </a:lnTo>
                <a:lnTo>
                  <a:pt x="0" y="140632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9100" r="-16983"/>
            </a:stretch>
          </a:blipFill>
        </p:spPr>
      </p:sp>
      <p:sp>
        <p:nvSpPr>
          <p:cNvPr id="12" name="Freeform 12"/>
          <p:cNvSpPr/>
          <p:nvPr/>
        </p:nvSpPr>
        <p:spPr>
          <a:xfrm rot="-1766119">
            <a:off x="13987048" y="7111502"/>
            <a:ext cx="2153154" cy="1729344"/>
          </a:xfrm>
          <a:custGeom>
            <a:avLst/>
            <a:gdLst/>
            <a:ahLst/>
            <a:cxnLst/>
            <a:rect l="l" t="t" r="r" b="b"/>
            <a:pathLst>
              <a:path w="2153154" h="1729344">
                <a:moveTo>
                  <a:pt x="0" y="0"/>
                </a:moveTo>
                <a:lnTo>
                  <a:pt x="2153154" y="0"/>
                </a:lnTo>
                <a:lnTo>
                  <a:pt x="2153154" y="1729344"/>
                </a:lnTo>
                <a:lnTo>
                  <a:pt x="0" y="172934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10721" b="-13785"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626162" y="4414549"/>
            <a:ext cx="5089246" cy="18290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55"/>
              </a:lnSpc>
            </a:pPr>
            <a:r>
              <a:rPr lang="en-US" sz="261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A Beginner’s Guide to Social Media Presence for Entrepreneurs</a:t>
            </a:r>
            <a:endParaRPr lang="en-US" sz="261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3655"/>
              </a:lnSpc>
              <a:spcBef>
                <a:spcPct val="0"/>
              </a:spcBef>
            </a:pPr>
            <a:endParaRPr lang="en-US" sz="261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626162" y="1388698"/>
            <a:ext cx="8706696" cy="28988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365"/>
              </a:lnSpc>
              <a:spcBef>
                <a:spcPct val="0"/>
              </a:spcBef>
            </a:pPr>
            <a:r>
              <a:rPr lang="en-US" sz="8115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BUILD YOUR BRAND</a:t>
            </a:r>
            <a:endParaRPr lang="en-US" sz="8115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68769" y="356951"/>
            <a:ext cx="17057231" cy="9573098"/>
            <a:chOff x="0" y="0"/>
            <a:chExt cx="4492439" cy="252131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492439" cy="2521310"/>
            </a:xfrm>
            <a:custGeom>
              <a:avLst/>
              <a:gdLst/>
              <a:ahLst/>
              <a:cxnLst/>
              <a:rect l="l" t="t" r="r" b="b"/>
              <a:pathLst>
                <a:path w="4492439" h="2521310">
                  <a:moveTo>
                    <a:pt x="0" y="0"/>
                  </a:moveTo>
                  <a:lnTo>
                    <a:pt x="4492439" y="0"/>
                  </a:lnTo>
                  <a:lnTo>
                    <a:pt x="4492439" y="2521310"/>
                  </a:lnTo>
                  <a:lnTo>
                    <a:pt x="0" y="252131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11FBB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492439" cy="2578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7526000" y="356951"/>
            <a:ext cx="273257" cy="9573098"/>
            <a:chOff x="0" y="0"/>
            <a:chExt cx="71969" cy="252131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1969" cy="2521310"/>
            </a:xfrm>
            <a:custGeom>
              <a:avLst/>
              <a:gdLst/>
              <a:ahLst/>
              <a:cxnLst/>
              <a:rect l="l" t="t" r="r" b="b"/>
              <a:pathLst>
                <a:path w="71969" h="2521310">
                  <a:moveTo>
                    <a:pt x="0" y="0"/>
                  </a:moveTo>
                  <a:lnTo>
                    <a:pt x="71969" y="0"/>
                  </a:lnTo>
                  <a:lnTo>
                    <a:pt x="71969" y="2521310"/>
                  </a:lnTo>
                  <a:lnTo>
                    <a:pt x="0" y="2521310"/>
                  </a:lnTo>
                  <a:close/>
                </a:path>
              </a:pathLst>
            </a:custGeom>
            <a:solidFill>
              <a:srgbClr val="A2D078"/>
            </a:solidFill>
            <a:ln w="19050" cap="sq">
              <a:solidFill>
                <a:srgbClr val="011FBB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71969" cy="2578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8" name="Freeform 8"/>
          <p:cNvSpPr/>
          <p:nvPr/>
        </p:nvSpPr>
        <p:spPr>
          <a:xfrm>
            <a:off x="675490" y="2859066"/>
            <a:ext cx="3252117" cy="4653330"/>
          </a:xfrm>
          <a:custGeom>
            <a:avLst/>
            <a:gdLst/>
            <a:ahLst/>
            <a:cxnLst/>
            <a:rect l="l" t="t" r="r" b="b"/>
            <a:pathLst>
              <a:path w="3252117" h="4653330">
                <a:moveTo>
                  <a:pt x="0" y="0"/>
                </a:moveTo>
                <a:lnTo>
                  <a:pt x="3252117" y="0"/>
                </a:lnTo>
                <a:lnTo>
                  <a:pt x="3252117" y="4653330"/>
                </a:lnTo>
                <a:lnTo>
                  <a:pt x="0" y="465333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4191374" y="2853354"/>
            <a:ext cx="2809701" cy="4659042"/>
          </a:xfrm>
          <a:custGeom>
            <a:avLst/>
            <a:gdLst/>
            <a:ahLst/>
            <a:cxnLst/>
            <a:rect l="l" t="t" r="r" b="b"/>
            <a:pathLst>
              <a:path w="2809701" h="4659042">
                <a:moveTo>
                  <a:pt x="0" y="0"/>
                </a:moveTo>
                <a:lnTo>
                  <a:pt x="2809701" y="0"/>
                </a:lnTo>
                <a:lnTo>
                  <a:pt x="2809701" y="4659042"/>
                </a:lnTo>
                <a:lnTo>
                  <a:pt x="0" y="46590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7265624" y="2774604"/>
            <a:ext cx="2825066" cy="4651899"/>
          </a:xfrm>
          <a:custGeom>
            <a:avLst/>
            <a:gdLst/>
            <a:ahLst/>
            <a:cxnLst/>
            <a:rect l="l" t="t" r="r" b="b"/>
            <a:pathLst>
              <a:path w="2825066" h="4651899">
                <a:moveTo>
                  <a:pt x="0" y="0"/>
                </a:moveTo>
                <a:lnTo>
                  <a:pt x="2825066" y="0"/>
                </a:lnTo>
                <a:lnTo>
                  <a:pt x="2825066" y="4651899"/>
                </a:lnTo>
                <a:lnTo>
                  <a:pt x="0" y="46518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0357391" y="2774604"/>
            <a:ext cx="2768386" cy="4659042"/>
          </a:xfrm>
          <a:custGeom>
            <a:avLst/>
            <a:gdLst/>
            <a:ahLst/>
            <a:cxnLst/>
            <a:rect l="l" t="t" r="r" b="b"/>
            <a:pathLst>
              <a:path w="2623251" h="4651899">
                <a:moveTo>
                  <a:pt x="0" y="0"/>
                </a:moveTo>
                <a:lnTo>
                  <a:pt x="2623251" y="0"/>
                </a:lnTo>
                <a:lnTo>
                  <a:pt x="2623251" y="4651899"/>
                </a:lnTo>
                <a:lnTo>
                  <a:pt x="0" y="465189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3247341" y="2774604"/>
            <a:ext cx="2768386" cy="4651899"/>
          </a:xfrm>
          <a:custGeom>
            <a:avLst/>
            <a:gdLst/>
            <a:ahLst/>
            <a:cxnLst/>
            <a:rect l="l" t="t" r="r" b="b"/>
            <a:pathLst>
              <a:path w="2768386" h="4651899">
                <a:moveTo>
                  <a:pt x="0" y="0"/>
                </a:moveTo>
                <a:lnTo>
                  <a:pt x="2768386" y="0"/>
                </a:lnTo>
                <a:lnTo>
                  <a:pt x="2768386" y="4651899"/>
                </a:lnTo>
                <a:lnTo>
                  <a:pt x="0" y="465189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675490" y="333202"/>
            <a:ext cx="11988134" cy="12366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540"/>
              </a:lnSpc>
              <a:spcBef>
                <a:spcPct val="0"/>
              </a:spcBef>
            </a:pPr>
            <a:r>
              <a:rPr lang="en-US" sz="6815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Paid ads </a:t>
            </a:r>
            <a:endParaRPr lang="en-US" sz="6815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grpSp>
        <p:nvGrpSpPr>
          <p:cNvPr id="14" name="Group 14"/>
          <p:cNvGrpSpPr/>
          <p:nvPr/>
        </p:nvGrpSpPr>
        <p:grpSpPr>
          <a:xfrm>
            <a:off x="455886" y="9608891"/>
            <a:ext cx="17070114" cy="321159"/>
            <a:chOff x="0" y="0"/>
            <a:chExt cx="4495833" cy="8458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495833" cy="84585"/>
            </a:xfrm>
            <a:custGeom>
              <a:avLst/>
              <a:gdLst/>
              <a:ahLst/>
              <a:cxnLst/>
              <a:rect l="l" t="t" r="r" b="b"/>
              <a:pathLst>
                <a:path w="4495833" h="84585">
                  <a:moveTo>
                    <a:pt x="0" y="0"/>
                  </a:moveTo>
                  <a:lnTo>
                    <a:pt x="4495833" y="0"/>
                  </a:lnTo>
                  <a:lnTo>
                    <a:pt x="4495833" y="84585"/>
                  </a:lnTo>
                  <a:lnTo>
                    <a:pt x="0" y="84585"/>
                  </a:lnTo>
                  <a:close/>
                </a:path>
              </a:pathLst>
            </a:custGeom>
            <a:solidFill>
              <a:srgbClr val="FCCC38"/>
            </a:solidFill>
            <a:ln w="19050" cap="sq">
              <a:solidFill>
                <a:srgbClr val="011FBB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57150"/>
              <a:ext cx="4495833" cy="1417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68769" y="356951"/>
            <a:ext cx="17057231" cy="9573098"/>
            <a:chOff x="0" y="0"/>
            <a:chExt cx="4492439" cy="252131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492439" cy="2521310"/>
            </a:xfrm>
            <a:custGeom>
              <a:avLst/>
              <a:gdLst/>
              <a:ahLst/>
              <a:cxnLst/>
              <a:rect l="l" t="t" r="r" b="b"/>
              <a:pathLst>
                <a:path w="4492439" h="2521310">
                  <a:moveTo>
                    <a:pt x="0" y="0"/>
                  </a:moveTo>
                  <a:lnTo>
                    <a:pt x="4492439" y="0"/>
                  </a:lnTo>
                  <a:lnTo>
                    <a:pt x="4492439" y="2521310"/>
                  </a:lnTo>
                  <a:lnTo>
                    <a:pt x="0" y="252131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11FBB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492439" cy="2578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7526000" y="356951"/>
            <a:ext cx="273257" cy="9573098"/>
            <a:chOff x="0" y="0"/>
            <a:chExt cx="71969" cy="252131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1969" cy="2521310"/>
            </a:xfrm>
            <a:custGeom>
              <a:avLst/>
              <a:gdLst/>
              <a:ahLst/>
              <a:cxnLst/>
              <a:rect l="l" t="t" r="r" b="b"/>
              <a:pathLst>
                <a:path w="71969" h="2521310">
                  <a:moveTo>
                    <a:pt x="0" y="0"/>
                  </a:moveTo>
                  <a:lnTo>
                    <a:pt x="71969" y="0"/>
                  </a:lnTo>
                  <a:lnTo>
                    <a:pt x="71969" y="2521310"/>
                  </a:lnTo>
                  <a:lnTo>
                    <a:pt x="0" y="2521310"/>
                  </a:lnTo>
                  <a:close/>
                </a:path>
              </a:pathLst>
            </a:custGeom>
            <a:solidFill>
              <a:srgbClr val="A2D078"/>
            </a:solidFill>
            <a:ln w="19050" cap="sq">
              <a:solidFill>
                <a:srgbClr val="011FBB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71969" cy="2578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55886" y="9608891"/>
            <a:ext cx="17070114" cy="321159"/>
            <a:chOff x="0" y="0"/>
            <a:chExt cx="4495833" cy="8458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495833" cy="84585"/>
            </a:xfrm>
            <a:custGeom>
              <a:avLst/>
              <a:gdLst/>
              <a:ahLst/>
              <a:cxnLst/>
              <a:rect l="l" t="t" r="r" b="b"/>
              <a:pathLst>
                <a:path w="4495833" h="84585">
                  <a:moveTo>
                    <a:pt x="0" y="0"/>
                  </a:moveTo>
                  <a:lnTo>
                    <a:pt x="4495833" y="0"/>
                  </a:lnTo>
                  <a:lnTo>
                    <a:pt x="4495833" y="84585"/>
                  </a:lnTo>
                  <a:lnTo>
                    <a:pt x="0" y="84585"/>
                  </a:lnTo>
                  <a:close/>
                </a:path>
              </a:pathLst>
            </a:custGeom>
            <a:solidFill>
              <a:srgbClr val="FCCC38"/>
            </a:solidFill>
            <a:ln w="19050" cap="sq">
              <a:solidFill>
                <a:srgbClr val="011FBB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4495833" cy="1417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11" name="Freeform 11"/>
          <p:cNvSpPr/>
          <p:nvPr/>
        </p:nvSpPr>
        <p:spPr>
          <a:xfrm>
            <a:off x="723087" y="2254495"/>
            <a:ext cx="443351" cy="450605"/>
          </a:xfrm>
          <a:custGeom>
            <a:avLst/>
            <a:gdLst/>
            <a:ahLst/>
            <a:cxnLst/>
            <a:rect l="l" t="t" r="r" b="b"/>
            <a:pathLst>
              <a:path w="443351" h="450605">
                <a:moveTo>
                  <a:pt x="0" y="0"/>
                </a:moveTo>
                <a:lnTo>
                  <a:pt x="443350" y="0"/>
                </a:lnTo>
                <a:lnTo>
                  <a:pt x="443350" y="450606"/>
                </a:lnTo>
                <a:lnTo>
                  <a:pt x="0" y="45060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732640" y="2872941"/>
            <a:ext cx="443351" cy="450605"/>
          </a:xfrm>
          <a:custGeom>
            <a:avLst/>
            <a:gdLst/>
            <a:ahLst/>
            <a:cxnLst/>
            <a:rect l="l" t="t" r="r" b="b"/>
            <a:pathLst>
              <a:path w="443351" h="450605">
                <a:moveTo>
                  <a:pt x="0" y="0"/>
                </a:moveTo>
                <a:lnTo>
                  <a:pt x="443350" y="0"/>
                </a:lnTo>
                <a:lnTo>
                  <a:pt x="443350" y="450605"/>
                </a:lnTo>
                <a:lnTo>
                  <a:pt x="0" y="450605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723086" y="3571512"/>
            <a:ext cx="443351" cy="450605"/>
          </a:xfrm>
          <a:custGeom>
            <a:avLst/>
            <a:gdLst/>
            <a:ahLst/>
            <a:cxnLst/>
            <a:rect l="l" t="t" r="r" b="b"/>
            <a:pathLst>
              <a:path w="443351" h="450605">
                <a:moveTo>
                  <a:pt x="0" y="0"/>
                </a:moveTo>
                <a:lnTo>
                  <a:pt x="443350" y="0"/>
                </a:lnTo>
                <a:lnTo>
                  <a:pt x="443350" y="450605"/>
                </a:lnTo>
                <a:lnTo>
                  <a:pt x="0" y="450605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732640" y="4256147"/>
            <a:ext cx="443351" cy="450605"/>
          </a:xfrm>
          <a:custGeom>
            <a:avLst/>
            <a:gdLst/>
            <a:ahLst/>
            <a:cxnLst/>
            <a:rect l="l" t="t" r="r" b="b"/>
            <a:pathLst>
              <a:path w="443351" h="450605">
                <a:moveTo>
                  <a:pt x="0" y="0"/>
                </a:moveTo>
                <a:lnTo>
                  <a:pt x="443350" y="0"/>
                </a:lnTo>
                <a:lnTo>
                  <a:pt x="443350" y="450606"/>
                </a:lnTo>
                <a:lnTo>
                  <a:pt x="0" y="45060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675490" y="333202"/>
            <a:ext cx="11988134" cy="12366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540"/>
              </a:lnSpc>
              <a:spcBef>
                <a:spcPct val="0"/>
              </a:spcBef>
            </a:pPr>
            <a:r>
              <a:rPr lang="en-US" sz="6815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Paid ads </a:t>
            </a:r>
            <a:endParaRPr lang="en-US" sz="6815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336519" y="2018530"/>
            <a:ext cx="15916223" cy="69057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dirty="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Need a credit or debit card for payments</a:t>
            </a:r>
            <a:endParaRPr lang="en-US" sz="3200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>
              <a:lnSpc>
                <a:spcPct val="150000"/>
              </a:lnSpc>
            </a:pPr>
            <a:r>
              <a:rPr lang="en-US" sz="3000" dirty="0">
                <a:latin typeface="Poppins" panose="00000500000000000000" pitchFamily="2" charset="0"/>
                <a:cs typeface="Poppins" panose="00000500000000000000" pitchFamily="2" charset="0"/>
              </a:rPr>
              <a:t>Create a New Ad Account</a:t>
            </a:r>
            <a:endParaRPr lang="en-US" sz="3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en-US" sz="3000" dirty="0">
                <a:latin typeface="Poppins" panose="00000500000000000000" pitchFamily="2" charset="0"/>
                <a:cs typeface="Poppins" panose="00000500000000000000" pitchFamily="2" charset="0"/>
              </a:rPr>
              <a:t>Open settings in the Meta Business Suite </a:t>
            </a:r>
            <a:r>
              <a:rPr lang="en-US" sz="3000" dirty="0">
                <a:latin typeface="Poppins" panose="00000500000000000000" pitchFamily="2" charset="0"/>
                <a:cs typeface="Poppins" panose="00000500000000000000" pitchFamily="2" charset="0"/>
                <a:hlinkClick r:id="rId3"/>
              </a:rPr>
              <a:t>business.facebook.com</a:t>
            </a:r>
            <a:r>
              <a:rPr lang="en-US" sz="3000" dirty="0">
                <a:latin typeface="Poppins" panose="00000500000000000000" pitchFamily="2" charset="0"/>
                <a:cs typeface="Poppins" panose="00000500000000000000" pitchFamily="2" charset="0"/>
              </a:rPr>
              <a:t> (desktop only)</a:t>
            </a:r>
            <a:endParaRPr lang="en-US" sz="3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en-US" sz="3000" dirty="0">
                <a:latin typeface="Poppins" panose="00000500000000000000" pitchFamily="2" charset="0"/>
                <a:cs typeface="Poppins" panose="00000500000000000000" pitchFamily="2" charset="0"/>
              </a:rPr>
              <a:t>Click Accounts → Ad Accounts → “Add” button → “Create a New Ad Account.”</a:t>
            </a:r>
            <a:endParaRPr lang="en-US" sz="3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en-US" sz="3000" dirty="0">
                <a:latin typeface="Poppins" panose="00000500000000000000" pitchFamily="2" charset="0"/>
                <a:cs typeface="Poppins" panose="00000500000000000000" pitchFamily="2" charset="0"/>
              </a:rPr>
              <a:t>Fill in details:</a:t>
            </a:r>
            <a:endParaRPr lang="en-US" sz="3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en-US" sz="3000" dirty="0">
                <a:latin typeface="Poppins" panose="00000500000000000000" pitchFamily="2" charset="0"/>
                <a:cs typeface="Poppins" panose="00000500000000000000" pitchFamily="2" charset="0"/>
              </a:rPr>
              <a:t>	-Ad Account Name → e.g., "Kaib Bakery Ads“</a:t>
            </a:r>
            <a:endParaRPr lang="en-US" sz="3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en-US" sz="3000" dirty="0">
                <a:latin typeface="Poppins" panose="00000500000000000000" pitchFamily="2" charset="0"/>
                <a:cs typeface="Poppins" panose="00000500000000000000" pitchFamily="2" charset="0"/>
              </a:rPr>
              <a:t>	-Time zone &amp; currency (cannot be changed later)</a:t>
            </a:r>
            <a:endParaRPr lang="en-US" sz="3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en-US" sz="3000" dirty="0">
                <a:latin typeface="Poppins" panose="00000500000000000000" pitchFamily="2" charset="0"/>
                <a:cs typeface="Poppins" panose="00000500000000000000" pitchFamily="2" charset="0"/>
              </a:rPr>
              <a:t>	-Assign yourself the role Admin so you can manage and run ads.</a:t>
            </a:r>
            <a:endParaRPr lang="en-US" sz="3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en-US" sz="3000" dirty="0">
                <a:latin typeface="Poppins" panose="00000500000000000000" pitchFamily="2" charset="0"/>
                <a:cs typeface="Poppins" panose="00000500000000000000" pitchFamily="2" charset="0"/>
              </a:rPr>
              <a:t>	-Add a payment method </a:t>
            </a:r>
            <a:r>
              <a:rPr lang="en-US" sz="2800" dirty="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(Master Card, Visa, </a:t>
            </a:r>
            <a:r>
              <a:rPr lang="en-US" sz="2800" dirty="0" err="1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Sadapay</a:t>
            </a:r>
            <a:r>
              <a:rPr lang="en-US" sz="2800" dirty="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) </a:t>
            </a:r>
            <a:endParaRPr lang="en-US" sz="3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en-US" sz="3000" dirty="0">
                <a:latin typeface="Poppins" panose="00000500000000000000" pitchFamily="2" charset="0"/>
                <a:cs typeface="Poppins" panose="00000500000000000000" pitchFamily="2" charset="0"/>
              </a:rPr>
              <a:t>	-Once done, you’ll see the ad account in your Meta Business Suite.</a:t>
            </a:r>
            <a:endParaRPr lang="en-US" sz="30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5" name="Freeform 14"/>
          <p:cNvSpPr/>
          <p:nvPr/>
        </p:nvSpPr>
        <p:spPr>
          <a:xfrm>
            <a:off x="723085" y="4977814"/>
            <a:ext cx="443351" cy="450605"/>
          </a:xfrm>
          <a:custGeom>
            <a:avLst/>
            <a:gdLst/>
            <a:ahLst/>
            <a:cxnLst/>
            <a:rect l="l" t="t" r="r" b="b"/>
            <a:pathLst>
              <a:path w="443351" h="450605">
                <a:moveTo>
                  <a:pt x="0" y="0"/>
                </a:moveTo>
                <a:lnTo>
                  <a:pt x="443350" y="0"/>
                </a:lnTo>
                <a:lnTo>
                  <a:pt x="443350" y="450606"/>
                </a:lnTo>
                <a:lnTo>
                  <a:pt x="0" y="45060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68769" y="356951"/>
            <a:ext cx="17057231" cy="9573098"/>
            <a:chOff x="0" y="0"/>
            <a:chExt cx="4492439" cy="252131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492439" cy="2521310"/>
            </a:xfrm>
            <a:custGeom>
              <a:avLst/>
              <a:gdLst/>
              <a:ahLst/>
              <a:cxnLst/>
              <a:rect l="l" t="t" r="r" b="b"/>
              <a:pathLst>
                <a:path w="4492439" h="2521310">
                  <a:moveTo>
                    <a:pt x="0" y="0"/>
                  </a:moveTo>
                  <a:lnTo>
                    <a:pt x="4492439" y="0"/>
                  </a:lnTo>
                  <a:lnTo>
                    <a:pt x="4492439" y="2521310"/>
                  </a:lnTo>
                  <a:lnTo>
                    <a:pt x="0" y="252131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11FBB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492439" cy="2578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7526000" y="356951"/>
            <a:ext cx="273257" cy="9573098"/>
            <a:chOff x="0" y="0"/>
            <a:chExt cx="71969" cy="252131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1969" cy="2521310"/>
            </a:xfrm>
            <a:custGeom>
              <a:avLst/>
              <a:gdLst/>
              <a:ahLst/>
              <a:cxnLst/>
              <a:rect l="l" t="t" r="r" b="b"/>
              <a:pathLst>
                <a:path w="71969" h="2521310">
                  <a:moveTo>
                    <a:pt x="0" y="0"/>
                  </a:moveTo>
                  <a:lnTo>
                    <a:pt x="71969" y="0"/>
                  </a:lnTo>
                  <a:lnTo>
                    <a:pt x="71969" y="2521310"/>
                  </a:lnTo>
                  <a:lnTo>
                    <a:pt x="0" y="2521310"/>
                  </a:lnTo>
                  <a:close/>
                </a:path>
              </a:pathLst>
            </a:custGeom>
            <a:solidFill>
              <a:srgbClr val="A2D078"/>
            </a:solidFill>
            <a:ln w="19050" cap="sq">
              <a:solidFill>
                <a:srgbClr val="011FBB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71969" cy="2578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55886" y="9608891"/>
            <a:ext cx="17070114" cy="321159"/>
            <a:chOff x="0" y="0"/>
            <a:chExt cx="4495833" cy="8458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495833" cy="84585"/>
            </a:xfrm>
            <a:custGeom>
              <a:avLst/>
              <a:gdLst/>
              <a:ahLst/>
              <a:cxnLst/>
              <a:rect l="l" t="t" r="r" b="b"/>
              <a:pathLst>
                <a:path w="4495833" h="84585">
                  <a:moveTo>
                    <a:pt x="0" y="0"/>
                  </a:moveTo>
                  <a:lnTo>
                    <a:pt x="4495833" y="0"/>
                  </a:lnTo>
                  <a:lnTo>
                    <a:pt x="4495833" y="84585"/>
                  </a:lnTo>
                  <a:lnTo>
                    <a:pt x="0" y="84585"/>
                  </a:lnTo>
                  <a:close/>
                </a:path>
              </a:pathLst>
            </a:custGeom>
            <a:solidFill>
              <a:srgbClr val="FCCC38"/>
            </a:solidFill>
            <a:ln w="19050" cap="sq">
              <a:solidFill>
                <a:srgbClr val="011FBB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4495833" cy="1417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11" name="Freeform 11"/>
          <p:cNvSpPr/>
          <p:nvPr/>
        </p:nvSpPr>
        <p:spPr>
          <a:xfrm>
            <a:off x="723087" y="2254495"/>
            <a:ext cx="443351" cy="450605"/>
          </a:xfrm>
          <a:custGeom>
            <a:avLst/>
            <a:gdLst/>
            <a:ahLst/>
            <a:cxnLst/>
            <a:rect l="l" t="t" r="r" b="b"/>
            <a:pathLst>
              <a:path w="443351" h="450605">
                <a:moveTo>
                  <a:pt x="0" y="0"/>
                </a:moveTo>
                <a:lnTo>
                  <a:pt x="443350" y="0"/>
                </a:lnTo>
                <a:lnTo>
                  <a:pt x="443350" y="450606"/>
                </a:lnTo>
                <a:lnTo>
                  <a:pt x="0" y="45060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675490" y="333202"/>
            <a:ext cx="11988134" cy="12366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540"/>
              </a:lnSpc>
              <a:spcBef>
                <a:spcPct val="0"/>
              </a:spcBef>
            </a:pPr>
            <a:r>
              <a:rPr lang="en-US" sz="6815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Paid ads </a:t>
            </a:r>
            <a:endParaRPr lang="en-US" sz="6815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336519" y="2018530"/>
            <a:ext cx="15916223" cy="6689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dirty="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Add further details</a:t>
            </a:r>
            <a:endParaRPr lang="en-US" sz="30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980" y="3562734"/>
            <a:ext cx="7384357" cy="4752586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5846" y="3582441"/>
            <a:ext cx="9153525" cy="29051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68769" y="356951"/>
            <a:ext cx="17057231" cy="9573098"/>
            <a:chOff x="0" y="0"/>
            <a:chExt cx="4492439" cy="252131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492439" cy="2521310"/>
            </a:xfrm>
            <a:custGeom>
              <a:avLst/>
              <a:gdLst/>
              <a:ahLst/>
              <a:cxnLst/>
              <a:rect l="l" t="t" r="r" b="b"/>
              <a:pathLst>
                <a:path w="4492439" h="2521310">
                  <a:moveTo>
                    <a:pt x="0" y="0"/>
                  </a:moveTo>
                  <a:lnTo>
                    <a:pt x="4492439" y="0"/>
                  </a:lnTo>
                  <a:lnTo>
                    <a:pt x="4492439" y="2521310"/>
                  </a:lnTo>
                  <a:lnTo>
                    <a:pt x="0" y="252131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11FBB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492439" cy="2578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7526000" y="356951"/>
            <a:ext cx="273257" cy="9573098"/>
            <a:chOff x="0" y="0"/>
            <a:chExt cx="71969" cy="252131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1969" cy="2521310"/>
            </a:xfrm>
            <a:custGeom>
              <a:avLst/>
              <a:gdLst/>
              <a:ahLst/>
              <a:cxnLst/>
              <a:rect l="l" t="t" r="r" b="b"/>
              <a:pathLst>
                <a:path w="71969" h="2521310">
                  <a:moveTo>
                    <a:pt x="0" y="0"/>
                  </a:moveTo>
                  <a:lnTo>
                    <a:pt x="71969" y="0"/>
                  </a:lnTo>
                  <a:lnTo>
                    <a:pt x="71969" y="2521310"/>
                  </a:lnTo>
                  <a:lnTo>
                    <a:pt x="0" y="2521310"/>
                  </a:lnTo>
                  <a:close/>
                </a:path>
              </a:pathLst>
            </a:custGeom>
            <a:solidFill>
              <a:srgbClr val="A2D078"/>
            </a:solidFill>
            <a:ln w="19050" cap="sq">
              <a:solidFill>
                <a:srgbClr val="011FBB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71969" cy="2578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55886" y="9608891"/>
            <a:ext cx="17070114" cy="321159"/>
            <a:chOff x="0" y="0"/>
            <a:chExt cx="4495833" cy="8458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495833" cy="84585"/>
            </a:xfrm>
            <a:custGeom>
              <a:avLst/>
              <a:gdLst/>
              <a:ahLst/>
              <a:cxnLst/>
              <a:rect l="l" t="t" r="r" b="b"/>
              <a:pathLst>
                <a:path w="4495833" h="84585">
                  <a:moveTo>
                    <a:pt x="0" y="0"/>
                  </a:moveTo>
                  <a:lnTo>
                    <a:pt x="4495833" y="0"/>
                  </a:lnTo>
                  <a:lnTo>
                    <a:pt x="4495833" y="84585"/>
                  </a:lnTo>
                  <a:lnTo>
                    <a:pt x="0" y="84585"/>
                  </a:lnTo>
                  <a:close/>
                </a:path>
              </a:pathLst>
            </a:custGeom>
            <a:solidFill>
              <a:srgbClr val="FCCC38"/>
            </a:solidFill>
            <a:ln w="19050" cap="sq">
              <a:solidFill>
                <a:srgbClr val="011FBB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4495833" cy="1417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11" name="Freeform 11"/>
          <p:cNvSpPr/>
          <p:nvPr/>
        </p:nvSpPr>
        <p:spPr>
          <a:xfrm>
            <a:off x="732640" y="2094730"/>
            <a:ext cx="443351" cy="450605"/>
          </a:xfrm>
          <a:custGeom>
            <a:avLst/>
            <a:gdLst/>
            <a:ahLst/>
            <a:cxnLst/>
            <a:rect l="l" t="t" r="r" b="b"/>
            <a:pathLst>
              <a:path w="443351" h="450605">
                <a:moveTo>
                  <a:pt x="0" y="0"/>
                </a:moveTo>
                <a:lnTo>
                  <a:pt x="443350" y="0"/>
                </a:lnTo>
                <a:lnTo>
                  <a:pt x="443350" y="450606"/>
                </a:lnTo>
                <a:lnTo>
                  <a:pt x="0" y="45060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732640" y="3663229"/>
            <a:ext cx="443351" cy="450605"/>
          </a:xfrm>
          <a:custGeom>
            <a:avLst/>
            <a:gdLst/>
            <a:ahLst/>
            <a:cxnLst/>
            <a:rect l="l" t="t" r="r" b="b"/>
            <a:pathLst>
              <a:path w="443351" h="450605">
                <a:moveTo>
                  <a:pt x="0" y="0"/>
                </a:moveTo>
                <a:lnTo>
                  <a:pt x="443350" y="0"/>
                </a:lnTo>
                <a:lnTo>
                  <a:pt x="443350" y="450605"/>
                </a:lnTo>
                <a:lnTo>
                  <a:pt x="0" y="450605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732640" y="5171294"/>
            <a:ext cx="443351" cy="450605"/>
          </a:xfrm>
          <a:custGeom>
            <a:avLst/>
            <a:gdLst/>
            <a:ahLst/>
            <a:cxnLst/>
            <a:rect l="l" t="t" r="r" b="b"/>
            <a:pathLst>
              <a:path w="443351" h="450605">
                <a:moveTo>
                  <a:pt x="0" y="0"/>
                </a:moveTo>
                <a:lnTo>
                  <a:pt x="443350" y="0"/>
                </a:lnTo>
                <a:lnTo>
                  <a:pt x="443350" y="450606"/>
                </a:lnTo>
                <a:lnTo>
                  <a:pt x="0" y="45060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2689900" y="1981190"/>
            <a:ext cx="4468549" cy="6107628"/>
          </a:xfrm>
          <a:custGeom>
            <a:avLst/>
            <a:gdLst/>
            <a:ahLst/>
            <a:cxnLst/>
            <a:rect l="l" t="t" r="r" b="b"/>
            <a:pathLst>
              <a:path w="4468549" h="6107628">
                <a:moveTo>
                  <a:pt x="0" y="0"/>
                </a:moveTo>
                <a:lnTo>
                  <a:pt x="4468550" y="0"/>
                </a:lnTo>
                <a:lnTo>
                  <a:pt x="4468550" y="6107628"/>
                </a:lnTo>
                <a:lnTo>
                  <a:pt x="0" y="61076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675490" y="333202"/>
            <a:ext cx="11988134" cy="12366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540"/>
              </a:lnSpc>
              <a:spcBef>
                <a:spcPct val="0"/>
              </a:spcBef>
            </a:pPr>
            <a:r>
              <a:rPr lang="en-US" sz="6815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Paid ads </a:t>
            </a:r>
            <a:endParaRPr lang="en-US" sz="6815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336520" y="2018530"/>
            <a:ext cx="10985829" cy="57562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 dirty="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Download Meta Ads Manager from the App Store for the hands-on activities</a:t>
            </a:r>
            <a:endParaRPr lang="en-US" sz="2900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4060"/>
              </a:lnSpc>
              <a:spcBef>
                <a:spcPct val="0"/>
              </a:spcBef>
            </a:pPr>
            <a:endParaRPr lang="en-US" sz="2900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>
              <a:lnSpc>
                <a:spcPts val="4060"/>
              </a:lnSpc>
              <a:spcBef>
                <a:spcPct val="0"/>
              </a:spcBef>
            </a:pPr>
            <a:r>
              <a:rPr lang="en-US" sz="2900" dirty="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Many deep asset assignments not possible on mobile app</a:t>
            </a:r>
            <a:endParaRPr lang="en-US" sz="2900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>
              <a:lnSpc>
                <a:spcPts val="4060"/>
              </a:lnSpc>
              <a:spcBef>
                <a:spcPct val="0"/>
              </a:spcBef>
            </a:pPr>
            <a:r>
              <a:rPr lang="en-US" sz="2900" dirty="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Desktop: </a:t>
            </a:r>
            <a:r>
              <a:rPr lang="en-US" sz="2900" dirty="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  <a:hlinkClick r:id="rId4"/>
              </a:rPr>
              <a:t>https://adsmanager.facebook.com/</a:t>
            </a:r>
            <a:endParaRPr lang="en-US" sz="2900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>
              <a:lnSpc>
                <a:spcPts val="4060"/>
              </a:lnSpc>
              <a:spcBef>
                <a:spcPct val="0"/>
              </a:spcBef>
            </a:pPr>
            <a:endParaRPr lang="en-US" sz="2900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>
              <a:lnSpc>
                <a:spcPts val="4060"/>
              </a:lnSpc>
              <a:spcBef>
                <a:spcPct val="0"/>
              </a:spcBef>
            </a:pPr>
            <a:r>
              <a:rPr lang="en-US" sz="2900" dirty="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Ads: Images, videos, text</a:t>
            </a:r>
            <a:endParaRPr lang="en-US" sz="2900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>
              <a:lnSpc>
                <a:spcPts val="4060"/>
              </a:lnSpc>
              <a:spcBef>
                <a:spcPct val="0"/>
              </a:spcBef>
            </a:pPr>
            <a:endParaRPr lang="en-US" sz="2900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>
              <a:lnSpc>
                <a:spcPts val="4060"/>
              </a:lnSpc>
              <a:spcBef>
                <a:spcPct val="0"/>
              </a:spcBef>
            </a:pPr>
            <a:r>
              <a:rPr lang="en-US" sz="2900" dirty="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Ad sets: has a collection of ads with the same settings</a:t>
            </a:r>
            <a:endParaRPr lang="en-US" sz="2900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>
              <a:lnSpc>
                <a:spcPts val="4060"/>
              </a:lnSpc>
              <a:spcBef>
                <a:spcPct val="0"/>
              </a:spcBef>
            </a:pPr>
            <a:endParaRPr lang="en-US" sz="2900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>
              <a:lnSpc>
                <a:spcPts val="4060"/>
              </a:lnSpc>
              <a:spcBef>
                <a:spcPct val="0"/>
              </a:spcBef>
            </a:pPr>
            <a:r>
              <a:rPr lang="en-US" sz="2900" dirty="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Campaigns: collection of ad sets with specific goal</a:t>
            </a:r>
            <a:endParaRPr lang="en-US" sz="2900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12" name="Freeform 14"/>
          <p:cNvSpPr/>
          <p:nvPr/>
        </p:nvSpPr>
        <p:spPr>
          <a:xfrm>
            <a:off x="732639" y="6173167"/>
            <a:ext cx="443351" cy="450605"/>
          </a:xfrm>
          <a:custGeom>
            <a:avLst/>
            <a:gdLst/>
            <a:ahLst/>
            <a:cxnLst/>
            <a:rect l="l" t="t" r="r" b="b"/>
            <a:pathLst>
              <a:path w="443351" h="450605">
                <a:moveTo>
                  <a:pt x="0" y="0"/>
                </a:moveTo>
                <a:lnTo>
                  <a:pt x="443350" y="0"/>
                </a:lnTo>
                <a:lnTo>
                  <a:pt x="443350" y="450606"/>
                </a:lnTo>
                <a:lnTo>
                  <a:pt x="0" y="45060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4"/>
          <p:cNvSpPr/>
          <p:nvPr/>
        </p:nvSpPr>
        <p:spPr>
          <a:xfrm>
            <a:off x="732638" y="7256122"/>
            <a:ext cx="443351" cy="450605"/>
          </a:xfrm>
          <a:custGeom>
            <a:avLst/>
            <a:gdLst/>
            <a:ahLst/>
            <a:cxnLst/>
            <a:rect l="l" t="t" r="r" b="b"/>
            <a:pathLst>
              <a:path w="443351" h="450605">
                <a:moveTo>
                  <a:pt x="0" y="0"/>
                </a:moveTo>
                <a:lnTo>
                  <a:pt x="443350" y="0"/>
                </a:lnTo>
                <a:lnTo>
                  <a:pt x="443350" y="450606"/>
                </a:lnTo>
                <a:lnTo>
                  <a:pt x="0" y="45060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68769" y="356951"/>
            <a:ext cx="17057231" cy="9573098"/>
            <a:chOff x="0" y="0"/>
            <a:chExt cx="4492439" cy="252131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492439" cy="2521310"/>
            </a:xfrm>
            <a:custGeom>
              <a:avLst/>
              <a:gdLst/>
              <a:ahLst/>
              <a:cxnLst/>
              <a:rect l="l" t="t" r="r" b="b"/>
              <a:pathLst>
                <a:path w="4492439" h="2521310">
                  <a:moveTo>
                    <a:pt x="0" y="0"/>
                  </a:moveTo>
                  <a:lnTo>
                    <a:pt x="4492439" y="0"/>
                  </a:lnTo>
                  <a:lnTo>
                    <a:pt x="4492439" y="2521310"/>
                  </a:lnTo>
                  <a:lnTo>
                    <a:pt x="0" y="252131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11FBB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492439" cy="2578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7526000" y="356951"/>
            <a:ext cx="273257" cy="9573098"/>
            <a:chOff x="0" y="0"/>
            <a:chExt cx="71969" cy="252131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1969" cy="2521310"/>
            </a:xfrm>
            <a:custGeom>
              <a:avLst/>
              <a:gdLst/>
              <a:ahLst/>
              <a:cxnLst/>
              <a:rect l="l" t="t" r="r" b="b"/>
              <a:pathLst>
                <a:path w="71969" h="2521310">
                  <a:moveTo>
                    <a:pt x="0" y="0"/>
                  </a:moveTo>
                  <a:lnTo>
                    <a:pt x="71969" y="0"/>
                  </a:lnTo>
                  <a:lnTo>
                    <a:pt x="71969" y="2521310"/>
                  </a:lnTo>
                  <a:lnTo>
                    <a:pt x="0" y="2521310"/>
                  </a:lnTo>
                  <a:close/>
                </a:path>
              </a:pathLst>
            </a:custGeom>
            <a:solidFill>
              <a:srgbClr val="A2D078"/>
            </a:solidFill>
            <a:ln w="19050" cap="sq">
              <a:solidFill>
                <a:srgbClr val="011FBB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71969" cy="2578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55886" y="9608891"/>
            <a:ext cx="17070114" cy="321159"/>
            <a:chOff x="0" y="0"/>
            <a:chExt cx="4495833" cy="8458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495833" cy="84585"/>
            </a:xfrm>
            <a:custGeom>
              <a:avLst/>
              <a:gdLst/>
              <a:ahLst/>
              <a:cxnLst/>
              <a:rect l="l" t="t" r="r" b="b"/>
              <a:pathLst>
                <a:path w="4495833" h="84585">
                  <a:moveTo>
                    <a:pt x="0" y="0"/>
                  </a:moveTo>
                  <a:lnTo>
                    <a:pt x="4495833" y="0"/>
                  </a:lnTo>
                  <a:lnTo>
                    <a:pt x="4495833" y="84585"/>
                  </a:lnTo>
                  <a:lnTo>
                    <a:pt x="0" y="84585"/>
                  </a:lnTo>
                  <a:close/>
                </a:path>
              </a:pathLst>
            </a:custGeom>
            <a:solidFill>
              <a:srgbClr val="FCCC38"/>
            </a:solidFill>
            <a:ln w="19050" cap="sq">
              <a:solidFill>
                <a:srgbClr val="011FBB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4495833" cy="1417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675490" y="333202"/>
            <a:ext cx="11988134" cy="12366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540"/>
              </a:lnSpc>
              <a:spcBef>
                <a:spcPct val="0"/>
              </a:spcBef>
            </a:pPr>
            <a:r>
              <a:rPr lang="en-US" sz="6815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Paid ads </a:t>
            </a:r>
            <a:endParaRPr lang="en-US" sz="6815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2902" y="4144660"/>
            <a:ext cx="4322507" cy="1451649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0599" y="454676"/>
            <a:ext cx="4391625" cy="8956930"/>
          </a:xfrm>
          <a:prstGeom prst="rect">
            <a:avLst/>
          </a:prstGeom>
        </p:spPr>
      </p:pic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9744082" y="2940041"/>
          <a:ext cx="7450060" cy="5312536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1490012"/>
                <a:gridCol w="1490012"/>
                <a:gridCol w="1490012"/>
                <a:gridCol w="1490012"/>
                <a:gridCol w="1490012"/>
              </a:tblGrid>
              <a:tr h="6400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>
                          <a:effectLst/>
                        </a:rPr>
                        <a:t>Objective</a:t>
                      </a:r>
                      <a:endParaRPr lang="en-US" sz="2000" b="1">
                        <a:effectLst/>
                      </a:endParaRPr>
                    </a:p>
                  </a:txBody>
                  <a:tcPr marL="62248" marR="62248" marT="31124" marB="3112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>
                          <a:effectLst/>
                        </a:rPr>
                        <a:t>Best For</a:t>
                      </a:r>
                      <a:endParaRPr lang="en-US" sz="2000" b="1">
                        <a:effectLst/>
                      </a:endParaRPr>
                    </a:p>
                  </a:txBody>
                  <a:tcPr marL="62248" marR="62248" marT="31124" marB="3112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>
                          <a:effectLst/>
                        </a:rPr>
                        <a:t>Conversion Intent</a:t>
                      </a:r>
                      <a:endParaRPr lang="en-US" sz="2000" b="1">
                        <a:effectLst/>
                      </a:endParaRPr>
                    </a:p>
                  </a:txBody>
                  <a:tcPr marL="62248" marR="62248" marT="31124" marB="3112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>
                          <a:effectLst/>
                        </a:rPr>
                        <a:t>Cost per Result</a:t>
                      </a:r>
                      <a:endParaRPr lang="en-US" sz="2000" b="1">
                        <a:effectLst/>
                      </a:endParaRPr>
                    </a:p>
                  </a:txBody>
                  <a:tcPr marL="62248" marR="62248" marT="31124" marB="3112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>
                          <a:effectLst/>
                        </a:rPr>
                        <a:t>Setup Difficulty</a:t>
                      </a:r>
                      <a:endParaRPr lang="en-US" sz="2000" b="1" dirty="0">
                        <a:effectLst/>
                      </a:endParaRPr>
                    </a:p>
                  </a:txBody>
                  <a:tcPr marL="62248" marR="62248" marT="31124" marB="31124" anchor="ctr"/>
                </a:tc>
              </a:tr>
              <a:tr h="6400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effectLst/>
                        </a:rPr>
                        <a:t>Awareness</a:t>
                      </a:r>
                      <a:endParaRPr lang="en-US" sz="2000">
                        <a:effectLst/>
                      </a:endParaRPr>
                    </a:p>
                  </a:txBody>
                  <a:tcPr marL="62248" marR="62248" marT="31124" marB="3112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effectLst/>
                        </a:rPr>
                        <a:t>Brand exposure</a:t>
                      </a:r>
                      <a:endParaRPr lang="en-US" sz="2000" dirty="0">
                        <a:effectLst/>
                      </a:endParaRPr>
                    </a:p>
                  </a:txBody>
                  <a:tcPr marL="62248" marR="62248" marT="31124" marB="3112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effectLst/>
                        </a:rPr>
                        <a:t>Low</a:t>
                      </a:r>
                      <a:endParaRPr lang="en-US" sz="2000" dirty="0">
                        <a:effectLst/>
                      </a:endParaRPr>
                    </a:p>
                  </a:txBody>
                  <a:tcPr marL="62248" marR="62248" marT="31124" marB="3112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effectLst/>
                        </a:rPr>
                        <a:t>Low</a:t>
                      </a:r>
                      <a:endParaRPr lang="en-US" sz="2000" dirty="0">
                        <a:effectLst/>
                      </a:endParaRPr>
                    </a:p>
                  </a:txBody>
                  <a:tcPr marL="62248" marR="62248" marT="31124" marB="3112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effectLst/>
                        </a:rPr>
                        <a:t>Easy</a:t>
                      </a:r>
                      <a:endParaRPr lang="en-US" sz="2000" dirty="0">
                        <a:effectLst/>
                      </a:endParaRPr>
                    </a:p>
                  </a:txBody>
                  <a:tcPr marL="62248" marR="62248" marT="31124" marB="31124" anchor="ctr"/>
                </a:tc>
              </a:tr>
              <a:tr h="6400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effectLst/>
                        </a:rPr>
                        <a:t>Traffic</a:t>
                      </a:r>
                      <a:endParaRPr lang="en-US" sz="2000">
                        <a:effectLst/>
                      </a:endParaRPr>
                    </a:p>
                  </a:txBody>
                  <a:tcPr marL="62248" marR="62248" marT="31124" marB="3112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effectLst/>
                        </a:rPr>
                        <a:t>Website visits</a:t>
                      </a:r>
                      <a:endParaRPr lang="en-US" sz="2000" dirty="0">
                        <a:effectLst/>
                      </a:endParaRPr>
                    </a:p>
                  </a:txBody>
                  <a:tcPr marL="62248" marR="62248" marT="31124" marB="3112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effectLst/>
                        </a:rPr>
                        <a:t>Medium</a:t>
                      </a:r>
                      <a:endParaRPr lang="en-US" sz="2000" dirty="0">
                        <a:effectLst/>
                      </a:endParaRPr>
                    </a:p>
                  </a:txBody>
                  <a:tcPr marL="62248" marR="62248" marT="31124" marB="3112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effectLst/>
                        </a:rPr>
                        <a:t>Medium</a:t>
                      </a:r>
                      <a:endParaRPr lang="en-US" sz="2000" dirty="0">
                        <a:effectLst/>
                      </a:endParaRPr>
                    </a:p>
                  </a:txBody>
                  <a:tcPr marL="62248" marR="62248" marT="31124" marB="3112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effectLst/>
                        </a:rPr>
                        <a:t>Easy</a:t>
                      </a:r>
                      <a:endParaRPr lang="en-US" sz="2000" dirty="0">
                        <a:effectLst/>
                      </a:endParaRPr>
                    </a:p>
                  </a:txBody>
                  <a:tcPr marL="62248" marR="62248" marT="31124" marB="31124" anchor="ctr"/>
                </a:tc>
              </a:tr>
              <a:tr h="10257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effectLst/>
                        </a:rPr>
                        <a:t>Engagement</a:t>
                      </a:r>
                      <a:endParaRPr lang="en-US" sz="2000" dirty="0">
                        <a:effectLst/>
                      </a:endParaRPr>
                    </a:p>
                  </a:txBody>
                  <a:tcPr marL="62248" marR="62248" marT="31124" marB="3112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effectLst/>
                        </a:rPr>
                        <a:t>Social proof, community growth or DMs or call</a:t>
                      </a:r>
                      <a:endParaRPr lang="en-US" sz="2000" dirty="0">
                        <a:effectLst/>
                      </a:endParaRPr>
                    </a:p>
                  </a:txBody>
                  <a:tcPr marL="62248" marR="62248" marT="31124" marB="3112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effectLst/>
                        </a:rPr>
                        <a:t>Medium</a:t>
                      </a:r>
                      <a:endParaRPr lang="en-US" sz="2000" dirty="0">
                        <a:effectLst/>
                      </a:endParaRPr>
                    </a:p>
                  </a:txBody>
                  <a:tcPr marL="62248" marR="62248" marT="31124" marB="3112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effectLst/>
                        </a:rPr>
                        <a:t>Low</a:t>
                      </a:r>
                      <a:endParaRPr lang="en-US" sz="2000" dirty="0">
                        <a:effectLst/>
                      </a:endParaRPr>
                    </a:p>
                  </a:txBody>
                  <a:tcPr marL="62248" marR="62248" marT="31124" marB="3112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effectLst/>
                        </a:rPr>
                        <a:t>Easy</a:t>
                      </a:r>
                      <a:endParaRPr lang="en-US" sz="2000" dirty="0">
                        <a:effectLst/>
                      </a:endParaRPr>
                    </a:p>
                  </a:txBody>
                  <a:tcPr marL="62248" marR="62248" marT="31124" marB="31124" anchor="ctr"/>
                </a:tc>
              </a:tr>
              <a:tr h="6400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effectLst/>
                        </a:rPr>
                        <a:t>Leads</a:t>
                      </a:r>
                      <a:endParaRPr lang="en-US" sz="2000">
                        <a:effectLst/>
                      </a:endParaRPr>
                    </a:p>
                  </a:txBody>
                  <a:tcPr marL="62248" marR="62248" marT="31124" marB="3112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effectLst/>
                        </a:rPr>
                        <a:t>Email/phone collection</a:t>
                      </a:r>
                      <a:endParaRPr lang="en-US" sz="2000" dirty="0">
                        <a:effectLst/>
                      </a:endParaRPr>
                    </a:p>
                  </a:txBody>
                  <a:tcPr marL="62248" marR="62248" marT="31124" marB="3112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effectLst/>
                        </a:rPr>
                        <a:t>High</a:t>
                      </a:r>
                      <a:endParaRPr lang="en-US" sz="2000" dirty="0">
                        <a:effectLst/>
                      </a:endParaRPr>
                    </a:p>
                  </a:txBody>
                  <a:tcPr marL="62248" marR="62248" marT="31124" marB="3112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effectLst/>
                        </a:rPr>
                        <a:t>Medium</a:t>
                      </a:r>
                      <a:endParaRPr lang="en-US" sz="2000" dirty="0">
                        <a:effectLst/>
                      </a:endParaRPr>
                    </a:p>
                  </a:txBody>
                  <a:tcPr marL="62248" marR="62248" marT="31124" marB="3112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effectLst/>
                        </a:rPr>
                        <a:t>Medium</a:t>
                      </a:r>
                      <a:endParaRPr lang="en-US" sz="2000">
                        <a:effectLst/>
                      </a:endParaRPr>
                    </a:p>
                  </a:txBody>
                  <a:tcPr marL="62248" marR="62248" marT="31124" marB="31124" anchor="ctr"/>
                </a:tc>
              </a:tr>
              <a:tr h="6400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effectLst/>
                        </a:rPr>
                        <a:t>App Promotion</a:t>
                      </a:r>
                      <a:endParaRPr lang="en-US" sz="2000">
                        <a:effectLst/>
                      </a:endParaRPr>
                    </a:p>
                  </a:txBody>
                  <a:tcPr marL="62248" marR="62248" marT="31124" marB="3112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effectLst/>
                        </a:rPr>
                        <a:t>App downloads</a:t>
                      </a:r>
                      <a:endParaRPr lang="en-US" sz="2000">
                        <a:effectLst/>
                      </a:endParaRPr>
                    </a:p>
                  </a:txBody>
                  <a:tcPr marL="62248" marR="62248" marT="31124" marB="3112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effectLst/>
                        </a:rPr>
                        <a:t>High</a:t>
                      </a:r>
                      <a:endParaRPr lang="en-US" sz="2000" dirty="0">
                        <a:effectLst/>
                      </a:endParaRPr>
                    </a:p>
                  </a:txBody>
                  <a:tcPr marL="62248" marR="62248" marT="31124" marB="3112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effectLst/>
                        </a:rPr>
                        <a:t>Medium-High</a:t>
                      </a:r>
                      <a:endParaRPr lang="en-US" sz="2000" dirty="0">
                        <a:effectLst/>
                      </a:endParaRPr>
                    </a:p>
                  </a:txBody>
                  <a:tcPr marL="62248" marR="62248" marT="31124" marB="3112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effectLst/>
                        </a:rPr>
                        <a:t>Medium</a:t>
                      </a:r>
                      <a:endParaRPr lang="en-US" sz="2000">
                        <a:effectLst/>
                      </a:endParaRPr>
                    </a:p>
                  </a:txBody>
                  <a:tcPr marL="62248" marR="62248" marT="31124" marB="31124" anchor="ctr"/>
                </a:tc>
              </a:tr>
              <a:tr h="6400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effectLst/>
                        </a:rPr>
                        <a:t>Sales</a:t>
                      </a:r>
                      <a:endParaRPr lang="en-US" sz="2000">
                        <a:effectLst/>
                      </a:endParaRPr>
                    </a:p>
                  </a:txBody>
                  <a:tcPr marL="62248" marR="62248" marT="31124" marB="3112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effectLst/>
                        </a:rPr>
                        <a:t>Online purchases</a:t>
                      </a:r>
                      <a:endParaRPr lang="en-US" sz="2000" dirty="0">
                        <a:effectLst/>
                      </a:endParaRPr>
                    </a:p>
                  </a:txBody>
                  <a:tcPr marL="62248" marR="62248" marT="31124" marB="3112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solidFill>
                            <a:srgbClr val="FF0000"/>
                          </a:solidFill>
                          <a:effectLst/>
                        </a:rPr>
                        <a:t>Very High</a:t>
                      </a:r>
                      <a:endParaRPr lang="en-US" sz="2000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62248" marR="62248" marT="31124" marB="3112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effectLst/>
                        </a:rPr>
                        <a:t>High</a:t>
                      </a:r>
                      <a:endParaRPr lang="en-US" sz="2000" dirty="0">
                        <a:effectLst/>
                      </a:endParaRPr>
                    </a:p>
                  </a:txBody>
                  <a:tcPr marL="62248" marR="62248" marT="31124" marB="3112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effectLst/>
                        </a:rPr>
                        <a:t>Harder (pixel needed)</a:t>
                      </a:r>
                      <a:endParaRPr lang="en-US" sz="2000" dirty="0">
                        <a:effectLst/>
                      </a:endParaRPr>
                    </a:p>
                  </a:txBody>
                  <a:tcPr marL="62248" marR="62248" marT="31124" marB="31124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68769" y="356951"/>
            <a:ext cx="17057231" cy="9573098"/>
            <a:chOff x="0" y="0"/>
            <a:chExt cx="4492439" cy="252131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492439" cy="2521310"/>
            </a:xfrm>
            <a:custGeom>
              <a:avLst/>
              <a:gdLst/>
              <a:ahLst/>
              <a:cxnLst/>
              <a:rect l="l" t="t" r="r" b="b"/>
              <a:pathLst>
                <a:path w="4492439" h="2521310">
                  <a:moveTo>
                    <a:pt x="0" y="0"/>
                  </a:moveTo>
                  <a:lnTo>
                    <a:pt x="4492439" y="0"/>
                  </a:lnTo>
                  <a:lnTo>
                    <a:pt x="4492439" y="2521310"/>
                  </a:lnTo>
                  <a:lnTo>
                    <a:pt x="0" y="252131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11FBB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492439" cy="2578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7526000" y="356951"/>
            <a:ext cx="273257" cy="9573098"/>
            <a:chOff x="0" y="0"/>
            <a:chExt cx="71969" cy="252131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1969" cy="2521310"/>
            </a:xfrm>
            <a:custGeom>
              <a:avLst/>
              <a:gdLst/>
              <a:ahLst/>
              <a:cxnLst/>
              <a:rect l="l" t="t" r="r" b="b"/>
              <a:pathLst>
                <a:path w="71969" h="2521310">
                  <a:moveTo>
                    <a:pt x="0" y="0"/>
                  </a:moveTo>
                  <a:lnTo>
                    <a:pt x="71969" y="0"/>
                  </a:lnTo>
                  <a:lnTo>
                    <a:pt x="71969" y="2521310"/>
                  </a:lnTo>
                  <a:lnTo>
                    <a:pt x="0" y="2521310"/>
                  </a:lnTo>
                  <a:close/>
                </a:path>
              </a:pathLst>
            </a:custGeom>
            <a:solidFill>
              <a:srgbClr val="A2D078"/>
            </a:solidFill>
            <a:ln w="19050" cap="sq">
              <a:solidFill>
                <a:srgbClr val="011FBB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71969" cy="2578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55886" y="9608891"/>
            <a:ext cx="17070114" cy="321159"/>
            <a:chOff x="0" y="0"/>
            <a:chExt cx="4495833" cy="8458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495833" cy="84585"/>
            </a:xfrm>
            <a:custGeom>
              <a:avLst/>
              <a:gdLst/>
              <a:ahLst/>
              <a:cxnLst/>
              <a:rect l="l" t="t" r="r" b="b"/>
              <a:pathLst>
                <a:path w="4495833" h="84585">
                  <a:moveTo>
                    <a:pt x="0" y="0"/>
                  </a:moveTo>
                  <a:lnTo>
                    <a:pt x="4495833" y="0"/>
                  </a:lnTo>
                  <a:lnTo>
                    <a:pt x="4495833" y="84585"/>
                  </a:lnTo>
                  <a:lnTo>
                    <a:pt x="0" y="84585"/>
                  </a:lnTo>
                  <a:close/>
                </a:path>
              </a:pathLst>
            </a:custGeom>
            <a:solidFill>
              <a:srgbClr val="FCCC38"/>
            </a:solidFill>
            <a:ln w="19050" cap="sq">
              <a:solidFill>
                <a:srgbClr val="011FBB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4495833" cy="1417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11" name="Freeform 11"/>
          <p:cNvSpPr/>
          <p:nvPr/>
        </p:nvSpPr>
        <p:spPr>
          <a:xfrm>
            <a:off x="732640" y="2094730"/>
            <a:ext cx="443351" cy="450605"/>
          </a:xfrm>
          <a:custGeom>
            <a:avLst/>
            <a:gdLst/>
            <a:ahLst/>
            <a:cxnLst/>
            <a:rect l="l" t="t" r="r" b="b"/>
            <a:pathLst>
              <a:path w="443351" h="450605">
                <a:moveTo>
                  <a:pt x="0" y="0"/>
                </a:moveTo>
                <a:lnTo>
                  <a:pt x="443350" y="0"/>
                </a:lnTo>
                <a:lnTo>
                  <a:pt x="443350" y="450606"/>
                </a:lnTo>
                <a:lnTo>
                  <a:pt x="0" y="45060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675490" y="333202"/>
            <a:ext cx="11988134" cy="12366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540"/>
              </a:lnSpc>
              <a:spcBef>
                <a:spcPct val="0"/>
              </a:spcBef>
            </a:pPr>
            <a:r>
              <a:rPr lang="en-US" sz="6815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Paid ads </a:t>
            </a:r>
            <a:endParaRPr lang="en-US" sz="6815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336520" y="2018530"/>
            <a:ext cx="16189480" cy="65410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060"/>
              </a:lnSpc>
            </a:pPr>
            <a:r>
              <a:rPr lang="en-US" sz="3200" dirty="0">
                <a:latin typeface="Poppins" panose="00000500000000000000" pitchFamily="2" charset="0"/>
                <a:cs typeface="Poppins" panose="00000500000000000000" pitchFamily="2" charset="0"/>
              </a:rPr>
              <a:t>Audience Targeting</a:t>
            </a:r>
            <a:endParaRPr lang="en-US" sz="32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>
              <a:lnSpc>
                <a:spcPts val="4060"/>
              </a:lnSpc>
            </a:pPr>
            <a:endParaRPr lang="en-US" sz="32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200" dirty="0">
                <a:latin typeface="Poppins" panose="00000500000000000000" pitchFamily="2" charset="0"/>
                <a:cs typeface="Poppins" panose="00000500000000000000" pitchFamily="2" charset="0"/>
              </a:rPr>
              <a:t>Two options: Automatic OR Create New Audience</a:t>
            </a:r>
            <a:endParaRPr lang="en-US" altLang="en-US" sz="32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914400" lvl="1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3200" dirty="0">
                <a:latin typeface="Poppins" panose="00000500000000000000" pitchFamily="2" charset="0"/>
                <a:cs typeface="Poppins" panose="00000500000000000000" pitchFamily="2" charset="0"/>
              </a:rPr>
              <a:t>Location, Age &amp; Gender</a:t>
            </a:r>
            <a:endParaRPr lang="en-US" altLang="en-US" sz="32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914400" lvl="1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3200" dirty="0">
                <a:latin typeface="Poppins" panose="00000500000000000000" pitchFamily="2" charset="0"/>
                <a:cs typeface="Poppins" panose="00000500000000000000" pitchFamily="2" charset="0"/>
              </a:rPr>
              <a:t>Detailed Targeting: Interests / Behaviors / Demographics.</a:t>
            </a:r>
            <a:endParaRPr lang="en-US" altLang="en-US" sz="32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914400" lvl="1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3200" dirty="0">
                <a:latin typeface="Poppins" panose="00000500000000000000" pitchFamily="2" charset="0"/>
                <a:cs typeface="Poppins" panose="00000500000000000000" pitchFamily="2" charset="0"/>
              </a:rPr>
              <a:t>You may Save Audience → Toggle Save This Audience ON → Give it a name.</a:t>
            </a:r>
            <a:endParaRPr lang="en-US" altLang="en-US" sz="32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914400" lvl="1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3200" dirty="0">
                <a:latin typeface="Poppins" panose="00000500000000000000" pitchFamily="2" charset="0"/>
                <a:cs typeface="Poppins" panose="00000500000000000000" pitchFamily="2" charset="0"/>
              </a:rPr>
              <a:t>Use Custom/Lookalike Audiences (if customer list exists):</a:t>
            </a:r>
            <a:endParaRPr lang="en-US" altLang="en-US" sz="32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914400" lvl="1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3200" dirty="0">
                <a:latin typeface="Poppins" panose="00000500000000000000" pitchFamily="2" charset="0"/>
                <a:cs typeface="Poppins" panose="00000500000000000000" pitchFamily="2" charset="0"/>
              </a:rPr>
              <a:t>Can use previously saved audience</a:t>
            </a:r>
            <a:endParaRPr lang="en-US" altLang="en-US" sz="32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3200" dirty="0">
              <a:latin typeface="Arial" panose="020B0604020202020204" pitchFamily="34" charset="0"/>
            </a:endParaRPr>
          </a:p>
          <a:p>
            <a:pPr>
              <a:lnSpc>
                <a:spcPts val="4060"/>
              </a:lnSpc>
            </a:pPr>
            <a:endParaRPr lang="en-US" sz="32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>
              <a:lnSpc>
                <a:spcPts val="4060"/>
              </a:lnSpc>
            </a:pPr>
            <a:endParaRPr lang="en-US" sz="3200" dirty="0">
              <a:solidFill>
                <a:srgbClr val="000000"/>
              </a:solidFill>
              <a:latin typeface="Poppins" panose="00000500000000000000" pitchFamily="2" charset="0"/>
              <a:ea typeface="Poppins" panose="00000500000000000000"/>
              <a:cs typeface="Poppins" panose="00000500000000000000" pitchFamily="2" charset="0"/>
              <a:sym typeface="Poppins" panose="00000500000000000000"/>
            </a:endParaRPr>
          </a:p>
          <a:p>
            <a:pPr>
              <a:lnSpc>
                <a:spcPts val="4060"/>
              </a:lnSpc>
            </a:pPr>
            <a:endParaRPr lang="en-US" sz="2900" dirty="0">
              <a:solidFill>
                <a:srgbClr val="000000"/>
              </a:solidFill>
              <a:latin typeface="Poppins" panose="00000500000000000000" pitchFamily="2" charset="0"/>
              <a:ea typeface="Poppins" panose="00000500000000000000"/>
              <a:cs typeface="Poppins" panose="00000500000000000000" pitchFamily="2" charset="0"/>
              <a:sym typeface="Poppins" panose="00000500000000000000"/>
            </a:endParaRPr>
          </a:p>
        </p:txBody>
      </p:sp>
      <p:sp>
        <p:nvSpPr>
          <p:cNvPr id="16" name="Rectangle 1"/>
          <p:cNvSpPr>
            <a:spLocks noChangeArrowheads="1"/>
          </p:cNvSpPr>
          <p:nvPr/>
        </p:nvSpPr>
        <p:spPr bwMode="auto">
          <a:xfrm>
            <a:off x="6476232" y="2711157"/>
            <a:ext cx="29849218" cy="52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68769" y="356951"/>
            <a:ext cx="17057231" cy="9573098"/>
            <a:chOff x="0" y="0"/>
            <a:chExt cx="4492439" cy="252131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492439" cy="2521310"/>
            </a:xfrm>
            <a:custGeom>
              <a:avLst/>
              <a:gdLst/>
              <a:ahLst/>
              <a:cxnLst/>
              <a:rect l="l" t="t" r="r" b="b"/>
              <a:pathLst>
                <a:path w="4492439" h="2521310">
                  <a:moveTo>
                    <a:pt x="0" y="0"/>
                  </a:moveTo>
                  <a:lnTo>
                    <a:pt x="4492439" y="0"/>
                  </a:lnTo>
                  <a:lnTo>
                    <a:pt x="4492439" y="2521310"/>
                  </a:lnTo>
                  <a:lnTo>
                    <a:pt x="0" y="252131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11FBB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492439" cy="2578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7526000" y="356951"/>
            <a:ext cx="273257" cy="9573098"/>
            <a:chOff x="0" y="0"/>
            <a:chExt cx="71969" cy="252131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1969" cy="2521310"/>
            </a:xfrm>
            <a:custGeom>
              <a:avLst/>
              <a:gdLst/>
              <a:ahLst/>
              <a:cxnLst/>
              <a:rect l="l" t="t" r="r" b="b"/>
              <a:pathLst>
                <a:path w="71969" h="2521310">
                  <a:moveTo>
                    <a:pt x="0" y="0"/>
                  </a:moveTo>
                  <a:lnTo>
                    <a:pt x="71969" y="0"/>
                  </a:lnTo>
                  <a:lnTo>
                    <a:pt x="71969" y="2521310"/>
                  </a:lnTo>
                  <a:lnTo>
                    <a:pt x="0" y="2521310"/>
                  </a:lnTo>
                  <a:close/>
                </a:path>
              </a:pathLst>
            </a:custGeom>
            <a:solidFill>
              <a:srgbClr val="A2D078"/>
            </a:solidFill>
            <a:ln w="19050" cap="sq">
              <a:solidFill>
                <a:srgbClr val="011FBB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71969" cy="2578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55886" y="9608891"/>
            <a:ext cx="17070114" cy="321159"/>
            <a:chOff x="0" y="0"/>
            <a:chExt cx="4495833" cy="8458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495833" cy="84585"/>
            </a:xfrm>
            <a:custGeom>
              <a:avLst/>
              <a:gdLst/>
              <a:ahLst/>
              <a:cxnLst/>
              <a:rect l="l" t="t" r="r" b="b"/>
              <a:pathLst>
                <a:path w="4495833" h="84585">
                  <a:moveTo>
                    <a:pt x="0" y="0"/>
                  </a:moveTo>
                  <a:lnTo>
                    <a:pt x="4495833" y="0"/>
                  </a:lnTo>
                  <a:lnTo>
                    <a:pt x="4495833" y="84585"/>
                  </a:lnTo>
                  <a:lnTo>
                    <a:pt x="0" y="84585"/>
                  </a:lnTo>
                  <a:close/>
                </a:path>
              </a:pathLst>
            </a:custGeom>
            <a:solidFill>
              <a:srgbClr val="FCCC38"/>
            </a:solidFill>
            <a:ln w="19050" cap="sq">
              <a:solidFill>
                <a:srgbClr val="011FBB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4495833" cy="1417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11" name="Freeform 11"/>
          <p:cNvSpPr/>
          <p:nvPr/>
        </p:nvSpPr>
        <p:spPr>
          <a:xfrm>
            <a:off x="732640" y="2094730"/>
            <a:ext cx="443351" cy="450605"/>
          </a:xfrm>
          <a:custGeom>
            <a:avLst/>
            <a:gdLst/>
            <a:ahLst/>
            <a:cxnLst/>
            <a:rect l="l" t="t" r="r" b="b"/>
            <a:pathLst>
              <a:path w="443351" h="450605">
                <a:moveTo>
                  <a:pt x="0" y="0"/>
                </a:moveTo>
                <a:lnTo>
                  <a:pt x="443350" y="0"/>
                </a:lnTo>
                <a:lnTo>
                  <a:pt x="443350" y="450606"/>
                </a:lnTo>
                <a:lnTo>
                  <a:pt x="0" y="45060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675490" y="333202"/>
            <a:ext cx="11988134" cy="12366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540"/>
              </a:lnSpc>
              <a:spcBef>
                <a:spcPct val="0"/>
              </a:spcBef>
            </a:pPr>
            <a:r>
              <a:rPr lang="en-US" sz="6815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Paid ads </a:t>
            </a:r>
            <a:endParaRPr lang="en-US" sz="6815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336520" y="2018530"/>
            <a:ext cx="16189480" cy="4924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3200" dirty="0">
                <a:latin typeface="Poppins" panose="00000500000000000000" pitchFamily="2" charset="0"/>
                <a:cs typeface="Poppins" panose="00000500000000000000" pitchFamily="2" charset="0"/>
              </a:rPr>
              <a:t>Creative &amp; Ad Formats</a:t>
            </a:r>
            <a:endParaRPr lang="en-US" sz="32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endParaRPr lang="en-US" sz="32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Poppins" panose="00000500000000000000" pitchFamily="2" charset="0"/>
                <a:cs typeface="Poppins" panose="00000500000000000000" pitchFamily="2" charset="0"/>
              </a:rPr>
              <a:t>Select Ad Creative → Select Media.</a:t>
            </a:r>
            <a:endParaRPr lang="en-US" sz="32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Poppins" panose="00000500000000000000" pitchFamily="2" charset="0"/>
                <a:cs typeface="Poppins" panose="00000500000000000000" pitchFamily="2" charset="0"/>
              </a:rPr>
              <a:t>Choose Ad Format:</a:t>
            </a:r>
            <a:endParaRPr lang="en-US" sz="32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Poppins" panose="00000500000000000000" pitchFamily="2" charset="0"/>
                <a:cs typeface="Poppins" panose="00000500000000000000" pitchFamily="2" charset="0"/>
              </a:rPr>
              <a:t>Single/Carousel</a:t>
            </a:r>
            <a:endParaRPr lang="en-US" sz="32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Poppins" panose="00000500000000000000" pitchFamily="2" charset="0"/>
                <a:cs typeface="Poppins" panose="00000500000000000000" pitchFamily="2" charset="0"/>
              </a:rPr>
              <a:t>Reels / Stories → Tap Edit Placements → Instagram Reels / Facebook Stories (formats adjust automatically).</a:t>
            </a:r>
            <a:endParaRPr lang="en-US" sz="32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Poppins" panose="00000500000000000000" pitchFamily="2" charset="0"/>
                <a:cs typeface="Poppins" panose="00000500000000000000" pitchFamily="2" charset="0"/>
              </a:rPr>
              <a:t>Write Primary Text + Headline + Call-to-Action (CTA button like “Shop Now” / “Learn More”).</a:t>
            </a:r>
            <a:endParaRPr lang="en-US" sz="32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Poppins" panose="00000500000000000000" pitchFamily="2" charset="0"/>
                <a:cs typeface="Poppins" panose="00000500000000000000" pitchFamily="2" charset="0"/>
              </a:rPr>
              <a:t>Preview in Feed / Stories / Reels by swiping preview tabs.</a:t>
            </a:r>
            <a:endParaRPr lang="en-US" sz="32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6" name="Rectangle 1"/>
          <p:cNvSpPr>
            <a:spLocks noChangeArrowheads="1"/>
          </p:cNvSpPr>
          <p:nvPr/>
        </p:nvSpPr>
        <p:spPr bwMode="auto">
          <a:xfrm>
            <a:off x="6476232" y="2711157"/>
            <a:ext cx="29849218" cy="52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68769" y="356951"/>
            <a:ext cx="17057231" cy="9573098"/>
            <a:chOff x="0" y="0"/>
            <a:chExt cx="4492439" cy="252131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492439" cy="2521310"/>
            </a:xfrm>
            <a:custGeom>
              <a:avLst/>
              <a:gdLst/>
              <a:ahLst/>
              <a:cxnLst/>
              <a:rect l="l" t="t" r="r" b="b"/>
              <a:pathLst>
                <a:path w="4492439" h="2521310">
                  <a:moveTo>
                    <a:pt x="0" y="0"/>
                  </a:moveTo>
                  <a:lnTo>
                    <a:pt x="4492439" y="0"/>
                  </a:lnTo>
                  <a:lnTo>
                    <a:pt x="4492439" y="2521310"/>
                  </a:lnTo>
                  <a:lnTo>
                    <a:pt x="0" y="252131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11FBB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492439" cy="2578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7526000" y="356951"/>
            <a:ext cx="273257" cy="9573098"/>
            <a:chOff x="0" y="0"/>
            <a:chExt cx="71969" cy="252131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1969" cy="2521310"/>
            </a:xfrm>
            <a:custGeom>
              <a:avLst/>
              <a:gdLst/>
              <a:ahLst/>
              <a:cxnLst/>
              <a:rect l="l" t="t" r="r" b="b"/>
              <a:pathLst>
                <a:path w="71969" h="2521310">
                  <a:moveTo>
                    <a:pt x="0" y="0"/>
                  </a:moveTo>
                  <a:lnTo>
                    <a:pt x="71969" y="0"/>
                  </a:lnTo>
                  <a:lnTo>
                    <a:pt x="71969" y="2521310"/>
                  </a:lnTo>
                  <a:lnTo>
                    <a:pt x="0" y="2521310"/>
                  </a:lnTo>
                  <a:close/>
                </a:path>
              </a:pathLst>
            </a:custGeom>
            <a:solidFill>
              <a:srgbClr val="A2D078"/>
            </a:solidFill>
            <a:ln w="19050" cap="sq">
              <a:solidFill>
                <a:srgbClr val="011FBB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71969" cy="2578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55886" y="9608891"/>
            <a:ext cx="17070114" cy="321159"/>
            <a:chOff x="0" y="0"/>
            <a:chExt cx="4495833" cy="8458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495833" cy="84585"/>
            </a:xfrm>
            <a:custGeom>
              <a:avLst/>
              <a:gdLst/>
              <a:ahLst/>
              <a:cxnLst/>
              <a:rect l="l" t="t" r="r" b="b"/>
              <a:pathLst>
                <a:path w="4495833" h="84585">
                  <a:moveTo>
                    <a:pt x="0" y="0"/>
                  </a:moveTo>
                  <a:lnTo>
                    <a:pt x="4495833" y="0"/>
                  </a:lnTo>
                  <a:lnTo>
                    <a:pt x="4495833" y="84585"/>
                  </a:lnTo>
                  <a:lnTo>
                    <a:pt x="0" y="84585"/>
                  </a:lnTo>
                  <a:close/>
                </a:path>
              </a:pathLst>
            </a:custGeom>
            <a:solidFill>
              <a:srgbClr val="FCCC38"/>
            </a:solidFill>
            <a:ln w="19050" cap="sq">
              <a:solidFill>
                <a:srgbClr val="011FBB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4495833" cy="1417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11" name="Freeform 11"/>
          <p:cNvSpPr/>
          <p:nvPr/>
        </p:nvSpPr>
        <p:spPr>
          <a:xfrm>
            <a:off x="732640" y="2094730"/>
            <a:ext cx="443351" cy="450605"/>
          </a:xfrm>
          <a:custGeom>
            <a:avLst/>
            <a:gdLst/>
            <a:ahLst/>
            <a:cxnLst/>
            <a:rect l="l" t="t" r="r" b="b"/>
            <a:pathLst>
              <a:path w="443351" h="450605">
                <a:moveTo>
                  <a:pt x="0" y="0"/>
                </a:moveTo>
                <a:lnTo>
                  <a:pt x="443350" y="0"/>
                </a:lnTo>
                <a:lnTo>
                  <a:pt x="443350" y="450606"/>
                </a:lnTo>
                <a:lnTo>
                  <a:pt x="0" y="45060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675490" y="333202"/>
            <a:ext cx="11988134" cy="12366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540"/>
              </a:lnSpc>
              <a:spcBef>
                <a:spcPct val="0"/>
              </a:spcBef>
            </a:pPr>
            <a:r>
              <a:rPr lang="en-US" sz="6815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Paid ads </a:t>
            </a:r>
            <a:endParaRPr lang="en-US" sz="6815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336520" y="2018530"/>
            <a:ext cx="16189480" cy="6401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3200" dirty="0">
                <a:latin typeface="Poppins" panose="00000500000000000000" pitchFamily="2" charset="0"/>
                <a:cs typeface="Poppins" panose="00000500000000000000" pitchFamily="2" charset="0"/>
              </a:rPr>
              <a:t>Placement &amp; Optimization</a:t>
            </a:r>
            <a:endParaRPr lang="en-US" sz="32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endParaRPr lang="en-US" sz="32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Poppins" panose="00000500000000000000" pitchFamily="2" charset="0"/>
                <a:cs typeface="Poppins" panose="00000500000000000000" pitchFamily="2" charset="0"/>
              </a:rPr>
              <a:t>Select Placements:</a:t>
            </a:r>
            <a:br>
              <a:rPr lang="en-US" sz="3200" dirty="0"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US" sz="3200" dirty="0">
                <a:latin typeface="Poppins" panose="00000500000000000000" pitchFamily="2" charset="0"/>
                <a:cs typeface="Poppins" panose="00000500000000000000" pitchFamily="2" charset="0"/>
              </a:rPr>
              <a:t>Automatic Placements OR Manual Placements</a:t>
            </a:r>
            <a:endParaRPr lang="en-US" sz="32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Poppins" panose="00000500000000000000" pitchFamily="2" charset="0"/>
                <a:cs typeface="Poppins" panose="00000500000000000000" pitchFamily="2" charset="0"/>
              </a:rPr>
              <a:t>Facebook Feed, Instagram Feed, Stories, Reels, Marketplace, Right Column, In-stream Videos.</a:t>
            </a:r>
            <a:endParaRPr lang="en-US" sz="32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Poppins" panose="00000500000000000000" pitchFamily="2" charset="0"/>
                <a:cs typeface="Poppins" panose="00000500000000000000" pitchFamily="2" charset="0"/>
              </a:rPr>
              <a:t>Tap Optimization &amp; Delivery:</a:t>
            </a:r>
            <a:endParaRPr lang="en-US" sz="32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Poppins" panose="00000500000000000000" pitchFamily="2" charset="0"/>
                <a:cs typeface="Poppins" panose="00000500000000000000" pitchFamily="2" charset="0"/>
              </a:rPr>
              <a:t>Optimization Goal: Choose Link Clicks / Landing Page Views / Conversions / Reach depending on objective</a:t>
            </a:r>
            <a:endParaRPr lang="en-US" sz="32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Poppins" panose="00000500000000000000" pitchFamily="2" charset="0"/>
                <a:cs typeface="Poppins" panose="00000500000000000000" pitchFamily="2" charset="0"/>
              </a:rPr>
              <a:t>Budget &amp; Schedule:</a:t>
            </a:r>
            <a:endParaRPr lang="en-US" sz="32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Poppins" panose="00000500000000000000" pitchFamily="2" charset="0"/>
                <a:cs typeface="Poppins" panose="00000500000000000000" pitchFamily="2" charset="0"/>
              </a:rPr>
              <a:t>Select Daily Budget or Lifetime Budget</a:t>
            </a:r>
            <a:endParaRPr lang="en-US" sz="32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Poppins" panose="00000500000000000000" pitchFamily="2" charset="0"/>
                <a:cs typeface="Poppins" panose="00000500000000000000" pitchFamily="2" charset="0"/>
              </a:rPr>
              <a:t>Enter amount</a:t>
            </a:r>
            <a:endParaRPr lang="en-US" sz="32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Poppins" panose="00000500000000000000" pitchFamily="2" charset="0"/>
                <a:cs typeface="Poppins" panose="00000500000000000000" pitchFamily="2" charset="0"/>
              </a:rPr>
              <a:t>Tap Schedule → Start &amp; End date</a:t>
            </a:r>
            <a:endParaRPr lang="en-US" sz="32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6" name="Rectangle 1"/>
          <p:cNvSpPr>
            <a:spLocks noChangeArrowheads="1"/>
          </p:cNvSpPr>
          <p:nvPr/>
        </p:nvSpPr>
        <p:spPr bwMode="auto">
          <a:xfrm>
            <a:off x="6476232" y="2711157"/>
            <a:ext cx="29849218" cy="52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68769" y="356951"/>
            <a:ext cx="17057231" cy="9573098"/>
            <a:chOff x="0" y="0"/>
            <a:chExt cx="4492439" cy="252131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492439" cy="2521310"/>
            </a:xfrm>
            <a:custGeom>
              <a:avLst/>
              <a:gdLst/>
              <a:ahLst/>
              <a:cxnLst/>
              <a:rect l="l" t="t" r="r" b="b"/>
              <a:pathLst>
                <a:path w="4492439" h="2521310">
                  <a:moveTo>
                    <a:pt x="0" y="0"/>
                  </a:moveTo>
                  <a:lnTo>
                    <a:pt x="4492439" y="0"/>
                  </a:lnTo>
                  <a:lnTo>
                    <a:pt x="4492439" y="2521310"/>
                  </a:lnTo>
                  <a:lnTo>
                    <a:pt x="0" y="252131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11FBB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492439" cy="2578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7526000" y="356951"/>
            <a:ext cx="273257" cy="9573098"/>
            <a:chOff x="0" y="0"/>
            <a:chExt cx="71969" cy="252131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1969" cy="2521310"/>
            </a:xfrm>
            <a:custGeom>
              <a:avLst/>
              <a:gdLst/>
              <a:ahLst/>
              <a:cxnLst/>
              <a:rect l="l" t="t" r="r" b="b"/>
              <a:pathLst>
                <a:path w="71969" h="2521310">
                  <a:moveTo>
                    <a:pt x="0" y="0"/>
                  </a:moveTo>
                  <a:lnTo>
                    <a:pt x="71969" y="0"/>
                  </a:lnTo>
                  <a:lnTo>
                    <a:pt x="71969" y="2521310"/>
                  </a:lnTo>
                  <a:lnTo>
                    <a:pt x="0" y="2521310"/>
                  </a:lnTo>
                  <a:close/>
                </a:path>
              </a:pathLst>
            </a:custGeom>
            <a:solidFill>
              <a:srgbClr val="A2D078"/>
            </a:solidFill>
            <a:ln w="19050" cap="sq">
              <a:solidFill>
                <a:srgbClr val="011FBB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71969" cy="2578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55886" y="9608891"/>
            <a:ext cx="17070114" cy="321159"/>
            <a:chOff x="0" y="0"/>
            <a:chExt cx="4495833" cy="8458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495833" cy="84585"/>
            </a:xfrm>
            <a:custGeom>
              <a:avLst/>
              <a:gdLst/>
              <a:ahLst/>
              <a:cxnLst/>
              <a:rect l="l" t="t" r="r" b="b"/>
              <a:pathLst>
                <a:path w="4495833" h="84585">
                  <a:moveTo>
                    <a:pt x="0" y="0"/>
                  </a:moveTo>
                  <a:lnTo>
                    <a:pt x="4495833" y="0"/>
                  </a:lnTo>
                  <a:lnTo>
                    <a:pt x="4495833" y="84585"/>
                  </a:lnTo>
                  <a:lnTo>
                    <a:pt x="0" y="84585"/>
                  </a:lnTo>
                  <a:close/>
                </a:path>
              </a:pathLst>
            </a:custGeom>
            <a:solidFill>
              <a:srgbClr val="FCCC38"/>
            </a:solidFill>
            <a:ln w="19050" cap="sq">
              <a:solidFill>
                <a:srgbClr val="011FBB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4495833" cy="1417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11" name="Freeform 11"/>
          <p:cNvSpPr/>
          <p:nvPr/>
        </p:nvSpPr>
        <p:spPr>
          <a:xfrm>
            <a:off x="732640" y="2094730"/>
            <a:ext cx="443351" cy="450605"/>
          </a:xfrm>
          <a:custGeom>
            <a:avLst/>
            <a:gdLst/>
            <a:ahLst/>
            <a:cxnLst/>
            <a:rect l="l" t="t" r="r" b="b"/>
            <a:pathLst>
              <a:path w="443351" h="450605">
                <a:moveTo>
                  <a:pt x="0" y="0"/>
                </a:moveTo>
                <a:lnTo>
                  <a:pt x="443350" y="0"/>
                </a:lnTo>
                <a:lnTo>
                  <a:pt x="443350" y="450606"/>
                </a:lnTo>
                <a:lnTo>
                  <a:pt x="0" y="45060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732640" y="3107311"/>
            <a:ext cx="443351" cy="450605"/>
          </a:xfrm>
          <a:custGeom>
            <a:avLst/>
            <a:gdLst/>
            <a:ahLst/>
            <a:cxnLst/>
            <a:rect l="l" t="t" r="r" b="b"/>
            <a:pathLst>
              <a:path w="443351" h="450605">
                <a:moveTo>
                  <a:pt x="0" y="0"/>
                </a:moveTo>
                <a:lnTo>
                  <a:pt x="443350" y="0"/>
                </a:lnTo>
                <a:lnTo>
                  <a:pt x="443350" y="450605"/>
                </a:lnTo>
                <a:lnTo>
                  <a:pt x="0" y="450605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028700" y="4119891"/>
            <a:ext cx="16230600" cy="5295233"/>
          </a:xfrm>
          <a:custGeom>
            <a:avLst/>
            <a:gdLst/>
            <a:ahLst/>
            <a:cxnLst/>
            <a:rect l="l" t="t" r="r" b="b"/>
            <a:pathLst>
              <a:path w="16230600" h="5295233">
                <a:moveTo>
                  <a:pt x="0" y="0"/>
                </a:moveTo>
                <a:lnTo>
                  <a:pt x="16230600" y="0"/>
                </a:lnTo>
                <a:lnTo>
                  <a:pt x="16230600" y="5295233"/>
                </a:lnTo>
                <a:lnTo>
                  <a:pt x="0" y="52952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675490" y="333202"/>
            <a:ext cx="11988134" cy="12366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540"/>
              </a:lnSpc>
              <a:spcBef>
                <a:spcPct val="0"/>
              </a:spcBef>
            </a:pPr>
            <a:r>
              <a:rPr lang="en-US" sz="6815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Paid ads </a:t>
            </a:r>
            <a:endParaRPr lang="en-US" sz="6815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336520" y="2018530"/>
            <a:ext cx="16189480" cy="1545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Click -&gt; Campaign -&gt; Ads</a:t>
            </a:r>
            <a:endParaRPr lang="en-US" sz="29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4060"/>
              </a:lnSpc>
            </a:pPr>
            <a:endParaRPr lang="en-US" sz="29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Auction &gt; Reservation</a:t>
            </a:r>
            <a:endParaRPr lang="en-US" sz="29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68769" y="356951"/>
            <a:ext cx="17057231" cy="9573098"/>
            <a:chOff x="0" y="0"/>
            <a:chExt cx="4492439" cy="252131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492439" cy="2521310"/>
            </a:xfrm>
            <a:custGeom>
              <a:avLst/>
              <a:gdLst/>
              <a:ahLst/>
              <a:cxnLst/>
              <a:rect l="l" t="t" r="r" b="b"/>
              <a:pathLst>
                <a:path w="4492439" h="2521310">
                  <a:moveTo>
                    <a:pt x="0" y="0"/>
                  </a:moveTo>
                  <a:lnTo>
                    <a:pt x="4492439" y="0"/>
                  </a:lnTo>
                  <a:lnTo>
                    <a:pt x="4492439" y="2521310"/>
                  </a:lnTo>
                  <a:lnTo>
                    <a:pt x="0" y="252131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11FBB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492439" cy="2578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7526000" y="356951"/>
            <a:ext cx="273257" cy="9573098"/>
            <a:chOff x="0" y="0"/>
            <a:chExt cx="71969" cy="252131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1969" cy="2521310"/>
            </a:xfrm>
            <a:custGeom>
              <a:avLst/>
              <a:gdLst/>
              <a:ahLst/>
              <a:cxnLst/>
              <a:rect l="l" t="t" r="r" b="b"/>
              <a:pathLst>
                <a:path w="71969" h="2521310">
                  <a:moveTo>
                    <a:pt x="0" y="0"/>
                  </a:moveTo>
                  <a:lnTo>
                    <a:pt x="71969" y="0"/>
                  </a:lnTo>
                  <a:lnTo>
                    <a:pt x="71969" y="2521310"/>
                  </a:lnTo>
                  <a:lnTo>
                    <a:pt x="0" y="2521310"/>
                  </a:lnTo>
                  <a:close/>
                </a:path>
              </a:pathLst>
            </a:custGeom>
            <a:solidFill>
              <a:srgbClr val="A2D078"/>
            </a:solidFill>
            <a:ln w="19050" cap="sq">
              <a:solidFill>
                <a:srgbClr val="011FBB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71969" cy="2578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55886" y="9608891"/>
            <a:ext cx="17070114" cy="321159"/>
            <a:chOff x="0" y="0"/>
            <a:chExt cx="4495833" cy="8458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495833" cy="84585"/>
            </a:xfrm>
            <a:custGeom>
              <a:avLst/>
              <a:gdLst/>
              <a:ahLst/>
              <a:cxnLst/>
              <a:rect l="l" t="t" r="r" b="b"/>
              <a:pathLst>
                <a:path w="4495833" h="84585">
                  <a:moveTo>
                    <a:pt x="0" y="0"/>
                  </a:moveTo>
                  <a:lnTo>
                    <a:pt x="4495833" y="0"/>
                  </a:lnTo>
                  <a:lnTo>
                    <a:pt x="4495833" y="84585"/>
                  </a:lnTo>
                  <a:lnTo>
                    <a:pt x="0" y="84585"/>
                  </a:lnTo>
                  <a:close/>
                </a:path>
              </a:pathLst>
            </a:custGeom>
            <a:solidFill>
              <a:srgbClr val="FCCC38"/>
            </a:solidFill>
            <a:ln w="19050" cap="sq">
              <a:solidFill>
                <a:srgbClr val="011FBB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4495833" cy="1417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11" name="Freeform 11"/>
          <p:cNvSpPr/>
          <p:nvPr/>
        </p:nvSpPr>
        <p:spPr>
          <a:xfrm>
            <a:off x="1028700" y="2006544"/>
            <a:ext cx="16230600" cy="4605433"/>
          </a:xfrm>
          <a:custGeom>
            <a:avLst/>
            <a:gdLst/>
            <a:ahLst/>
            <a:cxnLst/>
            <a:rect l="l" t="t" r="r" b="b"/>
            <a:pathLst>
              <a:path w="16230600" h="4605433">
                <a:moveTo>
                  <a:pt x="0" y="0"/>
                </a:moveTo>
                <a:lnTo>
                  <a:pt x="16230600" y="0"/>
                </a:lnTo>
                <a:lnTo>
                  <a:pt x="16230600" y="4605433"/>
                </a:lnTo>
                <a:lnTo>
                  <a:pt x="0" y="4605433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675490" y="333202"/>
            <a:ext cx="11988134" cy="12366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540"/>
              </a:lnSpc>
              <a:spcBef>
                <a:spcPct val="0"/>
              </a:spcBef>
            </a:pPr>
            <a:r>
              <a:rPr lang="en-US" sz="6815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Paid ads </a:t>
            </a:r>
            <a:endParaRPr lang="en-US" sz="6815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68769" y="356951"/>
            <a:ext cx="17057231" cy="9573098"/>
            <a:chOff x="0" y="0"/>
            <a:chExt cx="4492439" cy="252131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492439" cy="2521310"/>
            </a:xfrm>
            <a:custGeom>
              <a:avLst/>
              <a:gdLst/>
              <a:ahLst/>
              <a:cxnLst/>
              <a:rect l="l" t="t" r="r" b="b"/>
              <a:pathLst>
                <a:path w="4492439" h="2521310">
                  <a:moveTo>
                    <a:pt x="0" y="0"/>
                  </a:moveTo>
                  <a:lnTo>
                    <a:pt x="4492439" y="0"/>
                  </a:lnTo>
                  <a:lnTo>
                    <a:pt x="4492439" y="2521310"/>
                  </a:lnTo>
                  <a:lnTo>
                    <a:pt x="0" y="252131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11FBB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492439" cy="2578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7526000" y="356951"/>
            <a:ext cx="273257" cy="9573098"/>
            <a:chOff x="0" y="0"/>
            <a:chExt cx="71969" cy="252131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1969" cy="2521310"/>
            </a:xfrm>
            <a:custGeom>
              <a:avLst/>
              <a:gdLst/>
              <a:ahLst/>
              <a:cxnLst/>
              <a:rect l="l" t="t" r="r" b="b"/>
              <a:pathLst>
                <a:path w="71969" h="2521310">
                  <a:moveTo>
                    <a:pt x="0" y="0"/>
                  </a:moveTo>
                  <a:lnTo>
                    <a:pt x="71969" y="0"/>
                  </a:lnTo>
                  <a:lnTo>
                    <a:pt x="71969" y="2521310"/>
                  </a:lnTo>
                  <a:lnTo>
                    <a:pt x="0" y="2521310"/>
                  </a:lnTo>
                  <a:close/>
                </a:path>
              </a:pathLst>
            </a:custGeom>
            <a:solidFill>
              <a:srgbClr val="A2D078"/>
            </a:solidFill>
            <a:ln w="19050" cap="sq">
              <a:solidFill>
                <a:srgbClr val="011FBB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71969" cy="2578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55886" y="9608891"/>
            <a:ext cx="17070114" cy="321159"/>
            <a:chOff x="0" y="0"/>
            <a:chExt cx="4495833" cy="8458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495833" cy="84585"/>
            </a:xfrm>
            <a:custGeom>
              <a:avLst/>
              <a:gdLst/>
              <a:ahLst/>
              <a:cxnLst/>
              <a:rect l="l" t="t" r="r" b="b"/>
              <a:pathLst>
                <a:path w="4495833" h="84585">
                  <a:moveTo>
                    <a:pt x="0" y="0"/>
                  </a:moveTo>
                  <a:lnTo>
                    <a:pt x="4495833" y="0"/>
                  </a:lnTo>
                  <a:lnTo>
                    <a:pt x="4495833" y="84585"/>
                  </a:lnTo>
                  <a:lnTo>
                    <a:pt x="0" y="84585"/>
                  </a:lnTo>
                  <a:close/>
                </a:path>
              </a:pathLst>
            </a:custGeom>
            <a:solidFill>
              <a:srgbClr val="FCCC38"/>
            </a:solidFill>
            <a:ln w="19050" cap="sq">
              <a:solidFill>
                <a:srgbClr val="011FBB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4495833" cy="1417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11" name="Freeform 11"/>
          <p:cNvSpPr/>
          <p:nvPr/>
        </p:nvSpPr>
        <p:spPr>
          <a:xfrm>
            <a:off x="807025" y="2603428"/>
            <a:ext cx="443351" cy="450605"/>
          </a:xfrm>
          <a:custGeom>
            <a:avLst/>
            <a:gdLst/>
            <a:ahLst/>
            <a:cxnLst/>
            <a:rect l="l" t="t" r="r" b="b"/>
            <a:pathLst>
              <a:path w="443351" h="450605">
                <a:moveTo>
                  <a:pt x="0" y="0"/>
                </a:moveTo>
                <a:lnTo>
                  <a:pt x="443350" y="0"/>
                </a:lnTo>
                <a:lnTo>
                  <a:pt x="443350" y="450605"/>
                </a:lnTo>
                <a:lnTo>
                  <a:pt x="0" y="450605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807025" y="3707386"/>
            <a:ext cx="443351" cy="450605"/>
          </a:xfrm>
          <a:custGeom>
            <a:avLst/>
            <a:gdLst/>
            <a:ahLst/>
            <a:cxnLst/>
            <a:rect l="l" t="t" r="r" b="b"/>
            <a:pathLst>
              <a:path w="443351" h="450605">
                <a:moveTo>
                  <a:pt x="0" y="0"/>
                </a:moveTo>
                <a:lnTo>
                  <a:pt x="443350" y="0"/>
                </a:lnTo>
                <a:lnTo>
                  <a:pt x="443350" y="450605"/>
                </a:lnTo>
                <a:lnTo>
                  <a:pt x="0" y="450605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336520" y="2018530"/>
            <a:ext cx="6749969" cy="6175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Best for:</a:t>
            </a:r>
            <a:endParaRPr lang="en-US" sz="29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Businesses selling multiple products</a:t>
            </a:r>
            <a:endParaRPr lang="en-US" sz="29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4060"/>
              </a:lnSpc>
            </a:pPr>
            <a:endParaRPr lang="en-US" sz="29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Those with a product catalog in Meta Commerce Manager</a:t>
            </a:r>
            <a:endParaRPr lang="en-US" sz="29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4060"/>
              </a:lnSpc>
            </a:pPr>
            <a:endParaRPr lang="en-US" sz="29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Websites with Meta Pixel or Conversions API installed</a:t>
            </a:r>
            <a:endParaRPr lang="en-US" sz="29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4060"/>
              </a:lnSpc>
            </a:pPr>
            <a:endParaRPr lang="en-US" sz="29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Brands wanting automated retargeting and personalized product ads</a:t>
            </a:r>
            <a:endParaRPr lang="en-US" sz="29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14" name="Freeform 14"/>
          <p:cNvSpPr/>
          <p:nvPr/>
        </p:nvSpPr>
        <p:spPr>
          <a:xfrm>
            <a:off x="7349413" y="583917"/>
            <a:ext cx="9984233" cy="1971886"/>
          </a:xfrm>
          <a:custGeom>
            <a:avLst/>
            <a:gdLst/>
            <a:ahLst/>
            <a:cxnLst/>
            <a:rect l="l" t="t" r="r" b="b"/>
            <a:pathLst>
              <a:path w="9984233" h="1971886">
                <a:moveTo>
                  <a:pt x="0" y="0"/>
                </a:moveTo>
                <a:lnTo>
                  <a:pt x="9984233" y="0"/>
                </a:lnTo>
                <a:lnTo>
                  <a:pt x="9984233" y="1971886"/>
                </a:lnTo>
                <a:lnTo>
                  <a:pt x="0" y="19718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675490" y="333202"/>
            <a:ext cx="11988134" cy="12366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540"/>
              </a:lnSpc>
              <a:spcBef>
                <a:spcPct val="0"/>
              </a:spcBef>
            </a:pPr>
            <a:r>
              <a:rPr lang="en-US" sz="6815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Paid ads </a:t>
            </a:r>
            <a:endParaRPr lang="en-US" sz="6815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336520" y="8347631"/>
            <a:ext cx="9838781" cy="10313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Not needed if you have 1–2 products/services or don’t have a product catalog set up.</a:t>
            </a:r>
            <a:endParaRPr lang="en-US" sz="2900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18" name="Freeform 18"/>
          <p:cNvSpPr/>
          <p:nvPr/>
        </p:nvSpPr>
        <p:spPr>
          <a:xfrm>
            <a:off x="807025" y="5196216"/>
            <a:ext cx="443351" cy="450605"/>
          </a:xfrm>
          <a:custGeom>
            <a:avLst/>
            <a:gdLst/>
            <a:ahLst/>
            <a:cxnLst/>
            <a:rect l="l" t="t" r="r" b="b"/>
            <a:pathLst>
              <a:path w="443351" h="450605">
                <a:moveTo>
                  <a:pt x="0" y="0"/>
                </a:moveTo>
                <a:lnTo>
                  <a:pt x="443350" y="0"/>
                </a:lnTo>
                <a:lnTo>
                  <a:pt x="443350" y="450605"/>
                </a:lnTo>
                <a:lnTo>
                  <a:pt x="0" y="450605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807025" y="6742196"/>
            <a:ext cx="443351" cy="450605"/>
          </a:xfrm>
          <a:custGeom>
            <a:avLst/>
            <a:gdLst/>
            <a:ahLst/>
            <a:cxnLst/>
            <a:rect l="l" t="t" r="r" b="b"/>
            <a:pathLst>
              <a:path w="443351" h="450605">
                <a:moveTo>
                  <a:pt x="0" y="0"/>
                </a:moveTo>
                <a:lnTo>
                  <a:pt x="443350" y="0"/>
                </a:lnTo>
                <a:lnTo>
                  <a:pt x="443350" y="450606"/>
                </a:lnTo>
                <a:lnTo>
                  <a:pt x="0" y="45060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807025" y="8450800"/>
            <a:ext cx="443351" cy="450605"/>
          </a:xfrm>
          <a:custGeom>
            <a:avLst/>
            <a:gdLst/>
            <a:ahLst/>
            <a:cxnLst/>
            <a:rect l="l" t="t" r="r" b="b"/>
            <a:pathLst>
              <a:path w="443351" h="450605">
                <a:moveTo>
                  <a:pt x="0" y="0"/>
                </a:moveTo>
                <a:lnTo>
                  <a:pt x="443350" y="0"/>
                </a:lnTo>
                <a:lnTo>
                  <a:pt x="443350" y="450605"/>
                </a:lnTo>
                <a:lnTo>
                  <a:pt x="0" y="450605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8350457" y="3356084"/>
          <a:ext cx="8229600" cy="421005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6667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</a:rPr>
                        <a:t>Criteria</a:t>
                      </a:r>
                      <a:endParaRPr lang="en-US" sz="2400" dirty="0">
                        <a:effectLst/>
                      </a:endParaRPr>
                    </a:p>
                  </a:txBody>
                  <a:tcPr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</a:rPr>
                        <a:t>Campaigns</a:t>
                      </a:r>
                      <a:endParaRPr lang="en-US" sz="2400">
                        <a:effectLst/>
                      </a:endParaRPr>
                    </a:p>
                  </a:txBody>
                  <a:tcPr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811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</a:rPr>
                        <a:t>Only1-2 services/items</a:t>
                      </a:r>
                      <a:endParaRPr lang="en-US" sz="2400" dirty="0">
                        <a:effectLst/>
                      </a:endParaRPr>
                    </a:p>
                  </a:txBody>
                  <a:tcPr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</a:rPr>
                        <a:t>Sales or Leads</a:t>
                      </a:r>
                      <a:endParaRPr lang="en-US" sz="2400">
                        <a:effectLst/>
                      </a:endParaRPr>
                    </a:p>
                  </a:txBody>
                  <a:tcPr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811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</a:rPr>
                        <a:t>No website/product catalog</a:t>
                      </a:r>
                      <a:endParaRPr lang="en-US" sz="2400">
                        <a:effectLst/>
                      </a:endParaRPr>
                    </a:p>
                  </a:txBody>
                  <a:tcPr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</a:rPr>
                        <a:t>Traffic or Engagement</a:t>
                      </a:r>
                      <a:endParaRPr lang="en-US" sz="2400" dirty="0">
                        <a:effectLst/>
                      </a:endParaRPr>
                    </a:p>
                  </a:txBody>
                  <a:tcPr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811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</a:rPr>
                        <a:t>Testing early-stage ad ideas</a:t>
                      </a:r>
                      <a:endParaRPr lang="en-US" sz="2400">
                        <a:effectLst/>
                      </a:endParaRPr>
                    </a:p>
                  </a:txBody>
                  <a:tcPr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</a:rPr>
                        <a:t>Simpler</a:t>
                      </a:r>
                      <a:endParaRPr lang="en-US" sz="2400" dirty="0">
                        <a:effectLst/>
                      </a:endParaRPr>
                    </a:p>
                  </a:txBody>
                  <a:tcPr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Rectangle 1"/>
          <p:cNvSpPr>
            <a:spLocks noChangeArrowheads="1"/>
          </p:cNvSpPr>
          <p:nvPr/>
        </p:nvSpPr>
        <p:spPr bwMode="auto">
          <a:xfrm>
            <a:off x="457200" y="1757363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68769" y="356951"/>
            <a:ext cx="17057231" cy="9573098"/>
            <a:chOff x="0" y="0"/>
            <a:chExt cx="4492439" cy="252131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492439" cy="2521310"/>
            </a:xfrm>
            <a:custGeom>
              <a:avLst/>
              <a:gdLst/>
              <a:ahLst/>
              <a:cxnLst/>
              <a:rect l="l" t="t" r="r" b="b"/>
              <a:pathLst>
                <a:path w="4492439" h="2521310">
                  <a:moveTo>
                    <a:pt x="0" y="0"/>
                  </a:moveTo>
                  <a:lnTo>
                    <a:pt x="4492439" y="0"/>
                  </a:lnTo>
                  <a:lnTo>
                    <a:pt x="4492439" y="2521310"/>
                  </a:lnTo>
                  <a:lnTo>
                    <a:pt x="0" y="252131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11FBB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492439" cy="2578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7526000" y="356951"/>
            <a:ext cx="273257" cy="9573098"/>
            <a:chOff x="0" y="0"/>
            <a:chExt cx="71969" cy="252131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1969" cy="2521310"/>
            </a:xfrm>
            <a:custGeom>
              <a:avLst/>
              <a:gdLst/>
              <a:ahLst/>
              <a:cxnLst/>
              <a:rect l="l" t="t" r="r" b="b"/>
              <a:pathLst>
                <a:path w="71969" h="2521310">
                  <a:moveTo>
                    <a:pt x="0" y="0"/>
                  </a:moveTo>
                  <a:lnTo>
                    <a:pt x="71969" y="0"/>
                  </a:lnTo>
                  <a:lnTo>
                    <a:pt x="71969" y="2521310"/>
                  </a:lnTo>
                  <a:lnTo>
                    <a:pt x="0" y="2521310"/>
                  </a:lnTo>
                  <a:close/>
                </a:path>
              </a:pathLst>
            </a:custGeom>
            <a:solidFill>
              <a:srgbClr val="A2D078"/>
            </a:solidFill>
            <a:ln w="19050" cap="sq">
              <a:solidFill>
                <a:srgbClr val="011FBB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71969" cy="2578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55886" y="9608891"/>
            <a:ext cx="17070114" cy="321159"/>
            <a:chOff x="0" y="0"/>
            <a:chExt cx="4495833" cy="8458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495833" cy="84585"/>
            </a:xfrm>
            <a:custGeom>
              <a:avLst/>
              <a:gdLst/>
              <a:ahLst/>
              <a:cxnLst/>
              <a:rect l="l" t="t" r="r" b="b"/>
              <a:pathLst>
                <a:path w="4495833" h="84585">
                  <a:moveTo>
                    <a:pt x="0" y="0"/>
                  </a:moveTo>
                  <a:lnTo>
                    <a:pt x="4495833" y="0"/>
                  </a:lnTo>
                  <a:lnTo>
                    <a:pt x="4495833" y="84585"/>
                  </a:lnTo>
                  <a:lnTo>
                    <a:pt x="0" y="84585"/>
                  </a:lnTo>
                  <a:close/>
                </a:path>
              </a:pathLst>
            </a:custGeom>
            <a:solidFill>
              <a:srgbClr val="FCCC38"/>
            </a:solidFill>
            <a:ln w="19050" cap="sq">
              <a:solidFill>
                <a:srgbClr val="011FBB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4495833" cy="1417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11" name="Freeform 11"/>
          <p:cNvSpPr/>
          <p:nvPr/>
        </p:nvSpPr>
        <p:spPr>
          <a:xfrm>
            <a:off x="732640" y="2094730"/>
            <a:ext cx="443351" cy="450605"/>
          </a:xfrm>
          <a:custGeom>
            <a:avLst/>
            <a:gdLst/>
            <a:ahLst/>
            <a:cxnLst/>
            <a:rect l="l" t="t" r="r" b="b"/>
            <a:pathLst>
              <a:path w="443351" h="450605">
                <a:moveTo>
                  <a:pt x="0" y="0"/>
                </a:moveTo>
                <a:lnTo>
                  <a:pt x="443350" y="0"/>
                </a:lnTo>
                <a:lnTo>
                  <a:pt x="443350" y="450606"/>
                </a:lnTo>
                <a:lnTo>
                  <a:pt x="0" y="45060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732640" y="3107311"/>
            <a:ext cx="443351" cy="450605"/>
          </a:xfrm>
          <a:custGeom>
            <a:avLst/>
            <a:gdLst/>
            <a:ahLst/>
            <a:cxnLst/>
            <a:rect l="l" t="t" r="r" b="b"/>
            <a:pathLst>
              <a:path w="443351" h="450605">
                <a:moveTo>
                  <a:pt x="0" y="0"/>
                </a:moveTo>
                <a:lnTo>
                  <a:pt x="443350" y="0"/>
                </a:lnTo>
                <a:lnTo>
                  <a:pt x="443350" y="450605"/>
                </a:lnTo>
                <a:lnTo>
                  <a:pt x="0" y="450605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028700" y="4119891"/>
            <a:ext cx="16230600" cy="5295233"/>
          </a:xfrm>
          <a:custGeom>
            <a:avLst/>
            <a:gdLst/>
            <a:ahLst/>
            <a:cxnLst/>
            <a:rect l="l" t="t" r="r" b="b"/>
            <a:pathLst>
              <a:path w="16230600" h="5295233">
                <a:moveTo>
                  <a:pt x="0" y="0"/>
                </a:moveTo>
                <a:lnTo>
                  <a:pt x="16230600" y="0"/>
                </a:lnTo>
                <a:lnTo>
                  <a:pt x="16230600" y="5295233"/>
                </a:lnTo>
                <a:lnTo>
                  <a:pt x="0" y="52952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675490" y="333202"/>
            <a:ext cx="11988134" cy="12366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540"/>
              </a:lnSpc>
              <a:spcBef>
                <a:spcPct val="0"/>
              </a:spcBef>
            </a:pPr>
            <a:r>
              <a:rPr lang="en-US" sz="6815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Paid ads </a:t>
            </a:r>
            <a:endParaRPr lang="en-US" sz="6815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336520" y="2018530"/>
            <a:ext cx="16189480" cy="1545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Click -&gt; Campaign -&gt; Ads</a:t>
            </a:r>
            <a:endParaRPr lang="en-US" sz="29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4060"/>
              </a:lnSpc>
            </a:pPr>
            <a:endParaRPr lang="en-US" sz="29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Auction &gt; Reservation</a:t>
            </a:r>
            <a:endParaRPr lang="en-US" sz="29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68769" y="356951"/>
            <a:ext cx="17057231" cy="9573098"/>
            <a:chOff x="0" y="0"/>
            <a:chExt cx="4492439" cy="252131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492439" cy="2521310"/>
            </a:xfrm>
            <a:custGeom>
              <a:avLst/>
              <a:gdLst/>
              <a:ahLst/>
              <a:cxnLst/>
              <a:rect l="l" t="t" r="r" b="b"/>
              <a:pathLst>
                <a:path w="4492439" h="2521310">
                  <a:moveTo>
                    <a:pt x="0" y="0"/>
                  </a:moveTo>
                  <a:lnTo>
                    <a:pt x="4492439" y="0"/>
                  </a:lnTo>
                  <a:lnTo>
                    <a:pt x="4492439" y="2521310"/>
                  </a:lnTo>
                  <a:lnTo>
                    <a:pt x="0" y="252131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11FBB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492439" cy="2578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7526000" y="356951"/>
            <a:ext cx="273257" cy="9573098"/>
            <a:chOff x="0" y="0"/>
            <a:chExt cx="71969" cy="252131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1969" cy="2521310"/>
            </a:xfrm>
            <a:custGeom>
              <a:avLst/>
              <a:gdLst/>
              <a:ahLst/>
              <a:cxnLst/>
              <a:rect l="l" t="t" r="r" b="b"/>
              <a:pathLst>
                <a:path w="71969" h="2521310">
                  <a:moveTo>
                    <a:pt x="0" y="0"/>
                  </a:moveTo>
                  <a:lnTo>
                    <a:pt x="71969" y="0"/>
                  </a:lnTo>
                  <a:lnTo>
                    <a:pt x="71969" y="2521310"/>
                  </a:lnTo>
                  <a:lnTo>
                    <a:pt x="0" y="2521310"/>
                  </a:lnTo>
                  <a:close/>
                </a:path>
              </a:pathLst>
            </a:custGeom>
            <a:solidFill>
              <a:srgbClr val="A2D078"/>
            </a:solidFill>
            <a:ln w="19050" cap="sq">
              <a:solidFill>
                <a:srgbClr val="011FBB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71969" cy="2578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55886" y="9608891"/>
            <a:ext cx="17070114" cy="321159"/>
            <a:chOff x="0" y="0"/>
            <a:chExt cx="4495833" cy="8458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495833" cy="84585"/>
            </a:xfrm>
            <a:custGeom>
              <a:avLst/>
              <a:gdLst/>
              <a:ahLst/>
              <a:cxnLst/>
              <a:rect l="l" t="t" r="r" b="b"/>
              <a:pathLst>
                <a:path w="4495833" h="84585">
                  <a:moveTo>
                    <a:pt x="0" y="0"/>
                  </a:moveTo>
                  <a:lnTo>
                    <a:pt x="4495833" y="0"/>
                  </a:lnTo>
                  <a:lnTo>
                    <a:pt x="4495833" y="84585"/>
                  </a:lnTo>
                  <a:lnTo>
                    <a:pt x="0" y="84585"/>
                  </a:lnTo>
                  <a:close/>
                </a:path>
              </a:pathLst>
            </a:custGeom>
            <a:solidFill>
              <a:srgbClr val="FCCC38"/>
            </a:solidFill>
            <a:ln w="19050" cap="sq">
              <a:solidFill>
                <a:srgbClr val="011FBB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4495833" cy="1417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11" name="Freeform 11"/>
          <p:cNvSpPr/>
          <p:nvPr/>
        </p:nvSpPr>
        <p:spPr>
          <a:xfrm>
            <a:off x="1028700" y="2006544"/>
            <a:ext cx="16230600" cy="4605433"/>
          </a:xfrm>
          <a:custGeom>
            <a:avLst/>
            <a:gdLst/>
            <a:ahLst/>
            <a:cxnLst/>
            <a:rect l="l" t="t" r="r" b="b"/>
            <a:pathLst>
              <a:path w="16230600" h="4605433">
                <a:moveTo>
                  <a:pt x="0" y="0"/>
                </a:moveTo>
                <a:lnTo>
                  <a:pt x="16230600" y="0"/>
                </a:lnTo>
                <a:lnTo>
                  <a:pt x="16230600" y="4605433"/>
                </a:lnTo>
                <a:lnTo>
                  <a:pt x="0" y="4605433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675490" y="333202"/>
            <a:ext cx="11988134" cy="12366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540"/>
              </a:lnSpc>
              <a:spcBef>
                <a:spcPct val="0"/>
              </a:spcBef>
            </a:pPr>
            <a:r>
              <a:rPr lang="en-US" sz="6815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Paid ads </a:t>
            </a:r>
            <a:endParaRPr lang="en-US" sz="6815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68769" y="356951"/>
            <a:ext cx="17057231" cy="9573098"/>
            <a:chOff x="0" y="0"/>
            <a:chExt cx="4492439" cy="252131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492439" cy="2521310"/>
            </a:xfrm>
            <a:custGeom>
              <a:avLst/>
              <a:gdLst/>
              <a:ahLst/>
              <a:cxnLst/>
              <a:rect l="l" t="t" r="r" b="b"/>
              <a:pathLst>
                <a:path w="4492439" h="2521310">
                  <a:moveTo>
                    <a:pt x="0" y="0"/>
                  </a:moveTo>
                  <a:lnTo>
                    <a:pt x="4492439" y="0"/>
                  </a:lnTo>
                  <a:lnTo>
                    <a:pt x="4492439" y="2521310"/>
                  </a:lnTo>
                  <a:lnTo>
                    <a:pt x="0" y="252131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11FBB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492439" cy="2578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7526000" y="356951"/>
            <a:ext cx="273257" cy="9573098"/>
            <a:chOff x="0" y="0"/>
            <a:chExt cx="71969" cy="252131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1969" cy="2521310"/>
            </a:xfrm>
            <a:custGeom>
              <a:avLst/>
              <a:gdLst/>
              <a:ahLst/>
              <a:cxnLst/>
              <a:rect l="l" t="t" r="r" b="b"/>
              <a:pathLst>
                <a:path w="71969" h="2521310">
                  <a:moveTo>
                    <a:pt x="0" y="0"/>
                  </a:moveTo>
                  <a:lnTo>
                    <a:pt x="71969" y="0"/>
                  </a:lnTo>
                  <a:lnTo>
                    <a:pt x="71969" y="2521310"/>
                  </a:lnTo>
                  <a:lnTo>
                    <a:pt x="0" y="2521310"/>
                  </a:lnTo>
                  <a:close/>
                </a:path>
              </a:pathLst>
            </a:custGeom>
            <a:solidFill>
              <a:srgbClr val="A2D078"/>
            </a:solidFill>
            <a:ln w="19050" cap="sq">
              <a:solidFill>
                <a:srgbClr val="011FBB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71969" cy="2578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55886" y="9608891"/>
            <a:ext cx="17070114" cy="321159"/>
            <a:chOff x="0" y="0"/>
            <a:chExt cx="4495833" cy="8458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495833" cy="84585"/>
            </a:xfrm>
            <a:custGeom>
              <a:avLst/>
              <a:gdLst/>
              <a:ahLst/>
              <a:cxnLst/>
              <a:rect l="l" t="t" r="r" b="b"/>
              <a:pathLst>
                <a:path w="4495833" h="84585">
                  <a:moveTo>
                    <a:pt x="0" y="0"/>
                  </a:moveTo>
                  <a:lnTo>
                    <a:pt x="4495833" y="0"/>
                  </a:lnTo>
                  <a:lnTo>
                    <a:pt x="4495833" y="84585"/>
                  </a:lnTo>
                  <a:lnTo>
                    <a:pt x="0" y="84585"/>
                  </a:lnTo>
                  <a:close/>
                </a:path>
              </a:pathLst>
            </a:custGeom>
            <a:solidFill>
              <a:srgbClr val="FCCC38"/>
            </a:solidFill>
            <a:ln w="19050" cap="sq">
              <a:solidFill>
                <a:srgbClr val="011FBB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4495833" cy="1417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11" name="Freeform 11"/>
          <p:cNvSpPr/>
          <p:nvPr/>
        </p:nvSpPr>
        <p:spPr>
          <a:xfrm>
            <a:off x="807025" y="2603428"/>
            <a:ext cx="443351" cy="450605"/>
          </a:xfrm>
          <a:custGeom>
            <a:avLst/>
            <a:gdLst/>
            <a:ahLst/>
            <a:cxnLst/>
            <a:rect l="l" t="t" r="r" b="b"/>
            <a:pathLst>
              <a:path w="443351" h="450605">
                <a:moveTo>
                  <a:pt x="0" y="0"/>
                </a:moveTo>
                <a:lnTo>
                  <a:pt x="443350" y="0"/>
                </a:lnTo>
                <a:lnTo>
                  <a:pt x="443350" y="450605"/>
                </a:lnTo>
                <a:lnTo>
                  <a:pt x="0" y="450605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807025" y="3707386"/>
            <a:ext cx="443351" cy="450605"/>
          </a:xfrm>
          <a:custGeom>
            <a:avLst/>
            <a:gdLst/>
            <a:ahLst/>
            <a:cxnLst/>
            <a:rect l="l" t="t" r="r" b="b"/>
            <a:pathLst>
              <a:path w="443351" h="450605">
                <a:moveTo>
                  <a:pt x="0" y="0"/>
                </a:moveTo>
                <a:lnTo>
                  <a:pt x="443350" y="0"/>
                </a:lnTo>
                <a:lnTo>
                  <a:pt x="443350" y="450605"/>
                </a:lnTo>
                <a:lnTo>
                  <a:pt x="0" y="450605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336520" y="2018530"/>
            <a:ext cx="6749969" cy="6175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Best for:</a:t>
            </a:r>
            <a:endParaRPr lang="en-US" sz="29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Businesses selling multiple products</a:t>
            </a:r>
            <a:endParaRPr lang="en-US" sz="29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4060"/>
              </a:lnSpc>
            </a:pPr>
            <a:endParaRPr lang="en-US" sz="29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Those with a product catalog in Meta Commerce Manager</a:t>
            </a:r>
            <a:endParaRPr lang="en-US" sz="29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4060"/>
              </a:lnSpc>
            </a:pPr>
            <a:endParaRPr lang="en-US" sz="29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Websites with Meta Pixel or Conversions API installed</a:t>
            </a:r>
            <a:endParaRPr lang="en-US" sz="29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4060"/>
              </a:lnSpc>
            </a:pPr>
            <a:endParaRPr lang="en-US" sz="29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Brands wanting automated retargeting and personalized product ads</a:t>
            </a:r>
            <a:endParaRPr lang="en-US" sz="29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14" name="Freeform 14"/>
          <p:cNvSpPr/>
          <p:nvPr/>
        </p:nvSpPr>
        <p:spPr>
          <a:xfrm>
            <a:off x="7349413" y="583917"/>
            <a:ext cx="9984233" cy="1971886"/>
          </a:xfrm>
          <a:custGeom>
            <a:avLst/>
            <a:gdLst/>
            <a:ahLst/>
            <a:cxnLst/>
            <a:rect l="l" t="t" r="r" b="b"/>
            <a:pathLst>
              <a:path w="9984233" h="1971886">
                <a:moveTo>
                  <a:pt x="0" y="0"/>
                </a:moveTo>
                <a:lnTo>
                  <a:pt x="9984233" y="0"/>
                </a:lnTo>
                <a:lnTo>
                  <a:pt x="9984233" y="1971886"/>
                </a:lnTo>
                <a:lnTo>
                  <a:pt x="0" y="19718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675490" y="333202"/>
            <a:ext cx="11988134" cy="12366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540"/>
              </a:lnSpc>
              <a:spcBef>
                <a:spcPct val="0"/>
              </a:spcBef>
            </a:pPr>
            <a:r>
              <a:rPr lang="en-US" sz="6815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Paid ads </a:t>
            </a:r>
            <a:endParaRPr lang="en-US" sz="6815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336520" y="8347631"/>
            <a:ext cx="9838781" cy="10313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Not needed if you have 1–2 products/services or don’t have a product catalog set up.</a:t>
            </a:r>
            <a:endParaRPr lang="en-US" sz="2900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18" name="Freeform 18"/>
          <p:cNvSpPr/>
          <p:nvPr/>
        </p:nvSpPr>
        <p:spPr>
          <a:xfrm>
            <a:off x="807025" y="5196216"/>
            <a:ext cx="443351" cy="450605"/>
          </a:xfrm>
          <a:custGeom>
            <a:avLst/>
            <a:gdLst/>
            <a:ahLst/>
            <a:cxnLst/>
            <a:rect l="l" t="t" r="r" b="b"/>
            <a:pathLst>
              <a:path w="443351" h="450605">
                <a:moveTo>
                  <a:pt x="0" y="0"/>
                </a:moveTo>
                <a:lnTo>
                  <a:pt x="443350" y="0"/>
                </a:lnTo>
                <a:lnTo>
                  <a:pt x="443350" y="450605"/>
                </a:lnTo>
                <a:lnTo>
                  <a:pt x="0" y="450605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807025" y="6742196"/>
            <a:ext cx="443351" cy="450605"/>
          </a:xfrm>
          <a:custGeom>
            <a:avLst/>
            <a:gdLst/>
            <a:ahLst/>
            <a:cxnLst/>
            <a:rect l="l" t="t" r="r" b="b"/>
            <a:pathLst>
              <a:path w="443351" h="450605">
                <a:moveTo>
                  <a:pt x="0" y="0"/>
                </a:moveTo>
                <a:lnTo>
                  <a:pt x="443350" y="0"/>
                </a:lnTo>
                <a:lnTo>
                  <a:pt x="443350" y="450606"/>
                </a:lnTo>
                <a:lnTo>
                  <a:pt x="0" y="45060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807025" y="8450800"/>
            <a:ext cx="443351" cy="450605"/>
          </a:xfrm>
          <a:custGeom>
            <a:avLst/>
            <a:gdLst/>
            <a:ahLst/>
            <a:cxnLst/>
            <a:rect l="l" t="t" r="r" b="b"/>
            <a:pathLst>
              <a:path w="443351" h="450605">
                <a:moveTo>
                  <a:pt x="0" y="0"/>
                </a:moveTo>
                <a:lnTo>
                  <a:pt x="443350" y="0"/>
                </a:lnTo>
                <a:lnTo>
                  <a:pt x="443350" y="450605"/>
                </a:lnTo>
                <a:lnTo>
                  <a:pt x="0" y="450605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8350457" y="3356084"/>
          <a:ext cx="8229600" cy="421005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6667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</a:rPr>
                        <a:t>Criteria</a:t>
                      </a:r>
                      <a:endParaRPr lang="en-US" sz="2400" dirty="0">
                        <a:effectLst/>
                      </a:endParaRPr>
                    </a:p>
                  </a:txBody>
                  <a:tcPr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</a:rPr>
                        <a:t>Campaigns</a:t>
                      </a:r>
                      <a:endParaRPr lang="en-US" sz="2400">
                        <a:effectLst/>
                      </a:endParaRPr>
                    </a:p>
                  </a:txBody>
                  <a:tcPr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811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</a:rPr>
                        <a:t>Only1-2 services/items</a:t>
                      </a:r>
                      <a:endParaRPr lang="en-US" sz="2400" dirty="0">
                        <a:effectLst/>
                      </a:endParaRPr>
                    </a:p>
                  </a:txBody>
                  <a:tcPr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</a:rPr>
                        <a:t>Sales or Leads</a:t>
                      </a:r>
                      <a:endParaRPr lang="en-US" sz="2400">
                        <a:effectLst/>
                      </a:endParaRPr>
                    </a:p>
                  </a:txBody>
                  <a:tcPr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811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</a:rPr>
                        <a:t>No website/product catalog</a:t>
                      </a:r>
                      <a:endParaRPr lang="en-US" sz="2400">
                        <a:effectLst/>
                      </a:endParaRPr>
                    </a:p>
                  </a:txBody>
                  <a:tcPr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</a:rPr>
                        <a:t>Traffic or Engagement</a:t>
                      </a:r>
                      <a:endParaRPr lang="en-US" sz="2400" dirty="0">
                        <a:effectLst/>
                      </a:endParaRPr>
                    </a:p>
                  </a:txBody>
                  <a:tcPr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811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</a:rPr>
                        <a:t>Testing early-stage ad ideas</a:t>
                      </a:r>
                      <a:endParaRPr lang="en-US" sz="2400">
                        <a:effectLst/>
                      </a:endParaRPr>
                    </a:p>
                  </a:txBody>
                  <a:tcPr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</a:rPr>
                        <a:t>Simpler</a:t>
                      </a:r>
                      <a:endParaRPr lang="en-US" sz="2400" dirty="0">
                        <a:effectLst/>
                      </a:endParaRPr>
                    </a:p>
                  </a:txBody>
                  <a:tcPr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Rectangle 1"/>
          <p:cNvSpPr>
            <a:spLocks noChangeArrowheads="1"/>
          </p:cNvSpPr>
          <p:nvPr/>
        </p:nvSpPr>
        <p:spPr bwMode="auto">
          <a:xfrm>
            <a:off x="457200" y="1757363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68769" y="356951"/>
            <a:ext cx="17057231" cy="9573098"/>
            <a:chOff x="0" y="0"/>
            <a:chExt cx="4492439" cy="252131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492439" cy="2521310"/>
            </a:xfrm>
            <a:custGeom>
              <a:avLst/>
              <a:gdLst/>
              <a:ahLst/>
              <a:cxnLst/>
              <a:rect l="l" t="t" r="r" b="b"/>
              <a:pathLst>
                <a:path w="4492439" h="2521310">
                  <a:moveTo>
                    <a:pt x="0" y="0"/>
                  </a:moveTo>
                  <a:lnTo>
                    <a:pt x="4492439" y="0"/>
                  </a:lnTo>
                  <a:lnTo>
                    <a:pt x="4492439" y="2521310"/>
                  </a:lnTo>
                  <a:lnTo>
                    <a:pt x="0" y="252131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11FBB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492439" cy="2578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7526000" y="356951"/>
            <a:ext cx="273257" cy="9573098"/>
            <a:chOff x="0" y="0"/>
            <a:chExt cx="71969" cy="252131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1969" cy="2521310"/>
            </a:xfrm>
            <a:custGeom>
              <a:avLst/>
              <a:gdLst/>
              <a:ahLst/>
              <a:cxnLst/>
              <a:rect l="l" t="t" r="r" b="b"/>
              <a:pathLst>
                <a:path w="71969" h="2521310">
                  <a:moveTo>
                    <a:pt x="0" y="0"/>
                  </a:moveTo>
                  <a:lnTo>
                    <a:pt x="71969" y="0"/>
                  </a:lnTo>
                  <a:lnTo>
                    <a:pt x="71969" y="2521310"/>
                  </a:lnTo>
                  <a:lnTo>
                    <a:pt x="0" y="2521310"/>
                  </a:lnTo>
                  <a:close/>
                </a:path>
              </a:pathLst>
            </a:custGeom>
            <a:solidFill>
              <a:srgbClr val="A2D078"/>
            </a:solidFill>
            <a:ln w="19050" cap="sq">
              <a:solidFill>
                <a:srgbClr val="011FBB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71969" cy="2578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55886" y="9608891"/>
            <a:ext cx="17070114" cy="321159"/>
            <a:chOff x="0" y="0"/>
            <a:chExt cx="4495833" cy="8458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495833" cy="84585"/>
            </a:xfrm>
            <a:custGeom>
              <a:avLst/>
              <a:gdLst/>
              <a:ahLst/>
              <a:cxnLst/>
              <a:rect l="l" t="t" r="r" b="b"/>
              <a:pathLst>
                <a:path w="4495833" h="84585">
                  <a:moveTo>
                    <a:pt x="0" y="0"/>
                  </a:moveTo>
                  <a:lnTo>
                    <a:pt x="4495833" y="0"/>
                  </a:lnTo>
                  <a:lnTo>
                    <a:pt x="4495833" y="84585"/>
                  </a:lnTo>
                  <a:lnTo>
                    <a:pt x="0" y="84585"/>
                  </a:lnTo>
                  <a:close/>
                </a:path>
              </a:pathLst>
            </a:custGeom>
            <a:solidFill>
              <a:srgbClr val="FCCC38"/>
            </a:solidFill>
            <a:ln w="19050" cap="sq">
              <a:solidFill>
                <a:srgbClr val="011FBB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4495833" cy="1417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11" name="Freeform 11"/>
          <p:cNvSpPr/>
          <p:nvPr/>
        </p:nvSpPr>
        <p:spPr>
          <a:xfrm>
            <a:off x="675490" y="1877033"/>
            <a:ext cx="7797546" cy="6004110"/>
          </a:xfrm>
          <a:custGeom>
            <a:avLst/>
            <a:gdLst/>
            <a:ahLst/>
            <a:cxnLst/>
            <a:rect l="l" t="t" r="r" b="b"/>
            <a:pathLst>
              <a:path w="7797546" h="6004110">
                <a:moveTo>
                  <a:pt x="0" y="0"/>
                </a:moveTo>
                <a:lnTo>
                  <a:pt x="7797546" y="0"/>
                </a:lnTo>
                <a:lnTo>
                  <a:pt x="7797546" y="6004110"/>
                </a:lnTo>
                <a:lnTo>
                  <a:pt x="0" y="600411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9370805" y="1877033"/>
            <a:ext cx="7257425" cy="6123452"/>
          </a:xfrm>
          <a:custGeom>
            <a:avLst/>
            <a:gdLst/>
            <a:ahLst/>
            <a:cxnLst/>
            <a:rect l="l" t="t" r="r" b="b"/>
            <a:pathLst>
              <a:path w="7257425" h="6123452">
                <a:moveTo>
                  <a:pt x="0" y="0"/>
                </a:moveTo>
                <a:lnTo>
                  <a:pt x="7257425" y="0"/>
                </a:lnTo>
                <a:lnTo>
                  <a:pt x="7257425" y="6123452"/>
                </a:lnTo>
                <a:lnTo>
                  <a:pt x="0" y="61234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675490" y="333202"/>
            <a:ext cx="11988134" cy="12366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540"/>
              </a:lnSpc>
              <a:spcBef>
                <a:spcPct val="0"/>
              </a:spcBef>
            </a:pPr>
            <a:r>
              <a:rPr lang="en-US" sz="6815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Paid ads </a:t>
            </a:r>
            <a:endParaRPr lang="en-US" sz="6815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68769" y="356951"/>
            <a:ext cx="17057231" cy="9573098"/>
            <a:chOff x="0" y="0"/>
            <a:chExt cx="4492439" cy="252131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492439" cy="2521310"/>
            </a:xfrm>
            <a:custGeom>
              <a:avLst/>
              <a:gdLst/>
              <a:ahLst/>
              <a:cxnLst/>
              <a:rect l="l" t="t" r="r" b="b"/>
              <a:pathLst>
                <a:path w="4492439" h="2521310">
                  <a:moveTo>
                    <a:pt x="0" y="0"/>
                  </a:moveTo>
                  <a:lnTo>
                    <a:pt x="4492439" y="0"/>
                  </a:lnTo>
                  <a:lnTo>
                    <a:pt x="4492439" y="2521310"/>
                  </a:lnTo>
                  <a:lnTo>
                    <a:pt x="0" y="252131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11FBB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492439" cy="2578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7526000" y="356951"/>
            <a:ext cx="273257" cy="9573098"/>
            <a:chOff x="0" y="0"/>
            <a:chExt cx="71969" cy="252131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1969" cy="2521310"/>
            </a:xfrm>
            <a:custGeom>
              <a:avLst/>
              <a:gdLst/>
              <a:ahLst/>
              <a:cxnLst/>
              <a:rect l="l" t="t" r="r" b="b"/>
              <a:pathLst>
                <a:path w="71969" h="2521310">
                  <a:moveTo>
                    <a:pt x="0" y="0"/>
                  </a:moveTo>
                  <a:lnTo>
                    <a:pt x="71969" y="0"/>
                  </a:lnTo>
                  <a:lnTo>
                    <a:pt x="71969" y="2521310"/>
                  </a:lnTo>
                  <a:lnTo>
                    <a:pt x="0" y="2521310"/>
                  </a:lnTo>
                  <a:close/>
                </a:path>
              </a:pathLst>
            </a:custGeom>
            <a:solidFill>
              <a:srgbClr val="A2D078"/>
            </a:solidFill>
            <a:ln w="19050" cap="sq">
              <a:solidFill>
                <a:srgbClr val="011FBB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71969" cy="2578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55886" y="9608891"/>
            <a:ext cx="17070114" cy="321159"/>
            <a:chOff x="0" y="0"/>
            <a:chExt cx="4495833" cy="8458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495833" cy="84585"/>
            </a:xfrm>
            <a:custGeom>
              <a:avLst/>
              <a:gdLst/>
              <a:ahLst/>
              <a:cxnLst/>
              <a:rect l="l" t="t" r="r" b="b"/>
              <a:pathLst>
                <a:path w="4495833" h="84585">
                  <a:moveTo>
                    <a:pt x="0" y="0"/>
                  </a:moveTo>
                  <a:lnTo>
                    <a:pt x="4495833" y="0"/>
                  </a:lnTo>
                  <a:lnTo>
                    <a:pt x="4495833" y="84585"/>
                  </a:lnTo>
                  <a:lnTo>
                    <a:pt x="0" y="84585"/>
                  </a:lnTo>
                  <a:close/>
                </a:path>
              </a:pathLst>
            </a:custGeom>
            <a:solidFill>
              <a:srgbClr val="FCCC38"/>
            </a:solidFill>
            <a:ln w="19050" cap="sq">
              <a:solidFill>
                <a:srgbClr val="011FBB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4495833" cy="1417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11" name="Freeform 11"/>
          <p:cNvSpPr/>
          <p:nvPr/>
        </p:nvSpPr>
        <p:spPr>
          <a:xfrm>
            <a:off x="3346755" y="2099223"/>
            <a:ext cx="11301259" cy="6088553"/>
          </a:xfrm>
          <a:custGeom>
            <a:avLst/>
            <a:gdLst/>
            <a:ahLst/>
            <a:cxnLst/>
            <a:rect l="l" t="t" r="r" b="b"/>
            <a:pathLst>
              <a:path w="11301259" h="6088553">
                <a:moveTo>
                  <a:pt x="0" y="0"/>
                </a:moveTo>
                <a:lnTo>
                  <a:pt x="11301259" y="0"/>
                </a:lnTo>
                <a:lnTo>
                  <a:pt x="11301259" y="6088554"/>
                </a:lnTo>
                <a:lnTo>
                  <a:pt x="0" y="6088554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675490" y="333202"/>
            <a:ext cx="11988134" cy="12366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540"/>
              </a:lnSpc>
              <a:spcBef>
                <a:spcPct val="0"/>
              </a:spcBef>
            </a:pPr>
            <a:r>
              <a:rPr lang="en-US" sz="6815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Paid ads </a:t>
            </a:r>
            <a:endParaRPr lang="en-US" sz="6815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68769" y="356951"/>
            <a:ext cx="17057231" cy="9573098"/>
            <a:chOff x="0" y="0"/>
            <a:chExt cx="4492439" cy="252131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492439" cy="2521310"/>
            </a:xfrm>
            <a:custGeom>
              <a:avLst/>
              <a:gdLst/>
              <a:ahLst/>
              <a:cxnLst/>
              <a:rect l="l" t="t" r="r" b="b"/>
              <a:pathLst>
                <a:path w="4492439" h="2521310">
                  <a:moveTo>
                    <a:pt x="0" y="0"/>
                  </a:moveTo>
                  <a:lnTo>
                    <a:pt x="4492439" y="0"/>
                  </a:lnTo>
                  <a:lnTo>
                    <a:pt x="4492439" y="2521310"/>
                  </a:lnTo>
                  <a:lnTo>
                    <a:pt x="0" y="252131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11FBB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492439" cy="2578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7526000" y="356951"/>
            <a:ext cx="273257" cy="9573098"/>
            <a:chOff x="0" y="0"/>
            <a:chExt cx="71969" cy="252131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1969" cy="2521310"/>
            </a:xfrm>
            <a:custGeom>
              <a:avLst/>
              <a:gdLst/>
              <a:ahLst/>
              <a:cxnLst/>
              <a:rect l="l" t="t" r="r" b="b"/>
              <a:pathLst>
                <a:path w="71969" h="2521310">
                  <a:moveTo>
                    <a:pt x="0" y="0"/>
                  </a:moveTo>
                  <a:lnTo>
                    <a:pt x="71969" y="0"/>
                  </a:lnTo>
                  <a:lnTo>
                    <a:pt x="71969" y="2521310"/>
                  </a:lnTo>
                  <a:lnTo>
                    <a:pt x="0" y="2521310"/>
                  </a:lnTo>
                  <a:close/>
                </a:path>
              </a:pathLst>
            </a:custGeom>
            <a:solidFill>
              <a:srgbClr val="A2D078"/>
            </a:solidFill>
            <a:ln w="19050" cap="sq">
              <a:solidFill>
                <a:srgbClr val="011FBB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71969" cy="2578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55886" y="9608891"/>
            <a:ext cx="17070114" cy="321159"/>
            <a:chOff x="0" y="0"/>
            <a:chExt cx="4495833" cy="8458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495833" cy="84585"/>
            </a:xfrm>
            <a:custGeom>
              <a:avLst/>
              <a:gdLst/>
              <a:ahLst/>
              <a:cxnLst/>
              <a:rect l="l" t="t" r="r" b="b"/>
              <a:pathLst>
                <a:path w="4495833" h="84585">
                  <a:moveTo>
                    <a:pt x="0" y="0"/>
                  </a:moveTo>
                  <a:lnTo>
                    <a:pt x="4495833" y="0"/>
                  </a:lnTo>
                  <a:lnTo>
                    <a:pt x="4495833" y="84585"/>
                  </a:lnTo>
                  <a:lnTo>
                    <a:pt x="0" y="84585"/>
                  </a:lnTo>
                  <a:close/>
                </a:path>
              </a:pathLst>
            </a:custGeom>
            <a:solidFill>
              <a:srgbClr val="FCCC38"/>
            </a:solidFill>
            <a:ln w="19050" cap="sq">
              <a:solidFill>
                <a:srgbClr val="011FBB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4495833" cy="1417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11" name="Freeform 11"/>
          <p:cNvSpPr/>
          <p:nvPr/>
        </p:nvSpPr>
        <p:spPr>
          <a:xfrm>
            <a:off x="807025" y="2094730"/>
            <a:ext cx="443351" cy="450605"/>
          </a:xfrm>
          <a:custGeom>
            <a:avLst/>
            <a:gdLst/>
            <a:ahLst/>
            <a:cxnLst/>
            <a:rect l="l" t="t" r="r" b="b"/>
            <a:pathLst>
              <a:path w="443351" h="450605">
                <a:moveTo>
                  <a:pt x="0" y="0"/>
                </a:moveTo>
                <a:lnTo>
                  <a:pt x="443350" y="0"/>
                </a:lnTo>
                <a:lnTo>
                  <a:pt x="443350" y="450606"/>
                </a:lnTo>
                <a:lnTo>
                  <a:pt x="0" y="45060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807025" y="3099238"/>
            <a:ext cx="443351" cy="450605"/>
          </a:xfrm>
          <a:custGeom>
            <a:avLst/>
            <a:gdLst/>
            <a:ahLst/>
            <a:cxnLst/>
            <a:rect l="l" t="t" r="r" b="b"/>
            <a:pathLst>
              <a:path w="443351" h="450605">
                <a:moveTo>
                  <a:pt x="0" y="0"/>
                </a:moveTo>
                <a:lnTo>
                  <a:pt x="443350" y="0"/>
                </a:lnTo>
                <a:lnTo>
                  <a:pt x="443350" y="450605"/>
                </a:lnTo>
                <a:lnTo>
                  <a:pt x="0" y="450605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336520" y="2018530"/>
            <a:ext cx="7803821" cy="6175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Performance goals: </a:t>
            </a:r>
            <a:endParaRPr lang="en-US" sz="29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4060"/>
              </a:lnSpc>
            </a:pPr>
            <a:endParaRPr lang="en-US" sz="29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If your goal is “link clicks”, Meta will show your ad to people who often click on ads</a:t>
            </a:r>
            <a:endParaRPr lang="en-US" sz="29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4060"/>
              </a:lnSpc>
            </a:pPr>
            <a:endParaRPr lang="en-US" sz="29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Purpose</a:t>
            </a:r>
            <a:endParaRPr lang="en-US" sz="29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Removes ambiguity about what you want and make a realistic budget plan</a:t>
            </a:r>
            <a:endParaRPr lang="en-US" sz="29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4060"/>
              </a:lnSpc>
            </a:pPr>
            <a:endParaRPr lang="en-US" sz="29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Some goals (like purchases) cost more than others (like clicks).</a:t>
            </a:r>
            <a:endParaRPr lang="en-US" sz="29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4060"/>
              </a:lnSpc>
              <a:spcBef>
                <a:spcPct val="0"/>
              </a:spcBef>
            </a:pPr>
            <a:endParaRPr lang="en-US" sz="29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807025" y="629472"/>
            <a:ext cx="11988134" cy="12366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540"/>
              </a:lnSpc>
              <a:spcBef>
                <a:spcPct val="0"/>
              </a:spcBef>
            </a:pPr>
            <a:r>
              <a:rPr lang="en-US" sz="6815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Paid ads </a:t>
            </a:r>
            <a:endParaRPr lang="en-US" sz="6815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15" name="Freeform 15"/>
          <p:cNvSpPr/>
          <p:nvPr/>
        </p:nvSpPr>
        <p:spPr>
          <a:xfrm>
            <a:off x="807025" y="5143500"/>
            <a:ext cx="443351" cy="450605"/>
          </a:xfrm>
          <a:custGeom>
            <a:avLst/>
            <a:gdLst/>
            <a:ahLst/>
            <a:cxnLst/>
            <a:rect l="l" t="t" r="r" b="b"/>
            <a:pathLst>
              <a:path w="443351" h="450605">
                <a:moveTo>
                  <a:pt x="0" y="0"/>
                </a:moveTo>
                <a:lnTo>
                  <a:pt x="443350" y="0"/>
                </a:lnTo>
                <a:lnTo>
                  <a:pt x="443350" y="450605"/>
                </a:lnTo>
                <a:lnTo>
                  <a:pt x="0" y="450605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807025" y="6797150"/>
            <a:ext cx="443351" cy="450605"/>
          </a:xfrm>
          <a:custGeom>
            <a:avLst/>
            <a:gdLst/>
            <a:ahLst/>
            <a:cxnLst/>
            <a:rect l="l" t="t" r="r" b="b"/>
            <a:pathLst>
              <a:path w="443351" h="450605">
                <a:moveTo>
                  <a:pt x="0" y="0"/>
                </a:moveTo>
                <a:lnTo>
                  <a:pt x="443350" y="0"/>
                </a:lnTo>
                <a:lnTo>
                  <a:pt x="443350" y="450605"/>
                </a:lnTo>
                <a:lnTo>
                  <a:pt x="0" y="450605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10195411" y="2721791"/>
          <a:ext cx="5199496" cy="4525964"/>
        </p:xfrm>
        <a:graphic>
          <a:graphicData uri="http://schemas.openxmlformats.org/drawingml/2006/table">
            <a:tbl>
              <a:tblPr/>
              <a:tblGrid>
                <a:gridCol w="2599748"/>
                <a:gridCol w="2599748"/>
              </a:tblGrid>
              <a:tr h="5824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</a:rPr>
                        <a:t>Objective</a:t>
                      </a:r>
                      <a:endParaRPr lang="en-US" sz="1800">
                        <a:effectLst/>
                      </a:endParaRPr>
                    </a:p>
                  </a:txBody>
                  <a:tcPr marL="57772" marR="57772" marT="28886" marB="28886"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</a:rPr>
                        <a:t>Performance Goal</a:t>
                      </a:r>
                      <a:endParaRPr lang="en-US" sz="1800">
                        <a:effectLst/>
                      </a:endParaRPr>
                    </a:p>
                  </a:txBody>
                  <a:tcPr marL="57772" marR="57772" marT="28886" marB="28886"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068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</a:rPr>
                        <a:t>Get people to visit a website</a:t>
                      </a:r>
                      <a:endParaRPr lang="en-US" sz="1800">
                        <a:effectLst/>
                      </a:endParaRPr>
                    </a:p>
                  </a:txBody>
                  <a:tcPr marL="57772" marR="57772" marT="28886" marB="28886"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</a:rPr>
                        <a:t>Link Clicks</a:t>
                      </a:r>
                      <a:endParaRPr lang="en-US" sz="1800">
                        <a:effectLst/>
                      </a:endParaRPr>
                    </a:p>
                    <a:p>
                      <a:pPr algn="l" rtl="0"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</a:rPr>
                        <a:t>Landing Page Views</a:t>
                      </a:r>
                      <a:endParaRPr lang="en-US" sz="1800">
                        <a:effectLst/>
                      </a:endParaRPr>
                    </a:p>
                  </a:txBody>
                  <a:tcPr marL="57772" marR="57772" marT="28886" marB="28886"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068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effectLst/>
                        </a:rPr>
                        <a:t>Get more sales</a:t>
                      </a:r>
                      <a:endParaRPr lang="en-US" sz="1800" dirty="0">
                        <a:effectLst/>
                      </a:endParaRPr>
                    </a:p>
                  </a:txBody>
                  <a:tcPr marL="57772" marR="57772" marT="28886" marB="28886"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</a:rPr>
                        <a:t>Conversions</a:t>
                      </a:r>
                      <a:endParaRPr lang="en-US" sz="1800">
                        <a:effectLst/>
                      </a:endParaRPr>
                    </a:p>
                  </a:txBody>
                  <a:tcPr marL="57772" marR="57772" marT="28886" marB="28886"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24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</a:rPr>
                        <a:t>Get people to message</a:t>
                      </a:r>
                      <a:endParaRPr lang="en-US" sz="1800">
                        <a:effectLst/>
                      </a:endParaRPr>
                    </a:p>
                  </a:txBody>
                  <a:tcPr marL="57772" marR="57772" marT="28886" marB="28886"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</a:rPr>
                        <a:t>Conversations</a:t>
                      </a:r>
                      <a:endParaRPr lang="en-US" sz="1800">
                        <a:effectLst/>
                      </a:endParaRPr>
                    </a:p>
                  </a:txBody>
                  <a:tcPr marL="57772" marR="57772" marT="28886" marB="28886"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24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</a:rPr>
                        <a:t>Get video views</a:t>
                      </a:r>
                      <a:endParaRPr lang="en-US" sz="1800">
                        <a:effectLst/>
                      </a:endParaRPr>
                    </a:p>
                  </a:txBody>
                  <a:tcPr marL="57772" marR="57772" marT="28886" marB="28886"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</a:rPr>
                        <a:t>ThruPlay Views</a:t>
                      </a:r>
                      <a:endParaRPr lang="en-US" sz="1800">
                        <a:effectLst/>
                      </a:endParaRPr>
                    </a:p>
                  </a:txBody>
                  <a:tcPr marL="57772" marR="57772" marT="28886" marB="28886"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79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</a:rPr>
                        <a:t>Get calls</a:t>
                      </a:r>
                      <a:endParaRPr lang="en-US" sz="1800">
                        <a:effectLst/>
                      </a:endParaRPr>
                    </a:p>
                  </a:txBody>
                  <a:tcPr marL="57772" marR="57772" marT="28886" marB="28886"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</a:rPr>
                        <a:t>Calls</a:t>
                      </a:r>
                      <a:endParaRPr lang="en-US" sz="1800">
                        <a:effectLst/>
                      </a:endParaRPr>
                    </a:p>
                  </a:txBody>
                  <a:tcPr marL="57772" marR="57772" marT="28886" marB="28886"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068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</a:rPr>
                        <a:t>Get leads</a:t>
                      </a:r>
                      <a:endParaRPr lang="en-US" sz="1800">
                        <a:effectLst/>
                      </a:endParaRPr>
                    </a:p>
                  </a:txBody>
                  <a:tcPr marL="57772" marR="57772" marT="28886" marB="28886"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</a:rPr>
                        <a:t>Leads</a:t>
                      </a:r>
                      <a:endParaRPr lang="en-US" sz="1800" dirty="0">
                        <a:effectLst/>
                      </a:endParaRPr>
                    </a:p>
                    <a:p>
                      <a:pPr algn="l" rtl="0"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</a:rPr>
                        <a:t>Leads through Messaging</a:t>
                      </a:r>
                      <a:endParaRPr lang="en-US" sz="1800" dirty="0">
                        <a:effectLst/>
                      </a:endParaRPr>
                    </a:p>
                  </a:txBody>
                  <a:tcPr marL="57772" marR="57772" marT="28886" marB="28886"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Rectangle 1"/>
          <p:cNvSpPr>
            <a:spLocks noChangeArrowheads="1"/>
          </p:cNvSpPr>
          <p:nvPr/>
        </p:nvSpPr>
        <p:spPr bwMode="auto">
          <a:xfrm>
            <a:off x="1971675" y="16002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68769" y="356951"/>
            <a:ext cx="17057231" cy="9573098"/>
            <a:chOff x="0" y="0"/>
            <a:chExt cx="4492439" cy="252131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492439" cy="2521310"/>
            </a:xfrm>
            <a:custGeom>
              <a:avLst/>
              <a:gdLst/>
              <a:ahLst/>
              <a:cxnLst/>
              <a:rect l="l" t="t" r="r" b="b"/>
              <a:pathLst>
                <a:path w="4492439" h="2521310">
                  <a:moveTo>
                    <a:pt x="0" y="0"/>
                  </a:moveTo>
                  <a:lnTo>
                    <a:pt x="4492439" y="0"/>
                  </a:lnTo>
                  <a:lnTo>
                    <a:pt x="4492439" y="2521310"/>
                  </a:lnTo>
                  <a:lnTo>
                    <a:pt x="0" y="252131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11FBB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492439" cy="2578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7526000" y="356951"/>
            <a:ext cx="273257" cy="9573098"/>
            <a:chOff x="0" y="0"/>
            <a:chExt cx="71969" cy="252131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1969" cy="2521310"/>
            </a:xfrm>
            <a:custGeom>
              <a:avLst/>
              <a:gdLst/>
              <a:ahLst/>
              <a:cxnLst/>
              <a:rect l="l" t="t" r="r" b="b"/>
              <a:pathLst>
                <a:path w="71969" h="2521310">
                  <a:moveTo>
                    <a:pt x="0" y="0"/>
                  </a:moveTo>
                  <a:lnTo>
                    <a:pt x="71969" y="0"/>
                  </a:lnTo>
                  <a:lnTo>
                    <a:pt x="71969" y="2521310"/>
                  </a:lnTo>
                  <a:lnTo>
                    <a:pt x="0" y="2521310"/>
                  </a:lnTo>
                  <a:close/>
                </a:path>
              </a:pathLst>
            </a:custGeom>
            <a:solidFill>
              <a:srgbClr val="A2D078"/>
            </a:solidFill>
            <a:ln w="19050" cap="sq">
              <a:solidFill>
                <a:srgbClr val="011FBB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71969" cy="2578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55886" y="9608891"/>
            <a:ext cx="17070114" cy="321159"/>
            <a:chOff x="0" y="0"/>
            <a:chExt cx="4495833" cy="8458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495833" cy="84585"/>
            </a:xfrm>
            <a:custGeom>
              <a:avLst/>
              <a:gdLst/>
              <a:ahLst/>
              <a:cxnLst/>
              <a:rect l="l" t="t" r="r" b="b"/>
              <a:pathLst>
                <a:path w="4495833" h="84585">
                  <a:moveTo>
                    <a:pt x="0" y="0"/>
                  </a:moveTo>
                  <a:lnTo>
                    <a:pt x="4495833" y="0"/>
                  </a:lnTo>
                  <a:lnTo>
                    <a:pt x="4495833" y="84585"/>
                  </a:lnTo>
                  <a:lnTo>
                    <a:pt x="0" y="84585"/>
                  </a:lnTo>
                  <a:close/>
                </a:path>
              </a:pathLst>
            </a:custGeom>
            <a:solidFill>
              <a:srgbClr val="FCCC38"/>
            </a:solidFill>
            <a:ln w="19050" cap="sq">
              <a:solidFill>
                <a:srgbClr val="011FBB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4495833" cy="1417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11" name="Freeform 11"/>
          <p:cNvSpPr/>
          <p:nvPr/>
        </p:nvSpPr>
        <p:spPr>
          <a:xfrm>
            <a:off x="955190" y="3524865"/>
            <a:ext cx="7908987" cy="5981171"/>
          </a:xfrm>
          <a:custGeom>
            <a:avLst/>
            <a:gdLst/>
            <a:ahLst/>
            <a:cxnLst/>
            <a:rect l="l" t="t" r="r" b="b"/>
            <a:pathLst>
              <a:path w="7908987" h="5981171">
                <a:moveTo>
                  <a:pt x="0" y="0"/>
                </a:moveTo>
                <a:lnTo>
                  <a:pt x="7908987" y="0"/>
                </a:lnTo>
                <a:lnTo>
                  <a:pt x="7908987" y="5981172"/>
                </a:lnTo>
                <a:lnTo>
                  <a:pt x="0" y="5981172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9472172" y="780963"/>
            <a:ext cx="7787128" cy="8725073"/>
          </a:xfrm>
          <a:custGeom>
            <a:avLst/>
            <a:gdLst/>
            <a:ahLst/>
            <a:cxnLst/>
            <a:rect l="l" t="t" r="r" b="b"/>
            <a:pathLst>
              <a:path w="7787128" h="8725073">
                <a:moveTo>
                  <a:pt x="0" y="0"/>
                </a:moveTo>
                <a:lnTo>
                  <a:pt x="7787128" y="0"/>
                </a:lnTo>
                <a:lnTo>
                  <a:pt x="7787128" y="8725074"/>
                </a:lnTo>
                <a:lnTo>
                  <a:pt x="0" y="87250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675490" y="333202"/>
            <a:ext cx="11988134" cy="12366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540"/>
              </a:lnSpc>
              <a:spcBef>
                <a:spcPct val="0"/>
              </a:spcBef>
            </a:pPr>
            <a:r>
              <a:rPr lang="en-US" sz="6815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Paid ads </a:t>
            </a:r>
            <a:endParaRPr lang="en-US" sz="6815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176866" y="1855293"/>
            <a:ext cx="8638310" cy="13174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Look alike audience: Similar to your current audience</a:t>
            </a:r>
            <a:endParaRPr lang="en-US" sz="25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Increase chances of sales</a:t>
            </a:r>
            <a:endParaRPr lang="en-US" sz="25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Needs data to power this feature</a:t>
            </a:r>
            <a:endParaRPr lang="en-US" sz="25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15" name="Freeform 15"/>
          <p:cNvSpPr/>
          <p:nvPr/>
        </p:nvSpPr>
        <p:spPr>
          <a:xfrm>
            <a:off x="637390" y="1921968"/>
            <a:ext cx="443351" cy="450605"/>
          </a:xfrm>
          <a:custGeom>
            <a:avLst/>
            <a:gdLst/>
            <a:ahLst/>
            <a:cxnLst/>
            <a:rect l="l" t="t" r="r" b="b"/>
            <a:pathLst>
              <a:path w="443351" h="450605">
                <a:moveTo>
                  <a:pt x="0" y="0"/>
                </a:moveTo>
                <a:lnTo>
                  <a:pt x="443350" y="0"/>
                </a:lnTo>
                <a:lnTo>
                  <a:pt x="443350" y="450606"/>
                </a:lnTo>
                <a:lnTo>
                  <a:pt x="0" y="4506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68769" y="356951"/>
            <a:ext cx="17057231" cy="9573098"/>
            <a:chOff x="0" y="0"/>
            <a:chExt cx="4492439" cy="252131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492439" cy="2521310"/>
            </a:xfrm>
            <a:custGeom>
              <a:avLst/>
              <a:gdLst/>
              <a:ahLst/>
              <a:cxnLst/>
              <a:rect l="l" t="t" r="r" b="b"/>
              <a:pathLst>
                <a:path w="4492439" h="2521310">
                  <a:moveTo>
                    <a:pt x="0" y="0"/>
                  </a:moveTo>
                  <a:lnTo>
                    <a:pt x="4492439" y="0"/>
                  </a:lnTo>
                  <a:lnTo>
                    <a:pt x="4492439" y="2521310"/>
                  </a:lnTo>
                  <a:lnTo>
                    <a:pt x="0" y="252131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11FBB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492439" cy="2578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7526000" y="356951"/>
            <a:ext cx="273257" cy="9573098"/>
            <a:chOff x="0" y="0"/>
            <a:chExt cx="71969" cy="252131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1969" cy="2521310"/>
            </a:xfrm>
            <a:custGeom>
              <a:avLst/>
              <a:gdLst/>
              <a:ahLst/>
              <a:cxnLst/>
              <a:rect l="l" t="t" r="r" b="b"/>
              <a:pathLst>
                <a:path w="71969" h="2521310">
                  <a:moveTo>
                    <a:pt x="0" y="0"/>
                  </a:moveTo>
                  <a:lnTo>
                    <a:pt x="71969" y="0"/>
                  </a:lnTo>
                  <a:lnTo>
                    <a:pt x="71969" y="2521310"/>
                  </a:lnTo>
                  <a:lnTo>
                    <a:pt x="0" y="2521310"/>
                  </a:lnTo>
                  <a:close/>
                </a:path>
              </a:pathLst>
            </a:custGeom>
            <a:solidFill>
              <a:srgbClr val="A2D078"/>
            </a:solidFill>
            <a:ln w="19050" cap="sq">
              <a:solidFill>
                <a:srgbClr val="011FBB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71969" cy="2578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55886" y="9608891"/>
            <a:ext cx="17070114" cy="321159"/>
            <a:chOff x="0" y="0"/>
            <a:chExt cx="4495833" cy="8458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495833" cy="84585"/>
            </a:xfrm>
            <a:custGeom>
              <a:avLst/>
              <a:gdLst/>
              <a:ahLst/>
              <a:cxnLst/>
              <a:rect l="l" t="t" r="r" b="b"/>
              <a:pathLst>
                <a:path w="4495833" h="84585">
                  <a:moveTo>
                    <a:pt x="0" y="0"/>
                  </a:moveTo>
                  <a:lnTo>
                    <a:pt x="4495833" y="0"/>
                  </a:lnTo>
                  <a:lnTo>
                    <a:pt x="4495833" y="84585"/>
                  </a:lnTo>
                  <a:lnTo>
                    <a:pt x="0" y="84585"/>
                  </a:lnTo>
                  <a:close/>
                </a:path>
              </a:pathLst>
            </a:custGeom>
            <a:solidFill>
              <a:srgbClr val="FCCC38"/>
            </a:solidFill>
            <a:ln w="19050" cap="sq">
              <a:solidFill>
                <a:srgbClr val="011FBB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4495833" cy="1417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11" name="Freeform 11"/>
          <p:cNvSpPr/>
          <p:nvPr/>
        </p:nvSpPr>
        <p:spPr>
          <a:xfrm>
            <a:off x="807025" y="2094730"/>
            <a:ext cx="443351" cy="450605"/>
          </a:xfrm>
          <a:custGeom>
            <a:avLst/>
            <a:gdLst/>
            <a:ahLst/>
            <a:cxnLst/>
            <a:rect l="l" t="t" r="r" b="b"/>
            <a:pathLst>
              <a:path w="443351" h="450605">
                <a:moveTo>
                  <a:pt x="0" y="0"/>
                </a:moveTo>
                <a:lnTo>
                  <a:pt x="443350" y="0"/>
                </a:lnTo>
                <a:lnTo>
                  <a:pt x="443350" y="450606"/>
                </a:lnTo>
                <a:lnTo>
                  <a:pt x="0" y="45060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807025" y="3099238"/>
            <a:ext cx="443351" cy="450605"/>
          </a:xfrm>
          <a:custGeom>
            <a:avLst/>
            <a:gdLst/>
            <a:ahLst/>
            <a:cxnLst/>
            <a:rect l="l" t="t" r="r" b="b"/>
            <a:pathLst>
              <a:path w="443351" h="450605">
                <a:moveTo>
                  <a:pt x="0" y="0"/>
                </a:moveTo>
                <a:lnTo>
                  <a:pt x="443350" y="0"/>
                </a:lnTo>
                <a:lnTo>
                  <a:pt x="443350" y="450605"/>
                </a:lnTo>
                <a:lnTo>
                  <a:pt x="0" y="450605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336520" y="2018530"/>
            <a:ext cx="15460067" cy="46321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Awareness vs Engagement campaign</a:t>
            </a:r>
            <a:endParaRPr lang="en-US" sz="29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4060"/>
              </a:lnSpc>
              <a:spcBef>
                <a:spcPct val="0"/>
              </a:spcBef>
            </a:pPr>
            <a:endParaRPr lang="en-US" sz="29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Traffic vs Sales campaign</a:t>
            </a:r>
            <a:endParaRPr lang="en-US" sz="29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4060"/>
              </a:lnSpc>
              <a:spcBef>
                <a:spcPct val="0"/>
              </a:spcBef>
            </a:pPr>
            <a:endParaRPr lang="en-US" sz="29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Only difference in Ad sets: define performance goals for each objective</a:t>
            </a:r>
            <a:endParaRPr lang="en-US" sz="29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4060"/>
              </a:lnSpc>
              <a:spcBef>
                <a:spcPct val="0"/>
              </a:spcBef>
            </a:pPr>
            <a:endParaRPr lang="en-US" sz="29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WhatsApp conversion rate is very high, but can go ahead with Instagram DMs and Messenger DMs as well</a:t>
            </a:r>
            <a:endParaRPr lang="en-US" sz="29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4060"/>
              </a:lnSpc>
              <a:spcBef>
                <a:spcPct val="0"/>
              </a:spcBef>
            </a:pPr>
            <a:endParaRPr lang="en-US" sz="29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807025" y="629472"/>
            <a:ext cx="11988134" cy="12366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540"/>
              </a:lnSpc>
              <a:spcBef>
                <a:spcPct val="0"/>
              </a:spcBef>
            </a:pPr>
            <a:r>
              <a:rPr lang="en-US" sz="6815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Paid ads </a:t>
            </a:r>
            <a:endParaRPr lang="en-US" sz="6815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15" name="Freeform 15"/>
          <p:cNvSpPr/>
          <p:nvPr/>
        </p:nvSpPr>
        <p:spPr>
          <a:xfrm>
            <a:off x="807025" y="5143500"/>
            <a:ext cx="443351" cy="450605"/>
          </a:xfrm>
          <a:custGeom>
            <a:avLst/>
            <a:gdLst/>
            <a:ahLst/>
            <a:cxnLst/>
            <a:rect l="l" t="t" r="r" b="b"/>
            <a:pathLst>
              <a:path w="443351" h="450605">
                <a:moveTo>
                  <a:pt x="0" y="0"/>
                </a:moveTo>
                <a:lnTo>
                  <a:pt x="443350" y="0"/>
                </a:lnTo>
                <a:lnTo>
                  <a:pt x="443350" y="450605"/>
                </a:lnTo>
                <a:lnTo>
                  <a:pt x="0" y="450605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807025" y="6797150"/>
            <a:ext cx="443351" cy="450605"/>
          </a:xfrm>
          <a:custGeom>
            <a:avLst/>
            <a:gdLst/>
            <a:ahLst/>
            <a:cxnLst/>
            <a:rect l="l" t="t" r="r" b="b"/>
            <a:pathLst>
              <a:path w="443351" h="450605">
                <a:moveTo>
                  <a:pt x="0" y="0"/>
                </a:moveTo>
                <a:lnTo>
                  <a:pt x="443350" y="0"/>
                </a:lnTo>
                <a:lnTo>
                  <a:pt x="443350" y="450605"/>
                </a:lnTo>
                <a:lnTo>
                  <a:pt x="0" y="450605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68769" y="356951"/>
            <a:ext cx="17057231" cy="9573098"/>
            <a:chOff x="0" y="0"/>
            <a:chExt cx="4492439" cy="252131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492439" cy="2521310"/>
            </a:xfrm>
            <a:custGeom>
              <a:avLst/>
              <a:gdLst/>
              <a:ahLst/>
              <a:cxnLst/>
              <a:rect l="l" t="t" r="r" b="b"/>
              <a:pathLst>
                <a:path w="4492439" h="2521310">
                  <a:moveTo>
                    <a:pt x="0" y="0"/>
                  </a:moveTo>
                  <a:lnTo>
                    <a:pt x="4492439" y="0"/>
                  </a:lnTo>
                  <a:lnTo>
                    <a:pt x="4492439" y="2521310"/>
                  </a:lnTo>
                  <a:lnTo>
                    <a:pt x="0" y="252131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11FBB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492439" cy="2578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7526000" y="356951"/>
            <a:ext cx="273257" cy="9573098"/>
            <a:chOff x="0" y="0"/>
            <a:chExt cx="71969" cy="252131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1969" cy="2521310"/>
            </a:xfrm>
            <a:custGeom>
              <a:avLst/>
              <a:gdLst/>
              <a:ahLst/>
              <a:cxnLst/>
              <a:rect l="l" t="t" r="r" b="b"/>
              <a:pathLst>
                <a:path w="71969" h="2521310">
                  <a:moveTo>
                    <a:pt x="0" y="0"/>
                  </a:moveTo>
                  <a:lnTo>
                    <a:pt x="71969" y="0"/>
                  </a:lnTo>
                  <a:lnTo>
                    <a:pt x="71969" y="2521310"/>
                  </a:lnTo>
                  <a:lnTo>
                    <a:pt x="0" y="2521310"/>
                  </a:lnTo>
                  <a:close/>
                </a:path>
              </a:pathLst>
            </a:custGeom>
            <a:solidFill>
              <a:srgbClr val="A2D078"/>
            </a:solidFill>
            <a:ln w="19050" cap="sq">
              <a:solidFill>
                <a:srgbClr val="011FBB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71969" cy="2578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55886" y="9608891"/>
            <a:ext cx="17070114" cy="321159"/>
            <a:chOff x="0" y="0"/>
            <a:chExt cx="4495833" cy="8458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495833" cy="84585"/>
            </a:xfrm>
            <a:custGeom>
              <a:avLst/>
              <a:gdLst/>
              <a:ahLst/>
              <a:cxnLst/>
              <a:rect l="l" t="t" r="r" b="b"/>
              <a:pathLst>
                <a:path w="4495833" h="84585">
                  <a:moveTo>
                    <a:pt x="0" y="0"/>
                  </a:moveTo>
                  <a:lnTo>
                    <a:pt x="4495833" y="0"/>
                  </a:lnTo>
                  <a:lnTo>
                    <a:pt x="4495833" y="84585"/>
                  </a:lnTo>
                  <a:lnTo>
                    <a:pt x="0" y="84585"/>
                  </a:lnTo>
                  <a:close/>
                </a:path>
              </a:pathLst>
            </a:custGeom>
            <a:solidFill>
              <a:srgbClr val="FCCC38"/>
            </a:solidFill>
            <a:ln w="19050" cap="sq">
              <a:solidFill>
                <a:srgbClr val="011FBB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4495833" cy="1417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11" name="Freeform 11"/>
          <p:cNvSpPr/>
          <p:nvPr/>
        </p:nvSpPr>
        <p:spPr>
          <a:xfrm>
            <a:off x="807025" y="2094730"/>
            <a:ext cx="443351" cy="450605"/>
          </a:xfrm>
          <a:custGeom>
            <a:avLst/>
            <a:gdLst/>
            <a:ahLst/>
            <a:cxnLst/>
            <a:rect l="l" t="t" r="r" b="b"/>
            <a:pathLst>
              <a:path w="443351" h="450605">
                <a:moveTo>
                  <a:pt x="0" y="0"/>
                </a:moveTo>
                <a:lnTo>
                  <a:pt x="443350" y="0"/>
                </a:lnTo>
                <a:lnTo>
                  <a:pt x="443350" y="450606"/>
                </a:lnTo>
                <a:lnTo>
                  <a:pt x="0" y="45060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807025" y="3099238"/>
            <a:ext cx="443351" cy="450605"/>
          </a:xfrm>
          <a:custGeom>
            <a:avLst/>
            <a:gdLst/>
            <a:ahLst/>
            <a:cxnLst/>
            <a:rect l="l" t="t" r="r" b="b"/>
            <a:pathLst>
              <a:path w="443351" h="450605">
                <a:moveTo>
                  <a:pt x="0" y="0"/>
                </a:moveTo>
                <a:lnTo>
                  <a:pt x="443350" y="0"/>
                </a:lnTo>
                <a:lnTo>
                  <a:pt x="443350" y="450605"/>
                </a:lnTo>
                <a:lnTo>
                  <a:pt x="0" y="450605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336520" y="2018530"/>
            <a:ext cx="15460067" cy="72041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60"/>
              </a:lnSpc>
            </a:pPr>
            <a:r>
              <a:rPr lang="en-US" sz="2900" dirty="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Location: select specific city, specific societies, exclude specific societies</a:t>
            </a:r>
            <a:endParaRPr lang="en-US" sz="2900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4060"/>
              </a:lnSpc>
            </a:pPr>
            <a:endParaRPr lang="en-US" sz="2900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 dirty="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Age: depends on the product, buying power, buyer vs consumer </a:t>
            </a:r>
            <a:r>
              <a:rPr lang="en-US" sz="2900" dirty="0" err="1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eg</a:t>
            </a:r>
            <a:r>
              <a:rPr lang="en-US" sz="2900" dirty="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toys, children’s clothes → buying persona → personal information + interaction history</a:t>
            </a:r>
            <a:endParaRPr lang="en-US" sz="2900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4060"/>
              </a:lnSpc>
              <a:spcBef>
                <a:spcPct val="0"/>
              </a:spcBef>
            </a:pPr>
            <a:endParaRPr lang="en-US" sz="2900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 dirty="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Detailed audience targeting: demographics vs behaviors vs interest</a:t>
            </a:r>
            <a:endParaRPr lang="en-US" sz="2900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4060"/>
              </a:lnSpc>
              <a:spcBef>
                <a:spcPct val="0"/>
              </a:spcBef>
            </a:pPr>
            <a:endParaRPr lang="en-US" sz="2900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 dirty="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Demographics: who they are on paper</a:t>
            </a:r>
            <a:endParaRPr lang="en-US" sz="2900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4060"/>
              </a:lnSpc>
              <a:spcBef>
                <a:spcPct val="0"/>
              </a:spcBef>
            </a:pPr>
            <a:endParaRPr lang="en-US" sz="2900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 dirty="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Interests:  what people engage with on Social Media apps</a:t>
            </a:r>
            <a:endParaRPr lang="en-US" sz="2900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4060"/>
              </a:lnSpc>
              <a:spcBef>
                <a:spcPct val="0"/>
              </a:spcBef>
            </a:pPr>
            <a:endParaRPr lang="en-US" sz="2900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 dirty="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Behaviors: past actions, purchase behavior, device usage, and travel habits. It’s action-based targeting</a:t>
            </a:r>
            <a:endParaRPr lang="en-US" sz="2900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4060"/>
              </a:lnSpc>
              <a:spcBef>
                <a:spcPct val="0"/>
              </a:spcBef>
            </a:pPr>
            <a:endParaRPr lang="en-US" sz="2900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807025" y="629472"/>
            <a:ext cx="11988134" cy="12366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540"/>
              </a:lnSpc>
              <a:spcBef>
                <a:spcPct val="0"/>
              </a:spcBef>
            </a:pPr>
            <a:r>
              <a:rPr lang="en-US" sz="6815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Paid ads </a:t>
            </a:r>
            <a:endParaRPr lang="en-US" sz="6815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15" name="Freeform 15"/>
          <p:cNvSpPr/>
          <p:nvPr/>
        </p:nvSpPr>
        <p:spPr>
          <a:xfrm>
            <a:off x="807025" y="5143500"/>
            <a:ext cx="443351" cy="450605"/>
          </a:xfrm>
          <a:custGeom>
            <a:avLst/>
            <a:gdLst/>
            <a:ahLst/>
            <a:cxnLst/>
            <a:rect l="l" t="t" r="r" b="b"/>
            <a:pathLst>
              <a:path w="443351" h="450605">
                <a:moveTo>
                  <a:pt x="0" y="0"/>
                </a:moveTo>
                <a:lnTo>
                  <a:pt x="443350" y="0"/>
                </a:lnTo>
                <a:lnTo>
                  <a:pt x="443350" y="450605"/>
                </a:lnTo>
                <a:lnTo>
                  <a:pt x="0" y="450605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807025" y="6797150"/>
            <a:ext cx="443351" cy="450605"/>
          </a:xfrm>
          <a:custGeom>
            <a:avLst/>
            <a:gdLst/>
            <a:ahLst/>
            <a:cxnLst/>
            <a:rect l="l" t="t" r="r" b="b"/>
            <a:pathLst>
              <a:path w="443351" h="450605">
                <a:moveTo>
                  <a:pt x="0" y="0"/>
                </a:moveTo>
                <a:lnTo>
                  <a:pt x="443350" y="0"/>
                </a:lnTo>
                <a:lnTo>
                  <a:pt x="443350" y="450605"/>
                </a:lnTo>
                <a:lnTo>
                  <a:pt x="0" y="450605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23029" y="356951"/>
            <a:ext cx="17441942" cy="9573098"/>
            <a:chOff x="0" y="0"/>
            <a:chExt cx="4593763" cy="252131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93763" cy="2521310"/>
            </a:xfrm>
            <a:custGeom>
              <a:avLst/>
              <a:gdLst/>
              <a:ahLst/>
              <a:cxnLst/>
              <a:rect l="l" t="t" r="r" b="b"/>
              <a:pathLst>
                <a:path w="4593763" h="2521310">
                  <a:moveTo>
                    <a:pt x="0" y="0"/>
                  </a:moveTo>
                  <a:lnTo>
                    <a:pt x="4593763" y="0"/>
                  </a:lnTo>
                  <a:lnTo>
                    <a:pt x="4593763" y="2521310"/>
                  </a:lnTo>
                  <a:lnTo>
                    <a:pt x="0" y="252131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DFF06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593763" cy="2578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876208" y="940171"/>
            <a:ext cx="9632678" cy="8318129"/>
            <a:chOff x="0" y="0"/>
            <a:chExt cx="2537002" cy="219078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537002" cy="2190783"/>
            </a:xfrm>
            <a:custGeom>
              <a:avLst/>
              <a:gdLst/>
              <a:ahLst/>
              <a:cxnLst/>
              <a:rect l="l" t="t" r="r" b="b"/>
              <a:pathLst>
                <a:path w="2537002" h="2190783">
                  <a:moveTo>
                    <a:pt x="0" y="0"/>
                  </a:moveTo>
                  <a:lnTo>
                    <a:pt x="2537002" y="0"/>
                  </a:lnTo>
                  <a:lnTo>
                    <a:pt x="2537002" y="2190783"/>
                  </a:lnTo>
                  <a:lnTo>
                    <a:pt x="0" y="2190783"/>
                  </a:lnTo>
                  <a:close/>
                </a:path>
              </a:pathLst>
            </a:custGeom>
            <a:solidFill>
              <a:srgbClr val="BEEC92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66675"/>
              <a:ext cx="2537002" cy="2257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95"/>
                </a:lnSpc>
              </a:pP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8237870" y="1347823"/>
            <a:ext cx="3011902" cy="592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15"/>
              </a:lnSpc>
              <a:spcBef>
                <a:spcPct val="0"/>
              </a:spcBef>
            </a:pPr>
            <a:r>
              <a:rPr lang="en-US" sz="3295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Options</a:t>
            </a:r>
            <a:endParaRPr lang="en-US" sz="3295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9" name="Freeform 9"/>
          <p:cNvSpPr/>
          <p:nvPr/>
        </p:nvSpPr>
        <p:spPr>
          <a:xfrm>
            <a:off x="8237870" y="1400470"/>
            <a:ext cx="531162" cy="539854"/>
          </a:xfrm>
          <a:custGeom>
            <a:avLst/>
            <a:gdLst/>
            <a:ahLst/>
            <a:cxnLst/>
            <a:rect l="l" t="t" r="r" b="b"/>
            <a:pathLst>
              <a:path w="531162" h="539854">
                <a:moveTo>
                  <a:pt x="0" y="0"/>
                </a:moveTo>
                <a:lnTo>
                  <a:pt x="531162" y="0"/>
                </a:lnTo>
                <a:lnTo>
                  <a:pt x="531162" y="539854"/>
                </a:lnTo>
                <a:lnTo>
                  <a:pt x="0" y="539854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8879924" y="2502501"/>
            <a:ext cx="7598620" cy="5193469"/>
            <a:chOff x="0" y="0"/>
            <a:chExt cx="2001283" cy="136782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001282" cy="1367827"/>
            </a:xfrm>
            <a:custGeom>
              <a:avLst/>
              <a:gdLst/>
              <a:ahLst/>
              <a:cxnLst/>
              <a:rect l="l" t="t" r="r" b="b"/>
              <a:pathLst>
                <a:path w="2001282" h="1367827">
                  <a:moveTo>
                    <a:pt x="50943" y="0"/>
                  </a:moveTo>
                  <a:lnTo>
                    <a:pt x="1950339" y="0"/>
                  </a:lnTo>
                  <a:cubicBezTo>
                    <a:pt x="1963850" y="0"/>
                    <a:pt x="1976808" y="5367"/>
                    <a:pt x="1986362" y="14921"/>
                  </a:cubicBezTo>
                  <a:cubicBezTo>
                    <a:pt x="1995915" y="24474"/>
                    <a:pt x="2001282" y="37432"/>
                    <a:pt x="2001282" y="50943"/>
                  </a:cubicBezTo>
                  <a:lnTo>
                    <a:pt x="2001282" y="1316884"/>
                  </a:lnTo>
                  <a:cubicBezTo>
                    <a:pt x="2001282" y="1330395"/>
                    <a:pt x="1995915" y="1343353"/>
                    <a:pt x="1986362" y="1352906"/>
                  </a:cubicBezTo>
                  <a:cubicBezTo>
                    <a:pt x="1976808" y="1362460"/>
                    <a:pt x="1963850" y="1367827"/>
                    <a:pt x="1950339" y="1367827"/>
                  </a:cubicBezTo>
                  <a:lnTo>
                    <a:pt x="50943" y="1367827"/>
                  </a:lnTo>
                  <a:cubicBezTo>
                    <a:pt x="37432" y="1367827"/>
                    <a:pt x="24474" y="1362460"/>
                    <a:pt x="14921" y="1352906"/>
                  </a:cubicBezTo>
                  <a:cubicBezTo>
                    <a:pt x="5367" y="1343353"/>
                    <a:pt x="0" y="1330395"/>
                    <a:pt x="0" y="1316884"/>
                  </a:cubicBezTo>
                  <a:lnTo>
                    <a:pt x="0" y="50943"/>
                  </a:lnTo>
                  <a:cubicBezTo>
                    <a:pt x="0" y="37432"/>
                    <a:pt x="5367" y="24474"/>
                    <a:pt x="14921" y="14921"/>
                  </a:cubicBezTo>
                  <a:cubicBezTo>
                    <a:pt x="24474" y="5367"/>
                    <a:pt x="37432" y="0"/>
                    <a:pt x="5094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66675"/>
              <a:ext cx="2001283" cy="14345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95"/>
                </a:lnSpc>
              </a:pPr>
            </a:p>
          </p:txBody>
        </p:sp>
      </p:grpSp>
      <p:sp>
        <p:nvSpPr>
          <p:cNvPr id="13" name="Freeform 13"/>
          <p:cNvSpPr/>
          <p:nvPr/>
        </p:nvSpPr>
        <p:spPr>
          <a:xfrm>
            <a:off x="15448201" y="7006345"/>
            <a:ext cx="2060686" cy="2045699"/>
          </a:xfrm>
          <a:custGeom>
            <a:avLst/>
            <a:gdLst/>
            <a:ahLst/>
            <a:cxnLst/>
            <a:rect l="l" t="t" r="r" b="b"/>
            <a:pathLst>
              <a:path w="2060686" h="2045699">
                <a:moveTo>
                  <a:pt x="0" y="0"/>
                </a:moveTo>
                <a:lnTo>
                  <a:pt x="2060686" y="0"/>
                </a:lnTo>
                <a:lnTo>
                  <a:pt x="2060686" y="2045699"/>
                </a:lnTo>
                <a:lnTo>
                  <a:pt x="0" y="204569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796662" y="557048"/>
            <a:ext cx="4367899" cy="1134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860"/>
              </a:lnSpc>
              <a:spcBef>
                <a:spcPct val="0"/>
              </a:spcBef>
            </a:pPr>
            <a:r>
              <a:rPr lang="en-US" sz="6325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Scenario 1</a:t>
            </a:r>
            <a:endParaRPr lang="en-US" sz="6325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796662" y="2069937"/>
            <a:ext cx="6688278" cy="1076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sz="3000" dirty="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You are running ads for a brand that sells organic baby shampoo.</a:t>
            </a:r>
            <a:endParaRPr lang="en-US" sz="3000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9144000" y="2740019"/>
            <a:ext cx="6688278" cy="37429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sz="3000" dirty="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Demographic</a:t>
            </a:r>
            <a:endParaRPr lang="en-US" sz="3000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just">
              <a:lnSpc>
                <a:spcPts val="4200"/>
              </a:lnSpc>
            </a:pPr>
            <a:endParaRPr lang="en-US" sz="3000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just">
              <a:lnSpc>
                <a:spcPts val="4200"/>
              </a:lnSpc>
            </a:pPr>
            <a:endParaRPr lang="en-US" sz="3000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just">
              <a:lnSpc>
                <a:spcPts val="4200"/>
              </a:lnSpc>
            </a:pPr>
            <a:r>
              <a:rPr lang="en-US" sz="3000" dirty="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Interest</a:t>
            </a:r>
            <a:endParaRPr lang="en-US" sz="3000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just">
              <a:lnSpc>
                <a:spcPts val="4200"/>
              </a:lnSpc>
            </a:pPr>
            <a:endParaRPr lang="en-US" sz="3000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just">
              <a:lnSpc>
                <a:spcPts val="4200"/>
              </a:lnSpc>
            </a:pPr>
            <a:endParaRPr lang="en-US" sz="3000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just">
              <a:lnSpc>
                <a:spcPts val="4200"/>
              </a:lnSpc>
            </a:pPr>
            <a:r>
              <a:rPr lang="en-US" sz="3000" dirty="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Behavior</a:t>
            </a:r>
            <a:endParaRPr lang="en-US" sz="3000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23029" y="356951"/>
            <a:ext cx="17441942" cy="9573098"/>
            <a:chOff x="0" y="0"/>
            <a:chExt cx="4593763" cy="252131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93763" cy="2521310"/>
            </a:xfrm>
            <a:custGeom>
              <a:avLst/>
              <a:gdLst/>
              <a:ahLst/>
              <a:cxnLst/>
              <a:rect l="l" t="t" r="r" b="b"/>
              <a:pathLst>
                <a:path w="4593763" h="2521310">
                  <a:moveTo>
                    <a:pt x="0" y="0"/>
                  </a:moveTo>
                  <a:lnTo>
                    <a:pt x="4593763" y="0"/>
                  </a:lnTo>
                  <a:lnTo>
                    <a:pt x="4593763" y="2521310"/>
                  </a:lnTo>
                  <a:lnTo>
                    <a:pt x="0" y="252131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DFF06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593763" cy="2578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876208" y="940171"/>
            <a:ext cx="9632678" cy="8318129"/>
            <a:chOff x="0" y="0"/>
            <a:chExt cx="2537002" cy="219078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537002" cy="2190783"/>
            </a:xfrm>
            <a:custGeom>
              <a:avLst/>
              <a:gdLst/>
              <a:ahLst/>
              <a:cxnLst/>
              <a:rect l="l" t="t" r="r" b="b"/>
              <a:pathLst>
                <a:path w="2537002" h="2190783">
                  <a:moveTo>
                    <a:pt x="0" y="0"/>
                  </a:moveTo>
                  <a:lnTo>
                    <a:pt x="2537002" y="0"/>
                  </a:lnTo>
                  <a:lnTo>
                    <a:pt x="2537002" y="2190783"/>
                  </a:lnTo>
                  <a:lnTo>
                    <a:pt x="0" y="2190783"/>
                  </a:lnTo>
                  <a:close/>
                </a:path>
              </a:pathLst>
            </a:custGeom>
            <a:solidFill>
              <a:srgbClr val="BEEC92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66675"/>
              <a:ext cx="2537002" cy="2257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95"/>
                </a:lnSpc>
              </a:pP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8237870" y="1347823"/>
            <a:ext cx="3011902" cy="592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15"/>
              </a:lnSpc>
              <a:spcBef>
                <a:spcPct val="0"/>
              </a:spcBef>
            </a:pPr>
            <a:r>
              <a:rPr lang="en-US" sz="3295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Options</a:t>
            </a:r>
            <a:endParaRPr lang="en-US" sz="3295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9" name="Freeform 9"/>
          <p:cNvSpPr/>
          <p:nvPr/>
        </p:nvSpPr>
        <p:spPr>
          <a:xfrm>
            <a:off x="8237870" y="1400470"/>
            <a:ext cx="531162" cy="539854"/>
          </a:xfrm>
          <a:custGeom>
            <a:avLst/>
            <a:gdLst/>
            <a:ahLst/>
            <a:cxnLst/>
            <a:rect l="l" t="t" r="r" b="b"/>
            <a:pathLst>
              <a:path w="531162" h="539854">
                <a:moveTo>
                  <a:pt x="0" y="0"/>
                </a:moveTo>
                <a:lnTo>
                  <a:pt x="531162" y="0"/>
                </a:lnTo>
                <a:lnTo>
                  <a:pt x="531162" y="539854"/>
                </a:lnTo>
                <a:lnTo>
                  <a:pt x="0" y="539854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8879924" y="2502501"/>
            <a:ext cx="7598620" cy="5193469"/>
            <a:chOff x="0" y="0"/>
            <a:chExt cx="2001283" cy="136782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001282" cy="1367827"/>
            </a:xfrm>
            <a:custGeom>
              <a:avLst/>
              <a:gdLst/>
              <a:ahLst/>
              <a:cxnLst/>
              <a:rect l="l" t="t" r="r" b="b"/>
              <a:pathLst>
                <a:path w="2001282" h="1367827">
                  <a:moveTo>
                    <a:pt x="50943" y="0"/>
                  </a:moveTo>
                  <a:lnTo>
                    <a:pt x="1950339" y="0"/>
                  </a:lnTo>
                  <a:cubicBezTo>
                    <a:pt x="1963850" y="0"/>
                    <a:pt x="1976808" y="5367"/>
                    <a:pt x="1986362" y="14921"/>
                  </a:cubicBezTo>
                  <a:cubicBezTo>
                    <a:pt x="1995915" y="24474"/>
                    <a:pt x="2001282" y="37432"/>
                    <a:pt x="2001282" y="50943"/>
                  </a:cubicBezTo>
                  <a:lnTo>
                    <a:pt x="2001282" y="1316884"/>
                  </a:lnTo>
                  <a:cubicBezTo>
                    <a:pt x="2001282" y="1330395"/>
                    <a:pt x="1995915" y="1343353"/>
                    <a:pt x="1986362" y="1352906"/>
                  </a:cubicBezTo>
                  <a:cubicBezTo>
                    <a:pt x="1976808" y="1362460"/>
                    <a:pt x="1963850" y="1367827"/>
                    <a:pt x="1950339" y="1367827"/>
                  </a:cubicBezTo>
                  <a:lnTo>
                    <a:pt x="50943" y="1367827"/>
                  </a:lnTo>
                  <a:cubicBezTo>
                    <a:pt x="37432" y="1367827"/>
                    <a:pt x="24474" y="1362460"/>
                    <a:pt x="14921" y="1352906"/>
                  </a:cubicBezTo>
                  <a:cubicBezTo>
                    <a:pt x="5367" y="1343353"/>
                    <a:pt x="0" y="1330395"/>
                    <a:pt x="0" y="1316884"/>
                  </a:cubicBezTo>
                  <a:lnTo>
                    <a:pt x="0" y="50943"/>
                  </a:lnTo>
                  <a:cubicBezTo>
                    <a:pt x="0" y="37432"/>
                    <a:pt x="5367" y="24474"/>
                    <a:pt x="14921" y="14921"/>
                  </a:cubicBezTo>
                  <a:cubicBezTo>
                    <a:pt x="24474" y="5367"/>
                    <a:pt x="37432" y="0"/>
                    <a:pt x="5094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66675"/>
              <a:ext cx="2001283" cy="14345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95"/>
                </a:lnSpc>
              </a:pPr>
            </a:p>
          </p:txBody>
        </p:sp>
      </p:grpSp>
      <p:sp>
        <p:nvSpPr>
          <p:cNvPr id="13" name="Freeform 13"/>
          <p:cNvSpPr/>
          <p:nvPr/>
        </p:nvSpPr>
        <p:spPr>
          <a:xfrm>
            <a:off x="15448201" y="7006345"/>
            <a:ext cx="2060686" cy="2045699"/>
          </a:xfrm>
          <a:custGeom>
            <a:avLst/>
            <a:gdLst/>
            <a:ahLst/>
            <a:cxnLst/>
            <a:rect l="l" t="t" r="r" b="b"/>
            <a:pathLst>
              <a:path w="2060686" h="2045699">
                <a:moveTo>
                  <a:pt x="0" y="0"/>
                </a:moveTo>
                <a:lnTo>
                  <a:pt x="2060686" y="0"/>
                </a:lnTo>
                <a:lnTo>
                  <a:pt x="2060686" y="2045699"/>
                </a:lnTo>
                <a:lnTo>
                  <a:pt x="0" y="204569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796662" y="557048"/>
            <a:ext cx="4367899" cy="1134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860"/>
              </a:lnSpc>
              <a:spcBef>
                <a:spcPct val="0"/>
              </a:spcBef>
            </a:pPr>
            <a:r>
              <a:rPr lang="en-US" sz="6325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Scenario 2</a:t>
            </a:r>
            <a:endParaRPr lang="en-US" sz="6325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796662" y="2069937"/>
            <a:ext cx="6688278" cy="1076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sz="3000" dirty="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You’re promoting a burger shop offering discounts.</a:t>
            </a:r>
            <a:endParaRPr lang="en-US" sz="3000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9144000" y="2740019"/>
            <a:ext cx="6688278" cy="37429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sz="3000" dirty="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Demographic</a:t>
            </a:r>
            <a:endParaRPr lang="en-US" sz="3000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just">
              <a:lnSpc>
                <a:spcPts val="4200"/>
              </a:lnSpc>
            </a:pPr>
            <a:endParaRPr lang="en-US" sz="3000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just">
              <a:lnSpc>
                <a:spcPts val="4200"/>
              </a:lnSpc>
            </a:pPr>
            <a:endParaRPr lang="en-US" sz="3000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just">
              <a:lnSpc>
                <a:spcPts val="4200"/>
              </a:lnSpc>
            </a:pPr>
            <a:r>
              <a:rPr lang="en-US" sz="3000" dirty="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Interest</a:t>
            </a:r>
            <a:endParaRPr lang="en-US" sz="3000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just">
              <a:lnSpc>
                <a:spcPts val="4200"/>
              </a:lnSpc>
            </a:pPr>
            <a:endParaRPr lang="en-US" sz="3000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just">
              <a:lnSpc>
                <a:spcPts val="4200"/>
              </a:lnSpc>
            </a:pPr>
            <a:endParaRPr lang="en-US" sz="3000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just">
              <a:lnSpc>
                <a:spcPts val="4200"/>
              </a:lnSpc>
            </a:pPr>
            <a:r>
              <a:rPr lang="en-US" sz="3000" dirty="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Behavior</a:t>
            </a:r>
            <a:endParaRPr lang="en-US" sz="3000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23029" y="356951"/>
            <a:ext cx="17441942" cy="9573098"/>
            <a:chOff x="0" y="0"/>
            <a:chExt cx="4593763" cy="252131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93763" cy="2521310"/>
            </a:xfrm>
            <a:custGeom>
              <a:avLst/>
              <a:gdLst/>
              <a:ahLst/>
              <a:cxnLst/>
              <a:rect l="l" t="t" r="r" b="b"/>
              <a:pathLst>
                <a:path w="4593763" h="2521310">
                  <a:moveTo>
                    <a:pt x="0" y="0"/>
                  </a:moveTo>
                  <a:lnTo>
                    <a:pt x="4593763" y="0"/>
                  </a:lnTo>
                  <a:lnTo>
                    <a:pt x="4593763" y="2521310"/>
                  </a:lnTo>
                  <a:lnTo>
                    <a:pt x="0" y="252131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DFF06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593763" cy="2578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876208" y="940171"/>
            <a:ext cx="9632678" cy="8318129"/>
            <a:chOff x="0" y="0"/>
            <a:chExt cx="2537002" cy="219078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537002" cy="2190783"/>
            </a:xfrm>
            <a:custGeom>
              <a:avLst/>
              <a:gdLst/>
              <a:ahLst/>
              <a:cxnLst/>
              <a:rect l="l" t="t" r="r" b="b"/>
              <a:pathLst>
                <a:path w="2537002" h="2190783">
                  <a:moveTo>
                    <a:pt x="0" y="0"/>
                  </a:moveTo>
                  <a:lnTo>
                    <a:pt x="2537002" y="0"/>
                  </a:lnTo>
                  <a:lnTo>
                    <a:pt x="2537002" y="2190783"/>
                  </a:lnTo>
                  <a:lnTo>
                    <a:pt x="0" y="2190783"/>
                  </a:lnTo>
                  <a:close/>
                </a:path>
              </a:pathLst>
            </a:custGeom>
            <a:solidFill>
              <a:srgbClr val="BEEC92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66675"/>
              <a:ext cx="2537002" cy="2257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95"/>
                </a:lnSpc>
              </a:pP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8237870" y="1347823"/>
            <a:ext cx="3011902" cy="592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15"/>
              </a:lnSpc>
              <a:spcBef>
                <a:spcPct val="0"/>
              </a:spcBef>
            </a:pPr>
            <a:r>
              <a:rPr lang="en-US" sz="3295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Options</a:t>
            </a:r>
            <a:endParaRPr lang="en-US" sz="3295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9" name="Freeform 9"/>
          <p:cNvSpPr/>
          <p:nvPr/>
        </p:nvSpPr>
        <p:spPr>
          <a:xfrm>
            <a:off x="8237870" y="1400470"/>
            <a:ext cx="531162" cy="539854"/>
          </a:xfrm>
          <a:custGeom>
            <a:avLst/>
            <a:gdLst/>
            <a:ahLst/>
            <a:cxnLst/>
            <a:rect l="l" t="t" r="r" b="b"/>
            <a:pathLst>
              <a:path w="531162" h="539854">
                <a:moveTo>
                  <a:pt x="0" y="0"/>
                </a:moveTo>
                <a:lnTo>
                  <a:pt x="531162" y="0"/>
                </a:lnTo>
                <a:lnTo>
                  <a:pt x="531162" y="539854"/>
                </a:lnTo>
                <a:lnTo>
                  <a:pt x="0" y="539854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8879924" y="2502501"/>
            <a:ext cx="7598620" cy="5193469"/>
            <a:chOff x="0" y="0"/>
            <a:chExt cx="2001283" cy="136782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001282" cy="1367827"/>
            </a:xfrm>
            <a:custGeom>
              <a:avLst/>
              <a:gdLst/>
              <a:ahLst/>
              <a:cxnLst/>
              <a:rect l="l" t="t" r="r" b="b"/>
              <a:pathLst>
                <a:path w="2001282" h="1367827">
                  <a:moveTo>
                    <a:pt x="50943" y="0"/>
                  </a:moveTo>
                  <a:lnTo>
                    <a:pt x="1950339" y="0"/>
                  </a:lnTo>
                  <a:cubicBezTo>
                    <a:pt x="1963850" y="0"/>
                    <a:pt x="1976808" y="5367"/>
                    <a:pt x="1986362" y="14921"/>
                  </a:cubicBezTo>
                  <a:cubicBezTo>
                    <a:pt x="1995915" y="24474"/>
                    <a:pt x="2001282" y="37432"/>
                    <a:pt x="2001282" y="50943"/>
                  </a:cubicBezTo>
                  <a:lnTo>
                    <a:pt x="2001282" y="1316884"/>
                  </a:lnTo>
                  <a:cubicBezTo>
                    <a:pt x="2001282" y="1330395"/>
                    <a:pt x="1995915" y="1343353"/>
                    <a:pt x="1986362" y="1352906"/>
                  </a:cubicBezTo>
                  <a:cubicBezTo>
                    <a:pt x="1976808" y="1362460"/>
                    <a:pt x="1963850" y="1367827"/>
                    <a:pt x="1950339" y="1367827"/>
                  </a:cubicBezTo>
                  <a:lnTo>
                    <a:pt x="50943" y="1367827"/>
                  </a:lnTo>
                  <a:cubicBezTo>
                    <a:pt x="37432" y="1367827"/>
                    <a:pt x="24474" y="1362460"/>
                    <a:pt x="14921" y="1352906"/>
                  </a:cubicBezTo>
                  <a:cubicBezTo>
                    <a:pt x="5367" y="1343353"/>
                    <a:pt x="0" y="1330395"/>
                    <a:pt x="0" y="1316884"/>
                  </a:cubicBezTo>
                  <a:lnTo>
                    <a:pt x="0" y="50943"/>
                  </a:lnTo>
                  <a:cubicBezTo>
                    <a:pt x="0" y="37432"/>
                    <a:pt x="5367" y="24474"/>
                    <a:pt x="14921" y="14921"/>
                  </a:cubicBezTo>
                  <a:cubicBezTo>
                    <a:pt x="24474" y="5367"/>
                    <a:pt x="37432" y="0"/>
                    <a:pt x="5094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66675"/>
              <a:ext cx="2001283" cy="14345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95"/>
                </a:lnSpc>
              </a:pPr>
            </a:p>
          </p:txBody>
        </p:sp>
      </p:grpSp>
      <p:sp>
        <p:nvSpPr>
          <p:cNvPr id="13" name="Freeform 13"/>
          <p:cNvSpPr/>
          <p:nvPr/>
        </p:nvSpPr>
        <p:spPr>
          <a:xfrm>
            <a:off x="15448201" y="7006345"/>
            <a:ext cx="2060686" cy="2045699"/>
          </a:xfrm>
          <a:custGeom>
            <a:avLst/>
            <a:gdLst/>
            <a:ahLst/>
            <a:cxnLst/>
            <a:rect l="l" t="t" r="r" b="b"/>
            <a:pathLst>
              <a:path w="2060686" h="2045699">
                <a:moveTo>
                  <a:pt x="0" y="0"/>
                </a:moveTo>
                <a:lnTo>
                  <a:pt x="2060686" y="0"/>
                </a:lnTo>
                <a:lnTo>
                  <a:pt x="2060686" y="2045699"/>
                </a:lnTo>
                <a:lnTo>
                  <a:pt x="0" y="204569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796662" y="557048"/>
            <a:ext cx="4367899" cy="1134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860"/>
              </a:lnSpc>
              <a:spcBef>
                <a:spcPct val="0"/>
              </a:spcBef>
            </a:pPr>
            <a:r>
              <a:rPr lang="en-US" sz="6325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Scenario 3</a:t>
            </a:r>
            <a:endParaRPr lang="en-US" sz="6325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796662" y="2069937"/>
            <a:ext cx="6688278" cy="538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You are selling birthday gifts</a:t>
            </a:r>
            <a:endParaRPr lang="en-US" sz="30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9144000" y="2740019"/>
            <a:ext cx="6688278" cy="37429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sz="3000" dirty="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Demographic</a:t>
            </a:r>
            <a:endParaRPr lang="en-US" sz="3000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just">
              <a:lnSpc>
                <a:spcPts val="4200"/>
              </a:lnSpc>
            </a:pPr>
            <a:endParaRPr lang="en-US" sz="3000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just">
              <a:lnSpc>
                <a:spcPts val="4200"/>
              </a:lnSpc>
            </a:pPr>
            <a:endParaRPr lang="en-US" sz="3000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just">
              <a:lnSpc>
                <a:spcPts val="4200"/>
              </a:lnSpc>
            </a:pPr>
            <a:r>
              <a:rPr lang="en-US" sz="3000" dirty="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Interest</a:t>
            </a:r>
            <a:endParaRPr lang="en-US" sz="3000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just">
              <a:lnSpc>
                <a:spcPts val="4200"/>
              </a:lnSpc>
            </a:pPr>
            <a:endParaRPr lang="en-US" sz="3000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just">
              <a:lnSpc>
                <a:spcPts val="4200"/>
              </a:lnSpc>
            </a:pPr>
            <a:endParaRPr lang="en-US" sz="3000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just">
              <a:lnSpc>
                <a:spcPts val="4200"/>
              </a:lnSpc>
            </a:pPr>
            <a:r>
              <a:rPr lang="en-US" sz="3000" dirty="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Behavior</a:t>
            </a:r>
            <a:endParaRPr lang="en-US" sz="3000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68769" y="356951"/>
            <a:ext cx="17057231" cy="9573098"/>
            <a:chOff x="0" y="0"/>
            <a:chExt cx="4492439" cy="252131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492439" cy="2521310"/>
            </a:xfrm>
            <a:custGeom>
              <a:avLst/>
              <a:gdLst/>
              <a:ahLst/>
              <a:cxnLst/>
              <a:rect l="l" t="t" r="r" b="b"/>
              <a:pathLst>
                <a:path w="4492439" h="2521310">
                  <a:moveTo>
                    <a:pt x="0" y="0"/>
                  </a:moveTo>
                  <a:lnTo>
                    <a:pt x="4492439" y="0"/>
                  </a:lnTo>
                  <a:lnTo>
                    <a:pt x="4492439" y="2521310"/>
                  </a:lnTo>
                  <a:lnTo>
                    <a:pt x="0" y="252131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11FBB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492439" cy="2578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7526000" y="356951"/>
            <a:ext cx="273257" cy="9573098"/>
            <a:chOff x="0" y="0"/>
            <a:chExt cx="71969" cy="252131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1969" cy="2521310"/>
            </a:xfrm>
            <a:custGeom>
              <a:avLst/>
              <a:gdLst/>
              <a:ahLst/>
              <a:cxnLst/>
              <a:rect l="l" t="t" r="r" b="b"/>
              <a:pathLst>
                <a:path w="71969" h="2521310">
                  <a:moveTo>
                    <a:pt x="0" y="0"/>
                  </a:moveTo>
                  <a:lnTo>
                    <a:pt x="71969" y="0"/>
                  </a:lnTo>
                  <a:lnTo>
                    <a:pt x="71969" y="2521310"/>
                  </a:lnTo>
                  <a:lnTo>
                    <a:pt x="0" y="2521310"/>
                  </a:lnTo>
                  <a:close/>
                </a:path>
              </a:pathLst>
            </a:custGeom>
            <a:solidFill>
              <a:srgbClr val="A2D078"/>
            </a:solidFill>
            <a:ln w="19050" cap="sq">
              <a:solidFill>
                <a:srgbClr val="011FBB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71969" cy="2578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55886" y="9608891"/>
            <a:ext cx="17070114" cy="321159"/>
            <a:chOff x="0" y="0"/>
            <a:chExt cx="4495833" cy="8458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495833" cy="84585"/>
            </a:xfrm>
            <a:custGeom>
              <a:avLst/>
              <a:gdLst/>
              <a:ahLst/>
              <a:cxnLst/>
              <a:rect l="l" t="t" r="r" b="b"/>
              <a:pathLst>
                <a:path w="4495833" h="84585">
                  <a:moveTo>
                    <a:pt x="0" y="0"/>
                  </a:moveTo>
                  <a:lnTo>
                    <a:pt x="4495833" y="0"/>
                  </a:lnTo>
                  <a:lnTo>
                    <a:pt x="4495833" y="84585"/>
                  </a:lnTo>
                  <a:lnTo>
                    <a:pt x="0" y="84585"/>
                  </a:lnTo>
                  <a:close/>
                </a:path>
              </a:pathLst>
            </a:custGeom>
            <a:solidFill>
              <a:srgbClr val="FCCC38"/>
            </a:solidFill>
            <a:ln w="19050" cap="sq">
              <a:solidFill>
                <a:srgbClr val="011FBB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4495833" cy="1417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11" name="Freeform 11"/>
          <p:cNvSpPr/>
          <p:nvPr/>
        </p:nvSpPr>
        <p:spPr>
          <a:xfrm>
            <a:off x="807025" y="2094730"/>
            <a:ext cx="443351" cy="450605"/>
          </a:xfrm>
          <a:custGeom>
            <a:avLst/>
            <a:gdLst/>
            <a:ahLst/>
            <a:cxnLst/>
            <a:rect l="l" t="t" r="r" b="b"/>
            <a:pathLst>
              <a:path w="443351" h="450605">
                <a:moveTo>
                  <a:pt x="0" y="0"/>
                </a:moveTo>
                <a:lnTo>
                  <a:pt x="443350" y="0"/>
                </a:lnTo>
                <a:lnTo>
                  <a:pt x="443350" y="450606"/>
                </a:lnTo>
                <a:lnTo>
                  <a:pt x="0" y="45060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807025" y="4635745"/>
            <a:ext cx="443351" cy="450605"/>
          </a:xfrm>
          <a:custGeom>
            <a:avLst/>
            <a:gdLst/>
            <a:ahLst/>
            <a:cxnLst/>
            <a:rect l="l" t="t" r="r" b="b"/>
            <a:pathLst>
              <a:path w="443351" h="450605">
                <a:moveTo>
                  <a:pt x="0" y="0"/>
                </a:moveTo>
                <a:lnTo>
                  <a:pt x="443350" y="0"/>
                </a:lnTo>
                <a:lnTo>
                  <a:pt x="443350" y="450605"/>
                </a:lnTo>
                <a:lnTo>
                  <a:pt x="0" y="450605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336520" y="2018530"/>
            <a:ext cx="15762625" cy="6175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Dynamic ads that automatically show the most relevant products from your catalog to each user based on their behavior (like views, add-to-cart, or past purchases).</a:t>
            </a:r>
            <a:endParaRPr lang="en-US" sz="29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4060"/>
              </a:lnSpc>
            </a:pPr>
            <a:endParaRPr lang="en-US" sz="29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Best for:</a:t>
            </a:r>
            <a:endParaRPr lang="en-US" sz="29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4060"/>
              </a:lnSpc>
            </a:pPr>
            <a:endParaRPr lang="en-US" sz="29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Businesses selling multiple products</a:t>
            </a:r>
            <a:endParaRPr lang="en-US" sz="29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4060"/>
              </a:lnSpc>
            </a:pPr>
            <a:endParaRPr lang="en-US" sz="29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Those with a product catalog in Meta Commerce Manager</a:t>
            </a:r>
            <a:endParaRPr lang="en-US" sz="29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4060"/>
              </a:lnSpc>
            </a:pPr>
            <a:endParaRPr lang="en-US" sz="29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Websites with Meta Pixel or Conversions API installed</a:t>
            </a:r>
            <a:endParaRPr lang="en-US" sz="29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4060"/>
              </a:lnSpc>
            </a:pPr>
            <a:endParaRPr lang="en-US" sz="29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Brands wanting automated retargeting and personalized product ads</a:t>
            </a:r>
            <a:endParaRPr lang="en-US" sz="29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807025" y="629472"/>
            <a:ext cx="11988134" cy="12366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540"/>
              </a:lnSpc>
              <a:spcBef>
                <a:spcPct val="0"/>
              </a:spcBef>
            </a:pPr>
            <a:r>
              <a:rPr lang="en-US" sz="6815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Paid ads </a:t>
            </a:r>
            <a:endParaRPr lang="en-US" sz="6815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15" name="Freeform 15"/>
          <p:cNvSpPr/>
          <p:nvPr/>
        </p:nvSpPr>
        <p:spPr>
          <a:xfrm>
            <a:off x="807025" y="5687149"/>
            <a:ext cx="443351" cy="450605"/>
          </a:xfrm>
          <a:custGeom>
            <a:avLst/>
            <a:gdLst/>
            <a:ahLst/>
            <a:cxnLst/>
            <a:rect l="l" t="t" r="r" b="b"/>
            <a:pathLst>
              <a:path w="443351" h="450605">
                <a:moveTo>
                  <a:pt x="0" y="0"/>
                </a:moveTo>
                <a:lnTo>
                  <a:pt x="443350" y="0"/>
                </a:lnTo>
                <a:lnTo>
                  <a:pt x="443350" y="450605"/>
                </a:lnTo>
                <a:lnTo>
                  <a:pt x="0" y="450605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893169" y="6737829"/>
            <a:ext cx="443351" cy="450605"/>
          </a:xfrm>
          <a:custGeom>
            <a:avLst/>
            <a:gdLst/>
            <a:ahLst/>
            <a:cxnLst/>
            <a:rect l="l" t="t" r="r" b="b"/>
            <a:pathLst>
              <a:path w="443351" h="450605">
                <a:moveTo>
                  <a:pt x="0" y="0"/>
                </a:moveTo>
                <a:lnTo>
                  <a:pt x="443351" y="0"/>
                </a:lnTo>
                <a:lnTo>
                  <a:pt x="443351" y="450605"/>
                </a:lnTo>
                <a:lnTo>
                  <a:pt x="0" y="450605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893169" y="7788509"/>
            <a:ext cx="443351" cy="450605"/>
          </a:xfrm>
          <a:custGeom>
            <a:avLst/>
            <a:gdLst/>
            <a:ahLst/>
            <a:cxnLst/>
            <a:rect l="l" t="t" r="r" b="b"/>
            <a:pathLst>
              <a:path w="443351" h="450605">
                <a:moveTo>
                  <a:pt x="0" y="0"/>
                </a:moveTo>
                <a:lnTo>
                  <a:pt x="443351" y="0"/>
                </a:lnTo>
                <a:lnTo>
                  <a:pt x="443351" y="450606"/>
                </a:lnTo>
                <a:lnTo>
                  <a:pt x="0" y="45060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68769" y="356951"/>
            <a:ext cx="17057231" cy="9573098"/>
            <a:chOff x="0" y="0"/>
            <a:chExt cx="4492439" cy="252131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492439" cy="2521310"/>
            </a:xfrm>
            <a:custGeom>
              <a:avLst/>
              <a:gdLst/>
              <a:ahLst/>
              <a:cxnLst/>
              <a:rect l="l" t="t" r="r" b="b"/>
              <a:pathLst>
                <a:path w="4492439" h="2521310">
                  <a:moveTo>
                    <a:pt x="0" y="0"/>
                  </a:moveTo>
                  <a:lnTo>
                    <a:pt x="4492439" y="0"/>
                  </a:lnTo>
                  <a:lnTo>
                    <a:pt x="4492439" y="2521310"/>
                  </a:lnTo>
                  <a:lnTo>
                    <a:pt x="0" y="252131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11FBB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492439" cy="2578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7526000" y="356951"/>
            <a:ext cx="273257" cy="9573098"/>
            <a:chOff x="0" y="0"/>
            <a:chExt cx="71969" cy="252131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1969" cy="2521310"/>
            </a:xfrm>
            <a:custGeom>
              <a:avLst/>
              <a:gdLst/>
              <a:ahLst/>
              <a:cxnLst/>
              <a:rect l="l" t="t" r="r" b="b"/>
              <a:pathLst>
                <a:path w="71969" h="2521310">
                  <a:moveTo>
                    <a:pt x="0" y="0"/>
                  </a:moveTo>
                  <a:lnTo>
                    <a:pt x="71969" y="0"/>
                  </a:lnTo>
                  <a:lnTo>
                    <a:pt x="71969" y="2521310"/>
                  </a:lnTo>
                  <a:lnTo>
                    <a:pt x="0" y="2521310"/>
                  </a:lnTo>
                  <a:close/>
                </a:path>
              </a:pathLst>
            </a:custGeom>
            <a:solidFill>
              <a:srgbClr val="A2D078"/>
            </a:solidFill>
            <a:ln w="19050" cap="sq">
              <a:solidFill>
                <a:srgbClr val="011FBB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71969" cy="2578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55886" y="9608891"/>
            <a:ext cx="17070114" cy="321159"/>
            <a:chOff x="0" y="0"/>
            <a:chExt cx="4495833" cy="8458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495833" cy="84585"/>
            </a:xfrm>
            <a:custGeom>
              <a:avLst/>
              <a:gdLst/>
              <a:ahLst/>
              <a:cxnLst/>
              <a:rect l="l" t="t" r="r" b="b"/>
              <a:pathLst>
                <a:path w="4495833" h="84585">
                  <a:moveTo>
                    <a:pt x="0" y="0"/>
                  </a:moveTo>
                  <a:lnTo>
                    <a:pt x="4495833" y="0"/>
                  </a:lnTo>
                  <a:lnTo>
                    <a:pt x="4495833" y="84585"/>
                  </a:lnTo>
                  <a:lnTo>
                    <a:pt x="0" y="84585"/>
                  </a:lnTo>
                  <a:close/>
                </a:path>
              </a:pathLst>
            </a:custGeom>
            <a:solidFill>
              <a:srgbClr val="FCCC38"/>
            </a:solidFill>
            <a:ln w="19050" cap="sq">
              <a:solidFill>
                <a:srgbClr val="011FBB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4495833" cy="1417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11" name="Freeform 11"/>
          <p:cNvSpPr/>
          <p:nvPr/>
        </p:nvSpPr>
        <p:spPr>
          <a:xfrm>
            <a:off x="807025" y="2094730"/>
            <a:ext cx="443351" cy="450605"/>
          </a:xfrm>
          <a:custGeom>
            <a:avLst/>
            <a:gdLst/>
            <a:ahLst/>
            <a:cxnLst/>
            <a:rect l="l" t="t" r="r" b="b"/>
            <a:pathLst>
              <a:path w="443351" h="450605">
                <a:moveTo>
                  <a:pt x="0" y="0"/>
                </a:moveTo>
                <a:lnTo>
                  <a:pt x="443350" y="0"/>
                </a:lnTo>
                <a:lnTo>
                  <a:pt x="443350" y="450606"/>
                </a:lnTo>
                <a:lnTo>
                  <a:pt x="0" y="45060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336520" y="2018530"/>
            <a:ext cx="15762625" cy="78593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60"/>
              </a:lnSpc>
            </a:pPr>
            <a:r>
              <a:rPr lang="en-US" sz="2900" dirty="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KPIs to measure result of each campaign</a:t>
            </a:r>
            <a:endParaRPr lang="en-US" sz="2900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4060"/>
              </a:lnSpc>
            </a:pPr>
            <a:endParaRPr lang="en-US" sz="2900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457200" indent="-457200" algn="l">
              <a:lnSpc>
                <a:spcPts val="4060"/>
              </a:lnSpc>
              <a:buFont typeface="Arial" panose="020B0604020202020204" pitchFamily="34" charset="0"/>
              <a:buChar char="•"/>
            </a:pPr>
            <a:r>
              <a:rPr lang="en-US" sz="2900" dirty="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CPM: Cost Per Milestone (10,000 impressions)</a:t>
            </a:r>
            <a:endParaRPr lang="en-US" sz="2900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457200" indent="-457200" algn="l">
              <a:lnSpc>
                <a:spcPts val="4060"/>
              </a:lnSpc>
              <a:buFont typeface="Arial" panose="020B0604020202020204" pitchFamily="34" charset="0"/>
              <a:buChar char="•"/>
            </a:pPr>
            <a:r>
              <a:rPr lang="en-US" sz="2900" dirty="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CPC: Cost Per click</a:t>
            </a:r>
            <a:endParaRPr lang="en-US" sz="2900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457200" indent="-457200" algn="l">
              <a:lnSpc>
                <a:spcPts val="406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900" dirty="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CTR: Click Through Rate (10 people clicked over 100) = 10%</a:t>
            </a:r>
            <a:endParaRPr lang="en-US" sz="2900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457200" indent="-457200" algn="l">
              <a:lnSpc>
                <a:spcPts val="406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900" dirty="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Reach: Unique</a:t>
            </a:r>
            <a:endParaRPr lang="en-US" sz="2900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457200" indent="-457200" algn="l">
              <a:lnSpc>
                <a:spcPts val="406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900" dirty="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Impression: One person can see the same add multiple times</a:t>
            </a:r>
            <a:endParaRPr lang="en-US" sz="2900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457200" indent="-457200" algn="l">
              <a:lnSpc>
                <a:spcPts val="406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900" dirty="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Ad frequency: impressions / reach</a:t>
            </a:r>
            <a:endParaRPr lang="en-US" sz="2900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457200" indent="-457200" algn="l">
              <a:lnSpc>
                <a:spcPts val="406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900" dirty="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CPL: Cost Per Lead</a:t>
            </a:r>
            <a:endParaRPr lang="en-US" sz="2900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457200" indent="-457200" algn="l">
              <a:lnSpc>
                <a:spcPts val="406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900" dirty="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Conversion rate: purchased/ clicked</a:t>
            </a:r>
            <a:endParaRPr lang="en-US" sz="2900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457200" indent="-457200" algn="l">
              <a:lnSpc>
                <a:spcPts val="406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900" dirty="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CPV: Cost Per View</a:t>
            </a:r>
            <a:endParaRPr lang="en-US" sz="2900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457200" indent="-457200" algn="l">
              <a:lnSpc>
                <a:spcPts val="406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900" dirty="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ROI: Return on Investment</a:t>
            </a:r>
            <a:endParaRPr lang="en-US" sz="2900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457200" indent="-457200" algn="l">
              <a:lnSpc>
                <a:spcPts val="406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900" dirty="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ROAS: Return on Ad Spent</a:t>
            </a:r>
            <a:endParaRPr lang="en-US" sz="2900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4060"/>
              </a:lnSpc>
              <a:spcBef>
                <a:spcPct val="0"/>
              </a:spcBef>
            </a:pPr>
            <a:endParaRPr lang="en-US" sz="2900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4060"/>
              </a:lnSpc>
              <a:spcBef>
                <a:spcPct val="0"/>
              </a:spcBef>
            </a:pPr>
            <a:endParaRPr lang="en-US" sz="2900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807025" y="629472"/>
            <a:ext cx="11988134" cy="12366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540"/>
              </a:lnSpc>
              <a:spcBef>
                <a:spcPct val="0"/>
              </a:spcBef>
            </a:pPr>
            <a:r>
              <a:rPr lang="en-US" sz="6815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Paid ads </a:t>
            </a:r>
            <a:endParaRPr lang="en-US" sz="6815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68769" y="356951"/>
            <a:ext cx="17057231" cy="9573098"/>
            <a:chOff x="0" y="0"/>
            <a:chExt cx="4492439" cy="252131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492439" cy="2521310"/>
            </a:xfrm>
            <a:custGeom>
              <a:avLst/>
              <a:gdLst/>
              <a:ahLst/>
              <a:cxnLst/>
              <a:rect l="l" t="t" r="r" b="b"/>
              <a:pathLst>
                <a:path w="4492439" h="2521310">
                  <a:moveTo>
                    <a:pt x="0" y="0"/>
                  </a:moveTo>
                  <a:lnTo>
                    <a:pt x="4492439" y="0"/>
                  </a:lnTo>
                  <a:lnTo>
                    <a:pt x="4492439" y="2521310"/>
                  </a:lnTo>
                  <a:lnTo>
                    <a:pt x="0" y="252131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11FBB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492439" cy="2578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7526000" y="356951"/>
            <a:ext cx="273257" cy="9573098"/>
            <a:chOff x="0" y="0"/>
            <a:chExt cx="71969" cy="252131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1969" cy="2521310"/>
            </a:xfrm>
            <a:custGeom>
              <a:avLst/>
              <a:gdLst/>
              <a:ahLst/>
              <a:cxnLst/>
              <a:rect l="l" t="t" r="r" b="b"/>
              <a:pathLst>
                <a:path w="71969" h="2521310">
                  <a:moveTo>
                    <a:pt x="0" y="0"/>
                  </a:moveTo>
                  <a:lnTo>
                    <a:pt x="71969" y="0"/>
                  </a:lnTo>
                  <a:lnTo>
                    <a:pt x="71969" y="2521310"/>
                  </a:lnTo>
                  <a:lnTo>
                    <a:pt x="0" y="2521310"/>
                  </a:lnTo>
                  <a:close/>
                </a:path>
              </a:pathLst>
            </a:custGeom>
            <a:solidFill>
              <a:srgbClr val="A2D078"/>
            </a:solidFill>
            <a:ln w="19050" cap="sq">
              <a:solidFill>
                <a:srgbClr val="011FBB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71969" cy="2578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55886" y="9608891"/>
            <a:ext cx="17070114" cy="321159"/>
            <a:chOff x="0" y="0"/>
            <a:chExt cx="4495833" cy="8458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495833" cy="84585"/>
            </a:xfrm>
            <a:custGeom>
              <a:avLst/>
              <a:gdLst/>
              <a:ahLst/>
              <a:cxnLst/>
              <a:rect l="l" t="t" r="r" b="b"/>
              <a:pathLst>
                <a:path w="4495833" h="84585">
                  <a:moveTo>
                    <a:pt x="0" y="0"/>
                  </a:moveTo>
                  <a:lnTo>
                    <a:pt x="4495833" y="0"/>
                  </a:lnTo>
                  <a:lnTo>
                    <a:pt x="4495833" y="84585"/>
                  </a:lnTo>
                  <a:lnTo>
                    <a:pt x="0" y="84585"/>
                  </a:lnTo>
                  <a:close/>
                </a:path>
              </a:pathLst>
            </a:custGeom>
            <a:solidFill>
              <a:srgbClr val="FCCC38"/>
            </a:solidFill>
            <a:ln w="19050" cap="sq">
              <a:solidFill>
                <a:srgbClr val="011FBB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4495833" cy="1417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11" name="Freeform 11"/>
          <p:cNvSpPr/>
          <p:nvPr/>
        </p:nvSpPr>
        <p:spPr>
          <a:xfrm>
            <a:off x="807025" y="2094730"/>
            <a:ext cx="443351" cy="450605"/>
          </a:xfrm>
          <a:custGeom>
            <a:avLst/>
            <a:gdLst/>
            <a:ahLst/>
            <a:cxnLst/>
            <a:rect l="l" t="t" r="r" b="b"/>
            <a:pathLst>
              <a:path w="443351" h="450605">
                <a:moveTo>
                  <a:pt x="0" y="0"/>
                </a:moveTo>
                <a:lnTo>
                  <a:pt x="443350" y="0"/>
                </a:lnTo>
                <a:lnTo>
                  <a:pt x="443350" y="450606"/>
                </a:lnTo>
                <a:lnTo>
                  <a:pt x="0" y="45060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336520" y="2018530"/>
            <a:ext cx="15762625" cy="70247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60"/>
              </a:lnSpc>
            </a:pPr>
            <a:r>
              <a:rPr lang="en-US" sz="2900" dirty="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KPIs to measure result of each campaign</a:t>
            </a:r>
            <a:endParaRPr lang="en-US" sz="2900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4060"/>
              </a:lnSpc>
            </a:pPr>
            <a:endParaRPr lang="en-US" sz="2900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457200" indent="-457200" algn="l">
              <a:lnSpc>
                <a:spcPts val="4060"/>
              </a:lnSpc>
              <a:buFont typeface="Arial" panose="020B0604020202020204" pitchFamily="34" charset="0"/>
              <a:buChar char="•"/>
            </a:pPr>
            <a:r>
              <a:rPr lang="en-US" sz="2900" dirty="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CPM: Cost Per Mille (10,000 impressions)</a:t>
            </a:r>
            <a:endParaRPr lang="en-US" sz="2900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r>
              <a:rPr lang="en-US" sz="3200" dirty="0"/>
              <a:t>    CPM = (Total Spend/Total Impressions)×1000</a:t>
            </a: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900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900" dirty="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CPC: Cost Per Click</a:t>
            </a:r>
            <a:endParaRPr lang="en-US" sz="2900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200" dirty="0">
                <a:latin typeface="Arial" panose="020B0604020202020204" pitchFamily="34" charset="0"/>
              </a:rPr>
              <a:t>    </a:t>
            </a:r>
            <a:r>
              <a:rPr lang="en-US" altLang="en-US" sz="2900" dirty="0">
                <a:latin typeface="Poppins" panose="00000500000000000000" pitchFamily="2" charset="0"/>
                <a:cs typeface="Poppins" panose="00000500000000000000" pitchFamily="2" charset="0"/>
              </a:rPr>
              <a:t>CPC= Total Spend​ / Total Clicks</a:t>
            </a:r>
            <a:endParaRPr lang="en-US" altLang="en-US" sz="29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9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900" dirty="0">
                <a:latin typeface="Poppins" panose="00000500000000000000" pitchFamily="2" charset="0"/>
                <a:cs typeface="Poppins" panose="00000500000000000000" pitchFamily="2" charset="0"/>
              </a:rPr>
              <a:t>CTR: Click Through Rate, the % of people who clicked your ad after seeing it.</a:t>
            </a:r>
            <a:endParaRPr lang="en-US" sz="29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sz="2900" dirty="0">
                <a:latin typeface="Poppins" panose="00000500000000000000" pitchFamily="2" charset="0"/>
                <a:cs typeface="Poppins" panose="00000500000000000000" pitchFamily="2" charset="0"/>
              </a:rPr>
              <a:t>     CTR= (Clicks/Impressions)×100</a:t>
            </a:r>
            <a:endParaRPr lang="en-US" sz="29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endParaRPr lang="en-US" altLang="en-US" sz="29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900" dirty="0">
                <a:latin typeface="Poppins" panose="00000500000000000000" pitchFamily="2" charset="0"/>
                <a:cs typeface="Poppins" panose="00000500000000000000" pitchFamily="2" charset="0"/>
              </a:rPr>
              <a:t>Reach: the number of unique people who saw your ad at least once.</a:t>
            </a:r>
            <a:endParaRPr lang="en-US" sz="29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en-US" sz="29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900" dirty="0">
                <a:latin typeface="Poppins" panose="00000500000000000000" pitchFamily="2" charset="0"/>
                <a:cs typeface="Poppins" panose="00000500000000000000" pitchFamily="2" charset="0"/>
              </a:rPr>
              <a:t>Impression: The total number of times your ad was displayed, including multiple times to the same person.</a:t>
            </a:r>
            <a:endParaRPr lang="en-US" altLang="en-US" sz="29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807025" y="629472"/>
            <a:ext cx="11988134" cy="12366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540"/>
              </a:lnSpc>
              <a:spcBef>
                <a:spcPct val="0"/>
              </a:spcBef>
            </a:pPr>
            <a:r>
              <a:rPr lang="en-US" sz="6815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Paid ads </a:t>
            </a:r>
            <a:endParaRPr lang="en-US" sz="6815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68769" y="356951"/>
            <a:ext cx="17057231" cy="9573098"/>
            <a:chOff x="0" y="0"/>
            <a:chExt cx="4492439" cy="252131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492439" cy="2521310"/>
            </a:xfrm>
            <a:custGeom>
              <a:avLst/>
              <a:gdLst/>
              <a:ahLst/>
              <a:cxnLst/>
              <a:rect l="l" t="t" r="r" b="b"/>
              <a:pathLst>
                <a:path w="4492439" h="2521310">
                  <a:moveTo>
                    <a:pt x="0" y="0"/>
                  </a:moveTo>
                  <a:lnTo>
                    <a:pt x="4492439" y="0"/>
                  </a:lnTo>
                  <a:lnTo>
                    <a:pt x="4492439" y="2521310"/>
                  </a:lnTo>
                  <a:lnTo>
                    <a:pt x="0" y="252131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11FBB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492439" cy="2578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7526000" y="356951"/>
            <a:ext cx="273257" cy="9573098"/>
            <a:chOff x="0" y="0"/>
            <a:chExt cx="71969" cy="252131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1969" cy="2521310"/>
            </a:xfrm>
            <a:custGeom>
              <a:avLst/>
              <a:gdLst/>
              <a:ahLst/>
              <a:cxnLst/>
              <a:rect l="l" t="t" r="r" b="b"/>
              <a:pathLst>
                <a:path w="71969" h="2521310">
                  <a:moveTo>
                    <a:pt x="0" y="0"/>
                  </a:moveTo>
                  <a:lnTo>
                    <a:pt x="71969" y="0"/>
                  </a:lnTo>
                  <a:lnTo>
                    <a:pt x="71969" y="2521310"/>
                  </a:lnTo>
                  <a:lnTo>
                    <a:pt x="0" y="2521310"/>
                  </a:lnTo>
                  <a:close/>
                </a:path>
              </a:pathLst>
            </a:custGeom>
            <a:solidFill>
              <a:srgbClr val="A2D078"/>
            </a:solidFill>
            <a:ln w="19050" cap="sq">
              <a:solidFill>
                <a:srgbClr val="011FBB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71969" cy="2578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55886" y="9608891"/>
            <a:ext cx="17070114" cy="321159"/>
            <a:chOff x="0" y="0"/>
            <a:chExt cx="4495833" cy="8458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495833" cy="84585"/>
            </a:xfrm>
            <a:custGeom>
              <a:avLst/>
              <a:gdLst/>
              <a:ahLst/>
              <a:cxnLst/>
              <a:rect l="l" t="t" r="r" b="b"/>
              <a:pathLst>
                <a:path w="4495833" h="84585">
                  <a:moveTo>
                    <a:pt x="0" y="0"/>
                  </a:moveTo>
                  <a:lnTo>
                    <a:pt x="4495833" y="0"/>
                  </a:lnTo>
                  <a:lnTo>
                    <a:pt x="4495833" y="84585"/>
                  </a:lnTo>
                  <a:lnTo>
                    <a:pt x="0" y="84585"/>
                  </a:lnTo>
                  <a:close/>
                </a:path>
              </a:pathLst>
            </a:custGeom>
            <a:solidFill>
              <a:srgbClr val="FCCC38"/>
            </a:solidFill>
            <a:ln w="19050" cap="sq">
              <a:solidFill>
                <a:srgbClr val="011FBB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4495833" cy="1417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11" name="Freeform 11"/>
          <p:cNvSpPr/>
          <p:nvPr/>
        </p:nvSpPr>
        <p:spPr>
          <a:xfrm>
            <a:off x="807025" y="2094730"/>
            <a:ext cx="443351" cy="450605"/>
          </a:xfrm>
          <a:custGeom>
            <a:avLst/>
            <a:gdLst/>
            <a:ahLst/>
            <a:cxnLst/>
            <a:rect l="l" t="t" r="r" b="b"/>
            <a:pathLst>
              <a:path w="443351" h="450605">
                <a:moveTo>
                  <a:pt x="0" y="0"/>
                </a:moveTo>
                <a:lnTo>
                  <a:pt x="443350" y="0"/>
                </a:lnTo>
                <a:lnTo>
                  <a:pt x="443350" y="450606"/>
                </a:lnTo>
                <a:lnTo>
                  <a:pt x="0" y="45060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336520" y="2018530"/>
            <a:ext cx="15762625" cy="60374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60"/>
              </a:lnSpc>
            </a:pPr>
            <a:r>
              <a:rPr lang="en-US" sz="2900" dirty="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KPIs to measure result of each campaign</a:t>
            </a:r>
            <a:endParaRPr lang="en-US" sz="2900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4060"/>
              </a:lnSpc>
            </a:pPr>
            <a:endParaRPr lang="en-US" sz="2900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457200" indent="-457200" algn="l">
              <a:lnSpc>
                <a:spcPts val="406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900" dirty="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Ad frequency: </a:t>
            </a:r>
            <a:r>
              <a:rPr lang="en-US" sz="3200" dirty="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t</a:t>
            </a:r>
            <a:r>
              <a:rPr lang="en-US" sz="3200" dirty="0"/>
              <a:t>he average number of times each person saw your ad.</a:t>
            </a:r>
            <a:endParaRPr lang="en-US" sz="3200" dirty="0"/>
          </a:p>
          <a:p>
            <a:r>
              <a:rPr lang="en-US" sz="3200" dirty="0"/>
              <a:t>	Ad frequency=Impressions/Reach</a:t>
            </a:r>
            <a:endParaRPr lang="en-US" sz="3200" dirty="0"/>
          </a:p>
          <a:p>
            <a:endParaRPr lang="en-US" sz="2900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457200" indent="-457200" algn="l">
              <a:lnSpc>
                <a:spcPts val="406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900" dirty="0">
                <a:solidFill>
                  <a:srgbClr val="000000"/>
                </a:solidFill>
                <a:latin typeface="Poppins" panose="00000500000000000000" pitchFamily="2" charset="0"/>
                <a:ea typeface="Poppins" panose="00000500000000000000"/>
                <a:cs typeface="Poppins" panose="00000500000000000000" pitchFamily="2" charset="0"/>
                <a:sym typeface="Poppins" panose="00000500000000000000"/>
              </a:rPr>
              <a:t>CPL: Cost Per Lead, t</a:t>
            </a:r>
            <a:r>
              <a:rPr lang="en-US" altLang="en-US" sz="2900" dirty="0">
                <a:latin typeface="Poppins" panose="00000500000000000000" pitchFamily="2" charset="0"/>
                <a:cs typeface="Poppins" panose="00000500000000000000" pitchFamily="2" charset="0"/>
              </a:rPr>
              <a:t>he cost you pay to get one lead (signup, form fill, etc.).</a:t>
            </a:r>
            <a:endParaRPr lang="en-US" altLang="en-US" sz="29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900" b="1" dirty="0">
                <a:latin typeface="Poppins" panose="00000500000000000000" pitchFamily="2" charset="0"/>
                <a:cs typeface="Poppins" panose="00000500000000000000" pitchFamily="2" charset="0"/>
              </a:rPr>
              <a:t>	</a:t>
            </a:r>
            <a:r>
              <a:rPr lang="en-US" altLang="en-US" sz="2900" dirty="0">
                <a:latin typeface="Poppins" panose="00000500000000000000" pitchFamily="2" charset="0"/>
                <a:cs typeface="Poppins" panose="00000500000000000000" pitchFamily="2" charset="0"/>
              </a:rPr>
              <a:t>CPL=Total Spend/Number of Leads</a:t>
            </a:r>
            <a:endParaRPr lang="en-US" altLang="en-US" sz="29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457200" indent="-457200" algn="l">
              <a:lnSpc>
                <a:spcPts val="406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sz="2900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457200" indent="-457200" algn="l">
              <a:lnSpc>
                <a:spcPts val="406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900" dirty="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Conversion rate: (purchased/ clicked) x 100</a:t>
            </a:r>
            <a:endParaRPr lang="en-US" sz="2900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457200" indent="-457200" algn="l">
              <a:lnSpc>
                <a:spcPts val="406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sz="2900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457200" indent="-457200" algn="l">
              <a:lnSpc>
                <a:spcPts val="406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900" dirty="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CPV: Cost Per View (Videos)</a:t>
            </a:r>
            <a:endParaRPr lang="en-US" sz="2900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900" dirty="0">
                <a:latin typeface="Poppins" panose="00000500000000000000" pitchFamily="2" charset="0"/>
                <a:cs typeface="Poppins" panose="00000500000000000000" pitchFamily="2" charset="0"/>
              </a:rPr>
              <a:t>	CPV= Total Spend/Video Views</a:t>
            </a:r>
            <a:endParaRPr lang="en-US" altLang="en-US" sz="29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807025" y="629472"/>
            <a:ext cx="11988134" cy="12366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540"/>
              </a:lnSpc>
              <a:spcBef>
                <a:spcPct val="0"/>
              </a:spcBef>
            </a:pPr>
            <a:r>
              <a:rPr lang="en-US" sz="6815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Paid ads </a:t>
            </a:r>
            <a:endParaRPr lang="en-US" sz="6815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68769" y="356951"/>
            <a:ext cx="17057231" cy="9573098"/>
            <a:chOff x="0" y="0"/>
            <a:chExt cx="4492439" cy="252131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492439" cy="2521310"/>
            </a:xfrm>
            <a:custGeom>
              <a:avLst/>
              <a:gdLst/>
              <a:ahLst/>
              <a:cxnLst/>
              <a:rect l="l" t="t" r="r" b="b"/>
              <a:pathLst>
                <a:path w="4492439" h="2521310">
                  <a:moveTo>
                    <a:pt x="0" y="0"/>
                  </a:moveTo>
                  <a:lnTo>
                    <a:pt x="4492439" y="0"/>
                  </a:lnTo>
                  <a:lnTo>
                    <a:pt x="4492439" y="2521310"/>
                  </a:lnTo>
                  <a:lnTo>
                    <a:pt x="0" y="252131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11FBB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492439" cy="2578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7526000" y="356951"/>
            <a:ext cx="273257" cy="9573098"/>
            <a:chOff x="0" y="0"/>
            <a:chExt cx="71969" cy="252131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1969" cy="2521310"/>
            </a:xfrm>
            <a:custGeom>
              <a:avLst/>
              <a:gdLst/>
              <a:ahLst/>
              <a:cxnLst/>
              <a:rect l="l" t="t" r="r" b="b"/>
              <a:pathLst>
                <a:path w="71969" h="2521310">
                  <a:moveTo>
                    <a:pt x="0" y="0"/>
                  </a:moveTo>
                  <a:lnTo>
                    <a:pt x="71969" y="0"/>
                  </a:lnTo>
                  <a:lnTo>
                    <a:pt x="71969" y="2521310"/>
                  </a:lnTo>
                  <a:lnTo>
                    <a:pt x="0" y="2521310"/>
                  </a:lnTo>
                  <a:close/>
                </a:path>
              </a:pathLst>
            </a:custGeom>
            <a:solidFill>
              <a:srgbClr val="A2D078"/>
            </a:solidFill>
            <a:ln w="19050" cap="sq">
              <a:solidFill>
                <a:srgbClr val="011FBB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71969" cy="2578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55886" y="9608891"/>
            <a:ext cx="17070114" cy="321159"/>
            <a:chOff x="0" y="0"/>
            <a:chExt cx="4495833" cy="8458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495833" cy="84585"/>
            </a:xfrm>
            <a:custGeom>
              <a:avLst/>
              <a:gdLst/>
              <a:ahLst/>
              <a:cxnLst/>
              <a:rect l="l" t="t" r="r" b="b"/>
              <a:pathLst>
                <a:path w="4495833" h="84585">
                  <a:moveTo>
                    <a:pt x="0" y="0"/>
                  </a:moveTo>
                  <a:lnTo>
                    <a:pt x="4495833" y="0"/>
                  </a:lnTo>
                  <a:lnTo>
                    <a:pt x="4495833" y="84585"/>
                  </a:lnTo>
                  <a:lnTo>
                    <a:pt x="0" y="84585"/>
                  </a:lnTo>
                  <a:close/>
                </a:path>
              </a:pathLst>
            </a:custGeom>
            <a:solidFill>
              <a:srgbClr val="FCCC38"/>
            </a:solidFill>
            <a:ln w="19050" cap="sq">
              <a:solidFill>
                <a:srgbClr val="011FBB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4495833" cy="1417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11" name="Freeform 11"/>
          <p:cNvSpPr/>
          <p:nvPr/>
        </p:nvSpPr>
        <p:spPr>
          <a:xfrm>
            <a:off x="807025" y="2094730"/>
            <a:ext cx="443351" cy="450605"/>
          </a:xfrm>
          <a:custGeom>
            <a:avLst/>
            <a:gdLst/>
            <a:ahLst/>
            <a:cxnLst/>
            <a:rect l="l" t="t" r="r" b="b"/>
            <a:pathLst>
              <a:path w="443351" h="450605">
                <a:moveTo>
                  <a:pt x="0" y="0"/>
                </a:moveTo>
                <a:lnTo>
                  <a:pt x="443350" y="0"/>
                </a:lnTo>
                <a:lnTo>
                  <a:pt x="443350" y="450606"/>
                </a:lnTo>
                <a:lnTo>
                  <a:pt x="0" y="45060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336520" y="2018530"/>
            <a:ext cx="15762625" cy="36197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60"/>
              </a:lnSpc>
            </a:pPr>
            <a:r>
              <a:rPr lang="en-US" sz="2900" dirty="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KPIs to measure result of each campaign</a:t>
            </a:r>
            <a:endParaRPr lang="en-US" sz="2900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4060"/>
              </a:lnSpc>
            </a:pPr>
            <a:endParaRPr lang="en-US" sz="2900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457200" indent="-457200" algn="l">
              <a:lnSpc>
                <a:spcPts val="406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900" dirty="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ROI: Return on Investment</a:t>
            </a:r>
            <a:endParaRPr lang="en-US" sz="2900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>
              <a:lnSpc>
                <a:spcPts val="4060"/>
              </a:lnSpc>
              <a:spcBef>
                <a:spcPct val="0"/>
              </a:spcBef>
            </a:pPr>
            <a:r>
              <a:rPr lang="en-US" sz="3200" dirty="0"/>
              <a:t>	ROI= (Net Profit/ Cost of Investment) ​× 100</a:t>
            </a:r>
            <a:endParaRPr lang="en-US" sz="2900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457200" indent="-457200" algn="l">
              <a:lnSpc>
                <a:spcPts val="406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900" dirty="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ROAS: Return on Ad Spent</a:t>
            </a:r>
            <a:endParaRPr lang="en-US" sz="2900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900" dirty="0">
                <a:solidFill>
                  <a:srgbClr val="000000"/>
                </a:solidFill>
                <a:latin typeface="Poppins" panose="00000500000000000000"/>
                <a:cs typeface="Poppins" panose="00000500000000000000"/>
                <a:sym typeface="Poppins" panose="00000500000000000000"/>
              </a:rPr>
              <a:t>	</a:t>
            </a:r>
            <a:r>
              <a:rPr lang="en-US" altLang="en-US" sz="2900" dirty="0">
                <a:latin typeface="Poppins" panose="00000500000000000000" pitchFamily="2" charset="0"/>
                <a:cs typeface="Poppins" panose="00000500000000000000" pitchFamily="2" charset="0"/>
              </a:rPr>
              <a:t>ROAS=(Ad Spend / Revenue from Ads</a:t>
            </a:r>
            <a:r>
              <a:rPr lang="en-US" altLang="en-US" sz="3200" dirty="0">
                <a:latin typeface="Arial" panose="020B0604020202020204" pitchFamily="34" charset="0"/>
              </a:rPr>
              <a:t>​) x 100 </a:t>
            </a:r>
            <a:endParaRPr lang="en-US" altLang="en-US" sz="3200" dirty="0">
              <a:latin typeface="Arial" panose="020B0604020202020204" pitchFamily="34" charset="0"/>
            </a:endParaRPr>
          </a:p>
          <a:p>
            <a:pPr algn="l">
              <a:lnSpc>
                <a:spcPts val="4060"/>
              </a:lnSpc>
              <a:spcBef>
                <a:spcPct val="0"/>
              </a:spcBef>
            </a:pPr>
            <a:endParaRPr lang="en-US" sz="2900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807025" y="629472"/>
            <a:ext cx="11988134" cy="12366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540"/>
              </a:lnSpc>
              <a:spcBef>
                <a:spcPct val="0"/>
              </a:spcBef>
            </a:pPr>
            <a:r>
              <a:rPr lang="en-US" sz="6815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Paid ads </a:t>
            </a:r>
            <a:endParaRPr lang="en-US" sz="6815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68769" y="356951"/>
            <a:ext cx="17057231" cy="9573098"/>
            <a:chOff x="0" y="0"/>
            <a:chExt cx="4492439" cy="252131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492439" cy="2521310"/>
            </a:xfrm>
            <a:custGeom>
              <a:avLst/>
              <a:gdLst/>
              <a:ahLst/>
              <a:cxnLst/>
              <a:rect l="l" t="t" r="r" b="b"/>
              <a:pathLst>
                <a:path w="4492439" h="2521310">
                  <a:moveTo>
                    <a:pt x="0" y="0"/>
                  </a:moveTo>
                  <a:lnTo>
                    <a:pt x="4492439" y="0"/>
                  </a:lnTo>
                  <a:lnTo>
                    <a:pt x="4492439" y="2521310"/>
                  </a:lnTo>
                  <a:lnTo>
                    <a:pt x="0" y="252131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11FBB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492439" cy="2578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660"/>
                </a:lnSpc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7526000" y="356951"/>
            <a:ext cx="273257" cy="9573098"/>
            <a:chOff x="0" y="0"/>
            <a:chExt cx="71969" cy="252131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1969" cy="2521310"/>
            </a:xfrm>
            <a:custGeom>
              <a:avLst/>
              <a:gdLst/>
              <a:ahLst/>
              <a:cxnLst/>
              <a:rect l="l" t="t" r="r" b="b"/>
              <a:pathLst>
                <a:path w="71969" h="2521310">
                  <a:moveTo>
                    <a:pt x="0" y="0"/>
                  </a:moveTo>
                  <a:lnTo>
                    <a:pt x="71969" y="0"/>
                  </a:lnTo>
                  <a:lnTo>
                    <a:pt x="71969" y="2521310"/>
                  </a:lnTo>
                  <a:lnTo>
                    <a:pt x="0" y="2521310"/>
                  </a:lnTo>
                  <a:close/>
                </a:path>
              </a:pathLst>
            </a:custGeom>
            <a:solidFill>
              <a:srgbClr val="A2D078"/>
            </a:solidFill>
            <a:ln w="19050" cap="sq">
              <a:solidFill>
                <a:srgbClr val="011FBB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71969" cy="2578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55886" y="9608891"/>
            <a:ext cx="17070114" cy="321159"/>
            <a:chOff x="0" y="0"/>
            <a:chExt cx="4495833" cy="8458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495833" cy="84585"/>
            </a:xfrm>
            <a:custGeom>
              <a:avLst/>
              <a:gdLst/>
              <a:ahLst/>
              <a:cxnLst/>
              <a:rect l="l" t="t" r="r" b="b"/>
              <a:pathLst>
                <a:path w="4495833" h="84585">
                  <a:moveTo>
                    <a:pt x="0" y="0"/>
                  </a:moveTo>
                  <a:lnTo>
                    <a:pt x="4495833" y="0"/>
                  </a:lnTo>
                  <a:lnTo>
                    <a:pt x="4495833" y="84585"/>
                  </a:lnTo>
                  <a:lnTo>
                    <a:pt x="0" y="84585"/>
                  </a:lnTo>
                  <a:close/>
                </a:path>
              </a:pathLst>
            </a:custGeom>
            <a:solidFill>
              <a:srgbClr val="FCCC38"/>
            </a:solidFill>
            <a:ln w="19050" cap="sq">
              <a:solidFill>
                <a:srgbClr val="011FBB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4495833" cy="1417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11" name="Freeform 11"/>
          <p:cNvSpPr/>
          <p:nvPr/>
        </p:nvSpPr>
        <p:spPr>
          <a:xfrm>
            <a:off x="807025" y="3048355"/>
            <a:ext cx="443351" cy="450605"/>
          </a:xfrm>
          <a:custGeom>
            <a:avLst/>
            <a:gdLst/>
            <a:ahLst/>
            <a:cxnLst/>
            <a:rect l="l" t="t" r="r" b="b"/>
            <a:pathLst>
              <a:path w="443351" h="450605">
                <a:moveTo>
                  <a:pt x="0" y="0"/>
                </a:moveTo>
                <a:lnTo>
                  <a:pt x="443350" y="0"/>
                </a:lnTo>
                <a:lnTo>
                  <a:pt x="443350" y="450605"/>
                </a:lnTo>
                <a:lnTo>
                  <a:pt x="0" y="450605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807025" y="629472"/>
            <a:ext cx="11988134" cy="12366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540"/>
              </a:lnSpc>
              <a:spcBef>
                <a:spcPct val="0"/>
              </a:spcBef>
            </a:pPr>
            <a:r>
              <a:rPr lang="en-US" sz="6815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Paid ads </a:t>
            </a:r>
            <a:endParaRPr lang="en-US" sz="6815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460959" y="2018530"/>
            <a:ext cx="5820020" cy="41177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 dirty="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Always compare your results to</a:t>
            </a:r>
            <a:endParaRPr lang="en-US" sz="2900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4060"/>
              </a:lnSpc>
              <a:spcBef>
                <a:spcPct val="0"/>
              </a:spcBef>
            </a:pPr>
            <a:endParaRPr lang="en-US" sz="2900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 dirty="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Past campaign performance</a:t>
            </a:r>
            <a:endParaRPr lang="en-US" sz="2900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4060"/>
              </a:lnSpc>
              <a:spcBef>
                <a:spcPct val="0"/>
              </a:spcBef>
            </a:pPr>
            <a:endParaRPr lang="en-US" sz="2900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 dirty="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Industry averages </a:t>
            </a:r>
            <a:endParaRPr lang="en-US" sz="2900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4060"/>
              </a:lnSpc>
              <a:spcBef>
                <a:spcPct val="0"/>
              </a:spcBef>
            </a:pPr>
            <a:endParaRPr lang="en-US" sz="2900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 dirty="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Campaign goal (cheap awareness ≠ high ROAS)</a:t>
            </a:r>
            <a:endParaRPr lang="en-US" sz="2900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15" name="Freeform 15"/>
          <p:cNvSpPr/>
          <p:nvPr/>
        </p:nvSpPr>
        <p:spPr>
          <a:xfrm>
            <a:off x="807025" y="4115517"/>
            <a:ext cx="443351" cy="450605"/>
          </a:xfrm>
          <a:custGeom>
            <a:avLst/>
            <a:gdLst/>
            <a:ahLst/>
            <a:cxnLst/>
            <a:rect l="l" t="t" r="r" b="b"/>
            <a:pathLst>
              <a:path w="443351" h="450605">
                <a:moveTo>
                  <a:pt x="0" y="0"/>
                </a:moveTo>
                <a:lnTo>
                  <a:pt x="443350" y="0"/>
                </a:lnTo>
                <a:lnTo>
                  <a:pt x="443350" y="450605"/>
                </a:lnTo>
                <a:lnTo>
                  <a:pt x="0" y="450605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807025" y="5185247"/>
            <a:ext cx="443351" cy="450605"/>
          </a:xfrm>
          <a:custGeom>
            <a:avLst/>
            <a:gdLst/>
            <a:ahLst/>
            <a:cxnLst/>
            <a:rect l="l" t="t" r="r" b="b"/>
            <a:pathLst>
              <a:path w="443351" h="450605">
                <a:moveTo>
                  <a:pt x="0" y="0"/>
                </a:moveTo>
                <a:lnTo>
                  <a:pt x="443350" y="0"/>
                </a:lnTo>
                <a:lnTo>
                  <a:pt x="443350" y="450605"/>
                </a:lnTo>
                <a:lnTo>
                  <a:pt x="0" y="450605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8678083" y="2303140"/>
          <a:ext cx="7781118" cy="4594554"/>
        </p:xfrm>
        <a:graphic>
          <a:graphicData uri="http://schemas.openxmlformats.org/drawingml/2006/table">
            <a:tbl>
              <a:tblPr/>
              <a:tblGrid>
                <a:gridCol w="2593706"/>
                <a:gridCol w="2444211"/>
                <a:gridCol w="2743201"/>
              </a:tblGrid>
              <a:tr h="5934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>
                          <a:effectLst/>
                        </a:rPr>
                        <a:t>Campaign Type</a:t>
                      </a:r>
                      <a:endParaRPr lang="en-US" sz="1800" b="1">
                        <a:effectLst/>
                      </a:endParaRPr>
                    </a:p>
                  </a:txBody>
                  <a:tcPr marL="62607" marR="62607" marT="31303" marB="31303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>
                          <a:effectLst/>
                        </a:rPr>
                        <a:t>Key KPIs to Watch</a:t>
                      </a:r>
                      <a:endParaRPr lang="en-US" sz="1800" b="1">
                        <a:effectLst/>
                      </a:endParaRPr>
                    </a:p>
                  </a:txBody>
                  <a:tcPr marL="62607" marR="62607" marT="31303" marB="31303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>
                          <a:effectLst/>
                        </a:rPr>
                        <a:t>Good Result Means…</a:t>
                      </a:r>
                      <a:endParaRPr lang="en-US" sz="1800" b="1">
                        <a:effectLst/>
                      </a:endParaRPr>
                    </a:p>
                  </a:txBody>
                  <a:tcPr marL="62607" marR="62607" marT="31303" marB="31303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34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>
                          <a:effectLst/>
                        </a:rPr>
                        <a:t>Awareness</a:t>
                      </a:r>
                      <a:endParaRPr lang="en-US" sz="1800" b="1" dirty="0">
                        <a:effectLst/>
                      </a:endParaRPr>
                    </a:p>
                  </a:txBody>
                  <a:tcPr marL="62607" marR="62607" marT="31303" marB="31303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</a:rPr>
                        <a:t>CPM, Reach, Frequency</a:t>
                      </a:r>
                      <a:endParaRPr lang="en-US" sz="1800">
                        <a:effectLst/>
                      </a:endParaRPr>
                    </a:p>
                  </a:txBody>
                  <a:tcPr marL="62607" marR="62607" marT="31303" marB="31303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</a:rPr>
                        <a:t>You’re getting cheap reach, not spamming same people too much</a:t>
                      </a:r>
                      <a:endParaRPr lang="en-US" sz="1800">
                        <a:effectLst/>
                      </a:endParaRPr>
                    </a:p>
                  </a:txBody>
                  <a:tcPr marL="62607" marR="62607" marT="31303" marB="31303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34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>
                          <a:effectLst/>
                        </a:rPr>
                        <a:t>Traffic</a:t>
                      </a:r>
                      <a:endParaRPr lang="en-US" sz="1800" b="1">
                        <a:effectLst/>
                      </a:endParaRPr>
                    </a:p>
                  </a:txBody>
                  <a:tcPr marL="62607" marR="62607" marT="31303" marB="31303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effectLst/>
                        </a:rPr>
                        <a:t>CPC, CTR</a:t>
                      </a:r>
                      <a:endParaRPr lang="en-US" sz="1800" dirty="0">
                        <a:effectLst/>
                      </a:endParaRPr>
                    </a:p>
                  </a:txBody>
                  <a:tcPr marL="62607" marR="62607" marT="31303" marB="31303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effectLst/>
                        </a:rPr>
                        <a:t>People are clicking your ad at low cost</a:t>
                      </a:r>
                      <a:endParaRPr lang="en-US" sz="1800" dirty="0">
                        <a:effectLst/>
                      </a:endParaRPr>
                    </a:p>
                  </a:txBody>
                  <a:tcPr marL="62607" marR="62607" marT="31303" marB="31303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34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>
                          <a:effectLst/>
                        </a:rPr>
                        <a:t>Engagement</a:t>
                      </a:r>
                      <a:endParaRPr lang="en-US" sz="1800" b="1">
                        <a:effectLst/>
                      </a:endParaRPr>
                    </a:p>
                  </a:txBody>
                  <a:tcPr marL="62607" marR="62607" marT="31303" marB="31303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</a:rPr>
                        <a:t>CTR, Likes, Comments, Shares</a:t>
                      </a:r>
                      <a:endParaRPr lang="en-US" sz="1800">
                        <a:effectLst/>
                      </a:endParaRPr>
                    </a:p>
                  </a:txBody>
                  <a:tcPr marL="62607" marR="62607" marT="31303" marB="31303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</a:rPr>
                        <a:t>People are interacting with your content</a:t>
                      </a:r>
                      <a:endParaRPr lang="en-US" sz="1800">
                        <a:effectLst/>
                      </a:endParaRPr>
                    </a:p>
                  </a:txBody>
                  <a:tcPr marL="62607" marR="62607" marT="31303" marB="31303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34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>
                          <a:effectLst/>
                        </a:rPr>
                        <a:t>Leads</a:t>
                      </a:r>
                      <a:endParaRPr lang="en-US" sz="1800" b="1">
                        <a:effectLst/>
                      </a:endParaRPr>
                    </a:p>
                  </a:txBody>
                  <a:tcPr marL="62607" marR="62607" marT="31303" marB="31303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</a:rPr>
                        <a:t>CPL, Conversion Rate</a:t>
                      </a:r>
                      <a:endParaRPr lang="en-US" sz="1800">
                        <a:effectLst/>
                      </a:endParaRPr>
                    </a:p>
                  </a:txBody>
                  <a:tcPr marL="62607" marR="62607" marT="31303" marB="31303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</a:rPr>
                        <a:t>Leads are coming in at a good cost</a:t>
                      </a:r>
                      <a:endParaRPr lang="en-US" sz="1800">
                        <a:effectLst/>
                      </a:endParaRPr>
                    </a:p>
                  </a:txBody>
                  <a:tcPr marL="62607" marR="62607" marT="31303" marB="31303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34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>
                          <a:effectLst/>
                        </a:rPr>
                        <a:t>Sales</a:t>
                      </a:r>
                      <a:endParaRPr lang="en-US" sz="1800" b="1">
                        <a:effectLst/>
                      </a:endParaRPr>
                    </a:p>
                  </a:txBody>
                  <a:tcPr marL="62607" marR="62607" marT="31303" marB="31303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</a:rPr>
                        <a:t>ROAS, Conversion Rate, CPC</a:t>
                      </a:r>
                      <a:endParaRPr lang="en-US" sz="1800">
                        <a:effectLst/>
                      </a:endParaRPr>
                    </a:p>
                  </a:txBody>
                  <a:tcPr marL="62607" marR="62607" marT="31303" marB="31303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effectLst/>
                        </a:rPr>
                        <a:t>You're getting profitable purchases</a:t>
                      </a:r>
                      <a:endParaRPr lang="en-US" sz="1800" dirty="0">
                        <a:effectLst/>
                      </a:endParaRPr>
                    </a:p>
                  </a:txBody>
                  <a:tcPr marL="62607" marR="62607" marT="31303" marB="31303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Rectangle 1"/>
          <p:cNvSpPr>
            <a:spLocks noChangeArrowheads="1"/>
          </p:cNvSpPr>
          <p:nvPr/>
        </p:nvSpPr>
        <p:spPr bwMode="auto">
          <a:xfrm>
            <a:off x="1754188" y="16002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68769" y="356951"/>
            <a:ext cx="17057231" cy="9573098"/>
            <a:chOff x="0" y="0"/>
            <a:chExt cx="4492439" cy="252131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492439" cy="2521310"/>
            </a:xfrm>
            <a:custGeom>
              <a:avLst/>
              <a:gdLst/>
              <a:ahLst/>
              <a:cxnLst/>
              <a:rect l="l" t="t" r="r" b="b"/>
              <a:pathLst>
                <a:path w="4492439" h="2521310">
                  <a:moveTo>
                    <a:pt x="0" y="0"/>
                  </a:moveTo>
                  <a:lnTo>
                    <a:pt x="4492439" y="0"/>
                  </a:lnTo>
                  <a:lnTo>
                    <a:pt x="4492439" y="2521310"/>
                  </a:lnTo>
                  <a:lnTo>
                    <a:pt x="0" y="252131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11FBB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492439" cy="2578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660"/>
                </a:lnSpc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7526000" y="356951"/>
            <a:ext cx="273257" cy="9573098"/>
            <a:chOff x="0" y="0"/>
            <a:chExt cx="71969" cy="252131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1969" cy="2521310"/>
            </a:xfrm>
            <a:custGeom>
              <a:avLst/>
              <a:gdLst/>
              <a:ahLst/>
              <a:cxnLst/>
              <a:rect l="l" t="t" r="r" b="b"/>
              <a:pathLst>
                <a:path w="71969" h="2521310">
                  <a:moveTo>
                    <a:pt x="0" y="0"/>
                  </a:moveTo>
                  <a:lnTo>
                    <a:pt x="71969" y="0"/>
                  </a:lnTo>
                  <a:lnTo>
                    <a:pt x="71969" y="2521310"/>
                  </a:lnTo>
                  <a:lnTo>
                    <a:pt x="0" y="2521310"/>
                  </a:lnTo>
                  <a:close/>
                </a:path>
              </a:pathLst>
            </a:custGeom>
            <a:solidFill>
              <a:srgbClr val="A2D078"/>
            </a:solidFill>
            <a:ln w="19050" cap="sq">
              <a:solidFill>
                <a:srgbClr val="011FBB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71969" cy="2578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55886" y="9608891"/>
            <a:ext cx="17070114" cy="321159"/>
            <a:chOff x="0" y="0"/>
            <a:chExt cx="4495833" cy="8458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495833" cy="84585"/>
            </a:xfrm>
            <a:custGeom>
              <a:avLst/>
              <a:gdLst/>
              <a:ahLst/>
              <a:cxnLst/>
              <a:rect l="l" t="t" r="r" b="b"/>
              <a:pathLst>
                <a:path w="4495833" h="84585">
                  <a:moveTo>
                    <a:pt x="0" y="0"/>
                  </a:moveTo>
                  <a:lnTo>
                    <a:pt x="4495833" y="0"/>
                  </a:lnTo>
                  <a:lnTo>
                    <a:pt x="4495833" y="84585"/>
                  </a:lnTo>
                  <a:lnTo>
                    <a:pt x="0" y="84585"/>
                  </a:lnTo>
                  <a:close/>
                </a:path>
              </a:pathLst>
            </a:custGeom>
            <a:solidFill>
              <a:srgbClr val="FCCC38"/>
            </a:solidFill>
            <a:ln w="19050" cap="sq">
              <a:solidFill>
                <a:srgbClr val="011FBB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4495833" cy="1417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11" name="Freeform 11"/>
          <p:cNvSpPr/>
          <p:nvPr/>
        </p:nvSpPr>
        <p:spPr>
          <a:xfrm>
            <a:off x="807025" y="3048355"/>
            <a:ext cx="443351" cy="450605"/>
          </a:xfrm>
          <a:custGeom>
            <a:avLst/>
            <a:gdLst/>
            <a:ahLst/>
            <a:cxnLst/>
            <a:rect l="l" t="t" r="r" b="b"/>
            <a:pathLst>
              <a:path w="443351" h="450605">
                <a:moveTo>
                  <a:pt x="0" y="0"/>
                </a:moveTo>
                <a:lnTo>
                  <a:pt x="443350" y="0"/>
                </a:lnTo>
                <a:lnTo>
                  <a:pt x="443350" y="450605"/>
                </a:lnTo>
                <a:lnTo>
                  <a:pt x="0" y="450605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807025" y="629472"/>
            <a:ext cx="11988134" cy="12366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540"/>
              </a:lnSpc>
              <a:spcBef>
                <a:spcPct val="0"/>
              </a:spcBef>
            </a:pPr>
            <a:r>
              <a:rPr lang="en-US" sz="6815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Paid ads </a:t>
            </a:r>
            <a:endParaRPr lang="en-US" sz="6815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460959" y="2018530"/>
            <a:ext cx="13666991" cy="1545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Can do manual testing</a:t>
            </a:r>
            <a:endParaRPr lang="en-US" sz="29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4060"/>
              </a:lnSpc>
            </a:pPr>
            <a:endParaRPr lang="en-US" sz="29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Campaign needs to be published for A/B testing</a:t>
            </a:r>
            <a:endParaRPr lang="en-US" sz="29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68769" y="356951"/>
            <a:ext cx="12858362" cy="9573098"/>
            <a:chOff x="0" y="0"/>
            <a:chExt cx="3386564" cy="252131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386565" cy="2521310"/>
            </a:xfrm>
            <a:custGeom>
              <a:avLst/>
              <a:gdLst/>
              <a:ahLst/>
              <a:cxnLst/>
              <a:rect l="l" t="t" r="r" b="b"/>
              <a:pathLst>
                <a:path w="3386565" h="2521310">
                  <a:moveTo>
                    <a:pt x="0" y="0"/>
                  </a:moveTo>
                  <a:lnTo>
                    <a:pt x="3386565" y="0"/>
                  </a:lnTo>
                  <a:lnTo>
                    <a:pt x="3386565" y="2521310"/>
                  </a:lnTo>
                  <a:lnTo>
                    <a:pt x="0" y="2521310"/>
                  </a:lnTo>
                  <a:close/>
                </a:path>
              </a:pathLst>
            </a:custGeom>
            <a:solidFill>
              <a:srgbClr val="FCCC38"/>
            </a:solidFill>
            <a:ln w="19050" cap="sq">
              <a:solidFill>
                <a:srgbClr val="011FBB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3386564" cy="2578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  <a:p>
              <a:pPr algn="ctr">
                <a:lnSpc>
                  <a:spcPts val="2660"/>
                </a:lnSpc>
              </a:pPr>
            </a:p>
            <a:p>
              <a:pPr algn="ctr">
                <a:lnSpc>
                  <a:spcPts val="2660"/>
                </a:lnSpc>
              </a:pPr>
            </a:p>
            <a:p>
              <a:pPr algn="ctr">
                <a:lnSpc>
                  <a:spcPts val="2660"/>
                </a:lnSpc>
              </a:pPr>
            </a:p>
            <a:p>
              <a:pPr algn="ctr">
                <a:lnSpc>
                  <a:spcPts val="2660"/>
                </a:lnSpc>
              </a:pPr>
            </a:p>
            <a:p>
              <a:pPr algn="ctr">
                <a:lnSpc>
                  <a:spcPts val="2660"/>
                </a:lnSpc>
              </a:pPr>
            </a:p>
            <a:p>
              <a:pPr algn="ctr">
                <a:lnSpc>
                  <a:spcPts val="2660"/>
                </a:lnSpc>
              </a:pPr>
            </a:p>
            <a:p>
              <a:pPr algn="ctr">
                <a:lnSpc>
                  <a:spcPts val="2660"/>
                </a:lnSpc>
              </a:pPr>
            </a:p>
            <a:p>
              <a:pPr algn="ctr">
                <a:lnSpc>
                  <a:spcPts val="2660"/>
                </a:lnSpc>
              </a:pPr>
            </a:p>
            <a:p>
              <a:pPr algn="ctr">
                <a:lnSpc>
                  <a:spcPts val="2660"/>
                </a:lnSpc>
              </a:pPr>
            </a:p>
            <a:p>
              <a:pPr algn="ctr">
                <a:lnSpc>
                  <a:spcPts val="2660"/>
                </a:lnSpc>
              </a:pPr>
            </a:p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28700" y="4425159"/>
            <a:ext cx="11186551" cy="2446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540"/>
              </a:lnSpc>
              <a:spcBef>
                <a:spcPct val="0"/>
              </a:spcBef>
            </a:pPr>
            <a:r>
              <a:rPr lang="en-US" sz="6815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Social Media Content Types</a:t>
            </a:r>
            <a:endParaRPr lang="en-US" sz="6815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grpSp>
        <p:nvGrpSpPr>
          <p:cNvPr id="6" name="Group 6"/>
          <p:cNvGrpSpPr/>
          <p:nvPr/>
        </p:nvGrpSpPr>
        <p:grpSpPr>
          <a:xfrm>
            <a:off x="14612032" y="356951"/>
            <a:ext cx="2647268" cy="2647268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CCC38"/>
            </a:solidFill>
            <a:ln w="19050" cap="sq">
              <a:solidFill>
                <a:srgbClr val="011FBB"/>
              </a:soli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20"/>
                </a:lnSpc>
              </a:pP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5257736" y="373283"/>
            <a:ext cx="1355860" cy="22621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665"/>
              </a:lnSpc>
              <a:spcBef>
                <a:spcPct val="0"/>
              </a:spcBef>
            </a:pPr>
            <a:r>
              <a:rPr lang="en-US" sz="1262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4</a:t>
            </a:r>
            <a:endParaRPr lang="en-US" sz="12620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68769" y="356951"/>
            <a:ext cx="17640785" cy="9573098"/>
            <a:chOff x="0" y="0"/>
            <a:chExt cx="4646133" cy="252131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646133" cy="2521310"/>
            </a:xfrm>
            <a:custGeom>
              <a:avLst/>
              <a:gdLst/>
              <a:ahLst/>
              <a:cxnLst/>
              <a:rect l="l" t="t" r="r" b="b"/>
              <a:pathLst>
                <a:path w="4646133" h="2521310">
                  <a:moveTo>
                    <a:pt x="0" y="0"/>
                  </a:moveTo>
                  <a:lnTo>
                    <a:pt x="4646133" y="0"/>
                  </a:lnTo>
                  <a:lnTo>
                    <a:pt x="4646133" y="2521310"/>
                  </a:lnTo>
                  <a:lnTo>
                    <a:pt x="0" y="252131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11FBB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646133" cy="2578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5" name="Freeform 5"/>
          <p:cNvSpPr/>
          <p:nvPr/>
        </p:nvSpPr>
        <p:spPr>
          <a:xfrm>
            <a:off x="13408937" y="2477544"/>
            <a:ext cx="4428322" cy="5876246"/>
          </a:xfrm>
          <a:custGeom>
            <a:avLst/>
            <a:gdLst/>
            <a:ahLst/>
            <a:cxnLst/>
            <a:rect l="l" t="t" r="r" b="b"/>
            <a:pathLst>
              <a:path w="4428322" h="5876246">
                <a:moveTo>
                  <a:pt x="0" y="0"/>
                </a:moveTo>
                <a:lnTo>
                  <a:pt x="4428322" y="0"/>
                </a:lnTo>
                <a:lnTo>
                  <a:pt x="4428322" y="5876245"/>
                </a:lnTo>
                <a:lnTo>
                  <a:pt x="0" y="5876245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8584508" y="2477544"/>
            <a:ext cx="4630934" cy="5786066"/>
          </a:xfrm>
          <a:custGeom>
            <a:avLst/>
            <a:gdLst/>
            <a:ahLst/>
            <a:cxnLst/>
            <a:rect l="l" t="t" r="r" b="b"/>
            <a:pathLst>
              <a:path w="4630934" h="5786066">
                <a:moveTo>
                  <a:pt x="0" y="0"/>
                </a:moveTo>
                <a:lnTo>
                  <a:pt x="4630934" y="0"/>
                </a:lnTo>
                <a:lnTo>
                  <a:pt x="4630934" y="5786065"/>
                </a:lnTo>
                <a:lnTo>
                  <a:pt x="0" y="57860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497344" y="356951"/>
            <a:ext cx="7639034" cy="9544523"/>
            <a:chOff x="0" y="0"/>
            <a:chExt cx="10185379" cy="12726031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10185379" cy="6363016"/>
              <a:chOff x="0" y="0"/>
              <a:chExt cx="1965880" cy="1228126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1965880" cy="1228126"/>
              </a:xfrm>
              <a:custGeom>
                <a:avLst/>
                <a:gdLst/>
                <a:ahLst/>
                <a:cxnLst/>
                <a:rect l="l" t="t" r="r" b="b"/>
                <a:pathLst>
                  <a:path w="1965880" h="1228126">
                    <a:moveTo>
                      <a:pt x="0" y="0"/>
                    </a:moveTo>
                    <a:lnTo>
                      <a:pt x="1965880" y="0"/>
                    </a:lnTo>
                    <a:lnTo>
                      <a:pt x="1965880" y="1228126"/>
                    </a:lnTo>
                    <a:lnTo>
                      <a:pt x="0" y="1228126"/>
                    </a:lnTo>
                    <a:close/>
                  </a:path>
                </a:pathLst>
              </a:custGeom>
              <a:solidFill>
                <a:srgbClr val="FCCC3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0" y="-57150"/>
                <a:ext cx="1965880" cy="128527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>
              <a:off x="0" y="6363016"/>
              <a:ext cx="10167799" cy="6363016"/>
              <a:chOff x="0" y="0"/>
              <a:chExt cx="1962487" cy="1228126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1962487" cy="1228126"/>
              </a:xfrm>
              <a:custGeom>
                <a:avLst/>
                <a:gdLst/>
                <a:ahLst/>
                <a:cxnLst/>
                <a:rect l="l" t="t" r="r" b="b"/>
                <a:pathLst>
                  <a:path w="1962487" h="1228126">
                    <a:moveTo>
                      <a:pt x="0" y="0"/>
                    </a:moveTo>
                    <a:lnTo>
                      <a:pt x="1962487" y="0"/>
                    </a:lnTo>
                    <a:lnTo>
                      <a:pt x="1962487" y="1228126"/>
                    </a:lnTo>
                    <a:lnTo>
                      <a:pt x="0" y="1228126"/>
                    </a:lnTo>
                    <a:close/>
                  </a:path>
                </a:pathLst>
              </a:custGeom>
              <a:solidFill>
                <a:srgbClr val="BEEC92"/>
              </a:solidFill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0" y="-57150"/>
                <a:ext cx="1962487" cy="128527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sp>
        <p:nvSpPr>
          <p:cNvPr id="14" name="TextBox 14"/>
          <p:cNvSpPr txBox="1"/>
          <p:nvPr/>
        </p:nvSpPr>
        <p:spPr>
          <a:xfrm>
            <a:off x="8848920" y="1129242"/>
            <a:ext cx="3565616" cy="12274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520"/>
              </a:lnSpc>
              <a:spcBef>
                <a:spcPct val="0"/>
              </a:spcBef>
            </a:pPr>
            <a:r>
              <a:rPr lang="en-US" sz="68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POST</a:t>
            </a:r>
            <a:endParaRPr lang="en-US" sz="6800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214011" y="1757230"/>
            <a:ext cx="6205700" cy="16905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Purpose: Show your product, promotions, testimonials, or tips.</a:t>
            </a:r>
            <a:endParaRPr lang="en-US" sz="32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214011" y="6500517"/>
            <a:ext cx="6406552" cy="1128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Stay permanently on your profile grid.</a:t>
            </a:r>
            <a:endParaRPr lang="en-US" sz="32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68769" y="356951"/>
            <a:ext cx="17640785" cy="9573098"/>
            <a:chOff x="0" y="0"/>
            <a:chExt cx="4646133" cy="252131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646133" cy="2521310"/>
            </a:xfrm>
            <a:custGeom>
              <a:avLst/>
              <a:gdLst/>
              <a:ahLst/>
              <a:cxnLst/>
              <a:rect l="l" t="t" r="r" b="b"/>
              <a:pathLst>
                <a:path w="4646133" h="2521310">
                  <a:moveTo>
                    <a:pt x="0" y="0"/>
                  </a:moveTo>
                  <a:lnTo>
                    <a:pt x="4646133" y="0"/>
                  </a:lnTo>
                  <a:lnTo>
                    <a:pt x="4646133" y="2521310"/>
                  </a:lnTo>
                  <a:lnTo>
                    <a:pt x="0" y="252131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11FBB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646133" cy="2578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5" name="Freeform 5"/>
          <p:cNvSpPr/>
          <p:nvPr/>
        </p:nvSpPr>
        <p:spPr>
          <a:xfrm>
            <a:off x="8136378" y="2131113"/>
            <a:ext cx="3416605" cy="6024773"/>
          </a:xfrm>
          <a:custGeom>
            <a:avLst/>
            <a:gdLst/>
            <a:ahLst/>
            <a:cxnLst/>
            <a:rect l="l" t="t" r="r" b="b"/>
            <a:pathLst>
              <a:path w="3416605" h="6024773">
                <a:moveTo>
                  <a:pt x="0" y="0"/>
                </a:moveTo>
                <a:lnTo>
                  <a:pt x="3416605" y="0"/>
                </a:lnTo>
                <a:lnTo>
                  <a:pt x="3416605" y="6024774"/>
                </a:lnTo>
                <a:lnTo>
                  <a:pt x="0" y="6024774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1552983" y="2131113"/>
            <a:ext cx="3406980" cy="6024773"/>
          </a:xfrm>
          <a:custGeom>
            <a:avLst/>
            <a:gdLst/>
            <a:ahLst/>
            <a:cxnLst/>
            <a:rect l="l" t="t" r="r" b="b"/>
            <a:pathLst>
              <a:path w="3406980" h="6024773">
                <a:moveTo>
                  <a:pt x="0" y="0"/>
                </a:moveTo>
                <a:lnTo>
                  <a:pt x="3406981" y="0"/>
                </a:lnTo>
                <a:lnTo>
                  <a:pt x="3406981" y="6024774"/>
                </a:lnTo>
                <a:lnTo>
                  <a:pt x="0" y="60247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4881020" y="2131113"/>
            <a:ext cx="3406980" cy="6024773"/>
          </a:xfrm>
          <a:custGeom>
            <a:avLst/>
            <a:gdLst/>
            <a:ahLst/>
            <a:cxnLst/>
            <a:rect l="l" t="t" r="r" b="b"/>
            <a:pathLst>
              <a:path w="3406980" h="6024773">
                <a:moveTo>
                  <a:pt x="0" y="0"/>
                </a:moveTo>
                <a:lnTo>
                  <a:pt x="3406980" y="0"/>
                </a:lnTo>
                <a:lnTo>
                  <a:pt x="3406980" y="6024774"/>
                </a:lnTo>
                <a:lnTo>
                  <a:pt x="0" y="60247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8585879" y="681105"/>
            <a:ext cx="3565616" cy="12274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520"/>
              </a:lnSpc>
              <a:spcBef>
                <a:spcPct val="0"/>
              </a:spcBef>
            </a:pPr>
            <a:r>
              <a:rPr lang="en-US" sz="68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STORY</a:t>
            </a:r>
            <a:endParaRPr lang="en-US" sz="6800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grpSp>
        <p:nvGrpSpPr>
          <p:cNvPr id="9" name="Group 9"/>
          <p:cNvGrpSpPr/>
          <p:nvPr/>
        </p:nvGrpSpPr>
        <p:grpSpPr>
          <a:xfrm>
            <a:off x="497344" y="356951"/>
            <a:ext cx="7639034" cy="9544523"/>
            <a:chOff x="0" y="0"/>
            <a:chExt cx="10185379" cy="12726031"/>
          </a:xfrm>
        </p:grpSpPr>
        <p:grpSp>
          <p:nvGrpSpPr>
            <p:cNvPr id="10" name="Group 10"/>
            <p:cNvGrpSpPr/>
            <p:nvPr/>
          </p:nvGrpSpPr>
          <p:grpSpPr>
            <a:xfrm>
              <a:off x="0" y="0"/>
              <a:ext cx="10185379" cy="6363016"/>
              <a:chOff x="0" y="0"/>
              <a:chExt cx="1965880" cy="1228126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1965880" cy="1228126"/>
              </a:xfrm>
              <a:custGeom>
                <a:avLst/>
                <a:gdLst/>
                <a:ahLst/>
                <a:cxnLst/>
                <a:rect l="l" t="t" r="r" b="b"/>
                <a:pathLst>
                  <a:path w="1965880" h="1228126">
                    <a:moveTo>
                      <a:pt x="0" y="0"/>
                    </a:moveTo>
                    <a:lnTo>
                      <a:pt x="1965880" y="0"/>
                    </a:lnTo>
                    <a:lnTo>
                      <a:pt x="1965880" y="1228126"/>
                    </a:lnTo>
                    <a:lnTo>
                      <a:pt x="0" y="1228126"/>
                    </a:lnTo>
                    <a:close/>
                  </a:path>
                </a:pathLst>
              </a:custGeom>
              <a:solidFill>
                <a:srgbClr val="FCCC3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0" y="-57150"/>
                <a:ext cx="1965880" cy="128527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>
              <a:off x="0" y="6363016"/>
              <a:ext cx="10167799" cy="6363016"/>
              <a:chOff x="0" y="0"/>
              <a:chExt cx="1962487" cy="1228126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1962487" cy="1228126"/>
              </a:xfrm>
              <a:custGeom>
                <a:avLst/>
                <a:gdLst/>
                <a:ahLst/>
                <a:cxnLst/>
                <a:rect l="l" t="t" r="r" b="b"/>
                <a:pathLst>
                  <a:path w="1962487" h="1228126">
                    <a:moveTo>
                      <a:pt x="0" y="0"/>
                    </a:moveTo>
                    <a:lnTo>
                      <a:pt x="1962487" y="0"/>
                    </a:lnTo>
                    <a:lnTo>
                      <a:pt x="1962487" y="1228126"/>
                    </a:lnTo>
                    <a:lnTo>
                      <a:pt x="0" y="1228126"/>
                    </a:lnTo>
                    <a:close/>
                  </a:path>
                </a:pathLst>
              </a:custGeom>
              <a:solidFill>
                <a:srgbClr val="BEEC92"/>
              </a:solidFill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0" y="-57150"/>
                <a:ext cx="1962487" cy="128527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sp>
        <p:nvSpPr>
          <p:cNvPr id="16" name="TextBox 16"/>
          <p:cNvSpPr txBox="1"/>
          <p:nvPr/>
        </p:nvSpPr>
        <p:spPr>
          <a:xfrm>
            <a:off x="1450298" y="1822780"/>
            <a:ext cx="6205700" cy="1128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Features: Polls, questions, countdowns, music, tagging</a:t>
            </a:r>
            <a:endParaRPr lang="en-US" sz="32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450298" y="6512732"/>
            <a:ext cx="6406552" cy="16905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Stories show up at the top of Instagram/Facebook when someone opens the app.</a:t>
            </a:r>
            <a:endParaRPr lang="en-US" sz="32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68769" y="356951"/>
            <a:ext cx="17640785" cy="9573098"/>
            <a:chOff x="0" y="0"/>
            <a:chExt cx="4646133" cy="252131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646133" cy="2521310"/>
            </a:xfrm>
            <a:custGeom>
              <a:avLst/>
              <a:gdLst/>
              <a:ahLst/>
              <a:cxnLst/>
              <a:rect l="l" t="t" r="r" b="b"/>
              <a:pathLst>
                <a:path w="4646133" h="2521310">
                  <a:moveTo>
                    <a:pt x="0" y="0"/>
                  </a:moveTo>
                  <a:lnTo>
                    <a:pt x="4646133" y="0"/>
                  </a:lnTo>
                  <a:lnTo>
                    <a:pt x="4646133" y="2521310"/>
                  </a:lnTo>
                  <a:lnTo>
                    <a:pt x="0" y="252131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11FBB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646133" cy="2578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497344" y="356951"/>
            <a:ext cx="8646656" cy="9544523"/>
            <a:chOff x="0" y="0"/>
            <a:chExt cx="2225188" cy="245625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225188" cy="2456251"/>
            </a:xfrm>
            <a:custGeom>
              <a:avLst/>
              <a:gdLst/>
              <a:ahLst/>
              <a:cxnLst/>
              <a:rect l="l" t="t" r="r" b="b"/>
              <a:pathLst>
                <a:path w="2225188" h="2456251">
                  <a:moveTo>
                    <a:pt x="0" y="0"/>
                  </a:moveTo>
                  <a:lnTo>
                    <a:pt x="2225188" y="0"/>
                  </a:lnTo>
                  <a:lnTo>
                    <a:pt x="2225188" y="2456251"/>
                  </a:lnTo>
                  <a:lnTo>
                    <a:pt x="0" y="2456251"/>
                  </a:lnTo>
                  <a:close/>
                </a:path>
              </a:pathLst>
            </a:custGeom>
            <a:solidFill>
              <a:srgbClr val="FCCC38"/>
            </a:soli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2225188" cy="2513401"/>
            </a:xfrm>
            <a:prstGeom prst="rect">
              <a:avLst/>
            </a:prstGeom>
          </p:spPr>
          <p:txBody>
            <a:bodyPr lIns="51990" tIns="51990" rIns="51990" bIns="5199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717721" y="156926"/>
            <a:ext cx="3565616" cy="12274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520"/>
              </a:lnSpc>
              <a:spcBef>
                <a:spcPct val="0"/>
              </a:spcBef>
            </a:pPr>
            <a:r>
              <a:rPr lang="en-US" sz="68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REEL</a:t>
            </a:r>
            <a:endParaRPr lang="en-US" sz="6800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906773" y="1531927"/>
            <a:ext cx="6686081" cy="3376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Best way to reach non-followers.</a:t>
            </a:r>
            <a:endParaRPr lang="en-US" sz="32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Reels appear on Explore pages and bring new traffic to your account.</a:t>
            </a:r>
            <a:endParaRPr lang="en-US" sz="32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Intended to go viral -&gt; people to your page</a:t>
            </a:r>
            <a:endParaRPr lang="en-US" sz="32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906773" y="6448846"/>
            <a:ext cx="6753129" cy="22525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Stories: behind-the-scenes, polls</a:t>
            </a:r>
            <a:endParaRPr lang="en-US" sz="32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Lives: Q&amp;A session teasers or product demos</a:t>
            </a:r>
            <a:endParaRPr lang="en-US" sz="32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4480"/>
              </a:lnSpc>
              <a:spcBef>
                <a:spcPct val="0"/>
              </a:spcBef>
            </a:pPr>
            <a:endParaRPr lang="en-US" sz="32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grpSp>
        <p:nvGrpSpPr>
          <p:cNvPr id="11" name="Group 11"/>
          <p:cNvGrpSpPr/>
          <p:nvPr/>
        </p:nvGrpSpPr>
        <p:grpSpPr>
          <a:xfrm>
            <a:off x="9144000" y="356951"/>
            <a:ext cx="8965554" cy="9573098"/>
            <a:chOff x="0" y="0"/>
            <a:chExt cx="2307255" cy="246360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307255" cy="2463605"/>
            </a:xfrm>
            <a:custGeom>
              <a:avLst/>
              <a:gdLst/>
              <a:ahLst/>
              <a:cxnLst/>
              <a:rect l="l" t="t" r="r" b="b"/>
              <a:pathLst>
                <a:path w="2307255" h="2463605">
                  <a:moveTo>
                    <a:pt x="0" y="0"/>
                  </a:moveTo>
                  <a:lnTo>
                    <a:pt x="2307255" y="0"/>
                  </a:lnTo>
                  <a:lnTo>
                    <a:pt x="2307255" y="2463605"/>
                  </a:lnTo>
                  <a:lnTo>
                    <a:pt x="0" y="2463605"/>
                  </a:lnTo>
                  <a:close/>
                </a:path>
              </a:pathLst>
            </a:custGeom>
            <a:solidFill>
              <a:srgbClr val="BEEC92"/>
            </a:solidFill>
            <a:ln cap="sq">
              <a:noFill/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57150"/>
              <a:ext cx="2307255" cy="2520755"/>
            </a:xfrm>
            <a:prstGeom prst="rect">
              <a:avLst/>
            </a:prstGeom>
          </p:spPr>
          <p:txBody>
            <a:bodyPr lIns="51990" tIns="51990" rIns="51990" bIns="5199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9729131" y="314987"/>
            <a:ext cx="4305970" cy="12274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520"/>
              </a:lnSpc>
              <a:spcBef>
                <a:spcPct val="0"/>
              </a:spcBef>
            </a:pPr>
            <a:r>
              <a:rPr lang="en-US" sz="68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Hashtag</a:t>
            </a:r>
            <a:endParaRPr lang="en-US" sz="6800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9729131" y="1699751"/>
            <a:ext cx="7317366" cy="2252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# Organize content &amp; reach new audiences</a:t>
            </a:r>
            <a:endParaRPr lang="en-US" sz="32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2–3 popular + 2–3 niche/local ones</a:t>
            </a:r>
            <a:endParaRPr lang="en-US" sz="32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4480"/>
              </a:lnSpc>
              <a:spcBef>
                <a:spcPct val="0"/>
              </a:spcBef>
            </a:pPr>
            <a:endParaRPr lang="en-US" sz="32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9729131" y="6448846"/>
            <a:ext cx="7112158" cy="16905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Hashtags with 10K–500K posts are better than those with millions (less competition, more targeted)</a:t>
            </a:r>
            <a:endParaRPr lang="en-US" sz="32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66766" y="1613221"/>
            <a:ext cx="6094904" cy="7060557"/>
          </a:xfrm>
          <a:custGeom>
            <a:avLst/>
            <a:gdLst/>
            <a:ahLst/>
            <a:cxnLst/>
            <a:rect l="l" t="t" r="r" b="b"/>
            <a:pathLst>
              <a:path w="6094904" h="7060557">
                <a:moveTo>
                  <a:pt x="0" y="0"/>
                </a:moveTo>
                <a:lnTo>
                  <a:pt x="6094904" y="0"/>
                </a:lnTo>
                <a:lnTo>
                  <a:pt x="6094904" y="7060558"/>
                </a:lnTo>
                <a:lnTo>
                  <a:pt x="0" y="7060558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841734" y="1613221"/>
            <a:ext cx="4635025" cy="7060557"/>
          </a:xfrm>
          <a:custGeom>
            <a:avLst/>
            <a:gdLst/>
            <a:ahLst/>
            <a:cxnLst/>
            <a:rect l="l" t="t" r="r" b="b"/>
            <a:pathLst>
              <a:path w="4635025" h="7060557">
                <a:moveTo>
                  <a:pt x="0" y="0"/>
                </a:moveTo>
                <a:lnTo>
                  <a:pt x="4635025" y="0"/>
                </a:lnTo>
                <a:lnTo>
                  <a:pt x="4635025" y="7060558"/>
                </a:lnTo>
                <a:lnTo>
                  <a:pt x="0" y="70605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1752984" y="1613221"/>
            <a:ext cx="3988181" cy="7060557"/>
          </a:xfrm>
          <a:custGeom>
            <a:avLst/>
            <a:gdLst/>
            <a:ahLst/>
            <a:cxnLst/>
            <a:rect l="l" t="t" r="r" b="b"/>
            <a:pathLst>
              <a:path w="3988181" h="7060557">
                <a:moveTo>
                  <a:pt x="0" y="0"/>
                </a:moveTo>
                <a:lnTo>
                  <a:pt x="3988181" y="0"/>
                </a:lnTo>
                <a:lnTo>
                  <a:pt x="3988181" y="7060558"/>
                </a:lnTo>
                <a:lnTo>
                  <a:pt x="0" y="70605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2647024" y="8930944"/>
            <a:ext cx="1734389" cy="5594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40"/>
              </a:lnSpc>
              <a:spcBef>
                <a:spcPct val="0"/>
              </a:spcBef>
            </a:pPr>
            <a:r>
              <a:rPr lang="en-US" sz="31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Hashtag</a:t>
            </a:r>
            <a:endParaRPr lang="en-US" sz="3100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6959677" y="8930944"/>
            <a:ext cx="4368646" cy="5594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40"/>
              </a:lnSpc>
              <a:spcBef>
                <a:spcPct val="0"/>
              </a:spcBef>
            </a:pPr>
            <a:r>
              <a:rPr lang="en-US" sz="31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Call to Action buttons</a:t>
            </a:r>
            <a:endParaRPr lang="en-US" sz="3100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2834555" y="8930944"/>
            <a:ext cx="1825039" cy="5594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40"/>
              </a:lnSpc>
              <a:spcBef>
                <a:spcPct val="0"/>
              </a:spcBef>
            </a:pPr>
            <a:r>
              <a:rPr lang="en-US" sz="31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Swipe up</a:t>
            </a:r>
            <a:endParaRPr lang="en-US" sz="3100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68769" y="356951"/>
            <a:ext cx="17640785" cy="9573098"/>
            <a:chOff x="0" y="0"/>
            <a:chExt cx="4646133" cy="252131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646133" cy="2521310"/>
            </a:xfrm>
            <a:custGeom>
              <a:avLst/>
              <a:gdLst/>
              <a:ahLst/>
              <a:cxnLst/>
              <a:rect l="l" t="t" r="r" b="b"/>
              <a:pathLst>
                <a:path w="4646133" h="2521310">
                  <a:moveTo>
                    <a:pt x="0" y="0"/>
                  </a:moveTo>
                  <a:lnTo>
                    <a:pt x="4646133" y="0"/>
                  </a:lnTo>
                  <a:lnTo>
                    <a:pt x="4646133" y="2521310"/>
                  </a:lnTo>
                  <a:lnTo>
                    <a:pt x="0" y="252131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11FBB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646133" cy="2578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12819" y="5143500"/>
            <a:ext cx="17596735" cy="4786549"/>
            <a:chOff x="0" y="0"/>
            <a:chExt cx="23462313" cy="6382066"/>
          </a:xfrm>
        </p:grpSpPr>
        <p:grpSp>
          <p:nvGrpSpPr>
            <p:cNvPr id="6" name="Group 6"/>
            <p:cNvGrpSpPr/>
            <p:nvPr/>
          </p:nvGrpSpPr>
          <p:grpSpPr>
            <a:xfrm>
              <a:off x="0" y="0"/>
              <a:ext cx="11508975" cy="6382066"/>
              <a:chOff x="0" y="0"/>
              <a:chExt cx="2221347" cy="1231802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2221347" cy="1231802"/>
              </a:xfrm>
              <a:custGeom>
                <a:avLst/>
                <a:gdLst/>
                <a:ahLst/>
                <a:cxnLst/>
                <a:rect l="l" t="t" r="r" b="b"/>
                <a:pathLst>
                  <a:path w="2221347" h="1231802">
                    <a:moveTo>
                      <a:pt x="0" y="0"/>
                    </a:moveTo>
                    <a:lnTo>
                      <a:pt x="2221347" y="0"/>
                    </a:lnTo>
                    <a:lnTo>
                      <a:pt x="2221347" y="1231802"/>
                    </a:lnTo>
                    <a:lnTo>
                      <a:pt x="0" y="1231802"/>
                    </a:lnTo>
                    <a:close/>
                  </a:path>
                </a:pathLst>
              </a:custGeom>
              <a:solidFill>
                <a:srgbClr val="FCCC38"/>
              </a:solidFill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57150"/>
                <a:ext cx="2221347" cy="1288952"/>
              </a:xfrm>
              <a:prstGeom prst="rect">
                <a:avLst/>
              </a:prstGeom>
            </p:spPr>
            <p:txBody>
              <a:bodyPr lIns="51990" tIns="51990" rIns="51990" bIns="5199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11528874" y="0"/>
              <a:ext cx="11933439" cy="6382066"/>
              <a:chOff x="0" y="0"/>
              <a:chExt cx="2303273" cy="1231802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2303273" cy="1231802"/>
              </a:xfrm>
              <a:custGeom>
                <a:avLst/>
                <a:gdLst/>
                <a:ahLst/>
                <a:cxnLst/>
                <a:rect l="l" t="t" r="r" b="b"/>
                <a:pathLst>
                  <a:path w="2303273" h="1231802">
                    <a:moveTo>
                      <a:pt x="0" y="0"/>
                    </a:moveTo>
                    <a:lnTo>
                      <a:pt x="2303273" y="0"/>
                    </a:lnTo>
                    <a:lnTo>
                      <a:pt x="2303273" y="1231802"/>
                    </a:lnTo>
                    <a:lnTo>
                      <a:pt x="0" y="1231802"/>
                    </a:lnTo>
                    <a:close/>
                  </a:path>
                </a:pathLst>
              </a:custGeom>
              <a:solidFill>
                <a:srgbClr val="BEEC92"/>
              </a:solid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57150"/>
                <a:ext cx="2303273" cy="1288952"/>
              </a:xfrm>
              <a:prstGeom prst="rect">
                <a:avLst/>
              </a:prstGeom>
            </p:spPr>
            <p:txBody>
              <a:bodyPr lIns="51990" tIns="51990" rIns="51990" bIns="5199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grpSp>
        <p:nvGrpSpPr>
          <p:cNvPr id="12" name="Group 12"/>
          <p:cNvGrpSpPr/>
          <p:nvPr/>
        </p:nvGrpSpPr>
        <p:grpSpPr>
          <a:xfrm>
            <a:off x="512819" y="349209"/>
            <a:ext cx="17596735" cy="4786549"/>
            <a:chOff x="0" y="0"/>
            <a:chExt cx="23462313" cy="6382066"/>
          </a:xfrm>
        </p:grpSpPr>
        <p:grpSp>
          <p:nvGrpSpPr>
            <p:cNvPr id="13" name="Group 13"/>
            <p:cNvGrpSpPr/>
            <p:nvPr/>
          </p:nvGrpSpPr>
          <p:grpSpPr>
            <a:xfrm>
              <a:off x="0" y="0"/>
              <a:ext cx="11508975" cy="6382066"/>
              <a:chOff x="0" y="0"/>
              <a:chExt cx="2221347" cy="1231802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2221347" cy="1231802"/>
              </a:xfrm>
              <a:custGeom>
                <a:avLst/>
                <a:gdLst/>
                <a:ahLst/>
                <a:cxnLst/>
                <a:rect l="l" t="t" r="r" b="b"/>
                <a:pathLst>
                  <a:path w="2221347" h="1231802">
                    <a:moveTo>
                      <a:pt x="0" y="0"/>
                    </a:moveTo>
                    <a:lnTo>
                      <a:pt x="2221347" y="0"/>
                    </a:lnTo>
                    <a:lnTo>
                      <a:pt x="2221347" y="1231802"/>
                    </a:lnTo>
                    <a:lnTo>
                      <a:pt x="0" y="1231802"/>
                    </a:lnTo>
                    <a:close/>
                  </a:path>
                </a:pathLst>
              </a:custGeom>
              <a:solidFill>
                <a:srgbClr val="BEEC92"/>
              </a:solidFill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0" y="-57150"/>
                <a:ext cx="2221347" cy="1288952"/>
              </a:xfrm>
              <a:prstGeom prst="rect">
                <a:avLst/>
              </a:prstGeom>
            </p:spPr>
            <p:txBody>
              <a:bodyPr lIns="51990" tIns="51990" rIns="51990" bIns="5199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11528874" y="0"/>
              <a:ext cx="11933439" cy="6382066"/>
              <a:chOff x="0" y="0"/>
              <a:chExt cx="2303273" cy="1231802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2303273" cy="1231802"/>
              </a:xfrm>
              <a:custGeom>
                <a:avLst/>
                <a:gdLst/>
                <a:ahLst/>
                <a:cxnLst/>
                <a:rect l="l" t="t" r="r" b="b"/>
                <a:pathLst>
                  <a:path w="2303273" h="1231802">
                    <a:moveTo>
                      <a:pt x="0" y="0"/>
                    </a:moveTo>
                    <a:lnTo>
                      <a:pt x="2303273" y="0"/>
                    </a:lnTo>
                    <a:lnTo>
                      <a:pt x="2303273" y="1231802"/>
                    </a:lnTo>
                    <a:lnTo>
                      <a:pt x="0" y="1231802"/>
                    </a:lnTo>
                    <a:close/>
                  </a:path>
                </a:pathLst>
              </a:custGeom>
              <a:solidFill>
                <a:srgbClr val="FCCC38"/>
              </a:solidFill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0" y="-57150"/>
                <a:ext cx="2303273" cy="1288952"/>
              </a:xfrm>
              <a:prstGeom prst="rect">
                <a:avLst/>
              </a:prstGeom>
            </p:spPr>
            <p:txBody>
              <a:bodyPr lIns="51990" tIns="51990" rIns="51990" bIns="5199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sp>
        <p:nvSpPr>
          <p:cNvPr id="19" name="TextBox 19"/>
          <p:cNvSpPr txBox="1"/>
          <p:nvPr/>
        </p:nvSpPr>
        <p:spPr>
          <a:xfrm>
            <a:off x="906773" y="3136734"/>
            <a:ext cx="6753129" cy="16905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Always reply politely, and you can use Quick Replies on Instagram Business accounts.</a:t>
            </a:r>
            <a:endParaRPr lang="en-US" sz="32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906773" y="1531927"/>
            <a:ext cx="6686081" cy="16905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Most local businesses in Pakistan take orders via DM.</a:t>
            </a:r>
            <a:endParaRPr lang="en-US" sz="32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4480"/>
              </a:lnSpc>
              <a:spcBef>
                <a:spcPct val="0"/>
              </a:spcBef>
            </a:pPr>
            <a:endParaRPr lang="en-US" sz="32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717721" y="156926"/>
            <a:ext cx="3565616" cy="12274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520"/>
              </a:lnSpc>
              <a:spcBef>
                <a:spcPct val="0"/>
              </a:spcBef>
            </a:pPr>
            <a:r>
              <a:rPr lang="en-US" sz="68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DM</a:t>
            </a:r>
            <a:endParaRPr lang="en-US" sz="6800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9729131" y="314987"/>
            <a:ext cx="7112158" cy="24274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520"/>
              </a:lnSpc>
            </a:pPr>
            <a:r>
              <a:rPr lang="en-US" sz="68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Engagement</a:t>
            </a:r>
            <a:endParaRPr lang="en-US" sz="6800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l">
              <a:lnSpc>
                <a:spcPts val="9520"/>
              </a:lnSpc>
              <a:spcBef>
                <a:spcPct val="0"/>
              </a:spcBef>
            </a:pPr>
            <a:endParaRPr lang="en-US" sz="6800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9729131" y="1699751"/>
            <a:ext cx="7317366" cy="39386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More engagement = more reach = more potential customers</a:t>
            </a:r>
            <a:endParaRPr lang="en-US" sz="32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Example:</a:t>
            </a:r>
            <a:endParaRPr lang="en-US" sz="32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Ask questions in stories</a:t>
            </a:r>
            <a:endParaRPr lang="en-US" sz="32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Polls in stories</a:t>
            </a:r>
            <a:endParaRPr lang="en-US" sz="32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This or That quizzes</a:t>
            </a:r>
            <a:endParaRPr lang="en-US" sz="32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4480"/>
              </a:lnSpc>
              <a:spcBef>
                <a:spcPct val="0"/>
              </a:spcBef>
            </a:pPr>
            <a:endParaRPr lang="en-US" sz="32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906773" y="6490530"/>
            <a:ext cx="6686081" cy="2814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The system that decides who sees your content and how often.</a:t>
            </a:r>
            <a:endParaRPr lang="en-US" sz="32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4480"/>
              </a:lnSpc>
            </a:pPr>
            <a:endParaRPr lang="en-US" sz="32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4480"/>
              </a:lnSpc>
              <a:spcBef>
                <a:spcPct val="0"/>
              </a:spcBef>
            </a:pPr>
            <a:endParaRPr lang="en-US" sz="32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906773" y="5142294"/>
            <a:ext cx="4940559" cy="12274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520"/>
              </a:lnSpc>
              <a:spcBef>
                <a:spcPct val="0"/>
              </a:spcBef>
            </a:pPr>
            <a:r>
              <a:rPr lang="en-US" sz="68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Algorithm</a:t>
            </a:r>
            <a:endParaRPr lang="en-US" sz="6800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9729131" y="5142294"/>
            <a:ext cx="4940559" cy="12274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520"/>
              </a:lnSpc>
              <a:spcBef>
                <a:spcPct val="0"/>
              </a:spcBef>
            </a:pPr>
            <a:r>
              <a:rPr lang="en-US" sz="68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Link in Bio</a:t>
            </a:r>
            <a:endParaRPr lang="en-US" sz="6800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9729131" y="6443709"/>
            <a:ext cx="6686081" cy="1128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WhatsApp, Linktree, Shopify, Website</a:t>
            </a:r>
            <a:endParaRPr lang="en-US" sz="32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2057400" y="3086100"/>
            <a:ext cx="1356868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5400"/>
              <a:t>End of Class</a:t>
            </a:r>
            <a:endParaRPr lang="en-US" sz="5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8497</Words>
  <Application>WPS Writer</Application>
  <PresentationFormat>Custom</PresentationFormat>
  <Paragraphs>549</Paragraphs>
  <Slides>38</Slides>
  <Notes>38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38</vt:i4>
      </vt:variant>
    </vt:vector>
  </HeadingPairs>
  <TitlesOfParts>
    <vt:vector size="51" baseType="lpstr">
      <vt:lpstr>Arial</vt:lpstr>
      <vt:lpstr>SimSun</vt:lpstr>
      <vt:lpstr>Wingdings</vt:lpstr>
      <vt:lpstr>Poppins</vt:lpstr>
      <vt:lpstr>Poppins Bold</vt:lpstr>
      <vt:lpstr>Poppins</vt:lpstr>
      <vt:lpstr>Microsoft YaHei</vt:lpstr>
      <vt:lpstr>汉仪旗黑</vt:lpstr>
      <vt:lpstr>Calibri</vt:lpstr>
      <vt:lpstr>Helvetica Neue</vt:lpstr>
      <vt:lpstr>宋体-简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onboarding pack</dc:title>
  <dc:creator/>
  <cp:lastModifiedBy>Nimra Abbas</cp:lastModifiedBy>
  <cp:revision>37</cp:revision>
  <dcterms:created xsi:type="dcterms:W3CDTF">2025-12-17T12:55:13Z</dcterms:created>
  <dcterms:modified xsi:type="dcterms:W3CDTF">2025-12-17T12:55:13Z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1033-5.7.0.8090</vt:lpwstr>
  </property>
</Properties>
</file>