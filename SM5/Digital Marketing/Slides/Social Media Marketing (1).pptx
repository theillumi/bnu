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6" r:id="rId3"/>
    <p:sldId id="483" r:id="rId4"/>
    <p:sldId id="484" r:id="rId5"/>
    <p:sldId id="485" r:id="rId6"/>
    <p:sldId id="486" r:id="rId7"/>
    <p:sldId id="488" r:id="rId8"/>
    <p:sldId id="489" r:id="rId9"/>
    <p:sldId id="490" r:id="rId10"/>
    <p:sldId id="491" r:id="rId11"/>
    <p:sldId id="492" r:id="rId12"/>
    <p:sldId id="493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08" r:id="rId27"/>
    <p:sldId id="509" r:id="rId28"/>
    <p:sldId id="510" r:id="rId29"/>
    <p:sldId id="511" r:id="rId30"/>
    <p:sldId id="512" r:id="rId31"/>
    <p:sldId id="513" r:id="rId32"/>
    <p:sldId id="514" r:id="rId33"/>
    <p:sldId id="515" r:id="rId34"/>
    <p:sldId id="516" r:id="rId35"/>
    <p:sldId id="517" r:id="rId36"/>
    <p:sldId id="518" r:id="rId37"/>
    <p:sldId id="520" r:id="rId38"/>
    <p:sldId id="521" r:id="rId39"/>
    <p:sldId id="522" r:id="rId41"/>
    <p:sldId id="523" r:id="rId42"/>
    <p:sldId id="494" r:id="rId43"/>
  </p:sldIdLst>
  <p:sldSz cx="18288000" cy="10287000"/>
  <p:notesSz cx="6858000" cy="9144000"/>
  <p:embeddedFontLst>
    <p:embeddedFont>
      <p:font typeface="Poppins" panose="00000500000000000000"/>
      <p:regular r:id="rId47"/>
    </p:embeddedFont>
    <p:embeddedFont>
      <p:font typeface="Poppins Bold"/>
      <p:regular r:id="rId48"/>
    </p:embeddedFont>
    <p:embeddedFont>
      <p:font typeface="Poppins" panose="00000500000000000000" pitchFamily="2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8" autoAdjust="0"/>
    <p:restoredTop sz="95407" autoAdjust="0"/>
  </p:normalViewPr>
  <p:slideViewPr>
    <p:cSldViewPr>
      <p:cViewPr varScale="1">
        <p:scale>
          <a:sx n="61" d="100"/>
          <a:sy n="61" d="100"/>
        </p:scale>
        <p:origin x="456" y="66"/>
      </p:cViewPr>
      <p:guideLst>
        <p:guide orient="horz" pos="21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font" Target="fonts/font3.fntdata"/><Relationship Id="rId48" Type="http://schemas.openxmlformats.org/officeDocument/2006/relationships/font" Target="fonts/font2.fntdata"/><Relationship Id="rId47" Type="http://schemas.openxmlformats.org/officeDocument/2006/relationships/font" Target="fonts/font1.fntdata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Avoid audience overlap</a:t>
            </a:r>
            <a:endParaRPr lang="en-US"/>
          </a:p>
          <a:p>
            <a:r>
              <a:rPr lang="en-US"/>
              <a:t>Avoid auction overlap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facebook.com/business/tools/facebook-pages/get-started/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create.wa.link/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linktr.ee/" TargetMode="Externa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manychat.com/" TargetMode="Externa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9.png"/><Relationship Id="rId3" Type="http://schemas.openxmlformats.org/officeDocument/2006/relationships/hyperlink" Target="https://business.facebook.com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0.png"/><Relationship Id="rId3" Type="http://schemas.openxmlformats.org/officeDocument/2006/relationships/hyperlink" Target="https://business.facebook.com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1.svg"/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8.png"/><Relationship Id="rId1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www.canva.com/create/reels/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4.svg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business.facebook.com/settings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adsmanager.facebook.com/" TargetMode="External"/><Relationship Id="rId3" Type="http://schemas.openxmlformats.org/officeDocument/2006/relationships/image" Target="../media/image75.png"/><Relationship Id="rId2" Type="http://schemas.openxmlformats.org/officeDocument/2006/relationships/image" Target="../media/image3.svg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0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029" y="356951"/>
            <a:ext cx="17441942" cy="9573098"/>
            <a:chOff x="0" y="0"/>
            <a:chExt cx="4593763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763" cy="2521310"/>
            </a:xfrm>
            <a:custGeom>
              <a:avLst/>
              <a:gdLst/>
              <a:ahLst/>
              <a:cxnLst/>
              <a:rect l="l" t="t" r="r" b="b"/>
              <a:pathLst>
                <a:path w="4593763" h="2521310">
                  <a:moveTo>
                    <a:pt x="0" y="0"/>
                  </a:moveTo>
                  <a:lnTo>
                    <a:pt x="4593763" y="0"/>
                  </a:lnTo>
                  <a:lnTo>
                    <a:pt x="4593763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93763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0887" y="611780"/>
            <a:ext cx="9531971" cy="9127903"/>
            <a:chOff x="0" y="0"/>
            <a:chExt cx="2510478" cy="24040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0478" cy="2404057"/>
            </a:xfrm>
            <a:custGeom>
              <a:avLst/>
              <a:gdLst/>
              <a:ahLst/>
              <a:cxnLst/>
              <a:rect l="l" t="t" r="r" b="b"/>
              <a:pathLst>
                <a:path w="2510478" h="2404057">
                  <a:moveTo>
                    <a:pt x="0" y="0"/>
                  </a:moveTo>
                  <a:lnTo>
                    <a:pt x="2510478" y="0"/>
                  </a:lnTo>
                  <a:lnTo>
                    <a:pt x="2510478" y="2404057"/>
                  </a:lnTo>
                  <a:lnTo>
                    <a:pt x="0" y="2404057"/>
                  </a:lnTo>
                  <a:close/>
                </a:path>
              </a:pathLst>
            </a:custGeom>
            <a:solidFill>
              <a:srgbClr val="A2D078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510478" cy="2461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3418759" y="6084614"/>
            <a:ext cx="1469712" cy="1493762"/>
          </a:xfrm>
          <a:custGeom>
            <a:avLst/>
            <a:gdLst/>
            <a:ahLst/>
            <a:cxnLst/>
            <a:rect l="l" t="t" r="r" b="b"/>
            <a:pathLst>
              <a:path w="1469712" h="1493762">
                <a:moveTo>
                  <a:pt x="0" y="0"/>
                </a:moveTo>
                <a:lnTo>
                  <a:pt x="1469712" y="0"/>
                </a:lnTo>
                <a:lnTo>
                  <a:pt x="1469712" y="1493762"/>
                </a:lnTo>
                <a:lnTo>
                  <a:pt x="0" y="149376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07986" y="652572"/>
            <a:ext cx="7091259" cy="9087111"/>
          </a:xfrm>
          <a:custGeom>
            <a:avLst/>
            <a:gdLst/>
            <a:ahLst/>
            <a:cxnLst/>
            <a:rect l="l" t="t" r="r" b="b"/>
            <a:pathLst>
              <a:path w="7091259" h="9087111">
                <a:moveTo>
                  <a:pt x="0" y="0"/>
                </a:moveTo>
                <a:lnTo>
                  <a:pt x="7091259" y="0"/>
                </a:lnTo>
                <a:lnTo>
                  <a:pt x="7091259" y="9087111"/>
                </a:lnTo>
                <a:lnTo>
                  <a:pt x="0" y="908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58" r="-8415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76510" y="7503244"/>
            <a:ext cx="2444584" cy="2426805"/>
          </a:xfrm>
          <a:custGeom>
            <a:avLst/>
            <a:gdLst/>
            <a:ahLst/>
            <a:cxnLst/>
            <a:rect l="l" t="t" r="r" b="b"/>
            <a:pathLst>
              <a:path w="2444584" h="2426805">
                <a:moveTo>
                  <a:pt x="0" y="0"/>
                </a:moveTo>
                <a:lnTo>
                  <a:pt x="2444584" y="0"/>
                </a:lnTo>
                <a:lnTo>
                  <a:pt x="2444584" y="2426805"/>
                </a:lnTo>
                <a:lnTo>
                  <a:pt x="0" y="24268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749754">
            <a:off x="13743530" y="5816524"/>
            <a:ext cx="1033424" cy="1406326"/>
          </a:xfrm>
          <a:custGeom>
            <a:avLst/>
            <a:gdLst/>
            <a:ahLst/>
            <a:cxnLst/>
            <a:rect l="l" t="t" r="r" b="b"/>
            <a:pathLst>
              <a:path w="1033424" h="1406326">
                <a:moveTo>
                  <a:pt x="0" y="0"/>
                </a:moveTo>
                <a:lnTo>
                  <a:pt x="1033424" y="0"/>
                </a:lnTo>
                <a:lnTo>
                  <a:pt x="1033424" y="1406327"/>
                </a:lnTo>
                <a:lnTo>
                  <a:pt x="0" y="1406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100" r="-1698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26162" y="4414549"/>
            <a:ext cx="5089246" cy="234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61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Beginner’s Guide to Social Media Presence for Entrepreneurs</a:t>
            </a:r>
            <a:endParaRPr lang="en-US" sz="26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3655"/>
              </a:lnSpc>
              <a:spcBef>
                <a:spcPct val="0"/>
              </a:spcBef>
            </a:pPr>
            <a:endParaRPr lang="en-US" sz="261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655"/>
              </a:lnSpc>
              <a:spcBef>
                <a:spcPct val="0"/>
              </a:spcBef>
            </a:pPr>
            <a:r>
              <a:rPr lang="en-US" sz="2610" b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Lecture 2</a:t>
            </a:r>
            <a:endParaRPr lang="en-US" sz="2610" b="1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26162" y="1388698"/>
            <a:ext cx="8706696" cy="289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65"/>
              </a:lnSpc>
              <a:spcBef>
                <a:spcPct val="0"/>
              </a:spcBef>
            </a:pPr>
            <a:r>
              <a:rPr lang="en-US" sz="81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BUILD YOUR BRAND</a:t>
            </a:r>
            <a:endParaRPr lang="en-US" sz="81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29938" y="227115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29938" y="324846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9938" y="540347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21419" y="510453"/>
            <a:ext cx="8284741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Facebook Page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81165" y="2194959"/>
            <a:ext cx="13763835" cy="5920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Log into your personal Facebook account.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DON’T: create a new Facebook account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30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Facebook page for your company:</a:t>
            </a: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30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lvl="0"/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Click on 9-dot Menu icon -&gt; Go to ‘Create’ Section → Select ‘Page Option’ -&gt; Enter Page Name → Select Category → Click Create Page → Add Profile Photo → Add Cover Photo → Save/Next.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Desktop link:  </a:t>
            </a:r>
            <a:r>
              <a:rPr lang="en-US" sz="3000" u="sng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https://www.facebook.com/business/tools/facebook-pages/get-started/</a:t>
            </a:r>
            <a:endParaRPr lang="en-US" sz="3000" u="sng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2729938" y="432421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729938" y="71247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64065"/>
            <a:ext cx="16230600" cy="6958870"/>
          </a:xfrm>
          <a:custGeom>
            <a:avLst/>
            <a:gdLst/>
            <a:ahLst/>
            <a:cxnLst/>
            <a:rect l="l" t="t" r="r" b="b"/>
            <a:pathLst>
              <a:path w="16230600" h="6958870">
                <a:moveTo>
                  <a:pt x="0" y="0"/>
                </a:moveTo>
                <a:lnTo>
                  <a:pt x="16230600" y="0"/>
                </a:lnTo>
                <a:lnTo>
                  <a:pt x="16230600" y="6958870"/>
                </a:lnTo>
                <a:lnTo>
                  <a:pt x="0" y="695887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9390" y="177386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9390" y="281567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59390" y="484822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59390" y="3856833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59390" y="588937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59390" y="695776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 Business Page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24416" y="1697666"/>
            <a:ext cx="14763584" cy="720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 instagram.com and click “Sign up”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profile picture and Bio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NOTE: Can only change to business profile on mobile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Click your profile picture and go to Settings (gear icon ⚙️ or the menu ≡)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 the search bar, type: Switch to professional account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Select Business (not “Creator”) and choose category (e.g., Bakery, Clothing, Artist)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your contact info (email, phone, WhatsApp if you want)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2859390" y="845063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43" y="2430816"/>
            <a:ext cx="3526384" cy="5430631"/>
          </a:xfrm>
          <a:prstGeom prst="rect">
            <a:avLst/>
          </a:prstGeom>
        </p:spPr>
      </p:pic>
      <p:pic>
        <p:nvPicPr>
          <p:cNvPr id="9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150" y="2425553"/>
            <a:ext cx="2663213" cy="59430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0" y="2425558"/>
            <a:ext cx="2663213" cy="59430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7795" y="2429499"/>
            <a:ext cx="2849560" cy="63588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3196" y="2430816"/>
            <a:ext cx="2849558" cy="63588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733" y="2425553"/>
            <a:ext cx="2849560" cy="63588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06508" y="215880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71532" y="2082601"/>
            <a:ext cx="12606667" cy="1575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Facebook.com → Switch to Page → Professional Dashboard → Linked Accounts → Instagram → Connect Account → Log in → Allow.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59390" y="316244"/>
            <a:ext cx="12052880" cy="118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660"/>
              </a:lnSpc>
              <a:spcBef>
                <a:spcPct val="0"/>
              </a:spcBef>
            </a:pPr>
            <a:r>
              <a:rPr lang="en-US" sz="6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 both accounts</a:t>
            </a:r>
            <a:endParaRPr lang="en-US" sz="6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200811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13953" y="2962642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97975" y="1931916"/>
            <a:ext cx="10649531" cy="103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WhatsApp communities can be used to give information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WhatsApp Business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9390" y="207947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9390" y="312128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59390" y="52036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59390" y="416244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24416" y="2003277"/>
            <a:ext cx="14086888" cy="411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Download “WhatsApp Business” from Play Store/App Store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Choose to use your existing number or a new one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Set up your Business Profile (name, description, working hours, email, etc.)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can be migrated without any loss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WhatsApp Business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213092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32949" y="314416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32949" y="523448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832949" y="420436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97975" y="2054725"/>
            <a:ext cx="13505182" cy="6808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Go to: 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3"/>
              </a:rPr>
              <a:t>https://create.wa.link/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Enter details, download the QR code and copy the link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Go to your Facebook Page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Click the “+ Add Action Button” under your cover photo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Choose “Send WhatsApp Message” and enter your WhatsApp number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Facebook will send you a code via WhatsApp to confirm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Once verified, a “Send WhatsApp” button appears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2832949" y="626611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32949" y="7278693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32949" y="833889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WhatsApp Integration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WhatsApp Integration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637" y="1661277"/>
            <a:ext cx="4610758" cy="29300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5905" y="1550656"/>
            <a:ext cx="4784834" cy="30663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550657"/>
            <a:ext cx="5457305" cy="3066338"/>
          </a:xfrm>
          <a:prstGeom prst="rect">
            <a:avLst/>
          </a:prstGeom>
        </p:spPr>
      </p:pic>
      <p:sp>
        <p:nvSpPr>
          <p:cNvPr id="20" name="Freeform 2"/>
          <p:cNvSpPr/>
          <p:nvPr/>
        </p:nvSpPr>
        <p:spPr>
          <a:xfrm>
            <a:off x="4191000" y="5055856"/>
            <a:ext cx="11485482" cy="4910959"/>
          </a:xfrm>
          <a:custGeom>
            <a:avLst/>
            <a:gdLst/>
            <a:ahLst/>
            <a:cxnLst/>
            <a:rect l="l" t="t" r="r" b="b"/>
            <a:pathLst>
              <a:path w="14328617" h="6107573">
                <a:moveTo>
                  <a:pt x="0" y="0"/>
                </a:moveTo>
                <a:lnTo>
                  <a:pt x="14328618" y="0"/>
                </a:lnTo>
                <a:lnTo>
                  <a:pt x="14328618" y="6107574"/>
                </a:lnTo>
                <a:lnTo>
                  <a:pt x="0" y="6107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19208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32949" y="293406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62018" y="4905647"/>
            <a:ext cx="4205935" cy="3993364"/>
          </a:xfrm>
          <a:custGeom>
            <a:avLst/>
            <a:gdLst/>
            <a:ahLst/>
            <a:cxnLst/>
            <a:rect l="l" t="t" r="r" b="b"/>
            <a:pathLst>
              <a:path w="2692466" h="6014464">
                <a:moveTo>
                  <a:pt x="0" y="0"/>
                </a:moveTo>
                <a:lnTo>
                  <a:pt x="2692465" y="0"/>
                </a:lnTo>
                <a:lnTo>
                  <a:pt x="2692465" y="6014465"/>
                </a:lnTo>
                <a:lnTo>
                  <a:pt x="0" y="6014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313" b="-10069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067953" y="3824028"/>
            <a:ext cx="4469525" cy="6146728"/>
          </a:xfrm>
          <a:custGeom>
            <a:avLst/>
            <a:gdLst/>
            <a:ahLst/>
            <a:cxnLst/>
            <a:rect l="l" t="t" r="r" b="b"/>
            <a:pathLst>
              <a:path w="2692466" h="6014464">
                <a:moveTo>
                  <a:pt x="0" y="0"/>
                </a:moveTo>
                <a:lnTo>
                  <a:pt x="2692466" y="0"/>
                </a:lnTo>
                <a:lnTo>
                  <a:pt x="2692466" y="6014465"/>
                </a:lnTo>
                <a:lnTo>
                  <a:pt x="0" y="6014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09072" y="4198137"/>
            <a:ext cx="4305350" cy="4700874"/>
          </a:xfrm>
          <a:custGeom>
            <a:avLst/>
            <a:gdLst/>
            <a:ahLst/>
            <a:cxnLst/>
            <a:rect l="l" t="t" r="r" b="b"/>
            <a:pathLst>
              <a:path w="2692466" h="6014464">
                <a:moveTo>
                  <a:pt x="0" y="0"/>
                </a:moveTo>
                <a:lnTo>
                  <a:pt x="2692465" y="0"/>
                </a:lnTo>
                <a:lnTo>
                  <a:pt x="2692465" y="6014465"/>
                </a:lnTo>
                <a:lnTo>
                  <a:pt x="0" y="6014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317" b="-8130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97975" y="1844630"/>
            <a:ext cx="11337003" cy="2059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WhatsApp business number OR paste link in bio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 a WhatsApp Business number to make a button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WhatsApp Business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19208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9390" y="346085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13009811" y="297760"/>
            <a:ext cx="4448381" cy="3163091"/>
          </a:xfrm>
          <a:custGeom>
            <a:avLst/>
            <a:gdLst/>
            <a:ahLst/>
            <a:cxnLst/>
            <a:rect l="l" t="t" r="r" b="b"/>
            <a:pathLst>
              <a:path w="4448381" h="3163091">
                <a:moveTo>
                  <a:pt x="0" y="0"/>
                </a:moveTo>
                <a:lnTo>
                  <a:pt x="4448381" y="0"/>
                </a:lnTo>
                <a:lnTo>
                  <a:pt x="4448381" y="3163090"/>
                </a:lnTo>
                <a:lnTo>
                  <a:pt x="0" y="3163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085893" y="3911456"/>
            <a:ext cx="4173407" cy="6018593"/>
          </a:xfrm>
          <a:custGeom>
            <a:avLst/>
            <a:gdLst/>
            <a:ahLst/>
            <a:cxnLst/>
            <a:rect l="l" t="t" r="r" b="b"/>
            <a:pathLst>
              <a:path w="4173407" h="6018593">
                <a:moveTo>
                  <a:pt x="0" y="0"/>
                </a:moveTo>
                <a:lnTo>
                  <a:pt x="4173407" y="0"/>
                </a:lnTo>
                <a:lnTo>
                  <a:pt x="4173407" y="6018593"/>
                </a:lnTo>
                <a:lnTo>
                  <a:pt x="0" y="6018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97975" y="1844630"/>
            <a:ext cx="9292761" cy="733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 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5"/>
              </a:rPr>
              <a:t>https://linktr.ee/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→ Sign up for free → email → username (similar to your Instagram handle)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Select your account type and category → Select free account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Select Facebook and Instagram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more links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Copy your </a:t>
            </a:r>
            <a:r>
              <a:rPr lang="en-US" sz="2925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LinkTree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URL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Edit your Instagram profile → Add Links → paste your </a:t>
            </a:r>
            <a:r>
              <a:rPr lang="en-US" sz="2925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linktree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URL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Linktree Integration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859390" y="491819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59390" y="599604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859390" y="707529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859390" y="808319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1" y="0"/>
                </a:lnTo>
                <a:lnTo>
                  <a:pt x="443351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19208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9390" y="34671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97975" y="1844630"/>
            <a:ext cx="11337003" cy="6808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On your business profile, tap the hamburger menu (≡)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 "Business tools and controls"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 "Saved replies"  → "+" 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263015" lvl="2" indent="-421005" algn="l">
              <a:lnSpc>
                <a:spcPts val="4095"/>
              </a:lnSpc>
              <a:buFont typeface="Arial" panose="020B0604020202020204"/>
              <a:buChar char="⚬"/>
            </a:pPr>
            <a:r>
              <a:rPr lang="en-US" sz="2925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eg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Shortcut: thankyou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263015" lvl="2" indent="-421005" algn="l">
              <a:lnSpc>
                <a:spcPts val="4095"/>
              </a:lnSpc>
              <a:buFont typeface="Arial" panose="020B0604020202020204"/>
              <a:buChar char="⚬"/>
            </a:pPr>
            <a:r>
              <a:rPr lang="en-US" sz="2925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eg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message: "Thank you for reaching out! We'll get back to you shortly."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263015" lvl="2" indent="-421005" algn="l">
              <a:lnSpc>
                <a:spcPts val="4095"/>
              </a:lnSpc>
              <a:buFont typeface="Arial" panose="020B0604020202020204"/>
              <a:buChar char="⚬"/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Save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263015" lvl="2" indent="-421005" algn="l">
              <a:lnSpc>
                <a:spcPts val="4095"/>
              </a:lnSpc>
              <a:buFont typeface="Arial" panose="020B0604020202020204"/>
              <a:buChar char="⚬"/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 use quick replies: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263015" lvl="2" indent="-421005" algn="l">
              <a:lnSpc>
                <a:spcPts val="4095"/>
              </a:lnSpc>
              <a:buFont typeface="Arial" panose="020B0604020202020204"/>
              <a:buChar char="⚬"/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Type / followed by your shortcut → send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263015" lvl="2" indent="-421005" algn="l">
              <a:lnSpc>
                <a:spcPts val="4095"/>
              </a:lnSpc>
              <a:buFont typeface="Arial" panose="020B0604020202020204"/>
              <a:buChar char="⚬"/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/thank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 Quick Replies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Freeform 3"/>
          <p:cNvSpPr/>
          <p:nvPr/>
        </p:nvSpPr>
        <p:spPr>
          <a:xfrm>
            <a:off x="2859389" y="659130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 Quick Replies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46"/>
          <a:stretch>
            <a:fillRect/>
          </a:stretch>
        </p:blipFill>
        <p:spPr>
          <a:xfrm>
            <a:off x="14708169" y="2718072"/>
            <a:ext cx="3124200" cy="57626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105" y="2933700"/>
            <a:ext cx="6562725" cy="48482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172" y="3321844"/>
            <a:ext cx="4934085" cy="3643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Instagram Quick Replies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151" y="3029018"/>
            <a:ext cx="4810087" cy="40119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722" y="2870968"/>
            <a:ext cx="5027107" cy="432807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8560" y="1763350"/>
            <a:ext cx="5607884" cy="6760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19208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32949" y="28400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97975" y="1530305"/>
            <a:ext cx="11337003" cy="174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Can direct to Link in Bio on posts, reels and stories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7310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Use Link sticker in stories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 links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0" y="2628900"/>
            <a:ext cx="3819525" cy="66960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19208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97975" y="1530305"/>
            <a:ext cx="11337003" cy="80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Ask to comment a word can be used in stories only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 links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752894"/>
            <a:ext cx="9601200" cy="741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19208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32949" y="28400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2832949" y="375924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46252" y="4457699"/>
            <a:ext cx="5992948" cy="4956029"/>
          </a:xfrm>
          <a:custGeom>
            <a:avLst/>
            <a:gdLst/>
            <a:ahLst/>
            <a:cxnLst/>
            <a:rect l="l" t="t" r="r" b="b"/>
            <a:pathLst>
              <a:path w="6631701" h="6219901">
                <a:moveTo>
                  <a:pt x="0" y="0"/>
                </a:moveTo>
                <a:lnTo>
                  <a:pt x="6631701" y="0"/>
                </a:lnTo>
                <a:lnTo>
                  <a:pt x="6631701" y="6219901"/>
                </a:lnTo>
                <a:lnTo>
                  <a:pt x="0" y="6219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87200" y="952500"/>
            <a:ext cx="6369269" cy="9137663"/>
          </a:xfrm>
          <a:custGeom>
            <a:avLst/>
            <a:gdLst/>
            <a:ahLst/>
            <a:cxnLst/>
            <a:rect l="l" t="t" r="r" b="b"/>
            <a:pathLst>
              <a:path w="2662592" h="6219901">
                <a:moveTo>
                  <a:pt x="0" y="0"/>
                </a:moveTo>
                <a:lnTo>
                  <a:pt x="2662592" y="0"/>
                </a:lnTo>
                <a:lnTo>
                  <a:pt x="2662592" y="6219901"/>
                </a:lnTo>
                <a:lnTo>
                  <a:pt x="0" y="6219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97975" y="1530305"/>
            <a:ext cx="9760825" cy="267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Open 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5"/>
              </a:rPr>
              <a:t>https://manychat.com/</a:t>
            </a: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sign up with email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7310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 with Meta Business Suite → stepwise link Facebook and Instagram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ManyChat integration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28400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2832949" y="375924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38400" y="1409700"/>
            <a:ext cx="4369305" cy="6761515"/>
          </a:xfrm>
          <a:custGeom>
            <a:avLst/>
            <a:gdLst/>
            <a:ahLst/>
            <a:cxnLst/>
            <a:rect l="l" t="t" r="r" b="b"/>
            <a:pathLst>
              <a:path w="3974756" h="6025082">
                <a:moveTo>
                  <a:pt x="0" y="0"/>
                </a:moveTo>
                <a:lnTo>
                  <a:pt x="3974756" y="0"/>
                </a:lnTo>
                <a:lnTo>
                  <a:pt x="3974756" y="6025082"/>
                </a:lnTo>
                <a:lnTo>
                  <a:pt x="0" y="6025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117102" y="2146133"/>
            <a:ext cx="4952798" cy="5404420"/>
          </a:xfrm>
          <a:custGeom>
            <a:avLst/>
            <a:gdLst/>
            <a:ahLst/>
            <a:cxnLst/>
            <a:rect l="l" t="t" r="r" b="b"/>
            <a:pathLst>
              <a:path w="4952798" h="5404420">
                <a:moveTo>
                  <a:pt x="0" y="0"/>
                </a:moveTo>
                <a:lnTo>
                  <a:pt x="4952797" y="0"/>
                </a:lnTo>
                <a:lnTo>
                  <a:pt x="4952797" y="5404420"/>
                </a:lnTo>
                <a:lnTo>
                  <a:pt x="0" y="5404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66432" y="1866900"/>
            <a:ext cx="4952798" cy="8103856"/>
          </a:xfrm>
          <a:custGeom>
            <a:avLst/>
            <a:gdLst/>
            <a:ahLst/>
            <a:cxnLst/>
            <a:rect l="l" t="t" r="r" b="b"/>
            <a:pathLst>
              <a:path w="3881292" h="7584543">
                <a:moveTo>
                  <a:pt x="0" y="0"/>
                </a:moveTo>
                <a:lnTo>
                  <a:pt x="3881292" y="0"/>
                </a:lnTo>
                <a:lnTo>
                  <a:pt x="3881292" y="7584543"/>
                </a:lnTo>
                <a:lnTo>
                  <a:pt x="0" y="758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ManyChat integration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9390" y="8867775"/>
            <a:ext cx="3502137" cy="831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Click on “Go Live”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2949" y="284003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2832949" y="375924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94978" y="1961556"/>
            <a:ext cx="7605061" cy="7783405"/>
          </a:xfrm>
          <a:custGeom>
            <a:avLst/>
            <a:gdLst/>
            <a:ahLst/>
            <a:cxnLst/>
            <a:rect l="l" t="t" r="r" b="b"/>
            <a:pathLst>
              <a:path w="7605061" h="7783405">
                <a:moveTo>
                  <a:pt x="0" y="0"/>
                </a:moveTo>
                <a:lnTo>
                  <a:pt x="7605061" y="0"/>
                </a:lnTo>
                <a:lnTo>
                  <a:pt x="7605061" y="7783405"/>
                </a:lnTo>
                <a:lnTo>
                  <a:pt x="0" y="7783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11569" y="2155012"/>
            <a:ext cx="7564775" cy="7589949"/>
          </a:xfrm>
          <a:custGeom>
            <a:avLst/>
            <a:gdLst/>
            <a:ahLst/>
            <a:cxnLst/>
            <a:rect l="l" t="t" r="r" b="b"/>
            <a:pathLst>
              <a:path w="7564775" h="7589949">
                <a:moveTo>
                  <a:pt x="0" y="0"/>
                </a:moveTo>
                <a:lnTo>
                  <a:pt x="7564775" y="0"/>
                </a:lnTo>
                <a:lnTo>
                  <a:pt x="7564775" y="7589949"/>
                </a:lnTo>
                <a:lnTo>
                  <a:pt x="0" y="758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59390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ManyChat integration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58390" y="1967685"/>
            <a:ext cx="8392586" cy="365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Option 1: Download Meta Business Suit app from App Store and log in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u="sng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3" tooltip="https://business.facebook.com"/>
            </a:endParaRPr>
          </a:p>
          <a:p>
            <a:pPr algn="l">
              <a:lnSpc>
                <a:spcPts val="4095"/>
              </a:lnSpc>
            </a:pPr>
            <a:endParaRPr lang="en-US" sz="2925" u="sng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3" tooltip="https://business.facebook.com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u="sng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3" tooltip="https://business.facebook.com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u="sng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  <a:hlinkClick r:id="rId3" tooltip="https://business.facebook.com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1725507"/>
            <a:ext cx="3898470" cy="79983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58389" y="1967685"/>
            <a:ext cx="11337003" cy="499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Option 2: Desktop: </a:t>
            </a:r>
            <a:r>
              <a:rPr lang="en-US" sz="2925" u="sng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3" tooltip="https://business.facebook.com"/>
              </a:rPr>
              <a:t>https://business.facebook.com/ </a:t>
            </a:r>
            <a:endParaRPr lang="en-US" sz="2925" u="sng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894" y="3390900"/>
            <a:ext cx="10082212" cy="60232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93363" y="2884080"/>
            <a:ext cx="7513113" cy="3988980"/>
          </a:xfrm>
          <a:custGeom>
            <a:avLst/>
            <a:gdLst/>
            <a:ahLst/>
            <a:cxnLst/>
            <a:rect l="l" t="t" r="r" b="b"/>
            <a:pathLst>
              <a:path w="6949025" h="3448454">
                <a:moveTo>
                  <a:pt x="0" y="0"/>
                </a:moveTo>
                <a:lnTo>
                  <a:pt x="6949025" y="0"/>
                </a:lnTo>
                <a:lnTo>
                  <a:pt x="6949025" y="3448454"/>
                </a:lnTo>
                <a:lnTo>
                  <a:pt x="0" y="3448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58389" y="1967685"/>
            <a:ext cx="11337003" cy="499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Option 3: Navigate to your Facebook Page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593363" y="305712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0400" y="2494490"/>
            <a:ext cx="6438900" cy="7435559"/>
          </a:xfrm>
          <a:custGeom>
            <a:avLst/>
            <a:gdLst/>
            <a:ahLst/>
            <a:cxnLst/>
            <a:rect l="l" t="t" r="r" b="b"/>
            <a:pathLst>
              <a:path w="5685740" h="5351285">
                <a:moveTo>
                  <a:pt x="0" y="0"/>
                </a:moveTo>
                <a:lnTo>
                  <a:pt x="5685740" y="0"/>
                </a:lnTo>
                <a:lnTo>
                  <a:pt x="5685740" y="5351285"/>
                </a:lnTo>
                <a:lnTo>
                  <a:pt x="0" y="53512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58389" y="1967685"/>
            <a:ext cx="7181011" cy="4705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OR select a business portfolio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Name (same as business name) &amp; email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Give your First Name and Last Name as on CNIC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Connect your Instagram account 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159" y="2225566"/>
            <a:ext cx="3402690" cy="70835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47900"/>
            <a:ext cx="2412877" cy="708358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6937" y="3814762"/>
            <a:ext cx="3076575" cy="26574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080" y="3238500"/>
            <a:ext cx="370522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837106" y="5995061"/>
            <a:ext cx="11301259" cy="3263239"/>
          </a:xfrm>
          <a:custGeom>
            <a:avLst/>
            <a:gdLst/>
            <a:ahLst/>
            <a:cxnLst/>
            <a:rect l="l" t="t" r="r" b="b"/>
            <a:pathLst>
              <a:path w="11301259" h="3263239">
                <a:moveTo>
                  <a:pt x="0" y="0"/>
                </a:moveTo>
                <a:lnTo>
                  <a:pt x="11301259" y="0"/>
                </a:lnTo>
                <a:lnTo>
                  <a:pt x="11301259" y="3263239"/>
                </a:lnTo>
                <a:lnTo>
                  <a:pt x="0" y="326323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58389" y="1967685"/>
            <a:ext cx="11337003" cy="312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Hands-on showing the Meta Business Suite: </a:t>
            </a:r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Home, Content, Inbox, Planner, Insights, and Ads tabs.</a:t>
            </a:r>
            <a:endParaRPr lang="en-US" sz="2925" dirty="0">
              <a:solidFill>
                <a:srgbClr val="000000"/>
              </a:solidFill>
              <a:latin typeface="Poppins" panose="00000500000000000000" pitchFamily="2" charset="0"/>
              <a:ea typeface="Poppins" panose="00000500000000000000"/>
              <a:cs typeface="Poppins" panose="00000500000000000000" pitchFamily="2" charset="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Insights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Professional Dashboard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70706" y="353183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9"/>
          <p:cNvSpPr/>
          <p:nvPr/>
        </p:nvSpPr>
        <p:spPr>
          <a:xfrm>
            <a:off x="2593363" y="4633548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1337003" cy="103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Automation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Inbox → Automations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162300"/>
            <a:ext cx="3462653" cy="7124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162300"/>
            <a:ext cx="3462653" cy="712358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220596"/>
            <a:ext cx="4886365" cy="70069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1337003" cy="103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Automation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Inbox → Automations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2519" y="3018118"/>
            <a:ext cx="4532234" cy="579541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363" y="3184592"/>
            <a:ext cx="4471786" cy="679536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289" y="1987392"/>
            <a:ext cx="4005577" cy="82431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1337003" cy="103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Automation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Inbox → Automations</a:t>
            </a:r>
            <a:endParaRPr lang="en-US" sz="292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011" y="3162300"/>
            <a:ext cx="3564179" cy="6972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391" y="3323897"/>
            <a:ext cx="3416570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82109"/>
            <a:ext cx="16447195" cy="907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90"/>
              </a:lnSpc>
              <a:spcBef>
                <a:spcPct val="0"/>
              </a:spcBef>
            </a:pPr>
            <a:r>
              <a:rPr lang="en-US" sz="168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SCHEDULING</a:t>
            </a:r>
            <a:endParaRPr lang="en-US" sz="1685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23590"/>
              </a:lnSpc>
              <a:spcBef>
                <a:spcPct val="0"/>
              </a:spcBef>
            </a:pPr>
            <a:r>
              <a:rPr lang="en-US" sz="168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 </a:t>
            </a:r>
            <a:endParaRPr lang="en-US" sz="1685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23590"/>
              </a:lnSpc>
              <a:spcBef>
                <a:spcPct val="0"/>
              </a:spcBef>
            </a:pPr>
            <a:r>
              <a:rPr lang="en-US" sz="168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POST</a:t>
            </a:r>
            <a:endParaRPr lang="en-US" sz="1685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36606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1337003" cy="540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5"/>
              </a:lnSpc>
            </a:pP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Schedule a post</a:t>
            </a: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7235"/>
              </a:lnSpc>
            </a:pP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Create a reel on Canva and schedule a reel</a:t>
            </a: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7235"/>
              </a:lnSpc>
            </a:pP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Search for “Canva reel generator” or open </a:t>
            </a: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3"/>
              </a:rPr>
              <a:t>https://www.canva.com/create/reels/</a:t>
            </a: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7235"/>
              </a:lnSpc>
            </a:pP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7235"/>
              </a:lnSpc>
            </a:pP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607351" y="319188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36606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1337003" cy="793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5"/>
              </a:lnSpc>
            </a:pP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Using Canva to create reels:</a:t>
            </a: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561" y="3576132"/>
            <a:ext cx="4034589" cy="663892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702" y="3576132"/>
            <a:ext cx="3134923" cy="658335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7080" y="2968700"/>
            <a:ext cx="4562475" cy="722363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8929" y="2968700"/>
            <a:ext cx="3879071" cy="70112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366066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1337003" cy="793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5"/>
              </a:lnSpc>
            </a:pP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Using Canva to create reels:</a:t>
            </a:r>
            <a:endParaRPr lang="en-US" sz="28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714" y="2775970"/>
            <a:ext cx="4196574" cy="74498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543" y="2731499"/>
            <a:ext cx="4105722" cy="755418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5955" y="3390900"/>
            <a:ext cx="4600575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2896011" cy="260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Boost ads (simpler, but can’t target audience in a detailed manner)</a:t>
            </a:r>
            <a:endParaRPr lang="en-US" sz="2925" dirty="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 to create an Ad account first and add payment information (will explain under paid ads)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593362" y="2537113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48" y="3855600"/>
            <a:ext cx="2138276" cy="60353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5144814"/>
            <a:ext cx="4413394" cy="346944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0" y="3296528"/>
            <a:ext cx="3573700" cy="69002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22240" cy="9573098"/>
            <a:chOff x="0" y="0"/>
            <a:chExt cx="453594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3594" cy="2521310"/>
            </a:xfrm>
            <a:custGeom>
              <a:avLst/>
              <a:gdLst/>
              <a:ahLst/>
              <a:cxnLst/>
              <a:rect l="l" t="t" r="r" b="b"/>
              <a:pathLst>
                <a:path w="453594" h="2521310">
                  <a:moveTo>
                    <a:pt x="0" y="0"/>
                  </a:moveTo>
                  <a:lnTo>
                    <a:pt x="453594" y="0"/>
                  </a:lnTo>
                  <a:lnTo>
                    <a:pt x="453594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87B45E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3594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593363" y="204388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93363" y="316244"/>
            <a:ext cx="12052880" cy="123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60"/>
              </a:lnSpc>
              <a:spcBef>
                <a:spcPct val="0"/>
              </a:spcBef>
            </a:pPr>
            <a:r>
              <a:rPr lang="en-US" sz="6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Meta Business Suite</a:t>
            </a:r>
            <a:endParaRPr lang="en-US" sz="6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58389" y="1967685"/>
            <a:ext cx="12896011" cy="260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Boost ads (simpler, but can’t target audience in a detailed manner)</a:t>
            </a:r>
            <a:endParaRPr lang="en-US" sz="2925" dirty="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2925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 to create an Ad account first and add payment information (will explain under paid ads)</a:t>
            </a: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95"/>
              </a:lnSpc>
              <a:spcBef>
                <a:spcPct val="0"/>
              </a:spcBef>
            </a:pPr>
            <a:endParaRPr lang="en-US" sz="2925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593362" y="2537113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5787" y="3911538"/>
            <a:ext cx="3117225" cy="6286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743" y="3347390"/>
            <a:ext cx="3573700" cy="692778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675490" y="2859066"/>
            <a:ext cx="3252117" cy="4653330"/>
          </a:xfrm>
          <a:custGeom>
            <a:avLst/>
            <a:gdLst/>
            <a:ahLst/>
            <a:cxnLst/>
            <a:rect l="l" t="t" r="r" b="b"/>
            <a:pathLst>
              <a:path w="3252117" h="4653330">
                <a:moveTo>
                  <a:pt x="0" y="0"/>
                </a:moveTo>
                <a:lnTo>
                  <a:pt x="3252117" y="0"/>
                </a:lnTo>
                <a:lnTo>
                  <a:pt x="3252117" y="4653330"/>
                </a:lnTo>
                <a:lnTo>
                  <a:pt x="0" y="46533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91374" y="2853354"/>
            <a:ext cx="2809701" cy="4659042"/>
          </a:xfrm>
          <a:custGeom>
            <a:avLst/>
            <a:gdLst/>
            <a:ahLst/>
            <a:cxnLst/>
            <a:rect l="l" t="t" r="r" b="b"/>
            <a:pathLst>
              <a:path w="2809701" h="4659042">
                <a:moveTo>
                  <a:pt x="0" y="0"/>
                </a:moveTo>
                <a:lnTo>
                  <a:pt x="2809701" y="0"/>
                </a:lnTo>
                <a:lnTo>
                  <a:pt x="2809701" y="4659042"/>
                </a:lnTo>
                <a:lnTo>
                  <a:pt x="0" y="4659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265624" y="2774604"/>
            <a:ext cx="2825066" cy="4651899"/>
          </a:xfrm>
          <a:custGeom>
            <a:avLst/>
            <a:gdLst/>
            <a:ahLst/>
            <a:cxnLst/>
            <a:rect l="l" t="t" r="r" b="b"/>
            <a:pathLst>
              <a:path w="2825066" h="4651899">
                <a:moveTo>
                  <a:pt x="0" y="0"/>
                </a:moveTo>
                <a:lnTo>
                  <a:pt x="2825066" y="0"/>
                </a:lnTo>
                <a:lnTo>
                  <a:pt x="2825066" y="4651899"/>
                </a:lnTo>
                <a:lnTo>
                  <a:pt x="0" y="4651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57391" y="2774604"/>
            <a:ext cx="2768386" cy="4659042"/>
          </a:xfrm>
          <a:custGeom>
            <a:avLst/>
            <a:gdLst/>
            <a:ahLst/>
            <a:cxnLst/>
            <a:rect l="l" t="t" r="r" b="b"/>
            <a:pathLst>
              <a:path w="2623251" h="4651899">
                <a:moveTo>
                  <a:pt x="0" y="0"/>
                </a:moveTo>
                <a:lnTo>
                  <a:pt x="2623251" y="0"/>
                </a:lnTo>
                <a:lnTo>
                  <a:pt x="2623251" y="4651899"/>
                </a:lnTo>
                <a:lnTo>
                  <a:pt x="0" y="4651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47341" y="2774604"/>
            <a:ext cx="2768386" cy="4651899"/>
          </a:xfrm>
          <a:custGeom>
            <a:avLst/>
            <a:gdLst/>
            <a:ahLst/>
            <a:cxnLst/>
            <a:rect l="l" t="t" r="r" b="b"/>
            <a:pathLst>
              <a:path w="2768386" h="4651899">
                <a:moveTo>
                  <a:pt x="0" y="0"/>
                </a:moveTo>
                <a:lnTo>
                  <a:pt x="2768386" y="0"/>
                </a:lnTo>
                <a:lnTo>
                  <a:pt x="2768386" y="4651899"/>
                </a:lnTo>
                <a:lnTo>
                  <a:pt x="0" y="4651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23087" y="225449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32640" y="2872941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23086" y="357151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2640" y="425614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19" y="2018530"/>
            <a:ext cx="15916223" cy="6905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Need a credit or debit card for payments</a:t>
            </a:r>
            <a:endParaRPr lang="en-US" sz="32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Create a New Ad Account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Open settings in the Meta Business Suite </a:t>
            </a: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business.facebook.com</a:t>
            </a: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 (desktop only)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Click Accounts → Ad Accounts → “Add” button → “Create a New Ad Account.”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Fill in details: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-Ad Account Name → e.g., "Kaib Bakery Ads“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-Time zone &amp; currency (cannot be changed later)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-Assign yourself the role Admin so you can manage and run ads.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-Add a payment method </a:t>
            </a: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(Master Card, Visa, </a:t>
            </a:r>
            <a:r>
              <a:rPr lang="en-US" sz="2800" dirty="0" err="1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Sadapay</a:t>
            </a:r>
            <a:r>
              <a:rPr lang="en-US" sz="28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 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Poppins" panose="00000500000000000000" pitchFamily="2" charset="0"/>
                <a:cs typeface="Poppins" panose="00000500000000000000" pitchFamily="2" charset="0"/>
              </a:rPr>
              <a:t>	-Once done, you’ll see the ad account in your Meta Business Suite.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723085" y="497781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23087" y="2254495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19" y="2018530"/>
            <a:ext cx="15916223" cy="668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 further details</a:t>
            </a:r>
            <a:endParaRPr lang="en-US" sz="3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80" y="3562734"/>
            <a:ext cx="7384357" cy="47525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46" y="3582441"/>
            <a:ext cx="9153525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8769" y="356951"/>
            <a:ext cx="17057231" cy="9573098"/>
            <a:chOff x="0" y="0"/>
            <a:chExt cx="4492439" cy="25213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92439" cy="2521310"/>
            </a:xfrm>
            <a:custGeom>
              <a:avLst/>
              <a:gdLst/>
              <a:ahLst/>
              <a:cxnLst/>
              <a:rect l="l" t="t" r="r" b="b"/>
              <a:pathLst>
                <a:path w="4492439" h="2521310">
                  <a:moveTo>
                    <a:pt x="0" y="0"/>
                  </a:moveTo>
                  <a:lnTo>
                    <a:pt x="4492439" y="0"/>
                  </a:lnTo>
                  <a:lnTo>
                    <a:pt x="449243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9243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526000" y="356951"/>
            <a:ext cx="273257" cy="9573098"/>
            <a:chOff x="0" y="0"/>
            <a:chExt cx="71969" cy="25213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969" cy="2521310"/>
            </a:xfrm>
            <a:custGeom>
              <a:avLst/>
              <a:gdLst/>
              <a:ahLst/>
              <a:cxnLst/>
              <a:rect l="l" t="t" r="r" b="b"/>
              <a:pathLst>
                <a:path w="71969" h="2521310">
                  <a:moveTo>
                    <a:pt x="0" y="0"/>
                  </a:moveTo>
                  <a:lnTo>
                    <a:pt x="71969" y="0"/>
                  </a:lnTo>
                  <a:lnTo>
                    <a:pt x="71969" y="2521310"/>
                  </a:lnTo>
                  <a:lnTo>
                    <a:pt x="0" y="2521310"/>
                  </a:lnTo>
                  <a:close/>
                </a:path>
              </a:pathLst>
            </a:custGeom>
            <a:solidFill>
              <a:srgbClr val="A2D07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969" cy="2578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886" y="9608891"/>
            <a:ext cx="17070114" cy="321159"/>
            <a:chOff x="0" y="0"/>
            <a:chExt cx="4495833" cy="84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5833" cy="84585"/>
            </a:xfrm>
            <a:custGeom>
              <a:avLst/>
              <a:gdLst/>
              <a:ahLst/>
              <a:cxnLst/>
              <a:rect l="l" t="t" r="r" b="b"/>
              <a:pathLst>
                <a:path w="4495833" h="84585">
                  <a:moveTo>
                    <a:pt x="0" y="0"/>
                  </a:moveTo>
                  <a:lnTo>
                    <a:pt x="4495833" y="0"/>
                  </a:lnTo>
                  <a:lnTo>
                    <a:pt x="4495833" y="84585"/>
                  </a:lnTo>
                  <a:lnTo>
                    <a:pt x="0" y="84585"/>
                  </a:lnTo>
                  <a:close/>
                </a:path>
              </a:pathLst>
            </a:custGeom>
            <a:solidFill>
              <a:srgbClr val="FCCC38"/>
            </a:solidFill>
            <a:ln w="19050" cap="sq">
              <a:solidFill>
                <a:srgbClr val="011FB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95833" cy="141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732640" y="2094730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2640" y="3663229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5"/>
                </a:lnTo>
                <a:lnTo>
                  <a:pt x="0" y="45060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32640" y="5171294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689900" y="1981190"/>
            <a:ext cx="4468549" cy="6107628"/>
          </a:xfrm>
          <a:custGeom>
            <a:avLst/>
            <a:gdLst/>
            <a:ahLst/>
            <a:cxnLst/>
            <a:rect l="l" t="t" r="r" b="b"/>
            <a:pathLst>
              <a:path w="4468549" h="6107628">
                <a:moveTo>
                  <a:pt x="0" y="0"/>
                </a:moveTo>
                <a:lnTo>
                  <a:pt x="4468550" y="0"/>
                </a:lnTo>
                <a:lnTo>
                  <a:pt x="4468550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5490" y="333202"/>
            <a:ext cx="11988134" cy="1236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0"/>
              </a:lnSpc>
              <a:spcBef>
                <a:spcPct val="0"/>
              </a:spcBef>
            </a:pPr>
            <a:r>
              <a:rPr lang="en-US" sz="681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Paid ads </a:t>
            </a:r>
            <a:endParaRPr lang="en-US" sz="681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6520" y="2018530"/>
            <a:ext cx="10985829" cy="57562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Download Meta Ads Manager from the App Store for the hands-on activities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Many deep asset assignments not possible on mobile app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Desktop: </a:t>
            </a: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4"/>
              </a:rPr>
              <a:t>https://adsmanager.facebook.com/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Ads: Images, videos, text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 sets: has a collection of ads with the same settings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Campaigns: collection of ad sets with specific goal</a:t>
            </a:r>
            <a:endParaRPr lang="en-US" sz="2900" dirty="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Freeform 14"/>
          <p:cNvSpPr/>
          <p:nvPr/>
        </p:nvSpPr>
        <p:spPr>
          <a:xfrm>
            <a:off x="732639" y="6173167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4"/>
          <p:cNvSpPr/>
          <p:nvPr/>
        </p:nvSpPr>
        <p:spPr>
          <a:xfrm>
            <a:off x="732638" y="7256122"/>
            <a:ext cx="443351" cy="450605"/>
          </a:xfrm>
          <a:custGeom>
            <a:avLst/>
            <a:gdLst/>
            <a:ahLst/>
            <a:cxnLst/>
            <a:rect l="l" t="t" r="r" b="b"/>
            <a:pathLst>
              <a:path w="443351" h="450605">
                <a:moveTo>
                  <a:pt x="0" y="0"/>
                </a:moveTo>
                <a:lnTo>
                  <a:pt x="443350" y="0"/>
                </a:lnTo>
                <a:lnTo>
                  <a:pt x="443350" y="450606"/>
                </a:lnTo>
                <a:lnTo>
                  <a:pt x="0" y="4506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143125" y="1475105"/>
            <a:ext cx="14849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5400"/>
              <a:t>End of Lecture</a:t>
            </a:r>
            <a:endParaRPr lang="en-US"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4972</Words>
  <Application>WPS Writer</Application>
  <PresentationFormat>Custom</PresentationFormat>
  <Paragraphs>253</Paragraphs>
  <Slides>40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4" baseType="lpstr">
      <vt:lpstr>Arial</vt:lpstr>
      <vt:lpstr>SimSun</vt:lpstr>
      <vt:lpstr>Wingdings</vt:lpstr>
      <vt:lpstr>Poppins</vt:lpstr>
      <vt:lpstr>Poppins Bold</vt:lpstr>
      <vt:lpstr>Poppins</vt:lpstr>
      <vt:lpstr>Arial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pack</dc:title>
  <dc:creator/>
  <cp:lastModifiedBy>Nimra Abbas</cp:lastModifiedBy>
  <cp:revision>40</cp:revision>
  <dcterms:created xsi:type="dcterms:W3CDTF">2025-12-10T14:34:05Z</dcterms:created>
  <dcterms:modified xsi:type="dcterms:W3CDTF">2025-12-10T14:34:05Z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