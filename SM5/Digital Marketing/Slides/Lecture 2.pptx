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fonts/font1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501" r:id="rId4"/>
    <p:sldId id="260" r:id="rId5"/>
    <p:sldId id="322" r:id="rId7"/>
    <p:sldId id="323" r:id="rId8"/>
    <p:sldId id="325" r:id="rId9"/>
    <p:sldId id="261" r:id="rId10"/>
    <p:sldId id="329" r:id="rId11"/>
    <p:sldId id="328" r:id="rId12"/>
    <p:sldId id="262" r:id="rId13"/>
    <p:sldId id="331" r:id="rId14"/>
    <p:sldId id="332" r:id="rId15"/>
    <p:sldId id="333" r:id="rId16"/>
    <p:sldId id="336" r:id="rId17"/>
    <p:sldId id="337" r:id="rId18"/>
    <p:sldId id="330" r:id="rId19"/>
    <p:sldId id="338" r:id="rId20"/>
    <p:sldId id="339" r:id="rId21"/>
    <p:sldId id="340" r:id="rId22"/>
    <p:sldId id="341" r:id="rId23"/>
    <p:sldId id="399" r:id="rId24"/>
    <p:sldId id="342" r:id="rId25"/>
    <p:sldId id="343" r:id="rId26"/>
    <p:sldId id="344" r:id="rId27"/>
    <p:sldId id="345" r:id="rId28"/>
    <p:sldId id="346" r:id="rId29"/>
    <p:sldId id="414" r:id="rId30"/>
  </p:sldIdLst>
  <p:sldSz cx="18288000" cy="10287000"/>
  <p:notesSz cx="6858000" cy="9144000"/>
  <p:embeddedFontLst>
    <p:embeddedFont>
      <p:font typeface="Clear Sans" panose="020B05030302020203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52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5BFC72-2E51-43ED-884F-5AEA515E496A}" type="doc">
      <dgm:prSet loTypeId="urn:microsoft.com/office/officeart/2008/layout/BendingPictureCaption" loCatId="picture" qsTypeId="urn:microsoft.com/office/officeart/2005/8/quickstyle/simple2" qsCatId="simple" csTypeId="urn:microsoft.com/office/officeart/2005/8/colors/accent6_1" csCatId="accent1" phldr="0"/>
      <dgm:spPr/>
      <dgm:t>
        <a:bodyPr/>
        <a:p>
          <a:endParaRPr lang="en-US"/>
        </a:p>
      </dgm:t>
    </dgm:pt>
    <dgm:pt modelId="{E0A5C3A9-B645-48A0-A483-AD60AE1E47C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5000"/>
            </a:spcAft>
          </a:pPr>
          <a:r>
            <a:rPr lang="en-US"/>
            <a:t>cPanel</a:t>
          </a:r>
          <a:r>
            <a:rPr lang="en-US"/>
            <a:t/>
          </a:r>
          <a:endParaRPr lang="en-US"/>
        </a:p>
      </dgm:t>
    </dgm:pt>
    <dgm:pt modelId="{BCCDA7E8-8D42-4577-A392-58A62B4E1698}" cxnId="{DB0C11DD-7DD6-4C79-9901-993E8B4BD2C5}" type="parTrans">
      <dgm:prSet/>
      <dgm:spPr/>
      <dgm:t>
        <a:bodyPr/>
        <a:p>
          <a:endParaRPr lang="en-US"/>
        </a:p>
      </dgm:t>
    </dgm:pt>
    <dgm:pt modelId="{17D1CE92-3E2C-4609-A18D-3DD15B2E602B}" cxnId="{DB0C11DD-7DD6-4C79-9901-993E8B4BD2C5}" type="sibTrans">
      <dgm:prSet/>
      <dgm:spPr/>
      <dgm:t>
        <a:bodyPr/>
        <a:p>
          <a:endParaRPr lang="en-US"/>
        </a:p>
      </dgm:t>
    </dgm:pt>
    <dgm:pt modelId="{5FFC7B6C-88F2-478C-B104-BB6C80D91ABE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5000"/>
            </a:spcAft>
          </a:pPr>
          <a:r>
            <a:rPr lang="en-US"/>
            <a:t>DirectAdmin</a:t>
          </a:r>
          <a:r>
            <a:rPr lang="en-US"/>
            <a:t/>
          </a:r>
          <a:endParaRPr lang="en-US"/>
        </a:p>
      </dgm:t>
    </dgm:pt>
    <dgm:pt modelId="{74007B51-AC89-49CD-968F-32CBB9315A34}" cxnId="{4A2FC702-737B-4068-92E5-769D6C02782D}" type="parTrans">
      <dgm:prSet/>
      <dgm:spPr/>
      <dgm:t>
        <a:bodyPr/>
        <a:p>
          <a:endParaRPr lang="en-US"/>
        </a:p>
      </dgm:t>
    </dgm:pt>
    <dgm:pt modelId="{D41B602E-59A6-4435-B19C-2DC73C82E88A}" cxnId="{4A2FC702-737B-4068-92E5-769D6C02782D}" type="sibTrans">
      <dgm:prSet/>
      <dgm:spPr/>
      <dgm:t>
        <a:bodyPr/>
        <a:p>
          <a:endParaRPr lang="en-US"/>
        </a:p>
      </dgm:t>
    </dgm:pt>
    <dgm:pt modelId="{64228750-F262-4EF9-A89B-E10A464715F5}" type="pres">
      <dgm:prSet presAssocID="{CF5BFC72-2E51-43ED-884F-5AEA515E496A}" presName="diagram" presStyleCnt="0">
        <dgm:presLayoutVars>
          <dgm:dir/>
        </dgm:presLayoutVars>
      </dgm:prSet>
      <dgm:spPr/>
    </dgm:pt>
    <dgm:pt modelId="{03D646E0-6568-409D-99BD-1EBEF82AC6BE}" type="pres">
      <dgm:prSet presAssocID="{E0A5C3A9-B645-48A0-A483-AD60AE1E47C7}" presName="composite" presStyleCnt="0"/>
      <dgm:spPr/>
    </dgm:pt>
    <dgm:pt modelId="{4FCF15C0-64EB-43F7-99F2-8072C23E807E}" type="pres">
      <dgm:prSet presAssocID="{E0A5C3A9-B645-48A0-A483-AD60AE1E47C7}" presName="Image" presStyleLbl="bgShp" presStyleIdx="0" presStyleCnt="2"/>
      <dgm:spPr>
        <a:blipFill>
          <a:blip xmlns:r="http://schemas.openxmlformats.org/officeDocument/2006/relationships" r:embed="rId1"/>
          <a:stretch>
            <a:fillRect/>
          </a:stretch>
        </a:blipFill>
      </dgm:spPr>
    </dgm:pt>
    <dgm:pt modelId="{3F4B1727-E103-4A8C-94D8-94E0973582CD}" type="pres">
      <dgm:prSet presAssocID="{E0A5C3A9-B645-48A0-A483-AD60AE1E47C7}" presName="Parent" presStyleLbl="node0" presStyleIdx="0" presStyleCnt="2">
        <dgm:presLayoutVars>
          <dgm:bulletEnabled val="1"/>
        </dgm:presLayoutVars>
      </dgm:prSet>
      <dgm:spPr/>
    </dgm:pt>
    <dgm:pt modelId="{83F2B406-0C97-4263-B3AA-E2C08A685D66}" type="pres">
      <dgm:prSet presAssocID="{17D1CE92-3E2C-4609-A18D-3DD15B2E602B}" presName="sibTrans" presStyleCnt="0"/>
      <dgm:spPr/>
    </dgm:pt>
    <dgm:pt modelId="{EF9C1BBA-5BA2-406C-B0C2-1DF982C3DC31}" type="pres">
      <dgm:prSet presAssocID="{5FFC7B6C-88F2-478C-B104-BB6C80D91ABE}" presName="composite" presStyleCnt="0"/>
      <dgm:spPr/>
    </dgm:pt>
    <dgm:pt modelId="{E10BC0C1-BAD4-4FB2-A965-183C04AC4AC4}" type="pres">
      <dgm:prSet presAssocID="{5FFC7B6C-88F2-478C-B104-BB6C80D91ABE}" presName="Image" presStyleLbl="bgShp" presStyleIdx="1" presStyleCnt="2"/>
      <dgm:spPr>
        <a:blipFill>
          <a:blip xmlns:r="http://schemas.openxmlformats.org/officeDocument/2006/relationships" r:embed="rId2"/>
          <a:stretch>
            <a:fillRect/>
          </a:stretch>
        </a:blipFill>
      </dgm:spPr>
    </dgm:pt>
    <dgm:pt modelId="{F536D5BB-CA3A-4345-9F13-F5B4A8B9D61B}" type="pres">
      <dgm:prSet presAssocID="{5FFC7B6C-88F2-478C-B104-BB6C80D91ABE}" presName="Parent" presStyleLbl="node0" presStyleIdx="1" presStyleCnt="2">
        <dgm:presLayoutVars>
          <dgm:bulletEnabled val="1"/>
        </dgm:presLayoutVars>
      </dgm:prSet>
      <dgm:spPr/>
    </dgm:pt>
  </dgm:ptLst>
  <dgm:cxnLst>
    <dgm:cxn modelId="{DB0C11DD-7DD6-4C79-9901-993E8B4BD2C5}" srcId="{CF5BFC72-2E51-43ED-884F-5AEA515E496A}" destId="{E0A5C3A9-B645-48A0-A483-AD60AE1E47C7}" srcOrd="0" destOrd="0" parTransId="{BCCDA7E8-8D42-4577-A392-58A62B4E1698}" sibTransId="{17D1CE92-3E2C-4609-A18D-3DD15B2E602B}"/>
    <dgm:cxn modelId="{4A2FC702-737B-4068-92E5-769D6C02782D}" srcId="{CF5BFC72-2E51-43ED-884F-5AEA515E496A}" destId="{5FFC7B6C-88F2-478C-B104-BB6C80D91ABE}" srcOrd="1" destOrd="0" parTransId="{74007B51-AC89-49CD-968F-32CBB9315A34}" sibTransId="{D41B602E-59A6-4435-B19C-2DC73C82E88A}"/>
    <dgm:cxn modelId="{502CAD5D-8915-4E55-9705-58BAFD3E758E}" type="presOf" srcId="{CF5BFC72-2E51-43ED-884F-5AEA515E496A}" destId="{64228750-F262-4EF9-A89B-E10A464715F5}" srcOrd="0" destOrd="0" presId="urn:microsoft.com/office/officeart/2008/layout/BendingPictureCaption"/>
    <dgm:cxn modelId="{A44ACA86-F1A9-4BB2-AF91-D9F27B0650F3}" type="presParOf" srcId="{64228750-F262-4EF9-A89B-E10A464715F5}" destId="{03D646E0-6568-409D-99BD-1EBEF82AC6BE}" srcOrd="0" destOrd="0" presId="urn:microsoft.com/office/officeart/2008/layout/BendingPictureCaption"/>
    <dgm:cxn modelId="{D5B05A6F-8A5E-4918-B378-B79CBC689668}" type="presParOf" srcId="{03D646E0-6568-409D-99BD-1EBEF82AC6BE}" destId="{4FCF15C0-64EB-43F7-99F2-8072C23E807E}" srcOrd="0" destOrd="0" presId="urn:microsoft.com/office/officeart/2008/layout/BendingPictureCaption"/>
    <dgm:cxn modelId="{0EA765DB-4F8F-4C1E-95E1-6D634AE3BE18}" type="presParOf" srcId="{03D646E0-6568-409D-99BD-1EBEF82AC6BE}" destId="{3F4B1727-E103-4A8C-94D8-94E0973582CD}" srcOrd="1" destOrd="0" presId="urn:microsoft.com/office/officeart/2008/layout/BendingPictureCaption"/>
    <dgm:cxn modelId="{32FD782D-781E-40BB-B115-D76A11E6D986}" type="presOf" srcId="{E0A5C3A9-B645-48A0-A483-AD60AE1E47C7}" destId="{3F4B1727-E103-4A8C-94D8-94E0973582CD}" srcOrd="0" destOrd="0" presId="urn:microsoft.com/office/officeart/2008/layout/BendingPictureCaption"/>
    <dgm:cxn modelId="{71729D89-6140-4837-A66D-62F2335891B4}" type="presParOf" srcId="{64228750-F262-4EF9-A89B-E10A464715F5}" destId="{83F2B406-0C97-4263-B3AA-E2C08A685D66}" srcOrd="1" destOrd="0" presId="urn:microsoft.com/office/officeart/2008/layout/BendingPictureCaption"/>
    <dgm:cxn modelId="{1ACEA1E7-AB55-4CC4-84D8-0370AC3D9777}" type="presParOf" srcId="{64228750-F262-4EF9-A89B-E10A464715F5}" destId="{EF9C1BBA-5BA2-406C-B0C2-1DF982C3DC31}" srcOrd="2" destOrd="0" presId="urn:microsoft.com/office/officeart/2008/layout/BendingPictureCaption"/>
    <dgm:cxn modelId="{C9A42E29-CED8-4770-9957-4ED1A6FE11C3}" type="presParOf" srcId="{EF9C1BBA-5BA2-406C-B0C2-1DF982C3DC31}" destId="{E10BC0C1-BAD4-4FB2-A965-183C04AC4AC4}" srcOrd="0" destOrd="2" presId="urn:microsoft.com/office/officeart/2008/layout/BendingPictureCaption"/>
    <dgm:cxn modelId="{A1513743-7D6E-43C5-B20F-22F1BA829F72}" type="presParOf" srcId="{EF9C1BBA-5BA2-406C-B0C2-1DF982C3DC31}" destId="{F536D5BB-CA3A-4345-9F13-F5B4A8B9D61B}" srcOrd="1" destOrd="2" presId="urn:microsoft.com/office/officeart/2008/layout/BendingPictureCaption"/>
    <dgm:cxn modelId="{B6875288-35D6-46A6-B8CD-EF11020E88D8}" type="presOf" srcId="{5FFC7B6C-88F2-478C-B104-BB6C80D91ABE}" destId="{F536D5BB-CA3A-4345-9F13-F5B4A8B9D61B}" srcOrd="0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C3FF9A-D14D-4FEF-AB1B-9A37301A6284}" type="doc">
      <dgm:prSet loTypeId="urn:microsoft.com/office/officeart/2005/8/layout/arrow2" loCatId="process" qsTypeId="urn:microsoft.com/office/officeart/2005/8/quickstyle/simple5" qsCatId="simple" csTypeId="urn:microsoft.com/office/officeart/2005/8/colors/accent1_2" csCatId="accent1" phldr="0"/>
      <dgm:spPr/>
    </dgm:pt>
    <dgm:pt modelId="{559C2B3A-379F-4C35-A339-5499CB042C33}" type="pres">
      <dgm:prSet presAssocID="{00C3FF9A-D14D-4FEF-AB1B-9A37301A6284}" presName="arrowDiagram" presStyleCnt="0">
        <dgm:presLayoutVars>
          <dgm:chMax val="5"/>
          <dgm:dir/>
          <dgm:resizeHandles val="exact"/>
        </dgm:presLayoutVars>
      </dgm:prSet>
      <dgm:spPr/>
    </dgm:pt>
  </dgm:ptLst>
  <dgm:cxnLst>
    <dgm:cxn modelId="{B89EB772-3C6A-457A-8FBA-858B814EF3B0}" type="presOf" srcId="{00C3FF9A-D14D-4FEF-AB1B-9A37301A6284}" destId="{559C2B3A-379F-4C35-A339-5499CB042C33}" srcOrd="0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7221835" cy="8440420"/>
        <a:chOff x="0" y="0"/>
        <a:chExt cx="17221835" cy="8440420"/>
      </a:xfrm>
    </dsp:grpSpPr>
    <dsp:sp modelId="{4FCF15C0-64EB-43F7-99F2-8072C23E807E}">
      <dsp:nvSpPr>
        <dsp:cNvPr id="3" name="Rectangles 2"/>
        <dsp:cNvSpPr/>
      </dsp:nvSpPr>
      <dsp:spPr bwMode="white">
        <a:xfrm>
          <a:off x="9909" y="1172510"/>
          <a:ext cx="7505877" cy="5546815"/>
        </a:xfrm>
        <a:prstGeom prst="rect">
          <a:avLst/>
        </a:prstGeom>
        <a:blipFill>
          <a:blip r:embed="rId1"/>
          <a:stretch>
            <a:fillRect/>
          </a:stretch>
        </a:blipFill>
      </dsp:spPr>
      <dsp:style>
        <a:lnRef idx="0">
          <a:schemeClr val="accent6"/>
        </a:lnRef>
        <a:fillRef idx="1">
          <a:schemeClr val="accent6">
            <a:tint val="40000"/>
          </a:schemeClr>
        </a:fillRef>
        <a:effectRef idx="0">
          <a:scrgbClr r="0" g="0" b="0"/>
        </a:effectRef>
        <a:fontRef idx="minor"/>
      </dsp:style>
      <dsp:txXfrm>
        <a:off x="9909" y="1172510"/>
        <a:ext cx="7505877" cy="5546815"/>
      </dsp:txXfrm>
    </dsp:sp>
    <dsp:sp modelId="{3F4B1727-E103-4A8C-94D8-94E0973582CD}">
      <dsp:nvSpPr>
        <dsp:cNvPr id="4" name="Rectangles 3"/>
        <dsp:cNvSpPr/>
      </dsp:nvSpPr>
      <dsp:spPr bwMode="white">
        <a:xfrm>
          <a:off x="1527054" y="5713583"/>
          <a:ext cx="6467830" cy="1554327"/>
        </a:xfrm>
        <a:prstGeom prst="rect">
          <a:avLst/>
        </a:prstGeom>
      </dsp:spPr>
      <dsp:style>
        <a:lnRef idx="3">
          <a:schemeClr val="accent6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23825" tIns="123825" rIns="123825" bIns="12382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5000"/>
            </a:spcAft>
          </a:pPr>
          <a:r>
            <a:rPr lang="en-US">
              <a:solidFill>
                <a:schemeClr val="dk1"/>
              </a:solidFill>
            </a:rPr>
            <a:t>cPanel</a:t>
          </a:r>
          <a:endParaRPr lang="en-US">
            <a:solidFill>
              <a:schemeClr val="dk1"/>
            </a:solidFill>
          </a:endParaRPr>
        </a:p>
      </dsp:txBody>
      <dsp:txXfrm>
        <a:off x="1527054" y="5713583"/>
        <a:ext cx="6467830" cy="1554327"/>
      </dsp:txXfrm>
    </dsp:sp>
    <dsp:sp modelId="{E10BC0C1-BAD4-4FB2-A965-183C04AC4AC4}">
      <dsp:nvSpPr>
        <dsp:cNvPr id="5" name="Rectangles 4"/>
        <dsp:cNvSpPr/>
      </dsp:nvSpPr>
      <dsp:spPr bwMode="white">
        <a:xfrm>
          <a:off x="9238590" y="1172510"/>
          <a:ext cx="7505877" cy="5546815"/>
        </a:xfrm>
        <a:prstGeom prst="rect">
          <a:avLst/>
        </a:prstGeom>
        <a:blipFill>
          <a:blip r:embed="rId2"/>
          <a:stretch>
            <a:fillRect/>
          </a:stretch>
        </a:blipFill>
      </dsp:spPr>
      <dsp:style>
        <a:lnRef idx="0">
          <a:schemeClr val="accent6"/>
        </a:lnRef>
        <a:fillRef idx="1">
          <a:schemeClr val="accent6">
            <a:tint val="40000"/>
          </a:schemeClr>
        </a:fillRef>
        <a:effectRef idx="0">
          <a:scrgbClr r="0" g="0" b="0"/>
        </a:effectRef>
        <a:fontRef idx="minor"/>
      </dsp:style>
      <dsp:txXfrm>
        <a:off x="9238590" y="1172510"/>
        <a:ext cx="7505877" cy="5546815"/>
      </dsp:txXfrm>
    </dsp:sp>
    <dsp:sp modelId="{F536D5BB-CA3A-4345-9F13-F5B4A8B9D61B}">
      <dsp:nvSpPr>
        <dsp:cNvPr id="6" name="Rectangles 5"/>
        <dsp:cNvSpPr/>
      </dsp:nvSpPr>
      <dsp:spPr bwMode="white">
        <a:xfrm>
          <a:off x="10755735" y="5713583"/>
          <a:ext cx="6467830" cy="1554327"/>
        </a:xfrm>
        <a:prstGeom prst="rect">
          <a:avLst/>
        </a:prstGeom>
      </dsp:spPr>
      <dsp:style>
        <a:lnRef idx="3">
          <a:schemeClr val="accent6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23825" tIns="123825" rIns="123825" bIns="123825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5000"/>
            </a:spcAft>
          </a:pPr>
          <a:r>
            <a:rPr lang="en-US">
              <a:solidFill>
                <a:schemeClr val="dk1"/>
              </a:solidFill>
            </a:rPr>
            <a:t>DirectAdmin</a:t>
          </a:r>
          <a:endParaRPr lang="en-US">
            <a:solidFill>
              <a:schemeClr val="dk1"/>
            </a:solidFill>
          </a:endParaRPr>
        </a:p>
      </dsp:txBody>
      <dsp:txXfrm>
        <a:off x="10755735" y="5713583"/>
        <a:ext cx="6467830" cy="15543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lnSpAfParP" val="5"/>
            <dgm:param type="shpTxRTLAlignCh" val="r"/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parTxLTRAlign" val="r"/>
                    <dgm:param type="parTxRTLAlign" val="r"/>
                    <dgm:param type="txAnchorVert" val="t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2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3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45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49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5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6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7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7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88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92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01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05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1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1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2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3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44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48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57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61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70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74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83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187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" val="t"/>
                          </dgm:alg>
                        </dgm:if>
                        <dgm:else name="Name196">
                          <dgm:alg type="tx">
                            <dgm:param type="parTxLTRAlign" val="l"/>
                            <dgm:param type="parTxRTLAlign" val="l"/>
                            <dgm:param type="txAnchorVert" val="t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parTxLTRAlign" val="l"/>
                            <dgm:param type="parTxRTLAlign" val="r"/>
                            <dgm:param type="txAnchorVertCh" val="b"/>
                            <dgm:param type="txAnchorVert" val="b"/>
                          </dgm:alg>
                        </dgm:if>
                        <dgm:else name="Name200">
                          <dgm:alg type="tx">
                            <dgm:param type="parTxLTRAlign" val="r"/>
                            <dgm:param type="parTxRTLAlign" val="r"/>
                            <dgm:param type="txAnchorVert" val="b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here (second hour)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image" Target="../media/image3.svg"/><Relationship Id="rId7" Type="http://schemas.openxmlformats.org/officeDocument/2006/relationships/image" Target="../media/image3.png"/><Relationship Id="rId6" Type="http://schemas.openxmlformats.org/officeDocument/2006/relationships/image" Target="../media/image13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sv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sv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1" Type="http://schemas.openxmlformats.org/officeDocument/2006/relationships/slideLayout" Target="../slideLayouts/slideLayout7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sv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jpeg"/><Relationship Id="rId8" Type="http://schemas.openxmlformats.org/officeDocument/2006/relationships/image" Target="../media/image3.svg"/><Relationship Id="rId7" Type="http://schemas.openxmlformats.org/officeDocument/2006/relationships/image" Target="../media/image3.png"/><Relationship Id="rId6" Type="http://schemas.openxmlformats.org/officeDocument/2006/relationships/image" Target="../media/image13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4.svg"/><Relationship Id="rId7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25.png"/><Relationship Id="rId4" Type="http://schemas.openxmlformats.org/officeDocument/2006/relationships/image" Target="../media/image19.svg"/><Relationship Id="rId3" Type="http://schemas.openxmlformats.org/officeDocument/2006/relationships/image" Target="../media/image24.png"/><Relationship Id="rId2" Type="http://schemas.openxmlformats.org/officeDocument/2006/relationships/image" Target="../media/image1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.svg"/><Relationship Id="rId11" Type="http://schemas.openxmlformats.org/officeDocument/2006/relationships/image" Target="../media/image11.png"/><Relationship Id="rId10" Type="http://schemas.openxmlformats.org/officeDocument/2006/relationships/image" Target="../media/image18.sv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sv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svg"/><Relationship Id="rId3" Type="http://schemas.openxmlformats.org/officeDocument/2006/relationships/image" Target="../media/image18.png"/><Relationship Id="rId2" Type="http://schemas.openxmlformats.org/officeDocument/2006/relationships/image" Target="../media/image14.sv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9.jpeg"/><Relationship Id="rId7" Type="http://schemas.openxmlformats.org/officeDocument/2006/relationships/image" Target="../media/image28.jpeg"/><Relationship Id="rId6" Type="http://schemas.openxmlformats.org/officeDocument/2006/relationships/image" Target="../media/image27.jpeg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0" Type="http://schemas.openxmlformats.org/officeDocument/2006/relationships/notesSlide" Target="../notesSlides/notesSlide3.xml"/><Relationship Id="rId1" Type="http://schemas.openxmlformats.org/officeDocument/2006/relationships/diagramData" Target="../diagrams/data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4.svg"/><Relationship Id="rId7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25.png"/><Relationship Id="rId4" Type="http://schemas.openxmlformats.org/officeDocument/2006/relationships/image" Target="../media/image19.svg"/><Relationship Id="rId3" Type="http://schemas.openxmlformats.org/officeDocument/2006/relationships/image" Target="../media/image24.png"/><Relationship Id="rId2" Type="http://schemas.openxmlformats.org/officeDocument/2006/relationships/image" Target="../media/image12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.svg"/><Relationship Id="rId11" Type="http://schemas.openxmlformats.org/officeDocument/2006/relationships/image" Target="../media/image11.png"/><Relationship Id="rId10" Type="http://schemas.openxmlformats.org/officeDocument/2006/relationships/image" Target="../media/image18.svg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jpeg"/><Relationship Id="rId8" Type="http://schemas.openxmlformats.org/officeDocument/2006/relationships/image" Target="../media/image32.jpeg"/><Relationship Id="rId7" Type="http://schemas.openxmlformats.org/officeDocument/2006/relationships/image" Target="../media/image31.jpeg"/><Relationship Id="rId6" Type="http://schemas.openxmlformats.org/officeDocument/2006/relationships/image" Target="../media/image30.jpeg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0" Type="http://schemas.openxmlformats.org/officeDocument/2006/relationships/slideLayout" Target="../slideLayouts/slideLayout7.xml"/><Relationship Id="rId1" Type="http://schemas.openxmlformats.org/officeDocument/2006/relationships/diagramData" Target="../diagrams/data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sv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sv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305680" y="2868295"/>
            <a:ext cx="9542265" cy="3037863"/>
            <a:chOff x="-515007" y="271560"/>
            <a:chExt cx="11797412" cy="4050386"/>
          </a:xfrm>
        </p:grpSpPr>
        <p:sp>
          <p:nvSpPr>
            <p:cNvPr id="3" name="TextBox 3"/>
            <p:cNvSpPr txBox="1"/>
            <p:nvPr/>
          </p:nvSpPr>
          <p:spPr>
            <a:xfrm>
              <a:off x="-327227" y="1387410"/>
              <a:ext cx="11609632" cy="13673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48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Module 1: WEBSITE CREATION</a:t>
              </a:r>
              <a:r>
                <a:rPr lang="en-US" sz="72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endParaRPr lang="en-US" sz="72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515007" y="271560"/>
              <a:ext cx="10956112" cy="574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 Complete Guide To</a:t>
              </a:r>
              <a:endParaRPr lang="en-US" sz="2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785" y="3508319"/>
              <a:ext cx="10956112" cy="813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60"/>
                </a:lnSpc>
              </a:pPr>
              <a:endParaRPr lang="en-US" sz="3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09632" y="4991195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38273" y="7124421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1899" y="1817370"/>
            <a:ext cx="9179026" cy="7161057"/>
            <a:chOff x="-481142" y="617251"/>
            <a:chExt cx="13024306" cy="4861401"/>
          </a:xfrm>
        </p:grpSpPr>
        <p:sp>
          <p:nvSpPr>
            <p:cNvPr id="4" name="TextBox 4"/>
            <p:cNvSpPr txBox="1"/>
            <p:nvPr/>
          </p:nvSpPr>
          <p:spPr>
            <a:xfrm>
              <a:off x="-481142" y="617251"/>
              <a:ext cx="13024306" cy="58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Agenda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72876" y="1944226"/>
              <a:ext cx="12478551" cy="3534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the Website Importance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Website Basics 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Website Creation Tools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Installing WordPress on Localhost using FlyWheel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 WordPress on Localhost using XAMPP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Applying Security on Your Website Through Wordfence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Installling Other Plugins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Creating your Own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8382000" y="2933700"/>
            <a:ext cx="7955280" cy="1132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4060"/>
              </a:lnSpc>
              <a:defRPr/>
            </a:pPr>
            <a:r>
              <a:rPr lang="en-US"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KEY TOPICS DISCUSSED IN THIS PRESENTATION</a:t>
            </a: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algn="l">
              <a:lnSpc>
                <a:spcPts val="4060"/>
              </a:lnSpc>
              <a:defRPr/>
            </a:pP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grpSp>
        <p:nvGrpSpPr>
          <p:cNvPr id="7" name="Group 2"/>
          <p:cNvGrpSpPr/>
          <p:nvPr/>
        </p:nvGrpSpPr>
        <p:grpSpPr>
          <a:xfrm rot="0">
            <a:off x="1309758" y="1817226"/>
            <a:ext cx="6060519" cy="6652549"/>
            <a:chOff x="0" y="0"/>
            <a:chExt cx="8080692" cy="8870065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4"/>
            <p:cNvSpPr/>
            <p:nvPr/>
          </p:nvSpPr>
          <p:spPr>
            <a:xfrm>
              <a:off x="1428290" y="1054304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5"/>
            <p:cNvSpPr/>
            <p:nvPr/>
          </p:nvSpPr>
          <p:spPr>
            <a:xfrm>
              <a:off x="2914631" y="2039937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1" y="0"/>
                  </a:lnTo>
                  <a:lnTo>
                    <a:pt x="5166061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4071620"/>
            <a:ext cx="2623820" cy="635"/>
          </a:xfrm>
          <a:prstGeom prst="line">
            <a:avLst/>
          </a:prstGeom>
          <a:ln w="2857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 rot="0">
            <a:off x="305003" y="3605335"/>
            <a:ext cx="900712" cy="884024"/>
            <a:chOff x="0" y="0"/>
            <a:chExt cx="825825" cy="8105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5825" cy="810524"/>
            </a:xfrm>
            <a:custGeom>
              <a:avLst/>
              <a:gdLst/>
              <a:ahLst/>
              <a:cxnLst/>
              <a:rect l="l" t="t" r="r" b="b"/>
              <a:pathLst>
                <a:path w="825825" h="810524">
                  <a:moveTo>
                    <a:pt x="0" y="0"/>
                  </a:moveTo>
                  <a:lnTo>
                    <a:pt x="825825" y="0"/>
                  </a:lnTo>
                  <a:lnTo>
                    <a:pt x="825825" y="810524"/>
                  </a:lnTo>
                  <a:lnTo>
                    <a:pt x="0" y="810524"/>
                  </a:lnTo>
                  <a:close/>
                </a:path>
              </a:pathLst>
            </a:custGeom>
            <a:solidFill>
              <a:srgbClr val="94DDD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825825" cy="886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6160"/>
                </a:lnSpc>
                <a:spcBef>
                  <a:spcPct val="0"/>
                </a:spcBef>
              </a:pPr>
              <a:r>
                <a:rPr lang="en-US" sz="4400" b="1" u="none" spc="752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1</a:t>
              </a:r>
              <a:endParaRPr lang="en-US" sz="4400" b="1" u="none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3581431" y="3562229"/>
            <a:ext cx="1172492" cy="989995"/>
            <a:chOff x="-249184" y="-97160"/>
            <a:chExt cx="1075009" cy="9076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5825" cy="810524"/>
            </a:xfrm>
            <a:custGeom>
              <a:avLst/>
              <a:gdLst/>
              <a:ahLst/>
              <a:cxnLst/>
              <a:rect l="l" t="t" r="r" b="b"/>
              <a:pathLst>
                <a:path w="825825" h="810524">
                  <a:moveTo>
                    <a:pt x="0" y="0"/>
                  </a:moveTo>
                  <a:lnTo>
                    <a:pt x="825825" y="0"/>
                  </a:lnTo>
                  <a:lnTo>
                    <a:pt x="825825" y="810524"/>
                  </a:lnTo>
                  <a:lnTo>
                    <a:pt x="0" y="810524"/>
                  </a:lnTo>
                  <a:close/>
                </a:path>
              </a:pathLst>
            </a:custGeom>
            <a:solidFill>
              <a:srgbClr val="94DDD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-249184" y="-97160"/>
              <a:ext cx="797621" cy="886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6160"/>
                </a:lnSpc>
                <a:spcBef>
                  <a:spcPct val="0"/>
                </a:spcBef>
              </a:pPr>
              <a:r>
                <a:rPr lang="en-US" sz="4400" b="1" spc="752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2</a:t>
              </a:r>
              <a:endParaRPr lang="en-US" sz="4400" b="1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76325" y="1114425"/>
            <a:ext cx="16135350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Pricing Formula</a:t>
            </a:r>
            <a:endParaRPr lang="en-US" sz="64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2743322" y="4610335"/>
            <a:ext cx="2401669" cy="2950581"/>
            <a:chOff x="0" y="-57150"/>
            <a:chExt cx="3202226" cy="3934108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3202226" cy="616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</a:pPr>
              <a:r>
                <a:rPr lang="en-US" sz="2800" b="1" u="none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u="none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866125"/>
              <a:ext cx="3202226" cy="2010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400"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Suppose marketing cost is 300 pkr</a:t>
              </a:r>
              <a:endPara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ctr">
                <a:lnSpc>
                  <a:spcPts val="2940"/>
                </a:lnSpc>
              </a:pPr>
              <a:endParaRPr lang="en-US" sz="21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25271"/>
              <a:ext cx="3202226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Marketing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76200" y="4686535"/>
            <a:ext cx="2459408" cy="2516395"/>
            <a:chOff x="0" y="-57150"/>
            <a:chExt cx="3279211" cy="335519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57150"/>
              <a:ext cx="327921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 b="1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790130"/>
              <a:ext cx="3279211" cy="1507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4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For example your product </a:t>
              </a:r>
              <a:r>
                <a:rPr lang="en-US" sz="24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cost is 400 pkr</a:t>
              </a:r>
              <a:endPara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19681"/>
              <a:ext cx="3279211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Product Cost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6096291" y="4686054"/>
            <a:ext cx="2459408" cy="2171436"/>
            <a:chOff x="0" y="-57150"/>
            <a:chExt cx="3279211" cy="289524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57150"/>
              <a:ext cx="3279211" cy="616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</a:pPr>
              <a:r>
                <a:rPr lang="en-US" sz="2800" b="1" u="none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u="none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833105"/>
              <a:ext cx="3279211" cy="10049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4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Packaging cost is around 50 pkr</a:t>
              </a:r>
              <a:endPara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805044"/>
              <a:ext cx="3279211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Packaging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9220196" y="4578739"/>
            <a:ext cx="2680634" cy="1167346"/>
            <a:chOff x="0" y="-57150"/>
            <a:chExt cx="3574179" cy="1556461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57150"/>
              <a:ext cx="3574179" cy="616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</a:pPr>
              <a:r>
                <a:rPr lang="en-US" sz="2800" b="1" u="none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u="none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925271"/>
              <a:ext cx="3574179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Shipping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2540358" y="4579220"/>
            <a:ext cx="2825576" cy="1167346"/>
            <a:chOff x="0" y="-57150"/>
            <a:chExt cx="3767435" cy="1556461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57150"/>
              <a:ext cx="3767435" cy="616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20"/>
                </a:lnSpc>
              </a:pPr>
              <a:r>
                <a:rPr lang="en-US" sz="2800" b="1" u="none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u="none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25271"/>
              <a:ext cx="3767435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Overheads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7224395" y="3713480"/>
            <a:ext cx="622935" cy="788670"/>
            <a:chOff x="-823237" y="0"/>
            <a:chExt cx="1649062" cy="9159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5825" cy="810524"/>
            </a:xfrm>
            <a:custGeom>
              <a:avLst/>
              <a:gdLst/>
              <a:ahLst/>
              <a:cxnLst/>
              <a:rect l="l" t="t" r="r" b="b"/>
              <a:pathLst>
                <a:path w="825825" h="810524">
                  <a:moveTo>
                    <a:pt x="0" y="0"/>
                  </a:moveTo>
                  <a:lnTo>
                    <a:pt x="825825" y="0"/>
                  </a:lnTo>
                  <a:lnTo>
                    <a:pt x="825825" y="810524"/>
                  </a:lnTo>
                  <a:lnTo>
                    <a:pt x="0" y="810524"/>
                  </a:lnTo>
                  <a:close/>
                </a:path>
              </a:pathLst>
            </a:custGeom>
            <a:solidFill>
              <a:srgbClr val="94DDDE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-823237" y="29179"/>
              <a:ext cx="825825" cy="886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6160"/>
                </a:lnSpc>
                <a:spcBef>
                  <a:spcPct val="0"/>
                </a:spcBef>
              </a:pPr>
              <a:r>
                <a:rPr lang="en-US" sz="4400" b="1" spc="752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3</a:t>
              </a:r>
              <a:endParaRPr lang="en-US" sz="4400" b="1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324465" y="3416300"/>
            <a:ext cx="1046480" cy="1101725"/>
            <a:chOff x="-739982" y="0"/>
            <a:chExt cx="1565807" cy="10102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25825" cy="810524"/>
            </a:xfrm>
            <a:custGeom>
              <a:avLst/>
              <a:gdLst/>
              <a:ahLst/>
              <a:cxnLst/>
              <a:rect l="l" t="t" r="r" b="b"/>
              <a:pathLst>
                <a:path w="825825" h="810524">
                  <a:moveTo>
                    <a:pt x="0" y="0"/>
                  </a:moveTo>
                  <a:lnTo>
                    <a:pt x="825825" y="0"/>
                  </a:lnTo>
                  <a:lnTo>
                    <a:pt x="825825" y="810524"/>
                  </a:lnTo>
                  <a:lnTo>
                    <a:pt x="0" y="810524"/>
                  </a:lnTo>
                  <a:close/>
                </a:path>
              </a:pathLst>
            </a:custGeom>
            <a:solidFill>
              <a:srgbClr val="94DDDE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-739982" y="269586"/>
              <a:ext cx="825659" cy="740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6160"/>
                </a:lnSpc>
                <a:spcBef>
                  <a:spcPct val="0"/>
                </a:spcBef>
              </a:pPr>
              <a:r>
                <a:rPr lang="en-US" sz="4400" b="1" spc="752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4</a:t>
              </a:r>
              <a:endParaRPr lang="en-US" sz="4400" b="1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13358644" y="3598425"/>
            <a:ext cx="1944018" cy="967134"/>
            <a:chOff x="-956563" y="-55241"/>
            <a:chExt cx="1782388" cy="8867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5825" cy="810524"/>
            </a:xfrm>
            <a:custGeom>
              <a:avLst/>
              <a:gdLst/>
              <a:ahLst/>
              <a:cxnLst/>
              <a:rect l="l" t="t" r="r" b="b"/>
              <a:pathLst>
                <a:path w="825825" h="810524">
                  <a:moveTo>
                    <a:pt x="0" y="0"/>
                  </a:moveTo>
                  <a:lnTo>
                    <a:pt x="825825" y="0"/>
                  </a:lnTo>
                  <a:lnTo>
                    <a:pt x="825825" y="810524"/>
                  </a:lnTo>
                  <a:lnTo>
                    <a:pt x="0" y="810524"/>
                  </a:lnTo>
                  <a:close/>
                </a:path>
              </a:pathLst>
            </a:custGeom>
            <a:solidFill>
              <a:srgbClr val="94DDDE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-956563" y="-55241"/>
              <a:ext cx="825825" cy="8867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6160"/>
                </a:lnSpc>
                <a:spcBef>
                  <a:spcPct val="0"/>
                </a:spcBef>
              </a:pPr>
              <a:r>
                <a:rPr lang="en-US" sz="4400" b="1" spc="752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5</a:t>
              </a:r>
              <a:endParaRPr lang="en-US" sz="4400" b="1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</p:grpSp>
      <p:sp>
        <p:nvSpPr>
          <p:cNvPr id="42" name="AutoShape 2"/>
          <p:cNvSpPr/>
          <p:nvPr/>
        </p:nvSpPr>
        <p:spPr>
          <a:xfrm>
            <a:off x="4267200" y="4107180"/>
            <a:ext cx="2623820" cy="635"/>
          </a:xfrm>
          <a:prstGeom prst="line">
            <a:avLst/>
          </a:prstGeom>
          <a:ln w="2857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2"/>
          <p:cNvSpPr/>
          <p:nvPr/>
        </p:nvSpPr>
        <p:spPr>
          <a:xfrm>
            <a:off x="7543800" y="4138295"/>
            <a:ext cx="2623820" cy="635"/>
          </a:xfrm>
          <a:prstGeom prst="line">
            <a:avLst/>
          </a:prstGeom>
          <a:ln w="2857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5"/>
          <p:cNvSpPr/>
          <p:nvPr/>
        </p:nvSpPr>
        <p:spPr>
          <a:xfrm>
            <a:off x="14249622" y="4153709"/>
            <a:ext cx="2426898" cy="28575"/>
          </a:xfrm>
          <a:prstGeom prst="line">
            <a:avLst/>
          </a:prstGeom>
          <a:ln w="2857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2"/>
          <p:cNvSpPr/>
          <p:nvPr/>
        </p:nvSpPr>
        <p:spPr>
          <a:xfrm>
            <a:off x="10818495" y="4152900"/>
            <a:ext cx="2623820" cy="635"/>
          </a:xfrm>
          <a:prstGeom prst="line">
            <a:avLst/>
          </a:prstGeom>
          <a:ln w="28575" cap="flat">
            <a:solidFill>
              <a:srgbClr val="31356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TextBox 41"/>
          <p:cNvSpPr txBox="1"/>
          <p:nvPr/>
        </p:nvSpPr>
        <p:spPr>
          <a:xfrm>
            <a:off x="16916549" y="3585090"/>
            <a:ext cx="900712" cy="967134"/>
          </a:xfrm>
          <a:prstGeom prst="rect">
            <a:avLst/>
          </a:prstGeom>
        </p:spPr>
        <p:txBody>
          <a:bodyPr lIns="0" tIns="0" rIns="0" bIns="0" rtlCol="0" anchor="ctr"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spc="752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6</a:t>
            </a:r>
            <a:endParaRPr lang="en-US" sz="4400" b="1" spc="752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47" name="TextBox 23"/>
          <p:cNvSpPr txBox="1"/>
          <p:nvPr/>
        </p:nvSpPr>
        <p:spPr>
          <a:xfrm>
            <a:off x="9462426" y="6096125"/>
            <a:ext cx="2459408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</a:pP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Packaging cost is around 250 pkr</a:t>
            </a: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sp>
        <p:nvSpPr>
          <p:cNvPr id="48" name="TextBox 23"/>
          <p:cNvSpPr txBox="1"/>
          <p:nvPr/>
        </p:nvSpPr>
        <p:spPr>
          <a:xfrm>
            <a:off x="12723786" y="6108825"/>
            <a:ext cx="2459408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</a:pP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Packaging cost is around 50 pkr</a:t>
            </a: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grpSp>
        <p:nvGrpSpPr>
          <p:cNvPr id="49" name="Group 29"/>
          <p:cNvGrpSpPr/>
          <p:nvPr/>
        </p:nvGrpSpPr>
        <p:grpSpPr>
          <a:xfrm rot="0">
            <a:off x="15696943" y="4565885"/>
            <a:ext cx="2825576" cy="1167346"/>
            <a:chOff x="0" y="-57150"/>
            <a:chExt cx="3767435" cy="1556461"/>
          </a:xfrm>
        </p:grpSpPr>
        <p:sp>
          <p:nvSpPr>
            <p:cNvPr id="50" name="TextBox 30"/>
            <p:cNvSpPr txBox="1"/>
            <p:nvPr/>
          </p:nvSpPr>
          <p:spPr>
            <a:xfrm>
              <a:off x="0" y="-57150"/>
              <a:ext cx="3767435" cy="616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0" lvl="0" indent="0" algn="ctr">
                <a:lnSpc>
                  <a:spcPts val="3920"/>
                </a:lnSpc>
              </a:pPr>
              <a:r>
                <a:rPr lang="en-US" sz="2800" b="1" u="none" spc="279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STEP</a:t>
              </a:r>
              <a:endParaRPr lang="en-US" sz="2800" b="1" u="none" spc="279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1" name="TextBox 32"/>
            <p:cNvSpPr txBox="1"/>
            <p:nvPr/>
          </p:nvSpPr>
          <p:spPr>
            <a:xfrm>
              <a:off x="0" y="925271"/>
              <a:ext cx="3767435" cy="5740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2B4B82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Profit</a:t>
              </a:r>
              <a:endParaRPr lang="en-US" sz="2400" b="1">
                <a:solidFill>
                  <a:srgbClr val="2B4B82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</p:grpSp>
      <p:sp>
        <p:nvSpPr>
          <p:cNvPr id="52" name="TextBox 23"/>
          <p:cNvSpPr txBox="1"/>
          <p:nvPr/>
        </p:nvSpPr>
        <p:spPr>
          <a:xfrm>
            <a:off x="15773691" y="6161530"/>
            <a:ext cx="2459408" cy="37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ctr">
              <a:lnSpc>
                <a:spcPts val="2940"/>
              </a:lnSpc>
            </a:pP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     Profit?</a:t>
            </a:r>
            <a:endParaRPr 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sp>
        <p:nvSpPr>
          <p:cNvPr id="53" name="Text Box 52"/>
          <p:cNvSpPr txBox="1"/>
          <p:nvPr/>
        </p:nvSpPr>
        <p:spPr>
          <a:xfrm>
            <a:off x="616585" y="7706360"/>
            <a:ext cx="17054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FF0000"/>
                </a:solidFill>
              </a:rPr>
              <a:t>Product Cost + Marketing + Packaging + Shipping + Overheads + Profit = Selling Price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752475" y="8369935"/>
            <a:ext cx="163163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"/>
            </a:pPr>
            <a:r>
              <a:rPr lang="en-US" sz="2400"/>
              <a:t>If the profit is 50 then the entire selling cost is 1050/-</a:t>
            </a:r>
            <a:endParaRPr lang="en-US" sz="2400"/>
          </a:p>
          <a:p>
            <a:pPr marL="342900" indent="-342900">
              <a:buFont typeface="Wingdings" panose="05000000000000000000" charset="0"/>
              <a:buChar char=""/>
            </a:pPr>
            <a:r>
              <a:rPr lang="en-US" sz="2400"/>
              <a:t>A good business is where one can sell 100+ orders in a day </a:t>
            </a:r>
            <a:endParaRPr lang="en-US" sz="2400"/>
          </a:p>
          <a:p>
            <a:pPr marL="342900" indent="-342900">
              <a:buFont typeface="Wingdings" panose="05000000000000000000" charset="0"/>
              <a:buChar char=""/>
            </a:pPr>
            <a:r>
              <a:rPr lang="en-US" sz="2400"/>
              <a:t>Now the question here is who will buy 400 rupee thing in 2000? </a:t>
            </a:r>
            <a:r>
              <a:rPr lang="en-US" sz="2400">
                <a:solidFill>
                  <a:srgbClr val="FF0000"/>
                </a:solidFill>
              </a:rPr>
              <a:t>Yes, we all are doing that. 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1066800" y="1562100"/>
          <a:ext cx="9700260" cy="7740650"/>
        </p:xfrm>
        <a:graphic>
          <a:graphicData uri="http://schemas.openxmlformats.org/drawingml/2006/table">
            <a:tbl>
              <a:tblPr/>
              <a:tblGrid>
                <a:gridCol w="9700260"/>
              </a:tblGrid>
              <a:tr h="2485390">
                <a:tc>
                  <a:txBody>
                    <a:bodyPr rtlCol="0"/>
                    <a:p>
                      <a:pPr algn="ctr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Brand vs Generic Domain Names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5260">
                <a:tc>
                  <a:txBody>
                    <a:bodyPr rtlCol="0"/>
                    <a:p>
                      <a:pPr marL="457200" lvl="2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Use branded domain names rather than generic ones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lvl="2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For Example:</a:t>
                      </a: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lvl="3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Generic: “ladiesbag.com”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lvl="3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Branded: “TIFMO, TEMFA, Darri Mooch”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lvl="2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Branding helps in marketing and recognition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10439260" y="2095373"/>
            <a:ext cx="6338112" cy="6384545"/>
          </a:xfrm>
          <a:custGeom>
            <a:avLst/>
            <a:gdLst/>
            <a:ahLst/>
            <a:cxnLst/>
            <a:rect l="l" t="t" r="r" b="b"/>
            <a:pathLst>
              <a:path w="6338112" h="6384545">
                <a:moveTo>
                  <a:pt x="0" y="0"/>
                </a:moveTo>
                <a:lnTo>
                  <a:pt x="6338111" y="0"/>
                </a:lnTo>
                <a:lnTo>
                  <a:pt x="6338111" y="6384544"/>
                </a:lnTo>
                <a:lnTo>
                  <a:pt x="0" y="638454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666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9" y="0"/>
                </a:lnTo>
                <a:lnTo>
                  <a:pt x="4597439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207503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9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9" y="1276208"/>
                </a:lnTo>
                <a:lnTo>
                  <a:pt x="20766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94348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6" y="0"/>
                </a:lnTo>
                <a:lnTo>
                  <a:pt x="3837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49912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55955" y="2324100"/>
          <a:ext cx="6717665" cy="7026275"/>
        </p:xfrm>
        <a:graphic>
          <a:graphicData uri="http://schemas.openxmlformats.org/drawingml/2006/table">
            <a:tbl>
              <a:tblPr/>
              <a:tblGrid>
                <a:gridCol w="6717665"/>
              </a:tblGrid>
              <a:tr h="1123950">
                <a:tc>
                  <a:txBody>
                    <a:bodyPr rtlCol="0"/>
                    <a:lstStyle/>
                    <a:p>
                      <a:pPr algn="l">
                        <a:lnSpc>
                          <a:spcPts val="672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31356E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Content Management System (CMS)</a:t>
                      </a:r>
                      <a:endParaRPr lang="en-US" sz="2800"/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835">
                <a:tc>
                  <a:txBody>
                    <a:bodyPr rtlCol="0"/>
                    <a:lstStyle/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CMS allows you to build websites without coding everything manually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Examples: Shopify, WordPress, WooCommerce (WordPress plugin for e-commerce)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Shopify: E-commerce only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WordPress: Versatile for any website type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Picture 7" descr="E6903A1B-9C20-446D-BD5A-2A7969A871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0" y="2710815"/>
            <a:ext cx="10354945" cy="6136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F06F275-1391-4B5C-9142-5FEFDE0955E8_1_1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95300"/>
            <a:ext cx="12103100" cy="5395595"/>
          </a:xfrm>
          <a:prstGeom prst="rect">
            <a:avLst/>
          </a:prstGeom>
        </p:spPr>
      </p:pic>
      <p:pic>
        <p:nvPicPr>
          <p:cNvPr id="6" name="Picture 5" descr="F1A6BAE2-D272-4C6B-97CE-67072D11688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730" y="3522345"/>
            <a:ext cx="6850380" cy="67646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304800" y="7124700"/>
            <a:ext cx="10108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indent="-457200">
              <a:buFont typeface="Wingdings" panose="05000000000000000000" charset="0"/>
              <a:buChar char=""/>
            </a:pPr>
            <a:r>
              <a:rPr lang="en-US" sz="3200" b="1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CMS popularity: Check sites like W3Techs for stats</a:t>
            </a:r>
            <a:endParaRPr lang="en-US" sz="3200" b="1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Bent Arrow 12"/>
          <p:cNvSpPr/>
          <p:nvPr/>
        </p:nvSpPr>
        <p:spPr>
          <a:xfrm>
            <a:off x="609600" y="4229100"/>
            <a:ext cx="1905000" cy="2797175"/>
          </a:xfrm>
          <a:prstGeom prst="ben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38200" y="1257300"/>
            <a:ext cx="14601825" cy="3628390"/>
            <a:chOff x="0" y="85725"/>
            <a:chExt cx="16940081" cy="4837274"/>
          </a:xfrm>
        </p:grpSpPr>
        <p:sp>
          <p:nvSpPr>
            <p:cNvPr id="3" name="TextBox 3"/>
            <p:cNvSpPr txBox="1"/>
            <p:nvPr/>
          </p:nvSpPr>
          <p:spPr>
            <a:xfrm>
              <a:off x="0" y="85725"/>
              <a:ext cx="16940081" cy="11487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Myth About Shopify vs WordPress Sales</a:t>
              </a:r>
              <a:endParaRPr lang="en-US" sz="5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12718"/>
              <a:ext cx="9489245" cy="693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</a:t>
              </a:r>
              <a:r>
                <a:rPr lang="en-US" sz="32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hopify or WordPress don’t guarantee sale</a:t>
              </a:r>
              <a:r>
                <a:rPr lang="en-US" sz="29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</a:t>
              </a:r>
              <a:endParaRPr lang="en-US" sz="29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25421"/>
              <a:ext cx="9456094" cy="22975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Sales depend on marketing: social media, SEO, email marketing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Learning WordPress first gives good foundation for Shopify later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2"/>
          <p:cNvSpPr/>
          <p:nvPr/>
        </p:nvSpPr>
        <p:spPr>
          <a:xfrm>
            <a:off x="13563702" y="1942958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>
            <a:off x="13030013" y="4762642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/>
          <p:nvPr/>
        </p:nvSpPr>
        <p:spPr>
          <a:xfrm>
            <a:off x="5867400" y="2171700"/>
            <a:ext cx="9569450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6720"/>
              </a:lnSpc>
            </a:pPr>
            <a:r>
              <a:rPr lang="en-US" sz="6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Scenario 1</a:t>
            </a:r>
            <a:endParaRPr lang="en-US" sz="64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715000" y="3338195"/>
            <a:ext cx="11793855" cy="3609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ts val="3920"/>
              </a:lnSpc>
              <a:defRPr/>
            </a:pPr>
            <a:r>
              <a:rPr lang="en-US" sz="28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Client: I want to launch an e-commerce brand. Which platform should I use?</a:t>
            </a:r>
            <a:endParaRPr lang="en-US" sz="28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3920"/>
              </a:lnSpc>
              <a:defRPr/>
            </a:pPr>
            <a:r>
              <a:rPr lang="en-US" sz="28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Developer: Shopify is best for e-commerce; it’s user-friendly and popular.</a:t>
            </a:r>
            <a:endParaRPr lang="en-US" sz="28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3920"/>
              </a:lnSpc>
              <a:defRPr/>
            </a:pPr>
            <a:r>
              <a:rPr lang="en-US" sz="28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Client: How much does Shopify cost?</a:t>
            </a:r>
            <a:endParaRPr lang="en-US" sz="2800" b="1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3920"/>
              </a:lnSpc>
              <a:defRPr/>
            </a:pPr>
            <a:r>
              <a:rPr lang="en-US" sz="28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Developer: Plans start at $25/month (subject to change). Check shopify.com/pricing for the latest info.</a:t>
            </a:r>
            <a:endParaRPr lang="en-US" sz="2800"/>
          </a:p>
        </p:txBody>
      </p:sp>
      <p:sp>
        <p:nvSpPr>
          <p:cNvPr id="2" name="Freeform 2"/>
          <p:cNvSpPr/>
          <p:nvPr/>
        </p:nvSpPr>
        <p:spPr>
          <a:xfrm>
            <a:off x="-761365" y="-1257300"/>
            <a:ext cx="6005830" cy="5728335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85800" y="3010055"/>
          <a:ext cx="16240125" cy="4721225"/>
        </p:xfrm>
        <a:graphic>
          <a:graphicData uri="http://schemas.openxmlformats.org/drawingml/2006/table">
            <a:tbl>
              <a:tblPr/>
              <a:tblGrid>
                <a:gridCol w="3133725"/>
                <a:gridCol w="3677285"/>
                <a:gridCol w="3121660"/>
                <a:gridCol w="3154045"/>
                <a:gridCol w="3153409"/>
              </a:tblGrid>
              <a:tr h="916852"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E"/>
                          </a:solidFill>
                          <a:latin typeface="Clear Sans Medium"/>
                          <a:ea typeface="Clear Sans Medium"/>
                          <a:cs typeface="Clear Sans Medium"/>
                          <a:sym typeface="Clear Sans Medium"/>
                        </a:rPr>
                        <a:t>Company</a:t>
                      </a:r>
                      <a:endParaRPr lang="en-US" sz="1100"/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E"/>
                          </a:solidFill>
                          <a:latin typeface="Clear Sans Medium"/>
                          <a:ea typeface="Clear Sans Medium"/>
                          <a:cs typeface="Clear Sans Medium"/>
                          <a:sym typeface="Clear Sans Medium"/>
                        </a:rPr>
                        <a:t>Price USD (1st Year)</a:t>
                      </a:r>
                      <a:endParaRPr lang="en-US" sz="1100"/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E"/>
                          </a:solidFill>
                          <a:latin typeface="Clear Sans Medium"/>
                          <a:ea typeface="Clear Sans Medium"/>
                          <a:cs typeface="Clear Sans Medium"/>
                          <a:sym typeface="Clear Sans Medium"/>
                        </a:rPr>
                        <a:t>Price PKR (1st Year)</a:t>
                      </a:r>
                      <a:endParaRPr lang="en-US" sz="2000" b="1">
                        <a:solidFill>
                          <a:srgbClr val="FEFEFE"/>
                        </a:solidFill>
                        <a:latin typeface="Clear Sans Medium"/>
                        <a:ea typeface="Clear Sans Medium"/>
                        <a:cs typeface="Clear Sans Medium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E"/>
                          </a:solidFill>
                          <a:latin typeface="Clear Sans Medium"/>
                          <a:ea typeface="Clear Sans Medium"/>
                          <a:cs typeface="Clear Sans Medium"/>
                          <a:sym typeface="Clear Sans Medium"/>
                        </a:rPr>
                        <a:t>Price USD ( 2nd Year)</a:t>
                      </a:r>
                      <a:endParaRPr lang="en-US" sz="2000" b="1">
                        <a:solidFill>
                          <a:srgbClr val="FEFEFE"/>
                        </a:solidFill>
                        <a:latin typeface="Clear Sans Medium"/>
                        <a:ea typeface="Clear Sans Medium"/>
                        <a:cs typeface="Clear Sans Medium"/>
                      </a:endParaRPr>
                    </a:p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2000" b="1">
                        <a:solidFill>
                          <a:srgbClr val="FEFEFE"/>
                        </a:solidFill>
                        <a:latin typeface="Clear Sans Medium"/>
                        <a:ea typeface="Clear Sans Medium"/>
                        <a:cs typeface="Clear Sans Medium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800"/>
                        </a:lnSpc>
                        <a:buNone/>
                        <a:defRPr/>
                      </a:pPr>
                      <a:r>
                        <a:rPr lang="en-US" sz="2000" b="1">
                          <a:solidFill>
                            <a:srgbClr val="FEFEFE"/>
                          </a:solidFill>
                          <a:latin typeface="Clear Sans Medium"/>
                          <a:ea typeface="Clear Sans Medium"/>
                          <a:cs typeface="Clear Sans Medium"/>
                          <a:sym typeface="Clear Sans Medium"/>
                        </a:rPr>
                        <a:t>Price PKR (2nd Year)</a:t>
                      </a:r>
                      <a:endParaRPr lang="en-US" sz="2000" b="1">
                        <a:solidFill>
                          <a:srgbClr val="FEFEFE"/>
                        </a:solidFill>
                        <a:latin typeface="Clear Sans Medium"/>
                        <a:ea typeface="Clear Sans Medium"/>
                        <a:cs typeface="Clear Sans Medium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B82"/>
                    </a:solidFill>
                  </a:tcPr>
                </a:tc>
              </a:tr>
              <a:tr h="916940"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Bluehost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buClrTx/>
                        <a:buSzTx/>
                        <a:buFontTx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35.4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13,500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163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61,600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16852"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HostGator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45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17,100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92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35,000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buNone/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16852"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Namecheap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+mn-ea"/>
                        </a:rPr>
                        <a:t>28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10,600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62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240"/>
                        </a:lnSpc>
                        <a:buNone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23,500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16852"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TheBeeHost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buClrTx/>
                        <a:buSzTx/>
                        <a:buFontTx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45.2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12,656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  <a:p>
                      <a:pPr algn="ctr">
                        <a:lnSpc>
                          <a:spcPts val="2240"/>
                        </a:lnSpc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ctr">
                        <a:lnSpc>
                          <a:spcPts val="2240"/>
                        </a:lnSpc>
                        <a:buClrTx/>
                        <a:buSzTx/>
                        <a:buFontTx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45.2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240"/>
                        </a:lnSpc>
                        <a:buClrTx/>
                        <a:buSzTx/>
                        <a:buFontTx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</a:rPr>
                        <a:t>12,656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</a:endParaRPr>
                    </a:p>
                  </a:txBody>
                  <a:tcPr marL="171450" marR="171450" marT="171450" marB="171450" anchor="t">
                    <a:lnL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13868537" y="-342790"/>
            <a:ext cx="4743003" cy="4251455"/>
          </a:xfrm>
          <a:custGeom>
            <a:avLst/>
            <a:gdLst/>
            <a:ahLst/>
            <a:cxnLst/>
            <a:rect l="l" t="t" r="r" b="b"/>
            <a:pathLst>
              <a:path w="4743003" h="4251455">
                <a:moveTo>
                  <a:pt x="0" y="0"/>
                </a:moveTo>
                <a:lnTo>
                  <a:pt x="4743003" y="0"/>
                </a:lnTo>
                <a:lnTo>
                  <a:pt x="4743003" y="4251455"/>
                </a:lnTo>
                <a:lnTo>
                  <a:pt x="0" y="42514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6005" y="1469390"/>
            <a:ext cx="13622655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</a:pPr>
            <a:r>
              <a:rPr lang="en-US" sz="5400" b="1" u="none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Domain &amp; Hosting Pricing Comparison</a:t>
            </a:r>
            <a:endParaRPr lang="en-US" sz="5400" b="1" u="none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5800" y="8191500"/>
            <a:ext cx="15051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Recommendation</a:t>
            </a:r>
            <a:r>
              <a:rPr lang="en-US" sz="2800" b="1"/>
              <a:t>: Buy domain and hosting from the same company for convenience</a:t>
            </a:r>
            <a:endParaRPr lang="en-US" sz="2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400800" y="1790715"/>
            <a:ext cx="11295380" cy="6793539"/>
            <a:chOff x="0" y="252416"/>
            <a:chExt cx="12216316" cy="5625698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After Buying Domain &amp; Hosting — What Happens?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5558"/>
              <a:ext cx="12216316" cy="47425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 receive several important emails after purchase: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Order Activated / Order Received confirmation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Invoice Paid notification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Domain Registered confirmation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Important: Buying a domain gives you ownership confirmation, not login credentials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Think of a domain like a plot of land — you get proof of ownership, not a key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Hosting purchase is different — you do get login details (username &amp; password) to manage your website.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"/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566420" y="-2440940"/>
            <a:ext cx="5266690" cy="7035800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38200" y="1257300"/>
            <a:ext cx="15629255" cy="8335645"/>
            <a:chOff x="0" y="85725"/>
            <a:chExt cx="18132038" cy="11112863"/>
          </a:xfrm>
        </p:grpSpPr>
        <p:sp>
          <p:nvSpPr>
            <p:cNvPr id="3" name="TextBox 3"/>
            <p:cNvSpPr txBox="1"/>
            <p:nvPr/>
          </p:nvSpPr>
          <p:spPr>
            <a:xfrm>
              <a:off x="0" y="85725"/>
              <a:ext cx="18132038" cy="11487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Understanding Your Hosting Account Details</a:t>
              </a:r>
              <a:endParaRPr lang="en-US" sz="5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12718"/>
              <a:ext cx="9489245" cy="693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36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buying hosting, you receive:</a:t>
              </a:r>
              <a:endParaRPr lang="en-US" sz="36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28597"/>
              <a:ext cx="14144360" cy="83699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Hosting account username and password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Web Control Panel URL to manage your hosting (e.g., cPanel or DirectAdmin)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DNS information for domain pointing and email setup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0" algn="just">
                <a:lnSpc>
                  <a:spcPts val="3360"/>
                </a:lnSpc>
                <a:buFont typeface="Wingdings" panose="05000000000000000000" charset="0"/>
                <a:buNone/>
              </a:pP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lvl="0" indent="-571500" algn="just">
                <a:lnSpc>
                  <a:spcPts val="3360"/>
                </a:lnSpc>
                <a:buFont typeface="Wingdings" panose="05000000000000000000" charset="0"/>
                <a:buChar char=""/>
              </a:pPr>
              <a:r>
                <a:rPr lang="en-US" sz="36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The Web Control Panel is your main dashboard to:</a:t>
              </a:r>
              <a:endParaRPr lang="en-US" sz="36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5000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Upload/manage website files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Create domain email accounts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Install software like WordPress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Manage security and backups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l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32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Control panel URLs can be numerical IP addresses or domain-based (e.g.,192.168.1.1:2082  OR learnwithnimra.com:2082)</a:t>
              </a:r>
              <a:endParaRPr lang="en-US" sz="32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2"/>
          <p:cNvSpPr/>
          <p:nvPr/>
        </p:nvSpPr>
        <p:spPr>
          <a:xfrm>
            <a:off x="13563702" y="1942958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3"/>
          <p:cNvSpPr/>
          <p:nvPr/>
        </p:nvSpPr>
        <p:spPr>
          <a:xfrm>
            <a:off x="13030013" y="4762642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3" name="Diagram 2"/>
          <p:cNvGraphicFramePr/>
          <p:nvPr/>
        </p:nvGraphicFramePr>
        <p:xfrm>
          <a:off x="811530" y="436245"/>
          <a:ext cx="17221835" cy="8440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01600" y="-2171700"/>
            <a:ext cx="6029960" cy="629031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3400" y="1562100"/>
            <a:ext cx="11741150" cy="86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6000" b="1">
                <a:solidFill>
                  <a:schemeClr val="accent6">
                    <a:lumMod val="50000"/>
                  </a:schemeClr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Takeaways &amp; Security Tips</a:t>
            </a:r>
            <a:endParaRPr lang="en-US" sz="6000" b="1">
              <a:solidFill>
                <a:schemeClr val="accent6">
                  <a:lumMod val="50000"/>
                </a:schemeClr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38210" y="3924439"/>
          <a:ext cx="16313140" cy="5210329"/>
        </p:xfrm>
        <a:graphic>
          <a:graphicData uri="http://schemas.openxmlformats.org/drawingml/2006/table">
            <a:tbl>
              <a:tblPr/>
              <a:tblGrid>
                <a:gridCol w="5437505"/>
                <a:gridCol w="5438140"/>
                <a:gridCol w="5437494"/>
              </a:tblGrid>
              <a:tr h="3368040">
                <a:tc>
                  <a:txBody>
                    <a:bodyPr rtlCol="0"/>
                    <a:lstStyle/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r>
                        <a:rPr lang="en-US" sz="24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Domains do not provide direct login credentials — only proof of ownership</a:t>
                      </a: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r>
                        <a:rPr lang="en-US" sz="24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Hosting gives you the actual access to manage your website through a control panel</a:t>
                      </a: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r>
                        <a:rPr lang="en-US" sz="24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Keep your hosting username, password, and control panel URL safe and confidential</a:t>
                      </a: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2289">
                <a:tc>
                  <a:txBody>
                    <a:bodyPr rtlCol="0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endParaRPr lang="en-US" sz="2400">
                        <a:solidFill>
                          <a:schemeClr val="tx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342900" indent="-342900" algn="ctr">
                        <a:lnSpc>
                          <a:spcPts val="3360"/>
                        </a:lnSpc>
                        <a:buFont typeface="Wingdings" panose="05000000000000000000" charset="0"/>
                        <a:buChar char=""/>
                        <a:defRPr/>
                      </a:pPr>
                      <a:r>
                        <a:rPr lang="en-US" sz="24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Use the control panel regularly to maintain your website, emails, and security settings</a:t>
                      </a: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algn="l">
                        <a:lnSpc>
                          <a:spcPts val="3360"/>
                        </a:lnSpc>
                        <a:defRPr/>
                      </a:pP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3360"/>
                        </a:lnSpc>
                        <a:defRPr/>
                      </a:pP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  </a:t>
                      </a:r>
                      <a:endParaRPr lang="en-US" sz="2400">
                        <a:solidFill>
                          <a:schemeClr val="tx2"/>
                        </a:solidFill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marL="342900" indent="-342900" algn="ctr">
                        <a:lnSpc>
                          <a:spcPts val="3920"/>
                        </a:lnSpc>
                        <a:buFont typeface="Wingdings" panose="05000000000000000000" charset="0"/>
                        <a:buChar char=""/>
                        <a:defRPr/>
                      </a:pPr>
                      <a:r>
                        <a:rPr lang="en-US" sz="24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Save all emails from your hosting provider — they contain critical info for managing your site</a:t>
                      </a:r>
                      <a:endParaRPr lang="en-US" sz="24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F7B4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666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9" y="0"/>
                </a:lnTo>
                <a:lnTo>
                  <a:pt x="4597439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207503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9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9" y="1276208"/>
                </a:lnTo>
                <a:lnTo>
                  <a:pt x="20766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94348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6" y="0"/>
                </a:lnTo>
                <a:lnTo>
                  <a:pt x="3837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49912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55955" y="2019300"/>
          <a:ext cx="6717665" cy="7187565"/>
        </p:xfrm>
        <a:graphic>
          <a:graphicData uri="http://schemas.openxmlformats.org/drawingml/2006/table">
            <a:tbl>
              <a:tblPr/>
              <a:tblGrid>
                <a:gridCol w="6717665"/>
              </a:tblGrid>
              <a:tr h="1263015">
                <a:tc>
                  <a:txBody>
                    <a:bodyPr rtlCol="0"/>
                    <a:lstStyle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3200" b="1">
                          <a:solidFill>
                            <a:srgbClr val="2B4B8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Logging into cPanel &amp; Main Dashboard</a:t>
                      </a:r>
                      <a:endParaRPr lang="en-US" sz="3200"/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4550">
                <a:tc>
                  <a:txBody>
                    <a:bodyPr rtlCol="0"/>
                    <a:lstStyle/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Login: </a:t>
                      </a: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Enter the credentials emailed by your hosting provider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1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Dashboard Overview:</a:t>
                      </a:r>
                      <a:endParaRPr lang="en-US" sz="2800" b="1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File Manager: Upload/download files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Disk Usage: View space consumption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Backups: Manage site backups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Support: Access help tickets or knowledge base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Images: Browse and optimize media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Addon Domains: Attach additional domains, and many other options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8" descr="1D1F3164-7E1F-41A2-A854-735A87CEC6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3009900"/>
            <a:ext cx="10617200" cy="6041390"/>
          </a:xfrm>
          <a:prstGeom prst="rect">
            <a:avLst/>
          </a:prstGeom>
        </p:spPr>
      </p:pic>
      <p:sp>
        <p:nvSpPr>
          <p:cNvPr id="14" name="Chevron 13"/>
          <p:cNvSpPr/>
          <p:nvPr/>
        </p:nvSpPr>
        <p:spPr>
          <a:xfrm>
            <a:off x="6002020" y="4457700"/>
            <a:ext cx="1371600" cy="381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5" name="Table 6"/>
          <p:cNvGraphicFramePr>
            <a:graphicFrameLocks noGrp="1"/>
          </p:cNvGraphicFramePr>
          <p:nvPr/>
        </p:nvGraphicFramePr>
        <p:xfrm>
          <a:off x="762000" y="1181100"/>
          <a:ext cx="6717665" cy="7187565"/>
        </p:xfrm>
        <a:graphic>
          <a:graphicData uri="http://schemas.openxmlformats.org/drawingml/2006/table">
            <a:tbl>
              <a:tblPr/>
              <a:tblGrid>
                <a:gridCol w="6717665"/>
              </a:tblGrid>
              <a:tr h="1263015">
                <a:tc>
                  <a:txBody>
                    <a:bodyPr rtlCol="0"/>
                    <a:p>
                      <a:pPr algn="just">
                        <a:lnSpc>
                          <a:spcPct val="100000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2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Logging into DirectAdmin &amp; Main Dashboard</a:t>
                      </a:r>
                      <a:endParaRPr lang="en-US" sz="2800" b="1">
                        <a:solidFill>
                          <a:schemeClr val="tx2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4550">
                <a:tc>
                  <a:txBody>
                    <a:bodyPr rtlCol="0"/>
                    <a:p>
                      <a:pPr marL="716280" lvl="1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1">
                          <a:solidFill>
                            <a:schemeClr val="accent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Login: Use the same credentials from your provider</a:t>
                      </a:r>
                      <a:endParaRPr lang="en-US" sz="2800" b="1">
                        <a:solidFill>
                          <a:schemeClr val="accent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1">
                          <a:solidFill>
                            <a:schemeClr val="accent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Dashboard Overview:</a:t>
                      </a:r>
                      <a:endParaRPr lang="en-US" sz="2800" b="1">
                        <a:solidFill>
                          <a:schemeClr val="accent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chemeClr val="accent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Very similar feature set (File Manager, Backups, Domain Manager, etc.)</a:t>
                      </a:r>
                      <a:endParaRPr lang="en-US" sz="2800">
                        <a:solidFill>
                          <a:schemeClr val="accent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1">
                          <a:solidFill>
                            <a:schemeClr val="accent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Key Difference: Only the look &amp; layout change—functionality is identical to cPanel</a:t>
                      </a:r>
                      <a:endParaRPr lang="en-US" sz="2800" b="1">
                        <a:solidFill>
                          <a:schemeClr val="accent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endParaRPr lang="en-US" sz="2800">
                        <a:solidFill>
                          <a:schemeClr val="accent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Chevron 13"/>
          <p:cNvSpPr/>
          <p:nvPr/>
        </p:nvSpPr>
        <p:spPr>
          <a:xfrm>
            <a:off x="6324600" y="3467100"/>
            <a:ext cx="1371600" cy="381000"/>
          </a:xfrm>
          <a:prstGeom prst="chevr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8" name="Picture 7" descr="79AD5FAA-2F51-427D-B209-4E922F4150C5_1_105_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409700"/>
            <a:ext cx="10253345" cy="65614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05667" y="1866594"/>
            <a:ext cx="9319119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Now tell me !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 fontAlgn="t">
              <a:lnSpc>
                <a:spcPts val="6720"/>
              </a:lnSpc>
            </a:pP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just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You have your </a:t>
            </a:r>
            <a:r>
              <a:rPr lang="en-US" sz="6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phone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in one hand and a </a:t>
            </a:r>
            <a:r>
              <a:rPr lang="en-US" sz="6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charger 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 the other. You plug the charger directly into the phone—does it charge?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066800" y="952500"/>
            <a:ext cx="13622655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</a:pPr>
            <a:r>
              <a:rPr lang="en-US" sz="5400" b="1" u="none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DNS Analogy – Why It Doesn’t Charge</a:t>
            </a:r>
            <a:endParaRPr lang="en-US" sz="5400" b="1" u="none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14400" y="8191500"/>
            <a:ext cx="15051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 b="1">
                <a:solidFill>
                  <a:srgbClr val="FF0000"/>
                </a:solidFill>
              </a:rPr>
              <a:t>Takeaway:</a:t>
            </a:r>
            <a:r>
              <a:rPr lang="en-US" sz="2800" b="1"/>
              <a:t> DNS acts as the “socket,” linking your domain to your hosting</a:t>
            </a:r>
            <a:endParaRPr lang="en-US" sz="2800" b="1"/>
          </a:p>
        </p:txBody>
      </p:sp>
      <p:sp>
        <p:nvSpPr>
          <p:cNvPr id="4" name="Freeform 2"/>
          <p:cNvSpPr/>
          <p:nvPr/>
        </p:nvSpPr>
        <p:spPr>
          <a:xfrm>
            <a:off x="12572747" y="2171700"/>
            <a:ext cx="5131837" cy="4114800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 Box 4"/>
          <p:cNvSpPr txBox="1"/>
          <p:nvPr/>
        </p:nvSpPr>
        <p:spPr>
          <a:xfrm>
            <a:off x="1066800" y="2247900"/>
            <a:ext cx="1135951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Answer: No - it needs a power socket in between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So just like: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ctr"/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ctr"/>
            <a:r>
              <a:rPr 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Clear Sans Bold"/>
                <a:ea typeface="Clear Sans Bold"/>
                <a:cs typeface="Clear Sans Bold"/>
              </a:rPr>
              <a:t>Socket — charger — mobile  = charging</a:t>
            </a:r>
            <a:endParaRPr lang="en-US" sz="3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Clear Sans Bold"/>
              <a:ea typeface="Clear Sans Bold"/>
              <a:cs typeface="Clear Sans Bold"/>
            </a:endParaRPr>
          </a:p>
          <a:p>
            <a:pPr algn="l">
              <a:buClrTx/>
              <a:buSzTx/>
              <a:buFontTx/>
            </a:pPr>
            <a:endParaRPr lang="en-US" sz="32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l">
              <a:buClrTx/>
              <a:buSzTx/>
              <a:buFontTx/>
            </a:pPr>
            <a:r>
              <a:rPr lang="en-US" sz="3200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Same is the case with website:</a:t>
            </a:r>
            <a:endParaRPr lang="en-US" sz="3200">
              <a:solidFill>
                <a:srgbClr val="2B4B82"/>
              </a:solidFill>
              <a:latin typeface="Clear Sans Bold"/>
              <a:ea typeface="Clear Sans Bold"/>
              <a:cs typeface="Clear Sans Bold"/>
            </a:endParaRPr>
          </a:p>
          <a:p>
            <a:pPr algn="ctr">
              <a:buClrTx/>
              <a:buSzTx/>
              <a:buFontTx/>
            </a:pPr>
            <a:endParaRPr lang="en-US" sz="3200" b="1"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Clear Sans Bold"/>
              <a:ea typeface="Clear Sans Bold"/>
              <a:cs typeface="Clear Sans Bold"/>
            </a:endParaRPr>
          </a:p>
          <a:p>
            <a:pPr algn="ctr">
              <a:buClrTx/>
              <a:buSzTx/>
              <a:buFontTx/>
            </a:pPr>
            <a:r>
              <a:rPr 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Clear Sans Bold"/>
                <a:ea typeface="Clear Sans Bold"/>
                <a:cs typeface="Clear Sans Bold"/>
              </a:rPr>
              <a:t>Domain — DNS — Hosting  = live website</a:t>
            </a:r>
            <a:endParaRPr lang="en-US" sz="3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Clear Sans Bold"/>
              <a:ea typeface="Clear Sans Bold"/>
              <a:cs typeface="Clear Sans Bold"/>
            </a:endParaRPr>
          </a:p>
          <a:p>
            <a:pPr algn="l"/>
            <a:endParaRPr lang="en-US" sz="3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Clear Sans Bold"/>
              <a:ea typeface="Clear Sans Bold"/>
              <a:cs typeface="Clear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400800" y="1790715"/>
            <a:ext cx="11295380" cy="4710739"/>
            <a:chOff x="0" y="252416"/>
            <a:chExt cx="12216316" cy="3900941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What DNS Looks Like?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35558"/>
              <a:ext cx="12216316" cy="3017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Every DNS record comes in pairs (minimum two; can have 3–6+)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Examples: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ns1.thebeehost.com &amp; ns2.thebeehost.com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dns1.namecheaphosting.com &amp; dns2.namecheaphosting.com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ns1.hostgator.com &amp; ns2.hostgator.com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Note: You only need to enter the ones your provider gave you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-457200" algn="l">
                <a:lnSpc>
                  <a:spcPts val="4060"/>
                </a:lnSpc>
                <a:buClrTx/>
                <a:buSzTx/>
                <a:buFont typeface="Wingdings" panose="05000000000000000000" charset="0"/>
                <a:buChar char=""/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566420" y="-2440940"/>
            <a:ext cx="5266690" cy="7035800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90600" y="1257300"/>
            <a:ext cx="12582525" cy="7151772"/>
            <a:chOff x="0" y="85725"/>
            <a:chExt cx="18132038" cy="8666840"/>
          </a:xfrm>
        </p:grpSpPr>
        <p:sp>
          <p:nvSpPr>
            <p:cNvPr id="3" name="TextBox 3"/>
            <p:cNvSpPr txBox="1"/>
            <p:nvPr/>
          </p:nvSpPr>
          <p:spPr>
            <a:xfrm>
              <a:off x="0" y="85725"/>
              <a:ext cx="18132038" cy="10442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Practical DNS Setup Steps</a:t>
              </a:r>
              <a:endParaRPr lang="en-US" sz="5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5206" y="1507955"/>
              <a:ext cx="11107743" cy="6302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Gather your DNS from hosting provider: e.g.</a:t>
              </a:r>
              <a:endParaRPr lang="en-US" sz="28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486350"/>
              <a:ext cx="13086850" cy="62662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ns1.thebeehost.com  </a:t>
              </a: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just">
                <a:lnSpc>
                  <a:spcPts val="336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ns2.thebeehost.com</a:t>
              </a: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lvl="1" indent="0" algn="just">
                <a:lnSpc>
                  <a:spcPts val="3360"/>
                </a:lnSpc>
                <a:buFont typeface="Wingdings" panose="05000000000000000000" charset="0"/>
                <a:buNone/>
              </a:pP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lvl="0" indent="-571500" algn="just">
                <a:lnSpc>
                  <a:spcPts val="33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Log in to your domain registrar:</a:t>
              </a:r>
              <a:endParaRPr lang="en-US" sz="28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Use the same client-area credentials you set up before buying hosting</a:t>
              </a: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ClrTx/>
                <a:buSzTx/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Here you will see a Domain option, go to Domains and then </a:t>
              </a:r>
              <a:r>
                <a:rPr lang="en-US" sz="28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Active Domains</a:t>
              </a:r>
              <a:endPara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Now the next step is to select your domain and then pick the option </a:t>
              </a:r>
              <a:r>
                <a:rPr lang="en-US" sz="28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Nameservers</a:t>
              </a:r>
              <a:endPara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Now enter only the provided</a:t>
              </a:r>
              <a:r>
                <a:rPr lang="en-US" sz="28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DNS </a:t>
              </a: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and click on</a:t>
              </a:r>
              <a:r>
                <a:rPr lang="en-US" sz="28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Save</a:t>
              </a:r>
              <a:endPara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9" name="Freeform 2"/>
          <p:cNvSpPr/>
          <p:nvPr/>
        </p:nvSpPr>
        <p:spPr>
          <a:xfrm>
            <a:off x="13563702" y="1942958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/>
          <p:cNvSpPr/>
          <p:nvPr/>
        </p:nvSpPr>
        <p:spPr>
          <a:xfrm>
            <a:off x="13030013" y="4762642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6" name="Picture 5" descr="11F17D3F-0F3B-41BA-9BCA-A05104DD326A"/>
          <p:cNvPicPr>
            <a:picLocks noChangeAspect="1"/>
          </p:cNvPicPr>
          <p:nvPr/>
        </p:nvPicPr>
        <p:blipFill>
          <a:blip r:embed="rId6"/>
          <a:srcRect l="25476" t="7522"/>
          <a:stretch>
            <a:fillRect/>
          </a:stretch>
        </p:blipFill>
        <p:spPr>
          <a:xfrm>
            <a:off x="228600" y="419100"/>
            <a:ext cx="7668260" cy="4838700"/>
          </a:xfrm>
          <a:prstGeom prst="rect">
            <a:avLst/>
          </a:prstGeom>
        </p:spPr>
      </p:pic>
      <p:pic>
        <p:nvPicPr>
          <p:cNvPr id="2" name="Picture 1" descr="D4258FB9-D2BD-4F6C-9C77-782AF1DD2B63"/>
          <p:cNvPicPr>
            <a:picLocks noChangeAspect="1"/>
          </p:cNvPicPr>
          <p:nvPr/>
        </p:nvPicPr>
        <p:blipFill>
          <a:blip r:embed="rId7"/>
          <a:srcRect t="7562"/>
          <a:stretch>
            <a:fillRect/>
          </a:stretch>
        </p:blipFill>
        <p:spPr>
          <a:xfrm>
            <a:off x="8001000" y="342900"/>
            <a:ext cx="9974580" cy="4914265"/>
          </a:xfrm>
          <a:prstGeom prst="rect">
            <a:avLst/>
          </a:prstGeom>
        </p:spPr>
      </p:pic>
      <p:pic>
        <p:nvPicPr>
          <p:cNvPr id="4" name="Picture 3" descr="4D6E49C2-C7AE-4013-B46D-B865C7EFC6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5448300"/>
            <a:ext cx="10368915" cy="46913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451860"/>
            <a:ext cx="8382635" cy="3446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" panose="020B0503030202020304"/>
            </a:endParaRPr>
          </a:p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Website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Creation 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Tools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5943600" y="2247915"/>
            <a:ext cx="11295380" cy="2996238"/>
            <a:chOff x="0" y="252416"/>
            <a:chExt cx="12216316" cy="2481171"/>
          </a:xfrm>
        </p:grpSpPr>
        <p:sp>
          <p:nvSpPr>
            <p:cNvPr id="4" name="TextBox 4"/>
            <p:cNvSpPr txBox="1"/>
            <p:nvPr/>
          </p:nvSpPr>
          <p:spPr>
            <a:xfrm>
              <a:off x="0" y="252416"/>
              <a:ext cx="12216316" cy="71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Introduction to WordPress 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9356"/>
              <a:ext cx="12216316" cy="17242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Two “flavors”: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WordPress.org (self-hosted, free to customize)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914400" lvl="1" indent="-457200" algn="l">
                <a:lnSpc>
                  <a:spcPts val="4060"/>
                </a:lnSpc>
                <a:buFont typeface="Wingdings" panose="05000000000000000000" charset="0"/>
                <a:buChar char="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WordPress.com (hosted service, monthly fees, limited control)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0" lvl="1" indent="0" algn="l">
                <a:lnSpc>
                  <a:spcPts val="4060"/>
                </a:lnSpc>
                <a:buClrTx/>
                <a:buSzTx/>
                <a:buFont typeface="Wingdings" panose="05000000000000000000" charset="0"/>
                <a:buNone/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566420" y="-2440940"/>
            <a:ext cx="5266690" cy="7035800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 Box 1"/>
          <p:cNvSpPr txBox="1"/>
          <p:nvPr/>
        </p:nvSpPr>
        <p:spPr>
          <a:xfrm>
            <a:off x="6019800" y="1333500"/>
            <a:ext cx="10662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800" b="1">
                <a:solidFill>
                  <a:schemeClr val="accent6">
                    <a:lumMod val="75000"/>
                  </a:schemeClr>
                </a:solidFill>
              </a:rPr>
              <a:t>Wordpress Guide</a:t>
            </a:r>
            <a:endParaRPr lang="en-US" sz="4800" b="1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6" name="Group 3"/>
          <p:cNvGrpSpPr/>
          <p:nvPr/>
        </p:nvGrpSpPr>
        <p:grpSpPr>
          <a:xfrm rot="0">
            <a:off x="5943600" y="5219715"/>
            <a:ext cx="11295380" cy="2996239"/>
            <a:chOff x="0" y="252416"/>
            <a:chExt cx="12216316" cy="2481172"/>
          </a:xfrm>
        </p:grpSpPr>
        <p:sp>
          <p:nvSpPr>
            <p:cNvPr id="8" name="TextBox 4"/>
            <p:cNvSpPr txBox="1"/>
            <p:nvPr/>
          </p:nvSpPr>
          <p:spPr>
            <a:xfrm>
              <a:off x="0" y="252416"/>
              <a:ext cx="12216316" cy="713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l">
                <a:lnSpc>
                  <a:spcPts val="6720"/>
                </a:lnSpc>
              </a:pPr>
              <a:r>
                <a:rPr lang="en-US" sz="32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Downloading WordPress.org  </a:t>
              </a:r>
              <a:endParaRPr lang="en-US" sz="32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9" name="TextBox 5"/>
            <p:cNvSpPr txBox="1"/>
            <p:nvPr/>
          </p:nvSpPr>
          <p:spPr>
            <a:xfrm>
              <a:off x="0" y="1009356"/>
              <a:ext cx="12216316" cy="1724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Go to: wordpress.org → Get WordPress 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Click Download: software ZIP will save to your system 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Cost: WordPress.org itself is free; you only pay for the domain and hosting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3" name="Picture 2" descr="74836526-8896-4CC6-81B3-4744936E4E0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66700"/>
            <a:ext cx="8833485" cy="4711700"/>
          </a:xfrm>
          <a:prstGeom prst="rect">
            <a:avLst/>
          </a:prstGeom>
        </p:spPr>
      </p:pic>
      <p:pic>
        <p:nvPicPr>
          <p:cNvPr id="5" name="Picture 4" descr="6CEC5746-8434-413A-BA31-172B7D750A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9430" y="266700"/>
            <a:ext cx="8723630" cy="4671060"/>
          </a:xfrm>
          <a:prstGeom prst="rect">
            <a:avLst/>
          </a:prstGeom>
        </p:spPr>
      </p:pic>
      <p:pic>
        <p:nvPicPr>
          <p:cNvPr id="8" name="Picture 7" descr="E7D4B490-A6D4-4527-8210-475DD1AF52A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295900"/>
            <a:ext cx="8833485" cy="4711065"/>
          </a:xfrm>
          <a:prstGeom prst="rect">
            <a:avLst/>
          </a:prstGeom>
        </p:spPr>
      </p:pic>
      <p:pic>
        <p:nvPicPr>
          <p:cNvPr id="9" name="Picture 8" descr="B351121D-821E-4342-9D21-07DE68ACCCF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5295900"/>
            <a:ext cx="8622030" cy="47898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90600" y="1714500"/>
            <a:ext cx="13759180" cy="4592086"/>
            <a:chOff x="0" y="-745358"/>
            <a:chExt cx="19827656" cy="5564897"/>
          </a:xfrm>
        </p:grpSpPr>
        <p:sp>
          <p:nvSpPr>
            <p:cNvPr id="3" name="TextBox 3"/>
            <p:cNvSpPr txBox="1"/>
            <p:nvPr/>
          </p:nvSpPr>
          <p:spPr>
            <a:xfrm>
              <a:off x="0" y="-745358"/>
              <a:ext cx="19827656" cy="10442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54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One-Click Install via cPanel / DirectAdmin </a:t>
              </a:r>
              <a:endParaRPr lang="en-US" sz="5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19616" y="639781"/>
              <a:ext cx="16087780" cy="18922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Open </a:t>
              </a:r>
              <a:r>
                <a:rPr lang="en-US" sz="28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cPanel/DirectAdmin</a:t>
              </a: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(via link in your email)</a:t>
              </a:r>
              <a:endParaRPr lang="en-US" sz="28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Locate “</a:t>
              </a:r>
              <a:r>
                <a:rPr lang="en-US" sz="28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WordPress Manager by Softaculous</a:t>
              </a: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” or “</a:t>
              </a:r>
              <a:r>
                <a:rPr lang="en-US" sz="28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Softaculous Apps Installer</a:t>
              </a: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”</a:t>
              </a:r>
              <a:endParaRPr lang="en-US" sz="28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209322"/>
              <a:ext cx="13086850" cy="26102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0" algn="just">
                <a:lnSpc>
                  <a:spcPts val="3360"/>
                </a:lnSpc>
                <a:buFont typeface="Wingdings" panose="05000000000000000000" charset="0"/>
                <a:buNone/>
              </a:pP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lvl="0" indent="-571500" algn="just">
                <a:lnSpc>
                  <a:spcPts val="33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Choose </a:t>
              </a:r>
              <a:r>
                <a:rPr lang="en-US" sz="28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WordPress</a:t>
              </a: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and Fill in the form:</a:t>
              </a:r>
              <a:endParaRPr lang="en-US" sz="2800" b="1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"/>
              </a:pPr>
              <a:r>
                <a:rPr lang="en-US" sz="28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Site name, admin username &amp; password, desired directory</a:t>
              </a:r>
              <a:endParaRPr lang="en-US" sz="28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lvl="0" indent="-571500" algn="just">
                <a:lnSpc>
                  <a:spcPts val="3360"/>
                </a:lnSpc>
                <a:buFont typeface="Wingdings" panose="05000000000000000000" charset="0"/>
                <a:buChar char=""/>
              </a:pPr>
              <a:r>
                <a:rPr lang="en-US" sz="2800" b="1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After this, click Install → </a:t>
              </a:r>
              <a:r>
                <a:rPr lang="en-US" sz="28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Success! </a:t>
              </a:r>
              <a:endPara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Freeform 2"/>
          <p:cNvSpPr/>
          <p:nvPr/>
        </p:nvSpPr>
        <p:spPr>
          <a:xfrm>
            <a:off x="11277460" y="2781173"/>
            <a:ext cx="6338112" cy="6384545"/>
          </a:xfrm>
          <a:custGeom>
            <a:avLst/>
            <a:gdLst/>
            <a:ahLst/>
            <a:cxnLst/>
            <a:rect l="l" t="t" r="r" b="b"/>
            <a:pathLst>
              <a:path w="6338112" h="6384545">
                <a:moveTo>
                  <a:pt x="0" y="0"/>
                </a:moveTo>
                <a:lnTo>
                  <a:pt x="6338111" y="0"/>
                </a:lnTo>
                <a:lnTo>
                  <a:pt x="6338111" y="6384544"/>
                </a:lnTo>
                <a:lnTo>
                  <a:pt x="0" y="638454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1470F30-42DA-41FC-8664-56B94B96B6E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" y="266700"/>
            <a:ext cx="9015095" cy="5151755"/>
          </a:xfrm>
          <a:prstGeom prst="rect">
            <a:avLst/>
          </a:prstGeom>
        </p:spPr>
      </p:pic>
      <p:pic>
        <p:nvPicPr>
          <p:cNvPr id="3" name="Picture 2" descr="7C88C346-202E-4F3E-975E-F943A850E3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242570"/>
            <a:ext cx="8738235" cy="5227955"/>
          </a:xfrm>
          <a:prstGeom prst="rect">
            <a:avLst/>
          </a:prstGeom>
        </p:spPr>
      </p:pic>
      <p:pic>
        <p:nvPicPr>
          <p:cNvPr id="6" name="Picture 5" descr="10DBB082-2000-4071-91EB-F612D51AA14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524500"/>
            <a:ext cx="9015095" cy="4648200"/>
          </a:xfrm>
          <a:prstGeom prst="rect">
            <a:avLst/>
          </a:prstGeom>
        </p:spPr>
      </p:pic>
      <p:pic>
        <p:nvPicPr>
          <p:cNvPr id="9" name="Picture 8" descr="D9C902DA-ED3B-4315-9287-C13A5E03BE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5569585"/>
            <a:ext cx="8709025" cy="46266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521335" y="6454140"/>
            <a:ext cx="1014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0" name="Diagram 9"/>
          <p:cNvGraphicFramePr/>
          <p:nvPr/>
        </p:nvGraphicFramePr>
        <p:xfrm>
          <a:off x="609600" y="4000500"/>
          <a:ext cx="5517515" cy="4994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 descr="53BE3A39-76A9-43BB-B574-5B03143A904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00" y="1638300"/>
            <a:ext cx="14885670" cy="8030845"/>
          </a:xfrm>
          <a:prstGeom prst="rect">
            <a:avLst/>
          </a:prstGeom>
        </p:spPr>
      </p:pic>
      <p:sp>
        <p:nvSpPr>
          <p:cNvPr id="6" name="Explosion 1 5"/>
          <p:cNvSpPr/>
          <p:nvPr/>
        </p:nvSpPr>
        <p:spPr>
          <a:xfrm>
            <a:off x="-1142365" y="-951865"/>
            <a:ext cx="5867400" cy="5486400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800" b="1">
                <a:solidFill>
                  <a:schemeClr val="accent2"/>
                </a:solidFill>
              </a:rPr>
              <a:t>Installed Successfully</a:t>
            </a:r>
            <a:endParaRPr lang="en-US" sz="2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519555" y="3258185"/>
            <a:ext cx="731266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End of Lecture</a:t>
            </a:r>
            <a:endParaRPr lang="en-US" sz="8000" b="1" spc="-88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6077</Words>
  <Application>WPS Writer</Application>
  <PresentationFormat>On-screen Show (4:3)</PresentationFormat>
  <Paragraphs>310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Clear Sans Bold</vt:lpstr>
      <vt:lpstr>Thonburi</vt:lpstr>
      <vt:lpstr>Clear Sans</vt:lpstr>
      <vt:lpstr>Wingdings</vt:lpstr>
      <vt:lpstr>Clear Sans Medium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75</cp:revision>
  <dcterms:created xsi:type="dcterms:W3CDTF">2025-10-02T16:46:05Z</dcterms:created>
  <dcterms:modified xsi:type="dcterms:W3CDTF">2025-10-02T16:46:05Z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