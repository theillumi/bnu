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notesMasterIdLst>
    <p:notesMasterId r:id="rId46"/>
  </p:notesMasterIdLst>
  <p:sldIdLst>
    <p:sldId id="479" r:id="rId2"/>
    <p:sldId id="258" r:id="rId3"/>
    <p:sldId id="430" r:id="rId4"/>
    <p:sldId id="440" r:id="rId5"/>
    <p:sldId id="441" r:id="rId6"/>
    <p:sldId id="442" r:id="rId7"/>
    <p:sldId id="443" r:id="rId8"/>
    <p:sldId id="444" r:id="rId9"/>
    <p:sldId id="445" r:id="rId10"/>
    <p:sldId id="446" r:id="rId11"/>
    <p:sldId id="447" r:id="rId12"/>
    <p:sldId id="448" r:id="rId13"/>
    <p:sldId id="449" r:id="rId14"/>
    <p:sldId id="450" r:id="rId15"/>
    <p:sldId id="451" r:id="rId16"/>
    <p:sldId id="452" r:id="rId17"/>
    <p:sldId id="453" r:id="rId18"/>
    <p:sldId id="454" r:id="rId19"/>
    <p:sldId id="484" r:id="rId20"/>
    <p:sldId id="485" r:id="rId21"/>
    <p:sldId id="486" r:id="rId22"/>
    <p:sldId id="487" r:id="rId23"/>
    <p:sldId id="490" r:id="rId24"/>
    <p:sldId id="488" r:id="rId25"/>
    <p:sldId id="489" r:id="rId26"/>
    <p:sldId id="455" r:id="rId27"/>
    <p:sldId id="257" r:id="rId28"/>
    <p:sldId id="492" r:id="rId29"/>
    <p:sldId id="259" r:id="rId30"/>
    <p:sldId id="260" r:id="rId31"/>
    <p:sldId id="261" r:id="rId32"/>
    <p:sldId id="456" r:id="rId33"/>
    <p:sldId id="457" r:id="rId34"/>
    <p:sldId id="493" r:id="rId35"/>
    <p:sldId id="494" r:id="rId36"/>
    <p:sldId id="495" r:id="rId37"/>
    <p:sldId id="496" r:id="rId38"/>
    <p:sldId id="497" r:id="rId39"/>
    <p:sldId id="458" r:id="rId40"/>
    <p:sldId id="459" r:id="rId41"/>
    <p:sldId id="460" r:id="rId42"/>
    <p:sldId id="461" r:id="rId43"/>
    <p:sldId id="462" r:id="rId44"/>
    <p:sldId id="412" r:id="rId4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F5AFF4B5-631B-4A70-8B99-E8FB8796DA97}" type="datetimeFigureOut">
              <a:rPr lang="en-US" smtClean="0"/>
              <a:pPr/>
              <a:t>10/2/2025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CF2FD04-098F-426E-B64E-A486CBD14BC8}" type="slidenum">
              <a:rPr lang="en-US" smtClean="0"/>
              <a:pPr/>
              <a:t>‹#›</a:t>
            </a:fld>
            <a:endParaRPr lang="en-US"/>
          </a:p>
        </p:txBody>
      </p:sp>
    </p:spTree>
    <p:extLst>
      <p:ext uri="{BB962C8B-B14F-4D97-AF65-F5344CB8AC3E}">
        <p14:creationId xmlns:p14="http://schemas.microsoft.com/office/powerpoint/2010/main" val="223082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114DCB-7771-42BE-B94E-AA3760B52BD3}" type="slidenum">
              <a:rPr lang="en-US"/>
              <a:pPr/>
              <a:t>8</a:t>
            </a:fld>
            <a:endParaRPr lang="en-US"/>
          </a:p>
        </p:txBody>
      </p:sp>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p:txBody>
          <a:bodyPr/>
          <a:lstStyle/>
          <a:p>
            <a:pPr marL="237134" indent="-237134">
              <a:buFontTx/>
              <a:buAutoNum type="arabicPeriod"/>
            </a:pPr>
            <a:r>
              <a:rPr lang="en-US" dirty="0"/>
              <a:t>It is unfortunate that many products are developed using what is known as the build-and-fix model.</a:t>
            </a:r>
          </a:p>
          <a:p>
            <a:pPr marL="237134" indent="-237134">
              <a:buFontTx/>
              <a:buAutoNum type="arabicPeriod"/>
            </a:pPr>
            <a:r>
              <a:rPr lang="en-US" dirty="0"/>
              <a:t>The product is constructed without specification or any attempt at design.</a:t>
            </a:r>
          </a:p>
          <a:p>
            <a:pPr marL="237134" indent="-237134">
              <a:buFontTx/>
              <a:buAutoNum type="arabicPeriod"/>
            </a:pPr>
            <a:r>
              <a:rPr lang="en-US" dirty="0"/>
              <a:t>The developers simply build a product that is reworked as many times as necessary to satisfy the client.</a:t>
            </a:r>
          </a:p>
          <a:p>
            <a:pPr marL="237134" indent="-237134">
              <a:buFontTx/>
              <a:buAutoNum type="arabicPeriod"/>
            </a:pPr>
            <a:r>
              <a:rPr lang="en-US" dirty="0"/>
              <a:t>May work for small projects but is totally unsatisfactory for products of any reasonable size.</a:t>
            </a:r>
          </a:p>
          <a:p>
            <a:pPr marL="237134" indent="-237134">
              <a:buFontTx/>
              <a:buAutoNum type="arabicPeriod"/>
            </a:pPr>
            <a:r>
              <a:rPr lang="en-US" dirty="0"/>
              <a:t>The cost of build-and fix is actually far greater than the cost of properly specified and carefully designed product.</a:t>
            </a:r>
          </a:p>
          <a:p>
            <a:pPr marL="237134" indent="-237134">
              <a:buFontTx/>
              <a:buAutoNum type="arabicPeriod"/>
            </a:pPr>
            <a:r>
              <a:rPr lang="en-US" dirty="0"/>
              <a:t>Maintenance of the product can be extremely in the absence of any documentation.</a:t>
            </a:r>
          </a:p>
          <a:p>
            <a:pPr marL="237134" indent="-237134"/>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1B8281-EBC6-4C38-A0FC-8AD2B8D18CDB}" type="slidenum">
              <a:rPr lang="en-US"/>
              <a:pPr/>
              <a:t>10</a:t>
            </a:fld>
            <a:endParaRPr lang="en-US"/>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normAutofit fontScale="85000" lnSpcReduction="10000"/>
          </a:bodyPr>
          <a:lstStyle/>
          <a:p>
            <a:pPr marL="237134" indent="-237134"/>
            <a:r>
              <a:rPr lang="en-US" dirty="0"/>
              <a:t>The first published model of the software development process was derived from other engineering processes. Because of the cascade from one phase to another, this model is known as the waterfall model. This model is also known as linear sequential model. The principal stages of the model map directly onto fundamental development activities. </a:t>
            </a:r>
          </a:p>
          <a:p>
            <a:pPr marL="237134" indent="-237134"/>
            <a:endParaRPr lang="en-US" dirty="0"/>
          </a:p>
          <a:p>
            <a:pPr marL="237134" indent="-237134"/>
            <a:r>
              <a:rPr lang="en-US" dirty="0"/>
              <a:t>It suggests a systematic, sequential approach to software development that begins at the system level and progresses through the analysis, design, coding, testing, and maintenance. </a:t>
            </a:r>
          </a:p>
          <a:p>
            <a:pPr marL="237134" indent="-237134"/>
            <a:endParaRPr lang="en-US" dirty="0"/>
          </a:p>
          <a:p>
            <a:pPr marL="237134" indent="-237134"/>
            <a:r>
              <a:rPr lang="en-US" dirty="0"/>
              <a:t>In the literature, people have identified from 5 to 8 stages of software development. </a:t>
            </a:r>
          </a:p>
          <a:p>
            <a:pPr marL="237134" indent="-237134"/>
            <a:endParaRPr lang="en-US" dirty="0"/>
          </a:p>
          <a:p>
            <a:pPr marL="237134" indent="-237134"/>
            <a:r>
              <a:rPr lang="en-US" dirty="0"/>
              <a:t>The five stages above are as follows:</a:t>
            </a:r>
          </a:p>
          <a:p>
            <a:pPr marL="237134" indent="-237134">
              <a:buFontTx/>
              <a:buAutoNum type="arabicPeriod"/>
            </a:pPr>
            <a:r>
              <a:rPr lang="en-US" dirty="0"/>
              <a:t>Requirement Analysis and Definition: What - The systems services, constraints and goals are established by consultation with system users. They are then defined in detail and serve as a system specification.</a:t>
            </a:r>
          </a:p>
          <a:p>
            <a:pPr marL="237134" indent="-237134">
              <a:buFontTx/>
              <a:buAutoNum type="arabicPeriod"/>
            </a:pPr>
            <a:r>
              <a:rPr lang="en-US" dirty="0"/>
              <a:t>System and Software Design: How – The system design process partitions the requirements to either hardware of software systems. It establishes and overall system architecture. Software design involves fundamental system abstractions and their relationships.</a:t>
            </a:r>
          </a:p>
          <a:p>
            <a:pPr marL="237134" indent="-237134">
              <a:buFontTx/>
              <a:buAutoNum type="arabicPeriod"/>
            </a:pPr>
            <a:r>
              <a:rPr lang="en-US" dirty="0"/>
              <a:t>Implementation and Unit Testing: - How – During this stage the software design is realized as a set of programs or program units. Unit testing involves verifying that each unit meets its specifications.</a:t>
            </a:r>
          </a:p>
          <a:p>
            <a:pPr marL="237134" indent="-237134">
              <a:buFontTx/>
              <a:buAutoNum type="arabicPeriod"/>
            </a:pPr>
            <a:r>
              <a:rPr lang="en-US" dirty="0"/>
              <a:t>Integration and system testing: The individual program unit or programs are integrated and tested as a complete system to ensure that the software requirements have been met. After testing, the software system is delivered to the customer.</a:t>
            </a:r>
          </a:p>
          <a:p>
            <a:pPr marL="237134" indent="-237134">
              <a:buFontTx/>
              <a:buAutoNum type="arabicPeriod"/>
            </a:pPr>
            <a:r>
              <a:rPr lang="en-US" dirty="0"/>
              <a:t>Operation and Maintenance: Normally this is the longest phase of the software life cycle. The system is installed and put into practical use. Maintenance involves correcting errors which were not discovered in earlier stages of the life-cycle, improving the implementation of system units and enhancing the system’s services as new requirements are discovered.</a:t>
            </a:r>
          </a:p>
          <a:p>
            <a:pPr marL="237134" indent="-237134">
              <a:buFontTx/>
              <a:buAutoNum type="arabicPeriod"/>
            </a:pPr>
            <a:endParaRPr lang="en-US" dirty="0"/>
          </a:p>
          <a:p>
            <a:pPr marL="237134" indent="-237134"/>
            <a:r>
              <a:rPr lang="en-US" dirty="0"/>
              <a:t>In principle, the result of each phase is one or more documents which are approved. No phase is complete until the documentation for that phase has been completed and products of that phase have been approved. The following phase should not start until the previous phase has finished.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7BA57D-FA9D-41DF-8509-FF96A02F6D65}" type="slidenum">
              <a:rPr lang="en-US"/>
              <a:pPr/>
              <a:t>14</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pPr marL="237134" indent="-237134"/>
            <a:r>
              <a:rPr lang="en-US" dirty="0"/>
              <a:t>Real projects rarely follow the sequential flow that the model proposes. In general these phases overlap and feed information to each other. Hence there should be an element of iteration and feedback. A mistake caught any stage should be referred back to the source and all the subsequent stages need to be revisited and corresponding documents should be updated accordingly.</a:t>
            </a:r>
          </a:p>
          <a:p>
            <a:pPr marL="237134" indent="-237134"/>
            <a:endParaRPr lang="en-US" dirty="0"/>
          </a:p>
          <a:p>
            <a:pPr marL="237134" indent="-237134"/>
            <a:r>
              <a:rPr lang="en-US" dirty="0"/>
              <a:t>Because of the costs of producing and approving documents, iterations are costly and require significant rework. </a:t>
            </a:r>
          </a:p>
          <a:p>
            <a:pPr marL="237134" indent="-237134"/>
            <a:endParaRPr lang="en-US" dirty="0"/>
          </a:p>
          <a:p>
            <a:pPr marL="237134" indent="-237134"/>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6F24C6-9029-4B94-BC5A-D7360CE53221}" type="slidenum">
              <a:rPr lang="en-US"/>
              <a:pPr/>
              <a:t>15</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p:txBody>
          <a:bodyPr/>
          <a:lstStyle/>
          <a:p>
            <a:pPr marL="237134" indent="-237134"/>
            <a:r>
              <a:rPr lang="en-US" dirty="0"/>
              <a:t>Real projects rarely follow the sequential flow that the model proposes. In general these phases overlap and feed information to each other. Hence there should be an element of iteration and feedback. A mistake caught any stage should be referred back to the source and all the subsequent stages need to be revisited and corresponding documents should be updated accordingly.</a:t>
            </a:r>
          </a:p>
          <a:p>
            <a:pPr marL="237134" indent="-237134"/>
            <a:endParaRPr lang="en-US" dirty="0"/>
          </a:p>
          <a:p>
            <a:pPr marL="237134" indent="-237134"/>
            <a:r>
              <a:rPr lang="en-US" dirty="0"/>
              <a:t>Because of the costs of producing and approving documents, iterations are costly and require significant rework. </a:t>
            </a:r>
          </a:p>
          <a:p>
            <a:pPr marL="237134" indent="-237134"/>
            <a:endParaRPr lang="en-US" dirty="0"/>
          </a:p>
          <a:p>
            <a:pPr marL="237134" indent="-237134"/>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746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60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44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2890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13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282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pPr/>
              <a:t>10/2/2025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157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5724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1456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459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6190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85800" y="6248400"/>
            <a:ext cx="1905000" cy="457200"/>
          </a:xfrm>
        </p:spPr>
        <p:txBody>
          <a:bodyPr/>
          <a:lstStyle>
            <a:lvl1pPr>
              <a:defRPr/>
            </a:lvl1pPr>
          </a:lstStyle>
          <a:p>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fld id="{08D7A2F4-68AB-4C94-961A-97A9545E0508}" type="slidenum">
              <a:rPr lang="en-US"/>
              <a:pPr/>
              <a:t>‹#›</a:t>
            </a:fld>
            <a:endParaRPr lang="en-US"/>
          </a:p>
        </p:txBody>
      </p:sp>
    </p:spTree>
    <p:extLst>
      <p:ext uri="{BB962C8B-B14F-4D97-AF65-F5344CB8AC3E}">
        <p14:creationId xmlns:p14="http://schemas.microsoft.com/office/powerpoint/2010/main" val="2399773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pPr/>
              <a:t>10/2/2025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153079"/>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8239"/>
            <a:ext cx="7772400" cy="1829761"/>
          </a:xfrm>
        </p:spPr>
        <p:txBody>
          <a:bodyPr>
            <a:normAutofit/>
          </a:bodyPr>
          <a:lstStyle/>
          <a:p>
            <a:pPr algn="ctr"/>
            <a:r>
              <a:rPr lang="en-US" sz="3600" dirty="0"/>
              <a:t>Software Engineering for CS</a:t>
            </a:r>
          </a:p>
        </p:txBody>
      </p:sp>
      <p:sp>
        <p:nvSpPr>
          <p:cNvPr id="3" name="Subtitle 2"/>
          <p:cNvSpPr>
            <a:spLocks noGrp="1"/>
          </p:cNvSpPr>
          <p:nvPr>
            <p:ph type="subTitle" idx="1"/>
          </p:nvPr>
        </p:nvSpPr>
        <p:spPr>
          <a:xfrm>
            <a:off x="990600" y="4648200"/>
            <a:ext cx="6400800" cy="914400"/>
          </a:xfrm>
        </p:spPr>
        <p:txBody>
          <a:bodyPr>
            <a:normAutofit/>
          </a:bodyPr>
          <a:lstStyle/>
          <a:p>
            <a:pPr algn="ctr"/>
            <a:r>
              <a:rPr lang="en-US" dirty="0"/>
              <a:t>Instructor : Dr. </a:t>
            </a:r>
            <a:r>
              <a:rPr lang="en-US" dirty="0" err="1"/>
              <a:t>Natash</a:t>
            </a:r>
            <a:r>
              <a:rPr lang="en-US" dirty="0"/>
              <a:t> Ali </a:t>
            </a:r>
            <a:r>
              <a:rPr lang="en-US" dirty="0" err="1"/>
              <a:t>Mian</a:t>
            </a:r>
            <a:endParaRPr lang="en-US" dirty="0"/>
          </a:p>
        </p:txBody>
      </p:sp>
      <p:sp>
        <p:nvSpPr>
          <p:cNvPr id="4" name="Subtitle 2"/>
          <p:cNvSpPr txBox="1">
            <a:spLocks/>
          </p:cNvSpPr>
          <p:nvPr/>
        </p:nvSpPr>
        <p:spPr>
          <a:xfrm>
            <a:off x="1371600" y="5638800"/>
            <a:ext cx="6400800" cy="11430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effectLst/>
                <a:uLnTx/>
                <a:uFillTx/>
                <a:latin typeface="+mn-lt"/>
                <a:ea typeface="+mn-ea"/>
                <a:cs typeface="+mn-cs"/>
              </a:rPr>
              <a:t>School of Computer and Information Technology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err="1"/>
              <a:t>Beaconhouse</a:t>
            </a:r>
            <a:r>
              <a:rPr lang="en-US" sz="3200" dirty="0"/>
              <a:t> National University</a:t>
            </a:r>
            <a:endParaRPr kumimoji="0" lang="en-US" sz="3200" b="0" i="0" u="none" strike="noStrike" kern="1200" cap="none" spc="0" normalizeH="0" baseline="0" noProof="0" dirty="0">
              <a:ln>
                <a:noFill/>
              </a:ln>
              <a:effectLst/>
              <a:uLnTx/>
              <a:uFillTx/>
              <a:latin typeface="+mn-lt"/>
              <a:ea typeface="+mn-ea"/>
              <a:cs typeface="+mn-cs"/>
            </a:endParaRPr>
          </a:p>
        </p:txBody>
      </p:sp>
      <p:sp>
        <p:nvSpPr>
          <p:cNvPr id="5" name="Subtitle 2"/>
          <p:cNvSpPr txBox="1">
            <a:spLocks/>
          </p:cNvSpPr>
          <p:nvPr/>
        </p:nvSpPr>
        <p:spPr>
          <a:xfrm>
            <a:off x="3048000" y="3276600"/>
            <a:ext cx="3581400" cy="990600"/>
          </a:xfrm>
          <a:prstGeom prst="rect">
            <a:avLst/>
          </a:prstGeom>
        </p:spPr>
        <p:txBody>
          <a:bodyPr vert="horz" lIns="45720" rIns="45720">
            <a:normAutofit/>
          </a:bodyPr>
          <a:lstStyle/>
          <a:p>
            <a:pPr marL="0" marR="64008" lvl="0" indent="0"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3200" b="0" i="0" u="none" strike="noStrike" kern="1200" cap="none" spc="0" normalizeH="0" baseline="0" noProof="0" dirty="0">
                <a:ln>
                  <a:noFill/>
                </a:ln>
                <a:solidFill>
                  <a:schemeClr val="tx1">
                    <a:lumMod val="95000"/>
                    <a:lumOff val="5000"/>
                  </a:schemeClr>
                </a:solidFill>
                <a:effectLst/>
                <a:uLnTx/>
                <a:uFillTx/>
                <a:latin typeface="+mn-lt"/>
                <a:ea typeface="+mn-ea"/>
                <a:cs typeface="+mn-cs"/>
              </a:rPr>
              <a:t>Week </a:t>
            </a:r>
            <a:r>
              <a:rPr lang="en-US" sz="3200" dirty="0">
                <a:solidFill>
                  <a:schemeClr val="tx1">
                    <a:lumMod val="95000"/>
                    <a:lumOff val="5000"/>
                  </a:schemeClr>
                </a:solidFill>
              </a:rPr>
              <a:t>2</a:t>
            </a:r>
          </a:p>
        </p:txBody>
      </p:sp>
    </p:spTree>
    <p:extLst>
      <p:ext uri="{BB962C8B-B14F-4D97-AF65-F5344CB8AC3E}">
        <p14:creationId xmlns:p14="http://schemas.microsoft.com/office/powerpoint/2010/main" val="3235498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t>`</a:t>
            </a:r>
          </a:p>
        </p:txBody>
      </p:sp>
      <p:sp>
        <p:nvSpPr>
          <p:cNvPr id="4" name="Slide Number Placeholder 3"/>
          <p:cNvSpPr>
            <a:spLocks noGrp="1"/>
          </p:cNvSpPr>
          <p:nvPr>
            <p:ph type="sldNum" sz="quarter" idx="12"/>
          </p:nvPr>
        </p:nvSpPr>
        <p:spPr/>
        <p:txBody>
          <a:bodyPr/>
          <a:lstStyle/>
          <a:p>
            <a:pPr>
              <a:defRPr/>
            </a:pPr>
            <a:fld id="{5B93AA5B-4E0D-46DD-B32E-5451C917D695}" type="slidenum">
              <a:rPr lang="en-US" smtClean="0"/>
              <a:pPr>
                <a:defRPr/>
              </a:pPr>
              <a:t>2</a:t>
            </a:fld>
            <a:endParaRPr lang="en-US"/>
          </a:p>
        </p:txBody>
      </p:sp>
      <p:sp>
        <p:nvSpPr>
          <p:cNvPr id="8196" name="Rectangle 8"/>
          <p:cNvSpPr>
            <a:spLocks noChangeArrowheads="1"/>
          </p:cNvSpPr>
          <p:nvPr/>
        </p:nvSpPr>
        <p:spPr bwMode="auto">
          <a:xfrm>
            <a:off x="914400" y="1765280"/>
            <a:ext cx="7543800" cy="3416320"/>
          </a:xfrm>
          <a:prstGeom prst="rect">
            <a:avLst/>
          </a:prstGeom>
          <a:noFill/>
          <a:ln w="9525">
            <a:noFill/>
            <a:miter lim="800000"/>
            <a:headEnd/>
            <a:tailEnd/>
          </a:ln>
        </p:spPr>
        <p:txBody>
          <a:bodyPr wrap="square">
            <a:spAutoFit/>
          </a:bodyPr>
          <a:lstStyle/>
          <a:p>
            <a:pPr algn="ctr"/>
            <a:r>
              <a:rPr lang="en-AU" sz="5400" dirty="0">
                <a:latin typeface="Times New Roman" pitchFamily="18" charset="0"/>
                <a:cs typeface="Times New Roman" pitchFamily="18" charset="0"/>
              </a:rPr>
              <a:t>Switch off mobile phones during lectures, </a:t>
            </a:r>
          </a:p>
          <a:p>
            <a:pPr algn="ctr"/>
            <a:r>
              <a:rPr lang="en-AU" sz="5400" dirty="0">
                <a:latin typeface="Times New Roman" pitchFamily="18" charset="0"/>
                <a:cs typeface="Times New Roman" pitchFamily="18" charset="0"/>
              </a:rPr>
              <a:t>or </a:t>
            </a:r>
          </a:p>
          <a:p>
            <a:pPr algn="ctr"/>
            <a:r>
              <a:rPr lang="en-AU" sz="5400" dirty="0">
                <a:latin typeface="Times New Roman" pitchFamily="18" charset="0"/>
                <a:cs typeface="Times New Roman" pitchFamily="18" charset="0"/>
              </a:rPr>
              <a:t>put them into silent mode</a:t>
            </a:r>
            <a:endParaRPr lang="en-US" sz="5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Lifecycle Models</a:t>
            </a:r>
          </a:p>
        </p:txBody>
      </p:sp>
      <p:sp>
        <p:nvSpPr>
          <p:cNvPr id="3" name="Content Placeholder 2"/>
          <p:cNvSpPr>
            <a:spLocks noGrp="1"/>
          </p:cNvSpPr>
          <p:nvPr>
            <p:ph idx="1"/>
          </p:nvPr>
        </p:nvSpPr>
        <p:spPr/>
        <p:txBody>
          <a:bodyPr>
            <a:normAutofit/>
          </a:bodyPr>
          <a:lstStyle/>
          <a:p>
            <a:endParaRPr lang="en-US" sz="2800" dirty="0"/>
          </a:p>
          <a:p>
            <a:endParaRPr lang="en-US" sz="2800" dirty="0"/>
          </a:p>
          <a:p>
            <a:r>
              <a:rPr lang="en-US" sz="2800" dirty="0"/>
              <a:t>The way you organize your activities</a:t>
            </a:r>
          </a:p>
          <a:p>
            <a:endParaRPr lang="en-US" sz="2800" dirty="0"/>
          </a:p>
          <a:p>
            <a:r>
              <a:rPr lang="en-US" sz="2800" dirty="0"/>
              <a:t>Lifecycle model is a series of steps through which the product progresses</a:t>
            </a:r>
          </a:p>
          <a:p>
            <a:endParaRPr lang="en-US" dirty="0"/>
          </a:p>
        </p:txBody>
      </p:sp>
    </p:spTree>
    <p:extLst>
      <p:ext uri="{BB962C8B-B14F-4D97-AF65-F5344CB8AC3E}">
        <p14:creationId xmlns:p14="http://schemas.microsoft.com/office/powerpoint/2010/main" val="2794826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noFill/>
          <a:ln/>
        </p:spPr>
        <p:txBody>
          <a:bodyPr/>
          <a:lstStyle/>
          <a:p>
            <a:r>
              <a:rPr lang="en-US"/>
              <a:t>Process Models</a:t>
            </a:r>
          </a:p>
        </p:txBody>
      </p:sp>
      <p:sp>
        <p:nvSpPr>
          <p:cNvPr id="160771" name="Rectangle 3"/>
          <p:cNvSpPr>
            <a:spLocks noGrp="1" noChangeArrowheads="1"/>
          </p:cNvSpPr>
          <p:nvPr>
            <p:ph idx="1"/>
          </p:nvPr>
        </p:nvSpPr>
        <p:spPr>
          <a:noFill/>
          <a:ln/>
        </p:spPr>
        <p:txBody>
          <a:bodyPr/>
          <a:lstStyle/>
          <a:p>
            <a:pPr>
              <a:lnSpc>
                <a:spcPct val="90000"/>
              </a:lnSpc>
            </a:pPr>
            <a:r>
              <a:rPr lang="en-US"/>
              <a:t>A process model is a simplified description of a process presented from a particular perspective</a:t>
            </a:r>
          </a:p>
          <a:p>
            <a:pPr>
              <a:lnSpc>
                <a:spcPct val="90000"/>
              </a:lnSpc>
            </a:pPr>
            <a:r>
              <a:rPr lang="en-US"/>
              <a:t>There may be several different models of the same process</a:t>
            </a:r>
          </a:p>
          <a:p>
            <a:pPr>
              <a:lnSpc>
                <a:spcPct val="90000"/>
              </a:lnSpc>
            </a:pPr>
            <a:r>
              <a:rPr lang="en-US"/>
              <a:t>No single model gives a complete understanding of the process being modeled</a:t>
            </a:r>
          </a:p>
        </p:txBody>
      </p:sp>
      <p:sp>
        <p:nvSpPr>
          <p:cNvPr id="4" name="Slide Number Placeholder 3"/>
          <p:cNvSpPr>
            <a:spLocks noGrp="1"/>
          </p:cNvSpPr>
          <p:nvPr>
            <p:ph type="sldNum" sz="quarter" idx="12"/>
          </p:nvPr>
        </p:nvSpPr>
        <p:spPr/>
        <p:txBody>
          <a:bodyPr/>
          <a:lstStyle/>
          <a:p>
            <a:fld id="{588D8F46-1CCE-45EC-83E9-2EE97C649DA8}" type="slidenum">
              <a:rPr lang="en-US"/>
              <a:pPr/>
              <a:t>4</a:t>
            </a:fld>
            <a:endParaRPr lang="en-US"/>
          </a:p>
        </p:txBody>
      </p:sp>
    </p:spTree>
    <p:extLst>
      <p:ext uri="{BB962C8B-B14F-4D97-AF65-F5344CB8AC3E}">
        <p14:creationId xmlns:p14="http://schemas.microsoft.com/office/powerpoint/2010/main" val="130037444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US"/>
              <a:t>Variations in Process Models</a:t>
            </a:r>
          </a:p>
        </p:txBody>
      </p:sp>
      <p:sp>
        <p:nvSpPr>
          <p:cNvPr id="161795" name="Rectangle 3"/>
          <p:cNvSpPr>
            <a:spLocks noGrp="1" noChangeArrowheads="1"/>
          </p:cNvSpPr>
          <p:nvPr>
            <p:ph idx="1"/>
          </p:nvPr>
        </p:nvSpPr>
        <p:spPr/>
        <p:txBody>
          <a:bodyPr>
            <a:normAutofit/>
          </a:bodyPr>
          <a:lstStyle/>
          <a:p>
            <a:r>
              <a:rPr lang="en-US" sz="3200"/>
              <a:t>A process model is produced on the anticipated need for that model. We may need</a:t>
            </a:r>
          </a:p>
          <a:p>
            <a:pPr lvl="1"/>
            <a:r>
              <a:rPr lang="en-US" sz="2800"/>
              <a:t>A model to help explain how process information has been organized</a:t>
            </a:r>
          </a:p>
          <a:p>
            <a:pPr lvl="1"/>
            <a:r>
              <a:rPr lang="en-US" sz="2800"/>
              <a:t>A model to help understand and improve a process</a:t>
            </a:r>
          </a:p>
          <a:p>
            <a:pPr lvl="1"/>
            <a:r>
              <a:rPr lang="en-US" sz="2800"/>
              <a:t>A model to satisfy some quality management standard</a:t>
            </a:r>
          </a:p>
        </p:txBody>
      </p:sp>
      <p:sp>
        <p:nvSpPr>
          <p:cNvPr id="4" name="Slide Number Placeholder 3"/>
          <p:cNvSpPr>
            <a:spLocks noGrp="1"/>
          </p:cNvSpPr>
          <p:nvPr>
            <p:ph type="sldNum" sz="quarter" idx="12"/>
          </p:nvPr>
        </p:nvSpPr>
        <p:spPr/>
        <p:txBody>
          <a:bodyPr/>
          <a:lstStyle/>
          <a:p>
            <a:fld id="{B6732F57-66FF-4C34-B37D-2ECC66131598}" type="slidenum">
              <a:rPr lang="en-US"/>
              <a:pPr/>
              <a:t>5</a:t>
            </a:fld>
            <a:endParaRPr lang="en-US"/>
          </a:p>
        </p:txBody>
      </p:sp>
    </p:spTree>
    <p:extLst>
      <p:ext uri="{BB962C8B-B14F-4D97-AF65-F5344CB8AC3E}">
        <p14:creationId xmlns:p14="http://schemas.microsoft.com/office/powerpoint/2010/main" val="2759516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381000" y="76200"/>
            <a:ext cx="8458200" cy="1143000"/>
          </a:xfrm>
          <a:noFill/>
          <a:ln/>
        </p:spPr>
        <p:txBody>
          <a:bodyPr/>
          <a:lstStyle/>
          <a:p>
            <a:r>
              <a:rPr lang="en-US" sz="3600" b="0"/>
              <a:t>Software Life-Cycle Steps</a:t>
            </a:r>
          </a:p>
        </p:txBody>
      </p:sp>
      <p:sp>
        <p:nvSpPr>
          <p:cNvPr id="184323" name="Rectangle 3"/>
          <p:cNvSpPr>
            <a:spLocks noGrp="1" noChangeArrowheads="1"/>
          </p:cNvSpPr>
          <p:nvPr>
            <p:ph idx="1"/>
          </p:nvPr>
        </p:nvSpPr>
        <p:spPr>
          <a:xfrm>
            <a:off x="685800" y="1287463"/>
            <a:ext cx="8153400" cy="4427537"/>
          </a:xfrm>
        </p:spPr>
        <p:txBody>
          <a:bodyPr/>
          <a:lstStyle/>
          <a:p>
            <a:pPr>
              <a:lnSpc>
                <a:spcPct val="90000"/>
              </a:lnSpc>
              <a:buFontTx/>
              <a:buNone/>
            </a:pPr>
            <a:r>
              <a:rPr lang="en-US" sz="2400" dirty="0"/>
              <a:t>Life-cycle model (formerly known as process model)</a:t>
            </a:r>
          </a:p>
          <a:p>
            <a:pPr lvl="1">
              <a:lnSpc>
                <a:spcPct val="90000"/>
              </a:lnSpc>
            </a:pPr>
            <a:endParaRPr lang="en-US" sz="2400" dirty="0"/>
          </a:p>
          <a:p>
            <a:pPr lvl="1">
              <a:lnSpc>
                <a:spcPct val="90000"/>
              </a:lnSpc>
            </a:pPr>
            <a:r>
              <a:rPr lang="en-US" sz="2400" dirty="0"/>
              <a:t>Requirements phase</a:t>
            </a:r>
          </a:p>
          <a:p>
            <a:pPr lvl="1">
              <a:lnSpc>
                <a:spcPct val="90000"/>
              </a:lnSpc>
            </a:pPr>
            <a:r>
              <a:rPr lang="en-US" sz="2400" dirty="0"/>
              <a:t>Specification phase</a:t>
            </a:r>
          </a:p>
          <a:p>
            <a:pPr lvl="1">
              <a:lnSpc>
                <a:spcPct val="90000"/>
              </a:lnSpc>
            </a:pPr>
            <a:r>
              <a:rPr lang="en-US" sz="2400" dirty="0"/>
              <a:t>Design phase</a:t>
            </a:r>
          </a:p>
          <a:p>
            <a:pPr lvl="1">
              <a:lnSpc>
                <a:spcPct val="90000"/>
              </a:lnSpc>
            </a:pPr>
            <a:r>
              <a:rPr lang="en-US" sz="2400" dirty="0"/>
              <a:t>Implementation phase</a:t>
            </a:r>
          </a:p>
          <a:p>
            <a:pPr lvl="1">
              <a:lnSpc>
                <a:spcPct val="90000"/>
              </a:lnSpc>
            </a:pPr>
            <a:r>
              <a:rPr lang="en-US" sz="2400" dirty="0"/>
              <a:t>Integration phase</a:t>
            </a:r>
          </a:p>
          <a:p>
            <a:pPr lvl="1">
              <a:lnSpc>
                <a:spcPct val="90000"/>
              </a:lnSpc>
            </a:pPr>
            <a:r>
              <a:rPr lang="en-US" sz="2400" dirty="0"/>
              <a:t>Maintenance phase</a:t>
            </a:r>
          </a:p>
          <a:p>
            <a:pPr lvl="1">
              <a:lnSpc>
                <a:spcPct val="90000"/>
              </a:lnSpc>
            </a:pPr>
            <a:r>
              <a:rPr lang="en-US" sz="2400" dirty="0"/>
              <a:t>Retirement</a:t>
            </a:r>
          </a:p>
        </p:txBody>
      </p:sp>
    </p:spTree>
    <p:extLst>
      <p:ext uri="{BB962C8B-B14F-4D97-AF65-F5344CB8AC3E}">
        <p14:creationId xmlns:p14="http://schemas.microsoft.com/office/powerpoint/2010/main" val="58473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685800" y="-76200"/>
            <a:ext cx="7772400" cy="1143000"/>
          </a:xfrm>
          <a:noFill/>
          <a:ln/>
        </p:spPr>
        <p:txBody>
          <a:bodyPr/>
          <a:lstStyle/>
          <a:p>
            <a:r>
              <a:rPr lang="en-US" sz="3600" b="0"/>
              <a:t>Different Lifecycle Models</a:t>
            </a:r>
          </a:p>
        </p:txBody>
      </p:sp>
      <p:sp>
        <p:nvSpPr>
          <p:cNvPr id="183299" name="Rectangle 3"/>
          <p:cNvSpPr>
            <a:spLocks noGrp="1" noChangeArrowheads="1"/>
          </p:cNvSpPr>
          <p:nvPr>
            <p:ph idx="1"/>
          </p:nvPr>
        </p:nvSpPr>
        <p:spPr>
          <a:xfrm>
            <a:off x="685800" y="914400"/>
            <a:ext cx="7467600" cy="4800600"/>
          </a:xfrm>
        </p:spPr>
        <p:txBody>
          <a:bodyPr>
            <a:normAutofit fontScale="85000" lnSpcReduction="20000"/>
          </a:bodyPr>
          <a:lstStyle/>
          <a:p>
            <a:endParaRPr lang="en-US" sz="2400" dirty="0"/>
          </a:p>
          <a:p>
            <a:r>
              <a:rPr lang="en-US" sz="2400" dirty="0"/>
              <a:t>Build-and-fix model</a:t>
            </a:r>
          </a:p>
          <a:p>
            <a:r>
              <a:rPr lang="en-US" sz="2400" dirty="0"/>
              <a:t>Waterfall model</a:t>
            </a:r>
          </a:p>
          <a:p>
            <a:r>
              <a:rPr lang="en-US" sz="2400" dirty="0"/>
              <a:t>Rapid prototyping model</a:t>
            </a:r>
          </a:p>
          <a:p>
            <a:r>
              <a:rPr lang="en-US" sz="2400" dirty="0"/>
              <a:t>Incremental model</a:t>
            </a:r>
          </a:p>
          <a:p>
            <a:r>
              <a:rPr lang="en-US" sz="2400" dirty="0"/>
              <a:t>Spiral model</a:t>
            </a:r>
          </a:p>
          <a:p>
            <a:r>
              <a:rPr lang="en-US" sz="2400" dirty="0"/>
              <a:t>Extreme programming</a:t>
            </a:r>
          </a:p>
          <a:p>
            <a:endParaRPr lang="en-US" sz="2400" dirty="0"/>
          </a:p>
          <a:p>
            <a:r>
              <a:rPr lang="en-US" sz="2400" dirty="0"/>
              <a:t>Object-oriented life-cycle models</a:t>
            </a:r>
          </a:p>
          <a:p>
            <a:r>
              <a:rPr lang="en-US" sz="2400" dirty="0"/>
              <a:t>Synchronize-and-stabilize model</a:t>
            </a:r>
          </a:p>
          <a:p>
            <a:endParaRPr lang="en-US" sz="2400" dirty="0"/>
          </a:p>
          <a:p>
            <a:r>
              <a:rPr lang="en-US" sz="2400" dirty="0"/>
              <a:t>Comparison of life-cycle models</a:t>
            </a:r>
          </a:p>
          <a:p>
            <a:endParaRPr lang="en-US" dirty="0"/>
          </a:p>
        </p:txBody>
      </p:sp>
    </p:spTree>
    <p:extLst>
      <p:ext uri="{BB962C8B-B14F-4D97-AF65-F5344CB8AC3E}">
        <p14:creationId xmlns:p14="http://schemas.microsoft.com/office/powerpoint/2010/main" val="1701603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5029200" y="457200"/>
            <a:ext cx="4038600" cy="1752600"/>
          </a:xfrm>
          <a:noFill/>
          <a:ln/>
        </p:spPr>
        <p:txBody>
          <a:bodyPr/>
          <a:lstStyle/>
          <a:p>
            <a:r>
              <a:rPr lang="en-US" sz="3600" b="0" dirty="0"/>
              <a:t>Build and Fix Model</a:t>
            </a:r>
          </a:p>
        </p:txBody>
      </p:sp>
      <p:sp>
        <p:nvSpPr>
          <p:cNvPr id="280602" name="Rectangle 26"/>
          <p:cNvSpPr>
            <a:spLocks noChangeArrowheads="1"/>
          </p:cNvSpPr>
          <p:nvPr/>
        </p:nvSpPr>
        <p:spPr bwMode="auto">
          <a:xfrm>
            <a:off x="304800" y="1447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Build first </a:t>
            </a:r>
          </a:p>
          <a:p>
            <a:pPr algn="ctr" eaLnBrk="0" hangingPunct="0"/>
            <a:r>
              <a:rPr lang="en-US" b="1">
                <a:latin typeface="Arial" charset="0"/>
              </a:rPr>
              <a:t>version</a:t>
            </a:r>
          </a:p>
        </p:txBody>
      </p:sp>
      <p:sp>
        <p:nvSpPr>
          <p:cNvPr id="280603" name="Rectangle 27"/>
          <p:cNvSpPr>
            <a:spLocks noChangeArrowheads="1"/>
          </p:cNvSpPr>
          <p:nvPr/>
        </p:nvSpPr>
        <p:spPr bwMode="auto">
          <a:xfrm>
            <a:off x="2895600" y="28194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Modify until </a:t>
            </a:r>
          </a:p>
          <a:p>
            <a:pPr algn="ctr" eaLnBrk="0" hangingPunct="0"/>
            <a:r>
              <a:rPr lang="en-US" b="1">
                <a:latin typeface="Arial" charset="0"/>
              </a:rPr>
              <a:t>client is satisfied</a:t>
            </a:r>
          </a:p>
        </p:txBody>
      </p:sp>
      <p:sp>
        <p:nvSpPr>
          <p:cNvPr id="280607" name="Rectangle 31"/>
          <p:cNvSpPr>
            <a:spLocks noChangeArrowheads="1"/>
          </p:cNvSpPr>
          <p:nvPr/>
        </p:nvSpPr>
        <p:spPr bwMode="auto">
          <a:xfrm>
            <a:off x="5562600" y="42672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Maintenance </a:t>
            </a:r>
          </a:p>
          <a:p>
            <a:pPr algn="ctr" eaLnBrk="0" hangingPunct="0"/>
            <a:r>
              <a:rPr lang="en-US" b="1">
                <a:latin typeface="Arial" charset="0"/>
              </a:rPr>
              <a:t>phase</a:t>
            </a:r>
          </a:p>
        </p:txBody>
      </p:sp>
      <p:sp>
        <p:nvSpPr>
          <p:cNvPr id="280608" name="Rectangle 32"/>
          <p:cNvSpPr>
            <a:spLocks noChangeArrowheads="1"/>
          </p:cNvSpPr>
          <p:nvPr/>
        </p:nvSpPr>
        <p:spPr bwMode="auto">
          <a:xfrm>
            <a:off x="5562600" y="5638800"/>
            <a:ext cx="2667000" cy="5334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Retirement</a:t>
            </a:r>
          </a:p>
        </p:txBody>
      </p:sp>
      <p:grpSp>
        <p:nvGrpSpPr>
          <p:cNvPr id="2" name="Group 35"/>
          <p:cNvGrpSpPr>
            <a:grpSpLocks/>
          </p:cNvGrpSpPr>
          <p:nvPr/>
        </p:nvGrpSpPr>
        <p:grpSpPr bwMode="auto">
          <a:xfrm>
            <a:off x="1371600" y="2286000"/>
            <a:ext cx="1524000" cy="1066800"/>
            <a:chOff x="864" y="1440"/>
            <a:chExt cx="960" cy="672"/>
          </a:xfrm>
        </p:grpSpPr>
        <p:sp>
          <p:nvSpPr>
            <p:cNvPr id="280609" name="Line 33"/>
            <p:cNvSpPr>
              <a:spLocks noChangeShapeType="1"/>
            </p:cNvSpPr>
            <p:nvPr/>
          </p:nvSpPr>
          <p:spPr bwMode="auto">
            <a:xfrm>
              <a:off x="864" y="1440"/>
              <a:ext cx="0" cy="672"/>
            </a:xfrm>
            <a:prstGeom prst="line">
              <a:avLst/>
            </a:prstGeom>
            <a:noFill/>
            <a:ln w="57150">
              <a:solidFill>
                <a:srgbClr val="FFFF00"/>
              </a:solidFill>
              <a:round/>
              <a:headEnd/>
              <a:tailEnd/>
            </a:ln>
            <a:effectLst/>
          </p:spPr>
          <p:txBody>
            <a:bodyPr/>
            <a:lstStyle/>
            <a:p>
              <a:endParaRPr lang="en-US"/>
            </a:p>
          </p:txBody>
        </p:sp>
        <p:sp>
          <p:nvSpPr>
            <p:cNvPr id="280610" name="Line 34"/>
            <p:cNvSpPr>
              <a:spLocks noChangeShapeType="1"/>
            </p:cNvSpPr>
            <p:nvPr/>
          </p:nvSpPr>
          <p:spPr bwMode="auto">
            <a:xfrm>
              <a:off x="864" y="2112"/>
              <a:ext cx="960" cy="0"/>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36"/>
          <p:cNvGrpSpPr>
            <a:grpSpLocks/>
          </p:cNvGrpSpPr>
          <p:nvPr/>
        </p:nvGrpSpPr>
        <p:grpSpPr bwMode="auto">
          <a:xfrm>
            <a:off x="4038600" y="3657600"/>
            <a:ext cx="1524000" cy="1066800"/>
            <a:chOff x="864" y="1440"/>
            <a:chExt cx="960" cy="672"/>
          </a:xfrm>
        </p:grpSpPr>
        <p:sp>
          <p:nvSpPr>
            <p:cNvPr id="280613" name="Line 37"/>
            <p:cNvSpPr>
              <a:spLocks noChangeShapeType="1"/>
            </p:cNvSpPr>
            <p:nvPr/>
          </p:nvSpPr>
          <p:spPr bwMode="auto">
            <a:xfrm>
              <a:off x="864" y="1440"/>
              <a:ext cx="0" cy="672"/>
            </a:xfrm>
            <a:prstGeom prst="line">
              <a:avLst/>
            </a:prstGeom>
            <a:noFill/>
            <a:ln w="57150">
              <a:solidFill>
                <a:srgbClr val="FFFF00"/>
              </a:solidFill>
              <a:round/>
              <a:headEnd/>
              <a:tailEnd/>
            </a:ln>
            <a:effectLst/>
          </p:spPr>
          <p:txBody>
            <a:bodyPr/>
            <a:lstStyle/>
            <a:p>
              <a:endParaRPr lang="en-US"/>
            </a:p>
          </p:txBody>
        </p:sp>
        <p:sp>
          <p:nvSpPr>
            <p:cNvPr id="280614" name="Line 38"/>
            <p:cNvSpPr>
              <a:spLocks noChangeShapeType="1"/>
            </p:cNvSpPr>
            <p:nvPr/>
          </p:nvSpPr>
          <p:spPr bwMode="auto">
            <a:xfrm>
              <a:off x="864" y="2112"/>
              <a:ext cx="960" cy="0"/>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56"/>
          <p:cNvGrpSpPr>
            <a:grpSpLocks/>
          </p:cNvGrpSpPr>
          <p:nvPr/>
        </p:nvGrpSpPr>
        <p:grpSpPr bwMode="auto">
          <a:xfrm>
            <a:off x="76200" y="5318125"/>
            <a:ext cx="3657600" cy="930275"/>
            <a:chOff x="48" y="3552"/>
            <a:chExt cx="2304" cy="586"/>
          </a:xfrm>
        </p:grpSpPr>
        <p:sp>
          <p:nvSpPr>
            <p:cNvPr id="280617" name="Text Box 41"/>
            <p:cNvSpPr txBox="1">
              <a:spLocks noChangeArrowheads="1"/>
            </p:cNvSpPr>
            <p:nvPr/>
          </p:nvSpPr>
          <p:spPr bwMode="auto">
            <a:xfrm>
              <a:off x="912" y="3552"/>
              <a:ext cx="1440" cy="250"/>
            </a:xfrm>
            <a:prstGeom prst="rect">
              <a:avLst/>
            </a:prstGeom>
            <a:noFill/>
            <a:ln w="9525">
              <a:noFill/>
              <a:miter lim="800000"/>
              <a:headEnd/>
              <a:tailEnd/>
            </a:ln>
            <a:effectLst/>
          </p:spPr>
          <p:txBody>
            <a:bodyPr>
              <a:spAutoFit/>
            </a:bodyPr>
            <a:lstStyle/>
            <a:p>
              <a:pPr>
                <a:spcBef>
                  <a:spcPct val="50000"/>
                </a:spcBef>
              </a:pPr>
              <a:r>
                <a:rPr lang="en-US" sz="2000" b="1">
                  <a:solidFill>
                    <a:srgbClr val="FFFF00"/>
                  </a:solidFill>
                  <a:latin typeface="Arial" charset="0"/>
                  <a:cs typeface="Arial" charset="0"/>
                </a:rPr>
                <a:t>Development</a:t>
              </a:r>
            </a:p>
          </p:txBody>
        </p:sp>
        <p:grpSp>
          <p:nvGrpSpPr>
            <p:cNvPr id="5" name="Group 55"/>
            <p:cNvGrpSpPr>
              <a:grpSpLocks/>
            </p:cNvGrpSpPr>
            <p:nvPr/>
          </p:nvGrpSpPr>
          <p:grpSpPr bwMode="auto">
            <a:xfrm>
              <a:off x="48" y="3696"/>
              <a:ext cx="2304" cy="442"/>
              <a:chOff x="48" y="3696"/>
              <a:chExt cx="2304" cy="442"/>
            </a:xfrm>
          </p:grpSpPr>
          <p:sp>
            <p:nvSpPr>
              <p:cNvPr id="280615" name="Line 39"/>
              <p:cNvSpPr>
                <a:spLocks noChangeShapeType="1"/>
              </p:cNvSpPr>
              <p:nvPr/>
            </p:nvSpPr>
            <p:spPr bwMode="auto">
              <a:xfrm>
                <a:off x="48" y="3984"/>
                <a:ext cx="816" cy="0"/>
              </a:xfrm>
              <a:prstGeom prst="line">
                <a:avLst/>
              </a:prstGeom>
              <a:noFill/>
              <a:ln w="57150">
                <a:solidFill>
                  <a:srgbClr val="FFFF00"/>
                </a:solidFill>
                <a:prstDash val="dash"/>
                <a:round/>
                <a:headEnd/>
                <a:tailEnd type="triangle" w="med" len="med"/>
              </a:ln>
              <a:effectLst/>
            </p:spPr>
            <p:txBody>
              <a:bodyPr/>
              <a:lstStyle/>
              <a:p>
                <a:endParaRPr lang="en-US"/>
              </a:p>
            </p:txBody>
          </p:sp>
          <p:sp>
            <p:nvSpPr>
              <p:cNvPr id="280616" name="Line 40"/>
              <p:cNvSpPr>
                <a:spLocks noChangeShapeType="1"/>
              </p:cNvSpPr>
              <p:nvPr/>
            </p:nvSpPr>
            <p:spPr bwMode="auto">
              <a:xfrm>
                <a:off x="48" y="3696"/>
                <a:ext cx="816" cy="0"/>
              </a:xfrm>
              <a:prstGeom prst="line">
                <a:avLst/>
              </a:prstGeom>
              <a:noFill/>
              <a:ln w="57150">
                <a:solidFill>
                  <a:srgbClr val="FFFF00"/>
                </a:solidFill>
                <a:round/>
                <a:headEnd/>
                <a:tailEnd type="triangle" w="med" len="med"/>
              </a:ln>
              <a:effectLst/>
            </p:spPr>
            <p:txBody>
              <a:bodyPr/>
              <a:lstStyle/>
              <a:p>
                <a:endParaRPr lang="en-US"/>
              </a:p>
            </p:txBody>
          </p:sp>
          <p:sp>
            <p:nvSpPr>
              <p:cNvPr id="280618" name="Text Box 42"/>
              <p:cNvSpPr txBox="1">
                <a:spLocks noChangeArrowheads="1"/>
              </p:cNvSpPr>
              <p:nvPr/>
            </p:nvSpPr>
            <p:spPr bwMode="auto">
              <a:xfrm>
                <a:off x="912" y="3888"/>
                <a:ext cx="1440" cy="250"/>
              </a:xfrm>
              <a:prstGeom prst="rect">
                <a:avLst/>
              </a:prstGeom>
              <a:noFill/>
              <a:ln w="9525">
                <a:noFill/>
                <a:miter lim="800000"/>
                <a:headEnd/>
                <a:tailEnd/>
              </a:ln>
              <a:effectLst/>
            </p:spPr>
            <p:txBody>
              <a:bodyPr>
                <a:spAutoFit/>
              </a:bodyPr>
              <a:lstStyle/>
              <a:p>
                <a:pPr>
                  <a:spcBef>
                    <a:spcPct val="50000"/>
                  </a:spcBef>
                </a:pPr>
                <a:r>
                  <a:rPr lang="en-US" sz="2000" b="1">
                    <a:solidFill>
                      <a:srgbClr val="FFFF00"/>
                    </a:solidFill>
                    <a:latin typeface="Arial" charset="0"/>
                    <a:cs typeface="Arial" charset="0"/>
                  </a:rPr>
                  <a:t>Maintenance</a:t>
                </a:r>
              </a:p>
            </p:txBody>
          </p:sp>
        </p:grpSp>
      </p:grpSp>
      <p:sp>
        <p:nvSpPr>
          <p:cNvPr id="280619" name="Line 43"/>
          <p:cNvSpPr>
            <a:spLocks noChangeShapeType="1"/>
          </p:cNvSpPr>
          <p:nvPr/>
        </p:nvSpPr>
        <p:spPr bwMode="auto">
          <a:xfrm>
            <a:off x="6858000" y="5105400"/>
            <a:ext cx="0" cy="533400"/>
          </a:xfrm>
          <a:prstGeom prst="line">
            <a:avLst/>
          </a:prstGeom>
          <a:noFill/>
          <a:ln w="57150">
            <a:solidFill>
              <a:srgbClr val="FFFF00"/>
            </a:solidFill>
            <a:round/>
            <a:headEnd/>
            <a:tailEnd type="triangle" w="med" len="med"/>
          </a:ln>
          <a:effectLst/>
        </p:spPr>
        <p:txBody>
          <a:bodyPr/>
          <a:lstStyle/>
          <a:p>
            <a:endParaRPr lang="en-US"/>
          </a:p>
        </p:txBody>
      </p:sp>
      <p:grpSp>
        <p:nvGrpSpPr>
          <p:cNvPr id="6" name="Group 48"/>
          <p:cNvGrpSpPr>
            <a:grpSpLocks/>
          </p:cNvGrpSpPr>
          <p:nvPr/>
        </p:nvGrpSpPr>
        <p:grpSpPr bwMode="auto">
          <a:xfrm>
            <a:off x="5562600" y="2895600"/>
            <a:ext cx="1295400" cy="1371600"/>
            <a:chOff x="3504" y="1824"/>
            <a:chExt cx="816" cy="864"/>
          </a:xfrm>
        </p:grpSpPr>
        <p:sp>
          <p:nvSpPr>
            <p:cNvPr id="280622" name="Line 46"/>
            <p:cNvSpPr>
              <a:spLocks noChangeShapeType="1"/>
            </p:cNvSpPr>
            <p:nvPr/>
          </p:nvSpPr>
          <p:spPr bwMode="auto">
            <a:xfrm flipV="1">
              <a:off x="4320" y="1824"/>
              <a:ext cx="0" cy="864"/>
            </a:xfrm>
            <a:prstGeom prst="line">
              <a:avLst/>
            </a:prstGeom>
            <a:noFill/>
            <a:ln w="57150">
              <a:solidFill>
                <a:srgbClr val="FFFF00"/>
              </a:solidFill>
              <a:prstDash val="dash"/>
              <a:round/>
              <a:headEnd/>
              <a:tailEnd/>
            </a:ln>
            <a:effectLst/>
          </p:spPr>
          <p:txBody>
            <a:bodyPr/>
            <a:lstStyle/>
            <a:p>
              <a:endParaRPr lang="en-US"/>
            </a:p>
          </p:txBody>
        </p:sp>
        <p:sp>
          <p:nvSpPr>
            <p:cNvPr id="280623" name="Line 47"/>
            <p:cNvSpPr>
              <a:spLocks noChangeShapeType="1"/>
            </p:cNvSpPr>
            <p:nvPr/>
          </p:nvSpPr>
          <p:spPr bwMode="auto">
            <a:xfrm flipH="1">
              <a:off x="3504" y="1824"/>
              <a:ext cx="816" cy="0"/>
            </a:xfrm>
            <a:prstGeom prst="line">
              <a:avLst/>
            </a:prstGeom>
            <a:noFill/>
            <a:ln w="57150">
              <a:solidFill>
                <a:srgbClr val="FFFF00"/>
              </a:solidFill>
              <a:prstDash val="dash"/>
              <a:round/>
              <a:headEnd/>
              <a:tailEnd type="triangle" w="med" len="med"/>
            </a:ln>
            <a:effectLst/>
          </p:spPr>
          <p:txBody>
            <a:bodyPr/>
            <a:lstStyle/>
            <a:p>
              <a:endParaRPr lang="en-US"/>
            </a:p>
          </p:txBody>
        </p:sp>
      </p:grpSp>
      <p:grpSp>
        <p:nvGrpSpPr>
          <p:cNvPr id="7" name="Group 54"/>
          <p:cNvGrpSpPr>
            <a:grpSpLocks/>
          </p:cNvGrpSpPr>
          <p:nvPr/>
        </p:nvGrpSpPr>
        <p:grpSpPr bwMode="auto">
          <a:xfrm>
            <a:off x="4876800" y="3429000"/>
            <a:ext cx="1219200" cy="533400"/>
            <a:chOff x="3072" y="2160"/>
            <a:chExt cx="768" cy="336"/>
          </a:xfrm>
        </p:grpSpPr>
        <p:sp>
          <p:nvSpPr>
            <p:cNvPr id="280625" name="Line 49"/>
            <p:cNvSpPr>
              <a:spLocks noChangeShapeType="1"/>
            </p:cNvSpPr>
            <p:nvPr/>
          </p:nvSpPr>
          <p:spPr bwMode="auto">
            <a:xfrm>
              <a:off x="3072" y="2304"/>
              <a:ext cx="0" cy="192"/>
            </a:xfrm>
            <a:prstGeom prst="line">
              <a:avLst/>
            </a:prstGeom>
            <a:noFill/>
            <a:ln w="57150">
              <a:solidFill>
                <a:srgbClr val="FFFF00"/>
              </a:solidFill>
              <a:round/>
              <a:headEnd/>
              <a:tailEnd/>
            </a:ln>
            <a:effectLst/>
          </p:spPr>
          <p:txBody>
            <a:bodyPr/>
            <a:lstStyle/>
            <a:p>
              <a:endParaRPr lang="en-US"/>
            </a:p>
          </p:txBody>
        </p:sp>
        <p:sp>
          <p:nvSpPr>
            <p:cNvPr id="280626" name="Line 50"/>
            <p:cNvSpPr>
              <a:spLocks noChangeShapeType="1"/>
            </p:cNvSpPr>
            <p:nvPr/>
          </p:nvSpPr>
          <p:spPr bwMode="auto">
            <a:xfrm>
              <a:off x="3072" y="2496"/>
              <a:ext cx="768" cy="0"/>
            </a:xfrm>
            <a:prstGeom prst="line">
              <a:avLst/>
            </a:prstGeom>
            <a:noFill/>
            <a:ln w="57150">
              <a:solidFill>
                <a:srgbClr val="FFFF00"/>
              </a:solidFill>
              <a:round/>
              <a:headEnd/>
              <a:tailEnd/>
            </a:ln>
            <a:effectLst/>
          </p:spPr>
          <p:txBody>
            <a:bodyPr/>
            <a:lstStyle/>
            <a:p>
              <a:endParaRPr lang="en-US"/>
            </a:p>
          </p:txBody>
        </p:sp>
        <p:sp>
          <p:nvSpPr>
            <p:cNvPr id="280627" name="Line 51"/>
            <p:cNvSpPr>
              <a:spLocks noChangeShapeType="1"/>
            </p:cNvSpPr>
            <p:nvPr/>
          </p:nvSpPr>
          <p:spPr bwMode="auto">
            <a:xfrm flipV="1">
              <a:off x="3840" y="2160"/>
              <a:ext cx="0" cy="336"/>
            </a:xfrm>
            <a:prstGeom prst="line">
              <a:avLst/>
            </a:prstGeom>
            <a:noFill/>
            <a:ln w="57150">
              <a:solidFill>
                <a:srgbClr val="FFFF00"/>
              </a:solidFill>
              <a:round/>
              <a:headEnd/>
              <a:tailEnd/>
            </a:ln>
            <a:effectLst/>
          </p:spPr>
          <p:txBody>
            <a:bodyPr/>
            <a:lstStyle/>
            <a:p>
              <a:endParaRPr lang="en-US"/>
            </a:p>
          </p:txBody>
        </p:sp>
        <p:sp>
          <p:nvSpPr>
            <p:cNvPr id="280629" name="Line 53"/>
            <p:cNvSpPr>
              <a:spLocks noChangeShapeType="1"/>
            </p:cNvSpPr>
            <p:nvPr/>
          </p:nvSpPr>
          <p:spPr bwMode="auto">
            <a:xfrm flipH="1">
              <a:off x="3504" y="2160"/>
              <a:ext cx="336" cy="0"/>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5075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and Fix Model</a:t>
            </a:r>
          </a:p>
        </p:txBody>
      </p:sp>
      <p:sp>
        <p:nvSpPr>
          <p:cNvPr id="3" name="Content Placeholder 2"/>
          <p:cNvSpPr>
            <a:spLocks noGrp="1"/>
          </p:cNvSpPr>
          <p:nvPr>
            <p:ph idx="1"/>
          </p:nvPr>
        </p:nvSpPr>
        <p:spPr/>
        <p:txBody>
          <a:bodyPr>
            <a:normAutofit lnSpcReduction="10000"/>
          </a:bodyPr>
          <a:lstStyle/>
          <a:p>
            <a:pPr marL="224325" indent="-224325">
              <a:buFont typeface="Arial" pitchFamily="34" charset="0"/>
              <a:buChar char="•"/>
            </a:pPr>
            <a:r>
              <a:rPr lang="en-US" dirty="0"/>
              <a:t>It is unfortunate that many products are developed using what is known as the build-and-fix model.</a:t>
            </a:r>
          </a:p>
          <a:p>
            <a:pPr marL="224325" indent="-224325">
              <a:buFont typeface="Arial" pitchFamily="34" charset="0"/>
              <a:buChar char="•"/>
            </a:pPr>
            <a:r>
              <a:rPr lang="en-US" dirty="0"/>
              <a:t>The product is constructed without specification or any attempt at design.</a:t>
            </a:r>
          </a:p>
          <a:p>
            <a:pPr marL="224325" indent="-224325">
              <a:buFont typeface="Arial" pitchFamily="34" charset="0"/>
              <a:buChar char="•"/>
            </a:pPr>
            <a:r>
              <a:rPr lang="en-US" dirty="0"/>
              <a:t>The developers simply build a product that is reworked as many times as necessary to satisfy the client.</a:t>
            </a:r>
          </a:p>
          <a:p>
            <a:pPr marL="224325" indent="-224325">
              <a:buFont typeface="Arial" pitchFamily="34" charset="0"/>
              <a:buChar char="•"/>
            </a:pPr>
            <a:r>
              <a:rPr lang="en-US" dirty="0"/>
              <a:t>May work for small projects but is totally unsatisfactory for products of any reasonable size.</a:t>
            </a:r>
          </a:p>
          <a:p>
            <a:pPr marL="224325" indent="-224325">
              <a:buFont typeface="Arial" pitchFamily="34" charset="0"/>
              <a:buChar char="•"/>
            </a:pPr>
            <a:r>
              <a:rPr lang="en-US" dirty="0"/>
              <a:t>The cost of build-and fix is actually far greater than the cost of properly specified and carefully designed product.</a:t>
            </a:r>
          </a:p>
          <a:p>
            <a:pPr marL="224325" indent="-224325">
              <a:buFont typeface="Arial" pitchFamily="34" charset="0"/>
              <a:buChar char="•"/>
            </a:pPr>
            <a:r>
              <a:rPr lang="en-US" dirty="0"/>
              <a:t>Maintenance of the product can be extremely in the absence of any documentation.</a:t>
            </a:r>
          </a:p>
          <a:p>
            <a:pPr>
              <a:buFont typeface="Arial" pitchFamily="34" charset="0"/>
              <a:buChar char="•"/>
            </a:pPr>
            <a:endParaRPr lang="en-US" dirty="0"/>
          </a:p>
        </p:txBody>
      </p:sp>
    </p:spTree>
    <p:extLst>
      <p:ext uri="{BB962C8B-B14F-4D97-AF65-F5344CB8AC3E}">
        <p14:creationId xmlns:p14="http://schemas.microsoft.com/office/powerpoint/2010/main" val="2638074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4953000" y="838200"/>
            <a:ext cx="4191000" cy="808038"/>
          </a:xfrm>
          <a:noFill/>
          <a:ln/>
        </p:spPr>
        <p:txBody>
          <a:bodyPr>
            <a:normAutofit fontScale="90000"/>
          </a:bodyPr>
          <a:lstStyle/>
          <a:p>
            <a:r>
              <a:rPr lang="en-US" sz="3600" b="0" dirty="0"/>
              <a:t>Waterfall Model (Traditional)</a:t>
            </a:r>
          </a:p>
        </p:txBody>
      </p:sp>
      <p:sp>
        <p:nvSpPr>
          <p:cNvPr id="233475" name="Rectangle 3"/>
          <p:cNvSpPr>
            <a:spLocks noChangeArrowheads="1"/>
          </p:cNvSpPr>
          <p:nvPr/>
        </p:nvSpPr>
        <p:spPr bwMode="auto">
          <a:xfrm>
            <a:off x="381000" y="685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33476" name="Rectangle 4"/>
          <p:cNvSpPr>
            <a:spLocks noChangeArrowheads="1"/>
          </p:cNvSpPr>
          <p:nvPr/>
        </p:nvSpPr>
        <p:spPr bwMode="auto">
          <a:xfrm>
            <a:off x="1676400" y="19050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33477" name="Rectangle 5"/>
          <p:cNvSpPr>
            <a:spLocks noChangeArrowheads="1"/>
          </p:cNvSpPr>
          <p:nvPr/>
        </p:nvSpPr>
        <p:spPr bwMode="auto">
          <a:xfrm>
            <a:off x="2971800" y="32004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33478" name="Rectangle 6"/>
          <p:cNvSpPr>
            <a:spLocks noChangeArrowheads="1"/>
          </p:cNvSpPr>
          <p:nvPr/>
        </p:nvSpPr>
        <p:spPr bwMode="auto">
          <a:xfrm>
            <a:off x="4419600" y="44196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33479" name="Rectangle 7"/>
          <p:cNvSpPr>
            <a:spLocks noChangeArrowheads="1"/>
          </p:cNvSpPr>
          <p:nvPr/>
        </p:nvSpPr>
        <p:spPr bwMode="auto">
          <a:xfrm>
            <a:off x="5867400" y="5638800"/>
            <a:ext cx="25146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2971800" y="1066800"/>
            <a:ext cx="533400" cy="838200"/>
            <a:chOff x="1872" y="672"/>
            <a:chExt cx="336" cy="576"/>
          </a:xfrm>
        </p:grpSpPr>
        <p:sp>
          <p:nvSpPr>
            <p:cNvPr id="233481"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2"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343400" y="2362200"/>
            <a:ext cx="533400" cy="838200"/>
            <a:chOff x="1872" y="672"/>
            <a:chExt cx="336" cy="576"/>
          </a:xfrm>
        </p:grpSpPr>
        <p:sp>
          <p:nvSpPr>
            <p:cNvPr id="233484"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5"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562600" y="3581400"/>
            <a:ext cx="533400" cy="838200"/>
            <a:chOff x="1872" y="672"/>
            <a:chExt cx="336" cy="576"/>
          </a:xfrm>
        </p:grpSpPr>
        <p:sp>
          <p:nvSpPr>
            <p:cNvPr id="233487"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8"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010400" y="4800600"/>
            <a:ext cx="533400" cy="838200"/>
            <a:chOff x="1872" y="672"/>
            <a:chExt cx="336" cy="576"/>
          </a:xfrm>
        </p:grpSpPr>
        <p:sp>
          <p:nvSpPr>
            <p:cNvPr id="233490"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91"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414569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(1)</a:t>
            </a:r>
          </a:p>
        </p:txBody>
      </p:sp>
      <p:sp>
        <p:nvSpPr>
          <p:cNvPr id="3" name="Content Placeholder 2"/>
          <p:cNvSpPr>
            <a:spLocks noGrp="1"/>
          </p:cNvSpPr>
          <p:nvPr>
            <p:ph idx="1"/>
          </p:nvPr>
        </p:nvSpPr>
        <p:spPr/>
        <p:txBody>
          <a:bodyPr>
            <a:normAutofit/>
          </a:bodyPr>
          <a:lstStyle/>
          <a:p>
            <a:pPr marL="224325" indent="-224325"/>
            <a:r>
              <a:rPr lang="en-US" dirty="0"/>
              <a:t>The first published model of the software development process was derived from other engineering processes. Because of the cascade from one phase to another, this model is known as the waterfall model. This model is also known as linear sequential model. The principal stages of the model map directly onto fundamental development activities. </a:t>
            </a:r>
          </a:p>
          <a:p>
            <a:pPr marL="224325" indent="-224325"/>
            <a:r>
              <a:rPr lang="en-US" dirty="0"/>
              <a:t>It suggests a systematic, sequential approach to software development that begins at the system level and progresses through the analysis, design, coding, testing, and maintenance. </a:t>
            </a:r>
          </a:p>
          <a:p>
            <a:pPr marL="224325" indent="-224325"/>
            <a:r>
              <a:rPr lang="en-US" dirty="0"/>
              <a:t>In the literature, people have identified from 5 to 8 stages of software development. </a:t>
            </a:r>
          </a:p>
          <a:p>
            <a:endParaRPr lang="en-US" dirty="0"/>
          </a:p>
        </p:txBody>
      </p:sp>
    </p:spTree>
    <p:extLst>
      <p:ext uri="{BB962C8B-B14F-4D97-AF65-F5344CB8AC3E}">
        <p14:creationId xmlns:p14="http://schemas.microsoft.com/office/powerpoint/2010/main" val="2055820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(2)</a:t>
            </a:r>
          </a:p>
        </p:txBody>
      </p:sp>
      <p:sp>
        <p:nvSpPr>
          <p:cNvPr id="3" name="Content Placeholder 2"/>
          <p:cNvSpPr>
            <a:spLocks noGrp="1"/>
          </p:cNvSpPr>
          <p:nvPr>
            <p:ph idx="1"/>
          </p:nvPr>
        </p:nvSpPr>
        <p:spPr/>
        <p:txBody>
          <a:bodyPr>
            <a:normAutofit/>
          </a:bodyPr>
          <a:lstStyle/>
          <a:p>
            <a:pPr marL="224325" indent="-224325"/>
            <a:r>
              <a:rPr lang="en-US" dirty="0"/>
              <a:t>The five stages above are as follows:</a:t>
            </a:r>
          </a:p>
          <a:p>
            <a:pPr marL="224325" indent="-224325">
              <a:buFontTx/>
              <a:buAutoNum type="arabicPeriod"/>
            </a:pPr>
            <a:r>
              <a:rPr lang="en-US" b="1" dirty="0"/>
              <a:t>Requirement Analysis and Definition: </a:t>
            </a:r>
            <a:r>
              <a:rPr lang="en-US" dirty="0"/>
              <a:t>What - The systems services, constraints and goals are established by consultation with system users. They are then defined in detail and serve as a system specification.</a:t>
            </a:r>
          </a:p>
          <a:p>
            <a:pPr marL="224325" indent="-224325">
              <a:buFontTx/>
              <a:buAutoNum type="arabicPeriod"/>
            </a:pPr>
            <a:r>
              <a:rPr lang="en-US" b="1" dirty="0"/>
              <a:t>System and Software Design:</a:t>
            </a:r>
            <a:r>
              <a:rPr lang="en-US" dirty="0"/>
              <a:t> How – The system design process partitions the requirements to either hardware of software systems. It establishes and overall system architecture. Software design involves fundamental system abstractions and their relationships.</a:t>
            </a:r>
          </a:p>
          <a:p>
            <a:pPr marL="224325" indent="-224325">
              <a:buFontTx/>
              <a:buAutoNum type="arabicPeriod"/>
            </a:pPr>
            <a:r>
              <a:rPr lang="en-US" b="1" dirty="0"/>
              <a:t>Implementation and Unit Testing:</a:t>
            </a:r>
            <a:r>
              <a:rPr lang="en-US" dirty="0"/>
              <a:t> - How – During this stage the software design is realized as a set of programs or program units. Unit testing involves verifying that each unit meets its specifications.</a:t>
            </a:r>
          </a:p>
          <a:p>
            <a:endParaRPr lang="en-US" dirty="0"/>
          </a:p>
        </p:txBody>
      </p:sp>
    </p:spTree>
    <p:extLst>
      <p:ext uri="{BB962C8B-B14F-4D97-AF65-F5344CB8AC3E}">
        <p14:creationId xmlns:p14="http://schemas.microsoft.com/office/powerpoint/2010/main" val="1611730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(3)</a:t>
            </a:r>
          </a:p>
        </p:txBody>
      </p:sp>
      <p:sp>
        <p:nvSpPr>
          <p:cNvPr id="3" name="Content Placeholder 2"/>
          <p:cNvSpPr>
            <a:spLocks noGrp="1"/>
          </p:cNvSpPr>
          <p:nvPr>
            <p:ph idx="1"/>
          </p:nvPr>
        </p:nvSpPr>
        <p:spPr/>
        <p:txBody>
          <a:bodyPr>
            <a:normAutofit fontScale="92500" lnSpcReduction="20000"/>
          </a:bodyPr>
          <a:lstStyle/>
          <a:p>
            <a:pPr marL="224325" indent="-224325">
              <a:buFontTx/>
              <a:buAutoNum type="arabicPeriod"/>
            </a:pPr>
            <a:r>
              <a:rPr lang="en-US" b="1" dirty="0"/>
              <a:t>Integration and system testing: </a:t>
            </a:r>
            <a:r>
              <a:rPr lang="en-US" dirty="0"/>
              <a:t>The individual program unit or programs are integrated and tested as a complete system to ensure that the software requirements have been met. After testing, the software system is delivered to the customer.</a:t>
            </a:r>
          </a:p>
          <a:p>
            <a:pPr marL="224325" indent="-224325">
              <a:buFontTx/>
              <a:buAutoNum type="arabicPeriod"/>
            </a:pPr>
            <a:r>
              <a:rPr lang="en-US" b="1" dirty="0"/>
              <a:t>Operation and Maintenance:</a:t>
            </a:r>
            <a:r>
              <a:rPr lang="en-US" dirty="0"/>
              <a:t> Normally this is the longest phase of the software life cycle. The system is installed and put into practical use. Maintenance involves correcting errors which were not discovered in earlier stages of the life-cycle, improving the implementation of system units and enhancing the system’s services as new requirements are discovered.</a:t>
            </a:r>
          </a:p>
          <a:p>
            <a:pPr marL="224325" indent="-224325">
              <a:buFontTx/>
              <a:buAutoNum type="arabicPeriod"/>
            </a:pPr>
            <a:endParaRPr lang="en-US" dirty="0"/>
          </a:p>
          <a:p>
            <a:pPr marL="224325" indent="-224325" algn="ctr">
              <a:buNone/>
            </a:pPr>
            <a:r>
              <a:rPr lang="en-US" i="1" dirty="0"/>
              <a:t>In principle, the result of each phase is one or more documents which are approved. No phase is complete until the documentation for that phase has been completed and products of that phase have been approved. The following phase should not start until the previous phase has finished.  </a:t>
            </a:r>
          </a:p>
          <a:p>
            <a:endParaRPr lang="en-US" dirty="0"/>
          </a:p>
        </p:txBody>
      </p:sp>
    </p:spTree>
    <p:extLst>
      <p:ext uri="{BB962C8B-B14F-4D97-AF65-F5344CB8AC3E}">
        <p14:creationId xmlns:p14="http://schemas.microsoft.com/office/powerpoint/2010/main" val="3373627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4953000" y="838200"/>
            <a:ext cx="4191000" cy="808038"/>
          </a:xfrm>
          <a:noFill/>
          <a:ln/>
        </p:spPr>
        <p:txBody>
          <a:bodyPr>
            <a:normAutofit fontScale="90000"/>
          </a:bodyPr>
          <a:lstStyle/>
          <a:p>
            <a:r>
              <a:rPr lang="en-US" sz="3600" b="0" dirty="0"/>
              <a:t>Waterfall Model (Modified)</a:t>
            </a:r>
          </a:p>
        </p:txBody>
      </p:sp>
      <p:sp>
        <p:nvSpPr>
          <p:cNvPr id="235523" name="Rectangle 3"/>
          <p:cNvSpPr>
            <a:spLocks noChangeArrowheads="1"/>
          </p:cNvSpPr>
          <p:nvPr/>
        </p:nvSpPr>
        <p:spPr bwMode="auto">
          <a:xfrm>
            <a:off x="381000" y="685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35524" name="Rectangle 4"/>
          <p:cNvSpPr>
            <a:spLocks noChangeArrowheads="1"/>
          </p:cNvSpPr>
          <p:nvPr/>
        </p:nvSpPr>
        <p:spPr bwMode="auto">
          <a:xfrm>
            <a:off x="1676400" y="19050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35525" name="Rectangle 5"/>
          <p:cNvSpPr>
            <a:spLocks noChangeArrowheads="1"/>
          </p:cNvSpPr>
          <p:nvPr/>
        </p:nvSpPr>
        <p:spPr bwMode="auto">
          <a:xfrm>
            <a:off x="2971800" y="32004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35526" name="Rectangle 6"/>
          <p:cNvSpPr>
            <a:spLocks noChangeArrowheads="1"/>
          </p:cNvSpPr>
          <p:nvPr/>
        </p:nvSpPr>
        <p:spPr bwMode="auto">
          <a:xfrm>
            <a:off x="4419600" y="44196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35527" name="Rectangle 7"/>
          <p:cNvSpPr>
            <a:spLocks noChangeArrowheads="1"/>
          </p:cNvSpPr>
          <p:nvPr/>
        </p:nvSpPr>
        <p:spPr bwMode="auto">
          <a:xfrm>
            <a:off x="5867400" y="5638800"/>
            <a:ext cx="25146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2971800" y="1066800"/>
            <a:ext cx="533400" cy="838200"/>
            <a:chOff x="1872" y="672"/>
            <a:chExt cx="336" cy="576"/>
          </a:xfrm>
        </p:grpSpPr>
        <p:sp>
          <p:nvSpPr>
            <p:cNvPr id="235529"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0"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343400" y="2362200"/>
            <a:ext cx="533400" cy="838200"/>
            <a:chOff x="1872" y="672"/>
            <a:chExt cx="336" cy="576"/>
          </a:xfrm>
        </p:grpSpPr>
        <p:sp>
          <p:nvSpPr>
            <p:cNvPr id="235532"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3"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562600" y="3581400"/>
            <a:ext cx="533400" cy="838200"/>
            <a:chOff x="1872" y="672"/>
            <a:chExt cx="336" cy="576"/>
          </a:xfrm>
        </p:grpSpPr>
        <p:sp>
          <p:nvSpPr>
            <p:cNvPr id="235535"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6"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010400" y="4800600"/>
            <a:ext cx="533400" cy="838200"/>
            <a:chOff x="1872" y="672"/>
            <a:chExt cx="336" cy="576"/>
          </a:xfrm>
        </p:grpSpPr>
        <p:sp>
          <p:nvSpPr>
            <p:cNvPr id="235538"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9"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6" name="Group 20"/>
          <p:cNvGrpSpPr>
            <a:grpSpLocks/>
          </p:cNvGrpSpPr>
          <p:nvPr/>
        </p:nvGrpSpPr>
        <p:grpSpPr bwMode="auto">
          <a:xfrm flipH="1" flipV="1">
            <a:off x="1143000" y="1524000"/>
            <a:ext cx="533400" cy="838200"/>
            <a:chOff x="1872" y="672"/>
            <a:chExt cx="336" cy="576"/>
          </a:xfrm>
        </p:grpSpPr>
        <p:sp>
          <p:nvSpPr>
            <p:cNvPr id="235541" name="Line 21"/>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2" name="Line 22"/>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7" name="Group 23"/>
          <p:cNvGrpSpPr>
            <a:grpSpLocks/>
          </p:cNvGrpSpPr>
          <p:nvPr/>
        </p:nvGrpSpPr>
        <p:grpSpPr bwMode="auto">
          <a:xfrm flipH="1" flipV="1">
            <a:off x="2438400" y="2743200"/>
            <a:ext cx="533400" cy="838200"/>
            <a:chOff x="1872" y="672"/>
            <a:chExt cx="336" cy="576"/>
          </a:xfrm>
        </p:grpSpPr>
        <p:sp>
          <p:nvSpPr>
            <p:cNvPr id="235544" name="Line 24"/>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5" name="Line 25"/>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8" name="Group 26"/>
          <p:cNvGrpSpPr>
            <a:grpSpLocks/>
          </p:cNvGrpSpPr>
          <p:nvPr/>
        </p:nvGrpSpPr>
        <p:grpSpPr bwMode="auto">
          <a:xfrm flipH="1" flipV="1">
            <a:off x="3886200" y="4038600"/>
            <a:ext cx="533400" cy="838200"/>
            <a:chOff x="1872" y="672"/>
            <a:chExt cx="336" cy="576"/>
          </a:xfrm>
        </p:grpSpPr>
        <p:sp>
          <p:nvSpPr>
            <p:cNvPr id="235547" name="Line 27"/>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8" name="Line 28"/>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9" name="Group 29"/>
          <p:cNvGrpSpPr>
            <a:grpSpLocks/>
          </p:cNvGrpSpPr>
          <p:nvPr/>
        </p:nvGrpSpPr>
        <p:grpSpPr bwMode="auto">
          <a:xfrm flipH="1" flipV="1">
            <a:off x="5334000" y="5257800"/>
            <a:ext cx="533400" cy="838200"/>
            <a:chOff x="1872" y="672"/>
            <a:chExt cx="336" cy="576"/>
          </a:xfrm>
        </p:grpSpPr>
        <p:sp>
          <p:nvSpPr>
            <p:cNvPr id="235550" name="Line 30"/>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51" name="Line 31"/>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3892610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4419600" y="838200"/>
            <a:ext cx="4724400" cy="808038"/>
          </a:xfrm>
          <a:noFill/>
          <a:ln/>
        </p:spPr>
        <p:txBody>
          <a:bodyPr>
            <a:normAutofit/>
          </a:bodyPr>
          <a:lstStyle/>
          <a:p>
            <a:r>
              <a:rPr lang="en-US" sz="3600" b="0" dirty="0"/>
              <a:t>Rapid Prototyping Model</a:t>
            </a:r>
          </a:p>
        </p:txBody>
      </p:sp>
      <p:sp>
        <p:nvSpPr>
          <p:cNvPr id="278531" name="Rectangle 3"/>
          <p:cNvSpPr>
            <a:spLocks noChangeArrowheads="1"/>
          </p:cNvSpPr>
          <p:nvPr/>
        </p:nvSpPr>
        <p:spPr bwMode="auto">
          <a:xfrm>
            <a:off x="609600" y="1585913"/>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78532" name="Rectangle 4"/>
          <p:cNvSpPr>
            <a:spLocks noChangeArrowheads="1"/>
          </p:cNvSpPr>
          <p:nvPr/>
        </p:nvSpPr>
        <p:spPr bwMode="auto">
          <a:xfrm>
            <a:off x="1905000" y="2647950"/>
            <a:ext cx="2667000" cy="7286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78533" name="Rectangle 5"/>
          <p:cNvSpPr>
            <a:spLocks noChangeArrowheads="1"/>
          </p:cNvSpPr>
          <p:nvPr/>
        </p:nvSpPr>
        <p:spPr bwMode="auto">
          <a:xfrm>
            <a:off x="3200400" y="3775075"/>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78534" name="Rectangle 6"/>
          <p:cNvSpPr>
            <a:spLocks noChangeArrowheads="1"/>
          </p:cNvSpPr>
          <p:nvPr/>
        </p:nvSpPr>
        <p:spPr bwMode="auto">
          <a:xfrm>
            <a:off x="4648200" y="4837113"/>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78535" name="Rectangle 7"/>
          <p:cNvSpPr>
            <a:spLocks noChangeArrowheads="1"/>
          </p:cNvSpPr>
          <p:nvPr/>
        </p:nvSpPr>
        <p:spPr bwMode="auto">
          <a:xfrm>
            <a:off x="6096000" y="5899150"/>
            <a:ext cx="25146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3200400" y="1917700"/>
            <a:ext cx="533400" cy="730250"/>
            <a:chOff x="1872" y="672"/>
            <a:chExt cx="336" cy="576"/>
          </a:xfrm>
        </p:grpSpPr>
        <p:sp>
          <p:nvSpPr>
            <p:cNvPr id="278537"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38"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572000" y="3044825"/>
            <a:ext cx="533400" cy="730250"/>
            <a:chOff x="1872" y="672"/>
            <a:chExt cx="336" cy="576"/>
          </a:xfrm>
        </p:grpSpPr>
        <p:sp>
          <p:nvSpPr>
            <p:cNvPr id="278540"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1"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791200" y="4106863"/>
            <a:ext cx="533400" cy="730250"/>
            <a:chOff x="1872" y="672"/>
            <a:chExt cx="336" cy="576"/>
          </a:xfrm>
        </p:grpSpPr>
        <p:sp>
          <p:nvSpPr>
            <p:cNvPr id="278543"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4"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239000" y="5168900"/>
            <a:ext cx="533400" cy="730250"/>
            <a:chOff x="1872" y="672"/>
            <a:chExt cx="336" cy="576"/>
          </a:xfrm>
        </p:grpSpPr>
        <p:sp>
          <p:nvSpPr>
            <p:cNvPr id="278546"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7"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6" name="Group 20"/>
          <p:cNvGrpSpPr>
            <a:grpSpLocks/>
          </p:cNvGrpSpPr>
          <p:nvPr/>
        </p:nvGrpSpPr>
        <p:grpSpPr bwMode="auto">
          <a:xfrm flipH="1" flipV="1">
            <a:off x="1371600" y="2316163"/>
            <a:ext cx="533400" cy="728662"/>
            <a:chOff x="1872" y="672"/>
            <a:chExt cx="336" cy="576"/>
          </a:xfrm>
        </p:grpSpPr>
        <p:sp>
          <p:nvSpPr>
            <p:cNvPr id="278549" name="Line 21"/>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0" name="Line 22"/>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7" name="Group 23"/>
          <p:cNvGrpSpPr>
            <a:grpSpLocks/>
          </p:cNvGrpSpPr>
          <p:nvPr/>
        </p:nvGrpSpPr>
        <p:grpSpPr bwMode="auto">
          <a:xfrm flipH="1" flipV="1">
            <a:off x="2667000" y="3376613"/>
            <a:ext cx="533400" cy="730250"/>
            <a:chOff x="1872" y="672"/>
            <a:chExt cx="336" cy="576"/>
          </a:xfrm>
        </p:grpSpPr>
        <p:sp>
          <p:nvSpPr>
            <p:cNvPr id="278552" name="Line 24"/>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3" name="Line 25"/>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8" name="Group 26"/>
          <p:cNvGrpSpPr>
            <a:grpSpLocks/>
          </p:cNvGrpSpPr>
          <p:nvPr/>
        </p:nvGrpSpPr>
        <p:grpSpPr bwMode="auto">
          <a:xfrm flipH="1" flipV="1">
            <a:off x="4114800" y="4505325"/>
            <a:ext cx="533400" cy="730250"/>
            <a:chOff x="1872" y="672"/>
            <a:chExt cx="336" cy="576"/>
          </a:xfrm>
        </p:grpSpPr>
        <p:sp>
          <p:nvSpPr>
            <p:cNvPr id="278555" name="Line 27"/>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6" name="Line 28"/>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9" name="Group 29"/>
          <p:cNvGrpSpPr>
            <a:grpSpLocks/>
          </p:cNvGrpSpPr>
          <p:nvPr/>
        </p:nvGrpSpPr>
        <p:grpSpPr bwMode="auto">
          <a:xfrm flipH="1" flipV="1">
            <a:off x="5562600" y="5567363"/>
            <a:ext cx="533400" cy="730250"/>
            <a:chOff x="1872" y="672"/>
            <a:chExt cx="336" cy="576"/>
          </a:xfrm>
        </p:grpSpPr>
        <p:sp>
          <p:nvSpPr>
            <p:cNvPr id="278558" name="Line 30"/>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9" name="Line 31"/>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
        <p:nvSpPr>
          <p:cNvPr id="278560" name="Rectangle 32"/>
          <p:cNvSpPr>
            <a:spLocks noChangeArrowheads="1"/>
          </p:cNvSpPr>
          <p:nvPr/>
        </p:nvSpPr>
        <p:spPr bwMode="auto">
          <a:xfrm>
            <a:off x="609600" y="457200"/>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Rapid </a:t>
            </a:r>
          </a:p>
          <a:p>
            <a:pPr algn="ctr" eaLnBrk="0" hangingPunct="0"/>
            <a:r>
              <a:rPr lang="en-US" b="1">
                <a:latin typeface="Arial" charset="0"/>
              </a:rPr>
              <a:t>Prototyping</a:t>
            </a:r>
          </a:p>
        </p:txBody>
      </p:sp>
      <p:sp>
        <p:nvSpPr>
          <p:cNvPr id="278561" name="Line 33"/>
          <p:cNvSpPr>
            <a:spLocks noChangeShapeType="1"/>
          </p:cNvSpPr>
          <p:nvPr/>
        </p:nvSpPr>
        <p:spPr bwMode="auto">
          <a:xfrm>
            <a:off x="1828800" y="1187450"/>
            <a:ext cx="0" cy="398463"/>
          </a:xfrm>
          <a:prstGeom prst="line">
            <a:avLst/>
          </a:prstGeom>
          <a:noFill/>
          <a:ln w="57150">
            <a:solidFill>
              <a:srgbClr val="FFFF00"/>
            </a:solidFill>
            <a:round/>
            <a:headEnd/>
            <a:tailEnd type="triangle" w="med" len="med"/>
          </a:ln>
          <a:effectLst/>
        </p:spPr>
        <p:txBody>
          <a:bodyPr/>
          <a:lstStyle/>
          <a:p>
            <a:endParaRPr lang="en-US"/>
          </a:p>
        </p:txBody>
      </p:sp>
    </p:spTree>
    <p:extLst>
      <p:ext uri="{BB962C8B-B14F-4D97-AF65-F5344CB8AC3E}">
        <p14:creationId xmlns:p14="http://schemas.microsoft.com/office/powerpoint/2010/main" val="3646213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Rapid Prototyping Model</a:t>
            </a:r>
          </a:p>
        </p:txBody>
      </p:sp>
      <p:sp>
        <p:nvSpPr>
          <p:cNvPr id="3" name="Content Placeholder 2"/>
          <p:cNvSpPr>
            <a:spLocks noGrp="1"/>
          </p:cNvSpPr>
          <p:nvPr>
            <p:ph idx="1"/>
          </p:nvPr>
        </p:nvSpPr>
        <p:spPr/>
        <p:txBody>
          <a:bodyPr>
            <a:normAutofit/>
          </a:bodyPr>
          <a:lstStyle/>
          <a:p>
            <a:pPr marL="224325" indent="-224325"/>
            <a:r>
              <a:rPr lang="en-US" dirty="0"/>
              <a:t>Real projects rarely follow the sequential flow that the model proposes. </a:t>
            </a:r>
          </a:p>
          <a:p>
            <a:pPr marL="224325" indent="-224325"/>
            <a:r>
              <a:rPr lang="en-US" dirty="0"/>
              <a:t>In general these phases overlap and feed information to each other. Hence there should be an element of iteration and feedback. </a:t>
            </a:r>
          </a:p>
          <a:p>
            <a:pPr marL="224325" indent="-224325"/>
            <a:r>
              <a:rPr lang="en-US" dirty="0"/>
              <a:t>A mistake caught any stage should be referred back to the source and all the subsequent stages need to be revisited and corresponding documents should be updated accordingly.</a:t>
            </a:r>
          </a:p>
          <a:p>
            <a:pPr marL="224325" indent="-224325"/>
            <a:r>
              <a:rPr lang="en-US" dirty="0"/>
              <a:t>Because of the costs of producing and approving documents, iterations are costly and require significant rework. </a:t>
            </a:r>
          </a:p>
          <a:p>
            <a:pPr marL="224325" indent="-224325"/>
            <a:endParaRPr lang="en-US" dirty="0"/>
          </a:p>
          <a:p>
            <a:pPr marL="224325" indent="-224325"/>
            <a:endParaRPr lang="en-US" dirty="0"/>
          </a:p>
          <a:p>
            <a:endParaRPr lang="en-US" dirty="0"/>
          </a:p>
        </p:txBody>
      </p:sp>
    </p:spTree>
    <p:extLst>
      <p:ext uri="{BB962C8B-B14F-4D97-AF65-F5344CB8AC3E}">
        <p14:creationId xmlns:p14="http://schemas.microsoft.com/office/powerpoint/2010/main" val="2328131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953000" y="4876800"/>
            <a:ext cx="1681163" cy="404813"/>
            <a:chOff x="3120" y="3110"/>
            <a:chExt cx="1059" cy="255"/>
          </a:xfrm>
        </p:grpSpPr>
        <p:sp>
          <p:nvSpPr>
            <p:cNvPr id="313347" name="Line 3"/>
            <p:cNvSpPr>
              <a:spLocks noChangeShapeType="1"/>
            </p:cNvSpPr>
            <p:nvPr/>
          </p:nvSpPr>
          <p:spPr bwMode="auto">
            <a:xfrm flipV="1">
              <a:off x="4169" y="3110"/>
              <a:ext cx="0" cy="255"/>
            </a:xfrm>
            <a:prstGeom prst="line">
              <a:avLst/>
            </a:prstGeom>
            <a:noFill/>
            <a:ln w="57150">
              <a:solidFill>
                <a:srgbClr val="FFFF00"/>
              </a:solidFill>
              <a:round/>
              <a:headEnd/>
              <a:tailEnd/>
            </a:ln>
            <a:effectLst/>
          </p:spPr>
          <p:txBody>
            <a:bodyPr/>
            <a:lstStyle/>
            <a:p>
              <a:endParaRPr lang="en-US"/>
            </a:p>
          </p:txBody>
        </p:sp>
        <p:sp>
          <p:nvSpPr>
            <p:cNvPr id="313348" name="Line 4"/>
            <p:cNvSpPr>
              <a:spLocks noChangeShapeType="1"/>
            </p:cNvSpPr>
            <p:nvPr/>
          </p:nvSpPr>
          <p:spPr bwMode="auto">
            <a:xfrm>
              <a:off x="3120" y="3216"/>
              <a:ext cx="0" cy="149"/>
            </a:xfrm>
            <a:prstGeom prst="line">
              <a:avLst/>
            </a:prstGeom>
            <a:noFill/>
            <a:ln w="57150">
              <a:solidFill>
                <a:srgbClr val="FFFF00"/>
              </a:solidFill>
              <a:round/>
              <a:headEnd/>
              <a:tailEnd/>
            </a:ln>
            <a:effectLst/>
          </p:spPr>
          <p:txBody>
            <a:bodyPr/>
            <a:lstStyle/>
            <a:p>
              <a:endParaRPr lang="en-US"/>
            </a:p>
          </p:txBody>
        </p:sp>
        <p:sp>
          <p:nvSpPr>
            <p:cNvPr id="313349" name="Line 5"/>
            <p:cNvSpPr>
              <a:spLocks noChangeShapeType="1"/>
            </p:cNvSpPr>
            <p:nvPr/>
          </p:nvSpPr>
          <p:spPr bwMode="auto">
            <a:xfrm>
              <a:off x="3120" y="3365"/>
              <a:ext cx="1049" cy="0"/>
            </a:xfrm>
            <a:prstGeom prst="line">
              <a:avLst/>
            </a:prstGeom>
            <a:noFill/>
            <a:ln w="57150">
              <a:solidFill>
                <a:srgbClr val="FFFF00"/>
              </a:solidFill>
              <a:round/>
              <a:headEnd/>
              <a:tailEnd/>
            </a:ln>
            <a:effectLst/>
          </p:spPr>
          <p:txBody>
            <a:bodyPr/>
            <a:lstStyle/>
            <a:p>
              <a:endParaRPr lang="en-US"/>
            </a:p>
          </p:txBody>
        </p:sp>
        <p:sp>
          <p:nvSpPr>
            <p:cNvPr id="313350" name="Line 6"/>
            <p:cNvSpPr>
              <a:spLocks noChangeShapeType="1"/>
            </p:cNvSpPr>
            <p:nvPr/>
          </p:nvSpPr>
          <p:spPr bwMode="auto">
            <a:xfrm flipH="1">
              <a:off x="3840" y="3110"/>
              <a:ext cx="339" cy="10"/>
            </a:xfrm>
            <a:prstGeom prst="line">
              <a:avLst/>
            </a:prstGeom>
            <a:noFill/>
            <a:ln w="57150">
              <a:solidFill>
                <a:srgbClr val="FFFF00"/>
              </a:solidFill>
              <a:round/>
              <a:headEnd/>
              <a:tailEnd type="triangle" w="med" len="med"/>
            </a:ln>
            <a:effectLst/>
          </p:spPr>
          <p:txBody>
            <a:bodyPr/>
            <a:lstStyle/>
            <a:p>
              <a:endParaRPr lang="en-US"/>
            </a:p>
          </p:txBody>
        </p:sp>
      </p:grpSp>
      <p:sp>
        <p:nvSpPr>
          <p:cNvPr id="313351" name="Rectangle 7"/>
          <p:cNvSpPr>
            <a:spLocks noGrp="1" noChangeArrowheads="1"/>
          </p:cNvSpPr>
          <p:nvPr>
            <p:ph type="title"/>
          </p:nvPr>
        </p:nvSpPr>
        <p:spPr>
          <a:xfrm>
            <a:off x="5181600" y="381000"/>
            <a:ext cx="3810000" cy="1752600"/>
          </a:xfrm>
          <a:noFill/>
          <a:ln/>
        </p:spPr>
        <p:txBody>
          <a:bodyPr/>
          <a:lstStyle/>
          <a:p>
            <a:r>
              <a:rPr lang="en-US" sz="3600" b="0"/>
              <a:t>Incremental Model</a:t>
            </a:r>
          </a:p>
        </p:txBody>
      </p:sp>
      <p:sp>
        <p:nvSpPr>
          <p:cNvPr id="313352" name="Rectangle 8"/>
          <p:cNvSpPr>
            <a:spLocks noChangeArrowheads="1"/>
          </p:cNvSpPr>
          <p:nvPr/>
        </p:nvSpPr>
        <p:spPr bwMode="auto">
          <a:xfrm>
            <a:off x="2438400" y="3848100"/>
            <a:ext cx="3657600" cy="1257300"/>
          </a:xfrm>
          <a:prstGeom prst="rect">
            <a:avLst/>
          </a:prstGeom>
          <a:solidFill>
            <a:schemeClr val="accent1"/>
          </a:solidFill>
          <a:ln w="9525">
            <a:solidFill>
              <a:schemeClr val="tx1"/>
            </a:solidFill>
            <a:miter lim="800000"/>
            <a:headEnd/>
            <a:tailEnd/>
          </a:ln>
          <a:effectLst/>
        </p:spPr>
        <p:txBody>
          <a:bodyPr wrap="none" anchor="ctr"/>
          <a:lstStyle/>
          <a:p>
            <a:pPr eaLnBrk="0" hangingPunct="0"/>
            <a:r>
              <a:rPr lang="en-US" sz="1600" b="1">
                <a:latin typeface="Arial" charset="0"/>
              </a:rPr>
              <a:t>For each build:</a:t>
            </a:r>
          </a:p>
          <a:p>
            <a:pPr lvl="1" eaLnBrk="0" hangingPunct="0"/>
            <a:r>
              <a:rPr lang="en-US" sz="1600" b="1">
                <a:latin typeface="Arial" charset="0"/>
              </a:rPr>
              <a:t>Perform detailed design, </a:t>
            </a:r>
            <a:br>
              <a:rPr lang="en-US" sz="1600" b="1">
                <a:latin typeface="Arial" charset="0"/>
              </a:rPr>
            </a:br>
            <a:r>
              <a:rPr lang="en-US" sz="1600" b="1">
                <a:latin typeface="Arial" charset="0"/>
              </a:rPr>
              <a:t>implementation and integration,</a:t>
            </a:r>
          </a:p>
          <a:p>
            <a:pPr lvl="1" eaLnBrk="0" hangingPunct="0"/>
            <a:r>
              <a:rPr lang="en-US" sz="1600" b="1">
                <a:latin typeface="Arial" charset="0"/>
              </a:rPr>
              <a:t>test, deliver to client</a:t>
            </a:r>
          </a:p>
        </p:txBody>
      </p:sp>
      <p:sp>
        <p:nvSpPr>
          <p:cNvPr id="313353" name="Rectangle 9"/>
          <p:cNvSpPr>
            <a:spLocks noChangeArrowheads="1"/>
          </p:cNvSpPr>
          <p:nvPr/>
        </p:nvSpPr>
        <p:spPr bwMode="auto">
          <a:xfrm>
            <a:off x="5737225" y="5457825"/>
            <a:ext cx="2873375" cy="4492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Maintenance phase</a:t>
            </a:r>
          </a:p>
        </p:txBody>
      </p:sp>
      <p:sp>
        <p:nvSpPr>
          <p:cNvPr id="313354" name="Line 10"/>
          <p:cNvSpPr>
            <a:spLocks noChangeShapeType="1"/>
          </p:cNvSpPr>
          <p:nvPr/>
        </p:nvSpPr>
        <p:spPr bwMode="auto">
          <a:xfrm>
            <a:off x="1752600" y="1533525"/>
            <a:ext cx="0" cy="257175"/>
          </a:xfrm>
          <a:prstGeom prst="line">
            <a:avLst/>
          </a:prstGeom>
          <a:noFill/>
          <a:ln w="57150">
            <a:solidFill>
              <a:srgbClr val="FFFF00"/>
            </a:solidFill>
            <a:round/>
            <a:headEnd/>
            <a:tailEnd type="triangle" w="med" len="med"/>
          </a:ln>
          <a:effectLst/>
        </p:spPr>
        <p:txBody>
          <a:bodyPr/>
          <a:lstStyle/>
          <a:p>
            <a:endParaRPr lang="en-US"/>
          </a:p>
        </p:txBody>
      </p:sp>
      <p:grpSp>
        <p:nvGrpSpPr>
          <p:cNvPr id="3" name="Group 11"/>
          <p:cNvGrpSpPr>
            <a:grpSpLocks/>
          </p:cNvGrpSpPr>
          <p:nvPr/>
        </p:nvGrpSpPr>
        <p:grpSpPr bwMode="auto">
          <a:xfrm>
            <a:off x="381000" y="762000"/>
            <a:ext cx="2873375" cy="771525"/>
            <a:chOff x="240" y="240"/>
            <a:chExt cx="2112" cy="576"/>
          </a:xfrm>
        </p:grpSpPr>
        <p:sp>
          <p:nvSpPr>
            <p:cNvPr id="313356" name="Rectangle 12"/>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Requirements phase</a:t>
              </a:r>
            </a:p>
            <a:p>
              <a:pPr algn="ctr" eaLnBrk="0" hangingPunct="0"/>
              <a:endParaRPr lang="en-US" sz="1600" b="1">
                <a:latin typeface="Arial" charset="0"/>
              </a:endParaRPr>
            </a:p>
            <a:p>
              <a:pPr algn="ctr" eaLnBrk="0" hangingPunct="0"/>
              <a:r>
                <a:rPr lang="en-US" sz="1600" b="1">
                  <a:latin typeface="Arial" charset="0"/>
                </a:rPr>
                <a:t>Verify</a:t>
              </a:r>
            </a:p>
          </p:txBody>
        </p:sp>
        <p:sp>
          <p:nvSpPr>
            <p:cNvPr id="313357" name="Line 13"/>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grpSp>
        <p:nvGrpSpPr>
          <p:cNvPr id="4" name="Group 14"/>
          <p:cNvGrpSpPr>
            <a:grpSpLocks/>
          </p:cNvGrpSpPr>
          <p:nvPr/>
        </p:nvGrpSpPr>
        <p:grpSpPr bwMode="auto">
          <a:xfrm>
            <a:off x="1033463" y="1790700"/>
            <a:ext cx="2874962" cy="773113"/>
            <a:chOff x="240" y="240"/>
            <a:chExt cx="2112" cy="576"/>
          </a:xfrm>
        </p:grpSpPr>
        <p:sp>
          <p:nvSpPr>
            <p:cNvPr id="313359" name="Rectangle 15"/>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Specification phase</a:t>
              </a:r>
            </a:p>
            <a:p>
              <a:pPr algn="ctr" eaLnBrk="0" hangingPunct="0"/>
              <a:endParaRPr lang="en-US" sz="1600" b="1">
                <a:latin typeface="Arial" charset="0"/>
              </a:endParaRPr>
            </a:p>
            <a:p>
              <a:pPr algn="ctr" eaLnBrk="0" hangingPunct="0"/>
              <a:r>
                <a:rPr lang="en-US" sz="1600" b="1">
                  <a:latin typeface="Arial" charset="0"/>
                </a:rPr>
                <a:t>Verify</a:t>
              </a:r>
            </a:p>
          </p:txBody>
        </p:sp>
        <p:sp>
          <p:nvSpPr>
            <p:cNvPr id="313360" name="Line 16"/>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grpSp>
        <p:nvGrpSpPr>
          <p:cNvPr id="5" name="Group 17"/>
          <p:cNvGrpSpPr>
            <a:grpSpLocks/>
          </p:cNvGrpSpPr>
          <p:nvPr/>
        </p:nvGrpSpPr>
        <p:grpSpPr bwMode="auto">
          <a:xfrm>
            <a:off x="1687513" y="2820988"/>
            <a:ext cx="2873375" cy="771525"/>
            <a:chOff x="240" y="240"/>
            <a:chExt cx="2112" cy="576"/>
          </a:xfrm>
        </p:grpSpPr>
        <p:sp>
          <p:nvSpPr>
            <p:cNvPr id="313362" name="Rectangle 18"/>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Architectural design</a:t>
              </a:r>
            </a:p>
            <a:p>
              <a:pPr algn="ctr" eaLnBrk="0" hangingPunct="0"/>
              <a:endParaRPr lang="en-US" sz="1600" b="1">
                <a:latin typeface="Arial" charset="0"/>
              </a:endParaRPr>
            </a:p>
            <a:p>
              <a:pPr algn="ctr" eaLnBrk="0" hangingPunct="0"/>
              <a:r>
                <a:rPr lang="en-US" sz="1600" b="1">
                  <a:latin typeface="Arial" charset="0"/>
                </a:rPr>
                <a:t>Verify</a:t>
              </a:r>
            </a:p>
          </p:txBody>
        </p:sp>
        <p:sp>
          <p:nvSpPr>
            <p:cNvPr id="313363" name="Line 19"/>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sp>
        <p:nvSpPr>
          <p:cNvPr id="313364" name="Rectangle 20"/>
          <p:cNvSpPr>
            <a:spLocks noChangeArrowheads="1"/>
          </p:cNvSpPr>
          <p:nvPr/>
        </p:nvSpPr>
        <p:spPr bwMode="auto">
          <a:xfrm>
            <a:off x="5737225" y="6146800"/>
            <a:ext cx="2873375" cy="3857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Retirement</a:t>
            </a:r>
          </a:p>
        </p:txBody>
      </p:sp>
      <p:sp>
        <p:nvSpPr>
          <p:cNvPr id="313365" name="Line 21"/>
          <p:cNvSpPr>
            <a:spLocks noChangeShapeType="1"/>
          </p:cNvSpPr>
          <p:nvPr/>
        </p:nvSpPr>
        <p:spPr bwMode="auto">
          <a:xfrm>
            <a:off x="2405063" y="2563813"/>
            <a:ext cx="0" cy="257175"/>
          </a:xfrm>
          <a:prstGeom prst="line">
            <a:avLst/>
          </a:prstGeom>
          <a:noFill/>
          <a:ln w="57150">
            <a:solidFill>
              <a:srgbClr val="FFFF00"/>
            </a:solidFill>
            <a:round/>
            <a:headEnd/>
            <a:tailEnd type="triangle" w="med" len="med"/>
          </a:ln>
          <a:effectLst/>
        </p:spPr>
        <p:txBody>
          <a:bodyPr/>
          <a:lstStyle/>
          <a:p>
            <a:endParaRPr lang="en-US"/>
          </a:p>
        </p:txBody>
      </p:sp>
      <p:sp>
        <p:nvSpPr>
          <p:cNvPr id="313366" name="Line 22"/>
          <p:cNvSpPr>
            <a:spLocks noChangeShapeType="1"/>
          </p:cNvSpPr>
          <p:nvPr/>
        </p:nvSpPr>
        <p:spPr bwMode="auto">
          <a:xfrm>
            <a:off x="3059113" y="3592513"/>
            <a:ext cx="0" cy="255587"/>
          </a:xfrm>
          <a:prstGeom prst="line">
            <a:avLst/>
          </a:prstGeom>
          <a:noFill/>
          <a:ln w="57150">
            <a:solidFill>
              <a:srgbClr val="FFFF00"/>
            </a:solidFill>
            <a:round/>
            <a:headEnd/>
            <a:tailEnd type="triangle" w="med" len="med"/>
          </a:ln>
          <a:effectLst/>
        </p:spPr>
        <p:txBody>
          <a:bodyPr/>
          <a:lstStyle/>
          <a:p>
            <a:endParaRPr lang="en-US"/>
          </a:p>
        </p:txBody>
      </p:sp>
      <p:grpSp>
        <p:nvGrpSpPr>
          <p:cNvPr id="6" name="Group 23"/>
          <p:cNvGrpSpPr>
            <a:grpSpLocks/>
          </p:cNvGrpSpPr>
          <p:nvPr/>
        </p:nvGrpSpPr>
        <p:grpSpPr bwMode="auto">
          <a:xfrm>
            <a:off x="3657600" y="5105400"/>
            <a:ext cx="2079625" cy="544513"/>
            <a:chOff x="2640" y="3552"/>
            <a:chExt cx="1536" cy="336"/>
          </a:xfrm>
        </p:grpSpPr>
        <p:sp>
          <p:nvSpPr>
            <p:cNvPr id="313368" name="Line 24"/>
            <p:cNvSpPr>
              <a:spLocks noChangeShapeType="1"/>
            </p:cNvSpPr>
            <p:nvPr/>
          </p:nvSpPr>
          <p:spPr bwMode="auto">
            <a:xfrm>
              <a:off x="2640" y="3552"/>
              <a:ext cx="0" cy="336"/>
            </a:xfrm>
            <a:prstGeom prst="line">
              <a:avLst/>
            </a:prstGeom>
            <a:noFill/>
            <a:ln w="57150">
              <a:solidFill>
                <a:srgbClr val="FFFF00"/>
              </a:solidFill>
              <a:round/>
              <a:headEnd/>
              <a:tailEnd/>
            </a:ln>
            <a:effectLst/>
          </p:spPr>
          <p:txBody>
            <a:bodyPr/>
            <a:lstStyle/>
            <a:p>
              <a:endParaRPr lang="en-US"/>
            </a:p>
          </p:txBody>
        </p:sp>
        <p:sp>
          <p:nvSpPr>
            <p:cNvPr id="313369" name="Line 25"/>
            <p:cNvSpPr>
              <a:spLocks noChangeShapeType="1"/>
            </p:cNvSpPr>
            <p:nvPr/>
          </p:nvSpPr>
          <p:spPr bwMode="auto">
            <a:xfrm>
              <a:off x="2640" y="3888"/>
              <a:ext cx="1536" cy="0"/>
            </a:xfrm>
            <a:prstGeom prst="line">
              <a:avLst/>
            </a:prstGeom>
            <a:noFill/>
            <a:ln w="57150">
              <a:solidFill>
                <a:srgbClr val="FFFF00"/>
              </a:solidFill>
              <a:round/>
              <a:headEnd/>
              <a:tailEnd type="triangle" w="med" len="med"/>
            </a:ln>
            <a:effectLst/>
          </p:spPr>
          <p:txBody>
            <a:bodyPr/>
            <a:lstStyle/>
            <a:p>
              <a:endParaRPr lang="en-US"/>
            </a:p>
          </p:txBody>
        </p:sp>
      </p:grpSp>
      <p:sp>
        <p:nvSpPr>
          <p:cNvPr id="313370" name="Line 26"/>
          <p:cNvSpPr>
            <a:spLocks noChangeShapeType="1"/>
          </p:cNvSpPr>
          <p:nvPr/>
        </p:nvSpPr>
        <p:spPr bwMode="auto">
          <a:xfrm>
            <a:off x="7194550" y="5895975"/>
            <a:ext cx="22225" cy="266700"/>
          </a:xfrm>
          <a:prstGeom prst="line">
            <a:avLst/>
          </a:prstGeom>
          <a:noFill/>
          <a:ln w="57150">
            <a:solidFill>
              <a:srgbClr val="FFFF00"/>
            </a:solidFill>
            <a:round/>
            <a:headEnd/>
            <a:tailEnd type="triangle" w="med" len="med"/>
          </a:ln>
          <a:effectLst/>
        </p:spPr>
        <p:txBody>
          <a:bodyPr/>
          <a:lstStyle/>
          <a:p>
            <a:endParaRPr lang="en-US"/>
          </a:p>
        </p:txBody>
      </p:sp>
      <p:grpSp>
        <p:nvGrpSpPr>
          <p:cNvPr id="7" name="Group 27"/>
          <p:cNvGrpSpPr>
            <a:grpSpLocks/>
          </p:cNvGrpSpPr>
          <p:nvPr/>
        </p:nvGrpSpPr>
        <p:grpSpPr bwMode="auto">
          <a:xfrm>
            <a:off x="6096000" y="4191000"/>
            <a:ext cx="1143000" cy="1266825"/>
            <a:chOff x="4560" y="2784"/>
            <a:chExt cx="720" cy="960"/>
          </a:xfrm>
        </p:grpSpPr>
        <p:sp>
          <p:nvSpPr>
            <p:cNvPr id="313372" name="Line 28"/>
            <p:cNvSpPr>
              <a:spLocks noChangeShapeType="1"/>
            </p:cNvSpPr>
            <p:nvPr/>
          </p:nvSpPr>
          <p:spPr bwMode="auto">
            <a:xfrm flipV="1">
              <a:off x="5280" y="2784"/>
              <a:ext cx="0" cy="960"/>
            </a:xfrm>
            <a:prstGeom prst="line">
              <a:avLst/>
            </a:prstGeom>
            <a:noFill/>
            <a:ln w="57150">
              <a:solidFill>
                <a:srgbClr val="FFFF00"/>
              </a:solidFill>
              <a:prstDash val="dash"/>
              <a:round/>
              <a:headEnd/>
              <a:tailEnd/>
            </a:ln>
            <a:effectLst/>
          </p:spPr>
          <p:txBody>
            <a:bodyPr/>
            <a:lstStyle/>
            <a:p>
              <a:endParaRPr lang="en-US"/>
            </a:p>
          </p:txBody>
        </p:sp>
        <p:sp>
          <p:nvSpPr>
            <p:cNvPr id="313373" name="Line 29"/>
            <p:cNvSpPr>
              <a:spLocks noChangeShapeType="1"/>
            </p:cNvSpPr>
            <p:nvPr/>
          </p:nvSpPr>
          <p:spPr bwMode="auto">
            <a:xfrm flipH="1">
              <a:off x="4560" y="2784"/>
              <a:ext cx="720" cy="0"/>
            </a:xfrm>
            <a:prstGeom prst="line">
              <a:avLst/>
            </a:prstGeom>
            <a:noFill/>
            <a:ln w="57150">
              <a:solidFill>
                <a:srgbClr val="FFFF00"/>
              </a:solidFill>
              <a:prstDash val="dash"/>
              <a:round/>
              <a:headEnd/>
              <a:tailEnd type="triangle" w="med" len="med"/>
            </a:ln>
            <a:effectLst/>
          </p:spPr>
          <p:txBody>
            <a:bodyPr/>
            <a:lstStyle/>
            <a:p>
              <a:endParaRPr lang="en-US"/>
            </a:p>
          </p:txBody>
        </p:sp>
      </p:grpSp>
      <p:grpSp>
        <p:nvGrpSpPr>
          <p:cNvPr id="8" name="Group 30"/>
          <p:cNvGrpSpPr>
            <a:grpSpLocks/>
          </p:cNvGrpSpPr>
          <p:nvPr/>
        </p:nvGrpSpPr>
        <p:grpSpPr bwMode="auto">
          <a:xfrm>
            <a:off x="514350" y="5799138"/>
            <a:ext cx="2587625" cy="808037"/>
            <a:chOff x="48" y="3552"/>
            <a:chExt cx="2304" cy="576"/>
          </a:xfrm>
        </p:grpSpPr>
        <p:sp>
          <p:nvSpPr>
            <p:cNvPr id="313375" name="Text Box 31"/>
            <p:cNvSpPr txBox="1">
              <a:spLocks noChangeArrowheads="1"/>
            </p:cNvSpPr>
            <p:nvPr/>
          </p:nvSpPr>
          <p:spPr bwMode="auto">
            <a:xfrm>
              <a:off x="912" y="3552"/>
              <a:ext cx="1440" cy="240"/>
            </a:xfrm>
            <a:prstGeom prst="rect">
              <a:avLst/>
            </a:prstGeom>
            <a:noFill/>
            <a:ln w="9525">
              <a:noFill/>
              <a:miter lim="800000"/>
              <a:headEnd/>
              <a:tailEnd/>
            </a:ln>
            <a:effectLst/>
          </p:spPr>
          <p:txBody>
            <a:bodyPr>
              <a:spAutoFit/>
            </a:bodyPr>
            <a:lstStyle/>
            <a:p>
              <a:pPr>
                <a:spcBef>
                  <a:spcPct val="50000"/>
                </a:spcBef>
              </a:pPr>
              <a:r>
                <a:rPr lang="en-US" sz="1600" b="1" dirty="0">
                  <a:latin typeface="Arial" charset="0"/>
                  <a:cs typeface="Arial" charset="0"/>
                </a:rPr>
                <a:t>Development</a:t>
              </a:r>
            </a:p>
          </p:txBody>
        </p:sp>
        <p:grpSp>
          <p:nvGrpSpPr>
            <p:cNvPr id="9" name="Group 32"/>
            <p:cNvGrpSpPr>
              <a:grpSpLocks/>
            </p:cNvGrpSpPr>
            <p:nvPr/>
          </p:nvGrpSpPr>
          <p:grpSpPr bwMode="auto">
            <a:xfrm>
              <a:off x="48" y="3696"/>
              <a:ext cx="2304" cy="432"/>
              <a:chOff x="48" y="3696"/>
              <a:chExt cx="2304" cy="432"/>
            </a:xfrm>
          </p:grpSpPr>
          <p:sp>
            <p:nvSpPr>
              <p:cNvPr id="313377" name="Line 33"/>
              <p:cNvSpPr>
                <a:spLocks noChangeShapeType="1"/>
              </p:cNvSpPr>
              <p:nvPr/>
            </p:nvSpPr>
            <p:spPr bwMode="auto">
              <a:xfrm>
                <a:off x="48" y="3984"/>
                <a:ext cx="816" cy="0"/>
              </a:xfrm>
              <a:prstGeom prst="line">
                <a:avLst/>
              </a:prstGeom>
              <a:noFill/>
              <a:ln w="57150">
                <a:solidFill>
                  <a:schemeClr val="tx1"/>
                </a:solidFill>
                <a:prstDash val="dash"/>
                <a:round/>
                <a:headEnd/>
                <a:tailEnd type="triangle" w="med" len="med"/>
              </a:ln>
              <a:effectLst/>
            </p:spPr>
            <p:txBody>
              <a:bodyPr/>
              <a:lstStyle/>
              <a:p>
                <a:endParaRPr lang="en-US"/>
              </a:p>
            </p:txBody>
          </p:sp>
          <p:sp>
            <p:nvSpPr>
              <p:cNvPr id="313378" name="Line 34"/>
              <p:cNvSpPr>
                <a:spLocks noChangeShapeType="1"/>
              </p:cNvSpPr>
              <p:nvPr/>
            </p:nvSpPr>
            <p:spPr bwMode="auto">
              <a:xfrm>
                <a:off x="48" y="3696"/>
                <a:ext cx="816" cy="0"/>
              </a:xfrm>
              <a:prstGeom prst="line">
                <a:avLst/>
              </a:prstGeom>
              <a:noFill/>
              <a:ln w="57150">
                <a:solidFill>
                  <a:schemeClr val="tx1"/>
                </a:solidFill>
                <a:round/>
                <a:headEnd/>
                <a:tailEnd type="triangle" w="med" len="med"/>
              </a:ln>
              <a:effectLst/>
            </p:spPr>
            <p:txBody>
              <a:bodyPr/>
              <a:lstStyle/>
              <a:p>
                <a:endParaRPr lang="en-US"/>
              </a:p>
            </p:txBody>
          </p:sp>
          <p:sp>
            <p:nvSpPr>
              <p:cNvPr id="313379" name="Text Box 35"/>
              <p:cNvSpPr txBox="1">
                <a:spLocks noChangeArrowheads="1"/>
              </p:cNvSpPr>
              <p:nvPr/>
            </p:nvSpPr>
            <p:spPr bwMode="auto">
              <a:xfrm>
                <a:off x="912" y="3888"/>
                <a:ext cx="1440" cy="240"/>
              </a:xfrm>
              <a:prstGeom prst="rect">
                <a:avLst/>
              </a:prstGeom>
              <a:noFill/>
              <a:ln w="9525">
                <a:noFill/>
                <a:miter lim="800000"/>
                <a:headEnd/>
                <a:tailEnd/>
              </a:ln>
              <a:effectLst/>
            </p:spPr>
            <p:txBody>
              <a:bodyPr>
                <a:spAutoFit/>
              </a:bodyPr>
              <a:lstStyle/>
              <a:p>
                <a:pPr>
                  <a:spcBef>
                    <a:spcPct val="50000"/>
                  </a:spcBef>
                </a:pPr>
                <a:r>
                  <a:rPr lang="en-US" sz="1600" b="1">
                    <a:latin typeface="Arial" charset="0"/>
                    <a:cs typeface="Arial" charset="0"/>
                  </a:rPr>
                  <a:t>Maintenance</a:t>
                </a:r>
              </a:p>
            </p:txBody>
          </p:sp>
        </p:grpSp>
      </p:grpSp>
    </p:spTree>
    <p:extLst>
      <p:ext uri="{BB962C8B-B14F-4D97-AF65-F5344CB8AC3E}">
        <p14:creationId xmlns:p14="http://schemas.microsoft.com/office/powerpoint/2010/main" val="3202672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685800" y="-76200"/>
            <a:ext cx="7772400" cy="1143000"/>
          </a:xfrm>
          <a:noFill/>
          <a:ln>
            <a:solidFill>
              <a:schemeClr val="tx1"/>
            </a:solidFill>
          </a:ln>
        </p:spPr>
        <p:txBody>
          <a:bodyPr/>
          <a:lstStyle/>
          <a:p>
            <a:r>
              <a:rPr lang="en-US" sz="3600" b="0">
                <a:solidFill>
                  <a:schemeClr val="tx1"/>
                </a:solidFill>
              </a:rPr>
              <a:t>Incremental Model (cont.)</a:t>
            </a:r>
          </a:p>
        </p:txBody>
      </p:sp>
      <p:grpSp>
        <p:nvGrpSpPr>
          <p:cNvPr id="2" name="Group 33"/>
          <p:cNvGrpSpPr>
            <a:grpSpLocks/>
          </p:cNvGrpSpPr>
          <p:nvPr/>
        </p:nvGrpSpPr>
        <p:grpSpPr bwMode="auto">
          <a:xfrm>
            <a:off x="127000" y="1131888"/>
            <a:ext cx="7991475" cy="585787"/>
            <a:chOff x="0" y="960"/>
            <a:chExt cx="5712" cy="432"/>
          </a:xfrm>
        </p:grpSpPr>
        <p:grpSp>
          <p:nvGrpSpPr>
            <p:cNvPr id="3" name="Group 17"/>
            <p:cNvGrpSpPr>
              <a:grpSpLocks/>
            </p:cNvGrpSpPr>
            <p:nvPr/>
          </p:nvGrpSpPr>
          <p:grpSpPr bwMode="auto">
            <a:xfrm>
              <a:off x="2976" y="960"/>
              <a:ext cx="1248" cy="432"/>
              <a:chOff x="816" y="2832"/>
              <a:chExt cx="1248" cy="432"/>
            </a:xfrm>
          </p:grpSpPr>
          <p:sp>
            <p:nvSpPr>
              <p:cNvPr id="308236" name="Rectangle 12"/>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37" name="Text Box 13"/>
              <p:cNvSpPr txBox="1">
                <a:spLocks noChangeArrowheads="1"/>
              </p:cNvSpPr>
              <p:nvPr/>
            </p:nvSpPr>
            <p:spPr bwMode="auto">
              <a:xfrm>
                <a:off x="864" y="2857"/>
                <a:ext cx="1200" cy="40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4" name="Group 21"/>
            <p:cNvGrpSpPr>
              <a:grpSpLocks/>
            </p:cNvGrpSpPr>
            <p:nvPr/>
          </p:nvGrpSpPr>
          <p:grpSpPr bwMode="auto">
            <a:xfrm>
              <a:off x="4464" y="960"/>
              <a:ext cx="1248" cy="432"/>
              <a:chOff x="1008" y="2496"/>
              <a:chExt cx="1248" cy="432"/>
            </a:xfrm>
          </p:grpSpPr>
          <p:sp>
            <p:nvSpPr>
              <p:cNvPr id="308243" name="Rectangle 19"/>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44" name="Text Box 20"/>
              <p:cNvSpPr txBox="1">
                <a:spLocks noChangeArrowheads="1"/>
              </p:cNvSpPr>
              <p:nvPr/>
            </p:nvSpPr>
            <p:spPr bwMode="auto">
              <a:xfrm>
                <a:off x="1056" y="2611"/>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5" name="Group 29"/>
            <p:cNvGrpSpPr>
              <a:grpSpLocks/>
            </p:cNvGrpSpPr>
            <p:nvPr/>
          </p:nvGrpSpPr>
          <p:grpSpPr bwMode="auto">
            <a:xfrm>
              <a:off x="1488" y="960"/>
              <a:ext cx="1488" cy="432"/>
              <a:chOff x="672" y="1152"/>
              <a:chExt cx="1488" cy="432"/>
            </a:xfrm>
          </p:grpSpPr>
          <p:sp>
            <p:nvSpPr>
              <p:cNvPr id="308247" name="Rectangle 23"/>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48" name="Text Box 24"/>
              <p:cNvSpPr txBox="1">
                <a:spLocks noChangeArrowheads="1"/>
              </p:cNvSpPr>
              <p:nvPr/>
            </p:nvSpPr>
            <p:spPr bwMode="auto">
              <a:xfrm>
                <a:off x="959" y="1267"/>
                <a:ext cx="1201"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6" name="Group 28"/>
            <p:cNvGrpSpPr>
              <a:grpSpLocks/>
            </p:cNvGrpSpPr>
            <p:nvPr/>
          </p:nvGrpSpPr>
          <p:grpSpPr bwMode="auto">
            <a:xfrm>
              <a:off x="0" y="960"/>
              <a:ext cx="1344" cy="432"/>
              <a:chOff x="0" y="1824"/>
              <a:chExt cx="1344" cy="432"/>
            </a:xfrm>
          </p:grpSpPr>
          <p:sp>
            <p:nvSpPr>
              <p:cNvPr id="308250" name="Rectangle 26"/>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51" name="Text Box 27"/>
              <p:cNvSpPr txBox="1">
                <a:spLocks noChangeArrowheads="1"/>
              </p:cNvSpPr>
              <p:nvPr/>
            </p:nvSpPr>
            <p:spPr bwMode="auto">
              <a:xfrm>
                <a:off x="144" y="1939"/>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254" name="Line 30"/>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255" name="Line 31"/>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256" name="Line 32"/>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376" name="Line 152"/>
          <p:cNvSpPr>
            <a:spLocks noChangeShapeType="1"/>
          </p:cNvSpPr>
          <p:nvPr/>
        </p:nvSpPr>
        <p:spPr bwMode="auto">
          <a:xfrm>
            <a:off x="1300163" y="2817813"/>
            <a:ext cx="366712" cy="512762"/>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377" name="Line 153"/>
          <p:cNvSpPr>
            <a:spLocks noChangeShapeType="1"/>
          </p:cNvSpPr>
          <p:nvPr/>
        </p:nvSpPr>
        <p:spPr bwMode="auto">
          <a:xfrm>
            <a:off x="3352800" y="2817813"/>
            <a:ext cx="366713" cy="512762"/>
          </a:xfrm>
          <a:prstGeom prst="line">
            <a:avLst/>
          </a:prstGeom>
          <a:noFill/>
          <a:ln w="57150">
            <a:solidFill>
              <a:schemeClr val="tx1"/>
            </a:solidFill>
            <a:round/>
            <a:headEnd/>
            <a:tailEnd type="triangle" w="med" len="med"/>
          </a:ln>
          <a:effectLst/>
        </p:spPr>
        <p:txBody>
          <a:bodyPr/>
          <a:lstStyle/>
          <a:p>
            <a:endParaRPr lang="en-US"/>
          </a:p>
        </p:txBody>
      </p:sp>
      <p:sp>
        <p:nvSpPr>
          <p:cNvPr id="308378" name="Line 154"/>
          <p:cNvSpPr>
            <a:spLocks noChangeShapeType="1"/>
          </p:cNvSpPr>
          <p:nvPr/>
        </p:nvSpPr>
        <p:spPr bwMode="auto">
          <a:xfrm>
            <a:off x="5553075" y="2817813"/>
            <a:ext cx="366713" cy="512762"/>
          </a:xfrm>
          <a:prstGeom prst="line">
            <a:avLst/>
          </a:prstGeom>
          <a:noFill/>
          <a:ln w="57150">
            <a:solidFill>
              <a:schemeClr val="tx1"/>
            </a:solidFill>
            <a:prstDash val="dash"/>
            <a:round/>
            <a:headEnd/>
            <a:tailEnd type="triangle" w="med" len="med"/>
          </a:ln>
          <a:effectLst/>
        </p:spPr>
        <p:txBody>
          <a:bodyPr/>
          <a:lstStyle/>
          <a:p>
            <a:endParaRPr lang="en-US"/>
          </a:p>
        </p:txBody>
      </p:sp>
      <p:grpSp>
        <p:nvGrpSpPr>
          <p:cNvPr id="7" name="Group 176"/>
          <p:cNvGrpSpPr>
            <a:grpSpLocks/>
          </p:cNvGrpSpPr>
          <p:nvPr/>
        </p:nvGrpSpPr>
        <p:grpSpPr bwMode="auto">
          <a:xfrm>
            <a:off x="1152525" y="4970463"/>
            <a:ext cx="7991475" cy="587375"/>
            <a:chOff x="0" y="960"/>
            <a:chExt cx="5712" cy="432"/>
          </a:xfrm>
        </p:grpSpPr>
        <p:grpSp>
          <p:nvGrpSpPr>
            <p:cNvPr id="8" name="Group 177"/>
            <p:cNvGrpSpPr>
              <a:grpSpLocks/>
            </p:cNvGrpSpPr>
            <p:nvPr/>
          </p:nvGrpSpPr>
          <p:grpSpPr bwMode="auto">
            <a:xfrm>
              <a:off x="2976" y="960"/>
              <a:ext cx="1248" cy="432"/>
              <a:chOff x="816" y="2832"/>
              <a:chExt cx="1248" cy="432"/>
            </a:xfrm>
          </p:grpSpPr>
          <p:sp>
            <p:nvSpPr>
              <p:cNvPr id="308402" name="Rectangle 178"/>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3" name="Text Box 179"/>
              <p:cNvSpPr txBox="1">
                <a:spLocks noChangeArrowheads="1"/>
              </p:cNvSpPr>
              <p:nvPr/>
            </p:nvSpPr>
            <p:spPr bwMode="auto">
              <a:xfrm>
                <a:off x="864" y="2857"/>
                <a:ext cx="1200" cy="407"/>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9" name="Group 180"/>
            <p:cNvGrpSpPr>
              <a:grpSpLocks/>
            </p:cNvGrpSpPr>
            <p:nvPr/>
          </p:nvGrpSpPr>
          <p:grpSpPr bwMode="auto">
            <a:xfrm>
              <a:off x="4464" y="960"/>
              <a:ext cx="1248" cy="432"/>
              <a:chOff x="1008" y="2496"/>
              <a:chExt cx="1248" cy="432"/>
            </a:xfrm>
          </p:grpSpPr>
          <p:sp>
            <p:nvSpPr>
              <p:cNvPr id="308405" name="Rectangle 181"/>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6" name="Text Box 182"/>
              <p:cNvSpPr txBox="1">
                <a:spLocks noChangeArrowheads="1"/>
              </p:cNvSpPr>
              <p:nvPr/>
            </p:nvSpPr>
            <p:spPr bwMode="auto">
              <a:xfrm>
                <a:off x="1056" y="2610"/>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10" name="Group 183"/>
            <p:cNvGrpSpPr>
              <a:grpSpLocks/>
            </p:cNvGrpSpPr>
            <p:nvPr/>
          </p:nvGrpSpPr>
          <p:grpSpPr bwMode="auto">
            <a:xfrm>
              <a:off x="1488" y="960"/>
              <a:ext cx="1488" cy="432"/>
              <a:chOff x="672" y="1152"/>
              <a:chExt cx="1488" cy="432"/>
            </a:xfrm>
          </p:grpSpPr>
          <p:sp>
            <p:nvSpPr>
              <p:cNvPr id="308408" name="Rectangle 184"/>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9" name="Text Box 185"/>
              <p:cNvSpPr txBox="1">
                <a:spLocks noChangeArrowheads="1"/>
              </p:cNvSpPr>
              <p:nvPr/>
            </p:nvSpPr>
            <p:spPr bwMode="auto">
              <a:xfrm>
                <a:off x="959" y="1266"/>
                <a:ext cx="1201"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11" name="Group 186"/>
            <p:cNvGrpSpPr>
              <a:grpSpLocks/>
            </p:cNvGrpSpPr>
            <p:nvPr/>
          </p:nvGrpSpPr>
          <p:grpSpPr bwMode="auto">
            <a:xfrm>
              <a:off x="0" y="960"/>
              <a:ext cx="1344" cy="432"/>
              <a:chOff x="0" y="1824"/>
              <a:chExt cx="1344" cy="432"/>
            </a:xfrm>
          </p:grpSpPr>
          <p:sp>
            <p:nvSpPr>
              <p:cNvPr id="308411" name="Rectangle 187"/>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12" name="Text Box 188"/>
              <p:cNvSpPr txBox="1">
                <a:spLocks noChangeArrowheads="1"/>
              </p:cNvSpPr>
              <p:nvPr/>
            </p:nvSpPr>
            <p:spPr bwMode="auto">
              <a:xfrm>
                <a:off x="144" y="1938"/>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413" name="Line 189"/>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14" name="Line 190"/>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15" name="Line 191"/>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19" name="Line 195"/>
          <p:cNvSpPr>
            <a:spLocks noChangeShapeType="1"/>
          </p:cNvSpPr>
          <p:nvPr/>
        </p:nvSpPr>
        <p:spPr bwMode="auto">
          <a:xfrm>
            <a:off x="1960563" y="4575175"/>
            <a:ext cx="0" cy="439738"/>
          </a:xfrm>
          <a:prstGeom prst="line">
            <a:avLst/>
          </a:prstGeom>
          <a:noFill/>
          <a:ln w="76200" cap="rnd">
            <a:solidFill>
              <a:schemeClr val="tx1"/>
            </a:solidFill>
            <a:prstDash val="sysDot"/>
            <a:round/>
            <a:headEnd/>
            <a:tailEnd/>
          </a:ln>
          <a:effectLst/>
        </p:spPr>
        <p:txBody>
          <a:bodyPr/>
          <a:lstStyle/>
          <a:p>
            <a:endParaRPr lang="en-US"/>
          </a:p>
        </p:txBody>
      </p:sp>
      <p:grpSp>
        <p:nvGrpSpPr>
          <p:cNvPr id="12" name="Group 197"/>
          <p:cNvGrpSpPr>
            <a:grpSpLocks/>
          </p:cNvGrpSpPr>
          <p:nvPr/>
        </p:nvGrpSpPr>
        <p:grpSpPr bwMode="auto">
          <a:xfrm>
            <a:off x="714375" y="3330575"/>
            <a:ext cx="7989888" cy="585788"/>
            <a:chOff x="0" y="960"/>
            <a:chExt cx="5712" cy="432"/>
          </a:xfrm>
        </p:grpSpPr>
        <p:grpSp>
          <p:nvGrpSpPr>
            <p:cNvPr id="13" name="Group 198"/>
            <p:cNvGrpSpPr>
              <a:grpSpLocks/>
            </p:cNvGrpSpPr>
            <p:nvPr/>
          </p:nvGrpSpPr>
          <p:grpSpPr bwMode="auto">
            <a:xfrm>
              <a:off x="2976" y="960"/>
              <a:ext cx="1248" cy="432"/>
              <a:chOff x="816" y="2832"/>
              <a:chExt cx="1248" cy="432"/>
            </a:xfrm>
          </p:grpSpPr>
          <p:sp>
            <p:nvSpPr>
              <p:cNvPr id="308423" name="Rectangle 199"/>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24" name="Text Box 200"/>
              <p:cNvSpPr txBox="1">
                <a:spLocks noChangeArrowheads="1"/>
              </p:cNvSpPr>
              <p:nvPr/>
            </p:nvSpPr>
            <p:spPr bwMode="auto">
              <a:xfrm>
                <a:off x="864" y="2857"/>
                <a:ext cx="1200" cy="40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14" name="Group 201"/>
            <p:cNvGrpSpPr>
              <a:grpSpLocks/>
            </p:cNvGrpSpPr>
            <p:nvPr/>
          </p:nvGrpSpPr>
          <p:grpSpPr bwMode="auto">
            <a:xfrm>
              <a:off x="4464" y="960"/>
              <a:ext cx="1248" cy="432"/>
              <a:chOff x="1008" y="2496"/>
              <a:chExt cx="1248" cy="432"/>
            </a:xfrm>
          </p:grpSpPr>
          <p:sp>
            <p:nvSpPr>
              <p:cNvPr id="308426" name="Rectangle 202"/>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27" name="Text Box 203"/>
              <p:cNvSpPr txBox="1">
                <a:spLocks noChangeArrowheads="1"/>
              </p:cNvSpPr>
              <p:nvPr/>
            </p:nvSpPr>
            <p:spPr bwMode="auto">
              <a:xfrm>
                <a:off x="1056" y="2611"/>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15" name="Group 204"/>
            <p:cNvGrpSpPr>
              <a:grpSpLocks/>
            </p:cNvGrpSpPr>
            <p:nvPr/>
          </p:nvGrpSpPr>
          <p:grpSpPr bwMode="auto">
            <a:xfrm>
              <a:off x="1488" y="960"/>
              <a:ext cx="1488" cy="432"/>
              <a:chOff x="672" y="1152"/>
              <a:chExt cx="1488" cy="432"/>
            </a:xfrm>
          </p:grpSpPr>
          <p:sp>
            <p:nvSpPr>
              <p:cNvPr id="308429" name="Rectangle 205"/>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30" name="Text Box 206"/>
              <p:cNvSpPr txBox="1">
                <a:spLocks noChangeArrowheads="1"/>
              </p:cNvSpPr>
              <p:nvPr/>
            </p:nvSpPr>
            <p:spPr bwMode="auto">
              <a:xfrm>
                <a:off x="959" y="1267"/>
                <a:ext cx="1201"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16" name="Group 207"/>
            <p:cNvGrpSpPr>
              <a:grpSpLocks/>
            </p:cNvGrpSpPr>
            <p:nvPr/>
          </p:nvGrpSpPr>
          <p:grpSpPr bwMode="auto">
            <a:xfrm>
              <a:off x="0" y="960"/>
              <a:ext cx="1344" cy="432"/>
              <a:chOff x="0" y="1824"/>
              <a:chExt cx="1344" cy="432"/>
            </a:xfrm>
          </p:grpSpPr>
          <p:sp>
            <p:nvSpPr>
              <p:cNvPr id="308432" name="Rectangle 208"/>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33" name="Text Box 209"/>
              <p:cNvSpPr txBox="1">
                <a:spLocks noChangeArrowheads="1"/>
              </p:cNvSpPr>
              <p:nvPr/>
            </p:nvSpPr>
            <p:spPr bwMode="auto">
              <a:xfrm>
                <a:off x="144" y="1939"/>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434" name="Line 210"/>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35" name="Line 211"/>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36" name="Line 212"/>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37" name="Line 213"/>
          <p:cNvSpPr>
            <a:spLocks noChangeShapeType="1"/>
          </p:cNvSpPr>
          <p:nvPr/>
        </p:nvSpPr>
        <p:spPr bwMode="auto">
          <a:xfrm>
            <a:off x="1593850" y="3916363"/>
            <a:ext cx="366713" cy="512762"/>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438" name="Line 214"/>
          <p:cNvSpPr>
            <a:spLocks noChangeShapeType="1"/>
          </p:cNvSpPr>
          <p:nvPr/>
        </p:nvSpPr>
        <p:spPr bwMode="auto">
          <a:xfrm>
            <a:off x="3646488" y="3916363"/>
            <a:ext cx="366712" cy="512762"/>
          </a:xfrm>
          <a:prstGeom prst="line">
            <a:avLst/>
          </a:prstGeom>
          <a:noFill/>
          <a:ln w="57150">
            <a:solidFill>
              <a:schemeClr val="tx1"/>
            </a:solidFill>
            <a:round/>
            <a:headEnd/>
            <a:tailEnd type="triangle" w="med" len="med"/>
          </a:ln>
          <a:effectLst/>
        </p:spPr>
        <p:txBody>
          <a:bodyPr/>
          <a:lstStyle/>
          <a:p>
            <a:endParaRPr lang="en-US"/>
          </a:p>
        </p:txBody>
      </p:sp>
      <p:sp>
        <p:nvSpPr>
          <p:cNvPr id="308439" name="Line 215"/>
          <p:cNvSpPr>
            <a:spLocks noChangeShapeType="1"/>
          </p:cNvSpPr>
          <p:nvPr/>
        </p:nvSpPr>
        <p:spPr bwMode="auto">
          <a:xfrm>
            <a:off x="5845175" y="3916363"/>
            <a:ext cx="366713" cy="512762"/>
          </a:xfrm>
          <a:prstGeom prst="line">
            <a:avLst/>
          </a:prstGeom>
          <a:noFill/>
          <a:ln w="57150">
            <a:solidFill>
              <a:schemeClr val="tx1"/>
            </a:solidFill>
            <a:prstDash val="dash"/>
            <a:round/>
            <a:headEnd/>
            <a:tailEnd type="triangle" w="med" len="med"/>
          </a:ln>
          <a:effectLst/>
        </p:spPr>
        <p:txBody>
          <a:bodyPr/>
          <a:lstStyle/>
          <a:p>
            <a:endParaRPr lang="en-US"/>
          </a:p>
        </p:txBody>
      </p:sp>
      <p:sp>
        <p:nvSpPr>
          <p:cNvPr id="308440" name="Line 216"/>
          <p:cNvSpPr>
            <a:spLocks noChangeShapeType="1"/>
          </p:cNvSpPr>
          <p:nvPr/>
        </p:nvSpPr>
        <p:spPr bwMode="auto">
          <a:xfrm>
            <a:off x="4011613" y="4519613"/>
            <a:ext cx="0" cy="439737"/>
          </a:xfrm>
          <a:prstGeom prst="line">
            <a:avLst/>
          </a:prstGeom>
          <a:noFill/>
          <a:ln w="76200" cap="rnd">
            <a:solidFill>
              <a:schemeClr val="tx1"/>
            </a:solidFill>
            <a:prstDash val="sysDot"/>
            <a:round/>
            <a:headEnd/>
            <a:tailEnd/>
          </a:ln>
          <a:effectLst/>
        </p:spPr>
        <p:txBody>
          <a:bodyPr/>
          <a:lstStyle/>
          <a:p>
            <a:endParaRPr lang="en-US"/>
          </a:p>
        </p:txBody>
      </p:sp>
      <p:sp>
        <p:nvSpPr>
          <p:cNvPr id="308441" name="Line 217"/>
          <p:cNvSpPr>
            <a:spLocks noChangeShapeType="1"/>
          </p:cNvSpPr>
          <p:nvPr/>
        </p:nvSpPr>
        <p:spPr bwMode="auto">
          <a:xfrm>
            <a:off x="6210300" y="4519613"/>
            <a:ext cx="0" cy="439737"/>
          </a:xfrm>
          <a:prstGeom prst="line">
            <a:avLst/>
          </a:prstGeom>
          <a:noFill/>
          <a:ln w="76200" cap="rnd">
            <a:solidFill>
              <a:schemeClr val="tx1"/>
            </a:solidFill>
            <a:prstDash val="sysDot"/>
            <a:round/>
            <a:headEnd/>
            <a:tailEnd/>
          </a:ln>
          <a:effectLst/>
        </p:spPr>
        <p:txBody>
          <a:bodyPr/>
          <a:lstStyle/>
          <a:p>
            <a:endParaRPr lang="en-US"/>
          </a:p>
        </p:txBody>
      </p:sp>
      <p:sp>
        <p:nvSpPr>
          <p:cNvPr id="308443" name="Text Box 219"/>
          <p:cNvSpPr txBox="1">
            <a:spLocks noChangeArrowheads="1"/>
          </p:cNvSpPr>
          <p:nvPr/>
        </p:nvSpPr>
        <p:spPr bwMode="auto">
          <a:xfrm>
            <a:off x="76200" y="838200"/>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1</a:t>
            </a:r>
          </a:p>
        </p:txBody>
      </p:sp>
      <p:grpSp>
        <p:nvGrpSpPr>
          <p:cNvPr id="17" name="Group 231"/>
          <p:cNvGrpSpPr>
            <a:grpSpLocks/>
          </p:cNvGrpSpPr>
          <p:nvPr/>
        </p:nvGrpSpPr>
        <p:grpSpPr bwMode="auto">
          <a:xfrm>
            <a:off x="130175" y="1717675"/>
            <a:ext cx="8281988" cy="1100138"/>
            <a:chOff x="82" y="1082"/>
            <a:chExt cx="5217" cy="693"/>
          </a:xfrm>
        </p:grpSpPr>
        <p:sp>
          <p:nvSpPr>
            <p:cNvPr id="308290" name="Line 66"/>
            <p:cNvSpPr>
              <a:spLocks noChangeShapeType="1"/>
            </p:cNvSpPr>
            <p:nvPr/>
          </p:nvSpPr>
          <p:spPr bwMode="auto">
            <a:xfrm>
              <a:off x="634" y="1082"/>
              <a:ext cx="231" cy="323"/>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291" name="Line 67"/>
            <p:cNvSpPr>
              <a:spLocks noChangeShapeType="1"/>
            </p:cNvSpPr>
            <p:nvPr/>
          </p:nvSpPr>
          <p:spPr bwMode="auto">
            <a:xfrm>
              <a:off x="1927" y="1082"/>
              <a:ext cx="231" cy="323"/>
            </a:xfrm>
            <a:prstGeom prst="line">
              <a:avLst/>
            </a:prstGeom>
            <a:noFill/>
            <a:ln w="57150">
              <a:solidFill>
                <a:schemeClr val="tx1"/>
              </a:solidFill>
              <a:round/>
              <a:headEnd/>
              <a:tailEnd type="triangle" w="med" len="med"/>
            </a:ln>
            <a:effectLst/>
          </p:spPr>
          <p:txBody>
            <a:bodyPr/>
            <a:lstStyle/>
            <a:p>
              <a:endParaRPr lang="en-US"/>
            </a:p>
          </p:txBody>
        </p:sp>
        <p:sp>
          <p:nvSpPr>
            <p:cNvPr id="308292" name="Line 68"/>
            <p:cNvSpPr>
              <a:spLocks noChangeShapeType="1"/>
            </p:cNvSpPr>
            <p:nvPr/>
          </p:nvSpPr>
          <p:spPr bwMode="auto">
            <a:xfrm>
              <a:off x="3313" y="1082"/>
              <a:ext cx="231" cy="323"/>
            </a:xfrm>
            <a:prstGeom prst="line">
              <a:avLst/>
            </a:prstGeom>
            <a:noFill/>
            <a:ln w="57150">
              <a:solidFill>
                <a:schemeClr val="tx1"/>
              </a:solidFill>
              <a:prstDash val="dash"/>
              <a:round/>
              <a:headEnd/>
              <a:tailEnd type="triangle" w="med" len="med"/>
            </a:ln>
            <a:effectLst/>
          </p:spPr>
          <p:txBody>
            <a:bodyPr/>
            <a:lstStyle/>
            <a:p>
              <a:endParaRPr lang="en-US"/>
            </a:p>
          </p:txBody>
        </p:sp>
        <p:grpSp>
          <p:nvGrpSpPr>
            <p:cNvPr id="18" name="Group 136"/>
            <p:cNvGrpSpPr>
              <a:grpSpLocks/>
            </p:cNvGrpSpPr>
            <p:nvPr/>
          </p:nvGrpSpPr>
          <p:grpSpPr bwMode="auto">
            <a:xfrm>
              <a:off x="265" y="1405"/>
              <a:ext cx="5034" cy="370"/>
              <a:chOff x="0" y="960"/>
              <a:chExt cx="5712" cy="432"/>
            </a:xfrm>
          </p:grpSpPr>
          <p:grpSp>
            <p:nvGrpSpPr>
              <p:cNvPr id="19" name="Group 137"/>
              <p:cNvGrpSpPr>
                <a:grpSpLocks/>
              </p:cNvGrpSpPr>
              <p:nvPr/>
            </p:nvGrpSpPr>
            <p:grpSpPr bwMode="auto">
              <a:xfrm>
                <a:off x="2976" y="960"/>
                <a:ext cx="1248" cy="432"/>
                <a:chOff x="816" y="2832"/>
                <a:chExt cx="1248" cy="432"/>
              </a:xfrm>
            </p:grpSpPr>
            <p:sp>
              <p:nvSpPr>
                <p:cNvPr id="308362" name="Rectangle 138"/>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3" name="Text Box 139"/>
                <p:cNvSpPr txBox="1">
                  <a:spLocks noChangeArrowheads="1"/>
                </p:cNvSpPr>
                <p:nvPr/>
              </p:nvSpPr>
              <p:spPr bwMode="auto">
                <a:xfrm>
                  <a:off x="864" y="2857"/>
                  <a:ext cx="1200" cy="407"/>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20" name="Group 140"/>
              <p:cNvGrpSpPr>
                <a:grpSpLocks/>
              </p:cNvGrpSpPr>
              <p:nvPr/>
            </p:nvGrpSpPr>
            <p:grpSpPr bwMode="auto">
              <a:xfrm>
                <a:off x="4464" y="960"/>
                <a:ext cx="1248" cy="432"/>
                <a:chOff x="1008" y="2496"/>
                <a:chExt cx="1248" cy="432"/>
              </a:xfrm>
            </p:grpSpPr>
            <p:sp>
              <p:nvSpPr>
                <p:cNvPr id="308365" name="Rectangle 141"/>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6" name="Text Box 142"/>
                <p:cNvSpPr txBox="1">
                  <a:spLocks noChangeArrowheads="1"/>
                </p:cNvSpPr>
                <p:nvPr/>
              </p:nvSpPr>
              <p:spPr bwMode="auto">
                <a:xfrm>
                  <a:off x="1056" y="2610"/>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21" name="Group 143"/>
              <p:cNvGrpSpPr>
                <a:grpSpLocks/>
              </p:cNvGrpSpPr>
              <p:nvPr/>
            </p:nvGrpSpPr>
            <p:grpSpPr bwMode="auto">
              <a:xfrm>
                <a:off x="1488" y="960"/>
                <a:ext cx="1488" cy="432"/>
                <a:chOff x="672" y="1152"/>
                <a:chExt cx="1488" cy="432"/>
              </a:xfrm>
            </p:grpSpPr>
            <p:sp>
              <p:nvSpPr>
                <p:cNvPr id="308368" name="Rectangle 144"/>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9" name="Text Box 145"/>
                <p:cNvSpPr txBox="1">
                  <a:spLocks noChangeArrowheads="1"/>
                </p:cNvSpPr>
                <p:nvPr/>
              </p:nvSpPr>
              <p:spPr bwMode="auto">
                <a:xfrm>
                  <a:off x="959" y="1266"/>
                  <a:ext cx="1201"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22" name="Group 146"/>
              <p:cNvGrpSpPr>
                <a:grpSpLocks/>
              </p:cNvGrpSpPr>
              <p:nvPr/>
            </p:nvGrpSpPr>
            <p:grpSpPr bwMode="auto">
              <a:xfrm>
                <a:off x="0" y="960"/>
                <a:ext cx="1344" cy="432"/>
                <a:chOff x="0" y="1824"/>
                <a:chExt cx="1344" cy="432"/>
              </a:xfrm>
            </p:grpSpPr>
            <p:sp>
              <p:nvSpPr>
                <p:cNvPr id="308371" name="Rectangle 147"/>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72" name="Text Box 148"/>
                <p:cNvSpPr txBox="1">
                  <a:spLocks noChangeArrowheads="1"/>
                </p:cNvSpPr>
                <p:nvPr/>
              </p:nvSpPr>
              <p:spPr bwMode="auto">
                <a:xfrm>
                  <a:off x="144" y="1938"/>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373" name="Line 149"/>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374" name="Line 150"/>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375" name="Line 151"/>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44" name="Text Box 220"/>
            <p:cNvSpPr txBox="1">
              <a:spLocks noChangeArrowheads="1"/>
            </p:cNvSpPr>
            <p:nvPr/>
          </p:nvSpPr>
          <p:spPr bwMode="auto">
            <a:xfrm>
              <a:off x="82" y="1247"/>
              <a:ext cx="600" cy="202"/>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2</a:t>
              </a:r>
            </a:p>
          </p:txBody>
        </p:sp>
      </p:grpSp>
      <p:sp>
        <p:nvSpPr>
          <p:cNvPr id="308445" name="Text Box 221"/>
          <p:cNvSpPr txBox="1">
            <a:spLocks noChangeArrowheads="1"/>
          </p:cNvSpPr>
          <p:nvPr/>
        </p:nvSpPr>
        <p:spPr bwMode="auto">
          <a:xfrm>
            <a:off x="200025" y="3036888"/>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3</a:t>
            </a:r>
          </a:p>
        </p:txBody>
      </p:sp>
      <p:sp>
        <p:nvSpPr>
          <p:cNvPr id="308446" name="Text Box 222"/>
          <p:cNvSpPr txBox="1">
            <a:spLocks noChangeArrowheads="1"/>
          </p:cNvSpPr>
          <p:nvPr/>
        </p:nvSpPr>
        <p:spPr bwMode="auto">
          <a:xfrm>
            <a:off x="714375" y="4691063"/>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n</a:t>
            </a:r>
          </a:p>
        </p:txBody>
      </p:sp>
      <p:sp>
        <p:nvSpPr>
          <p:cNvPr id="308449" name="Line 225"/>
          <p:cNvSpPr>
            <a:spLocks noChangeShapeType="1"/>
          </p:cNvSpPr>
          <p:nvPr/>
        </p:nvSpPr>
        <p:spPr bwMode="auto">
          <a:xfrm>
            <a:off x="381000" y="6248400"/>
            <a:ext cx="609600" cy="0"/>
          </a:xfrm>
          <a:prstGeom prst="line">
            <a:avLst/>
          </a:prstGeom>
          <a:noFill/>
          <a:ln w="38100">
            <a:solidFill>
              <a:schemeClr val="tx1"/>
            </a:solidFill>
            <a:prstDash val="sysDot"/>
            <a:round/>
            <a:headEnd/>
            <a:tailEnd type="triangle" w="med" len="med"/>
          </a:ln>
          <a:effectLst/>
        </p:spPr>
        <p:txBody>
          <a:bodyPr/>
          <a:lstStyle/>
          <a:p>
            <a:endParaRPr lang="en-US"/>
          </a:p>
        </p:txBody>
      </p:sp>
      <p:sp>
        <p:nvSpPr>
          <p:cNvPr id="308450" name="Text Box 226"/>
          <p:cNvSpPr txBox="1">
            <a:spLocks noChangeArrowheads="1"/>
          </p:cNvSpPr>
          <p:nvPr/>
        </p:nvSpPr>
        <p:spPr bwMode="auto">
          <a:xfrm>
            <a:off x="990600" y="6078538"/>
            <a:ext cx="19812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 team</a:t>
            </a:r>
          </a:p>
        </p:txBody>
      </p:sp>
      <p:sp>
        <p:nvSpPr>
          <p:cNvPr id="308451" name="Line 227"/>
          <p:cNvSpPr>
            <a:spLocks noChangeShapeType="1"/>
          </p:cNvSpPr>
          <p:nvPr/>
        </p:nvSpPr>
        <p:spPr bwMode="auto">
          <a:xfrm>
            <a:off x="381000" y="6554788"/>
            <a:ext cx="609600" cy="0"/>
          </a:xfrm>
          <a:prstGeom prst="line">
            <a:avLst/>
          </a:prstGeom>
          <a:noFill/>
          <a:ln w="38100">
            <a:solidFill>
              <a:schemeClr val="tx1"/>
            </a:solidFill>
            <a:round/>
            <a:headEnd/>
            <a:tailEnd type="triangle" w="med" len="med"/>
          </a:ln>
          <a:effectLst/>
        </p:spPr>
        <p:txBody>
          <a:bodyPr/>
          <a:lstStyle/>
          <a:p>
            <a:endParaRPr lang="en-US"/>
          </a:p>
        </p:txBody>
      </p:sp>
      <p:sp>
        <p:nvSpPr>
          <p:cNvPr id="308452" name="Text Box 228"/>
          <p:cNvSpPr txBox="1">
            <a:spLocks noChangeArrowheads="1"/>
          </p:cNvSpPr>
          <p:nvPr/>
        </p:nvSpPr>
        <p:spPr bwMode="auto">
          <a:xfrm>
            <a:off x="990600" y="6384925"/>
            <a:ext cx="19812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 team</a:t>
            </a:r>
          </a:p>
        </p:txBody>
      </p:sp>
      <p:sp>
        <p:nvSpPr>
          <p:cNvPr id="308453" name="Line 229"/>
          <p:cNvSpPr>
            <a:spLocks noChangeShapeType="1"/>
          </p:cNvSpPr>
          <p:nvPr/>
        </p:nvSpPr>
        <p:spPr bwMode="auto">
          <a:xfrm>
            <a:off x="3505200" y="6265863"/>
            <a:ext cx="609600" cy="0"/>
          </a:xfrm>
          <a:prstGeom prst="line">
            <a:avLst/>
          </a:prstGeom>
          <a:noFill/>
          <a:ln w="38100">
            <a:solidFill>
              <a:schemeClr val="tx1"/>
            </a:solidFill>
            <a:prstDash val="dash"/>
            <a:round/>
            <a:headEnd/>
            <a:tailEnd type="triangle" w="med" len="med"/>
          </a:ln>
          <a:effectLst/>
        </p:spPr>
        <p:txBody>
          <a:bodyPr/>
          <a:lstStyle/>
          <a:p>
            <a:endParaRPr lang="en-US"/>
          </a:p>
        </p:txBody>
      </p:sp>
      <p:sp>
        <p:nvSpPr>
          <p:cNvPr id="308454" name="Text Box 230"/>
          <p:cNvSpPr txBox="1">
            <a:spLocks noChangeArrowheads="1"/>
          </p:cNvSpPr>
          <p:nvPr/>
        </p:nvSpPr>
        <p:spPr bwMode="auto">
          <a:xfrm>
            <a:off x="4114800" y="6096000"/>
            <a:ext cx="1981200" cy="5492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  team</a:t>
            </a:r>
          </a:p>
        </p:txBody>
      </p:sp>
    </p:spTree>
    <p:extLst>
      <p:ext uri="{BB962C8B-B14F-4D97-AF65-F5344CB8AC3E}">
        <p14:creationId xmlns:p14="http://schemas.microsoft.com/office/powerpoint/2010/main" val="4224212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Generates working software quickly and early during the software life cycle.</a:t>
            </a:r>
          </a:p>
          <a:p>
            <a:pPr>
              <a:buFont typeface="Wingdings" panose="05000000000000000000" pitchFamily="2" charset="2"/>
              <a:buChar char="q"/>
            </a:pPr>
            <a:r>
              <a:rPr lang="en-US" dirty="0"/>
              <a:t>This model is more flexible – less costly to change scope and requirements.</a:t>
            </a:r>
          </a:p>
          <a:p>
            <a:pPr>
              <a:buFont typeface="Wingdings" panose="05000000000000000000" pitchFamily="2" charset="2"/>
              <a:buChar char="q"/>
            </a:pPr>
            <a:r>
              <a:rPr lang="en-US" dirty="0"/>
              <a:t>It is easier to test and debug during a smaller iteration.</a:t>
            </a:r>
          </a:p>
          <a:p>
            <a:pPr>
              <a:buFont typeface="Wingdings" panose="05000000000000000000" pitchFamily="2" charset="2"/>
              <a:buChar char="q"/>
            </a:pPr>
            <a:r>
              <a:rPr lang="en-US" dirty="0"/>
              <a:t>In this model customer can respond to each built.</a:t>
            </a:r>
          </a:p>
          <a:p>
            <a:pPr>
              <a:buFont typeface="Wingdings" panose="05000000000000000000" pitchFamily="2" charset="2"/>
              <a:buChar char="q"/>
            </a:pPr>
            <a:r>
              <a:rPr lang="en-US" dirty="0"/>
              <a:t>Lowers initial delivery cost.</a:t>
            </a:r>
          </a:p>
          <a:p>
            <a:pPr>
              <a:buFont typeface="Wingdings" panose="05000000000000000000" pitchFamily="2" charset="2"/>
              <a:buChar char="q"/>
            </a:pPr>
            <a:r>
              <a:rPr lang="en-US" dirty="0"/>
              <a:t>Easier to manage risk because risky pieces are identified and handled during each iteration.</a:t>
            </a:r>
          </a:p>
        </p:txBody>
      </p:sp>
    </p:spTree>
    <p:extLst>
      <p:ext uri="{BB962C8B-B14F-4D97-AF65-F5344CB8AC3E}">
        <p14:creationId xmlns:p14="http://schemas.microsoft.com/office/powerpoint/2010/main" val="2581852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Disadvantages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endParaRPr lang="en-US" dirty="0"/>
          </a:p>
          <a:p>
            <a:pPr>
              <a:buFont typeface="Wingdings" panose="05000000000000000000" pitchFamily="2" charset="2"/>
              <a:buChar char="q"/>
            </a:pPr>
            <a:r>
              <a:rPr lang="en-US" dirty="0"/>
              <a:t>Needs good planning and design.</a:t>
            </a:r>
          </a:p>
          <a:p>
            <a:pPr>
              <a:buFont typeface="Wingdings" panose="05000000000000000000" pitchFamily="2" charset="2"/>
              <a:buChar char="q"/>
            </a:pPr>
            <a:r>
              <a:rPr lang="en-US" dirty="0"/>
              <a:t>Needs a clear and complete definition of the whole system before it can be broken down and built incrementally.</a:t>
            </a:r>
          </a:p>
          <a:p>
            <a:pPr>
              <a:buFont typeface="Wingdings" panose="05000000000000000000" pitchFamily="2" charset="2"/>
              <a:buChar char="q"/>
            </a:pPr>
            <a:r>
              <a:rPr lang="en-US" dirty="0"/>
              <a:t>Total cost is higher than waterfall.</a:t>
            </a:r>
          </a:p>
        </p:txBody>
      </p:sp>
    </p:spTree>
    <p:extLst>
      <p:ext uri="{BB962C8B-B14F-4D97-AF65-F5344CB8AC3E}">
        <p14:creationId xmlns:p14="http://schemas.microsoft.com/office/powerpoint/2010/main" val="3799896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When to use the Incremental model:</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This model can be used when the requirements of the complete system are clearly defined and understood.</a:t>
            </a:r>
          </a:p>
          <a:p>
            <a:pPr>
              <a:buFont typeface="Wingdings" panose="05000000000000000000" pitchFamily="2" charset="2"/>
              <a:buChar char="q"/>
            </a:pPr>
            <a:r>
              <a:rPr lang="en-US" dirty="0"/>
              <a:t>Major requirements must be defined; however, some details can evolve with time.</a:t>
            </a:r>
          </a:p>
          <a:p>
            <a:pPr>
              <a:buFont typeface="Wingdings" panose="05000000000000000000" pitchFamily="2" charset="2"/>
              <a:buChar char="q"/>
            </a:pPr>
            <a:r>
              <a:rPr lang="en-US" dirty="0"/>
              <a:t>There is a need to get a product to the market early.</a:t>
            </a:r>
          </a:p>
          <a:p>
            <a:pPr>
              <a:buFont typeface="Wingdings" panose="05000000000000000000" pitchFamily="2" charset="2"/>
              <a:buChar char="q"/>
            </a:pPr>
            <a:r>
              <a:rPr lang="en-US" dirty="0"/>
              <a:t>A new technology is being used</a:t>
            </a:r>
          </a:p>
          <a:p>
            <a:pPr>
              <a:buFont typeface="Wingdings" panose="05000000000000000000" pitchFamily="2" charset="2"/>
              <a:buChar char="q"/>
            </a:pPr>
            <a:r>
              <a:rPr lang="en-US" dirty="0"/>
              <a:t>Resources with needed skill set are not available</a:t>
            </a:r>
          </a:p>
          <a:p>
            <a:pPr>
              <a:buFont typeface="Wingdings" panose="05000000000000000000" pitchFamily="2" charset="2"/>
              <a:buChar char="q"/>
            </a:pPr>
            <a:r>
              <a:rPr lang="en-US" dirty="0"/>
              <a:t>There are some high risk features and goals.</a:t>
            </a:r>
          </a:p>
        </p:txBody>
      </p:sp>
    </p:spTree>
    <p:extLst>
      <p:ext uri="{BB962C8B-B14F-4D97-AF65-F5344CB8AC3E}">
        <p14:creationId xmlns:p14="http://schemas.microsoft.com/office/powerpoint/2010/main" val="1372802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EB0F-A6D8-7B50-17CF-5FBE19E03A23}"/>
              </a:ext>
            </a:extLst>
          </p:cNvPr>
          <p:cNvSpPr>
            <a:spLocks noGrp="1"/>
          </p:cNvSpPr>
          <p:nvPr>
            <p:ph type="title"/>
          </p:nvPr>
        </p:nvSpPr>
        <p:spPr/>
        <p:txBody>
          <a:bodyPr/>
          <a:lstStyle/>
          <a:p>
            <a:r>
              <a:rPr lang="en-US" dirty="0"/>
              <a:t>Risk and Risk Analysis</a:t>
            </a:r>
          </a:p>
        </p:txBody>
      </p:sp>
      <p:sp>
        <p:nvSpPr>
          <p:cNvPr id="3" name="Content Placeholder 2">
            <a:extLst>
              <a:ext uri="{FF2B5EF4-FFF2-40B4-BE49-F238E27FC236}">
                <a16:creationId xmlns:a16="http://schemas.microsoft.com/office/drawing/2014/main" id="{FEFB3436-EC18-65D3-EB4E-FD5D80839879}"/>
              </a:ext>
            </a:extLst>
          </p:cNvPr>
          <p:cNvSpPr>
            <a:spLocks noGrp="1"/>
          </p:cNvSpPr>
          <p:nvPr>
            <p:ph idx="1"/>
          </p:nvPr>
        </p:nvSpPr>
        <p:spPr/>
        <p:txBody>
          <a:bodyPr>
            <a:normAutofit/>
          </a:bodyPr>
          <a:lstStyle/>
          <a:p>
            <a:pPr algn="just"/>
            <a:r>
              <a:rPr lang="en-US" b="1" dirty="0"/>
              <a:t>Risk: </a:t>
            </a:r>
            <a:r>
              <a:rPr lang="en-US" dirty="0"/>
              <a:t>An uncertain event that may happen in the future and could cause negative impact.</a:t>
            </a:r>
          </a:p>
          <a:p>
            <a:pPr algn="just"/>
            <a:r>
              <a:rPr lang="en-US" dirty="0"/>
              <a:t>In software engineering, a risk is a potential problem or uncertain event that may negatively affect a software project’s objectives (such as cost, schedule, quality, or performance) if it occurs.</a:t>
            </a:r>
          </a:p>
          <a:p>
            <a:pPr algn="just"/>
            <a:endParaRPr lang="en-US" b="1" dirty="0"/>
          </a:p>
          <a:p>
            <a:pPr algn="just"/>
            <a:r>
              <a:rPr lang="en-US" dirty="0"/>
              <a:t>Risk analysis is the process of identifying, assessing, and managing potential problems that could negatively affect a software project.</a:t>
            </a:r>
          </a:p>
          <a:p>
            <a:r>
              <a:rPr lang="en-US" dirty="0"/>
              <a:t>The aim is to anticipate issues before they occur and plan mitigation strategies to reduce their impact.</a:t>
            </a:r>
          </a:p>
        </p:txBody>
      </p:sp>
    </p:spTree>
    <p:extLst>
      <p:ext uri="{BB962C8B-B14F-4D97-AF65-F5344CB8AC3E}">
        <p14:creationId xmlns:p14="http://schemas.microsoft.com/office/powerpoint/2010/main" val="2684078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FECE-5983-5F48-8A75-78875F64C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DFE44-B9FC-F09E-E08E-48981BCE68D8}"/>
              </a:ext>
            </a:extLst>
          </p:cNvPr>
          <p:cNvSpPr>
            <a:spLocks noGrp="1"/>
          </p:cNvSpPr>
          <p:nvPr>
            <p:ph type="title"/>
          </p:nvPr>
        </p:nvSpPr>
        <p:spPr/>
        <p:txBody>
          <a:bodyPr/>
          <a:lstStyle/>
          <a:p>
            <a:r>
              <a:rPr lang="en-US" dirty="0"/>
              <a:t>Risk Analysis </a:t>
            </a:r>
            <a:r>
              <a:rPr lang="en-US" sz="3600" dirty="0"/>
              <a:t>(</a:t>
            </a:r>
            <a:r>
              <a:rPr lang="en-US" sz="3600" b="1" dirty="0"/>
              <a:t>Types of Risks</a:t>
            </a:r>
            <a:r>
              <a:rPr lang="en-US" sz="3600" dirty="0"/>
              <a:t>)</a:t>
            </a:r>
          </a:p>
        </p:txBody>
      </p:sp>
      <p:sp>
        <p:nvSpPr>
          <p:cNvPr id="3" name="Content Placeholder 2">
            <a:extLst>
              <a:ext uri="{FF2B5EF4-FFF2-40B4-BE49-F238E27FC236}">
                <a16:creationId xmlns:a16="http://schemas.microsoft.com/office/drawing/2014/main" id="{5C8DD759-D86D-2C69-4B1A-B62A8813A9AE}"/>
              </a:ext>
            </a:extLst>
          </p:cNvPr>
          <p:cNvSpPr>
            <a:spLocks noGrp="1"/>
          </p:cNvSpPr>
          <p:nvPr>
            <p:ph idx="1"/>
          </p:nvPr>
        </p:nvSpPr>
        <p:spPr/>
        <p:txBody>
          <a:bodyPr>
            <a:normAutofit lnSpcReduction="10000"/>
          </a:bodyPr>
          <a:lstStyle/>
          <a:p>
            <a:r>
              <a:rPr lang="en-US" b="1" dirty="0"/>
              <a:t>Project Risks</a:t>
            </a:r>
            <a:r>
              <a:rPr lang="en-US" dirty="0"/>
              <a:t> – threats to project schedule, budget, resources, or people.</a:t>
            </a:r>
          </a:p>
          <a:p>
            <a:r>
              <a:rPr lang="en-US" dirty="0"/>
              <a:t>Example: Key developer leaving mid-project.</a:t>
            </a:r>
          </a:p>
          <a:p>
            <a:r>
              <a:rPr lang="en-US" b="1" dirty="0"/>
              <a:t>Technical Risks</a:t>
            </a:r>
            <a:r>
              <a:rPr lang="en-US" dirty="0"/>
              <a:t> – issues with technology, tools, or implementation.</a:t>
            </a:r>
          </a:p>
          <a:p>
            <a:r>
              <a:rPr lang="en-US" dirty="0"/>
              <a:t>Example: New framework not scaling under load.</a:t>
            </a:r>
          </a:p>
          <a:p>
            <a:r>
              <a:rPr lang="en-US" b="1" dirty="0"/>
              <a:t>Business Risks </a:t>
            </a:r>
            <a:r>
              <a:rPr lang="en-US" dirty="0"/>
              <a:t>– risks that affect product acceptance or success.</a:t>
            </a:r>
          </a:p>
          <a:p>
            <a:r>
              <a:rPr lang="en-US" dirty="0"/>
              <a:t>Example: Customer requirements changing after release.</a:t>
            </a:r>
          </a:p>
          <a:p>
            <a:r>
              <a:rPr lang="en-US" b="1" dirty="0"/>
              <a:t>Operational Risks</a:t>
            </a:r>
            <a:r>
              <a:rPr lang="en-US" dirty="0"/>
              <a:t> – risks related to environment, infrastructure, or deployment.</a:t>
            </a:r>
          </a:p>
          <a:p>
            <a:r>
              <a:rPr lang="en-US" dirty="0"/>
              <a:t>Example: Server downtime or data center failure.</a:t>
            </a:r>
          </a:p>
        </p:txBody>
      </p:sp>
    </p:spTree>
    <p:extLst>
      <p:ext uri="{BB962C8B-B14F-4D97-AF65-F5344CB8AC3E}">
        <p14:creationId xmlns:p14="http://schemas.microsoft.com/office/powerpoint/2010/main" val="4290082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DE335-AC2A-1D48-87AD-10A733A15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73B23-F083-1D45-8AE3-53E7C389AE38}"/>
              </a:ext>
            </a:extLst>
          </p:cNvPr>
          <p:cNvSpPr>
            <a:spLocks noGrp="1"/>
          </p:cNvSpPr>
          <p:nvPr>
            <p:ph type="title"/>
          </p:nvPr>
        </p:nvSpPr>
        <p:spPr/>
        <p:txBody>
          <a:bodyPr/>
          <a:lstStyle/>
          <a:p>
            <a:r>
              <a:rPr lang="en-US" dirty="0"/>
              <a:t>Risk Analysis (Steps)</a:t>
            </a:r>
          </a:p>
        </p:txBody>
      </p:sp>
      <p:sp>
        <p:nvSpPr>
          <p:cNvPr id="3" name="Content Placeholder 2">
            <a:extLst>
              <a:ext uri="{FF2B5EF4-FFF2-40B4-BE49-F238E27FC236}">
                <a16:creationId xmlns:a16="http://schemas.microsoft.com/office/drawing/2014/main" id="{0141C96F-4652-98E0-515E-0BB59C192086}"/>
              </a:ext>
            </a:extLst>
          </p:cNvPr>
          <p:cNvSpPr>
            <a:spLocks noGrp="1"/>
          </p:cNvSpPr>
          <p:nvPr>
            <p:ph idx="1"/>
          </p:nvPr>
        </p:nvSpPr>
        <p:spPr/>
        <p:txBody>
          <a:bodyPr>
            <a:normAutofit fontScale="77500" lnSpcReduction="20000"/>
          </a:bodyPr>
          <a:lstStyle/>
          <a:p>
            <a:pPr algn="just"/>
            <a:r>
              <a:rPr lang="en-US" b="1" dirty="0"/>
              <a:t>Risk Identification:</a:t>
            </a:r>
            <a:r>
              <a:rPr lang="en-US" dirty="0"/>
              <a:t> Brainstorm potential risks using past projects, checklists, and expert input.</a:t>
            </a:r>
          </a:p>
          <a:p>
            <a:pPr algn="just"/>
            <a:r>
              <a:rPr lang="en-US" b="1" dirty="0"/>
              <a:t>Risk Assessment (Analysis):</a:t>
            </a:r>
            <a:r>
              <a:rPr lang="en-US" dirty="0"/>
              <a:t> Estimate likelihood (probability) of risk occurrence.</a:t>
            </a:r>
          </a:p>
          <a:p>
            <a:pPr algn="just"/>
            <a:r>
              <a:rPr lang="en-US" dirty="0"/>
              <a:t>Estimate impact (consequence) if the risk happens.</a:t>
            </a:r>
          </a:p>
          <a:p>
            <a:pPr algn="just"/>
            <a:r>
              <a:rPr lang="en-US" dirty="0"/>
              <a:t>Combine them into a risk exposure measure (Risk = Probability × Impact).</a:t>
            </a:r>
          </a:p>
          <a:p>
            <a:pPr algn="just"/>
            <a:r>
              <a:rPr lang="en-US" b="1" dirty="0"/>
              <a:t>Risk Prioritization:</a:t>
            </a:r>
            <a:r>
              <a:rPr lang="en-US" dirty="0"/>
              <a:t> Rank risks by severity to focus on critical ones first.</a:t>
            </a:r>
          </a:p>
          <a:p>
            <a:pPr algn="just"/>
            <a:r>
              <a:rPr lang="en-US" dirty="0"/>
              <a:t>Often visualized using a Risk Matrix (Low/Medium/High probability vs impact).</a:t>
            </a:r>
          </a:p>
          <a:p>
            <a:pPr algn="just"/>
            <a:r>
              <a:rPr lang="en-US" b="1" dirty="0"/>
              <a:t>Risk Mitigation (Planning):</a:t>
            </a:r>
            <a:r>
              <a:rPr lang="en-US" dirty="0"/>
              <a:t> Define strategies such as:</a:t>
            </a:r>
          </a:p>
          <a:p>
            <a:pPr algn="just"/>
            <a:r>
              <a:rPr lang="en-US" dirty="0"/>
              <a:t>Avoidance (change plan to eliminate risk).</a:t>
            </a:r>
          </a:p>
          <a:p>
            <a:pPr algn="just"/>
            <a:r>
              <a:rPr lang="en-US" dirty="0"/>
              <a:t>Mitigation (reduce probability or impact).</a:t>
            </a:r>
          </a:p>
          <a:p>
            <a:pPr algn="just"/>
            <a:r>
              <a:rPr lang="en-US" dirty="0"/>
              <a:t>Transfer (shift risk to third party, e.g., insurance).</a:t>
            </a:r>
          </a:p>
          <a:p>
            <a:pPr algn="just"/>
            <a:r>
              <a:rPr lang="en-US" dirty="0"/>
              <a:t>Acceptance (acknowledge and prepare for recovery).</a:t>
            </a:r>
          </a:p>
        </p:txBody>
      </p:sp>
    </p:spTree>
    <p:extLst>
      <p:ext uri="{BB962C8B-B14F-4D97-AF65-F5344CB8AC3E}">
        <p14:creationId xmlns:p14="http://schemas.microsoft.com/office/powerpoint/2010/main" val="2882313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0C8E-F7EC-7D28-D5BC-47E80C219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1E478-83D8-89C9-821F-6025B544319D}"/>
              </a:ext>
            </a:extLst>
          </p:cNvPr>
          <p:cNvSpPr>
            <a:spLocks noGrp="1"/>
          </p:cNvSpPr>
          <p:nvPr>
            <p:ph type="title"/>
          </p:nvPr>
        </p:nvSpPr>
        <p:spPr/>
        <p:txBody>
          <a:bodyPr/>
          <a:lstStyle/>
          <a:p>
            <a:r>
              <a:rPr lang="en-US" dirty="0"/>
              <a:t>Risk Analysis (Steps)</a:t>
            </a:r>
          </a:p>
        </p:txBody>
      </p:sp>
      <p:sp>
        <p:nvSpPr>
          <p:cNvPr id="3" name="Content Placeholder 2">
            <a:extLst>
              <a:ext uri="{FF2B5EF4-FFF2-40B4-BE49-F238E27FC236}">
                <a16:creationId xmlns:a16="http://schemas.microsoft.com/office/drawing/2014/main" id="{569930A9-FA4B-1A90-1B26-ADDE043DAFF4}"/>
              </a:ext>
            </a:extLst>
          </p:cNvPr>
          <p:cNvSpPr>
            <a:spLocks noGrp="1"/>
          </p:cNvSpPr>
          <p:nvPr>
            <p:ph idx="1"/>
          </p:nvPr>
        </p:nvSpPr>
        <p:spPr/>
        <p:txBody>
          <a:bodyPr>
            <a:normAutofit fontScale="92500" lnSpcReduction="20000"/>
          </a:bodyPr>
          <a:lstStyle/>
          <a:p>
            <a:pPr algn="just"/>
            <a:r>
              <a:rPr lang="en-US" b="1" dirty="0"/>
              <a:t>Risk Monitoring &amp; Control: </a:t>
            </a:r>
            <a:r>
              <a:rPr lang="en-US" dirty="0"/>
              <a:t>Continuously track risks throughout the project.</a:t>
            </a:r>
          </a:p>
          <a:p>
            <a:pPr algn="just"/>
            <a:r>
              <a:rPr lang="en-US" dirty="0"/>
              <a:t>Update plans when risks evolve.</a:t>
            </a:r>
          </a:p>
          <a:p>
            <a:pPr algn="just"/>
            <a:r>
              <a:rPr lang="en-US" b="1" dirty="0"/>
              <a:t>Example</a:t>
            </a:r>
          </a:p>
          <a:p>
            <a:pPr algn="just"/>
            <a:r>
              <a:rPr lang="en-US" dirty="0"/>
              <a:t>Risk: Delivery deadline may slip due to underestimated complexity.</a:t>
            </a:r>
          </a:p>
          <a:p>
            <a:pPr algn="just"/>
            <a:r>
              <a:rPr lang="en-US" dirty="0"/>
              <a:t>Probability: High</a:t>
            </a:r>
          </a:p>
          <a:p>
            <a:pPr algn="just"/>
            <a:r>
              <a:rPr lang="en-US" dirty="0"/>
              <a:t>Impact: Severe (missed client deadline)</a:t>
            </a:r>
          </a:p>
          <a:p>
            <a:pPr algn="just"/>
            <a:r>
              <a:rPr lang="en-US" dirty="0"/>
              <a:t>Mitigation: Add buffer time, hire an extra developer, or reduce non-critical features.</a:t>
            </a:r>
          </a:p>
          <a:p>
            <a:pPr algn="just"/>
            <a:endParaRPr lang="en-US" dirty="0"/>
          </a:p>
          <a:p>
            <a:pPr algn="ctr"/>
            <a:r>
              <a:rPr lang="en-US" i="1" dirty="0"/>
              <a:t>Risk analysis in software engineering is about foreseeing potential problems, evaluating their severity, and planning actions to handle them so projects stay on track.</a:t>
            </a:r>
          </a:p>
          <a:p>
            <a:pPr algn="just"/>
            <a:endParaRPr lang="en-US" dirty="0"/>
          </a:p>
        </p:txBody>
      </p:sp>
    </p:spTree>
    <p:extLst>
      <p:ext uri="{BB962C8B-B14F-4D97-AF65-F5344CB8AC3E}">
        <p14:creationId xmlns:p14="http://schemas.microsoft.com/office/powerpoint/2010/main" val="1898893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a:xfrm>
            <a:off x="533400" y="-76200"/>
            <a:ext cx="7772400" cy="1143000"/>
          </a:xfrm>
          <a:noFill/>
          <a:ln/>
        </p:spPr>
        <p:txBody>
          <a:bodyPr/>
          <a:lstStyle/>
          <a:p>
            <a:r>
              <a:rPr lang="en-US" sz="3600" b="0"/>
              <a:t>Spiral Model</a:t>
            </a:r>
          </a:p>
        </p:txBody>
      </p:sp>
      <p:sp>
        <p:nvSpPr>
          <p:cNvPr id="312323" name="Rectangle 3"/>
          <p:cNvSpPr>
            <a:spLocks noGrp="1" noChangeArrowheads="1"/>
          </p:cNvSpPr>
          <p:nvPr>
            <p:ph idx="1"/>
          </p:nvPr>
        </p:nvSpPr>
        <p:spPr>
          <a:xfrm>
            <a:off x="152400" y="1385888"/>
            <a:ext cx="3048000" cy="3414712"/>
          </a:xfrm>
        </p:spPr>
        <p:txBody>
          <a:bodyPr>
            <a:spAutoFit/>
          </a:bodyPr>
          <a:lstStyle/>
          <a:p>
            <a:pPr>
              <a:lnSpc>
                <a:spcPct val="90000"/>
              </a:lnSpc>
            </a:pPr>
            <a:r>
              <a:rPr lang="en-US" sz="2400"/>
              <a:t>Precede each phase by</a:t>
            </a:r>
          </a:p>
          <a:p>
            <a:pPr lvl="1">
              <a:lnSpc>
                <a:spcPct val="90000"/>
              </a:lnSpc>
            </a:pPr>
            <a:r>
              <a:rPr lang="en-US" sz="2400"/>
              <a:t>Alternatives</a:t>
            </a:r>
          </a:p>
          <a:p>
            <a:pPr lvl="1">
              <a:lnSpc>
                <a:spcPct val="90000"/>
              </a:lnSpc>
            </a:pPr>
            <a:r>
              <a:rPr lang="en-US" sz="2400"/>
              <a:t>Risk analysis</a:t>
            </a:r>
          </a:p>
          <a:p>
            <a:pPr>
              <a:lnSpc>
                <a:spcPct val="90000"/>
              </a:lnSpc>
            </a:pPr>
            <a:r>
              <a:rPr lang="en-US" sz="2400"/>
              <a:t>Follow each phase by</a:t>
            </a:r>
          </a:p>
          <a:p>
            <a:pPr lvl="1">
              <a:lnSpc>
                <a:spcPct val="90000"/>
              </a:lnSpc>
            </a:pPr>
            <a:r>
              <a:rPr lang="en-US" sz="2400"/>
              <a:t>Evaluation</a:t>
            </a:r>
          </a:p>
          <a:p>
            <a:pPr lvl="1">
              <a:lnSpc>
                <a:spcPct val="90000"/>
              </a:lnSpc>
            </a:pPr>
            <a:r>
              <a:rPr lang="en-US" sz="2400"/>
              <a:t>Planning of next phase</a:t>
            </a:r>
          </a:p>
        </p:txBody>
      </p:sp>
      <p:graphicFrame>
        <p:nvGraphicFramePr>
          <p:cNvPr id="312324" name="Object 4"/>
          <p:cNvGraphicFramePr>
            <a:graphicFrameLocks noChangeAspect="1"/>
          </p:cNvGraphicFramePr>
          <p:nvPr/>
        </p:nvGraphicFramePr>
        <p:xfrm>
          <a:off x="3124200" y="990600"/>
          <a:ext cx="5791200" cy="5638800"/>
        </p:xfrm>
        <a:graphic>
          <a:graphicData uri="http://schemas.openxmlformats.org/presentationml/2006/ole">
            <mc:AlternateContent xmlns:mc="http://schemas.openxmlformats.org/markup-compatibility/2006">
              <mc:Choice xmlns:v="urn:schemas-microsoft-com:vml" Requires="v">
                <p:oleObj name="Photo Editor Photo" r:id="rId2" imgW="5401429" imgH="7430537" progId="">
                  <p:embed/>
                </p:oleObj>
              </mc:Choice>
              <mc:Fallback>
                <p:oleObj name="Photo Editor Photo" r:id="rId2" imgW="5401429" imgH="7430537"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990600"/>
                        <a:ext cx="5791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78468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Spiral Model – Overview</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Proposed by Barry Boehm (1986)</a:t>
            </a:r>
          </a:p>
          <a:p>
            <a:pPr>
              <a:buFont typeface="Courier New" panose="02070309020205020404" pitchFamily="49" charset="0"/>
              <a:buChar char="o"/>
            </a:pPr>
            <a:r>
              <a:rPr dirty="0"/>
              <a:t>Combines iterative development with systematic risk analysis</a:t>
            </a:r>
          </a:p>
          <a:p>
            <a:pPr>
              <a:buFont typeface="Courier New" panose="02070309020205020404" pitchFamily="49" charset="0"/>
              <a:buChar char="o"/>
            </a:pPr>
            <a:r>
              <a:rPr dirty="0"/>
              <a:t>Project progresses through repeated cycles (spirals)</a:t>
            </a:r>
          </a:p>
          <a:p>
            <a:pPr>
              <a:buFont typeface="Courier New" panose="02070309020205020404" pitchFamily="49" charset="0"/>
              <a:buChar char="o"/>
            </a:pPr>
            <a:r>
              <a:rPr dirty="0"/>
              <a:t>Each spiral has 4 phases: Planning, Risk Analysis, Engineering, Evaluation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Characteristics</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Risk-driven approach to software development</a:t>
            </a:r>
          </a:p>
          <a:p>
            <a:pPr>
              <a:buFont typeface="Courier New" panose="02070309020205020404" pitchFamily="49" charset="0"/>
              <a:buChar char="o"/>
            </a:pPr>
            <a:r>
              <a:rPr dirty="0"/>
              <a:t>Each iteration delivers a more complete system</a:t>
            </a:r>
          </a:p>
          <a:p>
            <a:pPr>
              <a:buFont typeface="Courier New" panose="02070309020205020404" pitchFamily="49" charset="0"/>
              <a:buChar char="o"/>
            </a:pPr>
            <a:r>
              <a:rPr dirty="0"/>
              <a:t>Suitable for large, complex, and high-risk projects</a:t>
            </a:r>
          </a:p>
          <a:p>
            <a:pPr>
              <a:buFont typeface="Courier New" panose="02070309020205020404" pitchFamily="49" charset="0"/>
              <a:buChar char="o"/>
            </a:pPr>
            <a:r>
              <a:rPr dirty="0"/>
              <a:t>Customer feedback is emphasized at each stage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Spiral Model</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Strong focus on risk management</a:t>
            </a:r>
          </a:p>
          <a:p>
            <a:pPr>
              <a:buFont typeface="Courier New" panose="02070309020205020404" pitchFamily="49" charset="0"/>
              <a:buChar char="o"/>
            </a:pPr>
            <a:r>
              <a:rPr dirty="0"/>
              <a:t>Early detection of errors and issues</a:t>
            </a:r>
          </a:p>
          <a:p>
            <a:pPr>
              <a:buFont typeface="Courier New" panose="02070309020205020404" pitchFamily="49" charset="0"/>
              <a:buChar char="o"/>
            </a:pPr>
            <a:r>
              <a:rPr dirty="0"/>
              <a:t>Encourages customer involvement throughout</a:t>
            </a:r>
          </a:p>
          <a:p>
            <a:pPr>
              <a:buFont typeface="Courier New" panose="02070309020205020404" pitchFamily="49" charset="0"/>
              <a:buChar char="o"/>
            </a:pPr>
            <a:r>
              <a:rPr dirty="0"/>
              <a:t>Accommodates changing requirements</a:t>
            </a:r>
          </a:p>
          <a:p>
            <a:pPr>
              <a:buFont typeface="Courier New" panose="02070309020205020404" pitchFamily="49" charset="0"/>
              <a:buChar char="o"/>
            </a:pPr>
            <a:r>
              <a:rPr dirty="0"/>
              <a:t>Well-suited for large and mission-critical systems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Disadvantages of Spiral Model</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Expensive due to repeated risk analysis and iterations</a:t>
            </a:r>
          </a:p>
          <a:p>
            <a:pPr>
              <a:buFont typeface="Courier New" panose="02070309020205020404" pitchFamily="49" charset="0"/>
              <a:buChar char="o"/>
            </a:pPr>
            <a:r>
              <a:rPr dirty="0"/>
              <a:t>Requires expertise in risk assessment</a:t>
            </a:r>
          </a:p>
          <a:p>
            <a:pPr>
              <a:buFont typeface="Courier New" panose="02070309020205020404" pitchFamily="49" charset="0"/>
              <a:buChar char="o"/>
            </a:pPr>
            <a:r>
              <a:rPr dirty="0"/>
              <a:t>Not suitable for small or low-risk projects</a:t>
            </a:r>
          </a:p>
          <a:p>
            <a:pPr>
              <a:buFont typeface="Courier New" panose="02070309020205020404" pitchFamily="49" charset="0"/>
              <a:buChar char="o"/>
            </a:pPr>
            <a:r>
              <a:rPr dirty="0"/>
              <a:t>Time-consuming and complex to manage</a:t>
            </a:r>
          </a:p>
          <a:p>
            <a:pPr>
              <a:buFont typeface="Courier New" panose="02070309020205020404" pitchFamily="49" charset="0"/>
              <a:buChar char="o"/>
            </a:pPr>
            <a:r>
              <a:rPr dirty="0"/>
              <a:t>Heavily dependent on quality of risk analysis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 of Spiral Model Use</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Developing banking software where security risks must be carefully managed</a:t>
            </a:r>
          </a:p>
          <a:p>
            <a:pPr>
              <a:buFont typeface="Courier New" panose="02070309020205020404" pitchFamily="49" charset="0"/>
              <a:buChar char="o"/>
            </a:pPr>
            <a:r>
              <a:rPr dirty="0"/>
              <a:t>Creating aerospace systems (e.g., NASA projects) requiring reliability and risk analysis</a:t>
            </a:r>
          </a:p>
          <a:p>
            <a:pPr>
              <a:buFont typeface="Courier New" panose="02070309020205020404" pitchFamily="49" charset="0"/>
              <a:buChar char="o"/>
            </a:pPr>
            <a:r>
              <a:rPr dirty="0"/>
              <a:t>Designing large enterprise ERPs where requirements evolve gradually</a:t>
            </a:r>
          </a:p>
          <a:p>
            <a:pPr>
              <a:buFont typeface="Courier New" panose="02070309020205020404" pitchFamily="49" charset="0"/>
              <a:buChar char="o"/>
            </a:pPr>
            <a:r>
              <a:rPr dirty="0"/>
              <a:t>Game development where continuous feedback and prototyping are important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ChangeArrowheads="1"/>
          </p:cNvSpPr>
          <p:nvPr/>
        </p:nvSpPr>
        <p:spPr bwMode="auto">
          <a:xfrm>
            <a:off x="4191000" y="1524000"/>
            <a:ext cx="4419600" cy="4114800"/>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nvGrpSpPr>
          <p:cNvPr id="2" name="Group 3"/>
          <p:cNvGrpSpPr>
            <a:grpSpLocks/>
          </p:cNvGrpSpPr>
          <p:nvPr/>
        </p:nvGrpSpPr>
        <p:grpSpPr bwMode="auto">
          <a:xfrm>
            <a:off x="5486400" y="2743200"/>
            <a:ext cx="1371600" cy="1295400"/>
            <a:chOff x="1920" y="1728"/>
            <a:chExt cx="864" cy="816"/>
          </a:xfrm>
        </p:grpSpPr>
        <p:grpSp>
          <p:nvGrpSpPr>
            <p:cNvPr id="3" name="Group 4"/>
            <p:cNvGrpSpPr>
              <a:grpSpLocks/>
            </p:cNvGrpSpPr>
            <p:nvPr/>
          </p:nvGrpSpPr>
          <p:grpSpPr bwMode="auto">
            <a:xfrm>
              <a:off x="1920" y="1728"/>
              <a:ext cx="384" cy="816"/>
              <a:chOff x="1920" y="1728"/>
              <a:chExt cx="384" cy="816"/>
            </a:xfrm>
          </p:grpSpPr>
          <p:sp>
            <p:nvSpPr>
              <p:cNvPr id="320517" name="Arc 5"/>
              <p:cNvSpPr>
                <a:spLocks/>
              </p:cNvSpPr>
              <p:nvPr/>
            </p:nvSpPr>
            <p:spPr bwMode="auto">
              <a:xfrm rot="-10800000">
                <a:off x="1920" y="2160"/>
                <a:ext cx="384"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18" name="Arc 6"/>
              <p:cNvSpPr>
                <a:spLocks/>
              </p:cNvSpPr>
              <p:nvPr/>
            </p:nvSpPr>
            <p:spPr bwMode="auto">
              <a:xfrm rot="-5400000">
                <a:off x="1896" y="1752"/>
                <a:ext cx="432"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19" name="Arc 7"/>
            <p:cNvSpPr>
              <a:spLocks/>
            </p:cNvSpPr>
            <p:nvPr/>
          </p:nvSpPr>
          <p:spPr bwMode="auto">
            <a:xfrm>
              <a:off x="2304" y="1728"/>
              <a:ext cx="480"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grpSp>
        <p:nvGrpSpPr>
          <p:cNvPr id="4" name="Group 8"/>
          <p:cNvGrpSpPr>
            <a:grpSpLocks/>
          </p:cNvGrpSpPr>
          <p:nvPr/>
        </p:nvGrpSpPr>
        <p:grpSpPr bwMode="auto">
          <a:xfrm>
            <a:off x="5257800" y="2514600"/>
            <a:ext cx="1828800" cy="1752600"/>
            <a:chOff x="1776" y="1584"/>
            <a:chExt cx="1152" cy="1104"/>
          </a:xfrm>
        </p:grpSpPr>
        <p:grpSp>
          <p:nvGrpSpPr>
            <p:cNvPr id="5" name="Group 9"/>
            <p:cNvGrpSpPr>
              <a:grpSpLocks/>
            </p:cNvGrpSpPr>
            <p:nvPr/>
          </p:nvGrpSpPr>
          <p:grpSpPr bwMode="auto">
            <a:xfrm>
              <a:off x="1776" y="1584"/>
              <a:ext cx="528" cy="1104"/>
              <a:chOff x="1776" y="1584"/>
              <a:chExt cx="528" cy="1104"/>
            </a:xfrm>
          </p:grpSpPr>
          <p:sp>
            <p:nvSpPr>
              <p:cNvPr id="320522" name="Arc 10"/>
              <p:cNvSpPr>
                <a:spLocks/>
              </p:cNvSpPr>
              <p:nvPr/>
            </p:nvSpPr>
            <p:spPr bwMode="auto">
              <a:xfrm rot="-10800000">
                <a:off x="1776" y="2160"/>
                <a:ext cx="528" cy="5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23" name="Arc 11"/>
              <p:cNvSpPr>
                <a:spLocks/>
              </p:cNvSpPr>
              <p:nvPr/>
            </p:nvSpPr>
            <p:spPr bwMode="auto">
              <a:xfrm rot="-5400000">
                <a:off x="1752" y="1608"/>
                <a:ext cx="576" cy="5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24" name="Arc 12"/>
            <p:cNvSpPr>
              <a:spLocks/>
            </p:cNvSpPr>
            <p:nvPr/>
          </p:nvSpPr>
          <p:spPr bwMode="auto">
            <a:xfrm>
              <a:off x="2304" y="1584"/>
              <a:ext cx="624"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grpSp>
        <p:nvGrpSpPr>
          <p:cNvPr id="6" name="Group 13"/>
          <p:cNvGrpSpPr>
            <a:grpSpLocks/>
          </p:cNvGrpSpPr>
          <p:nvPr/>
        </p:nvGrpSpPr>
        <p:grpSpPr bwMode="auto">
          <a:xfrm>
            <a:off x="5029200" y="2286000"/>
            <a:ext cx="2286000" cy="2209800"/>
            <a:chOff x="1632" y="1440"/>
            <a:chExt cx="1440" cy="1392"/>
          </a:xfrm>
        </p:grpSpPr>
        <p:grpSp>
          <p:nvGrpSpPr>
            <p:cNvPr id="7" name="Group 14"/>
            <p:cNvGrpSpPr>
              <a:grpSpLocks/>
            </p:cNvGrpSpPr>
            <p:nvPr/>
          </p:nvGrpSpPr>
          <p:grpSpPr bwMode="auto">
            <a:xfrm>
              <a:off x="1632" y="1440"/>
              <a:ext cx="672" cy="1392"/>
              <a:chOff x="1632" y="1440"/>
              <a:chExt cx="672" cy="1392"/>
            </a:xfrm>
          </p:grpSpPr>
          <p:sp>
            <p:nvSpPr>
              <p:cNvPr id="320527" name="Arc 15"/>
              <p:cNvSpPr>
                <a:spLocks/>
              </p:cNvSpPr>
              <p:nvPr/>
            </p:nvSpPr>
            <p:spPr bwMode="auto">
              <a:xfrm rot="-10800000">
                <a:off x="1632" y="2160"/>
                <a:ext cx="672" cy="6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28" name="Arc 16"/>
              <p:cNvSpPr>
                <a:spLocks/>
              </p:cNvSpPr>
              <p:nvPr/>
            </p:nvSpPr>
            <p:spPr bwMode="auto">
              <a:xfrm rot="-5400000">
                <a:off x="1608" y="1464"/>
                <a:ext cx="720" cy="6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29" name="Arc 17"/>
            <p:cNvSpPr>
              <a:spLocks/>
            </p:cNvSpPr>
            <p:nvPr/>
          </p:nvSpPr>
          <p:spPr bwMode="auto">
            <a:xfrm>
              <a:off x="2304" y="1440"/>
              <a:ext cx="768" cy="7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30" name="Line 18"/>
          <p:cNvSpPr>
            <a:spLocks noChangeShapeType="1"/>
          </p:cNvSpPr>
          <p:nvPr/>
        </p:nvSpPr>
        <p:spPr bwMode="auto">
          <a:xfrm>
            <a:off x="6096000" y="3429000"/>
            <a:ext cx="0" cy="1981200"/>
          </a:xfrm>
          <a:prstGeom prst="line">
            <a:avLst/>
          </a:prstGeom>
          <a:noFill/>
          <a:ln w="28575">
            <a:solidFill>
              <a:srgbClr val="0066FF"/>
            </a:solidFill>
            <a:round/>
            <a:headEnd/>
            <a:tailEnd/>
          </a:ln>
          <a:effectLst/>
        </p:spPr>
        <p:txBody>
          <a:bodyPr/>
          <a:lstStyle/>
          <a:p>
            <a:endParaRPr lang="en-US"/>
          </a:p>
        </p:txBody>
      </p:sp>
      <p:sp>
        <p:nvSpPr>
          <p:cNvPr id="320531" name="Line 19"/>
          <p:cNvSpPr>
            <a:spLocks noChangeShapeType="1"/>
          </p:cNvSpPr>
          <p:nvPr/>
        </p:nvSpPr>
        <p:spPr bwMode="auto">
          <a:xfrm>
            <a:off x="6096000" y="3429000"/>
            <a:ext cx="2057400" cy="0"/>
          </a:xfrm>
          <a:prstGeom prst="line">
            <a:avLst/>
          </a:prstGeom>
          <a:noFill/>
          <a:ln w="28575">
            <a:solidFill>
              <a:srgbClr val="0066FF"/>
            </a:solidFill>
            <a:round/>
            <a:headEnd/>
            <a:tailEnd/>
          </a:ln>
          <a:effectLst/>
        </p:spPr>
        <p:txBody>
          <a:bodyPr/>
          <a:lstStyle/>
          <a:p>
            <a:endParaRPr lang="en-US"/>
          </a:p>
        </p:txBody>
      </p:sp>
      <p:sp>
        <p:nvSpPr>
          <p:cNvPr id="320532" name="Line 20"/>
          <p:cNvSpPr>
            <a:spLocks noChangeShapeType="1"/>
          </p:cNvSpPr>
          <p:nvPr/>
        </p:nvSpPr>
        <p:spPr bwMode="auto">
          <a:xfrm flipH="1" flipV="1">
            <a:off x="4572000" y="1752600"/>
            <a:ext cx="1524000" cy="1676400"/>
          </a:xfrm>
          <a:prstGeom prst="line">
            <a:avLst/>
          </a:prstGeom>
          <a:noFill/>
          <a:ln w="28575">
            <a:solidFill>
              <a:srgbClr val="0066FF"/>
            </a:solidFill>
            <a:round/>
            <a:headEnd/>
            <a:tailEnd/>
          </a:ln>
          <a:effectLst/>
        </p:spPr>
        <p:txBody>
          <a:bodyPr/>
          <a:lstStyle/>
          <a:p>
            <a:endParaRPr lang="en-US"/>
          </a:p>
        </p:txBody>
      </p:sp>
      <p:sp>
        <p:nvSpPr>
          <p:cNvPr id="320534" name="Arc 22"/>
          <p:cNvSpPr>
            <a:spLocks/>
          </p:cNvSpPr>
          <p:nvPr/>
        </p:nvSpPr>
        <p:spPr bwMode="auto">
          <a:xfrm rot="-10800000">
            <a:off x="4800600" y="3429000"/>
            <a:ext cx="1295400" cy="1295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35" name="Arc 23"/>
          <p:cNvSpPr>
            <a:spLocks/>
          </p:cNvSpPr>
          <p:nvPr/>
        </p:nvSpPr>
        <p:spPr bwMode="auto">
          <a:xfrm rot="-5400000">
            <a:off x="5462587" y="1395413"/>
            <a:ext cx="1419225" cy="2743200"/>
          </a:xfrm>
          <a:custGeom>
            <a:avLst/>
            <a:gdLst>
              <a:gd name="G0" fmla="+- 750 0 0"/>
              <a:gd name="G1" fmla="+- 21600 0 0"/>
              <a:gd name="G2" fmla="+- 21600 0 0"/>
              <a:gd name="T0" fmla="*/ 750 w 22350"/>
              <a:gd name="T1" fmla="*/ 0 h 43200"/>
              <a:gd name="T2" fmla="*/ 0 w 22350"/>
              <a:gd name="T3" fmla="*/ 43187 h 43200"/>
              <a:gd name="T4" fmla="*/ 750 w 22350"/>
              <a:gd name="T5" fmla="*/ 21600 h 43200"/>
            </a:gdLst>
            <a:ahLst/>
            <a:cxnLst>
              <a:cxn ang="0">
                <a:pos x="T0" y="T1"/>
              </a:cxn>
              <a:cxn ang="0">
                <a:pos x="T2" y="T3"/>
              </a:cxn>
              <a:cxn ang="0">
                <a:pos x="T4" y="T5"/>
              </a:cxn>
            </a:cxnLst>
            <a:rect l="0" t="0" r="r" b="b"/>
            <a:pathLst>
              <a:path w="22350" h="43200" fill="none" extrusionOk="0">
                <a:moveTo>
                  <a:pt x="749" y="0"/>
                </a:moveTo>
                <a:cubicBezTo>
                  <a:pt x="12679" y="0"/>
                  <a:pt x="22350" y="9670"/>
                  <a:pt x="22350" y="21600"/>
                </a:cubicBezTo>
                <a:cubicBezTo>
                  <a:pt x="22350" y="33529"/>
                  <a:pt x="12679" y="43200"/>
                  <a:pt x="750" y="43200"/>
                </a:cubicBezTo>
                <a:cubicBezTo>
                  <a:pt x="499" y="43200"/>
                  <a:pt x="249" y="43195"/>
                  <a:pt x="0" y="43186"/>
                </a:cubicBezTo>
              </a:path>
              <a:path w="22350" h="43200" stroke="0" extrusionOk="0">
                <a:moveTo>
                  <a:pt x="749" y="0"/>
                </a:moveTo>
                <a:cubicBezTo>
                  <a:pt x="12679" y="0"/>
                  <a:pt x="22350" y="9670"/>
                  <a:pt x="22350" y="21600"/>
                </a:cubicBezTo>
                <a:cubicBezTo>
                  <a:pt x="22350" y="33529"/>
                  <a:pt x="12679" y="43200"/>
                  <a:pt x="750" y="43200"/>
                </a:cubicBezTo>
                <a:cubicBezTo>
                  <a:pt x="499" y="43200"/>
                  <a:pt x="249" y="43195"/>
                  <a:pt x="0" y="43186"/>
                </a:cubicBezTo>
                <a:lnTo>
                  <a:pt x="750" y="21600"/>
                </a:lnTo>
                <a:close/>
              </a:path>
            </a:pathLst>
          </a:custGeom>
          <a:noFill/>
          <a:ln w="19050">
            <a:solidFill>
              <a:srgbClr val="0066FF"/>
            </a:solidFill>
            <a:round/>
            <a:headEnd/>
            <a:tailEnd/>
          </a:ln>
          <a:effectLst/>
        </p:spPr>
        <p:txBody>
          <a:bodyPr wrap="none" anchor="ctr"/>
          <a:lstStyle/>
          <a:p>
            <a:endParaRPr lang="en-US"/>
          </a:p>
        </p:txBody>
      </p:sp>
      <p:grpSp>
        <p:nvGrpSpPr>
          <p:cNvPr id="8" name="Group 24"/>
          <p:cNvGrpSpPr>
            <a:grpSpLocks/>
          </p:cNvGrpSpPr>
          <p:nvPr/>
        </p:nvGrpSpPr>
        <p:grpSpPr bwMode="auto">
          <a:xfrm>
            <a:off x="5791200" y="2971800"/>
            <a:ext cx="838200" cy="457200"/>
            <a:chOff x="2112" y="1872"/>
            <a:chExt cx="528" cy="288"/>
          </a:xfrm>
        </p:grpSpPr>
        <p:sp>
          <p:nvSpPr>
            <p:cNvPr id="320537" name="Arc 25"/>
            <p:cNvSpPr>
              <a:spLocks/>
            </p:cNvSpPr>
            <p:nvPr/>
          </p:nvSpPr>
          <p:spPr bwMode="auto">
            <a:xfrm>
              <a:off x="2304" y="1872"/>
              <a:ext cx="336" cy="2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38" name="Arc 26"/>
            <p:cNvSpPr>
              <a:spLocks/>
            </p:cNvSpPr>
            <p:nvPr/>
          </p:nvSpPr>
          <p:spPr bwMode="auto">
            <a:xfrm rot="-5400000">
              <a:off x="2137" y="1848"/>
              <a:ext cx="143" cy="194"/>
            </a:xfrm>
            <a:custGeom>
              <a:avLst/>
              <a:gdLst>
                <a:gd name="G0" fmla="+- 0 0 0"/>
                <a:gd name="G1" fmla="+- 19919 0 0"/>
                <a:gd name="G2" fmla="+- 21600 0 0"/>
                <a:gd name="T0" fmla="*/ 8355 w 21600"/>
                <a:gd name="T1" fmla="*/ 0 h 19919"/>
                <a:gd name="T2" fmla="*/ 21600 w 21600"/>
                <a:gd name="T3" fmla="*/ 19919 h 19919"/>
                <a:gd name="T4" fmla="*/ 0 w 21600"/>
                <a:gd name="T5" fmla="*/ 19919 h 19919"/>
              </a:gdLst>
              <a:ahLst/>
              <a:cxnLst>
                <a:cxn ang="0">
                  <a:pos x="T0" y="T1"/>
                </a:cxn>
                <a:cxn ang="0">
                  <a:pos x="T2" y="T3"/>
                </a:cxn>
                <a:cxn ang="0">
                  <a:pos x="T4" y="T5"/>
                </a:cxn>
              </a:cxnLst>
              <a:rect l="0" t="0" r="r" b="b"/>
              <a:pathLst>
                <a:path w="21600" h="19919" fill="none" extrusionOk="0">
                  <a:moveTo>
                    <a:pt x="8354" y="0"/>
                  </a:moveTo>
                  <a:cubicBezTo>
                    <a:pt x="16378" y="3365"/>
                    <a:pt x="21600" y="11217"/>
                    <a:pt x="21600" y="19919"/>
                  </a:cubicBezTo>
                </a:path>
                <a:path w="21600" h="19919" stroke="0" extrusionOk="0">
                  <a:moveTo>
                    <a:pt x="8354" y="0"/>
                  </a:moveTo>
                  <a:cubicBezTo>
                    <a:pt x="16378" y="3365"/>
                    <a:pt x="21600" y="11217"/>
                    <a:pt x="21600" y="19919"/>
                  </a:cubicBezTo>
                  <a:lnTo>
                    <a:pt x="0" y="19919"/>
                  </a:lnTo>
                  <a:close/>
                </a:path>
              </a:pathLst>
            </a:custGeom>
            <a:noFill/>
            <a:ln w="19050">
              <a:solidFill>
                <a:srgbClr val="0066FF"/>
              </a:solidFill>
              <a:round/>
              <a:headEnd/>
              <a:tailEnd/>
            </a:ln>
            <a:effectLst/>
          </p:spPr>
          <p:txBody>
            <a:bodyPr wrap="none" anchor="ctr"/>
            <a:lstStyle/>
            <a:p>
              <a:endParaRPr lang="en-US"/>
            </a:p>
          </p:txBody>
        </p:sp>
      </p:grpSp>
      <p:sp>
        <p:nvSpPr>
          <p:cNvPr id="320542" name="Text Box 30"/>
          <p:cNvSpPr txBox="1">
            <a:spLocks noChangeArrowheads="1"/>
          </p:cNvSpPr>
          <p:nvPr/>
        </p:nvSpPr>
        <p:spPr bwMode="auto">
          <a:xfrm>
            <a:off x="6705600" y="1676400"/>
            <a:ext cx="1371600" cy="822325"/>
          </a:xfrm>
          <a:prstGeom prst="rect">
            <a:avLst/>
          </a:prstGeom>
          <a:noFill/>
          <a:ln w="9525">
            <a:noFill/>
            <a:miter lim="800000"/>
            <a:headEnd/>
            <a:tailEnd/>
          </a:ln>
          <a:effectLst/>
        </p:spPr>
        <p:txBody>
          <a:bodyPr>
            <a:spAutoFit/>
          </a:bodyPr>
          <a:lstStyle/>
          <a:p>
            <a:pPr>
              <a:spcBef>
                <a:spcPct val="50000"/>
              </a:spcBef>
            </a:pPr>
            <a:r>
              <a:rPr lang="en-US" sz="2400">
                <a:solidFill>
                  <a:srgbClr val="990000"/>
                </a:solidFill>
              </a:rPr>
              <a:t>Risk Analysis</a:t>
            </a:r>
            <a:endParaRPr lang="en-GB" sz="2400">
              <a:solidFill>
                <a:srgbClr val="990000"/>
              </a:solidFill>
            </a:endParaRPr>
          </a:p>
        </p:txBody>
      </p:sp>
      <p:sp>
        <p:nvSpPr>
          <p:cNvPr id="320543" name="Text Box 31"/>
          <p:cNvSpPr txBox="1">
            <a:spLocks noChangeArrowheads="1"/>
          </p:cNvSpPr>
          <p:nvPr/>
        </p:nvSpPr>
        <p:spPr bwMode="auto">
          <a:xfrm>
            <a:off x="4495800" y="4572000"/>
            <a:ext cx="1371600" cy="457200"/>
          </a:xfrm>
          <a:prstGeom prst="rect">
            <a:avLst/>
          </a:prstGeom>
          <a:noFill/>
          <a:ln w="9525">
            <a:noFill/>
            <a:miter lim="800000"/>
            <a:headEnd/>
            <a:tailEnd/>
          </a:ln>
          <a:effectLst/>
        </p:spPr>
        <p:txBody>
          <a:bodyPr>
            <a:spAutoFit/>
          </a:bodyPr>
          <a:lstStyle/>
          <a:p>
            <a:pPr>
              <a:spcBef>
                <a:spcPct val="50000"/>
              </a:spcBef>
            </a:pPr>
            <a:r>
              <a:rPr lang="en-US" sz="2400">
                <a:solidFill>
                  <a:srgbClr val="990000"/>
                </a:solidFill>
              </a:rPr>
              <a:t>Verify</a:t>
            </a:r>
            <a:endParaRPr lang="en-GB" sz="2400">
              <a:solidFill>
                <a:srgbClr val="990000"/>
              </a:solidFill>
            </a:endParaRPr>
          </a:p>
        </p:txBody>
      </p:sp>
      <p:grpSp>
        <p:nvGrpSpPr>
          <p:cNvPr id="9" name="Group 32"/>
          <p:cNvGrpSpPr>
            <a:grpSpLocks/>
          </p:cNvGrpSpPr>
          <p:nvPr/>
        </p:nvGrpSpPr>
        <p:grpSpPr bwMode="auto">
          <a:xfrm>
            <a:off x="6096000" y="3429000"/>
            <a:ext cx="2362200" cy="609600"/>
            <a:chOff x="2304" y="2160"/>
            <a:chExt cx="1488" cy="384"/>
          </a:xfrm>
        </p:grpSpPr>
        <p:sp>
          <p:nvSpPr>
            <p:cNvPr id="320545" name="Arc 33"/>
            <p:cNvSpPr>
              <a:spLocks/>
            </p:cNvSpPr>
            <p:nvPr/>
          </p:nvSpPr>
          <p:spPr bwMode="auto">
            <a:xfrm rot="5400000">
              <a:off x="2280" y="2184"/>
              <a:ext cx="384" cy="3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46" name="Text Box 34"/>
            <p:cNvSpPr txBox="1">
              <a:spLocks noChangeArrowheads="1"/>
            </p:cNvSpPr>
            <p:nvPr/>
          </p:nvSpPr>
          <p:spPr bwMode="auto">
            <a:xfrm>
              <a:off x="2400" y="2208"/>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Rapid Prototype</a:t>
              </a:r>
              <a:endParaRPr lang="en-GB" sz="1800">
                <a:solidFill>
                  <a:srgbClr val="990000"/>
                </a:solidFill>
                <a:latin typeface="Arial Unicode MS" pitchFamily="34" charset="-128"/>
                <a:ea typeface="Arial Unicode MS" pitchFamily="34" charset="-128"/>
                <a:cs typeface="Arial Unicode MS" pitchFamily="34" charset="-128"/>
              </a:endParaRPr>
            </a:p>
          </p:txBody>
        </p:sp>
      </p:grpSp>
      <p:grpSp>
        <p:nvGrpSpPr>
          <p:cNvPr id="10" name="Group 35"/>
          <p:cNvGrpSpPr>
            <a:grpSpLocks/>
          </p:cNvGrpSpPr>
          <p:nvPr/>
        </p:nvGrpSpPr>
        <p:grpSpPr bwMode="auto">
          <a:xfrm>
            <a:off x="6096000" y="3429000"/>
            <a:ext cx="2438400" cy="838200"/>
            <a:chOff x="2304" y="2160"/>
            <a:chExt cx="1536" cy="528"/>
          </a:xfrm>
        </p:grpSpPr>
        <p:sp>
          <p:nvSpPr>
            <p:cNvPr id="320548" name="Arc 36"/>
            <p:cNvSpPr>
              <a:spLocks/>
            </p:cNvSpPr>
            <p:nvPr/>
          </p:nvSpPr>
          <p:spPr bwMode="auto">
            <a:xfrm rot="5400000">
              <a:off x="2280" y="2184"/>
              <a:ext cx="528" cy="4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49" name="Text Box 37"/>
            <p:cNvSpPr txBox="1">
              <a:spLocks noChangeArrowheads="1"/>
            </p:cNvSpPr>
            <p:nvPr/>
          </p:nvSpPr>
          <p:spPr bwMode="auto">
            <a:xfrm>
              <a:off x="2448" y="2409"/>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Specification</a:t>
              </a:r>
              <a:endParaRPr lang="en-GB" sz="1800">
                <a:solidFill>
                  <a:srgbClr val="990000"/>
                </a:solidFill>
                <a:latin typeface="Arial Unicode MS" pitchFamily="34" charset="-128"/>
                <a:ea typeface="Arial Unicode MS" pitchFamily="34" charset="-128"/>
                <a:cs typeface="Arial Unicode MS" pitchFamily="34" charset="-128"/>
              </a:endParaRPr>
            </a:p>
          </p:txBody>
        </p:sp>
      </p:grpSp>
      <p:grpSp>
        <p:nvGrpSpPr>
          <p:cNvPr id="11" name="Group 38"/>
          <p:cNvGrpSpPr>
            <a:grpSpLocks/>
          </p:cNvGrpSpPr>
          <p:nvPr/>
        </p:nvGrpSpPr>
        <p:grpSpPr bwMode="auto">
          <a:xfrm>
            <a:off x="6096000" y="3429000"/>
            <a:ext cx="2514600" cy="1066800"/>
            <a:chOff x="2304" y="2160"/>
            <a:chExt cx="1584" cy="672"/>
          </a:xfrm>
        </p:grpSpPr>
        <p:sp>
          <p:nvSpPr>
            <p:cNvPr id="320551" name="Arc 39"/>
            <p:cNvSpPr>
              <a:spLocks/>
            </p:cNvSpPr>
            <p:nvPr/>
          </p:nvSpPr>
          <p:spPr bwMode="auto">
            <a:xfrm rot="5400000">
              <a:off x="2280" y="2184"/>
              <a:ext cx="672"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52" name="Text Box 40"/>
            <p:cNvSpPr txBox="1">
              <a:spLocks noChangeArrowheads="1"/>
            </p:cNvSpPr>
            <p:nvPr/>
          </p:nvSpPr>
          <p:spPr bwMode="auto">
            <a:xfrm>
              <a:off x="2496" y="2601"/>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Design</a:t>
              </a:r>
              <a:endParaRPr lang="en-GB" sz="1800">
                <a:solidFill>
                  <a:srgbClr val="990000"/>
                </a:solidFill>
                <a:latin typeface="Arial Unicode MS" pitchFamily="34" charset="-128"/>
                <a:ea typeface="Arial Unicode MS" pitchFamily="34" charset="-128"/>
                <a:cs typeface="Arial Unicode MS" pitchFamily="34" charset="-128"/>
              </a:endParaRPr>
            </a:p>
          </p:txBody>
        </p:sp>
      </p:grpSp>
      <p:sp>
        <p:nvSpPr>
          <p:cNvPr id="320555" name="Text Box 43"/>
          <p:cNvSpPr txBox="1">
            <a:spLocks noChangeArrowheads="1"/>
          </p:cNvSpPr>
          <p:nvPr/>
        </p:nvSpPr>
        <p:spPr bwMode="auto">
          <a:xfrm>
            <a:off x="6477000" y="4433888"/>
            <a:ext cx="2209800" cy="366712"/>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Implementation</a:t>
            </a:r>
            <a:endParaRPr lang="en-GB" sz="1800">
              <a:solidFill>
                <a:srgbClr val="990000"/>
              </a:solidFill>
              <a:latin typeface="Arial Unicode MS" pitchFamily="34" charset="-128"/>
              <a:ea typeface="Arial Unicode MS" pitchFamily="34" charset="-128"/>
              <a:cs typeface="Arial Unicode MS" pitchFamily="34" charset="-128"/>
            </a:endParaRPr>
          </a:p>
        </p:txBody>
      </p:sp>
      <p:sp>
        <p:nvSpPr>
          <p:cNvPr id="320556" name="Rectangle 44"/>
          <p:cNvSpPr>
            <a:spLocks noGrp="1" noChangeArrowheads="1"/>
          </p:cNvSpPr>
          <p:nvPr>
            <p:ph type="title"/>
          </p:nvPr>
        </p:nvSpPr>
        <p:spPr>
          <a:xfrm>
            <a:off x="685800" y="152400"/>
            <a:ext cx="7772400" cy="1143000"/>
          </a:xfrm>
          <a:noFill/>
          <a:ln/>
        </p:spPr>
        <p:txBody>
          <a:bodyPr/>
          <a:lstStyle/>
          <a:p>
            <a:r>
              <a:rPr lang="en-US" sz="3600" b="0"/>
              <a:t>Simplified Spiral Model</a:t>
            </a:r>
          </a:p>
        </p:txBody>
      </p:sp>
      <p:sp>
        <p:nvSpPr>
          <p:cNvPr id="320557" name="Rectangle 45"/>
          <p:cNvSpPr>
            <a:spLocks noGrp="1" noChangeArrowheads="1"/>
          </p:cNvSpPr>
          <p:nvPr>
            <p:ph idx="1"/>
          </p:nvPr>
        </p:nvSpPr>
        <p:spPr>
          <a:xfrm>
            <a:off x="914400" y="2046288"/>
            <a:ext cx="3048000" cy="1552575"/>
          </a:xfrm>
          <a:noFill/>
          <a:ln/>
        </p:spPr>
        <p:txBody>
          <a:bodyPr>
            <a:spAutoFit/>
          </a:bodyPr>
          <a:lstStyle/>
          <a:p>
            <a:r>
              <a:rPr lang="en-US" sz="2400"/>
              <a:t>If risks cannot be resolved, project is immediately terminated</a:t>
            </a:r>
          </a:p>
        </p:txBody>
      </p:sp>
      <p:sp>
        <p:nvSpPr>
          <p:cNvPr id="320554" name="Arc 42"/>
          <p:cNvSpPr>
            <a:spLocks/>
          </p:cNvSpPr>
          <p:nvPr/>
        </p:nvSpPr>
        <p:spPr bwMode="auto">
          <a:xfrm rot="5400000">
            <a:off x="6057900" y="3467100"/>
            <a:ext cx="1295400" cy="1219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66" name="Arc 54"/>
          <p:cNvSpPr>
            <a:spLocks/>
          </p:cNvSpPr>
          <p:nvPr/>
        </p:nvSpPr>
        <p:spPr bwMode="auto">
          <a:xfrm rot="5400000">
            <a:off x="6060281" y="3469482"/>
            <a:ext cx="1520825" cy="1446212"/>
          </a:xfrm>
          <a:custGeom>
            <a:avLst/>
            <a:gdLst>
              <a:gd name="G0" fmla="+- 3798 0 0"/>
              <a:gd name="G1" fmla="+- 21600 0 0"/>
              <a:gd name="G2" fmla="+- 21600 0 0"/>
              <a:gd name="T0" fmla="*/ 0 w 25398"/>
              <a:gd name="T1" fmla="*/ 337 h 21600"/>
              <a:gd name="T2" fmla="*/ 25398 w 25398"/>
              <a:gd name="T3" fmla="*/ 21600 h 21600"/>
              <a:gd name="T4" fmla="*/ 3798 w 25398"/>
              <a:gd name="T5" fmla="*/ 21600 h 21600"/>
            </a:gdLst>
            <a:ahLst/>
            <a:cxnLst>
              <a:cxn ang="0">
                <a:pos x="T0" y="T1"/>
              </a:cxn>
              <a:cxn ang="0">
                <a:pos x="T2" y="T3"/>
              </a:cxn>
              <a:cxn ang="0">
                <a:pos x="T4" y="T5"/>
              </a:cxn>
            </a:cxnLst>
            <a:rect l="0" t="0" r="r" b="b"/>
            <a:pathLst>
              <a:path w="25398" h="21600" fill="none" extrusionOk="0">
                <a:moveTo>
                  <a:pt x="-1" y="336"/>
                </a:moveTo>
                <a:cubicBezTo>
                  <a:pt x="1253" y="112"/>
                  <a:pt x="2524" y="-1"/>
                  <a:pt x="3798" y="0"/>
                </a:cubicBezTo>
                <a:cubicBezTo>
                  <a:pt x="15727" y="0"/>
                  <a:pt x="25398" y="9670"/>
                  <a:pt x="25398" y="21600"/>
                </a:cubicBezTo>
              </a:path>
              <a:path w="25398" h="21600" stroke="0" extrusionOk="0">
                <a:moveTo>
                  <a:pt x="-1" y="336"/>
                </a:moveTo>
                <a:cubicBezTo>
                  <a:pt x="1253" y="112"/>
                  <a:pt x="2524" y="-1"/>
                  <a:pt x="3798" y="0"/>
                </a:cubicBezTo>
                <a:cubicBezTo>
                  <a:pt x="15727" y="0"/>
                  <a:pt x="25398" y="9670"/>
                  <a:pt x="25398" y="21600"/>
                </a:cubicBezTo>
                <a:lnTo>
                  <a:pt x="3798" y="21600"/>
                </a:lnTo>
                <a:close/>
              </a:path>
            </a:pathLst>
          </a:custGeom>
          <a:noFill/>
          <a:ln w="19050">
            <a:solidFill>
              <a:srgbClr val="0066FF"/>
            </a:solidFill>
            <a:round/>
            <a:headEnd/>
            <a:tailEnd/>
          </a:ln>
          <a:effectLst/>
        </p:spPr>
        <p:txBody>
          <a:bodyPr wrap="none" anchor="ctr"/>
          <a:lstStyle/>
          <a:p>
            <a:endParaRPr lang="en-US"/>
          </a:p>
        </p:txBody>
      </p:sp>
      <p:sp>
        <p:nvSpPr>
          <p:cNvPr id="320569" name="Text Box 57"/>
          <p:cNvSpPr txBox="1">
            <a:spLocks noChangeArrowheads="1"/>
          </p:cNvSpPr>
          <p:nvPr/>
        </p:nvSpPr>
        <p:spPr bwMode="auto">
          <a:xfrm>
            <a:off x="6629400" y="4814888"/>
            <a:ext cx="2209800" cy="366712"/>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Integration</a:t>
            </a:r>
            <a:endParaRPr lang="en-GB" sz="1800">
              <a:solidFill>
                <a:srgbClr val="990000"/>
              </a:solidFill>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618262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685800" y="-304800"/>
            <a:ext cx="7772400" cy="1143000"/>
          </a:xfrm>
          <a:noFill/>
          <a:ln/>
        </p:spPr>
        <p:txBody>
          <a:bodyPr/>
          <a:lstStyle/>
          <a:p>
            <a:r>
              <a:rPr lang="en-US" sz="3600" b="0"/>
              <a:t>Full Spiral Model</a:t>
            </a:r>
          </a:p>
        </p:txBody>
      </p:sp>
      <p:graphicFrame>
        <p:nvGraphicFramePr>
          <p:cNvPr id="315395" name="Object 3"/>
          <p:cNvGraphicFramePr>
            <a:graphicFrameLocks noChangeAspect="1"/>
          </p:cNvGraphicFramePr>
          <p:nvPr/>
        </p:nvGraphicFramePr>
        <p:xfrm>
          <a:off x="609600" y="822325"/>
          <a:ext cx="8088313" cy="5883275"/>
        </p:xfrm>
        <a:graphic>
          <a:graphicData uri="http://schemas.openxmlformats.org/presentationml/2006/ole">
            <mc:AlternateContent xmlns:mc="http://schemas.openxmlformats.org/markup-compatibility/2006">
              <mc:Choice xmlns:v="urn:schemas-microsoft-com:vml" Requires="v">
                <p:oleObj name="Photo Editor Photo" r:id="rId2" imgW="8554644" imgH="6219048" progId="">
                  <p:embed/>
                </p:oleObj>
              </mc:Choice>
              <mc:Fallback>
                <p:oleObj name="Photo Editor Photo" r:id="rId2" imgW="8554644" imgH="6219048"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822325"/>
                        <a:ext cx="8088313"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5396" name="Text Box 4"/>
          <p:cNvSpPr txBox="1">
            <a:spLocks noChangeArrowheads="1"/>
          </p:cNvSpPr>
          <p:nvPr/>
        </p:nvSpPr>
        <p:spPr bwMode="auto">
          <a:xfrm>
            <a:off x="6400800" y="1219200"/>
            <a:ext cx="2743200" cy="320675"/>
          </a:xfrm>
          <a:prstGeom prst="rect">
            <a:avLst/>
          </a:prstGeom>
          <a:noFill/>
          <a:ln w="9525">
            <a:noFill/>
            <a:miter lim="800000"/>
            <a:headEnd/>
            <a:tailEnd/>
          </a:ln>
          <a:effectLst/>
        </p:spPr>
        <p:txBody>
          <a:bodyPr>
            <a:spAutoFit/>
          </a:bodyPr>
          <a:lstStyle/>
          <a:p>
            <a:pPr>
              <a:spcBef>
                <a:spcPct val="50000"/>
              </a:spcBef>
            </a:pPr>
            <a:r>
              <a:rPr lang="en-US" sz="1500" u="sng">
                <a:solidFill>
                  <a:srgbClr val="339933"/>
                </a:solidFill>
                <a:latin typeface="Arial Black" pitchFamily="34" charset="0"/>
                <a:cs typeface="Arial" charset="0"/>
              </a:rPr>
              <a:t>Radial dimension (cost)</a:t>
            </a:r>
          </a:p>
        </p:txBody>
      </p:sp>
      <p:sp>
        <p:nvSpPr>
          <p:cNvPr id="315397" name="Line 5"/>
          <p:cNvSpPr>
            <a:spLocks noChangeShapeType="1"/>
          </p:cNvSpPr>
          <p:nvPr/>
        </p:nvSpPr>
        <p:spPr bwMode="auto">
          <a:xfrm flipV="1">
            <a:off x="7467600" y="1447800"/>
            <a:ext cx="152400" cy="1524000"/>
          </a:xfrm>
          <a:prstGeom prst="line">
            <a:avLst/>
          </a:prstGeom>
          <a:noFill/>
          <a:ln w="28575">
            <a:solidFill>
              <a:srgbClr val="339933"/>
            </a:solidFill>
            <a:round/>
            <a:headEnd/>
            <a:tailEnd type="triangle" w="med" len="med"/>
          </a:ln>
          <a:effectLst/>
        </p:spPr>
        <p:txBody>
          <a:bodyPr/>
          <a:lstStyle/>
          <a:p>
            <a:endParaRPr lang="en-US"/>
          </a:p>
        </p:txBody>
      </p:sp>
      <p:sp>
        <p:nvSpPr>
          <p:cNvPr id="315399" name="Text Box 7"/>
          <p:cNvSpPr txBox="1">
            <a:spLocks noChangeArrowheads="1"/>
          </p:cNvSpPr>
          <p:nvPr/>
        </p:nvSpPr>
        <p:spPr bwMode="auto">
          <a:xfrm>
            <a:off x="228600" y="1279525"/>
            <a:ext cx="3352800" cy="320675"/>
          </a:xfrm>
          <a:prstGeom prst="rect">
            <a:avLst/>
          </a:prstGeom>
          <a:noFill/>
          <a:ln w="9525">
            <a:noFill/>
            <a:miter lim="800000"/>
            <a:headEnd/>
            <a:tailEnd/>
          </a:ln>
          <a:effectLst/>
        </p:spPr>
        <p:txBody>
          <a:bodyPr>
            <a:spAutoFit/>
          </a:bodyPr>
          <a:lstStyle/>
          <a:p>
            <a:pPr>
              <a:spcBef>
                <a:spcPct val="50000"/>
              </a:spcBef>
            </a:pPr>
            <a:r>
              <a:rPr lang="en-US" sz="1500" u="sng">
                <a:solidFill>
                  <a:srgbClr val="339933"/>
                </a:solidFill>
                <a:latin typeface="Arial Black" pitchFamily="34" charset="0"/>
                <a:cs typeface="Arial" charset="0"/>
              </a:rPr>
              <a:t>Angular dimension (progress)</a:t>
            </a:r>
          </a:p>
        </p:txBody>
      </p:sp>
      <p:sp>
        <p:nvSpPr>
          <p:cNvPr id="315400" name="Line 8"/>
          <p:cNvSpPr>
            <a:spLocks noChangeShapeType="1"/>
          </p:cNvSpPr>
          <p:nvPr/>
        </p:nvSpPr>
        <p:spPr bwMode="auto">
          <a:xfrm flipH="1" flipV="1">
            <a:off x="2895600" y="1565275"/>
            <a:ext cx="1066800" cy="1676400"/>
          </a:xfrm>
          <a:prstGeom prst="line">
            <a:avLst/>
          </a:prstGeom>
          <a:noFill/>
          <a:ln w="28575">
            <a:solidFill>
              <a:srgbClr val="339933"/>
            </a:solidFill>
            <a:round/>
            <a:headEnd/>
            <a:tailEnd type="triangle" w="med" len="med"/>
          </a:ln>
          <a:effectLst/>
        </p:spPr>
        <p:txBody>
          <a:bodyPr/>
          <a:lstStyle/>
          <a:p>
            <a:endParaRPr lang="en-US"/>
          </a:p>
        </p:txBody>
      </p:sp>
    </p:spTree>
    <p:extLst>
      <p:ext uri="{BB962C8B-B14F-4D97-AF65-F5344CB8AC3E}">
        <p14:creationId xmlns:p14="http://schemas.microsoft.com/office/powerpoint/2010/main" val="3151291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A387-F262-4F4B-43EA-0231ED89A470}"/>
              </a:ext>
            </a:extLst>
          </p:cNvPr>
          <p:cNvSpPr>
            <a:spLocks noGrp="1"/>
          </p:cNvSpPr>
          <p:nvPr>
            <p:ph type="title"/>
          </p:nvPr>
        </p:nvSpPr>
        <p:spPr/>
        <p:txBody>
          <a:bodyPr>
            <a:normAutofit/>
          </a:bodyPr>
          <a:lstStyle/>
          <a:p>
            <a:r>
              <a:rPr lang="en-US" dirty="0"/>
              <a:t>Extreme Programming (XP) – Overview</a:t>
            </a:r>
          </a:p>
        </p:txBody>
      </p:sp>
      <p:sp>
        <p:nvSpPr>
          <p:cNvPr id="3" name="Content Placeholder 2">
            <a:extLst>
              <a:ext uri="{FF2B5EF4-FFF2-40B4-BE49-F238E27FC236}">
                <a16:creationId xmlns:a16="http://schemas.microsoft.com/office/drawing/2014/main" id="{BFCD7C1E-4F63-4D07-DB95-64A13B14B48E}"/>
              </a:ext>
            </a:extLst>
          </p:cNvPr>
          <p:cNvSpPr>
            <a:spLocks noGrp="1"/>
          </p:cNvSpPr>
          <p:nvPr>
            <p:ph idx="1"/>
          </p:nvPr>
        </p:nvSpPr>
        <p:spPr/>
        <p:txBody>
          <a:bodyPr>
            <a:normAutofit fontScale="92500" lnSpcReduction="20000"/>
          </a:bodyPr>
          <a:lstStyle/>
          <a:p>
            <a:pPr>
              <a:buFont typeface="Courier New" panose="02070309020205020404" pitchFamily="49" charset="0"/>
              <a:buChar char="o"/>
            </a:pPr>
            <a:r>
              <a:rPr lang="en-US" dirty="0"/>
              <a:t>Introduced by Kent Beck in the 1990s.</a:t>
            </a:r>
          </a:p>
          <a:p>
            <a:pPr>
              <a:buFont typeface="Courier New" panose="02070309020205020404" pitchFamily="49" charset="0"/>
              <a:buChar char="o"/>
            </a:pPr>
            <a:endParaRPr lang="en-US" dirty="0"/>
          </a:p>
          <a:p>
            <a:pPr>
              <a:buFont typeface="Courier New" panose="02070309020205020404" pitchFamily="49" charset="0"/>
              <a:buChar char="o"/>
            </a:pPr>
            <a:r>
              <a:rPr lang="en-US" dirty="0"/>
              <a:t>An agile software development methodology.</a:t>
            </a:r>
          </a:p>
          <a:p>
            <a:pPr>
              <a:buFont typeface="Courier New" panose="02070309020205020404" pitchFamily="49" charset="0"/>
              <a:buChar char="o"/>
            </a:pPr>
            <a:endParaRPr lang="en-US" dirty="0"/>
          </a:p>
          <a:p>
            <a:pPr>
              <a:buFont typeface="Courier New" panose="02070309020205020404" pitchFamily="49" charset="0"/>
              <a:buChar char="o"/>
            </a:pPr>
            <a:r>
              <a:rPr lang="en-US" dirty="0"/>
              <a:t>Focuses on customer satisfaction, flexibility, and teamwork.</a:t>
            </a:r>
          </a:p>
          <a:p>
            <a:pPr>
              <a:buFont typeface="Courier New" panose="02070309020205020404" pitchFamily="49" charset="0"/>
              <a:buChar char="o"/>
            </a:pPr>
            <a:endParaRPr lang="en-US" dirty="0"/>
          </a:p>
          <a:p>
            <a:pPr>
              <a:buFont typeface="Courier New" panose="02070309020205020404" pitchFamily="49" charset="0"/>
              <a:buChar char="o"/>
            </a:pPr>
            <a:r>
              <a:rPr lang="en-US" dirty="0"/>
              <a:t>Emphasizes short development cycles, frequent releases, and continuous feedback.</a:t>
            </a:r>
          </a:p>
          <a:p>
            <a:pPr>
              <a:buFont typeface="Courier New" panose="02070309020205020404" pitchFamily="49" charset="0"/>
              <a:buChar char="o"/>
            </a:pPr>
            <a:endParaRPr lang="en-US" dirty="0"/>
          </a:p>
          <a:p>
            <a:pPr>
              <a:buFont typeface="Courier New" panose="02070309020205020404" pitchFamily="49" charset="0"/>
              <a:buChar char="o"/>
            </a:pPr>
            <a:r>
              <a:rPr lang="en-US" dirty="0"/>
              <a:t>Encourages simple design, coding standards, and close customer-developer collaboration.</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3043978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3369-FBF7-1C42-CA54-21EE3B5FFD3C}"/>
              </a:ext>
            </a:extLst>
          </p:cNvPr>
          <p:cNvSpPr>
            <a:spLocks noGrp="1"/>
          </p:cNvSpPr>
          <p:nvPr>
            <p:ph type="title"/>
          </p:nvPr>
        </p:nvSpPr>
        <p:spPr>
          <a:xfrm>
            <a:off x="822960" y="286605"/>
            <a:ext cx="7543800" cy="856396"/>
          </a:xfrm>
        </p:spPr>
        <p:txBody>
          <a:bodyPr/>
          <a:lstStyle/>
          <a:p>
            <a:r>
              <a:rPr lang="en-US" dirty="0"/>
              <a:t>Key Practices in XP</a:t>
            </a:r>
          </a:p>
        </p:txBody>
      </p:sp>
      <p:sp>
        <p:nvSpPr>
          <p:cNvPr id="3" name="Content Placeholder 2">
            <a:extLst>
              <a:ext uri="{FF2B5EF4-FFF2-40B4-BE49-F238E27FC236}">
                <a16:creationId xmlns:a16="http://schemas.microsoft.com/office/drawing/2014/main" id="{65C8B989-E873-D084-FD5C-B1477595508E}"/>
              </a:ext>
            </a:extLst>
          </p:cNvPr>
          <p:cNvSpPr>
            <a:spLocks noGrp="1"/>
          </p:cNvSpPr>
          <p:nvPr>
            <p:ph idx="1"/>
          </p:nvPr>
        </p:nvSpPr>
        <p:spPr>
          <a:xfrm>
            <a:off x="822959" y="1845734"/>
            <a:ext cx="7543801" cy="4478866"/>
          </a:xfrm>
        </p:spPr>
        <p:txBody>
          <a:bodyPr>
            <a:normAutofit/>
          </a:bodyPr>
          <a:lstStyle/>
          <a:p>
            <a:pPr>
              <a:buFont typeface="Courier New" panose="02070309020205020404" pitchFamily="49" charset="0"/>
              <a:buChar char="o"/>
            </a:pPr>
            <a:r>
              <a:rPr lang="en-US" dirty="0"/>
              <a:t>Pair Programming – two developers work together on the same code.</a:t>
            </a:r>
          </a:p>
          <a:p>
            <a:pPr>
              <a:buFont typeface="Courier New" panose="02070309020205020404" pitchFamily="49" charset="0"/>
              <a:buChar char="o"/>
            </a:pPr>
            <a:r>
              <a:rPr lang="en-US" dirty="0"/>
              <a:t>Continuous Integration – code integrated and tested frequently.</a:t>
            </a:r>
          </a:p>
          <a:p>
            <a:pPr>
              <a:buFont typeface="Courier New" panose="02070309020205020404" pitchFamily="49" charset="0"/>
              <a:buChar char="o"/>
            </a:pPr>
            <a:r>
              <a:rPr lang="en-US" dirty="0"/>
              <a:t>Small Releases – frequent delivery of working software.</a:t>
            </a:r>
          </a:p>
          <a:p>
            <a:pPr>
              <a:buFont typeface="Courier New" panose="02070309020205020404" pitchFamily="49" charset="0"/>
              <a:buChar char="o"/>
            </a:pPr>
            <a:r>
              <a:rPr lang="en-US" dirty="0"/>
              <a:t>Refactoring – continuous improvement of code structure.</a:t>
            </a:r>
          </a:p>
          <a:p>
            <a:pPr>
              <a:buFont typeface="Courier New" panose="02070309020205020404" pitchFamily="49" charset="0"/>
              <a:buChar char="o"/>
            </a:pPr>
            <a:r>
              <a:rPr lang="en-US" dirty="0"/>
              <a:t>Collective Code Ownership – anyone can improve any part of the code.</a:t>
            </a:r>
          </a:p>
          <a:p>
            <a:pPr>
              <a:buFont typeface="Courier New" panose="02070309020205020404" pitchFamily="49" charset="0"/>
              <a:buChar char="o"/>
            </a:pPr>
            <a:r>
              <a:rPr lang="en-US" dirty="0"/>
              <a:t>40-Hour Work Week – avoid burnout by maintaining sustainable pace.</a:t>
            </a:r>
          </a:p>
          <a:p>
            <a:pPr>
              <a:buFont typeface="Courier New" panose="02070309020205020404" pitchFamily="49" charset="0"/>
              <a:buChar char="o"/>
            </a:pPr>
            <a:r>
              <a:rPr lang="en-US" dirty="0"/>
              <a:t>On-Site Customer – customer representative is always available for feedback.</a:t>
            </a:r>
          </a:p>
        </p:txBody>
      </p:sp>
    </p:spTree>
    <p:extLst>
      <p:ext uri="{BB962C8B-B14F-4D97-AF65-F5344CB8AC3E}">
        <p14:creationId xmlns:p14="http://schemas.microsoft.com/office/powerpoint/2010/main" val="1986425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3FF6-2EFD-0B38-ED93-E4D99543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27256-1100-9204-8A47-8105E49538D6}"/>
              </a:ext>
            </a:extLst>
          </p:cNvPr>
          <p:cNvSpPr>
            <a:spLocks noGrp="1"/>
          </p:cNvSpPr>
          <p:nvPr>
            <p:ph type="title"/>
          </p:nvPr>
        </p:nvSpPr>
        <p:spPr/>
        <p:txBody>
          <a:bodyPr/>
          <a:lstStyle/>
          <a:p>
            <a:r>
              <a:rPr lang="en-US" dirty="0"/>
              <a:t>Advantages of XP</a:t>
            </a:r>
          </a:p>
        </p:txBody>
      </p:sp>
      <p:sp>
        <p:nvSpPr>
          <p:cNvPr id="3" name="Content Placeholder 2">
            <a:extLst>
              <a:ext uri="{FF2B5EF4-FFF2-40B4-BE49-F238E27FC236}">
                <a16:creationId xmlns:a16="http://schemas.microsoft.com/office/drawing/2014/main" id="{AE13BDD5-5515-44B7-C2EC-616D557D2F99}"/>
              </a:ext>
            </a:extLst>
          </p:cNvPr>
          <p:cNvSpPr>
            <a:spLocks noGrp="1"/>
          </p:cNvSpPr>
          <p:nvPr>
            <p:ph idx="1"/>
          </p:nvPr>
        </p:nvSpPr>
        <p:spPr/>
        <p:txBody>
          <a:bodyPr>
            <a:normAutofit/>
          </a:bodyPr>
          <a:lstStyle/>
          <a:p>
            <a:pPr>
              <a:buFont typeface="Courier New" panose="02070309020205020404" pitchFamily="49" charset="0"/>
              <a:buChar char="o"/>
            </a:pPr>
            <a:endParaRPr lang="en-US" dirty="0"/>
          </a:p>
          <a:p>
            <a:pPr>
              <a:buFont typeface="Courier New" panose="02070309020205020404" pitchFamily="49" charset="0"/>
              <a:buChar char="o"/>
            </a:pPr>
            <a:r>
              <a:rPr lang="en-US" dirty="0"/>
              <a:t>Ensures high customer satisfaction through continuous involvement.</a:t>
            </a:r>
          </a:p>
          <a:p>
            <a:pPr>
              <a:buFont typeface="Courier New" panose="02070309020205020404" pitchFamily="49" charset="0"/>
              <a:buChar char="o"/>
            </a:pPr>
            <a:r>
              <a:rPr lang="en-US" dirty="0"/>
              <a:t>Early delivery of working software.</a:t>
            </a:r>
          </a:p>
          <a:p>
            <a:pPr>
              <a:buFont typeface="Courier New" panose="02070309020205020404" pitchFamily="49" charset="0"/>
              <a:buChar char="o"/>
            </a:pPr>
            <a:r>
              <a:rPr lang="en-US" dirty="0"/>
              <a:t>Improves code quality through refactoring, and pair programming.</a:t>
            </a:r>
          </a:p>
          <a:p>
            <a:pPr>
              <a:buFont typeface="Courier New" panose="02070309020205020404" pitchFamily="49" charset="0"/>
              <a:buChar char="o"/>
            </a:pPr>
            <a:r>
              <a:rPr lang="en-US" dirty="0"/>
              <a:t>Highly adaptable to changing requirements.</a:t>
            </a:r>
          </a:p>
          <a:p>
            <a:pPr>
              <a:buFont typeface="Courier New" panose="02070309020205020404" pitchFamily="49" charset="0"/>
              <a:buChar char="o"/>
            </a:pPr>
            <a:r>
              <a:rPr lang="en-US" dirty="0"/>
              <a:t>Promotes team collaboration and communication.</a:t>
            </a:r>
          </a:p>
          <a:p>
            <a:pPr>
              <a:buFont typeface="Courier New" panose="02070309020205020404" pitchFamily="49" charset="0"/>
              <a:buChar char="o"/>
            </a:pPr>
            <a:r>
              <a:rPr lang="en-US" dirty="0"/>
              <a:t>Reduces risks by catching defects early.</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3871394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932DB-0C8B-8F10-8B7F-D84E607BB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ECFED-BC0A-8C88-5EE9-AADDBE407C2D}"/>
              </a:ext>
            </a:extLst>
          </p:cNvPr>
          <p:cNvSpPr>
            <a:spLocks noGrp="1"/>
          </p:cNvSpPr>
          <p:nvPr>
            <p:ph type="title"/>
          </p:nvPr>
        </p:nvSpPr>
        <p:spPr/>
        <p:txBody>
          <a:bodyPr/>
          <a:lstStyle/>
          <a:p>
            <a:r>
              <a:rPr lang="en-US" dirty="0"/>
              <a:t>Disadvantages of XP</a:t>
            </a:r>
          </a:p>
        </p:txBody>
      </p:sp>
      <p:sp>
        <p:nvSpPr>
          <p:cNvPr id="3" name="Content Placeholder 2">
            <a:extLst>
              <a:ext uri="{FF2B5EF4-FFF2-40B4-BE49-F238E27FC236}">
                <a16:creationId xmlns:a16="http://schemas.microsoft.com/office/drawing/2014/main" id="{215C6488-93BE-0FC5-49C1-5AD0D95DD284}"/>
              </a:ext>
            </a:extLst>
          </p:cNvPr>
          <p:cNvSpPr>
            <a:spLocks noGrp="1"/>
          </p:cNvSpPr>
          <p:nvPr>
            <p:ph idx="1"/>
          </p:nvPr>
        </p:nvSpPr>
        <p:spPr/>
        <p:txBody>
          <a:bodyPr>
            <a:normAutofit/>
          </a:bodyPr>
          <a:lstStyle/>
          <a:p>
            <a:pPr>
              <a:buFont typeface="Courier New" panose="02070309020205020404" pitchFamily="49" charset="0"/>
              <a:buChar char="o"/>
            </a:pPr>
            <a:endParaRPr lang="en-US" dirty="0"/>
          </a:p>
          <a:p>
            <a:pPr>
              <a:buFont typeface="Courier New" panose="02070309020205020404" pitchFamily="49" charset="0"/>
              <a:buChar char="o"/>
            </a:pPr>
            <a:r>
              <a:rPr lang="en-US" dirty="0"/>
              <a:t>High customer involvement required (may not always be feasible).</a:t>
            </a:r>
          </a:p>
          <a:p>
            <a:pPr>
              <a:buFont typeface="Courier New" panose="02070309020205020404" pitchFamily="49" charset="0"/>
              <a:buChar char="o"/>
            </a:pPr>
            <a:r>
              <a:rPr lang="en-US" dirty="0"/>
              <a:t>Difficult to manage in large, distributed teams.</a:t>
            </a:r>
          </a:p>
          <a:p>
            <a:pPr>
              <a:buFont typeface="Courier New" panose="02070309020205020404" pitchFamily="49" charset="0"/>
              <a:buChar char="o"/>
            </a:pPr>
            <a:r>
              <a:rPr lang="en-US" dirty="0"/>
              <a:t>Can be costly due to pair programming and frequent testing.</a:t>
            </a:r>
          </a:p>
          <a:p>
            <a:pPr>
              <a:buFont typeface="Courier New" panose="02070309020205020404" pitchFamily="49" charset="0"/>
              <a:buChar char="o"/>
            </a:pPr>
            <a:r>
              <a:rPr lang="en-US" dirty="0"/>
              <a:t>Lacks emphasis on formal documentation.</a:t>
            </a:r>
          </a:p>
          <a:p>
            <a:pPr>
              <a:buFont typeface="Courier New" panose="02070309020205020404" pitchFamily="49" charset="0"/>
              <a:buChar char="o"/>
            </a:pPr>
            <a:r>
              <a:rPr lang="en-US" dirty="0"/>
              <a:t>May not work well for projects with fixed scope and deadlines.</a:t>
            </a:r>
          </a:p>
          <a:p>
            <a:pPr>
              <a:buFont typeface="Courier New" panose="02070309020205020404" pitchFamily="49" charset="0"/>
              <a:buChar char="o"/>
            </a:pPr>
            <a:r>
              <a:rPr lang="en-US" dirty="0"/>
              <a:t>Requires developers with strong communication and technical skills.</a:t>
            </a:r>
          </a:p>
        </p:txBody>
      </p:sp>
    </p:spTree>
    <p:extLst>
      <p:ext uri="{BB962C8B-B14F-4D97-AF65-F5344CB8AC3E}">
        <p14:creationId xmlns:p14="http://schemas.microsoft.com/office/powerpoint/2010/main" val="947634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2E94-5641-5FA1-6B7A-7B17DE7D1BCC}"/>
              </a:ext>
            </a:extLst>
          </p:cNvPr>
          <p:cNvSpPr>
            <a:spLocks noGrp="1"/>
          </p:cNvSpPr>
          <p:nvPr>
            <p:ph type="title"/>
          </p:nvPr>
        </p:nvSpPr>
        <p:spPr/>
        <p:txBody>
          <a:bodyPr/>
          <a:lstStyle/>
          <a:p>
            <a:r>
              <a:rPr lang="en-US" dirty="0"/>
              <a:t>Examples of XP Use</a:t>
            </a:r>
          </a:p>
        </p:txBody>
      </p:sp>
      <p:sp>
        <p:nvSpPr>
          <p:cNvPr id="3" name="Content Placeholder 2">
            <a:extLst>
              <a:ext uri="{FF2B5EF4-FFF2-40B4-BE49-F238E27FC236}">
                <a16:creationId xmlns:a16="http://schemas.microsoft.com/office/drawing/2014/main" id="{5E6CE29E-8EF3-8D5B-95F2-56FB6967A141}"/>
              </a:ext>
            </a:extLst>
          </p:cNvPr>
          <p:cNvSpPr>
            <a:spLocks noGrp="1"/>
          </p:cNvSpPr>
          <p:nvPr>
            <p:ph idx="1"/>
          </p:nvPr>
        </p:nvSpPr>
        <p:spPr/>
        <p:txBody>
          <a:bodyPr/>
          <a:lstStyle/>
          <a:p>
            <a:pPr>
              <a:buFont typeface="Courier New" panose="02070309020205020404" pitchFamily="49" charset="0"/>
              <a:buChar char="o"/>
            </a:pPr>
            <a:r>
              <a:rPr lang="en-US" dirty="0"/>
              <a:t>Startup product development – frequent changes, evolving needs.</a:t>
            </a:r>
          </a:p>
          <a:p>
            <a:pPr>
              <a:buFont typeface="Courier New" panose="02070309020205020404" pitchFamily="49" charset="0"/>
              <a:buChar char="o"/>
            </a:pPr>
            <a:endParaRPr lang="en-US" dirty="0"/>
          </a:p>
          <a:p>
            <a:pPr>
              <a:buFont typeface="Courier New" panose="02070309020205020404" pitchFamily="49" charset="0"/>
              <a:buChar char="o"/>
            </a:pPr>
            <a:r>
              <a:rPr lang="en-US" dirty="0"/>
              <a:t>Web &amp; mobile apps requiring quick releases.</a:t>
            </a:r>
          </a:p>
          <a:p>
            <a:pPr>
              <a:buFont typeface="Courier New" panose="02070309020205020404" pitchFamily="49" charset="0"/>
              <a:buChar char="o"/>
            </a:pPr>
            <a:endParaRPr lang="en-US" dirty="0"/>
          </a:p>
          <a:p>
            <a:pPr>
              <a:buFont typeface="Courier New" panose="02070309020205020404" pitchFamily="49" charset="0"/>
              <a:buChar char="o"/>
            </a:pPr>
            <a:r>
              <a:rPr lang="en-US" dirty="0"/>
              <a:t>Game development with continuous testing and feedback.</a:t>
            </a:r>
          </a:p>
          <a:p>
            <a:pPr>
              <a:buFont typeface="Courier New" panose="02070309020205020404" pitchFamily="49" charset="0"/>
              <a:buChar char="o"/>
            </a:pPr>
            <a:endParaRPr lang="en-US" dirty="0"/>
          </a:p>
          <a:p>
            <a:pPr>
              <a:buFont typeface="Courier New" panose="02070309020205020404" pitchFamily="49" charset="0"/>
              <a:buChar char="o"/>
            </a:pPr>
            <a:r>
              <a:rPr lang="en-US" dirty="0"/>
              <a:t>Projects with unclear or dynamic requirements.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21098901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762000" y="457200"/>
            <a:ext cx="7772400" cy="1143000"/>
          </a:xfrm>
        </p:spPr>
        <p:txBody>
          <a:bodyPr/>
          <a:lstStyle/>
          <a:p>
            <a:r>
              <a:rPr lang="en-US" sz="3600" b="0"/>
              <a:t>Extreme Programming</a:t>
            </a:r>
          </a:p>
        </p:txBody>
      </p:sp>
      <p:pic>
        <p:nvPicPr>
          <p:cNvPr id="292867" name="Picture 3" descr="project"/>
          <p:cNvPicPr>
            <a:picLocks noChangeAspect="1" noChangeArrowheads="1"/>
          </p:cNvPicPr>
          <p:nvPr/>
        </p:nvPicPr>
        <p:blipFill>
          <a:blip r:embed="rId2" cstate="print"/>
          <a:srcRect/>
          <a:stretch>
            <a:fillRect/>
          </a:stretch>
        </p:blipFill>
        <p:spPr bwMode="auto">
          <a:xfrm>
            <a:off x="1066800" y="2057400"/>
            <a:ext cx="7772400" cy="3343275"/>
          </a:xfrm>
          <a:prstGeom prst="rect">
            <a:avLst/>
          </a:prstGeom>
          <a:noFill/>
        </p:spPr>
      </p:pic>
    </p:spTree>
    <p:extLst>
      <p:ext uri="{BB962C8B-B14F-4D97-AF65-F5344CB8AC3E}">
        <p14:creationId xmlns:p14="http://schemas.microsoft.com/office/powerpoint/2010/main" val="32684374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4" name="Picture 2"/>
          <p:cNvPicPr>
            <a:picLocks noGrp="1" noChangeAspect="1" noChangeArrowheads="1"/>
          </p:cNvPicPr>
          <p:nvPr>
            <p:ph/>
          </p:nvPr>
        </p:nvPicPr>
        <p:blipFill>
          <a:blip r:embed="rId2" cstate="print"/>
          <a:stretch>
            <a:fillRect/>
          </a:stretch>
        </p:blipFill>
        <p:spPr>
          <a:xfrm>
            <a:off x="724381" y="642559"/>
            <a:ext cx="7695238" cy="5420481"/>
          </a:xfrm>
          <a:noFill/>
          <a:ln/>
        </p:spPr>
      </p:pic>
    </p:spTree>
    <p:extLst>
      <p:ext uri="{BB962C8B-B14F-4D97-AF65-F5344CB8AC3E}">
        <p14:creationId xmlns:p14="http://schemas.microsoft.com/office/powerpoint/2010/main" val="3398252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685800" y="152400"/>
            <a:ext cx="7772400" cy="1143000"/>
          </a:xfrm>
          <a:noFill/>
          <a:ln/>
        </p:spPr>
        <p:txBody>
          <a:bodyPr/>
          <a:lstStyle/>
          <a:p>
            <a:r>
              <a:rPr lang="en-US" sz="3600" b="0"/>
              <a:t>Documentation Phase?</a:t>
            </a:r>
          </a:p>
        </p:txBody>
      </p:sp>
      <p:sp>
        <p:nvSpPr>
          <p:cNvPr id="297987" name="Rectangle 3"/>
          <p:cNvSpPr>
            <a:spLocks noGrp="1" noChangeArrowheads="1"/>
          </p:cNvSpPr>
          <p:nvPr>
            <p:ph idx="1"/>
          </p:nvPr>
        </p:nvSpPr>
        <p:spPr>
          <a:xfrm>
            <a:off x="304800" y="1447800"/>
            <a:ext cx="8382000" cy="3478213"/>
          </a:xfrm>
        </p:spPr>
        <p:txBody>
          <a:bodyPr>
            <a:normAutofit lnSpcReduction="10000"/>
          </a:bodyPr>
          <a:lstStyle/>
          <a:p>
            <a:pPr>
              <a:lnSpc>
                <a:spcPct val="90000"/>
              </a:lnSpc>
            </a:pPr>
            <a:r>
              <a:rPr lang="en-US" sz="2400"/>
              <a:t>There is NO documentation phase</a:t>
            </a:r>
          </a:p>
          <a:p>
            <a:pPr>
              <a:lnSpc>
                <a:spcPct val="90000"/>
              </a:lnSpc>
            </a:pPr>
            <a:r>
              <a:rPr lang="en-US" sz="2400"/>
              <a:t>Every phase must be fully documented before starting the next phase</a:t>
            </a:r>
          </a:p>
          <a:p>
            <a:pPr lvl="1">
              <a:lnSpc>
                <a:spcPct val="90000"/>
              </a:lnSpc>
            </a:pPr>
            <a:r>
              <a:rPr lang="en-US" sz="2400"/>
              <a:t>Postponed documentation may never be completed</a:t>
            </a:r>
          </a:p>
          <a:p>
            <a:pPr lvl="1">
              <a:lnSpc>
                <a:spcPct val="90000"/>
              </a:lnSpc>
            </a:pPr>
            <a:r>
              <a:rPr lang="en-US" sz="2400"/>
              <a:t>The responsible individual may leave</a:t>
            </a:r>
          </a:p>
          <a:p>
            <a:pPr lvl="1">
              <a:lnSpc>
                <a:spcPct val="90000"/>
              </a:lnSpc>
            </a:pPr>
            <a:r>
              <a:rPr lang="en-US" sz="2400"/>
              <a:t>The product is constantly changing—we need the documentation to do this</a:t>
            </a:r>
          </a:p>
          <a:p>
            <a:pPr lvl="1">
              <a:lnSpc>
                <a:spcPct val="90000"/>
              </a:lnSpc>
            </a:pPr>
            <a:r>
              <a:rPr lang="en-US" sz="2400"/>
              <a:t>The design (for example) will be modified during development, but the original designers may not be available to document it </a:t>
            </a:r>
          </a:p>
        </p:txBody>
      </p:sp>
    </p:spTree>
    <p:extLst>
      <p:ext uri="{BB962C8B-B14F-4D97-AF65-F5344CB8AC3E}">
        <p14:creationId xmlns:p14="http://schemas.microsoft.com/office/powerpoint/2010/main" val="17299230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010" name="Group 2"/>
          <p:cNvGraphicFramePr>
            <a:graphicFrameLocks noGrp="1"/>
          </p:cNvGraphicFramePr>
          <p:nvPr/>
        </p:nvGraphicFramePr>
        <p:xfrm>
          <a:off x="609600" y="228600"/>
          <a:ext cx="7620000" cy="5992242"/>
        </p:xfrm>
        <a:graphic>
          <a:graphicData uri="http://schemas.openxmlformats.org/drawingml/2006/table">
            <a:tbl>
              <a:tblPr/>
              <a:tblGrid>
                <a:gridCol w="1887538">
                  <a:extLst>
                    <a:ext uri="{9D8B030D-6E8A-4147-A177-3AD203B41FA5}">
                      <a16:colId xmlns:a16="http://schemas.microsoft.com/office/drawing/2014/main" val="20000"/>
                    </a:ext>
                  </a:extLst>
                </a:gridCol>
                <a:gridCol w="3046412">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ahoma" charset="0"/>
                        </a:rPr>
                        <a:t>Phase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ahoma" charset="0"/>
                        </a:rPr>
                        <a:t>Documents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ahoma" charset="0"/>
                        </a:rPr>
                        <a:t>QA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Requirement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Definition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Rapid prototype, or</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Requirements document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Rapid prototype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Functional Specification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Specification document (specifications)</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Software Product Management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FS Review</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Check the </a:t>
                      </a:r>
                      <a:r>
                        <a:rPr kumimoji="0" lang="en-US" sz="1800" b="0" i="0" u="none" strike="noStrike" cap="none" normalizeH="0" baseline="0" dirty="0" err="1">
                          <a:ln>
                            <a:noFill/>
                          </a:ln>
                          <a:solidFill>
                            <a:schemeClr val="tx1"/>
                          </a:solidFill>
                          <a:effectLst/>
                          <a:latin typeface="Tahoma" charset="0"/>
                        </a:rPr>
                        <a:t>SPMP</a:t>
                      </a:r>
                      <a:endParaRPr kumimoji="0" lang="en-US" sz="18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5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Design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Architectural Design</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Detailed Design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04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Coding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Source code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Testing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8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Integration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Source code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Integration testing</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Acceptance testing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Maintenance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Change record</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Regression 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Regression testing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12953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Content Placeholder 2"/>
          <p:cNvSpPr>
            <a:spLocks noGrp="1"/>
          </p:cNvSpPr>
          <p:nvPr>
            <p:ph idx="1"/>
          </p:nvPr>
        </p:nvSpPr>
        <p:spPr/>
        <p:txBody>
          <a:bodyPr>
            <a:normAutofit lnSpcReduction="10000"/>
          </a:bodyPr>
          <a:lstStyle/>
          <a:p>
            <a:r>
              <a:rPr lang="en-US" sz="2400" dirty="0"/>
              <a:t>Different life-cycle models</a:t>
            </a:r>
          </a:p>
          <a:p>
            <a:r>
              <a:rPr lang="en-US" sz="2400" dirty="0"/>
              <a:t>Each with own strengths</a:t>
            </a:r>
          </a:p>
          <a:p>
            <a:r>
              <a:rPr lang="en-US" sz="2400" dirty="0"/>
              <a:t>Each with own weaknesses</a:t>
            </a:r>
          </a:p>
          <a:p>
            <a:r>
              <a:rPr lang="en-US" sz="2400" dirty="0"/>
              <a:t>Criteria for deciding on a model include</a:t>
            </a:r>
          </a:p>
          <a:p>
            <a:pPr lvl="1"/>
            <a:r>
              <a:rPr lang="en-US" dirty="0"/>
              <a:t>The organization</a:t>
            </a:r>
          </a:p>
          <a:p>
            <a:pPr lvl="1"/>
            <a:r>
              <a:rPr lang="en-US" dirty="0"/>
              <a:t>Its management</a:t>
            </a:r>
          </a:p>
          <a:p>
            <a:pPr lvl="1"/>
            <a:r>
              <a:rPr lang="en-US" dirty="0"/>
              <a:t>Skills of the employees</a:t>
            </a:r>
          </a:p>
          <a:p>
            <a:pPr lvl="1"/>
            <a:r>
              <a:rPr lang="en-US" dirty="0"/>
              <a:t>The nature of the product</a:t>
            </a:r>
          </a:p>
          <a:p>
            <a:r>
              <a:rPr lang="en-US" sz="2400" dirty="0"/>
              <a:t>Best suggestion</a:t>
            </a:r>
          </a:p>
          <a:p>
            <a:pPr lvl="1"/>
            <a:r>
              <a:rPr lang="en-US" dirty="0"/>
              <a:t>“Mix-and-match” life-cycle model</a:t>
            </a:r>
          </a:p>
          <a:p>
            <a:endParaRPr lang="en-US" dirty="0"/>
          </a:p>
        </p:txBody>
      </p:sp>
    </p:spTree>
    <p:extLst>
      <p:ext uri="{BB962C8B-B14F-4D97-AF65-F5344CB8AC3E}">
        <p14:creationId xmlns:p14="http://schemas.microsoft.com/office/powerpoint/2010/main" val="3401480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31536"/>
          </a:xfrm>
        </p:spPr>
        <p:txBody>
          <a:bodyPr>
            <a:normAutofit/>
          </a:bodyPr>
          <a:lstStyle/>
          <a:p>
            <a:pPr algn="ctr">
              <a:buNone/>
            </a:pPr>
            <a:endParaRPr lang="en-US" sz="8800" b="1" dirty="0"/>
          </a:p>
          <a:p>
            <a:pPr algn="ctr">
              <a:buNone/>
            </a:pPr>
            <a:r>
              <a:rPr lang="en-US" sz="9600" b="1" dirty="0"/>
              <a:t>Thanks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403</TotalTime>
  <Words>2857</Words>
  <Application>Microsoft Office PowerPoint</Application>
  <PresentationFormat>On-screen Show (4:3)</PresentationFormat>
  <Paragraphs>398</Paragraphs>
  <Slides>44</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6" baseType="lpstr">
      <vt:lpstr>Arial</vt:lpstr>
      <vt:lpstr>Arial Black</vt:lpstr>
      <vt:lpstr>Arial Unicode MS</vt:lpstr>
      <vt:lpstr>Calibri</vt:lpstr>
      <vt:lpstr>Calibri Light</vt:lpstr>
      <vt:lpstr>Courier New</vt:lpstr>
      <vt:lpstr>Tahoma</vt:lpstr>
      <vt:lpstr>Times New Roman</vt:lpstr>
      <vt:lpstr>Wingdings</vt:lpstr>
      <vt:lpstr>Wingdings 3</vt:lpstr>
      <vt:lpstr>Retrospect</vt:lpstr>
      <vt:lpstr>Photo Editor Photo</vt:lpstr>
      <vt:lpstr>Software Engineering for CS</vt:lpstr>
      <vt:lpstr>`</vt:lpstr>
      <vt:lpstr>Software Lifecycle Models</vt:lpstr>
      <vt:lpstr>Process Models</vt:lpstr>
      <vt:lpstr>Variations in Process Models</vt:lpstr>
      <vt:lpstr>Software Life-Cycle Steps</vt:lpstr>
      <vt:lpstr>Different Lifecycle Models</vt:lpstr>
      <vt:lpstr>Build and Fix Model</vt:lpstr>
      <vt:lpstr>Build and Fix Model</vt:lpstr>
      <vt:lpstr>Waterfall Model (Traditional)</vt:lpstr>
      <vt:lpstr>Waterfall Model (1)</vt:lpstr>
      <vt:lpstr>Waterfall Model (2)</vt:lpstr>
      <vt:lpstr>Waterfall Model (3)</vt:lpstr>
      <vt:lpstr>Waterfall Model (Modified)</vt:lpstr>
      <vt:lpstr>Rapid Prototyping Model</vt:lpstr>
      <vt:lpstr>Rapid Prototyping Model</vt:lpstr>
      <vt:lpstr>Incremental Model</vt:lpstr>
      <vt:lpstr>Incremental Model (cont.)</vt:lpstr>
      <vt:lpstr>Advantages</vt:lpstr>
      <vt:lpstr>Disadvantages</vt:lpstr>
      <vt:lpstr>When to use the Incremental model: </vt:lpstr>
      <vt:lpstr>Risk and Risk Analysis</vt:lpstr>
      <vt:lpstr>Risk Analysis (Types of Risks)</vt:lpstr>
      <vt:lpstr>Risk Analysis (Steps)</vt:lpstr>
      <vt:lpstr>Risk Analysis (Steps)</vt:lpstr>
      <vt:lpstr>Spiral Model</vt:lpstr>
      <vt:lpstr>Spiral Model – Overview</vt:lpstr>
      <vt:lpstr>Key Characteristics</vt:lpstr>
      <vt:lpstr>Advantages of Spiral Model</vt:lpstr>
      <vt:lpstr>Disadvantages of Spiral Model</vt:lpstr>
      <vt:lpstr>Examples of Spiral Model Use</vt:lpstr>
      <vt:lpstr>Simplified Spiral Model</vt:lpstr>
      <vt:lpstr>Full Spiral Model</vt:lpstr>
      <vt:lpstr>Extreme Programming (XP) – Overview</vt:lpstr>
      <vt:lpstr>Key Practices in XP</vt:lpstr>
      <vt:lpstr>Advantages of XP</vt:lpstr>
      <vt:lpstr>Disadvantages of XP</vt:lpstr>
      <vt:lpstr>Examples of XP Use</vt:lpstr>
      <vt:lpstr>Extreme Programming</vt:lpstr>
      <vt:lpstr>PowerPoint Presentation</vt:lpstr>
      <vt:lpstr>Documentation Phase?</vt:lpstr>
      <vt:lpstr>PowerPoint Presentation</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&amp; Architecture</dc:title>
  <dc:creator>natash</dc:creator>
  <cp:lastModifiedBy>user</cp:lastModifiedBy>
  <cp:revision>158</cp:revision>
  <dcterms:created xsi:type="dcterms:W3CDTF">2006-08-16T00:00:00Z</dcterms:created>
  <dcterms:modified xsi:type="dcterms:W3CDTF">2025-10-02T03:08:54Z</dcterms:modified>
</cp:coreProperties>
</file>