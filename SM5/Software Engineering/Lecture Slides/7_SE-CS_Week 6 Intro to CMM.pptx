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319" r:id="rId3"/>
    <p:sldId id="317" r:id="rId4"/>
    <p:sldId id="318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8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0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1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4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37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5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4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27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5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>
                <a:solidFill>
                  <a:srgbClr val="63705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15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2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35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1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7A2F4-68AB-4C94-961A-97A9545E0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8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 smtClean="0"/>
              <a:pPr>
                <a:defRPr/>
              </a:pPr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57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21824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895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School of Computer and Information Technology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3200" dirty="0" err="1">
                <a:solidFill>
                  <a:srgbClr val="000000"/>
                </a:solidFill>
                <a:latin typeface="Calibri" panose="020F0502020204030204"/>
              </a:rPr>
              <a:t>Beaconhouse</a:t>
            </a:r>
            <a:r>
              <a:rPr lang="en-US" sz="3200" dirty="0">
                <a:solidFill>
                  <a:srgbClr val="000000"/>
                </a:solidFill>
                <a:latin typeface="Calibri" panose="020F0502020204030204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572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R="64008" algn="ctr">
              <a:spcBef>
                <a:spcPts val="400"/>
              </a:spcBef>
              <a:buClr>
                <a:srgbClr val="E48312"/>
              </a:buClr>
              <a:buSzPct val="68000"/>
              <a:defRPr/>
            </a:pP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Week 6</a:t>
            </a:r>
            <a:endParaRPr lang="en-US" sz="3200" dirty="0">
              <a:solidFill>
                <a:srgbClr val="000000">
                  <a:lumMod val="95000"/>
                  <a:lumOff val="5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983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AA5B-4E0D-46DD-B32E-5451C917D695}" type="slidenum">
              <a:rPr lang="en-US">
                <a:latin typeface="Calibri" panose="020F0502020204030204"/>
              </a:rPr>
              <a:pPr>
                <a:defRPr/>
              </a:pPr>
              <a:t>2</a:t>
            </a:fld>
            <a:endParaRPr lang="en-US">
              <a:latin typeface="Calibri" panose="020F0502020204030204"/>
            </a:endParaRP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2438400" y="1765280"/>
            <a:ext cx="7543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Switch off mobile phones during lectures,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 </a:t>
            </a:r>
          </a:p>
          <a:p>
            <a:pPr algn="ctr">
              <a:defRPr/>
            </a:pPr>
            <a:r>
              <a:rPr lang="en-AU" sz="5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 them into silent mode</a:t>
            </a:r>
            <a:endParaRPr lang="en-US" sz="5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9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Process ?</a:t>
            </a:r>
          </a:p>
          <a:p>
            <a:r>
              <a:rPr lang="en-US" sz="3200" dirty="0"/>
              <a:t>Why we define processes?</a:t>
            </a:r>
          </a:p>
          <a:p>
            <a:r>
              <a:rPr lang="en-US" sz="3200" dirty="0"/>
              <a:t>Consistent, </a:t>
            </a:r>
          </a:p>
          <a:p>
            <a:r>
              <a:rPr lang="en-US" sz="3200" dirty="0"/>
              <a:t>Human dependency (Minimize)</a:t>
            </a:r>
          </a:p>
          <a:p>
            <a:r>
              <a:rPr lang="en-US" sz="3200" dirty="0"/>
              <a:t>Burger, Variations in taste </a:t>
            </a:r>
          </a:p>
        </p:txBody>
      </p:sp>
    </p:spTree>
    <p:extLst>
      <p:ext uri="{BB962C8B-B14F-4D97-AF65-F5344CB8AC3E}">
        <p14:creationId xmlns:p14="http://schemas.microsoft.com/office/powerpoint/2010/main" val="303411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Support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7772400" cy="46482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One way to minimize errors in the requirements engineering is to use process models and to use CASE tools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The most mature CASE tools support of well-understood activities such as programming and testing and the use of structured methods</a:t>
            </a:r>
          </a:p>
          <a:p>
            <a:pPr>
              <a:lnSpc>
                <a:spcPct val="90000"/>
              </a:lnSpc>
            </a:pPr>
            <a:r>
              <a:rPr lang="en-US" sz="3200" dirty="0"/>
              <a:t>Support for requirements engineering is still limited because of the informality and the variability of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11C2C-6530-4BA6-B3B2-4DE25290CB5B}" type="slidenum">
              <a:rPr lang="en-US">
                <a:latin typeface="Calibri" panose="020F0502020204030204"/>
              </a:rPr>
              <a:pPr/>
              <a:t>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91807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CASE Tools for RE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752600"/>
            <a:ext cx="7772400" cy="4572000"/>
          </a:xfrm>
          <a:noFill/>
          <a:ln/>
        </p:spPr>
        <p:txBody>
          <a:bodyPr>
            <a:normAutofit/>
          </a:bodyPr>
          <a:lstStyle/>
          <a:p>
            <a:r>
              <a:rPr lang="en-US" sz="3200"/>
              <a:t>Modeling and validation  tools support the development of system models which can be used to specify the system and the checking of these models for completeness and consistency</a:t>
            </a:r>
          </a:p>
          <a:p>
            <a:r>
              <a:rPr lang="en-US" sz="3200"/>
              <a:t>Management tools help manage a database of requirements and support the management of changes to these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3D29F-63F9-428E-815B-77955E73DE0C}" type="slidenum">
              <a:rPr lang="en-US">
                <a:latin typeface="Calibri" panose="020F0502020204030204"/>
              </a:rPr>
              <a:pPr/>
              <a:t>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25671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Improvement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improvement is concerned with modifying processes in order to meet some improvement objectives</a:t>
            </a:r>
          </a:p>
          <a:p>
            <a:r>
              <a:rPr lang="en-US"/>
              <a:t>Improvement objectives</a:t>
            </a:r>
          </a:p>
          <a:p>
            <a:pPr lvl="1"/>
            <a:r>
              <a:rPr lang="en-US"/>
              <a:t>Quality improvement</a:t>
            </a:r>
          </a:p>
          <a:p>
            <a:pPr lvl="1"/>
            <a:r>
              <a:rPr lang="en-US"/>
              <a:t>Schedule reduction</a:t>
            </a:r>
          </a:p>
          <a:p>
            <a:pPr lvl="1"/>
            <a:r>
              <a:rPr lang="en-US"/>
              <a:t>Resource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B2E81-F365-4324-90BA-EFA566A53450}" type="slidenum">
              <a:rPr lang="en-US">
                <a:latin typeface="Calibri" panose="020F0502020204030204"/>
              </a:rPr>
              <a:pPr/>
              <a:t>6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611560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Planning Process Improvement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3200" dirty="0"/>
              <a:t>Some important questions arise:</a:t>
            </a:r>
          </a:p>
          <a:p>
            <a:r>
              <a:rPr lang="en-US" sz="3200" dirty="0"/>
              <a:t>What are the problems with current processes?</a:t>
            </a:r>
          </a:p>
          <a:p>
            <a:r>
              <a:rPr lang="en-US" sz="3200" dirty="0"/>
              <a:t>What are the improvement goals?</a:t>
            </a:r>
          </a:p>
          <a:p>
            <a:r>
              <a:rPr lang="en-US" sz="3200" dirty="0"/>
              <a:t>How can process improvement be introduced to achieve these goals?</a:t>
            </a:r>
          </a:p>
          <a:p>
            <a:r>
              <a:rPr lang="en-US" sz="3200" dirty="0"/>
              <a:t>How should process improvements be controlled and managed?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A355-7D53-49C6-8C22-AE40541CD6A6}" type="slidenum">
              <a:rPr lang="en-US">
                <a:latin typeface="Calibri" panose="020F0502020204030204"/>
              </a:rPr>
              <a:pPr/>
              <a:t>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00453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RE Process Problems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Lack of stakeholder involvement</a:t>
            </a:r>
          </a:p>
          <a:p>
            <a:pPr>
              <a:lnSpc>
                <a:spcPct val="90000"/>
              </a:lnSpc>
            </a:pPr>
            <a:r>
              <a:rPr lang="en-US" dirty="0"/>
              <a:t>Business needs not considered</a:t>
            </a:r>
          </a:p>
          <a:p>
            <a:pPr>
              <a:lnSpc>
                <a:spcPct val="90000"/>
              </a:lnSpc>
            </a:pPr>
            <a:r>
              <a:rPr lang="en-US" dirty="0"/>
              <a:t>Lack of requirements management</a:t>
            </a:r>
          </a:p>
          <a:p>
            <a:pPr>
              <a:lnSpc>
                <a:spcPct val="90000"/>
              </a:lnSpc>
            </a:pPr>
            <a:r>
              <a:rPr lang="en-US" dirty="0"/>
              <a:t>Lack of defined responsibilities</a:t>
            </a:r>
          </a:p>
          <a:p>
            <a:pPr>
              <a:lnSpc>
                <a:spcPct val="90000"/>
              </a:lnSpc>
            </a:pPr>
            <a:r>
              <a:rPr lang="en-US" dirty="0"/>
              <a:t>Stakeholder communication problems</a:t>
            </a:r>
          </a:p>
          <a:p>
            <a:pPr>
              <a:lnSpc>
                <a:spcPct val="90000"/>
              </a:lnSpc>
            </a:pPr>
            <a:r>
              <a:rPr lang="en-US" dirty="0"/>
              <a:t>Over-long schedules and poor quality requirements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F5C7-E494-4AB1-9056-3F933F9F10F8}" type="slidenum">
              <a:rPr lang="en-US">
                <a:latin typeface="Calibri" panose="020F0502020204030204"/>
              </a:rPr>
              <a:pPr/>
              <a:t>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2439016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Process Maturity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US" sz="3200"/>
              <a:t>Process maturity can be thought of as the extent that an organization has defined its processes, actively controls these processes and provides systematic human and computer-based support for them</a:t>
            </a:r>
          </a:p>
          <a:p>
            <a:r>
              <a:rPr lang="en-US" sz="3200"/>
              <a:t>The SEI’s Capability Maturity Model is a framework for assessing software process maturity in development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61EA4-7A77-449C-BADE-298B63ED7F5B}" type="slidenum">
              <a:rPr lang="en-US">
                <a:latin typeface="Calibri" panose="020F0502020204030204"/>
              </a:rPr>
              <a:pPr/>
              <a:t>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25726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Capability Maturity Model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Initial – Every organization </a:t>
            </a:r>
          </a:p>
        </p:txBody>
      </p:sp>
      <p:sp>
        <p:nvSpPr>
          <p:cNvPr id="3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3072-1B2E-42AD-BE85-0116538F60D4}" type="slidenum">
              <a:rPr lang="en-US">
                <a:solidFill>
                  <a:srgbClr val="000000"/>
                </a:solidFill>
                <a:latin typeface="Calibri" panose="020F0502020204030204"/>
              </a:rPr>
              <a:pPr/>
              <a:t>10</a:t>
            </a:fld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5" name="AutoShape 3"/>
          <p:cNvSpPr>
            <a:spLocks noChangeArrowheads="1"/>
          </p:cNvSpPr>
          <p:nvPr/>
        </p:nvSpPr>
        <p:spPr bwMode="auto">
          <a:xfrm>
            <a:off x="2438400" y="54102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6" name="AutoShape 4"/>
          <p:cNvSpPr>
            <a:spLocks noChangeArrowheads="1"/>
          </p:cNvSpPr>
          <p:nvPr/>
        </p:nvSpPr>
        <p:spPr bwMode="auto">
          <a:xfrm>
            <a:off x="3886200" y="44958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7" name="AutoShape 5"/>
          <p:cNvSpPr>
            <a:spLocks noChangeArrowheads="1"/>
          </p:cNvSpPr>
          <p:nvPr/>
        </p:nvSpPr>
        <p:spPr bwMode="auto">
          <a:xfrm>
            <a:off x="5334000" y="35814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8" name="AutoShape 6"/>
          <p:cNvSpPr>
            <a:spLocks noChangeArrowheads="1"/>
          </p:cNvSpPr>
          <p:nvPr/>
        </p:nvSpPr>
        <p:spPr bwMode="auto">
          <a:xfrm>
            <a:off x="6781800" y="26670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39" name="AutoShape 7"/>
          <p:cNvSpPr>
            <a:spLocks noChangeArrowheads="1"/>
          </p:cNvSpPr>
          <p:nvPr/>
        </p:nvSpPr>
        <p:spPr bwMode="auto">
          <a:xfrm>
            <a:off x="8229600" y="1752600"/>
            <a:ext cx="14478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124200" y="4800600"/>
            <a:ext cx="762000" cy="609600"/>
            <a:chOff x="1008" y="2928"/>
            <a:chExt cx="480" cy="384"/>
          </a:xfrm>
        </p:grpSpPr>
        <p:sp>
          <p:nvSpPr>
            <p:cNvPr id="120840" name="Line 8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1" name="Line 9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572000" y="3886200"/>
            <a:ext cx="762000" cy="609600"/>
            <a:chOff x="1008" y="2928"/>
            <a:chExt cx="480" cy="384"/>
          </a:xfrm>
        </p:grpSpPr>
        <p:sp>
          <p:nvSpPr>
            <p:cNvPr id="120844" name="Line 12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5" name="Line 13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019800" y="2971800"/>
            <a:ext cx="762000" cy="609600"/>
            <a:chOff x="1008" y="2928"/>
            <a:chExt cx="480" cy="384"/>
          </a:xfrm>
        </p:grpSpPr>
        <p:sp>
          <p:nvSpPr>
            <p:cNvPr id="120847" name="Line 15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48" name="Line 16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467600" y="2057400"/>
            <a:ext cx="762000" cy="609600"/>
            <a:chOff x="1008" y="2928"/>
            <a:chExt cx="480" cy="384"/>
          </a:xfrm>
        </p:grpSpPr>
        <p:sp>
          <p:nvSpPr>
            <p:cNvPr id="120850" name="Line 18"/>
            <p:cNvSpPr>
              <a:spLocks noChangeShapeType="1"/>
            </p:cNvSpPr>
            <p:nvPr/>
          </p:nvSpPr>
          <p:spPr bwMode="auto">
            <a:xfrm flipV="1">
              <a:off x="1008" y="2928"/>
              <a:ext cx="0" cy="384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0851" name="Line 19"/>
            <p:cNvSpPr>
              <a:spLocks noChangeShapeType="1"/>
            </p:cNvSpPr>
            <p:nvPr/>
          </p:nvSpPr>
          <p:spPr bwMode="auto">
            <a:xfrm>
              <a:off x="1008" y="2928"/>
              <a:ext cx="480" cy="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2689225" y="5486400"/>
            <a:ext cx="9096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/>
              </a:rPr>
              <a:t>Initial</a:t>
            </a:r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6613525" y="51435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3844925" y="4572001"/>
            <a:ext cx="159287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Repeatable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7451725" y="46101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6835776" y="2743201"/>
            <a:ext cx="136191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Managed</a:t>
            </a:r>
          </a:p>
        </p:txBody>
      </p:sp>
      <p:sp>
        <p:nvSpPr>
          <p:cNvPr id="120857" name="Text Box 25"/>
          <p:cNvSpPr txBox="1">
            <a:spLocks noChangeArrowheads="1"/>
          </p:cNvSpPr>
          <p:nvPr/>
        </p:nvSpPr>
        <p:spPr bwMode="auto">
          <a:xfrm>
            <a:off x="7451725" y="4762501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5464176" y="3657600"/>
            <a:ext cx="11652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Defined</a:t>
            </a:r>
          </a:p>
        </p:txBody>
      </p:sp>
      <p:sp>
        <p:nvSpPr>
          <p:cNvPr id="120859" name="Text Box 27"/>
          <p:cNvSpPr txBox="1">
            <a:spLocks noChangeArrowheads="1"/>
          </p:cNvSpPr>
          <p:nvPr/>
        </p:nvSpPr>
        <p:spPr bwMode="auto">
          <a:xfrm>
            <a:off x="8183564" y="1828800"/>
            <a:ext cx="15700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Optimizing</a:t>
            </a:r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2667000" y="61341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1</a:t>
            </a: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4152900" y="5195888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2</a:t>
            </a:r>
          </a:p>
        </p:txBody>
      </p:sp>
      <p:sp>
        <p:nvSpPr>
          <p:cNvPr id="120862" name="Text Box 30"/>
          <p:cNvSpPr txBox="1">
            <a:spLocks noChangeArrowheads="1"/>
          </p:cNvSpPr>
          <p:nvPr/>
        </p:nvSpPr>
        <p:spPr bwMode="auto">
          <a:xfrm>
            <a:off x="5600700" y="42672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3</a:t>
            </a:r>
          </a:p>
        </p:txBody>
      </p:sp>
      <p:sp>
        <p:nvSpPr>
          <p:cNvPr id="120863" name="Text Box 31"/>
          <p:cNvSpPr txBox="1">
            <a:spLocks noChangeArrowheads="1"/>
          </p:cNvSpPr>
          <p:nvPr/>
        </p:nvSpPr>
        <p:spPr bwMode="auto">
          <a:xfrm>
            <a:off x="7010400" y="33528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4</a:t>
            </a:r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8534400" y="2438400"/>
            <a:ext cx="83689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 panose="020F0502020204030204"/>
              </a:rPr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263693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CMM Level 1: Initial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82189" y="1926775"/>
            <a:ext cx="7772400" cy="4114800"/>
          </a:xfrm>
          <a:noFill/>
          <a:ln/>
        </p:spPr>
        <p:txBody>
          <a:bodyPr/>
          <a:lstStyle/>
          <a:p>
            <a:r>
              <a:rPr lang="en-US" dirty="0"/>
              <a:t>Organizations have an undisciplined process and it is left to individuals that how to manage the process and which development techniques to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D8FA-05C9-45AE-9B9A-BD4612E696C3}" type="slidenum">
              <a:rPr lang="en-US">
                <a:latin typeface="Calibri" panose="020F0502020204030204"/>
              </a:rPr>
              <a:pPr/>
              <a:t>11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8831798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2: Repeatable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Organizations have basic cost and schedule management procedures in place. They are likely to be able to make consistent budget and schedule predictions for projects in the same application area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EA06-6FFD-418D-B77A-A15B30B31AAA}" type="slidenum">
              <a:rPr lang="en-US">
                <a:latin typeface="Calibri" panose="020F0502020204030204"/>
              </a:rPr>
              <a:pPr/>
              <a:t>12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009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3: Defined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software process for both management and engineering activities is documented, standardized and integrated into a standard software process for the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894C4-9203-4723-B539-C49C674C5346}" type="slidenum">
              <a:rPr lang="en-US">
                <a:latin typeface="Calibri" panose="020F0502020204030204"/>
              </a:rPr>
              <a:pPr/>
              <a:t>13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547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CMM Level 4: Managed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35874" y="1752600"/>
            <a:ext cx="7772400" cy="4114800"/>
          </a:xfrm>
          <a:noFill/>
          <a:ln/>
        </p:spPr>
        <p:txBody>
          <a:bodyPr/>
          <a:lstStyle/>
          <a:p>
            <a:r>
              <a:rPr lang="en-US" dirty="0"/>
              <a:t>Detailed measurements of both process and product quality are collected and used to control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54E33-D7DA-4C30-BDF8-8A98A9A1A73A}" type="slidenum">
              <a:rPr lang="en-US">
                <a:latin typeface="Calibri" panose="020F0502020204030204"/>
              </a:rPr>
              <a:pPr/>
              <a:t>14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19801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CMM Level 5: Optimizing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organization has a continuous process improvement strategy, based on objective measurements, in place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1DE0-4BFE-4837-A152-2FA853005FAB}" type="slidenum">
              <a:rPr lang="en-US">
                <a:latin typeface="Calibri" panose="020F0502020204030204"/>
              </a:rPr>
              <a:pPr/>
              <a:t>15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5605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 Process Maturity Model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3D35-BC5A-4D58-A8BB-284EDDEB402D}" type="slidenum">
              <a:rPr lang="en-US">
                <a:solidFill>
                  <a:srgbClr val="000000"/>
                </a:solidFill>
                <a:latin typeface="Calibri" panose="020F0502020204030204"/>
              </a:rPr>
              <a:pPr/>
              <a:t>16</a:t>
            </a:fld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51" name="AutoShape 3"/>
          <p:cNvSpPr>
            <a:spLocks noChangeArrowheads="1"/>
          </p:cNvSpPr>
          <p:nvPr/>
        </p:nvSpPr>
        <p:spPr bwMode="auto">
          <a:xfrm>
            <a:off x="2349500" y="4800600"/>
            <a:ext cx="17526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 flipV="1">
            <a:off x="3187700" y="3657600"/>
            <a:ext cx="0" cy="1143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56" name="Line 8"/>
          <p:cNvSpPr>
            <a:spLocks noChangeShapeType="1"/>
          </p:cNvSpPr>
          <p:nvPr/>
        </p:nvSpPr>
        <p:spPr bwMode="auto">
          <a:xfrm>
            <a:off x="3187700" y="3657600"/>
            <a:ext cx="1371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60" name="AutoShape 12"/>
          <p:cNvSpPr>
            <a:spLocks noChangeArrowheads="1"/>
          </p:cNvSpPr>
          <p:nvPr/>
        </p:nvSpPr>
        <p:spPr bwMode="auto">
          <a:xfrm>
            <a:off x="4559300" y="3352800"/>
            <a:ext cx="17526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 flipV="1">
            <a:off x="5397500" y="2209800"/>
            <a:ext cx="0" cy="11430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>
            <a:off x="5397500" y="2209800"/>
            <a:ext cx="1371600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66" name="AutoShape 18"/>
          <p:cNvSpPr>
            <a:spLocks noChangeArrowheads="1"/>
          </p:cNvSpPr>
          <p:nvPr/>
        </p:nvSpPr>
        <p:spPr bwMode="auto">
          <a:xfrm>
            <a:off x="6769100" y="1905000"/>
            <a:ext cx="1752600" cy="609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067" name="Text Box 19"/>
          <p:cNvSpPr txBox="1">
            <a:spLocks noChangeArrowheads="1"/>
          </p:cNvSpPr>
          <p:nvPr/>
        </p:nvSpPr>
        <p:spPr bwMode="auto">
          <a:xfrm>
            <a:off x="2216150" y="5607051"/>
            <a:ext cx="334803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>
                <a:solidFill>
                  <a:srgbClr val="000000"/>
                </a:solidFill>
                <a:latin typeface="Calibri" panose="020F0502020204030204"/>
              </a:rPr>
              <a:t>Ad-hoc requirements engineering</a:t>
            </a:r>
          </a:p>
          <a:p>
            <a:pPr marL="457200" indent="-457200"/>
            <a:r>
              <a:rPr lang="en-US">
                <a:solidFill>
                  <a:srgbClr val="000000"/>
                </a:solidFill>
                <a:latin typeface="Calibri" panose="020F0502020204030204"/>
              </a:rPr>
              <a:t>Requirements errors are common</a:t>
            </a:r>
          </a:p>
        </p:txBody>
      </p:sp>
      <p:sp>
        <p:nvSpPr>
          <p:cNvPr id="130068" name="Text Box 20"/>
          <p:cNvSpPr txBox="1">
            <a:spLocks noChangeArrowheads="1"/>
          </p:cNvSpPr>
          <p:nvPr/>
        </p:nvSpPr>
        <p:spPr bwMode="auto">
          <a:xfrm>
            <a:off x="4483101" y="4114801"/>
            <a:ext cx="389395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Standardized requirements engineering</a:t>
            </a:r>
          </a:p>
          <a:p>
            <a:pPr marL="457200" indent="-457200"/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Fewer requirements errors</a:t>
            </a:r>
          </a:p>
        </p:txBody>
      </p:sp>
      <p:sp>
        <p:nvSpPr>
          <p:cNvPr id="130069" name="Text Box 21"/>
          <p:cNvSpPr txBox="1">
            <a:spLocks noChangeArrowheads="1"/>
          </p:cNvSpPr>
          <p:nvPr/>
        </p:nvSpPr>
        <p:spPr bwMode="auto">
          <a:xfrm>
            <a:off x="6616700" y="2635251"/>
            <a:ext cx="394345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Defined process based on best practices</a:t>
            </a:r>
          </a:p>
          <a:p>
            <a:pPr marL="457200" indent="-457200"/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Process improvement in place</a:t>
            </a:r>
          </a:p>
        </p:txBody>
      </p:sp>
      <p:sp>
        <p:nvSpPr>
          <p:cNvPr id="130071" name="Text Box 23"/>
          <p:cNvSpPr txBox="1">
            <a:spLocks noChangeArrowheads="1"/>
          </p:cNvSpPr>
          <p:nvPr/>
        </p:nvSpPr>
        <p:spPr bwMode="auto">
          <a:xfrm>
            <a:off x="2743200" y="4894263"/>
            <a:ext cx="9096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Initial</a:t>
            </a:r>
          </a:p>
        </p:txBody>
      </p:sp>
      <p:sp>
        <p:nvSpPr>
          <p:cNvPr id="130072" name="Text Box 24"/>
          <p:cNvSpPr txBox="1">
            <a:spLocks noChangeArrowheads="1"/>
          </p:cNvSpPr>
          <p:nvPr/>
        </p:nvSpPr>
        <p:spPr bwMode="auto">
          <a:xfrm>
            <a:off x="4635500" y="3429001"/>
            <a:ext cx="159287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Repeatable</a:t>
            </a:r>
          </a:p>
        </p:txBody>
      </p:sp>
      <p:sp>
        <p:nvSpPr>
          <p:cNvPr id="130073" name="Text Box 25"/>
          <p:cNvSpPr txBox="1">
            <a:spLocks noChangeArrowheads="1"/>
          </p:cNvSpPr>
          <p:nvPr/>
        </p:nvSpPr>
        <p:spPr bwMode="auto">
          <a:xfrm>
            <a:off x="7051676" y="1981200"/>
            <a:ext cx="11652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Calibri" panose="020F0502020204030204"/>
              </a:rPr>
              <a:t>Defined</a:t>
            </a:r>
          </a:p>
        </p:txBody>
      </p:sp>
    </p:spTree>
    <p:extLst>
      <p:ext uri="{BB962C8B-B14F-4D97-AF65-F5344CB8AC3E}">
        <p14:creationId xmlns:p14="http://schemas.microsoft.com/office/powerpoint/2010/main" val="3727688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Initial RE Process Maturity Level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There is no defined RE process. </a:t>
            </a:r>
          </a:p>
          <a:p>
            <a:r>
              <a:rPr lang="en-US"/>
              <a:t>It suffer from requirements problems such as requirements volatility, unsatisfied stakeholders and high rework costs. </a:t>
            </a:r>
          </a:p>
          <a:p>
            <a:r>
              <a:rPr lang="en-US"/>
              <a:t>It is dependent on individual skills and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DBB9A-AACB-41C7-AE3F-6D27B4F1B03E}" type="slidenum">
              <a:rPr lang="en-US">
                <a:latin typeface="Calibri" panose="020F0502020204030204"/>
              </a:rPr>
              <a:pPr/>
              <a:t>17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6735590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Repeatable RE Process Maturity Level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Defined standards for requirements documents, policies and procedures for requirements management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5381-8052-4A0B-A2C5-232AF92ABD81}" type="slidenum">
              <a:rPr lang="en-US">
                <a:latin typeface="Calibri" panose="020F0502020204030204"/>
              </a:rPr>
              <a:pPr/>
              <a:t>18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5851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Defined RE Process Maturity Level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Defined RE process based on good practices and techniques. Active process improvement process is in 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E7414-4B19-4462-96A7-BA2105374429}" type="slidenum">
              <a:rPr lang="en-US">
                <a:latin typeface="Calibri" panose="020F0502020204030204"/>
              </a:rPr>
              <a:pPr/>
              <a:t>19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93455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382000" cy="11049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Best Practices for RE Process Improvement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 processes can be improved by the systematic introduction of best requirements engineering practices</a:t>
            </a:r>
          </a:p>
          <a:p>
            <a:pPr>
              <a:lnSpc>
                <a:spcPct val="90000"/>
              </a:lnSpc>
            </a:pPr>
            <a:r>
              <a:rPr lang="en-US" dirty="0"/>
              <a:t>Each improvement cycle identifies best practice guidelines and works to introduce them in an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6459-F45E-4D3A-98E1-5D41722CE769}" type="slidenum">
              <a:rPr lang="en-US">
                <a:latin typeface="Calibri" panose="020F0502020204030204"/>
              </a:rPr>
              <a:pPr/>
              <a:t>20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20505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Requirements Engineering Costs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About fifteen percent (15%) of system development costs</a:t>
            </a:r>
          </a:p>
          <a:p>
            <a:r>
              <a:rPr lang="en-US"/>
              <a:t>However, if the requirements engineering process is not executed properly, this cost can increase substantially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9E50-E641-42F1-9795-D578D48300D2}" type="slidenum">
              <a:rPr lang="en-US">
                <a:latin typeface="Calibri" panose="020F0502020204030204"/>
              </a:rPr>
              <a:pPr/>
              <a:t>21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41997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431536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800" b="1" dirty="0"/>
          </a:p>
          <a:p>
            <a:pPr algn="ctr">
              <a:buNone/>
            </a:pPr>
            <a:r>
              <a:rPr lang="en-US" sz="96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123372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654</Words>
  <Application>Microsoft Office PowerPoint</Application>
  <PresentationFormat>Widescreen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Calibri Light</vt:lpstr>
      <vt:lpstr>Times New Roman</vt:lpstr>
      <vt:lpstr>Retrospect</vt:lpstr>
      <vt:lpstr>1_Retrospect</vt:lpstr>
      <vt:lpstr>Software Engineering for CS</vt:lpstr>
      <vt:lpstr>`</vt:lpstr>
      <vt:lpstr>PowerPoint Presentation</vt:lpstr>
      <vt:lpstr>Process Support</vt:lpstr>
      <vt:lpstr>CASE Tools for RE</vt:lpstr>
      <vt:lpstr>Process Improvement</vt:lpstr>
      <vt:lpstr>Planning Process Improvement</vt:lpstr>
      <vt:lpstr>RE Process Problems</vt:lpstr>
      <vt:lpstr>Process Maturity</vt:lpstr>
      <vt:lpstr>Capability Maturity Model  Initial – Every organization </vt:lpstr>
      <vt:lpstr>CMM Level 1: Initial</vt:lpstr>
      <vt:lpstr>CMM Level 2: Repeatable</vt:lpstr>
      <vt:lpstr>CMM Level 3: Defined</vt:lpstr>
      <vt:lpstr>CMM Level 4: Managed</vt:lpstr>
      <vt:lpstr>CMM Level 5: Optimizing</vt:lpstr>
      <vt:lpstr>RE Process Maturity Model</vt:lpstr>
      <vt:lpstr>Initial RE Process Maturity Level</vt:lpstr>
      <vt:lpstr>Repeatable RE Process Maturity Level</vt:lpstr>
      <vt:lpstr>Defined RE Process Maturity Level</vt:lpstr>
      <vt:lpstr>Best Practices for RE Process Improvement</vt:lpstr>
      <vt:lpstr>Requirements Engineering Costs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Natash Ali</dc:creator>
  <cp:lastModifiedBy>user</cp:lastModifiedBy>
  <cp:revision>14</cp:revision>
  <dcterms:created xsi:type="dcterms:W3CDTF">2020-03-05T19:18:32Z</dcterms:created>
  <dcterms:modified xsi:type="dcterms:W3CDTF">2025-10-30T04:41:36Z</dcterms:modified>
</cp:coreProperties>
</file>