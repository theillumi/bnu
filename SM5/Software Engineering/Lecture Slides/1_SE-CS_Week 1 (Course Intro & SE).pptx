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notesMasterIdLst>
    <p:notesMasterId r:id="rId18"/>
  </p:notesMasterIdLst>
  <p:sldIdLst>
    <p:sldId id="479" r:id="rId2"/>
    <p:sldId id="258" r:id="rId3"/>
    <p:sldId id="417" r:id="rId4"/>
    <p:sldId id="418" r:id="rId5"/>
    <p:sldId id="419" r:id="rId6"/>
    <p:sldId id="420" r:id="rId7"/>
    <p:sldId id="421" r:id="rId8"/>
    <p:sldId id="422" r:id="rId9"/>
    <p:sldId id="423" r:id="rId10"/>
    <p:sldId id="424" r:id="rId11"/>
    <p:sldId id="425" r:id="rId12"/>
    <p:sldId id="426" r:id="rId13"/>
    <p:sldId id="498" r:id="rId14"/>
    <p:sldId id="499" r:id="rId15"/>
    <p:sldId id="500" r:id="rId16"/>
    <p:sldId id="412" r:id="rId1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F5AFF4B5-631B-4A70-8B99-E8FB8796DA97}" type="datetimeFigureOut">
              <a:rPr lang="en-US" smtClean="0"/>
              <a:pPr/>
              <a:t>11/12/2025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CF2FD04-098F-426E-B64E-A486CBD14BC8}" type="slidenum">
              <a:rPr lang="en-US" smtClean="0"/>
              <a:pPr/>
              <a:t>‹#›</a:t>
            </a:fld>
            <a:endParaRPr lang="en-US"/>
          </a:p>
        </p:txBody>
      </p:sp>
    </p:spTree>
    <p:extLst>
      <p:ext uri="{BB962C8B-B14F-4D97-AF65-F5344CB8AC3E}">
        <p14:creationId xmlns:p14="http://schemas.microsoft.com/office/powerpoint/2010/main" val="223082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746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60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44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2890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13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282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157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5724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1456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459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619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pPr/>
              <a:t>11/12/2025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153079"/>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Data" TargetMode="External"/><Relationship Id="rId2" Type="http://schemas.openxmlformats.org/officeDocument/2006/relationships/hyperlink" Target="http://en.wikipedia.org/wiki/Computer_program" TargetMode="External"/><Relationship Id="rId1" Type="http://schemas.openxmlformats.org/officeDocument/2006/relationships/slideLayout" Target="../slideLayouts/slideLayout2.xml"/><Relationship Id="rId5" Type="http://schemas.openxmlformats.org/officeDocument/2006/relationships/hyperlink" Target="http://en.wikipedia.org/wiki/Computer_software" TargetMode="External"/><Relationship Id="rId4" Type="http://schemas.openxmlformats.org/officeDocument/2006/relationships/hyperlink" Target="http://en.wikipedia.org/wiki/Comput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8239"/>
            <a:ext cx="7772400" cy="1829761"/>
          </a:xfrm>
        </p:spPr>
        <p:txBody>
          <a:bodyPr>
            <a:normAutofit/>
          </a:bodyPr>
          <a:lstStyle/>
          <a:p>
            <a:pPr algn="ctr"/>
            <a:r>
              <a:rPr lang="en-US" sz="3600" dirty="0"/>
              <a:t>Software </a:t>
            </a:r>
            <a:r>
              <a:rPr lang="en-US" sz="3600"/>
              <a:t>Engineering for CS</a:t>
            </a:r>
            <a:endParaRPr lang="en-US" sz="3600" dirty="0"/>
          </a:p>
        </p:txBody>
      </p:sp>
      <p:sp>
        <p:nvSpPr>
          <p:cNvPr id="3" name="Subtitle 2"/>
          <p:cNvSpPr>
            <a:spLocks noGrp="1"/>
          </p:cNvSpPr>
          <p:nvPr>
            <p:ph type="subTitle" idx="1"/>
          </p:nvPr>
        </p:nvSpPr>
        <p:spPr>
          <a:xfrm>
            <a:off x="990600" y="4648200"/>
            <a:ext cx="6400800" cy="914400"/>
          </a:xfrm>
        </p:spPr>
        <p:txBody>
          <a:bodyPr>
            <a:normAutofit/>
          </a:bodyPr>
          <a:lstStyle/>
          <a:p>
            <a:pPr algn="ctr"/>
            <a:r>
              <a:rPr lang="en-US" dirty="0"/>
              <a:t>Instructor : Dr. </a:t>
            </a:r>
            <a:r>
              <a:rPr lang="en-US" dirty="0" err="1"/>
              <a:t>Natash</a:t>
            </a:r>
            <a:r>
              <a:rPr lang="en-US" dirty="0"/>
              <a:t> Ali </a:t>
            </a:r>
            <a:r>
              <a:rPr lang="en-US" dirty="0" err="1"/>
              <a:t>Mian</a:t>
            </a:r>
            <a:endParaRPr lang="en-US" dirty="0"/>
          </a:p>
        </p:txBody>
      </p:sp>
      <p:sp>
        <p:nvSpPr>
          <p:cNvPr id="4" name="Subtitle 2"/>
          <p:cNvSpPr txBox="1">
            <a:spLocks/>
          </p:cNvSpPr>
          <p:nvPr/>
        </p:nvSpPr>
        <p:spPr>
          <a:xfrm>
            <a:off x="1371600" y="5638800"/>
            <a:ext cx="6400800" cy="11430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effectLst/>
                <a:uLnTx/>
                <a:uFillTx/>
                <a:latin typeface="+mn-lt"/>
                <a:ea typeface="+mn-ea"/>
                <a:cs typeface="+mn-cs"/>
              </a:rPr>
              <a:t>School of Computer and Information Technology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err="1"/>
              <a:t>Beaconhouse</a:t>
            </a:r>
            <a:r>
              <a:rPr lang="en-US" sz="3200" dirty="0"/>
              <a:t> National University</a:t>
            </a:r>
            <a:endParaRPr kumimoji="0" lang="en-US" sz="3200" b="0" i="0" u="none" strike="noStrike" kern="1200" cap="none" spc="0" normalizeH="0" baseline="0" noProof="0" dirty="0">
              <a:ln>
                <a:noFill/>
              </a:ln>
              <a:effectLst/>
              <a:uLnTx/>
              <a:uFillTx/>
              <a:latin typeface="+mn-lt"/>
              <a:ea typeface="+mn-ea"/>
              <a:cs typeface="+mn-cs"/>
            </a:endParaRPr>
          </a:p>
        </p:txBody>
      </p:sp>
      <p:sp>
        <p:nvSpPr>
          <p:cNvPr id="5" name="Subtitle 2"/>
          <p:cNvSpPr txBox="1">
            <a:spLocks/>
          </p:cNvSpPr>
          <p:nvPr/>
        </p:nvSpPr>
        <p:spPr>
          <a:xfrm>
            <a:off x="3048000" y="3276600"/>
            <a:ext cx="3581400" cy="990600"/>
          </a:xfrm>
          <a:prstGeom prst="rect">
            <a:avLst/>
          </a:prstGeom>
        </p:spPr>
        <p:txBody>
          <a:bodyPr vert="horz" lIns="45720" rIns="45720">
            <a:normAutofit/>
          </a:bodyPr>
          <a:lstStyle/>
          <a:p>
            <a:pPr marL="0" marR="64008" lvl="0" indent="0"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3200" b="0" i="0" u="none" strike="noStrike" kern="1200" cap="none" spc="0" normalizeH="0" baseline="0" noProof="0" dirty="0">
                <a:ln>
                  <a:noFill/>
                </a:ln>
                <a:solidFill>
                  <a:schemeClr val="tx1">
                    <a:lumMod val="95000"/>
                    <a:lumOff val="5000"/>
                  </a:schemeClr>
                </a:solidFill>
                <a:effectLst/>
                <a:uLnTx/>
                <a:uFillTx/>
                <a:latin typeface="+mn-lt"/>
                <a:ea typeface="+mn-ea"/>
                <a:cs typeface="+mn-cs"/>
              </a:rPr>
              <a:t>Week 1</a:t>
            </a:r>
          </a:p>
        </p:txBody>
      </p:sp>
    </p:spTree>
    <p:extLst>
      <p:ext uri="{BB962C8B-B14F-4D97-AF65-F5344CB8AC3E}">
        <p14:creationId xmlns:p14="http://schemas.microsoft.com/office/powerpoint/2010/main" val="3235498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t>`</a:t>
            </a:r>
          </a:p>
        </p:txBody>
      </p:sp>
      <p:sp>
        <p:nvSpPr>
          <p:cNvPr id="4" name="Slide Number Placeholder 3"/>
          <p:cNvSpPr>
            <a:spLocks noGrp="1"/>
          </p:cNvSpPr>
          <p:nvPr>
            <p:ph type="sldNum" sz="quarter" idx="12"/>
          </p:nvPr>
        </p:nvSpPr>
        <p:spPr/>
        <p:txBody>
          <a:bodyPr/>
          <a:lstStyle/>
          <a:p>
            <a:pPr>
              <a:defRPr/>
            </a:pPr>
            <a:fld id="{5B93AA5B-4E0D-46DD-B32E-5451C917D695}" type="slidenum">
              <a:rPr lang="en-US" smtClean="0"/>
              <a:pPr>
                <a:defRPr/>
              </a:pPr>
              <a:t>2</a:t>
            </a:fld>
            <a:endParaRPr lang="en-US"/>
          </a:p>
        </p:txBody>
      </p:sp>
      <p:sp>
        <p:nvSpPr>
          <p:cNvPr id="8196" name="Rectangle 8"/>
          <p:cNvSpPr>
            <a:spLocks noChangeArrowheads="1"/>
          </p:cNvSpPr>
          <p:nvPr/>
        </p:nvSpPr>
        <p:spPr bwMode="auto">
          <a:xfrm>
            <a:off x="914400" y="1765280"/>
            <a:ext cx="7543800" cy="3416320"/>
          </a:xfrm>
          <a:prstGeom prst="rect">
            <a:avLst/>
          </a:prstGeom>
          <a:noFill/>
          <a:ln w="9525">
            <a:noFill/>
            <a:miter lim="800000"/>
            <a:headEnd/>
            <a:tailEnd/>
          </a:ln>
        </p:spPr>
        <p:txBody>
          <a:bodyPr wrap="square">
            <a:spAutoFit/>
          </a:bodyPr>
          <a:lstStyle/>
          <a:p>
            <a:pPr algn="ctr"/>
            <a:r>
              <a:rPr lang="en-AU" sz="5400" dirty="0">
                <a:latin typeface="Times New Roman" pitchFamily="18" charset="0"/>
                <a:cs typeface="Times New Roman" pitchFamily="18" charset="0"/>
              </a:rPr>
              <a:t>Switch off mobile phones during lectures, </a:t>
            </a:r>
          </a:p>
          <a:p>
            <a:pPr algn="ctr"/>
            <a:r>
              <a:rPr lang="en-AU" sz="5400" dirty="0">
                <a:latin typeface="Times New Roman" pitchFamily="18" charset="0"/>
                <a:cs typeface="Times New Roman" pitchFamily="18" charset="0"/>
              </a:rPr>
              <a:t>or </a:t>
            </a:r>
          </a:p>
          <a:p>
            <a:pPr algn="ctr"/>
            <a:r>
              <a:rPr lang="en-AU" sz="5400" dirty="0">
                <a:latin typeface="Times New Roman" pitchFamily="18" charset="0"/>
                <a:cs typeface="Times New Roman" pitchFamily="18" charset="0"/>
              </a:rPr>
              <a:t>put them into silent mode</a:t>
            </a:r>
            <a:endParaRPr lang="en-US" sz="5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pPr eaLnBrk="1" hangingPunct="1"/>
            <a:r>
              <a:rPr lang="en-US" sz="5400" dirty="0"/>
              <a:t>???</a:t>
            </a:r>
          </a:p>
        </p:txBody>
      </p:sp>
      <p:sp>
        <p:nvSpPr>
          <p:cNvPr id="4" name="Content Placeholder 3"/>
          <p:cNvSpPr>
            <a:spLocks noGrp="1"/>
          </p:cNvSpPr>
          <p:nvPr>
            <p:ph idx="1"/>
          </p:nvPr>
        </p:nvSpPr>
        <p:spPr/>
        <p:txBody>
          <a:bodyPr>
            <a:normAutofit/>
          </a:bodyPr>
          <a:lstStyle/>
          <a:p>
            <a:pPr marL="274320" indent="-274320" eaLnBrk="1" fontAlgn="auto" hangingPunct="1">
              <a:spcBef>
                <a:spcPts val="580"/>
              </a:spcBef>
              <a:spcAft>
                <a:spcPts val="0"/>
              </a:spcAft>
              <a:buFont typeface="Wingdings 2"/>
              <a:buChar char=""/>
              <a:defRPr/>
            </a:pPr>
            <a:endParaRPr lang="en-US" dirty="0"/>
          </a:p>
          <a:p>
            <a:pPr marL="274320" indent="-274320" eaLnBrk="1" fontAlgn="auto" hangingPunct="1">
              <a:spcBef>
                <a:spcPts val="580"/>
              </a:spcBef>
              <a:spcAft>
                <a:spcPts val="0"/>
              </a:spcAft>
              <a:buFont typeface="Wingdings 2"/>
              <a:buChar char=""/>
              <a:defRPr/>
            </a:pPr>
            <a:endParaRPr lang="en-US" dirty="0"/>
          </a:p>
          <a:p>
            <a:pPr marL="274320" indent="-274320" eaLnBrk="1" fontAlgn="auto" hangingPunct="1">
              <a:spcBef>
                <a:spcPts val="580"/>
              </a:spcBef>
              <a:spcAft>
                <a:spcPts val="0"/>
              </a:spcAft>
              <a:buFont typeface="Wingdings 2"/>
              <a:buChar char=""/>
              <a:defRPr/>
            </a:pPr>
            <a:r>
              <a:rPr lang="en-US" dirty="0">
                <a:solidFill>
                  <a:srgbClr val="0070C0"/>
                </a:solidFill>
              </a:rPr>
              <a:t>What is Engineering?</a:t>
            </a:r>
          </a:p>
          <a:p>
            <a:pPr marL="274320" indent="-274320" eaLnBrk="1" fontAlgn="auto" hangingPunct="1">
              <a:spcBef>
                <a:spcPts val="580"/>
              </a:spcBef>
              <a:spcAft>
                <a:spcPts val="0"/>
              </a:spcAft>
              <a:buFont typeface="Wingdings 2"/>
              <a:buChar char=""/>
              <a:defRPr/>
            </a:pPr>
            <a:r>
              <a:rPr lang="en-US" dirty="0"/>
              <a:t>What is a Software?</a:t>
            </a:r>
          </a:p>
          <a:p>
            <a:pPr marL="274320" indent="-274320" eaLnBrk="1" fontAlgn="auto" hangingPunct="1">
              <a:spcBef>
                <a:spcPts val="580"/>
              </a:spcBef>
              <a:spcAft>
                <a:spcPts val="0"/>
              </a:spcAft>
              <a:buFont typeface="Wingdings 2"/>
              <a:buChar char=""/>
              <a:defRPr/>
            </a:pPr>
            <a:r>
              <a:rPr lang="en-US" dirty="0"/>
              <a:t>What do you understand by Software Engineering?</a:t>
            </a:r>
          </a:p>
        </p:txBody>
      </p:sp>
      <p:sp>
        <p:nvSpPr>
          <p:cNvPr id="3" name="Slide Number Placeholder 2"/>
          <p:cNvSpPr>
            <a:spLocks noGrp="1"/>
          </p:cNvSpPr>
          <p:nvPr>
            <p:ph type="sldNum" sz="quarter" idx="12"/>
          </p:nvPr>
        </p:nvSpPr>
        <p:spPr/>
        <p:txBody>
          <a:bodyPr/>
          <a:lstStyle/>
          <a:p>
            <a:pPr>
              <a:defRPr/>
            </a:pPr>
            <a:fld id="{00765E5C-86D0-4902-891E-69961DD027FD}" type="slidenum">
              <a:rPr lang="en-US"/>
              <a:pPr>
                <a:defRPr/>
              </a:pPr>
              <a:t>3</a:t>
            </a:fld>
            <a:endParaRPr lang="en-US"/>
          </a:p>
        </p:txBody>
      </p:sp>
    </p:spTree>
    <p:extLst>
      <p:ext uri="{BB962C8B-B14F-4D97-AF65-F5344CB8AC3E}">
        <p14:creationId xmlns:p14="http://schemas.microsoft.com/office/powerpoint/2010/main" val="1026671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en-US" sz="3600" dirty="0"/>
              <a:t>Software</a:t>
            </a:r>
            <a:br>
              <a:rPr lang="en-US" sz="3600" dirty="0"/>
            </a:br>
            <a:endParaRPr lang="en-US" sz="3600" dirty="0"/>
          </a:p>
        </p:txBody>
      </p:sp>
      <p:sp>
        <p:nvSpPr>
          <p:cNvPr id="4" name="Content Placeholder 3"/>
          <p:cNvSpPr>
            <a:spLocks noGrp="1"/>
          </p:cNvSpPr>
          <p:nvPr>
            <p:ph idx="1"/>
          </p:nvPr>
        </p:nvSpPr>
        <p:spPr/>
        <p:txBody>
          <a:bodyPr>
            <a:normAutofit/>
          </a:bodyPr>
          <a:lstStyle/>
          <a:p>
            <a:pPr>
              <a:defRPr/>
            </a:pPr>
            <a:r>
              <a:rPr lang="en-US" b="1" dirty="0"/>
              <a:t>Computer software</a:t>
            </a:r>
            <a:r>
              <a:rPr lang="en-US" dirty="0"/>
              <a:t>, or just </a:t>
            </a:r>
            <a:r>
              <a:rPr lang="en-US" b="1" dirty="0"/>
              <a:t>software</a:t>
            </a:r>
            <a:r>
              <a:rPr lang="en-US" dirty="0"/>
              <a:t>, is a collection of </a:t>
            </a:r>
            <a:r>
              <a:rPr lang="en-US" dirty="0">
                <a:hlinkClick r:id="rId2" tooltip="Computer program"/>
              </a:rPr>
              <a:t>computer programs</a:t>
            </a:r>
            <a:r>
              <a:rPr lang="en-US" dirty="0"/>
              <a:t> and related </a:t>
            </a:r>
            <a:r>
              <a:rPr lang="en-US" dirty="0">
                <a:hlinkClick r:id="rId3" tooltip="Data"/>
              </a:rPr>
              <a:t>data</a:t>
            </a:r>
            <a:r>
              <a:rPr lang="en-US" dirty="0"/>
              <a:t> that provide the instructions for telling a </a:t>
            </a:r>
            <a:r>
              <a:rPr lang="en-US" dirty="0">
                <a:hlinkClick r:id="rId4" tooltip="Computer"/>
              </a:rPr>
              <a:t>computer</a:t>
            </a:r>
            <a:r>
              <a:rPr lang="en-US" dirty="0"/>
              <a:t> what to do and how to do it</a:t>
            </a:r>
          </a:p>
          <a:p>
            <a:pPr>
              <a:defRPr/>
            </a:pPr>
            <a:r>
              <a:rPr lang="en-US" dirty="0"/>
              <a:t>Software is a set of </a:t>
            </a:r>
            <a:r>
              <a:rPr lang="en-US" b="1" dirty="0"/>
              <a:t>programs, procedures, algorithms</a:t>
            </a:r>
            <a:r>
              <a:rPr lang="en-US" dirty="0"/>
              <a:t> and its </a:t>
            </a:r>
            <a:r>
              <a:rPr lang="en-US" b="1" dirty="0"/>
              <a:t>documentation</a:t>
            </a:r>
            <a:endParaRPr lang="en-US" dirty="0"/>
          </a:p>
          <a:p>
            <a:pPr>
              <a:defRPr/>
            </a:pPr>
            <a:endParaRPr lang="en-US" baseline="30000" dirty="0"/>
          </a:p>
          <a:p>
            <a:pPr>
              <a:defRPr/>
            </a:pPr>
            <a:endParaRPr lang="en-US" baseline="30000" dirty="0"/>
          </a:p>
        </p:txBody>
      </p:sp>
      <p:sp>
        <p:nvSpPr>
          <p:cNvPr id="3" name="Slide Number Placeholder 2"/>
          <p:cNvSpPr>
            <a:spLocks noGrp="1"/>
          </p:cNvSpPr>
          <p:nvPr>
            <p:ph type="sldNum" sz="quarter" idx="12"/>
          </p:nvPr>
        </p:nvSpPr>
        <p:spPr/>
        <p:txBody>
          <a:bodyPr/>
          <a:lstStyle/>
          <a:p>
            <a:pPr>
              <a:defRPr/>
            </a:pPr>
            <a:fld id="{00765E5C-86D0-4902-891E-69961DD027FD}" type="slidenum">
              <a:rPr lang="en-US"/>
              <a:pPr>
                <a:defRPr/>
              </a:pPr>
              <a:t>4</a:t>
            </a:fld>
            <a:endParaRPr lang="en-US"/>
          </a:p>
        </p:txBody>
      </p:sp>
      <p:sp>
        <p:nvSpPr>
          <p:cNvPr id="5" name="Title 1"/>
          <p:cNvSpPr txBox="1">
            <a:spLocks/>
          </p:cNvSpPr>
          <p:nvPr/>
        </p:nvSpPr>
        <p:spPr>
          <a:xfrm>
            <a:off x="1066800" y="5791200"/>
            <a:ext cx="7772400" cy="1143000"/>
          </a:xfrm>
          <a:prstGeom prst="rect">
            <a:avLst/>
          </a:prstGeom>
        </p:spPr>
        <p:txBody>
          <a:bodyPr bIns="91440" anchor="b" anchorCtr="0">
            <a:normAutofit fontScale="75000" lnSpcReduction="20000"/>
          </a:bodyPr>
          <a:lstStyle/>
          <a:p>
            <a:pPr lvl="0">
              <a:spcBef>
                <a:spcPct val="0"/>
              </a:spcBef>
            </a:pPr>
            <a:r>
              <a:rPr kumimoji="0" lang="en-US" sz="3600" b="0" i="0" u="none" strike="noStrike" kern="1200" cap="none" spc="0" normalizeH="0" baseline="30000" noProof="0" dirty="0">
                <a:ln>
                  <a:noFill/>
                </a:ln>
                <a:solidFill>
                  <a:schemeClr val="tx2"/>
                </a:solidFill>
                <a:effectLst/>
                <a:uLnTx/>
                <a:uFillTx/>
                <a:latin typeface="+mj-lt"/>
                <a:ea typeface="+mj-ea"/>
                <a:cs typeface="+mj-cs"/>
              </a:rPr>
              <a:t>Reference : </a:t>
            </a:r>
            <a:r>
              <a:rPr lang="en-US" sz="3600" dirty="0">
                <a:hlinkClick r:id="rId5"/>
              </a:rPr>
              <a:t>http://en.wikipedia.org/wiki/Computer_software</a:t>
            </a:r>
            <a:br>
              <a:rPr kumimoji="0" lang="en-US" sz="3600" b="0" i="0" u="none" strike="noStrike" kern="1200" cap="none" spc="0" normalizeH="0" baseline="0" noProof="0" dirty="0">
                <a:ln>
                  <a:noFill/>
                </a:ln>
                <a:solidFill>
                  <a:schemeClr val="tx2"/>
                </a:solidFill>
                <a:effectLst/>
                <a:uLnTx/>
                <a:uFillTx/>
                <a:latin typeface="+mj-lt"/>
                <a:ea typeface="+mj-ea"/>
                <a:cs typeface="+mj-cs"/>
              </a:rPr>
            </a:br>
            <a:endParaRPr kumimoji="0" lang="en-US" sz="3600" b="0" i="0" u="none" strike="noStrike" kern="120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val="15531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(1)</a:t>
            </a:r>
          </a:p>
        </p:txBody>
      </p:sp>
      <p:sp>
        <p:nvSpPr>
          <p:cNvPr id="3" name="Content Placeholder 2"/>
          <p:cNvSpPr>
            <a:spLocks noGrp="1"/>
          </p:cNvSpPr>
          <p:nvPr>
            <p:ph idx="1"/>
          </p:nvPr>
        </p:nvSpPr>
        <p:spPr/>
        <p:txBody>
          <a:bodyPr>
            <a:normAutofit/>
          </a:bodyPr>
          <a:lstStyle/>
          <a:p>
            <a:r>
              <a:rPr lang="en-US" dirty="0"/>
              <a:t>Software Engineering is a discipline concerned with the development of software systems by applying engineering principles with the goal of developing cost-effective quality systems. IEEE defines software engineering [IEEE-93] as </a:t>
            </a:r>
          </a:p>
          <a:p>
            <a:pPr lvl="1"/>
            <a:r>
              <a:rPr lang="en-US" dirty="0"/>
              <a:t>The application of systematic, disciplined, quantifiable approach to development, operation, and maintenance of software; that is application of engineering to software.</a:t>
            </a:r>
          </a:p>
          <a:p>
            <a:pPr lvl="1"/>
            <a:r>
              <a:rPr lang="en-US" dirty="0"/>
              <a:t>The study of approaches mentioned above.</a:t>
            </a:r>
          </a:p>
          <a:p>
            <a:r>
              <a:rPr lang="en-US" sz="2400" dirty="0"/>
              <a:t>The application of a systematic, disciplined, quantifiable approach to the development, operation, and maintenance of software; that is, the application of engineering to software. [IEEE]</a:t>
            </a:r>
          </a:p>
          <a:p>
            <a:endParaRPr lang="en-US" dirty="0"/>
          </a:p>
          <a:p>
            <a:endParaRPr lang="en-US" dirty="0"/>
          </a:p>
        </p:txBody>
      </p:sp>
    </p:spTree>
    <p:extLst>
      <p:ext uri="{BB962C8B-B14F-4D97-AF65-F5344CB8AC3E}">
        <p14:creationId xmlns:p14="http://schemas.microsoft.com/office/powerpoint/2010/main" val="2739484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(2)</a:t>
            </a:r>
          </a:p>
        </p:txBody>
      </p:sp>
      <p:sp>
        <p:nvSpPr>
          <p:cNvPr id="3" name="Content Placeholder 2"/>
          <p:cNvSpPr>
            <a:spLocks noGrp="1"/>
          </p:cNvSpPr>
          <p:nvPr>
            <p:ph idx="1"/>
          </p:nvPr>
        </p:nvSpPr>
        <p:spPr/>
        <p:txBody>
          <a:bodyPr>
            <a:normAutofit fontScale="92500"/>
          </a:bodyPr>
          <a:lstStyle/>
          <a:p>
            <a:pPr algn="ctr">
              <a:buNone/>
            </a:pPr>
            <a:endParaRPr lang="en-US" sz="2400" b="1" dirty="0">
              <a:latin typeface="Tahoma" pitchFamily="34" charset="0"/>
            </a:endParaRPr>
          </a:p>
          <a:p>
            <a:pPr algn="ctr">
              <a:buNone/>
            </a:pPr>
            <a:r>
              <a:rPr lang="en-US" sz="2400" b="1" dirty="0">
                <a:latin typeface="Tahoma" pitchFamily="34" charset="0"/>
              </a:rPr>
              <a:t>“all aspects of software production” </a:t>
            </a:r>
          </a:p>
          <a:p>
            <a:r>
              <a:rPr lang="en-US" sz="2400" dirty="0">
                <a:latin typeface="Tahoma" pitchFamily="34" charset="0"/>
              </a:rPr>
              <a:t>Software engineering is not just concerned with the technical processes of software development but also with activities such as software project management and with the development of tools, methods and theories to support software production.[</a:t>
            </a:r>
            <a:r>
              <a:rPr lang="en-US" sz="2400" dirty="0" err="1">
                <a:latin typeface="Tahoma" pitchFamily="34" charset="0"/>
              </a:rPr>
              <a:t>Sommerville</a:t>
            </a:r>
            <a:r>
              <a:rPr lang="en-US" sz="2400" dirty="0">
                <a:latin typeface="Tahoma" pitchFamily="34" charset="0"/>
              </a:rPr>
              <a:t>]</a:t>
            </a:r>
          </a:p>
          <a:p>
            <a:endParaRPr lang="en-US" sz="2400" dirty="0">
              <a:latin typeface="Tahoma" pitchFamily="34" charset="0"/>
            </a:endParaRPr>
          </a:p>
          <a:p>
            <a:r>
              <a:rPr lang="en-US" sz="2400" dirty="0">
                <a:latin typeface="Tahoma" pitchFamily="34" charset="0"/>
              </a:rPr>
              <a:t>Software Engineering is not just about producing software, but about producing software in a COST-EFFECTIVE manner</a:t>
            </a:r>
          </a:p>
          <a:p>
            <a:endParaRPr lang="en-US" dirty="0"/>
          </a:p>
        </p:txBody>
      </p:sp>
    </p:spTree>
    <p:extLst>
      <p:ext uri="{BB962C8B-B14F-4D97-AF65-F5344CB8AC3E}">
        <p14:creationId xmlns:p14="http://schemas.microsoft.com/office/powerpoint/2010/main" val="56445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rmAutofit fontScale="90000"/>
          </a:bodyPr>
          <a:lstStyle/>
          <a:p>
            <a:r>
              <a:rPr lang="en-US" b="1" dirty="0"/>
              <a:t>The Discipline of Software Engineering</a:t>
            </a:r>
            <a:br>
              <a:rPr lang="en-US" dirty="0"/>
            </a:br>
            <a:endParaRPr lang="en-US" dirty="0"/>
          </a:p>
        </p:txBody>
      </p:sp>
      <p:sp>
        <p:nvSpPr>
          <p:cNvPr id="3" name="Content Placeholder 2"/>
          <p:cNvSpPr>
            <a:spLocks noGrp="1"/>
          </p:cNvSpPr>
          <p:nvPr>
            <p:ph idx="1"/>
          </p:nvPr>
        </p:nvSpPr>
        <p:spPr/>
        <p:txBody>
          <a:bodyPr>
            <a:normAutofit/>
          </a:bodyPr>
          <a:lstStyle/>
          <a:p>
            <a:r>
              <a:rPr lang="en-US" dirty="0"/>
              <a:t>It is a discipline of creating high-quality software in a systematic, controlled and efficient manner, and maintaining it affordably. It involves the application of engineering concepts, techniques, and methods to the development of software systems.</a:t>
            </a:r>
          </a:p>
          <a:p>
            <a:endParaRPr lang="en-US" dirty="0"/>
          </a:p>
          <a:p>
            <a:r>
              <a:rPr lang="en-US" dirty="0"/>
              <a:t>Software Engineering is the discipline of developing and maintaining software systems that behave reliably and efficiently, and are affordable to develop and maintain. However, more recently it has evolved in response to the increased importance of software in safety-critical applications and to the growing impact of large and expensive software systems in a wide range of situations.</a:t>
            </a:r>
          </a:p>
          <a:p>
            <a:endParaRPr lang="en-US" dirty="0"/>
          </a:p>
          <a:p>
            <a:endParaRPr lang="en-US" dirty="0"/>
          </a:p>
        </p:txBody>
      </p:sp>
    </p:spTree>
    <p:extLst>
      <p:ext uri="{BB962C8B-B14F-4D97-AF65-F5344CB8AC3E}">
        <p14:creationId xmlns:p14="http://schemas.microsoft.com/office/powerpoint/2010/main" val="964615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a:t>
            </a:r>
          </a:p>
        </p:txBody>
      </p:sp>
      <p:sp>
        <p:nvSpPr>
          <p:cNvPr id="3" name="Content Placeholder 2"/>
          <p:cNvSpPr>
            <a:spLocks noGrp="1"/>
          </p:cNvSpPr>
          <p:nvPr>
            <p:ph idx="1"/>
          </p:nvPr>
        </p:nvSpPr>
        <p:spPr/>
        <p:txBody>
          <a:bodyPr/>
          <a:lstStyle/>
          <a:p>
            <a:pPr algn="ctr">
              <a:buNone/>
            </a:pPr>
            <a:endParaRPr lang="en-US" sz="2800" dirty="0">
              <a:latin typeface="Tahoma" pitchFamily="34" charset="0"/>
            </a:endParaRPr>
          </a:p>
          <a:p>
            <a:pPr algn="ctr">
              <a:buNone/>
            </a:pPr>
            <a:endParaRPr lang="en-US" sz="2800" dirty="0">
              <a:latin typeface="Tahoma" pitchFamily="34" charset="0"/>
            </a:endParaRPr>
          </a:p>
          <a:p>
            <a:pPr algn="ctr">
              <a:buNone/>
            </a:pPr>
            <a:r>
              <a:rPr lang="en-US" sz="3200" dirty="0">
                <a:latin typeface="Tahoma" pitchFamily="34" charset="0"/>
              </a:rPr>
              <a:t>A software engineer is challenged to produce high-quality software with finite amount of resources and to a predicted schedule and budget</a:t>
            </a:r>
            <a:endParaRPr lang="en-US" sz="2800" dirty="0"/>
          </a:p>
        </p:txBody>
      </p:sp>
    </p:spTree>
    <p:extLst>
      <p:ext uri="{BB962C8B-B14F-4D97-AF65-F5344CB8AC3E}">
        <p14:creationId xmlns:p14="http://schemas.microsoft.com/office/powerpoint/2010/main" val="246840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Law of Diminishing Returns</a:t>
            </a:r>
          </a:p>
        </p:txBody>
      </p:sp>
      <p:sp>
        <p:nvSpPr>
          <p:cNvPr id="5" name="Text Box 4"/>
          <p:cNvSpPr txBox="1">
            <a:spLocks noChangeArrowheads="1"/>
          </p:cNvSpPr>
          <p:nvPr/>
        </p:nvSpPr>
        <p:spPr bwMode="auto">
          <a:xfrm>
            <a:off x="457200" y="5257800"/>
            <a:ext cx="8305800" cy="519113"/>
          </a:xfrm>
          <a:prstGeom prst="rect">
            <a:avLst/>
          </a:prstGeom>
          <a:noFill/>
          <a:ln w="9525">
            <a:solidFill>
              <a:schemeClr val="tx1"/>
            </a:solidFill>
            <a:miter lim="800000"/>
            <a:headEnd/>
            <a:tailEnd/>
          </a:ln>
          <a:effectLst/>
        </p:spPr>
        <p:txBody>
          <a:bodyPr>
            <a:spAutoFit/>
          </a:bodyPr>
          <a:lstStyle/>
          <a:p>
            <a:pPr algn="ctr">
              <a:spcBef>
                <a:spcPct val="50000"/>
              </a:spcBef>
            </a:pPr>
            <a:r>
              <a:rPr lang="en-US" sz="2800">
                <a:latin typeface="Tahoma" pitchFamily="34" charset="0"/>
              </a:rPr>
              <a:t>Making the engineering decision! </a:t>
            </a:r>
          </a:p>
        </p:txBody>
      </p:sp>
      <p:grpSp>
        <p:nvGrpSpPr>
          <p:cNvPr id="3" name="Group 17"/>
          <p:cNvGrpSpPr>
            <a:grpSpLocks/>
          </p:cNvGrpSpPr>
          <p:nvPr/>
        </p:nvGrpSpPr>
        <p:grpSpPr bwMode="auto">
          <a:xfrm>
            <a:off x="1981200" y="1524000"/>
            <a:ext cx="5105400" cy="2971800"/>
            <a:chOff x="1248" y="960"/>
            <a:chExt cx="3216" cy="1872"/>
          </a:xfrm>
        </p:grpSpPr>
        <p:sp>
          <p:nvSpPr>
            <p:cNvPr id="7" name="Line 9"/>
            <p:cNvSpPr>
              <a:spLocks noChangeShapeType="1"/>
            </p:cNvSpPr>
            <p:nvPr/>
          </p:nvSpPr>
          <p:spPr bwMode="auto">
            <a:xfrm>
              <a:off x="1248" y="960"/>
              <a:ext cx="0" cy="1872"/>
            </a:xfrm>
            <a:prstGeom prst="line">
              <a:avLst/>
            </a:prstGeom>
            <a:noFill/>
            <a:ln w="9525">
              <a:solidFill>
                <a:schemeClr val="tx1"/>
              </a:solidFill>
              <a:round/>
              <a:headEnd/>
              <a:tailEnd/>
            </a:ln>
            <a:effectLst/>
          </p:spPr>
          <p:txBody>
            <a:bodyPr/>
            <a:lstStyle/>
            <a:p>
              <a:endParaRPr lang="en-US"/>
            </a:p>
          </p:txBody>
        </p:sp>
        <p:sp>
          <p:nvSpPr>
            <p:cNvPr id="8" name="Line 10"/>
            <p:cNvSpPr>
              <a:spLocks noChangeShapeType="1"/>
            </p:cNvSpPr>
            <p:nvPr/>
          </p:nvSpPr>
          <p:spPr bwMode="auto">
            <a:xfrm>
              <a:off x="1248" y="2832"/>
              <a:ext cx="3216" cy="0"/>
            </a:xfrm>
            <a:prstGeom prst="line">
              <a:avLst/>
            </a:prstGeom>
            <a:noFill/>
            <a:ln w="9525">
              <a:solidFill>
                <a:schemeClr val="tx1"/>
              </a:solidFill>
              <a:round/>
              <a:headEnd/>
              <a:tailEnd/>
            </a:ln>
            <a:effectLst/>
          </p:spPr>
          <p:txBody>
            <a:bodyPr/>
            <a:lstStyle/>
            <a:p>
              <a:endParaRPr lang="en-US"/>
            </a:p>
          </p:txBody>
        </p:sp>
      </p:grpSp>
      <p:grpSp>
        <p:nvGrpSpPr>
          <p:cNvPr id="4" name="Group 19"/>
          <p:cNvGrpSpPr>
            <a:grpSpLocks/>
          </p:cNvGrpSpPr>
          <p:nvPr/>
        </p:nvGrpSpPr>
        <p:grpSpPr bwMode="auto">
          <a:xfrm>
            <a:off x="2590800" y="4495800"/>
            <a:ext cx="3657600" cy="579438"/>
            <a:chOff x="2160" y="2832"/>
            <a:chExt cx="1776" cy="365"/>
          </a:xfrm>
        </p:grpSpPr>
        <p:sp>
          <p:nvSpPr>
            <p:cNvPr id="10" name="Line 5"/>
            <p:cNvSpPr>
              <a:spLocks noChangeShapeType="1"/>
            </p:cNvSpPr>
            <p:nvPr/>
          </p:nvSpPr>
          <p:spPr bwMode="auto">
            <a:xfrm>
              <a:off x="2976" y="3024"/>
              <a:ext cx="960" cy="0"/>
            </a:xfrm>
            <a:prstGeom prst="line">
              <a:avLst/>
            </a:prstGeom>
            <a:noFill/>
            <a:ln w="57150">
              <a:solidFill>
                <a:schemeClr val="tx1"/>
              </a:solidFill>
              <a:round/>
              <a:headEnd/>
              <a:tailEnd type="triangle" w="med" len="med"/>
            </a:ln>
            <a:effectLst/>
          </p:spPr>
          <p:txBody>
            <a:bodyPr/>
            <a:lstStyle/>
            <a:p>
              <a:endParaRPr lang="en-US"/>
            </a:p>
          </p:txBody>
        </p:sp>
        <p:sp>
          <p:nvSpPr>
            <p:cNvPr id="11" name="Text Box 11"/>
            <p:cNvSpPr txBox="1">
              <a:spLocks noChangeArrowheads="1"/>
            </p:cNvSpPr>
            <p:nvPr/>
          </p:nvSpPr>
          <p:spPr bwMode="auto">
            <a:xfrm>
              <a:off x="2160" y="2832"/>
              <a:ext cx="720" cy="365"/>
            </a:xfrm>
            <a:prstGeom prst="rect">
              <a:avLst/>
            </a:prstGeom>
            <a:noFill/>
            <a:ln w="9525">
              <a:solidFill>
                <a:schemeClr val="tx1"/>
              </a:solidFill>
              <a:miter lim="800000"/>
              <a:headEnd/>
              <a:tailEnd/>
            </a:ln>
            <a:effectLst/>
          </p:spPr>
          <p:txBody>
            <a:bodyPr>
              <a:spAutoFit/>
            </a:bodyPr>
            <a:lstStyle/>
            <a:p>
              <a:pPr>
                <a:spcBef>
                  <a:spcPct val="50000"/>
                </a:spcBef>
              </a:pPr>
              <a:r>
                <a:rPr lang="en-US" sz="3200">
                  <a:latin typeface="Arial" charset="0"/>
                </a:rPr>
                <a:t>Benefit</a:t>
              </a:r>
            </a:p>
          </p:txBody>
        </p:sp>
      </p:grpSp>
      <p:grpSp>
        <p:nvGrpSpPr>
          <p:cNvPr id="6" name="Group 20"/>
          <p:cNvGrpSpPr>
            <a:grpSpLocks/>
          </p:cNvGrpSpPr>
          <p:nvPr/>
        </p:nvGrpSpPr>
        <p:grpSpPr bwMode="auto">
          <a:xfrm>
            <a:off x="1371600" y="1600200"/>
            <a:ext cx="579438" cy="2743200"/>
            <a:chOff x="864" y="1008"/>
            <a:chExt cx="365" cy="1728"/>
          </a:xfrm>
        </p:grpSpPr>
        <p:sp>
          <p:nvSpPr>
            <p:cNvPr id="13" name="Line 7"/>
            <p:cNvSpPr>
              <a:spLocks noChangeShapeType="1"/>
            </p:cNvSpPr>
            <p:nvPr/>
          </p:nvSpPr>
          <p:spPr bwMode="auto">
            <a:xfrm rot="-5400000">
              <a:off x="576" y="1488"/>
              <a:ext cx="960" cy="0"/>
            </a:xfrm>
            <a:prstGeom prst="line">
              <a:avLst/>
            </a:prstGeom>
            <a:noFill/>
            <a:ln w="57150">
              <a:solidFill>
                <a:schemeClr val="tx1"/>
              </a:solidFill>
              <a:round/>
              <a:headEnd/>
              <a:tailEnd type="triangle" w="med" len="med"/>
            </a:ln>
            <a:effectLst/>
          </p:spPr>
          <p:txBody>
            <a:bodyPr/>
            <a:lstStyle/>
            <a:p>
              <a:endParaRPr lang="en-US"/>
            </a:p>
          </p:txBody>
        </p:sp>
        <p:sp>
          <p:nvSpPr>
            <p:cNvPr id="14" name="Text Box 12"/>
            <p:cNvSpPr txBox="1">
              <a:spLocks noChangeArrowheads="1"/>
            </p:cNvSpPr>
            <p:nvPr/>
          </p:nvSpPr>
          <p:spPr bwMode="auto">
            <a:xfrm rot="-5400000">
              <a:off x="687" y="2193"/>
              <a:ext cx="720" cy="365"/>
            </a:xfrm>
            <a:prstGeom prst="rect">
              <a:avLst/>
            </a:prstGeom>
            <a:noFill/>
            <a:ln w="9525">
              <a:solidFill>
                <a:schemeClr val="tx1"/>
              </a:solidFill>
              <a:miter lim="800000"/>
              <a:headEnd/>
              <a:tailEnd/>
            </a:ln>
            <a:effectLst/>
          </p:spPr>
          <p:txBody>
            <a:bodyPr>
              <a:spAutoFit/>
            </a:bodyPr>
            <a:lstStyle/>
            <a:p>
              <a:pPr>
                <a:spcBef>
                  <a:spcPct val="50000"/>
                </a:spcBef>
              </a:pPr>
              <a:r>
                <a:rPr lang="en-US" sz="3200">
                  <a:latin typeface="Arial" charset="0"/>
                </a:rPr>
                <a:t>Cost</a:t>
              </a:r>
            </a:p>
          </p:txBody>
        </p:sp>
      </p:grpSp>
      <p:sp>
        <p:nvSpPr>
          <p:cNvPr id="15" name="Freeform 16"/>
          <p:cNvSpPr>
            <a:spLocks/>
          </p:cNvSpPr>
          <p:nvPr/>
        </p:nvSpPr>
        <p:spPr bwMode="auto">
          <a:xfrm>
            <a:off x="2057400" y="1870075"/>
            <a:ext cx="4403725" cy="2549525"/>
          </a:xfrm>
          <a:custGeom>
            <a:avLst/>
            <a:gdLst/>
            <a:ahLst/>
            <a:cxnLst>
              <a:cxn ang="0">
                <a:pos x="0" y="1606"/>
              </a:cxn>
              <a:cxn ang="0">
                <a:pos x="528" y="1558"/>
              </a:cxn>
              <a:cxn ang="0">
                <a:pos x="1520" y="1369"/>
              </a:cxn>
              <a:cxn ang="0">
                <a:pos x="2211" y="921"/>
              </a:cxn>
              <a:cxn ang="0">
                <a:pos x="2570" y="486"/>
              </a:cxn>
              <a:cxn ang="0">
                <a:pos x="2774" y="0"/>
              </a:cxn>
            </a:cxnLst>
            <a:rect l="0" t="0" r="r" b="b"/>
            <a:pathLst>
              <a:path w="2774" h="1606">
                <a:moveTo>
                  <a:pt x="0" y="1606"/>
                </a:moveTo>
                <a:cubicBezTo>
                  <a:pt x="136" y="1602"/>
                  <a:pt x="275" y="1598"/>
                  <a:pt x="528" y="1558"/>
                </a:cubicBezTo>
                <a:cubicBezTo>
                  <a:pt x="781" y="1518"/>
                  <a:pt x="1240" y="1475"/>
                  <a:pt x="1520" y="1369"/>
                </a:cubicBezTo>
                <a:cubicBezTo>
                  <a:pt x="1800" y="1263"/>
                  <a:pt x="2036" y="1068"/>
                  <a:pt x="2211" y="921"/>
                </a:cubicBezTo>
                <a:cubicBezTo>
                  <a:pt x="2386" y="774"/>
                  <a:pt x="2476" y="639"/>
                  <a:pt x="2570" y="486"/>
                </a:cubicBezTo>
                <a:cubicBezTo>
                  <a:pt x="2664" y="333"/>
                  <a:pt x="2732" y="101"/>
                  <a:pt x="2774" y="0"/>
                </a:cubicBezTo>
              </a:path>
            </a:pathLst>
          </a:custGeom>
          <a:noFill/>
          <a:ln w="38100" cmpd="sng">
            <a:solidFill>
              <a:schemeClr val="tx1"/>
            </a:solidFill>
            <a:round/>
            <a:headEnd/>
            <a:tailEnd/>
          </a:ln>
          <a:effectLst/>
        </p:spPr>
        <p:txBody>
          <a:bodyPr/>
          <a:lstStyle/>
          <a:p>
            <a:endParaRPr lang="en-US"/>
          </a:p>
        </p:txBody>
      </p:sp>
    </p:spTree>
    <p:extLst>
      <p:ext uri="{BB962C8B-B14F-4D97-AF65-F5344CB8AC3E}">
        <p14:creationId xmlns:p14="http://schemas.microsoft.com/office/powerpoint/2010/main" val="360955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Balancing Act!</a:t>
            </a:r>
          </a:p>
        </p:txBody>
      </p:sp>
      <p:sp>
        <p:nvSpPr>
          <p:cNvPr id="3" name="Content Placeholder 2"/>
          <p:cNvSpPr>
            <a:spLocks noGrp="1"/>
          </p:cNvSpPr>
          <p:nvPr>
            <p:ph idx="1"/>
          </p:nvPr>
        </p:nvSpPr>
        <p:spPr/>
        <p:txBody>
          <a:bodyPr>
            <a:normAutofit lnSpcReduction="10000"/>
          </a:bodyPr>
          <a:lstStyle/>
          <a:p>
            <a:pPr marL="342900" indent="-342900" algn="ctr">
              <a:spcBef>
                <a:spcPct val="20000"/>
              </a:spcBef>
              <a:spcAft>
                <a:spcPct val="50000"/>
              </a:spcAft>
              <a:buFont typeface="Symbol" pitchFamily="18" charset="2"/>
              <a:buNone/>
            </a:pPr>
            <a:endParaRPr lang="en-US" b="1" i="1" dirty="0">
              <a:latin typeface="Arial" charset="0"/>
            </a:endParaRPr>
          </a:p>
          <a:p>
            <a:pPr marL="342900" indent="-342900" algn="ctr">
              <a:spcBef>
                <a:spcPct val="20000"/>
              </a:spcBef>
              <a:spcAft>
                <a:spcPct val="50000"/>
              </a:spcAft>
              <a:buFont typeface="Symbol" pitchFamily="18" charset="2"/>
              <a:buNone/>
            </a:pPr>
            <a:r>
              <a:rPr lang="en-US" b="1" i="1" dirty="0">
                <a:latin typeface="Arial" charset="0"/>
              </a:rPr>
              <a:t>Potentially conflicting requirements</a:t>
            </a:r>
          </a:p>
          <a:p>
            <a:pPr marL="742950" lvl="1" indent="-285750">
              <a:spcBef>
                <a:spcPct val="20000"/>
              </a:spcBef>
              <a:buFont typeface="Symbol" pitchFamily="18" charset="2"/>
              <a:buChar char="·"/>
            </a:pPr>
            <a:r>
              <a:rPr lang="en-US" dirty="0">
                <a:latin typeface="Arial" charset="0"/>
              </a:rPr>
              <a:t>Cost vs. Efficiency</a:t>
            </a:r>
          </a:p>
          <a:p>
            <a:pPr marL="742950" lvl="1" indent="-285750">
              <a:spcBef>
                <a:spcPct val="20000"/>
              </a:spcBef>
              <a:buFont typeface="Symbol" pitchFamily="18" charset="2"/>
              <a:buChar char="·"/>
            </a:pPr>
            <a:r>
              <a:rPr lang="en-US" dirty="0">
                <a:latin typeface="Arial" charset="0"/>
              </a:rPr>
              <a:t>Cost vs. Reliability</a:t>
            </a:r>
          </a:p>
          <a:p>
            <a:pPr marL="742950" lvl="1" indent="-285750">
              <a:spcBef>
                <a:spcPct val="20000"/>
              </a:spcBef>
              <a:buFont typeface="Symbol" pitchFamily="18" charset="2"/>
              <a:buChar char="·"/>
            </a:pPr>
            <a:r>
              <a:rPr lang="en-US" dirty="0">
                <a:latin typeface="Arial" charset="0"/>
              </a:rPr>
              <a:t>Efficiency vs. User-interface</a:t>
            </a:r>
          </a:p>
          <a:p>
            <a:endParaRPr lang="en-US" sz="2400" b="1" dirty="0">
              <a:latin typeface="Tahoma" pitchFamily="34" charset="0"/>
            </a:endParaRPr>
          </a:p>
          <a:p>
            <a:endParaRPr lang="en-US" sz="2400" b="1" dirty="0">
              <a:latin typeface="Tahoma" pitchFamily="34" charset="0"/>
            </a:endParaRPr>
          </a:p>
          <a:p>
            <a:endParaRPr lang="en-US" sz="2400" b="1" dirty="0">
              <a:latin typeface="Tahoma" pitchFamily="34" charset="0"/>
            </a:endParaRPr>
          </a:p>
          <a:p>
            <a:pPr algn="ctr">
              <a:buNone/>
            </a:pPr>
            <a:r>
              <a:rPr lang="en-US" sz="2400" b="1" dirty="0">
                <a:latin typeface="Tahoma" pitchFamily="34" charset="0"/>
              </a:rPr>
              <a:t>Challenge is to balance these requirements</a:t>
            </a:r>
          </a:p>
          <a:p>
            <a:endParaRPr lang="en-US" dirty="0"/>
          </a:p>
        </p:txBody>
      </p:sp>
    </p:spTree>
    <p:extLst>
      <p:ext uri="{BB962C8B-B14F-4D97-AF65-F5344CB8AC3E}">
        <p14:creationId xmlns:p14="http://schemas.microsoft.com/office/powerpoint/2010/main" val="1178602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Well-Engineered Software</a:t>
            </a:r>
          </a:p>
        </p:txBody>
      </p:sp>
      <p:sp>
        <p:nvSpPr>
          <p:cNvPr id="3" name="Content Placeholder 2"/>
          <p:cNvSpPr>
            <a:spLocks noGrp="1"/>
          </p:cNvSpPr>
          <p:nvPr>
            <p:ph idx="1"/>
          </p:nvPr>
        </p:nvSpPr>
        <p:spPr/>
        <p:txBody>
          <a:bodyPr/>
          <a:lstStyle/>
          <a:p>
            <a:r>
              <a:rPr lang="en-US" sz="2800" dirty="0">
                <a:latin typeface="Arial" charset="0"/>
              </a:rPr>
              <a:t>Provides the required functionality</a:t>
            </a:r>
          </a:p>
          <a:p>
            <a:endParaRPr lang="en-US" sz="2800" dirty="0">
              <a:latin typeface="Arial" charset="0"/>
            </a:endParaRPr>
          </a:p>
          <a:p>
            <a:pPr marL="617220" lvl="1" indent="-342900">
              <a:spcBef>
                <a:spcPct val="20000"/>
              </a:spcBef>
              <a:buFont typeface="Symbol" pitchFamily="18" charset="2"/>
              <a:buChar char="·"/>
            </a:pPr>
            <a:r>
              <a:rPr lang="en-US" dirty="0">
                <a:latin typeface="Arial" charset="0"/>
              </a:rPr>
              <a:t>Reliable</a:t>
            </a:r>
          </a:p>
          <a:p>
            <a:pPr marL="617220" lvl="1" indent="-342900">
              <a:spcBef>
                <a:spcPct val="20000"/>
              </a:spcBef>
              <a:buFont typeface="Symbol" pitchFamily="18" charset="2"/>
              <a:buChar char="·"/>
            </a:pPr>
            <a:r>
              <a:rPr lang="en-US" dirty="0">
                <a:latin typeface="Arial" charset="0"/>
              </a:rPr>
              <a:t>User-friendly</a:t>
            </a:r>
          </a:p>
          <a:p>
            <a:pPr marL="617220" lvl="1" indent="-342900">
              <a:spcBef>
                <a:spcPct val="20000"/>
              </a:spcBef>
              <a:buFont typeface="Symbol" pitchFamily="18" charset="2"/>
              <a:buChar char="·"/>
            </a:pPr>
            <a:r>
              <a:rPr lang="en-US" dirty="0">
                <a:latin typeface="Arial" charset="0"/>
              </a:rPr>
              <a:t>Cost-effective</a:t>
            </a:r>
          </a:p>
          <a:p>
            <a:pPr marL="617220" lvl="1" indent="-342900">
              <a:spcBef>
                <a:spcPct val="20000"/>
              </a:spcBef>
              <a:buFont typeface="Symbol" pitchFamily="18" charset="2"/>
              <a:buChar char="·"/>
            </a:pPr>
            <a:r>
              <a:rPr lang="en-US" dirty="0">
                <a:latin typeface="Arial" charset="0"/>
              </a:rPr>
              <a:t>Efficient</a:t>
            </a:r>
          </a:p>
          <a:p>
            <a:pPr marL="617220" lvl="1" indent="-342900">
              <a:spcBef>
                <a:spcPct val="20000"/>
              </a:spcBef>
              <a:buFont typeface="Symbol" pitchFamily="18" charset="2"/>
              <a:buChar char="·"/>
            </a:pPr>
            <a:r>
              <a:rPr lang="en-US" dirty="0">
                <a:latin typeface="Arial" charset="0"/>
              </a:rPr>
              <a:t>Maintainable</a:t>
            </a:r>
          </a:p>
          <a:p>
            <a:endParaRPr lang="en-US" dirty="0"/>
          </a:p>
        </p:txBody>
      </p:sp>
    </p:spTree>
    <p:extLst>
      <p:ext uri="{BB962C8B-B14F-4D97-AF65-F5344CB8AC3E}">
        <p14:creationId xmlns:p14="http://schemas.microsoft.com/office/powerpoint/2010/main" val="3352121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76200"/>
            <a:ext cx="7543800" cy="1450757"/>
          </a:xfrm>
        </p:spPr>
        <p:txBody>
          <a:bodyPr>
            <a:normAutofit/>
          </a:bodyPr>
          <a:lstStyle/>
          <a:p>
            <a:r>
              <a:rPr lang="en-US" sz="4000" b="1" dirty="0"/>
              <a:t>Breakdown of Effort Cost </a:t>
            </a:r>
            <a:r>
              <a:rPr lang="en-US" sz="4000" dirty="0"/>
              <a:t>- Software Cost Estimation [Capers Jones ]</a:t>
            </a:r>
          </a:p>
        </p:txBody>
      </p:sp>
      <p:sp>
        <p:nvSpPr>
          <p:cNvPr id="3" name="Content Placeholder 2"/>
          <p:cNvSpPr>
            <a:spLocks noGrp="1"/>
          </p:cNvSpPr>
          <p:nvPr>
            <p:ph idx="1"/>
          </p:nvPr>
        </p:nvSpPr>
        <p:spPr>
          <a:xfrm>
            <a:off x="914400" y="1447800"/>
            <a:ext cx="3733800" cy="4572000"/>
          </a:xfrm>
        </p:spPr>
        <p:txBody>
          <a:bodyPr>
            <a:noAutofit/>
          </a:bodyPr>
          <a:lstStyle/>
          <a:p>
            <a:pPr>
              <a:buFontTx/>
              <a:buNone/>
            </a:pPr>
            <a:r>
              <a:rPr lang="en-US" sz="1400" b="1" dirty="0">
                <a:latin typeface="Tahoma" pitchFamily="34" charset="0"/>
                <a:cs typeface="Tahoma" pitchFamily="34" charset="0"/>
              </a:rPr>
              <a:t>No.    Activity		Effort	</a:t>
            </a:r>
          </a:p>
          <a:p>
            <a:pPr>
              <a:buFontTx/>
              <a:buNone/>
            </a:pPr>
            <a:r>
              <a:rPr lang="en-US" sz="1400" dirty="0">
                <a:latin typeface="Tahoma" pitchFamily="34" charset="0"/>
                <a:cs typeface="Tahoma" pitchFamily="34" charset="0"/>
              </a:rPr>
              <a:t>1	Requirements	3.84%</a:t>
            </a:r>
          </a:p>
          <a:p>
            <a:pPr>
              <a:buFontTx/>
              <a:buNone/>
            </a:pPr>
            <a:r>
              <a:rPr lang="en-US" sz="1400" dirty="0">
                <a:latin typeface="Tahoma" pitchFamily="34" charset="0"/>
                <a:cs typeface="Tahoma" pitchFamily="34" charset="0"/>
              </a:rPr>
              <a:t>2	Prototyping		4.50%</a:t>
            </a:r>
          </a:p>
          <a:p>
            <a:pPr>
              <a:buFontTx/>
              <a:buNone/>
            </a:pPr>
            <a:r>
              <a:rPr lang="en-US" sz="1400" dirty="0">
                <a:latin typeface="Tahoma" pitchFamily="34" charset="0"/>
                <a:cs typeface="Tahoma" pitchFamily="34" charset="0"/>
              </a:rPr>
              <a:t>3	Architecture	2.25%</a:t>
            </a:r>
          </a:p>
          <a:p>
            <a:pPr marL="342900" indent="-342900">
              <a:buNone/>
            </a:pPr>
            <a:r>
              <a:rPr lang="en-US" sz="1400" dirty="0">
                <a:latin typeface="Tahoma" pitchFamily="34" charset="0"/>
                <a:cs typeface="Tahoma" pitchFamily="34" charset="0"/>
              </a:rPr>
              <a:t>4		Project Plans	1.33%</a:t>
            </a:r>
          </a:p>
          <a:p>
            <a:pPr marL="342900" indent="-342900">
              <a:buNone/>
            </a:pPr>
            <a:r>
              <a:rPr lang="en-US" sz="1400" dirty="0">
                <a:latin typeface="Tahoma" pitchFamily="34" charset="0"/>
                <a:cs typeface="Tahoma" pitchFamily="34" charset="0"/>
              </a:rPr>
              <a:t>5		Initial Design	3.84%</a:t>
            </a:r>
          </a:p>
          <a:p>
            <a:pPr>
              <a:buFontTx/>
              <a:buNone/>
            </a:pPr>
            <a:r>
              <a:rPr lang="en-US" sz="1400" dirty="0">
                <a:latin typeface="Tahoma" pitchFamily="34" charset="0"/>
                <a:cs typeface="Tahoma" pitchFamily="34" charset="0"/>
              </a:rPr>
              <a:t>6	Detailed Design 	4.50%</a:t>
            </a:r>
          </a:p>
          <a:p>
            <a:pPr>
              <a:buFontTx/>
              <a:buNone/>
            </a:pPr>
            <a:r>
              <a:rPr lang="en-US" sz="1400" dirty="0">
                <a:latin typeface="Tahoma" pitchFamily="34" charset="0"/>
                <a:cs typeface="Tahoma" pitchFamily="34" charset="0"/>
              </a:rPr>
              <a:t>7	Design Reviews	3.02%</a:t>
            </a:r>
          </a:p>
          <a:p>
            <a:pPr>
              <a:buFontTx/>
              <a:buNone/>
            </a:pPr>
            <a:r>
              <a:rPr lang="en-US" sz="1400" dirty="0">
                <a:latin typeface="Tahoma" pitchFamily="34" charset="0"/>
                <a:cs typeface="Tahoma" pitchFamily="34" charset="0"/>
              </a:rPr>
              <a:t>8	Coding		13.50%</a:t>
            </a:r>
          </a:p>
          <a:p>
            <a:pPr>
              <a:buFontTx/>
              <a:buNone/>
            </a:pPr>
            <a:r>
              <a:rPr lang="en-US" sz="1400" dirty="0">
                <a:latin typeface="Tahoma" pitchFamily="34" charset="0"/>
                <a:cs typeface="Tahoma" pitchFamily="34" charset="0"/>
              </a:rPr>
              <a:t>9	Reuse acquisition 	1.13%</a:t>
            </a:r>
          </a:p>
          <a:p>
            <a:pPr>
              <a:buFontTx/>
              <a:buNone/>
            </a:pPr>
            <a:r>
              <a:rPr lang="en-US" sz="1400" dirty="0">
                <a:latin typeface="Tahoma" pitchFamily="34" charset="0"/>
                <a:cs typeface="Tahoma" pitchFamily="34" charset="0"/>
              </a:rPr>
              <a:t>10	Package Purchase 	1.69%</a:t>
            </a:r>
          </a:p>
          <a:p>
            <a:pPr>
              <a:buFontTx/>
              <a:buNone/>
            </a:pPr>
            <a:r>
              <a:rPr lang="en-US" sz="1400" dirty="0">
                <a:latin typeface="Tahoma" pitchFamily="34" charset="0"/>
                <a:cs typeface="Tahoma" pitchFamily="34" charset="0"/>
              </a:rPr>
              <a:t>11	Code Inspection 	4.50%</a:t>
            </a:r>
          </a:p>
          <a:p>
            <a:pPr>
              <a:buFontTx/>
              <a:buNone/>
            </a:pPr>
            <a:r>
              <a:rPr lang="en-US" sz="1400" dirty="0">
                <a:latin typeface="Tahoma" pitchFamily="34" charset="0"/>
                <a:cs typeface="Tahoma" pitchFamily="34" charset="0"/>
              </a:rPr>
              <a:t>12	Independent V&amp;V 	5.42%</a:t>
            </a:r>
          </a:p>
          <a:p>
            <a:pPr>
              <a:buFontTx/>
              <a:buNone/>
            </a:pPr>
            <a:r>
              <a:rPr lang="en-US" sz="1400" dirty="0">
                <a:latin typeface="Tahoma" pitchFamily="34" charset="0"/>
                <a:cs typeface="Tahoma" pitchFamily="34" charset="0"/>
              </a:rPr>
              <a:t>	</a:t>
            </a:r>
          </a:p>
          <a:p>
            <a:endParaRPr lang="en-US" sz="1400" dirty="0">
              <a:latin typeface="Tahoma" pitchFamily="34" charset="0"/>
              <a:cs typeface="Tahoma" pitchFamily="34" charset="0"/>
            </a:endParaRPr>
          </a:p>
        </p:txBody>
      </p:sp>
      <p:sp>
        <p:nvSpPr>
          <p:cNvPr id="4" name="Content Placeholder 2"/>
          <p:cNvSpPr txBox="1">
            <a:spLocks/>
          </p:cNvSpPr>
          <p:nvPr/>
        </p:nvSpPr>
        <p:spPr>
          <a:xfrm>
            <a:off x="4953000" y="1447800"/>
            <a:ext cx="3733800" cy="4572000"/>
          </a:xfrm>
          <a:prstGeom prst="rect">
            <a:avLst/>
          </a:prstGeom>
        </p:spPr>
        <p:txBody>
          <a:bodyPr vert="horz">
            <a:noAutofit/>
          </a:bodyPr>
          <a:lstStyle/>
          <a:p>
            <a:pPr marL="342900" indent="-342900">
              <a:spcBef>
                <a:spcPts val="600"/>
              </a:spcBef>
            </a:pPr>
            <a:endParaRPr lang="en-US" sz="1400" dirty="0">
              <a:latin typeface="Tahoma" pitchFamily="34" charset="0"/>
            </a:endParaRPr>
          </a:p>
          <a:p>
            <a:pPr marL="342900" indent="-342900">
              <a:spcBef>
                <a:spcPts val="600"/>
              </a:spcBef>
            </a:pPr>
            <a:r>
              <a:rPr lang="en-US" sz="1400" dirty="0">
                <a:latin typeface="Tahoma" pitchFamily="34" charset="0"/>
              </a:rPr>
              <a:t>13	 Configuration Mgt.	     0.41%</a:t>
            </a:r>
          </a:p>
          <a:p>
            <a:pPr marL="342900" indent="-342900">
              <a:spcBef>
                <a:spcPts val="600"/>
              </a:spcBef>
            </a:pPr>
            <a:r>
              <a:rPr lang="en-US" sz="1400" dirty="0">
                <a:latin typeface="Tahoma" pitchFamily="34" charset="0"/>
              </a:rPr>
              <a:t>14	 Integration		     2.71%</a:t>
            </a:r>
          </a:p>
          <a:p>
            <a:pPr marL="342900" indent="-342900">
              <a:spcBef>
                <a:spcPts val="600"/>
              </a:spcBef>
            </a:pPr>
            <a:r>
              <a:rPr lang="en-US" sz="1400" dirty="0">
                <a:latin typeface="Tahoma" pitchFamily="34" charset="0"/>
              </a:rPr>
              <a:t>15	 User Documentation	     9.67%</a:t>
            </a:r>
          </a:p>
          <a:p>
            <a:pPr marL="342900" indent="-342900">
              <a:spcBef>
                <a:spcPts val="600"/>
              </a:spcBef>
            </a:pPr>
            <a:r>
              <a:rPr lang="en-US" sz="1400" dirty="0">
                <a:latin typeface="Tahoma" pitchFamily="34" charset="0"/>
              </a:rPr>
              <a:t>16	 Unit Testing		     4.50%</a:t>
            </a:r>
          </a:p>
          <a:p>
            <a:pPr marL="342900" indent="-342900">
              <a:spcBef>
                <a:spcPts val="600"/>
              </a:spcBef>
            </a:pPr>
            <a:r>
              <a:rPr lang="en-US" sz="1400" dirty="0">
                <a:latin typeface="Tahoma" pitchFamily="34" charset="0"/>
              </a:rPr>
              <a:t>17	 Function Testing	       	     4.50%</a:t>
            </a:r>
          </a:p>
          <a:p>
            <a:pPr marL="342900" indent="-342900">
              <a:spcBef>
                <a:spcPts val="600"/>
              </a:spcBef>
            </a:pPr>
            <a:r>
              <a:rPr lang="en-US" sz="1400" dirty="0">
                <a:latin typeface="Tahoma" pitchFamily="34" charset="0"/>
              </a:rPr>
              <a:t>18	 Integration Testing	     3.84%</a:t>
            </a:r>
          </a:p>
          <a:p>
            <a:pPr marL="342900" indent="-342900">
              <a:spcBef>
                <a:spcPts val="600"/>
              </a:spcBef>
            </a:pPr>
            <a:r>
              <a:rPr lang="en-US" sz="1400" dirty="0">
                <a:latin typeface="Tahoma" pitchFamily="34" charset="0"/>
              </a:rPr>
              <a:t>19	 System Testing	         	     3.38%</a:t>
            </a:r>
          </a:p>
          <a:p>
            <a:pPr marL="342900" indent="-342900">
              <a:spcBef>
                <a:spcPts val="600"/>
              </a:spcBef>
            </a:pPr>
            <a:r>
              <a:rPr lang="en-US" sz="1400" dirty="0">
                <a:latin typeface="Tahoma" pitchFamily="34" charset="0"/>
              </a:rPr>
              <a:t>20	 Beta Testing	       	     3.02%</a:t>
            </a:r>
          </a:p>
          <a:p>
            <a:pPr marL="342900" indent="-342900">
              <a:spcBef>
                <a:spcPts val="600"/>
              </a:spcBef>
            </a:pPr>
            <a:r>
              <a:rPr lang="en-US" sz="1400" dirty="0">
                <a:latin typeface="Tahoma" pitchFamily="34" charset="0"/>
              </a:rPr>
              <a:t>21  Acceptance Testing	                     1.94%</a:t>
            </a:r>
          </a:p>
          <a:p>
            <a:pPr marL="342900" indent="-342900">
              <a:spcBef>
                <a:spcPts val="600"/>
              </a:spcBef>
            </a:pPr>
            <a:r>
              <a:rPr lang="en-US" sz="1400" dirty="0">
                <a:latin typeface="Tahoma" pitchFamily="34" charset="0"/>
              </a:rPr>
              <a:t>22	 Independent Testing	     3.38%</a:t>
            </a:r>
          </a:p>
          <a:p>
            <a:pPr marL="342900" indent="-342900">
              <a:spcBef>
                <a:spcPts val="600"/>
              </a:spcBef>
            </a:pPr>
            <a:r>
              <a:rPr lang="en-US" sz="1400" dirty="0">
                <a:latin typeface="Tahoma" pitchFamily="34" charset="0"/>
              </a:rPr>
              <a:t>23	 Quality Assurance	                     4.50%</a:t>
            </a:r>
          </a:p>
          <a:p>
            <a:pPr marL="342900" indent="-342900">
              <a:spcBef>
                <a:spcPts val="600"/>
              </a:spcBef>
            </a:pPr>
            <a:r>
              <a:rPr lang="en-US" sz="1400" dirty="0">
                <a:latin typeface="Tahoma" pitchFamily="34" charset="0"/>
              </a:rPr>
              <a:t>24	 Installation and Training             1.94%</a:t>
            </a:r>
          </a:p>
          <a:p>
            <a:pPr marL="342900" indent="-342900">
              <a:spcBef>
                <a:spcPts val="600"/>
              </a:spcBef>
            </a:pPr>
            <a:r>
              <a:rPr lang="en-US" sz="1400" dirty="0">
                <a:latin typeface="Tahoma" pitchFamily="34" charset="0"/>
              </a:rPr>
              <a:t>25	 Project Management                  6.75%</a:t>
            </a:r>
            <a:endParaRPr lang="en-US" sz="2000" dirty="0">
              <a:latin typeface="Tahoma" pitchFamily="34" charset="0"/>
            </a:endParaRPr>
          </a:p>
        </p:txBody>
      </p:sp>
    </p:spTree>
    <p:extLst>
      <p:ext uri="{BB962C8B-B14F-4D97-AF65-F5344CB8AC3E}">
        <p14:creationId xmlns:p14="http://schemas.microsoft.com/office/powerpoint/2010/main" val="3773951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Software Engineering Framework</a:t>
            </a:r>
          </a:p>
        </p:txBody>
      </p:sp>
      <p:sp>
        <p:nvSpPr>
          <p:cNvPr id="3" name="Content Placeholder 2"/>
          <p:cNvSpPr>
            <a:spLocks noGrp="1"/>
          </p:cNvSpPr>
          <p:nvPr>
            <p:ph idx="1"/>
          </p:nvPr>
        </p:nvSpPr>
        <p:spPr/>
        <p:txBody>
          <a:bodyPr>
            <a:normAutofit/>
          </a:bodyPr>
          <a:lstStyle/>
          <a:p>
            <a:pPr>
              <a:buFont typeface="Symbol" pitchFamily="18" charset="2"/>
              <a:buChar char="·"/>
            </a:pPr>
            <a:r>
              <a:rPr lang="en-US" dirty="0"/>
              <a:t>Any Engineering approach must be founded on organizational commitment to quality. </a:t>
            </a:r>
          </a:p>
          <a:p>
            <a:pPr>
              <a:buFont typeface="Symbol" pitchFamily="18" charset="2"/>
              <a:buChar char="·"/>
            </a:pPr>
            <a:r>
              <a:rPr lang="en-US" dirty="0"/>
              <a:t>The quality focus demands that processes be defined for rational and timely development of software. The processes a framework for a set of key process areas (</a:t>
            </a:r>
            <a:r>
              <a:rPr lang="en-US" dirty="0" err="1"/>
              <a:t>KPAs</a:t>
            </a:r>
            <a:r>
              <a:rPr lang="en-US" dirty="0"/>
              <a:t>) for effectively manage and deliver quality software in a cost effective manner.</a:t>
            </a:r>
          </a:p>
          <a:p>
            <a:pPr>
              <a:buFont typeface="Symbol" pitchFamily="18" charset="2"/>
              <a:buChar char="·"/>
            </a:pPr>
            <a:r>
              <a:rPr lang="en-US" dirty="0"/>
              <a:t>The processes define the tasks to be performed and the order in which they are to be performed along with the milestones and deliverables at these milestones.</a:t>
            </a:r>
          </a:p>
          <a:p>
            <a:pPr>
              <a:buFont typeface="Symbol" pitchFamily="18" charset="2"/>
              <a:buChar char="·"/>
            </a:pPr>
            <a:r>
              <a:rPr lang="en-US" dirty="0"/>
              <a:t>Methods provide the technical “how-to’s” to carry-out these tasks. </a:t>
            </a:r>
          </a:p>
          <a:p>
            <a:endParaRPr lang="en-US" dirty="0"/>
          </a:p>
        </p:txBody>
      </p:sp>
    </p:spTree>
    <p:extLst>
      <p:ext uri="{BB962C8B-B14F-4D97-AF65-F5344CB8AC3E}">
        <p14:creationId xmlns:p14="http://schemas.microsoft.com/office/powerpoint/2010/main" val="2344833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Software Engineering Framework</a:t>
            </a:r>
          </a:p>
        </p:txBody>
      </p:sp>
      <p:sp>
        <p:nvSpPr>
          <p:cNvPr id="3" name="Content Placeholder 2"/>
          <p:cNvSpPr>
            <a:spLocks noGrp="1"/>
          </p:cNvSpPr>
          <p:nvPr>
            <p:ph idx="1"/>
          </p:nvPr>
        </p:nvSpPr>
        <p:spPr/>
        <p:txBody>
          <a:bodyPr>
            <a:normAutofit/>
          </a:bodyPr>
          <a:lstStyle/>
          <a:p>
            <a:pPr>
              <a:buFont typeface="Symbol" pitchFamily="18" charset="2"/>
              <a:buChar char="·"/>
            </a:pPr>
            <a:endParaRPr lang="en-US" sz="2400" dirty="0"/>
          </a:p>
          <a:p>
            <a:pPr>
              <a:buFont typeface="Symbol" pitchFamily="18" charset="2"/>
              <a:buChar char="·"/>
            </a:pPr>
            <a:r>
              <a:rPr lang="en-US" sz="2400" dirty="0"/>
              <a:t>The quality control defines the </a:t>
            </a:r>
            <a:r>
              <a:rPr lang="en-US" sz="2400" dirty="0" err="1"/>
              <a:t>SQA</a:t>
            </a:r>
            <a:r>
              <a:rPr lang="en-US" sz="2400" dirty="0"/>
              <a:t> points within those tasks and the quality parameters.</a:t>
            </a:r>
          </a:p>
          <a:p>
            <a:pPr>
              <a:buFont typeface="Symbol" pitchFamily="18" charset="2"/>
              <a:buChar char="·"/>
            </a:pPr>
            <a:r>
              <a:rPr lang="en-US" sz="2400" dirty="0"/>
              <a:t>Tools provide automated or semi-automated support for software processes, methods, and quality control.</a:t>
            </a:r>
          </a:p>
          <a:p>
            <a:pPr>
              <a:buFont typeface="Symbol" pitchFamily="18" charset="2"/>
              <a:buChar char="·"/>
            </a:pPr>
            <a:r>
              <a:rPr lang="en-US" sz="2400" dirty="0"/>
              <a:t>The difference between a tool and a method:</a:t>
            </a:r>
          </a:p>
          <a:p>
            <a:pPr lvl="1">
              <a:buFont typeface="Symbol" pitchFamily="18" charset="2"/>
              <a:buChar char="·"/>
            </a:pPr>
            <a:r>
              <a:rPr lang="en-US" dirty="0"/>
              <a:t>Standard deviation is a method to estimate and measure dispersion of data </a:t>
            </a:r>
          </a:p>
          <a:p>
            <a:pPr lvl="1">
              <a:buFont typeface="Symbol" pitchFamily="18" charset="2"/>
              <a:buChar char="·"/>
            </a:pPr>
            <a:r>
              <a:rPr lang="en-US" dirty="0"/>
              <a:t>Excel is a tool that can be used to calculate standard deviation</a:t>
            </a:r>
          </a:p>
          <a:p>
            <a:endParaRPr lang="en-US" dirty="0"/>
          </a:p>
        </p:txBody>
      </p:sp>
    </p:spTree>
    <p:extLst>
      <p:ext uri="{BB962C8B-B14F-4D97-AF65-F5344CB8AC3E}">
        <p14:creationId xmlns:p14="http://schemas.microsoft.com/office/powerpoint/2010/main" val="574511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Software Engineering Framework</a:t>
            </a:r>
          </a:p>
        </p:txBody>
      </p:sp>
      <p:sp>
        <p:nvSpPr>
          <p:cNvPr id="4" name="Rectangle 2"/>
          <p:cNvSpPr>
            <a:spLocks noChangeArrowheads="1"/>
          </p:cNvSpPr>
          <p:nvPr/>
        </p:nvSpPr>
        <p:spPr bwMode="auto">
          <a:xfrm>
            <a:off x="3048000" y="4191000"/>
            <a:ext cx="4800600" cy="762000"/>
          </a:xfrm>
          <a:prstGeom prst="rect">
            <a:avLst/>
          </a:prstGeom>
          <a:solidFill>
            <a:schemeClr val="accent1"/>
          </a:solidFill>
          <a:ln w="9525">
            <a:solidFill>
              <a:schemeClr val="tx1"/>
            </a:solidFill>
            <a:miter lim="800000"/>
            <a:headEnd/>
            <a:tailEnd/>
          </a:ln>
          <a:effectLst/>
        </p:spPr>
        <p:txBody>
          <a:bodyPr wrap="none" anchor="ctr"/>
          <a:lstStyle/>
          <a:p>
            <a:pPr algn="ctr"/>
            <a:r>
              <a:rPr lang="en-US" b="1">
                <a:solidFill>
                  <a:srgbClr val="990000"/>
                </a:solidFill>
                <a:latin typeface="Tahoma" pitchFamily="34" charset="0"/>
              </a:rPr>
              <a:t>Quality Focus</a:t>
            </a:r>
          </a:p>
        </p:txBody>
      </p:sp>
      <p:sp>
        <p:nvSpPr>
          <p:cNvPr id="5" name="Rectangle 3"/>
          <p:cNvSpPr>
            <a:spLocks noChangeArrowheads="1"/>
          </p:cNvSpPr>
          <p:nvPr/>
        </p:nvSpPr>
        <p:spPr bwMode="auto">
          <a:xfrm>
            <a:off x="3048000" y="3429000"/>
            <a:ext cx="4800600" cy="762000"/>
          </a:xfrm>
          <a:prstGeom prst="rect">
            <a:avLst/>
          </a:prstGeom>
          <a:solidFill>
            <a:schemeClr val="accent2"/>
          </a:solidFill>
          <a:ln w="9525">
            <a:solidFill>
              <a:schemeClr val="tx1"/>
            </a:solidFill>
            <a:miter lim="800000"/>
            <a:headEnd/>
            <a:tailEnd/>
          </a:ln>
          <a:effectLst/>
        </p:spPr>
        <p:txBody>
          <a:bodyPr wrap="none" anchor="ctr"/>
          <a:lstStyle/>
          <a:p>
            <a:pPr algn="ctr"/>
            <a:r>
              <a:rPr lang="en-US" b="1">
                <a:solidFill>
                  <a:schemeClr val="bg1"/>
                </a:solidFill>
                <a:latin typeface="Tahoma" pitchFamily="34" charset="0"/>
              </a:rPr>
              <a:t>Process</a:t>
            </a:r>
          </a:p>
        </p:txBody>
      </p:sp>
      <p:sp>
        <p:nvSpPr>
          <p:cNvPr id="6" name="Rectangle 4"/>
          <p:cNvSpPr>
            <a:spLocks noChangeArrowheads="1"/>
          </p:cNvSpPr>
          <p:nvPr/>
        </p:nvSpPr>
        <p:spPr bwMode="auto">
          <a:xfrm>
            <a:off x="7848600" y="2667000"/>
            <a:ext cx="685800" cy="2286000"/>
          </a:xfrm>
          <a:prstGeom prst="rect">
            <a:avLst/>
          </a:prstGeom>
          <a:solidFill>
            <a:srgbClr val="FFFF00"/>
          </a:solidFill>
          <a:ln w="9525">
            <a:solidFill>
              <a:schemeClr val="tx1"/>
            </a:solidFill>
            <a:miter lim="800000"/>
            <a:headEnd/>
            <a:tailEnd/>
          </a:ln>
          <a:effectLst/>
        </p:spPr>
        <p:txBody>
          <a:bodyPr wrap="none" anchor="ctr"/>
          <a:lstStyle/>
          <a:p>
            <a:pPr algn="ctr"/>
            <a:r>
              <a:rPr lang="en-US" b="1">
                <a:solidFill>
                  <a:schemeClr val="accent2"/>
                </a:solidFill>
                <a:latin typeface="Tahoma" pitchFamily="34" charset="0"/>
              </a:rPr>
              <a:t>T</a:t>
            </a:r>
          </a:p>
          <a:p>
            <a:pPr algn="ctr"/>
            <a:r>
              <a:rPr lang="en-US" b="1">
                <a:solidFill>
                  <a:schemeClr val="accent2"/>
                </a:solidFill>
                <a:latin typeface="Tahoma" pitchFamily="34" charset="0"/>
              </a:rPr>
              <a:t>O</a:t>
            </a:r>
          </a:p>
          <a:p>
            <a:pPr algn="ctr"/>
            <a:r>
              <a:rPr lang="en-US" b="1">
                <a:solidFill>
                  <a:schemeClr val="accent2"/>
                </a:solidFill>
                <a:latin typeface="Tahoma" pitchFamily="34" charset="0"/>
              </a:rPr>
              <a:t>O</a:t>
            </a:r>
          </a:p>
          <a:p>
            <a:pPr algn="ctr"/>
            <a:r>
              <a:rPr lang="en-US" b="1">
                <a:solidFill>
                  <a:schemeClr val="accent2"/>
                </a:solidFill>
                <a:latin typeface="Tahoma" pitchFamily="34" charset="0"/>
              </a:rPr>
              <a:t>L</a:t>
            </a:r>
          </a:p>
          <a:p>
            <a:pPr algn="ctr"/>
            <a:r>
              <a:rPr lang="en-US" b="1">
                <a:solidFill>
                  <a:schemeClr val="accent2"/>
                </a:solidFill>
                <a:latin typeface="Tahoma" pitchFamily="34" charset="0"/>
              </a:rPr>
              <a:t>S</a:t>
            </a:r>
          </a:p>
        </p:txBody>
      </p:sp>
      <p:grpSp>
        <p:nvGrpSpPr>
          <p:cNvPr id="3" name="Group 8"/>
          <p:cNvGrpSpPr>
            <a:grpSpLocks/>
          </p:cNvGrpSpPr>
          <p:nvPr/>
        </p:nvGrpSpPr>
        <p:grpSpPr bwMode="auto">
          <a:xfrm>
            <a:off x="1524000" y="2667000"/>
            <a:ext cx="6324600" cy="838200"/>
            <a:chOff x="960" y="1680"/>
            <a:chExt cx="3984" cy="528"/>
          </a:xfrm>
        </p:grpSpPr>
        <p:sp>
          <p:nvSpPr>
            <p:cNvPr id="11" name="Rectangle 9"/>
            <p:cNvSpPr>
              <a:spLocks noChangeArrowheads="1"/>
            </p:cNvSpPr>
            <p:nvPr/>
          </p:nvSpPr>
          <p:spPr bwMode="auto">
            <a:xfrm>
              <a:off x="1920" y="1680"/>
              <a:ext cx="3024" cy="480"/>
            </a:xfrm>
            <a:prstGeom prst="rect">
              <a:avLst/>
            </a:prstGeom>
            <a:solidFill>
              <a:srgbClr val="FF9900"/>
            </a:solidFill>
            <a:ln w="9525">
              <a:solidFill>
                <a:schemeClr val="tx1"/>
              </a:solidFill>
              <a:miter lim="800000"/>
              <a:headEnd/>
              <a:tailEnd/>
            </a:ln>
            <a:effectLst/>
          </p:spPr>
          <p:txBody>
            <a:bodyPr wrap="none" anchor="ctr"/>
            <a:lstStyle/>
            <a:p>
              <a:pPr algn="ctr"/>
              <a:r>
                <a:rPr lang="en-US" b="1">
                  <a:solidFill>
                    <a:schemeClr val="tx2"/>
                  </a:solidFill>
                  <a:latin typeface="Tahoma" pitchFamily="34" charset="0"/>
                </a:rPr>
                <a:t>Method</a:t>
              </a:r>
            </a:p>
          </p:txBody>
        </p:sp>
        <p:grpSp>
          <p:nvGrpSpPr>
            <p:cNvPr id="7" name="Group 10"/>
            <p:cNvGrpSpPr>
              <a:grpSpLocks/>
            </p:cNvGrpSpPr>
            <p:nvPr/>
          </p:nvGrpSpPr>
          <p:grpSpPr bwMode="auto">
            <a:xfrm>
              <a:off x="960" y="1872"/>
              <a:ext cx="960" cy="336"/>
              <a:chOff x="1008" y="1872"/>
              <a:chExt cx="960" cy="336"/>
            </a:xfrm>
          </p:grpSpPr>
          <p:sp>
            <p:nvSpPr>
              <p:cNvPr id="13" name="Line 11"/>
              <p:cNvSpPr>
                <a:spLocks noChangeShapeType="1"/>
              </p:cNvSpPr>
              <p:nvPr/>
            </p:nvSpPr>
            <p:spPr bwMode="auto">
              <a:xfrm flipV="1">
                <a:off x="1008" y="1872"/>
                <a:ext cx="0" cy="336"/>
              </a:xfrm>
              <a:prstGeom prst="line">
                <a:avLst/>
              </a:prstGeom>
              <a:noFill/>
              <a:ln w="38100">
                <a:solidFill>
                  <a:schemeClr val="tx1"/>
                </a:solidFill>
                <a:round/>
                <a:headEnd type="triangle" w="med" len="med"/>
                <a:tailEnd/>
              </a:ln>
              <a:effectLst/>
            </p:spPr>
            <p:txBody>
              <a:bodyPr/>
              <a:lstStyle/>
              <a:p>
                <a:endParaRPr lang="en-US"/>
              </a:p>
            </p:txBody>
          </p:sp>
          <p:sp>
            <p:nvSpPr>
              <p:cNvPr id="14" name="Line 12"/>
              <p:cNvSpPr>
                <a:spLocks noChangeShapeType="1"/>
              </p:cNvSpPr>
              <p:nvPr/>
            </p:nvSpPr>
            <p:spPr bwMode="auto">
              <a:xfrm>
                <a:off x="1008" y="1872"/>
                <a:ext cx="960" cy="0"/>
              </a:xfrm>
              <a:prstGeom prst="line">
                <a:avLst/>
              </a:prstGeom>
              <a:noFill/>
              <a:ln w="38100">
                <a:solidFill>
                  <a:schemeClr val="tx1"/>
                </a:solidFill>
                <a:round/>
                <a:headEnd/>
                <a:tailEnd/>
              </a:ln>
              <a:effectLst/>
            </p:spPr>
            <p:txBody>
              <a:bodyPr/>
              <a:lstStyle/>
              <a:p>
                <a:endParaRPr lang="en-US"/>
              </a:p>
            </p:txBody>
          </p:sp>
        </p:grpSp>
      </p:grpSp>
      <p:grpSp>
        <p:nvGrpSpPr>
          <p:cNvPr id="10" name="Group 13"/>
          <p:cNvGrpSpPr>
            <a:grpSpLocks/>
          </p:cNvGrpSpPr>
          <p:nvPr/>
        </p:nvGrpSpPr>
        <p:grpSpPr bwMode="auto">
          <a:xfrm>
            <a:off x="1524000" y="4038600"/>
            <a:ext cx="1524000" cy="533400"/>
            <a:chOff x="1008" y="2544"/>
            <a:chExt cx="960" cy="336"/>
          </a:xfrm>
        </p:grpSpPr>
        <p:sp>
          <p:nvSpPr>
            <p:cNvPr id="16" name="Line 14"/>
            <p:cNvSpPr>
              <a:spLocks noChangeShapeType="1"/>
            </p:cNvSpPr>
            <p:nvPr/>
          </p:nvSpPr>
          <p:spPr bwMode="auto">
            <a:xfrm flipH="1">
              <a:off x="1008" y="2880"/>
              <a:ext cx="960" cy="0"/>
            </a:xfrm>
            <a:prstGeom prst="line">
              <a:avLst/>
            </a:prstGeom>
            <a:noFill/>
            <a:ln w="38100">
              <a:solidFill>
                <a:schemeClr val="tx1"/>
              </a:solidFill>
              <a:round/>
              <a:headEnd/>
              <a:tailEnd/>
            </a:ln>
            <a:effectLst/>
          </p:spPr>
          <p:txBody>
            <a:bodyPr/>
            <a:lstStyle/>
            <a:p>
              <a:endParaRPr lang="en-US"/>
            </a:p>
          </p:txBody>
        </p:sp>
        <p:sp>
          <p:nvSpPr>
            <p:cNvPr id="17" name="Line 15"/>
            <p:cNvSpPr>
              <a:spLocks noChangeShapeType="1"/>
            </p:cNvSpPr>
            <p:nvPr/>
          </p:nvSpPr>
          <p:spPr bwMode="auto">
            <a:xfrm flipV="1">
              <a:off x="1008" y="2544"/>
              <a:ext cx="0" cy="336"/>
            </a:xfrm>
            <a:prstGeom prst="line">
              <a:avLst/>
            </a:prstGeom>
            <a:noFill/>
            <a:ln w="38100">
              <a:solidFill>
                <a:schemeClr val="tx1"/>
              </a:solidFill>
              <a:round/>
              <a:headEnd/>
              <a:tailEnd type="triangle" w="med" len="med"/>
            </a:ln>
            <a:effectLst/>
          </p:spPr>
          <p:txBody>
            <a:bodyPr/>
            <a:lstStyle/>
            <a:p>
              <a:endParaRPr lang="en-US"/>
            </a:p>
          </p:txBody>
        </p:sp>
      </p:grpSp>
      <p:grpSp>
        <p:nvGrpSpPr>
          <p:cNvPr id="12" name="Group 5"/>
          <p:cNvGrpSpPr>
            <a:grpSpLocks/>
          </p:cNvGrpSpPr>
          <p:nvPr/>
        </p:nvGrpSpPr>
        <p:grpSpPr bwMode="auto">
          <a:xfrm>
            <a:off x="685800" y="3505200"/>
            <a:ext cx="2362200" cy="533400"/>
            <a:chOff x="432" y="2208"/>
            <a:chExt cx="1488" cy="336"/>
          </a:xfrm>
        </p:grpSpPr>
        <p:sp>
          <p:nvSpPr>
            <p:cNvPr id="8" name="Rectangle 6"/>
            <p:cNvSpPr>
              <a:spLocks noChangeArrowheads="1"/>
            </p:cNvSpPr>
            <p:nvPr/>
          </p:nvSpPr>
          <p:spPr bwMode="auto">
            <a:xfrm>
              <a:off x="432" y="2208"/>
              <a:ext cx="1056" cy="336"/>
            </a:xfrm>
            <a:prstGeom prst="rect">
              <a:avLst/>
            </a:prstGeom>
            <a:solidFill>
              <a:schemeClr val="accent1"/>
            </a:solidFill>
            <a:ln w="6350" cmpd="sng">
              <a:solidFill>
                <a:schemeClr val="tx1"/>
              </a:solidFill>
              <a:miter lim="800000"/>
              <a:headEnd/>
              <a:tailEnd/>
            </a:ln>
            <a:effectLst/>
          </p:spPr>
          <p:txBody>
            <a:bodyPr wrap="none" anchor="ctr"/>
            <a:lstStyle/>
            <a:p>
              <a:pPr algn="ctr"/>
              <a:r>
                <a:rPr lang="en-US" b="1">
                  <a:latin typeface="Tahoma" pitchFamily="34" charset="0"/>
                </a:rPr>
                <a:t>Task Set</a:t>
              </a:r>
            </a:p>
          </p:txBody>
        </p:sp>
        <p:sp>
          <p:nvSpPr>
            <p:cNvPr id="9" name="Line 7"/>
            <p:cNvSpPr>
              <a:spLocks noChangeShapeType="1"/>
            </p:cNvSpPr>
            <p:nvPr/>
          </p:nvSpPr>
          <p:spPr bwMode="auto">
            <a:xfrm flipH="1">
              <a:off x="1488" y="2400"/>
              <a:ext cx="432" cy="0"/>
            </a:xfrm>
            <a:prstGeom prst="line">
              <a:avLst/>
            </a:prstGeom>
            <a:noFill/>
            <a:ln w="6350" cmpd="sng">
              <a:solidFill>
                <a:schemeClr val="tx1"/>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1861902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31536"/>
          </a:xfrm>
        </p:spPr>
        <p:txBody>
          <a:bodyPr>
            <a:normAutofit/>
          </a:bodyPr>
          <a:lstStyle/>
          <a:p>
            <a:pPr algn="ctr">
              <a:buNone/>
            </a:pPr>
            <a:endParaRPr lang="en-US" sz="8800" b="1" dirty="0"/>
          </a:p>
          <a:p>
            <a:pPr algn="ctr">
              <a:buNone/>
            </a:pPr>
            <a:r>
              <a:rPr lang="en-US" sz="9600" b="1" dirty="0"/>
              <a:t>Thanks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445</TotalTime>
  <Words>881</Words>
  <Application>Microsoft Office PowerPoint</Application>
  <PresentationFormat>On-screen Show (4:3)</PresentationFormat>
  <Paragraphs>116</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Calibri Light</vt:lpstr>
      <vt:lpstr>Symbol</vt:lpstr>
      <vt:lpstr>Tahoma</vt:lpstr>
      <vt:lpstr>Times New Roman</vt:lpstr>
      <vt:lpstr>Wingdings 2</vt:lpstr>
      <vt:lpstr>Wingdings 3</vt:lpstr>
      <vt:lpstr>Retrospect</vt:lpstr>
      <vt:lpstr>Software Engineering for CS</vt:lpstr>
      <vt:lpstr>`</vt:lpstr>
      <vt:lpstr>???</vt:lpstr>
      <vt:lpstr>Software </vt:lpstr>
      <vt:lpstr>Software Engineering (1)</vt:lpstr>
      <vt:lpstr>Software Engineering (2)</vt:lpstr>
      <vt:lpstr>The Discipline of Software Engineering </vt:lpstr>
      <vt:lpstr>Software Engineer</vt:lpstr>
      <vt:lpstr>Law of Diminishing Returns</vt:lpstr>
      <vt:lpstr>The Balancing Act!</vt:lpstr>
      <vt:lpstr>Well-Engineered Software</vt:lpstr>
      <vt:lpstr>Breakdown of Effort Cost - Software Cost Estimation [Capers Jones ]</vt:lpstr>
      <vt:lpstr>A Software Engineering Framework</vt:lpstr>
      <vt:lpstr>A Software Engineering Framework</vt:lpstr>
      <vt:lpstr>A Software Engineering Framework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&amp; Architecture</dc:title>
  <dc:creator>natash</dc:creator>
  <cp:lastModifiedBy>user</cp:lastModifiedBy>
  <cp:revision>174</cp:revision>
  <dcterms:created xsi:type="dcterms:W3CDTF">2006-08-16T00:00:00Z</dcterms:created>
  <dcterms:modified xsi:type="dcterms:W3CDTF">2025-11-12T04:46:27Z</dcterms:modified>
</cp:coreProperties>
</file>