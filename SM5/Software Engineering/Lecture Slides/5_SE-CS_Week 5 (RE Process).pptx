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sldIdLst>
    <p:sldId id="316" r:id="rId3"/>
    <p:sldId id="317" r:id="rId4"/>
    <p:sldId id="318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31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184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43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706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10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3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4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63705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>
                <a:solidFill>
                  <a:srgbClr val="637052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30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51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4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37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D7A2F4-68AB-4C94-961A-97A9545E05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51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455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05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649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55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793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272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550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63705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>
                <a:solidFill>
                  <a:srgbClr val="637052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2157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12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353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10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D7A2F4-68AB-4C94-961A-97A9545E05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0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89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57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218240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Software Engineering for 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4648200"/>
            <a:ext cx="64008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Instructor : dr. </a:t>
            </a:r>
            <a:r>
              <a:rPr lang="en-US" dirty="0" err="1"/>
              <a:t>Natash</a:t>
            </a:r>
            <a:r>
              <a:rPr lang="en-US" dirty="0"/>
              <a:t> Ali </a:t>
            </a:r>
            <a:r>
              <a:rPr lang="en-US" dirty="0" err="1"/>
              <a:t>Mian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895600" y="5638800"/>
            <a:ext cx="64008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/>
              </a:rPr>
              <a:t>School of Computer and Information Technology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3200" dirty="0" err="1">
                <a:solidFill>
                  <a:srgbClr val="000000"/>
                </a:solidFill>
                <a:latin typeface="Calibri" panose="020F0502020204030204"/>
              </a:rPr>
              <a:t>Beaconhouse</a:t>
            </a:r>
            <a:r>
              <a:rPr lang="en-US" sz="3200" dirty="0">
                <a:solidFill>
                  <a:srgbClr val="000000"/>
                </a:solidFill>
                <a:latin typeface="Calibri" panose="020F0502020204030204"/>
              </a:rPr>
              <a:t> National University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572000" y="3276600"/>
            <a:ext cx="3581400" cy="990600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R="64008" algn="ctr">
              <a:spcBef>
                <a:spcPts val="400"/>
              </a:spcBef>
              <a:buClr>
                <a:srgbClr val="E48312"/>
              </a:buClr>
              <a:buSzPct val="68000"/>
              <a:defRPr/>
            </a:pPr>
            <a:r>
              <a:rPr lang="en-US" sz="320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Week 5</a:t>
            </a:r>
            <a:endParaRPr lang="en-US" sz="3200" dirty="0">
              <a:solidFill>
                <a:srgbClr val="000000">
                  <a:lumMod val="95000"/>
                  <a:lumOff val="5000"/>
                </a:srgb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55900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3AA5B-4E0D-46DD-B32E-5451C917D695}" type="slidenum">
              <a:rPr lang="en-US">
                <a:latin typeface="Calibri" panose="020F0502020204030204"/>
              </a:rPr>
              <a:pPr>
                <a:defRPr/>
              </a:pPr>
              <a:t>2</a:t>
            </a:fld>
            <a:endParaRPr lang="en-US">
              <a:latin typeface="Calibri" panose="020F0502020204030204"/>
            </a:endParaRPr>
          </a:p>
        </p:txBody>
      </p:sp>
      <p:sp>
        <p:nvSpPr>
          <p:cNvPr id="8196" name="Rectangle 8"/>
          <p:cNvSpPr>
            <a:spLocks noChangeArrowheads="1"/>
          </p:cNvSpPr>
          <p:nvPr/>
        </p:nvSpPr>
        <p:spPr bwMode="auto">
          <a:xfrm>
            <a:off x="2438400" y="1765280"/>
            <a:ext cx="75438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AU" sz="5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Switch off mobile phones during lectures, </a:t>
            </a:r>
          </a:p>
          <a:p>
            <a:pPr algn="ctr">
              <a:defRPr/>
            </a:pPr>
            <a:r>
              <a:rPr lang="en-AU" sz="5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 </a:t>
            </a:r>
          </a:p>
          <a:p>
            <a:pPr algn="ctr">
              <a:defRPr/>
            </a:pPr>
            <a:r>
              <a:rPr lang="en-AU" sz="5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put them into silent mode</a:t>
            </a:r>
            <a:endParaRPr lang="en-US" sz="5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690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Assignment Deadline: 2-Nov-2023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Questions for Interview</a:t>
            </a:r>
          </a:p>
          <a:p>
            <a:r>
              <a:rPr lang="en-US" dirty="0"/>
              <a:t>At least 10 questions for each role</a:t>
            </a:r>
          </a:p>
          <a:p>
            <a:r>
              <a:rPr lang="en-US" dirty="0"/>
              <a:t>Questions must be drafted carefully by keeping the objective and outcome in mind</a:t>
            </a:r>
          </a:p>
          <a:p>
            <a:endParaRPr lang="en-US" dirty="0"/>
          </a:p>
          <a:p>
            <a:r>
              <a:rPr lang="en-US" dirty="0"/>
              <a:t>Explore similar projects </a:t>
            </a:r>
          </a:p>
          <a:p>
            <a:r>
              <a:rPr lang="en-US" dirty="0"/>
              <a:t>Meet the client </a:t>
            </a:r>
          </a:p>
          <a:p>
            <a:r>
              <a:rPr lang="en-US" dirty="0"/>
              <a:t>For products, meet the potential users</a:t>
            </a:r>
          </a:p>
          <a:p>
            <a:endParaRPr lang="en-US" dirty="0"/>
          </a:p>
          <a:p>
            <a:r>
              <a:rPr lang="en-US" b="1" dirty="0"/>
              <a:t>Submission includes</a:t>
            </a:r>
          </a:p>
          <a:p>
            <a:r>
              <a:rPr lang="en-US" dirty="0"/>
              <a:t>Set of questions for each type of user</a:t>
            </a:r>
          </a:p>
          <a:p>
            <a:r>
              <a:rPr lang="en-US" dirty="0"/>
              <a:t>Initial Requirements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7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/>
              <a:t>Requirements Engineering Process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1A704-4722-43D6-8B96-25D48134D65D}" type="slidenum">
              <a:rPr lang="en-US">
                <a:latin typeface="Calibri" panose="020F0502020204030204"/>
              </a:rPr>
              <a:pPr/>
              <a:t>4</a:t>
            </a:fld>
            <a:endParaRPr lang="en-US">
              <a:latin typeface="Calibri" panose="020F0502020204030204"/>
            </a:endParaRP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2239962" y="1600200"/>
            <a:ext cx="7742238" cy="3962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Sylfaen" pitchFamily="18" charset="0"/>
              </a:rPr>
              <a:t>The process(</a:t>
            </a:r>
            <a:r>
              <a:rPr lang="en-US" sz="3600" dirty="0" err="1">
                <a:solidFill>
                  <a:srgbClr val="000000"/>
                </a:solidFill>
                <a:latin typeface="Sylfaen" pitchFamily="18" charset="0"/>
              </a:rPr>
              <a:t>es</a:t>
            </a:r>
            <a:r>
              <a:rPr lang="en-US" sz="3600" dirty="0">
                <a:solidFill>
                  <a:srgbClr val="000000"/>
                </a:solidFill>
                <a:latin typeface="Sylfaen" pitchFamily="18" charset="0"/>
              </a:rPr>
              <a:t>) involved in </a:t>
            </a:r>
          </a:p>
          <a:p>
            <a:r>
              <a:rPr lang="en-US" sz="3600" dirty="0">
                <a:solidFill>
                  <a:srgbClr val="000000"/>
                </a:solidFill>
                <a:latin typeface="Sylfaen" pitchFamily="18" charset="0"/>
              </a:rPr>
              <a:t>developing  system requirements is </a:t>
            </a:r>
          </a:p>
          <a:p>
            <a:r>
              <a:rPr lang="en-US" sz="3600" dirty="0">
                <a:solidFill>
                  <a:srgbClr val="000000"/>
                </a:solidFill>
                <a:latin typeface="Sylfaen" pitchFamily="18" charset="0"/>
              </a:rPr>
              <a:t>collectively known as </a:t>
            </a:r>
          </a:p>
          <a:p>
            <a:r>
              <a:rPr lang="en-US" sz="3600" dirty="0">
                <a:solidFill>
                  <a:srgbClr val="000000"/>
                </a:solidFill>
                <a:latin typeface="Sylfaen" pitchFamily="18" charset="0"/>
              </a:rPr>
              <a:t>Requirements Engineering Process</a:t>
            </a:r>
          </a:p>
        </p:txBody>
      </p:sp>
    </p:spTree>
    <p:extLst>
      <p:ext uri="{BB962C8B-B14F-4D97-AF65-F5344CB8AC3E}">
        <p14:creationId xmlns:p14="http://schemas.microsoft.com/office/powerpoint/2010/main" val="1283551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RE Process - Inputs and Outputs</a:t>
            </a:r>
          </a:p>
        </p:txBody>
      </p:sp>
      <p:sp>
        <p:nvSpPr>
          <p:cNvPr id="31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9421A-DD7F-4EFC-A3FA-E7622A20C475}" type="slidenum">
              <a:rPr lang="en-US">
                <a:solidFill>
                  <a:schemeClr val="tx1"/>
                </a:solidFill>
                <a:latin typeface="Calibri" panose="020F0502020204030204"/>
              </a:rPr>
              <a:pPr/>
              <a:t>5</a:t>
            </a:fld>
            <a:endParaRPr lang="en-US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59395" name="AutoShape 3"/>
          <p:cNvSpPr>
            <a:spLocks noChangeArrowheads="1"/>
          </p:cNvSpPr>
          <p:nvPr/>
        </p:nvSpPr>
        <p:spPr bwMode="auto">
          <a:xfrm>
            <a:off x="4648200" y="2514600"/>
            <a:ext cx="2819400" cy="27432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400">
              <a:latin typeface="Calibri" panose="020F0502020204030204"/>
            </a:endParaRP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2057400" y="18288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2057400" y="26670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2057400" y="35052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2057400" y="43434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0" name="Rectangle 8"/>
          <p:cNvSpPr>
            <a:spLocks noChangeArrowheads="1"/>
          </p:cNvSpPr>
          <p:nvPr/>
        </p:nvSpPr>
        <p:spPr bwMode="auto">
          <a:xfrm>
            <a:off x="2057400" y="51816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1" name="Rectangle 9"/>
          <p:cNvSpPr>
            <a:spLocks noChangeArrowheads="1"/>
          </p:cNvSpPr>
          <p:nvPr/>
        </p:nvSpPr>
        <p:spPr bwMode="auto">
          <a:xfrm>
            <a:off x="8534400" y="26670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2" name="Rectangle 10"/>
          <p:cNvSpPr>
            <a:spLocks noChangeArrowheads="1"/>
          </p:cNvSpPr>
          <p:nvPr/>
        </p:nvSpPr>
        <p:spPr bwMode="auto">
          <a:xfrm>
            <a:off x="8534400" y="35052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3" name="Rectangle 11"/>
          <p:cNvSpPr>
            <a:spLocks noChangeArrowheads="1"/>
          </p:cNvSpPr>
          <p:nvPr/>
        </p:nvSpPr>
        <p:spPr bwMode="auto">
          <a:xfrm>
            <a:off x="8534400" y="4343400"/>
            <a:ext cx="1524000" cy="685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4" name="Line 12"/>
          <p:cNvSpPr>
            <a:spLocks noChangeShapeType="1"/>
          </p:cNvSpPr>
          <p:nvPr/>
        </p:nvSpPr>
        <p:spPr bwMode="auto">
          <a:xfrm>
            <a:off x="3581400" y="38100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5" name="Line 13"/>
          <p:cNvSpPr>
            <a:spLocks noChangeShapeType="1"/>
          </p:cNvSpPr>
          <p:nvPr/>
        </p:nvSpPr>
        <p:spPr bwMode="auto">
          <a:xfrm>
            <a:off x="3581400" y="47244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6" name="Line 14"/>
          <p:cNvSpPr>
            <a:spLocks noChangeShapeType="1"/>
          </p:cNvSpPr>
          <p:nvPr/>
        </p:nvSpPr>
        <p:spPr bwMode="auto">
          <a:xfrm>
            <a:off x="3581400" y="30480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7" name="Line 15"/>
          <p:cNvSpPr>
            <a:spLocks noChangeShapeType="1"/>
          </p:cNvSpPr>
          <p:nvPr/>
        </p:nvSpPr>
        <p:spPr bwMode="auto">
          <a:xfrm>
            <a:off x="7467600" y="38100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8" name="Line 16"/>
          <p:cNvSpPr>
            <a:spLocks noChangeShapeType="1"/>
          </p:cNvSpPr>
          <p:nvPr/>
        </p:nvSpPr>
        <p:spPr bwMode="auto">
          <a:xfrm>
            <a:off x="7467600" y="47244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09" name="Line 17"/>
          <p:cNvSpPr>
            <a:spLocks noChangeShapeType="1"/>
          </p:cNvSpPr>
          <p:nvPr/>
        </p:nvSpPr>
        <p:spPr bwMode="auto">
          <a:xfrm>
            <a:off x="7467600" y="3048000"/>
            <a:ext cx="1066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10" name="Line 18"/>
          <p:cNvSpPr>
            <a:spLocks noChangeShapeType="1"/>
          </p:cNvSpPr>
          <p:nvPr/>
        </p:nvSpPr>
        <p:spPr bwMode="auto">
          <a:xfrm>
            <a:off x="3581400" y="2133600"/>
            <a:ext cx="17526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11" name="Line 19"/>
          <p:cNvSpPr>
            <a:spLocks noChangeShapeType="1"/>
          </p:cNvSpPr>
          <p:nvPr/>
        </p:nvSpPr>
        <p:spPr bwMode="auto">
          <a:xfrm>
            <a:off x="3581400" y="5562600"/>
            <a:ext cx="17526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12" name="Line 20"/>
          <p:cNvSpPr>
            <a:spLocks noChangeShapeType="1"/>
          </p:cNvSpPr>
          <p:nvPr/>
        </p:nvSpPr>
        <p:spPr bwMode="auto">
          <a:xfrm>
            <a:off x="5334000" y="2133600"/>
            <a:ext cx="0" cy="3810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13" name="Line 21"/>
          <p:cNvSpPr>
            <a:spLocks noChangeShapeType="1"/>
          </p:cNvSpPr>
          <p:nvPr/>
        </p:nvSpPr>
        <p:spPr bwMode="auto">
          <a:xfrm flipV="1">
            <a:off x="5334000" y="5257800"/>
            <a:ext cx="0" cy="3048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alibri" panose="020F0502020204030204"/>
            </a:endParaRPr>
          </a:p>
        </p:txBody>
      </p:sp>
      <p:sp>
        <p:nvSpPr>
          <p:cNvPr id="59414" name="Text Box 22"/>
          <p:cNvSpPr txBox="1">
            <a:spLocks noChangeArrowheads="1"/>
          </p:cNvSpPr>
          <p:nvPr/>
        </p:nvSpPr>
        <p:spPr bwMode="auto">
          <a:xfrm>
            <a:off x="4691063" y="3394076"/>
            <a:ext cx="2682016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Calibri" panose="020F0502020204030204"/>
              </a:rPr>
              <a:t>Requirements</a:t>
            </a:r>
          </a:p>
          <a:p>
            <a:r>
              <a:rPr lang="en-US" sz="2400">
                <a:latin typeface="Calibri" panose="020F0502020204030204"/>
              </a:rPr>
              <a:t>Engineering Process</a:t>
            </a:r>
          </a:p>
        </p:txBody>
      </p:sp>
      <p:sp>
        <p:nvSpPr>
          <p:cNvPr id="59415" name="Text Box 23"/>
          <p:cNvSpPr txBox="1">
            <a:spLocks noChangeArrowheads="1"/>
          </p:cNvSpPr>
          <p:nvPr/>
        </p:nvSpPr>
        <p:spPr bwMode="auto">
          <a:xfrm>
            <a:off x="2190750" y="1765301"/>
            <a:ext cx="1167884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latin typeface="Calibri" panose="020F0502020204030204"/>
              </a:rPr>
              <a:t>Existing</a:t>
            </a:r>
          </a:p>
          <a:p>
            <a:r>
              <a:rPr lang="en-US" sz="1600" dirty="0">
                <a:latin typeface="Calibri" panose="020F0502020204030204"/>
              </a:rPr>
              <a:t>systems</a:t>
            </a:r>
          </a:p>
          <a:p>
            <a:r>
              <a:rPr lang="en-US" sz="1600" dirty="0">
                <a:latin typeface="Calibri" panose="020F0502020204030204"/>
              </a:rPr>
              <a:t>information</a:t>
            </a:r>
          </a:p>
        </p:txBody>
      </p:sp>
      <p:sp>
        <p:nvSpPr>
          <p:cNvPr id="59416" name="Text Box 24"/>
          <p:cNvSpPr txBox="1">
            <a:spLocks noChangeArrowheads="1"/>
          </p:cNvSpPr>
          <p:nvPr/>
        </p:nvSpPr>
        <p:spPr bwMode="auto">
          <a:xfrm>
            <a:off x="2209800" y="2743201"/>
            <a:ext cx="1177438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alibri" panose="020F0502020204030204"/>
              </a:rPr>
              <a:t>Stakeholder</a:t>
            </a:r>
          </a:p>
          <a:p>
            <a:r>
              <a:rPr lang="en-US" sz="1600">
                <a:latin typeface="Calibri" panose="020F0502020204030204"/>
              </a:rPr>
              <a:t>needs</a:t>
            </a:r>
          </a:p>
        </p:txBody>
      </p:sp>
      <p:sp>
        <p:nvSpPr>
          <p:cNvPr id="59417" name="Text Box 25"/>
          <p:cNvSpPr txBox="1">
            <a:spLocks noChangeArrowheads="1"/>
          </p:cNvSpPr>
          <p:nvPr/>
        </p:nvSpPr>
        <p:spPr bwMode="auto">
          <a:xfrm>
            <a:off x="2133601" y="3581401"/>
            <a:ext cx="1395413" cy="581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alibri" panose="020F0502020204030204"/>
              </a:rPr>
              <a:t>Organizational</a:t>
            </a:r>
          </a:p>
          <a:p>
            <a:r>
              <a:rPr lang="en-US" sz="1600">
                <a:latin typeface="Calibri" panose="020F0502020204030204"/>
              </a:rPr>
              <a:t>standards</a:t>
            </a:r>
          </a:p>
        </p:txBody>
      </p:sp>
      <p:sp>
        <p:nvSpPr>
          <p:cNvPr id="59418" name="Text Box 26"/>
          <p:cNvSpPr txBox="1">
            <a:spLocks noChangeArrowheads="1"/>
          </p:cNvSpPr>
          <p:nvPr/>
        </p:nvSpPr>
        <p:spPr bwMode="auto">
          <a:xfrm>
            <a:off x="2271714" y="4540250"/>
            <a:ext cx="1157287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600">
                <a:latin typeface="Calibri" panose="020F0502020204030204"/>
              </a:rPr>
              <a:t>Regulations</a:t>
            </a:r>
          </a:p>
        </p:txBody>
      </p:sp>
      <p:sp>
        <p:nvSpPr>
          <p:cNvPr id="59419" name="Text Box 27"/>
          <p:cNvSpPr txBox="1">
            <a:spLocks noChangeArrowheads="1"/>
          </p:cNvSpPr>
          <p:nvPr/>
        </p:nvSpPr>
        <p:spPr bwMode="auto">
          <a:xfrm>
            <a:off x="2257425" y="5210176"/>
            <a:ext cx="1167884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alibri" panose="020F0502020204030204"/>
              </a:rPr>
              <a:t>Domain</a:t>
            </a:r>
          </a:p>
          <a:p>
            <a:r>
              <a:rPr lang="en-US" sz="1600">
                <a:latin typeface="Calibri" panose="020F0502020204030204"/>
              </a:rPr>
              <a:t>information</a:t>
            </a:r>
          </a:p>
        </p:txBody>
      </p:sp>
      <p:sp>
        <p:nvSpPr>
          <p:cNvPr id="59420" name="Text Box 28"/>
          <p:cNvSpPr txBox="1">
            <a:spLocks noChangeArrowheads="1"/>
          </p:cNvSpPr>
          <p:nvPr/>
        </p:nvSpPr>
        <p:spPr bwMode="auto">
          <a:xfrm>
            <a:off x="8696325" y="3581401"/>
            <a:ext cx="1227138" cy="581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alibri" panose="020F0502020204030204"/>
              </a:rPr>
              <a:t>System</a:t>
            </a:r>
          </a:p>
          <a:p>
            <a:r>
              <a:rPr lang="en-US" sz="1600">
                <a:latin typeface="Calibri" panose="020F0502020204030204"/>
              </a:rPr>
              <a:t>specification</a:t>
            </a:r>
          </a:p>
        </p:txBody>
      </p:sp>
      <p:sp>
        <p:nvSpPr>
          <p:cNvPr id="59421" name="Text Box 29"/>
          <p:cNvSpPr txBox="1">
            <a:spLocks noChangeArrowheads="1"/>
          </p:cNvSpPr>
          <p:nvPr/>
        </p:nvSpPr>
        <p:spPr bwMode="auto">
          <a:xfrm>
            <a:off x="8677275" y="2743201"/>
            <a:ext cx="131068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alibri" panose="020F0502020204030204"/>
              </a:rPr>
              <a:t>Agreed</a:t>
            </a:r>
          </a:p>
          <a:p>
            <a:r>
              <a:rPr lang="en-US" sz="1600">
                <a:latin typeface="Calibri" panose="020F0502020204030204"/>
              </a:rPr>
              <a:t>requirements</a:t>
            </a:r>
          </a:p>
        </p:txBody>
      </p:sp>
      <p:sp>
        <p:nvSpPr>
          <p:cNvPr id="59422" name="Text Box 30"/>
          <p:cNvSpPr txBox="1">
            <a:spLocks noChangeArrowheads="1"/>
          </p:cNvSpPr>
          <p:nvPr/>
        </p:nvSpPr>
        <p:spPr bwMode="auto">
          <a:xfrm>
            <a:off x="8907464" y="4371976"/>
            <a:ext cx="793807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alibri" panose="020F0502020204030204"/>
              </a:rPr>
              <a:t>System</a:t>
            </a:r>
          </a:p>
          <a:p>
            <a:r>
              <a:rPr lang="en-US" sz="1600">
                <a:latin typeface="Calibri" panose="020F0502020204030204"/>
              </a:rPr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1801910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Inputs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It includes:</a:t>
            </a:r>
          </a:p>
          <a:p>
            <a:r>
              <a:rPr lang="en-US"/>
              <a:t>Existing system information</a:t>
            </a:r>
          </a:p>
          <a:p>
            <a:pPr lvl="1"/>
            <a:r>
              <a:rPr lang="en-US"/>
              <a:t>Information about the functionality of systems to be replaced</a:t>
            </a:r>
          </a:p>
          <a:p>
            <a:pPr lvl="1"/>
            <a:r>
              <a:rPr lang="en-US"/>
              <a:t>Information about other systems, which interact with the system being specified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ACEEA-AFD0-432C-ADAE-205EF7832AA7}" type="slidenum">
              <a:rPr lang="en-US">
                <a:latin typeface="Calibri" panose="020F0502020204030204"/>
              </a:rPr>
              <a:pPr/>
              <a:t>6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38895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Inputs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Stakeholder needs</a:t>
            </a:r>
          </a:p>
          <a:p>
            <a:pPr lvl="1"/>
            <a:r>
              <a:rPr lang="en-US"/>
              <a:t>Description of what system stakeholders need from the system to support their work</a:t>
            </a:r>
          </a:p>
          <a:p>
            <a:r>
              <a:rPr lang="en-US"/>
              <a:t>Organizational standards</a:t>
            </a:r>
          </a:p>
          <a:p>
            <a:pPr lvl="1"/>
            <a:r>
              <a:rPr lang="en-US"/>
              <a:t>Standards used in an organization regarding system development practice, quality management,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9F51-5DFC-4EBB-8893-D1AC7B9D92E6}" type="slidenum">
              <a:rPr lang="en-US">
                <a:latin typeface="Calibri" panose="020F0502020204030204"/>
              </a:rPr>
              <a:pPr/>
              <a:t>7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13799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Inputs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Regulations</a:t>
            </a:r>
          </a:p>
          <a:p>
            <a:pPr lvl="1"/>
            <a:r>
              <a:rPr lang="en-US"/>
              <a:t>External regulations such as health and safety regulations, which apply to the system</a:t>
            </a:r>
          </a:p>
          <a:p>
            <a:r>
              <a:rPr lang="en-US"/>
              <a:t>Domain information</a:t>
            </a:r>
          </a:p>
          <a:p>
            <a:pPr lvl="1"/>
            <a:r>
              <a:rPr lang="en-US"/>
              <a:t>General information about the application domain of the system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EF824-2DB7-4CF2-A269-DBD5589BA001}" type="slidenum">
              <a:rPr lang="en-US">
                <a:latin typeface="Calibri" panose="020F0502020204030204"/>
              </a:rPr>
              <a:pPr/>
              <a:t>8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88503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Outputs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It includes</a:t>
            </a:r>
          </a:p>
          <a:p>
            <a:r>
              <a:rPr lang="en-US"/>
              <a:t>Agreed requirements</a:t>
            </a:r>
          </a:p>
          <a:p>
            <a:pPr lvl="1"/>
            <a:r>
              <a:rPr lang="en-US"/>
              <a:t>A description of the system requirements, which is understandable by stakeholders and which has been agreed by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4235-BB63-48B0-BC6B-26BE0C9C31EC}" type="slidenum">
              <a:rPr lang="en-US">
                <a:latin typeface="Calibri" panose="020F0502020204030204"/>
              </a:rPr>
              <a:pPr/>
              <a:t>9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68594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Outputs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specification</a:t>
            </a:r>
          </a:p>
          <a:p>
            <a:pPr lvl="1"/>
            <a:r>
              <a:rPr lang="en-US"/>
              <a:t>This is a more detailed specification of the system, which may be produced in some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18FB-E3DC-4EC9-8D5A-8D71CD0ED66B}" type="slidenum">
              <a:rPr lang="en-US">
                <a:latin typeface="Calibri" panose="020F0502020204030204"/>
              </a:rPr>
              <a:pPr/>
              <a:t>10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9187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Outputs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models</a:t>
            </a:r>
          </a:p>
          <a:p>
            <a:pPr lvl="1"/>
            <a:r>
              <a:rPr lang="en-US"/>
              <a:t>A set of models such as a data-flow model, an object model, a process model, etc., which describes the system from different perspectives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E499-5F2B-4362-98AA-9F4FA0591572}" type="slidenum">
              <a:rPr lang="en-US">
                <a:latin typeface="Calibri" panose="020F0502020204030204"/>
              </a:rPr>
              <a:pPr/>
              <a:t>11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54638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RE Process Variability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200" dirty="0"/>
              <a:t>RE processes  varies from one organization to another, and even within an organization in different projects</a:t>
            </a:r>
          </a:p>
          <a:p>
            <a:pPr>
              <a:buFontTx/>
              <a:buNone/>
            </a:pPr>
            <a:endParaRPr lang="en-US" sz="1600" dirty="0"/>
          </a:p>
          <a:p>
            <a:r>
              <a:rPr lang="en-US" sz="3200" dirty="0"/>
              <a:t>Unstructured process rely heavily on the experience of the people, while systematic processes are based on application of some analysis methodology , but they still require human judgment</a:t>
            </a:r>
          </a:p>
          <a:p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49D9-936F-4E73-9966-33AB54D91A37}" type="slidenum">
              <a:rPr lang="en-US">
                <a:latin typeface="Calibri" panose="020F0502020204030204"/>
              </a:rPr>
              <a:pPr/>
              <a:t>12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9377181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Variability Factors - 1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idx="1"/>
          </p:nvPr>
        </p:nvSpPr>
        <p:spPr>
          <a:xfrm>
            <a:off x="3124200" y="2743200"/>
            <a:ext cx="7772400" cy="2971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3200" dirty="0"/>
              <a:t>    </a:t>
            </a:r>
            <a:endParaRPr lang="en-US" sz="1600" dirty="0"/>
          </a:p>
          <a:p>
            <a:r>
              <a:rPr lang="en-US" sz="3200" dirty="0"/>
              <a:t>Technical maturity</a:t>
            </a:r>
          </a:p>
          <a:p>
            <a:r>
              <a:rPr lang="en-US" sz="3200" dirty="0"/>
              <a:t>Disciplinary involvement</a:t>
            </a:r>
          </a:p>
          <a:p>
            <a:r>
              <a:rPr lang="en-US" sz="3200" dirty="0"/>
              <a:t>Organizational culture</a:t>
            </a:r>
          </a:p>
          <a:p>
            <a:r>
              <a:rPr lang="en-US" sz="3200" dirty="0"/>
              <a:t>Application domain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A5203-2719-4950-BEED-4ADB178040F4}" type="slidenum">
              <a:rPr lang="en-US">
                <a:latin typeface="Calibri" panose="020F0502020204030204"/>
              </a:rPr>
              <a:pPr/>
              <a:t>13</a:t>
            </a:fld>
            <a:endParaRPr lang="en-US">
              <a:latin typeface="Calibri" panose="020F0502020204030204"/>
            </a:endParaRPr>
          </a:p>
        </p:txBody>
      </p:sp>
      <p:sp>
        <p:nvSpPr>
          <p:cNvPr id="183301" name="Text Box 5"/>
          <p:cNvSpPr txBox="1">
            <a:spLocks noChangeArrowheads="1"/>
          </p:cNvSpPr>
          <p:nvPr/>
        </p:nvSpPr>
        <p:spPr bwMode="auto">
          <a:xfrm>
            <a:off x="2209800" y="1874838"/>
            <a:ext cx="7924800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There are four factors which count towards the variability of the Requirements Engineering Process</a:t>
            </a:r>
          </a:p>
        </p:txBody>
      </p:sp>
    </p:spTree>
    <p:extLst>
      <p:ext uri="{BB962C8B-B14F-4D97-AF65-F5344CB8AC3E}">
        <p14:creationId xmlns:p14="http://schemas.microsoft.com/office/powerpoint/2010/main" val="1398731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Variability Factors - 2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676400"/>
            <a:ext cx="8001000" cy="4419600"/>
          </a:xfrm>
        </p:spPr>
        <p:txBody>
          <a:bodyPr/>
          <a:lstStyle/>
          <a:p>
            <a:r>
              <a:rPr lang="en-US"/>
              <a:t>Technical maturity</a:t>
            </a:r>
          </a:p>
          <a:p>
            <a:pPr lvl="1"/>
            <a:r>
              <a:rPr lang="en-US"/>
              <a:t>The technologies and methods used for requirements engineering vary from one organization to other</a:t>
            </a:r>
          </a:p>
          <a:p>
            <a:r>
              <a:rPr lang="en-US"/>
              <a:t>Disciplinary involvement</a:t>
            </a:r>
          </a:p>
          <a:p>
            <a:pPr lvl="1"/>
            <a:r>
              <a:rPr lang="en-US"/>
              <a:t>The types of engineering and managerial disciplines involved in requirements vary from one organization to another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14522-1C0A-4ECC-9C21-9CD50758A009}" type="slidenum">
              <a:rPr lang="en-US">
                <a:latin typeface="Calibri" panose="020F0502020204030204"/>
              </a:rPr>
              <a:pPr/>
              <a:t>14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40865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Variability Factors - 3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Organizational culture</a:t>
            </a:r>
          </a:p>
          <a:p>
            <a:pPr lvl="1"/>
            <a:r>
              <a:rPr lang="en-US"/>
              <a:t>The culture of an organization has important effect on all business and technical processes</a:t>
            </a:r>
          </a:p>
          <a:p>
            <a:r>
              <a:rPr lang="en-US"/>
              <a:t>Application domain</a:t>
            </a:r>
          </a:p>
          <a:p>
            <a:pPr lvl="1"/>
            <a:r>
              <a:rPr lang="en-US"/>
              <a:t>Different types of application system need different types of requirements engineering process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B2A18-B380-426C-BE71-8B8A558CFF0E}" type="slidenum">
              <a:rPr lang="en-US">
                <a:latin typeface="Calibri" panose="020F0502020204030204"/>
              </a:rPr>
              <a:pPr/>
              <a:t>15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42722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- 1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3200400"/>
            <a:ext cx="7772400" cy="3505200"/>
          </a:xfrm>
        </p:spPr>
        <p:txBody>
          <a:bodyPr/>
          <a:lstStyle/>
          <a:p>
            <a:pPr marL="342900" indent="-342900"/>
            <a:r>
              <a:rPr lang="en-US" sz="3200" dirty="0"/>
              <a:t>Begins</a:t>
            </a:r>
          </a:p>
          <a:p>
            <a:pPr marL="742950" lvl="1" indent="-285750"/>
            <a:r>
              <a:rPr lang="en-US" sz="2800" dirty="0"/>
              <a:t>There is recognition that a problem exists and requires a solution</a:t>
            </a:r>
          </a:p>
          <a:p>
            <a:pPr marL="742950" lvl="1" indent="-285750"/>
            <a:r>
              <a:rPr lang="en-US" sz="2800" dirty="0"/>
              <a:t>A new software idea arises</a:t>
            </a:r>
          </a:p>
          <a:p>
            <a:pPr marL="342900" indent="-342900"/>
            <a:r>
              <a:rPr lang="en-US" sz="3200" dirty="0"/>
              <a:t>Ends</a:t>
            </a:r>
          </a:p>
          <a:p>
            <a:pPr marL="742950" lvl="1" indent="-285750"/>
            <a:r>
              <a:rPr lang="en-US" sz="2800" dirty="0"/>
              <a:t>With a </a:t>
            </a:r>
            <a:r>
              <a:rPr lang="en-US" sz="2800" i="1" dirty="0"/>
              <a:t>complete</a:t>
            </a:r>
            <a:r>
              <a:rPr lang="en-US" sz="2800" dirty="0"/>
              <a:t> description of the external behavior of the software to be built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0947E-9ACF-4E2F-B277-E14115F36F61}" type="slidenum">
              <a:rPr lang="en-US">
                <a:latin typeface="Calibri" panose="020F0502020204030204"/>
              </a:rPr>
              <a:pPr/>
              <a:t>16</a:t>
            </a:fld>
            <a:endParaRPr lang="en-US">
              <a:latin typeface="Calibri" panose="020F0502020204030204"/>
            </a:endParaRPr>
          </a:p>
        </p:txBody>
      </p:sp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1752600" y="1524000"/>
            <a:ext cx="8382000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Requirement Engineering Process has a formal starting and ending point in the overall software development life cycle.</a:t>
            </a:r>
          </a:p>
        </p:txBody>
      </p:sp>
    </p:spTree>
    <p:extLst>
      <p:ext uri="{BB962C8B-B14F-4D97-AF65-F5344CB8AC3E}">
        <p14:creationId xmlns:p14="http://schemas.microsoft.com/office/powerpoint/2010/main" val="3442541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- 2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continuous process in which the related activities are repeated until requirements are of acceptable quality</a:t>
            </a:r>
          </a:p>
          <a:p>
            <a:endParaRPr lang="en-US" dirty="0"/>
          </a:p>
          <a:p>
            <a:r>
              <a:rPr lang="en-US" dirty="0"/>
              <a:t>It is one of the most critical processes of system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27806-C27A-4073-B9C2-E33B3F5E6295}" type="slidenum">
              <a:rPr lang="en-US">
                <a:latin typeface="Calibri" panose="020F0502020204030204"/>
              </a:rPr>
              <a:pPr/>
              <a:t>17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31203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- 3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200"/>
              <a:t>Based on the need of individual software projects and organizational needs, requirements engineering processes are tailored</a:t>
            </a:r>
          </a:p>
          <a:p>
            <a:endParaRPr lang="en-US" sz="1800"/>
          </a:p>
          <a:p>
            <a:r>
              <a:rPr lang="en-US" sz="3200"/>
              <a:t>An important point to remember is that </a:t>
            </a:r>
          </a:p>
          <a:p>
            <a:pPr algn="ctr">
              <a:buFontTx/>
              <a:buNone/>
            </a:pPr>
            <a:r>
              <a:rPr lang="en-US" sz="3200"/>
              <a:t>“There is no ideal requirements engineering process!”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F8086-DD58-476C-98A0-80DE852A239C}" type="slidenum">
              <a:rPr lang="en-US">
                <a:latin typeface="Calibri" panose="020F0502020204030204"/>
              </a:rPr>
              <a:pPr/>
              <a:t>18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1013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Main Tasks of RE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3276600"/>
            <a:ext cx="7772400" cy="335280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dirty="0"/>
              <a:t>Problem analysis</a:t>
            </a:r>
          </a:p>
          <a:p>
            <a:pPr marL="742950" lvl="1" indent="-285750"/>
            <a:r>
              <a:rPr lang="en-US" sz="2800" dirty="0"/>
              <a:t>Analysis of a software problem</a:t>
            </a:r>
          </a:p>
          <a:p>
            <a:pPr marL="342900" indent="-342900"/>
            <a:r>
              <a:rPr lang="en-US" sz="3200" dirty="0"/>
              <a:t>Product description</a:t>
            </a:r>
          </a:p>
          <a:p>
            <a:pPr marL="742950" lvl="1" indent="-285750"/>
            <a:r>
              <a:rPr lang="en-US" sz="2800" dirty="0"/>
              <a:t>Complete specification of the desired external behavior of the software system to be built.  Also known as functional description, functional requirements, or specifications</a:t>
            </a:r>
          </a:p>
          <a:p>
            <a:pPr marL="742950" lvl="1" indent="-285750"/>
            <a:endParaRPr lang="en-US" sz="2800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41E4-28F8-4D18-9B9C-A48F3FCC181C}" type="slidenum">
              <a:rPr lang="en-US">
                <a:latin typeface="Calibri" panose="020F0502020204030204"/>
              </a:rPr>
              <a:pPr/>
              <a:t>19</a:t>
            </a:fld>
            <a:endParaRPr lang="en-US">
              <a:latin typeface="Calibri" panose="020F0502020204030204"/>
            </a:endParaRPr>
          </a:p>
        </p:txBody>
      </p:sp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2286000" y="1600200"/>
            <a:ext cx="7924800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There are two main tasks which needs to be performed in the requirements engineering process.</a:t>
            </a:r>
          </a:p>
        </p:txBody>
      </p:sp>
    </p:spTree>
    <p:extLst>
      <p:ext uri="{BB962C8B-B14F-4D97-AF65-F5344CB8AC3E}">
        <p14:creationId xmlns:p14="http://schemas.microsoft.com/office/powerpoint/2010/main" val="1989519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Analysis - 1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3505200"/>
            <a:ext cx="7772400" cy="3200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Brainstorming, interviewing, eliciting requirements</a:t>
            </a:r>
          </a:p>
          <a:p>
            <a:pPr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</a:pPr>
            <a:r>
              <a:rPr lang="en-US"/>
              <a:t>Identifying all possible constraints</a:t>
            </a:r>
          </a:p>
          <a:p>
            <a:pPr>
              <a:lnSpc>
                <a:spcPct val="90000"/>
              </a:lnSpc>
            </a:pPr>
            <a:endParaRPr lang="en-US" sz="1800"/>
          </a:p>
          <a:p>
            <a:pPr>
              <a:lnSpc>
                <a:spcPct val="90000"/>
              </a:lnSpc>
            </a:pPr>
            <a:r>
              <a:rPr lang="en-US"/>
              <a:t>Expansion of information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BAE8-1DC2-430C-9D82-EDCB2C4722B3}" type="slidenum">
              <a:rPr lang="en-US">
                <a:latin typeface="Calibri" panose="020F0502020204030204"/>
              </a:rPr>
              <a:pPr/>
              <a:t>20</a:t>
            </a:fld>
            <a:endParaRPr lang="en-US">
              <a:latin typeface="Calibri" panose="020F0502020204030204"/>
            </a:endParaRPr>
          </a:p>
        </p:txBody>
      </p:sp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2209800" y="1874838"/>
            <a:ext cx="7924800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Problem analysis is the first and foremost task of requirements engineering process. It includes:</a:t>
            </a:r>
          </a:p>
        </p:txBody>
      </p:sp>
    </p:spTree>
    <p:extLst>
      <p:ext uri="{BB962C8B-B14F-4D97-AF65-F5344CB8AC3E}">
        <p14:creationId xmlns:p14="http://schemas.microsoft.com/office/powerpoint/2010/main" val="708978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Analysis - 2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Trading off constraints and organizing information</a:t>
            </a:r>
          </a:p>
          <a:p>
            <a:endParaRPr lang="en-US" sz="1800" dirty="0"/>
          </a:p>
          <a:p>
            <a:r>
              <a:rPr lang="en-US" dirty="0"/>
              <a:t>Complete understanding should be achieved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0BD73-94B4-4E0D-9671-641689C750ED}" type="slidenum">
              <a:rPr lang="en-US">
                <a:latin typeface="Calibri" panose="020F0502020204030204"/>
              </a:rPr>
              <a:pPr/>
              <a:t>21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0421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 Description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3657600"/>
            <a:ext cx="7772400" cy="28956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200"/>
              <a:t>Make decisions to define the external behavior of the software product</a:t>
            </a:r>
          </a:p>
          <a:p>
            <a:pPr>
              <a:lnSpc>
                <a:spcPct val="80000"/>
              </a:lnSpc>
            </a:pPr>
            <a:endParaRPr lang="en-US" sz="3200"/>
          </a:p>
          <a:p>
            <a:pPr>
              <a:lnSpc>
                <a:spcPct val="80000"/>
              </a:lnSpc>
            </a:pPr>
            <a:r>
              <a:rPr lang="en-US" sz="3200"/>
              <a:t>Organize ideas, resolve conflicting views, and eliminate inconsistencies and ambiguities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D96F-84EC-453F-9033-BC3B8A9CC569}" type="slidenum">
              <a:rPr lang="en-US">
                <a:latin typeface="Calibri" panose="020F0502020204030204"/>
              </a:rPr>
              <a:pPr/>
              <a:t>22</a:t>
            </a:fld>
            <a:endParaRPr lang="en-US">
              <a:latin typeface="Calibri" panose="020F0502020204030204"/>
            </a:endParaRPr>
          </a:p>
        </p:txBody>
      </p:sp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2209800" y="1874838"/>
            <a:ext cx="7924800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Product description is another task of requirements engineering process. In this task we:</a:t>
            </a:r>
          </a:p>
        </p:txBody>
      </p:sp>
    </p:spTree>
    <p:extLst>
      <p:ext uri="{BB962C8B-B14F-4D97-AF65-F5344CB8AC3E}">
        <p14:creationId xmlns:p14="http://schemas.microsoft.com/office/powerpoint/2010/main" val="594936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Really Happens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3505200"/>
            <a:ext cx="8458200" cy="25908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“Both problem analysis and product description run in parallel and iteratively throughout the requirements engineering process”</a:t>
            </a:r>
          </a:p>
          <a:p>
            <a:pPr>
              <a:buFontTx/>
              <a:buNone/>
            </a:pP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7EB78-320A-448B-AFE9-D92206BE3B2B}" type="slidenum">
              <a:rPr lang="en-US">
                <a:latin typeface="Calibri" panose="020F0502020204030204"/>
              </a:rPr>
              <a:pPr/>
              <a:t>23</a:t>
            </a:fld>
            <a:endParaRPr lang="en-US">
              <a:latin typeface="Calibri" panose="020F0502020204030204"/>
            </a:endParaRPr>
          </a:p>
        </p:txBody>
      </p:sp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2438400" y="2178050"/>
            <a:ext cx="7010400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It should be kept in mind that :</a:t>
            </a:r>
          </a:p>
        </p:txBody>
      </p:sp>
    </p:spTree>
    <p:extLst>
      <p:ext uri="{BB962C8B-B14F-4D97-AF65-F5344CB8AC3E}">
        <p14:creationId xmlns:p14="http://schemas.microsoft.com/office/powerpoint/2010/main" val="1557232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solidFill>
                  <a:schemeClr val="tx1"/>
                </a:solidFill>
              </a:rPr>
              <a:t>Requirements Engineering Activities</a:t>
            </a:r>
          </a:p>
        </p:txBody>
      </p:sp>
      <p:sp>
        <p:nvSpPr>
          <p:cNvPr id="29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AF950-01C0-490D-BF0B-9190E3F0BD1D}" type="slidenum">
              <a:rPr lang="en-US">
                <a:latin typeface="Calibri" panose="020F0502020204030204"/>
              </a:rPr>
              <a:pPr/>
              <a:t>24</a:t>
            </a:fld>
            <a:endParaRPr lang="en-US">
              <a:latin typeface="Calibri" panose="020F0502020204030204"/>
            </a:endParaRPr>
          </a:p>
        </p:txBody>
      </p:sp>
      <p:sp>
        <p:nvSpPr>
          <p:cNvPr id="121859" name="AutoShape 3"/>
          <p:cNvSpPr>
            <a:spLocks noChangeArrowheads="1"/>
          </p:cNvSpPr>
          <p:nvPr/>
        </p:nvSpPr>
        <p:spPr bwMode="auto">
          <a:xfrm>
            <a:off x="3048000" y="3429000"/>
            <a:ext cx="12954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0" name="AutoShape 4"/>
          <p:cNvSpPr>
            <a:spLocks noChangeArrowheads="1"/>
          </p:cNvSpPr>
          <p:nvPr/>
        </p:nvSpPr>
        <p:spPr bwMode="auto">
          <a:xfrm>
            <a:off x="4800600" y="3429000"/>
            <a:ext cx="12954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1" name="AutoShape 5"/>
          <p:cNvSpPr>
            <a:spLocks noChangeArrowheads="1"/>
          </p:cNvSpPr>
          <p:nvPr/>
        </p:nvSpPr>
        <p:spPr bwMode="auto">
          <a:xfrm>
            <a:off x="6553200" y="3429000"/>
            <a:ext cx="12954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2" name="AutoShape 6"/>
          <p:cNvSpPr>
            <a:spLocks noChangeArrowheads="1"/>
          </p:cNvSpPr>
          <p:nvPr/>
        </p:nvSpPr>
        <p:spPr bwMode="auto">
          <a:xfrm>
            <a:off x="8305800" y="3429000"/>
            <a:ext cx="12954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3" name="Line 7"/>
          <p:cNvSpPr>
            <a:spLocks noChangeShapeType="1"/>
          </p:cNvSpPr>
          <p:nvPr/>
        </p:nvSpPr>
        <p:spPr bwMode="auto">
          <a:xfrm>
            <a:off x="3657600" y="2590800"/>
            <a:ext cx="52578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4" name="Line 8"/>
          <p:cNvSpPr>
            <a:spLocks noChangeShapeType="1"/>
          </p:cNvSpPr>
          <p:nvPr/>
        </p:nvSpPr>
        <p:spPr bwMode="auto">
          <a:xfrm>
            <a:off x="3657600" y="2590800"/>
            <a:ext cx="0" cy="838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5" name="Line 9"/>
          <p:cNvSpPr>
            <a:spLocks noChangeShapeType="1"/>
          </p:cNvSpPr>
          <p:nvPr/>
        </p:nvSpPr>
        <p:spPr bwMode="auto">
          <a:xfrm>
            <a:off x="5410200" y="2590800"/>
            <a:ext cx="0" cy="838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6" name="Line 10"/>
          <p:cNvSpPr>
            <a:spLocks noChangeShapeType="1"/>
          </p:cNvSpPr>
          <p:nvPr/>
        </p:nvSpPr>
        <p:spPr bwMode="auto">
          <a:xfrm>
            <a:off x="7162800" y="2590800"/>
            <a:ext cx="0" cy="838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7" name="Line 11"/>
          <p:cNvSpPr>
            <a:spLocks noChangeShapeType="1"/>
          </p:cNvSpPr>
          <p:nvPr/>
        </p:nvSpPr>
        <p:spPr bwMode="auto">
          <a:xfrm>
            <a:off x="8915400" y="2590800"/>
            <a:ext cx="0" cy="838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68" name="Text Box 12"/>
          <p:cNvSpPr txBox="1">
            <a:spLocks noChangeArrowheads="1"/>
          </p:cNvSpPr>
          <p:nvPr/>
        </p:nvSpPr>
        <p:spPr bwMode="auto">
          <a:xfrm>
            <a:off x="3040064" y="3605214"/>
            <a:ext cx="13498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Requirements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Elicitation</a:t>
            </a:r>
          </a:p>
        </p:txBody>
      </p:sp>
      <p:sp>
        <p:nvSpPr>
          <p:cNvPr id="121869" name="Text Box 13"/>
          <p:cNvSpPr txBox="1">
            <a:spLocks noChangeArrowheads="1"/>
          </p:cNvSpPr>
          <p:nvPr/>
        </p:nvSpPr>
        <p:spPr bwMode="auto">
          <a:xfrm>
            <a:off x="4779964" y="3505201"/>
            <a:ext cx="134985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Requirements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Analysis and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Negotiation</a:t>
            </a:r>
          </a:p>
        </p:txBody>
      </p:sp>
      <p:sp>
        <p:nvSpPr>
          <p:cNvPr id="121870" name="Text Box 14"/>
          <p:cNvSpPr txBox="1">
            <a:spLocks noChangeArrowheads="1"/>
          </p:cNvSpPr>
          <p:nvPr/>
        </p:nvSpPr>
        <p:spPr bwMode="auto">
          <a:xfrm>
            <a:off x="6532564" y="3609976"/>
            <a:ext cx="13498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Requirements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Specification</a:t>
            </a:r>
          </a:p>
        </p:txBody>
      </p:sp>
      <p:sp>
        <p:nvSpPr>
          <p:cNvPr id="121871" name="Text Box 15"/>
          <p:cNvSpPr txBox="1">
            <a:spLocks noChangeArrowheads="1"/>
          </p:cNvSpPr>
          <p:nvPr/>
        </p:nvSpPr>
        <p:spPr bwMode="auto">
          <a:xfrm>
            <a:off x="8305801" y="3609976"/>
            <a:ext cx="13498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Requirements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Validation</a:t>
            </a:r>
          </a:p>
        </p:txBody>
      </p:sp>
      <p:sp>
        <p:nvSpPr>
          <p:cNvPr id="121872" name="Line 16"/>
          <p:cNvSpPr>
            <a:spLocks noChangeShapeType="1"/>
          </p:cNvSpPr>
          <p:nvPr/>
        </p:nvSpPr>
        <p:spPr bwMode="auto">
          <a:xfrm flipV="1">
            <a:off x="3657600" y="4343400"/>
            <a:ext cx="0" cy="457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73" name="Rectangle 17"/>
          <p:cNvSpPr>
            <a:spLocks noChangeArrowheads="1"/>
          </p:cNvSpPr>
          <p:nvPr/>
        </p:nvSpPr>
        <p:spPr bwMode="auto">
          <a:xfrm>
            <a:off x="2438400" y="4800600"/>
            <a:ext cx="2286000" cy="137160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74" name="Text Box 18"/>
          <p:cNvSpPr txBox="1">
            <a:spLocks noChangeArrowheads="1"/>
          </p:cNvSpPr>
          <p:nvPr/>
        </p:nvSpPr>
        <p:spPr bwMode="auto">
          <a:xfrm>
            <a:off x="2428875" y="4765676"/>
            <a:ext cx="2290884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User Needs,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Domain Information,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Existing System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Information, Regulations,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Standards, Etc.</a:t>
            </a:r>
          </a:p>
        </p:txBody>
      </p:sp>
      <p:sp>
        <p:nvSpPr>
          <p:cNvPr id="121875" name="Rectangle 19"/>
          <p:cNvSpPr>
            <a:spLocks noChangeArrowheads="1"/>
          </p:cNvSpPr>
          <p:nvPr/>
        </p:nvSpPr>
        <p:spPr bwMode="auto">
          <a:xfrm>
            <a:off x="6019800" y="4800600"/>
            <a:ext cx="2286000" cy="137160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76" name="Line 20"/>
          <p:cNvSpPr>
            <a:spLocks noChangeShapeType="1"/>
          </p:cNvSpPr>
          <p:nvPr/>
        </p:nvSpPr>
        <p:spPr bwMode="auto">
          <a:xfrm>
            <a:off x="7162800" y="4343400"/>
            <a:ext cx="0" cy="457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77" name="Text Box 21"/>
          <p:cNvSpPr txBox="1">
            <a:spLocks noChangeArrowheads="1"/>
          </p:cNvSpPr>
          <p:nvPr/>
        </p:nvSpPr>
        <p:spPr bwMode="auto">
          <a:xfrm>
            <a:off x="6553201" y="5210176"/>
            <a:ext cx="13498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Requirements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Document</a:t>
            </a:r>
          </a:p>
        </p:txBody>
      </p:sp>
      <p:sp>
        <p:nvSpPr>
          <p:cNvPr id="121878" name="Line 22"/>
          <p:cNvSpPr>
            <a:spLocks noChangeShapeType="1"/>
          </p:cNvSpPr>
          <p:nvPr/>
        </p:nvSpPr>
        <p:spPr bwMode="auto">
          <a:xfrm>
            <a:off x="8305800" y="5638800"/>
            <a:ext cx="16002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79" name="Line 23"/>
          <p:cNvSpPr>
            <a:spLocks noChangeShapeType="1"/>
          </p:cNvSpPr>
          <p:nvPr/>
        </p:nvSpPr>
        <p:spPr bwMode="auto">
          <a:xfrm>
            <a:off x="8305800" y="5257800"/>
            <a:ext cx="6096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80" name="Line 24"/>
          <p:cNvSpPr>
            <a:spLocks noChangeShapeType="1"/>
          </p:cNvSpPr>
          <p:nvPr/>
        </p:nvSpPr>
        <p:spPr bwMode="auto">
          <a:xfrm>
            <a:off x="8915400" y="4343400"/>
            <a:ext cx="0" cy="9144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81" name="Text Box 25"/>
          <p:cNvSpPr txBox="1">
            <a:spLocks noChangeArrowheads="1"/>
          </p:cNvSpPr>
          <p:nvPr/>
        </p:nvSpPr>
        <p:spPr bwMode="auto">
          <a:xfrm>
            <a:off x="9047164" y="5029201"/>
            <a:ext cx="13498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Agreed</a:t>
            </a:r>
          </a:p>
          <a:p>
            <a:r>
              <a:rPr lang="en-US" sz="1600">
                <a:solidFill>
                  <a:srgbClr val="000000"/>
                </a:solidFill>
                <a:latin typeface="Calibri" panose="020F0502020204030204"/>
              </a:rPr>
              <a:t>Requirements</a:t>
            </a:r>
          </a:p>
        </p:txBody>
      </p:sp>
      <p:sp>
        <p:nvSpPr>
          <p:cNvPr id="121882" name="Line 26"/>
          <p:cNvSpPr>
            <a:spLocks noChangeShapeType="1"/>
          </p:cNvSpPr>
          <p:nvPr/>
        </p:nvSpPr>
        <p:spPr bwMode="auto">
          <a:xfrm>
            <a:off x="4343400" y="3886200"/>
            <a:ext cx="4572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83" name="Line 27"/>
          <p:cNvSpPr>
            <a:spLocks noChangeShapeType="1"/>
          </p:cNvSpPr>
          <p:nvPr/>
        </p:nvSpPr>
        <p:spPr bwMode="auto">
          <a:xfrm>
            <a:off x="6096000" y="3886200"/>
            <a:ext cx="4572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884" name="Line 28"/>
          <p:cNvSpPr>
            <a:spLocks noChangeShapeType="1"/>
          </p:cNvSpPr>
          <p:nvPr/>
        </p:nvSpPr>
        <p:spPr bwMode="auto">
          <a:xfrm>
            <a:off x="7848600" y="3886200"/>
            <a:ext cx="4572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87255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anchor="ctr"/>
          <a:lstStyle/>
          <a:p>
            <a:r>
              <a:rPr lang="en-US" dirty="0"/>
              <a:t>Requirements Elicitation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2819400"/>
            <a:ext cx="7772400" cy="3733800"/>
          </a:xfrm>
          <a:noFill/>
          <a:ln/>
        </p:spPr>
        <p:txBody>
          <a:bodyPr/>
          <a:lstStyle/>
          <a:p>
            <a:r>
              <a:rPr lang="en-US" sz="3200" dirty="0"/>
              <a:t>Determining the system requirements through consultation with stakeholders, from system documents, domain knowledge, and market studies</a:t>
            </a:r>
          </a:p>
          <a:p>
            <a:r>
              <a:rPr lang="en-US" sz="3200" dirty="0"/>
              <a:t>Requirements acquisition or requirements discovery</a:t>
            </a:r>
            <a:r>
              <a:rPr lang="en-US" dirty="0"/>
              <a:t>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71C54-8608-4E8B-ACD6-138BDE9311F0}" type="slidenum">
              <a:rPr lang="en-US">
                <a:latin typeface="Calibri" panose="020F0502020204030204"/>
              </a:rPr>
              <a:pPr/>
              <a:t>25</a:t>
            </a:fld>
            <a:endParaRPr lang="en-US">
              <a:latin typeface="Calibri" panose="020F0502020204030204"/>
            </a:endParaRPr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1963739" y="2011364"/>
            <a:ext cx="8373895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Requirements elicitation activity is performed by </a:t>
            </a:r>
          </a:p>
        </p:txBody>
      </p:sp>
    </p:spTree>
    <p:extLst>
      <p:ext uri="{BB962C8B-B14F-4D97-AF65-F5344CB8AC3E}">
        <p14:creationId xmlns:p14="http://schemas.microsoft.com/office/powerpoint/2010/main" val="412839807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Requirements Analysis and Negotiation - 1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3124200"/>
            <a:ext cx="7772400" cy="3352800"/>
          </a:xfrm>
        </p:spPr>
        <p:txBody>
          <a:bodyPr>
            <a:normAutofit/>
          </a:bodyPr>
          <a:lstStyle/>
          <a:p>
            <a:r>
              <a:rPr lang="en-US" sz="3200"/>
              <a:t>Understanding the relationships among various customer requirements and shaping those relationships to achieve a successful result</a:t>
            </a:r>
          </a:p>
          <a:p>
            <a:r>
              <a:rPr lang="en-US" sz="3200"/>
              <a:t>Negotiations among different stakeholders and requirements engineers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AF548-BD94-4EAB-8E05-C7D08C3A8F60}" type="slidenum">
              <a:rPr lang="en-US">
                <a:latin typeface="Calibri" panose="020F0502020204030204"/>
              </a:rPr>
              <a:pPr/>
              <a:t>26</a:t>
            </a:fld>
            <a:endParaRPr lang="en-US">
              <a:latin typeface="Calibri" panose="020F0502020204030204"/>
            </a:endParaRPr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1966913" y="1733550"/>
            <a:ext cx="8386078" cy="107721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Requirements analysis and negotiation activity is </a:t>
            </a:r>
          </a:p>
          <a:p>
            <a:r>
              <a:rPr lang="en-US" sz="3200" dirty="0">
                <a:solidFill>
                  <a:prstClr val="white"/>
                </a:solidFill>
                <a:latin typeface="Calibri" panose="020F0502020204030204"/>
              </a:rPr>
              <a:t>performed by </a:t>
            </a:r>
          </a:p>
        </p:txBody>
      </p:sp>
    </p:spTree>
    <p:extLst>
      <p:ext uri="{BB962C8B-B14F-4D97-AF65-F5344CB8AC3E}">
        <p14:creationId xmlns:p14="http://schemas.microsoft.com/office/powerpoint/2010/main" val="461339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Requirements Analysis and Negotiation - 2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200"/>
              <a:t>Incomplete and inconsistent information needs to be tackled here</a:t>
            </a:r>
          </a:p>
          <a:p>
            <a:endParaRPr lang="en-US" sz="1400"/>
          </a:p>
          <a:p>
            <a:r>
              <a:rPr lang="en-US" sz="3200"/>
              <a:t>Some analysis and negotiation needs to be done on account of budgetary constraints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3B5FB-761A-488D-86EC-73693A187BA7}" type="slidenum">
              <a:rPr lang="en-US">
                <a:latin typeface="Calibri" panose="020F0502020204030204"/>
              </a:rPr>
              <a:pPr/>
              <a:t>27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552492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 Specification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2667000"/>
            <a:ext cx="7772400" cy="3276600"/>
          </a:xfrm>
        </p:spPr>
        <p:txBody>
          <a:bodyPr>
            <a:normAutofit/>
          </a:bodyPr>
          <a:lstStyle/>
          <a:p>
            <a:r>
              <a:rPr lang="en-US" sz="3200"/>
              <a:t>Building a tangible model of requirements using natural language and diagrams</a:t>
            </a:r>
          </a:p>
          <a:p>
            <a:endParaRPr lang="en-US" sz="1400"/>
          </a:p>
          <a:p>
            <a:r>
              <a:rPr lang="en-US" sz="3200"/>
              <a:t>Building a representation of requirements that can be assessed for correctness, completeness, and consistency</a:t>
            </a:r>
          </a:p>
          <a:p>
            <a:endParaRPr lang="en-US" sz="320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F322C-A50E-480F-AC4F-DF780DB0732F}" type="slidenum">
              <a:rPr lang="en-US">
                <a:latin typeface="Calibri" panose="020F0502020204030204"/>
              </a:rPr>
              <a:pPr/>
              <a:t>28</a:t>
            </a:fld>
            <a:endParaRPr lang="en-US">
              <a:latin typeface="Calibri" panose="020F0502020204030204"/>
            </a:endParaRPr>
          </a:p>
        </p:txBody>
      </p:sp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2286001" y="1733550"/>
            <a:ext cx="6907213" cy="579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 dirty="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Requirements specification includes </a:t>
            </a:r>
          </a:p>
        </p:txBody>
      </p:sp>
    </p:spTree>
    <p:extLst>
      <p:ext uri="{BB962C8B-B14F-4D97-AF65-F5344CB8AC3E}">
        <p14:creationId xmlns:p14="http://schemas.microsoft.com/office/powerpoint/2010/main" val="296791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 Document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828800"/>
            <a:ext cx="8229600" cy="4800600"/>
          </a:xfrm>
        </p:spPr>
        <p:txBody>
          <a:bodyPr/>
          <a:lstStyle/>
          <a:p>
            <a:r>
              <a:rPr lang="en-US"/>
              <a:t>Detailed descriptions of the required software system in form of requirements is captured in the requirements document</a:t>
            </a:r>
          </a:p>
          <a:p>
            <a:endParaRPr lang="en-US" sz="1800"/>
          </a:p>
          <a:p>
            <a:r>
              <a:rPr lang="en-US"/>
              <a:t>Software designers, developers and testers are the primary users of the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F834-CBCF-40FA-93C5-31BBAEA77498}" type="slidenum">
              <a:rPr lang="en-US">
                <a:latin typeface="Calibri" panose="020F0502020204030204"/>
              </a:rPr>
              <a:pPr/>
              <a:t>29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020314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 Validation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involves reviewing the requirements model for consistency and completeness</a:t>
            </a:r>
          </a:p>
          <a:p>
            <a:endParaRPr lang="en-US" sz="1800"/>
          </a:p>
          <a:p>
            <a:r>
              <a:rPr lang="en-US"/>
              <a:t>This process is intended to detect problems in the requirements document, before they are used as a basis for the system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981E-361A-45A1-8CF9-8D261ACB4753}" type="slidenum">
              <a:rPr lang="en-US">
                <a:latin typeface="Calibri" panose="020F0502020204030204"/>
              </a:rPr>
              <a:pPr/>
              <a:t>30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124419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 Management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76400"/>
            <a:ext cx="7924800" cy="4419600"/>
          </a:xfrm>
        </p:spPr>
        <p:txBody>
          <a:bodyPr/>
          <a:lstStyle/>
          <a:p>
            <a:r>
              <a:rPr lang="en-US" sz="3200"/>
              <a:t>Although, it is not shown as a separate activity in RE Process, it is performed through out the requirements engineering activities.</a:t>
            </a:r>
          </a:p>
          <a:p>
            <a:endParaRPr lang="en-US"/>
          </a:p>
          <a:p>
            <a:r>
              <a:rPr lang="en-US" sz="3200"/>
              <a:t>Requirements management asks to identify, control and track requirements and the changes that will be made to them</a:t>
            </a:r>
          </a:p>
          <a:p>
            <a:endParaRPr lang="en-US" sz="3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072F-D408-4BC9-840B-AE74AD528FA5}" type="slidenum">
              <a:rPr lang="en-US">
                <a:latin typeface="Calibri" panose="020F0502020204030204"/>
              </a:rPr>
              <a:pPr/>
              <a:t>31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57011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Who are Actors?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76400"/>
            <a:ext cx="7772400" cy="4343400"/>
          </a:xfrm>
          <a:noFill/>
          <a:ln/>
        </p:spPr>
        <p:txBody>
          <a:bodyPr/>
          <a:lstStyle/>
          <a:p>
            <a:r>
              <a:rPr lang="en-US"/>
              <a:t>Actors in a process are the people involved in the execution of that process</a:t>
            </a:r>
          </a:p>
          <a:p>
            <a:r>
              <a:rPr lang="en-US"/>
              <a:t>Actors are normally identified by their roles rather than individually, e.g., project manager, purchasing director, and system engineer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8CEC5-5800-4A6F-8810-25EB7116BD1E}" type="slidenum">
              <a:rPr lang="en-US">
                <a:latin typeface="Calibri" panose="020F0502020204030204"/>
              </a:rPr>
              <a:pPr/>
              <a:t>32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4821651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Actors in the RE Process - 1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/>
              <a:t>Requirements engineering involves people who are primarily interested in the problem to be solved (end-users, etc) as well as people interested in the solution (system designers, etc.)</a:t>
            </a:r>
          </a:p>
          <a:p>
            <a:pPr>
              <a:lnSpc>
                <a:spcPct val="90000"/>
              </a:lnSpc>
            </a:pPr>
            <a:r>
              <a:rPr lang="en-US" sz="3200"/>
              <a:t>Another group of people, such as health &amp; safety regulators, and maintenance engineers may be effected by the existence of the system</a:t>
            </a:r>
          </a:p>
          <a:p>
            <a:pPr>
              <a:lnSpc>
                <a:spcPct val="90000"/>
              </a:lnSpc>
            </a:pPr>
            <a:endParaRPr lang="en-US" sz="3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3CE-3A66-4B6E-A9A7-80E156E48D8A}" type="slidenum">
              <a:rPr lang="en-US">
                <a:latin typeface="Calibri" panose="020F0502020204030204"/>
              </a:rPr>
              <a:pPr/>
              <a:t>33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18511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Actors in the RE Process - 2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Role-action diagrams are process models which show the actors associated with different process activities</a:t>
            </a:r>
          </a:p>
          <a:p>
            <a:r>
              <a:rPr lang="en-US" sz="3200"/>
              <a:t>They document the information needs of different people involved in the process</a:t>
            </a:r>
          </a:p>
          <a:p>
            <a:r>
              <a:rPr lang="en-US" sz="3200"/>
              <a:t>They use model of prototype software system as part of requirements elicitation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58D2-13D9-4431-BCFD-DD4707AE73BE}" type="slidenum">
              <a:rPr lang="en-US">
                <a:latin typeface="Calibri" panose="020F0502020204030204"/>
              </a:rPr>
              <a:pPr/>
              <a:t>34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991221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Role-Action Diagram for Software Prototyping</a:t>
            </a:r>
          </a:p>
        </p:txBody>
      </p:sp>
      <p:sp>
        <p:nvSpPr>
          <p:cNvPr id="37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58054-E25D-4167-92D7-6E9A73AF2951}" type="slidenum">
              <a:rPr lang="en-US">
                <a:solidFill>
                  <a:srgbClr val="000000"/>
                </a:solidFill>
                <a:latin typeface="Calibri" panose="020F0502020204030204"/>
              </a:rPr>
              <a:pPr/>
              <a:t>35</a:t>
            </a:fld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47" name="Rectangle 3"/>
          <p:cNvSpPr>
            <a:spLocks noChangeArrowheads="1"/>
          </p:cNvSpPr>
          <p:nvPr/>
        </p:nvSpPr>
        <p:spPr bwMode="auto">
          <a:xfrm>
            <a:off x="1752600" y="2209800"/>
            <a:ext cx="1371600" cy="8382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48" name="Rectangle 4"/>
          <p:cNvSpPr>
            <a:spLocks noChangeArrowheads="1"/>
          </p:cNvSpPr>
          <p:nvPr/>
        </p:nvSpPr>
        <p:spPr bwMode="auto">
          <a:xfrm>
            <a:off x="3581400" y="2209800"/>
            <a:ext cx="1371600" cy="8382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49" name="Rectangle 5"/>
          <p:cNvSpPr>
            <a:spLocks noChangeArrowheads="1"/>
          </p:cNvSpPr>
          <p:nvPr/>
        </p:nvSpPr>
        <p:spPr bwMode="auto">
          <a:xfrm>
            <a:off x="5410200" y="2209800"/>
            <a:ext cx="1371600" cy="8382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50" name="Rectangle 6"/>
          <p:cNvSpPr>
            <a:spLocks noChangeArrowheads="1"/>
          </p:cNvSpPr>
          <p:nvPr/>
        </p:nvSpPr>
        <p:spPr bwMode="auto">
          <a:xfrm>
            <a:off x="7239000" y="2209800"/>
            <a:ext cx="1371600" cy="8382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51" name="Rectangle 7"/>
          <p:cNvSpPr>
            <a:spLocks noChangeArrowheads="1"/>
          </p:cNvSpPr>
          <p:nvPr/>
        </p:nvSpPr>
        <p:spPr bwMode="auto">
          <a:xfrm>
            <a:off x="9067800" y="2209800"/>
            <a:ext cx="1371600" cy="8382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57" name="Line 13"/>
          <p:cNvSpPr>
            <a:spLocks noChangeShapeType="1"/>
          </p:cNvSpPr>
          <p:nvPr/>
        </p:nvSpPr>
        <p:spPr bwMode="auto">
          <a:xfrm>
            <a:off x="3124200" y="2590800"/>
            <a:ext cx="4572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58" name="Line 14"/>
          <p:cNvSpPr>
            <a:spLocks noChangeShapeType="1"/>
          </p:cNvSpPr>
          <p:nvPr/>
        </p:nvSpPr>
        <p:spPr bwMode="auto">
          <a:xfrm>
            <a:off x="4953000" y="2590800"/>
            <a:ext cx="4572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59" name="Line 15"/>
          <p:cNvSpPr>
            <a:spLocks noChangeShapeType="1"/>
          </p:cNvSpPr>
          <p:nvPr/>
        </p:nvSpPr>
        <p:spPr bwMode="auto">
          <a:xfrm>
            <a:off x="6781800" y="2590800"/>
            <a:ext cx="4572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60" name="Line 16"/>
          <p:cNvSpPr>
            <a:spLocks noChangeShapeType="1"/>
          </p:cNvSpPr>
          <p:nvPr/>
        </p:nvSpPr>
        <p:spPr bwMode="auto">
          <a:xfrm>
            <a:off x="8610600" y="2590800"/>
            <a:ext cx="4572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61" name="Line 17"/>
          <p:cNvSpPr>
            <a:spLocks noChangeShapeType="1"/>
          </p:cNvSpPr>
          <p:nvPr/>
        </p:nvSpPr>
        <p:spPr bwMode="auto">
          <a:xfrm flipV="1">
            <a:off x="2438400" y="3048000"/>
            <a:ext cx="0" cy="15240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62" name="Line 18"/>
          <p:cNvSpPr>
            <a:spLocks noChangeShapeType="1"/>
          </p:cNvSpPr>
          <p:nvPr/>
        </p:nvSpPr>
        <p:spPr bwMode="auto">
          <a:xfrm flipV="1">
            <a:off x="4267200" y="3048000"/>
            <a:ext cx="0" cy="15240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63" name="Line 19"/>
          <p:cNvSpPr>
            <a:spLocks noChangeShapeType="1"/>
          </p:cNvSpPr>
          <p:nvPr/>
        </p:nvSpPr>
        <p:spPr bwMode="auto">
          <a:xfrm flipV="1">
            <a:off x="6096000" y="3048000"/>
            <a:ext cx="0" cy="15240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64" name="Line 20"/>
          <p:cNvSpPr>
            <a:spLocks noChangeShapeType="1"/>
          </p:cNvSpPr>
          <p:nvPr/>
        </p:nvSpPr>
        <p:spPr bwMode="auto">
          <a:xfrm flipV="1">
            <a:off x="7924800" y="3048000"/>
            <a:ext cx="0" cy="15240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65" name="Line 21"/>
          <p:cNvSpPr>
            <a:spLocks noChangeShapeType="1"/>
          </p:cNvSpPr>
          <p:nvPr/>
        </p:nvSpPr>
        <p:spPr bwMode="auto">
          <a:xfrm flipV="1">
            <a:off x="9753600" y="3048000"/>
            <a:ext cx="0" cy="15240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66" name="Line 22"/>
          <p:cNvSpPr>
            <a:spLocks noChangeShapeType="1"/>
          </p:cNvSpPr>
          <p:nvPr/>
        </p:nvSpPr>
        <p:spPr bwMode="auto">
          <a:xfrm flipV="1">
            <a:off x="9753600" y="1752600"/>
            <a:ext cx="0" cy="4572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67" name="Line 23"/>
          <p:cNvSpPr>
            <a:spLocks noChangeShapeType="1"/>
          </p:cNvSpPr>
          <p:nvPr/>
        </p:nvSpPr>
        <p:spPr bwMode="auto">
          <a:xfrm flipV="1">
            <a:off x="7924800" y="1752600"/>
            <a:ext cx="0" cy="4572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68" name="Line 24"/>
          <p:cNvSpPr>
            <a:spLocks noChangeShapeType="1"/>
          </p:cNvSpPr>
          <p:nvPr/>
        </p:nvSpPr>
        <p:spPr bwMode="auto">
          <a:xfrm flipH="1">
            <a:off x="7924800" y="1752600"/>
            <a:ext cx="18288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69" name="Text Box 25"/>
          <p:cNvSpPr txBox="1">
            <a:spLocks noChangeArrowheads="1"/>
          </p:cNvSpPr>
          <p:nvPr/>
        </p:nvSpPr>
        <p:spPr bwMode="auto">
          <a:xfrm>
            <a:off x="1828800" y="2286001"/>
            <a:ext cx="1282980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Understand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problem</a:t>
            </a:r>
          </a:p>
        </p:txBody>
      </p:sp>
      <p:sp>
        <p:nvSpPr>
          <p:cNvPr id="134170" name="Text Box 26"/>
          <p:cNvSpPr txBox="1">
            <a:spLocks noChangeArrowheads="1"/>
          </p:cNvSpPr>
          <p:nvPr/>
        </p:nvSpPr>
        <p:spPr bwMode="auto">
          <a:xfrm>
            <a:off x="3581400" y="2133600"/>
            <a:ext cx="1452514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Establish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outline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requirements</a:t>
            </a:r>
          </a:p>
        </p:txBody>
      </p:sp>
      <p:sp>
        <p:nvSpPr>
          <p:cNvPr id="134171" name="Text Box 27"/>
          <p:cNvSpPr txBox="1">
            <a:spLocks noChangeArrowheads="1"/>
          </p:cNvSpPr>
          <p:nvPr/>
        </p:nvSpPr>
        <p:spPr bwMode="auto">
          <a:xfrm>
            <a:off x="5486401" y="2133600"/>
            <a:ext cx="1287981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Select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prototyping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system</a:t>
            </a:r>
          </a:p>
        </p:txBody>
      </p:sp>
      <p:sp>
        <p:nvSpPr>
          <p:cNvPr id="134172" name="Text Box 28"/>
          <p:cNvSpPr txBox="1">
            <a:spLocks noChangeArrowheads="1"/>
          </p:cNvSpPr>
          <p:nvPr/>
        </p:nvSpPr>
        <p:spPr bwMode="auto">
          <a:xfrm>
            <a:off x="7391401" y="2286001"/>
            <a:ext cx="111966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Develop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prototype</a:t>
            </a:r>
          </a:p>
        </p:txBody>
      </p:sp>
      <p:sp>
        <p:nvSpPr>
          <p:cNvPr id="134173" name="Text Box 29"/>
          <p:cNvSpPr txBox="1">
            <a:spLocks noChangeArrowheads="1"/>
          </p:cNvSpPr>
          <p:nvPr/>
        </p:nvSpPr>
        <p:spPr bwMode="auto">
          <a:xfrm>
            <a:off x="9226551" y="2286001"/>
            <a:ext cx="111966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Evaluate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prototype</a:t>
            </a:r>
          </a:p>
        </p:txBody>
      </p:sp>
      <p:sp>
        <p:nvSpPr>
          <p:cNvPr id="134174" name="Text Box 30"/>
          <p:cNvSpPr txBox="1">
            <a:spLocks noChangeArrowheads="1"/>
          </p:cNvSpPr>
          <p:nvPr/>
        </p:nvSpPr>
        <p:spPr bwMode="auto">
          <a:xfrm>
            <a:off x="1708150" y="4648200"/>
            <a:ext cx="1577420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Req. Engineer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Domain expert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End-user</a:t>
            </a:r>
          </a:p>
        </p:txBody>
      </p:sp>
      <p:sp>
        <p:nvSpPr>
          <p:cNvPr id="134175" name="Text Box 31"/>
          <p:cNvSpPr txBox="1">
            <a:spLocks noChangeArrowheads="1"/>
          </p:cNvSpPr>
          <p:nvPr/>
        </p:nvSpPr>
        <p:spPr bwMode="auto">
          <a:xfrm>
            <a:off x="3536950" y="4845050"/>
            <a:ext cx="1492250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Req. Engineer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End-user</a:t>
            </a:r>
          </a:p>
        </p:txBody>
      </p:sp>
      <p:sp>
        <p:nvSpPr>
          <p:cNvPr id="134176" name="Text Box 32"/>
          <p:cNvSpPr txBox="1">
            <a:spLocks noChangeArrowheads="1"/>
          </p:cNvSpPr>
          <p:nvPr/>
        </p:nvSpPr>
        <p:spPr bwMode="auto">
          <a:xfrm>
            <a:off x="5407025" y="4845050"/>
            <a:ext cx="1409700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SW Engineer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Project Mgr</a:t>
            </a:r>
          </a:p>
        </p:txBody>
      </p:sp>
      <p:sp>
        <p:nvSpPr>
          <p:cNvPr id="134177" name="Text Box 33"/>
          <p:cNvSpPr txBox="1">
            <a:spLocks noChangeArrowheads="1"/>
          </p:cNvSpPr>
          <p:nvPr/>
        </p:nvSpPr>
        <p:spPr bwMode="auto">
          <a:xfrm>
            <a:off x="7197725" y="4845050"/>
            <a:ext cx="1492250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Req. Engineer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SW Engineer</a:t>
            </a:r>
          </a:p>
        </p:txBody>
      </p:sp>
      <p:sp>
        <p:nvSpPr>
          <p:cNvPr id="134178" name="Text Box 34"/>
          <p:cNvSpPr txBox="1">
            <a:spLocks noChangeArrowheads="1"/>
          </p:cNvSpPr>
          <p:nvPr/>
        </p:nvSpPr>
        <p:spPr bwMode="auto">
          <a:xfrm>
            <a:off x="8991600" y="4572001"/>
            <a:ext cx="1577420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End-user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Domain expert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Req. Engineer</a:t>
            </a:r>
          </a:p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SW Engineer</a:t>
            </a:r>
          </a:p>
        </p:txBody>
      </p:sp>
      <p:sp>
        <p:nvSpPr>
          <p:cNvPr id="134179" name="AutoShape 35"/>
          <p:cNvSpPr>
            <a:spLocks noChangeArrowheads="1"/>
          </p:cNvSpPr>
          <p:nvPr/>
        </p:nvSpPr>
        <p:spPr bwMode="auto">
          <a:xfrm>
            <a:off x="3505200" y="4572000"/>
            <a:ext cx="1524000" cy="11430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80" name="AutoShape 36"/>
          <p:cNvSpPr>
            <a:spLocks noChangeArrowheads="1"/>
          </p:cNvSpPr>
          <p:nvPr/>
        </p:nvSpPr>
        <p:spPr bwMode="auto">
          <a:xfrm>
            <a:off x="1676400" y="4572000"/>
            <a:ext cx="1524000" cy="11430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81" name="AutoShape 37"/>
          <p:cNvSpPr>
            <a:spLocks noChangeArrowheads="1"/>
          </p:cNvSpPr>
          <p:nvPr/>
        </p:nvSpPr>
        <p:spPr bwMode="auto">
          <a:xfrm>
            <a:off x="5334000" y="4572000"/>
            <a:ext cx="1524000" cy="11430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82" name="AutoShape 38"/>
          <p:cNvSpPr>
            <a:spLocks noChangeArrowheads="1"/>
          </p:cNvSpPr>
          <p:nvPr/>
        </p:nvSpPr>
        <p:spPr bwMode="auto">
          <a:xfrm>
            <a:off x="7162800" y="4572000"/>
            <a:ext cx="1524000" cy="11430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84" name="AutoShape 40"/>
          <p:cNvSpPr>
            <a:spLocks noChangeArrowheads="1"/>
          </p:cNvSpPr>
          <p:nvPr/>
        </p:nvSpPr>
        <p:spPr bwMode="auto">
          <a:xfrm>
            <a:off x="8991600" y="4572000"/>
            <a:ext cx="1524000" cy="11430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185" name="Text Box 41"/>
          <p:cNvSpPr txBox="1">
            <a:spLocks noChangeArrowheads="1"/>
          </p:cNvSpPr>
          <p:nvPr/>
        </p:nvSpPr>
        <p:spPr bwMode="auto">
          <a:xfrm>
            <a:off x="1643063" y="1385888"/>
            <a:ext cx="11122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anose="020F0502020204030204"/>
              </a:rPr>
              <a:t>ACTIONS</a:t>
            </a:r>
          </a:p>
        </p:txBody>
      </p:sp>
      <p:sp>
        <p:nvSpPr>
          <p:cNvPr id="134186" name="Text Box 42"/>
          <p:cNvSpPr txBox="1">
            <a:spLocks noChangeArrowheads="1"/>
          </p:cNvSpPr>
          <p:nvPr/>
        </p:nvSpPr>
        <p:spPr bwMode="auto">
          <a:xfrm>
            <a:off x="1676400" y="5927725"/>
            <a:ext cx="840102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Calibri" panose="020F0502020204030204"/>
              </a:rPr>
              <a:t>ROLES</a:t>
            </a:r>
          </a:p>
        </p:txBody>
      </p:sp>
    </p:spTree>
    <p:extLst>
      <p:ext uri="{BB962C8B-B14F-4D97-AF65-F5344CB8AC3E}">
        <p14:creationId xmlns:p14="http://schemas.microsoft.com/office/powerpoint/2010/main" val="28713589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 Descriptions - 1</a:t>
            </a:r>
          </a:p>
        </p:txBody>
      </p:sp>
      <p:sp>
        <p:nvSpPr>
          <p:cNvPr id="1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5CC57-1EBE-4FB5-9130-6F953B59ABEA}" type="slidenum">
              <a:rPr lang="en-US">
                <a:latin typeface="Calibri" panose="020F0502020204030204"/>
              </a:rPr>
              <a:pPr/>
              <a:t>36</a:t>
            </a:fld>
            <a:endParaRPr lang="en-US">
              <a:latin typeface="Calibri" panose="020F0502020204030204"/>
            </a:endParaRPr>
          </a:p>
        </p:txBody>
      </p:sp>
      <p:graphicFrame>
        <p:nvGraphicFramePr>
          <p:cNvPr id="125966" name="Group 14"/>
          <p:cNvGraphicFramePr>
            <a:graphicFrameLocks noGrp="1"/>
          </p:cNvGraphicFramePr>
          <p:nvPr/>
        </p:nvGraphicFramePr>
        <p:xfrm>
          <a:off x="2514600" y="1727200"/>
          <a:ext cx="7239000" cy="3190240"/>
        </p:xfrm>
        <a:graphic>
          <a:graphicData uri="http://schemas.openxmlformats.org/drawingml/2006/table">
            <a:tbl>
              <a:tblPr/>
              <a:tblGrid>
                <a:gridCol w="235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Role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Domain Expert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Responsible for proving information about the application domain and the specific problem in that domain, which is to be solved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0429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 Descriptions - 2</a:t>
            </a:r>
          </a:p>
        </p:txBody>
      </p:sp>
      <p:sp>
        <p:nvSpPr>
          <p:cNvPr id="1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31D05-4D26-4DBD-A51A-9D94FB7A4929}" type="slidenum">
              <a:rPr lang="en-US">
                <a:latin typeface="Calibri" panose="020F0502020204030204"/>
              </a:rPr>
              <a:pPr/>
              <a:t>37</a:t>
            </a:fld>
            <a:endParaRPr lang="en-US">
              <a:latin typeface="Calibri" panose="020F0502020204030204"/>
            </a:endParaRPr>
          </a:p>
        </p:txBody>
      </p:sp>
      <p:graphicFrame>
        <p:nvGraphicFramePr>
          <p:cNvPr id="124005" name="Group 101"/>
          <p:cNvGraphicFramePr>
            <a:graphicFrameLocks noGrp="1"/>
          </p:cNvGraphicFramePr>
          <p:nvPr/>
        </p:nvGraphicFramePr>
        <p:xfrm>
          <a:off x="2514600" y="1727200"/>
          <a:ext cx="7239000" cy="1818640"/>
        </p:xfrm>
        <a:graphic>
          <a:graphicData uri="http://schemas.openxmlformats.org/drawingml/2006/table">
            <a:tbl>
              <a:tblPr/>
              <a:tblGrid>
                <a:gridCol w="235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Role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System End-user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Responsible for using the system after delivery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6889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 Descriptions - 3</a:t>
            </a:r>
          </a:p>
        </p:txBody>
      </p:sp>
      <p:sp>
        <p:nvSpPr>
          <p:cNvPr id="1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02-3346-4219-8966-91C276451E80}" type="slidenum">
              <a:rPr lang="en-US">
                <a:latin typeface="Calibri" panose="020F0502020204030204"/>
              </a:rPr>
              <a:pPr/>
              <a:t>38</a:t>
            </a:fld>
            <a:endParaRPr lang="en-US">
              <a:latin typeface="Calibri" panose="020F0502020204030204"/>
            </a:endParaRPr>
          </a:p>
        </p:txBody>
      </p:sp>
      <p:graphicFrame>
        <p:nvGraphicFramePr>
          <p:cNvPr id="124956" name="Group 28"/>
          <p:cNvGraphicFramePr>
            <a:graphicFrameLocks noGrp="1"/>
          </p:cNvGraphicFramePr>
          <p:nvPr/>
        </p:nvGraphicFramePr>
        <p:xfrm>
          <a:off x="2514600" y="1727200"/>
          <a:ext cx="7239000" cy="2275840"/>
        </p:xfrm>
        <a:graphic>
          <a:graphicData uri="http://schemas.openxmlformats.org/drawingml/2006/table">
            <a:tbl>
              <a:tblPr/>
              <a:tblGrid>
                <a:gridCol w="235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Role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Requirements Engineer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Responsible for eliciting and specifying the system requirements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331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 Descriptions - 4</a:t>
            </a:r>
          </a:p>
        </p:txBody>
      </p:sp>
      <p:sp>
        <p:nvSpPr>
          <p:cNvPr id="1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2371-5C61-4202-B816-033883F994C9}" type="slidenum">
              <a:rPr lang="en-US">
                <a:latin typeface="Calibri" panose="020F0502020204030204"/>
              </a:rPr>
              <a:pPr/>
              <a:t>39</a:t>
            </a:fld>
            <a:endParaRPr lang="en-US">
              <a:latin typeface="Calibri" panose="020F0502020204030204"/>
            </a:endParaRPr>
          </a:p>
        </p:txBody>
      </p:sp>
      <p:graphicFrame>
        <p:nvGraphicFramePr>
          <p:cNvPr id="126992" name="Group 16"/>
          <p:cNvGraphicFramePr>
            <a:graphicFrameLocks noGrp="1"/>
          </p:cNvGraphicFramePr>
          <p:nvPr/>
        </p:nvGraphicFramePr>
        <p:xfrm>
          <a:off x="2514600" y="1727200"/>
          <a:ext cx="7239000" cy="1818640"/>
        </p:xfrm>
        <a:graphic>
          <a:graphicData uri="http://schemas.openxmlformats.org/drawingml/2006/table">
            <a:tbl>
              <a:tblPr/>
              <a:tblGrid>
                <a:gridCol w="235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Role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Software Engineer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Responsible for developing the prototype software system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9599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 Descriptions - 5</a:t>
            </a:r>
          </a:p>
        </p:txBody>
      </p:sp>
      <p:sp>
        <p:nvSpPr>
          <p:cNvPr id="1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78A0-186B-4DEE-9059-E6284C46E3AF}" type="slidenum">
              <a:rPr lang="en-US">
                <a:latin typeface="Calibri" panose="020F0502020204030204"/>
              </a:rPr>
              <a:pPr/>
              <a:t>40</a:t>
            </a:fld>
            <a:endParaRPr lang="en-US">
              <a:latin typeface="Calibri" panose="020F0502020204030204"/>
            </a:endParaRPr>
          </a:p>
        </p:txBody>
      </p:sp>
      <p:graphicFrame>
        <p:nvGraphicFramePr>
          <p:cNvPr id="128016" name="Group 16"/>
          <p:cNvGraphicFramePr>
            <a:graphicFrameLocks noGrp="1"/>
          </p:cNvGraphicFramePr>
          <p:nvPr/>
        </p:nvGraphicFramePr>
        <p:xfrm>
          <a:off x="2514600" y="1727200"/>
          <a:ext cx="7239000" cy="2275840"/>
        </p:xfrm>
        <a:graphic>
          <a:graphicData uri="http://schemas.openxmlformats.org/drawingml/2006/table">
            <a:tbl>
              <a:tblPr/>
              <a:tblGrid>
                <a:gridCol w="235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Role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Project Manager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Responsible for planning and estimating the prototyping project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9193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Human and Social Factors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/>
              <a:t>Requirements engineering processes are dominated by human, social and organizational factors because they always involve a range of stakeholders from different backgrounds and with different individual and organizational goals</a:t>
            </a:r>
          </a:p>
          <a:p>
            <a:pPr>
              <a:lnSpc>
                <a:spcPct val="90000"/>
              </a:lnSpc>
            </a:pPr>
            <a:r>
              <a:rPr lang="en-US" sz="3200"/>
              <a:t>System stakeholders may come from a range of technical and non-technical background and from different disciplines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E34B-2C9E-4263-8228-FDF3E6FF711F}" type="slidenum">
              <a:rPr lang="en-US">
                <a:latin typeface="Calibri" panose="020F0502020204030204"/>
              </a:rPr>
              <a:pPr/>
              <a:t>41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06524303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Stakeholder Types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Software engineers</a:t>
            </a:r>
          </a:p>
          <a:p>
            <a:r>
              <a:rPr lang="en-US"/>
              <a:t>System end-users</a:t>
            </a:r>
          </a:p>
          <a:p>
            <a:r>
              <a:rPr lang="en-US"/>
              <a:t>Managers of system end-users</a:t>
            </a:r>
          </a:p>
          <a:p>
            <a:r>
              <a:rPr lang="en-US"/>
              <a:t>External regulators</a:t>
            </a:r>
          </a:p>
          <a:p>
            <a:r>
              <a:rPr lang="en-US"/>
              <a:t>Domain experts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94024-E417-452A-BA61-209CDCA57066}" type="slidenum">
              <a:rPr lang="en-US">
                <a:latin typeface="Calibri" panose="020F0502020204030204"/>
              </a:rPr>
              <a:pPr/>
              <a:t>42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276324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/>
              <a:t>Factors Influencing Requirements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Personality and status of stakeholders</a:t>
            </a:r>
          </a:p>
          <a:p>
            <a:r>
              <a:rPr lang="en-US"/>
              <a:t>The personal goals of individuals within an organization</a:t>
            </a:r>
          </a:p>
          <a:p>
            <a:r>
              <a:rPr lang="en-US"/>
              <a:t>The degree of political influence of stakeholders within an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41BA2-E583-4905-816A-BFB622780BA4}" type="slidenum">
              <a:rPr lang="en-US">
                <a:latin typeface="Calibri" panose="020F0502020204030204"/>
              </a:rPr>
              <a:pPr/>
              <a:t>43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2767274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5431536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8800" b="1" dirty="0"/>
          </a:p>
          <a:p>
            <a:pPr algn="ctr">
              <a:buNone/>
            </a:pPr>
            <a:r>
              <a:rPr lang="en-US" sz="9600" b="1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1123372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1454</Words>
  <Application>Microsoft Office PowerPoint</Application>
  <PresentationFormat>Widescreen</PresentationFormat>
  <Paragraphs>300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Book Antiqua</vt:lpstr>
      <vt:lpstr>Calibri</vt:lpstr>
      <vt:lpstr>Calibri Light</vt:lpstr>
      <vt:lpstr>Sylfaen</vt:lpstr>
      <vt:lpstr>Times New Roman</vt:lpstr>
      <vt:lpstr>Retrospect</vt:lpstr>
      <vt:lpstr>1_Retrospect</vt:lpstr>
      <vt:lpstr>Software Engineering for CS</vt:lpstr>
      <vt:lpstr>`</vt:lpstr>
      <vt:lpstr>Next Assignment Deadline: 2-Nov-2023</vt:lpstr>
      <vt:lpstr>Requirements Engineering Process</vt:lpstr>
      <vt:lpstr>RE Process - Inputs and Outputs</vt:lpstr>
      <vt:lpstr>RE Process – Inputs</vt:lpstr>
      <vt:lpstr>RE Process – Inputs</vt:lpstr>
      <vt:lpstr>RE Process – Inputs</vt:lpstr>
      <vt:lpstr>RE Process – Outputs</vt:lpstr>
      <vt:lpstr>RE Process – Outputs</vt:lpstr>
      <vt:lpstr>RE Process – Outputs</vt:lpstr>
      <vt:lpstr>RE Process Variability</vt:lpstr>
      <vt:lpstr>Variability Factors - 1</vt:lpstr>
      <vt:lpstr>Variability Factors - 2</vt:lpstr>
      <vt:lpstr>Variability Factors - 3</vt:lpstr>
      <vt:lpstr>RE Process - 1</vt:lpstr>
      <vt:lpstr>RE Process - 2</vt:lpstr>
      <vt:lpstr>RE Process - 3</vt:lpstr>
      <vt:lpstr>Two Main Tasks of RE</vt:lpstr>
      <vt:lpstr>Problem Analysis - 1</vt:lpstr>
      <vt:lpstr>Problem Analysis - 2</vt:lpstr>
      <vt:lpstr>Product Description</vt:lpstr>
      <vt:lpstr>What Really Happens</vt:lpstr>
      <vt:lpstr>Requirements Engineering Activities</vt:lpstr>
      <vt:lpstr>Requirements Elicitation</vt:lpstr>
      <vt:lpstr>Requirements Analysis and Negotiation - 1</vt:lpstr>
      <vt:lpstr>Requirements Analysis and Negotiation - 2</vt:lpstr>
      <vt:lpstr>Requirements Specification</vt:lpstr>
      <vt:lpstr>Requirements Document</vt:lpstr>
      <vt:lpstr>Requirements Validation</vt:lpstr>
      <vt:lpstr>Requirements Management</vt:lpstr>
      <vt:lpstr>Who are Actors?</vt:lpstr>
      <vt:lpstr>Actors in the RE Process - 1</vt:lpstr>
      <vt:lpstr>Actors in the RE Process - 2</vt:lpstr>
      <vt:lpstr>Role-Action Diagram for Software Prototyping</vt:lpstr>
      <vt:lpstr>Role Descriptions - 1</vt:lpstr>
      <vt:lpstr>Role Descriptions - 2</vt:lpstr>
      <vt:lpstr>Role Descriptions - 3</vt:lpstr>
      <vt:lpstr>Role Descriptions - 4</vt:lpstr>
      <vt:lpstr>Role Descriptions - 5</vt:lpstr>
      <vt:lpstr>Human and Social Factors</vt:lpstr>
      <vt:lpstr>Stakeholder Types</vt:lpstr>
      <vt:lpstr>Factors Influencing Requirements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Natash Ali</dc:creator>
  <cp:lastModifiedBy>user</cp:lastModifiedBy>
  <cp:revision>17</cp:revision>
  <dcterms:created xsi:type="dcterms:W3CDTF">2020-03-05T19:18:32Z</dcterms:created>
  <dcterms:modified xsi:type="dcterms:W3CDTF">2025-10-21T03:16:48Z</dcterms:modified>
</cp:coreProperties>
</file>