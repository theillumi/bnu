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56" r:id="rId2"/>
    <p:sldId id="294" r:id="rId3"/>
    <p:sldId id="257" r:id="rId4"/>
    <p:sldId id="258" r:id="rId5"/>
    <p:sldId id="259" r:id="rId6"/>
    <p:sldId id="260" r:id="rId7"/>
    <p:sldId id="261" r:id="rId8"/>
    <p:sldId id="262" r:id="rId9"/>
    <p:sldId id="263" r:id="rId10"/>
    <p:sldId id="264" r:id="rId11"/>
    <p:sldId id="265" r:id="rId12"/>
    <p:sldId id="266" r:id="rId13"/>
    <p:sldId id="285" r:id="rId14"/>
    <p:sldId id="267" r:id="rId15"/>
    <p:sldId id="295" r:id="rId16"/>
    <p:sldId id="296" r:id="rId17"/>
    <p:sldId id="303" r:id="rId18"/>
    <p:sldId id="297" r:id="rId19"/>
    <p:sldId id="298" r:id="rId20"/>
    <p:sldId id="302" r:id="rId21"/>
    <p:sldId id="300" r:id="rId22"/>
    <p:sldId id="299" r:id="rId23"/>
    <p:sldId id="268" r:id="rId24"/>
    <p:sldId id="269" r:id="rId25"/>
    <p:sldId id="270" r:id="rId26"/>
    <p:sldId id="271" r:id="rId27"/>
    <p:sldId id="272" r:id="rId28"/>
    <p:sldId id="286" r:id="rId29"/>
    <p:sldId id="287" r:id="rId30"/>
    <p:sldId id="288" r:id="rId31"/>
    <p:sldId id="289" r:id="rId32"/>
    <p:sldId id="276" r:id="rId33"/>
    <p:sldId id="277" r:id="rId34"/>
    <p:sldId id="293"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6" d="100"/>
          <a:sy n="76" d="100"/>
        </p:scale>
        <p:origin x="62" y="22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A4C529-D68A-4852-B362-35883645C8B5}" type="datetimeFigureOut">
              <a:rPr lang="en-US" smtClean="0"/>
              <a:t>10/17/2025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7C3819-0B46-49E9-B1E5-CD4421EDBF05}" type="slidenum">
              <a:rPr lang="en-US" smtClean="0"/>
              <a:t>‹#›</a:t>
            </a:fld>
            <a:endParaRPr lang="en-US"/>
          </a:p>
        </p:txBody>
      </p:sp>
    </p:spTree>
    <p:extLst>
      <p:ext uri="{BB962C8B-B14F-4D97-AF65-F5344CB8AC3E}">
        <p14:creationId xmlns:p14="http://schemas.microsoft.com/office/powerpoint/2010/main" val="5660220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Agile is an umbrella term and cover</a:t>
            </a:r>
            <a:r>
              <a:rPr lang="en-US" baseline="0" dirty="0"/>
              <a:t> a variety of methods.</a:t>
            </a:r>
            <a:endParaRPr lang="en-US" dirty="0"/>
          </a:p>
        </p:txBody>
      </p:sp>
      <p:sp>
        <p:nvSpPr>
          <p:cNvPr id="4" name="Slide Number Placeholder 3"/>
          <p:cNvSpPr>
            <a:spLocks noGrp="1"/>
          </p:cNvSpPr>
          <p:nvPr>
            <p:ph type="sldNum" sz="quarter" idx="10"/>
          </p:nvPr>
        </p:nvSpPr>
        <p:spPr/>
        <p:txBody>
          <a:bodyPr/>
          <a:lstStyle/>
          <a:p>
            <a:fld id="{8D3FE826-0EC1-4DE4-ABDE-87290BFF9F3A}" type="slidenum">
              <a:rPr lang="en-US" smtClean="0"/>
              <a:t>2</a:t>
            </a:fld>
            <a:endParaRPr lang="en-US"/>
          </a:p>
        </p:txBody>
      </p:sp>
    </p:spTree>
    <p:extLst>
      <p:ext uri="{BB962C8B-B14F-4D97-AF65-F5344CB8AC3E}">
        <p14:creationId xmlns:p14="http://schemas.microsoft.com/office/powerpoint/2010/main" val="35845650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Introduction of the Speaker</a:t>
            </a:r>
          </a:p>
          <a:p>
            <a:r>
              <a:rPr lang="en-US" dirty="0"/>
              <a:t>Objective of the Talk – What</a:t>
            </a:r>
            <a:r>
              <a:rPr lang="en-US" baseline="0" dirty="0"/>
              <a:t> do you need to have before taking requirements, What are the skills mainly involved, how to capture the most. How do you take requirements when in Agile. How do you manage your backlog. </a:t>
            </a:r>
            <a:endParaRPr lang="en-US" dirty="0"/>
          </a:p>
        </p:txBody>
      </p:sp>
      <p:sp>
        <p:nvSpPr>
          <p:cNvPr id="4" name="Slide Number Placeholder 3"/>
          <p:cNvSpPr>
            <a:spLocks noGrp="1"/>
          </p:cNvSpPr>
          <p:nvPr>
            <p:ph type="sldNum" sz="quarter" idx="10"/>
          </p:nvPr>
        </p:nvSpPr>
        <p:spPr/>
        <p:txBody>
          <a:bodyPr/>
          <a:lstStyle/>
          <a:p>
            <a:fld id="{CD2182F6-133C-44A5-9DFE-AD9750CD2FFD}" type="slidenum">
              <a:rPr lang="en-US" smtClean="0"/>
              <a:t>13</a:t>
            </a:fld>
            <a:endParaRPr lang="en-US"/>
          </a:p>
        </p:txBody>
      </p:sp>
    </p:spTree>
    <p:extLst>
      <p:ext uri="{BB962C8B-B14F-4D97-AF65-F5344CB8AC3E}">
        <p14:creationId xmlns:p14="http://schemas.microsoft.com/office/powerpoint/2010/main" val="3909202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Activity – Chinese Whisper – Objective is to bring</a:t>
            </a:r>
            <a:r>
              <a:rPr lang="en-US" baseline="0" dirty="0"/>
              <a:t> into practice what happens when the understanding level is not the same.</a:t>
            </a:r>
            <a:endParaRPr lang="en-US" dirty="0"/>
          </a:p>
        </p:txBody>
      </p:sp>
      <p:sp>
        <p:nvSpPr>
          <p:cNvPr id="4" name="Slide Number Placeholder 3"/>
          <p:cNvSpPr>
            <a:spLocks noGrp="1"/>
          </p:cNvSpPr>
          <p:nvPr>
            <p:ph type="sldNum" sz="quarter" idx="10"/>
          </p:nvPr>
        </p:nvSpPr>
        <p:spPr/>
        <p:txBody>
          <a:bodyPr/>
          <a:lstStyle/>
          <a:p>
            <a:fld id="{CD2182F6-133C-44A5-9DFE-AD9750CD2FFD}" type="slidenum">
              <a:rPr lang="en-US" smtClean="0"/>
              <a:t>14</a:t>
            </a:fld>
            <a:endParaRPr lang="en-US"/>
          </a:p>
        </p:txBody>
      </p:sp>
    </p:spTree>
    <p:extLst>
      <p:ext uri="{BB962C8B-B14F-4D97-AF65-F5344CB8AC3E}">
        <p14:creationId xmlns:p14="http://schemas.microsoft.com/office/powerpoint/2010/main" val="12035610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Shape 119"/>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endParaRPr/>
          </a:p>
        </p:txBody>
      </p:sp>
      <p:sp>
        <p:nvSpPr>
          <p:cNvPr id="120" name="Shape 120"/>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374460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Shape 125"/>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endParaRPr/>
          </a:p>
        </p:txBody>
      </p:sp>
      <p:sp>
        <p:nvSpPr>
          <p:cNvPr id="126" name="Shape 12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63213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Shape 131"/>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endParaRPr/>
          </a:p>
        </p:txBody>
      </p:sp>
      <p:sp>
        <p:nvSpPr>
          <p:cNvPr id="132" name="Shape 132"/>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768729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Shape 155"/>
          <p:cNvSpPr txBox="1">
            <a:spLocks noGrp="1"/>
          </p:cNvSpPr>
          <p:nvPr>
            <p:ph type="body" idx="1"/>
          </p:nvPr>
        </p:nvSpPr>
        <p:spPr>
          <a:xfrm>
            <a:off x="685800" y="4343400"/>
            <a:ext cx="5486399" cy="4114800"/>
          </a:xfrm>
          <a:prstGeom prst="rect">
            <a:avLst/>
          </a:prstGeom>
        </p:spPr>
        <p:txBody>
          <a:bodyPr lIns="91425" tIns="91425" rIns="91425" bIns="91425" anchor="ctr" anchorCtr="0">
            <a:noAutofit/>
          </a:bodyPr>
          <a:lstStyle/>
          <a:p>
            <a:endParaRPr/>
          </a:p>
        </p:txBody>
      </p:sp>
      <p:sp>
        <p:nvSpPr>
          <p:cNvPr id="156" name="Shape 156"/>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245860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Recapping the Agile manifesto</a:t>
            </a:r>
            <a:r>
              <a:rPr lang="en-US" baseline="0" dirty="0"/>
              <a:t> will give a strong base in spreading awareness in regards to how important communication skills are and will give reference to the group activity of the same. </a:t>
            </a:r>
            <a:endParaRPr lang="en-US" dirty="0"/>
          </a:p>
        </p:txBody>
      </p:sp>
      <p:sp>
        <p:nvSpPr>
          <p:cNvPr id="4" name="Slide Number Placeholder 3"/>
          <p:cNvSpPr>
            <a:spLocks noGrp="1"/>
          </p:cNvSpPr>
          <p:nvPr>
            <p:ph type="sldNum" sz="quarter" idx="10"/>
          </p:nvPr>
        </p:nvSpPr>
        <p:spPr/>
        <p:txBody>
          <a:bodyPr/>
          <a:lstStyle/>
          <a:p>
            <a:fld id="{CD2182F6-133C-44A5-9DFE-AD9750CD2FFD}" type="slidenum">
              <a:rPr lang="en-US" smtClean="0"/>
              <a:t>23</a:t>
            </a:fld>
            <a:endParaRPr lang="en-US"/>
          </a:p>
        </p:txBody>
      </p:sp>
    </p:spTree>
    <p:extLst>
      <p:ext uri="{BB962C8B-B14F-4D97-AF65-F5344CB8AC3E}">
        <p14:creationId xmlns:p14="http://schemas.microsoft.com/office/powerpoint/2010/main" val="38323576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DK and TK – Dictated,</a:t>
            </a:r>
            <a:r>
              <a:rPr lang="en-US" baseline="0" dirty="0"/>
              <a:t> not much room to question requirements</a:t>
            </a:r>
          </a:p>
          <a:p>
            <a:r>
              <a:rPr lang="en-US" baseline="0" dirty="0"/>
              <a:t>With DK – Collaborative and relies on Solution from Team</a:t>
            </a:r>
          </a:p>
          <a:p>
            <a:r>
              <a:rPr lang="en-US" baseline="0" dirty="0"/>
              <a:t>With TK – Usually concerned with technical aspect more and solution is single dimensional.</a:t>
            </a:r>
          </a:p>
          <a:p>
            <a:r>
              <a:rPr lang="en-US" baseline="0" dirty="0"/>
              <a:t>By Title – Usually concerned with the Deadlines. </a:t>
            </a:r>
          </a:p>
          <a:p>
            <a:endParaRPr lang="en-US" dirty="0"/>
          </a:p>
        </p:txBody>
      </p:sp>
      <p:sp>
        <p:nvSpPr>
          <p:cNvPr id="4" name="Slide Number Placeholder 3"/>
          <p:cNvSpPr>
            <a:spLocks noGrp="1"/>
          </p:cNvSpPr>
          <p:nvPr>
            <p:ph type="sldNum" sz="quarter" idx="10"/>
          </p:nvPr>
        </p:nvSpPr>
        <p:spPr/>
        <p:txBody>
          <a:bodyPr/>
          <a:lstStyle/>
          <a:p>
            <a:fld id="{CD2182F6-133C-44A5-9DFE-AD9750CD2FFD}" type="slidenum">
              <a:rPr lang="en-US" smtClean="0"/>
              <a:t>24</a:t>
            </a:fld>
            <a:endParaRPr lang="en-US"/>
          </a:p>
        </p:txBody>
      </p:sp>
    </p:spTree>
    <p:extLst>
      <p:ext uri="{BB962C8B-B14F-4D97-AF65-F5344CB8AC3E}">
        <p14:creationId xmlns:p14="http://schemas.microsoft.com/office/powerpoint/2010/main" val="27831736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a:p>
            <a:endParaRPr lang="en-US" dirty="0"/>
          </a:p>
        </p:txBody>
      </p:sp>
      <p:sp>
        <p:nvSpPr>
          <p:cNvPr id="4" name="Slide Number Placeholder 3"/>
          <p:cNvSpPr>
            <a:spLocks noGrp="1"/>
          </p:cNvSpPr>
          <p:nvPr>
            <p:ph type="sldNum" sz="quarter" idx="10"/>
          </p:nvPr>
        </p:nvSpPr>
        <p:spPr/>
        <p:txBody>
          <a:bodyPr/>
          <a:lstStyle/>
          <a:p>
            <a:fld id="{CD2182F6-133C-44A5-9DFE-AD9750CD2FFD}" type="slidenum">
              <a:rPr lang="en-US" smtClean="0"/>
              <a:t>25</a:t>
            </a:fld>
            <a:endParaRPr lang="en-US"/>
          </a:p>
        </p:txBody>
      </p:sp>
    </p:spTree>
    <p:extLst>
      <p:ext uri="{BB962C8B-B14F-4D97-AF65-F5344CB8AC3E}">
        <p14:creationId xmlns:p14="http://schemas.microsoft.com/office/powerpoint/2010/main" val="35288763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a:p>
            <a:endParaRPr lang="en-US" dirty="0"/>
          </a:p>
        </p:txBody>
      </p:sp>
      <p:sp>
        <p:nvSpPr>
          <p:cNvPr id="4" name="Slide Number Placeholder 3"/>
          <p:cNvSpPr>
            <a:spLocks noGrp="1"/>
          </p:cNvSpPr>
          <p:nvPr>
            <p:ph type="sldNum" sz="quarter" idx="10"/>
          </p:nvPr>
        </p:nvSpPr>
        <p:spPr/>
        <p:txBody>
          <a:bodyPr/>
          <a:lstStyle/>
          <a:p>
            <a:fld id="{CD2182F6-133C-44A5-9DFE-AD9750CD2FFD}" type="slidenum">
              <a:rPr lang="en-US" smtClean="0"/>
              <a:t>26</a:t>
            </a:fld>
            <a:endParaRPr lang="en-US"/>
          </a:p>
        </p:txBody>
      </p:sp>
    </p:spTree>
    <p:extLst>
      <p:ext uri="{BB962C8B-B14F-4D97-AF65-F5344CB8AC3E}">
        <p14:creationId xmlns:p14="http://schemas.microsoft.com/office/powerpoint/2010/main" val="35374506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a:p>
            <a:endParaRPr lang="en-US" dirty="0"/>
          </a:p>
        </p:txBody>
      </p:sp>
      <p:sp>
        <p:nvSpPr>
          <p:cNvPr id="4" name="Slide Number Placeholder 3"/>
          <p:cNvSpPr>
            <a:spLocks noGrp="1"/>
          </p:cNvSpPr>
          <p:nvPr>
            <p:ph type="sldNum" sz="quarter" idx="10"/>
          </p:nvPr>
        </p:nvSpPr>
        <p:spPr/>
        <p:txBody>
          <a:bodyPr/>
          <a:lstStyle/>
          <a:p>
            <a:fld id="{CD2182F6-133C-44A5-9DFE-AD9750CD2FFD}" type="slidenum">
              <a:rPr lang="en-US" smtClean="0"/>
              <a:t>27</a:t>
            </a:fld>
            <a:endParaRPr lang="en-US"/>
          </a:p>
        </p:txBody>
      </p:sp>
    </p:spTree>
    <p:extLst>
      <p:ext uri="{BB962C8B-B14F-4D97-AF65-F5344CB8AC3E}">
        <p14:creationId xmlns:p14="http://schemas.microsoft.com/office/powerpoint/2010/main" val="12144945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a:p>
            <a:r>
              <a:rPr lang="en-US" dirty="0"/>
              <a:t>True – but in our part of the world</a:t>
            </a:r>
            <a:r>
              <a:rPr lang="en-US" baseline="0" dirty="0"/>
              <a:t> we need to make sure that requirements are documented and verified as that can save a lot of time and  face with the project owner/client. </a:t>
            </a:r>
            <a:endParaRPr lang="en-US" dirty="0"/>
          </a:p>
        </p:txBody>
      </p:sp>
      <p:sp>
        <p:nvSpPr>
          <p:cNvPr id="4" name="Slide Number Placeholder 3"/>
          <p:cNvSpPr>
            <a:spLocks noGrp="1"/>
          </p:cNvSpPr>
          <p:nvPr>
            <p:ph type="sldNum" sz="quarter" idx="10"/>
          </p:nvPr>
        </p:nvSpPr>
        <p:spPr/>
        <p:txBody>
          <a:bodyPr/>
          <a:lstStyle/>
          <a:p>
            <a:fld id="{CD2182F6-133C-44A5-9DFE-AD9750CD2FFD}" type="slidenum">
              <a:rPr lang="en-US" smtClean="0"/>
              <a:t>28</a:t>
            </a:fld>
            <a:endParaRPr lang="en-US"/>
          </a:p>
        </p:txBody>
      </p:sp>
    </p:spTree>
    <p:extLst>
      <p:ext uri="{BB962C8B-B14F-4D97-AF65-F5344CB8AC3E}">
        <p14:creationId xmlns:p14="http://schemas.microsoft.com/office/powerpoint/2010/main" val="5689176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a:p>
            <a:r>
              <a:rPr lang="en-US" dirty="0"/>
              <a:t>Jo </a:t>
            </a:r>
            <a:r>
              <a:rPr lang="en-US" dirty="0" err="1"/>
              <a:t>Aagya</a:t>
            </a:r>
            <a:r>
              <a:rPr lang="en-US" dirty="0"/>
              <a:t> - </a:t>
            </a:r>
            <a:r>
              <a:rPr lang="en-US" dirty="0" err="1"/>
              <a:t>Andyo</a:t>
            </a:r>
            <a:endParaRPr lang="en-US" dirty="0"/>
          </a:p>
        </p:txBody>
      </p:sp>
      <p:sp>
        <p:nvSpPr>
          <p:cNvPr id="4" name="Slide Number Placeholder 3"/>
          <p:cNvSpPr>
            <a:spLocks noGrp="1"/>
          </p:cNvSpPr>
          <p:nvPr>
            <p:ph type="sldNum" sz="quarter" idx="10"/>
          </p:nvPr>
        </p:nvSpPr>
        <p:spPr/>
        <p:txBody>
          <a:bodyPr/>
          <a:lstStyle/>
          <a:p>
            <a:fld id="{CD2182F6-133C-44A5-9DFE-AD9750CD2FFD}" type="slidenum">
              <a:rPr lang="en-US" smtClean="0"/>
              <a:t>29</a:t>
            </a:fld>
            <a:endParaRPr lang="en-US"/>
          </a:p>
        </p:txBody>
      </p:sp>
    </p:spTree>
    <p:extLst>
      <p:ext uri="{BB962C8B-B14F-4D97-AF65-F5344CB8AC3E}">
        <p14:creationId xmlns:p14="http://schemas.microsoft.com/office/powerpoint/2010/main" val="26125565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a:p>
            <a:r>
              <a:rPr lang="en-US" dirty="0"/>
              <a:t>Discuss</a:t>
            </a:r>
            <a:r>
              <a:rPr lang="en-US" baseline="0" dirty="0"/>
              <a:t> and Plan with development team. </a:t>
            </a:r>
            <a:endParaRPr lang="en-US" dirty="0"/>
          </a:p>
        </p:txBody>
      </p:sp>
      <p:sp>
        <p:nvSpPr>
          <p:cNvPr id="4" name="Slide Number Placeholder 3"/>
          <p:cNvSpPr>
            <a:spLocks noGrp="1"/>
          </p:cNvSpPr>
          <p:nvPr>
            <p:ph type="sldNum" sz="quarter" idx="10"/>
          </p:nvPr>
        </p:nvSpPr>
        <p:spPr/>
        <p:txBody>
          <a:bodyPr/>
          <a:lstStyle/>
          <a:p>
            <a:fld id="{CD2182F6-133C-44A5-9DFE-AD9750CD2FFD}" type="slidenum">
              <a:rPr lang="en-US" smtClean="0"/>
              <a:t>30</a:t>
            </a:fld>
            <a:endParaRPr lang="en-US"/>
          </a:p>
        </p:txBody>
      </p:sp>
    </p:spTree>
    <p:extLst>
      <p:ext uri="{BB962C8B-B14F-4D97-AF65-F5344CB8AC3E}">
        <p14:creationId xmlns:p14="http://schemas.microsoft.com/office/powerpoint/2010/main" val="13553562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a:p>
            <a:r>
              <a:rPr lang="en-US" dirty="0"/>
              <a:t>Discuss</a:t>
            </a:r>
            <a:r>
              <a:rPr lang="en-US" baseline="0" dirty="0"/>
              <a:t> and Plan with development team. </a:t>
            </a:r>
            <a:endParaRPr lang="en-US" dirty="0"/>
          </a:p>
        </p:txBody>
      </p:sp>
      <p:sp>
        <p:nvSpPr>
          <p:cNvPr id="4" name="Slide Number Placeholder 3"/>
          <p:cNvSpPr>
            <a:spLocks noGrp="1"/>
          </p:cNvSpPr>
          <p:nvPr>
            <p:ph type="sldNum" sz="quarter" idx="10"/>
          </p:nvPr>
        </p:nvSpPr>
        <p:spPr/>
        <p:txBody>
          <a:bodyPr/>
          <a:lstStyle/>
          <a:p>
            <a:fld id="{CD2182F6-133C-44A5-9DFE-AD9750CD2FFD}" type="slidenum">
              <a:rPr lang="en-US" smtClean="0"/>
              <a:t>31</a:t>
            </a:fld>
            <a:endParaRPr lang="en-US"/>
          </a:p>
        </p:txBody>
      </p:sp>
    </p:spTree>
    <p:extLst>
      <p:ext uri="{BB962C8B-B14F-4D97-AF65-F5344CB8AC3E}">
        <p14:creationId xmlns:p14="http://schemas.microsoft.com/office/powerpoint/2010/main" val="170492702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a:p>
            <a:endParaRPr lang="en-US" dirty="0"/>
          </a:p>
        </p:txBody>
      </p:sp>
      <p:sp>
        <p:nvSpPr>
          <p:cNvPr id="4" name="Slide Number Placeholder 3"/>
          <p:cNvSpPr>
            <a:spLocks noGrp="1"/>
          </p:cNvSpPr>
          <p:nvPr>
            <p:ph type="sldNum" sz="quarter" idx="10"/>
          </p:nvPr>
        </p:nvSpPr>
        <p:spPr/>
        <p:txBody>
          <a:bodyPr/>
          <a:lstStyle/>
          <a:p>
            <a:fld id="{CD2182F6-133C-44A5-9DFE-AD9750CD2FFD}" type="slidenum">
              <a:rPr lang="en-US" smtClean="0"/>
              <a:t>32</a:t>
            </a:fld>
            <a:endParaRPr lang="en-US"/>
          </a:p>
        </p:txBody>
      </p:sp>
    </p:spTree>
    <p:extLst>
      <p:ext uri="{BB962C8B-B14F-4D97-AF65-F5344CB8AC3E}">
        <p14:creationId xmlns:p14="http://schemas.microsoft.com/office/powerpoint/2010/main" val="3660559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a:p>
            <a:endParaRPr lang="en-US" dirty="0"/>
          </a:p>
        </p:txBody>
      </p:sp>
      <p:sp>
        <p:nvSpPr>
          <p:cNvPr id="4" name="Slide Number Placeholder 3"/>
          <p:cNvSpPr>
            <a:spLocks noGrp="1"/>
          </p:cNvSpPr>
          <p:nvPr>
            <p:ph type="sldNum" sz="quarter" idx="10"/>
          </p:nvPr>
        </p:nvSpPr>
        <p:spPr/>
        <p:txBody>
          <a:bodyPr/>
          <a:lstStyle/>
          <a:p>
            <a:fld id="{CD2182F6-133C-44A5-9DFE-AD9750CD2FFD}" type="slidenum">
              <a:rPr lang="en-US" smtClean="0"/>
              <a:t>33</a:t>
            </a:fld>
            <a:endParaRPr lang="en-US"/>
          </a:p>
        </p:txBody>
      </p:sp>
    </p:spTree>
    <p:extLst>
      <p:ext uri="{BB962C8B-B14F-4D97-AF65-F5344CB8AC3E}">
        <p14:creationId xmlns:p14="http://schemas.microsoft.com/office/powerpoint/2010/main" val="27029869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D2182F6-133C-44A5-9DFE-AD9750CD2FFD}" type="slidenum">
              <a:rPr lang="en-US" smtClean="0"/>
              <a:t>34</a:t>
            </a:fld>
            <a:endParaRPr lang="en-US"/>
          </a:p>
        </p:txBody>
      </p:sp>
    </p:spTree>
    <p:extLst>
      <p:ext uri="{BB962C8B-B14F-4D97-AF65-F5344CB8AC3E}">
        <p14:creationId xmlns:p14="http://schemas.microsoft.com/office/powerpoint/2010/main" val="33317575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DAC039F-8017-45B3-91BE-068E7C86BF91}"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50267A-1D4D-45CB-A000-75B79C5B3563}" type="slidenum">
              <a:rPr lang="en-US" smtClean="0"/>
              <a:t>‹#›</a:t>
            </a:fld>
            <a:endParaRPr lang="en-US"/>
          </a:p>
        </p:txBody>
      </p:sp>
    </p:spTree>
    <p:extLst>
      <p:ext uri="{BB962C8B-B14F-4D97-AF65-F5344CB8AC3E}">
        <p14:creationId xmlns:p14="http://schemas.microsoft.com/office/powerpoint/2010/main" val="13514798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DAC039F-8017-45B3-91BE-068E7C86BF91}"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50267A-1D4D-45CB-A000-75B79C5B3563}" type="slidenum">
              <a:rPr lang="en-US" smtClean="0"/>
              <a:t>‹#›</a:t>
            </a:fld>
            <a:endParaRPr lang="en-US"/>
          </a:p>
        </p:txBody>
      </p:sp>
    </p:spTree>
    <p:extLst>
      <p:ext uri="{BB962C8B-B14F-4D97-AF65-F5344CB8AC3E}">
        <p14:creationId xmlns:p14="http://schemas.microsoft.com/office/powerpoint/2010/main" val="2669762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DAC039F-8017-45B3-91BE-068E7C86BF91}"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50267A-1D4D-45CB-A000-75B79C5B3563}" type="slidenum">
              <a:rPr lang="en-US" smtClean="0"/>
              <a:t>‹#›</a:t>
            </a:fld>
            <a:endParaRPr lang="en-US"/>
          </a:p>
        </p:txBody>
      </p:sp>
    </p:spTree>
    <p:extLst>
      <p:ext uri="{BB962C8B-B14F-4D97-AF65-F5344CB8AC3E}">
        <p14:creationId xmlns:p14="http://schemas.microsoft.com/office/powerpoint/2010/main" val="11928220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DAC039F-8017-45B3-91BE-068E7C86BF91}" type="datetimeFigureOut">
              <a:rPr lang="en-US" smtClean="0"/>
              <a:t>10/17/2025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50267A-1D4D-45CB-A000-75B79C5B3563}" type="slidenum">
              <a:rPr lang="en-US" smtClean="0"/>
              <a:t>‹#›</a:t>
            </a:fld>
            <a:endParaRPr lang="en-US"/>
          </a:p>
        </p:txBody>
      </p:sp>
    </p:spTree>
    <p:extLst>
      <p:ext uri="{BB962C8B-B14F-4D97-AF65-F5344CB8AC3E}">
        <p14:creationId xmlns:p14="http://schemas.microsoft.com/office/powerpoint/2010/main" val="8408692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DAC039F-8017-45B3-91BE-068E7C86BF91}" type="datetimeFigureOut">
              <a:rPr lang="en-US" smtClean="0"/>
              <a:t>10/17/2025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750267A-1D4D-45CB-A000-75B79C5B3563}" type="slidenum">
              <a:rPr lang="en-US" smtClean="0"/>
              <a:t>‹#›</a:t>
            </a:fld>
            <a:endParaRPr lang="en-US"/>
          </a:p>
        </p:txBody>
      </p:sp>
    </p:spTree>
    <p:extLst>
      <p:ext uri="{BB962C8B-B14F-4D97-AF65-F5344CB8AC3E}">
        <p14:creationId xmlns:p14="http://schemas.microsoft.com/office/powerpoint/2010/main" val="37642795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DAC039F-8017-45B3-91BE-068E7C86BF91}" type="datetimeFigureOut">
              <a:rPr lang="en-US" smtClean="0"/>
              <a:t>10/17/2025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750267A-1D4D-45CB-A000-75B79C5B3563}" type="slidenum">
              <a:rPr lang="en-US" smtClean="0"/>
              <a:t>‹#›</a:t>
            </a:fld>
            <a:endParaRPr lang="en-US"/>
          </a:p>
        </p:txBody>
      </p:sp>
    </p:spTree>
    <p:extLst>
      <p:ext uri="{BB962C8B-B14F-4D97-AF65-F5344CB8AC3E}">
        <p14:creationId xmlns:p14="http://schemas.microsoft.com/office/powerpoint/2010/main" val="14146861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AC039F-8017-45B3-91BE-068E7C86BF91}" type="datetimeFigureOut">
              <a:rPr lang="en-US" smtClean="0"/>
              <a:t>10/17/2025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750267A-1D4D-45CB-A000-75B79C5B3563}" type="slidenum">
              <a:rPr lang="en-US" smtClean="0"/>
              <a:t>‹#›</a:t>
            </a:fld>
            <a:endParaRPr lang="en-US"/>
          </a:p>
        </p:txBody>
      </p:sp>
    </p:spTree>
    <p:extLst>
      <p:ext uri="{BB962C8B-B14F-4D97-AF65-F5344CB8AC3E}">
        <p14:creationId xmlns:p14="http://schemas.microsoft.com/office/powerpoint/2010/main" val="2986840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DAC039F-8017-45B3-91BE-068E7C86BF91}" type="datetimeFigureOut">
              <a:rPr lang="en-US" smtClean="0"/>
              <a:t>10/17/2025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50267A-1D4D-45CB-A000-75B79C5B3563}" type="slidenum">
              <a:rPr lang="en-US" smtClean="0"/>
              <a:t>‹#›</a:t>
            </a:fld>
            <a:endParaRPr lang="en-US"/>
          </a:p>
        </p:txBody>
      </p:sp>
    </p:spTree>
    <p:extLst>
      <p:ext uri="{BB962C8B-B14F-4D97-AF65-F5344CB8AC3E}">
        <p14:creationId xmlns:p14="http://schemas.microsoft.com/office/powerpoint/2010/main" val="42578829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FDAC039F-8017-45B3-91BE-068E7C86BF91}" type="datetimeFigureOut">
              <a:rPr lang="en-US" smtClean="0"/>
              <a:t>10/17/2025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50267A-1D4D-45CB-A000-75B79C5B3563}" type="slidenum">
              <a:rPr lang="en-US" smtClean="0"/>
              <a:t>‹#›</a:t>
            </a:fld>
            <a:endParaRPr lang="en-US"/>
          </a:p>
        </p:txBody>
      </p:sp>
    </p:spTree>
    <p:extLst>
      <p:ext uri="{BB962C8B-B14F-4D97-AF65-F5344CB8AC3E}">
        <p14:creationId xmlns:p14="http://schemas.microsoft.com/office/powerpoint/2010/main" val="31681941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DAC039F-8017-45B3-91BE-068E7C86BF91}"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50267A-1D4D-45CB-A000-75B79C5B3563}" type="slidenum">
              <a:rPr lang="en-US" smtClean="0"/>
              <a:t>‹#›</a:t>
            </a:fld>
            <a:endParaRPr lang="en-US"/>
          </a:p>
        </p:txBody>
      </p:sp>
    </p:spTree>
    <p:extLst>
      <p:ext uri="{BB962C8B-B14F-4D97-AF65-F5344CB8AC3E}">
        <p14:creationId xmlns:p14="http://schemas.microsoft.com/office/powerpoint/2010/main" val="25376559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DAC039F-8017-45B3-91BE-068E7C86BF91}" type="datetimeFigureOut">
              <a:rPr lang="en-US" smtClean="0"/>
              <a:t>10/17/2025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50267A-1D4D-45CB-A000-75B79C5B3563}" type="slidenum">
              <a:rPr lang="en-US" smtClean="0"/>
              <a:t>‹#›</a:t>
            </a:fld>
            <a:endParaRPr lang="en-US"/>
          </a:p>
        </p:txBody>
      </p:sp>
    </p:spTree>
    <p:extLst>
      <p:ext uri="{BB962C8B-B14F-4D97-AF65-F5344CB8AC3E}">
        <p14:creationId xmlns:p14="http://schemas.microsoft.com/office/powerpoint/2010/main" val="26587049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26"/>
        <p:cNvGrpSpPr/>
        <p:nvPr/>
      </p:nvGrpSpPr>
      <p:grpSpPr>
        <a:xfrm>
          <a:off x="0" y="0"/>
          <a:ext cx="0" cy="0"/>
          <a:chOff x="0" y="0"/>
          <a:chExt cx="0" cy="0"/>
        </a:xfrm>
      </p:grpSpPr>
      <p:sp>
        <p:nvSpPr>
          <p:cNvPr id="27" name="Shape 27"/>
          <p:cNvSpPr/>
          <p:nvPr/>
        </p:nvSpPr>
        <p:spPr>
          <a:xfrm>
            <a:off x="-100" y="6727600"/>
            <a:ext cx="12192000" cy="130400"/>
          </a:xfrm>
          <a:prstGeom prst="rect">
            <a:avLst/>
          </a:prstGeom>
          <a:solidFill>
            <a:schemeClr val="accent3"/>
          </a:solidFill>
          <a:ln>
            <a:noFill/>
          </a:ln>
        </p:spPr>
        <p:txBody>
          <a:bodyPr spcFirstLastPara="1" wrap="square" lIns="121900" tIns="121900" rIns="121900" bIns="121900" anchor="ctr" anchorCtr="0">
            <a:noAutofit/>
          </a:bodyPr>
          <a:lstStyle/>
          <a:p>
            <a:pPr marL="0" lvl="0" indent="0">
              <a:spcBef>
                <a:spcPts val="0"/>
              </a:spcBef>
              <a:spcAft>
                <a:spcPts val="0"/>
              </a:spcAft>
              <a:buNone/>
            </a:pPr>
            <a:endParaRPr sz="2400"/>
          </a:p>
        </p:txBody>
      </p:sp>
      <p:sp>
        <p:nvSpPr>
          <p:cNvPr id="28" name="Shape 28"/>
          <p:cNvSpPr txBox="1">
            <a:spLocks noGrp="1"/>
          </p:cNvSpPr>
          <p:nvPr>
            <p:ph type="title"/>
          </p:nvPr>
        </p:nvSpPr>
        <p:spPr>
          <a:xfrm>
            <a:off x="415600" y="593367"/>
            <a:ext cx="11360800" cy="943200"/>
          </a:xfrm>
          <a:prstGeom prst="rect">
            <a:avLst/>
          </a:prstGeom>
        </p:spPr>
        <p:txBody>
          <a:bodyPr spcFirstLastPara="1" wrap="square" lIns="91425" tIns="91425" rIns="91425" bIns="91425" anchor="t" anchorCtr="0"/>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29" name="Shape 29"/>
          <p:cNvSpPr txBox="1">
            <a:spLocks noGrp="1"/>
          </p:cNvSpPr>
          <p:nvPr>
            <p:ph type="body" idx="1"/>
          </p:nvPr>
        </p:nvSpPr>
        <p:spPr>
          <a:xfrm>
            <a:off x="415600" y="1688433"/>
            <a:ext cx="11360800" cy="4403600"/>
          </a:xfrm>
          <a:prstGeom prst="rect">
            <a:avLst/>
          </a:prstGeom>
        </p:spPr>
        <p:txBody>
          <a:bodyPr spcFirstLastPara="1" wrap="square" lIns="91425" tIns="91425" rIns="91425" bIns="91425" anchor="t" anchorCtr="0"/>
          <a:lstStyle>
            <a:lvl1pPr marL="609585" lvl="0" indent="-457189">
              <a:spcBef>
                <a:spcPts val="0"/>
              </a:spcBef>
              <a:spcAft>
                <a:spcPts val="0"/>
              </a:spcAft>
              <a:buSzPts val="1800"/>
              <a:buChar char="●"/>
              <a:defRPr/>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30" name="Shape 30"/>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p>
            <a:fld id="{00000000-1234-1234-1234-123412341234}" type="slidenum">
              <a:rPr lang="en" smtClean="0"/>
              <a:pPr/>
              <a:t>‹#›</a:t>
            </a:fld>
            <a:endParaRPr lang="en"/>
          </a:p>
        </p:txBody>
      </p:sp>
      <p:pic>
        <p:nvPicPr>
          <p:cNvPr id="31" name="Shape 31" descr="logo.png"/>
          <p:cNvPicPr preferRelativeResize="0"/>
          <p:nvPr/>
        </p:nvPicPr>
        <p:blipFill>
          <a:blip r:embed="rId2">
            <a:alphaModFix amt="50000"/>
          </a:blip>
          <a:stretch>
            <a:fillRect/>
          </a:stretch>
        </p:blipFill>
        <p:spPr>
          <a:xfrm>
            <a:off x="101600" y="6092034"/>
            <a:ext cx="1315448" cy="664367"/>
          </a:xfrm>
          <a:prstGeom prst="rect">
            <a:avLst/>
          </a:prstGeom>
          <a:noFill/>
          <a:ln>
            <a:noFill/>
          </a:ln>
        </p:spPr>
      </p:pic>
    </p:spTree>
    <p:extLst>
      <p:ext uri="{BB962C8B-B14F-4D97-AF65-F5344CB8AC3E}">
        <p14:creationId xmlns:p14="http://schemas.microsoft.com/office/powerpoint/2010/main" val="30952771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AC039F-8017-45B3-91BE-068E7C86BF91}" type="datetimeFigureOut">
              <a:rPr lang="en-US" smtClean="0"/>
              <a:t>10/17/2025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50267A-1D4D-45CB-A000-75B79C5B3563}" type="slidenum">
              <a:rPr lang="en-US" smtClean="0"/>
              <a:t>‹#›</a:t>
            </a:fld>
            <a:endParaRPr lang="en-US"/>
          </a:p>
        </p:txBody>
      </p:sp>
    </p:spTree>
    <p:extLst>
      <p:ext uri="{BB962C8B-B14F-4D97-AF65-F5344CB8AC3E}">
        <p14:creationId xmlns:p14="http://schemas.microsoft.com/office/powerpoint/2010/main" val="35738950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7.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7.png"/><Relationship Id="rId7"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7.png"/><Relationship Id="rId7"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7.png"/><Relationship Id="rId7"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png"/></Relationships>
</file>

<file path=ppt/slides/_rels/slide26.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7.png"/><Relationship Id="rId7"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png"/></Relationships>
</file>

<file path=ppt/slides/_rels/slide27.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7.png"/><Relationship Id="rId7"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png"/></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9.png"/><Relationship Id="rId4" Type="http://schemas.openxmlformats.org/officeDocument/2006/relationships/image" Target="../media/image8.png"/></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9.png"/><Relationship Id="rId4" Type="http://schemas.openxmlformats.org/officeDocument/2006/relationships/image" Target="../media/image8.png"/></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9.png"/><Relationship Id="rId4" Type="http://schemas.openxmlformats.org/officeDocument/2006/relationships/image" Target="../media/image8.png"/></Relationships>
</file>

<file path=ppt/slides/_rels/slide3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7.png"/><Relationship Id="rId7"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png"/></Relationships>
</file>

<file path=ppt/slides/_rels/slide3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7.png"/><Relationship Id="rId7"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2.jpeg"/><Relationship Id="rId5" Type="http://schemas.openxmlformats.org/officeDocument/2006/relationships/image" Target="../media/image11.png"/><Relationship Id="rId4" Type="http://schemas.openxmlformats.org/officeDocument/2006/relationships/image" Target="../media/image10.png"/></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9.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Agile and Requirement </a:t>
            </a:r>
            <a:r>
              <a:rPr lang="en-US" dirty="0"/>
              <a:t>Engineering in Agile</a:t>
            </a:r>
          </a:p>
        </p:txBody>
      </p:sp>
      <p:sp>
        <p:nvSpPr>
          <p:cNvPr id="3" name="Subtitle 2"/>
          <p:cNvSpPr>
            <a:spLocks noGrp="1"/>
          </p:cNvSpPr>
          <p:nvPr>
            <p:ph type="subTitle" idx="1"/>
          </p:nvPr>
        </p:nvSpPr>
        <p:spPr/>
        <p:txBody>
          <a:bodyPr/>
          <a:lstStyle/>
          <a:p>
            <a:r>
              <a:rPr lang="en-US" dirty="0"/>
              <a:t>Week 3</a:t>
            </a:r>
          </a:p>
          <a:p>
            <a:r>
              <a:rPr lang="en-US"/>
              <a:t>Dr. </a:t>
            </a:r>
            <a:r>
              <a:rPr lang="en-US" dirty="0"/>
              <a:t>Natash Ali Mian</a:t>
            </a:r>
          </a:p>
        </p:txBody>
      </p:sp>
    </p:spTree>
    <p:extLst>
      <p:ext uri="{BB962C8B-B14F-4D97-AF65-F5344CB8AC3E}">
        <p14:creationId xmlns:p14="http://schemas.microsoft.com/office/powerpoint/2010/main" val="16342274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Agile Umbrella</a:t>
            </a:r>
          </a:p>
        </p:txBody>
      </p:sp>
      <p:pic>
        <p:nvPicPr>
          <p:cNvPr id="8" name="Content Placeholder 7"/>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150519" y="1324765"/>
            <a:ext cx="4977304" cy="4694312"/>
          </a:xfrm>
        </p:spPr>
      </p:pic>
      <p:sp>
        <p:nvSpPr>
          <p:cNvPr id="9" name="TextBox 8"/>
          <p:cNvSpPr txBox="1"/>
          <p:nvPr/>
        </p:nvSpPr>
        <p:spPr>
          <a:xfrm>
            <a:off x="5213445" y="2784143"/>
            <a:ext cx="1201003" cy="461665"/>
          </a:xfrm>
          <a:prstGeom prst="rect">
            <a:avLst/>
          </a:prstGeom>
          <a:noFill/>
        </p:spPr>
        <p:txBody>
          <a:bodyPr wrap="square" rtlCol="0">
            <a:spAutoFit/>
          </a:bodyPr>
          <a:lstStyle/>
          <a:p>
            <a:r>
              <a:rPr lang="en-US" sz="2400" b="1" dirty="0">
                <a:solidFill>
                  <a:schemeClr val="bg1">
                    <a:lumMod val="95000"/>
                  </a:schemeClr>
                </a:solidFill>
              </a:rPr>
              <a:t>Agile</a:t>
            </a:r>
          </a:p>
        </p:txBody>
      </p:sp>
      <p:sp>
        <p:nvSpPr>
          <p:cNvPr id="10" name="TextBox 9"/>
          <p:cNvSpPr txBox="1"/>
          <p:nvPr/>
        </p:nvSpPr>
        <p:spPr>
          <a:xfrm>
            <a:off x="3669147" y="3662286"/>
            <a:ext cx="782587" cy="369332"/>
          </a:xfrm>
          <a:prstGeom prst="rect">
            <a:avLst/>
          </a:prstGeom>
          <a:noFill/>
        </p:spPr>
        <p:txBody>
          <a:bodyPr wrap="none" rtlCol="0">
            <a:spAutoFit/>
          </a:bodyPr>
          <a:lstStyle/>
          <a:p>
            <a:r>
              <a:rPr lang="en-US" b="1" dirty="0"/>
              <a:t>Scrum</a:t>
            </a:r>
          </a:p>
        </p:txBody>
      </p:sp>
      <p:sp>
        <p:nvSpPr>
          <p:cNvPr id="11" name="TextBox 10"/>
          <p:cNvSpPr txBox="1"/>
          <p:nvPr/>
        </p:nvSpPr>
        <p:spPr>
          <a:xfrm>
            <a:off x="6179010" y="4014492"/>
            <a:ext cx="434734" cy="369332"/>
          </a:xfrm>
          <a:prstGeom prst="rect">
            <a:avLst/>
          </a:prstGeom>
          <a:noFill/>
        </p:spPr>
        <p:txBody>
          <a:bodyPr wrap="none" rtlCol="0">
            <a:spAutoFit/>
          </a:bodyPr>
          <a:lstStyle/>
          <a:p>
            <a:r>
              <a:rPr lang="en-US" b="1" dirty="0"/>
              <a:t>XP</a:t>
            </a:r>
          </a:p>
        </p:txBody>
      </p:sp>
      <p:sp>
        <p:nvSpPr>
          <p:cNvPr id="12" name="TextBox 11"/>
          <p:cNvSpPr txBox="1"/>
          <p:nvPr/>
        </p:nvSpPr>
        <p:spPr>
          <a:xfrm>
            <a:off x="2503559" y="4031618"/>
            <a:ext cx="906274" cy="369332"/>
          </a:xfrm>
          <a:prstGeom prst="rect">
            <a:avLst/>
          </a:prstGeom>
          <a:noFill/>
        </p:spPr>
        <p:txBody>
          <a:bodyPr wrap="none" rtlCol="0">
            <a:spAutoFit/>
          </a:bodyPr>
          <a:lstStyle/>
          <a:p>
            <a:r>
              <a:rPr lang="en-US" b="1" dirty="0"/>
              <a:t>Kanban</a:t>
            </a:r>
          </a:p>
        </p:txBody>
      </p:sp>
      <p:sp>
        <p:nvSpPr>
          <p:cNvPr id="13" name="TextBox 12"/>
          <p:cNvSpPr txBox="1"/>
          <p:nvPr/>
        </p:nvSpPr>
        <p:spPr>
          <a:xfrm>
            <a:off x="3489415" y="4734931"/>
            <a:ext cx="582211" cy="369332"/>
          </a:xfrm>
          <a:prstGeom prst="rect">
            <a:avLst/>
          </a:prstGeom>
          <a:noFill/>
        </p:spPr>
        <p:txBody>
          <a:bodyPr wrap="none" rtlCol="0">
            <a:spAutoFit/>
          </a:bodyPr>
          <a:lstStyle/>
          <a:p>
            <a:r>
              <a:rPr lang="en-US" b="1" dirty="0"/>
              <a:t>FDD</a:t>
            </a:r>
          </a:p>
        </p:txBody>
      </p:sp>
      <p:sp>
        <p:nvSpPr>
          <p:cNvPr id="14" name="TextBox 13"/>
          <p:cNvSpPr txBox="1"/>
          <p:nvPr/>
        </p:nvSpPr>
        <p:spPr>
          <a:xfrm>
            <a:off x="6798497" y="4428768"/>
            <a:ext cx="1729512" cy="369332"/>
          </a:xfrm>
          <a:prstGeom prst="rect">
            <a:avLst/>
          </a:prstGeom>
          <a:noFill/>
        </p:spPr>
        <p:txBody>
          <a:bodyPr wrap="none" rtlCol="0">
            <a:spAutoFit/>
          </a:bodyPr>
          <a:lstStyle/>
          <a:p>
            <a:r>
              <a:rPr lang="en-US" b="1" dirty="0"/>
              <a:t>Crystal methods</a:t>
            </a:r>
          </a:p>
        </p:txBody>
      </p:sp>
      <p:sp>
        <p:nvSpPr>
          <p:cNvPr id="15" name="TextBox 14"/>
          <p:cNvSpPr txBox="1"/>
          <p:nvPr/>
        </p:nvSpPr>
        <p:spPr>
          <a:xfrm>
            <a:off x="3409833" y="5465079"/>
            <a:ext cx="1143262" cy="369332"/>
          </a:xfrm>
          <a:prstGeom prst="rect">
            <a:avLst/>
          </a:prstGeom>
          <a:noFill/>
        </p:spPr>
        <p:txBody>
          <a:bodyPr wrap="none" rtlCol="0">
            <a:spAutoFit/>
          </a:bodyPr>
          <a:lstStyle/>
          <a:p>
            <a:r>
              <a:rPr lang="en-US" b="1" dirty="0" err="1"/>
              <a:t>Scrumban</a:t>
            </a:r>
            <a:endParaRPr lang="en-US" b="1" dirty="0"/>
          </a:p>
        </p:txBody>
      </p:sp>
      <p:sp>
        <p:nvSpPr>
          <p:cNvPr id="16" name="TextBox 15"/>
          <p:cNvSpPr txBox="1"/>
          <p:nvPr/>
        </p:nvSpPr>
        <p:spPr>
          <a:xfrm>
            <a:off x="7061774" y="5072448"/>
            <a:ext cx="787395" cy="369332"/>
          </a:xfrm>
          <a:prstGeom prst="rect">
            <a:avLst/>
          </a:prstGeom>
          <a:noFill/>
        </p:spPr>
        <p:txBody>
          <a:bodyPr wrap="none" rtlCol="0">
            <a:spAutoFit/>
          </a:bodyPr>
          <a:lstStyle/>
          <a:p>
            <a:r>
              <a:rPr lang="en-US" b="1" dirty="0"/>
              <a:t>DSDM</a:t>
            </a:r>
          </a:p>
        </p:txBody>
      </p:sp>
      <p:sp>
        <p:nvSpPr>
          <p:cNvPr id="17" name="TextBox 16"/>
          <p:cNvSpPr txBox="1"/>
          <p:nvPr/>
        </p:nvSpPr>
        <p:spPr>
          <a:xfrm>
            <a:off x="5848249" y="5143100"/>
            <a:ext cx="934871" cy="369332"/>
          </a:xfrm>
          <a:prstGeom prst="rect">
            <a:avLst/>
          </a:prstGeom>
          <a:noFill/>
        </p:spPr>
        <p:txBody>
          <a:bodyPr wrap="none" rtlCol="0">
            <a:spAutoFit/>
          </a:bodyPr>
          <a:lstStyle/>
          <a:p>
            <a:r>
              <a:rPr lang="en-US" b="1" dirty="0" err="1"/>
              <a:t>AgileUP</a:t>
            </a:r>
            <a:endParaRPr lang="en-US" b="1" dirty="0"/>
          </a:p>
        </p:txBody>
      </p:sp>
      <p:sp>
        <p:nvSpPr>
          <p:cNvPr id="19" name="TextBox 18"/>
          <p:cNvSpPr txBox="1"/>
          <p:nvPr/>
        </p:nvSpPr>
        <p:spPr>
          <a:xfrm>
            <a:off x="3929735" y="4170627"/>
            <a:ext cx="2040751" cy="369332"/>
          </a:xfrm>
          <a:prstGeom prst="rect">
            <a:avLst/>
          </a:prstGeom>
          <a:noFill/>
        </p:spPr>
        <p:txBody>
          <a:bodyPr wrap="none" rtlCol="0">
            <a:spAutoFit/>
          </a:bodyPr>
          <a:lstStyle/>
          <a:p>
            <a:r>
              <a:rPr lang="en-US" b="1" dirty="0"/>
              <a:t>Scaling frameworks</a:t>
            </a:r>
          </a:p>
        </p:txBody>
      </p:sp>
    </p:spTree>
    <p:extLst>
      <p:ext uri="{BB962C8B-B14F-4D97-AF65-F5344CB8AC3E}">
        <p14:creationId xmlns:p14="http://schemas.microsoft.com/office/powerpoint/2010/main" val="1980333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1"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0-#ppt_h/2"/>
                                          </p:val>
                                        </p:tav>
                                        <p:tav tm="100000">
                                          <p:val>
                                            <p:strVal val="#ppt_y"/>
                                          </p:val>
                                        </p:tav>
                                      </p:tavLst>
                                    </p:anim>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iterate type="lt">
                                    <p:tmAbs val="0"/>
                                  </p:iterate>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iterate type="lt">
                                    <p:tmAbs val="0"/>
                                  </p:iterate>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iterate type="lt">
                                    <p:tmAbs val="0"/>
                                  </p:iterate>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6" presetClass="emph" presetSubtype="0" fill="hold" grpId="1" nodeType="clickEffect">
                                  <p:stCondLst>
                                    <p:cond delay="0"/>
                                  </p:stCondLst>
                                  <p:iterate type="lt">
                                    <p:tmPct val="4000"/>
                                  </p:iterate>
                                  <p:childTnLst>
                                    <p:set>
                                      <p:cBhvr override="childStyle">
                                        <p:cTn id="54" dur="500" fill="hold"/>
                                        <p:tgtEl>
                                          <p:spTgt spid="10"/>
                                        </p:tgtEl>
                                        <p:attrNameLst>
                                          <p:attrName>style.color</p:attrName>
                                        </p:attrNameLst>
                                      </p:cBhvr>
                                      <p:to>
                                        <p:clrVal>
                                          <a:srgbClr val="D60F00"/>
                                        </p:clrVal>
                                      </p:to>
                                    </p:set>
                                    <p:set>
                                      <p:cBhvr>
                                        <p:cTn id="55" dur="500" fill="hold"/>
                                        <p:tgtEl>
                                          <p:spTgt spid="10"/>
                                        </p:tgtEl>
                                        <p:attrNameLst>
                                          <p:attrName>fillcolor</p:attrName>
                                        </p:attrNameLst>
                                      </p:cBhvr>
                                      <p:to>
                                        <p:clrVal>
                                          <a:srgbClr val="D60F00"/>
                                        </p:clrVal>
                                      </p:to>
                                    </p:set>
                                    <p:set>
                                      <p:cBhvr>
                                        <p:cTn id="56" dur="500" fill="hold"/>
                                        <p:tgtEl>
                                          <p:spTgt spid="10"/>
                                        </p:tgtEl>
                                        <p:attrNameLst>
                                          <p:attrName>fill.type</p:attrName>
                                        </p:attrNameLst>
                                      </p:cBhvr>
                                      <p:to>
                                        <p:strVal val="solid"/>
                                      </p:to>
                                    </p:set>
                                  </p:childTnLst>
                                </p:cTn>
                              </p:par>
                            </p:childTnLst>
                          </p:cTn>
                        </p:par>
                      </p:childTnLst>
                    </p:cTn>
                  </p:par>
                  <p:par>
                    <p:cTn id="57" fill="hold">
                      <p:stCondLst>
                        <p:cond delay="indefinite"/>
                      </p:stCondLst>
                      <p:childTnLst>
                        <p:par>
                          <p:cTn id="58" fill="hold">
                            <p:stCondLst>
                              <p:cond delay="0"/>
                            </p:stCondLst>
                            <p:childTnLst>
                              <p:par>
                                <p:cTn id="59" presetID="16" presetClass="emph" presetSubtype="0" fill="hold" grpId="1" nodeType="clickEffect">
                                  <p:stCondLst>
                                    <p:cond delay="0"/>
                                  </p:stCondLst>
                                  <p:iterate type="lt">
                                    <p:tmPct val="4000"/>
                                  </p:iterate>
                                  <p:childTnLst>
                                    <p:set>
                                      <p:cBhvr override="childStyle">
                                        <p:cTn id="60" dur="500" fill="hold"/>
                                        <p:tgtEl>
                                          <p:spTgt spid="12"/>
                                        </p:tgtEl>
                                        <p:attrNameLst>
                                          <p:attrName>style.color</p:attrName>
                                        </p:attrNameLst>
                                      </p:cBhvr>
                                      <p:to>
                                        <p:clrVal>
                                          <a:srgbClr val="D60F00"/>
                                        </p:clrVal>
                                      </p:to>
                                    </p:set>
                                    <p:set>
                                      <p:cBhvr>
                                        <p:cTn id="61" dur="500" fill="hold"/>
                                        <p:tgtEl>
                                          <p:spTgt spid="12"/>
                                        </p:tgtEl>
                                        <p:attrNameLst>
                                          <p:attrName>fillcolor</p:attrName>
                                        </p:attrNameLst>
                                      </p:cBhvr>
                                      <p:to>
                                        <p:clrVal>
                                          <a:srgbClr val="D60F00"/>
                                        </p:clrVal>
                                      </p:to>
                                    </p:set>
                                    <p:set>
                                      <p:cBhvr>
                                        <p:cTn id="62" dur="500" fill="hold"/>
                                        <p:tgtEl>
                                          <p:spTgt spid="12"/>
                                        </p:tgtEl>
                                        <p:attrNameLst>
                                          <p:attrName>fill.type</p:attrName>
                                        </p:attrNameLst>
                                      </p:cBhvr>
                                      <p:to>
                                        <p:strVal val="solid"/>
                                      </p:to>
                                    </p:set>
                                  </p:childTnLst>
                                </p:cTn>
                              </p:par>
                            </p:childTnLst>
                          </p:cTn>
                        </p:par>
                      </p:childTnLst>
                    </p:cTn>
                  </p:par>
                  <p:par>
                    <p:cTn id="63" fill="hold">
                      <p:stCondLst>
                        <p:cond delay="indefinite"/>
                      </p:stCondLst>
                      <p:childTnLst>
                        <p:par>
                          <p:cTn id="64" fill="hold">
                            <p:stCondLst>
                              <p:cond delay="0"/>
                            </p:stCondLst>
                            <p:childTnLst>
                              <p:par>
                                <p:cTn id="65" presetID="16" presetClass="emph" presetSubtype="0" fill="hold" grpId="1" nodeType="clickEffect">
                                  <p:stCondLst>
                                    <p:cond delay="0"/>
                                  </p:stCondLst>
                                  <p:iterate type="lt">
                                    <p:tmPct val="4000"/>
                                  </p:iterate>
                                  <p:childTnLst>
                                    <p:set>
                                      <p:cBhvr override="childStyle">
                                        <p:cTn id="66" dur="500" fill="hold"/>
                                        <p:tgtEl>
                                          <p:spTgt spid="11"/>
                                        </p:tgtEl>
                                        <p:attrNameLst>
                                          <p:attrName>style.color</p:attrName>
                                        </p:attrNameLst>
                                      </p:cBhvr>
                                      <p:to>
                                        <p:clrVal>
                                          <a:srgbClr val="D60F00"/>
                                        </p:clrVal>
                                      </p:to>
                                    </p:set>
                                    <p:set>
                                      <p:cBhvr>
                                        <p:cTn id="67" dur="500" fill="hold"/>
                                        <p:tgtEl>
                                          <p:spTgt spid="11"/>
                                        </p:tgtEl>
                                        <p:attrNameLst>
                                          <p:attrName>fillcolor</p:attrName>
                                        </p:attrNameLst>
                                      </p:cBhvr>
                                      <p:to>
                                        <p:clrVal>
                                          <a:srgbClr val="D60F00"/>
                                        </p:clrVal>
                                      </p:to>
                                    </p:set>
                                    <p:set>
                                      <p:cBhvr>
                                        <p:cTn id="68" dur="500" fill="hold"/>
                                        <p:tgtEl>
                                          <p:spTgt spid="11"/>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9" grpId="0"/>
      <p:bldP spid="10" grpId="0"/>
      <p:bldP spid="10" grpId="1"/>
      <p:bldP spid="11" grpId="0"/>
      <p:bldP spid="11" grpId="1"/>
      <p:bldP spid="12" grpId="0"/>
      <p:bldP spid="12" grpId="1"/>
      <p:bldP spid="13" grpId="0"/>
      <p:bldP spid="14" grpId="0"/>
      <p:bldP spid="15" grpId="0"/>
      <p:bldP spid="16" grpId="0"/>
      <p:bldP spid="17" grpId="0"/>
      <p:bldP spid="1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818067" y="1789298"/>
            <a:ext cx="6096000" cy="2862322"/>
          </a:xfrm>
          <a:prstGeom prst="rect">
            <a:avLst/>
          </a:prstGeom>
        </p:spPr>
        <p:txBody>
          <a:bodyPr>
            <a:spAutoFit/>
          </a:bodyPr>
          <a:lstStyle/>
          <a:p>
            <a:r>
              <a:rPr lang="en-US" b="1" dirty="0"/>
              <a:t>Agile methodology not suitable</a:t>
            </a:r>
          </a:p>
          <a:p>
            <a:pPr lvl="1"/>
            <a:r>
              <a:rPr lang="en-US" dirty="0"/>
              <a:t>High certainty projects</a:t>
            </a:r>
          </a:p>
          <a:p>
            <a:pPr lvl="2"/>
            <a:r>
              <a:rPr lang="en-US" dirty="0"/>
              <a:t>Services project</a:t>
            </a:r>
          </a:p>
          <a:p>
            <a:pPr lvl="2"/>
            <a:r>
              <a:rPr lang="en-US" dirty="0"/>
              <a:t>Fixed price projects</a:t>
            </a:r>
          </a:p>
          <a:p>
            <a:r>
              <a:rPr lang="en-US" b="1" dirty="0"/>
              <a:t>Agile methodology suitable</a:t>
            </a:r>
          </a:p>
          <a:p>
            <a:pPr lvl="1"/>
            <a:r>
              <a:rPr lang="en-US" dirty="0"/>
              <a:t>Low certainty projects </a:t>
            </a:r>
          </a:p>
          <a:p>
            <a:pPr lvl="2"/>
            <a:r>
              <a:rPr lang="en-US" dirty="0"/>
              <a:t>There is starting point but no</a:t>
            </a:r>
          </a:p>
          <a:p>
            <a:pPr lvl="2"/>
            <a:r>
              <a:rPr lang="en-US" dirty="0"/>
              <a:t>            predetermined scope</a:t>
            </a:r>
          </a:p>
          <a:p>
            <a:pPr lvl="3"/>
            <a:r>
              <a:rPr lang="en-US" dirty="0"/>
              <a:t>Allow discovery for future evolution</a:t>
            </a:r>
          </a:p>
          <a:p>
            <a:pPr lvl="2"/>
            <a:r>
              <a:rPr lang="en-US" dirty="0"/>
              <a:t>New startups</a:t>
            </a:r>
          </a:p>
        </p:txBody>
      </p:sp>
      <p:pic>
        <p:nvPicPr>
          <p:cNvPr id="7" name="Picture 6"/>
          <p:cNvPicPr>
            <a:picLocks noChangeAspect="1"/>
          </p:cNvPicPr>
          <p:nvPr/>
        </p:nvPicPr>
        <p:blipFill>
          <a:blip r:embed="rId2"/>
          <a:stretch>
            <a:fillRect/>
          </a:stretch>
        </p:blipFill>
        <p:spPr>
          <a:xfrm>
            <a:off x="440458" y="1957491"/>
            <a:ext cx="6180010" cy="3147501"/>
          </a:xfrm>
          <a:prstGeom prst="rect">
            <a:avLst/>
          </a:prstGeom>
        </p:spPr>
      </p:pic>
      <p:sp>
        <p:nvSpPr>
          <p:cNvPr id="8" name="TextBox 7"/>
          <p:cNvSpPr txBox="1"/>
          <p:nvPr/>
        </p:nvSpPr>
        <p:spPr>
          <a:xfrm>
            <a:off x="3012141" y="132026"/>
            <a:ext cx="5727465" cy="769441"/>
          </a:xfrm>
          <a:prstGeom prst="rect">
            <a:avLst/>
          </a:prstGeom>
          <a:noFill/>
        </p:spPr>
        <p:txBody>
          <a:bodyPr wrap="none" rtlCol="0">
            <a:spAutoFit/>
          </a:bodyPr>
          <a:lstStyle/>
          <a:p>
            <a:r>
              <a:rPr lang="en-US" sz="4400" dirty="0"/>
              <a:t>Fitting Agile Everywhere</a:t>
            </a:r>
          </a:p>
        </p:txBody>
      </p:sp>
      <p:pic>
        <p:nvPicPr>
          <p:cNvPr id="9" name="Picture 8"/>
          <p:cNvPicPr>
            <a:picLocks noChangeAspect="1"/>
          </p:cNvPicPr>
          <p:nvPr/>
        </p:nvPicPr>
        <p:blipFill>
          <a:blip r:embed="rId3"/>
          <a:stretch>
            <a:fillRect/>
          </a:stretch>
        </p:blipFill>
        <p:spPr>
          <a:xfrm rot="19728854">
            <a:off x="80503" y="1843335"/>
            <a:ext cx="2932321" cy="815689"/>
          </a:xfrm>
          <a:prstGeom prst="rect">
            <a:avLst/>
          </a:prstGeom>
          <a:effectLst>
            <a:outerShdw blurRad="50800" dist="50800" dir="5400000" algn="ctr" rotWithShape="0">
              <a:srgbClr val="000000">
                <a:alpha val="42000"/>
              </a:srgbClr>
            </a:outerShdw>
          </a:effectLst>
        </p:spPr>
      </p:pic>
    </p:spTree>
    <p:extLst>
      <p:ext uri="{BB962C8B-B14F-4D97-AF65-F5344CB8AC3E}">
        <p14:creationId xmlns:p14="http://schemas.microsoft.com/office/powerpoint/2010/main" val="40123152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Project life cycles</a:t>
            </a:r>
          </a:p>
        </p:txBody>
      </p:sp>
      <p:sp>
        <p:nvSpPr>
          <p:cNvPr id="3" name="Text Placeholder 2"/>
          <p:cNvSpPr>
            <a:spLocks noGrp="1"/>
          </p:cNvSpPr>
          <p:nvPr>
            <p:ph type="body" idx="1"/>
          </p:nvPr>
        </p:nvSpPr>
        <p:spPr/>
        <p:txBody>
          <a:bodyPr/>
          <a:lstStyle/>
          <a:p>
            <a:r>
              <a:rPr lang="en-US" b="1" dirty="0"/>
              <a:t>Four types of life cycles</a:t>
            </a:r>
          </a:p>
          <a:p>
            <a:pPr lvl="1"/>
            <a:r>
              <a:rPr lang="en-US" b="1" dirty="0"/>
              <a:t>Predictive life cycle</a:t>
            </a:r>
          </a:p>
          <a:p>
            <a:pPr lvl="1"/>
            <a:r>
              <a:rPr lang="en-US" b="1" dirty="0"/>
              <a:t>Iterative life cycle </a:t>
            </a:r>
          </a:p>
          <a:p>
            <a:pPr lvl="1"/>
            <a:r>
              <a:rPr lang="en-US" b="1" dirty="0"/>
              <a:t>Incremental life cycle</a:t>
            </a:r>
          </a:p>
          <a:p>
            <a:pPr lvl="1"/>
            <a:r>
              <a:rPr lang="en-US" b="1" dirty="0"/>
              <a:t>Agile life cycle </a:t>
            </a:r>
          </a:p>
        </p:txBody>
      </p:sp>
      <p:sp>
        <p:nvSpPr>
          <p:cNvPr id="4" name="Slide Number Placeholder 3"/>
          <p:cNvSpPr>
            <a:spLocks noGrp="1"/>
          </p:cNvSpPr>
          <p:nvPr>
            <p:ph type="sldNum" idx="12"/>
          </p:nvPr>
        </p:nvSpPr>
        <p:spPr/>
        <p:txBody>
          <a:bodyPr/>
          <a:lstStyle/>
          <a:p>
            <a:fld id="{00000000-1234-1234-1234-123412341234}" type="slidenum">
              <a:rPr lang="en" smtClean="0"/>
              <a:pPr/>
              <a:t>4</a:t>
            </a:fld>
            <a:endParaRPr lang="en"/>
          </a:p>
        </p:txBody>
      </p:sp>
    </p:spTree>
    <p:extLst>
      <p:ext uri="{BB962C8B-B14F-4D97-AF65-F5344CB8AC3E}">
        <p14:creationId xmlns:p14="http://schemas.microsoft.com/office/powerpoint/2010/main" val="2643733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5600" y="593367"/>
            <a:ext cx="11360800" cy="943200"/>
          </a:xfrm>
        </p:spPr>
        <p:txBody>
          <a:bodyPr>
            <a:normAutofit fontScale="90000"/>
          </a:bodyPr>
          <a:lstStyle/>
          <a:p>
            <a:r>
              <a:rPr lang="en-US" dirty="0"/>
              <a:t>Predictive life cycle/Plan driven/waterfall </a:t>
            </a:r>
            <a:br>
              <a:rPr lang="en-US" dirty="0"/>
            </a:br>
            <a:br>
              <a:rPr lang="en-US" dirty="0"/>
            </a:br>
            <a:endParaRPr lang="en-US" dirty="0"/>
          </a:p>
        </p:txBody>
      </p:sp>
      <p:sp>
        <p:nvSpPr>
          <p:cNvPr id="3" name="Text Placeholder 2"/>
          <p:cNvSpPr>
            <a:spLocks noGrp="1"/>
          </p:cNvSpPr>
          <p:nvPr>
            <p:ph type="body" idx="1"/>
          </p:nvPr>
        </p:nvSpPr>
        <p:spPr>
          <a:xfrm>
            <a:off x="415600" y="1536567"/>
            <a:ext cx="11360800" cy="4555467"/>
          </a:xfrm>
        </p:spPr>
        <p:txBody>
          <a:bodyPr/>
          <a:lstStyle/>
          <a:p>
            <a:r>
              <a:rPr lang="en-US" dirty="0"/>
              <a:t>A more traditional approach, with the bulk of planning occurring upfront, then executing in a single pass; sequential process </a:t>
            </a:r>
          </a:p>
          <a:p>
            <a:pPr marL="609585" lvl="1" indent="-457189">
              <a:spcBef>
                <a:spcPts val="0"/>
              </a:spcBef>
              <a:buSzPts val="1800"/>
              <a:buFont typeface="Open Sans"/>
              <a:buChar char="●"/>
            </a:pPr>
            <a:r>
              <a:rPr lang="en-US" dirty="0"/>
              <a:t>Take advantage of known and proven things. </a:t>
            </a:r>
          </a:p>
          <a:p>
            <a:pPr marL="609585" lvl="1" indent="-457189">
              <a:spcBef>
                <a:spcPts val="0"/>
              </a:spcBef>
              <a:buSzPts val="1800"/>
              <a:buFont typeface="Open Sans"/>
              <a:buChar char="●"/>
            </a:pPr>
            <a:r>
              <a:rPr lang="en-US" dirty="0"/>
              <a:t>Reduced uncertainty and complexity</a:t>
            </a:r>
          </a:p>
          <a:p>
            <a:pPr marL="609585" lvl="1" indent="-457189">
              <a:spcBef>
                <a:spcPts val="0"/>
              </a:spcBef>
              <a:buSzPts val="1800"/>
              <a:buFont typeface="Open Sans"/>
              <a:buChar char="●"/>
            </a:pPr>
            <a:r>
              <a:rPr lang="en-US" dirty="0"/>
              <a:t>Allow team to segment work into a sequence of predictable grouping</a:t>
            </a:r>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p:txBody>
      </p:sp>
      <p:sp>
        <p:nvSpPr>
          <p:cNvPr id="4" name="Slide Number Placeholder 3"/>
          <p:cNvSpPr>
            <a:spLocks noGrp="1"/>
          </p:cNvSpPr>
          <p:nvPr>
            <p:ph type="sldNum" idx="12"/>
          </p:nvPr>
        </p:nvSpPr>
        <p:spPr/>
        <p:txBody>
          <a:bodyPr/>
          <a:lstStyle/>
          <a:p>
            <a:fld id="{00000000-1234-1234-1234-123412341234}" type="slidenum">
              <a:rPr lang="en" smtClean="0"/>
              <a:pPr/>
              <a:t>5</a:t>
            </a:fld>
            <a:endParaRPr lang="en"/>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7651" t="1586" r="757" b="72753"/>
          <a:stretch/>
        </p:blipFill>
        <p:spPr>
          <a:xfrm>
            <a:off x="2203889" y="4303019"/>
            <a:ext cx="7726167" cy="102741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182074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5600" y="593367"/>
            <a:ext cx="11360800" cy="943200"/>
          </a:xfrm>
        </p:spPr>
        <p:txBody>
          <a:bodyPr/>
          <a:lstStyle/>
          <a:p>
            <a:r>
              <a:rPr lang="en-US" dirty="0"/>
              <a:t>Iterative life cycle</a:t>
            </a:r>
          </a:p>
        </p:txBody>
      </p:sp>
      <p:sp>
        <p:nvSpPr>
          <p:cNvPr id="3" name="Text Placeholder 2"/>
          <p:cNvSpPr>
            <a:spLocks noGrp="1"/>
          </p:cNvSpPr>
          <p:nvPr>
            <p:ph type="body" idx="1"/>
          </p:nvPr>
        </p:nvSpPr>
        <p:spPr/>
        <p:txBody>
          <a:bodyPr/>
          <a:lstStyle/>
          <a:p>
            <a:pPr marL="609585" lvl="1" indent="-457189">
              <a:spcBef>
                <a:spcPts val="0"/>
              </a:spcBef>
              <a:buSzPts val="1800"/>
              <a:buFont typeface="Open Sans"/>
              <a:buChar char="●"/>
            </a:pPr>
            <a:r>
              <a:rPr lang="en-US" dirty="0"/>
              <a:t>Allows feedback for unfinished work to improve and modify that work.</a:t>
            </a:r>
          </a:p>
          <a:p>
            <a:pPr marL="609585" lvl="1" indent="-457189">
              <a:spcBef>
                <a:spcPts val="0"/>
              </a:spcBef>
              <a:buSzPts val="1800"/>
              <a:buFont typeface="Open Sans"/>
              <a:buChar char="●"/>
            </a:pPr>
            <a:r>
              <a:rPr lang="en-US" dirty="0"/>
              <a:t>Projects take advantage of iterative life cycle when complexity is high</a:t>
            </a:r>
          </a:p>
          <a:p>
            <a:pPr marL="609585" lvl="1" indent="-457189">
              <a:spcBef>
                <a:spcPts val="0"/>
              </a:spcBef>
              <a:buSzPts val="1800"/>
              <a:buFont typeface="Open Sans"/>
              <a:buChar char="●"/>
            </a:pPr>
            <a:r>
              <a:rPr lang="en-US" dirty="0"/>
              <a:t>Used when changes are frequent. </a:t>
            </a:r>
          </a:p>
          <a:p>
            <a:pPr marL="609585" lvl="1" indent="-457189">
              <a:spcBef>
                <a:spcPts val="0"/>
              </a:spcBef>
              <a:buSzPts val="1800"/>
              <a:buFont typeface="Open Sans"/>
              <a:buChar char="●"/>
            </a:pPr>
            <a:r>
              <a:rPr lang="en-US" dirty="0"/>
              <a:t>May take longer because optimized for learning rather then delivery </a:t>
            </a:r>
          </a:p>
          <a:p>
            <a:pPr marL="152396" indent="0">
              <a:buNone/>
            </a:pPr>
            <a:endParaRPr lang="en-US" dirty="0"/>
          </a:p>
          <a:p>
            <a:pPr marL="152396" indent="0">
              <a:buNone/>
            </a:pPr>
            <a:endParaRPr lang="en-US" dirty="0"/>
          </a:p>
          <a:p>
            <a:pPr marL="152396" indent="0">
              <a:buNone/>
            </a:pPr>
            <a:endParaRPr lang="en-US" dirty="0"/>
          </a:p>
        </p:txBody>
      </p:sp>
      <p:sp>
        <p:nvSpPr>
          <p:cNvPr id="4" name="Slide Number Placeholder 3"/>
          <p:cNvSpPr>
            <a:spLocks noGrp="1"/>
          </p:cNvSpPr>
          <p:nvPr>
            <p:ph type="sldNum" idx="12"/>
          </p:nvPr>
        </p:nvSpPr>
        <p:spPr/>
        <p:txBody>
          <a:bodyPr/>
          <a:lstStyle/>
          <a:p>
            <a:fld id="{00000000-1234-1234-1234-123412341234}" type="slidenum">
              <a:rPr lang="en" smtClean="0"/>
              <a:pPr/>
              <a:t>6</a:t>
            </a:fld>
            <a:endParaRPr lang="en"/>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7558" t="25072" r="523" b="47961"/>
          <a:stretch/>
        </p:blipFill>
        <p:spPr>
          <a:xfrm>
            <a:off x="2231136" y="4320988"/>
            <a:ext cx="7729728" cy="122256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577988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5600" y="593367"/>
            <a:ext cx="11360800" cy="943200"/>
          </a:xfrm>
        </p:spPr>
        <p:txBody>
          <a:bodyPr/>
          <a:lstStyle/>
          <a:p>
            <a:r>
              <a:rPr lang="en-US" dirty="0"/>
              <a:t>Incremental life cycle</a:t>
            </a:r>
          </a:p>
        </p:txBody>
      </p:sp>
      <p:sp>
        <p:nvSpPr>
          <p:cNvPr id="3" name="Text Placeholder 2"/>
          <p:cNvSpPr>
            <a:spLocks noGrp="1"/>
          </p:cNvSpPr>
          <p:nvPr>
            <p:ph type="body" idx="1"/>
          </p:nvPr>
        </p:nvSpPr>
        <p:spPr>
          <a:xfrm>
            <a:off x="415600" y="1688433"/>
            <a:ext cx="11360800" cy="4403600"/>
          </a:xfrm>
        </p:spPr>
        <p:txBody>
          <a:bodyPr/>
          <a:lstStyle/>
          <a:p>
            <a:r>
              <a:rPr lang="en-US" dirty="0"/>
              <a:t>Frequent delivery of smaller deliverables is called an incremental life cycle  </a:t>
            </a:r>
          </a:p>
          <a:p>
            <a:r>
              <a:rPr lang="en-US" dirty="0"/>
              <a:t>An approach that provides finished deliverables that the customer may be able to use immediately.</a:t>
            </a:r>
          </a:p>
          <a:p>
            <a:r>
              <a:rPr lang="en-US" dirty="0"/>
              <a:t>Customers are willing to take subset of overall solution</a:t>
            </a:r>
          </a:p>
          <a:p>
            <a:r>
              <a:rPr lang="en-US" dirty="0"/>
              <a:t>Projects optimized for speed of delivery</a:t>
            </a:r>
          </a:p>
          <a:p>
            <a:r>
              <a:rPr lang="en-US" dirty="0"/>
              <a:t>Businesses that couldn’t wait for every thing to be completed</a:t>
            </a:r>
          </a:p>
        </p:txBody>
      </p:sp>
      <p:sp>
        <p:nvSpPr>
          <p:cNvPr id="4" name="Slide Number Placeholder 3"/>
          <p:cNvSpPr>
            <a:spLocks noGrp="1"/>
          </p:cNvSpPr>
          <p:nvPr>
            <p:ph type="sldNum" idx="12"/>
          </p:nvPr>
        </p:nvSpPr>
        <p:spPr/>
        <p:txBody>
          <a:bodyPr/>
          <a:lstStyle/>
          <a:p>
            <a:fld id="{00000000-1234-1234-1234-123412341234}" type="slidenum">
              <a:rPr lang="en" smtClean="0"/>
              <a:pPr/>
              <a:t>7</a:t>
            </a:fld>
            <a:endParaRPr lang="en"/>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7558" t="25072" r="523" b="47961"/>
          <a:stretch/>
        </p:blipFill>
        <p:spPr>
          <a:xfrm>
            <a:off x="1897308" y="4585506"/>
            <a:ext cx="7729728" cy="122256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768682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Agile life cycle/Change driven/Adaptive</a:t>
            </a:r>
          </a:p>
        </p:txBody>
      </p:sp>
      <p:sp>
        <p:nvSpPr>
          <p:cNvPr id="3" name="Text Placeholder 2"/>
          <p:cNvSpPr>
            <a:spLocks noGrp="1"/>
          </p:cNvSpPr>
          <p:nvPr>
            <p:ph type="body" idx="1"/>
          </p:nvPr>
        </p:nvSpPr>
        <p:spPr>
          <a:xfrm>
            <a:off x="415600" y="1485233"/>
            <a:ext cx="11360800" cy="4403600"/>
          </a:xfrm>
        </p:spPr>
        <p:txBody>
          <a:bodyPr/>
          <a:lstStyle/>
          <a:p>
            <a:r>
              <a:rPr lang="en-US" dirty="0"/>
              <a:t>An approach that is </a:t>
            </a:r>
          </a:p>
          <a:p>
            <a:pPr lvl="1">
              <a:spcBef>
                <a:spcPts val="0"/>
              </a:spcBef>
            </a:pPr>
            <a:r>
              <a:rPr lang="en-US" dirty="0"/>
              <a:t>both iterative and incremental to refine work items , </a:t>
            </a:r>
          </a:p>
          <a:p>
            <a:pPr lvl="1">
              <a:spcBef>
                <a:spcPts val="0"/>
              </a:spcBef>
            </a:pPr>
            <a:r>
              <a:rPr lang="en-US" dirty="0"/>
              <a:t>deliver frequently and </a:t>
            </a:r>
          </a:p>
          <a:p>
            <a:pPr lvl="1">
              <a:spcBef>
                <a:spcPts val="0"/>
              </a:spcBef>
            </a:pPr>
            <a:r>
              <a:rPr lang="en-US" dirty="0"/>
              <a:t>get feedback to better plan the next part of the project.</a:t>
            </a:r>
          </a:p>
          <a:p>
            <a:r>
              <a:rPr lang="en-US" dirty="0"/>
              <a:t>Customer satisfaction increases with early and continues delivery of valuable product. </a:t>
            </a:r>
          </a:p>
          <a:p>
            <a:r>
              <a:rPr lang="en-US" dirty="0"/>
              <a:t>In iteration based agile teams works in iteration(time boxes of equal duration) to deliver completed features.</a:t>
            </a:r>
          </a:p>
          <a:p>
            <a:endParaRPr lang="en-US" dirty="0"/>
          </a:p>
        </p:txBody>
      </p:sp>
      <p:sp>
        <p:nvSpPr>
          <p:cNvPr id="4" name="Slide Number Placeholder 3"/>
          <p:cNvSpPr>
            <a:spLocks noGrp="1"/>
          </p:cNvSpPr>
          <p:nvPr>
            <p:ph type="sldNum" idx="12"/>
          </p:nvPr>
        </p:nvSpPr>
        <p:spPr/>
        <p:txBody>
          <a:bodyPr/>
          <a:lstStyle/>
          <a:p>
            <a:fld id="{00000000-1234-1234-1234-123412341234}" type="slidenum">
              <a:rPr lang="en" smtClean="0"/>
              <a:pPr/>
              <a:t>8</a:t>
            </a:fld>
            <a:endParaRPr lang="en"/>
          </a:p>
        </p:txBody>
      </p:sp>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l="7369" t="53723" r="997" b="1347"/>
          <a:stretch/>
        </p:blipFill>
        <p:spPr>
          <a:xfrm>
            <a:off x="2231136" y="4844255"/>
            <a:ext cx="7729728" cy="177426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837827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5600" y="593367"/>
            <a:ext cx="11360800" cy="866837"/>
          </a:xfrm>
        </p:spPr>
        <p:txBody>
          <a:bodyPr/>
          <a:lstStyle/>
          <a:p>
            <a:r>
              <a:rPr lang="en-US" dirty="0"/>
              <a:t>Characteristics</a:t>
            </a:r>
            <a:r>
              <a:rPr lang="en-US" dirty="0">
                <a:solidFill>
                  <a:schemeClr val="accent3">
                    <a:lumMod val="75000"/>
                  </a:schemeClr>
                </a:solidFill>
              </a:rPr>
              <a:t> </a:t>
            </a:r>
            <a:r>
              <a:rPr lang="en-US" dirty="0"/>
              <a:t>of project life cycles</a:t>
            </a:r>
          </a:p>
        </p:txBody>
      </p:sp>
      <p:sp>
        <p:nvSpPr>
          <p:cNvPr id="4" name="Slide Number Placeholder 3"/>
          <p:cNvSpPr>
            <a:spLocks noGrp="1"/>
          </p:cNvSpPr>
          <p:nvPr>
            <p:ph type="sldNum" idx="12"/>
          </p:nvPr>
        </p:nvSpPr>
        <p:spPr/>
        <p:txBody>
          <a:bodyPr/>
          <a:lstStyle/>
          <a:p>
            <a:fld id="{00000000-1234-1234-1234-123412341234}" type="slidenum">
              <a:rPr lang="en" smtClean="0"/>
              <a:pPr/>
              <a:t>9</a:t>
            </a:fld>
            <a:endParaRPr lang="en"/>
          </a:p>
        </p:txBody>
      </p:sp>
      <p:graphicFrame>
        <p:nvGraphicFramePr>
          <p:cNvPr id="7" name="Table 6"/>
          <p:cNvGraphicFramePr>
            <a:graphicFrameLocks noGrp="1"/>
          </p:cNvGraphicFramePr>
          <p:nvPr/>
        </p:nvGraphicFramePr>
        <p:xfrm>
          <a:off x="612454" y="1536567"/>
          <a:ext cx="10684157" cy="4307992"/>
        </p:xfrm>
        <a:graphic>
          <a:graphicData uri="http://schemas.openxmlformats.org/drawingml/2006/table">
            <a:tbl>
              <a:tblPr firstRow="1" bandRow="1">
                <a:tableStyleId>{21E4AEA4-8DFA-4A89-87EB-49C32662AFE0}</a:tableStyleId>
              </a:tblPr>
              <a:tblGrid>
                <a:gridCol w="2071833">
                  <a:extLst>
                    <a:ext uri="{9D8B030D-6E8A-4147-A177-3AD203B41FA5}">
                      <a16:colId xmlns:a16="http://schemas.microsoft.com/office/drawing/2014/main" val="2331649415"/>
                    </a:ext>
                  </a:extLst>
                </a:gridCol>
                <a:gridCol w="2153081">
                  <a:extLst>
                    <a:ext uri="{9D8B030D-6E8A-4147-A177-3AD203B41FA5}">
                      <a16:colId xmlns:a16="http://schemas.microsoft.com/office/drawing/2014/main" val="119874352"/>
                    </a:ext>
                  </a:extLst>
                </a:gridCol>
                <a:gridCol w="2153081">
                  <a:extLst>
                    <a:ext uri="{9D8B030D-6E8A-4147-A177-3AD203B41FA5}">
                      <a16:colId xmlns:a16="http://schemas.microsoft.com/office/drawing/2014/main" val="1383555964"/>
                    </a:ext>
                  </a:extLst>
                </a:gridCol>
                <a:gridCol w="2153081">
                  <a:extLst>
                    <a:ext uri="{9D8B030D-6E8A-4147-A177-3AD203B41FA5}">
                      <a16:colId xmlns:a16="http://schemas.microsoft.com/office/drawing/2014/main" val="2846071273"/>
                    </a:ext>
                  </a:extLst>
                </a:gridCol>
                <a:gridCol w="2153081">
                  <a:extLst>
                    <a:ext uri="{9D8B030D-6E8A-4147-A177-3AD203B41FA5}">
                      <a16:colId xmlns:a16="http://schemas.microsoft.com/office/drawing/2014/main" val="1569082142"/>
                    </a:ext>
                  </a:extLst>
                </a:gridCol>
              </a:tblGrid>
              <a:tr h="365760">
                <a:tc>
                  <a:txBody>
                    <a:bodyPr/>
                    <a:lstStyle/>
                    <a:p>
                      <a:r>
                        <a:rPr lang="en-US" sz="1600" dirty="0"/>
                        <a:t>Life Cycle</a:t>
                      </a:r>
                    </a:p>
                  </a:txBody>
                  <a:tcPr marL="121920" marR="121920" marT="60960" marB="60960"/>
                </a:tc>
                <a:tc>
                  <a:txBody>
                    <a:bodyPr/>
                    <a:lstStyle/>
                    <a:p>
                      <a:r>
                        <a:rPr lang="en-US" sz="1600" dirty="0"/>
                        <a:t>Requirements </a:t>
                      </a:r>
                    </a:p>
                  </a:txBody>
                  <a:tcPr marL="121920" marR="121920" marT="60960" marB="60960"/>
                </a:tc>
                <a:tc>
                  <a:txBody>
                    <a:bodyPr/>
                    <a:lstStyle/>
                    <a:p>
                      <a:r>
                        <a:rPr lang="en-US" sz="1600" dirty="0"/>
                        <a:t>Activities</a:t>
                      </a:r>
                    </a:p>
                  </a:txBody>
                  <a:tcPr marL="121920" marR="121920" marT="60960" marB="60960"/>
                </a:tc>
                <a:tc>
                  <a:txBody>
                    <a:bodyPr/>
                    <a:lstStyle/>
                    <a:p>
                      <a:r>
                        <a:rPr lang="en-US" sz="1600" dirty="0"/>
                        <a:t>Delivery </a:t>
                      </a:r>
                    </a:p>
                  </a:txBody>
                  <a:tcPr marL="121920" marR="121920" marT="60960" marB="60960"/>
                </a:tc>
                <a:tc>
                  <a:txBody>
                    <a:bodyPr/>
                    <a:lstStyle/>
                    <a:p>
                      <a:r>
                        <a:rPr lang="en-US" sz="1600" dirty="0"/>
                        <a:t>Goal</a:t>
                      </a:r>
                    </a:p>
                  </a:txBody>
                  <a:tcPr marL="121920" marR="121920" marT="60960" marB="60960"/>
                </a:tc>
                <a:extLst>
                  <a:ext uri="{0D108BD9-81ED-4DB2-BD59-A6C34878D82A}">
                    <a16:rowId xmlns:a16="http://schemas.microsoft.com/office/drawing/2014/main" val="1637212495"/>
                  </a:ext>
                </a:extLst>
              </a:tr>
              <a:tr h="1043532">
                <a:tc>
                  <a:txBody>
                    <a:bodyPr/>
                    <a:lstStyle/>
                    <a:p>
                      <a:r>
                        <a:rPr lang="en-US" sz="1600" dirty="0">
                          <a:solidFill>
                            <a:schemeClr val="bg2">
                              <a:lumMod val="50000"/>
                            </a:schemeClr>
                          </a:solidFill>
                        </a:rPr>
                        <a:t>Predictive</a:t>
                      </a:r>
                    </a:p>
                  </a:txBody>
                  <a:tcPr marL="121920" marR="121920" marT="60960" marB="60960"/>
                </a:tc>
                <a:tc>
                  <a:txBody>
                    <a:bodyPr/>
                    <a:lstStyle/>
                    <a:p>
                      <a:r>
                        <a:rPr lang="en-US" sz="1600" dirty="0">
                          <a:solidFill>
                            <a:schemeClr val="bg2">
                              <a:lumMod val="50000"/>
                            </a:schemeClr>
                          </a:solidFill>
                        </a:rPr>
                        <a:t>Fixed</a:t>
                      </a:r>
                    </a:p>
                  </a:txBody>
                  <a:tcPr marL="121920" marR="121920" marT="60960" marB="60960"/>
                </a:tc>
                <a:tc>
                  <a:txBody>
                    <a:bodyPr/>
                    <a:lstStyle/>
                    <a:p>
                      <a:r>
                        <a:rPr lang="en-US" sz="1600" dirty="0">
                          <a:solidFill>
                            <a:schemeClr val="bg2">
                              <a:lumMod val="50000"/>
                            </a:schemeClr>
                          </a:solidFill>
                        </a:rPr>
                        <a:t>Each activity performed</a:t>
                      </a:r>
                      <a:r>
                        <a:rPr lang="en-US" sz="1600" baseline="0" dirty="0">
                          <a:solidFill>
                            <a:schemeClr val="bg2">
                              <a:lumMod val="50000"/>
                            </a:schemeClr>
                          </a:solidFill>
                        </a:rPr>
                        <a:t> one time for entire project</a:t>
                      </a:r>
                      <a:endParaRPr lang="en-US" sz="1600" dirty="0">
                        <a:solidFill>
                          <a:schemeClr val="bg2">
                            <a:lumMod val="50000"/>
                          </a:schemeClr>
                        </a:solidFill>
                      </a:endParaRPr>
                    </a:p>
                  </a:txBody>
                  <a:tcPr marL="121920" marR="121920" marT="60960" marB="60960"/>
                </a:tc>
                <a:tc>
                  <a:txBody>
                    <a:bodyPr/>
                    <a:lstStyle/>
                    <a:p>
                      <a:r>
                        <a:rPr lang="en-US" sz="1600" dirty="0">
                          <a:solidFill>
                            <a:schemeClr val="bg2">
                              <a:lumMod val="50000"/>
                            </a:schemeClr>
                          </a:solidFill>
                        </a:rPr>
                        <a:t>Single delivery</a:t>
                      </a:r>
                    </a:p>
                  </a:txBody>
                  <a:tcPr marL="121920" marR="121920" marT="60960" marB="60960"/>
                </a:tc>
                <a:tc>
                  <a:txBody>
                    <a:bodyPr/>
                    <a:lstStyle/>
                    <a:p>
                      <a:r>
                        <a:rPr lang="en-US" sz="1600" dirty="0">
                          <a:solidFill>
                            <a:schemeClr val="bg2">
                              <a:lumMod val="50000"/>
                            </a:schemeClr>
                          </a:solidFill>
                        </a:rPr>
                        <a:t>Manage goal and cost </a:t>
                      </a:r>
                    </a:p>
                  </a:txBody>
                  <a:tcPr marL="121920" marR="121920" marT="60960" marB="60960"/>
                </a:tc>
                <a:extLst>
                  <a:ext uri="{0D108BD9-81ED-4DB2-BD59-A6C34878D82A}">
                    <a16:rowId xmlns:a16="http://schemas.microsoft.com/office/drawing/2014/main" val="1452646903"/>
                  </a:ext>
                </a:extLst>
              </a:tr>
              <a:tr h="811636">
                <a:tc>
                  <a:txBody>
                    <a:bodyPr/>
                    <a:lstStyle/>
                    <a:p>
                      <a:r>
                        <a:rPr lang="en-US" sz="1600" dirty="0">
                          <a:solidFill>
                            <a:schemeClr val="bg2">
                              <a:lumMod val="50000"/>
                            </a:schemeClr>
                          </a:solidFill>
                        </a:rPr>
                        <a:t>Iterative</a:t>
                      </a:r>
                    </a:p>
                  </a:txBody>
                  <a:tcPr marL="121920" marR="121920" marT="60960" marB="60960"/>
                </a:tc>
                <a:tc>
                  <a:txBody>
                    <a:bodyPr/>
                    <a:lstStyle/>
                    <a:p>
                      <a:r>
                        <a:rPr lang="en-US" sz="1600" dirty="0">
                          <a:solidFill>
                            <a:schemeClr val="bg2">
                              <a:lumMod val="50000"/>
                            </a:schemeClr>
                          </a:solidFill>
                        </a:rPr>
                        <a:t>Changing</a:t>
                      </a:r>
                    </a:p>
                  </a:txBody>
                  <a:tcPr marL="121920" marR="121920" marT="60960" marB="60960"/>
                </a:tc>
                <a:tc>
                  <a:txBody>
                    <a:bodyPr/>
                    <a:lstStyle/>
                    <a:p>
                      <a:r>
                        <a:rPr lang="en-US" sz="1600" dirty="0">
                          <a:solidFill>
                            <a:schemeClr val="bg2">
                              <a:lumMod val="50000"/>
                            </a:schemeClr>
                          </a:solidFill>
                        </a:rPr>
                        <a:t>Activities repeated until things get correct</a:t>
                      </a:r>
                    </a:p>
                  </a:txBody>
                  <a:tcPr marL="121920" marR="121920" marT="60960" marB="60960"/>
                </a:tc>
                <a:tc>
                  <a:txBody>
                    <a:bodyPr/>
                    <a:lstStyle/>
                    <a:p>
                      <a:r>
                        <a:rPr lang="en-US" sz="1600" dirty="0">
                          <a:solidFill>
                            <a:schemeClr val="bg2">
                              <a:lumMod val="50000"/>
                            </a:schemeClr>
                          </a:solidFill>
                        </a:rPr>
                        <a:t>Single delivery</a:t>
                      </a:r>
                    </a:p>
                  </a:txBody>
                  <a:tcPr marL="121920" marR="121920" marT="60960" marB="60960"/>
                </a:tc>
                <a:tc>
                  <a:txBody>
                    <a:bodyPr/>
                    <a:lstStyle/>
                    <a:p>
                      <a:r>
                        <a:rPr lang="en-US" sz="1600" dirty="0">
                          <a:solidFill>
                            <a:schemeClr val="bg2">
                              <a:lumMod val="50000"/>
                            </a:schemeClr>
                          </a:solidFill>
                        </a:rPr>
                        <a:t>Correctness of solution</a:t>
                      </a:r>
                    </a:p>
                  </a:txBody>
                  <a:tcPr marL="121920" marR="121920" marT="60960" marB="60960"/>
                </a:tc>
                <a:extLst>
                  <a:ext uri="{0D108BD9-81ED-4DB2-BD59-A6C34878D82A}">
                    <a16:rowId xmlns:a16="http://schemas.microsoft.com/office/drawing/2014/main" val="2578934253"/>
                  </a:ext>
                </a:extLst>
              </a:tr>
              <a:tr h="1043532">
                <a:tc>
                  <a:txBody>
                    <a:bodyPr/>
                    <a:lstStyle/>
                    <a:p>
                      <a:r>
                        <a:rPr lang="en-US" sz="1600" dirty="0">
                          <a:solidFill>
                            <a:schemeClr val="bg2">
                              <a:lumMod val="50000"/>
                            </a:schemeClr>
                          </a:solidFill>
                        </a:rPr>
                        <a:t>Incremental</a:t>
                      </a:r>
                    </a:p>
                  </a:txBody>
                  <a:tcPr marL="121920" marR="121920" marT="60960" marB="60960"/>
                </a:tc>
                <a:tc>
                  <a:txBody>
                    <a:bodyPr/>
                    <a:lstStyle/>
                    <a:p>
                      <a:r>
                        <a:rPr lang="en-US" sz="1600" dirty="0">
                          <a:solidFill>
                            <a:schemeClr val="bg2">
                              <a:lumMod val="50000"/>
                            </a:schemeClr>
                          </a:solidFill>
                        </a:rPr>
                        <a:t>Changing</a:t>
                      </a:r>
                    </a:p>
                  </a:txBody>
                  <a:tcPr marL="121920" marR="121920" marT="60960" marB="60960"/>
                </a:tc>
                <a:tc>
                  <a:txBody>
                    <a:bodyPr/>
                    <a:lstStyle/>
                    <a:p>
                      <a:r>
                        <a:rPr lang="en-US" sz="1600" dirty="0">
                          <a:solidFill>
                            <a:schemeClr val="bg2">
                              <a:lumMod val="50000"/>
                            </a:schemeClr>
                          </a:solidFill>
                        </a:rPr>
                        <a:t>Each activity performed</a:t>
                      </a:r>
                      <a:r>
                        <a:rPr lang="en-US" sz="1600" baseline="0" dirty="0">
                          <a:solidFill>
                            <a:schemeClr val="bg2">
                              <a:lumMod val="50000"/>
                            </a:schemeClr>
                          </a:solidFill>
                        </a:rPr>
                        <a:t> one time for a given increment</a:t>
                      </a:r>
                      <a:endParaRPr lang="en-US" sz="1600" dirty="0">
                        <a:solidFill>
                          <a:schemeClr val="bg2">
                            <a:lumMod val="50000"/>
                          </a:schemeClr>
                        </a:solidFill>
                      </a:endParaRPr>
                    </a:p>
                  </a:txBody>
                  <a:tcPr marL="121920" marR="121920" marT="60960" marB="60960"/>
                </a:tc>
                <a:tc>
                  <a:txBody>
                    <a:bodyPr/>
                    <a:lstStyle/>
                    <a:p>
                      <a:r>
                        <a:rPr lang="en-US" sz="1600" dirty="0">
                          <a:solidFill>
                            <a:schemeClr val="bg2">
                              <a:lumMod val="50000"/>
                            </a:schemeClr>
                          </a:solidFill>
                        </a:rPr>
                        <a:t>Frequent smaller deliveries</a:t>
                      </a:r>
                    </a:p>
                  </a:txBody>
                  <a:tcPr marL="121920" marR="121920" marT="60960" marB="60960"/>
                </a:tc>
                <a:tc>
                  <a:txBody>
                    <a:bodyPr/>
                    <a:lstStyle/>
                    <a:p>
                      <a:r>
                        <a:rPr lang="en-US" sz="1600" dirty="0">
                          <a:solidFill>
                            <a:schemeClr val="bg2">
                              <a:lumMod val="50000"/>
                            </a:schemeClr>
                          </a:solidFill>
                        </a:rPr>
                        <a:t>Frequency</a:t>
                      </a:r>
                      <a:r>
                        <a:rPr lang="en-US" sz="1600" baseline="0" dirty="0">
                          <a:solidFill>
                            <a:schemeClr val="bg2">
                              <a:lumMod val="50000"/>
                            </a:schemeClr>
                          </a:solidFill>
                        </a:rPr>
                        <a:t>/speed </a:t>
                      </a:r>
                      <a:endParaRPr lang="en-US" sz="1600" dirty="0">
                        <a:solidFill>
                          <a:schemeClr val="bg2">
                            <a:lumMod val="50000"/>
                          </a:schemeClr>
                        </a:solidFill>
                      </a:endParaRPr>
                    </a:p>
                  </a:txBody>
                  <a:tcPr marL="121920" marR="121920" marT="60960" marB="60960"/>
                </a:tc>
                <a:extLst>
                  <a:ext uri="{0D108BD9-81ED-4DB2-BD59-A6C34878D82A}">
                    <a16:rowId xmlns:a16="http://schemas.microsoft.com/office/drawing/2014/main" val="396242400"/>
                  </a:ext>
                </a:extLst>
              </a:tr>
              <a:tr h="1043532">
                <a:tc>
                  <a:txBody>
                    <a:bodyPr/>
                    <a:lstStyle/>
                    <a:p>
                      <a:r>
                        <a:rPr lang="en-US" sz="1600" dirty="0">
                          <a:solidFill>
                            <a:schemeClr val="bg2">
                              <a:lumMod val="50000"/>
                            </a:schemeClr>
                          </a:solidFill>
                        </a:rPr>
                        <a:t>Agile</a:t>
                      </a:r>
                    </a:p>
                  </a:txBody>
                  <a:tcPr marL="121920" marR="121920" marT="60960" marB="60960"/>
                </a:tc>
                <a:tc>
                  <a:txBody>
                    <a:bodyPr/>
                    <a:lstStyle/>
                    <a:p>
                      <a:r>
                        <a:rPr lang="en-US" sz="1600" dirty="0">
                          <a:solidFill>
                            <a:schemeClr val="bg2">
                              <a:lumMod val="50000"/>
                            </a:schemeClr>
                          </a:solidFill>
                        </a:rPr>
                        <a:t>Changing</a:t>
                      </a:r>
                    </a:p>
                  </a:txBody>
                  <a:tcPr marL="121920" marR="121920" marT="60960" marB="6096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solidFill>
                            <a:schemeClr val="bg2">
                              <a:lumMod val="50000"/>
                            </a:schemeClr>
                          </a:solidFill>
                        </a:rPr>
                        <a:t>Activities repeated until things get correct</a:t>
                      </a:r>
                    </a:p>
                    <a:p>
                      <a:endParaRPr lang="en-US" sz="1600" dirty="0">
                        <a:solidFill>
                          <a:schemeClr val="bg2">
                            <a:lumMod val="50000"/>
                          </a:schemeClr>
                        </a:solidFill>
                      </a:endParaRPr>
                    </a:p>
                  </a:txBody>
                  <a:tcPr marL="121920" marR="121920" marT="60960" marB="60960"/>
                </a:tc>
                <a:tc>
                  <a:txBody>
                    <a:bodyPr/>
                    <a:lstStyle/>
                    <a:p>
                      <a:r>
                        <a:rPr lang="en-US" sz="1600" dirty="0">
                          <a:solidFill>
                            <a:schemeClr val="bg2">
                              <a:lumMod val="50000"/>
                            </a:schemeClr>
                          </a:solidFill>
                        </a:rPr>
                        <a:t>Frequent smaller deliveries</a:t>
                      </a:r>
                    </a:p>
                  </a:txBody>
                  <a:tcPr marL="121920" marR="121920" marT="60960" marB="60960"/>
                </a:tc>
                <a:tc>
                  <a:txBody>
                    <a:bodyPr/>
                    <a:lstStyle/>
                    <a:p>
                      <a:r>
                        <a:rPr lang="en-US" sz="1600" dirty="0">
                          <a:solidFill>
                            <a:schemeClr val="bg2">
                              <a:lumMod val="50000"/>
                            </a:schemeClr>
                          </a:solidFill>
                        </a:rPr>
                        <a:t>Customer value via frequent deliverables and their feedback</a:t>
                      </a:r>
                    </a:p>
                  </a:txBody>
                  <a:tcPr marL="121920" marR="121920" marT="60960" marB="60960"/>
                </a:tc>
                <a:extLst>
                  <a:ext uri="{0D108BD9-81ED-4DB2-BD59-A6C34878D82A}">
                    <a16:rowId xmlns:a16="http://schemas.microsoft.com/office/drawing/2014/main" val="391508203"/>
                  </a:ext>
                </a:extLst>
              </a:tr>
            </a:tbl>
          </a:graphicData>
        </a:graphic>
      </p:graphicFrame>
    </p:spTree>
    <p:extLst>
      <p:ext uri="{BB962C8B-B14F-4D97-AF65-F5344CB8AC3E}">
        <p14:creationId xmlns:p14="http://schemas.microsoft.com/office/powerpoint/2010/main" val="31648241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2148" y="429947"/>
            <a:ext cx="11360800" cy="943200"/>
          </a:xfrm>
        </p:spPr>
        <p:txBody>
          <a:bodyPr/>
          <a:lstStyle/>
          <a:p>
            <a:pPr algn="ctr"/>
            <a:r>
              <a:rPr lang="en-US" dirty="0"/>
              <a:t>Hybrid</a:t>
            </a:r>
            <a:r>
              <a:rPr lang="en-US" dirty="0">
                <a:solidFill>
                  <a:schemeClr val="tx1">
                    <a:lumMod val="50000"/>
                  </a:schemeClr>
                </a:solidFill>
                <a:ea typeface="Roboto" pitchFamily="2" charset="0"/>
                <a:cs typeface="Oswald"/>
              </a:rPr>
              <a:t> </a:t>
            </a:r>
            <a:r>
              <a:rPr lang="en-US" dirty="0"/>
              <a:t>life cycle</a:t>
            </a:r>
          </a:p>
        </p:txBody>
      </p:sp>
      <p:sp>
        <p:nvSpPr>
          <p:cNvPr id="26" name="Text Placeholder 25"/>
          <p:cNvSpPr>
            <a:spLocks noGrp="1"/>
          </p:cNvSpPr>
          <p:nvPr>
            <p:ph type="body" idx="1"/>
          </p:nvPr>
        </p:nvSpPr>
        <p:spPr>
          <a:xfrm>
            <a:off x="402148" y="1373147"/>
            <a:ext cx="11360800" cy="4403600"/>
          </a:xfrm>
        </p:spPr>
        <p:txBody>
          <a:bodyPr>
            <a:normAutofit lnSpcReduction="10000"/>
          </a:bodyPr>
          <a:lstStyle/>
          <a:p>
            <a:r>
              <a:rPr lang="en-US" dirty="0"/>
              <a:t>A combination of predictive, iterative, incremental and/or agile approaches is a hybrid approach.</a:t>
            </a:r>
          </a:p>
          <a:p>
            <a:endParaRPr lang="en-US" dirty="0"/>
          </a:p>
          <a:p>
            <a:r>
              <a:rPr lang="en-US" dirty="0"/>
              <a:t>The point is to select a life cycle or a combination of life cycles that work for the project, the risk/team and the culture. </a:t>
            </a:r>
          </a:p>
          <a:p>
            <a:endParaRPr lang="en-US" dirty="0"/>
          </a:p>
          <a:p>
            <a:r>
              <a:rPr lang="en-US" dirty="0"/>
              <a:t>Doing agile technique should not be the goal but to achieve project goals so Its not necessary to use single approach for entire project. </a:t>
            </a:r>
          </a:p>
          <a:p>
            <a:endParaRPr lang="en-US" dirty="0"/>
          </a:p>
          <a:p>
            <a:r>
              <a:rPr lang="en-US" dirty="0"/>
              <a:t>For example, a detailed requirements effort, followed by sprints of incremental delivery would be a “Hybrid Approach”.</a:t>
            </a:r>
          </a:p>
          <a:p>
            <a:endParaRPr lang="en-US" dirty="0"/>
          </a:p>
          <a:p>
            <a:pPr marL="152396" indent="0">
              <a:buNone/>
            </a:pPr>
            <a:endParaRPr lang="en-US" dirty="0"/>
          </a:p>
        </p:txBody>
      </p:sp>
      <p:sp>
        <p:nvSpPr>
          <p:cNvPr id="4" name="Slide Number Placeholder 3"/>
          <p:cNvSpPr>
            <a:spLocks noGrp="1"/>
          </p:cNvSpPr>
          <p:nvPr>
            <p:ph type="sldNum" idx="12"/>
          </p:nvPr>
        </p:nvSpPr>
        <p:spPr/>
        <p:txBody>
          <a:bodyPr/>
          <a:lstStyle/>
          <a:p>
            <a:fld id="{00000000-1234-1234-1234-123412341234}" type="slidenum">
              <a:rPr lang="en" smtClean="0"/>
              <a:pPr/>
              <a:t>10</a:t>
            </a:fld>
            <a:endParaRPr lang="en"/>
          </a:p>
        </p:txBody>
      </p:sp>
    </p:spTree>
    <p:extLst>
      <p:ext uri="{BB962C8B-B14F-4D97-AF65-F5344CB8AC3E}">
        <p14:creationId xmlns:p14="http://schemas.microsoft.com/office/powerpoint/2010/main" val="9062779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animEffect transition="in" filter="fade">
                                      <p:cBhvr>
                                        <p:cTn id="7" dur="500"/>
                                        <p:tgtEl>
                                          <p:spTgt spid="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6">
                                            <p:txEl>
                                              <p:pRg st="2" end="2"/>
                                            </p:txEl>
                                          </p:spTgt>
                                        </p:tgtEl>
                                        <p:attrNameLst>
                                          <p:attrName>style.visibility</p:attrName>
                                        </p:attrNameLst>
                                      </p:cBhvr>
                                      <p:to>
                                        <p:strVal val="visible"/>
                                      </p:to>
                                    </p:set>
                                    <p:animEffect transition="in" filter="fade">
                                      <p:cBhvr>
                                        <p:cTn id="12" dur="500"/>
                                        <p:tgtEl>
                                          <p:spTgt spid="2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6">
                                            <p:txEl>
                                              <p:pRg st="4" end="4"/>
                                            </p:txEl>
                                          </p:spTgt>
                                        </p:tgtEl>
                                        <p:attrNameLst>
                                          <p:attrName>style.visibility</p:attrName>
                                        </p:attrNameLst>
                                      </p:cBhvr>
                                      <p:to>
                                        <p:strVal val="visible"/>
                                      </p:to>
                                    </p:set>
                                    <p:animEffect transition="in" filter="fade">
                                      <p:cBhvr>
                                        <p:cTn id="17" dur="500"/>
                                        <p:tgtEl>
                                          <p:spTgt spid="26">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6">
                                            <p:txEl>
                                              <p:pRg st="6" end="6"/>
                                            </p:txEl>
                                          </p:spTgt>
                                        </p:tgtEl>
                                        <p:attrNameLst>
                                          <p:attrName>style.visibility</p:attrName>
                                        </p:attrNameLst>
                                      </p:cBhvr>
                                      <p:to>
                                        <p:strVal val="visible"/>
                                      </p:to>
                                    </p:set>
                                    <p:animEffect transition="in" filter="fade">
                                      <p:cBhvr>
                                        <p:cTn id="22" dur="500"/>
                                        <p:tgtEl>
                                          <p:spTgt spid="2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00000000-1234-1234-1234-123412341234}" type="slidenum">
              <a:rPr lang="en" smtClean="0"/>
              <a:pPr/>
              <a:t>11</a:t>
            </a:fld>
            <a:endParaRPr lang="en"/>
          </a:p>
        </p:txBody>
      </p:sp>
      <p:cxnSp>
        <p:nvCxnSpPr>
          <p:cNvPr id="41" name="Straight Arrow Connector 40"/>
          <p:cNvCxnSpPr/>
          <p:nvPr/>
        </p:nvCxnSpPr>
        <p:spPr>
          <a:xfrm flipV="1">
            <a:off x="2968974" y="676796"/>
            <a:ext cx="1" cy="4515557"/>
          </a:xfrm>
          <a:prstGeom prst="straightConnector1">
            <a:avLst/>
          </a:prstGeom>
          <a:ln w="38100">
            <a:solidFill>
              <a:schemeClr val="bg2">
                <a:lumMod val="50000"/>
              </a:schemeClr>
            </a:solidFill>
            <a:tailEnd type="triangle"/>
          </a:ln>
          <a:effectLst>
            <a:glow rad="228600">
              <a:schemeClr val="accent2">
                <a:satMod val="175000"/>
                <a:alpha val="40000"/>
              </a:schemeClr>
            </a:glow>
            <a:outerShdw blurRad="40000" dist="23000" dir="5400000" rotWithShape="0">
              <a:srgbClr val="000000">
                <a:alpha val="35000"/>
              </a:srgbClr>
            </a:outerShdw>
          </a:effectLst>
        </p:spPr>
        <p:style>
          <a:lnRef idx="3">
            <a:schemeClr val="accent2"/>
          </a:lnRef>
          <a:fillRef idx="0">
            <a:schemeClr val="accent2"/>
          </a:fillRef>
          <a:effectRef idx="2">
            <a:schemeClr val="accent2"/>
          </a:effectRef>
          <a:fontRef idx="minor">
            <a:schemeClr val="tx1"/>
          </a:fontRef>
        </p:style>
      </p:cxnSp>
      <p:cxnSp>
        <p:nvCxnSpPr>
          <p:cNvPr id="45" name="Straight Arrow Connector 44"/>
          <p:cNvCxnSpPr/>
          <p:nvPr/>
        </p:nvCxnSpPr>
        <p:spPr>
          <a:xfrm flipV="1">
            <a:off x="2968974" y="5177840"/>
            <a:ext cx="5960533" cy="1"/>
          </a:xfrm>
          <a:prstGeom prst="straightConnector1">
            <a:avLst/>
          </a:prstGeom>
          <a:ln w="38100">
            <a:solidFill>
              <a:schemeClr val="bg2">
                <a:lumMod val="50000"/>
              </a:schemeClr>
            </a:solidFill>
            <a:tailEnd type="triangle"/>
          </a:ln>
          <a:effectLst>
            <a:glow rad="228600">
              <a:schemeClr val="accent2">
                <a:satMod val="175000"/>
                <a:alpha val="40000"/>
              </a:schemeClr>
            </a:glow>
          </a:effectLst>
        </p:spPr>
        <p:style>
          <a:lnRef idx="1">
            <a:schemeClr val="accent1"/>
          </a:lnRef>
          <a:fillRef idx="0">
            <a:schemeClr val="accent1"/>
          </a:fillRef>
          <a:effectRef idx="0">
            <a:schemeClr val="accent1"/>
          </a:effectRef>
          <a:fontRef idx="minor">
            <a:schemeClr val="tx1"/>
          </a:fontRef>
        </p:style>
      </p:cxnSp>
      <p:sp>
        <p:nvSpPr>
          <p:cNvPr id="50" name="TextBox 49"/>
          <p:cNvSpPr txBox="1"/>
          <p:nvPr/>
        </p:nvSpPr>
        <p:spPr>
          <a:xfrm>
            <a:off x="4561720" y="5336324"/>
            <a:ext cx="2535768" cy="420564"/>
          </a:xfrm>
          <a:prstGeom prst="rect">
            <a:avLst/>
          </a:prstGeom>
          <a:noFill/>
          <a:effectLst>
            <a:glow rad="228600">
              <a:schemeClr val="accent2">
                <a:satMod val="175000"/>
                <a:alpha val="40000"/>
              </a:schemeClr>
            </a:glow>
          </a:effectLst>
        </p:spPr>
        <p:txBody>
          <a:bodyPr wrap="square" rtlCol="0">
            <a:spAutoFit/>
          </a:bodyPr>
          <a:lstStyle/>
          <a:p>
            <a:r>
              <a:rPr lang="en-US" sz="2133" b="1" dirty="0">
                <a:effectLst>
                  <a:glow rad="228600">
                    <a:schemeClr val="accent2">
                      <a:satMod val="175000"/>
                      <a:alpha val="40000"/>
                    </a:schemeClr>
                  </a:glow>
                </a:effectLst>
              </a:rPr>
              <a:t>Degree of change</a:t>
            </a:r>
          </a:p>
        </p:txBody>
      </p:sp>
      <p:sp>
        <p:nvSpPr>
          <p:cNvPr id="51" name="TextBox 50"/>
          <p:cNvSpPr txBox="1"/>
          <p:nvPr/>
        </p:nvSpPr>
        <p:spPr>
          <a:xfrm>
            <a:off x="8015722" y="5336323"/>
            <a:ext cx="1215361" cy="420564"/>
          </a:xfrm>
          <a:prstGeom prst="rect">
            <a:avLst/>
          </a:prstGeom>
          <a:noFill/>
        </p:spPr>
        <p:txBody>
          <a:bodyPr wrap="square" rtlCol="0">
            <a:spAutoFit/>
          </a:bodyPr>
          <a:lstStyle/>
          <a:p>
            <a:r>
              <a:rPr lang="en-US" sz="2133" b="1" dirty="0"/>
              <a:t>High</a:t>
            </a:r>
          </a:p>
        </p:txBody>
      </p:sp>
      <p:sp>
        <p:nvSpPr>
          <p:cNvPr id="52" name="TextBox 51"/>
          <p:cNvSpPr txBox="1"/>
          <p:nvPr/>
        </p:nvSpPr>
        <p:spPr>
          <a:xfrm>
            <a:off x="2926945" y="5300300"/>
            <a:ext cx="948767" cy="420564"/>
          </a:xfrm>
          <a:prstGeom prst="rect">
            <a:avLst/>
          </a:prstGeom>
          <a:noFill/>
        </p:spPr>
        <p:txBody>
          <a:bodyPr wrap="square" rtlCol="0">
            <a:spAutoFit/>
          </a:bodyPr>
          <a:lstStyle/>
          <a:p>
            <a:r>
              <a:rPr lang="en-US" sz="2133" b="1" dirty="0"/>
              <a:t>Low</a:t>
            </a:r>
          </a:p>
        </p:txBody>
      </p:sp>
      <p:sp>
        <p:nvSpPr>
          <p:cNvPr id="53" name="TextBox 52"/>
          <p:cNvSpPr txBox="1"/>
          <p:nvPr/>
        </p:nvSpPr>
        <p:spPr>
          <a:xfrm rot="16200000">
            <a:off x="1147380" y="2771007"/>
            <a:ext cx="2639249" cy="420564"/>
          </a:xfrm>
          <a:prstGeom prst="rect">
            <a:avLst/>
          </a:prstGeom>
          <a:noFill/>
        </p:spPr>
        <p:txBody>
          <a:bodyPr wrap="none" rtlCol="0">
            <a:spAutoFit/>
          </a:bodyPr>
          <a:lstStyle/>
          <a:p>
            <a:r>
              <a:rPr lang="en-US" sz="2133" b="1" dirty="0">
                <a:effectLst>
                  <a:glow rad="228600">
                    <a:schemeClr val="accent2">
                      <a:satMod val="175000"/>
                      <a:alpha val="40000"/>
                    </a:schemeClr>
                  </a:glow>
                </a:effectLst>
              </a:rPr>
              <a:t>Frequency of delivery</a:t>
            </a:r>
          </a:p>
        </p:txBody>
      </p:sp>
      <p:sp>
        <p:nvSpPr>
          <p:cNvPr id="54" name="TextBox 53"/>
          <p:cNvSpPr txBox="1"/>
          <p:nvPr/>
        </p:nvSpPr>
        <p:spPr>
          <a:xfrm>
            <a:off x="1776202" y="662281"/>
            <a:ext cx="930196" cy="420564"/>
          </a:xfrm>
          <a:prstGeom prst="rect">
            <a:avLst/>
          </a:prstGeom>
          <a:noFill/>
        </p:spPr>
        <p:txBody>
          <a:bodyPr wrap="square" rtlCol="0">
            <a:spAutoFit/>
          </a:bodyPr>
          <a:lstStyle/>
          <a:p>
            <a:r>
              <a:rPr lang="en-US" sz="2133" b="1" dirty="0"/>
              <a:t>High</a:t>
            </a:r>
          </a:p>
        </p:txBody>
      </p:sp>
      <p:sp>
        <p:nvSpPr>
          <p:cNvPr id="55" name="TextBox 54"/>
          <p:cNvSpPr txBox="1"/>
          <p:nvPr/>
        </p:nvSpPr>
        <p:spPr>
          <a:xfrm>
            <a:off x="1978177" y="4848895"/>
            <a:ext cx="948767" cy="420564"/>
          </a:xfrm>
          <a:prstGeom prst="rect">
            <a:avLst/>
          </a:prstGeom>
          <a:noFill/>
        </p:spPr>
        <p:txBody>
          <a:bodyPr wrap="square" rtlCol="0">
            <a:spAutoFit/>
          </a:bodyPr>
          <a:lstStyle/>
          <a:p>
            <a:r>
              <a:rPr lang="en-US" sz="2133" b="1" dirty="0"/>
              <a:t>Low</a:t>
            </a:r>
          </a:p>
        </p:txBody>
      </p:sp>
      <p:sp>
        <p:nvSpPr>
          <p:cNvPr id="56" name="TextBox 55"/>
          <p:cNvSpPr txBox="1"/>
          <p:nvPr/>
        </p:nvSpPr>
        <p:spPr>
          <a:xfrm>
            <a:off x="3189519" y="4459694"/>
            <a:ext cx="1946976" cy="461665"/>
          </a:xfrm>
          <a:prstGeom prst="rect">
            <a:avLst/>
          </a:prstGeom>
          <a:noFill/>
        </p:spPr>
        <p:txBody>
          <a:bodyPr wrap="square" rtlCol="0">
            <a:spAutoFit/>
          </a:bodyPr>
          <a:lstStyle/>
          <a:p>
            <a:r>
              <a:rPr lang="en-US" sz="2400" dirty="0">
                <a:effectLst>
                  <a:glow rad="228600">
                    <a:schemeClr val="accent3">
                      <a:satMod val="175000"/>
                      <a:alpha val="40000"/>
                    </a:schemeClr>
                  </a:glow>
                </a:effectLst>
              </a:rPr>
              <a:t>Predictive</a:t>
            </a:r>
          </a:p>
        </p:txBody>
      </p:sp>
      <p:sp>
        <p:nvSpPr>
          <p:cNvPr id="57" name="TextBox 56"/>
          <p:cNvSpPr txBox="1"/>
          <p:nvPr/>
        </p:nvSpPr>
        <p:spPr>
          <a:xfrm>
            <a:off x="7284107" y="4459694"/>
            <a:ext cx="1946976" cy="461665"/>
          </a:xfrm>
          <a:prstGeom prst="rect">
            <a:avLst/>
          </a:prstGeom>
          <a:noFill/>
        </p:spPr>
        <p:txBody>
          <a:bodyPr wrap="square" rtlCol="0">
            <a:spAutoFit/>
          </a:bodyPr>
          <a:lstStyle/>
          <a:p>
            <a:r>
              <a:rPr lang="en-US" sz="2400" dirty="0">
                <a:effectLst>
                  <a:glow rad="228600">
                    <a:schemeClr val="accent3">
                      <a:satMod val="175000"/>
                      <a:alpha val="40000"/>
                    </a:schemeClr>
                  </a:glow>
                </a:effectLst>
              </a:rPr>
              <a:t>Iterative</a:t>
            </a:r>
          </a:p>
        </p:txBody>
      </p:sp>
      <p:sp>
        <p:nvSpPr>
          <p:cNvPr id="58" name="TextBox 57"/>
          <p:cNvSpPr txBox="1"/>
          <p:nvPr/>
        </p:nvSpPr>
        <p:spPr>
          <a:xfrm>
            <a:off x="3179564" y="668074"/>
            <a:ext cx="1946976" cy="461665"/>
          </a:xfrm>
          <a:prstGeom prst="rect">
            <a:avLst/>
          </a:prstGeom>
          <a:noFill/>
          <a:effectLst>
            <a:glow rad="228600">
              <a:schemeClr val="accent1">
                <a:satMod val="175000"/>
                <a:alpha val="40000"/>
              </a:schemeClr>
            </a:glow>
          </a:effectLst>
        </p:spPr>
        <p:txBody>
          <a:bodyPr wrap="square" rtlCol="0">
            <a:spAutoFit/>
          </a:bodyPr>
          <a:lstStyle/>
          <a:p>
            <a:r>
              <a:rPr lang="en-US" sz="2400" dirty="0">
                <a:effectLst>
                  <a:glow rad="228600">
                    <a:schemeClr val="accent3">
                      <a:satMod val="175000"/>
                      <a:alpha val="40000"/>
                    </a:schemeClr>
                  </a:glow>
                </a:effectLst>
              </a:rPr>
              <a:t>Incremental</a:t>
            </a:r>
          </a:p>
        </p:txBody>
      </p:sp>
      <p:sp>
        <p:nvSpPr>
          <p:cNvPr id="59" name="TextBox 58"/>
          <p:cNvSpPr txBox="1"/>
          <p:nvPr/>
        </p:nvSpPr>
        <p:spPr>
          <a:xfrm>
            <a:off x="7489225" y="621245"/>
            <a:ext cx="1134176" cy="461665"/>
          </a:xfrm>
          <a:prstGeom prst="rect">
            <a:avLst/>
          </a:prstGeom>
          <a:noFill/>
        </p:spPr>
        <p:txBody>
          <a:bodyPr wrap="square" rtlCol="0">
            <a:spAutoFit/>
          </a:bodyPr>
          <a:lstStyle/>
          <a:p>
            <a:r>
              <a:rPr lang="en-US" sz="2400" dirty="0">
                <a:effectLst>
                  <a:glow rad="228600">
                    <a:schemeClr val="accent3">
                      <a:satMod val="175000"/>
                      <a:alpha val="40000"/>
                    </a:schemeClr>
                  </a:glow>
                </a:effectLst>
              </a:rPr>
              <a:t>Agile</a:t>
            </a:r>
          </a:p>
        </p:txBody>
      </p:sp>
      <p:sp>
        <p:nvSpPr>
          <p:cNvPr id="62" name="Bent Arrow 61"/>
          <p:cNvSpPr/>
          <p:nvPr/>
        </p:nvSpPr>
        <p:spPr>
          <a:xfrm>
            <a:off x="4005940" y="3439885"/>
            <a:ext cx="304800" cy="1019808"/>
          </a:xfrm>
          <a:prstGeom prst="bentArrow">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2400">
              <a:solidFill>
                <a:schemeClr val="tx1"/>
              </a:solidFill>
            </a:endParaRPr>
          </a:p>
        </p:txBody>
      </p:sp>
      <p:sp>
        <p:nvSpPr>
          <p:cNvPr id="63" name="Bent Arrow 62"/>
          <p:cNvSpPr/>
          <p:nvPr/>
        </p:nvSpPr>
        <p:spPr>
          <a:xfrm flipH="1">
            <a:off x="7551263" y="3315781"/>
            <a:ext cx="304800" cy="1019808"/>
          </a:xfrm>
          <a:prstGeom prst="bentArrow">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2400">
              <a:solidFill>
                <a:schemeClr val="tx1"/>
              </a:solidFill>
            </a:endParaRPr>
          </a:p>
        </p:txBody>
      </p:sp>
      <p:sp>
        <p:nvSpPr>
          <p:cNvPr id="64" name="Bent Arrow 63"/>
          <p:cNvSpPr/>
          <p:nvPr/>
        </p:nvSpPr>
        <p:spPr>
          <a:xfrm flipV="1">
            <a:off x="4211111" y="1236848"/>
            <a:ext cx="304800" cy="1019808"/>
          </a:xfrm>
          <a:prstGeom prst="bentArrow">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2400">
              <a:solidFill>
                <a:schemeClr val="tx1"/>
              </a:solidFill>
            </a:endParaRPr>
          </a:p>
        </p:txBody>
      </p:sp>
      <p:sp>
        <p:nvSpPr>
          <p:cNvPr id="65" name="Bent Arrow 64"/>
          <p:cNvSpPr/>
          <p:nvPr/>
        </p:nvSpPr>
        <p:spPr>
          <a:xfrm flipH="1" flipV="1">
            <a:off x="7558521" y="1182107"/>
            <a:ext cx="304800" cy="1019808"/>
          </a:xfrm>
          <a:prstGeom prst="bentArrow">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US" sz="2400">
              <a:solidFill>
                <a:schemeClr val="tx1"/>
              </a:solidFill>
            </a:endParaRPr>
          </a:p>
        </p:txBody>
      </p:sp>
      <p:sp>
        <p:nvSpPr>
          <p:cNvPr id="66" name="Cloud 65"/>
          <p:cNvSpPr/>
          <p:nvPr/>
        </p:nvSpPr>
        <p:spPr>
          <a:xfrm rot="20679956">
            <a:off x="4322707" y="1705619"/>
            <a:ext cx="3253069" cy="2142540"/>
          </a:xfrm>
          <a:prstGeom prst="cloud">
            <a:avLst/>
          </a:prstGeom>
          <a:ln>
            <a:solidFill>
              <a:schemeClr val="bg2">
                <a:lumMod val="50000"/>
              </a:schemeClr>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en-US" sz="2400" b="1" spc="67" dirty="0">
                <a:ln w="0"/>
                <a:solidFill>
                  <a:schemeClr val="bg2"/>
                </a:solidFill>
                <a:effectLst>
                  <a:innerShdw blurRad="63500" dist="50800" dir="13500000">
                    <a:srgbClr val="000000">
                      <a:alpha val="50000"/>
                    </a:srgbClr>
                  </a:innerShdw>
                </a:effectLst>
                <a:latin typeface="Arial"/>
                <a:ea typeface="Arial"/>
                <a:cs typeface="Arial"/>
              </a:rPr>
              <a:t>Hybrid</a:t>
            </a:r>
            <a:endParaRPr lang="en-US" sz="2400" dirty="0">
              <a:solidFill>
                <a:srgbClr val="000000"/>
              </a:solidFill>
              <a:effectLst>
                <a:glow rad="228600">
                  <a:schemeClr val="accent3">
                    <a:satMod val="175000"/>
                    <a:alpha val="40000"/>
                  </a:schemeClr>
                </a:glow>
              </a:effectLst>
              <a:latin typeface="Arial"/>
              <a:ea typeface="Arial"/>
              <a:cs typeface="Arial"/>
            </a:endParaRPr>
          </a:p>
        </p:txBody>
      </p:sp>
    </p:spTree>
    <p:extLst>
      <p:ext uri="{BB962C8B-B14F-4D97-AF65-F5344CB8AC3E}">
        <p14:creationId xmlns:p14="http://schemas.microsoft.com/office/powerpoint/2010/main" val="1015255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7"/>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9"/>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6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p:bldP spid="51" grpId="0"/>
      <p:bldP spid="52" grpId="0"/>
      <p:bldP spid="53" grpId="0"/>
      <p:bldP spid="54" grpId="0"/>
      <p:bldP spid="55" grpId="0"/>
      <p:bldP spid="56" grpId="0"/>
      <p:bldP spid="57" grpId="0"/>
      <p:bldP spid="58" grpId="0"/>
      <p:bldP spid="59" grpId="0"/>
      <p:bldP spid="62" grpId="0" animBg="1"/>
      <p:bldP spid="63" grpId="0" animBg="1"/>
      <p:bldP spid="64" grpId="0" animBg="1"/>
      <p:bldP spid="65" grpId="0" animBg="1"/>
      <p:bldP spid="6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Agile manifesto </a:t>
            </a:r>
            <a:br>
              <a:rPr lang="en-US" dirty="0"/>
            </a:br>
            <a:endParaRPr lang="en-US" dirty="0"/>
          </a:p>
        </p:txBody>
      </p:sp>
      <p:sp>
        <p:nvSpPr>
          <p:cNvPr id="3" name="Text Placeholder 2"/>
          <p:cNvSpPr>
            <a:spLocks noGrp="1"/>
          </p:cNvSpPr>
          <p:nvPr>
            <p:ph type="body" idx="1"/>
          </p:nvPr>
        </p:nvSpPr>
        <p:spPr>
          <a:xfrm>
            <a:off x="415600" y="1578971"/>
            <a:ext cx="11360800" cy="4901052"/>
          </a:xfrm>
        </p:spPr>
        <p:txBody>
          <a:bodyPr/>
          <a:lstStyle/>
          <a:p>
            <a:pPr marL="406390" indent="0" algn="ctr">
              <a:buNone/>
            </a:pPr>
            <a:r>
              <a:rPr lang="en-US" dirty="0"/>
              <a:t>Manifesto for Agile Software Development</a:t>
            </a:r>
          </a:p>
          <a:p>
            <a:pPr marL="406390" indent="0">
              <a:buNone/>
            </a:pPr>
            <a:r>
              <a:rPr lang="en-US" dirty="0"/>
              <a:t>We are uncovering better ways of developing software by doing it and helping others do it. Through this work we have come to value:</a:t>
            </a:r>
            <a:br>
              <a:rPr lang="en-US" dirty="0">
                <a:solidFill>
                  <a:schemeClr val="accent1">
                    <a:lumMod val="50000"/>
                  </a:schemeClr>
                </a:solidFill>
              </a:rPr>
            </a:br>
            <a:endParaRPr lang="en-US" dirty="0">
              <a:solidFill>
                <a:schemeClr val="accent1">
                  <a:lumMod val="50000"/>
                </a:schemeClr>
              </a:solidFill>
            </a:endParaRPr>
          </a:p>
          <a:p>
            <a:pPr marL="406390" indent="0" algn="ctr">
              <a:buNone/>
            </a:pPr>
            <a:r>
              <a:rPr lang="en-US" b="1" dirty="0">
                <a:solidFill>
                  <a:srgbClr val="00B050"/>
                </a:solidFill>
              </a:rPr>
              <a:t>Individuals and interactions</a:t>
            </a:r>
            <a:r>
              <a:rPr lang="en-US" dirty="0">
                <a:solidFill>
                  <a:schemeClr val="accent1">
                    <a:lumMod val="50000"/>
                  </a:schemeClr>
                </a:solidFill>
              </a:rPr>
              <a:t> </a:t>
            </a:r>
            <a:r>
              <a:rPr lang="en-US" dirty="0"/>
              <a:t>over</a:t>
            </a:r>
            <a:r>
              <a:rPr lang="en-US" dirty="0">
                <a:solidFill>
                  <a:schemeClr val="accent1">
                    <a:lumMod val="50000"/>
                  </a:schemeClr>
                </a:solidFill>
              </a:rPr>
              <a:t> </a:t>
            </a:r>
            <a:r>
              <a:rPr lang="en-US" b="1" dirty="0">
                <a:solidFill>
                  <a:schemeClr val="accent2">
                    <a:lumMod val="60000"/>
                    <a:lumOff val="40000"/>
                  </a:schemeClr>
                </a:solidFill>
              </a:rPr>
              <a:t>processes and tools</a:t>
            </a:r>
            <a:br>
              <a:rPr lang="en-US" dirty="0">
                <a:solidFill>
                  <a:schemeClr val="accent2">
                    <a:lumMod val="60000"/>
                    <a:lumOff val="40000"/>
                  </a:schemeClr>
                </a:solidFill>
              </a:rPr>
            </a:br>
            <a:r>
              <a:rPr lang="en-US" b="1" dirty="0">
                <a:solidFill>
                  <a:srgbClr val="00B050"/>
                </a:solidFill>
              </a:rPr>
              <a:t>Working software</a:t>
            </a:r>
            <a:r>
              <a:rPr lang="en-US" dirty="0">
                <a:solidFill>
                  <a:schemeClr val="accent1">
                    <a:lumMod val="50000"/>
                  </a:schemeClr>
                </a:solidFill>
              </a:rPr>
              <a:t> </a:t>
            </a:r>
            <a:r>
              <a:rPr lang="en-US" dirty="0"/>
              <a:t>over</a:t>
            </a:r>
            <a:r>
              <a:rPr lang="en-US" dirty="0">
                <a:solidFill>
                  <a:schemeClr val="accent1">
                    <a:lumMod val="50000"/>
                  </a:schemeClr>
                </a:solidFill>
              </a:rPr>
              <a:t> </a:t>
            </a:r>
            <a:r>
              <a:rPr lang="en-US" b="1" dirty="0">
                <a:solidFill>
                  <a:schemeClr val="accent2">
                    <a:lumMod val="60000"/>
                    <a:lumOff val="40000"/>
                  </a:schemeClr>
                </a:solidFill>
              </a:rPr>
              <a:t>comprehensive documentation</a:t>
            </a:r>
            <a:br>
              <a:rPr lang="en-US" dirty="0">
                <a:solidFill>
                  <a:schemeClr val="accent1">
                    <a:lumMod val="50000"/>
                  </a:schemeClr>
                </a:solidFill>
              </a:rPr>
            </a:br>
            <a:r>
              <a:rPr lang="en-US" b="1" dirty="0">
                <a:solidFill>
                  <a:srgbClr val="00B050"/>
                </a:solidFill>
              </a:rPr>
              <a:t>Customer collaboration</a:t>
            </a:r>
            <a:r>
              <a:rPr lang="en-US" dirty="0">
                <a:solidFill>
                  <a:srgbClr val="00B050"/>
                </a:solidFill>
              </a:rPr>
              <a:t> </a:t>
            </a:r>
            <a:r>
              <a:rPr lang="en-US" dirty="0"/>
              <a:t>over</a:t>
            </a:r>
            <a:r>
              <a:rPr lang="en-US" dirty="0">
                <a:solidFill>
                  <a:schemeClr val="accent1">
                    <a:lumMod val="50000"/>
                  </a:schemeClr>
                </a:solidFill>
              </a:rPr>
              <a:t> </a:t>
            </a:r>
            <a:r>
              <a:rPr lang="en-US" b="1" dirty="0">
                <a:solidFill>
                  <a:schemeClr val="accent2">
                    <a:lumMod val="60000"/>
                    <a:lumOff val="40000"/>
                  </a:schemeClr>
                </a:solidFill>
              </a:rPr>
              <a:t>contract negotiation</a:t>
            </a:r>
            <a:br>
              <a:rPr lang="en-US" dirty="0">
                <a:solidFill>
                  <a:schemeClr val="accent1">
                    <a:lumMod val="50000"/>
                  </a:schemeClr>
                </a:solidFill>
              </a:rPr>
            </a:br>
            <a:r>
              <a:rPr lang="en-US" b="1" dirty="0">
                <a:solidFill>
                  <a:srgbClr val="00B050"/>
                </a:solidFill>
              </a:rPr>
              <a:t>Responding to change</a:t>
            </a:r>
            <a:r>
              <a:rPr lang="en-US" dirty="0">
                <a:solidFill>
                  <a:schemeClr val="accent1">
                    <a:lumMod val="50000"/>
                  </a:schemeClr>
                </a:solidFill>
              </a:rPr>
              <a:t> </a:t>
            </a:r>
            <a:r>
              <a:rPr lang="en-US" dirty="0"/>
              <a:t>over</a:t>
            </a:r>
            <a:r>
              <a:rPr lang="en-US" dirty="0">
                <a:solidFill>
                  <a:schemeClr val="accent1">
                    <a:lumMod val="50000"/>
                  </a:schemeClr>
                </a:solidFill>
              </a:rPr>
              <a:t> </a:t>
            </a:r>
            <a:r>
              <a:rPr lang="en-US" b="1" dirty="0">
                <a:solidFill>
                  <a:schemeClr val="accent2">
                    <a:lumMod val="60000"/>
                    <a:lumOff val="40000"/>
                  </a:schemeClr>
                </a:solidFill>
              </a:rPr>
              <a:t>following a plan</a:t>
            </a:r>
          </a:p>
          <a:p>
            <a:pPr marL="406390" indent="0" algn="ctr">
              <a:buNone/>
            </a:pPr>
            <a:br>
              <a:rPr lang="en-US" dirty="0">
                <a:solidFill>
                  <a:schemeClr val="accent1">
                    <a:lumMod val="50000"/>
                  </a:schemeClr>
                </a:solidFill>
              </a:rPr>
            </a:br>
            <a:r>
              <a:rPr lang="en-US" dirty="0"/>
              <a:t>That is, while there is value in the items on the right, we value the items on the left more.</a:t>
            </a:r>
          </a:p>
          <a:p>
            <a:endParaRPr lang="en-US" dirty="0"/>
          </a:p>
        </p:txBody>
      </p:sp>
      <p:sp>
        <p:nvSpPr>
          <p:cNvPr id="4" name="Slide Number Placeholder 3"/>
          <p:cNvSpPr>
            <a:spLocks noGrp="1"/>
          </p:cNvSpPr>
          <p:nvPr>
            <p:ph type="sldNum" idx="12"/>
          </p:nvPr>
        </p:nvSpPr>
        <p:spPr/>
        <p:txBody>
          <a:bodyPr/>
          <a:lstStyle/>
          <a:p>
            <a:fld id="{00000000-1234-1234-1234-123412341234}" type="slidenum">
              <a:rPr lang="en" smtClean="0"/>
              <a:pPr/>
              <a:t>12</a:t>
            </a:fld>
            <a:endParaRPr lang="en"/>
          </a:p>
        </p:txBody>
      </p:sp>
    </p:spTree>
    <p:extLst>
      <p:ext uri="{BB962C8B-B14F-4D97-AF65-F5344CB8AC3E}">
        <p14:creationId xmlns:p14="http://schemas.microsoft.com/office/powerpoint/2010/main" val="3992890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0350" y="4964520"/>
            <a:ext cx="10058400" cy="1893480"/>
          </a:xfrm>
          <a:prstGeom prst="rect">
            <a:avLst/>
          </a:prstGeom>
        </p:spPr>
      </p:pic>
      <p:pic>
        <p:nvPicPr>
          <p:cNvPr id="11" name="Picture 10"/>
          <p:cNvPicPr>
            <a:picLocks noChangeAspect="1"/>
          </p:cNvPicPr>
          <p:nvPr/>
        </p:nvPicPr>
        <p:blipFill>
          <a:blip r:embed="rId4"/>
          <a:stretch>
            <a:fillRect/>
          </a:stretch>
        </p:blipFill>
        <p:spPr>
          <a:xfrm>
            <a:off x="1580180" y="157876"/>
            <a:ext cx="3312841" cy="1065631"/>
          </a:xfrm>
          <a:prstGeom prst="rect">
            <a:avLst/>
          </a:prstGeom>
        </p:spPr>
      </p:pic>
      <p:pic>
        <p:nvPicPr>
          <p:cNvPr id="8" name="Picture 7"/>
          <p:cNvPicPr>
            <a:picLocks noChangeAspect="1"/>
          </p:cNvPicPr>
          <p:nvPr/>
        </p:nvPicPr>
        <p:blipFill>
          <a:blip r:embed="rId5"/>
          <a:stretch>
            <a:fillRect/>
          </a:stretch>
        </p:blipFill>
        <p:spPr>
          <a:xfrm>
            <a:off x="180486" y="72674"/>
            <a:ext cx="1519728" cy="1085520"/>
          </a:xfrm>
          <a:prstGeom prst="rect">
            <a:avLst/>
          </a:prstGeom>
        </p:spPr>
      </p:pic>
      <p:pic>
        <p:nvPicPr>
          <p:cNvPr id="7" name="Picture 6"/>
          <p:cNvPicPr>
            <a:picLocks noChangeAspect="1"/>
          </p:cNvPicPr>
          <p:nvPr/>
        </p:nvPicPr>
        <p:blipFill>
          <a:blip r:embed="rId6"/>
          <a:stretch>
            <a:fillRect/>
          </a:stretch>
        </p:blipFill>
        <p:spPr>
          <a:xfrm>
            <a:off x="10657435" y="157876"/>
            <a:ext cx="1376652" cy="915116"/>
          </a:xfrm>
          <a:prstGeom prst="rect">
            <a:avLst/>
          </a:prstGeom>
        </p:spPr>
      </p:pic>
      <p:sp>
        <p:nvSpPr>
          <p:cNvPr id="2" name="TextBox 1"/>
          <p:cNvSpPr txBox="1"/>
          <p:nvPr/>
        </p:nvSpPr>
        <p:spPr>
          <a:xfrm>
            <a:off x="3236600" y="1544306"/>
            <a:ext cx="7033836" cy="830997"/>
          </a:xfrm>
          <a:prstGeom prst="rect">
            <a:avLst/>
          </a:prstGeom>
          <a:noFill/>
        </p:spPr>
        <p:txBody>
          <a:bodyPr wrap="square" rtlCol="0">
            <a:spAutoFit/>
          </a:bodyPr>
          <a:lstStyle/>
          <a:p>
            <a:r>
              <a:rPr lang="en-US" sz="4800" dirty="0"/>
              <a:t>What we hope to Achieve</a:t>
            </a:r>
          </a:p>
        </p:txBody>
      </p:sp>
      <p:sp>
        <p:nvSpPr>
          <p:cNvPr id="13" name="TextBox 12"/>
          <p:cNvSpPr txBox="1"/>
          <p:nvPr/>
        </p:nvSpPr>
        <p:spPr>
          <a:xfrm>
            <a:off x="1862363" y="3069747"/>
            <a:ext cx="8795072" cy="2308324"/>
          </a:xfrm>
          <a:prstGeom prst="rect">
            <a:avLst/>
          </a:prstGeom>
          <a:noFill/>
        </p:spPr>
        <p:txBody>
          <a:bodyPr wrap="square" rtlCol="0">
            <a:spAutoFit/>
          </a:bodyPr>
          <a:lstStyle/>
          <a:p>
            <a:pPr algn="ctr"/>
            <a:r>
              <a:rPr lang="en-US" sz="3600" b="1" dirty="0">
                <a:solidFill>
                  <a:schemeClr val="accent5">
                    <a:lumMod val="75000"/>
                  </a:schemeClr>
                </a:solidFill>
              </a:rPr>
              <a:t>We will try to shed some light on requirement engineering issues that would help you in getting the right requirements and be able to track them properly.   </a:t>
            </a:r>
          </a:p>
        </p:txBody>
      </p:sp>
    </p:spTree>
    <p:extLst>
      <p:ext uri="{BB962C8B-B14F-4D97-AF65-F5344CB8AC3E}">
        <p14:creationId xmlns:p14="http://schemas.microsoft.com/office/powerpoint/2010/main" val="4481537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3"/>
          <a:stretch>
            <a:fillRect/>
          </a:stretch>
        </p:blipFill>
        <p:spPr>
          <a:xfrm>
            <a:off x="1580180" y="157876"/>
            <a:ext cx="3312841" cy="1065631"/>
          </a:xfrm>
          <a:prstGeom prst="rect">
            <a:avLst/>
          </a:prstGeom>
        </p:spPr>
      </p:pic>
      <p:pic>
        <p:nvPicPr>
          <p:cNvPr id="6" name="Picture 5"/>
          <p:cNvPicPr>
            <a:picLocks noChangeAspect="1"/>
          </p:cNvPicPr>
          <p:nvPr/>
        </p:nvPicPr>
        <p:blipFill>
          <a:blip r:embed="rId4"/>
          <a:stretch>
            <a:fillRect/>
          </a:stretch>
        </p:blipFill>
        <p:spPr>
          <a:xfrm>
            <a:off x="5374343" y="4844871"/>
            <a:ext cx="1675872" cy="2013129"/>
          </a:xfrm>
          <a:prstGeom prst="rect">
            <a:avLst/>
          </a:prstGeom>
        </p:spPr>
      </p:pic>
      <p:pic>
        <p:nvPicPr>
          <p:cNvPr id="4" name="Picture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57234" y="5540595"/>
            <a:ext cx="4958734" cy="1317405"/>
          </a:xfrm>
          <a:prstGeom prst="rect">
            <a:avLst/>
          </a:prstGeom>
          <a:blipFill dpi="0" rotWithShape="1">
            <a:blip r:embed="rId6">
              <a:alphaModFix amt="86000"/>
            </a:blip>
            <a:srcRect/>
            <a:tile tx="0" ty="0" sx="100000" sy="100000" flip="none" algn="tl"/>
          </a:blipFill>
        </p:spPr>
      </p:pic>
      <p:pic>
        <p:nvPicPr>
          <p:cNvPr id="8" name="Picture 7"/>
          <p:cNvPicPr>
            <a:picLocks noChangeAspect="1"/>
          </p:cNvPicPr>
          <p:nvPr/>
        </p:nvPicPr>
        <p:blipFill>
          <a:blip r:embed="rId7"/>
          <a:stretch>
            <a:fillRect/>
          </a:stretch>
        </p:blipFill>
        <p:spPr>
          <a:xfrm>
            <a:off x="180486" y="72674"/>
            <a:ext cx="1519728" cy="1085520"/>
          </a:xfrm>
          <a:prstGeom prst="rect">
            <a:avLst/>
          </a:prstGeom>
        </p:spPr>
      </p:pic>
      <p:pic>
        <p:nvPicPr>
          <p:cNvPr id="12" name="Picture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flipH="1">
            <a:off x="6610321" y="5540595"/>
            <a:ext cx="4833938" cy="1317405"/>
          </a:xfrm>
          <a:prstGeom prst="rect">
            <a:avLst/>
          </a:prstGeom>
          <a:blipFill dpi="0" rotWithShape="1">
            <a:blip r:embed="rId6">
              <a:alphaModFix amt="86000"/>
            </a:blip>
            <a:srcRect/>
            <a:tile tx="0" ty="0" sx="100000" sy="100000" flip="none" algn="tl"/>
          </a:blipFill>
        </p:spPr>
      </p:pic>
      <p:pic>
        <p:nvPicPr>
          <p:cNvPr id="7" name="Picture 6"/>
          <p:cNvPicPr>
            <a:picLocks noChangeAspect="1"/>
          </p:cNvPicPr>
          <p:nvPr/>
        </p:nvPicPr>
        <p:blipFill>
          <a:blip r:embed="rId8"/>
          <a:stretch>
            <a:fillRect/>
          </a:stretch>
        </p:blipFill>
        <p:spPr>
          <a:xfrm>
            <a:off x="10657435" y="157876"/>
            <a:ext cx="1376652" cy="915116"/>
          </a:xfrm>
          <a:prstGeom prst="rect">
            <a:avLst/>
          </a:prstGeom>
        </p:spPr>
      </p:pic>
      <p:sp>
        <p:nvSpPr>
          <p:cNvPr id="2" name="TextBox 1"/>
          <p:cNvSpPr txBox="1"/>
          <p:nvPr/>
        </p:nvSpPr>
        <p:spPr>
          <a:xfrm>
            <a:off x="3816392" y="2060298"/>
            <a:ext cx="5587857" cy="830997"/>
          </a:xfrm>
          <a:prstGeom prst="rect">
            <a:avLst/>
          </a:prstGeom>
          <a:noFill/>
        </p:spPr>
        <p:txBody>
          <a:bodyPr wrap="square" rtlCol="0">
            <a:spAutoFit/>
          </a:bodyPr>
          <a:lstStyle/>
          <a:p>
            <a:r>
              <a:rPr lang="en-US" sz="4800" dirty="0"/>
              <a:t>Before We Start!</a:t>
            </a:r>
          </a:p>
        </p:txBody>
      </p:sp>
      <p:sp>
        <p:nvSpPr>
          <p:cNvPr id="9" name="TextBox 8"/>
          <p:cNvSpPr txBox="1"/>
          <p:nvPr/>
        </p:nvSpPr>
        <p:spPr>
          <a:xfrm>
            <a:off x="2576111" y="3358411"/>
            <a:ext cx="7272336" cy="830997"/>
          </a:xfrm>
          <a:prstGeom prst="rect">
            <a:avLst/>
          </a:prstGeom>
          <a:noFill/>
        </p:spPr>
        <p:txBody>
          <a:bodyPr wrap="square" rtlCol="0">
            <a:spAutoFit/>
          </a:bodyPr>
          <a:lstStyle/>
          <a:p>
            <a:r>
              <a:rPr lang="en-US" sz="4800" b="1" dirty="0">
                <a:solidFill>
                  <a:srgbClr val="00B050"/>
                </a:solidFill>
              </a:rPr>
              <a:t>A Stitch in Time Saves Nine!</a:t>
            </a:r>
          </a:p>
        </p:txBody>
      </p:sp>
    </p:spTree>
    <p:extLst>
      <p:ext uri="{BB962C8B-B14F-4D97-AF65-F5344CB8AC3E}">
        <p14:creationId xmlns:p14="http://schemas.microsoft.com/office/powerpoint/2010/main" val="3124935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3" name="Title 2"/>
          <p:cNvSpPr>
            <a:spLocks noGrp="1"/>
          </p:cNvSpPr>
          <p:nvPr>
            <p:ph type="title"/>
          </p:nvPr>
        </p:nvSpPr>
        <p:spPr/>
        <p:txBody>
          <a:bodyPr/>
          <a:lstStyle/>
          <a:p>
            <a:r>
              <a:rPr lang="en-US" dirty="0">
                <a:sym typeface="Cantarell"/>
              </a:rPr>
              <a:t>Traditional Requirements</a:t>
            </a:r>
            <a:endParaRPr lang="en-US" dirty="0"/>
          </a:p>
        </p:txBody>
      </p:sp>
      <p:sp>
        <p:nvSpPr>
          <p:cNvPr id="4" name="Content Placeholder 3"/>
          <p:cNvSpPr>
            <a:spLocks noGrp="1"/>
          </p:cNvSpPr>
          <p:nvPr>
            <p:ph idx="1"/>
          </p:nvPr>
        </p:nvSpPr>
        <p:spPr/>
        <p:txBody>
          <a:bodyPr/>
          <a:lstStyle/>
          <a:p>
            <a:pPr marL="254794" indent="-254794">
              <a:buClr>
                <a:schemeClr val="accent1"/>
              </a:buClr>
              <a:buSzPct val="80000"/>
              <a:buFont typeface="Wingdings" panose="05000000000000000000" pitchFamily="2" charset="2"/>
              <a:buChar char="§"/>
            </a:pPr>
            <a:r>
              <a:rPr lang="en-US" dirty="0">
                <a:sym typeface="Cantarell"/>
              </a:rPr>
              <a:t>Criteria to which system or business should adhere</a:t>
            </a:r>
          </a:p>
          <a:p>
            <a:pPr marL="254794" indent="-254794">
              <a:buClr>
                <a:schemeClr val="accent1"/>
              </a:buClr>
              <a:buSzPct val="80000"/>
              <a:buFont typeface="Wingdings" panose="05000000000000000000" pitchFamily="2" charset="2"/>
              <a:buChar char="§"/>
            </a:pPr>
            <a:r>
              <a:rPr lang="en-US" dirty="0">
                <a:sym typeface="Cantarell"/>
              </a:rPr>
              <a:t>Generated before coding begins</a:t>
            </a:r>
          </a:p>
          <a:p>
            <a:pPr marL="254794" indent="-254794">
              <a:buClr>
                <a:schemeClr val="accent1"/>
              </a:buClr>
              <a:buSzPct val="80000"/>
              <a:buFont typeface="Wingdings" panose="05000000000000000000" pitchFamily="2" charset="2"/>
              <a:buChar char="§"/>
            </a:pPr>
            <a:r>
              <a:rPr lang="en-US" dirty="0">
                <a:sym typeface="Cantarell"/>
              </a:rPr>
              <a:t>Often considered as constraints, conditions or capabilities of system</a:t>
            </a:r>
          </a:p>
          <a:p>
            <a:pPr marL="254794" indent="-254794">
              <a:buClr>
                <a:schemeClr val="accent1"/>
              </a:buClr>
              <a:buSzPct val="80000"/>
              <a:buFont typeface="Wingdings" panose="05000000000000000000" pitchFamily="2" charset="2"/>
              <a:buChar char="§"/>
            </a:pPr>
            <a:r>
              <a:rPr lang="en-US" dirty="0">
                <a:sym typeface="Cantarell"/>
              </a:rPr>
              <a:t>Rarely contain acceptance criteria</a:t>
            </a:r>
          </a:p>
          <a:p>
            <a:pPr marL="254794" indent="-254794">
              <a:buClr>
                <a:schemeClr val="accent1"/>
              </a:buClr>
              <a:buSzPct val="80000"/>
              <a:buFont typeface="Wingdings" panose="05000000000000000000" pitchFamily="2" charset="2"/>
              <a:buChar char="§"/>
            </a:pPr>
            <a:r>
              <a:rPr lang="en-US" dirty="0">
                <a:sym typeface="Cantarell"/>
              </a:rPr>
              <a:t>Contract between business and development</a:t>
            </a:r>
          </a:p>
          <a:p>
            <a:endParaRPr lang="en-US" dirty="0"/>
          </a:p>
        </p:txBody>
      </p:sp>
    </p:spTree>
    <p:extLst>
      <p:ext uri="{BB962C8B-B14F-4D97-AF65-F5344CB8AC3E}">
        <p14:creationId xmlns:p14="http://schemas.microsoft.com/office/powerpoint/2010/main" val="2251262328"/>
      </p:ext>
    </p:extLst>
  </p:cSld>
  <p:clrMapOvr>
    <a:masterClrMapping/>
  </p:clrMapOvr>
  <p:transition spd="slow">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3" name="Title 2"/>
          <p:cNvSpPr>
            <a:spLocks noGrp="1"/>
          </p:cNvSpPr>
          <p:nvPr>
            <p:ph type="title"/>
          </p:nvPr>
        </p:nvSpPr>
        <p:spPr/>
        <p:txBody>
          <a:bodyPr/>
          <a:lstStyle/>
          <a:p>
            <a:r>
              <a:rPr lang="en-US" dirty="0">
                <a:sym typeface="Cantarell"/>
              </a:rPr>
              <a:t>User Story</a:t>
            </a:r>
            <a:endParaRPr lang="en-US" dirty="0"/>
          </a:p>
        </p:txBody>
      </p:sp>
      <p:sp>
        <p:nvSpPr>
          <p:cNvPr id="4" name="Content Placeholder 3"/>
          <p:cNvSpPr>
            <a:spLocks noGrp="1"/>
          </p:cNvSpPr>
          <p:nvPr>
            <p:ph idx="1"/>
          </p:nvPr>
        </p:nvSpPr>
        <p:spPr/>
        <p:txBody>
          <a:bodyPr>
            <a:normAutofit/>
          </a:bodyPr>
          <a:lstStyle/>
          <a:p>
            <a:pPr marL="254794" indent="-254794">
              <a:buClr>
                <a:schemeClr val="accent1"/>
              </a:buClr>
              <a:buSzPct val="80000"/>
              <a:buFont typeface="Wingdings" panose="05000000000000000000" pitchFamily="2" charset="2"/>
              <a:buChar char="§"/>
            </a:pPr>
            <a:r>
              <a:rPr lang="en-US" dirty="0">
                <a:sym typeface="Cantarell"/>
              </a:rPr>
              <a:t>A product feature description written by Customer/Proxy from the perspective of end user.</a:t>
            </a:r>
          </a:p>
          <a:p>
            <a:pPr marL="254794" indent="-254794">
              <a:buClr>
                <a:schemeClr val="accent1"/>
              </a:buClr>
              <a:buSzPct val="80000"/>
              <a:buFont typeface="Wingdings" panose="05000000000000000000" pitchFamily="2" charset="2"/>
              <a:buChar char="§"/>
            </a:pPr>
            <a:r>
              <a:rPr lang="en-US" dirty="0">
                <a:sym typeface="Cantarell"/>
              </a:rPr>
              <a:t>It helps team understand what work is to be done</a:t>
            </a:r>
          </a:p>
          <a:p>
            <a:pPr marL="254794" indent="-254794">
              <a:buClr>
                <a:schemeClr val="accent1"/>
              </a:buClr>
              <a:buSzPct val="80000"/>
              <a:buFont typeface="Wingdings" panose="05000000000000000000" pitchFamily="2" charset="2"/>
              <a:buChar char="§"/>
            </a:pPr>
            <a:r>
              <a:rPr lang="en-US" dirty="0">
                <a:sym typeface="Cantarell"/>
              </a:rPr>
              <a:t>Customer/Proxy prioritizes and team </a:t>
            </a:r>
            <a:r>
              <a:rPr lang="en-US" b="1" i="1" dirty="0">
                <a:solidFill>
                  <a:schemeClr val="accent2"/>
                </a:solidFill>
                <a:sym typeface="Cantarell"/>
              </a:rPr>
              <a:t>estimates</a:t>
            </a:r>
            <a:r>
              <a:rPr lang="en-US" dirty="0">
                <a:solidFill>
                  <a:schemeClr val="accent2"/>
                </a:solidFill>
                <a:sym typeface="Cantarell"/>
              </a:rPr>
              <a:t> </a:t>
            </a:r>
            <a:r>
              <a:rPr lang="en-US" dirty="0">
                <a:sym typeface="Cantarell"/>
              </a:rPr>
              <a:t>them</a:t>
            </a:r>
          </a:p>
          <a:p>
            <a:pPr marL="254794" indent="-254794">
              <a:buClr>
                <a:schemeClr val="accent1"/>
              </a:buClr>
              <a:buSzPct val="80000"/>
              <a:buFont typeface="Wingdings" panose="05000000000000000000" pitchFamily="2" charset="2"/>
              <a:buChar char="§"/>
            </a:pPr>
            <a:r>
              <a:rPr lang="en-US" dirty="0">
                <a:sym typeface="Cantarell"/>
              </a:rPr>
              <a:t>It usually follows the format:</a:t>
            </a:r>
          </a:p>
          <a:p>
            <a:pPr marL="548640" lvl="1" indent="-205739">
              <a:spcBef>
                <a:spcPts val="420"/>
              </a:spcBef>
              <a:buClr>
                <a:schemeClr val="accent2"/>
              </a:buClr>
              <a:buSzPct val="96923"/>
              <a:buFont typeface="Cantarell"/>
              <a:buChar char="▪"/>
            </a:pPr>
            <a:r>
              <a:rPr lang="en-US" sz="2800" dirty="0">
                <a:ea typeface="Cantarell"/>
                <a:cs typeface="Cantarell"/>
                <a:sym typeface="Cantarell"/>
              </a:rPr>
              <a:t>As a : &lt;</a:t>
            </a:r>
            <a:r>
              <a:rPr lang="en-US" sz="2800" b="1" dirty="0">
                <a:solidFill>
                  <a:schemeClr val="accent2"/>
                </a:solidFill>
                <a:ea typeface="Cantarell"/>
                <a:cs typeface="Cantarell"/>
                <a:sym typeface="Cantarell"/>
              </a:rPr>
              <a:t>Role</a:t>
            </a:r>
            <a:r>
              <a:rPr lang="en-US" sz="2800" dirty="0">
                <a:ea typeface="Cantarell"/>
                <a:cs typeface="Cantarell"/>
                <a:sym typeface="Cantarell"/>
              </a:rPr>
              <a:t>&gt;</a:t>
            </a:r>
          </a:p>
          <a:p>
            <a:pPr marL="548640" lvl="1" indent="-205739">
              <a:spcBef>
                <a:spcPts val="420"/>
              </a:spcBef>
              <a:buClr>
                <a:schemeClr val="accent2"/>
              </a:buClr>
              <a:buSzPct val="96923"/>
              <a:buFont typeface="Cantarell"/>
              <a:buChar char="▪"/>
            </a:pPr>
            <a:r>
              <a:rPr lang="en-US" sz="2800" dirty="0">
                <a:ea typeface="Cantarell"/>
                <a:cs typeface="Cantarell"/>
                <a:sym typeface="Cantarell"/>
              </a:rPr>
              <a:t>I want to : &lt;</a:t>
            </a:r>
            <a:r>
              <a:rPr lang="en-US" sz="2800" b="1" dirty="0">
                <a:solidFill>
                  <a:schemeClr val="accent2"/>
                </a:solidFill>
                <a:ea typeface="Cantarell"/>
                <a:cs typeface="Cantarell"/>
                <a:sym typeface="Cantarell"/>
              </a:rPr>
              <a:t>Function</a:t>
            </a:r>
            <a:r>
              <a:rPr lang="en-US" sz="2800" dirty="0">
                <a:ea typeface="Cantarell"/>
                <a:cs typeface="Cantarell"/>
                <a:sym typeface="Cantarell"/>
              </a:rPr>
              <a:t>&gt;</a:t>
            </a:r>
          </a:p>
          <a:p>
            <a:pPr marL="548640" lvl="1" indent="-205739">
              <a:spcBef>
                <a:spcPts val="420"/>
              </a:spcBef>
              <a:buClr>
                <a:schemeClr val="accent2"/>
              </a:buClr>
              <a:buSzPct val="96923"/>
              <a:buFont typeface="Cantarell"/>
              <a:buChar char="▪"/>
            </a:pPr>
            <a:r>
              <a:rPr lang="en-US" sz="2800" dirty="0">
                <a:ea typeface="Cantarell"/>
                <a:cs typeface="Cantarell"/>
                <a:sym typeface="Cantarell"/>
              </a:rPr>
              <a:t>So that : &lt;</a:t>
            </a:r>
            <a:r>
              <a:rPr lang="en-US" sz="2800" b="1" dirty="0">
                <a:solidFill>
                  <a:schemeClr val="accent2"/>
                </a:solidFill>
                <a:ea typeface="Cantarell"/>
                <a:cs typeface="Cantarell"/>
                <a:sym typeface="Cantarell"/>
              </a:rPr>
              <a:t>Desired Goal</a:t>
            </a:r>
            <a:r>
              <a:rPr lang="en-US" sz="2800" dirty="0">
                <a:ea typeface="Cantarell"/>
                <a:cs typeface="Cantarell"/>
                <a:sym typeface="Cantarell"/>
              </a:rPr>
              <a:t>&gt;</a:t>
            </a:r>
          </a:p>
        </p:txBody>
      </p:sp>
    </p:spTree>
    <p:extLst>
      <p:ext uri="{BB962C8B-B14F-4D97-AF65-F5344CB8AC3E}">
        <p14:creationId xmlns:p14="http://schemas.microsoft.com/office/powerpoint/2010/main" val="2055753497"/>
      </p:ext>
    </p:extLst>
  </p:cSld>
  <p:clrMapOvr>
    <a:masterClrMapping/>
  </p:clrMapOvr>
  <p:transition spd="slow">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B7AE0-6F66-3FFD-C737-7E1968B7E2C4}"/>
              </a:ext>
            </a:extLst>
          </p:cNvPr>
          <p:cNvSpPr>
            <a:spLocks noGrp="1"/>
          </p:cNvSpPr>
          <p:nvPr>
            <p:ph type="title"/>
          </p:nvPr>
        </p:nvSpPr>
        <p:spPr/>
        <p:txBody>
          <a:bodyPr/>
          <a:lstStyle/>
          <a:p>
            <a:endParaRPr lang="en-US"/>
          </a:p>
        </p:txBody>
      </p:sp>
      <p:pic>
        <p:nvPicPr>
          <p:cNvPr id="5" name="Content Placeholder 4" descr="A screenshot of a computer program&#10;&#10;AI-generated content may be incorrect.">
            <a:extLst>
              <a:ext uri="{FF2B5EF4-FFF2-40B4-BE49-F238E27FC236}">
                <a16:creationId xmlns:a16="http://schemas.microsoft.com/office/drawing/2014/main" id="{4FDF3D82-8EE2-A5EE-D37A-850229D2460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64553" y="1825625"/>
            <a:ext cx="7262894" cy="4351338"/>
          </a:xfrm>
        </p:spPr>
      </p:pic>
    </p:spTree>
    <p:extLst>
      <p:ext uri="{BB962C8B-B14F-4D97-AF65-F5344CB8AC3E}">
        <p14:creationId xmlns:p14="http://schemas.microsoft.com/office/powerpoint/2010/main" val="38199938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3" name="Title 2"/>
          <p:cNvSpPr>
            <a:spLocks noGrp="1"/>
          </p:cNvSpPr>
          <p:nvPr>
            <p:ph type="title"/>
          </p:nvPr>
        </p:nvSpPr>
        <p:spPr/>
        <p:txBody>
          <a:bodyPr/>
          <a:lstStyle/>
          <a:p>
            <a:r>
              <a:rPr lang="en-US" dirty="0">
                <a:sym typeface="Cantarell"/>
              </a:rPr>
              <a:t>User Story (contd.)</a:t>
            </a:r>
            <a:endParaRPr lang="en-US" dirty="0"/>
          </a:p>
        </p:txBody>
      </p:sp>
      <p:sp>
        <p:nvSpPr>
          <p:cNvPr id="4" name="Content Placeholder 3"/>
          <p:cNvSpPr>
            <a:spLocks noGrp="1"/>
          </p:cNvSpPr>
          <p:nvPr>
            <p:ph idx="1"/>
          </p:nvPr>
        </p:nvSpPr>
        <p:spPr/>
        <p:txBody>
          <a:bodyPr/>
          <a:lstStyle/>
          <a:p>
            <a:pPr marL="254794" indent="-254794">
              <a:buClr>
                <a:schemeClr val="accent1"/>
              </a:buClr>
              <a:buSzPct val="80000"/>
              <a:buFont typeface="Wingdings" panose="05000000000000000000" pitchFamily="2" charset="2"/>
              <a:buChar char="§"/>
            </a:pPr>
            <a:r>
              <a:rPr lang="en-US" dirty="0">
                <a:sym typeface="Cantarell"/>
              </a:rPr>
              <a:t>Shifts focus from writing about requirements to </a:t>
            </a:r>
            <a:r>
              <a:rPr lang="en-US" u="sng" dirty="0">
                <a:sym typeface="Cantarell"/>
              </a:rPr>
              <a:t>talking</a:t>
            </a:r>
            <a:r>
              <a:rPr lang="en-US" dirty="0">
                <a:sym typeface="Cantarell"/>
              </a:rPr>
              <a:t> about them</a:t>
            </a:r>
          </a:p>
          <a:p>
            <a:pPr marL="254794" indent="-254794">
              <a:buClr>
                <a:schemeClr val="accent1"/>
              </a:buClr>
              <a:buSzPct val="80000"/>
              <a:buFont typeface="Wingdings" panose="05000000000000000000" pitchFamily="2" charset="2"/>
              <a:buChar char="§"/>
            </a:pPr>
            <a:r>
              <a:rPr lang="en-US" dirty="0">
                <a:sym typeface="Cantarell"/>
              </a:rPr>
              <a:t>Not a highly detailed document, rather a reminder for further collaboration</a:t>
            </a:r>
          </a:p>
          <a:p>
            <a:pPr marL="254794" indent="-254794">
              <a:buClr>
                <a:schemeClr val="accent1"/>
              </a:buClr>
              <a:buSzPct val="80000"/>
              <a:buFont typeface="Wingdings" panose="05000000000000000000" pitchFamily="2" charset="2"/>
              <a:buChar char="§"/>
            </a:pPr>
            <a:r>
              <a:rPr lang="en-US" dirty="0">
                <a:sym typeface="Cantarell"/>
              </a:rPr>
              <a:t>A User Story should be End to End</a:t>
            </a:r>
          </a:p>
        </p:txBody>
      </p:sp>
    </p:spTree>
    <p:extLst>
      <p:ext uri="{BB962C8B-B14F-4D97-AF65-F5344CB8AC3E}">
        <p14:creationId xmlns:p14="http://schemas.microsoft.com/office/powerpoint/2010/main" val="3453333002"/>
      </p:ext>
    </p:extLst>
  </p:cSld>
  <p:clrMapOvr>
    <a:masterClrMapping/>
  </p:clrMapOvr>
  <p:transition spd="slow">
    <p:cut/>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INVEST</a:t>
            </a:r>
          </a:p>
        </p:txBody>
      </p:sp>
      <p:sp>
        <p:nvSpPr>
          <p:cNvPr id="3" name="Text Placeholder 2"/>
          <p:cNvSpPr>
            <a:spLocks noGrp="1"/>
          </p:cNvSpPr>
          <p:nvPr>
            <p:ph type="body" idx="1"/>
          </p:nvPr>
        </p:nvSpPr>
        <p:spPr/>
        <p:txBody>
          <a:bodyPr/>
          <a:lstStyle/>
          <a:p>
            <a:endParaRPr lang="en-US"/>
          </a:p>
        </p:txBody>
      </p:sp>
      <p:graphicFrame>
        <p:nvGraphicFramePr>
          <p:cNvPr id="4" name="Table 3"/>
          <p:cNvGraphicFramePr>
            <a:graphicFrameLocks noGrp="1"/>
          </p:cNvGraphicFramePr>
          <p:nvPr/>
        </p:nvGraphicFramePr>
        <p:xfrm>
          <a:off x="838200" y="1825625"/>
          <a:ext cx="10515600" cy="3879138"/>
        </p:xfrm>
        <a:graphic>
          <a:graphicData uri="http://schemas.openxmlformats.org/drawingml/2006/table">
            <a:tbl>
              <a:tblPr firstCol="1" bandRow="1">
                <a:tableStyleId>{5C22544A-7EE6-4342-B048-85BDC9FD1C3A}</a:tableStyleId>
              </a:tblPr>
              <a:tblGrid>
                <a:gridCol w="2587388">
                  <a:extLst>
                    <a:ext uri="{9D8B030D-6E8A-4147-A177-3AD203B41FA5}">
                      <a16:colId xmlns:a16="http://schemas.microsoft.com/office/drawing/2014/main" val="20000"/>
                    </a:ext>
                  </a:extLst>
                </a:gridCol>
                <a:gridCol w="7928212">
                  <a:extLst>
                    <a:ext uri="{9D8B030D-6E8A-4147-A177-3AD203B41FA5}">
                      <a16:colId xmlns:a16="http://schemas.microsoft.com/office/drawing/2014/main" val="20001"/>
                    </a:ext>
                  </a:extLst>
                </a:gridCol>
              </a:tblGrid>
              <a:tr h="646523">
                <a:tc>
                  <a:txBody>
                    <a:bodyPr/>
                    <a:lstStyle/>
                    <a:p>
                      <a:r>
                        <a:rPr lang="en-US" sz="2800" b="1" dirty="0"/>
                        <a:t>Independent</a:t>
                      </a:r>
                    </a:p>
                  </a:txBody>
                  <a:tcPr/>
                </a:tc>
                <a:tc>
                  <a:txBody>
                    <a:bodyPr/>
                    <a:lstStyle/>
                    <a:p>
                      <a:r>
                        <a:rPr lang="en-US" sz="2800" dirty="0">
                          <a:ea typeface="Cantarell"/>
                          <a:cs typeface="Cantarell"/>
                          <a:sym typeface="Cantarell"/>
                        </a:rPr>
                        <a:t>Reduced dependencies, easy planning</a:t>
                      </a:r>
                      <a:endParaRPr lang="en-US" sz="2800" dirty="0"/>
                    </a:p>
                  </a:txBody>
                  <a:tcPr/>
                </a:tc>
                <a:extLst>
                  <a:ext uri="{0D108BD9-81ED-4DB2-BD59-A6C34878D82A}">
                    <a16:rowId xmlns:a16="http://schemas.microsoft.com/office/drawing/2014/main" val="10000"/>
                  </a:ext>
                </a:extLst>
              </a:tr>
              <a:tr h="646523">
                <a:tc>
                  <a:txBody>
                    <a:bodyPr/>
                    <a:lstStyle/>
                    <a:p>
                      <a:r>
                        <a:rPr lang="en-US" sz="2800" b="1" dirty="0"/>
                        <a:t>Negotiable</a:t>
                      </a:r>
                    </a:p>
                  </a:txBody>
                  <a:tcP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800" dirty="0">
                          <a:ea typeface="Cantarell"/>
                          <a:cs typeface="Cantarell"/>
                          <a:sym typeface="Cantarell"/>
                        </a:rPr>
                        <a:t>Details are added via collaboration</a:t>
                      </a:r>
                    </a:p>
                  </a:txBody>
                  <a:tcPr/>
                </a:tc>
                <a:extLst>
                  <a:ext uri="{0D108BD9-81ED-4DB2-BD59-A6C34878D82A}">
                    <a16:rowId xmlns:a16="http://schemas.microsoft.com/office/drawing/2014/main" val="10001"/>
                  </a:ext>
                </a:extLst>
              </a:tr>
              <a:tr h="646523">
                <a:tc>
                  <a:txBody>
                    <a:bodyPr/>
                    <a:lstStyle/>
                    <a:p>
                      <a:r>
                        <a:rPr lang="en-US" sz="2800" b="1" dirty="0"/>
                        <a:t>Valuable</a:t>
                      </a:r>
                    </a:p>
                  </a:txBody>
                  <a:tcPr/>
                </a:tc>
                <a:tc>
                  <a:txBody>
                    <a:bodyPr/>
                    <a:lstStyle/>
                    <a:p>
                      <a:r>
                        <a:rPr lang="en-US" sz="2800" dirty="0"/>
                        <a:t>Provides value to customer</a:t>
                      </a:r>
                    </a:p>
                  </a:txBody>
                  <a:tcPr/>
                </a:tc>
                <a:extLst>
                  <a:ext uri="{0D108BD9-81ED-4DB2-BD59-A6C34878D82A}">
                    <a16:rowId xmlns:a16="http://schemas.microsoft.com/office/drawing/2014/main" val="10002"/>
                  </a:ext>
                </a:extLst>
              </a:tr>
              <a:tr h="646523">
                <a:tc>
                  <a:txBody>
                    <a:bodyPr/>
                    <a:lstStyle/>
                    <a:p>
                      <a:r>
                        <a:rPr lang="en-US" sz="2800" b="1" dirty="0"/>
                        <a:t>Estimable</a:t>
                      </a:r>
                    </a:p>
                  </a:txBody>
                  <a:tcP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800" dirty="0">
                          <a:ea typeface="Cantarell"/>
                          <a:cs typeface="Cantarell"/>
                          <a:sym typeface="Cantarell"/>
                        </a:rPr>
                        <a:t>Should not be big / vague</a:t>
                      </a:r>
                    </a:p>
                  </a:txBody>
                  <a:tcPr/>
                </a:tc>
                <a:extLst>
                  <a:ext uri="{0D108BD9-81ED-4DB2-BD59-A6C34878D82A}">
                    <a16:rowId xmlns:a16="http://schemas.microsoft.com/office/drawing/2014/main" val="10003"/>
                  </a:ext>
                </a:extLst>
              </a:tr>
              <a:tr h="646523">
                <a:tc>
                  <a:txBody>
                    <a:bodyPr/>
                    <a:lstStyle/>
                    <a:p>
                      <a:r>
                        <a:rPr lang="en-US" sz="2800" b="1" dirty="0"/>
                        <a:t>Small</a:t>
                      </a:r>
                    </a:p>
                  </a:txBody>
                  <a:tcPr/>
                </a:tc>
                <a:tc>
                  <a:txBody>
                    <a:bodyPr/>
                    <a:lstStyle/>
                    <a:p>
                      <a:r>
                        <a:rPr lang="en-US" sz="2800" dirty="0">
                          <a:ea typeface="Cantarell"/>
                          <a:cs typeface="Cantarell"/>
                          <a:sym typeface="Cantarell"/>
                        </a:rPr>
                        <a:t>Can be done in less than a week by team</a:t>
                      </a:r>
                      <a:endParaRPr lang="en-US" sz="2800" dirty="0"/>
                    </a:p>
                  </a:txBody>
                  <a:tcPr/>
                </a:tc>
                <a:extLst>
                  <a:ext uri="{0D108BD9-81ED-4DB2-BD59-A6C34878D82A}">
                    <a16:rowId xmlns:a16="http://schemas.microsoft.com/office/drawing/2014/main" val="10004"/>
                  </a:ext>
                </a:extLst>
              </a:tr>
              <a:tr h="646523">
                <a:tc>
                  <a:txBody>
                    <a:bodyPr/>
                    <a:lstStyle/>
                    <a:p>
                      <a:r>
                        <a:rPr lang="en-US" sz="2800" b="1" dirty="0"/>
                        <a:t>Testable</a:t>
                      </a:r>
                    </a:p>
                  </a:txBody>
                  <a:tcP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2800" dirty="0">
                          <a:ea typeface="Cantarell"/>
                          <a:cs typeface="Cantarell"/>
                          <a:sym typeface="Cantarell"/>
                        </a:rPr>
                        <a:t>Has acceptance criteria</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3685265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679BF-43BD-BFB8-5AC1-E98B8AD83979}"/>
              </a:ext>
            </a:extLst>
          </p:cNvPr>
          <p:cNvSpPr>
            <a:spLocks noGrp="1"/>
          </p:cNvSpPr>
          <p:nvPr>
            <p:ph type="title"/>
          </p:nvPr>
        </p:nvSpPr>
        <p:spPr/>
        <p:txBody>
          <a:bodyPr/>
          <a:lstStyle/>
          <a:p>
            <a:endParaRPr lang="en-US"/>
          </a:p>
        </p:txBody>
      </p:sp>
      <p:pic>
        <p:nvPicPr>
          <p:cNvPr id="5" name="Content Placeholder 4" descr="A diagram of a diagram&#10;&#10;AI-generated content may be incorrect.">
            <a:extLst>
              <a:ext uri="{FF2B5EF4-FFF2-40B4-BE49-F238E27FC236}">
                <a16:creationId xmlns:a16="http://schemas.microsoft.com/office/drawing/2014/main" id="{5BF69644-3662-7FC6-B443-664A5824FFC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31579" y="1825625"/>
            <a:ext cx="7728841" cy="4351338"/>
          </a:xfrm>
        </p:spPr>
      </p:pic>
    </p:spTree>
    <p:extLst>
      <p:ext uri="{BB962C8B-B14F-4D97-AF65-F5344CB8AC3E}">
        <p14:creationId xmlns:p14="http://schemas.microsoft.com/office/powerpoint/2010/main" val="19822960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DB845-28B8-3D6C-92F7-4C1729C91AA9}"/>
              </a:ext>
            </a:extLst>
          </p:cNvPr>
          <p:cNvSpPr>
            <a:spLocks noGrp="1"/>
          </p:cNvSpPr>
          <p:nvPr>
            <p:ph type="title"/>
          </p:nvPr>
        </p:nvSpPr>
        <p:spPr/>
        <p:txBody>
          <a:bodyPr/>
          <a:lstStyle/>
          <a:p>
            <a:endParaRPr lang="en-US"/>
          </a:p>
        </p:txBody>
      </p:sp>
      <p:pic>
        <p:nvPicPr>
          <p:cNvPr id="5" name="Content Placeholder 4" descr="A screenshot of a computer&#10;&#10;AI-generated content may be incorrect.">
            <a:extLst>
              <a:ext uri="{FF2B5EF4-FFF2-40B4-BE49-F238E27FC236}">
                <a16:creationId xmlns:a16="http://schemas.microsoft.com/office/drawing/2014/main" id="{EC5A5D16-F490-86EF-59B9-6552B5D5D5C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31579" y="1825625"/>
            <a:ext cx="7728842" cy="4351338"/>
          </a:xfrm>
        </p:spPr>
      </p:pic>
    </p:spTree>
    <p:extLst>
      <p:ext uri="{BB962C8B-B14F-4D97-AF65-F5344CB8AC3E}">
        <p14:creationId xmlns:p14="http://schemas.microsoft.com/office/powerpoint/2010/main" val="30202895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3" name="Title 2"/>
          <p:cNvSpPr>
            <a:spLocks noGrp="1"/>
          </p:cNvSpPr>
          <p:nvPr>
            <p:ph type="title"/>
          </p:nvPr>
        </p:nvSpPr>
        <p:spPr/>
        <p:txBody>
          <a:bodyPr/>
          <a:lstStyle/>
          <a:p>
            <a:r>
              <a:rPr lang="en-US" dirty="0">
                <a:sym typeface="Cantarell"/>
              </a:rPr>
              <a:t>Epic and Theme</a:t>
            </a:r>
            <a:endParaRPr lang="en-US" dirty="0"/>
          </a:p>
        </p:txBody>
      </p:sp>
      <p:sp>
        <p:nvSpPr>
          <p:cNvPr id="4" name="Content Placeholder 3"/>
          <p:cNvSpPr>
            <a:spLocks noGrp="1"/>
          </p:cNvSpPr>
          <p:nvPr>
            <p:ph idx="1"/>
          </p:nvPr>
        </p:nvSpPr>
        <p:spPr/>
        <p:txBody>
          <a:bodyPr>
            <a:normAutofit lnSpcReduction="10000"/>
          </a:bodyPr>
          <a:lstStyle/>
          <a:p>
            <a:pPr marL="254794" indent="-254794">
              <a:buClr>
                <a:schemeClr val="accent1"/>
              </a:buClr>
              <a:buSzPct val="80000"/>
              <a:buFont typeface="Wingdings" panose="05000000000000000000" pitchFamily="2" charset="2"/>
              <a:buChar char="§"/>
            </a:pPr>
            <a:r>
              <a:rPr lang="en-US" b="1" dirty="0">
                <a:sym typeface="Cantarell"/>
              </a:rPr>
              <a:t>Epic</a:t>
            </a:r>
            <a:r>
              <a:rPr lang="en-US" dirty="0">
                <a:sym typeface="Cantarell"/>
              </a:rPr>
              <a:t> is a large story that can be further divided into multiple stories</a:t>
            </a:r>
          </a:p>
          <a:p>
            <a:pPr marL="254794" indent="-254794">
              <a:buClr>
                <a:schemeClr val="accent1"/>
              </a:buClr>
              <a:buSzPct val="80000"/>
              <a:buFont typeface="Wingdings" panose="05000000000000000000" pitchFamily="2" charset="2"/>
              <a:buChar char="§"/>
            </a:pPr>
            <a:r>
              <a:rPr lang="en-US" b="1" dirty="0">
                <a:sym typeface="Cantarell"/>
              </a:rPr>
              <a:t>Theme</a:t>
            </a:r>
            <a:r>
              <a:rPr lang="en-US" dirty="0">
                <a:sym typeface="Cantarell"/>
              </a:rPr>
              <a:t> is a collection of related stories</a:t>
            </a:r>
          </a:p>
          <a:p>
            <a:pPr marL="254794" indent="-254794">
              <a:buClr>
                <a:schemeClr val="accent1"/>
              </a:buClr>
              <a:buSzPct val="80000"/>
              <a:buFont typeface="Wingdings" panose="05000000000000000000" pitchFamily="2" charset="2"/>
              <a:buChar char="§"/>
            </a:pPr>
            <a:endParaRPr lang="en-US" dirty="0">
              <a:sym typeface="Cantarell"/>
            </a:endParaRPr>
          </a:p>
          <a:p>
            <a:pPr marL="254794" indent="-254794">
              <a:buClr>
                <a:schemeClr val="accent1"/>
              </a:buClr>
              <a:buSzPct val="80000"/>
              <a:buFont typeface="Wingdings" panose="05000000000000000000" pitchFamily="2" charset="2"/>
              <a:buChar char="§"/>
            </a:pPr>
            <a:r>
              <a:rPr lang="en-US" dirty="0">
                <a:sym typeface="Cantarell"/>
              </a:rPr>
              <a:t>For example, “A user can search for job” can be split into multiple stories:</a:t>
            </a:r>
          </a:p>
          <a:p>
            <a:pPr marL="548640" lvl="1" indent="-205739">
              <a:spcBef>
                <a:spcPts val="420"/>
              </a:spcBef>
              <a:buClr>
                <a:schemeClr val="accent2"/>
              </a:buClr>
              <a:buSzPct val="90000"/>
              <a:buFont typeface="Cantarell"/>
              <a:buChar char="▪"/>
            </a:pPr>
            <a:r>
              <a:rPr lang="en-US" sz="2800" dirty="0">
                <a:ea typeface="Cantarell"/>
                <a:cs typeface="Cantarell"/>
                <a:sym typeface="Cantarell"/>
              </a:rPr>
              <a:t>Search by Location, Salary Range, etc.</a:t>
            </a:r>
          </a:p>
          <a:p>
            <a:pPr marL="548640" lvl="1" indent="-205739">
              <a:spcBef>
                <a:spcPts val="420"/>
              </a:spcBef>
              <a:buClr>
                <a:schemeClr val="accent2"/>
              </a:buClr>
              <a:buSzPct val="90000"/>
              <a:buFont typeface="Cantarell"/>
              <a:buChar char="▪"/>
            </a:pPr>
            <a:r>
              <a:rPr lang="en-US" sz="2800" dirty="0">
                <a:ea typeface="Cantarell"/>
                <a:cs typeface="Cantarell"/>
                <a:sym typeface="Cantarell"/>
              </a:rPr>
              <a:t>View Job Detail</a:t>
            </a:r>
          </a:p>
          <a:p>
            <a:pPr marL="548640" lvl="1" indent="-205739">
              <a:spcBef>
                <a:spcPts val="420"/>
              </a:spcBef>
              <a:buClr>
                <a:schemeClr val="accent2"/>
              </a:buClr>
              <a:buSzPct val="90000"/>
              <a:buFont typeface="Cantarell"/>
              <a:buChar char="▪"/>
            </a:pPr>
            <a:r>
              <a:rPr lang="en-US" sz="2800" dirty="0">
                <a:ea typeface="Cantarell"/>
                <a:cs typeface="Cantarell"/>
                <a:sym typeface="Cantarell"/>
              </a:rPr>
              <a:t>View Company Profile</a:t>
            </a:r>
          </a:p>
          <a:p>
            <a:pPr marL="548640" lvl="1" indent="-205739">
              <a:spcBef>
                <a:spcPts val="420"/>
              </a:spcBef>
              <a:buClr>
                <a:schemeClr val="accent2"/>
              </a:buClr>
              <a:buSzPct val="90000"/>
              <a:buFont typeface="Cantarell"/>
              <a:buChar char="▪"/>
            </a:pPr>
            <a:endParaRPr lang="en-US" sz="2800" dirty="0">
              <a:ea typeface="Cantarell"/>
              <a:cs typeface="Cantarell"/>
              <a:sym typeface="Cantarell"/>
            </a:endParaRPr>
          </a:p>
          <a:p>
            <a:pPr marL="342901" lvl="1" indent="0" algn="ctr">
              <a:spcBef>
                <a:spcPts val="420"/>
              </a:spcBef>
              <a:buClr>
                <a:schemeClr val="accent2"/>
              </a:buClr>
              <a:buSzPct val="90000"/>
              <a:buNone/>
            </a:pPr>
            <a:r>
              <a:rPr lang="en-US" sz="2200" dirty="0">
                <a:ea typeface="Cantarell"/>
                <a:cs typeface="Cantarell"/>
                <a:sym typeface="Cantarell"/>
              </a:rPr>
              <a:t>Improve Student Experience -&gt; Develop Student Portal-&gt; View grades</a:t>
            </a:r>
          </a:p>
        </p:txBody>
      </p:sp>
    </p:spTree>
    <p:extLst>
      <p:ext uri="{BB962C8B-B14F-4D97-AF65-F5344CB8AC3E}">
        <p14:creationId xmlns:p14="http://schemas.microsoft.com/office/powerpoint/2010/main" val="3475267584"/>
      </p:ext>
    </p:extLst>
  </p:cSld>
  <p:clrMapOvr>
    <a:masterClrMapping/>
  </p:clrMapOvr>
  <p:transition spd="slow">
    <p:cut/>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3"/>
          <a:stretch>
            <a:fillRect/>
          </a:stretch>
        </p:blipFill>
        <p:spPr>
          <a:xfrm>
            <a:off x="1580180" y="157876"/>
            <a:ext cx="3312841" cy="1065631"/>
          </a:xfrm>
          <a:prstGeom prst="rect">
            <a:avLst/>
          </a:prstGeom>
        </p:spPr>
      </p:pic>
      <p:pic>
        <p:nvPicPr>
          <p:cNvPr id="6" name="Picture 5"/>
          <p:cNvPicPr>
            <a:picLocks noChangeAspect="1"/>
          </p:cNvPicPr>
          <p:nvPr/>
        </p:nvPicPr>
        <p:blipFill>
          <a:blip r:embed="rId4"/>
          <a:stretch>
            <a:fillRect/>
          </a:stretch>
        </p:blipFill>
        <p:spPr>
          <a:xfrm>
            <a:off x="5374343" y="4844871"/>
            <a:ext cx="1675872" cy="2013129"/>
          </a:xfrm>
          <a:prstGeom prst="rect">
            <a:avLst/>
          </a:prstGeom>
        </p:spPr>
      </p:pic>
      <p:pic>
        <p:nvPicPr>
          <p:cNvPr id="4" name="Picture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57234" y="5540595"/>
            <a:ext cx="4958734" cy="1317405"/>
          </a:xfrm>
          <a:prstGeom prst="rect">
            <a:avLst/>
          </a:prstGeom>
          <a:blipFill dpi="0" rotWithShape="1">
            <a:blip r:embed="rId6">
              <a:alphaModFix amt="86000"/>
            </a:blip>
            <a:srcRect/>
            <a:tile tx="0" ty="0" sx="100000" sy="100000" flip="none" algn="tl"/>
          </a:blipFill>
        </p:spPr>
      </p:pic>
      <p:pic>
        <p:nvPicPr>
          <p:cNvPr id="8" name="Picture 7"/>
          <p:cNvPicPr>
            <a:picLocks noChangeAspect="1"/>
          </p:cNvPicPr>
          <p:nvPr/>
        </p:nvPicPr>
        <p:blipFill>
          <a:blip r:embed="rId7"/>
          <a:stretch>
            <a:fillRect/>
          </a:stretch>
        </p:blipFill>
        <p:spPr>
          <a:xfrm>
            <a:off x="180486" y="72674"/>
            <a:ext cx="1519728" cy="1085520"/>
          </a:xfrm>
          <a:prstGeom prst="rect">
            <a:avLst/>
          </a:prstGeom>
        </p:spPr>
      </p:pic>
      <p:pic>
        <p:nvPicPr>
          <p:cNvPr id="12" name="Picture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flipH="1">
            <a:off x="6610321" y="5540595"/>
            <a:ext cx="4833938" cy="1317405"/>
          </a:xfrm>
          <a:prstGeom prst="rect">
            <a:avLst/>
          </a:prstGeom>
          <a:blipFill dpi="0" rotWithShape="1">
            <a:blip r:embed="rId6">
              <a:alphaModFix amt="86000"/>
            </a:blip>
            <a:srcRect/>
            <a:tile tx="0" ty="0" sx="100000" sy="100000" flip="none" algn="tl"/>
          </a:blipFill>
        </p:spPr>
      </p:pic>
      <p:pic>
        <p:nvPicPr>
          <p:cNvPr id="7" name="Picture 6"/>
          <p:cNvPicPr>
            <a:picLocks noChangeAspect="1"/>
          </p:cNvPicPr>
          <p:nvPr/>
        </p:nvPicPr>
        <p:blipFill>
          <a:blip r:embed="rId8"/>
          <a:stretch>
            <a:fillRect/>
          </a:stretch>
        </p:blipFill>
        <p:spPr>
          <a:xfrm>
            <a:off x="10657435" y="157876"/>
            <a:ext cx="1376652" cy="915116"/>
          </a:xfrm>
          <a:prstGeom prst="rect">
            <a:avLst/>
          </a:prstGeom>
        </p:spPr>
      </p:pic>
      <p:sp>
        <p:nvSpPr>
          <p:cNvPr id="2" name="TextBox 1"/>
          <p:cNvSpPr txBox="1"/>
          <p:nvPr/>
        </p:nvSpPr>
        <p:spPr>
          <a:xfrm>
            <a:off x="2531710" y="1469651"/>
            <a:ext cx="7075387" cy="830997"/>
          </a:xfrm>
          <a:prstGeom prst="rect">
            <a:avLst/>
          </a:prstGeom>
          <a:noFill/>
        </p:spPr>
        <p:txBody>
          <a:bodyPr wrap="square" rtlCol="0">
            <a:spAutoFit/>
          </a:bodyPr>
          <a:lstStyle/>
          <a:p>
            <a:pPr algn="ctr"/>
            <a:r>
              <a:rPr lang="en-US" sz="4800" dirty="0"/>
              <a:t>Recap Agile Manifesto</a:t>
            </a:r>
          </a:p>
        </p:txBody>
      </p:sp>
      <p:sp>
        <p:nvSpPr>
          <p:cNvPr id="9" name="TextBox 8"/>
          <p:cNvSpPr txBox="1"/>
          <p:nvPr/>
        </p:nvSpPr>
        <p:spPr>
          <a:xfrm>
            <a:off x="2576111" y="2520315"/>
            <a:ext cx="7272336" cy="2400657"/>
          </a:xfrm>
          <a:prstGeom prst="rect">
            <a:avLst/>
          </a:prstGeom>
          <a:noFill/>
        </p:spPr>
        <p:txBody>
          <a:bodyPr wrap="square" rtlCol="0">
            <a:spAutoFit/>
          </a:bodyPr>
          <a:lstStyle/>
          <a:p>
            <a:pPr marL="342900" indent="-342900">
              <a:buFont typeface="Arial" panose="020B0604020202020204" pitchFamily="34" charset="0"/>
              <a:buChar char="•"/>
            </a:pPr>
            <a:r>
              <a:rPr lang="en-US" sz="2400" dirty="0">
                <a:solidFill>
                  <a:schemeClr val="tx2">
                    <a:lumMod val="60000"/>
                    <a:lumOff val="40000"/>
                  </a:schemeClr>
                </a:solidFill>
              </a:rPr>
              <a:t>Individuals and </a:t>
            </a:r>
            <a:r>
              <a:rPr lang="en-US" sz="2400" b="1" dirty="0">
                <a:solidFill>
                  <a:schemeClr val="tx2">
                    <a:lumMod val="60000"/>
                    <a:lumOff val="40000"/>
                  </a:schemeClr>
                </a:solidFill>
              </a:rPr>
              <a:t>interactions</a:t>
            </a:r>
            <a:r>
              <a:rPr lang="en-US" sz="2400" dirty="0">
                <a:solidFill>
                  <a:schemeClr val="tx2">
                    <a:lumMod val="60000"/>
                    <a:lumOff val="40000"/>
                  </a:schemeClr>
                </a:solidFill>
              </a:rPr>
              <a:t> over processes and tools</a:t>
            </a:r>
          </a:p>
          <a:p>
            <a:pPr marL="342900" indent="-342900">
              <a:buFont typeface="Arial" panose="020B0604020202020204" pitchFamily="34" charset="0"/>
              <a:buChar char="•"/>
            </a:pPr>
            <a:r>
              <a:rPr lang="en-US" sz="2400" dirty="0">
                <a:solidFill>
                  <a:schemeClr val="tx2">
                    <a:lumMod val="60000"/>
                    <a:lumOff val="40000"/>
                  </a:schemeClr>
                </a:solidFill>
              </a:rPr>
              <a:t>Working software over comprehensive documentation</a:t>
            </a:r>
          </a:p>
          <a:p>
            <a:pPr marL="342900" indent="-342900">
              <a:buFont typeface="Arial" panose="020B0604020202020204" pitchFamily="34" charset="0"/>
              <a:buChar char="•"/>
            </a:pPr>
            <a:r>
              <a:rPr lang="en-US" sz="2400" dirty="0">
                <a:solidFill>
                  <a:schemeClr val="tx2">
                    <a:lumMod val="60000"/>
                    <a:lumOff val="40000"/>
                  </a:schemeClr>
                </a:solidFill>
              </a:rPr>
              <a:t>Customer </a:t>
            </a:r>
            <a:r>
              <a:rPr lang="en-US" sz="2400" b="1" dirty="0">
                <a:solidFill>
                  <a:schemeClr val="tx2">
                    <a:lumMod val="60000"/>
                    <a:lumOff val="40000"/>
                  </a:schemeClr>
                </a:solidFill>
              </a:rPr>
              <a:t>collaboration</a:t>
            </a:r>
            <a:r>
              <a:rPr lang="en-US" sz="2400" dirty="0">
                <a:solidFill>
                  <a:schemeClr val="tx2">
                    <a:lumMod val="60000"/>
                    <a:lumOff val="40000"/>
                  </a:schemeClr>
                </a:solidFill>
              </a:rPr>
              <a:t> over contract negotiation</a:t>
            </a:r>
          </a:p>
          <a:p>
            <a:pPr marL="342900" indent="-342900">
              <a:buFont typeface="Arial" panose="020B0604020202020204" pitchFamily="34" charset="0"/>
              <a:buChar char="•"/>
            </a:pPr>
            <a:r>
              <a:rPr lang="en-US" sz="2400" b="1" dirty="0">
                <a:solidFill>
                  <a:schemeClr val="tx2">
                    <a:lumMod val="60000"/>
                    <a:lumOff val="40000"/>
                  </a:schemeClr>
                </a:solidFill>
              </a:rPr>
              <a:t>Responding</a:t>
            </a:r>
            <a:r>
              <a:rPr lang="en-US" sz="2400" dirty="0">
                <a:solidFill>
                  <a:schemeClr val="tx2">
                    <a:lumMod val="60000"/>
                    <a:lumOff val="40000"/>
                  </a:schemeClr>
                </a:solidFill>
              </a:rPr>
              <a:t> to change over following a plan</a:t>
            </a:r>
            <a:br>
              <a:rPr lang="en-US" dirty="0">
                <a:solidFill>
                  <a:schemeClr val="tx2">
                    <a:lumMod val="60000"/>
                    <a:lumOff val="40000"/>
                  </a:schemeClr>
                </a:solidFill>
              </a:rPr>
            </a:br>
            <a:endParaRPr lang="en-US" dirty="0">
              <a:solidFill>
                <a:schemeClr val="tx2">
                  <a:lumMod val="60000"/>
                  <a:lumOff val="40000"/>
                </a:schemeClr>
              </a:solidFill>
            </a:endParaRPr>
          </a:p>
          <a:p>
            <a:pPr algn="ctr"/>
            <a:r>
              <a:rPr lang="en-US" dirty="0">
                <a:solidFill>
                  <a:schemeClr val="tx2">
                    <a:lumMod val="60000"/>
                    <a:lumOff val="40000"/>
                  </a:schemeClr>
                </a:solidFill>
              </a:rPr>
              <a:t>That is, while there is value in the items on</a:t>
            </a:r>
            <a:br>
              <a:rPr lang="en-US" dirty="0">
                <a:solidFill>
                  <a:schemeClr val="tx2">
                    <a:lumMod val="60000"/>
                    <a:lumOff val="40000"/>
                  </a:schemeClr>
                </a:solidFill>
              </a:rPr>
            </a:br>
            <a:r>
              <a:rPr lang="en-US" dirty="0">
                <a:solidFill>
                  <a:schemeClr val="tx2">
                    <a:lumMod val="60000"/>
                    <a:lumOff val="40000"/>
                  </a:schemeClr>
                </a:solidFill>
              </a:rPr>
              <a:t>the right, we value the items on the left more.</a:t>
            </a:r>
          </a:p>
        </p:txBody>
      </p:sp>
    </p:spTree>
    <p:extLst>
      <p:ext uri="{BB962C8B-B14F-4D97-AF65-F5344CB8AC3E}">
        <p14:creationId xmlns:p14="http://schemas.microsoft.com/office/powerpoint/2010/main" val="3959308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3"/>
          <a:stretch>
            <a:fillRect/>
          </a:stretch>
        </p:blipFill>
        <p:spPr>
          <a:xfrm>
            <a:off x="1580180" y="157876"/>
            <a:ext cx="3312841" cy="1065631"/>
          </a:xfrm>
          <a:prstGeom prst="rect">
            <a:avLst/>
          </a:prstGeom>
        </p:spPr>
      </p:pic>
      <p:pic>
        <p:nvPicPr>
          <p:cNvPr id="6" name="Picture 5"/>
          <p:cNvPicPr>
            <a:picLocks noChangeAspect="1"/>
          </p:cNvPicPr>
          <p:nvPr/>
        </p:nvPicPr>
        <p:blipFill>
          <a:blip r:embed="rId4"/>
          <a:stretch>
            <a:fillRect/>
          </a:stretch>
        </p:blipFill>
        <p:spPr>
          <a:xfrm>
            <a:off x="5374343" y="4844871"/>
            <a:ext cx="1675872" cy="2013129"/>
          </a:xfrm>
          <a:prstGeom prst="rect">
            <a:avLst/>
          </a:prstGeom>
        </p:spPr>
      </p:pic>
      <p:pic>
        <p:nvPicPr>
          <p:cNvPr id="4" name="Picture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57234" y="5540595"/>
            <a:ext cx="4958734" cy="1317405"/>
          </a:xfrm>
          <a:prstGeom prst="rect">
            <a:avLst/>
          </a:prstGeom>
          <a:blipFill dpi="0" rotWithShape="1">
            <a:blip r:embed="rId6">
              <a:alphaModFix amt="86000"/>
            </a:blip>
            <a:srcRect/>
            <a:tile tx="0" ty="0" sx="100000" sy="100000" flip="none" algn="tl"/>
          </a:blipFill>
        </p:spPr>
      </p:pic>
      <p:pic>
        <p:nvPicPr>
          <p:cNvPr id="8" name="Picture 7"/>
          <p:cNvPicPr>
            <a:picLocks noChangeAspect="1"/>
          </p:cNvPicPr>
          <p:nvPr/>
        </p:nvPicPr>
        <p:blipFill>
          <a:blip r:embed="rId7"/>
          <a:stretch>
            <a:fillRect/>
          </a:stretch>
        </p:blipFill>
        <p:spPr>
          <a:xfrm>
            <a:off x="180486" y="72674"/>
            <a:ext cx="1519728" cy="1085520"/>
          </a:xfrm>
          <a:prstGeom prst="rect">
            <a:avLst/>
          </a:prstGeom>
        </p:spPr>
      </p:pic>
      <p:pic>
        <p:nvPicPr>
          <p:cNvPr id="12" name="Picture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flipH="1">
            <a:off x="6610321" y="5540595"/>
            <a:ext cx="4833938" cy="1317405"/>
          </a:xfrm>
          <a:prstGeom prst="rect">
            <a:avLst/>
          </a:prstGeom>
          <a:blipFill dpi="0" rotWithShape="1">
            <a:blip r:embed="rId6">
              <a:alphaModFix amt="86000"/>
            </a:blip>
            <a:srcRect/>
            <a:tile tx="0" ty="0" sx="100000" sy="100000" flip="none" algn="tl"/>
          </a:blipFill>
        </p:spPr>
      </p:pic>
      <p:pic>
        <p:nvPicPr>
          <p:cNvPr id="7" name="Picture 6"/>
          <p:cNvPicPr>
            <a:picLocks noChangeAspect="1"/>
          </p:cNvPicPr>
          <p:nvPr/>
        </p:nvPicPr>
        <p:blipFill>
          <a:blip r:embed="rId8"/>
          <a:stretch>
            <a:fillRect/>
          </a:stretch>
        </p:blipFill>
        <p:spPr>
          <a:xfrm>
            <a:off x="10657435" y="157876"/>
            <a:ext cx="1376652" cy="915116"/>
          </a:xfrm>
          <a:prstGeom prst="rect">
            <a:avLst/>
          </a:prstGeom>
        </p:spPr>
      </p:pic>
      <p:sp>
        <p:nvSpPr>
          <p:cNvPr id="2" name="TextBox 1"/>
          <p:cNvSpPr txBox="1"/>
          <p:nvPr/>
        </p:nvSpPr>
        <p:spPr>
          <a:xfrm>
            <a:off x="2531710" y="1469651"/>
            <a:ext cx="7075387" cy="830997"/>
          </a:xfrm>
          <a:prstGeom prst="rect">
            <a:avLst/>
          </a:prstGeom>
          <a:noFill/>
        </p:spPr>
        <p:txBody>
          <a:bodyPr wrap="square" rtlCol="0">
            <a:spAutoFit/>
          </a:bodyPr>
          <a:lstStyle/>
          <a:p>
            <a:pPr algn="ctr"/>
            <a:r>
              <a:rPr lang="en-US" sz="4800" dirty="0"/>
              <a:t>Requirement Sources</a:t>
            </a:r>
          </a:p>
        </p:txBody>
      </p:sp>
      <p:sp>
        <p:nvSpPr>
          <p:cNvPr id="9" name="TextBox 8"/>
          <p:cNvSpPr txBox="1"/>
          <p:nvPr/>
        </p:nvSpPr>
        <p:spPr>
          <a:xfrm>
            <a:off x="2576111" y="2316106"/>
            <a:ext cx="7272336" cy="369332"/>
          </a:xfrm>
          <a:prstGeom prst="rect">
            <a:avLst/>
          </a:prstGeom>
          <a:noFill/>
        </p:spPr>
        <p:txBody>
          <a:bodyPr wrap="square" rtlCol="0">
            <a:spAutoFit/>
          </a:bodyPr>
          <a:lstStyle/>
          <a:p>
            <a:pPr algn="ctr"/>
            <a:endParaRPr lang="en-US" dirty="0"/>
          </a:p>
        </p:txBody>
      </p:sp>
      <p:sp>
        <p:nvSpPr>
          <p:cNvPr id="10" name="TextBox 9"/>
          <p:cNvSpPr txBox="1"/>
          <p:nvPr/>
        </p:nvSpPr>
        <p:spPr>
          <a:xfrm>
            <a:off x="1897286" y="2241258"/>
            <a:ext cx="8809489" cy="1200329"/>
          </a:xfrm>
          <a:prstGeom prst="rect">
            <a:avLst/>
          </a:prstGeom>
          <a:noFill/>
        </p:spPr>
        <p:txBody>
          <a:bodyPr wrap="square" rtlCol="0">
            <a:spAutoFit/>
          </a:bodyPr>
          <a:lstStyle/>
          <a:p>
            <a:pPr algn="ctr"/>
            <a:r>
              <a:rPr lang="en-US" sz="2400" dirty="0">
                <a:solidFill>
                  <a:schemeClr val="accent5">
                    <a:lumMod val="75000"/>
                  </a:schemeClr>
                </a:solidFill>
              </a:rPr>
              <a:t>Although there is usually one main source but there are different types of that sources</a:t>
            </a:r>
          </a:p>
          <a:p>
            <a:pPr marL="457200" indent="-457200">
              <a:buFont typeface="+mj-lt"/>
              <a:buAutoNum type="arabicPeriod"/>
            </a:pPr>
            <a:endParaRPr lang="en-US" sz="2400" dirty="0">
              <a:solidFill>
                <a:schemeClr val="accent5">
                  <a:lumMod val="75000"/>
                </a:schemeClr>
              </a:solidFill>
            </a:endParaRPr>
          </a:p>
        </p:txBody>
      </p:sp>
      <p:sp>
        <p:nvSpPr>
          <p:cNvPr id="13" name="TextBox 12"/>
          <p:cNvSpPr txBox="1"/>
          <p:nvPr/>
        </p:nvSpPr>
        <p:spPr>
          <a:xfrm>
            <a:off x="1847946" y="3120709"/>
            <a:ext cx="8809489" cy="1938992"/>
          </a:xfrm>
          <a:prstGeom prst="rect">
            <a:avLst/>
          </a:prstGeom>
          <a:noFill/>
        </p:spPr>
        <p:txBody>
          <a:bodyPr wrap="square" rtlCol="0">
            <a:spAutoFit/>
          </a:bodyPr>
          <a:lstStyle/>
          <a:p>
            <a:pPr marL="457200" indent="-457200">
              <a:buFont typeface="+mj-lt"/>
              <a:buAutoNum type="arabicPeriod"/>
            </a:pPr>
            <a:r>
              <a:rPr lang="en-US" sz="2400" dirty="0">
                <a:solidFill>
                  <a:schemeClr val="bg2">
                    <a:lumMod val="50000"/>
                  </a:schemeClr>
                </a:solidFill>
              </a:rPr>
              <a:t>Project Owner with Domain and Technical Knowledge</a:t>
            </a:r>
          </a:p>
          <a:p>
            <a:pPr marL="457200" indent="-457200">
              <a:buFont typeface="+mj-lt"/>
              <a:buAutoNum type="arabicPeriod"/>
            </a:pPr>
            <a:r>
              <a:rPr lang="en-US" sz="2400" dirty="0">
                <a:solidFill>
                  <a:schemeClr val="bg2">
                    <a:lumMod val="50000"/>
                  </a:schemeClr>
                </a:solidFill>
              </a:rPr>
              <a:t>Project Owner with only Domain Knowledge</a:t>
            </a:r>
          </a:p>
          <a:p>
            <a:pPr marL="457200" indent="-457200">
              <a:buFont typeface="+mj-lt"/>
              <a:buAutoNum type="arabicPeriod"/>
            </a:pPr>
            <a:r>
              <a:rPr lang="en-US" sz="2400" dirty="0">
                <a:solidFill>
                  <a:schemeClr val="bg2">
                    <a:lumMod val="50000"/>
                  </a:schemeClr>
                </a:solidFill>
              </a:rPr>
              <a:t>Project Owner with only Technical Knowledge</a:t>
            </a:r>
          </a:p>
          <a:p>
            <a:pPr marL="457200" indent="-457200">
              <a:buFont typeface="+mj-lt"/>
              <a:buAutoNum type="arabicPeriod"/>
            </a:pPr>
            <a:r>
              <a:rPr lang="en-US" sz="2400" dirty="0">
                <a:solidFill>
                  <a:schemeClr val="bg2">
                    <a:lumMod val="50000"/>
                  </a:schemeClr>
                </a:solidFill>
              </a:rPr>
              <a:t>Project Owner – just because…</a:t>
            </a:r>
          </a:p>
          <a:p>
            <a:pPr marL="457200" indent="-457200">
              <a:buFont typeface="+mj-lt"/>
              <a:buAutoNum type="arabicPeriod"/>
            </a:pPr>
            <a:endParaRPr lang="en-US" sz="2400" dirty="0">
              <a:solidFill>
                <a:schemeClr val="bg2">
                  <a:lumMod val="50000"/>
                </a:schemeClr>
              </a:solidFill>
            </a:endParaRPr>
          </a:p>
        </p:txBody>
      </p:sp>
    </p:spTree>
    <p:extLst>
      <p:ext uri="{BB962C8B-B14F-4D97-AF65-F5344CB8AC3E}">
        <p14:creationId xmlns:p14="http://schemas.microsoft.com/office/powerpoint/2010/main" val="3202752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3">
                                            <p:txEl>
                                              <p:pRg st="0" end="0"/>
                                            </p:txEl>
                                          </p:spTgt>
                                        </p:tgtEl>
                                        <p:attrNameLst>
                                          <p:attrName>style.visibility</p:attrName>
                                        </p:attrNameLst>
                                      </p:cBhvr>
                                      <p:to>
                                        <p:strVal val="visible"/>
                                      </p:to>
                                    </p:set>
                                    <p:anim calcmode="lin" valueType="num">
                                      <p:cBhvr additive="base">
                                        <p:cTn id="7"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3">
                                            <p:txEl>
                                              <p:pRg st="0" end="0"/>
                                            </p:txEl>
                                          </p:spTgt>
                                        </p:tgtEl>
                                        <p:attrNameLst>
                                          <p:attrName>style.visibility</p:attrName>
                                        </p:attrNameLst>
                                      </p:cBhvr>
                                      <p:to>
                                        <p:strVal val="visible"/>
                                      </p:to>
                                    </p:set>
                                    <p:anim calcmode="lin" valueType="num">
                                      <p:cBhvr additive="base">
                                        <p:cTn id="13" dur="500" fill="hold"/>
                                        <p:tgtEl>
                                          <p:spTgt spid="1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3">
                                            <p:txEl>
                                              <p:pRg st="1" end="1"/>
                                            </p:txEl>
                                          </p:spTgt>
                                        </p:tgtEl>
                                        <p:attrNameLst>
                                          <p:attrName>style.visibility</p:attrName>
                                        </p:attrNameLst>
                                      </p:cBhvr>
                                      <p:to>
                                        <p:strVal val="visible"/>
                                      </p:to>
                                    </p:set>
                                    <p:anim calcmode="lin" valueType="num">
                                      <p:cBhvr additive="base">
                                        <p:cTn id="19" dur="500" fill="hold"/>
                                        <p:tgtEl>
                                          <p:spTgt spid="1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3">
                                            <p:txEl>
                                              <p:pRg st="2" end="2"/>
                                            </p:txEl>
                                          </p:spTgt>
                                        </p:tgtEl>
                                        <p:attrNameLst>
                                          <p:attrName>style.visibility</p:attrName>
                                        </p:attrNameLst>
                                      </p:cBhvr>
                                      <p:to>
                                        <p:strVal val="visible"/>
                                      </p:to>
                                    </p:set>
                                    <p:anim calcmode="lin" valueType="num">
                                      <p:cBhvr additive="base">
                                        <p:cTn id="25" dur="500" fill="hold"/>
                                        <p:tgtEl>
                                          <p:spTgt spid="1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3">
                                            <p:txEl>
                                              <p:pRg st="3" end="3"/>
                                            </p:txEl>
                                          </p:spTgt>
                                        </p:tgtEl>
                                        <p:attrNameLst>
                                          <p:attrName>style.visibility</p:attrName>
                                        </p:attrNameLst>
                                      </p:cBhvr>
                                      <p:to>
                                        <p:strVal val="visible"/>
                                      </p:to>
                                    </p:set>
                                    <p:anim calcmode="lin" valueType="num">
                                      <p:cBhvr additive="base">
                                        <p:cTn id="31" dur="500" fill="hold"/>
                                        <p:tgtEl>
                                          <p:spTgt spid="1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uiExpand="1" build="allAtOnce"/>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3"/>
          <a:stretch>
            <a:fillRect/>
          </a:stretch>
        </p:blipFill>
        <p:spPr>
          <a:xfrm>
            <a:off x="1580180" y="157876"/>
            <a:ext cx="3312841" cy="1065631"/>
          </a:xfrm>
          <a:prstGeom prst="rect">
            <a:avLst/>
          </a:prstGeom>
        </p:spPr>
      </p:pic>
      <p:pic>
        <p:nvPicPr>
          <p:cNvPr id="6" name="Picture 5"/>
          <p:cNvPicPr>
            <a:picLocks noChangeAspect="1"/>
          </p:cNvPicPr>
          <p:nvPr/>
        </p:nvPicPr>
        <p:blipFill>
          <a:blip r:embed="rId4"/>
          <a:stretch>
            <a:fillRect/>
          </a:stretch>
        </p:blipFill>
        <p:spPr>
          <a:xfrm>
            <a:off x="5374343" y="4844871"/>
            <a:ext cx="1675872" cy="2013129"/>
          </a:xfrm>
          <a:prstGeom prst="rect">
            <a:avLst/>
          </a:prstGeom>
        </p:spPr>
      </p:pic>
      <p:pic>
        <p:nvPicPr>
          <p:cNvPr id="4" name="Picture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57234" y="5540595"/>
            <a:ext cx="4958734" cy="1317405"/>
          </a:xfrm>
          <a:prstGeom prst="rect">
            <a:avLst/>
          </a:prstGeom>
          <a:blipFill dpi="0" rotWithShape="1">
            <a:blip r:embed="rId6">
              <a:alphaModFix amt="86000"/>
            </a:blip>
            <a:srcRect/>
            <a:tile tx="0" ty="0" sx="100000" sy="100000" flip="none" algn="tl"/>
          </a:blipFill>
        </p:spPr>
      </p:pic>
      <p:pic>
        <p:nvPicPr>
          <p:cNvPr id="8" name="Picture 7"/>
          <p:cNvPicPr>
            <a:picLocks noChangeAspect="1"/>
          </p:cNvPicPr>
          <p:nvPr/>
        </p:nvPicPr>
        <p:blipFill>
          <a:blip r:embed="rId7"/>
          <a:stretch>
            <a:fillRect/>
          </a:stretch>
        </p:blipFill>
        <p:spPr>
          <a:xfrm>
            <a:off x="180486" y="72674"/>
            <a:ext cx="1519728" cy="1085520"/>
          </a:xfrm>
          <a:prstGeom prst="rect">
            <a:avLst/>
          </a:prstGeom>
        </p:spPr>
      </p:pic>
      <p:pic>
        <p:nvPicPr>
          <p:cNvPr id="12" name="Picture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flipH="1">
            <a:off x="6610321" y="5540595"/>
            <a:ext cx="4833938" cy="1317405"/>
          </a:xfrm>
          <a:prstGeom prst="rect">
            <a:avLst/>
          </a:prstGeom>
          <a:blipFill dpi="0" rotWithShape="1">
            <a:blip r:embed="rId6">
              <a:alphaModFix amt="86000"/>
            </a:blip>
            <a:srcRect/>
            <a:tile tx="0" ty="0" sx="100000" sy="100000" flip="none" algn="tl"/>
          </a:blipFill>
        </p:spPr>
      </p:pic>
      <p:pic>
        <p:nvPicPr>
          <p:cNvPr id="7" name="Picture 6"/>
          <p:cNvPicPr>
            <a:picLocks noChangeAspect="1"/>
          </p:cNvPicPr>
          <p:nvPr/>
        </p:nvPicPr>
        <p:blipFill>
          <a:blip r:embed="rId8"/>
          <a:stretch>
            <a:fillRect/>
          </a:stretch>
        </p:blipFill>
        <p:spPr>
          <a:xfrm>
            <a:off x="10657435" y="157876"/>
            <a:ext cx="1376652" cy="915116"/>
          </a:xfrm>
          <a:prstGeom prst="rect">
            <a:avLst/>
          </a:prstGeom>
        </p:spPr>
      </p:pic>
      <p:sp>
        <p:nvSpPr>
          <p:cNvPr id="2" name="TextBox 1"/>
          <p:cNvSpPr txBox="1"/>
          <p:nvPr/>
        </p:nvSpPr>
        <p:spPr>
          <a:xfrm>
            <a:off x="2531710" y="1469651"/>
            <a:ext cx="7075387" cy="830997"/>
          </a:xfrm>
          <a:prstGeom prst="rect">
            <a:avLst/>
          </a:prstGeom>
          <a:noFill/>
        </p:spPr>
        <p:txBody>
          <a:bodyPr wrap="square" rtlCol="0">
            <a:spAutoFit/>
          </a:bodyPr>
          <a:lstStyle/>
          <a:p>
            <a:pPr algn="ctr"/>
            <a:r>
              <a:rPr lang="en-US" sz="4800" dirty="0"/>
              <a:t>Requirement Sources</a:t>
            </a:r>
          </a:p>
        </p:txBody>
      </p:sp>
      <p:sp>
        <p:nvSpPr>
          <p:cNvPr id="9" name="TextBox 8"/>
          <p:cNvSpPr txBox="1"/>
          <p:nvPr/>
        </p:nvSpPr>
        <p:spPr>
          <a:xfrm>
            <a:off x="2576111" y="2316106"/>
            <a:ext cx="7272336" cy="646331"/>
          </a:xfrm>
          <a:prstGeom prst="rect">
            <a:avLst/>
          </a:prstGeom>
          <a:noFill/>
        </p:spPr>
        <p:txBody>
          <a:bodyPr wrap="square" rtlCol="0">
            <a:spAutoFit/>
          </a:bodyPr>
          <a:lstStyle/>
          <a:p>
            <a:pPr algn="ctr"/>
            <a:r>
              <a:rPr lang="en-US" dirty="0"/>
              <a:t>Regardless of the source the main issue always come depending on Location. </a:t>
            </a:r>
          </a:p>
        </p:txBody>
      </p:sp>
      <p:sp>
        <p:nvSpPr>
          <p:cNvPr id="10" name="TextBox 9"/>
          <p:cNvSpPr txBox="1"/>
          <p:nvPr/>
        </p:nvSpPr>
        <p:spPr>
          <a:xfrm>
            <a:off x="2334761" y="2993535"/>
            <a:ext cx="7937952" cy="1200329"/>
          </a:xfrm>
          <a:prstGeom prst="rect">
            <a:avLst/>
          </a:prstGeom>
          <a:noFill/>
        </p:spPr>
        <p:txBody>
          <a:bodyPr wrap="square" rtlCol="0">
            <a:spAutoFit/>
          </a:bodyPr>
          <a:lstStyle/>
          <a:p>
            <a:pPr marL="457200" indent="-457200">
              <a:buFont typeface="+mj-lt"/>
              <a:buAutoNum type="arabicPeriod"/>
            </a:pPr>
            <a:r>
              <a:rPr lang="en-US" sz="2400" dirty="0">
                <a:solidFill>
                  <a:schemeClr val="bg2">
                    <a:lumMod val="50000"/>
                  </a:schemeClr>
                </a:solidFill>
              </a:rPr>
              <a:t>Local / Desi</a:t>
            </a:r>
          </a:p>
          <a:p>
            <a:pPr marL="457200" indent="-457200">
              <a:buFont typeface="+mj-lt"/>
              <a:buAutoNum type="arabicPeriod"/>
            </a:pPr>
            <a:r>
              <a:rPr lang="en-US" sz="2400" dirty="0">
                <a:solidFill>
                  <a:schemeClr val="bg2">
                    <a:lumMod val="50000"/>
                  </a:schemeClr>
                </a:solidFill>
              </a:rPr>
              <a:t>English Speaking</a:t>
            </a:r>
          </a:p>
          <a:p>
            <a:pPr marL="457200" indent="-457200">
              <a:buFont typeface="+mj-lt"/>
              <a:buAutoNum type="arabicPeriod"/>
            </a:pPr>
            <a:r>
              <a:rPr lang="en-US" sz="2400" dirty="0">
                <a:solidFill>
                  <a:schemeClr val="bg2">
                    <a:lumMod val="50000"/>
                  </a:schemeClr>
                </a:solidFill>
              </a:rPr>
              <a:t>Non-English Speaking (Who try very hard to speak English)</a:t>
            </a:r>
          </a:p>
        </p:txBody>
      </p:sp>
    </p:spTree>
    <p:extLst>
      <p:ext uri="{BB962C8B-B14F-4D97-AF65-F5344CB8AC3E}">
        <p14:creationId xmlns:p14="http://schemas.microsoft.com/office/powerpoint/2010/main" val="858764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 calcmode="lin" valueType="num">
                                      <p:cBhvr additive="base">
                                        <p:cTn id="13"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
                                            <p:txEl>
                                              <p:pRg st="2" end="2"/>
                                            </p:txEl>
                                          </p:spTgt>
                                        </p:tgtEl>
                                        <p:attrNameLst>
                                          <p:attrName>style.visibility</p:attrName>
                                        </p:attrNameLst>
                                      </p:cBhvr>
                                      <p:to>
                                        <p:strVal val="visible"/>
                                      </p:to>
                                    </p:set>
                                    <p:anim calcmode="lin" valueType="num">
                                      <p:cBhvr additive="base">
                                        <p:cTn id="19"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allAtOnce"/>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3"/>
          <a:stretch>
            <a:fillRect/>
          </a:stretch>
        </p:blipFill>
        <p:spPr>
          <a:xfrm>
            <a:off x="1580180" y="157876"/>
            <a:ext cx="3312841" cy="1065631"/>
          </a:xfrm>
          <a:prstGeom prst="rect">
            <a:avLst/>
          </a:prstGeom>
        </p:spPr>
      </p:pic>
      <p:pic>
        <p:nvPicPr>
          <p:cNvPr id="6" name="Picture 5"/>
          <p:cNvPicPr>
            <a:picLocks noChangeAspect="1"/>
          </p:cNvPicPr>
          <p:nvPr/>
        </p:nvPicPr>
        <p:blipFill>
          <a:blip r:embed="rId4"/>
          <a:stretch>
            <a:fillRect/>
          </a:stretch>
        </p:blipFill>
        <p:spPr>
          <a:xfrm>
            <a:off x="5374343" y="4844871"/>
            <a:ext cx="1675872" cy="2013129"/>
          </a:xfrm>
          <a:prstGeom prst="rect">
            <a:avLst/>
          </a:prstGeom>
        </p:spPr>
      </p:pic>
      <p:pic>
        <p:nvPicPr>
          <p:cNvPr id="4" name="Picture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57234" y="5540595"/>
            <a:ext cx="4958734" cy="1317405"/>
          </a:xfrm>
          <a:prstGeom prst="rect">
            <a:avLst/>
          </a:prstGeom>
          <a:blipFill dpi="0" rotWithShape="1">
            <a:blip r:embed="rId6">
              <a:alphaModFix amt="86000"/>
            </a:blip>
            <a:srcRect/>
            <a:tile tx="0" ty="0" sx="100000" sy="100000" flip="none" algn="tl"/>
          </a:blipFill>
        </p:spPr>
      </p:pic>
      <p:pic>
        <p:nvPicPr>
          <p:cNvPr id="8" name="Picture 7"/>
          <p:cNvPicPr>
            <a:picLocks noChangeAspect="1"/>
          </p:cNvPicPr>
          <p:nvPr/>
        </p:nvPicPr>
        <p:blipFill>
          <a:blip r:embed="rId7"/>
          <a:stretch>
            <a:fillRect/>
          </a:stretch>
        </p:blipFill>
        <p:spPr>
          <a:xfrm>
            <a:off x="180486" y="72674"/>
            <a:ext cx="1519728" cy="1085520"/>
          </a:xfrm>
          <a:prstGeom prst="rect">
            <a:avLst/>
          </a:prstGeom>
        </p:spPr>
      </p:pic>
      <p:pic>
        <p:nvPicPr>
          <p:cNvPr id="12" name="Picture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flipH="1">
            <a:off x="6610321" y="5540595"/>
            <a:ext cx="4833938" cy="1317405"/>
          </a:xfrm>
          <a:prstGeom prst="rect">
            <a:avLst/>
          </a:prstGeom>
          <a:blipFill dpi="0" rotWithShape="1">
            <a:blip r:embed="rId6">
              <a:alphaModFix amt="86000"/>
            </a:blip>
            <a:srcRect/>
            <a:tile tx="0" ty="0" sx="100000" sy="100000" flip="none" algn="tl"/>
          </a:blipFill>
        </p:spPr>
      </p:pic>
      <p:pic>
        <p:nvPicPr>
          <p:cNvPr id="7" name="Picture 6"/>
          <p:cNvPicPr>
            <a:picLocks noChangeAspect="1"/>
          </p:cNvPicPr>
          <p:nvPr/>
        </p:nvPicPr>
        <p:blipFill>
          <a:blip r:embed="rId8"/>
          <a:stretch>
            <a:fillRect/>
          </a:stretch>
        </p:blipFill>
        <p:spPr>
          <a:xfrm>
            <a:off x="10657435" y="157876"/>
            <a:ext cx="1376652" cy="915116"/>
          </a:xfrm>
          <a:prstGeom prst="rect">
            <a:avLst/>
          </a:prstGeom>
        </p:spPr>
      </p:pic>
      <p:sp>
        <p:nvSpPr>
          <p:cNvPr id="2" name="TextBox 1"/>
          <p:cNvSpPr txBox="1"/>
          <p:nvPr/>
        </p:nvSpPr>
        <p:spPr>
          <a:xfrm>
            <a:off x="2531710" y="1469651"/>
            <a:ext cx="7075387" cy="830997"/>
          </a:xfrm>
          <a:prstGeom prst="rect">
            <a:avLst/>
          </a:prstGeom>
          <a:noFill/>
        </p:spPr>
        <p:txBody>
          <a:bodyPr wrap="square" rtlCol="0">
            <a:spAutoFit/>
          </a:bodyPr>
          <a:lstStyle/>
          <a:p>
            <a:pPr algn="ctr"/>
            <a:r>
              <a:rPr lang="en-US" sz="4800" dirty="0"/>
              <a:t>The Most Common Issue</a:t>
            </a:r>
          </a:p>
        </p:txBody>
      </p:sp>
      <p:sp>
        <p:nvSpPr>
          <p:cNvPr id="10" name="TextBox 9"/>
          <p:cNvSpPr txBox="1"/>
          <p:nvPr/>
        </p:nvSpPr>
        <p:spPr>
          <a:xfrm>
            <a:off x="1580180" y="2901732"/>
            <a:ext cx="9338128" cy="646331"/>
          </a:xfrm>
          <a:prstGeom prst="rect">
            <a:avLst/>
          </a:prstGeom>
          <a:noFill/>
        </p:spPr>
        <p:txBody>
          <a:bodyPr wrap="square" rtlCol="0">
            <a:spAutoFit/>
          </a:bodyPr>
          <a:lstStyle/>
          <a:p>
            <a:r>
              <a:rPr lang="en-US" sz="3600" dirty="0">
                <a:solidFill>
                  <a:schemeClr val="bg2">
                    <a:lumMod val="50000"/>
                  </a:schemeClr>
                </a:solidFill>
              </a:rPr>
              <a:t>What was required is not what was developed!</a:t>
            </a:r>
          </a:p>
        </p:txBody>
      </p:sp>
    </p:spTree>
    <p:extLst>
      <p:ext uri="{BB962C8B-B14F-4D97-AF65-F5344CB8AC3E}">
        <p14:creationId xmlns:p14="http://schemas.microsoft.com/office/powerpoint/2010/main" val="3139661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3"/>
          <a:stretch>
            <a:fillRect/>
          </a:stretch>
        </p:blipFill>
        <p:spPr>
          <a:xfrm>
            <a:off x="1580180" y="157876"/>
            <a:ext cx="3312841" cy="1065631"/>
          </a:xfrm>
          <a:prstGeom prst="rect">
            <a:avLst/>
          </a:prstGeom>
        </p:spPr>
      </p:pic>
      <p:pic>
        <p:nvPicPr>
          <p:cNvPr id="6" name="Picture 5"/>
          <p:cNvPicPr>
            <a:picLocks noChangeAspect="1"/>
          </p:cNvPicPr>
          <p:nvPr/>
        </p:nvPicPr>
        <p:blipFill>
          <a:blip r:embed="rId4"/>
          <a:stretch>
            <a:fillRect/>
          </a:stretch>
        </p:blipFill>
        <p:spPr>
          <a:xfrm>
            <a:off x="5374343" y="4844871"/>
            <a:ext cx="1675872" cy="2013129"/>
          </a:xfrm>
          <a:prstGeom prst="rect">
            <a:avLst/>
          </a:prstGeom>
        </p:spPr>
      </p:pic>
      <p:pic>
        <p:nvPicPr>
          <p:cNvPr id="4" name="Picture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57234" y="5540595"/>
            <a:ext cx="4958734" cy="1317405"/>
          </a:xfrm>
          <a:prstGeom prst="rect">
            <a:avLst/>
          </a:prstGeom>
          <a:blipFill dpi="0" rotWithShape="1">
            <a:blip r:embed="rId6">
              <a:alphaModFix amt="86000"/>
            </a:blip>
            <a:srcRect/>
            <a:tile tx="0" ty="0" sx="100000" sy="100000" flip="none" algn="tl"/>
          </a:blipFill>
        </p:spPr>
      </p:pic>
      <p:pic>
        <p:nvPicPr>
          <p:cNvPr id="8" name="Picture 7"/>
          <p:cNvPicPr>
            <a:picLocks noChangeAspect="1"/>
          </p:cNvPicPr>
          <p:nvPr/>
        </p:nvPicPr>
        <p:blipFill>
          <a:blip r:embed="rId7"/>
          <a:stretch>
            <a:fillRect/>
          </a:stretch>
        </p:blipFill>
        <p:spPr>
          <a:xfrm>
            <a:off x="180486" y="72674"/>
            <a:ext cx="1519728" cy="1085520"/>
          </a:xfrm>
          <a:prstGeom prst="rect">
            <a:avLst/>
          </a:prstGeom>
        </p:spPr>
      </p:pic>
      <p:pic>
        <p:nvPicPr>
          <p:cNvPr id="12" name="Picture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flipH="1">
            <a:off x="6610321" y="5540595"/>
            <a:ext cx="4833938" cy="1317405"/>
          </a:xfrm>
          <a:prstGeom prst="rect">
            <a:avLst/>
          </a:prstGeom>
          <a:blipFill dpi="0" rotWithShape="1">
            <a:blip r:embed="rId6">
              <a:alphaModFix amt="86000"/>
            </a:blip>
            <a:srcRect/>
            <a:tile tx="0" ty="0" sx="100000" sy="100000" flip="none" algn="tl"/>
          </a:blipFill>
        </p:spPr>
      </p:pic>
      <p:pic>
        <p:nvPicPr>
          <p:cNvPr id="7" name="Picture 6"/>
          <p:cNvPicPr>
            <a:picLocks noChangeAspect="1"/>
          </p:cNvPicPr>
          <p:nvPr/>
        </p:nvPicPr>
        <p:blipFill>
          <a:blip r:embed="rId8"/>
          <a:stretch>
            <a:fillRect/>
          </a:stretch>
        </p:blipFill>
        <p:spPr>
          <a:xfrm>
            <a:off x="10657435" y="157876"/>
            <a:ext cx="1376652" cy="915116"/>
          </a:xfrm>
          <a:prstGeom prst="rect">
            <a:avLst/>
          </a:prstGeom>
        </p:spPr>
      </p:pic>
      <p:sp>
        <p:nvSpPr>
          <p:cNvPr id="2" name="TextBox 1"/>
          <p:cNvSpPr txBox="1"/>
          <p:nvPr/>
        </p:nvSpPr>
        <p:spPr>
          <a:xfrm>
            <a:off x="2531710" y="1469651"/>
            <a:ext cx="7075387" cy="830997"/>
          </a:xfrm>
          <a:prstGeom prst="rect">
            <a:avLst/>
          </a:prstGeom>
          <a:noFill/>
        </p:spPr>
        <p:txBody>
          <a:bodyPr wrap="square" rtlCol="0">
            <a:spAutoFit/>
          </a:bodyPr>
          <a:lstStyle/>
          <a:p>
            <a:pPr algn="ctr"/>
            <a:r>
              <a:rPr lang="en-US" sz="4800" dirty="0"/>
              <a:t>WHY?!!!</a:t>
            </a:r>
          </a:p>
        </p:txBody>
      </p:sp>
      <p:sp>
        <p:nvSpPr>
          <p:cNvPr id="10" name="TextBox 9"/>
          <p:cNvSpPr txBox="1"/>
          <p:nvPr/>
        </p:nvSpPr>
        <p:spPr>
          <a:xfrm>
            <a:off x="1580180" y="2501678"/>
            <a:ext cx="9338128" cy="1938992"/>
          </a:xfrm>
          <a:prstGeom prst="rect">
            <a:avLst/>
          </a:prstGeom>
          <a:noFill/>
        </p:spPr>
        <p:txBody>
          <a:bodyPr wrap="square" rtlCol="0">
            <a:spAutoFit/>
          </a:bodyPr>
          <a:lstStyle/>
          <a:p>
            <a:pPr marL="457200" indent="-457200">
              <a:buAutoNum type="arabicPeriod"/>
            </a:pPr>
            <a:r>
              <a:rPr lang="en-US" sz="2400" dirty="0">
                <a:solidFill>
                  <a:schemeClr val="bg2">
                    <a:lumMod val="50000"/>
                  </a:schemeClr>
                </a:solidFill>
              </a:rPr>
              <a:t>Objective/Envisioned Product/Project was not clear</a:t>
            </a:r>
          </a:p>
          <a:p>
            <a:pPr marL="457200" indent="-457200">
              <a:buAutoNum type="arabicPeriod"/>
            </a:pPr>
            <a:r>
              <a:rPr lang="en-US" sz="2400" dirty="0">
                <a:solidFill>
                  <a:schemeClr val="bg2">
                    <a:lumMod val="50000"/>
                  </a:schemeClr>
                </a:solidFill>
              </a:rPr>
              <a:t>Requirements were not captured properly</a:t>
            </a:r>
          </a:p>
          <a:p>
            <a:pPr marL="457200" indent="-457200">
              <a:buAutoNum type="arabicPeriod"/>
            </a:pPr>
            <a:r>
              <a:rPr lang="en-US" sz="2400" dirty="0">
                <a:solidFill>
                  <a:schemeClr val="bg2">
                    <a:lumMod val="50000"/>
                  </a:schemeClr>
                </a:solidFill>
              </a:rPr>
              <a:t>Requirements understanding was different</a:t>
            </a:r>
          </a:p>
          <a:p>
            <a:pPr marL="457200" indent="-457200">
              <a:buAutoNum type="arabicPeriod"/>
            </a:pPr>
            <a:r>
              <a:rPr lang="en-US" sz="2400" dirty="0">
                <a:solidFill>
                  <a:schemeClr val="bg2">
                    <a:lumMod val="50000"/>
                  </a:schemeClr>
                </a:solidFill>
              </a:rPr>
              <a:t>Requirements were not QUESTIONED! Only questions about the requirements were asked.</a:t>
            </a:r>
          </a:p>
        </p:txBody>
      </p:sp>
    </p:spTree>
    <p:extLst>
      <p:ext uri="{BB962C8B-B14F-4D97-AF65-F5344CB8AC3E}">
        <p14:creationId xmlns:p14="http://schemas.microsoft.com/office/powerpoint/2010/main" val="2815884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 calcmode="lin" valueType="num">
                                      <p:cBhvr additive="base">
                                        <p:cTn id="13"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
                                            <p:txEl>
                                              <p:pRg st="2" end="2"/>
                                            </p:txEl>
                                          </p:spTgt>
                                        </p:tgtEl>
                                        <p:attrNameLst>
                                          <p:attrName>style.visibility</p:attrName>
                                        </p:attrNameLst>
                                      </p:cBhvr>
                                      <p:to>
                                        <p:strVal val="visible"/>
                                      </p:to>
                                    </p:set>
                                    <p:anim calcmode="lin" valueType="num">
                                      <p:cBhvr additive="base">
                                        <p:cTn id="19"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0">
                                            <p:txEl>
                                              <p:pRg st="3" end="3"/>
                                            </p:txEl>
                                          </p:spTgt>
                                        </p:tgtEl>
                                        <p:attrNameLst>
                                          <p:attrName>style.visibility</p:attrName>
                                        </p:attrNameLst>
                                      </p:cBhvr>
                                      <p:to>
                                        <p:strVal val="visible"/>
                                      </p:to>
                                    </p:set>
                                    <p:anim calcmode="lin" valueType="num">
                                      <p:cBhvr additive="base">
                                        <p:cTn id="25"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0350" y="4964520"/>
            <a:ext cx="10058400" cy="1893480"/>
          </a:xfrm>
          <a:prstGeom prst="rect">
            <a:avLst/>
          </a:prstGeom>
        </p:spPr>
      </p:pic>
      <p:pic>
        <p:nvPicPr>
          <p:cNvPr id="11" name="Picture 10"/>
          <p:cNvPicPr>
            <a:picLocks noChangeAspect="1"/>
          </p:cNvPicPr>
          <p:nvPr/>
        </p:nvPicPr>
        <p:blipFill>
          <a:blip r:embed="rId4"/>
          <a:stretch>
            <a:fillRect/>
          </a:stretch>
        </p:blipFill>
        <p:spPr>
          <a:xfrm>
            <a:off x="1580180" y="157876"/>
            <a:ext cx="3312841" cy="1065631"/>
          </a:xfrm>
          <a:prstGeom prst="rect">
            <a:avLst/>
          </a:prstGeom>
        </p:spPr>
      </p:pic>
      <p:pic>
        <p:nvPicPr>
          <p:cNvPr id="8" name="Picture 7"/>
          <p:cNvPicPr>
            <a:picLocks noChangeAspect="1"/>
          </p:cNvPicPr>
          <p:nvPr/>
        </p:nvPicPr>
        <p:blipFill>
          <a:blip r:embed="rId5"/>
          <a:stretch>
            <a:fillRect/>
          </a:stretch>
        </p:blipFill>
        <p:spPr>
          <a:xfrm>
            <a:off x="180486" y="72674"/>
            <a:ext cx="1519728" cy="1085520"/>
          </a:xfrm>
          <a:prstGeom prst="rect">
            <a:avLst/>
          </a:prstGeom>
        </p:spPr>
      </p:pic>
      <p:pic>
        <p:nvPicPr>
          <p:cNvPr id="7" name="Picture 6"/>
          <p:cNvPicPr>
            <a:picLocks noChangeAspect="1"/>
          </p:cNvPicPr>
          <p:nvPr/>
        </p:nvPicPr>
        <p:blipFill>
          <a:blip r:embed="rId6"/>
          <a:stretch>
            <a:fillRect/>
          </a:stretch>
        </p:blipFill>
        <p:spPr>
          <a:xfrm>
            <a:off x="10657435" y="157876"/>
            <a:ext cx="1376652" cy="915116"/>
          </a:xfrm>
          <a:prstGeom prst="rect">
            <a:avLst/>
          </a:prstGeom>
        </p:spPr>
      </p:pic>
      <p:sp>
        <p:nvSpPr>
          <p:cNvPr id="2" name="TextBox 1"/>
          <p:cNvSpPr txBox="1"/>
          <p:nvPr/>
        </p:nvSpPr>
        <p:spPr>
          <a:xfrm>
            <a:off x="2531710" y="1469651"/>
            <a:ext cx="7075387" cy="830997"/>
          </a:xfrm>
          <a:prstGeom prst="rect">
            <a:avLst/>
          </a:prstGeom>
          <a:noFill/>
        </p:spPr>
        <p:txBody>
          <a:bodyPr wrap="square" rtlCol="0">
            <a:spAutoFit/>
          </a:bodyPr>
          <a:lstStyle/>
          <a:p>
            <a:pPr algn="ctr"/>
            <a:r>
              <a:rPr lang="en-US" sz="4800" dirty="0"/>
              <a:t>Solution 1/4</a:t>
            </a:r>
          </a:p>
        </p:txBody>
      </p:sp>
      <p:sp>
        <p:nvSpPr>
          <p:cNvPr id="10" name="TextBox 9"/>
          <p:cNvSpPr txBox="1"/>
          <p:nvPr/>
        </p:nvSpPr>
        <p:spPr>
          <a:xfrm>
            <a:off x="1580180" y="2501678"/>
            <a:ext cx="10042325" cy="4524315"/>
          </a:xfrm>
          <a:prstGeom prst="rect">
            <a:avLst/>
          </a:prstGeom>
          <a:noFill/>
        </p:spPr>
        <p:txBody>
          <a:bodyPr wrap="square" rtlCol="0">
            <a:spAutoFit/>
          </a:bodyPr>
          <a:lstStyle/>
          <a:p>
            <a:pPr marL="457200" indent="-457200">
              <a:buAutoNum type="arabicPeriod"/>
            </a:pPr>
            <a:r>
              <a:rPr lang="en-US" sz="3600" dirty="0">
                <a:solidFill>
                  <a:schemeClr val="bg2">
                    <a:lumMod val="50000"/>
                  </a:schemeClr>
                </a:solidFill>
              </a:rPr>
              <a:t>As we usually face communication hurdles we need to make sure that we Document the requirements given. This will ensure that all parties are on the same page</a:t>
            </a:r>
          </a:p>
          <a:p>
            <a:pPr marL="457200" indent="-457200">
              <a:buAutoNum type="arabicPeriod"/>
            </a:pPr>
            <a:endParaRPr lang="en-US" sz="2400" dirty="0">
              <a:solidFill>
                <a:schemeClr val="bg2">
                  <a:lumMod val="50000"/>
                </a:schemeClr>
              </a:solidFill>
            </a:endParaRPr>
          </a:p>
          <a:p>
            <a:r>
              <a:rPr lang="en-US" sz="2400" dirty="0">
                <a:solidFill>
                  <a:schemeClr val="bg2">
                    <a:lumMod val="50000"/>
                  </a:schemeClr>
                </a:solidFill>
              </a:rPr>
              <a:t>BUT THE MANIFESTO SAID </a:t>
            </a:r>
            <a:r>
              <a:rPr lang="en-US" sz="2400" dirty="0"/>
              <a:t>Customer </a:t>
            </a:r>
            <a:r>
              <a:rPr lang="en-US" sz="2400" b="1" dirty="0"/>
              <a:t>collaboration</a:t>
            </a:r>
            <a:r>
              <a:rPr lang="en-US" sz="2400" dirty="0"/>
              <a:t> over contract negotiation</a:t>
            </a:r>
          </a:p>
          <a:p>
            <a:r>
              <a:rPr lang="en-US" sz="2400" dirty="0"/>
              <a:t>Or Working software over comprehensive documentation</a:t>
            </a:r>
          </a:p>
          <a:p>
            <a:endParaRPr lang="en-US" sz="2400" dirty="0"/>
          </a:p>
          <a:p>
            <a:endParaRPr lang="en-US" sz="2400" dirty="0"/>
          </a:p>
          <a:p>
            <a:endParaRPr lang="en-US" sz="2400" dirty="0">
              <a:solidFill>
                <a:schemeClr val="bg2">
                  <a:lumMod val="50000"/>
                </a:schemeClr>
              </a:solidFill>
            </a:endParaRPr>
          </a:p>
        </p:txBody>
      </p:sp>
    </p:spTree>
    <p:extLst>
      <p:ext uri="{BB962C8B-B14F-4D97-AF65-F5344CB8AC3E}">
        <p14:creationId xmlns:p14="http://schemas.microsoft.com/office/powerpoint/2010/main" val="2543778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
                                            <p:txEl>
                                              <p:pRg st="2" end="2"/>
                                            </p:txEl>
                                          </p:spTgt>
                                        </p:tgtEl>
                                        <p:attrNameLst>
                                          <p:attrName>style.visibility</p:attrName>
                                        </p:attrNameLst>
                                      </p:cBhvr>
                                      <p:to>
                                        <p:strVal val="visible"/>
                                      </p:to>
                                    </p:set>
                                    <p:anim calcmode="lin" valueType="num">
                                      <p:cBhvr additive="base">
                                        <p:cTn id="13"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anim calcmode="lin" valueType="num">
                                      <p:cBhvr additive="base">
                                        <p:cTn id="19"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3"/>
          <a:stretch>
            <a:fillRect/>
          </a:stretch>
        </p:blipFill>
        <p:spPr>
          <a:xfrm>
            <a:off x="1580180" y="157876"/>
            <a:ext cx="3312841" cy="1065631"/>
          </a:xfrm>
          <a:prstGeom prst="rect">
            <a:avLst/>
          </a:prstGeom>
        </p:spPr>
      </p:pic>
      <p:pic>
        <p:nvPicPr>
          <p:cNvPr id="8" name="Picture 7"/>
          <p:cNvPicPr>
            <a:picLocks noChangeAspect="1"/>
          </p:cNvPicPr>
          <p:nvPr/>
        </p:nvPicPr>
        <p:blipFill>
          <a:blip r:embed="rId4"/>
          <a:stretch>
            <a:fillRect/>
          </a:stretch>
        </p:blipFill>
        <p:spPr>
          <a:xfrm>
            <a:off x="180486" y="72674"/>
            <a:ext cx="1519728" cy="1085520"/>
          </a:xfrm>
          <a:prstGeom prst="rect">
            <a:avLst/>
          </a:prstGeom>
        </p:spPr>
      </p:pic>
      <p:pic>
        <p:nvPicPr>
          <p:cNvPr id="7" name="Picture 6"/>
          <p:cNvPicPr>
            <a:picLocks noChangeAspect="1"/>
          </p:cNvPicPr>
          <p:nvPr/>
        </p:nvPicPr>
        <p:blipFill>
          <a:blip r:embed="rId5"/>
          <a:stretch>
            <a:fillRect/>
          </a:stretch>
        </p:blipFill>
        <p:spPr>
          <a:xfrm>
            <a:off x="10657435" y="157876"/>
            <a:ext cx="1376652" cy="915116"/>
          </a:xfrm>
          <a:prstGeom prst="rect">
            <a:avLst/>
          </a:prstGeom>
        </p:spPr>
      </p:pic>
      <p:sp>
        <p:nvSpPr>
          <p:cNvPr id="2" name="TextBox 1"/>
          <p:cNvSpPr txBox="1"/>
          <p:nvPr/>
        </p:nvSpPr>
        <p:spPr>
          <a:xfrm>
            <a:off x="2531710" y="1469651"/>
            <a:ext cx="7075387" cy="830997"/>
          </a:xfrm>
          <a:prstGeom prst="rect">
            <a:avLst/>
          </a:prstGeom>
          <a:noFill/>
        </p:spPr>
        <p:txBody>
          <a:bodyPr wrap="square" rtlCol="0">
            <a:spAutoFit/>
          </a:bodyPr>
          <a:lstStyle/>
          <a:p>
            <a:pPr algn="ctr"/>
            <a:r>
              <a:rPr lang="en-US" sz="4800" dirty="0"/>
              <a:t>Solution 2/4</a:t>
            </a:r>
          </a:p>
        </p:txBody>
      </p:sp>
      <p:sp>
        <p:nvSpPr>
          <p:cNvPr id="10" name="TextBox 9"/>
          <p:cNvSpPr txBox="1"/>
          <p:nvPr/>
        </p:nvSpPr>
        <p:spPr>
          <a:xfrm>
            <a:off x="1580179" y="2501678"/>
            <a:ext cx="9864079" cy="4154984"/>
          </a:xfrm>
          <a:prstGeom prst="rect">
            <a:avLst/>
          </a:prstGeom>
          <a:noFill/>
        </p:spPr>
        <p:txBody>
          <a:bodyPr wrap="square" rtlCol="0">
            <a:spAutoFit/>
          </a:bodyPr>
          <a:lstStyle/>
          <a:p>
            <a:pPr marL="457200" indent="-457200">
              <a:buFont typeface="+mj-lt"/>
              <a:buAutoNum type="arabicPeriod" startAt="2"/>
            </a:pPr>
            <a:r>
              <a:rPr lang="en-US" sz="3600" dirty="0">
                <a:solidFill>
                  <a:schemeClr val="bg2">
                    <a:lumMod val="50000"/>
                  </a:schemeClr>
                </a:solidFill>
              </a:rPr>
              <a:t>Question the Requirements for deeper understanding of the Domain. Contribute in the Solution as it will help in covering scenarios that the project owner might have missed. </a:t>
            </a:r>
          </a:p>
          <a:p>
            <a:pPr marL="457200" indent="-457200">
              <a:buAutoNum type="arabicPeriod" startAt="2"/>
            </a:pPr>
            <a:endParaRPr lang="en-US" sz="2400" dirty="0">
              <a:solidFill>
                <a:schemeClr val="bg2">
                  <a:lumMod val="50000"/>
                </a:schemeClr>
              </a:solidFill>
            </a:endParaRPr>
          </a:p>
          <a:p>
            <a:pPr marL="457200" indent="-457200">
              <a:buAutoNum type="arabicPeriod" startAt="2"/>
            </a:pPr>
            <a:endParaRPr lang="en-US" sz="2400" dirty="0"/>
          </a:p>
          <a:p>
            <a:endParaRPr lang="en-US" sz="2400" dirty="0"/>
          </a:p>
          <a:p>
            <a:endParaRPr lang="en-US" sz="2400" dirty="0"/>
          </a:p>
          <a:p>
            <a:endParaRPr lang="en-US" sz="2400" dirty="0">
              <a:solidFill>
                <a:schemeClr val="bg2">
                  <a:lumMod val="50000"/>
                </a:schemeClr>
              </a:solidFill>
            </a:endParaRPr>
          </a:p>
        </p:txBody>
      </p:sp>
      <p:pic>
        <p:nvPicPr>
          <p:cNvPr id="13" name="Picture 1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40350" y="4964520"/>
            <a:ext cx="10058400" cy="1893480"/>
          </a:xfrm>
          <a:prstGeom prst="rect">
            <a:avLst/>
          </a:prstGeom>
        </p:spPr>
      </p:pic>
    </p:spTree>
    <p:extLst>
      <p:ext uri="{BB962C8B-B14F-4D97-AF65-F5344CB8AC3E}">
        <p14:creationId xmlns:p14="http://schemas.microsoft.com/office/powerpoint/2010/main" val="36521219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3"/>
          <a:stretch>
            <a:fillRect/>
          </a:stretch>
        </p:blipFill>
        <p:spPr>
          <a:xfrm>
            <a:off x="1580180" y="157876"/>
            <a:ext cx="3312841" cy="1065631"/>
          </a:xfrm>
          <a:prstGeom prst="rect">
            <a:avLst/>
          </a:prstGeom>
        </p:spPr>
      </p:pic>
      <p:pic>
        <p:nvPicPr>
          <p:cNvPr id="8" name="Picture 7"/>
          <p:cNvPicPr>
            <a:picLocks noChangeAspect="1"/>
          </p:cNvPicPr>
          <p:nvPr/>
        </p:nvPicPr>
        <p:blipFill>
          <a:blip r:embed="rId4"/>
          <a:stretch>
            <a:fillRect/>
          </a:stretch>
        </p:blipFill>
        <p:spPr>
          <a:xfrm>
            <a:off x="180486" y="72674"/>
            <a:ext cx="1519728" cy="1085520"/>
          </a:xfrm>
          <a:prstGeom prst="rect">
            <a:avLst/>
          </a:prstGeom>
        </p:spPr>
      </p:pic>
      <p:pic>
        <p:nvPicPr>
          <p:cNvPr id="7" name="Picture 6"/>
          <p:cNvPicPr>
            <a:picLocks noChangeAspect="1"/>
          </p:cNvPicPr>
          <p:nvPr/>
        </p:nvPicPr>
        <p:blipFill>
          <a:blip r:embed="rId5"/>
          <a:stretch>
            <a:fillRect/>
          </a:stretch>
        </p:blipFill>
        <p:spPr>
          <a:xfrm>
            <a:off x="10657435" y="157876"/>
            <a:ext cx="1376652" cy="915116"/>
          </a:xfrm>
          <a:prstGeom prst="rect">
            <a:avLst/>
          </a:prstGeom>
        </p:spPr>
      </p:pic>
      <p:sp>
        <p:nvSpPr>
          <p:cNvPr id="2" name="TextBox 1"/>
          <p:cNvSpPr txBox="1"/>
          <p:nvPr/>
        </p:nvSpPr>
        <p:spPr>
          <a:xfrm>
            <a:off x="2531710" y="1469651"/>
            <a:ext cx="7075387" cy="830997"/>
          </a:xfrm>
          <a:prstGeom prst="rect">
            <a:avLst/>
          </a:prstGeom>
          <a:noFill/>
        </p:spPr>
        <p:txBody>
          <a:bodyPr wrap="square" rtlCol="0">
            <a:spAutoFit/>
          </a:bodyPr>
          <a:lstStyle/>
          <a:p>
            <a:pPr algn="ctr"/>
            <a:r>
              <a:rPr lang="en-US" sz="4800" dirty="0"/>
              <a:t>Solution 3/4</a:t>
            </a:r>
          </a:p>
        </p:txBody>
      </p:sp>
      <p:sp>
        <p:nvSpPr>
          <p:cNvPr id="10" name="TextBox 9"/>
          <p:cNvSpPr txBox="1"/>
          <p:nvPr/>
        </p:nvSpPr>
        <p:spPr>
          <a:xfrm>
            <a:off x="1580179" y="2501678"/>
            <a:ext cx="9864079" cy="1754326"/>
          </a:xfrm>
          <a:prstGeom prst="rect">
            <a:avLst/>
          </a:prstGeom>
          <a:noFill/>
        </p:spPr>
        <p:txBody>
          <a:bodyPr wrap="square" rtlCol="0">
            <a:spAutoFit/>
          </a:bodyPr>
          <a:lstStyle/>
          <a:p>
            <a:pPr marL="457200" indent="-457200">
              <a:buFont typeface="+mj-lt"/>
              <a:buAutoNum type="arabicPeriod" startAt="3"/>
            </a:pPr>
            <a:r>
              <a:rPr lang="en-US" sz="3600" dirty="0">
                <a:solidFill>
                  <a:schemeClr val="bg2">
                    <a:lumMod val="50000"/>
                  </a:schemeClr>
                </a:solidFill>
              </a:rPr>
              <a:t>Don’t just jump into it. Lincoln Said “Give me six hours to chop down a tree and I will spend the first four sharpening the axe.” Plan.</a:t>
            </a:r>
          </a:p>
        </p:txBody>
      </p:sp>
      <p:pic>
        <p:nvPicPr>
          <p:cNvPr id="13" name="Picture 1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40350" y="4964520"/>
            <a:ext cx="10058400" cy="1893480"/>
          </a:xfrm>
          <a:prstGeom prst="rect">
            <a:avLst/>
          </a:prstGeom>
        </p:spPr>
      </p:pic>
    </p:spTree>
    <p:extLst>
      <p:ext uri="{BB962C8B-B14F-4D97-AF65-F5344CB8AC3E}">
        <p14:creationId xmlns:p14="http://schemas.microsoft.com/office/powerpoint/2010/main" val="1506477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3"/>
          <a:stretch>
            <a:fillRect/>
          </a:stretch>
        </p:blipFill>
        <p:spPr>
          <a:xfrm>
            <a:off x="1580180" y="157876"/>
            <a:ext cx="3312841" cy="1065631"/>
          </a:xfrm>
          <a:prstGeom prst="rect">
            <a:avLst/>
          </a:prstGeom>
        </p:spPr>
      </p:pic>
      <p:pic>
        <p:nvPicPr>
          <p:cNvPr id="8" name="Picture 7"/>
          <p:cNvPicPr>
            <a:picLocks noChangeAspect="1"/>
          </p:cNvPicPr>
          <p:nvPr/>
        </p:nvPicPr>
        <p:blipFill>
          <a:blip r:embed="rId4"/>
          <a:stretch>
            <a:fillRect/>
          </a:stretch>
        </p:blipFill>
        <p:spPr>
          <a:xfrm>
            <a:off x="180486" y="72674"/>
            <a:ext cx="1519728" cy="1085520"/>
          </a:xfrm>
          <a:prstGeom prst="rect">
            <a:avLst/>
          </a:prstGeom>
        </p:spPr>
      </p:pic>
      <p:pic>
        <p:nvPicPr>
          <p:cNvPr id="7" name="Picture 6"/>
          <p:cNvPicPr>
            <a:picLocks noChangeAspect="1"/>
          </p:cNvPicPr>
          <p:nvPr/>
        </p:nvPicPr>
        <p:blipFill>
          <a:blip r:embed="rId5"/>
          <a:stretch>
            <a:fillRect/>
          </a:stretch>
        </p:blipFill>
        <p:spPr>
          <a:xfrm>
            <a:off x="10657435" y="157876"/>
            <a:ext cx="1376652" cy="915116"/>
          </a:xfrm>
          <a:prstGeom prst="rect">
            <a:avLst/>
          </a:prstGeom>
        </p:spPr>
      </p:pic>
      <p:sp>
        <p:nvSpPr>
          <p:cNvPr id="2" name="TextBox 1"/>
          <p:cNvSpPr txBox="1"/>
          <p:nvPr/>
        </p:nvSpPr>
        <p:spPr>
          <a:xfrm>
            <a:off x="2531710" y="1469651"/>
            <a:ext cx="7075387" cy="830997"/>
          </a:xfrm>
          <a:prstGeom prst="rect">
            <a:avLst/>
          </a:prstGeom>
          <a:noFill/>
        </p:spPr>
        <p:txBody>
          <a:bodyPr wrap="square" rtlCol="0">
            <a:spAutoFit/>
          </a:bodyPr>
          <a:lstStyle/>
          <a:p>
            <a:pPr algn="ctr"/>
            <a:r>
              <a:rPr lang="en-US" sz="4800" dirty="0"/>
              <a:t>Solution 4/4</a:t>
            </a:r>
          </a:p>
        </p:txBody>
      </p:sp>
      <p:pic>
        <p:nvPicPr>
          <p:cNvPr id="13" name="Picture 1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40350" y="4964520"/>
            <a:ext cx="10058400" cy="1893480"/>
          </a:xfrm>
          <a:prstGeom prst="rect">
            <a:avLst/>
          </a:prstGeom>
        </p:spPr>
      </p:pic>
      <p:sp>
        <p:nvSpPr>
          <p:cNvPr id="3" name="Rectangle 2"/>
          <p:cNvSpPr/>
          <p:nvPr/>
        </p:nvSpPr>
        <p:spPr>
          <a:xfrm>
            <a:off x="1360118" y="2755421"/>
            <a:ext cx="9418570" cy="1754326"/>
          </a:xfrm>
          <a:prstGeom prst="rect">
            <a:avLst/>
          </a:prstGeom>
        </p:spPr>
        <p:txBody>
          <a:bodyPr wrap="square">
            <a:spAutoFit/>
          </a:bodyPr>
          <a:lstStyle/>
          <a:p>
            <a:pPr marL="742950" indent="-742950">
              <a:buFont typeface="+mj-lt"/>
              <a:buAutoNum type="arabicPeriod" startAt="4"/>
            </a:pPr>
            <a:r>
              <a:rPr lang="en-US" sz="3600" dirty="0">
                <a:solidFill>
                  <a:schemeClr val="accent5">
                    <a:lumMod val="75000"/>
                  </a:schemeClr>
                </a:solidFill>
              </a:rPr>
              <a:t>THINKING THAT AGILE IS ABOUT STICKING TO THE MANIFESTO AND THERE IS NO ROOM FOR INOVATION, ADAPTABILITY OR CHANGE.</a:t>
            </a:r>
          </a:p>
        </p:txBody>
      </p:sp>
    </p:spTree>
    <p:extLst>
      <p:ext uri="{BB962C8B-B14F-4D97-AF65-F5344CB8AC3E}">
        <p14:creationId xmlns:p14="http://schemas.microsoft.com/office/powerpoint/2010/main" val="987578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3"/>
          <a:stretch>
            <a:fillRect/>
          </a:stretch>
        </p:blipFill>
        <p:spPr>
          <a:xfrm>
            <a:off x="1580180" y="157876"/>
            <a:ext cx="3312841" cy="1065631"/>
          </a:xfrm>
          <a:prstGeom prst="rect">
            <a:avLst/>
          </a:prstGeom>
        </p:spPr>
      </p:pic>
      <p:pic>
        <p:nvPicPr>
          <p:cNvPr id="6" name="Picture 5"/>
          <p:cNvPicPr>
            <a:picLocks noChangeAspect="1"/>
          </p:cNvPicPr>
          <p:nvPr/>
        </p:nvPicPr>
        <p:blipFill>
          <a:blip r:embed="rId4"/>
          <a:stretch>
            <a:fillRect/>
          </a:stretch>
        </p:blipFill>
        <p:spPr>
          <a:xfrm>
            <a:off x="5374343" y="4844871"/>
            <a:ext cx="1675872" cy="2013129"/>
          </a:xfrm>
          <a:prstGeom prst="rect">
            <a:avLst/>
          </a:prstGeom>
        </p:spPr>
      </p:pic>
      <p:pic>
        <p:nvPicPr>
          <p:cNvPr id="4" name="Picture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57234" y="5540595"/>
            <a:ext cx="4958734" cy="1317405"/>
          </a:xfrm>
          <a:prstGeom prst="rect">
            <a:avLst/>
          </a:prstGeom>
          <a:blipFill dpi="0" rotWithShape="1">
            <a:blip r:embed="rId6">
              <a:alphaModFix amt="86000"/>
            </a:blip>
            <a:srcRect/>
            <a:tile tx="0" ty="0" sx="100000" sy="100000" flip="none" algn="tl"/>
          </a:blipFill>
        </p:spPr>
      </p:pic>
      <p:pic>
        <p:nvPicPr>
          <p:cNvPr id="8" name="Picture 7"/>
          <p:cNvPicPr>
            <a:picLocks noChangeAspect="1"/>
          </p:cNvPicPr>
          <p:nvPr/>
        </p:nvPicPr>
        <p:blipFill>
          <a:blip r:embed="rId7"/>
          <a:stretch>
            <a:fillRect/>
          </a:stretch>
        </p:blipFill>
        <p:spPr>
          <a:xfrm>
            <a:off x="180486" y="72674"/>
            <a:ext cx="1519728" cy="1085520"/>
          </a:xfrm>
          <a:prstGeom prst="rect">
            <a:avLst/>
          </a:prstGeom>
        </p:spPr>
      </p:pic>
      <p:pic>
        <p:nvPicPr>
          <p:cNvPr id="12" name="Picture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flipH="1">
            <a:off x="6610321" y="5540595"/>
            <a:ext cx="4833938" cy="1317405"/>
          </a:xfrm>
          <a:prstGeom prst="rect">
            <a:avLst/>
          </a:prstGeom>
          <a:blipFill dpi="0" rotWithShape="1">
            <a:blip r:embed="rId6">
              <a:alphaModFix amt="86000"/>
            </a:blip>
            <a:srcRect/>
            <a:tile tx="0" ty="0" sx="100000" sy="100000" flip="none" algn="tl"/>
          </a:blipFill>
        </p:spPr>
      </p:pic>
      <p:pic>
        <p:nvPicPr>
          <p:cNvPr id="7" name="Picture 6"/>
          <p:cNvPicPr>
            <a:picLocks noChangeAspect="1"/>
          </p:cNvPicPr>
          <p:nvPr/>
        </p:nvPicPr>
        <p:blipFill>
          <a:blip r:embed="rId8"/>
          <a:stretch>
            <a:fillRect/>
          </a:stretch>
        </p:blipFill>
        <p:spPr>
          <a:xfrm>
            <a:off x="10657435" y="157876"/>
            <a:ext cx="1376652" cy="915116"/>
          </a:xfrm>
          <a:prstGeom prst="rect">
            <a:avLst/>
          </a:prstGeom>
        </p:spPr>
      </p:pic>
      <p:sp>
        <p:nvSpPr>
          <p:cNvPr id="2" name="TextBox 1"/>
          <p:cNvSpPr txBox="1"/>
          <p:nvPr/>
        </p:nvSpPr>
        <p:spPr>
          <a:xfrm>
            <a:off x="2674585" y="1447094"/>
            <a:ext cx="7075387" cy="1569660"/>
          </a:xfrm>
          <a:prstGeom prst="rect">
            <a:avLst/>
          </a:prstGeom>
          <a:noFill/>
        </p:spPr>
        <p:txBody>
          <a:bodyPr wrap="square" rtlCol="0">
            <a:spAutoFit/>
          </a:bodyPr>
          <a:lstStyle/>
          <a:p>
            <a:pPr algn="ctr"/>
            <a:r>
              <a:rPr lang="en-US" sz="4800" dirty="0"/>
              <a:t>SUMMARY FOR REQUIREMENT GATHERING</a:t>
            </a:r>
          </a:p>
        </p:txBody>
      </p:sp>
      <p:sp>
        <p:nvSpPr>
          <p:cNvPr id="10" name="TextBox 9"/>
          <p:cNvSpPr txBox="1"/>
          <p:nvPr/>
        </p:nvSpPr>
        <p:spPr>
          <a:xfrm>
            <a:off x="1481682" y="3095554"/>
            <a:ext cx="9864079" cy="1569660"/>
          </a:xfrm>
          <a:prstGeom prst="rect">
            <a:avLst/>
          </a:prstGeom>
          <a:noFill/>
        </p:spPr>
        <p:txBody>
          <a:bodyPr wrap="square" rtlCol="0">
            <a:spAutoFit/>
          </a:bodyPr>
          <a:lstStyle/>
          <a:p>
            <a:pPr marL="457200" indent="-457200">
              <a:buFont typeface="+mj-lt"/>
              <a:buAutoNum type="arabicPeriod"/>
            </a:pPr>
            <a:r>
              <a:rPr lang="en-US" sz="2400" dirty="0">
                <a:solidFill>
                  <a:schemeClr val="accent5">
                    <a:lumMod val="75000"/>
                  </a:schemeClr>
                </a:solidFill>
              </a:rPr>
              <a:t>We need to Document the requirement to ensure an intended product is built. How you document depends on What suits you and your Project. </a:t>
            </a:r>
          </a:p>
          <a:p>
            <a:pPr marL="457200" indent="-457200">
              <a:buFont typeface="+mj-lt"/>
              <a:buAutoNum type="arabicPeriod"/>
            </a:pPr>
            <a:r>
              <a:rPr lang="en-US" sz="2400" dirty="0">
                <a:solidFill>
                  <a:schemeClr val="accent5">
                    <a:lumMod val="75000"/>
                  </a:schemeClr>
                </a:solidFill>
              </a:rPr>
              <a:t>Communication Skills is very important. Just Speaking the Language does not qualify that Communication is being done. It is a multidirectional skill </a:t>
            </a:r>
          </a:p>
        </p:txBody>
      </p:sp>
    </p:spTree>
    <p:extLst>
      <p:ext uri="{BB962C8B-B14F-4D97-AF65-F5344CB8AC3E}">
        <p14:creationId xmlns:p14="http://schemas.microsoft.com/office/powerpoint/2010/main" val="999829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 calcmode="lin" valueType="num">
                                      <p:cBhvr additive="base">
                                        <p:cTn id="13"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3"/>
          <a:stretch>
            <a:fillRect/>
          </a:stretch>
        </p:blipFill>
        <p:spPr>
          <a:xfrm>
            <a:off x="1580180" y="157876"/>
            <a:ext cx="3312841" cy="1065631"/>
          </a:xfrm>
          <a:prstGeom prst="rect">
            <a:avLst/>
          </a:prstGeom>
        </p:spPr>
      </p:pic>
      <p:pic>
        <p:nvPicPr>
          <p:cNvPr id="6" name="Picture 5"/>
          <p:cNvPicPr>
            <a:picLocks noChangeAspect="1"/>
          </p:cNvPicPr>
          <p:nvPr/>
        </p:nvPicPr>
        <p:blipFill>
          <a:blip r:embed="rId4"/>
          <a:stretch>
            <a:fillRect/>
          </a:stretch>
        </p:blipFill>
        <p:spPr>
          <a:xfrm>
            <a:off x="5374343" y="4844871"/>
            <a:ext cx="1675872" cy="2013129"/>
          </a:xfrm>
          <a:prstGeom prst="rect">
            <a:avLst/>
          </a:prstGeom>
        </p:spPr>
      </p:pic>
      <p:pic>
        <p:nvPicPr>
          <p:cNvPr id="4" name="Picture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57234" y="5540595"/>
            <a:ext cx="4958734" cy="1317405"/>
          </a:xfrm>
          <a:prstGeom prst="rect">
            <a:avLst/>
          </a:prstGeom>
          <a:blipFill dpi="0" rotWithShape="1">
            <a:blip r:embed="rId6">
              <a:alphaModFix amt="86000"/>
            </a:blip>
            <a:srcRect/>
            <a:tile tx="0" ty="0" sx="100000" sy="100000" flip="none" algn="tl"/>
          </a:blipFill>
        </p:spPr>
      </p:pic>
      <p:pic>
        <p:nvPicPr>
          <p:cNvPr id="8" name="Picture 7"/>
          <p:cNvPicPr>
            <a:picLocks noChangeAspect="1"/>
          </p:cNvPicPr>
          <p:nvPr/>
        </p:nvPicPr>
        <p:blipFill>
          <a:blip r:embed="rId7"/>
          <a:stretch>
            <a:fillRect/>
          </a:stretch>
        </p:blipFill>
        <p:spPr>
          <a:xfrm>
            <a:off x="180486" y="72674"/>
            <a:ext cx="1519728" cy="1085520"/>
          </a:xfrm>
          <a:prstGeom prst="rect">
            <a:avLst/>
          </a:prstGeom>
        </p:spPr>
      </p:pic>
      <p:pic>
        <p:nvPicPr>
          <p:cNvPr id="12" name="Picture 1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flipH="1">
            <a:off x="6610321" y="5540595"/>
            <a:ext cx="4833938" cy="1317405"/>
          </a:xfrm>
          <a:prstGeom prst="rect">
            <a:avLst/>
          </a:prstGeom>
          <a:blipFill dpi="0" rotWithShape="1">
            <a:blip r:embed="rId6">
              <a:alphaModFix amt="86000"/>
            </a:blip>
            <a:srcRect/>
            <a:tile tx="0" ty="0" sx="100000" sy="100000" flip="none" algn="tl"/>
          </a:blipFill>
        </p:spPr>
      </p:pic>
      <p:pic>
        <p:nvPicPr>
          <p:cNvPr id="7" name="Picture 6"/>
          <p:cNvPicPr>
            <a:picLocks noChangeAspect="1"/>
          </p:cNvPicPr>
          <p:nvPr/>
        </p:nvPicPr>
        <p:blipFill>
          <a:blip r:embed="rId8"/>
          <a:stretch>
            <a:fillRect/>
          </a:stretch>
        </p:blipFill>
        <p:spPr>
          <a:xfrm>
            <a:off x="10657435" y="157876"/>
            <a:ext cx="1376652" cy="915116"/>
          </a:xfrm>
          <a:prstGeom prst="rect">
            <a:avLst/>
          </a:prstGeom>
        </p:spPr>
      </p:pic>
      <p:sp>
        <p:nvSpPr>
          <p:cNvPr id="2" name="TextBox 1"/>
          <p:cNvSpPr txBox="1"/>
          <p:nvPr/>
        </p:nvSpPr>
        <p:spPr>
          <a:xfrm>
            <a:off x="2489788" y="1449958"/>
            <a:ext cx="8241065" cy="1569660"/>
          </a:xfrm>
          <a:prstGeom prst="rect">
            <a:avLst/>
          </a:prstGeom>
          <a:noFill/>
        </p:spPr>
        <p:txBody>
          <a:bodyPr wrap="square" rtlCol="0">
            <a:spAutoFit/>
          </a:bodyPr>
          <a:lstStyle/>
          <a:p>
            <a:pPr algn="ctr"/>
            <a:r>
              <a:rPr lang="en-US" sz="4800" dirty="0"/>
              <a:t>SUMMARY FOR REQUIREMENT GATHERING (Cont.)</a:t>
            </a:r>
          </a:p>
        </p:txBody>
      </p:sp>
      <p:sp>
        <p:nvSpPr>
          <p:cNvPr id="10" name="TextBox 9"/>
          <p:cNvSpPr txBox="1"/>
          <p:nvPr/>
        </p:nvSpPr>
        <p:spPr>
          <a:xfrm>
            <a:off x="1481682" y="3095554"/>
            <a:ext cx="9864079" cy="1569660"/>
          </a:xfrm>
          <a:prstGeom prst="rect">
            <a:avLst/>
          </a:prstGeom>
          <a:noFill/>
        </p:spPr>
        <p:txBody>
          <a:bodyPr wrap="square" rtlCol="0">
            <a:spAutoFit/>
          </a:bodyPr>
          <a:lstStyle/>
          <a:p>
            <a:pPr marL="457200" indent="-457200">
              <a:buFont typeface="+mj-lt"/>
              <a:buAutoNum type="arabicPeriod" startAt="3"/>
            </a:pPr>
            <a:r>
              <a:rPr lang="en-US" sz="2400" dirty="0">
                <a:solidFill>
                  <a:schemeClr val="accent5">
                    <a:lumMod val="75000"/>
                  </a:schemeClr>
                </a:solidFill>
              </a:rPr>
              <a:t>Be a part of the Requirements. Question the Requirements and the about the requirements.</a:t>
            </a:r>
          </a:p>
          <a:p>
            <a:pPr marL="457200" indent="-457200">
              <a:buFont typeface="+mj-lt"/>
              <a:buAutoNum type="arabicPeriod" startAt="3"/>
            </a:pPr>
            <a:r>
              <a:rPr lang="en-US" sz="2400" dirty="0">
                <a:solidFill>
                  <a:schemeClr val="accent5">
                    <a:lumMod val="75000"/>
                  </a:schemeClr>
                </a:solidFill>
              </a:rPr>
              <a:t>Agile is a mind set and is meant to be fluid. Mold it to what your project needs and what the environment is and not the other way around.  </a:t>
            </a:r>
          </a:p>
        </p:txBody>
      </p:sp>
    </p:spTree>
    <p:extLst>
      <p:ext uri="{BB962C8B-B14F-4D97-AF65-F5344CB8AC3E}">
        <p14:creationId xmlns:p14="http://schemas.microsoft.com/office/powerpoint/2010/main" val="2923037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 calcmode="lin" valueType="num">
                                      <p:cBhvr additive="base">
                                        <p:cTn id="13"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3"/>
          <a:stretch>
            <a:fillRect/>
          </a:stretch>
        </p:blipFill>
        <p:spPr>
          <a:xfrm>
            <a:off x="1580180" y="157876"/>
            <a:ext cx="3312841" cy="1065631"/>
          </a:xfrm>
          <a:prstGeom prst="rect">
            <a:avLst/>
          </a:prstGeom>
        </p:spPr>
      </p:pic>
      <p:pic>
        <p:nvPicPr>
          <p:cNvPr id="8" name="Picture 7"/>
          <p:cNvPicPr>
            <a:picLocks noChangeAspect="1"/>
          </p:cNvPicPr>
          <p:nvPr/>
        </p:nvPicPr>
        <p:blipFill>
          <a:blip r:embed="rId4"/>
          <a:stretch>
            <a:fillRect/>
          </a:stretch>
        </p:blipFill>
        <p:spPr>
          <a:xfrm>
            <a:off x="180486" y="72674"/>
            <a:ext cx="1519728" cy="1085520"/>
          </a:xfrm>
          <a:prstGeom prst="rect">
            <a:avLst/>
          </a:prstGeom>
        </p:spPr>
      </p:pic>
      <p:pic>
        <p:nvPicPr>
          <p:cNvPr id="7" name="Picture 6"/>
          <p:cNvPicPr>
            <a:picLocks noChangeAspect="1"/>
          </p:cNvPicPr>
          <p:nvPr/>
        </p:nvPicPr>
        <p:blipFill>
          <a:blip r:embed="rId5"/>
          <a:stretch>
            <a:fillRect/>
          </a:stretch>
        </p:blipFill>
        <p:spPr>
          <a:xfrm>
            <a:off x="10657435" y="157876"/>
            <a:ext cx="1376652" cy="915116"/>
          </a:xfrm>
          <a:prstGeom prst="rect">
            <a:avLst/>
          </a:prstGeom>
        </p:spPr>
      </p:pic>
      <p:sp>
        <p:nvSpPr>
          <p:cNvPr id="10" name="TextBox 9"/>
          <p:cNvSpPr txBox="1"/>
          <p:nvPr/>
        </p:nvSpPr>
        <p:spPr>
          <a:xfrm>
            <a:off x="1280238" y="3114019"/>
            <a:ext cx="9864079" cy="923330"/>
          </a:xfrm>
          <a:prstGeom prst="rect">
            <a:avLst/>
          </a:prstGeom>
          <a:noFill/>
        </p:spPr>
        <p:txBody>
          <a:bodyPr wrap="square" rtlCol="0">
            <a:spAutoFit/>
          </a:bodyPr>
          <a:lstStyle/>
          <a:p>
            <a:pPr algn="ctr"/>
            <a:r>
              <a:rPr lang="en-US" sz="5400" dirty="0">
                <a:solidFill>
                  <a:schemeClr val="tx2">
                    <a:lumMod val="60000"/>
                    <a:lumOff val="40000"/>
                  </a:schemeClr>
                </a:solidFill>
              </a:rPr>
              <a:t>The Obvious answer is wrong</a:t>
            </a:r>
          </a:p>
        </p:txBody>
      </p:sp>
      <p:pic>
        <p:nvPicPr>
          <p:cNvPr id="13" name="Picture 1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40350" y="4964520"/>
            <a:ext cx="10058400" cy="1893480"/>
          </a:xfrm>
          <a:prstGeom prst="rect">
            <a:avLst/>
          </a:prstGeom>
        </p:spPr>
      </p:pic>
    </p:spTree>
    <p:extLst>
      <p:ext uri="{BB962C8B-B14F-4D97-AF65-F5344CB8AC3E}">
        <p14:creationId xmlns:p14="http://schemas.microsoft.com/office/powerpoint/2010/main" val="291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TotalTime>
  <Words>1514</Words>
  <Application>Microsoft Office PowerPoint</Application>
  <PresentationFormat>Widescreen</PresentationFormat>
  <Paragraphs>238</Paragraphs>
  <Slides>34</Slides>
  <Notes>19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34</vt:i4>
      </vt:variant>
    </vt:vector>
  </HeadingPairs>
  <TitlesOfParts>
    <vt:vector size="42" baseType="lpstr">
      <vt:lpstr>Arial</vt:lpstr>
      <vt:lpstr>Calibri</vt:lpstr>
      <vt:lpstr>Calibri Light</vt:lpstr>
      <vt:lpstr>Cantarell</vt:lpstr>
      <vt:lpstr>Open Sans</vt:lpstr>
      <vt:lpstr>Roboto</vt:lpstr>
      <vt:lpstr>Wingdings</vt:lpstr>
      <vt:lpstr>Office Theme</vt:lpstr>
      <vt:lpstr>Agile and Requirement Engineering in Agile</vt:lpstr>
      <vt:lpstr>Agile Umbrella</vt:lpstr>
      <vt:lpstr>PowerPoint Presentation</vt:lpstr>
      <vt:lpstr>Project life cycles</vt:lpstr>
      <vt:lpstr>Predictive life cycle/Plan driven/waterfall   </vt:lpstr>
      <vt:lpstr>Iterative life cycle</vt:lpstr>
      <vt:lpstr>Incremental life cycle</vt:lpstr>
      <vt:lpstr>Agile life cycle/Change driven/Adaptive</vt:lpstr>
      <vt:lpstr>Characteristics of project life cycles</vt:lpstr>
      <vt:lpstr>Hybrid life cycle</vt:lpstr>
      <vt:lpstr>PowerPoint Presentation</vt:lpstr>
      <vt:lpstr>Agile manifesto  </vt:lpstr>
      <vt:lpstr>PowerPoint Presentation</vt:lpstr>
      <vt:lpstr>PowerPoint Presentation</vt:lpstr>
      <vt:lpstr>Traditional Requirements</vt:lpstr>
      <vt:lpstr>User Story</vt:lpstr>
      <vt:lpstr>PowerPoint Presentation</vt:lpstr>
      <vt:lpstr>User Story (contd.)</vt:lpstr>
      <vt:lpstr>INVEST</vt:lpstr>
      <vt:lpstr>PowerPoint Presentation</vt:lpstr>
      <vt:lpstr>PowerPoint Presentation</vt:lpstr>
      <vt:lpstr>Epic and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Natash Ali</dc:creator>
  <cp:lastModifiedBy>user</cp:lastModifiedBy>
  <cp:revision>11</cp:revision>
  <dcterms:created xsi:type="dcterms:W3CDTF">2023-01-05T19:51:41Z</dcterms:created>
  <dcterms:modified xsi:type="dcterms:W3CDTF">2025-10-17T06:27:32Z</dcterms:modified>
</cp:coreProperties>
</file>