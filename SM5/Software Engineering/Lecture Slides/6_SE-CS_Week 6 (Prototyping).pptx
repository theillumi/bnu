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  <p:sldMasterId id="2147483781" r:id="rId2"/>
  </p:sldMasterIdLst>
  <p:notesMasterIdLst>
    <p:notesMasterId r:id="rId32"/>
  </p:notesMasterIdLst>
  <p:sldIdLst>
    <p:sldId id="316" r:id="rId3"/>
    <p:sldId id="258" r:id="rId4"/>
    <p:sldId id="689" r:id="rId5"/>
    <p:sldId id="690" r:id="rId6"/>
    <p:sldId id="691" r:id="rId7"/>
    <p:sldId id="692" r:id="rId8"/>
    <p:sldId id="693" r:id="rId9"/>
    <p:sldId id="694" r:id="rId10"/>
    <p:sldId id="695" r:id="rId11"/>
    <p:sldId id="696" r:id="rId12"/>
    <p:sldId id="697" r:id="rId13"/>
    <p:sldId id="698" r:id="rId14"/>
    <p:sldId id="699" r:id="rId15"/>
    <p:sldId id="700" r:id="rId16"/>
    <p:sldId id="723" r:id="rId17"/>
    <p:sldId id="702" r:id="rId18"/>
    <p:sldId id="703" r:id="rId19"/>
    <p:sldId id="704" r:id="rId20"/>
    <p:sldId id="705" r:id="rId21"/>
    <p:sldId id="706" r:id="rId22"/>
    <p:sldId id="707" r:id="rId23"/>
    <p:sldId id="708" r:id="rId24"/>
    <p:sldId id="709" r:id="rId25"/>
    <p:sldId id="710" r:id="rId26"/>
    <p:sldId id="711" r:id="rId27"/>
    <p:sldId id="712" r:id="rId28"/>
    <p:sldId id="713" r:id="rId29"/>
    <p:sldId id="720" r:id="rId30"/>
    <p:sldId id="687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FF4B5-631B-4A70-8B99-E8FB8796DA97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2FD04-098F-426E-B64E-A486CBD14B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78893B7-3393-4BF0-86C8-A9A2658A94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78893B7-3393-4BF0-86C8-A9A2658A94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20C1D-5BC8-412D-AEEB-BC87F48A743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7E238-31BE-45FB-AE55-A24CA8895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1770930"/>
            <a:ext cx="5829300" cy="1372321"/>
          </a:xfrm>
        </p:spPr>
        <p:txBody>
          <a:bodyPr>
            <a:normAutofit/>
          </a:bodyPr>
          <a:lstStyle/>
          <a:p>
            <a:pPr algn="ctr"/>
            <a:r>
              <a:rPr lang="en-US" sz="2700" dirty="0"/>
              <a:t>Software Engineering for 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950" y="4343400"/>
            <a:ext cx="4800600" cy="6858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</a:t>
            </a:r>
            <a:r>
              <a:rPr lang="en-US"/>
              <a:t>: Dr</a:t>
            </a:r>
            <a:r>
              <a:rPr lang="en-US" dirty="0"/>
              <a:t>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171700" y="5086350"/>
            <a:ext cx="4800600" cy="8572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School of Computer and Information Technology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2400" dirty="0" err="1">
                <a:solidFill>
                  <a:srgbClr val="000000"/>
                </a:solidFill>
                <a:latin typeface="Calibri" panose="020F0502020204030204"/>
              </a:rPr>
              <a:t>Beaconhouse</a:t>
            </a:r>
            <a:r>
              <a:rPr lang="en-US" sz="2400" dirty="0">
                <a:solidFill>
                  <a:srgbClr val="000000"/>
                </a:solidFill>
                <a:latin typeface="Calibri" panose="020F0502020204030204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429000" y="3314700"/>
            <a:ext cx="2686050" cy="742950"/>
          </a:xfrm>
          <a:prstGeom prst="rect">
            <a:avLst/>
          </a:prstGeom>
        </p:spPr>
        <p:txBody>
          <a:bodyPr vert="horz" lIns="34290" rIns="34290">
            <a:normAutofit/>
          </a:bodyPr>
          <a:lstStyle/>
          <a:p>
            <a:pPr marR="48006" algn="ctr">
              <a:spcBef>
                <a:spcPts val="300"/>
              </a:spcBef>
              <a:buClr>
                <a:srgbClr val="E48312"/>
              </a:buClr>
              <a:buSzPct val="68000"/>
              <a:defRPr/>
            </a:pPr>
            <a:r>
              <a:rPr lang="en-US" sz="24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25590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3AA5B-4E0D-46DD-B32E-5451C917D69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8196" name="Rectangle 8"/>
          <p:cNvSpPr>
            <a:spLocks noChangeArrowheads="1"/>
          </p:cNvSpPr>
          <p:nvPr/>
        </p:nvSpPr>
        <p:spPr bwMode="auto">
          <a:xfrm>
            <a:off x="914400" y="4005263"/>
            <a:ext cx="7543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3600" dirty="0">
                <a:latin typeface="Times New Roman" pitchFamily="18" charset="0"/>
                <a:cs typeface="Times New Roman" pitchFamily="18" charset="0"/>
              </a:rPr>
              <a:t>Switch off mobile phones during lectures, or put them into silent mode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P012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3340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F0E30-ABFA-47AB-A3F4-4AFD823383F7}" type="slidenum">
              <a:rPr lang="en-US"/>
              <a:pPr/>
              <a:t>3</a:t>
            </a:fld>
            <a:endParaRPr lang="en-US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Prototyping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It is the technique of constructing a partial implementation of a system so that customers, users, or developers can learn more about a problem or a solution to that problem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957-9C63-4917-98E7-3A7999920A46}" type="slidenum">
              <a:rPr lang="en-US"/>
              <a:pPr/>
              <a:t>4</a:t>
            </a:fld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Prototype - 1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 initial version of the system under development, which is available early in the development process</a:t>
            </a:r>
          </a:p>
          <a:p>
            <a:r>
              <a:rPr lang="en-US"/>
              <a:t>A prototype can be a subset of a system, and vice versa, but they are not the same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9B4E0-E89D-4283-8503-23DBB0D071E8}" type="slidenum">
              <a:rPr lang="en-US"/>
              <a:pPr/>
              <a:t>5</a:t>
            </a:fld>
            <a:endParaRPr 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Prototype - 2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hardware systems, prototypes are often developed to test and experiment with system designs</a:t>
            </a:r>
          </a:p>
          <a:p>
            <a:r>
              <a:rPr lang="en-US"/>
              <a:t>In software systems, prototypes are more often used to help elicit and validate the system requirements.  There are other uses also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C861F-92BC-4BE7-8692-19F753829B83}" type="slidenum">
              <a:rPr lang="en-US"/>
              <a:pPr/>
              <a:t>6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Prototype - 3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/>
              <a:t>It should be easy for a prototype to be developed quickly, so that it can be used during the development process</a:t>
            </a:r>
          </a:p>
          <a:p>
            <a:r>
              <a:rPr lang="en-US" sz="3200"/>
              <a:t>Prototypes are valuable for requirements elicitation because users can experiment with the system and point out its strengths and weaknesses. They have something concrete to criticize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B0C1-0F3B-4AD4-96DE-8DA0396EF55D}" type="slidenum">
              <a:rPr lang="en-US"/>
              <a:pPr/>
              <a:t>7</a:t>
            </a:fld>
            <a:endParaRPr lang="en-US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Prototyping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Throw-away prototyping</a:t>
            </a:r>
          </a:p>
          <a:p>
            <a:endParaRPr lang="en-US"/>
          </a:p>
          <a:p>
            <a:r>
              <a:rPr lang="en-US"/>
              <a:t>Evolutionary prototyping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9EFA-02D7-4388-BFDC-3ABB36EE8CEB}" type="slidenum">
              <a:rPr lang="en-US"/>
              <a:pPr/>
              <a:t>8</a:t>
            </a:fld>
            <a:endParaRPr 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Throw-away Prototyping - 1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Intended to help elicit and develop the system requirements</a:t>
            </a:r>
          </a:p>
          <a:p>
            <a:r>
              <a:rPr lang="en-US"/>
              <a:t>The requirements which should be prototyped are those which cause most difficulties to customers and which are the hardest to understand. Little documentation is needed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797C4-6B00-4805-BA7A-A1E7D7D52F54}" type="slidenum">
              <a:rPr lang="en-US"/>
              <a:pPr/>
              <a:t>9</a:t>
            </a:fld>
            <a:endParaRPr 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Throw-away Prototyping - 2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Determine the feasibility of a requirement</a:t>
            </a:r>
          </a:p>
          <a:p>
            <a:pPr>
              <a:lnSpc>
                <a:spcPct val="90000"/>
              </a:lnSpc>
            </a:pPr>
            <a:r>
              <a:rPr lang="en-US"/>
              <a:t>Validate that a particular function is really necessary</a:t>
            </a:r>
          </a:p>
          <a:p>
            <a:pPr>
              <a:lnSpc>
                <a:spcPct val="90000"/>
              </a:lnSpc>
            </a:pPr>
            <a:r>
              <a:rPr lang="en-US"/>
              <a:t>Uncover missing requirements</a:t>
            </a:r>
          </a:p>
          <a:p>
            <a:pPr>
              <a:lnSpc>
                <a:spcPct val="90000"/>
              </a:lnSpc>
            </a:pPr>
            <a:r>
              <a:rPr lang="en-US"/>
              <a:t>Determine the viability of a user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A7CE-EE47-4068-826E-8CB5395A570B}" type="slidenum">
              <a:rPr lang="en-US"/>
              <a:pPr/>
              <a:t>10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Throw-away Prototyping - 3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Writing a preliminary requirements document</a:t>
            </a:r>
          </a:p>
          <a:p>
            <a:r>
              <a:rPr lang="en-US"/>
              <a:t>Implementing the prototype based on those requirements</a:t>
            </a:r>
          </a:p>
          <a:p>
            <a:r>
              <a:rPr lang="en-US"/>
              <a:t>Achieving user experience with prototype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23386-224F-479C-82ED-7EC7E3E9B890}" type="slidenum">
              <a:rPr lang="en-US"/>
              <a:pPr/>
              <a:t>11</a:t>
            </a:fld>
            <a:endParaRPr lang="en-US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Throw-away Prototyping - 4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Writing the real SRS</a:t>
            </a:r>
          </a:p>
          <a:p>
            <a:r>
              <a:rPr lang="en-US"/>
              <a:t>Developing the real product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C0F5-00D9-4EAD-B476-F021953CC0A0}" type="slidenum">
              <a:rPr lang="en-US"/>
              <a:pPr/>
              <a:t>12</a:t>
            </a:fld>
            <a:endParaRPr lang="en-U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Evolutionary Prototyping - 1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Intended to deliver a workable system quickly to the customer</a:t>
            </a:r>
          </a:p>
          <a:p>
            <a:r>
              <a:rPr lang="en-US"/>
              <a:t>The requirements which should be supported by the initial versions of this prototype are those which are well-understood and which can deliver useful end-user functionality 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FE6E8-BFCD-4B3F-AFD9-2A352D20ADC4}" type="slidenum">
              <a:rPr lang="en-US"/>
              <a:pPr/>
              <a:t>13</a:t>
            </a:fld>
            <a:endParaRPr 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Evolutionary Prototyping - 2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Documentation of the prototype is needed to build upon</a:t>
            </a:r>
          </a:p>
          <a:p>
            <a:r>
              <a:rPr lang="en-US"/>
              <a:t>This process repeats indefinitely until the prototype system satisfies all needs and has thus evolved into the real system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782B2-322F-4058-A7CB-638940AB84C0}" type="slidenum">
              <a:rPr lang="en-US"/>
              <a:pPr/>
              <a:t>14</a:t>
            </a:fld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Evolutionary Prototyping - 3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Evolutionary prototype may not be built in a ‘dirty’ fashion.  The evolutionary prototype evolves into the final product, and thus it must exhibit all the quality attributes of the final product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225F-66E0-46A8-899F-C10439CCD820}" type="slidenum">
              <a:rPr lang="en-US"/>
              <a:pPr/>
              <a:t>15</a:t>
            </a:fld>
            <a:endParaRPr 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Prototyping - 1</a:t>
            </a:r>
          </a:p>
        </p:txBody>
      </p:sp>
      <p:graphicFrame>
        <p:nvGraphicFramePr>
          <p:cNvPr id="37926" name="Group 38"/>
          <p:cNvGraphicFramePr>
            <a:graphicFrameLocks noGrp="1"/>
          </p:cNvGraphicFramePr>
          <p:nvPr>
            <p:ph type="tbl" idx="1"/>
          </p:nvPr>
        </p:nvGraphicFramePr>
        <p:xfrm>
          <a:off x="685800" y="1981200"/>
          <a:ext cx="7772400" cy="2376805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Throwaway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Evolutionary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Development approach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Quick and dirty.  No rigor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No sloppiness.  Rigorous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Prototyping - 2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4EE16-EEEE-4503-ADC7-6D523C527B1F}" type="slidenum">
              <a:rPr lang="en-US"/>
              <a:pPr/>
              <a:t>16</a:t>
            </a:fld>
            <a:endParaRPr lang="en-US"/>
          </a:p>
        </p:txBody>
      </p:sp>
      <p:graphicFrame>
        <p:nvGraphicFramePr>
          <p:cNvPr id="46101" name="Group 21"/>
          <p:cNvGraphicFramePr>
            <a:graphicFrameLocks noGrp="1"/>
          </p:cNvGraphicFramePr>
          <p:nvPr/>
        </p:nvGraphicFramePr>
        <p:xfrm>
          <a:off x="685800" y="1949450"/>
          <a:ext cx="7772400" cy="3352165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Throwaway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Evolutionary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What to build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Build only difficult parts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Build understood parts first.  Build on solid foundation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Prototyping - 3</a:t>
            </a:r>
          </a:p>
        </p:txBody>
      </p:sp>
      <p:graphicFrame>
        <p:nvGraphicFramePr>
          <p:cNvPr id="38949" name="Group 37"/>
          <p:cNvGraphicFramePr>
            <a:graphicFrameLocks noGrp="1"/>
          </p:cNvGraphicFramePr>
          <p:nvPr>
            <p:ph type="tbl" idx="1"/>
          </p:nvPr>
        </p:nvGraphicFramePr>
        <p:xfrm>
          <a:off x="685800" y="1981200"/>
          <a:ext cx="7772400" cy="429768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Throwaway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Evolutionary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Design drivers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Optimize development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Optimize modifiability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Ultimate goal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Throw it away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charset="0"/>
                        </a:rPr>
                        <a:t>Evolve 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35CA-531A-42A7-95BC-FB3C5DEF6498}" type="slidenum">
              <a:rPr lang="en-US"/>
              <a:pPr/>
              <a:t>17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F7CBB-2CD1-4B6E-B2EA-74C421E05DDA}" type="slidenum">
              <a:rPr lang="en-US"/>
              <a:pPr/>
              <a:t>18</a:t>
            </a:fld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Prototyping Benefits - 1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prototype allows users to experiment and discover what they really need to support their work</a:t>
            </a:r>
          </a:p>
          <a:p>
            <a:r>
              <a:rPr lang="en-US"/>
              <a:t>Establishes feasibility and usefulness before high development costs are incurred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465F4-074B-494D-A3F9-EA2DC1387296}" type="slidenum">
              <a:rPr lang="en-US"/>
              <a:pPr/>
              <a:t>19</a:t>
            </a:fld>
            <a:endParaRPr 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Prototyping Benefits - 2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Essential for developing the ‘look and feel’ of a user interface.  Helps customers in ‘visualizing’ their requirements</a:t>
            </a:r>
          </a:p>
          <a:p>
            <a:r>
              <a:rPr lang="en-US"/>
              <a:t>Forces a detailed study of the requirements which reveals inconsistencies and omissions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38FA-D112-4AAE-9BD8-8BA901C143B0}" type="slidenum">
              <a:rPr lang="en-US"/>
              <a:pPr/>
              <a:t>20</a:t>
            </a:fld>
            <a:endParaRPr lang="en-US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Prototyping Costs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Training costs</a:t>
            </a:r>
          </a:p>
          <a:p>
            <a:pPr lvl="1"/>
            <a:r>
              <a:rPr lang="en-US"/>
              <a:t>Prototype development may require the use of special purpose tools</a:t>
            </a:r>
          </a:p>
          <a:p>
            <a:r>
              <a:rPr lang="en-US"/>
              <a:t>Development costs</a:t>
            </a:r>
          </a:p>
          <a:p>
            <a:pPr lvl="1"/>
            <a:r>
              <a:rPr lang="en-US"/>
              <a:t>Depend on the type of prototype being developed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3CB8-28E2-4404-A879-E8B3F8E4770B}" type="slidenum">
              <a:rPr lang="en-US"/>
              <a:pPr/>
              <a:t>21</a:t>
            </a:fld>
            <a:endParaRPr lang="en-US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Prototyping Problems - 1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Extended development schedules</a:t>
            </a:r>
          </a:p>
          <a:p>
            <a:pPr lvl="1"/>
            <a:r>
              <a:rPr lang="en-US"/>
              <a:t>Developing a prototype may extend the schedule although the prototyping time may be recovered because rework is avoided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949DA-3DFA-4DEA-A4F6-4E0B1E2C5996}" type="slidenum">
              <a:rPr lang="en-US"/>
              <a:pPr/>
              <a:t>22</a:t>
            </a:fld>
            <a:endParaRPr lang="en-US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Prototyping Problems - 2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Incompleteness</a:t>
            </a:r>
          </a:p>
          <a:p>
            <a:pPr lvl="1"/>
            <a:r>
              <a:rPr lang="en-US"/>
              <a:t>It may not be possible to prototype emergent system requirements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DABE-6BF3-43E0-AB6E-08FF86395C74}" type="slidenum">
              <a:rPr lang="en-US"/>
              <a:pPr/>
              <a:t>23</a:t>
            </a:fld>
            <a:endParaRPr 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Benefits of Prototyping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Developing a system prototype is worth the investment in time and money</a:t>
            </a:r>
          </a:p>
          <a:p>
            <a:pPr>
              <a:lnSpc>
                <a:spcPct val="90000"/>
              </a:lnSpc>
            </a:pPr>
            <a:r>
              <a:rPr lang="en-US"/>
              <a:t>Real needs of the customers will be reflected in the requirements set</a:t>
            </a:r>
          </a:p>
          <a:p>
            <a:pPr>
              <a:lnSpc>
                <a:spcPct val="90000"/>
              </a:lnSpc>
            </a:pPr>
            <a:r>
              <a:rPr lang="en-US"/>
              <a:t>Rework will be reduced</a:t>
            </a:r>
          </a:p>
          <a:p>
            <a:pPr>
              <a:lnSpc>
                <a:spcPct val="90000"/>
              </a:lnSpc>
            </a:pPr>
            <a:r>
              <a:rPr lang="en-US"/>
              <a:t>Defect prevention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E427-7456-487D-8427-29AEB508DBBE}" type="slidenum">
              <a:rPr lang="en-US"/>
              <a:pPr/>
              <a:t>24</a:t>
            </a:fld>
            <a:endParaRPr 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Developing Prototypes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Conventional system development techniques usually take too long, and prototypes are needed early in the elicitation process to be useful</a:t>
            </a:r>
          </a:p>
          <a:p>
            <a:r>
              <a:rPr lang="en-US"/>
              <a:t>Rapid development approaches are used for prototype development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010D-6E86-4ECE-BB38-80D3727F3282}" type="slidenum">
              <a:rPr lang="en-US"/>
              <a:pPr/>
              <a:t>25</a:t>
            </a:fld>
            <a:endParaRPr lang="en-US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Approaches to Prototyping</a:t>
            </a:r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Paper prototyping</a:t>
            </a:r>
          </a:p>
          <a:p>
            <a:endParaRPr lang="en-US"/>
          </a:p>
          <a:p>
            <a:r>
              <a:rPr lang="en-US"/>
              <a:t>‘Wizard of Oz’ prototyping</a:t>
            </a:r>
          </a:p>
          <a:p>
            <a:endParaRPr lang="en-US"/>
          </a:p>
          <a:p>
            <a:r>
              <a:rPr lang="en-US"/>
              <a:t>Executable prototyping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3D89-5E53-403E-8144-84FFF5F69084}" type="slidenum">
              <a:rPr lang="en-US"/>
              <a:pPr/>
              <a:t>26</a:t>
            </a:fld>
            <a:endParaRPr lang="en-US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Paper Prototyping - 1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paper mock-up of the system is developed and used for system experiments</a:t>
            </a:r>
          </a:p>
          <a:p>
            <a:r>
              <a:rPr lang="en-US"/>
              <a:t>This is very cheap and very effective approach to prototype development</a:t>
            </a:r>
          </a:p>
          <a:p>
            <a:r>
              <a:rPr lang="en-US"/>
              <a:t>No executable software is needed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D704F-0C43-485D-B7DE-D7FC71E21AF3}" type="slidenum">
              <a:rPr lang="en-US"/>
              <a:pPr/>
              <a:t>27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Paper Prototyping - 2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Paper versions of the screens, which might be presented to the user are drawn and various usage scenarios are planned</a:t>
            </a:r>
          </a:p>
          <a:p>
            <a:r>
              <a:rPr lang="en-US"/>
              <a:t>For interactive systems, this is very effective way to find users’ reactions and the required information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BACB-D987-4669-BCCB-C9D64A63399A}" type="slidenum">
              <a:rPr lang="en-US"/>
              <a:pPr/>
              <a:t>28</a:t>
            </a:fld>
            <a:endParaRPr lang="en-US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Prototyping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Prototyping interactive applications is easier than prototyping real-time applications</a:t>
            </a:r>
          </a:p>
          <a:p>
            <a:r>
              <a:rPr lang="en-US"/>
              <a:t>Prototyping is used better to understand and discover functional requirements, as compared to non-functional requirements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16600" b="1" dirty="0"/>
              <a:t>Thanks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260</TotalTime>
  <Words>824</Words>
  <Application>Microsoft Office PowerPoint</Application>
  <PresentationFormat>On-screen Show (4:3)</PresentationFormat>
  <Paragraphs>135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Franklin Gothic Book</vt:lpstr>
      <vt:lpstr>Perpetua</vt:lpstr>
      <vt:lpstr>Times New Roman</vt:lpstr>
      <vt:lpstr>Wingdings 2</vt:lpstr>
      <vt:lpstr>Equity</vt:lpstr>
      <vt:lpstr>Office Theme</vt:lpstr>
      <vt:lpstr>Software Engineering for CS</vt:lpstr>
      <vt:lpstr>`</vt:lpstr>
      <vt:lpstr>Prototyping</vt:lpstr>
      <vt:lpstr>Prototype - 1</vt:lpstr>
      <vt:lpstr>Prototype - 2</vt:lpstr>
      <vt:lpstr>Prototype - 3</vt:lpstr>
      <vt:lpstr>Types of Prototyping</vt:lpstr>
      <vt:lpstr>Throw-away Prototyping - 1</vt:lpstr>
      <vt:lpstr>Throw-away Prototyping - 2</vt:lpstr>
      <vt:lpstr>Throw-away Prototyping - 3</vt:lpstr>
      <vt:lpstr>Throw-away Prototyping - 4</vt:lpstr>
      <vt:lpstr>Evolutionary Prototyping - 1</vt:lpstr>
      <vt:lpstr>Evolutionary Prototyping - 2</vt:lpstr>
      <vt:lpstr>Evolutionary Prototyping - 3</vt:lpstr>
      <vt:lpstr>Comparison of Prototyping - 1</vt:lpstr>
      <vt:lpstr>Comparison of Prototyping - 2</vt:lpstr>
      <vt:lpstr>Comparison of Prototyping - 3</vt:lpstr>
      <vt:lpstr>Prototyping Benefits - 1</vt:lpstr>
      <vt:lpstr>Prototyping Benefits - 2</vt:lpstr>
      <vt:lpstr>Prototyping Costs</vt:lpstr>
      <vt:lpstr>Prototyping Problems - 1</vt:lpstr>
      <vt:lpstr>Prototyping Problems - 2</vt:lpstr>
      <vt:lpstr>Additional Benefits of Prototyping</vt:lpstr>
      <vt:lpstr>Developing Prototypes</vt:lpstr>
      <vt:lpstr>Approaches to Prototyping</vt:lpstr>
      <vt:lpstr>Paper Prototyping - 1</vt:lpstr>
      <vt:lpstr>Paper Prototyping - 2</vt:lpstr>
      <vt:lpstr>Comments on Prototyping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&amp; Architecture </dc:title>
  <dc:creator/>
  <cp:lastModifiedBy>user</cp:lastModifiedBy>
  <cp:revision>140</cp:revision>
  <dcterms:created xsi:type="dcterms:W3CDTF">2006-08-16T00:00:00Z</dcterms:created>
  <dcterms:modified xsi:type="dcterms:W3CDTF">2025-10-28T11:20:59Z</dcterms:modified>
</cp:coreProperties>
</file>