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</p:sldMasterIdLst>
  <p:notesMasterIdLst>
    <p:notesMasterId r:id="rId72"/>
  </p:notesMasterIdLst>
  <p:sldIdLst>
    <p:sldId id="547" r:id="rId2"/>
    <p:sldId id="548" r:id="rId3"/>
    <p:sldId id="569" r:id="rId4"/>
    <p:sldId id="413" r:id="rId5"/>
    <p:sldId id="414" r:id="rId6"/>
    <p:sldId id="415" r:id="rId7"/>
    <p:sldId id="416" r:id="rId8"/>
    <p:sldId id="417" r:id="rId9"/>
    <p:sldId id="418" r:id="rId10"/>
    <p:sldId id="419" r:id="rId11"/>
    <p:sldId id="420" r:id="rId12"/>
    <p:sldId id="570" r:id="rId13"/>
    <p:sldId id="421" r:id="rId14"/>
    <p:sldId id="422" r:id="rId15"/>
    <p:sldId id="423" r:id="rId16"/>
    <p:sldId id="424" r:id="rId17"/>
    <p:sldId id="425" r:id="rId18"/>
    <p:sldId id="426" r:id="rId19"/>
    <p:sldId id="427" r:id="rId20"/>
    <p:sldId id="545" r:id="rId21"/>
    <p:sldId id="546" r:id="rId22"/>
    <p:sldId id="428" r:id="rId23"/>
    <p:sldId id="429" r:id="rId24"/>
    <p:sldId id="430" r:id="rId25"/>
    <p:sldId id="431" r:id="rId26"/>
    <p:sldId id="432" r:id="rId27"/>
    <p:sldId id="433" r:id="rId28"/>
    <p:sldId id="434" r:id="rId29"/>
    <p:sldId id="435" r:id="rId30"/>
    <p:sldId id="436" r:id="rId31"/>
    <p:sldId id="437" r:id="rId32"/>
    <p:sldId id="438" r:id="rId33"/>
    <p:sldId id="439" r:id="rId34"/>
    <p:sldId id="440" r:id="rId35"/>
    <p:sldId id="441" r:id="rId36"/>
    <p:sldId id="442" r:id="rId37"/>
    <p:sldId id="443" r:id="rId38"/>
    <p:sldId id="444" r:id="rId39"/>
    <p:sldId id="445" r:id="rId40"/>
    <p:sldId id="446" r:id="rId41"/>
    <p:sldId id="447" r:id="rId42"/>
    <p:sldId id="549" r:id="rId43"/>
    <p:sldId id="550" r:id="rId44"/>
    <p:sldId id="551" r:id="rId45"/>
    <p:sldId id="552" r:id="rId46"/>
    <p:sldId id="553" r:id="rId47"/>
    <p:sldId id="554" r:id="rId48"/>
    <p:sldId id="555" r:id="rId49"/>
    <p:sldId id="556" r:id="rId50"/>
    <p:sldId id="557" r:id="rId51"/>
    <p:sldId id="558" r:id="rId52"/>
    <p:sldId id="559" r:id="rId53"/>
    <p:sldId id="560" r:id="rId54"/>
    <p:sldId id="561" r:id="rId55"/>
    <p:sldId id="562" r:id="rId56"/>
    <p:sldId id="563" r:id="rId57"/>
    <p:sldId id="564" r:id="rId58"/>
    <p:sldId id="565" r:id="rId59"/>
    <p:sldId id="566" r:id="rId60"/>
    <p:sldId id="567" r:id="rId61"/>
    <p:sldId id="568" r:id="rId62"/>
    <p:sldId id="449" r:id="rId63"/>
    <p:sldId id="450" r:id="rId64"/>
    <p:sldId id="451" r:id="rId65"/>
    <p:sldId id="452" r:id="rId66"/>
    <p:sldId id="453" r:id="rId67"/>
    <p:sldId id="454" r:id="rId68"/>
    <p:sldId id="455" r:id="rId69"/>
    <p:sldId id="456" r:id="rId70"/>
    <p:sldId id="412" r:id="rId71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F5AFF4B5-631B-4A70-8B99-E8FB8796DA97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CF2FD04-098F-426E-B64E-A486CBD14B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82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10/16/2025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394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10/16/2025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0969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10/16/2025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937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10/16/2025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5127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10/16/2025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0291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10/16/2025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5801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10/16/2025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0954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10/16/2025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63705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63705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63705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718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10/16/2025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3601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10/16/2025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9707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10/16/2025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1598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D7A2F4-68AB-4C94-961A-97A9545E0508}" type="slidenum"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1497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10/16/2025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8495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  <p:sldLayoutId id="2147483830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18239"/>
            <a:ext cx="7772400" cy="1829761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Software Engineering for 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4648200"/>
            <a:ext cx="6400800" cy="9144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Instructor : dr. </a:t>
            </a:r>
            <a:r>
              <a:rPr lang="en-US" dirty="0" err="1"/>
              <a:t>Natash</a:t>
            </a:r>
            <a:r>
              <a:rPr lang="en-US" dirty="0"/>
              <a:t> Ali </a:t>
            </a:r>
            <a:r>
              <a:rPr lang="en-US" dirty="0" err="1"/>
              <a:t>Mian</a:t>
            </a:r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371600" y="5638800"/>
            <a:ext cx="6400800" cy="11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School of Computer and Information Technology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Beaconhouse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National University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3048000" y="3276600"/>
            <a:ext cx="3581400" cy="990600"/>
          </a:xfrm>
          <a:prstGeom prst="rect">
            <a:avLst/>
          </a:prstGeom>
        </p:spPr>
        <p:txBody>
          <a:bodyPr vert="horz" lIns="45720" rIns="45720">
            <a:normAutofit/>
          </a:bodyPr>
          <a:lstStyle/>
          <a:p>
            <a:pPr marL="0" marR="64008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48312"/>
              </a:buClr>
              <a:buSzPct val="68000"/>
              <a:buFont typeface="Wingdings 3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Week </a:t>
            </a:r>
            <a:r>
              <a:rPr lang="en-US" sz="320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4,5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1126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93AA5B-4E0D-46DD-B32E-5451C917D695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96" name="Rectangle 8"/>
          <p:cNvSpPr>
            <a:spLocks noChangeArrowheads="1"/>
          </p:cNvSpPr>
          <p:nvPr/>
        </p:nvSpPr>
        <p:spPr bwMode="auto">
          <a:xfrm>
            <a:off x="914400" y="1765280"/>
            <a:ext cx="7543800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5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Switch off mobile phones during lectures,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5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or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5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put them into silent mode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624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13867-946C-3ACD-7896-862A23D95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6D2A1-7566-E7C6-1010-0C37950A8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ctr"/>
            <a:endParaRPr lang="en-US" sz="6000" dirty="0"/>
          </a:p>
          <a:p>
            <a:pPr algn="ctr"/>
            <a:r>
              <a:rPr lang="en-US" sz="6000" dirty="0"/>
              <a:t>Requirement???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Features, Functionality of the system?</a:t>
            </a:r>
          </a:p>
          <a:p>
            <a:pPr algn="ctr"/>
            <a:r>
              <a:rPr lang="en-US" sz="1400" dirty="0"/>
              <a:t>Wanted or Needed?</a:t>
            </a:r>
          </a:p>
          <a:p>
            <a:pPr algn="ctr"/>
            <a:r>
              <a:rPr lang="en-US" sz="1400" dirty="0"/>
              <a:t>Needs?</a:t>
            </a:r>
          </a:p>
          <a:p>
            <a:pPr algn="ctr"/>
            <a:endParaRPr lang="en-US" sz="1400" dirty="0"/>
          </a:p>
          <a:p>
            <a:pPr algn="ctr"/>
            <a:r>
              <a:rPr lang="en-US" sz="4000" dirty="0"/>
              <a:t>Requirement Engineering?</a:t>
            </a:r>
          </a:p>
          <a:p>
            <a:pPr algn="ctr"/>
            <a:r>
              <a:rPr lang="en-US" sz="1900" dirty="0"/>
              <a:t>Gathering to Finalization.</a:t>
            </a:r>
          </a:p>
        </p:txBody>
      </p:sp>
    </p:spTree>
    <p:extLst>
      <p:ext uri="{BB962C8B-B14F-4D97-AF65-F5344CB8AC3E}">
        <p14:creationId xmlns:p14="http://schemas.microsoft.com/office/powerpoint/2010/main" val="422175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Requirements form the basis for all software products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Requirements engineering is the process, which enables us to systematically determine the requirements for a software product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BEE08-2788-4106-AD58-14F6075B43A6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620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Requirement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Something required, something wanted or needed</a:t>
            </a:r>
          </a:p>
          <a:p>
            <a:pPr lvl="1"/>
            <a:r>
              <a:rPr lang="en-US"/>
              <a:t>Webster’s dictionary</a:t>
            </a:r>
          </a:p>
          <a:p>
            <a:r>
              <a:rPr lang="en-US"/>
              <a:t>There is a huge difference between </a:t>
            </a:r>
            <a:r>
              <a:rPr lang="en-US" i="1"/>
              <a:t>wanted</a:t>
            </a:r>
            <a:r>
              <a:rPr lang="en-US"/>
              <a:t> and </a:t>
            </a:r>
            <a:r>
              <a:rPr lang="en-US" i="1"/>
              <a:t>needed </a:t>
            </a:r>
            <a:r>
              <a:rPr lang="en-US"/>
              <a:t>and it should be kept in mind all the time</a:t>
            </a:r>
          </a:p>
          <a:p>
            <a:endParaRPr lang="en-US" i="1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1BCB4-964F-4010-887B-49BC72FA0AAA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74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Requirements - 1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complete description of </a:t>
            </a:r>
            <a:r>
              <a:rPr lang="en-US" i="1"/>
              <a:t>what</a:t>
            </a:r>
            <a:r>
              <a:rPr lang="en-US"/>
              <a:t> the software system will do without describing </a:t>
            </a:r>
            <a:r>
              <a:rPr lang="en-US" i="1"/>
              <a:t>how</a:t>
            </a:r>
            <a:r>
              <a:rPr lang="en-US"/>
              <a:t> it will do it is represented by the software requirements</a:t>
            </a:r>
          </a:p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F9B9E-CA81-4209-8308-7B1D6B17D5BB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741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Requirements - 2</a:t>
            </a:r>
          </a:p>
        </p:txBody>
      </p:sp>
      <p:sp>
        <p:nvSpPr>
          <p:cNvPr id="158723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Software requirements are complete specification of the desired external behavior of the software system to be built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They also represent External behavior of the system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4C656-E0B1-4566-9EEC-22E7FD9595AE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831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Requirements - 3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Software requirements may be:</a:t>
            </a:r>
          </a:p>
          <a:p>
            <a:pPr lvl="1"/>
            <a:r>
              <a:rPr lang="en-US"/>
              <a:t>Abstract statements of services and/or constraints</a:t>
            </a:r>
          </a:p>
          <a:p>
            <a:pPr lvl="1"/>
            <a:r>
              <a:rPr lang="en-US"/>
              <a:t>Detailed mathematical functions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67D1A-6F1F-406D-B5DD-FE78EB38CA6F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960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Requirements - 4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Software requirements may be:</a:t>
            </a:r>
          </a:p>
          <a:p>
            <a:pPr lvl="1"/>
            <a:r>
              <a:rPr lang="en-US"/>
              <a:t>Part of the bid of contract</a:t>
            </a:r>
          </a:p>
          <a:p>
            <a:pPr lvl="1"/>
            <a:r>
              <a:rPr lang="en-US"/>
              <a:t>The contract itself</a:t>
            </a:r>
          </a:p>
          <a:p>
            <a:pPr lvl="1"/>
            <a:r>
              <a:rPr lang="en-US"/>
              <a:t>Part of the technical document, which describes a product</a:t>
            </a:r>
          </a:p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AFFFA-FFAB-4BD2-9869-3A95E1DD0B5F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768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IEEE Definition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A condition or capability that must be met or possessed by a system...to satisfy a contract, standard, specification, or other formally imposed document</a:t>
            </a:r>
          </a:p>
          <a:p>
            <a:pPr lvl="1"/>
            <a:r>
              <a:rPr lang="en-US"/>
              <a:t>IEEE Std 729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B0150-444A-4735-93F4-6D352BEBFAD8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83468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Sources of Requirements</a:t>
            </a:r>
          </a:p>
        </p:txBody>
      </p:sp>
      <p:sp>
        <p:nvSpPr>
          <p:cNvPr id="194563" name="Rectangle 1027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Stakeholders</a:t>
            </a:r>
          </a:p>
          <a:p>
            <a:pPr lvl="1"/>
            <a:r>
              <a:rPr lang="en-US" dirty="0"/>
              <a:t>People affected in some way by the system</a:t>
            </a:r>
          </a:p>
          <a:p>
            <a:r>
              <a:rPr lang="en-US" dirty="0"/>
              <a:t>Documents</a:t>
            </a:r>
          </a:p>
          <a:p>
            <a:r>
              <a:rPr lang="en-US" dirty="0"/>
              <a:t>Existing system</a:t>
            </a:r>
          </a:p>
          <a:p>
            <a:r>
              <a:rPr lang="en-US" dirty="0"/>
              <a:t>Domain/business area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6DDF7-3587-4841-B360-B8907EFD1B35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060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A1033-C1D5-7505-57DB-A519E8FC8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1026">
            <a:extLst>
              <a:ext uri="{FF2B5EF4-FFF2-40B4-BE49-F238E27FC236}">
                <a16:creationId xmlns:a16="http://schemas.microsoft.com/office/drawing/2014/main" id="{15F832AF-9D52-5F69-6C88-9BA2E3A0CE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Sources of Requirements</a:t>
            </a:r>
          </a:p>
        </p:txBody>
      </p:sp>
      <p:sp>
        <p:nvSpPr>
          <p:cNvPr id="194563" name="Rectangle 1027">
            <a:extLst>
              <a:ext uri="{FF2B5EF4-FFF2-40B4-BE49-F238E27FC236}">
                <a16:creationId xmlns:a16="http://schemas.microsoft.com/office/drawing/2014/main" id="{3194B75D-002E-809C-C634-DC162365BE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Stakeholders</a:t>
            </a:r>
          </a:p>
          <a:p>
            <a:pPr lvl="1"/>
            <a:r>
              <a:rPr lang="en-US" dirty="0"/>
              <a:t>People affected in some way by the system</a:t>
            </a:r>
          </a:p>
          <a:p>
            <a:pPr lvl="2"/>
            <a:r>
              <a:rPr lang="en-US" dirty="0"/>
              <a:t>Owner (Investor)</a:t>
            </a:r>
          </a:p>
          <a:p>
            <a:pPr lvl="2"/>
            <a:r>
              <a:rPr lang="en-US" dirty="0"/>
              <a:t>Users </a:t>
            </a:r>
          </a:p>
          <a:p>
            <a:pPr lvl="2"/>
            <a:r>
              <a:rPr lang="en-US" dirty="0"/>
              <a:t>The team working on the software and responsible for maintaining it </a:t>
            </a:r>
          </a:p>
          <a:p>
            <a:pPr lvl="2"/>
            <a:r>
              <a:rPr lang="en-US" dirty="0"/>
              <a:t>External </a:t>
            </a:r>
          </a:p>
          <a:p>
            <a:pPr lvl="3"/>
            <a:r>
              <a:rPr lang="en-US" dirty="0"/>
              <a:t>Competitors</a:t>
            </a:r>
          </a:p>
          <a:p>
            <a:pPr lvl="3"/>
            <a:r>
              <a:rPr lang="en-US" dirty="0"/>
              <a:t>News agencies</a:t>
            </a:r>
          </a:p>
          <a:p>
            <a:pPr lvl="3"/>
            <a:r>
              <a:rPr lang="en-US" dirty="0"/>
              <a:t>Influencers </a:t>
            </a:r>
          </a:p>
          <a:p>
            <a:pPr lvl="3"/>
            <a:r>
              <a:rPr lang="en-US" dirty="0"/>
              <a:t>Government </a:t>
            </a:r>
          </a:p>
          <a:p>
            <a:r>
              <a:rPr lang="en-US" dirty="0"/>
              <a:t>Documents</a:t>
            </a:r>
          </a:p>
          <a:p>
            <a:r>
              <a:rPr lang="en-US" dirty="0"/>
              <a:t>Existing system</a:t>
            </a:r>
          </a:p>
          <a:p>
            <a:r>
              <a:rPr lang="en-US" dirty="0"/>
              <a:t>Domain/business area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74376E6-C121-7660-A29E-EF7E9F655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6DDF7-3587-4841-B360-B8907EFD1B35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152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05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/>
              <a:t>Levels of Software Requirements</a:t>
            </a:r>
          </a:p>
        </p:txBody>
      </p:sp>
      <p:sp>
        <p:nvSpPr>
          <p:cNvPr id="123907" name="Rectangle 2051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Stakeholders describe requirements at different levels of detail</a:t>
            </a:r>
          </a:p>
          <a:p>
            <a:pPr lvl="1"/>
            <a:r>
              <a:rPr lang="en-US" i="1"/>
              <a:t>“What versus How”</a:t>
            </a:r>
            <a:endParaRPr lang="en-US"/>
          </a:p>
          <a:p>
            <a:pPr lvl="1"/>
            <a:r>
              <a:rPr lang="en-US" i="1"/>
              <a:t>“One person’s floor is another person’s ceiling</a:t>
            </a:r>
            <a:r>
              <a:rPr lang="en-US"/>
              <a:t>”</a:t>
            </a:r>
          </a:p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C6C8B-BC84-43AE-B9FE-BD2A349EBEF9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31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>
            <a:normAutofit/>
          </a:bodyPr>
          <a:lstStyle/>
          <a:p>
            <a:r>
              <a:rPr lang="en-US"/>
              <a:t>Importance of Software Requirements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 dirty="0"/>
              <a:t>The hardest single part of building a software system is deciding what to build...No other part of the work so cripples the resulting system if done wrong.  No other part is difficult to rectify later, </a:t>
            </a:r>
            <a:r>
              <a:rPr lang="en-US" i="1" dirty="0"/>
              <a:t>Fred Brooks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8532-28CE-48D5-A8FA-01F94582094F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363345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endParaRPr lang="en-GB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229600" cy="4953000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endParaRPr lang="en-GB" altLang="en-US" sz="2200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819400" y="2209800"/>
          <a:ext cx="330835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074513" imgH="1889524" progId="PBrush">
                  <p:embed/>
                </p:oleObj>
              </mc:Choice>
              <mc:Fallback>
                <p:oleObj name="Bitmap Image" r:id="rId2" imgW="1074513" imgH="1889524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209800"/>
                        <a:ext cx="3308350" cy="365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8624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endParaRPr lang="en-GB" sz="3000" dirty="0"/>
          </a:p>
        </p:txBody>
      </p:sp>
      <p:sp>
        <p:nvSpPr>
          <p:cNvPr id="11267" name="Content Placeholder 4"/>
          <p:cNvSpPr>
            <a:spLocks noGrp="1"/>
          </p:cNvSpPr>
          <p:nvPr>
            <p:ph idx="1"/>
          </p:nvPr>
        </p:nvSpPr>
        <p:spPr>
          <a:xfrm>
            <a:off x="457200" y="1481138"/>
            <a:ext cx="8229600" cy="4691062"/>
          </a:xfrm>
        </p:spPr>
        <p:txBody>
          <a:bodyPr/>
          <a:lstStyle/>
          <a:p>
            <a:pPr eaLnBrk="1" hangingPunct="1"/>
            <a:endParaRPr lang="en-US" altLang="en-US"/>
          </a:p>
        </p:txBody>
      </p:sp>
      <p:graphicFrame>
        <p:nvGraphicFramePr>
          <p:cNvPr id="11268" name="Object 5"/>
          <p:cNvGraphicFramePr>
            <a:graphicFrameLocks noChangeAspect="1"/>
          </p:cNvGraphicFramePr>
          <p:nvPr/>
        </p:nvGraphicFramePr>
        <p:xfrm>
          <a:off x="2109788" y="1143000"/>
          <a:ext cx="3681412" cy="480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013333" imgH="1889524" progId="PBrush">
                  <p:embed/>
                </p:oleObj>
              </mc:Choice>
              <mc:Fallback>
                <p:oleObj name="Bitmap Image" r:id="rId2" imgW="1013333" imgH="1889524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9788" y="1143000"/>
                        <a:ext cx="3681412" cy="480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1486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138"/>
            <a:ext cx="8229600" cy="4386262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endParaRPr lang="en-GB" altLang="en-US" sz="2200"/>
          </a:p>
        </p:txBody>
      </p:sp>
      <p:graphicFrame>
        <p:nvGraphicFramePr>
          <p:cNvPr id="12291" name="Object 3"/>
          <p:cNvGraphicFramePr>
            <a:graphicFrameLocks noChangeAspect="1"/>
          </p:cNvGraphicFramePr>
          <p:nvPr/>
        </p:nvGraphicFramePr>
        <p:xfrm>
          <a:off x="1995488" y="1143000"/>
          <a:ext cx="3906837" cy="449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082134" imgH="1851820" progId="PBrush">
                  <p:embed/>
                </p:oleObj>
              </mc:Choice>
              <mc:Fallback>
                <p:oleObj name="Bitmap Image" r:id="rId2" imgW="1082134" imgH="1851820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5488" y="1143000"/>
                        <a:ext cx="3906837" cy="449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6037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953000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endParaRPr lang="en-GB" altLang="en-US" sz="2200"/>
          </a:p>
        </p:txBody>
      </p:sp>
      <p:graphicFrame>
        <p:nvGraphicFramePr>
          <p:cNvPr id="13315" name="Object 3"/>
          <p:cNvGraphicFramePr>
            <a:graphicFrameLocks noChangeAspect="1"/>
          </p:cNvGraphicFramePr>
          <p:nvPr/>
        </p:nvGraphicFramePr>
        <p:xfrm>
          <a:off x="2590800" y="1676400"/>
          <a:ext cx="3352800" cy="412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066667" imgH="1851820" progId="PBrush">
                  <p:embed/>
                </p:oleObj>
              </mc:Choice>
              <mc:Fallback>
                <p:oleObj name="Bitmap Image" r:id="rId2" imgW="1066667" imgH="1851820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676400"/>
                        <a:ext cx="3352800" cy="412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32917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138"/>
            <a:ext cx="8229600" cy="4081462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endParaRPr lang="en-GB" altLang="en-US" sz="2200"/>
          </a:p>
        </p:txBody>
      </p:sp>
      <p:pic>
        <p:nvPicPr>
          <p:cNvPr id="14339" name="Picture 5" descr="C:\Documents and Settings\said.nabi.VURWP\Desktop\how proj documented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752600"/>
            <a:ext cx="28956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58663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6600" dirty="0"/>
          </a:p>
          <a:p>
            <a:pPr marL="109728" indent="0" algn="ctr">
              <a:buNone/>
            </a:pPr>
            <a:r>
              <a:rPr lang="en-US" sz="6600" dirty="0"/>
              <a:t>Here is the complete story</a:t>
            </a:r>
          </a:p>
        </p:txBody>
      </p:sp>
    </p:spTree>
    <p:extLst>
      <p:ext uri="{BB962C8B-B14F-4D97-AF65-F5344CB8AC3E}">
        <p14:creationId xmlns:p14="http://schemas.microsoft.com/office/powerpoint/2010/main" val="16583231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152400"/>
            <a:ext cx="8700558" cy="6525418"/>
          </a:xfrm>
        </p:spPr>
      </p:pic>
    </p:spTree>
    <p:extLst>
      <p:ext uri="{BB962C8B-B14F-4D97-AF65-F5344CB8AC3E}">
        <p14:creationId xmlns:p14="http://schemas.microsoft.com/office/powerpoint/2010/main" val="38746884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Requirements - 1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system shall maintain records of all payments made to employees on accounts of salaries, bonuses, travel/daily allowances, medical allowances, etc.</a:t>
            </a:r>
          </a:p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8BB68-4D81-47BF-88C9-CC89BB081D89}" type="slidenum">
              <a:rPr lang="en-US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2973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Requirements - 2</a:t>
            </a:r>
          </a:p>
        </p:txBody>
      </p:sp>
      <p:sp>
        <p:nvSpPr>
          <p:cNvPr id="160771" name="Rectangle 2051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system shall interface with the central computer to send daily sales and inventory data from every retail store</a:t>
            </a:r>
          </a:p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DA6C1-7493-4100-8E6F-D42FB1434954}" type="slidenum">
              <a:rPr lang="en-US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4410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Requirements - 3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system shall maintain records of all library materials including books, serials, newspapers and magazines, video and audio tapes, reports, collections of transparencies, CD-ROMs, DVDs, etc.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964BF-9612-4686-B19C-542A89A7BC97}" type="slidenum">
              <a:rPr lang="en-US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342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Requirements - 4</a:t>
            </a:r>
          </a:p>
        </p:txBody>
      </p:sp>
      <p:sp>
        <p:nvSpPr>
          <p:cNvPr id="149507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system shall allow users to search for an item by title, author, or by International Standard Book Number</a:t>
            </a:r>
          </a:p>
          <a:p>
            <a:pPr>
              <a:buFontTx/>
              <a:buNone/>
            </a:pPr>
            <a:endParaRPr lang="en-US"/>
          </a:p>
          <a:p>
            <a:r>
              <a:rPr lang="en-US"/>
              <a:t>The system’s user interface shall be implemented using a web browser</a:t>
            </a:r>
          </a:p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414C-F2FD-43B4-BC2D-622EB94BE2D6}" type="slidenum">
              <a:rPr lang="en-US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932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Requirements - 5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system shall support at least twenty transactions per second</a:t>
            </a:r>
          </a:p>
          <a:p>
            <a:pPr>
              <a:buFontTx/>
              <a:buNone/>
            </a:pPr>
            <a:endParaRPr lang="en-US"/>
          </a:p>
          <a:p>
            <a:r>
              <a:rPr lang="en-US"/>
              <a:t>The system facilities which are available to public users shall be demonstrable in ten minutes or less</a:t>
            </a:r>
          </a:p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98122-8D68-40FE-8C69-8ECD9CD66A38}" type="slidenum">
              <a:rPr lang="en-US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0162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002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Kinds of Software Requirements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D9D94-5C29-40CD-BC0D-47A1E3A566A9}" type="slidenum">
              <a:rPr lang="en-US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2279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Kinds of Software Requirements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Functional requirements</a:t>
            </a:r>
          </a:p>
          <a:p>
            <a:r>
              <a:rPr lang="en-US"/>
              <a:t>Non-functional requirements</a:t>
            </a:r>
          </a:p>
          <a:p>
            <a:r>
              <a:rPr lang="en-US"/>
              <a:t>Domain requirements</a:t>
            </a:r>
          </a:p>
          <a:p>
            <a:r>
              <a:rPr lang="en-US"/>
              <a:t>Inverse requirements</a:t>
            </a:r>
          </a:p>
          <a:p>
            <a:r>
              <a:rPr lang="en-US"/>
              <a:t>Design and implementation constraints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9EAED-11A2-4F4E-B588-08629A336CB2}" type="slidenum">
              <a:rPr lang="en-US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1916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Functional Requirements - 1</a:t>
            </a:r>
          </a:p>
        </p:txBody>
      </p:sp>
      <p:sp>
        <p:nvSpPr>
          <p:cNvPr id="78851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Statements describing what the system does</a:t>
            </a:r>
          </a:p>
          <a:p>
            <a:endParaRPr lang="en-US"/>
          </a:p>
          <a:p>
            <a:r>
              <a:rPr lang="en-US"/>
              <a:t>Functionality of the system</a:t>
            </a:r>
          </a:p>
          <a:p>
            <a:pPr>
              <a:buFontTx/>
              <a:buNone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0540C-ED4F-42C8-A612-209B03A174CA}" type="slidenum">
              <a:rPr lang="en-US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442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Functional Requirements - 2</a:t>
            </a:r>
          </a:p>
        </p:txBody>
      </p:sp>
      <p:sp>
        <p:nvSpPr>
          <p:cNvPr id="207875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Statements of services the system should provide</a:t>
            </a:r>
          </a:p>
          <a:p>
            <a:pPr lvl="1"/>
            <a:r>
              <a:rPr lang="en-US"/>
              <a:t>Reaction to particular inputs</a:t>
            </a:r>
          </a:p>
          <a:p>
            <a:pPr lvl="1"/>
            <a:r>
              <a:rPr lang="en-US"/>
              <a:t>Behavior in particular situations</a:t>
            </a:r>
          </a:p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80897-7F69-45A2-B16F-AB6201833AC8}" type="slidenum">
              <a:rPr lang="en-US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4435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Functional Requirements - 3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Sequencing and parallelism are also captured by functional requirements</a:t>
            </a:r>
          </a:p>
          <a:p>
            <a:endParaRPr lang="en-US"/>
          </a:p>
          <a:p>
            <a:r>
              <a:rPr lang="en-US"/>
              <a:t>Abnormal behavior is also documented as functional requirements in the form of exception handling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FE4BB-A9C1-45CF-9175-58B60085D2CA}" type="slidenum">
              <a:rPr lang="en-US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3320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Functional Requirements - 4</a:t>
            </a:r>
          </a:p>
        </p:txBody>
      </p:sp>
      <p:sp>
        <p:nvSpPr>
          <p:cNvPr id="192515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Functional requirements should be complete and consistent </a:t>
            </a:r>
          </a:p>
          <a:p>
            <a:endParaRPr lang="en-US"/>
          </a:p>
          <a:p>
            <a:r>
              <a:rPr lang="en-US"/>
              <a:t>Customers and developers usually focus all their attention on functional requirements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A3058-6641-40EE-A4C7-94EF72FAC015}" type="slidenum">
              <a:rPr lang="en-US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1573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Functional Requirements Example # 1</a:t>
            </a:r>
          </a:p>
        </p:txBody>
      </p:sp>
      <p:sp>
        <p:nvSpPr>
          <p:cNvPr id="182275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system shall solve a quadratic equation using the following formula</a:t>
            </a:r>
          </a:p>
          <a:p>
            <a:pPr lvl="1">
              <a:buFontTx/>
              <a:buNone/>
            </a:pPr>
            <a:endParaRPr lang="en-US"/>
          </a:p>
          <a:p>
            <a:pPr lvl="1" algn="ctr">
              <a:buFontTx/>
              <a:buNone/>
            </a:pPr>
            <a:r>
              <a:rPr lang="en-US" sz="4000"/>
              <a:t>x = (-b</a:t>
            </a:r>
            <a:r>
              <a:rPr lang="en-US" sz="4000" u="sng"/>
              <a:t>+</a:t>
            </a:r>
            <a:r>
              <a:rPr lang="en-US" sz="4000"/>
              <a:t>sqrt(b</a:t>
            </a:r>
            <a:r>
              <a:rPr lang="en-US" sz="4000" baseline="30000"/>
              <a:t>2</a:t>
            </a:r>
            <a:r>
              <a:rPr lang="en-US" sz="4000"/>
              <a:t> – 4*a*c))/2*a</a:t>
            </a:r>
          </a:p>
          <a:p>
            <a:pPr lvl="1">
              <a:buFontTx/>
              <a:buNone/>
            </a:pPr>
            <a:endParaRPr lang="en-US" sz="400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F3752-329E-4185-AA97-B41A6F1D9E79}" type="slidenum">
              <a:rPr lang="en-US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6158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Functional Requirements Example # 2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user shall be able to search either the entire database of patients or select a subset from it (admitted patients, or patients with asthma, etc.)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8EBD0-D3D6-4EA7-9F61-94E235ED568C}" type="slidenum">
              <a:rPr lang="en-US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1361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Functional Requirements Example # 3</a:t>
            </a:r>
          </a:p>
        </p:txBody>
      </p:sp>
      <p:sp>
        <p:nvSpPr>
          <p:cNvPr id="191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system shall provide appropriate viewers for the user to read documents in the document store</a:t>
            </a:r>
          </a:p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89741-A2FA-494A-966C-83245F51A6F0}" type="slidenum">
              <a:rPr lang="en-US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5155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Functional Requirements Example # 4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Every order shall be allocated a unique identifier (ORDER_ID) which the user shall use to access that order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272D-4418-42FB-AC77-9C009AEC9838}" type="slidenum">
              <a:rPr lang="en-US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3245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Functional Requirements Example # 5</a:t>
            </a:r>
          </a:p>
        </p:txBody>
      </p:sp>
      <p:sp>
        <p:nvSpPr>
          <p:cNvPr id="195587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system shall allow customers to return non-perishable items within fifteen days of the purchase.  A customer must present the original sale receipt to return an item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2001-CDDB-4D2C-894D-71CFC0264B5D}" type="slidenum">
              <a:rPr lang="en-US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2136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Comments on Examples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Notice the level of detail in different  requirements described above.  Some are very detailed compared to others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D8CCF-0D88-45D2-BD10-E8118F687C76}" type="slidenum">
              <a:rPr lang="en-US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3429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Comments on Examples</a:t>
            </a:r>
          </a:p>
        </p:txBody>
      </p:sp>
      <p:sp>
        <p:nvSpPr>
          <p:cNvPr id="2119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Notice the ambiguity in the requirement, which uses the term ‘appropriate viewers’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This requirement does not mention the formats of documents and types of viewers, which can be used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ABAD8-2A78-42C1-B759-B914BA9CC0B4}" type="slidenum">
              <a:rPr lang="en-US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2828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Comments on Examples</a:t>
            </a:r>
          </a:p>
        </p:txBody>
      </p:sp>
      <p:sp>
        <p:nvSpPr>
          <p:cNvPr id="1966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Notice the ambiguity in the requirement for solving the quadratic equation.  The requirement does not speak about the possibility when the value of ‘a’ is zero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sz="4400"/>
              <a:t>x = (-b</a:t>
            </a:r>
            <a:r>
              <a:rPr lang="en-US" sz="4400" u="sng"/>
              <a:t>+</a:t>
            </a:r>
            <a:r>
              <a:rPr lang="en-US" sz="4400"/>
              <a:t>sqrt(b</a:t>
            </a:r>
            <a:r>
              <a:rPr lang="en-US" sz="4400" baseline="30000"/>
              <a:t>2</a:t>
            </a:r>
            <a:r>
              <a:rPr lang="en-US" sz="4400"/>
              <a:t> – 4*a*c))/2*a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B7F45-C95F-41D8-B504-276F25EA8730}" type="slidenum">
              <a:rPr lang="en-US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6697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Comments on Examples</a:t>
            </a:r>
          </a:p>
        </p:txBody>
      </p:sp>
      <p:sp>
        <p:nvSpPr>
          <p:cNvPr id="2129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Incomplete and ambiguous requirements are open to multiple interpretations and assumptions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This can lead to the development of poor quality, or faulty, software products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77300-38EC-4180-8427-23477B34140C}" type="slidenum">
              <a:rPr lang="en-US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5607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Non-Functional Requirements - 1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Most non-functional requirements relate to the system as a whole. They include constraints on timing, performance, reliability, security, maintainability, accuracy, the development process, standards, etc.</a:t>
            </a:r>
          </a:p>
          <a:p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6067586-17DB-4FB5-ADF1-218DCF80AC60}" type="slidenum">
              <a:rPr lang="en-US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5276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Non-Functional Requirements - 2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They are often more critical than individual functional requirements</a:t>
            </a:r>
          </a:p>
          <a:p>
            <a:r>
              <a:rPr lang="en-US"/>
              <a:t>Capture the emergent behavior of the system, that is they relate to system as a whole</a:t>
            </a:r>
          </a:p>
          <a:p>
            <a:r>
              <a:rPr lang="en-US"/>
              <a:t>Many non-functional requirements describe the quality attributes of the software product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CA57D98-D880-474B-8668-1EB19893F965}" type="slidenum">
              <a:rPr lang="en-US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0334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Non-Functional Requirements - 3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For example, if an aircraft system does not meet reliability requirements, it will not be certified as ‘safe’</a:t>
            </a:r>
          </a:p>
          <a:p>
            <a:r>
              <a:rPr lang="en-US"/>
              <a:t>If a real-time control system fails to meet its performance requirements, the control functions will not operate correctly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395A431-AE46-4751-80B1-94B431024A24}" type="slidenum">
              <a:rPr lang="en-US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5249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Non-Functional Requirements - 4</a:t>
            </a:r>
          </a:p>
        </p:txBody>
      </p:sp>
      <p:sp>
        <p:nvSpPr>
          <p:cNvPr id="1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56137B-2706-4C10-8C70-1988B973951A}" type="slidenum">
              <a:rPr lang="en-US"/>
              <a:pPr/>
              <a:t>45</a:t>
            </a:fld>
            <a:endParaRPr lang="en-US"/>
          </a:p>
        </p:txBody>
      </p:sp>
      <p:sp>
        <p:nvSpPr>
          <p:cNvPr id="84995" name="AutoShape 3"/>
          <p:cNvSpPr>
            <a:spLocks noChangeArrowheads="1"/>
          </p:cNvSpPr>
          <p:nvPr/>
        </p:nvSpPr>
        <p:spPr bwMode="auto">
          <a:xfrm>
            <a:off x="3657600" y="2133600"/>
            <a:ext cx="1752600" cy="914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4996" name="AutoShape 4"/>
          <p:cNvSpPr>
            <a:spLocks noChangeArrowheads="1"/>
          </p:cNvSpPr>
          <p:nvPr/>
        </p:nvSpPr>
        <p:spPr bwMode="auto">
          <a:xfrm>
            <a:off x="3657600" y="4495800"/>
            <a:ext cx="1752600" cy="914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4997" name="AutoShape 5"/>
          <p:cNvSpPr>
            <a:spLocks noChangeArrowheads="1"/>
          </p:cNvSpPr>
          <p:nvPr/>
        </p:nvSpPr>
        <p:spPr bwMode="auto">
          <a:xfrm>
            <a:off x="6324600" y="4495800"/>
            <a:ext cx="1752600" cy="914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4998" name="AutoShape 6"/>
          <p:cNvSpPr>
            <a:spLocks noChangeArrowheads="1"/>
          </p:cNvSpPr>
          <p:nvPr/>
        </p:nvSpPr>
        <p:spPr bwMode="auto">
          <a:xfrm>
            <a:off x="990600" y="4495800"/>
            <a:ext cx="1752600" cy="914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4999" name="Line 7"/>
          <p:cNvSpPr>
            <a:spLocks noChangeShapeType="1"/>
          </p:cNvSpPr>
          <p:nvPr/>
        </p:nvSpPr>
        <p:spPr bwMode="auto">
          <a:xfrm>
            <a:off x="4495800" y="304800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5000" name="Line 8"/>
          <p:cNvSpPr>
            <a:spLocks noChangeShapeType="1"/>
          </p:cNvSpPr>
          <p:nvPr/>
        </p:nvSpPr>
        <p:spPr bwMode="auto">
          <a:xfrm flipV="1">
            <a:off x="1828800" y="3810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5001" name="Line 9"/>
          <p:cNvSpPr>
            <a:spLocks noChangeShapeType="1"/>
          </p:cNvSpPr>
          <p:nvPr/>
        </p:nvSpPr>
        <p:spPr bwMode="auto">
          <a:xfrm flipV="1">
            <a:off x="7162800" y="3810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5002" name="Line 10"/>
          <p:cNvSpPr>
            <a:spLocks noChangeShapeType="1"/>
          </p:cNvSpPr>
          <p:nvPr/>
        </p:nvSpPr>
        <p:spPr bwMode="auto">
          <a:xfrm>
            <a:off x="1828800" y="3810000"/>
            <a:ext cx="533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5003" name="Text Box 11"/>
          <p:cNvSpPr txBox="1">
            <a:spLocks noChangeArrowheads="1"/>
          </p:cNvSpPr>
          <p:nvPr/>
        </p:nvSpPr>
        <p:spPr bwMode="auto">
          <a:xfrm>
            <a:off x="3733800" y="2286000"/>
            <a:ext cx="1631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>
                <a:latin typeface="Times New Roman" charset="0"/>
              </a:rPr>
              <a:t>Non-Functional</a:t>
            </a:r>
          </a:p>
          <a:p>
            <a:pPr algn="ctr" eaLnBrk="1" hangingPunct="1"/>
            <a:r>
              <a:rPr lang="en-US">
                <a:latin typeface="Times New Roman" charset="0"/>
              </a:rPr>
              <a:t>requirements</a:t>
            </a:r>
          </a:p>
        </p:txBody>
      </p:sp>
      <p:sp>
        <p:nvSpPr>
          <p:cNvPr id="85004" name="Text Box 12"/>
          <p:cNvSpPr txBox="1">
            <a:spLocks noChangeArrowheads="1"/>
          </p:cNvSpPr>
          <p:nvPr/>
        </p:nvSpPr>
        <p:spPr bwMode="auto">
          <a:xfrm>
            <a:off x="1143000" y="4616450"/>
            <a:ext cx="1377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>
                <a:latin typeface="Times New Roman" charset="0"/>
              </a:rPr>
              <a:t>Product</a:t>
            </a:r>
          </a:p>
          <a:p>
            <a:pPr algn="ctr" eaLnBrk="1" hangingPunct="1"/>
            <a:r>
              <a:rPr lang="en-US">
                <a:latin typeface="Times New Roman" charset="0"/>
              </a:rPr>
              <a:t>requirements</a:t>
            </a:r>
          </a:p>
        </p:txBody>
      </p:sp>
      <p:sp>
        <p:nvSpPr>
          <p:cNvPr id="85005" name="Text Box 13"/>
          <p:cNvSpPr txBox="1">
            <a:spLocks noChangeArrowheads="1"/>
          </p:cNvSpPr>
          <p:nvPr/>
        </p:nvSpPr>
        <p:spPr bwMode="auto">
          <a:xfrm>
            <a:off x="3733800" y="4616450"/>
            <a:ext cx="15430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>
                <a:latin typeface="Times New Roman" charset="0"/>
              </a:rPr>
              <a:t>Organizational</a:t>
            </a:r>
          </a:p>
          <a:p>
            <a:pPr algn="ctr" eaLnBrk="1" hangingPunct="1"/>
            <a:r>
              <a:rPr lang="en-US">
                <a:latin typeface="Times New Roman" charset="0"/>
              </a:rPr>
              <a:t>requirements</a:t>
            </a:r>
          </a:p>
        </p:txBody>
      </p:sp>
      <p:sp>
        <p:nvSpPr>
          <p:cNvPr id="85006" name="Text Box 14"/>
          <p:cNvSpPr txBox="1">
            <a:spLocks noChangeArrowheads="1"/>
          </p:cNvSpPr>
          <p:nvPr/>
        </p:nvSpPr>
        <p:spPr bwMode="auto">
          <a:xfrm>
            <a:off x="6477000" y="4648200"/>
            <a:ext cx="1377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>
                <a:latin typeface="Times New Roman" charset="0"/>
              </a:rPr>
              <a:t>External</a:t>
            </a:r>
          </a:p>
          <a:p>
            <a:pPr algn="ctr" eaLnBrk="1" hangingPunct="1"/>
            <a:r>
              <a:rPr lang="en-US">
                <a:latin typeface="Times New Roman" charset="0"/>
              </a:rPr>
              <a:t>requirements</a:t>
            </a:r>
          </a:p>
        </p:txBody>
      </p:sp>
    </p:spTree>
    <p:extLst>
      <p:ext uri="{BB962C8B-B14F-4D97-AF65-F5344CB8AC3E}">
        <p14:creationId xmlns:p14="http://schemas.microsoft.com/office/powerpoint/2010/main" val="40512938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 Requirements - 1</a:t>
            </a:r>
          </a:p>
        </p:txBody>
      </p:sp>
      <p:sp>
        <p:nvSpPr>
          <p:cNvPr id="27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B479CC9-1DCF-49D8-84F1-6ADE74DF05D0}" type="slidenum">
              <a:rPr lang="en-US"/>
              <a:pPr/>
              <a:t>46</a:t>
            </a:fld>
            <a:endParaRPr lang="en-US"/>
          </a:p>
        </p:txBody>
      </p:sp>
      <p:sp>
        <p:nvSpPr>
          <p:cNvPr id="86019" name="AutoShape 3"/>
          <p:cNvSpPr>
            <a:spLocks noChangeArrowheads="1"/>
          </p:cNvSpPr>
          <p:nvPr/>
        </p:nvSpPr>
        <p:spPr bwMode="auto">
          <a:xfrm>
            <a:off x="3505200" y="1905000"/>
            <a:ext cx="1752600" cy="914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6020" name="AutoShape 4"/>
          <p:cNvSpPr>
            <a:spLocks noChangeArrowheads="1"/>
          </p:cNvSpPr>
          <p:nvPr/>
        </p:nvSpPr>
        <p:spPr bwMode="auto">
          <a:xfrm>
            <a:off x="2514600" y="3581400"/>
            <a:ext cx="1752600" cy="914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6021" name="AutoShape 5"/>
          <p:cNvSpPr>
            <a:spLocks noChangeArrowheads="1"/>
          </p:cNvSpPr>
          <p:nvPr/>
        </p:nvSpPr>
        <p:spPr bwMode="auto">
          <a:xfrm>
            <a:off x="7086600" y="3581400"/>
            <a:ext cx="1752600" cy="914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6022" name="AutoShape 6"/>
          <p:cNvSpPr>
            <a:spLocks noChangeArrowheads="1"/>
          </p:cNvSpPr>
          <p:nvPr/>
        </p:nvSpPr>
        <p:spPr bwMode="auto">
          <a:xfrm>
            <a:off x="228600" y="3581400"/>
            <a:ext cx="1752600" cy="914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6023" name="Line 7"/>
          <p:cNvSpPr>
            <a:spLocks noChangeShapeType="1"/>
          </p:cNvSpPr>
          <p:nvPr/>
        </p:nvSpPr>
        <p:spPr bwMode="auto">
          <a:xfrm>
            <a:off x="1066800" y="3200400"/>
            <a:ext cx="685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6024" name="Text Box 8"/>
          <p:cNvSpPr txBox="1">
            <a:spLocks noChangeArrowheads="1"/>
          </p:cNvSpPr>
          <p:nvPr/>
        </p:nvSpPr>
        <p:spPr bwMode="auto">
          <a:xfrm>
            <a:off x="3657600" y="2057400"/>
            <a:ext cx="1377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>
                <a:latin typeface="Times New Roman" charset="0"/>
              </a:rPr>
              <a:t>Product</a:t>
            </a:r>
          </a:p>
          <a:p>
            <a:pPr algn="ctr" eaLnBrk="1" hangingPunct="1"/>
            <a:r>
              <a:rPr lang="en-US">
                <a:latin typeface="Times New Roman" charset="0"/>
              </a:rPr>
              <a:t>requirements</a:t>
            </a:r>
          </a:p>
        </p:txBody>
      </p:sp>
      <p:sp>
        <p:nvSpPr>
          <p:cNvPr id="86025" name="Text Box 9"/>
          <p:cNvSpPr txBox="1">
            <a:spLocks noChangeArrowheads="1"/>
          </p:cNvSpPr>
          <p:nvPr/>
        </p:nvSpPr>
        <p:spPr bwMode="auto">
          <a:xfrm>
            <a:off x="2736850" y="3702050"/>
            <a:ext cx="1377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>
                <a:latin typeface="Times New Roman" charset="0"/>
              </a:rPr>
              <a:t>Efficiency</a:t>
            </a:r>
          </a:p>
          <a:p>
            <a:pPr algn="ctr" eaLnBrk="1" hangingPunct="1"/>
            <a:r>
              <a:rPr lang="en-US">
                <a:latin typeface="Times New Roman" charset="0"/>
              </a:rPr>
              <a:t>requirements</a:t>
            </a:r>
          </a:p>
        </p:txBody>
      </p:sp>
      <p:sp>
        <p:nvSpPr>
          <p:cNvPr id="86026" name="Text Box 10"/>
          <p:cNvSpPr txBox="1">
            <a:spLocks noChangeArrowheads="1"/>
          </p:cNvSpPr>
          <p:nvPr/>
        </p:nvSpPr>
        <p:spPr bwMode="auto">
          <a:xfrm>
            <a:off x="5029200" y="3733800"/>
            <a:ext cx="1377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>
                <a:latin typeface="Times New Roman" charset="0"/>
              </a:rPr>
              <a:t>Reliability</a:t>
            </a:r>
          </a:p>
          <a:p>
            <a:pPr algn="ctr" eaLnBrk="1" hangingPunct="1"/>
            <a:r>
              <a:rPr lang="en-US">
                <a:latin typeface="Times New Roman" charset="0"/>
              </a:rPr>
              <a:t>requirements</a:t>
            </a:r>
          </a:p>
        </p:txBody>
      </p:sp>
      <p:sp>
        <p:nvSpPr>
          <p:cNvPr id="86027" name="AutoShape 11"/>
          <p:cNvSpPr>
            <a:spLocks noChangeArrowheads="1"/>
          </p:cNvSpPr>
          <p:nvPr/>
        </p:nvSpPr>
        <p:spPr bwMode="auto">
          <a:xfrm>
            <a:off x="4800600" y="3581400"/>
            <a:ext cx="1752600" cy="914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6028" name="Text Box 12"/>
          <p:cNvSpPr txBox="1">
            <a:spLocks noChangeArrowheads="1"/>
          </p:cNvSpPr>
          <p:nvPr/>
        </p:nvSpPr>
        <p:spPr bwMode="auto">
          <a:xfrm>
            <a:off x="7308850" y="3733800"/>
            <a:ext cx="1377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>
                <a:latin typeface="Times New Roman" charset="0"/>
              </a:rPr>
              <a:t>Portability</a:t>
            </a:r>
          </a:p>
          <a:p>
            <a:pPr algn="ctr" eaLnBrk="1" hangingPunct="1"/>
            <a:r>
              <a:rPr lang="en-US">
                <a:latin typeface="Times New Roman" charset="0"/>
              </a:rPr>
              <a:t>requirements</a:t>
            </a:r>
          </a:p>
        </p:txBody>
      </p:sp>
      <p:sp>
        <p:nvSpPr>
          <p:cNvPr id="86029" name="Text Box 13"/>
          <p:cNvSpPr txBox="1">
            <a:spLocks noChangeArrowheads="1"/>
          </p:cNvSpPr>
          <p:nvPr/>
        </p:nvSpPr>
        <p:spPr bwMode="auto">
          <a:xfrm>
            <a:off x="381000" y="3733800"/>
            <a:ext cx="1377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>
                <a:latin typeface="Times New Roman" charset="0"/>
              </a:rPr>
              <a:t>Usability</a:t>
            </a:r>
          </a:p>
          <a:p>
            <a:pPr algn="ctr" eaLnBrk="1" hangingPunct="1"/>
            <a:r>
              <a:rPr lang="en-US">
                <a:latin typeface="Times New Roman" charset="0"/>
              </a:rPr>
              <a:t>requirements</a:t>
            </a:r>
          </a:p>
        </p:txBody>
      </p:sp>
      <p:sp>
        <p:nvSpPr>
          <p:cNvPr id="86030" name="Line 14"/>
          <p:cNvSpPr>
            <a:spLocks noChangeShapeType="1"/>
          </p:cNvSpPr>
          <p:nvPr/>
        </p:nvSpPr>
        <p:spPr bwMode="auto">
          <a:xfrm>
            <a:off x="4419600" y="2819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6031" name="Line 15"/>
          <p:cNvSpPr>
            <a:spLocks noChangeShapeType="1"/>
          </p:cNvSpPr>
          <p:nvPr/>
        </p:nvSpPr>
        <p:spPr bwMode="auto">
          <a:xfrm>
            <a:off x="3352800" y="4495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6032" name="AutoShape 16"/>
          <p:cNvSpPr>
            <a:spLocks noChangeArrowheads="1"/>
          </p:cNvSpPr>
          <p:nvPr/>
        </p:nvSpPr>
        <p:spPr bwMode="auto">
          <a:xfrm>
            <a:off x="3581400" y="5257800"/>
            <a:ext cx="1752600" cy="914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6033" name="AutoShape 17"/>
          <p:cNvSpPr>
            <a:spLocks noChangeArrowheads="1"/>
          </p:cNvSpPr>
          <p:nvPr/>
        </p:nvSpPr>
        <p:spPr bwMode="auto">
          <a:xfrm>
            <a:off x="1295400" y="5257800"/>
            <a:ext cx="1752600" cy="914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6034" name="Line 18"/>
          <p:cNvSpPr>
            <a:spLocks noChangeShapeType="1"/>
          </p:cNvSpPr>
          <p:nvPr/>
        </p:nvSpPr>
        <p:spPr bwMode="auto">
          <a:xfrm>
            <a:off x="3352800" y="3200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6035" name="Line 19"/>
          <p:cNvSpPr>
            <a:spLocks noChangeShapeType="1"/>
          </p:cNvSpPr>
          <p:nvPr/>
        </p:nvSpPr>
        <p:spPr bwMode="auto">
          <a:xfrm>
            <a:off x="1066800" y="3200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6036" name="Line 20"/>
          <p:cNvSpPr>
            <a:spLocks noChangeShapeType="1"/>
          </p:cNvSpPr>
          <p:nvPr/>
        </p:nvSpPr>
        <p:spPr bwMode="auto">
          <a:xfrm>
            <a:off x="7924800" y="3200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6037" name="Line 21"/>
          <p:cNvSpPr>
            <a:spLocks noChangeShapeType="1"/>
          </p:cNvSpPr>
          <p:nvPr/>
        </p:nvSpPr>
        <p:spPr bwMode="auto">
          <a:xfrm>
            <a:off x="5638800" y="3200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6038" name="Line 22"/>
          <p:cNvSpPr>
            <a:spLocks noChangeShapeType="1"/>
          </p:cNvSpPr>
          <p:nvPr/>
        </p:nvSpPr>
        <p:spPr bwMode="auto">
          <a:xfrm>
            <a:off x="2209800" y="4876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6039" name="Line 23"/>
          <p:cNvSpPr>
            <a:spLocks noChangeShapeType="1"/>
          </p:cNvSpPr>
          <p:nvPr/>
        </p:nvSpPr>
        <p:spPr bwMode="auto">
          <a:xfrm>
            <a:off x="4419600" y="4876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6040" name="Line 24"/>
          <p:cNvSpPr>
            <a:spLocks noChangeShapeType="1"/>
          </p:cNvSpPr>
          <p:nvPr/>
        </p:nvSpPr>
        <p:spPr bwMode="auto">
          <a:xfrm>
            <a:off x="2209800" y="48768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6041" name="Text Box 25"/>
          <p:cNvSpPr txBox="1">
            <a:spLocks noChangeArrowheads="1"/>
          </p:cNvSpPr>
          <p:nvPr/>
        </p:nvSpPr>
        <p:spPr bwMode="auto">
          <a:xfrm>
            <a:off x="1447800" y="5378450"/>
            <a:ext cx="1377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>
                <a:latin typeface="Times New Roman" charset="0"/>
              </a:rPr>
              <a:t>Performance</a:t>
            </a:r>
          </a:p>
          <a:p>
            <a:pPr algn="ctr" eaLnBrk="1" hangingPunct="1"/>
            <a:r>
              <a:rPr lang="en-US">
                <a:latin typeface="Times New Roman" charset="0"/>
              </a:rPr>
              <a:t>requirements</a:t>
            </a:r>
          </a:p>
        </p:txBody>
      </p:sp>
      <p:sp>
        <p:nvSpPr>
          <p:cNvPr id="86042" name="Text Box 26"/>
          <p:cNvSpPr txBox="1">
            <a:spLocks noChangeArrowheads="1"/>
          </p:cNvSpPr>
          <p:nvPr/>
        </p:nvSpPr>
        <p:spPr bwMode="auto">
          <a:xfrm>
            <a:off x="3733800" y="5378450"/>
            <a:ext cx="1377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>
                <a:latin typeface="Times New Roman" charset="0"/>
              </a:rPr>
              <a:t>Space</a:t>
            </a:r>
          </a:p>
          <a:p>
            <a:pPr algn="ctr" eaLnBrk="1" hangingPunct="1"/>
            <a:r>
              <a:rPr lang="en-US">
                <a:latin typeface="Times New Roman" charset="0"/>
              </a:rPr>
              <a:t>requirements</a:t>
            </a:r>
          </a:p>
        </p:txBody>
      </p:sp>
    </p:spTree>
    <p:extLst>
      <p:ext uri="{BB962C8B-B14F-4D97-AF65-F5344CB8AC3E}">
        <p14:creationId xmlns:p14="http://schemas.microsoft.com/office/powerpoint/2010/main" val="30913337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Requirements 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system shall allow one hundred thousand hits per minute on the website</a:t>
            </a:r>
          </a:p>
          <a:p>
            <a:r>
              <a:rPr lang="en-US"/>
              <a:t>The system shall not have down time of more than one second for continuous execution of one thousand hours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216BA32-8815-4D3B-BAB7-C758E390D914}" type="slidenum">
              <a:rPr lang="en-US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8808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Organizational Requirements - 1</a:t>
            </a:r>
          </a:p>
        </p:txBody>
      </p:sp>
      <p:sp>
        <p:nvSpPr>
          <p:cNvPr id="1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EC0FED-2B83-4A2F-A844-8938CFADB20A}" type="slidenum">
              <a:rPr lang="en-US"/>
              <a:pPr/>
              <a:t>48</a:t>
            </a:fld>
            <a:endParaRPr lang="en-US"/>
          </a:p>
        </p:txBody>
      </p:sp>
      <p:sp>
        <p:nvSpPr>
          <p:cNvPr id="88067" name="AutoShape 3"/>
          <p:cNvSpPr>
            <a:spLocks noChangeArrowheads="1"/>
          </p:cNvSpPr>
          <p:nvPr/>
        </p:nvSpPr>
        <p:spPr bwMode="auto">
          <a:xfrm>
            <a:off x="3657600" y="2133600"/>
            <a:ext cx="1752600" cy="914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8068" name="AutoShape 4"/>
          <p:cNvSpPr>
            <a:spLocks noChangeArrowheads="1"/>
          </p:cNvSpPr>
          <p:nvPr/>
        </p:nvSpPr>
        <p:spPr bwMode="auto">
          <a:xfrm>
            <a:off x="3657600" y="4495800"/>
            <a:ext cx="1752600" cy="914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8069" name="AutoShape 5"/>
          <p:cNvSpPr>
            <a:spLocks noChangeArrowheads="1"/>
          </p:cNvSpPr>
          <p:nvPr/>
        </p:nvSpPr>
        <p:spPr bwMode="auto">
          <a:xfrm>
            <a:off x="6324600" y="4495800"/>
            <a:ext cx="1752600" cy="914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8070" name="AutoShape 6"/>
          <p:cNvSpPr>
            <a:spLocks noChangeArrowheads="1"/>
          </p:cNvSpPr>
          <p:nvPr/>
        </p:nvSpPr>
        <p:spPr bwMode="auto">
          <a:xfrm>
            <a:off x="990600" y="4495800"/>
            <a:ext cx="1752600" cy="914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8071" name="Line 7"/>
          <p:cNvSpPr>
            <a:spLocks noChangeShapeType="1"/>
          </p:cNvSpPr>
          <p:nvPr/>
        </p:nvSpPr>
        <p:spPr bwMode="auto">
          <a:xfrm>
            <a:off x="4495800" y="304800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8072" name="Line 8"/>
          <p:cNvSpPr>
            <a:spLocks noChangeShapeType="1"/>
          </p:cNvSpPr>
          <p:nvPr/>
        </p:nvSpPr>
        <p:spPr bwMode="auto">
          <a:xfrm flipV="1">
            <a:off x="1828800" y="3810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8073" name="Line 9"/>
          <p:cNvSpPr>
            <a:spLocks noChangeShapeType="1"/>
          </p:cNvSpPr>
          <p:nvPr/>
        </p:nvSpPr>
        <p:spPr bwMode="auto">
          <a:xfrm flipV="1">
            <a:off x="7162800" y="3810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8074" name="Line 10"/>
          <p:cNvSpPr>
            <a:spLocks noChangeShapeType="1"/>
          </p:cNvSpPr>
          <p:nvPr/>
        </p:nvSpPr>
        <p:spPr bwMode="auto">
          <a:xfrm>
            <a:off x="1828800" y="3810000"/>
            <a:ext cx="533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8075" name="Text Box 11"/>
          <p:cNvSpPr txBox="1">
            <a:spLocks noChangeArrowheads="1"/>
          </p:cNvSpPr>
          <p:nvPr/>
        </p:nvSpPr>
        <p:spPr bwMode="auto">
          <a:xfrm>
            <a:off x="3702050" y="4616450"/>
            <a:ext cx="1631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>
                <a:latin typeface="Times New Roman" charset="0"/>
              </a:rPr>
              <a:t>Implementation</a:t>
            </a:r>
          </a:p>
          <a:p>
            <a:pPr algn="ctr" eaLnBrk="1" hangingPunct="1"/>
            <a:r>
              <a:rPr lang="en-US">
                <a:latin typeface="Times New Roman" charset="0"/>
              </a:rPr>
              <a:t>requirements</a:t>
            </a:r>
          </a:p>
        </p:txBody>
      </p:sp>
      <p:sp>
        <p:nvSpPr>
          <p:cNvPr id="88076" name="Text Box 12"/>
          <p:cNvSpPr txBox="1">
            <a:spLocks noChangeArrowheads="1"/>
          </p:cNvSpPr>
          <p:nvPr/>
        </p:nvSpPr>
        <p:spPr bwMode="auto">
          <a:xfrm>
            <a:off x="1143000" y="4616450"/>
            <a:ext cx="1377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>
                <a:latin typeface="Times New Roman" charset="0"/>
              </a:rPr>
              <a:t>Standards</a:t>
            </a:r>
          </a:p>
          <a:p>
            <a:pPr algn="ctr" eaLnBrk="1" hangingPunct="1"/>
            <a:r>
              <a:rPr lang="en-US">
                <a:latin typeface="Times New Roman" charset="0"/>
              </a:rPr>
              <a:t>requirements</a:t>
            </a:r>
          </a:p>
        </p:txBody>
      </p:sp>
      <p:sp>
        <p:nvSpPr>
          <p:cNvPr id="88077" name="Text Box 13"/>
          <p:cNvSpPr txBox="1">
            <a:spLocks noChangeArrowheads="1"/>
          </p:cNvSpPr>
          <p:nvPr/>
        </p:nvSpPr>
        <p:spPr bwMode="auto">
          <a:xfrm>
            <a:off x="3733800" y="2254250"/>
            <a:ext cx="15430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>
                <a:latin typeface="Times New Roman" charset="0"/>
              </a:rPr>
              <a:t>Organizational</a:t>
            </a:r>
          </a:p>
          <a:p>
            <a:pPr algn="ctr" eaLnBrk="1" hangingPunct="1"/>
            <a:r>
              <a:rPr lang="en-US">
                <a:latin typeface="Times New Roman" charset="0"/>
              </a:rPr>
              <a:t>requirements</a:t>
            </a:r>
          </a:p>
        </p:txBody>
      </p:sp>
      <p:sp>
        <p:nvSpPr>
          <p:cNvPr id="88078" name="Text Box 14"/>
          <p:cNvSpPr txBox="1">
            <a:spLocks noChangeArrowheads="1"/>
          </p:cNvSpPr>
          <p:nvPr/>
        </p:nvSpPr>
        <p:spPr bwMode="auto">
          <a:xfrm>
            <a:off x="6477000" y="4648200"/>
            <a:ext cx="1377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>
                <a:latin typeface="Times New Roman" charset="0"/>
              </a:rPr>
              <a:t>Delivery</a:t>
            </a:r>
          </a:p>
          <a:p>
            <a:pPr algn="ctr" eaLnBrk="1" hangingPunct="1"/>
            <a:r>
              <a:rPr lang="en-US">
                <a:latin typeface="Times New Roman" charset="0"/>
              </a:rPr>
              <a:t>requirements</a:t>
            </a:r>
          </a:p>
        </p:txBody>
      </p:sp>
    </p:spTree>
    <p:extLst>
      <p:ext uri="{BB962C8B-B14F-4D97-AF65-F5344CB8AC3E}">
        <p14:creationId xmlns:p14="http://schemas.microsoft.com/office/powerpoint/2010/main" val="40207642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External Requirements - 1</a:t>
            </a:r>
          </a:p>
        </p:txBody>
      </p:sp>
      <p:sp>
        <p:nvSpPr>
          <p:cNvPr id="2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37A18C-ACE5-41E1-BF71-A2238F86F84A}" type="slidenum">
              <a:rPr lang="en-US"/>
              <a:pPr/>
              <a:t>49</a:t>
            </a:fld>
            <a:endParaRPr lang="en-US"/>
          </a:p>
        </p:txBody>
      </p:sp>
      <p:sp>
        <p:nvSpPr>
          <p:cNvPr id="90115" name="AutoShape 3"/>
          <p:cNvSpPr>
            <a:spLocks noChangeArrowheads="1"/>
          </p:cNvSpPr>
          <p:nvPr/>
        </p:nvSpPr>
        <p:spPr bwMode="auto">
          <a:xfrm>
            <a:off x="3657600" y="1828800"/>
            <a:ext cx="1752600" cy="914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16" name="AutoShape 4"/>
          <p:cNvSpPr>
            <a:spLocks noChangeArrowheads="1"/>
          </p:cNvSpPr>
          <p:nvPr/>
        </p:nvSpPr>
        <p:spPr bwMode="auto">
          <a:xfrm>
            <a:off x="3657600" y="3657600"/>
            <a:ext cx="1752600" cy="914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17" name="AutoShape 5"/>
          <p:cNvSpPr>
            <a:spLocks noChangeArrowheads="1"/>
          </p:cNvSpPr>
          <p:nvPr/>
        </p:nvSpPr>
        <p:spPr bwMode="auto">
          <a:xfrm>
            <a:off x="6324600" y="3657600"/>
            <a:ext cx="1752600" cy="914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18" name="AutoShape 6"/>
          <p:cNvSpPr>
            <a:spLocks noChangeArrowheads="1"/>
          </p:cNvSpPr>
          <p:nvPr/>
        </p:nvSpPr>
        <p:spPr bwMode="auto">
          <a:xfrm>
            <a:off x="990600" y="3657600"/>
            <a:ext cx="1752600" cy="914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19" name="Line 7"/>
          <p:cNvSpPr>
            <a:spLocks noChangeShapeType="1"/>
          </p:cNvSpPr>
          <p:nvPr/>
        </p:nvSpPr>
        <p:spPr bwMode="auto">
          <a:xfrm>
            <a:off x="1828800" y="3200400"/>
            <a:ext cx="533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0120" name="Text Box 8"/>
          <p:cNvSpPr txBox="1">
            <a:spLocks noChangeArrowheads="1"/>
          </p:cNvSpPr>
          <p:nvPr/>
        </p:nvSpPr>
        <p:spPr bwMode="auto">
          <a:xfrm>
            <a:off x="3829050" y="3778250"/>
            <a:ext cx="1377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>
                <a:latin typeface="Times New Roman" charset="0"/>
              </a:rPr>
              <a:t>Ethical</a:t>
            </a:r>
          </a:p>
          <a:p>
            <a:pPr algn="ctr" eaLnBrk="1" hangingPunct="1"/>
            <a:r>
              <a:rPr lang="en-US">
                <a:latin typeface="Times New Roman" charset="0"/>
              </a:rPr>
              <a:t>requirements</a:t>
            </a:r>
          </a:p>
        </p:txBody>
      </p:sp>
      <p:sp>
        <p:nvSpPr>
          <p:cNvPr id="90121" name="Text Box 9"/>
          <p:cNvSpPr txBox="1">
            <a:spLocks noChangeArrowheads="1"/>
          </p:cNvSpPr>
          <p:nvPr/>
        </p:nvSpPr>
        <p:spPr bwMode="auto">
          <a:xfrm>
            <a:off x="1028700" y="3778250"/>
            <a:ext cx="16065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>
                <a:latin typeface="Times New Roman" charset="0"/>
              </a:rPr>
              <a:t>Interoperability</a:t>
            </a:r>
          </a:p>
          <a:p>
            <a:pPr algn="ctr" eaLnBrk="1" hangingPunct="1"/>
            <a:r>
              <a:rPr lang="en-US">
                <a:latin typeface="Times New Roman" charset="0"/>
              </a:rPr>
              <a:t>requirements</a:t>
            </a:r>
          </a:p>
        </p:txBody>
      </p:sp>
      <p:sp>
        <p:nvSpPr>
          <p:cNvPr id="90122" name="Text Box 10"/>
          <p:cNvSpPr txBox="1">
            <a:spLocks noChangeArrowheads="1"/>
          </p:cNvSpPr>
          <p:nvPr/>
        </p:nvSpPr>
        <p:spPr bwMode="auto">
          <a:xfrm>
            <a:off x="3816350" y="1949450"/>
            <a:ext cx="1377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>
                <a:latin typeface="Times New Roman" charset="0"/>
              </a:rPr>
              <a:t>External</a:t>
            </a:r>
          </a:p>
          <a:p>
            <a:pPr algn="ctr" eaLnBrk="1" hangingPunct="1"/>
            <a:r>
              <a:rPr lang="en-US">
                <a:latin typeface="Times New Roman" charset="0"/>
              </a:rPr>
              <a:t>requirements</a:t>
            </a:r>
          </a:p>
        </p:txBody>
      </p:sp>
      <p:sp>
        <p:nvSpPr>
          <p:cNvPr id="90123" name="Text Box 11"/>
          <p:cNvSpPr txBox="1">
            <a:spLocks noChangeArrowheads="1"/>
          </p:cNvSpPr>
          <p:nvPr/>
        </p:nvSpPr>
        <p:spPr bwMode="auto">
          <a:xfrm>
            <a:off x="6477000" y="3810000"/>
            <a:ext cx="1377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>
                <a:latin typeface="Times New Roman" charset="0"/>
              </a:rPr>
              <a:t>Legislative</a:t>
            </a:r>
          </a:p>
          <a:p>
            <a:pPr algn="ctr" eaLnBrk="1" hangingPunct="1"/>
            <a:r>
              <a:rPr lang="en-US">
                <a:latin typeface="Times New Roman" charset="0"/>
              </a:rPr>
              <a:t>requirements</a:t>
            </a:r>
          </a:p>
        </p:txBody>
      </p:sp>
      <p:sp>
        <p:nvSpPr>
          <p:cNvPr id="90124" name="Line 12"/>
          <p:cNvSpPr>
            <a:spLocks noChangeShapeType="1"/>
          </p:cNvSpPr>
          <p:nvPr/>
        </p:nvSpPr>
        <p:spPr bwMode="auto">
          <a:xfrm flipV="1">
            <a:off x="4495800" y="2743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0125" name="Line 13"/>
          <p:cNvSpPr>
            <a:spLocks noChangeShapeType="1"/>
          </p:cNvSpPr>
          <p:nvPr/>
        </p:nvSpPr>
        <p:spPr bwMode="auto">
          <a:xfrm flipV="1">
            <a:off x="4495800" y="3200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0126" name="Line 14"/>
          <p:cNvSpPr>
            <a:spLocks noChangeShapeType="1"/>
          </p:cNvSpPr>
          <p:nvPr/>
        </p:nvSpPr>
        <p:spPr bwMode="auto">
          <a:xfrm flipV="1">
            <a:off x="1828800" y="3200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0127" name="Line 15"/>
          <p:cNvSpPr>
            <a:spLocks noChangeShapeType="1"/>
          </p:cNvSpPr>
          <p:nvPr/>
        </p:nvSpPr>
        <p:spPr bwMode="auto">
          <a:xfrm flipV="1">
            <a:off x="7162800" y="3200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0128" name="AutoShape 16"/>
          <p:cNvSpPr>
            <a:spLocks noChangeArrowheads="1"/>
          </p:cNvSpPr>
          <p:nvPr/>
        </p:nvSpPr>
        <p:spPr bwMode="auto">
          <a:xfrm>
            <a:off x="6324600" y="5334000"/>
            <a:ext cx="1752600" cy="914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29" name="AutoShape 17"/>
          <p:cNvSpPr>
            <a:spLocks noChangeArrowheads="1"/>
          </p:cNvSpPr>
          <p:nvPr/>
        </p:nvSpPr>
        <p:spPr bwMode="auto">
          <a:xfrm>
            <a:off x="4038600" y="5334000"/>
            <a:ext cx="1752600" cy="914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30" name="Line 18"/>
          <p:cNvSpPr>
            <a:spLocks noChangeShapeType="1"/>
          </p:cNvSpPr>
          <p:nvPr/>
        </p:nvSpPr>
        <p:spPr bwMode="auto">
          <a:xfrm>
            <a:off x="4953000" y="4953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0131" name="Line 19"/>
          <p:cNvSpPr>
            <a:spLocks noChangeShapeType="1"/>
          </p:cNvSpPr>
          <p:nvPr/>
        </p:nvSpPr>
        <p:spPr bwMode="auto">
          <a:xfrm>
            <a:off x="7162800" y="4953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0132" name="Line 20"/>
          <p:cNvSpPr>
            <a:spLocks noChangeShapeType="1"/>
          </p:cNvSpPr>
          <p:nvPr/>
        </p:nvSpPr>
        <p:spPr bwMode="auto">
          <a:xfrm>
            <a:off x="4953000" y="49530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0133" name="Text Box 21"/>
          <p:cNvSpPr txBox="1">
            <a:spLocks noChangeArrowheads="1"/>
          </p:cNvSpPr>
          <p:nvPr/>
        </p:nvSpPr>
        <p:spPr bwMode="auto">
          <a:xfrm>
            <a:off x="4191000" y="5454650"/>
            <a:ext cx="1377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>
                <a:latin typeface="Times New Roman" charset="0"/>
              </a:rPr>
              <a:t>Privacy</a:t>
            </a:r>
          </a:p>
          <a:p>
            <a:pPr algn="ctr" eaLnBrk="1" hangingPunct="1"/>
            <a:r>
              <a:rPr lang="en-US">
                <a:latin typeface="Times New Roman" charset="0"/>
              </a:rPr>
              <a:t>requirements</a:t>
            </a:r>
          </a:p>
        </p:txBody>
      </p:sp>
      <p:sp>
        <p:nvSpPr>
          <p:cNvPr id="90134" name="Text Box 22"/>
          <p:cNvSpPr txBox="1">
            <a:spLocks noChangeArrowheads="1"/>
          </p:cNvSpPr>
          <p:nvPr/>
        </p:nvSpPr>
        <p:spPr bwMode="auto">
          <a:xfrm>
            <a:off x="6477000" y="5454650"/>
            <a:ext cx="1377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>
                <a:latin typeface="Times New Roman" charset="0"/>
              </a:rPr>
              <a:t>Safety</a:t>
            </a:r>
          </a:p>
          <a:p>
            <a:pPr algn="ctr" eaLnBrk="1" hangingPunct="1"/>
            <a:r>
              <a:rPr lang="en-US">
                <a:latin typeface="Times New Roman" charset="0"/>
              </a:rPr>
              <a:t>requirements</a:t>
            </a:r>
          </a:p>
        </p:txBody>
      </p:sp>
      <p:sp>
        <p:nvSpPr>
          <p:cNvPr id="90135" name="Line 23"/>
          <p:cNvSpPr>
            <a:spLocks noChangeShapeType="1"/>
          </p:cNvSpPr>
          <p:nvPr/>
        </p:nvSpPr>
        <p:spPr bwMode="auto">
          <a:xfrm>
            <a:off x="7162800" y="4572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6680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External Requirements - 2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system shall not disclose any personal information about members of the library system to other members except system administrators</a:t>
            </a:r>
          </a:p>
          <a:p>
            <a:r>
              <a:rPr lang="en-US"/>
              <a:t>The system shall comply with the local and national laws regarding the use of software tools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702067-BE3B-478B-9225-3FE29C49B66C}" type="slidenum">
              <a:rPr lang="en-US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088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Observations on Non-Functional Requirements - 1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Non-functional requirements are written to reflect general goals for the system.  Examples include:</a:t>
            </a:r>
          </a:p>
          <a:p>
            <a:pPr lvl="1"/>
            <a:r>
              <a:rPr lang="en-US" b="1"/>
              <a:t>Ease of use</a:t>
            </a:r>
          </a:p>
          <a:p>
            <a:pPr lvl="1"/>
            <a:r>
              <a:rPr lang="en-US" b="1"/>
              <a:t>Recovery from failure</a:t>
            </a:r>
          </a:p>
          <a:p>
            <a:pPr lvl="1"/>
            <a:r>
              <a:rPr lang="en-US" b="1"/>
              <a:t>Rapid user response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4A3F2CA-D366-41F6-BCA6-6B776E3FFE38}" type="slidenum">
              <a:rPr lang="en-US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0018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Observations on Non-Functional Requirements - 2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Goals are open to misinterpretation</a:t>
            </a:r>
          </a:p>
          <a:p>
            <a:r>
              <a:rPr lang="en-US"/>
              <a:t>Objective verification is difficult</a:t>
            </a:r>
          </a:p>
          <a:p>
            <a:r>
              <a:rPr lang="en-US"/>
              <a:t>Distinction between functional and non-functional is not always very clear</a:t>
            </a:r>
          </a:p>
          <a:p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66742-1DC4-442A-B45E-2E455B9B73F9}" type="slidenum">
              <a:rPr lang="en-US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410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Observations on Non-Functional Requirements - 3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Non-functional requirements should be written in a quantitative manner as much as possible, which is not always easy for customers</a:t>
            </a:r>
          </a:p>
          <a:p>
            <a:r>
              <a:rPr lang="en-US"/>
              <a:t>For some goals, there are no quantitative measures, e.g., maintainability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63F395-673A-4DCA-9E43-CC9359290322}" type="slidenum">
              <a:rPr lang="en-US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1079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Observations on Non-Functional Requirements - 4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Goals can be useful to designers and developers, as they give clues to them about priorities of the customers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40B3B4-40FC-4A0B-8BE9-0A1CF0F18B0E}" type="slidenum">
              <a:rPr lang="en-US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88995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Observations on Non-Functional Requirements - 5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Chances of conflicts within non-functional requirements are fairly high, because information is coming from different stakeholders.  For example, different stakeholders can give different response times or failure tolerance levels, etc.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0511B41-9B7D-47D1-AD79-D2D96D192184}" type="slidenum">
              <a:rPr lang="en-US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3180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Observations on Non-Functional Requirements - 6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Some negotiations must be done among different stakeholders, to achieve an agreement in these situations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A5B6C5-D486-4906-8863-C278B866C2CF}" type="slidenum">
              <a:rPr lang="en-US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3550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Observations on Non-Functional Requirements - 7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Non-functional requirements should be highlighted in the requirements document, so that they can be used to build the architecture of the software product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8AAAE-F9CF-41A7-A0BC-03BA39083DC0}" type="slidenum">
              <a:rPr lang="en-US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7071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Domain Requirements - 1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800"/>
              <a:t>Requirements that come from the application domain and reflect fundamental characteristics of that application domain</a:t>
            </a:r>
          </a:p>
          <a:p>
            <a:r>
              <a:rPr lang="en-US" sz="2800"/>
              <a:t>Can be functional or non-functional</a:t>
            </a:r>
          </a:p>
          <a:p>
            <a:r>
              <a:rPr lang="en-US" sz="2800"/>
              <a:t>These requirements, sometimes, are not explicitly mentioned, as domain experts find it difficult to convey them. However, their absence can cause significant dissatisfaction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338F565-014E-4B4E-BF71-24C2E840D4E3}" type="slidenum">
              <a:rPr lang="en-US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00568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Domain Requirements - 2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Domain requirements can impose strict constraints on solutions.  This is particularly true for scientific and engineering domains</a:t>
            </a:r>
          </a:p>
          <a:p>
            <a:r>
              <a:rPr lang="en-US"/>
              <a:t>Domain-specific terminology can also cause confusion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39FA9A6-7B61-4E87-B3B7-D0CEF19EA0F8}" type="slidenum">
              <a:rPr lang="en-US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74423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Inverse Requirements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They explain what the system shall </a:t>
            </a:r>
            <a:r>
              <a:rPr lang="en-US" b="1">
                <a:solidFill>
                  <a:srgbClr val="0000CC"/>
                </a:solidFill>
              </a:rPr>
              <a:t>not</a:t>
            </a:r>
            <a:r>
              <a:rPr lang="en-US"/>
              <a:t> do.  Many people find it convenient to describe their needs in this manner</a:t>
            </a:r>
          </a:p>
          <a:p>
            <a:r>
              <a:rPr lang="en-US"/>
              <a:t>These requirements indicate the indecisive nature of customers about certain aspects of a new software product</a:t>
            </a:r>
          </a:p>
          <a:p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C65B93-21B4-4C86-AC4B-78BD645F3EC3}" type="slidenum">
              <a:rPr lang="en-US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10133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Design and Implementation Constraints - 1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They are development guidelines within which the designer must work, which can seriously limit design and implementation options</a:t>
            </a:r>
          </a:p>
          <a:p>
            <a:r>
              <a:rPr lang="en-US"/>
              <a:t>Can also have impact on human resources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7A5C19D-6C48-45F4-8DB9-4E9FC6FB727C}" type="slidenum">
              <a:rPr lang="en-US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2407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/>
              <a:t>Requirements Engineering Process</a:t>
            </a:r>
          </a:p>
        </p:txBody>
      </p:sp>
      <p:sp>
        <p:nvSpPr>
          <p:cNvPr id="4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1A704-4722-43D6-8B96-25D48134D65D}" type="slidenum">
              <a:rPr lang="en-US"/>
              <a:pPr/>
              <a:t>62</a:t>
            </a:fld>
            <a:endParaRPr lang="en-US"/>
          </a:p>
        </p:txBody>
      </p:sp>
      <p:sp>
        <p:nvSpPr>
          <p:cNvPr id="108547" name="Rectangle 3"/>
          <p:cNvSpPr>
            <a:spLocks noChangeArrowheads="1"/>
          </p:cNvSpPr>
          <p:nvPr/>
        </p:nvSpPr>
        <p:spPr bwMode="auto">
          <a:xfrm>
            <a:off x="715962" y="1600200"/>
            <a:ext cx="7742238" cy="3962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r>
              <a:rPr lang="en-US" sz="3600" dirty="0">
                <a:latin typeface="Sylfaen" pitchFamily="18" charset="0"/>
              </a:rPr>
              <a:t>The process(</a:t>
            </a:r>
            <a:r>
              <a:rPr lang="en-US" sz="3600" dirty="0" err="1">
                <a:latin typeface="Sylfaen" pitchFamily="18" charset="0"/>
              </a:rPr>
              <a:t>es</a:t>
            </a:r>
            <a:r>
              <a:rPr lang="en-US" sz="3600" dirty="0">
                <a:latin typeface="Sylfaen" pitchFamily="18" charset="0"/>
              </a:rPr>
              <a:t>) involved in </a:t>
            </a:r>
          </a:p>
          <a:p>
            <a:r>
              <a:rPr lang="en-US" sz="3600" dirty="0">
                <a:latin typeface="Sylfaen" pitchFamily="18" charset="0"/>
              </a:rPr>
              <a:t>developing  system requirements is </a:t>
            </a:r>
          </a:p>
          <a:p>
            <a:r>
              <a:rPr lang="en-US" sz="3600" dirty="0">
                <a:latin typeface="Sylfaen" pitchFamily="18" charset="0"/>
              </a:rPr>
              <a:t>collectively known as </a:t>
            </a:r>
          </a:p>
          <a:p>
            <a:r>
              <a:rPr lang="en-US" sz="3600" dirty="0">
                <a:latin typeface="Sylfaen" pitchFamily="18" charset="0"/>
              </a:rPr>
              <a:t>Requirements Engineering Process</a:t>
            </a:r>
          </a:p>
        </p:txBody>
      </p:sp>
    </p:spTree>
    <p:extLst>
      <p:ext uri="{BB962C8B-B14F-4D97-AF65-F5344CB8AC3E}">
        <p14:creationId xmlns:p14="http://schemas.microsoft.com/office/powerpoint/2010/main" val="125531800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RE Process - Inputs and Outputs</a:t>
            </a:r>
          </a:p>
        </p:txBody>
      </p:sp>
      <p:sp>
        <p:nvSpPr>
          <p:cNvPr id="31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9421A-DD7F-4EFC-A3FA-E7622A20C475}" type="slidenum">
              <a:rPr lang="en-US" smtClean="0">
                <a:solidFill>
                  <a:schemeClr val="tx1"/>
                </a:solidFill>
              </a:rPr>
              <a:pPr/>
              <a:t>63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59395" name="AutoShape 3"/>
          <p:cNvSpPr>
            <a:spLocks noChangeArrowheads="1"/>
          </p:cNvSpPr>
          <p:nvPr/>
        </p:nvSpPr>
        <p:spPr bwMode="auto">
          <a:xfrm>
            <a:off x="3124200" y="2514600"/>
            <a:ext cx="2819400" cy="27432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533400" y="1828800"/>
            <a:ext cx="1524000" cy="685800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9397" name="Rectangle 5"/>
          <p:cNvSpPr>
            <a:spLocks noChangeArrowheads="1"/>
          </p:cNvSpPr>
          <p:nvPr/>
        </p:nvSpPr>
        <p:spPr bwMode="auto">
          <a:xfrm>
            <a:off x="533400" y="2667000"/>
            <a:ext cx="1524000" cy="685800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9398" name="Rectangle 6"/>
          <p:cNvSpPr>
            <a:spLocks noChangeArrowheads="1"/>
          </p:cNvSpPr>
          <p:nvPr/>
        </p:nvSpPr>
        <p:spPr bwMode="auto">
          <a:xfrm>
            <a:off x="533400" y="3505200"/>
            <a:ext cx="1524000" cy="685800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9399" name="Rectangle 7"/>
          <p:cNvSpPr>
            <a:spLocks noChangeArrowheads="1"/>
          </p:cNvSpPr>
          <p:nvPr/>
        </p:nvSpPr>
        <p:spPr bwMode="auto">
          <a:xfrm>
            <a:off x="533400" y="4343400"/>
            <a:ext cx="1524000" cy="685800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9400" name="Rectangle 8"/>
          <p:cNvSpPr>
            <a:spLocks noChangeArrowheads="1"/>
          </p:cNvSpPr>
          <p:nvPr/>
        </p:nvSpPr>
        <p:spPr bwMode="auto">
          <a:xfrm>
            <a:off x="533400" y="5181600"/>
            <a:ext cx="1524000" cy="685800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9401" name="Rectangle 9"/>
          <p:cNvSpPr>
            <a:spLocks noChangeArrowheads="1"/>
          </p:cNvSpPr>
          <p:nvPr/>
        </p:nvSpPr>
        <p:spPr bwMode="auto">
          <a:xfrm>
            <a:off x="7010400" y="2667000"/>
            <a:ext cx="1524000" cy="685800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9402" name="Rectangle 10"/>
          <p:cNvSpPr>
            <a:spLocks noChangeArrowheads="1"/>
          </p:cNvSpPr>
          <p:nvPr/>
        </p:nvSpPr>
        <p:spPr bwMode="auto">
          <a:xfrm>
            <a:off x="7010400" y="3505200"/>
            <a:ext cx="1524000" cy="685800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9403" name="Rectangle 11"/>
          <p:cNvSpPr>
            <a:spLocks noChangeArrowheads="1"/>
          </p:cNvSpPr>
          <p:nvPr/>
        </p:nvSpPr>
        <p:spPr bwMode="auto">
          <a:xfrm>
            <a:off x="7010400" y="4343400"/>
            <a:ext cx="1524000" cy="685800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9404" name="Line 12"/>
          <p:cNvSpPr>
            <a:spLocks noChangeShapeType="1"/>
          </p:cNvSpPr>
          <p:nvPr/>
        </p:nvSpPr>
        <p:spPr bwMode="auto">
          <a:xfrm>
            <a:off x="2057400" y="3810000"/>
            <a:ext cx="1066800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9405" name="Line 13"/>
          <p:cNvSpPr>
            <a:spLocks noChangeShapeType="1"/>
          </p:cNvSpPr>
          <p:nvPr/>
        </p:nvSpPr>
        <p:spPr bwMode="auto">
          <a:xfrm>
            <a:off x="2057400" y="4724400"/>
            <a:ext cx="1066800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9406" name="Line 14"/>
          <p:cNvSpPr>
            <a:spLocks noChangeShapeType="1"/>
          </p:cNvSpPr>
          <p:nvPr/>
        </p:nvSpPr>
        <p:spPr bwMode="auto">
          <a:xfrm>
            <a:off x="2057400" y="3048000"/>
            <a:ext cx="1066800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9407" name="Line 15"/>
          <p:cNvSpPr>
            <a:spLocks noChangeShapeType="1"/>
          </p:cNvSpPr>
          <p:nvPr/>
        </p:nvSpPr>
        <p:spPr bwMode="auto">
          <a:xfrm>
            <a:off x="5943600" y="3810000"/>
            <a:ext cx="1066800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9408" name="Line 16"/>
          <p:cNvSpPr>
            <a:spLocks noChangeShapeType="1"/>
          </p:cNvSpPr>
          <p:nvPr/>
        </p:nvSpPr>
        <p:spPr bwMode="auto">
          <a:xfrm>
            <a:off x="5943600" y="4724400"/>
            <a:ext cx="1066800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9409" name="Line 17"/>
          <p:cNvSpPr>
            <a:spLocks noChangeShapeType="1"/>
          </p:cNvSpPr>
          <p:nvPr/>
        </p:nvSpPr>
        <p:spPr bwMode="auto">
          <a:xfrm>
            <a:off x="5943600" y="3048000"/>
            <a:ext cx="1066800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9410" name="Line 18"/>
          <p:cNvSpPr>
            <a:spLocks noChangeShapeType="1"/>
          </p:cNvSpPr>
          <p:nvPr/>
        </p:nvSpPr>
        <p:spPr bwMode="auto">
          <a:xfrm>
            <a:off x="2057400" y="2133600"/>
            <a:ext cx="1752600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9411" name="Line 19"/>
          <p:cNvSpPr>
            <a:spLocks noChangeShapeType="1"/>
          </p:cNvSpPr>
          <p:nvPr/>
        </p:nvSpPr>
        <p:spPr bwMode="auto">
          <a:xfrm>
            <a:off x="2057400" y="5562600"/>
            <a:ext cx="1752600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9412" name="Line 20"/>
          <p:cNvSpPr>
            <a:spLocks noChangeShapeType="1"/>
          </p:cNvSpPr>
          <p:nvPr/>
        </p:nvSpPr>
        <p:spPr bwMode="auto">
          <a:xfrm>
            <a:off x="3810000" y="2133600"/>
            <a:ext cx="0" cy="38100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9413" name="Line 21"/>
          <p:cNvSpPr>
            <a:spLocks noChangeShapeType="1"/>
          </p:cNvSpPr>
          <p:nvPr/>
        </p:nvSpPr>
        <p:spPr bwMode="auto">
          <a:xfrm flipV="1">
            <a:off x="3810000" y="5257800"/>
            <a:ext cx="0" cy="30480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9414" name="Text Box 22"/>
          <p:cNvSpPr txBox="1">
            <a:spLocks noChangeArrowheads="1"/>
          </p:cNvSpPr>
          <p:nvPr/>
        </p:nvSpPr>
        <p:spPr bwMode="auto">
          <a:xfrm>
            <a:off x="3167063" y="3394075"/>
            <a:ext cx="2682016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Requirements</a:t>
            </a:r>
          </a:p>
          <a:p>
            <a:r>
              <a:rPr lang="en-US" sz="2400"/>
              <a:t>Engineering Process</a:t>
            </a:r>
          </a:p>
        </p:txBody>
      </p:sp>
      <p:sp>
        <p:nvSpPr>
          <p:cNvPr id="59415" name="Text Box 23"/>
          <p:cNvSpPr txBox="1">
            <a:spLocks noChangeArrowheads="1"/>
          </p:cNvSpPr>
          <p:nvPr/>
        </p:nvSpPr>
        <p:spPr bwMode="auto">
          <a:xfrm>
            <a:off x="666750" y="1765300"/>
            <a:ext cx="1167884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/>
              <a:t>Existing</a:t>
            </a:r>
          </a:p>
          <a:p>
            <a:r>
              <a:rPr lang="en-US" sz="1600" dirty="0"/>
              <a:t>systems</a:t>
            </a:r>
          </a:p>
          <a:p>
            <a:r>
              <a:rPr lang="en-US" sz="1600" dirty="0"/>
              <a:t>information</a:t>
            </a:r>
          </a:p>
        </p:txBody>
      </p:sp>
      <p:sp>
        <p:nvSpPr>
          <p:cNvPr id="59416" name="Text Box 24"/>
          <p:cNvSpPr txBox="1">
            <a:spLocks noChangeArrowheads="1"/>
          </p:cNvSpPr>
          <p:nvPr/>
        </p:nvSpPr>
        <p:spPr bwMode="auto">
          <a:xfrm>
            <a:off x="685800" y="2743200"/>
            <a:ext cx="1177438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/>
              <a:t>Stakeholder</a:t>
            </a:r>
          </a:p>
          <a:p>
            <a:r>
              <a:rPr lang="en-US" sz="1600"/>
              <a:t>needs</a:t>
            </a:r>
          </a:p>
        </p:txBody>
      </p:sp>
      <p:sp>
        <p:nvSpPr>
          <p:cNvPr id="59417" name="Text Box 25"/>
          <p:cNvSpPr txBox="1">
            <a:spLocks noChangeArrowheads="1"/>
          </p:cNvSpPr>
          <p:nvPr/>
        </p:nvSpPr>
        <p:spPr bwMode="auto">
          <a:xfrm>
            <a:off x="609600" y="3581400"/>
            <a:ext cx="1395413" cy="581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/>
              <a:t>Organizational</a:t>
            </a:r>
          </a:p>
          <a:p>
            <a:r>
              <a:rPr lang="en-US" sz="1600"/>
              <a:t>standards</a:t>
            </a:r>
          </a:p>
        </p:txBody>
      </p:sp>
      <p:sp>
        <p:nvSpPr>
          <p:cNvPr id="59418" name="Text Box 26"/>
          <p:cNvSpPr txBox="1">
            <a:spLocks noChangeArrowheads="1"/>
          </p:cNvSpPr>
          <p:nvPr/>
        </p:nvSpPr>
        <p:spPr bwMode="auto">
          <a:xfrm>
            <a:off x="747713" y="4540250"/>
            <a:ext cx="1157287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600"/>
              <a:t>Regulations</a:t>
            </a:r>
          </a:p>
        </p:txBody>
      </p:sp>
      <p:sp>
        <p:nvSpPr>
          <p:cNvPr id="59419" name="Text Box 27"/>
          <p:cNvSpPr txBox="1">
            <a:spLocks noChangeArrowheads="1"/>
          </p:cNvSpPr>
          <p:nvPr/>
        </p:nvSpPr>
        <p:spPr bwMode="auto">
          <a:xfrm>
            <a:off x="733425" y="5210175"/>
            <a:ext cx="1167884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/>
              <a:t>Domain</a:t>
            </a:r>
          </a:p>
          <a:p>
            <a:r>
              <a:rPr lang="en-US" sz="1600"/>
              <a:t>information</a:t>
            </a:r>
          </a:p>
        </p:txBody>
      </p:sp>
      <p:sp>
        <p:nvSpPr>
          <p:cNvPr id="59420" name="Text Box 28"/>
          <p:cNvSpPr txBox="1">
            <a:spLocks noChangeArrowheads="1"/>
          </p:cNvSpPr>
          <p:nvPr/>
        </p:nvSpPr>
        <p:spPr bwMode="auto">
          <a:xfrm>
            <a:off x="7172325" y="3581400"/>
            <a:ext cx="1227138" cy="581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/>
              <a:t>System</a:t>
            </a:r>
          </a:p>
          <a:p>
            <a:r>
              <a:rPr lang="en-US" sz="1600"/>
              <a:t>specification</a:t>
            </a:r>
          </a:p>
        </p:txBody>
      </p:sp>
      <p:sp>
        <p:nvSpPr>
          <p:cNvPr id="59421" name="Text Box 29"/>
          <p:cNvSpPr txBox="1">
            <a:spLocks noChangeArrowheads="1"/>
          </p:cNvSpPr>
          <p:nvPr/>
        </p:nvSpPr>
        <p:spPr bwMode="auto">
          <a:xfrm>
            <a:off x="7153275" y="2743200"/>
            <a:ext cx="1310680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/>
              <a:t>Agreed</a:t>
            </a:r>
          </a:p>
          <a:p>
            <a:r>
              <a:rPr lang="en-US" sz="1600"/>
              <a:t>requirements</a:t>
            </a:r>
          </a:p>
        </p:txBody>
      </p:sp>
      <p:sp>
        <p:nvSpPr>
          <p:cNvPr id="59422" name="Text Box 30"/>
          <p:cNvSpPr txBox="1">
            <a:spLocks noChangeArrowheads="1"/>
          </p:cNvSpPr>
          <p:nvPr/>
        </p:nvSpPr>
        <p:spPr bwMode="auto">
          <a:xfrm>
            <a:off x="7383463" y="4371975"/>
            <a:ext cx="793807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/>
              <a:t>System</a:t>
            </a:r>
          </a:p>
          <a:p>
            <a:r>
              <a:rPr lang="en-US" sz="1600"/>
              <a:t>models</a:t>
            </a:r>
          </a:p>
        </p:txBody>
      </p:sp>
    </p:spTree>
    <p:extLst>
      <p:ext uri="{BB962C8B-B14F-4D97-AF65-F5344CB8AC3E}">
        <p14:creationId xmlns:p14="http://schemas.microsoft.com/office/powerpoint/2010/main" val="353418662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 Process – Inputs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It includes:</a:t>
            </a:r>
          </a:p>
          <a:p>
            <a:r>
              <a:rPr lang="en-US"/>
              <a:t>Existing system information</a:t>
            </a:r>
          </a:p>
          <a:p>
            <a:pPr lvl="1"/>
            <a:r>
              <a:rPr lang="en-US"/>
              <a:t>Information about the functionality of systems to be replaced</a:t>
            </a:r>
          </a:p>
          <a:p>
            <a:pPr lvl="1"/>
            <a:r>
              <a:rPr lang="en-US"/>
              <a:t>Information about other systems, which interact with the system being specified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ACEEA-AFD0-432C-ADAE-205EF7832AA7}" type="slidenum">
              <a:rPr lang="en-US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91457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 Process – Inputs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Stakeholder needs</a:t>
            </a:r>
          </a:p>
          <a:p>
            <a:pPr lvl="1"/>
            <a:r>
              <a:rPr lang="en-US"/>
              <a:t>Description of what system stakeholders need from the system to support their work</a:t>
            </a:r>
          </a:p>
          <a:p>
            <a:r>
              <a:rPr lang="en-US"/>
              <a:t>Organizational standards</a:t>
            </a:r>
          </a:p>
          <a:p>
            <a:pPr lvl="1"/>
            <a:r>
              <a:rPr lang="en-US"/>
              <a:t>Standards used in an organization regarding system development practice, quality management,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9F51-5DFC-4EBB-8893-D1AC7B9D92E6}" type="slidenum">
              <a:rPr lang="en-US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4839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 Process – Inputs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Regulations</a:t>
            </a:r>
          </a:p>
          <a:p>
            <a:pPr lvl="1"/>
            <a:r>
              <a:rPr lang="en-US"/>
              <a:t>External regulations such as health and safety regulations, which apply to the system</a:t>
            </a:r>
          </a:p>
          <a:p>
            <a:r>
              <a:rPr lang="en-US"/>
              <a:t>Domain information</a:t>
            </a:r>
          </a:p>
          <a:p>
            <a:pPr lvl="1"/>
            <a:r>
              <a:rPr lang="en-US"/>
              <a:t>General information about the application domain of the system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EF824-2DB7-4CF2-A269-DBD5589BA001}" type="slidenum">
              <a:rPr lang="en-US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55401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 Process – Outputs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It includes</a:t>
            </a:r>
          </a:p>
          <a:p>
            <a:r>
              <a:rPr lang="en-US"/>
              <a:t>Agreed requirements</a:t>
            </a:r>
          </a:p>
          <a:p>
            <a:pPr lvl="1"/>
            <a:r>
              <a:rPr lang="en-US"/>
              <a:t>A description of the system requirements, which is understandable by stakeholders and which has been agreed by them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4235-BB63-48B0-BC6B-26BE0C9C31EC}" type="slidenum">
              <a:rPr lang="en-US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39931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 Process – Outputs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System specification</a:t>
            </a:r>
          </a:p>
          <a:p>
            <a:pPr lvl="1"/>
            <a:r>
              <a:rPr lang="en-US"/>
              <a:t>This is a more detailed specification of the system, which may be produced in some cases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E18FB-E3DC-4EC9-8D5A-8D71CD0ED66B}" type="slidenum">
              <a:rPr lang="en-US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29806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 Process – Outputs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System models</a:t>
            </a:r>
          </a:p>
          <a:p>
            <a:pPr lvl="1"/>
            <a:r>
              <a:rPr lang="en-US"/>
              <a:t>A set of models such as a data-flow model, an object model, a process model, etc., which describes the system from different perspectives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CE499-5F2B-4362-98AA-9F4FA0591572}" type="slidenum">
              <a:rPr lang="en-US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60445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31536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en-US" sz="8800" b="1" dirty="0"/>
          </a:p>
          <a:p>
            <a:pPr algn="ctr">
              <a:buNone/>
            </a:pPr>
            <a:r>
              <a:rPr lang="en-US" sz="9600" b="1" dirty="0"/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480</TotalTime>
  <Words>1851</Words>
  <Application>Microsoft Office PowerPoint</Application>
  <PresentationFormat>On-screen Show (4:3)</PresentationFormat>
  <Paragraphs>340</Paragraphs>
  <Slides>70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8" baseType="lpstr">
      <vt:lpstr>Arial</vt:lpstr>
      <vt:lpstr>Calibri</vt:lpstr>
      <vt:lpstr>Calibri Light</vt:lpstr>
      <vt:lpstr>Sylfaen</vt:lpstr>
      <vt:lpstr>Times New Roman</vt:lpstr>
      <vt:lpstr>Wingdings 3</vt:lpstr>
      <vt:lpstr>Retrospect</vt:lpstr>
      <vt:lpstr>Bitmap Image</vt:lpstr>
      <vt:lpstr>Software Engineering for CS</vt:lpstr>
      <vt:lpstr>`</vt:lpstr>
      <vt:lpstr>PowerPoint Presentation</vt:lpstr>
      <vt:lpstr>Introduction</vt:lpstr>
      <vt:lpstr>Requirement</vt:lpstr>
      <vt:lpstr>Software Requirements - 1</vt:lpstr>
      <vt:lpstr>Software Requirements - 2</vt:lpstr>
      <vt:lpstr>Software Requirements - 3</vt:lpstr>
      <vt:lpstr>Software Requirements - 4</vt:lpstr>
      <vt:lpstr>IEEE Definition</vt:lpstr>
      <vt:lpstr>Sources of Requirements</vt:lpstr>
      <vt:lpstr>Sources of Requirements</vt:lpstr>
      <vt:lpstr>Levels of Software Requirements</vt:lpstr>
      <vt:lpstr>Importance of Software Requirements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Examples of Requirements - 1</vt:lpstr>
      <vt:lpstr>Examples of Requirements - 2</vt:lpstr>
      <vt:lpstr>Examples of Requirements - 3</vt:lpstr>
      <vt:lpstr>Examples of Requirements - 4</vt:lpstr>
      <vt:lpstr>Examples of Requirements - 5</vt:lpstr>
      <vt:lpstr>Kinds of Software Requirements</vt:lpstr>
      <vt:lpstr>Kinds of Software Requirements</vt:lpstr>
      <vt:lpstr>Functional Requirements - 1</vt:lpstr>
      <vt:lpstr>Functional Requirements - 2</vt:lpstr>
      <vt:lpstr>Functional Requirements - 3</vt:lpstr>
      <vt:lpstr>Functional Requirements - 4</vt:lpstr>
      <vt:lpstr>Functional Requirements Example # 1</vt:lpstr>
      <vt:lpstr>Functional Requirements Example # 2</vt:lpstr>
      <vt:lpstr>Functional Requirements Example # 3</vt:lpstr>
      <vt:lpstr>Functional Requirements Example # 4</vt:lpstr>
      <vt:lpstr>Functional Requirements Example # 5</vt:lpstr>
      <vt:lpstr>Comments on Examples</vt:lpstr>
      <vt:lpstr>Comments on Examples</vt:lpstr>
      <vt:lpstr>Comments on Examples</vt:lpstr>
      <vt:lpstr>Comments on Examples</vt:lpstr>
      <vt:lpstr>Non-Functional Requirements - 1</vt:lpstr>
      <vt:lpstr>Non-Functional Requirements - 2</vt:lpstr>
      <vt:lpstr>Non-Functional Requirements - 3</vt:lpstr>
      <vt:lpstr>Non-Functional Requirements - 4</vt:lpstr>
      <vt:lpstr>Product Requirements - 1</vt:lpstr>
      <vt:lpstr>Product Requirements </vt:lpstr>
      <vt:lpstr>Organizational Requirements - 1</vt:lpstr>
      <vt:lpstr>External Requirements - 1</vt:lpstr>
      <vt:lpstr>External Requirements - 2</vt:lpstr>
      <vt:lpstr>Observations on Non-Functional Requirements - 1</vt:lpstr>
      <vt:lpstr>Observations on Non-Functional Requirements - 2</vt:lpstr>
      <vt:lpstr>Observations on Non-Functional Requirements - 3</vt:lpstr>
      <vt:lpstr>Observations on Non-Functional Requirements - 4</vt:lpstr>
      <vt:lpstr>Observations on Non-Functional Requirements - 5</vt:lpstr>
      <vt:lpstr>Observations on Non-Functional Requirements - 6</vt:lpstr>
      <vt:lpstr>Observations on Non-Functional Requirements - 7</vt:lpstr>
      <vt:lpstr>Domain Requirements - 1</vt:lpstr>
      <vt:lpstr>Domain Requirements - 2</vt:lpstr>
      <vt:lpstr>Inverse Requirements</vt:lpstr>
      <vt:lpstr>Design and Implementation Constraints - 1</vt:lpstr>
      <vt:lpstr>Requirements Engineering Process</vt:lpstr>
      <vt:lpstr>RE Process - Inputs and Outputs</vt:lpstr>
      <vt:lpstr>RE Process – Inputs</vt:lpstr>
      <vt:lpstr>RE Process – Inputs</vt:lpstr>
      <vt:lpstr>RE Process – Inputs</vt:lpstr>
      <vt:lpstr>RE Process – Outputs</vt:lpstr>
      <vt:lpstr>RE Process – Outputs</vt:lpstr>
      <vt:lpstr>RE Process – Outputs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Design &amp; Architecture</dc:title>
  <dc:creator>natash</dc:creator>
  <cp:lastModifiedBy>user</cp:lastModifiedBy>
  <cp:revision>146</cp:revision>
  <dcterms:created xsi:type="dcterms:W3CDTF">2006-08-16T00:00:00Z</dcterms:created>
  <dcterms:modified xsi:type="dcterms:W3CDTF">2025-10-16T04:03:01Z</dcterms:modified>
</cp:coreProperties>
</file>