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19" r:id="rId2"/>
    <p:sldId id="498" r:id="rId3"/>
    <p:sldId id="530" r:id="rId4"/>
    <p:sldId id="499" r:id="rId5"/>
    <p:sldId id="534" r:id="rId6"/>
    <p:sldId id="535" r:id="rId7"/>
    <p:sldId id="536" r:id="rId8"/>
    <p:sldId id="537" r:id="rId9"/>
    <p:sldId id="500" r:id="rId10"/>
    <p:sldId id="256" r:id="rId11"/>
    <p:sldId id="257" r:id="rId12"/>
    <p:sldId id="258" r:id="rId13"/>
    <p:sldId id="259" r:id="rId14"/>
    <p:sldId id="260" r:id="rId15"/>
    <p:sldId id="261" r:id="rId16"/>
    <p:sldId id="320" r:id="rId17"/>
    <p:sldId id="538" r:id="rId18"/>
    <p:sldId id="539" r:id="rId19"/>
    <p:sldId id="540" r:id="rId20"/>
    <p:sldId id="541" r:id="rId21"/>
    <p:sldId id="321" r:id="rId22"/>
    <p:sldId id="542" r:id="rId23"/>
    <p:sldId id="543" r:id="rId24"/>
    <p:sldId id="544" r:id="rId25"/>
    <p:sldId id="545" r:id="rId26"/>
    <p:sldId id="546" r:id="rId27"/>
    <p:sldId id="547" r:id="rId28"/>
    <p:sldId id="548" r:id="rId29"/>
    <p:sldId id="549" r:id="rId30"/>
    <p:sldId id="550"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3" d="100"/>
          <a:sy n="83" d="100"/>
        </p:scale>
        <p:origin x="68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7"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7"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fld id="{1D8BD707-D9CF-40AE-B4C6-C98DA3205C09}" type="datetimeFigureOut">
              <a:rPr lang="en-US" smtClean="0"/>
              <a:pPr>
                <a:defRPr/>
              </a:pPr>
              <a:t>11/12/2025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B6F15528-21DE-4FAA-801E-634DDDAF4B2B}" type="slidenum">
              <a:rPr lang="en-US" smtClean="0"/>
              <a:pPr>
                <a:defRPr/>
              </a:pPr>
              <a:t>‹#›</a:t>
            </a:fld>
            <a:endParaRPr lang="en-US"/>
          </a:p>
        </p:txBody>
      </p:sp>
      <p:cxnSp>
        <p:nvCxnSpPr>
          <p:cNvPr id="9" name="Straight Connector 8"/>
          <p:cNvCxnSpPr/>
          <p:nvPr/>
        </p:nvCxnSpPr>
        <p:spPr>
          <a:xfrm>
            <a:off x="1207659"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18293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1D8BD707-D9CF-40AE-B4C6-C98DA3205C09}" type="datetimeFigureOut">
              <a:rPr lang="en-US" smtClean="0"/>
              <a:pPr>
                <a:defRPr/>
              </a:pPr>
              <a:t>11/12/2025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B6F15528-21DE-4FAA-801E-634DDDAF4B2B}" type="slidenum">
              <a:rPr lang="en-US" smtClean="0"/>
              <a:pPr>
                <a:defRPr/>
              </a:pPr>
              <a:t>‹#›</a:t>
            </a:fld>
            <a:endParaRPr lang="en-US"/>
          </a:p>
        </p:txBody>
      </p:sp>
    </p:spTree>
    <p:extLst>
      <p:ext uri="{BB962C8B-B14F-4D97-AF65-F5344CB8AC3E}">
        <p14:creationId xmlns:p14="http://schemas.microsoft.com/office/powerpoint/2010/main" val="20868737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7"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7"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a:defRPr/>
            </a:pPr>
            <a:fld id="{1D8BD707-D9CF-40AE-B4C6-C98DA3205C09}" type="datetimeFigureOut">
              <a:rPr lang="en-US" smtClean="0"/>
              <a:pPr>
                <a:defRPr/>
              </a:pPr>
              <a:t>11/12/2025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B6F15528-21DE-4FAA-801E-634DDDAF4B2B}" type="slidenum">
              <a:rPr lang="en-US" smtClean="0"/>
              <a:pPr>
                <a:defRPr/>
              </a:pPr>
              <a:t>‹#›</a:t>
            </a:fld>
            <a:endParaRPr lang="en-US"/>
          </a:p>
        </p:txBody>
      </p:sp>
      <p:cxnSp>
        <p:nvCxnSpPr>
          <p:cNvPr id="9" name="Straight Connector 8"/>
          <p:cNvCxnSpPr/>
          <p:nvPr/>
        </p:nvCxnSpPr>
        <p:spPr>
          <a:xfrm>
            <a:off x="1207659"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72347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5"/>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7"/>
            <a:ext cx="4937760" cy="402335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fld id="{1D8BD707-D9CF-40AE-B4C6-C98DA3205C09}" type="datetimeFigureOut">
              <a:rPr lang="en-US" smtClean="0"/>
              <a:pPr>
                <a:defRPr/>
              </a:pPr>
              <a:t>11/12/2025</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B6F15528-21DE-4FAA-801E-634DDDAF4B2B}" type="slidenum">
              <a:rPr lang="en-US" smtClean="0"/>
              <a:pPr>
                <a:defRPr/>
              </a:pPr>
              <a:t>‹#›</a:t>
            </a:fld>
            <a:endParaRPr lang="en-US"/>
          </a:p>
        </p:txBody>
      </p:sp>
    </p:spTree>
    <p:extLst>
      <p:ext uri="{BB962C8B-B14F-4D97-AF65-F5344CB8AC3E}">
        <p14:creationId xmlns:p14="http://schemas.microsoft.com/office/powerpoint/2010/main" val="1228124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5"/>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97280" y="2582334"/>
            <a:ext cx="4937760" cy="32867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fld id="{1D8BD707-D9CF-40AE-B4C6-C98DA3205C09}" type="datetimeFigureOut">
              <a:rPr lang="en-US" smtClean="0"/>
              <a:pPr>
                <a:defRPr/>
              </a:pPr>
              <a:t>11/12/2025</a:t>
            </a:fld>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B6F15528-21DE-4FAA-801E-634DDDAF4B2B}" type="slidenum">
              <a:rPr lang="en-US" smtClean="0"/>
              <a:pPr>
                <a:defRPr/>
              </a:pPr>
              <a:t>‹#›</a:t>
            </a:fld>
            <a:endParaRPr lang="en-US"/>
          </a:p>
        </p:txBody>
      </p:sp>
    </p:spTree>
    <p:extLst>
      <p:ext uri="{BB962C8B-B14F-4D97-AF65-F5344CB8AC3E}">
        <p14:creationId xmlns:p14="http://schemas.microsoft.com/office/powerpoint/2010/main" val="41565377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fld id="{1D8BD707-D9CF-40AE-B4C6-C98DA3205C09}" type="datetimeFigureOut">
              <a:rPr lang="en-US" smtClean="0"/>
              <a:pPr>
                <a:defRPr/>
              </a:pPr>
              <a:t>11/12/2025</a:t>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B6F15528-21DE-4FAA-801E-634DDDAF4B2B}" type="slidenum">
              <a:rPr lang="en-US" smtClean="0"/>
              <a:pPr>
                <a:defRPr/>
              </a:pPr>
              <a:t>‹#›</a:t>
            </a:fld>
            <a:endParaRPr lang="en-US"/>
          </a:p>
        </p:txBody>
      </p:sp>
    </p:spTree>
    <p:extLst>
      <p:ext uri="{BB962C8B-B14F-4D97-AF65-F5344CB8AC3E}">
        <p14:creationId xmlns:p14="http://schemas.microsoft.com/office/powerpoint/2010/main" val="32928815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7"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7"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pPr>
              <a:defRPr/>
            </a:pPr>
            <a:fld id="{1D8BD707-D9CF-40AE-B4C6-C98DA3205C09}" type="datetimeFigureOut">
              <a:rPr lang="en-US" smtClean="0"/>
              <a:pPr>
                <a:defRPr/>
              </a:pPr>
              <a:t>11/12/2025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pPr>
              <a:defRPr/>
            </a:pPr>
            <a:endParaRPr lang="en-US"/>
          </a:p>
        </p:txBody>
      </p:sp>
      <p:sp>
        <p:nvSpPr>
          <p:cNvPr id="9" name="Slide Number Placeholder 8"/>
          <p:cNvSpPr>
            <a:spLocks noGrp="1"/>
          </p:cNvSpPr>
          <p:nvPr>
            <p:ph type="sldNum" sz="quarter" idx="12"/>
          </p:nvPr>
        </p:nvSpPr>
        <p:spPr/>
        <p:txBody>
          <a:bodyPr/>
          <a:lstStyle/>
          <a:p>
            <a:pPr>
              <a:defRPr/>
            </a:pPr>
            <a:fld id="{B6F15528-21DE-4FAA-801E-634DDDAF4B2B}" type="slidenum">
              <a:rPr lang="en-US" smtClean="0"/>
              <a:pPr>
                <a:defRPr/>
              </a:pPr>
              <a:t>‹#›</a:t>
            </a:fld>
            <a:endParaRPr lang="en-US"/>
          </a:p>
        </p:txBody>
      </p:sp>
    </p:spTree>
    <p:extLst>
      <p:ext uri="{BB962C8B-B14F-4D97-AF65-F5344CB8AC3E}">
        <p14:creationId xmlns:p14="http://schemas.microsoft.com/office/powerpoint/2010/main" val="39831900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8"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613650" y="731520"/>
            <a:ext cx="6679191"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465513" y="6459787"/>
            <a:ext cx="2618511" cy="365125"/>
          </a:xfrm>
        </p:spPr>
        <p:txBody>
          <a:bodyPr/>
          <a:lstStyle>
            <a:lvl1pPr algn="l">
              <a:defRPr/>
            </a:lvl1pPr>
          </a:lstStyle>
          <a:p>
            <a:pPr>
              <a:defRPr/>
            </a:pPr>
            <a:fld id="{1D8BD707-D9CF-40AE-B4C6-C98DA3205C09}" type="datetimeFigureOut">
              <a:rPr lang="en-US" smtClean="0"/>
              <a:pPr>
                <a:defRPr/>
              </a:pPr>
              <a:t>11/12/2025</a:t>
            </a:fld>
            <a:endParaRPr lang="en-US"/>
          </a:p>
        </p:txBody>
      </p:sp>
      <p:sp>
        <p:nvSpPr>
          <p:cNvPr id="6" name="Footer Placeholder 5"/>
          <p:cNvSpPr>
            <a:spLocks noGrp="1"/>
          </p:cNvSpPr>
          <p:nvPr>
            <p:ph type="ftr" sz="quarter" idx="11"/>
          </p:nvPr>
        </p:nvSpPr>
        <p:spPr>
          <a:xfrm>
            <a:off x="4800600" y="6459787"/>
            <a:ext cx="4648200" cy="365125"/>
          </a:xfrm>
        </p:spPr>
        <p:txBody>
          <a:bodyPr/>
          <a:lstStyle>
            <a:lvl1pPr algn="l">
              <a:defRPr>
                <a:solidFill>
                  <a:schemeClr val="tx2"/>
                </a:solidFill>
              </a:defRPr>
            </a:lvl1pPr>
          </a:lstStyle>
          <a:p>
            <a:pPr>
              <a:defRPr/>
            </a:pPr>
            <a:endParaRPr lang="en-US">
              <a:solidFill>
                <a:srgbClr val="637052"/>
              </a:solidFill>
            </a:endParaRPr>
          </a:p>
        </p:txBody>
      </p:sp>
      <p:sp>
        <p:nvSpPr>
          <p:cNvPr id="7" name="Slide Number Placeholder 6"/>
          <p:cNvSpPr>
            <a:spLocks noGrp="1"/>
          </p:cNvSpPr>
          <p:nvPr>
            <p:ph type="sldNum" sz="quarter" idx="12"/>
          </p:nvPr>
        </p:nvSpPr>
        <p:spPr/>
        <p:txBody>
          <a:bodyPr/>
          <a:lstStyle>
            <a:lvl1pPr>
              <a:defRPr>
                <a:solidFill>
                  <a:schemeClr val="tx2"/>
                </a:solidFill>
              </a:defRPr>
            </a:lvl1pPr>
          </a:lstStyle>
          <a:p>
            <a:pPr>
              <a:defRPr/>
            </a:pPr>
            <a:fld id="{B6F15528-21DE-4FAA-801E-634DDDAF4B2B}" type="slidenum">
              <a:rPr lang="en-US" smtClean="0">
                <a:solidFill>
                  <a:srgbClr val="637052"/>
                </a:solidFill>
              </a:rPr>
              <a:pPr>
                <a:defRPr/>
              </a:pPr>
              <a:t>‹#›</a:t>
            </a:fld>
            <a:endParaRPr lang="en-US">
              <a:solidFill>
                <a:srgbClr val="637052"/>
              </a:solidFill>
            </a:endParaRPr>
          </a:p>
        </p:txBody>
      </p:sp>
    </p:spTree>
    <p:extLst>
      <p:ext uri="{BB962C8B-B14F-4D97-AF65-F5344CB8AC3E}">
        <p14:creationId xmlns:p14="http://schemas.microsoft.com/office/powerpoint/2010/main" val="24794643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1"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7"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936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7"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79" y="5907024"/>
            <a:ext cx="1011936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pPr>
              <a:defRPr/>
            </a:pPr>
            <a:fld id="{1D8BD707-D9CF-40AE-B4C6-C98DA3205C09}" type="datetimeFigureOut">
              <a:rPr lang="en-US" smtClean="0"/>
              <a:pPr>
                <a:defRPr/>
              </a:pPr>
              <a:t>11/12/2025</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B6F15528-21DE-4FAA-801E-634DDDAF4B2B}" type="slidenum">
              <a:rPr lang="en-US" smtClean="0"/>
              <a:pPr>
                <a:defRPr/>
              </a:pPr>
              <a:t>‹#›</a:t>
            </a:fld>
            <a:endParaRPr lang="en-US"/>
          </a:p>
        </p:txBody>
      </p:sp>
    </p:spTree>
    <p:extLst>
      <p:ext uri="{BB962C8B-B14F-4D97-AF65-F5344CB8AC3E}">
        <p14:creationId xmlns:p14="http://schemas.microsoft.com/office/powerpoint/2010/main" val="1251734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1D8BD707-D9CF-40AE-B4C6-C98DA3205C09}" type="datetimeFigureOut">
              <a:rPr lang="en-US" smtClean="0"/>
              <a:pPr>
                <a:defRPr/>
              </a:pPr>
              <a:t>11/12/2025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B6F15528-21DE-4FAA-801E-634DDDAF4B2B}" type="slidenum">
              <a:rPr lang="en-US" smtClean="0"/>
              <a:pPr>
                <a:defRPr/>
              </a:pPr>
              <a:t>‹#›</a:t>
            </a:fld>
            <a:endParaRPr lang="en-US"/>
          </a:p>
        </p:txBody>
      </p:sp>
    </p:spTree>
    <p:extLst>
      <p:ext uri="{BB962C8B-B14F-4D97-AF65-F5344CB8AC3E}">
        <p14:creationId xmlns:p14="http://schemas.microsoft.com/office/powerpoint/2010/main" val="34816117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7"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7"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1" y="414780"/>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414779"/>
            <a:ext cx="7734300" cy="5757420"/>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1D8BD707-D9CF-40AE-B4C6-C98DA3205C09}" type="datetimeFigureOut">
              <a:rPr lang="en-US" smtClean="0"/>
              <a:pPr>
                <a:defRPr/>
              </a:pPr>
              <a:t>11/12/2025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B6F15528-21DE-4FAA-801E-634DDDAF4B2B}" type="slidenum">
              <a:rPr lang="en-US" smtClean="0"/>
              <a:pPr>
                <a:defRPr/>
              </a:pPr>
              <a:t>‹#›</a:t>
            </a:fld>
            <a:endParaRPr lang="en-US"/>
          </a:p>
        </p:txBody>
      </p:sp>
    </p:spTree>
    <p:extLst>
      <p:ext uri="{BB962C8B-B14F-4D97-AF65-F5344CB8AC3E}">
        <p14:creationId xmlns:p14="http://schemas.microsoft.com/office/powerpoint/2010/main" val="17747787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914400" y="609600"/>
            <a:ext cx="10363200"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914400" y="6248400"/>
            <a:ext cx="2540000" cy="457200"/>
          </a:xfrm>
        </p:spPr>
        <p:txBody>
          <a:bodyPr/>
          <a:lstStyle>
            <a:lvl1pPr>
              <a:defRPr/>
            </a:lvl1pPr>
          </a:lstStyle>
          <a:p>
            <a:pPr>
              <a:defRPr/>
            </a:pPr>
            <a:endParaRPr lang="en-US"/>
          </a:p>
        </p:txBody>
      </p:sp>
      <p:sp>
        <p:nvSpPr>
          <p:cNvPr id="4" name="Footer Placeholder 3"/>
          <p:cNvSpPr>
            <a:spLocks noGrp="1"/>
          </p:cNvSpPr>
          <p:nvPr>
            <p:ph type="ftr" sz="quarter" idx="11"/>
          </p:nvPr>
        </p:nvSpPr>
        <p:spPr>
          <a:xfrm>
            <a:off x="4165600" y="6248400"/>
            <a:ext cx="3860800" cy="457200"/>
          </a:xfrm>
        </p:spPr>
        <p:txBody>
          <a:bodyPr/>
          <a:lstStyle>
            <a:lvl1pPr>
              <a:defRPr/>
            </a:lvl1pPr>
          </a:lstStyle>
          <a:p>
            <a:pPr>
              <a:defRPr/>
            </a:pPr>
            <a:endParaRPr lang="en-US"/>
          </a:p>
        </p:txBody>
      </p:sp>
      <p:sp>
        <p:nvSpPr>
          <p:cNvPr id="5" name="Slide Number Placeholder 4"/>
          <p:cNvSpPr>
            <a:spLocks noGrp="1"/>
          </p:cNvSpPr>
          <p:nvPr>
            <p:ph type="sldNum" sz="quarter" idx="12"/>
          </p:nvPr>
        </p:nvSpPr>
        <p:spPr>
          <a:xfrm>
            <a:off x="8737600" y="6248400"/>
            <a:ext cx="2540000" cy="457200"/>
          </a:xfrm>
        </p:spPr>
        <p:txBody>
          <a:bodyPr/>
          <a:lstStyle>
            <a:lvl1pPr>
              <a:defRPr/>
            </a:lvl1pPr>
          </a:lstStyle>
          <a:p>
            <a:pPr>
              <a:defRPr/>
            </a:pPr>
            <a:fld id="{08D7A2F4-68AB-4C94-961A-97A9545E0508}" type="slidenum">
              <a:rPr lang="en-US" smtClean="0"/>
              <a:pPr>
                <a:defRPr/>
              </a:pPr>
              <a:t>‹#›</a:t>
            </a:fld>
            <a:endParaRPr lang="en-US"/>
          </a:p>
        </p:txBody>
      </p:sp>
    </p:spTree>
    <p:extLst>
      <p:ext uri="{BB962C8B-B14F-4D97-AF65-F5344CB8AC3E}">
        <p14:creationId xmlns:p14="http://schemas.microsoft.com/office/powerpoint/2010/main" val="7588803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1" y="6334316"/>
            <a:ext cx="12192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5"/>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79" y="1845734"/>
            <a:ext cx="10058401"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2" y="6459787"/>
            <a:ext cx="2472271" cy="365125"/>
          </a:xfrm>
          <a:prstGeom prst="rect">
            <a:avLst/>
          </a:prstGeom>
        </p:spPr>
        <p:txBody>
          <a:bodyPr vert="horz" lIns="91440" tIns="45720" rIns="91440" bIns="45720" rtlCol="0" anchor="ctr"/>
          <a:lstStyle>
            <a:lvl1pPr algn="l">
              <a:defRPr sz="900">
                <a:solidFill>
                  <a:srgbClr val="FFFFFF"/>
                </a:solidFill>
              </a:defRPr>
            </a:lvl1pPr>
          </a:lstStyle>
          <a:p>
            <a:pPr>
              <a:defRPr/>
            </a:pPr>
            <a:fld id="{1D8BD707-D9CF-40AE-B4C6-C98DA3205C09}" type="datetimeFigureOut">
              <a:rPr lang="en-US" smtClean="0"/>
              <a:pPr>
                <a:defRPr/>
              </a:pPr>
              <a:t>11/12/2025</a:t>
            </a:fld>
            <a:endParaRPr lang="en-US"/>
          </a:p>
        </p:txBody>
      </p:sp>
      <p:sp>
        <p:nvSpPr>
          <p:cNvPr id="5" name="Footer Placeholder 4"/>
          <p:cNvSpPr>
            <a:spLocks noGrp="1"/>
          </p:cNvSpPr>
          <p:nvPr>
            <p:ph type="ftr" sz="quarter" idx="3"/>
          </p:nvPr>
        </p:nvSpPr>
        <p:spPr>
          <a:xfrm>
            <a:off x="3686186" y="6459787"/>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pPr>
              <a:defRPr/>
            </a:pPr>
            <a:endParaRPr lang="en-US"/>
          </a:p>
        </p:txBody>
      </p:sp>
      <p:sp>
        <p:nvSpPr>
          <p:cNvPr id="6" name="Slide Number Placeholder 5"/>
          <p:cNvSpPr>
            <a:spLocks noGrp="1"/>
          </p:cNvSpPr>
          <p:nvPr>
            <p:ph type="sldNum" sz="quarter" idx="4"/>
          </p:nvPr>
        </p:nvSpPr>
        <p:spPr>
          <a:xfrm>
            <a:off x="9900460" y="6459787"/>
            <a:ext cx="1312025" cy="365125"/>
          </a:xfrm>
          <a:prstGeom prst="rect">
            <a:avLst/>
          </a:prstGeom>
        </p:spPr>
        <p:txBody>
          <a:bodyPr vert="horz" lIns="91440" tIns="45720" rIns="91440" bIns="45720" rtlCol="0" anchor="ctr"/>
          <a:lstStyle>
            <a:lvl1pPr algn="r">
              <a:defRPr sz="1050">
                <a:solidFill>
                  <a:srgbClr val="FFFFFF"/>
                </a:solidFill>
              </a:defRPr>
            </a:lvl1pPr>
          </a:lstStyle>
          <a:p>
            <a:pPr>
              <a:defRPr/>
            </a:pPr>
            <a:fld id="{B6F15528-21DE-4FAA-801E-634DDDAF4B2B}" type="slidenum">
              <a:rPr lang="en-US" smtClean="0"/>
              <a:pPr>
                <a:defRPr/>
              </a:pPr>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912582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7D95D-9621-B5F1-6644-982A8729CB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2D2B91-C612-2C42-0D65-A14FC58748DC}"/>
              </a:ext>
            </a:extLst>
          </p:cNvPr>
          <p:cNvSpPr>
            <a:spLocks noGrp="1"/>
          </p:cNvSpPr>
          <p:nvPr>
            <p:ph type="ctrTitle"/>
          </p:nvPr>
        </p:nvSpPr>
        <p:spPr>
          <a:xfrm>
            <a:off x="2209800" y="1218240"/>
            <a:ext cx="7772400" cy="1829761"/>
          </a:xfrm>
        </p:spPr>
        <p:txBody>
          <a:bodyPr>
            <a:normAutofit/>
          </a:bodyPr>
          <a:lstStyle/>
          <a:p>
            <a:pPr algn="ctr"/>
            <a:r>
              <a:rPr lang="en-US" sz="3600" dirty="0"/>
              <a:t>Software Engineering for CS</a:t>
            </a:r>
          </a:p>
        </p:txBody>
      </p:sp>
      <p:sp>
        <p:nvSpPr>
          <p:cNvPr id="3" name="Subtitle 2">
            <a:extLst>
              <a:ext uri="{FF2B5EF4-FFF2-40B4-BE49-F238E27FC236}">
                <a16:creationId xmlns:a16="http://schemas.microsoft.com/office/drawing/2014/main" id="{897DF9DD-35CF-8B86-286B-EC9A8C4CA213}"/>
              </a:ext>
            </a:extLst>
          </p:cNvPr>
          <p:cNvSpPr>
            <a:spLocks noGrp="1"/>
          </p:cNvSpPr>
          <p:nvPr>
            <p:ph type="subTitle" idx="1"/>
          </p:nvPr>
        </p:nvSpPr>
        <p:spPr>
          <a:xfrm>
            <a:off x="2514600" y="4648200"/>
            <a:ext cx="6400800" cy="914400"/>
          </a:xfrm>
        </p:spPr>
        <p:txBody>
          <a:bodyPr>
            <a:normAutofit/>
          </a:bodyPr>
          <a:lstStyle/>
          <a:p>
            <a:pPr algn="ctr"/>
            <a:r>
              <a:rPr lang="en-US" dirty="0"/>
              <a:t>Instructor : dr. </a:t>
            </a:r>
            <a:r>
              <a:rPr lang="en-US" dirty="0" err="1"/>
              <a:t>Natash</a:t>
            </a:r>
            <a:r>
              <a:rPr lang="en-US" dirty="0"/>
              <a:t> Ali </a:t>
            </a:r>
            <a:r>
              <a:rPr lang="en-US" dirty="0" err="1"/>
              <a:t>Mian</a:t>
            </a:r>
            <a:endParaRPr lang="en-US" dirty="0"/>
          </a:p>
        </p:txBody>
      </p:sp>
      <p:sp>
        <p:nvSpPr>
          <p:cNvPr id="4" name="Subtitle 2">
            <a:extLst>
              <a:ext uri="{FF2B5EF4-FFF2-40B4-BE49-F238E27FC236}">
                <a16:creationId xmlns:a16="http://schemas.microsoft.com/office/drawing/2014/main" id="{FE68C4FB-5EFD-EF8B-6DC4-1BA2A1C6A403}"/>
              </a:ext>
            </a:extLst>
          </p:cNvPr>
          <p:cNvSpPr txBox="1">
            <a:spLocks/>
          </p:cNvSpPr>
          <p:nvPr/>
        </p:nvSpPr>
        <p:spPr>
          <a:xfrm>
            <a:off x="2895600" y="5638800"/>
            <a:ext cx="6400800" cy="1143000"/>
          </a:xfrm>
          <a:prstGeom prst="rect">
            <a:avLst/>
          </a:prstGeom>
        </p:spPr>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alibri" panose="020F0502020204030204"/>
                <a:ea typeface="+mn-ea"/>
                <a:cs typeface="+mn-cs"/>
              </a:rPr>
              <a:t>School of Computer and Information Technology</a:t>
            </a:r>
          </a:p>
          <a:p>
            <a:pPr marL="0" marR="0" lvl="0" indent="0" algn="ctr" defTabSz="914400" rtl="0" eaLnBrk="1" fontAlgn="auto" latinLnBrk="0" hangingPunct="1">
              <a:lnSpc>
                <a:spcPct val="100000"/>
              </a:lnSpc>
              <a:spcBef>
                <a:spcPct val="20000"/>
              </a:spcBef>
              <a:spcAft>
                <a:spcPts val="0"/>
              </a:spcAft>
              <a:buClrTx/>
              <a:buSzTx/>
              <a:buFontTx/>
              <a:buNone/>
              <a:tabLst/>
              <a:defRPr/>
            </a:pPr>
            <a:r>
              <a:rPr kumimoji="0" lang="en-US" sz="3200" b="0" i="0" u="none" strike="noStrike" kern="1200" cap="none" spc="0" normalizeH="0" baseline="0" noProof="0" dirty="0" err="1">
                <a:ln>
                  <a:noFill/>
                </a:ln>
                <a:solidFill>
                  <a:srgbClr val="000000"/>
                </a:solidFill>
                <a:effectLst/>
                <a:uLnTx/>
                <a:uFillTx/>
                <a:latin typeface="Calibri" panose="020F0502020204030204"/>
                <a:ea typeface="+mn-ea"/>
                <a:cs typeface="+mn-cs"/>
              </a:rPr>
              <a:t>Beaconhouse</a:t>
            </a:r>
            <a:r>
              <a:rPr kumimoji="0" lang="en-US" sz="3200" b="0" i="0" u="none" strike="noStrike" kern="1200" cap="none" spc="0" normalizeH="0" baseline="0" noProof="0" dirty="0">
                <a:ln>
                  <a:noFill/>
                </a:ln>
                <a:solidFill>
                  <a:srgbClr val="000000"/>
                </a:solidFill>
                <a:effectLst/>
                <a:uLnTx/>
                <a:uFillTx/>
                <a:latin typeface="Calibri" panose="020F0502020204030204"/>
                <a:ea typeface="+mn-ea"/>
                <a:cs typeface="+mn-cs"/>
              </a:rPr>
              <a:t> National University</a:t>
            </a:r>
          </a:p>
        </p:txBody>
      </p:sp>
      <p:sp>
        <p:nvSpPr>
          <p:cNvPr id="5" name="Subtitle 2">
            <a:extLst>
              <a:ext uri="{FF2B5EF4-FFF2-40B4-BE49-F238E27FC236}">
                <a16:creationId xmlns:a16="http://schemas.microsoft.com/office/drawing/2014/main" id="{7D7BABD8-294D-B9CF-94B7-91A952811329}"/>
              </a:ext>
            </a:extLst>
          </p:cNvPr>
          <p:cNvSpPr txBox="1">
            <a:spLocks/>
          </p:cNvSpPr>
          <p:nvPr/>
        </p:nvSpPr>
        <p:spPr>
          <a:xfrm>
            <a:off x="4572000" y="3276600"/>
            <a:ext cx="3581400" cy="990600"/>
          </a:xfrm>
          <a:prstGeom prst="rect">
            <a:avLst/>
          </a:prstGeom>
        </p:spPr>
        <p:txBody>
          <a:bodyPr vert="horz" lIns="45720" rIns="45720">
            <a:normAutofit/>
          </a:bodyPr>
          <a:lstStyle/>
          <a:p>
            <a:pPr marL="0" marR="64008" lvl="0" indent="0" algn="ctr" defTabSz="914400" rtl="0" eaLnBrk="1" fontAlgn="auto" latinLnBrk="0" hangingPunct="1">
              <a:lnSpc>
                <a:spcPct val="100000"/>
              </a:lnSpc>
              <a:spcBef>
                <a:spcPts val="400"/>
              </a:spcBef>
              <a:spcAft>
                <a:spcPts val="0"/>
              </a:spcAft>
              <a:buClr>
                <a:srgbClr val="E48312"/>
              </a:buClr>
              <a:buSzPct val="68000"/>
              <a:buFontTx/>
              <a:buNone/>
              <a:tabLst/>
              <a:defRPr/>
            </a:pPr>
            <a:r>
              <a:rPr kumimoji="0" lang="en-US" sz="3200" b="0" i="0" u="none" strike="noStrike" kern="1200" cap="none" spc="0" normalizeH="0" baseline="0" noProof="0">
                <a:ln>
                  <a:noFill/>
                </a:ln>
                <a:solidFill>
                  <a:srgbClr val="000000">
                    <a:lumMod val="95000"/>
                    <a:lumOff val="5000"/>
                  </a:srgbClr>
                </a:solidFill>
                <a:effectLst/>
                <a:uLnTx/>
                <a:uFillTx/>
                <a:latin typeface="Calibri" panose="020F0502020204030204"/>
                <a:ea typeface="+mn-ea"/>
                <a:cs typeface="+mn-cs"/>
              </a:rPr>
              <a:t>Week 6</a:t>
            </a:r>
            <a:endParaRPr kumimoji="0" lang="en-US" sz="3200" b="0" i="0" u="none" strike="noStrike" kern="1200" cap="none" spc="0" normalizeH="0" baseline="0" noProof="0" dirty="0">
              <a:ln>
                <a:noFill/>
              </a:ln>
              <a:solidFill>
                <a:srgbClr val="000000">
                  <a:lumMod val="95000"/>
                  <a:lumOff val="5000"/>
                </a:srgb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45785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defRPr/>
            </a:pPr>
            <a:r>
              <a:rPr lang="en-US" dirty="0"/>
              <a:t>Software Errors – Importance </a:t>
            </a:r>
          </a:p>
        </p:txBody>
      </p:sp>
      <p:sp>
        <p:nvSpPr>
          <p:cNvPr id="3" name="Content Placeholder 2"/>
          <p:cNvSpPr>
            <a:spLocks noGrp="1"/>
          </p:cNvSpPr>
          <p:nvPr>
            <p:ph idx="1"/>
          </p:nvPr>
        </p:nvSpPr>
        <p:spPr/>
        <p:txBody>
          <a:bodyPr>
            <a:normAutofit/>
          </a:bodyPr>
          <a:lstStyle/>
          <a:p>
            <a:pPr marL="274320" indent="-274320">
              <a:spcAft>
                <a:spcPts val="0"/>
              </a:spcAft>
              <a:buClr>
                <a:schemeClr val="accent3"/>
              </a:buClr>
              <a:buFont typeface="Wingdings 2"/>
              <a:buChar char=""/>
              <a:defRPr/>
            </a:pPr>
            <a:endParaRPr lang="en-US" dirty="0"/>
          </a:p>
          <a:p>
            <a:pPr marL="274320" indent="-274320">
              <a:spcAft>
                <a:spcPts val="0"/>
              </a:spcAft>
              <a:buClr>
                <a:schemeClr val="accent3"/>
              </a:buClr>
              <a:buFont typeface="Wingdings 2"/>
              <a:buChar char=""/>
              <a:defRPr/>
            </a:pPr>
            <a:r>
              <a:rPr lang="en-US" dirty="0"/>
              <a:t>History of software</a:t>
            </a:r>
          </a:p>
          <a:p>
            <a:pPr marL="640080" lvl="1" indent="-246888">
              <a:spcAft>
                <a:spcPts val="0"/>
              </a:spcAft>
              <a:buFont typeface="Wingdings 2"/>
              <a:buChar char=""/>
              <a:defRPr/>
            </a:pPr>
            <a:endParaRPr lang="en-US" dirty="0"/>
          </a:p>
          <a:p>
            <a:pPr marL="640080" lvl="1" indent="-246888">
              <a:spcAft>
                <a:spcPts val="0"/>
              </a:spcAft>
              <a:buFont typeface="Wingdings 2"/>
              <a:buChar char=""/>
              <a:defRPr/>
            </a:pPr>
            <a:r>
              <a:rPr lang="en-US" dirty="0" err="1"/>
              <a:t>Softwares</a:t>
            </a:r>
            <a:r>
              <a:rPr lang="en-US" dirty="0"/>
              <a:t> encountered notorious bugs that were the cause of financial lose and deaths of many people.</a:t>
            </a:r>
          </a:p>
          <a:p>
            <a:pPr lvl="2" indent="-246888">
              <a:spcAft>
                <a:spcPts val="0"/>
              </a:spcAft>
              <a:buFont typeface="Wingdings 2"/>
              <a:buChar char=""/>
              <a:defRPr/>
            </a:pPr>
            <a:endParaRPr lang="en-US" dirty="0"/>
          </a:p>
        </p:txBody>
      </p:sp>
    </p:spTree>
    <p:extLst>
      <p:ext uri="{BB962C8B-B14F-4D97-AF65-F5344CB8AC3E}">
        <p14:creationId xmlns:p14="http://schemas.microsoft.com/office/powerpoint/2010/main" val="20659999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defRPr/>
            </a:pPr>
            <a:r>
              <a:rPr lang="en-US" dirty="0"/>
              <a:t>AT &amp; T Bug</a:t>
            </a:r>
          </a:p>
        </p:txBody>
      </p:sp>
      <p:sp>
        <p:nvSpPr>
          <p:cNvPr id="3" name="Content Placeholder 2"/>
          <p:cNvSpPr>
            <a:spLocks noGrp="1"/>
          </p:cNvSpPr>
          <p:nvPr>
            <p:ph idx="1"/>
          </p:nvPr>
        </p:nvSpPr>
        <p:spPr/>
        <p:txBody>
          <a:bodyPr>
            <a:normAutofit/>
          </a:bodyPr>
          <a:lstStyle/>
          <a:p>
            <a:pPr marL="347472" indent="-246888">
              <a:spcAft>
                <a:spcPts val="0"/>
              </a:spcAft>
              <a:buFont typeface="Wingdings 2"/>
              <a:buChar char=""/>
              <a:defRPr/>
            </a:pPr>
            <a:r>
              <a:rPr lang="en-US" sz="2400" dirty="0"/>
              <a:t>Famous bugs are</a:t>
            </a:r>
          </a:p>
          <a:p>
            <a:pPr lvl="1" indent="-246888">
              <a:spcAft>
                <a:spcPts val="0"/>
              </a:spcAft>
              <a:buFont typeface="Wingdings 2"/>
              <a:buChar char=""/>
              <a:defRPr/>
            </a:pPr>
            <a:r>
              <a:rPr lang="en-US" sz="2400" dirty="0"/>
              <a:t>AT &amp; T long distance breakdown bug 1990</a:t>
            </a:r>
          </a:p>
          <a:p>
            <a:pPr marL="1188720" lvl="3" indent="-210312">
              <a:spcAft>
                <a:spcPts val="0"/>
              </a:spcAft>
              <a:buClr>
                <a:schemeClr val="accent3"/>
              </a:buClr>
              <a:buFont typeface="Wingdings 2"/>
              <a:buChar char=""/>
              <a:defRPr/>
            </a:pPr>
            <a:r>
              <a:rPr lang="en-US" sz="2400" dirty="0"/>
              <a:t> ill placed break statement in the code,</a:t>
            </a:r>
          </a:p>
          <a:p>
            <a:pPr marL="1188720" lvl="3" indent="-210312">
              <a:spcAft>
                <a:spcPts val="0"/>
              </a:spcAft>
              <a:buClr>
                <a:schemeClr val="accent3"/>
              </a:buClr>
              <a:buFont typeface="Wingdings 2"/>
              <a:buChar char=""/>
              <a:defRPr/>
            </a:pPr>
            <a:r>
              <a:rPr lang="en-US" sz="2400" dirty="0"/>
              <a:t>  caused the 1/3rd of entire American network to go down for 9 hours.</a:t>
            </a:r>
          </a:p>
          <a:p>
            <a:pPr marL="1188720" lvl="3" indent="-210312">
              <a:spcAft>
                <a:spcPts val="0"/>
              </a:spcAft>
              <a:buClr>
                <a:schemeClr val="accent3"/>
              </a:buClr>
              <a:buFont typeface="Wingdings 2"/>
              <a:buChar char=""/>
              <a:defRPr/>
            </a:pPr>
            <a:r>
              <a:rPr lang="en-US" sz="2400" dirty="0"/>
              <a:t>Loses to banks, for ATM and transactions</a:t>
            </a:r>
          </a:p>
          <a:p>
            <a:pPr lvl="2" indent="-246888">
              <a:spcAft>
                <a:spcPts val="0"/>
              </a:spcAft>
              <a:buFont typeface="Wingdings 2"/>
              <a:buChar char=""/>
              <a:defRPr/>
            </a:pPr>
            <a:endParaRPr lang="en-US" dirty="0"/>
          </a:p>
        </p:txBody>
      </p:sp>
    </p:spTree>
    <p:extLst>
      <p:ext uri="{BB962C8B-B14F-4D97-AF65-F5344CB8AC3E}">
        <p14:creationId xmlns:p14="http://schemas.microsoft.com/office/powerpoint/2010/main" val="24064875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defRPr/>
            </a:pPr>
            <a:r>
              <a:rPr lang="en-US" dirty="0"/>
              <a:t>Pentium Bug</a:t>
            </a:r>
          </a:p>
        </p:txBody>
      </p:sp>
      <p:sp>
        <p:nvSpPr>
          <p:cNvPr id="9219" name="Content Placeholder 2"/>
          <p:cNvSpPr>
            <a:spLocks noGrp="1"/>
          </p:cNvSpPr>
          <p:nvPr>
            <p:ph idx="1"/>
          </p:nvPr>
        </p:nvSpPr>
        <p:spPr/>
        <p:txBody>
          <a:bodyPr>
            <a:normAutofit/>
          </a:bodyPr>
          <a:lstStyle/>
          <a:p>
            <a:pPr lvl="1"/>
            <a:r>
              <a:rPr lang="en-US" sz="2400" dirty="0"/>
              <a:t>Pentium bug</a:t>
            </a:r>
          </a:p>
          <a:p>
            <a:pPr lvl="2"/>
            <a:r>
              <a:rPr lang="en-US" sz="2400" dirty="0"/>
              <a:t> software error in microcode of Pentium microprocessor, which resulted in error of floating point calculations problems.</a:t>
            </a:r>
          </a:p>
          <a:p>
            <a:pPr lvl="2"/>
            <a:r>
              <a:rPr lang="en-US" sz="2400" dirty="0"/>
              <a:t>Intel had to take back all the Pentiums, and it caused huge financial loss</a:t>
            </a:r>
          </a:p>
          <a:p>
            <a:pPr lvl="1">
              <a:buFont typeface="Wingdings 2" pitchFamily="18" charset="2"/>
              <a:buNone/>
            </a:pPr>
            <a:endParaRPr lang="en-US" sz="2400" dirty="0"/>
          </a:p>
        </p:txBody>
      </p:sp>
    </p:spTree>
    <p:extLst>
      <p:ext uri="{BB962C8B-B14F-4D97-AF65-F5344CB8AC3E}">
        <p14:creationId xmlns:p14="http://schemas.microsoft.com/office/powerpoint/2010/main" val="41936114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t>Major Failures due to Software Bug</a:t>
            </a:r>
            <a:endParaRPr lang="en-US" sz="4000" dirty="0"/>
          </a:p>
        </p:txBody>
      </p:sp>
      <p:sp>
        <p:nvSpPr>
          <p:cNvPr id="3" name="Content Placeholder 2"/>
          <p:cNvSpPr>
            <a:spLocks noGrp="1"/>
          </p:cNvSpPr>
          <p:nvPr>
            <p:ph idx="1"/>
          </p:nvPr>
        </p:nvSpPr>
        <p:spPr/>
        <p:txBody>
          <a:bodyPr>
            <a:normAutofit fontScale="92500"/>
          </a:bodyPr>
          <a:lstStyle/>
          <a:p>
            <a:r>
              <a:rPr lang="en-US" b="1" dirty="0"/>
              <a:t>Therac-25 Radiation Overdoses (1985-1987)</a:t>
            </a:r>
            <a:r>
              <a:rPr lang="en-US" dirty="0"/>
              <a:t>: A software bug in the Therac-25 radiation therapy machine caused patients to receive lethal doses of radiation, leading to several deaths and injuries.</a:t>
            </a:r>
          </a:p>
          <a:p>
            <a:r>
              <a:rPr lang="en-US" b="1" dirty="0"/>
              <a:t>Ariane 5 Flight 501 (1996)</a:t>
            </a:r>
            <a:r>
              <a:rPr lang="en-US" dirty="0"/>
              <a:t>: The Ariane 5 rocket's maiden flight ended in failure due to a software bug in the guidance system, causing the rocket to self-destruct shortly after liftoff.</a:t>
            </a:r>
          </a:p>
          <a:p>
            <a:r>
              <a:rPr lang="en-US" b="1" dirty="0"/>
              <a:t>Patriot Missile Failure in Dhahran (1991)</a:t>
            </a:r>
            <a:r>
              <a:rPr lang="en-US" dirty="0"/>
              <a:t>: A software bug in the Patriot missile defense system caused it to incorrectly calculate the time, leading to the failure to intercept an incoming Scud missile during the Gulf War, resulting in 28 deaths and many injuries.</a:t>
            </a:r>
          </a:p>
          <a:p>
            <a:r>
              <a:rPr lang="en-US" b="1" dirty="0"/>
              <a:t>NASA Mars Climate Orbiter (1999)</a:t>
            </a:r>
            <a:r>
              <a:rPr lang="en-US" dirty="0"/>
              <a:t>: The Mars Climate Orbiter mission failed due to a software bug that caused the spacecraft to approach Mars at too low an altitude, leading to its destruction upon entry into the Martian atmosphere.</a:t>
            </a:r>
          </a:p>
          <a:p>
            <a:r>
              <a:rPr lang="en-US" b="1" dirty="0"/>
              <a:t>Knight Capital Group Trading Loss (2012)</a:t>
            </a:r>
            <a:r>
              <a:rPr lang="en-US" dirty="0"/>
              <a:t>: A software bug in Knight Capital Group's trading algorithm caused the firm to incur a loss of $440 million in just 45 minutes, nearly bankrupting the company.</a:t>
            </a:r>
          </a:p>
        </p:txBody>
      </p:sp>
    </p:spTree>
    <p:extLst>
      <p:ext uri="{BB962C8B-B14F-4D97-AF65-F5344CB8AC3E}">
        <p14:creationId xmlns:p14="http://schemas.microsoft.com/office/powerpoint/2010/main" val="39485641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t>Major Failures due to Software Bug</a:t>
            </a:r>
          </a:p>
        </p:txBody>
      </p:sp>
      <p:sp>
        <p:nvSpPr>
          <p:cNvPr id="3" name="Content Placeholder 2"/>
          <p:cNvSpPr>
            <a:spLocks noGrp="1"/>
          </p:cNvSpPr>
          <p:nvPr>
            <p:ph idx="1"/>
          </p:nvPr>
        </p:nvSpPr>
        <p:spPr/>
        <p:txBody>
          <a:bodyPr>
            <a:normAutofit/>
          </a:bodyPr>
          <a:lstStyle/>
          <a:p>
            <a:r>
              <a:rPr lang="en-US" b="1" dirty="0"/>
              <a:t>Heartbleed Bug (2014)</a:t>
            </a:r>
            <a:r>
              <a:rPr lang="en-US" dirty="0"/>
              <a:t>: The Heartbleed bug, a serious vulnerability in the OpenSSL cryptographic software library, exposed sensitive information such as usernames, passwords, and encryption keys, affecting millions of websites and servers worldwide.</a:t>
            </a:r>
          </a:p>
          <a:p>
            <a:r>
              <a:rPr lang="en-US" b="1" dirty="0"/>
              <a:t>Equifax Data Breach (2017)</a:t>
            </a:r>
            <a:r>
              <a:rPr lang="en-US" dirty="0"/>
              <a:t>: A software vulnerability in Equifax's website allowed hackers to access the personal information of approximately 147 million consumers, including names, Social Security numbers, birthdates, and addresses.</a:t>
            </a:r>
          </a:p>
          <a:p>
            <a:r>
              <a:rPr lang="en-US" b="1" dirty="0"/>
              <a:t>NASA Mars Polar Lander (1999)</a:t>
            </a:r>
            <a:r>
              <a:rPr lang="en-US" dirty="0"/>
              <a:t>: The Mars Polar Lander mission failed due to a software bug in the spacecraft's landing radar software, which prematurely shut off the descent engines, causing the lander to crash on the Martian surface.</a:t>
            </a:r>
          </a:p>
          <a:p>
            <a:r>
              <a:rPr lang="en-US" b="1" dirty="0"/>
              <a:t>Sony PlayStation Network Outage (2011)</a:t>
            </a:r>
            <a:r>
              <a:rPr lang="en-US" dirty="0"/>
              <a:t>: A software bug and subsequent cyber attack on Sony's PlayStation Network resulted in the theft of personal information from approximately 77 million user accounts and a 23-day outage of the network.</a:t>
            </a:r>
          </a:p>
        </p:txBody>
      </p:sp>
    </p:spTree>
    <p:extLst>
      <p:ext uri="{BB962C8B-B14F-4D97-AF65-F5344CB8AC3E}">
        <p14:creationId xmlns:p14="http://schemas.microsoft.com/office/powerpoint/2010/main" val="35433862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Major Failures due to Software Bug in Last 5 Years</a:t>
            </a:r>
            <a:endParaRPr lang="en-US" dirty="0"/>
          </a:p>
        </p:txBody>
      </p:sp>
      <p:sp>
        <p:nvSpPr>
          <p:cNvPr id="3" name="Content Placeholder 2"/>
          <p:cNvSpPr>
            <a:spLocks noGrp="1"/>
          </p:cNvSpPr>
          <p:nvPr>
            <p:ph idx="1"/>
          </p:nvPr>
        </p:nvSpPr>
        <p:spPr/>
        <p:txBody>
          <a:bodyPr>
            <a:normAutofit fontScale="85000" lnSpcReduction="10000"/>
          </a:bodyPr>
          <a:lstStyle/>
          <a:p>
            <a:r>
              <a:rPr lang="en-US" b="1" dirty="0"/>
              <a:t>WhatsApp Outage (2021)</a:t>
            </a:r>
            <a:r>
              <a:rPr lang="en-US" dirty="0"/>
              <a:t>: A software bug caused a global outage of the WhatsApp messaging service, preventing millions of users from sending or receiving messages for several hours, disrupting communication and causing inconvenience.</a:t>
            </a:r>
          </a:p>
          <a:p>
            <a:r>
              <a:rPr lang="en-US" b="1" dirty="0"/>
              <a:t>Facebook Data Leak (2019)</a:t>
            </a:r>
            <a:r>
              <a:rPr lang="en-US" dirty="0"/>
              <a:t>: A software bug in Facebook's photo API allowed third-party apps to access the private photos of millions of users without their consent, leading to a significant data privacy breach and regulatory scrutiny.</a:t>
            </a:r>
          </a:p>
          <a:p>
            <a:r>
              <a:rPr lang="en-US" b="1" dirty="0"/>
              <a:t>T-Mobile Network Outage (2020)</a:t>
            </a:r>
            <a:r>
              <a:rPr lang="en-US" dirty="0"/>
              <a:t>: A software bug in T-Mobile's network caused a widespread outage affecting voice and data services for millions of customers across the United States, disrupting communication and connectivity.</a:t>
            </a:r>
          </a:p>
          <a:p>
            <a:r>
              <a:rPr lang="en-US" b="1" dirty="0"/>
              <a:t>Google Calendar Outage (2019)</a:t>
            </a:r>
            <a:r>
              <a:rPr lang="en-US" dirty="0"/>
              <a:t>: A software bug in Google Calendar caused a global outage of the service, preventing users from accessing their calendars, scheduling events, and receiving reminders, impacting productivity and causing inconvenience.</a:t>
            </a:r>
          </a:p>
          <a:p>
            <a:r>
              <a:rPr lang="en-US" b="1" dirty="0"/>
              <a:t>Garmin Ransomware Attack (2020)</a:t>
            </a:r>
            <a:r>
              <a:rPr lang="en-US" dirty="0"/>
              <a:t>: A software vulnerability in Garmin's network infrastructure led to a ransomware attack that encrypted the company's systems and disrupted its services, including GPS navigation, aviation, and fitness tracking, causing widespread service outages and financial losses.</a:t>
            </a:r>
          </a:p>
          <a:p>
            <a:endParaRPr lang="en-US" dirty="0"/>
          </a:p>
        </p:txBody>
      </p:sp>
    </p:spTree>
    <p:extLst>
      <p:ext uri="{BB962C8B-B14F-4D97-AF65-F5344CB8AC3E}">
        <p14:creationId xmlns:p14="http://schemas.microsoft.com/office/powerpoint/2010/main" val="1846331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Major Failures due to Software Bug in Last 5 Years</a:t>
            </a:r>
            <a:endParaRPr lang="en-US" dirty="0"/>
          </a:p>
        </p:txBody>
      </p:sp>
      <p:sp>
        <p:nvSpPr>
          <p:cNvPr id="3" name="Content Placeholder 2"/>
          <p:cNvSpPr>
            <a:spLocks noGrp="1"/>
          </p:cNvSpPr>
          <p:nvPr>
            <p:ph idx="1"/>
          </p:nvPr>
        </p:nvSpPr>
        <p:spPr/>
        <p:txBody>
          <a:bodyPr>
            <a:normAutofit fontScale="85000" lnSpcReduction="10000"/>
          </a:bodyPr>
          <a:lstStyle/>
          <a:p>
            <a:r>
              <a:rPr lang="en-US" b="1" dirty="0"/>
              <a:t>Boeing 737 MAX MCAS System (2018-2019)</a:t>
            </a:r>
            <a:r>
              <a:rPr lang="en-US" dirty="0"/>
              <a:t>: As previously mentioned, faulty software in the Maneuvering Characteristics Augmentation System (MCAS) contributed to two fatal crashes involving Boeing 737 MAX aircraft, resulting in 346 deaths and the grounding of the entire fleet.</a:t>
            </a:r>
          </a:p>
          <a:p>
            <a:r>
              <a:rPr lang="en-US" b="1" dirty="0" err="1"/>
              <a:t>SolarWinds</a:t>
            </a:r>
            <a:r>
              <a:rPr lang="en-US" b="1" dirty="0"/>
              <a:t> Cyberattack (2020)</a:t>
            </a:r>
            <a:r>
              <a:rPr lang="en-US" dirty="0"/>
              <a:t>: A software vulnerability in </a:t>
            </a:r>
            <a:r>
              <a:rPr lang="en-US" dirty="0" err="1"/>
              <a:t>SolarWinds</a:t>
            </a:r>
            <a:r>
              <a:rPr lang="en-US" dirty="0"/>
              <a:t>' Orion platform allowed hackers to infiltrate the networks of numerous government agencies and corporations worldwide, including the U.S. government, resulting in one of the most significant cyber espionage incidents in history.</a:t>
            </a:r>
          </a:p>
          <a:p>
            <a:r>
              <a:rPr lang="en-US" b="1" dirty="0"/>
              <a:t>COVID-19 Vaccine Appointment System Failures (2021)</a:t>
            </a:r>
            <a:r>
              <a:rPr lang="en-US" dirty="0"/>
              <a:t>: Various instances of software bugs and technical issues plagued online appointment scheduling systems for COVID-19 vaccine distribution, causing delays, confusion, and frustration among users in several countries.</a:t>
            </a:r>
          </a:p>
          <a:p>
            <a:r>
              <a:rPr lang="en-US" b="1" dirty="0" err="1"/>
              <a:t>Robinhood</a:t>
            </a:r>
            <a:r>
              <a:rPr lang="en-US" b="1" dirty="0"/>
              <a:t> Trading Outage (2020)</a:t>
            </a:r>
            <a:r>
              <a:rPr lang="en-US" dirty="0"/>
              <a:t>: A software bug in the </a:t>
            </a:r>
            <a:r>
              <a:rPr lang="en-US" dirty="0" err="1"/>
              <a:t>Robinhood</a:t>
            </a:r>
            <a:r>
              <a:rPr lang="en-US" dirty="0"/>
              <a:t> trading platform led to a widespread outage during a period of high market volatility, preventing users from accessing their accounts and executing trades, resulting in significant financial losses for some investors.</a:t>
            </a:r>
          </a:p>
          <a:p>
            <a:r>
              <a:rPr lang="en-US" b="1" dirty="0"/>
              <a:t>UK National Health Service (NHS) Test and Trace App Issues (2020)</a:t>
            </a:r>
            <a:r>
              <a:rPr lang="en-US" dirty="0"/>
              <a:t>: The NHS Test and Trace app experienced software bugs and technical glitches, including inaccuracies in contact tracing notifications and compatibility issues with certain smartphones, hindering its effectiveness in combating the spread of COVID-19.</a:t>
            </a:r>
          </a:p>
        </p:txBody>
      </p:sp>
    </p:spTree>
    <p:extLst>
      <p:ext uri="{BB962C8B-B14F-4D97-AF65-F5344CB8AC3E}">
        <p14:creationId xmlns:p14="http://schemas.microsoft.com/office/powerpoint/2010/main" val="38113309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r>
              <a:rPr lang="en-US" dirty="0"/>
              <a:t>Importance of Software </a:t>
            </a:r>
            <a:r>
              <a:rPr lang="en-US"/>
              <a:t>and Impact of Errors</a:t>
            </a:r>
          </a:p>
        </p:txBody>
      </p:sp>
      <p:sp>
        <p:nvSpPr>
          <p:cNvPr id="10243" name="Content Placeholder 2"/>
          <p:cNvSpPr>
            <a:spLocks noGrp="1"/>
          </p:cNvSpPr>
          <p:nvPr>
            <p:ph idx="1"/>
          </p:nvPr>
        </p:nvSpPr>
        <p:spPr/>
        <p:txBody>
          <a:bodyPr/>
          <a:lstStyle/>
          <a:p>
            <a:r>
              <a:rPr lang="en-US"/>
              <a:t>Software is present everywhere microwave oven, cars and software use is expanded.</a:t>
            </a:r>
          </a:p>
          <a:p>
            <a:r>
              <a:rPr lang="en-US"/>
              <a:t>That means a small software error can cause your microwave oven to explode, where system failure can cause losses more than the system itself.</a:t>
            </a:r>
          </a:p>
          <a:p>
            <a:r>
              <a:rPr lang="en-US"/>
              <a:t>A software problem can cause life loses.</a:t>
            </a:r>
          </a:p>
          <a:p>
            <a:r>
              <a:rPr lang="en-US"/>
              <a:t>We have to be careful for the use of such systems, where loss of life is a bigger loss.</a:t>
            </a:r>
          </a:p>
          <a:p>
            <a:endParaRPr lang="en-US"/>
          </a:p>
        </p:txBody>
      </p:sp>
    </p:spTree>
    <p:extLst>
      <p:ext uri="{BB962C8B-B14F-4D97-AF65-F5344CB8AC3E}">
        <p14:creationId xmlns:p14="http://schemas.microsoft.com/office/powerpoint/2010/main" val="39962730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Types of Errors</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9476395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noFill/>
          <a:ln/>
        </p:spPr>
        <p:txBody>
          <a:bodyPr vert="horz" lIns="90488" tIns="44450" rIns="90488" bIns="44450" rtlCol="0" anchor="ctr">
            <a:normAutofit/>
          </a:bodyPr>
          <a:lstStyle/>
          <a:p>
            <a:r>
              <a:rPr lang="en-US"/>
              <a:t>Types of Requirements Errors</a:t>
            </a:r>
          </a:p>
        </p:txBody>
      </p:sp>
      <p:sp>
        <p:nvSpPr>
          <p:cNvPr id="26627" name="Rectangle 3"/>
          <p:cNvSpPr>
            <a:spLocks noGrp="1" noChangeArrowheads="1"/>
          </p:cNvSpPr>
          <p:nvPr>
            <p:ph idx="1"/>
          </p:nvPr>
        </p:nvSpPr>
        <p:spPr>
          <a:noFill/>
          <a:ln/>
        </p:spPr>
        <p:txBody>
          <a:bodyPr vert="horz" lIns="90488" tIns="44450" rIns="90488" bIns="44450" rtlCol="0">
            <a:normAutofit lnSpcReduction="10000"/>
          </a:bodyPr>
          <a:lstStyle/>
          <a:p>
            <a:r>
              <a:rPr lang="en-US" sz="3200" dirty="0"/>
              <a:t>Errors of omission</a:t>
            </a:r>
          </a:p>
          <a:p>
            <a:endParaRPr lang="en-US" sz="3200" dirty="0"/>
          </a:p>
          <a:p>
            <a:r>
              <a:rPr lang="en-US" sz="3200" dirty="0"/>
              <a:t>Errors of commission</a:t>
            </a:r>
          </a:p>
          <a:p>
            <a:endParaRPr lang="en-US" sz="3200" dirty="0"/>
          </a:p>
          <a:p>
            <a:r>
              <a:rPr lang="en-US" sz="3200" dirty="0"/>
              <a:t>Errors of clarity and ambiguity</a:t>
            </a:r>
          </a:p>
          <a:p>
            <a:endParaRPr lang="en-US" sz="3200" dirty="0"/>
          </a:p>
          <a:p>
            <a:r>
              <a:rPr lang="en-US" sz="3200" dirty="0"/>
              <a:t>Errors of speed and capacity</a:t>
            </a:r>
          </a:p>
          <a:p>
            <a:endParaRPr lang="en-US" sz="3200" b="1" dirty="0"/>
          </a:p>
        </p:txBody>
      </p:sp>
      <p:sp>
        <p:nvSpPr>
          <p:cNvPr id="5" name="Slide Number Placeholder 5"/>
          <p:cNvSpPr>
            <a:spLocks noGrp="1"/>
          </p:cNvSpPr>
          <p:nvPr>
            <p:ph type="sldNum" sz="quarter" idx="12"/>
          </p:nvPr>
        </p:nvSpPr>
        <p:spPr/>
        <p:txBody>
          <a:bodyPr/>
          <a:lstStyle/>
          <a:p>
            <a:fld id="{2A517FBF-CADD-4FD0-974E-ECBA46CFEED5}" type="slidenum">
              <a:rPr lang="en-US"/>
              <a:pPr/>
              <a:t>11</a:t>
            </a:fld>
            <a:endParaRPr lang="en-US"/>
          </a:p>
        </p:txBody>
      </p:sp>
    </p:spTree>
    <p:extLst>
      <p:ext uri="{BB962C8B-B14F-4D97-AF65-F5344CB8AC3E}">
        <p14:creationId xmlns:p14="http://schemas.microsoft.com/office/powerpoint/2010/main" val="2969848041"/>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noFill/>
          <a:ln/>
        </p:spPr>
        <p:txBody>
          <a:bodyPr vert="horz" lIns="90488" tIns="44450" rIns="90488" bIns="44450" rtlCol="0" anchor="ctr">
            <a:normAutofit/>
          </a:bodyPr>
          <a:lstStyle/>
          <a:p>
            <a:r>
              <a:rPr lang="en-US"/>
              <a:t>Errors of Omission</a:t>
            </a:r>
          </a:p>
        </p:txBody>
      </p:sp>
      <p:sp>
        <p:nvSpPr>
          <p:cNvPr id="27651" name="Rectangle 3"/>
          <p:cNvSpPr>
            <a:spLocks noGrp="1" noChangeArrowheads="1"/>
          </p:cNvSpPr>
          <p:nvPr>
            <p:ph idx="1"/>
          </p:nvPr>
        </p:nvSpPr>
        <p:spPr>
          <a:noFill/>
          <a:ln/>
        </p:spPr>
        <p:txBody>
          <a:bodyPr vert="horz" lIns="90488" tIns="44450" rIns="90488" bIns="44450" rtlCol="0">
            <a:normAutofit/>
          </a:bodyPr>
          <a:lstStyle/>
          <a:p>
            <a:r>
              <a:rPr lang="en-US"/>
              <a:t>Errors of omission are most common among requirements errors</a:t>
            </a:r>
          </a:p>
          <a:p>
            <a:r>
              <a:rPr lang="en-US"/>
              <a:t>Domain experts easily forget to convey domain knowledge to requirements engineers, because they consider that to be obvious and implicit</a:t>
            </a:r>
          </a:p>
        </p:txBody>
      </p:sp>
      <p:sp>
        <p:nvSpPr>
          <p:cNvPr id="5" name="Slide Number Placeholder 5"/>
          <p:cNvSpPr>
            <a:spLocks noGrp="1"/>
          </p:cNvSpPr>
          <p:nvPr>
            <p:ph type="sldNum" sz="quarter" idx="12"/>
          </p:nvPr>
        </p:nvSpPr>
        <p:spPr/>
        <p:txBody>
          <a:bodyPr/>
          <a:lstStyle/>
          <a:p>
            <a:fld id="{A9895CC4-CC1B-48C5-9A68-D4E917B95ABA}" type="slidenum">
              <a:rPr lang="en-US"/>
              <a:pPr/>
              <a:t>12</a:t>
            </a:fld>
            <a:endParaRPr lang="en-US"/>
          </a:p>
        </p:txBody>
      </p:sp>
    </p:spTree>
    <p:extLst>
      <p:ext uri="{BB962C8B-B14F-4D97-AF65-F5344CB8AC3E}">
        <p14:creationId xmlns:p14="http://schemas.microsoft.com/office/powerpoint/2010/main" val="3663238931"/>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noFill/>
          <a:ln/>
        </p:spPr>
        <p:txBody>
          <a:bodyPr vert="horz" lIns="90488" tIns="44450" rIns="90488" bIns="44450" rtlCol="0" anchor="ctr">
            <a:normAutofit/>
          </a:bodyPr>
          <a:lstStyle/>
          <a:p>
            <a:r>
              <a:rPr lang="en-US"/>
              <a:t>Errors of Clarity and Ambiguity</a:t>
            </a:r>
          </a:p>
        </p:txBody>
      </p:sp>
      <p:sp>
        <p:nvSpPr>
          <p:cNvPr id="28675" name="Rectangle 3"/>
          <p:cNvSpPr>
            <a:spLocks noGrp="1" noChangeArrowheads="1"/>
          </p:cNvSpPr>
          <p:nvPr>
            <p:ph idx="1"/>
          </p:nvPr>
        </p:nvSpPr>
        <p:spPr>
          <a:noFill/>
          <a:ln/>
        </p:spPr>
        <p:txBody>
          <a:bodyPr vert="horz" lIns="90488" tIns="44450" rIns="90488" bIns="44450" rtlCol="0">
            <a:normAutofit/>
          </a:bodyPr>
          <a:lstStyle/>
          <a:p>
            <a:pPr>
              <a:lnSpc>
                <a:spcPct val="90000"/>
              </a:lnSpc>
            </a:pPr>
            <a:r>
              <a:rPr lang="en-US"/>
              <a:t>Second most common errors are those of clarity and ambiguity</a:t>
            </a:r>
          </a:p>
          <a:p>
            <a:pPr>
              <a:lnSpc>
                <a:spcPct val="90000"/>
              </a:lnSpc>
            </a:pPr>
            <a:r>
              <a:rPr lang="en-US"/>
              <a:t>Primarily, because natural languages (like English) are used to state requirements, while such languages are themselves ambiguous</a:t>
            </a:r>
          </a:p>
          <a:p>
            <a:pPr>
              <a:lnSpc>
                <a:spcPct val="90000"/>
              </a:lnSpc>
            </a:pPr>
            <a:r>
              <a:rPr lang="en-US"/>
              <a:t>For example: object </a:t>
            </a:r>
          </a:p>
        </p:txBody>
      </p:sp>
      <p:sp>
        <p:nvSpPr>
          <p:cNvPr id="5" name="Slide Number Placeholder 5"/>
          <p:cNvSpPr>
            <a:spLocks noGrp="1"/>
          </p:cNvSpPr>
          <p:nvPr>
            <p:ph type="sldNum" sz="quarter" idx="12"/>
          </p:nvPr>
        </p:nvSpPr>
        <p:spPr/>
        <p:txBody>
          <a:bodyPr/>
          <a:lstStyle/>
          <a:p>
            <a:fld id="{2640300F-076C-40E6-A02D-DB26ACC794E7}" type="slidenum">
              <a:rPr lang="en-US"/>
              <a:pPr/>
              <a:t>13</a:t>
            </a:fld>
            <a:endParaRPr lang="en-US"/>
          </a:p>
        </p:txBody>
      </p:sp>
    </p:spTree>
    <p:extLst>
      <p:ext uri="{BB962C8B-B14F-4D97-AF65-F5344CB8AC3E}">
        <p14:creationId xmlns:p14="http://schemas.microsoft.com/office/powerpoint/2010/main" val="2412044"/>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1026"/>
          <p:cNvSpPr>
            <a:spLocks noGrp="1" noChangeArrowheads="1"/>
          </p:cNvSpPr>
          <p:nvPr>
            <p:ph type="title"/>
          </p:nvPr>
        </p:nvSpPr>
        <p:spPr/>
        <p:txBody>
          <a:bodyPr/>
          <a:lstStyle/>
          <a:p>
            <a:r>
              <a:rPr lang="en-US"/>
              <a:t>Errors of Commission</a:t>
            </a:r>
          </a:p>
        </p:txBody>
      </p:sp>
      <p:sp>
        <p:nvSpPr>
          <p:cNvPr id="150531" name="Rectangle 1027"/>
          <p:cNvSpPr>
            <a:spLocks noGrp="1" noChangeArrowheads="1"/>
          </p:cNvSpPr>
          <p:nvPr>
            <p:ph idx="1"/>
          </p:nvPr>
        </p:nvSpPr>
        <p:spPr/>
        <p:txBody>
          <a:bodyPr/>
          <a:lstStyle/>
          <a:p>
            <a:r>
              <a:rPr lang="en-US"/>
              <a:t>Errors of commission can also find their way into the requirements documents</a:t>
            </a:r>
          </a:p>
          <a:p>
            <a:endParaRPr lang="en-US"/>
          </a:p>
        </p:txBody>
      </p:sp>
      <p:sp>
        <p:nvSpPr>
          <p:cNvPr id="5" name="Slide Number Placeholder 5"/>
          <p:cNvSpPr>
            <a:spLocks noGrp="1"/>
          </p:cNvSpPr>
          <p:nvPr>
            <p:ph type="sldNum" sz="quarter" idx="12"/>
          </p:nvPr>
        </p:nvSpPr>
        <p:spPr/>
        <p:txBody>
          <a:bodyPr/>
          <a:lstStyle/>
          <a:p>
            <a:fld id="{30A1DBD1-0364-4C20-8951-082B5AC69C98}" type="slidenum">
              <a:rPr lang="en-US"/>
              <a:pPr/>
              <a:t>14</a:t>
            </a:fld>
            <a:endParaRPr lang="en-US"/>
          </a:p>
        </p:txBody>
      </p:sp>
    </p:spTree>
    <p:extLst>
      <p:ext uri="{BB962C8B-B14F-4D97-AF65-F5344CB8AC3E}">
        <p14:creationId xmlns:p14="http://schemas.microsoft.com/office/powerpoint/2010/main" val="28280046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noFill/>
          <a:ln/>
        </p:spPr>
        <p:txBody>
          <a:bodyPr vert="horz" lIns="90488" tIns="44450" rIns="90488" bIns="44450" rtlCol="0" anchor="ctr">
            <a:normAutofit/>
          </a:bodyPr>
          <a:lstStyle/>
          <a:p>
            <a:r>
              <a:rPr lang="en-US" dirty="0"/>
              <a:t>Performance </a:t>
            </a:r>
            <a:r>
              <a:rPr lang="en-US"/>
              <a:t>Errors </a:t>
            </a:r>
            <a:br>
              <a:rPr lang="en-US"/>
            </a:br>
            <a:r>
              <a:rPr lang="en-US"/>
              <a:t>(errors </a:t>
            </a:r>
            <a:r>
              <a:rPr lang="en-US" dirty="0"/>
              <a:t>of speed and capacity)</a:t>
            </a:r>
          </a:p>
        </p:txBody>
      </p:sp>
      <p:sp>
        <p:nvSpPr>
          <p:cNvPr id="29699" name="Rectangle 3"/>
          <p:cNvSpPr>
            <a:spLocks noGrp="1" noChangeArrowheads="1"/>
          </p:cNvSpPr>
          <p:nvPr>
            <p:ph idx="1"/>
          </p:nvPr>
        </p:nvSpPr>
        <p:spPr>
          <a:noFill/>
          <a:ln/>
        </p:spPr>
        <p:txBody>
          <a:bodyPr vert="horz" lIns="90488" tIns="44450" rIns="90488" bIns="44450" rtlCol="0">
            <a:normAutofit/>
          </a:bodyPr>
          <a:lstStyle/>
          <a:p>
            <a:r>
              <a:rPr lang="en-US" dirty="0"/>
              <a:t>Performance, that is errors of speed and capacity, are also found in requirements</a:t>
            </a:r>
          </a:p>
          <a:p>
            <a:r>
              <a:rPr lang="en-US" dirty="0"/>
              <a:t>Primarily, these occur due to conflicting understanding or competing needs of different stakeholders</a:t>
            </a:r>
          </a:p>
        </p:txBody>
      </p:sp>
      <p:sp>
        <p:nvSpPr>
          <p:cNvPr id="5" name="Slide Number Placeholder 5"/>
          <p:cNvSpPr>
            <a:spLocks noGrp="1"/>
          </p:cNvSpPr>
          <p:nvPr>
            <p:ph type="sldNum" sz="quarter" idx="12"/>
          </p:nvPr>
        </p:nvSpPr>
        <p:spPr/>
        <p:txBody>
          <a:bodyPr/>
          <a:lstStyle/>
          <a:p>
            <a:fld id="{5C1BBF6F-DB5F-42F9-AE84-91D8BE792328}" type="slidenum">
              <a:rPr lang="en-US"/>
              <a:pPr/>
              <a:t>15</a:t>
            </a:fld>
            <a:endParaRPr lang="en-US"/>
          </a:p>
        </p:txBody>
      </p:sp>
    </p:spTree>
    <p:extLst>
      <p:ext uri="{BB962C8B-B14F-4D97-AF65-F5344CB8AC3E}">
        <p14:creationId xmlns:p14="http://schemas.microsoft.com/office/powerpoint/2010/main" val="2550531027"/>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E1346-819C-FE13-CB59-7DCECCF9DD53}"/>
              </a:ext>
            </a:extLst>
          </p:cNvPr>
          <p:cNvSpPr>
            <a:spLocks noGrp="1"/>
          </p:cNvSpPr>
          <p:nvPr>
            <p:ph type="title"/>
          </p:nvPr>
        </p:nvSpPr>
        <p:spPr/>
        <p:txBody>
          <a:bodyPr/>
          <a:lstStyle/>
          <a:p>
            <a:r>
              <a:rPr lang="en-US" dirty="0"/>
              <a:t>Severity Levels</a:t>
            </a:r>
          </a:p>
        </p:txBody>
      </p:sp>
      <p:sp>
        <p:nvSpPr>
          <p:cNvPr id="3" name="Content Placeholder 2">
            <a:extLst>
              <a:ext uri="{FF2B5EF4-FFF2-40B4-BE49-F238E27FC236}">
                <a16:creationId xmlns:a16="http://schemas.microsoft.com/office/drawing/2014/main" id="{D8B5BB0B-FC49-5C60-D52A-78D0BA4CD883}"/>
              </a:ext>
            </a:extLst>
          </p:cNvPr>
          <p:cNvSpPr>
            <a:spLocks noGrp="1"/>
          </p:cNvSpPr>
          <p:nvPr>
            <p:ph idx="1"/>
          </p:nvPr>
        </p:nvSpPr>
        <p:spPr/>
        <p:txBody>
          <a:bodyPr>
            <a:normAutofit fontScale="70000" lnSpcReduction="20000"/>
          </a:bodyPr>
          <a:lstStyle/>
          <a:p>
            <a:r>
              <a:rPr lang="en-US" b="1" dirty="0"/>
              <a:t>1. Critical (or Blocker) Severity</a:t>
            </a:r>
            <a:endParaRPr lang="en-US" dirty="0"/>
          </a:p>
          <a:p>
            <a:r>
              <a:rPr lang="en-US" b="1" dirty="0"/>
              <a:t>Definition:</a:t>
            </a:r>
            <a:br>
              <a:rPr lang="en-US" dirty="0"/>
            </a:br>
            <a:r>
              <a:rPr lang="en-US" dirty="0"/>
              <a:t>A defect that causes a </a:t>
            </a:r>
            <a:r>
              <a:rPr lang="en-US" b="1" dirty="0"/>
              <a:t>complete failure of the system or major functionality</a:t>
            </a:r>
            <a:r>
              <a:rPr lang="en-US" dirty="0"/>
              <a:t>, making it </a:t>
            </a:r>
            <a:r>
              <a:rPr lang="en-US" b="1" dirty="0"/>
              <a:t>impossible to proceed with testing or usage</a:t>
            </a:r>
            <a:r>
              <a:rPr lang="en-US" dirty="0"/>
              <a:t>.</a:t>
            </a:r>
          </a:p>
          <a:p>
            <a:r>
              <a:rPr lang="en-US" b="1" dirty="0"/>
              <a:t>Impact:</a:t>
            </a:r>
            <a:endParaRPr lang="en-US" dirty="0"/>
          </a:p>
          <a:p>
            <a:pPr lvl="0"/>
            <a:r>
              <a:rPr lang="en-US" dirty="0"/>
              <a:t>The system crashes or data is lost.</a:t>
            </a:r>
          </a:p>
          <a:p>
            <a:pPr lvl="0"/>
            <a:r>
              <a:rPr lang="en-US" dirty="0"/>
              <a:t>No workaround is available.</a:t>
            </a:r>
          </a:p>
          <a:p>
            <a:pPr lvl="0"/>
            <a:r>
              <a:rPr lang="en-US" dirty="0"/>
              <a:t>Testing or operations cannot continue until it’s fixed.</a:t>
            </a:r>
          </a:p>
          <a:p>
            <a:r>
              <a:rPr lang="en-US" b="1" dirty="0"/>
              <a:t>Examples:</a:t>
            </a:r>
            <a:endParaRPr lang="en-US" dirty="0"/>
          </a:p>
          <a:p>
            <a:pPr lvl="0"/>
            <a:r>
              <a:rPr lang="en-US" dirty="0"/>
              <a:t>Application does not launch.</a:t>
            </a:r>
          </a:p>
          <a:p>
            <a:pPr lvl="0"/>
            <a:r>
              <a:rPr lang="en-US" dirty="0"/>
              <a:t>Login function fails for all users.</a:t>
            </a:r>
          </a:p>
          <a:p>
            <a:pPr lvl="0"/>
            <a:r>
              <a:rPr lang="en-US" dirty="0"/>
              <a:t>System hangs or crashes on startup.</a:t>
            </a:r>
          </a:p>
          <a:p>
            <a:r>
              <a:rPr lang="en-US" b="1" dirty="0"/>
              <a:t>Action:</a:t>
            </a:r>
            <a:br>
              <a:rPr lang="en-US" dirty="0"/>
            </a:br>
            <a:r>
              <a:rPr lang="en-US" dirty="0"/>
              <a:t>Immediate attention required; fix urgently before release or further testing.</a:t>
            </a:r>
          </a:p>
        </p:txBody>
      </p:sp>
    </p:spTree>
    <p:extLst>
      <p:ext uri="{BB962C8B-B14F-4D97-AF65-F5344CB8AC3E}">
        <p14:creationId xmlns:p14="http://schemas.microsoft.com/office/powerpoint/2010/main" val="17300572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782FD-342A-3A96-79F5-D614F70FE72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B5992AD-EF7E-79FE-5726-D0B0DA7CC32A}"/>
              </a:ext>
            </a:extLst>
          </p:cNvPr>
          <p:cNvSpPr>
            <a:spLocks noGrp="1"/>
          </p:cNvSpPr>
          <p:nvPr>
            <p:ph idx="1"/>
          </p:nvPr>
        </p:nvSpPr>
        <p:spPr/>
        <p:txBody>
          <a:bodyPr>
            <a:normAutofit fontScale="85000" lnSpcReduction="20000"/>
          </a:bodyPr>
          <a:lstStyle/>
          <a:p>
            <a:r>
              <a:rPr lang="en-US" b="1" dirty="0"/>
              <a:t>2. Major (or High) Severity</a:t>
            </a:r>
            <a:endParaRPr lang="en-US" dirty="0"/>
          </a:p>
          <a:p>
            <a:r>
              <a:rPr lang="en-US" b="1" dirty="0"/>
              <a:t>Definition:</a:t>
            </a:r>
            <a:br>
              <a:rPr lang="en-US" dirty="0"/>
            </a:br>
            <a:r>
              <a:rPr lang="en-US" dirty="0"/>
              <a:t>A defect that </a:t>
            </a:r>
            <a:r>
              <a:rPr lang="en-US" b="1" dirty="0"/>
              <a:t>breaks a major part of the functionality</a:t>
            </a:r>
            <a:r>
              <a:rPr lang="en-US" dirty="0"/>
              <a:t>, but </a:t>
            </a:r>
            <a:r>
              <a:rPr lang="en-US" b="1" dirty="0"/>
              <a:t>the system is still partially usable</a:t>
            </a:r>
            <a:r>
              <a:rPr lang="en-US" dirty="0"/>
              <a:t>.</a:t>
            </a:r>
          </a:p>
          <a:p>
            <a:r>
              <a:rPr lang="en-US" b="1" dirty="0"/>
              <a:t>Impact:</a:t>
            </a:r>
            <a:endParaRPr lang="en-US" dirty="0"/>
          </a:p>
          <a:p>
            <a:pPr lvl="0"/>
            <a:r>
              <a:rPr lang="en-US" dirty="0"/>
              <a:t>A key feature fails, but the rest of the application works.</a:t>
            </a:r>
          </a:p>
          <a:p>
            <a:pPr lvl="0"/>
            <a:r>
              <a:rPr lang="en-US" dirty="0"/>
              <a:t>Workarounds may exist but are inconvenient.</a:t>
            </a:r>
          </a:p>
          <a:p>
            <a:r>
              <a:rPr lang="en-US" b="1" dirty="0"/>
              <a:t>Examples:</a:t>
            </a:r>
            <a:endParaRPr lang="en-US" dirty="0"/>
          </a:p>
          <a:p>
            <a:pPr lvl="0"/>
            <a:r>
              <a:rPr lang="en-US" dirty="0"/>
              <a:t>"Save" button not working on a form.</a:t>
            </a:r>
          </a:p>
          <a:p>
            <a:pPr lvl="0"/>
            <a:r>
              <a:rPr lang="en-US" dirty="0"/>
              <a:t>Incorrect calculations in core business logic.</a:t>
            </a:r>
          </a:p>
          <a:p>
            <a:pPr lvl="0"/>
            <a:r>
              <a:rPr lang="en-US" dirty="0"/>
              <a:t>Unable to generate essential reports.</a:t>
            </a:r>
          </a:p>
          <a:p>
            <a:r>
              <a:rPr lang="en-US" b="1" dirty="0"/>
              <a:t>Action:</a:t>
            </a:r>
            <a:br>
              <a:rPr lang="en-US" dirty="0"/>
            </a:br>
            <a:r>
              <a:rPr lang="en-US" dirty="0"/>
              <a:t>Fix should be prioritized; may block major features if not resolved.</a:t>
            </a:r>
          </a:p>
        </p:txBody>
      </p:sp>
    </p:spTree>
    <p:extLst>
      <p:ext uri="{BB962C8B-B14F-4D97-AF65-F5344CB8AC3E}">
        <p14:creationId xmlns:p14="http://schemas.microsoft.com/office/powerpoint/2010/main" val="33447296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D169C-CC2B-D407-1498-7272DBF021A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6210411-01BE-CFAF-8CE6-B3209CBDFBBB}"/>
              </a:ext>
            </a:extLst>
          </p:cNvPr>
          <p:cNvSpPr>
            <a:spLocks noGrp="1"/>
          </p:cNvSpPr>
          <p:nvPr>
            <p:ph idx="1"/>
          </p:nvPr>
        </p:nvSpPr>
        <p:spPr/>
        <p:txBody>
          <a:bodyPr>
            <a:normAutofit fontScale="85000" lnSpcReduction="20000"/>
          </a:bodyPr>
          <a:lstStyle/>
          <a:p>
            <a:r>
              <a:rPr lang="en-US" b="1" dirty="0"/>
              <a:t>3. Moderate (or Medium) Severity</a:t>
            </a:r>
            <a:endParaRPr lang="en-US" dirty="0"/>
          </a:p>
          <a:p>
            <a:r>
              <a:rPr lang="en-US" b="1" dirty="0"/>
              <a:t>Definition:</a:t>
            </a:r>
            <a:br>
              <a:rPr lang="en-US" dirty="0"/>
            </a:br>
            <a:r>
              <a:rPr lang="en-US" dirty="0"/>
              <a:t>A defect that </a:t>
            </a:r>
            <a:r>
              <a:rPr lang="en-US" b="1" dirty="0"/>
              <a:t>affects minor functionality or causes incorrect behavior</a:t>
            </a:r>
            <a:r>
              <a:rPr lang="en-US" dirty="0"/>
              <a:t>, but the </a:t>
            </a:r>
            <a:r>
              <a:rPr lang="en-US" b="1" dirty="0"/>
              <a:t>main features still work correctly</a:t>
            </a:r>
            <a:r>
              <a:rPr lang="en-US" dirty="0"/>
              <a:t>.</a:t>
            </a:r>
          </a:p>
          <a:p>
            <a:r>
              <a:rPr lang="en-US" b="1" dirty="0"/>
              <a:t>Impact:</a:t>
            </a:r>
            <a:endParaRPr lang="en-US" dirty="0"/>
          </a:p>
          <a:p>
            <a:pPr lvl="0"/>
            <a:r>
              <a:rPr lang="en-US" dirty="0"/>
              <a:t>The issue does not stop testing or main use.</a:t>
            </a:r>
          </a:p>
          <a:p>
            <a:pPr lvl="0"/>
            <a:r>
              <a:rPr lang="en-US" dirty="0"/>
              <a:t>Workarounds are usually available.</a:t>
            </a:r>
          </a:p>
          <a:p>
            <a:r>
              <a:rPr lang="en-US" b="1" dirty="0"/>
              <a:t>Examples:</a:t>
            </a:r>
            <a:endParaRPr lang="en-US" dirty="0"/>
          </a:p>
          <a:p>
            <a:pPr lvl="0"/>
            <a:r>
              <a:rPr lang="en-US" dirty="0"/>
              <a:t>Misalignment in a UI element.</a:t>
            </a:r>
          </a:p>
          <a:p>
            <a:pPr lvl="0"/>
            <a:r>
              <a:rPr lang="en-US" dirty="0"/>
              <a:t>Error message displays incorrect text.</a:t>
            </a:r>
          </a:p>
          <a:p>
            <a:pPr lvl="0"/>
            <a:r>
              <a:rPr lang="en-US" dirty="0"/>
              <a:t>Search results show partial but not complete data.</a:t>
            </a:r>
          </a:p>
          <a:p>
            <a:r>
              <a:rPr lang="en-US" b="1" dirty="0"/>
              <a:t>Action:</a:t>
            </a:r>
            <a:br>
              <a:rPr lang="en-US" dirty="0"/>
            </a:br>
            <a:r>
              <a:rPr lang="en-US" dirty="0"/>
              <a:t>Fix needed but not urgent; can be scheduled for a later release.</a:t>
            </a:r>
          </a:p>
        </p:txBody>
      </p:sp>
    </p:spTree>
    <p:extLst>
      <p:ext uri="{BB962C8B-B14F-4D97-AF65-F5344CB8AC3E}">
        <p14:creationId xmlns:p14="http://schemas.microsoft.com/office/powerpoint/2010/main" val="21079058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EC5E5-459F-F182-6311-F03A09F20F4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6AEF536-E2D0-0AC9-57E2-722F1FE95F41}"/>
              </a:ext>
            </a:extLst>
          </p:cNvPr>
          <p:cNvSpPr>
            <a:spLocks noGrp="1"/>
          </p:cNvSpPr>
          <p:nvPr>
            <p:ph idx="1"/>
          </p:nvPr>
        </p:nvSpPr>
        <p:spPr/>
        <p:txBody>
          <a:bodyPr>
            <a:normAutofit fontScale="77500" lnSpcReduction="20000"/>
          </a:bodyPr>
          <a:lstStyle/>
          <a:p>
            <a:br>
              <a:rPr lang="en-US" dirty="0"/>
            </a:br>
            <a:r>
              <a:rPr lang="en-US" b="1" dirty="0"/>
              <a:t>4. Minor (or Low) Severity</a:t>
            </a:r>
            <a:endParaRPr lang="en-US" dirty="0"/>
          </a:p>
          <a:p>
            <a:r>
              <a:rPr lang="en-US" b="1" dirty="0"/>
              <a:t>Definition:</a:t>
            </a:r>
            <a:br>
              <a:rPr lang="en-US" dirty="0"/>
            </a:br>
            <a:r>
              <a:rPr lang="en-US" dirty="0"/>
              <a:t>A defect that has </a:t>
            </a:r>
            <a:r>
              <a:rPr lang="en-US" b="1" dirty="0"/>
              <a:t>minimal impact</a:t>
            </a:r>
            <a:r>
              <a:rPr lang="en-US" dirty="0"/>
              <a:t> on functionality or user experience — usually </a:t>
            </a:r>
            <a:r>
              <a:rPr lang="en-US" b="1" dirty="0"/>
              <a:t>cosmetic or typographical errors</a:t>
            </a:r>
            <a:r>
              <a:rPr lang="en-US" dirty="0"/>
              <a:t>.</a:t>
            </a:r>
          </a:p>
          <a:p>
            <a:r>
              <a:rPr lang="en-US" b="1" dirty="0"/>
              <a:t>Impact:</a:t>
            </a:r>
            <a:endParaRPr lang="en-US" dirty="0"/>
          </a:p>
          <a:p>
            <a:pPr lvl="0"/>
            <a:r>
              <a:rPr lang="en-US" dirty="0"/>
              <a:t>System functionality is unaffected.</a:t>
            </a:r>
          </a:p>
          <a:p>
            <a:pPr lvl="0"/>
            <a:r>
              <a:rPr lang="en-US" dirty="0"/>
              <a:t>Only visual or presentation issues.</a:t>
            </a:r>
          </a:p>
          <a:p>
            <a:r>
              <a:rPr lang="en-US" b="1" dirty="0"/>
              <a:t>Examples:</a:t>
            </a:r>
            <a:endParaRPr lang="en-US" dirty="0"/>
          </a:p>
          <a:p>
            <a:pPr lvl="0"/>
            <a:r>
              <a:rPr lang="en-US" dirty="0"/>
              <a:t>Spelling mistakes in labels or tooltips.</a:t>
            </a:r>
          </a:p>
          <a:p>
            <a:pPr lvl="0"/>
            <a:r>
              <a:rPr lang="en-US" dirty="0"/>
              <a:t>Color mismatch in UI.</a:t>
            </a:r>
          </a:p>
          <a:p>
            <a:pPr lvl="0"/>
            <a:r>
              <a:rPr lang="en-US" dirty="0"/>
              <a:t>Minor alignment or spacing issues.</a:t>
            </a:r>
          </a:p>
          <a:p>
            <a:r>
              <a:rPr lang="en-US" b="1" dirty="0"/>
              <a:t>Action:</a:t>
            </a:r>
            <a:br>
              <a:rPr lang="en-US" dirty="0"/>
            </a:br>
            <a:r>
              <a:rPr lang="en-US" dirty="0"/>
              <a:t>Fix when convenient; often deferred to a later version.</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19215426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EA79A-2426-19AD-467B-DCFB27606177}"/>
              </a:ext>
            </a:extLst>
          </p:cNvPr>
          <p:cNvSpPr>
            <a:spLocks noGrp="1"/>
          </p:cNvSpPr>
          <p:nvPr>
            <p:ph type="title"/>
          </p:nvPr>
        </p:nvSpPr>
        <p:spPr>
          <a:xfrm>
            <a:off x="692727" y="286605"/>
            <a:ext cx="10462953" cy="1450757"/>
          </a:xfrm>
        </p:spPr>
        <p:txBody>
          <a:bodyPr/>
          <a:lstStyle/>
          <a:p>
            <a:r>
              <a:rPr lang="en-US" dirty="0"/>
              <a:t>Summary</a:t>
            </a:r>
          </a:p>
        </p:txBody>
      </p:sp>
      <p:graphicFrame>
        <p:nvGraphicFramePr>
          <p:cNvPr id="4" name="Content Placeholder 3">
            <a:extLst>
              <a:ext uri="{FF2B5EF4-FFF2-40B4-BE49-F238E27FC236}">
                <a16:creationId xmlns:a16="http://schemas.microsoft.com/office/drawing/2014/main" id="{68CD4202-C2E8-B49B-01ED-12950C3795F7}"/>
              </a:ext>
            </a:extLst>
          </p:cNvPr>
          <p:cNvGraphicFramePr>
            <a:graphicFrameLocks noGrp="1"/>
          </p:cNvGraphicFramePr>
          <p:nvPr>
            <p:ph idx="1"/>
            <p:extLst>
              <p:ext uri="{D42A27DB-BD31-4B8C-83A1-F6EECF244321}">
                <p14:modId xmlns:p14="http://schemas.microsoft.com/office/powerpoint/2010/main" val="3936967243"/>
              </p:ext>
            </p:extLst>
          </p:nvPr>
        </p:nvGraphicFramePr>
        <p:xfrm>
          <a:off x="314036" y="2013526"/>
          <a:ext cx="10841328" cy="3722255"/>
        </p:xfrm>
        <a:graphic>
          <a:graphicData uri="http://schemas.openxmlformats.org/drawingml/2006/table">
            <a:tbl>
              <a:tblPr firstRow="1" firstCol="1" bandRow="1">
                <a:tableStyleId>{5C22544A-7EE6-4342-B048-85BDC9FD1C3A}</a:tableStyleId>
              </a:tblPr>
              <a:tblGrid>
                <a:gridCol w="2710332">
                  <a:extLst>
                    <a:ext uri="{9D8B030D-6E8A-4147-A177-3AD203B41FA5}">
                      <a16:colId xmlns:a16="http://schemas.microsoft.com/office/drawing/2014/main" val="783191470"/>
                    </a:ext>
                  </a:extLst>
                </a:gridCol>
                <a:gridCol w="2710332">
                  <a:extLst>
                    <a:ext uri="{9D8B030D-6E8A-4147-A177-3AD203B41FA5}">
                      <a16:colId xmlns:a16="http://schemas.microsoft.com/office/drawing/2014/main" val="3184598598"/>
                    </a:ext>
                  </a:extLst>
                </a:gridCol>
                <a:gridCol w="2710332">
                  <a:extLst>
                    <a:ext uri="{9D8B030D-6E8A-4147-A177-3AD203B41FA5}">
                      <a16:colId xmlns:a16="http://schemas.microsoft.com/office/drawing/2014/main" val="935108303"/>
                    </a:ext>
                  </a:extLst>
                </a:gridCol>
                <a:gridCol w="2710332">
                  <a:extLst>
                    <a:ext uri="{9D8B030D-6E8A-4147-A177-3AD203B41FA5}">
                      <a16:colId xmlns:a16="http://schemas.microsoft.com/office/drawing/2014/main" val="2251708151"/>
                    </a:ext>
                  </a:extLst>
                </a:gridCol>
              </a:tblGrid>
              <a:tr h="744451">
                <a:tc>
                  <a:txBody>
                    <a:bodyPr/>
                    <a:lstStyle/>
                    <a:p>
                      <a:pPr marL="0" marR="0" algn="ctr">
                        <a:lnSpc>
                          <a:spcPct val="115000"/>
                        </a:lnSpc>
                        <a:spcAft>
                          <a:spcPts val="800"/>
                        </a:spcAft>
                        <a:buNone/>
                      </a:pPr>
                      <a:r>
                        <a:rPr lang="en-US" sz="1200" kern="100" dirty="0">
                          <a:effectLst/>
                        </a:rPr>
                        <a:t>Severity Level</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200" kern="100" dirty="0">
                          <a:effectLst/>
                        </a:rPr>
                        <a:t>Impact</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200" kern="100">
                          <a:effectLst/>
                        </a:rPr>
                        <a:t>Example</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200" kern="100">
                          <a:effectLst/>
                        </a:rPr>
                        <a:t>Fix Priority</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128105526"/>
                  </a:ext>
                </a:extLst>
              </a:tr>
              <a:tr h="744451">
                <a:tc>
                  <a:txBody>
                    <a:bodyPr/>
                    <a:lstStyle/>
                    <a:p>
                      <a:pPr marL="0" marR="0" algn="ctr">
                        <a:lnSpc>
                          <a:spcPct val="115000"/>
                        </a:lnSpc>
                        <a:spcAft>
                          <a:spcPts val="800"/>
                        </a:spcAft>
                        <a:buNone/>
                      </a:pPr>
                      <a:r>
                        <a:rPr lang="en-US" sz="1200" kern="100" dirty="0">
                          <a:effectLst/>
                        </a:rPr>
                        <a:t>Critical</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200" kern="100">
                          <a:effectLst/>
                        </a:rPr>
                        <a:t>System unusable or crashes</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200" kern="100">
                          <a:effectLst/>
                        </a:rPr>
                        <a:t>App fails to start</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200" kern="100">
                          <a:effectLst/>
                        </a:rPr>
                        <a:t>Immediate</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695456066"/>
                  </a:ext>
                </a:extLst>
              </a:tr>
              <a:tr h="744451">
                <a:tc>
                  <a:txBody>
                    <a:bodyPr/>
                    <a:lstStyle/>
                    <a:p>
                      <a:pPr marL="0" marR="0" algn="ctr">
                        <a:lnSpc>
                          <a:spcPct val="115000"/>
                        </a:lnSpc>
                        <a:spcAft>
                          <a:spcPts val="800"/>
                        </a:spcAft>
                        <a:buNone/>
                      </a:pPr>
                      <a:r>
                        <a:rPr lang="en-US" sz="1200" kern="100" dirty="0">
                          <a:effectLst/>
                        </a:rPr>
                        <a:t>Major</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200" kern="100">
                          <a:effectLst/>
                        </a:rPr>
                        <a:t>Major feature fails</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200" kern="100">
                          <a:effectLst/>
                        </a:rPr>
                        <a:t>Login works but cannot save data</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200" kern="100">
                          <a:effectLst/>
                        </a:rPr>
                        <a:t>High</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526123151"/>
                  </a:ext>
                </a:extLst>
              </a:tr>
              <a:tr h="744451">
                <a:tc>
                  <a:txBody>
                    <a:bodyPr/>
                    <a:lstStyle/>
                    <a:p>
                      <a:pPr marL="0" marR="0" algn="ctr">
                        <a:lnSpc>
                          <a:spcPct val="115000"/>
                        </a:lnSpc>
                        <a:spcAft>
                          <a:spcPts val="800"/>
                        </a:spcAft>
                        <a:buNone/>
                      </a:pPr>
                      <a:r>
                        <a:rPr lang="en-US" sz="1200" kern="100" dirty="0">
                          <a:effectLst/>
                        </a:rPr>
                        <a:t>Moderate</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200" kern="100">
                          <a:effectLst/>
                        </a:rPr>
                        <a:t>Minor feature affected</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200" kern="100">
                          <a:effectLst/>
                        </a:rPr>
                        <a:t>Incorrect error message</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200" kern="100">
                          <a:effectLst/>
                        </a:rPr>
                        <a:t>Medium</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023596839"/>
                  </a:ext>
                </a:extLst>
              </a:tr>
              <a:tr h="744451">
                <a:tc>
                  <a:txBody>
                    <a:bodyPr/>
                    <a:lstStyle/>
                    <a:p>
                      <a:pPr marL="0" marR="0" algn="ctr">
                        <a:lnSpc>
                          <a:spcPct val="115000"/>
                        </a:lnSpc>
                        <a:spcAft>
                          <a:spcPts val="800"/>
                        </a:spcAft>
                        <a:buNone/>
                      </a:pPr>
                      <a:r>
                        <a:rPr lang="en-US" sz="1200" kern="100" dirty="0">
                          <a:effectLst/>
                        </a:rPr>
                        <a:t>Minor</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200" kern="100" dirty="0">
                          <a:effectLst/>
                        </a:rPr>
                        <a:t>Cosmetic or trivial</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200" kern="100" dirty="0">
                          <a:effectLst/>
                        </a:rPr>
                        <a:t>Spelling error in UI</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200" kern="100" dirty="0">
                          <a:effectLst/>
                        </a:rPr>
                        <a:t>Low</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71481160"/>
                  </a:ext>
                </a:extLst>
              </a:tr>
            </a:tbl>
          </a:graphicData>
        </a:graphic>
      </p:graphicFrame>
    </p:spTree>
    <p:extLst>
      <p:ext uri="{BB962C8B-B14F-4D97-AF65-F5344CB8AC3E}">
        <p14:creationId xmlns:p14="http://schemas.microsoft.com/office/powerpoint/2010/main" val="13427515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58F9B-6F45-250C-0A27-74FC2EE370F9}"/>
              </a:ext>
            </a:extLst>
          </p:cNvPr>
          <p:cNvSpPr>
            <a:spLocks noGrp="1"/>
          </p:cNvSpPr>
          <p:nvPr>
            <p:ph type="title"/>
          </p:nvPr>
        </p:nvSpPr>
        <p:spPr/>
        <p:txBody>
          <a:bodyPr/>
          <a:lstStyle/>
          <a:p>
            <a:r>
              <a:rPr lang="en-US" dirty="0"/>
              <a:t>Other ways to classify Errors (By Sources)</a:t>
            </a:r>
          </a:p>
        </p:txBody>
      </p:sp>
      <p:sp>
        <p:nvSpPr>
          <p:cNvPr id="3" name="Content Placeholder 2">
            <a:extLst>
              <a:ext uri="{FF2B5EF4-FFF2-40B4-BE49-F238E27FC236}">
                <a16:creationId xmlns:a16="http://schemas.microsoft.com/office/drawing/2014/main" id="{5BFDF8BD-50AD-4D53-FE20-621A613BD1C2}"/>
              </a:ext>
            </a:extLst>
          </p:cNvPr>
          <p:cNvSpPr>
            <a:spLocks noGrp="1"/>
          </p:cNvSpPr>
          <p:nvPr>
            <p:ph idx="1"/>
          </p:nvPr>
        </p:nvSpPr>
        <p:spPr/>
        <p:txBody>
          <a:bodyPr>
            <a:normAutofit/>
          </a:bodyPr>
          <a:lstStyle/>
          <a:p>
            <a:r>
              <a:rPr lang="en-US" dirty="0"/>
              <a:t>Defects can occur </a:t>
            </a:r>
            <a:r>
              <a:rPr lang="en-US" b="1" dirty="0"/>
              <a:t>at any phase</a:t>
            </a:r>
            <a:r>
              <a:rPr lang="en-US" dirty="0"/>
              <a:t> of the SDLC, and each phase has its own </a:t>
            </a:r>
            <a:r>
              <a:rPr lang="en-US" b="1" dirty="0"/>
              <a:t>typical causes</a:t>
            </a:r>
            <a:r>
              <a:rPr lang="en-US" dirty="0"/>
              <a:t> or </a:t>
            </a:r>
            <a:r>
              <a:rPr lang="en-US" b="1" dirty="0"/>
              <a:t>sources of defects</a:t>
            </a:r>
            <a:r>
              <a:rPr lang="en-US" dirty="0"/>
              <a:t>.</a:t>
            </a:r>
          </a:p>
        </p:txBody>
      </p:sp>
    </p:spTree>
    <p:extLst>
      <p:ext uri="{BB962C8B-B14F-4D97-AF65-F5344CB8AC3E}">
        <p14:creationId xmlns:p14="http://schemas.microsoft.com/office/powerpoint/2010/main" val="26910758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49EBF-5133-3D51-0924-32ED24586A28}"/>
              </a:ext>
            </a:extLst>
          </p:cNvPr>
          <p:cNvSpPr>
            <a:spLocks noGrp="1"/>
          </p:cNvSpPr>
          <p:nvPr>
            <p:ph type="title"/>
          </p:nvPr>
        </p:nvSpPr>
        <p:spPr>
          <a:xfrm>
            <a:off x="1097280" y="286606"/>
            <a:ext cx="10058400" cy="794050"/>
          </a:xfrm>
        </p:spPr>
        <p:txBody>
          <a:bodyPr/>
          <a:lstStyle/>
          <a:p>
            <a:r>
              <a:rPr lang="en-US" dirty="0"/>
              <a:t>Requirements</a:t>
            </a:r>
          </a:p>
        </p:txBody>
      </p:sp>
      <p:sp>
        <p:nvSpPr>
          <p:cNvPr id="3" name="Content Placeholder 2">
            <a:extLst>
              <a:ext uri="{FF2B5EF4-FFF2-40B4-BE49-F238E27FC236}">
                <a16:creationId xmlns:a16="http://schemas.microsoft.com/office/drawing/2014/main" id="{EF93C29D-4729-6BA1-4A16-DC98DA0FD009}"/>
              </a:ext>
            </a:extLst>
          </p:cNvPr>
          <p:cNvSpPr>
            <a:spLocks noGrp="1"/>
          </p:cNvSpPr>
          <p:nvPr>
            <p:ph idx="1"/>
          </p:nvPr>
        </p:nvSpPr>
        <p:spPr>
          <a:xfrm>
            <a:off x="1097279" y="1080656"/>
            <a:ext cx="10058401" cy="5490738"/>
          </a:xfrm>
        </p:spPr>
        <p:txBody>
          <a:bodyPr>
            <a:normAutofit fontScale="92500" lnSpcReduction="20000"/>
          </a:bodyPr>
          <a:lstStyle/>
          <a:p>
            <a:r>
              <a:rPr lang="en-US" b="1" dirty="0"/>
              <a:t>Source:</a:t>
            </a:r>
            <a:br>
              <a:rPr lang="en-US" dirty="0"/>
            </a:br>
            <a:r>
              <a:rPr lang="en-US" dirty="0"/>
              <a:t>Defects introduced during the </a:t>
            </a:r>
            <a:r>
              <a:rPr lang="en-US" b="1" dirty="0"/>
              <a:t>requirements gathering and analysis</a:t>
            </a:r>
            <a:r>
              <a:rPr lang="en-US" dirty="0"/>
              <a:t> stage.</a:t>
            </a:r>
          </a:p>
          <a:p>
            <a:r>
              <a:rPr lang="en-US" b="1" dirty="0"/>
              <a:t>Causes:</a:t>
            </a:r>
            <a:endParaRPr lang="en-US" dirty="0"/>
          </a:p>
          <a:p>
            <a:pPr lvl="0"/>
            <a:r>
              <a:rPr lang="en-US" dirty="0"/>
              <a:t>Incomplete or ambiguous requirements.</a:t>
            </a:r>
          </a:p>
          <a:p>
            <a:pPr lvl="0"/>
            <a:r>
              <a:rPr lang="en-US" dirty="0"/>
              <a:t>Misunderstanding of customer needs.</a:t>
            </a:r>
          </a:p>
          <a:p>
            <a:pPr lvl="0"/>
            <a:r>
              <a:rPr lang="en-US" dirty="0"/>
              <a:t>Poor communication between stakeholders and analysts.</a:t>
            </a:r>
          </a:p>
          <a:p>
            <a:pPr lvl="0"/>
            <a:r>
              <a:rPr lang="en-US" dirty="0"/>
              <a:t>Missing non-functional requirements (e.g., performance, security).</a:t>
            </a:r>
          </a:p>
          <a:p>
            <a:r>
              <a:rPr lang="en-US" b="1" dirty="0"/>
              <a:t>Examples:</a:t>
            </a:r>
            <a:endParaRPr lang="en-US" dirty="0"/>
          </a:p>
          <a:p>
            <a:pPr lvl="0"/>
            <a:r>
              <a:rPr lang="en-US" dirty="0"/>
              <a:t>The software doesn’t meet user expectations.</a:t>
            </a:r>
          </a:p>
          <a:p>
            <a:pPr lvl="0"/>
            <a:r>
              <a:rPr lang="en-US" dirty="0"/>
              <a:t>A key business rule is not implemented because it wasn’t documented.</a:t>
            </a:r>
          </a:p>
          <a:p>
            <a:r>
              <a:rPr lang="en-US" b="1" dirty="0"/>
              <a:t>Prevention:</a:t>
            </a:r>
            <a:endParaRPr lang="en-US" dirty="0"/>
          </a:p>
          <a:p>
            <a:pPr lvl="0"/>
            <a:r>
              <a:rPr lang="en-US" dirty="0"/>
              <a:t>Conduct requirement reviews and validation sessions.</a:t>
            </a:r>
          </a:p>
          <a:p>
            <a:pPr lvl="0"/>
            <a:r>
              <a:rPr lang="en-US" dirty="0"/>
              <a:t>Use clear, testable, and traceable requirements.</a:t>
            </a:r>
          </a:p>
          <a:p>
            <a:pPr lvl="0"/>
            <a:r>
              <a:rPr lang="en-US" dirty="0"/>
              <a:t>Involve end-users and domain experts early.</a:t>
            </a:r>
          </a:p>
          <a:p>
            <a:endParaRPr lang="en-US" dirty="0"/>
          </a:p>
        </p:txBody>
      </p:sp>
    </p:spTree>
    <p:extLst>
      <p:ext uri="{BB962C8B-B14F-4D97-AF65-F5344CB8AC3E}">
        <p14:creationId xmlns:p14="http://schemas.microsoft.com/office/powerpoint/2010/main" val="29859065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C6372-4AA2-07D1-6EA3-09BAB933FA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4773AC-37F5-8808-B229-D75F06EF964D}"/>
              </a:ext>
            </a:extLst>
          </p:cNvPr>
          <p:cNvSpPr>
            <a:spLocks noGrp="1"/>
          </p:cNvSpPr>
          <p:nvPr>
            <p:ph type="title"/>
          </p:nvPr>
        </p:nvSpPr>
        <p:spPr>
          <a:xfrm>
            <a:off x="1097280" y="286606"/>
            <a:ext cx="10058400" cy="794050"/>
          </a:xfrm>
        </p:spPr>
        <p:txBody>
          <a:bodyPr/>
          <a:lstStyle/>
          <a:p>
            <a:r>
              <a:rPr lang="en-US" dirty="0"/>
              <a:t>Requirements phase Defects</a:t>
            </a:r>
          </a:p>
        </p:txBody>
      </p:sp>
      <p:sp>
        <p:nvSpPr>
          <p:cNvPr id="3" name="Content Placeholder 2">
            <a:extLst>
              <a:ext uri="{FF2B5EF4-FFF2-40B4-BE49-F238E27FC236}">
                <a16:creationId xmlns:a16="http://schemas.microsoft.com/office/drawing/2014/main" id="{3A3171FA-6DD7-FC3A-7089-0E3868315A70}"/>
              </a:ext>
            </a:extLst>
          </p:cNvPr>
          <p:cNvSpPr>
            <a:spLocks noGrp="1"/>
          </p:cNvSpPr>
          <p:nvPr>
            <p:ph idx="1"/>
          </p:nvPr>
        </p:nvSpPr>
        <p:spPr>
          <a:xfrm>
            <a:off x="1097279" y="1080656"/>
            <a:ext cx="10058401" cy="5490738"/>
          </a:xfrm>
        </p:spPr>
        <p:txBody>
          <a:bodyPr>
            <a:normAutofit fontScale="92500" lnSpcReduction="20000"/>
          </a:bodyPr>
          <a:lstStyle/>
          <a:p>
            <a:r>
              <a:rPr lang="en-US" b="1" dirty="0"/>
              <a:t>Source:</a:t>
            </a:r>
            <a:br>
              <a:rPr lang="en-US" dirty="0"/>
            </a:br>
            <a:r>
              <a:rPr lang="en-US" dirty="0"/>
              <a:t>Defects introduced during the </a:t>
            </a:r>
            <a:r>
              <a:rPr lang="en-US" b="1" dirty="0"/>
              <a:t>requirements gathering and analysis</a:t>
            </a:r>
            <a:r>
              <a:rPr lang="en-US" dirty="0"/>
              <a:t> stage.</a:t>
            </a:r>
          </a:p>
          <a:p>
            <a:r>
              <a:rPr lang="en-US" b="1" dirty="0"/>
              <a:t>Causes:</a:t>
            </a:r>
            <a:endParaRPr lang="en-US" dirty="0"/>
          </a:p>
          <a:p>
            <a:pPr lvl="0"/>
            <a:r>
              <a:rPr lang="en-US" dirty="0"/>
              <a:t>Incomplete or ambiguous requirements.</a:t>
            </a:r>
          </a:p>
          <a:p>
            <a:pPr lvl="0"/>
            <a:r>
              <a:rPr lang="en-US" dirty="0"/>
              <a:t>Misunderstanding of customer needs.</a:t>
            </a:r>
          </a:p>
          <a:p>
            <a:pPr lvl="0"/>
            <a:r>
              <a:rPr lang="en-US" dirty="0"/>
              <a:t>Poor communication between stakeholders and analysts.</a:t>
            </a:r>
          </a:p>
          <a:p>
            <a:pPr lvl="0"/>
            <a:r>
              <a:rPr lang="en-US" dirty="0"/>
              <a:t>Missing non-functional requirements (e.g., performance, security).</a:t>
            </a:r>
          </a:p>
          <a:p>
            <a:r>
              <a:rPr lang="en-US" b="1" dirty="0"/>
              <a:t>Examples:</a:t>
            </a:r>
            <a:endParaRPr lang="en-US" dirty="0"/>
          </a:p>
          <a:p>
            <a:pPr lvl="0"/>
            <a:r>
              <a:rPr lang="en-US" dirty="0"/>
              <a:t>The software doesn’t meet user expectations.</a:t>
            </a:r>
          </a:p>
          <a:p>
            <a:pPr lvl="0"/>
            <a:r>
              <a:rPr lang="en-US" dirty="0"/>
              <a:t>A key business rule is not implemented because it wasn’t documented.</a:t>
            </a:r>
          </a:p>
          <a:p>
            <a:r>
              <a:rPr lang="en-US" b="1" dirty="0"/>
              <a:t>Prevention:</a:t>
            </a:r>
            <a:endParaRPr lang="en-US" dirty="0"/>
          </a:p>
          <a:p>
            <a:pPr lvl="0"/>
            <a:r>
              <a:rPr lang="en-US" dirty="0"/>
              <a:t>Conduct requirement reviews and validation sessions.</a:t>
            </a:r>
          </a:p>
          <a:p>
            <a:pPr lvl="0"/>
            <a:r>
              <a:rPr lang="en-US" dirty="0"/>
              <a:t>Use clear, testable, and traceable requirements.</a:t>
            </a:r>
          </a:p>
          <a:p>
            <a:pPr lvl="0"/>
            <a:r>
              <a:rPr lang="en-US" dirty="0"/>
              <a:t>Involve end-users and domain experts early.</a:t>
            </a:r>
          </a:p>
          <a:p>
            <a:endParaRPr lang="en-US" dirty="0"/>
          </a:p>
        </p:txBody>
      </p:sp>
    </p:spTree>
    <p:extLst>
      <p:ext uri="{BB962C8B-B14F-4D97-AF65-F5344CB8AC3E}">
        <p14:creationId xmlns:p14="http://schemas.microsoft.com/office/powerpoint/2010/main" val="33568746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D5D6E-B721-681C-F119-D6EEAFB296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C5537B-E537-982D-B006-A735C302158E}"/>
              </a:ext>
            </a:extLst>
          </p:cNvPr>
          <p:cNvSpPr>
            <a:spLocks noGrp="1"/>
          </p:cNvSpPr>
          <p:nvPr>
            <p:ph type="title"/>
          </p:nvPr>
        </p:nvSpPr>
        <p:spPr>
          <a:xfrm>
            <a:off x="1097280" y="286606"/>
            <a:ext cx="10058400" cy="794050"/>
          </a:xfrm>
        </p:spPr>
        <p:txBody>
          <a:bodyPr/>
          <a:lstStyle/>
          <a:p>
            <a:r>
              <a:rPr lang="en-US" dirty="0"/>
              <a:t> Design Phase Defects</a:t>
            </a:r>
          </a:p>
        </p:txBody>
      </p:sp>
      <p:sp>
        <p:nvSpPr>
          <p:cNvPr id="3" name="Content Placeholder 2">
            <a:extLst>
              <a:ext uri="{FF2B5EF4-FFF2-40B4-BE49-F238E27FC236}">
                <a16:creationId xmlns:a16="http://schemas.microsoft.com/office/drawing/2014/main" id="{A3ADC3BE-2E26-D64B-87AA-D72DA99E4B99}"/>
              </a:ext>
            </a:extLst>
          </p:cNvPr>
          <p:cNvSpPr>
            <a:spLocks noGrp="1"/>
          </p:cNvSpPr>
          <p:nvPr>
            <p:ph idx="1"/>
          </p:nvPr>
        </p:nvSpPr>
        <p:spPr>
          <a:xfrm>
            <a:off x="1097279" y="1080656"/>
            <a:ext cx="10058401" cy="5490738"/>
          </a:xfrm>
        </p:spPr>
        <p:txBody>
          <a:bodyPr>
            <a:normAutofit fontScale="92500" lnSpcReduction="10000"/>
          </a:bodyPr>
          <a:lstStyle/>
          <a:p>
            <a:r>
              <a:rPr lang="en-US" b="1" dirty="0"/>
              <a:t>Source:</a:t>
            </a:r>
            <a:br>
              <a:rPr lang="en-US" dirty="0"/>
            </a:br>
            <a:r>
              <a:rPr lang="en-US" dirty="0"/>
              <a:t>Defects introduced when converting requirements into system or architectural designs.</a:t>
            </a:r>
          </a:p>
          <a:p>
            <a:r>
              <a:rPr lang="en-US" b="1" dirty="0"/>
              <a:t>Causes:</a:t>
            </a:r>
            <a:endParaRPr lang="en-US" dirty="0"/>
          </a:p>
          <a:p>
            <a:pPr lvl="0"/>
            <a:r>
              <a:rPr lang="en-US" dirty="0"/>
              <a:t>Incorrect interpretation of requirements.</a:t>
            </a:r>
          </a:p>
          <a:p>
            <a:pPr lvl="0"/>
            <a:r>
              <a:rPr lang="en-US" dirty="0"/>
              <a:t>Poor software architecture or data modeling.</a:t>
            </a:r>
          </a:p>
          <a:p>
            <a:pPr lvl="0"/>
            <a:r>
              <a:rPr lang="en-US" dirty="0"/>
              <a:t>Interface design mismatches between modules.</a:t>
            </a:r>
          </a:p>
          <a:p>
            <a:pPr lvl="0"/>
            <a:r>
              <a:rPr lang="en-US" dirty="0"/>
              <a:t>Lack of design validation or peer review.</a:t>
            </a:r>
          </a:p>
          <a:p>
            <a:r>
              <a:rPr lang="en-US" b="1" dirty="0"/>
              <a:t>Examples:</a:t>
            </a:r>
            <a:endParaRPr lang="en-US" dirty="0"/>
          </a:p>
          <a:p>
            <a:pPr lvl="0"/>
            <a:r>
              <a:rPr lang="en-US" dirty="0"/>
              <a:t>System designed without scalability in mind.</a:t>
            </a:r>
          </a:p>
          <a:p>
            <a:pPr lvl="0"/>
            <a:r>
              <a:rPr lang="en-US" dirty="0"/>
              <a:t>Wrong data relationships or flow between components.</a:t>
            </a:r>
          </a:p>
          <a:p>
            <a:r>
              <a:rPr lang="en-US" b="1" dirty="0"/>
              <a:t>Prevention:</a:t>
            </a:r>
            <a:endParaRPr lang="en-US" dirty="0"/>
          </a:p>
          <a:p>
            <a:pPr lvl="0"/>
            <a:r>
              <a:rPr lang="en-US" dirty="0"/>
              <a:t>Conduct design reviews and walkthroughs.</a:t>
            </a:r>
          </a:p>
          <a:p>
            <a:pPr lvl="0"/>
            <a:r>
              <a:rPr lang="en-US" dirty="0"/>
              <a:t>Use modeling tools (e.g., UML diagrams).</a:t>
            </a:r>
          </a:p>
          <a:p>
            <a:pPr lvl="0"/>
            <a:r>
              <a:rPr lang="en-US" dirty="0"/>
              <a:t>Apply design standards and best practices.</a:t>
            </a:r>
          </a:p>
        </p:txBody>
      </p:sp>
    </p:spTree>
    <p:extLst>
      <p:ext uri="{BB962C8B-B14F-4D97-AF65-F5344CB8AC3E}">
        <p14:creationId xmlns:p14="http://schemas.microsoft.com/office/powerpoint/2010/main" val="34737952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FFB3A-8FE9-066C-116C-DE9E98B9CF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44D3C5-9F4B-67F2-61D0-A6EF67E1D436}"/>
              </a:ext>
            </a:extLst>
          </p:cNvPr>
          <p:cNvSpPr>
            <a:spLocks noGrp="1"/>
          </p:cNvSpPr>
          <p:nvPr>
            <p:ph type="title"/>
          </p:nvPr>
        </p:nvSpPr>
        <p:spPr>
          <a:xfrm>
            <a:off x="1097280" y="286606"/>
            <a:ext cx="10058400" cy="794050"/>
          </a:xfrm>
        </p:spPr>
        <p:txBody>
          <a:bodyPr/>
          <a:lstStyle/>
          <a:p>
            <a:r>
              <a:rPr lang="en-US" b="1" dirty="0"/>
              <a:t> Coding (Implementation) Phase Defects</a:t>
            </a:r>
            <a:endParaRPr lang="en-US" dirty="0"/>
          </a:p>
        </p:txBody>
      </p:sp>
      <p:sp>
        <p:nvSpPr>
          <p:cNvPr id="3" name="Content Placeholder 2">
            <a:extLst>
              <a:ext uri="{FF2B5EF4-FFF2-40B4-BE49-F238E27FC236}">
                <a16:creationId xmlns:a16="http://schemas.microsoft.com/office/drawing/2014/main" id="{782B736B-736D-2169-06A0-01E101473BBE}"/>
              </a:ext>
            </a:extLst>
          </p:cNvPr>
          <p:cNvSpPr>
            <a:spLocks noGrp="1"/>
          </p:cNvSpPr>
          <p:nvPr>
            <p:ph idx="1"/>
          </p:nvPr>
        </p:nvSpPr>
        <p:spPr>
          <a:xfrm>
            <a:off x="1097279" y="1080656"/>
            <a:ext cx="10058401" cy="5490738"/>
          </a:xfrm>
        </p:spPr>
        <p:txBody>
          <a:bodyPr>
            <a:normAutofit fontScale="92500" lnSpcReduction="20000"/>
          </a:bodyPr>
          <a:lstStyle/>
          <a:p>
            <a:r>
              <a:rPr lang="en-US" b="1" dirty="0"/>
              <a:t>Source:</a:t>
            </a:r>
            <a:br>
              <a:rPr lang="en-US" dirty="0"/>
            </a:br>
            <a:r>
              <a:rPr lang="en-US" dirty="0"/>
              <a:t>Defects introduced during </a:t>
            </a:r>
            <a:r>
              <a:rPr lang="en-US" b="1" dirty="0"/>
              <a:t>code development</a:t>
            </a:r>
            <a:r>
              <a:rPr lang="en-US" dirty="0"/>
              <a:t> when implementing design.</a:t>
            </a:r>
          </a:p>
          <a:p>
            <a:r>
              <a:rPr lang="en-US" b="1" dirty="0"/>
              <a:t>Causes:</a:t>
            </a:r>
            <a:endParaRPr lang="en-US" dirty="0"/>
          </a:p>
          <a:p>
            <a:pPr lvl="0"/>
            <a:r>
              <a:rPr lang="en-US" dirty="0"/>
              <a:t>Syntax or logic errors in code.</a:t>
            </a:r>
          </a:p>
          <a:p>
            <a:pPr lvl="0"/>
            <a:r>
              <a:rPr lang="en-US" dirty="0"/>
              <a:t>Poor coding standards or lack of code reviews.</a:t>
            </a:r>
          </a:p>
          <a:p>
            <a:pPr lvl="0"/>
            <a:r>
              <a:rPr lang="en-US" dirty="0"/>
              <a:t>Incorrect algorithm or data structure use.</a:t>
            </a:r>
          </a:p>
          <a:p>
            <a:pPr lvl="0"/>
            <a:r>
              <a:rPr lang="en-US" dirty="0"/>
              <a:t>Misuse of third-party APIs or libraries.</a:t>
            </a:r>
          </a:p>
          <a:p>
            <a:r>
              <a:rPr lang="en-US" b="1" dirty="0"/>
              <a:t>Examples:</a:t>
            </a:r>
            <a:endParaRPr lang="en-US" dirty="0"/>
          </a:p>
          <a:p>
            <a:pPr lvl="0"/>
            <a:r>
              <a:rPr lang="en-US" dirty="0"/>
              <a:t>Divide-by-zero error.</a:t>
            </a:r>
          </a:p>
          <a:p>
            <a:pPr lvl="0"/>
            <a:r>
              <a:rPr lang="en-US" dirty="0"/>
              <a:t>Incorrect loop condition causing infinite loops.</a:t>
            </a:r>
          </a:p>
          <a:p>
            <a:pPr lvl="0"/>
            <a:r>
              <a:rPr lang="en-US" dirty="0"/>
              <a:t>Null pointer exceptions or memory leaks.</a:t>
            </a:r>
          </a:p>
          <a:p>
            <a:r>
              <a:rPr lang="en-US" b="1" dirty="0"/>
              <a:t>Prevention:</a:t>
            </a:r>
            <a:endParaRPr lang="en-US" dirty="0"/>
          </a:p>
          <a:p>
            <a:pPr lvl="0"/>
            <a:r>
              <a:rPr lang="en-US" dirty="0"/>
              <a:t>Enforce coding standards.</a:t>
            </a:r>
          </a:p>
          <a:p>
            <a:pPr lvl="0"/>
            <a:r>
              <a:rPr lang="en-US" dirty="0"/>
              <a:t>Perform unit testing and peer code reviews.</a:t>
            </a:r>
          </a:p>
          <a:p>
            <a:r>
              <a:rPr lang="en-US" dirty="0"/>
              <a:t>Use static code analysis tools.</a:t>
            </a:r>
          </a:p>
        </p:txBody>
      </p:sp>
    </p:spTree>
    <p:extLst>
      <p:ext uri="{BB962C8B-B14F-4D97-AF65-F5344CB8AC3E}">
        <p14:creationId xmlns:p14="http://schemas.microsoft.com/office/powerpoint/2010/main" val="2269623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9A1DE-8CBB-DE18-6F52-35BB3512EC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A9C03B-4CBA-FE8D-A07A-CEF3D76B3CC6}"/>
              </a:ext>
            </a:extLst>
          </p:cNvPr>
          <p:cNvSpPr>
            <a:spLocks noGrp="1"/>
          </p:cNvSpPr>
          <p:nvPr>
            <p:ph type="title"/>
          </p:nvPr>
        </p:nvSpPr>
        <p:spPr>
          <a:xfrm>
            <a:off x="1097280" y="286606"/>
            <a:ext cx="10058400" cy="794050"/>
          </a:xfrm>
        </p:spPr>
        <p:txBody>
          <a:bodyPr/>
          <a:lstStyle/>
          <a:p>
            <a:r>
              <a:rPr lang="en-US" dirty="0"/>
              <a:t>Testing Phase Defects</a:t>
            </a:r>
          </a:p>
        </p:txBody>
      </p:sp>
      <p:sp>
        <p:nvSpPr>
          <p:cNvPr id="3" name="Content Placeholder 2">
            <a:extLst>
              <a:ext uri="{FF2B5EF4-FFF2-40B4-BE49-F238E27FC236}">
                <a16:creationId xmlns:a16="http://schemas.microsoft.com/office/drawing/2014/main" id="{A5BF0C4D-78E3-86A8-232B-19235A5BA916}"/>
              </a:ext>
            </a:extLst>
          </p:cNvPr>
          <p:cNvSpPr>
            <a:spLocks noGrp="1"/>
          </p:cNvSpPr>
          <p:nvPr>
            <p:ph idx="1"/>
          </p:nvPr>
        </p:nvSpPr>
        <p:spPr>
          <a:xfrm>
            <a:off x="1097279" y="1080656"/>
            <a:ext cx="10058401" cy="5490738"/>
          </a:xfrm>
        </p:spPr>
        <p:txBody>
          <a:bodyPr>
            <a:normAutofit fontScale="92500" lnSpcReduction="20000"/>
          </a:bodyPr>
          <a:lstStyle/>
          <a:p>
            <a:r>
              <a:rPr lang="en-US" b="1" dirty="0"/>
              <a:t>Source:</a:t>
            </a:r>
            <a:br>
              <a:rPr lang="en-US" dirty="0"/>
            </a:br>
            <a:r>
              <a:rPr lang="en-US" dirty="0"/>
              <a:t>Defects that occur during </a:t>
            </a:r>
            <a:r>
              <a:rPr lang="en-US" b="1" dirty="0"/>
              <a:t>test design or execution</a:t>
            </a:r>
            <a:r>
              <a:rPr lang="en-US" dirty="0"/>
              <a:t> — not in the software itself, but in how testing is performed.</a:t>
            </a:r>
          </a:p>
          <a:p>
            <a:r>
              <a:rPr lang="en-US" b="1" dirty="0"/>
              <a:t>Causes:</a:t>
            </a:r>
            <a:endParaRPr lang="en-US" dirty="0"/>
          </a:p>
          <a:p>
            <a:pPr lvl="0"/>
            <a:r>
              <a:rPr lang="en-US" dirty="0"/>
              <a:t>Poorly designed test cases (missing scenarios).</a:t>
            </a:r>
          </a:p>
          <a:p>
            <a:pPr lvl="0"/>
            <a:r>
              <a:rPr lang="en-US" dirty="0"/>
              <a:t>Incomplete test coverage.</a:t>
            </a:r>
          </a:p>
          <a:p>
            <a:pPr lvl="0"/>
            <a:r>
              <a:rPr lang="en-US" dirty="0"/>
              <a:t>Wrong expected results in test cases.</a:t>
            </a:r>
          </a:p>
          <a:p>
            <a:pPr lvl="0"/>
            <a:r>
              <a:rPr lang="en-US" dirty="0"/>
              <a:t>Inadequate test data.</a:t>
            </a:r>
          </a:p>
          <a:p>
            <a:r>
              <a:rPr lang="en-US" b="1" dirty="0"/>
              <a:t>Examples:</a:t>
            </a:r>
            <a:endParaRPr lang="en-US" dirty="0"/>
          </a:p>
          <a:p>
            <a:pPr lvl="0"/>
            <a:r>
              <a:rPr lang="en-US" dirty="0"/>
              <a:t>A defect not detected because the test didn’t cover an edge case.</a:t>
            </a:r>
          </a:p>
          <a:p>
            <a:pPr lvl="0"/>
            <a:r>
              <a:rPr lang="en-US" dirty="0"/>
              <a:t>False positives/negatives due to incorrect test setup.</a:t>
            </a:r>
          </a:p>
          <a:p>
            <a:r>
              <a:rPr lang="en-US" b="1" dirty="0"/>
              <a:t>Prevention:</a:t>
            </a:r>
            <a:endParaRPr lang="en-US" dirty="0"/>
          </a:p>
          <a:p>
            <a:pPr lvl="0"/>
            <a:r>
              <a:rPr lang="en-US" dirty="0"/>
              <a:t>Review and validate test cases.</a:t>
            </a:r>
          </a:p>
          <a:p>
            <a:pPr lvl="0"/>
            <a:r>
              <a:rPr lang="en-US" dirty="0"/>
              <a:t>Use traceability matrix to ensure coverage.</a:t>
            </a:r>
          </a:p>
          <a:p>
            <a:pPr lvl="0"/>
            <a:r>
              <a:rPr lang="en-US" dirty="0"/>
              <a:t>Perform regression and exploratory testing.</a:t>
            </a:r>
          </a:p>
        </p:txBody>
      </p:sp>
    </p:spTree>
    <p:extLst>
      <p:ext uri="{BB962C8B-B14F-4D97-AF65-F5344CB8AC3E}">
        <p14:creationId xmlns:p14="http://schemas.microsoft.com/office/powerpoint/2010/main" val="36184302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B7087-3485-3A33-C9B9-E3BCC7E238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96849C-1265-26CA-86E5-CE5A0607AA8D}"/>
              </a:ext>
            </a:extLst>
          </p:cNvPr>
          <p:cNvSpPr>
            <a:spLocks noGrp="1"/>
          </p:cNvSpPr>
          <p:nvPr>
            <p:ph type="title"/>
          </p:nvPr>
        </p:nvSpPr>
        <p:spPr>
          <a:xfrm>
            <a:off x="1097280" y="286606"/>
            <a:ext cx="10058400" cy="794050"/>
          </a:xfrm>
        </p:spPr>
        <p:txBody>
          <a:bodyPr>
            <a:normAutofit fontScale="90000"/>
          </a:bodyPr>
          <a:lstStyle/>
          <a:p>
            <a:r>
              <a:rPr lang="en-US" b="1" dirty="0"/>
              <a:t>Deployment (Implementation/Release) Phase Defects</a:t>
            </a:r>
            <a:endParaRPr lang="en-US" dirty="0"/>
          </a:p>
        </p:txBody>
      </p:sp>
      <p:sp>
        <p:nvSpPr>
          <p:cNvPr id="3" name="Content Placeholder 2">
            <a:extLst>
              <a:ext uri="{FF2B5EF4-FFF2-40B4-BE49-F238E27FC236}">
                <a16:creationId xmlns:a16="http://schemas.microsoft.com/office/drawing/2014/main" id="{2E0E5F19-ED26-993E-395C-FBA2CAB5821F}"/>
              </a:ext>
            </a:extLst>
          </p:cNvPr>
          <p:cNvSpPr>
            <a:spLocks noGrp="1"/>
          </p:cNvSpPr>
          <p:nvPr>
            <p:ph idx="1"/>
          </p:nvPr>
        </p:nvSpPr>
        <p:spPr>
          <a:xfrm>
            <a:off x="1097279" y="1080656"/>
            <a:ext cx="10058401" cy="5490738"/>
          </a:xfrm>
        </p:spPr>
        <p:txBody>
          <a:bodyPr>
            <a:normAutofit fontScale="92500" lnSpcReduction="10000"/>
          </a:bodyPr>
          <a:lstStyle/>
          <a:p>
            <a:r>
              <a:rPr lang="en-US" b="1" dirty="0"/>
              <a:t>Source:</a:t>
            </a:r>
            <a:br>
              <a:rPr lang="en-US" dirty="0"/>
            </a:br>
            <a:r>
              <a:rPr lang="en-US" dirty="0"/>
              <a:t>Defects introduced when </a:t>
            </a:r>
            <a:r>
              <a:rPr lang="en-US" b="1" dirty="0"/>
              <a:t>software is moved to production</a:t>
            </a:r>
            <a:r>
              <a:rPr lang="en-US" dirty="0"/>
              <a:t> or deployed in a live environment.</a:t>
            </a:r>
          </a:p>
          <a:p>
            <a:r>
              <a:rPr lang="en-US" b="1" dirty="0"/>
              <a:t>Causes:</a:t>
            </a:r>
            <a:endParaRPr lang="en-US" dirty="0"/>
          </a:p>
          <a:p>
            <a:pPr lvl="0"/>
            <a:r>
              <a:rPr lang="en-US" dirty="0"/>
              <a:t>Incorrect configuration settings.</a:t>
            </a:r>
          </a:p>
          <a:p>
            <a:pPr lvl="0"/>
            <a:r>
              <a:rPr lang="en-US" dirty="0"/>
              <a:t>Environment mismatch between test and production.</a:t>
            </a:r>
          </a:p>
          <a:p>
            <a:pPr lvl="0"/>
            <a:r>
              <a:rPr lang="en-US" dirty="0"/>
              <a:t>Missing or corrupted files during installation.</a:t>
            </a:r>
          </a:p>
          <a:p>
            <a:pPr lvl="0"/>
            <a:r>
              <a:rPr lang="en-US" dirty="0"/>
              <a:t>Inadequate deployment procedures.</a:t>
            </a:r>
          </a:p>
          <a:p>
            <a:r>
              <a:rPr lang="en-US" b="1" dirty="0"/>
              <a:t>Examples:</a:t>
            </a:r>
            <a:endParaRPr lang="en-US" dirty="0"/>
          </a:p>
          <a:p>
            <a:pPr lvl="0"/>
            <a:r>
              <a:rPr lang="en-US" dirty="0"/>
              <a:t>Application fails to connect to production database.</a:t>
            </a:r>
          </a:p>
          <a:p>
            <a:pPr lvl="0"/>
            <a:r>
              <a:rPr lang="en-US" dirty="0"/>
              <a:t>Missing dependencies or incorrect version control.</a:t>
            </a:r>
          </a:p>
          <a:p>
            <a:r>
              <a:rPr lang="en-US" b="1" dirty="0"/>
              <a:t>Prevention:</a:t>
            </a:r>
            <a:endParaRPr lang="en-US" dirty="0"/>
          </a:p>
          <a:p>
            <a:pPr lvl="0"/>
            <a:r>
              <a:rPr lang="en-US" dirty="0"/>
              <a:t>Use deployment checklists and automation tools.</a:t>
            </a:r>
          </a:p>
          <a:p>
            <a:pPr lvl="0"/>
            <a:r>
              <a:rPr lang="en-US" dirty="0"/>
              <a:t>Conduct pilot or beta testing.</a:t>
            </a:r>
          </a:p>
          <a:p>
            <a:r>
              <a:rPr lang="en-US" dirty="0"/>
              <a:t>Perform environment validation before go-live.</a:t>
            </a:r>
          </a:p>
        </p:txBody>
      </p:sp>
    </p:spTree>
    <p:extLst>
      <p:ext uri="{BB962C8B-B14F-4D97-AF65-F5344CB8AC3E}">
        <p14:creationId xmlns:p14="http://schemas.microsoft.com/office/powerpoint/2010/main" val="34963541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5A8CF0-F848-1F21-2C22-9080D52866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F53F39-E221-1B3F-3AA1-C7B227063702}"/>
              </a:ext>
            </a:extLst>
          </p:cNvPr>
          <p:cNvSpPr>
            <a:spLocks noGrp="1"/>
          </p:cNvSpPr>
          <p:nvPr>
            <p:ph type="title"/>
          </p:nvPr>
        </p:nvSpPr>
        <p:spPr>
          <a:xfrm>
            <a:off x="1097280" y="286606"/>
            <a:ext cx="10058400" cy="794050"/>
          </a:xfrm>
        </p:spPr>
        <p:txBody>
          <a:bodyPr/>
          <a:lstStyle/>
          <a:p>
            <a:r>
              <a:rPr lang="en-US" dirty="0"/>
              <a:t>Maintenance Phase Defects</a:t>
            </a:r>
          </a:p>
        </p:txBody>
      </p:sp>
      <p:sp>
        <p:nvSpPr>
          <p:cNvPr id="3" name="Content Placeholder 2">
            <a:extLst>
              <a:ext uri="{FF2B5EF4-FFF2-40B4-BE49-F238E27FC236}">
                <a16:creationId xmlns:a16="http://schemas.microsoft.com/office/drawing/2014/main" id="{42DB6589-88C2-AC19-B1C1-030CC35DDAA2}"/>
              </a:ext>
            </a:extLst>
          </p:cNvPr>
          <p:cNvSpPr>
            <a:spLocks noGrp="1"/>
          </p:cNvSpPr>
          <p:nvPr>
            <p:ph idx="1"/>
          </p:nvPr>
        </p:nvSpPr>
        <p:spPr>
          <a:xfrm>
            <a:off x="1097279" y="1080656"/>
            <a:ext cx="10058401" cy="5490738"/>
          </a:xfrm>
        </p:spPr>
        <p:txBody>
          <a:bodyPr>
            <a:normAutofit fontScale="92500" lnSpcReduction="10000"/>
          </a:bodyPr>
          <a:lstStyle/>
          <a:p>
            <a:r>
              <a:rPr lang="en-US" b="1" dirty="0"/>
              <a:t>Source:</a:t>
            </a:r>
            <a:br>
              <a:rPr lang="en-US" dirty="0"/>
            </a:br>
            <a:r>
              <a:rPr lang="en-US" dirty="0"/>
              <a:t>Defects introduced when </a:t>
            </a:r>
            <a:r>
              <a:rPr lang="en-US" b="1" dirty="0"/>
              <a:t>modifying the system post-release</a:t>
            </a:r>
            <a:r>
              <a:rPr lang="en-US" dirty="0"/>
              <a:t>, such as during bug fixes or enhancements.</a:t>
            </a:r>
          </a:p>
          <a:p>
            <a:r>
              <a:rPr lang="en-US" b="1" dirty="0"/>
              <a:t>Causes:</a:t>
            </a:r>
            <a:endParaRPr lang="en-US" dirty="0"/>
          </a:p>
          <a:p>
            <a:pPr lvl="0"/>
            <a:r>
              <a:rPr lang="en-US" dirty="0"/>
              <a:t>Poor impact analysis before changes.</a:t>
            </a:r>
          </a:p>
          <a:p>
            <a:pPr lvl="0"/>
            <a:r>
              <a:rPr lang="en-US" dirty="0"/>
              <a:t>Regression errors due to updates.</a:t>
            </a:r>
          </a:p>
          <a:p>
            <a:pPr lvl="0"/>
            <a:r>
              <a:rPr lang="en-US" dirty="0"/>
              <a:t>Inadequate documentation or version control.</a:t>
            </a:r>
          </a:p>
          <a:p>
            <a:r>
              <a:rPr lang="en-US" b="1" dirty="0"/>
              <a:t>Examples:</a:t>
            </a:r>
            <a:endParaRPr lang="en-US" dirty="0"/>
          </a:p>
          <a:p>
            <a:pPr lvl="0"/>
            <a:r>
              <a:rPr lang="en-US" dirty="0"/>
              <a:t>A bug fix causes another module to break.</a:t>
            </a:r>
          </a:p>
          <a:p>
            <a:pPr lvl="0"/>
            <a:r>
              <a:rPr lang="en-US" dirty="0"/>
              <a:t>Old data incompatible with updated code.</a:t>
            </a:r>
          </a:p>
          <a:p>
            <a:r>
              <a:rPr lang="en-US" b="1" dirty="0"/>
              <a:t>Prevention:</a:t>
            </a:r>
            <a:endParaRPr lang="en-US" dirty="0"/>
          </a:p>
          <a:p>
            <a:pPr lvl="0"/>
            <a:r>
              <a:rPr lang="en-US" dirty="0"/>
              <a:t>Perform regression testing after updates.</a:t>
            </a:r>
          </a:p>
          <a:p>
            <a:pPr lvl="0"/>
            <a:r>
              <a:rPr lang="en-US" dirty="0"/>
              <a:t>Maintain detailed change logs.</a:t>
            </a:r>
          </a:p>
          <a:p>
            <a:pPr lvl="0"/>
            <a:r>
              <a:rPr lang="en-US" dirty="0"/>
              <a:t>Follow proper configuration management practices.</a:t>
            </a:r>
          </a:p>
        </p:txBody>
      </p:sp>
    </p:spTree>
    <p:extLst>
      <p:ext uri="{BB962C8B-B14F-4D97-AF65-F5344CB8AC3E}">
        <p14:creationId xmlns:p14="http://schemas.microsoft.com/office/powerpoint/2010/main" val="5271035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8AE41-F949-1307-AAEF-36FFC27D3778}"/>
              </a:ext>
            </a:extLst>
          </p:cNvPr>
          <p:cNvSpPr>
            <a:spLocks noGrp="1"/>
          </p:cNvSpPr>
          <p:nvPr>
            <p:ph type="title"/>
          </p:nvPr>
        </p:nvSpPr>
        <p:spPr>
          <a:xfrm>
            <a:off x="1097280" y="286603"/>
            <a:ext cx="10058400" cy="1450757"/>
          </a:xfrm>
        </p:spPr>
        <p:txBody>
          <a:bodyPr>
            <a:normAutofit/>
          </a:bodyPr>
          <a:lstStyle/>
          <a:p>
            <a:r>
              <a:rPr lang="en-US" dirty="0"/>
              <a:t>Summary</a:t>
            </a:r>
          </a:p>
        </p:txBody>
      </p:sp>
      <p:graphicFrame>
        <p:nvGraphicFramePr>
          <p:cNvPr id="6" name="Content Placeholder 5">
            <a:extLst>
              <a:ext uri="{FF2B5EF4-FFF2-40B4-BE49-F238E27FC236}">
                <a16:creationId xmlns:a16="http://schemas.microsoft.com/office/drawing/2014/main" id="{45DC38BD-83E8-09AE-E054-619B264DF71D}"/>
              </a:ext>
            </a:extLst>
          </p:cNvPr>
          <p:cNvGraphicFramePr>
            <a:graphicFrameLocks noGrp="1"/>
          </p:cNvGraphicFramePr>
          <p:nvPr>
            <p:ph idx="1"/>
            <p:extLst>
              <p:ext uri="{D42A27DB-BD31-4B8C-83A1-F6EECF244321}">
                <p14:modId xmlns:p14="http://schemas.microsoft.com/office/powerpoint/2010/main" val="1578609322"/>
              </p:ext>
            </p:extLst>
          </p:nvPr>
        </p:nvGraphicFramePr>
        <p:xfrm>
          <a:off x="711200" y="2039815"/>
          <a:ext cx="11085565" cy="3844789"/>
        </p:xfrm>
        <a:graphic>
          <a:graphicData uri="http://schemas.openxmlformats.org/drawingml/2006/table">
            <a:tbl>
              <a:tblPr>
                <a:tableStyleId>{5C22544A-7EE6-4342-B048-85BDC9FD1C3A}</a:tableStyleId>
              </a:tblPr>
              <a:tblGrid>
                <a:gridCol w="2684887">
                  <a:extLst>
                    <a:ext uri="{9D8B030D-6E8A-4147-A177-3AD203B41FA5}">
                      <a16:colId xmlns:a16="http://schemas.microsoft.com/office/drawing/2014/main" val="2102699230"/>
                    </a:ext>
                  </a:extLst>
                </a:gridCol>
                <a:gridCol w="2732896">
                  <a:extLst>
                    <a:ext uri="{9D8B030D-6E8A-4147-A177-3AD203B41FA5}">
                      <a16:colId xmlns:a16="http://schemas.microsoft.com/office/drawing/2014/main" val="884693725"/>
                    </a:ext>
                  </a:extLst>
                </a:gridCol>
                <a:gridCol w="2860122">
                  <a:extLst>
                    <a:ext uri="{9D8B030D-6E8A-4147-A177-3AD203B41FA5}">
                      <a16:colId xmlns:a16="http://schemas.microsoft.com/office/drawing/2014/main" val="749066809"/>
                    </a:ext>
                  </a:extLst>
                </a:gridCol>
                <a:gridCol w="2807660">
                  <a:extLst>
                    <a:ext uri="{9D8B030D-6E8A-4147-A177-3AD203B41FA5}">
                      <a16:colId xmlns:a16="http://schemas.microsoft.com/office/drawing/2014/main" val="1653507630"/>
                    </a:ext>
                  </a:extLst>
                </a:gridCol>
              </a:tblGrid>
              <a:tr h="347707">
                <a:tc>
                  <a:txBody>
                    <a:bodyPr/>
                    <a:lstStyle/>
                    <a:p>
                      <a:pPr>
                        <a:buNone/>
                      </a:pPr>
                      <a:r>
                        <a:rPr lang="en-US" sz="1500" b="1" dirty="0"/>
                        <a:t>SDLC Phase</a:t>
                      </a:r>
                      <a:endParaRPr lang="en-US" sz="1500" dirty="0"/>
                    </a:p>
                  </a:txBody>
                  <a:tcPr marL="78158" marR="78158" marT="39079" marB="39079" anchor="ctr"/>
                </a:tc>
                <a:tc>
                  <a:txBody>
                    <a:bodyPr/>
                    <a:lstStyle/>
                    <a:p>
                      <a:pPr>
                        <a:buNone/>
                      </a:pPr>
                      <a:r>
                        <a:rPr lang="en-US" sz="1500" b="1" dirty="0"/>
                        <a:t>Source of Defects</a:t>
                      </a:r>
                      <a:endParaRPr lang="en-US" sz="1500" dirty="0"/>
                    </a:p>
                  </a:txBody>
                  <a:tcPr marL="78158" marR="78158" marT="39079" marB="39079" anchor="ctr"/>
                </a:tc>
                <a:tc>
                  <a:txBody>
                    <a:bodyPr/>
                    <a:lstStyle/>
                    <a:p>
                      <a:pPr>
                        <a:buNone/>
                      </a:pPr>
                      <a:r>
                        <a:rPr lang="en-US" sz="1500" b="1"/>
                        <a:t>Common Causes</a:t>
                      </a:r>
                      <a:endParaRPr lang="en-US" sz="1500"/>
                    </a:p>
                  </a:txBody>
                  <a:tcPr marL="78158" marR="78158" marT="39079" marB="39079" anchor="ctr"/>
                </a:tc>
                <a:tc>
                  <a:txBody>
                    <a:bodyPr/>
                    <a:lstStyle/>
                    <a:p>
                      <a:pPr>
                        <a:buNone/>
                      </a:pPr>
                      <a:r>
                        <a:rPr lang="en-US" sz="1500" b="1"/>
                        <a:t>Example</a:t>
                      </a:r>
                      <a:endParaRPr lang="en-US" sz="1500"/>
                    </a:p>
                  </a:txBody>
                  <a:tcPr marL="78158" marR="78158" marT="39079" marB="39079" anchor="ctr"/>
                </a:tc>
                <a:extLst>
                  <a:ext uri="{0D108BD9-81ED-4DB2-BD59-A6C34878D82A}">
                    <a16:rowId xmlns:a16="http://schemas.microsoft.com/office/drawing/2014/main" val="2601884737"/>
                  </a:ext>
                </a:extLst>
              </a:tr>
              <a:tr h="582847">
                <a:tc>
                  <a:txBody>
                    <a:bodyPr/>
                    <a:lstStyle/>
                    <a:p>
                      <a:pPr>
                        <a:buNone/>
                      </a:pPr>
                      <a:r>
                        <a:rPr lang="en-US" sz="1500" b="1" dirty="0"/>
                        <a:t>Requirements</a:t>
                      </a:r>
                      <a:endParaRPr lang="en-US" sz="1500" dirty="0"/>
                    </a:p>
                  </a:txBody>
                  <a:tcPr marL="78158" marR="78158" marT="39079" marB="39079" anchor="ctr"/>
                </a:tc>
                <a:tc>
                  <a:txBody>
                    <a:bodyPr/>
                    <a:lstStyle/>
                    <a:p>
                      <a:pPr>
                        <a:buNone/>
                      </a:pPr>
                      <a:r>
                        <a:rPr lang="en-US" sz="1500"/>
                        <a:t>Ambiguous or missing requirements</a:t>
                      </a:r>
                    </a:p>
                  </a:txBody>
                  <a:tcPr marL="78158" marR="78158" marT="39079" marB="39079" anchor="ctr"/>
                </a:tc>
                <a:tc>
                  <a:txBody>
                    <a:bodyPr/>
                    <a:lstStyle/>
                    <a:p>
                      <a:pPr>
                        <a:buNone/>
                      </a:pPr>
                      <a:r>
                        <a:rPr lang="en-US" sz="1500" dirty="0"/>
                        <a:t>Miscommunication, incomplete analysis</a:t>
                      </a:r>
                    </a:p>
                  </a:txBody>
                  <a:tcPr marL="78158" marR="78158" marT="39079" marB="39079" anchor="ctr"/>
                </a:tc>
                <a:tc>
                  <a:txBody>
                    <a:bodyPr/>
                    <a:lstStyle/>
                    <a:p>
                      <a:pPr>
                        <a:buNone/>
                      </a:pPr>
                      <a:r>
                        <a:rPr lang="en-US" sz="1500"/>
                        <a:t>Feature not aligned with user needs</a:t>
                      </a:r>
                    </a:p>
                  </a:txBody>
                  <a:tcPr marL="78158" marR="78158" marT="39079" marB="39079" anchor="ctr"/>
                </a:tc>
                <a:extLst>
                  <a:ext uri="{0D108BD9-81ED-4DB2-BD59-A6C34878D82A}">
                    <a16:rowId xmlns:a16="http://schemas.microsoft.com/office/drawing/2014/main" val="4010810259"/>
                  </a:ext>
                </a:extLst>
              </a:tr>
              <a:tr h="582847">
                <a:tc>
                  <a:txBody>
                    <a:bodyPr/>
                    <a:lstStyle/>
                    <a:p>
                      <a:pPr>
                        <a:buNone/>
                      </a:pPr>
                      <a:r>
                        <a:rPr lang="en-US" sz="1500" b="1" dirty="0"/>
                        <a:t>Design</a:t>
                      </a:r>
                      <a:endParaRPr lang="en-US" sz="1500" dirty="0"/>
                    </a:p>
                  </a:txBody>
                  <a:tcPr marL="78158" marR="78158" marT="39079" marB="39079" anchor="ctr"/>
                </a:tc>
                <a:tc>
                  <a:txBody>
                    <a:bodyPr/>
                    <a:lstStyle/>
                    <a:p>
                      <a:pPr>
                        <a:buNone/>
                      </a:pPr>
                      <a:r>
                        <a:rPr lang="en-US" sz="1500"/>
                        <a:t>Poor architecture or design flaws</a:t>
                      </a:r>
                    </a:p>
                  </a:txBody>
                  <a:tcPr marL="78158" marR="78158" marT="39079" marB="39079" anchor="ctr"/>
                </a:tc>
                <a:tc>
                  <a:txBody>
                    <a:bodyPr/>
                    <a:lstStyle/>
                    <a:p>
                      <a:pPr>
                        <a:buNone/>
                      </a:pPr>
                      <a:r>
                        <a:rPr lang="en-US" sz="1500"/>
                        <a:t>Incorrect interpretation, interface mismatch</a:t>
                      </a:r>
                    </a:p>
                  </a:txBody>
                  <a:tcPr marL="78158" marR="78158" marT="39079" marB="39079" anchor="ctr"/>
                </a:tc>
                <a:tc>
                  <a:txBody>
                    <a:bodyPr/>
                    <a:lstStyle/>
                    <a:p>
                      <a:pPr>
                        <a:buNone/>
                      </a:pPr>
                      <a:r>
                        <a:rPr lang="en-US" sz="1500"/>
                        <a:t>Wrong data flow between modules</a:t>
                      </a:r>
                    </a:p>
                  </a:txBody>
                  <a:tcPr marL="78158" marR="78158" marT="39079" marB="39079" anchor="ctr"/>
                </a:tc>
                <a:extLst>
                  <a:ext uri="{0D108BD9-81ED-4DB2-BD59-A6C34878D82A}">
                    <a16:rowId xmlns:a16="http://schemas.microsoft.com/office/drawing/2014/main" val="3527966065"/>
                  </a:ext>
                </a:extLst>
              </a:tr>
              <a:tr h="582847">
                <a:tc>
                  <a:txBody>
                    <a:bodyPr/>
                    <a:lstStyle/>
                    <a:p>
                      <a:pPr>
                        <a:buNone/>
                      </a:pPr>
                      <a:r>
                        <a:rPr lang="en-US" sz="1500" b="1" dirty="0"/>
                        <a:t>Coding</a:t>
                      </a:r>
                      <a:endParaRPr lang="en-US" sz="1500" dirty="0"/>
                    </a:p>
                  </a:txBody>
                  <a:tcPr marL="78158" marR="78158" marT="39079" marB="39079" anchor="ctr"/>
                </a:tc>
                <a:tc>
                  <a:txBody>
                    <a:bodyPr/>
                    <a:lstStyle/>
                    <a:p>
                      <a:pPr>
                        <a:buNone/>
                      </a:pPr>
                      <a:r>
                        <a:rPr lang="en-US" sz="1500"/>
                        <a:t>Logic or syntax errors</a:t>
                      </a:r>
                    </a:p>
                  </a:txBody>
                  <a:tcPr marL="78158" marR="78158" marT="39079" marB="39079" anchor="ctr"/>
                </a:tc>
                <a:tc>
                  <a:txBody>
                    <a:bodyPr/>
                    <a:lstStyle/>
                    <a:p>
                      <a:pPr>
                        <a:buNone/>
                      </a:pPr>
                      <a:r>
                        <a:rPr lang="en-US" sz="1500"/>
                        <a:t>Lack of code review, poor practices</a:t>
                      </a:r>
                    </a:p>
                  </a:txBody>
                  <a:tcPr marL="78158" marR="78158" marT="39079" marB="39079" anchor="ctr"/>
                </a:tc>
                <a:tc>
                  <a:txBody>
                    <a:bodyPr/>
                    <a:lstStyle/>
                    <a:p>
                      <a:pPr>
                        <a:buNone/>
                      </a:pPr>
                      <a:r>
                        <a:rPr lang="en-US" sz="1500"/>
                        <a:t>Infinite loop, null pointer</a:t>
                      </a:r>
                    </a:p>
                  </a:txBody>
                  <a:tcPr marL="78158" marR="78158" marT="39079" marB="39079" anchor="ctr"/>
                </a:tc>
                <a:extLst>
                  <a:ext uri="{0D108BD9-81ED-4DB2-BD59-A6C34878D82A}">
                    <a16:rowId xmlns:a16="http://schemas.microsoft.com/office/drawing/2014/main" val="1765106359"/>
                  </a:ext>
                </a:extLst>
              </a:tr>
              <a:tr h="582847">
                <a:tc>
                  <a:txBody>
                    <a:bodyPr/>
                    <a:lstStyle/>
                    <a:p>
                      <a:pPr>
                        <a:buNone/>
                      </a:pPr>
                      <a:r>
                        <a:rPr lang="en-US" sz="1500" b="1" dirty="0"/>
                        <a:t>Testing</a:t>
                      </a:r>
                      <a:endParaRPr lang="en-US" sz="1500" dirty="0"/>
                    </a:p>
                  </a:txBody>
                  <a:tcPr marL="78158" marR="78158" marT="39079" marB="39079" anchor="ctr"/>
                </a:tc>
                <a:tc>
                  <a:txBody>
                    <a:bodyPr/>
                    <a:lstStyle/>
                    <a:p>
                      <a:pPr>
                        <a:buNone/>
                      </a:pPr>
                      <a:r>
                        <a:rPr lang="en-US" sz="1500"/>
                        <a:t>Faulty test cases</a:t>
                      </a:r>
                    </a:p>
                  </a:txBody>
                  <a:tcPr marL="78158" marR="78158" marT="39079" marB="39079" anchor="ctr"/>
                </a:tc>
                <a:tc>
                  <a:txBody>
                    <a:bodyPr/>
                    <a:lstStyle/>
                    <a:p>
                      <a:pPr>
                        <a:buNone/>
                      </a:pPr>
                      <a:r>
                        <a:rPr lang="en-US" sz="1500"/>
                        <a:t>Incomplete coverage, bad data</a:t>
                      </a:r>
                    </a:p>
                  </a:txBody>
                  <a:tcPr marL="78158" marR="78158" marT="39079" marB="39079" anchor="ctr"/>
                </a:tc>
                <a:tc>
                  <a:txBody>
                    <a:bodyPr/>
                    <a:lstStyle/>
                    <a:p>
                      <a:pPr>
                        <a:buNone/>
                      </a:pPr>
                      <a:r>
                        <a:rPr lang="en-US" sz="1500"/>
                        <a:t>Missed edge cases</a:t>
                      </a:r>
                    </a:p>
                  </a:txBody>
                  <a:tcPr marL="78158" marR="78158" marT="39079" marB="39079" anchor="ctr"/>
                </a:tc>
                <a:extLst>
                  <a:ext uri="{0D108BD9-81ED-4DB2-BD59-A6C34878D82A}">
                    <a16:rowId xmlns:a16="http://schemas.microsoft.com/office/drawing/2014/main" val="1326830647"/>
                  </a:ext>
                </a:extLst>
              </a:tr>
              <a:tr h="582847">
                <a:tc>
                  <a:txBody>
                    <a:bodyPr/>
                    <a:lstStyle/>
                    <a:p>
                      <a:pPr>
                        <a:buNone/>
                      </a:pPr>
                      <a:r>
                        <a:rPr lang="en-US" sz="1500" b="1" dirty="0"/>
                        <a:t>Deployment</a:t>
                      </a:r>
                      <a:endParaRPr lang="en-US" sz="1500" dirty="0"/>
                    </a:p>
                  </a:txBody>
                  <a:tcPr marL="78158" marR="78158" marT="39079" marB="39079" anchor="ctr"/>
                </a:tc>
                <a:tc>
                  <a:txBody>
                    <a:bodyPr/>
                    <a:lstStyle/>
                    <a:p>
                      <a:pPr>
                        <a:buNone/>
                      </a:pPr>
                      <a:r>
                        <a:rPr lang="en-US" sz="1500"/>
                        <a:t>Environment or setup errors</a:t>
                      </a:r>
                    </a:p>
                  </a:txBody>
                  <a:tcPr marL="78158" marR="78158" marT="39079" marB="39079" anchor="ctr"/>
                </a:tc>
                <a:tc>
                  <a:txBody>
                    <a:bodyPr/>
                    <a:lstStyle/>
                    <a:p>
                      <a:pPr>
                        <a:buNone/>
                      </a:pPr>
                      <a:r>
                        <a:rPr lang="en-US" sz="1500"/>
                        <a:t>Misconfiguration, version mismatch</a:t>
                      </a:r>
                    </a:p>
                  </a:txBody>
                  <a:tcPr marL="78158" marR="78158" marT="39079" marB="39079" anchor="ctr"/>
                </a:tc>
                <a:tc>
                  <a:txBody>
                    <a:bodyPr/>
                    <a:lstStyle/>
                    <a:p>
                      <a:pPr>
                        <a:buNone/>
                      </a:pPr>
                      <a:r>
                        <a:rPr lang="en-US" sz="1500"/>
                        <a:t>App fails in production</a:t>
                      </a:r>
                    </a:p>
                  </a:txBody>
                  <a:tcPr marL="78158" marR="78158" marT="39079" marB="39079" anchor="ctr"/>
                </a:tc>
                <a:extLst>
                  <a:ext uri="{0D108BD9-81ED-4DB2-BD59-A6C34878D82A}">
                    <a16:rowId xmlns:a16="http://schemas.microsoft.com/office/drawing/2014/main" val="444163868"/>
                  </a:ext>
                </a:extLst>
              </a:tr>
              <a:tr h="582847">
                <a:tc>
                  <a:txBody>
                    <a:bodyPr/>
                    <a:lstStyle/>
                    <a:p>
                      <a:pPr>
                        <a:buNone/>
                      </a:pPr>
                      <a:r>
                        <a:rPr lang="en-US" sz="1500" b="1" dirty="0"/>
                        <a:t>Maintenance</a:t>
                      </a:r>
                      <a:endParaRPr lang="en-US" sz="1500" dirty="0"/>
                    </a:p>
                  </a:txBody>
                  <a:tcPr marL="78158" marR="78158" marT="39079" marB="39079" anchor="ctr"/>
                </a:tc>
                <a:tc>
                  <a:txBody>
                    <a:bodyPr/>
                    <a:lstStyle/>
                    <a:p>
                      <a:pPr>
                        <a:buNone/>
                      </a:pPr>
                      <a:r>
                        <a:rPr lang="en-US" sz="1500" dirty="0"/>
                        <a:t>Regression or update errors</a:t>
                      </a:r>
                    </a:p>
                  </a:txBody>
                  <a:tcPr marL="78158" marR="78158" marT="39079" marB="39079" anchor="ctr"/>
                </a:tc>
                <a:tc>
                  <a:txBody>
                    <a:bodyPr/>
                    <a:lstStyle/>
                    <a:p>
                      <a:pPr>
                        <a:buNone/>
                      </a:pPr>
                      <a:r>
                        <a:rPr lang="en-US" sz="1500" dirty="0"/>
                        <a:t>Inadequate testing after changes</a:t>
                      </a:r>
                    </a:p>
                  </a:txBody>
                  <a:tcPr marL="78158" marR="78158" marT="39079" marB="39079" anchor="ctr"/>
                </a:tc>
                <a:tc>
                  <a:txBody>
                    <a:bodyPr/>
                    <a:lstStyle/>
                    <a:p>
                      <a:pPr>
                        <a:buNone/>
                      </a:pPr>
                      <a:r>
                        <a:rPr lang="en-US" sz="1500" dirty="0"/>
                        <a:t>Old features break after fix</a:t>
                      </a:r>
                    </a:p>
                  </a:txBody>
                  <a:tcPr marL="78158" marR="78158" marT="39079" marB="39079" anchor="ctr"/>
                </a:tc>
                <a:extLst>
                  <a:ext uri="{0D108BD9-81ED-4DB2-BD59-A6C34878D82A}">
                    <a16:rowId xmlns:a16="http://schemas.microsoft.com/office/drawing/2014/main" val="2388143413"/>
                  </a:ext>
                </a:extLst>
              </a:tr>
            </a:tbl>
          </a:graphicData>
        </a:graphic>
      </p:graphicFrame>
    </p:spTree>
    <p:extLst>
      <p:ext uri="{BB962C8B-B14F-4D97-AF65-F5344CB8AC3E}">
        <p14:creationId xmlns:p14="http://schemas.microsoft.com/office/powerpoint/2010/main" val="723882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89DF7-1F44-B6B7-BA67-B0167606AAC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59EB7F4-0CBD-F66D-0BFD-398F6C582BB0}"/>
              </a:ext>
            </a:extLst>
          </p:cNvPr>
          <p:cNvSpPr>
            <a:spLocks noGrp="1"/>
          </p:cNvSpPr>
          <p:nvPr>
            <p:ph idx="1"/>
          </p:nvPr>
        </p:nvSpPr>
        <p:spPr/>
        <p:txBody>
          <a:bodyPr>
            <a:normAutofit/>
          </a:bodyPr>
          <a:lstStyle/>
          <a:p>
            <a:pPr algn="ctr"/>
            <a:endParaRPr lang="en-US" sz="7200"/>
          </a:p>
          <a:p>
            <a:pPr algn="ctr"/>
            <a:r>
              <a:rPr lang="en-US" sz="7200"/>
              <a:t>Thanks</a:t>
            </a:r>
            <a:endParaRPr lang="en-US" sz="7200" dirty="0"/>
          </a:p>
        </p:txBody>
      </p:sp>
    </p:spTree>
    <p:extLst>
      <p:ext uri="{BB962C8B-B14F-4D97-AF65-F5344CB8AC3E}">
        <p14:creationId xmlns:p14="http://schemas.microsoft.com/office/powerpoint/2010/main" val="3085656327"/>
      </p:ext>
    </p:extLst>
  </p:cSld>
  <p:clrMapOvr>
    <a:masterClrMapping/>
  </p:clrMapOvr>
</p:sld>
</file>

<file path=ppt/theme/theme1.xml><?xml version="1.0" encoding="utf-8"?>
<a:theme xmlns:a="http://schemas.openxmlformats.org/drawingml/2006/main" name="1_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
  <TotalTime>23</TotalTime>
  <Words>2332</Words>
  <Application>Microsoft Office PowerPoint</Application>
  <PresentationFormat>Widescreen</PresentationFormat>
  <Paragraphs>270</Paragraphs>
  <Slides>30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Aptos</vt:lpstr>
      <vt:lpstr>Arial</vt:lpstr>
      <vt:lpstr>Calibri</vt:lpstr>
      <vt:lpstr>Calibri Light</vt:lpstr>
      <vt:lpstr>Wingdings 2</vt:lpstr>
      <vt:lpstr>1_Retrospect</vt:lpstr>
      <vt:lpstr>Software Engineering for CS</vt:lpstr>
      <vt:lpstr>Software Errors – Importance </vt:lpstr>
      <vt:lpstr>AT &amp; T Bug</vt:lpstr>
      <vt:lpstr>Pentium Bug</vt:lpstr>
      <vt:lpstr>Major Failures due to Software Bug</vt:lpstr>
      <vt:lpstr>Major Failures due to Software Bug</vt:lpstr>
      <vt:lpstr>Major Failures due to Software Bug in Last 5 Years</vt:lpstr>
      <vt:lpstr>Major Failures due to Software Bug in Last 5 Years</vt:lpstr>
      <vt:lpstr>Importance of Software and Impact of Errors</vt:lpstr>
      <vt:lpstr>Types of Errors</vt:lpstr>
      <vt:lpstr>Types of Requirements Errors</vt:lpstr>
      <vt:lpstr>Errors of Omission</vt:lpstr>
      <vt:lpstr>Errors of Clarity and Ambiguity</vt:lpstr>
      <vt:lpstr>Errors of Commission</vt:lpstr>
      <vt:lpstr>Performance Errors  (errors of speed and capacity)</vt:lpstr>
      <vt:lpstr>Severity Levels</vt:lpstr>
      <vt:lpstr>PowerPoint Presentation</vt:lpstr>
      <vt:lpstr>PowerPoint Presentation</vt:lpstr>
      <vt:lpstr>PowerPoint Presentation</vt:lpstr>
      <vt:lpstr>Summary</vt:lpstr>
      <vt:lpstr>Other ways to classify Errors (By Sources)</vt:lpstr>
      <vt:lpstr>Requirements</vt:lpstr>
      <vt:lpstr>Requirements phase Defects</vt:lpstr>
      <vt:lpstr> Design Phase Defects</vt:lpstr>
      <vt:lpstr> Coding (Implementation) Phase Defects</vt:lpstr>
      <vt:lpstr>Testing Phase Defects</vt:lpstr>
      <vt:lpstr>Deployment (Implementation/Release) Phase Defects</vt:lpstr>
      <vt:lpstr>Maintenance Phase Defects</vt:lpstr>
      <vt:lpstr>Summary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Types of Errors</dc:title>
  <dc:creator>Natash Ali</dc:creator>
  <cp:lastModifiedBy>user</cp:lastModifiedBy>
  <cp:revision>8</cp:revision>
  <dcterms:created xsi:type="dcterms:W3CDTF">2020-04-24T20:38:08Z</dcterms:created>
  <dcterms:modified xsi:type="dcterms:W3CDTF">2025-11-12T04:44:30Z</dcterms:modified>
</cp:coreProperties>
</file>