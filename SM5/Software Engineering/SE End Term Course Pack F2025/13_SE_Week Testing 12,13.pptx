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</p:sldMasterIdLst>
  <p:notesMasterIdLst>
    <p:notesMasterId r:id="rId18"/>
  </p:notesMasterIdLst>
  <p:sldIdLst>
    <p:sldId id="547" r:id="rId2"/>
    <p:sldId id="629" r:id="rId3"/>
    <p:sldId id="630" r:id="rId4"/>
    <p:sldId id="594" r:id="rId5"/>
    <p:sldId id="596" r:id="rId6"/>
    <p:sldId id="597" r:id="rId7"/>
    <p:sldId id="598" r:id="rId8"/>
    <p:sldId id="599" r:id="rId9"/>
    <p:sldId id="601" r:id="rId10"/>
    <p:sldId id="602" r:id="rId11"/>
    <p:sldId id="603" r:id="rId12"/>
    <p:sldId id="606" r:id="rId13"/>
    <p:sldId id="628" r:id="rId14"/>
    <p:sldId id="610" r:id="rId15"/>
    <p:sldId id="616" r:id="rId16"/>
    <p:sldId id="621" r:id="rId17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5AFF4B5-631B-4A70-8B99-E8FB8796DA97}" type="datetimeFigureOut">
              <a:rPr lang="en-US" smtClean="0"/>
              <a:pPr/>
              <a:t>12/28/2023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CF2FD04-098F-426E-B64E-A486CBD14B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2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7F6076A-1790-401D-8FB2-89D9517DDECF}" type="slidenum">
              <a:rPr lang="it-IT" smtClean="0"/>
              <a:pPr/>
              <a:t>4</a:t>
            </a:fld>
            <a:endParaRPr lang="it-IT" smtClean="0"/>
          </a:p>
        </p:txBody>
      </p:sp>
      <p:sp>
        <p:nvSpPr>
          <p:cNvPr id="57347" name="Text Box 2"/>
          <p:cNvSpPr txBox="1">
            <a:spLocks noChangeArrowheads="1"/>
          </p:cNvSpPr>
          <p:nvPr/>
        </p:nvSpPr>
        <p:spPr bwMode="auto">
          <a:xfrm>
            <a:off x="1218057" y="720090"/>
            <a:ext cx="4879087" cy="360045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6661" tIns="48331" rIns="96661" bIns="48331" anchor="ctr"/>
          <a:lstStyle/>
          <a:p>
            <a:endParaRPr lang="en-US"/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/>
          </p:nvPr>
        </p:nvSpPr>
        <p:spPr>
          <a:xfrm>
            <a:off x="976163" y="4560570"/>
            <a:ext cx="5356016" cy="4320540"/>
          </a:xfrm>
          <a:noFill/>
        </p:spPr>
        <p:txBody>
          <a:bodyPr wrap="none" anchor="ctr"/>
          <a:lstStyle/>
          <a:p>
            <a:pPr defTabSz="474916"/>
            <a:endParaRPr lang="it-IT" dirty="0" smtClean="0"/>
          </a:p>
        </p:txBody>
      </p:sp>
    </p:spTree>
    <p:extLst>
      <p:ext uri="{BB962C8B-B14F-4D97-AF65-F5344CB8AC3E}">
        <p14:creationId xmlns:p14="http://schemas.microsoft.com/office/powerpoint/2010/main" val="777602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12/28/2023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39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12/28/2023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0969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12/28/2023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937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12/28/2023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5127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12/28/2023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029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12/28/2023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801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12/28/2023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954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12/28/2023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6370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63705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6370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71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12/28/2023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60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12/28/2023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707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12/28/2023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1598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D7A2F4-68AB-4C94-961A-97A9545E0508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497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12/28/2023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49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8239"/>
            <a:ext cx="7772400" cy="1829761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/>
              <a:t>Software Engineering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4648200"/>
            <a:ext cx="64008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Instructor : Dr. </a:t>
            </a:r>
            <a:r>
              <a:rPr lang="en-US" dirty="0" err="1" smtClean="0"/>
              <a:t>Natash</a:t>
            </a:r>
            <a:r>
              <a:rPr lang="en-US" dirty="0" smtClean="0"/>
              <a:t> Ali </a:t>
            </a:r>
            <a:r>
              <a:rPr lang="en-US" dirty="0" err="1" smtClean="0"/>
              <a:t>Mian</a:t>
            </a:r>
            <a:endParaRPr lang="en-US" dirty="0" smtClean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1600" y="5638800"/>
            <a:ext cx="64008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Computer and Information Technology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Beaconhouse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National University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048000" y="3276600"/>
            <a:ext cx="3581400" cy="990600"/>
          </a:xfrm>
          <a:prstGeom prst="rect">
            <a:avLst/>
          </a:prstGeom>
        </p:spPr>
        <p:txBody>
          <a:bodyPr vert="horz" lIns="45720" rIns="45720">
            <a:normAutofit/>
          </a:bodyPr>
          <a:lstStyle/>
          <a:p>
            <a:pPr marL="0" marR="64008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48312"/>
              </a:buClr>
              <a:buSzPct val="68000"/>
              <a:buFont typeface="Wingdings 3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112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  and 2</a:t>
            </a:r>
          </a:p>
          <a:p>
            <a:endParaRPr lang="en-US" dirty="0"/>
          </a:p>
          <a:p>
            <a:r>
              <a:rPr lang="en-US" dirty="0" smtClean="0"/>
              <a:t>How many numbers are there between the above mentioned numbers?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295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Take input in a 2</a:t>
            </a:r>
          </a:p>
          <a:p>
            <a:r>
              <a:rPr lang="en-US" dirty="0" smtClean="0"/>
              <a:t>Take </a:t>
            </a:r>
            <a:r>
              <a:rPr lang="en-US" dirty="0"/>
              <a:t>input in </a:t>
            </a:r>
            <a:r>
              <a:rPr lang="en-US" dirty="0" smtClean="0"/>
              <a:t>b 3</a:t>
            </a:r>
          </a:p>
          <a:p>
            <a:r>
              <a:rPr lang="en-US" dirty="0" smtClean="0"/>
              <a:t>Add </a:t>
            </a:r>
          </a:p>
          <a:p>
            <a:r>
              <a:rPr lang="en-US" dirty="0" smtClean="0"/>
              <a:t>Display Result 5 (Expected Output) 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Black Box (we consider the system as a black box)</a:t>
            </a:r>
          </a:p>
          <a:p>
            <a:r>
              <a:rPr lang="en-US" dirty="0" smtClean="0"/>
              <a:t>White Box (Internal Analysis</a:t>
            </a:r>
            <a:r>
              <a:rPr lang="en-US" dirty="0" smtClean="0"/>
              <a:t>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109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9C84F15-57EF-4F67-B7A3-800EA8297D59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000" tIns="46800" rIns="90000" bIns="46800"/>
          <a:lstStyle/>
          <a:p>
            <a:pPr eaLnBrk="1" hangingPunct="1">
              <a:lnSpc>
                <a:spcPct val="85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3200" smtClean="0"/>
              <a:t>Software Testing</a:t>
            </a:r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539750" y="1735138"/>
            <a:ext cx="8137525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/>
            <a:r>
              <a:rPr lang="en-US" b="1"/>
              <a:t>Software</a:t>
            </a:r>
            <a:r>
              <a:rPr lang="en-US"/>
              <a:t> </a:t>
            </a:r>
            <a:r>
              <a:rPr lang="en-US" b="1"/>
              <a:t>testing</a:t>
            </a:r>
            <a:r>
              <a:rPr lang="en-US"/>
              <a:t> is a key activity, both in software development and in software maintenance. Its objectives are opposed to that of development: instead of making the system work, it aims at breaking it, thus revealing the presence of defects. This is the main reason why development and testing teams should be separate.</a:t>
            </a:r>
          </a:p>
          <a:p>
            <a:pPr algn="just"/>
            <a:endParaRPr lang="en-US"/>
          </a:p>
          <a:p>
            <a:pPr algn="just"/>
            <a:r>
              <a:rPr lang="en-US" b="1"/>
              <a:t>Code analyses</a:t>
            </a:r>
            <a:r>
              <a:rPr lang="en-US"/>
              <a:t> are extremely helpful to testing. Specifically, structural testing</a:t>
            </a:r>
          </a:p>
          <a:p>
            <a:pPr algn="just"/>
            <a:r>
              <a:rPr lang="en-US"/>
              <a:t>(aka white-box testing), as opposed to functional testing (aka black-box</a:t>
            </a:r>
          </a:p>
          <a:p>
            <a:pPr algn="just"/>
            <a:r>
              <a:rPr lang="en-US"/>
              <a:t>testing), assumes the possibility to access the internal structure of the program, analyze it and derive testing criteria from such an analysis. The outcome supports:</a:t>
            </a:r>
          </a:p>
          <a:p>
            <a:endParaRPr lang="en-US"/>
          </a:p>
          <a:p>
            <a:pPr lvl="1">
              <a:buFontTx/>
              <a:buChar char="•"/>
            </a:pPr>
            <a:r>
              <a:rPr lang="en-US"/>
              <a:t> Test case production/automatic generation.</a:t>
            </a:r>
          </a:p>
          <a:p>
            <a:pPr lvl="1"/>
            <a:r>
              <a:rPr lang="en-US"/>
              <a:t>• Definition of stopping criteria.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66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Observations about Testing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“Testing is the process of executing a program with the intention of finding errors.” – Myers</a:t>
            </a:r>
          </a:p>
          <a:p>
            <a:r>
              <a:rPr lang="en-US" dirty="0"/>
              <a:t>“Testing can show the presence of bugs but never their absence.” - </a:t>
            </a:r>
            <a:r>
              <a:rPr lang="en-US" dirty="0" err="1"/>
              <a:t>Dijkstra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68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Good Testing Practices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good test case is one that has a high probability of detecting an undiscovered defect, not one that shows that the program works correctly</a:t>
            </a:r>
          </a:p>
          <a:p>
            <a:r>
              <a:rPr lang="en-US" dirty="0"/>
              <a:t>It is impossible to test your own program</a:t>
            </a:r>
          </a:p>
          <a:p>
            <a:r>
              <a:rPr lang="en-US" dirty="0"/>
              <a:t>A necessary part of every test case is a description of the expected </a:t>
            </a:r>
            <a:r>
              <a:rPr lang="en-US" dirty="0" smtClean="0"/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29656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Good Testing Practices (cont’d)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Avoid </a:t>
            </a:r>
            <a:r>
              <a:rPr lang="en-US" dirty="0" smtClean="0"/>
              <a:t>non reproducible </a:t>
            </a:r>
            <a:r>
              <a:rPr lang="en-US" dirty="0"/>
              <a:t>or on-the-fly testing</a:t>
            </a:r>
          </a:p>
          <a:p>
            <a:pPr>
              <a:lnSpc>
                <a:spcPct val="90000"/>
              </a:lnSpc>
            </a:pPr>
            <a:r>
              <a:rPr lang="en-US" dirty="0"/>
              <a:t>Write test cases for valid as well as invalid input conditions.</a:t>
            </a:r>
          </a:p>
          <a:p>
            <a:pPr>
              <a:lnSpc>
                <a:spcPct val="90000"/>
              </a:lnSpc>
            </a:pPr>
            <a:r>
              <a:rPr lang="en-US" dirty="0"/>
              <a:t>Thoroughly inspect the results of each test</a:t>
            </a:r>
          </a:p>
          <a:p>
            <a:pPr>
              <a:lnSpc>
                <a:spcPct val="90000"/>
              </a:lnSpc>
            </a:pPr>
            <a:r>
              <a:rPr lang="en-US" dirty="0"/>
              <a:t>As the number of detected defects in a piece of software increases, the probability of the existence of more undetected defects also increases</a:t>
            </a:r>
          </a:p>
        </p:txBody>
      </p:sp>
    </p:spTree>
    <p:extLst>
      <p:ext uri="{BB962C8B-B14F-4D97-AF65-F5344CB8AC3E}">
        <p14:creationId xmlns:p14="http://schemas.microsoft.com/office/powerpoint/2010/main" val="2568489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Good Testing Practices (cont’d)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your best people to testing</a:t>
            </a:r>
          </a:p>
          <a:p>
            <a:r>
              <a:rPr lang="en-US" dirty="0"/>
              <a:t>Ensure that testability is a key objective in your software design</a:t>
            </a:r>
          </a:p>
          <a:p>
            <a:r>
              <a:rPr lang="en-US" dirty="0"/>
              <a:t>Never alter the program to make testing easier</a:t>
            </a:r>
          </a:p>
          <a:p>
            <a:r>
              <a:rPr lang="en-US" dirty="0"/>
              <a:t>Testing, like </a:t>
            </a:r>
            <a:r>
              <a:rPr lang="en-US" dirty="0" smtClean="0"/>
              <a:t>almost </a:t>
            </a:r>
            <a:r>
              <a:rPr lang="en-US" dirty="0"/>
              <a:t>every other activity, must start with objectives</a:t>
            </a:r>
          </a:p>
        </p:txBody>
      </p:sp>
    </p:spTree>
    <p:extLst>
      <p:ext uri="{BB962C8B-B14F-4D97-AF65-F5344CB8AC3E}">
        <p14:creationId xmlns:p14="http://schemas.microsoft.com/office/powerpoint/2010/main" val="1622606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98937F7-8277-4B6F-859B-8D2377453574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Examples of test case</a:t>
            </a:r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466725" y="1700213"/>
            <a:ext cx="8229600" cy="2971800"/>
          </a:xfrm>
          <a:prstGeom prst="rect">
            <a:avLst/>
          </a:prstGeom>
          <a:solidFill>
            <a:srgbClr val="FFCC0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GB" sz="2400" u="sng" dirty="0"/>
              <a:t>Test Input Description</a:t>
            </a:r>
            <a:r>
              <a:rPr lang="en-GB" sz="2400" dirty="0"/>
              <a:t>: </a:t>
            </a:r>
            <a:br>
              <a:rPr lang="en-GB" sz="2400" dirty="0"/>
            </a:br>
            <a:r>
              <a:rPr lang="en-GB" sz="2400" dirty="0"/>
              <a:t>1. Login to &lt;</a:t>
            </a:r>
            <a:r>
              <a:rPr lang="en-GB" sz="2400" dirty="0" err="1"/>
              <a:t>Abc</a:t>
            </a:r>
            <a:r>
              <a:rPr lang="en-GB" sz="2400" dirty="0"/>
              <a:t> page&gt; as administrator </a:t>
            </a:r>
            <a:br>
              <a:rPr lang="en-GB" sz="2400" dirty="0"/>
            </a:br>
            <a:r>
              <a:rPr lang="en-GB" sz="2400" dirty="0"/>
              <a:t>2. Go to Reports page </a:t>
            </a:r>
            <a:br>
              <a:rPr lang="en-GB" sz="2400" dirty="0"/>
            </a:br>
            <a:r>
              <a:rPr lang="en-GB" sz="2400" dirty="0"/>
              <a:t>3. Click on the ‘Schedule reports' button </a:t>
            </a:r>
            <a:br>
              <a:rPr lang="en-GB" sz="2400" dirty="0"/>
            </a:br>
            <a:r>
              <a:rPr lang="en-GB" sz="2400" dirty="0"/>
              <a:t>4. Add reports </a:t>
            </a:r>
            <a:br>
              <a:rPr lang="en-GB" sz="2400" dirty="0"/>
            </a:br>
            <a:r>
              <a:rPr lang="en-GB" sz="2400" dirty="0"/>
              <a:t>5. Update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en-GB" sz="2400" u="sng" dirty="0"/>
              <a:t>Expected Results</a:t>
            </a:r>
            <a:r>
              <a:rPr lang="en-GB" sz="2400" dirty="0"/>
              <a:t>: </a:t>
            </a:r>
            <a:br>
              <a:rPr lang="en-GB" sz="2400" dirty="0"/>
            </a:br>
            <a:r>
              <a:rPr lang="en-GB" sz="2400" dirty="0"/>
              <a:t>The report schedule should get added to the report schedule Table</a:t>
            </a:r>
          </a:p>
        </p:txBody>
      </p:sp>
      <p:sp>
        <p:nvSpPr>
          <p:cNvPr id="26629" name="Text Box 4"/>
          <p:cNvSpPr txBox="1">
            <a:spLocks noChangeArrowheads="1"/>
          </p:cNvSpPr>
          <p:nvPr/>
        </p:nvSpPr>
        <p:spPr bwMode="auto">
          <a:xfrm>
            <a:off x="2051050" y="5013325"/>
            <a:ext cx="5181600" cy="1309688"/>
          </a:xfrm>
          <a:prstGeom prst="rect">
            <a:avLst/>
          </a:prstGeom>
          <a:solidFill>
            <a:srgbClr val="99FFCC"/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latin typeface="Tahoma" pitchFamily="34" charset="0"/>
              </a:rPr>
              <a:t>Test case for </a:t>
            </a:r>
            <a:r>
              <a:rPr lang="en-US" sz="2400" dirty="0">
                <a:solidFill>
                  <a:schemeClr val="hlink"/>
                </a:solidFill>
                <a:latin typeface="Tahoma" pitchFamily="34" charset="0"/>
              </a:rPr>
              <a:t>sort</a:t>
            </a:r>
            <a:r>
              <a:rPr lang="en-US" sz="2400" dirty="0">
                <a:latin typeface="Tahoma" pitchFamily="34" charset="0"/>
              </a:rPr>
              <a:t>: </a:t>
            </a:r>
          </a:p>
          <a:p>
            <a:pPr eaLnBrk="0" hangingPunct="0"/>
            <a:endParaRPr lang="en-US" sz="800" dirty="0">
              <a:latin typeface="Tahoma" pitchFamily="34" charset="0"/>
            </a:endParaRPr>
          </a:p>
          <a:p>
            <a:pPr eaLnBrk="0" hangingPunct="0">
              <a:buFontTx/>
              <a:buChar char="•"/>
            </a:pPr>
            <a:r>
              <a:rPr lang="en-US" sz="2400" dirty="0">
                <a:latin typeface="Tahoma" pitchFamily="34" charset="0"/>
              </a:rPr>
              <a:t> Test data: &lt;12 -29 32 &gt;</a:t>
            </a:r>
          </a:p>
          <a:p>
            <a:pPr eaLnBrk="0" hangingPunct="0">
              <a:buFontTx/>
              <a:buChar char="•"/>
            </a:pPr>
            <a:r>
              <a:rPr lang="en-US" sz="2400" dirty="0">
                <a:latin typeface="Tahoma" pitchFamily="34" charset="0"/>
              </a:rPr>
              <a:t> Expected output: -29 12 32</a:t>
            </a:r>
            <a:endParaRPr lang="en-US" sz="2000" dirty="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37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227956D-869F-49A3-A653-76B3FB415B62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404813"/>
            <a:ext cx="8229600" cy="595312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smtClean="0"/>
              <a:t>Terminology …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28775"/>
            <a:ext cx="8208962" cy="4321175"/>
          </a:xfrm>
        </p:spPr>
        <p:txBody>
          <a:bodyPr>
            <a:normAutofit lnSpcReduction="10000"/>
          </a:bodyPr>
          <a:lstStyle/>
          <a:p>
            <a:pPr marL="609600" indent="-609600" eaLnBrk="1" hangingPunct="1">
              <a:lnSpc>
                <a:spcPct val="80000"/>
              </a:lnSpc>
            </a:pPr>
            <a:r>
              <a:rPr lang="en-US" sz="2000" b="1" smtClean="0"/>
              <a:t>Failure</a:t>
            </a:r>
            <a:r>
              <a:rPr lang="en-US" sz="2000" smtClean="0"/>
              <a:t>: it is an observable incorrect behavior or state of a given system. In this case, the system displays a behavior that is contrary to its specifications/requirements. Thus, a failure is tied (only) to system executions/behaviors and it occurs at runtime when some part of the system enters an unexpected state. </a:t>
            </a:r>
          </a:p>
          <a:p>
            <a:pPr marL="609600" indent="-609600" eaLnBrk="1" hangingPunct="1">
              <a:lnSpc>
                <a:spcPct val="80000"/>
              </a:lnSpc>
            </a:pPr>
            <a:endParaRPr lang="en-US" sz="2000" smtClean="0"/>
          </a:p>
          <a:p>
            <a:pPr marL="609600" indent="-609600" eaLnBrk="1" hangingPunct="1">
              <a:lnSpc>
                <a:spcPct val="80000"/>
              </a:lnSpc>
            </a:pPr>
            <a:r>
              <a:rPr lang="en-US" sz="2000" b="1" smtClean="0"/>
              <a:t>Fault</a:t>
            </a:r>
            <a:r>
              <a:rPr lang="en-US" sz="2000" smtClean="0"/>
              <a:t>: (commonly named “bug/defect”) it is a defect in a system. A failure may be caused by the presence of one or more faults on a given system. However, the presence of a fault in a system may or may not lead to a failure, e.g., a system may contain a fault in its code but on a fragment of code that is never exercised so this kind of fault do not lead to a software failure. </a:t>
            </a:r>
          </a:p>
          <a:p>
            <a:pPr marL="609600" indent="-609600" eaLnBrk="1" hangingPunct="1">
              <a:lnSpc>
                <a:spcPct val="80000"/>
              </a:lnSpc>
            </a:pPr>
            <a:endParaRPr lang="en-US" sz="2000" smtClean="0"/>
          </a:p>
          <a:p>
            <a:pPr marL="609600" indent="-609600" eaLnBrk="1" hangingPunct="1">
              <a:lnSpc>
                <a:spcPct val="80000"/>
              </a:lnSpc>
            </a:pPr>
            <a:r>
              <a:rPr lang="en-US" sz="2000" b="1" smtClean="0"/>
              <a:t>Error</a:t>
            </a:r>
            <a:r>
              <a:rPr lang="en-US" sz="2000" smtClean="0"/>
              <a:t>: it is the developer mistake that produce a fault. Often, it has been caused by human activities such as the typing errors.</a:t>
            </a:r>
          </a:p>
        </p:txBody>
      </p:sp>
    </p:spTree>
    <p:extLst>
      <p:ext uri="{BB962C8B-B14F-4D97-AF65-F5344CB8AC3E}">
        <p14:creationId xmlns:p14="http://schemas.microsoft.com/office/powerpoint/2010/main" val="309731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2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B10674F-8D17-4E3F-976A-E3AFB67A9C2A}" type="slidenum">
              <a:rPr lang="en-US" smtClean="0"/>
              <a:pPr/>
              <a:t>11</a:t>
            </a:fld>
            <a:endParaRPr lang="en-US" smtClean="0"/>
          </a:p>
        </p:txBody>
      </p:sp>
      <p:graphicFrame>
        <p:nvGraphicFramePr>
          <p:cNvPr id="348162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154289"/>
              </p:ext>
            </p:extLst>
          </p:nvPr>
        </p:nvGraphicFramePr>
        <p:xfrm>
          <a:off x="1908174" y="476250"/>
          <a:ext cx="5102225" cy="3319217"/>
        </p:xfrm>
        <a:graphic>
          <a:graphicData uri="http://schemas.openxmlformats.org/drawingml/2006/table">
            <a:tbl>
              <a:tblPr/>
              <a:tblGrid>
                <a:gridCol w="781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6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LOC</a:t>
                      </a: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Code</a:t>
                      </a:r>
                      <a:endParaRPr kumimoji="0" 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8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program double ();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8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var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kumimoji="0" lang="en-US" sz="1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x,y</a:t>
                      </a: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: integer;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8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begin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8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read(x);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8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y := x * x;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8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write(y)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8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end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692" name="Rectangle 23"/>
          <p:cNvSpPr>
            <a:spLocks noChangeArrowheads="1"/>
          </p:cNvSpPr>
          <p:nvPr/>
        </p:nvSpPr>
        <p:spPr bwMode="auto">
          <a:xfrm>
            <a:off x="684213" y="3881438"/>
            <a:ext cx="8208962" cy="249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r>
              <a:rPr lang="en-US" i="1" dirty="0"/>
              <a:t>Failure</a:t>
            </a:r>
            <a:r>
              <a:rPr lang="en-US" dirty="0"/>
              <a:t>:  x = 3 means y =9 </a:t>
            </a:r>
            <a:r>
              <a:rPr lang="en-US" dirty="0">
                <a:sym typeface="Wingdings" pitchFamily="2" charset="2"/>
              </a:rPr>
              <a:t>Failure!</a:t>
            </a:r>
            <a:endParaRPr lang="en-US" dirty="0"/>
          </a:p>
          <a:p>
            <a:pPr lvl="1">
              <a:buFontTx/>
              <a:buChar char="•"/>
            </a:pPr>
            <a:r>
              <a:rPr lang="en-US" dirty="0"/>
              <a:t> </a:t>
            </a:r>
            <a:r>
              <a:rPr lang="en-US" sz="1600" dirty="0"/>
              <a:t>This is a failure of the system since the correct output would be </a:t>
            </a:r>
            <a:r>
              <a:rPr lang="en-US" sz="1600" i="1" dirty="0"/>
              <a:t>6</a:t>
            </a:r>
            <a:r>
              <a:rPr lang="en-US" sz="1600" dirty="0"/>
              <a:t> </a:t>
            </a:r>
          </a:p>
          <a:p>
            <a:endParaRPr lang="en-US" sz="1600" i="1" dirty="0"/>
          </a:p>
          <a:p>
            <a:r>
              <a:rPr lang="en-US" i="1" dirty="0"/>
              <a:t>Fault</a:t>
            </a:r>
            <a:r>
              <a:rPr lang="en-US" dirty="0"/>
              <a:t>: The fault that causes the failure is in line 5. The </a:t>
            </a:r>
            <a:r>
              <a:rPr lang="en-US" i="1" dirty="0"/>
              <a:t>*</a:t>
            </a:r>
            <a:r>
              <a:rPr lang="en-US" dirty="0"/>
              <a:t> operator is used instead of </a:t>
            </a:r>
            <a:r>
              <a:rPr lang="en-US" i="1" dirty="0"/>
              <a:t>+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i="1" dirty="0"/>
              <a:t>Error</a:t>
            </a:r>
            <a:r>
              <a:rPr lang="en-US" dirty="0"/>
              <a:t>: The error that conduces to this fault may be:</a:t>
            </a:r>
          </a:p>
          <a:p>
            <a:pPr lvl="1">
              <a:buFontTx/>
              <a:buChar char="•"/>
            </a:pPr>
            <a:r>
              <a:rPr lang="en-US" sz="1600" dirty="0"/>
              <a:t> a typing error (the developer has written </a:t>
            </a:r>
            <a:r>
              <a:rPr lang="en-US" sz="1600" i="1" dirty="0"/>
              <a:t>*</a:t>
            </a:r>
            <a:r>
              <a:rPr lang="en-US" sz="1600" dirty="0"/>
              <a:t> instead of </a:t>
            </a:r>
            <a:r>
              <a:rPr lang="en-US" sz="1600" i="1" dirty="0"/>
              <a:t>+</a:t>
            </a:r>
            <a:r>
              <a:rPr lang="en-US" sz="1600" dirty="0"/>
              <a:t>) </a:t>
            </a:r>
          </a:p>
          <a:p>
            <a:pPr lvl="1">
              <a:buFontTx/>
              <a:buChar char="•"/>
            </a:pPr>
            <a:r>
              <a:rPr lang="en-US" sz="1600" dirty="0"/>
              <a:t> a conceptual error (e.g., the developer doesn't know how </a:t>
            </a:r>
            <a:r>
              <a:rPr lang="en-US" sz="1600" i="1" dirty="0"/>
              <a:t>to double a number</a:t>
            </a:r>
            <a:r>
              <a:rPr lang="en-US" sz="1600" dirty="0"/>
              <a:t>) </a:t>
            </a:r>
          </a:p>
        </p:txBody>
      </p:sp>
      <p:sp>
        <p:nvSpPr>
          <p:cNvPr id="28693" name="Rectangle 24"/>
          <p:cNvSpPr>
            <a:spLocks noChangeArrowheads="1"/>
          </p:cNvSpPr>
          <p:nvPr/>
        </p:nvSpPr>
        <p:spPr bwMode="auto">
          <a:xfrm>
            <a:off x="6227763" y="188913"/>
            <a:ext cx="2916237" cy="59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en-US" sz="3200"/>
              <a:t>Example …</a:t>
            </a:r>
          </a:p>
        </p:txBody>
      </p:sp>
    </p:spTree>
    <p:extLst>
      <p:ext uri="{BB962C8B-B14F-4D97-AF65-F5344CB8AC3E}">
        <p14:creationId xmlns:p14="http://schemas.microsoft.com/office/powerpoint/2010/main" val="374264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BA66313-DCC3-4270-AC71-F21A9FF4CB09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04813"/>
            <a:ext cx="8229600" cy="503237"/>
          </a:xfrm>
        </p:spPr>
        <p:txBody>
          <a:bodyPr>
            <a:normAutofit/>
          </a:bodyPr>
          <a:lstStyle/>
          <a:p>
            <a:pPr eaLnBrk="1" hangingPunct="1"/>
            <a:r>
              <a:rPr lang="it-IT" sz="2800" smtClean="0"/>
              <a:t>Test phases</a:t>
            </a:r>
          </a:p>
        </p:txBody>
      </p:sp>
      <p:sp>
        <p:nvSpPr>
          <p:cNvPr id="352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7958137" cy="4392612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80000"/>
              </a:lnSpc>
              <a:defRPr/>
            </a:pPr>
            <a:endParaRPr lang="it-IT" sz="2000" dirty="0" smtClean="0"/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sz="2000" b="1" u="sng" dirty="0" smtClean="0"/>
              <a:t>Unit testing</a:t>
            </a:r>
            <a:r>
              <a:rPr lang="en-US" sz="2000" dirty="0" smtClean="0"/>
              <a:t> – this is testing of a single function, procedure, class. It is usually done by the developer, not by a separate testing team.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sz="2000" b="1" u="sng" dirty="0" smtClean="0"/>
              <a:t>Integration testing</a:t>
            </a:r>
            <a:r>
              <a:rPr lang="en-US" sz="2000" dirty="0" smtClean="0"/>
              <a:t> – this checks that units tested in isolation work properly when put together. It often requires drivers and stubs to simulate the missing components while integrating the system.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sz="2000" b="1" u="sng" dirty="0" smtClean="0"/>
              <a:t>System testing</a:t>
            </a:r>
            <a:r>
              <a:rPr lang="en-US" sz="2000" dirty="0" smtClean="0"/>
              <a:t> – here the goal is to ensure that the whole system works properly.</a:t>
            </a:r>
          </a:p>
          <a:p>
            <a:pPr algn="just">
              <a:lnSpc>
                <a:spcPct val="80000"/>
              </a:lnSpc>
              <a:defRPr/>
            </a:pPr>
            <a:r>
              <a:rPr lang="en-US" b="1" u="sng" dirty="0"/>
              <a:t>Acceptance Testing</a:t>
            </a:r>
            <a:r>
              <a:rPr lang="en-US" b="1" dirty="0"/>
              <a:t> </a:t>
            </a:r>
            <a:r>
              <a:rPr lang="en-US" dirty="0"/>
              <a:t>– this checks if the end user functionalities are actually delivered. It is often a contractual prerequisite for the user to accept and pay for the software</a:t>
            </a:r>
            <a:r>
              <a:rPr lang="en-US" dirty="0" smtClean="0"/>
              <a:t>.(UAT)</a:t>
            </a:r>
            <a:endParaRPr lang="en-US" dirty="0"/>
          </a:p>
          <a:p>
            <a:pPr algn="just" eaLnBrk="1" hangingPunct="1">
              <a:lnSpc>
                <a:spcPct val="80000"/>
              </a:lnSpc>
              <a:defRPr/>
            </a:pPr>
            <a:r>
              <a:rPr lang="en-US" sz="2000" b="1" u="sng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Regression Testing</a:t>
            </a:r>
            <a:r>
              <a:rPr lang="en-US" sz="2000" dirty="0" smtClean="0"/>
              <a:t> – this checks that the system preserves its functionality after maintenance and/or evolution. </a:t>
            </a:r>
          </a:p>
          <a:p>
            <a:pPr algn="just" eaLnBrk="1" hangingPunct="1">
              <a:lnSpc>
                <a:spcPct val="80000"/>
              </a:lnSpc>
              <a:defRPr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41778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Defect Seeding (testing/ Testing Team Efficiency)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Willful insertion of defects in to the system to check the efficiency of the testing team.</a:t>
            </a:r>
          </a:p>
          <a:p>
            <a:endParaRPr lang="en-US" dirty="0"/>
          </a:p>
          <a:p>
            <a:r>
              <a:rPr lang="en-US" dirty="0" smtClean="0"/>
              <a:t>Generally, it is not liked by the testing team.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259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45D1ED2-40E4-4054-B9B2-702DFF8D0FEF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41987" name="Text Box 15"/>
          <p:cNvSpPr txBox="1">
            <a:spLocks noChangeArrowheads="1"/>
          </p:cNvSpPr>
          <p:nvPr/>
        </p:nvSpPr>
        <p:spPr bwMode="auto">
          <a:xfrm>
            <a:off x="755650" y="3500438"/>
            <a:ext cx="1146175" cy="36671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i="1" dirty="0">
                <a:latin typeface="Tahoma" pitchFamily="34" charset="0"/>
              </a:rPr>
              <a:t>Version X</a:t>
            </a:r>
          </a:p>
        </p:txBody>
      </p:sp>
      <p:sp>
        <p:nvSpPr>
          <p:cNvPr id="399371" name="Text Box 18"/>
          <p:cNvSpPr txBox="1">
            <a:spLocks noChangeArrowheads="1"/>
          </p:cNvSpPr>
          <p:nvPr/>
        </p:nvSpPr>
        <p:spPr bwMode="auto">
          <a:xfrm>
            <a:off x="5976938" y="3919538"/>
            <a:ext cx="3167062" cy="13239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GB" sz="1600">
                <a:latin typeface="Tahoma" pitchFamily="34" charset="0"/>
              </a:rPr>
              <a:t> find affected testcases (red)</a:t>
            </a:r>
          </a:p>
          <a:p>
            <a:pPr>
              <a:buFontTx/>
              <a:buChar char="•"/>
            </a:pPr>
            <a:r>
              <a:rPr lang="en-GB" sz="1600">
                <a:latin typeface="Tahoma" pitchFamily="34" charset="0"/>
              </a:rPr>
              <a:t> change affected testcases (red)</a:t>
            </a:r>
          </a:p>
          <a:p>
            <a:pPr>
              <a:buFontTx/>
              <a:buChar char="•"/>
            </a:pPr>
            <a:r>
              <a:rPr lang="en-GB" sz="1600">
                <a:latin typeface="Tahoma" pitchFamily="34" charset="0"/>
              </a:rPr>
              <a:t> execute them</a:t>
            </a:r>
          </a:p>
          <a:p>
            <a:pPr>
              <a:buFontTx/>
              <a:buChar char="•"/>
            </a:pPr>
            <a:r>
              <a:rPr lang="en-GB" sz="1600">
                <a:latin typeface="Tahoma" pitchFamily="34" charset="0"/>
              </a:rPr>
              <a:t> define new test cases, if necessary</a:t>
            </a:r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250825" y="4795838"/>
            <a:ext cx="2460625" cy="814387"/>
            <a:chOff x="158" y="3339"/>
            <a:chExt cx="1550" cy="513"/>
          </a:xfrm>
        </p:grpSpPr>
        <p:sp>
          <p:nvSpPr>
            <p:cNvPr id="42012" name="Oval 4"/>
            <p:cNvSpPr>
              <a:spLocks noChangeArrowheads="1"/>
            </p:cNvSpPr>
            <p:nvPr/>
          </p:nvSpPr>
          <p:spPr bwMode="auto">
            <a:xfrm>
              <a:off x="158" y="3566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ahoma" pitchFamily="34" charset="0"/>
              </a:endParaRPr>
            </a:p>
          </p:txBody>
        </p:sp>
        <p:sp>
          <p:nvSpPr>
            <p:cNvPr id="42013" name="Oval 5"/>
            <p:cNvSpPr>
              <a:spLocks noChangeArrowheads="1"/>
            </p:cNvSpPr>
            <p:nvPr/>
          </p:nvSpPr>
          <p:spPr bwMode="auto">
            <a:xfrm>
              <a:off x="476" y="3566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ahoma" pitchFamily="34" charset="0"/>
              </a:endParaRPr>
            </a:p>
          </p:txBody>
        </p:sp>
        <p:sp>
          <p:nvSpPr>
            <p:cNvPr id="42014" name="Oval 6"/>
            <p:cNvSpPr>
              <a:spLocks noChangeArrowheads="1"/>
            </p:cNvSpPr>
            <p:nvPr/>
          </p:nvSpPr>
          <p:spPr bwMode="auto">
            <a:xfrm>
              <a:off x="1428" y="3566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ahoma" pitchFamily="34" charset="0"/>
              </a:endParaRPr>
            </a:p>
          </p:txBody>
        </p:sp>
        <p:sp>
          <p:nvSpPr>
            <p:cNvPr id="42015" name="Text Box 7"/>
            <p:cNvSpPr txBox="1">
              <a:spLocks noChangeArrowheads="1"/>
            </p:cNvSpPr>
            <p:nvPr/>
          </p:nvSpPr>
          <p:spPr bwMode="auto">
            <a:xfrm>
              <a:off x="158" y="3339"/>
              <a:ext cx="27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Tahoma" pitchFamily="34" charset="0"/>
                </a:rPr>
                <a:t>T1</a:t>
              </a:r>
            </a:p>
          </p:txBody>
        </p:sp>
        <p:sp>
          <p:nvSpPr>
            <p:cNvPr id="42016" name="Text Box 14"/>
            <p:cNvSpPr txBox="1">
              <a:spLocks noChangeArrowheads="1"/>
            </p:cNvSpPr>
            <p:nvPr/>
          </p:nvSpPr>
          <p:spPr bwMode="auto">
            <a:xfrm>
              <a:off x="475" y="3339"/>
              <a:ext cx="27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Tahoma" pitchFamily="34" charset="0"/>
                </a:rPr>
                <a:t>T2</a:t>
              </a:r>
            </a:p>
          </p:txBody>
        </p:sp>
        <p:sp>
          <p:nvSpPr>
            <p:cNvPr id="42017" name="Oval 15"/>
            <p:cNvSpPr>
              <a:spLocks noChangeArrowheads="1"/>
            </p:cNvSpPr>
            <p:nvPr/>
          </p:nvSpPr>
          <p:spPr bwMode="auto">
            <a:xfrm>
              <a:off x="838" y="3566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ahoma" pitchFamily="34" charset="0"/>
              </a:endParaRPr>
            </a:p>
          </p:txBody>
        </p:sp>
        <p:sp>
          <p:nvSpPr>
            <p:cNvPr id="42018" name="Text Box 16"/>
            <p:cNvSpPr txBox="1">
              <a:spLocks noChangeArrowheads="1"/>
            </p:cNvSpPr>
            <p:nvPr/>
          </p:nvSpPr>
          <p:spPr bwMode="auto">
            <a:xfrm>
              <a:off x="793" y="3339"/>
              <a:ext cx="27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Tahoma" pitchFamily="34" charset="0"/>
                </a:rPr>
                <a:t>T3</a:t>
              </a:r>
            </a:p>
          </p:txBody>
        </p:sp>
        <p:sp>
          <p:nvSpPr>
            <p:cNvPr id="42019" name="Text Box 17"/>
            <p:cNvSpPr txBox="1">
              <a:spLocks noChangeArrowheads="1"/>
            </p:cNvSpPr>
            <p:nvPr/>
          </p:nvSpPr>
          <p:spPr bwMode="auto">
            <a:xfrm>
              <a:off x="1428" y="3339"/>
              <a:ext cx="2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Tahoma" pitchFamily="34" charset="0"/>
                </a:rPr>
                <a:t>Tn</a:t>
              </a:r>
            </a:p>
          </p:txBody>
        </p:sp>
        <p:sp>
          <p:nvSpPr>
            <p:cNvPr id="42020" name="Text Box 18"/>
            <p:cNvSpPr txBox="1">
              <a:spLocks noChangeArrowheads="1"/>
            </p:cNvSpPr>
            <p:nvPr/>
          </p:nvSpPr>
          <p:spPr bwMode="auto">
            <a:xfrm>
              <a:off x="1098" y="3621"/>
              <a:ext cx="23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Tahoma" pitchFamily="34" charset="0"/>
                </a:rPr>
                <a:t>…</a:t>
              </a:r>
            </a:p>
          </p:txBody>
        </p:sp>
      </p:grp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3563938" y="5156200"/>
            <a:ext cx="3708400" cy="814388"/>
            <a:chOff x="2064" y="3566"/>
            <a:chExt cx="2336" cy="513"/>
          </a:xfrm>
        </p:grpSpPr>
        <p:sp>
          <p:nvSpPr>
            <p:cNvPr id="42002" name="Oval 20"/>
            <p:cNvSpPr>
              <a:spLocks noChangeArrowheads="1"/>
            </p:cNvSpPr>
            <p:nvPr/>
          </p:nvSpPr>
          <p:spPr bwMode="auto">
            <a:xfrm>
              <a:off x="2064" y="3793"/>
              <a:ext cx="227" cy="22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ahoma" pitchFamily="34" charset="0"/>
              </a:endParaRPr>
            </a:p>
          </p:txBody>
        </p:sp>
        <p:sp>
          <p:nvSpPr>
            <p:cNvPr id="42003" name="Oval 21"/>
            <p:cNvSpPr>
              <a:spLocks noChangeArrowheads="1"/>
            </p:cNvSpPr>
            <p:nvPr/>
          </p:nvSpPr>
          <p:spPr bwMode="auto">
            <a:xfrm>
              <a:off x="2382" y="3793"/>
              <a:ext cx="227" cy="2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ahoma" pitchFamily="34" charset="0"/>
              </a:endParaRPr>
            </a:p>
          </p:txBody>
        </p:sp>
        <p:sp>
          <p:nvSpPr>
            <p:cNvPr id="42004" name="Oval 22"/>
            <p:cNvSpPr>
              <a:spLocks noChangeArrowheads="1"/>
            </p:cNvSpPr>
            <p:nvPr/>
          </p:nvSpPr>
          <p:spPr bwMode="auto">
            <a:xfrm>
              <a:off x="3334" y="3793"/>
              <a:ext cx="227" cy="22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ahoma" pitchFamily="34" charset="0"/>
              </a:endParaRPr>
            </a:p>
          </p:txBody>
        </p:sp>
        <p:sp>
          <p:nvSpPr>
            <p:cNvPr id="42005" name="Text Box 23"/>
            <p:cNvSpPr txBox="1">
              <a:spLocks noChangeArrowheads="1"/>
            </p:cNvSpPr>
            <p:nvPr/>
          </p:nvSpPr>
          <p:spPr bwMode="auto">
            <a:xfrm>
              <a:off x="2064" y="3566"/>
              <a:ext cx="27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Tahoma" pitchFamily="34" charset="0"/>
                </a:rPr>
                <a:t>T1</a:t>
              </a:r>
            </a:p>
          </p:txBody>
        </p:sp>
        <p:sp>
          <p:nvSpPr>
            <p:cNvPr id="42006" name="Text Box 28"/>
            <p:cNvSpPr txBox="1">
              <a:spLocks noChangeArrowheads="1"/>
            </p:cNvSpPr>
            <p:nvPr/>
          </p:nvSpPr>
          <p:spPr bwMode="auto">
            <a:xfrm>
              <a:off x="2381" y="3566"/>
              <a:ext cx="27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Tahoma" pitchFamily="34" charset="0"/>
                </a:rPr>
                <a:t>T2</a:t>
              </a:r>
            </a:p>
          </p:txBody>
        </p:sp>
        <p:sp>
          <p:nvSpPr>
            <p:cNvPr id="42007" name="Oval 29"/>
            <p:cNvSpPr>
              <a:spLocks noChangeArrowheads="1"/>
            </p:cNvSpPr>
            <p:nvPr/>
          </p:nvSpPr>
          <p:spPr bwMode="auto">
            <a:xfrm>
              <a:off x="2744" y="3793"/>
              <a:ext cx="227" cy="22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Tahoma" pitchFamily="34" charset="0"/>
              </a:endParaRPr>
            </a:p>
          </p:txBody>
        </p:sp>
        <p:sp>
          <p:nvSpPr>
            <p:cNvPr id="42008" name="Text Box 30"/>
            <p:cNvSpPr txBox="1">
              <a:spLocks noChangeArrowheads="1"/>
            </p:cNvSpPr>
            <p:nvPr/>
          </p:nvSpPr>
          <p:spPr bwMode="auto">
            <a:xfrm>
              <a:off x="2699" y="3566"/>
              <a:ext cx="27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Tahoma" pitchFamily="34" charset="0"/>
                </a:rPr>
                <a:t>T3</a:t>
              </a:r>
            </a:p>
          </p:txBody>
        </p:sp>
        <p:sp>
          <p:nvSpPr>
            <p:cNvPr id="42009" name="Text Box 31"/>
            <p:cNvSpPr txBox="1">
              <a:spLocks noChangeArrowheads="1"/>
            </p:cNvSpPr>
            <p:nvPr/>
          </p:nvSpPr>
          <p:spPr bwMode="auto">
            <a:xfrm>
              <a:off x="3334" y="3566"/>
              <a:ext cx="2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Tahoma" pitchFamily="34" charset="0"/>
                </a:rPr>
                <a:t>Tn</a:t>
              </a:r>
            </a:p>
          </p:txBody>
        </p:sp>
        <p:sp>
          <p:nvSpPr>
            <p:cNvPr id="42010" name="Text Box 32"/>
            <p:cNvSpPr txBox="1">
              <a:spLocks noChangeArrowheads="1"/>
            </p:cNvSpPr>
            <p:nvPr/>
          </p:nvSpPr>
          <p:spPr bwMode="auto">
            <a:xfrm>
              <a:off x="3004" y="3848"/>
              <a:ext cx="23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Tahoma" pitchFamily="34" charset="0"/>
                </a:rPr>
                <a:t>…</a:t>
              </a:r>
            </a:p>
          </p:txBody>
        </p:sp>
        <p:sp>
          <p:nvSpPr>
            <p:cNvPr id="42011" name="Text Box 54"/>
            <p:cNvSpPr txBox="1">
              <a:spLocks noChangeArrowheads="1"/>
            </p:cNvSpPr>
            <p:nvPr/>
          </p:nvSpPr>
          <p:spPr bwMode="auto">
            <a:xfrm>
              <a:off x="3666" y="3612"/>
              <a:ext cx="734" cy="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GB" sz="1400">
                  <a:solidFill>
                    <a:srgbClr val="FF0000"/>
                  </a:solidFill>
                  <a:latin typeface="Tahoma" pitchFamily="34" charset="0"/>
                </a:rPr>
                <a:t>Testcases</a:t>
              </a:r>
            </a:p>
            <a:p>
              <a:pPr algn="ctr"/>
              <a:r>
                <a:rPr lang="en-GB" sz="1400">
                  <a:solidFill>
                    <a:srgbClr val="FF0000"/>
                  </a:solidFill>
                  <a:latin typeface="Tahoma" pitchFamily="34" charset="0"/>
                </a:rPr>
                <a:t>to </a:t>
              </a:r>
            </a:p>
            <a:p>
              <a:pPr algn="ctr"/>
              <a:r>
                <a:rPr lang="en-GB" sz="1400">
                  <a:solidFill>
                    <a:srgbClr val="FF0000"/>
                  </a:solidFill>
                  <a:latin typeface="Tahoma" pitchFamily="34" charset="0"/>
                </a:rPr>
                <a:t>modify</a:t>
              </a:r>
            </a:p>
          </p:txBody>
        </p:sp>
      </p:grpSp>
      <p:sp>
        <p:nvSpPr>
          <p:cNvPr id="41991" name="Rectangle 33"/>
          <p:cNvSpPr>
            <a:spLocks noChangeArrowheads="1"/>
          </p:cNvSpPr>
          <p:nvPr/>
        </p:nvSpPr>
        <p:spPr bwMode="auto">
          <a:xfrm>
            <a:off x="250825" y="1484313"/>
            <a:ext cx="86423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 sz="2000" dirty="0"/>
              <a:t>Selective re-testing of a system or component to verify that modifications have not caused unintended effects </a:t>
            </a:r>
          </a:p>
          <a:p>
            <a:r>
              <a:rPr lang="en-GB" sz="2000" dirty="0"/>
              <a:t>	- Ripple effects</a:t>
            </a:r>
          </a:p>
          <a:p>
            <a:r>
              <a:rPr lang="en-GB" sz="2000" dirty="0"/>
              <a:t>Can be conducted at each of the test levels:  unit, integration, system</a:t>
            </a:r>
          </a:p>
        </p:txBody>
      </p:sp>
      <p:sp>
        <p:nvSpPr>
          <p:cNvPr id="41992" name="Rectangle 35"/>
          <p:cNvSpPr>
            <a:spLocks noChangeArrowheads="1"/>
          </p:cNvSpPr>
          <p:nvPr/>
        </p:nvSpPr>
        <p:spPr bwMode="auto">
          <a:xfrm>
            <a:off x="827088" y="3500438"/>
            <a:ext cx="1081087" cy="86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40"/>
          <p:cNvGrpSpPr>
            <a:grpSpLocks/>
          </p:cNvGrpSpPr>
          <p:nvPr/>
        </p:nvGrpSpPr>
        <p:grpSpPr bwMode="auto">
          <a:xfrm>
            <a:off x="2266950" y="3355975"/>
            <a:ext cx="4814888" cy="1008063"/>
            <a:chOff x="1428" y="2432"/>
            <a:chExt cx="3033" cy="635"/>
          </a:xfrm>
        </p:grpSpPr>
        <p:sp>
          <p:nvSpPr>
            <p:cNvPr id="41995" name="Rectangle 13"/>
            <p:cNvSpPr>
              <a:spLocks noChangeArrowheads="1"/>
            </p:cNvSpPr>
            <p:nvPr/>
          </p:nvSpPr>
          <p:spPr bwMode="auto">
            <a:xfrm>
              <a:off x="3334" y="2795"/>
              <a:ext cx="150" cy="163"/>
            </a:xfrm>
            <a:prstGeom prst="rect">
              <a:avLst/>
            </a:prstGeom>
            <a:solidFill>
              <a:srgbClr val="FF0000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GB" sz="2400">
                <a:latin typeface="Tahoma" pitchFamily="34" charset="0"/>
              </a:endParaRPr>
            </a:p>
          </p:txBody>
        </p:sp>
        <p:sp>
          <p:nvSpPr>
            <p:cNvPr id="41996" name="Text Box 17"/>
            <p:cNvSpPr txBox="1">
              <a:spLocks noChangeArrowheads="1"/>
            </p:cNvSpPr>
            <p:nvPr/>
          </p:nvSpPr>
          <p:spPr bwMode="auto">
            <a:xfrm>
              <a:off x="1428" y="2478"/>
              <a:ext cx="942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Tahoma" pitchFamily="34" charset="0"/>
                </a:rPr>
                <a:t>Modifications</a:t>
              </a:r>
            </a:p>
          </p:txBody>
        </p:sp>
        <p:sp>
          <p:nvSpPr>
            <p:cNvPr id="41997" name="TextBox 31"/>
            <p:cNvSpPr txBox="1">
              <a:spLocks noChangeArrowheads="1"/>
            </p:cNvSpPr>
            <p:nvPr/>
          </p:nvSpPr>
          <p:spPr bwMode="auto">
            <a:xfrm>
              <a:off x="3787" y="2432"/>
              <a:ext cx="67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it-IT" i="1">
                  <a:latin typeface="Tahoma" pitchFamily="34" charset="0"/>
                </a:rPr>
                <a:t>Changed</a:t>
              </a:r>
            </a:p>
          </p:txBody>
        </p:sp>
        <p:cxnSp>
          <p:nvCxnSpPr>
            <p:cNvPr id="41998" name="Straight Arrow Connector 33"/>
            <p:cNvCxnSpPr>
              <a:cxnSpLocks noChangeShapeType="1"/>
            </p:cNvCxnSpPr>
            <p:nvPr/>
          </p:nvCxnSpPr>
          <p:spPr bwMode="auto">
            <a:xfrm rot="10800000" flipV="1">
              <a:off x="3424" y="2614"/>
              <a:ext cx="384" cy="24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  <p:sp>
          <p:nvSpPr>
            <p:cNvPr id="41999" name="Line 34"/>
            <p:cNvSpPr>
              <a:spLocks noChangeShapeType="1"/>
            </p:cNvSpPr>
            <p:nvPr/>
          </p:nvSpPr>
          <p:spPr bwMode="auto">
            <a:xfrm>
              <a:off x="1519" y="2750"/>
              <a:ext cx="8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000" name="Text Box 15"/>
            <p:cNvSpPr txBox="1">
              <a:spLocks noChangeArrowheads="1"/>
            </p:cNvSpPr>
            <p:nvPr/>
          </p:nvSpPr>
          <p:spPr bwMode="auto">
            <a:xfrm>
              <a:off x="2562" y="2523"/>
              <a:ext cx="953" cy="23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 i="1" dirty="0">
                  <a:latin typeface="Tahoma" pitchFamily="34" charset="0"/>
                </a:rPr>
                <a:t>Version X+1</a:t>
              </a:r>
            </a:p>
          </p:txBody>
        </p:sp>
        <p:sp>
          <p:nvSpPr>
            <p:cNvPr id="42001" name="Rectangle 37"/>
            <p:cNvSpPr>
              <a:spLocks noChangeArrowheads="1"/>
            </p:cNvSpPr>
            <p:nvPr/>
          </p:nvSpPr>
          <p:spPr bwMode="auto">
            <a:xfrm>
              <a:off x="2607" y="2523"/>
              <a:ext cx="908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994" name="Rectangle 42"/>
          <p:cNvSpPr>
            <a:spLocks noGrp="1" noChangeArrowheads="1"/>
          </p:cNvSpPr>
          <p:nvPr>
            <p:ph type="title"/>
          </p:nvPr>
        </p:nvSpPr>
        <p:spPr>
          <a:xfrm>
            <a:off x="539750" y="404813"/>
            <a:ext cx="8604250" cy="576262"/>
          </a:xfrm>
        </p:spPr>
        <p:txBody>
          <a:bodyPr lIns="90000" tIns="46800" rIns="90000" bIns="46800"/>
          <a:lstStyle/>
          <a:p>
            <a:pPr eaLnBrk="1" hangingPunct="1">
              <a:lnSpc>
                <a:spcPct val="85000"/>
              </a:lnSpc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3200" dirty="0" smtClean="0"/>
              <a:t>Regression testing</a:t>
            </a:r>
          </a:p>
        </p:txBody>
      </p:sp>
    </p:spTree>
    <p:extLst>
      <p:ext uri="{BB962C8B-B14F-4D97-AF65-F5344CB8AC3E}">
        <p14:creationId xmlns:p14="http://schemas.microsoft.com/office/powerpoint/2010/main" val="180957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7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8263"/>
            <a:ext cx="8458200" cy="825500"/>
          </a:xfrm>
        </p:spPr>
        <p:txBody>
          <a:bodyPr/>
          <a:lstStyle/>
          <a:p>
            <a:pPr algn="ctr"/>
            <a:r>
              <a:rPr lang="en-US"/>
              <a:t>Detailed  Test  Cases 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b="1" dirty="0"/>
              <a:t>The  test  cases  will  have  a  generic  format  as</a:t>
            </a:r>
          </a:p>
          <a:p>
            <a:pPr>
              <a:buFont typeface="Arial" charset="0"/>
              <a:buNone/>
            </a:pPr>
            <a:r>
              <a:rPr lang="en-US" b="1" dirty="0"/>
              <a:t>below.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Test  Case  Id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Test  Case  Description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Test  Prerequisite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Test  Inputs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Test  Steps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Expected  Results </a:t>
            </a: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2819400" y="6248400"/>
            <a:ext cx="33528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7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8263"/>
            <a:ext cx="8458200" cy="825500"/>
          </a:xfrm>
        </p:spPr>
        <p:txBody>
          <a:bodyPr/>
          <a:lstStyle/>
          <a:p>
            <a:pPr algn="ctr"/>
            <a:r>
              <a:rPr lang="en-US"/>
              <a:t>Testing  Vs  Debugging 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Testing  is  focused  on  identifying  the  problems  in  the  product 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Done by Tester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Need not know the source code</a:t>
            </a:r>
          </a:p>
          <a:p>
            <a:pPr>
              <a:buFont typeface="Arial" charset="0"/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A50021"/>
                </a:solidFill>
              </a:rPr>
              <a:t>Debugging is to make sure that the bugs are removed or fixed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A50021"/>
                </a:solidFill>
              </a:rPr>
              <a:t>Done by Developer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A50021"/>
                </a:solidFill>
              </a:rPr>
              <a:t>Need to know the source Code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2819400" y="6248400"/>
            <a:ext cx="33528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57200">
              <a:spcBef>
                <a:spcPct val="5000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10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</TotalTime>
  <Words>1013</Words>
  <Application>Microsoft Office PowerPoint</Application>
  <PresentationFormat>On-screen Show (4:3)</PresentationFormat>
  <Paragraphs>141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Tahoma</vt:lpstr>
      <vt:lpstr>Wingdings</vt:lpstr>
      <vt:lpstr>Wingdings 3</vt:lpstr>
      <vt:lpstr>Retrospect</vt:lpstr>
      <vt:lpstr>Software Engineering</vt:lpstr>
      <vt:lpstr>PowerPoint Presentation</vt:lpstr>
      <vt:lpstr>PowerPoint Presentation</vt:lpstr>
      <vt:lpstr>Software Testing</vt:lpstr>
      <vt:lpstr>Observations about Testing</vt:lpstr>
      <vt:lpstr>Good Testing Practices</vt:lpstr>
      <vt:lpstr>Good Testing Practices (cont’d)</vt:lpstr>
      <vt:lpstr>Good Testing Practices (cont’d)</vt:lpstr>
      <vt:lpstr>Examples of test case</vt:lpstr>
      <vt:lpstr>Terminology …</vt:lpstr>
      <vt:lpstr>PowerPoint Presentation</vt:lpstr>
      <vt:lpstr>Test phases</vt:lpstr>
      <vt:lpstr>Defect Seeding (testing/ Testing Team Efficiency)</vt:lpstr>
      <vt:lpstr>Regression testing</vt:lpstr>
      <vt:lpstr>Detailed  Test  Cases </vt:lpstr>
      <vt:lpstr>Testing  Vs  Debugging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Design &amp; Architecture </dc:title>
  <dc:creator/>
  <cp:lastModifiedBy>Windows User</cp:lastModifiedBy>
  <cp:revision>177</cp:revision>
  <dcterms:created xsi:type="dcterms:W3CDTF">2006-08-16T00:00:00Z</dcterms:created>
  <dcterms:modified xsi:type="dcterms:W3CDTF">2023-12-28T04:13:11Z</dcterms:modified>
</cp:coreProperties>
</file>