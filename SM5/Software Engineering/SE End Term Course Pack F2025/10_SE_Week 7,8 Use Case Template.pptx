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4DB0-E37E-4BC8-B1E3-29E8E72D0A08}" type="datetimeFigureOut">
              <a:rPr lang="en-US" smtClean="0"/>
              <a:t>03-Dec-20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F3BC-284F-4851-BB4F-B6D3D62010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4DB0-E37E-4BC8-B1E3-29E8E72D0A08}" type="datetimeFigureOut">
              <a:rPr lang="en-US" smtClean="0"/>
              <a:t>03-Dec-20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F3BC-284F-4851-BB4F-B6D3D62010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4DB0-E37E-4BC8-B1E3-29E8E72D0A08}" type="datetimeFigureOut">
              <a:rPr lang="en-US" smtClean="0"/>
              <a:t>03-Dec-20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F3BC-284F-4851-BB4F-B6D3D62010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4DB0-E37E-4BC8-B1E3-29E8E72D0A08}" type="datetimeFigureOut">
              <a:rPr lang="en-US" smtClean="0"/>
              <a:t>03-Dec-20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F3BC-284F-4851-BB4F-B6D3D62010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4DB0-E37E-4BC8-B1E3-29E8E72D0A08}" type="datetimeFigureOut">
              <a:rPr lang="en-US" smtClean="0"/>
              <a:t>03-Dec-20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F3BC-284F-4851-BB4F-B6D3D62010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4DB0-E37E-4BC8-B1E3-29E8E72D0A08}" type="datetimeFigureOut">
              <a:rPr lang="en-US" smtClean="0"/>
              <a:t>03-Dec-20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F3BC-284F-4851-BB4F-B6D3D62010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4DB0-E37E-4BC8-B1E3-29E8E72D0A08}" type="datetimeFigureOut">
              <a:rPr lang="en-US" smtClean="0"/>
              <a:t>03-Dec-20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F3BC-284F-4851-BB4F-B6D3D62010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4DB0-E37E-4BC8-B1E3-29E8E72D0A08}" type="datetimeFigureOut">
              <a:rPr lang="en-US" smtClean="0"/>
              <a:t>03-Dec-20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F3BC-284F-4851-BB4F-B6D3D62010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4DB0-E37E-4BC8-B1E3-29E8E72D0A08}" type="datetimeFigureOut">
              <a:rPr lang="en-US" smtClean="0"/>
              <a:t>03-Dec-20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F3BC-284F-4851-BB4F-B6D3D62010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4DB0-E37E-4BC8-B1E3-29E8E72D0A08}" type="datetimeFigureOut">
              <a:rPr lang="en-US" smtClean="0"/>
              <a:t>03-Dec-20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F3BC-284F-4851-BB4F-B6D3D62010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4DB0-E37E-4BC8-B1E3-29E8E72D0A08}" type="datetimeFigureOut">
              <a:rPr lang="en-US" smtClean="0"/>
              <a:t>03-Dec-20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F3BC-284F-4851-BB4F-B6D3D62010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533400"/>
            <a:ext cx="8229600" cy="5562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91B39972-D98D-4816-AE96-BA91BDE7D94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CMSC 345, Version 9/07</a:t>
            </a:r>
          </a:p>
          <a:p>
            <a:r>
              <a:rPr lang="en-US"/>
              <a:t>S. Mitchell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C4DB0-E37E-4BC8-B1E3-29E8E72D0A08}" type="datetimeFigureOut">
              <a:rPr lang="en-US" smtClean="0"/>
              <a:t>03-Dec-20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F3BC-284F-4851-BB4F-B6D3D620106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68EFA3-1893-41A0-A1FF-0F19EDFE58C1}" type="slidenum">
              <a:rPr lang="en-US"/>
              <a:pPr/>
              <a:t>1</a:t>
            </a:fld>
            <a:endParaRPr lang="en-US"/>
          </a:p>
        </p:txBody>
      </p:sp>
      <p:sp>
        <p:nvSpPr>
          <p:cNvPr id="6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CMSC 345, Version 9/07</a:t>
            </a:r>
          </a:p>
          <a:p>
            <a:r>
              <a:rPr lang="en-US"/>
              <a:t>S. Mitchell</a:t>
            </a:r>
          </a:p>
        </p:txBody>
      </p:sp>
      <p:graphicFrame>
        <p:nvGraphicFramePr>
          <p:cNvPr id="95234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884094"/>
              </p:ext>
            </p:extLst>
          </p:nvPr>
        </p:nvGraphicFramePr>
        <p:xfrm>
          <a:off x="381000" y="914400"/>
          <a:ext cx="8229600" cy="5364480"/>
        </p:xfrm>
        <a:graphic>
          <a:graphicData uri="http://schemas.openxmlformats.org/drawingml/2006/table">
            <a:tbl>
              <a:tblPr/>
              <a:tblGrid>
                <a:gridCol w="213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Number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Summary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Priority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Preconditions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Postconditions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Primary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Secondary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Trigger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Main Scenario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Extensions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Branching 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Open Issues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5295" name="Text Box 63"/>
          <p:cNvSpPr txBox="1">
            <a:spLocks noChangeArrowheads="1"/>
          </p:cNvSpPr>
          <p:nvPr/>
        </p:nvSpPr>
        <p:spPr bwMode="auto">
          <a:xfrm>
            <a:off x="2286000" y="3810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Use Case Specification Template*</a:t>
            </a:r>
          </a:p>
        </p:txBody>
      </p:sp>
      <p:sp>
        <p:nvSpPr>
          <p:cNvPr id="95296" name="Text Box 64"/>
          <p:cNvSpPr txBox="1">
            <a:spLocks noChangeArrowheads="1"/>
          </p:cNvSpPr>
          <p:nvPr/>
        </p:nvSpPr>
        <p:spPr bwMode="auto">
          <a:xfrm>
            <a:off x="3810000" y="6400800"/>
            <a:ext cx="4800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*Adapted from A. Cockburn, “Basic Use Case Template”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EAE29A-48A1-4BF6-8558-181DD1948381}" type="slidenum">
              <a:rPr lang="en-US"/>
              <a:pPr/>
              <a:t>2</a:t>
            </a:fld>
            <a:endParaRPr lang="en-US"/>
          </a:p>
        </p:txBody>
      </p:sp>
      <p:sp>
        <p:nvSpPr>
          <p:cNvPr id="6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CMSC 345, Version 9/07</a:t>
            </a:r>
          </a:p>
          <a:p>
            <a:r>
              <a:rPr lang="en-US"/>
              <a:t>S. Mitchell</a:t>
            </a:r>
          </a:p>
        </p:txBody>
      </p:sp>
      <p:graphicFrame>
        <p:nvGraphicFramePr>
          <p:cNvPr id="93186" name="Group 2"/>
          <p:cNvGraphicFramePr>
            <a:graphicFrameLocks noGrp="1"/>
          </p:cNvGraphicFramePr>
          <p:nvPr/>
        </p:nvGraphicFramePr>
        <p:xfrm>
          <a:off x="381000" y="914400"/>
          <a:ext cx="8229600" cy="5364480"/>
        </p:xfrm>
        <a:graphic>
          <a:graphicData uri="http://schemas.openxmlformats.org/drawingml/2006/table">
            <a:tbl>
              <a:tblPr/>
              <a:tblGrid>
                <a:gridCol w="213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Unique use case 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Brief verb-noun phrase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Summary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Brief summary of use case major actions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Priority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1-5 (1 = lowest priority, 5 = highest priority)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Postconditions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Primary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Secondary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Trigger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Main Scenario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Extensions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Branching 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Open Issues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3247" name="Text Box 63"/>
          <p:cNvSpPr txBox="1">
            <a:spLocks noChangeArrowheads="1"/>
          </p:cNvSpPr>
          <p:nvPr/>
        </p:nvSpPr>
        <p:spPr bwMode="auto">
          <a:xfrm>
            <a:off x="2286000" y="3810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Use Case Specification Template*</a:t>
            </a:r>
          </a:p>
        </p:txBody>
      </p:sp>
      <p:sp>
        <p:nvSpPr>
          <p:cNvPr id="93248" name="Text Box 64"/>
          <p:cNvSpPr txBox="1">
            <a:spLocks noChangeArrowheads="1"/>
          </p:cNvSpPr>
          <p:nvPr/>
        </p:nvSpPr>
        <p:spPr bwMode="auto">
          <a:xfrm>
            <a:off x="3810000" y="6400800"/>
            <a:ext cx="4800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*Adapted from A. Cockburn, “Basic Use Case Template”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B9E4C5-D360-485A-8FBF-9CDC51D4C5AC}" type="slidenum">
              <a:rPr lang="en-US"/>
              <a:pPr/>
              <a:t>3</a:t>
            </a:fld>
            <a:endParaRPr lang="en-US"/>
          </a:p>
        </p:txBody>
      </p:sp>
      <p:sp>
        <p:nvSpPr>
          <p:cNvPr id="68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CMSC 345, Version 9/07</a:t>
            </a:r>
          </a:p>
          <a:p>
            <a:r>
              <a:rPr lang="en-US"/>
              <a:t>S. Mitchell</a:t>
            </a:r>
          </a:p>
        </p:txBody>
      </p:sp>
      <p:graphicFrame>
        <p:nvGraphicFramePr>
          <p:cNvPr id="94210" name="Group 2"/>
          <p:cNvGraphicFramePr>
            <a:graphicFrameLocks noGrp="1"/>
          </p:cNvGraphicFramePr>
          <p:nvPr/>
        </p:nvGraphicFramePr>
        <p:xfrm>
          <a:off x="381000" y="914400"/>
          <a:ext cx="8229600" cy="5364480"/>
        </p:xfrm>
        <a:graphic>
          <a:graphicData uri="http://schemas.openxmlformats.org/drawingml/2006/table">
            <a:tbl>
              <a:tblPr/>
              <a:tblGrid>
                <a:gridCol w="213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Summary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Priority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needs to be true before the use case “executes”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Postconditions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will be true after the use case successfully “executes”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Primary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Secondary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Trigger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Main Scenario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Extensions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Branching 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Open Issues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4271" name="Text Box 63"/>
          <p:cNvSpPr txBox="1">
            <a:spLocks noChangeArrowheads="1"/>
          </p:cNvSpPr>
          <p:nvPr/>
        </p:nvSpPr>
        <p:spPr bwMode="auto">
          <a:xfrm>
            <a:off x="2286000" y="3810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Use Case Specification Template*</a:t>
            </a:r>
          </a:p>
        </p:txBody>
      </p:sp>
      <p:sp>
        <p:nvSpPr>
          <p:cNvPr id="94272" name="Text Box 64"/>
          <p:cNvSpPr txBox="1">
            <a:spLocks noChangeArrowheads="1"/>
          </p:cNvSpPr>
          <p:nvPr/>
        </p:nvSpPr>
        <p:spPr bwMode="auto">
          <a:xfrm>
            <a:off x="3810000" y="6400800"/>
            <a:ext cx="4800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*Adapted from A. Cockburn, “Basic Use Case Template”</a:t>
            </a:r>
          </a:p>
        </p:txBody>
      </p:sp>
      <p:sp>
        <p:nvSpPr>
          <p:cNvPr id="94273" name="Text Box 65"/>
          <p:cNvSpPr txBox="1">
            <a:spLocks noChangeArrowheads="1"/>
          </p:cNvSpPr>
          <p:nvPr/>
        </p:nvSpPr>
        <p:spPr bwMode="auto">
          <a:xfrm>
            <a:off x="228600" y="3276600"/>
            <a:ext cx="3733800" cy="2030413"/>
          </a:xfrm>
          <a:prstGeom prst="rect">
            <a:avLst/>
          </a:prstGeom>
          <a:solidFill>
            <a:schemeClr val="folHlink"/>
          </a:solidFill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/>
              <a:t>Precondition: y != 0</a:t>
            </a:r>
          </a:p>
          <a:p>
            <a:pPr>
              <a:spcBef>
                <a:spcPct val="50000"/>
              </a:spcBef>
            </a:pPr>
            <a:r>
              <a:rPr lang="en-US" i="1"/>
              <a:t>Postcondition: x / y</a:t>
            </a:r>
          </a:p>
          <a:p>
            <a:pPr>
              <a:spcBef>
                <a:spcPct val="50000"/>
              </a:spcBef>
            </a:pPr>
            <a:r>
              <a:rPr lang="en-US"/>
              <a:t>double divide(double x, double y) {</a:t>
            </a:r>
          </a:p>
          <a:p>
            <a:pPr>
              <a:spcBef>
                <a:spcPct val="50000"/>
              </a:spcBef>
            </a:pPr>
            <a:r>
              <a:rPr lang="en-US"/>
              <a:t>     return (x / y); </a:t>
            </a:r>
          </a:p>
          <a:p>
            <a:pPr>
              <a:spcBef>
                <a:spcPct val="50000"/>
              </a:spcBef>
            </a:pPr>
            <a:r>
              <a:rPr lang="en-US"/>
              <a:t>}</a:t>
            </a:r>
          </a:p>
        </p:txBody>
      </p:sp>
      <p:sp>
        <p:nvSpPr>
          <p:cNvPr id="94274" name="Text Box 66"/>
          <p:cNvSpPr txBox="1">
            <a:spLocks noChangeArrowheads="1"/>
          </p:cNvSpPr>
          <p:nvPr/>
        </p:nvSpPr>
        <p:spPr bwMode="auto">
          <a:xfrm>
            <a:off x="4343400" y="3276600"/>
            <a:ext cx="4267200" cy="2443163"/>
          </a:xfrm>
          <a:prstGeom prst="rect">
            <a:avLst/>
          </a:prstGeom>
          <a:solidFill>
            <a:schemeClr val="folHlink"/>
          </a:solidFill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/>
              <a:t>Precondition: None</a:t>
            </a:r>
          </a:p>
          <a:p>
            <a:pPr>
              <a:spcBef>
                <a:spcPct val="50000"/>
              </a:spcBef>
            </a:pPr>
            <a:r>
              <a:rPr lang="en-US" i="1"/>
              <a:t>Postcondition: if y==0 “Illegal”, else x / y</a:t>
            </a:r>
          </a:p>
          <a:p>
            <a:pPr>
              <a:spcBef>
                <a:spcPct val="50000"/>
              </a:spcBef>
            </a:pPr>
            <a:r>
              <a:rPr lang="en-US"/>
              <a:t>double divide(double x, double y) {</a:t>
            </a:r>
          </a:p>
          <a:p>
            <a:pPr>
              <a:spcBef>
                <a:spcPct val="50000"/>
              </a:spcBef>
            </a:pPr>
            <a:r>
              <a:rPr lang="en-US"/>
              <a:t>     if (y == 0) cout &lt;&lt; “Illegal\n”;</a:t>
            </a:r>
          </a:p>
          <a:p>
            <a:pPr>
              <a:spcBef>
                <a:spcPct val="50000"/>
              </a:spcBef>
            </a:pPr>
            <a:r>
              <a:rPr lang="en-US"/>
              <a:t>          else return (x / y); </a:t>
            </a:r>
          </a:p>
          <a:p>
            <a:pPr>
              <a:spcBef>
                <a:spcPct val="50000"/>
              </a:spcBef>
            </a:pPr>
            <a:r>
              <a:rPr lang="en-US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73" grpId="0" build="allAtOnce" animBg="1"/>
      <p:bldP spid="94274" grpId="0" build="allAtOnce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F28191-B0EC-4567-A8E5-5454C0CB188E}" type="slidenum">
              <a:rPr lang="en-US"/>
              <a:pPr/>
              <a:t>4</a:t>
            </a:fld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CMSC 345, Version 9/07</a:t>
            </a:r>
          </a:p>
          <a:p>
            <a:r>
              <a:rPr lang="en-US"/>
              <a:t>S. Mitchell</a:t>
            </a:r>
          </a:p>
        </p:txBody>
      </p:sp>
      <p:graphicFrame>
        <p:nvGraphicFramePr>
          <p:cNvPr id="85079" name="Group 87"/>
          <p:cNvGraphicFramePr>
            <a:graphicFrameLocks noGrp="1"/>
          </p:cNvGraphicFramePr>
          <p:nvPr/>
        </p:nvGraphicFramePr>
        <p:xfrm>
          <a:off x="381000" y="914400"/>
          <a:ext cx="8229600" cy="5364480"/>
        </p:xfrm>
        <a:graphic>
          <a:graphicData uri="http://schemas.openxmlformats.org/drawingml/2006/table">
            <a:tbl>
              <a:tblPr/>
              <a:tblGrid>
                <a:gridCol w="213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Summary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Priority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Postconditions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Primary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Primary actor name(s)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Secondary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Secondary actor name(s)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Trigger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Main Scenario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Extensions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Branching 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Open Issues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5057" name="Text Box 65"/>
          <p:cNvSpPr txBox="1">
            <a:spLocks noChangeArrowheads="1"/>
          </p:cNvSpPr>
          <p:nvPr/>
        </p:nvSpPr>
        <p:spPr bwMode="auto">
          <a:xfrm>
            <a:off x="2286000" y="3810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Use Case Specification Template*</a:t>
            </a:r>
          </a:p>
        </p:txBody>
      </p:sp>
      <p:sp>
        <p:nvSpPr>
          <p:cNvPr id="85080" name="Text Box 88"/>
          <p:cNvSpPr txBox="1">
            <a:spLocks noChangeArrowheads="1"/>
          </p:cNvSpPr>
          <p:nvPr/>
        </p:nvSpPr>
        <p:spPr bwMode="auto">
          <a:xfrm>
            <a:off x="3810000" y="6400800"/>
            <a:ext cx="4800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*Adapted from A. Cockburn, “Basic Use Case Template”</a:t>
            </a:r>
          </a:p>
        </p:txBody>
      </p:sp>
      <p:sp>
        <p:nvSpPr>
          <p:cNvPr id="85081" name="Text Box 89"/>
          <p:cNvSpPr txBox="1">
            <a:spLocks noChangeArrowheads="1"/>
          </p:cNvSpPr>
          <p:nvPr/>
        </p:nvSpPr>
        <p:spPr bwMode="auto">
          <a:xfrm>
            <a:off x="4800600" y="152400"/>
            <a:ext cx="4267200" cy="3128963"/>
          </a:xfrm>
          <a:prstGeom prst="rect">
            <a:avLst/>
          </a:prstGeom>
          <a:solidFill>
            <a:schemeClr val="folHlink"/>
          </a:solidFill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</a:rPr>
              <a:t>Actor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>
                <a:solidFill>
                  <a:schemeClr val="bg1"/>
                </a:solidFill>
              </a:rPr>
              <a:t> Anyone or anything with behavior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>
                <a:solidFill>
                  <a:schemeClr val="bg1"/>
                </a:solidFill>
              </a:rPr>
              <a:t> May be a person or system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Primary</a:t>
            </a:r>
            <a:r>
              <a:rPr lang="en-US" dirty="0">
                <a:solidFill>
                  <a:schemeClr val="bg1"/>
                </a:solidFill>
              </a:rPr>
              <a:t>: The stakeholder who or which initiates an interaction with the system to achieve a goal. Is generally a category of individuals (a </a:t>
            </a:r>
            <a:r>
              <a:rPr lang="en-US" b="1" dirty="0">
                <a:solidFill>
                  <a:schemeClr val="bg1"/>
                </a:solidFill>
              </a:rPr>
              <a:t>role</a:t>
            </a:r>
            <a:r>
              <a:rPr lang="en-US" dirty="0">
                <a:solidFill>
                  <a:schemeClr val="bg1"/>
                </a:solidFill>
              </a:rPr>
              <a:t>).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Secondary</a:t>
            </a:r>
            <a:r>
              <a:rPr lang="en-US" dirty="0">
                <a:solidFill>
                  <a:schemeClr val="bg1"/>
                </a:solidFill>
              </a:rPr>
              <a:t>: Provides a service to the system. Is almost never a person.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8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180359-0CCA-4E13-B91B-CF0223C8D7F7}" type="slidenum">
              <a:rPr lang="en-US"/>
              <a:pPr/>
              <a:t>5</a:t>
            </a:fld>
            <a:endParaRPr lang="en-US"/>
          </a:p>
        </p:txBody>
      </p:sp>
      <p:sp>
        <p:nvSpPr>
          <p:cNvPr id="6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CMSC 345, Version 9/07</a:t>
            </a:r>
          </a:p>
          <a:p>
            <a:r>
              <a:rPr lang="en-US"/>
              <a:t>S. Mitchell</a:t>
            </a:r>
          </a:p>
        </p:txBody>
      </p:sp>
      <p:graphicFrame>
        <p:nvGraphicFramePr>
          <p:cNvPr id="96258" name="Group 2"/>
          <p:cNvGraphicFramePr>
            <a:graphicFrameLocks noGrp="1"/>
          </p:cNvGraphicFramePr>
          <p:nvPr/>
        </p:nvGraphicFramePr>
        <p:xfrm>
          <a:off x="381000" y="914400"/>
          <a:ext cx="8229600" cy="5364480"/>
        </p:xfrm>
        <a:graphic>
          <a:graphicData uri="http://schemas.openxmlformats.org/drawingml/2006/table">
            <a:tbl>
              <a:tblPr/>
              <a:tblGrid>
                <a:gridCol w="213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Summary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Priority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Postconditions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Primary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Secondary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Trigger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action that caused the use case to be invoked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Main Scenario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 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This is the “main success scenario” or “happy path”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 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Description of steps in successful use case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“execution”</a:t>
                      </a: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 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This should be in a “system-user-system, etc.” format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Extensions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Branching 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Open Issues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6319" name="Text Box 63"/>
          <p:cNvSpPr txBox="1">
            <a:spLocks noChangeArrowheads="1"/>
          </p:cNvSpPr>
          <p:nvPr/>
        </p:nvSpPr>
        <p:spPr bwMode="auto">
          <a:xfrm>
            <a:off x="2286000" y="3810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Use Case Specification Template*</a:t>
            </a:r>
          </a:p>
        </p:txBody>
      </p:sp>
      <p:sp>
        <p:nvSpPr>
          <p:cNvPr id="96320" name="Text Box 64"/>
          <p:cNvSpPr txBox="1">
            <a:spLocks noChangeArrowheads="1"/>
          </p:cNvSpPr>
          <p:nvPr/>
        </p:nvSpPr>
        <p:spPr bwMode="auto">
          <a:xfrm>
            <a:off x="3810000" y="6400800"/>
            <a:ext cx="4800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*Adapted from A. Cockburn, “Basic Use Case Template”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D6721E-6760-4DB1-B9F1-C1AD1B84C862}" type="slidenum">
              <a:rPr lang="en-US"/>
              <a:pPr/>
              <a:t>6</a:t>
            </a:fld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CMSC 345, Version 9/07</a:t>
            </a:r>
          </a:p>
          <a:p>
            <a:r>
              <a:rPr lang="en-US"/>
              <a:t>S. Mitchell</a:t>
            </a:r>
          </a:p>
        </p:txBody>
      </p:sp>
      <p:graphicFrame>
        <p:nvGraphicFramePr>
          <p:cNvPr id="92162" name="Group 2"/>
          <p:cNvGraphicFramePr>
            <a:graphicFrameLocks noGrp="1"/>
          </p:cNvGraphicFramePr>
          <p:nvPr/>
        </p:nvGraphicFramePr>
        <p:xfrm>
          <a:off x="381000" y="914400"/>
          <a:ext cx="8229600" cy="5364480"/>
        </p:xfrm>
        <a:graphic>
          <a:graphicData uri="http://schemas.openxmlformats.org/drawingml/2006/table">
            <a:tbl>
              <a:tblPr/>
              <a:tblGrid>
                <a:gridCol w="213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Summary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Priority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Postconditions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Primary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Secondary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Trigger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Main Scenario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Extensions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Branching 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 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Alternative paths that the use case may take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Open Issues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2223" name="Text Box 63"/>
          <p:cNvSpPr txBox="1">
            <a:spLocks noChangeArrowheads="1"/>
          </p:cNvSpPr>
          <p:nvPr/>
        </p:nvSpPr>
        <p:spPr bwMode="auto">
          <a:xfrm>
            <a:off x="2286000" y="3810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Use Case Specification Template*</a:t>
            </a:r>
          </a:p>
        </p:txBody>
      </p:sp>
      <p:sp>
        <p:nvSpPr>
          <p:cNvPr id="92224" name="Text Box 64"/>
          <p:cNvSpPr txBox="1">
            <a:spLocks noChangeArrowheads="1"/>
          </p:cNvSpPr>
          <p:nvPr/>
        </p:nvSpPr>
        <p:spPr bwMode="auto">
          <a:xfrm>
            <a:off x="3810000" y="6400800"/>
            <a:ext cx="4800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*Adapted from A. Cockburn, “Basic Use Case Template”</a:t>
            </a:r>
          </a:p>
        </p:txBody>
      </p:sp>
      <p:sp>
        <p:nvSpPr>
          <p:cNvPr id="92225" name="Text Box 65"/>
          <p:cNvSpPr txBox="1">
            <a:spLocks noChangeArrowheads="1"/>
          </p:cNvSpPr>
          <p:nvPr/>
        </p:nvSpPr>
        <p:spPr bwMode="auto">
          <a:xfrm>
            <a:off x="4648200" y="3136900"/>
            <a:ext cx="4267200" cy="1892300"/>
          </a:xfrm>
          <a:prstGeom prst="rect">
            <a:avLst/>
          </a:prstGeom>
          <a:solidFill>
            <a:schemeClr val="folHlink"/>
          </a:solidFill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Extension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 Could be an optional path(s)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 Could be an error path(s)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 Denoted in use case diagrams (UML) by </a:t>
            </a:r>
            <a:r>
              <a:rPr lang="en-US" b="1"/>
              <a:t>&lt;&lt;extend&gt;&gt;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D8613B-67DD-4830-B534-D15D281F60DA}" type="slidenum">
              <a:rPr lang="en-US"/>
              <a:pPr/>
              <a:t>7</a:t>
            </a:fld>
            <a:endParaRPr lang="en-US"/>
          </a:p>
        </p:txBody>
      </p:sp>
      <p:sp>
        <p:nvSpPr>
          <p:cNvPr id="6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CMSC 345, Version 9/07</a:t>
            </a:r>
          </a:p>
          <a:p>
            <a:r>
              <a:rPr lang="en-US"/>
              <a:t>S. Mitchell</a:t>
            </a:r>
          </a:p>
        </p:txBody>
      </p:sp>
      <p:graphicFrame>
        <p:nvGraphicFramePr>
          <p:cNvPr id="97346" name="Group 66"/>
          <p:cNvGraphicFramePr>
            <a:graphicFrameLocks noGrp="1"/>
          </p:cNvGraphicFramePr>
          <p:nvPr/>
        </p:nvGraphicFramePr>
        <p:xfrm>
          <a:off x="381000" y="914400"/>
          <a:ext cx="8229600" cy="5364480"/>
        </p:xfrm>
        <a:graphic>
          <a:graphicData uri="http://schemas.openxmlformats.org/drawingml/2006/table">
            <a:tbl>
              <a:tblPr/>
              <a:tblGrid>
                <a:gridCol w="213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Summary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Priority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Postconditions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Primary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Secondary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Trigger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Main Scenario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Extensions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Branching 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Open Issues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Issue 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Issues regarding the use case that need resolution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7343" name="Text Box 63"/>
          <p:cNvSpPr txBox="1">
            <a:spLocks noChangeArrowheads="1"/>
          </p:cNvSpPr>
          <p:nvPr/>
        </p:nvSpPr>
        <p:spPr bwMode="auto">
          <a:xfrm>
            <a:off x="2286000" y="3810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Use Case Specification Template*</a:t>
            </a:r>
          </a:p>
        </p:txBody>
      </p:sp>
      <p:sp>
        <p:nvSpPr>
          <p:cNvPr id="97344" name="Text Box 64"/>
          <p:cNvSpPr txBox="1">
            <a:spLocks noChangeArrowheads="1"/>
          </p:cNvSpPr>
          <p:nvPr/>
        </p:nvSpPr>
        <p:spPr bwMode="auto">
          <a:xfrm>
            <a:off x="3810000" y="6400800"/>
            <a:ext cx="4800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*Adapted from A. Cockburn, “Basic Use Case Template”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DDCF7B-2F29-47D3-A3C8-0917B394BBBB}" type="slidenum">
              <a:rPr lang="en-US"/>
              <a:pPr/>
              <a:t>8</a:t>
            </a:fld>
            <a:endParaRPr lang="en-US"/>
          </a:p>
        </p:txBody>
      </p:sp>
      <p:sp>
        <p:nvSpPr>
          <p:cNvPr id="6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CMSC 345, Version 9/07</a:t>
            </a:r>
          </a:p>
          <a:p>
            <a:r>
              <a:rPr lang="en-US"/>
              <a:t>S. Mitchell</a:t>
            </a:r>
          </a:p>
        </p:txBody>
      </p:sp>
      <p:graphicFrame>
        <p:nvGraphicFramePr>
          <p:cNvPr id="98306" name="Group 2"/>
          <p:cNvGraphicFramePr>
            <a:graphicFrameLocks noGrp="1"/>
          </p:cNvGraphicFramePr>
          <p:nvPr/>
        </p:nvGraphicFramePr>
        <p:xfrm>
          <a:off x="381000" y="914400"/>
          <a:ext cx="8229600" cy="5364480"/>
        </p:xfrm>
        <a:graphic>
          <a:graphicData uri="http://schemas.openxmlformats.org/drawingml/2006/table">
            <a:tbl>
              <a:tblPr/>
              <a:tblGrid>
                <a:gridCol w="213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Unique use case 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Brief noun-verb phrase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Summary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Brief summary of use case major actions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Priority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1-5 (1 = lowest priority, 5 = highest priority)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needs to be true before use case “executes”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Postconditions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will be true after the use case successfully “executes”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Primary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Primary actor name(s)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Secondary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Secondary actor name(s)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Trigger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action that causes this use case to begin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Main Scenario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 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This is the “main success scenario” or “happy path.”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Description of steps in successful use case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“execution”</a:t>
                      </a:r>
                      <a:endParaRPr kumimoji="0" lang="en-US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This should be in a “system-user-system, etc.” format.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Extensions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Branching 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 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Alternative paths that the use case may take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Open Issues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Issue 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Issues regarding the use case that need resolution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8367" name="Text Box 63"/>
          <p:cNvSpPr txBox="1">
            <a:spLocks noChangeArrowheads="1"/>
          </p:cNvSpPr>
          <p:nvPr/>
        </p:nvSpPr>
        <p:spPr bwMode="auto">
          <a:xfrm>
            <a:off x="2286000" y="3810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Use Case Specification Template*</a:t>
            </a:r>
          </a:p>
        </p:txBody>
      </p:sp>
      <p:sp>
        <p:nvSpPr>
          <p:cNvPr id="98369" name="Text Box 65"/>
          <p:cNvSpPr txBox="1">
            <a:spLocks noChangeArrowheads="1"/>
          </p:cNvSpPr>
          <p:nvPr/>
        </p:nvSpPr>
        <p:spPr bwMode="auto">
          <a:xfrm>
            <a:off x="3810000" y="6400800"/>
            <a:ext cx="4800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*Adapted from A. Cockburn, “Basic Use Case Template”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2414C0-4D2F-443B-8489-4358CC91D387}" type="slidenum">
              <a:rPr lang="en-US"/>
              <a:pPr/>
              <a:t>9</a:t>
            </a:fld>
            <a:endParaRPr lang="en-US"/>
          </a:p>
        </p:txBody>
      </p:sp>
      <p:sp>
        <p:nvSpPr>
          <p:cNvPr id="34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CMSC 345, Version 9/07</a:t>
            </a:r>
          </a:p>
          <a:p>
            <a:r>
              <a:rPr lang="en-US"/>
              <a:t>S. Mitchell</a:t>
            </a:r>
          </a:p>
        </p:txBody>
      </p:sp>
      <p:graphicFrame>
        <p:nvGraphicFramePr>
          <p:cNvPr id="83107" name="Group 163"/>
          <p:cNvGraphicFramePr>
            <a:graphicFrameLocks noGrp="1"/>
          </p:cNvGraphicFramePr>
          <p:nvPr>
            <p:ph/>
          </p:nvPr>
        </p:nvGraphicFramePr>
        <p:xfrm>
          <a:off x="609600" y="1779588"/>
          <a:ext cx="7924800" cy="2538413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Number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Withdraw Money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Summary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User withdraws money from one of his/her accounts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Priority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User has logged into ATM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Postconditions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User has withdrawn money and received a receipt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Primary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Bank Customer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Secondary Actor(s)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Customer Accounts Database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3108" name="Rectangle 164"/>
          <p:cNvSpPr>
            <a:spLocks noChangeArrowheads="1"/>
          </p:cNvSpPr>
          <p:nvPr/>
        </p:nvSpPr>
        <p:spPr bwMode="auto">
          <a:xfrm>
            <a:off x="1535113" y="688975"/>
            <a:ext cx="5965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Use Case Specification Template Example</a:t>
            </a:r>
          </a:p>
        </p:txBody>
      </p:sp>
      <p:sp>
        <p:nvSpPr>
          <p:cNvPr id="83109" name="Text Box 165"/>
          <p:cNvSpPr txBox="1">
            <a:spLocks noChangeArrowheads="1"/>
          </p:cNvSpPr>
          <p:nvPr/>
        </p:nvSpPr>
        <p:spPr bwMode="auto">
          <a:xfrm>
            <a:off x="6400800" y="4876800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Continued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6FB842-25E7-42B9-81FF-3057CF72C79F}" type="slidenum">
              <a:rPr lang="en-US"/>
              <a:pPr/>
              <a:t>10</a:t>
            </a:fld>
            <a:endParaRPr lang="en-US"/>
          </a:p>
        </p:txBody>
      </p:sp>
      <p:graphicFrame>
        <p:nvGraphicFramePr>
          <p:cNvPr id="86174" name="Group 1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104963"/>
              </p:ext>
            </p:extLst>
          </p:nvPr>
        </p:nvGraphicFramePr>
        <p:xfrm>
          <a:off x="533400" y="447675"/>
          <a:ext cx="8153400" cy="6029334"/>
        </p:xfrm>
        <a:graphic>
          <a:graphicData uri="http://schemas.openxmlformats.org/drawingml/2006/table">
            <a:tbl>
              <a:tblPr/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Trigger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User has chosen to withdraw money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Main Scenario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 displays account types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User chooses account 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 asks for amount to withdraw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User enters amount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 debits user’s account and dispenses money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User removes card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 prints and dispenses receipt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User removes receipt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 displays closing message and dispenses user’s ATM card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User removes money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 displays welcome message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Extensions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Branching 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 notifies user that account funds are insufficient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 gives current account balance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 exits option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Open Issues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Should the system ask if the user wants to see the balance?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86068" name="Rectangle 52"/>
          <p:cNvSpPr>
            <a:spLocks noChangeArrowheads="1"/>
          </p:cNvSpPr>
          <p:nvPr/>
        </p:nvSpPr>
        <p:spPr bwMode="auto">
          <a:xfrm>
            <a:off x="1704975" y="324643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982</Words>
  <Application>Microsoft Office PowerPoint</Application>
  <PresentationFormat>On-screen Show (4:3)</PresentationFormat>
  <Paragraphs>287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Natash Ali</cp:lastModifiedBy>
  <cp:revision>8</cp:revision>
  <dcterms:created xsi:type="dcterms:W3CDTF">2016-05-23T03:55:19Z</dcterms:created>
  <dcterms:modified xsi:type="dcterms:W3CDTF">2020-12-03T07:15:21Z</dcterms:modified>
</cp:coreProperties>
</file>