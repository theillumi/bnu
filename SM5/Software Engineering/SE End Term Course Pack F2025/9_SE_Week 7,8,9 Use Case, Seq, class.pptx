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831" r:id="rId2"/>
  </p:sldMasterIdLst>
  <p:notesMasterIdLst>
    <p:notesMasterId r:id="rId44"/>
  </p:notesMasterIdLst>
  <p:sldIdLst>
    <p:sldId id="547" r:id="rId3"/>
    <p:sldId id="595" r:id="rId4"/>
    <p:sldId id="618" r:id="rId5"/>
    <p:sldId id="619" r:id="rId6"/>
    <p:sldId id="621" r:id="rId7"/>
    <p:sldId id="622" r:id="rId8"/>
    <p:sldId id="656" r:id="rId9"/>
    <p:sldId id="620" r:id="rId10"/>
    <p:sldId id="599" r:id="rId11"/>
    <p:sldId id="600" r:id="rId12"/>
    <p:sldId id="601" r:id="rId13"/>
    <p:sldId id="602" r:id="rId14"/>
    <p:sldId id="603" r:id="rId15"/>
    <p:sldId id="604" r:id="rId16"/>
    <p:sldId id="607" r:id="rId17"/>
    <p:sldId id="608" r:id="rId18"/>
    <p:sldId id="609" r:id="rId19"/>
    <p:sldId id="625" r:id="rId20"/>
    <p:sldId id="610" r:id="rId21"/>
    <p:sldId id="611" r:id="rId22"/>
    <p:sldId id="626" r:id="rId23"/>
    <p:sldId id="648" r:id="rId24"/>
    <p:sldId id="627" r:id="rId25"/>
    <p:sldId id="658" r:id="rId26"/>
    <p:sldId id="628" r:id="rId27"/>
    <p:sldId id="629" r:id="rId28"/>
    <p:sldId id="630" r:id="rId29"/>
    <p:sldId id="631" r:id="rId30"/>
    <p:sldId id="635" r:id="rId31"/>
    <p:sldId id="636" r:id="rId32"/>
    <p:sldId id="637" r:id="rId33"/>
    <p:sldId id="638" r:id="rId34"/>
    <p:sldId id="639" r:id="rId35"/>
    <p:sldId id="640" r:id="rId36"/>
    <p:sldId id="641" r:id="rId37"/>
    <p:sldId id="659" r:id="rId38"/>
    <p:sldId id="642" r:id="rId39"/>
    <p:sldId id="643" r:id="rId40"/>
    <p:sldId id="644" r:id="rId41"/>
    <p:sldId id="645" r:id="rId42"/>
    <p:sldId id="646" r:id="rId4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h Ali" userId="1ac103110393f6c6" providerId="LiveId" clId="{EEE5BB09-A381-4C9A-9F35-98449A51ACC2}"/>
    <pc:docChg chg="delSld">
      <pc:chgData name="Natash Ali" userId="1ac103110393f6c6" providerId="LiveId" clId="{EEE5BB09-A381-4C9A-9F35-98449A51ACC2}" dt="2026-01-11T17:28:54.417" v="21" actId="47"/>
      <pc:docMkLst>
        <pc:docMk/>
      </pc:docMkLst>
      <pc:sldChg chg="del">
        <pc:chgData name="Natash Ali" userId="1ac103110393f6c6" providerId="LiveId" clId="{EEE5BB09-A381-4C9A-9F35-98449A51ACC2}" dt="2026-01-11T17:27:31.331" v="0" actId="47"/>
        <pc:sldMkLst>
          <pc:docMk/>
          <pc:sldMk cId="1970624686" sldId="548"/>
        </pc:sldMkLst>
      </pc:sldChg>
      <pc:sldChg chg="del">
        <pc:chgData name="Natash Ali" userId="1ac103110393f6c6" providerId="LiveId" clId="{EEE5BB09-A381-4C9A-9F35-98449A51ACC2}" dt="2026-01-11T17:28:54.417" v="21" actId="47"/>
        <pc:sldMkLst>
          <pc:docMk/>
          <pc:sldMk cId="32588922" sldId="588"/>
        </pc:sldMkLst>
      </pc:sldChg>
      <pc:sldChg chg="del">
        <pc:chgData name="Natash Ali" userId="1ac103110393f6c6" providerId="LiveId" clId="{EEE5BB09-A381-4C9A-9F35-98449A51ACC2}" dt="2026-01-11T17:27:36.571" v="3" actId="47"/>
        <pc:sldMkLst>
          <pc:docMk/>
          <pc:sldMk cId="2017356462" sldId="589"/>
        </pc:sldMkLst>
      </pc:sldChg>
      <pc:sldChg chg="del">
        <pc:chgData name="Natash Ali" userId="1ac103110393f6c6" providerId="LiveId" clId="{EEE5BB09-A381-4C9A-9F35-98449A51ACC2}" dt="2026-01-11T17:27:37.421" v="4" actId="47"/>
        <pc:sldMkLst>
          <pc:docMk/>
          <pc:sldMk cId="3011378429" sldId="591"/>
        </pc:sldMkLst>
      </pc:sldChg>
      <pc:sldChg chg="del">
        <pc:chgData name="Natash Ali" userId="1ac103110393f6c6" providerId="LiveId" clId="{EEE5BB09-A381-4C9A-9F35-98449A51ACC2}" dt="2026-01-11T17:27:38.675" v="5" actId="47"/>
        <pc:sldMkLst>
          <pc:docMk/>
          <pc:sldMk cId="531030665" sldId="592"/>
        </pc:sldMkLst>
      </pc:sldChg>
      <pc:sldChg chg="del">
        <pc:chgData name="Natash Ali" userId="1ac103110393f6c6" providerId="LiveId" clId="{EEE5BB09-A381-4C9A-9F35-98449A51ACC2}" dt="2026-01-11T17:27:40.572" v="6" actId="47"/>
        <pc:sldMkLst>
          <pc:docMk/>
          <pc:sldMk cId="1579283604" sldId="593"/>
        </pc:sldMkLst>
      </pc:sldChg>
      <pc:sldChg chg="del">
        <pc:chgData name="Natash Ali" userId="1ac103110393f6c6" providerId="LiveId" clId="{EEE5BB09-A381-4C9A-9F35-98449A51ACC2}" dt="2026-01-11T17:27:43.435" v="7" actId="47"/>
        <pc:sldMkLst>
          <pc:docMk/>
          <pc:sldMk cId="511801359" sldId="594"/>
        </pc:sldMkLst>
      </pc:sldChg>
      <pc:sldChg chg="del">
        <pc:chgData name="Natash Ali" userId="1ac103110393f6c6" providerId="LiveId" clId="{EEE5BB09-A381-4C9A-9F35-98449A51ACC2}" dt="2026-01-11T17:27:49.553" v="9" actId="47"/>
        <pc:sldMkLst>
          <pc:docMk/>
          <pc:sldMk cId="2214239356" sldId="596"/>
        </pc:sldMkLst>
      </pc:sldChg>
      <pc:sldChg chg="del">
        <pc:chgData name="Natash Ali" userId="1ac103110393f6c6" providerId="LiveId" clId="{EEE5BB09-A381-4C9A-9F35-98449A51ACC2}" dt="2026-01-11T17:27:52.723" v="10" actId="47"/>
        <pc:sldMkLst>
          <pc:docMk/>
          <pc:sldMk cId="182429174" sldId="597"/>
        </pc:sldMkLst>
      </pc:sldChg>
      <pc:sldChg chg="del">
        <pc:chgData name="Natash Ali" userId="1ac103110393f6c6" providerId="LiveId" clId="{EEE5BB09-A381-4C9A-9F35-98449A51ACC2}" dt="2026-01-11T17:27:53.794" v="11" actId="47"/>
        <pc:sldMkLst>
          <pc:docMk/>
          <pc:sldMk cId="2467167005" sldId="598"/>
        </pc:sldMkLst>
      </pc:sldChg>
      <pc:sldChg chg="del">
        <pc:chgData name="Natash Ali" userId="1ac103110393f6c6" providerId="LiveId" clId="{EEE5BB09-A381-4C9A-9F35-98449A51ACC2}" dt="2026-01-11T17:28:25.642" v="14" actId="47"/>
        <pc:sldMkLst>
          <pc:docMk/>
          <pc:sldMk cId="3536848813" sldId="612"/>
        </pc:sldMkLst>
      </pc:sldChg>
      <pc:sldChg chg="del">
        <pc:chgData name="Natash Ali" userId="1ac103110393f6c6" providerId="LiveId" clId="{EEE5BB09-A381-4C9A-9F35-98449A51ACC2}" dt="2026-01-11T17:28:26.377" v="15" actId="47"/>
        <pc:sldMkLst>
          <pc:docMk/>
          <pc:sldMk cId="1424887715" sldId="613"/>
        </pc:sldMkLst>
      </pc:sldChg>
      <pc:sldChg chg="del">
        <pc:chgData name="Natash Ali" userId="1ac103110393f6c6" providerId="LiveId" clId="{EEE5BB09-A381-4C9A-9F35-98449A51ACC2}" dt="2026-01-11T17:28:26.985" v="16" actId="47"/>
        <pc:sldMkLst>
          <pc:docMk/>
          <pc:sldMk cId="3005034062" sldId="614"/>
        </pc:sldMkLst>
      </pc:sldChg>
      <pc:sldChg chg="del">
        <pc:chgData name="Natash Ali" userId="1ac103110393f6c6" providerId="LiveId" clId="{EEE5BB09-A381-4C9A-9F35-98449A51ACC2}" dt="2026-01-11T17:28:51.366" v="19" actId="47"/>
        <pc:sldMkLst>
          <pc:docMk/>
          <pc:sldMk cId="3134774898" sldId="615"/>
        </pc:sldMkLst>
      </pc:sldChg>
      <pc:sldChg chg="del">
        <pc:chgData name="Natash Ali" userId="1ac103110393f6c6" providerId="LiveId" clId="{EEE5BB09-A381-4C9A-9F35-98449A51ACC2}" dt="2026-01-11T17:28:53.128" v="20" actId="47"/>
        <pc:sldMkLst>
          <pc:docMk/>
          <pc:sldMk cId="853035301" sldId="616"/>
        </pc:sldMkLst>
      </pc:sldChg>
      <pc:sldChg chg="del">
        <pc:chgData name="Natash Ali" userId="1ac103110393f6c6" providerId="LiveId" clId="{EEE5BB09-A381-4C9A-9F35-98449A51ACC2}" dt="2026-01-11T17:28:14.358" v="13" actId="47"/>
        <pc:sldMkLst>
          <pc:docMk/>
          <pc:sldMk cId="3572719789" sldId="634"/>
        </pc:sldMkLst>
      </pc:sldChg>
      <pc:sldChg chg="del">
        <pc:chgData name="Natash Ali" userId="1ac103110393f6c6" providerId="LiveId" clId="{EEE5BB09-A381-4C9A-9F35-98449A51ACC2}" dt="2026-01-11T17:28:49.958" v="18" actId="47"/>
        <pc:sldMkLst>
          <pc:docMk/>
          <pc:sldMk cId="2654476104" sldId="647"/>
        </pc:sldMkLst>
      </pc:sldChg>
      <pc:sldChg chg="del">
        <pc:chgData name="Natash Ali" userId="1ac103110393f6c6" providerId="LiveId" clId="{EEE5BB09-A381-4C9A-9F35-98449A51ACC2}" dt="2026-01-11T17:27:32.867" v="1" actId="47"/>
        <pc:sldMkLst>
          <pc:docMk/>
          <pc:sldMk cId="4258869583" sldId="650"/>
        </pc:sldMkLst>
      </pc:sldChg>
      <pc:sldChg chg="del">
        <pc:chgData name="Natash Ali" userId="1ac103110393f6c6" providerId="LiveId" clId="{EEE5BB09-A381-4C9A-9F35-98449A51ACC2}" dt="2026-01-11T17:27:35.395" v="2" actId="47"/>
        <pc:sldMkLst>
          <pc:docMk/>
          <pc:sldMk cId="966114654" sldId="651"/>
        </pc:sldMkLst>
      </pc:sldChg>
      <pc:sldChg chg="del">
        <pc:chgData name="Natash Ali" userId="1ac103110393f6c6" providerId="LiveId" clId="{EEE5BB09-A381-4C9A-9F35-98449A51ACC2}" dt="2026-01-11T17:27:44" v="8" actId="47"/>
        <pc:sldMkLst>
          <pc:docMk/>
          <pc:sldMk cId="4281079961" sldId="652"/>
        </pc:sldMkLst>
      </pc:sldChg>
      <pc:sldChg chg="del">
        <pc:chgData name="Natash Ali" userId="1ac103110393f6c6" providerId="LiveId" clId="{EEE5BB09-A381-4C9A-9F35-98449A51ACC2}" dt="2026-01-11T17:27:58.341" v="12" actId="47"/>
        <pc:sldMkLst>
          <pc:docMk/>
          <pc:sldMk cId="3792932208" sldId="655"/>
        </pc:sldMkLst>
      </pc:sldChg>
      <pc:sldChg chg="del">
        <pc:chgData name="Natash Ali" userId="1ac103110393f6c6" providerId="LiveId" clId="{EEE5BB09-A381-4C9A-9F35-98449A51ACC2}" dt="2026-01-11T17:28:27.962" v="17" actId="47"/>
        <pc:sldMkLst>
          <pc:docMk/>
          <pc:sldMk cId="399335960" sldId="6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5AFF4B5-631B-4A70-8B99-E8FB8796DA97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CF2FD04-098F-426E-B64E-A486CBD14B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E48FE9-46DA-42AD-8CEF-6F279FBE236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321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FF86DE-BC51-464E-9962-CA1EA19425F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012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E352A1-CC82-46E4-912B-3F25706E285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655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3FAEA-B6D7-4F44-AA0D-11A7FE2C2CA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034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B8B23B3-BFE5-4699-9DA0-AEE340F9037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726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78F6BA-7EEA-454A-9EFF-A910B182108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930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D57E27-EFDF-45EE-A8EE-C08F7F4EB9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6081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43002F-796F-42E3-AFBC-FB4D5AF46FA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1325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9372C-2821-47A3-816B-1C5A1AEBD19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062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FC47ED-A01A-4C6A-8611-058D59D9497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514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8D593A-34BB-4DAA-8A77-B3E977FA5CF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478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44C040F-5E56-439B-9D3C-D33477927E6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065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98F184B-BE0B-4C78-BAE8-74074825A078}" type="slidenum">
              <a:rPr lang="en-US" altLang="en-US">
                <a:latin typeface="Times New Roman" panose="02020603050405020304" pitchFamily="18" charset="0"/>
              </a:rPr>
              <a:pPr eaLnBrk="1" hangingPunct="1"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015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A97C46B-ED95-43B0-93B3-97D83831C837}" type="slidenum">
              <a:rPr lang="en-US" altLang="en-US">
                <a:latin typeface="Times New Roman" panose="02020603050405020304" pitchFamily="18" charset="0"/>
              </a:rPr>
              <a:pPr eaLnBrk="1" hangingPunct="1"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02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19DDF8E-F198-48A4-BCE5-E654434B2E1D}" type="slidenum">
              <a:rPr lang="en-US" altLang="en-US">
                <a:latin typeface="Times New Roman" panose="02020603050405020304" pitchFamily="18" charset="0"/>
              </a:rPr>
              <a:pPr eaLnBrk="1" hangingPunct="1"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390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E891191-1F7D-47B3-9B3B-C27845B2B9E1}" type="slidenum">
              <a:rPr lang="en-US" altLang="en-US">
                <a:latin typeface="Times New Roman" panose="02020603050405020304" pitchFamily="18" charset="0"/>
              </a:rPr>
              <a:pPr eaLnBrk="1" hangingPunct="1"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8123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9F4BCA4-A397-49E5-99E9-A3489D10887A}" type="slidenum">
              <a:rPr lang="en-US" altLang="en-US">
                <a:latin typeface="Times New Roman" panose="02020603050405020304" pitchFamily="18" charset="0"/>
              </a:rPr>
              <a:pPr eaLnBrk="1" hangingPunct="1"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740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26F2286-F21F-4251-BE03-4A1273A58E0A}" type="slidenum">
              <a:rPr lang="en-US" altLang="en-US">
                <a:latin typeface="Times New Roman" panose="02020603050405020304" pitchFamily="18" charset="0"/>
              </a:rPr>
              <a:pPr eaLnBrk="1" hangingPunct="1"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6130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0CEC223-EB9F-499A-954B-DDF14C02C266}" type="slidenum">
              <a:rPr lang="en-US" altLang="en-US">
                <a:latin typeface="Times New Roman" panose="02020603050405020304" pitchFamily="18" charset="0"/>
              </a:rPr>
              <a:pPr eaLnBrk="1" hangingPunct="1"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444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7B06C5A-F5B9-416A-B1AF-94022DB2C517}" type="slidenum">
              <a:rPr lang="en-US" altLang="en-US">
                <a:latin typeface="Times New Roman" panose="02020603050405020304" pitchFamily="18" charset="0"/>
              </a:rPr>
              <a:pPr eaLnBrk="1" hangingPunct="1"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9974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D33FF38-E10E-4635-93C1-7FD1A7431DDF}" type="slidenum">
              <a:rPr lang="en-US" altLang="en-US">
                <a:latin typeface="Times New Roman" panose="02020603050405020304" pitchFamily="18" charset="0"/>
              </a:rPr>
              <a:pPr eaLnBrk="1" hangingPunct="1"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901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CB5F14A-5FE3-421E-B894-A86A00741D4D}" type="slidenum">
              <a:rPr lang="en-US" altLang="en-US">
                <a:latin typeface="Times New Roman" panose="02020603050405020304" pitchFamily="18" charset="0"/>
              </a:rPr>
              <a:pPr eaLnBrk="1" hangingPunct="1"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2201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0D8960E-F5A7-4D8B-8E8F-88121168C317}" type="slidenum">
              <a:rPr lang="en-US" altLang="en-US">
                <a:latin typeface="Times New Roman" panose="02020603050405020304" pitchFamily="18" charset="0"/>
              </a:rPr>
              <a:pPr eaLnBrk="1" hangingPunct="1"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247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0490B89-6972-49D4-9A05-F65097DB2F15}" type="slidenum">
              <a:rPr lang="en-US" altLang="en-US">
                <a:latin typeface="Times New Roman" panose="02020603050405020304" pitchFamily="18" charset="0"/>
              </a:rPr>
              <a:pPr eaLnBrk="1" hangingPunct="1"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329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6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93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12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29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0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5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6370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1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0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0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59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7A2F4-68AB-4C94-961A-97A9545E0508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4979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6BDF80-4497-4D4D-8858-2A8D4749A31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788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3F4C20-C4F6-4539-AFC2-F2B887C41FFD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28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3FCE44-D3B5-4B36-8536-DE47B213D78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3979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90923C-9F23-4089-A5B6-FBBD3C699E4B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783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17AEFA-3495-4893-AA1D-5A4F1C960A5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125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6E00CB-949E-445B-9ADF-5F5BFB0296C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612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58B274-13E2-49D5-83E6-B760BC7084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9037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33BB37-B05A-4BFB-87EE-23908452AD1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712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E43853-6D3A-4582-8857-8A948B8F32E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8308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3DBAD9-ACE5-4290-A4C0-B6F5CAE3208A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5653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CB94CF-64D3-437D-BEC0-3D80237F900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294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B8C404-E199-4B9F-8C1D-D076E2D1480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6160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3E3244-1D1D-4EEF-B96D-80736E03254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438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49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1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B26CEE-659A-483E-B00C-C65C064EA5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44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8239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</a:t>
            </a:r>
            <a:br>
              <a:rPr lang="en-US" sz="3600" dirty="0"/>
            </a:br>
            <a:r>
              <a:rPr lang="en-US" sz="3600" dirty="0"/>
              <a:t>Week 7,8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Computer and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Beaconhouse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64008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48312"/>
              </a:buClr>
              <a:buSzPct val="68000"/>
              <a:buFont typeface="Wingdings 3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12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What is UML and Why we use UML?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Why we use UML?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Use graphical notation: more clearly than natural language (imprecise) and code (too detailed).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Help acquire an overall view of a system.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UML is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not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dependent on any one language or technology.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UML moves us from fragmentation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to standardization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.</a:t>
            </a:r>
          </a:p>
          <a:p>
            <a:pPr eaLnBrk="1" hangingPunct="1"/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29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28600"/>
            <a:ext cx="7793037" cy="685800"/>
          </a:xfrm>
        </p:spPr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772400" cy="4114800"/>
          </a:xfrm>
        </p:spPr>
        <p:txBody>
          <a:bodyPr/>
          <a:lstStyle/>
          <a:p>
            <a:r>
              <a:rPr lang="en-US" dirty="0"/>
              <a:t>Use Case </a:t>
            </a:r>
          </a:p>
          <a:p>
            <a:pPr lvl="1"/>
            <a:r>
              <a:rPr lang="en-US" dirty="0"/>
              <a:t>(Representation of a Single requirement in a diagram form)</a:t>
            </a:r>
          </a:p>
          <a:p>
            <a:r>
              <a:rPr lang="en-US" dirty="0"/>
              <a:t>Use Case Diagram</a:t>
            </a:r>
          </a:p>
          <a:p>
            <a:pPr lvl="1"/>
            <a:r>
              <a:rPr lang="en-US" dirty="0"/>
              <a:t>Collection of a few requirements/ collection of a few use cases</a:t>
            </a:r>
          </a:p>
          <a:p>
            <a:r>
              <a:rPr lang="en-US" dirty="0"/>
              <a:t>Use Case Model </a:t>
            </a:r>
          </a:p>
          <a:p>
            <a:pPr lvl="1"/>
            <a:r>
              <a:rPr lang="en-US" dirty="0"/>
              <a:t>A complete representation of all users/actors and their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7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"/>
            <a:ext cx="8421688" cy="598011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Actors</a:t>
            </a:r>
            <a:r>
              <a:rPr lang="en-US" dirty="0"/>
              <a:t> (User of the system)</a:t>
            </a:r>
          </a:p>
          <a:p>
            <a:r>
              <a:rPr lang="en-US" b="1" dirty="0"/>
              <a:t>Link</a:t>
            </a:r>
            <a:r>
              <a:rPr lang="en-US" dirty="0"/>
              <a:t> (line)</a:t>
            </a:r>
          </a:p>
          <a:p>
            <a:r>
              <a:rPr lang="en-US" b="1" dirty="0"/>
              <a:t>Use Case</a:t>
            </a:r>
            <a:r>
              <a:rPr lang="en-US" dirty="0"/>
              <a:t> (Feature)</a:t>
            </a:r>
          </a:p>
          <a:p>
            <a:r>
              <a:rPr lang="en-US" dirty="0"/>
              <a:t>System Boundary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92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View Attendance</a:t>
            </a:r>
          </a:p>
          <a:p>
            <a:r>
              <a:rPr lang="en-US" b="1" dirty="0"/>
              <a:t> View Fee </a:t>
            </a:r>
          </a:p>
          <a:p>
            <a:r>
              <a:rPr lang="en-US" dirty="0"/>
              <a:t>View Result 	</a:t>
            </a:r>
          </a:p>
          <a:p>
            <a:r>
              <a:rPr lang="en-US" dirty="0"/>
              <a:t>View Academic History </a:t>
            </a:r>
          </a:p>
          <a:p>
            <a:r>
              <a:rPr lang="en-US" dirty="0"/>
              <a:t>View Enrolment 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Print</a:t>
            </a:r>
          </a:p>
          <a:p>
            <a:endParaRPr lang="en-US" b="1" dirty="0"/>
          </a:p>
          <a:p>
            <a:r>
              <a:rPr lang="en-US" b="1" dirty="0"/>
              <a:t>View Attendance and then </a:t>
            </a:r>
            <a:r>
              <a:rPr lang="en-US" b="1" dirty="0">
                <a:solidFill>
                  <a:srgbClr val="FF0000"/>
                </a:solidFill>
              </a:rPr>
              <a:t>print it</a:t>
            </a:r>
          </a:p>
          <a:p>
            <a:r>
              <a:rPr lang="en-US" b="1" dirty="0"/>
              <a:t>View Academic History and </a:t>
            </a:r>
            <a:r>
              <a:rPr lang="en-US" b="1" dirty="0">
                <a:solidFill>
                  <a:srgbClr val="FF0000"/>
                </a:solidFill>
              </a:rPr>
              <a:t>print it</a:t>
            </a:r>
          </a:p>
        </p:txBody>
      </p:sp>
    </p:spTree>
    <p:extLst>
      <p:ext uri="{BB962C8B-B14F-4D97-AF65-F5344CB8AC3E}">
        <p14:creationId xmlns:p14="http://schemas.microsoft.com/office/powerpoint/2010/main" val="298693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1447800"/>
            <a:ext cx="7772400" cy="468471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View my fee</a:t>
            </a:r>
          </a:p>
          <a:p>
            <a:r>
              <a:rPr lang="en-US" b="1" dirty="0">
                <a:solidFill>
                  <a:srgbClr val="FF0000"/>
                </a:solidFill>
              </a:rPr>
              <a:t>View my fee and Print</a:t>
            </a:r>
          </a:p>
          <a:p>
            <a:r>
              <a:rPr lang="en-US" b="1" dirty="0">
                <a:solidFill>
                  <a:srgbClr val="FF0000"/>
                </a:solidFill>
              </a:rPr>
              <a:t>View Attendance</a:t>
            </a:r>
          </a:p>
          <a:p>
            <a:r>
              <a:rPr lang="en-US" b="1" dirty="0">
                <a:solidFill>
                  <a:srgbClr val="FF0000"/>
                </a:solidFill>
              </a:rPr>
              <a:t>View Attendance and Print </a:t>
            </a:r>
          </a:p>
          <a:p>
            <a:r>
              <a:rPr lang="en-US" b="1" dirty="0">
                <a:solidFill>
                  <a:srgbClr val="00B0F0"/>
                </a:solidFill>
              </a:rPr>
              <a:t>View Attendance  &amp; </a:t>
            </a:r>
          </a:p>
          <a:p>
            <a:r>
              <a:rPr lang="en-US" b="1" dirty="0">
                <a:solidFill>
                  <a:srgbClr val="00B0F0"/>
                </a:solidFill>
              </a:rPr>
              <a:t>Print Attendance </a:t>
            </a:r>
          </a:p>
          <a:p>
            <a:r>
              <a:rPr lang="en-US" dirty="0"/>
              <a:t>View Result and Print</a:t>
            </a:r>
          </a:p>
          <a:p>
            <a:r>
              <a:rPr lang="en-US" dirty="0"/>
              <a:t>View Academic History and Print </a:t>
            </a:r>
          </a:p>
          <a:p>
            <a:r>
              <a:rPr lang="en-US" dirty="0"/>
              <a:t>View Enrolment and Print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74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4419600" y="2514600"/>
            <a:ext cx="23622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886200" y="3810000"/>
            <a:ext cx="281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4419600" y="4114800"/>
            <a:ext cx="2362200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5025" y="2971800"/>
            <a:ext cx="3000375" cy="1676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1905000"/>
            <a:ext cx="26670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Attendance</a:t>
            </a:r>
          </a:p>
        </p:txBody>
      </p:sp>
      <p:sp>
        <p:nvSpPr>
          <p:cNvPr id="12" name="Oval 11"/>
          <p:cNvSpPr/>
          <p:nvPr/>
        </p:nvSpPr>
        <p:spPr>
          <a:xfrm>
            <a:off x="1447800" y="3352800"/>
            <a:ext cx="26670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Fee</a:t>
            </a:r>
          </a:p>
        </p:txBody>
      </p:sp>
      <p:sp>
        <p:nvSpPr>
          <p:cNvPr id="13" name="Oval 12"/>
          <p:cNvSpPr/>
          <p:nvPr/>
        </p:nvSpPr>
        <p:spPr>
          <a:xfrm>
            <a:off x="1752600" y="5029200"/>
            <a:ext cx="2667000" cy="990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Grades</a:t>
            </a:r>
          </a:p>
        </p:txBody>
      </p:sp>
    </p:spTree>
    <p:extLst>
      <p:ext uri="{BB962C8B-B14F-4D97-AF65-F5344CB8AC3E}">
        <p14:creationId xmlns:p14="http://schemas.microsoft.com/office/powerpoint/2010/main" val="113251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Attendance </a:t>
            </a:r>
          </a:p>
          <a:p>
            <a:r>
              <a:rPr lang="en-US" dirty="0"/>
              <a:t>Print Attendance  </a:t>
            </a:r>
          </a:p>
          <a:p>
            <a:r>
              <a:rPr lang="en-US" dirty="0"/>
              <a:t>View Result 	</a:t>
            </a:r>
          </a:p>
          <a:p>
            <a:r>
              <a:rPr lang="en-US" dirty="0"/>
              <a:t>Print Result </a:t>
            </a:r>
          </a:p>
          <a:p>
            <a:r>
              <a:rPr lang="en-US" dirty="0"/>
              <a:t>View Academic History </a:t>
            </a:r>
          </a:p>
          <a:p>
            <a:r>
              <a:rPr lang="en-US" dirty="0"/>
              <a:t>Print Academic History</a:t>
            </a:r>
          </a:p>
          <a:p>
            <a:r>
              <a:rPr lang="en-US" dirty="0"/>
              <a:t>View Enrolment </a:t>
            </a:r>
          </a:p>
          <a:p>
            <a:r>
              <a:rPr lang="en-US" dirty="0"/>
              <a:t>Print Enrolment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99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Use-Case Diagrams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 use-case diagram is a set of use cases</a:t>
            </a: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 use case is a model of the interaction between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External users of a software product (actors) and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The software product itself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More precisely, an actor is a user playing a specific role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describing a set of user 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scenarios</a:t>
            </a: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capturing user requirements</a:t>
            </a:r>
          </a:p>
          <a:p>
            <a:pPr eaLnBrk="1" hangingPunct="1"/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contract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between end user and software developers</a:t>
            </a:r>
          </a:p>
          <a:p>
            <a:pPr eaLnBrk="1" hangingPunct="1"/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7206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Use-Case Diagrams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3200400" y="2514600"/>
            <a:ext cx="2438400" cy="38465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962400" y="2743200"/>
            <a:ext cx="10668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Library System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3838575" y="3530600"/>
            <a:ext cx="923925" cy="431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4164013" y="3687763"/>
            <a:ext cx="401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Borrow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3838575" y="4137025"/>
            <a:ext cx="923925" cy="5111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3962400" y="4373563"/>
            <a:ext cx="60007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Order Title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3657600" y="4886325"/>
            <a:ext cx="1371600" cy="5238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3971925" y="5059363"/>
            <a:ext cx="9207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Fine Remittance</a:t>
            </a: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2354263" y="3513138"/>
            <a:ext cx="1484312" cy="17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276475" y="3810000"/>
            <a:ext cx="1484313" cy="12477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flipH="1">
            <a:off x="4676775" y="3405188"/>
            <a:ext cx="1331913" cy="9636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 flipH="1">
            <a:off x="4981575" y="3513138"/>
            <a:ext cx="989013" cy="149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 flipV="1">
            <a:off x="4791075" y="3298825"/>
            <a:ext cx="1217613" cy="320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>
            <a:off x="4714875" y="4405313"/>
            <a:ext cx="1370013" cy="392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 flipV="1">
            <a:off x="4981575" y="4868863"/>
            <a:ext cx="1027113" cy="320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>
            <a:off x="1806575" y="3308350"/>
            <a:ext cx="2159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806575" y="2895600"/>
            <a:ext cx="215900" cy="865188"/>
            <a:chOff x="1806575" y="2895600"/>
            <a:chExt cx="215900" cy="865188"/>
          </a:xfrm>
        </p:grpSpPr>
        <p:sp>
          <p:nvSpPr>
            <p:cNvPr id="25618" name="Line 18"/>
            <p:cNvSpPr>
              <a:spLocks noChangeShapeType="1"/>
            </p:cNvSpPr>
            <p:nvPr/>
          </p:nvSpPr>
          <p:spPr bwMode="auto">
            <a:xfrm>
              <a:off x="1914525" y="3216275"/>
              <a:ext cx="1588" cy="3016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5620" name="Line 20"/>
            <p:cNvSpPr>
              <a:spLocks noChangeShapeType="1"/>
            </p:cNvSpPr>
            <p:nvPr/>
          </p:nvSpPr>
          <p:spPr bwMode="auto">
            <a:xfrm flipH="1">
              <a:off x="1806575" y="3517900"/>
              <a:ext cx="107950" cy="2428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5621" name="Line 21"/>
            <p:cNvSpPr>
              <a:spLocks noChangeShapeType="1"/>
            </p:cNvSpPr>
            <p:nvPr/>
          </p:nvSpPr>
          <p:spPr bwMode="auto">
            <a:xfrm>
              <a:off x="1914525" y="3517900"/>
              <a:ext cx="107950" cy="2428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5622" name="Oval 22"/>
            <p:cNvSpPr>
              <a:spLocks noChangeArrowheads="1"/>
            </p:cNvSpPr>
            <p:nvPr/>
          </p:nvSpPr>
          <p:spPr bwMode="auto">
            <a:xfrm>
              <a:off x="1855788" y="2895600"/>
              <a:ext cx="107950" cy="2444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5623" name="Rectangle 23"/>
          <p:cNvSpPr>
            <a:spLocks noChangeArrowheads="1"/>
          </p:cNvSpPr>
          <p:nvPr/>
        </p:nvSpPr>
        <p:spPr bwMode="auto">
          <a:xfrm>
            <a:off x="1776413" y="3870325"/>
            <a:ext cx="3587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Client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>
            <a:off x="6391275" y="3051175"/>
            <a:ext cx="1588" cy="301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>
            <a:off x="6283325" y="3143250"/>
            <a:ext cx="2159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 flipH="1">
            <a:off x="6283325" y="3352800"/>
            <a:ext cx="107950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>
            <a:off x="6391275" y="3352800"/>
            <a:ext cx="107950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28" name="Oval 28"/>
          <p:cNvSpPr>
            <a:spLocks noChangeArrowheads="1"/>
          </p:cNvSpPr>
          <p:nvPr/>
        </p:nvSpPr>
        <p:spPr bwMode="auto">
          <a:xfrm>
            <a:off x="6332538" y="2727325"/>
            <a:ext cx="134937" cy="2444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29" name="Rectangle 29"/>
          <p:cNvSpPr>
            <a:spLocks noChangeArrowheads="1"/>
          </p:cNvSpPr>
          <p:nvPr/>
        </p:nvSpPr>
        <p:spPr bwMode="auto">
          <a:xfrm>
            <a:off x="6149975" y="3705225"/>
            <a:ext cx="6223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Employee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30" name="Line 30"/>
          <p:cNvSpPr>
            <a:spLocks noChangeShapeType="1"/>
          </p:cNvSpPr>
          <p:nvPr/>
        </p:nvSpPr>
        <p:spPr bwMode="auto">
          <a:xfrm>
            <a:off x="6391275" y="4803775"/>
            <a:ext cx="1588" cy="301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31" name="Line 31"/>
          <p:cNvSpPr>
            <a:spLocks noChangeShapeType="1"/>
          </p:cNvSpPr>
          <p:nvPr/>
        </p:nvSpPr>
        <p:spPr bwMode="auto">
          <a:xfrm>
            <a:off x="6283325" y="4895850"/>
            <a:ext cx="215900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32" name="Line 32"/>
          <p:cNvSpPr>
            <a:spLocks noChangeShapeType="1"/>
          </p:cNvSpPr>
          <p:nvPr/>
        </p:nvSpPr>
        <p:spPr bwMode="auto">
          <a:xfrm flipH="1">
            <a:off x="6283325" y="5105400"/>
            <a:ext cx="107950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33" name="Line 33"/>
          <p:cNvSpPr>
            <a:spLocks noChangeShapeType="1"/>
          </p:cNvSpPr>
          <p:nvPr/>
        </p:nvSpPr>
        <p:spPr bwMode="auto">
          <a:xfrm>
            <a:off x="6391275" y="5105400"/>
            <a:ext cx="107950" cy="242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34" name="Oval 34"/>
          <p:cNvSpPr>
            <a:spLocks noChangeArrowheads="1"/>
          </p:cNvSpPr>
          <p:nvPr/>
        </p:nvSpPr>
        <p:spPr bwMode="auto">
          <a:xfrm>
            <a:off x="6315075" y="4483100"/>
            <a:ext cx="152400" cy="241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35" name="Rectangle 35"/>
          <p:cNvSpPr>
            <a:spLocks noChangeArrowheads="1"/>
          </p:cNvSpPr>
          <p:nvPr/>
        </p:nvSpPr>
        <p:spPr bwMode="auto">
          <a:xfrm>
            <a:off x="6103938" y="5457825"/>
            <a:ext cx="6683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Supervisor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36" name="Rectangle 36"/>
          <p:cNvSpPr>
            <a:spLocks noChangeArrowheads="1"/>
          </p:cNvSpPr>
          <p:nvPr/>
        </p:nvSpPr>
        <p:spPr bwMode="auto">
          <a:xfrm>
            <a:off x="1905000" y="2219325"/>
            <a:ext cx="10525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1" u="none" strike="noStrike" kern="1200" cap="none" spc="0" normalizeH="0" baseline="0" noProof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Boundary</a:t>
            </a:r>
          </a:p>
        </p:txBody>
      </p:sp>
      <p:sp>
        <p:nvSpPr>
          <p:cNvPr id="25637" name="Line 37"/>
          <p:cNvSpPr>
            <a:spLocks noChangeShapeType="1"/>
          </p:cNvSpPr>
          <p:nvPr/>
        </p:nvSpPr>
        <p:spPr bwMode="auto">
          <a:xfrm>
            <a:off x="2895600" y="2524125"/>
            <a:ext cx="228600" cy="76200"/>
          </a:xfrm>
          <a:prstGeom prst="line">
            <a:avLst/>
          </a:prstGeom>
          <a:noFill/>
          <a:ln w="9525">
            <a:solidFill>
              <a:srgbClr val="FF66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38" name="Rectangle 38"/>
          <p:cNvSpPr>
            <a:spLocks noChangeArrowheads="1"/>
          </p:cNvSpPr>
          <p:nvPr/>
        </p:nvSpPr>
        <p:spPr bwMode="auto">
          <a:xfrm>
            <a:off x="838200" y="2524125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1" u="none" strike="noStrike" kern="1200" cap="none" spc="0" normalizeH="0" baseline="0" noProof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Actor</a:t>
            </a:r>
          </a:p>
        </p:txBody>
      </p:sp>
      <p:sp>
        <p:nvSpPr>
          <p:cNvPr id="25639" name="Line 39"/>
          <p:cNvSpPr>
            <a:spLocks noChangeShapeType="1"/>
          </p:cNvSpPr>
          <p:nvPr/>
        </p:nvSpPr>
        <p:spPr bwMode="auto">
          <a:xfrm>
            <a:off x="1371600" y="2828925"/>
            <a:ext cx="304800" cy="152400"/>
          </a:xfrm>
          <a:prstGeom prst="line">
            <a:avLst/>
          </a:prstGeom>
          <a:noFill/>
          <a:ln w="9525">
            <a:solidFill>
              <a:srgbClr val="FF66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40" name="Line 40"/>
          <p:cNvSpPr>
            <a:spLocks noChangeShapeType="1"/>
          </p:cNvSpPr>
          <p:nvPr/>
        </p:nvSpPr>
        <p:spPr bwMode="auto">
          <a:xfrm flipH="1">
            <a:off x="4572000" y="2447925"/>
            <a:ext cx="2133600" cy="1066800"/>
          </a:xfrm>
          <a:prstGeom prst="line">
            <a:avLst/>
          </a:prstGeom>
          <a:noFill/>
          <a:ln w="9525">
            <a:solidFill>
              <a:srgbClr val="FF66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41" name="Rectangle 41"/>
          <p:cNvSpPr>
            <a:spLocks noChangeArrowheads="1"/>
          </p:cNvSpPr>
          <p:nvPr/>
        </p:nvSpPr>
        <p:spPr bwMode="auto">
          <a:xfrm>
            <a:off x="6781800" y="2057400"/>
            <a:ext cx="1371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zh-CN" altLang="en-US" sz="1600" b="0" i="1" u="none" strike="noStrike" kern="1200" cap="none" spc="0" normalizeH="0" baseline="0" noProof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1600" b="0" i="1" u="none" strike="noStrike" kern="1200" cap="none" spc="0" normalizeH="0" baseline="0" noProof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Use Case</a:t>
            </a:r>
          </a:p>
        </p:txBody>
      </p:sp>
    </p:spTree>
    <p:extLst>
      <p:ext uri="{BB962C8B-B14F-4D97-AF65-F5344CB8AC3E}">
        <p14:creationId xmlns:p14="http://schemas.microsoft.com/office/powerpoint/2010/main" val="679619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524000" y="1524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57200" y="609600"/>
            <a:ext cx="8077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765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Use-Case Diagrams</a:t>
            </a:r>
          </a:p>
        </p:txBody>
      </p:sp>
      <p:sp>
        <p:nvSpPr>
          <p:cNvPr id="27653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2017713"/>
            <a:ext cx="7772400" cy="24018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1800" b="1" u="sng">
                <a:latin typeface="Arial" panose="020B0604020202020204" pitchFamily="34" charset="0"/>
                <a:ea typeface="宋体" panose="02010600030101010101" pitchFamily="2" charset="-122"/>
              </a:rPr>
              <a:t>Actors: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A role that a user plays with respect to the system, including human users and other systems. e.g., inanimate physical objects (e.g. robot); an external system that needs some information from the current system.</a:t>
            </a:r>
          </a:p>
          <a:p>
            <a:pPr eaLnBrk="1" hangingPunct="1">
              <a:lnSpc>
                <a:spcPct val="90000"/>
              </a:lnSpc>
            </a:pP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800" b="1" u="sng">
                <a:latin typeface="Arial" panose="020B0604020202020204" pitchFamily="34" charset="0"/>
                <a:ea typeface="宋体" panose="02010600030101010101" pitchFamily="2" charset="-122"/>
              </a:rPr>
              <a:t>Use case: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A set of scenarios that describing an interaction  between a user and a system, including alternatives.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1800" b="1" u="sng">
                <a:latin typeface="Arial" panose="020B0604020202020204" pitchFamily="34" charset="0"/>
                <a:ea typeface="宋体" panose="02010600030101010101" pitchFamily="2" charset="-122"/>
              </a:rPr>
              <a:t>System boundary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rectangle diagram representing the boundary between the actors and the system.</a:t>
            </a:r>
          </a:p>
          <a:p>
            <a:pPr eaLnBrk="1" hangingPunct="1">
              <a:lnSpc>
                <a:spcPct val="90000"/>
              </a:lnSpc>
            </a:pPr>
            <a:endParaRPr lang="en-US" altLang="zh-CN" sz="2000">
              <a:ea typeface="宋体" panose="02010600030101010101" pitchFamily="2" charset="-122"/>
            </a:endParaRPr>
          </a:p>
        </p:txBody>
      </p:sp>
      <p:pic>
        <p:nvPicPr>
          <p:cNvPr id="27654" name="Picture 13" descr="actor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4724400"/>
            <a:ext cx="3810000" cy="1371600"/>
          </a:xfrm>
          <a:noFill/>
        </p:spPr>
      </p:pic>
    </p:spTree>
    <p:extLst>
      <p:ext uri="{BB962C8B-B14F-4D97-AF65-F5344CB8AC3E}">
        <p14:creationId xmlns:p14="http://schemas.microsoft.com/office/powerpoint/2010/main" val="511598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Use-Case Diagrams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u="sng" dirty="0">
                <a:latin typeface="Arial" panose="020B0604020202020204" pitchFamily="34" charset="0"/>
                <a:ea typeface="宋体" panose="02010600030101010101" pitchFamily="2" charset="-122"/>
              </a:rPr>
              <a:t>Association: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 communication between an actor and a use case; Represented by a solid line.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800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800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800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1800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800" u="sng" dirty="0">
                <a:latin typeface="Arial" panose="020B0604020202020204" pitchFamily="34" charset="0"/>
                <a:ea typeface="宋体" panose="02010600030101010101" pitchFamily="2" charset="-122"/>
              </a:rPr>
              <a:t>Generalization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  <a:t>: 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relationship between one general use case and a special use case (used for defining special alternatives) Represented by a line with a triangular arrow head toward the parent use case.</a:t>
            </a:r>
          </a:p>
          <a:p>
            <a:pPr eaLnBrk="1" hangingPunct="1">
              <a:lnSpc>
                <a:spcPct val="80000"/>
              </a:lnSpc>
            </a:pP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3581400" y="3124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3581400" y="5334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4724400" y="5181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4724400" y="51816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 flipV="1">
            <a:off x="4724400" y="53340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021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ea typeface="宋体" panose="02010600030101010101" pitchFamily="2" charset="-122"/>
              </a:rPr>
              <a:t>Use-Case Diagrams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676400" y="3200400"/>
            <a:ext cx="67818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Extend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a dotted line labeled &lt;&lt;extend&gt;&gt;  with an arrow toward the base case. The extending use case may add behavior to the base use case. The base class declares “extension points”.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&lt;&lt;extend&gt;&gt;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676400" y="1327150"/>
            <a:ext cx="6553200" cy="270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Include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: a dotted line labeled &lt;&lt;include&gt;&gt; beginning at base use case and ending with an arrows pointing to the include use case.  The include relationship occurs when a chunk of behavior is similar across more than one use case. Use “include” in stead of copying the description of that behavior.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&lt;&lt;include&gt;&gt;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2438400" y="3962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>
            <a:off x="2514600" y="6172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30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Use-Case Diagrams</a:t>
            </a:r>
          </a:p>
        </p:txBody>
      </p:sp>
      <p:graphicFrame>
        <p:nvGraphicFramePr>
          <p:cNvPr id="33795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62000" y="2362200"/>
          <a:ext cx="6705600" cy="357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621064" imgH="4067743" progId="Paint.Picture">
                  <p:embed/>
                </p:oleObj>
              </mc:Choice>
              <mc:Fallback>
                <p:oleObj name="Bitmap Image" r:id="rId3" imgW="7621064" imgH="4067743" progId="Paint.Picture">
                  <p:embed/>
                  <p:pic>
                    <p:nvPicPr>
                      <p:cNvPr id="337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62200"/>
                        <a:ext cx="6705600" cy="357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Rectangle 6"/>
          <p:cNvSpPr>
            <a:spLocks noChangeArrowheads="1"/>
          </p:cNvSpPr>
          <p:nvPr/>
        </p:nvSpPr>
        <p:spPr bwMode="auto">
          <a:xfrm>
            <a:off x="6477000" y="6019800"/>
            <a:ext cx="1455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Figure 16.12</a:t>
            </a:r>
          </a:p>
        </p:txBody>
      </p:sp>
      <p:sp>
        <p:nvSpPr>
          <p:cNvPr id="33797" name="Rectangle 7"/>
          <p:cNvSpPr>
            <a:spLocks noChangeArrowheads="1"/>
          </p:cNvSpPr>
          <p:nvPr/>
        </p:nvSpPr>
        <p:spPr bwMode="auto">
          <a:xfrm>
            <a:off x="2971800" y="6400800"/>
            <a:ext cx="3263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McGraw-Hill Companies, 2005</a:t>
            </a:r>
          </a:p>
        </p:txBody>
      </p:sp>
    </p:spTree>
    <p:extLst>
      <p:ext uri="{BB962C8B-B14F-4D97-AF65-F5344CB8AC3E}">
        <p14:creationId xmlns:p14="http://schemas.microsoft.com/office/powerpoint/2010/main" val="3539837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Interaction Diagrams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show how objects interact with one another</a:t>
            </a:r>
          </a:p>
          <a:p>
            <a:pPr eaLnBrk="1" hangingPunct="1"/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UML supports two types of interaction diagrams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Sequence diagrams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Collaboration diagrams</a:t>
            </a:r>
          </a:p>
          <a:p>
            <a:pPr eaLnBrk="1" hangingPunct="1"/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4678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Sequence Diagram(make a phone call)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1463675" y="1920875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1524000" y="2057400"/>
            <a:ext cx="7127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Caller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4222750" y="1920875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4283075" y="2057400"/>
            <a:ext cx="769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Phone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6965950" y="1920875"/>
            <a:ext cx="1143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7026275" y="2057400"/>
            <a:ext cx="1028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Recipient</a:t>
            </a:r>
          </a:p>
        </p:txBody>
      </p:sp>
      <p:sp>
        <p:nvSpPr>
          <p:cNvPr id="41993" name="Line 9"/>
          <p:cNvSpPr>
            <a:spLocks noChangeShapeType="1"/>
          </p:cNvSpPr>
          <p:nvPr/>
        </p:nvSpPr>
        <p:spPr bwMode="auto">
          <a:xfrm>
            <a:off x="1997075" y="2606675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994" name="Line 10"/>
          <p:cNvSpPr>
            <a:spLocks noChangeShapeType="1"/>
          </p:cNvSpPr>
          <p:nvPr/>
        </p:nvSpPr>
        <p:spPr bwMode="auto">
          <a:xfrm>
            <a:off x="4816475" y="2606675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1995" name="Line 11"/>
          <p:cNvSpPr>
            <a:spLocks noChangeShapeType="1"/>
          </p:cNvSpPr>
          <p:nvPr/>
        </p:nvSpPr>
        <p:spPr bwMode="auto">
          <a:xfrm>
            <a:off x="7635875" y="2606675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3261" name="Line 13"/>
          <p:cNvSpPr>
            <a:spLocks noChangeShapeType="1"/>
          </p:cNvSpPr>
          <p:nvPr/>
        </p:nvSpPr>
        <p:spPr bwMode="auto">
          <a:xfrm>
            <a:off x="1997075" y="3902075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 flipH="1">
            <a:off x="1997075" y="3444875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 flipH="1">
            <a:off x="1997075" y="4511675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>
            <a:off x="4816475" y="4511675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3265" name="Line 17"/>
          <p:cNvSpPr>
            <a:spLocks noChangeShapeType="1"/>
          </p:cNvSpPr>
          <p:nvPr/>
        </p:nvSpPr>
        <p:spPr bwMode="auto">
          <a:xfrm flipH="1">
            <a:off x="4816475" y="5121275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3266" name="Line 18"/>
          <p:cNvSpPr>
            <a:spLocks noChangeShapeType="1"/>
          </p:cNvSpPr>
          <p:nvPr/>
        </p:nvSpPr>
        <p:spPr bwMode="auto">
          <a:xfrm flipH="1">
            <a:off x="1997075" y="5654675"/>
            <a:ext cx="563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2606675" y="3108325"/>
            <a:ext cx="984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Dial tone</a:t>
            </a:r>
          </a:p>
        </p:txBody>
      </p:sp>
      <p:sp>
        <p:nvSpPr>
          <p:cNvPr id="53269" name="Text Box 21"/>
          <p:cNvSpPr txBox="1">
            <a:spLocks noChangeArrowheads="1"/>
          </p:cNvSpPr>
          <p:nvPr/>
        </p:nvSpPr>
        <p:spPr bwMode="auto">
          <a:xfrm>
            <a:off x="2606675" y="3565525"/>
            <a:ext cx="531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Dial</a:t>
            </a:r>
          </a:p>
        </p:txBody>
      </p:sp>
      <p:sp>
        <p:nvSpPr>
          <p:cNvPr id="53270" name="Text Box 22"/>
          <p:cNvSpPr txBox="1">
            <a:spLocks noChangeArrowheads="1"/>
          </p:cNvSpPr>
          <p:nvPr/>
        </p:nvSpPr>
        <p:spPr bwMode="auto">
          <a:xfrm>
            <a:off x="2606675" y="4175125"/>
            <a:ext cx="1627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Ring notification</a:t>
            </a:r>
          </a:p>
        </p:txBody>
      </p:sp>
      <p:sp>
        <p:nvSpPr>
          <p:cNvPr id="53271" name="Text Box 23"/>
          <p:cNvSpPr txBox="1">
            <a:spLocks noChangeArrowheads="1"/>
          </p:cNvSpPr>
          <p:nvPr/>
        </p:nvSpPr>
        <p:spPr bwMode="auto">
          <a:xfrm>
            <a:off x="6035675" y="4175125"/>
            <a:ext cx="600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Ring</a:t>
            </a:r>
          </a:p>
        </p:txBody>
      </p:sp>
      <p:sp>
        <p:nvSpPr>
          <p:cNvPr id="53272" name="Text Box 24"/>
          <p:cNvSpPr txBox="1">
            <a:spLocks noChangeArrowheads="1"/>
          </p:cNvSpPr>
          <p:nvPr/>
        </p:nvSpPr>
        <p:spPr bwMode="auto">
          <a:xfrm>
            <a:off x="5807075" y="4816475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Picks up</a:t>
            </a:r>
          </a:p>
        </p:txBody>
      </p:sp>
      <p:sp>
        <p:nvSpPr>
          <p:cNvPr id="53273" name="Text Box 25"/>
          <p:cNvSpPr txBox="1">
            <a:spLocks noChangeArrowheads="1"/>
          </p:cNvSpPr>
          <p:nvPr/>
        </p:nvSpPr>
        <p:spPr bwMode="auto">
          <a:xfrm>
            <a:off x="4340225" y="5273675"/>
            <a:ext cx="644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Hello</a:t>
            </a:r>
          </a:p>
        </p:txBody>
      </p:sp>
      <p:sp>
        <p:nvSpPr>
          <p:cNvPr id="26" name="Line 12"/>
          <p:cNvSpPr>
            <a:spLocks noChangeShapeType="1"/>
          </p:cNvSpPr>
          <p:nvPr/>
        </p:nvSpPr>
        <p:spPr bwMode="auto">
          <a:xfrm>
            <a:off x="1997075" y="2987675"/>
            <a:ext cx="281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2590800" y="2667000"/>
            <a:ext cx="950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Picks up</a:t>
            </a:r>
          </a:p>
        </p:txBody>
      </p:sp>
    </p:spTree>
    <p:extLst>
      <p:ext uri="{BB962C8B-B14F-4D97-AF65-F5344CB8AC3E}">
        <p14:creationId xmlns:p14="http://schemas.microsoft.com/office/powerpoint/2010/main" val="371273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8" grpId="0" autoUpdateAnimBg="0"/>
      <p:bldP spid="53269" grpId="0" autoUpdateAnimBg="0"/>
      <p:bldP spid="53270" grpId="0" autoUpdateAnimBg="0"/>
      <p:bldP spid="53271" grpId="0" autoUpdateAnimBg="0"/>
      <p:bldP spid="53272" grpId="0" autoUpdateAnimBg="0"/>
      <p:bldP spid="53273" grpId="0" autoUpdateAnimBg="0"/>
      <p:bldP spid="2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Sequence Diagram:Object interaction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1431925" y="2438400"/>
            <a:ext cx="3743325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Self-Call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: A message that an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Object sends to itself.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Condition: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indicates when a message is sent. The message is sent only if the condition is true.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4953000" y="1905000"/>
            <a:ext cx="1066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6934200" y="1905000"/>
            <a:ext cx="10668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3886200" y="5257800"/>
            <a:ext cx="1482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Iteration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3927475" y="4784725"/>
            <a:ext cx="1482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Condition</a:t>
            </a:r>
          </a:p>
        </p:txBody>
      </p:sp>
      <p:grpSp>
        <p:nvGrpSpPr>
          <p:cNvPr id="44040" name="Group 8"/>
          <p:cNvGrpSpPr>
            <a:grpSpLocks/>
          </p:cNvGrpSpPr>
          <p:nvPr/>
        </p:nvGrpSpPr>
        <p:grpSpPr bwMode="auto">
          <a:xfrm>
            <a:off x="4876800" y="2101850"/>
            <a:ext cx="2971800" cy="4603750"/>
            <a:chOff x="3072" y="1180"/>
            <a:chExt cx="1872" cy="2900"/>
          </a:xfrm>
        </p:grpSpPr>
        <p:sp>
          <p:nvSpPr>
            <p:cNvPr id="44041" name="Line 9"/>
            <p:cNvSpPr>
              <a:spLocks noChangeShapeType="1"/>
            </p:cNvSpPr>
            <p:nvPr/>
          </p:nvSpPr>
          <p:spPr bwMode="auto">
            <a:xfrm>
              <a:off x="3456" y="38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42" name="Text Box 10"/>
            <p:cNvSpPr txBox="1">
              <a:spLocks noChangeArrowheads="1"/>
            </p:cNvSpPr>
            <p:nvPr/>
          </p:nvSpPr>
          <p:spPr bwMode="auto">
            <a:xfrm>
              <a:off x="3360" y="118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4043" name="Text Box 11"/>
            <p:cNvSpPr txBox="1">
              <a:spLocks noChangeArrowheads="1"/>
            </p:cNvSpPr>
            <p:nvPr/>
          </p:nvSpPr>
          <p:spPr bwMode="auto">
            <a:xfrm>
              <a:off x="4599" y="118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4044" name="Line 12"/>
            <p:cNvSpPr>
              <a:spLocks noChangeShapeType="1"/>
            </p:cNvSpPr>
            <p:nvPr/>
          </p:nvSpPr>
          <p:spPr bwMode="auto">
            <a:xfrm>
              <a:off x="3456" y="1728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grpSp>
          <p:nvGrpSpPr>
            <p:cNvPr id="44045" name="Group 13"/>
            <p:cNvGrpSpPr>
              <a:grpSpLocks/>
            </p:cNvGrpSpPr>
            <p:nvPr/>
          </p:nvGrpSpPr>
          <p:grpSpPr bwMode="auto">
            <a:xfrm>
              <a:off x="3456" y="2160"/>
              <a:ext cx="1248" cy="48"/>
              <a:chOff x="3456" y="1680"/>
              <a:chExt cx="1248" cy="48"/>
            </a:xfrm>
          </p:grpSpPr>
          <p:sp>
            <p:nvSpPr>
              <p:cNvPr id="44066" name="Line 14"/>
              <p:cNvSpPr>
                <a:spLocks noChangeShapeType="1"/>
              </p:cNvSpPr>
              <p:nvPr/>
            </p:nvSpPr>
            <p:spPr bwMode="auto">
              <a:xfrm>
                <a:off x="3456" y="1728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067" name="Line 15"/>
              <p:cNvSpPr>
                <a:spLocks noChangeShapeType="1"/>
              </p:cNvSpPr>
              <p:nvPr/>
            </p:nvSpPr>
            <p:spPr bwMode="auto">
              <a:xfrm>
                <a:off x="4608" y="1680"/>
                <a:ext cx="96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4046" name="Text Box 16"/>
            <p:cNvSpPr txBox="1">
              <a:spLocks noChangeArrowheads="1"/>
            </p:cNvSpPr>
            <p:nvPr/>
          </p:nvSpPr>
          <p:spPr bwMode="auto">
            <a:xfrm>
              <a:off x="3638" y="1526"/>
              <a:ext cx="8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Synchronous</a:t>
              </a:r>
            </a:p>
          </p:txBody>
        </p:sp>
        <p:sp>
          <p:nvSpPr>
            <p:cNvPr id="44047" name="Text Box 17"/>
            <p:cNvSpPr txBox="1">
              <a:spLocks noChangeArrowheads="1"/>
            </p:cNvSpPr>
            <p:nvPr/>
          </p:nvSpPr>
          <p:spPr bwMode="auto">
            <a:xfrm>
              <a:off x="3648" y="1996"/>
              <a:ext cx="9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Asynchronous</a:t>
              </a:r>
            </a:p>
          </p:txBody>
        </p:sp>
        <p:sp>
          <p:nvSpPr>
            <p:cNvPr id="44048" name="Line 18"/>
            <p:cNvSpPr>
              <a:spLocks noChangeShapeType="1"/>
            </p:cNvSpPr>
            <p:nvPr/>
          </p:nvSpPr>
          <p:spPr bwMode="auto">
            <a:xfrm>
              <a:off x="3504" y="2448"/>
              <a:ext cx="1248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49" name="Text Box 19"/>
            <p:cNvSpPr txBox="1">
              <a:spLocks noChangeArrowheads="1"/>
            </p:cNvSpPr>
            <p:nvPr/>
          </p:nvSpPr>
          <p:spPr bwMode="auto">
            <a:xfrm>
              <a:off x="3600" y="2304"/>
              <a:ext cx="134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Transmission 	delayed</a:t>
              </a:r>
            </a:p>
          </p:txBody>
        </p:sp>
        <p:sp>
          <p:nvSpPr>
            <p:cNvPr id="44050" name="Line 20"/>
            <p:cNvSpPr>
              <a:spLocks noChangeShapeType="1"/>
            </p:cNvSpPr>
            <p:nvPr/>
          </p:nvSpPr>
          <p:spPr bwMode="auto">
            <a:xfrm flipH="1">
              <a:off x="3456" y="370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51" name="Line 21"/>
            <p:cNvSpPr>
              <a:spLocks noChangeShapeType="1"/>
            </p:cNvSpPr>
            <p:nvPr/>
          </p:nvSpPr>
          <p:spPr bwMode="auto">
            <a:xfrm flipV="1">
              <a:off x="3744" y="356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52" name="Line 22"/>
            <p:cNvSpPr>
              <a:spLocks noChangeShapeType="1"/>
            </p:cNvSpPr>
            <p:nvPr/>
          </p:nvSpPr>
          <p:spPr bwMode="auto">
            <a:xfrm>
              <a:off x="3456" y="356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53" name="Text Box 23"/>
            <p:cNvSpPr txBox="1">
              <a:spLocks noChangeArrowheads="1"/>
            </p:cNvSpPr>
            <p:nvPr/>
          </p:nvSpPr>
          <p:spPr bwMode="auto">
            <a:xfrm>
              <a:off x="3552" y="3312"/>
              <a:ext cx="598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Self-Call</a:t>
              </a:r>
            </a:p>
          </p:txBody>
        </p:sp>
        <p:sp>
          <p:nvSpPr>
            <p:cNvPr id="44054" name="Line 24"/>
            <p:cNvSpPr>
              <a:spLocks noChangeShapeType="1"/>
            </p:cNvSpPr>
            <p:nvPr/>
          </p:nvSpPr>
          <p:spPr bwMode="auto">
            <a:xfrm>
              <a:off x="4752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55" name="Line 25"/>
            <p:cNvSpPr>
              <a:spLocks noChangeShapeType="1"/>
            </p:cNvSpPr>
            <p:nvPr/>
          </p:nvSpPr>
          <p:spPr bwMode="auto">
            <a:xfrm>
              <a:off x="34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56" name="Line 26"/>
            <p:cNvSpPr>
              <a:spLocks noChangeShapeType="1"/>
            </p:cNvSpPr>
            <p:nvPr/>
          </p:nvSpPr>
          <p:spPr bwMode="auto">
            <a:xfrm>
              <a:off x="475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57" name="Line 27"/>
            <p:cNvSpPr>
              <a:spLocks noChangeShapeType="1"/>
            </p:cNvSpPr>
            <p:nvPr/>
          </p:nvSpPr>
          <p:spPr bwMode="auto">
            <a:xfrm>
              <a:off x="3456" y="3072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58" name="Text Box 28"/>
            <p:cNvSpPr txBox="1">
              <a:spLocks noChangeArrowheads="1"/>
            </p:cNvSpPr>
            <p:nvPr/>
          </p:nvSpPr>
          <p:spPr bwMode="auto">
            <a:xfrm>
              <a:off x="3494" y="2234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44059" name="Text Box 29"/>
            <p:cNvSpPr txBox="1">
              <a:spLocks noChangeArrowheads="1"/>
            </p:cNvSpPr>
            <p:nvPr/>
          </p:nvSpPr>
          <p:spPr bwMode="auto">
            <a:xfrm>
              <a:off x="3456" y="2880"/>
              <a:ext cx="12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[condition]  remove()</a:t>
              </a:r>
            </a:p>
          </p:txBody>
        </p:sp>
        <p:sp>
          <p:nvSpPr>
            <p:cNvPr id="44060" name="Line 30"/>
            <p:cNvSpPr>
              <a:spLocks noChangeShapeType="1"/>
            </p:cNvSpPr>
            <p:nvPr/>
          </p:nvSpPr>
          <p:spPr bwMode="auto">
            <a:xfrm>
              <a:off x="3456" y="1584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61" name="Line 31"/>
            <p:cNvSpPr>
              <a:spLocks noChangeShapeType="1"/>
            </p:cNvSpPr>
            <p:nvPr/>
          </p:nvSpPr>
          <p:spPr bwMode="auto">
            <a:xfrm>
              <a:off x="4752" y="1584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62" name="Text Box 32"/>
            <p:cNvSpPr txBox="1">
              <a:spLocks noChangeArrowheads="1"/>
            </p:cNvSpPr>
            <p:nvPr/>
          </p:nvSpPr>
          <p:spPr bwMode="auto">
            <a:xfrm>
              <a:off x="3456" y="3216"/>
              <a:ext cx="12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[for each] remove()</a:t>
              </a:r>
            </a:p>
          </p:txBody>
        </p:sp>
        <p:sp>
          <p:nvSpPr>
            <p:cNvPr id="44063" name="Line 33"/>
            <p:cNvSpPr>
              <a:spLocks noChangeShapeType="1"/>
            </p:cNvSpPr>
            <p:nvPr/>
          </p:nvSpPr>
          <p:spPr bwMode="auto">
            <a:xfrm>
              <a:off x="3480" y="3408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64" name="Line 34"/>
            <p:cNvSpPr>
              <a:spLocks noChangeShapeType="1"/>
            </p:cNvSpPr>
            <p:nvPr/>
          </p:nvSpPr>
          <p:spPr bwMode="auto">
            <a:xfrm flipV="1">
              <a:off x="3072" y="3312"/>
              <a:ext cx="432" cy="144"/>
            </a:xfrm>
            <a:prstGeom prst="line">
              <a:avLst/>
            </a:prstGeom>
            <a:noFill/>
            <a:ln w="9525">
              <a:solidFill>
                <a:srgbClr val="FF66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4065" name="Line 35"/>
            <p:cNvSpPr>
              <a:spLocks noChangeShapeType="1"/>
            </p:cNvSpPr>
            <p:nvPr/>
          </p:nvSpPr>
          <p:spPr bwMode="auto">
            <a:xfrm flipV="1">
              <a:off x="3216" y="3024"/>
              <a:ext cx="432" cy="144"/>
            </a:xfrm>
            <a:prstGeom prst="line">
              <a:avLst/>
            </a:prstGeom>
            <a:noFill/>
            <a:ln w="9525">
              <a:solidFill>
                <a:srgbClr val="FF66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4702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381000"/>
            <a:ext cx="7772400" cy="6400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Void main 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x;</a:t>
            </a:r>
          </a:p>
          <a:p>
            <a:pPr marL="0" indent="0">
              <a:buNone/>
            </a:pPr>
            <a:r>
              <a:rPr lang="en-US" dirty="0"/>
              <a:t>if (expression)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a 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sz="2000" dirty="0"/>
              <a:t>variable can be used/ accessed - </a:t>
            </a:r>
            <a:r>
              <a:rPr lang="en-US" sz="2000" b="1" dirty="0"/>
              <a:t>SCOPE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sz="2000" dirty="0"/>
              <a:t>Existence of variable in the memory – </a:t>
            </a:r>
            <a:r>
              <a:rPr lang="en-US" sz="2000" b="1" dirty="0"/>
              <a:t>LIFETIME  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5297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Sequence Diagrams – Object Life Spans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3" y="1828800"/>
            <a:ext cx="4713287" cy="4343400"/>
          </a:xfrm>
          <a:noFill/>
        </p:spPr>
        <p:txBody>
          <a:bodyPr/>
          <a:lstStyle/>
          <a:p>
            <a:pPr marL="290513" indent="-290513" eaLnBrk="1" hangingPunct="1"/>
            <a:r>
              <a:rPr lang="en-US" altLang="zh-CN" sz="2000">
                <a:ea typeface="宋体" panose="02010600030101010101" pitchFamily="2" charset="-122"/>
              </a:rPr>
              <a:t>Creation</a:t>
            </a:r>
          </a:p>
          <a:p>
            <a:pPr marL="741363" lvl="1" indent="-284163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Create message</a:t>
            </a:r>
          </a:p>
          <a:p>
            <a:pPr marL="741363" lvl="1" indent="-284163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Object life starts at that point</a:t>
            </a:r>
          </a:p>
          <a:p>
            <a:pPr marL="290513" indent="-290513" eaLnBrk="1" hangingPunct="1"/>
            <a:r>
              <a:rPr lang="en-US" altLang="zh-CN" sz="2000">
                <a:ea typeface="宋体" panose="02010600030101010101" pitchFamily="2" charset="-122"/>
              </a:rPr>
              <a:t>Activation</a:t>
            </a:r>
          </a:p>
          <a:p>
            <a:pPr marL="741363" lvl="1" indent="-284163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Symbolized by rectangular stripes</a:t>
            </a:r>
          </a:p>
          <a:p>
            <a:pPr marL="741363" lvl="1" indent="-284163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Place on the lifeline where object is activated.</a:t>
            </a:r>
          </a:p>
          <a:p>
            <a:pPr marL="741363" lvl="1" indent="-284163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Rectangle also denotes when object is deactivated.</a:t>
            </a:r>
          </a:p>
          <a:p>
            <a:pPr marL="290513" indent="-290513" eaLnBrk="1" hangingPunct="1"/>
            <a:r>
              <a:rPr lang="en-US" altLang="zh-CN" sz="2000">
                <a:ea typeface="宋体" panose="02010600030101010101" pitchFamily="2" charset="-122"/>
              </a:rPr>
              <a:t>Deletion</a:t>
            </a:r>
          </a:p>
          <a:p>
            <a:pPr marL="741363" lvl="1" indent="-284163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Placing an ‘X’ on lifeline</a:t>
            </a:r>
          </a:p>
          <a:p>
            <a:pPr marL="741363" lvl="1" indent="-284163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Object’s life ends at that point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962400" y="4613275"/>
            <a:ext cx="1752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Activation bar</a:t>
            </a:r>
          </a:p>
        </p:txBody>
      </p:sp>
      <p:grpSp>
        <p:nvGrpSpPr>
          <p:cNvPr id="46085" name="Group 5"/>
          <p:cNvGrpSpPr>
            <a:grpSpLocks/>
          </p:cNvGrpSpPr>
          <p:nvPr/>
        </p:nvGrpSpPr>
        <p:grpSpPr bwMode="auto">
          <a:xfrm>
            <a:off x="5013325" y="1955800"/>
            <a:ext cx="3457575" cy="4157663"/>
            <a:chOff x="3158" y="1232"/>
            <a:chExt cx="2178" cy="2619"/>
          </a:xfrm>
        </p:grpSpPr>
        <p:sp>
          <p:nvSpPr>
            <p:cNvPr id="46086" name="Rectangle 6"/>
            <p:cNvSpPr>
              <a:spLocks noChangeArrowheads="1"/>
            </p:cNvSpPr>
            <p:nvPr/>
          </p:nvSpPr>
          <p:spPr bwMode="auto">
            <a:xfrm>
              <a:off x="3416" y="1232"/>
              <a:ext cx="62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87" name="Rectangle 7"/>
            <p:cNvSpPr>
              <a:spLocks noChangeArrowheads="1"/>
            </p:cNvSpPr>
            <p:nvPr/>
          </p:nvSpPr>
          <p:spPr bwMode="auto">
            <a:xfrm>
              <a:off x="4712" y="1808"/>
              <a:ext cx="62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3608" y="1308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46089" name="Text Box 9"/>
            <p:cNvSpPr txBox="1">
              <a:spLocks noChangeArrowheads="1"/>
            </p:cNvSpPr>
            <p:nvPr/>
          </p:nvSpPr>
          <p:spPr bwMode="auto">
            <a:xfrm>
              <a:off x="4936" y="1884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sng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46090" name="Line 10"/>
            <p:cNvSpPr>
              <a:spLocks noChangeShapeType="1"/>
            </p:cNvSpPr>
            <p:nvPr/>
          </p:nvSpPr>
          <p:spPr bwMode="auto">
            <a:xfrm>
              <a:off x="3704" y="1616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91" name="Line 11"/>
            <p:cNvSpPr>
              <a:spLocks noChangeShapeType="1"/>
            </p:cNvSpPr>
            <p:nvPr/>
          </p:nvSpPr>
          <p:spPr bwMode="auto">
            <a:xfrm>
              <a:off x="5048" y="2192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92" name="Line 12"/>
            <p:cNvSpPr>
              <a:spLocks noChangeShapeType="1"/>
            </p:cNvSpPr>
            <p:nvPr/>
          </p:nvSpPr>
          <p:spPr bwMode="auto">
            <a:xfrm>
              <a:off x="3704" y="2000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93" name="Text Box 13"/>
            <p:cNvSpPr txBox="1">
              <a:spLocks noChangeArrowheads="1"/>
            </p:cNvSpPr>
            <p:nvPr/>
          </p:nvSpPr>
          <p:spPr bwMode="auto">
            <a:xfrm>
              <a:off x="3934" y="1810"/>
              <a:ext cx="500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90513" indent="-290513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290513" marR="0" lvl="0" indent="-290513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Create</a:t>
              </a:r>
            </a:p>
          </p:txBody>
        </p:sp>
        <p:sp>
          <p:nvSpPr>
            <p:cNvPr id="46094" name="Line 14"/>
            <p:cNvSpPr>
              <a:spLocks noChangeShapeType="1"/>
            </p:cNvSpPr>
            <p:nvPr/>
          </p:nvSpPr>
          <p:spPr bwMode="auto">
            <a:xfrm>
              <a:off x="3752" y="2432"/>
              <a:ext cx="1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95" name="Rectangle 15"/>
            <p:cNvSpPr>
              <a:spLocks noChangeArrowheads="1"/>
            </p:cNvSpPr>
            <p:nvPr/>
          </p:nvSpPr>
          <p:spPr bwMode="auto">
            <a:xfrm>
              <a:off x="5002" y="2429"/>
              <a:ext cx="98" cy="47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96" name="Text Box 16"/>
            <p:cNvSpPr txBox="1">
              <a:spLocks noChangeArrowheads="1"/>
            </p:cNvSpPr>
            <p:nvPr/>
          </p:nvSpPr>
          <p:spPr bwMode="auto">
            <a:xfrm>
              <a:off x="4918" y="3023"/>
              <a:ext cx="265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90513" indent="-290513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290513" marR="0" lvl="0" indent="-290513" algn="l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X</a:t>
              </a:r>
            </a:p>
          </p:txBody>
        </p:sp>
        <p:sp>
          <p:nvSpPr>
            <p:cNvPr id="46097" name="Rectangle 17"/>
            <p:cNvSpPr>
              <a:spLocks noChangeArrowheads="1"/>
            </p:cNvSpPr>
            <p:nvPr/>
          </p:nvSpPr>
          <p:spPr bwMode="auto">
            <a:xfrm>
              <a:off x="3654" y="2000"/>
              <a:ext cx="98" cy="100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98" name="Line 18"/>
            <p:cNvSpPr>
              <a:spLocks noChangeShapeType="1"/>
            </p:cNvSpPr>
            <p:nvPr/>
          </p:nvSpPr>
          <p:spPr bwMode="auto">
            <a:xfrm flipH="1">
              <a:off x="3752" y="2913"/>
              <a:ext cx="1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099" name="Rectangle 19"/>
            <p:cNvSpPr>
              <a:spLocks noChangeArrowheads="1"/>
            </p:cNvSpPr>
            <p:nvPr/>
          </p:nvSpPr>
          <p:spPr bwMode="auto">
            <a:xfrm>
              <a:off x="4656" y="3312"/>
              <a:ext cx="66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Deletion</a:t>
              </a:r>
            </a:p>
          </p:txBody>
        </p:sp>
        <p:sp>
          <p:nvSpPr>
            <p:cNvPr id="46100" name="Line 20"/>
            <p:cNvSpPr>
              <a:spLocks noChangeShapeType="1"/>
            </p:cNvSpPr>
            <p:nvPr/>
          </p:nvSpPr>
          <p:spPr bwMode="auto">
            <a:xfrm flipV="1">
              <a:off x="4032" y="297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46101" name="Text Box 21"/>
            <p:cNvSpPr txBox="1">
              <a:spLocks noChangeArrowheads="1"/>
            </p:cNvSpPr>
            <p:nvPr/>
          </p:nvSpPr>
          <p:spPr bwMode="auto">
            <a:xfrm>
              <a:off x="3878" y="3177"/>
              <a:ext cx="55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Return</a:t>
              </a:r>
            </a:p>
          </p:txBody>
        </p:sp>
        <p:sp>
          <p:nvSpPr>
            <p:cNvPr id="46102" name="Text Box 22"/>
            <p:cNvSpPr txBox="1">
              <a:spLocks noChangeArrowheads="1"/>
            </p:cNvSpPr>
            <p:nvPr/>
          </p:nvSpPr>
          <p:spPr bwMode="auto">
            <a:xfrm>
              <a:off x="3158" y="3639"/>
              <a:ext cx="52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Lifeline</a:t>
              </a:r>
            </a:p>
          </p:txBody>
        </p:sp>
        <p:sp>
          <p:nvSpPr>
            <p:cNvPr id="46103" name="Line 23"/>
            <p:cNvSpPr>
              <a:spLocks noChangeShapeType="1"/>
            </p:cNvSpPr>
            <p:nvPr/>
          </p:nvSpPr>
          <p:spPr bwMode="auto">
            <a:xfrm flipV="1">
              <a:off x="3360" y="2688"/>
              <a:ext cx="24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40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685800"/>
            <a:ext cx="7391400" cy="914400"/>
          </a:xfrm>
        </p:spPr>
        <p:txBody>
          <a:bodyPr/>
          <a:lstStyle/>
          <a:p>
            <a:pPr eaLnBrk="1" hangingPunct="1"/>
            <a:br>
              <a:rPr lang="zh-CN" altLang="en-US"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Sequence Diagram</a:t>
            </a:r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109788"/>
            <a:ext cx="4953000" cy="474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381000" y="2362200"/>
            <a:ext cx="3581400" cy="400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Sequence diagrams demonstrate the behavior of objects in a use case by describing the objects and the messages they pass.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horizontal dimension shows the objects participating in the interaction.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vertical arrangement of messages indicates their order.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 labels may contain the seq. #  to indicate concurrency.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5029200" y="2057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66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Message</a:t>
            </a:r>
          </a:p>
        </p:txBody>
      </p:sp>
      <p:sp>
        <p:nvSpPr>
          <p:cNvPr id="48134" name="Line 6"/>
          <p:cNvSpPr>
            <a:spLocks noChangeShapeType="1"/>
          </p:cNvSpPr>
          <p:nvPr/>
        </p:nvSpPr>
        <p:spPr bwMode="auto">
          <a:xfrm flipH="1">
            <a:off x="4876800" y="2286000"/>
            <a:ext cx="457200" cy="457200"/>
          </a:xfrm>
          <a:prstGeom prst="line">
            <a:avLst/>
          </a:prstGeom>
          <a:noFill/>
          <a:ln w="9525">
            <a:solidFill>
              <a:srgbClr val="FF66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628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Oriented Design </a:t>
            </a:r>
          </a:p>
          <a:p>
            <a:r>
              <a:rPr lang="en-US" dirty="0"/>
              <a:t>Set of Classes (interacting components)</a:t>
            </a:r>
          </a:p>
          <a:p>
            <a:endParaRPr lang="en-US" dirty="0"/>
          </a:p>
          <a:p>
            <a:r>
              <a:rPr lang="en-US" dirty="0"/>
              <a:t>Modules, Components, Classes </a:t>
            </a:r>
          </a:p>
        </p:txBody>
      </p:sp>
    </p:spTree>
    <p:extLst>
      <p:ext uri="{BB962C8B-B14F-4D97-AF65-F5344CB8AC3E}">
        <p14:creationId xmlns:p14="http://schemas.microsoft.com/office/powerpoint/2010/main" val="2901016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228600"/>
            <a:ext cx="7772400" cy="5903913"/>
          </a:xfrm>
        </p:spPr>
        <p:txBody>
          <a:bodyPr/>
          <a:lstStyle/>
          <a:p>
            <a:r>
              <a:rPr lang="en-US" dirty="0"/>
              <a:t>Class Name</a:t>
            </a:r>
          </a:p>
          <a:p>
            <a:r>
              <a:rPr lang="en-US" sz="1400" dirty="0"/>
              <a:t>Possible Attributes</a:t>
            </a:r>
          </a:p>
          <a:p>
            <a:r>
              <a:rPr lang="en-US" sz="1400" dirty="0"/>
              <a:t>Possible Operations/functions</a:t>
            </a:r>
          </a:p>
          <a:p>
            <a:r>
              <a:rPr lang="en-US" sz="1400" dirty="0"/>
              <a:t>Relationship with :  A ()</a:t>
            </a:r>
          </a:p>
          <a:p>
            <a:r>
              <a:rPr lang="en-US" sz="1400" dirty="0"/>
              <a:t>Relationship with :  B ()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Real life objects</a:t>
            </a:r>
          </a:p>
          <a:p>
            <a:r>
              <a:rPr lang="en-US" sz="1400" dirty="0"/>
              <a:t>Generalized Class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678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767412"/>
              </p:ext>
            </p:extLst>
          </p:nvPr>
        </p:nvGraphicFramePr>
        <p:xfrm>
          <a:off x="1219200" y="152400"/>
          <a:ext cx="25511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12">
                  <a:extLst>
                    <a:ext uri="{9D8B030D-6E8A-4147-A177-3AD203B41FA5}">
                      <a16:colId xmlns:a16="http://schemas.microsoft.com/office/drawing/2014/main" val="3464333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98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Set of Variables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30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Set of Function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68622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24400" y="3581400"/>
          <a:ext cx="4419600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3464333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SE_Test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98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PR </a:t>
                      </a:r>
                      <a:r>
                        <a:rPr lang="en-US" sz="1600" b="1" dirty="0" err="1"/>
                        <a:t>int</a:t>
                      </a:r>
                      <a:r>
                        <a:rPr lang="en-US" sz="1600" b="1" baseline="0" dirty="0"/>
                        <a:t> a;</a:t>
                      </a:r>
                    </a:p>
                    <a:p>
                      <a:endParaRPr lang="en-US" sz="1600" b="1" baseline="0" dirty="0"/>
                    </a:p>
                    <a:p>
                      <a:r>
                        <a:rPr lang="en-US" sz="1600" b="1" baseline="0" dirty="0"/>
                        <a:t>PR</a:t>
                      </a:r>
                    </a:p>
                    <a:p>
                      <a:r>
                        <a:rPr lang="en-US" sz="1600" b="1" baseline="0" dirty="0"/>
                        <a:t>PT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30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PU </a:t>
                      </a:r>
                      <a:r>
                        <a:rPr lang="en-US" b="1" dirty="0" err="1"/>
                        <a:t>int</a:t>
                      </a:r>
                      <a:r>
                        <a:rPr lang="en-US" b="1" dirty="0"/>
                        <a:t> sum (</a:t>
                      </a:r>
                      <a:r>
                        <a:rPr lang="en-US" b="1" dirty="0" err="1"/>
                        <a:t>int</a:t>
                      </a:r>
                      <a:r>
                        <a:rPr lang="en-US" b="1" dirty="0"/>
                        <a:t> a, </a:t>
                      </a:r>
                      <a:r>
                        <a:rPr lang="en-US" b="1" dirty="0" err="1"/>
                        <a:t>int</a:t>
                      </a:r>
                      <a:r>
                        <a:rPr lang="en-US" b="1" dirty="0"/>
                        <a:t> b);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686228"/>
                  </a:ext>
                </a:extLst>
              </a:tr>
            </a:tbl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07963" y="2133600"/>
            <a:ext cx="4211637" cy="4648200"/>
          </a:xfrm>
        </p:spPr>
        <p:txBody>
          <a:bodyPr/>
          <a:lstStyle/>
          <a:p>
            <a:r>
              <a:rPr lang="en-US" sz="1800" b="1" dirty="0"/>
              <a:t>Access Specifier 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Private </a:t>
            </a:r>
            <a:br>
              <a:rPr lang="en-US" sz="1800" dirty="0"/>
            </a:br>
            <a:r>
              <a:rPr lang="en-US" sz="1800" dirty="0"/>
              <a:t>Protected</a:t>
            </a:r>
            <a:br>
              <a:rPr lang="en-US" sz="1800" dirty="0"/>
            </a:br>
            <a:r>
              <a:rPr lang="en-US" sz="1800" dirty="0"/>
              <a:t>	Class A</a:t>
            </a:r>
            <a:br>
              <a:rPr lang="en-US" sz="1800" dirty="0"/>
            </a:br>
            <a:r>
              <a:rPr lang="en-US" sz="1800" dirty="0"/>
              <a:t>	Class B is a child of class A</a:t>
            </a:r>
            <a:br>
              <a:rPr lang="en-US" sz="1800" dirty="0"/>
            </a:br>
            <a:r>
              <a:rPr lang="en-US" sz="1800" dirty="0"/>
              <a:t>	 (It will inherit/access all functions of class A that are either public 	or </a:t>
            </a:r>
            <a:r>
              <a:rPr lang="en-US" sz="1800" b="1" dirty="0"/>
              <a:t>protected</a:t>
            </a:r>
            <a:r>
              <a:rPr lang="en-US" sz="1800" dirty="0"/>
              <a:t>)</a:t>
            </a:r>
            <a:br>
              <a:rPr lang="en-US" sz="1800" dirty="0"/>
            </a:br>
            <a:r>
              <a:rPr lang="en-US" sz="1800" dirty="0"/>
              <a:t>Public 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private:</a:t>
            </a:r>
            <a:br>
              <a:rPr lang="en-US" sz="1800" dirty="0"/>
            </a:br>
            <a:r>
              <a:rPr lang="en-US" sz="1800" dirty="0" err="1"/>
              <a:t>Int</a:t>
            </a:r>
            <a:r>
              <a:rPr lang="en-US" sz="1800" dirty="0"/>
              <a:t> a;</a:t>
            </a:r>
            <a:br>
              <a:rPr lang="en-US" sz="1800" dirty="0"/>
            </a:br>
            <a:r>
              <a:rPr lang="en-US" sz="1800" dirty="0" err="1"/>
              <a:t>int</a:t>
            </a:r>
            <a:r>
              <a:rPr lang="en-US" sz="1800" dirty="0"/>
              <a:t> b</a:t>
            </a:r>
            <a:br>
              <a:rPr lang="en-US" sz="1800" dirty="0"/>
            </a:br>
            <a:r>
              <a:rPr lang="en-US" sz="1800" dirty="0" err="1"/>
              <a:t>int</a:t>
            </a:r>
            <a:r>
              <a:rPr lang="en-US" sz="1800" dirty="0"/>
              <a:t> c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public: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352800" y="1264920"/>
            <a:ext cx="2971800" cy="22402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352800" y="1264920"/>
            <a:ext cx="152400" cy="1828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6324600" y="34290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69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Cardinality </a:t>
            </a:r>
          </a:p>
          <a:p>
            <a:endParaRPr lang="en-US" dirty="0"/>
          </a:p>
          <a:p>
            <a:r>
              <a:rPr lang="en-US" dirty="0"/>
              <a:t>1 – 1</a:t>
            </a:r>
          </a:p>
          <a:p>
            <a:r>
              <a:rPr lang="en-US" dirty="0"/>
              <a:t>1 – N</a:t>
            </a:r>
          </a:p>
          <a:p>
            <a:r>
              <a:rPr lang="en-US" dirty="0"/>
              <a:t>M – N</a:t>
            </a:r>
          </a:p>
          <a:p>
            <a:endParaRPr lang="en-US" dirty="0"/>
          </a:p>
          <a:p>
            <a:r>
              <a:rPr lang="en-US" sz="2000" dirty="0"/>
              <a:t>One Teacher teaches how many students?	MANY</a:t>
            </a:r>
          </a:p>
          <a:p>
            <a:r>
              <a:rPr lang="en-US" sz="2000" dirty="0"/>
              <a:t>One student is taught by how many teachers? MANY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3124200"/>
            <a:ext cx="15240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7400" y="3124200"/>
            <a:ext cx="16002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Teacher</a:t>
            </a:r>
          </a:p>
        </p:txBody>
      </p:sp>
      <p:cxnSp>
        <p:nvCxnSpPr>
          <p:cNvPr id="7" name="Straight Connector 6"/>
          <p:cNvCxnSpPr>
            <a:endCxn id="5" idx="1"/>
          </p:cNvCxnSpPr>
          <p:nvPr/>
        </p:nvCxnSpPr>
        <p:spPr>
          <a:xfrm flipV="1">
            <a:off x="4495800" y="3733800"/>
            <a:ext cx="13716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21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688" y="457200"/>
            <a:ext cx="7772400" cy="56753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133600" y="1447800"/>
            <a:ext cx="5334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6477000" y="1295400"/>
            <a:ext cx="609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667000" y="1600200"/>
            <a:ext cx="38862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981200" y="3048000"/>
            <a:ext cx="5334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6324600" y="2895600"/>
            <a:ext cx="609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514600" y="3200400"/>
            <a:ext cx="38862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248400" y="3886200"/>
            <a:ext cx="609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5029200"/>
            <a:ext cx="609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3" name="Straight Connector 12"/>
          <p:cNvCxnSpPr>
            <a:endCxn id="11" idx="1"/>
          </p:cNvCxnSpPr>
          <p:nvPr/>
        </p:nvCxnSpPr>
        <p:spPr>
          <a:xfrm>
            <a:off x="2514600" y="3429000"/>
            <a:ext cx="3823074" cy="591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25326" y="3592962"/>
            <a:ext cx="3975474" cy="1664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905000" y="4038600"/>
            <a:ext cx="5334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67277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1981200" y="3048000"/>
            <a:ext cx="5334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6324600" y="2895600"/>
            <a:ext cx="609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514600" y="3200400"/>
            <a:ext cx="3886200" cy="76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248400" y="3886200"/>
            <a:ext cx="609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5029200"/>
            <a:ext cx="609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2" name="Straight Connector 11"/>
          <p:cNvCxnSpPr>
            <a:endCxn id="10" idx="1"/>
          </p:cNvCxnSpPr>
          <p:nvPr/>
        </p:nvCxnSpPr>
        <p:spPr>
          <a:xfrm>
            <a:off x="2514600" y="3429000"/>
            <a:ext cx="3823074" cy="5911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425326" y="3592962"/>
            <a:ext cx="3975474" cy="1664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828800" y="4191000"/>
            <a:ext cx="5334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1905000" y="5105400"/>
            <a:ext cx="5334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cxnSp>
        <p:nvCxnSpPr>
          <p:cNvPr id="16" name="Straight Connector 15"/>
          <p:cNvCxnSpPr>
            <a:stCxn id="14" idx="6"/>
          </p:cNvCxnSpPr>
          <p:nvPr/>
        </p:nvCxnSpPr>
        <p:spPr>
          <a:xfrm flipV="1">
            <a:off x="2362200" y="3352800"/>
            <a:ext cx="4191000" cy="1181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5" idx="6"/>
          </p:cNvCxnSpPr>
          <p:nvPr/>
        </p:nvCxnSpPr>
        <p:spPr>
          <a:xfrm flipV="1">
            <a:off x="2438400" y="4191000"/>
            <a:ext cx="3886200" cy="1257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803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481647"/>
          </a:xfrm>
        </p:spPr>
        <p:txBody>
          <a:bodyPr/>
          <a:lstStyle/>
          <a:p>
            <a:r>
              <a:rPr lang="en-US" dirty="0"/>
              <a:t>Class – Structure</a:t>
            </a:r>
            <a:br>
              <a:rPr lang="en-US" dirty="0"/>
            </a:br>
            <a:r>
              <a:rPr lang="en-US" sz="1600" dirty="0"/>
              <a:t>Abstract Data Type / User Defined Type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545651"/>
              </p:ext>
            </p:extLst>
          </p:nvPr>
        </p:nvGraphicFramePr>
        <p:xfrm>
          <a:off x="76200" y="772160"/>
          <a:ext cx="3846512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6512">
                  <a:extLst>
                    <a:ext uri="{9D8B030D-6E8A-4147-A177-3AD203B41FA5}">
                      <a16:colId xmlns:a16="http://schemas.microsoft.com/office/drawing/2014/main" val="3985470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MasterClass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15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Var_1 (data type, access specifier)</a:t>
                      </a:r>
                    </a:p>
                    <a:p>
                      <a:r>
                        <a:rPr lang="en-US" sz="1600" b="1" dirty="0" err="1"/>
                        <a:t>Var</a:t>
                      </a:r>
                      <a:r>
                        <a:rPr lang="en-US" sz="1600" b="1" dirty="0"/>
                        <a:t> 2 (data type, access specifier)</a:t>
                      </a:r>
                    </a:p>
                    <a:p>
                      <a:r>
                        <a:rPr lang="en-US" sz="1600" b="1" dirty="0" err="1"/>
                        <a:t>Var</a:t>
                      </a:r>
                      <a:r>
                        <a:rPr lang="en-US" sz="1600" b="1" dirty="0"/>
                        <a:t> 3 (data type, access specifier)</a:t>
                      </a:r>
                    </a:p>
                    <a:p>
                      <a:r>
                        <a:rPr lang="en-US" dirty="0" err="1"/>
                        <a:t>Var</a:t>
                      </a:r>
                      <a:r>
                        <a:rPr lang="en-US" dirty="0"/>
                        <a:t> 4 (data type, access specifier)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8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Func</a:t>
                      </a:r>
                      <a:r>
                        <a:rPr lang="en-US" b="1" dirty="0"/>
                        <a:t> 1 () </a:t>
                      </a:r>
                    </a:p>
                    <a:p>
                      <a:r>
                        <a:rPr lang="en-US" b="1" dirty="0" err="1"/>
                        <a:t>Func</a:t>
                      </a:r>
                      <a:r>
                        <a:rPr lang="en-US" b="1" dirty="0"/>
                        <a:t> 2 ()</a:t>
                      </a:r>
                    </a:p>
                    <a:p>
                      <a:r>
                        <a:rPr lang="en-US" dirty="0" err="1"/>
                        <a:t>Func</a:t>
                      </a:r>
                      <a:r>
                        <a:rPr lang="en-US" dirty="0"/>
                        <a:t> 3 ()</a:t>
                      </a:r>
                    </a:p>
                    <a:p>
                      <a:r>
                        <a:rPr lang="en-US" dirty="0" err="1"/>
                        <a:t>Func</a:t>
                      </a:r>
                      <a:r>
                        <a:rPr lang="en-US" dirty="0"/>
                        <a:t> 4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27254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7315200" y="1229359"/>
          <a:ext cx="1600200" cy="2231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985470459"/>
                    </a:ext>
                  </a:extLst>
                </a:gridCol>
              </a:tblGrid>
              <a:tr h="501163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ClassB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15607"/>
                  </a:ext>
                </a:extLst>
              </a:tr>
              <a:tr h="865020"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r>
                        <a:rPr lang="en-US" dirty="0"/>
                        <a:t> Var5</a:t>
                      </a:r>
                    </a:p>
                    <a:p>
                      <a:r>
                        <a:rPr lang="en-US" dirty="0"/>
                        <a:t>float Var6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MASTERCLASS var7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86757"/>
                  </a:ext>
                </a:extLst>
              </a:tr>
              <a:tr h="865020">
                <a:tc>
                  <a:txBody>
                    <a:bodyPr/>
                    <a:lstStyle/>
                    <a:p>
                      <a:r>
                        <a:rPr lang="en-US" dirty="0" err="1"/>
                        <a:t>Func</a:t>
                      </a:r>
                      <a:r>
                        <a:rPr lang="en-US" dirty="0"/>
                        <a:t> a () </a:t>
                      </a:r>
                    </a:p>
                    <a:p>
                      <a:r>
                        <a:rPr lang="en-US" dirty="0" err="1"/>
                        <a:t>Func</a:t>
                      </a:r>
                      <a:r>
                        <a:rPr lang="en-US" dirty="0"/>
                        <a:t> b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272548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3922712" y="2286000"/>
            <a:ext cx="33924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922712" y="2143760"/>
            <a:ext cx="115888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162800" y="2143760"/>
            <a:ext cx="1524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3939683" y="3155763"/>
            <a:ext cx="3223117" cy="44637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1"/>
          <p:cNvSpPr txBox="1">
            <a:spLocks/>
          </p:cNvSpPr>
          <p:nvPr/>
        </p:nvSpPr>
        <p:spPr bwMode="auto">
          <a:xfrm>
            <a:off x="304800" y="3460563"/>
            <a:ext cx="8639175" cy="309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r>
              <a:rPr lang="en-US" sz="1800" kern="0" dirty="0" err="1"/>
              <a:t>ClassB</a:t>
            </a:r>
            <a:r>
              <a:rPr lang="en-US" sz="1800" kern="0" dirty="0"/>
              <a:t> sends the call (function call) to </a:t>
            </a:r>
            <a:r>
              <a:rPr lang="en-US" sz="1800" kern="0" dirty="0" err="1"/>
              <a:t>Masterclaass</a:t>
            </a:r>
            <a:r>
              <a:rPr lang="en-US" sz="1800" kern="0" dirty="0"/>
              <a:t> with parameters (function parameters). The instruction (function call) is to add two numbers. INST1 (</a:t>
            </a:r>
            <a:r>
              <a:rPr lang="en-US" sz="1800" kern="0" dirty="0" err="1"/>
              <a:t>a,b</a:t>
            </a:r>
            <a:r>
              <a:rPr lang="en-US" sz="1800" kern="0" dirty="0"/>
              <a:t>), result will be the sum of a and b.</a:t>
            </a:r>
          </a:p>
          <a:p>
            <a:r>
              <a:rPr lang="en-US" sz="1800" b="1" kern="0" dirty="0"/>
              <a:t>INT</a:t>
            </a:r>
          </a:p>
          <a:p>
            <a:r>
              <a:rPr lang="en-US" sz="1800" b="1" kern="0" dirty="0"/>
              <a:t>MASTERCLASS</a:t>
            </a:r>
          </a:p>
          <a:p>
            <a:r>
              <a:rPr lang="en-US" sz="1800" b="1" kern="0" dirty="0"/>
              <a:t>CLASSB</a:t>
            </a:r>
          </a:p>
          <a:p>
            <a:r>
              <a:rPr lang="en-US" sz="1800" b="1" kern="0" dirty="0" err="1"/>
              <a:t>int</a:t>
            </a:r>
            <a:r>
              <a:rPr lang="en-US" sz="1800" kern="0" dirty="0"/>
              <a:t> </a:t>
            </a:r>
            <a:r>
              <a:rPr lang="en-US" sz="1800" kern="0" dirty="0" err="1"/>
              <a:t>a,b,c,d</a:t>
            </a:r>
            <a:r>
              <a:rPr lang="en-US" sz="1800" kern="0" dirty="0"/>
              <a:t>; </a:t>
            </a:r>
          </a:p>
          <a:p>
            <a:r>
              <a:rPr lang="en-US" sz="1800" kern="0" dirty="0"/>
              <a:t>MASTERCLASS b;</a:t>
            </a:r>
          </a:p>
          <a:p>
            <a:r>
              <a:rPr lang="en-US" sz="1800" kern="0" dirty="0"/>
              <a:t>Primitive Data Type 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021629" y="1295400"/>
            <a:ext cx="3163489" cy="11159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609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Class defines the type of variables and the functions that can be performed.</a:t>
            </a:r>
            <a:br>
              <a:rPr lang="en-US" sz="1800" dirty="0"/>
            </a:br>
            <a:r>
              <a:rPr lang="en-US" sz="1800" dirty="0"/>
              <a:t>Physical Instance of the class  - &gt;  (Object) 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Object is the </a:t>
            </a:r>
            <a:r>
              <a:rPr lang="en-US" sz="1800" b="1" dirty="0"/>
              <a:t>physical instance</a:t>
            </a:r>
            <a:r>
              <a:rPr lang="en-US" sz="1800" dirty="0"/>
              <a:t> of the class.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82688" y="2017713"/>
          <a:ext cx="1636712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12">
                  <a:extLst>
                    <a:ext uri="{9D8B030D-6E8A-4147-A177-3AD203B41FA5}">
                      <a16:colId xmlns:a16="http://schemas.microsoft.com/office/drawing/2014/main" val="1882484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Var</a:t>
                      </a:r>
                      <a:r>
                        <a:rPr lang="en-US" sz="1600" b="1" dirty="0"/>
                        <a:t> 1 =0</a:t>
                      </a:r>
                    </a:p>
                    <a:p>
                      <a:r>
                        <a:rPr lang="en-US" sz="1600" b="0" dirty="0" err="1"/>
                        <a:t>Var</a:t>
                      </a:r>
                      <a:r>
                        <a:rPr lang="en-US" sz="1600" b="0" dirty="0"/>
                        <a:t> 2  =0</a:t>
                      </a:r>
                    </a:p>
                    <a:p>
                      <a:r>
                        <a:rPr lang="en-US" sz="1600" b="0" dirty="0" err="1"/>
                        <a:t>Var</a:t>
                      </a:r>
                      <a:r>
                        <a:rPr lang="en-US" sz="1600" b="0" dirty="0"/>
                        <a:t> 3  =0</a:t>
                      </a:r>
                    </a:p>
                    <a:p>
                      <a:r>
                        <a:rPr lang="en-US" b="0" dirty="0" err="1"/>
                        <a:t>Var</a:t>
                      </a:r>
                      <a:r>
                        <a:rPr lang="en-US" b="0" dirty="0"/>
                        <a:t> 4 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2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Func</a:t>
                      </a:r>
                      <a:r>
                        <a:rPr lang="en-US" b="0" dirty="0"/>
                        <a:t> 1 () </a:t>
                      </a:r>
                    </a:p>
                    <a:p>
                      <a:r>
                        <a:rPr lang="en-US" b="0" dirty="0" err="1"/>
                        <a:t>Func</a:t>
                      </a:r>
                      <a:r>
                        <a:rPr lang="en-US" b="0" dirty="0"/>
                        <a:t> 2 ()</a:t>
                      </a:r>
                    </a:p>
                    <a:p>
                      <a:r>
                        <a:rPr lang="en-US" b="0" dirty="0" err="1"/>
                        <a:t>Func</a:t>
                      </a:r>
                      <a:r>
                        <a:rPr lang="en-US" b="0" dirty="0"/>
                        <a:t> 3 ()</a:t>
                      </a:r>
                    </a:p>
                    <a:p>
                      <a:r>
                        <a:rPr lang="en-US" b="1" dirty="0" err="1"/>
                        <a:t>Func</a:t>
                      </a:r>
                      <a:r>
                        <a:rPr lang="en-US" b="1" dirty="0"/>
                        <a:t> 4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03060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/>
          <p:cNvGraphicFramePr>
            <a:graphicFrameLocks/>
          </p:cNvGraphicFramePr>
          <p:nvPr/>
        </p:nvGraphicFramePr>
        <p:xfrm>
          <a:off x="4114800" y="1981200"/>
          <a:ext cx="1636712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712">
                  <a:extLst>
                    <a:ext uri="{9D8B030D-6E8A-4147-A177-3AD203B41FA5}">
                      <a16:colId xmlns:a16="http://schemas.microsoft.com/office/drawing/2014/main" val="1882484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Var7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91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 err="1"/>
                        <a:t>Var</a:t>
                      </a:r>
                      <a:r>
                        <a:rPr lang="en-US" sz="1600" b="0" dirty="0"/>
                        <a:t> 1 =0</a:t>
                      </a:r>
                    </a:p>
                    <a:p>
                      <a:r>
                        <a:rPr lang="en-US" sz="1600" b="0" dirty="0" err="1"/>
                        <a:t>Var</a:t>
                      </a:r>
                      <a:r>
                        <a:rPr lang="en-US" sz="1600" b="0" dirty="0"/>
                        <a:t> 2  =0</a:t>
                      </a:r>
                    </a:p>
                    <a:p>
                      <a:r>
                        <a:rPr lang="en-US" sz="1600" b="0" dirty="0" err="1"/>
                        <a:t>Var</a:t>
                      </a:r>
                      <a:r>
                        <a:rPr lang="en-US" sz="1600" b="0" dirty="0"/>
                        <a:t> 3  =0</a:t>
                      </a:r>
                    </a:p>
                    <a:p>
                      <a:r>
                        <a:rPr lang="en-US" b="0" dirty="0" err="1"/>
                        <a:t>Var</a:t>
                      </a:r>
                      <a:r>
                        <a:rPr lang="en-US" b="0" dirty="0"/>
                        <a:t> 4 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2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err="1"/>
                        <a:t>Func</a:t>
                      </a:r>
                      <a:r>
                        <a:rPr lang="en-US" b="0" dirty="0"/>
                        <a:t> 1 () </a:t>
                      </a:r>
                    </a:p>
                    <a:p>
                      <a:r>
                        <a:rPr lang="en-US" b="0" dirty="0" err="1"/>
                        <a:t>Func</a:t>
                      </a:r>
                      <a:r>
                        <a:rPr lang="en-US" b="0" dirty="0"/>
                        <a:t> 2 ()</a:t>
                      </a:r>
                    </a:p>
                    <a:p>
                      <a:r>
                        <a:rPr lang="en-US" b="0" dirty="0" err="1"/>
                        <a:t>Func</a:t>
                      </a:r>
                      <a:r>
                        <a:rPr lang="en-US" b="0" dirty="0"/>
                        <a:t> 3 ()</a:t>
                      </a:r>
                    </a:p>
                    <a:p>
                      <a:r>
                        <a:rPr lang="en-US" b="1" dirty="0" err="1"/>
                        <a:t>Func</a:t>
                      </a:r>
                      <a:r>
                        <a:rPr lang="en-US" b="1" dirty="0"/>
                        <a:t> 4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0306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4587581"/>
              </p:ext>
            </p:extLst>
          </p:nvPr>
        </p:nvGraphicFramePr>
        <p:xfrm>
          <a:off x="7315200" y="2514600"/>
          <a:ext cx="1600200" cy="252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985470459"/>
                    </a:ext>
                  </a:extLst>
                </a:gridCol>
              </a:tblGrid>
              <a:tr h="412648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Obj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15607"/>
                  </a:ext>
                </a:extLst>
              </a:tr>
              <a:tr h="1134782">
                <a:tc>
                  <a:txBody>
                    <a:bodyPr/>
                    <a:lstStyle/>
                    <a:p>
                      <a:r>
                        <a:rPr lang="en-US" dirty="0"/>
                        <a:t>Var5= 10</a:t>
                      </a:r>
                    </a:p>
                    <a:p>
                      <a:r>
                        <a:rPr lang="en-US" dirty="0"/>
                        <a:t>Var6 =0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var7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86757"/>
                  </a:ext>
                </a:extLst>
              </a:tr>
              <a:tr h="975910">
                <a:tc>
                  <a:txBody>
                    <a:bodyPr/>
                    <a:lstStyle/>
                    <a:p>
                      <a:r>
                        <a:rPr lang="en-US" dirty="0" err="1"/>
                        <a:t>Func</a:t>
                      </a:r>
                      <a:r>
                        <a:rPr lang="en-US" dirty="0"/>
                        <a:t> a () </a:t>
                      </a:r>
                    </a:p>
                    <a:p>
                      <a:r>
                        <a:rPr lang="en-US" dirty="0" err="1"/>
                        <a:t>Func</a:t>
                      </a:r>
                      <a:r>
                        <a:rPr lang="en-US" dirty="0"/>
                        <a:t> b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272548"/>
                  </a:ext>
                </a:extLst>
              </a:tr>
            </a:tbl>
          </a:graphicData>
        </a:graphic>
      </p:graphicFrame>
      <p:sp>
        <p:nvSpPr>
          <p:cNvPr id="9" name="Title 1"/>
          <p:cNvSpPr txBox="1">
            <a:spLocks/>
          </p:cNvSpPr>
          <p:nvPr/>
        </p:nvSpPr>
        <p:spPr bwMode="auto">
          <a:xfrm>
            <a:off x="1303338" y="5167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r>
              <a:rPr lang="en-US" sz="1800" kern="0" dirty="0"/>
              <a:t>MASTERCLASS b,var7;</a:t>
            </a:r>
          </a:p>
          <a:p>
            <a:endParaRPr lang="en-US" sz="1800" b="1" kern="0" dirty="0"/>
          </a:p>
          <a:p>
            <a:r>
              <a:rPr lang="en-US" sz="1800" b="1" kern="0" dirty="0"/>
              <a:t>Var7.func1(1,3);</a:t>
            </a:r>
          </a:p>
          <a:p>
            <a:r>
              <a:rPr lang="en-US" sz="1800" b="1" kern="0" dirty="0"/>
              <a:t>Obj.func4(1,2,2,4,4,4);</a:t>
            </a:r>
          </a:p>
          <a:p>
            <a:r>
              <a:rPr lang="en-US" sz="1800" b="1" kern="0" dirty="0"/>
              <a:t>Obj.var1= 35;</a:t>
            </a:r>
          </a:p>
        </p:txBody>
      </p:sp>
    </p:spTree>
    <p:extLst>
      <p:ext uri="{BB962C8B-B14F-4D97-AF65-F5344CB8AC3E}">
        <p14:creationId xmlns:p14="http://schemas.microsoft.com/office/powerpoint/2010/main" val="1567730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Class diagram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351712" cy="41148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 class diagram depicts classes and their interrelationships</a:t>
            </a:r>
          </a:p>
          <a:p>
            <a:pPr eaLnBrk="1" hangingPunct="1"/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Used for describing </a:t>
            </a:r>
            <a:r>
              <a:rPr lang="en-US" altLang="zh-CN" sz="2000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structure and behavior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in the use cases</a:t>
            </a:r>
          </a:p>
          <a:p>
            <a:pPr eaLnBrk="1" hangingPunct="1"/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Provide a conceptual model of the system in terms of entities and their relationships</a:t>
            </a:r>
          </a:p>
          <a:p>
            <a:pPr eaLnBrk="1" hangingPunct="1"/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Used for requirement capture, end-user interaction</a:t>
            </a:r>
          </a:p>
          <a:p>
            <a:pPr eaLnBrk="1" hangingPunct="1"/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Detailed class diagrams are used for developers</a:t>
            </a:r>
          </a:p>
        </p:txBody>
      </p:sp>
    </p:spTree>
    <p:extLst>
      <p:ext uri="{BB962C8B-B14F-4D97-AF65-F5344CB8AC3E}">
        <p14:creationId xmlns:p14="http://schemas.microsoft.com/office/powerpoint/2010/main" val="3502987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Class diagram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Each class is represented by a rectangle subdivided into three compartments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Name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Attributes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Operations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Modifiers are used to indicate visibility of attributes and operations.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‘+’   is used to denote </a:t>
            </a:r>
            <a:r>
              <a:rPr lang="en-US" altLang="zh-CN" sz="2000" i="1" dirty="0">
                <a:ea typeface="宋体" panose="02010600030101010101" pitchFamily="2" charset="-122"/>
              </a:rPr>
              <a:t>Public</a:t>
            </a:r>
            <a:r>
              <a:rPr lang="en-US" altLang="zh-CN" sz="1800" dirty="0">
                <a:ea typeface="宋体" panose="02010600030101010101" pitchFamily="2" charset="-122"/>
              </a:rPr>
              <a:t> visibility (everyone)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‘#’   is used to denote </a:t>
            </a:r>
            <a:r>
              <a:rPr lang="en-US" altLang="zh-CN" sz="2000" i="1" dirty="0">
                <a:ea typeface="宋体" panose="02010600030101010101" pitchFamily="2" charset="-122"/>
              </a:rPr>
              <a:t>Protected</a:t>
            </a:r>
            <a:r>
              <a:rPr lang="en-US" altLang="zh-CN" sz="1800" dirty="0">
                <a:ea typeface="宋体" panose="02010600030101010101" pitchFamily="2" charset="-122"/>
              </a:rPr>
              <a:t> visibility (friends and derived)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800" dirty="0">
                <a:ea typeface="宋体" panose="02010600030101010101" pitchFamily="2" charset="-122"/>
              </a:rPr>
              <a:t>‘-’    is used to denote </a:t>
            </a:r>
            <a:r>
              <a:rPr lang="en-US" altLang="zh-CN" sz="2000" i="1" dirty="0">
                <a:ea typeface="宋体" panose="02010600030101010101" pitchFamily="2" charset="-122"/>
              </a:rPr>
              <a:t>Private</a:t>
            </a:r>
            <a:r>
              <a:rPr lang="en-US" altLang="zh-CN" sz="1800" dirty="0">
                <a:ea typeface="宋体" panose="02010600030101010101" pitchFamily="2" charset="-122"/>
              </a:rPr>
              <a:t> visibility (no one)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By default, attributes are hidden and operations are visible.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131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Class diagram</a:t>
            </a:r>
          </a:p>
        </p:txBody>
      </p:sp>
      <p:grpSp>
        <p:nvGrpSpPr>
          <p:cNvPr id="24579" name="Group 4"/>
          <p:cNvGrpSpPr>
            <a:grpSpLocks/>
          </p:cNvGrpSpPr>
          <p:nvPr/>
        </p:nvGrpSpPr>
        <p:grpSpPr bwMode="auto">
          <a:xfrm>
            <a:off x="1981200" y="2251075"/>
            <a:ext cx="5613400" cy="3446463"/>
            <a:chOff x="1248" y="1418"/>
            <a:chExt cx="3645" cy="2241"/>
          </a:xfrm>
        </p:grpSpPr>
        <p:sp>
          <p:nvSpPr>
            <p:cNvPr id="24580" name="Rectangle 5"/>
            <p:cNvSpPr>
              <a:spLocks noChangeArrowheads="1"/>
            </p:cNvSpPr>
            <p:nvPr/>
          </p:nvSpPr>
          <p:spPr bwMode="auto">
            <a:xfrm>
              <a:off x="1248" y="2385"/>
              <a:ext cx="1968" cy="1071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581" name="Rectangle 6"/>
            <p:cNvSpPr>
              <a:spLocks noChangeArrowheads="1"/>
            </p:cNvSpPr>
            <p:nvPr/>
          </p:nvSpPr>
          <p:spPr bwMode="auto">
            <a:xfrm>
              <a:off x="1248" y="1809"/>
              <a:ext cx="1968" cy="576"/>
            </a:xfrm>
            <a:prstGeom prst="rect">
              <a:avLst/>
            </a:prstGeom>
            <a:solidFill>
              <a:srgbClr val="FF9900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582" name="Rectangle 7"/>
            <p:cNvSpPr>
              <a:spLocks noChangeArrowheads="1"/>
            </p:cNvSpPr>
            <p:nvPr/>
          </p:nvSpPr>
          <p:spPr bwMode="auto">
            <a:xfrm>
              <a:off x="1248" y="1473"/>
              <a:ext cx="1968" cy="336"/>
            </a:xfrm>
            <a:prstGeom prst="rect">
              <a:avLst/>
            </a:prstGeom>
            <a:solidFill>
              <a:srgbClr val="FF7C80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583" name="Text Box 8"/>
            <p:cNvSpPr txBox="1">
              <a:spLocks noChangeArrowheads="1"/>
            </p:cNvSpPr>
            <p:nvPr/>
          </p:nvSpPr>
          <p:spPr bwMode="auto">
            <a:xfrm>
              <a:off x="1344" y="1521"/>
              <a:ext cx="176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marL="290513" indent="-290513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zh-CN" altLang="en-US" sz="280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Account_Name</a:t>
              </a:r>
            </a:p>
          </p:txBody>
        </p:sp>
        <p:sp>
          <p:nvSpPr>
            <p:cNvPr id="24584" name="Text Box 9"/>
            <p:cNvSpPr txBox="1">
              <a:spLocks noChangeArrowheads="1"/>
            </p:cNvSpPr>
            <p:nvPr/>
          </p:nvSpPr>
          <p:spPr bwMode="auto">
            <a:xfrm>
              <a:off x="1378" y="1822"/>
              <a:ext cx="11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marL="290513" indent="-290513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endParaRPr lang="zh-CN" altLang="en-US" sz="2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5" name="Text Box 10"/>
            <p:cNvSpPr txBox="1">
              <a:spLocks noChangeArrowheads="1"/>
            </p:cNvSpPr>
            <p:nvPr/>
          </p:nvSpPr>
          <p:spPr bwMode="auto">
            <a:xfrm>
              <a:off x="1296" y="1776"/>
              <a:ext cx="2011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 marL="290513" indent="-290513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- Customer_Name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- Balance</a:t>
              </a:r>
            </a:p>
          </p:txBody>
        </p:sp>
        <p:sp>
          <p:nvSpPr>
            <p:cNvPr id="24586" name="Text Box 11"/>
            <p:cNvSpPr txBox="1">
              <a:spLocks noChangeArrowheads="1"/>
            </p:cNvSpPr>
            <p:nvPr/>
          </p:nvSpPr>
          <p:spPr bwMode="auto">
            <a:xfrm>
              <a:off x="1296" y="2433"/>
              <a:ext cx="1532" cy="1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>
              <a:spAutoFit/>
            </a:bodyPr>
            <a:lstStyle>
              <a:lvl1pPr marL="290513" indent="-290513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+addFunds( )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+withDraw( )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800">
                  <a:latin typeface="Arial" panose="020B0604020202020204" pitchFamily="34" charset="0"/>
                  <a:ea typeface="宋体" panose="02010600030101010101" pitchFamily="2" charset="-122"/>
                </a:rPr>
                <a:t>+transfer( )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endParaRPr lang="zh-CN" altLang="en-US" sz="2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87" name="Text Box 12"/>
            <p:cNvSpPr txBox="1">
              <a:spLocks noChangeArrowheads="1"/>
            </p:cNvSpPr>
            <p:nvPr/>
          </p:nvSpPr>
          <p:spPr bwMode="auto">
            <a:xfrm>
              <a:off x="3783" y="1418"/>
              <a:ext cx="661" cy="286"/>
            </a:xfrm>
            <a:prstGeom prst="rect">
              <a:avLst/>
            </a:prstGeom>
            <a:solidFill>
              <a:schemeClr val="tx1"/>
            </a:solidFill>
            <a:ln w="19050" algn="ctr">
              <a:solidFill>
                <a:schemeClr val="accent1"/>
              </a:solidFill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>
              <a:lvl1pPr marL="290513" indent="-290513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40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Name</a:t>
              </a:r>
            </a:p>
          </p:txBody>
        </p:sp>
        <p:sp>
          <p:nvSpPr>
            <p:cNvPr id="24588" name="Text Box 13"/>
            <p:cNvSpPr txBox="1">
              <a:spLocks noChangeArrowheads="1"/>
            </p:cNvSpPr>
            <p:nvPr/>
          </p:nvSpPr>
          <p:spPr bwMode="auto">
            <a:xfrm>
              <a:off x="3792" y="1976"/>
              <a:ext cx="968" cy="286"/>
            </a:xfrm>
            <a:prstGeom prst="rect">
              <a:avLst/>
            </a:prstGeom>
            <a:solidFill>
              <a:schemeClr val="tx1"/>
            </a:solidFill>
            <a:ln w="19050" algn="ctr">
              <a:solidFill>
                <a:srgbClr val="FF9900"/>
              </a:solidFill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>
              <a:lvl1pPr marL="290513" indent="-290513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4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Attributes</a:t>
              </a:r>
            </a:p>
          </p:txBody>
        </p:sp>
        <p:sp>
          <p:nvSpPr>
            <p:cNvPr id="24589" name="Text Box 14"/>
            <p:cNvSpPr txBox="1">
              <a:spLocks noChangeArrowheads="1"/>
            </p:cNvSpPr>
            <p:nvPr/>
          </p:nvSpPr>
          <p:spPr bwMode="auto">
            <a:xfrm>
              <a:off x="3792" y="2504"/>
              <a:ext cx="1101" cy="286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marL="290513" indent="-290513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CC0000"/>
                </a:buClr>
              </a:pPr>
              <a:r>
                <a:rPr lang="en-US" altLang="zh-CN" sz="2400">
                  <a:latin typeface="Arial" panose="020B0604020202020204" pitchFamily="34" charset="0"/>
                  <a:ea typeface="宋体" panose="02010600030101010101" pitchFamily="2" charset="-122"/>
                </a:rPr>
                <a:t>Operations</a:t>
              </a:r>
            </a:p>
          </p:txBody>
        </p:sp>
        <p:sp>
          <p:nvSpPr>
            <p:cNvPr id="24590" name="Line 15"/>
            <p:cNvSpPr>
              <a:spLocks noChangeShapeType="1"/>
            </p:cNvSpPr>
            <p:nvPr/>
          </p:nvSpPr>
          <p:spPr bwMode="auto">
            <a:xfrm flipH="1">
              <a:off x="3216" y="1569"/>
              <a:ext cx="576" cy="96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4591" name="Line 16"/>
            <p:cNvSpPr>
              <a:spLocks noChangeShapeType="1"/>
            </p:cNvSpPr>
            <p:nvPr/>
          </p:nvSpPr>
          <p:spPr bwMode="auto">
            <a:xfrm flipH="1">
              <a:off x="3216" y="2097"/>
              <a:ext cx="576" cy="96"/>
            </a:xfrm>
            <a:prstGeom prst="line">
              <a:avLst/>
            </a:prstGeom>
            <a:noFill/>
            <a:ln w="19050">
              <a:solidFill>
                <a:srgbClr val="FF99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4592" name="Line 17"/>
            <p:cNvSpPr>
              <a:spLocks noChangeShapeType="1"/>
            </p:cNvSpPr>
            <p:nvPr/>
          </p:nvSpPr>
          <p:spPr bwMode="auto">
            <a:xfrm flipH="1">
              <a:off x="3216" y="2625"/>
              <a:ext cx="57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4593" name="Rectangle 18"/>
            <p:cNvSpPr>
              <a:spLocks noChangeArrowheads="1"/>
            </p:cNvSpPr>
            <p:nvPr/>
          </p:nvSpPr>
          <p:spPr bwMode="auto">
            <a:xfrm>
              <a:off x="1248" y="1425"/>
              <a:ext cx="21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0186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latin typeface="Times New Roman" panose="02020603050405020304" pitchFamily="18" charset="0"/>
                <a:ea typeface="宋体" panose="02010600030101010101" pitchFamily="2" charset="-122"/>
              </a:rPr>
              <a:t>OO Relationships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There are two kinds of Relationships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Generalization (parent-child relationship)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Association (student enrolls in course)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00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Associations can be further classified as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Aggregation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>
                <a:ea typeface="宋体" panose="02010600030101010101" pitchFamily="2" charset="-122"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2573833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/>
          <p:cNvSpPr>
            <a:spLocks noChangeArrowheads="1"/>
          </p:cNvSpPr>
          <p:nvPr/>
        </p:nvSpPr>
        <p:spPr bwMode="auto">
          <a:xfrm>
            <a:off x="2324100" y="2540000"/>
            <a:ext cx="381000" cy="457200"/>
          </a:xfrm>
          <a:prstGeom prst="triangle">
            <a:avLst>
              <a:gd name="adj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1752600" y="2057400"/>
            <a:ext cx="17526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1752600" y="3581400"/>
            <a:ext cx="1752600" cy="15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1752600" y="3581400"/>
            <a:ext cx="1270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1143000" y="4267200"/>
            <a:ext cx="1371600" cy="5334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2832100" y="4254500"/>
            <a:ext cx="1524000" cy="5334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Subtype2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1905000" y="20447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Supertype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143000" y="42672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Subtype1</a:t>
            </a: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1828800" y="511175"/>
            <a:ext cx="62245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OO Relationships: </a:t>
            </a:r>
            <a:r>
              <a:rPr lang="en-US" altLang="zh-CN" sz="3200" b="1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Generalization</a:t>
            </a: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533400" y="4953000"/>
            <a:ext cx="79248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-Inheritance is a required feature of object orientation</a:t>
            </a:r>
          </a:p>
          <a:p>
            <a:pPr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-Generalization expresses a parent/child relationship among related classes.  </a:t>
            </a:r>
          </a:p>
          <a:p>
            <a:pPr>
              <a:spcBef>
                <a:spcPct val="50000"/>
              </a:spcBef>
              <a:buFontTx/>
              <a:buChar char="-"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Used for abstracting details in several layers</a:t>
            </a:r>
          </a:p>
        </p:txBody>
      </p:sp>
      <p:sp>
        <p:nvSpPr>
          <p:cNvPr id="26636" name="AutoShape 12"/>
          <p:cNvSpPr>
            <a:spLocks noChangeArrowheads="1"/>
          </p:cNvSpPr>
          <p:nvPr/>
        </p:nvSpPr>
        <p:spPr bwMode="auto">
          <a:xfrm>
            <a:off x="6781800" y="2476500"/>
            <a:ext cx="228600" cy="304800"/>
          </a:xfrm>
          <a:prstGeom prst="triangle">
            <a:avLst>
              <a:gd name="adj" fmla="val 50000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7" name="Rectangle 13"/>
          <p:cNvSpPr>
            <a:spLocks noChangeArrowheads="1"/>
          </p:cNvSpPr>
          <p:nvPr/>
        </p:nvSpPr>
        <p:spPr bwMode="auto">
          <a:xfrm>
            <a:off x="6083300" y="2057400"/>
            <a:ext cx="1536700" cy="3810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6896100" y="2806700"/>
            <a:ext cx="0" cy="304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>
            <a:off x="5791200" y="3124200"/>
            <a:ext cx="2057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5130800" y="3606800"/>
            <a:ext cx="1447800" cy="5080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Regular </a:t>
            </a:r>
          </a:p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Customer</a:t>
            </a:r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7162800" y="3619500"/>
            <a:ext cx="1524000" cy="4953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Loyalty</a:t>
            </a:r>
          </a:p>
          <a:p>
            <a:pPr algn="ctr" eaLnBrk="1" hangingPunct="1"/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 Customer</a:t>
            </a:r>
          </a:p>
        </p:txBody>
      </p: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6235700" y="20574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Customer</a:t>
            </a:r>
          </a:p>
        </p:txBody>
      </p:sp>
      <p:sp>
        <p:nvSpPr>
          <p:cNvPr id="26643" name="Text Box 19"/>
          <p:cNvSpPr txBox="1">
            <a:spLocks noChangeArrowheads="1"/>
          </p:cNvSpPr>
          <p:nvPr/>
        </p:nvSpPr>
        <p:spPr bwMode="auto">
          <a:xfrm>
            <a:off x="4800600" y="2044700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Example:</a:t>
            </a:r>
          </a:p>
        </p:txBody>
      </p:sp>
      <p:sp>
        <p:nvSpPr>
          <p:cNvPr id="26644" name="Line 20"/>
          <p:cNvSpPr>
            <a:spLocks noChangeShapeType="1"/>
          </p:cNvSpPr>
          <p:nvPr/>
        </p:nvSpPr>
        <p:spPr bwMode="auto">
          <a:xfrm>
            <a:off x="3517900" y="3581400"/>
            <a:ext cx="1588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5" name="Line 21"/>
          <p:cNvSpPr>
            <a:spLocks noChangeShapeType="1"/>
          </p:cNvSpPr>
          <p:nvPr/>
        </p:nvSpPr>
        <p:spPr bwMode="auto">
          <a:xfrm>
            <a:off x="5791200" y="3124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6" name="Line 22"/>
          <p:cNvSpPr>
            <a:spLocks noChangeShapeType="1"/>
          </p:cNvSpPr>
          <p:nvPr/>
        </p:nvSpPr>
        <p:spPr bwMode="auto">
          <a:xfrm>
            <a:off x="7848600" y="3124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7" name="Line 23"/>
          <p:cNvSpPr>
            <a:spLocks noChangeShapeType="1"/>
          </p:cNvSpPr>
          <p:nvPr/>
        </p:nvSpPr>
        <p:spPr bwMode="auto">
          <a:xfrm flipV="1">
            <a:off x="2527300" y="2984500"/>
            <a:ext cx="1588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648" name="Text Box 28"/>
          <p:cNvSpPr txBox="1">
            <a:spLocks noChangeArrowheads="1"/>
          </p:cNvSpPr>
          <p:nvPr/>
        </p:nvSpPr>
        <p:spPr bwMode="auto">
          <a:xfrm>
            <a:off x="4889500" y="4330700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21159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0"/>
            <a:ext cx="8229600" cy="41148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Represent relationship between instances of classes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Student enrolls in a course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Courses have students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Courses have exams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Etc.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Association has two ends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Role names (e.g. enrolls)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Multiplicity (e.g. One course can have many students)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Navigability (unidirectional, bidirectional)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1447800" y="762000"/>
            <a:ext cx="6858000" cy="641350"/>
          </a:xfrm>
          <a:noFill/>
        </p:spPr>
        <p:txBody>
          <a:bodyPr anchor="t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>
                <a:latin typeface="Times New Roman" panose="02020603050405020304" pitchFamily="18" charset="0"/>
                <a:ea typeface="宋体" panose="02010600030101010101" pitchFamily="2" charset="-122"/>
              </a:rPr>
              <a:t>OO Relationships: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Association</a:t>
            </a:r>
          </a:p>
        </p:txBody>
      </p:sp>
    </p:spTree>
    <p:extLst>
      <p:ext uri="{BB962C8B-B14F-4D97-AF65-F5344CB8AC3E}">
        <p14:creationId xmlns:p14="http://schemas.microsoft.com/office/powerpoint/2010/main" val="3339722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Association: Multiplicity and Roles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1701800" y="2254250"/>
            <a:ext cx="1752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006600" y="2514600"/>
            <a:ext cx="1074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University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6518275" y="2254250"/>
            <a:ext cx="17526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6959600" y="2514600"/>
            <a:ext cx="827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Person</a:t>
            </a:r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>
            <a:off x="3454400" y="301625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>
            <a:off x="3454400" y="240665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3505200" y="21336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3505200" y="3048000"/>
            <a:ext cx="523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0..1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6096000" y="2133600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6172200" y="3048000"/>
            <a:ext cx="263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1016000" y="4038600"/>
            <a:ext cx="3352800" cy="2236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4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Multiplicity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200" u="sng" dirty="0">
                <a:latin typeface="Arial" panose="020B0604020202020204" pitchFamily="34" charset="0"/>
                <a:ea typeface="宋体" panose="02010600030101010101" pitchFamily="2" charset="-122"/>
              </a:rPr>
              <a:t>Symbol	Meaning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1		One and only one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0..1		Zero or one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M..N		From M to N (natural language)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*		From zero to any positive integer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0..*		From zero to any positive integer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1..*		From one to any positive integer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5867400" y="3276600"/>
            <a:ext cx="862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teacher</a:t>
            </a:r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3200400" y="3352800"/>
            <a:ext cx="1019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employer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7010400" y="3962400"/>
            <a:ext cx="600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 i="1">
                <a:latin typeface="Arial" panose="020B0604020202020204" pitchFamily="34" charset="0"/>
                <a:ea typeface="宋体" panose="02010600030101010101" pitchFamily="2" charset="-122"/>
              </a:rPr>
              <a:t>Role</a:t>
            </a:r>
          </a:p>
        </p:txBody>
      </p:sp>
      <p:sp>
        <p:nvSpPr>
          <p:cNvPr id="28689" name="Line 17"/>
          <p:cNvSpPr>
            <a:spLocks noChangeShapeType="1"/>
          </p:cNvSpPr>
          <p:nvPr/>
        </p:nvSpPr>
        <p:spPr bwMode="auto">
          <a:xfrm flipH="1" flipV="1">
            <a:off x="6502400" y="3657600"/>
            <a:ext cx="457200" cy="3810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4953000" y="4495800"/>
            <a:ext cx="3657600" cy="1728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Role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400" i="1">
                <a:latin typeface="Arial" panose="020B0604020202020204" pitchFamily="34" charset="0"/>
                <a:ea typeface="宋体" panose="02010600030101010101" pitchFamily="2" charset="-122"/>
              </a:rPr>
              <a:t>“A given university groups many people; some act as students, others as teachers.  A given student belongs to a single university; a given teacher may or may not be working for the university at a particular time.”</a:t>
            </a:r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5867400" y="1752600"/>
            <a:ext cx="8509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student</a:t>
            </a:r>
          </a:p>
        </p:txBody>
      </p:sp>
    </p:spTree>
    <p:extLst>
      <p:ext uri="{BB962C8B-B14F-4D97-AF65-F5344CB8AC3E}">
        <p14:creationId xmlns:p14="http://schemas.microsoft.com/office/powerpoint/2010/main" val="1279125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1 – M  1 - * ( Zero to Many)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 – 5 (</a:t>
            </a:r>
            <a:r>
              <a:rPr lang="en-US" b="1" dirty="0"/>
              <a:t>One to many</a:t>
            </a:r>
            <a:r>
              <a:rPr lang="en-US" dirty="0"/>
              <a:t>), min one and maximum five </a:t>
            </a:r>
          </a:p>
          <a:p>
            <a:pPr marL="0" indent="0">
              <a:buNone/>
            </a:pPr>
            <a:r>
              <a:rPr lang="en-US" dirty="0"/>
              <a:t>10 – 50 ( Many to Many), minimum ten and maximum 50 </a:t>
            </a:r>
          </a:p>
        </p:txBody>
      </p:sp>
    </p:spTree>
    <p:extLst>
      <p:ext uri="{BB962C8B-B14F-4D97-AF65-F5344CB8AC3E}">
        <p14:creationId xmlns:p14="http://schemas.microsoft.com/office/powerpoint/2010/main" val="2799807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Class diagram</a:t>
            </a:r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219200" y="2017713"/>
          <a:ext cx="6650038" cy="445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2628571" imgH="9276190" progId="Paint.Picture">
                  <p:embed/>
                </p:oleObj>
              </mc:Choice>
              <mc:Fallback>
                <p:oleObj name="Bitmap Image" r:id="rId3" imgW="12628571" imgH="9276190" progId="Paint.Picture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017713"/>
                        <a:ext cx="6650038" cy="445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Text Box 6"/>
          <p:cNvSpPr txBox="1">
            <a:spLocks noChangeArrowheads="1"/>
          </p:cNvSpPr>
          <p:nvPr/>
        </p:nvSpPr>
        <p:spPr bwMode="auto">
          <a:xfrm>
            <a:off x="2971800" y="6400800"/>
            <a:ext cx="3886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</a:rPr>
              <a:t>[from </a:t>
            </a:r>
            <a:r>
              <a:rPr lang="en-US" altLang="en-US" sz="1600" i="1">
                <a:latin typeface="Times New Roman" panose="02020603050405020304" pitchFamily="18" charset="0"/>
              </a:rPr>
              <a:t>UML Distilled    Third Edition</a:t>
            </a:r>
            <a:r>
              <a:rPr lang="en-US" altLang="en-US" sz="1600">
                <a:latin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27313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136650"/>
          </a:xfrm>
          <a:noFill/>
        </p:spPr>
        <p:txBody>
          <a:bodyPr anchor="ctr"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Association: Model to Implementation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160713"/>
            <a:ext cx="7700962" cy="2971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Class Student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Course enrolls[4];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Class Course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Student have[];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546725" y="2484438"/>
            <a:ext cx="1006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757363" y="2301875"/>
            <a:ext cx="1238250" cy="4699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Student</a:t>
            </a: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4983163" y="2273300"/>
            <a:ext cx="1120775" cy="4699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Course</a:t>
            </a:r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3005138" y="2528888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4191000" y="2681288"/>
            <a:ext cx="844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enrolls</a:t>
            </a: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2971800" y="2681288"/>
            <a:ext cx="533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>
                <a:solidFill>
                  <a:schemeClr val="folHlink"/>
                </a:solidFill>
                <a:ea typeface="宋体" panose="02010600030101010101" pitchFamily="2" charset="-122"/>
              </a:rPr>
              <a:t>has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955925" y="20272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4632325" y="2103438"/>
            <a:ext cx="309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48301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1219200" y="533400"/>
            <a:ext cx="7239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OO Relationships:</a:t>
            </a:r>
            <a:r>
              <a:rPr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Composition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1717675" y="2057400"/>
            <a:ext cx="1143000" cy="381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 W</a:t>
            </a:r>
          </a:p>
        </p:txBody>
      </p:sp>
      <p:sp>
        <p:nvSpPr>
          <p:cNvPr id="3077" name="Rectangle 4"/>
          <p:cNvSpPr>
            <a:spLocks noChangeArrowheads="1"/>
          </p:cNvSpPr>
          <p:nvPr/>
        </p:nvSpPr>
        <p:spPr bwMode="auto">
          <a:xfrm>
            <a:off x="990600" y="3222625"/>
            <a:ext cx="1143000" cy="4349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</a:t>
            </a:r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1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2455863" y="3211513"/>
            <a:ext cx="1143000" cy="4460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</a:t>
            </a:r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1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</a:p>
        </p:txBody>
      </p:sp>
      <p:sp>
        <p:nvSpPr>
          <p:cNvPr id="3079" name="Freeform 6"/>
          <p:cNvSpPr>
            <a:spLocks/>
          </p:cNvSpPr>
          <p:nvPr/>
        </p:nvSpPr>
        <p:spPr bwMode="auto">
          <a:xfrm>
            <a:off x="1565275" y="2895600"/>
            <a:ext cx="1447800" cy="304800"/>
          </a:xfrm>
          <a:custGeom>
            <a:avLst/>
            <a:gdLst>
              <a:gd name="T0" fmla="*/ 0 w 1824"/>
              <a:gd name="T1" fmla="*/ 96 h 96"/>
              <a:gd name="T2" fmla="*/ 0 w 1824"/>
              <a:gd name="T3" fmla="*/ 0 h 96"/>
              <a:gd name="T4" fmla="*/ 1824 w 1824"/>
              <a:gd name="T5" fmla="*/ 0 h 96"/>
              <a:gd name="T6" fmla="*/ 1824 w 1824"/>
              <a:gd name="T7" fmla="*/ 96 h 96"/>
              <a:gd name="T8" fmla="*/ 0 60000 65536"/>
              <a:gd name="T9" fmla="*/ 0 60000 65536"/>
              <a:gd name="T10" fmla="*/ 0 60000 65536"/>
              <a:gd name="T11" fmla="*/ 0 60000 65536"/>
              <a:gd name="T12" fmla="*/ 0 w 1824"/>
              <a:gd name="T13" fmla="*/ 0 h 96"/>
              <a:gd name="T14" fmla="*/ 1824 w 1824"/>
              <a:gd name="T15" fmla="*/ 96 h 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24" h="96">
                <a:moveTo>
                  <a:pt x="0" y="96"/>
                </a:moveTo>
                <a:lnTo>
                  <a:pt x="0" y="0"/>
                </a:lnTo>
                <a:lnTo>
                  <a:pt x="1824" y="0"/>
                </a:lnTo>
                <a:lnTo>
                  <a:pt x="182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080" name="Group 7"/>
          <p:cNvGrpSpPr>
            <a:grpSpLocks/>
          </p:cNvGrpSpPr>
          <p:nvPr/>
        </p:nvGrpSpPr>
        <p:grpSpPr bwMode="auto">
          <a:xfrm>
            <a:off x="2170113" y="2436813"/>
            <a:ext cx="228600" cy="444500"/>
            <a:chOff x="4480" y="1304"/>
            <a:chExt cx="144" cy="280"/>
          </a:xfrm>
        </p:grpSpPr>
        <p:sp>
          <p:nvSpPr>
            <p:cNvPr id="3089" name="Line 8"/>
            <p:cNvSpPr>
              <a:spLocks noChangeShapeType="1"/>
            </p:cNvSpPr>
            <p:nvPr/>
          </p:nvSpPr>
          <p:spPr bwMode="auto">
            <a:xfrm>
              <a:off x="4552" y="1488"/>
              <a:ext cx="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AutoShape 9"/>
            <p:cNvSpPr>
              <a:spLocks noChangeArrowheads="1"/>
            </p:cNvSpPr>
            <p:nvPr/>
          </p:nvSpPr>
          <p:spPr bwMode="auto">
            <a:xfrm>
              <a:off x="4480" y="1304"/>
              <a:ext cx="144" cy="19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081" name="Text Box 10"/>
          <p:cNvSpPr txBox="1">
            <a:spLocks noChangeArrowheads="1"/>
          </p:cNvSpPr>
          <p:nvPr/>
        </p:nvSpPr>
        <p:spPr bwMode="auto">
          <a:xfrm>
            <a:off x="3962400" y="1981200"/>
            <a:ext cx="4916488" cy="354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Association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Models the part–whole relationship</a:t>
            </a:r>
          </a:p>
          <a:p>
            <a:pPr eaLnBrk="1" hangingPunct="1"/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Composition</a:t>
            </a:r>
          </a:p>
          <a:p>
            <a:pPr lvl="1" eaLnBrk="1" hangingPunct="1"/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Also models the part–whole relationship but, in addition, Every part may belong to only one whole, and  If the whole is deleted, so are the parts</a:t>
            </a:r>
          </a:p>
          <a:p>
            <a:pPr eaLnBrk="1" hangingPunct="1"/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Example: </a:t>
            </a:r>
          </a:p>
          <a:p>
            <a:pPr eaLnBrk="1" hangingPunct="1"/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A number of different chess boards: Each square belongs to only one board. If a chess board is thrown away, all 64 squares on that board go as well.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2" name="Text Box 11"/>
          <p:cNvSpPr txBox="1">
            <a:spLocks noChangeArrowheads="1"/>
          </p:cNvSpPr>
          <p:nvPr/>
        </p:nvSpPr>
        <p:spPr bwMode="auto">
          <a:xfrm>
            <a:off x="304800" y="2209800"/>
            <a:ext cx="11287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Whole Class</a:t>
            </a:r>
          </a:p>
        </p:txBody>
      </p:sp>
      <p:sp>
        <p:nvSpPr>
          <p:cNvPr id="3083" name="Text Box 12"/>
          <p:cNvSpPr txBox="1">
            <a:spLocks noChangeArrowheads="1"/>
          </p:cNvSpPr>
          <p:nvPr/>
        </p:nvSpPr>
        <p:spPr bwMode="auto">
          <a:xfrm>
            <a:off x="1793875" y="4038600"/>
            <a:ext cx="1119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Part Classes</a:t>
            </a:r>
          </a:p>
        </p:txBody>
      </p:sp>
      <p:sp>
        <p:nvSpPr>
          <p:cNvPr id="3084" name="AutoShape 13"/>
          <p:cNvSpPr>
            <a:spLocks/>
          </p:cNvSpPr>
          <p:nvPr/>
        </p:nvSpPr>
        <p:spPr bwMode="auto">
          <a:xfrm rot="-5400000">
            <a:off x="2212975" y="3009900"/>
            <a:ext cx="228600" cy="1828800"/>
          </a:xfrm>
          <a:prstGeom prst="leftBrace">
            <a:avLst>
              <a:gd name="adj1" fmla="val 66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85" name="Text Box 22"/>
          <p:cNvSpPr txBox="1">
            <a:spLocks noChangeArrowheads="1"/>
          </p:cNvSpPr>
          <p:nvPr/>
        </p:nvSpPr>
        <p:spPr bwMode="auto">
          <a:xfrm>
            <a:off x="533400" y="4495800"/>
            <a:ext cx="855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</a:t>
            </a:r>
          </a:p>
        </p:txBody>
      </p:sp>
      <p:graphicFrame>
        <p:nvGraphicFramePr>
          <p:cNvPr id="3074" name="Object 27"/>
          <p:cNvGraphicFramePr>
            <a:graphicFrameLocks noGrp="1" noChangeAspect="1"/>
          </p:cNvGraphicFramePr>
          <p:nvPr>
            <p:ph/>
          </p:nvPr>
        </p:nvGraphicFramePr>
        <p:xfrm>
          <a:off x="381000" y="4876800"/>
          <a:ext cx="3505200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621064" imgH="1924319" progId="Paint.Picture">
                  <p:embed/>
                </p:oleObj>
              </mc:Choice>
              <mc:Fallback>
                <p:oleObj name="Bitmap Image" r:id="rId3" imgW="7621064" imgH="1924319" progId="Paint.Picture">
                  <p:embed/>
                  <p:pic>
                    <p:nvPicPr>
                      <p:cNvPr id="307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76800"/>
                        <a:ext cx="3505200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Text Box 28"/>
          <p:cNvSpPr txBox="1">
            <a:spLocks noChangeArrowheads="1"/>
          </p:cNvSpPr>
          <p:nvPr/>
        </p:nvSpPr>
        <p:spPr bwMode="auto">
          <a:xfrm>
            <a:off x="2971800" y="6172200"/>
            <a:ext cx="124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Arial" panose="020B0604020202020204" pitchFamily="34" charset="0"/>
              </a:rPr>
              <a:t>Figure 16.7</a:t>
            </a: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087" name="Rectangle 29"/>
          <p:cNvSpPr>
            <a:spLocks noChangeArrowheads="1"/>
          </p:cNvSpPr>
          <p:nvPr/>
        </p:nvSpPr>
        <p:spPr bwMode="auto">
          <a:xfrm>
            <a:off x="381000" y="6427788"/>
            <a:ext cx="2881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/>
              <a:t>The McGraw-Hill Companies, 2005</a:t>
            </a:r>
          </a:p>
        </p:txBody>
      </p:sp>
      <p:sp>
        <p:nvSpPr>
          <p:cNvPr id="3088" name="Text Box 30"/>
          <p:cNvSpPr txBox="1">
            <a:spLocks noChangeArrowheads="1"/>
          </p:cNvSpPr>
          <p:nvPr/>
        </p:nvSpPr>
        <p:spPr bwMode="auto">
          <a:xfrm>
            <a:off x="990600" y="4267200"/>
            <a:ext cx="26876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[From Dr.David A. Workman]</a:t>
            </a:r>
          </a:p>
        </p:txBody>
      </p:sp>
    </p:spTree>
    <p:extLst>
      <p:ext uri="{BB962C8B-B14F-4D97-AF65-F5344CB8AC3E}">
        <p14:creationId xmlns:p14="http://schemas.microsoft.com/office/powerpoint/2010/main" val="2414798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23950" y="457200"/>
            <a:ext cx="7772400" cy="533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OO Relationships: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Aggregation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905000" y="2133600"/>
            <a:ext cx="1143000" cy="381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</a:t>
            </a:r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177925" y="3298825"/>
            <a:ext cx="1143000" cy="4349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 E</a:t>
            </a:r>
            <a:r>
              <a:rPr lang="en-US" altLang="zh-CN" sz="1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2643188" y="3287713"/>
            <a:ext cx="1143000" cy="4460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Class E</a:t>
            </a:r>
            <a:r>
              <a:rPr lang="en-US" altLang="zh-CN" sz="1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26" name="Freeform 6"/>
          <p:cNvSpPr>
            <a:spLocks/>
          </p:cNvSpPr>
          <p:nvPr/>
        </p:nvSpPr>
        <p:spPr bwMode="auto">
          <a:xfrm>
            <a:off x="1752600" y="2971800"/>
            <a:ext cx="1447800" cy="304800"/>
          </a:xfrm>
          <a:custGeom>
            <a:avLst/>
            <a:gdLst>
              <a:gd name="T0" fmla="*/ 0 w 1824"/>
              <a:gd name="T1" fmla="*/ 96 h 96"/>
              <a:gd name="T2" fmla="*/ 0 w 1824"/>
              <a:gd name="T3" fmla="*/ 0 h 96"/>
              <a:gd name="T4" fmla="*/ 1824 w 1824"/>
              <a:gd name="T5" fmla="*/ 0 h 96"/>
              <a:gd name="T6" fmla="*/ 1824 w 1824"/>
              <a:gd name="T7" fmla="*/ 96 h 96"/>
              <a:gd name="T8" fmla="*/ 0 60000 65536"/>
              <a:gd name="T9" fmla="*/ 0 60000 65536"/>
              <a:gd name="T10" fmla="*/ 0 60000 65536"/>
              <a:gd name="T11" fmla="*/ 0 60000 65536"/>
              <a:gd name="T12" fmla="*/ 0 w 1824"/>
              <a:gd name="T13" fmla="*/ 0 h 96"/>
              <a:gd name="T14" fmla="*/ 1824 w 1824"/>
              <a:gd name="T15" fmla="*/ 96 h 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24" h="96">
                <a:moveTo>
                  <a:pt x="0" y="96"/>
                </a:moveTo>
                <a:lnTo>
                  <a:pt x="0" y="0"/>
                </a:lnTo>
                <a:lnTo>
                  <a:pt x="1824" y="0"/>
                </a:lnTo>
                <a:lnTo>
                  <a:pt x="182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0727" name="Group 7"/>
          <p:cNvGrpSpPr>
            <a:grpSpLocks/>
          </p:cNvGrpSpPr>
          <p:nvPr/>
        </p:nvGrpSpPr>
        <p:grpSpPr bwMode="auto">
          <a:xfrm>
            <a:off x="2357438" y="2513013"/>
            <a:ext cx="228600" cy="444500"/>
            <a:chOff x="4480" y="1304"/>
            <a:chExt cx="144" cy="280"/>
          </a:xfrm>
        </p:grpSpPr>
        <p:sp>
          <p:nvSpPr>
            <p:cNvPr id="30743" name="Line 8"/>
            <p:cNvSpPr>
              <a:spLocks noChangeShapeType="1"/>
            </p:cNvSpPr>
            <p:nvPr/>
          </p:nvSpPr>
          <p:spPr bwMode="auto">
            <a:xfrm>
              <a:off x="4552" y="1488"/>
              <a:ext cx="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4" name="AutoShape 9"/>
            <p:cNvSpPr>
              <a:spLocks noChangeArrowheads="1"/>
            </p:cNvSpPr>
            <p:nvPr/>
          </p:nvSpPr>
          <p:spPr bwMode="auto">
            <a:xfrm>
              <a:off x="4480" y="1304"/>
              <a:ext cx="144" cy="192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0728" name="Text Box 10"/>
          <p:cNvSpPr txBox="1">
            <a:spLocks noChangeArrowheads="1"/>
          </p:cNvSpPr>
          <p:nvPr/>
        </p:nvSpPr>
        <p:spPr bwMode="auto">
          <a:xfrm>
            <a:off x="838200" y="2590800"/>
            <a:ext cx="1558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AGGREGATION</a:t>
            </a:r>
          </a:p>
        </p:txBody>
      </p:sp>
      <p:sp>
        <p:nvSpPr>
          <p:cNvPr id="30729" name="Text Box 11"/>
          <p:cNvSpPr txBox="1">
            <a:spLocks noChangeArrowheads="1"/>
          </p:cNvSpPr>
          <p:nvPr/>
        </p:nvSpPr>
        <p:spPr bwMode="auto">
          <a:xfrm>
            <a:off x="4267200" y="2286000"/>
            <a:ext cx="466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CN" altLang="en-US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0" name="Text Box 12"/>
          <p:cNvSpPr txBox="1">
            <a:spLocks noChangeArrowheads="1"/>
          </p:cNvSpPr>
          <p:nvPr/>
        </p:nvSpPr>
        <p:spPr bwMode="auto">
          <a:xfrm>
            <a:off x="1752600" y="1828800"/>
            <a:ext cx="1404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Container Class</a:t>
            </a:r>
          </a:p>
        </p:txBody>
      </p:sp>
      <p:sp>
        <p:nvSpPr>
          <p:cNvPr id="30731" name="Text Box 13"/>
          <p:cNvSpPr txBox="1">
            <a:spLocks noChangeArrowheads="1"/>
          </p:cNvSpPr>
          <p:nvPr/>
        </p:nvSpPr>
        <p:spPr bwMode="auto">
          <a:xfrm>
            <a:off x="1752600" y="4114800"/>
            <a:ext cx="15541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t>Containee Classes</a:t>
            </a:r>
          </a:p>
        </p:txBody>
      </p:sp>
      <p:sp>
        <p:nvSpPr>
          <p:cNvPr id="30732" name="AutoShape 14"/>
          <p:cNvSpPr>
            <a:spLocks/>
          </p:cNvSpPr>
          <p:nvPr/>
        </p:nvSpPr>
        <p:spPr bwMode="auto">
          <a:xfrm rot="-5400000">
            <a:off x="2400300" y="3086100"/>
            <a:ext cx="228600" cy="1828800"/>
          </a:xfrm>
          <a:prstGeom prst="leftBrace">
            <a:avLst>
              <a:gd name="adj1" fmla="val 66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33" name="Rectangle 15"/>
          <p:cNvSpPr>
            <a:spLocks noChangeArrowheads="1"/>
          </p:cNvSpPr>
          <p:nvPr/>
        </p:nvSpPr>
        <p:spPr bwMode="auto">
          <a:xfrm>
            <a:off x="1852613" y="4800600"/>
            <a:ext cx="1143000" cy="381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Bag</a:t>
            </a:r>
          </a:p>
        </p:txBody>
      </p:sp>
      <p:sp>
        <p:nvSpPr>
          <p:cNvPr id="30734" name="Rectangle 16"/>
          <p:cNvSpPr>
            <a:spLocks noChangeArrowheads="1"/>
          </p:cNvSpPr>
          <p:nvPr/>
        </p:nvSpPr>
        <p:spPr bwMode="auto">
          <a:xfrm>
            <a:off x="1125538" y="5965825"/>
            <a:ext cx="1143000" cy="4349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Apples</a:t>
            </a:r>
            <a:endParaRPr lang="en-US" altLang="zh-CN" sz="1400" b="1" baseline="-25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5" name="Rectangle 17"/>
          <p:cNvSpPr>
            <a:spLocks noChangeArrowheads="1"/>
          </p:cNvSpPr>
          <p:nvPr/>
        </p:nvSpPr>
        <p:spPr bwMode="auto">
          <a:xfrm>
            <a:off x="2590800" y="5954713"/>
            <a:ext cx="1143000" cy="4460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CN" sz="1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Milk</a:t>
            </a:r>
            <a:r>
              <a:rPr lang="en-US" altLang="zh-CN" sz="1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736" name="Freeform 18"/>
          <p:cNvSpPr>
            <a:spLocks/>
          </p:cNvSpPr>
          <p:nvPr/>
        </p:nvSpPr>
        <p:spPr bwMode="auto">
          <a:xfrm>
            <a:off x="1700213" y="5638800"/>
            <a:ext cx="1447800" cy="304800"/>
          </a:xfrm>
          <a:custGeom>
            <a:avLst/>
            <a:gdLst>
              <a:gd name="T0" fmla="*/ 0 w 1824"/>
              <a:gd name="T1" fmla="*/ 96 h 96"/>
              <a:gd name="T2" fmla="*/ 0 w 1824"/>
              <a:gd name="T3" fmla="*/ 0 h 96"/>
              <a:gd name="T4" fmla="*/ 1824 w 1824"/>
              <a:gd name="T5" fmla="*/ 0 h 96"/>
              <a:gd name="T6" fmla="*/ 1824 w 1824"/>
              <a:gd name="T7" fmla="*/ 96 h 96"/>
              <a:gd name="T8" fmla="*/ 0 60000 65536"/>
              <a:gd name="T9" fmla="*/ 0 60000 65536"/>
              <a:gd name="T10" fmla="*/ 0 60000 65536"/>
              <a:gd name="T11" fmla="*/ 0 60000 65536"/>
              <a:gd name="T12" fmla="*/ 0 w 1824"/>
              <a:gd name="T13" fmla="*/ 0 h 96"/>
              <a:gd name="T14" fmla="*/ 1824 w 1824"/>
              <a:gd name="T15" fmla="*/ 96 h 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24" h="96">
                <a:moveTo>
                  <a:pt x="0" y="96"/>
                </a:moveTo>
                <a:lnTo>
                  <a:pt x="0" y="0"/>
                </a:lnTo>
                <a:lnTo>
                  <a:pt x="1824" y="0"/>
                </a:lnTo>
                <a:lnTo>
                  <a:pt x="182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0737" name="Group 19"/>
          <p:cNvGrpSpPr>
            <a:grpSpLocks/>
          </p:cNvGrpSpPr>
          <p:nvPr/>
        </p:nvGrpSpPr>
        <p:grpSpPr bwMode="auto">
          <a:xfrm>
            <a:off x="2286000" y="5192713"/>
            <a:ext cx="228600" cy="457200"/>
            <a:chOff x="2640" y="2880"/>
            <a:chExt cx="144" cy="288"/>
          </a:xfrm>
        </p:grpSpPr>
        <p:sp>
          <p:nvSpPr>
            <p:cNvPr id="30741" name="Line 20"/>
            <p:cNvSpPr>
              <a:spLocks noChangeShapeType="1"/>
            </p:cNvSpPr>
            <p:nvPr/>
          </p:nvSpPr>
          <p:spPr bwMode="auto">
            <a:xfrm flipH="1">
              <a:off x="2712" y="3048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AutoShape 21"/>
            <p:cNvSpPr>
              <a:spLocks noChangeArrowheads="1"/>
            </p:cNvSpPr>
            <p:nvPr/>
          </p:nvSpPr>
          <p:spPr bwMode="auto">
            <a:xfrm>
              <a:off x="2640" y="2880"/>
              <a:ext cx="144" cy="192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0738" name="Text Box 22"/>
          <p:cNvSpPr txBox="1">
            <a:spLocks noChangeArrowheads="1"/>
          </p:cNvSpPr>
          <p:nvPr/>
        </p:nvSpPr>
        <p:spPr bwMode="auto">
          <a:xfrm>
            <a:off x="820738" y="4724400"/>
            <a:ext cx="8556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sz="1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Example</a:t>
            </a:r>
          </a:p>
        </p:txBody>
      </p:sp>
      <p:sp>
        <p:nvSpPr>
          <p:cNvPr id="30739" name="Rectangle 24"/>
          <p:cNvSpPr>
            <a:spLocks noChangeArrowheads="1"/>
          </p:cNvSpPr>
          <p:nvPr/>
        </p:nvSpPr>
        <p:spPr bwMode="auto">
          <a:xfrm>
            <a:off x="4267200" y="1905000"/>
            <a:ext cx="44196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Aggregation: </a:t>
            </a: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expresses a relationship among instances of related classes.  It is a specific kind of Container-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Containee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relationship.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express a more informal relationship than composition expresses.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Aggregation is appropriate when Container and 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Containees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 have no special access privileges to each other.</a:t>
            </a:r>
          </a:p>
        </p:txBody>
      </p:sp>
      <p:sp>
        <p:nvSpPr>
          <p:cNvPr id="30740" name="Text Box 25"/>
          <p:cNvSpPr txBox="1">
            <a:spLocks noChangeArrowheads="1"/>
          </p:cNvSpPr>
          <p:nvPr/>
        </p:nvSpPr>
        <p:spPr bwMode="auto">
          <a:xfrm>
            <a:off x="1371600" y="6521450"/>
            <a:ext cx="26876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>
                <a:latin typeface="Times New Roman" panose="02020603050405020304" pitchFamily="18" charset="0"/>
              </a:rPr>
              <a:t>[From Dr.David A. Workman]</a:t>
            </a:r>
          </a:p>
        </p:txBody>
      </p:sp>
    </p:spTree>
    <p:extLst>
      <p:ext uri="{BB962C8B-B14F-4D97-AF65-F5344CB8AC3E}">
        <p14:creationId xmlns:p14="http://schemas.microsoft.com/office/powerpoint/2010/main" val="2880020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603250"/>
            <a:ext cx="7793037" cy="1073150"/>
          </a:xfrm>
        </p:spPr>
        <p:txBody>
          <a:bodyPr/>
          <a:lstStyle/>
          <a:p>
            <a:pPr eaLnBrk="1" hangingPunct="1"/>
            <a:br>
              <a:rPr lang="zh-CN" altLang="en-US" sz="3200" b="1">
                <a:ea typeface="宋体" panose="02010600030101010101" pitchFamily="2" charset="-122"/>
              </a:rPr>
            </a:br>
            <a:r>
              <a:rPr lang="en-US" altLang="zh-CN" sz="3200">
                <a:ea typeface="宋体" panose="02010600030101010101" pitchFamily="2" charset="-122"/>
              </a:rPr>
              <a:t>Aggregation vs. Composition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1219200" y="1676400"/>
            <a:ext cx="7010400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zh-CN" altLang="en-US" sz="2400" dirty="0">
              <a:latin typeface="Times New Roman" pitchFamily="18" charset="0"/>
              <a:ea typeface="宋体" pitchFamily="2" charset="-122"/>
            </a:endParaRPr>
          </a:p>
          <a:p>
            <a:pPr lvl="1" eaLnBrk="0" hangingPunct="0">
              <a:buClr>
                <a:schemeClr val="folHlink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宋体" pitchFamily="2" charset="-122"/>
              </a:rPr>
              <a:t>Composition</a:t>
            </a:r>
            <a:r>
              <a:rPr lang="en-US" altLang="zh-CN" sz="2000" dirty="0">
                <a:latin typeface="Arial" charset="0"/>
                <a:ea typeface="宋体" pitchFamily="2" charset="-122"/>
              </a:rPr>
              <a:t> is really a strong form of </a:t>
            </a:r>
            <a:r>
              <a:rPr lang="en-US" altLang="zh-CN" sz="2000" b="1" dirty="0">
                <a:latin typeface="Arial" charset="0"/>
                <a:ea typeface="宋体" pitchFamily="2" charset="-122"/>
              </a:rPr>
              <a:t>association</a:t>
            </a:r>
          </a:p>
          <a:p>
            <a:pPr lvl="1" eaLnBrk="0" hangingPunct="0">
              <a:buClr>
                <a:schemeClr val="folHlink"/>
              </a:buClr>
              <a:buFont typeface="Wingdings" pitchFamily="2" charset="2"/>
              <a:buChar char="Ø"/>
              <a:defRPr/>
            </a:pPr>
            <a:r>
              <a:rPr lang="en-US" altLang="zh-CN" sz="1600" dirty="0">
                <a:latin typeface="Arial" charset="0"/>
                <a:ea typeface="宋体" pitchFamily="2" charset="-122"/>
              </a:rPr>
              <a:t>components have only one owner </a:t>
            </a:r>
          </a:p>
          <a:p>
            <a:pPr lvl="1" eaLnBrk="0" hangingPunct="0">
              <a:buClr>
                <a:schemeClr val="folHlink"/>
              </a:buClr>
              <a:buFont typeface="Wingdings" pitchFamily="2" charset="2"/>
              <a:buChar char="Ø"/>
              <a:defRPr/>
            </a:pPr>
            <a:r>
              <a:rPr lang="en-US" altLang="zh-CN" sz="1600" dirty="0">
                <a:latin typeface="Arial" charset="0"/>
                <a:ea typeface="宋体" pitchFamily="2" charset="-122"/>
              </a:rPr>
              <a:t>components cannot exist independent of their owner</a:t>
            </a:r>
          </a:p>
          <a:p>
            <a:pPr lvl="1" eaLnBrk="0" hangingPunct="0">
              <a:buClr>
                <a:schemeClr val="folHlink"/>
              </a:buClr>
              <a:buFont typeface="Wingdings" pitchFamily="2" charset="2"/>
              <a:buChar char="Ø"/>
              <a:defRPr/>
            </a:pPr>
            <a:r>
              <a:rPr lang="en-US" altLang="zh-CN" sz="1600" dirty="0">
                <a:latin typeface="Arial" charset="0"/>
                <a:ea typeface="宋体" pitchFamily="2" charset="-122"/>
              </a:rPr>
              <a:t>components live or die with their owner</a:t>
            </a:r>
          </a:p>
          <a:p>
            <a:pPr lvl="1" eaLnBrk="0" hangingPunct="0">
              <a:buClr>
                <a:schemeClr val="folHlink"/>
              </a:buClr>
              <a:buFont typeface="Wingdings" pitchFamily="2" charset="2"/>
              <a:buChar char="Ø"/>
              <a:defRPr/>
            </a:pPr>
            <a:r>
              <a:rPr lang="en-US" altLang="zh-CN" sz="1600" dirty="0">
                <a:latin typeface="Arial" charset="0"/>
                <a:ea typeface="宋体" pitchFamily="2" charset="-122"/>
              </a:rPr>
              <a:t>e.g. Each car has an engine that can not be shared with other cars.</a:t>
            </a:r>
          </a:p>
          <a:p>
            <a:pPr lvl="2" eaLnBrk="0" hangingPunct="0">
              <a:buFontTx/>
              <a:buChar char="•"/>
              <a:defRPr/>
            </a:pPr>
            <a:endParaRPr lang="en-US" altLang="zh-CN" sz="1600" dirty="0">
              <a:latin typeface="Arial" charset="0"/>
              <a:ea typeface="宋体" pitchFamily="2" charset="-122"/>
            </a:endParaRPr>
          </a:p>
          <a:p>
            <a:pPr lvl="1" eaLnBrk="0" hangingPunct="0">
              <a:buClr>
                <a:schemeClr val="folHlink"/>
              </a:buClr>
              <a:buSzPct val="80000"/>
              <a:buFont typeface="Wingdings" pitchFamily="2" charset="2"/>
              <a:buChar char="n"/>
              <a:defRPr/>
            </a:pPr>
            <a:r>
              <a:rPr lang="en-US" altLang="zh-CN" sz="2000" b="1" dirty="0">
                <a:latin typeface="Arial" charset="0"/>
                <a:ea typeface="宋体" pitchFamily="2" charset="-122"/>
              </a:rPr>
              <a:t>Aggregations</a:t>
            </a:r>
            <a:r>
              <a:rPr lang="en-US" altLang="zh-CN" sz="2000" dirty="0">
                <a:latin typeface="Arial" charset="0"/>
                <a:ea typeface="宋体" pitchFamily="2" charset="-122"/>
              </a:rPr>
              <a:t> </a:t>
            </a:r>
          </a:p>
          <a:p>
            <a:pPr lvl="1" eaLnBrk="0" hangingPunct="0">
              <a:defRPr/>
            </a:pPr>
            <a:r>
              <a:rPr lang="en-US" altLang="zh-CN" sz="1600" dirty="0">
                <a:latin typeface="Arial" charset="0"/>
                <a:ea typeface="宋体" pitchFamily="2" charset="-122"/>
              </a:rPr>
              <a:t>may form "part of" the association, but may not be essential to it. They may also exist independent of the aggregate.  e.g. Apples may exist independent of the bag.</a:t>
            </a:r>
          </a:p>
          <a:p>
            <a:pPr eaLnBrk="0" hangingPunct="0">
              <a:defRPr/>
            </a:pPr>
            <a:endParaRPr lang="en-US" altLang="zh-CN" sz="1600" dirty="0"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42115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1504</TotalTime>
  <Words>2024</Words>
  <Application>Microsoft Office PowerPoint</Application>
  <PresentationFormat>On-screen Show (4:3)</PresentationFormat>
  <Paragraphs>464</Paragraphs>
  <Slides>41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宋体</vt:lpstr>
      <vt:lpstr>Arial</vt:lpstr>
      <vt:lpstr>Calibri</vt:lpstr>
      <vt:lpstr>Calibri Light</vt:lpstr>
      <vt:lpstr>Tahoma</vt:lpstr>
      <vt:lpstr>Times New Roman</vt:lpstr>
      <vt:lpstr>Wingdings</vt:lpstr>
      <vt:lpstr>Wingdings 3</vt:lpstr>
      <vt:lpstr>Retrospect</vt:lpstr>
      <vt:lpstr>Blends</vt:lpstr>
      <vt:lpstr>Bitmap Image</vt:lpstr>
      <vt:lpstr>Software Engineering Week 7,8</vt:lpstr>
      <vt:lpstr>What is UML and Why we use UML?</vt:lpstr>
      <vt:lpstr>Use Case</vt:lpstr>
      <vt:lpstr>PowerPoint Presentation</vt:lpstr>
      <vt:lpstr>1</vt:lpstr>
      <vt:lpstr>2</vt:lpstr>
      <vt:lpstr>PowerPoint Presentation</vt:lpstr>
      <vt:lpstr>3</vt:lpstr>
      <vt:lpstr>Use-Case Diagrams</vt:lpstr>
      <vt:lpstr>Use-Case Diagrams</vt:lpstr>
      <vt:lpstr>Use-Case Diagrams</vt:lpstr>
      <vt:lpstr>Use-Case Diagrams</vt:lpstr>
      <vt:lpstr>Use-Case Diagrams</vt:lpstr>
      <vt:lpstr>Use-Case Diagrams</vt:lpstr>
      <vt:lpstr>Interaction Diagrams</vt:lpstr>
      <vt:lpstr>Sequence Diagram(make a phone call)</vt:lpstr>
      <vt:lpstr>Sequence Diagram:Object interaction</vt:lpstr>
      <vt:lpstr>PowerPoint Presentation</vt:lpstr>
      <vt:lpstr>Sequence Diagrams – Object Life Spans</vt:lpstr>
      <vt:lpstr> Sequence Diagram</vt:lpstr>
      <vt:lpstr>Class Diagram</vt:lpstr>
      <vt:lpstr>PowerPoint Presentation</vt:lpstr>
      <vt:lpstr>Access Specifier   Private  Protected  Class A  Class B is a child of class A   (It will inherit/access all functions of class A that are either public  or protected) Public   private: Int a; int b int c  public:</vt:lpstr>
      <vt:lpstr>PowerPoint Presentation</vt:lpstr>
      <vt:lpstr>PowerPoint Presentation</vt:lpstr>
      <vt:lpstr>PowerPoint Presentation</vt:lpstr>
      <vt:lpstr>Class – Structure Abstract Data Type / User Defined Type </vt:lpstr>
      <vt:lpstr>Class defines the type of variables and the functions that can be performed. Physical Instance of the class  - &gt;  (Object)   Object is the physical instance of the class. </vt:lpstr>
      <vt:lpstr>Class diagram</vt:lpstr>
      <vt:lpstr>Class diagram</vt:lpstr>
      <vt:lpstr>Class diagram</vt:lpstr>
      <vt:lpstr>OO Relationships</vt:lpstr>
      <vt:lpstr>PowerPoint Presentation</vt:lpstr>
      <vt:lpstr> OO Relationships: Association</vt:lpstr>
      <vt:lpstr>Association: Multiplicity and Roles</vt:lpstr>
      <vt:lpstr>PowerPoint Presentation</vt:lpstr>
      <vt:lpstr>Class diagram</vt:lpstr>
      <vt:lpstr>Association: Model to Implementation</vt:lpstr>
      <vt:lpstr>PowerPoint Presentation</vt:lpstr>
      <vt:lpstr>OO Relationships: Aggregation</vt:lpstr>
      <vt:lpstr> Aggregation vs. Composition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&amp; Architecture</dc:title>
  <dc:creator>natash</dc:creator>
  <cp:lastModifiedBy>Natash Ali</cp:lastModifiedBy>
  <cp:revision>211</cp:revision>
  <dcterms:created xsi:type="dcterms:W3CDTF">2006-08-16T00:00:00Z</dcterms:created>
  <dcterms:modified xsi:type="dcterms:W3CDTF">2026-01-11T17:28:56Z</dcterms:modified>
</cp:coreProperties>
</file>