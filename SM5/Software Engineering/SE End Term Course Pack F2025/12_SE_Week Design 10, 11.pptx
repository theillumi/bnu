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</p:sldMasterIdLst>
  <p:notesMasterIdLst>
    <p:notesMasterId r:id="rId62"/>
  </p:notesMasterIdLst>
  <p:sldIdLst>
    <p:sldId id="547" r:id="rId2"/>
    <p:sldId id="591" r:id="rId3"/>
    <p:sldId id="592" r:id="rId4"/>
    <p:sldId id="593" r:id="rId5"/>
    <p:sldId id="594" r:id="rId6"/>
    <p:sldId id="595" r:id="rId7"/>
    <p:sldId id="596" r:id="rId8"/>
    <p:sldId id="597" r:id="rId9"/>
    <p:sldId id="598" r:id="rId10"/>
    <p:sldId id="646" r:id="rId11"/>
    <p:sldId id="599" r:id="rId12"/>
    <p:sldId id="600" r:id="rId13"/>
    <p:sldId id="601" r:id="rId14"/>
    <p:sldId id="602" r:id="rId15"/>
    <p:sldId id="603" r:id="rId16"/>
    <p:sldId id="604" r:id="rId17"/>
    <p:sldId id="605" r:id="rId18"/>
    <p:sldId id="606" r:id="rId19"/>
    <p:sldId id="607" r:id="rId20"/>
    <p:sldId id="608" r:id="rId21"/>
    <p:sldId id="609" r:id="rId22"/>
    <p:sldId id="610" r:id="rId23"/>
    <p:sldId id="611" r:id="rId24"/>
    <p:sldId id="612" r:id="rId25"/>
    <p:sldId id="613" r:id="rId26"/>
    <p:sldId id="614" r:id="rId27"/>
    <p:sldId id="615" r:id="rId28"/>
    <p:sldId id="616" r:id="rId29"/>
    <p:sldId id="617" r:id="rId30"/>
    <p:sldId id="618" r:id="rId31"/>
    <p:sldId id="619" r:id="rId32"/>
    <p:sldId id="620" r:id="rId33"/>
    <p:sldId id="621" r:id="rId34"/>
    <p:sldId id="622" r:id="rId35"/>
    <p:sldId id="623" r:id="rId36"/>
    <p:sldId id="624" r:id="rId37"/>
    <p:sldId id="625" r:id="rId38"/>
    <p:sldId id="626" r:id="rId39"/>
    <p:sldId id="627" r:id="rId40"/>
    <p:sldId id="628" r:id="rId41"/>
    <p:sldId id="629" r:id="rId42"/>
    <p:sldId id="630" r:id="rId43"/>
    <p:sldId id="631" r:id="rId44"/>
    <p:sldId id="632" r:id="rId45"/>
    <p:sldId id="633" r:id="rId46"/>
    <p:sldId id="634" r:id="rId47"/>
    <p:sldId id="635" r:id="rId48"/>
    <p:sldId id="636" r:id="rId49"/>
    <p:sldId id="637" r:id="rId50"/>
    <p:sldId id="638" r:id="rId51"/>
    <p:sldId id="639" r:id="rId52"/>
    <p:sldId id="640" r:id="rId53"/>
    <p:sldId id="641" r:id="rId54"/>
    <p:sldId id="642" r:id="rId55"/>
    <p:sldId id="643" r:id="rId56"/>
    <p:sldId id="644" r:id="rId57"/>
    <p:sldId id="645" r:id="rId58"/>
    <p:sldId id="647" r:id="rId59"/>
    <p:sldId id="648" r:id="rId60"/>
    <p:sldId id="650" r:id="rId61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sh Ali" userId="1ac103110393f6c6" providerId="LiveId" clId="{EEE5BB09-A381-4C9A-9F35-98449A51ACC2}"/>
    <pc:docChg chg="delSld">
      <pc:chgData name="Natash Ali" userId="1ac103110393f6c6" providerId="LiveId" clId="{EEE5BB09-A381-4C9A-9F35-98449A51ACC2}" dt="2026-01-11T17:32:17.873" v="2" actId="47"/>
      <pc:docMkLst>
        <pc:docMk/>
      </pc:docMkLst>
      <pc:sldChg chg="del">
        <pc:chgData name="Natash Ali" userId="1ac103110393f6c6" providerId="LiveId" clId="{EEE5BB09-A381-4C9A-9F35-98449A51ACC2}" dt="2026-01-11T17:29:05.090" v="0" actId="47"/>
        <pc:sldMkLst>
          <pc:docMk/>
          <pc:sldMk cId="1970624686" sldId="548"/>
        </pc:sldMkLst>
      </pc:sldChg>
      <pc:sldChg chg="del">
        <pc:chgData name="Natash Ali" userId="1ac103110393f6c6" providerId="LiveId" clId="{EEE5BB09-A381-4C9A-9F35-98449A51ACC2}" dt="2026-01-11T17:32:17.873" v="2" actId="47"/>
        <pc:sldMkLst>
          <pc:docMk/>
          <pc:sldMk cId="32588922" sldId="588"/>
        </pc:sldMkLst>
      </pc:sldChg>
      <pc:sldChg chg="del">
        <pc:chgData name="Natash Ali" userId="1ac103110393f6c6" providerId="LiveId" clId="{EEE5BB09-A381-4C9A-9F35-98449A51ACC2}" dt="2026-01-11T17:32:09.807" v="1" actId="47"/>
        <pc:sldMkLst>
          <pc:docMk/>
          <pc:sldMk cId="105441837" sldId="64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5AFF4B5-631B-4A70-8B99-E8FB8796DA97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CF2FD04-098F-426E-B64E-A486CBD14B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82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39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0969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937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5127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0291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801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0954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63705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63705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63705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718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3601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9707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1598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D7A2F4-68AB-4C94-961A-97A9545E0508}" type="slidenum"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1497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8495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  <p:sldLayoutId id="2147483830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18239"/>
            <a:ext cx="7772400" cy="1829761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Software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4648200"/>
            <a:ext cx="6400800" cy="9144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Instructor : Dr. </a:t>
            </a:r>
            <a:r>
              <a:rPr lang="en-US" dirty="0" err="1"/>
              <a:t>Natash</a:t>
            </a:r>
            <a:r>
              <a:rPr lang="en-US" dirty="0"/>
              <a:t> Ali </a:t>
            </a:r>
            <a:r>
              <a:rPr lang="en-US" dirty="0" err="1"/>
              <a:t>Mian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371600" y="5638800"/>
            <a:ext cx="6400800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School of Computer and Information Technology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Beaconhouse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National University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3048000" y="3276600"/>
            <a:ext cx="3581400" cy="990600"/>
          </a:xfrm>
          <a:prstGeom prst="rect">
            <a:avLst/>
          </a:prstGeom>
        </p:spPr>
        <p:txBody>
          <a:bodyPr vert="horz" lIns="45720" rIns="45720">
            <a:normAutofit/>
          </a:bodyPr>
          <a:lstStyle/>
          <a:p>
            <a:pPr marL="0" marR="64008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48312"/>
              </a:buClr>
              <a:buSzPct val="68000"/>
              <a:buFont typeface="Wingdings 3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1126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ctr">
              <a:buNone/>
            </a:pPr>
            <a:r>
              <a:rPr lang="en-US" sz="7200" dirty="0"/>
              <a:t>Software Design </a:t>
            </a:r>
          </a:p>
          <a:p>
            <a:pPr algn="ctr">
              <a:buNone/>
            </a:pPr>
            <a:endParaRPr lang="en-US" sz="7200" dirty="0"/>
          </a:p>
          <a:p>
            <a:pPr algn="ctr">
              <a:buNone/>
            </a:pPr>
            <a:r>
              <a:rPr lang="en-US" sz="2400" dirty="0"/>
              <a:t>Converting to diagrams</a:t>
            </a:r>
          </a:p>
          <a:p>
            <a:pPr algn="ctr">
              <a:buNone/>
            </a:pPr>
            <a:r>
              <a:rPr lang="en-US" sz="2400" dirty="0"/>
              <a:t>Converting the requirements in a form that is ready for the implementation </a:t>
            </a:r>
          </a:p>
          <a:p>
            <a:pPr algn="ctr">
              <a:buNone/>
            </a:pPr>
            <a:r>
              <a:rPr lang="en-US" sz="2400" dirty="0"/>
              <a:t>Architecture of a house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903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046F022-B824-424F-9281-B16A6202E2E9}" type="slidenum">
              <a:rPr lang="en-US"/>
              <a:pPr/>
              <a:t>3</a:t>
            </a:fld>
            <a:endParaRPr 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Design?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8" tIns="44450" rIns="90488" bIns="44450"/>
          <a:lstStyle/>
          <a:p>
            <a:pPr>
              <a:lnSpc>
                <a:spcPct val="90000"/>
              </a:lnSpc>
            </a:pPr>
            <a:r>
              <a:rPr lang="en-US" dirty="0"/>
              <a:t>Synonyms: plan, arrangement, lay out, map, scheme</a:t>
            </a:r>
          </a:p>
          <a:p>
            <a:pPr>
              <a:lnSpc>
                <a:spcPct val="90000"/>
              </a:lnSpc>
            </a:pPr>
            <a:r>
              <a:rPr lang="en-US" dirty="0"/>
              <a:t>Antonyms: accident, fluke, chance, guess</a:t>
            </a:r>
          </a:p>
          <a:p>
            <a:pPr>
              <a:lnSpc>
                <a:spcPct val="90000"/>
              </a:lnSpc>
            </a:pPr>
            <a:r>
              <a:rPr lang="en-US" dirty="0"/>
              <a:t>Design is an activity of creating a solution that satisfies a specific goal or need</a:t>
            </a:r>
          </a:p>
          <a:p>
            <a:pPr>
              <a:lnSpc>
                <a:spcPct val="90000"/>
              </a:lnSpc>
            </a:pPr>
            <a:r>
              <a:rPr lang="en-US" dirty="0"/>
              <a:t>Design is the backbone of all products and  services</a:t>
            </a:r>
          </a:p>
          <a:p>
            <a:pPr>
              <a:lnSpc>
                <a:spcPct val="90000"/>
              </a:lnSpc>
            </a:pPr>
            <a:r>
              <a:rPr lang="en-US" dirty="0"/>
              <a:t>Considered an artistic and heuristic activity</a:t>
            </a:r>
          </a:p>
        </p:txBody>
      </p:sp>
    </p:spTree>
    <p:extLst>
      <p:ext uri="{BB962C8B-B14F-4D97-AF65-F5344CB8AC3E}">
        <p14:creationId xmlns:p14="http://schemas.microsoft.com/office/powerpoint/2010/main" val="278913993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Design 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743200"/>
            <a:ext cx="7772400" cy="23622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sz="4800" dirty="0"/>
              <a:t>Deriving a solution which satisfies software requirements</a:t>
            </a:r>
            <a:endParaRPr lang="en-GB" sz="4800" dirty="0"/>
          </a:p>
        </p:txBody>
      </p:sp>
    </p:spTree>
    <p:extLst>
      <p:ext uri="{BB962C8B-B14F-4D97-AF65-F5344CB8AC3E}">
        <p14:creationId xmlns:p14="http://schemas.microsoft.com/office/powerpoint/2010/main" val="2875060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Stages of Design</a:t>
            </a:r>
            <a:endParaRPr lang="en-GB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22031" y="1828800"/>
            <a:ext cx="8581292" cy="4114800"/>
          </a:xfrm>
          <a:noFill/>
          <a:ln/>
        </p:spPr>
        <p:txBody>
          <a:bodyPr lIns="90488" tIns="44450" rIns="90488" bIns="4445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FF0000"/>
                </a:solidFill>
              </a:rPr>
              <a:t>Problem understanding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Look at the problem from different angles to discover the </a:t>
            </a:r>
            <a:br>
              <a:rPr lang="en-US" sz="2400" dirty="0"/>
            </a:br>
            <a:r>
              <a:rPr lang="en-US" sz="2400" dirty="0"/>
              <a:t>design requirements.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FF0000"/>
                </a:solidFill>
              </a:rPr>
              <a:t>Identify one or more solutions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Evaluate possible solutions and choose the most appropriate depending on the designer's experience and available resources.</a:t>
            </a:r>
          </a:p>
        </p:txBody>
      </p:sp>
    </p:spTree>
    <p:extLst>
      <p:ext uri="{BB962C8B-B14F-4D97-AF65-F5344CB8AC3E}">
        <p14:creationId xmlns:p14="http://schemas.microsoft.com/office/powerpoint/2010/main" val="3235560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Stages of Design</a:t>
            </a:r>
            <a:endParaRPr lang="en-GB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22031" y="1828800"/>
            <a:ext cx="8581292" cy="4114800"/>
          </a:xfrm>
          <a:noFill/>
          <a:ln/>
        </p:spPr>
        <p:txBody>
          <a:bodyPr lIns="90488" tIns="44450" rIns="90488" bIns="4445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FF0000"/>
                </a:solidFill>
              </a:rPr>
              <a:t>Describe solution abstractions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Use graphical, formal or other descriptive notations to </a:t>
            </a:r>
            <a:br>
              <a:rPr lang="en-US" sz="2400" dirty="0"/>
            </a:br>
            <a:r>
              <a:rPr lang="en-US" sz="2400" dirty="0"/>
              <a:t>describe the components of the design.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FF0000"/>
                </a:solidFill>
              </a:rPr>
              <a:t>Repeat process for each identified abstraction</a:t>
            </a:r>
            <a:r>
              <a:rPr lang="en-US" sz="2800" dirty="0"/>
              <a:t> </a:t>
            </a:r>
            <a:br>
              <a:rPr lang="en-US" sz="2800" dirty="0"/>
            </a:br>
            <a:r>
              <a:rPr lang="en-US" sz="2800" dirty="0"/>
              <a:t>until the design is expressed in primitive terms.</a:t>
            </a:r>
          </a:p>
        </p:txBody>
      </p:sp>
    </p:spTree>
    <p:extLst>
      <p:ext uri="{BB962C8B-B14F-4D97-AF65-F5344CB8AC3E}">
        <p14:creationId xmlns:p14="http://schemas.microsoft.com/office/powerpoint/2010/main" val="2657063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Phases in the Design Process</a:t>
            </a:r>
            <a:endParaRPr lang="en-GB"/>
          </a:p>
        </p:txBody>
      </p:sp>
      <p:pic>
        <p:nvPicPr>
          <p:cNvPr id="35843" name="Picture 3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1708" y="2032000"/>
            <a:ext cx="8170985" cy="4064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3675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Phases</a:t>
            </a:r>
            <a:endParaRPr lang="en-GB"/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281354" y="1670050"/>
            <a:ext cx="8651631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lnSpc>
                <a:spcPct val="100000"/>
              </a:lnSpc>
              <a:buFont typeface="Arial" pitchFamily="34" charset="0"/>
              <a:buChar char="•"/>
            </a:pPr>
            <a:r>
              <a:rPr lang="en-US" sz="2800" b="1" i="1" dirty="0"/>
              <a:t>Architectural design:</a:t>
            </a:r>
            <a:r>
              <a:rPr lang="en-US" sz="2800" b="0" dirty="0"/>
              <a:t> Identify sub-systems.</a:t>
            </a:r>
          </a:p>
          <a:p>
            <a:pPr marL="342900" indent="-342900">
              <a:lnSpc>
                <a:spcPct val="100000"/>
              </a:lnSpc>
              <a:buFont typeface="Arial" pitchFamily="34" charset="0"/>
              <a:buChar char="•"/>
            </a:pPr>
            <a:r>
              <a:rPr lang="en-US" sz="2800" i="1" dirty="0"/>
              <a:t>Abstract specification:</a:t>
            </a:r>
            <a:r>
              <a:rPr lang="en-US" sz="2800" b="0" i="1" dirty="0"/>
              <a:t> </a:t>
            </a:r>
            <a:r>
              <a:rPr lang="en-US" sz="2800" b="0" dirty="0"/>
              <a:t>Specify sub-systems.</a:t>
            </a:r>
          </a:p>
          <a:p>
            <a:pPr marL="342900" indent="-342900">
              <a:lnSpc>
                <a:spcPct val="100000"/>
              </a:lnSpc>
              <a:buFont typeface="Arial" pitchFamily="34" charset="0"/>
              <a:buChar char="•"/>
            </a:pPr>
            <a:r>
              <a:rPr lang="en-US" sz="2800" i="1" dirty="0"/>
              <a:t>Interface design:</a:t>
            </a:r>
            <a:r>
              <a:rPr lang="en-US" sz="2800" b="0" i="1" dirty="0"/>
              <a:t> </a:t>
            </a:r>
            <a:r>
              <a:rPr lang="en-US" sz="2800" b="0" dirty="0"/>
              <a:t>Describe sub-system interfaces.</a:t>
            </a:r>
          </a:p>
          <a:p>
            <a:pPr marL="342900" indent="-342900">
              <a:lnSpc>
                <a:spcPct val="100000"/>
              </a:lnSpc>
              <a:buFont typeface="Arial" pitchFamily="34" charset="0"/>
              <a:buChar char="•"/>
            </a:pPr>
            <a:r>
              <a:rPr lang="en-US" sz="2800" i="1" dirty="0"/>
              <a:t>Component design:</a:t>
            </a:r>
            <a:r>
              <a:rPr lang="en-US" sz="2800" b="0" i="1" dirty="0"/>
              <a:t> </a:t>
            </a:r>
            <a:r>
              <a:rPr lang="en-US" sz="2800" b="0" dirty="0"/>
              <a:t>Decompose sub-systems </a:t>
            </a:r>
            <a:br>
              <a:rPr lang="en-US" sz="2800" b="0" dirty="0"/>
            </a:br>
            <a:r>
              <a:rPr lang="en-US" sz="2800" b="0" dirty="0"/>
              <a:t>into components.</a:t>
            </a:r>
          </a:p>
          <a:p>
            <a:pPr marL="342900" indent="-342900">
              <a:lnSpc>
                <a:spcPct val="100000"/>
              </a:lnSpc>
              <a:buFont typeface="Arial" pitchFamily="34" charset="0"/>
              <a:buChar char="•"/>
            </a:pPr>
            <a:r>
              <a:rPr lang="en-US" sz="2800" i="1" dirty="0"/>
              <a:t>Data structure design:</a:t>
            </a:r>
            <a:r>
              <a:rPr lang="en-US" sz="2800" b="0" dirty="0"/>
              <a:t> Design data structures to hold problem data.</a:t>
            </a:r>
          </a:p>
          <a:p>
            <a:pPr marL="342900" indent="-342900">
              <a:lnSpc>
                <a:spcPct val="100000"/>
              </a:lnSpc>
              <a:buFont typeface="Arial" pitchFamily="34" charset="0"/>
              <a:buChar char="•"/>
            </a:pPr>
            <a:r>
              <a:rPr lang="en-US" sz="2800" i="1" dirty="0"/>
              <a:t>Algorithm design:</a:t>
            </a:r>
            <a:r>
              <a:rPr lang="en-US" sz="2800" b="0" dirty="0"/>
              <a:t> Design algorithms for problem functions.</a:t>
            </a:r>
          </a:p>
        </p:txBody>
      </p:sp>
    </p:spTree>
    <p:extLst>
      <p:ext uri="{BB962C8B-B14F-4D97-AF65-F5344CB8AC3E}">
        <p14:creationId xmlns:p14="http://schemas.microsoft.com/office/powerpoint/2010/main" val="164101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Design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8036169" cy="4267200"/>
          </a:xfrm>
        </p:spPr>
        <p:txBody>
          <a:bodyPr/>
          <a:lstStyle/>
          <a:p>
            <a:r>
              <a:rPr lang="en-GB" sz="2800" dirty="0"/>
              <a:t>Computer systems are not monolithic: they are usually composed of multiple, interacting modules.</a:t>
            </a:r>
          </a:p>
          <a:p>
            <a:r>
              <a:rPr lang="en-GB" sz="2800" dirty="0"/>
              <a:t>Modularity has long been seen as a key to cheap, high quality software.</a:t>
            </a:r>
          </a:p>
          <a:p>
            <a:r>
              <a:rPr lang="en-GB" sz="2800" dirty="0"/>
              <a:t>The goal of system design is to decode:</a:t>
            </a:r>
          </a:p>
          <a:p>
            <a:pPr lvl="1"/>
            <a:r>
              <a:rPr lang="en-GB" sz="2400" dirty="0"/>
              <a:t>What the modules are;</a:t>
            </a:r>
          </a:p>
          <a:p>
            <a:pPr lvl="1"/>
            <a:r>
              <a:rPr lang="en-GB" sz="2400" dirty="0"/>
              <a:t>What the modules should be;</a:t>
            </a:r>
          </a:p>
          <a:p>
            <a:pPr lvl="1"/>
            <a:r>
              <a:rPr lang="en-GB" sz="2400" dirty="0"/>
              <a:t>How the modules interact with one-another</a:t>
            </a:r>
          </a:p>
        </p:txBody>
      </p:sp>
    </p:spTree>
    <p:extLst>
      <p:ext uri="{BB962C8B-B14F-4D97-AF65-F5344CB8AC3E}">
        <p14:creationId xmlns:p14="http://schemas.microsoft.com/office/powerpoint/2010/main" val="3378811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304800"/>
            <a:ext cx="3063241" cy="6019800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Cost  X :It is already defined and finalized </a:t>
            </a:r>
          </a:p>
          <a:p>
            <a:endParaRPr lang="en-US" b="1" dirty="0"/>
          </a:p>
          <a:p>
            <a:r>
              <a:rPr lang="en-US" b="1" dirty="0"/>
              <a:t>Sol 1</a:t>
            </a:r>
            <a:r>
              <a:rPr lang="en-US" dirty="0"/>
              <a:t> </a:t>
            </a:r>
          </a:p>
          <a:p>
            <a:r>
              <a:rPr lang="en-US" dirty="0"/>
              <a:t>1 S</a:t>
            </a:r>
          </a:p>
          <a:p>
            <a:r>
              <a:rPr lang="en-US" dirty="0"/>
              <a:t>4 modules</a:t>
            </a:r>
          </a:p>
          <a:p>
            <a:r>
              <a:rPr lang="en-US" dirty="0"/>
              <a:t>16 sub modules</a:t>
            </a:r>
          </a:p>
          <a:p>
            <a:r>
              <a:rPr lang="en-US" dirty="0"/>
              <a:t>64 components</a:t>
            </a:r>
          </a:p>
          <a:p>
            <a:r>
              <a:rPr lang="en-US" dirty="0"/>
              <a:t>256 sub components </a:t>
            </a:r>
          </a:p>
          <a:p>
            <a:endParaRPr lang="en-US" b="1" dirty="0"/>
          </a:p>
          <a:p>
            <a:r>
              <a:rPr lang="en-US" b="1" dirty="0"/>
              <a:t>Sol 2</a:t>
            </a:r>
          </a:p>
          <a:p>
            <a:r>
              <a:rPr lang="en-US" dirty="0"/>
              <a:t> 1 S</a:t>
            </a:r>
          </a:p>
          <a:p>
            <a:r>
              <a:rPr lang="en-US" dirty="0"/>
              <a:t>4 modules</a:t>
            </a:r>
          </a:p>
          <a:p>
            <a:r>
              <a:rPr lang="en-US" dirty="0"/>
              <a:t>16 sub modules</a:t>
            </a:r>
          </a:p>
          <a:p>
            <a:endParaRPr lang="en-US" dirty="0"/>
          </a:p>
          <a:p>
            <a:r>
              <a:rPr lang="en-US" b="1" dirty="0"/>
              <a:t>Sol 3</a:t>
            </a:r>
          </a:p>
          <a:p>
            <a:r>
              <a:rPr lang="en-US" dirty="0"/>
              <a:t> 1 S</a:t>
            </a:r>
          </a:p>
          <a:p>
            <a:r>
              <a:rPr lang="en-US" dirty="0"/>
              <a:t>4 modules</a:t>
            </a:r>
          </a:p>
          <a:p>
            <a:r>
              <a:rPr lang="en-US" dirty="0"/>
              <a:t>16 sub modules</a:t>
            </a:r>
          </a:p>
          <a:p>
            <a:r>
              <a:rPr lang="en-US" dirty="0"/>
              <a:t>64 components</a:t>
            </a:r>
          </a:p>
          <a:p>
            <a:endParaRPr lang="en-US" dirty="0"/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175759" y="152400"/>
            <a:ext cx="3063241" cy="60198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Sol 4</a:t>
            </a:r>
            <a:endParaRPr lang="en-US" dirty="0"/>
          </a:p>
          <a:p>
            <a:r>
              <a:rPr lang="en-US" dirty="0"/>
              <a:t>1 S</a:t>
            </a:r>
          </a:p>
          <a:p>
            <a:r>
              <a:rPr lang="en-US" dirty="0"/>
              <a:t>4 modules</a:t>
            </a:r>
          </a:p>
          <a:p>
            <a:r>
              <a:rPr lang="en-US" dirty="0"/>
              <a:t>16 sub modules</a:t>
            </a:r>
          </a:p>
          <a:p>
            <a:r>
              <a:rPr lang="en-US" dirty="0"/>
              <a:t>64 components</a:t>
            </a:r>
          </a:p>
          <a:p>
            <a:r>
              <a:rPr lang="en-US" dirty="0"/>
              <a:t>256 sub components </a:t>
            </a:r>
          </a:p>
          <a:p>
            <a:r>
              <a:rPr lang="en-US" dirty="0"/>
              <a:t>512 sub components </a:t>
            </a:r>
          </a:p>
          <a:p>
            <a:pPr marL="0" indent="0">
              <a:buNone/>
            </a:pPr>
            <a:endParaRPr lang="en-US" dirty="0"/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016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Hierarchical Design Structure</a:t>
            </a:r>
            <a:endParaRPr lang="en-GB"/>
          </a:p>
        </p:txBody>
      </p:sp>
      <p:pic>
        <p:nvPicPr>
          <p:cNvPr id="44035" name="Picture 3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7538" y="2006600"/>
            <a:ext cx="7913077" cy="3556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832546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E7DC77-239A-449C-9E3E-AC7B75A29A00}" type="slidenum">
              <a:rPr lang="en-US"/>
              <a:pPr/>
              <a:t>12</a:t>
            </a:fld>
            <a:endParaRPr lang="en-US"/>
          </a:p>
        </p:txBody>
      </p:sp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Design - 1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Software design is an artifact that represents a solution, showing its main features and behavior, and is the basis for implementing a program or collection of programs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19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2897D73-79D1-4E1B-867A-6923D244F9A5}" type="slidenum">
              <a:rPr lang="en-US"/>
              <a:pPr/>
              <a:t>13</a:t>
            </a:fld>
            <a:endParaRPr 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Software Design - 2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 dirty="0"/>
              <a:t>Design is a meaningful representation of something that is to be built.  It can be traced to a customer’s requirements and at the same time assessed for quality against a set of pre-defined criteria of “good” design  </a:t>
            </a:r>
          </a:p>
        </p:txBody>
      </p:sp>
    </p:spTree>
    <p:extLst>
      <p:ext uri="{BB962C8B-B14F-4D97-AF65-F5344CB8AC3E}">
        <p14:creationId xmlns:p14="http://schemas.microsoft.com/office/powerpoint/2010/main" val="30650486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DEBB8E-4453-44D3-B192-24B4503FA04E}" type="slidenum">
              <a:rPr lang="en-US"/>
              <a:pPr/>
              <a:t>14</a:t>
            </a:fld>
            <a:endParaRPr lang="en-US"/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Design - 3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Software design is different from other forms of design because it is not constrained by physical objects, structures, or laws</a:t>
            </a:r>
          </a:p>
          <a:p>
            <a:r>
              <a:rPr lang="en-US"/>
              <a:t>As a result, software design tends to be much more complex than other forms of design because it is conceptually unbounded, whereas the capabilities of the human mind are bounded</a:t>
            </a:r>
          </a:p>
        </p:txBody>
      </p:sp>
    </p:spTree>
    <p:extLst>
      <p:ext uri="{BB962C8B-B14F-4D97-AF65-F5344CB8AC3E}">
        <p14:creationId xmlns:p14="http://schemas.microsoft.com/office/powerpoint/2010/main" val="1748271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4862877-B0BA-4774-8B23-E7449952F8D3}" type="slidenum">
              <a:rPr lang="en-US"/>
              <a:pPr/>
              <a:t>15</a:t>
            </a:fld>
            <a:endParaRPr lang="en-US"/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Without Software Design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 dirty="0"/>
              <a:t>We risk building an unstable system</a:t>
            </a:r>
          </a:p>
          <a:p>
            <a:pPr lvl="1"/>
            <a:r>
              <a:rPr lang="en-US" dirty="0"/>
              <a:t>one that will fail when small changes are made</a:t>
            </a:r>
          </a:p>
          <a:p>
            <a:pPr lvl="1"/>
            <a:r>
              <a:rPr lang="en-US" dirty="0"/>
              <a:t>one that may be difficult to test</a:t>
            </a:r>
          </a:p>
          <a:p>
            <a:pPr lvl="1"/>
            <a:r>
              <a:rPr lang="en-US" dirty="0"/>
              <a:t>one whose quality cannot be assessed until late in the software process</a:t>
            </a:r>
          </a:p>
          <a:p>
            <a:pPr lvl="1"/>
            <a:r>
              <a:rPr lang="en-US" dirty="0"/>
              <a:t>one that will be of no or very little use for similar projects (not reusable)</a:t>
            </a:r>
          </a:p>
        </p:txBody>
      </p:sp>
    </p:spTree>
    <p:extLst>
      <p:ext uri="{BB962C8B-B14F-4D97-AF65-F5344CB8AC3E}">
        <p14:creationId xmlns:p14="http://schemas.microsoft.com/office/powerpoint/2010/main" val="406515015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8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</p:spPr>
        <p:txBody>
          <a:bodyPr/>
          <a:lstStyle/>
          <a:p>
            <a:fld id="{0F8744A6-2D57-442B-91EB-BDB8BA3E21FE}" type="slidenum">
              <a:rPr lang="en-US"/>
              <a:pPr/>
              <a:t>16</a:t>
            </a:fld>
            <a:endParaRPr lang="en-US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Design Process and Model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Software design is both a process and a model</a:t>
            </a:r>
          </a:p>
        </p:txBody>
      </p:sp>
    </p:spTree>
    <p:extLst>
      <p:ext uri="{BB962C8B-B14F-4D97-AF65-F5344CB8AC3E}">
        <p14:creationId xmlns:p14="http://schemas.microsoft.com/office/powerpoint/2010/main" val="250405306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22BD792-6181-4348-8CB2-DCA45D680EB1}" type="slidenum">
              <a:rPr lang="en-US"/>
              <a:pPr/>
              <a:t>17</a:t>
            </a:fld>
            <a:endParaRPr lang="en-US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Design Process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 sz="2800" dirty="0"/>
              <a:t>It is a sequence of steps that enables a designer to describe all aspects of the software to be built</a:t>
            </a:r>
          </a:p>
          <a:p>
            <a:r>
              <a:rPr lang="en-US" sz="2800" dirty="0"/>
              <a:t>During the design process, the quality of the evolving design is assessed with a series of formal technical reviews or design walkthroughs</a:t>
            </a:r>
          </a:p>
          <a:p>
            <a:r>
              <a:rPr lang="en-US" sz="2800" dirty="0"/>
              <a:t>Needs creative skills, past experience, sense of what makes “good” software, and an overall commitment to quality</a:t>
            </a:r>
          </a:p>
        </p:txBody>
      </p:sp>
    </p:spTree>
    <p:extLst>
      <p:ext uri="{BB962C8B-B14F-4D97-AF65-F5344CB8AC3E}">
        <p14:creationId xmlns:p14="http://schemas.microsoft.com/office/powerpoint/2010/main" val="261911955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36364F-6E5D-4677-8420-438F6F5422F3}" type="slidenum">
              <a:rPr lang="en-US"/>
              <a:pPr/>
              <a:t>18</a:t>
            </a:fld>
            <a:endParaRPr lang="en-US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Design Model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 dirty="0"/>
              <a:t>Equivalent to an architect’s plan for a house</a:t>
            </a:r>
          </a:p>
          <a:p>
            <a:r>
              <a:rPr lang="en-US" dirty="0"/>
              <a:t>Represents the totality of the thing to be built</a:t>
            </a:r>
          </a:p>
          <a:p>
            <a:r>
              <a:rPr lang="en-US" dirty="0"/>
              <a:t>Provides a variety of different views of the computer software</a:t>
            </a:r>
          </a:p>
        </p:txBody>
      </p:sp>
    </p:spTree>
    <p:extLst>
      <p:ext uri="{BB962C8B-B14F-4D97-AF65-F5344CB8AC3E}">
        <p14:creationId xmlns:p14="http://schemas.microsoft.com/office/powerpoint/2010/main" val="3987390603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8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</p:spPr>
        <p:txBody>
          <a:bodyPr/>
          <a:lstStyle/>
          <a:p>
            <a:fld id="{7A6BF015-0781-4AF1-AEB9-03A3D4502016}" type="slidenum">
              <a:rPr lang="en-US"/>
              <a:pPr/>
              <a:t>19</a:t>
            </a:fld>
            <a:endParaRPr lang="en-US"/>
          </a:p>
        </p:txBody>
      </p:sp>
      <p:sp>
        <p:nvSpPr>
          <p:cNvPr id="7475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 Defects</a:t>
            </a:r>
          </a:p>
        </p:txBody>
      </p:sp>
      <p:sp>
        <p:nvSpPr>
          <p:cNvPr id="74757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503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CA49B9-B704-4EB2-9262-8A165936E647}" type="slidenum">
              <a:rPr lang="en-US"/>
              <a:pPr/>
              <a:t>20</a:t>
            </a:fld>
            <a:endParaRPr lang="en-US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Design Defects - 1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8" tIns="44450" rIns="90488" bIns="44450"/>
          <a:lstStyle/>
          <a:p>
            <a:endParaRPr lang="en-US" dirty="0"/>
          </a:p>
          <a:p>
            <a:r>
              <a:rPr lang="en-US" dirty="0"/>
              <a:t>Defects introduced during </a:t>
            </a:r>
            <a:r>
              <a:rPr lang="en-US" b="1" dirty="0"/>
              <a:t>preliminary design</a:t>
            </a:r>
            <a:r>
              <a:rPr lang="en-US" dirty="0"/>
              <a:t> phase are usually not discovered until </a:t>
            </a:r>
            <a:r>
              <a:rPr lang="en-US" b="1" dirty="0"/>
              <a:t>integration testing</a:t>
            </a:r>
            <a:r>
              <a:rPr lang="en-US" dirty="0"/>
              <a:t>, which is too late in most cases</a:t>
            </a:r>
          </a:p>
          <a:p>
            <a:endParaRPr lang="en-US" dirty="0"/>
          </a:p>
          <a:p>
            <a:r>
              <a:rPr lang="en-US" dirty="0"/>
              <a:t>Defects introduced during </a:t>
            </a:r>
            <a:r>
              <a:rPr lang="en-US" b="1" dirty="0"/>
              <a:t>detailed design</a:t>
            </a:r>
            <a:r>
              <a:rPr lang="en-US" dirty="0"/>
              <a:t> phase are usually discovered during </a:t>
            </a:r>
            <a:r>
              <a:rPr lang="en-US" b="1" dirty="0"/>
              <a:t>unit testing </a:t>
            </a:r>
          </a:p>
        </p:txBody>
      </p:sp>
    </p:spTree>
    <p:extLst>
      <p:ext uri="{BB962C8B-B14F-4D97-AF65-F5344CB8AC3E}">
        <p14:creationId xmlns:p14="http://schemas.microsoft.com/office/powerpoint/2010/main" val="3415613508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BF95EF-DC07-4C7C-B096-FB43C6C6499C}" type="slidenum">
              <a:rPr lang="en-US"/>
              <a:pPr/>
              <a:t>21</a:t>
            </a:fld>
            <a:endParaRPr lang="en-US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Design Defects - 2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 dirty="0"/>
              <a:t>All four categories of defects are found in design models</a:t>
            </a:r>
          </a:p>
          <a:p>
            <a:pPr lvl="1"/>
            <a:r>
              <a:rPr lang="en-US" dirty="0"/>
              <a:t>Errors of commission (Something Wrong)</a:t>
            </a:r>
          </a:p>
          <a:p>
            <a:pPr lvl="1"/>
            <a:r>
              <a:rPr lang="en-US" dirty="0"/>
              <a:t>Errors of omission (Something left out)</a:t>
            </a:r>
          </a:p>
          <a:p>
            <a:pPr lvl="1"/>
            <a:r>
              <a:rPr lang="en-US" dirty="0"/>
              <a:t>Errors of clarity and ambiguity (Multiple interpretations of same thing)</a:t>
            </a:r>
          </a:p>
          <a:p>
            <a:pPr lvl="1"/>
            <a:r>
              <a:rPr lang="en-US" dirty="0"/>
              <a:t>Errors of speed and capacity (capability or shortage of time)</a:t>
            </a:r>
          </a:p>
          <a:p>
            <a:endParaRPr lang="en-US" dirty="0"/>
          </a:p>
          <a:p>
            <a:r>
              <a:rPr lang="en-US" dirty="0"/>
              <a:t>Code:</a:t>
            </a:r>
          </a:p>
          <a:p>
            <a:r>
              <a:rPr lang="en-US" b="1" dirty="0"/>
              <a:t>Application is working but not fast enough</a:t>
            </a:r>
          </a:p>
          <a:p>
            <a:r>
              <a:rPr lang="en-US" dirty="0"/>
              <a:t>Variable Limit (Error, limit cross) </a:t>
            </a:r>
          </a:p>
        </p:txBody>
      </p:sp>
    </p:spTree>
    <p:extLst>
      <p:ext uri="{BB962C8B-B14F-4D97-AF65-F5344CB8AC3E}">
        <p14:creationId xmlns:p14="http://schemas.microsoft.com/office/powerpoint/2010/main" val="103952008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8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</p:spPr>
        <p:txBody>
          <a:bodyPr/>
          <a:lstStyle/>
          <a:p>
            <a:fld id="{146ECD10-75AF-4D0A-A4A8-7C5C58DDC9AF}" type="slidenum">
              <a:rPr lang="en-US"/>
              <a:pPr/>
              <a:t>22</a:t>
            </a:fld>
            <a:endParaRPr lang="en-US"/>
          </a:p>
        </p:txBody>
      </p:sp>
      <p:sp>
        <p:nvSpPr>
          <p:cNvPr id="11162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 Process</a:t>
            </a:r>
          </a:p>
        </p:txBody>
      </p:sp>
    </p:spTree>
    <p:extLst>
      <p:ext uri="{BB962C8B-B14F-4D97-AF65-F5344CB8AC3E}">
        <p14:creationId xmlns:p14="http://schemas.microsoft.com/office/powerpoint/2010/main" val="17790914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2D1EFE-F752-4E29-8ABD-85852D3C588A}" type="slidenum">
              <a:rPr lang="en-US"/>
              <a:pPr/>
              <a:t>23</a:t>
            </a:fld>
            <a:endParaRPr lang="en-US"/>
          </a:p>
        </p:txBody>
      </p:sp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Process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design process produces </a:t>
            </a:r>
          </a:p>
          <a:p>
            <a:pPr lvl="1"/>
            <a:r>
              <a:rPr lang="en-US" dirty="0"/>
              <a:t>an architectural design</a:t>
            </a:r>
          </a:p>
          <a:p>
            <a:pPr lvl="1"/>
            <a:r>
              <a:rPr lang="en-US" dirty="0"/>
              <a:t>a component design</a:t>
            </a:r>
          </a:p>
          <a:p>
            <a:pPr lvl="1"/>
            <a:r>
              <a:rPr lang="en-US" dirty="0"/>
              <a:t>an interface design</a:t>
            </a:r>
          </a:p>
          <a:p>
            <a:pPr lvl="1"/>
            <a:r>
              <a:rPr lang="en-US" dirty="0"/>
              <a:t>a data design</a:t>
            </a:r>
          </a:p>
        </p:txBody>
      </p:sp>
    </p:spTree>
    <p:extLst>
      <p:ext uri="{BB962C8B-B14F-4D97-AF65-F5344CB8AC3E}">
        <p14:creationId xmlns:p14="http://schemas.microsoft.com/office/powerpoint/2010/main" val="13822337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F77B9C-7A30-4525-A813-6F2E1AD25702}" type="slidenum">
              <a:rPr lang="en-US"/>
              <a:pPr/>
              <a:t>24</a:t>
            </a:fld>
            <a:endParaRPr lang="en-US"/>
          </a:p>
        </p:txBody>
      </p:sp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Data Design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The data design transforms the information domain model created during analysis into the data structures that will be required to implement the software</a:t>
            </a:r>
          </a:p>
        </p:txBody>
      </p:sp>
    </p:spTree>
    <p:extLst>
      <p:ext uri="{BB962C8B-B14F-4D97-AF65-F5344CB8AC3E}">
        <p14:creationId xmlns:p14="http://schemas.microsoft.com/office/powerpoint/2010/main" val="567984022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2C00ECE-2BE0-49B5-AEA5-9B815BB58CF1}" type="slidenum">
              <a:rPr lang="en-US"/>
              <a:pPr/>
              <a:t>25</a:t>
            </a:fld>
            <a:endParaRPr lang="en-US"/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Architectural Design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It defines the relationship between major structural elements of the software.  Architectural design representation is derived from system specification, analysis model, and interaction of subsystems</a:t>
            </a:r>
          </a:p>
        </p:txBody>
      </p:sp>
    </p:spTree>
    <p:extLst>
      <p:ext uri="{BB962C8B-B14F-4D97-AF65-F5344CB8AC3E}">
        <p14:creationId xmlns:p14="http://schemas.microsoft.com/office/powerpoint/2010/main" val="3025383361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477A05-2A63-4196-A731-FE4B21FD4A21}" type="slidenum">
              <a:rPr lang="en-US"/>
              <a:pPr/>
              <a:t>26</a:t>
            </a:fld>
            <a:endParaRPr lang="en-US"/>
          </a:p>
        </p:txBody>
      </p:sp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Interface Design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Interface design describes how the software communicates within itself, with systems that interoperate with it, and with humans who use it.  An interface implies a flow of information</a:t>
            </a:r>
          </a:p>
        </p:txBody>
      </p:sp>
    </p:spTree>
    <p:extLst>
      <p:ext uri="{BB962C8B-B14F-4D97-AF65-F5344CB8AC3E}">
        <p14:creationId xmlns:p14="http://schemas.microsoft.com/office/powerpoint/2010/main" val="1504915375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5E953D-4714-4A63-B810-D87131B5733E}" type="slidenum">
              <a:rPr lang="en-US"/>
              <a:pPr/>
              <a:t>27</a:t>
            </a:fld>
            <a:endParaRPr lang="en-US"/>
          </a:p>
        </p:txBody>
      </p:sp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Component Design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Component-level design transforms structural elements of software architecture into a procedural description of software components</a:t>
            </a:r>
          </a:p>
        </p:txBody>
      </p:sp>
    </p:spTree>
    <p:extLst>
      <p:ext uri="{BB962C8B-B14F-4D97-AF65-F5344CB8AC3E}">
        <p14:creationId xmlns:p14="http://schemas.microsoft.com/office/powerpoint/2010/main" val="1896868878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DBB710B-3F65-4AC9-AECF-9D49CED7ECE6}" type="slidenum">
              <a:rPr lang="en-US"/>
              <a:pPr/>
              <a:t>28</a:t>
            </a:fld>
            <a:endParaRPr lang="en-US"/>
          </a:p>
        </p:txBody>
      </p:sp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Think the Right Way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To achieve a good design, people have to think the right way about how to conduct the design activity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Katharine Whitehead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480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334402-3D5D-40DC-B20E-81F7EBCCFFE9}" type="slidenum">
              <a:rPr lang="en-US"/>
              <a:pPr/>
              <a:t>29</a:t>
            </a:fld>
            <a:endParaRPr lang="en-US"/>
          </a:p>
        </p:txBody>
      </p:sp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Design Process Principles - 1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The design process should not suffer from “tunnel vision”</a:t>
            </a:r>
          </a:p>
          <a:p>
            <a:r>
              <a:rPr lang="en-US"/>
              <a:t>The design should not reinvent the wheel</a:t>
            </a:r>
          </a:p>
          <a:p>
            <a:r>
              <a:rPr lang="en-US"/>
              <a:t>The design should “minimize the intellectual” distance between the software and the problem as it exists in the real world</a:t>
            </a:r>
          </a:p>
        </p:txBody>
      </p:sp>
    </p:spTree>
    <p:extLst>
      <p:ext uri="{BB962C8B-B14F-4D97-AF65-F5344CB8AC3E}">
        <p14:creationId xmlns:p14="http://schemas.microsoft.com/office/powerpoint/2010/main" val="1284682232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F74033-F26A-4527-93DA-A7DF293D8503}" type="slidenum">
              <a:rPr lang="en-US"/>
              <a:pPr/>
              <a:t>30</a:t>
            </a:fld>
            <a:endParaRPr lang="en-US"/>
          </a:p>
        </p:txBody>
      </p:sp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Design Process Principles - 2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The design should exhibit uniformity and integration</a:t>
            </a:r>
          </a:p>
          <a:p>
            <a:r>
              <a:rPr lang="en-US"/>
              <a:t>The design should be assessed for quality as it is being created, not after the fact</a:t>
            </a:r>
          </a:p>
          <a:p>
            <a:r>
              <a:rPr lang="en-US"/>
              <a:t>The design should be reviewed to minimize conceptual (semantic) errors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49193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91CA4-6A48-499A-877A-CF421D11B3F1}" type="slidenum">
              <a:rPr lang="en-US"/>
              <a:pPr/>
              <a:t>31</a:t>
            </a:fld>
            <a:endParaRPr lang="en-US"/>
          </a:p>
        </p:txBody>
      </p:sp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When Applying them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Plan for change, because it is expected</a:t>
            </a:r>
          </a:p>
          <a:p>
            <a:r>
              <a:rPr lang="en-US" dirty="0"/>
              <a:t>Plan for failure, because no software system is free of defects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>
              <a:buNone/>
            </a:pPr>
            <a:r>
              <a:rPr lang="en-US" i="1" dirty="0"/>
              <a:t>How do we know if the design we have developed is of high quality?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9391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BA8A2-CD42-42E3-B423-7637488DADD4}" type="slidenum">
              <a:rPr lang="en-US"/>
              <a:pPr/>
              <a:t>32</a:t>
            </a:fld>
            <a:endParaRPr lang="en-US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>
            <a:normAutofit/>
          </a:bodyPr>
          <a:lstStyle/>
          <a:p>
            <a:r>
              <a:rPr lang="en-US" sz="4000"/>
              <a:t>Design Process Evaluation Guide # 1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 dirty="0"/>
              <a:t>The design must implement all of the explicit requirements contained in the analysis model, and it must accommodate all of the implicit requirements desired by the customer</a:t>
            </a:r>
          </a:p>
        </p:txBody>
      </p:sp>
    </p:spTree>
    <p:extLst>
      <p:ext uri="{BB962C8B-B14F-4D97-AF65-F5344CB8AC3E}">
        <p14:creationId xmlns:p14="http://schemas.microsoft.com/office/powerpoint/2010/main" val="1447360444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34483F3-7572-4F4E-BF9D-ABEA4BB519EA}" type="slidenum">
              <a:rPr lang="en-US"/>
              <a:pPr/>
              <a:t>33</a:t>
            </a:fld>
            <a:endParaRPr lang="en-US"/>
          </a:p>
        </p:txBody>
      </p:sp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Design Process Evaluation Guide # 2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design must be readable and understandable guide for those who generate code, write test cases, and test the software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5782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C1EE5A-73F5-44D3-AC81-AD5AC0C6EA0E}" type="slidenum">
              <a:rPr lang="en-US"/>
              <a:pPr/>
              <a:t>34</a:t>
            </a:fld>
            <a:endParaRPr lang="en-US"/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>
            <a:normAutofit/>
          </a:bodyPr>
          <a:lstStyle/>
          <a:p>
            <a:r>
              <a:rPr lang="en-US" sz="4000"/>
              <a:t>Design Process Evaluation Guide # 3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 dirty="0"/>
              <a:t>The design should provide a complete picture of the software, addressing the data, functional, and behavioral domains from an implementation perspective</a:t>
            </a:r>
          </a:p>
        </p:txBody>
      </p:sp>
    </p:spTree>
    <p:extLst>
      <p:ext uri="{BB962C8B-B14F-4D97-AF65-F5344CB8AC3E}">
        <p14:creationId xmlns:p14="http://schemas.microsoft.com/office/powerpoint/2010/main" val="2987727825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8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</p:spPr>
        <p:txBody>
          <a:bodyPr/>
          <a:lstStyle/>
          <a:p>
            <a:fld id="{BB91BB56-A109-4627-B68C-9E49C747ECF7}" type="slidenum">
              <a:rPr lang="en-US"/>
              <a:pPr/>
              <a:t>35</a:t>
            </a:fld>
            <a:endParaRPr lang="en-US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400"/>
              <a:t>Design Model/Representation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4947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8EE0CAA-D350-45A8-A13D-AA950702C24A}" type="slidenum">
              <a:rPr lang="en-US"/>
              <a:pPr/>
              <a:t>36</a:t>
            </a:fld>
            <a:endParaRPr lang="en-US"/>
          </a:p>
        </p:txBody>
      </p:sp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Model Principles - 1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Separation of concerns</a:t>
            </a:r>
          </a:p>
          <a:p>
            <a:r>
              <a:rPr lang="en-US" dirty="0"/>
              <a:t>Modeling real-world objects</a:t>
            </a:r>
          </a:p>
          <a:p>
            <a:r>
              <a:rPr lang="en-US" dirty="0"/>
              <a:t>Minimizing the interactions among cohesive design components</a:t>
            </a:r>
          </a:p>
          <a:p>
            <a:r>
              <a:rPr lang="en-US" dirty="0"/>
              <a:t>The design should be traceable to the analysis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8691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D9D550-072B-40ED-B055-886469DA8295}" type="slidenum">
              <a:rPr lang="en-US"/>
              <a:pPr/>
              <a:t>37</a:t>
            </a:fld>
            <a:endParaRPr lang="en-US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Model Principles - 2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design should be structured to accommodate change</a:t>
            </a:r>
          </a:p>
          <a:p>
            <a:r>
              <a:rPr lang="en-US" dirty="0"/>
              <a:t>The design should be structured to degrade gently, even when aberrant data, events, or operating conditions are encountered</a:t>
            </a:r>
          </a:p>
          <a:p>
            <a:r>
              <a:rPr lang="en-US" dirty="0"/>
              <a:t>Design is not coding, coding is not design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1431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AF37F1-EF93-455C-80F0-9CB85F6F6DEE}" type="slidenum">
              <a:rPr lang="en-US"/>
              <a:pPr/>
              <a:t>38</a:t>
            </a:fld>
            <a:endParaRPr lang="en-US"/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>
            <a:normAutofit/>
          </a:bodyPr>
          <a:lstStyle/>
          <a:p>
            <a:r>
              <a:rPr lang="en-US" sz="3600"/>
              <a:t>Guidelines for Good Design Model - 1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 dirty="0"/>
              <a:t>A design should exhibit an architectural structure that</a:t>
            </a:r>
          </a:p>
          <a:p>
            <a:pPr lvl="1"/>
            <a:r>
              <a:rPr lang="en-US" dirty="0"/>
              <a:t>Has been created using recognizable design patterns</a:t>
            </a:r>
          </a:p>
          <a:p>
            <a:pPr lvl="1"/>
            <a:r>
              <a:rPr lang="en-US" dirty="0"/>
              <a:t>Is composed of components that exhibit good design characteristics</a:t>
            </a:r>
          </a:p>
          <a:p>
            <a:pPr lvl="1"/>
            <a:r>
              <a:rPr lang="en-US" dirty="0"/>
              <a:t>Can be implemented in an evolutionary fashion, facilitating implementation and testing</a:t>
            </a:r>
          </a:p>
        </p:txBody>
      </p:sp>
    </p:spTree>
    <p:extLst>
      <p:ext uri="{BB962C8B-B14F-4D97-AF65-F5344CB8AC3E}">
        <p14:creationId xmlns:p14="http://schemas.microsoft.com/office/powerpoint/2010/main" val="1375746944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2E38D17-B4A8-4033-8DB0-3508B825097B}" type="slidenum">
              <a:rPr lang="en-US"/>
              <a:pPr/>
              <a:t>39</a:t>
            </a:fld>
            <a:endParaRPr lang="en-US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>
            <a:normAutofit/>
          </a:bodyPr>
          <a:lstStyle/>
          <a:p>
            <a:r>
              <a:rPr lang="en-US" sz="3600"/>
              <a:t>Guidelines for Good Design Model - 2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A design should be modular; that is software should be logically partitioned into elements that perform specific functions and sub-functions</a:t>
            </a:r>
          </a:p>
          <a:p>
            <a:r>
              <a:rPr lang="en-US"/>
              <a:t>The design should contain distinct representations of data, architecture, interfaces, and components (modules)</a:t>
            </a:r>
          </a:p>
        </p:txBody>
      </p:sp>
    </p:spTree>
    <p:extLst>
      <p:ext uri="{BB962C8B-B14F-4D97-AF65-F5344CB8AC3E}">
        <p14:creationId xmlns:p14="http://schemas.microsoft.com/office/powerpoint/2010/main" val="1484778798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E97196-B5E4-4080-A97C-05F24CD10F28}" type="slidenum">
              <a:rPr lang="en-US"/>
              <a:pPr/>
              <a:t>40</a:t>
            </a:fld>
            <a:endParaRPr lang="en-US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>
            <a:normAutofit/>
          </a:bodyPr>
          <a:lstStyle/>
          <a:p>
            <a:r>
              <a:rPr lang="en-US" sz="3600"/>
              <a:t>Guidelines for Good Design Model - 3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A design should lead to data structures that are appropriate for the objects to be implemented and are drawn from recognizable data patterns</a:t>
            </a:r>
          </a:p>
          <a:p>
            <a:r>
              <a:rPr lang="en-US"/>
              <a:t>A design should lead to components that exhibit independent functional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4035773993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CC2FB9-9D87-41F1-A604-E572AD39D5B1}" type="slidenum">
              <a:rPr lang="en-US"/>
              <a:pPr/>
              <a:t>41</a:t>
            </a:fld>
            <a:endParaRPr lang="en-US"/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>
            <a:normAutofit/>
          </a:bodyPr>
          <a:lstStyle/>
          <a:p>
            <a:r>
              <a:rPr lang="en-US" sz="3600"/>
              <a:t>Guidelines for Good Design Model - 4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A design should lead to interfaces that reduce the complexity of connections between modules and with external environment</a:t>
            </a:r>
          </a:p>
          <a:p>
            <a:r>
              <a:rPr lang="en-US"/>
              <a:t>A design should be derived using a repeatable method that is driven by information obtained during software requirements analysis </a:t>
            </a:r>
          </a:p>
        </p:txBody>
      </p:sp>
    </p:spTree>
    <p:extLst>
      <p:ext uri="{BB962C8B-B14F-4D97-AF65-F5344CB8AC3E}">
        <p14:creationId xmlns:p14="http://schemas.microsoft.com/office/powerpoint/2010/main" val="2877620623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FE1FF76-A5BC-4756-B9DB-6FFD91661A9F}" type="slidenum">
              <a:rPr lang="en-US"/>
              <a:pPr/>
              <a:t>42</a:t>
            </a:fld>
            <a:endParaRPr lang="en-US"/>
          </a:p>
        </p:txBody>
      </p:sp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Abstraction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Abstraction permits one to concentrate on a problem at some level of generalization without regard to irrelevant low-level details</a:t>
            </a:r>
          </a:p>
          <a:p>
            <a:r>
              <a:rPr lang="en-US" dirty="0"/>
              <a:t>Abstraction is one of the fundamental ways that we as humans cope with complexity</a:t>
            </a:r>
          </a:p>
          <a:p>
            <a:pPr lvl="4" algn="r">
              <a:buNone/>
            </a:pPr>
            <a:r>
              <a:rPr lang="en-US" dirty="0"/>
              <a:t>Grady </a:t>
            </a:r>
            <a:r>
              <a:rPr lang="en-US" dirty="0" err="1"/>
              <a:t>Booch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4624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58603AD-1B82-46AC-9F21-9D2086DC39F6}" type="slidenum">
              <a:rPr lang="en-US"/>
              <a:pPr/>
              <a:t>43</a:t>
            </a:fld>
            <a:endParaRPr lang="en-US"/>
          </a:p>
        </p:txBody>
      </p:sp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Levels of Abstraction - 1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At the highest level of abstraction, a solution is stated in broad terms using the language of the problem environment</a:t>
            </a:r>
          </a:p>
          <a:p>
            <a:r>
              <a:rPr lang="en-US"/>
              <a:t>At lower levels of abstraction, a more procedural orientation is taken. Problem-oriented terminology is coupled with implementation-oriented terminology in an effort to state a solution</a:t>
            </a:r>
          </a:p>
        </p:txBody>
      </p:sp>
    </p:spTree>
    <p:extLst>
      <p:ext uri="{BB962C8B-B14F-4D97-AF65-F5344CB8AC3E}">
        <p14:creationId xmlns:p14="http://schemas.microsoft.com/office/powerpoint/2010/main" val="23646047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D1FD6AC-B972-4757-99B9-EC66004F3708}" type="slidenum">
              <a:rPr lang="en-US"/>
              <a:pPr/>
              <a:t>44</a:t>
            </a:fld>
            <a:endParaRPr lang="en-US"/>
          </a:p>
        </p:txBody>
      </p:sp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Levels of Abstraction - 2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the lowest level of abstraction, the solution is stated in a manner that can be directly implemented</a:t>
            </a:r>
          </a:p>
        </p:txBody>
      </p:sp>
    </p:spTree>
    <p:extLst>
      <p:ext uri="{BB962C8B-B14F-4D97-AF65-F5344CB8AC3E}">
        <p14:creationId xmlns:p14="http://schemas.microsoft.com/office/powerpoint/2010/main" val="22496693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9D3AE8-AC1E-4749-AB75-C3A5BE553D3C}" type="slidenum">
              <a:rPr lang="en-US"/>
              <a:pPr/>
              <a:t>45</a:t>
            </a:fld>
            <a:endParaRPr lang="en-US"/>
          </a:p>
        </p:txBody>
      </p:sp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Types of Abstraction - 1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 dirty="0"/>
              <a:t>Procedural abstraction</a:t>
            </a:r>
          </a:p>
          <a:p>
            <a:pPr lvl="1"/>
            <a:r>
              <a:rPr lang="en-US" dirty="0"/>
              <a:t>Named sequence of instructions that has a specific and limited function</a:t>
            </a:r>
          </a:p>
          <a:p>
            <a:pPr lvl="1"/>
            <a:r>
              <a:rPr lang="en-US" dirty="0"/>
              <a:t>Example: Open door</a:t>
            </a:r>
          </a:p>
          <a:p>
            <a:r>
              <a:rPr lang="en-US" dirty="0"/>
              <a:t>Data abstraction</a:t>
            </a:r>
          </a:p>
          <a:p>
            <a:pPr lvl="1"/>
            <a:r>
              <a:rPr lang="en-US" dirty="0"/>
              <a:t>Named collection of data that describes a data object</a:t>
            </a:r>
          </a:p>
          <a:p>
            <a:pPr lvl="1"/>
            <a:r>
              <a:rPr lang="en-US" dirty="0"/>
              <a:t>Example: any object</a:t>
            </a:r>
          </a:p>
        </p:txBody>
      </p:sp>
    </p:spTree>
    <p:extLst>
      <p:ext uri="{BB962C8B-B14F-4D97-AF65-F5344CB8AC3E}">
        <p14:creationId xmlns:p14="http://schemas.microsoft.com/office/powerpoint/2010/main" val="3886765098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4B65E8E-D6CC-41FC-BDBE-255550DA3965}" type="slidenum">
              <a:rPr lang="en-US"/>
              <a:pPr/>
              <a:t>46</a:t>
            </a:fld>
            <a:endParaRPr lang="en-US"/>
          </a:p>
        </p:txBody>
      </p:sp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Abstraction - 2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Control abstraction</a:t>
            </a:r>
          </a:p>
          <a:p>
            <a:pPr lvl="1"/>
            <a:r>
              <a:rPr lang="en-US"/>
              <a:t>Implies a program control mechanism without specifying internal details</a:t>
            </a:r>
          </a:p>
          <a:p>
            <a:pPr lvl="1"/>
            <a:r>
              <a:rPr lang="en-US"/>
              <a:t>Example: synchronization semaphore</a:t>
            </a:r>
          </a:p>
        </p:txBody>
      </p:sp>
    </p:spTree>
    <p:extLst>
      <p:ext uri="{BB962C8B-B14F-4D97-AF65-F5344CB8AC3E}">
        <p14:creationId xmlns:p14="http://schemas.microsoft.com/office/powerpoint/2010/main" val="40768692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3A33D8-76F8-41AC-8990-776E852A1439}" type="slidenum">
              <a:rPr lang="en-US"/>
              <a:pPr/>
              <a:t>47</a:t>
            </a:fld>
            <a:endParaRPr lang="en-US"/>
          </a:p>
        </p:txBody>
      </p:sp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Refinement - 1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A program is developed by successively refining levels of procedural detail</a:t>
            </a:r>
          </a:p>
          <a:p>
            <a:pPr>
              <a:lnSpc>
                <a:spcPct val="90000"/>
              </a:lnSpc>
            </a:pPr>
            <a:r>
              <a:rPr lang="en-US"/>
              <a:t>A hierarchy is developed decomposing a macroscopic statement of function in a step-wise fashion until programming language statements are reached</a:t>
            </a:r>
          </a:p>
          <a:p>
            <a:pPr>
              <a:lnSpc>
                <a:spcPct val="90000"/>
              </a:lnSpc>
            </a:pPr>
            <a:r>
              <a:rPr lang="en-US"/>
              <a:t>Refinement is actually a process of elaboration</a:t>
            </a:r>
          </a:p>
        </p:txBody>
      </p:sp>
    </p:spTree>
    <p:extLst>
      <p:ext uri="{BB962C8B-B14F-4D97-AF65-F5344CB8AC3E}">
        <p14:creationId xmlns:p14="http://schemas.microsoft.com/office/powerpoint/2010/main" val="4563683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8F5545-34DA-4C02-86A1-C17350BD91E0}" type="slidenum">
              <a:rPr lang="en-US"/>
              <a:pPr/>
              <a:t>48</a:t>
            </a:fld>
            <a:endParaRPr lang="en-US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Refinement - 2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There is a tendency to move immediately to full detail, skipping the refinement steps.  This leads to errors and omissions and makes the design much mode difficult to review.  Perform stepwise refinement</a:t>
            </a:r>
          </a:p>
          <a:p>
            <a:r>
              <a:rPr lang="en-US"/>
              <a:t>Abstraction and refinement are complementary concepts</a:t>
            </a:r>
          </a:p>
        </p:txBody>
      </p:sp>
    </p:spTree>
    <p:extLst>
      <p:ext uri="{BB962C8B-B14F-4D97-AF65-F5344CB8AC3E}">
        <p14:creationId xmlns:p14="http://schemas.microsoft.com/office/powerpoint/2010/main" val="2010430955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B21D76-7165-4517-BC60-08BC34CF9682}" type="slidenum">
              <a:rPr lang="en-US"/>
              <a:pPr/>
              <a:t>49</a:t>
            </a:fld>
            <a:endParaRPr lang="en-US"/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Modularity - 1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One of the oldest concepts in software design</a:t>
            </a:r>
          </a:p>
          <a:p>
            <a:r>
              <a:rPr lang="en-US"/>
              <a:t>Software is divided into separately named and addressable components, often called, modules, that are integrated to satisfy problem requirements</a:t>
            </a:r>
          </a:p>
        </p:txBody>
      </p:sp>
    </p:spTree>
    <p:extLst>
      <p:ext uri="{BB962C8B-B14F-4D97-AF65-F5344CB8AC3E}">
        <p14:creationId xmlns:p14="http://schemas.microsoft.com/office/powerpoint/2010/main" val="4191518096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DA8DB94-619A-43F2-8818-75B6621E4C65}" type="slidenum">
              <a:rPr lang="en-US"/>
              <a:pPr/>
              <a:t>50</a:t>
            </a:fld>
            <a:endParaRPr lang="en-US"/>
          </a:p>
        </p:txBody>
      </p:sp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Modularity - 2</a:t>
            </a:r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Modularity is the single attribute of software that allows a program to be intellectually manageable</a:t>
            </a:r>
          </a:p>
          <a:p>
            <a:r>
              <a:rPr lang="en-US"/>
              <a:t>Don’t over modularize.  The simplicity of each module will be overshadowed by the complexity of integration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986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8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</p:spPr>
        <p:txBody>
          <a:bodyPr/>
          <a:lstStyle/>
          <a:p>
            <a:fld id="{A25387F7-92A7-4EFD-9F1E-F9569D7A4E70}" type="slidenum">
              <a:rPr lang="en-US"/>
              <a:pPr/>
              <a:t>51</a:t>
            </a:fld>
            <a:endParaRPr lang="en-US"/>
          </a:p>
        </p:txBody>
      </p:sp>
      <p:sp>
        <p:nvSpPr>
          <p:cNvPr id="16589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Quality Design Concepts</a:t>
            </a:r>
          </a:p>
        </p:txBody>
      </p:sp>
      <p:sp>
        <p:nvSpPr>
          <p:cNvPr id="165893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2918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FFFFC1-F6B6-4514-A9B9-37061A2EC343}" type="slidenum">
              <a:rPr lang="en-US"/>
              <a:pPr/>
              <a:t>52</a:t>
            </a:fld>
            <a:endParaRPr lang="en-US"/>
          </a:p>
        </p:txBody>
      </p:sp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Information Hiding - 1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 sz="2800" dirty="0"/>
              <a:t>Modules should be specified and designed so that information (procedures and data) contained within a module is inaccessible to other modules that have no need for such information</a:t>
            </a:r>
          </a:p>
          <a:p>
            <a:r>
              <a:rPr lang="en-US" sz="2800" dirty="0"/>
              <a:t>IH means that effective modularity can be achieved by defining a set of independent modules that communicate with one another only that information necessary to achieve a software function</a:t>
            </a:r>
          </a:p>
        </p:txBody>
      </p:sp>
    </p:spTree>
    <p:extLst>
      <p:ext uri="{BB962C8B-B14F-4D97-AF65-F5344CB8AC3E}">
        <p14:creationId xmlns:p14="http://schemas.microsoft.com/office/powerpoint/2010/main" val="2040119839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86F6BCC-4572-40D1-8D9F-B85C998DB399}" type="slidenum">
              <a:rPr lang="en-US"/>
              <a:pPr/>
              <a:t>53</a:t>
            </a:fld>
            <a:endParaRPr lang="en-US"/>
          </a:p>
        </p:txBody>
      </p:sp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Information Hiding - 2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Abstraction helps to define the procedural (or informational) entities that make up the software</a:t>
            </a:r>
          </a:p>
          <a:p>
            <a:r>
              <a:rPr lang="en-US"/>
              <a:t>IH defines and enforces access constraints to both procedural detail within a module and any local data structure used by the module</a:t>
            </a:r>
          </a:p>
        </p:txBody>
      </p:sp>
    </p:spTree>
    <p:extLst>
      <p:ext uri="{BB962C8B-B14F-4D97-AF65-F5344CB8AC3E}">
        <p14:creationId xmlns:p14="http://schemas.microsoft.com/office/powerpoint/2010/main" val="4571960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514BF05-DC40-4F22-AAA1-908639691826}" type="slidenum">
              <a:rPr lang="en-US"/>
              <a:pPr/>
              <a:t>54</a:t>
            </a:fld>
            <a:endParaRPr lang="en-US"/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Cohesion - 1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 dirty="0"/>
              <a:t>Cohesion is the qualitative indication of the degree to which a module focuses on just one thing</a:t>
            </a:r>
          </a:p>
          <a:p>
            <a:r>
              <a:rPr lang="en-US" dirty="0"/>
              <a:t>In other words, cohesion is a measure of the relative functional strength of a module</a:t>
            </a:r>
          </a:p>
          <a:p>
            <a:r>
              <a:rPr lang="en-US" dirty="0"/>
              <a:t>A cohesive module performs one single task or is focused on one thing</a:t>
            </a:r>
          </a:p>
        </p:txBody>
      </p:sp>
    </p:spTree>
    <p:extLst>
      <p:ext uri="{BB962C8B-B14F-4D97-AF65-F5344CB8AC3E}">
        <p14:creationId xmlns:p14="http://schemas.microsoft.com/office/powerpoint/2010/main" val="3915429369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20470D-32A2-4D68-9AB8-008C95BB2260}" type="slidenum">
              <a:rPr lang="en-US"/>
              <a:pPr/>
              <a:t>55</a:t>
            </a:fld>
            <a:endParaRPr lang="en-US"/>
          </a:p>
        </p:txBody>
      </p:sp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Cohesion - 2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Highly cohesive modules are better, however, mid-range cohesion is acceptable</a:t>
            </a:r>
          </a:p>
          <a:p>
            <a:r>
              <a:rPr lang="en-US" dirty="0"/>
              <a:t>Low-end cohesion is very bad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2232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D75BE04-13FD-4DEF-AB83-EA6C73571D62}" type="slidenum">
              <a:rPr lang="en-US"/>
              <a:pPr/>
              <a:t>56</a:t>
            </a:fld>
            <a:endParaRPr lang="en-US"/>
          </a:p>
        </p:txBody>
      </p:sp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Coupling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 sz="2800" dirty="0"/>
              <a:t>Coupling is a qualitative indication of the degree to which a module is connected to other modules and to the outside world</a:t>
            </a:r>
          </a:p>
          <a:p>
            <a:r>
              <a:rPr lang="en-US" sz="2800" dirty="0"/>
              <a:t>In other words, coupling is a measure of interconnection among modules in a software structure</a:t>
            </a:r>
          </a:p>
          <a:p>
            <a:r>
              <a:rPr lang="en-US" sz="2800" dirty="0"/>
              <a:t>Loose coupling is better. Simple connectivity is easier to understand and less prone to “ripple effect”</a:t>
            </a:r>
          </a:p>
        </p:txBody>
      </p:sp>
    </p:spTree>
    <p:extLst>
      <p:ext uri="{BB962C8B-B14F-4D97-AF65-F5344CB8AC3E}">
        <p14:creationId xmlns:p14="http://schemas.microsoft.com/office/powerpoint/2010/main" val="806247156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44FD5E-BAF1-4B6A-AC74-736C62B25EAD}" type="slidenum">
              <a:rPr lang="en-US"/>
              <a:pPr/>
              <a:t>57</a:t>
            </a:fld>
            <a:endParaRPr lang="en-US"/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Design Methods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8" tIns="44450" rIns="90488" bIns="44450"/>
          <a:lstStyle/>
          <a:p>
            <a:pPr>
              <a:lnSpc>
                <a:spcPct val="90000"/>
              </a:lnSpc>
            </a:pPr>
            <a:r>
              <a:rPr lang="en-US" dirty="0"/>
              <a:t>Use a design method, which is most suitable for the problem at hand.  Don’t just use the latest or the most popular design method</a:t>
            </a:r>
          </a:p>
          <a:p>
            <a:pPr>
              <a:lnSpc>
                <a:spcPct val="90000"/>
              </a:lnSpc>
            </a:pPr>
            <a:r>
              <a:rPr lang="en-US" dirty="0"/>
              <a:t>There are many structured design and object-oriented design methods to choose from.</a:t>
            </a:r>
          </a:p>
        </p:txBody>
      </p:sp>
    </p:spTree>
    <p:extLst>
      <p:ext uri="{BB962C8B-B14F-4D97-AF65-F5344CB8AC3E}">
        <p14:creationId xmlns:p14="http://schemas.microsoft.com/office/powerpoint/2010/main" val="2502475148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Severity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Types of Errors</a:t>
            </a:r>
          </a:p>
          <a:p>
            <a:endParaRPr lang="en-US" dirty="0"/>
          </a:p>
          <a:p>
            <a:r>
              <a:rPr lang="en-US" dirty="0"/>
              <a:t>4 levels</a:t>
            </a:r>
          </a:p>
          <a:p>
            <a:r>
              <a:rPr lang="en-US" dirty="0"/>
              <a:t>Level 0 – Cosmetic Error 			1	4</a:t>
            </a:r>
          </a:p>
          <a:p>
            <a:r>
              <a:rPr lang="en-US" dirty="0"/>
              <a:t>Level 1 – Minor Errors			2	3</a:t>
            </a:r>
          </a:p>
          <a:p>
            <a:r>
              <a:rPr lang="en-US" dirty="0"/>
              <a:t>Level 2 – Major Errors			3	2</a:t>
            </a:r>
          </a:p>
          <a:p>
            <a:r>
              <a:rPr lang="en-US" dirty="0"/>
              <a:t>Level 3	- Total Application Crash 		4	1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86401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Requirement Errors</a:t>
            </a:r>
          </a:p>
          <a:p>
            <a:r>
              <a:rPr lang="en-US" dirty="0"/>
              <a:t>Design </a:t>
            </a:r>
          </a:p>
          <a:p>
            <a:r>
              <a:rPr lang="en-US" dirty="0"/>
              <a:t>Coding</a:t>
            </a:r>
          </a:p>
          <a:p>
            <a:r>
              <a:rPr lang="en-US" dirty="0"/>
              <a:t>Test Cases </a:t>
            </a:r>
          </a:p>
          <a:p>
            <a:r>
              <a:rPr lang="en-US" dirty="0"/>
              <a:t>Deployment</a:t>
            </a:r>
          </a:p>
          <a:p>
            <a:r>
              <a:rPr lang="en-US" dirty="0"/>
              <a:t>Maintenance </a:t>
            </a:r>
          </a:p>
        </p:txBody>
      </p:sp>
    </p:spTree>
    <p:extLst>
      <p:ext uri="{BB962C8B-B14F-4D97-AF65-F5344CB8AC3E}">
        <p14:creationId xmlns:p14="http://schemas.microsoft.com/office/powerpoint/2010/main" val="4446471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Types of Error 		</a:t>
            </a:r>
          </a:p>
          <a:p>
            <a:r>
              <a:rPr lang="en-US" b="1" dirty="0"/>
              <a:t>Sources of Error		</a:t>
            </a:r>
          </a:p>
          <a:p>
            <a:r>
              <a:rPr lang="en-US" b="1" dirty="0"/>
              <a:t>Severity 		</a:t>
            </a:r>
          </a:p>
        </p:txBody>
      </p:sp>
    </p:spTree>
    <p:extLst>
      <p:ext uri="{BB962C8B-B14F-4D97-AF65-F5344CB8AC3E}">
        <p14:creationId xmlns:p14="http://schemas.microsoft.com/office/powerpoint/2010/main" val="6875770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800</TotalTime>
  <Words>2104</Words>
  <Application>Microsoft Office PowerPoint</Application>
  <PresentationFormat>On-screen Show (4:3)</PresentationFormat>
  <Paragraphs>295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5" baseType="lpstr">
      <vt:lpstr>Arial</vt:lpstr>
      <vt:lpstr>Calibri</vt:lpstr>
      <vt:lpstr>Calibri Light</vt:lpstr>
      <vt:lpstr>Wingdings 3</vt:lpstr>
      <vt:lpstr>Retrospect</vt:lpstr>
      <vt:lpstr>Software Engineering</vt:lpstr>
      <vt:lpstr>PowerPoint Presentation</vt:lpstr>
      <vt:lpstr>Design?</vt:lpstr>
      <vt:lpstr>Software Design </vt:lpstr>
      <vt:lpstr>Stages of Design</vt:lpstr>
      <vt:lpstr>Stages of Design</vt:lpstr>
      <vt:lpstr>Phases in the Design Process</vt:lpstr>
      <vt:lpstr>Design Phases</vt:lpstr>
      <vt:lpstr>Design</vt:lpstr>
      <vt:lpstr>PowerPoint Presentation</vt:lpstr>
      <vt:lpstr>Hierarchical Design Structure</vt:lpstr>
      <vt:lpstr>Software Design - 1</vt:lpstr>
      <vt:lpstr>Software Design - 2</vt:lpstr>
      <vt:lpstr>Software Design - 3</vt:lpstr>
      <vt:lpstr>Without Software Design</vt:lpstr>
      <vt:lpstr>Design Process and Model</vt:lpstr>
      <vt:lpstr>Design Process</vt:lpstr>
      <vt:lpstr>Design Model</vt:lpstr>
      <vt:lpstr>Design Defects</vt:lpstr>
      <vt:lpstr>Design Defects - 1</vt:lpstr>
      <vt:lpstr>Design Defects - 2</vt:lpstr>
      <vt:lpstr>Design Process</vt:lpstr>
      <vt:lpstr>Design Process</vt:lpstr>
      <vt:lpstr>Data Design</vt:lpstr>
      <vt:lpstr>Architectural Design</vt:lpstr>
      <vt:lpstr>Interface Design</vt:lpstr>
      <vt:lpstr>Component Design</vt:lpstr>
      <vt:lpstr>Think the Right Way</vt:lpstr>
      <vt:lpstr>Design Process Principles - 1</vt:lpstr>
      <vt:lpstr>Design Process Principles - 2</vt:lpstr>
      <vt:lpstr>When Applying them</vt:lpstr>
      <vt:lpstr>Design Process Evaluation Guide # 1</vt:lpstr>
      <vt:lpstr>Design Process Evaluation Guide # 2</vt:lpstr>
      <vt:lpstr>Design Process Evaluation Guide # 3</vt:lpstr>
      <vt:lpstr>Design Model/Representation</vt:lpstr>
      <vt:lpstr>Design Model Principles - 1</vt:lpstr>
      <vt:lpstr>Design Model Principles - 2</vt:lpstr>
      <vt:lpstr>Guidelines for Good Design Model - 1</vt:lpstr>
      <vt:lpstr>Guidelines for Good Design Model - 2</vt:lpstr>
      <vt:lpstr>Guidelines for Good Design Model - 3</vt:lpstr>
      <vt:lpstr>Guidelines for Good Design Model - 4</vt:lpstr>
      <vt:lpstr>Abstraction</vt:lpstr>
      <vt:lpstr>Levels of Abstraction - 1</vt:lpstr>
      <vt:lpstr>Levels of Abstraction - 2</vt:lpstr>
      <vt:lpstr>Types of Abstraction - 1</vt:lpstr>
      <vt:lpstr>Types of Abstraction - 2</vt:lpstr>
      <vt:lpstr>Refinement - 1</vt:lpstr>
      <vt:lpstr>Refinement - 2</vt:lpstr>
      <vt:lpstr>Modularity - 1</vt:lpstr>
      <vt:lpstr>Modularity - 2</vt:lpstr>
      <vt:lpstr>Quality Design Concepts</vt:lpstr>
      <vt:lpstr>Information Hiding - 1</vt:lpstr>
      <vt:lpstr>Information Hiding - 2</vt:lpstr>
      <vt:lpstr>Cohesion - 1</vt:lpstr>
      <vt:lpstr>Cohesion - 2</vt:lpstr>
      <vt:lpstr>Coupling</vt:lpstr>
      <vt:lpstr>Design Methods</vt:lpstr>
      <vt:lpstr>Severity Levels</vt:lpstr>
      <vt:lpstr>Sources of Errors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Design &amp; Architecture </dc:title>
  <dc:creator/>
  <cp:lastModifiedBy>Natash Ali</cp:lastModifiedBy>
  <cp:revision>166</cp:revision>
  <dcterms:created xsi:type="dcterms:W3CDTF">2006-08-16T00:00:00Z</dcterms:created>
  <dcterms:modified xsi:type="dcterms:W3CDTF">2026-01-11T17:32:18Z</dcterms:modified>
</cp:coreProperties>
</file>