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notesMasterIdLst>
    <p:notesMasterId r:id="rId51"/>
  </p:notesMasterIdLst>
  <p:sldIdLst>
    <p:sldId id="547" r:id="rId2"/>
    <p:sldId id="569" r:id="rId3"/>
    <p:sldId id="413" r:id="rId4"/>
    <p:sldId id="414" r:id="rId5"/>
    <p:sldId id="415" r:id="rId6"/>
    <p:sldId id="416" r:id="rId7"/>
    <p:sldId id="417" r:id="rId8"/>
    <p:sldId id="418" r:id="rId9"/>
    <p:sldId id="419" r:id="rId10"/>
    <p:sldId id="420" r:id="rId11"/>
    <p:sldId id="570" r:id="rId12"/>
    <p:sldId id="421" r:id="rId13"/>
    <p:sldId id="422" r:id="rId14"/>
    <p:sldId id="546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549" r:id="rId36"/>
    <p:sldId id="550" r:id="rId37"/>
    <p:sldId id="551" r:id="rId38"/>
    <p:sldId id="558" r:id="rId39"/>
    <p:sldId id="559" r:id="rId40"/>
    <p:sldId id="560" r:id="rId41"/>
    <p:sldId id="561" r:id="rId42"/>
    <p:sldId id="562" r:id="rId43"/>
    <p:sldId id="563" r:id="rId44"/>
    <p:sldId id="564" r:id="rId45"/>
    <p:sldId id="565" r:id="rId46"/>
    <p:sldId id="566" r:id="rId47"/>
    <p:sldId id="567" r:id="rId48"/>
    <p:sldId id="568" r:id="rId49"/>
    <p:sldId id="451" r:id="rId5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sh Ali" userId="1ac103110393f6c6" providerId="LiveId" clId="{EEE5BB09-A381-4C9A-9F35-98449A51ACC2}"/>
    <pc:docChg chg="undo custSel addSld delSld">
      <pc:chgData name="Natash Ali" userId="1ac103110393f6c6" providerId="LiveId" clId="{EEE5BB09-A381-4C9A-9F35-98449A51ACC2}" dt="2026-01-11T16:48:21.779" v="21" actId="47"/>
      <pc:docMkLst>
        <pc:docMk/>
      </pc:docMkLst>
      <pc:sldChg chg="del">
        <pc:chgData name="Natash Ali" userId="1ac103110393f6c6" providerId="LiveId" clId="{EEE5BB09-A381-4C9A-9F35-98449A51ACC2}" dt="2026-01-11T16:48:21.779" v="21" actId="47"/>
        <pc:sldMkLst>
          <pc:docMk/>
          <pc:sldMk cId="0" sldId="412"/>
        </pc:sldMkLst>
      </pc:sldChg>
      <pc:sldChg chg="del">
        <pc:chgData name="Natash Ali" userId="1ac103110393f6c6" providerId="LiveId" clId="{EEE5BB09-A381-4C9A-9F35-98449A51ACC2}" dt="2026-01-11T16:47:29.926" v="1" actId="47"/>
        <pc:sldMkLst>
          <pc:docMk/>
          <pc:sldMk cId="388624374" sldId="423"/>
        </pc:sldMkLst>
      </pc:sldChg>
      <pc:sldChg chg="del">
        <pc:chgData name="Natash Ali" userId="1ac103110393f6c6" providerId="LiveId" clId="{EEE5BB09-A381-4C9A-9F35-98449A51ACC2}" dt="2026-01-11T16:47:30.618" v="2" actId="47"/>
        <pc:sldMkLst>
          <pc:docMk/>
          <pc:sldMk cId="1211486584" sldId="424"/>
        </pc:sldMkLst>
      </pc:sldChg>
      <pc:sldChg chg="del">
        <pc:chgData name="Natash Ali" userId="1ac103110393f6c6" providerId="LiveId" clId="{EEE5BB09-A381-4C9A-9F35-98449A51ACC2}" dt="2026-01-11T16:47:31.413" v="3" actId="47"/>
        <pc:sldMkLst>
          <pc:docMk/>
          <pc:sldMk cId="3156037372" sldId="425"/>
        </pc:sldMkLst>
      </pc:sldChg>
      <pc:sldChg chg="del">
        <pc:chgData name="Natash Ali" userId="1ac103110393f6c6" providerId="LiveId" clId="{EEE5BB09-A381-4C9A-9F35-98449A51ACC2}" dt="2026-01-11T16:47:32.410" v="4" actId="47"/>
        <pc:sldMkLst>
          <pc:docMk/>
          <pc:sldMk cId="2332917434" sldId="426"/>
        </pc:sldMkLst>
      </pc:sldChg>
      <pc:sldChg chg="del">
        <pc:chgData name="Natash Ali" userId="1ac103110393f6c6" providerId="LiveId" clId="{EEE5BB09-A381-4C9A-9F35-98449A51ACC2}" dt="2026-01-11T16:47:33.233" v="5" actId="47"/>
        <pc:sldMkLst>
          <pc:docMk/>
          <pc:sldMk cId="2658663391" sldId="427"/>
        </pc:sldMkLst>
      </pc:sldChg>
      <pc:sldChg chg="del">
        <pc:chgData name="Natash Ali" userId="1ac103110393f6c6" providerId="LiveId" clId="{EEE5BB09-A381-4C9A-9F35-98449A51ACC2}" dt="2026-01-11T16:48:15.369" v="19" actId="47"/>
        <pc:sldMkLst>
          <pc:docMk/>
          <pc:sldMk cId="1255318003" sldId="449"/>
        </pc:sldMkLst>
      </pc:sldChg>
      <pc:sldChg chg="del">
        <pc:chgData name="Natash Ali" userId="1ac103110393f6c6" providerId="LiveId" clId="{EEE5BB09-A381-4C9A-9F35-98449A51ACC2}" dt="2026-01-11T16:48:16.850" v="20" actId="47"/>
        <pc:sldMkLst>
          <pc:docMk/>
          <pc:sldMk cId="3534186620" sldId="450"/>
        </pc:sldMkLst>
      </pc:sldChg>
      <pc:sldChg chg="del">
        <pc:chgData name="Natash Ali" userId="1ac103110393f6c6" providerId="LiveId" clId="{EEE5BB09-A381-4C9A-9F35-98449A51ACC2}" dt="2026-01-11T16:48:21.779" v="21" actId="47"/>
        <pc:sldMkLst>
          <pc:docMk/>
          <pc:sldMk cId="3704148393" sldId="452"/>
        </pc:sldMkLst>
      </pc:sldChg>
      <pc:sldChg chg="del">
        <pc:chgData name="Natash Ali" userId="1ac103110393f6c6" providerId="LiveId" clId="{EEE5BB09-A381-4C9A-9F35-98449A51ACC2}" dt="2026-01-11T16:48:21.779" v="21" actId="47"/>
        <pc:sldMkLst>
          <pc:docMk/>
          <pc:sldMk cId="2554554014" sldId="453"/>
        </pc:sldMkLst>
      </pc:sldChg>
      <pc:sldChg chg="del">
        <pc:chgData name="Natash Ali" userId="1ac103110393f6c6" providerId="LiveId" clId="{EEE5BB09-A381-4C9A-9F35-98449A51ACC2}" dt="2026-01-11T16:48:21.779" v="21" actId="47"/>
        <pc:sldMkLst>
          <pc:docMk/>
          <pc:sldMk cId="1173399313" sldId="454"/>
        </pc:sldMkLst>
      </pc:sldChg>
      <pc:sldChg chg="del">
        <pc:chgData name="Natash Ali" userId="1ac103110393f6c6" providerId="LiveId" clId="{EEE5BB09-A381-4C9A-9F35-98449A51ACC2}" dt="2026-01-11T16:48:21.779" v="21" actId="47"/>
        <pc:sldMkLst>
          <pc:docMk/>
          <pc:sldMk cId="2034298062" sldId="455"/>
        </pc:sldMkLst>
      </pc:sldChg>
      <pc:sldChg chg="del">
        <pc:chgData name="Natash Ali" userId="1ac103110393f6c6" providerId="LiveId" clId="{EEE5BB09-A381-4C9A-9F35-98449A51ACC2}" dt="2026-01-11T16:48:21.779" v="21" actId="47"/>
        <pc:sldMkLst>
          <pc:docMk/>
          <pc:sldMk cId="2775604451" sldId="456"/>
        </pc:sldMkLst>
      </pc:sldChg>
      <pc:sldChg chg="del">
        <pc:chgData name="Natash Ali" userId="1ac103110393f6c6" providerId="LiveId" clId="{EEE5BB09-A381-4C9A-9F35-98449A51ACC2}" dt="2026-01-11T16:47:34.427" v="6" actId="47"/>
        <pc:sldMkLst>
          <pc:docMk/>
          <pc:sldMk cId="1658323104" sldId="545"/>
        </pc:sldMkLst>
      </pc:sldChg>
      <pc:sldChg chg="del">
        <pc:chgData name="Natash Ali" userId="1ac103110393f6c6" providerId="LiveId" clId="{EEE5BB09-A381-4C9A-9F35-98449A51ACC2}" dt="2026-01-11T16:47:16.559" v="0" actId="47"/>
        <pc:sldMkLst>
          <pc:docMk/>
          <pc:sldMk cId="1970624686" sldId="548"/>
        </pc:sldMkLst>
      </pc:sldChg>
      <pc:sldChg chg="del">
        <pc:chgData name="Natash Ali" userId="1ac103110393f6c6" providerId="LiveId" clId="{EEE5BB09-A381-4C9A-9F35-98449A51ACC2}" dt="2026-01-11T16:47:53.305" v="7" actId="47"/>
        <pc:sldMkLst>
          <pc:docMk/>
          <pc:sldMk cId="4051293857" sldId="552"/>
        </pc:sldMkLst>
      </pc:sldChg>
      <pc:sldChg chg="del">
        <pc:chgData name="Natash Ali" userId="1ac103110393f6c6" providerId="LiveId" clId="{EEE5BB09-A381-4C9A-9F35-98449A51ACC2}" dt="2026-01-11T16:47:53.934" v="8" actId="47"/>
        <pc:sldMkLst>
          <pc:docMk/>
          <pc:sldMk cId="3091333737" sldId="553"/>
        </pc:sldMkLst>
      </pc:sldChg>
      <pc:sldChg chg="del">
        <pc:chgData name="Natash Ali" userId="1ac103110393f6c6" providerId="LiveId" clId="{EEE5BB09-A381-4C9A-9F35-98449A51ACC2}" dt="2026-01-11T16:47:55.132" v="9" actId="47"/>
        <pc:sldMkLst>
          <pc:docMk/>
          <pc:sldMk cId="1395880898" sldId="554"/>
        </pc:sldMkLst>
      </pc:sldChg>
      <pc:sldChg chg="add del">
        <pc:chgData name="Natash Ali" userId="1ac103110393f6c6" providerId="LiveId" clId="{EEE5BB09-A381-4C9A-9F35-98449A51ACC2}" dt="2026-01-11T16:48:01.206" v="16" actId="47"/>
        <pc:sldMkLst>
          <pc:docMk/>
          <pc:sldMk cId="4020764225" sldId="555"/>
        </pc:sldMkLst>
      </pc:sldChg>
      <pc:sldChg chg="add del">
        <pc:chgData name="Natash Ali" userId="1ac103110393f6c6" providerId="LiveId" clId="{EEE5BB09-A381-4C9A-9F35-98449A51ACC2}" dt="2026-01-11T16:48:01.608" v="17" actId="47"/>
        <pc:sldMkLst>
          <pc:docMk/>
          <pc:sldMk cId="3236668006" sldId="556"/>
        </pc:sldMkLst>
      </pc:sldChg>
      <pc:sldChg chg="add del">
        <pc:chgData name="Natash Ali" userId="1ac103110393f6c6" providerId="LiveId" clId="{EEE5BB09-A381-4C9A-9F35-98449A51ACC2}" dt="2026-01-11T16:48:02.905" v="18" actId="47"/>
        <pc:sldMkLst>
          <pc:docMk/>
          <pc:sldMk cId="1862908805" sldId="5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5AFF4B5-631B-4A70-8B99-E8FB8796DA97}" type="datetimeFigureOut">
              <a:rPr lang="en-US" smtClean="0"/>
              <a:pPr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CF2FD04-098F-426E-B64E-A486CBD14B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2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3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096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3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5127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0291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80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095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18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360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707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159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D7A2F4-68AB-4C94-961A-97A9545E0508}" type="slidenum"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497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1/11/2026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49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  <p:sldLayoutId id="2147483830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8239"/>
            <a:ext cx="7772400" cy="1829761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Software Engineering for 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648200"/>
            <a:ext cx="64008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Instructor : dr. </a:t>
            </a:r>
            <a:r>
              <a:rPr lang="en-US" dirty="0" err="1"/>
              <a:t>Natash</a:t>
            </a:r>
            <a:r>
              <a:rPr lang="en-US" dirty="0"/>
              <a:t> Ali </a:t>
            </a:r>
            <a:r>
              <a:rPr lang="en-US" dirty="0" err="1"/>
              <a:t>Mian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71600" y="5638800"/>
            <a:ext cx="64008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Computer and Information Technology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Beaconhouse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National University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0" y="3276600"/>
            <a:ext cx="3581400" cy="990600"/>
          </a:xfrm>
          <a:prstGeom prst="rect">
            <a:avLst/>
          </a:prstGeom>
        </p:spPr>
        <p:txBody>
          <a:bodyPr vert="horz" lIns="45720" rIns="45720">
            <a:normAutofit/>
          </a:bodyPr>
          <a:lstStyle/>
          <a:p>
            <a:pPr marL="0" marR="64008" lvl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48312"/>
              </a:buClr>
              <a:buSzPct val="68000"/>
              <a:buFont typeface="Wingdings 3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 </a:t>
            </a:r>
            <a:r>
              <a:rPr lang="en-US" sz="3200">
                <a:solidFill>
                  <a:srgbClr val="000000">
                    <a:lumMod val="95000"/>
                    <a:lumOff val="5000"/>
                  </a:srgbClr>
                </a:solidFill>
                <a:latin typeface="Calibri" panose="020F0502020204030204"/>
              </a:rPr>
              <a:t>4,5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95000"/>
                  <a:lumOff val="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1126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13867-946C-3ACD-7896-862A23D95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6D2A1-7566-E7C6-1010-0C37950A8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ctr"/>
            <a:endParaRPr lang="en-US" sz="6000" dirty="0"/>
          </a:p>
          <a:p>
            <a:pPr algn="ctr"/>
            <a:r>
              <a:rPr lang="en-US" sz="6000" dirty="0"/>
              <a:t>Requirement???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Features, Functionality of the system?</a:t>
            </a:r>
          </a:p>
          <a:p>
            <a:pPr algn="ctr"/>
            <a:r>
              <a:rPr lang="en-US" sz="1400" dirty="0"/>
              <a:t>Wanted or Needed?</a:t>
            </a:r>
          </a:p>
          <a:p>
            <a:pPr algn="ctr"/>
            <a:r>
              <a:rPr lang="en-US" sz="1400" dirty="0"/>
              <a:t>Needs?</a:t>
            </a:r>
          </a:p>
          <a:p>
            <a:pPr algn="ctr"/>
            <a:endParaRPr lang="en-US" sz="1400" dirty="0"/>
          </a:p>
          <a:p>
            <a:pPr algn="ctr"/>
            <a:r>
              <a:rPr lang="en-US" sz="4000" dirty="0"/>
              <a:t>Requirement Engineering?</a:t>
            </a:r>
          </a:p>
          <a:p>
            <a:pPr algn="ctr"/>
            <a:r>
              <a:rPr lang="en-US" sz="1900" dirty="0"/>
              <a:t>Gathering to Finalization.</a:t>
            </a:r>
          </a:p>
        </p:txBody>
      </p:sp>
    </p:spTree>
    <p:extLst>
      <p:ext uri="{BB962C8B-B14F-4D97-AF65-F5344CB8AC3E}">
        <p14:creationId xmlns:p14="http://schemas.microsoft.com/office/powerpoint/2010/main" val="422175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Requirements form the basis for all software products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Requirements engineering is the process, which enables us to systematically determine the requirements for a software product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8BEE08-2788-4106-AD58-14F6075B43A6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20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Something required, something wanted or needed</a:t>
            </a:r>
          </a:p>
          <a:p>
            <a:pPr lvl="1"/>
            <a:r>
              <a:rPr lang="en-US"/>
              <a:t>Webster’s dictionary</a:t>
            </a:r>
          </a:p>
          <a:p>
            <a:r>
              <a:rPr lang="en-US"/>
              <a:t>There is a huge difference between </a:t>
            </a:r>
            <a:r>
              <a:rPr lang="en-US" i="1"/>
              <a:t>wanted</a:t>
            </a:r>
            <a:r>
              <a:rPr lang="en-US"/>
              <a:t> and </a:t>
            </a:r>
            <a:r>
              <a:rPr lang="en-US" i="1"/>
              <a:t>needed </a:t>
            </a:r>
            <a:r>
              <a:rPr lang="en-US"/>
              <a:t>and it should be kept in mind all the time</a:t>
            </a:r>
          </a:p>
          <a:p>
            <a:endParaRPr lang="en-US" i="1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1BCB4-964F-4010-887B-49BC72FA0AA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7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- 1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complete description of </a:t>
            </a:r>
            <a:r>
              <a:rPr lang="en-US" i="1"/>
              <a:t>what</a:t>
            </a:r>
            <a:r>
              <a:rPr lang="en-US"/>
              <a:t> the software system will do without describing </a:t>
            </a:r>
            <a:r>
              <a:rPr lang="en-US" i="1"/>
              <a:t>how</a:t>
            </a:r>
            <a:r>
              <a:rPr lang="en-US"/>
              <a:t> it will do it is represented by the software requirements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DF9B9E-CA81-4209-8308-7B1D6B17D5BB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741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- 2</a:t>
            </a:r>
          </a:p>
        </p:txBody>
      </p:sp>
      <p:sp>
        <p:nvSpPr>
          <p:cNvPr id="158723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Software requirements are complete specification of the desired external behavior of the software system to be built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They also represent External behavior of the system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4C656-E0B1-4566-9EEC-22E7FD9595AE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83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- 3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Software requirements may be:</a:t>
            </a:r>
          </a:p>
          <a:p>
            <a:pPr lvl="1"/>
            <a:r>
              <a:rPr lang="en-US"/>
              <a:t>Abstract statements of services and/or constraints</a:t>
            </a:r>
          </a:p>
          <a:p>
            <a:pPr lvl="1"/>
            <a:r>
              <a:rPr lang="en-US"/>
              <a:t>Detailed mathematical functions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67D1A-6F1F-406D-B5DD-FE78EB38CA6F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60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Requirements - 4</a:t>
            </a:r>
          </a:p>
        </p:txBody>
      </p:sp>
      <p:sp>
        <p:nvSpPr>
          <p:cNvPr id="159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Software requirements may be:</a:t>
            </a:r>
          </a:p>
          <a:p>
            <a:pPr lvl="1"/>
            <a:r>
              <a:rPr lang="en-US"/>
              <a:t>Part of the bid of contract</a:t>
            </a:r>
          </a:p>
          <a:p>
            <a:pPr lvl="1"/>
            <a:r>
              <a:rPr lang="en-US"/>
              <a:t>The contract itself</a:t>
            </a:r>
          </a:p>
          <a:p>
            <a:pPr lvl="1"/>
            <a:r>
              <a:rPr lang="en-US"/>
              <a:t>Part of the technical document, which describes a product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AFFFA-FFAB-4BD2-9869-3A95E1DD0B5F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68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IEEE Definition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/>
              <a:t>A condition or capability that must be met or possessed by a system...to satisfy a contract, standard, specification, or other formally imposed document</a:t>
            </a:r>
          </a:p>
          <a:p>
            <a:pPr lvl="1"/>
            <a:r>
              <a:rPr lang="en-US"/>
              <a:t>IEEE Std 729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B0150-444A-4735-93F4-6D352BEBFAD8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34684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Requirements</a:t>
            </a:r>
          </a:p>
        </p:txBody>
      </p:sp>
      <p:sp>
        <p:nvSpPr>
          <p:cNvPr id="194563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Stakeholders</a:t>
            </a:r>
          </a:p>
          <a:p>
            <a:pPr lvl="1"/>
            <a:r>
              <a:rPr lang="en-US" dirty="0"/>
              <a:t>People affected in some way by the system</a:t>
            </a:r>
          </a:p>
          <a:p>
            <a:r>
              <a:rPr lang="en-US" dirty="0"/>
              <a:t>Documents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Domain/business area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DDF7-3587-4841-B360-B8907EFD1B35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60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A1033-C1D5-7505-57DB-A519E8FC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1026">
            <a:extLst>
              <a:ext uri="{FF2B5EF4-FFF2-40B4-BE49-F238E27FC236}">
                <a16:creationId xmlns:a16="http://schemas.microsoft.com/office/drawing/2014/main" id="{15F832AF-9D52-5F69-6C88-9BA2E3A0C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 of Requirements</a:t>
            </a:r>
          </a:p>
        </p:txBody>
      </p:sp>
      <p:sp>
        <p:nvSpPr>
          <p:cNvPr id="194563" name="Rectangle 1027">
            <a:extLst>
              <a:ext uri="{FF2B5EF4-FFF2-40B4-BE49-F238E27FC236}">
                <a16:creationId xmlns:a16="http://schemas.microsoft.com/office/drawing/2014/main" id="{3194B75D-002E-809C-C634-DC162365B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Stakeholders</a:t>
            </a:r>
          </a:p>
          <a:p>
            <a:pPr lvl="1"/>
            <a:r>
              <a:rPr lang="en-US" dirty="0"/>
              <a:t>People affected in some way by the system</a:t>
            </a:r>
          </a:p>
          <a:p>
            <a:pPr lvl="2"/>
            <a:r>
              <a:rPr lang="en-US" dirty="0"/>
              <a:t>Owner (Investor)</a:t>
            </a:r>
          </a:p>
          <a:p>
            <a:pPr lvl="2"/>
            <a:r>
              <a:rPr lang="en-US" dirty="0"/>
              <a:t>Users </a:t>
            </a:r>
          </a:p>
          <a:p>
            <a:pPr lvl="2"/>
            <a:r>
              <a:rPr lang="en-US" dirty="0"/>
              <a:t>The team working on the software and responsible for maintaining it </a:t>
            </a:r>
          </a:p>
          <a:p>
            <a:pPr lvl="2"/>
            <a:r>
              <a:rPr lang="en-US" dirty="0"/>
              <a:t>External </a:t>
            </a:r>
          </a:p>
          <a:p>
            <a:pPr lvl="3"/>
            <a:r>
              <a:rPr lang="en-US" dirty="0"/>
              <a:t>Competitors</a:t>
            </a:r>
          </a:p>
          <a:p>
            <a:pPr lvl="3"/>
            <a:r>
              <a:rPr lang="en-US" dirty="0"/>
              <a:t>News agencies</a:t>
            </a:r>
          </a:p>
          <a:p>
            <a:pPr lvl="3"/>
            <a:r>
              <a:rPr lang="en-US" dirty="0"/>
              <a:t>Influencers </a:t>
            </a:r>
          </a:p>
          <a:p>
            <a:pPr lvl="3"/>
            <a:r>
              <a:rPr lang="en-US" dirty="0"/>
              <a:t>Government </a:t>
            </a:r>
          </a:p>
          <a:p>
            <a:r>
              <a:rPr lang="en-US" dirty="0"/>
              <a:t>Documents</a:t>
            </a:r>
          </a:p>
          <a:p>
            <a:r>
              <a:rPr lang="en-US" dirty="0"/>
              <a:t>Existing system</a:t>
            </a:r>
          </a:p>
          <a:p>
            <a:r>
              <a:rPr lang="en-US" dirty="0"/>
              <a:t>Domain/business area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74376E6-C121-7660-A29E-EF7E9F655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56DDF7-3587-4841-B360-B8907EFD1B35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52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/>
              <a:t>Levels of Software Requirements</a:t>
            </a:r>
          </a:p>
        </p:txBody>
      </p:sp>
      <p:sp>
        <p:nvSpPr>
          <p:cNvPr id="123907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Stakeholders describe requirements at different levels of detail</a:t>
            </a:r>
          </a:p>
          <a:p>
            <a:pPr lvl="1"/>
            <a:r>
              <a:rPr lang="en-US" i="1"/>
              <a:t>“What versus How”</a:t>
            </a:r>
            <a:endParaRPr lang="en-US"/>
          </a:p>
          <a:p>
            <a:pPr lvl="1"/>
            <a:r>
              <a:rPr lang="en-US" i="1"/>
              <a:t>“One person’s floor is another person’s ceiling</a:t>
            </a:r>
            <a:r>
              <a:rPr lang="en-US"/>
              <a:t>”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C6C8B-BC84-43AE-B9FE-BD2A349EBEF9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1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8" tIns="44450" rIns="90488" bIns="44450">
            <a:normAutofit/>
          </a:bodyPr>
          <a:lstStyle/>
          <a:p>
            <a:r>
              <a:rPr lang="en-US"/>
              <a:t>Importance of Software Requirements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8" tIns="44450" rIns="90488" bIns="44450"/>
          <a:lstStyle/>
          <a:p>
            <a:r>
              <a:rPr lang="en-US" dirty="0"/>
              <a:t>The hardest single part of building a software system is deciding what to build...No other part of the work so cripples the resulting system if done wrong.  No other part is difficult to rectify later, </a:t>
            </a:r>
            <a:r>
              <a:rPr lang="en-US" i="1" dirty="0"/>
              <a:t>Fred Brooks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8532-28CE-48D5-A8FA-01F94582094F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6334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52400"/>
            <a:ext cx="8700558" cy="6525418"/>
          </a:xfrm>
        </p:spPr>
      </p:pic>
    </p:spTree>
    <p:extLst>
      <p:ext uri="{BB962C8B-B14F-4D97-AF65-F5344CB8AC3E}">
        <p14:creationId xmlns:p14="http://schemas.microsoft.com/office/powerpoint/2010/main" val="387468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- 1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maintain records of all payments made to employees on accounts of salaries, bonuses, travel/daily allowances, medical allowances, etc.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8BB68-4D81-47BF-88C9-CC89BB081D89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9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- 2</a:t>
            </a:r>
          </a:p>
        </p:txBody>
      </p:sp>
      <p:sp>
        <p:nvSpPr>
          <p:cNvPr id="160771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interface with the central computer to send daily sales and inventory data from every retail store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DA6C1-7493-4100-8E6F-D42FB1434954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1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- 3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maintain records of all library materials including books, serials, newspapers and magazines, video and audio tapes, reports, collections of transparencies, CD-ROMs, DVDs, etc.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964BF-9612-4686-B19C-542A89A7BC97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34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- 4</a:t>
            </a:r>
          </a:p>
        </p:txBody>
      </p:sp>
      <p:sp>
        <p:nvSpPr>
          <p:cNvPr id="14950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allow users to search for an item by title, author, or by International Standard Book Number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The system’s user interface shall be implemented using a web browser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32414C-F2FD-43B4-BC2D-622EB94BE2D6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93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Requirements - 5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support at least twenty transactions per second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The system facilities which are available to public users shall be demonstrable in ten minutes or less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98122-8D68-40FE-8C69-8ECD9CD66A38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16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00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Kinds of Software Requirements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AD9D94-5C29-40CD-BC0D-47A1E3A566A9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27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Kinds of Software Requirements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Functional requirements</a:t>
            </a:r>
          </a:p>
          <a:p>
            <a:r>
              <a:rPr lang="en-US"/>
              <a:t>Non-functional requirements</a:t>
            </a:r>
          </a:p>
          <a:p>
            <a:r>
              <a:rPr lang="en-US"/>
              <a:t>Domain requirements</a:t>
            </a:r>
          </a:p>
          <a:p>
            <a:r>
              <a:rPr lang="en-US"/>
              <a:t>Inverse requirements</a:t>
            </a:r>
          </a:p>
          <a:p>
            <a:r>
              <a:rPr lang="en-US"/>
              <a:t>Design and implementation constraints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B9EAED-11A2-4F4E-B588-08629A336CB2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916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- 1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Statements describing what the system does</a:t>
            </a:r>
          </a:p>
          <a:p>
            <a:endParaRPr lang="en-US"/>
          </a:p>
          <a:p>
            <a:r>
              <a:rPr lang="en-US"/>
              <a:t>Functionality of the system</a:t>
            </a:r>
          </a:p>
          <a:p>
            <a:pPr>
              <a:buFontTx/>
              <a:buNone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50540C-ED4F-42C8-A612-209B03A174CA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44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- 2</a:t>
            </a:r>
          </a:p>
        </p:txBody>
      </p:sp>
      <p:sp>
        <p:nvSpPr>
          <p:cNvPr id="20787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Statements of services the system should provide</a:t>
            </a:r>
          </a:p>
          <a:p>
            <a:pPr lvl="1"/>
            <a:r>
              <a:rPr lang="en-US"/>
              <a:t>Reaction to particular inputs</a:t>
            </a:r>
          </a:p>
          <a:p>
            <a:pPr lvl="1"/>
            <a:r>
              <a:rPr lang="en-US"/>
              <a:t>Behavior in particular situations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F80897-7F69-45A2-B16F-AB6201833AC8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435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- 3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Sequencing and parallelism are also captured by functional requirements</a:t>
            </a:r>
          </a:p>
          <a:p>
            <a:endParaRPr lang="en-US"/>
          </a:p>
          <a:p>
            <a:r>
              <a:rPr lang="en-US"/>
              <a:t>Abnormal behavior is also documented as functional requirements in the form of exception handling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FFE4BB-A9C1-45CF-9175-58B60085D2CA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332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Requirements - 4</a:t>
            </a:r>
          </a:p>
        </p:txBody>
      </p:sp>
      <p:sp>
        <p:nvSpPr>
          <p:cNvPr id="19251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Functional requirements should be complete and consistent </a:t>
            </a:r>
          </a:p>
          <a:p>
            <a:endParaRPr lang="en-US"/>
          </a:p>
          <a:p>
            <a:r>
              <a:rPr lang="en-US"/>
              <a:t>Customers and developers usually focus all their attention on functional requirements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A3058-6641-40EE-A4C7-94EF72FAC015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57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1</a:t>
            </a:r>
          </a:p>
        </p:txBody>
      </p:sp>
      <p:sp>
        <p:nvSpPr>
          <p:cNvPr id="182275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solve a quadratic equation using the following formula</a:t>
            </a:r>
          </a:p>
          <a:p>
            <a:pPr lvl="1">
              <a:buFontTx/>
              <a:buNone/>
            </a:pPr>
            <a:endParaRPr lang="en-US"/>
          </a:p>
          <a:p>
            <a:pPr lvl="1" algn="ctr">
              <a:buFontTx/>
              <a:buNone/>
            </a:pPr>
            <a:r>
              <a:rPr lang="en-US" sz="4000"/>
              <a:t>x = (-b</a:t>
            </a:r>
            <a:r>
              <a:rPr lang="en-US" sz="4000" u="sng"/>
              <a:t>+</a:t>
            </a:r>
            <a:r>
              <a:rPr lang="en-US" sz="4000"/>
              <a:t>sqrt(b</a:t>
            </a:r>
            <a:r>
              <a:rPr lang="en-US" sz="4000" baseline="30000"/>
              <a:t>2</a:t>
            </a:r>
            <a:r>
              <a:rPr lang="en-US" sz="4000"/>
              <a:t> – 4*a*c))/2*a</a:t>
            </a:r>
          </a:p>
          <a:p>
            <a:pPr lvl="1">
              <a:buFontTx/>
              <a:buNone/>
            </a:pPr>
            <a:endParaRPr lang="en-US" sz="400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F3752-329E-4185-AA97-B41A6F1D9E79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15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2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user shall be able to search either the entire database of patients or select a subset from it (admitted patients, or patients with asthma, etc.)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8EBD0-D3D6-4EA7-9F61-94E235ED568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36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3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provide appropriate viewers for the user to read documents in the document store</a:t>
            </a:r>
          </a:p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89741-A2FA-494A-966C-83245F51A6F0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155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4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Every order shall be allocated a unique identifier (ORDER_ID) which the user shall use to access that order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3A272D-4418-42FB-AC77-9C009AEC9838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324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Functional Requirements Example # 5</a:t>
            </a:r>
          </a:p>
        </p:txBody>
      </p:sp>
      <p:sp>
        <p:nvSpPr>
          <p:cNvPr id="19558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 system shall allow customers to return non-perishable items within fifteen days of the purchase.  A customer must present the original sale receipt to return an item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FD2001-CDDB-4D2C-894D-71CFC0264B5D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136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Notice the level of detail in different  requirements described above.  Some are very detailed compared to others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D8CCF-0D88-45D2-BD10-E8118F687C76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4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211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Notice the ambiguity in the requirement, which uses the term ‘appropriate viewers’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This requirement does not mention the formats of documents and types of viewers, which can be used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ABAD8-2A78-42C1-B759-B914BA9CC0B4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82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196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Notice the ambiguity in the requirement for solving the quadratic equation.  The requirement does not speak about the possibility when the value of ‘a’ is zero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algn="ctr">
              <a:lnSpc>
                <a:spcPct val="90000"/>
              </a:lnSpc>
              <a:buFontTx/>
              <a:buNone/>
            </a:pPr>
            <a:r>
              <a:rPr lang="en-US" sz="4400"/>
              <a:t>x = (-b</a:t>
            </a:r>
            <a:r>
              <a:rPr lang="en-US" sz="4400" u="sng"/>
              <a:t>+</a:t>
            </a:r>
            <a:r>
              <a:rPr lang="en-US" sz="4400"/>
              <a:t>sqrt(b</a:t>
            </a:r>
            <a:r>
              <a:rPr lang="en-US" sz="4400" baseline="30000"/>
              <a:t>2</a:t>
            </a:r>
            <a:r>
              <a:rPr lang="en-US" sz="4400"/>
              <a:t> – 4*a*c))/2*a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B7F45-C95F-41D8-B504-276F25EA8730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69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Comments on Examples</a:t>
            </a:r>
          </a:p>
        </p:txBody>
      </p:sp>
      <p:sp>
        <p:nvSpPr>
          <p:cNvPr id="212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/>
              <a:t>Incomplete and ambiguous requirements are open to multiple interpretations and assumptions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>
              <a:lnSpc>
                <a:spcPct val="90000"/>
              </a:lnSpc>
            </a:pPr>
            <a:r>
              <a:rPr lang="en-US"/>
              <a:t>This can lead to the development of poor quality, or faulty, software products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7300-38EC-4180-8427-23477B34140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560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- 1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Most non-functional requirements relate to the system as a whole. They include constraints on timing, performance, reliability, security, maintainability, accuracy, the development process, standards, etc.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067586-17DB-4FB5-ADF1-218DCF80AC60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5276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- 2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are often more critical than individual functional requirements</a:t>
            </a:r>
          </a:p>
          <a:p>
            <a:r>
              <a:rPr lang="en-US"/>
              <a:t>Capture the emergent behavior of the system, that is they relate to system as a whole</a:t>
            </a:r>
          </a:p>
          <a:p>
            <a:r>
              <a:rPr lang="en-US"/>
              <a:t>Many non-functional requirements describe the quality attributes of the software product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A57D98-D880-474B-8668-1EB19893F965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33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Non-Functional Requirements - 3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example, if an aircraft system does not meet reliability requirements, it will not be certified as ‘safe’</a:t>
            </a:r>
          </a:p>
          <a:p>
            <a:r>
              <a:rPr lang="en-US"/>
              <a:t>If a real-time control system fails to meet its performance requirements, the control functions will not operate correctly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95A431-AE46-4751-80B1-94B431024A24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24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- 1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are written to reflect general goals for the system.  Examples include:</a:t>
            </a:r>
          </a:p>
          <a:p>
            <a:pPr lvl="1"/>
            <a:r>
              <a:rPr lang="en-US" b="1"/>
              <a:t>Ease of use</a:t>
            </a:r>
          </a:p>
          <a:p>
            <a:pPr lvl="1"/>
            <a:r>
              <a:rPr lang="en-US" b="1"/>
              <a:t>Recovery from failure</a:t>
            </a:r>
          </a:p>
          <a:p>
            <a:pPr lvl="1"/>
            <a:r>
              <a:rPr lang="en-US" b="1"/>
              <a:t>Rapid user response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A3F2CA-D366-41F6-BCA6-6B776E3FFE38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018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- 2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Goals are open to misinterpretation</a:t>
            </a:r>
          </a:p>
          <a:p>
            <a:r>
              <a:rPr lang="en-US"/>
              <a:t>Objective verification is difficult</a:t>
            </a:r>
          </a:p>
          <a:p>
            <a:r>
              <a:rPr lang="en-US"/>
              <a:t>Distinction between functional and non-functional is not always very clear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66742-1DC4-442A-B45E-2E455B9B73F9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410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- 3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should be written in a quantitative manner as much as possible, which is not always easy for customers</a:t>
            </a:r>
          </a:p>
          <a:p>
            <a:r>
              <a:rPr lang="en-US"/>
              <a:t>For some goals, there are no quantitative measures, e.g., maintainability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63F395-673A-4DCA-9E43-CC9359290322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107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- 4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Goals can be useful to designers and developers, as they give clues to them about priorities of the customers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40B3B4-40FC-4A0B-8BE9-0A1CF0F18B0E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899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- 5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Chances of conflicts within non-functional requirements are fairly high, because information is coming from different stakeholders.  For example, different stakeholders can give different response times or failure tolerance levels, etc.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511B41-9B7D-47D1-AD79-D2D96D192184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80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- 6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Some negotiations must be done among different stakeholders, to achieve an agreement in these situations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A5B6C5-D486-4906-8863-C278B866C2CF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3550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Observations on Non-Functional Requirements - 7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Non-functional requirements should be highlighted in the requirements document, so that they can be used to build the architecture of the software product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8AAAE-F9CF-41A7-A0BC-03BA39083DC0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7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Requirements - 1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/>
              <a:t>Requirements that come from the application domain and reflect fundamental characteristics of that application domain</a:t>
            </a:r>
          </a:p>
          <a:p>
            <a:r>
              <a:rPr lang="en-US" sz="2800"/>
              <a:t>Can be functional or non-functional</a:t>
            </a:r>
          </a:p>
          <a:p>
            <a:r>
              <a:rPr lang="en-US" sz="2800"/>
              <a:t>These requirements, sometimes, are not explicitly mentioned, as domain experts find it difficult to convey them. However, their absence can cause significant dissatisfaction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38F565-014E-4B4E-BF71-24C2E840D4E3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05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Domain Requirements - 2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Domain requirements can impose strict constraints on solutions.  This is particularly true for scientific and engineering domains</a:t>
            </a:r>
          </a:p>
          <a:p>
            <a:r>
              <a:rPr lang="en-US"/>
              <a:t>Domain-specific terminology can also cause confusion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9FA9A6-7B61-4E87-B3B7-D0CEF19EA0F8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7442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Inverse Requirements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explain what the system shall </a:t>
            </a:r>
            <a:r>
              <a:rPr lang="en-US" b="1">
                <a:solidFill>
                  <a:srgbClr val="0000CC"/>
                </a:solidFill>
              </a:rPr>
              <a:t>not</a:t>
            </a:r>
            <a:r>
              <a:rPr lang="en-US"/>
              <a:t> do.  Many people find it convenient to describe their needs in this manner</a:t>
            </a:r>
          </a:p>
          <a:p>
            <a:r>
              <a:rPr lang="en-US"/>
              <a:t>These requirements indicate the indecisive nature of customers about certain aspects of a new software product</a:t>
            </a:r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C65B93-21B4-4C86-AC4B-78BD645F3EC3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013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Design and Implementation Constraints - 1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They are development guidelines within which the designer must work, which can seriously limit design and implementation options</a:t>
            </a:r>
          </a:p>
          <a:p>
            <a:r>
              <a:rPr lang="en-US"/>
              <a:t>Can also have impact on human resources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7A5C19D-6C48-45F4-8DB9-4E9FC6FB727C}" type="slidenum">
              <a:rPr lang="en-US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40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 Process – Inputs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It includes:</a:t>
            </a:r>
          </a:p>
          <a:p>
            <a:r>
              <a:rPr lang="en-US"/>
              <a:t>Existing system information</a:t>
            </a:r>
          </a:p>
          <a:p>
            <a:pPr lvl="1"/>
            <a:r>
              <a:rPr lang="en-US"/>
              <a:t>Information about the functionality of systems to be replaced</a:t>
            </a:r>
          </a:p>
          <a:p>
            <a:pPr lvl="1"/>
            <a:r>
              <a:rPr lang="en-US"/>
              <a:t>Information about other systems, which interact with the system being specified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ACEEA-AFD0-432C-ADAE-205EF7832AA7}" type="slidenum">
              <a:rPr lang="en-US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145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</TotalTime>
  <Words>1491</Words>
  <Application>Microsoft Office PowerPoint</Application>
  <PresentationFormat>On-screen Show (4:3)</PresentationFormat>
  <Paragraphs>222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Wingdings 3</vt:lpstr>
      <vt:lpstr>Retrospect</vt:lpstr>
      <vt:lpstr>Software Engineering for CS</vt:lpstr>
      <vt:lpstr>PowerPoint Presentation</vt:lpstr>
      <vt:lpstr>Introduction</vt:lpstr>
      <vt:lpstr>Requirement</vt:lpstr>
      <vt:lpstr>Software Requirements - 1</vt:lpstr>
      <vt:lpstr>Software Requirements - 2</vt:lpstr>
      <vt:lpstr>Software Requirements - 3</vt:lpstr>
      <vt:lpstr>Software Requirements - 4</vt:lpstr>
      <vt:lpstr>IEEE Definition</vt:lpstr>
      <vt:lpstr>Sources of Requirements</vt:lpstr>
      <vt:lpstr>Sources of Requirements</vt:lpstr>
      <vt:lpstr>Levels of Software Requirements</vt:lpstr>
      <vt:lpstr>Importance of Software Requirements</vt:lpstr>
      <vt:lpstr>PowerPoint Presentation</vt:lpstr>
      <vt:lpstr>Examples of Requirements - 1</vt:lpstr>
      <vt:lpstr>Examples of Requirements - 2</vt:lpstr>
      <vt:lpstr>Examples of Requirements - 3</vt:lpstr>
      <vt:lpstr>Examples of Requirements - 4</vt:lpstr>
      <vt:lpstr>Examples of Requirements - 5</vt:lpstr>
      <vt:lpstr>Kinds of Software Requirements</vt:lpstr>
      <vt:lpstr>Kinds of Software Requirements</vt:lpstr>
      <vt:lpstr>Functional Requirements - 1</vt:lpstr>
      <vt:lpstr>Functional Requirements - 2</vt:lpstr>
      <vt:lpstr>Functional Requirements - 3</vt:lpstr>
      <vt:lpstr>Functional Requirements - 4</vt:lpstr>
      <vt:lpstr>Functional Requirements Example # 1</vt:lpstr>
      <vt:lpstr>Functional Requirements Example # 2</vt:lpstr>
      <vt:lpstr>Functional Requirements Example # 3</vt:lpstr>
      <vt:lpstr>Functional Requirements Example # 4</vt:lpstr>
      <vt:lpstr>Functional Requirements Example # 5</vt:lpstr>
      <vt:lpstr>Comments on Examples</vt:lpstr>
      <vt:lpstr>Comments on Examples</vt:lpstr>
      <vt:lpstr>Comments on Examples</vt:lpstr>
      <vt:lpstr>Comments on Examples</vt:lpstr>
      <vt:lpstr>Non-Functional Requirements - 1</vt:lpstr>
      <vt:lpstr>Non-Functional Requirements - 2</vt:lpstr>
      <vt:lpstr>Non-Functional Requirements - 3</vt:lpstr>
      <vt:lpstr>Observations on Non-Functional Requirements - 1</vt:lpstr>
      <vt:lpstr>Observations on Non-Functional Requirements - 2</vt:lpstr>
      <vt:lpstr>Observations on Non-Functional Requirements - 3</vt:lpstr>
      <vt:lpstr>Observations on Non-Functional Requirements - 4</vt:lpstr>
      <vt:lpstr>Observations on Non-Functional Requirements - 5</vt:lpstr>
      <vt:lpstr>Observations on Non-Functional Requirements - 6</vt:lpstr>
      <vt:lpstr>Observations on Non-Functional Requirements - 7</vt:lpstr>
      <vt:lpstr>Domain Requirements - 1</vt:lpstr>
      <vt:lpstr>Domain Requirements - 2</vt:lpstr>
      <vt:lpstr>Inverse Requirements</vt:lpstr>
      <vt:lpstr>Design and Implementation Constraints - 1</vt:lpstr>
      <vt:lpstr>RE Process – Inputs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&amp; Architecture</dc:title>
  <dc:creator>natash</dc:creator>
  <cp:lastModifiedBy>Natash Ali</cp:lastModifiedBy>
  <cp:revision>146</cp:revision>
  <dcterms:created xsi:type="dcterms:W3CDTF">2006-08-16T00:00:00Z</dcterms:created>
  <dcterms:modified xsi:type="dcterms:W3CDTF">2026-01-11T16:48:22Z</dcterms:modified>
</cp:coreProperties>
</file>