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37"/>
    <p:restoredTop sz="94668"/>
  </p:normalViewPr>
  <p:slideViewPr>
    <p:cSldViewPr>
      <p:cViewPr varScale="1">
        <p:scale>
          <a:sx n="92" d="100"/>
          <a:sy n="92" d="100"/>
        </p:scale>
        <p:origin x="1368" y="4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84202" y="9998060"/>
            <a:ext cx="14135735" cy="635"/>
          </a:xfrm>
          <a:custGeom>
            <a:avLst/>
            <a:gdLst/>
            <a:ahLst/>
            <a:cxnLst/>
            <a:rect l="l" t="t" r="r" b="b"/>
            <a:pathLst>
              <a:path w="14135735" h="634">
                <a:moveTo>
                  <a:pt x="0" y="0"/>
                </a:moveTo>
                <a:lnTo>
                  <a:pt x="14135695" y="0"/>
                </a:lnTo>
                <a:lnTo>
                  <a:pt x="0" y="104"/>
                </a:lnTo>
                <a:close/>
              </a:path>
            </a:pathLst>
          </a:custGeom>
          <a:ln w="10470">
            <a:solidFill>
              <a:srgbClr val="7996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4202" y="10056958"/>
            <a:ext cx="14135735" cy="635"/>
          </a:xfrm>
          <a:custGeom>
            <a:avLst/>
            <a:gdLst/>
            <a:ahLst/>
            <a:cxnLst/>
            <a:rect l="l" t="t" r="r" b="b"/>
            <a:pathLst>
              <a:path w="14135735" h="634">
                <a:moveTo>
                  <a:pt x="0" y="0"/>
                </a:moveTo>
                <a:lnTo>
                  <a:pt x="14135695" y="0"/>
                </a:lnTo>
                <a:lnTo>
                  <a:pt x="0" y="104"/>
                </a:lnTo>
                <a:close/>
              </a:path>
            </a:pathLst>
          </a:custGeom>
          <a:ln w="10470">
            <a:solidFill>
              <a:srgbClr val="7996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761" y="2288643"/>
            <a:ext cx="16156576" cy="792050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7169" y="2194405"/>
            <a:ext cx="167534" cy="15706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109395" y="2194405"/>
            <a:ext cx="167534" cy="15706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27169" y="2351468"/>
            <a:ext cx="167534" cy="813587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109395" y="2351468"/>
            <a:ext cx="167534" cy="813587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94703" y="2194405"/>
            <a:ext cx="16114692" cy="157063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94703" y="10152277"/>
            <a:ext cx="16114692" cy="3350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74409"/>
            <a:ext cx="20104100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3015" y="489330"/>
            <a:ext cx="9464675" cy="1021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3170" y="2643898"/>
            <a:ext cx="17913985" cy="5328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de.visualstudio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0318" y="514034"/>
            <a:ext cx="13074650" cy="1433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200" spc="-50" dirty="0">
                <a:latin typeface="Arial"/>
                <a:cs typeface="Arial"/>
              </a:rPr>
              <a:t>Set</a:t>
            </a:r>
            <a:r>
              <a:rPr sz="9200" spc="-575" dirty="0">
                <a:latin typeface="Arial"/>
                <a:cs typeface="Arial"/>
              </a:rPr>
              <a:t> </a:t>
            </a:r>
            <a:r>
              <a:rPr sz="9200" dirty="0">
                <a:latin typeface="Arial"/>
                <a:cs typeface="Arial"/>
              </a:rPr>
              <a:t>up</a:t>
            </a:r>
            <a:r>
              <a:rPr sz="9200" spc="-560" dirty="0">
                <a:latin typeface="Arial"/>
                <a:cs typeface="Arial"/>
              </a:rPr>
              <a:t> </a:t>
            </a:r>
            <a:r>
              <a:rPr sz="9200" spc="-60" dirty="0">
                <a:latin typeface="Arial"/>
                <a:cs typeface="Arial"/>
              </a:rPr>
              <a:t>Dev</a:t>
            </a:r>
            <a:r>
              <a:rPr sz="9200" spc="-560" dirty="0">
                <a:latin typeface="Arial"/>
                <a:cs typeface="Arial"/>
              </a:rPr>
              <a:t> </a:t>
            </a:r>
            <a:r>
              <a:rPr sz="9200" spc="-145" dirty="0">
                <a:latin typeface="Arial"/>
                <a:cs typeface="Arial"/>
              </a:rPr>
              <a:t>Environment</a:t>
            </a:r>
            <a:endParaRPr sz="9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80" dirty="0"/>
              <a:t>React</a:t>
            </a:r>
            <a:r>
              <a:rPr spc="-70" dirty="0"/>
              <a:t> </a:t>
            </a:r>
            <a:r>
              <a:rPr spc="175" dirty="0"/>
              <a:t>Development</a:t>
            </a:r>
            <a:r>
              <a:rPr spc="-65" dirty="0"/>
              <a:t> </a:t>
            </a:r>
            <a:r>
              <a:rPr spc="155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2073355"/>
            <a:ext cx="882142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35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585470" algn="l"/>
              </a:tabLst>
            </a:pPr>
            <a:r>
              <a:rPr sz="4250" spc="-70" dirty="0">
                <a:latin typeface="Palatino Linotype"/>
                <a:cs typeface="Palatino Linotype"/>
              </a:rPr>
              <a:t>You</a:t>
            </a:r>
            <a:r>
              <a:rPr sz="4250" spc="-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can</a:t>
            </a:r>
            <a:r>
              <a:rPr sz="4250" spc="-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use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any</a:t>
            </a:r>
            <a:r>
              <a:rPr sz="4250" spc="-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text</a:t>
            </a:r>
            <a:r>
              <a:rPr sz="4250" spc="-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editor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or</a:t>
            </a:r>
            <a:r>
              <a:rPr sz="4250" spc="-25" dirty="0">
                <a:latin typeface="Palatino Linotype"/>
                <a:cs typeface="Palatino Linotype"/>
              </a:rPr>
              <a:t> IDE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014" y="4053930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6156" y="3937173"/>
            <a:ext cx="16603344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Many</a:t>
            </a:r>
            <a:r>
              <a:rPr sz="4250" spc="-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React</a:t>
            </a:r>
            <a:r>
              <a:rPr sz="4250" spc="-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developers</a:t>
            </a:r>
            <a:r>
              <a:rPr sz="4250" spc="-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use</a:t>
            </a:r>
            <a:r>
              <a:rPr sz="4250" spc="-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the</a:t>
            </a:r>
            <a:r>
              <a:rPr sz="4250" spc="-10" dirty="0">
                <a:latin typeface="Palatino Linotype"/>
                <a:cs typeface="Palatino Linotype"/>
              </a:rPr>
              <a:t> </a:t>
            </a:r>
            <a:r>
              <a:rPr sz="4250" b="1" spc="-20" dirty="0">
                <a:latin typeface="Palatino Linotype"/>
                <a:cs typeface="Palatino Linotype"/>
              </a:rPr>
              <a:t>TypeScript</a:t>
            </a:r>
            <a:r>
              <a:rPr sz="4250" b="1" spc="-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language</a:t>
            </a:r>
            <a:r>
              <a:rPr sz="4250" spc="-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over</a:t>
            </a:r>
            <a:r>
              <a:rPr sz="4250" spc="-10" dirty="0">
                <a:latin typeface="Palatino Linotype"/>
                <a:cs typeface="Palatino Linotype"/>
              </a:rPr>
              <a:t> </a:t>
            </a:r>
            <a:r>
              <a:rPr sz="4250" b="1" spc="-10" dirty="0">
                <a:latin typeface="Palatino Linotype"/>
                <a:cs typeface="Palatino Linotype"/>
              </a:rPr>
              <a:t>JavaScript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1849" y="5205727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4992" y="5088970"/>
            <a:ext cx="530225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Superset</a:t>
            </a:r>
            <a:r>
              <a:rPr sz="4250" spc="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of</a:t>
            </a:r>
            <a:r>
              <a:rPr sz="4250" spc="15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JavaScript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1849" y="6357524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4992" y="6240768"/>
            <a:ext cx="1697228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10" dirty="0">
                <a:latin typeface="Palatino Linotype"/>
                <a:cs typeface="Palatino Linotype"/>
              </a:rPr>
              <a:t>Strongly-</a:t>
            </a:r>
            <a:r>
              <a:rPr sz="4250" dirty="0">
                <a:latin typeface="Palatino Linotype"/>
                <a:cs typeface="Palatino Linotype"/>
              </a:rPr>
              <a:t>typed language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with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compile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time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checking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and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IDE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support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3014" y="8221342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6156" y="8104585"/>
            <a:ext cx="1754124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10" dirty="0">
                <a:latin typeface="Palatino Linotype"/>
                <a:cs typeface="Palatino Linotype"/>
              </a:rPr>
              <a:t>Command-</a:t>
            </a:r>
            <a:r>
              <a:rPr sz="4250" dirty="0">
                <a:latin typeface="Palatino Linotype"/>
                <a:cs typeface="Palatino Linotype"/>
              </a:rPr>
              <a:t>line</a:t>
            </a:r>
            <a:r>
              <a:rPr sz="4250" spc="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tools</a:t>
            </a:r>
            <a:r>
              <a:rPr sz="4250" spc="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to</a:t>
            </a:r>
            <a:r>
              <a:rPr sz="4250" spc="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compile</a:t>
            </a:r>
            <a:r>
              <a:rPr sz="4250" spc="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code</a:t>
            </a:r>
            <a:r>
              <a:rPr sz="4250" spc="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and</a:t>
            </a:r>
            <a:r>
              <a:rPr sz="4250" spc="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create</a:t>
            </a:r>
            <a:r>
              <a:rPr sz="4250" spc="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React</a:t>
            </a:r>
            <a:r>
              <a:rPr sz="4250" spc="25" dirty="0">
                <a:latin typeface="Palatino Linotype"/>
                <a:cs typeface="Palatino Linotype"/>
              </a:rPr>
              <a:t> </a:t>
            </a:r>
            <a:r>
              <a:rPr sz="4250" spc="70" dirty="0">
                <a:latin typeface="Palatino Linotype"/>
                <a:cs typeface="Palatino Linotype"/>
              </a:rPr>
              <a:t>apps/components</a:t>
            </a:r>
            <a:endParaRPr sz="4250">
              <a:latin typeface="Palatino Linotype"/>
              <a:cs typeface="Palatino Linotyp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818801" y="161165"/>
            <a:ext cx="8717280" cy="5012055"/>
            <a:chOff x="10818801" y="161165"/>
            <a:chExt cx="8717280" cy="501205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8801" y="161165"/>
              <a:ext cx="8716685" cy="50118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237637" y="1355695"/>
              <a:ext cx="7879080" cy="2609215"/>
            </a:xfrm>
            <a:custGeom>
              <a:avLst/>
              <a:gdLst/>
              <a:ahLst/>
              <a:cxnLst/>
              <a:rect l="l" t="t" r="r" b="b"/>
              <a:pathLst>
                <a:path w="7879080" h="2609215">
                  <a:moveTo>
                    <a:pt x="7826662" y="0"/>
                  </a:moveTo>
                  <a:lnTo>
                    <a:pt x="1237857" y="0"/>
                  </a:lnTo>
                  <a:lnTo>
                    <a:pt x="1217480" y="4114"/>
                  </a:lnTo>
                  <a:lnTo>
                    <a:pt x="1200839" y="15334"/>
                  </a:lnTo>
                  <a:lnTo>
                    <a:pt x="1189618" y="31975"/>
                  </a:lnTo>
                  <a:lnTo>
                    <a:pt x="1185503" y="52354"/>
                  </a:lnTo>
                  <a:lnTo>
                    <a:pt x="1185503" y="1581758"/>
                  </a:lnTo>
                  <a:lnTo>
                    <a:pt x="0" y="2608887"/>
                  </a:lnTo>
                  <a:lnTo>
                    <a:pt x="1356314" y="1731622"/>
                  </a:lnTo>
                  <a:lnTo>
                    <a:pt x="7826662" y="1731622"/>
                  </a:lnTo>
                  <a:lnTo>
                    <a:pt x="7847039" y="1727508"/>
                  </a:lnTo>
                  <a:lnTo>
                    <a:pt x="7863680" y="1716288"/>
                  </a:lnTo>
                  <a:lnTo>
                    <a:pt x="7874901" y="1699646"/>
                  </a:lnTo>
                  <a:lnTo>
                    <a:pt x="7879016" y="1679268"/>
                  </a:lnTo>
                  <a:lnTo>
                    <a:pt x="7879016" y="52354"/>
                  </a:lnTo>
                  <a:lnTo>
                    <a:pt x="7874901" y="31975"/>
                  </a:lnTo>
                  <a:lnTo>
                    <a:pt x="7863680" y="15334"/>
                  </a:lnTo>
                  <a:lnTo>
                    <a:pt x="7847039" y="4114"/>
                  </a:lnTo>
                  <a:lnTo>
                    <a:pt x="7826662" y="0"/>
                  </a:lnTo>
                  <a:close/>
                </a:path>
              </a:pathLst>
            </a:custGeom>
            <a:solidFill>
              <a:srgbClr val="294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560226" y="1658993"/>
            <a:ext cx="6419850" cy="10560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144905" marR="5080" indent="-1132840">
              <a:lnSpc>
                <a:spcPts val="3960"/>
              </a:lnSpc>
              <a:spcBef>
                <a:spcPts val="390"/>
              </a:spcBef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34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34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TypeScript</a:t>
            </a:r>
            <a:r>
              <a:rPr sz="34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34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React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upcoming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videos</a:t>
            </a:r>
            <a:endParaRPr sz="3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90" dirty="0"/>
              <a:t>Visual</a:t>
            </a:r>
            <a:r>
              <a:rPr spc="-55" dirty="0"/>
              <a:t> </a:t>
            </a:r>
            <a:r>
              <a:rPr spc="215" dirty="0"/>
              <a:t>Studio</a:t>
            </a:r>
            <a:r>
              <a:rPr spc="-55" dirty="0"/>
              <a:t> </a:t>
            </a:r>
            <a:r>
              <a:rPr spc="95" dirty="0"/>
              <a:t>Code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01518" y="5782178"/>
            <a:ext cx="12193905" cy="3729990"/>
            <a:chOff x="1701518" y="5782178"/>
            <a:chExt cx="12193905" cy="37299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3590" y="5782178"/>
              <a:ext cx="8421274" cy="37295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1518" y="5782178"/>
              <a:ext cx="3800931" cy="78531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57613" y="2126854"/>
            <a:ext cx="18307050" cy="418337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0870" indent="-572770">
              <a:lnSpc>
                <a:spcPct val="100000"/>
              </a:lnSpc>
              <a:spcBef>
                <a:spcPts val="135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610870" algn="l"/>
              </a:tabLst>
            </a:pPr>
            <a:r>
              <a:rPr sz="4250" dirty="0">
                <a:latin typeface="Palatino Linotype"/>
                <a:cs typeface="Palatino Linotype"/>
              </a:rPr>
              <a:t>Free</a:t>
            </a:r>
            <a:r>
              <a:rPr sz="4250" spc="-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IDE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that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supports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multiple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programming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languages</a:t>
            </a:r>
            <a:endParaRPr sz="4250">
              <a:latin typeface="Palatino Linotype"/>
              <a:cs typeface="Palatino Linotype"/>
            </a:endParaRPr>
          </a:p>
          <a:p>
            <a:pPr marL="610870" indent="-572770">
              <a:lnSpc>
                <a:spcPct val="100000"/>
              </a:lnSpc>
              <a:spcBef>
                <a:spcPts val="3970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610870" algn="l"/>
              </a:tabLst>
            </a:pPr>
            <a:r>
              <a:rPr sz="4250" dirty="0">
                <a:latin typeface="Palatino Linotype"/>
                <a:cs typeface="Palatino Linotype"/>
              </a:rPr>
              <a:t>Has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built-</a:t>
            </a:r>
            <a:r>
              <a:rPr sz="4250" dirty="0">
                <a:latin typeface="Palatino Linotype"/>
                <a:cs typeface="Palatino Linotype"/>
              </a:rPr>
              <a:t>in</a:t>
            </a:r>
            <a:r>
              <a:rPr sz="4250" spc="-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support</a:t>
            </a:r>
            <a:r>
              <a:rPr sz="4250" spc="-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for</a:t>
            </a:r>
            <a:r>
              <a:rPr sz="4250" spc="-10" dirty="0">
                <a:latin typeface="Palatino Linotype"/>
                <a:cs typeface="Palatino Linotype"/>
              </a:rPr>
              <a:t> </a:t>
            </a:r>
            <a:r>
              <a:rPr sz="4250" b="1" spc="-20" dirty="0">
                <a:latin typeface="Palatino Linotype"/>
                <a:cs typeface="Palatino Linotype"/>
              </a:rPr>
              <a:t>TypeScript</a:t>
            </a:r>
            <a:r>
              <a:rPr sz="4250" b="1" spc="-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and</a:t>
            </a:r>
            <a:r>
              <a:rPr sz="4250" spc="-15" dirty="0">
                <a:latin typeface="Palatino Linotype"/>
                <a:cs typeface="Palatino Linotype"/>
              </a:rPr>
              <a:t> </a:t>
            </a:r>
            <a:r>
              <a:rPr sz="4250" b="1" spc="-10" dirty="0">
                <a:latin typeface="Palatino Linotype"/>
                <a:cs typeface="Palatino Linotype"/>
              </a:rPr>
              <a:t>JavaScript</a:t>
            </a:r>
            <a:endParaRPr sz="4250">
              <a:latin typeface="Palatino Linotype"/>
              <a:cs typeface="Palatino Linotype"/>
            </a:endParaRPr>
          </a:p>
          <a:p>
            <a:pPr marL="610870" indent="-572770">
              <a:lnSpc>
                <a:spcPct val="100000"/>
              </a:lnSpc>
              <a:spcBef>
                <a:spcPts val="3970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610870" algn="l"/>
              </a:tabLst>
            </a:pPr>
            <a:r>
              <a:rPr sz="4250" dirty="0">
                <a:latin typeface="Palatino Linotype"/>
                <a:cs typeface="Palatino Linotype"/>
              </a:rPr>
              <a:t>IDE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features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such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as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IntelliSense,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Debugging,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etc</a:t>
            </a:r>
            <a:r>
              <a:rPr sz="4250" spc="-15" dirty="0">
                <a:latin typeface="Palatino Linotype"/>
                <a:cs typeface="Palatino Linotype"/>
              </a:rPr>
              <a:t> </a:t>
            </a:r>
            <a:r>
              <a:rPr sz="4250" spc="-50" dirty="0">
                <a:latin typeface="Palatino Linotype"/>
                <a:cs typeface="Palatino Linotype"/>
              </a:rPr>
              <a:t>…</a:t>
            </a:r>
            <a:endParaRPr sz="42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4250">
              <a:latin typeface="Palatino Linotype"/>
              <a:cs typeface="Palatino Linotype"/>
            </a:endParaRPr>
          </a:p>
          <a:p>
            <a:pPr marR="17780" algn="r">
              <a:lnSpc>
                <a:spcPct val="100000"/>
              </a:lnSpc>
            </a:pPr>
            <a:r>
              <a:rPr sz="2950" b="1" spc="-10" dirty="0">
                <a:latin typeface="Arial"/>
                <a:cs typeface="Arial"/>
                <a:hlinkClick r:id="rId4"/>
              </a:rPr>
              <a:t>http://code.visualstudio.com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75" dirty="0"/>
              <a:t>Command-</a:t>
            </a:r>
            <a:r>
              <a:rPr spc="150" dirty="0"/>
              <a:t>Line</a:t>
            </a:r>
            <a:r>
              <a:rPr spc="-40" dirty="0"/>
              <a:t> </a:t>
            </a:r>
            <a:r>
              <a:rPr spc="155" dirty="0"/>
              <a:t>Tools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56506" y="2649134"/>
            <a:ext cx="17827625" cy="915035"/>
            <a:chOff x="1256506" y="2649134"/>
            <a:chExt cx="17827625" cy="915035"/>
          </a:xfrm>
        </p:grpSpPr>
        <p:sp>
          <p:nvSpPr>
            <p:cNvPr id="4" name="object 4"/>
            <p:cNvSpPr/>
            <p:nvPr/>
          </p:nvSpPr>
          <p:spPr>
            <a:xfrm>
              <a:off x="1256499" y="2649137"/>
              <a:ext cx="17827625" cy="915035"/>
            </a:xfrm>
            <a:custGeom>
              <a:avLst/>
              <a:gdLst/>
              <a:ahLst/>
              <a:cxnLst/>
              <a:rect l="l" t="t" r="r" b="b"/>
              <a:pathLst>
                <a:path w="17827625" h="915035">
                  <a:moveTo>
                    <a:pt x="17827295" y="0"/>
                  </a:moveTo>
                  <a:lnTo>
                    <a:pt x="4015778" y="0"/>
                  </a:lnTo>
                  <a:lnTo>
                    <a:pt x="0" y="0"/>
                  </a:lnTo>
                  <a:lnTo>
                    <a:pt x="0" y="915009"/>
                  </a:lnTo>
                  <a:lnTo>
                    <a:pt x="4015778" y="915009"/>
                  </a:lnTo>
                  <a:lnTo>
                    <a:pt x="17827295" y="915009"/>
                  </a:lnTo>
                  <a:lnTo>
                    <a:pt x="17827295" y="0"/>
                  </a:lnTo>
                  <a:close/>
                </a:path>
              </a:pathLst>
            </a:custGeom>
            <a:solidFill>
              <a:srgbClr val="615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5726" y="2921377"/>
              <a:ext cx="910967" cy="3769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77143" y="2921377"/>
              <a:ext cx="1790521" cy="46071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1959" y="3968465"/>
            <a:ext cx="1088972" cy="33506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07877" y="3904439"/>
            <a:ext cx="9385935" cy="502920"/>
          </a:xfrm>
          <a:custGeom>
            <a:avLst/>
            <a:gdLst/>
            <a:ahLst/>
            <a:cxnLst/>
            <a:rect l="l" t="t" r="r" b="b"/>
            <a:pathLst>
              <a:path w="9385935" h="502920">
                <a:moveTo>
                  <a:pt x="9385847" y="0"/>
                </a:moveTo>
                <a:lnTo>
                  <a:pt x="0" y="0"/>
                </a:lnTo>
                <a:lnTo>
                  <a:pt x="0" y="502602"/>
                </a:lnTo>
                <a:lnTo>
                  <a:pt x="9385847" y="502602"/>
                </a:lnTo>
                <a:lnTo>
                  <a:pt x="93858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7609" y="5444860"/>
            <a:ext cx="858612" cy="35601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507875" y="5060905"/>
            <a:ext cx="12345670" cy="1005205"/>
          </a:xfrm>
          <a:custGeom>
            <a:avLst/>
            <a:gdLst/>
            <a:ahLst/>
            <a:cxnLst/>
            <a:rect l="l" t="t" r="r" b="b"/>
            <a:pathLst>
              <a:path w="12345669" h="1005204">
                <a:moveTo>
                  <a:pt x="12345099" y="502602"/>
                </a:moveTo>
                <a:lnTo>
                  <a:pt x="4742853" y="502602"/>
                </a:lnTo>
                <a:lnTo>
                  <a:pt x="4742853" y="0"/>
                </a:lnTo>
                <a:lnTo>
                  <a:pt x="0" y="0"/>
                </a:lnTo>
                <a:lnTo>
                  <a:pt x="0" y="502602"/>
                </a:lnTo>
                <a:lnTo>
                  <a:pt x="0" y="1005205"/>
                </a:lnTo>
                <a:lnTo>
                  <a:pt x="12345099" y="1005205"/>
                </a:lnTo>
                <a:lnTo>
                  <a:pt x="12345099" y="5026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7609" y="7015493"/>
            <a:ext cx="837670" cy="33506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507877" y="6932548"/>
            <a:ext cx="3959860" cy="502920"/>
          </a:xfrm>
          <a:custGeom>
            <a:avLst/>
            <a:gdLst/>
            <a:ahLst/>
            <a:cxnLst/>
            <a:rect l="l" t="t" r="r" b="b"/>
            <a:pathLst>
              <a:path w="3959859" h="502920">
                <a:moveTo>
                  <a:pt x="3959283" y="0"/>
                </a:moveTo>
                <a:lnTo>
                  <a:pt x="0" y="0"/>
                </a:lnTo>
                <a:lnTo>
                  <a:pt x="0" y="502602"/>
                </a:lnTo>
                <a:lnTo>
                  <a:pt x="3959283" y="502602"/>
                </a:lnTo>
                <a:lnTo>
                  <a:pt x="39592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51270" y="2643898"/>
          <a:ext cx="17826990" cy="53289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3450" b="1" spc="-20" dirty="0">
                          <a:solidFill>
                            <a:srgbClr val="F6F4EF"/>
                          </a:solidFill>
                          <a:latin typeface="Arial"/>
                          <a:cs typeface="Arial"/>
                        </a:rPr>
                        <a:t>Tool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3450" b="1" spc="-10" dirty="0">
                          <a:solidFill>
                            <a:srgbClr val="F6F4EF"/>
                          </a:solidFill>
                          <a:latin typeface="Arial"/>
                          <a:cs typeface="Arial"/>
                        </a:rPr>
                        <a:t>Purpose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6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sz="3450" b="1" spc="-20" dirty="0">
                          <a:solidFill>
                            <a:srgbClr val="FF2600"/>
                          </a:solidFill>
                          <a:latin typeface="Courier New"/>
                          <a:cs typeface="Courier New"/>
                        </a:rPr>
                        <a:t>node</a:t>
                      </a:r>
                      <a:endParaRPr sz="3450">
                        <a:latin typeface="Courier New"/>
                        <a:cs typeface="Courier New"/>
                      </a:endParaRPr>
                    </a:p>
                  </a:txBody>
                  <a:tcPr marL="0" marR="0" marT="262255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2340"/>
                        </a:spcBef>
                      </a:pP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34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running JavaScript</a:t>
                      </a:r>
                      <a:r>
                        <a:rPr sz="34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r>
                        <a:rPr sz="3450" spc="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sz="34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command-</a:t>
                      </a:r>
                      <a:r>
                        <a:rPr sz="3450" spc="-2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line</a:t>
                      </a:r>
                      <a:endParaRPr sz="3450">
                        <a:latin typeface="Arial MT"/>
                        <a:cs typeface="Arial MT"/>
                      </a:endParaRPr>
                    </a:p>
                  </a:txBody>
                  <a:tcPr marL="0" marR="0" marT="29718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60"/>
                        </a:spcBef>
                      </a:pPr>
                      <a:r>
                        <a:rPr sz="3450" b="1" spc="-25" dirty="0">
                          <a:solidFill>
                            <a:srgbClr val="FF2600"/>
                          </a:solidFill>
                          <a:latin typeface="Courier New"/>
                          <a:cs typeface="Courier New"/>
                        </a:rPr>
                        <a:t>npm</a:t>
                      </a:r>
                      <a:endParaRPr sz="3450">
                        <a:latin typeface="Courier New"/>
                        <a:cs typeface="Courier New"/>
                      </a:endParaRPr>
                    </a:p>
                  </a:txBody>
                  <a:tcPr marL="0" marR="0" marT="50292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4050"/>
                        </a:lnSpc>
                        <a:spcBef>
                          <a:spcPts val="2255"/>
                        </a:spcBef>
                      </a:pP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Node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Package</a:t>
                      </a:r>
                      <a:r>
                        <a:rPr sz="34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Manager</a:t>
                      </a:r>
                      <a:endParaRPr sz="3450">
                        <a:latin typeface="Arial MT"/>
                        <a:cs typeface="Arial MT"/>
                      </a:endParaRPr>
                    </a:p>
                    <a:p>
                      <a:pPr marL="235585">
                        <a:lnSpc>
                          <a:spcPts val="4050"/>
                        </a:lnSpc>
                      </a:pP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Download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new</a:t>
                      </a:r>
                      <a:r>
                        <a:rPr sz="34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node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packages</a:t>
                      </a:r>
                      <a:r>
                        <a:rPr sz="34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features.</a:t>
                      </a:r>
                      <a:r>
                        <a:rPr sz="34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Similar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34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Maven</a:t>
                      </a:r>
                      <a:endParaRPr sz="3450">
                        <a:latin typeface="Arial MT"/>
                        <a:cs typeface="Arial MT"/>
                      </a:endParaRPr>
                    </a:p>
                  </a:txBody>
                  <a:tcPr marL="0" marR="0" marT="286385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7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75"/>
                        </a:spcBef>
                      </a:pPr>
                      <a:r>
                        <a:rPr sz="3450" b="1" spc="-25" dirty="0">
                          <a:solidFill>
                            <a:srgbClr val="FF2600"/>
                          </a:solidFill>
                          <a:latin typeface="Courier New"/>
                          <a:cs typeface="Courier New"/>
                        </a:rPr>
                        <a:t>tsc</a:t>
                      </a:r>
                      <a:endParaRPr sz="3450">
                        <a:latin typeface="Courier New"/>
                        <a:cs typeface="Courier New"/>
                      </a:endParaRPr>
                    </a:p>
                  </a:txBody>
                  <a:tcPr marL="0" marR="0" marT="492125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3450">
                        <a:latin typeface="Times New Roman"/>
                        <a:cs typeface="Times New Roman"/>
                      </a:endParaRPr>
                    </a:p>
                    <a:p>
                      <a:pPr marL="2355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34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TypeScript</a:t>
                      </a:r>
                      <a:r>
                        <a:rPr sz="3450" spc="-22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34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Compiler</a:t>
                      </a:r>
                      <a:endParaRPr sz="34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40" dirty="0"/>
              <a:t>Installation</a:t>
            </a:r>
            <a:r>
              <a:rPr spc="-65" dirty="0"/>
              <a:t> </a:t>
            </a:r>
            <a:r>
              <a:rPr spc="130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0313" y="2126854"/>
            <a:ext cx="12962255" cy="1830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170" indent="-572770">
              <a:lnSpc>
                <a:spcPct val="100000"/>
              </a:lnSpc>
              <a:spcBef>
                <a:spcPts val="135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598170" algn="l"/>
              </a:tabLst>
            </a:pPr>
            <a:r>
              <a:rPr sz="4250" dirty="0">
                <a:latin typeface="Palatino Linotype"/>
                <a:cs typeface="Palatino Linotype"/>
              </a:rPr>
              <a:t>Install</a:t>
            </a:r>
            <a:r>
              <a:rPr sz="4250" spc="-3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tools:</a:t>
            </a:r>
            <a:r>
              <a:rPr sz="4250" spc="-3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Visual</a:t>
            </a:r>
            <a:r>
              <a:rPr sz="4250" spc="-3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Studio</a:t>
            </a:r>
            <a:r>
              <a:rPr sz="4250" spc="-3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Code,</a:t>
            </a:r>
            <a:r>
              <a:rPr sz="4250" spc="-3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node,</a:t>
            </a:r>
            <a:r>
              <a:rPr sz="4250" spc="-3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npm,</a:t>
            </a:r>
            <a:r>
              <a:rPr sz="4250" spc="-35" dirty="0">
                <a:latin typeface="Palatino Linotype"/>
                <a:cs typeface="Palatino Linotype"/>
              </a:rPr>
              <a:t> </a:t>
            </a:r>
            <a:r>
              <a:rPr sz="4250" spc="-25" dirty="0">
                <a:latin typeface="Palatino Linotype"/>
                <a:cs typeface="Palatino Linotype"/>
              </a:rPr>
              <a:t>tsc</a:t>
            </a:r>
            <a:endParaRPr sz="4250">
              <a:latin typeface="Palatino Linotype"/>
              <a:cs typeface="Palatino Linotype"/>
            </a:endParaRPr>
          </a:p>
          <a:p>
            <a:pPr marL="598170" indent="-572770">
              <a:lnSpc>
                <a:spcPct val="100000"/>
              </a:lnSpc>
              <a:spcBef>
                <a:spcPts val="3970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598170" algn="l"/>
              </a:tabLst>
            </a:pPr>
            <a:r>
              <a:rPr sz="4250" dirty="0">
                <a:latin typeface="Palatino Linotype"/>
                <a:cs typeface="Palatino Linotype"/>
              </a:rPr>
              <a:t>Step-by-step instructions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for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each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operating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system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013" y="6683267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27247" y="3818373"/>
            <a:ext cx="4636770" cy="2513330"/>
            <a:chOff x="2827247" y="3818373"/>
            <a:chExt cx="4636770" cy="25133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7247" y="3818373"/>
              <a:ext cx="4636256" cy="25130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6083" y="4544364"/>
              <a:ext cx="3798586" cy="10470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8772" y="4763609"/>
            <a:ext cx="273367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MS 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endParaRPr sz="34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08952" y="3818373"/>
            <a:ext cx="4636770" cy="2513330"/>
            <a:chOff x="7608952" y="3818373"/>
            <a:chExt cx="4636770" cy="251333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8952" y="3818373"/>
              <a:ext cx="4636256" cy="25130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7787" y="4544364"/>
              <a:ext cx="3798584" cy="104708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486628" y="4763609"/>
            <a:ext cx="88138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spc="-25" dirty="0">
                <a:solidFill>
                  <a:srgbClr val="FFFFFF"/>
                </a:solidFill>
                <a:latin typeface="Arial"/>
                <a:cs typeface="Arial"/>
              </a:rPr>
              <a:t>Mac</a:t>
            </a:r>
            <a:endParaRPr sz="34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390659" y="3818373"/>
            <a:ext cx="4636770" cy="2513330"/>
            <a:chOff x="12390659" y="3818373"/>
            <a:chExt cx="4636770" cy="251333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90659" y="3818373"/>
              <a:ext cx="4636256" cy="25130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09494" y="4544364"/>
              <a:ext cx="3798585" cy="104708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4109749" y="4763609"/>
            <a:ext cx="119761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Linux</a:t>
            </a:r>
            <a:endParaRPr sz="3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147</Words>
  <Application>Microsoft Macintosh PowerPoint</Application>
  <PresentationFormat>Custom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MT</vt:lpstr>
      <vt:lpstr>Calibri</vt:lpstr>
      <vt:lpstr>Courier New</vt:lpstr>
      <vt:lpstr>Palatino Linotype</vt:lpstr>
      <vt:lpstr>Times New Roman</vt:lpstr>
      <vt:lpstr>Office Theme</vt:lpstr>
      <vt:lpstr>Set up Dev Environment</vt:lpstr>
      <vt:lpstr>React Development Tools</vt:lpstr>
      <vt:lpstr>Visual Studio Code</vt:lpstr>
      <vt:lpstr>Command-Line Tools</vt:lpstr>
      <vt:lpstr>Installation Instructions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005-set-up-dev-environment.pdf</dc:title>
  <dc:subject>luv2code</dc:subject>
  <dc:creator>www.luv2code.com</dc:creator>
  <cp:keywords>luv2code</cp:keywords>
  <cp:lastModifiedBy>Syed Nouman Ali Shah</cp:lastModifiedBy>
  <cp:revision>10</cp:revision>
  <dcterms:created xsi:type="dcterms:W3CDTF">2025-09-25T08:39:00Z</dcterms:created>
  <dcterms:modified xsi:type="dcterms:W3CDTF">2025-09-25T08:47:55Z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2022-11-14T00:00:00Z</vt:filetime>
  </property>
  <property fmtid="{D5CDD505-2E9C-101B-9397-08002B2CF9AE}" pid="3" name="Creator">
    <vt:lpwstr>luv2code</vt:lpwstr>
  </property>
  <property fmtid="{D5CDD505-2E9C-101B-9397-08002B2CF9AE}" pid="4" name="LastSaved">
    <vt:filetime>2025-09-25T00:00:00Z</vt:filetime>
  </property>
  <property fmtid="{D5CDD505-2E9C-101B-9397-08002B2CF9AE}" pid="5" name="Producer">
    <vt:lpwstr>macOS Version 12.2.1 (Build 21D62) Quartz PDFContext</vt:lpwstr>
  </property>
</Properties>
</file>