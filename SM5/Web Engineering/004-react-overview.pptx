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5"/>
    <p:restoredTop sz="94668"/>
  </p:normalViewPr>
  <p:slideViewPr>
    <p:cSldViewPr>
      <p:cViewPr varScale="1">
        <p:scale>
          <a:sx n="92" d="100"/>
          <a:sy n="92" d="100"/>
        </p:scale>
        <p:origin x="1360" y="4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20675"/>
            <a:ext cx="20104100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3015" y="489330"/>
            <a:ext cx="14025880" cy="1433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0314" y="2128272"/>
            <a:ext cx="16325215" cy="2982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actjs.org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9.png"/><Relationship Id="rId4" Type="http://schemas.openxmlformats.org/officeDocument/2006/relationships/image" Target="../media/image28.jp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84202" y="9998060"/>
            <a:ext cx="14135735" cy="635"/>
          </a:xfrm>
          <a:custGeom>
            <a:avLst/>
            <a:gdLst/>
            <a:ahLst/>
            <a:cxnLst/>
            <a:rect l="l" t="t" r="r" b="b"/>
            <a:pathLst>
              <a:path w="14135735" h="634">
                <a:moveTo>
                  <a:pt x="0" y="0"/>
                </a:moveTo>
                <a:lnTo>
                  <a:pt x="14135695" y="0"/>
                </a:lnTo>
                <a:lnTo>
                  <a:pt x="0" y="104"/>
                </a:lnTo>
                <a:close/>
              </a:path>
            </a:pathLst>
          </a:custGeom>
          <a:ln w="10470">
            <a:solidFill>
              <a:srgbClr val="7996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827169" y="2194405"/>
            <a:ext cx="16450310" cy="8293100"/>
            <a:chOff x="1827169" y="2194405"/>
            <a:chExt cx="16450310" cy="8293100"/>
          </a:xfrm>
        </p:grpSpPr>
        <p:sp>
          <p:nvSpPr>
            <p:cNvPr id="4" name="object 4"/>
            <p:cNvSpPr/>
            <p:nvPr/>
          </p:nvSpPr>
          <p:spPr>
            <a:xfrm>
              <a:off x="2984202" y="10056958"/>
              <a:ext cx="14135735" cy="635"/>
            </a:xfrm>
            <a:custGeom>
              <a:avLst/>
              <a:gdLst/>
              <a:ahLst/>
              <a:cxnLst/>
              <a:rect l="l" t="t" r="r" b="b"/>
              <a:pathLst>
                <a:path w="14135735" h="634">
                  <a:moveTo>
                    <a:pt x="0" y="0"/>
                  </a:moveTo>
                  <a:lnTo>
                    <a:pt x="14135695" y="0"/>
                  </a:lnTo>
                  <a:lnTo>
                    <a:pt x="0" y="104"/>
                  </a:lnTo>
                  <a:close/>
                </a:path>
              </a:pathLst>
            </a:custGeom>
            <a:ln w="10470">
              <a:solidFill>
                <a:srgbClr val="7996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3761" y="2288643"/>
              <a:ext cx="16156576" cy="79205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7169" y="2194405"/>
              <a:ext cx="167534" cy="1570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09395" y="2194405"/>
              <a:ext cx="167534" cy="1570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7169" y="2351468"/>
              <a:ext cx="167534" cy="813587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09395" y="2351468"/>
              <a:ext cx="167534" cy="81358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4703" y="2194405"/>
              <a:ext cx="16114692" cy="1570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94703" y="10152277"/>
              <a:ext cx="16114692" cy="335068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865370">
              <a:lnSpc>
                <a:spcPct val="100000"/>
              </a:lnSpc>
              <a:spcBef>
                <a:spcPts val="135"/>
              </a:spcBef>
            </a:pPr>
            <a:r>
              <a:rPr sz="9200" spc="-114" dirty="0">
                <a:latin typeface="Arial"/>
                <a:cs typeface="Arial"/>
              </a:rPr>
              <a:t>React</a:t>
            </a:r>
            <a:r>
              <a:rPr sz="9200" spc="-520" dirty="0">
                <a:latin typeface="Arial"/>
                <a:cs typeface="Arial"/>
              </a:rPr>
              <a:t> </a:t>
            </a:r>
            <a:r>
              <a:rPr sz="9200" spc="-135" dirty="0">
                <a:latin typeface="Arial"/>
                <a:cs typeface="Arial"/>
              </a:rPr>
              <a:t>Overview</a:t>
            </a:r>
            <a:endParaRPr sz="9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95" dirty="0"/>
              <a:t>What</a:t>
            </a:r>
            <a:r>
              <a:rPr spc="-204" dirty="0"/>
              <a:t> </a:t>
            </a:r>
            <a:r>
              <a:rPr spc="-60" dirty="0"/>
              <a:t>is</a:t>
            </a:r>
            <a:r>
              <a:rPr spc="-204" dirty="0"/>
              <a:t> </a:t>
            </a:r>
            <a:r>
              <a:rPr spc="-10" dirty="0"/>
              <a:t>React?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2821523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6156" y="2704768"/>
            <a:ext cx="1508061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React is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library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for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building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modern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single-</a:t>
            </a:r>
            <a:r>
              <a:rPr sz="4250" dirty="0">
                <a:latin typeface="Palatino Linotype"/>
                <a:cs typeface="Palatino Linotype"/>
              </a:rPr>
              <a:t>page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applications</a:t>
            </a:r>
            <a:endParaRPr sz="4250">
              <a:latin typeface="Palatino Linotype"/>
              <a:cs typeface="Palatino Linotyp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6564" y="8010380"/>
            <a:ext cx="10009805" cy="11772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99705" y="8051262"/>
            <a:ext cx="6143625" cy="980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250" b="1" spc="-10" dirty="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www.reactjs.org</a:t>
            </a:r>
            <a:endParaRPr sz="62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729371" y="3115314"/>
            <a:ext cx="6638290" cy="5960110"/>
            <a:chOff x="12729371" y="3115314"/>
            <a:chExt cx="6638290" cy="59601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29371" y="3115314"/>
              <a:ext cx="6638214" cy="59595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48207" y="4487521"/>
              <a:ext cx="5800543" cy="320114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143089" y="4818080"/>
            <a:ext cx="3042285" cy="120459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78155" marR="5080" indent="-466090">
              <a:lnSpc>
                <a:spcPts val="4530"/>
              </a:lnSpc>
              <a:spcBef>
                <a:spcPts val="420"/>
              </a:spcBef>
            </a:pPr>
            <a:r>
              <a:rPr sz="3950" b="1" dirty="0">
                <a:solidFill>
                  <a:srgbClr val="FFFFFF"/>
                </a:solidFill>
                <a:latin typeface="Arial"/>
                <a:cs typeface="Arial"/>
              </a:rPr>
              <a:t>Official</a:t>
            </a:r>
            <a:r>
              <a:rPr sz="395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docs </a:t>
            </a: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Tutorials</a:t>
            </a:r>
            <a:endParaRPr sz="395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96928" y="4432973"/>
            <a:ext cx="3310242" cy="33102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1989880" y="1223081"/>
            <a:ext cx="16124555" cy="6370320"/>
            <a:chOff x="1989880" y="1223081"/>
            <a:chExt cx="16124555" cy="6370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9880" y="1223081"/>
              <a:ext cx="16124336" cy="636993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08765" y="2672293"/>
              <a:ext cx="15286990" cy="3457575"/>
            </a:xfrm>
            <a:custGeom>
              <a:avLst/>
              <a:gdLst/>
              <a:ahLst/>
              <a:cxnLst/>
              <a:rect l="l" t="t" r="r" b="b"/>
              <a:pathLst>
                <a:path w="15286990" h="3457575">
                  <a:moveTo>
                    <a:pt x="14616998" y="0"/>
                  </a:moveTo>
                  <a:lnTo>
                    <a:pt x="669568" y="0"/>
                  </a:lnTo>
                  <a:lnTo>
                    <a:pt x="606526" y="347"/>
                  </a:lnTo>
                  <a:lnTo>
                    <a:pt x="549195" y="1291"/>
                  </a:lnTo>
                  <a:lnTo>
                    <a:pt x="497215" y="3128"/>
                  </a:lnTo>
                  <a:lnTo>
                    <a:pt x="450232" y="6157"/>
                  </a:lnTo>
                  <a:lnTo>
                    <a:pt x="407887" y="10676"/>
                  </a:lnTo>
                  <a:lnTo>
                    <a:pt x="369825" y="16983"/>
                  </a:lnTo>
                  <a:lnTo>
                    <a:pt x="305119" y="36151"/>
                  </a:lnTo>
                  <a:lnTo>
                    <a:pt x="259538" y="55644"/>
                  </a:lnTo>
                  <a:lnTo>
                    <a:pt x="216755" y="79793"/>
                  </a:lnTo>
                  <a:lnTo>
                    <a:pt x="177080" y="108288"/>
                  </a:lnTo>
                  <a:lnTo>
                    <a:pt x="140821" y="140820"/>
                  </a:lnTo>
                  <a:lnTo>
                    <a:pt x="108288" y="177079"/>
                  </a:lnTo>
                  <a:lnTo>
                    <a:pt x="79793" y="216755"/>
                  </a:lnTo>
                  <a:lnTo>
                    <a:pt x="55644" y="259538"/>
                  </a:lnTo>
                  <a:lnTo>
                    <a:pt x="36151" y="305119"/>
                  </a:lnTo>
                  <a:lnTo>
                    <a:pt x="16983" y="369825"/>
                  </a:lnTo>
                  <a:lnTo>
                    <a:pt x="10676" y="407887"/>
                  </a:lnTo>
                  <a:lnTo>
                    <a:pt x="6157" y="450232"/>
                  </a:lnTo>
                  <a:lnTo>
                    <a:pt x="3128" y="497215"/>
                  </a:lnTo>
                  <a:lnTo>
                    <a:pt x="1291" y="549195"/>
                  </a:lnTo>
                  <a:lnTo>
                    <a:pt x="347" y="606526"/>
                  </a:lnTo>
                  <a:lnTo>
                    <a:pt x="0" y="669568"/>
                  </a:lnTo>
                  <a:lnTo>
                    <a:pt x="0" y="2787997"/>
                  </a:lnTo>
                  <a:lnTo>
                    <a:pt x="347" y="2851038"/>
                  </a:lnTo>
                  <a:lnTo>
                    <a:pt x="1291" y="2908369"/>
                  </a:lnTo>
                  <a:lnTo>
                    <a:pt x="3128" y="2960349"/>
                  </a:lnTo>
                  <a:lnTo>
                    <a:pt x="6157" y="3007332"/>
                  </a:lnTo>
                  <a:lnTo>
                    <a:pt x="10676" y="3049677"/>
                  </a:lnTo>
                  <a:lnTo>
                    <a:pt x="16983" y="3087739"/>
                  </a:lnTo>
                  <a:lnTo>
                    <a:pt x="36151" y="3152445"/>
                  </a:lnTo>
                  <a:lnTo>
                    <a:pt x="55644" y="3198026"/>
                  </a:lnTo>
                  <a:lnTo>
                    <a:pt x="79793" y="3240809"/>
                  </a:lnTo>
                  <a:lnTo>
                    <a:pt x="108288" y="3280485"/>
                  </a:lnTo>
                  <a:lnTo>
                    <a:pt x="140821" y="3316744"/>
                  </a:lnTo>
                  <a:lnTo>
                    <a:pt x="177080" y="3349276"/>
                  </a:lnTo>
                  <a:lnTo>
                    <a:pt x="216755" y="3377771"/>
                  </a:lnTo>
                  <a:lnTo>
                    <a:pt x="259538" y="3401920"/>
                  </a:lnTo>
                  <a:lnTo>
                    <a:pt x="305119" y="3421413"/>
                  </a:lnTo>
                  <a:lnTo>
                    <a:pt x="369825" y="3440581"/>
                  </a:lnTo>
                  <a:lnTo>
                    <a:pt x="407887" y="3446888"/>
                  </a:lnTo>
                  <a:lnTo>
                    <a:pt x="450232" y="3451407"/>
                  </a:lnTo>
                  <a:lnTo>
                    <a:pt x="497215" y="3454436"/>
                  </a:lnTo>
                  <a:lnTo>
                    <a:pt x="549195" y="3456273"/>
                  </a:lnTo>
                  <a:lnTo>
                    <a:pt x="606526" y="3457217"/>
                  </a:lnTo>
                  <a:lnTo>
                    <a:pt x="669568" y="3457565"/>
                  </a:lnTo>
                  <a:lnTo>
                    <a:pt x="14616998" y="3457565"/>
                  </a:lnTo>
                  <a:lnTo>
                    <a:pt x="14680039" y="3457217"/>
                  </a:lnTo>
                  <a:lnTo>
                    <a:pt x="14737371" y="3456273"/>
                  </a:lnTo>
                  <a:lnTo>
                    <a:pt x="14789351" y="3454436"/>
                  </a:lnTo>
                  <a:lnTo>
                    <a:pt x="14836335" y="3451407"/>
                  </a:lnTo>
                  <a:lnTo>
                    <a:pt x="14878679" y="3446888"/>
                  </a:lnTo>
                  <a:lnTo>
                    <a:pt x="14916742" y="3440581"/>
                  </a:lnTo>
                  <a:lnTo>
                    <a:pt x="14981448" y="3421413"/>
                  </a:lnTo>
                  <a:lnTo>
                    <a:pt x="15027028" y="3401920"/>
                  </a:lnTo>
                  <a:lnTo>
                    <a:pt x="15069811" y="3377771"/>
                  </a:lnTo>
                  <a:lnTo>
                    <a:pt x="15109486" y="3349276"/>
                  </a:lnTo>
                  <a:lnTo>
                    <a:pt x="15145745" y="3316744"/>
                  </a:lnTo>
                  <a:lnTo>
                    <a:pt x="15178277" y="3280485"/>
                  </a:lnTo>
                  <a:lnTo>
                    <a:pt x="15206772" y="3240809"/>
                  </a:lnTo>
                  <a:lnTo>
                    <a:pt x="15230921" y="3198026"/>
                  </a:lnTo>
                  <a:lnTo>
                    <a:pt x="15250413" y="3152445"/>
                  </a:lnTo>
                  <a:lnTo>
                    <a:pt x="15269585" y="3087739"/>
                  </a:lnTo>
                  <a:lnTo>
                    <a:pt x="15275893" y="3049677"/>
                  </a:lnTo>
                  <a:lnTo>
                    <a:pt x="15280413" y="3007332"/>
                  </a:lnTo>
                  <a:lnTo>
                    <a:pt x="15283443" y="2960349"/>
                  </a:lnTo>
                  <a:lnTo>
                    <a:pt x="15285281" y="2908369"/>
                  </a:lnTo>
                  <a:lnTo>
                    <a:pt x="15286224" y="2851038"/>
                  </a:lnTo>
                  <a:lnTo>
                    <a:pt x="15286572" y="2787997"/>
                  </a:lnTo>
                  <a:lnTo>
                    <a:pt x="15286572" y="669568"/>
                  </a:lnTo>
                  <a:lnTo>
                    <a:pt x="15286224" y="606526"/>
                  </a:lnTo>
                  <a:lnTo>
                    <a:pt x="15285281" y="549195"/>
                  </a:lnTo>
                  <a:lnTo>
                    <a:pt x="15283443" y="497215"/>
                  </a:lnTo>
                  <a:lnTo>
                    <a:pt x="15280413" y="450232"/>
                  </a:lnTo>
                  <a:lnTo>
                    <a:pt x="15275893" y="407887"/>
                  </a:lnTo>
                  <a:lnTo>
                    <a:pt x="15269585" y="369825"/>
                  </a:lnTo>
                  <a:lnTo>
                    <a:pt x="15250413" y="305119"/>
                  </a:lnTo>
                  <a:lnTo>
                    <a:pt x="15230921" y="259538"/>
                  </a:lnTo>
                  <a:lnTo>
                    <a:pt x="15206772" y="216755"/>
                  </a:lnTo>
                  <a:lnTo>
                    <a:pt x="15178277" y="177079"/>
                  </a:lnTo>
                  <a:lnTo>
                    <a:pt x="15145745" y="140820"/>
                  </a:lnTo>
                  <a:lnTo>
                    <a:pt x="15109486" y="108288"/>
                  </a:lnTo>
                  <a:lnTo>
                    <a:pt x="15069811" y="79793"/>
                  </a:lnTo>
                  <a:lnTo>
                    <a:pt x="15027028" y="55644"/>
                  </a:lnTo>
                  <a:lnTo>
                    <a:pt x="14981448" y="36151"/>
                  </a:lnTo>
                  <a:lnTo>
                    <a:pt x="14916742" y="16983"/>
                  </a:lnTo>
                  <a:lnTo>
                    <a:pt x="14878679" y="10676"/>
                  </a:lnTo>
                  <a:lnTo>
                    <a:pt x="14836335" y="6157"/>
                  </a:lnTo>
                  <a:lnTo>
                    <a:pt x="14789351" y="3128"/>
                  </a:lnTo>
                  <a:lnTo>
                    <a:pt x="14737371" y="1291"/>
                  </a:lnTo>
                  <a:lnTo>
                    <a:pt x="14680039" y="347"/>
                  </a:lnTo>
                  <a:lnTo>
                    <a:pt x="14616998" y="0"/>
                  </a:lnTo>
                  <a:close/>
                </a:path>
              </a:pathLst>
            </a:custGeom>
            <a:solidFill>
              <a:srgbClr val="C15E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67982" y="2899475"/>
            <a:ext cx="11168380" cy="281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ts val="7420"/>
              </a:lnSpc>
              <a:spcBef>
                <a:spcPts val="100"/>
              </a:spcBef>
            </a:pPr>
            <a:r>
              <a:rPr sz="5900" dirty="0">
                <a:solidFill>
                  <a:srgbClr val="FFFFFF"/>
                </a:solidFill>
                <a:latin typeface="Arial"/>
                <a:cs typeface="Arial"/>
              </a:rPr>
              <a:t>How is</a:t>
            </a:r>
            <a:r>
              <a:rPr sz="59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Arial"/>
                <a:cs typeface="Arial"/>
              </a:rPr>
              <a:t>Single-</a:t>
            </a:r>
            <a:r>
              <a:rPr sz="5900" dirty="0">
                <a:solidFill>
                  <a:srgbClr val="FFFFFF"/>
                </a:solidFill>
                <a:latin typeface="Arial"/>
                <a:cs typeface="Arial"/>
              </a:rPr>
              <a:t>Page</a:t>
            </a:r>
            <a:r>
              <a:rPr sz="59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Arial"/>
                <a:cs typeface="Arial"/>
              </a:rPr>
              <a:t>application </a:t>
            </a:r>
            <a:r>
              <a:rPr sz="5900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5900" spc="-20" dirty="0">
                <a:solidFill>
                  <a:srgbClr val="FFFFFF"/>
                </a:solidFill>
                <a:latin typeface="Arial"/>
                <a:cs typeface="Arial"/>
              </a:rPr>
              <a:t> than</a:t>
            </a:r>
            <a:endParaRPr sz="5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5900" dirty="0">
                <a:solidFill>
                  <a:srgbClr val="FFFFFF"/>
                </a:solidFill>
                <a:latin typeface="Arial"/>
                <a:cs typeface="Arial"/>
              </a:rPr>
              <a:t>Traditional</a:t>
            </a:r>
            <a:r>
              <a:rPr sz="5900" spc="-3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Arial"/>
                <a:cs typeface="Arial"/>
              </a:rPr>
              <a:t>application?</a:t>
            </a:r>
            <a:endParaRPr sz="5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40" dirty="0"/>
              <a:t>Traditional</a:t>
            </a:r>
            <a:r>
              <a:rPr spc="-315" dirty="0"/>
              <a:t> </a:t>
            </a:r>
            <a:r>
              <a:rPr spc="-90" dirty="0"/>
              <a:t>Application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01849" y="2128272"/>
            <a:ext cx="1249108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35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585470" algn="l"/>
              </a:tabLst>
            </a:pPr>
            <a:r>
              <a:rPr sz="4250" dirty="0">
                <a:latin typeface="Palatino Linotype"/>
                <a:cs typeface="Palatino Linotype"/>
              </a:rPr>
              <a:t>Each</a:t>
            </a:r>
            <a:r>
              <a:rPr sz="4250" spc="-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user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action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results</a:t>
            </a:r>
            <a:r>
              <a:rPr sz="4250" spc="-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in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full</a:t>
            </a:r>
            <a:r>
              <a:rPr sz="4250" spc="-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HTML</a:t>
            </a:r>
            <a:r>
              <a:rPr sz="4250" spc="-16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page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spc="-20" dirty="0">
                <a:latin typeface="Palatino Linotype"/>
                <a:cs typeface="Palatino Linotype"/>
              </a:rPr>
              <a:t>load</a:t>
            </a:r>
            <a:endParaRPr sz="425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177579" y="2717831"/>
            <a:ext cx="3921760" cy="5516245"/>
            <a:chOff x="14177579" y="2717831"/>
            <a:chExt cx="3921760" cy="55162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77579" y="2717831"/>
              <a:ext cx="3921673" cy="55158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96503" y="4006948"/>
              <a:ext cx="3083822" cy="292370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082389" y="5003883"/>
            <a:ext cx="2112645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b="1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52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58943" y="2717831"/>
            <a:ext cx="6810375" cy="5516245"/>
            <a:chOff x="1458943" y="2717831"/>
            <a:chExt cx="6810375" cy="55162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8943" y="2717831"/>
              <a:ext cx="6810195" cy="551587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8249" y="4017330"/>
              <a:ext cx="5951583" cy="29029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888249" y="4017330"/>
              <a:ext cx="5951855" cy="2903220"/>
            </a:xfrm>
            <a:custGeom>
              <a:avLst/>
              <a:gdLst/>
              <a:ahLst/>
              <a:cxnLst/>
              <a:rect l="l" t="t" r="r" b="b"/>
              <a:pathLst>
                <a:path w="5951855" h="2903220">
                  <a:moveTo>
                    <a:pt x="0" y="0"/>
                  </a:moveTo>
                  <a:lnTo>
                    <a:pt x="5951583" y="0"/>
                  </a:lnTo>
                  <a:lnTo>
                    <a:pt x="5951583" y="2902937"/>
                  </a:lnTo>
                  <a:lnTo>
                    <a:pt x="0" y="2902937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326655" y="4786547"/>
            <a:ext cx="6005830" cy="1268095"/>
            <a:chOff x="8326655" y="4786547"/>
            <a:chExt cx="6005830" cy="126809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26655" y="4786547"/>
              <a:ext cx="6005515" cy="381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27844" y="5673409"/>
              <a:ext cx="5911691" cy="381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856841" y="4138090"/>
            <a:ext cx="473329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0433FF"/>
                </a:solidFill>
                <a:latin typeface="Arial"/>
                <a:cs typeface="Arial"/>
              </a:rPr>
              <a:t>Full</a:t>
            </a:r>
            <a:r>
              <a:rPr sz="3450" b="1" spc="-20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0433FF"/>
                </a:solidFill>
                <a:latin typeface="Arial"/>
                <a:cs typeface="Arial"/>
              </a:rPr>
              <a:t>HTML</a:t>
            </a:r>
            <a:r>
              <a:rPr sz="3450" b="1" spc="-7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3450" b="1" dirty="0">
                <a:solidFill>
                  <a:srgbClr val="0433FF"/>
                </a:solidFill>
                <a:latin typeface="Arial"/>
                <a:cs typeface="Arial"/>
              </a:rPr>
              <a:t>Page</a:t>
            </a:r>
            <a:r>
              <a:rPr sz="3450" b="1" spc="-1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3450" b="1" spc="-10" dirty="0">
                <a:solidFill>
                  <a:srgbClr val="0433FF"/>
                </a:solidFill>
                <a:latin typeface="Arial"/>
                <a:cs typeface="Arial"/>
              </a:rPr>
              <a:t>Loads</a:t>
            </a:r>
            <a:endParaRPr sz="3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10" dirty="0"/>
              <a:t>Single-</a:t>
            </a:r>
            <a:r>
              <a:rPr dirty="0"/>
              <a:t>Page</a:t>
            </a:r>
            <a:r>
              <a:rPr spc="-305" dirty="0"/>
              <a:t> </a:t>
            </a:r>
            <a:r>
              <a:rPr spc="-80" dirty="0"/>
              <a:t>Application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98170" indent="-572770">
              <a:lnSpc>
                <a:spcPct val="100000"/>
              </a:lnSpc>
              <a:spcBef>
                <a:spcPts val="135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598170" algn="l"/>
              </a:tabLst>
            </a:pPr>
            <a:r>
              <a:rPr sz="4250" dirty="0"/>
              <a:t>A</a:t>
            </a:r>
            <a:r>
              <a:rPr sz="4250" spc="-240" dirty="0"/>
              <a:t> </a:t>
            </a:r>
            <a:r>
              <a:rPr sz="4250" dirty="0"/>
              <a:t>web</a:t>
            </a:r>
            <a:r>
              <a:rPr sz="4250" spc="10" dirty="0"/>
              <a:t> </a:t>
            </a:r>
            <a:r>
              <a:rPr sz="4250" dirty="0"/>
              <a:t>application</a:t>
            </a:r>
            <a:r>
              <a:rPr sz="4250" spc="10" dirty="0"/>
              <a:t> </a:t>
            </a:r>
            <a:r>
              <a:rPr sz="4250" dirty="0"/>
              <a:t>that</a:t>
            </a:r>
            <a:r>
              <a:rPr sz="4250" spc="10" dirty="0"/>
              <a:t> </a:t>
            </a:r>
            <a:r>
              <a:rPr sz="4250" dirty="0"/>
              <a:t>is</a:t>
            </a:r>
            <a:r>
              <a:rPr sz="4250" spc="10" dirty="0"/>
              <a:t> </a:t>
            </a:r>
            <a:r>
              <a:rPr sz="4250" dirty="0"/>
              <a:t>composed</a:t>
            </a:r>
            <a:r>
              <a:rPr sz="4250" spc="5" dirty="0"/>
              <a:t> </a:t>
            </a:r>
            <a:r>
              <a:rPr sz="4250" dirty="0"/>
              <a:t>of</a:t>
            </a:r>
            <a:r>
              <a:rPr sz="4250" spc="10" dirty="0"/>
              <a:t> </a:t>
            </a:r>
            <a:r>
              <a:rPr sz="4250" dirty="0"/>
              <a:t>a</a:t>
            </a:r>
            <a:r>
              <a:rPr sz="4250" spc="10" dirty="0"/>
              <a:t> </a:t>
            </a:r>
            <a:r>
              <a:rPr sz="4250" dirty="0"/>
              <a:t>single</a:t>
            </a:r>
            <a:r>
              <a:rPr sz="4250" spc="10" dirty="0"/>
              <a:t> </a:t>
            </a:r>
            <a:r>
              <a:rPr sz="4250" spc="-20" dirty="0"/>
              <a:t>page</a:t>
            </a:r>
            <a:endParaRPr sz="4250"/>
          </a:p>
          <a:p>
            <a:pPr marL="598170" indent="-572770">
              <a:lnSpc>
                <a:spcPct val="100000"/>
              </a:lnSpc>
              <a:spcBef>
                <a:spcPts val="3970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598170" algn="l"/>
              </a:tabLst>
            </a:pPr>
            <a:r>
              <a:rPr sz="4250" dirty="0"/>
              <a:t>Based</a:t>
            </a:r>
            <a:r>
              <a:rPr sz="4250" spc="5" dirty="0"/>
              <a:t> </a:t>
            </a:r>
            <a:r>
              <a:rPr sz="4250" dirty="0"/>
              <a:t>on</a:t>
            </a:r>
            <a:r>
              <a:rPr sz="4250" spc="5" dirty="0"/>
              <a:t> </a:t>
            </a:r>
            <a:r>
              <a:rPr sz="4250" dirty="0"/>
              <a:t>user</a:t>
            </a:r>
            <a:r>
              <a:rPr sz="4250" spc="5" dirty="0"/>
              <a:t> </a:t>
            </a:r>
            <a:r>
              <a:rPr sz="4250" dirty="0"/>
              <a:t>actions,</a:t>
            </a:r>
            <a:r>
              <a:rPr sz="4250" spc="5" dirty="0"/>
              <a:t> </a:t>
            </a:r>
            <a:r>
              <a:rPr sz="4250" dirty="0"/>
              <a:t>the</a:t>
            </a:r>
            <a:r>
              <a:rPr sz="4250" spc="5" dirty="0"/>
              <a:t> </a:t>
            </a:r>
            <a:r>
              <a:rPr sz="4250" dirty="0"/>
              <a:t>application</a:t>
            </a:r>
            <a:r>
              <a:rPr sz="4250" spc="5" dirty="0"/>
              <a:t> </a:t>
            </a:r>
            <a:r>
              <a:rPr sz="4250" dirty="0"/>
              <a:t>page</a:t>
            </a:r>
            <a:r>
              <a:rPr sz="4250" spc="5" dirty="0"/>
              <a:t> </a:t>
            </a:r>
            <a:r>
              <a:rPr sz="4250" dirty="0"/>
              <a:t>is</a:t>
            </a:r>
            <a:r>
              <a:rPr sz="4250" spc="5" dirty="0"/>
              <a:t> </a:t>
            </a:r>
            <a:r>
              <a:rPr sz="4250" spc="-10" dirty="0"/>
              <a:t>updated</a:t>
            </a:r>
            <a:endParaRPr sz="4250"/>
          </a:p>
          <a:p>
            <a:pPr marL="1017269" lvl="1" indent="-573405">
              <a:lnSpc>
                <a:spcPct val="100000"/>
              </a:lnSpc>
              <a:spcBef>
                <a:spcPts val="3970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1017269" algn="l"/>
              </a:tabLst>
            </a:pPr>
            <a:r>
              <a:rPr sz="4250" dirty="0">
                <a:latin typeface="Palatino Linotype"/>
                <a:cs typeface="Palatino Linotype"/>
              </a:rPr>
              <a:t>Normally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performs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partial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update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…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instead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of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full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page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spc="-20" dirty="0">
                <a:latin typeface="Palatino Linotype"/>
                <a:cs typeface="Palatino Linotype"/>
              </a:rPr>
              <a:t>load</a:t>
            </a:r>
            <a:endParaRPr sz="425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107025" y="4750546"/>
            <a:ext cx="3921760" cy="5516245"/>
            <a:chOff x="14107025" y="4750546"/>
            <a:chExt cx="3921760" cy="55162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07025" y="4750546"/>
              <a:ext cx="3921673" cy="55158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25950" y="6039663"/>
              <a:ext cx="3083832" cy="292370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011837" y="7036598"/>
            <a:ext cx="2112645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b="1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52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88394" y="4750546"/>
            <a:ext cx="12774295" cy="5516245"/>
            <a:chOff x="1388394" y="4750546"/>
            <a:chExt cx="12774295" cy="55162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8394" y="4750546"/>
              <a:ext cx="6810195" cy="551587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7700" y="6050045"/>
              <a:ext cx="5951583" cy="29029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158209" y="7274524"/>
              <a:ext cx="5817235" cy="0"/>
            </a:xfrm>
            <a:custGeom>
              <a:avLst/>
              <a:gdLst/>
              <a:ahLst/>
              <a:cxnLst/>
              <a:rect l="l" t="t" r="r" b="b"/>
              <a:pathLst>
                <a:path w="5817234">
                  <a:moveTo>
                    <a:pt x="0" y="0"/>
                  </a:moveTo>
                  <a:lnTo>
                    <a:pt x="5790718" y="0"/>
                  </a:lnTo>
                  <a:lnTo>
                    <a:pt x="5816896" y="0"/>
                  </a:lnTo>
                </a:path>
              </a:pathLst>
            </a:custGeom>
            <a:ln w="52354">
              <a:solidFill>
                <a:srgbClr val="A5323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948926" y="7167721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4" h="213995">
                  <a:moveTo>
                    <a:pt x="0" y="0"/>
                  </a:moveTo>
                  <a:lnTo>
                    <a:pt x="0" y="213606"/>
                  </a:lnTo>
                  <a:lnTo>
                    <a:pt x="213606" y="106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32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30514" y="7630535"/>
              <a:ext cx="5725795" cy="0"/>
            </a:xfrm>
            <a:custGeom>
              <a:avLst/>
              <a:gdLst/>
              <a:ahLst/>
              <a:cxnLst/>
              <a:rect l="l" t="t" r="r" b="b"/>
              <a:pathLst>
                <a:path w="5725794">
                  <a:moveTo>
                    <a:pt x="0" y="0"/>
                  </a:moveTo>
                  <a:lnTo>
                    <a:pt x="26177" y="0"/>
                  </a:lnTo>
                  <a:lnTo>
                    <a:pt x="5725372" y="0"/>
                  </a:lnTo>
                </a:path>
              </a:pathLst>
            </a:custGeom>
            <a:ln w="52354">
              <a:solidFill>
                <a:srgbClr val="A5323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143085" y="7523732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5" h="213995">
                  <a:moveTo>
                    <a:pt x="213606" y="0"/>
                  </a:moveTo>
                  <a:lnTo>
                    <a:pt x="0" y="106803"/>
                  </a:lnTo>
                  <a:lnTo>
                    <a:pt x="213606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A532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481059" y="6648744"/>
            <a:ext cx="323723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dirty="0">
                <a:solidFill>
                  <a:srgbClr val="0433FF"/>
                </a:solidFill>
                <a:latin typeface="Arial"/>
                <a:cs typeface="Arial"/>
              </a:rPr>
              <a:t>REST</a:t>
            </a:r>
            <a:r>
              <a:rPr sz="2950" b="1" spc="-114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0433FF"/>
                </a:solidFill>
                <a:latin typeface="Arial"/>
                <a:cs typeface="Arial"/>
              </a:rPr>
              <a:t>API for</a:t>
            </a:r>
            <a:r>
              <a:rPr sz="2950" b="1" spc="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2950" b="1" spc="-20" dirty="0">
                <a:solidFill>
                  <a:srgbClr val="0433FF"/>
                </a:solidFill>
                <a:latin typeface="Arial"/>
                <a:cs typeface="Arial"/>
              </a:rPr>
              <a:t>data</a:t>
            </a:r>
            <a:endParaRPr sz="2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17700" y="6050045"/>
            <a:ext cx="5951855" cy="2903220"/>
          </a:xfrm>
          <a:prstGeom prst="rect">
            <a:avLst/>
          </a:prstGeom>
          <a:ln w="2094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2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950" b="1" dirty="0">
                <a:solidFill>
                  <a:srgbClr val="0433FF"/>
                </a:solidFill>
                <a:latin typeface="Arial"/>
                <a:cs typeface="Arial"/>
              </a:rPr>
              <a:t>Partial</a:t>
            </a:r>
            <a:r>
              <a:rPr sz="2950" b="1" spc="-1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0433FF"/>
                </a:solidFill>
                <a:latin typeface="Arial"/>
                <a:cs typeface="Arial"/>
              </a:rPr>
              <a:t>page</a:t>
            </a:r>
            <a:r>
              <a:rPr sz="2950" b="1" spc="-10" dirty="0">
                <a:solidFill>
                  <a:srgbClr val="0433FF"/>
                </a:solidFill>
                <a:latin typeface="Arial"/>
                <a:cs typeface="Arial"/>
              </a:rPr>
              <a:t> updates</a:t>
            </a:r>
            <a:endParaRPr sz="29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950" b="1" dirty="0">
                <a:solidFill>
                  <a:srgbClr val="0433FF"/>
                </a:solidFill>
                <a:latin typeface="Arial"/>
                <a:cs typeface="Arial"/>
              </a:rPr>
              <a:t>(client</a:t>
            </a:r>
            <a:r>
              <a:rPr sz="1950" b="1" spc="4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0433FF"/>
                </a:solidFill>
                <a:latin typeface="Arial"/>
                <a:cs typeface="Arial"/>
              </a:rPr>
              <a:t>side</a:t>
            </a:r>
            <a:r>
              <a:rPr sz="1950" b="1" spc="4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0433FF"/>
                </a:solidFill>
                <a:latin typeface="Arial"/>
                <a:cs typeface="Arial"/>
              </a:rPr>
              <a:t>only)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Examples</a:t>
            </a:r>
            <a:r>
              <a:rPr spc="-345" dirty="0"/>
              <a:t> </a:t>
            </a:r>
            <a:r>
              <a:rPr spc="-50" dirty="0"/>
              <a:t>of</a:t>
            </a:r>
            <a:r>
              <a:rPr spc="-340" dirty="0"/>
              <a:t> </a:t>
            </a:r>
            <a:r>
              <a:rPr spc="-110" dirty="0"/>
              <a:t>Single-</a:t>
            </a:r>
            <a:r>
              <a:rPr dirty="0"/>
              <a:t>Page</a:t>
            </a:r>
            <a:r>
              <a:rPr spc="-345" dirty="0"/>
              <a:t> </a:t>
            </a:r>
            <a:r>
              <a:rPr spc="-80" dirty="0"/>
              <a:t>Applications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91037" y="3264028"/>
            <a:ext cx="6057900" cy="4719320"/>
            <a:chOff x="1991037" y="3264028"/>
            <a:chExt cx="6057900" cy="4719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1037" y="3264028"/>
              <a:ext cx="6057539" cy="471906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7685" y="3281513"/>
              <a:ext cx="5931888" cy="459341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27685" y="3281513"/>
              <a:ext cx="5932170" cy="4593590"/>
            </a:xfrm>
            <a:custGeom>
              <a:avLst/>
              <a:gdLst/>
              <a:ahLst/>
              <a:cxnLst/>
              <a:rect l="l" t="t" r="r" b="b"/>
              <a:pathLst>
                <a:path w="5932170" h="4593590">
                  <a:moveTo>
                    <a:pt x="0" y="0"/>
                  </a:moveTo>
                  <a:lnTo>
                    <a:pt x="5931888" y="0"/>
                  </a:lnTo>
                  <a:lnTo>
                    <a:pt x="5931888" y="4593410"/>
                  </a:lnTo>
                  <a:lnTo>
                    <a:pt x="0" y="4593410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F3F7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43596" y="2474605"/>
            <a:ext cx="130048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20" dirty="0">
                <a:solidFill>
                  <a:srgbClr val="0433FF"/>
                </a:solidFill>
                <a:latin typeface="Arial Black"/>
                <a:cs typeface="Arial Black"/>
              </a:rPr>
              <a:t>Maps</a:t>
            </a:r>
            <a:endParaRPr sz="345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322486" y="4877066"/>
            <a:ext cx="7804150" cy="4095115"/>
            <a:chOff x="10322486" y="4877066"/>
            <a:chExt cx="7804150" cy="40951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2486" y="4877066"/>
              <a:ext cx="7803918" cy="4094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59135" y="4894551"/>
              <a:ext cx="7678267" cy="396927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359135" y="4894551"/>
              <a:ext cx="7678420" cy="3969385"/>
            </a:xfrm>
            <a:custGeom>
              <a:avLst/>
              <a:gdLst/>
              <a:ahLst/>
              <a:cxnLst/>
              <a:rect l="l" t="t" r="r" b="b"/>
              <a:pathLst>
                <a:path w="7678419" h="3969384">
                  <a:moveTo>
                    <a:pt x="0" y="0"/>
                  </a:moveTo>
                  <a:lnTo>
                    <a:pt x="7678267" y="0"/>
                  </a:lnTo>
                  <a:lnTo>
                    <a:pt x="7678267" y="3969273"/>
                  </a:lnTo>
                  <a:lnTo>
                    <a:pt x="0" y="3969273"/>
                  </a:lnTo>
                  <a:lnTo>
                    <a:pt x="0" y="0"/>
                  </a:lnTo>
                  <a:close/>
                </a:path>
              </a:pathLst>
            </a:custGeom>
            <a:ln w="20941">
              <a:solidFill>
                <a:srgbClr val="F3F7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513767" y="4130284"/>
            <a:ext cx="1369060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spc="-10" dirty="0">
                <a:solidFill>
                  <a:srgbClr val="0433FF"/>
                </a:solidFill>
                <a:latin typeface="Arial Black"/>
                <a:cs typeface="Arial Black"/>
              </a:rPr>
              <a:t>Email</a:t>
            </a:r>
            <a:endParaRPr sz="34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React</a:t>
            </a:r>
            <a:r>
              <a:rPr spc="30" dirty="0"/>
              <a:t> </a:t>
            </a:r>
            <a:r>
              <a:rPr spc="-55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2821523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6156" y="2704768"/>
            <a:ext cx="1508061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React is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library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for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building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modern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single-</a:t>
            </a:r>
            <a:r>
              <a:rPr sz="4250" dirty="0">
                <a:latin typeface="Palatino Linotype"/>
                <a:cs typeface="Palatino Linotype"/>
              </a:rPr>
              <a:t>page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applications</a:t>
            </a:r>
            <a:endParaRPr sz="4250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31894" y="3337127"/>
            <a:ext cx="16640810" cy="5516245"/>
            <a:chOff x="1731894" y="3337127"/>
            <a:chExt cx="16640810" cy="55162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1894" y="3337127"/>
              <a:ext cx="6810195" cy="551587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1201" y="4636626"/>
              <a:ext cx="5951583" cy="29029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50534" y="3337127"/>
              <a:ext cx="3921673" cy="551587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69458" y="4626244"/>
              <a:ext cx="3083822" cy="292370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355344" y="5623179"/>
            <a:ext cx="2112645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b="1" spc="-1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endParaRPr sz="52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75358" y="5954500"/>
            <a:ext cx="6031230" cy="570230"/>
            <a:chOff x="8475358" y="5954500"/>
            <a:chExt cx="6031230" cy="570230"/>
          </a:xfrm>
        </p:grpSpPr>
        <p:sp>
          <p:nvSpPr>
            <p:cNvPr id="12" name="object 12"/>
            <p:cNvSpPr/>
            <p:nvPr/>
          </p:nvSpPr>
          <p:spPr>
            <a:xfrm>
              <a:off x="8501711" y="6061303"/>
              <a:ext cx="5817235" cy="0"/>
            </a:xfrm>
            <a:custGeom>
              <a:avLst/>
              <a:gdLst/>
              <a:ahLst/>
              <a:cxnLst/>
              <a:rect l="l" t="t" r="r" b="b"/>
              <a:pathLst>
                <a:path w="5817234">
                  <a:moveTo>
                    <a:pt x="0" y="0"/>
                  </a:moveTo>
                  <a:lnTo>
                    <a:pt x="5790718" y="0"/>
                  </a:lnTo>
                  <a:lnTo>
                    <a:pt x="5816896" y="0"/>
                  </a:lnTo>
                </a:path>
              </a:pathLst>
            </a:custGeom>
            <a:ln w="52354">
              <a:solidFill>
                <a:srgbClr val="A5323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292434" y="5954500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4" h="213995">
                  <a:moveTo>
                    <a:pt x="0" y="0"/>
                  </a:moveTo>
                  <a:lnTo>
                    <a:pt x="0" y="213606"/>
                  </a:lnTo>
                  <a:lnTo>
                    <a:pt x="213606" y="106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32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74015" y="6417313"/>
              <a:ext cx="5725795" cy="0"/>
            </a:xfrm>
            <a:custGeom>
              <a:avLst/>
              <a:gdLst/>
              <a:ahLst/>
              <a:cxnLst/>
              <a:rect l="l" t="t" r="r" b="b"/>
              <a:pathLst>
                <a:path w="5725794">
                  <a:moveTo>
                    <a:pt x="0" y="0"/>
                  </a:moveTo>
                  <a:lnTo>
                    <a:pt x="26177" y="0"/>
                  </a:lnTo>
                  <a:lnTo>
                    <a:pt x="5725372" y="0"/>
                  </a:lnTo>
                </a:path>
              </a:pathLst>
            </a:custGeom>
            <a:ln w="52354">
              <a:solidFill>
                <a:srgbClr val="A5323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486586" y="6310510"/>
              <a:ext cx="213995" cy="213995"/>
            </a:xfrm>
            <a:custGeom>
              <a:avLst/>
              <a:gdLst/>
              <a:ahLst/>
              <a:cxnLst/>
              <a:rect l="l" t="t" r="r" b="b"/>
              <a:pathLst>
                <a:path w="213995" h="213995">
                  <a:moveTo>
                    <a:pt x="213606" y="0"/>
                  </a:moveTo>
                  <a:lnTo>
                    <a:pt x="0" y="106803"/>
                  </a:lnTo>
                  <a:lnTo>
                    <a:pt x="213606" y="213606"/>
                  </a:lnTo>
                  <a:lnTo>
                    <a:pt x="213606" y="0"/>
                  </a:lnTo>
                  <a:close/>
                </a:path>
              </a:pathLst>
            </a:custGeom>
            <a:solidFill>
              <a:srgbClr val="A532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24560" y="5435521"/>
            <a:ext cx="323723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b="1" dirty="0">
                <a:solidFill>
                  <a:srgbClr val="0433FF"/>
                </a:solidFill>
                <a:latin typeface="Arial"/>
                <a:cs typeface="Arial"/>
              </a:rPr>
              <a:t>REST</a:t>
            </a:r>
            <a:r>
              <a:rPr sz="2950" b="1" spc="-114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0433FF"/>
                </a:solidFill>
                <a:latin typeface="Arial"/>
                <a:cs typeface="Arial"/>
              </a:rPr>
              <a:t>API for</a:t>
            </a:r>
            <a:r>
              <a:rPr sz="2950" b="1" spc="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2950" b="1" spc="-20" dirty="0">
                <a:solidFill>
                  <a:srgbClr val="0433FF"/>
                </a:solidFill>
                <a:latin typeface="Arial"/>
                <a:cs typeface="Arial"/>
              </a:rPr>
              <a:t>data</a:t>
            </a:r>
            <a:endParaRPr sz="2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61201" y="4636626"/>
            <a:ext cx="5951855" cy="2903220"/>
          </a:xfrm>
          <a:prstGeom prst="rect">
            <a:avLst/>
          </a:prstGeom>
          <a:ln w="20941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35"/>
              </a:spcBef>
            </a:pPr>
            <a:endParaRPr sz="2950">
              <a:latin typeface="Times New Roman"/>
              <a:cs typeface="Times New Roman"/>
            </a:endParaRPr>
          </a:p>
          <a:p>
            <a:pPr marL="1297940" algn="ctr">
              <a:lnSpc>
                <a:spcPct val="100000"/>
              </a:lnSpc>
            </a:pPr>
            <a:r>
              <a:rPr sz="2950" b="1" dirty="0">
                <a:solidFill>
                  <a:srgbClr val="0433FF"/>
                </a:solidFill>
                <a:latin typeface="Arial"/>
                <a:cs typeface="Arial"/>
              </a:rPr>
              <a:t>Partial</a:t>
            </a:r>
            <a:r>
              <a:rPr sz="2950" b="1" spc="-1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0433FF"/>
                </a:solidFill>
                <a:latin typeface="Arial"/>
                <a:cs typeface="Arial"/>
              </a:rPr>
              <a:t>page</a:t>
            </a:r>
            <a:r>
              <a:rPr sz="2950" b="1" spc="-10" dirty="0">
                <a:solidFill>
                  <a:srgbClr val="0433FF"/>
                </a:solidFill>
                <a:latin typeface="Arial"/>
                <a:cs typeface="Arial"/>
              </a:rPr>
              <a:t> updates</a:t>
            </a:r>
            <a:endParaRPr sz="2950">
              <a:latin typeface="Arial"/>
              <a:cs typeface="Arial"/>
            </a:endParaRPr>
          </a:p>
          <a:p>
            <a:pPr marL="1297940" algn="ctr">
              <a:lnSpc>
                <a:spcPct val="100000"/>
              </a:lnSpc>
              <a:spcBef>
                <a:spcPts val="925"/>
              </a:spcBef>
            </a:pPr>
            <a:r>
              <a:rPr sz="1950" b="1" dirty="0">
                <a:solidFill>
                  <a:srgbClr val="0433FF"/>
                </a:solidFill>
                <a:latin typeface="Arial"/>
                <a:cs typeface="Arial"/>
              </a:rPr>
              <a:t>(client</a:t>
            </a:r>
            <a:r>
              <a:rPr sz="1950" b="1" spc="4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0433FF"/>
                </a:solidFill>
                <a:latin typeface="Arial"/>
                <a:cs typeface="Arial"/>
              </a:rPr>
              <a:t>side</a:t>
            </a:r>
            <a:r>
              <a:rPr sz="1950" b="1" spc="45" dirty="0">
                <a:solidFill>
                  <a:srgbClr val="0433FF"/>
                </a:solidFill>
                <a:latin typeface="Arial"/>
                <a:cs typeface="Arial"/>
              </a:rPr>
              <a:t> </a:t>
            </a:r>
            <a:r>
              <a:rPr sz="1950" b="1" spc="-10" dirty="0">
                <a:solidFill>
                  <a:srgbClr val="0433FF"/>
                </a:solidFill>
                <a:latin typeface="Arial"/>
                <a:cs typeface="Arial"/>
              </a:rPr>
              <a:t>only)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47281" y="5434362"/>
            <a:ext cx="1592166" cy="1592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Who’s</a:t>
            </a:r>
            <a:r>
              <a:rPr spc="-355" dirty="0"/>
              <a:t> </a:t>
            </a:r>
            <a:r>
              <a:rPr spc="-100" dirty="0"/>
              <a:t>using</a:t>
            </a:r>
            <a:r>
              <a:rPr spc="-305" dirty="0"/>
              <a:t> </a:t>
            </a:r>
            <a:r>
              <a:rPr spc="-10" dirty="0"/>
              <a:t>React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2119873"/>
            <a:ext cx="11504295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85470" indent="-572770">
              <a:lnSpc>
                <a:spcPct val="100000"/>
              </a:lnSpc>
              <a:spcBef>
                <a:spcPts val="135"/>
              </a:spcBef>
              <a:buClr>
                <a:srgbClr val="5C86B9"/>
              </a:buClr>
              <a:buSzPct val="70588"/>
              <a:buFont typeface="Arial MT"/>
              <a:buChar char="•"/>
              <a:tabLst>
                <a:tab pos="585470" algn="l"/>
              </a:tabLst>
            </a:pPr>
            <a:r>
              <a:rPr sz="4250" dirty="0">
                <a:latin typeface="Palatino Linotype"/>
                <a:cs typeface="Palatino Linotype"/>
              </a:rPr>
              <a:t>Companies</a:t>
            </a:r>
            <a:r>
              <a:rPr sz="4250" spc="-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around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the</a:t>
            </a:r>
            <a:r>
              <a:rPr sz="4250" spc="-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world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are</a:t>
            </a:r>
            <a:r>
              <a:rPr sz="4250" spc="-2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using</a:t>
            </a:r>
            <a:r>
              <a:rPr sz="4250" spc="-20" dirty="0">
                <a:latin typeface="Palatino Linotype"/>
                <a:cs typeface="Palatino Linotype"/>
              </a:rPr>
              <a:t> </a:t>
            </a:r>
            <a:r>
              <a:rPr sz="4250" spc="-10" dirty="0">
                <a:latin typeface="Palatino Linotype"/>
                <a:cs typeface="Palatino Linotype"/>
              </a:rPr>
              <a:t>React</a:t>
            </a:r>
            <a:endParaRPr sz="425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65995" y="3614919"/>
            <a:ext cx="164782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0433FF"/>
                </a:solidFill>
                <a:latin typeface="Arial Black"/>
                <a:cs typeface="Arial Black"/>
              </a:rPr>
              <a:t>WhatsApp</a:t>
            </a:r>
            <a:endParaRPr sz="230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98687" y="4018688"/>
            <a:ext cx="4504690" cy="3756660"/>
            <a:chOff x="7898687" y="4018688"/>
            <a:chExt cx="4504690" cy="37566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6692" y="4133867"/>
              <a:ext cx="4148488" cy="329531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8687" y="4018688"/>
              <a:ext cx="4504498" cy="375603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446929" y="3582738"/>
            <a:ext cx="135636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0433FF"/>
                </a:solidFill>
                <a:latin typeface="Arial Black"/>
                <a:cs typeface="Arial Black"/>
              </a:rPr>
              <a:t>Dropbox</a:t>
            </a:r>
            <a:endParaRPr sz="230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86319" y="4023452"/>
            <a:ext cx="6174740" cy="5939790"/>
            <a:chOff x="686319" y="4023452"/>
            <a:chExt cx="6174740" cy="593979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32508" y="4138631"/>
              <a:ext cx="5250362" cy="32214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4503" y="4023452"/>
              <a:ext cx="5606372" cy="36821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6319" y="7602631"/>
              <a:ext cx="2360127" cy="2360127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487192" y="3614919"/>
            <a:ext cx="157988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0433FF"/>
                </a:solidFill>
                <a:latin typeface="Arial Black"/>
                <a:cs typeface="Arial Black"/>
              </a:rPr>
              <a:t>Facebook</a:t>
            </a:r>
            <a:endParaRPr sz="2300">
              <a:latin typeface="Arial Black"/>
              <a:cs typeface="Arial Black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342934" y="4018688"/>
            <a:ext cx="5538470" cy="3756660"/>
            <a:chOff x="13342934" y="4018688"/>
            <a:chExt cx="5538470" cy="3756660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520939" y="4133867"/>
              <a:ext cx="5182428" cy="329531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42934" y="4018688"/>
              <a:ext cx="5538438" cy="3756036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62294" y="8120291"/>
            <a:ext cx="15189581" cy="132480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857455" y="8325046"/>
            <a:ext cx="10800080" cy="8299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250" b="1" spc="-10" dirty="0">
                <a:solidFill>
                  <a:srgbClr val="FFFFFF"/>
                </a:solidFill>
                <a:latin typeface="Arial"/>
                <a:cs typeface="Arial"/>
              </a:rPr>
              <a:t>www.https://madewithreactjs.com</a:t>
            </a:r>
            <a:endParaRPr sz="5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015" y="489330"/>
            <a:ext cx="5034280" cy="1021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React</a:t>
            </a:r>
            <a:r>
              <a:rPr spc="30" dirty="0"/>
              <a:t> </a:t>
            </a:r>
            <a:r>
              <a:rPr spc="-110" dirty="0"/>
              <a:t>History</a:t>
            </a:r>
          </a:p>
        </p:txBody>
      </p:sp>
      <p:sp>
        <p:nvSpPr>
          <p:cNvPr id="3" name="object 3"/>
          <p:cNvSpPr/>
          <p:nvPr/>
        </p:nvSpPr>
        <p:spPr>
          <a:xfrm>
            <a:off x="8707899" y="3122552"/>
            <a:ext cx="0" cy="1177290"/>
          </a:xfrm>
          <a:custGeom>
            <a:avLst/>
            <a:gdLst/>
            <a:ahLst/>
            <a:cxnLst/>
            <a:rect l="l" t="t" r="r" b="b"/>
            <a:pathLst>
              <a:path h="1177289">
                <a:moveTo>
                  <a:pt x="0" y="677533"/>
                </a:moveTo>
                <a:lnTo>
                  <a:pt x="0" y="1177284"/>
                </a:lnTo>
              </a:path>
              <a:path h="1177289">
                <a:moveTo>
                  <a:pt x="0" y="0"/>
                </a:moveTo>
                <a:lnTo>
                  <a:pt x="0" y="572824"/>
                </a:lnTo>
              </a:path>
            </a:pathLst>
          </a:custGeom>
          <a:ln w="104708">
            <a:solidFill>
              <a:srgbClr val="A532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969895" y="2534777"/>
            <a:ext cx="147637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Arial"/>
                <a:cs typeface="Arial"/>
              </a:rPr>
              <a:t>React</a:t>
            </a:r>
            <a:r>
              <a:rPr sz="2300" b="1" spc="-10" dirty="0">
                <a:latin typeface="Arial"/>
                <a:cs typeface="Arial"/>
              </a:rPr>
              <a:t> </a:t>
            </a:r>
            <a:r>
              <a:rPr sz="2300" b="1" spc="-20" dirty="0">
                <a:latin typeface="Arial"/>
                <a:cs typeface="Arial"/>
              </a:rPr>
              <a:t>0.14</a:t>
            </a:r>
            <a:endParaRPr sz="2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33166" y="4313324"/>
            <a:ext cx="1149985" cy="10699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180"/>
              </a:spcBef>
            </a:pPr>
            <a:r>
              <a:rPr sz="2950" spc="-20" dirty="0">
                <a:latin typeface="Arial Black"/>
                <a:cs typeface="Arial Black"/>
              </a:rPr>
              <a:t>2015</a:t>
            </a:r>
            <a:endParaRPr sz="29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300" b="1" spc="-10" dirty="0">
                <a:latin typeface="Arial"/>
                <a:cs typeface="Arial"/>
              </a:rPr>
              <a:t>October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18449" y="3122552"/>
            <a:ext cx="0" cy="1177290"/>
          </a:xfrm>
          <a:custGeom>
            <a:avLst/>
            <a:gdLst/>
            <a:ahLst/>
            <a:cxnLst/>
            <a:rect l="l" t="t" r="r" b="b"/>
            <a:pathLst>
              <a:path h="1177289">
                <a:moveTo>
                  <a:pt x="0" y="677533"/>
                </a:moveTo>
                <a:lnTo>
                  <a:pt x="0" y="1177284"/>
                </a:lnTo>
              </a:path>
              <a:path h="1177289">
                <a:moveTo>
                  <a:pt x="0" y="0"/>
                </a:moveTo>
                <a:lnTo>
                  <a:pt x="0" y="572824"/>
                </a:lnTo>
              </a:path>
            </a:pathLst>
          </a:custGeom>
          <a:ln w="104708">
            <a:solidFill>
              <a:srgbClr val="A532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80446" y="2534777"/>
            <a:ext cx="1476375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Arial"/>
                <a:cs typeface="Arial"/>
              </a:rPr>
              <a:t>React</a:t>
            </a:r>
            <a:r>
              <a:rPr sz="2300" b="1" spc="-10" dirty="0">
                <a:latin typeface="Arial"/>
                <a:cs typeface="Arial"/>
              </a:rPr>
              <a:t> </a:t>
            </a:r>
            <a:r>
              <a:rPr sz="2300" b="1" spc="-20" dirty="0">
                <a:latin typeface="Arial"/>
                <a:cs typeface="Arial"/>
              </a:rPr>
              <a:t>0.13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2900" y="4313324"/>
            <a:ext cx="1031240" cy="10699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950" spc="-20" dirty="0">
                <a:latin typeface="Arial Black"/>
                <a:cs typeface="Arial Black"/>
              </a:rPr>
              <a:t>2015</a:t>
            </a:r>
            <a:endParaRPr sz="2950">
              <a:latin typeface="Arial Black"/>
              <a:cs typeface="Arial Black"/>
            </a:endParaRPr>
          </a:p>
          <a:p>
            <a:pPr marL="83185">
              <a:lnSpc>
                <a:spcPct val="100000"/>
              </a:lnSpc>
              <a:spcBef>
                <a:spcPts val="840"/>
              </a:spcBef>
            </a:pPr>
            <a:r>
              <a:rPr sz="2300" b="1" spc="-10" dirty="0">
                <a:latin typeface="Arial"/>
                <a:cs typeface="Arial"/>
              </a:rPr>
              <a:t>March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797346" y="3122552"/>
            <a:ext cx="0" cy="1177290"/>
          </a:xfrm>
          <a:custGeom>
            <a:avLst/>
            <a:gdLst/>
            <a:ahLst/>
            <a:cxnLst/>
            <a:rect l="l" t="t" r="r" b="b"/>
            <a:pathLst>
              <a:path h="1177289">
                <a:moveTo>
                  <a:pt x="0" y="677533"/>
                </a:moveTo>
                <a:lnTo>
                  <a:pt x="0" y="1177284"/>
                </a:lnTo>
              </a:path>
              <a:path h="1177289">
                <a:moveTo>
                  <a:pt x="0" y="0"/>
                </a:moveTo>
                <a:lnTo>
                  <a:pt x="0" y="572824"/>
                </a:lnTo>
              </a:path>
            </a:pathLst>
          </a:custGeom>
          <a:ln w="104708">
            <a:solidFill>
              <a:srgbClr val="A532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181602" y="2534777"/>
            <a:ext cx="123190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Arial"/>
                <a:cs typeface="Arial"/>
              </a:rPr>
              <a:t>React </a:t>
            </a:r>
            <a:r>
              <a:rPr sz="2300" b="1" spc="-25" dirty="0">
                <a:latin typeface="Arial"/>
                <a:cs typeface="Arial"/>
              </a:rPr>
              <a:t>15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81801" y="4313324"/>
            <a:ext cx="1031240" cy="10699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sz="2950" spc="-20" dirty="0">
                <a:latin typeface="Arial Black"/>
                <a:cs typeface="Arial Black"/>
              </a:rPr>
              <a:t>2016</a:t>
            </a:r>
            <a:endParaRPr sz="29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2300" b="1" spc="-10" dirty="0">
                <a:latin typeface="Arial"/>
                <a:cs typeface="Arial"/>
              </a:rPr>
              <a:t>April</a:t>
            </a:r>
            <a:endParaRPr sz="2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2886801" y="3122552"/>
            <a:ext cx="0" cy="1177290"/>
          </a:xfrm>
          <a:custGeom>
            <a:avLst/>
            <a:gdLst/>
            <a:ahLst/>
            <a:cxnLst/>
            <a:rect l="l" t="t" r="r" b="b"/>
            <a:pathLst>
              <a:path h="1177289">
                <a:moveTo>
                  <a:pt x="0" y="677533"/>
                </a:moveTo>
                <a:lnTo>
                  <a:pt x="0" y="1177284"/>
                </a:lnTo>
              </a:path>
              <a:path h="1177289">
                <a:moveTo>
                  <a:pt x="0" y="0"/>
                </a:moveTo>
                <a:lnTo>
                  <a:pt x="0" y="572824"/>
                </a:lnTo>
              </a:path>
            </a:pathLst>
          </a:custGeom>
          <a:ln w="104708">
            <a:solidFill>
              <a:srgbClr val="A532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271051" y="2534777"/>
            <a:ext cx="123190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Arial"/>
                <a:cs typeface="Arial"/>
              </a:rPr>
              <a:t>React </a:t>
            </a:r>
            <a:r>
              <a:rPr sz="2300" b="1" spc="-25" dirty="0">
                <a:latin typeface="Arial"/>
                <a:cs typeface="Arial"/>
              </a:rPr>
              <a:t>16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16438" y="4313324"/>
            <a:ext cx="1541145" cy="10699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1180"/>
              </a:spcBef>
            </a:pPr>
            <a:r>
              <a:rPr sz="2950" spc="-20" dirty="0">
                <a:latin typeface="Arial Black"/>
                <a:cs typeface="Arial Black"/>
              </a:rPr>
              <a:t>2017</a:t>
            </a:r>
            <a:endParaRPr sz="29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300" b="1" spc="-10" dirty="0">
                <a:latin typeface="Arial"/>
                <a:cs typeface="Arial"/>
              </a:rPr>
              <a:t>September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976245" y="3122552"/>
            <a:ext cx="0" cy="1177290"/>
          </a:xfrm>
          <a:custGeom>
            <a:avLst/>
            <a:gdLst/>
            <a:ahLst/>
            <a:cxnLst/>
            <a:rect l="l" t="t" r="r" b="b"/>
            <a:pathLst>
              <a:path h="1177289">
                <a:moveTo>
                  <a:pt x="0" y="677533"/>
                </a:moveTo>
                <a:lnTo>
                  <a:pt x="0" y="1177284"/>
                </a:lnTo>
              </a:path>
              <a:path h="1177289">
                <a:moveTo>
                  <a:pt x="0" y="0"/>
                </a:moveTo>
                <a:lnTo>
                  <a:pt x="0" y="572824"/>
                </a:lnTo>
              </a:path>
            </a:pathLst>
          </a:custGeom>
          <a:ln w="104708">
            <a:solidFill>
              <a:srgbClr val="A532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360506" y="2534777"/>
            <a:ext cx="123190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Arial"/>
                <a:cs typeface="Arial"/>
              </a:rPr>
              <a:t>React </a:t>
            </a:r>
            <a:r>
              <a:rPr sz="2300" b="1" spc="-25" dirty="0">
                <a:latin typeface="Arial"/>
                <a:cs typeface="Arial"/>
              </a:rPr>
              <a:t>17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01520" y="4313324"/>
            <a:ext cx="1149985" cy="10699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180"/>
              </a:spcBef>
            </a:pPr>
            <a:r>
              <a:rPr sz="2950" spc="-20" dirty="0">
                <a:latin typeface="Arial Black"/>
                <a:cs typeface="Arial Black"/>
              </a:rPr>
              <a:t>2020</a:t>
            </a:r>
            <a:endParaRPr sz="29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300" b="1" spc="-10" dirty="0">
                <a:latin typeface="Arial"/>
                <a:cs typeface="Arial"/>
              </a:rPr>
              <a:t>October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065700" y="3122552"/>
            <a:ext cx="0" cy="1177290"/>
          </a:xfrm>
          <a:custGeom>
            <a:avLst/>
            <a:gdLst/>
            <a:ahLst/>
            <a:cxnLst/>
            <a:rect l="l" t="t" r="r" b="b"/>
            <a:pathLst>
              <a:path h="1177289">
                <a:moveTo>
                  <a:pt x="0" y="677533"/>
                </a:moveTo>
                <a:lnTo>
                  <a:pt x="0" y="1177284"/>
                </a:lnTo>
              </a:path>
              <a:path h="1177289">
                <a:moveTo>
                  <a:pt x="0" y="0"/>
                </a:moveTo>
                <a:lnTo>
                  <a:pt x="0" y="572824"/>
                </a:lnTo>
              </a:path>
            </a:pathLst>
          </a:custGeom>
          <a:ln w="104708">
            <a:solidFill>
              <a:srgbClr val="A532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6449950" y="2534777"/>
            <a:ext cx="123190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Arial"/>
                <a:cs typeface="Arial"/>
              </a:rPr>
              <a:t>React </a:t>
            </a:r>
            <a:r>
              <a:rPr sz="2300" b="1" spc="-25" dirty="0">
                <a:latin typeface="Arial"/>
                <a:cs typeface="Arial"/>
              </a:rPr>
              <a:t>18</a:t>
            </a:r>
            <a:endParaRPr sz="23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550146" y="4313324"/>
            <a:ext cx="1031240" cy="10699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950" spc="-20" dirty="0">
                <a:latin typeface="Arial Black"/>
                <a:cs typeface="Arial Black"/>
              </a:rPr>
              <a:t>2022</a:t>
            </a:r>
            <a:endParaRPr sz="2950">
              <a:latin typeface="Arial Black"/>
              <a:cs typeface="Arial Black"/>
            </a:endParaRPr>
          </a:p>
          <a:p>
            <a:pPr marL="83185">
              <a:lnSpc>
                <a:spcPct val="100000"/>
              </a:lnSpc>
              <a:spcBef>
                <a:spcPts val="840"/>
              </a:spcBef>
            </a:pPr>
            <a:r>
              <a:rPr sz="2300" b="1" spc="-10" dirty="0">
                <a:latin typeface="Arial"/>
                <a:cs typeface="Arial"/>
              </a:rPr>
              <a:t>March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3133" y="7077616"/>
            <a:ext cx="12005387" cy="1294522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083085" y="3070164"/>
            <a:ext cx="18366105" cy="1282065"/>
            <a:chOff x="1083085" y="3070164"/>
            <a:chExt cx="18366105" cy="1282065"/>
          </a:xfrm>
        </p:grpSpPr>
        <p:sp>
          <p:nvSpPr>
            <p:cNvPr id="23" name="object 23"/>
            <p:cNvSpPr/>
            <p:nvPr/>
          </p:nvSpPr>
          <p:spPr>
            <a:xfrm>
              <a:off x="1432812" y="3747730"/>
              <a:ext cx="17666335" cy="0"/>
            </a:xfrm>
            <a:custGeom>
              <a:avLst/>
              <a:gdLst/>
              <a:ahLst/>
              <a:cxnLst/>
              <a:rect l="l" t="t" r="r" b="b"/>
              <a:pathLst>
                <a:path w="17666335">
                  <a:moveTo>
                    <a:pt x="3148540" y="0"/>
                  </a:moveTo>
                  <a:lnTo>
                    <a:pt x="16283684" y="0"/>
                  </a:lnTo>
                </a:path>
                <a:path w="17666335">
                  <a:moveTo>
                    <a:pt x="1059091" y="0"/>
                  </a:moveTo>
                  <a:lnTo>
                    <a:pt x="3043831" y="0"/>
                  </a:lnTo>
                </a:path>
                <a:path w="17666335">
                  <a:moveTo>
                    <a:pt x="0" y="0"/>
                  </a:moveTo>
                  <a:lnTo>
                    <a:pt x="954382" y="0"/>
                  </a:lnTo>
                </a:path>
                <a:path w="17666335">
                  <a:moveTo>
                    <a:pt x="17539969" y="0"/>
                  </a:moveTo>
                  <a:lnTo>
                    <a:pt x="17666027" y="0"/>
                  </a:lnTo>
                </a:path>
              </a:pathLst>
            </a:custGeom>
            <a:ln w="104708">
              <a:solidFill>
                <a:srgbClr val="043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83081" y="3546696"/>
              <a:ext cx="18366105" cy="402590"/>
            </a:xfrm>
            <a:custGeom>
              <a:avLst/>
              <a:gdLst/>
              <a:ahLst/>
              <a:cxnLst/>
              <a:rect l="l" t="t" r="r" b="b"/>
              <a:pathLst>
                <a:path w="18366105" h="402589">
                  <a:moveTo>
                    <a:pt x="402082" y="0"/>
                  </a:moveTo>
                  <a:lnTo>
                    <a:pt x="0" y="201041"/>
                  </a:lnTo>
                  <a:lnTo>
                    <a:pt x="402082" y="402082"/>
                  </a:lnTo>
                  <a:lnTo>
                    <a:pt x="402082" y="0"/>
                  </a:lnTo>
                  <a:close/>
                </a:path>
                <a:path w="18366105" h="402589">
                  <a:moveTo>
                    <a:pt x="18365483" y="201041"/>
                  </a:moveTo>
                  <a:lnTo>
                    <a:pt x="17963401" y="0"/>
                  </a:lnTo>
                  <a:lnTo>
                    <a:pt x="17963401" y="402082"/>
                  </a:lnTo>
                  <a:lnTo>
                    <a:pt x="18365483" y="201041"/>
                  </a:lnTo>
                  <a:close/>
                </a:path>
              </a:pathLst>
            </a:custGeom>
            <a:solidFill>
              <a:srgbClr val="043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8999" y="3122552"/>
              <a:ext cx="0" cy="1177290"/>
            </a:xfrm>
            <a:custGeom>
              <a:avLst/>
              <a:gdLst/>
              <a:ahLst/>
              <a:cxnLst/>
              <a:rect l="l" t="t" r="r" b="b"/>
              <a:pathLst>
                <a:path h="1177289">
                  <a:moveTo>
                    <a:pt x="0" y="1177284"/>
                  </a:moveTo>
                  <a:lnTo>
                    <a:pt x="0" y="0"/>
                  </a:lnTo>
                </a:path>
              </a:pathLst>
            </a:custGeom>
            <a:ln w="104708">
              <a:solidFill>
                <a:srgbClr val="A532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743542" y="7283163"/>
            <a:ext cx="9044940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0" b="1" dirty="0">
                <a:solidFill>
                  <a:srgbClr val="FFFFFF"/>
                </a:solidFill>
                <a:latin typeface="Arial"/>
                <a:cs typeface="Arial"/>
              </a:rPr>
              <a:t>Major</a:t>
            </a:r>
            <a:r>
              <a:rPr sz="50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000" b="1" dirty="0">
                <a:solidFill>
                  <a:srgbClr val="FFFFFF"/>
                </a:solidFill>
                <a:latin typeface="Arial"/>
                <a:cs typeface="Arial"/>
              </a:rPr>
              <a:t>release every few </a:t>
            </a:r>
            <a:r>
              <a:rPr sz="5000" b="1" spc="-10" dirty="0">
                <a:solidFill>
                  <a:srgbClr val="FFFFFF"/>
                </a:solidFill>
                <a:latin typeface="Arial"/>
                <a:cs typeface="Arial"/>
              </a:rPr>
              <a:t>years</a:t>
            </a:r>
            <a:endParaRPr sz="5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68740" y="2534777"/>
            <a:ext cx="1720850" cy="377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Arial"/>
                <a:cs typeface="Arial"/>
              </a:rPr>
              <a:t>React </a:t>
            </a:r>
            <a:r>
              <a:rPr sz="2300" b="1" spc="-10" dirty="0">
                <a:latin typeface="Arial"/>
                <a:cs typeface="Arial"/>
              </a:rPr>
              <a:t>0.10.0</a:t>
            </a:r>
            <a:endParaRPr sz="23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13450" y="4313324"/>
            <a:ext cx="1031240" cy="10699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950" spc="-20" dirty="0">
                <a:latin typeface="Arial Black"/>
                <a:cs typeface="Arial Black"/>
              </a:rPr>
              <a:t>2014</a:t>
            </a:r>
            <a:endParaRPr sz="2950">
              <a:latin typeface="Arial Black"/>
              <a:cs typeface="Arial Black"/>
            </a:endParaRPr>
          </a:p>
          <a:p>
            <a:pPr marL="83185">
              <a:lnSpc>
                <a:spcPct val="100000"/>
              </a:lnSpc>
              <a:spcBef>
                <a:spcPts val="840"/>
              </a:spcBef>
            </a:pPr>
            <a:r>
              <a:rPr sz="2300" b="1" spc="-10" dirty="0">
                <a:latin typeface="Arial"/>
                <a:cs typeface="Arial"/>
              </a:rPr>
              <a:t>March</a:t>
            </a:r>
            <a:endParaRPr sz="23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439549" y="3122552"/>
            <a:ext cx="0" cy="1177290"/>
          </a:xfrm>
          <a:custGeom>
            <a:avLst/>
            <a:gdLst/>
            <a:ahLst/>
            <a:cxnLst/>
            <a:rect l="l" t="t" r="r" b="b"/>
            <a:pathLst>
              <a:path h="1177289">
                <a:moveTo>
                  <a:pt x="0" y="1177284"/>
                </a:moveTo>
                <a:lnTo>
                  <a:pt x="0" y="0"/>
                </a:lnTo>
              </a:path>
            </a:pathLst>
          </a:custGeom>
          <a:ln w="104708">
            <a:solidFill>
              <a:srgbClr val="A532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660818" y="2367243"/>
            <a:ext cx="1557655" cy="71247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6364" marR="5080" indent="-114300">
              <a:lnSpc>
                <a:spcPts val="2640"/>
              </a:lnSpc>
              <a:spcBef>
                <a:spcPts val="295"/>
              </a:spcBef>
            </a:pPr>
            <a:r>
              <a:rPr sz="2300" b="1" dirty="0">
                <a:latin typeface="Arial"/>
                <a:cs typeface="Arial"/>
              </a:rPr>
              <a:t>React</a:t>
            </a:r>
            <a:r>
              <a:rPr sz="2300" b="1" spc="-10" dirty="0">
                <a:latin typeface="Arial"/>
                <a:cs typeface="Arial"/>
              </a:rPr>
              <a:t> </a:t>
            </a:r>
            <a:r>
              <a:rPr sz="2300" b="1" spc="-20" dirty="0">
                <a:latin typeface="Arial"/>
                <a:cs typeface="Arial"/>
              </a:rPr>
              <a:t>0.3.0 </a:t>
            </a:r>
            <a:r>
              <a:rPr sz="2300" b="1" spc="-10" dirty="0">
                <a:latin typeface="Arial"/>
                <a:cs typeface="Arial"/>
              </a:rPr>
              <a:t>(Release)</a:t>
            </a:r>
            <a:endParaRPr sz="2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24000" y="4313324"/>
            <a:ext cx="1031240" cy="10699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80"/>
              </a:spcBef>
            </a:pPr>
            <a:r>
              <a:rPr sz="2950" spc="-20" dirty="0">
                <a:latin typeface="Arial Black"/>
                <a:cs typeface="Arial Black"/>
              </a:rPr>
              <a:t>2013</a:t>
            </a:r>
            <a:endParaRPr sz="29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sz="2300" b="1" spc="-25" dirty="0">
                <a:latin typeface="Arial"/>
                <a:cs typeface="Arial"/>
              </a:rPr>
              <a:t>May</a:t>
            </a:r>
            <a:endParaRPr sz="23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7716496" y="3747730"/>
            <a:ext cx="1256665" cy="0"/>
          </a:xfrm>
          <a:custGeom>
            <a:avLst/>
            <a:gdLst/>
            <a:ahLst/>
            <a:cxnLst/>
            <a:rect l="l" t="t" r="r" b="b"/>
            <a:pathLst>
              <a:path w="1256665">
                <a:moveTo>
                  <a:pt x="0" y="0"/>
                </a:moveTo>
                <a:lnTo>
                  <a:pt x="1256285" y="0"/>
                </a:lnTo>
              </a:path>
            </a:pathLst>
          </a:custGeom>
          <a:ln w="104708">
            <a:solidFill>
              <a:srgbClr val="FFFF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95" dirty="0"/>
              <a:t>What</a:t>
            </a:r>
            <a:r>
              <a:rPr spc="-210" dirty="0"/>
              <a:t> </a:t>
            </a:r>
            <a:r>
              <a:rPr spc="-10" dirty="0"/>
              <a:t>about</a:t>
            </a:r>
            <a:r>
              <a:rPr spc="-210" dirty="0"/>
              <a:t> </a:t>
            </a:r>
            <a:r>
              <a:rPr spc="-105" dirty="0"/>
              <a:t>Do-</a:t>
            </a:r>
            <a:r>
              <a:rPr spc="-120" dirty="0"/>
              <a:t>it-</a:t>
            </a:r>
            <a:r>
              <a:rPr spc="-30" dirty="0"/>
              <a:t>Yourself?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2183083"/>
            <a:ext cx="16732885" cy="652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62610" indent="-549910">
              <a:lnSpc>
                <a:spcPct val="100000"/>
              </a:lnSpc>
              <a:spcBef>
                <a:spcPts val="114"/>
              </a:spcBef>
              <a:buClr>
                <a:srgbClr val="5C86B9"/>
              </a:buClr>
              <a:buSzPct val="69512"/>
              <a:buFont typeface="Arial MT"/>
              <a:buChar char="•"/>
              <a:tabLst>
                <a:tab pos="562610" algn="l"/>
              </a:tabLst>
            </a:pPr>
            <a:r>
              <a:rPr sz="4100" b="1" dirty="0">
                <a:latin typeface="Palatino Linotype"/>
                <a:cs typeface="Palatino Linotype"/>
              </a:rPr>
              <a:t>FAQ:</a:t>
            </a:r>
            <a:r>
              <a:rPr sz="4100" b="1" spc="-50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Couldn't</a:t>
            </a:r>
            <a:r>
              <a:rPr sz="4100" b="1" spc="-45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I</a:t>
            </a:r>
            <a:r>
              <a:rPr sz="4100" b="1" spc="-45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just</a:t>
            </a:r>
            <a:r>
              <a:rPr sz="4100" b="1" spc="-50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do</a:t>
            </a:r>
            <a:r>
              <a:rPr sz="4100" b="1" spc="-45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it</a:t>
            </a:r>
            <a:r>
              <a:rPr sz="4100" b="1" spc="-45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myself</a:t>
            </a:r>
            <a:r>
              <a:rPr sz="4100" b="1" spc="-45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with</a:t>
            </a:r>
            <a:r>
              <a:rPr sz="4100" b="1" spc="-50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JavaScript,</a:t>
            </a:r>
            <a:r>
              <a:rPr sz="4100" b="1" spc="-45" dirty="0">
                <a:latin typeface="Palatino Linotype"/>
                <a:cs typeface="Palatino Linotype"/>
              </a:rPr>
              <a:t> </a:t>
            </a:r>
            <a:r>
              <a:rPr sz="4100" b="1" spc="-25" dirty="0">
                <a:latin typeface="Palatino Linotype"/>
                <a:cs typeface="Palatino Linotype"/>
              </a:rPr>
              <a:t>jQuery,</a:t>
            </a:r>
            <a:r>
              <a:rPr sz="4100" b="1" spc="-45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AJAX</a:t>
            </a:r>
            <a:r>
              <a:rPr sz="4100" b="1" spc="-50" dirty="0">
                <a:latin typeface="Palatino Linotype"/>
                <a:cs typeface="Palatino Linotype"/>
              </a:rPr>
              <a:t> </a:t>
            </a:r>
            <a:r>
              <a:rPr sz="4100" b="1" spc="-20" dirty="0">
                <a:latin typeface="Palatino Linotype"/>
                <a:cs typeface="Palatino Linotype"/>
              </a:rPr>
              <a:t>etc?</a:t>
            </a:r>
            <a:endParaRPr sz="41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3014" y="4100350"/>
            <a:ext cx="15367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3231" y="3987426"/>
            <a:ext cx="8715375" cy="652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00" dirty="0">
                <a:latin typeface="Palatino Linotype"/>
                <a:cs typeface="Palatino Linotype"/>
              </a:rPr>
              <a:t>May</a:t>
            </a:r>
            <a:r>
              <a:rPr sz="4100" spc="-2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work</a:t>
            </a:r>
            <a:r>
              <a:rPr sz="4100" spc="-1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for</a:t>
            </a:r>
            <a:r>
              <a:rPr sz="4100" spc="-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small</a:t>
            </a:r>
            <a:r>
              <a:rPr sz="4100" spc="-1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basic</a:t>
            </a:r>
            <a:r>
              <a:rPr sz="4100" spc="-1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hobby</a:t>
            </a:r>
            <a:r>
              <a:rPr sz="4100" spc="-5" dirty="0">
                <a:latin typeface="Palatino Linotype"/>
                <a:cs typeface="Palatino Linotype"/>
              </a:rPr>
              <a:t> </a:t>
            </a:r>
            <a:r>
              <a:rPr sz="4100" spc="-20" dirty="0">
                <a:latin typeface="Palatino Linotype"/>
                <a:cs typeface="Palatino Linotype"/>
              </a:rPr>
              <a:t>apps</a:t>
            </a:r>
            <a:endParaRPr sz="41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3014" y="5213615"/>
            <a:ext cx="15367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3231" y="5100690"/>
            <a:ext cx="16574135" cy="652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00" dirty="0">
                <a:latin typeface="Palatino Linotype"/>
                <a:cs typeface="Palatino Linotype"/>
              </a:rPr>
              <a:t>For</a:t>
            </a:r>
            <a:r>
              <a:rPr sz="4100" spc="-2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common</a:t>
            </a:r>
            <a:r>
              <a:rPr sz="4100" spc="-2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features</a:t>
            </a:r>
            <a:r>
              <a:rPr sz="4100" spc="-2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such</a:t>
            </a:r>
            <a:r>
              <a:rPr sz="4100" spc="-2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as</a:t>
            </a:r>
            <a:r>
              <a:rPr sz="4100" spc="-2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data</a:t>
            </a:r>
            <a:r>
              <a:rPr sz="4100" spc="-2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binding,</a:t>
            </a:r>
            <a:r>
              <a:rPr sz="4100" spc="-2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you</a:t>
            </a:r>
            <a:r>
              <a:rPr sz="4100" spc="-2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may</a:t>
            </a:r>
            <a:r>
              <a:rPr sz="4100" spc="-2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reinvent</a:t>
            </a:r>
            <a:r>
              <a:rPr sz="4100" spc="-2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the</a:t>
            </a:r>
            <a:r>
              <a:rPr sz="4100" spc="-20" dirty="0">
                <a:latin typeface="Palatino Linotype"/>
                <a:cs typeface="Palatino Linotype"/>
              </a:rPr>
              <a:t> </a:t>
            </a:r>
            <a:r>
              <a:rPr sz="4100" spc="-10" dirty="0">
                <a:latin typeface="Palatino Linotype"/>
                <a:cs typeface="Palatino Linotype"/>
              </a:rPr>
              <a:t>wheel</a:t>
            </a:r>
            <a:endParaRPr sz="410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014" y="6326879"/>
            <a:ext cx="15367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3231" y="6213955"/>
            <a:ext cx="15404465" cy="6527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00" dirty="0">
                <a:latin typeface="Palatino Linotype"/>
                <a:cs typeface="Palatino Linotype"/>
              </a:rPr>
              <a:t>Hard</a:t>
            </a:r>
            <a:r>
              <a:rPr sz="4100" spc="-2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to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manage</a:t>
            </a:r>
            <a:r>
              <a:rPr sz="4100" spc="-2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and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maintain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for</a:t>
            </a:r>
            <a:r>
              <a:rPr sz="4100" spc="-2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enterprise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spc="-25" dirty="0">
                <a:latin typeface="Palatino Linotype"/>
                <a:cs typeface="Palatino Linotype"/>
              </a:rPr>
              <a:t>real-</a:t>
            </a:r>
            <a:r>
              <a:rPr sz="4100" dirty="0">
                <a:latin typeface="Palatino Linotype"/>
                <a:cs typeface="Palatino Linotype"/>
              </a:rPr>
              <a:t>time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spc="-10" dirty="0">
                <a:latin typeface="Palatino Linotype"/>
                <a:cs typeface="Palatino Linotype"/>
              </a:rPr>
              <a:t>applications</a:t>
            </a:r>
            <a:endParaRPr sz="41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3014" y="8131223"/>
            <a:ext cx="15367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3231" y="7954467"/>
            <a:ext cx="17712690" cy="14077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4100" dirty="0">
                <a:latin typeface="Palatino Linotype"/>
                <a:cs typeface="Palatino Linotype"/>
              </a:rPr>
              <a:t>Main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reason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we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have</a:t>
            </a:r>
            <a:r>
              <a:rPr sz="4100" spc="-10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libraries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&amp;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frameworks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dirty="0">
                <a:latin typeface="Palatino Linotype"/>
                <a:cs typeface="Palatino Linotype"/>
              </a:rPr>
              <a:t>such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React.js</a:t>
            </a:r>
            <a:r>
              <a:rPr sz="4100" dirty="0">
                <a:latin typeface="Palatino Linotype"/>
                <a:cs typeface="Palatino Linotype"/>
              </a:rPr>
              <a:t>,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b="1" dirty="0">
                <a:latin typeface="Palatino Linotype"/>
                <a:cs typeface="Palatino Linotype"/>
              </a:rPr>
              <a:t>Angular</a:t>
            </a:r>
            <a:r>
              <a:rPr sz="4100" dirty="0">
                <a:latin typeface="Palatino Linotype"/>
                <a:cs typeface="Palatino Linotype"/>
              </a:rPr>
              <a:t>,</a:t>
            </a:r>
            <a:r>
              <a:rPr sz="4100" spc="-15" dirty="0">
                <a:latin typeface="Palatino Linotype"/>
                <a:cs typeface="Palatino Linotype"/>
              </a:rPr>
              <a:t> </a:t>
            </a:r>
            <a:r>
              <a:rPr sz="4100" b="1" spc="-10" dirty="0">
                <a:latin typeface="Palatino Linotype"/>
                <a:cs typeface="Palatino Linotype"/>
              </a:rPr>
              <a:t>Vue.js</a:t>
            </a:r>
            <a:r>
              <a:rPr sz="4100" spc="-10" dirty="0">
                <a:latin typeface="Palatino Linotype"/>
                <a:cs typeface="Palatino Linotype"/>
              </a:rPr>
              <a:t>,</a:t>
            </a:r>
            <a:endParaRPr sz="41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4100" spc="-50" dirty="0">
                <a:latin typeface="Palatino Linotype"/>
                <a:cs typeface="Palatino Linotype"/>
              </a:rPr>
              <a:t>…</a:t>
            </a:r>
            <a:endParaRPr sz="41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261</Words>
  <Application>Microsoft Macintosh PowerPoint</Application>
  <PresentationFormat>Custom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Arial MT</vt:lpstr>
      <vt:lpstr>Palatino Linotype</vt:lpstr>
      <vt:lpstr>Times New Roman</vt:lpstr>
      <vt:lpstr>Office Theme</vt:lpstr>
      <vt:lpstr>React Overview</vt:lpstr>
      <vt:lpstr>What is React?</vt:lpstr>
      <vt:lpstr>How is Single-Page application different than Traditional application?</vt:lpstr>
      <vt:lpstr>Traditional Application</vt:lpstr>
      <vt:lpstr>Single-Page Application</vt:lpstr>
      <vt:lpstr>Examples of Single-Page Applications</vt:lpstr>
      <vt:lpstr>React Solution</vt:lpstr>
      <vt:lpstr>Who’s using React</vt:lpstr>
      <vt:lpstr>React History</vt:lpstr>
      <vt:lpstr>What about Do-it-Yourself?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004-react-overview.pdf</dc:title>
  <dc:subject>luv2code</dc:subject>
  <dc:creator>www.luv2code.com</dc:creator>
  <cp:keywords>luv2code</cp:keywords>
  <cp:lastModifiedBy>Syed Nouman Ali Shah</cp:lastModifiedBy>
  <cp:revision>9</cp:revision>
  <dcterms:created xsi:type="dcterms:W3CDTF">2025-09-25T08:38:26Z</dcterms:created>
  <dcterms:modified xsi:type="dcterms:W3CDTF">2025-09-25T08:42:43Z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2022-11-14T00:00:00Z</vt:filetime>
  </property>
  <property fmtid="{D5CDD505-2E9C-101B-9397-08002B2CF9AE}" pid="3" name="Creator">
    <vt:lpwstr>luv2code</vt:lpwstr>
  </property>
  <property fmtid="{D5CDD505-2E9C-101B-9397-08002B2CF9AE}" pid="4" name="LastSaved">
    <vt:filetime>2025-09-25T00:00:00Z</vt:filetime>
  </property>
  <property fmtid="{D5CDD505-2E9C-101B-9397-08002B2CF9AE}" pid="5" name="Producer">
    <vt:lpwstr>macOS Version 12.2.1 (Build 21D62) Quartz PDFContext</vt:lpwstr>
  </property>
</Properties>
</file>