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51"/>
    <p:restoredTop sz="94668"/>
  </p:normalViewPr>
  <p:slideViewPr>
    <p:cSldViewPr>
      <p:cViewPr varScale="1">
        <p:scale>
          <a:sx n="101" d="100"/>
          <a:sy n="101" d="100"/>
        </p:scale>
        <p:origin x="1056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2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84202" y="9998060"/>
            <a:ext cx="14135735" cy="635"/>
          </a:xfrm>
          <a:custGeom>
            <a:avLst/>
            <a:gdLst/>
            <a:ahLst/>
            <a:cxnLst/>
            <a:rect l="l" t="t" r="r" b="b"/>
            <a:pathLst>
              <a:path w="14135735" h="634">
                <a:moveTo>
                  <a:pt x="0" y="0"/>
                </a:moveTo>
                <a:lnTo>
                  <a:pt x="14135695" y="0"/>
                </a:lnTo>
                <a:lnTo>
                  <a:pt x="0" y="104"/>
                </a:lnTo>
                <a:close/>
              </a:path>
            </a:pathLst>
          </a:custGeom>
          <a:ln w="10470">
            <a:solidFill>
              <a:srgbClr val="7996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4202" y="10056958"/>
            <a:ext cx="14135735" cy="635"/>
          </a:xfrm>
          <a:custGeom>
            <a:avLst/>
            <a:gdLst/>
            <a:ahLst/>
            <a:cxnLst/>
            <a:rect l="l" t="t" r="r" b="b"/>
            <a:pathLst>
              <a:path w="14135735" h="634">
                <a:moveTo>
                  <a:pt x="0" y="0"/>
                </a:moveTo>
                <a:lnTo>
                  <a:pt x="14135695" y="0"/>
                </a:lnTo>
                <a:lnTo>
                  <a:pt x="0" y="104"/>
                </a:lnTo>
                <a:close/>
              </a:path>
            </a:pathLst>
          </a:custGeom>
          <a:ln w="10470">
            <a:solidFill>
              <a:srgbClr val="7996B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73761" y="2288643"/>
            <a:ext cx="16156576" cy="792050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7169" y="2194405"/>
            <a:ext cx="167534" cy="15706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109395" y="2194405"/>
            <a:ext cx="167534" cy="15706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27169" y="2351468"/>
            <a:ext cx="167534" cy="813587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109395" y="2351468"/>
            <a:ext cx="167534" cy="8135877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94703" y="2194405"/>
            <a:ext cx="16114692" cy="157063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94703" y="10152277"/>
            <a:ext cx="16114692" cy="33506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4501EA5-5EE7-E253-295C-0E71A391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3015" y="489330"/>
            <a:ext cx="10063480" cy="1021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83266" y="3895558"/>
            <a:ext cx="15937567" cy="2609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5546" y="514034"/>
            <a:ext cx="12190730" cy="1433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200" spc="-114" dirty="0">
                <a:latin typeface="Arial"/>
                <a:cs typeface="Arial"/>
              </a:rPr>
              <a:t>React</a:t>
            </a:r>
            <a:r>
              <a:rPr sz="9200" spc="-525" dirty="0">
                <a:latin typeface="Arial"/>
                <a:cs typeface="Arial"/>
              </a:rPr>
              <a:t> </a:t>
            </a:r>
            <a:r>
              <a:rPr sz="9200" spc="-45" dirty="0">
                <a:latin typeface="Arial"/>
                <a:cs typeface="Arial"/>
              </a:rPr>
              <a:t>and</a:t>
            </a:r>
            <a:r>
              <a:rPr sz="9200" spc="-580" dirty="0">
                <a:latin typeface="Arial"/>
                <a:cs typeface="Arial"/>
              </a:rPr>
              <a:t> </a:t>
            </a:r>
            <a:r>
              <a:rPr sz="9200" spc="-130" dirty="0">
                <a:latin typeface="Arial"/>
                <a:cs typeface="Arial"/>
              </a:rPr>
              <a:t>Spring</a:t>
            </a:r>
            <a:r>
              <a:rPr sz="9200" spc="-505" dirty="0">
                <a:latin typeface="Arial"/>
                <a:cs typeface="Arial"/>
              </a:rPr>
              <a:t> </a:t>
            </a:r>
            <a:r>
              <a:rPr sz="9200" spc="-65" dirty="0">
                <a:latin typeface="Arial"/>
                <a:cs typeface="Arial"/>
              </a:rPr>
              <a:t>Boot</a:t>
            </a:r>
            <a:endParaRPr sz="9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14" dirty="0"/>
              <a:t>Course</a:t>
            </a:r>
            <a:r>
              <a:rPr spc="-50" dirty="0"/>
              <a:t> </a:t>
            </a:r>
            <a:r>
              <a:rPr spc="6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014" y="3034944"/>
            <a:ext cx="1593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6156" y="2918188"/>
            <a:ext cx="13870940" cy="678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50" dirty="0">
                <a:latin typeface="Palatino Linotype"/>
                <a:cs typeface="Palatino Linotype"/>
              </a:rPr>
              <a:t>Build</a:t>
            </a:r>
            <a:r>
              <a:rPr sz="4250" spc="-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Full-Stack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application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with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React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and</a:t>
            </a:r>
            <a:r>
              <a:rPr sz="4250" spc="5" dirty="0">
                <a:latin typeface="Palatino Linotype"/>
                <a:cs typeface="Palatino Linotype"/>
              </a:rPr>
              <a:t> </a:t>
            </a:r>
            <a:r>
              <a:rPr sz="4250" dirty="0">
                <a:latin typeface="Palatino Linotype"/>
                <a:cs typeface="Palatino Linotype"/>
              </a:rPr>
              <a:t>Spring</a:t>
            </a:r>
            <a:r>
              <a:rPr sz="4250" spc="10" dirty="0">
                <a:latin typeface="Palatino Linotype"/>
                <a:cs typeface="Palatino Linotype"/>
              </a:rPr>
              <a:t> </a:t>
            </a:r>
            <a:r>
              <a:rPr sz="4250" spc="-20" dirty="0">
                <a:latin typeface="Palatino Linotype"/>
                <a:cs typeface="Palatino Linotype"/>
              </a:rPr>
              <a:t>Boot</a:t>
            </a:r>
            <a:endParaRPr sz="4250">
              <a:latin typeface="Palatino Linotype"/>
              <a:cs typeface="Palatino Linotyp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39164" y="3808781"/>
            <a:ext cx="5234305" cy="5393690"/>
            <a:chOff x="1239164" y="3808781"/>
            <a:chExt cx="5234305" cy="53936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9164" y="3808781"/>
              <a:ext cx="5234024" cy="539363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8084" y="5074974"/>
              <a:ext cx="4396183" cy="284731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502384" y="5648445"/>
            <a:ext cx="2707640" cy="160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" algn="ctr">
              <a:lnSpc>
                <a:spcPts val="6200"/>
              </a:lnSpc>
              <a:spcBef>
                <a:spcPts val="125"/>
              </a:spcBef>
            </a:pPr>
            <a:r>
              <a:rPr sz="5250" b="1" spc="-10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endParaRPr sz="5250">
              <a:latin typeface="Arial"/>
              <a:cs typeface="Arial"/>
            </a:endParaRPr>
          </a:p>
          <a:p>
            <a:pPr algn="ctr">
              <a:lnSpc>
                <a:spcPts val="6200"/>
              </a:lnSpc>
            </a:pPr>
            <a:r>
              <a:rPr sz="5250" spc="-10" dirty="0">
                <a:solidFill>
                  <a:srgbClr val="FFFFFF"/>
                </a:solidFill>
                <a:latin typeface="Arial MT"/>
                <a:cs typeface="Arial MT"/>
              </a:rPr>
              <a:t>front-</a:t>
            </a:r>
            <a:r>
              <a:rPr sz="5250" spc="-25" dirty="0">
                <a:solidFill>
                  <a:srgbClr val="FFFFFF"/>
                </a:solidFill>
                <a:latin typeface="Arial MT"/>
                <a:cs typeface="Arial MT"/>
              </a:rPr>
              <a:t>end</a:t>
            </a:r>
            <a:endParaRPr sz="52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112966" y="3808781"/>
            <a:ext cx="5235575" cy="5393690"/>
            <a:chOff x="10112966" y="3808781"/>
            <a:chExt cx="5235575" cy="539369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12966" y="3808781"/>
              <a:ext cx="5235442" cy="53936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31889" y="5074974"/>
              <a:ext cx="4397602" cy="284731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0801001" y="5648445"/>
            <a:ext cx="3859529" cy="160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6200"/>
              </a:lnSpc>
              <a:spcBef>
                <a:spcPts val="125"/>
              </a:spcBef>
            </a:pPr>
            <a:r>
              <a:rPr sz="5250" b="1" dirty="0">
                <a:solidFill>
                  <a:srgbClr val="FFFFFF"/>
                </a:solidFill>
                <a:latin typeface="Arial"/>
                <a:cs typeface="Arial"/>
              </a:rPr>
              <a:t>Spring</a:t>
            </a:r>
            <a:r>
              <a:rPr sz="525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5250" b="1" spc="-20" dirty="0">
                <a:solidFill>
                  <a:srgbClr val="FFFFFF"/>
                </a:solidFill>
                <a:latin typeface="Arial"/>
                <a:cs typeface="Arial"/>
              </a:rPr>
              <a:t>Boot</a:t>
            </a:r>
            <a:endParaRPr sz="5250">
              <a:latin typeface="Arial"/>
              <a:cs typeface="Arial"/>
            </a:endParaRPr>
          </a:p>
          <a:p>
            <a:pPr algn="ctr">
              <a:lnSpc>
                <a:spcPts val="6200"/>
              </a:lnSpc>
            </a:pPr>
            <a:r>
              <a:rPr sz="5250" spc="-10" dirty="0">
                <a:solidFill>
                  <a:srgbClr val="FFFFFF"/>
                </a:solidFill>
                <a:latin typeface="Arial MT"/>
                <a:cs typeface="Arial MT"/>
              </a:rPr>
              <a:t>back-</a:t>
            </a:r>
            <a:r>
              <a:rPr sz="5250" spc="-25" dirty="0">
                <a:solidFill>
                  <a:srgbClr val="FFFFFF"/>
                </a:solidFill>
                <a:latin typeface="Arial MT"/>
                <a:cs typeface="Arial MT"/>
              </a:rPr>
              <a:t>end</a:t>
            </a:r>
            <a:endParaRPr sz="525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38541" y="6308015"/>
            <a:ext cx="3309072" cy="38132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274452" y="5687782"/>
            <a:ext cx="2037714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latin typeface="Arial"/>
                <a:cs typeface="Arial"/>
              </a:rPr>
              <a:t>REST</a:t>
            </a:r>
            <a:r>
              <a:rPr sz="3450" b="1" spc="-130" dirty="0">
                <a:latin typeface="Arial"/>
                <a:cs typeface="Arial"/>
              </a:rPr>
              <a:t> </a:t>
            </a:r>
            <a:r>
              <a:rPr sz="3450" b="1" spc="-25" dirty="0">
                <a:latin typeface="Arial"/>
                <a:cs typeface="Arial"/>
              </a:rPr>
              <a:t>API</a:t>
            </a:r>
            <a:endParaRPr sz="345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581642" y="5315679"/>
            <a:ext cx="2365901" cy="2365901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15283786" y="6308015"/>
            <a:ext cx="3402329" cy="3085465"/>
            <a:chOff x="15283786" y="6308015"/>
            <a:chExt cx="3402329" cy="308546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343889" y="6308015"/>
              <a:ext cx="1158498" cy="38132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283786" y="7868433"/>
              <a:ext cx="3401728" cy="1524495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15884858" y="8704601"/>
            <a:ext cx="2199005" cy="5537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50" b="1" dirty="0">
                <a:solidFill>
                  <a:srgbClr val="FFFFFF"/>
                </a:solidFill>
                <a:latin typeface="Arial"/>
                <a:cs typeface="Arial"/>
              </a:rPr>
              <a:t>Full</a:t>
            </a:r>
            <a:r>
              <a:rPr sz="345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450" b="1" spc="-20" dirty="0">
                <a:solidFill>
                  <a:srgbClr val="FFFFFF"/>
                </a:solidFill>
                <a:latin typeface="Arial"/>
                <a:cs typeface="Arial"/>
              </a:rPr>
              <a:t>CRUD</a:t>
            </a:r>
            <a:endParaRPr sz="3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5" dirty="0"/>
              <a:t>Prerequisites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2055" y="2154451"/>
            <a:ext cx="14859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0891" y="2034888"/>
            <a:ext cx="8731885" cy="1680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95"/>
              </a:spcBef>
            </a:pPr>
            <a:r>
              <a:rPr sz="3950" spc="-105" dirty="0">
                <a:latin typeface="Palatino Linotype"/>
                <a:cs typeface="Palatino Linotype"/>
              </a:rPr>
              <a:t>You</a:t>
            </a:r>
            <a:r>
              <a:rPr sz="3950" spc="-114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should</a:t>
            </a:r>
            <a:r>
              <a:rPr sz="3950" spc="-12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have</a:t>
            </a:r>
            <a:r>
              <a:rPr sz="3950" spc="-114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prior</a:t>
            </a:r>
            <a:r>
              <a:rPr sz="3950" spc="-114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experience</a:t>
            </a:r>
            <a:r>
              <a:rPr sz="3950" spc="-114" dirty="0">
                <a:latin typeface="Palatino Linotype"/>
                <a:cs typeface="Palatino Linotype"/>
              </a:rPr>
              <a:t> </a:t>
            </a:r>
            <a:r>
              <a:rPr sz="3950" spc="-20" dirty="0">
                <a:latin typeface="Palatino Linotype"/>
                <a:cs typeface="Palatino Linotype"/>
              </a:rPr>
              <a:t>with</a:t>
            </a:r>
            <a:endParaRPr sz="3950">
              <a:latin typeface="Palatino Linotype"/>
              <a:cs typeface="Palatino Linotype"/>
            </a:endParaRPr>
          </a:p>
          <a:p>
            <a:pPr marL="539750" indent="-527050">
              <a:lnSpc>
                <a:spcPct val="100000"/>
              </a:lnSpc>
              <a:spcBef>
                <a:spcPts val="3554"/>
              </a:spcBef>
              <a:buClr>
                <a:srgbClr val="5C86B9"/>
              </a:buClr>
              <a:buSzPct val="69620"/>
              <a:buFont typeface="Arial MT"/>
              <a:buChar char="•"/>
              <a:tabLst>
                <a:tab pos="539750" algn="l"/>
              </a:tabLst>
            </a:pPr>
            <a:r>
              <a:rPr sz="3950" spc="-20" dirty="0">
                <a:latin typeface="Palatino Linotype"/>
                <a:cs typeface="Palatino Linotype"/>
              </a:rPr>
              <a:t>Java</a:t>
            </a:r>
            <a:endParaRPr sz="395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0891" y="4142468"/>
            <a:ext cx="3172460" cy="1680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9750" indent="-527050">
              <a:lnSpc>
                <a:spcPct val="100000"/>
              </a:lnSpc>
              <a:spcBef>
                <a:spcPts val="95"/>
              </a:spcBef>
              <a:buClr>
                <a:srgbClr val="5C86B9"/>
              </a:buClr>
              <a:buSzPct val="69620"/>
              <a:buFont typeface="Arial MT"/>
              <a:buChar char="•"/>
              <a:tabLst>
                <a:tab pos="539750" algn="l"/>
              </a:tabLst>
            </a:pPr>
            <a:r>
              <a:rPr sz="3950" dirty="0">
                <a:latin typeface="Palatino Linotype"/>
                <a:cs typeface="Palatino Linotype"/>
              </a:rPr>
              <a:t>Spring</a:t>
            </a:r>
            <a:r>
              <a:rPr sz="3950" spc="-140" dirty="0">
                <a:latin typeface="Palatino Linotype"/>
                <a:cs typeface="Palatino Linotype"/>
              </a:rPr>
              <a:t> </a:t>
            </a:r>
            <a:r>
              <a:rPr sz="3950" spc="-20" dirty="0">
                <a:latin typeface="Palatino Linotype"/>
                <a:cs typeface="Palatino Linotype"/>
              </a:rPr>
              <a:t>Boot</a:t>
            </a:r>
            <a:endParaRPr sz="3950">
              <a:latin typeface="Palatino Linotype"/>
              <a:cs typeface="Palatino Linotype"/>
            </a:endParaRPr>
          </a:p>
          <a:p>
            <a:pPr marL="539750" indent="-527050">
              <a:lnSpc>
                <a:spcPct val="100000"/>
              </a:lnSpc>
              <a:spcBef>
                <a:spcPts val="3554"/>
              </a:spcBef>
              <a:buClr>
                <a:srgbClr val="5C86B9"/>
              </a:buClr>
              <a:buSzPct val="69620"/>
              <a:buFont typeface="Arial MT"/>
              <a:buChar char="•"/>
              <a:tabLst>
                <a:tab pos="539750" algn="l"/>
              </a:tabLst>
            </a:pPr>
            <a:r>
              <a:rPr sz="3950" spc="-10" dirty="0">
                <a:latin typeface="Palatino Linotype"/>
                <a:cs typeface="Palatino Linotype"/>
              </a:rPr>
              <a:t>Maven</a:t>
            </a:r>
            <a:endParaRPr sz="395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2055" y="7018806"/>
            <a:ext cx="14859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89347" y="6899243"/>
            <a:ext cx="8451850" cy="626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50" b="1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NO</a:t>
            </a:r>
            <a:r>
              <a:rPr sz="3950" b="1" spc="-10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prior</a:t>
            </a:r>
            <a:r>
              <a:rPr sz="3950" spc="-10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experience</a:t>
            </a:r>
            <a:r>
              <a:rPr sz="3950" spc="-10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needed</a:t>
            </a:r>
            <a:r>
              <a:rPr sz="3950" spc="-10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for</a:t>
            </a:r>
            <a:r>
              <a:rPr sz="3950" spc="-105" dirty="0">
                <a:latin typeface="Palatino Linotype"/>
                <a:cs typeface="Palatino Linotype"/>
              </a:rPr>
              <a:t> </a:t>
            </a:r>
            <a:r>
              <a:rPr sz="3950" spc="-10" dirty="0">
                <a:latin typeface="Palatino Linotype"/>
                <a:cs typeface="Palatino Linotype"/>
              </a:rPr>
              <a:t>React</a:t>
            </a:r>
            <a:endParaRPr sz="395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0891" y="8072596"/>
            <a:ext cx="14859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8182" y="7953033"/>
            <a:ext cx="10275570" cy="626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50" spc="-170" dirty="0">
                <a:latin typeface="Palatino Linotype"/>
                <a:cs typeface="Palatino Linotype"/>
              </a:rPr>
              <a:t>We</a:t>
            </a:r>
            <a:r>
              <a:rPr sz="3950" spc="-8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will</a:t>
            </a:r>
            <a:r>
              <a:rPr sz="3950" spc="-14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teach</a:t>
            </a:r>
            <a:r>
              <a:rPr sz="3950" spc="-10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you</a:t>
            </a:r>
            <a:r>
              <a:rPr sz="3950" spc="-11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React</a:t>
            </a:r>
            <a:r>
              <a:rPr sz="3950" spc="-10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from</a:t>
            </a:r>
            <a:r>
              <a:rPr sz="3950" spc="-11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the</a:t>
            </a:r>
            <a:r>
              <a:rPr sz="3950" spc="-10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beginning</a:t>
            </a:r>
            <a:r>
              <a:rPr sz="3950" spc="-110" dirty="0">
                <a:latin typeface="Palatino Linotype"/>
                <a:cs typeface="Palatino Linotype"/>
              </a:rPr>
              <a:t> </a:t>
            </a:r>
            <a:r>
              <a:rPr sz="3950" spc="-20" dirty="0">
                <a:latin typeface="Palatino Linotype"/>
                <a:cs typeface="Palatino Linotype"/>
              </a:rPr>
              <a:t>:-</a:t>
            </a:r>
            <a:r>
              <a:rPr sz="3950" spc="-50" dirty="0">
                <a:latin typeface="Palatino Linotype"/>
                <a:cs typeface="Palatino Linotype"/>
              </a:rPr>
              <a:t>)</a:t>
            </a:r>
            <a:endParaRPr sz="395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0891" y="9126386"/>
            <a:ext cx="148590" cy="446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750" spc="-50" dirty="0">
                <a:solidFill>
                  <a:srgbClr val="5C86B9"/>
                </a:solidFill>
                <a:latin typeface="Arial MT"/>
                <a:cs typeface="Arial MT"/>
              </a:rPr>
              <a:t>•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08182" y="9006823"/>
            <a:ext cx="15248890" cy="626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950" dirty="0">
                <a:latin typeface="Palatino Linotype"/>
                <a:cs typeface="Palatino Linotype"/>
              </a:rPr>
              <a:t>Not</a:t>
            </a:r>
            <a:r>
              <a:rPr sz="3950" spc="-8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an</a:t>
            </a:r>
            <a:r>
              <a:rPr sz="3950" spc="-204" dirty="0">
                <a:latin typeface="Palatino Linotype"/>
                <a:cs typeface="Palatino Linotype"/>
              </a:rPr>
              <a:t> </a:t>
            </a:r>
            <a:r>
              <a:rPr sz="3950" spc="-30" dirty="0">
                <a:latin typeface="Palatino Linotype"/>
                <a:cs typeface="Palatino Linotype"/>
              </a:rPr>
              <a:t>A-</a:t>
            </a:r>
            <a:r>
              <a:rPr sz="3950" dirty="0">
                <a:latin typeface="Palatino Linotype"/>
                <a:cs typeface="Palatino Linotype"/>
              </a:rPr>
              <a:t>Z</a:t>
            </a:r>
            <a:r>
              <a:rPr sz="3950" spc="-7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coverage</a:t>
            </a:r>
            <a:r>
              <a:rPr sz="3950" spc="-7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of</a:t>
            </a:r>
            <a:r>
              <a:rPr sz="3950" spc="-7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React</a:t>
            </a:r>
            <a:r>
              <a:rPr sz="3950" spc="-7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…</a:t>
            </a:r>
            <a:r>
              <a:rPr sz="3950" spc="-8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but</a:t>
            </a:r>
            <a:r>
              <a:rPr sz="3950" spc="-7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enough</a:t>
            </a:r>
            <a:r>
              <a:rPr sz="3950" spc="-7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to</a:t>
            </a:r>
            <a:r>
              <a:rPr sz="3950" spc="-7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build</a:t>
            </a:r>
            <a:r>
              <a:rPr sz="3950" spc="-75" dirty="0">
                <a:latin typeface="Palatino Linotype"/>
                <a:cs typeface="Palatino Linotype"/>
              </a:rPr>
              <a:t> </a:t>
            </a:r>
            <a:r>
              <a:rPr sz="3950" spc="-25" dirty="0">
                <a:latin typeface="Palatino Linotype"/>
                <a:cs typeface="Palatino Linotype"/>
              </a:rPr>
              <a:t>Full-</a:t>
            </a:r>
            <a:r>
              <a:rPr sz="3950" dirty="0">
                <a:latin typeface="Palatino Linotype"/>
                <a:cs typeface="Palatino Linotype"/>
              </a:rPr>
              <a:t>Stack</a:t>
            </a:r>
            <a:r>
              <a:rPr sz="3950" spc="-75" dirty="0">
                <a:latin typeface="Palatino Linotype"/>
                <a:cs typeface="Palatino Linotype"/>
              </a:rPr>
              <a:t> </a:t>
            </a:r>
            <a:r>
              <a:rPr sz="3950" spc="-20" dirty="0">
                <a:latin typeface="Palatino Linotype"/>
                <a:cs typeface="Palatino Linotype"/>
              </a:rPr>
              <a:t>apps</a:t>
            </a:r>
            <a:endParaRPr sz="3950">
              <a:latin typeface="Palatino Linotype"/>
              <a:cs typeface="Palatino Linotyp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206913" y="2857119"/>
            <a:ext cx="10028555" cy="3246755"/>
            <a:chOff x="7206913" y="2857119"/>
            <a:chExt cx="10028555" cy="324675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6913" y="2857119"/>
              <a:ext cx="10028271" cy="324658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5865" y="3720771"/>
              <a:ext cx="9190363" cy="150533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8228827" y="4124427"/>
            <a:ext cx="798449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solidFill>
                  <a:srgbClr val="FFFFFF"/>
                </a:solidFill>
                <a:latin typeface="Arial"/>
                <a:cs typeface="Arial"/>
              </a:rPr>
              <a:t>Spring</a:t>
            </a:r>
            <a:r>
              <a:rPr sz="39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39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FFFFF"/>
                </a:solidFill>
                <a:latin typeface="Arial"/>
                <a:cs typeface="Arial"/>
              </a:rPr>
              <a:t>Hibernate</a:t>
            </a:r>
            <a:r>
              <a:rPr sz="39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39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950" b="1" spc="-10" dirty="0">
                <a:solidFill>
                  <a:srgbClr val="FFFFFF"/>
                </a:solidFill>
                <a:latin typeface="Arial"/>
                <a:cs typeface="Arial"/>
              </a:rPr>
              <a:t>Beginners</a:t>
            </a:r>
            <a:endParaRPr sz="3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14" dirty="0"/>
              <a:t>Course</a:t>
            </a:r>
            <a:r>
              <a:rPr spc="-55" dirty="0"/>
              <a:t> </a:t>
            </a:r>
            <a:r>
              <a:rPr spc="80" dirty="0"/>
              <a:t>Road</a:t>
            </a:r>
            <a:r>
              <a:rPr spc="-55" dirty="0"/>
              <a:t> </a:t>
            </a:r>
            <a:r>
              <a:rPr spc="-25" dirty="0"/>
              <a:t>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0314" y="2088768"/>
            <a:ext cx="8237220" cy="7108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58165" indent="-532765">
              <a:lnSpc>
                <a:spcPct val="100000"/>
              </a:lnSpc>
              <a:spcBef>
                <a:spcPts val="135"/>
              </a:spcBef>
              <a:buClr>
                <a:srgbClr val="5C86B9"/>
              </a:buClr>
              <a:buSzPct val="70886"/>
              <a:buFont typeface="Arial MT"/>
              <a:buChar char="•"/>
              <a:tabLst>
                <a:tab pos="558165" algn="l"/>
              </a:tabLst>
            </a:pPr>
            <a:r>
              <a:rPr sz="3950" dirty="0">
                <a:latin typeface="Palatino Linotype"/>
                <a:cs typeface="Palatino Linotype"/>
              </a:rPr>
              <a:t>React</a:t>
            </a:r>
            <a:r>
              <a:rPr sz="3950" spc="95" dirty="0">
                <a:latin typeface="Palatino Linotype"/>
                <a:cs typeface="Palatino Linotype"/>
              </a:rPr>
              <a:t> </a:t>
            </a:r>
            <a:r>
              <a:rPr sz="3950" spc="-10" dirty="0">
                <a:latin typeface="Palatino Linotype"/>
                <a:cs typeface="Palatino Linotype"/>
              </a:rPr>
              <a:t>Overview</a:t>
            </a:r>
            <a:endParaRPr sz="3950">
              <a:latin typeface="Palatino Linotype"/>
              <a:cs typeface="Palatino Linotype"/>
            </a:endParaRPr>
          </a:p>
          <a:p>
            <a:pPr marL="558165" indent="-532765">
              <a:lnSpc>
                <a:spcPct val="100000"/>
              </a:lnSpc>
              <a:spcBef>
                <a:spcPts val="3759"/>
              </a:spcBef>
              <a:buClr>
                <a:srgbClr val="5C86B9"/>
              </a:buClr>
              <a:buSzPct val="70886"/>
              <a:buFont typeface="Arial MT"/>
              <a:buChar char="•"/>
              <a:tabLst>
                <a:tab pos="558165" algn="l"/>
              </a:tabLst>
            </a:pPr>
            <a:r>
              <a:rPr sz="3950" dirty="0">
                <a:latin typeface="Palatino Linotype"/>
                <a:cs typeface="Palatino Linotype"/>
              </a:rPr>
              <a:t>Set</a:t>
            </a:r>
            <a:r>
              <a:rPr sz="3950" spc="2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up</a:t>
            </a:r>
            <a:r>
              <a:rPr sz="3950" spc="2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Development</a:t>
            </a:r>
            <a:r>
              <a:rPr sz="3950" spc="20" dirty="0">
                <a:latin typeface="Palatino Linotype"/>
                <a:cs typeface="Palatino Linotype"/>
              </a:rPr>
              <a:t> </a:t>
            </a:r>
            <a:r>
              <a:rPr sz="3950" spc="-10" dirty="0">
                <a:latin typeface="Palatino Linotype"/>
                <a:cs typeface="Palatino Linotype"/>
              </a:rPr>
              <a:t>Environment</a:t>
            </a:r>
            <a:endParaRPr sz="3950">
              <a:latin typeface="Palatino Linotype"/>
              <a:cs typeface="Palatino Linotype"/>
            </a:endParaRPr>
          </a:p>
          <a:p>
            <a:pPr marL="558165" indent="-532765">
              <a:lnSpc>
                <a:spcPct val="100000"/>
              </a:lnSpc>
              <a:spcBef>
                <a:spcPts val="3754"/>
              </a:spcBef>
              <a:buClr>
                <a:srgbClr val="5C86B9"/>
              </a:buClr>
              <a:buSzPct val="70886"/>
              <a:buFont typeface="Arial MT"/>
              <a:buChar char="•"/>
              <a:tabLst>
                <a:tab pos="558165" algn="l"/>
              </a:tabLst>
            </a:pPr>
            <a:r>
              <a:rPr sz="3950" dirty="0">
                <a:latin typeface="Palatino Linotype"/>
                <a:cs typeface="Palatino Linotype"/>
              </a:rPr>
              <a:t>React</a:t>
            </a:r>
            <a:r>
              <a:rPr sz="3950" spc="5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Crash</a:t>
            </a:r>
            <a:r>
              <a:rPr sz="3950" spc="45" dirty="0">
                <a:latin typeface="Palatino Linotype"/>
                <a:cs typeface="Palatino Linotype"/>
              </a:rPr>
              <a:t> </a:t>
            </a:r>
            <a:r>
              <a:rPr sz="3950" spc="-10" dirty="0">
                <a:latin typeface="Palatino Linotype"/>
                <a:cs typeface="Palatino Linotype"/>
              </a:rPr>
              <a:t>Course</a:t>
            </a:r>
            <a:endParaRPr sz="3950">
              <a:latin typeface="Palatino Linotype"/>
              <a:cs typeface="Palatino Linotype"/>
            </a:endParaRPr>
          </a:p>
          <a:p>
            <a:pPr marL="558165" indent="-532765">
              <a:lnSpc>
                <a:spcPct val="100000"/>
              </a:lnSpc>
              <a:spcBef>
                <a:spcPts val="3754"/>
              </a:spcBef>
              <a:buClr>
                <a:srgbClr val="5C86B9"/>
              </a:buClr>
              <a:buSzPct val="70886"/>
              <a:buFont typeface="Arial MT"/>
              <a:buChar char="•"/>
              <a:tabLst>
                <a:tab pos="558165" algn="l"/>
              </a:tabLst>
            </a:pPr>
            <a:r>
              <a:rPr sz="3950" spc="-10" dirty="0">
                <a:latin typeface="Palatino Linotype"/>
                <a:cs typeface="Palatino Linotype"/>
              </a:rPr>
              <a:t>TypeScript</a:t>
            </a:r>
            <a:r>
              <a:rPr sz="3950" spc="-10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Crash</a:t>
            </a:r>
            <a:r>
              <a:rPr sz="3950" spc="-100" dirty="0">
                <a:latin typeface="Palatino Linotype"/>
                <a:cs typeface="Palatino Linotype"/>
              </a:rPr>
              <a:t> </a:t>
            </a:r>
            <a:r>
              <a:rPr sz="3950" spc="-10" dirty="0">
                <a:latin typeface="Palatino Linotype"/>
                <a:cs typeface="Palatino Linotype"/>
              </a:rPr>
              <a:t>Course</a:t>
            </a:r>
            <a:endParaRPr sz="3950">
              <a:latin typeface="Palatino Linotype"/>
              <a:cs typeface="Palatino Linotype"/>
            </a:endParaRPr>
          </a:p>
          <a:p>
            <a:pPr marL="558165" indent="-532765">
              <a:lnSpc>
                <a:spcPct val="100000"/>
              </a:lnSpc>
              <a:spcBef>
                <a:spcPts val="3760"/>
              </a:spcBef>
              <a:buClr>
                <a:srgbClr val="5C86B9"/>
              </a:buClr>
              <a:buSzPct val="70886"/>
              <a:buFont typeface="Arial MT"/>
              <a:buChar char="•"/>
              <a:tabLst>
                <a:tab pos="558165" algn="l"/>
              </a:tabLst>
            </a:pPr>
            <a:r>
              <a:rPr sz="3950" dirty="0">
                <a:latin typeface="Palatino Linotype"/>
                <a:cs typeface="Palatino Linotype"/>
              </a:rPr>
              <a:t>Build</a:t>
            </a:r>
            <a:r>
              <a:rPr sz="3950" spc="5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Real-time</a:t>
            </a:r>
            <a:r>
              <a:rPr sz="3950" spc="-100" dirty="0">
                <a:latin typeface="Palatino Linotype"/>
                <a:cs typeface="Palatino Linotype"/>
              </a:rPr>
              <a:t> </a:t>
            </a:r>
            <a:r>
              <a:rPr sz="3950" spc="-25" dirty="0">
                <a:latin typeface="Palatino Linotype"/>
                <a:cs typeface="Palatino Linotype"/>
              </a:rPr>
              <a:t>App</a:t>
            </a:r>
            <a:endParaRPr sz="3950">
              <a:latin typeface="Palatino Linotype"/>
              <a:cs typeface="Palatino Linotype"/>
            </a:endParaRPr>
          </a:p>
          <a:p>
            <a:pPr marL="976630" lvl="1" indent="-532765">
              <a:lnSpc>
                <a:spcPct val="100000"/>
              </a:lnSpc>
              <a:spcBef>
                <a:spcPts val="3754"/>
              </a:spcBef>
              <a:buClr>
                <a:srgbClr val="5C86B9"/>
              </a:buClr>
              <a:buSzPct val="70886"/>
              <a:buFont typeface="Arial MT"/>
              <a:buChar char="•"/>
              <a:tabLst>
                <a:tab pos="976630" algn="l"/>
              </a:tabLst>
            </a:pPr>
            <a:r>
              <a:rPr sz="3950" dirty="0">
                <a:latin typeface="Palatino Linotype"/>
                <a:cs typeface="Palatino Linotype"/>
              </a:rPr>
              <a:t>Create</a:t>
            </a:r>
            <a:r>
              <a:rPr sz="3950" spc="5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React</a:t>
            </a:r>
            <a:r>
              <a:rPr sz="3950" spc="65" dirty="0">
                <a:latin typeface="Palatino Linotype"/>
                <a:cs typeface="Palatino Linotype"/>
              </a:rPr>
              <a:t> </a:t>
            </a:r>
            <a:r>
              <a:rPr sz="3950" spc="-20" dirty="0">
                <a:latin typeface="Palatino Linotype"/>
                <a:cs typeface="Palatino Linotype"/>
              </a:rPr>
              <a:t>front-</a:t>
            </a:r>
            <a:r>
              <a:rPr sz="3950" spc="-25" dirty="0">
                <a:latin typeface="Palatino Linotype"/>
                <a:cs typeface="Palatino Linotype"/>
              </a:rPr>
              <a:t>end</a:t>
            </a:r>
            <a:endParaRPr sz="3950">
              <a:latin typeface="Palatino Linotype"/>
              <a:cs typeface="Palatino Linotype"/>
            </a:endParaRPr>
          </a:p>
          <a:p>
            <a:pPr marL="976630" lvl="1" indent="-532765">
              <a:lnSpc>
                <a:spcPct val="100000"/>
              </a:lnSpc>
              <a:spcBef>
                <a:spcPts val="3759"/>
              </a:spcBef>
              <a:buClr>
                <a:srgbClr val="5C86B9"/>
              </a:buClr>
              <a:buSzPct val="70886"/>
              <a:buFont typeface="Arial MT"/>
              <a:buChar char="•"/>
              <a:tabLst>
                <a:tab pos="976630" algn="l"/>
              </a:tabLst>
            </a:pPr>
            <a:r>
              <a:rPr sz="3950" dirty="0">
                <a:latin typeface="Palatino Linotype"/>
                <a:cs typeface="Palatino Linotype"/>
              </a:rPr>
              <a:t>Develop</a:t>
            </a:r>
            <a:r>
              <a:rPr sz="3950" spc="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Spring</a:t>
            </a:r>
            <a:r>
              <a:rPr sz="3950" spc="10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Boot</a:t>
            </a:r>
            <a:r>
              <a:rPr sz="3950" spc="15" dirty="0">
                <a:latin typeface="Palatino Linotype"/>
                <a:cs typeface="Palatino Linotype"/>
              </a:rPr>
              <a:t> </a:t>
            </a:r>
            <a:r>
              <a:rPr sz="3950" dirty="0">
                <a:latin typeface="Palatino Linotype"/>
                <a:cs typeface="Palatino Linotype"/>
              </a:rPr>
              <a:t>back-</a:t>
            </a:r>
            <a:r>
              <a:rPr sz="3950" spc="-25" dirty="0">
                <a:latin typeface="Palatino Linotype"/>
                <a:cs typeface="Palatino Linotype"/>
              </a:rPr>
              <a:t>end</a:t>
            </a:r>
            <a:endParaRPr sz="3950">
              <a:latin typeface="Palatino Linotype"/>
              <a:cs typeface="Palatino Linotype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641654" y="6373119"/>
            <a:ext cx="9352280" cy="2974340"/>
            <a:chOff x="9641654" y="6373119"/>
            <a:chExt cx="9352280" cy="29743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8246" y="6467356"/>
              <a:ext cx="9058987" cy="259686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41654" y="6373119"/>
              <a:ext cx="9352171" cy="29738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15" dirty="0"/>
              <a:t>Questions</a:t>
            </a:r>
            <a:r>
              <a:rPr spc="-75" dirty="0"/>
              <a:t> </a:t>
            </a:r>
            <a:r>
              <a:rPr spc="125" dirty="0"/>
              <a:t>/</a:t>
            </a:r>
            <a:r>
              <a:rPr spc="-75" dirty="0"/>
              <a:t> </a:t>
            </a:r>
            <a:r>
              <a:rPr spc="145" dirty="0"/>
              <a:t>Help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/>
              <a:t>If</a:t>
            </a:r>
            <a:r>
              <a:rPr spc="-15" dirty="0"/>
              <a:t> </a:t>
            </a:r>
            <a:r>
              <a:rPr dirty="0"/>
              <a:t>you have</a:t>
            </a:r>
            <a:r>
              <a:rPr spc="-5" dirty="0"/>
              <a:t> </a:t>
            </a:r>
            <a:r>
              <a:rPr dirty="0"/>
              <a:t>questions or</a:t>
            </a:r>
            <a:r>
              <a:rPr spc="-5" dirty="0"/>
              <a:t> </a:t>
            </a:r>
            <a:r>
              <a:rPr dirty="0"/>
              <a:t>need </a:t>
            </a:r>
            <a:r>
              <a:rPr spc="-10" dirty="0"/>
              <a:t>help…</a:t>
            </a: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pc="-10" dirty="0"/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/>
              <a:t>Post</a:t>
            </a:r>
            <a:r>
              <a:rPr spc="-1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question</a:t>
            </a:r>
            <a:r>
              <a:rPr spc="-10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classroom</a:t>
            </a:r>
            <a:r>
              <a:rPr spc="-10" dirty="0"/>
              <a:t> </a:t>
            </a:r>
            <a:r>
              <a:rPr dirty="0"/>
              <a:t>discussion</a:t>
            </a:r>
            <a:r>
              <a:rPr spc="-5" dirty="0"/>
              <a:t> </a:t>
            </a:r>
            <a:r>
              <a:rPr spc="-20" dirty="0"/>
              <a:t>forum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117</Words>
  <Application>Microsoft Macintosh PowerPoint</Application>
  <PresentationFormat>Custom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MT</vt:lpstr>
      <vt:lpstr>Palatino Linotype</vt:lpstr>
      <vt:lpstr>Times New Roman</vt:lpstr>
      <vt:lpstr>Office Theme</vt:lpstr>
      <vt:lpstr>React and Spring Boot</vt:lpstr>
      <vt:lpstr>Course Objective</vt:lpstr>
      <vt:lpstr>Prerequisites</vt:lpstr>
      <vt:lpstr>Course Road Map</vt:lpstr>
      <vt:lpstr>Questions / Help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001-react-spring-boot-course-introduction.pdf</dc:title>
  <dc:subject>luv2code</dc:subject>
  <dc:creator>www.luv2code.com</dc:creator>
  <cp:keywords>luv2code</cp:keywords>
  <cp:lastModifiedBy>Syed Nouman Ali Shah</cp:lastModifiedBy>
  <cp:revision>8</cp:revision>
  <dcterms:created xsi:type="dcterms:W3CDTF">2025-09-25T08:29:27Z</dcterms:created>
  <dcterms:modified xsi:type="dcterms:W3CDTF">2025-09-28T07:30:30Z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2022-11-14T00:00:00Z</vt:filetime>
  </property>
  <property fmtid="{D5CDD505-2E9C-101B-9397-08002B2CF9AE}" pid="3" name="Creator">
    <vt:lpwstr>luv2code</vt:lpwstr>
  </property>
  <property fmtid="{D5CDD505-2E9C-101B-9397-08002B2CF9AE}" pid="4" name="LastSaved">
    <vt:filetime>2025-09-25T00:00:00Z</vt:filetime>
  </property>
  <property fmtid="{D5CDD505-2E9C-101B-9397-08002B2CF9AE}" pid="5" name="Producer">
    <vt:lpwstr>macOS Version 11.7.1 (Build 20G918) Quartz PDFContext</vt:lpwstr>
  </property>
</Properties>
</file>