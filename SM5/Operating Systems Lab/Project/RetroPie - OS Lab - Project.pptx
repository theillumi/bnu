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lear Sans" charset="1" panose="020B0503030202020304"/>
      <p:regular r:id="rId19"/>
    </p:embeddedFont>
    <p:embeddedFont>
      <p:font typeface="Tomorrow Bold" charset="1" panose="00000000000000000000"/>
      <p:regular r:id="rId20"/>
    </p:embeddedFont>
    <p:embeddedFont>
      <p:font typeface="Clear Sans Medium" charset="1" panose="020B0603030202020304"/>
      <p:regular r:id="rId21"/>
    </p:embeddedFont>
    <p:embeddedFont>
      <p:font typeface="Clear Sans Bold" charset="1" panose="020B0803030202020304"/>
      <p:regular r:id="rId22"/>
    </p:embeddedFont>
    <p:embeddedFont>
      <p:font typeface="IBM Plex Mono" charset="1" panose="020B0509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media/image39.png" Type="http://schemas.openxmlformats.org/officeDocument/2006/relationships/image"/><Relationship Id="rId16" Target="../media/image40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569754"/>
            <a:ext cx="6209814" cy="1008892"/>
            <a:chOff x="0" y="0"/>
            <a:chExt cx="8279752" cy="13451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279752" cy="1345189"/>
              <a:chOff x="0" y="0"/>
              <a:chExt cx="195221352" cy="317170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5221349" cy="31717090"/>
              </a:xfrm>
              <a:custGeom>
                <a:avLst/>
                <a:gdLst/>
                <a:ahLst/>
                <a:cxnLst/>
                <a:rect r="r" b="b" t="t" l="l"/>
                <a:pathLst>
                  <a:path h="31717090" w="195221349">
                    <a:moveTo>
                      <a:pt x="194995292" y="0"/>
                    </a:moveTo>
                    <a:lnTo>
                      <a:pt x="0" y="0"/>
                    </a:lnTo>
                    <a:lnTo>
                      <a:pt x="0" y="31717090"/>
                    </a:lnTo>
                    <a:lnTo>
                      <a:pt x="195221349" y="31717090"/>
                    </a:lnTo>
                    <a:lnTo>
                      <a:pt x="195221349" y="0"/>
                    </a:lnTo>
                    <a:lnTo>
                      <a:pt x="194995292" y="0"/>
                    </a:lnTo>
                    <a:close/>
                    <a:moveTo>
                      <a:pt x="194995292" y="31491030"/>
                    </a:moveTo>
                    <a:lnTo>
                      <a:pt x="228600" y="31491030"/>
                    </a:lnTo>
                    <a:lnTo>
                      <a:pt x="228600" y="228600"/>
                    </a:lnTo>
                    <a:lnTo>
                      <a:pt x="194995292" y="228600"/>
                    </a:lnTo>
                    <a:lnTo>
                      <a:pt x="194995292" y="314910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399556" y="307689"/>
              <a:ext cx="7516866" cy="700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0"/>
                </a:lnSpc>
                <a:spcBef>
                  <a:spcPct val="0"/>
                </a:spcBef>
              </a:pPr>
              <a:r>
                <a:rPr lang="en-US" sz="3800" spc="3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Operating Systems - Lab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97727" y="2861736"/>
            <a:ext cx="5831527" cy="6109219"/>
          </a:xfrm>
          <a:custGeom>
            <a:avLst/>
            <a:gdLst/>
            <a:ahLst/>
            <a:cxnLst/>
            <a:rect r="r" b="b" t="t" l="l"/>
            <a:pathLst>
              <a:path h="6109219" w="5831527">
                <a:moveTo>
                  <a:pt x="0" y="0"/>
                </a:moveTo>
                <a:lnTo>
                  <a:pt x="5831527" y="0"/>
                </a:lnTo>
                <a:lnTo>
                  <a:pt x="5831527" y="6109218"/>
                </a:lnTo>
                <a:lnTo>
                  <a:pt x="0" y="610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038372">
            <a:off x="11766973" y="7769028"/>
            <a:ext cx="5473714" cy="2506887"/>
            <a:chOff x="0" y="0"/>
            <a:chExt cx="7298285" cy="334251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374188" y="0"/>
              <a:ext cx="6556338" cy="3342516"/>
              <a:chOff x="0" y="0"/>
              <a:chExt cx="6233160" cy="317775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233160" cy="3178708"/>
              </a:xfrm>
              <a:custGeom>
                <a:avLst/>
                <a:gdLst/>
                <a:ahLst/>
                <a:cxnLst/>
                <a:rect r="r" b="b" t="t" l="l"/>
                <a:pathLst>
                  <a:path h="3178708" w="6233160">
                    <a:moveTo>
                      <a:pt x="5897880" y="568960"/>
                    </a:moveTo>
                    <a:lnTo>
                      <a:pt x="3451860" y="30480"/>
                    </a:lnTo>
                    <a:cubicBezTo>
                      <a:pt x="3267710" y="-10160"/>
                      <a:pt x="2965450" y="-10160"/>
                      <a:pt x="2781300" y="30480"/>
                    </a:cubicBezTo>
                    <a:lnTo>
                      <a:pt x="335280" y="568960"/>
                    </a:lnTo>
                    <a:cubicBezTo>
                      <a:pt x="151130" y="609600"/>
                      <a:pt x="0" y="797560"/>
                      <a:pt x="0" y="986790"/>
                    </a:cubicBezTo>
                    <a:lnTo>
                      <a:pt x="0" y="2169376"/>
                    </a:lnTo>
                    <a:cubicBezTo>
                      <a:pt x="0" y="2362415"/>
                      <a:pt x="151130" y="2554185"/>
                      <a:pt x="335280" y="2596095"/>
                    </a:cubicBezTo>
                    <a:lnTo>
                      <a:pt x="2781300" y="3147275"/>
                    </a:lnTo>
                    <a:cubicBezTo>
                      <a:pt x="2965450" y="3189185"/>
                      <a:pt x="3267710" y="3189185"/>
                      <a:pt x="3451860" y="3147275"/>
                    </a:cubicBezTo>
                    <a:lnTo>
                      <a:pt x="5897880" y="2596095"/>
                    </a:lnTo>
                    <a:cubicBezTo>
                      <a:pt x="6082030" y="2554185"/>
                      <a:pt x="6233160" y="2362415"/>
                      <a:pt x="6233160" y="2169375"/>
                    </a:cubicBezTo>
                    <a:lnTo>
                      <a:pt x="6233160" y="986790"/>
                    </a:lnTo>
                    <a:cubicBezTo>
                      <a:pt x="6233160" y="797560"/>
                      <a:pt x="6082030" y="609600"/>
                      <a:pt x="5897880" y="568960"/>
                    </a:cubicBezTo>
                    <a:close/>
                  </a:path>
                </a:pathLst>
              </a:custGeom>
              <a:solidFill>
                <a:srgbClr val="F13737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296559"/>
              <a:ext cx="748377" cy="748377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6549908" y="1296559"/>
              <a:ext cx="748377" cy="748377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211593">
            <a:off x="10775510" y="6088274"/>
            <a:ext cx="7281794" cy="1443119"/>
          </a:xfrm>
          <a:custGeom>
            <a:avLst/>
            <a:gdLst/>
            <a:ahLst/>
            <a:cxnLst/>
            <a:rect r="r" b="b" t="t" l="l"/>
            <a:pathLst>
              <a:path h="1443119" w="7281794">
                <a:moveTo>
                  <a:pt x="0" y="0"/>
                </a:moveTo>
                <a:lnTo>
                  <a:pt x="7281794" y="0"/>
                </a:lnTo>
                <a:lnTo>
                  <a:pt x="7281794" y="1443120"/>
                </a:lnTo>
                <a:lnTo>
                  <a:pt x="0" y="1443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566956"/>
            <a:ext cx="12559341" cy="400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3"/>
              </a:lnSpc>
            </a:pPr>
            <a:r>
              <a:rPr lang="en-US" b="true" sz="16159" spc="161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RETROPIE</a:t>
            </a:r>
          </a:p>
          <a:p>
            <a:pPr algn="l">
              <a:lnSpc>
                <a:spcPts val="6750"/>
              </a:lnSpc>
            </a:pPr>
            <a:r>
              <a:rPr lang="en-US" b="true" sz="7500" spc="75">
                <a:solidFill>
                  <a:srgbClr val="F13737"/>
                </a:solidFill>
                <a:latin typeface="Tomorrow Bold"/>
                <a:ea typeface="Tomorrow Bold"/>
                <a:cs typeface="Tomorrow Bold"/>
                <a:sym typeface="Tomorrow Bold"/>
              </a:rPr>
              <a:t>GAMING CONSOLE ON</a:t>
            </a:r>
          </a:p>
          <a:p>
            <a:pPr algn="l">
              <a:lnSpc>
                <a:spcPts val="9864"/>
              </a:lnSpc>
            </a:pPr>
            <a:r>
              <a:rPr lang="en-US" b="true" sz="10960" spc="109">
                <a:solidFill>
                  <a:srgbClr val="0C3FDD"/>
                </a:solidFill>
                <a:latin typeface="Tomorrow Bold"/>
                <a:ea typeface="Tomorrow Bold"/>
                <a:cs typeface="Tomorrow Bold"/>
                <a:sym typeface="Tomorrow Bold"/>
              </a:rPr>
              <a:t>RASPBERRY PI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061464" y="2090021"/>
            <a:ext cx="5672525" cy="7652648"/>
          </a:xfrm>
          <a:custGeom>
            <a:avLst/>
            <a:gdLst/>
            <a:ahLst/>
            <a:cxnLst/>
            <a:rect r="r" b="b" t="t" l="l"/>
            <a:pathLst>
              <a:path h="7652648" w="5672525">
                <a:moveTo>
                  <a:pt x="0" y="0"/>
                </a:moveTo>
                <a:lnTo>
                  <a:pt x="5672526" y="0"/>
                </a:lnTo>
                <a:lnTo>
                  <a:pt x="5672526" y="7652648"/>
                </a:lnTo>
                <a:lnTo>
                  <a:pt x="0" y="7652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423910"/>
            <a:ext cx="796689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2400" spc="24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SAAD MUGHAL</a:t>
            </a:r>
          </a:p>
          <a:p>
            <a:pPr algn="l">
              <a:lnSpc>
                <a:spcPts val="2160"/>
              </a:lnSpc>
            </a:pPr>
            <a:r>
              <a:rPr lang="en-US" b="true" sz="2400" spc="24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SHEIKH MUHAMMAD IBRAHIM</a:t>
            </a:r>
          </a:p>
          <a:p>
            <a:pPr algn="l">
              <a:lnSpc>
                <a:spcPts val="2160"/>
              </a:lnSpc>
            </a:pPr>
            <a:r>
              <a:rPr lang="en-US" b="true" sz="2400" spc="24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KHADIJAH ZAHOOR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0800000">
            <a:off x="-1471641" y="9449728"/>
            <a:ext cx="8449534" cy="1674544"/>
          </a:xfrm>
          <a:custGeom>
            <a:avLst/>
            <a:gdLst/>
            <a:ahLst/>
            <a:cxnLst/>
            <a:rect r="r" b="b" t="t" l="l"/>
            <a:pathLst>
              <a:path h="1674544" w="8449534">
                <a:moveTo>
                  <a:pt x="0" y="0"/>
                </a:moveTo>
                <a:lnTo>
                  <a:pt x="8449534" y="0"/>
                </a:lnTo>
                <a:lnTo>
                  <a:pt x="8449534" y="1674544"/>
                </a:lnTo>
                <a:lnTo>
                  <a:pt x="0" y="1674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C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98243"/>
            <a:ext cx="11713666" cy="3282385"/>
            <a:chOff x="0" y="0"/>
            <a:chExt cx="358204126" cy="100375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204120" cy="100375405"/>
            </a:xfrm>
            <a:custGeom>
              <a:avLst/>
              <a:gdLst/>
              <a:ahLst/>
              <a:cxnLst/>
              <a:rect r="r" b="b" t="t" l="l"/>
              <a:pathLst>
                <a:path h="100375405" w="358204120">
                  <a:moveTo>
                    <a:pt x="357978075" y="0"/>
                  </a:moveTo>
                  <a:lnTo>
                    <a:pt x="0" y="0"/>
                  </a:lnTo>
                  <a:lnTo>
                    <a:pt x="0" y="100375405"/>
                  </a:lnTo>
                  <a:lnTo>
                    <a:pt x="358204120" y="100375405"/>
                  </a:lnTo>
                  <a:lnTo>
                    <a:pt x="358204120" y="0"/>
                  </a:lnTo>
                  <a:lnTo>
                    <a:pt x="357978075" y="0"/>
                  </a:lnTo>
                  <a:close/>
                  <a:moveTo>
                    <a:pt x="357978075" y="100149347"/>
                  </a:moveTo>
                  <a:lnTo>
                    <a:pt x="228600" y="100149347"/>
                  </a:lnTo>
                  <a:lnTo>
                    <a:pt x="228600" y="228600"/>
                  </a:lnTo>
                  <a:lnTo>
                    <a:pt x="357978075" y="228600"/>
                  </a:lnTo>
                  <a:lnTo>
                    <a:pt x="357978075" y="10014934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04744" y="4421742"/>
            <a:ext cx="11372401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4500" spc="44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RetroPie is a Linux-based operating</a:t>
            </a:r>
            <a:r>
              <a:rPr lang="en-US" sz="4500" spc="44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system that transforms a Raspberry Pi into a retro gaming console by combining emulation software, system services, and hardware abstraction layers.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41856" y="2813010"/>
            <a:ext cx="3047004" cy="2138443"/>
          </a:xfrm>
          <a:custGeom>
            <a:avLst/>
            <a:gdLst/>
            <a:ahLst/>
            <a:cxnLst/>
            <a:rect r="r" b="b" t="t" l="l"/>
            <a:pathLst>
              <a:path h="2138443" w="3047004">
                <a:moveTo>
                  <a:pt x="0" y="0"/>
                </a:moveTo>
                <a:lnTo>
                  <a:pt x="3047004" y="0"/>
                </a:lnTo>
                <a:lnTo>
                  <a:pt x="3047004" y="2138442"/>
                </a:lnTo>
                <a:lnTo>
                  <a:pt x="0" y="213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2654" y="1041658"/>
            <a:ext cx="4216646" cy="5393384"/>
          </a:xfrm>
          <a:custGeom>
            <a:avLst/>
            <a:gdLst/>
            <a:ahLst/>
            <a:cxnLst/>
            <a:rect r="r" b="b" t="t" l="l"/>
            <a:pathLst>
              <a:path h="5393384" w="4216646">
                <a:moveTo>
                  <a:pt x="0" y="0"/>
                </a:moveTo>
                <a:lnTo>
                  <a:pt x="4216646" y="0"/>
                </a:lnTo>
                <a:lnTo>
                  <a:pt x="4216646" y="5393384"/>
                </a:lnTo>
                <a:lnTo>
                  <a:pt x="0" y="5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75033"/>
            <a:ext cx="10637609" cy="282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5"/>
              </a:lnSpc>
            </a:pPr>
            <a:r>
              <a:rPr lang="en-US" b="true" sz="11850" spc="1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WHAT </a:t>
            </a:r>
            <a:r>
              <a:rPr lang="en-US" b="true" sz="11850" spc="11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IS</a:t>
            </a:r>
            <a:r>
              <a:rPr lang="en-US" b="true" sz="11850" spc="1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</a:p>
          <a:p>
            <a:pPr algn="l">
              <a:lnSpc>
                <a:spcPts val="10665"/>
              </a:lnSpc>
            </a:pPr>
            <a:r>
              <a:rPr lang="en-US" b="true" sz="11850" spc="118">
                <a:solidFill>
                  <a:srgbClr val="BC1142"/>
                </a:solidFill>
                <a:latin typeface="Tomorrow Bold"/>
                <a:ea typeface="Tomorrow Bold"/>
                <a:cs typeface="Tomorrow Bold"/>
                <a:sym typeface="Tomorrow Bold"/>
              </a:rPr>
              <a:t>RETROPIE</a:t>
            </a:r>
            <a:r>
              <a:rPr lang="en-US" b="true" sz="11850" spc="118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47906"/>
            <a:ext cx="7291747" cy="249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74"/>
              </a:lnSpc>
            </a:pPr>
            <a:r>
              <a:rPr lang="en-US" b="true" sz="10749" spc="107">
                <a:solidFill>
                  <a:srgbClr val="069B6B"/>
                </a:solidFill>
                <a:latin typeface="Tomorrow Bold"/>
                <a:ea typeface="Tomorrow Bold"/>
                <a:cs typeface="Tomorrow Bold"/>
                <a:sym typeface="Tomorrow Bold"/>
              </a:rPr>
              <a:t>WHY </a:t>
            </a:r>
            <a:r>
              <a:rPr lang="en-US" b="true" sz="10749" spc="107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THIS</a:t>
            </a:r>
          </a:p>
          <a:p>
            <a:pPr algn="just">
              <a:lnSpc>
                <a:spcPts val="9314"/>
              </a:lnSpc>
            </a:pPr>
            <a:r>
              <a:rPr lang="en-US" b="true" sz="10349" spc="103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PROJECT</a:t>
            </a:r>
            <a:r>
              <a:rPr lang="en-US" b="true" sz="10349" spc="103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24979" y="4883335"/>
            <a:ext cx="3010011" cy="596529"/>
          </a:xfrm>
          <a:custGeom>
            <a:avLst/>
            <a:gdLst/>
            <a:ahLst/>
            <a:cxnLst/>
            <a:rect r="r" b="b" t="t" l="l"/>
            <a:pathLst>
              <a:path h="596529" w="3010011">
                <a:moveTo>
                  <a:pt x="0" y="0"/>
                </a:moveTo>
                <a:lnTo>
                  <a:pt x="3010011" y="0"/>
                </a:lnTo>
                <a:lnTo>
                  <a:pt x="3010011" y="596530"/>
                </a:lnTo>
                <a:lnTo>
                  <a:pt x="0" y="596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41550" y="8079588"/>
            <a:ext cx="3725646" cy="3637585"/>
          </a:xfrm>
          <a:custGeom>
            <a:avLst/>
            <a:gdLst/>
            <a:ahLst/>
            <a:cxnLst/>
            <a:rect r="r" b="b" t="t" l="l"/>
            <a:pathLst>
              <a:path h="3637585" w="3725646">
                <a:moveTo>
                  <a:pt x="0" y="0"/>
                </a:moveTo>
                <a:lnTo>
                  <a:pt x="3725646" y="0"/>
                </a:lnTo>
                <a:lnTo>
                  <a:pt x="3725646" y="3637584"/>
                </a:lnTo>
                <a:lnTo>
                  <a:pt x="0" y="3637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4205" y="2969861"/>
            <a:ext cx="1176436" cy="1232457"/>
          </a:xfrm>
          <a:custGeom>
            <a:avLst/>
            <a:gdLst/>
            <a:ahLst/>
            <a:cxnLst/>
            <a:rect r="r" b="b" t="t" l="l"/>
            <a:pathLst>
              <a:path h="1232457" w="1176436">
                <a:moveTo>
                  <a:pt x="0" y="0"/>
                </a:moveTo>
                <a:lnTo>
                  <a:pt x="1176436" y="0"/>
                </a:lnTo>
                <a:lnTo>
                  <a:pt x="1176436" y="1232457"/>
                </a:lnTo>
                <a:lnTo>
                  <a:pt x="0" y="1232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4205" y="6168602"/>
            <a:ext cx="1176436" cy="1232457"/>
          </a:xfrm>
          <a:custGeom>
            <a:avLst/>
            <a:gdLst/>
            <a:ahLst/>
            <a:cxnLst/>
            <a:rect r="r" b="b" t="t" l="l"/>
            <a:pathLst>
              <a:path h="1232457" w="1176436">
                <a:moveTo>
                  <a:pt x="0" y="0"/>
                </a:moveTo>
                <a:lnTo>
                  <a:pt x="1176436" y="0"/>
                </a:lnTo>
                <a:lnTo>
                  <a:pt x="1176436" y="1232456"/>
                </a:lnTo>
                <a:lnTo>
                  <a:pt x="0" y="1232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24979" y="2736498"/>
            <a:ext cx="6364102" cy="163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0"/>
              </a:lnSpc>
            </a:pPr>
            <a:r>
              <a:rPr lang="en-US" b="true" sz="2500" spc="50">
                <a:solidFill>
                  <a:srgbClr val="069B6B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Problem</a:t>
            </a:r>
            <a:r>
              <a:rPr lang="en-US" b="true" sz="2500" spc="50" u="none">
                <a:solidFill>
                  <a:srgbClr val="069B6B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49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Complex OS concepts are abstract</a:t>
            </a:r>
          </a:p>
          <a:p>
            <a:pPr algn="l" marL="539750" indent="-269875" lvl="1">
              <a:lnSpc>
                <a:spcPts val="3250"/>
              </a:lnSpc>
              <a:buFont typeface="Arial"/>
              <a:buChar char="•"/>
            </a:pPr>
            <a:r>
              <a:rPr lang="en-US" sz="2500" spc="50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Hard to visualize hardware-software interaction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4979" y="5825247"/>
            <a:ext cx="6364102" cy="204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49" b="true">
                <a:solidFill>
                  <a:srgbClr val="F6C402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Solution: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RetroPie provides a real OS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 spc="49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Runs on actual hardware</a:t>
            </a:r>
          </a:p>
          <a:p>
            <a:pPr algn="l" marL="539750" indent="-269875" lvl="1">
              <a:lnSpc>
                <a:spcPts val="3250"/>
              </a:lnSpc>
              <a:buFont typeface="Arial"/>
              <a:buChar char="•"/>
            </a:pPr>
            <a:r>
              <a:rPr lang="en-US" sz="2500" spc="50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Shows boot, processes, memory, I/O in 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5088" y="1778995"/>
            <a:ext cx="4638639" cy="2167510"/>
          </a:xfrm>
          <a:custGeom>
            <a:avLst/>
            <a:gdLst/>
            <a:ahLst/>
            <a:cxnLst/>
            <a:rect r="r" b="b" t="t" l="l"/>
            <a:pathLst>
              <a:path h="2167510" w="4638639">
                <a:moveTo>
                  <a:pt x="0" y="0"/>
                </a:moveTo>
                <a:lnTo>
                  <a:pt x="4638639" y="0"/>
                </a:lnTo>
                <a:lnTo>
                  <a:pt x="4638639" y="2167510"/>
                </a:lnTo>
                <a:lnTo>
                  <a:pt x="0" y="2167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284" y="5648670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284" y="3702665"/>
            <a:ext cx="6859296" cy="21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04"/>
              </a:lnSpc>
            </a:pPr>
            <a:r>
              <a:rPr lang="en-US" b="true" sz="12115" spc="12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SYSTEM</a:t>
            </a:r>
          </a:p>
          <a:p>
            <a:pPr algn="l">
              <a:lnSpc>
                <a:spcPts val="5782"/>
              </a:lnSpc>
            </a:pPr>
            <a:r>
              <a:rPr lang="en-US" b="true" sz="6425" spc="64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954407" y="7521618"/>
            <a:ext cx="3581173" cy="1185043"/>
          </a:xfrm>
          <a:custGeom>
            <a:avLst/>
            <a:gdLst/>
            <a:ahLst/>
            <a:cxnLst/>
            <a:rect r="r" b="b" t="t" l="l"/>
            <a:pathLst>
              <a:path h="1185043" w="3581173">
                <a:moveTo>
                  <a:pt x="0" y="0"/>
                </a:moveTo>
                <a:lnTo>
                  <a:pt x="3581174" y="0"/>
                </a:lnTo>
                <a:lnTo>
                  <a:pt x="3581174" y="1185043"/>
                </a:lnTo>
                <a:lnTo>
                  <a:pt x="0" y="1185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49355" y="1364304"/>
            <a:ext cx="9596205" cy="7558393"/>
            <a:chOff x="0" y="0"/>
            <a:chExt cx="12794940" cy="1007785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7150"/>
              <a:ext cx="12407133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 Interf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ace           →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EmulationStation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933375"/>
              <a:ext cx="12794940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Applications              → RetroArc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&amp; Emulators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1058333"/>
              <a:ext cx="2917832" cy="463966"/>
              <a:chOff x="0" y="0"/>
              <a:chExt cx="3594100" cy="571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934559"/>
              <a:ext cx="2917832" cy="463966"/>
              <a:chOff x="0" y="0"/>
              <a:chExt cx="3594100" cy="571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6681891"/>
              <a:ext cx="2917832" cy="463966"/>
              <a:chOff x="0" y="0"/>
              <a:chExt cx="3594100" cy="571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555557"/>
              <a:ext cx="2917832" cy="463966"/>
              <a:chOff x="0" y="0"/>
              <a:chExt cx="3594100" cy="571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4808225"/>
              <a:ext cx="2917832" cy="463966"/>
              <a:chOff x="0" y="0"/>
              <a:chExt cx="3594100" cy="571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5684941"/>
              <a:ext cx="11651930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Operating System    → Raspberry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Pi OS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809158"/>
              <a:ext cx="12611242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Services       → systemd,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SSH, Samba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558607"/>
              <a:ext cx="11651930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Kernel            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     → Linux (ARM)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432274"/>
              <a:ext cx="11651930" cy="645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Hardware                  → Raspberry</a:t>
              </a: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Pi 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96944">
            <a:off x="212427" y="6070695"/>
            <a:ext cx="2013314" cy="3325293"/>
          </a:xfrm>
          <a:custGeom>
            <a:avLst/>
            <a:gdLst/>
            <a:ahLst/>
            <a:cxnLst/>
            <a:rect r="r" b="b" t="t" l="l"/>
            <a:pathLst>
              <a:path h="3325293" w="2013314">
                <a:moveTo>
                  <a:pt x="0" y="0"/>
                </a:moveTo>
                <a:lnTo>
                  <a:pt x="2013314" y="0"/>
                </a:lnTo>
                <a:lnTo>
                  <a:pt x="2013314" y="3325293"/>
                </a:lnTo>
                <a:lnTo>
                  <a:pt x="0" y="3325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28910">
            <a:off x="15969208" y="-168517"/>
            <a:ext cx="3524622" cy="2394435"/>
            <a:chOff x="0" y="0"/>
            <a:chExt cx="4699496" cy="31925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79207"/>
              <a:ext cx="4699496" cy="2453826"/>
              <a:chOff x="0" y="0"/>
              <a:chExt cx="1515776" cy="79145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15776" cy="791458"/>
              </a:xfrm>
              <a:custGeom>
                <a:avLst/>
                <a:gdLst/>
                <a:ahLst/>
                <a:cxnLst/>
                <a:rect r="r" b="b" t="t" l="l"/>
                <a:pathLst>
                  <a:path h="791458" w="1515776">
                    <a:moveTo>
                      <a:pt x="0" y="0"/>
                    </a:moveTo>
                    <a:lnTo>
                      <a:pt x="1515776" y="0"/>
                    </a:lnTo>
                    <a:lnTo>
                      <a:pt x="1515776" y="791458"/>
                    </a:lnTo>
                    <a:lnTo>
                      <a:pt x="0" y="7914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970540" y="0"/>
              <a:ext cx="758415" cy="758415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1970540" y="2434165"/>
              <a:ext cx="758415" cy="758415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-924846">
            <a:off x="14991401" y="8314530"/>
            <a:ext cx="4740364" cy="2712859"/>
          </a:xfrm>
          <a:custGeom>
            <a:avLst/>
            <a:gdLst/>
            <a:ahLst/>
            <a:cxnLst/>
            <a:rect r="r" b="b" t="t" l="l"/>
            <a:pathLst>
              <a:path h="2712859" w="4740364">
                <a:moveTo>
                  <a:pt x="0" y="0"/>
                </a:moveTo>
                <a:lnTo>
                  <a:pt x="4740364" y="0"/>
                </a:lnTo>
                <a:lnTo>
                  <a:pt x="4740364" y="2712859"/>
                </a:lnTo>
                <a:lnTo>
                  <a:pt x="0" y="271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1558570">
            <a:off x="-3599402" y="-973649"/>
            <a:ext cx="4625682" cy="1947298"/>
            <a:chOff x="0" y="0"/>
            <a:chExt cx="14480238" cy="6065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32" y="0"/>
              <a:ext cx="14479974" cy="6097093"/>
            </a:xfrm>
            <a:custGeom>
              <a:avLst/>
              <a:gdLst/>
              <a:ahLst/>
              <a:cxnLst/>
              <a:rect r="r" b="b" t="t" l="l"/>
              <a:pathLst>
                <a:path h="6097093" w="14479974">
                  <a:moveTo>
                    <a:pt x="1641978" y="0"/>
                  </a:moveTo>
                  <a:lnTo>
                    <a:pt x="1641978" y="6095823"/>
                  </a:lnTo>
                  <a:cubicBezTo>
                    <a:pt x="1659758" y="6097093"/>
                    <a:pt x="1677538" y="6097093"/>
                    <a:pt x="1695318" y="6097093"/>
                  </a:cubicBezTo>
                  <a:lnTo>
                    <a:pt x="12774496" y="6097093"/>
                  </a:lnTo>
                  <a:lnTo>
                    <a:pt x="12774496" y="0"/>
                  </a:lnTo>
                  <a:lnTo>
                    <a:pt x="1641978" y="0"/>
                  </a:lnTo>
                  <a:close/>
                  <a:moveTo>
                    <a:pt x="13231696" y="0"/>
                  </a:moveTo>
                  <a:lnTo>
                    <a:pt x="12774496" y="0"/>
                  </a:lnTo>
                  <a:lnTo>
                    <a:pt x="12774496" y="6095823"/>
                  </a:lnTo>
                  <a:lnTo>
                    <a:pt x="12784656" y="6095823"/>
                  </a:lnTo>
                  <a:cubicBezTo>
                    <a:pt x="13523796" y="6095823"/>
                    <a:pt x="14172766" y="5490425"/>
                    <a:pt x="14226107" y="4749919"/>
                  </a:cubicBezTo>
                  <a:lnTo>
                    <a:pt x="14476296" y="1344869"/>
                  </a:lnTo>
                  <a:cubicBezTo>
                    <a:pt x="14530907" y="605641"/>
                    <a:pt x="13970835" y="0"/>
                    <a:pt x="13231696" y="0"/>
                  </a:cubicBezTo>
                  <a:close/>
                  <a:moveTo>
                    <a:pt x="1248278" y="0"/>
                  </a:moveTo>
                  <a:cubicBezTo>
                    <a:pt x="509138" y="0"/>
                    <a:pt x="-50932" y="605641"/>
                    <a:pt x="3678" y="1346146"/>
                  </a:cubicBezTo>
                  <a:lnTo>
                    <a:pt x="253868" y="4751196"/>
                  </a:lnTo>
                  <a:cubicBezTo>
                    <a:pt x="307208" y="5473828"/>
                    <a:pt x="926968" y="6067883"/>
                    <a:pt x="1643248" y="6095823"/>
                  </a:cubicBezTo>
                  <a:lnTo>
                    <a:pt x="1643248" y="0"/>
                  </a:lnTo>
                  <a:lnTo>
                    <a:pt x="1248278" y="0"/>
                  </a:lnTo>
                  <a:close/>
                </a:path>
              </a:pathLst>
            </a:custGeom>
            <a:solidFill>
              <a:srgbClr val="0C3FD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238250"/>
            <a:ext cx="7968653" cy="19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8000" spc="80">
                <a:solidFill>
                  <a:srgbClr val="0C3FDD"/>
                </a:solidFill>
                <a:latin typeface="Tomorrow Bold"/>
                <a:ea typeface="Tomorrow Bold"/>
                <a:cs typeface="Tomorrow Bold"/>
                <a:sym typeface="Tomorrow Bold"/>
              </a:rPr>
              <a:t>OS </a:t>
            </a:r>
            <a:r>
              <a:rPr lang="en-US" b="true" sz="8000" spc="80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CONCEPTS</a:t>
            </a:r>
            <a:r>
              <a:rPr lang="en-US" b="true" sz="8000" spc="80">
                <a:solidFill>
                  <a:srgbClr val="0C3FDD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b="true" sz="8000" spc="80">
                <a:solidFill>
                  <a:srgbClr val="FE82A7"/>
                </a:solidFill>
                <a:latin typeface="Tomorrow Bold"/>
                <a:ea typeface="Tomorrow Bold"/>
                <a:cs typeface="Tomorrow Bold"/>
                <a:sym typeface="Tomorrow Bold"/>
              </a:rPr>
              <a:t>IN ACTION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1783600">
            <a:off x="7051939" y="-980952"/>
            <a:ext cx="3890828" cy="2567946"/>
          </a:xfrm>
          <a:custGeom>
            <a:avLst/>
            <a:gdLst/>
            <a:ahLst/>
            <a:cxnLst/>
            <a:rect r="r" b="b" t="t" l="l"/>
            <a:pathLst>
              <a:path h="2567946" w="3890828">
                <a:moveTo>
                  <a:pt x="0" y="0"/>
                </a:moveTo>
                <a:lnTo>
                  <a:pt x="3890827" y="0"/>
                </a:lnTo>
                <a:lnTo>
                  <a:pt x="3890827" y="2567946"/>
                </a:lnTo>
                <a:lnTo>
                  <a:pt x="0" y="2567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534911">
            <a:off x="15349113" y="3736567"/>
            <a:ext cx="5877774" cy="2265615"/>
          </a:xfrm>
          <a:custGeom>
            <a:avLst/>
            <a:gdLst/>
            <a:ahLst/>
            <a:cxnLst/>
            <a:rect r="r" b="b" t="t" l="l"/>
            <a:pathLst>
              <a:path h="2265615" w="5877774">
                <a:moveTo>
                  <a:pt x="0" y="0"/>
                </a:moveTo>
                <a:lnTo>
                  <a:pt x="5877774" y="0"/>
                </a:lnTo>
                <a:lnTo>
                  <a:pt x="5877774" y="2265615"/>
                </a:lnTo>
                <a:lnTo>
                  <a:pt x="0" y="2265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3557571" y="3407572"/>
          <a:ext cx="11158555" cy="6000750"/>
        </p:xfrm>
        <a:graphic>
          <a:graphicData uri="http://schemas.openxmlformats.org/drawingml/2006/table">
            <a:tbl>
              <a:tblPr/>
              <a:tblGrid>
                <a:gridCol w="5586454"/>
                <a:gridCol w="5572102"/>
              </a:tblGrid>
              <a:tr h="1064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OS Concept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40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Where it Appears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402"/>
                    </a:solidFill>
                  </a:tcPr>
                </a:tc>
              </a:tr>
              <a:tr h="987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Process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Emulator processes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</a:tr>
              <a:tr h="987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Memory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RAM &amp; GPU 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</a:tr>
              <a:tr h="987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I/O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Controller + HDMI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</a:tr>
              <a:tr h="987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File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ROM directories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</a:tr>
              <a:tr h="987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Boot Process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Auto-start EmulationStation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82A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9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979" y="2939847"/>
            <a:ext cx="15887489" cy="7160455"/>
            <a:chOff x="0" y="0"/>
            <a:chExt cx="21183319" cy="95472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4387152" y="0"/>
              <a:ext cx="3701196" cy="1345189"/>
              <a:chOff x="0" y="0"/>
              <a:chExt cx="87267405" cy="317170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7267405" cy="31717090"/>
              </a:xfrm>
              <a:custGeom>
                <a:avLst/>
                <a:gdLst/>
                <a:ahLst/>
                <a:cxnLst/>
                <a:rect r="r" b="b" t="t" l="l"/>
                <a:pathLst>
                  <a:path h="31717090" w="87267405">
                    <a:moveTo>
                      <a:pt x="87041348" y="0"/>
                    </a:moveTo>
                    <a:lnTo>
                      <a:pt x="0" y="0"/>
                    </a:lnTo>
                    <a:lnTo>
                      <a:pt x="0" y="31717090"/>
                    </a:lnTo>
                    <a:lnTo>
                      <a:pt x="87267405" y="31717090"/>
                    </a:lnTo>
                    <a:lnTo>
                      <a:pt x="87267405" y="0"/>
                    </a:lnTo>
                    <a:lnTo>
                      <a:pt x="87041348" y="0"/>
                    </a:lnTo>
                    <a:close/>
                    <a:moveTo>
                      <a:pt x="87041348" y="31491030"/>
                    </a:moveTo>
                    <a:lnTo>
                      <a:pt x="228600" y="31491030"/>
                    </a:lnTo>
                    <a:lnTo>
                      <a:pt x="228600" y="228600"/>
                    </a:lnTo>
                    <a:lnTo>
                      <a:pt x="87041348" y="228600"/>
                    </a:lnTo>
                    <a:lnTo>
                      <a:pt x="87041348" y="314910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528122" y="301120"/>
              <a:ext cx="3560226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  <a:spcBef>
                  <a:spcPct val="0"/>
                </a:spcBef>
              </a:pPr>
              <a:r>
                <a:rPr lang="en-US" sz="4500" spc="4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Hardware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17786535" y="2039751"/>
              <a:ext cx="2558591" cy="3272617"/>
            </a:xfrm>
            <a:custGeom>
              <a:avLst/>
              <a:gdLst/>
              <a:ahLst/>
              <a:cxnLst/>
              <a:rect r="r" b="b" t="t" l="l"/>
              <a:pathLst>
                <a:path h="3272617" w="2558591">
                  <a:moveTo>
                    <a:pt x="0" y="0"/>
                  </a:moveTo>
                  <a:lnTo>
                    <a:pt x="2558591" y="0"/>
                  </a:lnTo>
                  <a:lnTo>
                    <a:pt x="2558591" y="3272617"/>
                  </a:lnTo>
                  <a:lnTo>
                    <a:pt x="0" y="3272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8263132">
              <a:off x="1324616" y="4379375"/>
              <a:ext cx="4375852" cy="4248555"/>
            </a:xfrm>
            <a:custGeom>
              <a:avLst/>
              <a:gdLst/>
              <a:ahLst/>
              <a:cxnLst/>
              <a:rect r="r" b="b" t="t" l="l"/>
              <a:pathLst>
                <a:path h="4248555" w="4375852">
                  <a:moveTo>
                    <a:pt x="0" y="0"/>
                  </a:moveTo>
                  <a:lnTo>
                    <a:pt x="4375853" y="0"/>
                  </a:lnTo>
                  <a:lnTo>
                    <a:pt x="4375853" y="4248554"/>
                  </a:lnTo>
                  <a:lnTo>
                    <a:pt x="0" y="4248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208133" y="5102846"/>
              <a:ext cx="4598519" cy="3076827"/>
            </a:xfrm>
            <a:custGeom>
              <a:avLst/>
              <a:gdLst/>
              <a:ahLst/>
              <a:cxnLst/>
              <a:rect r="r" b="b" t="t" l="l"/>
              <a:pathLst>
                <a:path h="3076827" w="4598519">
                  <a:moveTo>
                    <a:pt x="0" y="0"/>
                  </a:moveTo>
                  <a:lnTo>
                    <a:pt x="4598519" y="0"/>
                  </a:lnTo>
                  <a:lnTo>
                    <a:pt x="4598519" y="3076827"/>
                  </a:lnTo>
                  <a:lnTo>
                    <a:pt x="0" y="307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927049" y="2402077"/>
              <a:ext cx="2893548" cy="2115907"/>
            </a:xfrm>
            <a:custGeom>
              <a:avLst/>
              <a:gdLst/>
              <a:ahLst/>
              <a:cxnLst/>
              <a:rect r="r" b="b" t="t" l="l"/>
              <a:pathLst>
                <a:path h="2115907" w="2893548">
                  <a:moveTo>
                    <a:pt x="0" y="0"/>
                  </a:moveTo>
                  <a:lnTo>
                    <a:pt x="2893548" y="0"/>
                  </a:lnTo>
                  <a:lnTo>
                    <a:pt x="2893548" y="2115908"/>
                  </a:lnTo>
                  <a:lnTo>
                    <a:pt x="0" y="211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4292793" y="1952582"/>
              <a:ext cx="2490441" cy="3359786"/>
            </a:xfrm>
            <a:custGeom>
              <a:avLst/>
              <a:gdLst/>
              <a:ahLst/>
              <a:cxnLst/>
              <a:rect r="r" b="b" t="t" l="l"/>
              <a:pathLst>
                <a:path h="3359786" w="2490441">
                  <a:moveTo>
                    <a:pt x="0" y="0"/>
                  </a:moveTo>
                  <a:lnTo>
                    <a:pt x="2490442" y="0"/>
                  </a:lnTo>
                  <a:lnTo>
                    <a:pt x="2490442" y="3359786"/>
                  </a:lnTo>
                  <a:lnTo>
                    <a:pt x="0" y="3359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7271400" y="5399386"/>
              <a:ext cx="3911919" cy="3911919"/>
            </a:xfrm>
            <a:custGeom>
              <a:avLst/>
              <a:gdLst/>
              <a:ahLst/>
              <a:cxnLst/>
              <a:rect r="r" b="b" t="t" l="l"/>
              <a:pathLst>
                <a:path h="3911919" w="3911919">
                  <a:moveTo>
                    <a:pt x="0" y="0"/>
                  </a:moveTo>
                  <a:lnTo>
                    <a:pt x="3911919" y="0"/>
                  </a:lnTo>
                  <a:lnTo>
                    <a:pt x="3911919" y="3911920"/>
                  </a:lnTo>
                  <a:lnTo>
                    <a:pt x="0" y="391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4292793" y="5675453"/>
              <a:ext cx="2851618" cy="3359786"/>
            </a:xfrm>
            <a:custGeom>
              <a:avLst/>
              <a:gdLst/>
              <a:ahLst/>
              <a:cxnLst/>
              <a:rect r="r" b="b" t="t" l="l"/>
              <a:pathLst>
                <a:path h="3359786" w="2851618">
                  <a:moveTo>
                    <a:pt x="0" y="0"/>
                  </a:moveTo>
                  <a:lnTo>
                    <a:pt x="2851618" y="0"/>
                  </a:lnTo>
                  <a:lnTo>
                    <a:pt x="2851618" y="3359786"/>
                  </a:lnTo>
                  <a:lnTo>
                    <a:pt x="0" y="3359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37184"/>
              <a:ext cx="7208133" cy="5045693"/>
            </a:xfrm>
            <a:custGeom>
              <a:avLst/>
              <a:gdLst/>
              <a:ahLst/>
              <a:cxnLst/>
              <a:rect r="r" b="b" t="t" l="l"/>
              <a:pathLst>
                <a:path h="5045693" w="7208133">
                  <a:moveTo>
                    <a:pt x="0" y="0"/>
                  </a:moveTo>
                  <a:lnTo>
                    <a:pt x="7208133" y="0"/>
                  </a:lnTo>
                  <a:lnTo>
                    <a:pt x="7208133" y="5045694"/>
                  </a:lnTo>
                  <a:lnTo>
                    <a:pt x="0" y="504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19602" y="2939847"/>
            <a:ext cx="2775897" cy="1008892"/>
            <a:chOff x="0" y="0"/>
            <a:chExt cx="3701196" cy="13451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701196" cy="1345189"/>
              <a:chOff x="0" y="0"/>
              <a:chExt cx="87267405" cy="3171709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7267405" cy="31717090"/>
              </a:xfrm>
              <a:custGeom>
                <a:avLst/>
                <a:gdLst/>
                <a:ahLst/>
                <a:cxnLst/>
                <a:rect r="r" b="b" t="t" l="l"/>
                <a:pathLst>
                  <a:path h="31717090" w="87267405">
                    <a:moveTo>
                      <a:pt x="87041348" y="0"/>
                    </a:moveTo>
                    <a:lnTo>
                      <a:pt x="0" y="0"/>
                    </a:lnTo>
                    <a:lnTo>
                      <a:pt x="0" y="31717090"/>
                    </a:lnTo>
                    <a:lnTo>
                      <a:pt x="87267405" y="31717090"/>
                    </a:lnTo>
                    <a:lnTo>
                      <a:pt x="87267405" y="0"/>
                    </a:lnTo>
                    <a:lnTo>
                      <a:pt x="87041348" y="0"/>
                    </a:lnTo>
                    <a:close/>
                    <a:moveTo>
                      <a:pt x="87041348" y="31491030"/>
                    </a:moveTo>
                    <a:lnTo>
                      <a:pt x="228600" y="31491030"/>
                    </a:lnTo>
                    <a:lnTo>
                      <a:pt x="228600" y="228600"/>
                    </a:lnTo>
                    <a:lnTo>
                      <a:pt x="87041348" y="228600"/>
                    </a:lnTo>
                    <a:lnTo>
                      <a:pt x="87041348" y="314910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53230" y="301120"/>
              <a:ext cx="3335706" cy="82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  <a:spcBef>
                  <a:spcPct val="0"/>
                </a:spcBef>
              </a:pPr>
              <a:r>
                <a:rPr lang="en-US" sz="4500" spc="4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Software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-1970214" y="-848998"/>
            <a:ext cx="3644601" cy="2557847"/>
          </a:xfrm>
          <a:custGeom>
            <a:avLst/>
            <a:gdLst/>
            <a:ahLst/>
            <a:cxnLst/>
            <a:rect r="r" b="b" t="t" l="l"/>
            <a:pathLst>
              <a:path h="2557847" w="3644601">
                <a:moveTo>
                  <a:pt x="3644601" y="0"/>
                </a:moveTo>
                <a:lnTo>
                  <a:pt x="0" y="0"/>
                </a:lnTo>
                <a:lnTo>
                  <a:pt x="0" y="2557847"/>
                </a:lnTo>
                <a:lnTo>
                  <a:pt x="3644601" y="2557847"/>
                </a:lnTo>
                <a:lnTo>
                  <a:pt x="364460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00845" y="8439742"/>
            <a:ext cx="4127577" cy="4097559"/>
          </a:xfrm>
          <a:custGeom>
            <a:avLst/>
            <a:gdLst/>
            <a:ahLst/>
            <a:cxnLst/>
            <a:rect r="r" b="b" t="t" l="l"/>
            <a:pathLst>
              <a:path h="4097559" w="4127577">
                <a:moveTo>
                  <a:pt x="0" y="0"/>
                </a:moveTo>
                <a:lnTo>
                  <a:pt x="4127577" y="0"/>
                </a:lnTo>
                <a:lnTo>
                  <a:pt x="4127577" y="4097559"/>
                </a:lnTo>
                <a:lnTo>
                  <a:pt x="0" y="4097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238250"/>
            <a:ext cx="162306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7200" spc="72">
                <a:solidFill>
                  <a:srgbClr val="0C3FDD"/>
                </a:solidFill>
                <a:latin typeface="Tomorrow Bold"/>
                <a:ea typeface="Tomorrow Bold"/>
                <a:cs typeface="Tomorrow Bold"/>
                <a:sym typeface="Tomorrow Bold"/>
              </a:rPr>
              <a:t>HARDWARE </a:t>
            </a:r>
            <a:r>
              <a:rPr lang="en-US" b="true" sz="7200" spc="7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&amp; </a:t>
            </a:r>
            <a:r>
              <a:rPr lang="en-US" b="true" sz="7200" spc="72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SOFTWARE </a:t>
            </a:r>
            <a:r>
              <a:rPr lang="en-US" b="true" sz="7200" spc="7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E82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3146" y="1612315"/>
            <a:ext cx="16101708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12000" spc="12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INSTALLATION JOURNEY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07174" y="8207853"/>
            <a:ext cx="388796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Image Download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12079" y="5567045"/>
            <a:ext cx="12063842" cy="2583658"/>
            <a:chOff x="0" y="0"/>
            <a:chExt cx="16085122" cy="344487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438514"/>
              <a:ext cx="567850" cy="567850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2581523" y="1438514"/>
              <a:ext cx="567850" cy="567850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5168673" y="1438514"/>
              <a:ext cx="567850" cy="567850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0342973" y="1438514"/>
              <a:ext cx="567850" cy="567850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7755823" y="1438514"/>
              <a:ext cx="567850" cy="567850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930123" y="1438514"/>
              <a:ext cx="567850" cy="56785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517273" y="1438514"/>
              <a:ext cx="567850" cy="567850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AutoShape 19" id="19"/>
            <p:cNvSpPr/>
            <p:nvPr/>
          </p:nvSpPr>
          <p:spPr>
            <a:xfrm>
              <a:off x="771959" y="1722438"/>
              <a:ext cx="15158108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2865448" y="2006363"/>
              <a:ext cx="0" cy="1438514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5452598" y="0"/>
              <a:ext cx="0" cy="1438514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8039748" y="1901884"/>
              <a:ext cx="0" cy="1542993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13214048" y="1980963"/>
              <a:ext cx="0" cy="1463914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>
              <a:off x="10622373" y="0"/>
              <a:ext cx="0" cy="1722438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251158" y="5200650"/>
            <a:ext cx="388796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Flash SD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00017" y="8207853"/>
            <a:ext cx="388796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First Boot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85854" y="5200650"/>
            <a:ext cx="388796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Network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97508" y="8207853"/>
            <a:ext cx="388796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spc="27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Controller Config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98610">
            <a:off x="1523422" y="1164914"/>
            <a:ext cx="3981327" cy="1860365"/>
          </a:xfrm>
          <a:custGeom>
            <a:avLst/>
            <a:gdLst/>
            <a:ahLst/>
            <a:cxnLst/>
            <a:rect r="r" b="b" t="t" l="l"/>
            <a:pathLst>
              <a:path h="1860365" w="3981327">
                <a:moveTo>
                  <a:pt x="0" y="0"/>
                </a:moveTo>
                <a:lnTo>
                  <a:pt x="3981327" y="0"/>
                </a:lnTo>
                <a:lnTo>
                  <a:pt x="3981327" y="1860365"/>
                </a:lnTo>
                <a:lnTo>
                  <a:pt x="0" y="186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6049" y="1295400"/>
            <a:ext cx="11069494" cy="233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b="true" sz="9799" spc="97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ROM </a:t>
            </a:r>
            <a:r>
              <a:rPr lang="en-US" b="true" sz="9799" spc="97">
                <a:solidFill>
                  <a:srgbClr val="FEFEFE"/>
                </a:solidFill>
                <a:latin typeface="Tomorrow Bold"/>
                <a:ea typeface="Tomorrow Bold"/>
                <a:cs typeface="Tomorrow Bold"/>
                <a:sym typeface="Tomorrow Bold"/>
              </a:rPr>
              <a:t>&amp;</a:t>
            </a:r>
            <a:r>
              <a:rPr lang="en-US" b="true" sz="9799" spc="97">
                <a:solidFill>
                  <a:srgbClr val="F13737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b="true" sz="9799" spc="97">
                <a:solidFill>
                  <a:srgbClr val="FE82A7"/>
                </a:solidFill>
                <a:latin typeface="Tomorrow Bold"/>
                <a:ea typeface="Tomorrow Bold"/>
                <a:cs typeface="Tomorrow Bold"/>
                <a:sym typeface="Tomorrow Bold"/>
              </a:rPr>
              <a:t>FILE </a:t>
            </a:r>
            <a:r>
              <a:rPr lang="en-US" b="true" sz="9799" spc="97">
                <a:solidFill>
                  <a:srgbClr val="FEFEFE"/>
                </a:solidFill>
                <a:latin typeface="Tomorrow Bold"/>
                <a:ea typeface="Tomorrow Bold"/>
                <a:cs typeface="Tomorrow Bold"/>
                <a:sym typeface="Tomorrow Bold"/>
              </a:rPr>
              <a:t>SYSTEM</a:t>
            </a:r>
            <a:r>
              <a:rPr lang="en-US" b="true" sz="9799" spc="97">
                <a:solidFill>
                  <a:srgbClr val="FE82A7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b="true" sz="9799" spc="97">
                <a:solidFill>
                  <a:srgbClr val="069B6B"/>
                </a:solidFill>
                <a:latin typeface="Tomorrow Bold"/>
                <a:ea typeface="Tomorrow Bold"/>
                <a:cs typeface="Tomorrow Bold"/>
                <a:sym typeface="Tomorrow Bold"/>
              </a:rPr>
              <a:t>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16049" y="3727552"/>
            <a:ext cx="9820125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/ho</a:t>
            </a: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me/pi/RetroPie/roms/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├── nes/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│    ├── mario.nes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│    └── zelda.nes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├── snes/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│    ├── metroid.smc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│    └── donkey_kong.smc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└── psx/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├── crash_bandicoot.bin</a:t>
            </a:r>
          </a:p>
          <a:p>
            <a:pPr algn="l">
              <a:lnSpc>
                <a:spcPts val="4200"/>
              </a:lnSpc>
            </a:pPr>
            <a:r>
              <a:rPr lang="en-US" sz="3500" spc="3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└── final_fantasy.img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495722">
            <a:off x="-1182082" y="8240963"/>
            <a:ext cx="3546051" cy="3546051"/>
          </a:xfrm>
          <a:custGeom>
            <a:avLst/>
            <a:gdLst/>
            <a:ahLst/>
            <a:cxnLst/>
            <a:rect r="r" b="b" t="t" l="l"/>
            <a:pathLst>
              <a:path h="3546051" w="3546051">
                <a:moveTo>
                  <a:pt x="0" y="0"/>
                </a:moveTo>
                <a:lnTo>
                  <a:pt x="3546052" y="0"/>
                </a:lnTo>
                <a:lnTo>
                  <a:pt x="3546052" y="3546051"/>
                </a:lnTo>
                <a:lnTo>
                  <a:pt x="0" y="3546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09537">
            <a:off x="13714830" y="2826823"/>
            <a:ext cx="2086084" cy="1608181"/>
          </a:xfrm>
          <a:custGeom>
            <a:avLst/>
            <a:gdLst/>
            <a:ahLst/>
            <a:cxnLst/>
            <a:rect r="r" b="b" t="t" l="l"/>
            <a:pathLst>
              <a:path h="1608181" w="2086084">
                <a:moveTo>
                  <a:pt x="0" y="0"/>
                </a:moveTo>
                <a:lnTo>
                  <a:pt x="2086084" y="0"/>
                </a:lnTo>
                <a:lnTo>
                  <a:pt x="2086084" y="1608181"/>
                </a:lnTo>
                <a:lnTo>
                  <a:pt x="0" y="1608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3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9825" y="1743934"/>
            <a:ext cx="17048349" cy="6799132"/>
            <a:chOff x="0" y="0"/>
            <a:chExt cx="22731132" cy="90655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61950"/>
              <a:ext cx="22731132" cy="620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99"/>
                </a:lnSpc>
              </a:pPr>
              <a:r>
                <a:rPr lang="en-US" b="true" sz="12999" spc="129">
                  <a:solidFill>
                    <a:srgbClr val="F6C402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REAL</a:t>
              </a:r>
            </a:p>
            <a:p>
              <a:pPr algn="ctr">
                <a:lnSpc>
                  <a:spcPts val="11699"/>
                </a:lnSpc>
              </a:pPr>
              <a:r>
                <a:rPr lang="en-US" b="true" sz="12999" spc="129">
                  <a:solidFill>
                    <a:srgbClr val="F6C402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CHALLENGE</a:t>
              </a:r>
            </a:p>
            <a:p>
              <a:pPr algn="ctr">
                <a:lnSpc>
                  <a:spcPts val="11700"/>
                </a:lnSpc>
              </a:pPr>
              <a:r>
                <a:rPr lang="en-US" b="true" sz="13000" spc="130">
                  <a:solidFill>
                    <a:srgbClr val="F6C402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FACED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822550" y="7236710"/>
              <a:ext cx="19086031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4500" spc="44">
                  <a:solidFill>
                    <a:srgbClr val="F6C40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low-quality microSD card caused OS flashing failures, screen flickering, and unstable gameplay.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96944">
            <a:off x="352500" y="6099879"/>
            <a:ext cx="2244599" cy="3707295"/>
          </a:xfrm>
          <a:custGeom>
            <a:avLst/>
            <a:gdLst/>
            <a:ahLst/>
            <a:cxnLst/>
            <a:rect r="r" b="b" t="t" l="l"/>
            <a:pathLst>
              <a:path h="3707295" w="2244599">
                <a:moveTo>
                  <a:pt x="0" y="0"/>
                </a:moveTo>
                <a:lnTo>
                  <a:pt x="2244599" y="0"/>
                </a:lnTo>
                <a:lnTo>
                  <a:pt x="2244599" y="3707295"/>
                </a:lnTo>
                <a:lnTo>
                  <a:pt x="0" y="3707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8791" y="2618860"/>
            <a:ext cx="9845985" cy="48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13999" spc="139">
                <a:solidFill>
                  <a:srgbClr val="069B6B"/>
                </a:solidFill>
                <a:latin typeface="Tomorrow Bold"/>
                <a:ea typeface="Tomorrow Bold"/>
                <a:cs typeface="Tomorrow Bold"/>
                <a:sym typeface="Tomorrow Bold"/>
              </a:rPr>
              <a:t>ROOT</a:t>
            </a:r>
          </a:p>
          <a:p>
            <a:pPr algn="l">
              <a:lnSpc>
                <a:spcPts val="12600"/>
              </a:lnSpc>
            </a:pPr>
            <a:r>
              <a:rPr lang="en-US" b="true" sz="14000" spc="140">
                <a:solidFill>
                  <a:srgbClr val="FE82A7"/>
                </a:solidFill>
                <a:latin typeface="Tomorrow Bold"/>
                <a:ea typeface="Tomorrow Bold"/>
                <a:cs typeface="Tomorrow Bold"/>
                <a:sym typeface="Tomorrow Bold"/>
              </a:rPr>
              <a:t>CAUSE </a:t>
            </a:r>
            <a:r>
              <a:rPr lang="en-US" b="true" sz="14000" spc="140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ANALYSIS</a:t>
            </a:r>
          </a:p>
        </p:txBody>
      </p:sp>
      <p:grpSp>
        <p:nvGrpSpPr>
          <p:cNvPr name="Group 4" id="4"/>
          <p:cNvGrpSpPr/>
          <p:nvPr/>
        </p:nvGrpSpPr>
        <p:grpSpPr>
          <a:xfrm rot="-540406">
            <a:off x="12658954" y="3401622"/>
            <a:ext cx="4269093" cy="2230174"/>
            <a:chOff x="0" y="0"/>
            <a:chExt cx="5692124" cy="2973566"/>
          </a:xfrm>
        </p:grpSpPr>
        <p:grpSp>
          <p:nvGrpSpPr>
            <p:cNvPr name="Group 5" id="5"/>
            <p:cNvGrpSpPr/>
            <p:nvPr/>
          </p:nvGrpSpPr>
          <p:grpSpPr>
            <a:xfrm rot="-5400000">
              <a:off x="2307967" y="-410592"/>
              <a:ext cx="2973566" cy="3794750"/>
              <a:chOff x="0" y="0"/>
              <a:chExt cx="497586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9758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75860">
                    <a:moveTo>
                      <a:pt x="4975860" y="0"/>
                    </a:moveTo>
                    <a:lnTo>
                      <a:pt x="4975860" y="5478780"/>
                    </a:lnTo>
                    <a:lnTo>
                      <a:pt x="2486660" y="6350000"/>
                    </a:lnTo>
                    <a:lnTo>
                      <a:pt x="0" y="5478780"/>
                    </a:lnTo>
                    <a:lnTo>
                      <a:pt x="1270" y="4762500"/>
                    </a:lnTo>
                    <a:lnTo>
                      <a:pt x="6350" y="1549400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069B6B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5400000">
              <a:off x="410592" y="-410592"/>
              <a:ext cx="2973566" cy="3794750"/>
              <a:chOff x="0" y="0"/>
              <a:chExt cx="497586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7586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75860">
                    <a:moveTo>
                      <a:pt x="4975860" y="0"/>
                    </a:moveTo>
                    <a:lnTo>
                      <a:pt x="4975860" y="5478780"/>
                    </a:lnTo>
                    <a:lnTo>
                      <a:pt x="2486660" y="6350000"/>
                    </a:lnTo>
                    <a:lnTo>
                      <a:pt x="0" y="5478780"/>
                    </a:lnTo>
                    <a:lnTo>
                      <a:pt x="1270" y="4762500"/>
                    </a:lnTo>
                    <a:lnTo>
                      <a:pt x="6350" y="1549400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069B6B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579082">
            <a:off x="11036080" y="5543575"/>
            <a:ext cx="5141055" cy="2354534"/>
            <a:chOff x="0" y="0"/>
            <a:chExt cx="6854739" cy="313937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351447" y="0"/>
              <a:ext cx="6157884" cy="3139379"/>
              <a:chOff x="0" y="0"/>
              <a:chExt cx="6233160" cy="317775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233160" cy="3178708"/>
              </a:xfrm>
              <a:custGeom>
                <a:avLst/>
                <a:gdLst/>
                <a:ahLst/>
                <a:cxnLst/>
                <a:rect r="r" b="b" t="t" l="l"/>
                <a:pathLst>
                  <a:path h="3178708" w="6233160">
                    <a:moveTo>
                      <a:pt x="5897880" y="568960"/>
                    </a:moveTo>
                    <a:lnTo>
                      <a:pt x="3451860" y="30480"/>
                    </a:lnTo>
                    <a:cubicBezTo>
                      <a:pt x="3267710" y="-10160"/>
                      <a:pt x="2965450" y="-10160"/>
                      <a:pt x="2781300" y="30480"/>
                    </a:cubicBezTo>
                    <a:lnTo>
                      <a:pt x="335280" y="568960"/>
                    </a:lnTo>
                    <a:cubicBezTo>
                      <a:pt x="151130" y="609600"/>
                      <a:pt x="0" y="797560"/>
                      <a:pt x="0" y="986790"/>
                    </a:cubicBezTo>
                    <a:lnTo>
                      <a:pt x="0" y="2169376"/>
                    </a:lnTo>
                    <a:cubicBezTo>
                      <a:pt x="0" y="2362415"/>
                      <a:pt x="151130" y="2554185"/>
                      <a:pt x="335280" y="2596095"/>
                    </a:cubicBezTo>
                    <a:lnTo>
                      <a:pt x="2781300" y="3147275"/>
                    </a:lnTo>
                    <a:cubicBezTo>
                      <a:pt x="2965450" y="3189185"/>
                      <a:pt x="3267710" y="3189185"/>
                      <a:pt x="3451860" y="3147275"/>
                    </a:cubicBezTo>
                    <a:lnTo>
                      <a:pt x="5897880" y="2596095"/>
                    </a:lnTo>
                    <a:cubicBezTo>
                      <a:pt x="6082030" y="2554185"/>
                      <a:pt x="6233160" y="2362415"/>
                      <a:pt x="6233160" y="2169375"/>
                    </a:cubicBezTo>
                    <a:lnTo>
                      <a:pt x="6233160" y="986790"/>
                    </a:lnTo>
                    <a:cubicBezTo>
                      <a:pt x="6233160" y="797560"/>
                      <a:pt x="6082030" y="609600"/>
                      <a:pt x="5897880" y="568960"/>
                    </a:cubicBezTo>
                    <a:close/>
                  </a:path>
                </a:pathLst>
              </a:custGeom>
              <a:solidFill>
                <a:srgbClr val="F13737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217762"/>
              <a:ext cx="702895" cy="702895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6151844" y="1217762"/>
              <a:ext cx="702895" cy="702895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6" id="16"/>
          <p:cNvGrpSpPr/>
          <p:nvPr/>
        </p:nvGrpSpPr>
        <p:grpSpPr>
          <a:xfrm rot="-760515">
            <a:off x="10412024" y="1990153"/>
            <a:ext cx="5411917" cy="2239255"/>
            <a:chOff x="0" y="0"/>
            <a:chExt cx="7215890" cy="2985674"/>
          </a:xfrm>
        </p:grpSpPr>
        <p:grpSp>
          <p:nvGrpSpPr>
            <p:cNvPr name="Group 17" id="17"/>
            <p:cNvGrpSpPr/>
            <p:nvPr/>
          </p:nvGrpSpPr>
          <p:grpSpPr>
            <a:xfrm rot="-449906">
              <a:off x="106405" y="448014"/>
              <a:ext cx="7003080" cy="2089646"/>
              <a:chOff x="0" y="0"/>
              <a:chExt cx="4295473" cy="12817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295473" cy="1281725"/>
              </a:xfrm>
              <a:custGeom>
                <a:avLst/>
                <a:gdLst/>
                <a:ahLst/>
                <a:cxnLst/>
                <a:rect r="r" b="b" t="t" l="l"/>
                <a:pathLst>
                  <a:path h="1281725" w="4295473">
                    <a:moveTo>
                      <a:pt x="4171013" y="1281725"/>
                    </a:moveTo>
                    <a:lnTo>
                      <a:pt x="124460" y="1281725"/>
                    </a:lnTo>
                    <a:cubicBezTo>
                      <a:pt x="55880" y="1281725"/>
                      <a:pt x="0" y="1225845"/>
                      <a:pt x="0" y="115726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171013" y="0"/>
                    </a:lnTo>
                    <a:cubicBezTo>
                      <a:pt x="4239593" y="0"/>
                      <a:pt x="4295473" y="55880"/>
                      <a:pt x="4295473" y="124460"/>
                    </a:cubicBezTo>
                    <a:lnTo>
                      <a:pt x="4295473" y="1157265"/>
                    </a:lnTo>
                    <a:cubicBezTo>
                      <a:pt x="4295473" y="1225845"/>
                      <a:pt x="4239593" y="1281725"/>
                      <a:pt x="4171013" y="1281725"/>
                    </a:cubicBezTo>
                    <a:close/>
                  </a:path>
                </a:pathLst>
              </a:custGeom>
              <a:solidFill>
                <a:srgbClr val="F6C402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-449906">
              <a:off x="426834" y="858472"/>
              <a:ext cx="6408179" cy="1220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 spc="35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LOW-QUALITY</a:t>
              </a:r>
            </a:p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3500" spc="35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SD CARD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-540406">
            <a:off x="13207320" y="3869932"/>
            <a:ext cx="3176835" cy="13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3200" spc="32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Unstable Read/Write Speeds</a:t>
            </a:r>
          </a:p>
        </p:txBody>
      </p:sp>
      <p:sp>
        <p:nvSpPr>
          <p:cNvPr name="TextBox 21" id="21"/>
          <p:cNvSpPr txBox="true"/>
          <p:nvPr/>
        </p:nvSpPr>
        <p:spPr>
          <a:xfrm rot="579082">
            <a:off x="11728312" y="6432175"/>
            <a:ext cx="3802218" cy="71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4"/>
              </a:lnSpc>
            </a:pPr>
            <a:r>
              <a:rPr lang="en-US" b="true" sz="2603" spc="26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DISPLAY FLICKERING &amp; BOOT ISSUES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C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53940"/>
            <a:ext cx="14200823" cy="2830564"/>
            <a:chOff x="0" y="0"/>
            <a:chExt cx="446439130" cy="889860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439131" cy="88986004"/>
            </a:xfrm>
            <a:custGeom>
              <a:avLst/>
              <a:gdLst/>
              <a:ahLst/>
              <a:cxnLst/>
              <a:rect r="r" b="b" t="t" l="l"/>
              <a:pathLst>
                <a:path h="88986004" w="446439131">
                  <a:moveTo>
                    <a:pt x="446213061" y="0"/>
                  </a:moveTo>
                  <a:lnTo>
                    <a:pt x="0" y="0"/>
                  </a:lnTo>
                  <a:lnTo>
                    <a:pt x="0" y="88986004"/>
                  </a:lnTo>
                  <a:lnTo>
                    <a:pt x="446439131" y="88986004"/>
                  </a:lnTo>
                  <a:lnTo>
                    <a:pt x="446439131" y="0"/>
                  </a:lnTo>
                  <a:lnTo>
                    <a:pt x="446213061" y="0"/>
                  </a:lnTo>
                  <a:close/>
                  <a:moveTo>
                    <a:pt x="446213061" y="88759947"/>
                  </a:moveTo>
                  <a:lnTo>
                    <a:pt x="228600" y="88759947"/>
                  </a:lnTo>
                  <a:lnTo>
                    <a:pt x="228600" y="228600"/>
                  </a:lnTo>
                  <a:lnTo>
                    <a:pt x="446213061" y="228600"/>
                  </a:lnTo>
                  <a:lnTo>
                    <a:pt x="446213061" y="8875994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2398" y="5092747"/>
            <a:ext cx="14017125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4500" spc="44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This project transformed theoretical operating system concepts</a:t>
            </a:r>
            <a:r>
              <a:rPr lang="en-US" sz="4500" spc="44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 into observable system behavior, especially in areas of boot processes, memory allocation, and I/O handling on embedded hardware.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92855" y="6491914"/>
            <a:ext cx="7037066" cy="6985887"/>
          </a:xfrm>
          <a:custGeom>
            <a:avLst/>
            <a:gdLst/>
            <a:ahLst/>
            <a:cxnLst/>
            <a:rect r="r" b="b" t="t" l="l"/>
            <a:pathLst>
              <a:path h="6985887" w="7037066">
                <a:moveTo>
                  <a:pt x="0" y="0"/>
                </a:moveTo>
                <a:lnTo>
                  <a:pt x="7037066" y="0"/>
                </a:lnTo>
                <a:lnTo>
                  <a:pt x="7037066" y="6985887"/>
                </a:lnTo>
                <a:lnTo>
                  <a:pt x="0" y="6985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435938">
            <a:off x="-2113170" y="-1086465"/>
            <a:ext cx="5627190" cy="3949264"/>
          </a:xfrm>
          <a:custGeom>
            <a:avLst/>
            <a:gdLst/>
            <a:ahLst/>
            <a:cxnLst/>
            <a:rect r="r" b="b" t="t" l="l"/>
            <a:pathLst>
              <a:path h="3949264" w="5627190">
                <a:moveTo>
                  <a:pt x="5627190" y="0"/>
                </a:moveTo>
                <a:lnTo>
                  <a:pt x="0" y="0"/>
                </a:lnTo>
                <a:lnTo>
                  <a:pt x="0" y="3949264"/>
                </a:lnTo>
                <a:lnTo>
                  <a:pt x="5627190" y="3949264"/>
                </a:lnTo>
                <a:lnTo>
                  <a:pt x="56271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38275"/>
            <a:ext cx="9571757" cy="341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b="true" sz="14400" spc="144">
                <a:solidFill>
                  <a:srgbClr val="069B6B"/>
                </a:solidFill>
                <a:latin typeface="Tomorrow Bold"/>
                <a:ea typeface="Tomorrow Bold"/>
                <a:cs typeface="Tomorrow Bold"/>
                <a:sym typeface="Tomorrow Bold"/>
              </a:rPr>
              <a:t>WHAT </a:t>
            </a:r>
            <a:r>
              <a:rPr lang="en-US" b="true" sz="14400" spc="144">
                <a:solidFill>
                  <a:srgbClr val="F13737"/>
                </a:solidFill>
                <a:latin typeface="Tomorrow Bold"/>
                <a:ea typeface="Tomorrow Bold"/>
                <a:cs typeface="Tomorrow Bold"/>
                <a:sym typeface="Tomorrow Bold"/>
              </a:rPr>
              <a:t>WE</a:t>
            </a:r>
          </a:p>
          <a:p>
            <a:pPr algn="l">
              <a:lnSpc>
                <a:spcPts val="12960"/>
              </a:lnSpc>
            </a:pPr>
            <a:r>
              <a:rPr lang="en-US" b="true" sz="14400" spc="144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1652" y="1028700"/>
            <a:ext cx="8196904" cy="3830190"/>
          </a:xfrm>
          <a:custGeom>
            <a:avLst/>
            <a:gdLst/>
            <a:ahLst/>
            <a:cxnLst/>
            <a:rect r="r" b="b" t="t" l="l"/>
            <a:pathLst>
              <a:path h="3830190" w="8196904">
                <a:moveTo>
                  <a:pt x="0" y="0"/>
                </a:moveTo>
                <a:lnTo>
                  <a:pt x="8196905" y="0"/>
                </a:lnTo>
                <a:lnTo>
                  <a:pt x="8196905" y="3830190"/>
                </a:lnTo>
                <a:lnTo>
                  <a:pt x="0" y="38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68889"/>
            <a:ext cx="10932717" cy="145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7"/>
              </a:lnSpc>
            </a:pPr>
            <a:r>
              <a:rPr lang="en-US" b="true" sz="11775" spc="117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004798">
            <a:off x="-3914195" y="6243386"/>
            <a:ext cx="4842944" cy="4517146"/>
          </a:xfrm>
          <a:custGeom>
            <a:avLst/>
            <a:gdLst/>
            <a:ahLst/>
            <a:cxnLst/>
            <a:rect r="r" b="b" t="t" l="l"/>
            <a:pathLst>
              <a:path h="4517146" w="4842944">
                <a:moveTo>
                  <a:pt x="0" y="0"/>
                </a:moveTo>
                <a:lnTo>
                  <a:pt x="4842943" y="0"/>
                </a:lnTo>
                <a:lnTo>
                  <a:pt x="4842943" y="4517146"/>
                </a:lnTo>
                <a:lnTo>
                  <a:pt x="0" y="451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78127" y="8073257"/>
            <a:ext cx="3581173" cy="1185043"/>
          </a:xfrm>
          <a:custGeom>
            <a:avLst/>
            <a:gdLst/>
            <a:ahLst/>
            <a:cxnLst/>
            <a:rect r="r" b="b" t="t" l="l"/>
            <a:pathLst>
              <a:path h="1185043" w="3581173">
                <a:moveTo>
                  <a:pt x="0" y="0"/>
                </a:moveTo>
                <a:lnTo>
                  <a:pt x="3581173" y="0"/>
                </a:lnTo>
                <a:lnTo>
                  <a:pt x="3581173" y="1185043"/>
                </a:lnTo>
                <a:lnTo>
                  <a:pt x="0" y="1185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12794" y="3522064"/>
            <a:ext cx="8056751" cy="4842361"/>
            <a:chOff x="0" y="0"/>
            <a:chExt cx="10742334" cy="645648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982133"/>
              <a:ext cx="2917832" cy="463966"/>
              <a:chOff x="0" y="0"/>
              <a:chExt cx="3594100" cy="571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703646"/>
              <a:ext cx="2917832" cy="463966"/>
              <a:chOff x="0" y="0"/>
              <a:chExt cx="3594100" cy="571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1790922"/>
              <a:ext cx="9894981" cy="634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Demonstrated </a:t>
              </a: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real OS internals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513687"/>
              <a:ext cx="9894981" cy="1218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Linked software behavior with hardware constra</a:t>
              </a: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9476859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 spc="3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Successfully deployed a Linux OS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5011864"/>
              <a:ext cx="2917832" cy="463966"/>
              <a:chOff x="0" y="0"/>
              <a:chExt cx="3594100" cy="571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255270"/>
                <a:ext cx="3594100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3594100">
                    <a:moveTo>
                      <a:pt x="3303270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3594100" y="69850"/>
                    </a:lnTo>
                    <a:lnTo>
                      <a:pt x="35941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5821905"/>
              <a:ext cx="10742334" cy="634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Gained embedded syst</a:t>
              </a:r>
              <a:r>
                <a:rPr lang="en-US" sz="3456" spc="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ems experience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6599">
            <a:off x="-959556" y="-5430972"/>
            <a:ext cx="20110664" cy="20110664"/>
          </a:xfrm>
          <a:custGeom>
            <a:avLst/>
            <a:gdLst/>
            <a:ahLst/>
            <a:cxnLst/>
            <a:rect r="r" b="b" t="t" l="l"/>
            <a:pathLst>
              <a:path h="20110664" w="20110664">
                <a:moveTo>
                  <a:pt x="0" y="0"/>
                </a:moveTo>
                <a:lnTo>
                  <a:pt x="20110665" y="0"/>
                </a:lnTo>
                <a:lnTo>
                  <a:pt x="20110665" y="20110664"/>
                </a:lnTo>
                <a:lnTo>
                  <a:pt x="0" y="2011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96944">
            <a:off x="-166109" y="3649690"/>
            <a:ext cx="4787914" cy="7907966"/>
          </a:xfrm>
          <a:custGeom>
            <a:avLst/>
            <a:gdLst/>
            <a:ahLst/>
            <a:cxnLst/>
            <a:rect r="r" b="b" t="t" l="l"/>
            <a:pathLst>
              <a:path h="7907966" w="4787914">
                <a:moveTo>
                  <a:pt x="0" y="0"/>
                </a:moveTo>
                <a:lnTo>
                  <a:pt x="4787914" y="0"/>
                </a:lnTo>
                <a:lnTo>
                  <a:pt x="4787914" y="7907965"/>
                </a:lnTo>
                <a:lnTo>
                  <a:pt x="0" y="7907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2141">
            <a:off x="6692654" y="9201551"/>
            <a:ext cx="6259630" cy="3582319"/>
          </a:xfrm>
          <a:custGeom>
            <a:avLst/>
            <a:gdLst/>
            <a:ahLst/>
            <a:cxnLst/>
            <a:rect r="r" b="b" t="t" l="l"/>
            <a:pathLst>
              <a:path h="3582319" w="6259630">
                <a:moveTo>
                  <a:pt x="0" y="0"/>
                </a:moveTo>
                <a:lnTo>
                  <a:pt x="6259631" y="0"/>
                </a:lnTo>
                <a:lnTo>
                  <a:pt x="6259631" y="3582319"/>
                </a:lnTo>
                <a:lnTo>
                  <a:pt x="0" y="3582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9674" y="3640455"/>
            <a:ext cx="7968653" cy="341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b="true" sz="14400" spc="144">
                <a:solidFill>
                  <a:srgbClr val="F6C402"/>
                </a:solidFill>
                <a:latin typeface="Tomorrow Bold"/>
                <a:ea typeface="Tomorrow Bold"/>
                <a:cs typeface="Tomorrow Bold"/>
                <a:sym typeface="Tomorrow Bold"/>
              </a:rPr>
              <a:t>THANK</a:t>
            </a:r>
            <a:r>
              <a:rPr lang="en-US" b="true" sz="14400" spc="144">
                <a:solidFill>
                  <a:srgbClr val="0C3FDD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b="true" sz="14400" spc="144">
                <a:solidFill>
                  <a:srgbClr val="FE82A7"/>
                </a:solidFill>
                <a:latin typeface="Tomorrow Bold"/>
                <a:ea typeface="Tomorrow Bold"/>
                <a:cs typeface="Tomorrow Bold"/>
                <a:sym typeface="Tomorrow Bold"/>
              </a:rPr>
              <a:t>YOU</a:t>
            </a:r>
          </a:p>
        </p:txBody>
      </p:sp>
      <p:grpSp>
        <p:nvGrpSpPr>
          <p:cNvPr name="Group 6" id="6"/>
          <p:cNvGrpSpPr/>
          <p:nvPr/>
        </p:nvGrpSpPr>
        <p:grpSpPr>
          <a:xfrm rot="-528910">
            <a:off x="-705529" y="-1405242"/>
            <a:ext cx="5086362" cy="3455396"/>
            <a:chOff x="0" y="0"/>
            <a:chExt cx="6781816" cy="460719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547232"/>
              <a:ext cx="6781816" cy="3541103"/>
              <a:chOff x="0" y="0"/>
              <a:chExt cx="1515776" cy="7914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15776" cy="791458"/>
              </a:xfrm>
              <a:custGeom>
                <a:avLst/>
                <a:gdLst/>
                <a:ahLst/>
                <a:cxnLst/>
                <a:rect r="r" b="b" t="t" l="l"/>
                <a:pathLst>
                  <a:path h="791458" w="1515776">
                    <a:moveTo>
                      <a:pt x="0" y="0"/>
                    </a:moveTo>
                    <a:lnTo>
                      <a:pt x="1515776" y="0"/>
                    </a:lnTo>
                    <a:lnTo>
                      <a:pt x="1515776" y="791458"/>
                    </a:lnTo>
                    <a:lnTo>
                      <a:pt x="0" y="791458"/>
                    </a:lnTo>
                    <a:close/>
                  </a:path>
                </a:pathLst>
              </a:custGeom>
              <a:solidFill>
                <a:srgbClr val="069B6B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843676" y="0"/>
              <a:ext cx="1094464" cy="109446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843676" y="3512731"/>
              <a:ext cx="1094464" cy="109446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3" id="13"/>
          <p:cNvGrpSpPr/>
          <p:nvPr/>
        </p:nvGrpSpPr>
        <p:grpSpPr>
          <a:xfrm rot="1265772">
            <a:off x="12568714" y="-1499094"/>
            <a:ext cx="8038746" cy="3397102"/>
            <a:chOff x="0" y="0"/>
            <a:chExt cx="14424877" cy="6065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32" y="0"/>
              <a:ext cx="14424613" cy="6097093"/>
            </a:xfrm>
            <a:custGeom>
              <a:avLst/>
              <a:gdLst/>
              <a:ahLst/>
              <a:cxnLst/>
              <a:rect r="r" b="b" t="t" l="l"/>
              <a:pathLst>
                <a:path h="6097093" w="14424613">
                  <a:moveTo>
                    <a:pt x="1641978" y="0"/>
                  </a:moveTo>
                  <a:lnTo>
                    <a:pt x="1641978" y="6095823"/>
                  </a:lnTo>
                  <a:cubicBezTo>
                    <a:pt x="1659758" y="6097093"/>
                    <a:pt x="1677538" y="6097093"/>
                    <a:pt x="1695318" y="6097093"/>
                  </a:cubicBezTo>
                  <a:lnTo>
                    <a:pt x="12719135" y="6097093"/>
                  </a:lnTo>
                  <a:lnTo>
                    <a:pt x="12719135" y="0"/>
                  </a:lnTo>
                  <a:lnTo>
                    <a:pt x="1641978" y="0"/>
                  </a:lnTo>
                  <a:close/>
                  <a:moveTo>
                    <a:pt x="13176335" y="0"/>
                  </a:moveTo>
                  <a:lnTo>
                    <a:pt x="12719135" y="0"/>
                  </a:lnTo>
                  <a:lnTo>
                    <a:pt x="12719135" y="6095823"/>
                  </a:lnTo>
                  <a:lnTo>
                    <a:pt x="12729295" y="6095823"/>
                  </a:lnTo>
                  <a:cubicBezTo>
                    <a:pt x="13468435" y="6095823"/>
                    <a:pt x="14117405" y="5490425"/>
                    <a:pt x="14170744" y="4749919"/>
                  </a:cubicBezTo>
                  <a:lnTo>
                    <a:pt x="14420935" y="1344869"/>
                  </a:lnTo>
                  <a:cubicBezTo>
                    <a:pt x="14475544" y="605641"/>
                    <a:pt x="13915474" y="0"/>
                    <a:pt x="13176335" y="0"/>
                  </a:cubicBezTo>
                  <a:close/>
                  <a:moveTo>
                    <a:pt x="1248278" y="0"/>
                  </a:moveTo>
                  <a:cubicBezTo>
                    <a:pt x="509138" y="0"/>
                    <a:pt x="-50932" y="605641"/>
                    <a:pt x="3678" y="1346146"/>
                  </a:cubicBezTo>
                  <a:lnTo>
                    <a:pt x="253868" y="4751196"/>
                  </a:lnTo>
                  <a:cubicBezTo>
                    <a:pt x="307208" y="5473828"/>
                    <a:pt x="926968" y="6067883"/>
                    <a:pt x="1643248" y="6095823"/>
                  </a:cubicBezTo>
                  <a:lnTo>
                    <a:pt x="1643248" y="0"/>
                  </a:lnTo>
                  <a:lnTo>
                    <a:pt x="1248278" y="0"/>
                  </a:lnTo>
                  <a:close/>
                </a:path>
              </a:pathLst>
            </a:custGeom>
            <a:solidFill>
              <a:srgbClr val="FE82A7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-2422735">
            <a:off x="3252567" y="1639248"/>
            <a:ext cx="3814213" cy="2517381"/>
          </a:xfrm>
          <a:custGeom>
            <a:avLst/>
            <a:gdLst/>
            <a:ahLst/>
            <a:cxnLst/>
            <a:rect r="r" b="b" t="t" l="l"/>
            <a:pathLst>
              <a:path h="2517381" w="3814213">
                <a:moveTo>
                  <a:pt x="0" y="0"/>
                </a:moveTo>
                <a:lnTo>
                  <a:pt x="3814213" y="0"/>
                </a:lnTo>
                <a:lnTo>
                  <a:pt x="3814213" y="2517380"/>
                </a:lnTo>
                <a:lnTo>
                  <a:pt x="0" y="2517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75995" y="2197536"/>
            <a:ext cx="6024184" cy="2322049"/>
          </a:xfrm>
          <a:custGeom>
            <a:avLst/>
            <a:gdLst/>
            <a:ahLst/>
            <a:cxnLst/>
            <a:rect r="r" b="b" t="t" l="l"/>
            <a:pathLst>
              <a:path h="2322049" w="6024184">
                <a:moveTo>
                  <a:pt x="0" y="0"/>
                </a:moveTo>
                <a:lnTo>
                  <a:pt x="6024184" y="0"/>
                </a:lnTo>
                <a:lnTo>
                  <a:pt x="6024184" y="2322049"/>
                </a:lnTo>
                <a:lnTo>
                  <a:pt x="0" y="23220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8994914">
            <a:off x="14900367" y="7175975"/>
            <a:ext cx="6364176" cy="5878184"/>
          </a:xfrm>
          <a:custGeom>
            <a:avLst/>
            <a:gdLst/>
            <a:ahLst/>
            <a:cxnLst/>
            <a:rect r="r" b="b" t="t" l="l"/>
            <a:pathLst>
              <a:path h="5878184" w="6364176">
                <a:moveTo>
                  <a:pt x="0" y="0"/>
                </a:moveTo>
                <a:lnTo>
                  <a:pt x="6364175" y="0"/>
                </a:lnTo>
                <a:lnTo>
                  <a:pt x="6364175" y="5878184"/>
                </a:lnTo>
                <a:lnTo>
                  <a:pt x="0" y="58781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DAG9Y0xatxE</dc:identifier>
  <dcterms:modified xsi:type="dcterms:W3CDTF">2011-08-01T06:04:30Z</dcterms:modified>
  <cp:revision>1</cp:revision>
  <dc:title>RetroPie - OS Lab - Project</dc:title>
</cp:coreProperties>
</file>