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48" r:id="rId2"/>
  </p:sldMasterIdLst>
  <p:notesMasterIdLst>
    <p:notesMasterId r:id="rId62"/>
  </p:notesMasterIdLst>
  <p:handoutMasterIdLst>
    <p:handoutMasterId r:id="rId63"/>
  </p:handoutMasterIdLst>
  <p:sldIdLst>
    <p:sldId id="310" r:id="rId3"/>
    <p:sldId id="273" r:id="rId4"/>
    <p:sldId id="274" r:id="rId5"/>
    <p:sldId id="332" r:id="rId6"/>
    <p:sldId id="276" r:id="rId7"/>
    <p:sldId id="278" r:id="rId8"/>
    <p:sldId id="279" r:id="rId9"/>
    <p:sldId id="283" r:id="rId10"/>
    <p:sldId id="284" r:id="rId11"/>
    <p:sldId id="596" r:id="rId12"/>
    <p:sldId id="285" r:id="rId13"/>
    <p:sldId id="286" r:id="rId14"/>
    <p:sldId id="287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595" r:id="rId24"/>
    <p:sldId id="363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594" r:id="rId35"/>
    <p:sldId id="307" r:id="rId36"/>
    <p:sldId id="331" r:id="rId37"/>
    <p:sldId id="309" r:id="rId38"/>
    <p:sldId id="597" r:id="rId39"/>
    <p:sldId id="335" r:id="rId40"/>
    <p:sldId id="338" r:id="rId41"/>
    <p:sldId id="311" r:id="rId42"/>
    <p:sldId id="312" r:id="rId43"/>
    <p:sldId id="598" r:id="rId44"/>
    <p:sldId id="599" r:id="rId45"/>
    <p:sldId id="600" r:id="rId46"/>
    <p:sldId id="601" r:id="rId47"/>
    <p:sldId id="315" r:id="rId48"/>
    <p:sldId id="340" r:id="rId49"/>
    <p:sldId id="319" r:id="rId50"/>
    <p:sldId id="321" r:id="rId51"/>
    <p:sldId id="323" r:id="rId52"/>
    <p:sldId id="324" r:id="rId53"/>
    <p:sldId id="325" r:id="rId54"/>
    <p:sldId id="602" r:id="rId55"/>
    <p:sldId id="603" r:id="rId56"/>
    <p:sldId id="336" r:id="rId57"/>
    <p:sldId id="337" r:id="rId58"/>
    <p:sldId id="604" r:id="rId59"/>
    <p:sldId id="328" r:id="rId60"/>
    <p:sldId id="329" r:id="rId6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0000"/>
    <a:srgbClr val="F7F7F7"/>
    <a:srgbClr val="FBFBFB"/>
    <a:srgbClr val="7E0000"/>
    <a:srgbClr val="FFCCCC"/>
    <a:srgbClr val="A20000"/>
    <a:srgbClr val="4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47" autoAdjust="0"/>
    <p:restoredTop sz="94061" autoAdjust="0"/>
  </p:normalViewPr>
  <p:slideViewPr>
    <p:cSldViewPr snapToGrid="0">
      <p:cViewPr varScale="1">
        <p:scale>
          <a:sx n="69" d="100"/>
          <a:sy n="69" d="100"/>
        </p:scale>
        <p:origin x="978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32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948"/>
    </p:cViewPr>
  </p:sorterViewPr>
  <p:notesViewPr>
    <p:cSldViewPr snapToGrid="0">
      <p:cViewPr varScale="1">
        <p:scale>
          <a:sx n="54" d="100"/>
          <a:sy n="54" d="100"/>
        </p:scale>
        <p:origin x="287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2AFD4F0-F8E7-4B38-8AB3-B3D42BB4AB68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6758417-41DD-44E2-8136-3065CD04C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037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97DC3C2-995C-486E-A92E-6DA415D3A3FD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A2CD191-96E2-491B-92DD-AC75CE7DA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4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622300" y="3894138"/>
            <a:ext cx="10972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D29DD9-4302-427D-93BD-28F094C994FA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07F44B-0869-4E0B-9D14-E05949FF70E1}"/>
              </a:ext>
            </a:extLst>
          </p:cNvPr>
          <p:cNvCxnSpPr/>
          <p:nvPr/>
        </p:nvCxnSpPr>
        <p:spPr>
          <a:xfrm>
            <a:off x="10669815" y="-2963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7D2442-658D-4BB3-BDA2-F2D185E92367}"/>
              </a:ext>
            </a:extLst>
          </p:cNvPr>
          <p:cNvCxnSpPr>
            <a:cxnSpLocks/>
          </p:cNvCxnSpPr>
          <p:nvPr/>
        </p:nvCxnSpPr>
        <p:spPr>
          <a:xfrm flipH="1">
            <a:off x="9980612" y="3692843"/>
            <a:ext cx="2208213" cy="316515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8">
            <a:extLst>
              <a:ext uri="{FF2B5EF4-FFF2-40B4-BE49-F238E27FC236}">
                <a16:creationId xmlns:a16="http://schemas.microsoft.com/office/drawing/2014/main" id="{49F2F0DD-6C19-4F59-8AA1-E4FB554C837E}"/>
              </a:ext>
            </a:extLst>
          </p:cNvPr>
          <p:cNvSpPr/>
          <p:nvPr/>
        </p:nvSpPr>
        <p:spPr>
          <a:xfrm>
            <a:off x="10898730" y="2963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7FF1F6D6-FC9F-4600-897C-08B1AC898438}"/>
              </a:ext>
            </a:extLst>
          </p:cNvPr>
          <p:cNvSpPr/>
          <p:nvPr/>
        </p:nvSpPr>
        <p:spPr>
          <a:xfrm>
            <a:off x="10938999" y="2963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8B78111-75F2-4EEA-9A56-7D7C5B867C34}"/>
              </a:ext>
            </a:extLst>
          </p:cNvPr>
          <p:cNvSpPr/>
          <p:nvPr/>
        </p:nvSpPr>
        <p:spPr>
          <a:xfrm>
            <a:off x="10371666" y="360129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  <a:alpha val="66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5D00097-3B25-4093-8399-53FC9EDB415E}"/>
              </a:ext>
            </a:extLst>
          </p:cNvPr>
          <p:cNvSpPr/>
          <p:nvPr/>
        </p:nvSpPr>
        <p:spPr>
          <a:xfrm>
            <a:off x="2792" y="1185757"/>
            <a:ext cx="1005840" cy="5669280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025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1D29DD9-4302-427D-93BD-28F094C994FA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35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7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800" b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78D857C9-565A-47AB-A6D8-2A2B3D87D94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86756" y="6399348"/>
            <a:ext cx="45720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 b="1" i="1" smtClean="0">
                <a:latin typeface="Verdana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C918-24AF-40BD-B9B5-B36F83F28A8C}" type="slidenum">
              <a:rPr kumimoji="0" lang="en-US" sz="1400" b="1" i="1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11" name="Rectangle 18">
            <a:extLst>
              <a:ext uri="{FF2B5EF4-FFF2-40B4-BE49-F238E27FC236}">
                <a16:creationId xmlns:a16="http://schemas.microsoft.com/office/drawing/2014/main" id="{8DAD96D6-5B9C-4DBD-8B54-B9DBB8C433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8305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Sheheryar Malik, Ph.D.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CB60C4-6E75-4231-81D0-064636C0F587}"/>
              </a:ext>
            </a:extLst>
          </p:cNvPr>
          <p:cNvSpPr/>
          <p:nvPr userDrawn="1"/>
        </p:nvSpPr>
        <p:spPr>
          <a:xfrm>
            <a:off x="342682" y="4459918"/>
            <a:ext cx="91440" cy="1828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02C899-A8CF-4D04-BCAF-8F79500D2F0C}"/>
              </a:ext>
            </a:extLst>
          </p:cNvPr>
          <p:cNvSpPr/>
          <p:nvPr userDrawn="1"/>
        </p:nvSpPr>
        <p:spPr>
          <a:xfrm>
            <a:off x="342900" y="3412144"/>
            <a:ext cx="91440" cy="1005840"/>
          </a:xfrm>
          <a:prstGeom prst="rect">
            <a:avLst/>
          </a:prstGeom>
          <a:solidFill>
            <a:srgbClr val="A28E6A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A6FA3A-3D2E-4D3A-90EC-A647392A50BF}"/>
              </a:ext>
            </a:extLst>
          </p:cNvPr>
          <p:cNvSpPr/>
          <p:nvPr userDrawn="1"/>
        </p:nvSpPr>
        <p:spPr>
          <a:xfrm>
            <a:off x="342900" y="2743193"/>
            <a:ext cx="91440" cy="640080"/>
          </a:xfrm>
          <a:prstGeom prst="rect">
            <a:avLst/>
          </a:prstGeom>
          <a:solidFill>
            <a:schemeClr val="bg1">
              <a:lumMod val="6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ACD2D5-50F6-4000-BEB5-02DF9B6CB908}"/>
              </a:ext>
            </a:extLst>
          </p:cNvPr>
          <p:cNvSpPr/>
          <p:nvPr userDrawn="1"/>
        </p:nvSpPr>
        <p:spPr>
          <a:xfrm>
            <a:off x="342900" y="2191691"/>
            <a:ext cx="91440" cy="1371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645F37-B01C-4AA2-9A56-942AB7EABC53}"/>
              </a:ext>
            </a:extLst>
          </p:cNvPr>
          <p:cNvSpPr/>
          <p:nvPr userDrawn="1"/>
        </p:nvSpPr>
        <p:spPr>
          <a:xfrm>
            <a:off x="342900" y="2355934"/>
            <a:ext cx="91440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903324D6-3C92-4C64-A666-E130E68D8E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290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Memory Management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56FD98-E169-4DCB-B5F9-EF9767B1769F}"/>
              </a:ext>
            </a:extLst>
          </p:cNvPr>
          <p:cNvSpPr/>
          <p:nvPr userDrawn="1"/>
        </p:nvSpPr>
        <p:spPr>
          <a:xfrm>
            <a:off x="10558938" y="47625"/>
            <a:ext cx="1399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243462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rgbClr val="C00000"/>
              </a:buClr>
              <a:defRPr/>
            </a:lvl1pPr>
            <a:lvl2pPr marL="685800" indent="-228600">
              <a:buClr>
                <a:srgbClr val="002060"/>
              </a:buClr>
              <a:buSzPct val="80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3pPr>
            <a:lvl4pPr>
              <a:buClr>
                <a:srgbClr val="002060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71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76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 marL="685800" indent="-228600">
              <a:buClr>
                <a:schemeClr val="accent6">
                  <a:lumMod val="60000"/>
                  <a:lumOff val="40000"/>
                </a:schemeClr>
              </a:buClr>
              <a:buSzPct val="80000"/>
              <a:buFont typeface="Courier New" panose="02070309020205020404" pitchFamily="49" charset="0"/>
              <a:buChar char="o"/>
              <a:defRPr>
                <a:solidFill>
                  <a:schemeClr val="bg1"/>
                </a:solidFill>
              </a:defRPr>
            </a:lvl2pPr>
            <a:lvl3pPr marL="1143000" indent="-228600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§"/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832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4800" b="1">
                <a:solidFill>
                  <a:srgbClr val="C0000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4155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393777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238278"/>
            <a:ext cx="5120640" cy="39513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93779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17689"/>
            <a:ext cx="5120640" cy="39719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CB8E7-6D87-40F4-9983-4594A9AEC18B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9113F6-0730-4011-8815-3FF1753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148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711200"/>
            <a:ext cx="10058400" cy="2890838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  <a:latin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122738"/>
            <a:ext cx="100584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2300" y="3894138"/>
            <a:ext cx="10972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5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>
            <a:lvl1pPr>
              <a:buClr>
                <a:srgbClr val="C00000"/>
              </a:buClr>
              <a:defRPr/>
            </a:lvl1pPr>
            <a:lvl2pPr marL="685800" indent="-228600">
              <a:buClr>
                <a:srgbClr val="002060"/>
              </a:buClr>
              <a:buSzPct val="80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3pPr>
            <a:lvl4pPr>
              <a:buClr>
                <a:srgbClr val="002060"/>
              </a:buClr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689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A024D1-2235-4261-84CC-7F2CA511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4800" b="1">
                <a:solidFill>
                  <a:srgbClr val="C0000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F90A18-E68B-4A7C-B7A8-92A1B095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502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73188"/>
            <a:ext cx="5120640" cy="4803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73188"/>
            <a:ext cx="5120640" cy="48037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3866FE-4B4F-48A8-8721-20B757069001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</p:spTree>
    <p:extLst>
      <p:ext uri="{BB962C8B-B14F-4D97-AF65-F5344CB8AC3E}">
        <p14:creationId xmlns:p14="http://schemas.microsoft.com/office/powerpoint/2010/main" val="3576681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393777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238278"/>
            <a:ext cx="5120640" cy="39513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93779"/>
            <a:ext cx="51206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17689"/>
            <a:ext cx="5120640" cy="39719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CB8E7-6D87-40F4-9983-4594A9AEC18B}"/>
              </a:ext>
            </a:extLst>
          </p:cNvPr>
          <p:cNvSpPr/>
          <p:nvPr userDrawn="1"/>
        </p:nvSpPr>
        <p:spPr>
          <a:xfrm>
            <a:off x="10246609" y="47625"/>
            <a:ext cx="1712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IT Service Management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9113F6-0730-4011-8815-3FF1753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0549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4CF745-6EDB-4208-9010-31248509EE22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9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F86697-F896-4D6D-B84C-552DCABE6614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14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AC2689-2A9F-49ED-8241-1986025505EB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7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6161B3-54A1-413C-B8D2-465092B984D1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47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F3541D6-CFE7-41C6-807C-A510B50B5BA2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78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4DA443-4C90-4E74-B571-AFB4D58D5ED3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0E1EC0-76B8-468E-A1CA-1F6FD2EA3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6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19224"/>
            <a:ext cx="10515600" cy="4924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0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8" r:id="rId2"/>
    <p:sldLayoutId id="2147483651" r:id="rId3"/>
    <p:sldLayoutId id="2147483687" r:id="rId4"/>
    <p:sldLayoutId id="2147483689" r:id="rId5"/>
    <p:sldLayoutId id="2147483678" r:id="rId6"/>
    <p:sldLayoutId id="2147483680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SzPct val="8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19224"/>
            <a:ext cx="10515600" cy="4924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E32BD0-7330-4272-82E9-A9CAB20CD102}"/>
              </a:ext>
            </a:extLst>
          </p:cNvPr>
          <p:cNvSpPr/>
          <p:nvPr userDrawn="1"/>
        </p:nvSpPr>
        <p:spPr>
          <a:xfrm>
            <a:off x="10558938" y="47625"/>
            <a:ext cx="13997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Operating Systems</a:t>
            </a: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83FDDCFB-A997-46E6-9FFD-8AC263D63C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86756" y="6399348"/>
            <a:ext cx="457200" cy="457200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 b="1" i="1" smtClean="0">
                <a:latin typeface="Verdana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54C918-24AF-40BD-B9B5-B36F83F28A8C}" type="slidenum">
              <a:rPr kumimoji="0" lang="en-US" sz="1400" b="1" i="1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A08B1F5C-5B67-496D-B135-CA249522C6E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4290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Memory Management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4C31F2D-428B-47CA-9119-8DB7D4F934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083050" y="6451600"/>
            <a:ext cx="402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 smtClean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Calibri" pitchFamily="34" charset="0"/>
              </a:rPr>
              <a:t>Sheheryar Malik, Ph.D.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F099F0-5000-4B34-AE00-C6337EDD41FC}"/>
              </a:ext>
            </a:extLst>
          </p:cNvPr>
          <p:cNvSpPr/>
          <p:nvPr userDrawn="1"/>
        </p:nvSpPr>
        <p:spPr>
          <a:xfrm>
            <a:off x="342682" y="4459918"/>
            <a:ext cx="91440" cy="1828800"/>
          </a:xfrm>
          <a:prstGeom prst="rect">
            <a:avLst/>
          </a:prstGeom>
          <a:solidFill>
            <a:srgbClr val="9B2D1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2BACF0-A96E-4FB3-B6C9-76FE7A86508C}"/>
              </a:ext>
            </a:extLst>
          </p:cNvPr>
          <p:cNvSpPr/>
          <p:nvPr userDrawn="1"/>
        </p:nvSpPr>
        <p:spPr>
          <a:xfrm>
            <a:off x="342900" y="3412144"/>
            <a:ext cx="91440" cy="1005840"/>
          </a:xfrm>
          <a:prstGeom prst="rect">
            <a:avLst/>
          </a:prstGeom>
          <a:solidFill>
            <a:srgbClr val="A28E6A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5C4C5F-7E26-4B82-AA28-5D45B051DE80}"/>
              </a:ext>
            </a:extLst>
          </p:cNvPr>
          <p:cNvSpPr/>
          <p:nvPr userDrawn="1"/>
        </p:nvSpPr>
        <p:spPr>
          <a:xfrm>
            <a:off x="342900" y="2743193"/>
            <a:ext cx="91440" cy="640080"/>
          </a:xfrm>
          <a:prstGeom prst="rect">
            <a:avLst/>
          </a:prstGeom>
          <a:solidFill>
            <a:srgbClr val="696464"/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659286-E1E1-4CC2-B85D-A7D0405C2BC7}"/>
              </a:ext>
            </a:extLst>
          </p:cNvPr>
          <p:cNvSpPr/>
          <p:nvPr userDrawn="1"/>
        </p:nvSpPr>
        <p:spPr>
          <a:xfrm>
            <a:off x="342900" y="2191691"/>
            <a:ext cx="91440" cy="137160"/>
          </a:xfrm>
          <a:prstGeom prst="rect">
            <a:avLst/>
          </a:prstGeom>
          <a:solidFill>
            <a:srgbClr val="9B2D1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B4EA7D-FB77-4453-8980-E49CD0EF492E}"/>
              </a:ext>
            </a:extLst>
          </p:cNvPr>
          <p:cNvSpPr/>
          <p:nvPr userDrawn="1"/>
        </p:nvSpPr>
        <p:spPr>
          <a:xfrm>
            <a:off x="342900" y="2355934"/>
            <a:ext cx="91440" cy="365760"/>
          </a:xfrm>
          <a:prstGeom prst="rect">
            <a:avLst/>
          </a:prstGeom>
          <a:solidFill>
            <a:srgbClr val="002060"/>
          </a:solidFill>
          <a:ln w="50800" cap="rnd" cmpd="dbl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37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4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SzPct val="8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206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Memory Management</a:t>
            </a:r>
            <a:r>
              <a:rPr lang="en-US"/>
              <a:t/>
            </a:r>
            <a:br>
              <a:rPr lang="en-US"/>
            </a:br>
            <a:r>
              <a:rPr lang="en-US" sz="3600" b="1">
                <a:solidFill>
                  <a:schemeClr val="tx1"/>
                </a:solidFill>
              </a:rPr>
              <a:t>Module </a:t>
            </a:r>
            <a:r>
              <a:rPr lang="en-US" sz="3600" b="1" dirty="0">
                <a:solidFill>
                  <a:schemeClr val="tx1"/>
                </a:solidFill>
              </a:rPr>
              <a:t>5</a:t>
            </a:r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Operating Systems</a:t>
            </a:r>
          </a:p>
          <a:p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361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Chapter Outline</a:t>
            </a:r>
            <a:endParaRPr lang="en-US" dirty="0"/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dirty="0"/>
              <a:t>Memory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Memory hierarchy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Process loading and swapping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Memory management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Memory allocation methods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Storage management strategies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Contiguous memory allocation </a:t>
            </a:r>
          </a:p>
          <a:p>
            <a:pPr eaLnBrk="1" hangingPunct="1">
              <a:lnSpc>
                <a:spcPct val="80000"/>
              </a:lnSpc>
            </a:pPr>
            <a:r>
              <a:rPr lang="en-US" sz="2400"/>
              <a:t>Non-contiguous </a:t>
            </a:r>
            <a:r>
              <a:rPr lang="en-US" sz="2400" dirty="0"/>
              <a:t>memory allocation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Paging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Simple paging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Implementation of paging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Segmentation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Simple segmentation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Segment addressing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Memory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dirty="0"/>
              <a:t>Used for storage and retrieval of data and instructions</a:t>
            </a:r>
          </a:p>
          <a:p>
            <a:r>
              <a:rPr lang="en-US" dirty="0"/>
              <a:t>Essential component</a:t>
            </a:r>
          </a:p>
          <a:p>
            <a:r>
              <a:rPr lang="en-US" dirty="0"/>
              <a:t>Logically memory system can be divided into three groups</a:t>
            </a:r>
          </a:p>
          <a:p>
            <a:pPr lvl="1"/>
            <a:r>
              <a:rPr lang="en-US" dirty="0"/>
              <a:t>Internal memory</a:t>
            </a:r>
          </a:p>
          <a:p>
            <a:pPr lvl="2"/>
            <a:r>
              <a:rPr lang="en-US" dirty="0"/>
              <a:t>Set of registers in processor</a:t>
            </a:r>
          </a:p>
          <a:p>
            <a:pPr lvl="3"/>
            <a:r>
              <a:rPr lang="en-US" dirty="0"/>
              <a:t>they hold temporary results during execution</a:t>
            </a:r>
          </a:p>
          <a:p>
            <a:pPr lvl="1"/>
            <a:r>
              <a:rPr lang="en-US" dirty="0"/>
              <a:t>Main memory</a:t>
            </a:r>
          </a:p>
          <a:p>
            <a:pPr lvl="2"/>
            <a:r>
              <a:rPr lang="en-US" dirty="0"/>
              <a:t>Communicates directly with CPU</a:t>
            </a:r>
          </a:p>
          <a:p>
            <a:pPr lvl="1"/>
            <a:r>
              <a:rPr lang="en-US" dirty="0"/>
              <a:t>Secondary (external memory)</a:t>
            </a:r>
          </a:p>
          <a:p>
            <a:pPr lvl="2"/>
            <a:r>
              <a:rPr lang="en-US" dirty="0"/>
              <a:t>Peripherals storage devices such as disk and tape </a:t>
            </a:r>
            <a:r>
              <a:rPr lang="en-US" dirty="0" err="1"/>
              <a:t>etc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Memory Hierarchy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6CD2501-F863-4A0B-BEB9-31C47E89BF75}"/>
              </a:ext>
            </a:extLst>
          </p:cNvPr>
          <p:cNvGrpSpPr/>
          <p:nvPr/>
        </p:nvGrpSpPr>
        <p:grpSpPr>
          <a:xfrm>
            <a:off x="3615519" y="1516627"/>
            <a:ext cx="4960961" cy="4267200"/>
            <a:chOff x="3200400" y="1752600"/>
            <a:chExt cx="4960961" cy="4267200"/>
          </a:xfrm>
        </p:grpSpPr>
        <p:grpSp>
          <p:nvGrpSpPr>
            <p:cNvPr id="2" name="Group 10"/>
            <p:cNvGrpSpPr>
              <a:grpSpLocks/>
            </p:cNvGrpSpPr>
            <p:nvPr/>
          </p:nvGrpSpPr>
          <p:grpSpPr bwMode="auto">
            <a:xfrm>
              <a:off x="3200400" y="1752600"/>
              <a:ext cx="4960961" cy="4267200"/>
              <a:chOff x="1056" y="1104"/>
              <a:chExt cx="3504" cy="2688"/>
            </a:xfrm>
            <a:solidFill>
              <a:schemeClr val="accent5"/>
            </a:solidFill>
          </p:grpSpPr>
          <p:sp>
            <p:nvSpPr>
              <p:cNvPr id="6154" name="AutoShape 4"/>
              <p:cNvSpPr>
                <a:spLocks noChangeArrowheads="1"/>
              </p:cNvSpPr>
              <p:nvPr/>
            </p:nvSpPr>
            <p:spPr bwMode="auto">
              <a:xfrm>
                <a:off x="1056" y="1104"/>
                <a:ext cx="3504" cy="2688"/>
              </a:xfrm>
              <a:prstGeom prst="triangle">
                <a:avLst>
                  <a:gd name="adj" fmla="val 50000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/>
                <a:endParaRPr lang="en-US" dirty="0">
                  <a:latin typeface="Calibri" pitchFamily="34" charset="0"/>
                </a:endParaRPr>
              </a:p>
              <a:p>
                <a:pPr algn="ctr"/>
                <a:endParaRPr lang="en-US" dirty="0">
                  <a:latin typeface="Calibri" pitchFamily="34" charset="0"/>
                </a:endParaRPr>
              </a:p>
            </p:txBody>
          </p:sp>
          <p:grpSp>
            <p:nvGrpSpPr>
              <p:cNvPr id="3" name="Group 9"/>
              <p:cNvGrpSpPr>
                <a:grpSpLocks/>
              </p:cNvGrpSpPr>
              <p:nvPr/>
            </p:nvGrpSpPr>
            <p:grpSpPr bwMode="auto">
              <a:xfrm>
                <a:off x="1440" y="2208"/>
                <a:ext cx="2736" cy="1056"/>
                <a:chOff x="1344" y="2064"/>
                <a:chExt cx="2736" cy="1056"/>
              </a:xfrm>
              <a:grpFill/>
            </p:grpSpPr>
            <p:sp>
              <p:nvSpPr>
                <p:cNvPr id="6156" name="Line 5"/>
                <p:cNvSpPr>
                  <a:spLocks noChangeShapeType="1"/>
                </p:cNvSpPr>
                <p:nvPr/>
              </p:nvSpPr>
              <p:spPr bwMode="auto">
                <a:xfrm>
                  <a:off x="2016" y="2064"/>
                  <a:ext cx="1392" cy="0"/>
                </a:xfrm>
                <a:prstGeom prst="line">
                  <a:avLst/>
                </a:prstGeom>
                <a:grp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6157" name="Line 6"/>
                <p:cNvSpPr>
                  <a:spLocks noChangeShapeType="1"/>
                </p:cNvSpPr>
                <p:nvPr/>
              </p:nvSpPr>
              <p:spPr bwMode="auto">
                <a:xfrm>
                  <a:off x="1776" y="2448"/>
                  <a:ext cx="1872" cy="0"/>
                </a:xfrm>
                <a:prstGeom prst="line">
                  <a:avLst/>
                </a:prstGeom>
                <a:grp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6158" name="Line 7"/>
                <p:cNvSpPr>
                  <a:spLocks noChangeShapeType="1"/>
                </p:cNvSpPr>
                <p:nvPr/>
              </p:nvSpPr>
              <p:spPr bwMode="auto">
                <a:xfrm>
                  <a:off x="1584" y="2784"/>
                  <a:ext cx="2304" cy="0"/>
                </a:xfrm>
                <a:prstGeom prst="line">
                  <a:avLst/>
                </a:prstGeom>
                <a:grp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6159" name="Line 8"/>
                <p:cNvSpPr>
                  <a:spLocks noChangeShapeType="1"/>
                </p:cNvSpPr>
                <p:nvPr/>
              </p:nvSpPr>
              <p:spPr bwMode="auto">
                <a:xfrm>
                  <a:off x="1344" y="3120"/>
                  <a:ext cx="2736" cy="0"/>
                </a:xfrm>
                <a:prstGeom prst="line">
                  <a:avLst/>
                </a:prstGeom>
                <a:grp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</p:grpSp>
        <p:sp>
          <p:nvSpPr>
            <p:cNvPr id="6150" name="Line 11"/>
            <p:cNvSpPr>
              <a:spLocks noChangeShapeType="1"/>
            </p:cNvSpPr>
            <p:nvPr/>
          </p:nvSpPr>
          <p:spPr bwMode="auto">
            <a:xfrm flipV="1">
              <a:off x="3581400" y="2667000"/>
              <a:ext cx="1302228" cy="22098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arrow" w="lg" len="lg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151" name="Line 12"/>
            <p:cNvSpPr>
              <a:spLocks noChangeShapeType="1"/>
            </p:cNvSpPr>
            <p:nvPr/>
          </p:nvSpPr>
          <p:spPr bwMode="auto">
            <a:xfrm>
              <a:off x="6470176" y="2667000"/>
              <a:ext cx="1302228" cy="22097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arrow" w="lg" len="lg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152" name="Text Box 13"/>
            <p:cNvSpPr txBox="1">
              <a:spLocks noChangeArrowheads="1"/>
            </p:cNvSpPr>
            <p:nvPr/>
          </p:nvSpPr>
          <p:spPr bwMode="auto">
            <a:xfrm rot="18042516">
              <a:off x="3101019" y="3607124"/>
              <a:ext cx="1905000" cy="33855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latin typeface="Calibri" pitchFamily="34" charset="0"/>
                </a:rPr>
                <a:t>Speed &amp; Cost</a:t>
              </a:r>
            </a:p>
          </p:txBody>
        </p:sp>
        <p:sp>
          <p:nvSpPr>
            <p:cNvPr id="6153" name="Text Box 14"/>
            <p:cNvSpPr txBox="1">
              <a:spLocks noChangeArrowheads="1"/>
            </p:cNvSpPr>
            <p:nvPr/>
          </p:nvSpPr>
          <p:spPr bwMode="auto">
            <a:xfrm rot="3585929">
              <a:off x="6320108" y="3422437"/>
              <a:ext cx="1905000" cy="338554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latin typeface="Calibri" pitchFamily="34" charset="0"/>
                </a:rPr>
                <a:t>Capacity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91002" y="2825088"/>
              <a:ext cx="2971800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alibri" pitchFamily="34" charset="0"/>
                </a:rPr>
                <a:t>Registers</a:t>
              </a:r>
            </a:p>
            <a:p>
              <a:pPr algn="ctr"/>
              <a:endParaRPr lang="en-US" dirty="0">
                <a:latin typeface="Calibri" pitchFamily="34" charset="0"/>
              </a:endParaRPr>
            </a:p>
            <a:p>
              <a:pPr algn="ctr"/>
              <a:endParaRPr lang="en-US" dirty="0">
                <a:latin typeface="Calibri" pitchFamily="34" charset="0"/>
              </a:endParaRPr>
            </a:p>
            <a:p>
              <a:pPr algn="ctr"/>
              <a:r>
                <a:rPr lang="en-US" dirty="0">
                  <a:latin typeface="Calibri" pitchFamily="34" charset="0"/>
                </a:rPr>
                <a:t>Cache</a:t>
              </a:r>
            </a:p>
            <a:p>
              <a:pPr algn="ctr"/>
              <a:endParaRPr lang="en-US" dirty="0">
                <a:latin typeface="Calibri" pitchFamily="34" charset="0"/>
              </a:endParaRPr>
            </a:p>
            <a:p>
              <a:pPr algn="ctr"/>
              <a:r>
                <a:rPr lang="en-US" dirty="0">
                  <a:latin typeface="Calibri" pitchFamily="34" charset="0"/>
                </a:rPr>
                <a:t>Main memory</a:t>
              </a:r>
            </a:p>
            <a:p>
              <a:pPr algn="ctr"/>
              <a:endParaRPr lang="en-US" dirty="0">
                <a:latin typeface="Calibri" pitchFamily="34" charset="0"/>
              </a:endParaRPr>
            </a:p>
            <a:p>
              <a:pPr algn="ctr"/>
              <a:r>
                <a:rPr lang="en-US" dirty="0">
                  <a:latin typeface="Calibri" pitchFamily="34" charset="0"/>
                </a:rPr>
                <a:t>Magnetic disk</a:t>
              </a:r>
            </a:p>
            <a:p>
              <a:pPr algn="ctr"/>
              <a:endParaRPr lang="en-US" dirty="0">
                <a:latin typeface="Calibri" pitchFamily="34" charset="0"/>
              </a:endParaRPr>
            </a:p>
            <a:p>
              <a:pPr algn="ctr"/>
              <a:r>
                <a:rPr lang="en-US" dirty="0">
                  <a:latin typeface="Calibri" pitchFamily="34" charset="0"/>
                </a:rPr>
                <a:t>Magnetic tape</a:t>
              </a:r>
            </a:p>
            <a:p>
              <a:endParaRPr 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Memory Hierarchy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Registers </a:t>
            </a:r>
          </a:p>
          <a:p>
            <a:pPr lvl="1"/>
            <a:r>
              <a:rPr lang="en-US" dirty="0"/>
              <a:t>are fastest, smallest and most expensive</a:t>
            </a:r>
          </a:p>
          <a:p>
            <a:r>
              <a:rPr lang="en-US" dirty="0"/>
              <a:t>Main memory </a:t>
            </a:r>
          </a:p>
          <a:p>
            <a:pPr lvl="1"/>
            <a:r>
              <a:rPr lang="en-US" dirty="0"/>
              <a:t>It is principal memory</a:t>
            </a:r>
          </a:p>
          <a:p>
            <a:pPr lvl="1"/>
            <a:r>
              <a:rPr lang="en-US" dirty="0"/>
              <a:t>It is generally extended with a higher speed smaller cache</a:t>
            </a:r>
          </a:p>
          <a:p>
            <a:pPr lvl="2"/>
            <a:r>
              <a:rPr lang="en-US" dirty="0"/>
              <a:t>Used to improve movement of data between main memory and processor registers</a:t>
            </a:r>
          </a:p>
          <a:p>
            <a:pPr lvl="2"/>
            <a:r>
              <a:rPr lang="en-US" dirty="0"/>
              <a:t>Usually not visible to user or programmer or indeed to the processor</a:t>
            </a:r>
          </a:p>
          <a:p>
            <a:r>
              <a:rPr lang="en-US" dirty="0"/>
              <a:t>External devices are permanent storage</a:t>
            </a:r>
          </a:p>
          <a:p>
            <a:pPr lvl="1"/>
            <a:r>
              <a:rPr lang="en-US" dirty="0"/>
              <a:t>Also referred as secondary or auxiliary memory</a:t>
            </a:r>
          </a:p>
          <a:p>
            <a:pPr lvl="1"/>
            <a:r>
              <a:rPr lang="en-US" dirty="0"/>
              <a:t>e.g. magnetic disk, tape, hard disk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Process Loading &amp; Swapping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Process loading</a:t>
            </a:r>
          </a:p>
          <a:p>
            <a:pPr lvl="1"/>
            <a:r>
              <a:rPr lang="en-US" dirty="0"/>
              <a:t>Transfer of a process from secondary storage to main memory</a:t>
            </a:r>
          </a:p>
          <a:p>
            <a:r>
              <a:rPr lang="en-US" dirty="0"/>
              <a:t>Process Swapping</a:t>
            </a:r>
          </a:p>
          <a:p>
            <a:pPr lvl="1"/>
            <a:r>
              <a:rPr lang="en-US" dirty="0"/>
              <a:t>Transfer of a process from memory to secondary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Memory Management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Memory is a volatile array of words or bytes, shared by the CPU and I/O devices</a:t>
            </a:r>
          </a:p>
          <a:p>
            <a:r>
              <a:rPr lang="en-US" dirty="0"/>
              <a:t>Programs must be brought into memory and place in form of a process to be executed</a:t>
            </a:r>
          </a:p>
          <a:p>
            <a:r>
              <a:rPr lang="en-US" dirty="0"/>
              <a:t>The operating system manages the memory activities</a:t>
            </a:r>
          </a:p>
          <a:p>
            <a:pPr lvl="1"/>
            <a:r>
              <a:rPr lang="en-US" dirty="0"/>
              <a:t>Keep track of which parts of memory are currently being used and by whom</a:t>
            </a:r>
          </a:p>
          <a:p>
            <a:pPr lvl="1"/>
            <a:r>
              <a:rPr lang="en-US" dirty="0"/>
              <a:t>Decides which process(s) to load when memory space becomes available</a:t>
            </a:r>
          </a:p>
          <a:p>
            <a:pPr lvl="1"/>
            <a:r>
              <a:rPr lang="en-US" dirty="0"/>
              <a:t>Allocate and de-allocate memory space to processes as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Address Binding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Address binding is the process of mapping logical addresses generated by a program to physical addresses in main memory, carried out at compile-time, load-time, or execution-time.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CPU </a:t>
            </a:r>
            <a:r>
              <a:rPr lang="en-US" dirty="0"/>
              <a:t>(logical address)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  MMU (binding/mapping)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 smtClean="0"/>
              <a:t>  RAM </a:t>
            </a:r>
            <a:r>
              <a:rPr lang="en-US" dirty="0"/>
              <a:t>(physical address)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955963"/>
          </a:xfrm>
        </p:spPr>
        <p:txBody>
          <a:bodyPr/>
          <a:lstStyle/>
          <a:p>
            <a:r>
              <a:rPr lang="en-US" dirty="0"/>
              <a:t>Address Binding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>
          <a:xfrm>
            <a:off x="699655" y="1252970"/>
            <a:ext cx="10515600" cy="493712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1. Compile-Time </a:t>
            </a:r>
            <a:r>
              <a:rPr lang="en-US" b="1" dirty="0"/>
              <a:t>Address Binding</a:t>
            </a:r>
          </a:p>
          <a:p>
            <a:r>
              <a:rPr lang="en-US" dirty="0"/>
              <a:t>Binding happens </a:t>
            </a:r>
            <a:r>
              <a:rPr lang="en-US" b="1" dirty="0"/>
              <a:t>during program compilation</a:t>
            </a:r>
            <a:r>
              <a:rPr lang="en-US" dirty="0"/>
              <a:t>.</a:t>
            </a:r>
          </a:p>
          <a:p>
            <a:r>
              <a:rPr lang="en-US" dirty="0"/>
              <a:t>Logical address = physical address.</a:t>
            </a:r>
          </a:p>
          <a:p>
            <a:r>
              <a:rPr lang="en-US" dirty="0"/>
              <a:t>Program must load at a </a:t>
            </a:r>
            <a:r>
              <a:rPr lang="en-US" b="1" dirty="0"/>
              <a:t>specific memory location</a:t>
            </a:r>
            <a:r>
              <a:rPr lang="en-US" dirty="0"/>
              <a:t>.</a:t>
            </a:r>
          </a:p>
          <a:p>
            <a:r>
              <a:rPr lang="en-US" dirty="0"/>
              <a:t>If location changes, program must be </a:t>
            </a:r>
            <a:r>
              <a:rPr lang="en-US" b="1" dirty="0"/>
              <a:t>recompiled</a:t>
            </a:r>
            <a:r>
              <a:rPr lang="en-US" dirty="0"/>
              <a:t>.</a:t>
            </a:r>
          </a:p>
          <a:p>
            <a:r>
              <a:rPr lang="en-US" dirty="0"/>
              <a:t>Rarely used.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> Embedded systems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Load-Time Address Binding</a:t>
            </a:r>
          </a:p>
          <a:p>
            <a:r>
              <a:rPr lang="en-US" dirty="0"/>
              <a:t>Binding happens </a:t>
            </a:r>
            <a:r>
              <a:rPr lang="en-US" b="1" dirty="0"/>
              <a:t>when the program is loaded into memory</a:t>
            </a:r>
            <a:r>
              <a:rPr lang="en-US" dirty="0"/>
              <a:t>.</a:t>
            </a:r>
          </a:p>
          <a:p>
            <a:r>
              <a:rPr lang="en-US" dirty="0"/>
              <a:t>Compiler generates </a:t>
            </a:r>
            <a:r>
              <a:rPr lang="en-US" b="1" dirty="0"/>
              <a:t>relocatable code</a:t>
            </a:r>
            <a:r>
              <a:rPr lang="en-US" dirty="0"/>
              <a:t>.</a:t>
            </a:r>
          </a:p>
          <a:p>
            <a:r>
              <a:rPr lang="en-US" dirty="0"/>
              <a:t>Physical address decided by OS loader.</a:t>
            </a:r>
          </a:p>
          <a:p>
            <a:r>
              <a:rPr lang="en-US" dirty="0"/>
              <a:t>If address changes → </a:t>
            </a:r>
            <a:r>
              <a:rPr lang="en-US" b="1" dirty="0"/>
              <a:t>no need to recompile</a:t>
            </a:r>
            <a:r>
              <a:rPr lang="en-US" dirty="0"/>
              <a:t>, just reload.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654" y="1114424"/>
            <a:ext cx="10938163" cy="51755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3. Execution-Time Address Binding (Run-Time Binding)</a:t>
            </a:r>
          </a:p>
          <a:p>
            <a:r>
              <a:rPr lang="en-US" dirty="0"/>
              <a:t>Binding happens </a:t>
            </a:r>
            <a:r>
              <a:rPr lang="en-US" b="1" dirty="0"/>
              <a:t>while program is running</a:t>
            </a:r>
            <a:r>
              <a:rPr lang="en-US" dirty="0"/>
              <a:t>.</a:t>
            </a:r>
          </a:p>
          <a:p>
            <a:r>
              <a:rPr lang="en-US" dirty="0"/>
              <a:t>Requires </a:t>
            </a:r>
            <a:r>
              <a:rPr lang="en-US" b="1" dirty="0"/>
              <a:t>hardware support</a:t>
            </a:r>
            <a:r>
              <a:rPr lang="en-US" dirty="0"/>
              <a:t> such as </a:t>
            </a:r>
            <a:r>
              <a:rPr lang="en-US" b="1" dirty="0"/>
              <a:t>MMU (Memory Management Unit)</a:t>
            </a:r>
            <a:r>
              <a:rPr lang="en-US" dirty="0"/>
              <a:t>.</a:t>
            </a:r>
          </a:p>
          <a:p>
            <a:r>
              <a:rPr lang="en-US" dirty="0"/>
              <a:t>Allows processes to move in memory during execution (swapping/relocation).</a:t>
            </a:r>
          </a:p>
          <a:p>
            <a:r>
              <a:rPr lang="en-US" dirty="0"/>
              <a:t>Used in </a:t>
            </a:r>
            <a:r>
              <a:rPr lang="en-US" b="1" dirty="0"/>
              <a:t>modern OS</a:t>
            </a:r>
            <a:r>
              <a:rPr lang="en-US" dirty="0"/>
              <a:t> and </a:t>
            </a:r>
            <a:r>
              <a:rPr lang="en-US" b="1" dirty="0"/>
              <a:t>virtual memory</a:t>
            </a:r>
            <a:r>
              <a:rPr lang="en-US" dirty="0"/>
              <a:t> systems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Important </a:t>
            </a:r>
            <a:r>
              <a:rPr lang="en-US" b="1" dirty="0" smtClean="0">
                <a:solidFill>
                  <a:srgbClr val="C00000"/>
                </a:solidFill>
              </a:rPr>
              <a:t>Concepts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Logical Address:</a:t>
            </a:r>
            <a:r>
              <a:rPr lang="en-US" dirty="0"/>
              <a:t> Generated by CPU (virtual address).</a:t>
            </a:r>
          </a:p>
          <a:p>
            <a:r>
              <a:rPr lang="en-US" b="1" dirty="0"/>
              <a:t>Physical Address:</a:t>
            </a:r>
            <a:r>
              <a:rPr lang="en-US" dirty="0"/>
              <a:t> Actual location in RAM.</a:t>
            </a:r>
          </a:p>
          <a:p>
            <a:r>
              <a:rPr lang="en-US" b="1" dirty="0"/>
              <a:t>MMU (Memory Management Unit):</a:t>
            </a:r>
            <a:r>
              <a:rPr lang="en-US" dirty="0"/>
              <a:t> Hardware that converts logical → physical address at runtime.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40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Logical vs. Physical Address Space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Logical address</a:t>
            </a:r>
          </a:p>
          <a:p>
            <a:pPr lvl="1"/>
            <a:r>
              <a:rPr lang="en-US" dirty="0"/>
              <a:t>Generated by CPU </a:t>
            </a:r>
          </a:p>
          <a:p>
            <a:pPr lvl="1"/>
            <a:r>
              <a:rPr lang="en-US" dirty="0"/>
              <a:t>Also referred to as virtual address</a:t>
            </a:r>
          </a:p>
          <a:p>
            <a:r>
              <a:rPr lang="en-US" dirty="0"/>
              <a:t>Physical address</a:t>
            </a:r>
          </a:p>
          <a:p>
            <a:pPr lvl="1"/>
            <a:r>
              <a:rPr lang="en-US" dirty="0"/>
              <a:t>Address seen by the memory unit</a:t>
            </a:r>
          </a:p>
          <a:p>
            <a:r>
              <a:rPr lang="en-US" dirty="0"/>
              <a:t>Compile and load time binding</a:t>
            </a:r>
          </a:p>
          <a:p>
            <a:pPr lvl="1"/>
            <a:r>
              <a:rPr lang="en-US" dirty="0"/>
              <a:t>Logical = physical memory</a:t>
            </a:r>
          </a:p>
          <a:p>
            <a:r>
              <a:rPr lang="en-US" dirty="0"/>
              <a:t>Execution time binding</a:t>
            </a:r>
          </a:p>
          <a:p>
            <a:pPr lvl="1"/>
            <a:r>
              <a:rPr lang="en-US" dirty="0"/>
              <a:t>Logical is virtual memory, i.e. does not necessarily coincide with physical memory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Virtual Addresses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128279"/>
            <a:ext cx="10515600" cy="52448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There exist a set of memory addresses that programs can produce</a:t>
            </a:r>
          </a:p>
          <a:p>
            <a:r>
              <a:rPr lang="en-US" dirty="0"/>
              <a:t>These program generated addresses are called virtual or logical addresses and form virtual address space</a:t>
            </a:r>
          </a:p>
          <a:p>
            <a:r>
              <a:rPr lang="en-US" dirty="0"/>
              <a:t>Physical addresses are the addresses seen by the memory unit</a:t>
            </a:r>
          </a:p>
          <a:p>
            <a:r>
              <a:rPr lang="en-US" b="1" dirty="0"/>
              <a:t>Logical and physical addresses are same at compile time</a:t>
            </a:r>
          </a:p>
          <a:p>
            <a:r>
              <a:rPr lang="en-US" b="1" dirty="0"/>
              <a:t>Logical and physical addresses differ in execution </a:t>
            </a:r>
            <a:r>
              <a:rPr lang="en-US" b="1" dirty="0" smtClean="0"/>
              <a:t>time</a:t>
            </a:r>
          </a:p>
          <a:p>
            <a:endParaRPr lang="en-US" b="1" dirty="0" smtClean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Why Virtual Address is Used</a:t>
            </a:r>
            <a:r>
              <a:rPr lang="en-US" b="1" dirty="0" smtClean="0">
                <a:solidFill>
                  <a:srgbClr val="C00000"/>
                </a:solidFill>
              </a:rPr>
              <a:t>?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To give each process its </a:t>
            </a:r>
            <a:r>
              <a:rPr lang="en-US" b="1" dirty="0"/>
              <a:t>own memory space</a:t>
            </a:r>
            <a:endParaRPr lang="en-US" dirty="0"/>
          </a:p>
          <a:p>
            <a:r>
              <a:rPr lang="en-US" dirty="0"/>
              <a:t>To enable </a:t>
            </a:r>
            <a:r>
              <a:rPr lang="en-US" b="1" dirty="0"/>
              <a:t>memory protection</a:t>
            </a:r>
            <a:endParaRPr lang="en-US" dirty="0"/>
          </a:p>
          <a:p>
            <a:r>
              <a:rPr lang="en-US" dirty="0"/>
              <a:t>To support </a:t>
            </a:r>
            <a:r>
              <a:rPr lang="en-US" b="1" dirty="0"/>
              <a:t>paging &amp; segmentation</a:t>
            </a:r>
            <a:endParaRPr lang="en-US" dirty="0"/>
          </a:p>
          <a:p>
            <a:r>
              <a:rPr lang="en-US" dirty="0"/>
              <a:t>To allow </a:t>
            </a:r>
            <a:r>
              <a:rPr lang="en-US" b="1" dirty="0"/>
              <a:t>programs larger than RAM</a:t>
            </a:r>
            <a:r>
              <a:rPr lang="en-US" dirty="0"/>
              <a:t> (virtual memory)</a:t>
            </a:r>
          </a:p>
          <a:p>
            <a:r>
              <a:rPr lang="en-US" dirty="0"/>
              <a:t>To allow </a:t>
            </a:r>
            <a:r>
              <a:rPr lang="en-US" b="1" dirty="0"/>
              <a:t>relocation &amp; swapping</a:t>
            </a:r>
            <a:endParaRPr lang="en-US" dirty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Memory Management Unit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651165" y="1080655"/>
            <a:ext cx="11333018" cy="526472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Hardware device that maps virtual address to physical address</a:t>
            </a:r>
          </a:p>
          <a:p>
            <a:r>
              <a:rPr lang="en-US" dirty="0"/>
              <a:t>Use a base or relocation register</a:t>
            </a:r>
          </a:p>
          <a:p>
            <a:pPr lvl="1"/>
            <a:r>
              <a:rPr lang="en-US" dirty="0"/>
              <a:t>The value in relocation register is added to every address generated by a user process at the time it is sent to memory</a:t>
            </a:r>
          </a:p>
          <a:p>
            <a:r>
              <a:rPr lang="en-US" dirty="0"/>
              <a:t>The user programs deals with logical addresses</a:t>
            </a:r>
          </a:p>
          <a:p>
            <a:pPr lvl="1"/>
            <a:r>
              <a:rPr lang="en-US" dirty="0"/>
              <a:t>It never sees the real physical </a:t>
            </a:r>
            <a:r>
              <a:rPr lang="en-US" dirty="0" smtClean="0"/>
              <a:t>addresses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Why is MMU Needed?</a:t>
            </a:r>
          </a:p>
          <a:p>
            <a:pPr marL="0" indent="0">
              <a:buNone/>
            </a:pPr>
            <a:r>
              <a:rPr lang="en-US" dirty="0"/>
              <a:t>MMU provides:</a:t>
            </a:r>
          </a:p>
          <a:p>
            <a:r>
              <a:rPr lang="en-US" b="1" dirty="0"/>
              <a:t>Virtual memory</a:t>
            </a:r>
            <a:endParaRPr lang="en-US" dirty="0"/>
          </a:p>
          <a:p>
            <a:r>
              <a:rPr lang="en-US" b="1" dirty="0"/>
              <a:t>Memory protection</a:t>
            </a:r>
            <a:endParaRPr lang="en-US" dirty="0"/>
          </a:p>
          <a:p>
            <a:r>
              <a:rPr lang="en-US" b="1" dirty="0"/>
              <a:t>Relocation</a:t>
            </a:r>
            <a:endParaRPr lang="en-US" dirty="0"/>
          </a:p>
          <a:p>
            <a:r>
              <a:rPr lang="en-US" b="1" dirty="0"/>
              <a:t>Paging &amp; segmentation</a:t>
            </a:r>
            <a:endParaRPr lang="en-US" dirty="0"/>
          </a:p>
          <a:p>
            <a:r>
              <a:rPr lang="en-US" b="1" dirty="0"/>
              <a:t>Swapping support</a:t>
            </a:r>
            <a:endParaRPr lang="en-US" dirty="0"/>
          </a:p>
          <a:p>
            <a:r>
              <a:rPr lang="en-US" b="1" dirty="0"/>
              <a:t>Isolation between processes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Without MMU, CPU would directly use physical addresses → no security, no virtual memory.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Memory Management Unit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9430" y="1373188"/>
            <a:ext cx="6722570" cy="432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65017" y="1280843"/>
            <a:ext cx="480441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 executes an instruction that references address 346 — this is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logical address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(an offset within the program’s address space).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MMU reads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relocation/base register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 = 14000. That value is the physical address where the process’s logical address 0 is mapped.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MMUcomputes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 address = Base + Logical → 14000 + 346 = 14346.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memory system uses physical address 14346 to fetch/store the requested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Memory Management Requirements</a:t>
            </a:r>
            <a:endParaRPr lang="en-US" dirty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Relocation</a:t>
            </a:r>
          </a:p>
          <a:p>
            <a:r>
              <a:rPr lang="en-US" dirty="0"/>
              <a:t>Main memory is shared between processes</a:t>
            </a:r>
          </a:p>
          <a:p>
            <a:r>
              <a:rPr lang="en-US" dirty="0"/>
              <a:t>Swap active processes in and out to provide large pool of ready processes</a:t>
            </a:r>
          </a:p>
          <a:p>
            <a:pPr lvl="1"/>
            <a:r>
              <a:rPr lang="en-US" dirty="0"/>
              <a:t>Quite difficult to declare when swapped out process will be placed back</a:t>
            </a:r>
          </a:p>
          <a:p>
            <a:r>
              <a:rPr lang="en-US" dirty="0"/>
              <a:t>A process image occupies a contiguous region of main memory</a:t>
            </a:r>
          </a:p>
          <a:p>
            <a:r>
              <a:rPr lang="en-US" dirty="0"/>
              <a:t>To run this process, the processor hardware and operating system must be able to translate the memory reference found in code, into physical memory address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Memory Management Requirements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2. Protection</a:t>
            </a:r>
          </a:p>
          <a:p>
            <a:r>
              <a:rPr lang="en-US" dirty="0"/>
              <a:t>Each process must be protected by unwanted interference by other processes</a:t>
            </a:r>
          </a:p>
          <a:p>
            <a:r>
              <a:rPr lang="en-US" dirty="0"/>
              <a:t>Without prior permission, a process should not refer to other process</a:t>
            </a:r>
          </a:p>
          <a:p>
            <a:r>
              <a:rPr lang="en-US" dirty="0"/>
              <a:t>All memory references generated by a process must be checked at run time</a:t>
            </a:r>
          </a:p>
          <a:p>
            <a:pPr lvl="1"/>
            <a:r>
              <a:rPr lang="en-US" dirty="0"/>
              <a:t>to ensure that they refer only to the allocated memory space</a:t>
            </a:r>
          </a:p>
          <a:p>
            <a:pPr lvl="1"/>
            <a:r>
              <a:rPr lang="en-US" dirty="0"/>
              <a:t>The processor must abort such instructions when executed</a:t>
            </a:r>
          </a:p>
          <a:p>
            <a:r>
              <a:rPr lang="en-US" dirty="0"/>
              <a:t>Thus, the memory protection requirement must be satisfied by the processor (hardware) rather than operating system</a:t>
            </a:r>
          </a:p>
          <a:p>
            <a:pPr lvl="1"/>
            <a:r>
              <a:rPr lang="en-US" dirty="0"/>
              <a:t>Since OS cannot anticipate all the memory references a program will make</a:t>
            </a:r>
          </a:p>
          <a:p>
            <a:pPr lvl="1"/>
            <a:r>
              <a:rPr lang="en-US" dirty="0"/>
              <a:t>Even if such participations are possible, it would be prohibitively time consuming to screen each program in advance for possible memory reference violation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Memory Management Requirements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3. Sharing</a:t>
            </a:r>
          </a:p>
          <a:p>
            <a:r>
              <a:rPr lang="en-US" dirty="0"/>
              <a:t>Allow several processes to access the same area of main memory</a:t>
            </a:r>
          </a:p>
          <a:p>
            <a:r>
              <a:rPr lang="en-US" dirty="0"/>
              <a:t>Processes that are cooperating on some tasks may need to share access the same data structure</a:t>
            </a:r>
          </a:p>
          <a:p>
            <a:r>
              <a:rPr lang="en-US" dirty="0"/>
              <a:t>Allow controlled access to share areas of main memory without compromising essential protection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Memory Management Requirements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Local organization</a:t>
            </a:r>
          </a:p>
          <a:p>
            <a:r>
              <a:rPr lang="en-US" dirty="0"/>
              <a:t>Main memory is organized as a linear or one-dimensional address space that consist of a sequence of bytes or words</a:t>
            </a:r>
          </a:p>
          <a:p>
            <a:r>
              <a:rPr lang="en-US" dirty="0"/>
              <a:t>Secondary memory at its physical level is similarly organized</a:t>
            </a:r>
          </a:p>
          <a:p>
            <a:r>
              <a:rPr lang="en-US" dirty="0"/>
              <a:t>It does not correspond to the way programs are constructed</a:t>
            </a:r>
          </a:p>
          <a:p>
            <a:r>
              <a:rPr lang="en-US" dirty="0"/>
              <a:t>Mostly programs are organized into modules</a:t>
            </a:r>
          </a:p>
          <a:p>
            <a:pPr lvl="1"/>
            <a:r>
              <a:rPr lang="en-US" dirty="0"/>
              <a:t>Some of which are un-modifiable (read or executable only)</a:t>
            </a:r>
          </a:p>
          <a:p>
            <a:pPr lvl="1"/>
            <a:r>
              <a:rPr lang="en-US" dirty="0"/>
              <a:t>Some of which contain that can be modified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Memory Management Requirements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Physical organization</a:t>
            </a:r>
          </a:p>
          <a:p>
            <a:r>
              <a:rPr lang="en-US" dirty="0"/>
              <a:t>Secondary memory of large capacity provides long term storage of program and data</a:t>
            </a:r>
          </a:p>
          <a:p>
            <a:r>
              <a:rPr lang="en-US" dirty="0"/>
              <a:t>While a smaller main memory holds programs and data currently in use</a:t>
            </a:r>
          </a:p>
          <a:p>
            <a:r>
              <a:rPr lang="en-US" dirty="0"/>
              <a:t>The organization of flow of information between main memory and secondary memory is a major system concern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Program Loading into Memory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The core task of any memory management system is to bring and manage programs in main memory</a:t>
            </a:r>
          </a:p>
          <a:p>
            <a:r>
              <a:rPr lang="en-US"/>
              <a:t>In almost all modern multiprogramming systems, this task involves sophisticated scheme known as virtual memory</a:t>
            </a:r>
          </a:p>
          <a:p>
            <a:r>
              <a:rPr lang="en-US"/>
              <a:t>Virtual memory is in turn based on the use of one or both of two basic techniques</a:t>
            </a:r>
          </a:p>
          <a:p>
            <a:pPr lvl="1"/>
            <a:r>
              <a:rPr lang="en-US"/>
              <a:t>Segmentation</a:t>
            </a:r>
          </a:p>
          <a:p>
            <a:pPr lvl="1"/>
            <a:r>
              <a:rPr lang="en-US"/>
              <a:t>Paging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Memory Management Techniques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Different schemes used in operating systems to allocate memory to processes</a:t>
            </a:r>
          </a:p>
          <a:p>
            <a:r>
              <a:rPr lang="en-US" dirty="0"/>
              <a:t>Contiguous Memory Allocation </a:t>
            </a:r>
          </a:p>
          <a:p>
            <a:pPr lvl="1"/>
            <a:r>
              <a:rPr lang="en-US" dirty="0"/>
              <a:t>Single process system</a:t>
            </a:r>
          </a:p>
          <a:p>
            <a:pPr lvl="1"/>
            <a:r>
              <a:rPr lang="en-US" dirty="0"/>
              <a:t>Fixed size (static) partition memory</a:t>
            </a:r>
          </a:p>
          <a:p>
            <a:pPr lvl="1"/>
            <a:r>
              <a:rPr lang="en-US" dirty="0"/>
              <a:t>Variable sized (dynamic) partition memory</a:t>
            </a:r>
          </a:p>
          <a:p>
            <a:r>
              <a:rPr lang="en-US" dirty="0"/>
              <a:t>Non-contiguous Memory Allocation</a:t>
            </a:r>
          </a:p>
          <a:p>
            <a:pPr lvl="1"/>
            <a:r>
              <a:rPr lang="en-US" dirty="0"/>
              <a:t>Paging </a:t>
            </a:r>
          </a:p>
          <a:p>
            <a:pPr lvl="1"/>
            <a:r>
              <a:rPr lang="en-US" dirty="0"/>
              <a:t>Segmentation</a:t>
            </a:r>
          </a:p>
          <a:p>
            <a:pPr lvl="1"/>
            <a:r>
              <a:rPr lang="en-US" dirty="0"/>
              <a:t>Variations of above</a:t>
            </a:r>
          </a:p>
          <a:p>
            <a:pPr lvl="2"/>
            <a:r>
              <a:rPr lang="en-US" dirty="0"/>
              <a:t>Paged segmentation</a:t>
            </a:r>
          </a:p>
          <a:p>
            <a:pPr lvl="2"/>
            <a:r>
              <a:rPr lang="en-US" dirty="0"/>
              <a:t>Demand paging</a:t>
            </a:r>
          </a:p>
          <a:p>
            <a:pPr lvl="2"/>
            <a:r>
              <a:rPr lang="en-US" dirty="0"/>
              <a:t>Demand segmentation</a:t>
            </a:r>
          </a:p>
          <a:p>
            <a:pPr lvl="2"/>
            <a:r>
              <a:rPr lang="en-US" dirty="0"/>
              <a:t>Virtual memory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E392-AD12-4541-898B-3A9DEF39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Contiguous Memory Allocation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BB3E1-3322-4DAF-94DC-48C3D0F66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67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632B-81F4-494E-86BC-7962F0D86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 dirty="0"/>
              <a:t>Single Process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2846-BD7D-4461-9000-7C53C1019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5"/>
            <a:ext cx="8001000" cy="4937125"/>
          </a:xfrm>
        </p:spPr>
        <p:txBody>
          <a:bodyPr>
            <a:normAutofit/>
          </a:bodyPr>
          <a:lstStyle/>
          <a:p>
            <a:r>
              <a:rPr lang="en-US" dirty="0"/>
              <a:t>Memory is divided into two partitions</a:t>
            </a:r>
          </a:p>
          <a:p>
            <a:pPr lvl="1"/>
            <a:r>
              <a:rPr lang="en-US" dirty="0"/>
              <a:t>One for user process and</a:t>
            </a:r>
          </a:p>
          <a:p>
            <a:pPr lvl="1"/>
            <a:r>
              <a:rPr lang="en-US" dirty="0"/>
              <a:t>One for the operating system</a:t>
            </a:r>
          </a:p>
          <a:p>
            <a:r>
              <a:rPr lang="en-US" dirty="0"/>
              <a:t>Most common to place the operating system in low memory</a:t>
            </a:r>
          </a:p>
          <a:p>
            <a:r>
              <a:rPr lang="en-US" dirty="0"/>
              <a:t>Run one process at a time in high memory</a:t>
            </a:r>
          </a:p>
          <a:p>
            <a:r>
              <a:rPr lang="en-US" dirty="0"/>
              <a:t>Memory management is very simple</a:t>
            </a:r>
          </a:p>
          <a:p>
            <a:r>
              <a:rPr lang="en-US" dirty="0"/>
              <a:t>Example;</a:t>
            </a:r>
          </a:p>
          <a:p>
            <a:pPr lvl="1"/>
            <a:r>
              <a:rPr lang="en-US" dirty="0"/>
              <a:t>MS-DOS system is an example of this system</a:t>
            </a:r>
          </a:p>
        </p:txBody>
      </p:sp>
      <p:grpSp>
        <p:nvGrpSpPr>
          <p:cNvPr id="4" name="Group 7">
            <a:extLst>
              <a:ext uri="{FF2B5EF4-FFF2-40B4-BE49-F238E27FC236}">
                <a16:creationId xmlns:a16="http://schemas.microsoft.com/office/drawing/2014/main" id="{FE17DF56-7A65-441A-8D68-A27B57BA937B}"/>
              </a:ext>
            </a:extLst>
          </p:cNvPr>
          <p:cNvGrpSpPr>
            <a:grpSpLocks/>
          </p:cNvGrpSpPr>
          <p:nvPr/>
        </p:nvGrpSpPr>
        <p:grpSpPr bwMode="auto">
          <a:xfrm>
            <a:off x="9699009" y="2211387"/>
            <a:ext cx="1450848" cy="3352800"/>
            <a:chOff x="4848" y="1728"/>
            <a:chExt cx="720" cy="177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BAAB71-4567-4792-A84F-D4EC5E8B9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1728"/>
              <a:ext cx="720" cy="384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>
                  <a:latin typeface="Calibri" pitchFamily="34" charset="0"/>
                </a:rPr>
                <a:t>Unused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145D79-2A66-4E23-817E-D45EF53EA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640"/>
              <a:ext cx="720" cy="864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Operating</a:t>
              </a:r>
            </a:p>
            <a:p>
              <a:pPr algn="ctr"/>
              <a:r>
                <a:rPr lang="en-US" dirty="0">
                  <a:latin typeface="Calibri" pitchFamily="34" charset="0"/>
                </a:rPr>
                <a:t>system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01376E-F510-4334-963F-2D95FD467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112"/>
              <a:ext cx="720" cy="528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>
                  <a:latin typeface="Calibri" pitchFamily="34" charset="0"/>
                </a:rPr>
                <a:t>User</a:t>
              </a:r>
            </a:p>
            <a:p>
              <a:pPr algn="ctr"/>
              <a:r>
                <a:rPr lang="en-US">
                  <a:latin typeface="Calibri" pitchFamily="34" charset="0"/>
                </a:rPr>
                <a:t>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4990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Fixed Sized Partition Memory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Memory is divided into several fixed partitions</a:t>
            </a:r>
          </a:p>
          <a:p>
            <a:r>
              <a:rPr lang="en-US" dirty="0"/>
              <a:t>Each partition may contain exactly one process</a:t>
            </a:r>
          </a:p>
          <a:p>
            <a:r>
              <a:rPr lang="en-US" dirty="0"/>
              <a:t>When partition is free, another process is loaded into free partition</a:t>
            </a:r>
          </a:p>
          <a:p>
            <a:r>
              <a:rPr lang="en-US" dirty="0"/>
              <a:t>Waste considerable amount of main memory when processes are smaller than allocated partition</a:t>
            </a:r>
          </a:p>
          <a:p>
            <a:pPr lvl="1"/>
            <a:r>
              <a:rPr lang="en-US" dirty="0"/>
              <a:t>Called internal fragmentation</a:t>
            </a:r>
          </a:p>
          <a:p>
            <a:r>
              <a:rPr lang="en-US" dirty="0"/>
              <a:t>First employed in multiprogramming computers</a:t>
            </a:r>
          </a:p>
          <a:p>
            <a:r>
              <a:rPr lang="en-US" dirty="0"/>
              <a:t>Used in IBM OS/360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Prevent a process being run due to unavailability of sufficient size partition</a:t>
            </a:r>
          </a:p>
          <a:p>
            <a:pPr lvl="1"/>
            <a:r>
              <a:rPr lang="en-US" dirty="0"/>
              <a:t>Internal fragmentation wastes space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1" name="Rectangle 10"/>
          <p:cNvSpPr>
            <a:spLocks noChangeArrowheads="1"/>
          </p:cNvSpPr>
          <p:nvPr/>
        </p:nvSpPr>
        <p:spPr bwMode="auto">
          <a:xfrm>
            <a:off x="4495800" y="1447800"/>
            <a:ext cx="2133600" cy="1600200"/>
          </a:xfrm>
          <a:prstGeom prst="rect">
            <a:avLst/>
          </a:prstGeom>
          <a:ln>
            <a:solidFill>
              <a:srgbClr val="C00000"/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Fixed Sized Partition Memory</a:t>
            </a: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4495800" y="3048000"/>
            <a:ext cx="2133600" cy="1219200"/>
          </a:xfrm>
          <a:prstGeom prst="rect">
            <a:avLst/>
          </a:prstGeom>
          <a:ln>
            <a:solidFill>
              <a:srgbClr val="C00000"/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auto">
          <a:xfrm>
            <a:off x="4495800" y="3429000"/>
            <a:ext cx="1905000" cy="8382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b="1">
                <a:latin typeface="Calibri" pitchFamily="34" charset="0"/>
              </a:rPr>
              <a:t>Process B</a:t>
            </a:r>
          </a:p>
          <a:p>
            <a:pPr algn="ctr"/>
            <a:r>
              <a:rPr lang="en-US">
                <a:latin typeface="Calibri" pitchFamily="34" charset="0"/>
              </a:rPr>
              <a:t>200 K</a:t>
            </a:r>
          </a:p>
        </p:txBody>
      </p:sp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4495800" y="5257800"/>
            <a:ext cx="2133600" cy="5334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Operating System</a:t>
            </a:r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auto">
          <a:xfrm>
            <a:off x="4495800" y="4267200"/>
            <a:ext cx="2133600" cy="990600"/>
          </a:xfrm>
          <a:prstGeom prst="rect">
            <a:avLst/>
          </a:prstGeom>
          <a:ln>
            <a:solidFill>
              <a:srgbClr val="C00000"/>
            </a:soli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0729" name="Rectangle 8"/>
          <p:cNvSpPr>
            <a:spLocks noChangeArrowheads="1"/>
          </p:cNvSpPr>
          <p:nvPr/>
        </p:nvSpPr>
        <p:spPr bwMode="auto">
          <a:xfrm>
            <a:off x="4495800" y="4572000"/>
            <a:ext cx="1905000" cy="6858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b="1">
                <a:latin typeface="Calibri" pitchFamily="34" charset="0"/>
              </a:rPr>
              <a:t>Process A</a:t>
            </a:r>
          </a:p>
          <a:p>
            <a:pPr algn="ctr"/>
            <a:r>
              <a:rPr lang="en-US">
                <a:latin typeface="Calibri" pitchFamily="34" charset="0"/>
              </a:rPr>
              <a:t>150 K</a:t>
            </a:r>
          </a:p>
        </p:txBody>
      </p:sp>
      <p:sp>
        <p:nvSpPr>
          <p:cNvPr id="30730" name="Rectangle 9"/>
          <p:cNvSpPr>
            <a:spLocks noChangeArrowheads="1"/>
          </p:cNvSpPr>
          <p:nvPr/>
        </p:nvSpPr>
        <p:spPr bwMode="auto">
          <a:xfrm>
            <a:off x="4495800" y="1828800"/>
            <a:ext cx="1905000" cy="12192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b="1">
                <a:latin typeface="Calibri" pitchFamily="34" charset="0"/>
              </a:rPr>
              <a:t>Process C</a:t>
            </a:r>
          </a:p>
          <a:p>
            <a:pPr algn="ctr"/>
            <a:r>
              <a:rPr lang="en-US">
                <a:latin typeface="Calibri" pitchFamily="34" charset="0"/>
              </a:rPr>
              <a:t>300 K</a:t>
            </a:r>
          </a:p>
        </p:txBody>
      </p:sp>
      <p:sp>
        <p:nvSpPr>
          <p:cNvPr id="30732" name="Text Box 11"/>
          <p:cNvSpPr txBox="1">
            <a:spLocks noChangeArrowheads="1"/>
          </p:cNvSpPr>
          <p:nvPr/>
        </p:nvSpPr>
        <p:spPr bwMode="auto">
          <a:xfrm>
            <a:off x="3352800" y="4052888"/>
            <a:ext cx="1143000" cy="366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300 K</a:t>
            </a:r>
          </a:p>
        </p:txBody>
      </p:sp>
      <p:sp>
        <p:nvSpPr>
          <p:cNvPr id="30733" name="Text Box 12"/>
          <p:cNvSpPr txBox="1">
            <a:spLocks noChangeArrowheads="1"/>
          </p:cNvSpPr>
          <p:nvPr/>
        </p:nvSpPr>
        <p:spPr bwMode="auto">
          <a:xfrm>
            <a:off x="3352800" y="5638801"/>
            <a:ext cx="114300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0 K</a:t>
            </a:r>
          </a:p>
        </p:txBody>
      </p:sp>
      <p:sp>
        <p:nvSpPr>
          <p:cNvPr id="30734" name="Text Box 13"/>
          <p:cNvSpPr txBox="1">
            <a:spLocks noChangeArrowheads="1"/>
          </p:cNvSpPr>
          <p:nvPr/>
        </p:nvSpPr>
        <p:spPr bwMode="auto">
          <a:xfrm>
            <a:off x="3352800" y="1371601"/>
            <a:ext cx="114300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1000 K</a:t>
            </a:r>
          </a:p>
        </p:txBody>
      </p:sp>
      <p:sp>
        <p:nvSpPr>
          <p:cNvPr id="30735" name="Text Box 14"/>
          <p:cNvSpPr txBox="1">
            <a:spLocks noChangeArrowheads="1"/>
          </p:cNvSpPr>
          <p:nvPr/>
        </p:nvSpPr>
        <p:spPr bwMode="auto">
          <a:xfrm>
            <a:off x="3276600" y="5105401"/>
            <a:ext cx="114300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100 K</a:t>
            </a:r>
          </a:p>
        </p:txBody>
      </p:sp>
      <p:sp>
        <p:nvSpPr>
          <p:cNvPr id="30736" name="Text Box 15"/>
          <p:cNvSpPr txBox="1">
            <a:spLocks noChangeArrowheads="1"/>
          </p:cNvSpPr>
          <p:nvPr/>
        </p:nvSpPr>
        <p:spPr bwMode="auto">
          <a:xfrm>
            <a:off x="3352800" y="2909888"/>
            <a:ext cx="1143000" cy="366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600 K</a:t>
            </a:r>
          </a:p>
        </p:txBody>
      </p:sp>
      <p:sp>
        <p:nvSpPr>
          <p:cNvPr id="30737" name="Text Box 16"/>
          <p:cNvSpPr txBox="1">
            <a:spLocks noChangeArrowheads="1"/>
          </p:cNvSpPr>
          <p:nvPr/>
        </p:nvSpPr>
        <p:spPr bwMode="auto">
          <a:xfrm>
            <a:off x="6781800" y="2047070"/>
            <a:ext cx="2895600" cy="286232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Partition 3 = 400 K</a:t>
            </a:r>
          </a:p>
          <a:p>
            <a:pPr algn="l">
              <a:spcBef>
                <a:spcPct val="50000"/>
              </a:spcBef>
            </a:pPr>
            <a:endParaRPr lang="en-US" dirty="0">
              <a:latin typeface="Calibri" pitchFamily="34" charset="0"/>
            </a:endParaRPr>
          </a:p>
          <a:p>
            <a:pPr algn="l">
              <a:spcBef>
                <a:spcPct val="50000"/>
              </a:spcBef>
            </a:pPr>
            <a:endParaRPr lang="en-US" dirty="0">
              <a:latin typeface="Calibri" pitchFamily="34" charset="0"/>
            </a:endParaRPr>
          </a:p>
          <a:p>
            <a:pPr algn="l">
              <a:spcBef>
                <a:spcPct val="50000"/>
              </a:spcBef>
            </a:pPr>
            <a:endParaRPr lang="en-US" dirty="0">
              <a:latin typeface="Calibri" pitchFamily="34" charset="0"/>
            </a:endParaRPr>
          </a:p>
          <a:p>
            <a:pPr algn="l"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Partition 2 = 300 K</a:t>
            </a:r>
          </a:p>
          <a:p>
            <a:pPr algn="l">
              <a:spcBef>
                <a:spcPct val="50000"/>
              </a:spcBef>
            </a:pPr>
            <a:endParaRPr lang="en-US" dirty="0">
              <a:latin typeface="Calibri" pitchFamily="34" charset="0"/>
            </a:endParaRPr>
          </a:p>
          <a:p>
            <a:pPr algn="l"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Partition 1 = 200 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Variable-Sized Partition Memory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processes would be given as much storage as they required </a:t>
            </a:r>
          </a:p>
          <a:p>
            <a:r>
              <a:rPr lang="en-US" dirty="0"/>
              <a:t>Processes are loaded into consecutive areas until the memory is filled</a:t>
            </a:r>
          </a:p>
          <a:p>
            <a:r>
              <a:rPr lang="en-US" dirty="0"/>
              <a:t>When a partition is free, another process is loaded into free partition</a:t>
            </a:r>
          </a:p>
          <a:p>
            <a:r>
              <a:rPr lang="en-US" dirty="0"/>
              <a:t>External fragmentation</a:t>
            </a:r>
          </a:p>
          <a:p>
            <a:pPr lvl="1"/>
            <a:r>
              <a:rPr lang="en-US" dirty="0"/>
              <a:t>It refers to the distribution of the free memory space, out-with any process allocation</a:t>
            </a:r>
          </a:p>
          <a:p>
            <a:r>
              <a:rPr lang="en-US" dirty="0"/>
              <a:t>What are the problems here?</a:t>
            </a:r>
          </a:p>
          <a:p>
            <a:pPr lvl="1"/>
            <a:r>
              <a:rPr lang="en-US" dirty="0"/>
              <a:t>What if the size of the vacant partition(s) is smaller than the size of the incoming process?</a:t>
            </a:r>
          </a:p>
          <a:p>
            <a:pPr lvl="1"/>
            <a:r>
              <a:rPr lang="en-US" dirty="0"/>
              <a:t>A new process cannot be started</a:t>
            </a:r>
          </a:p>
          <a:p>
            <a:r>
              <a:rPr lang="en-US" dirty="0"/>
              <a:t>Solution</a:t>
            </a:r>
          </a:p>
          <a:p>
            <a:pPr lvl="1"/>
            <a:r>
              <a:rPr lang="en-US" dirty="0"/>
              <a:t>Coalescing</a:t>
            </a:r>
          </a:p>
          <a:p>
            <a:pPr lvl="2"/>
            <a:r>
              <a:rPr lang="en-US" dirty="0"/>
              <a:t>It refers to combine two or more adjacent holes to accommodate a large incoming process </a:t>
            </a:r>
          </a:p>
          <a:p>
            <a:pPr lvl="2"/>
            <a:r>
              <a:rPr lang="en-US" dirty="0"/>
              <a:t>Difficulty: Coalescing is a time-consuming procedure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Variable-Sized Partition Memory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/>
              <a:t>Variable partition scheme has been used successfully in many computers</a:t>
            </a:r>
          </a:p>
          <a:p>
            <a:r>
              <a:rPr lang="en-US"/>
              <a:t>Overheads</a:t>
            </a:r>
          </a:p>
          <a:p>
            <a:pPr lvl="1"/>
            <a:r>
              <a:rPr lang="en-US"/>
              <a:t>In variable partition, the system must keep track of </a:t>
            </a:r>
          </a:p>
          <a:p>
            <a:pPr lvl="2"/>
            <a:r>
              <a:rPr lang="en-US"/>
              <a:t>the position</a:t>
            </a:r>
          </a:p>
          <a:p>
            <a:pPr lvl="2"/>
            <a:r>
              <a:rPr lang="en-US"/>
              <a:t>size of each hole</a:t>
            </a:r>
          </a:p>
          <a:p>
            <a:pPr lvl="2"/>
            <a:r>
              <a:rPr lang="en-US"/>
              <a:t>taking account of the effect of coalescing</a:t>
            </a:r>
          </a:p>
          <a:p>
            <a:pPr lvl="1"/>
            <a:r>
              <a:rPr lang="en-US"/>
              <a:t>The solution is to use linked list, which contains</a:t>
            </a:r>
          </a:p>
          <a:p>
            <a:pPr lvl="2"/>
            <a:r>
              <a:rPr lang="en-US"/>
              <a:t>Pointer to the start of each hole and</a:t>
            </a:r>
          </a:p>
          <a:p>
            <a:pPr lvl="2"/>
            <a:r>
              <a:rPr lang="en-US"/>
              <a:t>The hole size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Variable-Sized Partition Memory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 dirty="0"/>
              <a:t>Variable-sized partition with compaction</a:t>
            </a:r>
          </a:p>
          <a:p>
            <a:pPr lvl="1"/>
            <a:r>
              <a:rPr lang="en-US" dirty="0"/>
              <a:t>Compaction is a process of physically moving memory resident processes to close-up the holes</a:t>
            </a:r>
          </a:p>
          <a:p>
            <a:pPr lvl="1"/>
            <a:r>
              <a:rPr lang="en-US" dirty="0"/>
              <a:t>Difficulty;</a:t>
            </a:r>
          </a:p>
          <a:p>
            <a:pPr lvl="2"/>
            <a:r>
              <a:rPr lang="en-US" dirty="0"/>
              <a:t>It is a time-consuming procedure</a:t>
            </a:r>
          </a:p>
          <a:p>
            <a:pPr lvl="1"/>
            <a:r>
              <a:rPr lang="en-US" dirty="0"/>
              <a:t>All processes are suspended while reshuffling takes place</a:t>
            </a:r>
          </a:p>
          <a:p>
            <a:pPr lvl="1"/>
            <a:r>
              <a:rPr lang="en-US" dirty="0"/>
              <a:t>Not feasible in time critical system</a:t>
            </a:r>
          </a:p>
          <a:p>
            <a:pPr lvl="1"/>
            <a:r>
              <a:rPr lang="en-US" dirty="0"/>
              <a:t>Compaction may be performed</a:t>
            </a:r>
          </a:p>
          <a:p>
            <a:pPr lvl="2"/>
            <a:r>
              <a:rPr lang="en-US" dirty="0"/>
              <a:t>As soon as any process terminates</a:t>
            </a:r>
          </a:p>
          <a:p>
            <a:pPr lvl="2"/>
            <a:r>
              <a:rPr lang="en-US" dirty="0"/>
              <a:t>When new process cannot load due to fragmentation</a:t>
            </a:r>
          </a:p>
          <a:p>
            <a:pPr lvl="2"/>
            <a:r>
              <a:rPr lang="en-US" dirty="0"/>
              <a:t>At fixed intervals</a:t>
            </a:r>
          </a:p>
          <a:p>
            <a:pPr lvl="2"/>
            <a:r>
              <a:rPr lang="en-US" dirty="0"/>
              <a:t>When the user decide to do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Storage Management Strategies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Storage management strategies are used to obtain best possible use of main memory</a:t>
            </a:r>
          </a:p>
          <a:p>
            <a:r>
              <a:rPr lang="en-US"/>
              <a:t>The strategies are divided into following categories</a:t>
            </a:r>
          </a:p>
          <a:p>
            <a:pPr lvl="1"/>
            <a:r>
              <a:rPr lang="en-US"/>
              <a:t>Fetch strategies</a:t>
            </a:r>
          </a:p>
          <a:p>
            <a:pPr lvl="1"/>
            <a:r>
              <a:rPr lang="en-US"/>
              <a:t>Placement strategies</a:t>
            </a:r>
          </a:p>
          <a:p>
            <a:pPr lvl="1"/>
            <a:r>
              <a:rPr lang="en-US"/>
              <a:t>Replacement strategies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Storage Management Strategies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Fetch Strategies</a:t>
            </a:r>
          </a:p>
          <a:p>
            <a:r>
              <a:rPr lang="en-US" dirty="0"/>
              <a:t>When to obtain the next process for transfer to main memory from secondary memory</a:t>
            </a:r>
          </a:p>
          <a:p>
            <a:r>
              <a:rPr lang="en-US" dirty="0"/>
              <a:t>It could be done by</a:t>
            </a:r>
          </a:p>
          <a:p>
            <a:pPr lvl="1"/>
            <a:r>
              <a:rPr lang="en-US" dirty="0"/>
              <a:t>Demand fetch strategies</a:t>
            </a:r>
          </a:p>
          <a:p>
            <a:pPr lvl="2"/>
            <a:r>
              <a:rPr lang="en-US" dirty="0"/>
              <a:t>In this next process is brought to main memory when it is referenced by running program</a:t>
            </a:r>
          </a:p>
          <a:p>
            <a:pPr lvl="1"/>
            <a:r>
              <a:rPr lang="en-US" dirty="0"/>
              <a:t>Anticipatory fetch strategies</a:t>
            </a:r>
          </a:p>
          <a:p>
            <a:pPr lvl="2"/>
            <a:r>
              <a:rPr lang="en-US" dirty="0"/>
              <a:t>In this system predicts program’s needs and attempt to load the appropriate process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Storage Management Strategies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Placement Strategies</a:t>
            </a:r>
          </a:p>
          <a:p>
            <a:r>
              <a:rPr lang="en-US" dirty="0"/>
              <a:t>Placement strategies concerned with determining where in main memory to place an incoming process</a:t>
            </a:r>
          </a:p>
          <a:p>
            <a:r>
              <a:rPr lang="en-US" dirty="0"/>
              <a:t>Three placement strategies are;</a:t>
            </a:r>
          </a:p>
          <a:p>
            <a:pPr lvl="1"/>
            <a:r>
              <a:rPr lang="en-US" dirty="0"/>
              <a:t>Best fit</a:t>
            </a:r>
          </a:p>
          <a:p>
            <a:pPr lvl="2"/>
            <a:r>
              <a:rPr lang="en-US" dirty="0"/>
              <a:t>Places the process in smallest of the available holes</a:t>
            </a:r>
          </a:p>
          <a:p>
            <a:pPr lvl="2"/>
            <a:r>
              <a:rPr lang="en-US" dirty="0"/>
              <a:t>Intuitively appealing</a:t>
            </a:r>
          </a:p>
          <a:p>
            <a:pPr lvl="1"/>
            <a:r>
              <a:rPr lang="en-US" dirty="0"/>
              <a:t>First fit</a:t>
            </a:r>
          </a:p>
          <a:p>
            <a:pPr lvl="2"/>
            <a:r>
              <a:rPr lang="en-US" dirty="0"/>
              <a:t>Places the process in first available hole, which is large enough to hold it</a:t>
            </a:r>
          </a:p>
          <a:p>
            <a:pPr lvl="2"/>
            <a:r>
              <a:rPr lang="en-US" dirty="0"/>
              <a:t>Low overheads</a:t>
            </a:r>
          </a:p>
          <a:p>
            <a:pPr lvl="1"/>
            <a:r>
              <a:rPr lang="en-US" dirty="0"/>
              <a:t>Worst fit</a:t>
            </a:r>
          </a:p>
          <a:p>
            <a:pPr lvl="2"/>
            <a:r>
              <a:rPr lang="en-US" dirty="0"/>
              <a:t>Places the process in the largest available hole</a:t>
            </a:r>
          </a:p>
          <a:p>
            <a:pPr lvl="2"/>
            <a:r>
              <a:rPr lang="en-US" dirty="0"/>
              <a:t>Another process can be accommodated if hole is big enough</a:t>
            </a:r>
          </a:p>
          <a:p>
            <a:r>
              <a:rPr lang="en-US" dirty="0"/>
              <a:t>Example;</a:t>
            </a:r>
          </a:p>
          <a:p>
            <a:pPr lvl="1"/>
            <a:r>
              <a:rPr lang="en-US" dirty="0"/>
              <a:t>A variable partition memory with hole sizes in order 20k, 15k, 40k, 60k, 10k, 25k</a:t>
            </a:r>
          </a:p>
          <a:p>
            <a:pPr lvl="1"/>
            <a:r>
              <a:rPr lang="en-US" dirty="0"/>
              <a:t>What if a new process of 25k is to be loaded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Storage Management Strategies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Replacement Strategies</a:t>
            </a:r>
          </a:p>
          <a:p>
            <a:r>
              <a:rPr lang="en-US" dirty="0"/>
              <a:t>They are concerned with determining which process to displace to make room for incoming process</a:t>
            </a:r>
          </a:p>
          <a:p>
            <a:r>
              <a:rPr lang="en-US" dirty="0"/>
              <a:t>Decision is made on different factors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40A0-8DEC-4CC7-AEDB-466C99CB1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Non-contiguous Memory Allocation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62349-6CB1-4777-B687-9FE5049F7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Paging &amp; Segmentation</a:t>
            </a:r>
          </a:p>
        </p:txBody>
      </p:sp>
    </p:spTree>
    <p:extLst>
      <p:ext uri="{BB962C8B-B14F-4D97-AF65-F5344CB8AC3E}">
        <p14:creationId xmlns:p14="http://schemas.microsoft.com/office/powerpoint/2010/main" val="3863809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Paging</a:t>
            </a:r>
            <a:endParaRPr lang="en-US" dirty="0"/>
          </a:p>
        </p:txBody>
      </p:sp>
      <p:sp>
        <p:nvSpPr>
          <p:cNvPr id="3891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dirty="0"/>
              <a:t>Fixed sized and variable sized partitions are insufficient due to</a:t>
            </a:r>
          </a:p>
          <a:p>
            <a:pPr lvl="1"/>
            <a:r>
              <a:rPr lang="en-US" dirty="0"/>
              <a:t>Internal fragmentation</a:t>
            </a:r>
          </a:p>
          <a:p>
            <a:pPr lvl="1"/>
            <a:r>
              <a:rPr lang="en-US" dirty="0"/>
              <a:t>External fragmentation</a:t>
            </a:r>
          </a:p>
          <a:p>
            <a:r>
              <a:rPr lang="en-US" dirty="0"/>
              <a:t>Paging removes these problems</a:t>
            </a:r>
          </a:p>
          <a:p>
            <a:pPr lvl="1"/>
            <a:r>
              <a:rPr lang="en-US" dirty="0"/>
              <a:t>Main memory is partitioned into equal fixed-size chunks called </a:t>
            </a:r>
            <a:r>
              <a:rPr lang="en-US" b="1" dirty="0"/>
              <a:t>frames</a:t>
            </a:r>
          </a:p>
          <a:p>
            <a:pPr lvl="1"/>
            <a:r>
              <a:rPr lang="en-US" dirty="0"/>
              <a:t>Relatively small in size</a:t>
            </a:r>
          </a:p>
          <a:p>
            <a:pPr lvl="1"/>
            <a:r>
              <a:rPr lang="en-US" dirty="0"/>
              <a:t>Each process is also divided into fixed size chunks called </a:t>
            </a:r>
            <a:r>
              <a:rPr lang="en-US" b="1" dirty="0"/>
              <a:t>pages</a:t>
            </a:r>
          </a:p>
          <a:p>
            <a:pPr lvl="1"/>
            <a:r>
              <a:rPr lang="en-US" dirty="0"/>
              <a:t>Same size as memory frames</a:t>
            </a:r>
          </a:p>
          <a:p>
            <a:pPr lvl="1"/>
            <a:r>
              <a:rPr lang="en-US" dirty="0"/>
              <a:t>Page size is typically power of 2 (typically 4K-8K)</a:t>
            </a:r>
          </a:p>
          <a:p>
            <a:pPr lvl="2"/>
            <a:r>
              <a:rPr lang="en-US" dirty="0"/>
              <a:t>depending on the computer architecture</a:t>
            </a:r>
          </a:p>
          <a:p>
            <a:pPr lvl="1"/>
            <a:r>
              <a:rPr lang="en-US" dirty="0"/>
              <a:t>No need of contiguous frames for a process or even in correct order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</a:t>
            </a: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057400" y="3352800"/>
            <a:ext cx="1219200" cy="2209800"/>
          </a:xfrm>
          <a:prstGeom prst="can">
            <a:avLst>
              <a:gd name="adj" fmla="val 45313"/>
            </a:avLst>
          </a:prstGeom>
          <a:solidFill>
            <a:srgbClr val="9191C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1600" b="1">
                <a:latin typeface="Calibri" pitchFamily="34" charset="0"/>
              </a:rPr>
              <a:t>Process A</a:t>
            </a:r>
          </a:p>
          <a:p>
            <a:pPr algn="ctr"/>
            <a:r>
              <a:rPr lang="en-US" sz="1600">
                <a:latin typeface="Calibri" pitchFamily="34" charset="0"/>
              </a:rPr>
              <a:t>Page 0</a:t>
            </a:r>
          </a:p>
          <a:p>
            <a:pPr algn="ctr"/>
            <a:r>
              <a:rPr lang="en-US" sz="1600">
                <a:latin typeface="Calibri" pitchFamily="34" charset="0"/>
              </a:rPr>
              <a:t>Page 1</a:t>
            </a:r>
          </a:p>
          <a:p>
            <a:pPr algn="ctr"/>
            <a:r>
              <a:rPr lang="en-US" sz="1600">
                <a:latin typeface="Calibri" pitchFamily="34" charset="0"/>
              </a:rPr>
              <a:t>Page 2</a:t>
            </a:r>
          </a:p>
          <a:p>
            <a:pPr algn="ctr"/>
            <a:r>
              <a:rPr lang="en-US" sz="1600">
                <a:latin typeface="Calibri" pitchFamily="34" charset="0"/>
              </a:rPr>
              <a:t>Page 3</a:t>
            </a: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6172200" y="1295400"/>
            <a:ext cx="0" cy="502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895600" y="1985963"/>
            <a:ext cx="1752600" cy="192360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latin typeface="Calibri" pitchFamily="34" charset="0"/>
              </a:rPr>
              <a:t>Free frame list</a:t>
            </a:r>
          </a:p>
          <a:p>
            <a:pPr algn="ctr">
              <a:spcBef>
                <a:spcPct val="50000"/>
              </a:spcBef>
            </a:pPr>
            <a:r>
              <a:rPr lang="en-US" sz="1400">
                <a:latin typeface="Calibri" pitchFamily="34" charset="0"/>
              </a:rPr>
              <a:t>14</a:t>
            </a:r>
          </a:p>
          <a:p>
            <a:pPr algn="ctr">
              <a:spcBef>
                <a:spcPct val="50000"/>
              </a:spcBef>
            </a:pPr>
            <a:r>
              <a:rPr lang="en-US" sz="1400">
                <a:latin typeface="Calibri" pitchFamily="34" charset="0"/>
              </a:rPr>
              <a:t>13</a:t>
            </a:r>
          </a:p>
          <a:p>
            <a:pPr algn="ctr">
              <a:spcBef>
                <a:spcPct val="50000"/>
              </a:spcBef>
            </a:pPr>
            <a:r>
              <a:rPr lang="en-US" sz="1400">
                <a:latin typeface="Calibri" pitchFamily="34" charset="0"/>
              </a:rPr>
              <a:t>18</a:t>
            </a:r>
          </a:p>
          <a:p>
            <a:pPr algn="ctr">
              <a:spcBef>
                <a:spcPct val="50000"/>
              </a:spcBef>
            </a:pPr>
            <a:r>
              <a:rPr lang="en-US" sz="1400">
                <a:latin typeface="Calibri" pitchFamily="34" charset="0"/>
              </a:rPr>
              <a:t>20</a:t>
            </a:r>
          </a:p>
          <a:p>
            <a:pPr algn="ctr">
              <a:spcBef>
                <a:spcPct val="50000"/>
              </a:spcBef>
            </a:pPr>
            <a:r>
              <a:rPr lang="en-US" sz="1400">
                <a:latin typeface="Calibri" pitchFamily="34" charset="0"/>
              </a:rPr>
              <a:t>15</a:t>
            </a:r>
          </a:p>
        </p:txBody>
      </p: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8077200" y="1447800"/>
            <a:ext cx="1524000" cy="4724400"/>
            <a:chOff x="3552" y="720"/>
            <a:chExt cx="960" cy="2976"/>
          </a:xfrm>
        </p:grpSpPr>
        <p:sp>
          <p:nvSpPr>
            <p:cNvPr id="8" name="Text Box 31"/>
            <p:cNvSpPr txBox="1">
              <a:spLocks noChangeArrowheads="1"/>
            </p:cNvSpPr>
            <p:nvPr/>
          </p:nvSpPr>
          <p:spPr bwMode="auto">
            <a:xfrm>
              <a:off x="3552" y="816"/>
              <a:ext cx="288" cy="282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12</a:t>
              </a: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13</a:t>
              </a: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14</a:t>
              </a:r>
            </a:p>
            <a:p>
              <a:pPr>
                <a:spcBef>
                  <a:spcPct val="50000"/>
                </a:spcBef>
              </a:pPr>
              <a:endParaRPr lang="en-US" sz="400">
                <a:latin typeface="Calibri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15</a:t>
              </a:r>
            </a:p>
            <a:p>
              <a:pPr>
                <a:spcBef>
                  <a:spcPct val="50000"/>
                </a:spcBef>
              </a:pPr>
              <a:endParaRPr lang="en-US" sz="600">
                <a:latin typeface="Calibri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16</a:t>
              </a: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17</a:t>
              </a: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18</a:t>
              </a: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19</a:t>
              </a:r>
            </a:p>
            <a:p>
              <a:pPr>
                <a:spcBef>
                  <a:spcPct val="50000"/>
                </a:spcBef>
              </a:pPr>
              <a:endParaRPr lang="en-US" sz="400">
                <a:latin typeface="Calibri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20</a:t>
              </a:r>
            </a:p>
            <a:p>
              <a:pPr>
                <a:spcBef>
                  <a:spcPct val="50000"/>
                </a:spcBef>
              </a:pPr>
              <a:endParaRPr lang="en-US" sz="400">
                <a:latin typeface="Calibri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21</a:t>
              </a:r>
            </a:p>
          </p:txBody>
        </p:sp>
        <p:grpSp>
          <p:nvGrpSpPr>
            <p:cNvPr id="9" name="Group 34"/>
            <p:cNvGrpSpPr>
              <a:grpSpLocks/>
            </p:cNvGrpSpPr>
            <p:nvPr/>
          </p:nvGrpSpPr>
          <p:grpSpPr bwMode="auto">
            <a:xfrm>
              <a:off x="3888" y="720"/>
              <a:ext cx="624" cy="2976"/>
              <a:chOff x="3936" y="720"/>
              <a:chExt cx="624" cy="297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3936" y="720"/>
                <a:ext cx="624" cy="297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>
                    <a:latin typeface="Calibri" pitchFamily="34" charset="0"/>
                  </a:rPr>
                  <a:t>Page 1</a:t>
                </a:r>
              </a:p>
              <a:p>
                <a:pPr algn="ctr"/>
                <a:endParaRPr lang="en-US">
                  <a:latin typeface="Calibri" pitchFamily="34" charset="0"/>
                </a:endParaRPr>
              </a:p>
              <a:p>
                <a:pPr algn="ctr"/>
                <a:r>
                  <a:rPr lang="en-US">
                    <a:latin typeface="Calibri" pitchFamily="34" charset="0"/>
                  </a:rPr>
                  <a:t>Page 0</a:t>
                </a:r>
              </a:p>
              <a:p>
                <a:pPr algn="ctr"/>
                <a:endParaRPr lang="en-US">
                  <a:latin typeface="Calibri" pitchFamily="34" charset="0"/>
                </a:endParaRPr>
              </a:p>
              <a:p>
                <a:pPr algn="ctr"/>
                <a:endParaRPr lang="en-US">
                  <a:latin typeface="Calibri" pitchFamily="34" charset="0"/>
                </a:endParaRPr>
              </a:p>
              <a:p>
                <a:pPr algn="ctr"/>
                <a:endParaRPr lang="en-US">
                  <a:latin typeface="Calibri" pitchFamily="34" charset="0"/>
                </a:endParaRPr>
              </a:p>
              <a:p>
                <a:pPr algn="ctr"/>
                <a:endParaRPr lang="en-US">
                  <a:latin typeface="Calibri" pitchFamily="34" charset="0"/>
                </a:endParaRPr>
              </a:p>
              <a:p>
                <a:pPr algn="ctr"/>
                <a:endParaRPr lang="en-US">
                  <a:latin typeface="Calibri" pitchFamily="34" charset="0"/>
                </a:endParaRPr>
              </a:p>
              <a:p>
                <a:pPr algn="ctr"/>
                <a:r>
                  <a:rPr lang="en-US">
                    <a:latin typeface="Calibri" pitchFamily="34" charset="0"/>
                  </a:rPr>
                  <a:t>Page 2</a:t>
                </a:r>
              </a:p>
              <a:p>
                <a:pPr algn="ctr"/>
                <a:endParaRPr lang="en-US">
                  <a:latin typeface="Calibri" pitchFamily="34" charset="0"/>
                </a:endParaRPr>
              </a:p>
              <a:p>
                <a:pPr algn="ctr"/>
                <a:endParaRPr lang="en-US">
                  <a:latin typeface="Calibri" pitchFamily="34" charset="0"/>
                </a:endParaRPr>
              </a:p>
              <a:p>
                <a:pPr algn="ctr"/>
                <a:endParaRPr lang="en-US">
                  <a:latin typeface="Calibri" pitchFamily="34" charset="0"/>
                </a:endParaRPr>
              </a:p>
              <a:p>
                <a:pPr algn="ctr"/>
                <a:r>
                  <a:rPr lang="en-US">
                    <a:latin typeface="Calibri" pitchFamily="34" charset="0"/>
                  </a:rPr>
                  <a:t>Page 3</a:t>
                </a:r>
              </a:p>
            </p:txBody>
          </p:sp>
          <p:grpSp>
            <p:nvGrpSpPr>
              <p:cNvPr id="11" name="Group 33"/>
              <p:cNvGrpSpPr>
                <a:grpSpLocks/>
              </p:cNvGrpSpPr>
              <p:nvPr/>
            </p:nvGrpSpPr>
            <p:grpSpPr bwMode="auto">
              <a:xfrm>
                <a:off x="3936" y="1056"/>
                <a:ext cx="624" cy="2304"/>
                <a:chOff x="3936" y="1056"/>
                <a:chExt cx="624" cy="2304"/>
              </a:xfrm>
            </p:grpSpPr>
            <p:sp>
              <p:nvSpPr>
                <p:cNvPr id="12" name="Line 8"/>
                <p:cNvSpPr>
                  <a:spLocks noChangeShapeType="1"/>
                </p:cNvSpPr>
                <p:nvPr/>
              </p:nvSpPr>
              <p:spPr bwMode="auto">
                <a:xfrm>
                  <a:off x="3936" y="1344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13" name="Line 9"/>
                <p:cNvSpPr>
                  <a:spLocks noChangeShapeType="1"/>
                </p:cNvSpPr>
                <p:nvPr/>
              </p:nvSpPr>
              <p:spPr bwMode="auto">
                <a:xfrm>
                  <a:off x="3936" y="1632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14" name="Line 10"/>
                <p:cNvSpPr>
                  <a:spLocks noChangeShapeType="1"/>
                </p:cNvSpPr>
                <p:nvPr/>
              </p:nvSpPr>
              <p:spPr bwMode="auto">
                <a:xfrm>
                  <a:off x="3936" y="2736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15" name="Line 11"/>
                <p:cNvSpPr>
                  <a:spLocks noChangeShapeType="1"/>
                </p:cNvSpPr>
                <p:nvPr/>
              </p:nvSpPr>
              <p:spPr bwMode="auto">
                <a:xfrm>
                  <a:off x="3936" y="3024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16" name="Line 12"/>
                <p:cNvSpPr>
                  <a:spLocks noChangeShapeType="1"/>
                </p:cNvSpPr>
                <p:nvPr/>
              </p:nvSpPr>
              <p:spPr bwMode="auto">
                <a:xfrm>
                  <a:off x="3936" y="2160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17" name="Line 13"/>
                <p:cNvSpPr>
                  <a:spLocks noChangeShapeType="1"/>
                </p:cNvSpPr>
                <p:nvPr/>
              </p:nvSpPr>
              <p:spPr bwMode="auto">
                <a:xfrm>
                  <a:off x="3936" y="3360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18" name="Line 14"/>
                <p:cNvSpPr>
                  <a:spLocks noChangeShapeType="1"/>
                </p:cNvSpPr>
                <p:nvPr/>
              </p:nvSpPr>
              <p:spPr bwMode="auto">
                <a:xfrm>
                  <a:off x="3936" y="1872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19" name="Line 15"/>
                <p:cNvSpPr>
                  <a:spLocks noChangeShapeType="1"/>
                </p:cNvSpPr>
                <p:nvPr/>
              </p:nvSpPr>
              <p:spPr bwMode="auto">
                <a:xfrm>
                  <a:off x="3936" y="1056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20" name="Line 32"/>
                <p:cNvSpPr>
                  <a:spLocks noChangeShapeType="1"/>
                </p:cNvSpPr>
                <p:nvPr/>
              </p:nvSpPr>
              <p:spPr bwMode="auto">
                <a:xfrm>
                  <a:off x="3936" y="2400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</p:grpSp>
      </p:grpSp>
      <p:grpSp>
        <p:nvGrpSpPr>
          <p:cNvPr id="21" name="Group 36"/>
          <p:cNvGrpSpPr>
            <a:grpSpLocks/>
          </p:cNvGrpSpPr>
          <p:nvPr/>
        </p:nvGrpSpPr>
        <p:grpSpPr bwMode="auto">
          <a:xfrm>
            <a:off x="4495800" y="1447800"/>
            <a:ext cx="1524000" cy="4724400"/>
            <a:chOff x="3552" y="720"/>
            <a:chExt cx="960" cy="2976"/>
          </a:xfrm>
        </p:grpSpPr>
        <p:sp>
          <p:nvSpPr>
            <p:cNvPr id="22" name="Text Box 37"/>
            <p:cNvSpPr txBox="1">
              <a:spLocks noChangeArrowheads="1"/>
            </p:cNvSpPr>
            <p:nvPr/>
          </p:nvSpPr>
          <p:spPr bwMode="auto">
            <a:xfrm>
              <a:off x="3552" y="816"/>
              <a:ext cx="288" cy="2829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12</a:t>
              </a: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13</a:t>
              </a: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14</a:t>
              </a:r>
            </a:p>
            <a:p>
              <a:pPr>
                <a:spcBef>
                  <a:spcPct val="50000"/>
                </a:spcBef>
              </a:pPr>
              <a:endParaRPr lang="en-US" sz="400">
                <a:latin typeface="Calibri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15</a:t>
              </a:r>
            </a:p>
            <a:p>
              <a:pPr>
                <a:spcBef>
                  <a:spcPct val="50000"/>
                </a:spcBef>
              </a:pPr>
              <a:endParaRPr lang="en-US" sz="600">
                <a:latin typeface="Calibri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16</a:t>
              </a: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17</a:t>
              </a: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18</a:t>
              </a: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19</a:t>
              </a:r>
            </a:p>
            <a:p>
              <a:pPr>
                <a:spcBef>
                  <a:spcPct val="50000"/>
                </a:spcBef>
              </a:pPr>
              <a:endParaRPr lang="en-US" sz="400">
                <a:latin typeface="Calibri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20</a:t>
              </a:r>
            </a:p>
            <a:p>
              <a:pPr>
                <a:spcBef>
                  <a:spcPct val="50000"/>
                </a:spcBef>
              </a:pPr>
              <a:endParaRPr lang="en-US" sz="400">
                <a:latin typeface="Calibri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>
                  <a:latin typeface="Calibri" pitchFamily="34" charset="0"/>
                </a:rPr>
                <a:t>21</a:t>
              </a:r>
            </a:p>
          </p:txBody>
        </p:sp>
        <p:grpSp>
          <p:nvGrpSpPr>
            <p:cNvPr id="23" name="Group 38"/>
            <p:cNvGrpSpPr>
              <a:grpSpLocks/>
            </p:cNvGrpSpPr>
            <p:nvPr/>
          </p:nvGrpSpPr>
          <p:grpSpPr bwMode="auto">
            <a:xfrm>
              <a:off x="3888" y="720"/>
              <a:ext cx="624" cy="2976"/>
              <a:chOff x="3936" y="720"/>
              <a:chExt cx="624" cy="2976"/>
            </a:xfrm>
          </p:grpSpPr>
          <p:sp>
            <p:nvSpPr>
              <p:cNvPr id="24" name="Rectangle 39"/>
              <p:cNvSpPr>
                <a:spLocks noChangeArrowheads="1"/>
              </p:cNvSpPr>
              <p:nvPr/>
            </p:nvSpPr>
            <p:spPr bwMode="auto">
              <a:xfrm>
                <a:off x="3936" y="720"/>
                <a:ext cx="624" cy="297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</a:rPr>
                  <a:t>Page 1</a:t>
                </a:r>
              </a:p>
              <a:p>
                <a:pPr algn="ctr"/>
                <a:endParaRPr lang="en-US" dirty="0">
                  <a:latin typeface="Calibri" pitchFamily="34" charset="0"/>
                </a:endParaRPr>
              </a:p>
              <a:p>
                <a:pPr algn="ctr"/>
                <a:r>
                  <a:rPr lang="en-US" dirty="0">
                    <a:latin typeface="Calibri" pitchFamily="34" charset="0"/>
                  </a:rPr>
                  <a:t>Page 0</a:t>
                </a:r>
              </a:p>
              <a:p>
                <a:pPr algn="ctr"/>
                <a:endParaRPr lang="en-US" dirty="0">
                  <a:latin typeface="Calibri" pitchFamily="34" charset="0"/>
                </a:endParaRPr>
              </a:p>
              <a:p>
                <a:pPr algn="ctr"/>
                <a:endParaRPr lang="en-US" dirty="0">
                  <a:latin typeface="Calibri" pitchFamily="34" charset="0"/>
                </a:endParaRPr>
              </a:p>
              <a:p>
                <a:pPr algn="ctr"/>
                <a:endParaRPr lang="en-US" dirty="0">
                  <a:latin typeface="Calibri" pitchFamily="34" charset="0"/>
                </a:endParaRPr>
              </a:p>
              <a:p>
                <a:pPr algn="ctr"/>
                <a:endParaRPr lang="en-US" dirty="0">
                  <a:latin typeface="Calibri" pitchFamily="34" charset="0"/>
                </a:endParaRPr>
              </a:p>
              <a:p>
                <a:pPr algn="ctr"/>
                <a:endParaRPr lang="en-US" dirty="0">
                  <a:latin typeface="Calibri" pitchFamily="34" charset="0"/>
                </a:endParaRPr>
              </a:p>
              <a:p>
                <a:pPr algn="ctr"/>
                <a:r>
                  <a:rPr lang="en-US" dirty="0">
                    <a:latin typeface="Calibri" pitchFamily="34" charset="0"/>
                  </a:rPr>
                  <a:t>Page 2</a:t>
                </a:r>
              </a:p>
              <a:p>
                <a:pPr algn="ctr"/>
                <a:endParaRPr lang="en-US" dirty="0">
                  <a:latin typeface="Calibri" pitchFamily="34" charset="0"/>
                </a:endParaRPr>
              </a:p>
              <a:p>
                <a:pPr algn="ctr"/>
                <a:endParaRPr lang="en-US" dirty="0">
                  <a:latin typeface="Calibri" pitchFamily="34" charset="0"/>
                </a:endParaRPr>
              </a:p>
              <a:p>
                <a:pPr algn="ctr"/>
                <a:endParaRPr lang="en-US" dirty="0">
                  <a:latin typeface="Calibri" pitchFamily="34" charset="0"/>
                </a:endParaRPr>
              </a:p>
              <a:p>
                <a:pPr algn="ctr"/>
                <a:r>
                  <a:rPr lang="en-US" dirty="0">
                    <a:latin typeface="Calibri" pitchFamily="34" charset="0"/>
                  </a:rPr>
                  <a:t>Page 3</a:t>
                </a:r>
              </a:p>
            </p:txBody>
          </p:sp>
          <p:grpSp>
            <p:nvGrpSpPr>
              <p:cNvPr id="25" name="Group 40"/>
              <p:cNvGrpSpPr>
                <a:grpSpLocks/>
              </p:cNvGrpSpPr>
              <p:nvPr/>
            </p:nvGrpSpPr>
            <p:grpSpPr bwMode="auto">
              <a:xfrm>
                <a:off x="3936" y="1056"/>
                <a:ext cx="624" cy="2304"/>
                <a:chOff x="3936" y="1056"/>
                <a:chExt cx="624" cy="2304"/>
              </a:xfrm>
            </p:grpSpPr>
            <p:sp>
              <p:nvSpPr>
                <p:cNvPr id="26" name="Line 41"/>
                <p:cNvSpPr>
                  <a:spLocks noChangeShapeType="1"/>
                </p:cNvSpPr>
                <p:nvPr/>
              </p:nvSpPr>
              <p:spPr bwMode="auto">
                <a:xfrm>
                  <a:off x="3936" y="1344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27" name="Line 42"/>
                <p:cNvSpPr>
                  <a:spLocks noChangeShapeType="1"/>
                </p:cNvSpPr>
                <p:nvPr/>
              </p:nvSpPr>
              <p:spPr bwMode="auto">
                <a:xfrm>
                  <a:off x="3936" y="1632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28" name="Line 43"/>
                <p:cNvSpPr>
                  <a:spLocks noChangeShapeType="1"/>
                </p:cNvSpPr>
                <p:nvPr/>
              </p:nvSpPr>
              <p:spPr bwMode="auto">
                <a:xfrm>
                  <a:off x="3936" y="2736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29" name="Line 44"/>
                <p:cNvSpPr>
                  <a:spLocks noChangeShapeType="1"/>
                </p:cNvSpPr>
                <p:nvPr/>
              </p:nvSpPr>
              <p:spPr bwMode="auto">
                <a:xfrm>
                  <a:off x="3936" y="3024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 dirty="0">
                    <a:latin typeface="Calibri" pitchFamily="34" charset="0"/>
                  </a:endParaRPr>
                </a:p>
              </p:txBody>
            </p:sp>
            <p:sp>
              <p:nvSpPr>
                <p:cNvPr id="30" name="Line 45"/>
                <p:cNvSpPr>
                  <a:spLocks noChangeShapeType="1"/>
                </p:cNvSpPr>
                <p:nvPr/>
              </p:nvSpPr>
              <p:spPr bwMode="auto">
                <a:xfrm>
                  <a:off x="3936" y="2160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31" name="Line 46"/>
                <p:cNvSpPr>
                  <a:spLocks noChangeShapeType="1"/>
                </p:cNvSpPr>
                <p:nvPr/>
              </p:nvSpPr>
              <p:spPr bwMode="auto">
                <a:xfrm>
                  <a:off x="3936" y="3360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32" name="Line 47"/>
                <p:cNvSpPr>
                  <a:spLocks noChangeShapeType="1"/>
                </p:cNvSpPr>
                <p:nvPr/>
              </p:nvSpPr>
              <p:spPr bwMode="auto">
                <a:xfrm>
                  <a:off x="3936" y="1872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33" name="Line 48"/>
                <p:cNvSpPr>
                  <a:spLocks noChangeShapeType="1"/>
                </p:cNvSpPr>
                <p:nvPr/>
              </p:nvSpPr>
              <p:spPr bwMode="auto">
                <a:xfrm>
                  <a:off x="3936" y="1056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34" name="Line 49"/>
                <p:cNvSpPr>
                  <a:spLocks noChangeShapeType="1"/>
                </p:cNvSpPr>
                <p:nvPr/>
              </p:nvSpPr>
              <p:spPr bwMode="auto">
                <a:xfrm>
                  <a:off x="3936" y="2400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</p:grpSp>
      </p:grpSp>
      <p:sp>
        <p:nvSpPr>
          <p:cNvPr id="35" name="Text Box 50"/>
          <p:cNvSpPr txBox="1">
            <a:spLocks noChangeArrowheads="1"/>
          </p:cNvSpPr>
          <p:nvPr/>
        </p:nvSpPr>
        <p:spPr bwMode="auto">
          <a:xfrm>
            <a:off x="6324600" y="1371601"/>
            <a:ext cx="1600200" cy="11922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latin typeface="Calibri" pitchFamily="34" charset="0"/>
              </a:rPr>
              <a:t>Process A </a:t>
            </a:r>
          </a:p>
          <a:p>
            <a:pPr algn="ctr">
              <a:spcBef>
                <a:spcPct val="50000"/>
              </a:spcBef>
            </a:pPr>
            <a:r>
              <a:rPr lang="en-US" b="1">
                <a:latin typeface="Calibri" pitchFamily="34" charset="0"/>
              </a:rPr>
              <a:t>Page Table</a:t>
            </a:r>
          </a:p>
          <a:p>
            <a:pPr algn="ctr">
              <a:spcBef>
                <a:spcPct val="50000"/>
              </a:spcBef>
            </a:pPr>
            <a:endParaRPr lang="en-US" b="1">
              <a:latin typeface="Calibri" pitchFamily="34" charset="0"/>
            </a:endParaRPr>
          </a:p>
        </p:txBody>
      </p:sp>
      <p:graphicFrame>
        <p:nvGraphicFramePr>
          <p:cNvPr id="36" name="Group 74"/>
          <p:cNvGraphicFramePr>
            <a:graphicFrameLocks noGrp="1"/>
          </p:cNvGraphicFramePr>
          <p:nvPr>
            <p:ph idx="1"/>
          </p:nvPr>
        </p:nvGraphicFramePr>
        <p:xfrm>
          <a:off x="6629400" y="2209800"/>
          <a:ext cx="914400" cy="136398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Page Addressing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3510" y="1155987"/>
            <a:ext cx="11159836" cy="2307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1. What is Page Addressing?</a:t>
            </a:r>
          </a:p>
          <a:p>
            <a:r>
              <a:rPr lang="en-US" sz="2000" dirty="0"/>
              <a:t>In </a:t>
            </a:r>
            <a:r>
              <a:rPr lang="en-US" sz="2000" b="1" dirty="0"/>
              <a:t>paging</a:t>
            </a:r>
            <a:r>
              <a:rPr lang="en-US" sz="2000" dirty="0"/>
              <a:t>, memory addresses are divided into:</a:t>
            </a:r>
          </a:p>
          <a:p>
            <a:r>
              <a:rPr lang="en-US" sz="2000" b="1" dirty="0"/>
              <a:t>Page Number (p):</a:t>
            </a:r>
            <a:r>
              <a:rPr lang="en-US" sz="2000" dirty="0"/>
              <a:t> </a:t>
            </a:r>
            <a:r>
              <a:rPr lang="en-US" sz="2400" dirty="0"/>
              <a:t>Identifies</a:t>
            </a:r>
            <a:r>
              <a:rPr lang="en-US" sz="2000" dirty="0"/>
              <a:t> which </a:t>
            </a:r>
            <a:r>
              <a:rPr lang="en-US" sz="2000" b="1" dirty="0"/>
              <a:t>page</a:t>
            </a:r>
            <a:r>
              <a:rPr lang="en-US" sz="2000" dirty="0"/>
              <a:t> of the process the address belongs to.</a:t>
            </a:r>
          </a:p>
          <a:p>
            <a:r>
              <a:rPr lang="en-US" sz="2000" b="1" dirty="0"/>
              <a:t>Page Offset (d):</a:t>
            </a:r>
            <a:r>
              <a:rPr lang="en-US" sz="2000" dirty="0"/>
              <a:t> Identifies the </a:t>
            </a:r>
            <a:r>
              <a:rPr lang="en-US" sz="2000" b="1" dirty="0"/>
              <a:t>exact location within that page</a:t>
            </a:r>
            <a:r>
              <a:rPr lang="en-US" sz="2000" dirty="0"/>
              <a:t>.</a:t>
            </a:r>
          </a:p>
          <a:p>
            <a:r>
              <a:rPr lang="en-US" sz="2000" dirty="0"/>
              <a:t>Logical addresses are translated to </a:t>
            </a:r>
            <a:r>
              <a:rPr lang="en-US" sz="2000" b="1" dirty="0"/>
              <a:t>physical addresses</a:t>
            </a:r>
            <a:r>
              <a:rPr lang="en-US" sz="2000" dirty="0"/>
              <a:t> using the </a:t>
            </a:r>
            <a:r>
              <a:rPr lang="en-US" sz="2000" b="1" dirty="0"/>
              <a:t>page table</a:t>
            </a:r>
            <a:r>
              <a:rPr lang="en-US" sz="2000" dirty="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96EF055-1DA8-4800-A10A-E692513192EE}"/>
              </a:ext>
            </a:extLst>
          </p:cNvPr>
          <p:cNvGrpSpPr/>
          <p:nvPr/>
        </p:nvGrpSpPr>
        <p:grpSpPr>
          <a:xfrm>
            <a:off x="7941684" y="488301"/>
            <a:ext cx="3671889" cy="1411288"/>
            <a:chOff x="6796864" y="5000626"/>
            <a:chExt cx="3671889" cy="1411288"/>
          </a:xfrm>
        </p:grpSpPr>
        <p:sp>
          <p:nvSpPr>
            <p:cNvPr id="4" name="Rectangle 1028">
              <a:extLst>
                <a:ext uri="{FF2B5EF4-FFF2-40B4-BE49-F238E27FC236}">
                  <a16:creationId xmlns:a16="http://schemas.microsoft.com/office/drawing/2014/main" id="{93F19779-0B96-47D5-81AF-712154C8D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6864" y="5664202"/>
              <a:ext cx="3671889" cy="38040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30622" tIns="65311" rIns="130622" bIns="65311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" name="Line 1030">
              <a:extLst>
                <a:ext uri="{FF2B5EF4-FFF2-40B4-BE49-F238E27FC236}">
                  <a16:creationId xmlns:a16="http://schemas.microsoft.com/office/drawing/2014/main" id="{B25C7ACA-8B2B-4A49-A998-BB3B7D083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6627" y="5000626"/>
              <a:ext cx="0" cy="10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130622" tIns="65311" rIns="130622" bIns="65311" anchor="ctr"/>
            <a:lstStyle/>
            <a:p>
              <a:endParaRPr lang="en-US" dirty="0"/>
            </a:p>
          </p:txBody>
        </p:sp>
        <p:sp>
          <p:nvSpPr>
            <p:cNvPr id="6" name="Text Box 1031">
              <a:extLst>
                <a:ext uri="{FF2B5EF4-FFF2-40B4-BE49-F238E27FC236}">
                  <a16:creationId xmlns:a16="http://schemas.microsoft.com/office/drawing/2014/main" id="{FA06433F-6296-44E0-830B-A0F504814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5224465"/>
              <a:ext cx="1624012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30622" tIns="65311" rIns="130622" bIns="65311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dirty="0">
                  <a:latin typeface="Helvetica" panose="020B0604020202020204" pitchFamily="34" charset="0"/>
                </a:rPr>
                <a:t>page number</a:t>
              </a:r>
            </a:p>
          </p:txBody>
        </p:sp>
        <p:sp>
          <p:nvSpPr>
            <p:cNvPr id="7" name="Text Box 1032">
              <a:extLst>
                <a:ext uri="{FF2B5EF4-FFF2-40B4-BE49-F238E27FC236}">
                  <a16:creationId xmlns:a16="http://schemas.microsoft.com/office/drawing/2014/main" id="{460570D1-801C-4DCA-B149-D0B9D7639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8286" y="5231805"/>
              <a:ext cx="1401763" cy="407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30622" tIns="65311" rIns="130622" bIns="65311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dirty="0">
                  <a:latin typeface="Helvetica" panose="020B0604020202020204" pitchFamily="34" charset="0"/>
                </a:rPr>
                <a:t>page offset</a:t>
              </a:r>
            </a:p>
          </p:txBody>
        </p:sp>
        <p:sp>
          <p:nvSpPr>
            <p:cNvPr id="8" name="Text Box 1033">
              <a:extLst>
                <a:ext uri="{FF2B5EF4-FFF2-40B4-BE49-F238E27FC236}">
                  <a16:creationId xmlns:a16="http://schemas.microsoft.com/office/drawing/2014/main" id="{DF683A2B-30AE-4737-8902-E52791220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3206" y="5596930"/>
              <a:ext cx="1358807" cy="407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30622" tIns="65311" rIns="130622" bIns="65311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i="1" dirty="0">
                  <a:latin typeface="Helvetica" panose="020B0604020202020204" pitchFamily="34" charset="0"/>
                </a:rPr>
                <a:t>p</a:t>
              </a:r>
              <a:endParaRPr lang="en-US" altLang="en-US" dirty="0">
                <a:latin typeface="Helvetica" panose="020B0604020202020204" pitchFamily="34" charset="0"/>
              </a:endParaRPr>
            </a:p>
          </p:txBody>
        </p:sp>
        <p:sp>
          <p:nvSpPr>
            <p:cNvPr id="9" name="Text Box 1035">
              <a:extLst>
                <a:ext uri="{FF2B5EF4-FFF2-40B4-BE49-F238E27FC236}">
                  <a16:creationId xmlns:a16="http://schemas.microsoft.com/office/drawing/2014/main" id="{E7FF7F29-5420-431D-8C3D-CE060B47F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6626" y="5636616"/>
              <a:ext cx="1762126" cy="407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30622" tIns="65311" rIns="130622" bIns="65311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i="1">
                  <a:latin typeface="Helvetica" panose="020B0604020202020204" pitchFamily="34" charset="0"/>
                </a:rPr>
                <a:t>d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10" name="Text Box 1036">
              <a:extLst>
                <a:ext uri="{FF2B5EF4-FFF2-40B4-BE49-F238E27FC236}">
                  <a16:creationId xmlns:a16="http://schemas.microsoft.com/office/drawing/2014/main" id="{2257FFE6-2CEB-415C-A724-75DF0E1C3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865" y="5991227"/>
              <a:ext cx="1909761" cy="407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30622" tIns="65311" rIns="130622" bIns="65311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i="1" dirty="0">
                  <a:latin typeface="Helvetica" panose="020B0604020202020204" pitchFamily="34" charset="0"/>
                </a:rPr>
                <a:t>m - n</a:t>
              </a:r>
            </a:p>
          </p:txBody>
        </p:sp>
        <p:sp>
          <p:nvSpPr>
            <p:cNvPr id="11" name="Text Box 1038">
              <a:extLst>
                <a:ext uri="{FF2B5EF4-FFF2-40B4-BE49-F238E27FC236}">
                  <a16:creationId xmlns:a16="http://schemas.microsoft.com/office/drawing/2014/main" id="{F5A04A46-91B5-4C4B-AC93-0CDB11F4B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6626" y="6003927"/>
              <a:ext cx="1762127" cy="407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30622" tIns="65311" rIns="130622" bIns="65311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i="1" dirty="0">
                  <a:latin typeface="Helvetica" panose="020B0604020202020204" pitchFamily="34" charset="0"/>
                </a:rPr>
                <a:t>n</a:t>
              </a:r>
            </a:p>
          </p:txBody>
        </p:sp>
      </p:grp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38200" y="3403958"/>
            <a:ext cx="6619096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Logical Address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Suppose a process has: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Logical address space: 0 to 4095 (i.e., 12-bit address)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 size: 1024 bytes (2¹⁰)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 number (p):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 bits (since 4 pages needed: 0–3)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 offset (d):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 bits (0–1023 within each page)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89861" y="3799251"/>
            <a:ext cx="347394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Example:</a:t>
            </a:r>
          </a:p>
          <a:p>
            <a:r>
              <a:rPr lang="en-US" dirty="0" smtClean="0"/>
              <a:t>Logical </a:t>
            </a:r>
            <a:r>
              <a:rPr lang="en-US" dirty="0"/>
              <a:t>address = 2500</a:t>
            </a:r>
          </a:p>
          <a:p>
            <a:r>
              <a:rPr lang="en-US" dirty="0"/>
              <a:t>Page size = 1024</a:t>
            </a:r>
          </a:p>
          <a:p>
            <a:r>
              <a:rPr lang="en-US" dirty="0"/>
              <a:t>Page number = 2500 / 1024 = 2</a:t>
            </a:r>
          </a:p>
          <a:p>
            <a:r>
              <a:rPr lang="en-US" dirty="0"/>
              <a:t>Page offset = 2500 % 1024 = 452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en-US" sz="2800" dirty="0">
                <a:solidFill>
                  <a:srgbClr val="760000"/>
                </a:solidFill>
                <a:latin typeface="Arial" panose="020B0604020202020204" pitchFamily="34" charset="0"/>
              </a:rPr>
              <a:t>Address Translation Using Page Table</a:t>
            </a:r>
            <a:br>
              <a:rPr lang="en-US" altLang="en-US" sz="2800" dirty="0">
                <a:solidFill>
                  <a:srgbClr val="760000"/>
                </a:solidFill>
                <a:latin typeface="Arial" panose="020B0604020202020204" pitchFamily="34" charset="0"/>
              </a:rPr>
            </a:br>
            <a:endParaRPr lang="en-US" sz="2800" dirty="0">
              <a:solidFill>
                <a:srgbClr val="76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1946" y="852475"/>
            <a:ext cx="1032856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generates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logical address (p, d)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 table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consulted to get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 number (f)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page 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 address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(frame number × frame size) + page offset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 table: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434777"/>
              </p:ext>
            </p:extLst>
          </p:nvPr>
        </p:nvGraphicFramePr>
        <p:xfrm>
          <a:off x="838200" y="2967038"/>
          <a:ext cx="4426528" cy="1828800"/>
        </p:xfrm>
        <a:graphic>
          <a:graphicData uri="http://schemas.openxmlformats.org/drawingml/2006/table">
            <a:tbl>
              <a:tblPr/>
              <a:tblGrid>
                <a:gridCol w="2213264">
                  <a:extLst>
                    <a:ext uri="{9D8B030D-6E8A-4147-A177-3AD203B41FA5}">
                      <a16:colId xmlns:a16="http://schemas.microsoft.com/office/drawing/2014/main" val="2874021418"/>
                    </a:ext>
                  </a:extLst>
                </a:gridCol>
                <a:gridCol w="2213264">
                  <a:extLst>
                    <a:ext uri="{9D8B030D-6E8A-4147-A177-3AD203B41FA5}">
                      <a16:colId xmlns:a16="http://schemas.microsoft.com/office/drawing/2014/main" val="334525411"/>
                    </a:ext>
                  </a:extLst>
                </a:gridCol>
              </a:tblGrid>
              <a:tr h="320992">
                <a:tc>
                  <a:txBody>
                    <a:bodyPr/>
                    <a:lstStyle/>
                    <a:p>
                      <a:r>
                        <a:rPr lang="en-US"/>
                        <a:t>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879272"/>
                  </a:ext>
                </a:extLst>
              </a:tr>
              <a:tr h="320992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545228"/>
                  </a:ext>
                </a:extLst>
              </a:tr>
              <a:tr h="320992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933329"/>
                  </a:ext>
                </a:extLst>
              </a:tr>
              <a:tr h="320992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1197412"/>
                  </a:ext>
                </a:extLst>
              </a:tr>
              <a:tr h="320992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615422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71946" y="5033739"/>
            <a:ext cx="71974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address: Page 2, Offset 452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 number = 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 size = 1024 → Physical address =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8 × 1024 + 452 = 8704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92982" y="2341928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Information:</a:t>
            </a:r>
          </a:p>
          <a:p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Logical </a:t>
            </a:r>
            <a:r>
              <a:rPr lang="en-US" b="1" dirty="0"/>
              <a:t>Address:</a:t>
            </a:r>
            <a:r>
              <a:rPr lang="en-US" dirty="0"/>
              <a:t> (Page Number, Offset)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Physical Address:</a:t>
            </a:r>
            <a:r>
              <a:rPr lang="en-US" dirty="0"/>
              <a:t> (Frame Number, Offset)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Translation:</a:t>
            </a:r>
            <a:r>
              <a:rPr lang="en-US" dirty="0"/>
              <a:t> Physical Address = Frame × Frame Size + </a:t>
            </a:r>
            <a:r>
              <a:rPr lang="en-US" dirty="0" smtClean="0"/>
              <a:t>Offset</a:t>
            </a:r>
          </a:p>
          <a:p>
            <a:endParaRPr lang="en-US" dirty="0"/>
          </a:p>
          <a:p>
            <a:r>
              <a:rPr lang="en-US" dirty="0"/>
              <a:t>Paging allows </a:t>
            </a:r>
            <a:r>
              <a:rPr lang="en-US" b="1" dirty="0"/>
              <a:t>non-contiguous allocation</a:t>
            </a:r>
            <a:r>
              <a:rPr lang="en-US" dirty="0"/>
              <a:t> while </a:t>
            </a:r>
            <a:r>
              <a:rPr lang="en-US" b="1" dirty="0"/>
              <a:t>eliminating external fragmentation</a:t>
            </a:r>
            <a:r>
              <a:rPr lang="en-US" dirty="0"/>
              <a:t>, and page addressing makes it </a:t>
            </a:r>
            <a:r>
              <a:rPr lang="en-US" b="1" dirty="0"/>
              <a:t>easy to locate data</a:t>
            </a:r>
            <a:r>
              <a:rPr lang="en-US" dirty="0"/>
              <a:t> in memory.</a:t>
            </a:r>
          </a:p>
        </p:txBody>
      </p:sp>
    </p:spTree>
    <p:extLst>
      <p:ext uri="{BB962C8B-B14F-4D97-AF65-F5344CB8AC3E}">
        <p14:creationId xmlns:p14="http://schemas.microsoft.com/office/powerpoint/2010/main" val="9365194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Address Translation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15448585-ECAE-456E-9404-B78126403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735" y="1126969"/>
            <a:ext cx="4840529" cy="5362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Address Translation</a:t>
            </a:r>
          </a:p>
        </p:txBody>
      </p:sp>
      <p:pic>
        <p:nvPicPr>
          <p:cNvPr id="4" name="Picture 4" descr="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18407" y="1373188"/>
            <a:ext cx="8555186" cy="4536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Page Address Translation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2209800" y="2500314"/>
            <a:ext cx="2819400" cy="395287"/>
            <a:chOff x="144" y="1575"/>
            <a:chExt cx="1776" cy="249"/>
          </a:xfrm>
        </p:grpSpPr>
        <p:sp>
          <p:nvSpPr>
            <p:cNvPr id="43043" name="Rectangle 6"/>
            <p:cNvSpPr>
              <a:spLocks noChangeArrowheads="1"/>
            </p:cNvSpPr>
            <p:nvPr/>
          </p:nvSpPr>
          <p:spPr bwMode="auto">
            <a:xfrm>
              <a:off x="144" y="1575"/>
              <a:ext cx="624" cy="2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Page No</a:t>
              </a:r>
            </a:p>
          </p:txBody>
        </p:sp>
        <p:sp>
          <p:nvSpPr>
            <p:cNvPr id="43044" name="Rectangle 7"/>
            <p:cNvSpPr>
              <a:spLocks noChangeArrowheads="1"/>
            </p:cNvSpPr>
            <p:nvPr/>
          </p:nvSpPr>
          <p:spPr bwMode="auto">
            <a:xfrm>
              <a:off x="768" y="1575"/>
              <a:ext cx="1152" cy="2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Displacement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257800" y="3581400"/>
            <a:ext cx="1295400" cy="2362200"/>
            <a:chOff x="1968" y="2304"/>
            <a:chExt cx="816" cy="1488"/>
          </a:xfrm>
        </p:grpSpPr>
        <p:sp>
          <p:nvSpPr>
            <p:cNvPr id="43032" name="Text Box 9"/>
            <p:cNvSpPr txBox="1">
              <a:spLocks noChangeArrowheads="1"/>
            </p:cNvSpPr>
            <p:nvPr/>
          </p:nvSpPr>
          <p:spPr bwMode="auto">
            <a:xfrm>
              <a:off x="1968" y="2352"/>
              <a:ext cx="192" cy="1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0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1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3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4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5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6</a:t>
              </a:r>
            </a:p>
          </p:txBody>
        </p: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2160" y="2304"/>
              <a:ext cx="624" cy="1488"/>
              <a:chOff x="2304" y="1392"/>
              <a:chExt cx="624" cy="1488"/>
            </a:xfrm>
          </p:grpSpPr>
          <p:sp>
            <p:nvSpPr>
              <p:cNvPr id="43034" name="Rectangle 11"/>
              <p:cNvSpPr>
                <a:spLocks noChangeArrowheads="1"/>
              </p:cNvSpPr>
              <p:nvPr/>
            </p:nvSpPr>
            <p:spPr bwMode="auto">
              <a:xfrm>
                <a:off x="2304" y="1392"/>
                <a:ext cx="624" cy="1488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endParaRPr lang="en-US">
                  <a:latin typeface="Calibri" pitchFamily="34" charset="0"/>
                </a:endParaRPr>
              </a:p>
              <a:p>
                <a:pPr algn="ctr"/>
                <a:r>
                  <a:rPr lang="en-US" sz="1600">
                    <a:latin typeface="Calibri" pitchFamily="34" charset="0"/>
                  </a:rPr>
                  <a:t>Frame no.</a:t>
                </a:r>
              </a:p>
            </p:txBody>
          </p:sp>
          <p:grpSp>
            <p:nvGrpSpPr>
              <p:cNvPr id="5" name="Group 12"/>
              <p:cNvGrpSpPr>
                <a:grpSpLocks/>
              </p:cNvGrpSpPr>
              <p:nvPr/>
            </p:nvGrpSpPr>
            <p:grpSpPr bwMode="auto">
              <a:xfrm>
                <a:off x="2304" y="1632"/>
                <a:ext cx="624" cy="1008"/>
                <a:chOff x="1968" y="1632"/>
                <a:chExt cx="624" cy="1152"/>
              </a:xfrm>
            </p:grpSpPr>
            <p:sp>
              <p:nvSpPr>
                <p:cNvPr id="43036" name="Line 13"/>
                <p:cNvSpPr>
                  <a:spLocks noChangeShapeType="1"/>
                </p:cNvSpPr>
                <p:nvPr/>
              </p:nvSpPr>
              <p:spPr bwMode="auto">
                <a:xfrm>
                  <a:off x="1968" y="1824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3037" name="Line 14"/>
                <p:cNvSpPr>
                  <a:spLocks noChangeShapeType="1"/>
                </p:cNvSpPr>
                <p:nvPr/>
              </p:nvSpPr>
              <p:spPr bwMode="auto">
                <a:xfrm>
                  <a:off x="1968" y="2016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3038" name="Line 15"/>
                <p:cNvSpPr>
                  <a:spLocks noChangeShapeType="1"/>
                </p:cNvSpPr>
                <p:nvPr/>
              </p:nvSpPr>
              <p:spPr bwMode="auto">
                <a:xfrm>
                  <a:off x="1968" y="2784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3039" name="Line 16"/>
                <p:cNvSpPr>
                  <a:spLocks noChangeShapeType="1"/>
                </p:cNvSpPr>
                <p:nvPr/>
              </p:nvSpPr>
              <p:spPr bwMode="auto">
                <a:xfrm>
                  <a:off x="1968" y="2400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3040" name="Line 17"/>
                <p:cNvSpPr>
                  <a:spLocks noChangeShapeType="1"/>
                </p:cNvSpPr>
                <p:nvPr/>
              </p:nvSpPr>
              <p:spPr bwMode="auto">
                <a:xfrm>
                  <a:off x="1968" y="2208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3041" name="Line 18"/>
                <p:cNvSpPr>
                  <a:spLocks noChangeShapeType="1"/>
                </p:cNvSpPr>
                <p:nvPr/>
              </p:nvSpPr>
              <p:spPr bwMode="auto">
                <a:xfrm>
                  <a:off x="1968" y="1632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3042" name="Line 19"/>
                <p:cNvSpPr>
                  <a:spLocks noChangeShapeType="1"/>
                </p:cNvSpPr>
                <p:nvPr/>
              </p:nvSpPr>
              <p:spPr bwMode="auto">
                <a:xfrm>
                  <a:off x="1968" y="2592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</p:grp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2895600" y="2895600"/>
            <a:ext cx="2362200" cy="2286000"/>
            <a:chOff x="576" y="1824"/>
            <a:chExt cx="1488" cy="1440"/>
          </a:xfrm>
        </p:grpSpPr>
        <p:sp>
          <p:nvSpPr>
            <p:cNvPr id="43030" name="Line 21"/>
            <p:cNvSpPr>
              <a:spLocks noChangeShapeType="1"/>
            </p:cNvSpPr>
            <p:nvPr/>
          </p:nvSpPr>
          <p:spPr bwMode="auto">
            <a:xfrm>
              <a:off x="576" y="1824"/>
              <a:ext cx="0" cy="14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3031" name="Line 22"/>
            <p:cNvSpPr>
              <a:spLocks noChangeShapeType="1"/>
            </p:cNvSpPr>
            <p:nvPr/>
          </p:nvSpPr>
          <p:spPr bwMode="auto">
            <a:xfrm>
              <a:off x="576" y="3264"/>
              <a:ext cx="148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43016" name="Text Box 23"/>
          <p:cNvSpPr txBox="1">
            <a:spLocks noChangeArrowheads="1"/>
          </p:cNvSpPr>
          <p:nvPr/>
        </p:nvSpPr>
        <p:spPr bwMode="auto">
          <a:xfrm>
            <a:off x="7391400" y="2057401"/>
            <a:ext cx="228600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  </a:t>
            </a:r>
          </a:p>
        </p:txBody>
      </p: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6629400" y="2971800"/>
            <a:ext cx="990600" cy="2209800"/>
            <a:chOff x="2928" y="1872"/>
            <a:chExt cx="624" cy="1392"/>
          </a:xfrm>
        </p:grpSpPr>
        <p:sp>
          <p:nvSpPr>
            <p:cNvPr id="43028" name="Line 28"/>
            <p:cNvSpPr>
              <a:spLocks noChangeShapeType="1"/>
            </p:cNvSpPr>
            <p:nvPr/>
          </p:nvSpPr>
          <p:spPr bwMode="auto">
            <a:xfrm flipV="1">
              <a:off x="3552" y="1872"/>
              <a:ext cx="0" cy="13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3029" name="Line 29"/>
            <p:cNvSpPr>
              <a:spLocks noChangeShapeType="1"/>
            </p:cNvSpPr>
            <p:nvPr/>
          </p:nvSpPr>
          <p:spPr bwMode="auto">
            <a:xfrm>
              <a:off x="2928" y="3264"/>
              <a:ext cx="62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43018" name="Text Box 30"/>
          <p:cNvSpPr txBox="1">
            <a:spLocks noChangeArrowheads="1"/>
          </p:cNvSpPr>
          <p:nvPr/>
        </p:nvSpPr>
        <p:spPr bwMode="auto">
          <a:xfrm>
            <a:off x="3048000" y="3048001"/>
            <a:ext cx="213360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Virtual address</a:t>
            </a:r>
          </a:p>
        </p:txBody>
      </p:sp>
      <p:sp>
        <p:nvSpPr>
          <p:cNvPr id="43019" name="Text Box 31"/>
          <p:cNvSpPr txBox="1">
            <a:spLocks noChangeArrowheads="1"/>
          </p:cNvSpPr>
          <p:nvPr/>
        </p:nvSpPr>
        <p:spPr bwMode="auto">
          <a:xfrm>
            <a:off x="7696200" y="2971800"/>
            <a:ext cx="22098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Real memory address</a:t>
            </a:r>
          </a:p>
        </p:txBody>
      </p: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4343400" y="2057400"/>
            <a:ext cx="4495800" cy="457200"/>
            <a:chOff x="1488" y="1296"/>
            <a:chExt cx="2832" cy="288"/>
          </a:xfrm>
        </p:grpSpPr>
        <p:sp>
          <p:nvSpPr>
            <p:cNvPr id="43025" name="Line 33"/>
            <p:cNvSpPr>
              <a:spLocks noChangeShapeType="1"/>
            </p:cNvSpPr>
            <p:nvPr/>
          </p:nvSpPr>
          <p:spPr bwMode="auto">
            <a:xfrm>
              <a:off x="1488" y="1296"/>
              <a:ext cx="0" cy="2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3026" name="Line 34"/>
            <p:cNvSpPr>
              <a:spLocks noChangeShapeType="1"/>
            </p:cNvSpPr>
            <p:nvPr/>
          </p:nvSpPr>
          <p:spPr bwMode="auto">
            <a:xfrm>
              <a:off x="1488" y="1296"/>
              <a:ext cx="283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3027" name="Line 35"/>
            <p:cNvSpPr>
              <a:spLocks noChangeShapeType="1"/>
            </p:cNvSpPr>
            <p:nvPr/>
          </p:nvSpPr>
          <p:spPr bwMode="auto">
            <a:xfrm>
              <a:off x="4320" y="1296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43021" name="Text Box 36"/>
          <p:cNvSpPr txBox="1">
            <a:spLocks noChangeArrowheads="1"/>
          </p:cNvSpPr>
          <p:nvPr/>
        </p:nvSpPr>
        <p:spPr bwMode="auto">
          <a:xfrm>
            <a:off x="5257800" y="3276600"/>
            <a:ext cx="16002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b="1" dirty="0">
                <a:latin typeface="Calibri" pitchFamily="34" charset="0"/>
              </a:rPr>
              <a:t>Page table</a:t>
            </a:r>
          </a:p>
        </p:txBody>
      </p: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7010400" y="2500314"/>
            <a:ext cx="2971800" cy="395287"/>
            <a:chOff x="3168" y="1575"/>
            <a:chExt cx="1872" cy="249"/>
          </a:xfrm>
        </p:grpSpPr>
        <p:sp>
          <p:nvSpPr>
            <p:cNvPr id="43023" name="Rectangle 39"/>
            <p:cNvSpPr>
              <a:spLocks noChangeArrowheads="1"/>
            </p:cNvSpPr>
            <p:nvPr/>
          </p:nvSpPr>
          <p:spPr bwMode="auto">
            <a:xfrm>
              <a:off x="3168" y="1575"/>
              <a:ext cx="720" cy="2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Frame No</a:t>
              </a:r>
            </a:p>
          </p:txBody>
        </p:sp>
        <p:sp>
          <p:nvSpPr>
            <p:cNvPr id="43024" name="Rectangle 40"/>
            <p:cNvSpPr>
              <a:spLocks noChangeArrowheads="1"/>
            </p:cNvSpPr>
            <p:nvPr/>
          </p:nvSpPr>
          <p:spPr bwMode="auto">
            <a:xfrm>
              <a:off x="3888" y="1575"/>
              <a:ext cx="1152" cy="2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Displacement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Page Address Translation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165956" y="2500314"/>
            <a:ext cx="2819400" cy="395287"/>
            <a:chOff x="144" y="1575"/>
            <a:chExt cx="1776" cy="249"/>
          </a:xfrm>
        </p:grpSpPr>
        <p:sp>
          <p:nvSpPr>
            <p:cNvPr id="44068" name="Rectangle 4"/>
            <p:cNvSpPr>
              <a:spLocks noChangeArrowheads="1"/>
            </p:cNvSpPr>
            <p:nvPr/>
          </p:nvSpPr>
          <p:spPr bwMode="auto">
            <a:xfrm>
              <a:off x="144" y="1575"/>
              <a:ext cx="624" cy="2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0101</a:t>
              </a:r>
            </a:p>
          </p:txBody>
        </p:sp>
        <p:sp>
          <p:nvSpPr>
            <p:cNvPr id="44069" name="Rectangle 5"/>
            <p:cNvSpPr>
              <a:spLocks noChangeArrowheads="1"/>
            </p:cNvSpPr>
            <p:nvPr/>
          </p:nvSpPr>
          <p:spPr bwMode="auto">
            <a:xfrm>
              <a:off x="768" y="1575"/>
              <a:ext cx="1152" cy="2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010110011011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5213956" y="3581400"/>
            <a:ext cx="1295400" cy="2362200"/>
            <a:chOff x="1968" y="2304"/>
            <a:chExt cx="816" cy="1488"/>
          </a:xfrm>
        </p:grpSpPr>
        <p:sp>
          <p:nvSpPr>
            <p:cNvPr id="44057" name="Text Box 7"/>
            <p:cNvSpPr txBox="1">
              <a:spLocks noChangeArrowheads="1"/>
            </p:cNvSpPr>
            <p:nvPr/>
          </p:nvSpPr>
          <p:spPr bwMode="auto">
            <a:xfrm>
              <a:off x="1968" y="2352"/>
              <a:ext cx="192" cy="121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0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1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2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3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4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5</a:t>
              </a:r>
            </a:p>
            <a:p>
              <a:pPr>
                <a:spcBef>
                  <a:spcPct val="50000"/>
                </a:spcBef>
              </a:pPr>
              <a:r>
                <a:rPr lang="en-US" sz="1200" b="1">
                  <a:latin typeface="Calibri" pitchFamily="34" charset="0"/>
                </a:rPr>
                <a:t>6</a:t>
              </a:r>
            </a:p>
          </p:txBody>
        </p:sp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2160" y="2304"/>
              <a:ext cx="624" cy="1488"/>
              <a:chOff x="2304" y="1392"/>
              <a:chExt cx="624" cy="1488"/>
            </a:xfrm>
          </p:grpSpPr>
          <p:sp>
            <p:nvSpPr>
              <p:cNvPr id="44059" name="Rectangle 9"/>
              <p:cNvSpPr>
                <a:spLocks noChangeArrowheads="1"/>
              </p:cNvSpPr>
              <p:nvPr/>
            </p:nvSpPr>
            <p:spPr bwMode="auto">
              <a:xfrm>
                <a:off x="2304" y="1392"/>
                <a:ext cx="624" cy="1488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</a:rPr>
                  <a:t>0111</a:t>
                </a:r>
              </a:p>
              <a:p>
                <a:pPr algn="ctr"/>
                <a:r>
                  <a:rPr lang="en-US" dirty="0">
                    <a:latin typeface="Calibri" pitchFamily="34" charset="0"/>
                  </a:rPr>
                  <a:t>1001</a:t>
                </a:r>
              </a:p>
              <a:p>
                <a:pPr algn="ctr"/>
                <a:r>
                  <a:rPr lang="en-US" dirty="0">
                    <a:latin typeface="Calibri" pitchFamily="34" charset="0"/>
                  </a:rPr>
                  <a:t>0001</a:t>
                </a:r>
              </a:p>
              <a:p>
                <a:pPr algn="ctr"/>
                <a:r>
                  <a:rPr lang="en-US" dirty="0">
                    <a:latin typeface="Calibri" pitchFamily="34" charset="0"/>
                  </a:rPr>
                  <a:t>1011</a:t>
                </a:r>
              </a:p>
              <a:p>
                <a:pPr algn="ctr"/>
                <a:r>
                  <a:rPr lang="en-US" dirty="0">
                    <a:latin typeface="Calibri" pitchFamily="34" charset="0"/>
                  </a:rPr>
                  <a:t>0000</a:t>
                </a:r>
              </a:p>
              <a:p>
                <a:pPr algn="ctr"/>
                <a:r>
                  <a:rPr lang="en-US" dirty="0">
                    <a:latin typeface="Calibri" pitchFamily="34" charset="0"/>
                  </a:rPr>
                  <a:t>1110</a:t>
                </a:r>
              </a:p>
              <a:p>
                <a:pPr algn="ctr"/>
                <a:r>
                  <a:rPr lang="en-US" dirty="0">
                    <a:latin typeface="Calibri" pitchFamily="34" charset="0"/>
                  </a:rPr>
                  <a:t>0110</a:t>
                </a:r>
              </a:p>
              <a:p>
                <a:pPr algn="ctr"/>
                <a:endParaRPr lang="en-US" dirty="0">
                  <a:latin typeface="Calibri" pitchFamily="34" charset="0"/>
                </a:endParaRPr>
              </a:p>
            </p:txBody>
          </p:sp>
          <p:grpSp>
            <p:nvGrpSpPr>
              <p:cNvPr id="5" name="Group 10"/>
              <p:cNvGrpSpPr>
                <a:grpSpLocks/>
              </p:cNvGrpSpPr>
              <p:nvPr/>
            </p:nvGrpSpPr>
            <p:grpSpPr bwMode="auto">
              <a:xfrm>
                <a:off x="2304" y="1632"/>
                <a:ext cx="624" cy="1008"/>
                <a:chOff x="1968" y="1632"/>
                <a:chExt cx="624" cy="1152"/>
              </a:xfrm>
            </p:grpSpPr>
            <p:sp>
              <p:nvSpPr>
                <p:cNvPr id="44061" name="Line 11"/>
                <p:cNvSpPr>
                  <a:spLocks noChangeShapeType="1"/>
                </p:cNvSpPr>
                <p:nvPr/>
              </p:nvSpPr>
              <p:spPr bwMode="auto">
                <a:xfrm>
                  <a:off x="1968" y="1824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4062" name="Line 12"/>
                <p:cNvSpPr>
                  <a:spLocks noChangeShapeType="1"/>
                </p:cNvSpPr>
                <p:nvPr/>
              </p:nvSpPr>
              <p:spPr bwMode="auto">
                <a:xfrm>
                  <a:off x="1968" y="2016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4063" name="Line 13"/>
                <p:cNvSpPr>
                  <a:spLocks noChangeShapeType="1"/>
                </p:cNvSpPr>
                <p:nvPr/>
              </p:nvSpPr>
              <p:spPr bwMode="auto">
                <a:xfrm>
                  <a:off x="1968" y="2784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4064" name="Line 14"/>
                <p:cNvSpPr>
                  <a:spLocks noChangeShapeType="1"/>
                </p:cNvSpPr>
                <p:nvPr/>
              </p:nvSpPr>
              <p:spPr bwMode="auto">
                <a:xfrm>
                  <a:off x="1968" y="2400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4065" name="Line 15"/>
                <p:cNvSpPr>
                  <a:spLocks noChangeShapeType="1"/>
                </p:cNvSpPr>
                <p:nvPr/>
              </p:nvSpPr>
              <p:spPr bwMode="auto">
                <a:xfrm>
                  <a:off x="1968" y="2208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4066" name="Line 16"/>
                <p:cNvSpPr>
                  <a:spLocks noChangeShapeType="1"/>
                </p:cNvSpPr>
                <p:nvPr/>
              </p:nvSpPr>
              <p:spPr bwMode="auto">
                <a:xfrm>
                  <a:off x="1968" y="1632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  <p:sp>
              <p:nvSpPr>
                <p:cNvPr id="44067" name="Line 17"/>
                <p:cNvSpPr>
                  <a:spLocks noChangeShapeType="1"/>
                </p:cNvSpPr>
                <p:nvPr/>
              </p:nvSpPr>
              <p:spPr bwMode="auto">
                <a:xfrm>
                  <a:off x="1968" y="2592"/>
                  <a:ext cx="62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>
                    <a:latin typeface="Calibri" pitchFamily="34" charset="0"/>
                  </a:endParaRPr>
                </a:p>
              </p:txBody>
            </p:sp>
          </p:grpSp>
        </p:grp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2851756" y="2895600"/>
            <a:ext cx="2362200" cy="2286000"/>
            <a:chOff x="576" y="1824"/>
            <a:chExt cx="1488" cy="1440"/>
          </a:xfrm>
        </p:grpSpPr>
        <p:sp>
          <p:nvSpPr>
            <p:cNvPr id="44055" name="Line 19"/>
            <p:cNvSpPr>
              <a:spLocks noChangeShapeType="1"/>
            </p:cNvSpPr>
            <p:nvPr/>
          </p:nvSpPr>
          <p:spPr bwMode="auto">
            <a:xfrm>
              <a:off x="576" y="1824"/>
              <a:ext cx="0" cy="14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4056" name="Line 20"/>
            <p:cNvSpPr>
              <a:spLocks noChangeShapeType="1"/>
            </p:cNvSpPr>
            <p:nvPr/>
          </p:nvSpPr>
          <p:spPr bwMode="auto">
            <a:xfrm>
              <a:off x="576" y="3264"/>
              <a:ext cx="148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44040" name="Text Box 21"/>
          <p:cNvSpPr txBox="1">
            <a:spLocks noChangeArrowheads="1"/>
          </p:cNvSpPr>
          <p:nvPr/>
        </p:nvSpPr>
        <p:spPr bwMode="auto">
          <a:xfrm>
            <a:off x="7347556" y="2057401"/>
            <a:ext cx="228600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  </a:t>
            </a:r>
          </a:p>
        </p:txBody>
      </p: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6585556" y="2971800"/>
            <a:ext cx="990600" cy="2209800"/>
            <a:chOff x="2928" y="1872"/>
            <a:chExt cx="624" cy="1392"/>
          </a:xfrm>
        </p:grpSpPr>
        <p:sp>
          <p:nvSpPr>
            <p:cNvPr id="44053" name="Line 23"/>
            <p:cNvSpPr>
              <a:spLocks noChangeShapeType="1"/>
            </p:cNvSpPr>
            <p:nvPr/>
          </p:nvSpPr>
          <p:spPr bwMode="auto">
            <a:xfrm flipV="1">
              <a:off x="3552" y="1872"/>
              <a:ext cx="0" cy="13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4054" name="Line 24"/>
            <p:cNvSpPr>
              <a:spLocks noChangeShapeType="1"/>
            </p:cNvSpPr>
            <p:nvPr/>
          </p:nvSpPr>
          <p:spPr bwMode="auto">
            <a:xfrm>
              <a:off x="2928" y="3264"/>
              <a:ext cx="62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44042" name="Text Box 25"/>
          <p:cNvSpPr txBox="1">
            <a:spLocks noChangeArrowheads="1"/>
          </p:cNvSpPr>
          <p:nvPr/>
        </p:nvSpPr>
        <p:spPr bwMode="auto">
          <a:xfrm>
            <a:off x="3004156" y="3048001"/>
            <a:ext cx="213360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Memory address</a:t>
            </a:r>
          </a:p>
        </p:txBody>
      </p:sp>
      <p:sp>
        <p:nvSpPr>
          <p:cNvPr id="44043" name="Text Box 26"/>
          <p:cNvSpPr txBox="1">
            <a:spLocks noChangeArrowheads="1"/>
          </p:cNvSpPr>
          <p:nvPr/>
        </p:nvSpPr>
        <p:spPr bwMode="auto">
          <a:xfrm>
            <a:off x="7652356" y="2971800"/>
            <a:ext cx="2209800" cy="6413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Converted memory address</a:t>
            </a: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4299556" y="2057400"/>
            <a:ext cx="4495800" cy="457200"/>
            <a:chOff x="1488" y="1296"/>
            <a:chExt cx="2832" cy="288"/>
          </a:xfrm>
        </p:grpSpPr>
        <p:sp>
          <p:nvSpPr>
            <p:cNvPr id="44050" name="Line 28"/>
            <p:cNvSpPr>
              <a:spLocks noChangeShapeType="1"/>
            </p:cNvSpPr>
            <p:nvPr/>
          </p:nvSpPr>
          <p:spPr bwMode="auto">
            <a:xfrm>
              <a:off x="1488" y="1296"/>
              <a:ext cx="0" cy="2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4051" name="Line 29"/>
            <p:cNvSpPr>
              <a:spLocks noChangeShapeType="1"/>
            </p:cNvSpPr>
            <p:nvPr/>
          </p:nvSpPr>
          <p:spPr bwMode="auto">
            <a:xfrm>
              <a:off x="1488" y="1296"/>
              <a:ext cx="283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44052" name="Line 30"/>
            <p:cNvSpPr>
              <a:spLocks noChangeShapeType="1"/>
            </p:cNvSpPr>
            <p:nvPr/>
          </p:nvSpPr>
          <p:spPr bwMode="auto">
            <a:xfrm>
              <a:off x="4320" y="1296"/>
              <a:ext cx="0" cy="2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44045" name="Text Box 31"/>
          <p:cNvSpPr txBox="1">
            <a:spLocks noChangeArrowheads="1"/>
          </p:cNvSpPr>
          <p:nvPr/>
        </p:nvSpPr>
        <p:spPr bwMode="auto">
          <a:xfrm>
            <a:off x="5213956" y="3276600"/>
            <a:ext cx="16002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b="1" dirty="0">
                <a:latin typeface="Calibri" pitchFamily="34" charset="0"/>
              </a:rPr>
              <a:t>Page table</a:t>
            </a:r>
          </a:p>
        </p:txBody>
      </p: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6966556" y="2500314"/>
            <a:ext cx="2971800" cy="395287"/>
            <a:chOff x="3168" y="1575"/>
            <a:chExt cx="1872" cy="249"/>
          </a:xfrm>
        </p:grpSpPr>
        <p:sp>
          <p:nvSpPr>
            <p:cNvPr id="44048" name="Rectangle 33"/>
            <p:cNvSpPr>
              <a:spLocks noChangeArrowheads="1"/>
            </p:cNvSpPr>
            <p:nvPr/>
          </p:nvSpPr>
          <p:spPr bwMode="auto">
            <a:xfrm>
              <a:off x="3168" y="1575"/>
              <a:ext cx="720" cy="2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1110</a:t>
              </a:r>
            </a:p>
          </p:txBody>
        </p:sp>
        <p:sp>
          <p:nvSpPr>
            <p:cNvPr id="44049" name="Rectangle 34"/>
            <p:cNvSpPr>
              <a:spLocks noChangeArrowheads="1"/>
            </p:cNvSpPr>
            <p:nvPr/>
          </p:nvSpPr>
          <p:spPr bwMode="auto">
            <a:xfrm>
              <a:off x="3888" y="1575"/>
              <a:ext cx="1152" cy="2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010110011011</a:t>
              </a:r>
            </a:p>
          </p:txBody>
        </p:sp>
      </p:grpSp>
      <p:sp>
        <p:nvSpPr>
          <p:cNvPr id="44047" name="Text Box 35"/>
          <p:cNvSpPr txBox="1">
            <a:spLocks noChangeArrowheads="1"/>
          </p:cNvSpPr>
          <p:nvPr/>
        </p:nvSpPr>
        <p:spPr bwMode="auto">
          <a:xfrm>
            <a:off x="2394556" y="2057401"/>
            <a:ext cx="228600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b="1" dirty="0">
                <a:latin typeface="Calibri" pitchFamily="34" charset="0"/>
              </a:rPr>
              <a:t>  p  	     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70052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Internal Fragmentation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51063"/>
            <a:ext cx="10841182" cy="6606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occurs when: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Allocated memory is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slightly larger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than required memory,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unused space lies inside the allocated block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this happens because: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Pages have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fixed size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size is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always a multiple of page size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 page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usually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partially filled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 page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a process can cause internal fragmentation.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/>
              <a:t>Why Internal Fragmentation Happens in Paging?</a:t>
            </a:r>
          </a:p>
          <a:p>
            <a:pPr marL="0" indent="0">
              <a:buNone/>
            </a:pPr>
            <a:r>
              <a:rPr lang="en-US" sz="2000" dirty="0"/>
              <a:t>Paging divides memory into </a:t>
            </a:r>
            <a:r>
              <a:rPr lang="en-US" sz="2000" b="1" dirty="0"/>
              <a:t>equal-sized frames</a:t>
            </a:r>
            <a:r>
              <a:rPr lang="en-US" sz="2000" dirty="0"/>
              <a:t>, so:</a:t>
            </a:r>
          </a:p>
          <a:p>
            <a:r>
              <a:rPr lang="en-US" sz="2000" dirty="0"/>
              <a:t>Even if a process needs </a:t>
            </a:r>
            <a:r>
              <a:rPr lang="en-US" sz="2000" b="1" dirty="0"/>
              <a:t>1 extra byte</a:t>
            </a:r>
            <a:r>
              <a:rPr lang="en-US" sz="2000" dirty="0"/>
              <a:t>,</a:t>
            </a:r>
            <a:br>
              <a:rPr lang="en-US" sz="2000" dirty="0"/>
            </a:br>
            <a:r>
              <a:rPr lang="en-US" sz="2000" dirty="0"/>
              <a:t>the OS must allocate </a:t>
            </a:r>
            <a:r>
              <a:rPr lang="en-US" sz="2000" b="1" dirty="0"/>
              <a:t>one full page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Remaining </a:t>
            </a:r>
            <a:r>
              <a:rPr lang="en-US" sz="2000" dirty="0"/>
              <a:t>unused bytes in that page = </a:t>
            </a:r>
            <a:r>
              <a:rPr lang="en-US" sz="2000" b="1" dirty="0"/>
              <a:t>internal fragmentation</a:t>
            </a:r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343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5619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Example: Internal Fragmentation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62000"/>
            <a:ext cx="4897582" cy="54419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Given:</a:t>
            </a:r>
          </a:p>
          <a:p>
            <a:r>
              <a:rPr lang="en-US" b="1" dirty="0"/>
              <a:t>Page size = 2048 bytes</a:t>
            </a:r>
            <a:endParaRPr lang="en-US" dirty="0"/>
          </a:p>
          <a:p>
            <a:r>
              <a:rPr lang="en-US" b="1" dirty="0"/>
              <a:t>Process size = 72,766 </a:t>
            </a:r>
            <a:r>
              <a:rPr lang="en-US" b="1" dirty="0" smtClean="0"/>
              <a:t>bytes</a:t>
            </a:r>
          </a:p>
          <a:p>
            <a:pPr marL="0" indent="0">
              <a:buNone/>
            </a:pPr>
            <a:r>
              <a:rPr lang="en-US" b="1" dirty="0" smtClean="0"/>
              <a:t>Solution: </a:t>
            </a:r>
          </a:p>
          <a:p>
            <a:r>
              <a:rPr lang="en-US" b="1" dirty="0"/>
              <a:t>Step 1: Calculate Number of Pages Needed</a:t>
            </a:r>
          </a:p>
          <a:p>
            <a:pPr marL="0" indent="0">
              <a:buNone/>
            </a:pPr>
            <a:r>
              <a:rPr lang="en-US" dirty="0"/>
              <a:t>Divide process size by page size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72,766 ÷ 2,048 = 35.53</a:t>
            </a:r>
          </a:p>
          <a:p>
            <a:pPr marL="0" indent="0">
              <a:buNone/>
            </a:pPr>
            <a:r>
              <a:rPr lang="en-US" dirty="0"/>
              <a:t>Since partial pages are </a:t>
            </a:r>
            <a:r>
              <a:rPr lang="en-US" b="1" dirty="0"/>
              <a:t>not allowed</a:t>
            </a:r>
            <a:r>
              <a:rPr lang="en-US" dirty="0"/>
              <a:t>, round </a:t>
            </a:r>
            <a:r>
              <a:rPr lang="en-US" b="1" dirty="0"/>
              <a:t>up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Total pages = 36 pages</a:t>
            </a:r>
          </a:p>
          <a:p>
            <a:pPr marL="0" indent="0">
              <a:buNone/>
            </a:pPr>
            <a:r>
              <a:rPr lang="en-US" dirty="0"/>
              <a:t>This means:</a:t>
            </a:r>
          </a:p>
          <a:p>
            <a:r>
              <a:rPr lang="en-US" dirty="0"/>
              <a:t>35 pages are </a:t>
            </a:r>
            <a:r>
              <a:rPr lang="en-US" b="1" dirty="0"/>
              <a:t>fully used</a:t>
            </a:r>
            <a:endParaRPr lang="en-US" dirty="0"/>
          </a:p>
          <a:p>
            <a:r>
              <a:rPr lang="en-US" dirty="0"/>
              <a:t>1 page is </a:t>
            </a:r>
            <a:r>
              <a:rPr lang="en-US" b="1" dirty="0"/>
              <a:t>partially </a:t>
            </a:r>
            <a:r>
              <a:rPr lang="en-US" b="1" dirty="0" smtClean="0"/>
              <a:t>used</a:t>
            </a:r>
          </a:p>
          <a:p>
            <a:pPr marL="0" indent="0">
              <a:buNone/>
            </a:pPr>
            <a:r>
              <a:rPr lang="en-US" b="1" dirty="0" smtClean="0"/>
              <a:t>Step 2: Calculate Used Bytes in Last Page                                           </a:t>
            </a:r>
          </a:p>
          <a:p>
            <a:pPr marL="0" indent="0">
              <a:buNone/>
            </a:pPr>
            <a:r>
              <a:rPr lang="en-US" dirty="0" smtClean="0"/>
              <a:t>Bytes </a:t>
            </a:r>
            <a:r>
              <a:rPr lang="en-US" dirty="0"/>
              <a:t>used in last page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Used bytes = 72,766 − (35 × 2,048)</a:t>
            </a:r>
          </a:p>
          <a:p>
            <a:pPr marL="0" indent="0">
              <a:buNone/>
            </a:pPr>
            <a:r>
              <a:rPr lang="en-US" dirty="0"/>
              <a:t>Used bytes = 72,766 − 71,680</a:t>
            </a:r>
          </a:p>
          <a:p>
            <a:pPr marL="0" indent="0">
              <a:buNone/>
            </a:pPr>
            <a:r>
              <a:rPr lang="en-US" dirty="0"/>
              <a:t>Used bytes = 1,086 bytes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442364" y="3590743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 err="1"/>
              <a:t>Step</a:t>
            </a:r>
            <a:r>
              <a:rPr lang="fr-FR" b="1" dirty="0"/>
              <a:t> 3: </a:t>
            </a:r>
            <a:r>
              <a:rPr lang="fr-FR" b="1" dirty="0" err="1"/>
              <a:t>Calculate</a:t>
            </a:r>
            <a:r>
              <a:rPr lang="fr-FR" b="1" dirty="0"/>
              <a:t> </a:t>
            </a:r>
            <a:r>
              <a:rPr lang="fr-FR" b="1" dirty="0" err="1"/>
              <a:t>Internal</a:t>
            </a:r>
            <a:r>
              <a:rPr lang="fr-FR" b="1" dirty="0"/>
              <a:t> </a:t>
            </a:r>
            <a:r>
              <a:rPr lang="fr-FR" b="1" dirty="0" smtClean="0"/>
              <a:t>Fragmentation</a:t>
            </a:r>
          </a:p>
          <a:p>
            <a:endParaRPr lang="fr-FR" b="1" dirty="0"/>
          </a:p>
          <a:p>
            <a:r>
              <a:rPr lang="fr-FR" dirty="0" err="1"/>
              <a:t>Internal</a:t>
            </a:r>
            <a:r>
              <a:rPr lang="fr-FR" dirty="0"/>
              <a:t> Fragmentation</a:t>
            </a:r>
            <a:r>
              <a:rPr lang="fr-FR" dirty="0" smtClean="0"/>
              <a:t>:</a:t>
            </a:r>
          </a:p>
          <a:p>
            <a:r>
              <a:rPr lang="fr-FR" dirty="0" err="1"/>
              <a:t>Internal</a:t>
            </a:r>
            <a:r>
              <a:rPr lang="fr-FR" dirty="0"/>
              <a:t> Fragmentation = Page size − </a:t>
            </a:r>
            <a:r>
              <a:rPr lang="fr-FR" dirty="0" err="1"/>
              <a:t>Used</a:t>
            </a:r>
            <a:r>
              <a:rPr lang="fr-FR" dirty="0"/>
              <a:t> bytes</a:t>
            </a:r>
          </a:p>
          <a:p>
            <a:r>
              <a:rPr lang="fr-FR" dirty="0"/>
              <a:t>= 2,048 − 1,086</a:t>
            </a:r>
          </a:p>
          <a:p>
            <a:r>
              <a:rPr lang="fr-FR" dirty="0"/>
              <a:t>= 962 bytes</a:t>
            </a:r>
          </a:p>
          <a:p>
            <a:endParaRPr lang="en-US" b="1" dirty="0"/>
          </a:p>
          <a:p>
            <a:r>
              <a:rPr lang="en-US" b="1" dirty="0" smtClean="0"/>
              <a:t>Internal </a:t>
            </a:r>
            <a:r>
              <a:rPr lang="en-US" b="1" dirty="0"/>
              <a:t>Fragmentation = 962 bytes</a:t>
            </a:r>
            <a:endParaRPr lang="en-US" dirty="0"/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5203035" y="762000"/>
            <a:ext cx="698896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General Formula</a:t>
            </a:r>
            <a:r>
              <a:rPr lang="en-US" sz="2000" b="1" dirty="0" smtClean="0"/>
              <a:t>:</a:t>
            </a:r>
          </a:p>
          <a:p>
            <a:r>
              <a:rPr lang="en-US" sz="2000" dirty="0"/>
              <a:t>Internal Fragmentation = Page Size − (Process Size mod Page Size)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00583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&amp; Average Case </a:t>
            </a:r>
            <a:r>
              <a:rPr lang="en-US" dirty="0" smtClean="0"/>
              <a:t>Fragmentation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7551"/>
            <a:ext cx="5340927" cy="49371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Worst </a:t>
            </a:r>
            <a:r>
              <a:rPr lang="en-US" b="1" dirty="0"/>
              <a:t>Case Fragmentation:</a:t>
            </a:r>
          </a:p>
          <a:p>
            <a:r>
              <a:rPr lang="en-US" dirty="0"/>
              <a:t>1 frame − 1 byte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Page size = 2048 bytes</a:t>
            </a:r>
          </a:p>
          <a:p>
            <a:r>
              <a:rPr lang="en-US" dirty="0"/>
              <a:t>Process uses only 1 byte in last page</a:t>
            </a:r>
          </a:p>
          <a:p>
            <a:r>
              <a:rPr lang="en-US" dirty="0"/>
              <a:t>Waste = 2047 </a:t>
            </a:r>
            <a:r>
              <a:rPr lang="en-US" dirty="0" smtClean="0"/>
              <a:t>bytes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Average Fragmentation</a:t>
            </a:r>
            <a:r>
              <a:rPr lang="en-US" dirty="0" smtClean="0"/>
              <a:t>:</a:t>
            </a:r>
          </a:p>
          <a:p>
            <a:r>
              <a:rPr lang="en-US" dirty="0"/>
              <a:t>½ frame size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Page size = 2048 bytes</a:t>
            </a:r>
          </a:p>
          <a:p>
            <a:r>
              <a:rPr lang="en-US" dirty="0"/>
              <a:t>Average waste = 1024 bytes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691746" y="2274838"/>
            <a:ext cx="537556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Practice Question: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Page size = 1 KB, process size = 10.5 KB</a:t>
            </a:r>
            <a:br>
              <a:rPr lang="en-US" sz="2400" dirty="0"/>
            </a:br>
            <a:r>
              <a:rPr lang="en-US" sz="2400" dirty="0"/>
              <a:t>Find internal fragmentation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/>
              <a:t>Approach: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Convert to bytes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Calculate pages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Subtract used space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Apply formula</a:t>
            </a:r>
          </a:p>
        </p:txBody>
      </p:sp>
    </p:spTree>
    <p:extLst>
      <p:ext uri="{BB962C8B-B14F-4D97-AF65-F5344CB8AC3E}">
        <p14:creationId xmlns:p14="http://schemas.microsoft.com/office/powerpoint/2010/main" val="850823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548120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Solution: Internal Fragmentation in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019" y="748146"/>
            <a:ext cx="5749636" cy="5760604"/>
          </a:xfrm>
        </p:spPr>
        <p:txBody>
          <a:bodyPr>
            <a:normAutofit/>
          </a:bodyPr>
          <a:lstStyle/>
          <a:p>
            <a:r>
              <a:rPr lang="en-US" sz="2200" b="1" dirty="0"/>
              <a:t>Given:</a:t>
            </a:r>
          </a:p>
          <a:p>
            <a:r>
              <a:rPr lang="en-US" sz="2200" b="1" dirty="0"/>
              <a:t>Page size = 1 KB</a:t>
            </a:r>
            <a:endParaRPr lang="en-US" sz="2200" dirty="0"/>
          </a:p>
          <a:p>
            <a:r>
              <a:rPr lang="en-US" sz="2200" b="1" dirty="0"/>
              <a:t>Process size = 10.5 </a:t>
            </a:r>
            <a:r>
              <a:rPr lang="en-US" sz="2200" b="1" dirty="0" smtClean="0"/>
              <a:t>KB</a:t>
            </a:r>
            <a:endParaRPr lang="en-US" sz="22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b="1" dirty="0" smtClean="0">
                <a:latin typeface="Arial" panose="020B0604020202020204" pitchFamily="34" charset="0"/>
              </a:rPr>
              <a:t>Step </a:t>
            </a:r>
            <a:r>
              <a:rPr lang="en-US" altLang="en-US" sz="1900" b="1" dirty="0">
                <a:latin typeface="Arial" panose="020B0604020202020204" pitchFamily="34" charset="0"/>
              </a:rPr>
              <a:t>1: Convert to Bytes</a:t>
            </a:r>
          </a:p>
          <a:p>
            <a:pPr marL="0" indent="0">
              <a:buNone/>
            </a:pPr>
            <a:r>
              <a:rPr lang="en-US" sz="2200" dirty="0" smtClean="0"/>
              <a:t>1 </a:t>
            </a:r>
            <a:r>
              <a:rPr lang="en-US" sz="2200" dirty="0"/>
              <a:t>KB = 1024 bytes</a:t>
            </a:r>
          </a:p>
          <a:p>
            <a:pPr marL="0" indent="0">
              <a:buNone/>
            </a:pPr>
            <a:r>
              <a:rPr lang="en-US" sz="2200" dirty="0" smtClean="0"/>
              <a:t>Process Size:</a:t>
            </a:r>
          </a:p>
          <a:p>
            <a:pPr marL="0" indent="0">
              <a:buNone/>
            </a:pPr>
            <a:r>
              <a:rPr lang="en-US" sz="2200" dirty="0"/>
              <a:t>= 10.5 × 1024 = 10,752 bytes</a:t>
            </a:r>
          </a:p>
          <a:p>
            <a:pPr marL="0" indent="0">
              <a:buNone/>
            </a:pPr>
            <a:r>
              <a:rPr lang="en-US" sz="2200" b="1" dirty="0"/>
              <a:t>Step 2: Calculate Number of Pages </a:t>
            </a:r>
            <a:r>
              <a:rPr lang="en-US" sz="2200" b="1" dirty="0" smtClean="0"/>
              <a:t>Required</a:t>
            </a:r>
          </a:p>
          <a:p>
            <a:pPr marL="0" indent="0">
              <a:buNone/>
            </a:pPr>
            <a:r>
              <a:rPr lang="en-US" sz="2200" dirty="0" smtClean="0"/>
              <a:t>Number </a:t>
            </a:r>
            <a:r>
              <a:rPr lang="en-US" sz="2200" dirty="0"/>
              <a:t>of pages = Process size / Page size</a:t>
            </a:r>
          </a:p>
          <a:p>
            <a:pPr marL="0" indent="0">
              <a:buNone/>
            </a:pPr>
            <a:r>
              <a:rPr lang="en-US" sz="2200" dirty="0"/>
              <a:t>= 10,752 / 1,024</a:t>
            </a:r>
          </a:p>
          <a:p>
            <a:pPr marL="0" indent="0">
              <a:buNone/>
            </a:pPr>
            <a:r>
              <a:rPr lang="en-US" sz="2200" dirty="0"/>
              <a:t>= 10.5 pages</a:t>
            </a:r>
          </a:p>
          <a:p>
            <a:pPr marL="0" indent="0">
              <a:buNone/>
            </a:pPr>
            <a:r>
              <a:rPr lang="en-US" sz="2200" dirty="0"/>
              <a:t>Since a process cannot occupy a fraction of a page</a:t>
            </a:r>
            <a:r>
              <a:rPr lang="en-US" sz="2200" dirty="0" smtClean="0"/>
              <a:t>:</a:t>
            </a:r>
          </a:p>
          <a:p>
            <a:pPr marL="0" indent="0">
              <a:buNone/>
            </a:pPr>
            <a:r>
              <a:rPr lang="fr-FR" sz="2200" b="1" dirty="0"/>
              <a:t>Total pages </a:t>
            </a:r>
            <a:r>
              <a:rPr lang="fr-FR" sz="2200" b="1" dirty="0" err="1"/>
              <a:t>allocated</a:t>
            </a:r>
            <a:r>
              <a:rPr lang="fr-FR" sz="2200" b="1" dirty="0"/>
              <a:t> </a:t>
            </a:r>
            <a:r>
              <a:rPr lang="fr-FR" sz="2200" dirty="0"/>
              <a:t>= 11 pages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929745" y="950792"/>
            <a:ext cx="641465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Step 3: Calculate Used Space in the Last </a:t>
            </a:r>
            <a:r>
              <a:rPr lang="en-US" b="1" dirty="0" smtClean="0"/>
              <a:t>Page</a:t>
            </a:r>
          </a:p>
          <a:p>
            <a:endParaRPr lang="en-US" b="1" dirty="0"/>
          </a:p>
          <a:p>
            <a:r>
              <a:rPr lang="en-US" dirty="0"/>
              <a:t>Space used by 10 full pages</a:t>
            </a:r>
            <a:r>
              <a:rPr lang="en-US" dirty="0" smtClean="0"/>
              <a:t>:</a:t>
            </a:r>
          </a:p>
          <a:p>
            <a:r>
              <a:rPr lang="en-US" dirty="0"/>
              <a:t>= 10 × 1,024 = 10,240 bytes</a:t>
            </a:r>
          </a:p>
          <a:p>
            <a:r>
              <a:rPr lang="en-US" dirty="0"/>
              <a:t>Remaining data in last page</a:t>
            </a:r>
            <a:r>
              <a:rPr lang="en-US" dirty="0" smtClean="0"/>
              <a:t>:</a:t>
            </a:r>
          </a:p>
          <a:p>
            <a:r>
              <a:rPr lang="en-US" dirty="0"/>
              <a:t>= 10,752 − 10,240</a:t>
            </a:r>
          </a:p>
          <a:p>
            <a:r>
              <a:rPr lang="en-US" dirty="0"/>
              <a:t>= 512 </a:t>
            </a:r>
            <a:r>
              <a:rPr lang="en-US" dirty="0" smtClean="0"/>
              <a:t>bytes</a:t>
            </a:r>
          </a:p>
          <a:p>
            <a:endParaRPr lang="en-US" dirty="0"/>
          </a:p>
          <a:p>
            <a:r>
              <a:rPr lang="en-US" b="1" dirty="0"/>
              <a:t>Step 4: Calculate Internal </a:t>
            </a:r>
            <a:r>
              <a:rPr lang="en-US" b="1" dirty="0" smtClean="0"/>
              <a:t>Fragmentation</a:t>
            </a:r>
          </a:p>
          <a:p>
            <a:r>
              <a:rPr lang="en-US" dirty="0"/>
              <a:t>Internal Fragmentation = Page size − Used space in last page</a:t>
            </a:r>
          </a:p>
          <a:p>
            <a:r>
              <a:rPr lang="en-US" dirty="0"/>
              <a:t>= 1,024 − 512</a:t>
            </a:r>
          </a:p>
          <a:p>
            <a:r>
              <a:rPr lang="en-US" dirty="0"/>
              <a:t>= 512 bytes</a:t>
            </a:r>
          </a:p>
          <a:p>
            <a:r>
              <a:rPr lang="en-US" b="1" dirty="0"/>
              <a:t>Internal Fragmentation = 512 bytes</a:t>
            </a:r>
            <a:endParaRPr lang="en-US" dirty="0"/>
          </a:p>
          <a:p>
            <a:endParaRPr lang="en-US" dirty="0" smtClean="0"/>
          </a:p>
          <a:p>
            <a:r>
              <a:rPr lang="en-US" b="1" dirty="0" smtClean="0"/>
              <a:t>Direct Solution:</a:t>
            </a:r>
          </a:p>
          <a:p>
            <a:r>
              <a:rPr lang="en-US" dirty="0"/>
              <a:t>Internal Fragmentation = Page size − (Process size mod Page size)</a:t>
            </a:r>
          </a:p>
          <a:p>
            <a:r>
              <a:rPr lang="en-US" dirty="0"/>
              <a:t>= 1024 − (10,752 mod 1,024)</a:t>
            </a:r>
          </a:p>
          <a:p>
            <a:r>
              <a:rPr lang="en-US" dirty="0"/>
              <a:t>= 1024 − 512</a:t>
            </a:r>
          </a:p>
          <a:p>
            <a:r>
              <a:rPr lang="en-US" dirty="0"/>
              <a:t>= 512 bytes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6052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Page Table Structure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Hierarchical Page Tables</a:t>
            </a:r>
          </a:p>
          <a:p>
            <a:r>
              <a:rPr lang="en-US"/>
              <a:t>Hashed Page Tables</a:t>
            </a:r>
          </a:p>
          <a:p>
            <a:r>
              <a:rPr lang="en-US"/>
              <a:t>Inverted Page Tables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728230"/>
          </a:xfrm>
        </p:spPr>
        <p:txBody>
          <a:bodyPr>
            <a:normAutofit/>
          </a:bodyPr>
          <a:lstStyle/>
          <a:p>
            <a:r>
              <a:rPr lang="en-US" sz="2800" dirty="0"/>
              <a:t>Hierarchical Page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655" y="671079"/>
            <a:ext cx="7807036" cy="5757430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(Hierarchical) Page </a:t>
            </a: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one large page table, the table is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multiple levels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level points to the next level.</a:t>
            </a:r>
          </a:p>
          <a:p>
            <a:pPr marL="0" indent="0">
              <a:buNone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needed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memory usage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page tables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when required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address spaces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(Conceptually)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is split into:</a:t>
            </a:r>
          </a:p>
          <a:p>
            <a:pPr lvl="1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page number</a:t>
            </a:r>
          </a:p>
          <a:p>
            <a:pPr lvl="1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page number</a:t>
            </a:r>
          </a:p>
          <a:p>
            <a:pPr lvl="1"/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Offset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table entry points to an inner table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table entry gives the frame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</a:p>
          <a:p>
            <a:pPr marL="0" indent="0">
              <a:buNone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memory compared to single-level paging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translation time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in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 and 64-bit systems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703127" y="2171021"/>
            <a:ext cx="436418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Diagram</a:t>
            </a:r>
          </a:p>
          <a:p>
            <a:endParaRPr lang="en-US" sz="2000" b="1" dirty="0" smtClean="0"/>
          </a:p>
          <a:p>
            <a:r>
              <a:rPr lang="en-US" dirty="0" smtClean="0"/>
              <a:t>Virtual </a:t>
            </a:r>
            <a:r>
              <a:rPr lang="en-US" dirty="0"/>
              <a:t>Address</a:t>
            </a:r>
          </a:p>
          <a:p>
            <a:r>
              <a:rPr lang="en-US" dirty="0"/>
              <a:t>   |</a:t>
            </a:r>
          </a:p>
          <a:p>
            <a:r>
              <a:rPr lang="en-US" dirty="0"/>
              <a:t>   v</a:t>
            </a:r>
          </a:p>
          <a:p>
            <a:r>
              <a:rPr lang="en-US" dirty="0"/>
              <a:t>Outer Page Table</a:t>
            </a:r>
          </a:p>
          <a:p>
            <a:r>
              <a:rPr lang="en-US" dirty="0"/>
              <a:t>   |</a:t>
            </a:r>
          </a:p>
          <a:p>
            <a:r>
              <a:rPr lang="en-US" dirty="0"/>
              <a:t>   v</a:t>
            </a:r>
          </a:p>
          <a:p>
            <a:r>
              <a:rPr lang="en-US" dirty="0"/>
              <a:t>Inner Page Table</a:t>
            </a:r>
          </a:p>
          <a:p>
            <a:r>
              <a:rPr lang="en-US" dirty="0"/>
              <a:t>   |</a:t>
            </a:r>
          </a:p>
          <a:p>
            <a:r>
              <a:rPr lang="en-US" dirty="0"/>
              <a:t>   v</a:t>
            </a:r>
          </a:p>
          <a:p>
            <a:r>
              <a:rPr lang="en-US" dirty="0"/>
              <a:t>Physical Frame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6"/>
            <a:ext cx="10515600" cy="742084"/>
          </a:xfrm>
        </p:spPr>
        <p:txBody>
          <a:bodyPr>
            <a:normAutofit/>
          </a:bodyPr>
          <a:lstStyle/>
          <a:p>
            <a:r>
              <a:rPr lang="en-US" sz="2800" dirty="0"/>
              <a:t>Hashed Page Tables</a:t>
            </a:r>
          </a:p>
        </p:txBody>
      </p:sp>
      <p:sp>
        <p:nvSpPr>
          <p:cNvPr id="51205" name="Rectangle 3"/>
          <p:cNvSpPr>
            <a:spLocks noGrp="1" noChangeArrowheads="1"/>
          </p:cNvSpPr>
          <p:nvPr>
            <p:ph idx="1"/>
          </p:nvPr>
        </p:nvSpPr>
        <p:spPr>
          <a:xfrm>
            <a:off x="976746" y="934222"/>
            <a:ext cx="6338455" cy="493712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page number is passed through a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locate the page table entry.</a:t>
            </a:r>
          </a:p>
          <a:p>
            <a:pPr marL="0" indent="0">
              <a:buNone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needed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large address spaces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size of page table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when virtual addresses are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Hash(Virtual Page Number) → index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that index, a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entries may exist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entry stores:</a:t>
            </a:r>
          </a:p>
          <a:p>
            <a:pPr lvl="1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page number</a:t>
            </a:r>
          </a:p>
          <a:p>
            <a:pPr lvl="1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frame number</a:t>
            </a:r>
          </a:p>
          <a:p>
            <a:pPr lvl="1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to next entry</a:t>
            </a:r>
          </a:p>
          <a:p>
            <a:pPr marL="0" indent="0">
              <a:buNone/>
            </a:pPr>
            <a:r>
              <a:rPr lang="en-US" sz="8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lookup for large address spaces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collisions may occur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used in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 systems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305800" y="2110124"/>
            <a:ext cx="337358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Diagram:</a:t>
            </a:r>
          </a:p>
          <a:p>
            <a:endParaRPr lang="en-US" b="1" dirty="0" smtClean="0"/>
          </a:p>
          <a:p>
            <a:r>
              <a:rPr lang="en-US" dirty="0" smtClean="0"/>
              <a:t>Virtual </a:t>
            </a:r>
            <a:r>
              <a:rPr lang="en-US" dirty="0"/>
              <a:t>Page Number</a:t>
            </a:r>
          </a:p>
          <a:p>
            <a:r>
              <a:rPr lang="en-US" dirty="0"/>
              <a:t>        |</a:t>
            </a:r>
          </a:p>
          <a:p>
            <a:r>
              <a:rPr lang="en-US" dirty="0"/>
              <a:t>      Hash</a:t>
            </a:r>
          </a:p>
          <a:p>
            <a:r>
              <a:rPr lang="en-US" dirty="0"/>
              <a:t>        |</a:t>
            </a:r>
          </a:p>
          <a:p>
            <a:r>
              <a:rPr lang="en-US" dirty="0"/>
              <a:t>     Bucket</a:t>
            </a:r>
          </a:p>
          <a:p>
            <a:r>
              <a:rPr lang="en-US" dirty="0"/>
              <a:t>     /    \</a:t>
            </a:r>
          </a:p>
          <a:p>
            <a:r>
              <a:rPr lang="en-US" dirty="0"/>
              <a:t>Entry → Entry → NULL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13880"/>
            <a:ext cx="10515600" cy="658957"/>
          </a:xfrm>
        </p:spPr>
        <p:txBody>
          <a:bodyPr>
            <a:normAutofit/>
          </a:bodyPr>
          <a:lstStyle/>
          <a:p>
            <a:r>
              <a:rPr lang="en-US" sz="2800" dirty="0"/>
              <a:t>Inverted Page Table</a:t>
            </a:r>
          </a:p>
        </p:txBody>
      </p:sp>
      <p:sp>
        <p:nvSpPr>
          <p:cNvPr id="53253" name="Rectangle 3"/>
          <p:cNvSpPr>
            <a:spLocks noGrp="1" noChangeArrowheads="1"/>
          </p:cNvSpPr>
          <p:nvPr>
            <p:ph idx="1"/>
          </p:nvPr>
        </p:nvSpPr>
        <p:spPr>
          <a:xfrm>
            <a:off x="616527" y="1100425"/>
            <a:ext cx="7460673" cy="493712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Instead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one page table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process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there is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global page table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entire system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needed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Drastically reduces memory overhead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size depends on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memory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virtual memory</a:t>
            </a:r>
          </a:p>
          <a:p>
            <a:pPr marL="0" indent="0">
              <a:buNone/>
            </a:pPr>
            <a:r>
              <a:rPr lang="en-US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entry per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frame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entry stores: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ID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page number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a page, the system searches the table (usually using hashing)</a:t>
            </a:r>
          </a:p>
          <a:p>
            <a:pPr marL="0" indent="0">
              <a:buNone/>
            </a:pPr>
            <a:endParaRPr lang="en-US" sz="29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memory-efficient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memory becomes complex</a:t>
            </a:r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305800" y="2260937"/>
            <a:ext cx="3048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Diagram:</a:t>
            </a:r>
          </a:p>
          <a:p>
            <a:endParaRPr lang="en-US" dirty="0"/>
          </a:p>
          <a:p>
            <a:r>
              <a:rPr lang="en-US" dirty="0" smtClean="0"/>
              <a:t>Physical </a:t>
            </a:r>
            <a:r>
              <a:rPr lang="en-US" dirty="0"/>
              <a:t>Frame Table</a:t>
            </a:r>
          </a:p>
          <a:p>
            <a:r>
              <a:rPr lang="en-US" dirty="0"/>
              <a:t>+------------------+</a:t>
            </a:r>
          </a:p>
          <a:p>
            <a:r>
              <a:rPr lang="en-US" dirty="0"/>
              <a:t>| PID | VPN | Frame|</a:t>
            </a:r>
          </a:p>
          <a:p>
            <a:r>
              <a:rPr lang="en-US" dirty="0"/>
              <a:t>+------------------+</a:t>
            </a:r>
          </a:p>
          <a:p>
            <a:r>
              <a:rPr lang="en-US" dirty="0"/>
              <a:t>| P1  |  3  |   0  |</a:t>
            </a:r>
          </a:p>
          <a:p>
            <a:r>
              <a:rPr lang="en-US" dirty="0"/>
              <a:t>| P2  |  5  |   1  |</a:t>
            </a:r>
          </a:p>
          <a:p>
            <a:r>
              <a:rPr lang="en-US" dirty="0"/>
              <a:t>| P1  |  8  |   2  |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6"/>
            <a:ext cx="10515600" cy="1010720"/>
          </a:xfrm>
        </p:spPr>
        <p:txBody>
          <a:bodyPr/>
          <a:lstStyle/>
          <a:p>
            <a:r>
              <a:rPr lang="en-US" dirty="0"/>
              <a:t>Segmentation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058345"/>
            <a:ext cx="6061364" cy="3876096"/>
          </a:xfrm>
        </p:spPr>
        <p:txBody>
          <a:bodyPr>
            <a:normAutofit fontScale="850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Segmentation</a:t>
            </a:r>
            <a:r>
              <a:rPr lang="en-US" altLang="en-US" sz="2400" dirty="0">
                <a:latin typeface="Arial" panose="020B0604020202020204" pitchFamily="34" charset="0"/>
              </a:rPr>
              <a:t> is a </a:t>
            </a:r>
            <a:r>
              <a:rPr lang="en-US" altLang="en-US" sz="2400" b="1" dirty="0">
                <a:latin typeface="Arial" panose="020B0604020202020204" pitchFamily="34" charset="0"/>
              </a:rPr>
              <a:t>non-contiguous memory allocation technique</a:t>
            </a:r>
            <a:r>
              <a:rPr lang="en-US" altLang="en-US" sz="2400" dirty="0">
                <a:latin typeface="Arial" panose="020B0604020202020204" pitchFamily="34" charset="0"/>
              </a:rPr>
              <a:t> in which</a:t>
            </a:r>
            <a:r>
              <a:rPr lang="en-US" altLang="en-US" sz="2400" dirty="0" smtClean="0">
                <a:latin typeface="Arial" panose="020B0604020202020204" pitchFamily="34" charset="0"/>
              </a:rPr>
              <a:t>:</a:t>
            </a:r>
            <a:endParaRPr lang="en-US" sz="2400" dirty="0" smtClean="0"/>
          </a:p>
          <a:p>
            <a:r>
              <a:rPr lang="en-US" dirty="0" smtClean="0"/>
              <a:t>Segmentation </a:t>
            </a:r>
            <a:r>
              <a:rPr lang="en-US" dirty="0"/>
              <a:t>divides a process into variable length chunks called segments</a:t>
            </a:r>
          </a:p>
          <a:p>
            <a:r>
              <a:rPr lang="en-US" dirty="0"/>
              <a:t>Almost similar to variable sized partitions</a:t>
            </a:r>
          </a:p>
          <a:p>
            <a:r>
              <a:rPr lang="en-US" dirty="0"/>
              <a:t>Segment’s length is determined by the system</a:t>
            </a:r>
          </a:p>
          <a:p>
            <a:r>
              <a:rPr lang="en-US" dirty="0"/>
              <a:t>The segments defined by a programmer reflect the modular structure of the process</a:t>
            </a:r>
          </a:p>
          <a:p>
            <a:pPr lvl="1"/>
            <a:r>
              <a:rPr lang="en-US" dirty="0"/>
              <a:t>e.g. data in one segment and code in another segments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206837" y="4826675"/>
            <a:ext cx="445423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/>
              <a:t>Each </a:t>
            </a:r>
            <a:r>
              <a:rPr lang="en-US" b="1" dirty="0"/>
              <a:t>segment</a:t>
            </a:r>
            <a:r>
              <a:rPr lang="en-US" b="1" dirty="0" smtClean="0"/>
              <a:t>:</a:t>
            </a:r>
          </a:p>
          <a:p>
            <a:endParaRPr lang="en-US" b="1" dirty="0"/>
          </a:p>
          <a:p>
            <a:r>
              <a:rPr lang="en-US" dirty="0"/>
              <a:t>Has its </a:t>
            </a:r>
            <a:r>
              <a:rPr lang="en-US" b="1" dirty="0"/>
              <a:t>own size</a:t>
            </a:r>
            <a:endParaRPr lang="en-US" dirty="0"/>
          </a:p>
          <a:p>
            <a:r>
              <a:rPr lang="en-US" dirty="0"/>
              <a:t>Can be placed </a:t>
            </a:r>
            <a:r>
              <a:rPr lang="en-US" b="1" dirty="0"/>
              <a:t>anywhere in memory</a:t>
            </a:r>
            <a:endParaRPr lang="en-US" dirty="0"/>
          </a:p>
          <a:p>
            <a:r>
              <a:rPr lang="en-US" dirty="0"/>
              <a:t>Can grow or shrink independently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49236" y="493444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Program</a:t>
            </a:r>
          </a:p>
          <a:p>
            <a:r>
              <a:rPr lang="en-US" dirty="0"/>
              <a:t> ├── Code Segment</a:t>
            </a:r>
          </a:p>
          <a:p>
            <a:r>
              <a:rPr lang="en-US" dirty="0"/>
              <a:t> ├── Data Segment</a:t>
            </a:r>
          </a:p>
          <a:p>
            <a:r>
              <a:rPr lang="en-US" dirty="0"/>
              <a:t> ├── Stack Segment</a:t>
            </a:r>
          </a:p>
          <a:p>
            <a:r>
              <a:rPr lang="en-US" dirty="0"/>
              <a:t> ├── Heap Segment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713510" y="0"/>
            <a:ext cx="10515600" cy="728230"/>
          </a:xfrm>
        </p:spPr>
        <p:txBody>
          <a:bodyPr>
            <a:normAutofit/>
          </a:bodyPr>
          <a:lstStyle/>
          <a:p>
            <a:r>
              <a:rPr lang="en-US" sz="2800" dirty="0"/>
              <a:t>Segment Addressing</a:t>
            </a:r>
          </a:p>
        </p:txBody>
      </p:sp>
      <p:sp>
        <p:nvSpPr>
          <p:cNvPr id="56325" name="Rectangle 3"/>
          <p:cNvSpPr>
            <a:spLocks noGrp="1" noChangeArrowheads="1"/>
          </p:cNvSpPr>
          <p:nvPr>
            <p:ph idx="1"/>
          </p:nvPr>
        </p:nvSpPr>
        <p:spPr>
          <a:xfrm>
            <a:off x="588818" y="728230"/>
            <a:ext cx="10924309" cy="6567055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segment address consist of two parts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segment number 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displacement 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that segment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segment table entries specify the base address and the segment size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conversion process is similar to the paging system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segmented address reference requires the following steps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the segment number and the displacement from the logical address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segment number to obtain the segment base address and length from segment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  <a:p>
            <a:pPr marL="457200" lvl="1" indent="0">
              <a:buNone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Segment Table</a:t>
            </a:r>
          </a:p>
          <a:p>
            <a:pPr marL="457200" lvl="1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+---------------------------+</a:t>
            </a:r>
          </a:p>
          <a:p>
            <a:pPr marL="457200" lvl="1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Seg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| Base | Limit |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457200" lvl="1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+---------------------------+</a:t>
            </a:r>
          </a:p>
          <a:p>
            <a:pPr marL="457200" lvl="1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  0  | 1400 | 1000  | R-X  | ← Code</a:t>
            </a:r>
          </a:p>
          <a:p>
            <a:pPr marL="457200" lvl="1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  1  | 2400 |  800  | RW-  | ← Data</a:t>
            </a:r>
          </a:p>
          <a:p>
            <a:pPr marL="457200" lvl="1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  2  | 3200 |  600  | RW-  | ← Stack</a:t>
            </a:r>
          </a:p>
          <a:p>
            <a:pPr marL="457200" lvl="1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  3  | 4300 | 1200  | RW-  | ← Heap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offset is not greater than the given length; if so, an invalid address is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signaled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Limit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?]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Invalid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the required physical address by adding the offset to the base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  <a:p>
            <a:pPr marL="457200" lvl="1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= Base + Offset</a:t>
            </a:r>
          </a:p>
          <a:p>
            <a:pPr lvl="1"/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Segment Addressing</a:t>
            </a:r>
          </a:p>
        </p:txBody>
      </p:sp>
      <p:pic>
        <p:nvPicPr>
          <p:cNvPr id="4" name="Picture 4" descr="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8011" y="1217561"/>
            <a:ext cx="8075978" cy="5035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64510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Example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4237"/>
            <a:ext cx="3997037" cy="10945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Program Example</a:t>
            </a:r>
          </a:p>
          <a:p>
            <a:pPr marL="0" indent="0">
              <a:buNone/>
            </a:pPr>
            <a:r>
              <a:rPr lang="en-US" sz="2000" dirty="0"/>
              <a:t>Suppose a program is divided into </a:t>
            </a:r>
            <a:r>
              <a:rPr lang="en-US" sz="2000" b="1" dirty="0"/>
              <a:t>4 logical parts</a:t>
            </a:r>
            <a:r>
              <a:rPr lang="en-US" sz="2000" dirty="0"/>
              <a:t>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882628"/>
              </p:ext>
            </p:extLst>
          </p:nvPr>
        </p:nvGraphicFramePr>
        <p:xfrm>
          <a:off x="644237" y="1648691"/>
          <a:ext cx="3844635" cy="2236701"/>
        </p:xfrm>
        <a:graphic>
          <a:graphicData uri="http://schemas.openxmlformats.org/drawingml/2006/table">
            <a:tbl>
              <a:tblPr/>
              <a:tblGrid>
                <a:gridCol w="1281545">
                  <a:extLst>
                    <a:ext uri="{9D8B030D-6E8A-4147-A177-3AD203B41FA5}">
                      <a16:colId xmlns:a16="http://schemas.microsoft.com/office/drawing/2014/main" val="2858311696"/>
                    </a:ext>
                  </a:extLst>
                </a:gridCol>
                <a:gridCol w="1281545">
                  <a:extLst>
                    <a:ext uri="{9D8B030D-6E8A-4147-A177-3AD203B41FA5}">
                      <a16:colId xmlns:a16="http://schemas.microsoft.com/office/drawing/2014/main" val="2073969482"/>
                    </a:ext>
                  </a:extLst>
                </a:gridCol>
                <a:gridCol w="1281545">
                  <a:extLst>
                    <a:ext uri="{9D8B030D-6E8A-4147-A177-3AD203B41FA5}">
                      <a16:colId xmlns:a16="http://schemas.microsoft.com/office/drawing/2014/main" val="238753163"/>
                    </a:ext>
                  </a:extLst>
                </a:gridCol>
              </a:tblGrid>
              <a:tr h="773661">
                <a:tc>
                  <a:txBody>
                    <a:bodyPr/>
                    <a:lstStyle/>
                    <a:p>
                      <a:r>
                        <a:rPr lang="en-US"/>
                        <a:t>Segment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Segment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773795"/>
                  </a:ext>
                </a:extLst>
              </a:tr>
              <a:tr h="339381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1000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157519"/>
                  </a:ext>
                </a:extLst>
              </a:tr>
              <a:tr h="33938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600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551037"/>
                  </a:ext>
                </a:extLst>
              </a:tr>
              <a:tr h="33938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400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106549"/>
                  </a:ext>
                </a:extLst>
              </a:tr>
              <a:tr h="33938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Heap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66927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318631" y="1279359"/>
            <a:ext cx="2879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Segment Table (Given by OS)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775122"/>
              </p:ext>
            </p:extLst>
          </p:nvPr>
        </p:nvGraphicFramePr>
        <p:xfrm>
          <a:off x="6318631" y="1782272"/>
          <a:ext cx="3900054" cy="2286000"/>
        </p:xfrm>
        <a:graphic>
          <a:graphicData uri="http://schemas.openxmlformats.org/drawingml/2006/table">
            <a:tbl>
              <a:tblPr/>
              <a:tblGrid>
                <a:gridCol w="1300018">
                  <a:extLst>
                    <a:ext uri="{9D8B030D-6E8A-4147-A177-3AD203B41FA5}">
                      <a16:colId xmlns:a16="http://schemas.microsoft.com/office/drawing/2014/main" val="407812900"/>
                    </a:ext>
                  </a:extLst>
                </a:gridCol>
                <a:gridCol w="1300018">
                  <a:extLst>
                    <a:ext uri="{9D8B030D-6E8A-4147-A177-3AD203B41FA5}">
                      <a16:colId xmlns:a16="http://schemas.microsoft.com/office/drawing/2014/main" val="965480572"/>
                    </a:ext>
                  </a:extLst>
                </a:gridCol>
                <a:gridCol w="1300018">
                  <a:extLst>
                    <a:ext uri="{9D8B030D-6E8A-4147-A177-3AD203B41FA5}">
                      <a16:colId xmlns:a16="http://schemas.microsoft.com/office/drawing/2014/main" val="167775404"/>
                    </a:ext>
                  </a:extLst>
                </a:gridCol>
              </a:tblGrid>
              <a:tr h="318222">
                <a:tc>
                  <a:txBody>
                    <a:bodyPr/>
                    <a:lstStyle/>
                    <a:p>
                      <a:r>
                        <a:rPr lang="en-US" sz="2000"/>
                        <a:t>Segment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Base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Limit (Size)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755111"/>
                  </a:ext>
                </a:extLst>
              </a:tr>
              <a:tr h="318222">
                <a:tc>
                  <a:txBody>
                    <a:bodyPr/>
                    <a:lstStyle/>
                    <a:p>
                      <a:r>
                        <a:rPr lang="en-US" sz="20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257864"/>
                  </a:ext>
                </a:extLst>
              </a:tr>
              <a:tr h="318222">
                <a:tc>
                  <a:txBody>
                    <a:bodyPr/>
                    <a:lstStyle/>
                    <a:p>
                      <a:r>
                        <a:rPr lang="en-US" sz="20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2400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088231"/>
                  </a:ext>
                </a:extLst>
              </a:tr>
              <a:tr h="318222">
                <a:tc>
                  <a:txBody>
                    <a:bodyPr/>
                    <a:lstStyle/>
                    <a:p>
                      <a:r>
                        <a:rPr lang="en-US" sz="20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3200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221176"/>
                  </a:ext>
                </a:extLst>
              </a:tr>
              <a:tr h="318222">
                <a:tc>
                  <a:txBody>
                    <a:bodyPr/>
                    <a:lstStyle/>
                    <a:p>
                      <a:r>
                        <a:rPr lang="en-US" sz="20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4300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04342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073141" y="4384155"/>
            <a:ext cx="5685403" cy="18466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Suppose CPU generates this logical address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( Segment Number = 1 , Offset = 200 )</a:t>
            </a:r>
          </a:p>
          <a:p>
            <a:r>
              <a:rPr lang="en-US" sz="2400" dirty="0"/>
              <a:t>Segment 1 → </a:t>
            </a:r>
            <a:r>
              <a:rPr lang="en-US" sz="2400" b="1" dirty="0"/>
              <a:t>Data segment</a:t>
            </a:r>
            <a:endParaRPr lang="en-US" sz="2400" dirty="0"/>
          </a:p>
          <a:p>
            <a:r>
              <a:rPr lang="en-US" sz="2400" dirty="0"/>
              <a:t>Offset 200 → 200 bytes inside data segment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0564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991465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Address Translation Step-by-Step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945" y="829540"/>
            <a:ext cx="5424055" cy="49371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Step </a:t>
            </a:r>
            <a:r>
              <a:rPr lang="en-US" b="1" dirty="0"/>
              <a:t>1: Find Segment Table Entry</a:t>
            </a:r>
          </a:p>
          <a:p>
            <a:r>
              <a:rPr lang="en-US" dirty="0"/>
              <a:t>Segment 1 →</a:t>
            </a:r>
            <a:br>
              <a:rPr lang="en-US" dirty="0"/>
            </a:br>
            <a:r>
              <a:rPr lang="en-US" dirty="0"/>
              <a:t>Base = 2400</a:t>
            </a:r>
            <a:br>
              <a:rPr lang="en-US" dirty="0"/>
            </a:br>
            <a:r>
              <a:rPr lang="en-US" dirty="0"/>
              <a:t>Limit = 600</a:t>
            </a:r>
          </a:p>
          <a:p>
            <a:pPr marL="0" indent="0">
              <a:buNone/>
            </a:pPr>
            <a:r>
              <a:rPr lang="en-US" sz="2600" b="1" dirty="0"/>
              <a:t>Step 2: Check </a:t>
            </a:r>
            <a:r>
              <a:rPr lang="en-US" sz="2600" b="1" dirty="0" smtClean="0"/>
              <a:t>Offset</a:t>
            </a:r>
          </a:p>
          <a:p>
            <a:r>
              <a:rPr lang="sv-SE" dirty="0"/>
              <a:t>Offset &lt; Limit ?</a:t>
            </a:r>
          </a:p>
          <a:p>
            <a:r>
              <a:rPr lang="sv-SE" dirty="0"/>
              <a:t>200 &lt; 600 </a:t>
            </a:r>
            <a:r>
              <a:rPr lang="sv-SE" dirty="0" smtClean="0"/>
              <a:t> </a:t>
            </a:r>
            <a:r>
              <a:rPr lang="sv-SE" dirty="0"/>
              <a:t>(Valid</a:t>
            </a:r>
            <a:r>
              <a:rPr lang="sv-SE" dirty="0" smtClean="0"/>
              <a:t>)</a:t>
            </a:r>
          </a:p>
          <a:p>
            <a:pPr marL="0" lvl="0" indent="0">
              <a:buNone/>
            </a:pPr>
            <a:r>
              <a:rPr lang="en-US" altLang="en-US" sz="2600" b="1" dirty="0">
                <a:latin typeface="Arial" panose="020B0604020202020204" pitchFamily="34" charset="0"/>
              </a:rPr>
              <a:t>Step 3: Calculate Physical Address</a:t>
            </a:r>
          </a:p>
          <a:p>
            <a:pPr marL="0" indent="0">
              <a:buNone/>
            </a:pPr>
            <a:r>
              <a:rPr lang="en-US" dirty="0"/>
              <a:t>Physical Address = Base + Offset</a:t>
            </a:r>
          </a:p>
          <a:p>
            <a:pPr marL="0" indent="0">
              <a:buNone/>
            </a:pPr>
            <a:r>
              <a:rPr lang="en-US" dirty="0"/>
              <a:t>= 2400 + 200</a:t>
            </a:r>
          </a:p>
          <a:p>
            <a:pPr marL="0" indent="0">
              <a:buNone/>
            </a:pPr>
            <a:r>
              <a:rPr lang="en-US" dirty="0"/>
              <a:t>= 2600</a:t>
            </a:r>
          </a:p>
          <a:p>
            <a:pPr marL="0" indent="0">
              <a:buNone/>
            </a:pPr>
            <a:r>
              <a:rPr lang="en-US" dirty="0"/>
              <a:t>Physical Address = 2600</a:t>
            </a:r>
            <a:endParaRPr lang="sv-SE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483927" y="1373188"/>
            <a:ext cx="538941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Invalid Address </a:t>
            </a:r>
            <a:r>
              <a:rPr lang="en-US" sz="2400" b="1" dirty="0" smtClean="0"/>
              <a:t>Example</a:t>
            </a:r>
            <a:endParaRPr lang="en-US" sz="2400" b="1" dirty="0"/>
          </a:p>
          <a:p>
            <a:r>
              <a:rPr lang="en-US" sz="2400" dirty="0"/>
              <a:t>Logical Address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( Segment = 1 , Offset = 700 )</a:t>
            </a:r>
          </a:p>
          <a:p>
            <a:r>
              <a:rPr lang="en-US" sz="2400" dirty="0"/>
              <a:t>Check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700 &lt; 600 </a:t>
            </a:r>
            <a:r>
              <a:rPr lang="en-US" sz="2400" dirty="0" smtClean="0"/>
              <a:t>(</a:t>
            </a:r>
            <a:r>
              <a:rPr lang="en-US" sz="2400" dirty="0"/>
              <a:t>Invalid)</a:t>
            </a:r>
          </a:p>
          <a:p>
            <a:r>
              <a:rPr lang="en-US" sz="2400" dirty="0"/>
              <a:t>This causes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Segmentation Fault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5803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 Addressing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B837D0F-9C86-4CB5-A904-2456B2C9C3E3}"/>
              </a:ext>
            </a:extLst>
          </p:cNvPr>
          <p:cNvGrpSpPr/>
          <p:nvPr/>
        </p:nvGrpSpPr>
        <p:grpSpPr>
          <a:xfrm>
            <a:off x="8047703" y="1008064"/>
            <a:ext cx="1371600" cy="5181600"/>
            <a:chOff x="7956754" y="1008064"/>
            <a:chExt cx="1371600" cy="5181600"/>
          </a:xfrm>
        </p:grpSpPr>
        <p:sp>
          <p:nvSpPr>
            <p:cNvPr id="24" name="Rectangle 23"/>
            <p:cNvSpPr/>
            <p:nvPr/>
          </p:nvSpPr>
          <p:spPr>
            <a:xfrm>
              <a:off x="7956754" y="1008064"/>
              <a:ext cx="1371600" cy="5181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" name="Rectangle 5"/>
            <p:cNvSpPr>
              <a:spLocks noChangeArrowheads="1"/>
            </p:cNvSpPr>
            <p:nvPr/>
          </p:nvSpPr>
          <p:spPr bwMode="auto">
            <a:xfrm>
              <a:off x="7956754" y="3049589"/>
              <a:ext cx="1371600" cy="9906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>
                  <a:latin typeface="Calibri" pitchFamily="34" charset="0"/>
                </a:rPr>
                <a:t>Segment 3</a:t>
              </a:r>
            </a:p>
          </p:txBody>
        </p:sp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7956754" y="4040189"/>
              <a:ext cx="1371600" cy="3810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>
                  <a:latin typeface="Calibri" pitchFamily="34" charset="0"/>
                </a:rPr>
                <a:t>Segment 2</a:t>
              </a:r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7956754" y="5259389"/>
              <a:ext cx="1371600" cy="381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en-US">
                <a:latin typeface="Calibri" pitchFamily="34" charset="0"/>
              </a:endParaRPr>
            </a:p>
          </p:txBody>
        </p:sp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>
              <a:off x="7956754" y="4421189"/>
              <a:ext cx="1371600" cy="838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>
                  <a:latin typeface="Calibri" pitchFamily="34" charset="0"/>
                </a:rPr>
                <a:t>Segment 4</a:t>
              </a:r>
            </a:p>
          </p:txBody>
        </p:sp>
        <p:sp>
          <p:nvSpPr>
            <p:cNvPr id="8" name="Rectangle 13"/>
            <p:cNvSpPr>
              <a:spLocks noChangeArrowheads="1"/>
            </p:cNvSpPr>
            <p:nvPr/>
          </p:nvSpPr>
          <p:spPr bwMode="auto">
            <a:xfrm>
              <a:off x="7956754" y="5640389"/>
              <a:ext cx="1371600" cy="4572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>
                  <a:latin typeface="Calibri" pitchFamily="34" charset="0"/>
                </a:rPr>
                <a:t>Segment 1</a:t>
              </a:r>
            </a:p>
          </p:txBody>
        </p:sp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7956754" y="2058989"/>
              <a:ext cx="1371600" cy="990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en-US">
                <a:latin typeface="Calibri" pitchFamily="34" charset="0"/>
              </a:endParaRPr>
            </a:p>
          </p:txBody>
        </p:sp>
        <p:sp>
          <p:nvSpPr>
            <p:cNvPr id="10" name="Rectangle 17"/>
            <p:cNvSpPr>
              <a:spLocks noChangeArrowheads="1"/>
            </p:cNvSpPr>
            <p:nvPr/>
          </p:nvSpPr>
          <p:spPr bwMode="auto">
            <a:xfrm>
              <a:off x="7956754" y="1373189"/>
              <a:ext cx="1371600" cy="685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dirty="0">
                  <a:latin typeface="Calibri" pitchFamily="34" charset="0"/>
                </a:rPr>
                <a:t>Segment 0</a:t>
              </a:r>
            </a:p>
          </p:txBody>
        </p:sp>
        <p:sp>
          <p:nvSpPr>
            <p:cNvPr id="11" name="Rectangle 19"/>
            <p:cNvSpPr>
              <a:spLocks noChangeArrowheads="1"/>
            </p:cNvSpPr>
            <p:nvPr/>
          </p:nvSpPr>
          <p:spPr bwMode="auto">
            <a:xfrm>
              <a:off x="7956754" y="1008064"/>
              <a:ext cx="1371600" cy="36512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en-US">
                <a:latin typeface="Calibri" pitchFamily="34" charset="0"/>
              </a:endParaRPr>
            </a:p>
          </p:txBody>
        </p:sp>
        <p:sp>
          <p:nvSpPr>
            <p:cNvPr id="13" name="Line 22"/>
            <p:cNvSpPr>
              <a:spLocks noChangeShapeType="1"/>
            </p:cNvSpPr>
            <p:nvPr/>
          </p:nvSpPr>
          <p:spPr bwMode="auto">
            <a:xfrm>
              <a:off x="7956754" y="1373189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2000">
                <a:latin typeface="Calibri" pitchFamily="34" charset="0"/>
              </a:endParaRPr>
            </a:p>
          </p:txBody>
        </p:sp>
        <p:sp>
          <p:nvSpPr>
            <p:cNvPr id="14" name="Line 23"/>
            <p:cNvSpPr>
              <a:spLocks noChangeShapeType="1"/>
            </p:cNvSpPr>
            <p:nvPr/>
          </p:nvSpPr>
          <p:spPr bwMode="auto">
            <a:xfrm>
              <a:off x="7956754" y="2058989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2000">
                <a:latin typeface="Calibri" pitchFamily="34" charset="0"/>
              </a:endParaRPr>
            </a:p>
          </p:txBody>
        </p:sp>
        <p:sp>
          <p:nvSpPr>
            <p:cNvPr id="15" name="Line 24"/>
            <p:cNvSpPr>
              <a:spLocks noChangeShapeType="1"/>
            </p:cNvSpPr>
            <p:nvPr/>
          </p:nvSpPr>
          <p:spPr bwMode="auto">
            <a:xfrm>
              <a:off x="7956754" y="3049589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2000">
                <a:latin typeface="Calibri" pitchFamily="34" charset="0"/>
              </a:endParaRPr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auto">
            <a:xfrm>
              <a:off x="7956754" y="5259389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2000">
                <a:latin typeface="Calibri" pitchFamily="34" charset="0"/>
              </a:endParaRPr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>
              <a:off x="7956754" y="5640389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2000">
                <a:latin typeface="Calibri" pitchFamily="34" charset="0"/>
              </a:endParaRPr>
            </a:p>
          </p:txBody>
        </p: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>
              <a:off x="7956754" y="4421189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2000">
                <a:latin typeface="Calibri" pitchFamily="34" charset="0"/>
              </a:endParaRPr>
            </a:p>
          </p:txBody>
        </p:sp>
        <p:sp>
          <p:nvSpPr>
            <p:cNvPr id="21" name="Line 32"/>
            <p:cNvSpPr>
              <a:spLocks noChangeShapeType="1"/>
            </p:cNvSpPr>
            <p:nvPr/>
          </p:nvSpPr>
          <p:spPr bwMode="auto">
            <a:xfrm>
              <a:off x="7956754" y="4040189"/>
              <a:ext cx="137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2000">
                <a:latin typeface="Calibri" pitchFamily="34" charset="0"/>
              </a:endParaRPr>
            </a:p>
          </p:txBody>
        </p:sp>
      </p:grpSp>
      <p:sp>
        <p:nvSpPr>
          <p:cNvPr id="22" name="Text Box 45"/>
          <p:cNvSpPr txBox="1">
            <a:spLocks noChangeArrowheads="1"/>
          </p:cNvSpPr>
          <p:nvPr/>
        </p:nvSpPr>
        <p:spPr bwMode="auto">
          <a:xfrm>
            <a:off x="7084138" y="903550"/>
            <a:ext cx="914400" cy="5509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0</a:t>
            </a:r>
          </a:p>
          <a:p>
            <a:pPr algn="r">
              <a:spcBef>
                <a:spcPct val="50000"/>
              </a:spcBef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1400</a:t>
            </a:r>
          </a:p>
          <a:p>
            <a:pPr algn="r">
              <a:spcBef>
                <a:spcPct val="50000"/>
              </a:spcBef>
            </a:pPr>
            <a:endParaRPr lang="en-US" sz="3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endParaRPr lang="en-US" sz="5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endParaRPr lang="en-US" sz="5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2400</a:t>
            </a:r>
          </a:p>
          <a:p>
            <a:pPr algn="r">
              <a:spcBef>
                <a:spcPct val="50000"/>
              </a:spcBef>
            </a:pPr>
            <a:endParaRPr lang="en-US" sz="16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endParaRPr lang="en-US" sz="7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endParaRPr lang="en-US" sz="7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3200</a:t>
            </a:r>
          </a:p>
          <a:p>
            <a:pPr algn="r">
              <a:spcBef>
                <a:spcPct val="50000"/>
              </a:spcBef>
            </a:pPr>
            <a:endParaRPr lang="en-US" sz="9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endParaRPr lang="en-US" sz="9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endParaRPr lang="en-US" sz="7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4300</a:t>
            </a:r>
          </a:p>
          <a:p>
            <a:pPr algn="r">
              <a:spcBef>
                <a:spcPct val="50000"/>
              </a:spcBef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4700</a:t>
            </a:r>
          </a:p>
          <a:p>
            <a:pPr algn="r">
              <a:spcBef>
                <a:spcPct val="50000"/>
              </a:spcBef>
            </a:pPr>
            <a:endParaRPr lang="en-US" sz="11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endParaRPr lang="en-US" sz="11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5700</a:t>
            </a:r>
          </a:p>
          <a:p>
            <a:pPr algn="r">
              <a:spcBef>
                <a:spcPct val="50000"/>
              </a:spcBef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6300</a:t>
            </a:r>
            <a:endParaRPr lang="en-US" sz="6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endParaRPr lang="en-US" sz="600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  <a:p>
            <a:pPr algn="r">
              <a:spcBef>
                <a:spcPct val="50000"/>
              </a:spcBef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6700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Calibri" pitchFamily="34" charset="0"/>
            </a:endParaRPr>
          </a:p>
        </p:txBody>
      </p:sp>
      <p:graphicFrame>
        <p:nvGraphicFramePr>
          <p:cNvPr id="23" name="Group 22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588593"/>
              </p:ext>
            </p:extLst>
          </p:nvPr>
        </p:nvGraphicFramePr>
        <p:xfrm>
          <a:off x="2307506" y="2181544"/>
          <a:ext cx="3307326" cy="283464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102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2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41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Segment Table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Limit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Base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1000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1400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6300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4300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1100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3200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1000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4700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 Address Translation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762865" y="1463676"/>
            <a:ext cx="2514600" cy="823913"/>
            <a:chOff x="240" y="1401"/>
            <a:chExt cx="1584" cy="519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288" y="1401"/>
              <a:ext cx="1440" cy="23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b="1" dirty="0">
                  <a:latin typeface="Calibri" pitchFamily="34" charset="0"/>
                </a:rPr>
                <a:t>  s  	     d</a:t>
              </a:r>
            </a:p>
          </p:txBody>
        </p:sp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240" y="1680"/>
              <a:ext cx="1584" cy="240"/>
              <a:chOff x="240" y="1680"/>
              <a:chExt cx="1584" cy="240"/>
            </a:xfrm>
          </p:grpSpPr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240" y="1680"/>
                <a:ext cx="432" cy="24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</a:rPr>
                  <a:t>0011</a:t>
                </a:r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672" y="1680"/>
                <a:ext cx="1152" cy="24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dirty="0">
                    <a:latin typeface="Calibri" pitchFamily="34" charset="0"/>
                  </a:rPr>
                  <a:t>010110011011</a:t>
                </a:r>
              </a:p>
            </p:txBody>
          </p:sp>
        </p:grpSp>
      </p:grp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3143865" y="2301875"/>
            <a:ext cx="1005503" cy="3048000"/>
            <a:chOff x="576" y="1824"/>
            <a:chExt cx="1155" cy="14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576" y="1824"/>
              <a:ext cx="0" cy="144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576" y="3264"/>
              <a:ext cx="115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7639665" y="1768476"/>
            <a:ext cx="228600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  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792065" y="1830389"/>
            <a:ext cx="2286000" cy="471487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0101001001111011</a:t>
            </a:r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8200109" y="3521075"/>
            <a:ext cx="914400" cy="1828800"/>
            <a:chOff x="2928" y="1872"/>
            <a:chExt cx="624" cy="1392"/>
          </a:xfrm>
        </p:grpSpPr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3552" y="1872"/>
              <a:ext cx="0" cy="13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2928" y="3264"/>
              <a:ext cx="62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Calibri" pitchFamily="34" charset="0"/>
              </a:endParaRPr>
            </a:p>
          </p:txBody>
        </p:sp>
      </p:grp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3143865" y="2254711"/>
            <a:ext cx="1828800" cy="366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Logical address</a:t>
            </a: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7792065" y="1373188"/>
            <a:ext cx="2209800" cy="366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Physical address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5353665" y="3673475"/>
            <a:ext cx="2286000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>
                <a:latin typeface="Calibri" pitchFamily="34" charset="0"/>
              </a:rPr>
              <a:t>Segmentation Table</a:t>
            </a:r>
          </a:p>
        </p:txBody>
      </p:sp>
      <p:graphicFrame>
        <p:nvGraphicFramePr>
          <p:cNvPr id="20" name="Group 1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29599"/>
              </p:ext>
            </p:extLst>
          </p:nvPr>
        </p:nvGraphicFramePr>
        <p:xfrm>
          <a:off x="4250000" y="4054475"/>
          <a:ext cx="39243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0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Length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Base Address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010110110111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  <a:latin typeface="Calibri" pitchFamily="34" charset="0"/>
                        </a:rPr>
                        <a:t>0101000100000001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Line 39"/>
          <p:cNvSpPr>
            <a:spLocks noChangeShapeType="1"/>
          </p:cNvSpPr>
          <p:nvPr/>
        </p:nvSpPr>
        <p:spPr bwMode="auto">
          <a:xfrm>
            <a:off x="5125065" y="3216275"/>
            <a:ext cx="3657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med"/>
          </a:ln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2" name="Oval 40"/>
          <p:cNvSpPr>
            <a:spLocks noChangeArrowheads="1"/>
          </p:cNvSpPr>
          <p:nvPr/>
        </p:nvSpPr>
        <p:spPr bwMode="auto">
          <a:xfrm>
            <a:off x="8858865" y="2911475"/>
            <a:ext cx="533400" cy="5334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2800" b="1" dirty="0">
                <a:latin typeface="Calibri" pitchFamily="34" charset="0"/>
              </a:rPr>
              <a:t>+</a:t>
            </a:r>
          </a:p>
        </p:txBody>
      </p:sp>
      <p:sp>
        <p:nvSpPr>
          <p:cNvPr id="23" name="Line 41"/>
          <p:cNvSpPr>
            <a:spLocks noChangeShapeType="1"/>
          </p:cNvSpPr>
          <p:nvPr/>
        </p:nvSpPr>
        <p:spPr bwMode="auto">
          <a:xfrm flipV="1">
            <a:off x="9116961" y="2378075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med"/>
          </a:ln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4" name="Line 42"/>
          <p:cNvSpPr>
            <a:spLocks noChangeShapeType="1"/>
          </p:cNvSpPr>
          <p:nvPr/>
        </p:nvSpPr>
        <p:spPr bwMode="auto">
          <a:xfrm>
            <a:off x="5125065" y="2301875"/>
            <a:ext cx="0" cy="914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5" name="Text Box 43"/>
          <p:cNvSpPr txBox="1">
            <a:spLocks noChangeArrowheads="1"/>
          </p:cNvSpPr>
          <p:nvPr/>
        </p:nvSpPr>
        <p:spPr bwMode="auto">
          <a:xfrm>
            <a:off x="5353665" y="2759076"/>
            <a:ext cx="1828800" cy="3667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Displacement </a:t>
            </a:r>
            <a:r>
              <a:rPr lang="en-US" b="1">
                <a:latin typeface="Calibri" pitchFamily="34" charset="0"/>
              </a:rPr>
              <a:t>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26"/>
            <a:ext cx="10515600" cy="894484"/>
          </a:xfrm>
        </p:spPr>
        <p:txBody>
          <a:bodyPr/>
          <a:lstStyle/>
          <a:p>
            <a:r>
              <a:rPr lang="en-US" dirty="0" smtClean="0"/>
              <a:t>Practice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2110"/>
            <a:ext cx="10952018" cy="5414240"/>
          </a:xfrm>
        </p:spPr>
        <p:txBody>
          <a:bodyPr/>
          <a:lstStyle/>
          <a:p>
            <a:r>
              <a:rPr lang="en-US" b="1" smtClean="0"/>
              <a:t>Given Program Segments</a:t>
            </a:r>
          </a:p>
          <a:p>
            <a:r>
              <a:rPr lang="en-US" smtClean="0"/>
              <a:t>A process is divided into </a:t>
            </a:r>
            <a:r>
              <a:rPr lang="en-US" b="1" smtClean="0"/>
              <a:t>5 segments</a:t>
            </a:r>
            <a:r>
              <a:rPr lang="en-US" smtClean="0"/>
              <a:t> as follows: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64307"/>
              </p:ext>
            </p:extLst>
          </p:nvPr>
        </p:nvGraphicFramePr>
        <p:xfrm>
          <a:off x="838200" y="2049866"/>
          <a:ext cx="4329546" cy="2468880"/>
        </p:xfrm>
        <a:graphic>
          <a:graphicData uri="http://schemas.openxmlformats.org/drawingml/2006/table">
            <a:tbl>
              <a:tblPr/>
              <a:tblGrid>
                <a:gridCol w="1443182">
                  <a:extLst>
                    <a:ext uri="{9D8B030D-6E8A-4147-A177-3AD203B41FA5}">
                      <a16:colId xmlns:a16="http://schemas.microsoft.com/office/drawing/2014/main" val="1698609820"/>
                    </a:ext>
                  </a:extLst>
                </a:gridCol>
                <a:gridCol w="1443182">
                  <a:extLst>
                    <a:ext uri="{9D8B030D-6E8A-4147-A177-3AD203B41FA5}">
                      <a16:colId xmlns:a16="http://schemas.microsoft.com/office/drawing/2014/main" val="1838895720"/>
                    </a:ext>
                  </a:extLst>
                </a:gridCol>
                <a:gridCol w="1443182">
                  <a:extLst>
                    <a:ext uri="{9D8B030D-6E8A-4147-A177-3AD203B41FA5}">
                      <a16:colId xmlns:a16="http://schemas.microsoft.com/office/drawing/2014/main" val="3591498842"/>
                    </a:ext>
                  </a:extLst>
                </a:gridCol>
              </a:tblGrid>
              <a:tr h="341847">
                <a:tc>
                  <a:txBody>
                    <a:bodyPr/>
                    <a:lstStyle/>
                    <a:p>
                      <a:r>
                        <a:rPr lang="en-US"/>
                        <a:t>Segment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Segment</a:t>
                      </a:r>
                      <a:r>
                        <a:rPr lang="en-US" dirty="0"/>
                        <a:t>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 (bytes)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64216"/>
                  </a:ext>
                </a:extLst>
              </a:tr>
              <a:tr h="341847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590995"/>
                  </a:ext>
                </a:extLst>
              </a:tr>
              <a:tr h="341847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811052"/>
                  </a:ext>
                </a:extLst>
              </a:tr>
              <a:tr h="341847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966634"/>
                  </a:ext>
                </a:extLst>
              </a:tr>
              <a:tr h="341847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Heap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604195"/>
                  </a:ext>
                </a:extLst>
              </a:tr>
              <a:tr h="341847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Library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40826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52099" y="1865200"/>
            <a:ext cx="2327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Segment Table (Given)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472208"/>
              </p:ext>
            </p:extLst>
          </p:nvPr>
        </p:nvGraphicFramePr>
        <p:xfrm>
          <a:off x="7010400" y="2205926"/>
          <a:ext cx="4343400" cy="219456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133179165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17217498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426852594"/>
                    </a:ext>
                  </a:extLst>
                </a:gridCol>
              </a:tblGrid>
              <a:tr h="267956">
                <a:tc>
                  <a:txBody>
                    <a:bodyPr/>
                    <a:lstStyle/>
                    <a:p>
                      <a:r>
                        <a:rPr lang="en-US"/>
                        <a:t>Segment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Base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9309934"/>
                  </a:ext>
                </a:extLst>
              </a:tr>
              <a:tr h="267956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7413030"/>
                  </a:ext>
                </a:extLst>
              </a:tr>
              <a:tr h="267956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753220"/>
                  </a:ext>
                </a:extLst>
              </a:tr>
              <a:tr h="267956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5457803"/>
                  </a:ext>
                </a:extLst>
              </a:tr>
              <a:tr h="267956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203154"/>
                  </a:ext>
                </a:extLst>
              </a:tr>
              <a:tr h="267956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44992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64897" y="4740625"/>
            <a:ext cx="6247672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a. Find </a:t>
            </a:r>
            <a:r>
              <a:rPr lang="en-US" dirty="0"/>
              <a:t>the </a:t>
            </a:r>
            <a:r>
              <a:rPr lang="en-US" b="1" dirty="0"/>
              <a:t>physical address</a:t>
            </a:r>
            <a:r>
              <a:rPr lang="en-US" dirty="0"/>
              <a:t> for the logical </a:t>
            </a:r>
            <a:r>
              <a:rPr lang="en-US" dirty="0" smtClean="0"/>
              <a:t>address:</a:t>
            </a:r>
          </a:p>
          <a:p>
            <a:r>
              <a:rPr lang="en-US" dirty="0"/>
              <a:t>( Segment = 3 , Offset = 600 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/>
              <a:t>b. Check whether the following logical address is </a:t>
            </a:r>
            <a:r>
              <a:rPr lang="en-US" b="1" dirty="0"/>
              <a:t>valid or invalid</a:t>
            </a:r>
            <a:r>
              <a:rPr lang="en-US" dirty="0" smtClean="0"/>
              <a:t>:</a:t>
            </a:r>
          </a:p>
          <a:p>
            <a:r>
              <a:rPr lang="en-US" dirty="0"/>
              <a:t>( Segment = 2 , Offset = 520 )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5806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Paging vs. Segmentation</a:t>
            </a:r>
          </a:p>
        </p:txBody>
      </p:sp>
      <p:sp>
        <p:nvSpPr>
          <p:cNvPr id="6042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/>
          <a:lstStyle/>
          <a:p>
            <a:r>
              <a:rPr lang="en-US"/>
              <a:t>Paging use small chunks ‘pages’ of same size</a:t>
            </a:r>
          </a:p>
          <a:p>
            <a:r>
              <a:rPr lang="en-US"/>
              <a:t>Segmentation use chunks ‘segments’ of variable sizes</a:t>
            </a:r>
          </a:p>
          <a:p>
            <a:r>
              <a:rPr lang="en-US"/>
              <a:t>Paging avoids fragmentation</a:t>
            </a:r>
          </a:p>
          <a:p>
            <a:r>
              <a:rPr lang="en-US"/>
              <a:t>Segmentation also improves allocation while preserving the process structure</a:t>
            </a:r>
          </a:p>
          <a:p>
            <a:r>
              <a:rPr lang="en-US"/>
              <a:t>Paging system is independent of programmer while segmentation reflects the logical structure of a process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7625"/>
            <a:ext cx="10515600" cy="1325563"/>
          </a:xfrm>
        </p:spPr>
        <p:txBody>
          <a:bodyPr/>
          <a:lstStyle/>
          <a:p>
            <a:r>
              <a:rPr lang="en-US"/>
              <a:t>Paging and Segmentation</a:t>
            </a:r>
          </a:p>
        </p:txBody>
      </p:sp>
      <p:sp>
        <p:nvSpPr>
          <p:cNvPr id="6144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19224"/>
            <a:ext cx="10515600" cy="4937126"/>
          </a:xfrm>
        </p:spPr>
        <p:txBody>
          <a:bodyPr>
            <a:normAutofit/>
          </a:bodyPr>
          <a:lstStyle/>
          <a:p>
            <a:r>
              <a:rPr lang="en-US" dirty="0"/>
              <a:t>A process can be loaded in separate parts (using segmentation or paging)</a:t>
            </a:r>
          </a:p>
          <a:p>
            <a:r>
              <a:rPr lang="en-US" dirty="0"/>
              <a:t>Memory address references can be translated dynamically at run time</a:t>
            </a:r>
          </a:p>
          <a:p>
            <a:r>
              <a:rPr lang="en-US" dirty="0"/>
              <a:t>Not necessary to load all pages of a process into memory </a:t>
            </a:r>
          </a:p>
          <a:p>
            <a:pPr lvl="1"/>
            <a:r>
              <a:rPr lang="en-US" dirty="0"/>
              <a:t>Load portions being referenced at time of execution </a:t>
            </a:r>
          </a:p>
          <a:p>
            <a:pPr lvl="1"/>
            <a:r>
              <a:rPr lang="en-US" dirty="0"/>
              <a:t>Rest is retained on secondary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8984</TotalTime>
  <Words>3763</Words>
  <Application>Microsoft Office PowerPoint</Application>
  <PresentationFormat>Widescreen</PresentationFormat>
  <Paragraphs>899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75" baseType="lpstr">
      <vt:lpstr>MS PGothic</vt:lpstr>
      <vt:lpstr>Arial</vt:lpstr>
      <vt:lpstr>Arial Unicode MS</vt:lpstr>
      <vt:lpstr>Calibri</vt:lpstr>
      <vt:lpstr>Calibri Light</vt:lpstr>
      <vt:lpstr>Century Gothic</vt:lpstr>
      <vt:lpstr>Corbel</vt:lpstr>
      <vt:lpstr>Courier New</vt:lpstr>
      <vt:lpstr>Helvetica</vt:lpstr>
      <vt:lpstr>Segoe UI</vt:lpstr>
      <vt:lpstr>Segoe UI Light</vt:lpstr>
      <vt:lpstr>Times New Roman</vt:lpstr>
      <vt:lpstr>Verdana</vt:lpstr>
      <vt:lpstr>Wingdings</vt:lpstr>
      <vt:lpstr>1_Office Theme</vt:lpstr>
      <vt:lpstr>Office Theme</vt:lpstr>
      <vt:lpstr>Memory Management Module 5</vt:lpstr>
      <vt:lpstr>Chapter Outline</vt:lpstr>
      <vt:lpstr>Memory</vt:lpstr>
      <vt:lpstr>Memory Hierarchy</vt:lpstr>
      <vt:lpstr>Memory Hierarchy</vt:lpstr>
      <vt:lpstr>Process Loading &amp; Swapping</vt:lpstr>
      <vt:lpstr>Memory Management</vt:lpstr>
      <vt:lpstr>Address Binding</vt:lpstr>
      <vt:lpstr>Address Binding</vt:lpstr>
      <vt:lpstr>Address Binding</vt:lpstr>
      <vt:lpstr>Logical vs. Physical Address Space</vt:lpstr>
      <vt:lpstr>Virtual Addresses</vt:lpstr>
      <vt:lpstr>Memory Management Unit</vt:lpstr>
      <vt:lpstr>Memory Management Unit</vt:lpstr>
      <vt:lpstr>Memory Management Requirements</vt:lpstr>
      <vt:lpstr>Memory Management Requirements</vt:lpstr>
      <vt:lpstr>Memory Management Requirements</vt:lpstr>
      <vt:lpstr>Memory Management Requirements</vt:lpstr>
      <vt:lpstr>Memory Management Requirements</vt:lpstr>
      <vt:lpstr>Program Loading into Memory</vt:lpstr>
      <vt:lpstr>Memory Management Techniques</vt:lpstr>
      <vt:lpstr>Contiguous Memory Allocation </vt:lpstr>
      <vt:lpstr>Single Process System</vt:lpstr>
      <vt:lpstr>Fixed Sized Partition Memory</vt:lpstr>
      <vt:lpstr>Fixed Sized Partition Memory</vt:lpstr>
      <vt:lpstr>Variable-Sized Partition Memory</vt:lpstr>
      <vt:lpstr>Variable-Sized Partition Memory</vt:lpstr>
      <vt:lpstr>Variable-Sized Partition Memory</vt:lpstr>
      <vt:lpstr>Storage Management Strategies</vt:lpstr>
      <vt:lpstr>Storage Management Strategies</vt:lpstr>
      <vt:lpstr>Storage Management Strategies</vt:lpstr>
      <vt:lpstr>Storage Management Strategies</vt:lpstr>
      <vt:lpstr>Non-contiguous Memory Allocation</vt:lpstr>
      <vt:lpstr>Paging</vt:lpstr>
      <vt:lpstr>Paging</vt:lpstr>
      <vt:lpstr>Page Addressing</vt:lpstr>
      <vt:lpstr>Address Translation Using Page Table </vt:lpstr>
      <vt:lpstr>Page Address Translation</vt:lpstr>
      <vt:lpstr>Page Address Translation</vt:lpstr>
      <vt:lpstr>Page Address Translation</vt:lpstr>
      <vt:lpstr>Page Address Translation</vt:lpstr>
      <vt:lpstr>Internal Fragmentation</vt:lpstr>
      <vt:lpstr>Example: Internal Fragmentation</vt:lpstr>
      <vt:lpstr>Worst Case &amp; Average Case Fragmentation</vt:lpstr>
      <vt:lpstr>Solution: Internal Fragmentation in Paging</vt:lpstr>
      <vt:lpstr>Page Table Structure</vt:lpstr>
      <vt:lpstr>Hierarchical Page Tables</vt:lpstr>
      <vt:lpstr>Hashed Page Tables</vt:lpstr>
      <vt:lpstr>Inverted Page Table</vt:lpstr>
      <vt:lpstr>Segmentation</vt:lpstr>
      <vt:lpstr>Segment Addressing</vt:lpstr>
      <vt:lpstr>Segment Addressing</vt:lpstr>
      <vt:lpstr>Example</vt:lpstr>
      <vt:lpstr>Address Translation Step-by-Step </vt:lpstr>
      <vt:lpstr>Segment Addressing</vt:lpstr>
      <vt:lpstr>Segment Address Translation</vt:lpstr>
      <vt:lpstr>Practice Example</vt:lpstr>
      <vt:lpstr>Paging vs. Segmentation</vt:lpstr>
      <vt:lpstr>Paging and Segmentation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Motivation &amp; Background Chapter 1</dc:title>
  <dc:creator>Sheheryar Malik</dc:creator>
  <cp:lastModifiedBy>LENOVO</cp:lastModifiedBy>
  <cp:revision>915</cp:revision>
  <cp:lastPrinted>2019-05-17T05:34:39Z</cp:lastPrinted>
  <dcterms:created xsi:type="dcterms:W3CDTF">2019-04-13T12:57:47Z</dcterms:created>
  <dcterms:modified xsi:type="dcterms:W3CDTF">2025-12-15T08:50:59Z</dcterms:modified>
</cp:coreProperties>
</file>