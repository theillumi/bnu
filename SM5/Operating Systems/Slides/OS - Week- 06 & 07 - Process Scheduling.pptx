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648" r:id="rId2"/>
  </p:sldMasterIdLst>
  <p:notesMasterIdLst>
    <p:notesMasterId r:id="rId92"/>
  </p:notesMasterIdLst>
  <p:handoutMasterIdLst>
    <p:handoutMasterId r:id="rId93"/>
  </p:handoutMasterIdLst>
  <p:sldIdLst>
    <p:sldId id="310" r:id="rId3"/>
    <p:sldId id="273" r:id="rId4"/>
    <p:sldId id="338" r:id="rId5"/>
    <p:sldId id="339" r:id="rId6"/>
    <p:sldId id="328" r:id="rId7"/>
    <p:sldId id="329" r:id="rId8"/>
    <p:sldId id="330" r:id="rId9"/>
    <p:sldId id="331" r:id="rId10"/>
    <p:sldId id="333" r:id="rId11"/>
    <p:sldId id="334" r:id="rId12"/>
    <p:sldId id="295" r:id="rId13"/>
    <p:sldId id="296" r:id="rId14"/>
    <p:sldId id="297" r:id="rId15"/>
    <p:sldId id="298" r:id="rId16"/>
    <p:sldId id="299" r:id="rId17"/>
    <p:sldId id="602" r:id="rId18"/>
    <p:sldId id="600" r:id="rId19"/>
    <p:sldId id="300" r:id="rId20"/>
    <p:sldId id="301" r:id="rId21"/>
    <p:sldId id="603" r:id="rId22"/>
    <p:sldId id="604" r:id="rId23"/>
    <p:sldId id="302" r:id="rId24"/>
    <p:sldId id="303" r:id="rId25"/>
    <p:sldId id="304" r:id="rId26"/>
    <p:sldId id="606" r:id="rId27"/>
    <p:sldId id="305" r:id="rId28"/>
    <p:sldId id="605" r:id="rId29"/>
    <p:sldId id="308" r:id="rId30"/>
    <p:sldId id="309" r:id="rId31"/>
    <p:sldId id="590" r:id="rId32"/>
    <p:sldId id="306" r:id="rId33"/>
    <p:sldId id="307" r:id="rId34"/>
    <p:sldId id="311" r:id="rId35"/>
    <p:sldId id="312" r:id="rId36"/>
    <p:sldId id="313" r:id="rId37"/>
    <p:sldId id="314" r:id="rId38"/>
    <p:sldId id="315" r:id="rId39"/>
    <p:sldId id="591" r:id="rId40"/>
    <p:sldId id="358" r:id="rId41"/>
    <p:sldId id="359" r:id="rId42"/>
    <p:sldId id="360" r:id="rId43"/>
    <p:sldId id="361" r:id="rId44"/>
    <p:sldId id="362" r:id="rId45"/>
    <p:sldId id="405" r:id="rId46"/>
    <p:sldId id="365" r:id="rId47"/>
    <p:sldId id="411" r:id="rId48"/>
    <p:sldId id="412" r:id="rId49"/>
    <p:sldId id="413" r:id="rId50"/>
    <p:sldId id="364" r:id="rId51"/>
    <p:sldId id="414" r:id="rId52"/>
    <p:sldId id="363" r:id="rId53"/>
    <p:sldId id="601" r:id="rId54"/>
    <p:sldId id="367" r:id="rId55"/>
    <p:sldId id="407" r:id="rId56"/>
    <p:sldId id="408" r:id="rId57"/>
    <p:sldId id="368" r:id="rId58"/>
    <p:sldId id="369" r:id="rId59"/>
    <p:sldId id="371" r:id="rId60"/>
    <p:sldId id="415" r:id="rId61"/>
    <p:sldId id="416" r:id="rId62"/>
    <p:sldId id="374" r:id="rId63"/>
    <p:sldId id="375" r:id="rId64"/>
    <p:sldId id="376" r:id="rId65"/>
    <p:sldId id="377" r:id="rId66"/>
    <p:sldId id="592" r:id="rId67"/>
    <p:sldId id="378" r:id="rId68"/>
    <p:sldId id="319" r:id="rId69"/>
    <p:sldId id="379" r:id="rId70"/>
    <p:sldId id="410" r:id="rId71"/>
    <p:sldId id="597" r:id="rId72"/>
    <p:sldId id="381" r:id="rId73"/>
    <p:sldId id="382" r:id="rId74"/>
    <p:sldId id="409" r:id="rId75"/>
    <p:sldId id="317" r:id="rId76"/>
    <p:sldId id="598" r:id="rId77"/>
    <p:sldId id="398" r:id="rId78"/>
    <p:sldId id="385" r:id="rId79"/>
    <p:sldId id="316" r:id="rId80"/>
    <p:sldId id="387" r:id="rId81"/>
    <p:sldId id="340" r:id="rId82"/>
    <p:sldId id="341" r:id="rId83"/>
    <p:sldId id="596" r:id="rId84"/>
    <p:sldId id="390" r:id="rId85"/>
    <p:sldId id="391" r:id="rId86"/>
    <p:sldId id="392" r:id="rId87"/>
    <p:sldId id="393" r:id="rId88"/>
    <p:sldId id="394" r:id="rId89"/>
    <p:sldId id="395" r:id="rId90"/>
    <p:sldId id="599" r:id="rId91"/>
  </p:sldIdLst>
  <p:sldSz cx="12192000" cy="68580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60000"/>
    <a:srgbClr val="F7F7F7"/>
    <a:srgbClr val="FBFBFB"/>
    <a:srgbClr val="7E0000"/>
    <a:srgbClr val="FFCCCC"/>
    <a:srgbClr val="A20000"/>
    <a:srgbClr val="42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029" autoAdjust="0"/>
    <p:restoredTop sz="94249" autoAdjust="0"/>
  </p:normalViewPr>
  <p:slideViewPr>
    <p:cSldViewPr snapToGrid="0">
      <p:cViewPr varScale="1">
        <p:scale>
          <a:sx n="73" d="100"/>
          <a:sy n="73" d="100"/>
        </p:scale>
        <p:origin x="780" y="78"/>
      </p:cViewPr>
      <p:guideLst/>
    </p:cSldViewPr>
  </p:slideViewPr>
  <p:outlineViewPr>
    <p:cViewPr>
      <p:scale>
        <a:sx n="33" d="100"/>
        <a:sy n="33" d="100"/>
      </p:scale>
      <p:origin x="0" y="-183252"/>
    </p:cViewPr>
  </p:outlineViewPr>
  <p:notesTextViewPr>
    <p:cViewPr>
      <p:scale>
        <a:sx n="1" d="1"/>
        <a:sy n="1" d="1"/>
      </p:scale>
      <p:origin x="0" y="0"/>
    </p:cViewPr>
  </p:notesTextViewPr>
  <p:sorterViewPr>
    <p:cViewPr>
      <p:scale>
        <a:sx n="100" d="100"/>
        <a:sy n="100" d="100"/>
      </p:scale>
      <p:origin x="0" y="-21948"/>
    </p:cViewPr>
  </p:sorterViewPr>
  <p:notesViewPr>
    <p:cSldViewPr snapToGrid="0">
      <p:cViewPr varScale="1">
        <p:scale>
          <a:sx n="54" d="100"/>
          <a:sy n="54" d="100"/>
        </p:scale>
        <p:origin x="2874" y="78"/>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viewProps" Target="viewProps.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80" Type="http://schemas.openxmlformats.org/officeDocument/2006/relationships/slide" Target="slides/slide78.xml"/><Relationship Id="rId85" Type="http://schemas.openxmlformats.org/officeDocument/2006/relationships/slide" Target="slides/slide83.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slide" Target="slides/slide89.xml"/><Relationship Id="rId9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tableStyles" Target="tableStyles.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notesMaster" Target="notesMasters/notesMaster1.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sz="quarter" idx="1"/>
          </p:nvPr>
        </p:nvSpPr>
        <p:spPr>
          <a:xfrm>
            <a:off x="3970938" y="0"/>
            <a:ext cx="3037840" cy="466434"/>
          </a:xfrm>
          <a:prstGeom prst="rect">
            <a:avLst/>
          </a:prstGeom>
        </p:spPr>
        <p:txBody>
          <a:bodyPr vert="horz" lIns="93177" tIns="46589" rIns="93177" bIns="46589" rtlCol="0"/>
          <a:lstStyle>
            <a:lvl1pPr algn="r">
              <a:defRPr sz="1200"/>
            </a:lvl1pPr>
          </a:lstStyle>
          <a:p>
            <a:fld id="{C2AFD4F0-F8E7-4B38-8AB3-B3D42BB4AB68}" type="datetimeFigureOut">
              <a:rPr lang="en-US" smtClean="0"/>
              <a:t>10/29/2025</a:t>
            </a:fld>
            <a:endParaRPr lang="en-US"/>
          </a:p>
        </p:txBody>
      </p:sp>
      <p:sp>
        <p:nvSpPr>
          <p:cNvPr id="4" name="Footer Placeholder 3"/>
          <p:cNvSpPr>
            <a:spLocks noGrp="1"/>
          </p:cNvSpPr>
          <p:nvPr>
            <p:ph type="ftr" sz="quarter" idx="2"/>
          </p:nvPr>
        </p:nvSpPr>
        <p:spPr>
          <a:xfrm>
            <a:off x="0" y="8829967"/>
            <a:ext cx="3037840" cy="466433"/>
          </a:xfrm>
          <a:prstGeom prst="rect">
            <a:avLst/>
          </a:prstGeom>
        </p:spPr>
        <p:txBody>
          <a:bodyPr vert="horz" lIns="93177" tIns="46589" rIns="93177" bIns="46589" rtlCol="0" anchor="b"/>
          <a:lstStyle>
            <a:lvl1pPr algn="l">
              <a:defRPr sz="1200"/>
            </a:lvl1pPr>
          </a:lstStyle>
          <a:p>
            <a:endParaRPr lang="en-US"/>
          </a:p>
        </p:txBody>
      </p:sp>
      <p:sp>
        <p:nvSpPr>
          <p:cNvPr id="5" name="Slide Number Placeholder 4"/>
          <p:cNvSpPr>
            <a:spLocks noGrp="1"/>
          </p:cNvSpPr>
          <p:nvPr>
            <p:ph type="sldNum" sz="quarter" idx="3"/>
          </p:nvPr>
        </p:nvSpPr>
        <p:spPr>
          <a:xfrm>
            <a:off x="3970938" y="8829967"/>
            <a:ext cx="3037840" cy="466433"/>
          </a:xfrm>
          <a:prstGeom prst="rect">
            <a:avLst/>
          </a:prstGeom>
        </p:spPr>
        <p:txBody>
          <a:bodyPr vert="horz" lIns="93177" tIns="46589" rIns="93177" bIns="46589" rtlCol="0" anchor="b"/>
          <a:lstStyle>
            <a:lvl1pPr algn="r">
              <a:defRPr sz="1200"/>
            </a:lvl1pPr>
          </a:lstStyle>
          <a:p>
            <a:fld id="{E6758417-41DD-44E2-8136-3065CD04CB53}" type="slidenum">
              <a:rPr lang="en-US" smtClean="0"/>
              <a:t>‹#›</a:t>
            </a:fld>
            <a:endParaRPr lang="en-US"/>
          </a:p>
        </p:txBody>
      </p:sp>
    </p:spTree>
    <p:extLst>
      <p:ext uri="{BB962C8B-B14F-4D97-AF65-F5344CB8AC3E}">
        <p14:creationId xmlns:p14="http://schemas.microsoft.com/office/powerpoint/2010/main" val="339820372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6434"/>
          </a:xfrm>
          <a:prstGeom prst="rect">
            <a:avLst/>
          </a:prstGeom>
        </p:spPr>
        <p:txBody>
          <a:bodyPr vert="horz" lIns="93177" tIns="46589" rIns="93177" bIns="46589" rtlCol="0"/>
          <a:lstStyle>
            <a:lvl1pPr algn="r">
              <a:defRPr sz="1200"/>
            </a:lvl1pPr>
          </a:lstStyle>
          <a:p>
            <a:fld id="{E97DC3C2-995C-486E-A92E-6DA415D3A3FD}" type="datetimeFigureOut">
              <a:rPr lang="en-US" smtClean="0"/>
              <a:t>10/29/2025</a:t>
            </a:fld>
            <a:endParaRPr lang="en-US"/>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73892"/>
            <a:ext cx="5608320" cy="3660458"/>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6433"/>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6433"/>
          </a:xfrm>
          <a:prstGeom prst="rect">
            <a:avLst/>
          </a:prstGeom>
        </p:spPr>
        <p:txBody>
          <a:bodyPr vert="horz" lIns="93177" tIns="46589" rIns="93177" bIns="46589" rtlCol="0" anchor="b"/>
          <a:lstStyle>
            <a:lvl1pPr algn="r">
              <a:defRPr sz="1200"/>
            </a:lvl1pPr>
          </a:lstStyle>
          <a:p>
            <a:fld id="{EA2CD191-96E2-491B-92DD-AC75CE7DA740}" type="slidenum">
              <a:rPr lang="en-US" smtClean="0"/>
              <a:t>‹#›</a:t>
            </a:fld>
            <a:endParaRPr lang="en-US"/>
          </a:p>
        </p:txBody>
      </p:sp>
    </p:spTree>
    <p:extLst>
      <p:ext uri="{BB962C8B-B14F-4D97-AF65-F5344CB8AC3E}">
        <p14:creationId xmlns:p14="http://schemas.microsoft.com/office/powerpoint/2010/main" val="18815434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7">
            <a:extLst>
              <a:ext uri="{FF2B5EF4-FFF2-40B4-BE49-F238E27FC236}">
                <a16:creationId xmlns:a16="http://schemas.microsoft.com/office/drawing/2014/main" id="{D45BD6AA-AA62-40DB-8F69-01F08437FCE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58947FA-5160-4BA9-85D0-928B39E24C9E}" type="slidenum">
              <a:rPr lang="en-US" altLang="en-US" smtClean="0">
                <a:latin typeface="Times New Roman" panose="02020603050405020304" pitchFamily="18" charset="0"/>
              </a:rPr>
              <a:pPr/>
              <a:t>39</a:t>
            </a:fld>
            <a:endParaRPr lang="en-US" altLang="en-US">
              <a:latin typeface="Times New Roman" panose="02020603050405020304" pitchFamily="18" charset="0"/>
            </a:endParaRPr>
          </a:p>
        </p:txBody>
      </p:sp>
      <p:sp>
        <p:nvSpPr>
          <p:cNvPr id="62466" name="Rectangle 2">
            <a:extLst>
              <a:ext uri="{FF2B5EF4-FFF2-40B4-BE49-F238E27FC236}">
                <a16:creationId xmlns:a16="http://schemas.microsoft.com/office/drawing/2014/main" id="{499FCC36-49F5-4AC9-B366-1E5304ED0614}"/>
              </a:ext>
            </a:extLst>
          </p:cNvPr>
          <p:cNvSpPr>
            <a:spLocks noGrp="1" noRot="1" noChangeAspect="1" noChangeArrowheads="1" noTextEdit="1"/>
          </p:cNvSpPr>
          <p:nvPr>
            <p:ph type="sldImg"/>
          </p:nvPr>
        </p:nvSpPr>
        <p:spPr>
          <a:ln/>
        </p:spPr>
      </p:sp>
      <p:sp>
        <p:nvSpPr>
          <p:cNvPr id="62467" name="Rectangle 3">
            <a:extLst>
              <a:ext uri="{FF2B5EF4-FFF2-40B4-BE49-F238E27FC236}">
                <a16:creationId xmlns:a16="http://schemas.microsoft.com/office/drawing/2014/main" id="{86675AAA-4A00-4B97-B2FA-3C42BBC865B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7">
            <a:extLst>
              <a:ext uri="{FF2B5EF4-FFF2-40B4-BE49-F238E27FC236}">
                <a16:creationId xmlns:a16="http://schemas.microsoft.com/office/drawing/2014/main" id="{3ED2E23A-54E6-457E-AF1F-529DC7B6288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35FF144-0680-4B5D-ABBA-203C1672455E}" type="slidenum">
              <a:rPr lang="en-US" altLang="en-US" smtClean="0">
                <a:latin typeface="Times New Roman" panose="02020603050405020304" pitchFamily="18" charset="0"/>
              </a:rPr>
              <a:pPr/>
              <a:t>40</a:t>
            </a:fld>
            <a:endParaRPr lang="en-US" altLang="en-US">
              <a:latin typeface="Times New Roman" panose="02020603050405020304" pitchFamily="18" charset="0"/>
            </a:endParaRPr>
          </a:p>
        </p:txBody>
      </p:sp>
      <p:sp>
        <p:nvSpPr>
          <p:cNvPr id="64514" name="Rectangle 2">
            <a:extLst>
              <a:ext uri="{FF2B5EF4-FFF2-40B4-BE49-F238E27FC236}">
                <a16:creationId xmlns:a16="http://schemas.microsoft.com/office/drawing/2014/main" id="{E78DCE38-C266-4CF5-8650-D2917309FFA3}"/>
              </a:ext>
            </a:extLst>
          </p:cNvPr>
          <p:cNvSpPr>
            <a:spLocks noGrp="1" noRot="1" noChangeAspect="1" noChangeArrowheads="1" noTextEdit="1"/>
          </p:cNvSpPr>
          <p:nvPr>
            <p:ph type="sldImg"/>
          </p:nvPr>
        </p:nvSpPr>
        <p:spPr>
          <a:ln/>
        </p:spPr>
      </p:sp>
      <p:sp>
        <p:nvSpPr>
          <p:cNvPr id="64515" name="Rectangle 3">
            <a:extLst>
              <a:ext uri="{FF2B5EF4-FFF2-40B4-BE49-F238E27FC236}">
                <a16:creationId xmlns:a16="http://schemas.microsoft.com/office/drawing/2014/main" id="{B27516E4-3894-4B74-9601-291D0089307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Rectangle 7">
            <a:extLst>
              <a:ext uri="{FF2B5EF4-FFF2-40B4-BE49-F238E27FC236}">
                <a16:creationId xmlns:a16="http://schemas.microsoft.com/office/drawing/2014/main" id="{431EE039-E00A-4E79-B969-E95F79E5739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D398207-A734-4802-94DC-3ED3D73DD154}" type="slidenum">
              <a:rPr lang="en-US" altLang="en-US" smtClean="0">
                <a:latin typeface="Times New Roman" panose="02020603050405020304" pitchFamily="18" charset="0"/>
              </a:rPr>
              <a:pPr/>
              <a:t>41</a:t>
            </a:fld>
            <a:endParaRPr lang="en-US" altLang="en-US">
              <a:latin typeface="Times New Roman" panose="02020603050405020304" pitchFamily="18" charset="0"/>
            </a:endParaRPr>
          </a:p>
        </p:txBody>
      </p:sp>
      <p:sp>
        <p:nvSpPr>
          <p:cNvPr id="66562" name="Rectangle 2">
            <a:extLst>
              <a:ext uri="{FF2B5EF4-FFF2-40B4-BE49-F238E27FC236}">
                <a16:creationId xmlns:a16="http://schemas.microsoft.com/office/drawing/2014/main" id="{958347E8-61DA-4DD2-B936-31853F6C51BC}"/>
              </a:ext>
            </a:extLst>
          </p:cNvPr>
          <p:cNvSpPr>
            <a:spLocks noGrp="1" noRot="1" noChangeAspect="1" noChangeArrowheads="1" noTextEdit="1"/>
          </p:cNvSpPr>
          <p:nvPr>
            <p:ph type="sldImg"/>
          </p:nvPr>
        </p:nvSpPr>
        <p:spPr>
          <a:ln/>
        </p:spPr>
      </p:sp>
      <p:sp>
        <p:nvSpPr>
          <p:cNvPr id="66563" name="Rectangle 3">
            <a:extLst>
              <a:ext uri="{FF2B5EF4-FFF2-40B4-BE49-F238E27FC236}">
                <a16:creationId xmlns:a16="http://schemas.microsoft.com/office/drawing/2014/main" id="{C0D4C4F4-6151-445D-A5F1-B9DA1EC58D1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Rectangle 7">
            <a:extLst>
              <a:ext uri="{FF2B5EF4-FFF2-40B4-BE49-F238E27FC236}">
                <a16:creationId xmlns:a16="http://schemas.microsoft.com/office/drawing/2014/main" id="{71951C4A-DFE0-4C14-AAD5-1FAFD2912DA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F8E2939-6A94-4FF2-9BB4-52EE1B7E0CA7}" type="slidenum">
              <a:rPr lang="en-US" altLang="en-US" smtClean="0">
                <a:latin typeface="Times New Roman" panose="02020603050405020304" pitchFamily="18" charset="0"/>
              </a:rPr>
              <a:pPr/>
              <a:t>42</a:t>
            </a:fld>
            <a:endParaRPr lang="en-US" altLang="en-US">
              <a:latin typeface="Times New Roman" panose="02020603050405020304" pitchFamily="18" charset="0"/>
            </a:endParaRPr>
          </a:p>
        </p:txBody>
      </p:sp>
      <p:sp>
        <p:nvSpPr>
          <p:cNvPr id="68610" name="Rectangle 2">
            <a:extLst>
              <a:ext uri="{FF2B5EF4-FFF2-40B4-BE49-F238E27FC236}">
                <a16:creationId xmlns:a16="http://schemas.microsoft.com/office/drawing/2014/main" id="{121E77BD-EC18-46E4-9DF0-5FABB27B3252}"/>
              </a:ext>
            </a:extLst>
          </p:cNvPr>
          <p:cNvSpPr>
            <a:spLocks noGrp="1" noRot="1" noChangeAspect="1" noChangeArrowheads="1" noTextEdit="1"/>
          </p:cNvSpPr>
          <p:nvPr>
            <p:ph type="sldImg"/>
          </p:nvPr>
        </p:nvSpPr>
        <p:spPr>
          <a:ln/>
        </p:spPr>
      </p:sp>
      <p:sp>
        <p:nvSpPr>
          <p:cNvPr id="68611" name="Rectangle 3">
            <a:extLst>
              <a:ext uri="{FF2B5EF4-FFF2-40B4-BE49-F238E27FC236}">
                <a16:creationId xmlns:a16="http://schemas.microsoft.com/office/drawing/2014/main" id="{BA1F8134-D1DD-4392-876F-05A79B0F847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7">
            <a:extLst>
              <a:ext uri="{FF2B5EF4-FFF2-40B4-BE49-F238E27FC236}">
                <a16:creationId xmlns:a16="http://schemas.microsoft.com/office/drawing/2014/main" id="{B15668DC-5037-408F-A18B-C49D8F3C40A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1FFB914-7B67-4023-B91D-BDAED6184615}" type="slidenum">
              <a:rPr lang="en-US" altLang="en-US" smtClean="0">
                <a:latin typeface="Times New Roman" panose="02020603050405020304" pitchFamily="18" charset="0"/>
              </a:rPr>
              <a:pPr/>
              <a:t>43</a:t>
            </a:fld>
            <a:endParaRPr lang="en-US" altLang="en-US">
              <a:latin typeface="Times New Roman" panose="02020603050405020304" pitchFamily="18" charset="0"/>
            </a:endParaRPr>
          </a:p>
        </p:txBody>
      </p:sp>
      <p:sp>
        <p:nvSpPr>
          <p:cNvPr id="70658" name="Rectangle 2">
            <a:extLst>
              <a:ext uri="{FF2B5EF4-FFF2-40B4-BE49-F238E27FC236}">
                <a16:creationId xmlns:a16="http://schemas.microsoft.com/office/drawing/2014/main" id="{D01442BD-7C9F-4C09-95EC-24ABEFC4AF51}"/>
              </a:ext>
            </a:extLst>
          </p:cNvPr>
          <p:cNvSpPr>
            <a:spLocks noGrp="1" noRot="1" noChangeAspect="1" noChangeArrowheads="1" noTextEdit="1"/>
          </p:cNvSpPr>
          <p:nvPr>
            <p:ph type="sldImg"/>
          </p:nvPr>
        </p:nvSpPr>
        <p:spPr>
          <a:ln/>
        </p:spPr>
      </p:sp>
      <p:sp>
        <p:nvSpPr>
          <p:cNvPr id="70659" name="Rectangle 3">
            <a:extLst>
              <a:ext uri="{FF2B5EF4-FFF2-40B4-BE49-F238E27FC236}">
                <a16:creationId xmlns:a16="http://schemas.microsoft.com/office/drawing/2014/main" id="{542FF4BC-BEAF-4FA5-A3D8-E000D2F815D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2">
            <a:extLst>
              <a:ext uri="{FF2B5EF4-FFF2-40B4-BE49-F238E27FC236}">
                <a16:creationId xmlns:a16="http://schemas.microsoft.com/office/drawing/2014/main" id="{E0397353-417D-41B7-9952-5281074BA3CD}"/>
              </a:ext>
            </a:extLst>
          </p:cNvPr>
          <p:cNvSpPr>
            <a:spLocks noGrp="1" noRot="1" noChangeAspect="1" noChangeArrowheads="1" noTextEdit="1"/>
          </p:cNvSpPr>
          <p:nvPr>
            <p:ph type="sldImg"/>
          </p:nvPr>
        </p:nvSpPr>
        <p:spPr>
          <a:ln/>
        </p:spPr>
      </p:sp>
      <p:sp>
        <p:nvSpPr>
          <p:cNvPr id="73730" name="Rectangle 3">
            <a:extLst>
              <a:ext uri="{FF2B5EF4-FFF2-40B4-BE49-F238E27FC236}">
                <a16:creationId xmlns:a16="http://schemas.microsoft.com/office/drawing/2014/main" id="{C82FBBC2-631F-44E5-A9AF-36CCDAF3F13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7">
            <a:extLst>
              <a:ext uri="{FF2B5EF4-FFF2-40B4-BE49-F238E27FC236}">
                <a16:creationId xmlns:a16="http://schemas.microsoft.com/office/drawing/2014/main" id="{B15668DC-5037-408F-A18B-C49D8F3C40A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1FFB914-7B67-4023-B91D-BDAED6184615}" type="slidenum">
              <a:rPr lang="en-US" altLang="en-US" smtClean="0">
                <a:latin typeface="Times New Roman" panose="02020603050405020304" pitchFamily="18" charset="0"/>
              </a:rPr>
              <a:pPr/>
              <a:t>46</a:t>
            </a:fld>
            <a:endParaRPr lang="en-US" altLang="en-US">
              <a:latin typeface="Times New Roman" panose="02020603050405020304" pitchFamily="18" charset="0"/>
            </a:endParaRPr>
          </a:p>
        </p:txBody>
      </p:sp>
      <p:sp>
        <p:nvSpPr>
          <p:cNvPr id="70658" name="Rectangle 2">
            <a:extLst>
              <a:ext uri="{FF2B5EF4-FFF2-40B4-BE49-F238E27FC236}">
                <a16:creationId xmlns:a16="http://schemas.microsoft.com/office/drawing/2014/main" id="{D01442BD-7C9F-4C09-95EC-24ABEFC4AF51}"/>
              </a:ext>
            </a:extLst>
          </p:cNvPr>
          <p:cNvSpPr>
            <a:spLocks noGrp="1" noRot="1" noChangeAspect="1" noChangeArrowheads="1" noTextEdit="1"/>
          </p:cNvSpPr>
          <p:nvPr>
            <p:ph type="sldImg"/>
          </p:nvPr>
        </p:nvSpPr>
        <p:spPr>
          <a:ln/>
        </p:spPr>
      </p:sp>
      <p:sp>
        <p:nvSpPr>
          <p:cNvPr id="70659" name="Rectangle 3">
            <a:extLst>
              <a:ext uri="{FF2B5EF4-FFF2-40B4-BE49-F238E27FC236}">
                <a16:creationId xmlns:a16="http://schemas.microsoft.com/office/drawing/2014/main" id="{542FF4BC-BEAF-4FA5-A3D8-E000D2F815D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2094547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Rectangle 7">
            <a:extLst>
              <a:ext uri="{FF2B5EF4-FFF2-40B4-BE49-F238E27FC236}">
                <a16:creationId xmlns:a16="http://schemas.microsoft.com/office/drawing/2014/main" id="{601D3384-8B05-485F-A2EF-9587B33F33F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3389D00-F0DB-4575-A202-8ED00A374984}" type="slidenum">
              <a:rPr lang="en-US" altLang="en-US" smtClean="0">
                <a:latin typeface="Times New Roman" panose="02020603050405020304" pitchFamily="18" charset="0"/>
              </a:rPr>
              <a:pPr/>
              <a:t>49</a:t>
            </a:fld>
            <a:endParaRPr lang="en-US" altLang="en-US">
              <a:latin typeface="Times New Roman" panose="02020603050405020304" pitchFamily="18" charset="0"/>
            </a:endParaRPr>
          </a:p>
        </p:txBody>
      </p:sp>
      <p:sp>
        <p:nvSpPr>
          <p:cNvPr id="79874" name="Rectangle 2">
            <a:extLst>
              <a:ext uri="{FF2B5EF4-FFF2-40B4-BE49-F238E27FC236}">
                <a16:creationId xmlns:a16="http://schemas.microsoft.com/office/drawing/2014/main" id="{7717566B-D582-4B91-9A71-0FBF1749F47A}"/>
              </a:ext>
            </a:extLst>
          </p:cNvPr>
          <p:cNvSpPr>
            <a:spLocks noGrp="1" noRot="1" noChangeAspect="1" noChangeArrowheads="1" noTextEdit="1"/>
          </p:cNvSpPr>
          <p:nvPr>
            <p:ph type="sldImg"/>
          </p:nvPr>
        </p:nvSpPr>
        <p:spPr>
          <a:ln/>
        </p:spPr>
      </p:sp>
      <p:sp>
        <p:nvSpPr>
          <p:cNvPr id="79875" name="Rectangle 3">
            <a:extLst>
              <a:ext uri="{FF2B5EF4-FFF2-40B4-BE49-F238E27FC236}">
                <a16:creationId xmlns:a16="http://schemas.microsoft.com/office/drawing/2014/main" id="{7C69C62F-2959-411E-8350-C197A5B2F63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Rectangle 7">
            <a:extLst>
              <a:ext uri="{FF2B5EF4-FFF2-40B4-BE49-F238E27FC236}">
                <a16:creationId xmlns:a16="http://schemas.microsoft.com/office/drawing/2014/main" id="{9744F318-B901-4759-942A-94AE30C6E7C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556A34F-CE26-48DF-BDB6-8512C2015D3A}" type="slidenum">
              <a:rPr lang="en-US" altLang="en-US" smtClean="0">
                <a:latin typeface="Times New Roman" panose="02020603050405020304" pitchFamily="18" charset="0"/>
              </a:rPr>
              <a:pPr/>
              <a:t>50</a:t>
            </a:fld>
            <a:endParaRPr lang="en-US" altLang="en-US">
              <a:latin typeface="Times New Roman" panose="02020603050405020304" pitchFamily="18" charset="0"/>
            </a:endParaRPr>
          </a:p>
        </p:txBody>
      </p:sp>
      <p:sp>
        <p:nvSpPr>
          <p:cNvPr id="81922" name="Rectangle 2">
            <a:extLst>
              <a:ext uri="{FF2B5EF4-FFF2-40B4-BE49-F238E27FC236}">
                <a16:creationId xmlns:a16="http://schemas.microsoft.com/office/drawing/2014/main" id="{5C86FCDC-1A33-4EE6-8446-8BE755FA9381}"/>
              </a:ext>
            </a:extLst>
          </p:cNvPr>
          <p:cNvSpPr>
            <a:spLocks noGrp="1" noRot="1" noChangeAspect="1" noChangeArrowheads="1" noTextEdit="1"/>
          </p:cNvSpPr>
          <p:nvPr>
            <p:ph type="sldImg"/>
          </p:nvPr>
        </p:nvSpPr>
        <p:spPr>
          <a:ln/>
        </p:spPr>
      </p:sp>
      <p:sp>
        <p:nvSpPr>
          <p:cNvPr id="81923" name="Rectangle 3">
            <a:extLst>
              <a:ext uri="{FF2B5EF4-FFF2-40B4-BE49-F238E27FC236}">
                <a16:creationId xmlns:a16="http://schemas.microsoft.com/office/drawing/2014/main" id="{2E8154DC-D491-430E-8E74-BCAA616BD29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Rectangle 2">
            <a:extLst>
              <a:ext uri="{FF2B5EF4-FFF2-40B4-BE49-F238E27FC236}">
                <a16:creationId xmlns:a16="http://schemas.microsoft.com/office/drawing/2014/main" id="{DE094DDD-260E-455D-8EB0-8BB12FEAE4E8}"/>
              </a:ext>
            </a:extLst>
          </p:cNvPr>
          <p:cNvSpPr>
            <a:spLocks noGrp="1" noRot="1" noChangeAspect="1" noChangeArrowheads="1" noTextEdit="1"/>
          </p:cNvSpPr>
          <p:nvPr>
            <p:ph type="sldImg"/>
          </p:nvPr>
        </p:nvSpPr>
        <p:spPr>
          <a:ln/>
        </p:spPr>
      </p:sp>
      <p:sp>
        <p:nvSpPr>
          <p:cNvPr id="83970" name="Rectangle 3">
            <a:extLst>
              <a:ext uri="{FF2B5EF4-FFF2-40B4-BE49-F238E27FC236}">
                <a16:creationId xmlns:a16="http://schemas.microsoft.com/office/drawing/2014/main" id="{02F1DB9E-007C-446E-AB01-7ED8075C473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Rectangle 2">
            <a:extLst>
              <a:ext uri="{FF2B5EF4-FFF2-40B4-BE49-F238E27FC236}">
                <a16:creationId xmlns:a16="http://schemas.microsoft.com/office/drawing/2014/main" id="{05EA5329-089A-4360-AE7B-2DA62D3B762B}"/>
              </a:ext>
            </a:extLst>
          </p:cNvPr>
          <p:cNvSpPr>
            <a:spLocks noGrp="1" noRot="1" noChangeAspect="1" noChangeArrowheads="1" noTextEdit="1"/>
          </p:cNvSpPr>
          <p:nvPr>
            <p:ph type="sldImg"/>
          </p:nvPr>
        </p:nvSpPr>
        <p:spPr>
          <a:ln/>
        </p:spPr>
      </p:sp>
      <p:sp>
        <p:nvSpPr>
          <p:cNvPr id="86018" name="Rectangle 3">
            <a:extLst>
              <a:ext uri="{FF2B5EF4-FFF2-40B4-BE49-F238E27FC236}">
                <a16:creationId xmlns:a16="http://schemas.microsoft.com/office/drawing/2014/main" id="{0CF6B92D-B96A-44DC-95AA-8E6B6A60E5A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Rectangle 2">
            <a:extLst>
              <a:ext uri="{FF2B5EF4-FFF2-40B4-BE49-F238E27FC236}">
                <a16:creationId xmlns:a16="http://schemas.microsoft.com/office/drawing/2014/main" id="{437A72EC-432C-4C05-AF8F-5EBA2A9EC62C}"/>
              </a:ext>
            </a:extLst>
          </p:cNvPr>
          <p:cNvSpPr>
            <a:spLocks noGrp="1" noRot="1" noChangeAspect="1" noChangeArrowheads="1" noTextEdit="1"/>
          </p:cNvSpPr>
          <p:nvPr>
            <p:ph type="sldImg"/>
          </p:nvPr>
        </p:nvSpPr>
        <p:spPr>
          <a:ln/>
        </p:spPr>
      </p:sp>
      <p:sp>
        <p:nvSpPr>
          <p:cNvPr id="88066" name="Rectangle 3">
            <a:extLst>
              <a:ext uri="{FF2B5EF4-FFF2-40B4-BE49-F238E27FC236}">
                <a16:creationId xmlns:a16="http://schemas.microsoft.com/office/drawing/2014/main" id="{6BA80304-DFCF-44CB-B40E-CE4EDAC07CC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Rectangle 2">
            <a:extLst>
              <a:ext uri="{FF2B5EF4-FFF2-40B4-BE49-F238E27FC236}">
                <a16:creationId xmlns:a16="http://schemas.microsoft.com/office/drawing/2014/main" id="{E1F706CE-E2FD-455A-913B-ABCDDAF14B6D}"/>
              </a:ext>
            </a:extLst>
          </p:cNvPr>
          <p:cNvSpPr>
            <a:spLocks noGrp="1" noRot="1" noChangeAspect="1" noChangeArrowheads="1" noTextEdit="1"/>
          </p:cNvSpPr>
          <p:nvPr>
            <p:ph type="sldImg"/>
          </p:nvPr>
        </p:nvSpPr>
        <p:spPr>
          <a:ln/>
        </p:spPr>
      </p:sp>
      <p:sp>
        <p:nvSpPr>
          <p:cNvPr id="91138" name="Rectangle 3">
            <a:extLst>
              <a:ext uri="{FF2B5EF4-FFF2-40B4-BE49-F238E27FC236}">
                <a16:creationId xmlns:a16="http://schemas.microsoft.com/office/drawing/2014/main" id="{8C4D5169-BD41-41A8-A7DA-5865D7BE056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Rectangle 2">
            <a:extLst>
              <a:ext uri="{FF2B5EF4-FFF2-40B4-BE49-F238E27FC236}">
                <a16:creationId xmlns:a16="http://schemas.microsoft.com/office/drawing/2014/main" id="{1594E555-7502-473E-ADC7-7EEEF1FEF84C}"/>
              </a:ext>
            </a:extLst>
          </p:cNvPr>
          <p:cNvSpPr>
            <a:spLocks noGrp="1" noRot="1" noChangeAspect="1" noChangeArrowheads="1" noTextEdit="1"/>
          </p:cNvSpPr>
          <p:nvPr>
            <p:ph type="sldImg"/>
          </p:nvPr>
        </p:nvSpPr>
        <p:spPr>
          <a:ln/>
        </p:spPr>
      </p:sp>
      <p:sp>
        <p:nvSpPr>
          <p:cNvPr id="93186" name="Rectangle 3">
            <a:extLst>
              <a:ext uri="{FF2B5EF4-FFF2-40B4-BE49-F238E27FC236}">
                <a16:creationId xmlns:a16="http://schemas.microsoft.com/office/drawing/2014/main" id="{9969F21B-0452-4DCB-967A-6DE887A0EE0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Rectangle 7">
            <a:extLst>
              <a:ext uri="{FF2B5EF4-FFF2-40B4-BE49-F238E27FC236}">
                <a16:creationId xmlns:a16="http://schemas.microsoft.com/office/drawing/2014/main" id="{33CE3CE7-AC06-40D5-9C70-89C27A6093D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A844920-4587-41BB-A3CA-8E6E52C99E12}" type="slidenum">
              <a:rPr lang="en-US" altLang="en-US" smtClean="0">
                <a:latin typeface="Times New Roman" panose="02020603050405020304" pitchFamily="18" charset="0"/>
              </a:rPr>
              <a:pPr/>
              <a:t>58</a:t>
            </a:fld>
            <a:endParaRPr lang="en-US" altLang="en-US">
              <a:latin typeface="Times New Roman" panose="02020603050405020304" pitchFamily="18" charset="0"/>
            </a:endParaRPr>
          </a:p>
        </p:txBody>
      </p:sp>
      <p:sp>
        <p:nvSpPr>
          <p:cNvPr id="95234" name="Rectangle 2">
            <a:extLst>
              <a:ext uri="{FF2B5EF4-FFF2-40B4-BE49-F238E27FC236}">
                <a16:creationId xmlns:a16="http://schemas.microsoft.com/office/drawing/2014/main" id="{655DDA23-9478-4C39-A9F1-CD239EFF6C62}"/>
              </a:ext>
            </a:extLst>
          </p:cNvPr>
          <p:cNvSpPr>
            <a:spLocks noGrp="1" noRot="1" noChangeAspect="1" noChangeArrowheads="1" noTextEdit="1"/>
          </p:cNvSpPr>
          <p:nvPr>
            <p:ph type="sldImg"/>
          </p:nvPr>
        </p:nvSpPr>
        <p:spPr>
          <a:ln/>
        </p:spPr>
      </p:sp>
      <p:sp>
        <p:nvSpPr>
          <p:cNvPr id="95235" name="Rectangle 3">
            <a:extLst>
              <a:ext uri="{FF2B5EF4-FFF2-40B4-BE49-F238E27FC236}">
                <a16:creationId xmlns:a16="http://schemas.microsoft.com/office/drawing/2014/main" id="{8C147644-C431-442F-B8E3-9F9A97EEB46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Rectangle 7">
            <a:extLst>
              <a:ext uri="{FF2B5EF4-FFF2-40B4-BE49-F238E27FC236}">
                <a16:creationId xmlns:a16="http://schemas.microsoft.com/office/drawing/2014/main" id="{33CE3CE7-AC06-40D5-9C70-89C27A6093D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A844920-4587-41BB-A3CA-8E6E52C99E12}" type="slidenum">
              <a:rPr lang="en-US" altLang="en-US" smtClean="0">
                <a:latin typeface="Times New Roman" panose="02020603050405020304" pitchFamily="18" charset="0"/>
              </a:rPr>
              <a:pPr/>
              <a:t>59</a:t>
            </a:fld>
            <a:endParaRPr lang="en-US" altLang="en-US">
              <a:latin typeface="Times New Roman" panose="02020603050405020304" pitchFamily="18" charset="0"/>
            </a:endParaRPr>
          </a:p>
        </p:txBody>
      </p:sp>
      <p:sp>
        <p:nvSpPr>
          <p:cNvPr id="95234" name="Rectangle 2">
            <a:extLst>
              <a:ext uri="{FF2B5EF4-FFF2-40B4-BE49-F238E27FC236}">
                <a16:creationId xmlns:a16="http://schemas.microsoft.com/office/drawing/2014/main" id="{655DDA23-9478-4C39-A9F1-CD239EFF6C62}"/>
              </a:ext>
            </a:extLst>
          </p:cNvPr>
          <p:cNvSpPr>
            <a:spLocks noGrp="1" noRot="1" noChangeAspect="1" noChangeArrowheads="1" noTextEdit="1"/>
          </p:cNvSpPr>
          <p:nvPr>
            <p:ph type="sldImg"/>
          </p:nvPr>
        </p:nvSpPr>
        <p:spPr>
          <a:ln/>
        </p:spPr>
      </p:sp>
      <p:sp>
        <p:nvSpPr>
          <p:cNvPr id="95235" name="Rectangle 3">
            <a:extLst>
              <a:ext uri="{FF2B5EF4-FFF2-40B4-BE49-F238E27FC236}">
                <a16:creationId xmlns:a16="http://schemas.microsoft.com/office/drawing/2014/main" id="{8C147644-C431-442F-B8E3-9F9A97EEB46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29314368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Rectangle 7">
            <a:extLst>
              <a:ext uri="{FF2B5EF4-FFF2-40B4-BE49-F238E27FC236}">
                <a16:creationId xmlns:a16="http://schemas.microsoft.com/office/drawing/2014/main" id="{8ABEC3AB-CB2F-422A-96FE-FE682CC7E9D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26247B14-7B30-4914-8493-770C5D0217D9}" type="slidenum">
              <a:rPr lang="en-US" altLang="en-US" smtClean="0">
                <a:latin typeface="Times New Roman" panose="02020603050405020304" pitchFamily="18" charset="0"/>
              </a:rPr>
              <a:pPr/>
              <a:t>60</a:t>
            </a:fld>
            <a:endParaRPr lang="en-US" altLang="en-US">
              <a:latin typeface="Times New Roman" panose="02020603050405020304" pitchFamily="18" charset="0"/>
            </a:endParaRPr>
          </a:p>
        </p:txBody>
      </p:sp>
      <p:sp>
        <p:nvSpPr>
          <p:cNvPr id="99330" name="Rectangle 2">
            <a:extLst>
              <a:ext uri="{FF2B5EF4-FFF2-40B4-BE49-F238E27FC236}">
                <a16:creationId xmlns:a16="http://schemas.microsoft.com/office/drawing/2014/main" id="{C8100621-F24D-4E56-8558-0B896D93F8E1}"/>
              </a:ext>
            </a:extLst>
          </p:cNvPr>
          <p:cNvSpPr>
            <a:spLocks noGrp="1" noRot="1" noChangeAspect="1" noChangeArrowheads="1" noTextEdit="1"/>
          </p:cNvSpPr>
          <p:nvPr>
            <p:ph type="sldImg"/>
          </p:nvPr>
        </p:nvSpPr>
        <p:spPr>
          <a:ln/>
        </p:spPr>
      </p:sp>
      <p:sp>
        <p:nvSpPr>
          <p:cNvPr id="99331" name="Rectangle 3">
            <a:extLst>
              <a:ext uri="{FF2B5EF4-FFF2-40B4-BE49-F238E27FC236}">
                <a16:creationId xmlns:a16="http://schemas.microsoft.com/office/drawing/2014/main" id="{E63E4EC3-C621-41A8-B24D-8BB333340A1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2425442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Rectangle 7">
            <a:extLst>
              <a:ext uri="{FF2B5EF4-FFF2-40B4-BE49-F238E27FC236}">
                <a16:creationId xmlns:a16="http://schemas.microsoft.com/office/drawing/2014/main" id="{6F281DE9-7498-4090-B348-71231F97FD2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A0BAF53-828A-49F4-8077-26BB561564F9}" type="slidenum">
              <a:rPr lang="en-US" altLang="en-US" smtClean="0">
                <a:latin typeface="Times New Roman" panose="02020603050405020304" pitchFamily="18" charset="0"/>
              </a:rPr>
              <a:pPr/>
              <a:t>61</a:t>
            </a:fld>
            <a:endParaRPr lang="en-US" altLang="en-US">
              <a:latin typeface="Times New Roman" panose="02020603050405020304" pitchFamily="18" charset="0"/>
            </a:endParaRPr>
          </a:p>
        </p:txBody>
      </p:sp>
      <p:sp>
        <p:nvSpPr>
          <p:cNvPr id="101378" name="Rectangle 2">
            <a:extLst>
              <a:ext uri="{FF2B5EF4-FFF2-40B4-BE49-F238E27FC236}">
                <a16:creationId xmlns:a16="http://schemas.microsoft.com/office/drawing/2014/main" id="{6B68C51B-7F25-49DC-8F26-B5ECF0C025BA}"/>
              </a:ext>
            </a:extLst>
          </p:cNvPr>
          <p:cNvSpPr>
            <a:spLocks noGrp="1" noRot="1" noChangeAspect="1" noChangeArrowheads="1" noTextEdit="1"/>
          </p:cNvSpPr>
          <p:nvPr>
            <p:ph type="sldImg"/>
          </p:nvPr>
        </p:nvSpPr>
        <p:spPr>
          <a:ln/>
        </p:spPr>
      </p:sp>
      <p:sp>
        <p:nvSpPr>
          <p:cNvPr id="101379" name="Rectangle 3">
            <a:extLst>
              <a:ext uri="{FF2B5EF4-FFF2-40B4-BE49-F238E27FC236}">
                <a16:creationId xmlns:a16="http://schemas.microsoft.com/office/drawing/2014/main" id="{E5863E4C-7BE6-4289-9CB8-26E477DE0E1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Rectangle 7">
            <a:extLst>
              <a:ext uri="{FF2B5EF4-FFF2-40B4-BE49-F238E27FC236}">
                <a16:creationId xmlns:a16="http://schemas.microsoft.com/office/drawing/2014/main" id="{D8A4CFDB-1B15-4236-A42E-7505D8A4987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6628204-E272-49CF-9F32-BF3F333C9D84}" type="slidenum">
              <a:rPr lang="en-US" altLang="en-US" smtClean="0">
                <a:latin typeface="Times New Roman" panose="02020603050405020304" pitchFamily="18" charset="0"/>
              </a:rPr>
              <a:pPr/>
              <a:t>62</a:t>
            </a:fld>
            <a:endParaRPr lang="en-US" altLang="en-US">
              <a:latin typeface="Times New Roman" panose="02020603050405020304" pitchFamily="18" charset="0"/>
            </a:endParaRPr>
          </a:p>
        </p:txBody>
      </p:sp>
      <p:sp>
        <p:nvSpPr>
          <p:cNvPr id="103426" name="Rectangle 2">
            <a:extLst>
              <a:ext uri="{FF2B5EF4-FFF2-40B4-BE49-F238E27FC236}">
                <a16:creationId xmlns:a16="http://schemas.microsoft.com/office/drawing/2014/main" id="{C0102936-7E09-430D-892F-94CD298AAA3D}"/>
              </a:ext>
            </a:extLst>
          </p:cNvPr>
          <p:cNvSpPr>
            <a:spLocks noGrp="1" noRot="1" noChangeAspect="1" noChangeArrowheads="1" noTextEdit="1"/>
          </p:cNvSpPr>
          <p:nvPr>
            <p:ph type="sldImg"/>
          </p:nvPr>
        </p:nvSpPr>
        <p:spPr>
          <a:ln/>
        </p:spPr>
      </p:sp>
      <p:sp>
        <p:nvSpPr>
          <p:cNvPr id="103427" name="Rectangle 3">
            <a:extLst>
              <a:ext uri="{FF2B5EF4-FFF2-40B4-BE49-F238E27FC236}">
                <a16:creationId xmlns:a16="http://schemas.microsoft.com/office/drawing/2014/main" id="{24DB5797-0DCA-4C75-9E95-296E5A8A24B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3" name="Rectangle 7">
            <a:extLst>
              <a:ext uri="{FF2B5EF4-FFF2-40B4-BE49-F238E27FC236}">
                <a16:creationId xmlns:a16="http://schemas.microsoft.com/office/drawing/2014/main" id="{374C7EC4-F5B4-44B3-B62A-A28A21B6FE8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E3D624F-2319-4971-BD9E-DD1BA8AA2210}" type="slidenum">
              <a:rPr lang="en-US" altLang="en-US" smtClean="0">
                <a:latin typeface="Times New Roman" panose="02020603050405020304" pitchFamily="18" charset="0"/>
              </a:rPr>
              <a:pPr/>
              <a:t>63</a:t>
            </a:fld>
            <a:endParaRPr lang="en-US" altLang="en-US">
              <a:latin typeface="Times New Roman" panose="02020603050405020304" pitchFamily="18" charset="0"/>
            </a:endParaRPr>
          </a:p>
        </p:txBody>
      </p:sp>
      <p:sp>
        <p:nvSpPr>
          <p:cNvPr id="105474" name="Rectangle 2">
            <a:extLst>
              <a:ext uri="{FF2B5EF4-FFF2-40B4-BE49-F238E27FC236}">
                <a16:creationId xmlns:a16="http://schemas.microsoft.com/office/drawing/2014/main" id="{AF7E44E0-A93B-4500-931E-F814DE1DA12D}"/>
              </a:ext>
            </a:extLst>
          </p:cNvPr>
          <p:cNvSpPr>
            <a:spLocks noGrp="1" noRot="1" noChangeAspect="1" noChangeArrowheads="1" noTextEdit="1"/>
          </p:cNvSpPr>
          <p:nvPr>
            <p:ph type="sldImg"/>
          </p:nvPr>
        </p:nvSpPr>
        <p:spPr>
          <a:ln/>
        </p:spPr>
      </p:sp>
      <p:sp>
        <p:nvSpPr>
          <p:cNvPr id="105475" name="Rectangle 3">
            <a:extLst>
              <a:ext uri="{FF2B5EF4-FFF2-40B4-BE49-F238E27FC236}">
                <a16:creationId xmlns:a16="http://schemas.microsoft.com/office/drawing/2014/main" id="{A4368273-6DBC-4628-8DEB-11600A203A4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Rectangle 7">
            <a:extLst>
              <a:ext uri="{FF2B5EF4-FFF2-40B4-BE49-F238E27FC236}">
                <a16:creationId xmlns:a16="http://schemas.microsoft.com/office/drawing/2014/main" id="{62FCB5DA-A3EA-4F94-870C-C18A20A4CC8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2DA7A980-1C06-4A44-B4F7-1A8E4D6C7491}" type="slidenum">
              <a:rPr lang="en-US" altLang="en-US" smtClean="0">
                <a:latin typeface="Times New Roman" panose="02020603050405020304" pitchFamily="18" charset="0"/>
              </a:rPr>
              <a:pPr/>
              <a:t>64</a:t>
            </a:fld>
            <a:endParaRPr lang="en-US" altLang="en-US">
              <a:latin typeface="Times New Roman" panose="02020603050405020304" pitchFamily="18" charset="0"/>
            </a:endParaRPr>
          </a:p>
        </p:txBody>
      </p:sp>
      <p:sp>
        <p:nvSpPr>
          <p:cNvPr id="107522" name="Rectangle 2">
            <a:extLst>
              <a:ext uri="{FF2B5EF4-FFF2-40B4-BE49-F238E27FC236}">
                <a16:creationId xmlns:a16="http://schemas.microsoft.com/office/drawing/2014/main" id="{15C739DA-0C35-42A2-B92D-D03C6D99E8A4}"/>
              </a:ext>
            </a:extLst>
          </p:cNvPr>
          <p:cNvSpPr>
            <a:spLocks noGrp="1" noRot="1" noChangeAspect="1" noChangeArrowheads="1" noTextEdit="1"/>
          </p:cNvSpPr>
          <p:nvPr>
            <p:ph type="sldImg"/>
          </p:nvPr>
        </p:nvSpPr>
        <p:spPr>
          <a:ln/>
        </p:spPr>
      </p:sp>
      <p:sp>
        <p:nvSpPr>
          <p:cNvPr id="107523" name="Rectangle 3">
            <a:extLst>
              <a:ext uri="{FF2B5EF4-FFF2-40B4-BE49-F238E27FC236}">
                <a16:creationId xmlns:a16="http://schemas.microsoft.com/office/drawing/2014/main" id="{97F686E3-9FAA-4D73-BB67-E0221D7B3CD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69" name="Rectangle 7">
            <a:extLst>
              <a:ext uri="{FF2B5EF4-FFF2-40B4-BE49-F238E27FC236}">
                <a16:creationId xmlns:a16="http://schemas.microsoft.com/office/drawing/2014/main" id="{0ED619BB-69AA-4187-8508-5C6D20F5F3E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EC6BA39-A472-4B3B-A7DF-4F396B3C17E7}" type="slidenum">
              <a:rPr lang="en-US" altLang="en-US" smtClean="0">
                <a:latin typeface="Times New Roman" panose="02020603050405020304" pitchFamily="18" charset="0"/>
              </a:rPr>
              <a:pPr/>
              <a:t>66</a:t>
            </a:fld>
            <a:endParaRPr lang="en-US" altLang="en-US">
              <a:latin typeface="Times New Roman" panose="02020603050405020304" pitchFamily="18" charset="0"/>
            </a:endParaRPr>
          </a:p>
        </p:txBody>
      </p:sp>
      <p:sp>
        <p:nvSpPr>
          <p:cNvPr id="109570" name="Rectangle 2">
            <a:extLst>
              <a:ext uri="{FF2B5EF4-FFF2-40B4-BE49-F238E27FC236}">
                <a16:creationId xmlns:a16="http://schemas.microsoft.com/office/drawing/2014/main" id="{F413F31A-C6FC-4BAD-849E-A6DB77768434}"/>
              </a:ext>
            </a:extLst>
          </p:cNvPr>
          <p:cNvSpPr>
            <a:spLocks noGrp="1" noRot="1" noChangeAspect="1" noChangeArrowheads="1" noTextEdit="1"/>
          </p:cNvSpPr>
          <p:nvPr>
            <p:ph type="sldImg"/>
          </p:nvPr>
        </p:nvSpPr>
        <p:spPr>
          <a:ln/>
        </p:spPr>
      </p:sp>
      <p:sp>
        <p:nvSpPr>
          <p:cNvPr id="109571" name="Rectangle 3">
            <a:extLst>
              <a:ext uri="{FF2B5EF4-FFF2-40B4-BE49-F238E27FC236}">
                <a16:creationId xmlns:a16="http://schemas.microsoft.com/office/drawing/2014/main" id="{0D3B88A5-CEE8-40BD-9808-2CDA6AB3D4A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7" name="Rectangle 7">
            <a:extLst>
              <a:ext uri="{FF2B5EF4-FFF2-40B4-BE49-F238E27FC236}">
                <a16:creationId xmlns:a16="http://schemas.microsoft.com/office/drawing/2014/main" id="{DAC8869F-FF99-4234-BF9F-6981A2322E7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8F9C382-E9CB-4121-9295-821692F9295E}" type="slidenum">
              <a:rPr lang="en-US" altLang="en-US" smtClean="0">
                <a:latin typeface="Times New Roman" panose="02020603050405020304" pitchFamily="18" charset="0"/>
              </a:rPr>
              <a:pPr/>
              <a:t>68</a:t>
            </a:fld>
            <a:endParaRPr lang="en-US" altLang="en-US">
              <a:latin typeface="Times New Roman" panose="02020603050405020304" pitchFamily="18" charset="0"/>
            </a:endParaRPr>
          </a:p>
        </p:txBody>
      </p:sp>
      <p:sp>
        <p:nvSpPr>
          <p:cNvPr id="111618" name="Rectangle 2">
            <a:extLst>
              <a:ext uri="{FF2B5EF4-FFF2-40B4-BE49-F238E27FC236}">
                <a16:creationId xmlns:a16="http://schemas.microsoft.com/office/drawing/2014/main" id="{F4B9B201-551A-4715-A46B-58B15F548286}"/>
              </a:ext>
            </a:extLst>
          </p:cNvPr>
          <p:cNvSpPr>
            <a:spLocks noGrp="1" noRot="1" noChangeAspect="1" noChangeArrowheads="1" noTextEdit="1"/>
          </p:cNvSpPr>
          <p:nvPr>
            <p:ph type="sldImg"/>
          </p:nvPr>
        </p:nvSpPr>
        <p:spPr>
          <a:ln/>
        </p:spPr>
      </p:sp>
      <p:sp>
        <p:nvSpPr>
          <p:cNvPr id="111619" name="Rectangle 3">
            <a:extLst>
              <a:ext uri="{FF2B5EF4-FFF2-40B4-BE49-F238E27FC236}">
                <a16:creationId xmlns:a16="http://schemas.microsoft.com/office/drawing/2014/main" id="{425B08B2-27C5-4BFD-AF86-46493468446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5" name="Rectangle 7">
            <a:extLst>
              <a:ext uri="{FF2B5EF4-FFF2-40B4-BE49-F238E27FC236}">
                <a16:creationId xmlns:a16="http://schemas.microsoft.com/office/drawing/2014/main" id="{2791A9A1-933F-48E4-A663-A9A44F38422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8144CDA-524B-42CB-B6A8-1F82635CA2A0}" type="slidenum">
              <a:rPr lang="en-US" altLang="en-US" smtClean="0">
                <a:latin typeface="Times New Roman" panose="02020603050405020304" pitchFamily="18" charset="0"/>
              </a:rPr>
              <a:pPr/>
              <a:t>69</a:t>
            </a:fld>
            <a:endParaRPr lang="en-US" altLang="en-US">
              <a:latin typeface="Times New Roman" panose="02020603050405020304" pitchFamily="18" charset="0"/>
            </a:endParaRPr>
          </a:p>
        </p:txBody>
      </p:sp>
      <p:sp>
        <p:nvSpPr>
          <p:cNvPr id="113666" name="Rectangle 2">
            <a:extLst>
              <a:ext uri="{FF2B5EF4-FFF2-40B4-BE49-F238E27FC236}">
                <a16:creationId xmlns:a16="http://schemas.microsoft.com/office/drawing/2014/main" id="{22B584FC-47BF-4329-A73D-AE03445B463A}"/>
              </a:ext>
            </a:extLst>
          </p:cNvPr>
          <p:cNvSpPr>
            <a:spLocks noGrp="1" noRot="1" noChangeAspect="1" noChangeArrowheads="1" noTextEdit="1"/>
          </p:cNvSpPr>
          <p:nvPr>
            <p:ph type="sldImg"/>
          </p:nvPr>
        </p:nvSpPr>
        <p:spPr>
          <a:ln/>
        </p:spPr>
      </p:sp>
      <p:sp>
        <p:nvSpPr>
          <p:cNvPr id="113667" name="Rectangle 3">
            <a:extLst>
              <a:ext uri="{FF2B5EF4-FFF2-40B4-BE49-F238E27FC236}">
                <a16:creationId xmlns:a16="http://schemas.microsoft.com/office/drawing/2014/main" id="{0EF88E9A-5692-479E-86D8-D453385FBD4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69170022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5" name="Rectangle 7">
            <a:extLst>
              <a:ext uri="{FF2B5EF4-FFF2-40B4-BE49-F238E27FC236}">
                <a16:creationId xmlns:a16="http://schemas.microsoft.com/office/drawing/2014/main" id="{2791A9A1-933F-48E4-A663-A9A44F38422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8144CDA-524B-42CB-B6A8-1F82635CA2A0}" type="slidenum">
              <a:rPr lang="en-US" altLang="en-US" smtClean="0">
                <a:latin typeface="Times New Roman" panose="02020603050405020304" pitchFamily="18" charset="0"/>
              </a:rPr>
              <a:pPr/>
              <a:t>70</a:t>
            </a:fld>
            <a:endParaRPr lang="en-US" altLang="en-US">
              <a:latin typeface="Times New Roman" panose="02020603050405020304" pitchFamily="18" charset="0"/>
            </a:endParaRPr>
          </a:p>
        </p:txBody>
      </p:sp>
      <p:sp>
        <p:nvSpPr>
          <p:cNvPr id="113666" name="Rectangle 2">
            <a:extLst>
              <a:ext uri="{FF2B5EF4-FFF2-40B4-BE49-F238E27FC236}">
                <a16:creationId xmlns:a16="http://schemas.microsoft.com/office/drawing/2014/main" id="{22B584FC-47BF-4329-A73D-AE03445B463A}"/>
              </a:ext>
            </a:extLst>
          </p:cNvPr>
          <p:cNvSpPr>
            <a:spLocks noGrp="1" noRot="1" noChangeAspect="1" noChangeArrowheads="1" noTextEdit="1"/>
          </p:cNvSpPr>
          <p:nvPr>
            <p:ph type="sldImg"/>
          </p:nvPr>
        </p:nvSpPr>
        <p:spPr>
          <a:ln/>
        </p:spPr>
      </p:sp>
      <p:sp>
        <p:nvSpPr>
          <p:cNvPr id="113667" name="Rectangle 3">
            <a:extLst>
              <a:ext uri="{FF2B5EF4-FFF2-40B4-BE49-F238E27FC236}">
                <a16:creationId xmlns:a16="http://schemas.microsoft.com/office/drawing/2014/main" id="{0EF88E9A-5692-479E-86D8-D453385FBD4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52315461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3" name="Rectangle 7">
            <a:extLst>
              <a:ext uri="{FF2B5EF4-FFF2-40B4-BE49-F238E27FC236}">
                <a16:creationId xmlns:a16="http://schemas.microsoft.com/office/drawing/2014/main" id="{04233C27-8849-4252-91D2-6553BF31ECA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3033E44-AE0A-43BF-A520-184D3757D382}" type="slidenum">
              <a:rPr lang="en-US" altLang="en-US" smtClean="0">
                <a:latin typeface="Times New Roman" panose="02020603050405020304" pitchFamily="18" charset="0"/>
              </a:rPr>
              <a:pPr/>
              <a:t>71</a:t>
            </a:fld>
            <a:endParaRPr lang="en-US" altLang="en-US">
              <a:latin typeface="Times New Roman" panose="02020603050405020304" pitchFamily="18" charset="0"/>
            </a:endParaRPr>
          </a:p>
        </p:txBody>
      </p:sp>
      <p:sp>
        <p:nvSpPr>
          <p:cNvPr id="115714" name="Rectangle 2">
            <a:extLst>
              <a:ext uri="{FF2B5EF4-FFF2-40B4-BE49-F238E27FC236}">
                <a16:creationId xmlns:a16="http://schemas.microsoft.com/office/drawing/2014/main" id="{A615ED96-D2E9-4926-A603-58BB15867773}"/>
              </a:ext>
            </a:extLst>
          </p:cNvPr>
          <p:cNvSpPr>
            <a:spLocks noGrp="1" noRot="1" noChangeAspect="1" noChangeArrowheads="1" noTextEdit="1"/>
          </p:cNvSpPr>
          <p:nvPr>
            <p:ph type="sldImg"/>
          </p:nvPr>
        </p:nvSpPr>
        <p:spPr>
          <a:ln/>
        </p:spPr>
      </p:sp>
      <p:sp>
        <p:nvSpPr>
          <p:cNvPr id="115715" name="Rectangle 3">
            <a:extLst>
              <a:ext uri="{FF2B5EF4-FFF2-40B4-BE49-F238E27FC236}">
                <a16:creationId xmlns:a16="http://schemas.microsoft.com/office/drawing/2014/main" id="{17D404A4-62DB-49DD-A17D-967D6DD89AB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1" name="Rectangle 7">
            <a:extLst>
              <a:ext uri="{FF2B5EF4-FFF2-40B4-BE49-F238E27FC236}">
                <a16:creationId xmlns:a16="http://schemas.microsoft.com/office/drawing/2014/main" id="{3F17DCC5-0162-4C65-A6B7-1F3634D871F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9309D8D-5C8E-47B5-B76C-995FF4B425D8}" type="slidenum">
              <a:rPr lang="en-US" altLang="en-US" smtClean="0">
                <a:latin typeface="Times New Roman" panose="02020603050405020304" pitchFamily="18" charset="0"/>
              </a:rPr>
              <a:pPr/>
              <a:t>77</a:t>
            </a:fld>
            <a:endParaRPr lang="en-US" altLang="en-US">
              <a:latin typeface="Times New Roman" panose="02020603050405020304" pitchFamily="18" charset="0"/>
            </a:endParaRPr>
          </a:p>
        </p:txBody>
      </p:sp>
      <p:sp>
        <p:nvSpPr>
          <p:cNvPr id="122882" name="Rectangle 2">
            <a:extLst>
              <a:ext uri="{FF2B5EF4-FFF2-40B4-BE49-F238E27FC236}">
                <a16:creationId xmlns:a16="http://schemas.microsoft.com/office/drawing/2014/main" id="{A6EEBBBF-E4B7-44BF-8D3E-4E75A9CF28A7}"/>
              </a:ext>
            </a:extLst>
          </p:cNvPr>
          <p:cNvSpPr>
            <a:spLocks noGrp="1" noRot="1" noChangeAspect="1" noChangeArrowheads="1" noTextEdit="1"/>
          </p:cNvSpPr>
          <p:nvPr>
            <p:ph type="sldImg"/>
          </p:nvPr>
        </p:nvSpPr>
        <p:spPr>
          <a:ln/>
        </p:spPr>
      </p:sp>
      <p:sp>
        <p:nvSpPr>
          <p:cNvPr id="122883" name="Rectangle 3">
            <a:extLst>
              <a:ext uri="{FF2B5EF4-FFF2-40B4-BE49-F238E27FC236}">
                <a16:creationId xmlns:a16="http://schemas.microsoft.com/office/drawing/2014/main" id="{3DF1B668-5AF4-487A-B6A0-0D84D219C79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3" name="Rectangle 7">
            <a:extLst>
              <a:ext uri="{FF2B5EF4-FFF2-40B4-BE49-F238E27FC236}">
                <a16:creationId xmlns:a16="http://schemas.microsoft.com/office/drawing/2014/main" id="{5C5A5839-50F4-45D9-AEAE-5667E211352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74F695C-5F2E-482E-8B6B-62AF14C87ED6}" type="slidenum">
              <a:rPr lang="en-US" altLang="en-US" smtClean="0">
                <a:latin typeface="Times New Roman" panose="02020603050405020304" pitchFamily="18" charset="0"/>
              </a:rPr>
              <a:pPr/>
              <a:t>79</a:t>
            </a:fld>
            <a:endParaRPr lang="en-US" altLang="en-US">
              <a:latin typeface="Times New Roman" panose="02020603050405020304" pitchFamily="18" charset="0"/>
            </a:endParaRPr>
          </a:p>
        </p:txBody>
      </p:sp>
      <p:sp>
        <p:nvSpPr>
          <p:cNvPr id="125954" name="Rectangle 2">
            <a:extLst>
              <a:ext uri="{FF2B5EF4-FFF2-40B4-BE49-F238E27FC236}">
                <a16:creationId xmlns:a16="http://schemas.microsoft.com/office/drawing/2014/main" id="{AFDE3679-E12F-4EC6-AEFF-563863F2D181}"/>
              </a:ext>
            </a:extLst>
          </p:cNvPr>
          <p:cNvSpPr>
            <a:spLocks noGrp="1" noRot="1" noChangeAspect="1" noChangeArrowheads="1" noTextEdit="1"/>
          </p:cNvSpPr>
          <p:nvPr>
            <p:ph type="sldImg"/>
          </p:nvPr>
        </p:nvSpPr>
        <p:spPr>
          <a:ln/>
        </p:spPr>
      </p:sp>
      <p:sp>
        <p:nvSpPr>
          <p:cNvPr id="125955" name="Rectangle 3">
            <a:extLst>
              <a:ext uri="{FF2B5EF4-FFF2-40B4-BE49-F238E27FC236}">
                <a16:creationId xmlns:a16="http://schemas.microsoft.com/office/drawing/2014/main" id="{91F7994F-0D20-4662-93D9-382F1278168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7290000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3" name="Rectangle 7">
            <a:extLst>
              <a:ext uri="{FF2B5EF4-FFF2-40B4-BE49-F238E27FC236}">
                <a16:creationId xmlns:a16="http://schemas.microsoft.com/office/drawing/2014/main" id="{B4D2F53A-EAE3-418A-BB66-6424E5A129D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2C970466-3449-4494-8D09-9CEF39776B3E}" type="slidenum">
              <a:rPr lang="en-US" altLang="en-US" smtClean="0">
                <a:latin typeface="Times New Roman" panose="02020603050405020304" pitchFamily="18" charset="0"/>
              </a:rPr>
              <a:pPr/>
              <a:t>83</a:t>
            </a:fld>
            <a:endParaRPr lang="en-US" altLang="en-US">
              <a:latin typeface="Times New Roman" panose="02020603050405020304" pitchFamily="18" charset="0"/>
            </a:endParaRPr>
          </a:p>
        </p:txBody>
      </p:sp>
      <p:sp>
        <p:nvSpPr>
          <p:cNvPr id="131074" name="Rectangle 2">
            <a:extLst>
              <a:ext uri="{FF2B5EF4-FFF2-40B4-BE49-F238E27FC236}">
                <a16:creationId xmlns:a16="http://schemas.microsoft.com/office/drawing/2014/main" id="{B822E183-1692-4D48-BA88-87F0B1822975}"/>
              </a:ext>
            </a:extLst>
          </p:cNvPr>
          <p:cNvSpPr>
            <a:spLocks noGrp="1" noRot="1" noChangeAspect="1" noChangeArrowheads="1" noTextEdit="1"/>
          </p:cNvSpPr>
          <p:nvPr>
            <p:ph type="sldImg"/>
          </p:nvPr>
        </p:nvSpPr>
        <p:spPr>
          <a:ln/>
        </p:spPr>
      </p:sp>
      <p:sp>
        <p:nvSpPr>
          <p:cNvPr id="131075" name="Rectangle 3">
            <a:extLst>
              <a:ext uri="{FF2B5EF4-FFF2-40B4-BE49-F238E27FC236}">
                <a16:creationId xmlns:a16="http://schemas.microsoft.com/office/drawing/2014/main" id="{CA1A4E23-F289-4B51-A9B3-418DE56116B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51286192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1" name="Rectangle 7">
            <a:extLst>
              <a:ext uri="{FF2B5EF4-FFF2-40B4-BE49-F238E27FC236}">
                <a16:creationId xmlns:a16="http://schemas.microsoft.com/office/drawing/2014/main" id="{EDA12628-4C86-479D-9171-1641D98D7BD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1C541504-7C9A-4526-994E-304A048D608D}" type="slidenum">
              <a:rPr lang="en-US" altLang="en-US" smtClean="0">
                <a:latin typeface="Times New Roman" panose="02020603050405020304" pitchFamily="18" charset="0"/>
              </a:rPr>
              <a:pPr/>
              <a:t>84</a:t>
            </a:fld>
            <a:endParaRPr lang="en-US" altLang="en-US">
              <a:latin typeface="Times New Roman" panose="02020603050405020304" pitchFamily="18" charset="0"/>
            </a:endParaRPr>
          </a:p>
        </p:txBody>
      </p:sp>
      <p:sp>
        <p:nvSpPr>
          <p:cNvPr id="133122" name="Rectangle 2">
            <a:extLst>
              <a:ext uri="{FF2B5EF4-FFF2-40B4-BE49-F238E27FC236}">
                <a16:creationId xmlns:a16="http://schemas.microsoft.com/office/drawing/2014/main" id="{13D5EBB1-DC43-4A05-9978-1A0E671EAC83}"/>
              </a:ext>
            </a:extLst>
          </p:cNvPr>
          <p:cNvSpPr>
            <a:spLocks noGrp="1" noRot="1" noChangeAspect="1" noChangeArrowheads="1" noTextEdit="1"/>
          </p:cNvSpPr>
          <p:nvPr>
            <p:ph type="sldImg"/>
          </p:nvPr>
        </p:nvSpPr>
        <p:spPr>
          <a:ln/>
        </p:spPr>
      </p:sp>
      <p:sp>
        <p:nvSpPr>
          <p:cNvPr id="133123" name="Rectangle 3">
            <a:extLst>
              <a:ext uri="{FF2B5EF4-FFF2-40B4-BE49-F238E27FC236}">
                <a16:creationId xmlns:a16="http://schemas.microsoft.com/office/drawing/2014/main" id="{7653D829-07D7-4B63-8D2E-7CD44E19082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29634021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1" name="Rectangle 7">
            <a:extLst>
              <a:ext uri="{FF2B5EF4-FFF2-40B4-BE49-F238E27FC236}">
                <a16:creationId xmlns:a16="http://schemas.microsoft.com/office/drawing/2014/main" id="{A350F77D-618E-4516-9F52-31972751586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0EA1C6A-8A64-43BB-91B2-5F5909240046}" type="slidenum">
              <a:rPr lang="en-US" altLang="en-US" smtClean="0">
                <a:latin typeface="Times New Roman" panose="02020603050405020304" pitchFamily="18" charset="0"/>
              </a:rPr>
              <a:pPr/>
              <a:t>88</a:t>
            </a:fld>
            <a:endParaRPr lang="en-US" altLang="en-US">
              <a:latin typeface="Times New Roman" panose="02020603050405020304" pitchFamily="18" charset="0"/>
            </a:endParaRPr>
          </a:p>
        </p:txBody>
      </p:sp>
      <p:sp>
        <p:nvSpPr>
          <p:cNvPr id="138242" name="Rectangle 2">
            <a:extLst>
              <a:ext uri="{FF2B5EF4-FFF2-40B4-BE49-F238E27FC236}">
                <a16:creationId xmlns:a16="http://schemas.microsoft.com/office/drawing/2014/main" id="{6A5F7160-2558-4837-96D7-957DDEA6B04D}"/>
              </a:ext>
            </a:extLst>
          </p:cNvPr>
          <p:cNvSpPr>
            <a:spLocks noGrp="1" noRot="1" noChangeAspect="1" noChangeArrowheads="1" noTextEdit="1"/>
          </p:cNvSpPr>
          <p:nvPr>
            <p:ph type="sldImg"/>
          </p:nvPr>
        </p:nvSpPr>
        <p:spPr>
          <a:ln/>
        </p:spPr>
      </p:sp>
      <p:sp>
        <p:nvSpPr>
          <p:cNvPr id="138243" name="Rectangle 3">
            <a:extLst>
              <a:ext uri="{FF2B5EF4-FFF2-40B4-BE49-F238E27FC236}">
                <a16:creationId xmlns:a16="http://schemas.microsoft.com/office/drawing/2014/main" id="{84B2144B-1F9A-405F-AA84-7C73138F265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0039995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cxnSp>
        <p:nvCxnSpPr>
          <p:cNvPr id="8" name="Straight Connector 7"/>
          <p:cNvCxnSpPr/>
          <p:nvPr userDrawn="1"/>
        </p:nvCxnSpPr>
        <p:spPr>
          <a:xfrm>
            <a:off x="622300" y="3894138"/>
            <a:ext cx="10972800" cy="0"/>
          </a:xfrm>
          <a:prstGeom prst="line">
            <a:avLst/>
          </a:prstGeom>
          <a:ln>
            <a:solidFill>
              <a:srgbClr val="C00000"/>
            </a:solidFill>
          </a:ln>
        </p:spPr>
        <p:style>
          <a:lnRef idx="3">
            <a:schemeClr val="accent2"/>
          </a:lnRef>
          <a:fillRef idx="0">
            <a:schemeClr val="accent2"/>
          </a:fillRef>
          <a:effectRef idx="2">
            <a:schemeClr val="accent2"/>
          </a:effectRef>
          <a:fontRef idx="minor">
            <a:schemeClr val="tx1"/>
          </a:fontRef>
        </p:style>
      </p:cxnSp>
      <p:sp>
        <p:nvSpPr>
          <p:cNvPr id="2" name="Title 1"/>
          <p:cNvSpPr>
            <a:spLocks noGrp="1"/>
          </p:cNvSpPr>
          <p:nvPr>
            <p:ph type="ctrTitle"/>
          </p:nvPr>
        </p:nvSpPr>
        <p:spPr>
          <a:xfrm>
            <a:off x="1066800" y="711200"/>
            <a:ext cx="10058400" cy="2890838"/>
          </a:xfrm>
        </p:spPr>
        <p:txBody>
          <a:bodyPr anchor="b"/>
          <a:lstStyle>
            <a:lvl1pPr algn="ctr">
              <a:defRPr sz="6000">
                <a:latin typeface="Segoe UI Light" panose="020B0502040204020203" pitchFamily="34" charset="0"/>
              </a:defRPr>
            </a:lvl1pPr>
          </a:lstStyle>
          <a:p>
            <a:r>
              <a:rPr lang="en-US" dirty="0"/>
              <a:t>Click to edit Master title style</a:t>
            </a:r>
          </a:p>
        </p:txBody>
      </p:sp>
      <p:sp>
        <p:nvSpPr>
          <p:cNvPr id="3" name="Subtitle 2"/>
          <p:cNvSpPr>
            <a:spLocks noGrp="1"/>
          </p:cNvSpPr>
          <p:nvPr>
            <p:ph type="subTitle" idx="1"/>
          </p:nvPr>
        </p:nvSpPr>
        <p:spPr>
          <a:xfrm>
            <a:off x="1066800" y="4122738"/>
            <a:ext cx="10058400" cy="1655762"/>
          </a:xfrm>
        </p:spPr>
        <p:txBody>
          <a:bodyPr/>
          <a:lstStyle>
            <a:lvl1pPr marL="0" indent="0" algn="ctr">
              <a:buNone/>
              <a:defRPr sz="2400">
                <a:latin typeface="Segoe UI Light" panose="020B050204020402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91D29DD9-4302-427D-93BD-28F094C994FA}" type="datetime1">
              <a:rPr lang="en-US" smtClean="0"/>
              <a:t>10/29/2025</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E80E1EC0-76B8-468E-A1CA-1F6FD2EA3D0C}" type="slidenum">
              <a:rPr lang="en-US" smtClean="0"/>
              <a:t>‹#›</a:t>
            </a:fld>
            <a:endParaRPr lang="en-US" dirty="0"/>
          </a:p>
        </p:txBody>
      </p:sp>
      <p:cxnSp>
        <p:nvCxnSpPr>
          <p:cNvPr id="11" name="Straight Connector 10">
            <a:extLst>
              <a:ext uri="{FF2B5EF4-FFF2-40B4-BE49-F238E27FC236}">
                <a16:creationId xmlns:a16="http://schemas.microsoft.com/office/drawing/2014/main" id="{4207F44B-0869-4E0B-9D14-E05949FF70E1}"/>
              </a:ext>
            </a:extLst>
          </p:cNvPr>
          <p:cNvCxnSpPr/>
          <p:nvPr/>
        </p:nvCxnSpPr>
        <p:spPr>
          <a:xfrm>
            <a:off x="10669815" y="-2963"/>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357D2442-658D-4BB3-BDA2-F2D185E92367}"/>
              </a:ext>
            </a:extLst>
          </p:cNvPr>
          <p:cNvCxnSpPr>
            <a:cxnSpLocks/>
          </p:cNvCxnSpPr>
          <p:nvPr/>
        </p:nvCxnSpPr>
        <p:spPr>
          <a:xfrm flipH="1">
            <a:off x="9980612" y="3692843"/>
            <a:ext cx="2208213" cy="316515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17" name="Rectangle 28">
            <a:extLst>
              <a:ext uri="{FF2B5EF4-FFF2-40B4-BE49-F238E27FC236}">
                <a16:creationId xmlns:a16="http://schemas.microsoft.com/office/drawing/2014/main" id="{49F2F0DD-6C19-4F59-8AA1-E4FB554C837E}"/>
              </a:ext>
            </a:extLst>
          </p:cNvPr>
          <p:cNvSpPr/>
          <p:nvPr/>
        </p:nvSpPr>
        <p:spPr>
          <a:xfrm>
            <a:off x="10898730" y="2963"/>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8" name="Rectangle 29">
            <a:extLst>
              <a:ext uri="{FF2B5EF4-FFF2-40B4-BE49-F238E27FC236}">
                <a16:creationId xmlns:a16="http://schemas.microsoft.com/office/drawing/2014/main" id="{7FF1F6D6-FC9F-4600-897C-08B1AC898438}"/>
              </a:ext>
            </a:extLst>
          </p:cNvPr>
          <p:cNvSpPr/>
          <p:nvPr/>
        </p:nvSpPr>
        <p:spPr>
          <a:xfrm>
            <a:off x="10938999" y="2963"/>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a:extLst>
              <a:ext uri="{FF2B5EF4-FFF2-40B4-BE49-F238E27FC236}">
                <a16:creationId xmlns:a16="http://schemas.microsoft.com/office/drawing/2014/main" id="{58B78111-75F2-4EEA-9A56-7D7C5B867C34}"/>
              </a:ext>
            </a:extLst>
          </p:cNvPr>
          <p:cNvSpPr/>
          <p:nvPr/>
        </p:nvSpPr>
        <p:spPr>
          <a:xfrm>
            <a:off x="10371666" y="360129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Isosceles Triangle 19">
            <a:extLst>
              <a:ext uri="{FF2B5EF4-FFF2-40B4-BE49-F238E27FC236}">
                <a16:creationId xmlns:a16="http://schemas.microsoft.com/office/drawing/2014/main" id="{45D00097-3B25-4093-8399-53FC9EDB415E}"/>
              </a:ext>
            </a:extLst>
          </p:cNvPr>
          <p:cNvSpPr/>
          <p:nvPr/>
        </p:nvSpPr>
        <p:spPr>
          <a:xfrm>
            <a:off x="2792" y="1185757"/>
            <a:ext cx="1005840" cy="5669280"/>
          </a:xfrm>
          <a:prstGeom prst="triangle">
            <a:avLst>
              <a:gd name="adj" fmla="val 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Tree>
    <p:extLst>
      <p:ext uri="{BB962C8B-B14F-4D97-AF65-F5344CB8AC3E}">
        <p14:creationId xmlns:p14="http://schemas.microsoft.com/office/powerpoint/2010/main" val="1867025442"/>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1_Title Slide">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1066800" y="711200"/>
            <a:ext cx="10058400" cy="2890838"/>
          </a:xfrm>
        </p:spPr>
        <p:txBody>
          <a:bodyPr anchor="b"/>
          <a:lstStyle>
            <a:lvl1pPr algn="ctr">
              <a:defRPr sz="6000">
                <a:latin typeface="Segoe UI Light" panose="020B0502040204020203" pitchFamily="34" charset="0"/>
              </a:defRPr>
            </a:lvl1pPr>
          </a:lstStyle>
          <a:p>
            <a:r>
              <a:rPr lang="en-US" dirty="0"/>
              <a:t>Click to edit Master title style</a:t>
            </a:r>
          </a:p>
        </p:txBody>
      </p:sp>
      <p:sp>
        <p:nvSpPr>
          <p:cNvPr id="3" name="Subtitle 2"/>
          <p:cNvSpPr>
            <a:spLocks noGrp="1"/>
          </p:cNvSpPr>
          <p:nvPr>
            <p:ph type="subTitle" idx="1"/>
          </p:nvPr>
        </p:nvSpPr>
        <p:spPr>
          <a:xfrm>
            <a:off x="1066800" y="4122738"/>
            <a:ext cx="10058400" cy="1655762"/>
          </a:xfrm>
        </p:spPr>
        <p:txBody>
          <a:bodyPr/>
          <a:lstStyle>
            <a:lvl1pPr marL="0" indent="0" algn="ctr">
              <a:buNone/>
              <a:defRPr sz="2400">
                <a:latin typeface="Segoe UI Light" panose="020B050204020402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91D29DD9-4302-427D-93BD-28F094C994FA}" type="datetime1">
              <a:rPr lang="en-US" smtClean="0"/>
              <a:t>10/29/2025</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E80E1EC0-76B8-468E-A1CA-1F6FD2EA3D0C}" type="slidenum">
              <a:rPr lang="en-US" smtClean="0"/>
              <a:t>‹#›</a:t>
            </a:fld>
            <a:endParaRPr lang="en-US" dirty="0"/>
          </a:p>
        </p:txBody>
      </p:sp>
    </p:spTree>
    <p:extLst>
      <p:ext uri="{BB962C8B-B14F-4D97-AF65-F5344CB8AC3E}">
        <p14:creationId xmlns:p14="http://schemas.microsoft.com/office/powerpoint/2010/main" val="3642235600"/>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rgbClr val="760000"/>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B4A024D1-2235-4261-84CC-7F2CA51183F2}"/>
              </a:ext>
            </a:extLst>
          </p:cNvPr>
          <p:cNvSpPr>
            <a:spLocks noGrp="1"/>
          </p:cNvSpPr>
          <p:nvPr>
            <p:ph type="title"/>
          </p:nvPr>
        </p:nvSpPr>
        <p:spPr>
          <a:xfrm>
            <a:off x="831850" y="1709738"/>
            <a:ext cx="10515600" cy="2852737"/>
          </a:xfrm>
        </p:spPr>
        <p:txBody>
          <a:bodyPr anchor="ctr">
            <a:normAutofit/>
          </a:bodyPr>
          <a:lstStyle>
            <a:lvl1pPr algn="ctr">
              <a:lnSpc>
                <a:spcPct val="100000"/>
              </a:lnSpc>
              <a:defRPr sz="4800" b="1">
                <a:solidFill>
                  <a:schemeClr val="bg1"/>
                </a:solidFill>
                <a:latin typeface="Segoe UI Light" panose="020B0502040204020203" pitchFamily="34" charset="0"/>
                <a:cs typeface="Segoe UI Light" panose="020B0502040204020203" pitchFamily="34" charset="0"/>
              </a:defRPr>
            </a:lvl1pPr>
          </a:lstStyle>
          <a:p>
            <a:r>
              <a:rPr lang="en-US" dirty="0"/>
              <a:t>Click to edit Master title style</a:t>
            </a:r>
          </a:p>
        </p:txBody>
      </p:sp>
      <p:sp>
        <p:nvSpPr>
          <p:cNvPr id="8" name="Text Placeholder 2">
            <a:extLst>
              <a:ext uri="{FF2B5EF4-FFF2-40B4-BE49-F238E27FC236}">
                <a16:creationId xmlns:a16="http://schemas.microsoft.com/office/drawing/2014/main" id="{59F90A18-E68B-4A7C-B7A8-92A1B095EB5B}"/>
              </a:ext>
            </a:extLst>
          </p:cNvPr>
          <p:cNvSpPr>
            <a:spLocks noGrp="1"/>
          </p:cNvSpPr>
          <p:nvPr>
            <p:ph type="body" idx="1"/>
          </p:nvPr>
        </p:nvSpPr>
        <p:spPr>
          <a:xfrm>
            <a:off x="831850" y="4589463"/>
            <a:ext cx="10515600" cy="1500187"/>
          </a:xfrm>
        </p:spPr>
        <p:txBody>
          <a:bodyPr/>
          <a:lstStyle>
            <a:lvl1pPr marL="0" indent="0" algn="ctr">
              <a:buNone/>
              <a:defRPr sz="2400">
                <a:solidFill>
                  <a:schemeClr val="bg1">
                    <a:lumMod val="65000"/>
                  </a:schemeClr>
                </a:solidFill>
                <a:latin typeface="Segoe UI" panose="020B0502040204020203" pitchFamily="34" charset="0"/>
                <a:cs typeface="Segoe UI" panose="020B050204020402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9" name="Rectangle 17">
            <a:extLst>
              <a:ext uri="{FF2B5EF4-FFF2-40B4-BE49-F238E27FC236}">
                <a16:creationId xmlns:a16="http://schemas.microsoft.com/office/drawing/2014/main" id="{78D857C9-565A-47AB-A6D8-2A2B3D87D949}"/>
              </a:ext>
            </a:extLst>
          </p:cNvPr>
          <p:cNvSpPr txBox="1">
            <a:spLocks noChangeArrowheads="1"/>
          </p:cNvSpPr>
          <p:nvPr userDrawn="1"/>
        </p:nvSpPr>
        <p:spPr bwMode="auto">
          <a:xfrm>
            <a:off x="11586756" y="6399348"/>
            <a:ext cx="457200" cy="457200"/>
          </a:xfrm>
          <a:prstGeom prst="rect">
            <a:avLst/>
          </a:prstGeom>
          <a:solidFill>
            <a:schemeClr val="bg1">
              <a:lumMod val="85000"/>
            </a:schemeClr>
          </a:solidFill>
          <a:ln w="9525">
            <a:noFill/>
            <a:miter lim="800000"/>
            <a:headEnd/>
            <a:tailEnd/>
          </a:ln>
          <a:effectLst/>
        </p:spPr>
        <p:txBody>
          <a:bodyPr vert="horz" wrap="square" lIns="91440" tIns="45720" rIns="91440" bIns="45720" numCol="1" anchor="ctr" anchorCtr="0" compatLnSpc="1">
            <a:prstTxWarp prst="textNoShape">
              <a:avLst/>
            </a:prstTxWarp>
          </a:bodyPr>
          <a:lstStyle>
            <a:lvl1pPr algn="r">
              <a:defRPr sz="1400" b="1" i="1" smtClean="0">
                <a:latin typeface="Verdana"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FE54C918-24AF-40BD-B9B5-B36F83F28A8C}" type="slidenum">
              <a:rPr kumimoji="0" lang="en-US" sz="1400" b="1" i="1" u="none" strike="noStrike" kern="1200" cap="none" spc="0" normalizeH="0" baseline="0" noProof="0" smtClean="0">
                <a:ln>
                  <a:noFill/>
                </a:ln>
                <a:solidFill>
                  <a:srgbClr val="C00000"/>
                </a:solidFill>
                <a:effectLst/>
                <a:uLnTx/>
                <a:uFillTx/>
                <a:latin typeface="Century Gothic" pitchFamily="34" charset="0"/>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1600" b="1" i="1" u="none" strike="noStrike" kern="1200" cap="none" spc="0" normalizeH="0" baseline="0" noProof="0" dirty="0">
              <a:ln>
                <a:noFill/>
              </a:ln>
              <a:solidFill>
                <a:srgbClr val="C00000"/>
              </a:solidFill>
              <a:effectLst/>
              <a:uLnTx/>
              <a:uFillTx/>
              <a:latin typeface="Century Gothic" pitchFamily="34" charset="0"/>
              <a:ea typeface="+mn-ea"/>
              <a:cs typeface="+mn-cs"/>
            </a:endParaRPr>
          </a:p>
        </p:txBody>
      </p:sp>
      <p:sp>
        <p:nvSpPr>
          <p:cNvPr id="11" name="Rectangle 18">
            <a:extLst>
              <a:ext uri="{FF2B5EF4-FFF2-40B4-BE49-F238E27FC236}">
                <a16:creationId xmlns:a16="http://schemas.microsoft.com/office/drawing/2014/main" id="{8DAD96D6-5B9C-4DBD-8B54-B9DBB8C433EA}"/>
              </a:ext>
            </a:extLst>
          </p:cNvPr>
          <p:cNvSpPr txBox="1">
            <a:spLocks noChangeArrowheads="1"/>
          </p:cNvSpPr>
          <p:nvPr userDrawn="1"/>
        </p:nvSpPr>
        <p:spPr bwMode="auto">
          <a:xfrm>
            <a:off x="4083050" y="6451600"/>
            <a:ext cx="4025900" cy="3048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defRPr sz="1100" smtClean="0"/>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chemeClr val="bg1">
                    <a:lumMod val="85000"/>
                  </a:schemeClr>
                </a:solidFill>
                <a:effectLst/>
                <a:uLnTx/>
                <a:uFillTx/>
                <a:latin typeface="Segoe UI Light" panose="020B0502040204020203" pitchFamily="34" charset="0"/>
                <a:ea typeface="+mn-ea"/>
                <a:cs typeface="Calibri" pitchFamily="34" charset="0"/>
              </a:rPr>
              <a:t>Sheheryar Malik, Ph.D.</a:t>
            </a:r>
          </a:p>
        </p:txBody>
      </p:sp>
      <p:sp>
        <p:nvSpPr>
          <p:cNvPr id="12" name="Rectangle 11">
            <a:extLst>
              <a:ext uri="{FF2B5EF4-FFF2-40B4-BE49-F238E27FC236}">
                <a16:creationId xmlns:a16="http://schemas.microsoft.com/office/drawing/2014/main" id="{E4CB60C4-6E75-4231-81D0-064636C0F587}"/>
              </a:ext>
            </a:extLst>
          </p:cNvPr>
          <p:cNvSpPr/>
          <p:nvPr userDrawn="1"/>
        </p:nvSpPr>
        <p:spPr>
          <a:xfrm>
            <a:off x="342682" y="4459918"/>
            <a:ext cx="91440" cy="1828800"/>
          </a:xfrm>
          <a:prstGeom prst="rect">
            <a:avLst/>
          </a:prstGeom>
          <a:solidFill>
            <a:schemeClr val="tx1">
              <a:lumMod val="65000"/>
              <a:lumOff val="35000"/>
            </a:schemeClr>
          </a:solidFill>
          <a:ln w="50800" cap="rnd" cmpd="dbl"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orbel"/>
              <a:ea typeface="+mn-ea"/>
              <a:cs typeface="+mn-cs"/>
            </a:endParaRPr>
          </a:p>
        </p:txBody>
      </p:sp>
      <p:sp>
        <p:nvSpPr>
          <p:cNvPr id="13" name="Rectangle 12">
            <a:extLst>
              <a:ext uri="{FF2B5EF4-FFF2-40B4-BE49-F238E27FC236}">
                <a16:creationId xmlns:a16="http://schemas.microsoft.com/office/drawing/2014/main" id="{1102C899-A8CF-4D04-BCAF-8F79500D2F0C}"/>
              </a:ext>
            </a:extLst>
          </p:cNvPr>
          <p:cNvSpPr/>
          <p:nvPr userDrawn="1"/>
        </p:nvSpPr>
        <p:spPr>
          <a:xfrm>
            <a:off x="342900" y="3412144"/>
            <a:ext cx="91440" cy="1005840"/>
          </a:xfrm>
          <a:prstGeom prst="rect">
            <a:avLst/>
          </a:prstGeom>
          <a:solidFill>
            <a:srgbClr val="A28E6A">
              <a:alpha val="100000"/>
            </a:srgbClr>
          </a:solidFill>
          <a:ln w="50800" cap="rnd" cmpd="dbl"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orbel"/>
              <a:ea typeface="+mn-ea"/>
              <a:cs typeface="+mn-cs"/>
            </a:endParaRPr>
          </a:p>
        </p:txBody>
      </p:sp>
      <p:sp>
        <p:nvSpPr>
          <p:cNvPr id="14" name="Rectangle 13">
            <a:extLst>
              <a:ext uri="{FF2B5EF4-FFF2-40B4-BE49-F238E27FC236}">
                <a16:creationId xmlns:a16="http://schemas.microsoft.com/office/drawing/2014/main" id="{3FA6FA3A-3D2E-4D3A-90EC-A647392A50BF}"/>
              </a:ext>
            </a:extLst>
          </p:cNvPr>
          <p:cNvSpPr/>
          <p:nvPr userDrawn="1"/>
        </p:nvSpPr>
        <p:spPr>
          <a:xfrm>
            <a:off x="342900" y="2743193"/>
            <a:ext cx="91440" cy="640080"/>
          </a:xfrm>
          <a:prstGeom prst="rect">
            <a:avLst/>
          </a:prstGeom>
          <a:solidFill>
            <a:schemeClr val="bg1">
              <a:lumMod val="65000"/>
            </a:schemeClr>
          </a:solidFill>
          <a:ln w="50800" cap="rnd" cmpd="dbl"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orbel"/>
              <a:ea typeface="+mn-ea"/>
              <a:cs typeface="+mn-cs"/>
            </a:endParaRPr>
          </a:p>
        </p:txBody>
      </p:sp>
      <p:sp>
        <p:nvSpPr>
          <p:cNvPr id="15" name="Rectangle 14">
            <a:extLst>
              <a:ext uri="{FF2B5EF4-FFF2-40B4-BE49-F238E27FC236}">
                <a16:creationId xmlns:a16="http://schemas.microsoft.com/office/drawing/2014/main" id="{34ACD2D5-50F6-4000-BEB5-02DF9B6CB908}"/>
              </a:ext>
            </a:extLst>
          </p:cNvPr>
          <p:cNvSpPr/>
          <p:nvPr userDrawn="1"/>
        </p:nvSpPr>
        <p:spPr>
          <a:xfrm>
            <a:off x="342900" y="2191691"/>
            <a:ext cx="91440" cy="137160"/>
          </a:xfrm>
          <a:prstGeom prst="rect">
            <a:avLst/>
          </a:prstGeom>
          <a:solidFill>
            <a:schemeClr val="tx1">
              <a:lumMod val="65000"/>
              <a:lumOff val="35000"/>
            </a:schemeClr>
          </a:solidFill>
          <a:ln w="50800" cap="rnd" cmpd="dbl"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orbel"/>
              <a:ea typeface="+mn-ea"/>
              <a:cs typeface="+mn-cs"/>
            </a:endParaRPr>
          </a:p>
        </p:txBody>
      </p:sp>
      <p:sp>
        <p:nvSpPr>
          <p:cNvPr id="16" name="Rectangle 15">
            <a:extLst>
              <a:ext uri="{FF2B5EF4-FFF2-40B4-BE49-F238E27FC236}">
                <a16:creationId xmlns:a16="http://schemas.microsoft.com/office/drawing/2014/main" id="{C4645F37-B01C-4AA2-9A56-942AB7EABC53}"/>
              </a:ext>
            </a:extLst>
          </p:cNvPr>
          <p:cNvSpPr/>
          <p:nvPr userDrawn="1"/>
        </p:nvSpPr>
        <p:spPr>
          <a:xfrm>
            <a:off x="342900" y="2355934"/>
            <a:ext cx="91440" cy="365760"/>
          </a:xfrm>
          <a:prstGeom prst="rect">
            <a:avLst/>
          </a:prstGeom>
          <a:solidFill>
            <a:schemeClr val="bg1">
              <a:lumMod val="85000"/>
            </a:schemeClr>
          </a:solidFill>
          <a:ln w="50800" cap="rnd" cmpd="dbl"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orbel"/>
              <a:ea typeface="+mn-ea"/>
              <a:cs typeface="+mn-cs"/>
            </a:endParaRPr>
          </a:p>
        </p:txBody>
      </p:sp>
      <p:sp>
        <p:nvSpPr>
          <p:cNvPr id="17" name="Rectangle 18">
            <a:extLst>
              <a:ext uri="{FF2B5EF4-FFF2-40B4-BE49-F238E27FC236}">
                <a16:creationId xmlns:a16="http://schemas.microsoft.com/office/drawing/2014/main" id="{903324D6-3C92-4C64-A666-E130E68D8E2F}"/>
              </a:ext>
            </a:extLst>
          </p:cNvPr>
          <p:cNvSpPr txBox="1">
            <a:spLocks noChangeArrowheads="1"/>
          </p:cNvSpPr>
          <p:nvPr userDrawn="1"/>
        </p:nvSpPr>
        <p:spPr bwMode="auto">
          <a:xfrm>
            <a:off x="342900" y="6451600"/>
            <a:ext cx="4025900" cy="3048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defRPr sz="1100" smtClean="0"/>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chemeClr val="bg1">
                    <a:lumMod val="85000"/>
                  </a:schemeClr>
                </a:solidFill>
                <a:effectLst/>
                <a:uLnTx/>
                <a:uFillTx/>
                <a:latin typeface="Segoe UI Light" panose="020B0502040204020203" pitchFamily="34" charset="0"/>
                <a:ea typeface="+mn-ea"/>
                <a:cs typeface="Calibri" pitchFamily="34" charset="0"/>
              </a:rPr>
              <a:t>Process Scheduling</a:t>
            </a:r>
          </a:p>
        </p:txBody>
      </p:sp>
      <p:sp>
        <p:nvSpPr>
          <p:cNvPr id="18" name="Rectangle 17">
            <a:extLst>
              <a:ext uri="{FF2B5EF4-FFF2-40B4-BE49-F238E27FC236}">
                <a16:creationId xmlns:a16="http://schemas.microsoft.com/office/drawing/2014/main" id="{D556FD98-E169-4DCB-B5F9-EF9767B1769F}"/>
              </a:ext>
            </a:extLst>
          </p:cNvPr>
          <p:cNvSpPr/>
          <p:nvPr userDrawn="1"/>
        </p:nvSpPr>
        <p:spPr>
          <a:xfrm>
            <a:off x="10558938" y="47625"/>
            <a:ext cx="1399743" cy="276999"/>
          </a:xfrm>
          <a:prstGeom prst="rect">
            <a:avLst/>
          </a:prstGeom>
        </p:spPr>
        <p:txBody>
          <a:bodyPr wrap="none">
            <a:spAutoFit/>
          </a:bodyPr>
          <a:lstStyle/>
          <a:p>
            <a:pPr algn="r"/>
            <a:r>
              <a:rPr kumimoji="0" lang="en-US" sz="1200" b="1" i="0" u="none" strike="noStrike" kern="1200" cap="none" spc="0" normalizeH="0" baseline="0" noProof="0" dirty="0">
                <a:ln>
                  <a:noFill/>
                </a:ln>
                <a:solidFill>
                  <a:schemeClr val="bg1">
                    <a:lumMod val="75000"/>
                  </a:schemeClr>
                </a:solidFill>
                <a:effectLst/>
                <a:uLnTx/>
                <a:uFillTx/>
                <a:latin typeface="Segoe UI Light" panose="020B0502040204020203" pitchFamily="34" charset="0"/>
                <a:ea typeface="+mn-ea"/>
                <a:cs typeface="Calibri" pitchFamily="34" charset="0"/>
              </a:rPr>
              <a:t>Operating Systems</a:t>
            </a:r>
          </a:p>
        </p:txBody>
      </p:sp>
    </p:spTree>
    <p:extLst>
      <p:ext uri="{BB962C8B-B14F-4D97-AF65-F5344CB8AC3E}">
        <p14:creationId xmlns:p14="http://schemas.microsoft.com/office/powerpoint/2010/main" val="24346258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47625"/>
            <a:ext cx="10515600" cy="1325563"/>
          </a:xfrm>
        </p:spPr>
        <p:txBody>
          <a:bodyPr>
            <a:normAutofit/>
          </a:bodyPr>
          <a:lstStyle>
            <a:lvl1pPr>
              <a:defRPr sz="3600" b="1">
                <a:latin typeface="Segoe UI Light" panose="020B0502040204020203" pitchFamily="34" charset="0"/>
                <a:cs typeface="Segoe UI Light" panose="020B0502040204020203" pitchFamily="34" charset="0"/>
              </a:defRPr>
            </a:lvl1pPr>
          </a:lstStyle>
          <a:p>
            <a:r>
              <a:rPr lang="en-US" dirty="0"/>
              <a:t>Click to edit Master title style</a:t>
            </a:r>
          </a:p>
        </p:txBody>
      </p:sp>
      <p:sp>
        <p:nvSpPr>
          <p:cNvPr id="3" name="Content Placeholder 2"/>
          <p:cNvSpPr>
            <a:spLocks noGrp="1"/>
          </p:cNvSpPr>
          <p:nvPr>
            <p:ph idx="1"/>
          </p:nvPr>
        </p:nvSpPr>
        <p:spPr>
          <a:xfrm>
            <a:off x="838200" y="1419224"/>
            <a:ext cx="10515600" cy="4937126"/>
          </a:xfrm>
        </p:spPr>
        <p:txBody>
          <a:bodyPr/>
          <a:lstStyle>
            <a:lvl1pPr>
              <a:buClr>
                <a:srgbClr val="C00000"/>
              </a:buClr>
              <a:defRPr/>
            </a:lvl1pPr>
            <a:lvl2pPr marL="685800" indent="-228600">
              <a:buClr>
                <a:srgbClr val="002060"/>
              </a:buClr>
              <a:buSzPct val="80000"/>
              <a:buFont typeface="Courier New" panose="02070309020205020404" pitchFamily="49" charset="0"/>
              <a:buChar char="o"/>
              <a:defRPr/>
            </a:lvl2pPr>
            <a:lvl3pPr marL="1143000" indent="-228600">
              <a:buClr>
                <a:srgbClr val="C00000"/>
              </a:buClr>
              <a:buFont typeface="Wingdings" panose="05000000000000000000" pitchFamily="2" charset="2"/>
              <a:buChar char="§"/>
              <a:defRPr/>
            </a:lvl3pPr>
            <a:lvl4pPr>
              <a:buClr>
                <a:srgbClr val="002060"/>
              </a:buClr>
              <a:defRPr/>
            </a:lvl4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867101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1_Title and Content">
    <p:bg>
      <p:bgPr>
        <a:solidFill>
          <a:srgbClr val="76000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47625"/>
            <a:ext cx="10515600" cy="1325563"/>
          </a:xfrm>
        </p:spPr>
        <p:txBody>
          <a:bodyPr>
            <a:normAutofit/>
          </a:bodyPr>
          <a:lstStyle>
            <a:lvl1pPr>
              <a:defRPr sz="3600" b="1">
                <a:solidFill>
                  <a:schemeClr val="accent1">
                    <a:lumMod val="20000"/>
                    <a:lumOff val="80000"/>
                  </a:schemeClr>
                </a:solidFill>
                <a:latin typeface="Segoe UI Light" panose="020B0502040204020203" pitchFamily="34" charset="0"/>
                <a:cs typeface="Segoe UI Light" panose="020B0502040204020203" pitchFamily="34" charset="0"/>
              </a:defRPr>
            </a:lvl1pPr>
          </a:lstStyle>
          <a:p>
            <a:r>
              <a:rPr lang="en-US" dirty="0"/>
              <a:t>Click to edit Master title style</a:t>
            </a:r>
          </a:p>
        </p:txBody>
      </p:sp>
      <p:sp>
        <p:nvSpPr>
          <p:cNvPr id="3" name="Content Placeholder 2"/>
          <p:cNvSpPr>
            <a:spLocks noGrp="1"/>
          </p:cNvSpPr>
          <p:nvPr>
            <p:ph idx="1"/>
          </p:nvPr>
        </p:nvSpPr>
        <p:spPr>
          <a:xfrm>
            <a:off x="838200" y="1419224"/>
            <a:ext cx="10515600" cy="4937126"/>
          </a:xfrm>
        </p:spPr>
        <p:txBody>
          <a:bodyPr/>
          <a:lstStyle>
            <a:lvl1pPr>
              <a:buClr>
                <a:schemeClr val="accent2"/>
              </a:buClr>
              <a:defRPr>
                <a:solidFill>
                  <a:schemeClr val="bg1"/>
                </a:solidFill>
              </a:defRPr>
            </a:lvl1pPr>
            <a:lvl2pPr marL="685800" indent="-228600">
              <a:buClr>
                <a:schemeClr val="accent6">
                  <a:lumMod val="60000"/>
                  <a:lumOff val="40000"/>
                </a:schemeClr>
              </a:buClr>
              <a:buSzPct val="80000"/>
              <a:buFont typeface="Courier New" panose="02070309020205020404" pitchFamily="49" charset="0"/>
              <a:buChar char="o"/>
              <a:defRPr>
                <a:solidFill>
                  <a:schemeClr val="bg1"/>
                </a:solidFill>
              </a:defRPr>
            </a:lvl2pPr>
            <a:lvl3pPr marL="1143000" indent="-228600">
              <a:buClr>
                <a:schemeClr val="tx1">
                  <a:lumMod val="65000"/>
                  <a:lumOff val="35000"/>
                </a:schemeClr>
              </a:buClr>
              <a:buFont typeface="Wingdings" panose="05000000000000000000" pitchFamily="2" charset="2"/>
              <a:buChar char="§"/>
              <a:defRPr>
                <a:solidFill>
                  <a:schemeClr val="bg1"/>
                </a:solidFill>
              </a:defRPr>
            </a:lvl3pPr>
            <a:lvl4pPr>
              <a:buClr>
                <a:schemeClr val="accent2"/>
              </a:buCl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9083256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Section Header">
    <p:bg>
      <p:bgRef idx="1001">
        <a:schemeClr val="bg1"/>
      </p:bgRef>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B4A024D1-2235-4261-84CC-7F2CA51183F2}"/>
              </a:ext>
            </a:extLst>
          </p:cNvPr>
          <p:cNvSpPr>
            <a:spLocks noGrp="1"/>
          </p:cNvSpPr>
          <p:nvPr>
            <p:ph type="title"/>
          </p:nvPr>
        </p:nvSpPr>
        <p:spPr>
          <a:xfrm>
            <a:off x="831850" y="1709738"/>
            <a:ext cx="10515600" cy="2852737"/>
          </a:xfrm>
        </p:spPr>
        <p:txBody>
          <a:bodyPr anchor="ctr">
            <a:normAutofit/>
          </a:bodyPr>
          <a:lstStyle>
            <a:lvl1pPr algn="ctr">
              <a:defRPr sz="4800" b="1">
                <a:solidFill>
                  <a:srgbClr val="C00000"/>
                </a:solidFill>
                <a:latin typeface="Segoe UI Light" panose="020B0502040204020203" pitchFamily="34" charset="0"/>
                <a:cs typeface="Segoe UI Light" panose="020B0502040204020203" pitchFamily="34" charset="0"/>
              </a:defRPr>
            </a:lvl1pPr>
          </a:lstStyle>
          <a:p>
            <a:r>
              <a:rPr lang="en-US" dirty="0"/>
              <a:t>Click to edit Master title style</a:t>
            </a:r>
          </a:p>
        </p:txBody>
      </p:sp>
      <p:sp>
        <p:nvSpPr>
          <p:cNvPr id="8" name="Text Placeholder 2">
            <a:extLst>
              <a:ext uri="{FF2B5EF4-FFF2-40B4-BE49-F238E27FC236}">
                <a16:creationId xmlns:a16="http://schemas.microsoft.com/office/drawing/2014/main" id="{59F90A18-E68B-4A7C-B7A8-92A1B095EB5B}"/>
              </a:ext>
            </a:extLst>
          </p:cNvPr>
          <p:cNvSpPr>
            <a:spLocks noGrp="1"/>
          </p:cNvSpPr>
          <p:nvPr>
            <p:ph type="body" idx="1"/>
          </p:nvPr>
        </p:nvSpPr>
        <p:spPr>
          <a:xfrm>
            <a:off x="831850" y="4589463"/>
            <a:ext cx="10515600" cy="1500187"/>
          </a:xfrm>
        </p:spPr>
        <p:txBody>
          <a:bodyPr/>
          <a:lstStyle>
            <a:lvl1pPr marL="0" indent="0" algn="ctr">
              <a:buNone/>
              <a:defRPr sz="2400">
                <a:solidFill>
                  <a:schemeClr val="tx1"/>
                </a:solidFill>
                <a:latin typeface="Segoe UI" panose="020B0502040204020203" pitchFamily="34" charset="0"/>
                <a:cs typeface="Segoe UI" panose="020B050204020402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Tree>
    <p:extLst>
      <p:ext uri="{BB962C8B-B14F-4D97-AF65-F5344CB8AC3E}">
        <p14:creationId xmlns:p14="http://schemas.microsoft.com/office/powerpoint/2010/main" val="4024155242"/>
      </p:ext>
    </p:extLst>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39788" y="1393777"/>
            <a:ext cx="5120640" cy="823912"/>
          </a:xfrm>
        </p:spPr>
        <p:txBody>
          <a:bodyPr anchor="ct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839788" y="2238278"/>
            <a:ext cx="5120640" cy="395138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0" y="1393779"/>
            <a:ext cx="5120640" cy="823912"/>
          </a:xfrm>
        </p:spPr>
        <p:txBody>
          <a:bodyPr anchor="ct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0" y="2217689"/>
            <a:ext cx="5120640" cy="397197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Rectangle 9">
            <a:extLst>
              <a:ext uri="{FF2B5EF4-FFF2-40B4-BE49-F238E27FC236}">
                <a16:creationId xmlns:a16="http://schemas.microsoft.com/office/drawing/2014/main" id="{F27CB8E7-6D87-40F4-9983-4594A9AEC18B}"/>
              </a:ext>
            </a:extLst>
          </p:cNvPr>
          <p:cNvSpPr/>
          <p:nvPr userDrawn="1"/>
        </p:nvSpPr>
        <p:spPr>
          <a:xfrm>
            <a:off x="10246609" y="47625"/>
            <a:ext cx="1712072" cy="276999"/>
          </a:xfrm>
          <a:prstGeom prst="rect">
            <a:avLst/>
          </a:prstGeom>
        </p:spPr>
        <p:txBody>
          <a:bodyPr wrap="none">
            <a:spAutoFit/>
          </a:bodyPr>
          <a:lstStyle/>
          <a:p>
            <a:pPr algn="r"/>
            <a:r>
              <a:rPr kumimoji="0" lang="en-US" sz="1200" b="1" i="0" u="none" strike="noStrike" kern="1200" cap="none" spc="0" normalizeH="0" baseline="0" noProof="0" dirty="0">
                <a:ln>
                  <a:noFill/>
                </a:ln>
                <a:solidFill>
                  <a:schemeClr val="tx1">
                    <a:lumMod val="50000"/>
                    <a:lumOff val="50000"/>
                  </a:schemeClr>
                </a:solidFill>
                <a:effectLst/>
                <a:uLnTx/>
                <a:uFillTx/>
                <a:latin typeface="Segoe UI Light" panose="020B0502040204020203" pitchFamily="34" charset="0"/>
                <a:ea typeface="+mn-ea"/>
                <a:cs typeface="Calibri" pitchFamily="34" charset="0"/>
              </a:rPr>
              <a:t>IT Service Management</a:t>
            </a:r>
          </a:p>
        </p:txBody>
      </p:sp>
      <p:sp>
        <p:nvSpPr>
          <p:cNvPr id="8" name="Title 1">
            <a:extLst>
              <a:ext uri="{FF2B5EF4-FFF2-40B4-BE49-F238E27FC236}">
                <a16:creationId xmlns:a16="http://schemas.microsoft.com/office/drawing/2014/main" id="{FF9113F6-0730-4011-8815-3FF175368752}"/>
              </a:ext>
            </a:extLst>
          </p:cNvPr>
          <p:cNvSpPr>
            <a:spLocks noGrp="1"/>
          </p:cNvSpPr>
          <p:nvPr>
            <p:ph type="title"/>
          </p:nvPr>
        </p:nvSpPr>
        <p:spPr>
          <a:xfrm>
            <a:off x="838200" y="47625"/>
            <a:ext cx="10515600" cy="1325563"/>
          </a:xfrm>
        </p:spPr>
        <p:txBody>
          <a:bodyPr/>
          <a:lstStyle/>
          <a:p>
            <a:r>
              <a:rPr lang="en-US" dirty="0"/>
              <a:t>Click to edit Master title style</a:t>
            </a:r>
          </a:p>
        </p:txBody>
      </p:sp>
    </p:spTree>
    <p:extLst>
      <p:ext uri="{BB962C8B-B14F-4D97-AF65-F5344CB8AC3E}">
        <p14:creationId xmlns:p14="http://schemas.microsoft.com/office/powerpoint/2010/main" val="19714813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066800" y="711200"/>
            <a:ext cx="10058400" cy="2890838"/>
          </a:xfrm>
        </p:spPr>
        <p:txBody>
          <a:bodyPr anchor="b"/>
          <a:lstStyle>
            <a:lvl1pPr algn="ctr">
              <a:defRPr sz="6000">
                <a:solidFill>
                  <a:srgbClr val="C00000"/>
                </a:solidFill>
                <a:latin typeface="Segoe UI Light" panose="020B0502040204020203" pitchFamily="34" charset="0"/>
              </a:defRPr>
            </a:lvl1pPr>
          </a:lstStyle>
          <a:p>
            <a:r>
              <a:rPr lang="en-US" dirty="0"/>
              <a:t>Click to edit Master title style</a:t>
            </a:r>
          </a:p>
        </p:txBody>
      </p:sp>
      <p:sp>
        <p:nvSpPr>
          <p:cNvPr id="3" name="Subtitle 2"/>
          <p:cNvSpPr>
            <a:spLocks noGrp="1"/>
          </p:cNvSpPr>
          <p:nvPr>
            <p:ph type="subTitle" idx="1"/>
          </p:nvPr>
        </p:nvSpPr>
        <p:spPr>
          <a:xfrm>
            <a:off x="1066800" y="4122738"/>
            <a:ext cx="10058400" cy="1655762"/>
          </a:xfrm>
        </p:spPr>
        <p:txBody>
          <a:bodyPr/>
          <a:lstStyle>
            <a:lvl1pPr marL="0" indent="0" algn="ctr">
              <a:buNone/>
              <a:defRPr sz="2400">
                <a:solidFill>
                  <a:schemeClr val="tx1"/>
                </a:solidFill>
                <a:latin typeface="Segoe UI Light" panose="020B050204020402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cxnSp>
        <p:nvCxnSpPr>
          <p:cNvPr id="8" name="Straight Connector 7"/>
          <p:cNvCxnSpPr/>
          <p:nvPr userDrawn="1"/>
        </p:nvCxnSpPr>
        <p:spPr>
          <a:xfrm>
            <a:off x="622300" y="3894138"/>
            <a:ext cx="10972800" cy="0"/>
          </a:xfrm>
          <a:prstGeom prst="line">
            <a:avLst/>
          </a:prstGeom>
          <a:ln>
            <a:solidFill>
              <a:srgbClr val="C00000"/>
            </a:solidFill>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2065597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47625"/>
            <a:ext cx="10515600" cy="1325563"/>
          </a:xfrm>
        </p:spPr>
        <p:txBody>
          <a:bodyPr>
            <a:normAutofit/>
          </a:bodyPr>
          <a:lstStyle>
            <a:lvl1pPr>
              <a:defRPr sz="3600" b="1">
                <a:latin typeface="Segoe UI Light" panose="020B0502040204020203" pitchFamily="34" charset="0"/>
                <a:cs typeface="Segoe UI Light" panose="020B0502040204020203" pitchFamily="34" charset="0"/>
              </a:defRPr>
            </a:lvl1pPr>
          </a:lstStyle>
          <a:p>
            <a:r>
              <a:rPr lang="en-US" dirty="0"/>
              <a:t>Click to edit Master title style</a:t>
            </a:r>
          </a:p>
        </p:txBody>
      </p:sp>
      <p:sp>
        <p:nvSpPr>
          <p:cNvPr id="3" name="Content Placeholder 2"/>
          <p:cNvSpPr>
            <a:spLocks noGrp="1"/>
          </p:cNvSpPr>
          <p:nvPr>
            <p:ph idx="1"/>
          </p:nvPr>
        </p:nvSpPr>
        <p:spPr>
          <a:xfrm>
            <a:off x="838200" y="1419224"/>
            <a:ext cx="10515600" cy="4937126"/>
          </a:xfrm>
        </p:spPr>
        <p:txBody>
          <a:bodyPr/>
          <a:lstStyle>
            <a:lvl1pPr>
              <a:buClr>
                <a:srgbClr val="C00000"/>
              </a:buClr>
              <a:defRPr/>
            </a:lvl1pPr>
            <a:lvl2pPr marL="685800" indent="-228600">
              <a:buClr>
                <a:srgbClr val="002060"/>
              </a:buClr>
              <a:buSzPct val="80000"/>
              <a:buFont typeface="Courier New" panose="02070309020205020404" pitchFamily="49" charset="0"/>
              <a:buChar char="o"/>
              <a:defRPr/>
            </a:lvl2pPr>
            <a:lvl3pPr marL="1143000" indent="-228600">
              <a:buClr>
                <a:srgbClr val="C00000"/>
              </a:buClr>
              <a:buFont typeface="Wingdings" panose="05000000000000000000" pitchFamily="2" charset="2"/>
              <a:buChar char="§"/>
              <a:defRPr/>
            </a:lvl3pPr>
            <a:lvl4pPr>
              <a:buClr>
                <a:srgbClr val="002060"/>
              </a:buClr>
              <a:defRPr/>
            </a:lvl4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3868944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ection Header">
    <p:bg>
      <p:bgRef idx="1001">
        <a:schemeClr val="bg1"/>
      </p:bgRef>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B4A024D1-2235-4261-84CC-7F2CA51183F2}"/>
              </a:ext>
            </a:extLst>
          </p:cNvPr>
          <p:cNvSpPr>
            <a:spLocks noGrp="1"/>
          </p:cNvSpPr>
          <p:nvPr>
            <p:ph type="title"/>
          </p:nvPr>
        </p:nvSpPr>
        <p:spPr>
          <a:xfrm>
            <a:off x="831850" y="1709738"/>
            <a:ext cx="10515600" cy="2852737"/>
          </a:xfrm>
        </p:spPr>
        <p:txBody>
          <a:bodyPr anchor="ctr">
            <a:normAutofit/>
          </a:bodyPr>
          <a:lstStyle>
            <a:lvl1pPr algn="ctr">
              <a:defRPr sz="4800" b="1">
                <a:solidFill>
                  <a:srgbClr val="C00000"/>
                </a:solidFill>
                <a:latin typeface="Segoe UI Light" panose="020B0502040204020203" pitchFamily="34" charset="0"/>
                <a:cs typeface="Segoe UI Light" panose="020B0502040204020203" pitchFamily="34" charset="0"/>
              </a:defRPr>
            </a:lvl1pPr>
          </a:lstStyle>
          <a:p>
            <a:r>
              <a:rPr lang="en-US" dirty="0"/>
              <a:t>Click to edit Master title style</a:t>
            </a:r>
          </a:p>
        </p:txBody>
      </p:sp>
      <p:sp>
        <p:nvSpPr>
          <p:cNvPr id="8" name="Text Placeholder 2">
            <a:extLst>
              <a:ext uri="{FF2B5EF4-FFF2-40B4-BE49-F238E27FC236}">
                <a16:creationId xmlns:a16="http://schemas.microsoft.com/office/drawing/2014/main" id="{59F90A18-E68B-4A7C-B7A8-92A1B095EB5B}"/>
              </a:ext>
            </a:extLst>
          </p:cNvPr>
          <p:cNvSpPr>
            <a:spLocks noGrp="1"/>
          </p:cNvSpPr>
          <p:nvPr>
            <p:ph type="body" idx="1"/>
          </p:nvPr>
        </p:nvSpPr>
        <p:spPr>
          <a:xfrm>
            <a:off x="831850" y="4589463"/>
            <a:ext cx="10515600" cy="1500187"/>
          </a:xfrm>
        </p:spPr>
        <p:txBody>
          <a:bodyPr/>
          <a:lstStyle>
            <a:lvl1pPr marL="0" indent="0" algn="ctr">
              <a:buNone/>
              <a:defRPr sz="2400">
                <a:solidFill>
                  <a:schemeClr val="tx1"/>
                </a:solidFill>
                <a:latin typeface="Segoe UI" panose="020B0502040204020203" pitchFamily="34" charset="0"/>
                <a:cs typeface="Segoe UI" panose="020B050204020402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Tree>
    <p:extLst>
      <p:ext uri="{BB962C8B-B14F-4D97-AF65-F5344CB8AC3E}">
        <p14:creationId xmlns:p14="http://schemas.microsoft.com/office/powerpoint/2010/main" val="171502848"/>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838200" y="1373188"/>
            <a:ext cx="5120640" cy="480377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200" y="1373188"/>
            <a:ext cx="5120640" cy="480377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Rectangle 7">
            <a:extLst>
              <a:ext uri="{FF2B5EF4-FFF2-40B4-BE49-F238E27FC236}">
                <a16:creationId xmlns:a16="http://schemas.microsoft.com/office/drawing/2014/main" id="{B93866FE-4B4F-48A8-8721-20B757069001}"/>
              </a:ext>
            </a:extLst>
          </p:cNvPr>
          <p:cNvSpPr/>
          <p:nvPr userDrawn="1"/>
        </p:nvSpPr>
        <p:spPr>
          <a:xfrm>
            <a:off x="10246609" y="47625"/>
            <a:ext cx="1712072" cy="276999"/>
          </a:xfrm>
          <a:prstGeom prst="rect">
            <a:avLst/>
          </a:prstGeom>
        </p:spPr>
        <p:txBody>
          <a:bodyPr wrap="none">
            <a:spAutoFit/>
          </a:bodyPr>
          <a:lstStyle/>
          <a:p>
            <a:pPr algn="r"/>
            <a:r>
              <a:rPr kumimoji="0" lang="en-US" sz="1200" b="1" i="0" u="none" strike="noStrike" kern="1200" cap="none" spc="0" normalizeH="0" baseline="0" noProof="0" dirty="0">
                <a:ln>
                  <a:noFill/>
                </a:ln>
                <a:solidFill>
                  <a:schemeClr val="tx1">
                    <a:lumMod val="50000"/>
                    <a:lumOff val="50000"/>
                  </a:schemeClr>
                </a:solidFill>
                <a:effectLst/>
                <a:uLnTx/>
                <a:uFillTx/>
                <a:latin typeface="Segoe UI Light" panose="020B0502040204020203" pitchFamily="34" charset="0"/>
                <a:ea typeface="+mn-ea"/>
                <a:cs typeface="Calibri" pitchFamily="34" charset="0"/>
              </a:rPr>
              <a:t>IT Service Management</a:t>
            </a:r>
          </a:p>
        </p:txBody>
      </p:sp>
    </p:spTree>
    <p:extLst>
      <p:ext uri="{BB962C8B-B14F-4D97-AF65-F5344CB8AC3E}">
        <p14:creationId xmlns:p14="http://schemas.microsoft.com/office/powerpoint/2010/main" val="357668102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39788" y="1393777"/>
            <a:ext cx="5120640" cy="823912"/>
          </a:xfrm>
        </p:spPr>
        <p:txBody>
          <a:bodyPr anchor="ct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839788" y="2238278"/>
            <a:ext cx="5120640" cy="395138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0" y="1393779"/>
            <a:ext cx="5120640" cy="823912"/>
          </a:xfrm>
        </p:spPr>
        <p:txBody>
          <a:bodyPr anchor="ct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0" y="2217689"/>
            <a:ext cx="5120640" cy="397197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Rectangle 9">
            <a:extLst>
              <a:ext uri="{FF2B5EF4-FFF2-40B4-BE49-F238E27FC236}">
                <a16:creationId xmlns:a16="http://schemas.microsoft.com/office/drawing/2014/main" id="{F27CB8E7-6D87-40F4-9983-4594A9AEC18B}"/>
              </a:ext>
            </a:extLst>
          </p:cNvPr>
          <p:cNvSpPr/>
          <p:nvPr userDrawn="1"/>
        </p:nvSpPr>
        <p:spPr>
          <a:xfrm>
            <a:off x="10246609" y="47625"/>
            <a:ext cx="1712072" cy="276999"/>
          </a:xfrm>
          <a:prstGeom prst="rect">
            <a:avLst/>
          </a:prstGeom>
        </p:spPr>
        <p:txBody>
          <a:bodyPr wrap="none">
            <a:spAutoFit/>
          </a:bodyPr>
          <a:lstStyle/>
          <a:p>
            <a:pPr algn="r"/>
            <a:r>
              <a:rPr kumimoji="0" lang="en-US" sz="1200" b="1" i="0" u="none" strike="noStrike" kern="1200" cap="none" spc="0" normalizeH="0" baseline="0" noProof="0" dirty="0">
                <a:ln>
                  <a:noFill/>
                </a:ln>
                <a:solidFill>
                  <a:schemeClr val="tx1">
                    <a:lumMod val="50000"/>
                    <a:lumOff val="50000"/>
                  </a:schemeClr>
                </a:solidFill>
                <a:effectLst/>
                <a:uLnTx/>
                <a:uFillTx/>
                <a:latin typeface="Segoe UI Light" panose="020B0502040204020203" pitchFamily="34" charset="0"/>
                <a:ea typeface="+mn-ea"/>
                <a:cs typeface="Calibri" pitchFamily="34" charset="0"/>
              </a:rPr>
              <a:t>IT Service Management</a:t>
            </a:r>
          </a:p>
        </p:txBody>
      </p:sp>
      <p:sp>
        <p:nvSpPr>
          <p:cNvPr id="8" name="Title 1">
            <a:extLst>
              <a:ext uri="{FF2B5EF4-FFF2-40B4-BE49-F238E27FC236}">
                <a16:creationId xmlns:a16="http://schemas.microsoft.com/office/drawing/2014/main" id="{FF9113F6-0730-4011-8815-3FF175368752}"/>
              </a:ext>
            </a:extLst>
          </p:cNvPr>
          <p:cNvSpPr>
            <a:spLocks noGrp="1"/>
          </p:cNvSpPr>
          <p:nvPr>
            <p:ph type="title"/>
          </p:nvPr>
        </p:nvSpPr>
        <p:spPr>
          <a:xfrm>
            <a:off x="838200" y="47625"/>
            <a:ext cx="10515600" cy="1325563"/>
          </a:xfrm>
        </p:spPr>
        <p:txBody>
          <a:bodyPr/>
          <a:lstStyle/>
          <a:p>
            <a:r>
              <a:rPr lang="en-US" dirty="0"/>
              <a:t>Click to edit Master title style</a:t>
            </a:r>
          </a:p>
        </p:txBody>
      </p:sp>
    </p:spTree>
    <p:extLst>
      <p:ext uri="{BB962C8B-B14F-4D97-AF65-F5344CB8AC3E}">
        <p14:creationId xmlns:p14="http://schemas.microsoft.com/office/powerpoint/2010/main" val="28905497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34CF745-6EDB-4208-9010-31248509EE22}" type="datetime1">
              <a:rPr lang="en-US" smtClean="0"/>
              <a:t>10/29/2025</a:t>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E80E1EC0-76B8-468E-A1CA-1F6FD2EA3D0C}" type="slidenum">
              <a:rPr lang="en-US" smtClean="0"/>
              <a:t>‹#›</a:t>
            </a:fld>
            <a:endParaRPr lang="en-US"/>
          </a:p>
        </p:txBody>
      </p:sp>
    </p:spTree>
    <p:extLst>
      <p:ext uri="{BB962C8B-B14F-4D97-AF65-F5344CB8AC3E}">
        <p14:creationId xmlns:p14="http://schemas.microsoft.com/office/powerpoint/2010/main" val="9876904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2EF86697-F896-4D6D-B84C-552DCABE6614}" type="datetime1">
              <a:rPr lang="en-US" smtClean="0"/>
              <a:t>10/29/2025</a:t>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E80E1EC0-76B8-468E-A1CA-1F6FD2EA3D0C}" type="slidenum">
              <a:rPr lang="en-US" smtClean="0"/>
              <a:t>‹#›</a:t>
            </a:fld>
            <a:endParaRPr lang="en-US"/>
          </a:p>
        </p:txBody>
      </p:sp>
    </p:spTree>
    <p:extLst>
      <p:ext uri="{BB962C8B-B14F-4D97-AF65-F5344CB8AC3E}">
        <p14:creationId xmlns:p14="http://schemas.microsoft.com/office/powerpoint/2010/main" val="315201456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normAutofit/>
          </a:bodyPr>
          <a:lstStyle>
            <a:lvl1pPr>
              <a:defRPr sz="3600"/>
            </a:lvl1pPr>
          </a:lstStyle>
          <a:p>
            <a:r>
              <a:rPr lang="en-US" dirty="0"/>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AAC2689-2A9F-49ED-8241-1986025505EB}" type="datetime1">
              <a:rPr lang="en-US" smtClean="0"/>
              <a:t>10/29/2025</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E80E1EC0-76B8-468E-A1CA-1F6FD2EA3D0C}" type="slidenum">
              <a:rPr lang="en-US" smtClean="0"/>
              <a:t>‹#›</a:t>
            </a:fld>
            <a:endParaRPr lang="en-US"/>
          </a:p>
        </p:txBody>
      </p:sp>
    </p:spTree>
    <p:extLst>
      <p:ext uri="{BB962C8B-B14F-4D97-AF65-F5344CB8AC3E}">
        <p14:creationId xmlns:p14="http://schemas.microsoft.com/office/powerpoint/2010/main" val="381780733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normAutofit/>
          </a:bodyPr>
          <a:lstStyle>
            <a:lvl1pPr>
              <a:defRPr sz="36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226161B3-54A1-413C-B8D2-465092B984D1}" type="datetime1">
              <a:rPr lang="en-US" smtClean="0"/>
              <a:t>10/29/2025</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E80E1EC0-76B8-468E-A1CA-1F6FD2EA3D0C}" type="slidenum">
              <a:rPr lang="en-US" smtClean="0"/>
              <a:t>‹#›</a:t>
            </a:fld>
            <a:endParaRPr lang="en-US"/>
          </a:p>
        </p:txBody>
      </p:sp>
    </p:spTree>
    <p:extLst>
      <p:ext uri="{BB962C8B-B14F-4D97-AF65-F5344CB8AC3E}">
        <p14:creationId xmlns:p14="http://schemas.microsoft.com/office/powerpoint/2010/main" val="66804731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9F3541D6-CFE7-41C6-807C-A510B50B5BA2}" type="datetime1">
              <a:rPr lang="en-US" smtClean="0"/>
              <a:t>10/29/2025</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E80E1EC0-76B8-468E-A1CA-1F6FD2EA3D0C}" type="slidenum">
              <a:rPr lang="en-US" smtClean="0"/>
              <a:t>‹#›</a:t>
            </a:fld>
            <a:endParaRPr lang="en-US"/>
          </a:p>
        </p:txBody>
      </p:sp>
    </p:spTree>
    <p:extLst>
      <p:ext uri="{BB962C8B-B14F-4D97-AF65-F5344CB8AC3E}">
        <p14:creationId xmlns:p14="http://schemas.microsoft.com/office/powerpoint/2010/main" val="51037802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B84DA443-4C90-4E74-B571-AFB4D58D5ED3}" type="datetime1">
              <a:rPr lang="en-US" smtClean="0"/>
              <a:t>10/29/2025</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E80E1EC0-76B8-468E-A1CA-1F6FD2EA3D0C}" type="slidenum">
              <a:rPr lang="en-US" smtClean="0"/>
              <a:t>‹#›</a:t>
            </a:fld>
            <a:endParaRPr lang="en-US"/>
          </a:p>
        </p:txBody>
      </p:sp>
    </p:spTree>
    <p:extLst>
      <p:ext uri="{BB962C8B-B14F-4D97-AF65-F5344CB8AC3E}">
        <p14:creationId xmlns:p14="http://schemas.microsoft.com/office/powerpoint/2010/main" val="20447608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5.xml"/><Relationship Id="rId3" Type="http://schemas.openxmlformats.org/officeDocument/2006/relationships/slideLayout" Target="../slideLayouts/slideLayout10.xml"/><Relationship Id="rId7" Type="http://schemas.openxmlformats.org/officeDocument/2006/relationships/slideLayout" Target="../slideLayouts/slideLayout14.xml"/><Relationship Id="rId12" Type="http://schemas.openxmlformats.org/officeDocument/2006/relationships/theme" Target="../theme/theme2.xml"/><Relationship Id="rId2" Type="http://schemas.openxmlformats.org/officeDocument/2006/relationships/slideLayout" Target="../slideLayouts/slideLayout9.xml"/><Relationship Id="rId1" Type="http://schemas.openxmlformats.org/officeDocument/2006/relationships/slideLayout" Target="../slideLayouts/slideLayout8.xml"/><Relationship Id="rId6" Type="http://schemas.openxmlformats.org/officeDocument/2006/relationships/slideLayout" Target="../slideLayouts/slideLayout13.xml"/><Relationship Id="rId11" Type="http://schemas.openxmlformats.org/officeDocument/2006/relationships/slideLayout" Target="../slideLayouts/slideLayout18.xml"/><Relationship Id="rId5" Type="http://schemas.openxmlformats.org/officeDocument/2006/relationships/slideLayout" Target="../slideLayouts/slideLayout12.xml"/><Relationship Id="rId10" Type="http://schemas.openxmlformats.org/officeDocument/2006/relationships/slideLayout" Target="../slideLayouts/slideLayout17.xml"/><Relationship Id="rId4" Type="http://schemas.openxmlformats.org/officeDocument/2006/relationships/slideLayout" Target="../slideLayouts/slideLayout11.xml"/><Relationship Id="rId9" Type="http://schemas.openxmlformats.org/officeDocument/2006/relationships/slideLayout" Target="../slideLayouts/slideLayout1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476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419224"/>
            <a:ext cx="10515600" cy="4924426"/>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18705241"/>
      </p:ext>
    </p:extLst>
  </p:cSld>
  <p:clrMap bg1="lt1" tx1="dk1" bg2="lt2" tx2="dk2" accent1="accent1" accent2="accent2" accent3="accent3" accent4="accent4" accent5="accent5" accent6="accent6" hlink="hlink" folHlink="folHlink"/>
  <p:sldLayoutIdLst>
    <p:sldLayoutId id="2147483673" r:id="rId1"/>
    <p:sldLayoutId id="2147483688" r:id="rId2"/>
    <p:sldLayoutId id="2147483651" r:id="rId3"/>
    <p:sldLayoutId id="2147483687" r:id="rId4"/>
    <p:sldLayoutId id="2147483689" r:id="rId5"/>
    <p:sldLayoutId id="2147483678" r:id="rId6"/>
    <p:sldLayoutId id="2147483680" r:id="rId7"/>
  </p:sldLayoutIdLst>
  <p:hf sldNum="0" hdr="0" ftr="0" dt="0"/>
  <p:txStyles>
    <p:titleStyle>
      <a:lvl1pPr algn="l" defTabSz="914400" rtl="0" eaLnBrk="1" latinLnBrk="0" hangingPunct="1">
        <a:lnSpc>
          <a:spcPct val="90000"/>
        </a:lnSpc>
        <a:spcBef>
          <a:spcPct val="0"/>
        </a:spcBef>
        <a:buNone/>
        <a:defRPr sz="4000" kern="1200">
          <a:solidFill>
            <a:srgbClr val="C00000"/>
          </a:solidFill>
          <a:latin typeface="+mj-lt"/>
          <a:ea typeface="+mj-ea"/>
          <a:cs typeface="+mj-cs"/>
        </a:defRPr>
      </a:lvl1pPr>
    </p:titleStyle>
    <p:bodyStyle>
      <a:lvl1pPr marL="228600" indent="-228600" algn="l" defTabSz="914400" rtl="0" eaLnBrk="1" latinLnBrk="0" hangingPunct="1">
        <a:lnSpc>
          <a:spcPct val="90000"/>
        </a:lnSpc>
        <a:spcBef>
          <a:spcPts val="1000"/>
        </a:spcBef>
        <a:buClr>
          <a:srgbClr val="C00000"/>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02060"/>
        </a:buClr>
        <a:buSzPct val="80000"/>
        <a:buFont typeface="Courier New" panose="02070309020205020404" pitchFamily="49" charset="0"/>
        <a:buChar char="o"/>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C00000"/>
        </a:buClr>
        <a:buFont typeface="Wingdings" panose="05000000000000000000" pitchFamily="2" charset="2"/>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002060"/>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476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419224"/>
            <a:ext cx="10515600" cy="4924426"/>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ctangle 4">
            <a:extLst>
              <a:ext uri="{FF2B5EF4-FFF2-40B4-BE49-F238E27FC236}">
                <a16:creationId xmlns:a16="http://schemas.microsoft.com/office/drawing/2014/main" id="{2AE32BD0-7330-4272-82E9-A9CAB20CD102}"/>
              </a:ext>
            </a:extLst>
          </p:cNvPr>
          <p:cNvSpPr/>
          <p:nvPr userDrawn="1"/>
        </p:nvSpPr>
        <p:spPr>
          <a:xfrm>
            <a:off x="10558938" y="47625"/>
            <a:ext cx="1399743" cy="276999"/>
          </a:xfrm>
          <a:prstGeom prst="rect">
            <a:avLst/>
          </a:prstGeom>
        </p:spPr>
        <p:txBody>
          <a:bodyPr wrap="none">
            <a:spAutoFit/>
          </a:bodyPr>
          <a:lstStyle/>
          <a:p>
            <a:pPr algn="r"/>
            <a:r>
              <a:rPr kumimoji="0" lang="en-US" sz="1200" b="1" i="0" u="none" strike="noStrike" kern="1200" cap="none" spc="0" normalizeH="0" baseline="0" noProof="0" dirty="0">
                <a:ln>
                  <a:noFill/>
                </a:ln>
                <a:solidFill>
                  <a:schemeClr val="tx1">
                    <a:lumMod val="50000"/>
                    <a:lumOff val="50000"/>
                  </a:schemeClr>
                </a:solidFill>
                <a:effectLst/>
                <a:uLnTx/>
                <a:uFillTx/>
                <a:latin typeface="Segoe UI Light" panose="020B0502040204020203" pitchFamily="34" charset="0"/>
                <a:ea typeface="+mn-ea"/>
                <a:cs typeface="Calibri" pitchFamily="34" charset="0"/>
              </a:rPr>
              <a:t>Operating Systems</a:t>
            </a:r>
          </a:p>
        </p:txBody>
      </p:sp>
      <p:sp>
        <p:nvSpPr>
          <p:cNvPr id="6" name="Rectangle 17">
            <a:extLst>
              <a:ext uri="{FF2B5EF4-FFF2-40B4-BE49-F238E27FC236}">
                <a16:creationId xmlns:a16="http://schemas.microsoft.com/office/drawing/2014/main" id="{83FDDCFB-A997-46E6-9FFD-8AC263D63C73}"/>
              </a:ext>
            </a:extLst>
          </p:cNvPr>
          <p:cNvSpPr txBox="1">
            <a:spLocks noChangeArrowheads="1"/>
          </p:cNvSpPr>
          <p:nvPr userDrawn="1"/>
        </p:nvSpPr>
        <p:spPr bwMode="auto">
          <a:xfrm>
            <a:off x="11586756" y="6399348"/>
            <a:ext cx="457200" cy="457200"/>
          </a:xfrm>
          <a:prstGeom prst="rect">
            <a:avLst/>
          </a:prstGeom>
          <a:solidFill>
            <a:srgbClr val="C00000"/>
          </a:solidFill>
          <a:ln w="9525">
            <a:noFill/>
            <a:miter lim="800000"/>
            <a:headEnd/>
            <a:tailEnd/>
          </a:ln>
          <a:effectLst/>
        </p:spPr>
        <p:txBody>
          <a:bodyPr vert="horz" wrap="square" lIns="91440" tIns="45720" rIns="91440" bIns="45720" numCol="1" anchor="ctr" anchorCtr="0" compatLnSpc="1">
            <a:prstTxWarp prst="textNoShape">
              <a:avLst/>
            </a:prstTxWarp>
          </a:bodyPr>
          <a:lstStyle>
            <a:lvl1pPr algn="r">
              <a:defRPr sz="1400" b="1" i="1" smtClean="0">
                <a:latin typeface="Verdana"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FE54C918-24AF-40BD-B9B5-B36F83F28A8C}" type="slidenum">
              <a:rPr kumimoji="0" lang="en-US" sz="1400" b="1" i="1" u="none" strike="noStrike" kern="1200" cap="none" spc="0" normalizeH="0" baseline="0" noProof="0" smtClean="0">
                <a:ln>
                  <a:noFill/>
                </a:ln>
                <a:solidFill>
                  <a:schemeClr val="bg1"/>
                </a:solidFill>
                <a:effectLst/>
                <a:uLnTx/>
                <a:uFillTx/>
                <a:latin typeface="Century Gothic" pitchFamily="34" charset="0"/>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1600" b="1" i="1" u="none" strike="noStrike" kern="1200" cap="none" spc="0" normalizeH="0" baseline="0" noProof="0" dirty="0">
              <a:ln>
                <a:noFill/>
              </a:ln>
              <a:solidFill>
                <a:schemeClr val="bg1"/>
              </a:solidFill>
              <a:effectLst/>
              <a:uLnTx/>
              <a:uFillTx/>
              <a:latin typeface="Century Gothic" pitchFamily="34" charset="0"/>
              <a:ea typeface="+mn-ea"/>
              <a:cs typeface="+mn-cs"/>
            </a:endParaRPr>
          </a:p>
        </p:txBody>
      </p:sp>
      <p:sp>
        <p:nvSpPr>
          <p:cNvPr id="7" name="Rectangle 18">
            <a:extLst>
              <a:ext uri="{FF2B5EF4-FFF2-40B4-BE49-F238E27FC236}">
                <a16:creationId xmlns:a16="http://schemas.microsoft.com/office/drawing/2014/main" id="{A08B1F5C-5B67-496D-B135-CA249522C6E1}"/>
              </a:ext>
            </a:extLst>
          </p:cNvPr>
          <p:cNvSpPr txBox="1">
            <a:spLocks noChangeArrowheads="1"/>
          </p:cNvSpPr>
          <p:nvPr userDrawn="1"/>
        </p:nvSpPr>
        <p:spPr bwMode="auto">
          <a:xfrm>
            <a:off x="342900" y="6451600"/>
            <a:ext cx="4025900" cy="3048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defRPr sz="1100" smtClean="0"/>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2060"/>
                </a:solidFill>
                <a:effectLst/>
                <a:uLnTx/>
                <a:uFillTx/>
                <a:latin typeface="Segoe UI Light" panose="020B0502040204020203" pitchFamily="34" charset="0"/>
                <a:ea typeface="+mn-ea"/>
                <a:cs typeface="Calibri" pitchFamily="34" charset="0"/>
              </a:rPr>
              <a:t>Process Scheduling</a:t>
            </a:r>
          </a:p>
        </p:txBody>
      </p:sp>
      <p:sp>
        <p:nvSpPr>
          <p:cNvPr id="8" name="Rectangle 18">
            <a:extLst>
              <a:ext uri="{FF2B5EF4-FFF2-40B4-BE49-F238E27FC236}">
                <a16:creationId xmlns:a16="http://schemas.microsoft.com/office/drawing/2014/main" id="{64C31F2D-428B-47CA-9119-8DB7D4F9343E}"/>
              </a:ext>
            </a:extLst>
          </p:cNvPr>
          <p:cNvSpPr txBox="1">
            <a:spLocks noChangeArrowheads="1"/>
          </p:cNvSpPr>
          <p:nvPr userDrawn="1"/>
        </p:nvSpPr>
        <p:spPr bwMode="auto">
          <a:xfrm>
            <a:off x="4083050" y="6451600"/>
            <a:ext cx="4025900" cy="3048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defRPr sz="1100" smtClean="0"/>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002060"/>
                </a:solidFill>
                <a:effectLst/>
                <a:uLnTx/>
                <a:uFillTx/>
                <a:latin typeface="Segoe UI Light" panose="020B0502040204020203" pitchFamily="34" charset="0"/>
                <a:ea typeface="+mn-ea"/>
                <a:cs typeface="Calibri" pitchFamily="34" charset="0"/>
              </a:rPr>
              <a:t>Sheheryar Malik, Ph.D.</a:t>
            </a:r>
          </a:p>
        </p:txBody>
      </p:sp>
      <p:sp>
        <p:nvSpPr>
          <p:cNvPr id="9" name="Rectangle 8">
            <a:extLst>
              <a:ext uri="{FF2B5EF4-FFF2-40B4-BE49-F238E27FC236}">
                <a16:creationId xmlns:a16="http://schemas.microsoft.com/office/drawing/2014/main" id="{98F099F0-5000-4B34-AE00-C6337EDD41FC}"/>
              </a:ext>
            </a:extLst>
          </p:cNvPr>
          <p:cNvSpPr/>
          <p:nvPr userDrawn="1"/>
        </p:nvSpPr>
        <p:spPr>
          <a:xfrm>
            <a:off x="342682" y="4459918"/>
            <a:ext cx="91440" cy="1828800"/>
          </a:xfrm>
          <a:prstGeom prst="rect">
            <a:avLst/>
          </a:prstGeom>
          <a:solidFill>
            <a:srgbClr val="9B2D1F">
              <a:alpha val="100000"/>
            </a:srgbClr>
          </a:solidFill>
          <a:ln w="50800" cap="rnd" cmpd="dbl"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orbel"/>
              <a:ea typeface="+mn-ea"/>
              <a:cs typeface="+mn-cs"/>
            </a:endParaRPr>
          </a:p>
        </p:txBody>
      </p:sp>
      <p:sp>
        <p:nvSpPr>
          <p:cNvPr id="10" name="Rectangle 9">
            <a:extLst>
              <a:ext uri="{FF2B5EF4-FFF2-40B4-BE49-F238E27FC236}">
                <a16:creationId xmlns:a16="http://schemas.microsoft.com/office/drawing/2014/main" id="{4C2BACF0-A96E-4FB3-B6C9-76FE7A86508C}"/>
              </a:ext>
            </a:extLst>
          </p:cNvPr>
          <p:cNvSpPr/>
          <p:nvPr userDrawn="1"/>
        </p:nvSpPr>
        <p:spPr>
          <a:xfrm>
            <a:off x="342900" y="3412144"/>
            <a:ext cx="91440" cy="1005840"/>
          </a:xfrm>
          <a:prstGeom prst="rect">
            <a:avLst/>
          </a:prstGeom>
          <a:solidFill>
            <a:srgbClr val="A28E6A">
              <a:alpha val="100000"/>
            </a:srgbClr>
          </a:solidFill>
          <a:ln w="50800" cap="rnd" cmpd="dbl"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orbel"/>
              <a:ea typeface="+mn-ea"/>
              <a:cs typeface="+mn-cs"/>
            </a:endParaRPr>
          </a:p>
        </p:txBody>
      </p:sp>
      <p:sp>
        <p:nvSpPr>
          <p:cNvPr id="11" name="Rectangle 10">
            <a:extLst>
              <a:ext uri="{FF2B5EF4-FFF2-40B4-BE49-F238E27FC236}">
                <a16:creationId xmlns:a16="http://schemas.microsoft.com/office/drawing/2014/main" id="{B05C4C5F-7E26-4B82-AA28-5D45B051DE80}"/>
              </a:ext>
            </a:extLst>
          </p:cNvPr>
          <p:cNvSpPr/>
          <p:nvPr userDrawn="1"/>
        </p:nvSpPr>
        <p:spPr>
          <a:xfrm>
            <a:off x="342900" y="2743193"/>
            <a:ext cx="91440" cy="640080"/>
          </a:xfrm>
          <a:prstGeom prst="rect">
            <a:avLst/>
          </a:prstGeom>
          <a:solidFill>
            <a:srgbClr val="696464"/>
          </a:solidFill>
          <a:ln w="50800" cap="rnd" cmpd="dbl"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orbel"/>
              <a:ea typeface="+mn-ea"/>
              <a:cs typeface="+mn-cs"/>
            </a:endParaRPr>
          </a:p>
        </p:txBody>
      </p:sp>
      <p:sp>
        <p:nvSpPr>
          <p:cNvPr id="12" name="Rectangle 11">
            <a:extLst>
              <a:ext uri="{FF2B5EF4-FFF2-40B4-BE49-F238E27FC236}">
                <a16:creationId xmlns:a16="http://schemas.microsoft.com/office/drawing/2014/main" id="{A8659286-E1E1-4CC2-B85D-A7D0405C2BC7}"/>
              </a:ext>
            </a:extLst>
          </p:cNvPr>
          <p:cNvSpPr/>
          <p:nvPr userDrawn="1"/>
        </p:nvSpPr>
        <p:spPr>
          <a:xfrm>
            <a:off x="342900" y="2191691"/>
            <a:ext cx="91440" cy="137160"/>
          </a:xfrm>
          <a:prstGeom prst="rect">
            <a:avLst/>
          </a:prstGeom>
          <a:solidFill>
            <a:srgbClr val="9B2D1F">
              <a:alpha val="100000"/>
            </a:srgbClr>
          </a:solidFill>
          <a:ln w="50800" cap="rnd" cmpd="dbl"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orbel"/>
              <a:ea typeface="+mn-ea"/>
              <a:cs typeface="+mn-cs"/>
            </a:endParaRPr>
          </a:p>
        </p:txBody>
      </p:sp>
      <p:sp>
        <p:nvSpPr>
          <p:cNvPr id="13" name="Rectangle 12">
            <a:extLst>
              <a:ext uri="{FF2B5EF4-FFF2-40B4-BE49-F238E27FC236}">
                <a16:creationId xmlns:a16="http://schemas.microsoft.com/office/drawing/2014/main" id="{40B4EA7D-FB77-4453-8980-E49CD0EF492E}"/>
              </a:ext>
            </a:extLst>
          </p:cNvPr>
          <p:cNvSpPr/>
          <p:nvPr userDrawn="1"/>
        </p:nvSpPr>
        <p:spPr>
          <a:xfrm>
            <a:off x="342900" y="2355934"/>
            <a:ext cx="91440" cy="365760"/>
          </a:xfrm>
          <a:prstGeom prst="rect">
            <a:avLst/>
          </a:prstGeom>
          <a:solidFill>
            <a:srgbClr val="002060"/>
          </a:solidFill>
          <a:ln w="50800" cap="rnd" cmpd="dbl"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orbel"/>
              <a:ea typeface="+mn-ea"/>
              <a:cs typeface="+mn-cs"/>
            </a:endParaRPr>
          </a:p>
        </p:txBody>
      </p:sp>
    </p:spTree>
    <p:extLst>
      <p:ext uri="{BB962C8B-B14F-4D97-AF65-F5344CB8AC3E}">
        <p14:creationId xmlns:p14="http://schemas.microsoft.com/office/powerpoint/2010/main" val="27803704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74"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3600" b="1" kern="1200">
          <a:solidFill>
            <a:srgbClr val="C00000"/>
          </a:solidFill>
          <a:latin typeface="Segoe UI Light" panose="020B0502040204020203" pitchFamily="34" charset="0"/>
          <a:ea typeface="+mj-ea"/>
          <a:cs typeface="Segoe UI Light" panose="020B0502040204020203" pitchFamily="34" charset="0"/>
        </a:defRPr>
      </a:lvl1pPr>
    </p:titleStyle>
    <p:bodyStyle>
      <a:lvl1pPr marL="228600" indent="-228600" algn="l" defTabSz="914400" rtl="0" eaLnBrk="1" latinLnBrk="0" hangingPunct="1">
        <a:lnSpc>
          <a:spcPct val="90000"/>
        </a:lnSpc>
        <a:spcBef>
          <a:spcPts val="1000"/>
        </a:spcBef>
        <a:buClr>
          <a:srgbClr val="C00000"/>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02060"/>
        </a:buClr>
        <a:buSzPct val="80000"/>
        <a:buFont typeface="Courier New" panose="02070309020205020404" pitchFamily="49" charset="0"/>
        <a:buChar char="o"/>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C00000"/>
        </a:buClr>
        <a:buFont typeface="Wingdings" panose="05000000000000000000" pitchFamily="2" charset="2"/>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002060"/>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9.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4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9.xml"/></Relationships>
</file>

<file path=ppt/slides/_rels/slide4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4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4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9.xml"/></Relationships>
</file>

<file path=ppt/slides/_rels/slide4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9.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51.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5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55.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57.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58.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59.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_rels/slide60.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7.xml"/><Relationship Id="rId1" Type="http://schemas.openxmlformats.org/officeDocument/2006/relationships/slideLayout" Target="../slideLayouts/slideLayout9.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9.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9.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9.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9.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9.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9.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9.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9.xml"/></Relationships>
</file>

<file path=ppt/slides/_rels/slide7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6.xml"/><Relationship Id="rId1" Type="http://schemas.openxmlformats.org/officeDocument/2006/relationships/slideLayout" Target="../slideLayouts/slideLayout9.xml"/></Relationships>
</file>

<file path=ppt/slides/_rels/slide7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9.xml"/></Relationships>
</file>

<file path=ppt/slides/_rels/slide73.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9.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7.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9.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80.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Layout" Target="../slideLayouts/slideLayout9.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9.xml"/><Relationship Id="rId1" Type="http://schemas.openxmlformats.org/officeDocument/2006/relationships/slideLayout" Target="../slideLayouts/slideLayout9.xml"/></Relationships>
</file>

<file path=ppt/slides/_rels/slide8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0.xml"/><Relationship Id="rId1" Type="http://schemas.openxmlformats.org/officeDocument/2006/relationships/slideLayout" Target="../slideLayouts/slideLayout9.xml"/><Relationship Id="rId5" Type="http://schemas.openxmlformats.org/officeDocument/2006/relationships/image" Target="../media/image28.png"/><Relationship Id="rId4" Type="http://schemas.openxmlformats.org/officeDocument/2006/relationships/image" Target="../media/image27.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8.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pPr>
              <a:lnSpc>
                <a:spcPct val="100000"/>
              </a:lnSpc>
            </a:pPr>
            <a:r>
              <a:rPr lang="en-US" dirty="0"/>
              <a:t>Process Scheduling</a:t>
            </a:r>
            <a:br>
              <a:rPr lang="en-US" dirty="0"/>
            </a:br>
            <a:r>
              <a:rPr lang="en-US" sz="3600" b="1" dirty="0">
                <a:solidFill>
                  <a:schemeClr val="tx1"/>
                </a:solidFill>
              </a:rPr>
              <a:t>Module 4</a:t>
            </a:r>
            <a:endParaRPr lang="en-US" sz="5400" b="1" dirty="0">
              <a:solidFill>
                <a:schemeClr val="tx1"/>
              </a:solidFill>
            </a:endParaRPr>
          </a:p>
        </p:txBody>
      </p:sp>
      <p:sp>
        <p:nvSpPr>
          <p:cNvPr id="3" name="Subtitle 2"/>
          <p:cNvSpPr>
            <a:spLocks noGrp="1"/>
          </p:cNvSpPr>
          <p:nvPr>
            <p:ph type="subTitle" idx="1"/>
          </p:nvPr>
        </p:nvSpPr>
        <p:spPr/>
        <p:txBody>
          <a:bodyPr/>
          <a:lstStyle/>
          <a:p>
            <a:r>
              <a:rPr lang="en-US" sz="2800" dirty="0"/>
              <a:t>Operating Systems</a:t>
            </a:r>
          </a:p>
          <a:p>
            <a:r>
              <a:rPr lang="en-US" b="1" dirty="0" smtClean="0">
                <a:solidFill>
                  <a:srgbClr val="002060"/>
                </a:solidFill>
              </a:rPr>
              <a:t> </a:t>
            </a:r>
            <a:endParaRPr lang="en-US" b="1" dirty="0">
              <a:solidFill>
                <a:srgbClr val="002060"/>
              </a:solidFill>
            </a:endParaRPr>
          </a:p>
        </p:txBody>
      </p:sp>
    </p:spTree>
    <p:extLst>
      <p:ext uri="{BB962C8B-B14F-4D97-AF65-F5344CB8AC3E}">
        <p14:creationId xmlns:p14="http://schemas.microsoft.com/office/powerpoint/2010/main" val="40023618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p:cNvSpPr>
            <a:spLocks noGrp="1" noChangeArrowheads="1"/>
          </p:cNvSpPr>
          <p:nvPr>
            <p:ph type="title"/>
          </p:nvPr>
        </p:nvSpPr>
        <p:spPr>
          <a:xfrm>
            <a:off x="838200" y="47625"/>
            <a:ext cx="10515600" cy="1325563"/>
          </a:xfrm>
        </p:spPr>
        <p:txBody>
          <a:bodyPr/>
          <a:lstStyle/>
          <a:p>
            <a:r>
              <a:rPr lang="en-US"/>
              <a:t>Chapter Outline</a:t>
            </a:r>
            <a:endParaRPr lang="en-US" dirty="0"/>
          </a:p>
        </p:txBody>
      </p:sp>
      <p:sp>
        <p:nvSpPr>
          <p:cNvPr id="5125" name="Rectangle 3"/>
          <p:cNvSpPr>
            <a:spLocks noGrp="1" noChangeArrowheads="1"/>
          </p:cNvSpPr>
          <p:nvPr>
            <p:ph idx="1"/>
          </p:nvPr>
        </p:nvSpPr>
        <p:spPr>
          <a:xfrm>
            <a:off x="838200" y="1419224"/>
            <a:ext cx="10515600" cy="4937126"/>
          </a:xfrm>
        </p:spPr>
        <p:txBody>
          <a:bodyPr>
            <a:normAutofit fontScale="92500" lnSpcReduction="20000"/>
          </a:bodyPr>
          <a:lstStyle/>
          <a:p>
            <a:r>
              <a:rPr lang="en-US" dirty="0"/>
              <a:t>Scheduler</a:t>
            </a:r>
          </a:p>
          <a:p>
            <a:pPr lvl="1"/>
            <a:r>
              <a:rPr lang="en-US" dirty="0"/>
              <a:t>Scheduling algorithm</a:t>
            </a:r>
          </a:p>
          <a:p>
            <a:pPr lvl="1"/>
            <a:r>
              <a:rPr lang="en-US" dirty="0"/>
              <a:t>Objectives of Scheduling</a:t>
            </a:r>
          </a:p>
          <a:p>
            <a:pPr lvl="1"/>
            <a:r>
              <a:rPr lang="en-US" dirty="0"/>
              <a:t>Criteria for scheduling</a:t>
            </a:r>
          </a:p>
          <a:p>
            <a:pPr lvl="1"/>
            <a:r>
              <a:rPr lang="en-US" dirty="0"/>
              <a:t>CPU-bound vs I/O-bound processes</a:t>
            </a:r>
          </a:p>
          <a:p>
            <a:r>
              <a:rPr lang="en-US" dirty="0"/>
              <a:t>Types of Scheduling</a:t>
            </a:r>
          </a:p>
          <a:p>
            <a:r>
              <a:rPr lang="en-US" dirty="0"/>
              <a:t>Process scheduling queues</a:t>
            </a:r>
          </a:p>
          <a:p>
            <a:pPr lvl="1"/>
            <a:r>
              <a:rPr lang="en-US" dirty="0"/>
              <a:t>FCFS</a:t>
            </a:r>
          </a:p>
          <a:p>
            <a:pPr lvl="1"/>
            <a:r>
              <a:rPr lang="en-US" dirty="0"/>
              <a:t>SJF</a:t>
            </a:r>
          </a:p>
          <a:p>
            <a:pPr lvl="1"/>
            <a:r>
              <a:rPr lang="en-US" dirty="0"/>
              <a:t>Priority</a:t>
            </a:r>
          </a:p>
          <a:p>
            <a:pPr lvl="1"/>
            <a:r>
              <a:rPr lang="en-US" dirty="0"/>
              <a:t>Round Robin</a:t>
            </a:r>
          </a:p>
          <a:p>
            <a:pPr lvl="1"/>
            <a:r>
              <a:rPr lang="en-US" dirty="0"/>
              <a:t>Multilevel feedback queues scheduling</a:t>
            </a:r>
          </a:p>
          <a:p>
            <a:r>
              <a:rPr lang="en-US" dirty="0"/>
              <a:t>BSD Unix scheduling</a:t>
            </a:r>
          </a:p>
          <a:p>
            <a:r>
              <a:rPr lang="en-US" dirty="0"/>
              <a:t>Multiple processor scheduling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441222-95E2-4929-97FF-0CD9FD0FB295}"/>
              </a:ext>
            </a:extLst>
          </p:cNvPr>
          <p:cNvSpPr>
            <a:spLocks noGrp="1"/>
          </p:cNvSpPr>
          <p:nvPr>
            <p:ph type="title"/>
          </p:nvPr>
        </p:nvSpPr>
        <p:spPr>
          <a:xfrm>
            <a:off x="838200" y="47625"/>
            <a:ext cx="10515600" cy="1325563"/>
          </a:xfrm>
        </p:spPr>
        <p:txBody>
          <a:bodyPr/>
          <a:lstStyle/>
          <a:p>
            <a:r>
              <a:rPr lang="en-US" dirty="0"/>
              <a:t>Scheduling</a:t>
            </a:r>
          </a:p>
        </p:txBody>
      </p:sp>
      <p:sp>
        <p:nvSpPr>
          <p:cNvPr id="3" name="Content Placeholder 2">
            <a:extLst>
              <a:ext uri="{FF2B5EF4-FFF2-40B4-BE49-F238E27FC236}">
                <a16:creationId xmlns:a16="http://schemas.microsoft.com/office/drawing/2014/main" id="{07203D91-69BB-4C2C-861C-99348EEFF6E8}"/>
              </a:ext>
            </a:extLst>
          </p:cNvPr>
          <p:cNvSpPr>
            <a:spLocks noGrp="1"/>
          </p:cNvSpPr>
          <p:nvPr>
            <p:ph idx="1"/>
          </p:nvPr>
        </p:nvSpPr>
        <p:spPr>
          <a:xfrm>
            <a:off x="838200" y="1419224"/>
            <a:ext cx="10515600" cy="4937126"/>
          </a:xfrm>
        </p:spPr>
        <p:txBody>
          <a:bodyPr>
            <a:normAutofit fontScale="92500" lnSpcReduction="10000"/>
          </a:bodyPr>
          <a:lstStyle/>
          <a:p>
            <a:r>
              <a:rPr lang="en-US" dirty="0"/>
              <a:t>Scheduler </a:t>
            </a:r>
          </a:p>
          <a:p>
            <a:pPr lvl="1"/>
            <a:r>
              <a:rPr lang="en-US" dirty="0"/>
              <a:t>The scheduler is part of the operating system, concerned with which process to run next if multiple run-able processes are in ready queue</a:t>
            </a:r>
          </a:p>
          <a:p>
            <a:pPr lvl="1"/>
            <a:r>
              <a:rPr lang="en-US" dirty="0"/>
              <a:t>Scheduler is concerned with deciding on policy, not providing a mechanism</a:t>
            </a:r>
          </a:p>
          <a:p>
            <a:pPr lvl="1"/>
            <a:r>
              <a:rPr lang="en-US" dirty="0"/>
              <a:t>It is important because it can have a big effect on resource utilization and overall performance of the system</a:t>
            </a:r>
          </a:p>
          <a:p>
            <a:r>
              <a:rPr lang="en-US" dirty="0"/>
              <a:t>Scheduling Algorithm</a:t>
            </a:r>
          </a:p>
          <a:p>
            <a:pPr lvl="1"/>
            <a:r>
              <a:rPr lang="en-US" dirty="0"/>
              <a:t>In a multiprogramming computer several processes will compete for use of the processor</a:t>
            </a:r>
          </a:p>
          <a:p>
            <a:pPr lvl="1"/>
            <a:r>
              <a:rPr lang="en-US" dirty="0"/>
              <a:t>At any time only one process will be running while other will wait for process to be free</a:t>
            </a:r>
          </a:p>
          <a:p>
            <a:pPr lvl="1"/>
            <a:r>
              <a:rPr lang="en-US" dirty="0"/>
              <a:t>Scheduling algorithm is logic that determines the order in which processes should run when multiple processes are there</a:t>
            </a:r>
          </a:p>
          <a:p>
            <a:pPr lvl="1"/>
            <a:r>
              <a:rPr lang="en-US" dirty="0"/>
              <a:t>The aim of process scheduling is to achieve objectives such as maximum CPU utilization and to improve its performance</a:t>
            </a:r>
          </a:p>
        </p:txBody>
      </p:sp>
    </p:spTree>
    <p:extLst>
      <p:ext uri="{BB962C8B-B14F-4D97-AF65-F5344CB8AC3E}">
        <p14:creationId xmlns:p14="http://schemas.microsoft.com/office/powerpoint/2010/main" val="7354998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9" name="Rectangle 1029"/>
          <p:cNvSpPr>
            <a:spLocks noGrp="1" noChangeArrowheads="1"/>
          </p:cNvSpPr>
          <p:nvPr>
            <p:ph type="title"/>
          </p:nvPr>
        </p:nvSpPr>
        <p:spPr/>
        <p:txBody>
          <a:bodyPr>
            <a:normAutofit/>
          </a:bodyPr>
          <a:lstStyle/>
          <a:p>
            <a:pPr eaLnBrk="1" hangingPunct="1">
              <a:defRPr/>
            </a:pPr>
            <a:r>
              <a:rPr lang="en-US" dirty="0"/>
              <a:t>Process Scheduling</a:t>
            </a:r>
          </a:p>
        </p:txBody>
      </p:sp>
      <p:pic>
        <p:nvPicPr>
          <p:cNvPr id="5" name="Picture 4" descr="3">
            <a:extLst>
              <a:ext uri="{FF2B5EF4-FFF2-40B4-BE49-F238E27FC236}">
                <a16:creationId xmlns:a16="http://schemas.microsoft.com/office/drawing/2014/main" id="{79B8B5DA-EBAE-4A8A-A3E4-E0A2E2D84B7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27148" y="1676401"/>
            <a:ext cx="7772400" cy="39890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35765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35ED4B-2870-49EC-8418-9A6AE2E19697}"/>
              </a:ext>
            </a:extLst>
          </p:cNvPr>
          <p:cNvSpPr>
            <a:spLocks noGrp="1"/>
          </p:cNvSpPr>
          <p:nvPr>
            <p:ph type="title"/>
          </p:nvPr>
        </p:nvSpPr>
        <p:spPr>
          <a:xfrm>
            <a:off x="838200" y="47625"/>
            <a:ext cx="10515600" cy="1325563"/>
          </a:xfrm>
        </p:spPr>
        <p:txBody>
          <a:bodyPr/>
          <a:lstStyle/>
          <a:p>
            <a:r>
              <a:rPr lang="en-US" dirty="0"/>
              <a:t>Process Scheduling</a:t>
            </a:r>
          </a:p>
        </p:txBody>
      </p:sp>
      <p:sp>
        <p:nvSpPr>
          <p:cNvPr id="3" name="Content Placeholder 2">
            <a:extLst>
              <a:ext uri="{FF2B5EF4-FFF2-40B4-BE49-F238E27FC236}">
                <a16:creationId xmlns:a16="http://schemas.microsoft.com/office/drawing/2014/main" id="{D9793340-C20F-4A5A-ADCA-A48A3C5747EC}"/>
              </a:ext>
            </a:extLst>
          </p:cNvPr>
          <p:cNvSpPr>
            <a:spLocks noGrp="1"/>
          </p:cNvSpPr>
          <p:nvPr>
            <p:ph idx="1"/>
          </p:nvPr>
        </p:nvSpPr>
        <p:spPr>
          <a:xfrm>
            <a:off x="838200" y="1419225"/>
            <a:ext cx="7173036" cy="4937125"/>
          </a:xfrm>
        </p:spPr>
        <p:txBody>
          <a:bodyPr/>
          <a:lstStyle/>
          <a:p>
            <a:r>
              <a:rPr lang="en-US" dirty="0"/>
              <a:t>Maximum CPU utilization obtained with multiprogramming</a:t>
            </a:r>
          </a:p>
          <a:p>
            <a:r>
              <a:rPr lang="en-US" dirty="0"/>
              <a:t>CPU–I/O Burst Cycle – Process execution consists of a cycle of CPU execution and I/O wait</a:t>
            </a:r>
          </a:p>
          <a:p>
            <a:r>
              <a:rPr lang="en-US" dirty="0"/>
              <a:t>CPU burst followed by I/O burst</a:t>
            </a:r>
          </a:p>
          <a:p>
            <a:r>
              <a:rPr lang="en-US" dirty="0"/>
              <a:t>CPU burst distribution is of main concern</a:t>
            </a:r>
          </a:p>
        </p:txBody>
      </p:sp>
      <p:pic>
        <p:nvPicPr>
          <p:cNvPr id="4" name="Picture 1" descr="6_01.pdf">
            <a:extLst>
              <a:ext uri="{FF2B5EF4-FFF2-40B4-BE49-F238E27FC236}">
                <a16:creationId xmlns:a16="http://schemas.microsoft.com/office/drawing/2014/main" id="{DE2DA65D-7FD7-4EA1-A573-F8E308CA7AAF}"/>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276167" y="754761"/>
            <a:ext cx="3077633" cy="5754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769160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35ED4B-2870-49EC-8418-9A6AE2E19697}"/>
              </a:ext>
            </a:extLst>
          </p:cNvPr>
          <p:cNvSpPr>
            <a:spLocks noGrp="1"/>
          </p:cNvSpPr>
          <p:nvPr>
            <p:ph type="title"/>
          </p:nvPr>
        </p:nvSpPr>
        <p:spPr/>
        <p:txBody>
          <a:bodyPr/>
          <a:lstStyle/>
          <a:p>
            <a:r>
              <a:rPr lang="en-US" dirty="0"/>
              <a:t>Histogram of CPU-burst Times</a:t>
            </a:r>
          </a:p>
        </p:txBody>
      </p:sp>
      <p:pic>
        <p:nvPicPr>
          <p:cNvPr id="4" name="Picture 9">
            <a:extLst>
              <a:ext uri="{FF2B5EF4-FFF2-40B4-BE49-F238E27FC236}">
                <a16:creationId xmlns:a16="http://schemas.microsoft.com/office/drawing/2014/main" id="{DC85B782-82B4-44A4-BED7-D82F726725E3}"/>
              </a:ext>
            </a:extLst>
          </p:cNvPr>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bwMode="auto">
          <a:xfrm>
            <a:off x="2644730" y="1524000"/>
            <a:ext cx="7137236" cy="47467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44887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35ED4B-2870-49EC-8418-9A6AE2E19697}"/>
              </a:ext>
            </a:extLst>
          </p:cNvPr>
          <p:cNvSpPr>
            <a:spLocks noGrp="1"/>
          </p:cNvSpPr>
          <p:nvPr>
            <p:ph type="title"/>
          </p:nvPr>
        </p:nvSpPr>
        <p:spPr>
          <a:xfrm>
            <a:off x="838200" y="47625"/>
            <a:ext cx="10515600" cy="1325563"/>
          </a:xfrm>
        </p:spPr>
        <p:txBody>
          <a:bodyPr/>
          <a:lstStyle/>
          <a:p>
            <a:r>
              <a:rPr lang="en-US" dirty="0"/>
              <a:t>CPU Scheduler</a:t>
            </a:r>
          </a:p>
        </p:txBody>
      </p:sp>
      <p:sp>
        <p:nvSpPr>
          <p:cNvPr id="3" name="Content Placeholder 2">
            <a:extLst>
              <a:ext uri="{FF2B5EF4-FFF2-40B4-BE49-F238E27FC236}">
                <a16:creationId xmlns:a16="http://schemas.microsoft.com/office/drawing/2014/main" id="{D9793340-C20F-4A5A-ADCA-A48A3C5747EC}"/>
              </a:ext>
            </a:extLst>
          </p:cNvPr>
          <p:cNvSpPr>
            <a:spLocks noGrp="1"/>
          </p:cNvSpPr>
          <p:nvPr>
            <p:ph idx="1"/>
          </p:nvPr>
        </p:nvSpPr>
        <p:spPr>
          <a:xfrm>
            <a:off x="838200" y="1419224"/>
            <a:ext cx="10515600" cy="4937126"/>
          </a:xfrm>
        </p:spPr>
        <p:txBody>
          <a:bodyPr>
            <a:normAutofit fontScale="92500" lnSpcReduction="10000"/>
          </a:bodyPr>
          <a:lstStyle/>
          <a:p>
            <a:r>
              <a:rPr lang="en-US" dirty="0"/>
              <a:t>Short-term scheduler selects from among the processes in ready queue, and allocates the CPU to one of them</a:t>
            </a:r>
          </a:p>
          <a:p>
            <a:pPr lvl="1"/>
            <a:r>
              <a:rPr lang="en-US" dirty="0"/>
              <a:t>Queue may be ordered in various ways</a:t>
            </a:r>
          </a:p>
          <a:p>
            <a:r>
              <a:rPr lang="en-US" dirty="0"/>
              <a:t>CPU scheduling decisions may take place when a process:</a:t>
            </a:r>
          </a:p>
          <a:p>
            <a:pPr lvl="1"/>
            <a:r>
              <a:rPr lang="en-US" dirty="0"/>
              <a:t>Switches from running to waiting state</a:t>
            </a:r>
          </a:p>
          <a:p>
            <a:pPr lvl="1"/>
            <a:r>
              <a:rPr lang="en-US" dirty="0"/>
              <a:t>Switches from running to ready state</a:t>
            </a:r>
          </a:p>
          <a:p>
            <a:pPr lvl="1"/>
            <a:r>
              <a:rPr lang="en-US" dirty="0"/>
              <a:t>Switches from waiting to ready</a:t>
            </a:r>
          </a:p>
          <a:p>
            <a:pPr lvl="1"/>
            <a:r>
              <a:rPr lang="en-US" dirty="0"/>
              <a:t>Terminates</a:t>
            </a:r>
          </a:p>
          <a:p>
            <a:r>
              <a:rPr lang="en-US" dirty="0"/>
              <a:t>Scheduling under 1 and 4 is non-preemptive</a:t>
            </a:r>
          </a:p>
          <a:p>
            <a:r>
              <a:rPr lang="en-US" dirty="0"/>
              <a:t>All other scheduling is preemptive</a:t>
            </a:r>
          </a:p>
          <a:p>
            <a:pPr lvl="1"/>
            <a:r>
              <a:rPr lang="en-US" dirty="0"/>
              <a:t>Consider access to shared data</a:t>
            </a:r>
          </a:p>
          <a:p>
            <a:pPr lvl="1"/>
            <a:r>
              <a:rPr lang="en-US" dirty="0"/>
              <a:t>Consider preemption while in kernel mode</a:t>
            </a:r>
          </a:p>
          <a:p>
            <a:pPr lvl="1"/>
            <a:r>
              <a:rPr lang="en-US" dirty="0"/>
              <a:t>Consider interrupts occurring during crucial OS activities</a:t>
            </a:r>
          </a:p>
        </p:txBody>
      </p:sp>
    </p:spTree>
    <p:extLst>
      <p:ext uri="{BB962C8B-B14F-4D97-AF65-F5344CB8AC3E}">
        <p14:creationId xmlns:p14="http://schemas.microsoft.com/office/powerpoint/2010/main" val="20736785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35ED4B-2870-49EC-8418-9A6AE2E19697}"/>
              </a:ext>
            </a:extLst>
          </p:cNvPr>
          <p:cNvSpPr>
            <a:spLocks noGrp="1"/>
          </p:cNvSpPr>
          <p:nvPr>
            <p:ph type="title"/>
          </p:nvPr>
        </p:nvSpPr>
        <p:spPr>
          <a:xfrm>
            <a:off x="838200" y="47625"/>
            <a:ext cx="10515600" cy="1325563"/>
          </a:xfrm>
        </p:spPr>
        <p:txBody>
          <a:bodyPr/>
          <a:lstStyle/>
          <a:p>
            <a:r>
              <a:rPr lang="en-US" dirty="0"/>
              <a:t>Dispatcher</a:t>
            </a:r>
          </a:p>
        </p:txBody>
      </p:sp>
      <p:sp>
        <p:nvSpPr>
          <p:cNvPr id="3" name="Content Placeholder 2">
            <a:extLst>
              <a:ext uri="{FF2B5EF4-FFF2-40B4-BE49-F238E27FC236}">
                <a16:creationId xmlns:a16="http://schemas.microsoft.com/office/drawing/2014/main" id="{D9793340-C20F-4A5A-ADCA-A48A3C5747EC}"/>
              </a:ext>
            </a:extLst>
          </p:cNvPr>
          <p:cNvSpPr>
            <a:spLocks noGrp="1"/>
          </p:cNvSpPr>
          <p:nvPr>
            <p:ph idx="1"/>
          </p:nvPr>
        </p:nvSpPr>
        <p:spPr>
          <a:xfrm>
            <a:off x="838200" y="1419224"/>
            <a:ext cx="10515600" cy="4937126"/>
          </a:xfrm>
        </p:spPr>
        <p:txBody>
          <a:bodyPr/>
          <a:lstStyle/>
          <a:p>
            <a:r>
              <a:rPr lang="en-US" dirty="0"/>
              <a:t>Dispatcher module gives control of the CPU to the process selected by the short-term scheduler; this involves:</a:t>
            </a:r>
          </a:p>
          <a:p>
            <a:pPr lvl="1"/>
            <a:r>
              <a:rPr lang="en-US" dirty="0"/>
              <a:t>switching context</a:t>
            </a:r>
          </a:p>
          <a:p>
            <a:pPr lvl="1"/>
            <a:r>
              <a:rPr lang="en-US" dirty="0"/>
              <a:t>switching to user mode</a:t>
            </a:r>
          </a:p>
          <a:p>
            <a:pPr lvl="1"/>
            <a:r>
              <a:rPr lang="en-US" dirty="0"/>
              <a:t>jumping to the proper location in the user program to restart that program</a:t>
            </a:r>
          </a:p>
          <a:p>
            <a:r>
              <a:rPr lang="en-US" dirty="0"/>
              <a:t>Dispatch latency </a:t>
            </a:r>
          </a:p>
          <a:p>
            <a:pPr lvl="1"/>
            <a:r>
              <a:rPr lang="en-US" dirty="0"/>
              <a:t>time it takes for the dispatcher to stop one process and start another running</a:t>
            </a:r>
          </a:p>
        </p:txBody>
      </p:sp>
    </p:spTree>
    <p:extLst>
      <p:ext uri="{BB962C8B-B14F-4D97-AF65-F5344CB8AC3E}">
        <p14:creationId xmlns:p14="http://schemas.microsoft.com/office/powerpoint/2010/main" val="15368195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35ED4B-2870-49EC-8418-9A6AE2E19697}"/>
              </a:ext>
            </a:extLst>
          </p:cNvPr>
          <p:cNvSpPr>
            <a:spLocks noGrp="1"/>
          </p:cNvSpPr>
          <p:nvPr>
            <p:ph type="title"/>
          </p:nvPr>
        </p:nvSpPr>
        <p:spPr>
          <a:xfrm>
            <a:off x="838200" y="47625"/>
            <a:ext cx="10515600" cy="1325563"/>
          </a:xfrm>
        </p:spPr>
        <p:txBody>
          <a:bodyPr/>
          <a:lstStyle/>
          <a:p>
            <a:r>
              <a:rPr lang="en-US" dirty="0"/>
              <a:t>Scheduling Performance</a:t>
            </a:r>
          </a:p>
        </p:txBody>
      </p:sp>
      <p:sp>
        <p:nvSpPr>
          <p:cNvPr id="3" name="Content Placeholder 2">
            <a:extLst>
              <a:ext uri="{FF2B5EF4-FFF2-40B4-BE49-F238E27FC236}">
                <a16:creationId xmlns:a16="http://schemas.microsoft.com/office/drawing/2014/main" id="{D9793340-C20F-4A5A-ADCA-A48A3C5747EC}"/>
              </a:ext>
            </a:extLst>
          </p:cNvPr>
          <p:cNvSpPr>
            <a:spLocks noGrp="1"/>
          </p:cNvSpPr>
          <p:nvPr>
            <p:ph idx="1"/>
          </p:nvPr>
        </p:nvSpPr>
        <p:spPr>
          <a:xfrm>
            <a:off x="838200" y="1419224"/>
            <a:ext cx="10515600" cy="4937126"/>
          </a:xfrm>
        </p:spPr>
        <p:txBody>
          <a:bodyPr>
            <a:normAutofit/>
          </a:bodyPr>
          <a:lstStyle/>
          <a:p>
            <a:r>
              <a:rPr lang="en-US" dirty="0"/>
              <a:t>CPU utilization</a:t>
            </a:r>
          </a:p>
          <a:p>
            <a:pPr lvl="1"/>
            <a:r>
              <a:rPr lang="en-US" dirty="0"/>
              <a:t>keep the CPU as busy as possible</a:t>
            </a:r>
          </a:p>
          <a:p>
            <a:r>
              <a:rPr lang="en-US" dirty="0"/>
              <a:t>Throughput</a:t>
            </a:r>
          </a:p>
          <a:p>
            <a:pPr lvl="1"/>
            <a:r>
              <a:rPr lang="en-US" dirty="0"/>
              <a:t># of processes that complete their execution per time unit</a:t>
            </a:r>
          </a:p>
          <a:p>
            <a:r>
              <a:rPr lang="en-US" dirty="0"/>
              <a:t>Turnaround time </a:t>
            </a:r>
          </a:p>
          <a:p>
            <a:pPr lvl="1"/>
            <a:r>
              <a:rPr lang="en-US" dirty="0"/>
              <a:t>amount of time to execute a particular process</a:t>
            </a:r>
          </a:p>
          <a:p>
            <a:r>
              <a:rPr lang="en-US" dirty="0"/>
              <a:t>Waiting time</a:t>
            </a:r>
          </a:p>
          <a:p>
            <a:pPr lvl="1"/>
            <a:r>
              <a:rPr lang="en-US" dirty="0"/>
              <a:t>amount of time a process has been waiting in the ready queue</a:t>
            </a:r>
          </a:p>
          <a:p>
            <a:r>
              <a:rPr lang="en-US" dirty="0"/>
              <a:t>Response time</a:t>
            </a:r>
          </a:p>
          <a:p>
            <a:pPr lvl="1"/>
            <a:r>
              <a:rPr lang="en-US" dirty="0"/>
              <a:t>amount of time it takes from when a request was submitted until the first response is produced, not output  (for time-sharing environment)</a:t>
            </a:r>
          </a:p>
        </p:txBody>
      </p:sp>
    </p:spTree>
    <p:extLst>
      <p:ext uri="{BB962C8B-B14F-4D97-AF65-F5344CB8AC3E}">
        <p14:creationId xmlns:p14="http://schemas.microsoft.com/office/powerpoint/2010/main" val="19065895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35ED4B-2870-49EC-8418-9A6AE2E19697}"/>
              </a:ext>
            </a:extLst>
          </p:cNvPr>
          <p:cNvSpPr>
            <a:spLocks noGrp="1"/>
          </p:cNvSpPr>
          <p:nvPr>
            <p:ph type="title"/>
          </p:nvPr>
        </p:nvSpPr>
        <p:spPr>
          <a:xfrm>
            <a:off x="838200" y="47625"/>
            <a:ext cx="10515600" cy="1325563"/>
          </a:xfrm>
        </p:spPr>
        <p:txBody>
          <a:bodyPr>
            <a:normAutofit/>
          </a:bodyPr>
          <a:lstStyle/>
          <a:p>
            <a:r>
              <a:rPr lang="en-US" dirty="0"/>
              <a:t>Scheduling Algorithm Objectives</a:t>
            </a:r>
          </a:p>
        </p:txBody>
      </p:sp>
      <p:sp>
        <p:nvSpPr>
          <p:cNvPr id="3" name="Content Placeholder 2">
            <a:extLst>
              <a:ext uri="{FF2B5EF4-FFF2-40B4-BE49-F238E27FC236}">
                <a16:creationId xmlns:a16="http://schemas.microsoft.com/office/drawing/2014/main" id="{D9793340-C20F-4A5A-ADCA-A48A3C5747EC}"/>
              </a:ext>
            </a:extLst>
          </p:cNvPr>
          <p:cNvSpPr>
            <a:spLocks noGrp="1"/>
          </p:cNvSpPr>
          <p:nvPr>
            <p:ph idx="1"/>
          </p:nvPr>
        </p:nvSpPr>
        <p:spPr>
          <a:xfrm>
            <a:off x="838200" y="1419224"/>
            <a:ext cx="10515600" cy="4937126"/>
          </a:xfrm>
        </p:spPr>
        <p:txBody>
          <a:bodyPr/>
          <a:lstStyle/>
          <a:p>
            <a:r>
              <a:rPr lang="en-US" dirty="0"/>
              <a:t>Max CPU utilization</a:t>
            </a:r>
          </a:p>
          <a:p>
            <a:r>
              <a:rPr lang="en-US" dirty="0"/>
              <a:t>Max throughput</a:t>
            </a:r>
          </a:p>
          <a:p>
            <a:r>
              <a:rPr lang="en-US" dirty="0"/>
              <a:t>Min turnaround time </a:t>
            </a:r>
          </a:p>
          <a:p>
            <a:r>
              <a:rPr lang="en-US" dirty="0"/>
              <a:t>Min waiting time </a:t>
            </a:r>
          </a:p>
          <a:p>
            <a:r>
              <a:rPr lang="en-US" dirty="0"/>
              <a:t>Min response time</a:t>
            </a:r>
          </a:p>
        </p:txBody>
      </p:sp>
    </p:spTree>
    <p:extLst>
      <p:ext uri="{BB962C8B-B14F-4D97-AF65-F5344CB8AC3E}">
        <p14:creationId xmlns:p14="http://schemas.microsoft.com/office/powerpoint/2010/main" val="31544620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Rectangle 2"/>
          <p:cNvSpPr>
            <a:spLocks noGrp="1" noChangeArrowheads="1"/>
          </p:cNvSpPr>
          <p:nvPr>
            <p:ph type="title"/>
          </p:nvPr>
        </p:nvSpPr>
        <p:spPr>
          <a:xfrm>
            <a:off x="838200" y="47625"/>
            <a:ext cx="10515600" cy="1325563"/>
          </a:xfrm>
        </p:spPr>
        <p:txBody>
          <a:bodyPr/>
          <a:lstStyle/>
          <a:p>
            <a:r>
              <a:rPr lang="en-US"/>
              <a:t>Criteria for Scheduling</a:t>
            </a:r>
          </a:p>
        </p:txBody>
      </p:sp>
      <p:sp>
        <p:nvSpPr>
          <p:cNvPr id="27653" name="Rectangle 3"/>
          <p:cNvSpPr>
            <a:spLocks noGrp="1" noChangeArrowheads="1"/>
          </p:cNvSpPr>
          <p:nvPr>
            <p:ph idx="1"/>
          </p:nvPr>
        </p:nvSpPr>
        <p:spPr>
          <a:xfrm>
            <a:off x="838200" y="1419224"/>
            <a:ext cx="10515600" cy="4937126"/>
          </a:xfrm>
        </p:spPr>
        <p:txBody>
          <a:bodyPr>
            <a:normAutofit lnSpcReduction="10000"/>
          </a:bodyPr>
          <a:lstStyle/>
          <a:p>
            <a:r>
              <a:rPr lang="en-US"/>
              <a:t>Priority</a:t>
            </a:r>
          </a:p>
          <a:p>
            <a:pPr lvl="1"/>
            <a:r>
              <a:rPr lang="en-US"/>
              <a:t>Priority assigned to that process or job</a:t>
            </a:r>
          </a:p>
          <a:p>
            <a:r>
              <a:rPr lang="en-US"/>
              <a:t>Class</a:t>
            </a:r>
          </a:p>
          <a:p>
            <a:pPr lvl="1"/>
            <a:r>
              <a:rPr lang="en-US"/>
              <a:t>Class of job, i.e. batch or on-line or real-time</a:t>
            </a:r>
          </a:p>
          <a:p>
            <a:r>
              <a:rPr lang="en-US"/>
              <a:t>Resource requirements</a:t>
            </a:r>
          </a:p>
          <a:p>
            <a:pPr lvl="1"/>
            <a:r>
              <a:rPr lang="en-US"/>
              <a:t>E.g. expected run time, memory required, etc</a:t>
            </a:r>
          </a:p>
          <a:p>
            <a:r>
              <a:rPr lang="en-US"/>
              <a:t>I/O or CPU bound</a:t>
            </a:r>
          </a:p>
          <a:p>
            <a:pPr lvl="1"/>
            <a:r>
              <a:rPr lang="en-US"/>
              <a:t>i.e. whether job is I/O bound or CPU bound</a:t>
            </a:r>
          </a:p>
          <a:p>
            <a:r>
              <a:rPr lang="en-US"/>
              <a:t>Resources used to date</a:t>
            </a:r>
          </a:p>
          <a:p>
            <a:pPr lvl="1"/>
            <a:r>
              <a:rPr lang="en-US"/>
              <a:t>i.e. the amount of processor time already consumed</a:t>
            </a:r>
          </a:p>
          <a:p>
            <a:r>
              <a:rPr lang="en-US"/>
              <a:t>Waiting time to date</a:t>
            </a:r>
          </a:p>
          <a:p>
            <a:pPr lvl="1"/>
            <a:r>
              <a:rPr lang="en-US"/>
              <a:t>i.e. the amount of time spent waiting for service so far</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Rectangle 2"/>
          <p:cNvSpPr>
            <a:spLocks noGrp="1" noChangeArrowheads="1"/>
          </p:cNvSpPr>
          <p:nvPr>
            <p:ph type="title"/>
          </p:nvPr>
        </p:nvSpPr>
        <p:spPr>
          <a:xfrm>
            <a:off x="838200" y="47625"/>
            <a:ext cx="10515600" cy="1325563"/>
          </a:xfrm>
        </p:spPr>
        <p:txBody>
          <a:bodyPr/>
          <a:lstStyle/>
          <a:p>
            <a:r>
              <a:rPr lang="en-US"/>
              <a:t>Scheduling Philosophies</a:t>
            </a:r>
          </a:p>
        </p:txBody>
      </p:sp>
      <p:sp>
        <p:nvSpPr>
          <p:cNvPr id="28677" name="Rectangle 3"/>
          <p:cNvSpPr>
            <a:spLocks noGrp="1" noChangeArrowheads="1"/>
          </p:cNvSpPr>
          <p:nvPr>
            <p:ph idx="1"/>
          </p:nvPr>
        </p:nvSpPr>
        <p:spPr>
          <a:xfrm>
            <a:off x="838200" y="1419224"/>
            <a:ext cx="10515600" cy="4937126"/>
          </a:xfrm>
        </p:spPr>
        <p:txBody>
          <a:bodyPr/>
          <a:lstStyle/>
          <a:p>
            <a:r>
              <a:rPr lang="en-US" dirty="0"/>
              <a:t>Preemptive</a:t>
            </a:r>
          </a:p>
          <a:p>
            <a:pPr lvl="1"/>
            <a:r>
              <a:rPr lang="en-US" dirty="0"/>
              <a:t>The system may preempt the CPU from a process at any time;</a:t>
            </a:r>
          </a:p>
          <a:p>
            <a:pPr lvl="2"/>
            <a:r>
              <a:rPr lang="en-US" dirty="0"/>
              <a:t>Prevents any one process from using the CPU for too long</a:t>
            </a:r>
          </a:p>
          <a:p>
            <a:pPr lvl="2"/>
            <a:r>
              <a:rPr lang="en-US" dirty="0"/>
              <a:t>Can lead to race condition (require synchronization techniques)</a:t>
            </a:r>
          </a:p>
          <a:p>
            <a:r>
              <a:rPr lang="en-US" dirty="0"/>
              <a:t>Non-preemptive</a:t>
            </a:r>
          </a:p>
          <a:p>
            <a:pPr lvl="1"/>
            <a:r>
              <a:rPr lang="en-US" dirty="0"/>
              <a:t>Each process voluntarily gives up the CPU</a:t>
            </a:r>
          </a:p>
          <a:p>
            <a:pPr lvl="1"/>
            <a:r>
              <a:rPr lang="en-US" dirty="0"/>
              <a:t>It is;</a:t>
            </a:r>
          </a:p>
          <a:p>
            <a:pPr lvl="2"/>
            <a:r>
              <a:rPr lang="en-US" dirty="0"/>
              <a:t>Simple</a:t>
            </a:r>
          </a:p>
          <a:p>
            <a:pPr lvl="2"/>
            <a:r>
              <a:rPr lang="en-US" dirty="0"/>
              <a:t>Easy to implement</a:t>
            </a:r>
          </a:p>
          <a:p>
            <a:pPr lvl="2"/>
            <a:r>
              <a:rPr lang="en-US" dirty="0"/>
              <a:t>Not suitable for multi-user systems</a:t>
            </a:r>
          </a:p>
          <a:p>
            <a:pPr lvl="1"/>
            <a:r>
              <a:rPr lang="en-US" dirty="0"/>
              <a:t>If the running process become blocked next process can be scheduled</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Rectangle 2"/>
          <p:cNvSpPr>
            <a:spLocks noGrp="1" noChangeArrowheads="1"/>
          </p:cNvSpPr>
          <p:nvPr>
            <p:ph type="title"/>
          </p:nvPr>
        </p:nvSpPr>
        <p:spPr>
          <a:xfrm>
            <a:off x="838200" y="47625"/>
            <a:ext cx="10515600" cy="1325563"/>
          </a:xfrm>
        </p:spPr>
        <p:txBody>
          <a:bodyPr/>
          <a:lstStyle/>
          <a:p>
            <a:r>
              <a:rPr lang="en-US" dirty="0"/>
              <a:t>Process Scheduling Queues</a:t>
            </a:r>
          </a:p>
        </p:txBody>
      </p:sp>
      <p:sp>
        <p:nvSpPr>
          <p:cNvPr id="29701" name="Rectangle 3"/>
          <p:cNvSpPr>
            <a:spLocks noGrp="1" noChangeArrowheads="1"/>
          </p:cNvSpPr>
          <p:nvPr>
            <p:ph idx="1"/>
          </p:nvPr>
        </p:nvSpPr>
        <p:spPr>
          <a:xfrm>
            <a:off x="838200" y="1419224"/>
            <a:ext cx="10515600" cy="4937126"/>
          </a:xfrm>
        </p:spPr>
        <p:txBody>
          <a:bodyPr/>
          <a:lstStyle/>
          <a:p>
            <a:r>
              <a:rPr lang="en-US"/>
              <a:t>Job queue</a:t>
            </a:r>
          </a:p>
          <a:p>
            <a:pPr lvl="1"/>
            <a:r>
              <a:rPr lang="en-US"/>
              <a:t>Set of all the processes in the system</a:t>
            </a:r>
          </a:p>
          <a:p>
            <a:pPr lvl="1"/>
            <a:r>
              <a:rPr lang="en-US"/>
              <a:t>It also includes the processes from the queues given below</a:t>
            </a:r>
          </a:p>
          <a:p>
            <a:r>
              <a:rPr lang="en-US"/>
              <a:t>Ready queue</a:t>
            </a:r>
          </a:p>
          <a:p>
            <a:pPr lvl="1"/>
            <a:r>
              <a:rPr lang="en-US"/>
              <a:t>Set of all the processes residing in main memory (ready or waiting)</a:t>
            </a:r>
          </a:p>
          <a:p>
            <a:r>
              <a:rPr lang="en-US"/>
              <a:t>Device queue</a:t>
            </a:r>
          </a:p>
          <a:p>
            <a:pPr lvl="1"/>
            <a:r>
              <a:rPr lang="en-US"/>
              <a:t>Set of processes waiting for an I/O devices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2"/>
          <p:cNvSpPr>
            <a:spLocks noGrp="1" noChangeArrowheads="1"/>
          </p:cNvSpPr>
          <p:nvPr>
            <p:ph type="title"/>
          </p:nvPr>
        </p:nvSpPr>
        <p:spPr>
          <a:xfrm>
            <a:off x="838200" y="47625"/>
            <a:ext cx="10515600" cy="1325563"/>
          </a:xfrm>
        </p:spPr>
        <p:txBody>
          <a:bodyPr/>
          <a:lstStyle/>
          <a:p>
            <a:r>
              <a:rPr lang="en-US"/>
              <a:t>Levels of Scheduling</a:t>
            </a:r>
          </a:p>
        </p:txBody>
      </p:sp>
      <p:sp>
        <p:nvSpPr>
          <p:cNvPr id="30725" name="Rectangle 3"/>
          <p:cNvSpPr>
            <a:spLocks noGrp="1" noChangeArrowheads="1"/>
          </p:cNvSpPr>
          <p:nvPr>
            <p:ph idx="1"/>
          </p:nvPr>
        </p:nvSpPr>
        <p:spPr>
          <a:xfrm>
            <a:off x="838200" y="1419224"/>
            <a:ext cx="10515600" cy="4937126"/>
          </a:xfrm>
        </p:spPr>
        <p:txBody>
          <a:bodyPr>
            <a:normAutofit fontScale="92500" lnSpcReduction="20000"/>
          </a:bodyPr>
          <a:lstStyle/>
          <a:p>
            <a:r>
              <a:rPr lang="en-US" dirty="0"/>
              <a:t>Scheduling can be exercised at three levels</a:t>
            </a:r>
          </a:p>
          <a:p>
            <a:r>
              <a:rPr lang="en-US" dirty="0"/>
              <a:t>High-level scheduling (Long-term scheduler)</a:t>
            </a:r>
          </a:p>
          <a:p>
            <a:pPr lvl="1"/>
            <a:r>
              <a:rPr lang="en-US" dirty="0"/>
              <a:t>Allow limited number of processes in the ready queue to compete</a:t>
            </a:r>
          </a:p>
          <a:p>
            <a:pPr lvl="1"/>
            <a:r>
              <a:rPr lang="en-US" dirty="0"/>
              <a:t>It disallows processes beyond a certain limit for batch processes first and in the end also the interactive processes</a:t>
            </a:r>
          </a:p>
          <a:p>
            <a:pPr lvl="1"/>
            <a:r>
              <a:rPr lang="en-US" dirty="0"/>
              <a:t>Invoke less frequently</a:t>
            </a:r>
          </a:p>
          <a:p>
            <a:pPr lvl="1"/>
            <a:r>
              <a:rPr lang="en-US" dirty="0"/>
              <a:t>May be slow</a:t>
            </a:r>
          </a:p>
          <a:p>
            <a:r>
              <a:rPr lang="en-US" dirty="0"/>
              <a:t>Medium-level scheduling (Medium-term scheduler) </a:t>
            </a:r>
          </a:p>
          <a:p>
            <a:pPr lvl="1"/>
            <a:r>
              <a:rPr lang="en-US" dirty="0"/>
              <a:t>It is concerned with decision to temporarily remove a process from the system (to reduce system load)</a:t>
            </a:r>
          </a:p>
          <a:p>
            <a:pPr lvl="1"/>
            <a:r>
              <a:rPr lang="en-US" dirty="0"/>
              <a:t>To reintroduce a process or swapping in</a:t>
            </a:r>
          </a:p>
          <a:p>
            <a:pPr lvl="1"/>
            <a:r>
              <a:rPr lang="en-US" dirty="0"/>
              <a:t>What if there is room in memory and both a new process as well as swapped out process want to be loaded</a:t>
            </a:r>
          </a:p>
          <a:p>
            <a:pPr lvl="2"/>
            <a:r>
              <a:rPr lang="en-US" dirty="0"/>
              <a:t>In this case, medium level scheduler has to work in close conjunction with high level scheduler</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Rectangle 2"/>
          <p:cNvSpPr>
            <a:spLocks noGrp="1" noChangeArrowheads="1"/>
          </p:cNvSpPr>
          <p:nvPr>
            <p:ph type="title"/>
          </p:nvPr>
        </p:nvSpPr>
        <p:spPr>
          <a:xfrm>
            <a:off x="838200" y="47625"/>
            <a:ext cx="10515600" cy="1325563"/>
          </a:xfrm>
        </p:spPr>
        <p:txBody>
          <a:bodyPr/>
          <a:lstStyle/>
          <a:p>
            <a:r>
              <a:rPr lang="en-US"/>
              <a:t>Levels of Scheduling</a:t>
            </a:r>
          </a:p>
        </p:txBody>
      </p:sp>
      <p:sp>
        <p:nvSpPr>
          <p:cNvPr id="31749" name="Rectangle 3"/>
          <p:cNvSpPr>
            <a:spLocks noGrp="1" noChangeArrowheads="1"/>
          </p:cNvSpPr>
          <p:nvPr>
            <p:ph idx="1"/>
          </p:nvPr>
        </p:nvSpPr>
        <p:spPr>
          <a:xfrm>
            <a:off x="838200" y="1419224"/>
            <a:ext cx="10515600" cy="4937126"/>
          </a:xfrm>
        </p:spPr>
        <p:txBody>
          <a:bodyPr>
            <a:normAutofit fontScale="85000" lnSpcReduction="10000"/>
          </a:bodyPr>
          <a:lstStyle/>
          <a:p>
            <a:r>
              <a:rPr lang="en-US" dirty="0"/>
              <a:t>Low level-scheduling (Short-term scheduler) </a:t>
            </a:r>
          </a:p>
          <a:p>
            <a:pPr lvl="1"/>
            <a:r>
              <a:rPr lang="en-US" dirty="0"/>
              <a:t>Handles the decisions of which process is to be assigned to the processor (dispatcher)</a:t>
            </a:r>
          </a:p>
          <a:p>
            <a:pPr lvl="1"/>
            <a:r>
              <a:rPr lang="en-US" dirty="0"/>
              <a:t>Invoke very frequently</a:t>
            </a:r>
          </a:p>
          <a:p>
            <a:pPr lvl="1"/>
            <a:r>
              <a:rPr lang="en-US" dirty="0"/>
              <a:t>Must execute fast</a:t>
            </a:r>
          </a:p>
          <a:p>
            <a:pPr lvl="1"/>
            <a:r>
              <a:rPr lang="en-US" dirty="0"/>
              <a:t>Its scheduling could be preemptive or non-preemptive</a:t>
            </a:r>
          </a:p>
          <a:p>
            <a:pPr lvl="1"/>
            <a:r>
              <a:rPr lang="en-US" dirty="0"/>
              <a:t>Dispatch latency should be minimum</a:t>
            </a:r>
          </a:p>
          <a:p>
            <a:pPr lvl="2"/>
            <a:r>
              <a:rPr lang="en-US" dirty="0"/>
              <a:t>Dispatch latency is the time it takes for the dispatcher to stop one process and start another running</a:t>
            </a:r>
          </a:p>
          <a:p>
            <a:pPr lvl="2"/>
            <a:r>
              <a:rPr lang="en-US" dirty="0"/>
              <a:t>Example:</a:t>
            </a:r>
          </a:p>
          <a:p>
            <a:pPr lvl="3"/>
            <a:r>
              <a:rPr lang="en-US" dirty="0"/>
              <a:t>Assume a process runs for 90ms and scheduler run for 10ms</a:t>
            </a:r>
          </a:p>
          <a:p>
            <a:pPr lvl="3"/>
            <a:r>
              <a:rPr lang="en-US" dirty="0"/>
              <a:t>Overheads = 10/(90+10) = 10%</a:t>
            </a:r>
          </a:p>
          <a:p>
            <a:r>
              <a:rPr lang="en-US" dirty="0"/>
              <a:t>Any OS may use one or all of these levels, depending upon the desired</a:t>
            </a:r>
          </a:p>
          <a:p>
            <a:r>
              <a:rPr lang="en-US" dirty="0"/>
              <a:t>These levels have to interact amongst themselves quite closely to ensure that the computing resources are managed optimally</a:t>
            </a:r>
          </a:p>
          <a:p>
            <a:r>
              <a:rPr lang="en-US" dirty="0"/>
              <a:t>The exact algorithms for these and interaction between them are quite complex</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3251" y="544013"/>
            <a:ext cx="10515600" cy="1325563"/>
          </a:xfrm>
        </p:spPr>
        <p:txBody>
          <a:bodyPr/>
          <a:lstStyle/>
          <a:p>
            <a:pPr algn="ctr"/>
            <a:r>
              <a:rPr lang="en-US" dirty="0"/>
              <a:t>Schedulers in Operating System</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786007756"/>
              </p:ext>
            </p:extLst>
          </p:nvPr>
        </p:nvGraphicFramePr>
        <p:xfrm>
          <a:off x="731518" y="2286001"/>
          <a:ext cx="10985864" cy="3161211"/>
        </p:xfrm>
        <a:graphic>
          <a:graphicData uri="http://schemas.openxmlformats.org/drawingml/2006/table">
            <a:tbl>
              <a:tblPr/>
              <a:tblGrid>
                <a:gridCol w="2746466">
                  <a:extLst>
                    <a:ext uri="{9D8B030D-6E8A-4147-A177-3AD203B41FA5}">
                      <a16:colId xmlns:a16="http://schemas.microsoft.com/office/drawing/2014/main" val="2531078102"/>
                    </a:ext>
                  </a:extLst>
                </a:gridCol>
                <a:gridCol w="2746466">
                  <a:extLst>
                    <a:ext uri="{9D8B030D-6E8A-4147-A177-3AD203B41FA5}">
                      <a16:colId xmlns:a16="http://schemas.microsoft.com/office/drawing/2014/main" val="1967005511"/>
                    </a:ext>
                  </a:extLst>
                </a:gridCol>
                <a:gridCol w="2746466">
                  <a:extLst>
                    <a:ext uri="{9D8B030D-6E8A-4147-A177-3AD203B41FA5}">
                      <a16:colId xmlns:a16="http://schemas.microsoft.com/office/drawing/2014/main" val="3143122930"/>
                    </a:ext>
                  </a:extLst>
                </a:gridCol>
                <a:gridCol w="2746466">
                  <a:extLst>
                    <a:ext uri="{9D8B030D-6E8A-4147-A177-3AD203B41FA5}">
                      <a16:colId xmlns:a16="http://schemas.microsoft.com/office/drawing/2014/main" val="4227426720"/>
                    </a:ext>
                  </a:extLst>
                </a:gridCol>
              </a:tblGrid>
              <a:tr h="665518">
                <a:tc>
                  <a:txBody>
                    <a:bodyPr/>
                    <a:lstStyle/>
                    <a:p>
                      <a:r>
                        <a:rPr lang="en-US"/>
                        <a:t>Scheduler</a:t>
                      </a:r>
                    </a:p>
                  </a:txBody>
                  <a:tcPr anchor="ctr">
                    <a:lnL>
                      <a:noFill/>
                    </a:lnL>
                    <a:lnR>
                      <a:noFill/>
                    </a:lnR>
                    <a:lnT>
                      <a:noFill/>
                    </a:lnT>
                    <a:lnB>
                      <a:noFill/>
                    </a:lnB>
                  </a:tcPr>
                </a:tc>
                <a:tc>
                  <a:txBody>
                    <a:bodyPr/>
                    <a:lstStyle/>
                    <a:p>
                      <a:r>
                        <a:rPr lang="en-US"/>
                        <a:t>Key Decision</a:t>
                      </a:r>
                    </a:p>
                  </a:txBody>
                  <a:tcPr anchor="ctr">
                    <a:lnL>
                      <a:noFill/>
                    </a:lnL>
                    <a:lnR>
                      <a:noFill/>
                    </a:lnR>
                    <a:lnT>
                      <a:noFill/>
                    </a:lnT>
                    <a:lnB>
                      <a:noFill/>
                    </a:lnB>
                  </a:tcPr>
                </a:tc>
                <a:tc>
                  <a:txBody>
                    <a:bodyPr/>
                    <a:lstStyle/>
                    <a:p>
                      <a:r>
                        <a:rPr lang="en-US"/>
                        <a:t>Runs On</a:t>
                      </a:r>
                    </a:p>
                  </a:txBody>
                  <a:tcPr anchor="ctr">
                    <a:lnL>
                      <a:noFill/>
                    </a:lnL>
                    <a:lnR>
                      <a:noFill/>
                    </a:lnR>
                    <a:lnT>
                      <a:noFill/>
                    </a:lnT>
                    <a:lnB>
                      <a:noFill/>
                    </a:lnB>
                  </a:tcPr>
                </a:tc>
                <a:tc>
                  <a:txBody>
                    <a:bodyPr/>
                    <a:lstStyle/>
                    <a:p>
                      <a:r>
                        <a:rPr lang="en-US"/>
                        <a:t>Frequency</a:t>
                      </a:r>
                    </a:p>
                  </a:txBody>
                  <a:tcPr anchor="ctr">
                    <a:lnL>
                      <a:noFill/>
                    </a:lnL>
                    <a:lnR>
                      <a:noFill/>
                    </a:lnR>
                    <a:lnT>
                      <a:noFill/>
                    </a:lnT>
                    <a:lnB>
                      <a:noFill/>
                    </a:lnB>
                  </a:tcPr>
                </a:tc>
                <a:extLst>
                  <a:ext uri="{0D108BD9-81ED-4DB2-BD59-A6C34878D82A}">
                    <a16:rowId xmlns:a16="http://schemas.microsoft.com/office/drawing/2014/main" val="173017592"/>
                  </a:ext>
                </a:extLst>
              </a:tr>
              <a:tr h="665518">
                <a:tc>
                  <a:txBody>
                    <a:bodyPr/>
                    <a:lstStyle/>
                    <a:p>
                      <a:r>
                        <a:rPr lang="en-US" b="1"/>
                        <a:t>Long-Term</a:t>
                      </a:r>
                      <a:endParaRPr lang="en-US"/>
                    </a:p>
                  </a:txBody>
                  <a:tcPr anchor="ctr">
                    <a:lnL>
                      <a:noFill/>
                    </a:lnL>
                    <a:lnR>
                      <a:noFill/>
                    </a:lnR>
                    <a:lnT>
                      <a:noFill/>
                    </a:lnT>
                    <a:lnB>
                      <a:noFill/>
                    </a:lnB>
                  </a:tcPr>
                </a:tc>
                <a:tc>
                  <a:txBody>
                    <a:bodyPr/>
                    <a:lstStyle/>
                    <a:p>
                      <a:r>
                        <a:rPr lang="en-US" dirty="0"/>
                        <a:t>Which jobs to admit</a:t>
                      </a:r>
                    </a:p>
                  </a:txBody>
                  <a:tcPr anchor="ctr">
                    <a:lnL>
                      <a:noFill/>
                    </a:lnL>
                    <a:lnR>
                      <a:noFill/>
                    </a:lnR>
                    <a:lnT>
                      <a:noFill/>
                    </a:lnT>
                    <a:lnB>
                      <a:noFill/>
                    </a:lnB>
                  </a:tcPr>
                </a:tc>
                <a:tc>
                  <a:txBody>
                    <a:bodyPr/>
                    <a:lstStyle/>
                    <a:p>
                      <a:r>
                        <a:rPr lang="en-US"/>
                        <a:t>Disk → Main Memory</a:t>
                      </a:r>
                    </a:p>
                  </a:txBody>
                  <a:tcPr anchor="ctr">
                    <a:lnL>
                      <a:noFill/>
                    </a:lnL>
                    <a:lnR>
                      <a:noFill/>
                    </a:lnR>
                    <a:lnT>
                      <a:noFill/>
                    </a:lnT>
                    <a:lnB>
                      <a:noFill/>
                    </a:lnB>
                  </a:tcPr>
                </a:tc>
                <a:tc>
                  <a:txBody>
                    <a:bodyPr/>
                    <a:lstStyle/>
                    <a:p>
                      <a:r>
                        <a:rPr lang="en-US"/>
                        <a:t>Low</a:t>
                      </a:r>
                    </a:p>
                  </a:txBody>
                  <a:tcPr anchor="ctr">
                    <a:lnL>
                      <a:noFill/>
                    </a:lnL>
                    <a:lnR>
                      <a:noFill/>
                    </a:lnR>
                    <a:lnT>
                      <a:noFill/>
                    </a:lnT>
                    <a:lnB>
                      <a:noFill/>
                    </a:lnB>
                  </a:tcPr>
                </a:tc>
                <a:extLst>
                  <a:ext uri="{0D108BD9-81ED-4DB2-BD59-A6C34878D82A}">
                    <a16:rowId xmlns:a16="http://schemas.microsoft.com/office/drawing/2014/main" val="2958146875"/>
                  </a:ext>
                </a:extLst>
              </a:tr>
              <a:tr h="1164657">
                <a:tc>
                  <a:txBody>
                    <a:bodyPr/>
                    <a:lstStyle/>
                    <a:p>
                      <a:r>
                        <a:rPr lang="en-US" b="1"/>
                        <a:t>Medium-Term</a:t>
                      </a:r>
                      <a:endParaRPr lang="en-US"/>
                    </a:p>
                  </a:txBody>
                  <a:tcPr anchor="ctr">
                    <a:lnL>
                      <a:noFill/>
                    </a:lnL>
                    <a:lnR>
                      <a:noFill/>
                    </a:lnR>
                    <a:lnT>
                      <a:noFill/>
                    </a:lnT>
                    <a:lnB>
                      <a:noFill/>
                    </a:lnB>
                  </a:tcPr>
                </a:tc>
                <a:tc>
                  <a:txBody>
                    <a:bodyPr/>
                    <a:lstStyle/>
                    <a:p>
                      <a:r>
                        <a:rPr lang="en-US"/>
                        <a:t>Which jobs to suspend/resume</a:t>
                      </a:r>
                    </a:p>
                  </a:txBody>
                  <a:tcPr anchor="ctr">
                    <a:lnL>
                      <a:noFill/>
                    </a:lnL>
                    <a:lnR>
                      <a:noFill/>
                    </a:lnR>
                    <a:lnT>
                      <a:noFill/>
                    </a:lnT>
                    <a:lnB>
                      <a:noFill/>
                    </a:lnB>
                  </a:tcPr>
                </a:tc>
                <a:tc>
                  <a:txBody>
                    <a:bodyPr/>
                    <a:lstStyle/>
                    <a:p>
                      <a:r>
                        <a:rPr lang="en-US"/>
                        <a:t>Main Memory ↔ Disk</a:t>
                      </a:r>
                    </a:p>
                  </a:txBody>
                  <a:tcPr anchor="ctr">
                    <a:lnL>
                      <a:noFill/>
                    </a:lnL>
                    <a:lnR>
                      <a:noFill/>
                    </a:lnR>
                    <a:lnT>
                      <a:noFill/>
                    </a:lnT>
                    <a:lnB>
                      <a:noFill/>
                    </a:lnB>
                  </a:tcPr>
                </a:tc>
                <a:tc>
                  <a:txBody>
                    <a:bodyPr/>
                    <a:lstStyle/>
                    <a:p>
                      <a:r>
                        <a:rPr lang="en-US"/>
                        <a:t>Medium</a:t>
                      </a:r>
                    </a:p>
                  </a:txBody>
                  <a:tcPr anchor="ctr">
                    <a:lnL>
                      <a:noFill/>
                    </a:lnL>
                    <a:lnR>
                      <a:noFill/>
                    </a:lnR>
                    <a:lnT>
                      <a:noFill/>
                    </a:lnT>
                    <a:lnB>
                      <a:noFill/>
                    </a:lnB>
                  </a:tcPr>
                </a:tc>
                <a:extLst>
                  <a:ext uri="{0D108BD9-81ED-4DB2-BD59-A6C34878D82A}">
                    <a16:rowId xmlns:a16="http://schemas.microsoft.com/office/drawing/2014/main" val="2962912999"/>
                  </a:ext>
                </a:extLst>
              </a:tr>
              <a:tr h="665518">
                <a:tc>
                  <a:txBody>
                    <a:bodyPr/>
                    <a:lstStyle/>
                    <a:p>
                      <a:r>
                        <a:rPr lang="en-US" b="1"/>
                        <a:t>Short-Term</a:t>
                      </a:r>
                      <a:endParaRPr lang="en-US"/>
                    </a:p>
                  </a:txBody>
                  <a:tcPr anchor="ctr">
                    <a:lnL>
                      <a:noFill/>
                    </a:lnL>
                    <a:lnR>
                      <a:noFill/>
                    </a:lnR>
                    <a:lnT>
                      <a:noFill/>
                    </a:lnT>
                    <a:lnB>
                      <a:noFill/>
                    </a:lnB>
                  </a:tcPr>
                </a:tc>
                <a:tc>
                  <a:txBody>
                    <a:bodyPr/>
                    <a:lstStyle/>
                    <a:p>
                      <a:r>
                        <a:rPr lang="en-US"/>
                        <a:t>Which process gets CPU</a:t>
                      </a:r>
                    </a:p>
                  </a:txBody>
                  <a:tcPr anchor="ctr">
                    <a:lnL>
                      <a:noFill/>
                    </a:lnL>
                    <a:lnR>
                      <a:noFill/>
                    </a:lnR>
                    <a:lnT>
                      <a:noFill/>
                    </a:lnT>
                    <a:lnB>
                      <a:noFill/>
                    </a:lnB>
                  </a:tcPr>
                </a:tc>
                <a:tc>
                  <a:txBody>
                    <a:bodyPr/>
                    <a:lstStyle/>
                    <a:p>
                      <a:r>
                        <a:rPr lang="en-US"/>
                        <a:t>Ready Queue → CPU</a:t>
                      </a:r>
                    </a:p>
                  </a:txBody>
                  <a:tcPr anchor="ctr">
                    <a:lnL>
                      <a:noFill/>
                    </a:lnL>
                    <a:lnR>
                      <a:noFill/>
                    </a:lnR>
                    <a:lnT>
                      <a:noFill/>
                    </a:lnT>
                    <a:lnB>
                      <a:noFill/>
                    </a:lnB>
                  </a:tcPr>
                </a:tc>
                <a:tc>
                  <a:txBody>
                    <a:bodyPr/>
                    <a:lstStyle/>
                    <a:p>
                      <a:r>
                        <a:rPr lang="en-US" dirty="0"/>
                        <a:t>High</a:t>
                      </a:r>
                    </a:p>
                  </a:txBody>
                  <a:tcPr anchor="ctr">
                    <a:lnL>
                      <a:noFill/>
                    </a:lnL>
                    <a:lnR>
                      <a:noFill/>
                    </a:lnR>
                    <a:lnT>
                      <a:noFill/>
                    </a:lnT>
                    <a:lnB>
                      <a:noFill/>
                    </a:lnB>
                  </a:tcPr>
                </a:tc>
                <a:extLst>
                  <a:ext uri="{0D108BD9-81ED-4DB2-BD59-A6C34878D82A}">
                    <a16:rowId xmlns:a16="http://schemas.microsoft.com/office/drawing/2014/main" val="644922632"/>
                  </a:ext>
                </a:extLst>
              </a:tr>
            </a:tbl>
          </a:graphicData>
        </a:graphic>
      </p:graphicFrame>
    </p:spTree>
    <p:extLst>
      <p:ext uri="{BB962C8B-B14F-4D97-AF65-F5344CB8AC3E}">
        <p14:creationId xmlns:p14="http://schemas.microsoft.com/office/powerpoint/2010/main" val="33748754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70EE89-8274-4D69-80B2-568421BB842C}"/>
              </a:ext>
            </a:extLst>
          </p:cNvPr>
          <p:cNvSpPr>
            <a:spLocks noGrp="1"/>
          </p:cNvSpPr>
          <p:nvPr>
            <p:ph type="title"/>
          </p:nvPr>
        </p:nvSpPr>
        <p:spPr/>
        <p:txBody>
          <a:bodyPr/>
          <a:lstStyle/>
          <a:p>
            <a:r>
              <a:rPr lang="en-US" dirty="0"/>
              <a:t>Scheduling Algorithms</a:t>
            </a:r>
          </a:p>
        </p:txBody>
      </p:sp>
    </p:spTree>
    <p:extLst>
      <p:ext uri="{BB962C8B-B14F-4D97-AF65-F5344CB8AC3E}">
        <p14:creationId xmlns:p14="http://schemas.microsoft.com/office/powerpoint/2010/main" val="15980691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Rectangle 2"/>
          <p:cNvSpPr>
            <a:spLocks noGrp="1" noChangeArrowheads="1"/>
          </p:cNvSpPr>
          <p:nvPr>
            <p:ph type="title"/>
          </p:nvPr>
        </p:nvSpPr>
        <p:spPr>
          <a:xfrm>
            <a:off x="838200" y="47625"/>
            <a:ext cx="10515600" cy="1325563"/>
          </a:xfrm>
        </p:spPr>
        <p:txBody>
          <a:bodyPr/>
          <a:lstStyle/>
          <a:p>
            <a:r>
              <a:rPr lang="en-US"/>
              <a:t>First Come First Serve Scheduling</a:t>
            </a:r>
          </a:p>
        </p:txBody>
      </p:sp>
      <p:sp>
        <p:nvSpPr>
          <p:cNvPr id="32773" name="Rectangle 3"/>
          <p:cNvSpPr>
            <a:spLocks noGrp="1" noChangeArrowheads="1"/>
          </p:cNvSpPr>
          <p:nvPr>
            <p:ph idx="1"/>
          </p:nvPr>
        </p:nvSpPr>
        <p:spPr>
          <a:xfrm>
            <a:off x="838200" y="1419224"/>
            <a:ext cx="10515600" cy="4937126"/>
          </a:xfrm>
        </p:spPr>
        <p:txBody>
          <a:bodyPr>
            <a:normAutofit fontScale="77500" lnSpcReduction="20000"/>
          </a:bodyPr>
          <a:lstStyle/>
          <a:p>
            <a:r>
              <a:rPr lang="en-US"/>
              <a:t>The FCFS simply assign the processor to the process which is first in ready queue</a:t>
            </a:r>
          </a:p>
          <a:p>
            <a:r>
              <a:rPr lang="en-US"/>
              <a:t>When the processor is free, the next process at the head of the ready queue will be selected </a:t>
            </a:r>
          </a:p>
          <a:p>
            <a:r>
              <a:rPr lang="en-US"/>
              <a:t>Consider the following set of three processes that arrive at time ‘0’</a:t>
            </a:r>
          </a:p>
          <a:p>
            <a:pPr lvl="1"/>
            <a:r>
              <a:rPr lang="en-US"/>
              <a:t>Process ID		Priority		Burst Time</a:t>
            </a:r>
          </a:p>
          <a:p>
            <a:pPr lvl="1"/>
            <a:r>
              <a:rPr lang="en-US"/>
              <a:t>P1			2		30 ms</a:t>
            </a:r>
          </a:p>
          <a:p>
            <a:pPr lvl="1"/>
            <a:r>
              <a:rPr lang="en-US"/>
              <a:t>P2			3		6 ms</a:t>
            </a:r>
          </a:p>
          <a:p>
            <a:pPr lvl="1"/>
            <a:r>
              <a:rPr lang="en-US"/>
              <a:t>P3			1		4 ms</a:t>
            </a:r>
          </a:p>
          <a:p>
            <a:endParaRPr lang="en-US"/>
          </a:p>
          <a:p>
            <a:endParaRPr lang="en-US"/>
          </a:p>
          <a:p>
            <a:endParaRPr lang="en-US"/>
          </a:p>
          <a:p>
            <a:r>
              <a:rPr lang="en-US"/>
              <a:t>The waiting time for each process is P1=0, P2=30, P3=36</a:t>
            </a:r>
          </a:p>
          <a:p>
            <a:r>
              <a:rPr lang="en-US"/>
              <a:t>The average waiting time is (0+30+36)/3 = 22ms</a:t>
            </a:r>
          </a:p>
          <a:p>
            <a:r>
              <a:rPr lang="en-US"/>
              <a:t>The average waiting time of FCFS may vary substantially if the process’s CPU burst time vary greatly</a:t>
            </a:r>
            <a:endParaRPr lang="en-US" dirty="0"/>
          </a:p>
        </p:txBody>
      </p:sp>
      <p:grpSp>
        <p:nvGrpSpPr>
          <p:cNvPr id="4" name="Group 18">
            <a:extLst>
              <a:ext uri="{FF2B5EF4-FFF2-40B4-BE49-F238E27FC236}">
                <a16:creationId xmlns:a16="http://schemas.microsoft.com/office/drawing/2014/main" id="{9DA77EAE-FB15-4B92-AC8D-5BFB78F18663}"/>
              </a:ext>
            </a:extLst>
          </p:cNvPr>
          <p:cNvGrpSpPr>
            <a:grpSpLocks/>
          </p:cNvGrpSpPr>
          <p:nvPr/>
        </p:nvGrpSpPr>
        <p:grpSpPr bwMode="auto">
          <a:xfrm>
            <a:off x="2216909" y="3887787"/>
            <a:ext cx="7015091" cy="895628"/>
            <a:chOff x="882" y="2688"/>
            <a:chExt cx="3321" cy="733"/>
          </a:xfrm>
        </p:grpSpPr>
        <p:sp>
          <p:nvSpPr>
            <p:cNvPr id="5" name="Rectangle 4">
              <a:extLst>
                <a:ext uri="{FF2B5EF4-FFF2-40B4-BE49-F238E27FC236}">
                  <a16:creationId xmlns:a16="http://schemas.microsoft.com/office/drawing/2014/main" id="{BE5539EA-62E4-434F-BAD9-0A7A91778B90}"/>
                </a:ext>
              </a:extLst>
            </p:cNvPr>
            <p:cNvSpPr>
              <a:spLocks noChangeArrowheads="1"/>
            </p:cNvSpPr>
            <p:nvPr/>
          </p:nvSpPr>
          <p:spPr bwMode="auto">
            <a:xfrm>
              <a:off x="960" y="2688"/>
              <a:ext cx="3135" cy="384"/>
            </a:xfrm>
            <a:prstGeom prst="rect">
              <a:avLst/>
            </a:prstGeom>
            <a:solidFill>
              <a:schemeClr val="accent6">
                <a:lumMod val="40000"/>
                <a:lumOff val="60000"/>
              </a:schemeClr>
            </a:solidFill>
            <a:ln w="9525">
              <a:solidFill>
                <a:schemeClr val="tx1"/>
              </a:solidFill>
              <a:miter lim="800000"/>
              <a:headEnd/>
              <a:tailEnd/>
            </a:ln>
          </p:spPr>
          <p:txBody>
            <a:bodyPr wrap="none" anchor="ctr"/>
            <a:lstStyle>
              <a:lvl1pPr>
                <a:defRPr sz="2400">
                  <a:solidFill>
                    <a:schemeClr val="tx1"/>
                  </a:solidFill>
                  <a:latin typeface="Verdana" panose="020B0604030504040204" pitchFamily="34" charset="0"/>
                  <a:ea typeface="MS PGothic" panose="020B0600070205080204" pitchFamily="34" charset="-128"/>
                </a:defRPr>
              </a:lvl1pPr>
              <a:lvl2pPr marL="742950" indent="-285750">
                <a:defRPr sz="2400">
                  <a:solidFill>
                    <a:schemeClr val="tx1"/>
                  </a:solidFill>
                  <a:latin typeface="Verdana" panose="020B0604030504040204" pitchFamily="34" charset="0"/>
                  <a:ea typeface="MS PGothic" panose="020B0600070205080204" pitchFamily="34" charset="-128"/>
                </a:defRPr>
              </a:lvl2pPr>
              <a:lvl3pPr marL="1143000" indent="-228600">
                <a:defRPr sz="2400">
                  <a:solidFill>
                    <a:schemeClr val="tx1"/>
                  </a:solidFill>
                  <a:latin typeface="Verdana" panose="020B0604030504040204" pitchFamily="34" charset="0"/>
                  <a:ea typeface="MS PGothic" panose="020B0600070205080204" pitchFamily="34" charset="-128"/>
                </a:defRPr>
              </a:lvl3pPr>
              <a:lvl4pPr marL="1600200" indent="-228600">
                <a:defRPr sz="2400">
                  <a:solidFill>
                    <a:schemeClr val="tx1"/>
                  </a:solidFill>
                  <a:latin typeface="Verdana" panose="020B0604030504040204" pitchFamily="34" charset="0"/>
                  <a:ea typeface="MS PGothic" panose="020B0600070205080204" pitchFamily="34" charset="-128"/>
                </a:defRPr>
              </a:lvl4pPr>
              <a:lvl5pPr marL="2057400" indent="-228600">
                <a:defRPr sz="2400">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9pPr>
            </a:lstStyle>
            <a:p>
              <a:endParaRPr lang="en-US" altLang="en-US" sz="1400"/>
            </a:p>
          </p:txBody>
        </p:sp>
        <p:sp>
          <p:nvSpPr>
            <p:cNvPr id="6" name="Text Box 5">
              <a:extLst>
                <a:ext uri="{FF2B5EF4-FFF2-40B4-BE49-F238E27FC236}">
                  <a16:creationId xmlns:a16="http://schemas.microsoft.com/office/drawing/2014/main" id="{22380A47-6A48-4FE4-828F-AC158639D932}"/>
                </a:ext>
              </a:extLst>
            </p:cNvPr>
            <p:cNvSpPr txBox="1">
              <a:spLocks noChangeArrowheads="1"/>
            </p:cNvSpPr>
            <p:nvPr/>
          </p:nvSpPr>
          <p:spPr bwMode="auto">
            <a:xfrm>
              <a:off x="1814" y="2712"/>
              <a:ext cx="188" cy="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Verdana" panose="020B0604030504040204" pitchFamily="34" charset="0"/>
                  <a:ea typeface="MS PGothic" panose="020B0600070205080204" pitchFamily="34" charset="-128"/>
                </a:defRPr>
              </a:lvl1pPr>
              <a:lvl2pPr marL="742950" indent="-285750">
                <a:defRPr sz="2400">
                  <a:solidFill>
                    <a:schemeClr val="tx1"/>
                  </a:solidFill>
                  <a:latin typeface="Verdana" panose="020B0604030504040204" pitchFamily="34" charset="0"/>
                  <a:ea typeface="MS PGothic" panose="020B0600070205080204" pitchFamily="34" charset="-128"/>
                </a:defRPr>
              </a:lvl2pPr>
              <a:lvl3pPr marL="1143000" indent="-228600">
                <a:defRPr sz="2400">
                  <a:solidFill>
                    <a:schemeClr val="tx1"/>
                  </a:solidFill>
                  <a:latin typeface="Verdana" panose="020B0604030504040204" pitchFamily="34" charset="0"/>
                  <a:ea typeface="MS PGothic" panose="020B0600070205080204" pitchFamily="34" charset="-128"/>
                </a:defRPr>
              </a:lvl3pPr>
              <a:lvl4pPr marL="1600200" indent="-228600">
                <a:defRPr sz="2400">
                  <a:solidFill>
                    <a:schemeClr val="tx1"/>
                  </a:solidFill>
                  <a:latin typeface="Verdana" panose="020B0604030504040204" pitchFamily="34" charset="0"/>
                  <a:ea typeface="MS PGothic" panose="020B0600070205080204" pitchFamily="34" charset="-128"/>
                </a:defRPr>
              </a:lvl4pPr>
              <a:lvl5pPr marL="2057400" indent="-228600">
                <a:defRPr sz="2400">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9pPr>
            </a:lstStyle>
            <a:p>
              <a:pPr algn="ctr">
                <a:spcBef>
                  <a:spcPct val="50000"/>
                </a:spcBef>
              </a:pPr>
              <a:r>
                <a:rPr lang="en-US" altLang="en-US" sz="1600" b="1" dirty="0">
                  <a:latin typeface="Helvetica" panose="020B0604020202020204" pitchFamily="34" charset="0"/>
                </a:rPr>
                <a:t>P</a:t>
              </a:r>
              <a:r>
                <a:rPr lang="en-US" altLang="en-US" sz="1600" b="1" baseline="-25000" dirty="0">
                  <a:latin typeface="Helvetica" panose="020B0604020202020204" pitchFamily="34" charset="0"/>
                </a:rPr>
                <a:t>1</a:t>
              </a:r>
              <a:endParaRPr lang="en-US" altLang="en-US" sz="1600" b="1" dirty="0">
                <a:latin typeface="Helvetica" panose="020B0604020202020204" pitchFamily="34" charset="0"/>
              </a:endParaRPr>
            </a:p>
          </p:txBody>
        </p:sp>
        <p:sp>
          <p:nvSpPr>
            <p:cNvPr id="7" name="Text Box 6">
              <a:extLst>
                <a:ext uri="{FF2B5EF4-FFF2-40B4-BE49-F238E27FC236}">
                  <a16:creationId xmlns:a16="http://schemas.microsoft.com/office/drawing/2014/main" id="{B15FD380-EF0C-4BA4-8572-14B5E5403D63}"/>
                </a:ext>
              </a:extLst>
            </p:cNvPr>
            <p:cNvSpPr txBox="1">
              <a:spLocks noChangeArrowheads="1"/>
            </p:cNvSpPr>
            <p:nvPr/>
          </p:nvSpPr>
          <p:spPr bwMode="auto">
            <a:xfrm>
              <a:off x="3302" y="2712"/>
              <a:ext cx="188" cy="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Verdana" panose="020B0604030504040204" pitchFamily="34" charset="0"/>
                  <a:ea typeface="MS PGothic" panose="020B0600070205080204" pitchFamily="34" charset="-128"/>
                </a:defRPr>
              </a:lvl1pPr>
              <a:lvl2pPr marL="742950" indent="-285750">
                <a:defRPr sz="2400">
                  <a:solidFill>
                    <a:schemeClr val="tx1"/>
                  </a:solidFill>
                  <a:latin typeface="Verdana" panose="020B0604030504040204" pitchFamily="34" charset="0"/>
                  <a:ea typeface="MS PGothic" panose="020B0600070205080204" pitchFamily="34" charset="-128"/>
                </a:defRPr>
              </a:lvl2pPr>
              <a:lvl3pPr marL="1143000" indent="-228600">
                <a:defRPr sz="2400">
                  <a:solidFill>
                    <a:schemeClr val="tx1"/>
                  </a:solidFill>
                  <a:latin typeface="Verdana" panose="020B0604030504040204" pitchFamily="34" charset="0"/>
                  <a:ea typeface="MS PGothic" panose="020B0600070205080204" pitchFamily="34" charset="-128"/>
                </a:defRPr>
              </a:lvl3pPr>
              <a:lvl4pPr marL="1600200" indent="-228600">
                <a:defRPr sz="2400">
                  <a:solidFill>
                    <a:schemeClr val="tx1"/>
                  </a:solidFill>
                  <a:latin typeface="Verdana" panose="020B0604030504040204" pitchFamily="34" charset="0"/>
                  <a:ea typeface="MS PGothic" panose="020B0600070205080204" pitchFamily="34" charset="-128"/>
                </a:defRPr>
              </a:lvl4pPr>
              <a:lvl5pPr marL="2057400" indent="-228600">
                <a:defRPr sz="2400">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9pPr>
            </a:lstStyle>
            <a:p>
              <a:pPr algn="ctr">
                <a:spcBef>
                  <a:spcPct val="50000"/>
                </a:spcBef>
              </a:pPr>
              <a:r>
                <a:rPr lang="en-US" altLang="en-US" sz="1600" b="1" dirty="0">
                  <a:latin typeface="Helvetica" panose="020B0604020202020204" pitchFamily="34" charset="0"/>
                </a:rPr>
                <a:t>P</a:t>
              </a:r>
              <a:r>
                <a:rPr lang="en-US" altLang="en-US" sz="1600" b="1" baseline="-25000" dirty="0">
                  <a:latin typeface="Helvetica" panose="020B0604020202020204" pitchFamily="34" charset="0"/>
                </a:rPr>
                <a:t>2</a:t>
              </a:r>
              <a:endParaRPr lang="en-US" altLang="en-US" sz="1600" b="1" dirty="0">
                <a:latin typeface="Helvetica" panose="020B0604020202020204" pitchFamily="34" charset="0"/>
              </a:endParaRPr>
            </a:p>
          </p:txBody>
        </p:sp>
        <p:sp>
          <p:nvSpPr>
            <p:cNvPr id="8" name="Text Box 7">
              <a:extLst>
                <a:ext uri="{FF2B5EF4-FFF2-40B4-BE49-F238E27FC236}">
                  <a16:creationId xmlns:a16="http://schemas.microsoft.com/office/drawing/2014/main" id="{23A9B5A0-9862-4D1E-A89C-3C535D20C3BB}"/>
                </a:ext>
              </a:extLst>
            </p:cNvPr>
            <p:cNvSpPr txBox="1">
              <a:spLocks noChangeArrowheads="1"/>
            </p:cNvSpPr>
            <p:nvPr/>
          </p:nvSpPr>
          <p:spPr bwMode="auto">
            <a:xfrm>
              <a:off x="3648" y="2712"/>
              <a:ext cx="418" cy="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sz="2400">
                  <a:solidFill>
                    <a:schemeClr val="tx1"/>
                  </a:solidFill>
                  <a:latin typeface="Verdana" panose="020B0604030504040204" pitchFamily="34" charset="0"/>
                  <a:ea typeface="MS PGothic" panose="020B0600070205080204" pitchFamily="34" charset="-128"/>
                </a:defRPr>
              </a:lvl1pPr>
              <a:lvl2pPr marL="742950" indent="-285750">
                <a:defRPr sz="2400">
                  <a:solidFill>
                    <a:schemeClr val="tx1"/>
                  </a:solidFill>
                  <a:latin typeface="Verdana" panose="020B0604030504040204" pitchFamily="34" charset="0"/>
                  <a:ea typeface="MS PGothic" panose="020B0600070205080204" pitchFamily="34" charset="-128"/>
                </a:defRPr>
              </a:lvl2pPr>
              <a:lvl3pPr marL="1143000" indent="-228600">
                <a:defRPr sz="2400">
                  <a:solidFill>
                    <a:schemeClr val="tx1"/>
                  </a:solidFill>
                  <a:latin typeface="Verdana" panose="020B0604030504040204" pitchFamily="34" charset="0"/>
                  <a:ea typeface="MS PGothic" panose="020B0600070205080204" pitchFamily="34" charset="-128"/>
                </a:defRPr>
              </a:lvl3pPr>
              <a:lvl4pPr marL="1600200" indent="-228600">
                <a:defRPr sz="2400">
                  <a:solidFill>
                    <a:schemeClr val="tx1"/>
                  </a:solidFill>
                  <a:latin typeface="Verdana" panose="020B0604030504040204" pitchFamily="34" charset="0"/>
                  <a:ea typeface="MS PGothic" panose="020B0600070205080204" pitchFamily="34" charset="-128"/>
                </a:defRPr>
              </a:lvl4pPr>
              <a:lvl5pPr marL="2057400" indent="-228600">
                <a:defRPr sz="2400">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9pPr>
            </a:lstStyle>
            <a:p>
              <a:pPr algn="ctr">
                <a:spcBef>
                  <a:spcPct val="50000"/>
                </a:spcBef>
              </a:pPr>
              <a:r>
                <a:rPr lang="en-US" altLang="en-US" sz="1600" b="1" dirty="0">
                  <a:latin typeface="Helvetica" panose="020B0604020202020204" pitchFamily="34" charset="0"/>
                </a:rPr>
                <a:t>P</a:t>
              </a:r>
              <a:r>
                <a:rPr lang="en-US" altLang="en-US" sz="1600" b="1" baseline="-25000" dirty="0">
                  <a:latin typeface="Helvetica" panose="020B0604020202020204" pitchFamily="34" charset="0"/>
                </a:rPr>
                <a:t>3</a:t>
              </a:r>
              <a:endParaRPr lang="en-US" altLang="en-US" sz="1600" b="1" dirty="0">
                <a:latin typeface="Helvetica" panose="020B0604020202020204" pitchFamily="34" charset="0"/>
              </a:endParaRPr>
            </a:p>
          </p:txBody>
        </p:sp>
        <p:sp>
          <p:nvSpPr>
            <p:cNvPr id="9" name="Line 8">
              <a:extLst>
                <a:ext uri="{FF2B5EF4-FFF2-40B4-BE49-F238E27FC236}">
                  <a16:creationId xmlns:a16="http://schemas.microsoft.com/office/drawing/2014/main" id="{D290F734-D116-489B-B6A3-1DBC74619116}"/>
                </a:ext>
              </a:extLst>
            </p:cNvPr>
            <p:cNvSpPr>
              <a:spLocks noChangeShapeType="1"/>
            </p:cNvSpPr>
            <p:nvPr/>
          </p:nvSpPr>
          <p:spPr bwMode="auto">
            <a:xfrm>
              <a:off x="960" y="3072"/>
              <a:ext cx="0"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sz="1400"/>
            </a:p>
          </p:txBody>
        </p:sp>
        <p:sp>
          <p:nvSpPr>
            <p:cNvPr id="10" name="Line 9">
              <a:extLst>
                <a:ext uri="{FF2B5EF4-FFF2-40B4-BE49-F238E27FC236}">
                  <a16:creationId xmlns:a16="http://schemas.microsoft.com/office/drawing/2014/main" id="{D0A675DE-529E-4A99-AAC9-F23CF8E8A783}"/>
                </a:ext>
              </a:extLst>
            </p:cNvPr>
            <p:cNvSpPr>
              <a:spLocks noChangeShapeType="1"/>
            </p:cNvSpPr>
            <p:nvPr/>
          </p:nvSpPr>
          <p:spPr bwMode="auto">
            <a:xfrm>
              <a:off x="4095" y="3072"/>
              <a:ext cx="0"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sz="1400"/>
            </a:p>
          </p:txBody>
        </p:sp>
        <p:sp>
          <p:nvSpPr>
            <p:cNvPr id="11" name="Line 10">
              <a:extLst>
                <a:ext uri="{FF2B5EF4-FFF2-40B4-BE49-F238E27FC236}">
                  <a16:creationId xmlns:a16="http://schemas.microsoft.com/office/drawing/2014/main" id="{36C9D7D8-CEF8-464F-8310-F6E7FDA8CAE0}"/>
                </a:ext>
              </a:extLst>
            </p:cNvPr>
            <p:cNvSpPr>
              <a:spLocks noChangeShapeType="1"/>
            </p:cNvSpPr>
            <p:nvPr/>
          </p:nvSpPr>
          <p:spPr bwMode="auto">
            <a:xfrm>
              <a:off x="3072" y="2688"/>
              <a:ext cx="0" cy="3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sz="1400"/>
            </a:p>
          </p:txBody>
        </p:sp>
        <p:sp>
          <p:nvSpPr>
            <p:cNvPr id="12" name="Line 11">
              <a:extLst>
                <a:ext uri="{FF2B5EF4-FFF2-40B4-BE49-F238E27FC236}">
                  <a16:creationId xmlns:a16="http://schemas.microsoft.com/office/drawing/2014/main" id="{DBB87EC0-BC25-4349-AFE1-B5E61952F626}"/>
                </a:ext>
              </a:extLst>
            </p:cNvPr>
            <p:cNvSpPr>
              <a:spLocks noChangeShapeType="1"/>
            </p:cNvSpPr>
            <p:nvPr/>
          </p:nvSpPr>
          <p:spPr bwMode="auto">
            <a:xfrm>
              <a:off x="3648" y="2688"/>
              <a:ext cx="0" cy="3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sz="1400" dirty="0"/>
            </a:p>
          </p:txBody>
        </p:sp>
        <p:sp>
          <p:nvSpPr>
            <p:cNvPr id="13" name="Line 12">
              <a:extLst>
                <a:ext uri="{FF2B5EF4-FFF2-40B4-BE49-F238E27FC236}">
                  <a16:creationId xmlns:a16="http://schemas.microsoft.com/office/drawing/2014/main" id="{F064BFDE-9001-4808-AEF0-7326DA8887CC}"/>
                </a:ext>
              </a:extLst>
            </p:cNvPr>
            <p:cNvSpPr>
              <a:spLocks noChangeShapeType="1"/>
            </p:cNvSpPr>
            <p:nvPr/>
          </p:nvSpPr>
          <p:spPr bwMode="auto">
            <a:xfrm>
              <a:off x="3072" y="3072"/>
              <a:ext cx="0"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sz="1400"/>
            </a:p>
          </p:txBody>
        </p:sp>
        <p:sp>
          <p:nvSpPr>
            <p:cNvPr id="14" name="Line 13">
              <a:extLst>
                <a:ext uri="{FF2B5EF4-FFF2-40B4-BE49-F238E27FC236}">
                  <a16:creationId xmlns:a16="http://schemas.microsoft.com/office/drawing/2014/main" id="{F5F8E43A-4085-4B06-AF0D-694B1A45E796}"/>
                </a:ext>
              </a:extLst>
            </p:cNvPr>
            <p:cNvSpPr>
              <a:spLocks noChangeShapeType="1"/>
            </p:cNvSpPr>
            <p:nvPr/>
          </p:nvSpPr>
          <p:spPr bwMode="auto">
            <a:xfrm>
              <a:off x="3648" y="3072"/>
              <a:ext cx="0"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sz="1400"/>
            </a:p>
          </p:txBody>
        </p:sp>
        <p:sp>
          <p:nvSpPr>
            <p:cNvPr id="15" name="Text Box 14">
              <a:extLst>
                <a:ext uri="{FF2B5EF4-FFF2-40B4-BE49-F238E27FC236}">
                  <a16:creationId xmlns:a16="http://schemas.microsoft.com/office/drawing/2014/main" id="{8BAE87C2-DCF1-4F9D-ABAB-73E96C0A9EF5}"/>
                </a:ext>
              </a:extLst>
            </p:cNvPr>
            <p:cNvSpPr txBox="1">
              <a:spLocks noChangeArrowheads="1"/>
            </p:cNvSpPr>
            <p:nvPr/>
          </p:nvSpPr>
          <p:spPr bwMode="auto">
            <a:xfrm>
              <a:off x="2968" y="3144"/>
              <a:ext cx="195" cy="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Verdana" panose="020B0604030504040204" pitchFamily="34" charset="0"/>
                  <a:ea typeface="MS PGothic" panose="020B0600070205080204" pitchFamily="34" charset="-128"/>
                </a:defRPr>
              </a:lvl1pPr>
              <a:lvl2pPr marL="742950" indent="-285750">
                <a:defRPr sz="2400">
                  <a:solidFill>
                    <a:schemeClr val="tx1"/>
                  </a:solidFill>
                  <a:latin typeface="Verdana" panose="020B0604030504040204" pitchFamily="34" charset="0"/>
                  <a:ea typeface="MS PGothic" panose="020B0600070205080204" pitchFamily="34" charset="-128"/>
                </a:defRPr>
              </a:lvl2pPr>
              <a:lvl3pPr marL="1143000" indent="-228600">
                <a:defRPr sz="2400">
                  <a:solidFill>
                    <a:schemeClr val="tx1"/>
                  </a:solidFill>
                  <a:latin typeface="Verdana" panose="020B0604030504040204" pitchFamily="34" charset="0"/>
                  <a:ea typeface="MS PGothic" panose="020B0600070205080204" pitchFamily="34" charset="-128"/>
                </a:defRPr>
              </a:lvl3pPr>
              <a:lvl4pPr marL="1600200" indent="-228600">
                <a:defRPr sz="2400">
                  <a:solidFill>
                    <a:schemeClr val="tx1"/>
                  </a:solidFill>
                  <a:latin typeface="Verdana" panose="020B0604030504040204" pitchFamily="34" charset="0"/>
                  <a:ea typeface="MS PGothic" panose="020B0600070205080204" pitchFamily="34" charset="-128"/>
                </a:defRPr>
              </a:lvl4pPr>
              <a:lvl5pPr marL="2057400" indent="-228600">
                <a:defRPr sz="2400">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9pPr>
            </a:lstStyle>
            <a:p>
              <a:pPr algn="ctr">
                <a:spcBef>
                  <a:spcPct val="50000"/>
                </a:spcBef>
              </a:pPr>
              <a:r>
                <a:rPr lang="en-US" altLang="en-US" sz="1600" dirty="0">
                  <a:latin typeface="Helvetica" panose="020B0604020202020204" pitchFamily="34" charset="0"/>
                </a:rPr>
                <a:t>30</a:t>
              </a:r>
            </a:p>
          </p:txBody>
        </p:sp>
        <p:sp>
          <p:nvSpPr>
            <p:cNvPr id="16" name="Text Box 15">
              <a:extLst>
                <a:ext uri="{FF2B5EF4-FFF2-40B4-BE49-F238E27FC236}">
                  <a16:creationId xmlns:a16="http://schemas.microsoft.com/office/drawing/2014/main" id="{6A7A9B5C-C4F9-4149-997E-E8055676D57D}"/>
                </a:ext>
              </a:extLst>
            </p:cNvPr>
            <p:cNvSpPr txBox="1">
              <a:spLocks noChangeArrowheads="1"/>
            </p:cNvSpPr>
            <p:nvPr/>
          </p:nvSpPr>
          <p:spPr bwMode="auto">
            <a:xfrm>
              <a:off x="3544" y="3144"/>
              <a:ext cx="195" cy="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Verdana" panose="020B0604030504040204" pitchFamily="34" charset="0"/>
                  <a:ea typeface="MS PGothic" panose="020B0600070205080204" pitchFamily="34" charset="-128"/>
                </a:defRPr>
              </a:lvl1pPr>
              <a:lvl2pPr marL="742950" indent="-285750">
                <a:defRPr sz="2400">
                  <a:solidFill>
                    <a:schemeClr val="tx1"/>
                  </a:solidFill>
                  <a:latin typeface="Verdana" panose="020B0604030504040204" pitchFamily="34" charset="0"/>
                  <a:ea typeface="MS PGothic" panose="020B0600070205080204" pitchFamily="34" charset="-128"/>
                </a:defRPr>
              </a:lvl2pPr>
              <a:lvl3pPr marL="1143000" indent="-228600">
                <a:defRPr sz="2400">
                  <a:solidFill>
                    <a:schemeClr val="tx1"/>
                  </a:solidFill>
                  <a:latin typeface="Verdana" panose="020B0604030504040204" pitchFamily="34" charset="0"/>
                  <a:ea typeface="MS PGothic" panose="020B0600070205080204" pitchFamily="34" charset="-128"/>
                </a:defRPr>
              </a:lvl3pPr>
              <a:lvl4pPr marL="1600200" indent="-228600">
                <a:defRPr sz="2400">
                  <a:solidFill>
                    <a:schemeClr val="tx1"/>
                  </a:solidFill>
                  <a:latin typeface="Verdana" panose="020B0604030504040204" pitchFamily="34" charset="0"/>
                  <a:ea typeface="MS PGothic" panose="020B0600070205080204" pitchFamily="34" charset="-128"/>
                </a:defRPr>
              </a:lvl4pPr>
              <a:lvl5pPr marL="2057400" indent="-228600">
                <a:defRPr sz="2400">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9pPr>
            </a:lstStyle>
            <a:p>
              <a:pPr algn="ctr">
                <a:spcBef>
                  <a:spcPct val="50000"/>
                </a:spcBef>
              </a:pPr>
              <a:r>
                <a:rPr lang="en-US" altLang="en-US" sz="1600" dirty="0">
                  <a:latin typeface="Helvetica" panose="020B0604020202020204" pitchFamily="34" charset="0"/>
                </a:rPr>
                <a:t>36</a:t>
              </a:r>
            </a:p>
          </p:txBody>
        </p:sp>
        <p:sp>
          <p:nvSpPr>
            <p:cNvPr id="17" name="Text Box 16">
              <a:extLst>
                <a:ext uri="{FF2B5EF4-FFF2-40B4-BE49-F238E27FC236}">
                  <a16:creationId xmlns:a16="http://schemas.microsoft.com/office/drawing/2014/main" id="{9FA86745-5389-48F1-880D-9E64CD4150AA}"/>
                </a:ext>
              </a:extLst>
            </p:cNvPr>
            <p:cNvSpPr txBox="1">
              <a:spLocks noChangeArrowheads="1"/>
            </p:cNvSpPr>
            <p:nvPr/>
          </p:nvSpPr>
          <p:spPr bwMode="auto">
            <a:xfrm>
              <a:off x="4008" y="3144"/>
              <a:ext cx="195" cy="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Verdana" panose="020B0604030504040204" pitchFamily="34" charset="0"/>
                  <a:ea typeface="MS PGothic" panose="020B0600070205080204" pitchFamily="34" charset="-128"/>
                </a:defRPr>
              </a:lvl1pPr>
              <a:lvl2pPr marL="742950" indent="-285750">
                <a:defRPr sz="2400">
                  <a:solidFill>
                    <a:schemeClr val="tx1"/>
                  </a:solidFill>
                  <a:latin typeface="Verdana" panose="020B0604030504040204" pitchFamily="34" charset="0"/>
                  <a:ea typeface="MS PGothic" panose="020B0600070205080204" pitchFamily="34" charset="-128"/>
                </a:defRPr>
              </a:lvl2pPr>
              <a:lvl3pPr marL="1143000" indent="-228600">
                <a:defRPr sz="2400">
                  <a:solidFill>
                    <a:schemeClr val="tx1"/>
                  </a:solidFill>
                  <a:latin typeface="Verdana" panose="020B0604030504040204" pitchFamily="34" charset="0"/>
                  <a:ea typeface="MS PGothic" panose="020B0600070205080204" pitchFamily="34" charset="-128"/>
                </a:defRPr>
              </a:lvl3pPr>
              <a:lvl4pPr marL="1600200" indent="-228600">
                <a:defRPr sz="2400">
                  <a:solidFill>
                    <a:schemeClr val="tx1"/>
                  </a:solidFill>
                  <a:latin typeface="Verdana" panose="020B0604030504040204" pitchFamily="34" charset="0"/>
                  <a:ea typeface="MS PGothic" panose="020B0600070205080204" pitchFamily="34" charset="-128"/>
                </a:defRPr>
              </a:lvl4pPr>
              <a:lvl5pPr marL="2057400" indent="-228600">
                <a:defRPr sz="2400">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9pPr>
            </a:lstStyle>
            <a:p>
              <a:pPr algn="ctr">
                <a:spcBef>
                  <a:spcPct val="50000"/>
                </a:spcBef>
              </a:pPr>
              <a:r>
                <a:rPr lang="en-US" altLang="en-US" sz="1600" dirty="0">
                  <a:latin typeface="Helvetica" panose="020B0604020202020204" pitchFamily="34" charset="0"/>
                </a:rPr>
                <a:t>40</a:t>
              </a:r>
            </a:p>
          </p:txBody>
        </p:sp>
        <p:sp>
          <p:nvSpPr>
            <p:cNvPr id="18" name="Text Box 17">
              <a:extLst>
                <a:ext uri="{FF2B5EF4-FFF2-40B4-BE49-F238E27FC236}">
                  <a16:creationId xmlns:a16="http://schemas.microsoft.com/office/drawing/2014/main" id="{9F513E9F-876C-4EDF-B106-E516FBEA33CE}"/>
                </a:ext>
              </a:extLst>
            </p:cNvPr>
            <p:cNvSpPr txBox="1">
              <a:spLocks noChangeArrowheads="1"/>
            </p:cNvSpPr>
            <p:nvPr/>
          </p:nvSpPr>
          <p:spPr bwMode="auto">
            <a:xfrm>
              <a:off x="882" y="3144"/>
              <a:ext cx="141" cy="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Verdana" panose="020B0604030504040204" pitchFamily="34" charset="0"/>
                  <a:ea typeface="MS PGothic" panose="020B0600070205080204" pitchFamily="34" charset="-128"/>
                </a:defRPr>
              </a:lvl1pPr>
              <a:lvl2pPr marL="742950" indent="-285750">
                <a:defRPr sz="2400">
                  <a:solidFill>
                    <a:schemeClr val="tx1"/>
                  </a:solidFill>
                  <a:latin typeface="Verdana" panose="020B0604030504040204" pitchFamily="34" charset="0"/>
                  <a:ea typeface="MS PGothic" panose="020B0600070205080204" pitchFamily="34" charset="-128"/>
                </a:defRPr>
              </a:lvl2pPr>
              <a:lvl3pPr marL="1143000" indent="-228600">
                <a:defRPr sz="2400">
                  <a:solidFill>
                    <a:schemeClr val="tx1"/>
                  </a:solidFill>
                  <a:latin typeface="Verdana" panose="020B0604030504040204" pitchFamily="34" charset="0"/>
                  <a:ea typeface="MS PGothic" panose="020B0600070205080204" pitchFamily="34" charset="-128"/>
                </a:defRPr>
              </a:lvl3pPr>
              <a:lvl4pPr marL="1600200" indent="-228600">
                <a:defRPr sz="2400">
                  <a:solidFill>
                    <a:schemeClr val="tx1"/>
                  </a:solidFill>
                  <a:latin typeface="Verdana" panose="020B0604030504040204" pitchFamily="34" charset="0"/>
                  <a:ea typeface="MS PGothic" panose="020B0600070205080204" pitchFamily="34" charset="-128"/>
                </a:defRPr>
              </a:lvl4pPr>
              <a:lvl5pPr marL="2057400" indent="-228600">
                <a:defRPr sz="2400">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9pPr>
            </a:lstStyle>
            <a:p>
              <a:pPr algn="ctr">
                <a:spcBef>
                  <a:spcPct val="50000"/>
                </a:spcBef>
              </a:pPr>
              <a:r>
                <a:rPr lang="en-US" altLang="en-US" sz="1600">
                  <a:latin typeface="Helvetica" panose="020B0604020202020204" pitchFamily="34" charset="0"/>
                </a:rPr>
                <a:t>0</a:t>
              </a:r>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Rectangle 2"/>
          <p:cNvSpPr>
            <a:spLocks noGrp="1" noChangeArrowheads="1"/>
          </p:cNvSpPr>
          <p:nvPr>
            <p:ph type="title"/>
          </p:nvPr>
        </p:nvSpPr>
        <p:spPr>
          <a:xfrm>
            <a:off x="838200" y="47625"/>
            <a:ext cx="10515600" cy="1325563"/>
          </a:xfrm>
        </p:spPr>
        <p:txBody>
          <a:bodyPr/>
          <a:lstStyle/>
          <a:p>
            <a:r>
              <a:rPr lang="en-US"/>
              <a:t>First Come First Serve Scheduling</a:t>
            </a:r>
          </a:p>
        </p:txBody>
      </p:sp>
      <p:sp>
        <p:nvSpPr>
          <p:cNvPr id="33797" name="Rectangle 3"/>
          <p:cNvSpPr>
            <a:spLocks noGrp="1" noChangeArrowheads="1"/>
          </p:cNvSpPr>
          <p:nvPr>
            <p:ph idx="1"/>
          </p:nvPr>
        </p:nvSpPr>
        <p:spPr>
          <a:xfrm>
            <a:off x="838200" y="1419224"/>
            <a:ext cx="10515600" cy="4937126"/>
          </a:xfrm>
        </p:spPr>
        <p:txBody>
          <a:bodyPr/>
          <a:lstStyle/>
          <a:p>
            <a:r>
              <a:rPr lang="en-US"/>
              <a:t>Salient points of FCFS</a:t>
            </a:r>
          </a:p>
          <a:p>
            <a:pPr lvl="1"/>
            <a:r>
              <a:rPr lang="en-US"/>
              <a:t>It is the simplest scheduling algorithm</a:t>
            </a:r>
          </a:p>
          <a:p>
            <a:pPr lvl="1"/>
            <a:r>
              <a:rPr lang="en-US"/>
              <a:t>Also know as the first in first out (FIFO)</a:t>
            </a:r>
          </a:p>
          <a:p>
            <a:pPr lvl="1"/>
            <a:r>
              <a:rPr lang="en-US"/>
              <a:t>FCFS is non-preemptive</a:t>
            </a:r>
          </a:p>
          <a:p>
            <a:pPr lvl="1"/>
            <a:r>
              <a:rPr lang="en-US"/>
              <a:t>It performs much better for long processes than short processes</a:t>
            </a:r>
          </a:p>
          <a:p>
            <a:pPr lvl="1"/>
            <a:r>
              <a:rPr lang="en-US"/>
              <a:t>It tend to favor CPU-bond processes over I/O bound</a:t>
            </a:r>
          </a:p>
          <a:p>
            <a:pPr lvl="1"/>
            <a:r>
              <a:rPr lang="en-US"/>
              <a:t>It is not suitable for time sharing system</a:t>
            </a:r>
          </a:p>
          <a:p>
            <a:pPr lvl="1"/>
            <a:r>
              <a:rPr lang="en-US"/>
              <a:t>FCFS is rarely used on its own but is effective if combined with other scheme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2886" y="-104723"/>
            <a:ext cx="10515600" cy="1325563"/>
          </a:xfrm>
        </p:spPr>
        <p:txBody>
          <a:bodyPr/>
          <a:lstStyle/>
          <a:p>
            <a:r>
              <a:rPr lang="en-US" dirty="0" smtClean="0"/>
              <a:t>Practice Example (FCFS)</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273107220"/>
              </p:ext>
            </p:extLst>
          </p:nvPr>
        </p:nvGraphicFramePr>
        <p:xfrm>
          <a:off x="679104" y="1036221"/>
          <a:ext cx="10474236" cy="1583764"/>
        </p:xfrm>
        <a:graphic>
          <a:graphicData uri="http://schemas.openxmlformats.org/drawingml/2006/table">
            <a:tbl>
              <a:tblPr/>
              <a:tblGrid>
                <a:gridCol w="3491412">
                  <a:extLst>
                    <a:ext uri="{9D8B030D-6E8A-4147-A177-3AD203B41FA5}">
                      <a16:colId xmlns:a16="http://schemas.microsoft.com/office/drawing/2014/main" val="1290916439"/>
                    </a:ext>
                  </a:extLst>
                </a:gridCol>
                <a:gridCol w="3491412">
                  <a:extLst>
                    <a:ext uri="{9D8B030D-6E8A-4147-A177-3AD203B41FA5}">
                      <a16:colId xmlns:a16="http://schemas.microsoft.com/office/drawing/2014/main" val="3385507319"/>
                    </a:ext>
                  </a:extLst>
                </a:gridCol>
                <a:gridCol w="3491412">
                  <a:extLst>
                    <a:ext uri="{9D8B030D-6E8A-4147-A177-3AD203B41FA5}">
                      <a16:colId xmlns:a16="http://schemas.microsoft.com/office/drawing/2014/main" val="2240358595"/>
                    </a:ext>
                  </a:extLst>
                </a:gridCol>
              </a:tblGrid>
              <a:tr h="395941">
                <a:tc>
                  <a:txBody>
                    <a:bodyPr/>
                    <a:lstStyle/>
                    <a:p>
                      <a:r>
                        <a:rPr lang="en-US" b="1"/>
                        <a:t>Process</a:t>
                      </a:r>
                      <a:endParaRPr lang="en-US"/>
                    </a:p>
                  </a:txBody>
                  <a:tcPr anchor="ctr">
                    <a:lnL>
                      <a:noFill/>
                    </a:lnL>
                    <a:lnR>
                      <a:noFill/>
                    </a:lnR>
                    <a:lnT>
                      <a:noFill/>
                    </a:lnT>
                    <a:lnB>
                      <a:noFill/>
                    </a:lnB>
                  </a:tcPr>
                </a:tc>
                <a:tc>
                  <a:txBody>
                    <a:bodyPr/>
                    <a:lstStyle/>
                    <a:p>
                      <a:r>
                        <a:rPr lang="en-US" b="1"/>
                        <a:t>Arrival Time (ms)</a:t>
                      </a:r>
                      <a:endParaRPr lang="en-US"/>
                    </a:p>
                  </a:txBody>
                  <a:tcPr anchor="ctr">
                    <a:lnL>
                      <a:noFill/>
                    </a:lnL>
                    <a:lnR>
                      <a:noFill/>
                    </a:lnR>
                    <a:lnT>
                      <a:noFill/>
                    </a:lnT>
                    <a:lnB>
                      <a:noFill/>
                    </a:lnB>
                  </a:tcPr>
                </a:tc>
                <a:tc>
                  <a:txBody>
                    <a:bodyPr/>
                    <a:lstStyle/>
                    <a:p>
                      <a:r>
                        <a:rPr lang="en-US" b="1"/>
                        <a:t>Burst Time (ms)</a:t>
                      </a:r>
                      <a:endParaRPr lang="en-US"/>
                    </a:p>
                  </a:txBody>
                  <a:tcPr anchor="ctr">
                    <a:lnL>
                      <a:noFill/>
                    </a:lnL>
                    <a:lnR>
                      <a:noFill/>
                    </a:lnR>
                    <a:lnT>
                      <a:noFill/>
                    </a:lnT>
                    <a:lnB>
                      <a:noFill/>
                    </a:lnB>
                  </a:tcPr>
                </a:tc>
                <a:extLst>
                  <a:ext uri="{0D108BD9-81ED-4DB2-BD59-A6C34878D82A}">
                    <a16:rowId xmlns:a16="http://schemas.microsoft.com/office/drawing/2014/main" val="3449895420"/>
                  </a:ext>
                </a:extLst>
              </a:tr>
              <a:tr h="395941">
                <a:tc>
                  <a:txBody>
                    <a:bodyPr/>
                    <a:lstStyle/>
                    <a:p>
                      <a:r>
                        <a:rPr lang="en-US" dirty="0"/>
                        <a:t>P1</a:t>
                      </a:r>
                    </a:p>
                  </a:txBody>
                  <a:tcPr anchor="ctr">
                    <a:lnL>
                      <a:noFill/>
                    </a:lnL>
                    <a:lnR>
                      <a:noFill/>
                    </a:lnR>
                    <a:lnT>
                      <a:noFill/>
                    </a:lnT>
                    <a:lnB>
                      <a:noFill/>
                    </a:lnB>
                  </a:tcPr>
                </a:tc>
                <a:tc>
                  <a:txBody>
                    <a:bodyPr/>
                    <a:lstStyle/>
                    <a:p>
                      <a:r>
                        <a:rPr lang="en-US"/>
                        <a:t>0</a:t>
                      </a:r>
                    </a:p>
                  </a:txBody>
                  <a:tcPr anchor="ctr">
                    <a:lnL>
                      <a:noFill/>
                    </a:lnL>
                    <a:lnR>
                      <a:noFill/>
                    </a:lnR>
                    <a:lnT>
                      <a:noFill/>
                    </a:lnT>
                    <a:lnB>
                      <a:noFill/>
                    </a:lnB>
                  </a:tcPr>
                </a:tc>
                <a:tc>
                  <a:txBody>
                    <a:bodyPr/>
                    <a:lstStyle/>
                    <a:p>
                      <a:r>
                        <a:rPr lang="en-US"/>
                        <a:t>5</a:t>
                      </a:r>
                    </a:p>
                  </a:txBody>
                  <a:tcPr anchor="ctr">
                    <a:lnL>
                      <a:noFill/>
                    </a:lnL>
                    <a:lnR>
                      <a:noFill/>
                    </a:lnR>
                    <a:lnT>
                      <a:noFill/>
                    </a:lnT>
                    <a:lnB>
                      <a:noFill/>
                    </a:lnB>
                  </a:tcPr>
                </a:tc>
                <a:extLst>
                  <a:ext uri="{0D108BD9-81ED-4DB2-BD59-A6C34878D82A}">
                    <a16:rowId xmlns:a16="http://schemas.microsoft.com/office/drawing/2014/main" val="3543732008"/>
                  </a:ext>
                </a:extLst>
              </a:tr>
              <a:tr h="395941">
                <a:tc>
                  <a:txBody>
                    <a:bodyPr/>
                    <a:lstStyle/>
                    <a:p>
                      <a:r>
                        <a:rPr lang="en-US"/>
                        <a:t>P2</a:t>
                      </a:r>
                    </a:p>
                  </a:txBody>
                  <a:tcPr anchor="ctr">
                    <a:lnL>
                      <a:noFill/>
                    </a:lnL>
                    <a:lnR>
                      <a:noFill/>
                    </a:lnR>
                    <a:lnT>
                      <a:noFill/>
                    </a:lnT>
                    <a:lnB>
                      <a:noFill/>
                    </a:lnB>
                  </a:tcPr>
                </a:tc>
                <a:tc>
                  <a:txBody>
                    <a:bodyPr/>
                    <a:lstStyle/>
                    <a:p>
                      <a:r>
                        <a:rPr lang="en-US"/>
                        <a:t>2</a:t>
                      </a:r>
                    </a:p>
                  </a:txBody>
                  <a:tcPr anchor="ctr">
                    <a:lnL>
                      <a:noFill/>
                    </a:lnL>
                    <a:lnR>
                      <a:noFill/>
                    </a:lnR>
                    <a:lnT>
                      <a:noFill/>
                    </a:lnT>
                    <a:lnB>
                      <a:noFill/>
                    </a:lnB>
                  </a:tcPr>
                </a:tc>
                <a:tc>
                  <a:txBody>
                    <a:bodyPr/>
                    <a:lstStyle/>
                    <a:p>
                      <a:r>
                        <a:rPr lang="en-US"/>
                        <a:t>3</a:t>
                      </a:r>
                    </a:p>
                  </a:txBody>
                  <a:tcPr anchor="ctr">
                    <a:lnL>
                      <a:noFill/>
                    </a:lnL>
                    <a:lnR>
                      <a:noFill/>
                    </a:lnR>
                    <a:lnT>
                      <a:noFill/>
                    </a:lnT>
                    <a:lnB>
                      <a:noFill/>
                    </a:lnB>
                  </a:tcPr>
                </a:tc>
                <a:extLst>
                  <a:ext uri="{0D108BD9-81ED-4DB2-BD59-A6C34878D82A}">
                    <a16:rowId xmlns:a16="http://schemas.microsoft.com/office/drawing/2014/main" val="1126092830"/>
                  </a:ext>
                </a:extLst>
              </a:tr>
              <a:tr h="395941">
                <a:tc>
                  <a:txBody>
                    <a:bodyPr/>
                    <a:lstStyle/>
                    <a:p>
                      <a:r>
                        <a:rPr lang="en-US" dirty="0"/>
                        <a:t>P3</a:t>
                      </a:r>
                    </a:p>
                  </a:txBody>
                  <a:tcPr anchor="ctr">
                    <a:lnL>
                      <a:noFill/>
                    </a:lnL>
                    <a:lnR>
                      <a:noFill/>
                    </a:lnR>
                    <a:lnT>
                      <a:noFill/>
                    </a:lnT>
                    <a:lnB>
                      <a:noFill/>
                    </a:lnB>
                  </a:tcPr>
                </a:tc>
                <a:tc>
                  <a:txBody>
                    <a:bodyPr/>
                    <a:lstStyle/>
                    <a:p>
                      <a:r>
                        <a:rPr lang="en-US"/>
                        <a:t>4</a:t>
                      </a:r>
                    </a:p>
                  </a:txBody>
                  <a:tcPr anchor="ctr">
                    <a:lnL>
                      <a:noFill/>
                    </a:lnL>
                    <a:lnR>
                      <a:noFill/>
                    </a:lnR>
                    <a:lnT>
                      <a:noFill/>
                    </a:lnT>
                    <a:lnB>
                      <a:noFill/>
                    </a:lnB>
                  </a:tcPr>
                </a:tc>
                <a:tc>
                  <a:txBody>
                    <a:bodyPr/>
                    <a:lstStyle/>
                    <a:p>
                      <a:r>
                        <a:rPr lang="en-US" dirty="0"/>
                        <a:t>8</a:t>
                      </a:r>
                    </a:p>
                  </a:txBody>
                  <a:tcPr anchor="ctr">
                    <a:lnL>
                      <a:noFill/>
                    </a:lnL>
                    <a:lnR>
                      <a:noFill/>
                    </a:lnR>
                    <a:lnT>
                      <a:noFill/>
                    </a:lnT>
                    <a:lnB>
                      <a:noFill/>
                    </a:lnB>
                  </a:tcPr>
                </a:tc>
                <a:extLst>
                  <a:ext uri="{0D108BD9-81ED-4DB2-BD59-A6C34878D82A}">
                    <a16:rowId xmlns:a16="http://schemas.microsoft.com/office/drawing/2014/main" val="221902512"/>
                  </a:ext>
                </a:extLst>
              </a:tr>
            </a:tbl>
          </a:graphicData>
        </a:graphic>
      </p:graphicFrame>
      <p:sp>
        <p:nvSpPr>
          <p:cNvPr id="5" name="Rectangle 4"/>
          <p:cNvSpPr/>
          <p:nvPr/>
        </p:nvSpPr>
        <p:spPr>
          <a:xfrm>
            <a:off x="679104" y="2956951"/>
            <a:ext cx="3223703" cy="369332"/>
          </a:xfrm>
          <a:prstGeom prst="rect">
            <a:avLst/>
          </a:prstGeom>
        </p:spPr>
        <p:txBody>
          <a:bodyPr wrap="none">
            <a:spAutoFit/>
          </a:bodyPr>
          <a:lstStyle/>
          <a:p>
            <a:r>
              <a:rPr lang="en-US" dirty="0" smtClean="0"/>
              <a:t>1. Sort </a:t>
            </a:r>
            <a:r>
              <a:rPr lang="en-US" dirty="0"/>
              <a:t>Processes by Arrival Time</a:t>
            </a:r>
          </a:p>
        </p:txBody>
      </p:sp>
      <p:sp>
        <p:nvSpPr>
          <p:cNvPr id="6" name="Rectangle 5"/>
          <p:cNvSpPr/>
          <p:nvPr/>
        </p:nvSpPr>
        <p:spPr>
          <a:xfrm>
            <a:off x="679104" y="3326283"/>
            <a:ext cx="2247154" cy="400110"/>
          </a:xfrm>
          <a:prstGeom prst="rect">
            <a:avLst/>
          </a:prstGeom>
        </p:spPr>
        <p:txBody>
          <a:bodyPr wrap="none">
            <a:spAutoFit/>
          </a:bodyPr>
          <a:lstStyle/>
          <a:p>
            <a:r>
              <a:rPr lang="en-US" dirty="0" smtClean="0"/>
              <a:t>2. Design Gantt </a:t>
            </a:r>
            <a:r>
              <a:rPr lang="en-US" sz="2000" dirty="0"/>
              <a:t>Chart</a:t>
            </a:r>
            <a:endParaRPr lang="en-US" dirty="0"/>
          </a:p>
        </p:txBody>
      </p:sp>
      <p:sp>
        <p:nvSpPr>
          <p:cNvPr id="7" name="Rectangle 6"/>
          <p:cNvSpPr/>
          <p:nvPr/>
        </p:nvSpPr>
        <p:spPr>
          <a:xfrm>
            <a:off x="679104" y="3695615"/>
            <a:ext cx="4536114" cy="400110"/>
          </a:xfrm>
          <a:prstGeom prst="rect">
            <a:avLst/>
          </a:prstGeom>
        </p:spPr>
        <p:txBody>
          <a:bodyPr wrap="none">
            <a:spAutoFit/>
          </a:bodyPr>
          <a:lstStyle/>
          <a:p>
            <a:r>
              <a:rPr lang="en-US" dirty="0" smtClean="0"/>
              <a:t>3. </a:t>
            </a:r>
            <a:r>
              <a:rPr lang="en-US" sz="2000" dirty="0" smtClean="0"/>
              <a:t>Calculate</a:t>
            </a:r>
            <a:r>
              <a:rPr lang="en-US" dirty="0" smtClean="0"/>
              <a:t> </a:t>
            </a:r>
            <a:r>
              <a:rPr lang="en-US" dirty="0"/>
              <a:t>Waiting Time &amp; Turnaround Time</a:t>
            </a:r>
          </a:p>
        </p:txBody>
      </p:sp>
      <p:sp>
        <p:nvSpPr>
          <p:cNvPr id="9" name="Rectangle 8"/>
          <p:cNvSpPr/>
          <p:nvPr/>
        </p:nvSpPr>
        <p:spPr>
          <a:xfrm>
            <a:off x="679104" y="4064947"/>
            <a:ext cx="5732338" cy="369332"/>
          </a:xfrm>
          <a:prstGeom prst="rect">
            <a:avLst/>
          </a:prstGeom>
        </p:spPr>
        <p:txBody>
          <a:bodyPr wrap="none">
            <a:spAutoFit/>
          </a:bodyPr>
          <a:lstStyle/>
          <a:p>
            <a:r>
              <a:rPr lang="en-US" dirty="0" smtClean="0"/>
              <a:t>4. Calculate Averages (Average waiting &amp; Turnaround Time)</a:t>
            </a:r>
            <a:endParaRPr lang="en-US" dirty="0"/>
          </a:p>
        </p:txBody>
      </p:sp>
    </p:spTree>
    <p:extLst>
      <p:ext uri="{BB962C8B-B14F-4D97-AF65-F5344CB8AC3E}">
        <p14:creationId xmlns:p14="http://schemas.microsoft.com/office/powerpoint/2010/main" val="42713964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7626"/>
            <a:ext cx="10515600" cy="569964"/>
          </a:xfrm>
        </p:spPr>
        <p:txBody>
          <a:bodyPr>
            <a:normAutofit fontScale="90000"/>
          </a:bodyPr>
          <a:lstStyle/>
          <a:p>
            <a:r>
              <a:rPr lang="en-US" dirty="0" smtClean="0"/>
              <a:t>Solution</a:t>
            </a:r>
            <a:endParaRPr lang="en-US" dirty="0"/>
          </a:p>
        </p:txBody>
      </p:sp>
      <p:sp>
        <p:nvSpPr>
          <p:cNvPr id="3" name="Content Placeholder 2"/>
          <p:cNvSpPr>
            <a:spLocks noGrp="1"/>
          </p:cNvSpPr>
          <p:nvPr>
            <p:ph idx="1"/>
          </p:nvPr>
        </p:nvSpPr>
        <p:spPr>
          <a:xfrm>
            <a:off x="838197" y="617590"/>
            <a:ext cx="10515600" cy="5624830"/>
          </a:xfrm>
        </p:spPr>
        <p:txBody>
          <a:bodyPr/>
          <a:lstStyle/>
          <a:p>
            <a:pPr marL="0" indent="0">
              <a:buNone/>
            </a:pPr>
            <a:r>
              <a:rPr lang="en-US" sz="2000" b="1" dirty="0" smtClean="0"/>
              <a:t>Step 1: Sort </a:t>
            </a:r>
            <a:r>
              <a:rPr lang="en-US" sz="2000" b="1" dirty="0"/>
              <a:t>Processes by Arrival Time</a:t>
            </a:r>
          </a:p>
          <a:p>
            <a:r>
              <a:rPr lang="en-US" sz="2000" dirty="0"/>
              <a:t>Since FCFS executes the process that </a:t>
            </a:r>
            <a:r>
              <a:rPr lang="en-US" sz="2000" b="1" dirty="0"/>
              <a:t>arrives first</a:t>
            </a:r>
            <a:r>
              <a:rPr lang="en-US" sz="2000" dirty="0"/>
              <a:t>, we arrange them by </a:t>
            </a:r>
            <a:r>
              <a:rPr lang="en-US" sz="2000" b="1" dirty="0"/>
              <a:t>arrival order:</a:t>
            </a:r>
            <a:endParaRPr lang="en-US" sz="2000" dirty="0"/>
          </a:p>
          <a:p>
            <a:pPr marL="0" indent="0">
              <a:buNone/>
            </a:pPr>
            <a:r>
              <a:rPr lang="en-US" sz="2000" dirty="0" smtClean="0"/>
              <a:t>P1 </a:t>
            </a:r>
            <a:r>
              <a:rPr lang="en-US" sz="2000" dirty="0"/>
              <a:t>→ P2 → </a:t>
            </a:r>
            <a:r>
              <a:rPr lang="en-US" sz="2000" dirty="0" smtClean="0"/>
              <a:t>P3</a:t>
            </a:r>
          </a:p>
          <a:p>
            <a:pPr marL="0" indent="0">
              <a:buNone/>
            </a:pPr>
            <a:r>
              <a:rPr lang="en-US" sz="2000" b="1" dirty="0" smtClean="0"/>
              <a:t>Step 2: Gantt </a:t>
            </a:r>
            <a:r>
              <a:rPr lang="en-US" sz="2000" b="1" dirty="0"/>
              <a:t>Chart</a:t>
            </a:r>
          </a:p>
          <a:p>
            <a:pPr marL="0" indent="0">
              <a:buNone/>
            </a:pPr>
            <a:r>
              <a:rPr lang="en-US" sz="2000" dirty="0"/>
              <a:t>Let’s schedule them in order</a:t>
            </a:r>
            <a:r>
              <a:rPr lang="en-US" sz="2000" dirty="0" smtClean="0"/>
              <a:t>:</a:t>
            </a:r>
          </a:p>
          <a:p>
            <a:pPr marL="0" indent="0">
              <a:buNone/>
            </a:pPr>
            <a:r>
              <a:rPr lang="en-US" sz="2000" dirty="0"/>
              <a:t>|  P1  |   P2   |     P3     |</a:t>
            </a:r>
          </a:p>
          <a:p>
            <a:pPr marL="0" indent="0">
              <a:buNone/>
            </a:pPr>
            <a:r>
              <a:rPr lang="en-US" sz="2000" dirty="0"/>
              <a:t>0      5        8            16</a:t>
            </a:r>
          </a:p>
          <a:p>
            <a:pPr marL="0" indent="0">
              <a:buNone/>
            </a:pPr>
            <a:r>
              <a:rPr lang="en-US" sz="2000" b="1" dirty="0"/>
              <a:t>Step 3: Calculate Waiting Time &amp; Turnaround </a:t>
            </a:r>
            <a:r>
              <a:rPr lang="en-US" sz="2000" b="1" dirty="0" smtClean="0"/>
              <a:t>Time</a:t>
            </a:r>
          </a:p>
          <a:p>
            <a:pPr marL="0" indent="0">
              <a:buNone/>
            </a:pPr>
            <a:endParaRPr lang="en-US" sz="2000" b="1" dirty="0"/>
          </a:p>
          <a:p>
            <a:pPr marL="0" indent="0">
              <a:buNone/>
            </a:pPr>
            <a:endParaRPr lang="en-US" dirty="0"/>
          </a:p>
          <a:p>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88500062"/>
              </p:ext>
            </p:extLst>
          </p:nvPr>
        </p:nvGraphicFramePr>
        <p:xfrm>
          <a:off x="838194" y="3581730"/>
          <a:ext cx="10735494" cy="1737360"/>
        </p:xfrm>
        <a:graphic>
          <a:graphicData uri="http://schemas.openxmlformats.org/drawingml/2006/table">
            <a:tbl>
              <a:tblPr/>
              <a:tblGrid>
                <a:gridCol w="1533642">
                  <a:extLst>
                    <a:ext uri="{9D8B030D-6E8A-4147-A177-3AD203B41FA5}">
                      <a16:colId xmlns:a16="http://schemas.microsoft.com/office/drawing/2014/main" val="2994703470"/>
                    </a:ext>
                  </a:extLst>
                </a:gridCol>
                <a:gridCol w="1533642">
                  <a:extLst>
                    <a:ext uri="{9D8B030D-6E8A-4147-A177-3AD203B41FA5}">
                      <a16:colId xmlns:a16="http://schemas.microsoft.com/office/drawing/2014/main" val="1593549211"/>
                    </a:ext>
                  </a:extLst>
                </a:gridCol>
                <a:gridCol w="1533642">
                  <a:extLst>
                    <a:ext uri="{9D8B030D-6E8A-4147-A177-3AD203B41FA5}">
                      <a16:colId xmlns:a16="http://schemas.microsoft.com/office/drawing/2014/main" val="1676896517"/>
                    </a:ext>
                  </a:extLst>
                </a:gridCol>
                <a:gridCol w="1533642">
                  <a:extLst>
                    <a:ext uri="{9D8B030D-6E8A-4147-A177-3AD203B41FA5}">
                      <a16:colId xmlns:a16="http://schemas.microsoft.com/office/drawing/2014/main" val="1022048279"/>
                    </a:ext>
                  </a:extLst>
                </a:gridCol>
                <a:gridCol w="1533642">
                  <a:extLst>
                    <a:ext uri="{9D8B030D-6E8A-4147-A177-3AD203B41FA5}">
                      <a16:colId xmlns:a16="http://schemas.microsoft.com/office/drawing/2014/main" val="708231394"/>
                    </a:ext>
                  </a:extLst>
                </a:gridCol>
                <a:gridCol w="1533642">
                  <a:extLst>
                    <a:ext uri="{9D8B030D-6E8A-4147-A177-3AD203B41FA5}">
                      <a16:colId xmlns:a16="http://schemas.microsoft.com/office/drawing/2014/main" val="2033003393"/>
                    </a:ext>
                  </a:extLst>
                </a:gridCol>
                <a:gridCol w="1533642">
                  <a:extLst>
                    <a:ext uri="{9D8B030D-6E8A-4147-A177-3AD203B41FA5}">
                      <a16:colId xmlns:a16="http://schemas.microsoft.com/office/drawing/2014/main" val="249254687"/>
                    </a:ext>
                  </a:extLst>
                </a:gridCol>
              </a:tblGrid>
              <a:tr h="640080">
                <a:tc>
                  <a:txBody>
                    <a:bodyPr/>
                    <a:lstStyle/>
                    <a:p>
                      <a:r>
                        <a:rPr lang="en-US" sz="1800" b="1"/>
                        <a:t>Process</a:t>
                      </a:r>
                      <a:endParaRPr lang="en-US" sz="1800"/>
                    </a:p>
                  </a:txBody>
                  <a:tcPr anchor="ctr">
                    <a:lnL>
                      <a:noFill/>
                    </a:lnL>
                    <a:lnR>
                      <a:noFill/>
                    </a:lnR>
                    <a:lnT>
                      <a:noFill/>
                    </a:lnT>
                    <a:lnB>
                      <a:noFill/>
                    </a:lnB>
                  </a:tcPr>
                </a:tc>
                <a:tc>
                  <a:txBody>
                    <a:bodyPr/>
                    <a:lstStyle/>
                    <a:p>
                      <a:r>
                        <a:rPr lang="en-US" sz="1800" b="1"/>
                        <a:t>Arrival Time</a:t>
                      </a:r>
                      <a:endParaRPr lang="en-US" sz="1800"/>
                    </a:p>
                  </a:txBody>
                  <a:tcPr anchor="ctr">
                    <a:lnL>
                      <a:noFill/>
                    </a:lnL>
                    <a:lnR>
                      <a:noFill/>
                    </a:lnR>
                    <a:lnT>
                      <a:noFill/>
                    </a:lnT>
                    <a:lnB>
                      <a:noFill/>
                    </a:lnB>
                  </a:tcPr>
                </a:tc>
                <a:tc>
                  <a:txBody>
                    <a:bodyPr/>
                    <a:lstStyle/>
                    <a:p>
                      <a:r>
                        <a:rPr lang="en-US" sz="1800" b="1" dirty="0"/>
                        <a:t>Burst Time</a:t>
                      </a:r>
                      <a:endParaRPr lang="en-US" sz="1800" dirty="0"/>
                    </a:p>
                  </a:txBody>
                  <a:tcPr anchor="ctr">
                    <a:lnL>
                      <a:noFill/>
                    </a:lnL>
                    <a:lnR>
                      <a:noFill/>
                    </a:lnR>
                    <a:lnT>
                      <a:noFill/>
                    </a:lnT>
                    <a:lnB>
                      <a:noFill/>
                    </a:lnB>
                  </a:tcPr>
                </a:tc>
                <a:tc>
                  <a:txBody>
                    <a:bodyPr/>
                    <a:lstStyle/>
                    <a:p>
                      <a:r>
                        <a:rPr lang="en-US" sz="1800" b="1"/>
                        <a:t>Start Time</a:t>
                      </a:r>
                      <a:endParaRPr lang="en-US" sz="1800"/>
                    </a:p>
                  </a:txBody>
                  <a:tcPr anchor="ctr">
                    <a:lnL>
                      <a:noFill/>
                    </a:lnL>
                    <a:lnR>
                      <a:noFill/>
                    </a:lnR>
                    <a:lnT>
                      <a:noFill/>
                    </a:lnT>
                    <a:lnB>
                      <a:noFill/>
                    </a:lnB>
                  </a:tcPr>
                </a:tc>
                <a:tc>
                  <a:txBody>
                    <a:bodyPr/>
                    <a:lstStyle/>
                    <a:p>
                      <a:r>
                        <a:rPr lang="en-US" sz="1800" b="1"/>
                        <a:t>Finish Time</a:t>
                      </a:r>
                      <a:endParaRPr lang="en-US" sz="1800"/>
                    </a:p>
                  </a:txBody>
                  <a:tcPr anchor="ctr">
                    <a:lnL>
                      <a:noFill/>
                    </a:lnL>
                    <a:lnR>
                      <a:noFill/>
                    </a:lnR>
                    <a:lnT>
                      <a:noFill/>
                    </a:lnT>
                    <a:lnB>
                      <a:noFill/>
                    </a:lnB>
                  </a:tcPr>
                </a:tc>
                <a:tc>
                  <a:txBody>
                    <a:bodyPr/>
                    <a:lstStyle/>
                    <a:p>
                      <a:r>
                        <a:rPr lang="en-US" sz="1800" b="1"/>
                        <a:t>Waiting Time</a:t>
                      </a:r>
                      <a:endParaRPr lang="en-US" sz="1800"/>
                    </a:p>
                  </a:txBody>
                  <a:tcPr anchor="ctr">
                    <a:lnL>
                      <a:noFill/>
                    </a:lnL>
                    <a:lnR>
                      <a:noFill/>
                    </a:lnR>
                    <a:lnT>
                      <a:noFill/>
                    </a:lnT>
                    <a:lnB>
                      <a:noFill/>
                    </a:lnB>
                  </a:tcPr>
                </a:tc>
                <a:tc>
                  <a:txBody>
                    <a:bodyPr/>
                    <a:lstStyle/>
                    <a:p>
                      <a:r>
                        <a:rPr lang="en-US" sz="1800" b="1"/>
                        <a:t>Turnaround Time</a:t>
                      </a:r>
                      <a:endParaRPr lang="en-US" sz="1800"/>
                    </a:p>
                  </a:txBody>
                  <a:tcPr anchor="ctr">
                    <a:lnL>
                      <a:noFill/>
                    </a:lnL>
                    <a:lnR>
                      <a:noFill/>
                    </a:lnR>
                    <a:lnT>
                      <a:noFill/>
                    </a:lnT>
                    <a:lnB>
                      <a:noFill/>
                    </a:lnB>
                  </a:tcPr>
                </a:tc>
                <a:extLst>
                  <a:ext uri="{0D108BD9-81ED-4DB2-BD59-A6C34878D82A}">
                    <a16:rowId xmlns:a16="http://schemas.microsoft.com/office/drawing/2014/main" val="3665933365"/>
                  </a:ext>
                </a:extLst>
              </a:tr>
              <a:tr h="365760">
                <a:tc>
                  <a:txBody>
                    <a:bodyPr/>
                    <a:lstStyle/>
                    <a:p>
                      <a:r>
                        <a:rPr lang="en-US" sz="1800"/>
                        <a:t>P1</a:t>
                      </a:r>
                    </a:p>
                  </a:txBody>
                  <a:tcPr anchor="ctr">
                    <a:lnL>
                      <a:noFill/>
                    </a:lnL>
                    <a:lnR>
                      <a:noFill/>
                    </a:lnR>
                    <a:lnT>
                      <a:noFill/>
                    </a:lnT>
                    <a:lnB>
                      <a:noFill/>
                    </a:lnB>
                  </a:tcPr>
                </a:tc>
                <a:tc>
                  <a:txBody>
                    <a:bodyPr/>
                    <a:lstStyle/>
                    <a:p>
                      <a:r>
                        <a:rPr lang="en-US" sz="1800"/>
                        <a:t>0</a:t>
                      </a:r>
                    </a:p>
                  </a:txBody>
                  <a:tcPr anchor="ctr">
                    <a:lnL>
                      <a:noFill/>
                    </a:lnL>
                    <a:lnR>
                      <a:noFill/>
                    </a:lnR>
                    <a:lnT>
                      <a:noFill/>
                    </a:lnT>
                    <a:lnB>
                      <a:noFill/>
                    </a:lnB>
                  </a:tcPr>
                </a:tc>
                <a:tc>
                  <a:txBody>
                    <a:bodyPr/>
                    <a:lstStyle/>
                    <a:p>
                      <a:r>
                        <a:rPr lang="en-US" sz="1800"/>
                        <a:t>5</a:t>
                      </a:r>
                    </a:p>
                  </a:txBody>
                  <a:tcPr anchor="ctr">
                    <a:lnL>
                      <a:noFill/>
                    </a:lnL>
                    <a:lnR>
                      <a:noFill/>
                    </a:lnR>
                    <a:lnT>
                      <a:noFill/>
                    </a:lnT>
                    <a:lnB>
                      <a:noFill/>
                    </a:lnB>
                  </a:tcPr>
                </a:tc>
                <a:tc>
                  <a:txBody>
                    <a:bodyPr/>
                    <a:lstStyle/>
                    <a:p>
                      <a:r>
                        <a:rPr lang="en-US" sz="1800"/>
                        <a:t>0</a:t>
                      </a:r>
                    </a:p>
                  </a:txBody>
                  <a:tcPr anchor="ctr">
                    <a:lnL>
                      <a:noFill/>
                    </a:lnL>
                    <a:lnR>
                      <a:noFill/>
                    </a:lnR>
                    <a:lnT>
                      <a:noFill/>
                    </a:lnT>
                    <a:lnB>
                      <a:noFill/>
                    </a:lnB>
                  </a:tcPr>
                </a:tc>
                <a:tc>
                  <a:txBody>
                    <a:bodyPr/>
                    <a:lstStyle/>
                    <a:p>
                      <a:r>
                        <a:rPr lang="en-US" sz="1800"/>
                        <a:t>5</a:t>
                      </a:r>
                    </a:p>
                  </a:txBody>
                  <a:tcPr anchor="ctr">
                    <a:lnL>
                      <a:noFill/>
                    </a:lnL>
                    <a:lnR>
                      <a:noFill/>
                    </a:lnR>
                    <a:lnT>
                      <a:noFill/>
                    </a:lnT>
                    <a:lnB>
                      <a:noFill/>
                    </a:lnB>
                  </a:tcPr>
                </a:tc>
                <a:tc>
                  <a:txBody>
                    <a:bodyPr/>
                    <a:lstStyle/>
                    <a:p>
                      <a:r>
                        <a:rPr lang="en-US" sz="1800"/>
                        <a:t>0</a:t>
                      </a:r>
                    </a:p>
                  </a:txBody>
                  <a:tcPr anchor="ctr">
                    <a:lnL>
                      <a:noFill/>
                    </a:lnL>
                    <a:lnR>
                      <a:noFill/>
                    </a:lnR>
                    <a:lnT>
                      <a:noFill/>
                    </a:lnT>
                    <a:lnB>
                      <a:noFill/>
                    </a:lnB>
                  </a:tcPr>
                </a:tc>
                <a:tc>
                  <a:txBody>
                    <a:bodyPr/>
                    <a:lstStyle/>
                    <a:p>
                      <a:r>
                        <a:rPr lang="en-US" sz="1800"/>
                        <a:t>5</a:t>
                      </a:r>
                    </a:p>
                  </a:txBody>
                  <a:tcPr anchor="ctr">
                    <a:lnL>
                      <a:noFill/>
                    </a:lnL>
                    <a:lnR>
                      <a:noFill/>
                    </a:lnR>
                    <a:lnT>
                      <a:noFill/>
                    </a:lnT>
                    <a:lnB>
                      <a:noFill/>
                    </a:lnB>
                  </a:tcPr>
                </a:tc>
                <a:extLst>
                  <a:ext uri="{0D108BD9-81ED-4DB2-BD59-A6C34878D82A}">
                    <a16:rowId xmlns:a16="http://schemas.microsoft.com/office/drawing/2014/main" val="3153272385"/>
                  </a:ext>
                </a:extLst>
              </a:tr>
              <a:tr h="365760">
                <a:tc>
                  <a:txBody>
                    <a:bodyPr/>
                    <a:lstStyle/>
                    <a:p>
                      <a:r>
                        <a:rPr lang="en-US" sz="1800"/>
                        <a:t>P2</a:t>
                      </a:r>
                    </a:p>
                  </a:txBody>
                  <a:tcPr anchor="ctr">
                    <a:lnL>
                      <a:noFill/>
                    </a:lnL>
                    <a:lnR>
                      <a:noFill/>
                    </a:lnR>
                    <a:lnT>
                      <a:noFill/>
                    </a:lnT>
                    <a:lnB>
                      <a:noFill/>
                    </a:lnB>
                  </a:tcPr>
                </a:tc>
                <a:tc>
                  <a:txBody>
                    <a:bodyPr/>
                    <a:lstStyle/>
                    <a:p>
                      <a:r>
                        <a:rPr lang="en-US" sz="1800"/>
                        <a:t>2</a:t>
                      </a:r>
                    </a:p>
                  </a:txBody>
                  <a:tcPr anchor="ctr">
                    <a:lnL>
                      <a:noFill/>
                    </a:lnL>
                    <a:lnR>
                      <a:noFill/>
                    </a:lnR>
                    <a:lnT>
                      <a:noFill/>
                    </a:lnT>
                    <a:lnB>
                      <a:noFill/>
                    </a:lnB>
                  </a:tcPr>
                </a:tc>
                <a:tc>
                  <a:txBody>
                    <a:bodyPr/>
                    <a:lstStyle/>
                    <a:p>
                      <a:r>
                        <a:rPr lang="en-US" sz="1800"/>
                        <a:t>3</a:t>
                      </a:r>
                    </a:p>
                  </a:txBody>
                  <a:tcPr anchor="ctr">
                    <a:lnL>
                      <a:noFill/>
                    </a:lnL>
                    <a:lnR>
                      <a:noFill/>
                    </a:lnR>
                    <a:lnT>
                      <a:noFill/>
                    </a:lnT>
                    <a:lnB>
                      <a:noFill/>
                    </a:lnB>
                  </a:tcPr>
                </a:tc>
                <a:tc>
                  <a:txBody>
                    <a:bodyPr/>
                    <a:lstStyle/>
                    <a:p>
                      <a:r>
                        <a:rPr lang="en-US" sz="1800"/>
                        <a:t>5</a:t>
                      </a:r>
                    </a:p>
                  </a:txBody>
                  <a:tcPr anchor="ctr">
                    <a:lnL>
                      <a:noFill/>
                    </a:lnL>
                    <a:lnR>
                      <a:noFill/>
                    </a:lnR>
                    <a:lnT>
                      <a:noFill/>
                    </a:lnT>
                    <a:lnB>
                      <a:noFill/>
                    </a:lnB>
                  </a:tcPr>
                </a:tc>
                <a:tc>
                  <a:txBody>
                    <a:bodyPr/>
                    <a:lstStyle/>
                    <a:p>
                      <a:r>
                        <a:rPr lang="en-US" sz="1800"/>
                        <a:t>8</a:t>
                      </a:r>
                    </a:p>
                  </a:txBody>
                  <a:tcPr anchor="ctr">
                    <a:lnL>
                      <a:noFill/>
                    </a:lnL>
                    <a:lnR>
                      <a:noFill/>
                    </a:lnR>
                    <a:lnT>
                      <a:noFill/>
                    </a:lnT>
                    <a:lnB>
                      <a:noFill/>
                    </a:lnB>
                  </a:tcPr>
                </a:tc>
                <a:tc>
                  <a:txBody>
                    <a:bodyPr/>
                    <a:lstStyle/>
                    <a:p>
                      <a:r>
                        <a:rPr lang="en-US" sz="1800"/>
                        <a:t>5 − 2 = 3</a:t>
                      </a:r>
                    </a:p>
                  </a:txBody>
                  <a:tcPr anchor="ctr">
                    <a:lnL>
                      <a:noFill/>
                    </a:lnL>
                    <a:lnR>
                      <a:noFill/>
                    </a:lnR>
                    <a:lnT>
                      <a:noFill/>
                    </a:lnT>
                    <a:lnB>
                      <a:noFill/>
                    </a:lnB>
                  </a:tcPr>
                </a:tc>
                <a:tc>
                  <a:txBody>
                    <a:bodyPr/>
                    <a:lstStyle/>
                    <a:p>
                      <a:r>
                        <a:rPr lang="en-US" sz="1800"/>
                        <a:t>8 − 2 = 6</a:t>
                      </a:r>
                    </a:p>
                  </a:txBody>
                  <a:tcPr anchor="ctr">
                    <a:lnL>
                      <a:noFill/>
                    </a:lnL>
                    <a:lnR>
                      <a:noFill/>
                    </a:lnR>
                    <a:lnT>
                      <a:noFill/>
                    </a:lnT>
                    <a:lnB>
                      <a:noFill/>
                    </a:lnB>
                  </a:tcPr>
                </a:tc>
                <a:extLst>
                  <a:ext uri="{0D108BD9-81ED-4DB2-BD59-A6C34878D82A}">
                    <a16:rowId xmlns:a16="http://schemas.microsoft.com/office/drawing/2014/main" val="2742394534"/>
                  </a:ext>
                </a:extLst>
              </a:tr>
              <a:tr h="365760">
                <a:tc>
                  <a:txBody>
                    <a:bodyPr/>
                    <a:lstStyle/>
                    <a:p>
                      <a:r>
                        <a:rPr lang="en-US" sz="1800"/>
                        <a:t>P3</a:t>
                      </a:r>
                    </a:p>
                  </a:txBody>
                  <a:tcPr anchor="ctr">
                    <a:lnL>
                      <a:noFill/>
                    </a:lnL>
                    <a:lnR>
                      <a:noFill/>
                    </a:lnR>
                    <a:lnT>
                      <a:noFill/>
                    </a:lnT>
                    <a:lnB>
                      <a:noFill/>
                    </a:lnB>
                  </a:tcPr>
                </a:tc>
                <a:tc>
                  <a:txBody>
                    <a:bodyPr/>
                    <a:lstStyle/>
                    <a:p>
                      <a:r>
                        <a:rPr lang="en-US" sz="1800"/>
                        <a:t>4</a:t>
                      </a:r>
                    </a:p>
                  </a:txBody>
                  <a:tcPr anchor="ctr">
                    <a:lnL>
                      <a:noFill/>
                    </a:lnL>
                    <a:lnR>
                      <a:noFill/>
                    </a:lnR>
                    <a:lnT>
                      <a:noFill/>
                    </a:lnT>
                    <a:lnB>
                      <a:noFill/>
                    </a:lnB>
                  </a:tcPr>
                </a:tc>
                <a:tc>
                  <a:txBody>
                    <a:bodyPr/>
                    <a:lstStyle/>
                    <a:p>
                      <a:r>
                        <a:rPr lang="en-US" sz="1800" dirty="0"/>
                        <a:t>8</a:t>
                      </a:r>
                    </a:p>
                  </a:txBody>
                  <a:tcPr anchor="ctr">
                    <a:lnL>
                      <a:noFill/>
                    </a:lnL>
                    <a:lnR>
                      <a:noFill/>
                    </a:lnR>
                    <a:lnT>
                      <a:noFill/>
                    </a:lnT>
                    <a:lnB>
                      <a:noFill/>
                    </a:lnB>
                  </a:tcPr>
                </a:tc>
                <a:tc>
                  <a:txBody>
                    <a:bodyPr/>
                    <a:lstStyle/>
                    <a:p>
                      <a:r>
                        <a:rPr lang="en-US" sz="1800"/>
                        <a:t>8</a:t>
                      </a:r>
                    </a:p>
                  </a:txBody>
                  <a:tcPr anchor="ctr">
                    <a:lnL>
                      <a:noFill/>
                    </a:lnL>
                    <a:lnR>
                      <a:noFill/>
                    </a:lnR>
                    <a:lnT>
                      <a:noFill/>
                    </a:lnT>
                    <a:lnB>
                      <a:noFill/>
                    </a:lnB>
                  </a:tcPr>
                </a:tc>
                <a:tc>
                  <a:txBody>
                    <a:bodyPr/>
                    <a:lstStyle/>
                    <a:p>
                      <a:r>
                        <a:rPr lang="en-US" sz="1800" dirty="0"/>
                        <a:t>16</a:t>
                      </a:r>
                    </a:p>
                  </a:txBody>
                  <a:tcPr anchor="ctr">
                    <a:lnL>
                      <a:noFill/>
                    </a:lnL>
                    <a:lnR>
                      <a:noFill/>
                    </a:lnR>
                    <a:lnT>
                      <a:noFill/>
                    </a:lnT>
                    <a:lnB>
                      <a:noFill/>
                    </a:lnB>
                  </a:tcPr>
                </a:tc>
                <a:tc>
                  <a:txBody>
                    <a:bodyPr/>
                    <a:lstStyle/>
                    <a:p>
                      <a:r>
                        <a:rPr lang="en-US" sz="1800"/>
                        <a:t>8 − 4 = 4</a:t>
                      </a:r>
                    </a:p>
                  </a:txBody>
                  <a:tcPr anchor="ctr">
                    <a:lnL>
                      <a:noFill/>
                    </a:lnL>
                    <a:lnR>
                      <a:noFill/>
                    </a:lnR>
                    <a:lnT>
                      <a:noFill/>
                    </a:lnT>
                    <a:lnB>
                      <a:noFill/>
                    </a:lnB>
                  </a:tcPr>
                </a:tc>
                <a:tc>
                  <a:txBody>
                    <a:bodyPr/>
                    <a:lstStyle/>
                    <a:p>
                      <a:r>
                        <a:rPr lang="en-US" sz="1800" dirty="0"/>
                        <a:t>16 − 4 = 12</a:t>
                      </a:r>
                    </a:p>
                  </a:txBody>
                  <a:tcPr anchor="ctr">
                    <a:lnL>
                      <a:noFill/>
                    </a:lnL>
                    <a:lnR>
                      <a:noFill/>
                    </a:lnR>
                    <a:lnT>
                      <a:noFill/>
                    </a:lnT>
                    <a:lnB>
                      <a:noFill/>
                    </a:lnB>
                  </a:tcPr>
                </a:tc>
                <a:extLst>
                  <a:ext uri="{0D108BD9-81ED-4DB2-BD59-A6C34878D82A}">
                    <a16:rowId xmlns:a16="http://schemas.microsoft.com/office/drawing/2014/main" val="1939934274"/>
                  </a:ext>
                </a:extLst>
              </a:tr>
            </a:tbl>
          </a:graphicData>
        </a:graphic>
      </p:graphicFrame>
      <p:sp>
        <p:nvSpPr>
          <p:cNvPr id="5" name="Rectangle 4"/>
          <p:cNvSpPr/>
          <p:nvPr/>
        </p:nvSpPr>
        <p:spPr>
          <a:xfrm>
            <a:off x="838194" y="5319090"/>
            <a:ext cx="6096000" cy="923330"/>
          </a:xfrm>
          <a:prstGeom prst="rect">
            <a:avLst/>
          </a:prstGeom>
        </p:spPr>
        <p:txBody>
          <a:bodyPr>
            <a:spAutoFit/>
          </a:bodyPr>
          <a:lstStyle/>
          <a:p>
            <a:r>
              <a:rPr lang="en-US" b="1" dirty="0" smtClean="0"/>
              <a:t>Step </a:t>
            </a:r>
            <a:r>
              <a:rPr lang="en-US" b="1" dirty="0"/>
              <a:t>4: Calculate Averages</a:t>
            </a:r>
          </a:p>
          <a:p>
            <a:pPr>
              <a:buFont typeface="Arial" panose="020B0604020202020204" pitchFamily="34" charset="0"/>
              <a:buChar char="•"/>
            </a:pPr>
            <a:r>
              <a:rPr lang="en-US" b="1" dirty="0"/>
              <a:t>Average Waiting Time</a:t>
            </a:r>
            <a:r>
              <a:rPr lang="en-US" dirty="0"/>
              <a:t> = (0 + 3 + 4) / 3 = </a:t>
            </a:r>
            <a:r>
              <a:rPr lang="en-US" b="1" dirty="0"/>
              <a:t>2.33 </a:t>
            </a:r>
            <a:r>
              <a:rPr lang="en-US" b="1" dirty="0" err="1"/>
              <a:t>ms</a:t>
            </a:r>
            <a:endParaRPr lang="en-US" dirty="0"/>
          </a:p>
          <a:p>
            <a:pPr>
              <a:buFont typeface="Arial" panose="020B0604020202020204" pitchFamily="34" charset="0"/>
              <a:buChar char="•"/>
            </a:pPr>
            <a:r>
              <a:rPr lang="en-US" b="1" dirty="0"/>
              <a:t>Average Turnaround Time</a:t>
            </a:r>
            <a:r>
              <a:rPr lang="en-US" dirty="0"/>
              <a:t> = (5 + 6 + 12) / 3 = </a:t>
            </a:r>
            <a:r>
              <a:rPr lang="en-US" b="1" dirty="0"/>
              <a:t>7.67 </a:t>
            </a:r>
            <a:r>
              <a:rPr lang="en-US" b="1" dirty="0" err="1"/>
              <a:t>ms</a:t>
            </a:r>
            <a:endParaRPr lang="en-US" dirty="0"/>
          </a:p>
        </p:txBody>
      </p:sp>
    </p:spTree>
    <p:extLst>
      <p:ext uri="{BB962C8B-B14F-4D97-AF65-F5344CB8AC3E}">
        <p14:creationId xmlns:p14="http://schemas.microsoft.com/office/powerpoint/2010/main" val="1083207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Rectangle 2"/>
          <p:cNvSpPr>
            <a:spLocks noGrp="1" noChangeArrowheads="1"/>
          </p:cNvSpPr>
          <p:nvPr>
            <p:ph type="title"/>
          </p:nvPr>
        </p:nvSpPr>
        <p:spPr>
          <a:xfrm>
            <a:off x="838200" y="47625"/>
            <a:ext cx="10515600" cy="1325563"/>
          </a:xfrm>
        </p:spPr>
        <p:txBody>
          <a:bodyPr/>
          <a:lstStyle/>
          <a:p>
            <a:r>
              <a:rPr lang="en-US"/>
              <a:t>Shortest Job First Scheduling</a:t>
            </a:r>
          </a:p>
        </p:txBody>
      </p:sp>
      <p:sp>
        <p:nvSpPr>
          <p:cNvPr id="34821" name="Rectangle 3"/>
          <p:cNvSpPr>
            <a:spLocks noGrp="1" noChangeArrowheads="1"/>
          </p:cNvSpPr>
          <p:nvPr>
            <p:ph idx="1"/>
          </p:nvPr>
        </p:nvSpPr>
        <p:spPr>
          <a:xfrm>
            <a:off x="733698" y="1053464"/>
            <a:ext cx="10515600" cy="4937126"/>
          </a:xfrm>
        </p:spPr>
        <p:txBody>
          <a:bodyPr>
            <a:noAutofit/>
          </a:bodyPr>
          <a:lstStyle/>
          <a:p>
            <a:r>
              <a:rPr lang="en-US" sz="1800" dirty="0"/>
              <a:t>This algorithm associates with shortest job first</a:t>
            </a:r>
          </a:p>
          <a:p>
            <a:r>
              <a:rPr lang="en-US" sz="1800" dirty="0"/>
              <a:t>When the CPU is available, it is assigned to the process that has smallest CPU burst time</a:t>
            </a:r>
          </a:p>
          <a:p>
            <a:r>
              <a:rPr lang="en-US" sz="1800" dirty="0"/>
              <a:t>If two processes have same CPU-burst then FCFS scheduling is used along with this to break the tie</a:t>
            </a:r>
          </a:p>
          <a:p>
            <a:r>
              <a:rPr lang="en-US" sz="1800" dirty="0"/>
              <a:t>Moving a short process before a long one</a:t>
            </a:r>
          </a:p>
          <a:p>
            <a:pPr lvl="1"/>
            <a:r>
              <a:rPr lang="en-US" sz="1800" dirty="0"/>
              <a:t>Decrease the waiting time of short process</a:t>
            </a:r>
          </a:p>
          <a:p>
            <a:pPr lvl="1"/>
            <a:r>
              <a:rPr lang="en-US" sz="1800" dirty="0"/>
              <a:t>Increase the waiting time of long process</a:t>
            </a:r>
          </a:p>
          <a:p>
            <a:pPr lvl="1"/>
            <a:r>
              <a:rPr lang="en-US" sz="1800" dirty="0"/>
              <a:t>Consequently, the average time decreases</a:t>
            </a:r>
          </a:p>
          <a:p>
            <a:r>
              <a:rPr lang="en-US" sz="1800" dirty="0"/>
              <a:t>This will result in a smaller number of PCB’s in the ready or blocked queues</a:t>
            </a:r>
          </a:p>
          <a:p>
            <a:r>
              <a:rPr lang="en-US" sz="1800" dirty="0"/>
              <a:t>The search time will be smaller, thus improving the response time</a:t>
            </a:r>
          </a:p>
          <a:p>
            <a:r>
              <a:rPr lang="en-US" sz="1800" dirty="0"/>
              <a:t>The number of satisfied user will increase</a:t>
            </a:r>
          </a:p>
          <a:p>
            <a:r>
              <a:rPr lang="en-US" sz="1800" dirty="0"/>
              <a:t>A long job in the queue may delayed indefinitely by a succession of smaller jobs arriving in ready queue</a:t>
            </a:r>
          </a:p>
          <a:p>
            <a:r>
              <a:rPr lang="en-US" sz="1800" dirty="0"/>
              <a:t>This can be avoided by setting higher external priority to those important jobs</a:t>
            </a:r>
          </a:p>
          <a:p>
            <a:r>
              <a:rPr lang="en-US" sz="1800" dirty="0"/>
              <a:t>The OS at any time can calculates a resultant priority based on both</a:t>
            </a:r>
          </a:p>
          <a:p>
            <a:r>
              <a:rPr lang="en-US" sz="1800" dirty="0"/>
              <a:t>Also known as shortest job next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Rectangle 2"/>
          <p:cNvSpPr>
            <a:spLocks noGrp="1" noChangeArrowheads="1"/>
          </p:cNvSpPr>
          <p:nvPr>
            <p:ph type="title"/>
          </p:nvPr>
        </p:nvSpPr>
        <p:spPr>
          <a:xfrm>
            <a:off x="838200" y="47625"/>
            <a:ext cx="10515600" cy="1325563"/>
          </a:xfrm>
        </p:spPr>
        <p:txBody>
          <a:bodyPr/>
          <a:lstStyle/>
          <a:p>
            <a:r>
              <a:rPr lang="en-US"/>
              <a:t>Shortest Job First Scheduling</a:t>
            </a:r>
          </a:p>
        </p:txBody>
      </p:sp>
      <p:sp>
        <p:nvSpPr>
          <p:cNvPr id="35845" name="Rectangle 3"/>
          <p:cNvSpPr>
            <a:spLocks noGrp="1" noChangeArrowheads="1"/>
          </p:cNvSpPr>
          <p:nvPr>
            <p:ph idx="1"/>
          </p:nvPr>
        </p:nvSpPr>
        <p:spPr>
          <a:xfrm>
            <a:off x="838200" y="1419224"/>
            <a:ext cx="10515600" cy="4937126"/>
          </a:xfrm>
        </p:spPr>
        <p:txBody>
          <a:bodyPr/>
          <a:lstStyle/>
          <a:p>
            <a:r>
              <a:rPr lang="en-US"/>
              <a:t>Salient Points of SJF</a:t>
            </a:r>
          </a:p>
          <a:p>
            <a:pPr lvl="1"/>
            <a:r>
              <a:rPr lang="en-US"/>
              <a:t>SJF may be preemptive or non-preemptive</a:t>
            </a:r>
          </a:p>
          <a:p>
            <a:pPr lvl="1"/>
            <a:r>
              <a:rPr lang="en-US"/>
              <a:t>It will preempt the currently executing process if its remaining time is greater than that of a newly arrived process</a:t>
            </a:r>
          </a:p>
          <a:p>
            <a:pPr lvl="1"/>
            <a:r>
              <a:rPr lang="en-US"/>
              <a:t>This scheme is known as shortest remaining time first</a:t>
            </a:r>
          </a:p>
          <a:p>
            <a:pPr lvl="1"/>
            <a:r>
              <a:rPr lang="en-US"/>
              <a:t>SJF is optimal in sense that it yields the smallest average waiting time</a:t>
            </a:r>
          </a:p>
          <a:p>
            <a:pPr lvl="1"/>
            <a:r>
              <a:rPr lang="en-US"/>
              <a:t>In general, it is difficult to predict the CPU time requirement for a process</a:t>
            </a:r>
          </a:p>
          <a:p>
            <a:pPr lvl="1"/>
            <a:r>
              <a:rPr lang="en-US"/>
              <a:t>SJF is optimal for batch jobs for which the run times are known in advance</a:t>
            </a:r>
          </a:p>
          <a:p>
            <a:pPr lvl="1"/>
            <a:r>
              <a:rPr lang="en-US"/>
              <a:t>SJF reduces average waiting time over FCFS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4" name="Rectangle 2"/>
          <p:cNvSpPr>
            <a:spLocks noGrp="1" noChangeArrowheads="1"/>
          </p:cNvSpPr>
          <p:nvPr>
            <p:ph type="title"/>
          </p:nvPr>
        </p:nvSpPr>
        <p:spPr>
          <a:xfrm>
            <a:off x="838200" y="47625"/>
            <a:ext cx="10515600" cy="1325563"/>
          </a:xfrm>
        </p:spPr>
        <p:txBody>
          <a:bodyPr/>
          <a:lstStyle/>
          <a:p>
            <a:r>
              <a:rPr lang="en-US" dirty="0"/>
              <a:t>Shortest Job First Scheduling</a:t>
            </a:r>
            <a:br>
              <a:rPr lang="en-US" dirty="0"/>
            </a:br>
            <a:r>
              <a:rPr lang="en-US" sz="3200" dirty="0">
                <a:solidFill>
                  <a:schemeClr val="accent1">
                    <a:lumMod val="75000"/>
                  </a:schemeClr>
                </a:solidFill>
              </a:rPr>
              <a:t>Non-Preemptive SJF Scheduling</a:t>
            </a:r>
          </a:p>
        </p:txBody>
      </p:sp>
      <p:sp>
        <p:nvSpPr>
          <p:cNvPr id="36869" name="Rectangle 4"/>
          <p:cNvSpPr>
            <a:spLocks noChangeArrowheads="1"/>
          </p:cNvSpPr>
          <p:nvPr/>
        </p:nvSpPr>
        <p:spPr bwMode="auto">
          <a:xfrm>
            <a:off x="2209800" y="1373188"/>
            <a:ext cx="7029450" cy="4799012"/>
          </a:xfrm>
          <a:prstGeom prst="rect">
            <a:avLst/>
          </a:prstGeom>
          <a:noFill/>
          <a:ln w="9525">
            <a:noFill/>
            <a:miter lim="800000"/>
            <a:headEnd/>
            <a:tailEnd/>
          </a:ln>
        </p:spPr>
        <p:txBody>
          <a:bodyPr/>
          <a:lstStyle/>
          <a:p>
            <a:pPr marL="342900" indent="-342900">
              <a:spcBef>
                <a:spcPct val="20000"/>
              </a:spcBef>
              <a:buClr>
                <a:schemeClr val="tx2"/>
              </a:buClr>
              <a:buSzPct val="70000"/>
              <a:tabLst>
                <a:tab pos="1603375" algn="ctr"/>
                <a:tab pos="3254375" algn="ctr"/>
                <a:tab pos="5143500" algn="ctr"/>
              </a:tabLst>
            </a:pPr>
            <a:r>
              <a:rPr lang="en-US" sz="2000" dirty="0">
                <a:latin typeface="Calibri" pitchFamily="34" charset="0"/>
              </a:rPr>
              <a:t>		</a:t>
            </a:r>
            <a:r>
              <a:rPr lang="en-US" sz="2000" u="sng" dirty="0">
                <a:latin typeface="Calibri" pitchFamily="34" charset="0"/>
              </a:rPr>
              <a:t>Process	Arrival Time</a:t>
            </a:r>
            <a:r>
              <a:rPr lang="en-US" sz="2000" dirty="0">
                <a:latin typeface="Calibri" pitchFamily="34" charset="0"/>
              </a:rPr>
              <a:t>	</a:t>
            </a:r>
            <a:r>
              <a:rPr lang="en-US" sz="2000" u="sng" dirty="0">
                <a:latin typeface="Calibri" pitchFamily="34" charset="0"/>
              </a:rPr>
              <a:t>Burst Time</a:t>
            </a:r>
            <a:endParaRPr lang="en-US" sz="2000" dirty="0">
              <a:latin typeface="Calibri" pitchFamily="34" charset="0"/>
            </a:endParaRPr>
          </a:p>
          <a:p>
            <a:pPr marL="342900" indent="-342900">
              <a:spcBef>
                <a:spcPct val="20000"/>
              </a:spcBef>
              <a:buClr>
                <a:schemeClr val="tx2"/>
              </a:buClr>
              <a:buSzPct val="70000"/>
              <a:tabLst>
                <a:tab pos="1603375" algn="ctr"/>
                <a:tab pos="3254375" algn="ctr"/>
                <a:tab pos="5143500" algn="ctr"/>
              </a:tabLst>
            </a:pPr>
            <a:r>
              <a:rPr lang="en-US" dirty="0">
                <a:latin typeface="Calibri" pitchFamily="34" charset="0"/>
              </a:rPr>
              <a:t>		</a:t>
            </a:r>
            <a:r>
              <a:rPr lang="en-US" i="1" dirty="0">
                <a:latin typeface="Calibri" pitchFamily="34" charset="0"/>
              </a:rPr>
              <a:t>P</a:t>
            </a:r>
            <a:r>
              <a:rPr lang="en-US" i="1" baseline="-25000" dirty="0">
                <a:latin typeface="Calibri" pitchFamily="34" charset="0"/>
              </a:rPr>
              <a:t>1</a:t>
            </a:r>
            <a:r>
              <a:rPr lang="en-US" dirty="0">
                <a:latin typeface="Calibri" pitchFamily="34" charset="0"/>
              </a:rPr>
              <a:t>	0.0	7</a:t>
            </a:r>
          </a:p>
          <a:p>
            <a:pPr marL="342900" indent="-342900">
              <a:spcBef>
                <a:spcPct val="20000"/>
              </a:spcBef>
              <a:buClr>
                <a:schemeClr val="tx2"/>
              </a:buClr>
              <a:buSzPct val="70000"/>
              <a:tabLst>
                <a:tab pos="1603375" algn="ctr"/>
                <a:tab pos="3254375" algn="ctr"/>
                <a:tab pos="5143500" algn="ctr"/>
              </a:tabLst>
            </a:pPr>
            <a:r>
              <a:rPr lang="en-US" dirty="0">
                <a:latin typeface="Calibri" pitchFamily="34" charset="0"/>
              </a:rPr>
              <a:t>		 </a:t>
            </a:r>
            <a:r>
              <a:rPr lang="en-US" i="1" dirty="0">
                <a:latin typeface="Calibri" pitchFamily="34" charset="0"/>
              </a:rPr>
              <a:t>P</a:t>
            </a:r>
            <a:r>
              <a:rPr lang="en-US" i="1" baseline="-25000" dirty="0">
                <a:latin typeface="Calibri" pitchFamily="34" charset="0"/>
              </a:rPr>
              <a:t>2	</a:t>
            </a:r>
            <a:r>
              <a:rPr lang="en-US" dirty="0">
                <a:latin typeface="Calibri" pitchFamily="34" charset="0"/>
              </a:rPr>
              <a:t>2.0	4</a:t>
            </a:r>
          </a:p>
          <a:p>
            <a:pPr marL="342900" indent="-342900">
              <a:spcBef>
                <a:spcPct val="20000"/>
              </a:spcBef>
              <a:buClr>
                <a:schemeClr val="tx2"/>
              </a:buClr>
              <a:buSzPct val="70000"/>
              <a:tabLst>
                <a:tab pos="1603375" algn="ctr"/>
                <a:tab pos="3254375" algn="ctr"/>
                <a:tab pos="5143500" algn="ctr"/>
              </a:tabLst>
            </a:pPr>
            <a:r>
              <a:rPr lang="en-US" dirty="0">
                <a:latin typeface="Calibri" pitchFamily="34" charset="0"/>
              </a:rPr>
              <a:t>		 </a:t>
            </a:r>
            <a:r>
              <a:rPr lang="en-US" i="1" dirty="0">
                <a:latin typeface="Calibri" pitchFamily="34" charset="0"/>
              </a:rPr>
              <a:t>P</a:t>
            </a:r>
            <a:r>
              <a:rPr lang="en-US" i="1" baseline="-25000" dirty="0">
                <a:latin typeface="Calibri" pitchFamily="34" charset="0"/>
              </a:rPr>
              <a:t>3</a:t>
            </a:r>
            <a:r>
              <a:rPr lang="en-US" dirty="0">
                <a:latin typeface="Calibri" pitchFamily="34" charset="0"/>
              </a:rPr>
              <a:t>	4.0	1</a:t>
            </a:r>
          </a:p>
          <a:p>
            <a:pPr marL="342900" indent="-342900">
              <a:spcBef>
                <a:spcPct val="20000"/>
              </a:spcBef>
              <a:buClr>
                <a:schemeClr val="tx2"/>
              </a:buClr>
              <a:buSzPct val="70000"/>
              <a:tabLst>
                <a:tab pos="1603375" algn="ctr"/>
                <a:tab pos="3254375" algn="ctr"/>
                <a:tab pos="5143500" algn="ctr"/>
              </a:tabLst>
            </a:pPr>
            <a:r>
              <a:rPr lang="en-US" dirty="0">
                <a:latin typeface="Calibri" pitchFamily="34" charset="0"/>
              </a:rPr>
              <a:t>		 </a:t>
            </a:r>
            <a:r>
              <a:rPr lang="en-US" i="1" dirty="0">
                <a:latin typeface="Calibri" pitchFamily="34" charset="0"/>
              </a:rPr>
              <a:t>P</a:t>
            </a:r>
            <a:r>
              <a:rPr lang="en-US" i="1" baseline="-25000" dirty="0">
                <a:latin typeface="Calibri" pitchFamily="34" charset="0"/>
              </a:rPr>
              <a:t>4</a:t>
            </a:r>
            <a:r>
              <a:rPr lang="en-US" dirty="0">
                <a:latin typeface="Calibri" pitchFamily="34" charset="0"/>
              </a:rPr>
              <a:t>	5.0	4</a:t>
            </a:r>
          </a:p>
          <a:p>
            <a:pPr marL="342900" indent="-342900">
              <a:spcBef>
                <a:spcPct val="20000"/>
              </a:spcBef>
              <a:buClr>
                <a:schemeClr val="tx2"/>
              </a:buClr>
              <a:buSzPct val="70000"/>
              <a:buFont typeface="Wingdings" pitchFamily="2" charset="2"/>
              <a:buChar char="n"/>
              <a:tabLst>
                <a:tab pos="1603375" algn="ctr"/>
                <a:tab pos="3254375" algn="ctr"/>
                <a:tab pos="5143500" algn="ctr"/>
              </a:tabLst>
            </a:pPr>
            <a:r>
              <a:rPr lang="en-US" sz="2000" dirty="0">
                <a:latin typeface="Calibri" pitchFamily="34" charset="0"/>
              </a:rPr>
              <a:t>SJF (non-preemptive)</a:t>
            </a:r>
          </a:p>
          <a:p>
            <a:pPr marL="342900" indent="-342900">
              <a:spcBef>
                <a:spcPct val="20000"/>
              </a:spcBef>
              <a:buClr>
                <a:schemeClr val="tx2"/>
              </a:buClr>
              <a:buSzPct val="70000"/>
              <a:buFont typeface="Wingdings" pitchFamily="2" charset="2"/>
              <a:buChar char="n"/>
              <a:tabLst>
                <a:tab pos="1603375" algn="ctr"/>
                <a:tab pos="3254375" algn="ctr"/>
                <a:tab pos="5143500" algn="ctr"/>
              </a:tabLst>
            </a:pPr>
            <a:endParaRPr lang="en-US" sz="2000" dirty="0">
              <a:latin typeface="Calibri" pitchFamily="34" charset="0"/>
            </a:endParaRPr>
          </a:p>
          <a:p>
            <a:pPr marL="342900" indent="-342900">
              <a:spcBef>
                <a:spcPct val="20000"/>
              </a:spcBef>
              <a:buClr>
                <a:schemeClr val="tx2"/>
              </a:buClr>
              <a:buSzPct val="70000"/>
              <a:buFont typeface="Wingdings" pitchFamily="2" charset="2"/>
              <a:buChar char="n"/>
              <a:tabLst>
                <a:tab pos="1603375" algn="ctr"/>
                <a:tab pos="3254375" algn="ctr"/>
                <a:tab pos="5143500" algn="ctr"/>
              </a:tabLst>
            </a:pPr>
            <a:endParaRPr lang="en-US" sz="2000" dirty="0">
              <a:latin typeface="Calibri" pitchFamily="34" charset="0"/>
            </a:endParaRPr>
          </a:p>
          <a:p>
            <a:pPr marL="342900" indent="-342900">
              <a:spcBef>
                <a:spcPct val="20000"/>
              </a:spcBef>
              <a:buClr>
                <a:schemeClr val="tx2"/>
              </a:buClr>
              <a:buSzPct val="70000"/>
              <a:buFont typeface="Wingdings" pitchFamily="2" charset="2"/>
              <a:buChar char="n"/>
              <a:tabLst>
                <a:tab pos="1603375" algn="ctr"/>
                <a:tab pos="3254375" algn="ctr"/>
                <a:tab pos="5143500" algn="ctr"/>
              </a:tabLst>
            </a:pPr>
            <a:endParaRPr lang="en-US" sz="2000" dirty="0">
              <a:latin typeface="Calibri" pitchFamily="34" charset="0"/>
            </a:endParaRPr>
          </a:p>
          <a:p>
            <a:pPr marL="342900" indent="-342900">
              <a:spcBef>
                <a:spcPct val="20000"/>
              </a:spcBef>
              <a:buClr>
                <a:schemeClr val="tx2"/>
              </a:buClr>
              <a:buSzPct val="70000"/>
              <a:buFont typeface="Wingdings" pitchFamily="2" charset="2"/>
              <a:buChar char="n"/>
              <a:tabLst>
                <a:tab pos="1603375" algn="ctr"/>
                <a:tab pos="3254375" algn="ctr"/>
                <a:tab pos="5143500" algn="ctr"/>
              </a:tabLst>
            </a:pPr>
            <a:endParaRPr lang="en-US" sz="2000" dirty="0">
              <a:latin typeface="Calibri" pitchFamily="34" charset="0"/>
            </a:endParaRPr>
          </a:p>
          <a:p>
            <a:pPr marL="342900" indent="-342900">
              <a:spcBef>
                <a:spcPct val="20000"/>
              </a:spcBef>
              <a:buClr>
                <a:schemeClr val="tx2"/>
              </a:buClr>
              <a:buSzPct val="70000"/>
              <a:buFont typeface="Wingdings" pitchFamily="2" charset="2"/>
              <a:buChar char="n"/>
              <a:tabLst>
                <a:tab pos="1603375" algn="ctr"/>
                <a:tab pos="3254375" algn="ctr"/>
                <a:tab pos="5143500" algn="ctr"/>
              </a:tabLst>
            </a:pPr>
            <a:endParaRPr lang="en-US" sz="2000" dirty="0">
              <a:latin typeface="Calibri" pitchFamily="34" charset="0"/>
            </a:endParaRPr>
          </a:p>
          <a:p>
            <a:pPr marL="342900" indent="-342900">
              <a:spcBef>
                <a:spcPct val="20000"/>
              </a:spcBef>
              <a:buClr>
                <a:schemeClr val="tx2"/>
              </a:buClr>
              <a:buSzPct val="70000"/>
              <a:buFont typeface="Wingdings" pitchFamily="2" charset="2"/>
              <a:buChar char="n"/>
              <a:tabLst>
                <a:tab pos="1603375" algn="ctr"/>
                <a:tab pos="3254375" algn="ctr"/>
                <a:tab pos="5143500" algn="ctr"/>
              </a:tabLst>
            </a:pPr>
            <a:r>
              <a:rPr lang="en-US" sz="2000" dirty="0">
                <a:latin typeface="Calibri" pitchFamily="34" charset="0"/>
              </a:rPr>
              <a:t>Average waiting time = (0 + 6 + 3 + 7)/4  =  4</a:t>
            </a:r>
          </a:p>
        </p:txBody>
      </p:sp>
      <p:grpSp>
        <p:nvGrpSpPr>
          <p:cNvPr id="2" name="Group 5"/>
          <p:cNvGrpSpPr>
            <a:grpSpLocks/>
          </p:cNvGrpSpPr>
          <p:nvPr/>
        </p:nvGrpSpPr>
        <p:grpSpPr bwMode="auto">
          <a:xfrm>
            <a:off x="2833902" y="4249784"/>
            <a:ext cx="5556250" cy="1131887"/>
            <a:chOff x="864" y="2325"/>
            <a:chExt cx="3500" cy="713"/>
          </a:xfrm>
        </p:grpSpPr>
        <p:sp>
          <p:nvSpPr>
            <p:cNvPr id="36871" name="Rectangle 6"/>
            <p:cNvSpPr>
              <a:spLocks noChangeArrowheads="1"/>
            </p:cNvSpPr>
            <p:nvPr/>
          </p:nvSpPr>
          <p:spPr bwMode="auto">
            <a:xfrm flipH="1">
              <a:off x="960" y="2325"/>
              <a:ext cx="3312" cy="384"/>
            </a:xfrm>
            <a:prstGeom prst="rect">
              <a:avLst/>
            </a:prstGeom>
            <a:solidFill>
              <a:schemeClr val="accent6">
                <a:lumMod val="40000"/>
                <a:lumOff val="60000"/>
              </a:schemeClr>
            </a:solidFill>
            <a:ln w="9525">
              <a:solidFill>
                <a:schemeClr val="tx1"/>
              </a:solidFill>
              <a:miter lim="800000"/>
              <a:headEnd/>
              <a:tailEnd/>
            </a:ln>
          </p:spPr>
          <p:txBody>
            <a:bodyPr wrap="none" anchor="ctr"/>
            <a:lstStyle/>
            <a:p>
              <a:endParaRPr lang="en-US">
                <a:latin typeface="Calibri" pitchFamily="34" charset="0"/>
              </a:endParaRPr>
            </a:p>
          </p:txBody>
        </p:sp>
        <p:sp>
          <p:nvSpPr>
            <p:cNvPr id="36872" name="Text Box 7"/>
            <p:cNvSpPr txBox="1">
              <a:spLocks noChangeArrowheads="1"/>
            </p:cNvSpPr>
            <p:nvPr/>
          </p:nvSpPr>
          <p:spPr bwMode="auto">
            <a:xfrm flipH="1">
              <a:off x="1392" y="2373"/>
              <a:ext cx="241" cy="233"/>
            </a:xfrm>
            <a:prstGeom prst="rect">
              <a:avLst/>
            </a:prstGeom>
            <a:noFill/>
            <a:ln w="9525">
              <a:noFill/>
              <a:miter lim="800000"/>
              <a:headEnd/>
              <a:tailEnd/>
            </a:ln>
          </p:spPr>
          <p:txBody>
            <a:bodyPr wrap="none" anchor="ctr">
              <a:spAutoFit/>
            </a:bodyPr>
            <a:lstStyle/>
            <a:p>
              <a:pPr algn="ctr" eaLnBrk="0" hangingPunct="0">
                <a:spcBef>
                  <a:spcPct val="50000"/>
                </a:spcBef>
              </a:pPr>
              <a:r>
                <a:rPr lang="en-US" dirty="0">
                  <a:latin typeface="Calibri" pitchFamily="34" charset="0"/>
                </a:rPr>
                <a:t>P</a:t>
              </a:r>
              <a:r>
                <a:rPr lang="en-US" baseline="-25000" dirty="0">
                  <a:latin typeface="Calibri" pitchFamily="34" charset="0"/>
                </a:rPr>
                <a:t>1</a:t>
              </a:r>
              <a:endParaRPr lang="en-US" dirty="0">
                <a:latin typeface="Calibri" pitchFamily="34" charset="0"/>
              </a:endParaRPr>
            </a:p>
          </p:txBody>
        </p:sp>
        <p:sp>
          <p:nvSpPr>
            <p:cNvPr id="36873" name="Text Box 8"/>
            <p:cNvSpPr txBox="1">
              <a:spLocks noChangeArrowheads="1"/>
            </p:cNvSpPr>
            <p:nvPr/>
          </p:nvSpPr>
          <p:spPr bwMode="auto">
            <a:xfrm flipH="1">
              <a:off x="2400" y="2373"/>
              <a:ext cx="241" cy="233"/>
            </a:xfrm>
            <a:prstGeom prst="rect">
              <a:avLst/>
            </a:prstGeom>
            <a:noFill/>
            <a:ln w="9525">
              <a:noFill/>
              <a:miter lim="800000"/>
              <a:headEnd/>
              <a:tailEnd/>
            </a:ln>
          </p:spPr>
          <p:txBody>
            <a:bodyPr wrap="none" anchor="ctr">
              <a:spAutoFit/>
            </a:bodyPr>
            <a:lstStyle/>
            <a:p>
              <a:pPr algn="ctr" eaLnBrk="0" hangingPunct="0">
                <a:spcBef>
                  <a:spcPct val="50000"/>
                </a:spcBef>
              </a:pPr>
              <a:r>
                <a:rPr lang="en-US">
                  <a:latin typeface="Calibri" pitchFamily="34" charset="0"/>
                </a:rPr>
                <a:t>P</a:t>
              </a:r>
              <a:r>
                <a:rPr lang="en-US" baseline="-25000">
                  <a:latin typeface="Calibri" pitchFamily="34" charset="0"/>
                </a:rPr>
                <a:t>3</a:t>
              </a:r>
              <a:endParaRPr lang="en-US">
                <a:latin typeface="Calibri" pitchFamily="34" charset="0"/>
              </a:endParaRPr>
            </a:p>
          </p:txBody>
        </p:sp>
        <p:sp>
          <p:nvSpPr>
            <p:cNvPr id="36874" name="Text Box 9"/>
            <p:cNvSpPr txBox="1">
              <a:spLocks noChangeArrowheads="1"/>
            </p:cNvSpPr>
            <p:nvPr/>
          </p:nvSpPr>
          <p:spPr bwMode="auto">
            <a:xfrm flipH="1">
              <a:off x="2976" y="2373"/>
              <a:ext cx="241" cy="233"/>
            </a:xfrm>
            <a:prstGeom prst="rect">
              <a:avLst/>
            </a:prstGeom>
            <a:noFill/>
            <a:ln w="9525">
              <a:noFill/>
              <a:miter lim="800000"/>
              <a:headEnd/>
              <a:tailEnd/>
            </a:ln>
          </p:spPr>
          <p:txBody>
            <a:bodyPr wrap="none" anchor="ctr">
              <a:spAutoFit/>
            </a:bodyPr>
            <a:lstStyle/>
            <a:p>
              <a:pPr algn="ctr" eaLnBrk="0" hangingPunct="0">
                <a:spcBef>
                  <a:spcPct val="50000"/>
                </a:spcBef>
              </a:pPr>
              <a:r>
                <a:rPr lang="en-US">
                  <a:latin typeface="Calibri" pitchFamily="34" charset="0"/>
                </a:rPr>
                <a:t>P</a:t>
              </a:r>
              <a:r>
                <a:rPr lang="en-US" baseline="-25000">
                  <a:latin typeface="Calibri" pitchFamily="34" charset="0"/>
                </a:rPr>
                <a:t>2</a:t>
              </a:r>
              <a:endParaRPr lang="en-US">
                <a:latin typeface="Calibri" pitchFamily="34" charset="0"/>
              </a:endParaRPr>
            </a:p>
          </p:txBody>
        </p:sp>
        <p:sp>
          <p:nvSpPr>
            <p:cNvPr id="36875" name="Line 10"/>
            <p:cNvSpPr>
              <a:spLocks noChangeShapeType="1"/>
            </p:cNvSpPr>
            <p:nvPr/>
          </p:nvSpPr>
          <p:spPr bwMode="auto">
            <a:xfrm flipH="1">
              <a:off x="4272" y="2709"/>
              <a:ext cx="0" cy="144"/>
            </a:xfrm>
            <a:prstGeom prst="line">
              <a:avLst/>
            </a:prstGeom>
            <a:noFill/>
            <a:ln w="9525">
              <a:solidFill>
                <a:schemeClr val="tx1"/>
              </a:solidFill>
              <a:round/>
              <a:headEnd/>
              <a:tailEnd/>
            </a:ln>
          </p:spPr>
          <p:txBody>
            <a:bodyPr wrap="none" anchor="ctr"/>
            <a:lstStyle/>
            <a:p>
              <a:endParaRPr lang="en-US">
                <a:latin typeface="Calibri" pitchFamily="34" charset="0"/>
              </a:endParaRPr>
            </a:p>
          </p:txBody>
        </p:sp>
        <p:sp>
          <p:nvSpPr>
            <p:cNvPr id="36876" name="Line 11"/>
            <p:cNvSpPr>
              <a:spLocks noChangeShapeType="1"/>
            </p:cNvSpPr>
            <p:nvPr/>
          </p:nvSpPr>
          <p:spPr bwMode="auto">
            <a:xfrm flipH="1">
              <a:off x="960" y="2709"/>
              <a:ext cx="0" cy="144"/>
            </a:xfrm>
            <a:prstGeom prst="line">
              <a:avLst/>
            </a:prstGeom>
            <a:noFill/>
            <a:ln w="9525">
              <a:solidFill>
                <a:schemeClr val="tx1"/>
              </a:solidFill>
              <a:round/>
              <a:headEnd/>
              <a:tailEnd/>
            </a:ln>
          </p:spPr>
          <p:txBody>
            <a:bodyPr wrap="none" anchor="ctr"/>
            <a:lstStyle/>
            <a:p>
              <a:endParaRPr lang="en-US">
                <a:latin typeface="Calibri" pitchFamily="34" charset="0"/>
              </a:endParaRPr>
            </a:p>
          </p:txBody>
        </p:sp>
        <p:sp>
          <p:nvSpPr>
            <p:cNvPr id="36877" name="Line 12"/>
            <p:cNvSpPr>
              <a:spLocks noChangeShapeType="1"/>
            </p:cNvSpPr>
            <p:nvPr/>
          </p:nvSpPr>
          <p:spPr bwMode="auto">
            <a:xfrm flipH="1">
              <a:off x="2688" y="2325"/>
              <a:ext cx="0" cy="384"/>
            </a:xfrm>
            <a:prstGeom prst="line">
              <a:avLst/>
            </a:prstGeom>
            <a:noFill/>
            <a:ln w="9525">
              <a:solidFill>
                <a:schemeClr val="tx1"/>
              </a:solidFill>
              <a:round/>
              <a:headEnd/>
              <a:tailEnd/>
            </a:ln>
          </p:spPr>
          <p:txBody>
            <a:bodyPr wrap="none" anchor="ctr"/>
            <a:lstStyle/>
            <a:p>
              <a:endParaRPr lang="en-US">
                <a:latin typeface="Calibri" pitchFamily="34" charset="0"/>
              </a:endParaRPr>
            </a:p>
          </p:txBody>
        </p:sp>
        <p:sp>
          <p:nvSpPr>
            <p:cNvPr id="36878" name="Line 13"/>
            <p:cNvSpPr>
              <a:spLocks noChangeShapeType="1"/>
            </p:cNvSpPr>
            <p:nvPr/>
          </p:nvSpPr>
          <p:spPr bwMode="auto">
            <a:xfrm flipH="1">
              <a:off x="2400" y="2325"/>
              <a:ext cx="0" cy="384"/>
            </a:xfrm>
            <a:prstGeom prst="line">
              <a:avLst/>
            </a:prstGeom>
            <a:noFill/>
            <a:ln w="9525">
              <a:solidFill>
                <a:schemeClr val="tx1"/>
              </a:solidFill>
              <a:round/>
              <a:headEnd/>
              <a:tailEnd/>
            </a:ln>
          </p:spPr>
          <p:txBody>
            <a:bodyPr wrap="none" anchor="ctr"/>
            <a:lstStyle/>
            <a:p>
              <a:endParaRPr lang="en-US">
                <a:latin typeface="Calibri" pitchFamily="34" charset="0"/>
              </a:endParaRPr>
            </a:p>
          </p:txBody>
        </p:sp>
        <p:sp>
          <p:nvSpPr>
            <p:cNvPr id="36879" name="Line 14"/>
            <p:cNvSpPr>
              <a:spLocks noChangeShapeType="1"/>
            </p:cNvSpPr>
            <p:nvPr/>
          </p:nvSpPr>
          <p:spPr bwMode="auto">
            <a:xfrm flipH="1">
              <a:off x="2400" y="2709"/>
              <a:ext cx="0" cy="144"/>
            </a:xfrm>
            <a:prstGeom prst="line">
              <a:avLst/>
            </a:prstGeom>
            <a:noFill/>
            <a:ln w="9525">
              <a:solidFill>
                <a:schemeClr val="tx1"/>
              </a:solidFill>
              <a:round/>
              <a:headEnd/>
              <a:tailEnd/>
            </a:ln>
          </p:spPr>
          <p:txBody>
            <a:bodyPr wrap="none" anchor="ctr"/>
            <a:lstStyle/>
            <a:p>
              <a:endParaRPr lang="en-US">
                <a:latin typeface="Calibri" pitchFamily="34" charset="0"/>
              </a:endParaRPr>
            </a:p>
          </p:txBody>
        </p:sp>
        <p:sp>
          <p:nvSpPr>
            <p:cNvPr id="36880" name="Line 15"/>
            <p:cNvSpPr>
              <a:spLocks noChangeShapeType="1"/>
            </p:cNvSpPr>
            <p:nvPr/>
          </p:nvSpPr>
          <p:spPr bwMode="auto">
            <a:xfrm flipH="1">
              <a:off x="1392" y="2638"/>
              <a:ext cx="0" cy="144"/>
            </a:xfrm>
            <a:prstGeom prst="line">
              <a:avLst/>
            </a:prstGeom>
            <a:noFill/>
            <a:ln w="9525">
              <a:solidFill>
                <a:schemeClr val="tx1"/>
              </a:solidFill>
              <a:round/>
              <a:headEnd/>
              <a:tailEnd/>
            </a:ln>
          </p:spPr>
          <p:txBody>
            <a:bodyPr wrap="none" anchor="ctr"/>
            <a:lstStyle/>
            <a:p>
              <a:endParaRPr lang="en-US">
                <a:latin typeface="Calibri" pitchFamily="34" charset="0"/>
              </a:endParaRPr>
            </a:p>
          </p:txBody>
        </p:sp>
        <p:sp>
          <p:nvSpPr>
            <p:cNvPr id="36881" name="Text Box 16"/>
            <p:cNvSpPr txBox="1">
              <a:spLocks noChangeArrowheads="1"/>
            </p:cNvSpPr>
            <p:nvPr/>
          </p:nvSpPr>
          <p:spPr bwMode="auto">
            <a:xfrm flipH="1">
              <a:off x="2304" y="2805"/>
              <a:ext cx="196" cy="231"/>
            </a:xfrm>
            <a:prstGeom prst="rect">
              <a:avLst/>
            </a:prstGeom>
            <a:noFill/>
            <a:ln w="9525">
              <a:noFill/>
              <a:miter lim="800000"/>
              <a:headEnd/>
              <a:tailEnd/>
            </a:ln>
          </p:spPr>
          <p:txBody>
            <a:bodyPr wrap="none" anchor="ctr">
              <a:spAutoFit/>
            </a:bodyPr>
            <a:lstStyle/>
            <a:p>
              <a:pPr algn="ctr" eaLnBrk="0" hangingPunct="0">
                <a:spcBef>
                  <a:spcPct val="50000"/>
                </a:spcBef>
              </a:pPr>
              <a:r>
                <a:rPr lang="en-US">
                  <a:latin typeface="Calibri" pitchFamily="34" charset="0"/>
                </a:rPr>
                <a:t>7</a:t>
              </a:r>
            </a:p>
          </p:txBody>
        </p:sp>
        <p:sp>
          <p:nvSpPr>
            <p:cNvPr id="36882" name="Text Box 17"/>
            <p:cNvSpPr txBox="1">
              <a:spLocks noChangeArrowheads="1"/>
            </p:cNvSpPr>
            <p:nvPr/>
          </p:nvSpPr>
          <p:spPr bwMode="auto">
            <a:xfrm flipH="1">
              <a:off x="1492" y="2805"/>
              <a:ext cx="196" cy="231"/>
            </a:xfrm>
            <a:prstGeom prst="rect">
              <a:avLst/>
            </a:prstGeom>
            <a:noFill/>
            <a:ln w="9525">
              <a:noFill/>
              <a:miter lim="800000"/>
              <a:headEnd/>
              <a:tailEnd/>
            </a:ln>
          </p:spPr>
          <p:txBody>
            <a:bodyPr wrap="none" anchor="ctr">
              <a:spAutoFit/>
            </a:bodyPr>
            <a:lstStyle/>
            <a:p>
              <a:pPr algn="ctr" eaLnBrk="0" hangingPunct="0">
                <a:spcBef>
                  <a:spcPct val="50000"/>
                </a:spcBef>
              </a:pPr>
              <a:r>
                <a:rPr lang="en-US">
                  <a:latin typeface="Calibri" pitchFamily="34" charset="0"/>
                </a:rPr>
                <a:t>3</a:t>
              </a:r>
            </a:p>
          </p:txBody>
        </p:sp>
        <p:sp>
          <p:nvSpPr>
            <p:cNvPr id="36883" name="Text Box 18"/>
            <p:cNvSpPr txBox="1">
              <a:spLocks noChangeArrowheads="1"/>
            </p:cNvSpPr>
            <p:nvPr/>
          </p:nvSpPr>
          <p:spPr bwMode="auto">
            <a:xfrm flipH="1">
              <a:off x="4100" y="2805"/>
              <a:ext cx="264" cy="233"/>
            </a:xfrm>
            <a:prstGeom prst="rect">
              <a:avLst/>
            </a:prstGeom>
            <a:noFill/>
            <a:ln w="9525">
              <a:noFill/>
              <a:miter lim="800000"/>
              <a:headEnd/>
              <a:tailEnd/>
            </a:ln>
          </p:spPr>
          <p:txBody>
            <a:bodyPr wrap="none" anchor="ctr">
              <a:spAutoFit/>
            </a:bodyPr>
            <a:lstStyle/>
            <a:p>
              <a:pPr algn="ctr" eaLnBrk="0" hangingPunct="0">
                <a:spcBef>
                  <a:spcPct val="50000"/>
                </a:spcBef>
              </a:pPr>
              <a:r>
                <a:rPr lang="en-US">
                  <a:latin typeface="Calibri" pitchFamily="34" charset="0"/>
                </a:rPr>
                <a:t>16</a:t>
              </a:r>
            </a:p>
          </p:txBody>
        </p:sp>
        <p:sp>
          <p:nvSpPr>
            <p:cNvPr id="36884" name="Text Box 19"/>
            <p:cNvSpPr txBox="1">
              <a:spLocks noChangeArrowheads="1"/>
            </p:cNvSpPr>
            <p:nvPr/>
          </p:nvSpPr>
          <p:spPr bwMode="auto">
            <a:xfrm flipH="1">
              <a:off x="864" y="2805"/>
              <a:ext cx="196" cy="231"/>
            </a:xfrm>
            <a:prstGeom prst="rect">
              <a:avLst/>
            </a:prstGeom>
            <a:noFill/>
            <a:ln w="9525">
              <a:noFill/>
              <a:miter lim="800000"/>
              <a:headEnd/>
              <a:tailEnd/>
            </a:ln>
          </p:spPr>
          <p:txBody>
            <a:bodyPr wrap="none" anchor="ctr">
              <a:spAutoFit/>
            </a:bodyPr>
            <a:lstStyle/>
            <a:p>
              <a:pPr algn="ctr" eaLnBrk="0" hangingPunct="0">
                <a:spcBef>
                  <a:spcPct val="50000"/>
                </a:spcBef>
              </a:pPr>
              <a:r>
                <a:rPr lang="en-US">
                  <a:latin typeface="Calibri" pitchFamily="34" charset="0"/>
                </a:rPr>
                <a:t>0</a:t>
              </a:r>
            </a:p>
          </p:txBody>
        </p:sp>
        <p:sp>
          <p:nvSpPr>
            <p:cNvPr id="36885" name="Text Box 20"/>
            <p:cNvSpPr txBox="1">
              <a:spLocks noChangeArrowheads="1"/>
            </p:cNvSpPr>
            <p:nvPr/>
          </p:nvSpPr>
          <p:spPr bwMode="auto">
            <a:xfrm flipH="1">
              <a:off x="3696" y="2373"/>
              <a:ext cx="241" cy="233"/>
            </a:xfrm>
            <a:prstGeom prst="rect">
              <a:avLst/>
            </a:prstGeom>
            <a:noFill/>
            <a:ln w="9525">
              <a:noFill/>
              <a:miter lim="800000"/>
              <a:headEnd/>
              <a:tailEnd/>
            </a:ln>
          </p:spPr>
          <p:txBody>
            <a:bodyPr wrap="none" anchor="ctr">
              <a:spAutoFit/>
            </a:bodyPr>
            <a:lstStyle/>
            <a:p>
              <a:pPr algn="ctr" eaLnBrk="0" hangingPunct="0">
                <a:spcBef>
                  <a:spcPct val="50000"/>
                </a:spcBef>
              </a:pPr>
              <a:r>
                <a:rPr lang="en-US">
                  <a:latin typeface="Calibri" pitchFamily="34" charset="0"/>
                </a:rPr>
                <a:t>P</a:t>
              </a:r>
              <a:r>
                <a:rPr lang="en-US" baseline="-25000">
                  <a:latin typeface="Calibri" pitchFamily="34" charset="0"/>
                </a:rPr>
                <a:t>4</a:t>
              </a:r>
              <a:endParaRPr lang="en-US">
                <a:latin typeface="Calibri" pitchFamily="34" charset="0"/>
              </a:endParaRPr>
            </a:p>
          </p:txBody>
        </p:sp>
        <p:sp>
          <p:nvSpPr>
            <p:cNvPr id="36886" name="Line 21"/>
            <p:cNvSpPr>
              <a:spLocks noChangeShapeType="1"/>
            </p:cNvSpPr>
            <p:nvPr/>
          </p:nvSpPr>
          <p:spPr bwMode="auto">
            <a:xfrm flipH="1">
              <a:off x="3456" y="2325"/>
              <a:ext cx="0" cy="384"/>
            </a:xfrm>
            <a:prstGeom prst="line">
              <a:avLst/>
            </a:prstGeom>
            <a:noFill/>
            <a:ln w="9525">
              <a:solidFill>
                <a:schemeClr val="tx1"/>
              </a:solidFill>
              <a:round/>
              <a:headEnd/>
              <a:tailEnd/>
            </a:ln>
          </p:spPr>
          <p:txBody>
            <a:bodyPr wrap="none" anchor="ctr"/>
            <a:lstStyle/>
            <a:p>
              <a:endParaRPr lang="en-US">
                <a:latin typeface="Calibri" pitchFamily="34" charset="0"/>
              </a:endParaRPr>
            </a:p>
          </p:txBody>
        </p:sp>
        <p:sp>
          <p:nvSpPr>
            <p:cNvPr id="36887" name="Line 22"/>
            <p:cNvSpPr>
              <a:spLocks noChangeShapeType="1"/>
            </p:cNvSpPr>
            <p:nvPr/>
          </p:nvSpPr>
          <p:spPr bwMode="auto">
            <a:xfrm flipH="1">
              <a:off x="1152" y="2638"/>
              <a:ext cx="0" cy="144"/>
            </a:xfrm>
            <a:prstGeom prst="line">
              <a:avLst/>
            </a:prstGeom>
            <a:noFill/>
            <a:ln w="9525">
              <a:solidFill>
                <a:schemeClr val="tx1"/>
              </a:solidFill>
              <a:round/>
              <a:headEnd/>
              <a:tailEnd/>
            </a:ln>
          </p:spPr>
          <p:txBody>
            <a:bodyPr wrap="none" anchor="ctr"/>
            <a:lstStyle/>
            <a:p>
              <a:endParaRPr lang="en-US">
                <a:latin typeface="Calibri" pitchFamily="34" charset="0"/>
              </a:endParaRPr>
            </a:p>
          </p:txBody>
        </p:sp>
        <p:sp>
          <p:nvSpPr>
            <p:cNvPr id="36888" name="Line 23"/>
            <p:cNvSpPr>
              <a:spLocks noChangeShapeType="1"/>
            </p:cNvSpPr>
            <p:nvPr/>
          </p:nvSpPr>
          <p:spPr bwMode="auto">
            <a:xfrm flipH="1">
              <a:off x="1632" y="2638"/>
              <a:ext cx="0" cy="144"/>
            </a:xfrm>
            <a:prstGeom prst="line">
              <a:avLst/>
            </a:prstGeom>
            <a:noFill/>
            <a:ln w="9525">
              <a:solidFill>
                <a:schemeClr val="tx1"/>
              </a:solidFill>
              <a:round/>
              <a:headEnd/>
              <a:tailEnd/>
            </a:ln>
          </p:spPr>
          <p:txBody>
            <a:bodyPr wrap="none" anchor="ctr"/>
            <a:lstStyle/>
            <a:p>
              <a:endParaRPr lang="en-US">
                <a:latin typeface="Calibri" pitchFamily="34" charset="0"/>
              </a:endParaRPr>
            </a:p>
          </p:txBody>
        </p:sp>
        <p:sp>
          <p:nvSpPr>
            <p:cNvPr id="36889" name="Line 24"/>
            <p:cNvSpPr>
              <a:spLocks noChangeShapeType="1"/>
            </p:cNvSpPr>
            <p:nvPr/>
          </p:nvSpPr>
          <p:spPr bwMode="auto">
            <a:xfrm flipH="1">
              <a:off x="1872" y="2638"/>
              <a:ext cx="0" cy="144"/>
            </a:xfrm>
            <a:prstGeom prst="line">
              <a:avLst/>
            </a:prstGeom>
            <a:noFill/>
            <a:ln w="9525">
              <a:solidFill>
                <a:schemeClr val="tx1"/>
              </a:solidFill>
              <a:round/>
              <a:headEnd/>
              <a:tailEnd/>
            </a:ln>
          </p:spPr>
          <p:txBody>
            <a:bodyPr wrap="none" anchor="ctr"/>
            <a:lstStyle/>
            <a:p>
              <a:endParaRPr lang="en-US">
                <a:latin typeface="Calibri" pitchFamily="34" charset="0"/>
              </a:endParaRPr>
            </a:p>
          </p:txBody>
        </p:sp>
        <p:sp>
          <p:nvSpPr>
            <p:cNvPr id="36890" name="Line 25"/>
            <p:cNvSpPr>
              <a:spLocks noChangeShapeType="1"/>
            </p:cNvSpPr>
            <p:nvPr/>
          </p:nvSpPr>
          <p:spPr bwMode="auto">
            <a:xfrm flipH="1">
              <a:off x="2064" y="2638"/>
              <a:ext cx="0" cy="144"/>
            </a:xfrm>
            <a:prstGeom prst="line">
              <a:avLst/>
            </a:prstGeom>
            <a:noFill/>
            <a:ln w="9525">
              <a:solidFill>
                <a:schemeClr val="tx1"/>
              </a:solidFill>
              <a:round/>
              <a:headEnd/>
              <a:tailEnd/>
            </a:ln>
          </p:spPr>
          <p:txBody>
            <a:bodyPr wrap="none" anchor="ctr"/>
            <a:lstStyle/>
            <a:p>
              <a:endParaRPr lang="en-US">
                <a:latin typeface="Calibri" pitchFamily="34" charset="0"/>
              </a:endParaRPr>
            </a:p>
          </p:txBody>
        </p:sp>
        <p:sp>
          <p:nvSpPr>
            <p:cNvPr id="36891" name="Line 26"/>
            <p:cNvSpPr>
              <a:spLocks noChangeShapeType="1"/>
            </p:cNvSpPr>
            <p:nvPr/>
          </p:nvSpPr>
          <p:spPr bwMode="auto">
            <a:xfrm flipH="1">
              <a:off x="2256" y="2638"/>
              <a:ext cx="0" cy="144"/>
            </a:xfrm>
            <a:prstGeom prst="line">
              <a:avLst/>
            </a:prstGeom>
            <a:noFill/>
            <a:ln w="9525">
              <a:solidFill>
                <a:schemeClr val="tx1"/>
              </a:solidFill>
              <a:round/>
              <a:headEnd/>
              <a:tailEnd/>
            </a:ln>
          </p:spPr>
          <p:txBody>
            <a:bodyPr wrap="none" anchor="ctr"/>
            <a:lstStyle/>
            <a:p>
              <a:endParaRPr lang="en-US">
                <a:latin typeface="Calibri" pitchFamily="34" charset="0"/>
              </a:endParaRPr>
            </a:p>
          </p:txBody>
        </p:sp>
        <p:sp>
          <p:nvSpPr>
            <p:cNvPr id="36892" name="Line 27"/>
            <p:cNvSpPr>
              <a:spLocks noChangeShapeType="1"/>
            </p:cNvSpPr>
            <p:nvPr/>
          </p:nvSpPr>
          <p:spPr bwMode="auto">
            <a:xfrm flipH="1">
              <a:off x="2688" y="2709"/>
              <a:ext cx="0" cy="144"/>
            </a:xfrm>
            <a:prstGeom prst="line">
              <a:avLst/>
            </a:prstGeom>
            <a:noFill/>
            <a:ln w="9525">
              <a:solidFill>
                <a:schemeClr val="tx1"/>
              </a:solidFill>
              <a:round/>
              <a:headEnd/>
              <a:tailEnd/>
            </a:ln>
          </p:spPr>
          <p:txBody>
            <a:bodyPr wrap="none" anchor="ctr"/>
            <a:lstStyle/>
            <a:p>
              <a:endParaRPr lang="en-US">
                <a:latin typeface="Calibri" pitchFamily="34" charset="0"/>
              </a:endParaRPr>
            </a:p>
          </p:txBody>
        </p:sp>
        <p:sp>
          <p:nvSpPr>
            <p:cNvPr id="36893" name="Text Box 28"/>
            <p:cNvSpPr txBox="1">
              <a:spLocks noChangeArrowheads="1"/>
            </p:cNvSpPr>
            <p:nvPr/>
          </p:nvSpPr>
          <p:spPr bwMode="auto">
            <a:xfrm flipH="1">
              <a:off x="2592" y="2805"/>
              <a:ext cx="196" cy="231"/>
            </a:xfrm>
            <a:prstGeom prst="rect">
              <a:avLst/>
            </a:prstGeom>
            <a:noFill/>
            <a:ln w="9525">
              <a:noFill/>
              <a:miter lim="800000"/>
              <a:headEnd/>
              <a:tailEnd/>
            </a:ln>
          </p:spPr>
          <p:txBody>
            <a:bodyPr wrap="none" anchor="ctr">
              <a:spAutoFit/>
            </a:bodyPr>
            <a:lstStyle/>
            <a:p>
              <a:pPr algn="ctr" eaLnBrk="0" hangingPunct="0">
                <a:spcBef>
                  <a:spcPct val="50000"/>
                </a:spcBef>
              </a:pPr>
              <a:r>
                <a:rPr lang="en-US">
                  <a:latin typeface="Calibri" pitchFamily="34" charset="0"/>
                </a:rPr>
                <a:t>8</a:t>
              </a:r>
            </a:p>
          </p:txBody>
        </p:sp>
        <p:sp>
          <p:nvSpPr>
            <p:cNvPr id="36894" name="Line 29"/>
            <p:cNvSpPr>
              <a:spLocks noChangeShapeType="1"/>
            </p:cNvSpPr>
            <p:nvPr/>
          </p:nvSpPr>
          <p:spPr bwMode="auto">
            <a:xfrm flipH="1">
              <a:off x="2928" y="2638"/>
              <a:ext cx="0" cy="144"/>
            </a:xfrm>
            <a:prstGeom prst="line">
              <a:avLst/>
            </a:prstGeom>
            <a:noFill/>
            <a:ln w="9525">
              <a:solidFill>
                <a:schemeClr val="tx1"/>
              </a:solidFill>
              <a:round/>
              <a:headEnd/>
              <a:tailEnd/>
            </a:ln>
          </p:spPr>
          <p:txBody>
            <a:bodyPr wrap="none" anchor="ctr"/>
            <a:lstStyle/>
            <a:p>
              <a:endParaRPr lang="en-US">
                <a:latin typeface="Calibri" pitchFamily="34" charset="0"/>
              </a:endParaRPr>
            </a:p>
          </p:txBody>
        </p:sp>
        <p:sp>
          <p:nvSpPr>
            <p:cNvPr id="36895" name="Line 30"/>
            <p:cNvSpPr>
              <a:spLocks noChangeShapeType="1"/>
            </p:cNvSpPr>
            <p:nvPr/>
          </p:nvSpPr>
          <p:spPr bwMode="auto">
            <a:xfrm flipH="1">
              <a:off x="3120" y="2638"/>
              <a:ext cx="0" cy="144"/>
            </a:xfrm>
            <a:prstGeom prst="line">
              <a:avLst/>
            </a:prstGeom>
            <a:noFill/>
            <a:ln w="9525">
              <a:solidFill>
                <a:schemeClr val="tx1"/>
              </a:solidFill>
              <a:round/>
              <a:headEnd/>
              <a:tailEnd/>
            </a:ln>
          </p:spPr>
          <p:txBody>
            <a:bodyPr wrap="none" anchor="ctr"/>
            <a:lstStyle/>
            <a:p>
              <a:endParaRPr lang="en-US">
                <a:latin typeface="Calibri" pitchFamily="34" charset="0"/>
              </a:endParaRPr>
            </a:p>
          </p:txBody>
        </p:sp>
        <p:sp>
          <p:nvSpPr>
            <p:cNvPr id="36896" name="Line 31"/>
            <p:cNvSpPr>
              <a:spLocks noChangeShapeType="1"/>
            </p:cNvSpPr>
            <p:nvPr/>
          </p:nvSpPr>
          <p:spPr bwMode="auto">
            <a:xfrm flipH="1">
              <a:off x="3312" y="2638"/>
              <a:ext cx="0" cy="144"/>
            </a:xfrm>
            <a:prstGeom prst="line">
              <a:avLst/>
            </a:prstGeom>
            <a:noFill/>
            <a:ln w="9525">
              <a:solidFill>
                <a:schemeClr val="tx1"/>
              </a:solidFill>
              <a:round/>
              <a:headEnd/>
              <a:tailEnd/>
            </a:ln>
          </p:spPr>
          <p:txBody>
            <a:bodyPr wrap="none" anchor="ctr"/>
            <a:lstStyle/>
            <a:p>
              <a:endParaRPr lang="en-US">
                <a:latin typeface="Calibri" pitchFamily="34" charset="0"/>
              </a:endParaRPr>
            </a:p>
          </p:txBody>
        </p:sp>
        <p:sp>
          <p:nvSpPr>
            <p:cNvPr id="36897" name="Line 32"/>
            <p:cNvSpPr>
              <a:spLocks noChangeShapeType="1"/>
            </p:cNvSpPr>
            <p:nvPr/>
          </p:nvSpPr>
          <p:spPr bwMode="auto">
            <a:xfrm flipH="1">
              <a:off x="3456" y="2709"/>
              <a:ext cx="0" cy="144"/>
            </a:xfrm>
            <a:prstGeom prst="line">
              <a:avLst/>
            </a:prstGeom>
            <a:noFill/>
            <a:ln w="9525">
              <a:solidFill>
                <a:schemeClr val="tx1"/>
              </a:solidFill>
              <a:round/>
              <a:headEnd/>
              <a:tailEnd/>
            </a:ln>
          </p:spPr>
          <p:txBody>
            <a:bodyPr wrap="none" anchor="ctr"/>
            <a:lstStyle/>
            <a:p>
              <a:endParaRPr lang="en-US">
                <a:latin typeface="Calibri" pitchFamily="34" charset="0"/>
              </a:endParaRPr>
            </a:p>
          </p:txBody>
        </p:sp>
        <p:sp>
          <p:nvSpPr>
            <p:cNvPr id="36898" name="Text Box 33"/>
            <p:cNvSpPr txBox="1">
              <a:spLocks noChangeArrowheads="1"/>
            </p:cNvSpPr>
            <p:nvPr/>
          </p:nvSpPr>
          <p:spPr bwMode="auto">
            <a:xfrm flipH="1">
              <a:off x="3312" y="2805"/>
              <a:ext cx="264" cy="233"/>
            </a:xfrm>
            <a:prstGeom prst="rect">
              <a:avLst/>
            </a:prstGeom>
            <a:noFill/>
            <a:ln w="9525">
              <a:noFill/>
              <a:miter lim="800000"/>
              <a:headEnd/>
              <a:tailEnd/>
            </a:ln>
          </p:spPr>
          <p:txBody>
            <a:bodyPr wrap="none" anchor="ctr">
              <a:spAutoFit/>
            </a:bodyPr>
            <a:lstStyle/>
            <a:p>
              <a:pPr algn="ctr" eaLnBrk="0" hangingPunct="0">
                <a:spcBef>
                  <a:spcPct val="50000"/>
                </a:spcBef>
              </a:pPr>
              <a:r>
                <a:rPr lang="en-US">
                  <a:latin typeface="Calibri" pitchFamily="34" charset="0"/>
                </a:rPr>
                <a:t>12</a:t>
              </a:r>
            </a:p>
          </p:txBody>
        </p:sp>
        <p:sp>
          <p:nvSpPr>
            <p:cNvPr id="36899" name="Line 34"/>
            <p:cNvSpPr>
              <a:spLocks noChangeShapeType="1"/>
            </p:cNvSpPr>
            <p:nvPr/>
          </p:nvSpPr>
          <p:spPr bwMode="auto">
            <a:xfrm flipH="1">
              <a:off x="3696" y="2638"/>
              <a:ext cx="0" cy="144"/>
            </a:xfrm>
            <a:prstGeom prst="line">
              <a:avLst/>
            </a:prstGeom>
            <a:noFill/>
            <a:ln w="9525">
              <a:solidFill>
                <a:schemeClr val="tx1"/>
              </a:solidFill>
              <a:round/>
              <a:headEnd/>
              <a:tailEnd/>
            </a:ln>
          </p:spPr>
          <p:txBody>
            <a:bodyPr wrap="none" anchor="ctr"/>
            <a:lstStyle/>
            <a:p>
              <a:endParaRPr lang="en-US">
                <a:latin typeface="Calibri" pitchFamily="34" charset="0"/>
              </a:endParaRPr>
            </a:p>
          </p:txBody>
        </p:sp>
        <p:sp>
          <p:nvSpPr>
            <p:cNvPr id="36900" name="Line 35"/>
            <p:cNvSpPr>
              <a:spLocks noChangeShapeType="1"/>
            </p:cNvSpPr>
            <p:nvPr/>
          </p:nvSpPr>
          <p:spPr bwMode="auto">
            <a:xfrm flipH="1">
              <a:off x="3888" y="2638"/>
              <a:ext cx="0" cy="144"/>
            </a:xfrm>
            <a:prstGeom prst="line">
              <a:avLst/>
            </a:prstGeom>
            <a:noFill/>
            <a:ln w="9525">
              <a:solidFill>
                <a:schemeClr val="tx1"/>
              </a:solidFill>
              <a:round/>
              <a:headEnd/>
              <a:tailEnd/>
            </a:ln>
          </p:spPr>
          <p:txBody>
            <a:bodyPr wrap="none" anchor="ctr"/>
            <a:lstStyle/>
            <a:p>
              <a:endParaRPr lang="en-US">
                <a:latin typeface="Calibri" pitchFamily="34" charset="0"/>
              </a:endParaRPr>
            </a:p>
          </p:txBody>
        </p:sp>
        <p:sp>
          <p:nvSpPr>
            <p:cNvPr id="36901" name="Line 36"/>
            <p:cNvSpPr>
              <a:spLocks noChangeShapeType="1"/>
            </p:cNvSpPr>
            <p:nvPr/>
          </p:nvSpPr>
          <p:spPr bwMode="auto">
            <a:xfrm flipH="1">
              <a:off x="4080" y="2638"/>
              <a:ext cx="0" cy="144"/>
            </a:xfrm>
            <a:prstGeom prst="line">
              <a:avLst/>
            </a:prstGeom>
            <a:noFill/>
            <a:ln w="9525">
              <a:solidFill>
                <a:schemeClr val="tx1"/>
              </a:solidFill>
              <a:round/>
              <a:headEnd/>
              <a:tailEnd/>
            </a:ln>
          </p:spPr>
          <p:txBody>
            <a:bodyPr wrap="none" anchor="ctr"/>
            <a:lstStyle/>
            <a:p>
              <a:endParaRPr lang="en-US">
                <a:latin typeface="Calibri" pitchFamily="34" charset="0"/>
              </a:endParaRPr>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7625"/>
            <a:ext cx="10515600" cy="892901"/>
          </a:xfrm>
        </p:spPr>
        <p:txBody>
          <a:bodyPr/>
          <a:lstStyle/>
          <a:p>
            <a:r>
              <a:rPr lang="en-US" dirty="0"/>
              <a:t>Completion, Turnaround and Waiting times</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377154803"/>
              </p:ext>
            </p:extLst>
          </p:nvPr>
        </p:nvGraphicFramePr>
        <p:xfrm>
          <a:off x="513806" y="1916431"/>
          <a:ext cx="10515600" cy="2103120"/>
        </p:xfrm>
        <a:graphic>
          <a:graphicData uri="http://schemas.openxmlformats.org/drawingml/2006/table">
            <a:tbl>
              <a:tblPr/>
              <a:tblGrid>
                <a:gridCol w="1752600">
                  <a:extLst>
                    <a:ext uri="{9D8B030D-6E8A-4147-A177-3AD203B41FA5}">
                      <a16:colId xmlns:a16="http://schemas.microsoft.com/office/drawing/2014/main" val="4038181146"/>
                    </a:ext>
                  </a:extLst>
                </a:gridCol>
                <a:gridCol w="1752600">
                  <a:extLst>
                    <a:ext uri="{9D8B030D-6E8A-4147-A177-3AD203B41FA5}">
                      <a16:colId xmlns:a16="http://schemas.microsoft.com/office/drawing/2014/main" val="3205187817"/>
                    </a:ext>
                  </a:extLst>
                </a:gridCol>
                <a:gridCol w="1752600">
                  <a:extLst>
                    <a:ext uri="{9D8B030D-6E8A-4147-A177-3AD203B41FA5}">
                      <a16:colId xmlns:a16="http://schemas.microsoft.com/office/drawing/2014/main" val="1461794251"/>
                    </a:ext>
                  </a:extLst>
                </a:gridCol>
                <a:gridCol w="1752600">
                  <a:extLst>
                    <a:ext uri="{9D8B030D-6E8A-4147-A177-3AD203B41FA5}">
                      <a16:colId xmlns:a16="http://schemas.microsoft.com/office/drawing/2014/main" val="1093184747"/>
                    </a:ext>
                  </a:extLst>
                </a:gridCol>
                <a:gridCol w="1752600">
                  <a:extLst>
                    <a:ext uri="{9D8B030D-6E8A-4147-A177-3AD203B41FA5}">
                      <a16:colId xmlns:a16="http://schemas.microsoft.com/office/drawing/2014/main" val="1892137732"/>
                    </a:ext>
                  </a:extLst>
                </a:gridCol>
                <a:gridCol w="1752600">
                  <a:extLst>
                    <a:ext uri="{9D8B030D-6E8A-4147-A177-3AD203B41FA5}">
                      <a16:colId xmlns:a16="http://schemas.microsoft.com/office/drawing/2014/main" val="1725368776"/>
                    </a:ext>
                  </a:extLst>
                </a:gridCol>
              </a:tblGrid>
              <a:tr h="0">
                <a:tc>
                  <a:txBody>
                    <a:bodyPr/>
                    <a:lstStyle/>
                    <a:p>
                      <a:pPr algn="ctr"/>
                      <a:r>
                        <a:rPr lang="en-US"/>
                        <a:t>Process</a:t>
                      </a:r>
                    </a:p>
                  </a:txBody>
                  <a:tcPr anchor="ctr">
                    <a:lnL>
                      <a:noFill/>
                    </a:lnL>
                    <a:lnR>
                      <a:noFill/>
                    </a:lnR>
                    <a:lnT>
                      <a:noFill/>
                    </a:lnT>
                    <a:lnB>
                      <a:noFill/>
                    </a:lnB>
                  </a:tcPr>
                </a:tc>
                <a:tc>
                  <a:txBody>
                    <a:bodyPr/>
                    <a:lstStyle/>
                    <a:p>
                      <a:pPr algn="ctr"/>
                      <a:r>
                        <a:rPr lang="en-US"/>
                        <a:t>Arrival</a:t>
                      </a:r>
                    </a:p>
                  </a:txBody>
                  <a:tcPr anchor="ctr">
                    <a:lnL>
                      <a:noFill/>
                    </a:lnL>
                    <a:lnR>
                      <a:noFill/>
                    </a:lnR>
                    <a:lnT>
                      <a:noFill/>
                    </a:lnT>
                    <a:lnB>
                      <a:noFill/>
                    </a:lnB>
                  </a:tcPr>
                </a:tc>
                <a:tc>
                  <a:txBody>
                    <a:bodyPr/>
                    <a:lstStyle/>
                    <a:p>
                      <a:pPr algn="ctr"/>
                      <a:r>
                        <a:rPr lang="en-US"/>
                        <a:t>Burst</a:t>
                      </a:r>
                    </a:p>
                  </a:txBody>
                  <a:tcPr anchor="ctr">
                    <a:lnL>
                      <a:noFill/>
                    </a:lnL>
                    <a:lnR>
                      <a:noFill/>
                    </a:lnR>
                    <a:lnT>
                      <a:noFill/>
                    </a:lnT>
                    <a:lnB>
                      <a:noFill/>
                    </a:lnB>
                  </a:tcPr>
                </a:tc>
                <a:tc>
                  <a:txBody>
                    <a:bodyPr/>
                    <a:lstStyle/>
                    <a:p>
                      <a:pPr algn="ctr"/>
                      <a:r>
                        <a:rPr lang="en-US"/>
                        <a:t>Completion C</a:t>
                      </a:r>
                    </a:p>
                  </a:txBody>
                  <a:tcPr anchor="ctr">
                    <a:lnL>
                      <a:noFill/>
                    </a:lnL>
                    <a:lnR>
                      <a:noFill/>
                    </a:lnR>
                    <a:lnT>
                      <a:noFill/>
                    </a:lnT>
                    <a:lnB>
                      <a:noFill/>
                    </a:lnB>
                  </a:tcPr>
                </a:tc>
                <a:tc>
                  <a:txBody>
                    <a:bodyPr/>
                    <a:lstStyle/>
                    <a:p>
                      <a:pPr algn="ctr"/>
                      <a:r>
                        <a:rPr lang="en-US"/>
                        <a:t>Turnaround (C−A)</a:t>
                      </a:r>
                    </a:p>
                  </a:txBody>
                  <a:tcPr anchor="ctr">
                    <a:lnL>
                      <a:noFill/>
                    </a:lnL>
                    <a:lnR>
                      <a:noFill/>
                    </a:lnR>
                    <a:lnT>
                      <a:noFill/>
                    </a:lnT>
                    <a:lnB>
                      <a:noFill/>
                    </a:lnB>
                  </a:tcPr>
                </a:tc>
                <a:tc>
                  <a:txBody>
                    <a:bodyPr/>
                    <a:lstStyle/>
                    <a:p>
                      <a:pPr algn="ctr"/>
                      <a:r>
                        <a:rPr lang="en-US"/>
                        <a:t>Waiting (TAT − Burst)</a:t>
                      </a:r>
                    </a:p>
                  </a:txBody>
                  <a:tcPr anchor="ctr">
                    <a:lnL>
                      <a:noFill/>
                    </a:lnL>
                    <a:lnR>
                      <a:noFill/>
                    </a:lnR>
                    <a:lnT>
                      <a:noFill/>
                    </a:lnT>
                    <a:lnB>
                      <a:noFill/>
                    </a:lnB>
                  </a:tcPr>
                </a:tc>
                <a:extLst>
                  <a:ext uri="{0D108BD9-81ED-4DB2-BD59-A6C34878D82A}">
                    <a16:rowId xmlns:a16="http://schemas.microsoft.com/office/drawing/2014/main" val="2574323994"/>
                  </a:ext>
                </a:extLst>
              </a:tr>
              <a:tr h="0">
                <a:tc>
                  <a:txBody>
                    <a:bodyPr/>
                    <a:lstStyle/>
                    <a:p>
                      <a:pPr algn="ctr"/>
                      <a:r>
                        <a:rPr lang="en-US"/>
                        <a:t>P₁</a:t>
                      </a:r>
                    </a:p>
                  </a:txBody>
                  <a:tcPr anchor="ctr">
                    <a:lnL>
                      <a:noFill/>
                    </a:lnL>
                    <a:lnR>
                      <a:noFill/>
                    </a:lnR>
                    <a:lnT>
                      <a:noFill/>
                    </a:lnT>
                    <a:lnB>
                      <a:noFill/>
                    </a:lnB>
                  </a:tcPr>
                </a:tc>
                <a:tc>
                  <a:txBody>
                    <a:bodyPr/>
                    <a:lstStyle/>
                    <a:p>
                      <a:pPr algn="ctr"/>
                      <a:r>
                        <a:rPr lang="en-US"/>
                        <a:t>0</a:t>
                      </a:r>
                    </a:p>
                  </a:txBody>
                  <a:tcPr anchor="ctr">
                    <a:lnL>
                      <a:noFill/>
                    </a:lnL>
                    <a:lnR>
                      <a:noFill/>
                    </a:lnR>
                    <a:lnT>
                      <a:noFill/>
                    </a:lnT>
                    <a:lnB>
                      <a:noFill/>
                    </a:lnB>
                  </a:tcPr>
                </a:tc>
                <a:tc>
                  <a:txBody>
                    <a:bodyPr/>
                    <a:lstStyle/>
                    <a:p>
                      <a:pPr algn="ctr"/>
                      <a:r>
                        <a:rPr lang="en-US"/>
                        <a:t>7</a:t>
                      </a:r>
                    </a:p>
                  </a:txBody>
                  <a:tcPr anchor="ctr">
                    <a:lnL>
                      <a:noFill/>
                    </a:lnL>
                    <a:lnR>
                      <a:noFill/>
                    </a:lnR>
                    <a:lnT>
                      <a:noFill/>
                    </a:lnT>
                    <a:lnB>
                      <a:noFill/>
                    </a:lnB>
                  </a:tcPr>
                </a:tc>
                <a:tc>
                  <a:txBody>
                    <a:bodyPr/>
                    <a:lstStyle/>
                    <a:p>
                      <a:pPr algn="ctr"/>
                      <a:r>
                        <a:rPr lang="en-US"/>
                        <a:t>7</a:t>
                      </a:r>
                    </a:p>
                  </a:txBody>
                  <a:tcPr anchor="ctr">
                    <a:lnL>
                      <a:noFill/>
                    </a:lnL>
                    <a:lnR>
                      <a:noFill/>
                    </a:lnR>
                    <a:lnT>
                      <a:noFill/>
                    </a:lnT>
                    <a:lnB>
                      <a:noFill/>
                    </a:lnB>
                  </a:tcPr>
                </a:tc>
                <a:tc>
                  <a:txBody>
                    <a:bodyPr/>
                    <a:lstStyle/>
                    <a:p>
                      <a:pPr algn="ctr"/>
                      <a:r>
                        <a:rPr lang="en-US"/>
                        <a:t>7 − 0 = </a:t>
                      </a:r>
                      <a:r>
                        <a:rPr lang="en-US" b="1"/>
                        <a:t>7</a:t>
                      </a:r>
                      <a:endParaRPr lang="en-US"/>
                    </a:p>
                  </a:txBody>
                  <a:tcPr anchor="ctr">
                    <a:lnL>
                      <a:noFill/>
                    </a:lnL>
                    <a:lnR>
                      <a:noFill/>
                    </a:lnR>
                    <a:lnT>
                      <a:noFill/>
                    </a:lnT>
                    <a:lnB>
                      <a:noFill/>
                    </a:lnB>
                  </a:tcPr>
                </a:tc>
                <a:tc>
                  <a:txBody>
                    <a:bodyPr/>
                    <a:lstStyle/>
                    <a:p>
                      <a:pPr algn="ctr"/>
                      <a:r>
                        <a:rPr lang="en-US"/>
                        <a:t>7 − 7 = </a:t>
                      </a:r>
                      <a:r>
                        <a:rPr lang="en-US" b="1"/>
                        <a:t>0</a:t>
                      </a:r>
                      <a:endParaRPr lang="en-US"/>
                    </a:p>
                  </a:txBody>
                  <a:tcPr anchor="ctr">
                    <a:lnL>
                      <a:noFill/>
                    </a:lnL>
                    <a:lnR>
                      <a:noFill/>
                    </a:lnR>
                    <a:lnT>
                      <a:noFill/>
                    </a:lnT>
                    <a:lnB>
                      <a:noFill/>
                    </a:lnB>
                  </a:tcPr>
                </a:tc>
                <a:extLst>
                  <a:ext uri="{0D108BD9-81ED-4DB2-BD59-A6C34878D82A}">
                    <a16:rowId xmlns:a16="http://schemas.microsoft.com/office/drawing/2014/main" val="1627775790"/>
                  </a:ext>
                </a:extLst>
              </a:tr>
              <a:tr h="0">
                <a:tc>
                  <a:txBody>
                    <a:bodyPr/>
                    <a:lstStyle/>
                    <a:p>
                      <a:pPr algn="ctr"/>
                      <a:r>
                        <a:rPr lang="en-US"/>
                        <a:t>P₂</a:t>
                      </a:r>
                    </a:p>
                  </a:txBody>
                  <a:tcPr anchor="ctr">
                    <a:lnL>
                      <a:noFill/>
                    </a:lnL>
                    <a:lnR>
                      <a:noFill/>
                    </a:lnR>
                    <a:lnT>
                      <a:noFill/>
                    </a:lnT>
                    <a:lnB>
                      <a:noFill/>
                    </a:lnB>
                  </a:tcPr>
                </a:tc>
                <a:tc>
                  <a:txBody>
                    <a:bodyPr/>
                    <a:lstStyle/>
                    <a:p>
                      <a:pPr algn="ctr"/>
                      <a:r>
                        <a:rPr lang="en-US"/>
                        <a:t>2</a:t>
                      </a:r>
                    </a:p>
                  </a:txBody>
                  <a:tcPr anchor="ctr">
                    <a:lnL>
                      <a:noFill/>
                    </a:lnL>
                    <a:lnR>
                      <a:noFill/>
                    </a:lnR>
                    <a:lnT>
                      <a:noFill/>
                    </a:lnT>
                    <a:lnB>
                      <a:noFill/>
                    </a:lnB>
                  </a:tcPr>
                </a:tc>
                <a:tc>
                  <a:txBody>
                    <a:bodyPr/>
                    <a:lstStyle/>
                    <a:p>
                      <a:pPr algn="ctr"/>
                      <a:r>
                        <a:rPr lang="en-US"/>
                        <a:t>4</a:t>
                      </a:r>
                    </a:p>
                  </a:txBody>
                  <a:tcPr anchor="ctr">
                    <a:lnL>
                      <a:noFill/>
                    </a:lnL>
                    <a:lnR>
                      <a:noFill/>
                    </a:lnR>
                    <a:lnT>
                      <a:noFill/>
                    </a:lnT>
                    <a:lnB>
                      <a:noFill/>
                    </a:lnB>
                  </a:tcPr>
                </a:tc>
                <a:tc>
                  <a:txBody>
                    <a:bodyPr/>
                    <a:lstStyle/>
                    <a:p>
                      <a:pPr algn="ctr"/>
                      <a:r>
                        <a:rPr lang="en-US" dirty="0"/>
                        <a:t>12</a:t>
                      </a:r>
                    </a:p>
                  </a:txBody>
                  <a:tcPr anchor="ctr">
                    <a:lnL>
                      <a:noFill/>
                    </a:lnL>
                    <a:lnR>
                      <a:noFill/>
                    </a:lnR>
                    <a:lnT>
                      <a:noFill/>
                    </a:lnT>
                    <a:lnB>
                      <a:noFill/>
                    </a:lnB>
                  </a:tcPr>
                </a:tc>
                <a:tc>
                  <a:txBody>
                    <a:bodyPr/>
                    <a:lstStyle/>
                    <a:p>
                      <a:pPr algn="ctr"/>
                      <a:r>
                        <a:rPr lang="en-US"/>
                        <a:t>12 − 2 = </a:t>
                      </a:r>
                      <a:r>
                        <a:rPr lang="en-US" b="1"/>
                        <a:t>10</a:t>
                      </a:r>
                      <a:endParaRPr lang="en-US"/>
                    </a:p>
                  </a:txBody>
                  <a:tcPr anchor="ctr">
                    <a:lnL>
                      <a:noFill/>
                    </a:lnL>
                    <a:lnR>
                      <a:noFill/>
                    </a:lnR>
                    <a:lnT>
                      <a:noFill/>
                    </a:lnT>
                    <a:lnB>
                      <a:noFill/>
                    </a:lnB>
                  </a:tcPr>
                </a:tc>
                <a:tc>
                  <a:txBody>
                    <a:bodyPr/>
                    <a:lstStyle/>
                    <a:p>
                      <a:pPr algn="ctr"/>
                      <a:r>
                        <a:rPr lang="en-US"/>
                        <a:t>10 − 4 = </a:t>
                      </a:r>
                      <a:r>
                        <a:rPr lang="en-US" b="1"/>
                        <a:t>6</a:t>
                      </a:r>
                      <a:endParaRPr lang="en-US"/>
                    </a:p>
                  </a:txBody>
                  <a:tcPr anchor="ctr">
                    <a:lnL>
                      <a:noFill/>
                    </a:lnL>
                    <a:lnR>
                      <a:noFill/>
                    </a:lnR>
                    <a:lnT>
                      <a:noFill/>
                    </a:lnT>
                    <a:lnB>
                      <a:noFill/>
                    </a:lnB>
                  </a:tcPr>
                </a:tc>
                <a:extLst>
                  <a:ext uri="{0D108BD9-81ED-4DB2-BD59-A6C34878D82A}">
                    <a16:rowId xmlns:a16="http://schemas.microsoft.com/office/drawing/2014/main" val="3756731740"/>
                  </a:ext>
                </a:extLst>
              </a:tr>
              <a:tr h="0">
                <a:tc>
                  <a:txBody>
                    <a:bodyPr/>
                    <a:lstStyle/>
                    <a:p>
                      <a:pPr algn="ctr"/>
                      <a:r>
                        <a:rPr lang="en-US"/>
                        <a:t>P₃</a:t>
                      </a:r>
                    </a:p>
                  </a:txBody>
                  <a:tcPr anchor="ctr">
                    <a:lnL>
                      <a:noFill/>
                    </a:lnL>
                    <a:lnR>
                      <a:noFill/>
                    </a:lnR>
                    <a:lnT>
                      <a:noFill/>
                    </a:lnT>
                    <a:lnB>
                      <a:noFill/>
                    </a:lnB>
                  </a:tcPr>
                </a:tc>
                <a:tc>
                  <a:txBody>
                    <a:bodyPr/>
                    <a:lstStyle/>
                    <a:p>
                      <a:pPr algn="ctr"/>
                      <a:r>
                        <a:rPr lang="en-US"/>
                        <a:t>4</a:t>
                      </a:r>
                    </a:p>
                  </a:txBody>
                  <a:tcPr anchor="ctr">
                    <a:lnL>
                      <a:noFill/>
                    </a:lnL>
                    <a:lnR>
                      <a:noFill/>
                    </a:lnR>
                    <a:lnT>
                      <a:noFill/>
                    </a:lnT>
                    <a:lnB>
                      <a:noFill/>
                    </a:lnB>
                  </a:tcPr>
                </a:tc>
                <a:tc>
                  <a:txBody>
                    <a:bodyPr/>
                    <a:lstStyle/>
                    <a:p>
                      <a:pPr algn="ctr"/>
                      <a:r>
                        <a:rPr lang="en-US"/>
                        <a:t>1</a:t>
                      </a:r>
                    </a:p>
                  </a:txBody>
                  <a:tcPr anchor="ctr">
                    <a:lnL>
                      <a:noFill/>
                    </a:lnL>
                    <a:lnR>
                      <a:noFill/>
                    </a:lnR>
                    <a:lnT>
                      <a:noFill/>
                    </a:lnT>
                    <a:lnB>
                      <a:noFill/>
                    </a:lnB>
                  </a:tcPr>
                </a:tc>
                <a:tc>
                  <a:txBody>
                    <a:bodyPr/>
                    <a:lstStyle/>
                    <a:p>
                      <a:pPr algn="ctr"/>
                      <a:r>
                        <a:rPr lang="en-US"/>
                        <a:t>8</a:t>
                      </a:r>
                    </a:p>
                  </a:txBody>
                  <a:tcPr anchor="ctr">
                    <a:lnL>
                      <a:noFill/>
                    </a:lnL>
                    <a:lnR>
                      <a:noFill/>
                    </a:lnR>
                    <a:lnT>
                      <a:noFill/>
                    </a:lnT>
                    <a:lnB>
                      <a:noFill/>
                    </a:lnB>
                  </a:tcPr>
                </a:tc>
                <a:tc>
                  <a:txBody>
                    <a:bodyPr/>
                    <a:lstStyle/>
                    <a:p>
                      <a:pPr algn="ctr"/>
                      <a:r>
                        <a:rPr lang="en-US"/>
                        <a:t>8 − 4 = </a:t>
                      </a:r>
                      <a:r>
                        <a:rPr lang="en-US" b="1"/>
                        <a:t>4</a:t>
                      </a:r>
                      <a:endParaRPr lang="en-US"/>
                    </a:p>
                  </a:txBody>
                  <a:tcPr anchor="ctr">
                    <a:lnL>
                      <a:noFill/>
                    </a:lnL>
                    <a:lnR>
                      <a:noFill/>
                    </a:lnR>
                    <a:lnT>
                      <a:noFill/>
                    </a:lnT>
                    <a:lnB>
                      <a:noFill/>
                    </a:lnB>
                  </a:tcPr>
                </a:tc>
                <a:tc>
                  <a:txBody>
                    <a:bodyPr/>
                    <a:lstStyle/>
                    <a:p>
                      <a:pPr algn="ctr"/>
                      <a:r>
                        <a:rPr lang="en-US"/>
                        <a:t>4 − 1 = </a:t>
                      </a:r>
                      <a:r>
                        <a:rPr lang="en-US" b="1"/>
                        <a:t>3</a:t>
                      </a:r>
                      <a:endParaRPr lang="en-US"/>
                    </a:p>
                  </a:txBody>
                  <a:tcPr anchor="ctr">
                    <a:lnL>
                      <a:noFill/>
                    </a:lnL>
                    <a:lnR>
                      <a:noFill/>
                    </a:lnR>
                    <a:lnT>
                      <a:noFill/>
                    </a:lnT>
                    <a:lnB>
                      <a:noFill/>
                    </a:lnB>
                  </a:tcPr>
                </a:tc>
                <a:extLst>
                  <a:ext uri="{0D108BD9-81ED-4DB2-BD59-A6C34878D82A}">
                    <a16:rowId xmlns:a16="http://schemas.microsoft.com/office/drawing/2014/main" val="302771116"/>
                  </a:ext>
                </a:extLst>
              </a:tr>
              <a:tr h="0">
                <a:tc>
                  <a:txBody>
                    <a:bodyPr/>
                    <a:lstStyle/>
                    <a:p>
                      <a:pPr algn="ctr"/>
                      <a:r>
                        <a:rPr lang="en-US"/>
                        <a:t>P₄</a:t>
                      </a:r>
                    </a:p>
                  </a:txBody>
                  <a:tcPr anchor="ctr">
                    <a:lnL>
                      <a:noFill/>
                    </a:lnL>
                    <a:lnR>
                      <a:noFill/>
                    </a:lnR>
                    <a:lnT>
                      <a:noFill/>
                    </a:lnT>
                    <a:lnB>
                      <a:noFill/>
                    </a:lnB>
                  </a:tcPr>
                </a:tc>
                <a:tc>
                  <a:txBody>
                    <a:bodyPr/>
                    <a:lstStyle/>
                    <a:p>
                      <a:pPr algn="ctr"/>
                      <a:r>
                        <a:rPr lang="en-US"/>
                        <a:t>5</a:t>
                      </a:r>
                    </a:p>
                  </a:txBody>
                  <a:tcPr anchor="ctr">
                    <a:lnL>
                      <a:noFill/>
                    </a:lnL>
                    <a:lnR>
                      <a:noFill/>
                    </a:lnR>
                    <a:lnT>
                      <a:noFill/>
                    </a:lnT>
                    <a:lnB>
                      <a:noFill/>
                    </a:lnB>
                  </a:tcPr>
                </a:tc>
                <a:tc>
                  <a:txBody>
                    <a:bodyPr/>
                    <a:lstStyle/>
                    <a:p>
                      <a:pPr algn="ctr"/>
                      <a:r>
                        <a:rPr lang="en-US"/>
                        <a:t>4</a:t>
                      </a:r>
                    </a:p>
                  </a:txBody>
                  <a:tcPr anchor="ctr">
                    <a:lnL>
                      <a:noFill/>
                    </a:lnL>
                    <a:lnR>
                      <a:noFill/>
                    </a:lnR>
                    <a:lnT>
                      <a:noFill/>
                    </a:lnT>
                    <a:lnB>
                      <a:noFill/>
                    </a:lnB>
                  </a:tcPr>
                </a:tc>
                <a:tc>
                  <a:txBody>
                    <a:bodyPr/>
                    <a:lstStyle/>
                    <a:p>
                      <a:pPr algn="ctr"/>
                      <a:r>
                        <a:rPr lang="en-US"/>
                        <a:t>16</a:t>
                      </a:r>
                    </a:p>
                  </a:txBody>
                  <a:tcPr anchor="ctr">
                    <a:lnL>
                      <a:noFill/>
                    </a:lnL>
                    <a:lnR>
                      <a:noFill/>
                    </a:lnR>
                    <a:lnT>
                      <a:noFill/>
                    </a:lnT>
                    <a:lnB>
                      <a:noFill/>
                    </a:lnB>
                  </a:tcPr>
                </a:tc>
                <a:tc>
                  <a:txBody>
                    <a:bodyPr/>
                    <a:lstStyle/>
                    <a:p>
                      <a:pPr algn="ctr"/>
                      <a:r>
                        <a:rPr lang="en-US"/>
                        <a:t>16 − 5 = </a:t>
                      </a:r>
                      <a:r>
                        <a:rPr lang="en-US" b="1"/>
                        <a:t>11</a:t>
                      </a:r>
                      <a:endParaRPr lang="en-US"/>
                    </a:p>
                  </a:txBody>
                  <a:tcPr anchor="ctr">
                    <a:lnL>
                      <a:noFill/>
                    </a:lnL>
                    <a:lnR>
                      <a:noFill/>
                    </a:lnR>
                    <a:lnT>
                      <a:noFill/>
                    </a:lnT>
                    <a:lnB>
                      <a:noFill/>
                    </a:lnB>
                  </a:tcPr>
                </a:tc>
                <a:tc>
                  <a:txBody>
                    <a:bodyPr/>
                    <a:lstStyle/>
                    <a:p>
                      <a:pPr algn="ctr"/>
                      <a:r>
                        <a:rPr lang="en-US" dirty="0"/>
                        <a:t>11 − 4 = </a:t>
                      </a:r>
                      <a:r>
                        <a:rPr lang="en-US" b="1" dirty="0"/>
                        <a:t>7</a:t>
                      </a:r>
                      <a:endParaRPr lang="en-US" dirty="0"/>
                    </a:p>
                  </a:txBody>
                  <a:tcPr anchor="ctr">
                    <a:lnL>
                      <a:noFill/>
                    </a:lnL>
                    <a:lnR>
                      <a:noFill/>
                    </a:lnR>
                    <a:lnT>
                      <a:noFill/>
                    </a:lnT>
                    <a:lnB>
                      <a:noFill/>
                    </a:lnB>
                  </a:tcPr>
                </a:tc>
                <a:extLst>
                  <a:ext uri="{0D108BD9-81ED-4DB2-BD59-A6C34878D82A}">
                    <a16:rowId xmlns:a16="http://schemas.microsoft.com/office/drawing/2014/main" val="369295430"/>
                  </a:ext>
                </a:extLst>
              </a:tr>
            </a:tbl>
          </a:graphicData>
        </a:graphic>
      </p:graphicFrame>
      <p:sp>
        <p:nvSpPr>
          <p:cNvPr id="5" name="Rectangle 4"/>
          <p:cNvSpPr/>
          <p:nvPr/>
        </p:nvSpPr>
        <p:spPr>
          <a:xfrm>
            <a:off x="1362892" y="1061472"/>
            <a:ext cx="6096000" cy="707886"/>
          </a:xfrm>
          <a:prstGeom prst="rect">
            <a:avLst/>
          </a:prstGeom>
        </p:spPr>
        <p:txBody>
          <a:bodyPr>
            <a:spAutoFit/>
          </a:bodyPr>
          <a:lstStyle/>
          <a:p>
            <a:r>
              <a:rPr lang="en-US" sz="2000" dirty="0"/>
              <a:t>Turnaround = Completion − Arrival</a:t>
            </a:r>
            <a:br>
              <a:rPr lang="en-US" sz="2000" dirty="0"/>
            </a:br>
            <a:r>
              <a:rPr lang="en-US" sz="2000" dirty="0"/>
              <a:t>Waiting = Turnaround − Burst</a:t>
            </a:r>
          </a:p>
        </p:txBody>
      </p:sp>
      <p:sp>
        <p:nvSpPr>
          <p:cNvPr id="6" name="Rectangle 5"/>
          <p:cNvSpPr/>
          <p:nvPr/>
        </p:nvSpPr>
        <p:spPr>
          <a:xfrm>
            <a:off x="1114696" y="4299747"/>
            <a:ext cx="8551817" cy="923330"/>
          </a:xfrm>
          <a:prstGeom prst="rect">
            <a:avLst/>
          </a:prstGeom>
        </p:spPr>
        <p:txBody>
          <a:bodyPr wrap="square">
            <a:spAutoFit/>
          </a:bodyPr>
          <a:lstStyle/>
          <a:p>
            <a:r>
              <a:rPr lang="en-US" dirty="0"/>
              <a:t>Totals / averages:</a:t>
            </a:r>
          </a:p>
          <a:p>
            <a:pPr>
              <a:buFont typeface="Arial" panose="020B0604020202020204" pitchFamily="34" charset="0"/>
              <a:buChar char="•"/>
            </a:pPr>
            <a:r>
              <a:rPr lang="en-US" dirty="0"/>
              <a:t>Average </a:t>
            </a:r>
            <a:r>
              <a:rPr lang="en-US" b="1" dirty="0"/>
              <a:t>turnaround time</a:t>
            </a:r>
            <a:r>
              <a:rPr lang="en-US" dirty="0"/>
              <a:t> = (7 + 10 + 4 + 11) / 4 = </a:t>
            </a:r>
            <a:r>
              <a:rPr lang="en-US" b="1" dirty="0"/>
              <a:t>8</a:t>
            </a:r>
            <a:r>
              <a:rPr lang="en-US" dirty="0"/>
              <a:t> units</a:t>
            </a:r>
          </a:p>
          <a:p>
            <a:pPr>
              <a:buFont typeface="Arial" panose="020B0604020202020204" pitchFamily="34" charset="0"/>
              <a:buChar char="•"/>
            </a:pPr>
            <a:r>
              <a:rPr lang="en-US" dirty="0"/>
              <a:t>Average </a:t>
            </a:r>
            <a:r>
              <a:rPr lang="en-US" b="1" dirty="0"/>
              <a:t>waiting time</a:t>
            </a:r>
            <a:r>
              <a:rPr lang="en-US" dirty="0"/>
              <a:t> = (0 + 6 + 3 + 7) / 4 = </a:t>
            </a:r>
            <a:r>
              <a:rPr lang="en-US" b="1" dirty="0"/>
              <a:t>4</a:t>
            </a:r>
            <a:r>
              <a:rPr lang="en-US" dirty="0"/>
              <a:t> units</a:t>
            </a:r>
          </a:p>
        </p:txBody>
      </p:sp>
      <p:sp>
        <p:nvSpPr>
          <p:cNvPr id="7" name="Rectangle 6"/>
          <p:cNvSpPr/>
          <p:nvPr/>
        </p:nvSpPr>
        <p:spPr>
          <a:xfrm>
            <a:off x="2211977" y="5223077"/>
            <a:ext cx="6096000" cy="923330"/>
          </a:xfrm>
          <a:prstGeom prst="rect">
            <a:avLst/>
          </a:prstGeom>
        </p:spPr>
        <p:txBody>
          <a:bodyPr>
            <a:spAutoFit/>
          </a:bodyPr>
          <a:lstStyle/>
          <a:p>
            <a:r>
              <a:rPr lang="en-US" b="1" dirty="0"/>
              <a:t>Final answer</a:t>
            </a:r>
          </a:p>
          <a:p>
            <a:pPr>
              <a:buFont typeface="Arial" panose="020B0604020202020204" pitchFamily="34" charset="0"/>
              <a:buChar char="•"/>
            </a:pPr>
            <a:r>
              <a:rPr lang="en-US" b="1" dirty="0"/>
              <a:t>Average waiting time = 4 units</a:t>
            </a:r>
            <a:endParaRPr lang="en-US" dirty="0"/>
          </a:p>
          <a:p>
            <a:pPr>
              <a:buFont typeface="Arial" panose="020B0604020202020204" pitchFamily="34" charset="0"/>
              <a:buChar char="•"/>
            </a:pPr>
            <a:r>
              <a:rPr lang="en-US" b="1" dirty="0"/>
              <a:t>Average turnaround time = 8 units</a:t>
            </a:r>
            <a:endParaRPr lang="en-US" dirty="0"/>
          </a:p>
        </p:txBody>
      </p:sp>
    </p:spTree>
    <p:extLst>
      <p:ext uri="{BB962C8B-B14F-4D97-AF65-F5344CB8AC3E}">
        <p14:creationId xmlns:p14="http://schemas.microsoft.com/office/powerpoint/2010/main" val="41305379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8" name="Rectangle 1026"/>
          <p:cNvSpPr>
            <a:spLocks noGrp="1" noChangeArrowheads="1"/>
          </p:cNvSpPr>
          <p:nvPr>
            <p:ph type="title"/>
          </p:nvPr>
        </p:nvSpPr>
        <p:spPr/>
        <p:txBody>
          <a:bodyPr/>
          <a:lstStyle/>
          <a:p>
            <a:pPr eaLnBrk="1" hangingPunct="1">
              <a:defRPr/>
            </a:pPr>
            <a:r>
              <a:rPr lang="en-US" dirty="0"/>
              <a:t>Shortest Job First Scheduling</a:t>
            </a:r>
            <a:br>
              <a:rPr lang="en-US" dirty="0"/>
            </a:br>
            <a:r>
              <a:rPr lang="en-US" sz="3200" dirty="0">
                <a:solidFill>
                  <a:schemeClr val="accent1">
                    <a:lumMod val="75000"/>
                  </a:schemeClr>
                </a:solidFill>
              </a:rPr>
              <a:t>Preemptive SJF Scheduling</a:t>
            </a:r>
          </a:p>
        </p:txBody>
      </p:sp>
      <p:sp>
        <p:nvSpPr>
          <p:cNvPr id="37893" name="Rectangle 1028"/>
          <p:cNvSpPr>
            <a:spLocks noChangeArrowheads="1"/>
          </p:cNvSpPr>
          <p:nvPr/>
        </p:nvSpPr>
        <p:spPr bwMode="auto">
          <a:xfrm>
            <a:off x="2209800" y="1328737"/>
            <a:ext cx="7029450" cy="4908290"/>
          </a:xfrm>
          <a:prstGeom prst="rect">
            <a:avLst/>
          </a:prstGeom>
          <a:noFill/>
          <a:ln w="9525">
            <a:noFill/>
            <a:miter lim="800000"/>
            <a:headEnd/>
            <a:tailEnd/>
          </a:ln>
        </p:spPr>
        <p:txBody>
          <a:bodyPr/>
          <a:lstStyle/>
          <a:p>
            <a:pPr marL="342900" indent="-342900">
              <a:spcBef>
                <a:spcPct val="20000"/>
              </a:spcBef>
              <a:buClr>
                <a:schemeClr val="tx2"/>
              </a:buClr>
              <a:buSzPct val="70000"/>
              <a:tabLst>
                <a:tab pos="1603375" algn="ctr"/>
                <a:tab pos="3254375" algn="ctr"/>
                <a:tab pos="5143500" algn="ctr"/>
              </a:tabLst>
            </a:pPr>
            <a:r>
              <a:rPr lang="en-US" sz="2000" dirty="0">
                <a:latin typeface="Calibri" pitchFamily="34" charset="0"/>
              </a:rPr>
              <a:t>		</a:t>
            </a:r>
            <a:r>
              <a:rPr lang="en-US" sz="2000" u="sng" dirty="0">
                <a:latin typeface="Calibri" pitchFamily="34" charset="0"/>
              </a:rPr>
              <a:t>Process	Arrival Time</a:t>
            </a:r>
            <a:r>
              <a:rPr lang="en-US" sz="2000" dirty="0">
                <a:latin typeface="Calibri" pitchFamily="34" charset="0"/>
              </a:rPr>
              <a:t>	</a:t>
            </a:r>
            <a:r>
              <a:rPr lang="en-US" sz="2000" u="sng" dirty="0">
                <a:latin typeface="Calibri" pitchFamily="34" charset="0"/>
              </a:rPr>
              <a:t>Burst Time</a:t>
            </a:r>
            <a:endParaRPr lang="en-US" sz="2000" dirty="0">
              <a:latin typeface="Calibri" pitchFamily="34" charset="0"/>
            </a:endParaRPr>
          </a:p>
          <a:p>
            <a:pPr marL="342900" indent="-342900">
              <a:spcBef>
                <a:spcPct val="20000"/>
              </a:spcBef>
              <a:buClr>
                <a:schemeClr val="tx2"/>
              </a:buClr>
              <a:buSzPct val="70000"/>
              <a:tabLst>
                <a:tab pos="1603375" algn="ctr"/>
                <a:tab pos="3254375" algn="ctr"/>
                <a:tab pos="5143500" algn="ctr"/>
              </a:tabLst>
            </a:pPr>
            <a:r>
              <a:rPr lang="en-US" sz="2000" dirty="0">
                <a:latin typeface="Calibri" pitchFamily="34" charset="0"/>
              </a:rPr>
              <a:t>		</a:t>
            </a:r>
            <a:r>
              <a:rPr lang="en-US" sz="2000" i="1" dirty="0">
                <a:latin typeface="Calibri" pitchFamily="34" charset="0"/>
              </a:rPr>
              <a:t>P</a:t>
            </a:r>
            <a:r>
              <a:rPr lang="en-US" sz="2000" i="1" baseline="-25000" dirty="0">
                <a:latin typeface="Calibri" pitchFamily="34" charset="0"/>
              </a:rPr>
              <a:t>1</a:t>
            </a:r>
            <a:r>
              <a:rPr lang="en-US" sz="2000" dirty="0">
                <a:latin typeface="Calibri" pitchFamily="34" charset="0"/>
              </a:rPr>
              <a:t>	0.0	7</a:t>
            </a:r>
          </a:p>
          <a:p>
            <a:pPr marL="342900" indent="-342900">
              <a:spcBef>
                <a:spcPct val="20000"/>
              </a:spcBef>
              <a:buClr>
                <a:schemeClr val="tx2"/>
              </a:buClr>
              <a:buSzPct val="70000"/>
              <a:tabLst>
                <a:tab pos="1603375" algn="ctr"/>
                <a:tab pos="3254375" algn="ctr"/>
                <a:tab pos="5143500" algn="ctr"/>
              </a:tabLst>
            </a:pPr>
            <a:r>
              <a:rPr lang="en-US" sz="2000" dirty="0">
                <a:latin typeface="Calibri" pitchFamily="34" charset="0"/>
              </a:rPr>
              <a:t>		 </a:t>
            </a:r>
            <a:r>
              <a:rPr lang="en-US" sz="2000" i="1" dirty="0">
                <a:latin typeface="Calibri" pitchFamily="34" charset="0"/>
              </a:rPr>
              <a:t>P</a:t>
            </a:r>
            <a:r>
              <a:rPr lang="en-US" sz="2000" i="1" baseline="-25000" dirty="0">
                <a:latin typeface="Calibri" pitchFamily="34" charset="0"/>
              </a:rPr>
              <a:t>2	</a:t>
            </a:r>
            <a:r>
              <a:rPr lang="en-US" sz="2000" dirty="0">
                <a:latin typeface="Calibri" pitchFamily="34" charset="0"/>
              </a:rPr>
              <a:t>2.0	4</a:t>
            </a:r>
          </a:p>
          <a:p>
            <a:pPr marL="342900" indent="-342900">
              <a:spcBef>
                <a:spcPct val="20000"/>
              </a:spcBef>
              <a:buClr>
                <a:schemeClr val="tx2"/>
              </a:buClr>
              <a:buSzPct val="70000"/>
              <a:tabLst>
                <a:tab pos="1603375" algn="ctr"/>
                <a:tab pos="3254375" algn="ctr"/>
                <a:tab pos="5143500" algn="ctr"/>
              </a:tabLst>
            </a:pPr>
            <a:r>
              <a:rPr lang="en-US" sz="2000" dirty="0">
                <a:latin typeface="Calibri" pitchFamily="34" charset="0"/>
              </a:rPr>
              <a:t>		 </a:t>
            </a:r>
            <a:r>
              <a:rPr lang="en-US" sz="2000" i="1" dirty="0">
                <a:latin typeface="Calibri" pitchFamily="34" charset="0"/>
              </a:rPr>
              <a:t>P</a:t>
            </a:r>
            <a:r>
              <a:rPr lang="en-US" sz="2000" i="1" baseline="-25000" dirty="0">
                <a:latin typeface="Calibri" pitchFamily="34" charset="0"/>
              </a:rPr>
              <a:t>3</a:t>
            </a:r>
            <a:r>
              <a:rPr lang="en-US" sz="2000" dirty="0">
                <a:latin typeface="Calibri" pitchFamily="34" charset="0"/>
              </a:rPr>
              <a:t>	4.0	1</a:t>
            </a:r>
          </a:p>
          <a:p>
            <a:pPr marL="342900" indent="-342900">
              <a:spcBef>
                <a:spcPct val="20000"/>
              </a:spcBef>
              <a:buClr>
                <a:schemeClr val="tx2"/>
              </a:buClr>
              <a:buSzPct val="70000"/>
              <a:tabLst>
                <a:tab pos="1603375" algn="ctr"/>
                <a:tab pos="3254375" algn="ctr"/>
                <a:tab pos="5143500" algn="ctr"/>
              </a:tabLst>
            </a:pPr>
            <a:r>
              <a:rPr lang="en-US" sz="2000" dirty="0">
                <a:latin typeface="Calibri" pitchFamily="34" charset="0"/>
              </a:rPr>
              <a:t>		 </a:t>
            </a:r>
            <a:r>
              <a:rPr lang="en-US" sz="2000" i="1" dirty="0">
                <a:latin typeface="Calibri" pitchFamily="34" charset="0"/>
              </a:rPr>
              <a:t>P</a:t>
            </a:r>
            <a:r>
              <a:rPr lang="en-US" sz="2000" i="1" baseline="-25000" dirty="0">
                <a:latin typeface="Calibri" pitchFamily="34" charset="0"/>
              </a:rPr>
              <a:t>4</a:t>
            </a:r>
            <a:r>
              <a:rPr lang="en-US" sz="2000" dirty="0">
                <a:latin typeface="Calibri" pitchFamily="34" charset="0"/>
              </a:rPr>
              <a:t>	5.0	4</a:t>
            </a:r>
          </a:p>
          <a:p>
            <a:pPr marL="342900" indent="-342900">
              <a:spcBef>
                <a:spcPct val="20000"/>
              </a:spcBef>
              <a:buClr>
                <a:schemeClr val="tx2"/>
              </a:buClr>
              <a:buSzPct val="70000"/>
              <a:buFont typeface="Wingdings" pitchFamily="2" charset="2"/>
              <a:buChar char="n"/>
              <a:tabLst>
                <a:tab pos="1603375" algn="ctr"/>
                <a:tab pos="3254375" algn="ctr"/>
                <a:tab pos="5143500" algn="ctr"/>
              </a:tabLst>
            </a:pPr>
            <a:r>
              <a:rPr lang="en-US" sz="2000" dirty="0">
                <a:latin typeface="Calibri" pitchFamily="34" charset="0"/>
              </a:rPr>
              <a:t>SJF (preemptive)</a:t>
            </a:r>
          </a:p>
          <a:p>
            <a:pPr marL="342900" indent="-342900">
              <a:spcBef>
                <a:spcPct val="20000"/>
              </a:spcBef>
              <a:buClr>
                <a:schemeClr val="tx2"/>
              </a:buClr>
              <a:buSzPct val="70000"/>
              <a:buFont typeface="Wingdings" pitchFamily="2" charset="2"/>
              <a:buChar char="n"/>
              <a:tabLst>
                <a:tab pos="1603375" algn="ctr"/>
                <a:tab pos="3254375" algn="ctr"/>
                <a:tab pos="5143500" algn="ctr"/>
              </a:tabLst>
            </a:pPr>
            <a:endParaRPr lang="en-US" sz="2000" dirty="0">
              <a:latin typeface="Calibri" pitchFamily="34" charset="0"/>
            </a:endParaRPr>
          </a:p>
          <a:p>
            <a:pPr marL="342900" indent="-342900">
              <a:spcBef>
                <a:spcPct val="20000"/>
              </a:spcBef>
              <a:buClr>
                <a:schemeClr val="tx2"/>
              </a:buClr>
              <a:buSzPct val="70000"/>
              <a:buFont typeface="Wingdings" pitchFamily="2" charset="2"/>
              <a:buChar char="n"/>
              <a:tabLst>
                <a:tab pos="1603375" algn="ctr"/>
                <a:tab pos="3254375" algn="ctr"/>
                <a:tab pos="5143500" algn="ctr"/>
              </a:tabLst>
            </a:pPr>
            <a:endParaRPr lang="en-US" sz="2000" dirty="0">
              <a:latin typeface="Calibri" pitchFamily="34" charset="0"/>
            </a:endParaRPr>
          </a:p>
          <a:p>
            <a:pPr marL="342900" indent="-342900">
              <a:spcBef>
                <a:spcPct val="20000"/>
              </a:spcBef>
              <a:buClr>
                <a:schemeClr val="tx2"/>
              </a:buClr>
              <a:buSzPct val="70000"/>
              <a:buFont typeface="Wingdings" pitchFamily="2" charset="2"/>
              <a:buChar char="n"/>
              <a:tabLst>
                <a:tab pos="1603375" algn="ctr"/>
                <a:tab pos="3254375" algn="ctr"/>
                <a:tab pos="5143500" algn="ctr"/>
              </a:tabLst>
            </a:pPr>
            <a:endParaRPr lang="en-US" sz="2000" dirty="0">
              <a:latin typeface="Calibri" pitchFamily="34" charset="0"/>
            </a:endParaRPr>
          </a:p>
          <a:p>
            <a:pPr marL="342900" indent="-342900">
              <a:spcBef>
                <a:spcPct val="20000"/>
              </a:spcBef>
              <a:buClr>
                <a:schemeClr val="tx2"/>
              </a:buClr>
              <a:buSzPct val="70000"/>
              <a:buFont typeface="Wingdings" pitchFamily="2" charset="2"/>
              <a:buChar char="n"/>
              <a:tabLst>
                <a:tab pos="1603375" algn="ctr"/>
                <a:tab pos="3254375" algn="ctr"/>
                <a:tab pos="5143500" algn="ctr"/>
              </a:tabLst>
            </a:pPr>
            <a:endParaRPr lang="en-US" sz="2000" dirty="0">
              <a:latin typeface="Calibri" pitchFamily="34" charset="0"/>
            </a:endParaRPr>
          </a:p>
          <a:p>
            <a:pPr marL="342900" indent="-342900">
              <a:spcBef>
                <a:spcPct val="20000"/>
              </a:spcBef>
              <a:buClr>
                <a:schemeClr val="tx2"/>
              </a:buClr>
              <a:buSzPct val="70000"/>
              <a:buFont typeface="Wingdings" pitchFamily="2" charset="2"/>
              <a:buChar char="n"/>
              <a:tabLst>
                <a:tab pos="1603375" algn="ctr"/>
                <a:tab pos="3254375" algn="ctr"/>
                <a:tab pos="5143500" algn="ctr"/>
              </a:tabLst>
            </a:pPr>
            <a:endParaRPr lang="en-US" sz="2000" dirty="0">
              <a:latin typeface="Calibri" pitchFamily="34" charset="0"/>
            </a:endParaRPr>
          </a:p>
          <a:p>
            <a:pPr>
              <a:spcBef>
                <a:spcPct val="20000"/>
              </a:spcBef>
              <a:buClr>
                <a:schemeClr val="tx2"/>
              </a:buClr>
              <a:buSzPct val="70000"/>
              <a:tabLst>
                <a:tab pos="1603375" algn="ctr"/>
                <a:tab pos="3254375" algn="ctr"/>
                <a:tab pos="5143500" algn="ctr"/>
              </a:tabLst>
            </a:pPr>
            <a:endParaRPr lang="en-US" sz="2000" i="1" baseline="-25000" dirty="0">
              <a:latin typeface="Calibri" pitchFamily="34" charset="0"/>
            </a:endParaRPr>
          </a:p>
        </p:txBody>
      </p:sp>
      <p:grpSp>
        <p:nvGrpSpPr>
          <p:cNvPr id="2" name="Group 1029"/>
          <p:cNvGrpSpPr>
            <a:grpSpLocks/>
          </p:cNvGrpSpPr>
          <p:nvPr/>
        </p:nvGrpSpPr>
        <p:grpSpPr bwMode="auto">
          <a:xfrm>
            <a:off x="2765425" y="4290091"/>
            <a:ext cx="5911851" cy="1204914"/>
            <a:chOff x="866" y="2364"/>
            <a:chExt cx="3724" cy="759"/>
          </a:xfrm>
        </p:grpSpPr>
        <p:sp>
          <p:nvSpPr>
            <p:cNvPr id="37895" name="Rectangle 1030"/>
            <p:cNvSpPr>
              <a:spLocks noChangeArrowheads="1"/>
            </p:cNvSpPr>
            <p:nvPr/>
          </p:nvSpPr>
          <p:spPr bwMode="auto">
            <a:xfrm flipH="1">
              <a:off x="960" y="2373"/>
              <a:ext cx="3504" cy="384"/>
            </a:xfrm>
            <a:prstGeom prst="rect">
              <a:avLst/>
            </a:prstGeom>
            <a:solidFill>
              <a:schemeClr val="accent6">
                <a:lumMod val="40000"/>
                <a:lumOff val="60000"/>
              </a:schemeClr>
            </a:solidFill>
            <a:ln w="9525">
              <a:solidFill>
                <a:schemeClr val="tx1"/>
              </a:solidFill>
              <a:miter lim="800000"/>
              <a:headEnd/>
              <a:tailEnd/>
            </a:ln>
          </p:spPr>
          <p:txBody>
            <a:bodyPr wrap="none" anchor="ctr"/>
            <a:lstStyle/>
            <a:p>
              <a:endParaRPr lang="en-US" sz="2800">
                <a:latin typeface="Calibri" pitchFamily="34" charset="0"/>
              </a:endParaRPr>
            </a:p>
          </p:txBody>
        </p:sp>
        <p:sp>
          <p:nvSpPr>
            <p:cNvPr id="37896" name="Text Box 1031"/>
            <p:cNvSpPr txBox="1">
              <a:spLocks noChangeArrowheads="1"/>
            </p:cNvSpPr>
            <p:nvPr/>
          </p:nvSpPr>
          <p:spPr bwMode="auto">
            <a:xfrm flipH="1">
              <a:off x="1011" y="2410"/>
              <a:ext cx="241" cy="233"/>
            </a:xfrm>
            <a:prstGeom prst="rect">
              <a:avLst/>
            </a:prstGeom>
            <a:noFill/>
            <a:ln w="9525">
              <a:noFill/>
              <a:miter lim="800000"/>
              <a:headEnd/>
              <a:tailEnd/>
            </a:ln>
          </p:spPr>
          <p:txBody>
            <a:bodyPr wrap="none" anchor="ctr">
              <a:spAutoFit/>
            </a:bodyPr>
            <a:lstStyle/>
            <a:p>
              <a:pPr algn="ctr" eaLnBrk="0" hangingPunct="0">
                <a:spcBef>
                  <a:spcPct val="50000"/>
                </a:spcBef>
              </a:pPr>
              <a:r>
                <a:rPr lang="en-US" dirty="0">
                  <a:latin typeface="Calibri" pitchFamily="34" charset="0"/>
                </a:rPr>
                <a:t>P</a:t>
              </a:r>
              <a:r>
                <a:rPr lang="en-US" baseline="-25000" dirty="0">
                  <a:latin typeface="Calibri" pitchFamily="34" charset="0"/>
                </a:rPr>
                <a:t>1</a:t>
              </a:r>
              <a:endParaRPr lang="en-US" dirty="0">
                <a:latin typeface="Calibri" pitchFamily="34" charset="0"/>
              </a:endParaRPr>
            </a:p>
          </p:txBody>
        </p:sp>
        <p:sp>
          <p:nvSpPr>
            <p:cNvPr id="37897" name="Text Box 1032"/>
            <p:cNvSpPr txBox="1">
              <a:spLocks noChangeArrowheads="1"/>
            </p:cNvSpPr>
            <p:nvPr/>
          </p:nvSpPr>
          <p:spPr bwMode="auto">
            <a:xfrm flipH="1">
              <a:off x="1827" y="2410"/>
              <a:ext cx="241" cy="233"/>
            </a:xfrm>
            <a:prstGeom prst="rect">
              <a:avLst/>
            </a:prstGeom>
            <a:noFill/>
            <a:ln w="9525">
              <a:noFill/>
              <a:miter lim="800000"/>
              <a:headEnd/>
              <a:tailEnd/>
            </a:ln>
          </p:spPr>
          <p:txBody>
            <a:bodyPr wrap="none" anchor="ctr">
              <a:spAutoFit/>
            </a:bodyPr>
            <a:lstStyle/>
            <a:p>
              <a:pPr algn="ctr" eaLnBrk="0" hangingPunct="0">
                <a:spcBef>
                  <a:spcPct val="50000"/>
                </a:spcBef>
              </a:pPr>
              <a:r>
                <a:rPr lang="en-US">
                  <a:latin typeface="Calibri" pitchFamily="34" charset="0"/>
                </a:rPr>
                <a:t>P</a:t>
              </a:r>
              <a:r>
                <a:rPr lang="en-US" baseline="-25000">
                  <a:latin typeface="Calibri" pitchFamily="34" charset="0"/>
                </a:rPr>
                <a:t>3</a:t>
              </a:r>
              <a:endParaRPr lang="en-US">
                <a:latin typeface="Calibri" pitchFamily="34" charset="0"/>
              </a:endParaRPr>
            </a:p>
          </p:txBody>
        </p:sp>
        <p:sp>
          <p:nvSpPr>
            <p:cNvPr id="37898" name="Text Box 1033"/>
            <p:cNvSpPr txBox="1">
              <a:spLocks noChangeArrowheads="1"/>
            </p:cNvSpPr>
            <p:nvPr/>
          </p:nvSpPr>
          <p:spPr bwMode="auto">
            <a:xfrm flipH="1">
              <a:off x="1491" y="2410"/>
              <a:ext cx="241" cy="233"/>
            </a:xfrm>
            <a:prstGeom prst="rect">
              <a:avLst/>
            </a:prstGeom>
            <a:noFill/>
            <a:ln w="9525">
              <a:noFill/>
              <a:miter lim="800000"/>
              <a:headEnd/>
              <a:tailEnd/>
            </a:ln>
          </p:spPr>
          <p:txBody>
            <a:bodyPr wrap="none" anchor="ctr">
              <a:spAutoFit/>
            </a:bodyPr>
            <a:lstStyle/>
            <a:p>
              <a:pPr algn="ctr" eaLnBrk="0" hangingPunct="0">
                <a:spcBef>
                  <a:spcPct val="50000"/>
                </a:spcBef>
              </a:pPr>
              <a:r>
                <a:rPr lang="en-US">
                  <a:latin typeface="Calibri" pitchFamily="34" charset="0"/>
                </a:rPr>
                <a:t>P</a:t>
              </a:r>
              <a:r>
                <a:rPr lang="en-US" baseline="-25000">
                  <a:latin typeface="Calibri" pitchFamily="34" charset="0"/>
                </a:rPr>
                <a:t>2</a:t>
              </a:r>
              <a:endParaRPr lang="en-US">
                <a:latin typeface="Calibri" pitchFamily="34" charset="0"/>
              </a:endParaRPr>
            </a:p>
          </p:txBody>
        </p:sp>
        <p:sp>
          <p:nvSpPr>
            <p:cNvPr id="37899" name="Line 1034"/>
            <p:cNvSpPr>
              <a:spLocks noChangeShapeType="1"/>
            </p:cNvSpPr>
            <p:nvPr/>
          </p:nvSpPr>
          <p:spPr bwMode="auto">
            <a:xfrm flipH="1">
              <a:off x="4461" y="2748"/>
              <a:ext cx="0" cy="144"/>
            </a:xfrm>
            <a:prstGeom prst="line">
              <a:avLst/>
            </a:prstGeom>
            <a:noFill/>
            <a:ln w="9525">
              <a:solidFill>
                <a:schemeClr val="tx1"/>
              </a:solidFill>
              <a:round/>
              <a:headEnd/>
              <a:tailEnd/>
            </a:ln>
          </p:spPr>
          <p:txBody>
            <a:bodyPr wrap="none" anchor="ctr"/>
            <a:lstStyle/>
            <a:p>
              <a:endParaRPr lang="en-US" sz="2800">
                <a:latin typeface="Calibri" pitchFamily="34" charset="0"/>
              </a:endParaRPr>
            </a:p>
          </p:txBody>
        </p:sp>
        <p:sp>
          <p:nvSpPr>
            <p:cNvPr id="37900" name="Line 1035"/>
            <p:cNvSpPr>
              <a:spLocks noChangeShapeType="1"/>
            </p:cNvSpPr>
            <p:nvPr/>
          </p:nvSpPr>
          <p:spPr bwMode="auto">
            <a:xfrm flipH="1">
              <a:off x="960" y="2757"/>
              <a:ext cx="0" cy="144"/>
            </a:xfrm>
            <a:prstGeom prst="line">
              <a:avLst/>
            </a:prstGeom>
            <a:noFill/>
            <a:ln w="9525">
              <a:solidFill>
                <a:schemeClr val="tx1"/>
              </a:solidFill>
              <a:round/>
              <a:headEnd/>
              <a:tailEnd/>
            </a:ln>
          </p:spPr>
          <p:txBody>
            <a:bodyPr wrap="none" anchor="ctr"/>
            <a:lstStyle/>
            <a:p>
              <a:endParaRPr lang="en-US" sz="2800">
                <a:latin typeface="Calibri" pitchFamily="34" charset="0"/>
              </a:endParaRPr>
            </a:p>
          </p:txBody>
        </p:sp>
        <p:sp>
          <p:nvSpPr>
            <p:cNvPr id="37901" name="Line 1036"/>
            <p:cNvSpPr>
              <a:spLocks noChangeShapeType="1"/>
            </p:cNvSpPr>
            <p:nvPr/>
          </p:nvSpPr>
          <p:spPr bwMode="auto">
            <a:xfrm flipH="1">
              <a:off x="2688" y="2373"/>
              <a:ext cx="0" cy="384"/>
            </a:xfrm>
            <a:prstGeom prst="line">
              <a:avLst/>
            </a:prstGeom>
            <a:noFill/>
            <a:ln w="9525">
              <a:solidFill>
                <a:schemeClr val="tx1"/>
              </a:solidFill>
              <a:round/>
              <a:headEnd/>
              <a:tailEnd/>
            </a:ln>
          </p:spPr>
          <p:txBody>
            <a:bodyPr wrap="none" anchor="ctr"/>
            <a:lstStyle/>
            <a:p>
              <a:endParaRPr lang="en-US" sz="2800">
                <a:latin typeface="Calibri" pitchFamily="34" charset="0"/>
              </a:endParaRPr>
            </a:p>
          </p:txBody>
        </p:sp>
        <p:sp>
          <p:nvSpPr>
            <p:cNvPr id="37902" name="Line 1037"/>
            <p:cNvSpPr>
              <a:spLocks noChangeShapeType="1"/>
            </p:cNvSpPr>
            <p:nvPr/>
          </p:nvSpPr>
          <p:spPr bwMode="auto">
            <a:xfrm flipH="1">
              <a:off x="1344" y="2364"/>
              <a:ext cx="0" cy="576"/>
            </a:xfrm>
            <a:prstGeom prst="line">
              <a:avLst/>
            </a:prstGeom>
            <a:noFill/>
            <a:ln w="9525">
              <a:solidFill>
                <a:schemeClr val="tx1"/>
              </a:solidFill>
              <a:round/>
              <a:headEnd/>
              <a:tailEnd/>
            </a:ln>
          </p:spPr>
          <p:txBody>
            <a:bodyPr wrap="none" anchor="ctr"/>
            <a:lstStyle/>
            <a:p>
              <a:endParaRPr lang="en-US" sz="2800">
                <a:latin typeface="Calibri" pitchFamily="34" charset="0"/>
              </a:endParaRPr>
            </a:p>
          </p:txBody>
        </p:sp>
        <p:sp>
          <p:nvSpPr>
            <p:cNvPr id="37903" name="Line 1038"/>
            <p:cNvSpPr>
              <a:spLocks noChangeShapeType="1"/>
            </p:cNvSpPr>
            <p:nvPr/>
          </p:nvSpPr>
          <p:spPr bwMode="auto">
            <a:xfrm flipH="1">
              <a:off x="2400" y="2757"/>
              <a:ext cx="0" cy="144"/>
            </a:xfrm>
            <a:prstGeom prst="line">
              <a:avLst/>
            </a:prstGeom>
            <a:noFill/>
            <a:ln w="9525">
              <a:solidFill>
                <a:schemeClr val="tx1"/>
              </a:solidFill>
              <a:round/>
              <a:headEnd/>
              <a:tailEnd/>
            </a:ln>
          </p:spPr>
          <p:txBody>
            <a:bodyPr wrap="none" anchor="ctr"/>
            <a:lstStyle/>
            <a:p>
              <a:endParaRPr lang="en-US" sz="2800">
                <a:latin typeface="Calibri" pitchFamily="34" charset="0"/>
              </a:endParaRPr>
            </a:p>
          </p:txBody>
        </p:sp>
        <p:sp>
          <p:nvSpPr>
            <p:cNvPr id="37904" name="Text Box 1039"/>
            <p:cNvSpPr txBox="1">
              <a:spLocks noChangeArrowheads="1"/>
            </p:cNvSpPr>
            <p:nvPr/>
          </p:nvSpPr>
          <p:spPr bwMode="auto">
            <a:xfrm flipH="1">
              <a:off x="1730" y="2890"/>
              <a:ext cx="190" cy="233"/>
            </a:xfrm>
            <a:prstGeom prst="rect">
              <a:avLst/>
            </a:prstGeom>
            <a:noFill/>
            <a:ln w="9525">
              <a:noFill/>
              <a:miter lim="800000"/>
              <a:headEnd/>
              <a:tailEnd/>
            </a:ln>
          </p:spPr>
          <p:txBody>
            <a:bodyPr wrap="none" anchor="ctr">
              <a:spAutoFit/>
            </a:bodyPr>
            <a:lstStyle/>
            <a:p>
              <a:pPr algn="ctr" eaLnBrk="0" hangingPunct="0">
                <a:spcBef>
                  <a:spcPct val="50000"/>
                </a:spcBef>
              </a:pPr>
              <a:r>
                <a:rPr lang="en-US">
                  <a:latin typeface="Calibri" pitchFamily="34" charset="0"/>
                </a:rPr>
                <a:t>4</a:t>
              </a:r>
            </a:p>
          </p:txBody>
        </p:sp>
        <p:sp>
          <p:nvSpPr>
            <p:cNvPr id="37905" name="Text Box 1040"/>
            <p:cNvSpPr txBox="1">
              <a:spLocks noChangeArrowheads="1"/>
            </p:cNvSpPr>
            <p:nvPr/>
          </p:nvSpPr>
          <p:spPr bwMode="auto">
            <a:xfrm flipH="1">
              <a:off x="1250" y="2890"/>
              <a:ext cx="190" cy="233"/>
            </a:xfrm>
            <a:prstGeom prst="rect">
              <a:avLst/>
            </a:prstGeom>
            <a:noFill/>
            <a:ln w="9525">
              <a:noFill/>
              <a:miter lim="800000"/>
              <a:headEnd/>
              <a:tailEnd/>
            </a:ln>
          </p:spPr>
          <p:txBody>
            <a:bodyPr wrap="none" anchor="ctr">
              <a:spAutoFit/>
            </a:bodyPr>
            <a:lstStyle/>
            <a:p>
              <a:pPr algn="ctr" eaLnBrk="0" hangingPunct="0">
                <a:spcBef>
                  <a:spcPct val="50000"/>
                </a:spcBef>
              </a:pPr>
              <a:r>
                <a:rPr lang="en-US" dirty="0">
                  <a:latin typeface="Calibri" pitchFamily="34" charset="0"/>
                </a:rPr>
                <a:t>2</a:t>
              </a:r>
            </a:p>
          </p:txBody>
        </p:sp>
        <p:sp>
          <p:nvSpPr>
            <p:cNvPr id="37906" name="Text Box 1041"/>
            <p:cNvSpPr txBox="1">
              <a:spLocks noChangeArrowheads="1"/>
            </p:cNvSpPr>
            <p:nvPr/>
          </p:nvSpPr>
          <p:spPr bwMode="auto">
            <a:xfrm flipH="1">
              <a:off x="3318" y="2842"/>
              <a:ext cx="264" cy="233"/>
            </a:xfrm>
            <a:prstGeom prst="rect">
              <a:avLst/>
            </a:prstGeom>
            <a:noFill/>
            <a:ln w="9525">
              <a:noFill/>
              <a:miter lim="800000"/>
              <a:headEnd/>
              <a:tailEnd/>
            </a:ln>
          </p:spPr>
          <p:txBody>
            <a:bodyPr wrap="none" anchor="ctr">
              <a:spAutoFit/>
            </a:bodyPr>
            <a:lstStyle/>
            <a:p>
              <a:pPr algn="ctr" eaLnBrk="0" hangingPunct="0">
                <a:spcBef>
                  <a:spcPct val="50000"/>
                </a:spcBef>
              </a:pPr>
              <a:r>
                <a:rPr lang="en-US">
                  <a:latin typeface="Calibri" pitchFamily="34" charset="0"/>
                </a:rPr>
                <a:t>11</a:t>
              </a:r>
            </a:p>
          </p:txBody>
        </p:sp>
        <p:sp>
          <p:nvSpPr>
            <p:cNvPr id="37907" name="Text Box 1042"/>
            <p:cNvSpPr txBox="1">
              <a:spLocks noChangeArrowheads="1"/>
            </p:cNvSpPr>
            <p:nvPr/>
          </p:nvSpPr>
          <p:spPr bwMode="auto">
            <a:xfrm flipH="1">
              <a:off x="866" y="2851"/>
              <a:ext cx="190" cy="233"/>
            </a:xfrm>
            <a:prstGeom prst="rect">
              <a:avLst/>
            </a:prstGeom>
            <a:noFill/>
            <a:ln w="9525">
              <a:noFill/>
              <a:miter lim="800000"/>
              <a:headEnd/>
              <a:tailEnd/>
            </a:ln>
          </p:spPr>
          <p:txBody>
            <a:bodyPr wrap="none" anchor="ctr">
              <a:spAutoFit/>
            </a:bodyPr>
            <a:lstStyle/>
            <a:p>
              <a:pPr algn="ctr" eaLnBrk="0" hangingPunct="0">
                <a:spcBef>
                  <a:spcPct val="50000"/>
                </a:spcBef>
              </a:pPr>
              <a:r>
                <a:rPr lang="en-US">
                  <a:latin typeface="Calibri" pitchFamily="34" charset="0"/>
                </a:rPr>
                <a:t>0</a:t>
              </a:r>
            </a:p>
          </p:txBody>
        </p:sp>
        <p:sp>
          <p:nvSpPr>
            <p:cNvPr id="37908" name="Text Box 1043"/>
            <p:cNvSpPr txBox="1">
              <a:spLocks noChangeArrowheads="1"/>
            </p:cNvSpPr>
            <p:nvPr/>
          </p:nvSpPr>
          <p:spPr bwMode="auto">
            <a:xfrm flipH="1">
              <a:off x="2979" y="2410"/>
              <a:ext cx="241" cy="233"/>
            </a:xfrm>
            <a:prstGeom prst="rect">
              <a:avLst/>
            </a:prstGeom>
            <a:noFill/>
            <a:ln w="9525">
              <a:noFill/>
              <a:miter lim="800000"/>
              <a:headEnd/>
              <a:tailEnd/>
            </a:ln>
          </p:spPr>
          <p:txBody>
            <a:bodyPr wrap="none" anchor="ctr">
              <a:spAutoFit/>
            </a:bodyPr>
            <a:lstStyle/>
            <a:p>
              <a:pPr algn="ctr" eaLnBrk="0" hangingPunct="0">
                <a:spcBef>
                  <a:spcPct val="50000"/>
                </a:spcBef>
              </a:pPr>
              <a:r>
                <a:rPr lang="en-US">
                  <a:latin typeface="Calibri" pitchFamily="34" charset="0"/>
                </a:rPr>
                <a:t>P</a:t>
              </a:r>
              <a:r>
                <a:rPr lang="en-US" baseline="-25000">
                  <a:latin typeface="Calibri" pitchFamily="34" charset="0"/>
                </a:rPr>
                <a:t>4</a:t>
              </a:r>
              <a:endParaRPr lang="en-US">
                <a:latin typeface="Calibri" pitchFamily="34" charset="0"/>
              </a:endParaRPr>
            </a:p>
          </p:txBody>
        </p:sp>
        <p:sp>
          <p:nvSpPr>
            <p:cNvPr id="37909" name="Line 1044"/>
            <p:cNvSpPr>
              <a:spLocks noChangeShapeType="1"/>
            </p:cNvSpPr>
            <p:nvPr/>
          </p:nvSpPr>
          <p:spPr bwMode="auto">
            <a:xfrm flipH="1">
              <a:off x="3456" y="2373"/>
              <a:ext cx="0" cy="384"/>
            </a:xfrm>
            <a:prstGeom prst="line">
              <a:avLst/>
            </a:prstGeom>
            <a:noFill/>
            <a:ln w="9525">
              <a:solidFill>
                <a:schemeClr val="tx1"/>
              </a:solidFill>
              <a:round/>
              <a:headEnd/>
              <a:tailEnd/>
            </a:ln>
          </p:spPr>
          <p:txBody>
            <a:bodyPr wrap="none" anchor="ctr"/>
            <a:lstStyle/>
            <a:p>
              <a:endParaRPr lang="en-US" sz="2800">
                <a:latin typeface="Calibri" pitchFamily="34" charset="0"/>
              </a:endParaRPr>
            </a:p>
          </p:txBody>
        </p:sp>
        <p:sp>
          <p:nvSpPr>
            <p:cNvPr id="37910" name="Line 1045"/>
            <p:cNvSpPr>
              <a:spLocks noChangeShapeType="1"/>
            </p:cNvSpPr>
            <p:nvPr/>
          </p:nvSpPr>
          <p:spPr bwMode="auto">
            <a:xfrm flipH="1">
              <a:off x="1152" y="2686"/>
              <a:ext cx="0" cy="144"/>
            </a:xfrm>
            <a:prstGeom prst="line">
              <a:avLst/>
            </a:prstGeom>
            <a:noFill/>
            <a:ln w="9525">
              <a:solidFill>
                <a:schemeClr val="tx1"/>
              </a:solidFill>
              <a:round/>
              <a:headEnd/>
              <a:tailEnd/>
            </a:ln>
          </p:spPr>
          <p:txBody>
            <a:bodyPr wrap="none" anchor="ctr"/>
            <a:lstStyle/>
            <a:p>
              <a:endParaRPr lang="en-US" sz="2800">
                <a:latin typeface="Calibri" pitchFamily="34" charset="0"/>
              </a:endParaRPr>
            </a:p>
          </p:txBody>
        </p:sp>
        <p:sp>
          <p:nvSpPr>
            <p:cNvPr id="37911" name="Line 1046"/>
            <p:cNvSpPr>
              <a:spLocks noChangeShapeType="1"/>
            </p:cNvSpPr>
            <p:nvPr/>
          </p:nvSpPr>
          <p:spPr bwMode="auto">
            <a:xfrm flipH="1">
              <a:off x="1632" y="2686"/>
              <a:ext cx="0" cy="144"/>
            </a:xfrm>
            <a:prstGeom prst="line">
              <a:avLst/>
            </a:prstGeom>
            <a:noFill/>
            <a:ln w="9525">
              <a:solidFill>
                <a:schemeClr val="tx1"/>
              </a:solidFill>
              <a:round/>
              <a:headEnd/>
              <a:tailEnd/>
            </a:ln>
          </p:spPr>
          <p:txBody>
            <a:bodyPr wrap="none" anchor="ctr"/>
            <a:lstStyle/>
            <a:p>
              <a:endParaRPr lang="en-US" sz="2800">
                <a:latin typeface="Calibri" pitchFamily="34" charset="0"/>
              </a:endParaRPr>
            </a:p>
          </p:txBody>
        </p:sp>
        <p:sp>
          <p:nvSpPr>
            <p:cNvPr id="37912" name="Line 1047"/>
            <p:cNvSpPr>
              <a:spLocks noChangeShapeType="1"/>
            </p:cNvSpPr>
            <p:nvPr/>
          </p:nvSpPr>
          <p:spPr bwMode="auto">
            <a:xfrm flipH="1">
              <a:off x="2688" y="2757"/>
              <a:ext cx="0" cy="144"/>
            </a:xfrm>
            <a:prstGeom prst="line">
              <a:avLst/>
            </a:prstGeom>
            <a:noFill/>
            <a:ln w="9525">
              <a:solidFill>
                <a:schemeClr val="tx1"/>
              </a:solidFill>
              <a:round/>
              <a:headEnd/>
              <a:tailEnd/>
            </a:ln>
          </p:spPr>
          <p:txBody>
            <a:bodyPr wrap="none" anchor="ctr"/>
            <a:lstStyle/>
            <a:p>
              <a:endParaRPr lang="en-US" sz="2800">
                <a:latin typeface="Calibri" pitchFamily="34" charset="0"/>
              </a:endParaRPr>
            </a:p>
          </p:txBody>
        </p:sp>
        <p:sp>
          <p:nvSpPr>
            <p:cNvPr id="37913" name="Text Box 1048"/>
            <p:cNvSpPr txBox="1">
              <a:spLocks noChangeArrowheads="1"/>
            </p:cNvSpPr>
            <p:nvPr/>
          </p:nvSpPr>
          <p:spPr bwMode="auto">
            <a:xfrm flipH="1">
              <a:off x="2066" y="2890"/>
              <a:ext cx="190" cy="233"/>
            </a:xfrm>
            <a:prstGeom prst="rect">
              <a:avLst/>
            </a:prstGeom>
            <a:noFill/>
            <a:ln w="9525">
              <a:noFill/>
              <a:miter lim="800000"/>
              <a:headEnd/>
              <a:tailEnd/>
            </a:ln>
          </p:spPr>
          <p:txBody>
            <a:bodyPr wrap="none" anchor="ctr">
              <a:spAutoFit/>
            </a:bodyPr>
            <a:lstStyle/>
            <a:p>
              <a:pPr algn="ctr" eaLnBrk="0" hangingPunct="0">
                <a:spcBef>
                  <a:spcPct val="50000"/>
                </a:spcBef>
              </a:pPr>
              <a:r>
                <a:rPr lang="en-US">
                  <a:latin typeface="Calibri" pitchFamily="34" charset="0"/>
                </a:rPr>
                <a:t>5</a:t>
              </a:r>
            </a:p>
          </p:txBody>
        </p:sp>
        <p:sp>
          <p:nvSpPr>
            <p:cNvPr id="37914" name="Line 1049"/>
            <p:cNvSpPr>
              <a:spLocks noChangeShapeType="1"/>
            </p:cNvSpPr>
            <p:nvPr/>
          </p:nvSpPr>
          <p:spPr bwMode="auto">
            <a:xfrm flipH="1">
              <a:off x="2928" y="2686"/>
              <a:ext cx="0" cy="144"/>
            </a:xfrm>
            <a:prstGeom prst="line">
              <a:avLst/>
            </a:prstGeom>
            <a:noFill/>
            <a:ln w="9525">
              <a:solidFill>
                <a:schemeClr val="tx1"/>
              </a:solidFill>
              <a:round/>
              <a:headEnd/>
              <a:tailEnd/>
            </a:ln>
          </p:spPr>
          <p:txBody>
            <a:bodyPr wrap="none" anchor="ctr"/>
            <a:lstStyle/>
            <a:p>
              <a:endParaRPr lang="en-US" sz="2800">
                <a:latin typeface="Calibri" pitchFamily="34" charset="0"/>
              </a:endParaRPr>
            </a:p>
          </p:txBody>
        </p:sp>
        <p:sp>
          <p:nvSpPr>
            <p:cNvPr id="37915" name="Line 1050"/>
            <p:cNvSpPr>
              <a:spLocks noChangeShapeType="1"/>
            </p:cNvSpPr>
            <p:nvPr/>
          </p:nvSpPr>
          <p:spPr bwMode="auto">
            <a:xfrm flipH="1">
              <a:off x="3120" y="2686"/>
              <a:ext cx="0" cy="144"/>
            </a:xfrm>
            <a:prstGeom prst="line">
              <a:avLst/>
            </a:prstGeom>
            <a:noFill/>
            <a:ln w="9525">
              <a:solidFill>
                <a:schemeClr val="tx1"/>
              </a:solidFill>
              <a:round/>
              <a:headEnd/>
              <a:tailEnd/>
            </a:ln>
          </p:spPr>
          <p:txBody>
            <a:bodyPr wrap="none" anchor="ctr"/>
            <a:lstStyle/>
            <a:p>
              <a:endParaRPr lang="en-US" sz="2800">
                <a:latin typeface="Calibri" pitchFamily="34" charset="0"/>
              </a:endParaRPr>
            </a:p>
          </p:txBody>
        </p:sp>
        <p:sp>
          <p:nvSpPr>
            <p:cNvPr id="37916" name="Line 1051"/>
            <p:cNvSpPr>
              <a:spLocks noChangeShapeType="1"/>
            </p:cNvSpPr>
            <p:nvPr/>
          </p:nvSpPr>
          <p:spPr bwMode="auto">
            <a:xfrm flipH="1">
              <a:off x="3312" y="2686"/>
              <a:ext cx="0" cy="144"/>
            </a:xfrm>
            <a:prstGeom prst="line">
              <a:avLst/>
            </a:prstGeom>
            <a:noFill/>
            <a:ln w="9525">
              <a:solidFill>
                <a:schemeClr val="tx1"/>
              </a:solidFill>
              <a:round/>
              <a:headEnd/>
              <a:tailEnd/>
            </a:ln>
          </p:spPr>
          <p:txBody>
            <a:bodyPr wrap="none" anchor="ctr"/>
            <a:lstStyle/>
            <a:p>
              <a:endParaRPr lang="en-US" sz="2800">
                <a:latin typeface="Calibri" pitchFamily="34" charset="0"/>
              </a:endParaRPr>
            </a:p>
          </p:txBody>
        </p:sp>
        <p:sp>
          <p:nvSpPr>
            <p:cNvPr id="37917" name="Line 1052"/>
            <p:cNvSpPr>
              <a:spLocks noChangeShapeType="1"/>
            </p:cNvSpPr>
            <p:nvPr/>
          </p:nvSpPr>
          <p:spPr bwMode="auto">
            <a:xfrm flipH="1">
              <a:off x="3456" y="2757"/>
              <a:ext cx="0" cy="144"/>
            </a:xfrm>
            <a:prstGeom prst="line">
              <a:avLst/>
            </a:prstGeom>
            <a:noFill/>
            <a:ln w="9525">
              <a:solidFill>
                <a:schemeClr val="tx1"/>
              </a:solidFill>
              <a:round/>
              <a:headEnd/>
              <a:tailEnd/>
            </a:ln>
          </p:spPr>
          <p:txBody>
            <a:bodyPr wrap="none" anchor="ctr"/>
            <a:lstStyle/>
            <a:p>
              <a:endParaRPr lang="en-US" sz="2800">
                <a:latin typeface="Calibri" pitchFamily="34" charset="0"/>
              </a:endParaRPr>
            </a:p>
          </p:txBody>
        </p:sp>
        <p:sp>
          <p:nvSpPr>
            <p:cNvPr id="37918" name="Text Box 1053"/>
            <p:cNvSpPr txBox="1">
              <a:spLocks noChangeArrowheads="1"/>
            </p:cNvSpPr>
            <p:nvPr/>
          </p:nvSpPr>
          <p:spPr bwMode="auto">
            <a:xfrm flipH="1">
              <a:off x="2594" y="2890"/>
              <a:ext cx="190" cy="233"/>
            </a:xfrm>
            <a:prstGeom prst="rect">
              <a:avLst/>
            </a:prstGeom>
            <a:noFill/>
            <a:ln w="9525">
              <a:noFill/>
              <a:miter lim="800000"/>
              <a:headEnd/>
              <a:tailEnd/>
            </a:ln>
          </p:spPr>
          <p:txBody>
            <a:bodyPr wrap="none" anchor="ctr">
              <a:spAutoFit/>
            </a:bodyPr>
            <a:lstStyle/>
            <a:p>
              <a:pPr algn="ctr" eaLnBrk="0" hangingPunct="0">
                <a:spcBef>
                  <a:spcPct val="50000"/>
                </a:spcBef>
              </a:pPr>
              <a:r>
                <a:rPr lang="en-US">
                  <a:latin typeface="Calibri" pitchFamily="34" charset="0"/>
                </a:rPr>
                <a:t>7</a:t>
              </a:r>
            </a:p>
          </p:txBody>
        </p:sp>
        <p:sp>
          <p:nvSpPr>
            <p:cNvPr id="37919" name="Line 1054"/>
            <p:cNvSpPr>
              <a:spLocks noChangeShapeType="1"/>
            </p:cNvSpPr>
            <p:nvPr/>
          </p:nvSpPr>
          <p:spPr bwMode="auto">
            <a:xfrm flipH="1">
              <a:off x="3696" y="2686"/>
              <a:ext cx="0" cy="144"/>
            </a:xfrm>
            <a:prstGeom prst="line">
              <a:avLst/>
            </a:prstGeom>
            <a:noFill/>
            <a:ln w="9525">
              <a:solidFill>
                <a:schemeClr val="tx1"/>
              </a:solidFill>
              <a:round/>
              <a:headEnd/>
              <a:tailEnd/>
            </a:ln>
          </p:spPr>
          <p:txBody>
            <a:bodyPr wrap="none" anchor="ctr"/>
            <a:lstStyle/>
            <a:p>
              <a:endParaRPr lang="en-US" sz="2800">
                <a:latin typeface="Calibri" pitchFamily="34" charset="0"/>
              </a:endParaRPr>
            </a:p>
          </p:txBody>
        </p:sp>
        <p:sp>
          <p:nvSpPr>
            <p:cNvPr id="37920" name="Line 1055"/>
            <p:cNvSpPr>
              <a:spLocks noChangeShapeType="1"/>
            </p:cNvSpPr>
            <p:nvPr/>
          </p:nvSpPr>
          <p:spPr bwMode="auto">
            <a:xfrm flipH="1">
              <a:off x="3888" y="2686"/>
              <a:ext cx="0" cy="144"/>
            </a:xfrm>
            <a:prstGeom prst="line">
              <a:avLst/>
            </a:prstGeom>
            <a:noFill/>
            <a:ln w="9525">
              <a:solidFill>
                <a:schemeClr val="tx1"/>
              </a:solidFill>
              <a:round/>
              <a:headEnd/>
              <a:tailEnd/>
            </a:ln>
          </p:spPr>
          <p:txBody>
            <a:bodyPr wrap="none" anchor="ctr"/>
            <a:lstStyle/>
            <a:p>
              <a:endParaRPr lang="en-US" sz="2800">
                <a:latin typeface="Calibri" pitchFamily="34" charset="0"/>
              </a:endParaRPr>
            </a:p>
          </p:txBody>
        </p:sp>
        <p:sp>
          <p:nvSpPr>
            <p:cNvPr id="37921" name="Line 1056"/>
            <p:cNvSpPr>
              <a:spLocks noChangeShapeType="1"/>
            </p:cNvSpPr>
            <p:nvPr/>
          </p:nvSpPr>
          <p:spPr bwMode="auto">
            <a:xfrm flipH="1">
              <a:off x="4080" y="2686"/>
              <a:ext cx="0" cy="144"/>
            </a:xfrm>
            <a:prstGeom prst="line">
              <a:avLst/>
            </a:prstGeom>
            <a:noFill/>
            <a:ln w="9525">
              <a:solidFill>
                <a:schemeClr val="tx1"/>
              </a:solidFill>
              <a:round/>
              <a:headEnd/>
              <a:tailEnd/>
            </a:ln>
          </p:spPr>
          <p:txBody>
            <a:bodyPr wrap="none" anchor="ctr"/>
            <a:lstStyle/>
            <a:p>
              <a:endParaRPr lang="en-US" sz="2800">
                <a:latin typeface="Calibri" pitchFamily="34" charset="0"/>
              </a:endParaRPr>
            </a:p>
          </p:txBody>
        </p:sp>
        <p:sp>
          <p:nvSpPr>
            <p:cNvPr id="37922" name="Line 1057"/>
            <p:cNvSpPr>
              <a:spLocks noChangeShapeType="1"/>
            </p:cNvSpPr>
            <p:nvPr/>
          </p:nvSpPr>
          <p:spPr bwMode="auto">
            <a:xfrm flipH="1">
              <a:off x="1824" y="2364"/>
              <a:ext cx="0" cy="576"/>
            </a:xfrm>
            <a:prstGeom prst="line">
              <a:avLst/>
            </a:prstGeom>
            <a:noFill/>
            <a:ln w="9525">
              <a:solidFill>
                <a:schemeClr val="tx1"/>
              </a:solidFill>
              <a:round/>
              <a:headEnd/>
              <a:tailEnd/>
            </a:ln>
          </p:spPr>
          <p:txBody>
            <a:bodyPr wrap="none" anchor="ctr"/>
            <a:lstStyle/>
            <a:p>
              <a:endParaRPr lang="en-US" sz="2800">
                <a:latin typeface="Calibri" pitchFamily="34" charset="0"/>
              </a:endParaRPr>
            </a:p>
          </p:txBody>
        </p:sp>
        <p:sp>
          <p:nvSpPr>
            <p:cNvPr id="37923" name="Line 1058"/>
            <p:cNvSpPr>
              <a:spLocks noChangeShapeType="1"/>
            </p:cNvSpPr>
            <p:nvPr/>
          </p:nvSpPr>
          <p:spPr bwMode="auto">
            <a:xfrm flipH="1">
              <a:off x="2160" y="2364"/>
              <a:ext cx="0" cy="576"/>
            </a:xfrm>
            <a:prstGeom prst="line">
              <a:avLst/>
            </a:prstGeom>
            <a:noFill/>
            <a:ln w="9525">
              <a:solidFill>
                <a:schemeClr val="tx1"/>
              </a:solidFill>
              <a:round/>
              <a:headEnd/>
              <a:tailEnd/>
            </a:ln>
          </p:spPr>
          <p:txBody>
            <a:bodyPr wrap="none" anchor="ctr"/>
            <a:lstStyle/>
            <a:p>
              <a:endParaRPr lang="en-US" sz="2800">
                <a:latin typeface="Calibri" pitchFamily="34" charset="0"/>
              </a:endParaRPr>
            </a:p>
          </p:txBody>
        </p:sp>
        <p:sp>
          <p:nvSpPr>
            <p:cNvPr id="37924" name="Text Box 1059"/>
            <p:cNvSpPr txBox="1">
              <a:spLocks noChangeArrowheads="1"/>
            </p:cNvSpPr>
            <p:nvPr/>
          </p:nvSpPr>
          <p:spPr bwMode="auto">
            <a:xfrm flipH="1">
              <a:off x="2259" y="2410"/>
              <a:ext cx="241" cy="233"/>
            </a:xfrm>
            <a:prstGeom prst="rect">
              <a:avLst/>
            </a:prstGeom>
            <a:noFill/>
            <a:ln w="9525">
              <a:noFill/>
              <a:miter lim="800000"/>
              <a:headEnd/>
              <a:tailEnd/>
            </a:ln>
          </p:spPr>
          <p:txBody>
            <a:bodyPr wrap="none" anchor="ctr">
              <a:spAutoFit/>
            </a:bodyPr>
            <a:lstStyle/>
            <a:p>
              <a:pPr algn="ctr" eaLnBrk="0" hangingPunct="0">
                <a:spcBef>
                  <a:spcPct val="50000"/>
                </a:spcBef>
              </a:pPr>
              <a:r>
                <a:rPr lang="en-US">
                  <a:latin typeface="Calibri" pitchFamily="34" charset="0"/>
                </a:rPr>
                <a:t>P</a:t>
              </a:r>
              <a:r>
                <a:rPr lang="en-US" baseline="-25000">
                  <a:latin typeface="Calibri" pitchFamily="34" charset="0"/>
                </a:rPr>
                <a:t>2</a:t>
              </a:r>
              <a:endParaRPr lang="en-US">
                <a:latin typeface="Calibri" pitchFamily="34" charset="0"/>
              </a:endParaRPr>
            </a:p>
          </p:txBody>
        </p:sp>
        <p:sp>
          <p:nvSpPr>
            <p:cNvPr id="37925" name="Text Box 1060"/>
            <p:cNvSpPr txBox="1">
              <a:spLocks noChangeArrowheads="1"/>
            </p:cNvSpPr>
            <p:nvPr/>
          </p:nvSpPr>
          <p:spPr bwMode="auto">
            <a:xfrm flipH="1">
              <a:off x="3843" y="2410"/>
              <a:ext cx="241" cy="233"/>
            </a:xfrm>
            <a:prstGeom prst="rect">
              <a:avLst/>
            </a:prstGeom>
            <a:noFill/>
            <a:ln w="9525">
              <a:noFill/>
              <a:miter lim="800000"/>
              <a:headEnd/>
              <a:tailEnd/>
            </a:ln>
          </p:spPr>
          <p:txBody>
            <a:bodyPr wrap="none" anchor="ctr">
              <a:spAutoFit/>
            </a:bodyPr>
            <a:lstStyle/>
            <a:p>
              <a:pPr algn="ctr" eaLnBrk="0" hangingPunct="0">
                <a:spcBef>
                  <a:spcPct val="50000"/>
                </a:spcBef>
              </a:pPr>
              <a:r>
                <a:rPr lang="en-US">
                  <a:latin typeface="Calibri" pitchFamily="34" charset="0"/>
                </a:rPr>
                <a:t>P</a:t>
              </a:r>
              <a:r>
                <a:rPr lang="en-US" baseline="-25000">
                  <a:latin typeface="Calibri" pitchFamily="34" charset="0"/>
                </a:rPr>
                <a:t>1</a:t>
              </a:r>
              <a:endParaRPr lang="en-US">
                <a:latin typeface="Calibri" pitchFamily="34" charset="0"/>
              </a:endParaRPr>
            </a:p>
          </p:txBody>
        </p:sp>
        <p:sp>
          <p:nvSpPr>
            <p:cNvPr id="37926" name="Line 1061"/>
            <p:cNvSpPr>
              <a:spLocks noChangeShapeType="1"/>
            </p:cNvSpPr>
            <p:nvPr/>
          </p:nvSpPr>
          <p:spPr bwMode="auto">
            <a:xfrm flipH="1">
              <a:off x="4272" y="2686"/>
              <a:ext cx="0" cy="144"/>
            </a:xfrm>
            <a:prstGeom prst="line">
              <a:avLst/>
            </a:prstGeom>
            <a:noFill/>
            <a:ln w="9525">
              <a:solidFill>
                <a:schemeClr val="tx1"/>
              </a:solidFill>
              <a:round/>
              <a:headEnd/>
              <a:tailEnd/>
            </a:ln>
          </p:spPr>
          <p:txBody>
            <a:bodyPr wrap="none" anchor="ctr"/>
            <a:lstStyle/>
            <a:p>
              <a:endParaRPr lang="en-US" sz="2800">
                <a:latin typeface="Calibri" pitchFamily="34" charset="0"/>
              </a:endParaRPr>
            </a:p>
          </p:txBody>
        </p:sp>
        <p:sp>
          <p:nvSpPr>
            <p:cNvPr id="37927" name="Text Box 1062"/>
            <p:cNvSpPr txBox="1">
              <a:spLocks noChangeArrowheads="1"/>
            </p:cNvSpPr>
            <p:nvPr/>
          </p:nvSpPr>
          <p:spPr bwMode="auto">
            <a:xfrm flipH="1">
              <a:off x="4326" y="2842"/>
              <a:ext cx="264" cy="233"/>
            </a:xfrm>
            <a:prstGeom prst="rect">
              <a:avLst/>
            </a:prstGeom>
            <a:noFill/>
            <a:ln w="9525">
              <a:noFill/>
              <a:miter lim="800000"/>
              <a:headEnd/>
              <a:tailEnd/>
            </a:ln>
          </p:spPr>
          <p:txBody>
            <a:bodyPr wrap="none" anchor="ctr">
              <a:spAutoFit/>
            </a:bodyPr>
            <a:lstStyle/>
            <a:p>
              <a:pPr algn="ctr" eaLnBrk="0" hangingPunct="0">
                <a:spcBef>
                  <a:spcPct val="50000"/>
                </a:spcBef>
              </a:pPr>
              <a:r>
                <a:rPr lang="en-US">
                  <a:latin typeface="Calibri" pitchFamily="34" charset="0"/>
                </a:rPr>
                <a:t>16</a:t>
              </a:r>
            </a:p>
          </p:txBody>
        </p: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7937" y="1"/>
            <a:ext cx="10515600" cy="914400"/>
          </a:xfrm>
        </p:spPr>
        <p:txBody>
          <a:bodyPr/>
          <a:lstStyle/>
          <a:p>
            <a:r>
              <a:rPr lang="en-US" dirty="0"/>
              <a:t>Completion, Turnaround and Waiting times</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772431594"/>
              </p:ext>
            </p:extLst>
          </p:nvPr>
        </p:nvGraphicFramePr>
        <p:xfrm>
          <a:off x="171994" y="1686695"/>
          <a:ext cx="10515600" cy="2103120"/>
        </p:xfrm>
        <a:graphic>
          <a:graphicData uri="http://schemas.openxmlformats.org/drawingml/2006/table">
            <a:tbl>
              <a:tblPr/>
              <a:tblGrid>
                <a:gridCol w="1752600">
                  <a:extLst>
                    <a:ext uri="{9D8B030D-6E8A-4147-A177-3AD203B41FA5}">
                      <a16:colId xmlns:a16="http://schemas.microsoft.com/office/drawing/2014/main" val="292150580"/>
                    </a:ext>
                  </a:extLst>
                </a:gridCol>
                <a:gridCol w="1752600">
                  <a:extLst>
                    <a:ext uri="{9D8B030D-6E8A-4147-A177-3AD203B41FA5}">
                      <a16:colId xmlns:a16="http://schemas.microsoft.com/office/drawing/2014/main" val="3455549331"/>
                    </a:ext>
                  </a:extLst>
                </a:gridCol>
                <a:gridCol w="1752600">
                  <a:extLst>
                    <a:ext uri="{9D8B030D-6E8A-4147-A177-3AD203B41FA5}">
                      <a16:colId xmlns:a16="http://schemas.microsoft.com/office/drawing/2014/main" val="1620331074"/>
                    </a:ext>
                  </a:extLst>
                </a:gridCol>
                <a:gridCol w="1752600">
                  <a:extLst>
                    <a:ext uri="{9D8B030D-6E8A-4147-A177-3AD203B41FA5}">
                      <a16:colId xmlns:a16="http://schemas.microsoft.com/office/drawing/2014/main" val="1603044883"/>
                    </a:ext>
                  </a:extLst>
                </a:gridCol>
                <a:gridCol w="1752600">
                  <a:extLst>
                    <a:ext uri="{9D8B030D-6E8A-4147-A177-3AD203B41FA5}">
                      <a16:colId xmlns:a16="http://schemas.microsoft.com/office/drawing/2014/main" val="1435152148"/>
                    </a:ext>
                  </a:extLst>
                </a:gridCol>
                <a:gridCol w="1752600">
                  <a:extLst>
                    <a:ext uri="{9D8B030D-6E8A-4147-A177-3AD203B41FA5}">
                      <a16:colId xmlns:a16="http://schemas.microsoft.com/office/drawing/2014/main" val="1572945745"/>
                    </a:ext>
                  </a:extLst>
                </a:gridCol>
              </a:tblGrid>
              <a:tr h="0">
                <a:tc>
                  <a:txBody>
                    <a:bodyPr/>
                    <a:lstStyle/>
                    <a:p>
                      <a:pPr algn="r"/>
                      <a:r>
                        <a:rPr lang="en-US"/>
                        <a:t>Process</a:t>
                      </a:r>
                    </a:p>
                  </a:txBody>
                  <a:tcPr anchor="ctr">
                    <a:lnL>
                      <a:noFill/>
                    </a:lnL>
                    <a:lnR>
                      <a:noFill/>
                    </a:lnR>
                    <a:lnT>
                      <a:noFill/>
                    </a:lnT>
                    <a:lnB>
                      <a:noFill/>
                    </a:lnB>
                  </a:tcPr>
                </a:tc>
                <a:tc>
                  <a:txBody>
                    <a:bodyPr/>
                    <a:lstStyle/>
                    <a:p>
                      <a:pPr algn="r"/>
                      <a:r>
                        <a:rPr lang="en-US"/>
                        <a:t>Arrival</a:t>
                      </a:r>
                    </a:p>
                  </a:txBody>
                  <a:tcPr anchor="ctr">
                    <a:lnL>
                      <a:noFill/>
                    </a:lnL>
                    <a:lnR>
                      <a:noFill/>
                    </a:lnR>
                    <a:lnT>
                      <a:noFill/>
                    </a:lnT>
                    <a:lnB>
                      <a:noFill/>
                    </a:lnB>
                  </a:tcPr>
                </a:tc>
                <a:tc>
                  <a:txBody>
                    <a:bodyPr/>
                    <a:lstStyle/>
                    <a:p>
                      <a:pPr algn="r"/>
                      <a:r>
                        <a:rPr lang="en-US"/>
                        <a:t>Burst</a:t>
                      </a:r>
                    </a:p>
                  </a:txBody>
                  <a:tcPr anchor="ctr">
                    <a:lnL>
                      <a:noFill/>
                    </a:lnL>
                    <a:lnR>
                      <a:noFill/>
                    </a:lnR>
                    <a:lnT>
                      <a:noFill/>
                    </a:lnT>
                    <a:lnB>
                      <a:noFill/>
                    </a:lnB>
                  </a:tcPr>
                </a:tc>
                <a:tc>
                  <a:txBody>
                    <a:bodyPr/>
                    <a:lstStyle/>
                    <a:p>
                      <a:pPr algn="r"/>
                      <a:r>
                        <a:rPr lang="en-US"/>
                        <a:t>Completion C</a:t>
                      </a:r>
                    </a:p>
                  </a:txBody>
                  <a:tcPr anchor="ctr">
                    <a:lnL>
                      <a:noFill/>
                    </a:lnL>
                    <a:lnR>
                      <a:noFill/>
                    </a:lnR>
                    <a:lnT>
                      <a:noFill/>
                    </a:lnT>
                    <a:lnB>
                      <a:noFill/>
                    </a:lnB>
                  </a:tcPr>
                </a:tc>
                <a:tc>
                  <a:txBody>
                    <a:bodyPr/>
                    <a:lstStyle/>
                    <a:p>
                      <a:pPr algn="r"/>
                      <a:r>
                        <a:rPr lang="en-US"/>
                        <a:t>Turnaround (C−A)</a:t>
                      </a:r>
                    </a:p>
                  </a:txBody>
                  <a:tcPr anchor="ctr">
                    <a:lnL>
                      <a:noFill/>
                    </a:lnL>
                    <a:lnR>
                      <a:noFill/>
                    </a:lnR>
                    <a:lnT>
                      <a:noFill/>
                    </a:lnT>
                    <a:lnB>
                      <a:noFill/>
                    </a:lnB>
                  </a:tcPr>
                </a:tc>
                <a:tc>
                  <a:txBody>
                    <a:bodyPr/>
                    <a:lstStyle/>
                    <a:p>
                      <a:pPr algn="r"/>
                      <a:r>
                        <a:rPr lang="en-US"/>
                        <a:t>Waiting (TAT−Burst)</a:t>
                      </a:r>
                    </a:p>
                  </a:txBody>
                  <a:tcPr anchor="ctr">
                    <a:lnL>
                      <a:noFill/>
                    </a:lnL>
                    <a:lnR>
                      <a:noFill/>
                    </a:lnR>
                    <a:lnT>
                      <a:noFill/>
                    </a:lnT>
                    <a:lnB>
                      <a:noFill/>
                    </a:lnB>
                  </a:tcPr>
                </a:tc>
                <a:extLst>
                  <a:ext uri="{0D108BD9-81ED-4DB2-BD59-A6C34878D82A}">
                    <a16:rowId xmlns:a16="http://schemas.microsoft.com/office/drawing/2014/main" val="1978418961"/>
                  </a:ext>
                </a:extLst>
              </a:tr>
              <a:tr h="0">
                <a:tc>
                  <a:txBody>
                    <a:bodyPr/>
                    <a:lstStyle/>
                    <a:p>
                      <a:pPr algn="r"/>
                      <a:r>
                        <a:rPr lang="en-US"/>
                        <a:t>P₁</a:t>
                      </a:r>
                    </a:p>
                  </a:txBody>
                  <a:tcPr anchor="ctr">
                    <a:lnL>
                      <a:noFill/>
                    </a:lnL>
                    <a:lnR>
                      <a:noFill/>
                    </a:lnR>
                    <a:lnT>
                      <a:noFill/>
                    </a:lnT>
                    <a:lnB>
                      <a:noFill/>
                    </a:lnB>
                  </a:tcPr>
                </a:tc>
                <a:tc>
                  <a:txBody>
                    <a:bodyPr/>
                    <a:lstStyle/>
                    <a:p>
                      <a:pPr algn="r"/>
                      <a:r>
                        <a:rPr lang="en-US"/>
                        <a:t>0</a:t>
                      </a:r>
                    </a:p>
                  </a:txBody>
                  <a:tcPr anchor="ctr">
                    <a:lnL>
                      <a:noFill/>
                    </a:lnL>
                    <a:lnR>
                      <a:noFill/>
                    </a:lnR>
                    <a:lnT>
                      <a:noFill/>
                    </a:lnT>
                    <a:lnB>
                      <a:noFill/>
                    </a:lnB>
                  </a:tcPr>
                </a:tc>
                <a:tc>
                  <a:txBody>
                    <a:bodyPr/>
                    <a:lstStyle/>
                    <a:p>
                      <a:pPr algn="r"/>
                      <a:r>
                        <a:rPr lang="en-US"/>
                        <a:t>7</a:t>
                      </a:r>
                    </a:p>
                  </a:txBody>
                  <a:tcPr anchor="ctr">
                    <a:lnL>
                      <a:noFill/>
                    </a:lnL>
                    <a:lnR>
                      <a:noFill/>
                    </a:lnR>
                    <a:lnT>
                      <a:noFill/>
                    </a:lnT>
                    <a:lnB>
                      <a:noFill/>
                    </a:lnB>
                  </a:tcPr>
                </a:tc>
                <a:tc>
                  <a:txBody>
                    <a:bodyPr/>
                    <a:lstStyle/>
                    <a:p>
                      <a:pPr algn="r"/>
                      <a:r>
                        <a:rPr lang="en-US"/>
                        <a:t>16</a:t>
                      </a:r>
                    </a:p>
                  </a:txBody>
                  <a:tcPr anchor="ctr">
                    <a:lnL>
                      <a:noFill/>
                    </a:lnL>
                    <a:lnR>
                      <a:noFill/>
                    </a:lnR>
                    <a:lnT>
                      <a:noFill/>
                    </a:lnT>
                    <a:lnB>
                      <a:noFill/>
                    </a:lnB>
                  </a:tcPr>
                </a:tc>
                <a:tc>
                  <a:txBody>
                    <a:bodyPr/>
                    <a:lstStyle/>
                    <a:p>
                      <a:pPr algn="r"/>
                      <a:r>
                        <a:rPr lang="en-US"/>
                        <a:t>16</a:t>
                      </a:r>
                    </a:p>
                  </a:txBody>
                  <a:tcPr anchor="ctr">
                    <a:lnL>
                      <a:noFill/>
                    </a:lnL>
                    <a:lnR>
                      <a:noFill/>
                    </a:lnR>
                    <a:lnT>
                      <a:noFill/>
                    </a:lnT>
                    <a:lnB>
                      <a:noFill/>
                    </a:lnB>
                  </a:tcPr>
                </a:tc>
                <a:tc>
                  <a:txBody>
                    <a:bodyPr/>
                    <a:lstStyle/>
                    <a:p>
                      <a:pPr algn="r"/>
                      <a:r>
                        <a:rPr lang="en-US"/>
                        <a:t>16 − 7 = 9</a:t>
                      </a:r>
                    </a:p>
                  </a:txBody>
                  <a:tcPr anchor="ctr">
                    <a:lnL>
                      <a:noFill/>
                    </a:lnL>
                    <a:lnR>
                      <a:noFill/>
                    </a:lnR>
                    <a:lnT>
                      <a:noFill/>
                    </a:lnT>
                    <a:lnB>
                      <a:noFill/>
                    </a:lnB>
                  </a:tcPr>
                </a:tc>
                <a:extLst>
                  <a:ext uri="{0D108BD9-81ED-4DB2-BD59-A6C34878D82A}">
                    <a16:rowId xmlns:a16="http://schemas.microsoft.com/office/drawing/2014/main" val="2396353383"/>
                  </a:ext>
                </a:extLst>
              </a:tr>
              <a:tr h="0">
                <a:tc>
                  <a:txBody>
                    <a:bodyPr/>
                    <a:lstStyle/>
                    <a:p>
                      <a:pPr algn="r"/>
                      <a:r>
                        <a:rPr lang="en-US"/>
                        <a:t>P₂</a:t>
                      </a:r>
                    </a:p>
                  </a:txBody>
                  <a:tcPr anchor="ctr">
                    <a:lnL>
                      <a:noFill/>
                    </a:lnL>
                    <a:lnR>
                      <a:noFill/>
                    </a:lnR>
                    <a:lnT>
                      <a:noFill/>
                    </a:lnT>
                    <a:lnB>
                      <a:noFill/>
                    </a:lnB>
                  </a:tcPr>
                </a:tc>
                <a:tc>
                  <a:txBody>
                    <a:bodyPr/>
                    <a:lstStyle/>
                    <a:p>
                      <a:pPr algn="r"/>
                      <a:r>
                        <a:rPr lang="en-US"/>
                        <a:t>2</a:t>
                      </a:r>
                    </a:p>
                  </a:txBody>
                  <a:tcPr anchor="ctr">
                    <a:lnL>
                      <a:noFill/>
                    </a:lnL>
                    <a:lnR>
                      <a:noFill/>
                    </a:lnR>
                    <a:lnT>
                      <a:noFill/>
                    </a:lnT>
                    <a:lnB>
                      <a:noFill/>
                    </a:lnB>
                  </a:tcPr>
                </a:tc>
                <a:tc>
                  <a:txBody>
                    <a:bodyPr/>
                    <a:lstStyle/>
                    <a:p>
                      <a:pPr algn="r"/>
                      <a:r>
                        <a:rPr lang="en-US"/>
                        <a:t>4</a:t>
                      </a:r>
                    </a:p>
                  </a:txBody>
                  <a:tcPr anchor="ctr">
                    <a:lnL>
                      <a:noFill/>
                    </a:lnL>
                    <a:lnR>
                      <a:noFill/>
                    </a:lnR>
                    <a:lnT>
                      <a:noFill/>
                    </a:lnT>
                    <a:lnB>
                      <a:noFill/>
                    </a:lnB>
                  </a:tcPr>
                </a:tc>
                <a:tc>
                  <a:txBody>
                    <a:bodyPr/>
                    <a:lstStyle/>
                    <a:p>
                      <a:pPr algn="r"/>
                      <a:r>
                        <a:rPr lang="en-US"/>
                        <a:t>7</a:t>
                      </a:r>
                    </a:p>
                  </a:txBody>
                  <a:tcPr anchor="ctr">
                    <a:lnL>
                      <a:noFill/>
                    </a:lnL>
                    <a:lnR>
                      <a:noFill/>
                    </a:lnR>
                    <a:lnT>
                      <a:noFill/>
                    </a:lnT>
                    <a:lnB>
                      <a:noFill/>
                    </a:lnB>
                  </a:tcPr>
                </a:tc>
                <a:tc>
                  <a:txBody>
                    <a:bodyPr/>
                    <a:lstStyle/>
                    <a:p>
                      <a:pPr algn="r"/>
                      <a:r>
                        <a:rPr lang="en-US"/>
                        <a:t>7 − 2 = 5</a:t>
                      </a:r>
                    </a:p>
                  </a:txBody>
                  <a:tcPr anchor="ctr">
                    <a:lnL>
                      <a:noFill/>
                    </a:lnL>
                    <a:lnR>
                      <a:noFill/>
                    </a:lnR>
                    <a:lnT>
                      <a:noFill/>
                    </a:lnT>
                    <a:lnB>
                      <a:noFill/>
                    </a:lnB>
                  </a:tcPr>
                </a:tc>
                <a:tc>
                  <a:txBody>
                    <a:bodyPr/>
                    <a:lstStyle/>
                    <a:p>
                      <a:pPr algn="r"/>
                      <a:r>
                        <a:rPr lang="en-US"/>
                        <a:t>5 − 4 = 1</a:t>
                      </a:r>
                    </a:p>
                  </a:txBody>
                  <a:tcPr anchor="ctr">
                    <a:lnL>
                      <a:noFill/>
                    </a:lnL>
                    <a:lnR>
                      <a:noFill/>
                    </a:lnR>
                    <a:lnT>
                      <a:noFill/>
                    </a:lnT>
                    <a:lnB>
                      <a:noFill/>
                    </a:lnB>
                  </a:tcPr>
                </a:tc>
                <a:extLst>
                  <a:ext uri="{0D108BD9-81ED-4DB2-BD59-A6C34878D82A}">
                    <a16:rowId xmlns:a16="http://schemas.microsoft.com/office/drawing/2014/main" val="2804107771"/>
                  </a:ext>
                </a:extLst>
              </a:tr>
              <a:tr h="0">
                <a:tc>
                  <a:txBody>
                    <a:bodyPr/>
                    <a:lstStyle/>
                    <a:p>
                      <a:pPr algn="r"/>
                      <a:r>
                        <a:rPr lang="en-US"/>
                        <a:t>P₃</a:t>
                      </a:r>
                    </a:p>
                  </a:txBody>
                  <a:tcPr anchor="ctr">
                    <a:lnL>
                      <a:noFill/>
                    </a:lnL>
                    <a:lnR>
                      <a:noFill/>
                    </a:lnR>
                    <a:lnT>
                      <a:noFill/>
                    </a:lnT>
                    <a:lnB>
                      <a:noFill/>
                    </a:lnB>
                  </a:tcPr>
                </a:tc>
                <a:tc>
                  <a:txBody>
                    <a:bodyPr/>
                    <a:lstStyle/>
                    <a:p>
                      <a:pPr algn="r"/>
                      <a:r>
                        <a:rPr lang="en-US"/>
                        <a:t>4</a:t>
                      </a:r>
                    </a:p>
                  </a:txBody>
                  <a:tcPr anchor="ctr">
                    <a:lnL>
                      <a:noFill/>
                    </a:lnL>
                    <a:lnR>
                      <a:noFill/>
                    </a:lnR>
                    <a:lnT>
                      <a:noFill/>
                    </a:lnT>
                    <a:lnB>
                      <a:noFill/>
                    </a:lnB>
                  </a:tcPr>
                </a:tc>
                <a:tc>
                  <a:txBody>
                    <a:bodyPr/>
                    <a:lstStyle/>
                    <a:p>
                      <a:pPr algn="r"/>
                      <a:r>
                        <a:rPr lang="en-US"/>
                        <a:t>1</a:t>
                      </a:r>
                    </a:p>
                  </a:txBody>
                  <a:tcPr anchor="ctr">
                    <a:lnL>
                      <a:noFill/>
                    </a:lnL>
                    <a:lnR>
                      <a:noFill/>
                    </a:lnR>
                    <a:lnT>
                      <a:noFill/>
                    </a:lnT>
                    <a:lnB>
                      <a:noFill/>
                    </a:lnB>
                  </a:tcPr>
                </a:tc>
                <a:tc>
                  <a:txBody>
                    <a:bodyPr/>
                    <a:lstStyle/>
                    <a:p>
                      <a:pPr algn="r"/>
                      <a:r>
                        <a:rPr lang="en-US"/>
                        <a:t>5</a:t>
                      </a:r>
                    </a:p>
                  </a:txBody>
                  <a:tcPr anchor="ctr">
                    <a:lnL>
                      <a:noFill/>
                    </a:lnL>
                    <a:lnR>
                      <a:noFill/>
                    </a:lnR>
                    <a:lnT>
                      <a:noFill/>
                    </a:lnT>
                    <a:lnB>
                      <a:noFill/>
                    </a:lnB>
                  </a:tcPr>
                </a:tc>
                <a:tc>
                  <a:txBody>
                    <a:bodyPr/>
                    <a:lstStyle/>
                    <a:p>
                      <a:pPr algn="r"/>
                      <a:r>
                        <a:rPr lang="en-US"/>
                        <a:t>5 − 4 = 1</a:t>
                      </a:r>
                    </a:p>
                  </a:txBody>
                  <a:tcPr anchor="ctr">
                    <a:lnL>
                      <a:noFill/>
                    </a:lnL>
                    <a:lnR>
                      <a:noFill/>
                    </a:lnR>
                    <a:lnT>
                      <a:noFill/>
                    </a:lnT>
                    <a:lnB>
                      <a:noFill/>
                    </a:lnB>
                  </a:tcPr>
                </a:tc>
                <a:tc>
                  <a:txBody>
                    <a:bodyPr/>
                    <a:lstStyle/>
                    <a:p>
                      <a:pPr algn="r"/>
                      <a:r>
                        <a:rPr lang="en-US"/>
                        <a:t>1 − 1 = 0</a:t>
                      </a:r>
                    </a:p>
                  </a:txBody>
                  <a:tcPr anchor="ctr">
                    <a:lnL>
                      <a:noFill/>
                    </a:lnL>
                    <a:lnR>
                      <a:noFill/>
                    </a:lnR>
                    <a:lnT>
                      <a:noFill/>
                    </a:lnT>
                    <a:lnB>
                      <a:noFill/>
                    </a:lnB>
                  </a:tcPr>
                </a:tc>
                <a:extLst>
                  <a:ext uri="{0D108BD9-81ED-4DB2-BD59-A6C34878D82A}">
                    <a16:rowId xmlns:a16="http://schemas.microsoft.com/office/drawing/2014/main" val="4171136204"/>
                  </a:ext>
                </a:extLst>
              </a:tr>
              <a:tr h="0">
                <a:tc>
                  <a:txBody>
                    <a:bodyPr/>
                    <a:lstStyle/>
                    <a:p>
                      <a:pPr algn="r"/>
                      <a:r>
                        <a:rPr lang="en-US"/>
                        <a:t>P₄</a:t>
                      </a:r>
                    </a:p>
                  </a:txBody>
                  <a:tcPr anchor="ctr">
                    <a:lnL>
                      <a:noFill/>
                    </a:lnL>
                    <a:lnR>
                      <a:noFill/>
                    </a:lnR>
                    <a:lnT>
                      <a:noFill/>
                    </a:lnT>
                    <a:lnB>
                      <a:noFill/>
                    </a:lnB>
                  </a:tcPr>
                </a:tc>
                <a:tc>
                  <a:txBody>
                    <a:bodyPr/>
                    <a:lstStyle/>
                    <a:p>
                      <a:pPr algn="r"/>
                      <a:r>
                        <a:rPr lang="en-US" dirty="0"/>
                        <a:t>5</a:t>
                      </a:r>
                    </a:p>
                  </a:txBody>
                  <a:tcPr anchor="ctr">
                    <a:lnL>
                      <a:noFill/>
                    </a:lnL>
                    <a:lnR>
                      <a:noFill/>
                    </a:lnR>
                    <a:lnT>
                      <a:noFill/>
                    </a:lnT>
                    <a:lnB>
                      <a:noFill/>
                    </a:lnB>
                  </a:tcPr>
                </a:tc>
                <a:tc>
                  <a:txBody>
                    <a:bodyPr/>
                    <a:lstStyle/>
                    <a:p>
                      <a:pPr algn="r"/>
                      <a:r>
                        <a:rPr lang="en-US"/>
                        <a:t>4</a:t>
                      </a:r>
                    </a:p>
                  </a:txBody>
                  <a:tcPr anchor="ctr">
                    <a:lnL>
                      <a:noFill/>
                    </a:lnL>
                    <a:lnR>
                      <a:noFill/>
                    </a:lnR>
                    <a:lnT>
                      <a:noFill/>
                    </a:lnT>
                    <a:lnB>
                      <a:noFill/>
                    </a:lnB>
                  </a:tcPr>
                </a:tc>
                <a:tc>
                  <a:txBody>
                    <a:bodyPr/>
                    <a:lstStyle/>
                    <a:p>
                      <a:pPr algn="r"/>
                      <a:r>
                        <a:rPr lang="en-US"/>
                        <a:t>11</a:t>
                      </a:r>
                    </a:p>
                  </a:txBody>
                  <a:tcPr anchor="ctr">
                    <a:lnL>
                      <a:noFill/>
                    </a:lnL>
                    <a:lnR>
                      <a:noFill/>
                    </a:lnR>
                    <a:lnT>
                      <a:noFill/>
                    </a:lnT>
                    <a:lnB>
                      <a:noFill/>
                    </a:lnB>
                  </a:tcPr>
                </a:tc>
                <a:tc>
                  <a:txBody>
                    <a:bodyPr/>
                    <a:lstStyle/>
                    <a:p>
                      <a:pPr algn="r"/>
                      <a:r>
                        <a:rPr lang="en-US"/>
                        <a:t>11 − 5 = 6</a:t>
                      </a:r>
                    </a:p>
                  </a:txBody>
                  <a:tcPr anchor="ctr">
                    <a:lnL>
                      <a:noFill/>
                    </a:lnL>
                    <a:lnR>
                      <a:noFill/>
                    </a:lnR>
                    <a:lnT>
                      <a:noFill/>
                    </a:lnT>
                    <a:lnB>
                      <a:noFill/>
                    </a:lnB>
                  </a:tcPr>
                </a:tc>
                <a:tc>
                  <a:txBody>
                    <a:bodyPr/>
                    <a:lstStyle/>
                    <a:p>
                      <a:pPr algn="r"/>
                      <a:r>
                        <a:rPr lang="en-US" dirty="0"/>
                        <a:t>6 − 4 = 2</a:t>
                      </a:r>
                    </a:p>
                  </a:txBody>
                  <a:tcPr anchor="ctr">
                    <a:lnL>
                      <a:noFill/>
                    </a:lnL>
                    <a:lnR>
                      <a:noFill/>
                    </a:lnR>
                    <a:lnT>
                      <a:noFill/>
                    </a:lnT>
                    <a:lnB>
                      <a:noFill/>
                    </a:lnB>
                  </a:tcPr>
                </a:tc>
                <a:extLst>
                  <a:ext uri="{0D108BD9-81ED-4DB2-BD59-A6C34878D82A}">
                    <a16:rowId xmlns:a16="http://schemas.microsoft.com/office/drawing/2014/main" val="3230798024"/>
                  </a:ext>
                </a:extLst>
              </a:tr>
            </a:tbl>
          </a:graphicData>
        </a:graphic>
      </p:graphicFrame>
      <p:sp>
        <p:nvSpPr>
          <p:cNvPr id="5" name="Rectangle 4"/>
          <p:cNvSpPr/>
          <p:nvPr/>
        </p:nvSpPr>
        <p:spPr>
          <a:xfrm>
            <a:off x="579119" y="1040364"/>
            <a:ext cx="10304418" cy="400110"/>
          </a:xfrm>
          <a:prstGeom prst="rect">
            <a:avLst/>
          </a:prstGeom>
        </p:spPr>
        <p:txBody>
          <a:bodyPr wrap="square">
            <a:spAutoFit/>
          </a:bodyPr>
          <a:lstStyle/>
          <a:p>
            <a:r>
              <a:rPr lang="en-US" sz="2000" dirty="0"/>
              <a:t>Compute completion time (C), turnaround = C − arrival, waiting = turnaround − burst.</a:t>
            </a:r>
          </a:p>
        </p:txBody>
      </p:sp>
      <p:sp>
        <p:nvSpPr>
          <p:cNvPr id="6" name="Rectangle 5"/>
          <p:cNvSpPr/>
          <p:nvPr/>
        </p:nvSpPr>
        <p:spPr>
          <a:xfrm>
            <a:off x="1075509" y="4036036"/>
            <a:ext cx="6474822" cy="923330"/>
          </a:xfrm>
          <a:prstGeom prst="rect">
            <a:avLst/>
          </a:prstGeom>
        </p:spPr>
        <p:txBody>
          <a:bodyPr wrap="square">
            <a:spAutoFit/>
          </a:bodyPr>
          <a:lstStyle/>
          <a:p>
            <a:r>
              <a:rPr lang="en-US" dirty="0"/>
              <a:t>Totals / averages:</a:t>
            </a:r>
          </a:p>
          <a:p>
            <a:pPr>
              <a:buFont typeface="Arial" panose="020B0604020202020204" pitchFamily="34" charset="0"/>
              <a:buChar char="•"/>
            </a:pPr>
            <a:r>
              <a:rPr lang="en-US" dirty="0"/>
              <a:t>Average </a:t>
            </a:r>
            <a:r>
              <a:rPr lang="en-US" b="1" dirty="0"/>
              <a:t>turnaround time</a:t>
            </a:r>
            <a:r>
              <a:rPr lang="en-US" dirty="0"/>
              <a:t> = (16 + 5 + 1 + 6) / 4 = 28 / 4 = </a:t>
            </a:r>
            <a:r>
              <a:rPr lang="en-US" b="1" dirty="0"/>
              <a:t>7</a:t>
            </a:r>
            <a:endParaRPr lang="en-US" dirty="0"/>
          </a:p>
          <a:p>
            <a:pPr>
              <a:buFont typeface="Arial" panose="020B0604020202020204" pitchFamily="34" charset="0"/>
              <a:buChar char="•"/>
            </a:pPr>
            <a:r>
              <a:rPr lang="en-US" dirty="0"/>
              <a:t>Average </a:t>
            </a:r>
            <a:r>
              <a:rPr lang="en-US" b="1" dirty="0"/>
              <a:t>waiting time</a:t>
            </a:r>
            <a:r>
              <a:rPr lang="en-US" dirty="0"/>
              <a:t> = (9 + 1 + 0 + 2) / 4 = 12 / 4 = </a:t>
            </a:r>
            <a:r>
              <a:rPr lang="en-US" b="1" dirty="0"/>
              <a:t>3</a:t>
            </a:r>
            <a:endParaRPr lang="en-US" dirty="0"/>
          </a:p>
        </p:txBody>
      </p:sp>
      <p:sp>
        <p:nvSpPr>
          <p:cNvPr id="7" name="Rectangle 6"/>
          <p:cNvSpPr/>
          <p:nvPr/>
        </p:nvSpPr>
        <p:spPr>
          <a:xfrm>
            <a:off x="1075508" y="5078326"/>
            <a:ext cx="6945085" cy="369332"/>
          </a:xfrm>
          <a:prstGeom prst="rect">
            <a:avLst/>
          </a:prstGeom>
        </p:spPr>
        <p:txBody>
          <a:bodyPr wrap="square">
            <a:spAutoFit/>
          </a:bodyPr>
          <a:lstStyle/>
          <a:p>
            <a:r>
              <a:rPr lang="en-US" dirty="0" smtClean="0"/>
              <a:t>Average </a:t>
            </a:r>
            <a:r>
              <a:rPr lang="en-US" dirty="0"/>
              <a:t>waiting time = </a:t>
            </a:r>
            <a:r>
              <a:rPr lang="en-US" b="1" dirty="0"/>
              <a:t>3</a:t>
            </a:r>
            <a:r>
              <a:rPr lang="en-US" dirty="0"/>
              <a:t> units. Average turnaround time = </a:t>
            </a:r>
            <a:r>
              <a:rPr lang="en-US" b="1" dirty="0"/>
              <a:t>7</a:t>
            </a:r>
            <a:r>
              <a:rPr lang="en-US" dirty="0"/>
              <a:t> units.</a:t>
            </a:r>
          </a:p>
        </p:txBody>
      </p:sp>
    </p:spTree>
    <p:extLst>
      <p:ext uri="{BB962C8B-B14F-4D97-AF65-F5344CB8AC3E}">
        <p14:creationId xmlns:p14="http://schemas.microsoft.com/office/powerpoint/2010/main" val="112431453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6" name="Rectangle 2"/>
          <p:cNvSpPr>
            <a:spLocks noGrp="1" noChangeArrowheads="1"/>
          </p:cNvSpPr>
          <p:nvPr>
            <p:ph type="title"/>
          </p:nvPr>
        </p:nvSpPr>
        <p:spPr>
          <a:xfrm>
            <a:off x="838200" y="47625"/>
            <a:ext cx="10515600" cy="1325563"/>
          </a:xfrm>
        </p:spPr>
        <p:txBody>
          <a:bodyPr/>
          <a:lstStyle/>
          <a:p>
            <a:r>
              <a:rPr lang="en-GB"/>
              <a:t>Round Robin Scheduling</a:t>
            </a:r>
            <a:endParaRPr lang="en-US"/>
          </a:p>
        </p:txBody>
      </p:sp>
      <p:sp>
        <p:nvSpPr>
          <p:cNvPr id="40965" name="Rectangle 3"/>
          <p:cNvSpPr>
            <a:spLocks noGrp="1" noChangeArrowheads="1"/>
          </p:cNvSpPr>
          <p:nvPr>
            <p:ph idx="1"/>
          </p:nvPr>
        </p:nvSpPr>
        <p:spPr>
          <a:xfrm>
            <a:off x="838200" y="1419224"/>
            <a:ext cx="10515600" cy="4937126"/>
          </a:xfrm>
        </p:spPr>
        <p:txBody>
          <a:bodyPr/>
          <a:lstStyle/>
          <a:p>
            <a:r>
              <a:rPr lang="en-US"/>
              <a:t>The Round-Robin (RR) scheduling is designed especially for time sharing systems</a:t>
            </a:r>
          </a:p>
          <a:p>
            <a:r>
              <a:rPr lang="en-US"/>
              <a:t>In this algorithm there is small unit of time known as time quantum</a:t>
            </a:r>
          </a:p>
          <a:p>
            <a:r>
              <a:rPr lang="en-US"/>
              <a:t>A time quantum is generally up to 10-100ms</a:t>
            </a:r>
          </a:p>
          <a:p>
            <a:r>
              <a:rPr lang="en-US"/>
              <a:t>CPU scheduler goes around the ready queue, allocating the CPU to each process for a time interval of up to 1 quantum</a:t>
            </a:r>
          </a:p>
          <a:p>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8" name="Rectangle 2"/>
          <p:cNvSpPr>
            <a:spLocks noGrp="1" noChangeArrowheads="1"/>
          </p:cNvSpPr>
          <p:nvPr>
            <p:ph type="title"/>
          </p:nvPr>
        </p:nvSpPr>
        <p:spPr>
          <a:xfrm>
            <a:off x="838200" y="47625"/>
            <a:ext cx="10515600" cy="1325563"/>
          </a:xfrm>
        </p:spPr>
        <p:txBody>
          <a:bodyPr/>
          <a:lstStyle/>
          <a:p>
            <a:r>
              <a:rPr lang="en-GB"/>
              <a:t>Round Robin Scheduling</a:t>
            </a:r>
            <a:endParaRPr lang="en-US"/>
          </a:p>
        </p:txBody>
      </p:sp>
      <p:sp>
        <p:nvSpPr>
          <p:cNvPr id="41989" name="Rectangle 3"/>
          <p:cNvSpPr>
            <a:spLocks noGrp="1" noChangeArrowheads="1"/>
          </p:cNvSpPr>
          <p:nvPr>
            <p:ph idx="1"/>
          </p:nvPr>
        </p:nvSpPr>
        <p:spPr>
          <a:xfrm>
            <a:off x="838200" y="1419224"/>
            <a:ext cx="10515600" cy="4937126"/>
          </a:xfrm>
        </p:spPr>
        <p:txBody>
          <a:bodyPr/>
          <a:lstStyle/>
          <a:p>
            <a:r>
              <a:rPr lang="en-US" dirty="0"/>
              <a:t>For RR scheduling we keep the ready queue as a FIFO queue of processes</a:t>
            </a:r>
          </a:p>
          <a:p>
            <a:r>
              <a:rPr lang="en-US" dirty="0"/>
              <a:t>The CPU picks up the first process from the ready queue, set a timer to interrupt after 1 quantum</a:t>
            </a:r>
          </a:p>
          <a:p>
            <a:r>
              <a:rPr lang="en-US" dirty="0"/>
              <a:t>If the process burst time is less than 1 quantum </a:t>
            </a:r>
          </a:p>
          <a:p>
            <a:pPr lvl="1"/>
            <a:r>
              <a:rPr lang="en-US" dirty="0"/>
              <a:t>then the process itself release the CPU voluntarily &amp; proceed to next process</a:t>
            </a:r>
          </a:p>
          <a:p>
            <a:r>
              <a:rPr lang="en-US" dirty="0"/>
              <a:t>If the process burst time is greater then 1 quantum </a:t>
            </a:r>
          </a:p>
          <a:p>
            <a:pPr lvl="1"/>
            <a:r>
              <a:rPr lang="en-US" dirty="0"/>
              <a:t>then that process is sent back to the ready queue and CPU scheduler selects the next process in the ready queue for scheduling</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Rectangle 2"/>
          <p:cNvSpPr>
            <a:spLocks noGrp="1" noChangeArrowheads="1"/>
          </p:cNvSpPr>
          <p:nvPr>
            <p:ph type="title"/>
          </p:nvPr>
        </p:nvSpPr>
        <p:spPr/>
        <p:txBody>
          <a:bodyPr/>
          <a:lstStyle/>
          <a:p>
            <a:pPr eaLnBrk="1" hangingPunct="1">
              <a:defRPr/>
            </a:pPr>
            <a:r>
              <a:rPr lang="en-GB"/>
              <a:t>Round Robin Scheduling</a:t>
            </a:r>
            <a:endParaRPr lang="en-US"/>
          </a:p>
        </p:txBody>
      </p:sp>
      <p:sp>
        <p:nvSpPr>
          <p:cNvPr id="43013" name="Rectangle 3"/>
          <p:cNvSpPr>
            <a:spLocks noGrp="1" noChangeArrowheads="1"/>
          </p:cNvSpPr>
          <p:nvPr>
            <p:ph type="body" idx="1"/>
          </p:nvPr>
        </p:nvSpPr>
        <p:spPr/>
        <p:txBody>
          <a:bodyPr>
            <a:normAutofit lnSpcReduction="10000"/>
          </a:bodyPr>
          <a:lstStyle/>
          <a:p>
            <a:pPr eaLnBrk="1" hangingPunct="1">
              <a:lnSpc>
                <a:spcPct val="90000"/>
              </a:lnSpc>
              <a:buFont typeface="Wingdings" pitchFamily="2" charset="2"/>
              <a:buNone/>
            </a:pPr>
            <a:r>
              <a:rPr lang="en-US" sz="2000" dirty="0"/>
              <a:t>			</a:t>
            </a:r>
            <a:r>
              <a:rPr lang="en-US" sz="2000" b="1" u="sng" dirty="0"/>
              <a:t>Process</a:t>
            </a:r>
            <a:r>
              <a:rPr lang="en-US" sz="2000" b="1" dirty="0"/>
              <a:t>		</a:t>
            </a:r>
            <a:r>
              <a:rPr lang="en-US" sz="2000" b="1" u="sng" dirty="0"/>
              <a:t>Burst Time</a:t>
            </a:r>
          </a:p>
          <a:p>
            <a:pPr eaLnBrk="1" hangingPunct="1">
              <a:lnSpc>
                <a:spcPct val="90000"/>
              </a:lnSpc>
              <a:buFont typeface="Wingdings" pitchFamily="2" charset="2"/>
              <a:buNone/>
            </a:pPr>
            <a:r>
              <a:rPr lang="en-US" sz="2000" dirty="0"/>
              <a:t>			P</a:t>
            </a:r>
            <a:r>
              <a:rPr lang="en-US" sz="2000" baseline="-25000" dirty="0"/>
              <a:t>1		</a:t>
            </a:r>
            <a:r>
              <a:rPr lang="en-US" sz="2000" dirty="0"/>
              <a:t>53</a:t>
            </a:r>
          </a:p>
          <a:p>
            <a:pPr eaLnBrk="1" hangingPunct="1">
              <a:lnSpc>
                <a:spcPct val="90000"/>
              </a:lnSpc>
              <a:buFont typeface="Wingdings" pitchFamily="2" charset="2"/>
              <a:buNone/>
            </a:pPr>
            <a:r>
              <a:rPr lang="en-US" sz="2000" dirty="0"/>
              <a:t>			 P</a:t>
            </a:r>
            <a:r>
              <a:rPr lang="en-US" sz="2000" baseline="-25000" dirty="0"/>
              <a:t>2		 </a:t>
            </a:r>
            <a:r>
              <a:rPr lang="en-US" sz="2000" dirty="0"/>
              <a:t>17</a:t>
            </a:r>
          </a:p>
          <a:p>
            <a:pPr eaLnBrk="1" hangingPunct="1">
              <a:lnSpc>
                <a:spcPct val="90000"/>
              </a:lnSpc>
              <a:buFont typeface="Wingdings" pitchFamily="2" charset="2"/>
              <a:buNone/>
            </a:pPr>
            <a:r>
              <a:rPr lang="en-US" sz="2000" dirty="0"/>
              <a:t>			 P</a:t>
            </a:r>
            <a:r>
              <a:rPr lang="en-US" sz="2000" baseline="-25000" dirty="0"/>
              <a:t>3		</a:t>
            </a:r>
            <a:r>
              <a:rPr lang="en-US" sz="2000" dirty="0"/>
              <a:t>68</a:t>
            </a:r>
          </a:p>
          <a:p>
            <a:pPr eaLnBrk="1" hangingPunct="1">
              <a:lnSpc>
                <a:spcPct val="90000"/>
              </a:lnSpc>
              <a:buFont typeface="Wingdings" pitchFamily="2" charset="2"/>
              <a:buNone/>
            </a:pPr>
            <a:r>
              <a:rPr lang="en-US" sz="2000" dirty="0"/>
              <a:t>			 P</a:t>
            </a:r>
            <a:r>
              <a:rPr lang="en-US" sz="2000" baseline="-25000" dirty="0"/>
              <a:t>4		 </a:t>
            </a:r>
            <a:r>
              <a:rPr lang="en-US" sz="2000" dirty="0"/>
              <a:t>24</a:t>
            </a:r>
          </a:p>
          <a:p>
            <a:pPr eaLnBrk="1" hangingPunct="1">
              <a:lnSpc>
                <a:spcPct val="90000"/>
              </a:lnSpc>
            </a:pPr>
            <a:endParaRPr lang="en-US" sz="2000" dirty="0"/>
          </a:p>
          <a:p>
            <a:pPr eaLnBrk="1" hangingPunct="1">
              <a:lnSpc>
                <a:spcPct val="90000"/>
              </a:lnSpc>
            </a:pPr>
            <a:r>
              <a:rPr lang="en-US" sz="2000" dirty="0"/>
              <a:t>Time quantum = 20 </a:t>
            </a:r>
            <a:r>
              <a:rPr lang="en-US" sz="2000" dirty="0" err="1"/>
              <a:t>ms</a:t>
            </a:r>
            <a:endParaRPr lang="en-US" sz="2000" dirty="0"/>
          </a:p>
          <a:p>
            <a:pPr eaLnBrk="1" hangingPunct="1">
              <a:lnSpc>
                <a:spcPct val="90000"/>
              </a:lnSpc>
            </a:pPr>
            <a:r>
              <a:rPr lang="en-US" sz="2000" dirty="0"/>
              <a:t>The Gantt chart is: </a:t>
            </a:r>
            <a:br>
              <a:rPr lang="en-US" sz="2000" dirty="0"/>
            </a:br>
            <a:r>
              <a:rPr lang="en-US" sz="1800" dirty="0"/>
              <a:t/>
            </a:r>
            <a:br>
              <a:rPr lang="en-US" sz="1800" dirty="0"/>
            </a:br>
            <a:r>
              <a:rPr lang="en-US" sz="1800" dirty="0"/>
              <a:t/>
            </a:r>
            <a:br>
              <a:rPr lang="en-US" sz="1800" dirty="0"/>
            </a:br>
            <a:r>
              <a:rPr lang="en-US" sz="1800" dirty="0"/>
              <a:t/>
            </a:r>
            <a:br>
              <a:rPr lang="en-US" sz="1800" dirty="0"/>
            </a:br>
            <a:endParaRPr lang="en-US" sz="1800" dirty="0"/>
          </a:p>
          <a:p>
            <a:pPr eaLnBrk="1" hangingPunct="1">
              <a:lnSpc>
                <a:spcPct val="90000"/>
              </a:lnSpc>
              <a:buFont typeface="Wingdings" pitchFamily="2" charset="2"/>
              <a:buNone/>
            </a:pPr>
            <a:endParaRPr lang="en-US" sz="2000" dirty="0"/>
          </a:p>
          <a:p>
            <a:pPr eaLnBrk="1" hangingPunct="1">
              <a:lnSpc>
                <a:spcPct val="90000"/>
              </a:lnSpc>
            </a:pPr>
            <a:r>
              <a:rPr lang="en-US" sz="2000" dirty="0"/>
              <a:t>Typically, higher average turnaround than SJF, but better response</a:t>
            </a:r>
            <a:endParaRPr lang="en-US" dirty="0"/>
          </a:p>
        </p:txBody>
      </p:sp>
      <p:grpSp>
        <p:nvGrpSpPr>
          <p:cNvPr id="2" name="Group 4"/>
          <p:cNvGrpSpPr>
            <a:grpSpLocks/>
          </p:cNvGrpSpPr>
          <p:nvPr/>
        </p:nvGrpSpPr>
        <p:grpSpPr bwMode="auto">
          <a:xfrm>
            <a:off x="3133725" y="4419600"/>
            <a:ext cx="6021388" cy="979488"/>
            <a:chOff x="1014" y="2793"/>
            <a:chExt cx="3793" cy="617"/>
          </a:xfrm>
        </p:grpSpPr>
        <p:grpSp>
          <p:nvGrpSpPr>
            <p:cNvPr id="3" name="Group 5"/>
            <p:cNvGrpSpPr>
              <a:grpSpLocks/>
            </p:cNvGrpSpPr>
            <p:nvPr/>
          </p:nvGrpSpPr>
          <p:grpSpPr bwMode="auto">
            <a:xfrm>
              <a:off x="1110" y="2793"/>
              <a:ext cx="3552" cy="384"/>
              <a:chOff x="1152" y="2736"/>
              <a:chExt cx="2880" cy="288"/>
            </a:xfrm>
          </p:grpSpPr>
          <p:sp>
            <p:nvSpPr>
              <p:cNvPr id="43027" name="Rectangle 6"/>
              <p:cNvSpPr>
                <a:spLocks noChangeArrowheads="1"/>
              </p:cNvSpPr>
              <p:nvPr/>
            </p:nvSpPr>
            <p:spPr bwMode="auto">
              <a:xfrm>
                <a:off x="1152" y="2736"/>
                <a:ext cx="288" cy="288"/>
              </a:xfrm>
              <a:prstGeom prst="rect">
                <a:avLst/>
              </a:prstGeom>
              <a:solidFill>
                <a:schemeClr val="accent6">
                  <a:lumMod val="40000"/>
                  <a:lumOff val="60000"/>
                </a:schemeClr>
              </a:solidFill>
              <a:ln w="9525">
                <a:solidFill>
                  <a:schemeClr val="tx1"/>
                </a:solidFill>
                <a:miter lim="800000"/>
                <a:headEnd/>
                <a:tailEnd/>
              </a:ln>
            </p:spPr>
            <p:txBody>
              <a:bodyPr wrap="none" anchor="ctr"/>
              <a:lstStyle/>
              <a:p>
                <a:pPr algn="ctr" eaLnBrk="0" hangingPunct="0"/>
                <a:r>
                  <a:rPr lang="en-US" dirty="0">
                    <a:latin typeface="Calibri" pitchFamily="34" charset="0"/>
                  </a:rPr>
                  <a:t>P</a:t>
                </a:r>
                <a:r>
                  <a:rPr lang="en-US" baseline="-25000" dirty="0">
                    <a:latin typeface="Calibri" pitchFamily="34" charset="0"/>
                  </a:rPr>
                  <a:t>1</a:t>
                </a:r>
                <a:endParaRPr lang="en-US" dirty="0">
                  <a:latin typeface="Calibri" pitchFamily="34" charset="0"/>
                </a:endParaRPr>
              </a:p>
            </p:txBody>
          </p:sp>
          <p:sp>
            <p:nvSpPr>
              <p:cNvPr id="43028" name="Rectangle 7"/>
              <p:cNvSpPr>
                <a:spLocks noChangeArrowheads="1"/>
              </p:cNvSpPr>
              <p:nvPr/>
            </p:nvSpPr>
            <p:spPr bwMode="auto">
              <a:xfrm>
                <a:off x="1440" y="2736"/>
                <a:ext cx="288" cy="288"/>
              </a:xfrm>
              <a:prstGeom prst="rect">
                <a:avLst/>
              </a:prstGeom>
              <a:solidFill>
                <a:schemeClr val="accent6">
                  <a:lumMod val="40000"/>
                  <a:lumOff val="60000"/>
                </a:schemeClr>
              </a:solidFill>
              <a:ln w="9525">
                <a:solidFill>
                  <a:schemeClr val="tx1"/>
                </a:solidFill>
                <a:miter lim="800000"/>
                <a:headEnd/>
                <a:tailEnd/>
              </a:ln>
            </p:spPr>
            <p:txBody>
              <a:bodyPr wrap="none" anchor="ctr"/>
              <a:lstStyle/>
              <a:p>
                <a:pPr algn="ctr" eaLnBrk="0" hangingPunct="0"/>
                <a:r>
                  <a:rPr lang="en-US" dirty="0">
                    <a:latin typeface="Calibri" pitchFamily="34" charset="0"/>
                  </a:rPr>
                  <a:t>P</a:t>
                </a:r>
                <a:r>
                  <a:rPr lang="en-US" baseline="-25000" dirty="0">
                    <a:latin typeface="Calibri" pitchFamily="34" charset="0"/>
                  </a:rPr>
                  <a:t>2</a:t>
                </a:r>
              </a:p>
            </p:txBody>
          </p:sp>
          <p:sp>
            <p:nvSpPr>
              <p:cNvPr id="43029" name="Rectangle 8"/>
              <p:cNvSpPr>
                <a:spLocks noChangeArrowheads="1"/>
              </p:cNvSpPr>
              <p:nvPr/>
            </p:nvSpPr>
            <p:spPr bwMode="auto">
              <a:xfrm>
                <a:off x="1728" y="2736"/>
                <a:ext cx="288" cy="288"/>
              </a:xfrm>
              <a:prstGeom prst="rect">
                <a:avLst/>
              </a:prstGeom>
              <a:solidFill>
                <a:schemeClr val="accent6">
                  <a:lumMod val="40000"/>
                  <a:lumOff val="60000"/>
                </a:schemeClr>
              </a:solidFill>
              <a:ln w="9525">
                <a:solidFill>
                  <a:schemeClr val="tx1"/>
                </a:solidFill>
                <a:miter lim="800000"/>
                <a:headEnd/>
                <a:tailEnd/>
              </a:ln>
            </p:spPr>
            <p:txBody>
              <a:bodyPr wrap="none" anchor="ctr"/>
              <a:lstStyle/>
              <a:p>
                <a:pPr algn="ctr" eaLnBrk="0" hangingPunct="0"/>
                <a:r>
                  <a:rPr lang="en-US">
                    <a:latin typeface="Calibri" pitchFamily="34" charset="0"/>
                  </a:rPr>
                  <a:t>P</a:t>
                </a:r>
                <a:r>
                  <a:rPr lang="en-US" baseline="-25000">
                    <a:latin typeface="Calibri" pitchFamily="34" charset="0"/>
                  </a:rPr>
                  <a:t>3</a:t>
                </a:r>
              </a:p>
            </p:txBody>
          </p:sp>
          <p:sp>
            <p:nvSpPr>
              <p:cNvPr id="43030" name="Rectangle 9"/>
              <p:cNvSpPr>
                <a:spLocks noChangeArrowheads="1"/>
              </p:cNvSpPr>
              <p:nvPr/>
            </p:nvSpPr>
            <p:spPr bwMode="auto">
              <a:xfrm>
                <a:off x="2016" y="2736"/>
                <a:ext cx="288" cy="288"/>
              </a:xfrm>
              <a:prstGeom prst="rect">
                <a:avLst/>
              </a:prstGeom>
              <a:solidFill>
                <a:schemeClr val="accent6">
                  <a:lumMod val="40000"/>
                  <a:lumOff val="60000"/>
                </a:schemeClr>
              </a:solidFill>
              <a:ln w="9525">
                <a:solidFill>
                  <a:schemeClr val="tx1"/>
                </a:solidFill>
                <a:miter lim="800000"/>
                <a:headEnd/>
                <a:tailEnd/>
              </a:ln>
            </p:spPr>
            <p:txBody>
              <a:bodyPr wrap="none" anchor="ctr"/>
              <a:lstStyle/>
              <a:p>
                <a:pPr algn="ctr" eaLnBrk="0" hangingPunct="0"/>
                <a:r>
                  <a:rPr lang="en-US">
                    <a:latin typeface="Calibri" pitchFamily="34" charset="0"/>
                  </a:rPr>
                  <a:t>P</a:t>
                </a:r>
                <a:r>
                  <a:rPr lang="en-US" baseline="-25000">
                    <a:latin typeface="Calibri" pitchFamily="34" charset="0"/>
                  </a:rPr>
                  <a:t>4</a:t>
                </a:r>
              </a:p>
            </p:txBody>
          </p:sp>
          <p:sp>
            <p:nvSpPr>
              <p:cNvPr id="43031" name="Rectangle 10"/>
              <p:cNvSpPr>
                <a:spLocks noChangeArrowheads="1"/>
              </p:cNvSpPr>
              <p:nvPr/>
            </p:nvSpPr>
            <p:spPr bwMode="auto">
              <a:xfrm>
                <a:off x="2304" y="2736"/>
                <a:ext cx="288" cy="288"/>
              </a:xfrm>
              <a:prstGeom prst="rect">
                <a:avLst/>
              </a:prstGeom>
              <a:solidFill>
                <a:schemeClr val="accent6">
                  <a:lumMod val="40000"/>
                  <a:lumOff val="60000"/>
                </a:schemeClr>
              </a:solidFill>
              <a:ln w="9525">
                <a:solidFill>
                  <a:schemeClr val="tx1"/>
                </a:solidFill>
                <a:miter lim="800000"/>
                <a:headEnd/>
                <a:tailEnd/>
              </a:ln>
            </p:spPr>
            <p:txBody>
              <a:bodyPr wrap="none" anchor="ctr"/>
              <a:lstStyle/>
              <a:p>
                <a:pPr algn="ctr" eaLnBrk="0" hangingPunct="0"/>
                <a:r>
                  <a:rPr lang="en-US">
                    <a:latin typeface="Calibri" pitchFamily="34" charset="0"/>
                  </a:rPr>
                  <a:t>P</a:t>
                </a:r>
                <a:r>
                  <a:rPr lang="en-US" baseline="-25000">
                    <a:latin typeface="Calibri" pitchFamily="34" charset="0"/>
                  </a:rPr>
                  <a:t>1</a:t>
                </a:r>
              </a:p>
            </p:txBody>
          </p:sp>
          <p:sp>
            <p:nvSpPr>
              <p:cNvPr id="43032" name="Rectangle 11"/>
              <p:cNvSpPr>
                <a:spLocks noChangeArrowheads="1"/>
              </p:cNvSpPr>
              <p:nvPr/>
            </p:nvSpPr>
            <p:spPr bwMode="auto">
              <a:xfrm>
                <a:off x="2592" y="2736"/>
                <a:ext cx="288" cy="288"/>
              </a:xfrm>
              <a:prstGeom prst="rect">
                <a:avLst/>
              </a:prstGeom>
              <a:solidFill>
                <a:schemeClr val="accent6">
                  <a:lumMod val="40000"/>
                  <a:lumOff val="60000"/>
                </a:schemeClr>
              </a:solidFill>
              <a:ln w="9525">
                <a:solidFill>
                  <a:schemeClr val="tx1"/>
                </a:solidFill>
                <a:miter lim="800000"/>
                <a:headEnd/>
                <a:tailEnd/>
              </a:ln>
            </p:spPr>
            <p:txBody>
              <a:bodyPr wrap="none" anchor="ctr"/>
              <a:lstStyle/>
              <a:p>
                <a:pPr algn="ctr" eaLnBrk="0" hangingPunct="0"/>
                <a:r>
                  <a:rPr lang="en-US">
                    <a:latin typeface="Calibri" pitchFamily="34" charset="0"/>
                  </a:rPr>
                  <a:t>P</a:t>
                </a:r>
                <a:r>
                  <a:rPr lang="en-US" baseline="-25000">
                    <a:latin typeface="Calibri" pitchFamily="34" charset="0"/>
                  </a:rPr>
                  <a:t>3</a:t>
                </a:r>
              </a:p>
            </p:txBody>
          </p:sp>
          <p:sp>
            <p:nvSpPr>
              <p:cNvPr id="43033" name="Rectangle 12"/>
              <p:cNvSpPr>
                <a:spLocks noChangeArrowheads="1"/>
              </p:cNvSpPr>
              <p:nvPr/>
            </p:nvSpPr>
            <p:spPr bwMode="auto">
              <a:xfrm>
                <a:off x="2880" y="2736"/>
                <a:ext cx="288" cy="288"/>
              </a:xfrm>
              <a:prstGeom prst="rect">
                <a:avLst/>
              </a:prstGeom>
              <a:solidFill>
                <a:schemeClr val="accent6">
                  <a:lumMod val="40000"/>
                  <a:lumOff val="60000"/>
                </a:schemeClr>
              </a:solidFill>
              <a:ln w="9525">
                <a:solidFill>
                  <a:schemeClr val="tx1"/>
                </a:solidFill>
                <a:miter lim="800000"/>
                <a:headEnd/>
                <a:tailEnd/>
              </a:ln>
            </p:spPr>
            <p:txBody>
              <a:bodyPr wrap="none" anchor="ctr"/>
              <a:lstStyle/>
              <a:p>
                <a:pPr algn="ctr" eaLnBrk="0" hangingPunct="0"/>
                <a:r>
                  <a:rPr lang="en-US">
                    <a:latin typeface="Calibri" pitchFamily="34" charset="0"/>
                  </a:rPr>
                  <a:t>P</a:t>
                </a:r>
                <a:r>
                  <a:rPr lang="en-US" baseline="-25000">
                    <a:latin typeface="Calibri" pitchFamily="34" charset="0"/>
                  </a:rPr>
                  <a:t>4</a:t>
                </a:r>
              </a:p>
            </p:txBody>
          </p:sp>
          <p:sp>
            <p:nvSpPr>
              <p:cNvPr id="43034" name="Rectangle 13"/>
              <p:cNvSpPr>
                <a:spLocks noChangeArrowheads="1"/>
              </p:cNvSpPr>
              <p:nvPr/>
            </p:nvSpPr>
            <p:spPr bwMode="auto">
              <a:xfrm>
                <a:off x="3168" y="2736"/>
                <a:ext cx="288" cy="288"/>
              </a:xfrm>
              <a:prstGeom prst="rect">
                <a:avLst/>
              </a:prstGeom>
              <a:solidFill>
                <a:schemeClr val="accent6">
                  <a:lumMod val="40000"/>
                  <a:lumOff val="60000"/>
                </a:schemeClr>
              </a:solidFill>
              <a:ln w="9525">
                <a:solidFill>
                  <a:schemeClr val="tx1"/>
                </a:solidFill>
                <a:miter lim="800000"/>
                <a:headEnd/>
                <a:tailEnd/>
              </a:ln>
            </p:spPr>
            <p:txBody>
              <a:bodyPr wrap="none" anchor="ctr"/>
              <a:lstStyle/>
              <a:p>
                <a:pPr algn="ctr" eaLnBrk="0" hangingPunct="0"/>
                <a:r>
                  <a:rPr lang="en-US">
                    <a:latin typeface="Calibri" pitchFamily="34" charset="0"/>
                  </a:rPr>
                  <a:t>P</a:t>
                </a:r>
                <a:r>
                  <a:rPr lang="en-US" baseline="-25000">
                    <a:latin typeface="Calibri" pitchFamily="34" charset="0"/>
                  </a:rPr>
                  <a:t>1</a:t>
                </a:r>
              </a:p>
            </p:txBody>
          </p:sp>
          <p:sp>
            <p:nvSpPr>
              <p:cNvPr id="43035" name="Rectangle 14"/>
              <p:cNvSpPr>
                <a:spLocks noChangeArrowheads="1"/>
              </p:cNvSpPr>
              <p:nvPr/>
            </p:nvSpPr>
            <p:spPr bwMode="auto">
              <a:xfrm>
                <a:off x="3456" y="2736"/>
                <a:ext cx="288" cy="288"/>
              </a:xfrm>
              <a:prstGeom prst="rect">
                <a:avLst/>
              </a:prstGeom>
              <a:solidFill>
                <a:schemeClr val="accent6">
                  <a:lumMod val="40000"/>
                  <a:lumOff val="60000"/>
                </a:schemeClr>
              </a:solidFill>
              <a:ln w="9525">
                <a:solidFill>
                  <a:schemeClr val="tx1"/>
                </a:solidFill>
                <a:miter lim="800000"/>
                <a:headEnd/>
                <a:tailEnd/>
              </a:ln>
            </p:spPr>
            <p:txBody>
              <a:bodyPr wrap="none" anchor="ctr"/>
              <a:lstStyle/>
              <a:p>
                <a:pPr algn="ctr" eaLnBrk="0" hangingPunct="0"/>
                <a:r>
                  <a:rPr lang="en-US">
                    <a:latin typeface="Calibri" pitchFamily="34" charset="0"/>
                  </a:rPr>
                  <a:t>P</a:t>
                </a:r>
                <a:r>
                  <a:rPr lang="en-US" baseline="-25000">
                    <a:latin typeface="Calibri" pitchFamily="34" charset="0"/>
                  </a:rPr>
                  <a:t>3</a:t>
                </a:r>
              </a:p>
            </p:txBody>
          </p:sp>
          <p:sp>
            <p:nvSpPr>
              <p:cNvPr id="43036" name="Rectangle 15"/>
              <p:cNvSpPr>
                <a:spLocks noChangeArrowheads="1"/>
              </p:cNvSpPr>
              <p:nvPr/>
            </p:nvSpPr>
            <p:spPr bwMode="auto">
              <a:xfrm>
                <a:off x="3744" y="2736"/>
                <a:ext cx="288" cy="288"/>
              </a:xfrm>
              <a:prstGeom prst="rect">
                <a:avLst/>
              </a:prstGeom>
              <a:solidFill>
                <a:schemeClr val="accent6">
                  <a:lumMod val="40000"/>
                  <a:lumOff val="60000"/>
                </a:schemeClr>
              </a:solidFill>
              <a:ln w="9525">
                <a:solidFill>
                  <a:schemeClr val="tx1"/>
                </a:solidFill>
                <a:miter lim="800000"/>
                <a:headEnd/>
                <a:tailEnd/>
              </a:ln>
            </p:spPr>
            <p:txBody>
              <a:bodyPr wrap="none" anchor="ctr"/>
              <a:lstStyle/>
              <a:p>
                <a:pPr algn="ctr" eaLnBrk="0" hangingPunct="0"/>
                <a:r>
                  <a:rPr lang="en-US">
                    <a:latin typeface="Calibri" pitchFamily="34" charset="0"/>
                  </a:rPr>
                  <a:t>P</a:t>
                </a:r>
                <a:r>
                  <a:rPr lang="en-US" baseline="-25000">
                    <a:latin typeface="Calibri" pitchFamily="34" charset="0"/>
                  </a:rPr>
                  <a:t>3</a:t>
                </a:r>
              </a:p>
            </p:txBody>
          </p:sp>
        </p:grpSp>
        <p:sp>
          <p:nvSpPr>
            <p:cNvPr id="43016" name="Text Box 16"/>
            <p:cNvSpPr txBox="1">
              <a:spLocks noChangeArrowheads="1"/>
            </p:cNvSpPr>
            <p:nvPr/>
          </p:nvSpPr>
          <p:spPr bwMode="auto">
            <a:xfrm>
              <a:off x="1014" y="3177"/>
              <a:ext cx="196" cy="231"/>
            </a:xfrm>
            <a:prstGeom prst="rect">
              <a:avLst/>
            </a:prstGeom>
            <a:noFill/>
            <a:ln w="9525">
              <a:noFill/>
              <a:miter lim="800000"/>
              <a:headEnd/>
              <a:tailEnd/>
            </a:ln>
          </p:spPr>
          <p:txBody>
            <a:bodyPr wrap="none" anchor="ctr">
              <a:spAutoFit/>
            </a:bodyPr>
            <a:lstStyle/>
            <a:p>
              <a:pPr algn="ctr" eaLnBrk="0" hangingPunct="0">
                <a:spcBef>
                  <a:spcPct val="50000"/>
                </a:spcBef>
              </a:pPr>
              <a:r>
                <a:rPr lang="en-US">
                  <a:latin typeface="Calibri" pitchFamily="34" charset="0"/>
                </a:rPr>
                <a:t>0</a:t>
              </a:r>
            </a:p>
          </p:txBody>
        </p:sp>
        <p:sp>
          <p:nvSpPr>
            <p:cNvPr id="43017" name="Text Box 17"/>
            <p:cNvSpPr txBox="1">
              <a:spLocks noChangeArrowheads="1"/>
            </p:cNvSpPr>
            <p:nvPr/>
          </p:nvSpPr>
          <p:spPr bwMode="auto">
            <a:xfrm>
              <a:off x="1310" y="3177"/>
              <a:ext cx="264" cy="233"/>
            </a:xfrm>
            <a:prstGeom prst="rect">
              <a:avLst/>
            </a:prstGeom>
            <a:noFill/>
            <a:ln w="9525">
              <a:noFill/>
              <a:miter lim="800000"/>
              <a:headEnd/>
              <a:tailEnd/>
            </a:ln>
          </p:spPr>
          <p:txBody>
            <a:bodyPr wrap="none" anchor="ctr">
              <a:spAutoFit/>
            </a:bodyPr>
            <a:lstStyle/>
            <a:p>
              <a:pPr algn="ctr" eaLnBrk="0" hangingPunct="0">
                <a:spcBef>
                  <a:spcPct val="50000"/>
                </a:spcBef>
              </a:pPr>
              <a:r>
                <a:rPr lang="en-US">
                  <a:latin typeface="Calibri" pitchFamily="34" charset="0"/>
                </a:rPr>
                <a:t>20</a:t>
              </a:r>
            </a:p>
          </p:txBody>
        </p:sp>
        <p:sp>
          <p:nvSpPr>
            <p:cNvPr id="43018" name="Text Box 18"/>
            <p:cNvSpPr txBox="1">
              <a:spLocks noChangeArrowheads="1"/>
            </p:cNvSpPr>
            <p:nvPr/>
          </p:nvSpPr>
          <p:spPr bwMode="auto">
            <a:xfrm>
              <a:off x="1646" y="3177"/>
              <a:ext cx="264" cy="233"/>
            </a:xfrm>
            <a:prstGeom prst="rect">
              <a:avLst/>
            </a:prstGeom>
            <a:noFill/>
            <a:ln w="9525">
              <a:noFill/>
              <a:miter lim="800000"/>
              <a:headEnd/>
              <a:tailEnd/>
            </a:ln>
          </p:spPr>
          <p:txBody>
            <a:bodyPr wrap="none" anchor="ctr">
              <a:spAutoFit/>
            </a:bodyPr>
            <a:lstStyle/>
            <a:p>
              <a:pPr algn="ctr" eaLnBrk="0" hangingPunct="0">
                <a:spcBef>
                  <a:spcPct val="50000"/>
                </a:spcBef>
              </a:pPr>
              <a:r>
                <a:rPr lang="en-US">
                  <a:latin typeface="Calibri" pitchFamily="34" charset="0"/>
                </a:rPr>
                <a:t>37</a:t>
              </a:r>
            </a:p>
          </p:txBody>
        </p:sp>
        <p:sp>
          <p:nvSpPr>
            <p:cNvPr id="43019" name="Text Box 19"/>
            <p:cNvSpPr txBox="1">
              <a:spLocks noChangeArrowheads="1"/>
            </p:cNvSpPr>
            <p:nvPr/>
          </p:nvSpPr>
          <p:spPr bwMode="auto">
            <a:xfrm>
              <a:off x="2026" y="3177"/>
              <a:ext cx="264" cy="233"/>
            </a:xfrm>
            <a:prstGeom prst="rect">
              <a:avLst/>
            </a:prstGeom>
            <a:noFill/>
            <a:ln w="9525">
              <a:noFill/>
              <a:miter lim="800000"/>
              <a:headEnd/>
              <a:tailEnd/>
            </a:ln>
          </p:spPr>
          <p:txBody>
            <a:bodyPr wrap="none" anchor="ctr">
              <a:spAutoFit/>
            </a:bodyPr>
            <a:lstStyle/>
            <a:p>
              <a:pPr algn="ctr" eaLnBrk="0" hangingPunct="0">
                <a:spcBef>
                  <a:spcPct val="50000"/>
                </a:spcBef>
              </a:pPr>
              <a:r>
                <a:rPr lang="en-US">
                  <a:latin typeface="Calibri" pitchFamily="34" charset="0"/>
                </a:rPr>
                <a:t>57</a:t>
              </a:r>
            </a:p>
          </p:txBody>
        </p:sp>
        <p:sp>
          <p:nvSpPr>
            <p:cNvPr id="43020" name="Text Box 20"/>
            <p:cNvSpPr txBox="1">
              <a:spLocks noChangeArrowheads="1"/>
            </p:cNvSpPr>
            <p:nvPr/>
          </p:nvSpPr>
          <p:spPr bwMode="auto">
            <a:xfrm>
              <a:off x="2414" y="3177"/>
              <a:ext cx="264" cy="233"/>
            </a:xfrm>
            <a:prstGeom prst="rect">
              <a:avLst/>
            </a:prstGeom>
            <a:noFill/>
            <a:ln w="9525">
              <a:noFill/>
              <a:miter lim="800000"/>
              <a:headEnd/>
              <a:tailEnd/>
            </a:ln>
          </p:spPr>
          <p:txBody>
            <a:bodyPr wrap="none" anchor="ctr">
              <a:spAutoFit/>
            </a:bodyPr>
            <a:lstStyle/>
            <a:p>
              <a:pPr algn="ctr" eaLnBrk="0" hangingPunct="0">
                <a:spcBef>
                  <a:spcPct val="50000"/>
                </a:spcBef>
              </a:pPr>
              <a:r>
                <a:rPr lang="en-US">
                  <a:latin typeface="Calibri" pitchFamily="34" charset="0"/>
                </a:rPr>
                <a:t>77</a:t>
              </a:r>
            </a:p>
          </p:txBody>
        </p:sp>
        <p:sp>
          <p:nvSpPr>
            <p:cNvPr id="43021" name="Text Box 21"/>
            <p:cNvSpPr txBox="1">
              <a:spLocks noChangeArrowheads="1"/>
            </p:cNvSpPr>
            <p:nvPr/>
          </p:nvSpPr>
          <p:spPr bwMode="auto">
            <a:xfrm>
              <a:off x="2750" y="3177"/>
              <a:ext cx="264" cy="233"/>
            </a:xfrm>
            <a:prstGeom prst="rect">
              <a:avLst/>
            </a:prstGeom>
            <a:noFill/>
            <a:ln w="9525">
              <a:noFill/>
              <a:miter lim="800000"/>
              <a:headEnd/>
              <a:tailEnd/>
            </a:ln>
          </p:spPr>
          <p:txBody>
            <a:bodyPr wrap="none" anchor="ctr">
              <a:spAutoFit/>
            </a:bodyPr>
            <a:lstStyle/>
            <a:p>
              <a:pPr algn="ctr" eaLnBrk="0" hangingPunct="0">
                <a:spcBef>
                  <a:spcPct val="50000"/>
                </a:spcBef>
              </a:pPr>
              <a:r>
                <a:rPr lang="en-US">
                  <a:latin typeface="Calibri" pitchFamily="34" charset="0"/>
                </a:rPr>
                <a:t>97</a:t>
              </a:r>
            </a:p>
          </p:txBody>
        </p:sp>
        <p:sp>
          <p:nvSpPr>
            <p:cNvPr id="43022" name="Text Box 22"/>
            <p:cNvSpPr txBox="1">
              <a:spLocks noChangeArrowheads="1"/>
            </p:cNvSpPr>
            <p:nvPr/>
          </p:nvSpPr>
          <p:spPr bwMode="auto">
            <a:xfrm>
              <a:off x="3046" y="3177"/>
              <a:ext cx="337" cy="233"/>
            </a:xfrm>
            <a:prstGeom prst="rect">
              <a:avLst/>
            </a:prstGeom>
            <a:noFill/>
            <a:ln w="9525">
              <a:noFill/>
              <a:miter lim="800000"/>
              <a:headEnd/>
              <a:tailEnd/>
            </a:ln>
          </p:spPr>
          <p:txBody>
            <a:bodyPr wrap="none" anchor="ctr">
              <a:spAutoFit/>
            </a:bodyPr>
            <a:lstStyle/>
            <a:p>
              <a:pPr algn="ctr" eaLnBrk="0" hangingPunct="0">
                <a:spcBef>
                  <a:spcPct val="50000"/>
                </a:spcBef>
              </a:pPr>
              <a:r>
                <a:rPr lang="en-US">
                  <a:latin typeface="Calibri" pitchFamily="34" charset="0"/>
                </a:rPr>
                <a:t>117</a:t>
              </a:r>
            </a:p>
          </p:txBody>
        </p:sp>
        <p:sp>
          <p:nvSpPr>
            <p:cNvPr id="43023" name="Text Box 23"/>
            <p:cNvSpPr txBox="1">
              <a:spLocks noChangeArrowheads="1"/>
            </p:cNvSpPr>
            <p:nvPr/>
          </p:nvSpPr>
          <p:spPr bwMode="auto">
            <a:xfrm>
              <a:off x="3430" y="3177"/>
              <a:ext cx="337" cy="233"/>
            </a:xfrm>
            <a:prstGeom prst="rect">
              <a:avLst/>
            </a:prstGeom>
            <a:noFill/>
            <a:ln w="9525">
              <a:noFill/>
              <a:miter lim="800000"/>
              <a:headEnd/>
              <a:tailEnd/>
            </a:ln>
          </p:spPr>
          <p:txBody>
            <a:bodyPr wrap="none" anchor="ctr">
              <a:spAutoFit/>
            </a:bodyPr>
            <a:lstStyle/>
            <a:p>
              <a:pPr algn="ctr" eaLnBrk="0" hangingPunct="0">
                <a:spcBef>
                  <a:spcPct val="50000"/>
                </a:spcBef>
              </a:pPr>
              <a:r>
                <a:rPr lang="en-US">
                  <a:latin typeface="Calibri" pitchFamily="34" charset="0"/>
                </a:rPr>
                <a:t>121</a:t>
              </a:r>
            </a:p>
          </p:txBody>
        </p:sp>
        <p:sp>
          <p:nvSpPr>
            <p:cNvPr id="43024" name="Text Box 24"/>
            <p:cNvSpPr txBox="1">
              <a:spLocks noChangeArrowheads="1"/>
            </p:cNvSpPr>
            <p:nvPr/>
          </p:nvSpPr>
          <p:spPr bwMode="auto">
            <a:xfrm>
              <a:off x="3766" y="3177"/>
              <a:ext cx="337" cy="233"/>
            </a:xfrm>
            <a:prstGeom prst="rect">
              <a:avLst/>
            </a:prstGeom>
            <a:noFill/>
            <a:ln w="9525">
              <a:noFill/>
              <a:miter lim="800000"/>
              <a:headEnd/>
              <a:tailEnd/>
            </a:ln>
          </p:spPr>
          <p:txBody>
            <a:bodyPr wrap="none" anchor="ctr">
              <a:spAutoFit/>
            </a:bodyPr>
            <a:lstStyle/>
            <a:p>
              <a:pPr algn="ctr" eaLnBrk="0" hangingPunct="0">
                <a:spcBef>
                  <a:spcPct val="50000"/>
                </a:spcBef>
              </a:pPr>
              <a:r>
                <a:rPr lang="en-US">
                  <a:latin typeface="Calibri" pitchFamily="34" charset="0"/>
                </a:rPr>
                <a:t>134</a:t>
              </a:r>
            </a:p>
          </p:txBody>
        </p:sp>
        <p:sp>
          <p:nvSpPr>
            <p:cNvPr id="43025" name="Text Box 25"/>
            <p:cNvSpPr txBox="1">
              <a:spLocks noChangeArrowheads="1"/>
            </p:cNvSpPr>
            <p:nvPr/>
          </p:nvSpPr>
          <p:spPr bwMode="auto">
            <a:xfrm>
              <a:off x="4134" y="3177"/>
              <a:ext cx="337" cy="233"/>
            </a:xfrm>
            <a:prstGeom prst="rect">
              <a:avLst/>
            </a:prstGeom>
            <a:noFill/>
            <a:ln w="9525">
              <a:noFill/>
              <a:miter lim="800000"/>
              <a:headEnd/>
              <a:tailEnd/>
            </a:ln>
          </p:spPr>
          <p:txBody>
            <a:bodyPr wrap="none" anchor="ctr">
              <a:spAutoFit/>
            </a:bodyPr>
            <a:lstStyle/>
            <a:p>
              <a:pPr algn="ctr" eaLnBrk="0" hangingPunct="0">
                <a:spcBef>
                  <a:spcPct val="50000"/>
                </a:spcBef>
              </a:pPr>
              <a:r>
                <a:rPr lang="en-US">
                  <a:latin typeface="Calibri" pitchFamily="34" charset="0"/>
                </a:rPr>
                <a:t>154</a:t>
              </a:r>
            </a:p>
          </p:txBody>
        </p:sp>
        <p:sp>
          <p:nvSpPr>
            <p:cNvPr id="43026" name="Text Box 26"/>
            <p:cNvSpPr txBox="1">
              <a:spLocks noChangeArrowheads="1"/>
            </p:cNvSpPr>
            <p:nvPr/>
          </p:nvSpPr>
          <p:spPr bwMode="auto">
            <a:xfrm>
              <a:off x="4470" y="3177"/>
              <a:ext cx="337" cy="233"/>
            </a:xfrm>
            <a:prstGeom prst="rect">
              <a:avLst/>
            </a:prstGeom>
            <a:noFill/>
            <a:ln w="9525">
              <a:noFill/>
              <a:miter lim="800000"/>
              <a:headEnd/>
              <a:tailEnd/>
            </a:ln>
          </p:spPr>
          <p:txBody>
            <a:bodyPr wrap="none" anchor="ctr">
              <a:spAutoFit/>
            </a:bodyPr>
            <a:lstStyle/>
            <a:p>
              <a:pPr algn="ctr" eaLnBrk="0" hangingPunct="0">
                <a:spcBef>
                  <a:spcPct val="50000"/>
                </a:spcBef>
              </a:pPr>
              <a:r>
                <a:rPr lang="en-US">
                  <a:latin typeface="Calibri" pitchFamily="34" charset="0"/>
                </a:rPr>
                <a:t>162</a:t>
              </a:r>
            </a:p>
          </p:txBody>
        </p:sp>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Rectangle 2"/>
          <p:cNvSpPr>
            <a:spLocks noGrp="1" noChangeArrowheads="1"/>
          </p:cNvSpPr>
          <p:nvPr>
            <p:ph type="title"/>
          </p:nvPr>
        </p:nvSpPr>
        <p:spPr>
          <a:xfrm>
            <a:off x="838200" y="47625"/>
            <a:ext cx="10515600" cy="1325563"/>
          </a:xfrm>
        </p:spPr>
        <p:txBody>
          <a:bodyPr/>
          <a:lstStyle/>
          <a:p>
            <a:r>
              <a:rPr lang="en-US"/>
              <a:t>Priority Scheduling</a:t>
            </a:r>
          </a:p>
        </p:txBody>
      </p:sp>
      <p:sp>
        <p:nvSpPr>
          <p:cNvPr id="38917" name="Rectangle 3"/>
          <p:cNvSpPr>
            <a:spLocks noGrp="1" noChangeArrowheads="1"/>
          </p:cNvSpPr>
          <p:nvPr>
            <p:ph idx="1"/>
          </p:nvPr>
        </p:nvSpPr>
        <p:spPr>
          <a:xfrm>
            <a:off x="838200" y="1419224"/>
            <a:ext cx="10515600" cy="4937126"/>
          </a:xfrm>
        </p:spPr>
        <p:txBody>
          <a:bodyPr>
            <a:normAutofit lnSpcReduction="10000"/>
          </a:bodyPr>
          <a:lstStyle/>
          <a:p>
            <a:r>
              <a:rPr lang="en-US" dirty="0"/>
              <a:t>In priority scheduling a priority is associated with each process and the CPU is allocated to the process with the highest priority</a:t>
            </a:r>
          </a:p>
          <a:p>
            <a:r>
              <a:rPr lang="en-US" dirty="0"/>
              <a:t>Equal priority processes are scheduled in FCFS order</a:t>
            </a:r>
          </a:p>
          <a:p>
            <a:r>
              <a:rPr lang="en-US" dirty="0"/>
              <a:t>Priorities are generally some fixed range of numbers, such as 0, 1, 5, 10</a:t>
            </a:r>
          </a:p>
          <a:p>
            <a:r>
              <a:rPr lang="en-US" dirty="0"/>
              <a:t>There is no general agreement on whether ‘0’ is highest or lower priority</a:t>
            </a:r>
          </a:p>
          <a:p>
            <a:r>
              <a:rPr lang="en-US" dirty="0"/>
              <a:t>Priority can be defined on the bases of following</a:t>
            </a:r>
          </a:p>
          <a:p>
            <a:pPr lvl="1"/>
            <a:r>
              <a:rPr lang="en-US" dirty="0"/>
              <a:t>Process time limit</a:t>
            </a:r>
          </a:p>
          <a:p>
            <a:pPr lvl="1"/>
            <a:r>
              <a:rPr lang="en-US" dirty="0"/>
              <a:t>Memory requirements</a:t>
            </a:r>
          </a:p>
          <a:p>
            <a:pPr lvl="1"/>
            <a:r>
              <a:rPr lang="en-US" dirty="0"/>
              <a:t>Number of open files</a:t>
            </a:r>
          </a:p>
          <a:p>
            <a:pPr lvl="1"/>
            <a:r>
              <a:rPr lang="en-US" dirty="0"/>
              <a:t>Ratio of average I/O burst to CPU burst</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2"/>
          <p:cNvSpPr>
            <a:spLocks noGrp="1" noChangeArrowheads="1"/>
          </p:cNvSpPr>
          <p:nvPr>
            <p:ph type="title"/>
          </p:nvPr>
        </p:nvSpPr>
        <p:spPr>
          <a:xfrm>
            <a:off x="838200" y="47625"/>
            <a:ext cx="10515600" cy="1325563"/>
          </a:xfrm>
        </p:spPr>
        <p:txBody>
          <a:bodyPr/>
          <a:lstStyle/>
          <a:p>
            <a:r>
              <a:rPr lang="en-US" dirty="0"/>
              <a:t>Priority Scheduling - Salient points </a:t>
            </a:r>
          </a:p>
        </p:txBody>
      </p:sp>
      <p:sp>
        <p:nvSpPr>
          <p:cNvPr id="39941" name="Rectangle 3"/>
          <p:cNvSpPr>
            <a:spLocks noGrp="1" noChangeArrowheads="1"/>
          </p:cNvSpPr>
          <p:nvPr>
            <p:ph idx="1"/>
          </p:nvPr>
        </p:nvSpPr>
        <p:spPr>
          <a:xfrm>
            <a:off x="838200" y="1419224"/>
            <a:ext cx="10515600" cy="4937126"/>
          </a:xfrm>
        </p:spPr>
        <p:txBody>
          <a:bodyPr>
            <a:normAutofit fontScale="85000" lnSpcReduction="10000"/>
          </a:bodyPr>
          <a:lstStyle/>
          <a:p>
            <a:r>
              <a:rPr lang="en-US" dirty="0"/>
              <a:t>Priority mechanism can be static or dynamic</a:t>
            </a:r>
          </a:p>
          <a:p>
            <a:pPr lvl="1"/>
            <a:r>
              <a:rPr lang="en-US" dirty="0"/>
              <a:t>Static priority mechanism is easy to implement and have relatively low overheads</a:t>
            </a:r>
          </a:p>
          <a:p>
            <a:pPr lvl="1"/>
            <a:r>
              <a:rPr lang="en-US" dirty="0"/>
              <a:t>Dynamic priority mechanism is more complex to implement and have greater overheads</a:t>
            </a:r>
          </a:p>
          <a:p>
            <a:r>
              <a:rPr lang="en-US" dirty="0"/>
              <a:t>The priority scheduling may be preemptive or non-preemptive</a:t>
            </a:r>
          </a:p>
          <a:p>
            <a:pPr lvl="1"/>
            <a:r>
              <a:rPr lang="en-US" dirty="0"/>
              <a:t>The choice arise when a high priority process comes in the queue while a low priority process is executing</a:t>
            </a:r>
          </a:p>
          <a:p>
            <a:r>
              <a:rPr lang="en-US" dirty="0"/>
              <a:t>A process that is ready to run but lacking the CPU can be considered blocked</a:t>
            </a:r>
          </a:p>
          <a:p>
            <a:r>
              <a:rPr lang="en-US" dirty="0"/>
              <a:t>Solution to indefinite blocking is aging</a:t>
            </a:r>
          </a:p>
          <a:p>
            <a:r>
              <a:rPr lang="en-US" dirty="0"/>
              <a:t>Aging is a technique of gradually increasing the priority of processes that waits for a long time</a:t>
            </a:r>
          </a:p>
          <a:p>
            <a:r>
              <a:rPr lang="en-US" dirty="0"/>
              <a:t>OS allows only a limited priority classes</a:t>
            </a:r>
          </a:p>
          <a:p>
            <a:r>
              <a:rPr lang="en-US" dirty="0"/>
              <a:t>In VAX / VMS priority range is 0 to 31</a:t>
            </a:r>
          </a:p>
          <a:p>
            <a:r>
              <a:rPr lang="en-US" dirty="0"/>
              <a:t>In Unix priority range is -20 to 20</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6" name="Rectangle 2"/>
          <p:cNvSpPr>
            <a:spLocks noGrp="1" noChangeArrowheads="1"/>
          </p:cNvSpPr>
          <p:nvPr>
            <p:ph type="title"/>
          </p:nvPr>
        </p:nvSpPr>
        <p:spPr>
          <a:xfrm>
            <a:off x="838200" y="47625"/>
            <a:ext cx="10515600" cy="1325563"/>
          </a:xfrm>
        </p:spPr>
        <p:txBody>
          <a:bodyPr/>
          <a:lstStyle/>
          <a:p>
            <a:r>
              <a:rPr lang="en-US"/>
              <a:t>Multilevel Queue</a:t>
            </a:r>
          </a:p>
        </p:txBody>
      </p:sp>
      <p:sp>
        <p:nvSpPr>
          <p:cNvPr id="44037" name="Rectangle 3"/>
          <p:cNvSpPr>
            <a:spLocks noGrp="1" noChangeArrowheads="1"/>
          </p:cNvSpPr>
          <p:nvPr>
            <p:ph idx="1"/>
          </p:nvPr>
        </p:nvSpPr>
        <p:spPr>
          <a:xfrm>
            <a:off x="838200" y="1419224"/>
            <a:ext cx="10515600" cy="4937126"/>
          </a:xfrm>
        </p:spPr>
        <p:txBody>
          <a:bodyPr>
            <a:normAutofit lnSpcReduction="10000"/>
          </a:bodyPr>
          <a:lstStyle/>
          <a:p>
            <a:r>
              <a:rPr lang="en-US" dirty="0"/>
              <a:t>Ready queue is partitioned into separate queues:</a:t>
            </a:r>
            <a:br>
              <a:rPr lang="en-US" dirty="0"/>
            </a:br>
            <a:r>
              <a:rPr lang="en-US" dirty="0"/>
              <a:t>foreground (interactive)</a:t>
            </a:r>
            <a:br>
              <a:rPr lang="en-US" dirty="0"/>
            </a:br>
            <a:r>
              <a:rPr lang="en-US" dirty="0"/>
              <a:t>background (batch)</a:t>
            </a:r>
          </a:p>
          <a:p>
            <a:r>
              <a:rPr lang="en-US" dirty="0"/>
              <a:t>Each queue has its own scheduling algorithm</a:t>
            </a:r>
          </a:p>
          <a:p>
            <a:pPr lvl="1"/>
            <a:r>
              <a:rPr lang="en-US" dirty="0"/>
              <a:t>foreground – RR</a:t>
            </a:r>
          </a:p>
          <a:p>
            <a:pPr lvl="1"/>
            <a:r>
              <a:rPr lang="en-US" dirty="0"/>
              <a:t>background – FCFS</a:t>
            </a:r>
          </a:p>
          <a:p>
            <a:r>
              <a:rPr lang="en-US" dirty="0"/>
              <a:t>Scheduling must be done between the queues</a:t>
            </a:r>
          </a:p>
          <a:p>
            <a:pPr lvl="1"/>
            <a:r>
              <a:rPr lang="en-US" dirty="0"/>
              <a:t>Fixed priority scheduling; (i.e., serve all from foreground then from background)</a:t>
            </a:r>
          </a:p>
          <a:p>
            <a:pPr lvl="2"/>
            <a:r>
              <a:rPr lang="en-US" dirty="0"/>
              <a:t>Possibility of starvation</a:t>
            </a:r>
          </a:p>
          <a:p>
            <a:pPr lvl="1"/>
            <a:r>
              <a:rPr lang="en-US" dirty="0"/>
              <a:t>Time slice – each queue gets a certain amount of CPU time which it can schedule amongst its processes; i.e., 80% to foreground in RR</a:t>
            </a:r>
          </a:p>
          <a:p>
            <a:pPr lvl="1"/>
            <a:r>
              <a:rPr lang="en-US" dirty="0"/>
              <a:t>20% to background in FCFS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10" name="Rectangle 2"/>
          <p:cNvSpPr>
            <a:spLocks noGrp="1" noChangeArrowheads="1"/>
          </p:cNvSpPr>
          <p:nvPr>
            <p:ph type="title"/>
          </p:nvPr>
        </p:nvSpPr>
        <p:spPr/>
        <p:txBody>
          <a:bodyPr/>
          <a:lstStyle/>
          <a:p>
            <a:pPr eaLnBrk="1" hangingPunct="1">
              <a:defRPr/>
            </a:pPr>
            <a:r>
              <a:rPr lang="en-US"/>
              <a:t>Multilevel Queue Scheduling</a:t>
            </a:r>
          </a:p>
        </p:txBody>
      </p:sp>
      <p:pic>
        <p:nvPicPr>
          <p:cNvPr id="4" name="Picture 4" descr="5">
            <a:extLst>
              <a:ext uri="{FF2B5EF4-FFF2-40B4-BE49-F238E27FC236}">
                <a16:creationId xmlns:a16="http://schemas.microsoft.com/office/drawing/2014/main" id="{7A9854FE-D0C6-4333-B290-E91276625E1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76147" y="1632496"/>
            <a:ext cx="7639705" cy="4494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258" name="Rectangle 2"/>
          <p:cNvSpPr>
            <a:spLocks noGrp="1" noChangeArrowheads="1"/>
          </p:cNvSpPr>
          <p:nvPr>
            <p:ph type="title"/>
          </p:nvPr>
        </p:nvSpPr>
        <p:spPr>
          <a:xfrm>
            <a:off x="838200" y="47625"/>
            <a:ext cx="10515600" cy="1325563"/>
          </a:xfrm>
        </p:spPr>
        <p:txBody>
          <a:bodyPr/>
          <a:lstStyle/>
          <a:p>
            <a:r>
              <a:rPr lang="en-US"/>
              <a:t>Multilevel Feedback Queue</a:t>
            </a:r>
          </a:p>
        </p:txBody>
      </p:sp>
      <p:sp>
        <p:nvSpPr>
          <p:cNvPr id="46085" name="Rectangle 3"/>
          <p:cNvSpPr>
            <a:spLocks noGrp="1" noChangeArrowheads="1"/>
          </p:cNvSpPr>
          <p:nvPr>
            <p:ph idx="1"/>
          </p:nvPr>
        </p:nvSpPr>
        <p:spPr>
          <a:xfrm>
            <a:off x="838200" y="1419224"/>
            <a:ext cx="10515600" cy="4937126"/>
          </a:xfrm>
        </p:spPr>
        <p:txBody>
          <a:bodyPr/>
          <a:lstStyle/>
          <a:p>
            <a:r>
              <a:rPr lang="en-US" dirty="0"/>
              <a:t>A process can move between the various queues</a:t>
            </a:r>
          </a:p>
          <a:p>
            <a:pPr lvl="1"/>
            <a:r>
              <a:rPr lang="en-US" dirty="0"/>
              <a:t>aging can be implemented this way</a:t>
            </a:r>
          </a:p>
          <a:p>
            <a:r>
              <a:rPr lang="en-US" dirty="0"/>
              <a:t>Multilevel-feedback-queue scheduler defined by the following parameters:</a:t>
            </a:r>
          </a:p>
          <a:p>
            <a:pPr lvl="1"/>
            <a:r>
              <a:rPr lang="en-US" dirty="0"/>
              <a:t>number of queues</a:t>
            </a:r>
          </a:p>
          <a:p>
            <a:pPr lvl="1"/>
            <a:r>
              <a:rPr lang="en-US" dirty="0"/>
              <a:t>scheduling algorithms for each queue</a:t>
            </a:r>
          </a:p>
          <a:p>
            <a:pPr lvl="1"/>
            <a:r>
              <a:rPr lang="en-US" dirty="0"/>
              <a:t>method used to determine when to upgrade a process</a:t>
            </a:r>
          </a:p>
          <a:p>
            <a:pPr lvl="1"/>
            <a:r>
              <a:rPr lang="en-US" dirty="0"/>
              <a:t>method used to determine when to demote a process</a:t>
            </a:r>
          </a:p>
          <a:p>
            <a:pPr lvl="1"/>
            <a:r>
              <a:rPr lang="en-US" dirty="0"/>
              <a:t>method used to determine which queue a process will enter when that process needs service</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82" name="Rectangle 2"/>
          <p:cNvSpPr>
            <a:spLocks noGrp="1" noChangeArrowheads="1"/>
          </p:cNvSpPr>
          <p:nvPr>
            <p:ph type="title"/>
          </p:nvPr>
        </p:nvSpPr>
        <p:spPr/>
        <p:txBody>
          <a:bodyPr/>
          <a:lstStyle/>
          <a:p>
            <a:pPr eaLnBrk="1" hangingPunct="1">
              <a:defRPr/>
            </a:pPr>
            <a:r>
              <a:rPr lang="en-US"/>
              <a:t>Multilevel Feedback Queue</a:t>
            </a:r>
          </a:p>
        </p:txBody>
      </p:sp>
      <p:sp>
        <p:nvSpPr>
          <p:cNvPr id="47109" name="Rectangle 3"/>
          <p:cNvSpPr>
            <a:spLocks noGrp="1" noChangeArrowheads="1"/>
          </p:cNvSpPr>
          <p:nvPr>
            <p:ph type="body" idx="1"/>
          </p:nvPr>
        </p:nvSpPr>
        <p:spPr/>
        <p:txBody>
          <a:bodyPr>
            <a:normAutofit/>
          </a:bodyPr>
          <a:lstStyle/>
          <a:p>
            <a:pPr eaLnBrk="1" hangingPunct="1">
              <a:lnSpc>
                <a:spcPct val="90000"/>
              </a:lnSpc>
              <a:buFont typeface="Wingdings" pitchFamily="2" charset="2"/>
              <a:buNone/>
            </a:pPr>
            <a:r>
              <a:rPr lang="en-US" b="1" dirty="0"/>
              <a:t>Example</a:t>
            </a:r>
          </a:p>
          <a:p>
            <a:pPr eaLnBrk="1" hangingPunct="1">
              <a:lnSpc>
                <a:spcPct val="90000"/>
              </a:lnSpc>
            </a:pPr>
            <a:r>
              <a:rPr lang="en-US" dirty="0"/>
              <a:t>Three queues: </a:t>
            </a:r>
          </a:p>
          <a:p>
            <a:pPr lvl="1" eaLnBrk="1" hangingPunct="1">
              <a:lnSpc>
                <a:spcPct val="90000"/>
              </a:lnSpc>
            </a:pPr>
            <a:r>
              <a:rPr lang="en-US" i="1" dirty="0"/>
              <a:t>Q</a:t>
            </a:r>
            <a:r>
              <a:rPr lang="en-US" baseline="-25000" dirty="0"/>
              <a:t>0</a:t>
            </a:r>
            <a:r>
              <a:rPr lang="en-US" dirty="0"/>
              <a:t> – time quantum 8 milliseconds</a:t>
            </a:r>
          </a:p>
          <a:p>
            <a:pPr lvl="1" eaLnBrk="1" hangingPunct="1">
              <a:lnSpc>
                <a:spcPct val="90000"/>
              </a:lnSpc>
            </a:pPr>
            <a:r>
              <a:rPr lang="en-US" i="1" dirty="0"/>
              <a:t>Q</a:t>
            </a:r>
            <a:r>
              <a:rPr lang="en-US" baseline="-25000" dirty="0"/>
              <a:t>1</a:t>
            </a:r>
            <a:r>
              <a:rPr lang="en-US" dirty="0"/>
              <a:t> – time quantum 16 milliseconds</a:t>
            </a:r>
          </a:p>
          <a:p>
            <a:pPr lvl="1" eaLnBrk="1" hangingPunct="1">
              <a:lnSpc>
                <a:spcPct val="90000"/>
              </a:lnSpc>
            </a:pPr>
            <a:r>
              <a:rPr lang="en-US" i="1" dirty="0"/>
              <a:t>Q</a:t>
            </a:r>
            <a:r>
              <a:rPr lang="en-US" baseline="-25000" dirty="0"/>
              <a:t>2</a:t>
            </a:r>
            <a:r>
              <a:rPr lang="en-US" dirty="0"/>
              <a:t> – FCFS</a:t>
            </a:r>
          </a:p>
          <a:p>
            <a:pPr eaLnBrk="1" hangingPunct="1">
              <a:lnSpc>
                <a:spcPct val="90000"/>
              </a:lnSpc>
            </a:pPr>
            <a:r>
              <a:rPr lang="en-US" dirty="0"/>
              <a:t>Scheduling</a:t>
            </a:r>
          </a:p>
          <a:p>
            <a:pPr lvl="1" eaLnBrk="1" hangingPunct="1">
              <a:lnSpc>
                <a:spcPct val="90000"/>
              </a:lnSpc>
            </a:pPr>
            <a:r>
              <a:rPr lang="en-US" dirty="0"/>
              <a:t>A new job enters queue </a:t>
            </a:r>
            <a:r>
              <a:rPr lang="en-US" i="1" dirty="0"/>
              <a:t>Q</a:t>
            </a:r>
            <a:r>
              <a:rPr lang="en-US" i="1" baseline="-25000" dirty="0"/>
              <a:t>0</a:t>
            </a:r>
            <a:r>
              <a:rPr lang="en-US" i="1" dirty="0"/>
              <a:t> </a:t>
            </a:r>
            <a:r>
              <a:rPr lang="en-US" dirty="0"/>
              <a:t>which is served</a:t>
            </a:r>
            <a:r>
              <a:rPr lang="en-US" i="1" dirty="0"/>
              <a:t> </a:t>
            </a:r>
            <a:r>
              <a:rPr lang="en-US" dirty="0"/>
              <a:t>FCFS</a:t>
            </a:r>
          </a:p>
          <a:p>
            <a:pPr lvl="2">
              <a:lnSpc>
                <a:spcPct val="90000"/>
              </a:lnSpc>
            </a:pPr>
            <a:r>
              <a:rPr lang="en-US" dirty="0"/>
              <a:t>When it gains CPU, job receives 8 milliseconds</a:t>
            </a:r>
          </a:p>
          <a:p>
            <a:pPr lvl="2">
              <a:lnSpc>
                <a:spcPct val="90000"/>
              </a:lnSpc>
            </a:pPr>
            <a:r>
              <a:rPr lang="en-US" dirty="0"/>
              <a:t>If it does not finish in 8 milliseconds, job is moved to queue </a:t>
            </a:r>
            <a:r>
              <a:rPr lang="en-US" i="1" dirty="0"/>
              <a:t>Q</a:t>
            </a:r>
            <a:r>
              <a:rPr lang="en-US" baseline="-25000" dirty="0"/>
              <a:t>1</a:t>
            </a:r>
            <a:endParaRPr lang="en-US" dirty="0"/>
          </a:p>
          <a:p>
            <a:pPr lvl="1" eaLnBrk="1" hangingPunct="1">
              <a:lnSpc>
                <a:spcPct val="90000"/>
              </a:lnSpc>
            </a:pPr>
            <a:r>
              <a:rPr lang="en-US" dirty="0"/>
              <a:t>At </a:t>
            </a:r>
            <a:r>
              <a:rPr lang="en-US" i="1" dirty="0"/>
              <a:t>Q</a:t>
            </a:r>
            <a:r>
              <a:rPr lang="en-US" baseline="-25000" dirty="0"/>
              <a:t>1</a:t>
            </a:r>
            <a:r>
              <a:rPr lang="en-US" dirty="0"/>
              <a:t> job is again served FCFS and receives 16 additional milliseconds</a:t>
            </a:r>
          </a:p>
          <a:p>
            <a:pPr lvl="2">
              <a:lnSpc>
                <a:spcPct val="90000"/>
              </a:lnSpc>
            </a:pPr>
            <a:r>
              <a:rPr lang="en-US" dirty="0"/>
              <a:t>If it still does not complete, it is preempted and moved to queue </a:t>
            </a:r>
            <a:r>
              <a:rPr lang="en-US" i="1" dirty="0"/>
              <a:t>Q</a:t>
            </a:r>
            <a:r>
              <a:rPr lang="en-US" baseline="-25000" dirty="0"/>
              <a:t>2</a:t>
            </a:r>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Rectangle 2"/>
          <p:cNvSpPr>
            <a:spLocks noGrp="1" noChangeArrowheads="1"/>
          </p:cNvSpPr>
          <p:nvPr>
            <p:ph type="title"/>
          </p:nvPr>
        </p:nvSpPr>
        <p:spPr/>
        <p:txBody>
          <a:bodyPr/>
          <a:lstStyle/>
          <a:p>
            <a:pPr eaLnBrk="1" hangingPunct="1">
              <a:defRPr/>
            </a:pPr>
            <a:r>
              <a:rPr lang="en-US"/>
              <a:t>Multilevel Feedback Queues</a:t>
            </a:r>
          </a:p>
        </p:txBody>
      </p:sp>
      <p:pic>
        <p:nvPicPr>
          <p:cNvPr id="4" name="Picture 4" descr="5">
            <a:extLst>
              <a:ext uri="{FF2B5EF4-FFF2-40B4-BE49-F238E27FC236}">
                <a16:creationId xmlns:a16="http://schemas.microsoft.com/office/drawing/2014/main" id="{5310A695-26A4-4F15-82D8-39D9606B84C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84448" y="1834486"/>
            <a:ext cx="6623104" cy="39248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1FD680-B649-4ACF-8F1C-AC8A61FCC88A}"/>
              </a:ext>
            </a:extLst>
          </p:cNvPr>
          <p:cNvSpPr>
            <a:spLocks noGrp="1"/>
          </p:cNvSpPr>
          <p:nvPr>
            <p:ph type="title"/>
          </p:nvPr>
        </p:nvSpPr>
        <p:spPr/>
        <p:txBody>
          <a:bodyPr/>
          <a:lstStyle/>
          <a:p>
            <a:r>
              <a:rPr lang="en-US" dirty="0"/>
              <a:t>Thread Scheduling</a:t>
            </a:r>
          </a:p>
        </p:txBody>
      </p:sp>
      <p:sp>
        <p:nvSpPr>
          <p:cNvPr id="3" name="Text Placeholder 2">
            <a:extLst>
              <a:ext uri="{FF2B5EF4-FFF2-40B4-BE49-F238E27FC236}">
                <a16:creationId xmlns:a16="http://schemas.microsoft.com/office/drawing/2014/main" id="{7FCFD495-10D0-42FD-A8D8-A94BE9DEE935}"/>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80047015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2">
            <a:extLst>
              <a:ext uri="{FF2B5EF4-FFF2-40B4-BE49-F238E27FC236}">
                <a16:creationId xmlns:a16="http://schemas.microsoft.com/office/drawing/2014/main" id="{5E530708-9C89-4AD9-BB13-73771C0F0AD7}"/>
              </a:ext>
            </a:extLst>
          </p:cNvPr>
          <p:cNvSpPr>
            <a:spLocks noGrp="1" noChangeArrowheads="1"/>
          </p:cNvSpPr>
          <p:nvPr>
            <p:ph type="title"/>
          </p:nvPr>
        </p:nvSpPr>
        <p:spPr>
          <a:xfrm>
            <a:off x="838200" y="47625"/>
            <a:ext cx="10515600" cy="1325563"/>
          </a:xfrm>
        </p:spPr>
        <p:txBody>
          <a:bodyPr/>
          <a:lstStyle/>
          <a:p>
            <a:r>
              <a:rPr lang="en-US" altLang="en-US" dirty="0"/>
              <a:t>Thread Scheduling</a:t>
            </a:r>
          </a:p>
        </p:txBody>
      </p:sp>
      <p:sp>
        <p:nvSpPr>
          <p:cNvPr id="61442" name="Rectangle 3">
            <a:extLst>
              <a:ext uri="{FF2B5EF4-FFF2-40B4-BE49-F238E27FC236}">
                <a16:creationId xmlns:a16="http://schemas.microsoft.com/office/drawing/2014/main" id="{4EB10D59-818F-4E4B-B4C9-ED90EEB4FFA0}"/>
              </a:ext>
            </a:extLst>
          </p:cNvPr>
          <p:cNvSpPr>
            <a:spLocks noGrp="1" noChangeArrowheads="1"/>
          </p:cNvSpPr>
          <p:nvPr>
            <p:ph idx="1"/>
          </p:nvPr>
        </p:nvSpPr>
        <p:spPr>
          <a:xfrm>
            <a:off x="838200" y="1419224"/>
            <a:ext cx="10515600" cy="4937126"/>
          </a:xfrm>
        </p:spPr>
        <p:txBody>
          <a:bodyPr>
            <a:normAutofit/>
          </a:bodyPr>
          <a:lstStyle/>
          <a:p>
            <a:r>
              <a:rPr lang="en-US" altLang="en-US" dirty="0"/>
              <a:t>Distinction between user-level and kernel-level threads</a:t>
            </a:r>
          </a:p>
          <a:p>
            <a:r>
              <a:rPr lang="en-US" altLang="en-US" dirty="0"/>
              <a:t>When threads supported, threads scheduled, not processes</a:t>
            </a:r>
          </a:p>
          <a:p>
            <a:r>
              <a:rPr lang="en-US" altLang="en-US" dirty="0">
                <a:solidFill>
                  <a:schemeClr val="accent1">
                    <a:lumMod val="75000"/>
                  </a:schemeClr>
                </a:solidFill>
              </a:rPr>
              <a:t>Process-contention scope (PCS) </a:t>
            </a:r>
          </a:p>
          <a:p>
            <a:pPr lvl="1"/>
            <a:r>
              <a:rPr lang="en-US" altLang="en-US" dirty="0"/>
              <a:t>Thread library schedules user-level threads to run on LW</a:t>
            </a:r>
          </a:p>
          <a:p>
            <a:pPr lvl="1"/>
            <a:r>
              <a:rPr lang="en-US" altLang="en-US" dirty="0"/>
              <a:t>Scheduling competition is within the process</a:t>
            </a:r>
          </a:p>
          <a:p>
            <a:pPr lvl="1"/>
            <a:r>
              <a:rPr lang="en-US" altLang="en-US" dirty="0"/>
              <a:t>Typically done via priority set by programmer</a:t>
            </a:r>
          </a:p>
          <a:p>
            <a:pPr lvl="1"/>
            <a:r>
              <a:rPr lang="en-US" altLang="en-US" dirty="0"/>
              <a:t>Many-to-one and many-to-many models</a:t>
            </a:r>
          </a:p>
          <a:p>
            <a:r>
              <a:rPr lang="en-US" altLang="en-US" dirty="0">
                <a:solidFill>
                  <a:schemeClr val="accent1">
                    <a:lumMod val="75000"/>
                  </a:schemeClr>
                </a:solidFill>
              </a:rPr>
              <a:t>System-contention scope (SCS) </a:t>
            </a:r>
          </a:p>
          <a:p>
            <a:pPr lvl="1"/>
            <a:r>
              <a:rPr lang="en-US" altLang="en-US" dirty="0"/>
              <a:t>Kernel thread scheduled onto available CPU</a:t>
            </a:r>
            <a:endParaRPr lang="en-US" altLang="en-US" dirty="0">
              <a:solidFill>
                <a:schemeClr val="accent1">
                  <a:lumMod val="75000"/>
                </a:schemeClr>
              </a:solidFill>
            </a:endParaRPr>
          </a:p>
          <a:p>
            <a:pPr lvl="1"/>
            <a:r>
              <a:rPr lang="en-US" altLang="en-US" dirty="0"/>
              <a:t>Competition among all threads in system</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2">
            <a:extLst>
              <a:ext uri="{FF2B5EF4-FFF2-40B4-BE49-F238E27FC236}">
                <a16:creationId xmlns:a16="http://schemas.microsoft.com/office/drawing/2014/main" id="{103EDDAD-6601-404C-A683-E0A4F4E97AD4}"/>
              </a:ext>
            </a:extLst>
          </p:cNvPr>
          <p:cNvSpPr>
            <a:spLocks noGrp="1" noChangeArrowheads="1"/>
          </p:cNvSpPr>
          <p:nvPr>
            <p:ph type="title"/>
          </p:nvPr>
        </p:nvSpPr>
        <p:spPr>
          <a:xfrm>
            <a:off x="838200" y="47625"/>
            <a:ext cx="10515600" cy="1325563"/>
          </a:xfrm>
        </p:spPr>
        <p:txBody>
          <a:bodyPr>
            <a:normAutofit/>
          </a:bodyPr>
          <a:lstStyle/>
          <a:p>
            <a:r>
              <a:rPr lang="en-US" altLang="en-US" dirty="0"/>
              <a:t>Pthread Scheduling</a:t>
            </a:r>
          </a:p>
        </p:txBody>
      </p:sp>
      <p:sp>
        <p:nvSpPr>
          <p:cNvPr id="63490" name="Rectangle 3">
            <a:extLst>
              <a:ext uri="{FF2B5EF4-FFF2-40B4-BE49-F238E27FC236}">
                <a16:creationId xmlns:a16="http://schemas.microsoft.com/office/drawing/2014/main" id="{05F13962-8C93-49C9-9F65-D56A140A3D17}"/>
              </a:ext>
            </a:extLst>
          </p:cNvPr>
          <p:cNvSpPr>
            <a:spLocks noGrp="1" noChangeArrowheads="1"/>
          </p:cNvSpPr>
          <p:nvPr>
            <p:ph idx="1"/>
          </p:nvPr>
        </p:nvSpPr>
        <p:spPr>
          <a:xfrm>
            <a:off x="838200" y="1419224"/>
            <a:ext cx="10515600" cy="4937126"/>
          </a:xfrm>
        </p:spPr>
        <p:txBody>
          <a:bodyPr/>
          <a:lstStyle/>
          <a:p>
            <a:r>
              <a:rPr lang="en-US" altLang="en-US" dirty="0"/>
              <a:t>API allows specifying either PCS or SCS during thread creation</a:t>
            </a:r>
          </a:p>
          <a:p>
            <a:pPr lvl="1"/>
            <a:r>
              <a:rPr lang="en-US" altLang="en-US" dirty="0"/>
              <a:t>PTHREAD_SCOPE_PROCESS schedules threads using PCS scheduling</a:t>
            </a:r>
          </a:p>
          <a:p>
            <a:pPr lvl="1"/>
            <a:r>
              <a:rPr lang="en-US" altLang="en-US" dirty="0"/>
              <a:t>PTHREAD_SCOPE_SYSTEM schedules threads using SCS scheduling</a:t>
            </a:r>
          </a:p>
          <a:p>
            <a:r>
              <a:rPr lang="en-US" altLang="en-US" dirty="0"/>
              <a:t>Can be limited by OS</a:t>
            </a:r>
          </a:p>
          <a:p>
            <a:pPr lvl="1"/>
            <a:r>
              <a:rPr lang="en-US" altLang="en-US" dirty="0"/>
              <a:t>Linux and macOS only allow PTHREAD_SCOPE_SYSTEM</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5537" name="Rectangle 2">
            <a:extLst>
              <a:ext uri="{FF2B5EF4-FFF2-40B4-BE49-F238E27FC236}">
                <a16:creationId xmlns:a16="http://schemas.microsoft.com/office/drawing/2014/main" id="{72B3D0AB-2002-4908-882F-E691F73389A3}"/>
              </a:ext>
            </a:extLst>
          </p:cNvPr>
          <p:cNvSpPr>
            <a:spLocks noGrp="1" noChangeArrowheads="1"/>
          </p:cNvSpPr>
          <p:nvPr>
            <p:ph type="title"/>
          </p:nvPr>
        </p:nvSpPr>
        <p:spPr>
          <a:xfrm>
            <a:off x="838200" y="47625"/>
            <a:ext cx="10515600" cy="1325563"/>
          </a:xfrm>
        </p:spPr>
        <p:txBody>
          <a:bodyPr>
            <a:normAutofit/>
          </a:bodyPr>
          <a:lstStyle/>
          <a:p>
            <a:r>
              <a:rPr lang="en-US" altLang="en-US"/>
              <a:t>Pthread Scheduling API</a:t>
            </a:r>
            <a:endParaRPr lang="en-US" altLang="en-US" dirty="0"/>
          </a:p>
        </p:txBody>
      </p:sp>
      <p:sp>
        <p:nvSpPr>
          <p:cNvPr id="65538" name="Rectangle 3">
            <a:extLst>
              <a:ext uri="{FF2B5EF4-FFF2-40B4-BE49-F238E27FC236}">
                <a16:creationId xmlns:a16="http://schemas.microsoft.com/office/drawing/2014/main" id="{B97D95DB-777A-482C-BA27-4C2D3C6CA8AF}"/>
              </a:ext>
            </a:extLst>
          </p:cNvPr>
          <p:cNvSpPr>
            <a:spLocks noGrp="1" noChangeArrowheads="1"/>
          </p:cNvSpPr>
          <p:nvPr>
            <p:ph idx="1"/>
          </p:nvPr>
        </p:nvSpPr>
        <p:spPr>
          <a:xfrm>
            <a:off x="2101755" y="1419225"/>
            <a:ext cx="5581936" cy="4937125"/>
          </a:xfrm>
        </p:spPr>
        <p:txBody>
          <a:bodyPr>
            <a:normAutofit fontScale="47500" lnSpcReduction="20000"/>
          </a:bodyPr>
          <a:lstStyle/>
          <a:p>
            <a:pPr marL="0" indent="0">
              <a:buNone/>
            </a:pPr>
            <a:r>
              <a:rPr lang="en-US" altLang="en-US" dirty="0"/>
              <a:t>#include &lt;</a:t>
            </a:r>
            <a:r>
              <a:rPr lang="en-US" altLang="en-US" dirty="0" err="1"/>
              <a:t>pthread.h</a:t>
            </a:r>
            <a:r>
              <a:rPr lang="en-US" altLang="en-US" dirty="0"/>
              <a:t>&gt; </a:t>
            </a:r>
          </a:p>
          <a:p>
            <a:pPr marL="0" indent="0">
              <a:buNone/>
            </a:pPr>
            <a:r>
              <a:rPr lang="en-US" altLang="en-US" dirty="0"/>
              <a:t>#include &lt;</a:t>
            </a:r>
            <a:r>
              <a:rPr lang="en-US" altLang="en-US" dirty="0" err="1"/>
              <a:t>stdio.h</a:t>
            </a:r>
            <a:r>
              <a:rPr lang="en-US" altLang="en-US" dirty="0"/>
              <a:t>&gt; </a:t>
            </a:r>
          </a:p>
          <a:p>
            <a:pPr marL="0" indent="0">
              <a:buNone/>
            </a:pPr>
            <a:r>
              <a:rPr lang="en-US" altLang="en-US" dirty="0"/>
              <a:t>#define NUM_THREADS 5 </a:t>
            </a:r>
          </a:p>
          <a:p>
            <a:pPr marL="0" indent="0">
              <a:buNone/>
            </a:pPr>
            <a:r>
              <a:rPr lang="en-US" altLang="en-US" dirty="0"/>
              <a:t>int main(int </a:t>
            </a:r>
            <a:r>
              <a:rPr lang="en-US" altLang="en-US" dirty="0" err="1"/>
              <a:t>argc</a:t>
            </a:r>
            <a:r>
              <a:rPr lang="en-US" altLang="en-US" dirty="0"/>
              <a:t>, char *</a:t>
            </a:r>
            <a:r>
              <a:rPr lang="en-US" altLang="en-US" dirty="0" err="1"/>
              <a:t>argv</a:t>
            </a:r>
            <a:r>
              <a:rPr lang="en-US" altLang="en-US" dirty="0"/>
              <a:t>[]) { </a:t>
            </a:r>
          </a:p>
          <a:p>
            <a:pPr marL="0" indent="0">
              <a:buNone/>
            </a:pPr>
            <a:r>
              <a:rPr lang="en-US" altLang="en-US" dirty="0"/>
              <a:t>   int </a:t>
            </a:r>
            <a:r>
              <a:rPr lang="en-US" altLang="en-US" dirty="0" err="1"/>
              <a:t>i</a:t>
            </a:r>
            <a:r>
              <a:rPr lang="en-US" altLang="en-US" dirty="0"/>
              <a:t>, scope;</a:t>
            </a:r>
            <a:br>
              <a:rPr lang="en-US" altLang="en-US" dirty="0"/>
            </a:br>
            <a:r>
              <a:rPr lang="en-US" altLang="en-US" dirty="0"/>
              <a:t>   </a:t>
            </a:r>
            <a:r>
              <a:rPr lang="en-US" altLang="en-US" dirty="0" err="1"/>
              <a:t>pthread_t</a:t>
            </a:r>
            <a:r>
              <a:rPr lang="en-US" altLang="en-US" dirty="0"/>
              <a:t> </a:t>
            </a:r>
            <a:r>
              <a:rPr lang="en-US" altLang="en-US" dirty="0" err="1"/>
              <a:t>tid</a:t>
            </a:r>
            <a:r>
              <a:rPr lang="en-US" altLang="en-US" dirty="0"/>
              <a:t>[NUM THREADS]; </a:t>
            </a:r>
          </a:p>
          <a:p>
            <a:pPr marL="0" indent="0">
              <a:buNone/>
            </a:pPr>
            <a:r>
              <a:rPr lang="en-US" altLang="en-US" dirty="0"/>
              <a:t>   </a:t>
            </a:r>
            <a:r>
              <a:rPr lang="en-US" altLang="en-US" dirty="0" err="1"/>
              <a:t>pthread_attr_t</a:t>
            </a:r>
            <a:r>
              <a:rPr lang="en-US" altLang="en-US" dirty="0"/>
              <a:t> </a:t>
            </a:r>
            <a:r>
              <a:rPr lang="en-US" altLang="en-US" dirty="0" err="1"/>
              <a:t>attr</a:t>
            </a:r>
            <a:r>
              <a:rPr lang="en-US" altLang="en-US" dirty="0"/>
              <a:t>; </a:t>
            </a:r>
          </a:p>
          <a:p>
            <a:pPr marL="0" indent="0">
              <a:buNone/>
            </a:pPr>
            <a:r>
              <a:rPr lang="en-US" altLang="en-US" dirty="0"/>
              <a:t>   /* get the default attributes */ </a:t>
            </a:r>
          </a:p>
          <a:p>
            <a:pPr marL="0" indent="0">
              <a:buNone/>
            </a:pPr>
            <a:r>
              <a:rPr lang="en-US" altLang="en-US" dirty="0"/>
              <a:t>   </a:t>
            </a:r>
            <a:r>
              <a:rPr lang="en-US" altLang="en-US" dirty="0" err="1"/>
              <a:t>pthread_attr_init</a:t>
            </a:r>
            <a:r>
              <a:rPr lang="en-US" altLang="en-US" dirty="0"/>
              <a:t>(&amp;</a:t>
            </a:r>
            <a:r>
              <a:rPr lang="en-US" altLang="en-US" dirty="0" err="1"/>
              <a:t>attr</a:t>
            </a:r>
            <a:r>
              <a:rPr lang="en-US" altLang="en-US" dirty="0"/>
              <a:t>); </a:t>
            </a:r>
          </a:p>
          <a:p>
            <a:pPr marL="0" indent="0">
              <a:buNone/>
            </a:pPr>
            <a:r>
              <a:rPr lang="en-US" altLang="en-US" dirty="0"/>
              <a:t>   /* first inquire on the current scope */</a:t>
            </a:r>
            <a:br>
              <a:rPr lang="en-US" altLang="en-US" dirty="0"/>
            </a:br>
            <a:r>
              <a:rPr lang="en-US" altLang="en-US" dirty="0"/>
              <a:t>   if (</a:t>
            </a:r>
            <a:r>
              <a:rPr lang="en-US" altLang="en-US" dirty="0" err="1"/>
              <a:t>pthread_attr_getscope</a:t>
            </a:r>
            <a:r>
              <a:rPr lang="en-US" altLang="en-US" dirty="0"/>
              <a:t>(&amp;</a:t>
            </a:r>
            <a:r>
              <a:rPr lang="en-US" altLang="en-US" dirty="0" err="1"/>
              <a:t>attr</a:t>
            </a:r>
            <a:r>
              <a:rPr lang="en-US" altLang="en-US" dirty="0"/>
              <a:t>, &amp;scope) != 0) </a:t>
            </a:r>
          </a:p>
          <a:p>
            <a:pPr marL="0" indent="0">
              <a:buNone/>
            </a:pPr>
            <a:r>
              <a:rPr lang="en-US" altLang="en-US" dirty="0"/>
              <a:t>      </a:t>
            </a:r>
            <a:r>
              <a:rPr lang="en-US" altLang="en-US" dirty="0" err="1"/>
              <a:t>fprintf</a:t>
            </a:r>
            <a:r>
              <a:rPr lang="en-US" altLang="en-US" dirty="0"/>
              <a:t>(stderr, "Unable to get scheduling scope\n"); </a:t>
            </a:r>
          </a:p>
          <a:p>
            <a:pPr marL="0" indent="0">
              <a:buNone/>
            </a:pPr>
            <a:r>
              <a:rPr lang="en-US" altLang="en-US" dirty="0"/>
              <a:t>   else { </a:t>
            </a:r>
          </a:p>
          <a:p>
            <a:pPr marL="0" indent="0">
              <a:buNone/>
            </a:pPr>
            <a:r>
              <a:rPr lang="en-US" altLang="en-US" dirty="0"/>
              <a:t>      if (scope == PTHREAD_SCOPE_PROCESS) </a:t>
            </a:r>
          </a:p>
          <a:p>
            <a:pPr marL="0" indent="0">
              <a:buNone/>
            </a:pPr>
            <a:r>
              <a:rPr lang="en-US" altLang="en-US" dirty="0"/>
              <a:t>         </a:t>
            </a:r>
            <a:r>
              <a:rPr lang="en-US" altLang="en-US" dirty="0" err="1"/>
              <a:t>printf</a:t>
            </a:r>
            <a:r>
              <a:rPr lang="en-US" altLang="en-US" dirty="0"/>
              <a:t>("PTHREAD_SCOPE_PROCESS"); </a:t>
            </a:r>
          </a:p>
          <a:p>
            <a:pPr marL="0" indent="0">
              <a:buNone/>
            </a:pPr>
            <a:r>
              <a:rPr lang="en-US" altLang="en-US" dirty="0"/>
              <a:t>      else if (scope == PTHREAD_SCOPE_SYSTEM) </a:t>
            </a:r>
          </a:p>
          <a:p>
            <a:pPr marL="0" indent="0">
              <a:buNone/>
            </a:pPr>
            <a:r>
              <a:rPr lang="en-US" altLang="en-US" dirty="0"/>
              <a:t>         </a:t>
            </a:r>
            <a:r>
              <a:rPr lang="en-US" altLang="en-US" dirty="0" err="1"/>
              <a:t>printf</a:t>
            </a:r>
            <a:r>
              <a:rPr lang="en-US" altLang="en-US" dirty="0"/>
              <a:t>("PTHREAD_SCOPE_SYSTEM"); </a:t>
            </a:r>
          </a:p>
          <a:p>
            <a:pPr marL="0" indent="0">
              <a:buNone/>
            </a:pPr>
            <a:r>
              <a:rPr lang="en-US" altLang="en-US" dirty="0"/>
              <a:t>      else</a:t>
            </a:r>
            <a:br>
              <a:rPr lang="en-US" altLang="en-US" dirty="0"/>
            </a:br>
            <a:r>
              <a:rPr lang="en-US" altLang="en-US" dirty="0"/>
              <a:t>         </a:t>
            </a:r>
            <a:r>
              <a:rPr lang="en-US" altLang="en-US" dirty="0" err="1"/>
              <a:t>fprintf</a:t>
            </a:r>
            <a:r>
              <a:rPr lang="en-US" altLang="en-US" dirty="0"/>
              <a:t>(stderr, "Illegal scope value.\n"); </a:t>
            </a:r>
          </a:p>
          <a:p>
            <a:pPr marL="0" indent="0">
              <a:buNone/>
            </a:pPr>
            <a:r>
              <a:rPr lang="en-US" altLang="en-US" dirty="0"/>
              <a:t>   } </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7585" name="Rectangle 2">
            <a:extLst>
              <a:ext uri="{FF2B5EF4-FFF2-40B4-BE49-F238E27FC236}">
                <a16:creationId xmlns:a16="http://schemas.microsoft.com/office/drawing/2014/main" id="{1393D9C5-7295-4A4A-95B0-13D4147B56B9}"/>
              </a:ext>
            </a:extLst>
          </p:cNvPr>
          <p:cNvSpPr>
            <a:spLocks noGrp="1" noChangeArrowheads="1"/>
          </p:cNvSpPr>
          <p:nvPr>
            <p:ph type="title"/>
          </p:nvPr>
        </p:nvSpPr>
        <p:spPr>
          <a:xfrm>
            <a:off x="838200" y="47625"/>
            <a:ext cx="10515600" cy="1325563"/>
          </a:xfrm>
        </p:spPr>
        <p:txBody>
          <a:bodyPr>
            <a:normAutofit/>
          </a:bodyPr>
          <a:lstStyle/>
          <a:p>
            <a:r>
              <a:rPr lang="en-US" altLang="en-US" dirty="0"/>
              <a:t>Pthread Scheduling API</a:t>
            </a:r>
          </a:p>
        </p:txBody>
      </p:sp>
      <p:sp>
        <p:nvSpPr>
          <p:cNvPr id="67586" name="Rectangle 3">
            <a:extLst>
              <a:ext uri="{FF2B5EF4-FFF2-40B4-BE49-F238E27FC236}">
                <a16:creationId xmlns:a16="http://schemas.microsoft.com/office/drawing/2014/main" id="{DE0BE125-B65D-4233-99FB-D540D5E26A70}"/>
              </a:ext>
            </a:extLst>
          </p:cNvPr>
          <p:cNvSpPr>
            <a:spLocks noGrp="1" noChangeArrowheads="1"/>
          </p:cNvSpPr>
          <p:nvPr>
            <p:ph idx="1"/>
          </p:nvPr>
        </p:nvSpPr>
        <p:spPr>
          <a:xfrm>
            <a:off x="2825086" y="1419225"/>
            <a:ext cx="8528713" cy="4937125"/>
          </a:xfrm>
        </p:spPr>
        <p:txBody>
          <a:bodyPr>
            <a:normAutofit fontScale="70000" lnSpcReduction="20000"/>
          </a:bodyPr>
          <a:lstStyle/>
          <a:p>
            <a:pPr marL="0" indent="0">
              <a:buNone/>
            </a:pPr>
            <a:r>
              <a:rPr lang="en-US" altLang="en-US" dirty="0"/>
              <a:t>   /* set the scheduling algorithm to PCS or SCS */ </a:t>
            </a:r>
          </a:p>
          <a:p>
            <a:pPr marL="0" indent="0">
              <a:buNone/>
            </a:pPr>
            <a:r>
              <a:rPr lang="en-US" altLang="en-US" dirty="0"/>
              <a:t>   </a:t>
            </a:r>
            <a:r>
              <a:rPr lang="en-US" altLang="en-US" dirty="0" err="1"/>
              <a:t>pthread_attr_setscope</a:t>
            </a:r>
            <a:r>
              <a:rPr lang="en-US" altLang="en-US" dirty="0"/>
              <a:t>(&amp;</a:t>
            </a:r>
            <a:r>
              <a:rPr lang="en-US" altLang="en-US" dirty="0" err="1"/>
              <a:t>attr</a:t>
            </a:r>
            <a:r>
              <a:rPr lang="en-US" altLang="en-US" dirty="0"/>
              <a:t>, PTHREAD_SCOPE_SYSTEM); </a:t>
            </a:r>
          </a:p>
          <a:p>
            <a:pPr marL="0" indent="0">
              <a:buNone/>
            </a:pPr>
            <a:r>
              <a:rPr lang="en-US" altLang="en-US" dirty="0"/>
              <a:t>   /* create the threads */</a:t>
            </a:r>
            <a:br>
              <a:rPr lang="en-US" altLang="en-US" dirty="0"/>
            </a:br>
            <a:r>
              <a:rPr lang="en-US" altLang="en-US" dirty="0"/>
              <a:t>   for (</a:t>
            </a:r>
            <a:r>
              <a:rPr lang="en-US" altLang="en-US" dirty="0" err="1"/>
              <a:t>i</a:t>
            </a:r>
            <a:r>
              <a:rPr lang="en-US" altLang="en-US" dirty="0"/>
              <a:t> = 0; </a:t>
            </a:r>
            <a:r>
              <a:rPr lang="en-US" altLang="en-US" dirty="0" err="1"/>
              <a:t>i</a:t>
            </a:r>
            <a:r>
              <a:rPr lang="en-US" altLang="en-US" dirty="0"/>
              <a:t> &lt; NUM_THREADS; </a:t>
            </a:r>
            <a:r>
              <a:rPr lang="en-US" altLang="en-US" dirty="0" err="1"/>
              <a:t>i</a:t>
            </a:r>
            <a:r>
              <a:rPr lang="en-US" altLang="en-US" dirty="0"/>
              <a:t>++) </a:t>
            </a:r>
          </a:p>
          <a:p>
            <a:pPr marL="0" indent="0">
              <a:buNone/>
            </a:pPr>
            <a:r>
              <a:rPr lang="en-US" altLang="en-US" dirty="0"/>
              <a:t>      </a:t>
            </a:r>
            <a:r>
              <a:rPr lang="en-US" altLang="en-US" dirty="0" err="1"/>
              <a:t>pthread_create</a:t>
            </a:r>
            <a:r>
              <a:rPr lang="en-US" altLang="en-US" dirty="0"/>
              <a:t>(&amp;</a:t>
            </a:r>
            <a:r>
              <a:rPr lang="en-US" altLang="en-US" dirty="0" err="1"/>
              <a:t>tid</a:t>
            </a:r>
            <a:r>
              <a:rPr lang="en-US" altLang="en-US" dirty="0"/>
              <a:t>[</a:t>
            </a:r>
            <a:r>
              <a:rPr lang="en-US" altLang="en-US" dirty="0" err="1"/>
              <a:t>i</a:t>
            </a:r>
            <a:r>
              <a:rPr lang="en-US" altLang="en-US" dirty="0"/>
              <a:t>],&amp;</a:t>
            </a:r>
            <a:r>
              <a:rPr lang="en-US" altLang="en-US" dirty="0" err="1"/>
              <a:t>attr,runner,NULL</a:t>
            </a:r>
            <a:r>
              <a:rPr lang="en-US" altLang="en-US" dirty="0"/>
              <a:t>); </a:t>
            </a:r>
          </a:p>
          <a:p>
            <a:pPr marL="0" indent="0">
              <a:buNone/>
            </a:pPr>
            <a:r>
              <a:rPr lang="en-US" altLang="en-US" dirty="0"/>
              <a:t>   /* now join on each thread */</a:t>
            </a:r>
            <a:br>
              <a:rPr lang="en-US" altLang="en-US" dirty="0"/>
            </a:br>
            <a:r>
              <a:rPr lang="en-US" altLang="en-US" dirty="0"/>
              <a:t>   for (</a:t>
            </a:r>
            <a:r>
              <a:rPr lang="en-US" altLang="en-US" dirty="0" err="1"/>
              <a:t>i</a:t>
            </a:r>
            <a:r>
              <a:rPr lang="en-US" altLang="en-US" dirty="0"/>
              <a:t> = 0; </a:t>
            </a:r>
            <a:r>
              <a:rPr lang="en-US" altLang="en-US" dirty="0" err="1"/>
              <a:t>i</a:t>
            </a:r>
            <a:r>
              <a:rPr lang="en-US" altLang="en-US" dirty="0"/>
              <a:t> &lt; NUM_THREADS; </a:t>
            </a:r>
            <a:r>
              <a:rPr lang="en-US" altLang="en-US" dirty="0" err="1"/>
              <a:t>i</a:t>
            </a:r>
            <a:r>
              <a:rPr lang="en-US" altLang="en-US" dirty="0"/>
              <a:t>++) </a:t>
            </a:r>
          </a:p>
          <a:p>
            <a:pPr marL="0" indent="0">
              <a:buNone/>
            </a:pPr>
            <a:r>
              <a:rPr lang="en-US" altLang="en-US" dirty="0"/>
              <a:t>      </a:t>
            </a:r>
            <a:r>
              <a:rPr lang="en-US" altLang="en-US" dirty="0" err="1"/>
              <a:t>pthread_join</a:t>
            </a:r>
            <a:r>
              <a:rPr lang="en-US" altLang="en-US" dirty="0"/>
              <a:t>(</a:t>
            </a:r>
            <a:r>
              <a:rPr lang="en-US" altLang="en-US" dirty="0" err="1"/>
              <a:t>tid</a:t>
            </a:r>
            <a:r>
              <a:rPr lang="en-US" altLang="en-US" dirty="0"/>
              <a:t>[</a:t>
            </a:r>
            <a:r>
              <a:rPr lang="en-US" altLang="en-US" dirty="0" err="1"/>
              <a:t>i</a:t>
            </a:r>
            <a:r>
              <a:rPr lang="en-US" altLang="en-US" dirty="0"/>
              <a:t>], NULL); </a:t>
            </a:r>
          </a:p>
          <a:p>
            <a:pPr marL="0" indent="0">
              <a:buNone/>
            </a:pPr>
            <a:r>
              <a:rPr lang="en-US" altLang="en-US" dirty="0"/>
              <a:t>} </a:t>
            </a:r>
          </a:p>
          <a:p>
            <a:pPr marL="0" indent="0">
              <a:buNone/>
            </a:pPr>
            <a:r>
              <a:rPr lang="en-US" altLang="en-US" dirty="0"/>
              <a:t>/* Each thread will begin control in this function */ </a:t>
            </a:r>
          </a:p>
          <a:p>
            <a:pPr marL="0" indent="0">
              <a:buNone/>
            </a:pPr>
            <a:r>
              <a:rPr lang="en-US" altLang="en-US" dirty="0"/>
              <a:t>void *runner(void *param)</a:t>
            </a:r>
            <a:br>
              <a:rPr lang="en-US" altLang="en-US" dirty="0"/>
            </a:br>
            <a:r>
              <a:rPr lang="en-US" altLang="en-US" dirty="0"/>
              <a:t>{ </a:t>
            </a:r>
          </a:p>
          <a:p>
            <a:pPr marL="0" indent="0">
              <a:buNone/>
            </a:pPr>
            <a:r>
              <a:rPr lang="en-US" altLang="en-US" dirty="0"/>
              <a:t>   /* do some work ... */ </a:t>
            </a:r>
          </a:p>
          <a:p>
            <a:pPr marL="0" indent="0">
              <a:buNone/>
            </a:pPr>
            <a:r>
              <a:rPr lang="en-US" altLang="en-US" dirty="0"/>
              <a:t>   </a:t>
            </a:r>
            <a:r>
              <a:rPr lang="en-US" altLang="en-US" dirty="0" err="1"/>
              <a:t>pthread_exit</a:t>
            </a:r>
            <a:r>
              <a:rPr lang="en-US" altLang="en-US" dirty="0"/>
              <a:t>(0); </a:t>
            </a:r>
          </a:p>
          <a:p>
            <a:pPr marL="0" indent="0">
              <a:buNone/>
            </a:pPr>
            <a:r>
              <a:rPr lang="en-US" altLang="en-US" dirty="0"/>
              <a:t>} </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2">
            <a:extLst>
              <a:ext uri="{FF2B5EF4-FFF2-40B4-BE49-F238E27FC236}">
                <a16:creationId xmlns:a16="http://schemas.microsoft.com/office/drawing/2014/main" id="{BF0D8640-FCB0-4988-9C40-1D8E1028F211}"/>
              </a:ext>
            </a:extLst>
          </p:cNvPr>
          <p:cNvSpPr>
            <a:spLocks noGrp="1" noChangeArrowheads="1"/>
          </p:cNvSpPr>
          <p:nvPr>
            <p:ph type="title"/>
          </p:nvPr>
        </p:nvSpPr>
        <p:spPr>
          <a:xfrm>
            <a:off x="838200" y="47625"/>
            <a:ext cx="10515600" cy="1325563"/>
          </a:xfrm>
        </p:spPr>
        <p:txBody>
          <a:bodyPr/>
          <a:lstStyle/>
          <a:p>
            <a:r>
              <a:rPr lang="en-US" altLang="en-US" dirty="0"/>
              <a:t>Multiple-Processor Scheduling</a:t>
            </a:r>
          </a:p>
        </p:txBody>
      </p:sp>
      <p:sp>
        <p:nvSpPr>
          <p:cNvPr id="69634" name="Rectangle 3">
            <a:extLst>
              <a:ext uri="{FF2B5EF4-FFF2-40B4-BE49-F238E27FC236}">
                <a16:creationId xmlns:a16="http://schemas.microsoft.com/office/drawing/2014/main" id="{2B71E613-2379-4021-8ED5-E283592561A9}"/>
              </a:ext>
            </a:extLst>
          </p:cNvPr>
          <p:cNvSpPr>
            <a:spLocks noGrp="1" noChangeArrowheads="1"/>
          </p:cNvSpPr>
          <p:nvPr>
            <p:ph idx="1"/>
          </p:nvPr>
        </p:nvSpPr>
        <p:spPr>
          <a:xfrm>
            <a:off x="838200" y="1419224"/>
            <a:ext cx="10515600" cy="4937126"/>
          </a:xfrm>
        </p:spPr>
        <p:txBody>
          <a:bodyPr/>
          <a:lstStyle/>
          <a:p>
            <a:r>
              <a:rPr lang="en-US" altLang="en-US" dirty="0"/>
              <a:t>CPU scheduling more complex when multiple CPUs are available</a:t>
            </a:r>
          </a:p>
          <a:p>
            <a:r>
              <a:rPr lang="en-US" altLang="en-US" dirty="0"/>
              <a:t>Multiprocessor may be any one of the following architectures:</a:t>
            </a:r>
          </a:p>
          <a:p>
            <a:pPr lvl="1"/>
            <a:r>
              <a:rPr lang="en-US" altLang="en-US" dirty="0"/>
              <a:t>Multicore CPUs</a:t>
            </a:r>
          </a:p>
          <a:p>
            <a:pPr lvl="1"/>
            <a:r>
              <a:rPr lang="en-US" altLang="en-US" dirty="0"/>
              <a:t>Multithreaded cores</a:t>
            </a:r>
          </a:p>
          <a:p>
            <a:pPr lvl="1"/>
            <a:r>
              <a:rPr lang="en-US" altLang="en-US" dirty="0"/>
              <a:t>NUMA systems</a:t>
            </a:r>
          </a:p>
          <a:p>
            <a:pPr lvl="1"/>
            <a:r>
              <a:rPr lang="en-US" altLang="en-US" dirty="0"/>
              <a:t>Heterogeneous multiprocessing</a:t>
            </a:r>
          </a:p>
          <a:p>
            <a:pPr lvl="1"/>
            <a:endParaRPr lang="en-US" alt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Title 1">
            <a:extLst>
              <a:ext uri="{FF2B5EF4-FFF2-40B4-BE49-F238E27FC236}">
                <a16:creationId xmlns:a16="http://schemas.microsoft.com/office/drawing/2014/main" id="{C7F1E55F-983C-47F8-ADBE-54E15FEFD9AB}"/>
              </a:ext>
            </a:extLst>
          </p:cNvPr>
          <p:cNvSpPr>
            <a:spLocks noGrp="1"/>
          </p:cNvSpPr>
          <p:nvPr>
            <p:ph type="title"/>
          </p:nvPr>
        </p:nvSpPr>
        <p:spPr>
          <a:xfrm>
            <a:off x="838200" y="47625"/>
            <a:ext cx="10515600" cy="1325563"/>
          </a:xfrm>
        </p:spPr>
        <p:txBody>
          <a:bodyPr>
            <a:normAutofit/>
          </a:bodyPr>
          <a:lstStyle/>
          <a:p>
            <a:r>
              <a:rPr lang="en-US" altLang="en-US" dirty="0"/>
              <a:t>Multiple-Processor Scheduling</a:t>
            </a:r>
          </a:p>
        </p:txBody>
      </p:sp>
      <p:sp>
        <p:nvSpPr>
          <p:cNvPr id="71682" name="Content Placeholder 2">
            <a:extLst>
              <a:ext uri="{FF2B5EF4-FFF2-40B4-BE49-F238E27FC236}">
                <a16:creationId xmlns:a16="http://schemas.microsoft.com/office/drawing/2014/main" id="{7A08C823-220F-4189-B103-BC03391E7F6B}"/>
              </a:ext>
            </a:extLst>
          </p:cNvPr>
          <p:cNvSpPr>
            <a:spLocks noGrp="1"/>
          </p:cNvSpPr>
          <p:nvPr>
            <p:ph idx="1"/>
          </p:nvPr>
        </p:nvSpPr>
        <p:spPr>
          <a:xfrm>
            <a:off x="838200" y="1419224"/>
            <a:ext cx="10515600" cy="4937126"/>
          </a:xfrm>
        </p:spPr>
        <p:txBody>
          <a:bodyPr/>
          <a:lstStyle/>
          <a:p>
            <a:r>
              <a:rPr lang="en-US" altLang="en-US" dirty="0"/>
              <a:t>Symmetric multiprocessing (SMP) is where each processor is self scheduling</a:t>
            </a:r>
          </a:p>
          <a:p>
            <a:r>
              <a:rPr lang="en-US" altLang="en-US" dirty="0"/>
              <a:t>All threads may be in a common ready queue (a)</a:t>
            </a:r>
          </a:p>
          <a:p>
            <a:r>
              <a:rPr lang="en-US" altLang="en-US" dirty="0"/>
              <a:t>Each processor may have its own private queue of threads (b)</a:t>
            </a:r>
          </a:p>
        </p:txBody>
      </p:sp>
      <p:grpSp>
        <p:nvGrpSpPr>
          <p:cNvPr id="2" name="Group 1">
            <a:extLst>
              <a:ext uri="{FF2B5EF4-FFF2-40B4-BE49-F238E27FC236}">
                <a16:creationId xmlns:a16="http://schemas.microsoft.com/office/drawing/2014/main" id="{2F856A85-0F7F-4CED-BB65-C543E9777C94}"/>
              </a:ext>
            </a:extLst>
          </p:cNvPr>
          <p:cNvGrpSpPr/>
          <p:nvPr/>
        </p:nvGrpSpPr>
        <p:grpSpPr>
          <a:xfrm>
            <a:off x="2539078" y="3373392"/>
            <a:ext cx="7113844" cy="3037550"/>
            <a:chOff x="2901321" y="3318800"/>
            <a:chExt cx="7113844" cy="3037550"/>
          </a:xfrm>
        </p:grpSpPr>
        <p:pic>
          <p:nvPicPr>
            <p:cNvPr id="71683" name="Picture 3">
              <a:extLst>
                <a:ext uri="{FF2B5EF4-FFF2-40B4-BE49-F238E27FC236}">
                  <a16:creationId xmlns:a16="http://schemas.microsoft.com/office/drawing/2014/main" id="{4F31D85D-3236-4616-BD79-8F32A1CE24E9}"/>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51060"/>
            <a:stretch/>
          </p:blipFill>
          <p:spPr bwMode="auto">
            <a:xfrm>
              <a:off x="7179877" y="3358819"/>
              <a:ext cx="2835288" cy="2997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3">
              <a:extLst>
                <a:ext uri="{FF2B5EF4-FFF2-40B4-BE49-F238E27FC236}">
                  <a16:creationId xmlns:a16="http://schemas.microsoft.com/office/drawing/2014/main" id="{AB0C5130-C9C1-4BD9-84EB-9AD1EB20451D}"/>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r="49254"/>
            <a:stretch/>
          </p:blipFill>
          <p:spPr bwMode="auto">
            <a:xfrm>
              <a:off x="2901321" y="3318800"/>
              <a:ext cx="2939921" cy="2997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Title 1">
            <a:extLst>
              <a:ext uri="{FF2B5EF4-FFF2-40B4-BE49-F238E27FC236}">
                <a16:creationId xmlns:a16="http://schemas.microsoft.com/office/drawing/2014/main" id="{4EE83DAD-0182-4281-9CC2-965A55B66551}"/>
              </a:ext>
            </a:extLst>
          </p:cNvPr>
          <p:cNvSpPr>
            <a:spLocks noGrp="1"/>
          </p:cNvSpPr>
          <p:nvPr>
            <p:ph type="title"/>
          </p:nvPr>
        </p:nvSpPr>
        <p:spPr>
          <a:xfrm>
            <a:off x="838200" y="47625"/>
            <a:ext cx="10515600" cy="1325563"/>
          </a:xfrm>
        </p:spPr>
        <p:txBody>
          <a:bodyPr>
            <a:normAutofit/>
          </a:bodyPr>
          <a:lstStyle/>
          <a:p>
            <a:r>
              <a:rPr lang="en-US" altLang="en-US" dirty="0"/>
              <a:t>Multicore Processors</a:t>
            </a:r>
          </a:p>
        </p:txBody>
      </p:sp>
      <p:sp>
        <p:nvSpPr>
          <p:cNvPr id="72706" name="Content Placeholder 2">
            <a:extLst>
              <a:ext uri="{FF2B5EF4-FFF2-40B4-BE49-F238E27FC236}">
                <a16:creationId xmlns:a16="http://schemas.microsoft.com/office/drawing/2014/main" id="{AEEE112F-E1F9-4A4D-91F5-E4A039580C88}"/>
              </a:ext>
            </a:extLst>
          </p:cNvPr>
          <p:cNvSpPr>
            <a:spLocks noGrp="1"/>
          </p:cNvSpPr>
          <p:nvPr>
            <p:ph idx="1"/>
          </p:nvPr>
        </p:nvSpPr>
        <p:spPr>
          <a:xfrm>
            <a:off x="838200" y="1419224"/>
            <a:ext cx="10515600" cy="4937126"/>
          </a:xfrm>
        </p:spPr>
        <p:txBody>
          <a:bodyPr/>
          <a:lstStyle/>
          <a:p>
            <a:r>
              <a:rPr lang="en-US" altLang="en-US" dirty="0"/>
              <a:t>Recent trend to place multiple processor cores on same physical chip</a:t>
            </a:r>
          </a:p>
          <a:p>
            <a:r>
              <a:rPr lang="en-US" altLang="en-US" dirty="0"/>
              <a:t>Faster and consumes less power</a:t>
            </a:r>
          </a:p>
          <a:p>
            <a:r>
              <a:rPr lang="en-US" altLang="en-US" dirty="0"/>
              <a:t>Multiple threads per core also growing</a:t>
            </a:r>
          </a:p>
          <a:p>
            <a:pPr lvl="1"/>
            <a:r>
              <a:rPr lang="en-US" altLang="en-US" dirty="0"/>
              <a:t>Takes advantage of memory stall to make progress on another thread while memory retrieve happens</a:t>
            </a:r>
          </a:p>
        </p:txBody>
      </p:sp>
      <p:pic>
        <p:nvPicPr>
          <p:cNvPr id="72707" name="Picture 1">
            <a:extLst>
              <a:ext uri="{FF2B5EF4-FFF2-40B4-BE49-F238E27FC236}">
                <a16:creationId xmlns:a16="http://schemas.microsoft.com/office/drawing/2014/main" id="{0F6CBE17-826B-42D1-8128-EDC6A8A70832}"/>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142223" y="4216681"/>
            <a:ext cx="7907554" cy="19419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2">
            <a:extLst>
              <a:ext uri="{FF2B5EF4-FFF2-40B4-BE49-F238E27FC236}">
                <a16:creationId xmlns:a16="http://schemas.microsoft.com/office/drawing/2014/main" id="{BF0D8640-FCB0-4988-9C40-1D8E1028F211}"/>
              </a:ext>
            </a:extLst>
          </p:cNvPr>
          <p:cNvSpPr>
            <a:spLocks noGrp="1" noChangeArrowheads="1"/>
          </p:cNvSpPr>
          <p:nvPr>
            <p:ph type="title"/>
          </p:nvPr>
        </p:nvSpPr>
        <p:spPr>
          <a:xfrm>
            <a:off x="838200" y="47625"/>
            <a:ext cx="10515600" cy="1325563"/>
          </a:xfrm>
        </p:spPr>
        <p:txBody>
          <a:bodyPr/>
          <a:lstStyle/>
          <a:p>
            <a:r>
              <a:rPr lang="en-US" altLang="en-US" dirty="0"/>
              <a:t>Multithreaded Multicore System</a:t>
            </a:r>
          </a:p>
        </p:txBody>
      </p:sp>
      <p:sp>
        <p:nvSpPr>
          <p:cNvPr id="69634" name="Rectangle 3">
            <a:extLst>
              <a:ext uri="{FF2B5EF4-FFF2-40B4-BE49-F238E27FC236}">
                <a16:creationId xmlns:a16="http://schemas.microsoft.com/office/drawing/2014/main" id="{2B71E613-2379-4021-8ED5-E283592561A9}"/>
              </a:ext>
            </a:extLst>
          </p:cNvPr>
          <p:cNvSpPr>
            <a:spLocks noGrp="1" noChangeArrowheads="1"/>
          </p:cNvSpPr>
          <p:nvPr>
            <p:ph idx="1"/>
          </p:nvPr>
        </p:nvSpPr>
        <p:spPr>
          <a:xfrm>
            <a:off x="838200" y="1419224"/>
            <a:ext cx="10515600" cy="4937126"/>
          </a:xfrm>
        </p:spPr>
        <p:txBody>
          <a:bodyPr/>
          <a:lstStyle/>
          <a:p>
            <a:r>
              <a:rPr lang="en-US" altLang="en-US" dirty="0"/>
              <a:t>Each core has &gt; 1 hardware threads</a:t>
            </a:r>
          </a:p>
          <a:p>
            <a:r>
              <a:rPr lang="en-US" altLang="en-US" dirty="0"/>
              <a:t>If one thread has a memory stall, switch to another thread</a:t>
            </a:r>
          </a:p>
          <a:p>
            <a:endParaRPr lang="en-US" altLang="en-US" dirty="0"/>
          </a:p>
          <a:p>
            <a:endParaRPr lang="en-US" altLang="en-US" dirty="0"/>
          </a:p>
          <a:p>
            <a:endParaRPr lang="en-US" altLang="en-US" dirty="0"/>
          </a:p>
          <a:p>
            <a:endParaRPr lang="en-US" altLang="en-US" dirty="0"/>
          </a:p>
          <a:p>
            <a:endParaRPr lang="en-US" altLang="en-US" dirty="0"/>
          </a:p>
        </p:txBody>
      </p:sp>
      <p:pic>
        <p:nvPicPr>
          <p:cNvPr id="4" name="Picture 2">
            <a:extLst>
              <a:ext uri="{FF2B5EF4-FFF2-40B4-BE49-F238E27FC236}">
                <a16:creationId xmlns:a16="http://schemas.microsoft.com/office/drawing/2014/main" id="{5E06ED42-4179-4AE5-A555-4A875686258B}"/>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84340" y="3759186"/>
            <a:ext cx="8023319" cy="195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3682855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4B1BCE2B-FB82-4DE4-8AC5-8A0BF114B3D4}"/>
              </a:ext>
            </a:extLst>
          </p:cNvPr>
          <p:cNvSpPr>
            <a:spLocks noGrp="1"/>
          </p:cNvSpPr>
          <p:nvPr>
            <p:ph type="title"/>
          </p:nvPr>
        </p:nvSpPr>
        <p:spPr>
          <a:xfrm>
            <a:off x="838200" y="47625"/>
            <a:ext cx="10515600" cy="1325563"/>
          </a:xfrm>
        </p:spPr>
        <p:txBody>
          <a:bodyPr>
            <a:normAutofit/>
          </a:bodyPr>
          <a:lstStyle/>
          <a:p>
            <a:r>
              <a:rPr lang="en-US" altLang="en-US" dirty="0"/>
              <a:t>Multithreaded Multicore System</a:t>
            </a:r>
          </a:p>
        </p:txBody>
      </p:sp>
      <p:sp>
        <p:nvSpPr>
          <p:cNvPr id="76802" name="Content Placeholder 2">
            <a:extLst>
              <a:ext uri="{FF2B5EF4-FFF2-40B4-BE49-F238E27FC236}">
                <a16:creationId xmlns:a16="http://schemas.microsoft.com/office/drawing/2014/main" id="{A98C968A-AF4F-450D-BAED-792FA6118868}"/>
              </a:ext>
            </a:extLst>
          </p:cNvPr>
          <p:cNvSpPr>
            <a:spLocks noGrp="1"/>
          </p:cNvSpPr>
          <p:nvPr>
            <p:ph idx="1"/>
          </p:nvPr>
        </p:nvSpPr>
        <p:spPr>
          <a:xfrm>
            <a:off x="838200" y="1419225"/>
            <a:ext cx="5808664" cy="4937125"/>
          </a:xfrm>
        </p:spPr>
        <p:txBody>
          <a:bodyPr>
            <a:normAutofit/>
          </a:bodyPr>
          <a:lstStyle/>
          <a:p>
            <a:r>
              <a:rPr lang="en-US" altLang="en-US" dirty="0"/>
              <a:t>Chip-multithreading (CMT) assigns each core multiple hardware threads</a:t>
            </a:r>
          </a:p>
          <a:p>
            <a:pPr lvl="1"/>
            <a:r>
              <a:rPr lang="en-US" altLang="en-US" dirty="0"/>
              <a:t>Intel refers to this as hyperthreading</a:t>
            </a:r>
            <a:br>
              <a:rPr lang="en-US" altLang="en-US" dirty="0"/>
            </a:br>
            <a:r>
              <a:rPr lang="en-US" altLang="en-US" dirty="0"/>
              <a:t/>
            </a:r>
            <a:br>
              <a:rPr lang="en-US" altLang="en-US" dirty="0"/>
            </a:br>
            <a:endParaRPr lang="en-US" altLang="en-US" dirty="0"/>
          </a:p>
          <a:p>
            <a:r>
              <a:rPr lang="en-US" altLang="en-US" dirty="0"/>
              <a:t>On a quad-core system with 2 hardware threads per core, the operating system sees 8 logical processors</a:t>
            </a:r>
          </a:p>
          <a:p>
            <a:endParaRPr lang="en-US" altLang="en-US" dirty="0"/>
          </a:p>
        </p:txBody>
      </p:sp>
      <p:pic>
        <p:nvPicPr>
          <p:cNvPr id="76803" name="Picture 3">
            <a:extLst>
              <a:ext uri="{FF2B5EF4-FFF2-40B4-BE49-F238E27FC236}">
                <a16:creationId xmlns:a16="http://schemas.microsoft.com/office/drawing/2014/main" id="{DF01EFD5-3757-4F74-AA03-D72BD6418113}"/>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233718" y="1106529"/>
            <a:ext cx="3834617" cy="55500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Title 1">
            <a:extLst>
              <a:ext uri="{FF2B5EF4-FFF2-40B4-BE49-F238E27FC236}">
                <a16:creationId xmlns:a16="http://schemas.microsoft.com/office/drawing/2014/main" id="{72A2F406-D6BE-4B79-BE65-E498FF964134}"/>
              </a:ext>
            </a:extLst>
          </p:cNvPr>
          <p:cNvSpPr>
            <a:spLocks noGrp="1"/>
          </p:cNvSpPr>
          <p:nvPr>
            <p:ph type="title"/>
          </p:nvPr>
        </p:nvSpPr>
        <p:spPr>
          <a:xfrm>
            <a:off x="838200" y="47625"/>
            <a:ext cx="10515600" cy="1325563"/>
          </a:xfrm>
        </p:spPr>
        <p:txBody>
          <a:bodyPr>
            <a:normAutofit/>
          </a:bodyPr>
          <a:lstStyle/>
          <a:p>
            <a:r>
              <a:rPr lang="en-US" altLang="en-US" dirty="0"/>
              <a:t>Multithreaded Multicore System</a:t>
            </a:r>
          </a:p>
        </p:txBody>
      </p:sp>
      <p:sp>
        <p:nvSpPr>
          <p:cNvPr id="77826" name="Content Placeholder 2">
            <a:extLst>
              <a:ext uri="{FF2B5EF4-FFF2-40B4-BE49-F238E27FC236}">
                <a16:creationId xmlns:a16="http://schemas.microsoft.com/office/drawing/2014/main" id="{1282DD5F-B7F7-4A28-B908-F260F89F83FA}"/>
              </a:ext>
            </a:extLst>
          </p:cNvPr>
          <p:cNvSpPr>
            <a:spLocks noGrp="1"/>
          </p:cNvSpPr>
          <p:nvPr>
            <p:ph idx="1"/>
          </p:nvPr>
        </p:nvSpPr>
        <p:spPr>
          <a:xfrm>
            <a:off x="838200" y="1419225"/>
            <a:ext cx="4839269" cy="4937125"/>
          </a:xfrm>
        </p:spPr>
        <p:txBody>
          <a:bodyPr>
            <a:normAutofit/>
          </a:bodyPr>
          <a:lstStyle/>
          <a:p>
            <a:r>
              <a:rPr lang="en-US" altLang="en-US" dirty="0"/>
              <a:t>Two levels of scheduling:</a:t>
            </a:r>
            <a:br>
              <a:rPr lang="en-US" altLang="en-US" dirty="0"/>
            </a:br>
            <a:endParaRPr lang="en-US" altLang="en-US" dirty="0"/>
          </a:p>
          <a:p>
            <a:pPr lvl="1"/>
            <a:r>
              <a:rPr lang="en-US" altLang="en-US" dirty="0"/>
              <a:t>The operating system deciding which software thread to run on a logical CPU</a:t>
            </a:r>
            <a:br>
              <a:rPr lang="en-US" altLang="en-US" dirty="0"/>
            </a:br>
            <a:r>
              <a:rPr lang="en-US" altLang="en-US" dirty="0"/>
              <a:t/>
            </a:r>
            <a:br>
              <a:rPr lang="en-US" altLang="en-US" dirty="0"/>
            </a:br>
            <a:endParaRPr lang="en-US" altLang="en-US" dirty="0"/>
          </a:p>
          <a:p>
            <a:pPr lvl="1"/>
            <a:r>
              <a:rPr lang="en-US" altLang="en-US" dirty="0"/>
              <a:t>How each core decides which hardware thread to run on the physical core</a:t>
            </a:r>
            <a:br>
              <a:rPr lang="en-US" altLang="en-US" dirty="0"/>
            </a:br>
            <a:r>
              <a:rPr lang="en-US" altLang="en-US" dirty="0"/>
              <a:t/>
            </a:r>
            <a:br>
              <a:rPr lang="en-US" altLang="en-US" dirty="0"/>
            </a:br>
            <a:r>
              <a:rPr lang="en-US" altLang="en-US" dirty="0"/>
              <a:t/>
            </a:r>
            <a:br>
              <a:rPr lang="en-US" altLang="en-US" dirty="0"/>
            </a:br>
            <a:endParaRPr lang="en-US" altLang="en-US" dirty="0"/>
          </a:p>
        </p:txBody>
      </p:sp>
      <p:pic>
        <p:nvPicPr>
          <p:cNvPr id="77827" name="Picture 4">
            <a:extLst>
              <a:ext uri="{FF2B5EF4-FFF2-40B4-BE49-F238E27FC236}">
                <a16:creationId xmlns:a16="http://schemas.microsoft.com/office/drawing/2014/main" id="{CDFC70F4-8A1C-480B-820D-DE1F116FFD4D}"/>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096000" y="1312357"/>
            <a:ext cx="5997796" cy="46597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Rectangle 2">
            <a:extLst>
              <a:ext uri="{FF2B5EF4-FFF2-40B4-BE49-F238E27FC236}">
                <a16:creationId xmlns:a16="http://schemas.microsoft.com/office/drawing/2014/main" id="{54839094-C3D3-496D-831C-D61F7F14A2B2}"/>
              </a:ext>
            </a:extLst>
          </p:cNvPr>
          <p:cNvSpPr>
            <a:spLocks noGrp="1" noChangeArrowheads="1"/>
          </p:cNvSpPr>
          <p:nvPr>
            <p:ph type="title"/>
          </p:nvPr>
        </p:nvSpPr>
        <p:spPr>
          <a:xfrm>
            <a:off x="838200" y="47625"/>
            <a:ext cx="10515600" cy="1325563"/>
          </a:xfrm>
        </p:spPr>
        <p:txBody>
          <a:bodyPr/>
          <a:lstStyle/>
          <a:p>
            <a:r>
              <a:rPr lang="en-US" altLang="en-US"/>
              <a:t>Multiple-Processor Scheduling – Load Balancing</a:t>
            </a:r>
            <a:endParaRPr lang="en-US" altLang="en-US" dirty="0"/>
          </a:p>
        </p:txBody>
      </p:sp>
      <p:sp>
        <p:nvSpPr>
          <p:cNvPr id="78850" name="Rectangle 3">
            <a:extLst>
              <a:ext uri="{FF2B5EF4-FFF2-40B4-BE49-F238E27FC236}">
                <a16:creationId xmlns:a16="http://schemas.microsoft.com/office/drawing/2014/main" id="{820781A6-111F-4348-AA18-D0475B89840C}"/>
              </a:ext>
            </a:extLst>
          </p:cNvPr>
          <p:cNvSpPr>
            <a:spLocks noGrp="1" noChangeArrowheads="1"/>
          </p:cNvSpPr>
          <p:nvPr>
            <p:ph idx="1"/>
          </p:nvPr>
        </p:nvSpPr>
        <p:spPr>
          <a:xfrm>
            <a:off x="838200" y="1419224"/>
            <a:ext cx="10515600" cy="4937126"/>
          </a:xfrm>
        </p:spPr>
        <p:txBody>
          <a:bodyPr/>
          <a:lstStyle/>
          <a:p>
            <a:r>
              <a:rPr lang="en-US" altLang="en-US" dirty="0"/>
              <a:t>If SMP, need to keep all CPUs loaded for efficiency</a:t>
            </a:r>
          </a:p>
          <a:p>
            <a:endParaRPr lang="en-US" altLang="en-US" dirty="0">
              <a:solidFill>
                <a:schemeClr val="accent1">
                  <a:lumMod val="75000"/>
                </a:schemeClr>
              </a:solidFill>
            </a:endParaRPr>
          </a:p>
          <a:p>
            <a:r>
              <a:rPr lang="en-US" altLang="en-US" dirty="0">
                <a:solidFill>
                  <a:schemeClr val="accent1">
                    <a:lumMod val="75000"/>
                  </a:schemeClr>
                </a:solidFill>
              </a:rPr>
              <a:t>Load balancing</a:t>
            </a:r>
          </a:p>
          <a:p>
            <a:pPr lvl="1"/>
            <a:r>
              <a:rPr lang="en-US" altLang="en-US" dirty="0"/>
              <a:t>attempts to keep workload evenly distributed</a:t>
            </a:r>
          </a:p>
          <a:p>
            <a:r>
              <a:rPr lang="en-US" altLang="en-US" dirty="0">
                <a:solidFill>
                  <a:schemeClr val="accent1">
                    <a:lumMod val="75000"/>
                  </a:schemeClr>
                </a:solidFill>
              </a:rPr>
              <a:t>Push migration</a:t>
            </a:r>
          </a:p>
          <a:p>
            <a:pPr lvl="1"/>
            <a:r>
              <a:rPr lang="en-US" altLang="en-US" dirty="0"/>
              <a:t>periodic task checks load on each processor, and if found pushes task from overloaded CPU to other CPUs</a:t>
            </a:r>
          </a:p>
          <a:p>
            <a:r>
              <a:rPr lang="en-US" altLang="en-US" dirty="0">
                <a:solidFill>
                  <a:schemeClr val="accent1">
                    <a:lumMod val="75000"/>
                  </a:schemeClr>
                </a:solidFill>
              </a:rPr>
              <a:t>Pull migration</a:t>
            </a:r>
          </a:p>
          <a:p>
            <a:pPr lvl="1"/>
            <a:r>
              <a:rPr lang="en-US" altLang="en-US" dirty="0"/>
              <a:t>idle processors pulls waiting task from busy processor</a:t>
            </a:r>
          </a:p>
          <a:p>
            <a:endParaRPr lang="en-US" alt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Rectangle 2">
            <a:extLst>
              <a:ext uri="{FF2B5EF4-FFF2-40B4-BE49-F238E27FC236}">
                <a16:creationId xmlns:a16="http://schemas.microsoft.com/office/drawing/2014/main" id="{4A39CD83-8114-4F93-99FA-773F54549A49}"/>
              </a:ext>
            </a:extLst>
          </p:cNvPr>
          <p:cNvSpPr>
            <a:spLocks noGrp="1" noChangeArrowheads="1"/>
          </p:cNvSpPr>
          <p:nvPr>
            <p:ph type="title"/>
          </p:nvPr>
        </p:nvSpPr>
        <p:spPr>
          <a:xfrm>
            <a:off x="838200" y="47625"/>
            <a:ext cx="10515600" cy="1325563"/>
          </a:xfrm>
        </p:spPr>
        <p:txBody>
          <a:bodyPr/>
          <a:lstStyle/>
          <a:p>
            <a:r>
              <a:rPr lang="en-US" altLang="en-US" dirty="0"/>
              <a:t>Multiple-Processor Scheduling – Processor Affinity</a:t>
            </a:r>
          </a:p>
        </p:txBody>
      </p:sp>
      <p:sp>
        <p:nvSpPr>
          <p:cNvPr id="80898" name="Rectangle 3">
            <a:extLst>
              <a:ext uri="{FF2B5EF4-FFF2-40B4-BE49-F238E27FC236}">
                <a16:creationId xmlns:a16="http://schemas.microsoft.com/office/drawing/2014/main" id="{94EFBBBE-DEF2-46B3-983A-153F37FA81BA}"/>
              </a:ext>
            </a:extLst>
          </p:cNvPr>
          <p:cNvSpPr>
            <a:spLocks noGrp="1" noChangeArrowheads="1"/>
          </p:cNvSpPr>
          <p:nvPr>
            <p:ph idx="1"/>
          </p:nvPr>
        </p:nvSpPr>
        <p:spPr>
          <a:xfrm>
            <a:off x="838200" y="1419224"/>
            <a:ext cx="10515600" cy="4937126"/>
          </a:xfrm>
        </p:spPr>
        <p:txBody>
          <a:bodyPr>
            <a:normAutofit fontScale="92500"/>
          </a:bodyPr>
          <a:lstStyle/>
          <a:p>
            <a:r>
              <a:rPr lang="en-US" altLang="en-US" dirty="0"/>
              <a:t>When a thread has been running on one processor, the cache contents of that processor stores the memory accesses by that thread</a:t>
            </a:r>
          </a:p>
          <a:p>
            <a:r>
              <a:rPr lang="en-US" altLang="en-US" dirty="0"/>
              <a:t>We refer to this as a thread having affinity for a processor (i.e., “processor affinity”)</a:t>
            </a:r>
          </a:p>
          <a:p>
            <a:r>
              <a:rPr lang="en-US" altLang="en-US" dirty="0"/>
              <a:t>Load balancing may affect processor affinity as a thread may be moved from one processor to another to balance loads, yet that thread loses the contents of what it had in the cache of the processor it was moved off of</a:t>
            </a:r>
          </a:p>
          <a:p>
            <a:r>
              <a:rPr lang="en-US" altLang="en-US" dirty="0"/>
              <a:t>Soft affinity</a:t>
            </a:r>
          </a:p>
          <a:p>
            <a:pPr lvl="1"/>
            <a:r>
              <a:rPr lang="en-US" altLang="en-US" dirty="0"/>
              <a:t>the operating system attempts to keep a thread running on the same processor, but no guarantees</a:t>
            </a:r>
          </a:p>
          <a:p>
            <a:r>
              <a:rPr lang="en-US" altLang="en-US" dirty="0"/>
              <a:t>Hard affinity</a:t>
            </a:r>
          </a:p>
          <a:p>
            <a:pPr lvl="1"/>
            <a:r>
              <a:rPr lang="en-US" altLang="en-US" dirty="0"/>
              <a:t>allows a process to specify a set of processors it may run on</a:t>
            </a:r>
          </a:p>
          <a:p>
            <a:endParaRPr lang="en-US" altLang="en-US"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Title 1">
            <a:extLst>
              <a:ext uri="{FF2B5EF4-FFF2-40B4-BE49-F238E27FC236}">
                <a16:creationId xmlns:a16="http://schemas.microsoft.com/office/drawing/2014/main" id="{FF506B49-8507-4B53-82D1-3323C7D17F8E}"/>
              </a:ext>
            </a:extLst>
          </p:cNvPr>
          <p:cNvSpPr>
            <a:spLocks noGrp="1"/>
          </p:cNvSpPr>
          <p:nvPr>
            <p:ph type="title"/>
          </p:nvPr>
        </p:nvSpPr>
        <p:spPr>
          <a:xfrm>
            <a:off x="838200" y="47625"/>
            <a:ext cx="10515600" cy="1325563"/>
          </a:xfrm>
        </p:spPr>
        <p:txBody>
          <a:bodyPr/>
          <a:lstStyle/>
          <a:p>
            <a:r>
              <a:rPr lang="en-US" altLang="en-US" dirty="0"/>
              <a:t>NUMA and CPU Scheduling</a:t>
            </a:r>
          </a:p>
        </p:txBody>
      </p:sp>
      <p:sp>
        <p:nvSpPr>
          <p:cNvPr id="3" name="Content Placeholder 2">
            <a:extLst>
              <a:ext uri="{FF2B5EF4-FFF2-40B4-BE49-F238E27FC236}">
                <a16:creationId xmlns:a16="http://schemas.microsoft.com/office/drawing/2014/main" id="{15B0FCB0-3B69-45A0-B9F3-2673D24F011D}"/>
              </a:ext>
            </a:extLst>
          </p:cNvPr>
          <p:cNvSpPr>
            <a:spLocks noGrp="1"/>
          </p:cNvSpPr>
          <p:nvPr>
            <p:ph idx="1"/>
          </p:nvPr>
        </p:nvSpPr>
        <p:spPr/>
        <p:txBody>
          <a:bodyPr/>
          <a:lstStyle/>
          <a:p>
            <a:r>
              <a:rPr kumimoji="0" lang="en-US" altLang="en-US" dirty="0">
                <a:latin typeface="+mn-lt"/>
              </a:rPr>
              <a:t>If the operating system is </a:t>
            </a:r>
            <a:r>
              <a:rPr kumimoji="0" lang="en-US" altLang="en-US" b="1" dirty="0">
                <a:latin typeface="+mn-lt"/>
              </a:rPr>
              <a:t>NUMA-aware</a:t>
            </a:r>
            <a:r>
              <a:rPr kumimoji="0" lang="en-US" altLang="en-US" dirty="0">
                <a:latin typeface="+mn-lt"/>
              </a:rPr>
              <a:t>, it will assign memory closes to the CPU the thread is running on</a:t>
            </a:r>
          </a:p>
          <a:p>
            <a:endParaRPr lang="en-US" dirty="0"/>
          </a:p>
        </p:txBody>
      </p:sp>
      <p:pic>
        <p:nvPicPr>
          <p:cNvPr id="82946" name="Picture 1" descr="6_09.pdf">
            <a:extLst>
              <a:ext uri="{FF2B5EF4-FFF2-40B4-BE49-F238E27FC236}">
                <a16:creationId xmlns:a16="http://schemas.microsoft.com/office/drawing/2014/main" id="{980E063E-45DD-4BA6-BC11-815B31E3F0B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012290" y="2646773"/>
            <a:ext cx="6167420" cy="37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52A943-B21B-45D3-B45C-88ADF44A5244}"/>
              </a:ext>
            </a:extLst>
          </p:cNvPr>
          <p:cNvSpPr>
            <a:spLocks noGrp="1"/>
          </p:cNvSpPr>
          <p:nvPr>
            <p:ph type="title"/>
          </p:nvPr>
        </p:nvSpPr>
        <p:spPr/>
        <p:txBody>
          <a:bodyPr/>
          <a:lstStyle/>
          <a:p>
            <a:r>
              <a:rPr lang="en-US" dirty="0"/>
              <a:t>Real-Time Process Scheduling</a:t>
            </a:r>
          </a:p>
        </p:txBody>
      </p:sp>
      <p:sp>
        <p:nvSpPr>
          <p:cNvPr id="3" name="Text Placeholder 2">
            <a:extLst>
              <a:ext uri="{FF2B5EF4-FFF2-40B4-BE49-F238E27FC236}">
                <a16:creationId xmlns:a16="http://schemas.microsoft.com/office/drawing/2014/main" id="{90AA8BBD-E7BF-4E0C-BA57-D3BAC0D9996F}"/>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37341534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Title 1">
            <a:extLst>
              <a:ext uri="{FF2B5EF4-FFF2-40B4-BE49-F238E27FC236}">
                <a16:creationId xmlns:a16="http://schemas.microsoft.com/office/drawing/2014/main" id="{B42CDA91-CA75-4216-8ED6-3B418AAF9D59}"/>
              </a:ext>
            </a:extLst>
          </p:cNvPr>
          <p:cNvSpPr>
            <a:spLocks noGrp="1"/>
          </p:cNvSpPr>
          <p:nvPr>
            <p:ph type="title"/>
          </p:nvPr>
        </p:nvSpPr>
        <p:spPr>
          <a:xfrm>
            <a:off x="838200" y="47625"/>
            <a:ext cx="10515600" cy="1325563"/>
          </a:xfrm>
        </p:spPr>
        <p:txBody>
          <a:bodyPr>
            <a:normAutofit/>
          </a:bodyPr>
          <a:lstStyle/>
          <a:p>
            <a:r>
              <a:rPr lang="en-US" altLang="en-US" dirty="0"/>
              <a:t>Real-Time CPU Scheduling</a:t>
            </a:r>
          </a:p>
        </p:txBody>
      </p:sp>
      <p:sp>
        <p:nvSpPr>
          <p:cNvPr id="84994" name="Content Placeholder 2">
            <a:extLst>
              <a:ext uri="{FF2B5EF4-FFF2-40B4-BE49-F238E27FC236}">
                <a16:creationId xmlns:a16="http://schemas.microsoft.com/office/drawing/2014/main" id="{6D35042C-FEBC-4B02-841F-FAC1FF000AE9}"/>
              </a:ext>
            </a:extLst>
          </p:cNvPr>
          <p:cNvSpPr>
            <a:spLocks noGrp="1"/>
          </p:cNvSpPr>
          <p:nvPr>
            <p:ph idx="1"/>
          </p:nvPr>
        </p:nvSpPr>
        <p:spPr>
          <a:xfrm>
            <a:off x="838200" y="1419224"/>
            <a:ext cx="10515600" cy="4937126"/>
          </a:xfrm>
        </p:spPr>
        <p:txBody>
          <a:bodyPr/>
          <a:lstStyle/>
          <a:p>
            <a:r>
              <a:rPr lang="en-US" altLang="en-US" dirty="0"/>
              <a:t>Can present obvious challenges</a:t>
            </a:r>
          </a:p>
          <a:p>
            <a:r>
              <a:rPr lang="en-US" altLang="en-US" dirty="0">
                <a:solidFill>
                  <a:schemeClr val="accent1">
                    <a:lumMod val="75000"/>
                  </a:schemeClr>
                </a:solidFill>
              </a:rPr>
              <a:t>Soft real-time systems</a:t>
            </a:r>
          </a:p>
          <a:p>
            <a:pPr lvl="1"/>
            <a:r>
              <a:rPr lang="en-US" altLang="en-US" dirty="0"/>
              <a:t>Critical real-time tasks have the highest priority, but no guarantee as to when tasks will be scheduled</a:t>
            </a:r>
          </a:p>
          <a:p>
            <a:r>
              <a:rPr lang="en-US" altLang="en-US" dirty="0">
                <a:solidFill>
                  <a:schemeClr val="accent1">
                    <a:lumMod val="75000"/>
                  </a:schemeClr>
                </a:solidFill>
              </a:rPr>
              <a:t>Hard real-time systems </a:t>
            </a:r>
          </a:p>
          <a:p>
            <a:pPr lvl="1"/>
            <a:r>
              <a:rPr lang="en-US" altLang="en-US" dirty="0"/>
              <a:t>task must be serviced by its deadline</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Title 1">
            <a:extLst>
              <a:ext uri="{FF2B5EF4-FFF2-40B4-BE49-F238E27FC236}">
                <a16:creationId xmlns:a16="http://schemas.microsoft.com/office/drawing/2014/main" id="{5465B525-CEEC-49C9-B033-5A403A5B5548}"/>
              </a:ext>
            </a:extLst>
          </p:cNvPr>
          <p:cNvSpPr>
            <a:spLocks noGrp="1"/>
          </p:cNvSpPr>
          <p:nvPr>
            <p:ph type="title"/>
          </p:nvPr>
        </p:nvSpPr>
        <p:spPr>
          <a:xfrm>
            <a:off x="838200" y="47625"/>
            <a:ext cx="10515600" cy="1325563"/>
          </a:xfrm>
        </p:spPr>
        <p:txBody>
          <a:bodyPr>
            <a:normAutofit/>
          </a:bodyPr>
          <a:lstStyle/>
          <a:p>
            <a:r>
              <a:rPr lang="en-US" altLang="en-US" dirty="0"/>
              <a:t>Real-Time CPU Scheduling</a:t>
            </a:r>
          </a:p>
        </p:txBody>
      </p:sp>
      <p:sp>
        <p:nvSpPr>
          <p:cNvPr id="87042" name="Content Placeholder 2">
            <a:extLst>
              <a:ext uri="{FF2B5EF4-FFF2-40B4-BE49-F238E27FC236}">
                <a16:creationId xmlns:a16="http://schemas.microsoft.com/office/drawing/2014/main" id="{F36B9134-1F9A-43F2-AE53-CEC7281025B7}"/>
              </a:ext>
            </a:extLst>
          </p:cNvPr>
          <p:cNvSpPr>
            <a:spLocks noGrp="1"/>
          </p:cNvSpPr>
          <p:nvPr>
            <p:ph idx="1"/>
          </p:nvPr>
        </p:nvSpPr>
        <p:spPr>
          <a:xfrm>
            <a:off x="838200" y="1419225"/>
            <a:ext cx="6053919" cy="4937125"/>
          </a:xfrm>
        </p:spPr>
        <p:txBody>
          <a:bodyPr>
            <a:normAutofit/>
          </a:bodyPr>
          <a:lstStyle/>
          <a:p>
            <a:r>
              <a:rPr lang="en-US" altLang="en-US" dirty="0"/>
              <a:t>Event latency – the amount of time that elapses from when an event occurs to when it is serviced</a:t>
            </a:r>
          </a:p>
          <a:p>
            <a:r>
              <a:rPr lang="en-US" altLang="en-US" dirty="0"/>
              <a:t>Two types of latencies affect performance</a:t>
            </a:r>
          </a:p>
          <a:p>
            <a:pPr lvl="1"/>
            <a:r>
              <a:rPr lang="en-US" altLang="en-US" dirty="0"/>
              <a:t>Interrupt latency </a:t>
            </a:r>
          </a:p>
          <a:p>
            <a:pPr lvl="2"/>
            <a:r>
              <a:rPr lang="en-US" altLang="en-US" dirty="0"/>
              <a:t>time from arrival of interrupt to start of routine that services interrupt</a:t>
            </a:r>
          </a:p>
          <a:p>
            <a:pPr lvl="1"/>
            <a:r>
              <a:rPr lang="en-US" altLang="en-US" dirty="0"/>
              <a:t>Dispatch latency</a:t>
            </a:r>
          </a:p>
          <a:p>
            <a:pPr lvl="2"/>
            <a:r>
              <a:rPr lang="en-US" altLang="en-US" dirty="0"/>
              <a:t>time for schedule to take current process off CPU and switch to another</a:t>
            </a:r>
          </a:p>
        </p:txBody>
      </p:sp>
      <p:pic>
        <p:nvPicPr>
          <p:cNvPr id="87043" name="Picture 1">
            <a:extLst>
              <a:ext uri="{FF2B5EF4-FFF2-40B4-BE49-F238E27FC236}">
                <a16:creationId xmlns:a16="http://schemas.microsoft.com/office/drawing/2014/main" id="{A386168D-0ECB-4C78-B843-BF56135FA5F5}"/>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55892" y="2043763"/>
            <a:ext cx="4675744" cy="311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Title 1">
            <a:extLst>
              <a:ext uri="{FF2B5EF4-FFF2-40B4-BE49-F238E27FC236}">
                <a16:creationId xmlns:a16="http://schemas.microsoft.com/office/drawing/2014/main" id="{34CD1F8D-2BA1-4930-8ADE-493EC0B780E9}"/>
              </a:ext>
            </a:extLst>
          </p:cNvPr>
          <p:cNvSpPr>
            <a:spLocks noGrp="1"/>
          </p:cNvSpPr>
          <p:nvPr>
            <p:ph type="title"/>
          </p:nvPr>
        </p:nvSpPr>
        <p:spPr>
          <a:xfrm>
            <a:off x="838200" y="47625"/>
            <a:ext cx="10515600" cy="1325563"/>
          </a:xfrm>
        </p:spPr>
        <p:txBody>
          <a:bodyPr>
            <a:normAutofit/>
          </a:bodyPr>
          <a:lstStyle/>
          <a:p>
            <a:r>
              <a:rPr lang="en-US" altLang="en-US" dirty="0"/>
              <a:t>Interrupt Latency</a:t>
            </a:r>
          </a:p>
        </p:txBody>
      </p:sp>
      <p:pic>
        <p:nvPicPr>
          <p:cNvPr id="89090" name="Picture 2">
            <a:extLst>
              <a:ext uri="{FF2B5EF4-FFF2-40B4-BE49-F238E27FC236}">
                <a16:creationId xmlns:a16="http://schemas.microsoft.com/office/drawing/2014/main" id="{09F5D776-FF63-4BAD-8786-299294C2A98B}"/>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527343" y="1577903"/>
            <a:ext cx="5137314" cy="4850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Title 1">
            <a:extLst>
              <a:ext uri="{FF2B5EF4-FFF2-40B4-BE49-F238E27FC236}">
                <a16:creationId xmlns:a16="http://schemas.microsoft.com/office/drawing/2014/main" id="{AF98D939-2EF6-4D46-8A76-119BAF4701CB}"/>
              </a:ext>
            </a:extLst>
          </p:cNvPr>
          <p:cNvSpPr>
            <a:spLocks noGrp="1"/>
          </p:cNvSpPr>
          <p:nvPr>
            <p:ph type="title"/>
          </p:nvPr>
        </p:nvSpPr>
        <p:spPr>
          <a:xfrm>
            <a:off x="838200" y="47625"/>
            <a:ext cx="10515600" cy="1325563"/>
          </a:xfrm>
        </p:spPr>
        <p:txBody>
          <a:bodyPr>
            <a:normAutofit/>
          </a:bodyPr>
          <a:lstStyle/>
          <a:p>
            <a:r>
              <a:rPr lang="en-US" altLang="en-US" dirty="0"/>
              <a:t>Dispatch Latency</a:t>
            </a:r>
          </a:p>
        </p:txBody>
      </p:sp>
      <p:sp>
        <p:nvSpPr>
          <p:cNvPr id="90114" name="Content Placeholder 2">
            <a:extLst>
              <a:ext uri="{FF2B5EF4-FFF2-40B4-BE49-F238E27FC236}">
                <a16:creationId xmlns:a16="http://schemas.microsoft.com/office/drawing/2014/main" id="{A58C332A-91EF-45CE-B06A-911A62BC7AF8}"/>
              </a:ext>
            </a:extLst>
          </p:cNvPr>
          <p:cNvSpPr>
            <a:spLocks noGrp="1"/>
          </p:cNvSpPr>
          <p:nvPr>
            <p:ph idx="1"/>
          </p:nvPr>
        </p:nvSpPr>
        <p:spPr>
          <a:xfrm>
            <a:off x="838200" y="1419225"/>
            <a:ext cx="4852916" cy="4937125"/>
          </a:xfrm>
        </p:spPr>
        <p:txBody>
          <a:bodyPr>
            <a:normAutofit/>
          </a:bodyPr>
          <a:lstStyle/>
          <a:p>
            <a:r>
              <a:rPr lang="en-US" altLang="en-US" dirty="0"/>
              <a:t>Conflict phase of dispatch latency</a:t>
            </a:r>
          </a:p>
          <a:p>
            <a:pPr lvl="1"/>
            <a:r>
              <a:rPr lang="en-US" altLang="en-US" dirty="0"/>
              <a:t>Preemption of any process running in kernel mode</a:t>
            </a:r>
          </a:p>
          <a:p>
            <a:pPr lvl="1"/>
            <a:r>
              <a:rPr lang="en-US" altLang="en-US" dirty="0"/>
              <a:t>Release by low-priority process of resources needed by high-priority processes</a:t>
            </a:r>
          </a:p>
        </p:txBody>
      </p:sp>
      <p:pic>
        <p:nvPicPr>
          <p:cNvPr id="90115" name="Picture 1">
            <a:extLst>
              <a:ext uri="{FF2B5EF4-FFF2-40B4-BE49-F238E27FC236}">
                <a16:creationId xmlns:a16="http://schemas.microsoft.com/office/drawing/2014/main" id="{3801CEAC-B75F-4F94-8E21-EDC032D4C03D}"/>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96484" y="1735314"/>
            <a:ext cx="5926943" cy="43540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Title 1">
            <a:extLst>
              <a:ext uri="{FF2B5EF4-FFF2-40B4-BE49-F238E27FC236}">
                <a16:creationId xmlns:a16="http://schemas.microsoft.com/office/drawing/2014/main" id="{A8DF052A-4F64-4782-BAE2-89E732E5E749}"/>
              </a:ext>
            </a:extLst>
          </p:cNvPr>
          <p:cNvSpPr>
            <a:spLocks noGrp="1"/>
          </p:cNvSpPr>
          <p:nvPr>
            <p:ph type="title"/>
          </p:nvPr>
        </p:nvSpPr>
        <p:spPr>
          <a:xfrm>
            <a:off x="838200" y="47625"/>
            <a:ext cx="10515600" cy="1325563"/>
          </a:xfrm>
        </p:spPr>
        <p:txBody>
          <a:bodyPr>
            <a:normAutofit/>
          </a:bodyPr>
          <a:lstStyle/>
          <a:p>
            <a:r>
              <a:rPr lang="en-US" altLang="en-US" dirty="0"/>
              <a:t>Priority-based Scheduling</a:t>
            </a:r>
          </a:p>
        </p:txBody>
      </p:sp>
      <p:sp>
        <p:nvSpPr>
          <p:cNvPr id="92162" name="Content Placeholder 2">
            <a:extLst>
              <a:ext uri="{FF2B5EF4-FFF2-40B4-BE49-F238E27FC236}">
                <a16:creationId xmlns:a16="http://schemas.microsoft.com/office/drawing/2014/main" id="{F943F0CE-8844-419F-8310-ED97D4361784}"/>
              </a:ext>
            </a:extLst>
          </p:cNvPr>
          <p:cNvSpPr>
            <a:spLocks noGrp="1"/>
          </p:cNvSpPr>
          <p:nvPr>
            <p:ph idx="1"/>
          </p:nvPr>
        </p:nvSpPr>
        <p:spPr>
          <a:xfrm>
            <a:off x="838200" y="1419224"/>
            <a:ext cx="10515600" cy="4937126"/>
          </a:xfrm>
        </p:spPr>
        <p:txBody>
          <a:bodyPr>
            <a:normAutofit/>
          </a:bodyPr>
          <a:lstStyle/>
          <a:p>
            <a:r>
              <a:rPr lang="en-US" altLang="en-US" dirty="0"/>
              <a:t>For real-time scheduling, scheduler must support preemptive, priority-based scheduling</a:t>
            </a:r>
          </a:p>
          <a:p>
            <a:pPr lvl="1"/>
            <a:r>
              <a:rPr lang="en-US" altLang="en-US" dirty="0"/>
              <a:t>But only guarantees soft real-time</a:t>
            </a:r>
          </a:p>
          <a:p>
            <a:r>
              <a:rPr lang="en-US" altLang="en-US" dirty="0"/>
              <a:t>For hard real-time must also provide ability to meet deadlines</a:t>
            </a:r>
          </a:p>
          <a:p>
            <a:r>
              <a:rPr lang="en-US" altLang="en-US" dirty="0"/>
              <a:t>Processes have new characteristics: periodic ones require CPU at constant intervals</a:t>
            </a:r>
          </a:p>
          <a:p>
            <a:pPr lvl="1"/>
            <a:r>
              <a:rPr lang="en-US" altLang="en-US" dirty="0"/>
              <a:t>Has processing time t, deadline d, period p</a:t>
            </a:r>
          </a:p>
          <a:p>
            <a:pPr lvl="1"/>
            <a:r>
              <a:rPr lang="en-US" altLang="en-US" dirty="0"/>
              <a:t>0 ≤ t ≤ d ≤ p</a:t>
            </a:r>
          </a:p>
          <a:p>
            <a:pPr lvl="1"/>
            <a:r>
              <a:rPr lang="en-US" altLang="en-US" dirty="0"/>
              <a:t>Rate of periodic task is 1/p</a:t>
            </a:r>
          </a:p>
          <a:p>
            <a:endParaRPr lang="en-US" altLang="en-US" dirty="0"/>
          </a:p>
          <a:p>
            <a:pPr lvl="1"/>
            <a:r>
              <a:rPr lang="en-US" altLang="en-US" dirty="0"/>
              <a:t> </a:t>
            </a:r>
          </a:p>
        </p:txBody>
      </p:sp>
      <p:pic>
        <p:nvPicPr>
          <p:cNvPr id="92163" name="Picture 1">
            <a:extLst>
              <a:ext uri="{FF2B5EF4-FFF2-40B4-BE49-F238E27FC236}">
                <a16:creationId xmlns:a16="http://schemas.microsoft.com/office/drawing/2014/main" id="{BE1F619D-A9E1-4A25-B1A3-6488B907BCA3}"/>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32209" y="4463597"/>
            <a:ext cx="6490393" cy="19387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Rectangle 2">
            <a:extLst>
              <a:ext uri="{FF2B5EF4-FFF2-40B4-BE49-F238E27FC236}">
                <a16:creationId xmlns:a16="http://schemas.microsoft.com/office/drawing/2014/main" id="{42531119-5041-4309-A1D2-A61710EC9D6D}"/>
              </a:ext>
            </a:extLst>
          </p:cNvPr>
          <p:cNvSpPr>
            <a:spLocks noGrp="1" noChangeArrowheads="1"/>
          </p:cNvSpPr>
          <p:nvPr>
            <p:ph type="title"/>
          </p:nvPr>
        </p:nvSpPr>
        <p:spPr>
          <a:xfrm>
            <a:off x="838200" y="47625"/>
            <a:ext cx="10515600" cy="1325563"/>
          </a:xfrm>
        </p:spPr>
        <p:txBody>
          <a:bodyPr>
            <a:normAutofit/>
          </a:bodyPr>
          <a:lstStyle/>
          <a:p>
            <a:r>
              <a:rPr lang="en-US" altLang="en-US" dirty="0"/>
              <a:t>Rate Monotonic Scheduling</a:t>
            </a:r>
          </a:p>
        </p:txBody>
      </p:sp>
      <p:sp>
        <p:nvSpPr>
          <p:cNvPr id="94210" name="Rectangle 4">
            <a:extLst>
              <a:ext uri="{FF2B5EF4-FFF2-40B4-BE49-F238E27FC236}">
                <a16:creationId xmlns:a16="http://schemas.microsoft.com/office/drawing/2014/main" id="{86CCC493-A11A-48CA-92C7-3F09C4E1E540}"/>
              </a:ext>
            </a:extLst>
          </p:cNvPr>
          <p:cNvSpPr>
            <a:spLocks noGrp="1" noChangeArrowheads="1"/>
          </p:cNvSpPr>
          <p:nvPr>
            <p:ph idx="1"/>
          </p:nvPr>
        </p:nvSpPr>
        <p:spPr>
          <a:xfrm>
            <a:off x="838200" y="1419224"/>
            <a:ext cx="10515600" cy="4937126"/>
          </a:xfrm>
        </p:spPr>
        <p:txBody>
          <a:bodyPr/>
          <a:lstStyle/>
          <a:p>
            <a:r>
              <a:rPr lang="en-US" altLang="en-US" dirty="0"/>
              <a:t>A priority is assigned based on the inverse of its period</a:t>
            </a:r>
          </a:p>
          <a:p>
            <a:r>
              <a:rPr lang="en-US" altLang="en-US" dirty="0"/>
              <a:t>Shorter periods 	→ 	higher priority</a:t>
            </a:r>
          </a:p>
          <a:p>
            <a:r>
              <a:rPr lang="en-US" altLang="en-US" dirty="0"/>
              <a:t>Longer periods 	→ 	lower priority</a:t>
            </a:r>
          </a:p>
          <a:p>
            <a:endParaRPr lang="en-US" altLang="en-US" dirty="0"/>
          </a:p>
          <a:p>
            <a:r>
              <a:rPr lang="en-US" altLang="en-US" dirty="0"/>
              <a:t>P1 is assigned a higher priority than P2</a:t>
            </a:r>
            <a:br>
              <a:rPr lang="en-US" altLang="en-US" dirty="0"/>
            </a:br>
            <a:endParaRPr lang="en-US" altLang="en-US" dirty="0"/>
          </a:p>
        </p:txBody>
      </p:sp>
      <p:pic>
        <p:nvPicPr>
          <p:cNvPr id="94211" name="Picture 1">
            <a:extLst>
              <a:ext uri="{FF2B5EF4-FFF2-40B4-BE49-F238E27FC236}">
                <a16:creationId xmlns:a16="http://schemas.microsoft.com/office/drawing/2014/main" id="{C1D55E96-A69C-400E-95E2-E0087F3D2D87}"/>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42394" y="4201685"/>
            <a:ext cx="9507212" cy="14348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Rectangle 2">
            <a:extLst>
              <a:ext uri="{FF2B5EF4-FFF2-40B4-BE49-F238E27FC236}">
                <a16:creationId xmlns:a16="http://schemas.microsoft.com/office/drawing/2014/main" id="{42531119-5041-4309-A1D2-A61710EC9D6D}"/>
              </a:ext>
            </a:extLst>
          </p:cNvPr>
          <p:cNvSpPr>
            <a:spLocks noGrp="1" noChangeArrowheads="1"/>
          </p:cNvSpPr>
          <p:nvPr>
            <p:ph type="title"/>
          </p:nvPr>
        </p:nvSpPr>
        <p:spPr>
          <a:xfrm>
            <a:off x="838200" y="47625"/>
            <a:ext cx="10515600" cy="1325563"/>
          </a:xfrm>
        </p:spPr>
        <p:txBody>
          <a:bodyPr/>
          <a:lstStyle/>
          <a:p>
            <a:r>
              <a:rPr lang="en-US" altLang="en-US" dirty="0"/>
              <a:t>Missed Deadlines with Rate Monotonic Scheduling</a:t>
            </a:r>
          </a:p>
        </p:txBody>
      </p:sp>
      <p:sp>
        <p:nvSpPr>
          <p:cNvPr id="94210" name="Rectangle 4">
            <a:extLst>
              <a:ext uri="{FF2B5EF4-FFF2-40B4-BE49-F238E27FC236}">
                <a16:creationId xmlns:a16="http://schemas.microsoft.com/office/drawing/2014/main" id="{86CCC493-A11A-48CA-92C7-3F09C4E1E540}"/>
              </a:ext>
            </a:extLst>
          </p:cNvPr>
          <p:cNvSpPr>
            <a:spLocks noGrp="1" noChangeArrowheads="1"/>
          </p:cNvSpPr>
          <p:nvPr>
            <p:ph idx="1"/>
          </p:nvPr>
        </p:nvSpPr>
        <p:spPr>
          <a:xfrm>
            <a:off x="838200" y="1419224"/>
            <a:ext cx="10515600" cy="4937126"/>
          </a:xfrm>
        </p:spPr>
        <p:txBody>
          <a:bodyPr/>
          <a:lstStyle/>
          <a:p>
            <a:r>
              <a:rPr lang="en-US" altLang="en-US" dirty="0"/>
              <a:t>Process P2 misses finishing its deadline at time 80</a:t>
            </a:r>
            <a:br>
              <a:rPr lang="en-US" altLang="en-US" dirty="0"/>
            </a:br>
            <a:endParaRPr lang="en-US" altLang="en-US" dirty="0"/>
          </a:p>
        </p:txBody>
      </p:sp>
      <p:pic>
        <p:nvPicPr>
          <p:cNvPr id="5" name="Picture 1">
            <a:extLst>
              <a:ext uri="{FF2B5EF4-FFF2-40B4-BE49-F238E27FC236}">
                <a16:creationId xmlns:a16="http://schemas.microsoft.com/office/drawing/2014/main" id="{BB83E708-2FC4-46A5-9C6F-2E91ECBADADC}"/>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70861" y="3576111"/>
            <a:ext cx="8650278" cy="1323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7055807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Rectangle 2">
            <a:extLst>
              <a:ext uri="{FF2B5EF4-FFF2-40B4-BE49-F238E27FC236}">
                <a16:creationId xmlns:a16="http://schemas.microsoft.com/office/drawing/2014/main" id="{7E974B58-615E-4568-9359-DE0D3DA7044C}"/>
              </a:ext>
            </a:extLst>
          </p:cNvPr>
          <p:cNvSpPr>
            <a:spLocks noGrp="1" noChangeArrowheads="1"/>
          </p:cNvSpPr>
          <p:nvPr>
            <p:ph type="title"/>
          </p:nvPr>
        </p:nvSpPr>
        <p:spPr>
          <a:xfrm>
            <a:off x="838200" y="47625"/>
            <a:ext cx="10515600" cy="1325563"/>
          </a:xfrm>
        </p:spPr>
        <p:txBody>
          <a:bodyPr/>
          <a:lstStyle/>
          <a:p>
            <a:r>
              <a:rPr lang="en-US" altLang="en-US" dirty="0"/>
              <a:t>Earliest Deadline First Scheduling (EDF)</a:t>
            </a:r>
          </a:p>
        </p:txBody>
      </p:sp>
      <p:sp>
        <p:nvSpPr>
          <p:cNvPr id="98306" name="Rectangle 3">
            <a:extLst>
              <a:ext uri="{FF2B5EF4-FFF2-40B4-BE49-F238E27FC236}">
                <a16:creationId xmlns:a16="http://schemas.microsoft.com/office/drawing/2014/main" id="{1E9806D4-0F94-4F7D-8594-2BE3A814EC48}"/>
              </a:ext>
            </a:extLst>
          </p:cNvPr>
          <p:cNvSpPr>
            <a:spLocks noGrp="1" noChangeArrowheads="1"/>
          </p:cNvSpPr>
          <p:nvPr>
            <p:ph idx="1"/>
          </p:nvPr>
        </p:nvSpPr>
        <p:spPr>
          <a:xfrm>
            <a:off x="838200" y="1419224"/>
            <a:ext cx="10515600" cy="4937126"/>
          </a:xfrm>
        </p:spPr>
        <p:txBody>
          <a:bodyPr/>
          <a:lstStyle/>
          <a:p>
            <a:r>
              <a:rPr lang="en-US" altLang="en-US" dirty="0"/>
              <a:t>Priorities are assigned according to deadlines</a:t>
            </a:r>
          </a:p>
          <a:p>
            <a:pPr lvl="1"/>
            <a:r>
              <a:rPr lang="en-US" altLang="en-US" dirty="0"/>
              <a:t>The earlier the deadline, the higher the priority</a:t>
            </a:r>
          </a:p>
          <a:p>
            <a:pPr lvl="1"/>
            <a:r>
              <a:rPr lang="en-US" altLang="en-US" dirty="0"/>
              <a:t>The later the deadline, the lower the priority</a:t>
            </a:r>
          </a:p>
        </p:txBody>
      </p:sp>
      <p:pic>
        <p:nvPicPr>
          <p:cNvPr id="98307" name="Picture 2">
            <a:extLst>
              <a:ext uri="{FF2B5EF4-FFF2-40B4-BE49-F238E27FC236}">
                <a16:creationId xmlns:a16="http://schemas.microsoft.com/office/drawing/2014/main" id="{AC134B2A-CFA7-4D4D-BCAE-C2564AE300FA}"/>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57374" y="3641635"/>
            <a:ext cx="8877252" cy="13807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3978608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Rectangle 2">
            <a:extLst>
              <a:ext uri="{FF2B5EF4-FFF2-40B4-BE49-F238E27FC236}">
                <a16:creationId xmlns:a16="http://schemas.microsoft.com/office/drawing/2014/main" id="{459B5F4F-799A-48B7-A0B7-53ED0A70A794}"/>
              </a:ext>
            </a:extLst>
          </p:cNvPr>
          <p:cNvSpPr>
            <a:spLocks noGrp="1" noChangeArrowheads="1"/>
          </p:cNvSpPr>
          <p:nvPr>
            <p:ph type="title"/>
          </p:nvPr>
        </p:nvSpPr>
        <p:spPr>
          <a:xfrm>
            <a:off x="838200" y="47625"/>
            <a:ext cx="10515600" cy="1325563"/>
          </a:xfrm>
        </p:spPr>
        <p:txBody>
          <a:bodyPr>
            <a:normAutofit/>
          </a:bodyPr>
          <a:lstStyle/>
          <a:p>
            <a:r>
              <a:rPr lang="en-US" altLang="en-US" dirty="0"/>
              <a:t>Proportional Share Scheduling</a:t>
            </a:r>
          </a:p>
        </p:txBody>
      </p:sp>
      <p:sp>
        <p:nvSpPr>
          <p:cNvPr id="100354" name="Rectangle 3">
            <a:extLst>
              <a:ext uri="{FF2B5EF4-FFF2-40B4-BE49-F238E27FC236}">
                <a16:creationId xmlns:a16="http://schemas.microsoft.com/office/drawing/2014/main" id="{8CF6342D-B4EF-40C5-AE28-E1BC86249E94}"/>
              </a:ext>
            </a:extLst>
          </p:cNvPr>
          <p:cNvSpPr>
            <a:spLocks noGrp="1" noChangeArrowheads="1"/>
          </p:cNvSpPr>
          <p:nvPr>
            <p:ph idx="1"/>
          </p:nvPr>
        </p:nvSpPr>
        <p:spPr>
          <a:xfrm>
            <a:off x="838200" y="1419224"/>
            <a:ext cx="10515600" cy="4937126"/>
          </a:xfrm>
        </p:spPr>
        <p:txBody>
          <a:bodyPr/>
          <a:lstStyle/>
          <a:p>
            <a:r>
              <a:rPr lang="en-US" altLang="en-US" dirty="0"/>
              <a:t>T shares are allocated among all processes in the system</a:t>
            </a:r>
          </a:p>
          <a:p>
            <a:r>
              <a:rPr lang="en-US" altLang="en-US" dirty="0"/>
              <a:t>An application receives N shares where N &lt; T</a:t>
            </a:r>
          </a:p>
          <a:p>
            <a:r>
              <a:rPr lang="en-US" altLang="en-US" dirty="0"/>
              <a:t>This ensures each application will receive N / T of the total processor time</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Rectangle 2">
            <a:extLst>
              <a:ext uri="{FF2B5EF4-FFF2-40B4-BE49-F238E27FC236}">
                <a16:creationId xmlns:a16="http://schemas.microsoft.com/office/drawing/2014/main" id="{12676C37-E63F-44FF-91CF-ECA19EFBA290}"/>
              </a:ext>
            </a:extLst>
          </p:cNvPr>
          <p:cNvSpPr>
            <a:spLocks noGrp="1" noChangeArrowheads="1"/>
          </p:cNvSpPr>
          <p:nvPr>
            <p:ph type="title"/>
          </p:nvPr>
        </p:nvSpPr>
        <p:spPr>
          <a:xfrm>
            <a:off x="838200" y="47625"/>
            <a:ext cx="10515600" cy="1325563"/>
          </a:xfrm>
        </p:spPr>
        <p:txBody>
          <a:bodyPr/>
          <a:lstStyle/>
          <a:p>
            <a:r>
              <a:rPr lang="en-US" altLang="en-US"/>
              <a:t>POSIX Real-Time Scheduling</a:t>
            </a:r>
            <a:endParaRPr lang="en-US" altLang="en-US" dirty="0"/>
          </a:p>
        </p:txBody>
      </p:sp>
      <p:sp>
        <p:nvSpPr>
          <p:cNvPr id="56323" name="Rectangle 3">
            <a:extLst>
              <a:ext uri="{FF2B5EF4-FFF2-40B4-BE49-F238E27FC236}">
                <a16:creationId xmlns:a16="http://schemas.microsoft.com/office/drawing/2014/main" id="{C9DDF1F7-83DC-4186-8D07-64F7BA9D5BED}"/>
              </a:ext>
            </a:extLst>
          </p:cNvPr>
          <p:cNvSpPr>
            <a:spLocks noGrp="1" noChangeArrowheads="1"/>
          </p:cNvSpPr>
          <p:nvPr>
            <p:ph idx="1"/>
          </p:nvPr>
        </p:nvSpPr>
        <p:spPr>
          <a:xfrm>
            <a:off x="838200" y="1419224"/>
            <a:ext cx="10515600" cy="4937126"/>
          </a:xfrm>
        </p:spPr>
        <p:txBody>
          <a:bodyPr>
            <a:normAutofit/>
          </a:bodyPr>
          <a:lstStyle/>
          <a:p>
            <a:r>
              <a:rPr lang="en-US" altLang="en-US" dirty="0"/>
              <a:t>The POSIX.1b standard</a:t>
            </a:r>
          </a:p>
          <a:p>
            <a:r>
              <a:rPr lang="en-US" altLang="en-US" dirty="0"/>
              <a:t>API provides functions for managing real-time threads</a:t>
            </a:r>
          </a:p>
          <a:p>
            <a:r>
              <a:rPr lang="en-US" altLang="en-US" dirty="0"/>
              <a:t>Defines two scheduling classes for real-time threads</a:t>
            </a:r>
          </a:p>
          <a:p>
            <a:pPr marL="914400" lvl="1" indent="-457200">
              <a:buFont typeface="+mj-lt"/>
              <a:buAutoNum type="arabicPeriod"/>
            </a:pPr>
            <a:r>
              <a:rPr lang="en-US" altLang="en-US" dirty="0"/>
              <a:t>SCHED_FIFO - threads are scheduled using a FCFS strategy with a FIFO queue</a:t>
            </a:r>
          </a:p>
          <a:p>
            <a:pPr lvl="2"/>
            <a:r>
              <a:rPr lang="en-US" altLang="en-US" dirty="0"/>
              <a:t>There is no time-slicing for threads of equal priority</a:t>
            </a:r>
          </a:p>
          <a:p>
            <a:pPr marL="914400" lvl="1" indent="-457200">
              <a:buFont typeface="+mj-lt"/>
              <a:buAutoNum type="arabicPeriod"/>
            </a:pPr>
            <a:r>
              <a:rPr lang="en-US" altLang="en-US" dirty="0"/>
              <a:t>SCHED_RR - similar to SCHED_FIFO except time-slicing occurs for threads of equal priority</a:t>
            </a:r>
          </a:p>
          <a:p>
            <a:r>
              <a:rPr lang="en-US" altLang="en-US" dirty="0"/>
              <a:t>Defines two functions for getting and setting scheduling policy:</a:t>
            </a:r>
          </a:p>
          <a:p>
            <a:pPr marL="914400" lvl="1" indent="-457200">
              <a:buFont typeface="+mj-lt"/>
              <a:buAutoNum type="arabicPeriod"/>
            </a:pPr>
            <a:r>
              <a:rPr lang="en-US" altLang="en-US" dirty="0"/>
              <a:t> </a:t>
            </a:r>
            <a:r>
              <a:rPr lang="en-US" altLang="en-US" dirty="0" err="1"/>
              <a:t>pthread_attr_getsched_policy</a:t>
            </a:r>
            <a:r>
              <a:rPr lang="en-US" altLang="en-US" dirty="0"/>
              <a:t>(</a:t>
            </a:r>
            <a:r>
              <a:rPr lang="en-US" altLang="en-US" dirty="0" err="1"/>
              <a:t>pthread_attr_t</a:t>
            </a:r>
            <a:r>
              <a:rPr lang="en-US" altLang="en-US" dirty="0"/>
              <a:t> *</a:t>
            </a:r>
            <a:r>
              <a:rPr lang="en-US" altLang="en-US" dirty="0" err="1"/>
              <a:t>attr</a:t>
            </a:r>
            <a:r>
              <a:rPr lang="en-US" altLang="en-US" dirty="0"/>
              <a:t>, int *policy) </a:t>
            </a:r>
          </a:p>
          <a:p>
            <a:pPr marL="914400" lvl="1" indent="-457200">
              <a:buFont typeface="+mj-lt"/>
              <a:buAutoNum type="arabicPeriod"/>
            </a:pPr>
            <a:r>
              <a:rPr lang="en-US" altLang="en-US" dirty="0"/>
              <a:t> </a:t>
            </a:r>
            <a:r>
              <a:rPr lang="en-US" altLang="en-US" dirty="0" err="1"/>
              <a:t>pthread_attr_setsched_policy</a:t>
            </a:r>
            <a:r>
              <a:rPr lang="en-US" altLang="en-US" dirty="0"/>
              <a:t>(</a:t>
            </a:r>
            <a:r>
              <a:rPr lang="en-US" altLang="en-US" dirty="0" err="1"/>
              <a:t>pthread_attr_t</a:t>
            </a:r>
            <a:r>
              <a:rPr lang="en-US" altLang="en-US" dirty="0"/>
              <a:t> *</a:t>
            </a:r>
            <a:r>
              <a:rPr lang="en-US" altLang="en-US" dirty="0" err="1"/>
              <a:t>attr</a:t>
            </a:r>
            <a:r>
              <a:rPr lang="en-US" altLang="en-US" dirty="0"/>
              <a:t>, int policy) </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4449" name="Rectangle 2">
            <a:extLst>
              <a:ext uri="{FF2B5EF4-FFF2-40B4-BE49-F238E27FC236}">
                <a16:creationId xmlns:a16="http://schemas.microsoft.com/office/drawing/2014/main" id="{B7D51925-D583-4FC2-9CB5-E5599A1B8B86}"/>
              </a:ext>
            </a:extLst>
          </p:cNvPr>
          <p:cNvSpPr>
            <a:spLocks noGrp="1" noChangeArrowheads="1"/>
          </p:cNvSpPr>
          <p:nvPr>
            <p:ph type="title"/>
          </p:nvPr>
        </p:nvSpPr>
        <p:spPr>
          <a:xfrm>
            <a:off x="838200" y="47625"/>
            <a:ext cx="10515600" cy="1325563"/>
          </a:xfrm>
        </p:spPr>
        <p:txBody>
          <a:bodyPr>
            <a:normAutofit/>
          </a:bodyPr>
          <a:lstStyle/>
          <a:p>
            <a:r>
              <a:rPr lang="en-US" altLang="en-US" dirty="0"/>
              <a:t>POSIX Real-Time Scheduling API</a:t>
            </a:r>
          </a:p>
        </p:txBody>
      </p:sp>
      <p:sp>
        <p:nvSpPr>
          <p:cNvPr id="104450" name="Rectangle 3">
            <a:extLst>
              <a:ext uri="{FF2B5EF4-FFF2-40B4-BE49-F238E27FC236}">
                <a16:creationId xmlns:a16="http://schemas.microsoft.com/office/drawing/2014/main" id="{9965A94C-BC3D-4A28-8EC9-9D5F7E2964D7}"/>
              </a:ext>
            </a:extLst>
          </p:cNvPr>
          <p:cNvSpPr>
            <a:spLocks noGrp="1" noChangeArrowheads="1"/>
          </p:cNvSpPr>
          <p:nvPr>
            <p:ph idx="1"/>
          </p:nvPr>
        </p:nvSpPr>
        <p:spPr>
          <a:xfrm>
            <a:off x="838200" y="1419224"/>
            <a:ext cx="10515600" cy="4937126"/>
          </a:xfrm>
        </p:spPr>
        <p:txBody>
          <a:bodyPr>
            <a:normAutofit fontScale="55000" lnSpcReduction="20000"/>
          </a:bodyPr>
          <a:lstStyle/>
          <a:p>
            <a:pPr marL="0" indent="0">
              <a:buNone/>
            </a:pPr>
            <a:r>
              <a:rPr lang="en-US" altLang="en-US" dirty="0"/>
              <a:t>#include &lt;</a:t>
            </a:r>
            <a:r>
              <a:rPr lang="en-US" altLang="en-US" dirty="0" err="1"/>
              <a:t>pthread.h</a:t>
            </a:r>
            <a:r>
              <a:rPr lang="en-US" altLang="en-US" dirty="0"/>
              <a:t>&gt; </a:t>
            </a:r>
          </a:p>
          <a:p>
            <a:pPr marL="0" indent="0">
              <a:buNone/>
            </a:pPr>
            <a:r>
              <a:rPr lang="en-US" altLang="en-US" dirty="0"/>
              <a:t>#include &lt;</a:t>
            </a:r>
            <a:r>
              <a:rPr lang="en-US" altLang="en-US" dirty="0" err="1"/>
              <a:t>stdio.h</a:t>
            </a:r>
            <a:r>
              <a:rPr lang="en-US" altLang="en-US" dirty="0"/>
              <a:t>&gt; </a:t>
            </a:r>
          </a:p>
          <a:p>
            <a:pPr marL="0" indent="0">
              <a:buNone/>
            </a:pPr>
            <a:r>
              <a:rPr lang="en-US" altLang="en-US" dirty="0"/>
              <a:t>#define NUM_THREADS 5 </a:t>
            </a:r>
          </a:p>
          <a:p>
            <a:pPr marL="0" indent="0">
              <a:buNone/>
            </a:pPr>
            <a:r>
              <a:rPr lang="en-US" altLang="en-US" dirty="0"/>
              <a:t>int main(int </a:t>
            </a:r>
            <a:r>
              <a:rPr lang="en-US" altLang="en-US" dirty="0" err="1"/>
              <a:t>argc</a:t>
            </a:r>
            <a:r>
              <a:rPr lang="en-US" altLang="en-US" dirty="0"/>
              <a:t>, char *</a:t>
            </a:r>
            <a:r>
              <a:rPr lang="en-US" altLang="en-US" dirty="0" err="1"/>
              <a:t>argv</a:t>
            </a:r>
            <a:r>
              <a:rPr lang="en-US" altLang="en-US" dirty="0"/>
              <a:t>[]) </a:t>
            </a:r>
          </a:p>
          <a:p>
            <a:pPr marL="0" indent="0">
              <a:buNone/>
            </a:pPr>
            <a:r>
              <a:rPr lang="en-US" altLang="en-US" dirty="0"/>
              <a:t>{ </a:t>
            </a:r>
          </a:p>
          <a:p>
            <a:pPr marL="0" indent="0">
              <a:buNone/>
            </a:pPr>
            <a:r>
              <a:rPr lang="en-US" altLang="en-US" dirty="0"/>
              <a:t>   int </a:t>
            </a:r>
            <a:r>
              <a:rPr lang="en-US" altLang="en-US" dirty="0" err="1"/>
              <a:t>i</a:t>
            </a:r>
            <a:r>
              <a:rPr lang="en-US" altLang="en-US" dirty="0"/>
              <a:t>, policy;</a:t>
            </a:r>
            <a:br>
              <a:rPr lang="en-US" altLang="en-US" dirty="0"/>
            </a:br>
            <a:r>
              <a:rPr lang="en-US" altLang="en-US" dirty="0"/>
              <a:t>   </a:t>
            </a:r>
            <a:r>
              <a:rPr lang="en-US" altLang="en-US" dirty="0" err="1"/>
              <a:t>pthread_t_tid</a:t>
            </a:r>
            <a:r>
              <a:rPr lang="en-US" altLang="en-US" dirty="0"/>
              <a:t>[NUM_THREADS]; </a:t>
            </a:r>
          </a:p>
          <a:p>
            <a:pPr marL="0" indent="0">
              <a:buNone/>
            </a:pPr>
            <a:r>
              <a:rPr lang="en-US" altLang="en-US" dirty="0"/>
              <a:t>   </a:t>
            </a:r>
            <a:r>
              <a:rPr lang="en-US" altLang="en-US" dirty="0" err="1"/>
              <a:t>pthread_attr_t</a:t>
            </a:r>
            <a:r>
              <a:rPr lang="en-US" altLang="en-US" dirty="0"/>
              <a:t> </a:t>
            </a:r>
            <a:r>
              <a:rPr lang="en-US" altLang="en-US" dirty="0" err="1"/>
              <a:t>attr</a:t>
            </a:r>
            <a:r>
              <a:rPr lang="en-US" altLang="en-US" dirty="0"/>
              <a:t>; </a:t>
            </a:r>
          </a:p>
          <a:p>
            <a:pPr marL="0" indent="0">
              <a:buNone/>
            </a:pPr>
            <a:r>
              <a:rPr lang="en-US" altLang="en-US" dirty="0"/>
              <a:t>   /* get the default attributes */ </a:t>
            </a:r>
          </a:p>
          <a:p>
            <a:pPr marL="0" indent="0">
              <a:buNone/>
            </a:pPr>
            <a:r>
              <a:rPr lang="en-US" altLang="en-US" dirty="0"/>
              <a:t>   </a:t>
            </a:r>
            <a:r>
              <a:rPr lang="en-US" altLang="en-US" dirty="0" err="1"/>
              <a:t>pthread_attr_init</a:t>
            </a:r>
            <a:r>
              <a:rPr lang="en-US" altLang="en-US" dirty="0"/>
              <a:t>(&amp;</a:t>
            </a:r>
            <a:r>
              <a:rPr lang="en-US" altLang="en-US" dirty="0" err="1"/>
              <a:t>attr</a:t>
            </a:r>
            <a:r>
              <a:rPr lang="en-US" altLang="en-US" dirty="0"/>
              <a:t>); </a:t>
            </a:r>
          </a:p>
          <a:p>
            <a:pPr marL="0" indent="0">
              <a:buNone/>
            </a:pPr>
            <a:r>
              <a:rPr lang="en-US" altLang="en-US" dirty="0"/>
              <a:t>   /* get the current scheduling policy */</a:t>
            </a:r>
            <a:br>
              <a:rPr lang="en-US" altLang="en-US" dirty="0"/>
            </a:br>
            <a:r>
              <a:rPr lang="en-US" altLang="en-US" dirty="0"/>
              <a:t>   if (</a:t>
            </a:r>
            <a:r>
              <a:rPr lang="en-US" altLang="en-US" dirty="0" err="1"/>
              <a:t>pthread_attr_getschedpolicy</a:t>
            </a:r>
            <a:r>
              <a:rPr lang="en-US" altLang="en-US" dirty="0"/>
              <a:t>(&amp;</a:t>
            </a:r>
            <a:r>
              <a:rPr lang="en-US" altLang="en-US" dirty="0" err="1"/>
              <a:t>attr</a:t>
            </a:r>
            <a:r>
              <a:rPr lang="en-US" altLang="en-US" dirty="0"/>
              <a:t>, &amp;policy) != 0) </a:t>
            </a:r>
          </a:p>
          <a:p>
            <a:pPr marL="0" indent="0">
              <a:buNone/>
            </a:pPr>
            <a:r>
              <a:rPr lang="en-US" altLang="en-US" dirty="0"/>
              <a:t>      </a:t>
            </a:r>
            <a:r>
              <a:rPr lang="en-US" altLang="en-US" dirty="0" err="1"/>
              <a:t>fprintf</a:t>
            </a:r>
            <a:r>
              <a:rPr lang="en-US" altLang="en-US" dirty="0"/>
              <a:t>(stderr, "Unable to get policy.\n"); </a:t>
            </a:r>
          </a:p>
          <a:p>
            <a:pPr marL="0" indent="0">
              <a:buNone/>
            </a:pPr>
            <a:r>
              <a:rPr lang="en-US" altLang="en-US" dirty="0"/>
              <a:t>   else { </a:t>
            </a:r>
          </a:p>
          <a:p>
            <a:pPr marL="0" indent="0">
              <a:buNone/>
            </a:pPr>
            <a:r>
              <a:rPr lang="en-US" altLang="en-US" dirty="0"/>
              <a:t>      if (policy == SCHED_OTHER) </a:t>
            </a:r>
            <a:r>
              <a:rPr lang="en-US" altLang="en-US" dirty="0" err="1"/>
              <a:t>printf</a:t>
            </a:r>
            <a:r>
              <a:rPr lang="en-US" altLang="en-US" dirty="0"/>
              <a:t>("SCHED_OTHER\n"); </a:t>
            </a:r>
          </a:p>
          <a:p>
            <a:pPr marL="0" indent="0">
              <a:buNone/>
            </a:pPr>
            <a:r>
              <a:rPr lang="en-US" altLang="en-US" dirty="0"/>
              <a:t>      else if (policy == SCHED_RR) </a:t>
            </a:r>
            <a:r>
              <a:rPr lang="en-US" altLang="en-US" dirty="0" err="1"/>
              <a:t>printf</a:t>
            </a:r>
            <a:r>
              <a:rPr lang="en-US" altLang="en-US" dirty="0"/>
              <a:t>("SCHED_RR\n"); </a:t>
            </a:r>
          </a:p>
          <a:p>
            <a:pPr marL="0" indent="0">
              <a:buNone/>
            </a:pPr>
            <a:r>
              <a:rPr lang="en-US" altLang="en-US" dirty="0"/>
              <a:t>      else if (policy == SCHED_FIFO) </a:t>
            </a:r>
            <a:r>
              <a:rPr lang="en-US" altLang="en-US" dirty="0" err="1"/>
              <a:t>printf</a:t>
            </a:r>
            <a:r>
              <a:rPr lang="en-US" altLang="en-US" dirty="0"/>
              <a:t>("SCHED_FIFO\n"); </a:t>
            </a:r>
          </a:p>
          <a:p>
            <a:pPr marL="0" indent="0">
              <a:buNone/>
            </a:pPr>
            <a:r>
              <a:rPr lang="en-US" altLang="en-US" dirty="0"/>
              <a:t>   } </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6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29CFE5C5-C5D0-4CA7-B035-CEFFD0E53F44}"/>
              </a:ext>
            </a:extLst>
          </p:cNvPr>
          <p:cNvSpPr>
            <a:spLocks noGrp="1" noChangeArrowheads="1"/>
          </p:cNvSpPr>
          <p:nvPr>
            <p:ph type="title"/>
          </p:nvPr>
        </p:nvSpPr>
        <p:spPr>
          <a:xfrm>
            <a:off x="838200" y="47625"/>
            <a:ext cx="10515600" cy="1325563"/>
          </a:xfrm>
        </p:spPr>
        <p:txBody>
          <a:bodyPr/>
          <a:lstStyle/>
          <a:p>
            <a:r>
              <a:rPr lang="en-US" altLang="en-US" dirty="0"/>
              <a:t>POSIX Real-Time Scheduling API</a:t>
            </a:r>
          </a:p>
        </p:txBody>
      </p:sp>
      <p:sp>
        <p:nvSpPr>
          <p:cNvPr id="106498" name="Rectangle 3">
            <a:extLst>
              <a:ext uri="{FF2B5EF4-FFF2-40B4-BE49-F238E27FC236}">
                <a16:creationId xmlns:a16="http://schemas.microsoft.com/office/drawing/2014/main" id="{2E06EF5B-FE80-44B3-BB02-57C4BE650B77}"/>
              </a:ext>
            </a:extLst>
          </p:cNvPr>
          <p:cNvSpPr>
            <a:spLocks noGrp="1" noChangeArrowheads="1"/>
          </p:cNvSpPr>
          <p:nvPr>
            <p:ph idx="1"/>
          </p:nvPr>
        </p:nvSpPr>
        <p:spPr>
          <a:xfrm>
            <a:off x="838200" y="1419224"/>
            <a:ext cx="10515600" cy="4937126"/>
          </a:xfrm>
        </p:spPr>
        <p:txBody>
          <a:bodyPr>
            <a:normAutofit fontScale="62500" lnSpcReduction="20000"/>
          </a:bodyPr>
          <a:lstStyle/>
          <a:p>
            <a:pPr marL="0" indent="0">
              <a:buNone/>
            </a:pPr>
            <a:r>
              <a:rPr lang="en-US" altLang="en-US" dirty="0"/>
              <a:t>   /* set the scheduling policy - FIFO, RR, or OTHER */ </a:t>
            </a:r>
            <a:br>
              <a:rPr lang="en-US" altLang="en-US" dirty="0"/>
            </a:br>
            <a:r>
              <a:rPr lang="en-US" altLang="en-US" dirty="0"/>
              <a:t>   if (</a:t>
            </a:r>
            <a:r>
              <a:rPr lang="en-US" altLang="en-US" dirty="0" err="1"/>
              <a:t>pthread_attr_setschedpolicy</a:t>
            </a:r>
            <a:r>
              <a:rPr lang="en-US" altLang="en-US" dirty="0"/>
              <a:t>(&amp;</a:t>
            </a:r>
            <a:r>
              <a:rPr lang="en-US" altLang="en-US" dirty="0" err="1"/>
              <a:t>attr</a:t>
            </a:r>
            <a:r>
              <a:rPr lang="en-US" altLang="en-US" dirty="0"/>
              <a:t>, SCHED_FIFO) != 0) </a:t>
            </a:r>
          </a:p>
          <a:p>
            <a:pPr marL="0" indent="0">
              <a:buNone/>
            </a:pPr>
            <a:r>
              <a:rPr lang="en-US" altLang="en-US" dirty="0"/>
              <a:t>      </a:t>
            </a:r>
            <a:r>
              <a:rPr lang="en-US" altLang="en-US" dirty="0" err="1"/>
              <a:t>fprintf</a:t>
            </a:r>
            <a:r>
              <a:rPr lang="en-US" altLang="en-US" dirty="0"/>
              <a:t>(stderr, "Unable to set policy.\n"); </a:t>
            </a:r>
          </a:p>
          <a:p>
            <a:pPr marL="0" indent="0">
              <a:buNone/>
            </a:pPr>
            <a:r>
              <a:rPr lang="en-US" altLang="en-US" dirty="0"/>
              <a:t>   /* create the threads */</a:t>
            </a:r>
            <a:br>
              <a:rPr lang="en-US" altLang="en-US" dirty="0"/>
            </a:br>
            <a:r>
              <a:rPr lang="en-US" altLang="en-US" dirty="0"/>
              <a:t>   for (</a:t>
            </a:r>
            <a:r>
              <a:rPr lang="en-US" altLang="en-US" dirty="0" err="1"/>
              <a:t>i</a:t>
            </a:r>
            <a:r>
              <a:rPr lang="en-US" altLang="en-US" dirty="0"/>
              <a:t> = 0; </a:t>
            </a:r>
            <a:r>
              <a:rPr lang="en-US" altLang="en-US" dirty="0" err="1"/>
              <a:t>i</a:t>
            </a:r>
            <a:r>
              <a:rPr lang="en-US" altLang="en-US" dirty="0"/>
              <a:t> &lt; NUM_THREADS; </a:t>
            </a:r>
            <a:r>
              <a:rPr lang="en-US" altLang="en-US" dirty="0" err="1"/>
              <a:t>i</a:t>
            </a:r>
            <a:r>
              <a:rPr lang="en-US" altLang="en-US" dirty="0"/>
              <a:t>++) </a:t>
            </a:r>
          </a:p>
          <a:p>
            <a:pPr marL="0" indent="0">
              <a:buNone/>
            </a:pPr>
            <a:r>
              <a:rPr lang="en-US" altLang="en-US" dirty="0"/>
              <a:t>      </a:t>
            </a:r>
            <a:r>
              <a:rPr lang="en-US" altLang="en-US" dirty="0" err="1"/>
              <a:t>pthread_create</a:t>
            </a:r>
            <a:r>
              <a:rPr lang="en-US" altLang="en-US" dirty="0"/>
              <a:t>(&amp;</a:t>
            </a:r>
            <a:r>
              <a:rPr lang="en-US" altLang="en-US" dirty="0" err="1"/>
              <a:t>tid</a:t>
            </a:r>
            <a:r>
              <a:rPr lang="en-US" altLang="en-US" dirty="0"/>
              <a:t>[</a:t>
            </a:r>
            <a:r>
              <a:rPr lang="en-US" altLang="en-US" dirty="0" err="1"/>
              <a:t>i</a:t>
            </a:r>
            <a:r>
              <a:rPr lang="en-US" altLang="en-US" dirty="0"/>
              <a:t>],&amp;</a:t>
            </a:r>
            <a:r>
              <a:rPr lang="en-US" altLang="en-US" dirty="0" err="1"/>
              <a:t>attr,runner,NULL</a:t>
            </a:r>
            <a:r>
              <a:rPr lang="en-US" altLang="en-US" dirty="0"/>
              <a:t>); </a:t>
            </a:r>
          </a:p>
          <a:p>
            <a:pPr marL="0" indent="0">
              <a:buNone/>
            </a:pPr>
            <a:r>
              <a:rPr lang="en-US" altLang="en-US" dirty="0"/>
              <a:t>   /* now join on each thread */</a:t>
            </a:r>
            <a:br>
              <a:rPr lang="en-US" altLang="en-US" dirty="0"/>
            </a:br>
            <a:r>
              <a:rPr lang="en-US" altLang="en-US" dirty="0"/>
              <a:t>   for (</a:t>
            </a:r>
            <a:r>
              <a:rPr lang="en-US" altLang="en-US" dirty="0" err="1"/>
              <a:t>i</a:t>
            </a:r>
            <a:r>
              <a:rPr lang="en-US" altLang="en-US" dirty="0"/>
              <a:t> = 0; </a:t>
            </a:r>
            <a:r>
              <a:rPr lang="en-US" altLang="en-US" dirty="0" err="1"/>
              <a:t>i</a:t>
            </a:r>
            <a:r>
              <a:rPr lang="en-US" altLang="en-US" dirty="0"/>
              <a:t> &lt; NUM_THREADS; </a:t>
            </a:r>
            <a:r>
              <a:rPr lang="en-US" altLang="en-US" dirty="0" err="1"/>
              <a:t>i</a:t>
            </a:r>
            <a:r>
              <a:rPr lang="en-US" altLang="en-US" dirty="0"/>
              <a:t>++) </a:t>
            </a:r>
          </a:p>
          <a:p>
            <a:pPr marL="0" indent="0">
              <a:buNone/>
            </a:pPr>
            <a:r>
              <a:rPr lang="en-US" altLang="en-US" dirty="0"/>
              <a:t>      </a:t>
            </a:r>
            <a:r>
              <a:rPr lang="en-US" altLang="en-US" dirty="0" err="1"/>
              <a:t>pthread_join</a:t>
            </a:r>
            <a:r>
              <a:rPr lang="en-US" altLang="en-US" dirty="0"/>
              <a:t>(</a:t>
            </a:r>
            <a:r>
              <a:rPr lang="en-US" altLang="en-US" dirty="0" err="1"/>
              <a:t>tid</a:t>
            </a:r>
            <a:r>
              <a:rPr lang="en-US" altLang="en-US" dirty="0"/>
              <a:t>[</a:t>
            </a:r>
            <a:r>
              <a:rPr lang="en-US" altLang="en-US" dirty="0" err="1"/>
              <a:t>i</a:t>
            </a:r>
            <a:r>
              <a:rPr lang="en-US" altLang="en-US" dirty="0"/>
              <a:t>], NULL); </a:t>
            </a:r>
          </a:p>
          <a:p>
            <a:pPr marL="0" indent="0">
              <a:buNone/>
            </a:pPr>
            <a:r>
              <a:rPr lang="en-US" altLang="en-US" dirty="0"/>
              <a:t>}</a:t>
            </a:r>
          </a:p>
          <a:p>
            <a:pPr marL="0" indent="0">
              <a:buNone/>
            </a:pPr>
            <a:r>
              <a:rPr lang="en-US" altLang="en-US" dirty="0"/>
              <a:t> </a:t>
            </a:r>
          </a:p>
          <a:p>
            <a:pPr marL="0" indent="0">
              <a:buNone/>
            </a:pPr>
            <a:r>
              <a:rPr lang="en-US" altLang="en-US" dirty="0"/>
              <a:t>/* Each thread will begin control in this function */ </a:t>
            </a:r>
          </a:p>
          <a:p>
            <a:pPr marL="0" indent="0">
              <a:buNone/>
            </a:pPr>
            <a:r>
              <a:rPr lang="en-US" altLang="en-US" dirty="0"/>
              <a:t>void *runner(void *param)</a:t>
            </a:r>
            <a:br>
              <a:rPr lang="en-US" altLang="en-US" dirty="0"/>
            </a:br>
            <a:r>
              <a:rPr lang="en-US" altLang="en-US" dirty="0"/>
              <a:t>{ </a:t>
            </a:r>
          </a:p>
          <a:p>
            <a:pPr marL="0" indent="0">
              <a:buNone/>
            </a:pPr>
            <a:r>
              <a:rPr lang="en-US" altLang="en-US" dirty="0"/>
              <a:t>   /* do some work ... */ </a:t>
            </a:r>
          </a:p>
          <a:p>
            <a:pPr marL="0" indent="0">
              <a:buNone/>
            </a:pPr>
            <a:r>
              <a:rPr lang="en-US" altLang="en-US" dirty="0"/>
              <a:t>   </a:t>
            </a:r>
            <a:r>
              <a:rPr lang="en-US" altLang="en-US" dirty="0" err="1"/>
              <a:t>pthread_exit</a:t>
            </a:r>
            <a:r>
              <a:rPr lang="en-US" altLang="en-US" dirty="0"/>
              <a:t>(0); </a:t>
            </a:r>
          </a:p>
          <a:p>
            <a:pPr marL="0" indent="0">
              <a:buNone/>
            </a:pPr>
            <a:r>
              <a:rPr lang="en-US" altLang="en-US" dirty="0"/>
              <a:t>} </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EB9BF7-A67D-4EE2-8727-07F694584FEF}"/>
              </a:ext>
            </a:extLst>
          </p:cNvPr>
          <p:cNvSpPr>
            <a:spLocks noGrp="1"/>
          </p:cNvSpPr>
          <p:nvPr>
            <p:ph type="title"/>
          </p:nvPr>
        </p:nvSpPr>
        <p:spPr/>
        <p:txBody>
          <a:bodyPr/>
          <a:lstStyle/>
          <a:p>
            <a:r>
              <a:rPr lang="en-US" dirty="0"/>
              <a:t>Operating System Examples</a:t>
            </a:r>
          </a:p>
        </p:txBody>
      </p:sp>
      <p:sp>
        <p:nvSpPr>
          <p:cNvPr id="3" name="Text Placeholder 2">
            <a:extLst>
              <a:ext uri="{FF2B5EF4-FFF2-40B4-BE49-F238E27FC236}">
                <a16:creationId xmlns:a16="http://schemas.microsoft.com/office/drawing/2014/main" id="{55296C4D-593F-4A37-8310-99AF520476FB}"/>
              </a:ext>
            </a:extLst>
          </p:cNvPr>
          <p:cNvSpPr>
            <a:spLocks noGrp="1"/>
          </p:cNvSpPr>
          <p:nvPr>
            <p:ph type="body" idx="1"/>
          </p:nvPr>
        </p:nvSpPr>
        <p:spPr/>
        <p:txBody>
          <a:bodyPr/>
          <a:lstStyle/>
          <a:p>
            <a:r>
              <a:rPr lang="en-US" dirty="0"/>
              <a:t>Unix, Linux, Windows, and Solaris scheduling</a:t>
            </a:r>
          </a:p>
          <a:p>
            <a:endParaRPr lang="en-US" dirty="0"/>
          </a:p>
        </p:txBody>
      </p:sp>
    </p:spTree>
    <p:extLst>
      <p:ext uri="{BB962C8B-B14F-4D97-AF65-F5344CB8AC3E}">
        <p14:creationId xmlns:p14="http://schemas.microsoft.com/office/powerpoint/2010/main" val="334564844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5" name="Rectangle 2">
            <a:extLst>
              <a:ext uri="{FF2B5EF4-FFF2-40B4-BE49-F238E27FC236}">
                <a16:creationId xmlns:a16="http://schemas.microsoft.com/office/drawing/2014/main" id="{E181A9CF-D82A-47BC-AB9C-DC9AFB414DC6}"/>
              </a:ext>
            </a:extLst>
          </p:cNvPr>
          <p:cNvSpPr>
            <a:spLocks noGrp="1" noChangeArrowheads="1"/>
          </p:cNvSpPr>
          <p:nvPr>
            <p:ph type="title"/>
          </p:nvPr>
        </p:nvSpPr>
        <p:spPr>
          <a:xfrm>
            <a:off x="838200" y="47625"/>
            <a:ext cx="10515600" cy="1325563"/>
          </a:xfrm>
        </p:spPr>
        <p:txBody>
          <a:bodyPr>
            <a:normAutofit/>
          </a:bodyPr>
          <a:lstStyle/>
          <a:p>
            <a:r>
              <a:rPr lang="en-US" altLang="en-US" dirty="0"/>
              <a:t>Operating System Examples</a:t>
            </a:r>
          </a:p>
        </p:txBody>
      </p:sp>
      <p:sp>
        <p:nvSpPr>
          <p:cNvPr id="108546" name="Rectangle 3">
            <a:extLst>
              <a:ext uri="{FF2B5EF4-FFF2-40B4-BE49-F238E27FC236}">
                <a16:creationId xmlns:a16="http://schemas.microsoft.com/office/drawing/2014/main" id="{70A19F9C-142A-4E79-B8AA-6FCF25AA622F}"/>
              </a:ext>
            </a:extLst>
          </p:cNvPr>
          <p:cNvSpPr>
            <a:spLocks noGrp="1" noChangeArrowheads="1"/>
          </p:cNvSpPr>
          <p:nvPr>
            <p:ph idx="1"/>
          </p:nvPr>
        </p:nvSpPr>
        <p:spPr>
          <a:xfrm>
            <a:off x="838200" y="1419224"/>
            <a:ext cx="10515600" cy="4937126"/>
          </a:xfrm>
        </p:spPr>
        <p:txBody>
          <a:bodyPr/>
          <a:lstStyle/>
          <a:p>
            <a:r>
              <a:rPr lang="en-US" altLang="en-US" dirty="0"/>
              <a:t>Linux scheduling</a:t>
            </a:r>
          </a:p>
          <a:p>
            <a:r>
              <a:rPr lang="en-US" altLang="en-US" dirty="0"/>
              <a:t>Windows scheduling</a:t>
            </a:r>
          </a:p>
          <a:p>
            <a:r>
              <a:rPr lang="en-US" altLang="en-US" dirty="0"/>
              <a:t>Solaris scheduling</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2"/>
          <p:cNvSpPr>
            <a:spLocks noGrp="1" noChangeArrowheads="1"/>
          </p:cNvSpPr>
          <p:nvPr>
            <p:ph type="title"/>
          </p:nvPr>
        </p:nvSpPr>
        <p:spPr/>
        <p:txBody>
          <a:bodyPr/>
          <a:lstStyle/>
          <a:p>
            <a:pPr eaLnBrk="1" hangingPunct="1">
              <a:defRPr/>
            </a:pPr>
            <a:r>
              <a:rPr lang="en-US"/>
              <a:t>BSD Unix Scheduling</a:t>
            </a:r>
          </a:p>
        </p:txBody>
      </p:sp>
      <p:sp>
        <p:nvSpPr>
          <p:cNvPr id="52229" name="Rectangle 3"/>
          <p:cNvSpPr>
            <a:spLocks noGrp="1" noChangeArrowheads="1"/>
          </p:cNvSpPr>
          <p:nvPr>
            <p:ph type="body" idx="1"/>
          </p:nvPr>
        </p:nvSpPr>
        <p:spPr/>
        <p:txBody>
          <a:bodyPr>
            <a:normAutofit/>
          </a:bodyPr>
          <a:lstStyle/>
          <a:p>
            <a:pPr eaLnBrk="1" hangingPunct="1">
              <a:lnSpc>
                <a:spcPct val="90000"/>
              </a:lnSpc>
            </a:pPr>
            <a:r>
              <a:rPr lang="en-US" sz="2400" dirty="0"/>
              <a:t>BSD Unix uses multilevel feed back queue approach, with 32 run queues</a:t>
            </a:r>
          </a:p>
          <a:p>
            <a:pPr eaLnBrk="1" hangingPunct="1">
              <a:lnSpc>
                <a:spcPct val="90000"/>
              </a:lnSpc>
            </a:pPr>
            <a:r>
              <a:rPr lang="en-US" sz="2400" dirty="0"/>
              <a:t>System processes use run queues </a:t>
            </a:r>
            <a:r>
              <a:rPr lang="en-US" sz="2400" b="1" dirty="0"/>
              <a:t>0</a:t>
            </a:r>
            <a:r>
              <a:rPr lang="en-US" sz="2400" dirty="0"/>
              <a:t> through </a:t>
            </a:r>
            <a:r>
              <a:rPr lang="en-US" sz="2400" b="1" dirty="0"/>
              <a:t>7</a:t>
            </a:r>
          </a:p>
          <a:p>
            <a:pPr eaLnBrk="1" hangingPunct="1">
              <a:lnSpc>
                <a:spcPct val="90000"/>
              </a:lnSpc>
            </a:pPr>
            <a:r>
              <a:rPr lang="en-US" sz="2400" dirty="0"/>
              <a:t>User processes use run queues 8 through 31</a:t>
            </a:r>
          </a:p>
          <a:p>
            <a:pPr eaLnBrk="1" hangingPunct="1">
              <a:lnSpc>
                <a:spcPct val="90000"/>
              </a:lnSpc>
            </a:pPr>
            <a:r>
              <a:rPr lang="en-US" sz="2400" dirty="0"/>
              <a:t>The dispatcher selects a process from higher priority queue</a:t>
            </a:r>
          </a:p>
          <a:p>
            <a:pPr eaLnBrk="1" hangingPunct="1">
              <a:lnSpc>
                <a:spcPct val="90000"/>
              </a:lnSpc>
            </a:pPr>
            <a:r>
              <a:rPr lang="en-US" sz="2400" dirty="0"/>
              <a:t>Within a queue RR scheduling is used</a:t>
            </a:r>
          </a:p>
          <a:p>
            <a:pPr eaLnBrk="1" hangingPunct="1">
              <a:lnSpc>
                <a:spcPct val="90000"/>
              </a:lnSpc>
            </a:pPr>
            <a:r>
              <a:rPr lang="en-US" sz="2400" dirty="0"/>
              <a:t>Time quantum vary among implementation, but all are less than 100ms</a:t>
            </a:r>
          </a:p>
          <a:p>
            <a:pPr eaLnBrk="1" hangingPunct="1">
              <a:lnSpc>
                <a:spcPct val="90000"/>
              </a:lnSpc>
            </a:pPr>
            <a:r>
              <a:rPr lang="en-US" sz="2400" dirty="0"/>
              <a:t>Each process has an external nice priority</a:t>
            </a:r>
          </a:p>
          <a:p>
            <a:pPr eaLnBrk="1" hangingPunct="1">
              <a:lnSpc>
                <a:spcPct val="90000"/>
              </a:lnSpc>
            </a:pPr>
            <a:r>
              <a:rPr lang="en-US" sz="2400" dirty="0"/>
              <a:t>The nice priority can vary between -20 and 20, -20 is the highest, 20 is the lowest user priority</a:t>
            </a:r>
          </a:p>
          <a:p>
            <a:pPr eaLnBrk="1" hangingPunct="1">
              <a:lnSpc>
                <a:spcPct val="90000"/>
              </a:lnSpc>
            </a:pPr>
            <a:r>
              <a:rPr lang="en-US" sz="2400" dirty="0"/>
              <a:t>Each process’s current priority id recalculated after each time quantum</a:t>
            </a:r>
          </a:p>
        </p:txBody>
      </p:sp>
    </p:spTree>
    <p:extLst>
      <p:ext uri="{BB962C8B-B14F-4D97-AF65-F5344CB8AC3E}">
        <p14:creationId xmlns:p14="http://schemas.microsoft.com/office/powerpoint/2010/main" val="322216796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3" name="Rectangle 2">
            <a:extLst>
              <a:ext uri="{FF2B5EF4-FFF2-40B4-BE49-F238E27FC236}">
                <a16:creationId xmlns:a16="http://schemas.microsoft.com/office/drawing/2014/main" id="{8169387F-9479-4DF2-BB9E-7943E278796F}"/>
              </a:ext>
            </a:extLst>
          </p:cNvPr>
          <p:cNvSpPr>
            <a:spLocks noGrp="1" noChangeArrowheads="1"/>
          </p:cNvSpPr>
          <p:nvPr>
            <p:ph type="title"/>
          </p:nvPr>
        </p:nvSpPr>
        <p:spPr>
          <a:xfrm>
            <a:off x="838200" y="47625"/>
            <a:ext cx="10515600" cy="1325563"/>
          </a:xfrm>
        </p:spPr>
        <p:txBody>
          <a:bodyPr/>
          <a:lstStyle/>
          <a:p>
            <a:r>
              <a:rPr lang="en-US" altLang="en-US" dirty="0"/>
              <a:t>Linux Scheduling Through Version 2.5</a:t>
            </a:r>
          </a:p>
        </p:txBody>
      </p:sp>
      <p:sp>
        <p:nvSpPr>
          <p:cNvPr id="110594" name="Rectangle 3">
            <a:extLst>
              <a:ext uri="{FF2B5EF4-FFF2-40B4-BE49-F238E27FC236}">
                <a16:creationId xmlns:a16="http://schemas.microsoft.com/office/drawing/2014/main" id="{1C80CB74-75D9-44E9-B5BE-5FA82CDE499B}"/>
              </a:ext>
            </a:extLst>
          </p:cNvPr>
          <p:cNvSpPr>
            <a:spLocks noGrp="1" noChangeArrowheads="1"/>
          </p:cNvSpPr>
          <p:nvPr>
            <p:ph idx="1"/>
          </p:nvPr>
        </p:nvSpPr>
        <p:spPr>
          <a:xfrm>
            <a:off x="838200" y="1419224"/>
            <a:ext cx="10515600" cy="4937126"/>
          </a:xfrm>
        </p:spPr>
        <p:txBody>
          <a:bodyPr>
            <a:normAutofit fontScale="92500" lnSpcReduction="20000"/>
          </a:bodyPr>
          <a:lstStyle/>
          <a:p>
            <a:r>
              <a:rPr lang="en-US" altLang="en-US" dirty="0"/>
              <a:t>Prior to kernel version 2.5, ran variation of standard UNIX scheduling algorithm</a:t>
            </a:r>
          </a:p>
          <a:p>
            <a:r>
              <a:rPr lang="en-US" altLang="en-US" dirty="0"/>
              <a:t>Version 2.5 moved to constant order O(1) scheduling time</a:t>
            </a:r>
          </a:p>
          <a:p>
            <a:pPr lvl="1"/>
            <a:r>
              <a:rPr lang="en-US" altLang="en-US" dirty="0"/>
              <a:t>Preemptive, priority based</a:t>
            </a:r>
          </a:p>
          <a:p>
            <a:pPr lvl="1"/>
            <a:r>
              <a:rPr lang="en-US" altLang="en-US" dirty="0"/>
              <a:t>Two priority ranges: time-sharing and real-time</a:t>
            </a:r>
          </a:p>
          <a:p>
            <a:pPr lvl="1"/>
            <a:r>
              <a:rPr lang="en-US" altLang="en-US" dirty="0"/>
              <a:t>Real-time range from 0 to 99 and nice value from 100 to 140</a:t>
            </a:r>
          </a:p>
          <a:p>
            <a:pPr lvl="1"/>
            <a:r>
              <a:rPr lang="en-US" altLang="en-US" dirty="0"/>
              <a:t>Map into  global priority with numerically lower values indicating higher priority</a:t>
            </a:r>
          </a:p>
          <a:p>
            <a:pPr lvl="1"/>
            <a:r>
              <a:rPr lang="en-US" altLang="en-US" dirty="0"/>
              <a:t>Higher priority gets larger q</a:t>
            </a:r>
          </a:p>
          <a:p>
            <a:pPr lvl="1"/>
            <a:r>
              <a:rPr lang="en-US" altLang="en-US" dirty="0"/>
              <a:t>Task run-able as long as time left in time slice (</a:t>
            </a:r>
            <a:r>
              <a:rPr lang="en-US" altLang="en-US" dirty="0">
                <a:solidFill>
                  <a:schemeClr val="accent1">
                    <a:lumMod val="75000"/>
                  </a:schemeClr>
                </a:solidFill>
              </a:rPr>
              <a:t>active</a:t>
            </a:r>
            <a:r>
              <a:rPr lang="en-US" altLang="en-US" dirty="0"/>
              <a:t>)</a:t>
            </a:r>
          </a:p>
          <a:p>
            <a:pPr lvl="1"/>
            <a:r>
              <a:rPr lang="en-US" altLang="en-US" dirty="0"/>
              <a:t>If no time left (</a:t>
            </a:r>
            <a:r>
              <a:rPr lang="en-US" altLang="en-US" dirty="0">
                <a:solidFill>
                  <a:schemeClr val="accent1">
                    <a:lumMod val="75000"/>
                  </a:schemeClr>
                </a:solidFill>
              </a:rPr>
              <a:t>expired</a:t>
            </a:r>
            <a:r>
              <a:rPr lang="en-US" altLang="en-US" dirty="0"/>
              <a:t>), not run-able until all other tasks use their slices</a:t>
            </a:r>
          </a:p>
          <a:p>
            <a:pPr lvl="1"/>
            <a:r>
              <a:rPr lang="en-US" altLang="en-US" dirty="0"/>
              <a:t>All run-able tasks tracked in per-CPU </a:t>
            </a:r>
            <a:r>
              <a:rPr lang="en-US" altLang="en-US" dirty="0" err="1">
                <a:solidFill>
                  <a:schemeClr val="accent1">
                    <a:lumMod val="75000"/>
                  </a:schemeClr>
                </a:solidFill>
              </a:rPr>
              <a:t>runqueue</a:t>
            </a:r>
            <a:r>
              <a:rPr lang="en-US" altLang="en-US" dirty="0"/>
              <a:t> data structure</a:t>
            </a:r>
          </a:p>
          <a:p>
            <a:pPr lvl="2"/>
            <a:r>
              <a:rPr lang="en-US" altLang="en-US" dirty="0"/>
              <a:t>Two priority arrays (active, expired)</a:t>
            </a:r>
          </a:p>
          <a:p>
            <a:pPr lvl="2"/>
            <a:r>
              <a:rPr lang="en-US" altLang="en-US" dirty="0"/>
              <a:t>Tasks indexed by priority</a:t>
            </a:r>
          </a:p>
          <a:p>
            <a:pPr lvl="2"/>
            <a:r>
              <a:rPr lang="en-US" altLang="en-US" dirty="0"/>
              <a:t>When no more active, arrays are exchanged</a:t>
            </a:r>
          </a:p>
          <a:p>
            <a:pPr lvl="1"/>
            <a:r>
              <a:rPr lang="en-US" altLang="en-US" dirty="0"/>
              <a:t>Worked well, but poor response times for interactive processes</a:t>
            </a:r>
          </a:p>
          <a:p>
            <a:endParaRPr lang="en-US" altLang="en-US"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1" name="Rectangle 2">
            <a:extLst>
              <a:ext uri="{FF2B5EF4-FFF2-40B4-BE49-F238E27FC236}">
                <a16:creationId xmlns:a16="http://schemas.microsoft.com/office/drawing/2014/main" id="{72308EB8-7072-4BEA-AF27-9B27AEE14DED}"/>
              </a:ext>
            </a:extLst>
          </p:cNvPr>
          <p:cNvSpPr>
            <a:spLocks noGrp="1" noChangeArrowheads="1"/>
          </p:cNvSpPr>
          <p:nvPr>
            <p:ph type="title"/>
          </p:nvPr>
        </p:nvSpPr>
        <p:spPr>
          <a:xfrm>
            <a:off x="838200" y="47625"/>
            <a:ext cx="10515600" cy="1325563"/>
          </a:xfrm>
        </p:spPr>
        <p:txBody>
          <a:bodyPr>
            <a:normAutofit/>
          </a:bodyPr>
          <a:lstStyle/>
          <a:p>
            <a:r>
              <a:rPr lang="en-US" altLang="en-US" dirty="0"/>
              <a:t>Linux Scheduling in Version 2.6.23 +</a:t>
            </a:r>
          </a:p>
        </p:txBody>
      </p:sp>
      <p:sp>
        <p:nvSpPr>
          <p:cNvPr id="112642" name="Rectangle 3">
            <a:extLst>
              <a:ext uri="{FF2B5EF4-FFF2-40B4-BE49-F238E27FC236}">
                <a16:creationId xmlns:a16="http://schemas.microsoft.com/office/drawing/2014/main" id="{2B145118-E234-40BA-B90B-2874CDDAE191}"/>
              </a:ext>
            </a:extLst>
          </p:cNvPr>
          <p:cNvSpPr>
            <a:spLocks noGrp="1" noChangeArrowheads="1"/>
          </p:cNvSpPr>
          <p:nvPr>
            <p:ph idx="1"/>
          </p:nvPr>
        </p:nvSpPr>
        <p:spPr>
          <a:xfrm>
            <a:off x="838200" y="1419224"/>
            <a:ext cx="10515600" cy="4937126"/>
          </a:xfrm>
        </p:spPr>
        <p:txBody>
          <a:bodyPr/>
          <a:lstStyle/>
          <a:p>
            <a:pPr marL="0" indent="0">
              <a:buNone/>
            </a:pPr>
            <a:r>
              <a:rPr lang="en-US" altLang="en-US" dirty="0">
                <a:solidFill>
                  <a:schemeClr val="accent1">
                    <a:lumMod val="75000"/>
                  </a:schemeClr>
                </a:solidFill>
              </a:rPr>
              <a:t>Completely Fair Scheduler (CFS)</a:t>
            </a:r>
          </a:p>
          <a:p>
            <a:r>
              <a:rPr lang="en-US" altLang="en-US" dirty="0"/>
              <a:t>Scheduling classes</a:t>
            </a:r>
          </a:p>
          <a:p>
            <a:pPr lvl="1"/>
            <a:r>
              <a:rPr lang="en-US" altLang="en-US" dirty="0"/>
              <a:t>Each has specific priority</a:t>
            </a:r>
          </a:p>
          <a:p>
            <a:pPr lvl="1"/>
            <a:r>
              <a:rPr lang="en-US" altLang="en-US" dirty="0"/>
              <a:t>Scheduler picks highest priority task in highest scheduling class</a:t>
            </a:r>
          </a:p>
          <a:p>
            <a:pPr lvl="1"/>
            <a:r>
              <a:rPr lang="en-US" altLang="en-US" dirty="0"/>
              <a:t>Rather than quantum based on fixed time allotments, based on proportion of CPU time</a:t>
            </a:r>
          </a:p>
          <a:p>
            <a:pPr lvl="1"/>
            <a:r>
              <a:rPr lang="en-US" altLang="en-US" dirty="0"/>
              <a:t>Two scheduling classes included, others can be added</a:t>
            </a:r>
          </a:p>
          <a:p>
            <a:pPr lvl="2"/>
            <a:r>
              <a:rPr lang="en-US" altLang="en-US" dirty="0"/>
              <a:t>default</a:t>
            </a:r>
          </a:p>
          <a:p>
            <a:pPr lvl="2"/>
            <a:r>
              <a:rPr lang="en-US" altLang="en-US" dirty="0"/>
              <a:t>real-time</a:t>
            </a:r>
          </a:p>
          <a:p>
            <a:pPr lvl="1"/>
            <a:endParaRPr lang="en-US" altLang="en-US" dirty="0"/>
          </a:p>
        </p:txBody>
      </p:sp>
    </p:spTree>
    <p:extLst>
      <p:ext uri="{BB962C8B-B14F-4D97-AF65-F5344CB8AC3E}">
        <p14:creationId xmlns:p14="http://schemas.microsoft.com/office/powerpoint/2010/main" val="124089464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1" name="Rectangle 2">
            <a:extLst>
              <a:ext uri="{FF2B5EF4-FFF2-40B4-BE49-F238E27FC236}">
                <a16:creationId xmlns:a16="http://schemas.microsoft.com/office/drawing/2014/main" id="{72308EB8-7072-4BEA-AF27-9B27AEE14DED}"/>
              </a:ext>
            </a:extLst>
          </p:cNvPr>
          <p:cNvSpPr>
            <a:spLocks noGrp="1" noChangeArrowheads="1"/>
          </p:cNvSpPr>
          <p:nvPr>
            <p:ph type="title"/>
          </p:nvPr>
        </p:nvSpPr>
        <p:spPr>
          <a:xfrm>
            <a:off x="838200" y="47625"/>
            <a:ext cx="10515600" cy="1325563"/>
          </a:xfrm>
        </p:spPr>
        <p:txBody>
          <a:bodyPr/>
          <a:lstStyle/>
          <a:p>
            <a:r>
              <a:rPr lang="en-US" altLang="en-US" dirty="0"/>
              <a:t>Linux Scheduling in Version 2.6.23 +</a:t>
            </a:r>
          </a:p>
        </p:txBody>
      </p:sp>
      <p:sp>
        <p:nvSpPr>
          <p:cNvPr id="112642" name="Rectangle 3">
            <a:extLst>
              <a:ext uri="{FF2B5EF4-FFF2-40B4-BE49-F238E27FC236}">
                <a16:creationId xmlns:a16="http://schemas.microsoft.com/office/drawing/2014/main" id="{2B145118-E234-40BA-B90B-2874CDDAE191}"/>
              </a:ext>
            </a:extLst>
          </p:cNvPr>
          <p:cNvSpPr>
            <a:spLocks noGrp="1" noChangeArrowheads="1"/>
          </p:cNvSpPr>
          <p:nvPr>
            <p:ph idx="1"/>
          </p:nvPr>
        </p:nvSpPr>
        <p:spPr>
          <a:xfrm>
            <a:off x="838200" y="1419224"/>
            <a:ext cx="10515600" cy="4937126"/>
          </a:xfrm>
        </p:spPr>
        <p:txBody>
          <a:bodyPr>
            <a:normAutofit/>
          </a:bodyPr>
          <a:lstStyle/>
          <a:p>
            <a:r>
              <a:rPr lang="en-US" altLang="en-US" dirty="0"/>
              <a:t>Quantum calculated based on </a:t>
            </a:r>
            <a:r>
              <a:rPr lang="en-US" altLang="en-US" dirty="0">
                <a:solidFill>
                  <a:schemeClr val="accent1">
                    <a:lumMod val="75000"/>
                  </a:schemeClr>
                </a:solidFill>
              </a:rPr>
              <a:t>nice value </a:t>
            </a:r>
            <a:r>
              <a:rPr lang="en-US" altLang="en-US" dirty="0"/>
              <a:t>from -20 to +19</a:t>
            </a:r>
          </a:p>
          <a:p>
            <a:pPr lvl="1"/>
            <a:r>
              <a:rPr lang="en-US" altLang="en-US" dirty="0"/>
              <a:t>Lower value is higher priority</a:t>
            </a:r>
          </a:p>
          <a:p>
            <a:pPr lvl="1"/>
            <a:r>
              <a:rPr lang="en-US" altLang="en-US" dirty="0"/>
              <a:t>Calculates </a:t>
            </a:r>
            <a:r>
              <a:rPr lang="en-US" altLang="en-US" dirty="0">
                <a:solidFill>
                  <a:schemeClr val="accent1">
                    <a:lumMod val="75000"/>
                  </a:schemeClr>
                </a:solidFill>
              </a:rPr>
              <a:t>target latency </a:t>
            </a:r>
            <a:r>
              <a:rPr lang="en-US" altLang="en-US" dirty="0"/>
              <a:t>– interval of time during which task should run at least once</a:t>
            </a:r>
          </a:p>
          <a:p>
            <a:pPr lvl="1"/>
            <a:r>
              <a:rPr lang="en-US" altLang="en-US" dirty="0"/>
              <a:t>Target latency can increase if say number of active tasks increases</a:t>
            </a:r>
          </a:p>
          <a:p>
            <a:r>
              <a:rPr lang="en-US" altLang="en-US" dirty="0"/>
              <a:t>CFS scheduler maintains per task </a:t>
            </a:r>
            <a:r>
              <a:rPr lang="en-US" altLang="en-US" dirty="0">
                <a:solidFill>
                  <a:schemeClr val="accent1">
                    <a:lumMod val="75000"/>
                  </a:schemeClr>
                </a:solidFill>
              </a:rPr>
              <a:t>virtual run time </a:t>
            </a:r>
            <a:r>
              <a:rPr lang="en-US" altLang="en-US" dirty="0"/>
              <a:t>in variable </a:t>
            </a:r>
            <a:r>
              <a:rPr lang="en-US" altLang="en-US" b="1" dirty="0" err="1"/>
              <a:t>vruntime</a:t>
            </a:r>
            <a:endParaRPr lang="en-US" altLang="en-US" b="1" dirty="0"/>
          </a:p>
          <a:p>
            <a:pPr lvl="1"/>
            <a:r>
              <a:rPr lang="en-US" altLang="en-US" dirty="0"/>
              <a:t>Associated with decay factor based on priority of task – lower priority is higher decay rate</a:t>
            </a:r>
          </a:p>
          <a:p>
            <a:pPr lvl="1"/>
            <a:r>
              <a:rPr lang="en-US" altLang="en-US" dirty="0"/>
              <a:t>Normal default priority yields virtual run time = actual run time</a:t>
            </a:r>
          </a:p>
          <a:p>
            <a:r>
              <a:rPr lang="en-US" altLang="en-US" dirty="0"/>
              <a:t>To decide next task to run, scheduler picks task with lowest virtual run time</a:t>
            </a:r>
          </a:p>
          <a:p>
            <a:pPr lvl="1"/>
            <a:endParaRPr lang="en-US" altLang="en-US" dirty="0"/>
          </a:p>
          <a:p>
            <a:pPr lvl="2"/>
            <a:endParaRPr lang="en-US" altLang="en-US" dirty="0"/>
          </a:p>
          <a:p>
            <a:pPr lvl="1"/>
            <a:endParaRPr lang="en-US" altLang="en-US" dirty="0"/>
          </a:p>
        </p:txBody>
      </p:sp>
    </p:spTree>
    <p:extLst>
      <p:ext uri="{BB962C8B-B14F-4D97-AF65-F5344CB8AC3E}">
        <p14:creationId xmlns:p14="http://schemas.microsoft.com/office/powerpoint/2010/main" val="94597414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89" name="Rectangle 2">
            <a:extLst>
              <a:ext uri="{FF2B5EF4-FFF2-40B4-BE49-F238E27FC236}">
                <a16:creationId xmlns:a16="http://schemas.microsoft.com/office/drawing/2014/main" id="{0051E590-6092-4C16-A466-20459637CDD0}"/>
              </a:ext>
            </a:extLst>
          </p:cNvPr>
          <p:cNvSpPr>
            <a:spLocks noGrp="1" noChangeArrowheads="1"/>
          </p:cNvSpPr>
          <p:nvPr>
            <p:ph type="title"/>
          </p:nvPr>
        </p:nvSpPr>
        <p:spPr>
          <a:xfrm>
            <a:off x="838200" y="47625"/>
            <a:ext cx="10515600" cy="1325563"/>
          </a:xfrm>
        </p:spPr>
        <p:txBody>
          <a:bodyPr>
            <a:normAutofit/>
          </a:bodyPr>
          <a:lstStyle/>
          <a:p>
            <a:r>
              <a:rPr lang="en-US" altLang="en-US" dirty="0"/>
              <a:t>CFS Performance</a:t>
            </a:r>
          </a:p>
        </p:txBody>
      </p:sp>
      <p:pic>
        <p:nvPicPr>
          <p:cNvPr id="114690" name="Picture 4" descr="Screen Shot 2012-12-17 at 9.25.06 PM.png">
            <a:extLst>
              <a:ext uri="{FF2B5EF4-FFF2-40B4-BE49-F238E27FC236}">
                <a16:creationId xmlns:a16="http://schemas.microsoft.com/office/drawing/2014/main" id="{E26FC3A4-5035-4C42-831C-EFBC4362953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810198" y="504708"/>
            <a:ext cx="4756883" cy="58218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7" name="Title 1">
            <a:extLst>
              <a:ext uri="{FF2B5EF4-FFF2-40B4-BE49-F238E27FC236}">
                <a16:creationId xmlns:a16="http://schemas.microsoft.com/office/drawing/2014/main" id="{77CC9487-DADE-43D0-8ECA-52F4E44EB927}"/>
              </a:ext>
            </a:extLst>
          </p:cNvPr>
          <p:cNvSpPr>
            <a:spLocks noGrp="1"/>
          </p:cNvSpPr>
          <p:nvPr>
            <p:ph type="title"/>
          </p:nvPr>
        </p:nvSpPr>
        <p:spPr>
          <a:xfrm>
            <a:off x="838200" y="47625"/>
            <a:ext cx="10515600" cy="1325563"/>
          </a:xfrm>
        </p:spPr>
        <p:txBody>
          <a:bodyPr>
            <a:normAutofit/>
          </a:bodyPr>
          <a:lstStyle/>
          <a:p>
            <a:r>
              <a:rPr lang="en-US" altLang="en-US" dirty="0"/>
              <a:t>Linux Scheduling</a:t>
            </a:r>
          </a:p>
        </p:txBody>
      </p:sp>
      <p:sp>
        <p:nvSpPr>
          <p:cNvPr id="116738" name="Content Placeholder 2">
            <a:extLst>
              <a:ext uri="{FF2B5EF4-FFF2-40B4-BE49-F238E27FC236}">
                <a16:creationId xmlns:a16="http://schemas.microsoft.com/office/drawing/2014/main" id="{E02DB423-4929-4748-A706-EFB4B1D0D838}"/>
              </a:ext>
            </a:extLst>
          </p:cNvPr>
          <p:cNvSpPr>
            <a:spLocks noGrp="1"/>
          </p:cNvSpPr>
          <p:nvPr>
            <p:ph idx="1"/>
          </p:nvPr>
        </p:nvSpPr>
        <p:spPr>
          <a:xfrm>
            <a:off x="838200" y="1419224"/>
            <a:ext cx="10515600" cy="4937126"/>
          </a:xfrm>
        </p:spPr>
        <p:txBody>
          <a:bodyPr/>
          <a:lstStyle/>
          <a:p>
            <a:r>
              <a:rPr lang="en-US" altLang="en-US" dirty="0"/>
              <a:t>Real-time scheduling according to POSIX.1b</a:t>
            </a:r>
          </a:p>
          <a:p>
            <a:pPr lvl="1"/>
            <a:r>
              <a:rPr lang="en-US" altLang="en-US" dirty="0"/>
              <a:t>Real-time tasks have static priorities</a:t>
            </a:r>
          </a:p>
          <a:p>
            <a:r>
              <a:rPr lang="en-US" altLang="en-US" dirty="0"/>
              <a:t>Real-time plus normal map into global priority scheme</a:t>
            </a:r>
          </a:p>
          <a:p>
            <a:r>
              <a:rPr lang="en-US" altLang="en-US" dirty="0"/>
              <a:t>Nice value of -20 maps to global priority 100</a:t>
            </a:r>
          </a:p>
          <a:p>
            <a:r>
              <a:rPr lang="en-US" altLang="en-US" dirty="0"/>
              <a:t>Nice value of +19 maps to priority 139</a:t>
            </a:r>
          </a:p>
          <a:p>
            <a:endParaRPr lang="en-US" altLang="en-US" dirty="0"/>
          </a:p>
        </p:txBody>
      </p:sp>
      <p:pic>
        <p:nvPicPr>
          <p:cNvPr id="116739" name="Picture 1" descr="Screen Shot 2012-12-17 at 9.28.34 PM.png">
            <a:extLst>
              <a:ext uri="{FF2B5EF4-FFF2-40B4-BE49-F238E27FC236}">
                <a16:creationId xmlns:a16="http://schemas.microsoft.com/office/drawing/2014/main" id="{962147AC-858B-4382-8168-1FA988CFB04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180307" y="3969673"/>
            <a:ext cx="8095279" cy="22673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1" name="Title 1">
            <a:extLst>
              <a:ext uri="{FF2B5EF4-FFF2-40B4-BE49-F238E27FC236}">
                <a16:creationId xmlns:a16="http://schemas.microsoft.com/office/drawing/2014/main" id="{15E5355E-AE48-4BA0-9903-BD07675EB4FA}"/>
              </a:ext>
            </a:extLst>
          </p:cNvPr>
          <p:cNvSpPr>
            <a:spLocks noGrp="1"/>
          </p:cNvSpPr>
          <p:nvPr>
            <p:ph type="title"/>
          </p:nvPr>
        </p:nvSpPr>
        <p:spPr>
          <a:xfrm>
            <a:off x="838200" y="47625"/>
            <a:ext cx="10515600" cy="1325563"/>
          </a:xfrm>
        </p:spPr>
        <p:txBody>
          <a:bodyPr>
            <a:normAutofit/>
          </a:bodyPr>
          <a:lstStyle/>
          <a:p>
            <a:r>
              <a:rPr lang="en-US" altLang="en-US" dirty="0"/>
              <a:t>Linux Scheduling</a:t>
            </a:r>
          </a:p>
        </p:txBody>
      </p:sp>
      <p:sp>
        <p:nvSpPr>
          <p:cNvPr id="117762" name="Content Placeholder 2">
            <a:extLst>
              <a:ext uri="{FF2B5EF4-FFF2-40B4-BE49-F238E27FC236}">
                <a16:creationId xmlns:a16="http://schemas.microsoft.com/office/drawing/2014/main" id="{A42B57D8-264F-4D4F-9A5A-A9E3DC09C54C}"/>
              </a:ext>
            </a:extLst>
          </p:cNvPr>
          <p:cNvSpPr>
            <a:spLocks noGrp="1"/>
          </p:cNvSpPr>
          <p:nvPr>
            <p:ph idx="1"/>
          </p:nvPr>
        </p:nvSpPr>
        <p:spPr>
          <a:xfrm>
            <a:off x="838200" y="1419224"/>
            <a:ext cx="10515600" cy="4937126"/>
          </a:xfrm>
        </p:spPr>
        <p:txBody>
          <a:bodyPr/>
          <a:lstStyle/>
          <a:p>
            <a:r>
              <a:rPr lang="en-US" altLang="en-US" dirty="0"/>
              <a:t>Linux supports load balancing, but is also NUMA-aware</a:t>
            </a:r>
          </a:p>
          <a:p>
            <a:r>
              <a:rPr lang="en-US" altLang="en-US" dirty="0">
                <a:solidFill>
                  <a:schemeClr val="accent1">
                    <a:lumMod val="75000"/>
                  </a:schemeClr>
                </a:solidFill>
              </a:rPr>
              <a:t>Scheduling domain</a:t>
            </a:r>
            <a:r>
              <a:rPr lang="en-US" altLang="en-US" dirty="0"/>
              <a:t> is a set of CPU cores that can be balanced against one another.</a:t>
            </a:r>
          </a:p>
          <a:p>
            <a:r>
              <a:rPr lang="en-US" altLang="en-US" dirty="0"/>
              <a:t>Domains are organized by what they share (i.e., cache memory.) Goal is to keep threads from migrating between domains</a:t>
            </a:r>
          </a:p>
        </p:txBody>
      </p:sp>
      <p:pic>
        <p:nvPicPr>
          <p:cNvPr id="117763" name="Picture 1">
            <a:extLst>
              <a:ext uri="{FF2B5EF4-FFF2-40B4-BE49-F238E27FC236}">
                <a16:creationId xmlns:a16="http://schemas.microsoft.com/office/drawing/2014/main" id="{419DDE73-3A6B-402B-AD36-41FFBDF50EA5}"/>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105275" y="3776661"/>
            <a:ext cx="3981450" cy="2625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2"/>
          <p:cNvSpPr>
            <a:spLocks noGrp="1" noChangeArrowheads="1"/>
          </p:cNvSpPr>
          <p:nvPr>
            <p:ph type="title"/>
          </p:nvPr>
        </p:nvSpPr>
        <p:spPr>
          <a:xfrm>
            <a:off x="838200" y="47625"/>
            <a:ext cx="10515600" cy="1325563"/>
          </a:xfrm>
        </p:spPr>
        <p:txBody>
          <a:bodyPr/>
          <a:lstStyle/>
          <a:p>
            <a:r>
              <a:rPr lang="en-US" dirty="0"/>
              <a:t>Windows Scheduling</a:t>
            </a:r>
          </a:p>
        </p:txBody>
      </p:sp>
      <p:sp>
        <p:nvSpPr>
          <p:cNvPr id="50181" name="Rectangle 3"/>
          <p:cNvSpPr>
            <a:spLocks noGrp="1" noChangeArrowheads="1"/>
          </p:cNvSpPr>
          <p:nvPr>
            <p:ph idx="1"/>
          </p:nvPr>
        </p:nvSpPr>
        <p:spPr>
          <a:xfrm>
            <a:off x="838200" y="1419224"/>
            <a:ext cx="10515600" cy="4937126"/>
          </a:xfrm>
        </p:spPr>
        <p:txBody>
          <a:bodyPr>
            <a:normAutofit fontScale="92500" lnSpcReduction="20000"/>
          </a:bodyPr>
          <a:lstStyle/>
          <a:p>
            <a:r>
              <a:rPr lang="en-US" dirty="0"/>
              <a:t>Windows use a priority based, preemptive scheduling algorithm</a:t>
            </a:r>
          </a:p>
          <a:p>
            <a:r>
              <a:rPr lang="en-US" dirty="0"/>
              <a:t>Windows scheduler ensures that highest priority thread will always run</a:t>
            </a:r>
          </a:p>
          <a:p>
            <a:pPr lvl="1"/>
            <a:r>
              <a:rPr lang="en-US" dirty="0"/>
              <a:t>Thread runs until </a:t>
            </a:r>
          </a:p>
          <a:p>
            <a:pPr marL="1371600" lvl="2" indent="-457200">
              <a:buFont typeface="+mj-lt"/>
              <a:buAutoNum type="arabicPeriod"/>
            </a:pPr>
            <a:r>
              <a:rPr lang="en-US" dirty="0"/>
              <a:t>blocks</a:t>
            </a:r>
          </a:p>
          <a:p>
            <a:pPr marL="1371600" lvl="2" indent="-457200">
              <a:buFont typeface="+mj-lt"/>
              <a:buAutoNum type="arabicPeriod"/>
            </a:pPr>
            <a:r>
              <a:rPr lang="en-US" dirty="0"/>
              <a:t>uses time slice</a:t>
            </a:r>
          </a:p>
          <a:p>
            <a:pPr marL="1371600" lvl="2" indent="-457200">
              <a:buFont typeface="+mj-lt"/>
              <a:buAutoNum type="arabicPeriod"/>
            </a:pPr>
            <a:r>
              <a:rPr lang="en-US" dirty="0"/>
              <a:t>preempted by higher-priority thread</a:t>
            </a:r>
          </a:p>
          <a:p>
            <a:r>
              <a:rPr lang="en-US" dirty="0"/>
              <a:t>Windows dispatcher uses a 32-level priority scheme</a:t>
            </a:r>
          </a:p>
          <a:p>
            <a:r>
              <a:rPr lang="en-US" dirty="0"/>
              <a:t>Priorities are divided into two classes</a:t>
            </a:r>
          </a:p>
          <a:p>
            <a:pPr lvl="1"/>
            <a:r>
              <a:rPr lang="en-US" dirty="0"/>
              <a:t>Variable class (priorities from 0 to 15)</a:t>
            </a:r>
          </a:p>
          <a:p>
            <a:pPr lvl="1"/>
            <a:r>
              <a:rPr lang="en-US" dirty="0"/>
              <a:t>Real time class (priorities from 16 to 31)</a:t>
            </a:r>
          </a:p>
          <a:p>
            <a:r>
              <a:rPr lang="en-US" altLang="en-US" dirty="0"/>
              <a:t>Priority 0 is memory-management thread</a:t>
            </a:r>
          </a:p>
          <a:p>
            <a:r>
              <a:rPr lang="en-US" dirty="0"/>
              <a:t>Dispatcher uses a queue for each scheduling priority</a:t>
            </a:r>
          </a:p>
          <a:p>
            <a:r>
              <a:rPr lang="en-US" dirty="0"/>
              <a:t>If no run-able thread, runs </a:t>
            </a:r>
            <a:r>
              <a:rPr lang="en-US" dirty="0">
                <a:solidFill>
                  <a:schemeClr val="accent1">
                    <a:lumMod val="75000"/>
                  </a:schemeClr>
                </a:solidFill>
              </a:rPr>
              <a:t>idle thread</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2"/>
          <p:cNvSpPr>
            <a:spLocks noGrp="1" noChangeArrowheads="1"/>
          </p:cNvSpPr>
          <p:nvPr>
            <p:ph type="title"/>
          </p:nvPr>
        </p:nvSpPr>
        <p:spPr>
          <a:xfrm>
            <a:off x="838200" y="47625"/>
            <a:ext cx="10515600" cy="1325563"/>
          </a:xfrm>
        </p:spPr>
        <p:txBody>
          <a:bodyPr/>
          <a:lstStyle/>
          <a:p>
            <a:r>
              <a:rPr lang="en-US" dirty="0"/>
              <a:t>Windows Scheduling: Priority Classes</a:t>
            </a:r>
          </a:p>
        </p:txBody>
      </p:sp>
      <p:sp>
        <p:nvSpPr>
          <p:cNvPr id="50181" name="Rectangle 3"/>
          <p:cNvSpPr>
            <a:spLocks noGrp="1" noChangeArrowheads="1"/>
          </p:cNvSpPr>
          <p:nvPr>
            <p:ph idx="1"/>
          </p:nvPr>
        </p:nvSpPr>
        <p:spPr>
          <a:xfrm>
            <a:off x="838200" y="1419224"/>
            <a:ext cx="10515600" cy="4937126"/>
          </a:xfrm>
        </p:spPr>
        <p:txBody>
          <a:bodyPr>
            <a:normAutofit lnSpcReduction="10000"/>
          </a:bodyPr>
          <a:lstStyle/>
          <a:p>
            <a:r>
              <a:rPr lang="en-US" dirty="0"/>
              <a:t>Win 32 API identifies several priority classes. These are;</a:t>
            </a:r>
          </a:p>
          <a:p>
            <a:pPr lvl="1"/>
            <a:r>
              <a:rPr lang="en-US" dirty="0"/>
              <a:t>REALTIME_PRIORITY_CLASS</a:t>
            </a:r>
          </a:p>
          <a:p>
            <a:pPr lvl="1"/>
            <a:r>
              <a:rPr lang="en-US" dirty="0"/>
              <a:t>HIGH_PRIORITY_CLASS</a:t>
            </a:r>
          </a:p>
          <a:p>
            <a:pPr lvl="1"/>
            <a:r>
              <a:rPr lang="en-US" dirty="0"/>
              <a:t>ABOVE_NORMAL_PRIORITY_CLASS</a:t>
            </a:r>
          </a:p>
          <a:p>
            <a:pPr lvl="1"/>
            <a:r>
              <a:rPr lang="en-US" dirty="0"/>
              <a:t>NORMAL_PRIORITY_CLASS</a:t>
            </a:r>
          </a:p>
          <a:p>
            <a:pPr lvl="1"/>
            <a:r>
              <a:rPr lang="en-US" dirty="0"/>
              <a:t>BELOW_NORMAL_PRIORITY_CLASS</a:t>
            </a:r>
          </a:p>
          <a:p>
            <a:pPr lvl="1"/>
            <a:r>
              <a:rPr lang="en-US" dirty="0"/>
              <a:t>IDLE_PRIORITY_CLASS</a:t>
            </a:r>
          </a:p>
          <a:p>
            <a:r>
              <a:rPr lang="en-US" dirty="0"/>
              <a:t>Within each of these priority there is a relative priority which are;</a:t>
            </a:r>
          </a:p>
          <a:p>
            <a:pPr lvl="1"/>
            <a:r>
              <a:rPr lang="en-US" dirty="0"/>
              <a:t>TIME_CRITICAL, HIGHEST, ABOVE_NORMAL, NORMAL, BELOW_NORMAL, LOWEST, IDLE</a:t>
            </a:r>
          </a:p>
          <a:p>
            <a:r>
              <a:rPr lang="en-US" dirty="0"/>
              <a:t>Priority class and relative priority combine to give numeric priority</a:t>
            </a:r>
          </a:p>
          <a:p>
            <a:r>
              <a:rPr lang="en-US" dirty="0"/>
              <a:t>Base priority is NORMAL within the class</a:t>
            </a:r>
          </a:p>
        </p:txBody>
      </p:sp>
    </p:spTree>
    <p:extLst>
      <p:ext uri="{BB962C8B-B14F-4D97-AF65-F5344CB8AC3E}">
        <p14:creationId xmlns:p14="http://schemas.microsoft.com/office/powerpoint/2010/main" val="369425007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3" name="Title 1">
            <a:extLst>
              <a:ext uri="{FF2B5EF4-FFF2-40B4-BE49-F238E27FC236}">
                <a16:creationId xmlns:a16="http://schemas.microsoft.com/office/drawing/2014/main" id="{48F43CB8-283D-472C-AF85-1D6014DBBFB7}"/>
              </a:ext>
            </a:extLst>
          </p:cNvPr>
          <p:cNvSpPr>
            <a:spLocks noGrp="1"/>
          </p:cNvSpPr>
          <p:nvPr>
            <p:ph type="title"/>
          </p:nvPr>
        </p:nvSpPr>
        <p:spPr>
          <a:xfrm>
            <a:off x="838200" y="47625"/>
            <a:ext cx="10515600" cy="1325563"/>
          </a:xfrm>
        </p:spPr>
        <p:txBody>
          <a:bodyPr/>
          <a:lstStyle/>
          <a:p>
            <a:r>
              <a:rPr lang="en-US" altLang="en-US" dirty="0"/>
              <a:t>Windows Scheduling: Priority Classes</a:t>
            </a:r>
          </a:p>
        </p:txBody>
      </p:sp>
      <p:sp>
        <p:nvSpPr>
          <p:cNvPr id="120834" name="Content Placeholder 2">
            <a:extLst>
              <a:ext uri="{FF2B5EF4-FFF2-40B4-BE49-F238E27FC236}">
                <a16:creationId xmlns:a16="http://schemas.microsoft.com/office/drawing/2014/main" id="{257CB95D-3C4B-410B-A126-05623DC45CA4}"/>
              </a:ext>
            </a:extLst>
          </p:cNvPr>
          <p:cNvSpPr>
            <a:spLocks noGrp="1"/>
          </p:cNvSpPr>
          <p:nvPr>
            <p:ph idx="1"/>
          </p:nvPr>
        </p:nvSpPr>
        <p:spPr>
          <a:xfrm>
            <a:off x="838200" y="1419224"/>
            <a:ext cx="10515600" cy="4937126"/>
          </a:xfrm>
        </p:spPr>
        <p:txBody>
          <a:bodyPr/>
          <a:lstStyle/>
          <a:p>
            <a:r>
              <a:rPr lang="en-US" altLang="en-US" dirty="0"/>
              <a:t>If quantum expires, priority lowered, but never below base</a:t>
            </a:r>
          </a:p>
          <a:p>
            <a:r>
              <a:rPr lang="en-US" altLang="en-US" dirty="0"/>
              <a:t>If wait occurs, priority boosted depending on what was waited for</a:t>
            </a:r>
          </a:p>
          <a:p>
            <a:r>
              <a:rPr lang="en-US" altLang="en-US" dirty="0"/>
              <a:t>Foreground window given 3x priority boost</a:t>
            </a:r>
          </a:p>
          <a:p>
            <a:r>
              <a:rPr lang="en-US" altLang="en-US" dirty="0"/>
              <a:t>Windows 7 added </a:t>
            </a:r>
            <a:r>
              <a:rPr lang="en-US" altLang="en-US" dirty="0">
                <a:solidFill>
                  <a:schemeClr val="accent1">
                    <a:lumMod val="75000"/>
                  </a:schemeClr>
                </a:solidFill>
              </a:rPr>
              <a:t>user-mode scheduling (UMS) </a:t>
            </a:r>
          </a:p>
          <a:p>
            <a:pPr lvl="1"/>
            <a:r>
              <a:rPr lang="en-US" altLang="en-US" dirty="0"/>
              <a:t>Applications create and manage threads independent of kernel</a:t>
            </a:r>
          </a:p>
          <a:p>
            <a:pPr lvl="1"/>
            <a:r>
              <a:rPr lang="en-US" altLang="en-US" dirty="0"/>
              <a:t>For large number of threads, much more efficient</a:t>
            </a:r>
          </a:p>
          <a:p>
            <a:pPr lvl="1"/>
            <a:r>
              <a:rPr lang="en-US" altLang="en-US" dirty="0"/>
              <a:t>UMS schedulers come from programming language libraries like                                         C++ </a:t>
            </a:r>
            <a:r>
              <a:rPr lang="en-US" altLang="en-US" dirty="0">
                <a:solidFill>
                  <a:schemeClr val="accent1">
                    <a:lumMod val="75000"/>
                  </a:schemeClr>
                </a:solidFill>
              </a:rPr>
              <a:t>Concurrent Runtime </a:t>
            </a:r>
            <a:r>
              <a:rPr lang="en-US" altLang="en-US" dirty="0"/>
              <a:t>(</a:t>
            </a:r>
            <a:r>
              <a:rPr lang="en-US" altLang="en-US" dirty="0" err="1"/>
              <a:t>ConcRT</a:t>
            </a:r>
            <a:r>
              <a:rPr lang="en-US" altLang="en-US" dirty="0"/>
              <a:t>) framework</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7" name="Rectangle 2">
            <a:extLst>
              <a:ext uri="{FF2B5EF4-FFF2-40B4-BE49-F238E27FC236}">
                <a16:creationId xmlns:a16="http://schemas.microsoft.com/office/drawing/2014/main" id="{F3C715D7-99EA-40E4-A265-7365C35A3E12}"/>
              </a:ext>
            </a:extLst>
          </p:cNvPr>
          <p:cNvSpPr>
            <a:spLocks noGrp="1" noChangeArrowheads="1"/>
          </p:cNvSpPr>
          <p:nvPr>
            <p:ph type="title"/>
          </p:nvPr>
        </p:nvSpPr>
        <p:spPr>
          <a:xfrm>
            <a:off x="838200" y="47625"/>
            <a:ext cx="10515600" cy="1325563"/>
          </a:xfrm>
        </p:spPr>
        <p:txBody>
          <a:bodyPr>
            <a:normAutofit/>
          </a:bodyPr>
          <a:lstStyle/>
          <a:p>
            <a:r>
              <a:rPr lang="en-US" altLang="en-US" dirty="0"/>
              <a:t>Windows Priorities</a:t>
            </a:r>
          </a:p>
        </p:txBody>
      </p:sp>
      <p:pic>
        <p:nvPicPr>
          <p:cNvPr id="121858" name="Picture 1">
            <a:extLst>
              <a:ext uri="{FF2B5EF4-FFF2-40B4-BE49-F238E27FC236}">
                <a16:creationId xmlns:a16="http://schemas.microsoft.com/office/drawing/2014/main" id="{13B7C937-29C4-4257-9403-EC1858659CB4}"/>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14968" y="1992655"/>
            <a:ext cx="8562064" cy="34664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Rectangle 2"/>
          <p:cNvSpPr>
            <a:spLocks noGrp="1" noChangeArrowheads="1"/>
          </p:cNvSpPr>
          <p:nvPr>
            <p:ph type="title"/>
          </p:nvPr>
        </p:nvSpPr>
        <p:spPr>
          <a:xfrm>
            <a:off x="838200" y="47625"/>
            <a:ext cx="10515600" cy="1325563"/>
          </a:xfrm>
        </p:spPr>
        <p:txBody>
          <a:bodyPr/>
          <a:lstStyle/>
          <a:p>
            <a:r>
              <a:rPr lang="en-US" dirty="0"/>
              <a:t>Solaris Scheduling</a:t>
            </a:r>
          </a:p>
        </p:txBody>
      </p:sp>
      <p:sp>
        <p:nvSpPr>
          <p:cNvPr id="49157" name="Rectangle 3"/>
          <p:cNvSpPr>
            <a:spLocks noGrp="1" noChangeArrowheads="1"/>
          </p:cNvSpPr>
          <p:nvPr>
            <p:ph idx="1"/>
          </p:nvPr>
        </p:nvSpPr>
        <p:spPr>
          <a:xfrm>
            <a:off x="838200" y="1419224"/>
            <a:ext cx="10515600" cy="4937126"/>
          </a:xfrm>
        </p:spPr>
        <p:txBody>
          <a:bodyPr>
            <a:normAutofit fontScale="85000" lnSpcReduction="20000"/>
          </a:bodyPr>
          <a:lstStyle/>
          <a:p>
            <a:r>
              <a:rPr lang="en-US" dirty="0"/>
              <a:t>Solaris uses priority-based process scheduling </a:t>
            </a:r>
          </a:p>
          <a:p>
            <a:r>
              <a:rPr lang="en-US" dirty="0"/>
              <a:t>It has six classes of priority, which are;</a:t>
            </a:r>
          </a:p>
          <a:p>
            <a:pPr lvl="1"/>
            <a:r>
              <a:rPr lang="en-US" dirty="0"/>
              <a:t>Real time (RT)</a:t>
            </a:r>
          </a:p>
          <a:p>
            <a:pPr lvl="1"/>
            <a:r>
              <a:rPr lang="en-US" dirty="0"/>
              <a:t>System (SYS)</a:t>
            </a:r>
          </a:p>
          <a:p>
            <a:pPr lvl="1"/>
            <a:r>
              <a:rPr lang="en-US" dirty="0"/>
              <a:t>Fair Share (FSS)</a:t>
            </a:r>
          </a:p>
          <a:p>
            <a:pPr lvl="1"/>
            <a:r>
              <a:rPr lang="en-US" dirty="0"/>
              <a:t>Fixed priority (FP)</a:t>
            </a:r>
          </a:p>
          <a:p>
            <a:pPr lvl="1"/>
            <a:r>
              <a:rPr lang="en-US" dirty="0"/>
              <a:t>Time sharing (TS) (default) </a:t>
            </a:r>
          </a:p>
          <a:p>
            <a:pPr lvl="1"/>
            <a:r>
              <a:rPr lang="en-US" dirty="0"/>
              <a:t>Interactive (IA)</a:t>
            </a:r>
          </a:p>
          <a:p>
            <a:r>
              <a:rPr lang="en-US" dirty="0"/>
              <a:t>Given thread can be in one class at a time</a:t>
            </a:r>
          </a:p>
          <a:p>
            <a:r>
              <a:rPr lang="en-US" dirty="0"/>
              <a:t>Each class includes different set of priorities</a:t>
            </a:r>
          </a:p>
          <a:p>
            <a:r>
              <a:rPr lang="en-US" dirty="0"/>
              <a:t>Each class has its own scheduling algorithm</a:t>
            </a:r>
          </a:p>
          <a:p>
            <a:r>
              <a:rPr lang="en-US" dirty="0"/>
              <a:t>Real time processes has highest priority and interactive and time-sharing processes have least priorities</a:t>
            </a:r>
          </a:p>
          <a:p>
            <a:r>
              <a:rPr lang="en-US" dirty="0"/>
              <a:t>Solaris uses system class to run kernel processes, such as scheduler</a:t>
            </a:r>
          </a:p>
          <a:p>
            <a:pPr lvl="1"/>
            <a:r>
              <a:rPr lang="en-US" dirty="0"/>
              <a:t>System class is reserved for kernel processes</a:t>
            </a:r>
          </a:p>
        </p:txBody>
      </p:sp>
    </p:spTree>
    <p:extLst>
      <p:ext uri="{BB962C8B-B14F-4D97-AF65-F5344CB8AC3E}">
        <p14:creationId xmlns:p14="http://schemas.microsoft.com/office/powerpoint/2010/main" val="46268038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29" name="Rectangle 2">
            <a:extLst>
              <a:ext uri="{FF2B5EF4-FFF2-40B4-BE49-F238E27FC236}">
                <a16:creationId xmlns:a16="http://schemas.microsoft.com/office/drawing/2014/main" id="{0D62A802-7E18-499C-A146-A07CCE8557A7}"/>
              </a:ext>
            </a:extLst>
          </p:cNvPr>
          <p:cNvSpPr>
            <a:spLocks noGrp="1" noChangeArrowheads="1"/>
          </p:cNvSpPr>
          <p:nvPr>
            <p:ph type="title"/>
          </p:nvPr>
        </p:nvSpPr>
        <p:spPr>
          <a:xfrm>
            <a:off x="838200" y="47625"/>
            <a:ext cx="10515600" cy="1325563"/>
          </a:xfrm>
        </p:spPr>
        <p:txBody>
          <a:bodyPr/>
          <a:lstStyle/>
          <a:p>
            <a:r>
              <a:rPr lang="en-US" altLang="en-US" dirty="0"/>
              <a:t>Solaris Dispatch Table </a:t>
            </a:r>
          </a:p>
        </p:txBody>
      </p:sp>
      <p:pic>
        <p:nvPicPr>
          <p:cNvPr id="124930" name="Picture 1">
            <a:extLst>
              <a:ext uri="{FF2B5EF4-FFF2-40B4-BE49-F238E27FC236}">
                <a16:creationId xmlns:a16="http://schemas.microsoft.com/office/drawing/2014/main" id="{7160601A-B1BF-48C6-9397-33A5E4EDAFA4}"/>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81412" y="1373188"/>
            <a:ext cx="5229176" cy="4734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0992638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89AE31-0E4C-447C-9526-F3E4E8786796}"/>
              </a:ext>
            </a:extLst>
          </p:cNvPr>
          <p:cNvSpPr>
            <a:spLocks noGrp="1"/>
          </p:cNvSpPr>
          <p:nvPr>
            <p:ph type="title"/>
          </p:nvPr>
        </p:nvSpPr>
        <p:spPr/>
        <p:txBody>
          <a:bodyPr/>
          <a:lstStyle/>
          <a:p>
            <a:r>
              <a:rPr lang="en-US" dirty="0"/>
              <a:t>Solaris Scheduling</a:t>
            </a:r>
          </a:p>
        </p:txBody>
      </p:sp>
      <p:pic>
        <p:nvPicPr>
          <p:cNvPr id="4" name="Picture 1" descr="6_24.pdf">
            <a:extLst>
              <a:ext uri="{FF2B5EF4-FFF2-40B4-BE49-F238E27FC236}">
                <a16:creationId xmlns:a16="http://schemas.microsoft.com/office/drawing/2014/main" id="{08E5A482-72DE-4EF5-8916-1A9D09884034}"/>
              </a:ext>
            </a:extLst>
          </p:cNvPr>
          <p:cNvPicPr>
            <a:picLocks noGrp="1" noChangeAspect="1"/>
          </p:cNvPicPr>
          <p:nvPr>
            <p:ph sz="quarter" idx="1"/>
          </p:nvPr>
        </p:nvPicPr>
        <p:blipFill>
          <a:blip r:embed="rId2">
            <a:extLst>
              <a:ext uri="{28A0092B-C50C-407E-A947-70E740481C1C}">
                <a14:useLocalDpi xmlns:a14="http://schemas.microsoft.com/office/drawing/2010/main" val="0"/>
              </a:ext>
            </a:extLst>
          </a:blip>
          <a:srcRect/>
          <a:stretch>
            <a:fillRect/>
          </a:stretch>
        </p:blipFill>
        <p:spPr bwMode="auto">
          <a:xfrm>
            <a:off x="4512167" y="1221475"/>
            <a:ext cx="3167665" cy="492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879737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1AC55B-A093-4A26-B763-D5E97BAB48FE}"/>
              </a:ext>
            </a:extLst>
          </p:cNvPr>
          <p:cNvSpPr>
            <a:spLocks noGrp="1"/>
          </p:cNvSpPr>
          <p:nvPr>
            <p:ph type="title"/>
          </p:nvPr>
        </p:nvSpPr>
        <p:spPr>
          <a:xfrm>
            <a:off x="838200" y="47625"/>
            <a:ext cx="10515600" cy="1325563"/>
          </a:xfrm>
        </p:spPr>
        <p:txBody>
          <a:bodyPr/>
          <a:lstStyle/>
          <a:p>
            <a:r>
              <a:rPr lang="en-US" dirty="0"/>
              <a:t>Solaris Scheduling</a:t>
            </a:r>
          </a:p>
        </p:txBody>
      </p:sp>
      <p:sp>
        <p:nvSpPr>
          <p:cNvPr id="3" name="Content Placeholder 2">
            <a:extLst>
              <a:ext uri="{FF2B5EF4-FFF2-40B4-BE49-F238E27FC236}">
                <a16:creationId xmlns:a16="http://schemas.microsoft.com/office/drawing/2014/main" id="{9D5FE829-73F6-4FCD-9564-E2EFD998BBD2}"/>
              </a:ext>
            </a:extLst>
          </p:cNvPr>
          <p:cNvSpPr>
            <a:spLocks noGrp="1"/>
          </p:cNvSpPr>
          <p:nvPr>
            <p:ph idx="1"/>
          </p:nvPr>
        </p:nvSpPr>
        <p:spPr>
          <a:xfrm>
            <a:off x="838200" y="1419224"/>
            <a:ext cx="10515600" cy="4937126"/>
          </a:xfrm>
        </p:spPr>
        <p:txBody>
          <a:bodyPr/>
          <a:lstStyle/>
          <a:p>
            <a:r>
              <a:rPr lang="en-US" dirty="0"/>
              <a:t>Scheduler converts class-specific priorities into a per-thread global priority</a:t>
            </a:r>
          </a:p>
          <a:p>
            <a:pPr lvl="1"/>
            <a:r>
              <a:rPr lang="en-US" dirty="0"/>
              <a:t>Thread with highest priority runs next</a:t>
            </a:r>
          </a:p>
          <a:p>
            <a:pPr lvl="1"/>
            <a:r>
              <a:rPr lang="en-US" dirty="0"/>
              <a:t>Runs until (1) blocks, (2) uses time slice, (3) preempted by higher-priority thread</a:t>
            </a:r>
          </a:p>
          <a:p>
            <a:pPr lvl="1"/>
            <a:r>
              <a:rPr lang="en-US" dirty="0"/>
              <a:t>Multiple threads at same priority selected via RR</a:t>
            </a:r>
          </a:p>
        </p:txBody>
      </p:sp>
    </p:spTree>
    <p:extLst>
      <p:ext uri="{BB962C8B-B14F-4D97-AF65-F5344CB8AC3E}">
        <p14:creationId xmlns:p14="http://schemas.microsoft.com/office/powerpoint/2010/main" val="369063053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C19840-737B-4890-8A0D-1939596386DC}"/>
              </a:ext>
            </a:extLst>
          </p:cNvPr>
          <p:cNvSpPr>
            <a:spLocks noGrp="1"/>
          </p:cNvSpPr>
          <p:nvPr>
            <p:ph type="title"/>
          </p:nvPr>
        </p:nvSpPr>
        <p:spPr/>
        <p:txBody>
          <a:bodyPr/>
          <a:lstStyle/>
          <a:p>
            <a:r>
              <a:rPr lang="en-US" dirty="0"/>
              <a:t>Scheduling Algorithm’s Evaluation</a:t>
            </a:r>
          </a:p>
        </p:txBody>
      </p:sp>
      <p:sp>
        <p:nvSpPr>
          <p:cNvPr id="4" name="Text Placeholder 3">
            <a:extLst>
              <a:ext uri="{FF2B5EF4-FFF2-40B4-BE49-F238E27FC236}">
                <a16:creationId xmlns:a16="http://schemas.microsoft.com/office/drawing/2014/main" id="{E719D838-FE19-480E-987D-CC6B4C892BE6}"/>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93881477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8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30049" name="Rectangle 2">
            <a:extLst>
              <a:ext uri="{FF2B5EF4-FFF2-40B4-BE49-F238E27FC236}">
                <a16:creationId xmlns:a16="http://schemas.microsoft.com/office/drawing/2014/main" id="{E3E49DFF-D595-4F44-93F4-CD017991939A}"/>
              </a:ext>
            </a:extLst>
          </p:cNvPr>
          <p:cNvSpPr>
            <a:spLocks noGrp="1" noChangeArrowheads="1"/>
          </p:cNvSpPr>
          <p:nvPr>
            <p:ph type="title"/>
          </p:nvPr>
        </p:nvSpPr>
        <p:spPr>
          <a:xfrm>
            <a:off x="838200" y="47625"/>
            <a:ext cx="10515600" cy="1325563"/>
          </a:xfrm>
        </p:spPr>
        <p:txBody>
          <a:bodyPr>
            <a:normAutofit/>
          </a:bodyPr>
          <a:lstStyle/>
          <a:p>
            <a:r>
              <a:rPr lang="en-US" altLang="en-US" dirty="0"/>
              <a:t>Algorithm Evaluation</a:t>
            </a:r>
          </a:p>
        </p:txBody>
      </p:sp>
      <p:sp>
        <p:nvSpPr>
          <p:cNvPr id="130050" name="Rectangle 3">
            <a:extLst>
              <a:ext uri="{FF2B5EF4-FFF2-40B4-BE49-F238E27FC236}">
                <a16:creationId xmlns:a16="http://schemas.microsoft.com/office/drawing/2014/main" id="{91026CB7-CF57-408F-913C-6C7B82EF621E}"/>
              </a:ext>
            </a:extLst>
          </p:cNvPr>
          <p:cNvSpPr>
            <a:spLocks noGrp="1" noChangeArrowheads="1"/>
          </p:cNvSpPr>
          <p:nvPr>
            <p:ph idx="1"/>
          </p:nvPr>
        </p:nvSpPr>
        <p:spPr>
          <a:xfrm>
            <a:off x="838200" y="1419225"/>
            <a:ext cx="6913728" cy="4937125"/>
          </a:xfrm>
        </p:spPr>
        <p:txBody>
          <a:bodyPr/>
          <a:lstStyle/>
          <a:p>
            <a:r>
              <a:rPr lang="en-US" altLang="en-US" dirty="0"/>
              <a:t>How to select CPU-scheduling algorithm for an OS?</a:t>
            </a:r>
          </a:p>
          <a:p>
            <a:r>
              <a:rPr lang="en-US" altLang="en-US" dirty="0"/>
              <a:t>Determine criteria, then evaluate algorithms</a:t>
            </a:r>
          </a:p>
          <a:p>
            <a:r>
              <a:rPr lang="en-US" altLang="en-US" dirty="0">
                <a:solidFill>
                  <a:schemeClr val="accent1">
                    <a:lumMod val="75000"/>
                  </a:schemeClr>
                </a:solidFill>
              </a:rPr>
              <a:t>Deterministic modeling</a:t>
            </a:r>
          </a:p>
          <a:p>
            <a:pPr lvl="1"/>
            <a:r>
              <a:rPr lang="en-US" altLang="en-US" dirty="0"/>
              <a:t>Type of </a:t>
            </a:r>
            <a:r>
              <a:rPr lang="en-US" altLang="en-US" dirty="0">
                <a:solidFill>
                  <a:schemeClr val="accent1">
                    <a:lumMod val="75000"/>
                  </a:schemeClr>
                </a:solidFill>
              </a:rPr>
              <a:t>analytic evaluation</a:t>
            </a:r>
          </a:p>
          <a:p>
            <a:pPr lvl="1"/>
            <a:r>
              <a:rPr lang="en-US" altLang="en-US" dirty="0"/>
              <a:t>Takes a particular predetermined workload and defines the performance of each algorithm  for that workload</a:t>
            </a:r>
          </a:p>
          <a:p>
            <a:r>
              <a:rPr lang="en-US" altLang="en-US" dirty="0"/>
              <a:t>Consider 5 processes arriving at time 0:</a:t>
            </a:r>
          </a:p>
        </p:txBody>
      </p:sp>
      <p:pic>
        <p:nvPicPr>
          <p:cNvPr id="130051" name="Picture 1" descr="Screen Shot 2012-12-17 at 9.44.14 PM.png">
            <a:extLst>
              <a:ext uri="{FF2B5EF4-FFF2-40B4-BE49-F238E27FC236}">
                <a16:creationId xmlns:a16="http://schemas.microsoft.com/office/drawing/2014/main" id="{1186B308-DDF2-452D-A47E-6EF7019C0B3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579773" y="2258511"/>
            <a:ext cx="2502207" cy="23409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1957271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8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32097" name="Rectangle 2">
            <a:extLst>
              <a:ext uri="{FF2B5EF4-FFF2-40B4-BE49-F238E27FC236}">
                <a16:creationId xmlns:a16="http://schemas.microsoft.com/office/drawing/2014/main" id="{0C6E6845-850D-4810-9EA5-1EB2B3843012}"/>
              </a:ext>
            </a:extLst>
          </p:cNvPr>
          <p:cNvSpPr>
            <a:spLocks noGrp="1" noChangeArrowheads="1"/>
          </p:cNvSpPr>
          <p:nvPr>
            <p:ph type="title"/>
          </p:nvPr>
        </p:nvSpPr>
        <p:spPr>
          <a:xfrm>
            <a:off x="838200" y="47625"/>
            <a:ext cx="10515600" cy="1325563"/>
          </a:xfrm>
        </p:spPr>
        <p:txBody>
          <a:bodyPr>
            <a:normAutofit/>
          </a:bodyPr>
          <a:lstStyle/>
          <a:p>
            <a:r>
              <a:rPr lang="en-US" altLang="en-US"/>
              <a:t>Deterministic Evaluation</a:t>
            </a:r>
            <a:endParaRPr lang="en-US" altLang="en-US" dirty="0"/>
          </a:p>
        </p:txBody>
      </p:sp>
      <p:sp>
        <p:nvSpPr>
          <p:cNvPr id="101378" name="Rectangle 3">
            <a:extLst>
              <a:ext uri="{FF2B5EF4-FFF2-40B4-BE49-F238E27FC236}">
                <a16:creationId xmlns:a16="http://schemas.microsoft.com/office/drawing/2014/main" id="{42D64333-B7E5-4612-A296-895B3529B10E}"/>
              </a:ext>
            </a:extLst>
          </p:cNvPr>
          <p:cNvSpPr>
            <a:spLocks noGrp="1" noChangeArrowheads="1"/>
          </p:cNvSpPr>
          <p:nvPr>
            <p:ph idx="1"/>
          </p:nvPr>
        </p:nvSpPr>
        <p:spPr>
          <a:xfrm>
            <a:off x="838200" y="1419224"/>
            <a:ext cx="10515600" cy="4937126"/>
          </a:xfrm>
        </p:spPr>
        <p:txBody>
          <a:bodyPr>
            <a:normAutofit/>
          </a:bodyPr>
          <a:lstStyle/>
          <a:p>
            <a:r>
              <a:rPr lang="en-US" altLang="en-US" dirty="0"/>
              <a:t>For each algorithm, calculate minimum average waiting time</a:t>
            </a:r>
          </a:p>
          <a:p>
            <a:r>
              <a:rPr lang="en-US" altLang="en-US" dirty="0"/>
              <a:t>Simple and fast, but requires exact numbers for input, applies only to those inputs</a:t>
            </a:r>
          </a:p>
          <a:p>
            <a:pPr lvl="1"/>
            <a:r>
              <a:rPr lang="en-US" altLang="en-US" dirty="0"/>
              <a:t>FCS is 28ms:</a:t>
            </a:r>
          </a:p>
          <a:p>
            <a:endParaRPr lang="en-US" altLang="en-US" dirty="0"/>
          </a:p>
          <a:p>
            <a:endParaRPr lang="en-US" altLang="en-US" dirty="0"/>
          </a:p>
          <a:p>
            <a:pPr lvl="1"/>
            <a:r>
              <a:rPr lang="en-US" altLang="en-US" dirty="0"/>
              <a:t>Non-preemptive SFJ is 13ms:</a:t>
            </a:r>
          </a:p>
          <a:p>
            <a:endParaRPr lang="en-US" altLang="en-US" dirty="0"/>
          </a:p>
          <a:p>
            <a:endParaRPr lang="en-US" altLang="en-US" dirty="0"/>
          </a:p>
          <a:p>
            <a:pPr lvl="1"/>
            <a:r>
              <a:rPr lang="en-US" altLang="en-US" dirty="0"/>
              <a:t>RR is 23ms:</a:t>
            </a:r>
          </a:p>
          <a:p>
            <a:endParaRPr lang="en-US" altLang="en-US" dirty="0"/>
          </a:p>
        </p:txBody>
      </p:sp>
      <p:pic>
        <p:nvPicPr>
          <p:cNvPr id="132099" name="Picture 2" descr="Screen Shot 2012-12-17 at 9.47.12 PM.png">
            <a:extLst>
              <a:ext uri="{FF2B5EF4-FFF2-40B4-BE49-F238E27FC236}">
                <a16:creationId xmlns:a16="http://schemas.microsoft.com/office/drawing/2014/main" id="{72B613C9-9DEE-4CD7-ABD1-8B5F8F52BBA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243307" y="2804379"/>
            <a:ext cx="4445000" cy="82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2100" name="Picture 3" descr="Screen Shot 2012-12-17 at 9.47.18 PM.png">
            <a:extLst>
              <a:ext uri="{FF2B5EF4-FFF2-40B4-BE49-F238E27FC236}">
                <a16:creationId xmlns:a16="http://schemas.microsoft.com/office/drawing/2014/main" id="{F75A4BF0-7381-4B89-90CE-E8DC92F8F295}"/>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202033" y="4019724"/>
            <a:ext cx="4529137" cy="7737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2101" name="Picture 4" descr="Screen Shot 2012-12-17 at 9.47.24 PM.png">
            <a:extLst>
              <a:ext uri="{FF2B5EF4-FFF2-40B4-BE49-F238E27FC236}">
                <a16:creationId xmlns:a16="http://schemas.microsoft.com/office/drawing/2014/main" id="{00B7072B-4655-4652-80B5-B7ADAFC32C81}"/>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6247738" y="5356980"/>
            <a:ext cx="4445000" cy="752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5952791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8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34145" name="Title 1">
            <a:extLst>
              <a:ext uri="{FF2B5EF4-FFF2-40B4-BE49-F238E27FC236}">
                <a16:creationId xmlns:a16="http://schemas.microsoft.com/office/drawing/2014/main" id="{4D59D635-40DB-4181-BA9E-36E3809C0F54}"/>
              </a:ext>
            </a:extLst>
          </p:cNvPr>
          <p:cNvSpPr>
            <a:spLocks noGrp="1"/>
          </p:cNvSpPr>
          <p:nvPr>
            <p:ph type="title"/>
          </p:nvPr>
        </p:nvSpPr>
        <p:spPr>
          <a:xfrm>
            <a:off x="838200" y="47625"/>
            <a:ext cx="10515600" cy="1325563"/>
          </a:xfrm>
        </p:spPr>
        <p:txBody>
          <a:bodyPr>
            <a:normAutofit/>
          </a:bodyPr>
          <a:lstStyle/>
          <a:p>
            <a:r>
              <a:rPr lang="en-US" altLang="en-US" dirty="0"/>
              <a:t>Queueing Models</a:t>
            </a:r>
          </a:p>
        </p:txBody>
      </p:sp>
      <p:sp>
        <p:nvSpPr>
          <p:cNvPr id="134146" name="Content Placeholder 2">
            <a:extLst>
              <a:ext uri="{FF2B5EF4-FFF2-40B4-BE49-F238E27FC236}">
                <a16:creationId xmlns:a16="http://schemas.microsoft.com/office/drawing/2014/main" id="{51085166-B3B1-42A3-B00E-DD980BA90BA0}"/>
              </a:ext>
            </a:extLst>
          </p:cNvPr>
          <p:cNvSpPr>
            <a:spLocks noGrp="1"/>
          </p:cNvSpPr>
          <p:nvPr>
            <p:ph idx="1"/>
          </p:nvPr>
        </p:nvSpPr>
        <p:spPr>
          <a:xfrm>
            <a:off x="838200" y="1419224"/>
            <a:ext cx="10515600" cy="4937126"/>
          </a:xfrm>
        </p:spPr>
        <p:txBody>
          <a:bodyPr/>
          <a:lstStyle/>
          <a:p>
            <a:r>
              <a:rPr lang="en-US" altLang="en-US" dirty="0"/>
              <a:t>Describes the arrival of processes, and CPU and I/O bursts probabilistically</a:t>
            </a:r>
          </a:p>
          <a:p>
            <a:pPr lvl="1"/>
            <a:r>
              <a:rPr lang="en-US" altLang="en-US" dirty="0"/>
              <a:t>Commonly exponential, and described by mean</a:t>
            </a:r>
          </a:p>
          <a:p>
            <a:pPr lvl="1"/>
            <a:r>
              <a:rPr lang="en-US" altLang="en-US" dirty="0"/>
              <a:t>Computes average throughput, utilization, waiting time, etc.</a:t>
            </a:r>
          </a:p>
          <a:p>
            <a:r>
              <a:rPr lang="en-US" altLang="en-US" dirty="0"/>
              <a:t>Computer system described as network of servers, each with queue of waiting processes</a:t>
            </a:r>
          </a:p>
          <a:p>
            <a:pPr lvl="1"/>
            <a:r>
              <a:rPr lang="en-US" altLang="en-US" dirty="0"/>
              <a:t>Knowing arrival rates and service rates</a:t>
            </a:r>
          </a:p>
          <a:p>
            <a:pPr lvl="1"/>
            <a:r>
              <a:rPr lang="en-US" altLang="en-US" dirty="0"/>
              <a:t>Computes utilization, average queue length, average wait time, etc.</a:t>
            </a:r>
          </a:p>
        </p:txBody>
      </p:sp>
    </p:spTree>
    <p:extLst>
      <p:ext uri="{BB962C8B-B14F-4D97-AF65-F5344CB8AC3E}">
        <p14:creationId xmlns:p14="http://schemas.microsoft.com/office/powerpoint/2010/main" val="96448073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8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35169" name="Title 1">
            <a:extLst>
              <a:ext uri="{FF2B5EF4-FFF2-40B4-BE49-F238E27FC236}">
                <a16:creationId xmlns:a16="http://schemas.microsoft.com/office/drawing/2014/main" id="{88836614-251E-456A-8F63-CF63948BE84F}"/>
              </a:ext>
            </a:extLst>
          </p:cNvPr>
          <p:cNvSpPr>
            <a:spLocks noGrp="1"/>
          </p:cNvSpPr>
          <p:nvPr>
            <p:ph type="title"/>
          </p:nvPr>
        </p:nvSpPr>
        <p:spPr>
          <a:xfrm>
            <a:off x="838200" y="47625"/>
            <a:ext cx="10515600" cy="1325563"/>
          </a:xfrm>
        </p:spPr>
        <p:txBody>
          <a:bodyPr>
            <a:normAutofit/>
          </a:bodyPr>
          <a:lstStyle/>
          <a:p>
            <a:r>
              <a:rPr lang="en-US" altLang="en-US"/>
              <a:t>Little</a:t>
            </a:r>
            <a:r>
              <a:rPr lang="ja-JP" altLang="en-US"/>
              <a:t>’</a:t>
            </a:r>
            <a:r>
              <a:rPr lang="en-US" altLang="ja-JP"/>
              <a:t>s Formula</a:t>
            </a:r>
            <a:endParaRPr lang="en-US" altLang="en-US" dirty="0"/>
          </a:p>
        </p:txBody>
      </p:sp>
      <p:sp>
        <p:nvSpPr>
          <p:cNvPr id="135170" name="Content Placeholder 2">
            <a:extLst>
              <a:ext uri="{FF2B5EF4-FFF2-40B4-BE49-F238E27FC236}">
                <a16:creationId xmlns:a16="http://schemas.microsoft.com/office/drawing/2014/main" id="{0FB86F5A-AC04-4507-85EB-409F60BB9661}"/>
              </a:ext>
            </a:extLst>
          </p:cNvPr>
          <p:cNvSpPr>
            <a:spLocks noGrp="1"/>
          </p:cNvSpPr>
          <p:nvPr>
            <p:ph idx="1"/>
          </p:nvPr>
        </p:nvSpPr>
        <p:spPr>
          <a:xfrm>
            <a:off x="838200" y="1419224"/>
            <a:ext cx="10515600" cy="4937126"/>
          </a:xfrm>
        </p:spPr>
        <p:txBody>
          <a:bodyPr>
            <a:normAutofit/>
          </a:bodyPr>
          <a:lstStyle/>
          <a:p>
            <a:r>
              <a:rPr lang="en-US" altLang="en-US" i="1" dirty="0"/>
              <a:t>n</a:t>
            </a:r>
            <a:r>
              <a:rPr lang="en-US" altLang="en-US" dirty="0"/>
              <a:t> = average queue length</a:t>
            </a:r>
          </a:p>
          <a:p>
            <a:r>
              <a:rPr lang="en-US" altLang="en-US" i="1" dirty="0"/>
              <a:t>W</a:t>
            </a:r>
            <a:r>
              <a:rPr lang="en-US" altLang="en-US" dirty="0"/>
              <a:t> = average waiting time in queue</a:t>
            </a:r>
          </a:p>
          <a:p>
            <a:r>
              <a:rPr lang="en-US" altLang="en-US" i="1" dirty="0"/>
              <a:t>λ</a:t>
            </a:r>
            <a:r>
              <a:rPr lang="en-US" altLang="en-US" dirty="0"/>
              <a:t> = average arrival rate into queue</a:t>
            </a:r>
          </a:p>
          <a:p>
            <a:r>
              <a:rPr lang="en-US" altLang="en-US" dirty="0"/>
              <a:t>Little</a:t>
            </a:r>
            <a:r>
              <a:rPr lang="ja-JP" altLang="en-US" dirty="0"/>
              <a:t>’</a:t>
            </a:r>
            <a:r>
              <a:rPr lang="en-US" altLang="ja-JP" dirty="0"/>
              <a:t>s law – in steady state, processes leaving queue must equal processes arriving, thus:</a:t>
            </a:r>
            <a:br>
              <a:rPr lang="en-US" altLang="ja-JP" dirty="0"/>
            </a:br>
            <a:r>
              <a:rPr lang="en-US" altLang="ja-JP" dirty="0"/>
              <a:t>      </a:t>
            </a:r>
            <a:r>
              <a:rPr lang="en-US" altLang="ja-JP" i="1" dirty="0"/>
              <a:t>n</a:t>
            </a:r>
            <a:r>
              <a:rPr lang="en-US" altLang="ja-JP" dirty="0"/>
              <a:t> = </a:t>
            </a:r>
            <a:r>
              <a:rPr lang="en-US" altLang="ja-JP" i="1" dirty="0"/>
              <a:t>λ</a:t>
            </a:r>
            <a:r>
              <a:rPr lang="en-US" altLang="ja-JP" dirty="0"/>
              <a:t> x </a:t>
            </a:r>
            <a:r>
              <a:rPr lang="en-US" altLang="ja-JP" i="1" dirty="0"/>
              <a:t>W</a:t>
            </a:r>
          </a:p>
          <a:p>
            <a:pPr lvl="1"/>
            <a:r>
              <a:rPr lang="en-US" altLang="en-US" dirty="0"/>
              <a:t>Valid for any scheduling algorithm and arrival distribution</a:t>
            </a:r>
          </a:p>
          <a:p>
            <a:r>
              <a:rPr lang="en-US" altLang="en-US" dirty="0"/>
              <a:t>For example, if on average 7 processes arrive per second, and normally 14 processes in queue, then average wait time per process = 2 seconds</a:t>
            </a:r>
          </a:p>
        </p:txBody>
      </p:sp>
    </p:spTree>
    <p:extLst>
      <p:ext uri="{BB962C8B-B14F-4D97-AF65-F5344CB8AC3E}">
        <p14:creationId xmlns:p14="http://schemas.microsoft.com/office/powerpoint/2010/main" val="375289620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8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36193" name="Title 1">
            <a:extLst>
              <a:ext uri="{FF2B5EF4-FFF2-40B4-BE49-F238E27FC236}">
                <a16:creationId xmlns:a16="http://schemas.microsoft.com/office/drawing/2014/main" id="{3F4B6F1F-014D-4B12-B2C5-CED652555A6A}"/>
              </a:ext>
            </a:extLst>
          </p:cNvPr>
          <p:cNvSpPr>
            <a:spLocks noGrp="1"/>
          </p:cNvSpPr>
          <p:nvPr>
            <p:ph type="title"/>
          </p:nvPr>
        </p:nvSpPr>
        <p:spPr>
          <a:xfrm>
            <a:off x="838200" y="47625"/>
            <a:ext cx="10515600" cy="1325563"/>
          </a:xfrm>
        </p:spPr>
        <p:txBody>
          <a:bodyPr>
            <a:normAutofit/>
          </a:bodyPr>
          <a:lstStyle/>
          <a:p>
            <a:r>
              <a:rPr lang="en-US" altLang="en-US" dirty="0"/>
              <a:t>Simulations</a:t>
            </a:r>
          </a:p>
        </p:txBody>
      </p:sp>
      <p:sp>
        <p:nvSpPr>
          <p:cNvPr id="136194" name="Content Placeholder 2">
            <a:extLst>
              <a:ext uri="{FF2B5EF4-FFF2-40B4-BE49-F238E27FC236}">
                <a16:creationId xmlns:a16="http://schemas.microsoft.com/office/drawing/2014/main" id="{31DCE5BD-01E8-435B-870B-5EBAC0600C01}"/>
              </a:ext>
            </a:extLst>
          </p:cNvPr>
          <p:cNvSpPr>
            <a:spLocks noGrp="1"/>
          </p:cNvSpPr>
          <p:nvPr>
            <p:ph idx="1"/>
          </p:nvPr>
        </p:nvSpPr>
        <p:spPr>
          <a:xfrm>
            <a:off x="838200" y="1419224"/>
            <a:ext cx="10515600" cy="4937126"/>
          </a:xfrm>
        </p:spPr>
        <p:txBody>
          <a:bodyPr/>
          <a:lstStyle/>
          <a:p>
            <a:r>
              <a:rPr lang="en-US" altLang="en-US" dirty="0"/>
              <a:t>Queueing models limited</a:t>
            </a:r>
          </a:p>
          <a:p>
            <a:r>
              <a:rPr lang="en-US" altLang="en-US" dirty="0">
                <a:solidFill>
                  <a:schemeClr val="accent1">
                    <a:lumMod val="75000"/>
                  </a:schemeClr>
                </a:solidFill>
              </a:rPr>
              <a:t>Simulations</a:t>
            </a:r>
            <a:r>
              <a:rPr lang="en-US" altLang="en-US" dirty="0"/>
              <a:t> more accurate</a:t>
            </a:r>
          </a:p>
          <a:p>
            <a:pPr lvl="1"/>
            <a:r>
              <a:rPr lang="en-US" altLang="en-US" dirty="0"/>
              <a:t>Programmed model of computer system</a:t>
            </a:r>
          </a:p>
          <a:p>
            <a:pPr lvl="1"/>
            <a:r>
              <a:rPr lang="en-US" altLang="en-US" dirty="0"/>
              <a:t>Clock is a variable</a:t>
            </a:r>
          </a:p>
          <a:p>
            <a:pPr lvl="1"/>
            <a:r>
              <a:rPr lang="en-US" altLang="en-US" dirty="0"/>
              <a:t>Gather statistics  indicating algorithm performance</a:t>
            </a:r>
          </a:p>
          <a:p>
            <a:pPr lvl="1"/>
            <a:r>
              <a:rPr lang="en-US" altLang="en-US" dirty="0"/>
              <a:t>Data to drive simulation gathered via</a:t>
            </a:r>
          </a:p>
          <a:p>
            <a:pPr lvl="2"/>
            <a:r>
              <a:rPr lang="en-US" altLang="en-US" dirty="0"/>
              <a:t>Random number generator according to probabilities</a:t>
            </a:r>
          </a:p>
          <a:p>
            <a:pPr lvl="2"/>
            <a:r>
              <a:rPr lang="en-US" altLang="en-US" dirty="0"/>
              <a:t>Distributions defined mathematically or empirically</a:t>
            </a:r>
          </a:p>
          <a:p>
            <a:pPr lvl="2"/>
            <a:r>
              <a:rPr lang="en-US" altLang="en-US" dirty="0"/>
              <a:t>Trace tapes record sequences of real events in real systems</a:t>
            </a:r>
          </a:p>
          <a:p>
            <a:pPr lvl="2"/>
            <a:endParaRPr lang="en-US" altLang="en-US" dirty="0"/>
          </a:p>
          <a:p>
            <a:pPr lvl="1"/>
            <a:endParaRPr lang="en-US" altLang="en-US" dirty="0"/>
          </a:p>
        </p:txBody>
      </p:sp>
    </p:spTree>
    <p:extLst>
      <p:ext uri="{BB962C8B-B14F-4D97-AF65-F5344CB8AC3E}">
        <p14:creationId xmlns:p14="http://schemas.microsoft.com/office/powerpoint/2010/main" val="192506474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7" name="Rectangle 2">
            <a:extLst>
              <a:ext uri="{FF2B5EF4-FFF2-40B4-BE49-F238E27FC236}">
                <a16:creationId xmlns:a16="http://schemas.microsoft.com/office/drawing/2014/main" id="{E376DC34-4892-46A6-9D5E-C8B743E88B4A}"/>
              </a:ext>
            </a:extLst>
          </p:cNvPr>
          <p:cNvSpPr>
            <a:spLocks noGrp="1" noChangeArrowheads="1"/>
          </p:cNvSpPr>
          <p:nvPr>
            <p:ph type="title"/>
          </p:nvPr>
        </p:nvSpPr>
        <p:spPr>
          <a:xfrm>
            <a:off x="838200" y="47625"/>
            <a:ext cx="10515600" cy="1325563"/>
          </a:xfrm>
        </p:spPr>
        <p:txBody>
          <a:bodyPr/>
          <a:lstStyle/>
          <a:p>
            <a:r>
              <a:rPr lang="en-US" altLang="en-US" dirty="0"/>
              <a:t>Evaluation of CPU Schedulers by Simulation</a:t>
            </a:r>
          </a:p>
        </p:txBody>
      </p:sp>
      <p:pic>
        <p:nvPicPr>
          <p:cNvPr id="137218" name="Picture 1">
            <a:extLst>
              <a:ext uri="{FF2B5EF4-FFF2-40B4-BE49-F238E27FC236}">
                <a16:creationId xmlns:a16="http://schemas.microsoft.com/office/drawing/2014/main" id="{AD0A361C-0911-4B85-9766-5E4140F2E093}"/>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650451" y="1560358"/>
            <a:ext cx="6891097" cy="4294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71588950"/>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BF936-A54D-481F-B512-55F7D727F5B8}"/>
              </a:ext>
            </a:extLst>
          </p:cNvPr>
          <p:cNvSpPr>
            <a:spLocks noGrp="1"/>
          </p:cNvSpPr>
          <p:nvPr>
            <p:ph type="title"/>
          </p:nvPr>
        </p:nvSpPr>
        <p:spPr/>
        <p:txBody>
          <a:bodyPr/>
          <a:lstStyle/>
          <a:p>
            <a:r>
              <a:rPr lang="en-US" dirty="0"/>
              <a:t>Implementation</a:t>
            </a:r>
          </a:p>
        </p:txBody>
      </p:sp>
      <p:sp>
        <p:nvSpPr>
          <p:cNvPr id="3" name="Content Placeholder 2">
            <a:extLst>
              <a:ext uri="{FF2B5EF4-FFF2-40B4-BE49-F238E27FC236}">
                <a16:creationId xmlns:a16="http://schemas.microsoft.com/office/drawing/2014/main" id="{3421DB8B-486C-4F68-80C6-1A2B90EA39B6}"/>
              </a:ext>
            </a:extLst>
          </p:cNvPr>
          <p:cNvSpPr>
            <a:spLocks noGrp="1"/>
          </p:cNvSpPr>
          <p:nvPr>
            <p:ph idx="1"/>
          </p:nvPr>
        </p:nvSpPr>
        <p:spPr/>
        <p:txBody>
          <a:bodyPr/>
          <a:lstStyle/>
          <a:p>
            <a:r>
              <a:rPr lang="en-US" dirty="0"/>
              <a:t>Even simulations have limited accuracy</a:t>
            </a:r>
          </a:p>
          <a:p>
            <a:r>
              <a:rPr lang="en-US" dirty="0"/>
              <a:t>Just implement new scheduler and test in real systems</a:t>
            </a:r>
          </a:p>
          <a:p>
            <a:pPr lvl="1"/>
            <a:r>
              <a:rPr lang="en-US" dirty="0"/>
              <a:t>High cost, high risk</a:t>
            </a:r>
          </a:p>
          <a:p>
            <a:pPr lvl="1"/>
            <a:r>
              <a:rPr lang="en-US" dirty="0"/>
              <a:t>Environments vary</a:t>
            </a:r>
          </a:p>
          <a:p>
            <a:r>
              <a:rPr lang="en-US" dirty="0"/>
              <a:t>Most flexible schedulers can be modified per-site or per-system</a:t>
            </a:r>
          </a:p>
          <a:p>
            <a:r>
              <a:rPr lang="en-US" dirty="0"/>
              <a:t>Or APIs to modify priorities</a:t>
            </a:r>
          </a:p>
          <a:p>
            <a:r>
              <a:rPr lang="en-US" dirty="0"/>
              <a:t>But again environments vary</a:t>
            </a:r>
          </a:p>
        </p:txBody>
      </p:sp>
    </p:spTree>
    <p:extLst>
      <p:ext uri="{BB962C8B-B14F-4D97-AF65-F5344CB8AC3E}">
        <p14:creationId xmlns:p14="http://schemas.microsoft.com/office/powerpoint/2010/main" val="338758440"/>
      </p:ext>
    </p:extLst>
  </p:cSld>
  <p:clrMapOvr>
    <a:masterClrMapping/>
  </p:clrMapOvr>
</p:sld>
</file>

<file path=ppt/theme/theme1.xml><?xml version="1.0" encoding="utf-8"?>
<a:theme xmlns:a="http://schemas.openxmlformats.org/drawingml/2006/main" name="1_Office Theme">
  <a:themeElements>
    <a:clrScheme name="Red Orange">
      <a:dk1>
        <a:sysClr val="windowText" lastClr="000000"/>
      </a:dk1>
      <a:lt1>
        <a:sysClr val="window" lastClr="FFFFFF"/>
      </a:lt1>
      <a:dk2>
        <a:srgbClr val="505046"/>
      </a:dk2>
      <a:lt2>
        <a:srgbClr val="EEECE1"/>
      </a:lt2>
      <a:accent1>
        <a:srgbClr val="E84C22"/>
      </a:accent1>
      <a:accent2>
        <a:srgbClr val="FFBD47"/>
      </a:accent2>
      <a:accent3>
        <a:srgbClr val="B64926"/>
      </a:accent3>
      <a:accent4>
        <a:srgbClr val="FF8427"/>
      </a:accent4>
      <a:accent5>
        <a:srgbClr val="CC9900"/>
      </a:accent5>
      <a:accent6>
        <a:srgbClr val="B22600"/>
      </a:accent6>
      <a:hlink>
        <a:srgbClr val="CC9900"/>
      </a:hlink>
      <a:folHlink>
        <a:srgbClr val="666699"/>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9681</TotalTime>
  <Words>4550</Words>
  <Application>Microsoft Office PowerPoint</Application>
  <PresentationFormat>Widescreen</PresentationFormat>
  <Paragraphs>859</Paragraphs>
  <Slides>89</Slides>
  <Notes>31</Notes>
  <HiddenSlides>10</HiddenSlides>
  <MMClips>0</MMClips>
  <ScaleCrop>false</ScaleCrop>
  <HeadingPairs>
    <vt:vector size="6" baseType="variant">
      <vt:variant>
        <vt:lpstr>Fonts Used</vt:lpstr>
      </vt:variant>
      <vt:variant>
        <vt:i4>14</vt:i4>
      </vt:variant>
      <vt:variant>
        <vt:lpstr>Theme</vt:lpstr>
      </vt:variant>
      <vt:variant>
        <vt:i4>2</vt:i4>
      </vt:variant>
      <vt:variant>
        <vt:lpstr>Slide Titles</vt:lpstr>
      </vt:variant>
      <vt:variant>
        <vt:i4>89</vt:i4>
      </vt:variant>
    </vt:vector>
  </HeadingPairs>
  <TitlesOfParts>
    <vt:vector size="105" baseType="lpstr">
      <vt:lpstr>ＭＳ Ｐゴシック</vt:lpstr>
      <vt:lpstr>ＭＳ Ｐゴシック</vt:lpstr>
      <vt:lpstr>Arial</vt:lpstr>
      <vt:lpstr>Calibri</vt:lpstr>
      <vt:lpstr>Calibri Light</vt:lpstr>
      <vt:lpstr>Century Gothic</vt:lpstr>
      <vt:lpstr>Corbel</vt:lpstr>
      <vt:lpstr>Courier New</vt:lpstr>
      <vt:lpstr>Helvetica</vt:lpstr>
      <vt:lpstr>Segoe UI</vt:lpstr>
      <vt:lpstr>Segoe UI Light</vt:lpstr>
      <vt:lpstr>Times New Roman</vt:lpstr>
      <vt:lpstr>Verdana</vt:lpstr>
      <vt:lpstr>Wingdings</vt:lpstr>
      <vt:lpstr>1_Office Theme</vt:lpstr>
      <vt:lpstr>Office Theme</vt:lpstr>
      <vt:lpstr>Process Scheduling Module 4</vt:lpstr>
      <vt:lpstr>Chapter Outline</vt:lpstr>
      <vt:lpstr>Scheduling</vt:lpstr>
      <vt:lpstr>Process Scheduling</vt:lpstr>
      <vt:lpstr>Process Scheduling</vt:lpstr>
      <vt:lpstr>Histogram of CPU-burst Times</vt:lpstr>
      <vt:lpstr>CPU Scheduler</vt:lpstr>
      <vt:lpstr>Dispatcher</vt:lpstr>
      <vt:lpstr>Scheduling Performance</vt:lpstr>
      <vt:lpstr>Scheduling Algorithm Objectives</vt:lpstr>
      <vt:lpstr>Criteria for Scheduling</vt:lpstr>
      <vt:lpstr>Scheduling Philosophies</vt:lpstr>
      <vt:lpstr>Process Scheduling Queues</vt:lpstr>
      <vt:lpstr>Levels of Scheduling</vt:lpstr>
      <vt:lpstr>Levels of Scheduling</vt:lpstr>
      <vt:lpstr>Schedulers in Operating System</vt:lpstr>
      <vt:lpstr>Scheduling Algorithms</vt:lpstr>
      <vt:lpstr>First Come First Serve Scheduling</vt:lpstr>
      <vt:lpstr>First Come First Serve Scheduling</vt:lpstr>
      <vt:lpstr>Practice Example (FCFS)</vt:lpstr>
      <vt:lpstr>Solution</vt:lpstr>
      <vt:lpstr>Shortest Job First Scheduling</vt:lpstr>
      <vt:lpstr>Shortest Job First Scheduling</vt:lpstr>
      <vt:lpstr>Shortest Job First Scheduling Non-Preemptive SJF Scheduling</vt:lpstr>
      <vt:lpstr>Completion, Turnaround and Waiting times</vt:lpstr>
      <vt:lpstr>Shortest Job First Scheduling Preemptive SJF Scheduling</vt:lpstr>
      <vt:lpstr>Completion, Turnaround and Waiting times</vt:lpstr>
      <vt:lpstr>Round Robin Scheduling</vt:lpstr>
      <vt:lpstr>Round Robin Scheduling</vt:lpstr>
      <vt:lpstr>Round Robin Scheduling</vt:lpstr>
      <vt:lpstr>Priority Scheduling</vt:lpstr>
      <vt:lpstr>Priority Scheduling - Salient points </vt:lpstr>
      <vt:lpstr>Multilevel Queue</vt:lpstr>
      <vt:lpstr>Multilevel Queue Scheduling</vt:lpstr>
      <vt:lpstr>Multilevel Feedback Queue</vt:lpstr>
      <vt:lpstr>Multilevel Feedback Queue</vt:lpstr>
      <vt:lpstr>Multilevel Feedback Queues</vt:lpstr>
      <vt:lpstr>Thread Scheduling</vt:lpstr>
      <vt:lpstr>Thread Scheduling</vt:lpstr>
      <vt:lpstr>Pthread Scheduling</vt:lpstr>
      <vt:lpstr>Pthread Scheduling API</vt:lpstr>
      <vt:lpstr>Pthread Scheduling API</vt:lpstr>
      <vt:lpstr>Multiple-Processor Scheduling</vt:lpstr>
      <vt:lpstr>Multiple-Processor Scheduling</vt:lpstr>
      <vt:lpstr>Multicore Processors</vt:lpstr>
      <vt:lpstr>Multithreaded Multicore System</vt:lpstr>
      <vt:lpstr>Multithreaded Multicore System</vt:lpstr>
      <vt:lpstr>Multithreaded Multicore System</vt:lpstr>
      <vt:lpstr>Multiple-Processor Scheduling – Load Balancing</vt:lpstr>
      <vt:lpstr>Multiple-Processor Scheduling – Processor Affinity</vt:lpstr>
      <vt:lpstr>NUMA and CPU Scheduling</vt:lpstr>
      <vt:lpstr>Real-Time Process Scheduling</vt:lpstr>
      <vt:lpstr>Real-Time CPU Scheduling</vt:lpstr>
      <vt:lpstr>Real-Time CPU Scheduling</vt:lpstr>
      <vt:lpstr>Interrupt Latency</vt:lpstr>
      <vt:lpstr>Dispatch Latency</vt:lpstr>
      <vt:lpstr>Priority-based Scheduling</vt:lpstr>
      <vt:lpstr>Rate Monotonic Scheduling</vt:lpstr>
      <vt:lpstr>Missed Deadlines with Rate Monotonic Scheduling</vt:lpstr>
      <vt:lpstr>Earliest Deadline First Scheduling (EDF)</vt:lpstr>
      <vt:lpstr>Proportional Share Scheduling</vt:lpstr>
      <vt:lpstr>POSIX Real-Time Scheduling</vt:lpstr>
      <vt:lpstr>POSIX Real-Time Scheduling API</vt:lpstr>
      <vt:lpstr>POSIX Real-Time Scheduling API</vt:lpstr>
      <vt:lpstr>Operating System Examples</vt:lpstr>
      <vt:lpstr>Operating System Examples</vt:lpstr>
      <vt:lpstr>BSD Unix Scheduling</vt:lpstr>
      <vt:lpstr>Linux Scheduling Through Version 2.5</vt:lpstr>
      <vt:lpstr>Linux Scheduling in Version 2.6.23 +</vt:lpstr>
      <vt:lpstr>Linux Scheduling in Version 2.6.23 +</vt:lpstr>
      <vt:lpstr>CFS Performance</vt:lpstr>
      <vt:lpstr>Linux Scheduling</vt:lpstr>
      <vt:lpstr>Linux Scheduling</vt:lpstr>
      <vt:lpstr>Windows Scheduling</vt:lpstr>
      <vt:lpstr>Windows Scheduling: Priority Classes</vt:lpstr>
      <vt:lpstr>Windows Scheduling: Priority Classes</vt:lpstr>
      <vt:lpstr>Windows Priorities</vt:lpstr>
      <vt:lpstr>Solaris Scheduling</vt:lpstr>
      <vt:lpstr>Solaris Dispatch Table </vt:lpstr>
      <vt:lpstr>Solaris Scheduling</vt:lpstr>
      <vt:lpstr>Solaris Scheduling</vt:lpstr>
      <vt:lpstr>Scheduling Algorithm’s Evaluation</vt:lpstr>
      <vt:lpstr>Algorithm Evaluation</vt:lpstr>
      <vt:lpstr>Deterministic Evaluation</vt:lpstr>
      <vt:lpstr>Queueing Models</vt:lpstr>
      <vt:lpstr>Little’s Formula</vt:lpstr>
      <vt:lpstr>Simulations</vt:lpstr>
      <vt:lpstr>Evaluation of CPU Schedulers by Simulation</vt:lpstr>
      <vt:lpstr>Implementation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Motivation &amp; Background Chapter 1</dc:title>
  <dc:creator>Sheheryar Malik</dc:creator>
  <cp:lastModifiedBy>LENOVO</cp:lastModifiedBy>
  <cp:revision>944</cp:revision>
  <cp:lastPrinted>2019-05-17T05:34:39Z</cp:lastPrinted>
  <dcterms:created xsi:type="dcterms:W3CDTF">2019-04-13T12:57:47Z</dcterms:created>
  <dcterms:modified xsi:type="dcterms:W3CDTF">2025-10-29T08:45:13Z</dcterms:modified>
</cp:coreProperties>
</file>