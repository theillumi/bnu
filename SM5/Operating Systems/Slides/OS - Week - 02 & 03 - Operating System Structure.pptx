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48" r:id="rId2"/>
  </p:sldMasterIdLst>
  <p:notesMasterIdLst>
    <p:notesMasterId r:id="rId73"/>
  </p:notesMasterIdLst>
  <p:handoutMasterIdLst>
    <p:handoutMasterId r:id="rId74"/>
  </p:handoutMasterIdLst>
  <p:sldIdLst>
    <p:sldId id="310" r:id="rId3"/>
    <p:sldId id="273" r:id="rId4"/>
    <p:sldId id="407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408" r:id="rId13"/>
    <p:sldId id="300" r:id="rId14"/>
    <p:sldId id="376" r:id="rId15"/>
    <p:sldId id="303" r:id="rId16"/>
    <p:sldId id="316" r:id="rId17"/>
    <p:sldId id="346" r:id="rId18"/>
    <p:sldId id="347" r:id="rId19"/>
    <p:sldId id="410" r:id="rId20"/>
    <p:sldId id="349" r:id="rId21"/>
    <p:sldId id="289" r:id="rId22"/>
    <p:sldId id="350" r:id="rId23"/>
    <p:sldId id="291" r:id="rId24"/>
    <p:sldId id="370" r:id="rId25"/>
    <p:sldId id="371" r:id="rId26"/>
    <p:sldId id="375" r:id="rId27"/>
    <p:sldId id="409" r:id="rId28"/>
    <p:sldId id="413" r:id="rId29"/>
    <p:sldId id="311" r:id="rId30"/>
    <p:sldId id="313" r:id="rId31"/>
    <p:sldId id="401" r:id="rId32"/>
    <p:sldId id="355" r:id="rId33"/>
    <p:sldId id="353" r:id="rId34"/>
    <p:sldId id="283" r:id="rId35"/>
    <p:sldId id="284" r:id="rId36"/>
    <p:sldId id="285" r:id="rId37"/>
    <p:sldId id="382" r:id="rId38"/>
    <p:sldId id="383" r:id="rId39"/>
    <p:sldId id="404" r:id="rId40"/>
    <p:sldId id="379" r:id="rId41"/>
    <p:sldId id="361" r:id="rId42"/>
    <p:sldId id="380" r:id="rId43"/>
    <p:sldId id="403" r:id="rId44"/>
    <p:sldId id="364" r:id="rId45"/>
    <p:sldId id="365" r:id="rId46"/>
    <p:sldId id="367" r:id="rId47"/>
    <p:sldId id="368" r:id="rId48"/>
    <p:sldId id="369" r:id="rId49"/>
    <p:sldId id="414" r:id="rId50"/>
    <p:sldId id="415" r:id="rId51"/>
    <p:sldId id="406" r:id="rId52"/>
    <p:sldId id="384" r:id="rId53"/>
    <p:sldId id="385" r:id="rId54"/>
    <p:sldId id="386" r:id="rId55"/>
    <p:sldId id="294" r:id="rId56"/>
    <p:sldId id="293" r:id="rId57"/>
    <p:sldId id="387" r:id="rId58"/>
    <p:sldId id="388" r:id="rId59"/>
    <p:sldId id="389" r:id="rId60"/>
    <p:sldId id="390" r:id="rId61"/>
    <p:sldId id="391" r:id="rId62"/>
    <p:sldId id="392" r:id="rId63"/>
    <p:sldId id="393" r:id="rId64"/>
    <p:sldId id="394" r:id="rId65"/>
    <p:sldId id="405" r:id="rId66"/>
    <p:sldId id="396" r:id="rId67"/>
    <p:sldId id="397" r:id="rId68"/>
    <p:sldId id="398" r:id="rId69"/>
    <p:sldId id="399" r:id="rId70"/>
    <p:sldId id="400" r:id="rId71"/>
    <p:sldId id="411" r:id="rId7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0000"/>
    <a:srgbClr val="F7F7F7"/>
    <a:srgbClr val="FBFBFB"/>
    <a:srgbClr val="7E0000"/>
    <a:srgbClr val="FFCCCC"/>
    <a:srgbClr val="A20000"/>
    <a:srgbClr val="4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85" autoAdjust="0"/>
    <p:restoredTop sz="94249" autoAdjust="0"/>
  </p:normalViewPr>
  <p:slideViewPr>
    <p:cSldViewPr snapToGrid="0">
      <p:cViewPr varScale="1">
        <p:scale>
          <a:sx n="73" d="100"/>
          <a:sy n="73" d="100"/>
        </p:scale>
        <p:origin x="846" y="78"/>
      </p:cViewPr>
      <p:guideLst/>
    </p:cSldViewPr>
  </p:slideViewPr>
  <p:outlineViewPr>
    <p:cViewPr>
      <p:scale>
        <a:sx n="33" d="100"/>
        <a:sy n="33" d="100"/>
      </p:scale>
      <p:origin x="0" y="-1832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948"/>
    </p:cViewPr>
  </p:sorterViewPr>
  <p:notesViewPr>
    <p:cSldViewPr snapToGrid="0">
      <p:cViewPr varScale="1">
        <p:scale>
          <a:sx n="54" d="100"/>
          <a:sy n="54" d="100"/>
        </p:scale>
        <p:origin x="287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C2AFD4F0-F8E7-4B38-8AB3-B3D42BB4AB6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E6758417-41DD-44E2-8136-3065CD04C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037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E97DC3C2-995C-486E-A92E-6DA415D3A3F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EA2CD191-96E2-491B-92DD-AC75CE7DA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4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11216C9D-B291-4B39-BC46-AC43ED2462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838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70662" indent="-296408" defTabSz="95838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85634" indent="-237127" defTabSz="95838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59887" indent="-237127" defTabSz="95838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34141" indent="-237127" defTabSz="958387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08395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82648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556902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031155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B4858F1-13CE-4023-AD26-8E8B8A9340C0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9D223ABF-4C7E-4B5F-A320-853C438163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8DFAFCD6-D1E7-4F93-A06E-58F543A6DB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0B7197EB-9EA5-440C-BF44-3CCC1D8BD1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60ADBD1-0CFE-4524-B710-0FA45B67A62C}" type="slidenum">
              <a:rPr lang="en-US" altLang="en-US">
                <a:latin typeface="Times New Roman" panose="02020603050405020304" pitchFamily="18" charset="0"/>
              </a:rPr>
              <a:pPr/>
              <a:t>54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5E333021-2AC7-4A64-BBE4-34E7715675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4293FD2-C714-429D-A3AA-6BC581EAC2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A507351B-D712-437E-98E7-F662A74309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32DF0B5-6DB1-40E4-9D70-8430FC6C4E9F}" type="slidenum">
              <a:rPr lang="en-US" altLang="en-US">
                <a:latin typeface="Times New Roman" panose="02020603050405020304" pitchFamily="18" charset="0"/>
              </a:rPr>
              <a:pPr/>
              <a:t>55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8FC88A25-20C1-4AB0-93D3-5CD9170E7C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88BD605D-FC05-4B6D-A985-DA551A53D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DEEB03A8-7595-4367-B405-E9D8408229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70662" indent="-296408"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85634" indent="-237127"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59887" indent="-237127"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34141" indent="-237127"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08395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82648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556902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031155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B807662-5321-4B0A-95ED-3930A25F14C8}" type="slidenum">
              <a:rPr lang="en-US" altLang="en-US" sz="1200">
                <a:latin typeface="Times New Roman" panose="02020603050405020304" pitchFamily="18" charset="0"/>
              </a:rPr>
              <a:pPr/>
              <a:t>59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20CC034B-6549-4302-9BB9-2384F50FFD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596AA99C-6998-4A07-95D6-73F7AEC4F1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689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0CB81E25-614E-498A-9B47-099DE0E14A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70662" indent="-296408"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85634" indent="-237127"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59887" indent="-237127"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34141" indent="-237127"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08395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82648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556902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031155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9ABAA93-C30C-4951-82C6-CED3AA1EF17C}" type="slidenum">
              <a:rPr lang="en-US" altLang="en-US" sz="1200">
                <a:latin typeface="Times New Roman" panose="02020603050405020304" pitchFamily="18" charset="0"/>
              </a:rPr>
              <a:pPr/>
              <a:t>60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7F3A7CFB-5A06-40F2-BD15-9DA043E177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2BEFF99E-7799-4BB4-AC8E-3FC458ED76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61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9992FA95-132C-49B2-A700-5144E63606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70662" indent="-296408"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85634" indent="-237127"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59887" indent="-237127"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34141" indent="-237127"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08395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82648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556902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031155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E0EDC4C-30B6-413B-AD24-4E0314B324FB}" type="slidenum">
              <a:rPr lang="en-US" altLang="en-US" sz="1200">
                <a:latin typeface="Times New Roman" panose="02020603050405020304" pitchFamily="18" charset="0"/>
              </a:rPr>
              <a:pPr/>
              <a:t>61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8E624FFB-F5D2-4DDD-81C4-2CE644CB5B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56861470-F91D-4163-A7D6-E9CE4A9BB9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133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E5338A76-3CFD-4F32-B682-1527E7FF05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70662" indent="-296408"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85634" indent="-237127"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59887" indent="-237127"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134141" indent="-237127" defTabSz="958387"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608395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82648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556902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4031155" indent="-237127" defTabSz="958387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16129D-86D2-4D32-AD29-A15F0F315376}" type="slidenum">
              <a:rPr lang="en-US" altLang="en-US" sz="1200">
                <a:latin typeface="Times New Roman" panose="02020603050405020304" pitchFamily="18" charset="0"/>
              </a:rPr>
              <a:pPr/>
              <a:t>62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2215C65F-F275-4B68-BA55-C58A46FBB9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3908720E-1DE2-4D3D-B01A-E8CF9A1EBC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585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622300" y="3894138"/>
            <a:ext cx="10972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711200"/>
            <a:ext cx="10058400" cy="2890838"/>
          </a:xfrm>
        </p:spPr>
        <p:txBody>
          <a:bodyPr anchor="b"/>
          <a:lstStyle>
            <a:lvl1pPr algn="ctr">
              <a:defRPr sz="6000">
                <a:latin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4122738"/>
            <a:ext cx="10058400" cy="1655762"/>
          </a:xfrm>
        </p:spPr>
        <p:txBody>
          <a:bodyPr/>
          <a:lstStyle>
            <a:lvl1pPr marL="0" indent="0" algn="ctr">
              <a:buNone/>
              <a:defRPr sz="2400">
                <a:latin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D29DD9-4302-427D-93BD-28F094C994FA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07F44B-0869-4E0B-9D14-E05949FF70E1}"/>
              </a:ext>
            </a:extLst>
          </p:cNvPr>
          <p:cNvCxnSpPr/>
          <p:nvPr/>
        </p:nvCxnSpPr>
        <p:spPr>
          <a:xfrm>
            <a:off x="10669815" y="-2963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7D2442-658D-4BB3-BDA2-F2D185E92367}"/>
              </a:ext>
            </a:extLst>
          </p:cNvPr>
          <p:cNvCxnSpPr>
            <a:cxnSpLocks/>
          </p:cNvCxnSpPr>
          <p:nvPr/>
        </p:nvCxnSpPr>
        <p:spPr>
          <a:xfrm flipH="1">
            <a:off x="9980612" y="3692843"/>
            <a:ext cx="2208213" cy="316515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8">
            <a:extLst>
              <a:ext uri="{FF2B5EF4-FFF2-40B4-BE49-F238E27FC236}">
                <a16:creationId xmlns:a16="http://schemas.microsoft.com/office/drawing/2014/main" id="{49F2F0DD-6C19-4F59-8AA1-E4FB554C837E}"/>
              </a:ext>
            </a:extLst>
          </p:cNvPr>
          <p:cNvSpPr/>
          <p:nvPr/>
        </p:nvSpPr>
        <p:spPr>
          <a:xfrm>
            <a:off x="10898730" y="2963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7FF1F6D6-FC9F-4600-897C-08B1AC898438}"/>
              </a:ext>
            </a:extLst>
          </p:cNvPr>
          <p:cNvSpPr/>
          <p:nvPr/>
        </p:nvSpPr>
        <p:spPr>
          <a:xfrm>
            <a:off x="10938999" y="2963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8B78111-75F2-4EEA-9A56-7D7C5B867C34}"/>
              </a:ext>
            </a:extLst>
          </p:cNvPr>
          <p:cNvSpPr/>
          <p:nvPr/>
        </p:nvSpPr>
        <p:spPr>
          <a:xfrm>
            <a:off x="10371666" y="360129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  <a:alpha val="6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5D00097-3B25-4093-8399-53FC9EDB415E}"/>
              </a:ext>
            </a:extLst>
          </p:cNvPr>
          <p:cNvSpPr/>
          <p:nvPr/>
        </p:nvSpPr>
        <p:spPr>
          <a:xfrm>
            <a:off x="2792" y="1185757"/>
            <a:ext cx="1005840" cy="5669280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025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711200"/>
            <a:ext cx="10058400" cy="2890838"/>
          </a:xfrm>
        </p:spPr>
        <p:txBody>
          <a:bodyPr anchor="b"/>
          <a:lstStyle>
            <a:lvl1pPr algn="ctr">
              <a:defRPr sz="6000">
                <a:latin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4122738"/>
            <a:ext cx="10058400" cy="1655762"/>
          </a:xfrm>
        </p:spPr>
        <p:txBody>
          <a:bodyPr/>
          <a:lstStyle>
            <a:lvl1pPr marL="0" indent="0" algn="ctr">
              <a:buNone/>
              <a:defRPr sz="2400">
                <a:latin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D29DD9-4302-427D-93BD-28F094C994FA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235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76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A024D1-2235-4261-84CC-7F2CA511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800" b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F90A18-E68B-4A7C-B7A8-92A1B095E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78D857C9-565A-47AB-A6D8-2A2B3D87D94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86756" y="6399348"/>
            <a:ext cx="45720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 b="1" i="1" smtClean="0">
                <a:latin typeface="Verdana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4C918-24AF-40BD-B9B5-B36F83F28A8C}" type="slidenum">
              <a:rPr kumimoji="0" lang="en-US" sz="1400" b="1" i="1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  <p:sp>
        <p:nvSpPr>
          <p:cNvPr id="11" name="Rectangle 18">
            <a:extLst>
              <a:ext uri="{FF2B5EF4-FFF2-40B4-BE49-F238E27FC236}">
                <a16:creationId xmlns:a16="http://schemas.microsoft.com/office/drawing/2014/main" id="{8DAD96D6-5B9C-4DBD-8B54-B9DBB8C433E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83050" y="6451600"/>
            <a:ext cx="402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smtClean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Sheheryar Malik, Ph.D.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CB60C4-6E75-4231-81D0-064636C0F587}"/>
              </a:ext>
            </a:extLst>
          </p:cNvPr>
          <p:cNvSpPr/>
          <p:nvPr userDrawn="1"/>
        </p:nvSpPr>
        <p:spPr>
          <a:xfrm>
            <a:off x="342682" y="4459918"/>
            <a:ext cx="91440" cy="18288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02C899-A8CF-4D04-BCAF-8F79500D2F0C}"/>
              </a:ext>
            </a:extLst>
          </p:cNvPr>
          <p:cNvSpPr/>
          <p:nvPr userDrawn="1"/>
        </p:nvSpPr>
        <p:spPr>
          <a:xfrm>
            <a:off x="342900" y="3412144"/>
            <a:ext cx="91440" cy="1005840"/>
          </a:xfrm>
          <a:prstGeom prst="rect">
            <a:avLst/>
          </a:prstGeom>
          <a:solidFill>
            <a:srgbClr val="A28E6A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A6FA3A-3D2E-4D3A-90EC-A647392A50BF}"/>
              </a:ext>
            </a:extLst>
          </p:cNvPr>
          <p:cNvSpPr/>
          <p:nvPr userDrawn="1"/>
        </p:nvSpPr>
        <p:spPr>
          <a:xfrm>
            <a:off x="342900" y="2743193"/>
            <a:ext cx="91440" cy="640080"/>
          </a:xfrm>
          <a:prstGeom prst="rect">
            <a:avLst/>
          </a:prstGeom>
          <a:solidFill>
            <a:schemeClr val="bg1">
              <a:lumMod val="65000"/>
            </a:scheme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ACD2D5-50F6-4000-BEB5-02DF9B6CB908}"/>
              </a:ext>
            </a:extLst>
          </p:cNvPr>
          <p:cNvSpPr/>
          <p:nvPr userDrawn="1"/>
        </p:nvSpPr>
        <p:spPr>
          <a:xfrm>
            <a:off x="342900" y="2191691"/>
            <a:ext cx="91440" cy="13716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645F37-B01C-4AA2-9A56-942AB7EABC53}"/>
              </a:ext>
            </a:extLst>
          </p:cNvPr>
          <p:cNvSpPr/>
          <p:nvPr userDrawn="1"/>
        </p:nvSpPr>
        <p:spPr>
          <a:xfrm>
            <a:off x="342900" y="2355934"/>
            <a:ext cx="9144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903324D6-3C92-4C64-A666-E130E68D8E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42900" y="6451600"/>
            <a:ext cx="402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Operating System Structure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56FD98-E169-4DCB-B5F9-EF9767B1769F}"/>
              </a:ext>
            </a:extLst>
          </p:cNvPr>
          <p:cNvSpPr/>
          <p:nvPr userDrawn="1"/>
        </p:nvSpPr>
        <p:spPr>
          <a:xfrm>
            <a:off x="10558938" y="47625"/>
            <a:ext cx="13997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2434625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>
            <a:lvl1pPr>
              <a:buClr>
                <a:srgbClr val="C00000"/>
              </a:buClr>
              <a:defRPr/>
            </a:lvl1pPr>
            <a:lvl2pPr marL="685800" indent="-228600">
              <a:buClr>
                <a:srgbClr val="002060"/>
              </a:buClr>
              <a:buSzPct val="80000"/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3pPr>
            <a:lvl4pPr>
              <a:buClr>
                <a:srgbClr val="002060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710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76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1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 marL="685800" indent="-228600">
              <a:buClr>
                <a:schemeClr val="accent6">
                  <a:lumMod val="60000"/>
                  <a:lumOff val="40000"/>
                </a:schemeClr>
              </a:buClr>
              <a:buSzPct val="80000"/>
              <a:buFont typeface="Courier New" panose="02070309020205020404" pitchFamily="49" charset="0"/>
              <a:buChar char="o"/>
              <a:defRPr>
                <a:solidFill>
                  <a:schemeClr val="bg1"/>
                </a:solidFill>
              </a:defRPr>
            </a:lvl2pPr>
            <a:lvl3pPr marL="1143000" indent="-22860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832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A024D1-2235-4261-84CC-7F2CA511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4800" b="1">
                <a:solidFill>
                  <a:srgbClr val="C00000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F90A18-E68B-4A7C-B7A8-92A1B095E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41552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393777"/>
            <a:ext cx="51206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238278"/>
            <a:ext cx="5120640" cy="39513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93779"/>
            <a:ext cx="51206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17689"/>
            <a:ext cx="5120640" cy="39719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7CB8E7-6D87-40F4-9983-4594A9AEC18B}"/>
              </a:ext>
            </a:extLst>
          </p:cNvPr>
          <p:cNvSpPr/>
          <p:nvPr userDrawn="1"/>
        </p:nvSpPr>
        <p:spPr>
          <a:xfrm>
            <a:off x="10246609" y="47625"/>
            <a:ext cx="1712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IT Service Management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9113F6-0730-4011-8815-3FF1753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148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711200"/>
            <a:ext cx="10058400" cy="2890838"/>
          </a:xfr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  <a:latin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4122738"/>
            <a:ext cx="100584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2300" y="3894138"/>
            <a:ext cx="10972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59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>
            <a:lvl1pPr>
              <a:buClr>
                <a:srgbClr val="C00000"/>
              </a:buClr>
              <a:defRPr/>
            </a:lvl1pPr>
            <a:lvl2pPr marL="685800" indent="-228600">
              <a:buClr>
                <a:srgbClr val="002060"/>
              </a:buClr>
              <a:buSzPct val="80000"/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3pPr>
            <a:lvl4pPr>
              <a:buClr>
                <a:srgbClr val="002060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6894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A024D1-2235-4261-84CC-7F2CA511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4800" b="1">
                <a:solidFill>
                  <a:srgbClr val="C00000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F90A18-E68B-4A7C-B7A8-92A1B095E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502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73188"/>
            <a:ext cx="5120640" cy="4803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73188"/>
            <a:ext cx="5120640" cy="4803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3866FE-4B4F-48A8-8721-20B757069001}"/>
              </a:ext>
            </a:extLst>
          </p:cNvPr>
          <p:cNvSpPr/>
          <p:nvPr userDrawn="1"/>
        </p:nvSpPr>
        <p:spPr>
          <a:xfrm>
            <a:off x="10246609" y="47625"/>
            <a:ext cx="1712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IT Service Management</a:t>
            </a:r>
          </a:p>
        </p:txBody>
      </p:sp>
    </p:spTree>
    <p:extLst>
      <p:ext uri="{BB962C8B-B14F-4D97-AF65-F5344CB8AC3E}">
        <p14:creationId xmlns:p14="http://schemas.microsoft.com/office/powerpoint/2010/main" val="3576681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393777"/>
            <a:ext cx="51206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238278"/>
            <a:ext cx="5120640" cy="39513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93779"/>
            <a:ext cx="51206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17689"/>
            <a:ext cx="5120640" cy="39719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7CB8E7-6D87-40F4-9983-4594A9AEC18B}"/>
              </a:ext>
            </a:extLst>
          </p:cNvPr>
          <p:cNvSpPr/>
          <p:nvPr userDrawn="1"/>
        </p:nvSpPr>
        <p:spPr>
          <a:xfrm>
            <a:off x="10246609" y="47625"/>
            <a:ext cx="1712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IT Service Management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9113F6-0730-4011-8815-3FF1753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0549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4CF745-6EDB-4208-9010-31248509EE22}" type="datetime1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9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F86697-F896-4D6D-B84C-552DCABE6614}" type="datetime1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14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AC2689-2A9F-49ED-8241-1986025505EB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07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6161B3-54A1-413C-B8D2-465092B984D1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47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3541D6-CFE7-41C6-807C-A510B50B5BA2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78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4DA443-4C90-4E74-B571-AFB4D58D5ED3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60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19224"/>
            <a:ext cx="10515600" cy="4924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0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8" r:id="rId2"/>
    <p:sldLayoutId id="2147483651" r:id="rId3"/>
    <p:sldLayoutId id="2147483687" r:id="rId4"/>
    <p:sldLayoutId id="2147483689" r:id="rId5"/>
    <p:sldLayoutId id="2147483678" r:id="rId6"/>
    <p:sldLayoutId id="2147483680" r:id="rId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SzPct val="80000"/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19224"/>
            <a:ext cx="10515600" cy="4924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E32BD0-7330-4272-82E9-A9CAB20CD102}"/>
              </a:ext>
            </a:extLst>
          </p:cNvPr>
          <p:cNvSpPr/>
          <p:nvPr userDrawn="1"/>
        </p:nvSpPr>
        <p:spPr>
          <a:xfrm>
            <a:off x="10558938" y="47625"/>
            <a:ext cx="13997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Operating Systems</a:t>
            </a:r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83FDDCFB-A997-46E6-9FFD-8AC263D63C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86756" y="6399348"/>
            <a:ext cx="457200" cy="457200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 b="1" i="1" smtClean="0">
                <a:latin typeface="Verdana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4C918-24AF-40BD-B9B5-B36F83F28A8C}" type="slidenum">
              <a:rPr kumimoji="0" lang="en-US" sz="1400" b="1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A08B1F5C-5B67-496D-B135-CA249522C6E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42900" y="6451600"/>
            <a:ext cx="402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Operating System Structure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64C31F2D-428B-47CA-9119-8DB7D4F9343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83050" y="6451600"/>
            <a:ext cx="402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smtClean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Sheheryar Malik, Ph.D.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F099F0-5000-4B34-AE00-C6337EDD41FC}"/>
              </a:ext>
            </a:extLst>
          </p:cNvPr>
          <p:cNvSpPr/>
          <p:nvPr userDrawn="1"/>
        </p:nvSpPr>
        <p:spPr>
          <a:xfrm>
            <a:off x="342682" y="4459918"/>
            <a:ext cx="91440" cy="1828800"/>
          </a:xfrm>
          <a:prstGeom prst="rect">
            <a:avLst/>
          </a:prstGeom>
          <a:solidFill>
            <a:srgbClr val="9B2D1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2BACF0-A96E-4FB3-B6C9-76FE7A86508C}"/>
              </a:ext>
            </a:extLst>
          </p:cNvPr>
          <p:cNvSpPr/>
          <p:nvPr userDrawn="1"/>
        </p:nvSpPr>
        <p:spPr>
          <a:xfrm>
            <a:off x="342900" y="3412144"/>
            <a:ext cx="91440" cy="1005840"/>
          </a:xfrm>
          <a:prstGeom prst="rect">
            <a:avLst/>
          </a:prstGeom>
          <a:solidFill>
            <a:srgbClr val="A28E6A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5C4C5F-7E26-4B82-AA28-5D45B051DE80}"/>
              </a:ext>
            </a:extLst>
          </p:cNvPr>
          <p:cNvSpPr/>
          <p:nvPr userDrawn="1"/>
        </p:nvSpPr>
        <p:spPr>
          <a:xfrm>
            <a:off x="342900" y="2743193"/>
            <a:ext cx="91440" cy="640080"/>
          </a:xfrm>
          <a:prstGeom prst="rect">
            <a:avLst/>
          </a:prstGeom>
          <a:solidFill>
            <a:srgbClr val="696464"/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659286-E1E1-4CC2-B85D-A7D0405C2BC7}"/>
              </a:ext>
            </a:extLst>
          </p:cNvPr>
          <p:cNvSpPr/>
          <p:nvPr userDrawn="1"/>
        </p:nvSpPr>
        <p:spPr>
          <a:xfrm>
            <a:off x="342900" y="2191691"/>
            <a:ext cx="91440" cy="137160"/>
          </a:xfrm>
          <a:prstGeom prst="rect">
            <a:avLst/>
          </a:prstGeom>
          <a:solidFill>
            <a:srgbClr val="9B2D1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B4EA7D-FB77-4453-8980-E49CD0EF492E}"/>
              </a:ext>
            </a:extLst>
          </p:cNvPr>
          <p:cNvSpPr/>
          <p:nvPr userDrawn="1"/>
        </p:nvSpPr>
        <p:spPr>
          <a:xfrm>
            <a:off x="342900" y="2355934"/>
            <a:ext cx="91440" cy="365760"/>
          </a:xfrm>
          <a:prstGeom prst="rect">
            <a:avLst/>
          </a:prstGeom>
          <a:solidFill>
            <a:srgbClr val="002060"/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370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4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C00000"/>
          </a:solidFill>
          <a:latin typeface="Segoe UI Light" panose="020B0502040204020203" pitchFamily="34" charset="0"/>
          <a:ea typeface="+mj-ea"/>
          <a:cs typeface="Segoe UI Light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SzPct val="80000"/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Operating System Structure</a:t>
            </a:r>
            <a:br>
              <a:rPr lang="en-US" dirty="0"/>
            </a:br>
            <a:r>
              <a:rPr lang="en-US" sz="3600" b="1" dirty="0" smtClean="0">
                <a:solidFill>
                  <a:schemeClr val="tx1"/>
                </a:solidFill>
              </a:rPr>
              <a:t>Week - 02</a:t>
            </a:r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Operating Systems</a:t>
            </a:r>
          </a:p>
          <a:p>
            <a:r>
              <a:rPr lang="en-US" b="1" dirty="0" smtClean="0">
                <a:solidFill>
                  <a:srgbClr val="002060"/>
                </a:solidFill>
              </a:rPr>
              <a:t>                                         </a:t>
            </a:r>
          </a:p>
          <a:p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                                                                              Instructor: Noreen Khalid</a:t>
            </a:r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361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Chapter Outline</a:t>
            </a:r>
            <a:endParaRPr lang="en-US" dirty="0"/>
          </a:p>
        </p:txBody>
      </p:sp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Process Management </a:t>
            </a:r>
          </a:p>
          <a:p>
            <a:r>
              <a:rPr lang="en-US" dirty="0"/>
              <a:t>Memory Management</a:t>
            </a:r>
          </a:p>
          <a:p>
            <a:r>
              <a:rPr lang="en-US" dirty="0"/>
              <a:t>File Management</a:t>
            </a:r>
          </a:p>
          <a:p>
            <a:r>
              <a:rPr lang="en-US" dirty="0"/>
              <a:t>I/O System Management</a:t>
            </a:r>
          </a:p>
          <a:p>
            <a:r>
              <a:rPr lang="en-US" dirty="0"/>
              <a:t>Secondary Storage Management</a:t>
            </a:r>
          </a:p>
          <a:p>
            <a:r>
              <a:rPr lang="en-US" dirty="0"/>
              <a:t>Networking</a:t>
            </a:r>
          </a:p>
          <a:p>
            <a:r>
              <a:rPr lang="en-US" dirty="0"/>
              <a:t>System Protection </a:t>
            </a:r>
          </a:p>
          <a:p>
            <a:r>
              <a:rPr lang="en-US" dirty="0"/>
              <a:t>Operating System Services</a:t>
            </a:r>
          </a:p>
          <a:p>
            <a:r>
              <a:rPr lang="en-US" dirty="0"/>
              <a:t>OS Layered Approach</a:t>
            </a:r>
          </a:p>
          <a:p>
            <a:pPr lvl="1"/>
            <a:r>
              <a:rPr lang="en-US" dirty="0"/>
              <a:t>OS/2 Layer Structure</a:t>
            </a:r>
          </a:p>
          <a:p>
            <a:r>
              <a:rPr lang="en-US" dirty="0"/>
              <a:t>Virtual Machines</a:t>
            </a:r>
          </a:p>
          <a:p>
            <a:r>
              <a:rPr lang="en-US" dirty="0"/>
              <a:t>System Design Goals</a:t>
            </a:r>
          </a:p>
          <a:p>
            <a:r>
              <a:rPr lang="en-US" dirty="0"/>
              <a:t>Mechanisms and Policies</a:t>
            </a:r>
          </a:p>
          <a:p>
            <a:r>
              <a:rPr lang="en-US" dirty="0"/>
              <a:t>Operating System Implementation</a:t>
            </a:r>
          </a:p>
          <a:p>
            <a:r>
              <a:rPr lang="en-US" dirty="0"/>
              <a:t>System Generation (SYSGEN)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46CD1-16B5-4B3E-A7AD-AE3E125E8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Service Management</a:t>
            </a:r>
          </a:p>
        </p:txBody>
      </p:sp>
    </p:spTree>
    <p:extLst>
      <p:ext uri="{BB962C8B-B14F-4D97-AF65-F5344CB8AC3E}">
        <p14:creationId xmlns:p14="http://schemas.microsoft.com/office/powerpoint/2010/main" val="298546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Process Management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A process is a program in execution</a:t>
            </a:r>
          </a:p>
          <a:p>
            <a:r>
              <a:rPr lang="en-US" dirty="0"/>
              <a:t>A process needs certain resources, including CPU time, memory, files, and I/O devices, to accomplish its task</a:t>
            </a:r>
          </a:p>
          <a:p>
            <a:r>
              <a:rPr lang="en-US" dirty="0"/>
              <a:t>The operating system is responsible for the following activities in connection with process manager</a:t>
            </a:r>
          </a:p>
          <a:p>
            <a:pPr lvl="1"/>
            <a:r>
              <a:rPr lang="en-US" dirty="0"/>
              <a:t>Process creation and termination</a:t>
            </a:r>
          </a:p>
          <a:p>
            <a:pPr lvl="1"/>
            <a:r>
              <a:rPr lang="en-US" dirty="0"/>
              <a:t>Process suspension and resumption</a:t>
            </a:r>
          </a:p>
          <a:p>
            <a:pPr lvl="1"/>
            <a:r>
              <a:rPr lang="en-US" dirty="0"/>
              <a:t>Provision of mechanisms for:</a:t>
            </a:r>
          </a:p>
          <a:p>
            <a:pPr lvl="2"/>
            <a:r>
              <a:rPr lang="en-US" dirty="0"/>
              <a:t>process synchronization</a:t>
            </a:r>
          </a:p>
          <a:p>
            <a:pPr lvl="2"/>
            <a:r>
              <a:rPr lang="en-US" dirty="0"/>
              <a:t>process communication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Memory Management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Memory is a large array of words or bytes, each with its own address</a:t>
            </a:r>
          </a:p>
          <a:p>
            <a:r>
              <a:rPr lang="en-US" dirty="0"/>
              <a:t>It is a repository of quickly accessible data shared by the CPU and I/O devices.</a:t>
            </a:r>
          </a:p>
          <a:p>
            <a:r>
              <a:rPr lang="en-US" dirty="0"/>
              <a:t>Main memory is a volatile storage device</a:t>
            </a:r>
          </a:p>
          <a:p>
            <a:pPr lvl="1"/>
            <a:r>
              <a:rPr lang="en-US" dirty="0"/>
              <a:t>It looses its contents in the case of system failure</a:t>
            </a:r>
          </a:p>
          <a:p>
            <a:r>
              <a:rPr lang="en-US" dirty="0"/>
              <a:t>The operating system is responsible for the following activities in connections with memory management:</a:t>
            </a:r>
          </a:p>
          <a:p>
            <a:pPr lvl="1"/>
            <a:r>
              <a:rPr lang="en-US" dirty="0"/>
              <a:t>Keep track of which parts of memory are currently being used and by whom</a:t>
            </a:r>
          </a:p>
          <a:p>
            <a:pPr lvl="1"/>
            <a:r>
              <a:rPr lang="en-US" dirty="0"/>
              <a:t>Decide which processes to load when memory space becomes available</a:t>
            </a:r>
          </a:p>
          <a:p>
            <a:pPr lvl="1"/>
            <a:r>
              <a:rPr lang="en-US" dirty="0"/>
              <a:t>Allocate and deallocate memory space as needed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File Management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/>
              <a:t>A file is a collection of related information defined by its creator</a:t>
            </a:r>
          </a:p>
          <a:p>
            <a:r>
              <a:rPr lang="en-US"/>
              <a:t>Commonly, files represent programs (both source and object forms) and data</a:t>
            </a:r>
          </a:p>
          <a:p>
            <a:r>
              <a:rPr lang="en-US"/>
              <a:t>The operating system is responsible for the following activities in connections with file management:</a:t>
            </a:r>
          </a:p>
          <a:p>
            <a:pPr lvl="1"/>
            <a:r>
              <a:rPr lang="en-US"/>
              <a:t>File creation and deletion</a:t>
            </a:r>
          </a:p>
          <a:p>
            <a:pPr lvl="1"/>
            <a:r>
              <a:rPr lang="en-US"/>
              <a:t>Directory creation and deletion</a:t>
            </a:r>
          </a:p>
          <a:p>
            <a:pPr lvl="1"/>
            <a:r>
              <a:rPr lang="en-US"/>
              <a:t>Support of primitives for manipulating files and directories</a:t>
            </a:r>
          </a:p>
          <a:p>
            <a:pPr lvl="1"/>
            <a:r>
              <a:rPr lang="en-US"/>
              <a:t>Mapping files onto secondary storage</a:t>
            </a:r>
          </a:p>
          <a:p>
            <a:pPr lvl="1"/>
            <a:r>
              <a:rPr lang="en-US"/>
              <a:t>File backup on stable (nonvolatile) storage media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I/O System Management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2238376"/>
          </a:xfrm>
        </p:spPr>
        <p:txBody>
          <a:bodyPr/>
          <a:lstStyle/>
          <a:p>
            <a:r>
              <a:rPr lang="en-US" dirty="0"/>
              <a:t>Operating system is responsible for I/O system management</a:t>
            </a:r>
          </a:p>
          <a:p>
            <a:r>
              <a:rPr lang="en-US" dirty="0"/>
              <a:t>The I/O system consists of:</a:t>
            </a:r>
          </a:p>
          <a:p>
            <a:pPr lvl="1"/>
            <a:r>
              <a:rPr lang="en-US" dirty="0"/>
              <a:t>A buffer-caching system </a:t>
            </a:r>
          </a:p>
          <a:p>
            <a:pPr lvl="1"/>
            <a:r>
              <a:rPr lang="en-US" dirty="0"/>
              <a:t>A general device-driver </a:t>
            </a:r>
            <a:r>
              <a:rPr lang="en-US" dirty="0" smtClean="0"/>
              <a:t>interface</a:t>
            </a:r>
          </a:p>
          <a:p>
            <a:pPr lvl="1"/>
            <a:r>
              <a:rPr lang="en-US" dirty="0" smtClean="0"/>
              <a:t>Drivers for specific hardware devices</a:t>
            </a:r>
            <a:endParaRPr 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476103" y="3391341"/>
            <a:ext cx="98776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4034" y="505532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Buffer-Caching System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Smooth, efficient data transfer.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 Device-Driver Interface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Provides uniform I/O API for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 Drivers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Translate OS requests into hardware-specific actions.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Secondary Storage Management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idx="1"/>
          </p:nvPr>
        </p:nvSpPr>
        <p:spPr>
          <a:xfrm>
            <a:off x="668383" y="1105715"/>
            <a:ext cx="10515600" cy="3244216"/>
          </a:xfrm>
        </p:spPr>
        <p:txBody>
          <a:bodyPr>
            <a:noAutofit/>
          </a:bodyPr>
          <a:lstStyle/>
          <a:p>
            <a:r>
              <a:rPr lang="en-US" sz="2000" dirty="0"/>
              <a:t>Since main memory (primary storage) is volatile and too small to accommodate all data and programs permanently, the computer system must provide secondary storage to back up main memory</a:t>
            </a:r>
          </a:p>
          <a:p>
            <a:r>
              <a:rPr lang="en-US" sz="2000" dirty="0"/>
              <a:t>Most modern computer systems use disks as the principle on-line storage medium, for both programs and data</a:t>
            </a:r>
          </a:p>
          <a:p>
            <a:r>
              <a:rPr lang="en-US" sz="2000" dirty="0"/>
              <a:t>The operating system is responsible for the following activities in connection with disk management: </a:t>
            </a:r>
          </a:p>
          <a:p>
            <a:pPr lvl="1"/>
            <a:r>
              <a:rPr lang="en-US" sz="2000" dirty="0"/>
              <a:t>Free space management</a:t>
            </a:r>
          </a:p>
          <a:p>
            <a:pPr lvl="1"/>
            <a:r>
              <a:rPr lang="en-US" sz="2000" dirty="0"/>
              <a:t>Storage allocation</a:t>
            </a:r>
          </a:p>
          <a:p>
            <a:pPr lvl="1"/>
            <a:r>
              <a:rPr lang="en-US" sz="2000" dirty="0"/>
              <a:t>Disk scheduling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1127759" y="4349931"/>
            <a:ext cx="85648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Secondary Storage Management by OS includes: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Free space management</a:t>
            </a:r>
            <a:r>
              <a:rPr lang="en-US" dirty="0"/>
              <a:t> → Track unused blocks.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Storage allocation</a:t>
            </a:r>
            <a:r>
              <a:rPr lang="en-US" dirty="0"/>
              <a:t> → Decide how to store files.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Disk scheduling</a:t>
            </a:r>
            <a:r>
              <a:rPr lang="en-US" dirty="0"/>
              <a:t> → Optimize I/O request order.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File system management</a:t>
            </a:r>
            <a:r>
              <a:rPr lang="en-US" dirty="0"/>
              <a:t> → Provide structure for data.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Reliability &amp; recovery</a:t>
            </a:r>
            <a:r>
              <a:rPr lang="en-US" dirty="0"/>
              <a:t> → Ensure data safety.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6"/>
            <a:ext cx="10515600" cy="788398"/>
          </a:xfrm>
        </p:spPr>
        <p:txBody>
          <a:bodyPr/>
          <a:lstStyle/>
          <a:p>
            <a:r>
              <a:rPr lang="en-US" dirty="0"/>
              <a:t>Networked System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>
          <a:xfrm>
            <a:off x="694509" y="753911"/>
            <a:ext cx="10147662" cy="2773060"/>
          </a:xfrm>
        </p:spPr>
        <p:txBody>
          <a:bodyPr>
            <a:noAutofit/>
          </a:bodyPr>
          <a:lstStyle/>
          <a:p>
            <a:r>
              <a:rPr lang="en-US" sz="1800" dirty="0"/>
              <a:t>A networking system is a collection of processors </a:t>
            </a:r>
          </a:p>
          <a:p>
            <a:r>
              <a:rPr lang="en-US" sz="1800" dirty="0"/>
              <a:t>The processors in the system are connected through a communication network</a:t>
            </a:r>
          </a:p>
          <a:p>
            <a:r>
              <a:rPr lang="en-US" sz="1800" dirty="0"/>
              <a:t>Communication takes place using a protocol</a:t>
            </a:r>
          </a:p>
          <a:p>
            <a:r>
              <a:rPr lang="en-US" sz="1800" dirty="0"/>
              <a:t>This system provides user access to various system resources</a:t>
            </a:r>
          </a:p>
          <a:p>
            <a:r>
              <a:rPr lang="en-US" sz="1800" dirty="0"/>
              <a:t>Access to a shared resource allows:</a:t>
            </a:r>
          </a:p>
          <a:p>
            <a:pPr lvl="1"/>
            <a:r>
              <a:rPr lang="en-US" sz="1800" dirty="0"/>
              <a:t>Computation speed-up </a:t>
            </a:r>
          </a:p>
          <a:p>
            <a:pPr lvl="1"/>
            <a:r>
              <a:rPr lang="en-US" sz="1800" dirty="0"/>
              <a:t>Increased data availability</a:t>
            </a:r>
          </a:p>
          <a:p>
            <a:pPr lvl="1"/>
            <a:r>
              <a:rPr lang="en-US" sz="1800" dirty="0"/>
              <a:t>Enhanced reliability</a:t>
            </a:r>
          </a:p>
        </p:txBody>
      </p:sp>
      <p:sp>
        <p:nvSpPr>
          <p:cNvPr id="2" name="Rectangle 1"/>
          <p:cNvSpPr/>
          <p:nvPr/>
        </p:nvSpPr>
        <p:spPr>
          <a:xfrm>
            <a:off x="694509" y="3526971"/>
            <a:ext cx="57563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networked system</a:t>
            </a:r>
            <a:r>
              <a:rPr lang="en-US" sz="2000" dirty="0"/>
              <a:t> = interconnected computers managed by OS to provide: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Communication</a:t>
            </a:r>
            <a:r>
              <a:rPr lang="en-US" sz="2000" dirty="0"/>
              <a:t> (sockets, RPCs)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Resource sharing</a:t>
            </a:r>
            <a:r>
              <a:rPr lang="en-US" sz="2000" dirty="0"/>
              <a:t> (files, printers, applications)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Security</a:t>
            </a:r>
            <a:r>
              <a:rPr lang="en-US" sz="2000" dirty="0"/>
              <a:t> (authentication, encryption)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Fault tolerance</a:t>
            </a:r>
            <a:r>
              <a:rPr lang="en-US" sz="2000" dirty="0"/>
              <a:t> (distributed reliability)</a:t>
            </a:r>
          </a:p>
        </p:txBody>
      </p:sp>
      <p:sp>
        <p:nvSpPr>
          <p:cNvPr id="4" name="Rectangle 3"/>
          <p:cNvSpPr/>
          <p:nvPr/>
        </p:nvSpPr>
        <p:spPr>
          <a:xfrm>
            <a:off x="6339841" y="3526971"/>
            <a:ext cx="561267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Real-Life Examples of Networked Systems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University or Office LAN (Local Area Network)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All computers in labs or offices are connected.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Shared </a:t>
            </a:r>
            <a:r>
              <a:rPr lang="en-US" b="1" dirty="0"/>
              <a:t>printers, files, and applications</a:t>
            </a:r>
            <a:r>
              <a:rPr lang="en-US" dirty="0"/>
              <a:t> across the network.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Student submits assignment from one PC → teacher accesses it on another.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2403565" y="5558296"/>
            <a:ext cx="92223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Small-scale examples</a:t>
            </a:r>
            <a:r>
              <a:rPr lang="en-US" dirty="0"/>
              <a:t> → University LAN, Office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Large-scale examples</a:t>
            </a:r>
            <a:r>
              <a:rPr lang="en-US" dirty="0"/>
              <a:t> → Cloud storage, Banking networks, E-commerce, Social media.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System Protection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>
          <a:xfrm>
            <a:off x="720634" y="922836"/>
            <a:ext cx="10515600" cy="2173062"/>
          </a:xfrm>
        </p:spPr>
        <p:txBody>
          <a:bodyPr>
            <a:noAutofit/>
          </a:bodyPr>
          <a:lstStyle/>
          <a:p>
            <a:r>
              <a:rPr lang="en-US" sz="2400" dirty="0"/>
              <a:t>Protection refers to a mechanism for controlling access by programs, processes, or users to both system and user resources</a:t>
            </a:r>
          </a:p>
          <a:p>
            <a:r>
              <a:rPr lang="en-US" sz="2400" dirty="0"/>
              <a:t>The protection mechanism must: </a:t>
            </a:r>
          </a:p>
          <a:p>
            <a:pPr lvl="1"/>
            <a:r>
              <a:rPr lang="en-US" sz="2000" dirty="0"/>
              <a:t>distinguish between authorized and unauthorized access</a:t>
            </a:r>
          </a:p>
          <a:p>
            <a:pPr lvl="1"/>
            <a:r>
              <a:rPr lang="en-US" sz="2000" dirty="0"/>
              <a:t>specify the controls to be imposed</a:t>
            </a:r>
          </a:p>
          <a:p>
            <a:pPr lvl="1"/>
            <a:r>
              <a:rPr lang="en-US" sz="2000" dirty="0"/>
              <a:t>provide a means of enforcement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838200" y="3095898"/>
            <a:ext cx="1094667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Example 1: University LAN (Local Area Network)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 a university, multiple computers in labs are </a:t>
            </a:r>
            <a:r>
              <a:rPr lang="en-US" sz="2000" b="1" dirty="0"/>
              <a:t>connected via LAN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networked OS</a:t>
            </a:r>
            <a:r>
              <a:rPr lang="en-US" sz="2000" dirty="0"/>
              <a:t> allows: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Communication</a:t>
            </a:r>
            <a:r>
              <a:rPr lang="en-US" sz="2000" dirty="0"/>
              <a:t> → Students can send messages or submit assignments through a central server.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Resource Sharing</a:t>
            </a:r>
            <a:r>
              <a:rPr lang="en-US" sz="2000" dirty="0"/>
              <a:t> → Printers, projectors, and lab software are shared across all PCs.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Security</a:t>
            </a:r>
            <a:r>
              <a:rPr lang="en-US" sz="2000" dirty="0"/>
              <a:t> → Only students with valid logins can access lab systems.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Fault Tolerance</a:t>
            </a:r>
            <a:r>
              <a:rPr lang="en-US" sz="2000" dirty="0"/>
              <a:t> → If one lab PC crashes, the rest of the network still works.</a:t>
            </a:r>
          </a:p>
        </p:txBody>
      </p:sp>
      <p:sp>
        <p:nvSpPr>
          <p:cNvPr id="3" name="Rectangle 2"/>
          <p:cNvSpPr/>
          <p:nvPr/>
        </p:nvSpPr>
        <p:spPr>
          <a:xfrm>
            <a:off x="6311537" y="544927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LAN in a university</a:t>
            </a:r>
            <a:r>
              <a:rPr lang="en-US" dirty="0"/>
              <a:t> → small-scale networked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Google Drive/Cloud</a:t>
            </a:r>
            <a:r>
              <a:rPr lang="en-US" dirty="0"/>
              <a:t> → large-scale, distributed networked 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94F18-C8B7-4509-9590-9030A5A7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Services</a:t>
            </a:r>
          </a:p>
        </p:txBody>
      </p:sp>
    </p:spTree>
    <p:extLst>
      <p:ext uri="{BB962C8B-B14F-4D97-AF65-F5344CB8AC3E}">
        <p14:creationId xmlns:p14="http://schemas.microsoft.com/office/powerpoint/2010/main" val="4118502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801461"/>
          </a:xfrm>
        </p:spPr>
        <p:txBody>
          <a:bodyPr/>
          <a:lstStyle/>
          <a:p>
            <a:r>
              <a:rPr lang="en-US" dirty="0"/>
              <a:t>Operating System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997405"/>
            <a:ext cx="108008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An </a:t>
            </a:r>
            <a:r>
              <a:rPr lang="en-US" sz="2000" b="1" dirty="0"/>
              <a:t>Operating System </a:t>
            </a:r>
            <a:r>
              <a:rPr lang="en-US" sz="2000" b="1" dirty="0" smtClean="0"/>
              <a:t>(OS)</a:t>
            </a:r>
            <a:r>
              <a:rPr lang="en-US" sz="2000" dirty="0" smtClean="0"/>
              <a:t> provides a </a:t>
            </a:r>
            <a:r>
              <a:rPr lang="en-US" sz="2000" dirty="0"/>
              <a:t>set of </a:t>
            </a:r>
            <a:r>
              <a:rPr lang="en-US" sz="2000" b="1" dirty="0"/>
              <a:t>services</a:t>
            </a:r>
            <a:r>
              <a:rPr lang="en-US" sz="2000" dirty="0"/>
              <a:t> to users, programs, and hardware to make the system convenient, efficient, and secure.</a:t>
            </a:r>
            <a:br>
              <a:rPr lang="en-US" sz="2000" dirty="0"/>
            </a:br>
            <a:r>
              <a:rPr lang="en-US" sz="2000" dirty="0"/>
              <a:t>These services act as an </a:t>
            </a:r>
            <a:r>
              <a:rPr lang="en-US" sz="2000" b="1" dirty="0"/>
              <a:t>interface</a:t>
            </a:r>
            <a:r>
              <a:rPr lang="en-US" sz="2000" dirty="0"/>
              <a:t> between the user/programs and the computer hardware.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2161387"/>
            <a:ext cx="1065820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Major Operating System Services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Program Execution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Load programs into memory and run them.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Handle execution, termination, and errors.</a:t>
            </a:r>
          </a:p>
          <a:p>
            <a:pPr lvl="1"/>
            <a:r>
              <a:rPr lang="en-US" sz="2000" dirty="0" smtClean="0"/>
              <a:t>     Example</a:t>
            </a:r>
            <a:r>
              <a:rPr lang="en-US" sz="2000" dirty="0"/>
              <a:t>: Running MS Word or a Python script.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I/O Operations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Provide simple and uniform access to I/O devices.</a:t>
            </a:r>
          </a:p>
          <a:p>
            <a:pPr lvl="1"/>
            <a:r>
              <a:rPr lang="en-US" sz="2000" dirty="0" smtClean="0"/>
              <a:t>     Example</a:t>
            </a:r>
            <a:r>
              <a:rPr lang="en-US" sz="2000" dirty="0"/>
              <a:t>: Reading from keyboard, writing to a file, printing a document.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File System Manipulation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Create, delete, read, write, and manage files/directories.</a:t>
            </a:r>
          </a:p>
          <a:p>
            <a:pPr lvl="1"/>
            <a:r>
              <a:rPr lang="en-US" sz="2000" dirty="0" smtClean="0"/>
              <a:t>     Example</a:t>
            </a:r>
            <a:r>
              <a:rPr lang="en-US" sz="2000" dirty="0"/>
              <a:t>: Saving a Word document on disk.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60" y="47625"/>
            <a:ext cx="10515600" cy="605517"/>
          </a:xfrm>
        </p:spPr>
        <p:txBody>
          <a:bodyPr>
            <a:normAutofit/>
          </a:bodyPr>
          <a:lstStyle/>
          <a:p>
            <a:r>
              <a:rPr lang="en-US" dirty="0"/>
              <a:t>Operating System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" y="824549"/>
            <a:ext cx="107746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4.Communication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Allow processes to exchange information.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Methods: </a:t>
            </a:r>
            <a:r>
              <a:rPr lang="en-US" sz="2000" b="1" dirty="0"/>
              <a:t>Shared memory, Message passing, Sockets</a:t>
            </a:r>
            <a:r>
              <a:rPr lang="en-US" sz="2000" dirty="0"/>
              <a:t>.</a:t>
            </a:r>
          </a:p>
          <a:p>
            <a:pPr lvl="1"/>
            <a:r>
              <a:rPr lang="en-US" sz="2000" dirty="0" smtClean="0"/>
              <a:t>     Example</a:t>
            </a:r>
            <a:r>
              <a:rPr lang="en-US" sz="2000" dirty="0"/>
              <a:t>: Chat applications (WhatsApp, Messenger).</a:t>
            </a:r>
          </a:p>
          <a:p>
            <a:r>
              <a:rPr lang="en-US" sz="2000" b="1" dirty="0" smtClean="0"/>
              <a:t>5.Error </a:t>
            </a:r>
            <a:r>
              <a:rPr lang="en-US" sz="2000" b="1" dirty="0"/>
              <a:t>Detection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Detect and handle errors in hardware (disk failure, bad memory) and software (invalid memory access).</a:t>
            </a:r>
          </a:p>
          <a:p>
            <a:pPr lvl="1"/>
            <a:r>
              <a:rPr lang="en-US" sz="2000" dirty="0" smtClean="0"/>
              <a:t>    Example</a:t>
            </a:r>
            <a:r>
              <a:rPr lang="en-US" sz="2000" dirty="0"/>
              <a:t>: Blue screen error in Windows, “Segmentation fault” in Linux.</a:t>
            </a:r>
          </a:p>
          <a:p>
            <a:r>
              <a:rPr lang="en-US" sz="2000" b="1" dirty="0" smtClean="0"/>
              <a:t>6.Resource </a:t>
            </a:r>
            <a:r>
              <a:rPr lang="en-US" sz="2000" b="1" dirty="0"/>
              <a:t>Allocation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Manage CPU, memory, and I/O devices among multiple processes.</a:t>
            </a:r>
          </a:p>
          <a:p>
            <a:pPr lvl="1"/>
            <a:r>
              <a:rPr lang="en-US" sz="2000" dirty="0" smtClean="0"/>
              <a:t>     Example</a:t>
            </a:r>
            <a:r>
              <a:rPr lang="en-US" sz="2000" dirty="0"/>
              <a:t>: OS decides which process gets CPU time next.</a:t>
            </a:r>
          </a:p>
          <a:p>
            <a:r>
              <a:rPr lang="en-US" sz="2000" b="1" dirty="0" smtClean="0"/>
              <a:t>7.Accounting </a:t>
            </a:r>
            <a:r>
              <a:rPr lang="en-US" sz="2000" b="1" dirty="0"/>
              <a:t>(Monitoring &amp; Logging)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Keep track of resource usage by users/processes.</a:t>
            </a:r>
          </a:p>
          <a:p>
            <a:pPr lvl="1"/>
            <a:r>
              <a:rPr lang="en-US" sz="2000" dirty="0" smtClean="0"/>
              <a:t>     Example</a:t>
            </a:r>
            <a:r>
              <a:rPr lang="en-US" sz="2000" dirty="0"/>
              <a:t>: How much CPU time a process used, internet data usage.</a:t>
            </a:r>
          </a:p>
          <a:p>
            <a:r>
              <a:rPr lang="en-US" sz="2000" b="1" dirty="0" smtClean="0"/>
              <a:t>8.Protection </a:t>
            </a:r>
            <a:r>
              <a:rPr lang="en-US" sz="2000" b="1" dirty="0"/>
              <a:t>and Security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Control access to resources.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Ensure only authorized users/programs can access files, memory, or devices.</a:t>
            </a:r>
          </a:p>
          <a:p>
            <a:pPr lvl="1"/>
            <a:r>
              <a:rPr lang="en-US" sz="2000" dirty="0" smtClean="0"/>
              <a:t>     Example</a:t>
            </a:r>
            <a:r>
              <a:rPr lang="en-US" sz="2000" dirty="0"/>
              <a:t>: Login authentication, file permissions in Linux 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9454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View of Operating System Services</a:t>
            </a:r>
            <a:endParaRPr lang="en-US" dirty="0"/>
          </a:p>
        </p:txBody>
      </p:sp>
      <p:pic>
        <p:nvPicPr>
          <p:cNvPr id="4" name="Picture 4" descr="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0271" y="1373188"/>
            <a:ext cx="9911458" cy="4948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749209"/>
          </a:xfrm>
        </p:spPr>
        <p:txBody>
          <a:bodyPr/>
          <a:lstStyle/>
          <a:p>
            <a:r>
              <a:rPr lang="en-US" dirty="0"/>
              <a:t>System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03" y="975087"/>
            <a:ext cx="10515600" cy="4733382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System </a:t>
            </a:r>
            <a:r>
              <a:rPr lang="en-US" sz="2400" dirty="0"/>
              <a:t>programs are </a:t>
            </a:r>
            <a:r>
              <a:rPr lang="en-US" sz="2400" b="1" dirty="0"/>
              <a:t>utility programs</a:t>
            </a:r>
            <a:r>
              <a:rPr lang="en-US" sz="2400" dirty="0"/>
              <a:t> that provide a convenient environment for program development and execution.</a:t>
            </a:r>
            <a:br>
              <a:rPr lang="en-US" sz="2400" dirty="0"/>
            </a:br>
            <a:r>
              <a:rPr lang="en-US" sz="2400" dirty="0"/>
              <a:t>They sit </a:t>
            </a:r>
            <a:r>
              <a:rPr lang="en-US" sz="2400" b="1" dirty="0"/>
              <a:t>above the OS kernel</a:t>
            </a:r>
            <a:r>
              <a:rPr lang="en-US" sz="2400" dirty="0"/>
              <a:t> and </a:t>
            </a:r>
            <a:r>
              <a:rPr lang="en-US" sz="2400" b="1" dirty="0"/>
              <a:t>below the application software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/>
              <a:t>They can be divided into</a:t>
            </a:r>
            <a:r>
              <a:rPr lang="en-US" sz="2400" dirty="0" smtClean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sz="2000" dirty="0"/>
              <a:t>File manipulation </a:t>
            </a:r>
          </a:p>
          <a:p>
            <a:pPr lvl="1"/>
            <a:r>
              <a:rPr lang="en-US" sz="2000" dirty="0"/>
              <a:t>Status information sometimes stored in a File modification</a:t>
            </a:r>
          </a:p>
          <a:p>
            <a:pPr lvl="1"/>
            <a:r>
              <a:rPr lang="en-US" sz="2000" dirty="0"/>
              <a:t>Programming language support</a:t>
            </a:r>
          </a:p>
          <a:p>
            <a:pPr lvl="1"/>
            <a:r>
              <a:rPr lang="en-US" sz="2000" dirty="0"/>
              <a:t>Program loading and execution</a:t>
            </a:r>
          </a:p>
          <a:p>
            <a:pPr lvl="1"/>
            <a:r>
              <a:rPr lang="en-US" sz="2000" dirty="0"/>
              <a:t>Communications</a:t>
            </a:r>
          </a:p>
          <a:p>
            <a:pPr lvl="1"/>
            <a:r>
              <a:rPr lang="en-US" sz="2000" dirty="0"/>
              <a:t>Background </a:t>
            </a:r>
            <a:r>
              <a:rPr lang="en-US" sz="2000" dirty="0" smtClean="0"/>
              <a:t>services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Most users</a:t>
            </a:r>
            <a:r>
              <a:rPr lang="ja-JP" altLang="en-US" sz="2400" dirty="0"/>
              <a:t>’</a:t>
            </a:r>
            <a:r>
              <a:rPr lang="en-US" altLang="ja-JP" sz="2400" dirty="0"/>
              <a:t> view of the operation system is defined by system programs, not the actual system calls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645921" y="5886722"/>
            <a:ext cx="99538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They are helper programs that make the OS more useful for both users and developers.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631644"/>
          </a:xfrm>
        </p:spPr>
        <p:txBody>
          <a:bodyPr/>
          <a:lstStyle/>
          <a:p>
            <a:r>
              <a:rPr lang="en-US" dirty="0"/>
              <a:t>System Programs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200" y="897362"/>
            <a:ext cx="1114044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System Programs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Management Programs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Create, delete, read, write, copy, and move files.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Example: Windows Explorer, Linux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mv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rm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 Information Programs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system info, performance, and resource usage.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Example: Task Manager in Windows,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uptime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 Linux.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Modification Programs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 or modify file content.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Example: Notepad,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nano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vim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 Support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Compilers, assemblers, interpreters.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Example: GCC (C compiler), Python interpreter.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 Loading and Execution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programs into memory and run them.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Example: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./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a.out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 Linux, double-clicking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.exe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 Windows.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814524"/>
          </a:xfrm>
        </p:spPr>
        <p:txBody>
          <a:bodyPr/>
          <a:lstStyle/>
          <a:p>
            <a:r>
              <a:rPr lang="en-US" dirty="0"/>
              <a:t>System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66652"/>
            <a:ext cx="10515600" cy="2090057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6"/>
            </a:pPr>
            <a:r>
              <a:rPr lang="en-US" dirty="0" smtClean="0"/>
              <a:t> </a:t>
            </a:r>
            <a:r>
              <a:rPr lang="en-US" altLang="en-US" sz="2000" b="1" dirty="0">
                <a:latin typeface="Arial" panose="020B0604020202020204" pitchFamily="34" charset="0"/>
              </a:rPr>
              <a:t>Communication Programs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Enable communication between processes or users.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 smtClean="0">
                <a:latin typeface="Arial" panose="020B0604020202020204" pitchFamily="34" charset="0"/>
              </a:rPr>
              <a:t>   Example</a:t>
            </a:r>
            <a:r>
              <a:rPr lang="en-US" altLang="en-US" sz="2000" dirty="0">
                <a:latin typeface="Arial" panose="020B0604020202020204" pitchFamily="34" charset="0"/>
              </a:rPr>
              <a:t>: Email client, chat applications, </a:t>
            </a:r>
            <a:r>
              <a:rPr lang="en-US" altLang="en-US" sz="2000" dirty="0" err="1">
                <a:latin typeface="Arial Unicode MS"/>
              </a:rPr>
              <a:t>ssh</a:t>
            </a:r>
            <a:r>
              <a:rPr lang="en-US" altLang="en-US" sz="2000" dirty="0"/>
              <a:t>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7"/>
            </a:pPr>
            <a:r>
              <a:rPr lang="en-US" altLang="en-US" sz="2000" b="1" dirty="0" smtClean="0">
                <a:latin typeface="Arial" panose="020B0604020202020204" pitchFamily="34" charset="0"/>
              </a:rPr>
              <a:t>   Application </a:t>
            </a:r>
            <a:r>
              <a:rPr lang="en-US" altLang="en-US" sz="2000" b="1" dirty="0">
                <a:latin typeface="Arial" panose="020B0604020202020204" pitchFamily="34" charset="0"/>
              </a:rPr>
              <a:t>Support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Provide common functions for apps.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 smtClean="0">
                <a:latin typeface="Arial" panose="020B0604020202020204" pitchFamily="34" charset="0"/>
              </a:rPr>
              <a:t>   Example</a:t>
            </a:r>
            <a:r>
              <a:rPr lang="en-US" altLang="en-US" sz="2000" dirty="0">
                <a:latin typeface="Arial" panose="020B0604020202020204" pitchFamily="34" charset="0"/>
              </a:rPr>
              <a:t>: Database engines, window systems.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36469" y="3099656"/>
            <a:ext cx="8608422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 of System Programs (Real Life)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Windows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Notepad, Task Manager, Explorer, CMD.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Linux/Unix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gcc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36469" y="4640512"/>
            <a:ext cx="1021733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System programs </a:t>
            </a:r>
            <a:r>
              <a:rPr lang="en-US" sz="2000" dirty="0"/>
              <a:t>= "Helper utilities" provided by the OS for file handling, program development, system status, and user interaction.</a:t>
            </a:r>
            <a:br>
              <a:rPr lang="en-US" sz="2000" dirty="0"/>
            </a:br>
            <a:r>
              <a:rPr lang="en-US" sz="2000" dirty="0"/>
              <a:t>They make the computer more </a:t>
            </a:r>
            <a:r>
              <a:rPr lang="en-US" sz="2000" b="1" dirty="0"/>
              <a:t>user-friendly</a:t>
            </a:r>
            <a:r>
              <a:rPr lang="en-US" sz="2000" dirty="0"/>
              <a:t> and support both </a:t>
            </a:r>
            <a:r>
              <a:rPr lang="en-US" sz="2000" b="1" dirty="0"/>
              <a:t>users &amp; developers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A6ACE4-CFA8-4723-8D37-80986F8DE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Operating System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Design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10393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Operating System Design and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/>
          </a:bodyPr>
          <a:lstStyle/>
          <a:p>
            <a:r>
              <a:rPr lang="en-US" dirty="0"/>
              <a:t>Design and Implementation of OS not </a:t>
            </a:r>
            <a:r>
              <a:rPr lang="ja-JP" altLang="en-US" dirty="0"/>
              <a:t>“</a:t>
            </a:r>
            <a:r>
              <a:rPr lang="en-US" altLang="ja-JP" dirty="0"/>
              <a:t>solvable</a:t>
            </a:r>
            <a:r>
              <a:rPr lang="ja-JP" altLang="en-US" dirty="0"/>
              <a:t>”</a:t>
            </a:r>
            <a:r>
              <a:rPr lang="en-US" altLang="ja-JP" dirty="0"/>
              <a:t>, but some approaches have proven successful</a:t>
            </a:r>
          </a:p>
          <a:p>
            <a:r>
              <a:rPr lang="en-US" dirty="0"/>
              <a:t>Internal structure of different Operating Systems  can vary widely</a:t>
            </a:r>
          </a:p>
          <a:p>
            <a:r>
              <a:rPr lang="en-US" dirty="0"/>
              <a:t>Start by defining goals and specifications </a:t>
            </a:r>
          </a:p>
          <a:p>
            <a:r>
              <a:rPr lang="en-US" dirty="0"/>
              <a:t>Affected by choice of hardware, type of system</a:t>
            </a:r>
          </a:p>
          <a:p>
            <a:r>
              <a:rPr lang="en-US" dirty="0"/>
              <a:t>User goals and System goals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6E9388-98FA-48C8-963A-16845BA70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User goals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Operating system should be </a:t>
            </a:r>
          </a:p>
          <a:p>
            <a:r>
              <a:rPr lang="en-US" sz="2400" dirty="0"/>
              <a:t>convenient to use</a:t>
            </a:r>
          </a:p>
          <a:p>
            <a:r>
              <a:rPr lang="en-US" sz="2400" dirty="0"/>
              <a:t>easy to learn</a:t>
            </a:r>
          </a:p>
          <a:p>
            <a:r>
              <a:rPr lang="en-US" sz="2400" dirty="0"/>
              <a:t>reliable</a:t>
            </a:r>
          </a:p>
          <a:p>
            <a:r>
              <a:rPr lang="en-US" sz="2400" dirty="0"/>
              <a:t>safe  </a:t>
            </a:r>
          </a:p>
          <a:p>
            <a:r>
              <a:rPr lang="en-US" sz="2400" dirty="0"/>
              <a:t>fast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C4D12-BCC7-47C3-AF2D-A78F7A8BE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System goals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1AB9A7-BA13-4B27-BEEF-9BF3C5DFFBB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Operating system should be </a:t>
            </a:r>
          </a:p>
          <a:p>
            <a:r>
              <a:rPr lang="en-US" sz="2400" dirty="0"/>
              <a:t>easy to design</a:t>
            </a:r>
          </a:p>
          <a:p>
            <a:r>
              <a:rPr lang="en-US" sz="2400" dirty="0"/>
              <a:t>implement</a:t>
            </a:r>
          </a:p>
          <a:p>
            <a:r>
              <a:rPr lang="en-US" sz="2400" dirty="0"/>
              <a:t>maintain</a:t>
            </a:r>
          </a:p>
          <a:p>
            <a:r>
              <a:rPr lang="en-US" sz="2400" dirty="0"/>
              <a:t>flexible</a:t>
            </a:r>
          </a:p>
          <a:p>
            <a:r>
              <a:rPr lang="en-US" sz="2400" dirty="0"/>
              <a:t>reliable</a:t>
            </a:r>
          </a:p>
          <a:p>
            <a:r>
              <a:rPr lang="en-US" sz="2400" dirty="0"/>
              <a:t>error-free</a:t>
            </a:r>
          </a:p>
          <a:p>
            <a:r>
              <a:rPr lang="en-US" sz="2400" dirty="0"/>
              <a:t>efficient</a:t>
            </a:r>
          </a:p>
        </p:txBody>
      </p:sp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Design Goals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Operating System Design and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Important principle to separate</a:t>
            </a:r>
          </a:p>
          <a:p>
            <a:pPr lvl="1"/>
            <a:r>
              <a:rPr lang="en-US" b="1" dirty="0">
                <a:solidFill>
                  <a:srgbClr val="3366FF"/>
                </a:solidFill>
              </a:rPr>
              <a:t>Policy</a:t>
            </a:r>
            <a:r>
              <a:rPr lang="en-US" b="1" dirty="0"/>
              <a:t>:   </a:t>
            </a:r>
            <a:r>
              <a:rPr lang="en-US" b="1" i="1" dirty="0"/>
              <a:t>What</a:t>
            </a:r>
            <a:r>
              <a:rPr lang="en-US" dirty="0"/>
              <a:t> will be done?</a:t>
            </a:r>
            <a:r>
              <a:rPr lang="en-US" b="1" dirty="0"/>
              <a:t> </a:t>
            </a:r>
          </a:p>
          <a:p>
            <a:pPr lvl="1"/>
            <a:r>
              <a:rPr lang="en-US" b="1" dirty="0">
                <a:solidFill>
                  <a:srgbClr val="3366FF"/>
                </a:solidFill>
              </a:rPr>
              <a:t>Mechanism</a:t>
            </a:r>
            <a:r>
              <a:rPr lang="en-US" b="1" dirty="0"/>
              <a:t>:  </a:t>
            </a:r>
            <a:r>
              <a:rPr lang="en-US" b="1" i="1" dirty="0"/>
              <a:t>How</a:t>
            </a:r>
            <a:r>
              <a:rPr lang="en-US" dirty="0"/>
              <a:t> to do it?</a:t>
            </a:r>
          </a:p>
          <a:p>
            <a:r>
              <a:rPr lang="en-US" dirty="0"/>
              <a:t>Mechanisms determine how to do something, policies decide what will be done</a:t>
            </a:r>
          </a:p>
          <a:p>
            <a:pPr lvl="1"/>
            <a:r>
              <a:rPr lang="en-US" dirty="0"/>
              <a:t>The separation of policy from mechanism is a very important principle, it allows maximum flexibility if policy decisions are to be changed later</a:t>
            </a:r>
          </a:p>
          <a:p>
            <a:r>
              <a:rPr lang="en-US" dirty="0"/>
              <a:t>Specifying and designing OS is highly creative task of </a:t>
            </a:r>
            <a:r>
              <a:rPr lang="en-US" b="1" dirty="0">
                <a:solidFill>
                  <a:srgbClr val="3366FF"/>
                </a:solidFill>
              </a:rPr>
              <a:t>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Operating System Implementation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Much variation</a:t>
            </a:r>
          </a:p>
          <a:p>
            <a:pPr lvl="1"/>
            <a:r>
              <a:rPr lang="en-US" dirty="0"/>
              <a:t>Early </a:t>
            </a:r>
            <a:r>
              <a:rPr lang="en-US" dirty="0" err="1"/>
              <a:t>OSes</a:t>
            </a:r>
            <a:r>
              <a:rPr lang="en-US" dirty="0"/>
              <a:t> in assembly language</a:t>
            </a:r>
          </a:p>
          <a:p>
            <a:pPr lvl="1"/>
            <a:r>
              <a:rPr lang="en-US" dirty="0"/>
              <a:t>Then system programming languages like </a:t>
            </a:r>
            <a:r>
              <a:rPr lang="en-US" dirty="0" err="1"/>
              <a:t>Algol</a:t>
            </a:r>
            <a:r>
              <a:rPr lang="en-US" dirty="0"/>
              <a:t>, PL/1</a:t>
            </a:r>
          </a:p>
          <a:p>
            <a:pPr lvl="1"/>
            <a:r>
              <a:rPr lang="en-US" dirty="0"/>
              <a:t>Now C, C++</a:t>
            </a:r>
          </a:p>
          <a:p>
            <a:r>
              <a:rPr lang="en-US" dirty="0"/>
              <a:t>Actually usually a mix of languages</a:t>
            </a:r>
          </a:p>
          <a:p>
            <a:pPr lvl="1"/>
            <a:r>
              <a:rPr lang="en-US" dirty="0"/>
              <a:t>Lowest levels in assembly</a:t>
            </a:r>
          </a:p>
          <a:p>
            <a:pPr lvl="1"/>
            <a:r>
              <a:rPr lang="en-US" dirty="0"/>
              <a:t>Main body in C</a:t>
            </a:r>
          </a:p>
          <a:p>
            <a:pPr lvl="1"/>
            <a:r>
              <a:rPr lang="en-US" dirty="0"/>
              <a:t>Systems programs in C, C++, scripting languages like PERL, Python, shell scripts</a:t>
            </a:r>
          </a:p>
          <a:p>
            <a:r>
              <a:rPr lang="en-US" dirty="0"/>
              <a:t>Code written in a high-level language:</a:t>
            </a:r>
          </a:p>
          <a:p>
            <a:pPr lvl="1"/>
            <a:r>
              <a:rPr lang="en-US" dirty="0"/>
              <a:t>can be written faster</a:t>
            </a:r>
          </a:p>
          <a:p>
            <a:pPr lvl="1"/>
            <a:r>
              <a:rPr lang="en-US" dirty="0"/>
              <a:t>is more compact</a:t>
            </a:r>
          </a:p>
          <a:p>
            <a:pPr lvl="1"/>
            <a:r>
              <a:rPr lang="en-US" dirty="0"/>
              <a:t>is easier to understand and debug</a:t>
            </a:r>
          </a:p>
          <a:p>
            <a:r>
              <a:rPr lang="en-US" dirty="0"/>
              <a:t>An operating system is far easier to port (move to some other hardware) if it is written in a high-level language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Debugging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is finding and fixing errors, or </a:t>
            </a:r>
            <a:r>
              <a:rPr lang="en-US" b="1" dirty="0">
                <a:solidFill>
                  <a:schemeClr val="accent5"/>
                </a:solidFill>
              </a:rPr>
              <a:t>bugs</a:t>
            </a:r>
          </a:p>
          <a:p>
            <a:r>
              <a:rPr lang="en-US" dirty="0"/>
              <a:t>OS generates </a:t>
            </a:r>
            <a:r>
              <a:rPr lang="en-US" b="1" dirty="0">
                <a:solidFill>
                  <a:schemeClr val="accent5"/>
                </a:solidFill>
              </a:rPr>
              <a:t>log files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containing error information</a:t>
            </a:r>
          </a:p>
          <a:p>
            <a:r>
              <a:rPr lang="en-US" dirty="0">
                <a:solidFill>
                  <a:srgbClr val="000000"/>
                </a:solidFill>
              </a:rPr>
              <a:t>Core Dump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Failure of an application can generate </a:t>
            </a:r>
            <a:r>
              <a:rPr lang="en-US" b="1" dirty="0">
                <a:solidFill>
                  <a:schemeClr val="accent5"/>
                </a:solidFill>
              </a:rPr>
              <a:t>core dump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file capturing memory of the process</a:t>
            </a:r>
          </a:p>
          <a:p>
            <a:r>
              <a:rPr lang="en-US" dirty="0">
                <a:solidFill>
                  <a:srgbClr val="000000"/>
                </a:solidFill>
              </a:rPr>
              <a:t>Crash Dump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Operating system failure can generate </a:t>
            </a:r>
            <a:r>
              <a:rPr lang="en-US" b="1" dirty="0">
                <a:solidFill>
                  <a:schemeClr val="accent5"/>
                </a:solidFill>
              </a:rPr>
              <a:t>crash dump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file containing kernel memory</a:t>
            </a:r>
          </a:p>
          <a:p>
            <a:r>
              <a:rPr lang="en-US" dirty="0">
                <a:solidFill>
                  <a:srgbClr val="000000"/>
                </a:solidFill>
              </a:rPr>
              <a:t>Beyond crashes, performance tuning can optimize system performance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Sometimes using </a:t>
            </a:r>
            <a:r>
              <a:rPr lang="en-US" b="1" i="1" dirty="0">
                <a:solidFill>
                  <a:srgbClr val="000000"/>
                </a:solidFill>
              </a:rPr>
              <a:t>trace listings</a:t>
            </a:r>
            <a:r>
              <a:rPr lang="en-US" dirty="0">
                <a:solidFill>
                  <a:srgbClr val="000000"/>
                </a:solidFill>
              </a:rPr>
              <a:t> of activities, recorded for analysis</a:t>
            </a:r>
          </a:p>
          <a:p>
            <a:pPr lvl="1"/>
            <a:r>
              <a:rPr lang="en-US" b="1" dirty="0">
                <a:solidFill>
                  <a:schemeClr val="accent5"/>
                </a:solidFill>
              </a:rPr>
              <a:t>Profiling</a:t>
            </a:r>
            <a:r>
              <a:rPr lang="en-US" dirty="0">
                <a:solidFill>
                  <a:srgbClr val="000000"/>
                </a:solidFill>
              </a:rPr>
              <a:t> is periodic sampling of instruction pointer to look for statistical trends</a:t>
            </a:r>
          </a:p>
        </p:txBody>
      </p:sp>
    </p:spTree>
    <p:extLst>
      <p:ext uri="{BB962C8B-B14F-4D97-AF65-F5344CB8AC3E}">
        <p14:creationId xmlns:p14="http://schemas.microsoft.com/office/powerpoint/2010/main" val="294973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Generation (SYSGEN)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Operating systems are designed to run on any of a class of machines</a:t>
            </a:r>
          </a:p>
          <a:p>
            <a:pPr lvl="1"/>
            <a:r>
              <a:rPr lang="en-US" dirty="0">
                <a:ea typeface="ＭＳ Ｐゴシック" charset="0"/>
                <a:cs typeface="ＭＳ Ｐゴシック" charset="0"/>
              </a:rPr>
              <a:t>the system must be configured for each specific computer site</a:t>
            </a:r>
          </a:p>
          <a:p>
            <a:r>
              <a:rPr lang="en-US" b="1" dirty="0">
                <a:solidFill>
                  <a:schemeClr val="accent5"/>
                </a:solidFill>
                <a:ea typeface="ＭＳ Ｐゴシック" charset="-128"/>
                <a:cs typeface="ＭＳ Ｐゴシック" charset="0"/>
              </a:rPr>
              <a:t>SYSGEN</a:t>
            </a:r>
            <a:r>
              <a:rPr lang="en-US" dirty="0">
                <a:ea typeface="ＭＳ Ｐゴシック" charset="0"/>
                <a:cs typeface="ＭＳ Ｐゴシック" charset="0"/>
              </a:rPr>
              <a:t> program obtains information concerning the specific configuration of the hardware system</a:t>
            </a:r>
          </a:p>
          <a:p>
            <a:pPr lvl="1"/>
            <a:r>
              <a:rPr lang="en-US" dirty="0">
                <a:ea typeface="ＭＳ Ｐゴシック" charset="0"/>
                <a:cs typeface="ＭＳ Ｐゴシック" charset="0"/>
              </a:rPr>
              <a:t>Used to build system-specific compiled kernel or system-tuned</a:t>
            </a:r>
          </a:p>
          <a:p>
            <a:pPr lvl="1"/>
            <a:r>
              <a:rPr lang="en-US" dirty="0">
                <a:ea typeface="ＭＳ Ｐゴシック" charset="0"/>
                <a:cs typeface="ＭＳ Ｐゴシック" charset="0"/>
              </a:rPr>
              <a:t>Can generate more efficient code than one general kernel</a:t>
            </a:r>
          </a:p>
        </p:txBody>
      </p:sp>
    </p:spTree>
    <p:extLst>
      <p:ext uri="{BB962C8B-B14F-4D97-AF65-F5344CB8AC3E}">
        <p14:creationId xmlns:p14="http://schemas.microsoft.com/office/powerpoint/2010/main" val="2423394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749209"/>
          </a:xfrm>
        </p:spPr>
        <p:txBody>
          <a:bodyPr/>
          <a:lstStyle/>
          <a:p>
            <a:r>
              <a:rPr lang="en-US" dirty="0"/>
              <a:t>System Boot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199" y="796834"/>
            <a:ext cx="110620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What is Booting?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Booting</a:t>
            </a:r>
            <a:r>
              <a:rPr lang="en-US" dirty="0"/>
              <a:t> = The process of </a:t>
            </a:r>
            <a:r>
              <a:rPr lang="en-US" b="1" dirty="0"/>
              <a:t>starting a computer and loading the operating system</a:t>
            </a:r>
            <a:r>
              <a:rPr lang="en-US" dirty="0"/>
              <a:t> into memory (RAM).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happens every time you </a:t>
            </a:r>
            <a:r>
              <a:rPr lang="en-US" b="1" dirty="0"/>
              <a:t>power on</a:t>
            </a:r>
            <a:r>
              <a:rPr lang="en-US" dirty="0"/>
              <a:t> or </a:t>
            </a:r>
            <a:r>
              <a:rPr lang="en-US" b="1" dirty="0"/>
              <a:t>restart</a:t>
            </a:r>
            <a:r>
              <a:rPr lang="en-US" dirty="0"/>
              <a:t> your computer.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199" y="1978920"/>
            <a:ext cx="108530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Types of Booting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Cold Boot</a:t>
            </a:r>
            <a:r>
              <a:rPr lang="en-US" dirty="0"/>
              <a:t> → Starting the computer after power is completely off.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Warm Boot</a:t>
            </a:r>
            <a:r>
              <a:rPr lang="en-US" dirty="0"/>
              <a:t> → Restarting the computer without turning off power (e.g., pressing </a:t>
            </a:r>
            <a:r>
              <a:rPr lang="en-US" i="1" dirty="0"/>
              <a:t>Restart</a:t>
            </a:r>
            <a:r>
              <a:rPr lang="en-US" dirty="0"/>
              <a:t>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531" y="3207174"/>
            <a:ext cx="108530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Real-Life 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Windows PC</a:t>
            </a:r>
            <a:r>
              <a:rPr lang="en-US" dirty="0"/>
              <a:t> → Press power button → BIOS runs → Bootloader loads Windows kernel → Login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Linux</a:t>
            </a:r>
            <a:r>
              <a:rPr lang="en-US" dirty="0"/>
              <a:t> → BIOS → GRUB → Linux kernel → shell/desktop environment.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Smartphones</a:t>
            </a:r>
            <a:r>
              <a:rPr lang="en-US" dirty="0"/>
              <a:t> → Boot ROM → bootloader → Android/iOS kernel → home screen.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99853" y="5174092"/>
            <a:ext cx="83297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System Boot = The </a:t>
            </a:r>
            <a:r>
              <a:rPr lang="en-US" b="1" dirty="0"/>
              <a:t>step-by-step process of turning on a computer, running BIOS/UEFI, loading the bootloader, kernel, and finally the operating system.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38199" y="4527761"/>
            <a:ext cx="102391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GRUB is the Linux bootloader</a:t>
            </a:r>
            <a:r>
              <a:rPr lang="en-US" dirty="0"/>
              <a:t> that lets you pick an OS, loads the kernel, and helps in recovery/debugging.</a:t>
            </a:r>
          </a:p>
        </p:txBody>
      </p:sp>
    </p:spTree>
    <p:extLst>
      <p:ext uri="{BB962C8B-B14F-4D97-AF65-F5344CB8AC3E}">
        <p14:creationId xmlns:p14="http://schemas.microsoft.com/office/powerpoint/2010/main" val="1593663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38AC2-605F-4AFD-ACCD-F2091AF10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95317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827586"/>
          </a:xfrm>
        </p:spPr>
        <p:txBody>
          <a:bodyPr/>
          <a:lstStyle/>
          <a:p>
            <a:r>
              <a:rPr lang="en-US" dirty="0" smtClean="0"/>
              <a:t>Compare </a:t>
            </a:r>
            <a:r>
              <a:rPr lang="en-US" dirty="0"/>
              <a:t>GUI, Batch, and CLI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33697" y="968238"/>
          <a:ext cx="10515600" cy="35966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5013248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019789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290856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83259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GUI (Graphical)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CLI (Command Line)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Batch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598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User Interaction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Through icons, menus, windows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Through text commands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 direct interaction (jobs submitted)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6303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Ease of Use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Very easy, beginner-friendly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Harder, requires learning commands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Easy for repetitive jobs, but not interactive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247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Speed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Slower than CLI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Faster for experts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Efficient for large repetitive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67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Resource Usage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 (needs CPU &amp; memory for GUI)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421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Examples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Windows, macOS, Android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Linux Terminal, MS-DOS, PowerShell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Cron</a:t>
                      </a:r>
                      <a:r>
                        <a:rPr lang="en-US" dirty="0"/>
                        <a:t> jobs, Windows batch files (.bat)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7079569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327011" y="4776916"/>
            <a:ext cx="998324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GUI</a:t>
            </a:r>
            <a:r>
              <a:rPr lang="en-US" sz="2000" dirty="0"/>
              <a:t> = Easy, visual (ATM, smartphones, desktops).</a:t>
            </a:r>
          </a:p>
          <a:p>
            <a:r>
              <a:rPr lang="en-US" sz="2000" b="1" dirty="0"/>
              <a:t>CLI</a:t>
            </a:r>
            <a:r>
              <a:rPr lang="en-US" sz="2000" dirty="0"/>
              <a:t> = Text-based, powerful (</a:t>
            </a:r>
            <a:r>
              <a:rPr lang="en-US" sz="2000" dirty="0" smtClean="0"/>
              <a:t>CMD (</a:t>
            </a:r>
            <a:r>
              <a:rPr lang="en-US" altLang="en-US" sz="2000" dirty="0">
                <a:latin typeface="Arial" panose="020B0604020202020204" pitchFamily="34" charset="0"/>
              </a:rPr>
              <a:t>Type </a:t>
            </a:r>
            <a:r>
              <a:rPr lang="en-US" altLang="en-US" sz="2000" dirty="0" err="1">
                <a:latin typeface="Arial Unicode MS"/>
              </a:rPr>
              <a:t>dir</a:t>
            </a:r>
            <a:r>
              <a:rPr lang="en-US" altLang="en-US" sz="2000" dirty="0"/>
              <a:t> in Command Prompt</a:t>
            </a:r>
            <a:r>
              <a:rPr lang="en-US" sz="2000" dirty="0" smtClean="0"/>
              <a:t>), </a:t>
            </a:r>
            <a:r>
              <a:rPr lang="en-US" sz="2000" dirty="0"/>
              <a:t>Linux terminal, networking).</a:t>
            </a:r>
          </a:p>
          <a:p>
            <a:r>
              <a:rPr lang="en-US" sz="2000" b="1" dirty="0"/>
              <a:t>Batch</a:t>
            </a:r>
            <a:r>
              <a:rPr lang="en-US" sz="2000" dirty="0"/>
              <a:t> = Automatic, non-interactive (payroll, banking, scheduled backups).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284461" y="5607913"/>
            <a:ext cx="255198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905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Bourne Shell Command Interpreter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547EBF6-800A-4205-948C-FEF573387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582" y="1081467"/>
            <a:ext cx="7714836" cy="5342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3581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Touch-screen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7326086" cy="4937126"/>
          </a:xfrm>
        </p:spPr>
        <p:txBody>
          <a:bodyPr/>
          <a:lstStyle/>
          <a:p>
            <a:r>
              <a:rPr lang="en-US" dirty="0"/>
              <a:t>Touch-screen devices require new interfaces</a:t>
            </a:r>
          </a:p>
          <a:p>
            <a:pPr lvl="1"/>
            <a:r>
              <a:rPr lang="en-US" dirty="0"/>
              <a:t>Mouse not possible or not desired</a:t>
            </a:r>
          </a:p>
          <a:p>
            <a:pPr lvl="1"/>
            <a:r>
              <a:rPr lang="en-US" dirty="0"/>
              <a:t>Actions and selection based on gestures</a:t>
            </a:r>
          </a:p>
          <a:p>
            <a:pPr lvl="1"/>
            <a:r>
              <a:rPr lang="en-US" dirty="0"/>
              <a:t>Virtual keyboard for text entry</a:t>
            </a:r>
          </a:p>
          <a:p>
            <a:r>
              <a:rPr lang="en-US" dirty="0"/>
              <a:t>Many systems now include both CLI and GUI interfaces</a:t>
            </a:r>
          </a:p>
          <a:p>
            <a:pPr lvl="1"/>
            <a:r>
              <a:rPr lang="en-US" dirty="0"/>
              <a:t>Microsoft Windows is GUI with CLI </a:t>
            </a:r>
            <a:r>
              <a:rPr lang="ja-JP" altLang="en-US" dirty="0"/>
              <a:t>“</a:t>
            </a:r>
            <a:r>
              <a:rPr lang="en-US" altLang="ja-JP" dirty="0"/>
              <a:t>command</a:t>
            </a:r>
            <a:r>
              <a:rPr lang="ja-JP" altLang="en-US" dirty="0"/>
              <a:t>”</a:t>
            </a:r>
            <a:r>
              <a:rPr lang="en-US" altLang="ja-JP" dirty="0"/>
              <a:t> shell</a:t>
            </a:r>
          </a:p>
          <a:p>
            <a:pPr lvl="1"/>
            <a:r>
              <a:rPr lang="en-US" dirty="0"/>
              <a:t>Apple Mac OS X is </a:t>
            </a:r>
            <a:r>
              <a:rPr lang="ja-JP" altLang="en-US" dirty="0"/>
              <a:t>“</a:t>
            </a:r>
            <a:r>
              <a:rPr lang="en-US" altLang="ja-JP" dirty="0"/>
              <a:t>Aqua</a:t>
            </a:r>
            <a:r>
              <a:rPr lang="ja-JP" altLang="en-US" dirty="0"/>
              <a:t>”</a:t>
            </a:r>
            <a:r>
              <a:rPr lang="en-US" altLang="ja-JP" dirty="0"/>
              <a:t> GUI interface with UNIX kernel underneath and shells available</a:t>
            </a:r>
          </a:p>
          <a:p>
            <a:pPr lvl="1"/>
            <a:r>
              <a:rPr lang="en-US" dirty="0"/>
              <a:t>Unix and Linux have CLI with optional GUI interfaces (CDE, KDE, GNOME)</a:t>
            </a:r>
          </a:p>
          <a:p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3587194-7AA4-483F-AD08-DAAAA4745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5086" y="710406"/>
            <a:ext cx="3104357" cy="55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018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38AC2-605F-4AFD-ACCD-F2091AF10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Structure</a:t>
            </a:r>
          </a:p>
        </p:txBody>
      </p:sp>
    </p:spTree>
    <p:extLst>
      <p:ext uri="{BB962C8B-B14F-4D97-AF65-F5344CB8AC3E}">
        <p14:creationId xmlns:p14="http://schemas.microsoft.com/office/powerpoint/2010/main" val="3378369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Operating System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General-purpose OS is very large program</a:t>
            </a:r>
          </a:p>
          <a:p>
            <a:r>
              <a:rPr lang="en-US" dirty="0"/>
              <a:t>Various ways to structure one as follows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6700" y="-54735"/>
            <a:ext cx="4177937" cy="587829"/>
          </a:xfrm>
        </p:spPr>
        <p:txBody>
          <a:bodyPr/>
          <a:lstStyle/>
          <a:p>
            <a:r>
              <a:rPr lang="en-US" dirty="0"/>
              <a:t>Simple Structure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33094"/>
            <a:ext cx="6477000" cy="3538855"/>
          </a:xfrm>
        </p:spPr>
        <p:txBody>
          <a:bodyPr>
            <a:normAutofit fontScale="62500" lnSpcReduction="20000"/>
          </a:bodyPr>
          <a:lstStyle/>
          <a:p>
            <a:r>
              <a:rPr lang="en-US" sz="2900" dirty="0"/>
              <a:t>I.e. MS-DOS – </a:t>
            </a:r>
            <a:r>
              <a:rPr lang="en-US" sz="2900" dirty="0" smtClean="0"/>
              <a:t> </a:t>
            </a:r>
            <a:r>
              <a:rPr lang="en-US" sz="2900" b="1" dirty="0"/>
              <a:t>MS-DOS (Microsoft Disk Operating System)</a:t>
            </a:r>
            <a:r>
              <a:rPr lang="en-US" sz="2900" dirty="0"/>
              <a:t> is an example of a </a:t>
            </a:r>
            <a:r>
              <a:rPr lang="en-US" sz="2900" b="1" dirty="0"/>
              <a:t>simple (monolithic) operating system structure</a:t>
            </a:r>
            <a:r>
              <a:rPr lang="en-US" sz="2900" dirty="0"/>
              <a:t>.</a:t>
            </a:r>
          </a:p>
          <a:p>
            <a:r>
              <a:rPr lang="en-US" sz="2900" dirty="0"/>
              <a:t>It was widely used in the </a:t>
            </a:r>
            <a:r>
              <a:rPr lang="en-US" sz="2900" b="1" dirty="0"/>
              <a:t>1980s and early 1990s</a:t>
            </a:r>
            <a:r>
              <a:rPr lang="en-US" sz="2900" dirty="0"/>
              <a:t> before Windows became popular</a:t>
            </a:r>
            <a:r>
              <a:rPr lang="en-US" sz="2900" dirty="0" smtClean="0"/>
              <a:t>.</a:t>
            </a:r>
            <a:endParaRPr lang="en-US" sz="2900" dirty="0"/>
          </a:p>
          <a:p>
            <a:r>
              <a:rPr lang="en-US" sz="2900" b="1" dirty="0"/>
              <a:t>1. Simple Structure</a:t>
            </a:r>
          </a:p>
          <a:p>
            <a:r>
              <a:rPr lang="en-US" sz="2900" b="1" dirty="0"/>
              <a:t>Definition</a:t>
            </a:r>
            <a:r>
              <a:rPr lang="en-US" sz="2900" dirty="0"/>
              <a:t>: No proper modular separation; all parts are mixed.</a:t>
            </a:r>
          </a:p>
          <a:p>
            <a:r>
              <a:rPr lang="en-US" sz="2900" b="1" dirty="0"/>
              <a:t>Real Examples</a:t>
            </a:r>
            <a:r>
              <a:rPr lang="en-US" sz="2900" dirty="0"/>
              <a:t>:</a:t>
            </a:r>
          </a:p>
          <a:p>
            <a:pPr lvl="1"/>
            <a:r>
              <a:rPr lang="en-US" sz="2900" b="1" dirty="0"/>
              <a:t>MS-DOS</a:t>
            </a:r>
            <a:r>
              <a:rPr lang="en-US" sz="2900" dirty="0"/>
              <a:t> → All functions like file management, device drivers, system calls bundled together.</a:t>
            </a:r>
          </a:p>
          <a:p>
            <a:pPr lvl="1"/>
            <a:r>
              <a:rPr lang="en-US" sz="2900" b="1" dirty="0"/>
              <a:t>Early UNIX</a:t>
            </a:r>
            <a:r>
              <a:rPr lang="en-US" sz="2900" dirty="0"/>
              <a:t> (Version 6).</a:t>
            </a:r>
          </a:p>
          <a:p>
            <a:r>
              <a:rPr lang="en-US" sz="2900" b="1" dirty="0"/>
              <a:t>Daily Life Link</a:t>
            </a:r>
            <a:r>
              <a:rPr lang="en-US" sz="2900" dirty="0"/>
              <a:t>: Like a </a:t>
            </a:r>
            <a:r>
              <a:rPr lang="en-US" sz="2900" b="1" dirty="0"/>
              <a:t>small calculator</a:t>
            </a:r>
            <a:r>
              <a:rPr lang="en-US" sz="2900" dirty="0"/>
              <a:t> program → everything in one place.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6" descr="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22634" y="370212"/>
            <a:ext cx="4380456" cy="421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132320" y="4609234"/>
            <a:ext cx="466344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proper modular separation → everything is mixed.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MS-DOS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early UNIX.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Easy to design.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Hard to maintain, less secure.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3806239"/>
            <a:ext cx="6096000" cy="233910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/>
              <a:t>Real-Life Example / Where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ATM Machines</a:t>
            </a:r>
            <a:r>
              <a:rPr lang="en-US" dirty="0"/>
              <a:t>: Early ATM systems ran lightweight versions of 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Old PCs</a:t>
            </a:r>
            <a:r>
              <a:rPr lang="en-US" dirty="0"/>
              <a:t>: Before Windows 95, personal computers booted directly into MS-DOS.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Embedded Systems</a:t>
            </a:r>
            <a:r>
              <a:rPr lang="en-US" dirty="0"/>
              <a:t>: Some older industrial control systems and cash registers used MS-DOS due to its simplicity and low resource requirements.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321649" y="162883"/>
            <a:ext cx="5183777" cy="618581"/>
          </a:xfrm>
        </p:spPr>
        <p:txBody>
          <a:bodyPr/>
          <a:lstStyle/>
          <a:p>
            <a:r>
              <a:rPr lang="en-US" dirty="0"/>
              <a:t>OS Layered Approach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idx="1"/>
          </p:nvPr>
        </p:nvSpPr>
        <p:spPr>
          <a:xfrm>
            <a:off x="516797" y="1192115"/>
            <a:ext cx="6845488" cy="192486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operating system is divided into a number of layers (levels), each built on top of lower layers</a:t>
            </a:r>
          </a:p>
          <a:p>
            <a:pPr lvl="1"/>
            <a:r>
              <a:rPr lang="en-US" dirty="0"/>
              <a:t>The bottom-most layer (layer 0), is the hardware </a:t>
            </a:r>
          </a:p>
          <a:p>
            <a:pPr lvl="1"/>
            <a:r>
              <a:rPr lang="en-US" dirty="0"/>
              <a:t>The highest (layer N) is the user interface</a:t>
            </a:r>
          </a:p>
          <a:p>
            <a:r>
              <a:rPr lang="en-US" dirty="0"/>
              <a:t>With modularity, layers are selected such that each uses functions (operations) and services of only lower-level layers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B35905A2-0D72-4D10-A7F9-F5CEB6439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0442" y="91439"/>
            <a:ext cx="4148919" cy="412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73551" y="5218442"/>
            <a:ext cx="683187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Life Link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Like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cake with layers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each layer builds on the previous one.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87164" y="3293575"/>
            <a:ext cx="699652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 is divided into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each built on top of the lower 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layer uses services of the layer below it and provides services to the layer above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OS, early UNIX variants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Modularity, easier debugging.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Overhead from too many layers.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840442" y="3293575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+------------------------+</a:t>
            </a:r>
          </a:p>
          <a:p>
            <a:r>
              <a:rPr lang="en-US" dirty="0"/>
              <a:t>|  User Applications     | ← Layer 6</a:t>
            </a:r>
          </a:p>
          <a:p>
            <a:r>
              <a:rPr lang="en-US" dirty="0"/>
              <a:t>+------------------------+</a:t>
            </a:r>
          </a:p>
          <a:p>
            <a:r>
              <a:rPr lang="en-US" dirty="0"/>
              <a:t>|  System Programs       | ← Layer 5</a:t>
            </a:r>
          </a:p>
          <a:p>
            <a:r>
              <a:rPr lang="en-US" dirty="0"/>
              <a:t>+------------------------+</a:t>
            </a:r>
          </a:p>
          <a:p>
            <a:r>
              <a:rPr lang="en-US" dirty="0"/>
              <a:t>|  I/O Management        | ← Layer 4</a:t>
            </a:r>
          </a:p>
          <a:p>
            <a:r>
              <a:rPr lang="en-US" dirty="0"/>
              <a:t>+------------------------+</a:t>
            </a:r>
          </a:p>
          <a:p>
            <a:r>
              <a:rPr lang="en-US" dirty="0"/>
              <a:t>|  Memory Management     | ← Layer 3</a:t>
            </a:r>
          </a:p>
          <a:p>
            <a:r>
              <a:rPr lang="en-US" dirty="0"/>
              <a:t>+------------------------+</a:t>
            </a:r>
          </a:p>
          <a:p>
            <a:r>
              <a:rPr lang="en-US" dirty="0"/>
              <a:t>|  Process Management    | ← Layer 2</a:t>
            </a:r>
          </a:p>
          <a:p>
            <a:r>
              <a:rPr lang="en-US" dirty="0"/>
              <a:t>+------------------------+</a:t>
            </a:r>
          </a:p>
          <a:p>
            <a:r>
              <a:rPr lang="en-US" dirty="0"/>
              <a:t>|  Hardware              | ← Layer 1</a:t>
            </a:r>
          </a:p>
          <a:p>
            <a:r>
              <a:rPr lang="en-US" dirty="0"/>
              <a:t>+------------------------+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108935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Operating System Layer</a:t>
            </a:r>
          </a:p>
        </p:txBody>
      </p:sp>
      <p:pic>
        <p:nvPicPr>
          <p:cNvPr id="15667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018" t="10814" r="1018" b="10814"/>
          <a:stretch>
            <a:fillRect/>
          </a:stretch>
        </p:blipFill>
        <p:spPr>
          <a:xfrm>
            <a:off x="6096000" y="1653949"/>
            <a:ext cx="5883275" cy="4411662"/>
          </a:xfrm>
          <a:noFill/>
          <a:ln w="76200" cmpd="tri">
            <a:solidFill>
              <a:schemeClr val="tx1"/>
            </a:solidFill>
          </a:ln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718386"/>
              </p:ext>
            </p:extLst>
          </p:nvPr>
        </p:nvGraphicFramePr>
        <p:xfrm>
          <a:off x="640080" y="1653949"/>
          <a:ext cx="5042264" cy="4056288"/>
        </p:xfrm>
        <a:graphic>
          <a:graphicData uri="http://schemas.openxmlformats.org/drawingml/2006/table">
            <a:tbl>
              <a:tblPr/>
              <a:tblGrid>
                <a:gridCol w="2521132">
                  <a:extLst>
                    <a:ext uri="{9D8B030D-6E8A-4147-A177-3AD203B41FA5}">
                      <a16:colId xmlns:a16="http://schemas.microsoft.com/office/drawing/2014/main" val="2480237578"/>
                    </a:ext>
                  </a:extLst>
                </a:gridCol>
                <a:gridCol w="2521132">
                  <a:extLst>
                    <a:ext uri="{9D8B030D-6E8A-4147-A177-3AD203B41FA5}">
                      <a16:colId xmlns:a16="http://schemas.microsoft.com/office/drawing/2014/main" val="3300497658"/>
                    </a:ext>
                  </a:extLst>
                </a:gridCol>
              </a:tblGrid>
              <a:tr h="579470">
                <a:tc>
                  <a:txBody>
                    <a:bodyPr/>
                    <a:lstStyle/>
                    <a:p>
                      <a:r>
                        <a:rPr lang="en-US"/>
                        <a:t>Direction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924597"/>
                  </a:ext>
                </a:extLst>
              </a:tr>
              <a:tr h="1014072">
                <a:tc>
                  <a:txBody>
                    <a:bodyPr/>
                    <a:lstStyle/>
                    <a:p>
                      <a:r>
                        <a:rPr lang="en-US" b="1"/>
                        <a:t>Upward (Layer M → Higher Layers)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Provides </a:t>
                      </a:r>
                      <a:r>
                        <a:rPr lang="en-US" i="1"/>
                        <a:t>new</a:t>
                      </a:r>
                      <a:r>
                        <a:rPr lang="en-US"/>
                        <a:t> operations or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5299334"/>
                  </a:ext>
                </a:extLst>
              </a:tr>
              <a:tr h="1448674">
                <a:tc>
                  <a:txBody>
                    <a:bodyPr/>
                    <a:lstStyle/>
                    <a:p>
                      <a:r>
                        <a:rPr lang="en-US" b="1"/>
                        <a:t>Downward (Layer M → Layer M–1)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Uses </a:t>
                      </a:r>
                      <a:r>
                        <a:rPr lang="en-US" i="1"/>
                        <a:t>existing</a:t>
                      </a:r>
                      <a:r>
                        <a:rPr lang="en-US"/>
                        <a:t> operations provided by the lower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0192364"/>
                  </a:ext>
                </a:extLst>
              </a:tr>
              <a:tr h="1014072">
                <a:tc>
                  <a:txBody>
                    <a:bodyPr/>
                    <a:lstStyle/>
                    <a:p>
                      <a:r>
                        <a:rPr lang="en-US" b="1"/>
                        <a:t>Hidden Operations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Internal helper routines invisible to higher 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834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856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0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OS/2 Layer Structure</a:t>
            </a:r>
          </a:p>
        </p:txBody>
      </p:sp>
      <p:pic>
        <p:nvPicPr>
          <p:cNvPr id="15770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2223" t="1186" r="2641" b="2371"/>
          <a:stretch>
            <a:fillRect/>
          </a:stretch>
        </p:blipFill>
        <p:spPr>
          <a:xfrm>
            <a:off x="2779001" y="1373188"/>
            <a:ext cx="6633998" cy="4974603"/>
          </a:xfrm>
          <a:noFill/>
          <a:ln w="76200" cmpd="tri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40250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Kernel &amp; Kernel Mode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fontScale="92500"/>
          </a:bodyPr>
          <a:lstStyle/>
          <a:p>
            <a:r>
              <a:rPr lang="en-US" dirty="0"/>
              <a:t>Kernel is part of operating system that includes most heavily used functions</a:t>
            </a:r>
          </a:p>
          <a:p>
            <a:r>
              <a:rPr lang="en-US" dirty="0"/>
              <a:t>Generally, kernel is permanently in main memory</a:t>
            </a:r>
          </a:p>
          <a:p>
            <a:r>
              <a:rPr lang="en-US" dirty="0"/>
              <a:t>Kernel Mode</a:t>
            </a:r>
          </a:p>
          <a:p>
            <a:pPr lvl="1"/>
            <a:r>
              <a:rPr lang="en-US" dirty="0"/>
              <a:t>It is a privileged, nucleus or supervisory mode into which the machine switches when the OS is running</a:t>
            </a:r>
          </a:p>
          <a:p>
            <a:pPr lvl="1"/>
            <a:r>
              <a:rPr lang="en-US" dirty="0"/>
              <a:t>Enables the execution of such privileged instructions</a:t>
            </a:r>
          </a:p>
          <a:p>
            <a:pPr lvl="2"/>
            <a:r>
              <a:rPr lang="en-US" dirty="0"/>
              <a:t>Such as in the area of I/O operations, which are not available to user mode</a:t>
            </a:r>
          </a:p>
          <a:p>
            <a:r>
              <a:rPr lang="en-US" dirty="0"/>
              <a:t>The techniques by which a user program requests the kernel’s services are;</a:t>
            </a:r>
          </a:p>
          <a:p>
            <a:pPr lvl="1"/>
            <a:r>
              <a:rPr lang="en-US" dirty="0"/>
              <a:t>System calls</a:t>
            </a:r>
          </a:p>
          <a:p>
            <a:pPr lvl="1"/>
            <a:r>
              <a:rPr lang="en-US" dirty="0"/>
              <a:t>Message passing</a:t>
            </a:r>
          </a:p>
          <a:p>
            <a:r>
              <a:rPr lang="en-US" dirty="0"/>
              <a:t>The process can only be switched into kernel mode by the above actions</a:t>
            </a:r>
          </a:p>
        </p:txBody>
      </p:sp>
    </p:spTree>
    <p:extLst>
      <p:ext uri="{BB962C8B-B14F-4D97-AF65-F5344CB8AC3E}">
        <p14:creationId xmlns:p14="http://schemas.microsoft.com/office/powerpoint/2010/main" val="1476902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6"/>
            <a:ext cx="5418909" cy="757464"/>
          </a:xfrm>
        </p:spPr>
        <p:txBody>
          <a:bodyPr/>
          <a:lstStyle/>
          <a:p>
            <a:r>
              <a:rPr lang="en-US" dirty="0"/>
              <a:t>Kernel &amp; Kernel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696" y="1082675"/>
            <a:ext cx="7548154" cy="4937126"/>
          </a:xfrm>
        </p:spPr>
        <p:txBody>
          <a:bodyPr>
            <a:normAutofit/>
          </a:bodyPr>
          <a:lstStyle/>
          <a:p>
            <a:r>
              <a:rPr lang="en-US" dirty="0"/>
              <a:t>No other way that a user program can execute kernel instructions</a:t>
            </a:r>
          </a:p>
          <a:p>
            <a:r>
              <a:rPr lang="en-US" dirty="0"/>
              <a:t>This facility is not given to user program in order to enforce system security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392511" y="3272857"/>
            <a:ext cx="1295400" cy="1447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User space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392511" y="4720657"/>
            <a:ext cx="1295400" cy="685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Supervisor</a:t>
            </a:r>
          </a:p>
          <a:p>
            <a:pPr algn="ctr"/>
            <a:r>
              <a:rPr lang="en-US" dirty="0">
                <a:latin typeface="Calibri" pitchFamily="34" charset="0"/>
              </a:rPr>
              <a:t>space</a:t>
            </a:r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2209800" y="3421514"/>
            <a:ext cx="2209800" cy="7620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itchFamily="34" charset="0"/>
              </a:rPr>
              <a:t>User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</a:rPr>
              <a:t>process</a:t>
            </a: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2209800" y="4720657"/>
            <a:ext cx="2133600" cy="7620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itchFamily="34" charset="0"/>
              </a:rPr>
              <a:t>Supervisor process</a:t>
            </a:r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>
            <a:off x="4419600" y="3802514"/>
            <a:ext cx="9906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4344489" y="5054237"/>
            <a:ext cx="9906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3152775" y="5760243"/>
            <a:ext cx="3276600" cy="366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latin typeface="Calibri" pitchFamily="34" charset="0"/>
              </a:rPr>
              <a:t>Supervisor &amp; user memory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516859"/>
              </p:ext>
            </p:extLst>
          </p:nvPr>
        </p:nvGraphicFramePr>
        <p:xfrm>
          <a:off x="8191500" y="570138"/>
          <a:ext cx="3657600" cy="6119813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121178691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880300713"/>
                    </a:ext>
                  </a:extLst>
                </a:gridCol>
              </a:tblGrid>
              <a:tr h="461873">
                <a:tc>
                  <a:txBody>
                    <a:bodyPr/>
                    <a:lstStyle/>
                    <a:p>
                      <a:r>
                        <a:rPr lang="en-US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0438606"/>
                  </a:ext>
                </a:extLst>
              </a:tr>
              <a:tr h="1501086">
                <a:tc>
                  <a:txBody>
                    <a:bodyPr/>
                    <a:lstStyle/>
                    <a:p>
                      <a:r>
                        <a:rPr lang="en-US" b="1"/>
                        <a:t>Kernel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Core part of OS managing all hardware and system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905617"/>
                  </a:ext>
                </a:extLst>
              </a:tr>
              <a:tr h="1501086">
                <a:tc>
                  <a:txBody>
                    <a:bodyPr/>
                    <a:lstStyle/>
                    <a:p>
                      <a:r>
                        <a:rPr lang="en-US" b="1"/>
                        <a:t>Kernel Mode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Privileged execution mode for kernel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87652"/>
                  </a:ext>
                </a:extLst>
              </a:tr>
              <a:tr h="1154682">
                <a:tc>
                  <a:txBody>
                    <a:bodyPr/>
                    <a:lstStyle/>
                    <a:p>
                      <a:r>
                        <a:rPr lang="en-US" b="1"/>
                        <a:t>User Mode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Restricted mode for running user programs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4004564"/>
                  </a:ext>
                </a:extLst>
              </a:tr>
              <a:tr h="1501086">
                <a:tc>
                  <a:txBody>
                    <a:bodyPr/>
                    <a:lstStyle/>
                    <a:p>
                      <a:r>
                        <a:rPr lang="en-US" b="1"/>
                        <a:t>Mode Switch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Happens when a system call is made (User → Kernel → User)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077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2192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4D8D-D166-4AF3-87D7-C8EE69A9A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Monolithic Structure – Original UNIX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3F3E6-963E-4200-BBE5-CF208D8E2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270863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UNIX – limited by hardware functionality, the original UNIX operating system had limited structuring</a:t>
            </a:r>
          </a:p>
          <a:p>
            <a:r>
              <a:rPr lang="en-US" dirty="0"/>
              <a:t>The UNIX OS consists of two separable parts</a:t>
            </a:r>
          </a:p>
          <a:p>
            <a:pPr lvl="1"/>
            <a:r>
              <a:rPr lang="en-US" dirty="0"/>
              <a:t>Systems programs</a:t>
            </a:r>
          </a:p>
          <a:p>
            <a:pPr lvl="1"/>
            <a:r>
              <a:rPr lang="en-US" dirty="0"/>
              <a:t>The kernel</a:t>
            </a:r>
          </a:p>
          <a:p>
            <a:pPr lvl="2"/>
            <a:r>
              <a:rPr lang="en-US" dirty="0"/>
              <a:t>Consists of everything below the system-call interface and above the physical hardware</a:t>
            </a:r>
          </a:p>
          <a:p>
            <a:pPr lvl="2"/>
            <a:r>
              <a:rPr lang="en-US" dirty="0"/>
              <a:t>Provides the file system, CPU scheduling, memory management, and other operating-system functions; a large number of functions for one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979714" y="4173899"/>
            <a:ext cx="1071154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Definition</a:t>
            </a:r>
            <a:r>
              <a:rPr lang="en-US" dirty="0"/>
              <a:t>: Whole OS runs in kernel mode as one big program.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Real Examples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Linux (Ubuntu, Fedora, etc.)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UNIX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MS-DOS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Daily Life Link</a:t>
            </a:r>
            <a:r>
              <a:rPr lang="en-US" dirty="0"/>
              <a:t>: Like a </a:t>
            </a:r>
            <a:r>
              <a:rPr lang="en-US" b="1" dirty="0"/>
              <a:t>single big factory</a:t>
            </a:r>
            <a:r>
              <a:rPr lang="en-US" dirty="0"/>
              <a:t> where all workers (modules) share the same space → fast but risky if one fails.</a:t>
            </a:r>
          </a:p>
        </p:txBody>
      </p:sp>
    </p:spTree>
    <p:extLst>
      <p:ext uri="{BB962C8B-B14F-4D97-AF65-F5344CB8AC3E}">
        <p14:creationId xmlns:p14="http://schemas.microsoft.com/office/powerpoint/2010/main" val="207667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UNIX System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2000" dirty="0"/>
              <a:t>Beyond simple but not fully layered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66975" y="2044701"/>
            <a:ext cx="6923088" cy="420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2213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588" y="0"/>
            <a:ext cx="10515600" cy="696311"/>
          </a:xfrm>
        </p:spPr>
        <p:txBody>
          <a:bodyPr/>
          <a:lstStyle/>
          <a:p>
            <a:r>
              <a:rPr lang="en-US" dirty="0"/>
              <a:t>Microkernel System Structure 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005841" y="663524"/>
            <a:ext cx="4781005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essential services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(CPU scheduling, memory, inter-process communication) run in kernel.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services (drivers, file systems) run in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space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Minix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QNX,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macOS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(partially)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More secure, modular, reliable.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Slower (extra communication between kernel and user space).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005841" y="3855769"/>
            <a:ext cx="548639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Examples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Minix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(educational 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QNX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(used in cars, medical devices).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macOS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/iOS (XNU kernel is hybrid but microkernel-based)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Life Link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Like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 HQ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only managers (kernel) inside → other departments (drivers, file system) in separate offices (user space).</a:t>
            </a:r>
          </a:p>
        </p:txBody>
      </p:sp>
      <p:pic>
        <p:nvPicPr>
          <p:cNvPr id="9" name="Picture 2" descr="2_14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21976" y="1630364"/>
            <a:ext cx="5945905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0343"/>
            <a:ext cx="10515600" cy="524600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module</a:t>
            </a:r>
            <a:r>
              <a:rPr lang="en-US" dirty="0"/>
              <a:t> is a </a:t>
            </a:r>
            <a:r>
              <a:rPr lang="en-US" b="1" dirty="0"/>
              <a:t>separate, independent part</a:t>
            </a:r>
            <a:r>
              <a:rPr lang="en-US" dirty="0"/>
              <a:t> of an operating system that performs a </a:t>
            </a:r>
            <a:r>
              <a:rPr lang="en-US" b="1" dirty="0"/>
              <a:t>specific function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modular approach</a:t>
            </a:r>
            <a:r>
              <a:rPr lang="en-US" dirty="0"/>
              <a:t> means the OS is </a:t>
            </a:r>
            <a:r>
              <a:rPr lang="en-US" b="1" dirty="0"/>
              <a:t>divided into multiple components (modules)</a:t>
            </a:r>
            <a:r>
              <a:rPr lang="en-US" dirty="0"/>
              <a:t>, each responsible for a particular </a:t>
            </a:r>
            <a:r>
              <a:rPr lang="en-US" dirty="0" smtClean="0"/>
              <a:t>task </a:t>
            </a:r>
            <a:r>
              <a:rPr lang="en-US" dirty="0"/>
              <a:t>like process management, memory management, I/O, etc.</a:t>
            </a:r>
          </a:p>
          <a:p>
            <a:r>
              <a:rPr lang="en-US" dirty="0"/>
              <a:t>Each module </a:t>
            </a:r>
            <a:r>
              <a:rPr lang="en-US" b="1" dirty="0"/>
              <a:t>can be loaded, updated, or replaced independently</a:t>
            </a:r>
            <a:r>
              <a:rPr lang="en-US" dirty="0"/>
              <a:t> without affecting the rest of the system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Most </a:t>
            </a:r>
            <a:r>
              <a:rPr lang="en-US" dirty="0"/>
              <a:t>modern operating systems implement </a:t>
            </a:r>
            <a:r>
              <a:rPr lang="en-US" dirty="0">
                <a:solidFill>
                  <a:schemeClr val="accent5"/>
                </a:solidFill>
              </a:rPr>
              <a:t>loadable kernel modules</a:t>
            </a:r>
          </a:p>
          <a:p>
            <a:pPr lvl="1"/>
            <a:r>
              <a:rPr lang="en-US" dirty="0"/>
              <a:t>Uses object-oriented approach</a:t>
            </a:r>
          </a:p>
          <a:p>
            <a:pPr lvl="1"/>
            <a:r>
              <a:rPr lang="en-US" dirty="0"/>
              <a:t>Each core component is separate</a:t>
            </a:r>
          </a:p>
          <a:p>
            <a:pPr lvl="1"/>
            <a:r>
              <a:rPr lang="en-US" dirty="0"/>
              <a:t>Each talks to the others over known interfaces</a:t>
            </a:r>
          </a:p>
          <a:p>
            <a:pPr lvl="1"/>
            <a:r>
              <a:rPr lang="en-US" dirty="0"/>
              <a:t>Each is loadable as needed within the kernel</a:t>
            </a:r>
          </a:p>
          <a:p>
            <a:r>
              <a:rPr lang="en-US" dirty="0"/>
              <a:t>Overall, similar to layers but with more flexible</a:t>
            </a:r>
          </a:p>
          <a:p>
            <a:pPr lvl="1"/>
            <a:r>
              <a:rPr lang="en-US" dirty="0"/>
              <a:t>Linux, Solaris, etc</a:t>
            </a:r>
          </a:p>
        </p:txBody>
      </p:sp>
    </p:spTree>
    <p:extLst>
      <p:ext uri="{BB962C8B-B14F-4D97-AF65-F5344CB8AC3E}">
        <p14:creationId xmlns:p14="http://schemas.microsoft.com/office/powerpoint/2010/main" val="863746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7180DCE6-B84A-48D0-8969-69713151B0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/>
              <a:t>Linux System Structure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936F53-F625-40A3-8B97-B0326EC06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Monolithic plus modular design</a:t>
            </a:r>
          </a:p>
          <a:p>
            <a:endParaRPr lang="en-US" dirty="0"/>
          </a:p>
        </p:txBody>
      </p:sp>
      <p:pic>
        <p:nvPicPr>
          <p:cNvPr id="44036" name="Picture 3">
            <a:extLst>
              <a:ext uri="{FF2B5EF4-FFF2-40B4-BE49-F238E27FC236}">
                <a16:creationId xmlns:a16="http://schemas.microsoft.com/office/drawing/2014/main" id="{0E0A81FB-C4D8-4A31-B03D-CC0C3E0F6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6363" y="784059"/>
            <a:ext cx="3732697" cy="5767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0509" y="0"/>
            <a:ext cx="5497286" cy="8798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Solaris Modular Approach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91793" y="1233715"/>
            <a:ext cx="5730604" cy="387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679269" y="3895876"/>
            <a:ext cx="488732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Solaris’s modular structure is designed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large-scale, high-performance, and continuously running systems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widely used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servers, data centers, banking systems, and telecom environments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reliability and flexibility are critical.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9269" y="1033554"/>
            <a:ext cx="488732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UNIX-based operating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originally developed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 Microsystems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(now owned by Oracle).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meaning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divided into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modules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each performing a specific function.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Solaris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maintain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Hybrid Systems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07572" y="1127181"/>
            <a:ext cx="898506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System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Kernel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is a type of OS architecture that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the best features of both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Monolithic systems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(high performance, direct hardware access), and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Microkernel systems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(modularity, stability, and security).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short: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= Monolithic + Microkernel + Modular design elements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Example 1 – </a:t>
            </a:r>
            <a:r>
              <a:rPr lang="en-US" b="1" dirty="0"/>
              <a:t>Windows 10 / </a:t>
            </a:r>
            <a:r>
              <a:rPr lang="en-US" b="1" dirty="0" smtClean="0"/>
              <a:t>11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Real-life usage:</a:t>
            </a:r>
            <a:r>
              <a:rPr lang="en-US" dirty="0"/>
              <a:t> Almost every </a:t>
            </a:r>
            <a:r>
              <a:rPr lang="en-US" b="1" dirty="0"/>
              <a:t>personal computer, laptop, or enterprise server</a:t>
            </a:r>
            <a:r>
              <a:rPr lang="en-US" dirty="0"/>
              <a:t> today</a:t>
            </a:r>
            <a:r>
              <a:rPr lang="en-US" dirty="0" smtClean="0"/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Example 2 – </a:t>
            </a:r>
            <a:r>
              <a:rPr lang="en-US" b="1" dirty="0" err="1"/>
              <a:t>macOS</a:t>
            </a:r>
            <a:r>
              <a:rPr lang="en-US" b="1" dirty="0"/>
              <a:t> (XNU Kernel</a:t>
            </a:r>
            <a:r>
              <a:rPr lang="en-US" b="1" dirty="0" smtClean="0"/>
              <a:t>)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Real-life usage:</a:t>
            </a:r>
            <a:r>
              <a:rPr lang="en-US" dirty="0"/>
              <a:t> All </a:t>
            </a:r>
            <a:r>
              <a:rPr lang="en-US" b="1" dirty="0"/>
              <a:t>Apple devices</a:t>
            </a:r>
            <a:r>
              <a:rPr lang="en-US" dirty="0"/>
              <a:t> (MacBook, iMac) use this hybrid approach</a:t>
            </a:r>
            <a:r>
              <a:rPr lang="en-US" dirty="0" smtClean="0"/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Example 3 – </a:t>
            </a:r>
            <a:r>
              <a:rPr lang="en-US" b="1" dirty="0" smtClean="0"/>
              <a:t>iOS</a:t>
            </a:r>
          </a:p>
          <a:p>
            <a:r>
              <a:rPr lang="en-US" dirty="0"/>
              <a:t>Used in </a:t>
            </a:r>
            <a:r>
              <a:rPr lang="en-US" b="1" dirty="0"/>
              <a:t>iPhones and iPads</a:t>
            </a:r>
            <a:r>
              <a:rPr lang="en-US" dirty="0"/>
              <a:t> — combines real-time responsiveness with system stability.</a:t>
            </a:r>
          </a:p>
          <a:p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iOS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5"/>
            <a:ext cx="7576930" cy="4937125"/>
          </a:xfrm>
        </p:spPr>
        <p:txBody>
          <a:bodyPr>
            <a:normAutofit/>
          </a:bodyPr>
          <a:lstStyle/>
          <a:p>
            <a:r>
              <a:rPr lang="en-US" sz="2000" b="1" dirty="0"/>
              <a:t>iOS</a:t>
            </a:r>
            <a:r>
              <a:rPr lang="en-US" sz="2000" dirty="0"/>
              <a:t> is Apple’s </a:t>
            </a:r>
            <a:r>
              <a:rPr lang="en-US" sz="2000" b="1" dirty="0"/>
              <a:t>mobile operating system</a:t>
            </a:r>
            <a:r>
              <a:rPr lang="en-US" sz="2000" dirty="0"/>
              <a:t> used in </a:t>
            </a:r>
            <a:r>
              <a:rPr lang="en-US" sz="2000" b="1" dirty="0"/>
              <a:t>iPhones, iPads, and iPod Touch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It is derived from </a:t>
            </a:r>
            <a:r>
              <a:rPr lang="en-US" sz="2000" b="1" dirty="0" err="1"/>
              <a:t>macOS</a:t>
            </a:r>
            <a:r>
              <a:rPr lang="en-US" sz="2000" b="1" dirty="0"/>
              <a:t> (Mac OS X)</a:t>
            </a:r>
            <a:r>
              <a:rPr lang="en-US" sz="2000" dirty="0"/>
              <a:t> but </a:t>
            </a:r>
            <a:r>
              <a:rPr lang="en-US" sz="2000" b="1" dirty="0"/>
              <a:t>optimized for touch interfaces, mobile hardware, and ARM processors</a:t>
            </a:r>
            <a:r>
              <a:rPr lang="en-US" sz="2000" dirty="0" smtClean="0"/>
              <a:t>.</a:t>
            </a:r>
            <a:endParaRPr lang="en-US" dirty="0"/>
          </a:p>
          <a:p>
            <a:endParaRPr lang="en-US" sz="2000" dirty="0"/>
          </a:p>
        </p:txBody>
      </p:sp>
      <p:pic>
        <p:nvPicPr>
          <p:cNvPr id="4" name="Picture 1" descr="2_17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15130" y="2062301"/>
            <a:ext cx="2963075" cy="310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613954" y="3071673"/>
            <a:ext cx="74980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Real-Life Example</a:t>
            </a:r>
          </a:p>
          <a:p>
            <a:r>
              <a:rPr lang="en-US" sz="2000" dirty="0"/>
              <a:t>When you open </a:t>
            </a:r>
            <a:r>
              <a:rPr lang="en-US" sz="2000" b="1" dirty="0"/>
              <a:t>Apple Music</a:t>
            </a:r>
            <a:r>
              <a:rPr lang="en-US" sz="2000" dirty="0"/>
              <a:t> on an iPhone: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The </a:t>
            </a:r>
            <a:r>
              <a:rPr lang="en-US" sz="2000" b="1" dirty="0"/>
              <a:t>Cocoa </a:t>
            </a:r>
            <a:r>
              <a:rPr lang="en-US" sz="2000" b="1" dirty="0" smtClean="0"/>
              <a:t>Touch</a:t>
            </a:r>
            <a:r>
              <a:rPr lang="en-US" sz="2000" dirty="0"/>
              <a:t>(</a:t>
            </a:r>
            <a:r>
              <a:rPr lang="en-US" sz="2000" dirty="0" err="1"/>
              <a:t>UIKit</a:t>
            </a:r>
            <a:r>
              <a:rPr lang="en-US" sz="2000" dirty="0"/>
              <a:t>) layer handles touch and UI.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The </a:t>
            </a:r>
            <a:r>
              <a:rPr lang="en-US" sz="2000" b="1" dirty="0"/>
              <a:t>Media layer</a:t>
            </a:r>
            <a:r>
              <a:rPr lang="en-US" sz="2000" dirty="0"/>
              <a:t> plays audio and displays album art.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The </a:t>
            </a:r>
            <a:r>
              <a:rPr lang="en-US" sz="2000" b="1" dirty="0"/>
              <a:t>Core Services</a:t>
            </a:r>
            <a:r>
              <a:rPr lang="en-US" sz="2000" dirty="0"/>
              <a:t> layer connects to iCloud and Apple Music servers.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The </a:t>
            </a:r>
            <a:r>
              <a:rPr lang="en-US" sz="2000" b="1" dirty="0"/>
              <a:t>Core OS</a:t>
            </a:r>
            <a:r>
              <a:rPr lang="en-US" sz="2000" dirty="0"/>
              <a:t> layer manages memory, battery, and audio hardware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Android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01213"/>
            <a:ext cx="10515600" cy="4937126"/>
          </a:xfrm>
        </p:spPr>
        <p:txBody>
          <a:bodyPr>
            <a:normAutofit/>
          </a:bodyPr>
          <a:lstStyle/>
          <a:p>
            <a:r>
              <a:rPr lang="en-US" sz="2000" dirty="0" smtClean="0"/>
              <a:t> </a:t>
            </a:r>
            <a:r>
              <a:rPr lang="en-US" sz="2000" b="1" dirty="0"/>
              <a:t>Android</a:t>
            </a:r>
            <a:r>
              <a:rPr lang="en-US" sz="2000" dirty="0"/>
              <a:t> is an </a:t>
            </a:r>
            <a:r>
              <a:rPr lang="en-US" sz="2000" b="1" dirty="0"/>
              <a:t>open-source mobile operating system</a:t>
            </a:r>
            <a:r>
              <a:rPr lang="en-US" sz="2000" dirty="0"/>
              <a:t> developed by </a:t>
            </a:r>
            <a:r>
              <a:rPr lang="en-US" sz="2000" b="1" dirty="0"/>
              <a:t>Google</a:t>
            </a:r>
            <a:r>
              <a:rPr lang="en-US" sz="2000" dirty="0"/>
              <a:t> for smartphones, tablets, TVs, and wearables.</a:t>
            </a:r>
            <a:br>
              <a:rPr lang="en-US" sz="2000" dirty="0"/>
            </a:br>
            <a:r>
              <a:rPr lang="en-US" sz="2000" dirty="0"/>
              <a:t>It’s based </a:t>
            </a:r>
            <a:r>
              <a:rPr lang="en-US" sz="2000" dirty="0" smtClean="0"/>
              <a:t>on </a:t>
            </a:r>
            <a:r>
              <a:rPr lang="en-US" sz="2000" dirty="0"/>
              <a:t>a </a:t>
            </a:r>
            <a:r>
              <a:rPr lang="en-US" sz="2000" b="1" dirty="0"/>
              <a:t>modified Linux kernel</a:t>
            </a:r>
            <a:r>
              <a:rPr lang="en-US" sz="2000" dirty="0"/>
              <a:t> and designed mainly for </a:t>
            </a:r>
            <a:r>
              <a:rPr lang="en-US" sz="2000" b="1" dirty="0"/>
              <a:t>touchscreen devices</a:t>
            </a:r>
            <a:r>
              <a:rPr lang="en-US" sz="2000" dirty="0" smtClean="0"/>
              <a:t>.</a:t>
            </a:r>
          </a:p>
          <a:p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221503"/>
              </p:ext>
            </p:extLst>
          </p:nvPr>
        </p:nvGraphicFramePr>
        <p:xfrm>
          <a:off x="838200" y="2163490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842507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284137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206026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Layer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22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Applications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User-facing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WhatsApp, Instagram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740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Application Framework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API support for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Notification Manager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472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Android Runtime &amp; Libraries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App execution and core libraries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SQLite, WebKit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135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Linux Kernel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Hardware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Camera drivers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15568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525484" y="4109856"/>
            <a:ext cx="782029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Example in Action</a:t>
            </a:r>
          </a:p>
          <a:p>
            <a:r>
              <a:rPr lang="en-US" dirty="0"/>
              <a:t>When you </a:t>
            </a:r>
            <a:r>
              <a:rPr lang="en-US" b="1" dirty="0"/>
              <a:t>open your Camera app</a:t>
            </a:r>
            <a:r>
              <a:rPr lang="en-US" dirty="0"/>
              <a:t> on an Android phone: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Application Layer</a:t>
            </a:r>
            <a:r>
              <a:rPr lang="en-US" dirty="0"/>
              <a:t> launches the Camera app.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Framework Layer</a:t>
            </a:r>
            <a:r>
              <a:rPr lang="en-US" dirty="0"/>
              <a:t> requests access to the camera service.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Libraries Layer (Media Framework)</a:t>
            </a:r>
            <a:r>
              <a:rPr lang="en-US" dirty="0"/>
              <a:t> processes the image.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Linux Kernel</a:t>
            </a:r>
            <a:r>
              <a:rPr lang="en-US" dirty="0"/>
              <a:t> communicates with the physical camera hardware.</a:t>
            </a:r>
          </a:p>
          <a:p>
            <a:r>
              <a:rPr lang="en-US" dirty="0"/>
              <a:t>Everything works together seamlessly.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Architecture</a:t>
            </a:r>
          </a:p>
        </p:txBody>
      </p:sp>
      <p:pic>
        <p:nvPicPr>
          <p:cNvPr id="4" name="Content Placeholder 2" descr="2_18.pdf"/>
          <p:cNvPicPr>
            <a:picLocks noGrp="1" noChangeAspect="1"/>
          </p:cNvPicPr>
          <p:nvPr>
            <p:ph idx="1"/>
          </p:nvPr>
        </p:nvPicPr>
        <p:blipFill>
          <a:blip r:embed="rId2"/>
          <a:srcRect t="15273" b="15273"/>
          <a:stretch>
            <a:fillRect/>
          </a:stretch>
        </p:blipFill>
        <p:spPr>
          <a:xfrm>
            <a:off x="2154238" y="1447801"/>
            <a:ext cx="8056562" cy="443547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194" y="204378"/>
            <a:ext cx="10515600" cy="298295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b="1" dirty="0"/>
              <a:t>Virtual Machines</a:t>
            </a:r>
          </a:p>
          <a:p>
            <a:r>
              <a:rPr lang="en-US" sz="2600" b="1" dirty="0"/>
              <a:t>Definition</a:t>
            </a:r>
            <a:r>
              <a:rPr lang="en-US" sz="2600" dirty="0"/>
              <a:t>: OS provides an environment where multiple OS instances run on the same hardware.</a:t>
            </a:r>
          </a:p>
          <a:p>
            <a:r>
              <a:rPr lang="en-US" sz="2600" b="1" dirty="0"/>
              <a:t>Real Examples</a:t>
            </a:r>
            <a:r>
              <a:rPr lang="en-US" sz="2600" dirty="0"/>
              <a:t>:</a:t>
            </a:r>
          </a:p>
          <a:p>
            <a:pPr lvl="1"/>
            <a:r>
              <a:rPr lang="en-US" sz="2600" b="1" dirty="0"/>
              <a:t>VMware Workstation / </a:t>
            </a:r>
            <a:r>
              <a:rPr lang="en-US" sz="2600" b="1" dirty="0" err="1"/>
              <a:t>ESXi</a:t>
            </a:r>
            <a:endParaRPr lang="en-US" sz="2600" dirty="0"/>
          </a:p>
          <a:p>
            <a:pPr lvl="1"/>
            <a:r>
              <a:rPr lang="en-US" sz="2600" b="1" dirty="0" err="1"/>
              <a:t>VirtualBox</a:t>
            </a:r>
            <a:endParaRPr lang="en-US" sz="2600" dirty="0"/>
          </a:p>
          <a:p>
            <a:pPr lvl="1"/>
            <a:r>
              <a:rPr lang="en-US" sz="2600" b="1" dirty="0"/>
              <a:t>KVM (Linux Virtualization)</a:t>
            </a:r>
            <a:endParaRPr lang="en-US" sz="2600" dirty="0"/>
          </a:p>
          <a:p>
            <a:pPr lvl="1"/>
            <a:r>
              <a:rPr lang="en-US" sz="2600" b="1" dirty="0"/>
              <a:t>Microsoft Hyper-V</a:t>
            </a:r>
            <a:endParaRPr lang="en-US" sz="2600" dirty="0"/>
          </a:p>
          <a:p>
            <a:r>
              <a:rPr lang="en-US" sz="2600" b="1" dirty="0"/>
              <a:t>Daily Life Link</a:t>
            </a:r>
            <a:r>
              <a:rPr lang="en-US" sz="2600" dirty="0"/>
              <a:t>: Like having </a:t>
            </a:r>
            <a:r>
              <a:rPr lang="en-US" sz="2600" b="1" dirty="0"/>
              <a:t>separate houses (OS) inside one big building (hardware)</a:t>
            </a:r>
            <a:r>
              <a:rPr lang="en-US" sz="2600" dirty="0"/>
              <a:t>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57942" y="3187337"/>
            <a:ext cx="9831978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Client-Server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Definition</a:t>
            </a:r>
            <a:r>
              <a:rPr lang="en-US" sz="2000" dirty="0"/>
              <a:t>: OS divided into client processes (request services) and server processes (provide services).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Real Examples</a:t>
            </a:r>
            <a:r>
              <a:rPr lang="en-US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Minix</a:t>
            </a:r>
            <a:r>
              <a:rPr lang="en-US" sz="2000" b="1" dirty="0"/>
              <a:t> (client-server based microkernel OS)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Distributed OS (Amoeba, </a:t>
            </a:r>
            <a:r>
              <a:rPr lang="en-US" sz="2000" b="1" dirty="0" err="1"/>
              <a:t>ChorusOS</a:t>
            </a:r>
            <a:r>
              <a:rPr lang="en-US" sz="2000" b="1" dirty="0"/>
              <a:t>)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Modern Cloud Systems</a:t>
            </a:r>
            <a:r>
              <a:rPr lang="en-US" sz="2000" dirty="0"/>
              <a:t> (Google File System, Hadoop)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Daily Life Link</a:t>
            </a:r>
            <a:r>
              <a:rPr lang="en-US" sz="2000" dirty="0"/>
              <a:t>: Like </a:t>
            </a:r>
            <a:r>
              <a:rPr lang="en-US" sz="2000" b="1" dirty="0"/>
              <a:t>restaurants</a:t>
            </a:r>
            <a:r>
              <a:rPr lang="en-US" sz="2000" dirty="0"/>
              <a:t> → client (customer) requests food, server (kitchen) delivers it.</a:t>
            </a:r>
          </a:p>
        </p:txBody>
      </p:sp>
    </p:spTree>
    <p:extLst>
      <p:ext uri="{BB962C8B-B14F-4D97-AF65-F5344CB8AC3E}">
        <p14:creationId xmlns:p14="http://schemas.microsoft.com/office/powerpoint/2010/main" val="41053670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932089"/>
          </a:xfrm>
        </p:spPr>
        <p:txBody>
          <a:bodyPr/>
          <a:lstStyle/>
          <a:p>
            <a:r>
              <a:rPr lang="en-US" dirty="0" smtClean="0"/>
              <a:t>Comparison table </a:t>
            </a:r>
            <a:r>
              <a:rPr lang="en-US" dirty="0"/>
              <a:t>with Real Examples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7571446"/>
              </p:ext>
            </p:extLst>
          </p:nvPr>
        </p:nvGraphicFramePr>
        <p:xfrm>
          <a:off x="653143" y="979716"/>
          <a:ext cx="11077305" cy="5172889"/>
        </p:xfrm>
        <a:graphic>
          <a:graphicData uri="http://schemas.openxmlformats.org/drawingml/2006/table">
            <a:tbl>
              <a:tblPr/>
              <a:tblGrid>
                <a:gridCol w="3692435">
                  <a:extLst>
                    <a:ext uri="{9D8B030D-6E8A-4147-A177-3AD203B41FA5}">
                      <a16:colId xmlns:a16="http://schemas.microsoft.com/office/drawing/2014/main" val="715897707"/>
                    </a:ext>
                  </a:extLst>
                </a:gridCol>
                <a:gridCol w="3692435">
                  <a:extLst>
                    <a:ext uri="{9D8B030D-6E8A-4147-A177-3AD203B41FA5}">
                      <a16:colId xmlns:a16="http://schemas.microsoft.com/office/drawing/2014/main" val="2306116278"/>
                    </a:ext>
                  </a:extLst>
                </a:gridCol>
                <a:gridCol w="3692435">
                  <a:extLst>
                    <a:ext uri="{9D8B030D-6E8A-4147-A177-3AD203B41FA5}">
                      <a16:colId xmlns:a16="http://schemas.microsoft.com/office/drawing/2014/main" val="4025039138"/>
                    </a:ext>
                  </a:extLst>
                </a:gridCol>
              </a:tblGrid>
              <a:tr h="591187">
                <a:tc>
                  <a:txBody>
                    <a:bodyPr/>
                    <a:lstStyle/>
                    <a:p>
                      <a:r>
                        <a:rPr lang="en-US" b="1"/>
                        <a:t>Structure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Definition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Real Examples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9034732"/>
                  </a:ext>
                </a:extLst>
              </a:tr>
              <a:tr h="591187">
                <a:tc>
                  <a:txBody>
                    <a:bodyPr/>
                    <a:lstStyle/>
                    <a:p>
                      <a:r>
                        <a:rPr lang="en-US"/>
                        <a:t>Simple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Mixed, no separation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MS-DOS, Early UNIX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912287"/>
                  </a:ext>
                </a:extLst>
              </a:tr>
              <a:tr h="591187">
                <a:tc>
                  <a:txBody>
                    <a:bodyPr/>
                    <a:lstStyle/>
                    <a:p>
                      <a:r>
                        <a:rPr lang="en-US"/>
                        <a:t>Layered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Divided into 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 OS, MULTICS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6331247"/>
                  </a:ext>
                </a:extLst>
              </a:tr>
              <a:tr h="591187">
                <a:tc>
                  <a:txBody>
                    <a:bodyPr/>
                    <a:lstStyle/>
                    <a:p>
                      <a:r>
                        <a:rPr lang="en-US"/>
                        <a:t>Monolithic Kernel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in kernel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Linux, UNIX, MS-DOS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628174"/>
                  </a:ext>
                </a:extLst>
              </a:tr>
              <a:tr h="591187">
                <a:tc>
                  <a:txBody>
                    <a:bodyPr/>
                    <a:lstStyle/>
                    <a:p>
                      <a:r>
                        <a:rPr lang="en-US"/>
                        <a:t>Microkernel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Minimal kernel, rest in user 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Minix, QNX, macOS (partly)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440075"/>
                  </a:ext>
                </a:extLst>
              </a:tr>
              <a:tr h="1034580">
                <a:tc>
                  <a:txBody>
                    <a:bodyPr/>
                    <a:lstStyle/>
                    <a:p>
                      <a:r>
                        <a:rPr lang="en-US"/>
                        <a:t>Modular/Hybrid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Monolithic + modular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Modern Linux, Windows NT/10/11, macOS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897551"/>
                  </a:ext>
                </a:extLst>
              </a:tr>
              <a:tr h="591187">
                <a:tc>
                  <a:txBody>
                    <a:bodyPr/>
                    <a:lstStyle/>
                    <a:p>
                      <a:r>
                        <a:rPr lang="en-US"/>
                        <a:t>Virtual Machines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Run multiple OS on one hardware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VMware, VirtualBox, Hyper-V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446458"/>
                  </a:ext>
                </a:extLst>
              </a:tr>
              <a:tr h="591187">
                <a:tc>
                  <a:txBody>
                    <a:bodyPr/>
                    <a:lstStyle/>
                    <a:p>
                      <a:r>
                        <a:rPr lang="en-US"/>
                        <a:t>Client-Server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Client requests, server provides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Minix</a:t>
                      </a:r>
                      <a:r>
                        <a:rPr lang="en-US" dirty="0"/>
                        <a:t>, Amoeba, </a:t>
                      </a:r>
                      <a:r>
                        <a:rPr lang="en-US" dirty="0" err="1"/>
                        <a:t>ChorusOS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220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68979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771E8-3E0F-44BE-962C-A68822DF6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Calls</a:t>
            </a:r>
          </a:p>
        </p:txBody>
      </p:sp>
    </p:spTree>
    <p:extLst>
      <p:ext uri="{BB962C8B-B14F-4D97-AF65-F5344CB8AC3E}">
        <p14:creationId xmlns:p14="http://schemas.microsoft.com/office/powerpoint/2010/main" val="2022008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System Calls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210218"/>
            <a:ext cx="10515600" cy="4937126"/>
          </a:xfrm>
        </p:spPr>
        <p:txBody>
          <a:bodyPr>
            <a:normAutofit/>
          </a:bodyPr>
          <a:lstStyle/>
          <a:p>
            <a:r>
              <a:rPr lang="en-US" sz="2000" dirty="0" smtClean="0"/>
              <a:t> </a:t>
            </a:r>
            <a:r>
              <a:rPr lang="en-US" sz="2000" dirty="0"/>
              <a:t>A </a:t>
            </a:r>
            <a:r>
              <a:rPr lang="en-US" sz="2000" b="1" dirty="0"/>
              <a:t>System Call</a:t>
            </a:r>
            <a:r>
              <a:rPr lang="en-US" sz="2000" dirty="0"/>
              <a:t> is a </a:t>
            </a:r>
            <a:r>
              <a:rPr lang="en-US" sz="2000" b="1" dirty="0"/>
              <a:t>bridge (interface)</a:t>
            </a:r>
            <a:r>
              <a:rPr lang="en-US" sz="2000" dirty="0"/>
              <a:t> between:</a:t>
            </a:r>
          </a:p>
          <a:p>
            <a:r>
              <a:rPr lang="en-US" sz="2000" b="1" dirty="0"/>
              <a:t>User programs (applications)</a:t>
            </a:r>
            <a:r>
              <a:rPr lang="en-US" sz="2000" dirty="0"/>
              <a:t> ➜ and</a:t>
            </a:r>
          </a:p>
          <a:p>
            <a:r>
              <a:rPr lang="en-US" sz="2000" b="1" dirty="0"/>
              <a:t>Operating System (kernel)</a:t>
            </a:r>
            <a:endParaRPr lang="en-US" sz="2000" dirty="0"/>
          </a:p>
          <a:p>
            <a:r>
              <a:rPr lang="en-US" sz="2000" dirty="0"/>
              <a:t>It allows a </a:t>
            </a:r>
            <a:r>
              <a:rPr lang="en-US" sz="2000" b="1" dirty="0"/>
              <a:t>user program</a:t>
            </a:r>
            <a:r>
              <a:rPr lang="en-US" sz="2000" dirty="0"/>
              <a:t> to </a:t>
            </a:r>
            <a:r>
              <a:rPr lang="en-US" sz="2000" b="1" dirty="0"/>
              <a:t>request services</a:t>
            </a:r>
            <a:r>
              <a:rPr lang="en-US" sz="2000" dirty="0"/>
              <a:t> from the </a:t>
            </a:r>
            <a:r>
              <a:rPr lang="en-US" sz="2000" b="1" dirty="0"/>
              <a:t>OS kernel</a:t>
            </a:r>
            <a:r>
              <a:rPr lang="en-US" sz="2000" dirty="0"/>
              <a:t>, such as reading data, writing files, creating processes, or communicating over the network</a:t>
            </a:r>
            <a:r>
              <a:rPr lang="en-US" sz="2000" dirty="0" smtClean="0"/>
              <a:t>.</a:t>
            </a:r>
            <a:endParaRPr lang="en-US" dirty="0"/>
          </a:p>
          <a:p>
            <a:endParaRPr lang="en-US" sz="20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31966" y="3182706"/>
            <a:ext cx="604810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you use a program to save a file: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click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MS Word (user-level request).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 can’t directly write to the disk (for security reasons).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So, it makes a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call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write()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 kernel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performs the actual disk write operation.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7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System Calls Example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Compilation Process</a:t>
            </a:r>
          </a:p>
          <a:p>
            <a:pPr lvl="1"/>
            <a:r>
              <a:rPr lang="en-US" dirty="0"/>
              <a:t>To compile a program, a process calls the command interpreter or shell, reads command from the terminal</a:t>
            </a:r>
          </a:p>
          <a:p>
            <a:pPr lvl="1"/>
            <a:r>
              <a:rPr lang="en-US" dirty="0"/>
              <a:t>Shell will create a new process to compile the program</a:t>
            </a:r>
          </a:p>
          <a:p>
            <a:pPr lvl="1"/>
            <a:r>
              <a:rPr lang="en-US" dirty="0"/>
              <a:t>When the process has completed compilation, it executes a system call to terminate itself</a:t>
            </a:r>
          </a:p>
          <a:p>
            <a:r>
              <a:rPr lang="en-US" dirty="0"/>
              <a:t>Other process system calls are also available to;</a:t>
            </a:r>
          </a:p>
          <a:p>
            <a:pPr lvl="1"/>
            <a:r>
              <a:rPr lang="en-US" dirty="0"/>
              <a:t>Request for more memory</a:t>
            </a:r>
          </a:p>
          <a:p>
            <a:pPr lvl="1"/>
            <a:r>
              <a:rPr lang="en-US" dirty="0"/>
              <a:t>Released unused/extra memory</a:t>
            </a:r>
          </a:p>
          <a:p>
            <a:pPr lvl="1"/>
            <a:r>
              <a:rPr lang="en-US" dirty="0"/>
              <a:t>Process and memory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37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System Calls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System calls related to file systems</a:t>
            </a:r>
          </a:p>
          <a:p>
            <a:pPr lvl="1"/>
            <a:r>
              <a:rPr lang="en-US" dirty="0"/>
              <a:t>System calls are needed to create, read, move and write a file</a:t>
            </a:r>
          </a:p>
          <a:p>
            <a:pPr lvl="2"/>
            <a:r>
              <a:rPr lang="en-US" dirty="0"/>
              <a:t>A file should be opened before read it</a:t>
            </a:r>
          </a:p>
          <a:p>
            <a:pPr lvl="2"/>
            <a:r>
              <a:rPr lang="en-US" dirty="0"/>
              <a:t>Similarly, after reading file must be closed which is done by system calls</a:t>
            </a:r>
          </a:p>
          <a:p>
            <a:pPr lvl="1"/>
            <a:r>
              <a:rPr lang="en-US" dirty="0"/>
              <a:t>System calls are required to </a:t>
            </a:r>
          </a:p>
          <a:p>
            <a:pPr lvl="2"/>
            <a:r>
              <a:rPr lang="en-US" dirty="0"/>
              <a:t>create and remove a directory</a:t>
            </a:r>
          </a:p>
          <a:p>
            <a:pPr lvl="2"/>
            <a:r>
              <a:rPr lang="en-US" dirty="0"/>
              <a:t>manipulate file with in different directories</a:t>
            </a:r>
          </a:p>
          <a:p>
            <a:r>
              <a:rPr lang="en-US" dirty="0" smtClean="0"/>
              <a:t>MS-DOS </a:t>
            </a:r>
            <a:r>
              <a:rPr lang="en-US" dirty="0"/>
              <a:t>uses software interrupts similar to system calls</a:t>
            </a:r>
          </a:p>
        </p:txBody>
      </p:sp>
    </p:spTree>
    <p:extLst>
      <p:ext uri="{BB962C8B-B14F-4D97-AF65-F5344CB8AC3E}">
        <p14:creationId xmlns:p14="http://schemas.microsoft.com/office/powerpoint/2010/main" val="185821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BE3AADB-0F3C-4172-8054-CC2DDF747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/>
              <a:t>System Call Implementation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7C2873A-43D0-43EF-AF6C-1C08F69448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/>
          </a:bodyPr>
          <a:lstStyle/>
          <a:p>
            <a:r>
              <a:rPr lang="en-US" altLang="en-US" dirty="0"/>
              <a:t>Typically, a number is associated with each system call</a:t>
            </a:r>
          </a:p>
          <a:p>
            <a:pPr lvl="1"/>
            <a:r>
              <a:rPr lang="en-US" altLang="en-US" dirty="0"/>
              <a:t>System-call interface maintains a table indexed according to these numbers</a:t>
            </a:r>
          </a:p>
          <a:p>
            <a:r>
              <a:rPr lang="en-US" altLang="en-US" dirty="0"/>
              <a:t>The system call interface invokes the intended system call in OS kernel and returns status of the system call and any return values</a:t>
            </a:r>
          </a:p>
          <a:p>
            <a:r>
              <a:rPr lang="en-US" altLang="en-US" dirty="0"/>
              <a:t>The caller need know nothing about how the system call is implemented</a:t>
            </a:r>
          </a:p>
          <a:p>
            <a:pPr lvl="1"/>
            <a:r>
              <a:rPr lang="en-US" altLang="en-US" dirty="0"/>
              <a:t>Just needs to obey API and understand what OS will do as a result call</a:t>
            </a:r>
          </a:p>
          <a:p>
            <a:pPr lvl="1"/>
            <a:r>
              <a:rPr lang="en-US" altLang="en-US" dirty="0"/>
              <a:t>Most details of OS interface hidden from programmer by API  </a:t>
            </a:r>
          </a:p>
          <a:p>
            <a:pPr lvl="2"/>
            <a:r>
              <a:rPr lang="en-US" altLang="en-US" dirty="0"/>
              <a:t>Managed by run-time support library (set of functions built into libraries included with compiler)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699CD33-3BF1-41C4-ABEC-D6F4D3F643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dirty="0"/>
              <a:t>API – System Call – OS Relationship</a:t>
            </a:r>
          </a:p>
        </p:txBody>
      </p:sp>
      <p:pic>
        <p:nvPicPr>
          <p:cNvPr id="37891" name="Picture 2">
            <a:extLst>
              <a:ext uri="{FF2B5EF4-FFF2-40B4-BE49-F238E27FC236}">
                <a16:creationId xmlns:a16="http://schemas.microsoft.com/office/drawing/2014/main" id="{B2409951-BBCF-4A1C-8570-76F67408B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931" y="1281747"/>
            <a:ext cx="5556069" cy="471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322523"/>
              </p:ext>
            </p:extLst>
          </p:nvPr>
        </p:nvGraphicFramePr>
        <p:xfrm>
          <a:off x="550817" y="1306884"/>
          <a:ext cx="6359433" cy="4754880"/>
        </p:xfrm>
        <a:graphic>
          <a:graphicData uri="http://schemas.openxmlformats.org/drawingml/2006/table">
            <a:tbl>
              <a:tblPr/>
              <a:tblGrid>
                <a:gridCol w="2119811">
                  <a:extLst>
                    <a:ext uri="{9D8B030D-6E8A-4147-A177-3AD203B41FA5}">
                      <a16:colId xmlns:a16="http://schemas.microsoft.com/office/drawing/2014/main" val="1006110594"/>
                    </a:ext>
                  </a:extLst>
                </a:gridCol>
                <a:gridCol w="2119811">
                  <a:extLst>
                    <a:ext uri="{9D8B030D-6E8A-4147-A177-3AD203B41FA5}">
                      <a16:colId xmlns:a16="http://schemas.microsoft.com/office/drawing/2014/main" val="3163522631"/>
                    </a:ext>
                  </a:extLst>
                </a:gridCol>
                <a:gridCol w="2119811">
                  <a:extLst>
                    <a:ext uri="{9D8B030D-6E8A-4147-A177-3AD203B41FA5}">
                      <a16:colId xmlns:a16="http://schemas.microsoft.com/office/drawing/2014/main" val="3836342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Term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Meaning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Who Uses It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607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API (Application Programming Interface)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</a:t>
                      </a:r>
                      <a:r>
                        <a:rPr lang="en-US" b="1"/>
                        <a:t>set of functions</a:t>
                      </a:r>
                      <a:r>
                        <a:rPr lang="en-US"/>
                        <a:t> that a programmer can use to build applications.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Application developer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44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System Call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 </a:t>
                      </a:r>
                      <a:r>
                        <a:rPr lang="en-US" b="1"/>
                        <a:t>mechanism</a:t>
                      </a:r>
                      <a:r>
                        <a:rPr lang="en-US"/>
                        <a:t> that allows an API function to </a:t>
                      </a:r>
                      <a:r>
                        <a:rPr lang="en-US" b="1"/>
                        <a:t>request services</a:t>
                      </a:r>
                      <a:r>
                        <a:rPr lang="en-US"/>
                        <a:t> from the operating system kernel.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API (indirectly)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687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Operating System (OS)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 </a:t>
                      </a:r>
                      <a:r>
                        <a:rPr lang="en-US" b="1"/>
                        <a:t>core system software</a:t>
                      </a:r>
                      <a:r>
                        <a:rPr lang="en-US"/>
                        <a:t> that manages hardware and provides low-level services.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Kernel-level code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02969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System Call Processing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/>
              <a:t>Three general methods are used to pass parameters between a running program and the operating system</a:t>
            </a:r>
          </a:p>
          <a:p>
            <a:pPr lvl="1"/>
            <a:r>
              <a:rPr lang="en-US"/>
              <a:t>Pass parameters in registers</a:t>
            </a:r>
          </a:p>
          <a:p>
            <a:pPr lvl="1"/>
            <a:r>
              <a:rPr lang="en-US"/>
              <a:t>Store the parameters in a table in memory, and the table address is passed as a parameter in a register</a:t>
            </a:r>
          </a:p>
          <a:p>
            <a:pPr lvl="1"/>
            <a:r>
              <a:rPr lang="en-US"/>
              <a:t>Push (store) the parameters onto the stack by the program, and pop off the stack by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117388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 Processing</a:t>
            </a:r>
          </a:p>
        </p:txBody>
      </p:sp>
      <p:pic>
        <p:nvPicPr>
          <p:cNvPr id="6" name="Picture 7" descr="2">
            <a:extLst>
              <a:ext uri="{FF2B5EF4-FFF2-40B4-BE49-F238E27FC236}">
                <a16:creationId xmlns:a16="http://schemas.microsoft.com/office/drawing/2014/main" id="{0CAAB722-BE50-4156-9E38-9727A1AF1CA2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586" y="1596788"/>
            <a:ext cx="7848827" cy="4119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19D1AC-9845-488F-B02E-193B0D23318A}"/>
              </a:ext>
            </a:extLst>
          </p:cNvPr>
          <p:cNvSpPr txBox="1"/>
          <p:nvPr/>
        </p:nvSpPr>
        <p:spPr>
          <a:xfrm>
            <a:off x="3049137" y="6049522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Parameter Passing via Table</a:t>
            </a:r>
          </a:p>
        </p:txBody>
      </p:sp>
    </p:spTree>
    <p:extLst>
      <p:ext uri="{BB962C8B-B14F-4D97-AF65-F5344CB8AC3E}">
        <p14:creationId xmlns:p14="http://schemas.microsoft.com/office/powerpoint/2010/main" val="343888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Types of System Calls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/>
              <a:t>Process control</a:t>
            </a:r>
          </a:p>
          <a:p>
            <a:r>
              <a:rPr lang="en-US"/>
              <a:t>File management</a:t>
            </a:r>
          </a:p>
          <a:p>
            <a:r>
              <a:rPr lang="en-US"/>
              <a:t>Device management</a:t>
            </a:r>
          </a:p>
          <a:p>
            <a:r>
              <a:rPr lang="en-US"/>
              <a:t>Information maintenance</a:t>
            </a:r>
          </a:p>
          <a:p>
            <a:r>
              <a:rPr lang="en-US"/>
              <a:t>Communications</a:t>
            </a:r>
          </a:p>
        </p:txBody>
      </p:sp>
    </p:spTree>
    <p:extLst>
      <p:ext uri="{BB962C8B-B14F-4D97-AF65-F5344CB8AC3E}">
        <p14:creationId xmlns:p14="http://schemas.microsoft.com/office/powerpoint/2010/main" val="408463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8EFB8F39-78DC-4EF0-91FB-251FF655B7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altLang="en-US"/>
              <a:t>Types of System Calls</a:t>
            </a:r>
          </a:p>
        </p:txBody>
      </p:sp>
      <p:sp>
        <p:nvSpPr>
          <p:cNvPr id="44034" name="Rectangle 4">
            <a:extLst>
              <a:ext uri="{FF2B5EF4-FFF2-40B4-BE49-F238E27FC236}">
                <a16:creationId xmlns:a16="http://schemas.microsoft.com/office/drawing/2014/main" id="{538B07B6-8B3A-421B-9E9C-671D19AF19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/>
          </a:bodyPr>
          <a:lstStyle/>
          <a:p>
            <a:r>
              <a:rPr lang="en-US" altLang="en-US" dirty="0"/>
              <a:t>Process control</a:t>
            </a:r>
          </a:p>
          <a:p>
            <a:pPr lvl="1"/>
            <a:r>
              <a:rPr lang="en-US" altLang="en-US" dirty="0"/>
              <a:t>end, abort</a:t>
            </a:r>
          </a:p>
          <a:p>
            <a:pPr lvl="1"/>
            <a:r>
              <a:rPr lang="en-US" altLang="en-US" dirty="0"/>
              <a:t>load, execute</a:t>
            </a:r>
          </a:p>
          <a:p>
            <a:pPr lvl="1"/>
            <a:r>
              <a:rPr lang="en-US" altLang="en-US" dirty="0"/>
              <a:t>create process, terminate process</a:t>
            </a:r>
          </a:p>
          <a:p>
            <a:pPr lvl="1"/>
            <a:r>
              <a:rPr lang="en-US" altLang="en-US" dirty="0"/>
              <a:t>get process attributes, set process attributes</a:t>
            </a:r>
          </a:p>
          <a:p>
            <a:pPr lvl="1"/>
            <a:r>
              <a:rPr lang="en-US" altLang="en-US" dirty="0"/>
              <a:t>wait for time</a:t>
            </a:r>
          </a:p>
          <a:p>
            <a:pPr lvl="1"/>
            <a:r>
              <a:rPr lang="en-US" altLang="en-US" dirty="0"/>
              <a:t>wait event, signal event</a:t>
            </a:r>
          </a:p>
          <a:p>
            <a:pPr lvl="1"/>
            <a:r>
              <a:rPr lang="en-US" altLang="en-US" dirty="0"/>
              <a:t>allocate and free memory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Dump memory if error</a:t>
            </a:r>
          </a:p>
          <a:p>
            <a:pPr lvl="1"/>
            <a:r>
              <a:rPr lang="en-US" altLang="en-US" dirty="0"/>
              <a:t>Debugger for determining bugs, single step execution</a:t>
            </a:r>
          </a:p>
          <a:p>
            <a:pPr lvl="1"/>
            <a:r>
              <a:rPr lang="en-US" altLang="en-US" dirty="0"/>
              <a:t>Locks for managing access to shared data between processes</a:t>
            </a:r>
          </a:p>
        </p:txBody>
      </p:sp>
    </p:spTree>
    <p:extLst>
      <p:ext uri="{BB962C8B-B14F-4D97-AF65-F5344CB8AC3E}">
        <p14:creationId xmlns:p14="http://schemas.microsoft.com/office/powerpoint/2010/main" val="57407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7154206E-8D20-44B4-BDFB-10A1DA323D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altLang="en-US"/>
              <a:t>Types of System Calls</a:t>
            </a:r>
          </a:p>
        </p:txBody>
      </p:sp>
      <p:sp>
        <p:nvSpPr>
          <p:cNvPr id="46082" name="Rectangle 4">
            <a:extLst>
              <a:ext uri="{FF2B5EF4-FFF2-40B4-BE49-F238E27FC236}">
                <a16:creationId xmlns:a16="http://schemas.microsoft.com/office/drawing/2014/main" id="{4D677AF6-A19C-4308-82BF-1C89BDD587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altLang="en-US"/>
              <a:t>File management</a:t>
            </a:r>
          </a:p>
          <a:p>
            <a:pPr lvl="1"/>
            <a:r>
              <a:rPr lang="en-US" altLang="en-US"/>
              <a:t>create file, delete file</a:t>
            </a:r>
          </a:p>
          <a:p>
            <a:pPr lvl="1"/>
            <a:r>
              <a:rPr lang="en-US" altLang="en-US"/>
              <a:t>open, close file</a:t>
            </a:r>
          </a:p>
          <a:p>
            <a:pPr lvl="1"/>
            <a:r>
              <a:rPr lang="en-US" altLang="en-US"/>
              <a:t>read, write, reposition</a:t>
            </a:r>
          </a:p>
          <a:p>
            <a:pPr lvl="1"/>
            <a:r>
              <a:rPr lang="en-US" altLang="en-US"/>
              <a:t>get and set file attributes</a:t>
            </a:r>
          </a:p>
          <a:p>
            <a:pPr lvl="1"/>
            <a:endParaRPr lang="en-US" altLang="en-US"/>
          </a:p>
          <a:p>
            <a:r>
              <a:rPr lang="en-US" altLang="en-US"/>
              <a:t>Device management</a:t>
            </a:r>
          </a:p>
          <a:p>
            <a:pPr lvl="1"/>
            <a:r>
              <a:rPr lang="en-US" altLang="en-US"/>
              <a:t>request device, release device</a:t>
            </a:r>
          </a:p>
          <a:p>
            <a:pPr lvl="1"/>
            <a:r>
              <a:rPr lang="en-US" altLang="en-US"/>
              <a:t>read, write, reposition</a:t>
            </a:r>
          </a:p>
          <a:p>
            <a:pPr lvl="1"/>
            <a:r>
              <a:rPr lang="en-US" altLang="en-US"/>
              <a:t>get device attributes, set device attributes</a:t>
            </a:r>
          </a:p>
          <a:p>
            <a:pPr lvl="1"/>
            <a:r>
              <a:rPr lang="en-US" altLang="en-US"/>
              <a:t>logically attach or detach devices</a:t>
            </a:r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651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F6AA2CDC-B1A9-4B96-8ACA-3AF6724F1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Types of System Calls</a:t>
            </a:r>
          </a:p>
        </p:txBody>
      </p:sp>
      <p:sp>
        <p:nvSpPr>
          <p:cNvPr id="48130" name="Rectangle 4">
            <a:extLst>
              <a:ext uri="{FF2B5EF4-FFF2-40B4-BE49-F238E27FC236}">
                <a16:creationId xmlns:a16="http://schemas.microsoft.com/office/drawing/2014/main" id="{A66FBE49-19AC-46C3-98D9-AF60A69416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Information maintenance</a:t>
            </a:r>
          </a:p>
          <a:p>
            <a:pPr lvl="1"/>
            <a:r>
              <a:rPr lang="en-US" altLang="en-US" dirty="0"/>
              <a:t>get time or date, set time or date</a:t>
            </a:r>
          </a:p>
          <a:p>
            <a:pPr lvl="1"/>
            <a:r>
              <a:rPr lang="en-US" altLang="en-US" dirty="0"/>
              <a:t>get system data, set system data</a:t>
            </a:r>
          </a:p>
          <a:p>
            <a:pPr lvl="1"/>
            <a:r>
              <a:rPr lang="en-US" altLang="en-US" dirty="0"/>
              <a:t>get and set process, file, or device attributes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Communications</a:t>
            </a:r>
          </a:p>
          <a:p>
            <a:pPr lvl="1"/>
            <a:r>
              <a:rPr lang="en-US" altLang="en-US" dirty="0"/>
              <a:t>create, delete communication connection</a:t>
            </a:r>
          </a:p>
          <a:p>
            <a:pPr lvl="1"/>
            <a:r>
              <a:rPr lang="en-US" altLang="en-US" dirty="0"/>
              <a:t>send, receive messages if </a:t>
            </a:r>
            <a:r>
              <a:rPr lang="en-US" altLang="en-US" b="1" dirty="0">
                <a:solidFill>
                  <a:srgbClr val="3366FF"/>
                </a:solidFill>
              </a:rPr>
              <a:t>message passing model </a:t>
            </a:r>
            <a:r>
              <a:rPr lang="en-US" altLang="en-US" dirty="0"/>
              <a:t>to </a:t>
            </a:r>
            <a:r>
              <a:rPr lang="en-US" altLang="en-US" b="1" dirty="0">
                <a:solidFill>
                  <a:srgbClr val="3366FF"/>
                </a:solidFill>
              </a:rPr>
              <a:t>host name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3366FF"/>
                </a:solidFill>
              </a:rPr>
              <a:t>process name</a:t>
            </a:r>
          </a:p>
          <a:p>
            <a:pPr lvl="2"/>
            <a:r>
              <a:rPr lang="en-US" altLang="en-US" dirty="0"/>
              <a:t>From</a:t>
            </a:r>
            <a:r>
              <a:rPr lang="en-US" altLang="en-US" b="1" dirty="0">
                <a:solidFill>
                  <a:srgbClr val="3366FF"/>
                </a:solidFill>
              </a:rPr>
              <a:t> client </a:t>
            </a:r>
            <a:r>
              <a:rPr lang="en-US" altLang="en-US" dirty="0"/>
              <a:t>to</a:t>
            </a:r>
            <a:r>
              <a:rPr lang="en-US" altLang="en-US" b="1" dirty="0">
                <a:solidFill>
                  <a:srgbClr val="3366FF"/>
                </a:solidFill>
              </a:rPr>
              <a:t> server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Shared-memory model </a:t>
            </a:r>
            <a:r>
              <a:rPr lang="en-US" altLang="en-US" dirty="0"/>
              <a:t>create and gain access to memory regions</a:t>
            </a:r>
          </a:p>
          <a:p>
            <a:pPr lvl="1"/>
            <a:r>
              <a:rPr lang="en-US" altLang="en-US" dirty="0"/>
              <a:t>transfer status information</a:t>
            </a:r>
          </a:p>
          <a:p>
            <a:pPr lvl="1"/>
            <a:r>
              <a:rPr lang="en-US" altLang="en-US" dirty="0"/>
              <a:t>attach and detach remote devices</a:t>
            </a:r>
          </a:p>
        </p:txBody>
      </p:sp>
    </p:spTree>
    <p:extLst>
      <p:ext uri="{BB962C8B-B14F-4D97-AF65-F5344CB8AC3E}">
        <p14:creationId xmlns:p14="http://schemas.microsoft.com/office/powerpoint/2010/main" val="3048297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A15CA7D0-D163-4761-A0CB-C1497C2C6F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Types of System Calls</a:t>
            </a:r>
          </a:p>
        </p:txBody>
      </p:sp>
      <p:sp>
        <p:nvSpPr>
          <p:cNvPr id="50178" name="Rectangle 4">
            <a:extLst>
              <a:ext uri="{FF2B5EF4-FFF2-40B4-BE49-F238E27FC236}">
                <a16:creationId xmlns:a16="http://schemas.microsoft.com/office/drawing/2014/main" id="{0DAFA650-73F1-48AF-A8C2-366BE2221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Protection</a:t>
            </a:r>
          </a:p>
          <a:p>
            <a:pPr lvl="1"/>
            <a:r>
              <a:rPr lang="en-US" altLang="en-US"/>
              <a:t>Control access to resources</a:t>
            </a:r>
          </a:p>
          <a:p>
            <a:pPr lvl="1"/>
            <a:r>
              <a:rPr lang="en-US" altLang="en-US"/>
              <a:t>Get and set permissions</a:t>
            </a:r>
          </a:p>
          <a:p>
            <a:pPr lvl="1"/>
            <a:r>
              <a:rPr lang="en-US" altLang="en-US"/>
              <a:t>Allow and deny user access</a:t>
            </a:r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168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D9D20-1EC0-4453-8C4E-6DF594B85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 of Windows and Unix System Calls</a:t>
            </a:r>
          </a:p>
        </p:txBody>
      </p:sp>
      <p:pic>
        <p:nvPicPr>
          <p:cNvPr id="4" name="Picture 6" descr="OS8-p61">
            <a:extLst>
              <a:ext uri="{FF2B5EF4-FFF2-40B4-BE49-F238E27FC236}">
                <a16:creationId xmlns:a16="http://schemas.microsoft.com/office/drawing/2014/main" id="{6F9550E5-7D02-46F7-973D-0AFEADEF89D9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870" y="1066636"/>
            <a:ext cx="6094260" cy="5433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750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81485-F3F5-49CF-8E5D-E198968E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</p:spTree>
    <p:extLst>
      <p:ext uri="{BB962C8B-B14F-4D97-AF65-F5344CB8AC3E}">
        <p14:creationId xmlns:p14="http://schemas.microsoft.com/office/powerpoint/2010/main" val="4014764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/>
          </a:bodyPr>
          <a:lstStyle/>
          <a:p>
            <a:r>
              <a:rPr lang="en-US" dirty="0"/>
              <a:t>Mechanism by which hardware like I/O devices, memory modules may interrupt the normal processing of the processor</a:t>
            </a:r>
          </a:p>
          <a:p>
            <a:r>
              <a:rPr lang="en-US" dirty="0"/>
              <a:t>Interrupts are generated by various agents to notify the OS of the occurrence of some event</a:t>
            </a:r>
          </a:p>
          <a:p>
            <a:pPr lvl="1"/>
            <a:r>
              <a:rPr lang="en-US" dirty="0"/>
              <a:t>such as completion of an I/O activity</a:t>
            </a:r>
          </a:p>
          <a:p>
            <a:r>
              <a:rPr lang="en-US" dirty="0"/>
              <a:t>When an interrupt occurs, the execution flow of processor is diverted into specific part of OS code which deals with the event – interrupt handler</a:t>
            </a:r>
          </a:p>
          <a:p>
            <a:r>
              <a:rPr lang="en-US" dirty="0"/>
              <a:t>Interrupts are used to permit several programs and I/O activities to process independently and asynchronously</a:t>
            </a:r>
          </a:p>
          <a:p>
            <a:pPr lvl="1"/>
            <a:r>
              <a:rPr lang="en-US" dirty="0"/>
              <a:t>Hence improve the processing speed</a:t>
            </a:r>
          </a:p>
        </p:txBody>
      </p:sp>
    </p:spTree>
    <p:extLst>
      <p:ext uri="{BB962C8B-B14F-4D97-AF65-F5344CB8AC3E}">
        <p14:creationId xmlns:p14="http://schemas.microsoft.com/office/powerpoint/2010/main" val="3393792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Interrupts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It provides a low overheads means of gaining the attention of the CPU</a:t>
            </a:r>
          </a:p>
          <a:p>
            <a:pPr lvl="1"/>
            <a:r>
              <a:rPr lang="en-US" dirty="0"/>
              <a:t>Interrupt Vector Table is a location near the bottom of memory contains the address of interrupt services procedures of I/O devices</a:t>
            </a:r>
          </a:p>
          <a:p>
            <a:r>
              <a:rPr lang="en-US" dirty="0"/>
              <a:t>As each instruction terminates, the processor may checks for the occurrence of interrupts</a:t>
            </a:r>
          </a:p>
          <a:p>
            <a:pPr lvl="1"/>
            <a:r>
              <a:rPr lang="en-US" dirty="0"/>
              <a:t>If an interrupt received, the actual program is temporarily suspended, and the processor is diverted to interrupt handling routine</a:t>
            </a:r>
          </a:p>
          <a:p>
            <a:pPr lvl="1"/>
            <a:r>
              <a:rPr lang="en-US" dirty="0"/>
              <a:t>When the interrupt is served, the execution will return to the interrupted program</a:t>
            </a:r>
          </a:p>
        </p:txBody>
      </p:sp>
    </p:spTree>
    <p:extLst>
      <p:ext uri="{BB962C8B-B14F-4D97-AF65-F5344CB8AC3E}">
        <p14:creationId xmlns:p14="http://schemas.microsoft.com/office/powerpoint/2010/main" val="2951093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Interrupts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/>
              <a:t>Example:</a:t>
            </a:r>
          </a:p>
          <a:p>
            <a:pPr lvl="1"/>
            <a:r>
              <a:rPr lang="en-US"/>
              <a:t>External devices like printer are much slower than the processor</a:t>
            </a:r>
          </a:p>
          <a:p>
            <a:pPr lvl="1"/>
            <a:r>
              <a:rPr lang="en-US"/>
              <a:t>When processor is transferring data to the printer, the processor pause and remain idle until the printer is reading data</a:t>
            </a:r>
          </a:p>
          <a:p>
            <a:pPr lvl="1"/>
            <a:r>
              <a:rPr lang="en-US"/>
              <a:t>I/O modules will send an interrupt request signal to the processor to suspend its current processing and send more data</a:t>
            </a:r>
          </a:p>
        </p:txBody>
      </p:sp>
    </p:spTree>
    <p:extLst>
      <p:ext uri="{BB962C8B-B14F-4D97-AF65-F5344CB8AC3E}">
        <p14:creationId xmlns:p14="http://schemas.microsoft.com/office/powerpoint/2010/main" val="116643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Interrupt Processing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/>
              <a:t>Following events occurs in processor hardware and software due to an I/O interrupt</a:t>
            </a:r>
          </a:p>
          <a:p>
            <a:pPr lvl="1"/>
            <a:r>
              <a:rPr lang="en-US"/>
              <a:t>The device issue an interrupt signal to processor</a:t>
            </a:r>
          </a:p>
          <a:p>
            <a:pPr lvl="1"/>
            <a:r>
              <a:rPr lang="en-US"/>
              <a:t>The processor finishes execution of current instruction, saves states of interrupted process before responding to the interrupt</a:t>
            </a:r>
          </a:p>
          <a:p>
            <a:pPr lvl="1"/>
            <a:r>
              <a:rPr lang="en-US"/>
              <a:t>The processor sends an acknowledgment signal to the device that issued the interrupt and device remove its interrupt signal/flag</a:t>
            </a:r>
          </a:p>
          <a:p>
            <a:pPr lvl="1"/>
            <a:r>
              <a:rPr lang="en-US"/>
              <a:t>Processor transfer control to the appropriate interrupt handler routine and it starts processing interrupt</a:t>
            </a:r>
          </a:p>
          <a:p>
            <a:pPr lvl="1"/>
            <a:r>
              <a:rPr lang="en-US"/>
              <a:t>When the interrupt id served, the state of interrupted process is restored</a:t>
            </a:r>
          </a:p>
          <a:p>
            <a:pPr lvl="1"/>
            <a:r>
              <a:rPr lang="en-US"/>
              <a:t>Next process starts execution</a:t>
            </a:r>
          </a:p>
        </p:txBody>
      </p:sp>
    </p:spTree>
    <p:extLst>
      <p:ext uri="{BB962C8B-B14F-4D97-AF65-F5344CB8AC3E}">
        <p14:creationId xmlns:p14="http://schemas.microsoft.com/office/powerpoint/2010/main" val="76561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Types of Interrupts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Interrupts may be generated by a number of sources, which are following</a:t>
            </a:r>
          </a:p>
          <a:p>
            <a:r>
              <a:rPr lang="en-US" dirty="0"/>
              <a:t>I/O: </a:t>
            </a:r>
          </a:p>
          <a:p>
            <a:pPr lvl="1"/>
            <a:r>
              <a:rPr lang="en-US" dirty="0"/>
              <a:t>Generated by I/O device controller, to signal normal completion of event or the occurrence of an error or failure condition</a:t>
            </a:r>
          </a:p>
          <a:p>
            <a:r>
              <a:rPr lang="en-US" dirty="0"/>
              <a:t>Time: </a:t>
            </a:r>
          </a:p>
          <a:p>
            <a:pPr lvl="1"/>
            <a:r>
              <a:rPr lang="en-US" dirty="0"/>
              <a:t>Generated by an internal clock within the processor due to expiration of a process’s time quantum or receipt of a signal from another processor on a multiprocessor system</a:t>
            </a:r>
          </a:p>
          <a:p>
            <a:r>
              <a:rPr lang="en-US" dirty="0"/>
              <a:t>Hardware error: </a:t>
            </a:r>
          </a:p>
          <a:p>
            <a:pPr lvl="1"/>
            <a:r>
              <a:rPr lang="en-US" dirty="0"/>
              <a:t>Generated by hardware faults such as power failure</a:t>
            </a:r>
          </a:p>
          <a:p>
            <a:r>
              <a:rPr lang="en-US" dirty="0"/>
              <a:t>Program: </a:t>
            </a:r>
          </a:p>
          <a:p>
            <a:pPr lvl="1"/>
            <a:r>
              <a:rPr lang="en-US" dirty="0"/>
              <a:t>Generated in a user program as a result of instruction execution, such as;</a:t>
            </a:r>
          </a:p>
          <a:p>
            <a:pPr lvl="2"/>
            <a:r>
              <a:rPr lang="en-US" dirty="0"/>
              <a:t>Arithmetic overflow</a:t>
            </a:r>
          </a:p>
          <a:p>
            <a:pPr lvl="2"/>
            <a:r>
              <a:rPr lang="en-US" dirty="0"/>
              <a:t>Divide by zero</a:t>
            </a:r>
          </a:p>
          <a:p>
            <a:pPr lvl="2"/>
            <a:r>
              <a:rPr lang="en-US" dirty="0"/>
              <a:t>Attempt to execute an illegal machine instruction</a:t>
            </a:r>
          </a:p>
          <a:p>
            <a:pPr lvl="2"/>
            <a:r>
              <a:rPr lang="en-US" dirty="0"/>
              <a:t>Reference outside a user allowed memory space</a:t>
            </a:r>
          </a:p>
        </p:txBody>
      </p:sp>
    </p:spTree>
    <p:extLst>
      <p:ext uri="{BB962C8B-B14F-4D97-AF65-F5344CB8AC3E}">
        <p14:creationId xmlns:p14="http://schemas.microsoft.com/office/powerpoint/2010/main" val="450420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op 10 Q&amp;A Slides PowerPoint Presentation Templates in 202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564" y="674643"/>
            <a:ext cx="8777111" cy="493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5778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8654</TotalTime>
  <Words>4698</Words>
  <Application>Microsoft Office PowerPoint</Application>
  <PresentationFormat>Widescreen</PresentationFormat>
  <Paragraphs>673</Paragraphs>
  <Slides>70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70</vt:i4>
      </vt:variant>
    </vt:vector>
  </HeadingPairs>
  <TitlesOfParts>
    <vt:vector size="85" baseType="lpstr">
      <vt:lpstr>MS PGothic</vt:lpstr>
      <vt:lpstr>MS PGothic</vt:lpstr>
      <vt:lpstr>Arial</vt:lpstr>
      <vt:lpstr>Arial Unicode MS</vt:lpstr>
      <vt:lpstr>Calibri</vt:lpstr>
      <vt:lpstr>Calibri Light</vt:lpstr>
      <vt:lpstr>Century Gothic</vt:lpstr>
      <vt:lpstr>Corbel</vt:lpstr>
      <vt:lpstr>Courier New</vt:lpstr>
      <vt:lpstr>Segoe UI</vt:lpstr>
      <vt:lpstr>Segoe UI Light</vt:lpstr>
      <vt:lpstr>Times New Roman</vt:lpstr>
      <vt:lpstr>Wingdings</vt:lpstr>
      <vt:lpstr>1_Office Theme</vt:lpstr>
      <vt:lpstr>Office Theme</vt:lpstr>
      <vt:lpstr>Operating System Structure Week - 02</vt:lpstr>
      <vt:lpstr>Chapter Outline</vt:lpstr>
      <vt:lpstr>OS Service Management</vt:lpstr>
      <vt:lpstr>Process Management</vt:lpstr>
      <vt:lpstr>Memory Management</vt:lpstr>
      <vt:lpstr>File Management</vt:lpstr>
      <vt:lpstr>I/O System Management</vt:lpstr>
      <vt:lpstr>Secondary Storage Management</vt:lpstr>
      <vt:lpstr>Networked System</vt:lpstr>
      <vt:lpstr>System Protection</vt:lpstr>
      <vt:lpstr>Operating System Services</vt:lpstr>
      <vt:lpstr>Operating System Services</vt:lpstr>
      <vt:lpstr>Operating System Services</vt:lpstr>
      <vt:lpstr>A View of Operating System Services</vt:lpstr>
      <vt:lpstr>System Programs</vt:lpstr>
      <vt:lpstr>System Programs</vt:lpstr>
      <vt:lpstr>System Programs</vt:lpstr>
      <vt:lpstr>Operating System Design and Implementation</vt:lpstr>
      <vt:lpstr>Operating System Design and Implementation</vt:lpstr>
      <vt:lpstr>OS Design Goals</vt:lpstr>
      <vt:lpstr>Operating System Design and Implementation</vt:lpstr>
      <vt:lpstr>Operating System Implementation</vt:lpstr>
      <vt:lpstr>Operating System Debugging</vt:lpstr>
      <vt:lpstr>Operating System Generation (SYSGEN)</vt:lpstr>
      <vt:lpstr>System Boot</vt:lpstr>
      <vt:lpstr>OS User Interface</vt:lpstr>
      <vt:lpstr>Compare GUI, Batch, and CLI</vt:lpstr>
      <vt:lpstr>Bourne Shell Command Interpreter</vt:lpstr>
      <vt:lpstr>Touch-screen Interface</vt:lpstr>
      <vt:lpstr>Operating System Structure</vt:lpstr>
      <vt:lpstr>Operating System Structure</vt:lpstr>
      <vt:lpstr>Simple Structure </vt:lpstr>
      <vt:lpstr>OS Layered Approach</vt:lpstr>
      <vt:lpstr>An Operating System Layer</vt:lpstr>
      <vt:lpstr>OS/2 Layer Structure</vt:lpstr>
      <vt:lpstr>Kernel &amp; Kernel Mode</vt:lpstr>
      <vt:lpstr>Kernel &amp; Kernel Mode</vt:lpstr>
      <vt:lpstr>Monolithic Structure – Original UNIX</vt:lpstr>
      <vt:lpstr>Traditional UNIX System Structure</vt:lpstr>
      <vt:lpstr>Microkernel System Structure </vt:lpstr>
      <vt:lpstr>Modules</vt:lpstr>
      <vt:lpstr>Linux System Structure</vt:lpstr>
      <vt:lpstr>Solaris Modular Approach</vt:lpstr>
      <vt:lpstr>Hybrid Systems</vt:lpstr>
      <vt:lpstr>iOS</vt:lpstr>
      <vt:lpstr>Android</vt:lpstr>
      <vt:lpstr>Android Architecture</vt:lpstr>
      <vt:lpstr>PowerPoint Presentation</vt:lpstr>
      <vt:lpstr>Comparison table with Real Examples</vt:lpstr>
      <vt:lpstr>System Calls</vt:lpstr>
      <vt:lpstr>System Calls</vt:lpstr>
      <vt:lpstr>System Calls Example</vt:lpstr>
      <vt:lpstr>System Calls</vt:lpstr>
      <vt:lpstr>System Call Implementation</vt:lpstr>
      <vt:lpstr>API – System Call – OS Relationship</vt:lpstr>
      <vt:lpstr>System Call Processing</vt:lpstr>
      <vt:lpstr>System Call Processing</vt:lpstr>
      <vt:lpstr>Types of System Calls</vt:lpstr>
      <vt:lpstr>Types of System Calls</vt:lpstr>
      <vt:lpstr>Types of System Calls</vt:lpstr>
      <vt:lpstr>Types of System Calls</vt:lpstr>
      <vt:lpstr>Types of System Calls</vt:lpstr>
      <vt:lpstr>Examples of Windows and Unix System Calls</vt:lpstr>
      <vt:lpstr>Interrupts</vt:lpstr>
      <vt:lpstr>Interrupts</vt:lpstr>
      <vt:lpstr>Interrupts</vt:lpstr>
      <vt:lpstr>Interrupts</vt:lpstr>
      <vt:lpstr>Interrupt Processing</vt:lpstr>
      <vt:lpstr>Types of Interrupts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Motivation &amp; Background Chapter 1</dc:title>
  <dc:creator>Sheheryar Malik</dc:creator>
  <cp:lastModifiedBy>LENOVO</cp:lastModifiedBy>
  <cp:revision>885</cp:revision>
  <cp:lastPrinted>2019-05-17T05:34:39Z</cp:lastPrinted>
  <dcterms:created xsi:type="dcterms:W3CDTF">2019-04-13T12:57:47Z</dcterms:created>
  <dcterms:modified xsi:type="dcterms:W3CDTF">2025-10-15T08:50:23Z</dcterms:modified>
</cp:coreProperties>
</file>