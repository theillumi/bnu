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48" r:id="rId2"/>
  </p:sldMasterIdLst>
  <p:notesMasterIdLst>
    <p:notesMasterId r:id="rId46"/>
  </p:notesMasterIdLst>
  <p:handoutMasterIdLst>
    <p:handoutMasterId r:id="rId47"/>
  </p:handoutMasterIdLst>
  <p:sldIdLst>
    <p:sldId id="310" r:id="rId3"/>
    <p:sldId id="331" r:id="rId4"/>
    <p:sldId id="272" r:id="rId5"/>
    <p:sldId id="274" r:id="rId6"/>
    <p:sldId id="590" r:id="rId7"/>
    <p:sldId id="273" r:id="rId8"/>
    <p:sldId id="275" r:id="rId9"/>
    <p:sldId id="276" r:id="rId10"/>
    <p:sldId id="311" r:id="rId11"/>
    <p:sldId id="278" r:id="rId12"/>
    <p:sldId id="279" r:id="rId13"/>
    <p:sldId id="280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312" r:id="rId25"/>
    <p:sldId id="313" r:id="rId26"/>
    <p:sldId id="314" r:id="rId27"/>
    <p:sldId id="315" r:id="rId28"/>
    <p:sldId id="421" r:id="rId29"/>
    <p:sldId id="422" r:id="rId30"/>
    <p:sldId id="423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329" r:id="rId4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0000"/>
    <a:srgbClr val="F7F7F7"/>
    <a:srgbClr val="FBFBFB"/>
    <a:srgbClr val="7E0000"/>
    <a:srgbClr val="FFCCCC"/>
    <a:srgbClr val="A20000"/>
    <a:srgbClr val="4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71" autoAdjust="0"/>
    <p:restoredTop sz="94249" autoAdjust="0"/>
  </p:normalViewPr>
  <p:slideViewPr>
    <p:cSldViewPr snapToGrid="0">
      <p:cViewPr varScale="1">
        <p:scale>
          <a:sx n="73" d="100"/>
          <a:sy n="73" d="100"/>
        </p:scale>
        <p:origin x="864" y="78"/>
      </p:cViewPr>
      <p:guideLst/>
    </p:cSldViewPr>
  </p:slideViewPr>
  <p:outlineViewPr>
    <p:cViewPr>
      <p:scale>
        <a:sx n="33" d="100"/>
        <a:sy n="33" d="100"/>
      </p:scale>
      <p:origin x="0" y="-1832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948"/>
    </p:cViewPr>
  </p:sorterViewPr>
  <p:notesViewPr>
    <p:cSldViewPr snapToGrid="0">
      <p:cViewPr varScale="1">
        <p:scale>
          <a:sx n="54" d="100"/>
          <a:sy n="54" d="100"/>
        </p:scale>
        <p:origin x="287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2AFD4F0-F8E7-4B38-8AB3-B3D42BB4AB68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6758417-41DD-44E2-8136-3065CD04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037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97DC3C2-995C-486E-A92E-6DA415D3A3F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A2CD191-96E2-491B-92DD-AC75CE7DA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4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D975521-C031-44A8-80BF-39B38B75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A3DECD5-2795-49AC-8BF6-9DFEFF419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BB1EDE5-9E4C-42E1-B87C-545C7237B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24A6F99-D8AD-44C9-8834-3BFC2627F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783162-EACC-46A4-B314-BFAA15B50D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DCB06C7-C4C1-4DF4-AE1C-75C2D1E2F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622300" y="3894138"/>
            <a:ext cx="10972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711200"/>
            <a:ext cx="10058400" cy="2890838"/>
          </a:xfrm>
        </p:spPr>
        <p:txBody>
          <a:bodyPr anchor="b"/>
          <a:lstStyle>
            <a:lvl1pPr algn="ctr">
              <a:defRPr sz="6000">
                <a:latin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122738"/>
            <a:ext cx="10058400" cy="1655762"/>
          </a:xfrm>
        </p:spPr>
        <p:txBody>
          <a:bodyPr/>
          <a:lstStyle>
            <a:lvl1pPr marL="0" indent="0" algn="ctr">
              <a:buNone/>
              <a:defRPr sz="2400">
                <a:latin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D29DD9-4302-427D-93BD-28F094C994FA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07F44B-0869-4E0B-9D14-E05949FF70E1}"/>
              </a:ext>
            </a:extLst>
          </p:cNvPr>
          <p:cNvCxnSpPr/>
          <p:nvPr/>
        </p:nvCxnSpPr>
        <p:spPr>
          <a:xfrm>
            <a:off x="10669815" y="-2963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7D2442-658D-4BB3-BDA2-F2D185E92367}"/>
              </a:ext>
            </a:extLst>
          </p:cNvPr>
          <p:cNvCxnSpPr>
            <a:cxnSpLocks/>
          </p:cNvCxnSpPr>
          <p:nvPr/>
        </p:nvCxnSpPr>
        <p:spPr>
          <a:xfrm flipH="1">
            <a:off x="9980612" y="3692843"/>
            <a:ext cx="2208213" cy="316515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8">
            <a:extLst>
              <a:ext uri="{FF2B5EF4-FFF2-40B4-BE49-F238E27FC236}">
                <a16:creationId xmlns:a16="http://schemas.microsoft.com/office/drawing/2014/main" id="{49F2F0DD-6C19-4F59-8AA1-E4FB554C837E}"/>
              </a:ext>
            </a:extLst>
          </p:cNvPr>
          <p:cNvSpPr/>
          <p:nvPr/>
        </p:nvSpPr>
        <p:spPr>
          <a:xfrm>
            <a:off x="10898730" y="2963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7FF1F6D6-FC9F-4600-897C-08B1AC898438}"/>
              </a:ext>
            </a:extLst>
          </p:cNvPr>
          <p:cNvSpPr/>
          <p:nvPr/>
        </p:nvSpPr>
        <p:spPr>
          <a:xfrm>
            <a:off x="10938999" y="2963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8B78111-75F2-4EEA-9A56-7D7C5B867C34}"/>
              </a:ext>
            </a:extLst>
          </p:cNvPr>
          <p:cNvSpPr/>
          <p:nvPr/>
        </p:nvSpPr>
        <p:spPr>
          <a:xfrm>
            <a:off x="10371666" y="360129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  <a:alpha val="6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5D00097-3B25-4093-8399-53FC9EDB415E}"/>
              </a:ext>
            </a:extLst>
          </p:cNvPr>
          <p:cNvSpPr/>
          <p:nvPr/>
        </p:nvSpPr>
        <p:spPr>
          <a:xfrm>
            <a:off x="2792" y="1185757"/>
            <a:ext cx="1005840" cy="5669280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025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711200"/>
            <a:ext cx="10058400" cy="2890838"/>
          </a:xfrm>
        </p:spPr>
        <p:txBody>
          <a:bodyPr anchor="b"/>
          <a:lstStyle>
            <a:lvl1pPr algn="ctr">
              <a:defRPr sz="6000">
                <a:latin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122738"/>
            <a:ext cx="10058400" cy="1655762"/>
          </a:xfrm>
        </p:spPr>
        <p:txBody>
          <a:bodyPr/>
          <a:lstStyle>
            <a:lvl1pPr marL="0" indent="0" algn="ctr">
              <a:buNone/>
              <a:defRPr sz="2400">
                <a:latin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D29DD9-4302-427D-93BD-28F094C994FA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235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76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A024D1-2235-4261-84CC-7F2CA511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800" b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F90A18-E68B-4A7C-B7A8-92A1B095E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78D857C9-565A-47AB-A6D8-2A2B3D87D94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86756" y="6399348"/>
            <a:ext cx="45720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 b="1" i="1" smtClean="0">
                <a:latin typeface="Verdana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4C918-24AF-40BD-B9B5-B36F83F28A8C}" type="slidenum">
              <a:rPr kumimoji="0" lang="en-US" sz="1400" b="1" i="1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  <p:sp>
        <p:nvSpPr>
          <p:cNvPr id="11" name="Rectangle 18">
            <a:extLst>
              <a:ext uri="{FF2B5EF4-FFF2-40B4-BE49-F238E27FC236}">
                <a16:creationId xmlns:a16="http://schemas.microsoft.com/office/drawing/2014/main" id="{8DAD96D6-5B9C-4DBD-8B54-B9DBB8C433E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8305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Sheheryar Malik, Ph.D.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CB60C4-6E75-4231-81D0-064636C0F587}"/>
              </a:ext>
            </a:extLst>
          </p:cNvPr>
          <p:cNvSpPr/>
          <p:nvPr userDrawn="1"/>
        </p:nvSpPr>
        <p:spPr>
          <a:xfrm>
            <a:off x="342682" y="4459918"/>
            <a:ext cx="91440" cy="1828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02C899-A8CF-4D04-BCAF-8F79500D2F0C}"/>
              </a:ext>
            </a:extLst>
          </p:cNvPr>
          <p:cNvSpPr/>
          <p:nvPr userDrawn="1"/>
        </p:nvSpPr>
        <p:spPr>
          <a:xfrm>
            <a:off x="342900" y="3412144"/>
            <a:ext cx="91440" cy="1005840"/>
          </a:xfrm>
          <a:prstGeom prst="rect">
            <a:avLst/>
          </a:prstGeom>
          <a:solidFill>
            <a:srgbClr val="A28E6A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A6FA3A-3D2E-4D3A-90EC-A647392A50BF}"/>
              </a:ext>
            </a:extLst>
          </p:cNvPr>
          <p:cNvSpPr/>
          <p:nvPr userDrawn="1"/>
        </p:nvSpPr>
        <p:spPr>
          <a:xfrm>
            <a:off x="342900" y="2743193"/>
            <a:ext cx="91440" cy="640080"/>
          </a:xfrm>
          <a:prstGeom prst="rect">
            <a:avLst/>
          </a:prstGeom>
          <a:solidFill>
            <a:schemeClr val="bg1">
              <a:lumMod val="6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ACD2D5-50F6-4000-BEB5-02DF9B6CB908}"/>
              </a:ext>
            </a:extLst>
          </p:cNvPr>
          <p:cNvSpPr/>
          <p:nvPr userDrawn="1"/>
        </p:nvSpPr>
        <p:spPr>
          <a:xfrm>
            <a:off x="342900" y="2191691"/>
            <a:ext cx="91440" cy="13716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645F37-B01C-4AA2-9A56-942AB7EABC53}"/>
              </a:ext>
            </a:extLst>
          </p:cNvPr>
          <p:cNvSpPr/>
          <p:nvPr userDrawn="1"/>
        </p:nvSpPr>
        <p:spPr>
          <a:xfrm>
            <a:off x="342900" y="2355934"/>
            <a:ext cx="9144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903324D6-3C92-4C64-A666-E130E68D8E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4290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Process Concept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56FD98-E169-4DCB-B5F9-EF9767B1769F}"/>
              </a:ext>
            </a:extLst>
          </p:cNvPr>
          <p:cNvSpPr/>
          <p:nvPr userDrawn="1"/>
        </p:nvSpPr>
        <p:spPr>
          <a:xfrm>
            <a:off x="10558938" y="47625"/>
            <a:ext cx="13997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2434625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>
            <a:lvl1pPr>
              <a:buClr>
                <a:srgbClr val="C00000"/>
              </a:buClr>
              <a:defRPr/>
            </a:lvl1pPr>
            <a:lvl2pPr marL="685800" indent="-228600">
              <a:buClr>
                <a:srgbClr val="002060"/>
              </a:buClr>
              <a:buSzPct val="80000"/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3pPr>
            <a:lvl4pPr>
              <a:buClr>
                <a:srgbClr val="002060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710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76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 marL="685800" indent="-228600">
              <a:buClr>
                <a:schemeClr val="accent6">
                  <a:lumMod val="60000"/>
                  <a:lumOff val="40000"/>
                </a:schemeClr>
              </a:buClr>
              <a:buSzPct val="80000"/>
              <a:buFont typeface="Courier New" panose="02070309020205020404" pitchFamily="49" charset="0"/>
              <a:buChar char="o"/>
              <a:defRPr>
                <a:solidFill>
                  <a:schemeClr val="bg1"/>
                </a:solidFill>
              </a:defRPr>
            </a:lvl2pPr>
            <a:lvl3pPr marL="1143000" indent="-22860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832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A024D1-2235-4261-84CC-7F2CA511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4800" b="1">
                <a:solidFill>
                  <a:srgbClr val="C00000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F90A18-E68B-4A7C-B7A8-92A1B095E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4155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393777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238278"/>
            <a:ext cx="5120640" cy="39513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93779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17689"/>
            <a:ext cx="5120640" cy="39719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7CB8E7-6D87-40F4-9983-4594A9AEC18B}"/>
              </a:ext>
            </a:extLst>
          </p:cNvPr>
          <p:cNvSpPr/>
          <p:nvPr userDrawn="1"/>
        </p:nvSpPr>
        <p:spPr>
          <a:xfrm>
            <a:off x="10246609" y="47625"/>
            <a:ext cx="1712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IT Service Management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9113F6-0730-4011-8815-3FF1753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148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711200"/>
            <a:ext cx="10058400" cy="2890838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  <a:latin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122738"/>
            <a:ext cx="100584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2300" y="3894138"/>
            <a:ext cx="10972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59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>
            <a:lvl1pPr>
              <a:buClr>
                <a:srgbClr val="C00000"/>
              </a:buClr>
              <a:defRPr/>
            </a:lvl1pPr>
            <a:lvl2pPr marL="685800" indent="-228600">
              <a:buClr>
                <a:srgbClr val="002060"/>
              </a:buClr>
              <a:buSzPct val="80000"/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3pPr>
            <a:lvl4pPr>
              <a:buClr>
                <a:srgbClr val="002060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6894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A024D1-2235-4261-84CC-7F2CA511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4800" b="1">
                <a:solidFill>
                  <a:srgbClr val="C00000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F90A18-E68B-4A7C-B7A8-92A1B095E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502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73188"/>
            <a:ext cx="5120640" cy="4803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73188"/>
            <a:ext cx="5120640" cy="4803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3866FE-4B4F-48A8-8721-20B757069001}"/>
              </a:ext>
            </a:extLst>
          </p:cNvPr>
          <p:cNvSpPr/>
          <p:nvPr userDrawn="1"/>
        </p:nvSpPr>
        <p:spPr>
          <a:xfrm>
            <a:off x="10246609" y="47625"/>
            <a:ext cx="1712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IT Service Management</a:t>
            </a:r>
          </a:p>
        </p:txBody>
      </p:sp>
    </p:spTree>
    <p:extLst>
      <p:ext uri="{BB962C8B-B14F-4D97-AF65-F5344CB8AC3E}">
        <p14:creationId xmlns:p14="http://schemas.microsoft.com/office/powerpoint/2010/main" val="3576681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393777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238278"/>
            <a:ext cx="5120640" cy="39513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93779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17689"/>
            <a:ext cx="5120640" cy="39719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7CB8E7-6D87-40F4-9983-4594A9AEC18B}"/>
              </a:ext>
            </a:extLst>
          </p:cNvPr>
          <p:cNvSpPr/>
          <p:nvPr userDrawn="1"/>
        </p:nvSpPr>
        <p:spPr>
          <a:xfrm>
            <a:off x="10246609" y="47625"/>
            <a:ext cx="1712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IT Service Management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9113F6-0730-4011-8815-3FF1753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0549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4CF745-6EDB-4208-9010-31248509EE22}" type="datetime1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9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F86697-F896-4D6D-B84C-552DCABE6614}" type="datetime1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14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AC2689-2A9F-49ED-8241-1986025505EB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7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6161B3-54A1-413C-B8D2-465092B984D1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47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3541D6-CFE7-41C6-807C-A510B50B5BA2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78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4DA443-4C90-4E74-B571-AFB4D58D5ED3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60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19224"/>
            <a:ext cx="10515600" cy="4924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0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8" r:id="rId2"/>
    <p:sldLayoutId id="2147483651" r:id="rId3"/>
    <p:sldLayoutId id="2147483687" r:id="rId4"/>
    <p:sldLayoutId id="2147483689" r:id="rId5"/>
    <p:sldLayoutId id="2147483678" r:id="rId6"/>
    <p:sldLayoutId id="2147483680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SzPct val="80000"/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19224"/>
            <a:ext cx="10515600" cy="4924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E32BD0-7330-4272-82E9-A9CAB20CD102}"/>
              </a:ext>
            </a:extLst>
          </p:cNvPr>
          <p:cNvSpPr/>
          <p:nvPr userDrawn="1"/>
        </p:nvSpPr>
        <p:spPr>
          <a:xfrm>
            <a:off x="10558938" y="47625"/>
            <a:ext cx="13997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Operating Systems</a:t>
            </a:r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83FDDCFB-A997-46E6-9FFD-8AC263D63C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86756" y="6399348"/>
            <a:ext cx="457200" cy="457200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 b="1" i="1" smtClean="0">
                <a:latin typeface="Verdana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4C918-24AF-40BD-B9B5-B36F83F28A8C}" type="slidenum">
              <a:rPr kumimoji="0" lang="en-US" sz="1400" b="1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A08B1F5C-5B67-496D-B135-CA249522C6E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4290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Process Concept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4C31F2D-428B-47CA-9119-8DB7D4F9343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8305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Sheheryar Malik, Ph.D.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F099F0-5000-4B34-AE00-C6337EDD41FC}"/>
              </a:ext>
            </a:extLst>
          </p:cNvPr>
          <p:cNvSpPr/>
          <p:nvPr userDrawn="1"/>
        </p:nvSpPr>
        <p:spPr>
          <a:xfrm>
            <a:off x="342682" y="4459918"/>
            <a:ext cx="91440" cy="1828800"/>
          </a:xfrm>
          <a:prstGeom prst="rect">
            <a:avLst/>
          </a:prstGeom>
          <a:solidFill>
            <a:srgbClr val="9B2D1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2BACF0-A96E-4FB3-B6C9-76FE7A86508C}"/>
              </a:ext>
            </a:extLst>
          </p:cNvPr>
          <p:cNvSpPr/>
          <p:nvPr userDrawn="1"/>
        </p:nvSpPr>
        <p:spPr>
          <a:xfrm>
            <a:off x="342900" y="3412144"/>
            <a:ext cx="91440" cy="1005840"/>
          </a:xfrm>
          <a:prstGeom prst="rect">
            <a:avLst/>
          </a:prstGeom>
          <a:solidFill>
            <a:srgbClr val="A28E6A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5C4C5F-7E26-4B82-AA28-5D45B051DE80}"/>
              </a:ext>
            </a:extLst>
          </p:cNvPr>
          <p:cNvSpPr/>
          <p:nvPr userDrawn="1"/>
        </p:nvSpPr>
        <p:spPr>
          <a:xfrm>
            <a:off x="342900" y="2743193"/>
            <a:ext cx="91440" cy="640080"/>
          </a:xfrm>
          <a:prstGeom prst="rect">
            <a:avLst/>
          </a:prstGeom>
          <a:solidFill>
            <a:srgbClr val="696464"/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659286-E1E1-4CC2-B85D-A7D0405C2BC7}"/>
              </a:ext>
            </a:extLst>
          </p:cNvPr>
          <p:cNvSpPr/>
          <p:nvPr userDrawn="1"/>
        </p:nvSpPr>
        <p:spPr>
          <a:xfrm>
            <a:off x="342900" y="2191691"/>
            <a:ext cx="91440" cy="137160"/>
          </a:xfrm>
          <a:prstGeom prst="rect">
            <a:avLst/>
          </a:prstGeom>
          <a:solidFill>
            <a:srgbClr val="9B2D1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B4EA7D-FB77-4453-8980-E49CD0EF492E}"/>
              </a:ext>
            </a:extLst>
          </p:cNvPr>
          <p:cNvSpPr/>
          <p:nvPr userDrawn="1"/>
        </p:nvSpPr>
        <p:spPr>
          <a:xfrm>
            <a:off x="342900" y="2355934"/>
            <a:ext cx="91440" cy="365760"/>
          </a:xfrm>
          <a:prstGeom prst="rect">
            <a:avLst/>
          </a:prstGeom>
          <a:solidFill>
            <a:srgbClr val="002060"/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370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4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C00000"/>
          </a:solidFill>
          <a:latin typeface="Segoe UI Light" panose="020B0502040204020203" pitchFamily="34" charset="0"/>
          <a:ea typeface="+mj-ea"/>
          <a:cs typeface="Segoe UI Light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SzPct val="80000"/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Process Concept</a:t>
            </a:r>
            <a:br>
              <a:rPr lang="en-US" dirty="0"/>
            </a:br>
            <a:r>
              <a:rPr lang="en-US" sz="3600" b="1" dirty="0">
                <a:solidFill>
                  <a:schemeClr val="tx1"/>
                </a:solidFill>
              </a:rPr>
              <a:t>Module 3</a:t>
            </a:r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Operating </a:t>
            </a:r>
            <a:r>
              <a:rPr lang="en-US" sz="2800" dirty="0" smtClean="0"/>
              <a:t>Systems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2361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98C84-5E8A-4CBD-92F7-9345E51B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Chapter 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DA306-4DBC-414A-9ABF-C43D7E0F4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Process Concept</a:t>
            </a:r>
          </a:p>
          <a:p>
            <a:r>
              <a:rPr lang="en-US" dirty="0"/>
              <a:t>Program vs Process</a:t>
            </a:r>
          </a:p>
          <a:p>
            <a:r>
              <a:rPr lang="en-US" dirty="0"/>
              <a:t>Process Control Block</a:t>
            </a:r>
          </a:p>
          <a:p>
            <a:r>
              <a:rPr lang="en-US" dirty="0"/>
              <a:t>Process Table</a:t>
            </a:r>
          </a:p>
          <a:p>
            <a:r>
              <a:rPr lang="en-US" dirty="0"/>
              <a:t>Context Switch</a:t>
            </a:r>
          </a:p>
          <a:p>
            <a:r>
              <a:rPr lang="en-US" dirty="0"/>
              <a:t>Process states</a:t>
            </a:r>
          </a:p>
          <a:p>
            <a:r>
              <a:rPr lang="en-US" dirty="0"/>
              <a:t>Process states transitions</a:t>
            </a:r>
          </a:p>
          <a:p>
            <a:r>
              <a:rPr lang="en-US" dirty="0"/>
              <a:t>Process life cycle</a:t>
            </a:r>
          </a:p>
          <a:p>
            <a:r>
              <a:rPr lang="en-US" dirty="0"/>
              <a:t>Five state process model</a:t>
            </a:r>
          </a:p>
          <a:p>
            <a:r>
              <a:rPr lang="en-US" dirty="0"/>
              <a:t>Unix process state transition diagram</a:t>
            </a:r>
          </a:p>
        </p:txBody>
      </p:sp>
    </p:spTree>
    <p:extLst>
      <p:ext uri="{BB962C8B-B14F-4D97-AF65-F5344CB8AC3E}">
        <p14:creationId xmlns:p14="http://schemas.microsoft.com/office/powerpoint/2010/main" val="3002531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Process Concept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A process is basically a program in execution</a:t>
            </a:r>
          </a:p>
          <a:p>
            <a:pPr lvl="1"/>
            <a:r>
              <a:rPr lang="en-US"/>
              <a:t>or that which a processor executes</a:t>
            </a:r>
          </a:p>
          <a:p>
            <a:r>
              <a:rPr lang="en-US"/>
              <a:t>A process is unit of work in a system</a:t>
            </a:r>
          </a:p>
          <a:p>
            <a:r>
              <a:rPr lang="en-US"/>
              <a:t>A process is an activity performed by a system</a:t>
            </a:r>
          </a:p>
          <a:p>
            <a:pPr lvl="1"/>
            <a:r>
              <a:rPr lang="en-US"/>
              <a:t>It may be program’s data, program counter, pointer or register used in a program</a:t>
            </a:r>
          </a:p>
          <a:p>
            <a:r>
              <a:rPr lang="en-US"/>
              <a:t>A process uses resources like CPU, memory, files and I/O devices</a:t>
            </a:r>
          </a:p>
          <a:p>
            <a:r>
              <a:rPr lang="en-US"/>
              <a:t>Operating system processes execute system code and user processes executes user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Program vs Process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A program is a passive entity</a:t>
            </a:r>
          </a:p>
          <a:p>
            <a:r>
              <a:rPr lang="en-US" dirty="0"/>
              <a:t>A process is a dynamic entity represented by the values stored in registers, memory, program counters etc.</a:t>
            </a:r>
          </a:p>
          <a:p>
            <a:r>
              <a:rPr lang="en-US" dirty="0"/>
              <a:t>A program does not compete for the computing resources whereas a process does</a:t>
            </a:r>
          </a:p>
          <a:p>
            <a:r>
              <a:rPr lang="en-US" dirty="0"/>
              <a:t>One program can have several processes</a:t>
            </a:r>
          </a:p>
          <a:p>
            <a:pPr lvl="1"/>
            <a:r>
              <a:rPr lang="en-US" dirty="0"/>
              <a:t>Consider multiple users executing the same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/>
              <a:t>Multiple parts</a:t>
            </a:r>
          </a:p>
          <a:p>
            <a:pPr lvl="1"/>
            <a:r>
              <a:rPr lang="en-US"/>
              <a:t>The program code, also called </a:t>
            </a:r>
            <a:r>
              <a:rPr lang="en-US" b="1">
                <a:solidFill>
                  <a:srgbClr val="3366FF"/>
                </a:solidFill>
              </a:rPr>
              <a:t>text section</a:t>
            </a:r>
          </a:p>
          <a:p>
            <a:pPr lvl="1"/>
            <a:r>
              <a:rPr lang="en-US"/>
              <a:t>Current activity including</a:t>
            </a:r>
            <a:r>
              <a:rPr lang="en-US" b="1">
                <a:solidFill>
                  <a:srgbClr val="3366FF"/>
                </a:solidFill>
              </a:rPr>
              <a:t> program</a:t>
            </a:r>
            <a:r>
              <a:rPr lang="en-US" b="1"/>
              <a:t> </a:t>
            </a:r>
            <a:r>
              <a:rPr lang="en-US" b="1">
                <a:solidFill>
                  <a:srgbClr val="3366FF"/>
                </a:solidFill>
              </a:rPr>
              <a:t>counter</a:t>
            </a:r>
            <a:r>
              <a:rPr lang="en-US"/>
              <a:t>, processor registers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Stack</a:t>
            </a:r>
            <a:r>
              <a:rPr lang="en-US" b="1"/>
              <a:t> </a:t>
            </a:r>
            <a:r>
              <a:rPr lang="en-US"/>
              <a:t>containing temporary data</a:t>
            </a:r>
          </a:p>
          <a:p>
            <a:pPr lvl="2"/>
            <a:r>
              <a:rPr lang="en-US"/>
              <a:t>Function parameters, return addresses, local variables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Data section</a:t>
            </a:r>
            <a:r>
              <a:rPr lang="en-US" b="1"/>
              <a:t> </a:t>
            </a:r>
            <a:r>
              <a:rPr lang="en-US"/>
              <a:t>containing global variables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Heap</a:t>
            </a:r>
            <a:r>
              <a:rPr lang="en-US" b="1"/>
              <a:t> </a:t>
            </a:r>
            <a:r>
              <a:rPr lang="en-US"/>
              <a:t>containing memory dynamically allocated during run time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Process Concept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Process idea was first used in Multics</a:t>
            </a:r>
          </a:p>
          <a:p>
            <a:r>
              <a:rPr lang="en-US" dirty="0"/>
              <a:t>All programming OS, such as Windows NT, or MVS (multiple virtual storage) were built around the concept of process</a:t>
            </a:r>
          </a:p>
          <a:p>
            <a:r>
              <a:rPr lang="en-US" dirty="0"/>
              <a:t>Major requirements that the OS must meet can all be expressed with reference to process</a:t>
            </a:r>
          </a:p>
          <a:p>
            <a:pPr lvl="1"/>
            <a:r>
              <a:rPr lang="en-US" dirty="0"/>
              <a:t>OS must interleave the execution of a number of processes to maximize processor use</a:t>
            </a:r>
          </a:p>
          <a:p>
            <a:pPr lvl="1"/>
            <a:r>
              <a:rPr lang="en-US" dirty="0"/>
              <a:t>OS must allocate resources to process in confirming to a specify policy</a:t>
            </a:r>
          </a:p>
          <a:p>
            <a:pPr lvl="2"/>
            <a:r>
              <a:rPr lang="en-US" dirty="0"/>
              <a:t>e.g. certain functions or applications are of higher priority</a:t>
            </a:r>
          </a:p>
          <a:p>
            <a:pPr lvl="2"/>
            <a:r>
              <a:rPr lang="en-US" dirty="0"/>
              <a:t>at the same time avoiding deadlock</a:t>
            </a:r>
          </a:p>
          <a:p>
            <a:pPr lvl="1"/>
            <a:r>
              <a:rPr lang="en-US" dirty="0"/>
              <a:t>OS may support inter-process communication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Process Control Block (PCB)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lnSpcReduction="10000"/>
          </a:bodyPr>
          <a:lstStyle/>
          <a:p>
            <a:r>
              <a:rPr lang="en-US"/>
              <a:t>When a new user program is initiated</a:t>
            </a:r>
          </a:p>
          <a:p>
            <a:pPr lvl="1"/>
            <a:r>
              <a:rPr lang="en-US"/>
              <a:t>OS creates a data structure, called Process Control Block (PCB), which gives substance to the process and serves to control it</a:t>
            </a:r>
          </a:p>
          <a:p>
            <a:r>
              <a:rPr lang="en-US"/>
              <a:t>Each process is represented by its own process control block</a:t>
            </a:r>
          </a:p>
          <a:p>
            <a:r>
              <a:rPr lang="en-US"/>
              <a:t>PCB is a data block or record containing information associated with a specified process</a:t>
            </a:r>
          </a:p>
          <a:p>
            <a:r>
              <a:rPr lang="en-US"/>
              <a:t>Allows the OS to locate all key information about a process</a:t>
            </a:r>
          </a:p>
          <a:p>
            <a:r>
              <a:rPr lang="en-US"/>
              <a:t>When the OS switches the attention of the CPU among various active processes</a:t>
            </a:r>
          </a:p>
          <a:p>
            <a:pPr lvl="1"/>
            <a:r>
              <a:rPr lang="en-US"/>
              <a:t>It uses the same area in PCB to hold the information</a:t>
            </a:r>
          </a:p>
          <a:p>
            <a:pPr lvl="1"/>
            <a:r>
              <a:rPr lang="en-US"/>
              <a:t>That information used to restart process when the process next gets CPU</a:t>
            </a:r>
          </a:p>
          <a:p>
            <a:r>
              <a:rPr lang="en-US"/>
              <a:t>Process control block is also called task control block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Process Control Block (PCB)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PCB contains following information about process</a:t>
            </a:r>
          </a:p>
          <a:p>
            <a:pPr lvl="1"/>
            <a:r>
              <a:rPr lang="en-US"/>
              <a:t>Current state of the process</a:t>
            </a:r>
          </a:p>
          <a:p>
            <a:pPr lvl="1"/>
            <a:r>
              <a:rPr lang="en-US"/>
              <a:t>Unique identification of process</a:t>
            </a:r>
          </a:p>
          <a:p>
            <a:pPr lvl="1"/>
            <a:r>
              <a:rPr lang="en-US"/>
              <a:t>A pointer to process parent</a:t>
            </a:r>
          </a:p>
          <a:p>
            <a:pPr lvl="1"/>
            <a:r>
              <a:rPr lang="en-US"/>
              <a:t>Pointer to process’s child processes</a:t>
            </a:r>
          </a:p>
          <a:p>
            <a:pPr lvl="1"/>
            <a:r>
              <a:rPr lang="en-US"/>
              <a:t>The process’s priority</a:t>
            </a:r>
          </a:p>
          <a:p>
            <a:pPr lvl="1"/>
            <a:r>
              <a:rPr lang="en-US"/>
              <a:t>Pointer to locate the process memory</a:t>
            </a:r>
          </a:p>
          <a:p>
            <a:pPr lvl="1"/>
            <a:r>
              <a:rPr lang="en-US"/>
              <a:t>Pointer to allocate resources</a:t>
            </a:r>
          </a:p>
          <a:p>
            <a:pPr lvl="1"/>
            <a:r>
              <a:rPr lang="en-US"/>
              <a:t>The register save area – CPU register</a:t>
            </a:r>
          </a:p>
          <a:p>
            <a:pPr lvl="1"/>
            <a:r>
              <a:rPr lang="en-US"/>
              <a:t>The processor it is running on</a:t>
            </a:r>
          </a:p>
          <a:p>
            <a:pPr lvl="1"/>
            <a:r>
              <a:rPr lang="en-US"/>
              <a:t>Accounting information</a:t>
            </a:r>
          </a:p>
          <a:p>
            <a:pPr lvl="1"/>
            <a:r>
              <a:rPr lang="en-US"/>
              <a:t>I/O state information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Control Block (PCB)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8D84D479-D1BA-4847-8810-554899D61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662" y="1714382"/>
            <a:ext cx="2596676" cy="4219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Process Table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OS maintains the process table with one entry per process</a:t>
            </a:r>
          </a:p>
          <a:p>
            <a:r>
              <a:rPr lang="en-US" dirty="0"/>
              <a:t>This entry contains information about process’s  </a:t>
            </a:r>
          </a:p>
          <a:p>
            <a:pPr lvl="1"/>
            <a:r>
              <a:rPr lang="en-US" dirty="0"/>
              <a:t>state</a:t>
            </a:r>
          </a:p>
          <a:p>
            <a:pPr lvl="1"/>
            <a:r>
              <a:rPr lang="en-US" dirty="0"/>
              <a:t>its program counter</a:t>
            </a:r>
          </a:p>
          <a:p>
            <a:pPr lvl="1"/>
            <a:r>
              <a:rPr lang="en-US" dirty="0"/>
              <a:t>stack pointer</a:t>
            </a:r>
          </a:p>
          <a:p>
            <a:pPr lvl="1"/>
            <a:r>
              <a:rPr lang="en-US" dirty="0"/>
              <a:t>memory allocation</a:t>
            </a:r>
          </a:p>
          <a:p>
            <a:pPr lvl="1"/>
            <a:r>
              <a:rPr lang="en-US" dirty="0"/>
              <a:t>the status of its open file</a:t>
            </a:r>
          </a:p>
          <a:p>
            <a:pPr lvl="1"/>
            <a:r>
              <a:rPr lang="en-US" dirty="0"/>
              <a:t>its accounting and scheduling information</a:t>
            </a:r>
          </a:p>
          <a:p>
            <a:pPr lvl="1"/>
            <a:r>
              <a:rPr lang="en-US" dirty="0"/>
              <a:t>its priority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The Shell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It is a command interpreter</a:t>
            </a:r>
          </a:p>
          <a:p>
            <a:r>
              <a:rPr lang="en-US"/>
              <a:t>It is a process which starts by typing a command at prompt</a:t>
            </a:r>
          </a:p>
          <a:p>
            <a:r>
              <a:rPr lang="en-US"/>
              <a:t>It provides an interface to the OS for the user</a:t>
            </a:r>
          </a:p>
          <a:p>
            <a:r>
              <a:rPr lang="en-US"/>
              <a:t>A facility for online users rather than batch</a:t>
            </a:r>
          </a:p>
          <a:p>
            <a:r>
              <a:rPr lang="en-US"/>
              <a:t>Command can be entered </a:t>
            </a:r>
          </a:p>
          <a:p>
            <a:pPr lvl="1"/>
            <a:r>
              <a:rPr lang="en-US"/>
              <a:t>directly at an online terminal</a:t>
            </a:r>
          </a:p>
          <a:p>
            <a:pPr lvl="1"/>
            <a:r>
              <a:rPr lang="en-US"/>
              <a:t>through shell program or script</a:t>
            </a:r>
          </a:p>
          <a:p>
            <a:pPr lvl="2"/>
            <a:r>
              <a:rPr lang="en-US"/>
              <a:t>a text file having series of commands forms a script</a:t>
            </a:r>
          </a:p>
          <a:p>
            <a:r>
              <a:rPr lang="en-US"/>
              <a:t>DOS shell is alternative as screen oriented interface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The Shell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In Unix when any user login in, a shell is started up</a:t>
            </a:r>
          </a:p>
          <a:p>
            <a:pPr lvl="1"/>
            <a:r>
              <a:rPr lang="en-US" dirty="0"/>
              <a:t>It starts up as soon as user types some thing at command prompt, e.g. date</a:t>
            </a:r>
          </a:p>
          <a:p>
            <a:pPr lvl="1"/>
            <a:r>
              <a:rPr lang="en-US" dirty="0"/>
              <a:t>The shell creates a child process and run the date program</a:t>
            </a:r>
          </a:p>
          <a:p>
            <a:pPr lvl="1"/>
            <a:r>
              <a:rPr lang="en-US" dirty="0"/>
              <a:t>When child is running shell waits for its termination</a:t>
            </a:r>
          </a:p>
          <a:p>
            <a:pPr lvl="1"/>
            <a:r>
              <a:rPr lang="en-US" dirty="0"/>
              <a:t>When child finishes, the shell types $ prompt again and wait for next command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Operations on Process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system managing processes may perform following operations</a:t>
            </a:r>
          </a:p>
          <a:p>
            <a:pPr lvl="1"/>
            <a:r>
              <a:rPr lang="en-US" dirty="0"/>
              <a:t>Create a process</a:t>
            </a:r>
          </a:p>
          <a:p>
            <a:pPr lvl="1"/>
            <a:r>
              <a:rPr lang="en-US" dirty="0"/>
              <a:t>Destroy a process</a:t>
            </a:r>
          </a:p>
          <a:p>
            <a:pPr lvl="1"/>
            <a:r>
              <a:rPr lang="en-US" dirty="0"/>
              <a:t>Suspend a process</a:t>
            </a:r>
          </a:p>
          <a:p>
            <a:pPr lvl="1"/>
            <a:r>
              <a:rPr lang="en-US" dirty="0"/>
              <a:t>Resume a process</a:t>
            </a:r>
          </a:p>
          <a:p>
            <a:pPr lvl="1"/>
            <a:r>
              <a:rPr lang="en-US" dirty="0"/>
              <a:t>Block a process</a:t>
            </a:r>
          </a:p>
          <a:p>
            <a:pPr lvl="1"/>
            <a:r>
              <a:rPr lang="en-US" dirty="0"/>
              <a:t>Wakeup a process</a:t>
            </a:r>
          </a:p>
          <a:p>
            <a:pPr lvl="1"/>
            <a:r>
              <a:rPr lang="en-US" dirty="0"/>
              <a:t>Dispatch a process</a:t>
            </a:r>
          </a:p>
          <a:p>
            <a:pPr lvl="1"/>
            <a:r>
              <a:rPr lang="en-US" dirty="0"/>
              <a:t>Change process’s priority</a:t>
            </a:r>
          </a:p>
          <a:p>
            <a:pPr lvl="1"/>
            <a:r>
              <a:rPr lang="en-US" dirty="0"/>
              <a:t>Enable a process to communicate with other processes</a:t>
            </a:r>
          </a:p>
          <a:p>
            <a:r>
              <a:rPr lang="en-US" dirty="0"/>
              <a:t>For long term suspension, process’s resources should be free</a:t>
            </a:r>
          </a:p>
          <a:p>
            <a:r>
              <a:rPr lang="en-US" dirty="0"/>
              <a:t>Changing the priority of process normally involved modifying the priority value in PCB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Process Creation &amp; Termination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A process may create other processes</a:t>
            </a:r>
          </a:p>
          <a:p>
            <a:r>
              <a:rPr lang="en-US" dirty="0"/>
              <a:t>When a process creates a new process</a:t>
            </a:r>
          </a:p>
          <a:p>
            <a:pPr lvl="1"/>
            <a:r>
              <a:rPr lang="en-US" dirty="0"/>
              <a:t>The creator process is called the parent process</a:t>
            </a:r>
          </a:p>
          <a:p>
            <a:pPr lvl="1"/>
            <a:r>
              <a:rPr lang="en-US" dirty="0"/>
              <a:t>Created process is called the child process</a:t>
            </a:r>
          </a:p>
          <a:p>
            <a:r>
              <a:rPr lang="en-US" dirty="0"/>
              <a:t>Act of creating a process is called spawning a process</a:t>
            </a:r>
          </a:p>
          <a:p>
            <a:r>
              <a:rPr lang="en-US" dirty="0"/>
              <a:t>A child process may share the resources of its parent process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Process Creation &amp; Termination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A parent may wait for its child process to terminate before resuming or may run concurrently with the child process</a:t>
            </a:r>
          </a:p>
          <a:p>
            <a:r>
              <a:rPr lang="en-US" dirty="0"/>
              <a:t>A child process may run the same program as that of its parent or may run a separate program</a:t>
            </a:r>
          </a:p>
          <a:p>
            <a:r>
              <a:rPr lang="en-US" dirty="0"/>
              <a:t>In DOS, parent and child process do not run in parallel and parent process will suspend itself till child has finished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Process Creation &amp; Termination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r>
              <a:rPr lang="en-US" dirty="0"/>
              <a:t>When a process is created the following operations are performed</a:t>
            </a:r>
          </a:p>
          <a:p>
            <a:pPr lvl="1"/>
            <a:r>
              <a:rPr lang="en-US" dirty="0"/>
              <a:t>Process naming (process id)</a:t>
            </a:r>
          </a:p>
          <a:p>
            <a:pPr lvl="1"/>
            <a:r>
              <a:rPr lang="en-US" dirty="0"/>
              <a:t>Creates the process control block</a:t>
            </a:r>
          </a:p>
          <a:p>
            <a:pPr lvl="1"/>
            <a:r>
              <a:rPr lang="en-US" dirty="0"/>
              <a:t>Insert it in process table</a:t>
            </a:r>
          </a:p>
          <a:p>
            <a:pPr lvl="1"/>
            <a:r>
              <a:rPr lang="en-US" dirty="0"/>
              <a:t>Determine the process initial priority</a:t>
            </a:r>
          </a:p>
          <a:p>
            <a:pPr lvl="1"/>
            <a:r>
              <a:rPr lang="en-US" dirty="0"/>
              <a:t>Allocate the process’s initial resources</a:t>
            </a:r>
          </a:p>
          <a:p>
            <a:pPr lvl="1"/>
            <a:r>
              <a:rPr lang="en-US" dirty="0"/>
              <a:t>Allocate the address space to be used by the process</a:t>
            </a:r>
          </a:p>
          <a:p>
            <a:r>
              <a:rPr lang="en-US" dirty="0"/>
              <a:t>When a process is destroyed following operations are performed</a:t>
            </a:r>
          </a:p>
          <a:p>
            <a:pPr lvl="1"/>
            <a:r>
              <a:rPr lang="en-US" dirty="0"/>
              <a:t>Its resources are returned to the system</a:t>
            </a:r>
          </a:p>
          <a:p>
            <a:pPr lvl="1"/>
            <a:r>
              <a:rPr lang="en-US" dirty="0"/>
              <a:t>Its process control block is erased</a:t>
            </a:r>
          </a:p>
          <a:p>
            <a:pPr lvl="1"/>
            <a:r>
              <a:rPr lang="en-US" dirty="0"/>
              <a:t>It is </a:t>
            </a:r>
            <a:r>
              <a:rPr lang="en-US" dirty="0" smtClean="0"/>
              <a:t>purged </a:t>
            </a:r>
            <a:r>
              <a:rPr lang="en-US" dirty="0"/>
              <a:t>from any system list or 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Reasons for Process Creation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71500" indent="-5715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dirty="0"/>
              <a:t>New batch job</a:t>
            </a:r>
          </a:p>
          <a:p>
            <a:pPr marL="839788" lvl="1" indent="-495300">
              <a:lnSpc>
                <a:spcPct val="80000"/>
              </a:lnSpc>
            </a:pPr>
            <a:r>
              <a:rPr lang="en-US" dirty="0"/>
              <a:t>In a batch environment, a process is created in response to the submission of a job</a:t>
            </a:r>
          </a:p>
          <a:p>
            <a:pPr marL="571500" indent="-5715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dirty="0"/>
              <a:t>Interactive log on</a:t>
            </a:r>
          </a:p>
          <a:p>
            <a:pPr marL="839788" lvl="1" indent="-495300">
              <a:lnSpc>
                <a:spcPct val="80000"/>
              </a:lnSpc>
            </a:pPr>
            <a:r>
              <a:rPr lang="en-US" dirty="0"/>
              <a:t>A user at a terminal logs on to the system</a:t>
            </a:r>
          </a:p>
          <a:p>
            <a:pPr marL="571500" indent="-5715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dirty="0"/>
              <a:t>Created by OS to provide a service</a:t>
            </a:r>
          </a:p>
          <a:p>
            <a:pPr marL="839788" lvl="1" indent="-495300">
              <a:lnSpc>
                <a:spcPct val="80000"/>
              </a:lnSpc>
            </a:pPr>
            <a:r>
              <a:rPr lang="en-US" dirty="0"/>
              <a:t>OS can create a process to perform a function on behalf of a user program, without user having to wait, e.g. printing</a:t>
            </a:r>
          </a:p>
          <a:p>
            <a:pPr marL="571500" indent="-5715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dirty="0" smtClean="0"/>
              <a:t>Created </a:t>
            </a:r>
            <a:r>
              <a:rPr lang="en-US" dirty="0"/>
              <a:t>by existing process</a:t>
            </a:r>
          </a:p>
          <a:p>
            <a:pPr marL="839788" lvl="1" indent="-495300">
              <a:lnSpc>
                <a:spcPct val="80000"/>
              </a:lnSpc>
            </a:pPr>
            <a:r>
              <a:rPr lang="en-US" dirty="0"/>
              <a:t>A user program can create a number of processes</a:t>
            </a:r>
          </a:p>
          <a:p>
            <a:pPr marL="839788" lvl="1" indent="-495300">
              <a:lnSpc>
                <a:spcPct val="80000"/>
              </a:lnSpc>
            </a:pPr>
            <a:r>
              <a:rPr lang="en-US" dirty="0"/>
              <a:t>Typically related processes need to communicate and cooperate each other</a:t>
            </a:r>
          </a:p>
          <a:p>
            <a:pPr marL="1114108" lvl="2" indent="-495300">
              <a:lnSpc>
                <a:spcPct val="80000"/>
              </a:lnSpc>
            </a:pPr>
            <a:r>
              <a:rPr lang="en-US" dirty="0"/>
              <a:t>Achieving this cooperation is a difficult task for the programmer of 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Reasons for Process Termination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There must be some means for a process to indicate its completion</a:t>
            </a:r>
          </a:p>
          <a:p>
            <a:pPr lvl="1"/>
            <a:r>
              <a:rPr lang="en-US" dirty="0"/>
              <a:t>A batch job should include a halt instruction, which generates an interrupts to alert the OS that a process has completed</a:t>
            </a:r>
          </a:p>
          <a:p>
            <a:pPr lvl="1"/>
            <a:r>
              <a:rPr lang="en-US" dirty="0"/>
              <a:t>For an interactive application, the action of the user will indicate whether the process is completed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Reasons for Process Termination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00050" indent="-400050">
              <a:buNone/>
            </a:pPr>
            <a:r>
              <a:rPr lang="en-US" sz="2400" dirty="0"/>
              <a:t>Following are the possible reasons for process termination;</a:t>
            </a:r>
          </a:p>
          <a:p>
            <a:pPr marL="400050" indent="-400050">
              <a:buFont typeface="Wingdings" pitchFamily="2" charset="2"/>
              <a:buAutoNum type="arabicPeriod"/>
            </a:pPr>
            <a:r>
              <a:rPr lang="en-US" dirty="0"/>
              <a:t>Normal termination</a:t>
            </a:r>
          </a:p>
          <a:p>
            <a:pPr marL="725488" lvl="1" indent="-381000"/>
            <a:r>
              <a:rPr lang="en-US" dirty="0"/>
              <a:t>The process executes an OS service call to indicate that it has completed running</a:t>
            </a:r>
          </a:p>
          <a:p>
            <a:pPr marL="400050" indent="-400050">
              <a:buFont typeface="Wingdings" pitchFamily="2" charset="2"/>
              <a:buAutoNum type="arabicPeriod"/>
            </a:pPr>
            <a:r>
              <a:rPr lang="en-US" dirty="0"/>
              <a:t>Time limit exceeds</a:t>
            </a:r>
          </a:p>
          <a:p>
            <a:pPr marL="725488" lvl="1" indent="-381000"/>
            <a:r>
              <a:rPr lang="en-US" dirty="0"/>
              <a:t>The process has run longer than the specified total time limit which includes</a:t>
            </a:r>
          </a:p>
          <a:p>
            <a:pPr marL="1036638" lvl="2" indent="-342900"/>
            <a:r>
              <a:rPr lang="en-US" dirty="0"/>
              <a:t>total time elapsed</a:t>
            </a:r>
          </a:p>
          <a:p>
            <a:pPr marL="1036638" lvl="2" indent="-342900"/>
            <a:r>
              <a:rPr lang="en-US" dirty="0"/>
              <a:t>amount of time spent executing</a:t>
            </a:r>
          </a:p>
          <a:p>
            <a:pPr marL="1036638" lvl="2" indent="-342900"/>
            <a:r>
              <a:rPr lang="en-US" dirty="0"/>
              <a:t>in case of interactive process, he amount of time since the user last provided any input</a:t>
            </a:r>
          </a:p>
          <a:p>
            <a:pPr marL="400050" indent="-400050">
              <a:buFont typeface="Wingdings" pitchFamily="2" charset="2"/>
              <a:buAutoNum type="arabicPeriod"/>
            </a:pPr>
            <a:r>
              <a:rPr lang="en-US" dirty="0"/>
              <a:t>Memory unavailable</a:t>
            </a:r>
          </a:p>
          <a:p>
            <a:pPr marL="725488" lvl="1" indent="-381000"/>
            <a:r>
              <a:rPr lang="en-US" dirty="0"/>
              <a:t>The process requires more memory than the system can provide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Reasons for Process Termination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itchFamily="2" charset="2"/>
              <a:buAutoNum type="arabicPeriod" startAt="4"/>
            </a:pPr>
            <a:r>
              <a:rPr lang="en-US" dirty="0"/>
              <a:t>Bounds violation</a:t>
            </a:r>
          </a:p>
          <a:p>
            <a:pPr marL="839788" lvl="1" indent="-495300"/>
            <a:r>
              <a:rPr lang="en-US" dirty="0"/>
              <a:t>The process tries to access the memory  locations that is not allowed to access</a:t>
            </a:r>
          </a:p>
          <a:p>
            <a:pPr marL="571500" indent="-571500">
              <a:buFont typeface="Wingdings" pitchFamily="2" charset="2"/>
              <a:buAutoNum type="arabicPeriod" startAt="4"/>
            </a:pPr>
            <a:r>
              <a:rPr lang="en-US" dirty="0"/>
              <a:t>Protection error</a:t>
            </a:r>
          </a:p>
          <a:p>
            <a:pPr marL="839788" lvl="1" indent="-495300"/>
            <a:r>
              <a:rPr lang="en-US" dirty="0"/>
              <a:t>The process attempt to use a file that is not allowed to use or,</a:t>
            </a:r>
          </a:p>
          <a:p>
            <a:pPr marL="839788" lvl="1" indent="-495300"/>
            <a:r>
              <a:rPr lang="en-US" dirty="0"/>
              <a:t>It tries to use it in improper fashion, such as writing to a read only file</a:t>
            </a:r>
          </a:p>
          <a:p>
            <a:pPr marL="571500" indent="-571500">
              <a:buFont typeface="Wingdings" pitchFamily="2" charset="2"/>
              <a:buAutoNum type="arabicPeriod" startAt="4"/>
            </a:pPr>
            <a:r>
              <a:rPr lang="en-US" dirty="0"/>
              <a:t>Arithmetic error </a:t>
            </a:r>
          </a:p>
          <a:p>
            <a:pPr marL="839788" lvl="1" indent="-495300"/>
            <a:r>
              <a:rPr lang="en-US" dirty="0"/>
              <a:t>The process tries a prohibited computation such as division by zero</a:t>
            </a:r>
          </a:p>
          <a:p>
            <a:pPr marL="571500" indent="-571500">
              <a:buFont typeface="Wingdings" pitchFamily="2" charset="2"/>
              <a:buAutoNum type="arabicPeriod" startAt="4"/>
            </a:pPr>
            <a:r>
              <a:rPr lang="en-US" dirty="0"/>
              <a:t>Time overrun</a:t>
            </a:r>
          </a:p>
          <a:p>
            <a:pPr marL="839788" lvl="1" indent="-495300"/>
            <a:r>
              <a:rPr lang="en-US" dirty="0"/>
              <a:t>The process has waited longer than specified maximum for a certain events to occur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Reasons for Process Termination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00050" indent="-400050">
              <a:buFont typeface="Wingdings" pitchFamily="2" charset="2"/>
              <a:buAutoNum type="arabicPeriod" startAt="8"/>
            </a:pPr>
            <a:r>
              <a:rPr lang="en-US" dirty="0"/>
              <a:t>I/O failure</a:t>
            </a:r>
          </a:p>
          <a:p>
            <a:pPr marL="725488" lvl="1" indent="-381000"/>
            <a:r>
              <a:rPr lang="en-US" dirty="0"/>
              <a:t>An error occur in input or output, such as </a:t>
            </a:r>
          </a:p>
          <a:p>
            <a:pPr marL="1036638" lvl="2" indent="-342900"/>
            <a:r>
              <a:rPr lang="en-US" dirty="0"/>
              <a:t>inability to find a file</a:t>
            </a:r>
          </a:p>
          <a:p>
            <a:pPr marL="1036638" lvl="2" indent="-342900"/>
            <a:r>
              <a:rPr lang="en-US" dirty="0"/>
              <a:t>failure to read a write after a specified maximum no of tries (when, e.g. a defective area is encountered on a diskette) or</a:t>
            </a:r>
          </a:p>
          <a:p>
            <a:pPr marL="1036638" lvl="2" indent="-342900"/>
            <a:r>
              <a:rPr lang="en-US" dirty="0"/>
              <a:t>invalid operation (such as reading from the line printer)</a:t>
            </a:r>
          </a:p>
          <a:p>
            <a:pPr marL="400050" indent="-400050">
              <a:buFont typeface="Wingdings" pitchFamily="2" charset="2"/>
              <a:buAutoNum type="arabicPeriod" startAt="8"/>
            </a:pPr>
            <a:r>
              <a:rPr lang="en-US" dirty="0"/>
              <a:t>Invalid instruction</a:t>
            </a:r>
          </a:p>
          <a:p>
            <a:pPr marL="725488" lvl="1" indent="-381000"/>
            <a:r>
              <a:rPr lang="en-US" dirty="0"/>
              <a:t>The process attempts to execute a non-existent instruction (often a result of branching into a data area and attempting to execute data)</a:t>
            </a:r>
          </a:p>
          <a:p>
            <a:pPr marL="400050" indent="-400050">
              <a:buFont typeface="Wingdings" pitchFamily="2" charset="2"/>
              <a:buAutoNum type="arabicPeriod" startAt="8"/>
            </a:pPr>
            <a:r>
              <a:rPr lang="en-US" dirty="0"/>
              <a:t>Privileged instruction</a:t>
            </a:r>
          </a:p>
          <a:p>
            <a:pPr marL="725488" lvl="1" indent="-381000"/>
            <a:r>
              <a:rPr lang="en-US" dirty="0"/>
              <a:t>The process attempts to use an instruction reserved for the operating system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Reasons for Process Termination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95300" indent="-495300">
              <a:buFont typeface="Wingdings" pitchFamily="2" charset="2"/>
              <a:buAutoNum type="arabicPeriod" startAt="11"/>
            </a:pPr>
            <a:r>
              <a:rPr lang="en-US" dirty="0"/>
              <a:t>Data misuse</a:t>
            </a:r>
          </a:p>
          <a:p>
            <a:pPr marL="763588" lvl="1" indent="-419100"/>
            <a:r>
              <a:rPr lang="en-US" dirty="0"/>
              <a:t>A piece of data is of the wrong type or is not initialized</a:t>
            </a:r>
          </a:p>
          <a:p>
            <a:pPr marL="495300" indent="-495300">
              <a:buFont typeface="Wingdings" pitchFamily="2" charset="2"/>
              <a:buAutoNum type="arabicPeriod" startAt="11"/>
            </a:pPr>
            <a:r>
              <a:rPr lang="en-US" dirty="0"/>
              <a:t>OS or operator intervention</a:t>
            </a:r>
          </a:p>
          <a:p>
            <a:pPr marL="763588" lvl="1" indent="-419100"/>
            <a:r>
              <a:rPr lang="en-US" dirty="0"/>
              <a:t>For some reason, the operator or the OS has terminated the process (e.g. if a deadlock exists)</a:t>
            </a:r>
          </a:p>
          <a:p>
            <a:pPr marL="495300" indent="-495300">
              <a:buFont typeface="Wingdings" pitchFamily="2" charset="2"/>
              <a:buAutoNum type="arabicPeriod" startAt="11"/>
            </a:pPr>
            <a:r>
              <a:rPr lang="en-US" dirty="0"/>
              <a:t>Parent termination</a:t>
            </a:r>
          </a:p>
          <a:p>
            <a:pPr marL="763588" lvl="1" indent="-419100"/>
            <a:r>
              <a:rPr lang="en-US" dirty="0"/>
              <a:t>When a parent terminates, the OS should be design to automatically terminate all the offspring of that parent</a:t>
            </a:r>
          </a:p>
          <a:p>
            <a:pPr marL="495300" indent="-495300">
              <a:buFont typeface="Wingdings" pitchFamily="2" charset="2"/>
              <a:buAutoNum type="arabicPeriod" startAt="11"/>
            </a:pPr>
            <a:r>
              <a:rPr lang="en-US" dirty="0"/>
              <a:t>Parent request</a:t>
            </a:r>
          </a:p>
          <a:p>
            <a:pPr marL="763588" lvl="1" indent="-419100"/>
            <a:r>
              <a:rPr lang="en-US" dirty="0"/>
              <a:t>A parent process typically has the authority to terminate any of its offspring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Process States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process may have the following three states</a:t>
            </a:r>
          </a:p>
          <a:p>
            <a:pPr lvl="1"/>
            <a:r>
              <a:rPr lang="en-US" dirty="0"/>
              <a:t>Running</a:t>
            </a:r>
          </a:p>
          <a:p>
            <a:pPr lvl="2"/>
            <a:r>
              <a:rPr lang="en-US" dirty="0"/>
              <a:t>Instructions are being executed</a:t>
            </a:r>
          </a:p>
          <a:p>
            <a:pPr lvl="1"/>
            <a:r>
              <a:rPr lang="en-US" dirty="0"/>
              <a:t>Waiting/Blocked</a:t>
            </a:r>
          </a:p>
          <a:p>
            <a:pPr lvl="2"/>
            <a:r>
              <a:rPr lang="en-US" dirty="0"/>
              <a:t>The process is waiting for some event to occur (may be I/O completion)</a:t>
            </a:r>
          </a:p>
          <a:p>
            <a:pPr lvl="1"/>
            <a:r>
              <a:rPr lang="en-US" dirty="0"/>
              <a:t>Ready</a:t>
            </a:r>
          </a:p>
          <a:p>
            <a:pPr lvl="2"/>
            <a:r>
              <a:rPr lang="en-US" dirty="0"/>
              <a:t>The process is waiting to be assigned to processor</a:t>
            </a:r>
          </a:p>
          <a:p>
            <a:r>
              <a:rPr lang="en-US" dirty="0"/>
              <a:t>At any instant a process is in one and only one of three states</a:t>
            </a:r>
          </a:p>
          <a:p>
            <a:r>
              <a:rPr lang="en-US" dirty="0"/>
              <a:t>Process entering the system must go initially into the ready state</a:t>
            </a:r>
          </a:p>
          <a:p>
            <a:r>
              <a:rPr lang="en-US" dirty="0"/>
              <a:t>Process can only enter the running state via the ready state</a:t>
            </a:r>
          </a:p>
          <a:p>
            <a:r>
              <a:rPr lang="en-US" dirty="0"/>
              <a:t>Many OS are constructed using only these three states</a:t>
            </a:r>
          </a:p>
          <a:p>
            <a:r>
              <a:rPr lang="en-US" dirty="0"/>
              <a:t>However, there is good justification for adding additional states to the model</a:t>
            </a:r>
          </a:p>
        </p:txBody>
      </p:sp>
    </p:spTree>
    <p:extLst>
      <p:ext uri="{BB962C8B-B14F-4D97-AF65-F5344CB8AC3E}">
        <p14:creationId xmlns:p14="http://schemas.microsoft.com/office/powerpoint/2010/main" val="687942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Process States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FB76AA3-974D-436B-9507-ADFC09275651}"/>
              </a:ext>
            </a:extLst>
          </p:cNvPr>
          <p:cNvGrpSpPr/>
          <p:nvPr/>
        </p:nvGrpSpPr>
        <p:grpSpPr>
          <a:xfrm>
            <a:off x="2086969" y="1628250"/>
            <a:ext cx="7522192" cy="4254500"/>
            <a:chOff x="2086969" y="1628250"/>
            <a:chExt cx="7522192" cy="4254500"/>
          </a:xfrm>
        </p:grpSpPr>
        <p:sp>
          <p:nvSpPr>
            <p:cNvPr id="9223" name="Oval 4"/>
            <p:cNvSpPr>
              <a:spLocks noChangeArrowheads="1"/>
            </p:cNvSpPr>
            <p:nvPr/>
          </p:nvSpPr>
          <p:spPr bwMode="auto">
            <a:xfrm>
              <a:off x="4732361" y="2339450"/>
              <a:ext cx="1447800" cy="762000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sz="2400" dirty="0">
                  <a:latin typeface="Calibri" pitchFamily="34" charset="0"/>
                </a:rPr>
                <a:t>Ready</a:t>
              </a:r>
            </a:p>
          </p:txBody>
        </p:sp>
        <p:grpSp>
          <p:nvGrpSpPr>
            <p:cNvPr id="3" name="Group 19"/>
            <p:cNvGrpSpPr>
              <a:grpSpLocks/>
            </p:cNvGrpSpPr>
            <p:nvPr/>
          </p:nvGrpSpPr>
          <p:grpSpPr bwMode="auto">
            <a:xfrm>
              <a:off x="3284561" y="1729850"/>
              <a:ext cx="6324600" cy="3810000"/>
              <a:chOff x="0" y="1344"/>
              <a:chExt cx="3984" cy="2400"/>
            </a:xfrm>
          </p:grpSpPr>
          <p:sp>
            <p:nvSpPr>
              <p:cNvPr id="9225" name="Oval 3"/>
              <p:cNvSpPr>
                <a:spLocks noChangeArrowheads="1"/>
              </p:cNvSpPr>
              <p:nvPr/>
            </p:nvSpPr>
            <p:spPr bwMode="auto">
              <a:xfrm>
                <a:off x="2016" y="2832"/>
                <a:ext cx="912" cy="48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r>
                  <a:rPr lang="en-US" sz="2400">
                    <a:latin typeface="Calibri" pitchFamily="34" charset="0"/>
                  </a:rPr>
                  <a:t>Running</a:t>
                </a:r>
              </a:p>
            </p:txBody>
          </p:sp>
          <p:sp>
            <p:nvSpPr>
              <p:cNvPr id="9226" name="Oval 5"/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912" cy="48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r>
                  <a:rPr lang="en-US" sz="2400">
                    <a:latin typeface="Calibri" pitchFamily="34" charset="0"/>
                  </a:rPr>
                  <a:t>Blocked</a:t>
                </a:r>
              </a:p>
            </p:txBody>
          </p:sp>
          <p:sp>
            <p:nvSpPr>
              <p:cNvPr id="9227" name="Freeform 6"/>
              <p:cNvSpPr>
                <a:spLocks/>
              </p:cNvSpPr>
              <p:nvPr/>
            </p:nvSpPr>
            <p:spPr bwMode="auto">
              <a:xfrm>
                <a:off x="192" y="1440"/>
                <a:ext cx="864" cy="336"/>
              </a:xfrm>
              <a:custGeom>
                <a:avLst/>
                <a:gdLst>
                  <a:gd name="T0" fmla="*/ 0 w 768"/>
                  <a:gd name="T1" fmla="*/ 48 h 336"/>
                  <a:gd name="T2" fmla="*/ 336 w 768"/>
                  <a:gd name="T3" fmla="*/ 48 h 336"/>
                  <a:gd name="T4" fmla="*/ 768 w 768"/>
                  <a:gd name="T5" fmla="*/ 336 h 336"/>
                  <a:gd name="T6" fmla="*/ 0 60000 65536"/>
                  <a:gd name="T7" fmla="*/ 0 60000 65536"/>
                  <a:gd name="T8" fmla="*/ 0 60000 65536"/>
                  <a:gd name="T9" fmla="*/ 0 w 768"/>
                  <a:gd name="T10" fmla="*/ 0 h 336"/>
                  <a:gd name="T11" fmla="*/ 768 w 768"/>
                  <a:gd name="T12" fmla="*/ 336 h 3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68" h="336">
                    <a:moveTo>
                      <a:pt x="0" y="48"/>
                    </a:moveTo>
                    <a:cubicBezTo>
                      <a:pt x="104" y="24"/>
                      <a:pt x="208" y="0"/>
                      <a:pt x="336" y="48"/>
                    </a:cubicBezTo>
                    <a:cubicBezTo>
                      <a:pt x="464" y="96"/>
                      <a:pt x="688" y="288"/>
                      <a:pt x="768" y="33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lg" len="med"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9228" name="Freeform 7"/>
              <p:cNvSpPr>
                <a:spLocks/>
              </p:cNvSpPr>
              <p:nvPr/>
            </p:nvSpPr>
            <p:spPr bwMode="auto">
              <a:xfrm>
                <a:off x="1584" y="1520"/>
                <a:ext cx="1680" cy="304"/>
              </a:xfrm>
              <a:custGeom>
                <a:avLst/>
                <a:gdLst>
                  <a:gd name="T0" fmla="*/ 1680 w 1680"/>
                  <a:gd name="T1" fmla="*/ 304 h 304"/>
                  <a:gd name="T2" fmla="*/ 816 w 1680"/>
                  <a:gd name="T3" fmla="*/ 16 h 304"/>
                  <a:gd name="T4" fmla="*/ 0 w 1680"/>
                  <a:gd name="T5" fmla="*/ 208 h 304"/>
                  <a:gd name="T6" fmla="*/ 0 60000 65536"/>
                  <a:gd name="T7" fmla="*/ 0 60000 65536"/>
                  <a:gd name="T8" fmla="*/ 0 60000 65536"/>
                  <a:gd name="T9" fmla="*/ 0 w 1680"/>
                  <a:gd name="T10" fmla="*/ 0 h 304"/>
                  <a:gd name="T11" fmla="*/ 1680 w 1680"/>
                  <a:gd name="T12" fmla="*/ 304 h 30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80" h="304">
                    <a:moveTo>
                      <a:pt x="1680" y="304"/>
                    </a:moveTo>
                    <a:cubicBezTo>
                      <a:pt x="1388" y="168"/>
                      <a:pt x="1096" y="32"/>
                      <a:pt x="816" y="16"/>
                    </a:cubicBezTo>
                    <a:cubicBezTo>
                      <a:pt x="536" y="0"/>
                      <a:pt x="268" y="104"/>
                      <a:pt x="0" y="208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lg" len="med"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9229" name="Freeform 8"/>
              <p:cNvSpPr>
                <a:spLocks/>
              </p:cNvSpPr>
              <p:nvPr/>
            </p:nvSpPr>
            <p:spPr bwMode="auto">
              <a:xfrm>
                <a:off x="1776" y="2112"/>
                <a:ext cx="576" cy="720"/>
              </a:xfrm>
              <a:custGeom>
                <a:avLst/>
                <a:gdLst>
                  <a:gd name="T0" fmla="*/ 0 w 576"/>
                  <a:gd name="T1" fmla="*/ 0 h 720"/>
                  <a:gd name="T2" fmla="*/ 384 w 576"/>
                  <a:gd name="T3" fmla="*/ 192 h 720"/>
                  <a:gd name="T4" fmla="*/ 576 w 576"/>
                  <a:gd name="T5" fmla="*/ 720 h 720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720"/>
                  <a:gd name="T11" fmla="*/ 576 w 576"/>
                  <a:gd name="T12" fmla="*/ 720 h 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720">
                    <a:moveTo>
                      <a:pt x="0" y="0"/>
                    </a:moveTo>
                    <a:cubicBezTo>
                      <a:pt x="144" y="36"/>
                      <a:pt x="288" y="72"/>
                      <a:pt x="384" y="192"/>
                    </a:cubicBezTo>
                    <a:cubicBezTo>
                      <a:pt x="480" y="312"/>
                      <a:pt x="528" y="516"/>
                      <a:pt x="576" y="72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lg" len="med"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9230" name="Freeform 9"/>
              <p:cNvSpPr>
                <a:spLocks/>
              </p:cNvSpPr>
              <p:nvPr/>
            </p:nvSpPr>
            <p:spPr bwMode="auto">
              <a:xfrm>
                <a:off x="459" y="3216"/>
                <a:ext cx="1653" cy="528"/>
              </a:xfrm>
              <a:custGeom>
                <a:avLst/>
                <a:gdLst>
                  <a:gd name="T0" fmla="*/ 1248 w 1248"/>
                  <a:gd name="T1" fmla="*/ 0 h 528"/>
                  <a:gd name="T2" fmla="*/ 720 w 1248"/>
                  <a:gd name="T3" fmla="*/ 432 h 528"/>
                  <a:gd name="T4" fmla="*/ 0 w 1248"/>
                  <a:gd name="T5" fmla="*/ 528 h 528"/>
                  <a:gd name="T6" fmla="*/ 0 60000 65536"/>
                  <a:gd name="T7" fmla="*/ 0 60000 65536"/>
                  <a:gd name="T8" fmla="*/ 0 60000 65536"/>
                  <a:gd name="T9" fmla="*/ 0 w 1248"/>
                  <a:gd name="T10" fmla="*/ 0 h 528"/>
                  <a:gd name="T11" fmla="*/ 1248 w 1248"/>
                  <a:gd name="T12" fmla="*/ 528 h 5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48" h="528">
                    <a:moveTo>
                      <a:pt x="1248" y="0"/>
                    </a:moveTo>
                    <a:cubicBezTo>
                      <a:pt x="1088" y="172"/>
                      <a:pt x="928" y="344"/>
                      <a:pt x="720" y="432"/>
                    </a:cubicBezTo>
                    <a:cubicBezTo>
                      <a:pt x="512" y="520"/>
                      <a:pt x="256" y="524"/>
                      <a:pt x="0" y="528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lg" len="med"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9231" name="Freeform 10"/>
              <p:cNvSpPr>
                <a:spLocks/>
              </p:cNvSpPr>
              <p:nvPr/>
            </p:nvSpPr>
            <p:spPr bwMode="auto">
              <a:xfrm>
                <a:off x="2928" y="2256"/>
                <a:ext cx="720" cy="816"/>
              </a:xfrm>
              <a:custGeom>
                <a:avLst/>
                <a:gdLst>
                  <a:gd name="T0" fmla="*/ 0 w 720"/>
                  <a:gd name="T1" fmla="*/ 816 h 816"/>
                  <a:gd name="T2" fmla="*/ 528 w 720"/>
                  <a:gd name="T3" fmla="*/ 480 h 816"/>
                  <a:gd name="T4" fmla="*/ 720 w 720"/>
                  <a:gd name="T5" fmla="*/ 0 h 816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816"/>
                  <a:gd name="T11" fmla="*/ 720 w 720"/>
                  <a:gd name="T12" fmla="*/ 816 h 8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816">
                    <a:moveTo>
                      <a:pt x="0" y="816"/>
                    </a:moveTo>
                    <a:cubicBezTo>
                      <a:pt x="204" y="716"/>
                      <a:pt x="408" y="616"/>
                      <a:pt x="528" y="480"/>
                    </a:cubicBezTo>
                    <a:cubicBezTo>
                      <a:pt x="648" y="344"/>
                      <a:pt x="684" y="172"/>
                      <a:pt x="72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lg" len="med"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9232" name="Freeform 11"/>
              <p:cNvSpPr>
                <a:spLocks/>
              </p:cNvSpPr>
              <p:nvPr/>
            </p:nvSpPr>
            <p:spPr bwMode="auto">
              <a:xfrm>
                <a:off x="1336" y="2208"/>
                <a:ext cx="728" cy="816"/>
              </a:xfrm>
              <a:custGeom>
                <a:avLst/>
                <a:gdLst>
                  <a:gd name="T0" fmla="*/ 728 w 728"/>
                  <a:gd name="T1" fmla="*/ 816 h 816"/>
                  <a:gd name="T2" fmla="*/ 104 w 728"/>
                  <a:gd name="T3" fmla="*/ 528 h 816"/>
                  <a:gd name="T4" fmla="*/ 104 w 728"/>
                  <a:gd name="T5" fmla="*/ 0 h 816"/>
                  <a:gd name="T6" fmla="*/ 0 60000 65536"/>
                  <a:gd name="T7" fmla="*/ 0 60000 65536"/>
                  <a:gd name="T8" fmla="*/ 0 60000 65536"/>
                  <a:gd name="T9" fmla="*/ 0 w 728"/>
                  <a:gd name="T10" fmla="*/ 0 h 816"/>
                  <a:gd name="T11" fmla="*/ 728 w 728"/>
                  <a:gd name="T12" fmla="*/ 816 h 8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8" h="816">
                    <a:moveTo>
                      <a:pt x="728" y="816"/>
                    </a:moveTo>
                    <a:cubicBezTo>
                      <a:pt x="468" y="740"/>
                      <a:pt x="208" y="664"/>
                      <a:pt x="104" y="528"/>
                    </a:cubicBezTo>
                    <a:cubicBezTo>
                      <a:pt x="0" y="392"/>
                      <a:pt x="52" y="196"/>
                      <a:pt x="104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lg" len="med"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9233" name="Text Box 13"/>
              <p:cNvSpPr txBox="1">
                <a:spLocks noChangeArrowheads="1"/>
              </p:cNvSpPr>
              <p:nvPr/>
            </p:nvSpPr>
            <p:spPr bwMode="auto">
              <a:xfrm rot="20601463">
                <a:off x="547" y="3399"/>
                <a:ext cx="153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>
                    <a:latin typeface="Calibri" pitchFamily="34" charset="0"/>
                  </a:rPr>
                  <a:t>Process terminates</a:t>
                </a:r>
              </a:p>
            </p:txBody>
          </p:sp>
          <p:sp>
            <p:nvSpPr>
              <p:cNvPr id="9234" name="Text Box 14"/>
              <p:cNvSpPr txBox="1">
                <a:spLocks noChangeArrowheads="1"/>
              </p:cNvSpPr>
              <p:nvPr/>
            </p:nvSpPr>
            <p:spPr bwMode="auto">
              <a:xfrm rot="1913448">
                <a:off x="0" y="1344"/>
                <a:ext cx="153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>
                    <a:latin typeface="Calibri" pitchFamily="34" charset="0"/>
                  </a:rPr>
                  <a:t>Process arrival</a:t>
                </a:r>
              </a:p>
            </p:txBody>
          </p:sp>
          <p:sp>
            <p:nvSpPr>
              <p:cNvPr id="9235" name="Text Box 15"/>
              <p:cNvSpPr txBox="1">
                <a:spLocks noChangeArrowheads="1"/>
              </p:cNvSpPr>
              <p:nvPr/>
            </p:nvSpPr>
            <p:spPr bwMode="auto">
              <a:xfrm>
                <a:off x="1680" y="1344"/>
                <a:ext cx="153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>
                    <a:latin typeface="Calibri" pitchFamily="34" charset="0"/>
                  </a:rPr>
                  <a:t>I/O Completion </a:t>
                </a:r>
              </a:p>
            </p:txBody>
          </p:sp>
          <p:sp>
            <p:nvSpPr>
              <p:cNvPr id="9236" name="Text Box 16"/>
              <p:cNvSpPr txBox="1">
                <a:spLocks noChangeArrowheads="1"/>
              </p:cNvSpPr>
              <p:nvPr/>
            </p:nvSpPr>
            <p:spPr bwMode="auto">
              <a:xfrm rot="3171085">
                <a:off x="1546" y="2246"/>
                <a:ext cx="153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>
                    <a:latin typeface="Calibri" pitchFamily="34" charset="0"/>
                  </a:rPr>
                  <a:t>Scheduling</a:t>
                </a:r>
              </a:p>
            </p:txBody>
          </p:sp>
          <p:sp>
            <p:nvSpPr>
              <p:cNvPr id="9237" name="Text Box 17"/>
              <p:cNvSpPr txBox="1">
                <a:spLocks noChangeArrowheads="1"/>
              </p:cNvSpPr>
              <p:nvPr/>
            </p:nvSpPr>
            <p:spPr bwMode="auto">
              <a:xfrm rot="3558889">
                <a:off x="455" y="2558"/>
                <a:ext cx="1536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>
                    <a:latin typeface="Calibri" pitchFamily="34" charset="0"/>
                  </a:rPr>
                  <a:t>Interrupt / </a:t>
                </a:r>
              </a:p>
              <a:p>
                <a:pPr algn="ctr"/>
                <a:r>
                  <a:rPr lang="en-US" sz="1600" dirty="0">
                    <a:latin typeface="Calibri" pitchFamily="34" charset="0"/>
                  </a:rPr>
                  <a:t>Time expired</a:t>
                </a:r>
              </a:p>
            </p:txBody>
          </p:sp>
          <p:sp>
            <p:nvSpPr>
              <p:cNvPr id="9238" name="Text Box 18"/>
              <p:cNvSpPr txBox="1">
                <a:spLocks noChangeArrowheads="1"/>
              </p:cNvSpPr>
              <p:nvPr/>
            </p:nvSpPr>
            <p:spPr bwMode="auto">
              <a:xfrm rot="18854166">
                <a:off x="2837" y="2668"/>
                <a:ext cx="1536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>
                    <a:latin typeface="Calibri" pitchFamily="34" charset="0"/>
                  </a:rPr>
                  <a:t>I/O request</a:t>
                </a:r>
              </a:p>
            </p:txBody>
          </p:sp>
        </p:grpSp>
        <p:sp>
          <p:nvSpPr>
            <p:cNvPr id="23" name="Oval 4">
              <a:extLst>
                <a:ext uri="{FF2B5EF4-FFF2-40B4-BE49-F238E27FC236}">
                  <a16:creationId xmlns:a16="http://schemas.microsoft.com/office/drawing/2014/main" id="{F938BC81-F945-4D1F-B0BD-D155742D3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6969" y="1628250"/>
              <a:ext cx="1447800" cy="762000"/>
            </a:xfrm>
            <a:prstGeom prst="ellipse">
              <a:avLst/>
            </a:prstGeom>
            <a:ln>
              <a:prstDash val="dash"/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2000" dirty="0">
                  <a:latin typeface="Calibri" pitchFamily="34" charset="0"/>
                </a:rPr>
                <a:t>New</a:t>
              </a:r>
              <a:endParaRPr lang="en-US" sz="2400" dirty="0">
                <a:latin typeface="Calibri" pitchFamily="34" charset="0"/>
              </a:endParaRPr>
            </a:p>
          </p:txBody>
        </p:sp>
        <p:sp>
          <p:nvSpPr>
            <p:cNvPr id="25" name="Oval 4">
              <a:extLst>
                <a:ext uri="{FF2B5EF4-FFF2-40B4-BE49-F238E27FC236}">
                  <a16:creationId xmlns:a16="http://schemas.microsoft.com/office/drawing/2014/main" id="{4AF2B408-9B4B-4989-B237-1C5C226C3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722" y="5120750"/>
              <a:ext cx="1447800" cy="762000"/>
            </a:xfrm>
            <a:prstGeom prst="ellipse">
              <a:avLst/>
            </a:prstGeom>
            <a:ln>
              <a:prstDash val="dash"/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2000" dirty="0">
                  <a:latin typeface="Calibri" pitchFamily="34" charset="0"/>
                </a:rPr>
                <a:t>Terminated</a:t>
              </a:r>
              <a:endParaRPr lang="en-US" sz="2400" dirty="0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8371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Process State Transitions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Transition-1:</a:t>
            </a:r>
          </a:p>
          <a:p>
            <a:pPr lvl="1"/>
            <a:r>
              <a:rPr lang="en-US" dirty="0"/>
              <a:t>Occurs when a process cannot continue may be due to I/O request</a:t>
            </a:r>
          </a:p>
          <a:p>
            <a:r>
              <a:rPr lang="en-US" dirty="0"/>
              <a:t>Transition-2:</a:t>
            </a:r>
          </a:p>
          <a:p>
            <a:pPr lvl="1"/>
            <a:r>
              <a:rPr lang="en-US" dirty="0"/>
              <a:t>Request when scheduler decides that the running process has run long enough , and it’s the time to give CPU to other processes in ready state</a:t>
            </a:r>
          </a:p>
          <a:p>
            <a:r>
              <a:rPr lang="en-US" dirty="0"/>
              <a:t>Transition-3:</a:t>
            </a:r>
          </a:p>
          <a:p>
            <a:pPr lvl="1"/>
            <a:r>
              <a:rPr lang="en-US" dirty="0"/>
              <a:t>Occurs when all the other process have had their CPU time and its time for the first process to run again</a:t>
            </a:r>
          </a:p>
          <a:p>
            <a:r>
              <a:rPr lang="en-US" dirty="0"/>
              <a:t>Transition-4:</a:t>
            </a:r>
          </a:p>
          <a:p>
            <a:pPr lvl="1"/>
            <a:r>
              <a:rPr lang="en-US" dirty="0"/>
              <a:t>Occurs when external event for which process was waiting happens. If no other process is running at that time, transition-3 will be triggered and the process will start execution</a:t>
            </a:r>
          </a:p>
        </p:txBody>
      </p:sp>
    </p:spTree>
    <p:extLst>
      <p:ext uri="{BB962C8B-B14F-4D97-AF65-F5344CB8AC3E}">
        <p14:creationId xmlns:p14="http://schemas.microsoft.com/office/powerpoint/2010/main" val="603139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Process State Transitions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3429000" y="1526272"/>
            <a:ext cx="4419600" cy="2133600"/>
            <a:chOff x="1296" y="1536"/>
            <a:chExt cx="3072" cy="1584"/>
          </a:xfrm>
        </p:grpSpPr>
        <p:grpSp>
          <p:nvGrpSpPr>
            <p:cNvPr id="3" name="Group 25"/>
            <p:cNvGrpSpPr>
              <a:grpSpLocks/>
            </p:cNvGrpSpPr>
            <p:nvPr/>
          </p:nvGrpSpPr>
          <p:grpSpPr bwMode="auto">
            <a:xfrm>
              <a:off x="1296" y="1536"/>
              <a:ext cx="3072" cy="1584"/>
              <a:chOff x="1296" y="1536"/>
              <a:chExt cx="3072" cy="1584"/>
            </a:xfrm>
          </p:grpSpPr>
          <p:sp>
            <p:nvSpPr>
              <p:cNvPr id="11276" name="Oval 5"/>
              <p:cNvSpPr>
                <a:spLocks noChangeArrowheads="1"/>
              </p:cNvSpPr>
              <p:nvPr/>
            </p:nvSpPr>
            <p:spPr bwMode="auto">
              <a:xfrm>
                <a:off x="1296" y="1536"/>
                <a:ext cx="912" cy="48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r>
                  <a:rPr lang="en-US" sz="2400" dirty="0">
                    <a:latin typeface="Calibri" pitchFamily="34" charset="0"/>
                  </a:rPr>
                  <a:t>Ready</a:t>
                </a:r>
              </a:p>
            </p:txBody>
          </p:sp>
          <p:sp>
            <p:nvSpPr>
              <p:cNvPr id="11277" name="Oval 7"/>
              <p:cNvSpPr>
                <a:spLocks noChangeArrowheads="1"/>
              </p:cNvSpPr>
              <p:nvPr/>
            </p:nvSpPr>
            <p:spPr bwMode="auto">
              <a:xfrm>
                <a:off x="2400" y="2640"/>
                <a:ext cx="912" cy="48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r>
                  <a:rPr lang="en-US" sz="2400">
                    <a:latin typeface="Calibri" pitchFamily="34" charset="0"/>
                  </a:rPr>
                  <a:t>Running</a:t>
                </a:r>
              </a:p>
            </p:txBody>
          </p:sp>
          <p:sp>
            <p:nvSpPr>
              <p:cNvPr id="11278" name="Oval 8"/>
              <p:cNvSpPr>
                <a:spLocks noChangeArrowheads="1"/>
              </p:cNvSpPr>
              <p:nvPr/>
            </p:nvSpPr>
            <p:spPr bwMode="auto">
              <a:xfrm>
                <a:off x="3456" y="1584"/>
                <a:ext cx="912" cy="48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r>
                  <a:rPr lang="en-US" sz="2400" dirty="0">
                    <a:latin typeface="Calibri" pitchFamily="34" charset="0"/>
                  </a:rPr>
                  <a:t>Blocked</a:t>
                </a:r>
              </a:p>
            </p:txBody>
          </p:sp>
          <p:sp>
            <p:nvSpPr>
              <p:cNvPr id="11279" name="Line 21"/>
              <p:cNvSpPr>
                <a:spLocks noChangeShapeType="1"/>
              </p:cNvSpPr>
              <p:nvPr/>
            </p:nvSpPr>
            <p:spPr bwMode="auto">
              <a:xfrm flipH="1" flipV="1">
                <a:off x="1872" y="2016"/>
                <a:ext cx="576" cy="72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280" name="Line 22"/>
              <p:cNvSpPr>
                <a:spLocks noChangeShapeType="1"/>
              </p:cNvSpPr>
              <p:nvPr/>
            </p:nvSpPr>
            <p:spPr bwMode="auto">
              <a:xfrm>
                <a:off x="2112" y="1920"/>
                <a:ext cx="576" cy="72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281" name="Line 23"/>
              <p:cNvSpPr>
                <a:spLocks noChangeShapeType="1"/>
              </p:cNvSpPr>
              <p:nvPr/>
            </p:nvSpPr>
            <p:spPr bwMode="auto">
              <a:xfrm flipH="1">
                <a:off x="2208" y="1776"/>
                <a:ext cx="124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282" name="Line 24"/>
              <p:cNvSpPr>
                <a:spLocks noChangeShapeType="1"/>
              </p:cNvSpPr>
              <p:nvPr/>
            </p:nvSpPr>
            <p:spPr bwMode="auto">
              <a:xfrm flipV="1">
                <a:off x="3264" y="2064"/>
                <a:ext cx="480" cy="672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272" name="Text Box 26"/>
            <p:cNvSpPr txBox="1">
              <a:spLocks noChangeArrowheads="1"/>
            </p:cNvSpPr>
            <p:nvPr/>
          </p:nvSpPr>
          <p:spPr bwMode="auto">
            <a:xfrm>
              <a:off x="2017" y="2400"/>
              <a:ext cx="239" cy="27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2</a:t>
              </a:r>
            </a:p>
          </p:txBody>
        </p:sp>
        <p:sp>
          <p:nvSpPr>
            <p:cNvPr id="11273" name="Text Box 27"/>
            <p:cNvSpPr txBox="1">
              <a:spLocks noChangeArrowheads="1"/>
            </p:cNvSpPr>
            <p:nvPr/>
          </p:nvSpPr>
          <p:spPr bwMode="auto">
            <a:xfrm>
              <a:off x="3457" y="2352"/>
              <a:ext cx="480" cy="27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</a:t>
              </a:r>
            </a:p>
          </p:txBody>
        </p:sp>
        <p:sp>
          <p:nvSpPr>
            <p:cNvPr id="11274" name="Text Box 28"/>
            <p:cNvSpPr txBox="1">
              <a:spLocks noChangeArrowheads="1"/>
            </p:cNvSpPr>
            <p:nvPr/>
          </p:nvSpPr>
          <p:spPr bwMode="auto">
            <a:xfrm>
              <a:off x="2352" y="2064"/>
              <a:ext cx="192" cy="27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3</a:t>
              </a:r>
            </a:p>
          </p:txBody>
        </p:sp>
        <p:sp>
          <p:nvSpPr>
            <p:cNvPr id="11275" name="Text Box 29"/>
            <p:cNvSpPr txBox="1">
              <a:spLocks noChangeArrowheads="1"/>
            </p:cNvSpPr>
            <p:nvPr/>
          </p:nvSpPr>
          <p:spPr bwMode="auto">
            <a:xfrm>
              <a:off x="2689" y="1536"/>
              <a:ext cx="480" cy="27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4</a:t>
              </a:r>
            </a:p>
          </p:txBody>
        </p:sp>
      </p:grpSp>
      <p:sp>
        <p:nvSpPr>
          <p:cNvPr id="11270" name="Rectangle 31"/>
          <p:cNvSpPr>
            <a:spLocks noGrp="1" noChangeArrowheads="1"/>
          </p:cNvSpPr>
          <p:nvPr>
            <p:ph type="body" idx="1"/>
          </p:nvPr>
        </p:nvSpPr>
        <p:spPr>
          <a:xfrm>
            <a:off x="1981200" y="3886200"/>
            <a:ext cx="8229600" cy="2243138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600" dirty="0"/>
              <a:t>The four transitions can be indicated as follows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Block		running	</a:t>
            </a:r>
            <a:r>
              <a:rPr lang="en-US" dirty="0">
                <a:sym typeface="Wingdings" pitchFamily="2" charset="2"/>
              </a:rPr>
              <a:t>	block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 err="1"/>
              <a:t>Timerunout</a:t>
            </a:r>
            <a:r>
              <a:rPr lang="en-US" dirty="0"/>
              <a:t>	running 	</a:t>
            </a:r>
            <a:r>
              <a:rPr lang="en-US" dirty="0">
                <a:sym typeface="Wingdings" pitchFamily="2" charset="2"/>
              </a:rPr>
              <a:t>	ready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Dispatch		ready 		</a:t>
            </a:r>
            <a:r>
              <a:rPr lang="en-US" dirty="0">
                <a:sym typeface="Wingdings" pitchFamily="2" charset="2"/>
              </a:rPr>
              <a:t>	running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Wakeup		block		</a:t>
            </a:r>
            <a:r>
              <a:rPr lang="en-US" dirty="0">
                <a:sym typeface="Wingdings" pitchFamily="2" charset="2"/>
              </a:rPr>
              <a:t>	ready</a:t>
            </a:r>
          </a:p>
        </p:txBody>
      </p:sp>
    </p:spTree>
    <p:extLst>
      <p:ext uri="{BB962C8B-B14F-4D97-AF65-F5344CB8AC3E}">
        <p14:creationId xmlns:p14="http://schemas.microsoft.com/office/powerpoint/2010/main" val="2452755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6D14E00-AC36-46B6-804B-3B1E61B7A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dirty="0"/>
              <a:t>Process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D9E4484-1299-4947-B075-F0D9269BBD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r>
              <a:rPr lang="en-US" altLang="en-US" dirty="0"/>
              <a:t>Process scheduler selects among available processes for next execution on CPU core</a:t>
            </a:r>
          </a:p>
          <a:p>
            <a:r>
              <a:rPr lang="en-US" altLang="en-US" b="1" dirty="0"/>
              <a:t>Goal</a:t>
            </a:r>
            <a:r>
              <a:rPr lang="en-US" altLang="en-US" dirty="0"/>
              <a:t>: Maximize CPU use, quickly switch processes onto CPU core</a:t>
            </a:r>
          </a:p>
          <a:p>
            <a:r>
              <a:rPr lang="en-US" altLang="en-US" dirty="0"/>
              <a:t>Maintains scheduling queues of processes</a:t>
            </a:r>
          </a:p>
          <a:p>
            <a:pPr lvl="1"/>
            <a:r>
              <a:rPr lang="en-US" altLang="en-US" dirty="0"/>
              <a:t>Ready queue</a:t>
            </a:r>
          </a:p>
          <a:p>
            <a:pPr lvl="2"/>
            <a:r>
              <a:rPr lang="en-US" altLang="en-US" dirty="0"/>
              <a:t>set of all processes residing in main memory, ready and waiting to execute</a:t>
            </a:r>
          </a:p>
          <a:p>
            <a:pPr lvl="1"/>
            <a:r>
              <a:rPr lang="en-US" altLang="en-US" dirty="0"/>
              <a:t>Wait queues</a:t>
            </a:r>
          </a:p>
          <a:p>
            <a:pPr lvl="2"/>
            <a:r>
              <a:rPr lang="en-US" altLang="en-US" dirty="0"/>
              <a:t>set of processes waiting for an event (i.e., I/O)</a:t>
            </a:r>
          </a:p>
          <a:p>
            <a:pPr lvl="1"/>
            <a:r>
              <a:rPr lang="en-US" altLang="en-US" dirty="0"/>
              <a:t>Processes migrate among the various queues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9FFB59-5D7F-4075-B911-2B593B517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dirty="0"/>
              <a:t>Process Scheduling: Ready and Wait Queues</a:t>
            </a:r>
          </a:p>
        </p:txBody>
      </p:sp>
      <p:pic>
        <p:nvPicPr>
          <p:cNvPr id="29699" name="Picture 1">
            <a:extLst>
              <a:ext uri="{FF2B5EF4-FFF2-40B4-BE49-F238E27FC236}">
                <a16:creationId xmlns:a16="http://schemas.microsoft.com/office/drawing/2014/main" id="{BCBD9C55-CB2E-45AE-A528-0022312EC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614" y="1563751"/>
            <a:ext cx="7466771" cy="44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8DB7F06-1635-4E8A-B106-08B7519E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dirty="0"/>
              <a:t>Process Scheduling Representation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A0A8D57B-B011-4BA3-A330-AE3AFD4CB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485" y="1542223"/>
            <a:ext cx="8135029" cy="4694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Context Switch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>
          <a:xfrm>
            <a:off x="694508" y="1014275"/>
            <a:ext cx="10515600" cy="5099141"/>
          </a:xfrm>
        </p:spPr>
        <p:txBody>
          <a:bodyPr>
            <a:normAutofit fontScale="92500"/>
          </a:bodyPr>
          <a:lstStyle/>
          <a:p>
            <a:r>
              <a:rPr lang="en-US" dirty="0"/>
              <a:t>Context switching is the procedure of switching of process from processor to memory and vice versa in a multiprogramming environment</a:t>
            </a:r>
          </a:p>
          <a:p>
            <a:r>
              <a:rPr lang="en-US" dirty="0"/>
              <a:t>When CPU switches to another process</a:t>
            </a:r>
          </a:p>
          <a:p>
            <a:pPr lvl="1"/>
            <a:r>
              <a:rPr lang="en-US" dirty="0"/>
              <a:t>The system must save the state of the old process</a:t>
            </a:r>
          </a:p>
          <a:p>
            <a:pPr lvl="1"/>
            <a:r>
              <a:rPr lang="en-US" dirty="0"/>
              <a:t>Load the saved state of the new process</a:t>
            </a:r>
          </a:p>
          <a:p>
            <a:r>
              <a:rPr lang="en-US" dirty="0"/>
              <a:t>Context switch involves storing and loading the values of each of the process’s control block, and process registers, such as;</a:t>
            </a:r>
          </a:p>
          <a:p>
            <a:pPr lvl="1"/>
            <a:r>
              <a:rPr lang="en-US" dirty="0"/>
              <a:t>The program </a:t>
            </a:r>
            <a:r>
              <a:rPr lang="en-US" dirty="0" smtClean="0"/>
              <a:t>counter (</a:t>
            </a:r>
            <a:r>
              <a:rPr lang="en-US" dirty="0"/>
              <a:t>Holds the </a:t>
            </a:r>
            <a:r>
              <a:rPr lang="en-US" b="1" dirty="0"/>
              <a:t>address of the next instruction</a:t>
            </a:r>
            <a:r>
              <a:rPr lang="en-US" dirty="0"/>
              <a:t> to be executed. After an instruction executes, the PC updates to the next one.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Index </a:t>
            </a:r>
            <a:r>
              <a:rPr lang="en-US" dirty="0" smtClean="0"/>
              <a:t>register (</a:t>
            </a:r>
            <a:r>
              <a:rPr lang="en-US" dirty="0"/>
              <a:t>Holds the </a:t>
            </a:r>
            <a:r>
              <a:rPr lang="en-US" b="1" dirty="0"/>
              <a:t>current instruction</a:t>
            </a:r>
            <a:r>
              <a:rPr lang="en-US" dirty="0"/>
              <a:t> being decoded and executed.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General </a:t>
            </a:r>
            <a:r>
              <a:rPr lang="en-US" dirty="0" smtClean="0"/>
              <a:t>register (</a:t>
            </a:r>
            <a:r>
              <a:rPr lang="en-US" dirty="0"/>
              <a:t>Used to </a:t>
            </a:r>
            <a:r>
              <a:rPr lang="en-US" b="1" dirty="0"/>
              <a:t>store data </a:t>
            </a:r>
            <a:r>
              <a:rPr lang="en-US" b="1" dirty="0" smtClean="0"/>
              <a:t>temporarily </a:t>
            </a:r>
            <a:r>
              <a:rPr lang="en-US" dirty="0"/>
              <a:t>(numbers, results, or intermediate values) during calculations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Stack pointer </a:t>
            </a:r>
            <a:r>
              <a:rPr lang="en-US" dirty="0" err="1" smtClean="0"/>
              <a:t>etc</a:t>
            </a:r>
            <a:r>
              <a:rPr lang="en-US" dirty="0" smtClean="0"/>
              <a:t> (</a:t>
            </a:r>
            <a:r>
              <a:rPr lang="en-US" dirty="0"/>
              <a:t>Holds an </a:t>
            </a:r>
            <a:r>
              <a:rPr lang="en-US" b="1" dirty="0"/>
              <a:t>index value</a:t>
            </a:r>
            <a:r>
              <a:rPr lang="en-US" dirty="0"/>
              <a:t> used for addressing memory locations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9002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Context Switch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Context switch is pure overhead</a:t>
            </a:r>
          </a:p>
          <a:p>
            <a:pPr lvl="1"/>
            <a:r>
              <a:rPr lang="en-US" dirty="0"/>
              <a:t>The system does no useful work while switching</a:t>
            </a:r>
          </a:p>
          <a:p>
            <a:r>
              <a:rPr lang="en-US" dirty="0"/>
              <a:t>Context switch time depends on hardware support </a:t>
            </a:r>
            <a:r>
              <a:rPr lang="en-US" dirty="0" err="1"/>
              <a:t>e.g</a:t>
            </a:r>
            <a:r>
              <a:rPr lang="en-US" dirty="0"/>
              <a:t>, memory speed, the number of registers etc.</a:t>
            </a:r>
          </a:p>
          <a:p>
            <a:r>
              <a:rPr lang="en-US" dirty="0"/>
              <a:t>Its range is from 1 to 100 microsecond</a:t>
            </a:r>
          </a:p>
          <a:p>
            <a:pPr lvl="1"/>
            <a:r>
              <a:rPr lang="en-US" dirty="0"/>
              <a:t>This speed vary from system to system</a:t>
            </a:r>
          </a:p>
        </p:txBody>
      </p:sp>
    </p:spTree>
    <p:extLst>
      <p:ext uri="{BB962C8B-B14F-4D97-AF65-F5344CB8AC3E}">
        <p14:creationId xmlns:p14="http://schemas.microsoft.com/office/powerpoint/2010/main" val="857336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FA58-D319-4C3B-8ED6-09F8BB235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Switch</a:t>
            </a:r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9C11A815-C590-4FAF-AEBC-5AC7C512A39F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535" y="1254456"/>
            <a:ext cx="7713626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5792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Process Life Cycle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As a process executes, it changes state</a:t>
            </a:r>
          </a:p>
          <a:p>
            <a:pPr lvl="1" eaLnBrk="1" hangingPunct="1"/>
            <a:r>
              <a:rPr lang="en-US" b="1" dirty="0"/>
              <a:t>new</a:t>
            </a:r>
            <a:r>
              <a:rPr lang="en-US" dirty="0"/>
              <a:t>:  The process is being created</a:t>
            </a:r>
          </a:p>
          <a:p>
            <a:pPr lvl="1" eaLnBrk="1" hangingPunct="1"/>
            <a:r>
              <a:rPr lang="en-US" b="1" dirty="0"/>
              <a:t>running</a:t>
            </a:r>
            <a:r>
              <a:rPr lang="en-US" dirty="0"/>
              <a:t>:  Instructions are being executed</a:t>
            </a:r>
          </a:p>
          <a:p>
            <a:pPr lvl="1" eaLnBrk="1" hangingPunct="1"/>
            <a:r>
              <a:rPr lang="en-US" b="1" dirty="0"/>
              <a:t>waiting</a:t>
            </a:r>
            <a:r>
              <a:rPr lang="en-US" dirty="0"/>
              <a:t>:  The process is waiting for some event to occur</a:t>
            </a:r>
          </a:p>
          <a:p>
            <a:pPr lvl="1" eaLnBrk="1" hangingPunct="1"/>
            <a:r>
              <a:rPr lang="en-US" b="1" dirty="0"/>
              <a:t>ready</a:t>
            </a:r>
            <a:r>
              <a:rPr lang="en-US" dirty="0"/>
              <a:t>:  The process is waiting to be assigned to a process</a:t>
            </a:r>
          </a:p>
          <a:p>
            <a:pPr lvl="1" eaLnBrk="1" hangingPunct="1"/>
            <a:r>
              <a:rPr lang="en-US" b="1" dirty="0"/>
              <a:t>terminated</a:t>
            </a:r>
            <a:r>
              <a:rPr lang="en-US" dirty="0"/>
              <a:t>:  The process has finished execution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27056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Process Life Cycle</a:t>
            </a:r>
          </a:p>
        </p:txBody>
      </p:sp>
      <p:pic>
        <p:nvPicPr>
          <p:cNvPr id="16" name="Picture 9">
            <a:extLst>
              <a:ext uri="{FF2B5EF4-FFF2-40B4-BE49-F238E27FC236}">
                <a16:creationId xmlns:a16="http://schemas.microsoft.com/office/drawing/2014/main" id="{F7F16203-8422-43D3-9F35-63E83B28E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700" y="2032968"/>
            <a:ext cx="9082599" cy="321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35557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Process Life Cycle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fontScale="92500"/>
          </a:bodyPr>
          <a:lstStyle/>
          <a:p>
            <a:r>
              <a:rPr lang="en-US" dirty="0"/>
              <a:t>Assume that process is running with a Unix operating system with no user process</a:t>
            </a:r>
          </a:p>
          <a:p>
            <a:r>
              <a:rPr lang="en-US" dirty="0"/>
              <a:t>Various events in life of processes within a multiprogramming system are given below;</a:t>
            </a:r>
          </a:p>
          <a:p>
            <a:pPr lvl="1"/>
            <a:r>
              <a:rPr lang="en-US" dirty="0"/>
              <a:t>User using the shell command interpreter, types in a program name, say </a:t>
            </a:r>
            <a:r>
              <a:rPr lang="en-US" dirty="0" err="1"/>
              <a:t>solvit</a:t>
            </a:r>
            <a:endParaRPr lang="en-US" dirty="0"/>
          </a:p>
          <a:p>
            <a:pPr lvl="1"/>
            <a:r>
              <a:rPr lang="en-US" dirty="0"/>
              <a:t>The shell finds this program and program code will be loaded</a:t>
            </a:r>
          </a:p>
          <a:p>
            <a:pPr lvl="1"/>
            <a:r>
              <a:rPr lang="en-US" dirty="0"/>
              <a:t>A system call will be used to generate a process corresponding to the execution of the </a:t>
            </a:r>
            <a:r>
              <a:rPr lang="en-US" dirty="0" err="1"/>
              <a:t>solvit</a:t>
            </a:r>
            <a:r>
              <a:rPr lang="en-US" dirty="0"/>
              <a:t> program</a:t>
            </a:r>
          </a:p>
          <a:p>
            <a:pPr lvl="1"/>
            <a:r>
              <a:rPr lang="en-US" dirty="0"/>
              <a:t>The OS creates process control block in the memory</a:t>
            </a:r>
          </a:p>
          <a:p>
            <a:pPr lvl="1"/>
            <a:r>
              <a:rPr lang="en-US" dirty="0"/>
              <a:t>The process </a:t>
            </a:r>
            <a:r>
              <a:rPr lang="en-US" dirty="0" err="1"/>
              <a:t>solvit</a:t>
            </a:r>
            <a:r>
              <a:rPr lang="en-US" dirty="0"/>
              <a:t> will now begin to run – the process is said to be in running state</a:t>
            </a:r>
          </a:p>
          <a:p>
            <a:pPr lvl="1"/>
            <a:r>
              <a:rPr lang="en-US" dirty="0"/>
              <a:t>After a while, </a:t>
            </a:r>
            <a:r>
              <a:rPr lang="en-US" dirty="0" err="1"/>
              <a:t>solvit</a:t>
            </a:r>
            <a:r>
              <a:rPr lang="en-US" dirty="0"/>
              <a:t> needs to read some data from a disk file and issue an appropriate system call</a:t>
            </a:r>
          </a:p>
          <a:p>
            <a:pPr lvl="1"/>
            <a:r>
              <a:rPr lang="en-US" dirty="0"/>
              <a:t>The process is now said to be in the blocked state</a:t>
            </a:r>
          </a:p>
        </p:txBody>
      </p:sp>
    </p:spTree>
    <p:extLst>
      <p:ext uri="{BB962C8B-B14F-4D97-AF65-F5344CB8AC3E}">
        <p14:creationId xmlns:p14="http://schemas.microsoft.com/office/powerpoint/2010/main" val="37018408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Process Life Cycle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In the meantime, another user wants to run a program called </a:t>
            </a:r>
            <a:r>
              <a:rPr lang="en-US" sz="2400" b="1" dirty="0" err="1"/>
              <a:t>myprog</a:t>
            </a:r>
            <a:r>
              <a:rPr lang="en-US" sz="2400" dirty="0"/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A new process is created for </a:t>
            </a:r>
            <a:r>
              <a:rPr lang="en-US" sz="2400" dirty="0" err="1"/>
              <a:t>myprog</a:t>
            </a:r>
            <a:r>
              <a:rPr lang="en-US" sz="2400" dirty="0"/>
              <a:t> and since </a:t>
            </a:r>
            <a:r>
              <a:rPr lang="en-US" sz="2400" dirty="0" err="1"/>
              <a:t>solvit</a:t>
            </a:r>
            <a:r>
              <a:rPr lang="en-US" sz="2400" dirty="0"/>
              <a:t> is currently idle, execution begins; </a:t>
            </a:r>
            <a:r>
              <a:rPr lang="en-US" sz="2400" dirty="0" err="1"/>
              <a:t>myprog</a:t>
            </a:r>
            <a:r>
              <a:rPr lang="en-US" sz="2400" dirty="0"/>
              <a:t> is now running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I/O delay which is blocking </a:t>
            </a:r>
            <a:r>
              <a:rPr lang="en-US" sz="2400" dirty="0" err="1"/>
              <a:t>solvit</a:t>
            </a:r>
            <a:r>
              <a:rPr lang="en-US" sz="2400" dirty="0"/>
              <a:t> now ends and </a:t>
            </a:r>
            <a:r>
              <a:rPr lang="en-US" sz="2400" dirty="0" err="1"/>
              <a:t>solvit</a:t>
            </a:r>
            <a:r>
              <a:rPr lang="en-US" sz="2400" dirty="0"/>
              <a:t> wants to restart; </a:t>
            </a:r>
            <a:r>
              <a:rPr lang="en-US" sz="2400" dirty="0" err="1"/>
              <a:t>solvit</a:t>
            </a:r>
            <a:r>
              <a:rPr lang="en-US" sz="2400" dirty="0"/>
              <a:t> is now said to be in ready state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OS scheduler now decides that </a:t>
            </a:r>
            <a:r>
              <a:rPr lang="en-US" sz="2400" dirty="0" err="1"/>
              <a:t>myprog</a:t>
            </a:r>
            <a:r>
              <a:rPr lang="en-US" sz="2400" dirty="0"/>
              <a:t> has enough processor time </a:t>
            </a:r>
            <a:r>
              <a:rPr lang="en-US" sz="2400" b="1" dirty="0"/>
              <a:t>(Timeout)</a:t>
            </a:r>
            <a:r>
              <a:rPr lang="en-US" sz="2400" dirty="0"/>
              <a:t> and moves it into the ready queue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err="1"/>
              <a:t>Solvit</a:t>
            </a:r>
            <a:r>
              <a:rPr lang="en-US" sz="2400" dirty="0"/>
              <a:t> is restarted and enters the running state once more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Switching between active processes, waiting for I/O transfer etc. will continue for the life of the processes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Eventually, </a:t>
            </a:r>
            <a:r>
              <a:rPr lang="en-US" sz="2400" dirty="0" err="1"/>
              <a:t>solvit</a:t>
            </a:r>
            <a:r>
              <a:rPr lang="en-US" sz="2400" dirty="0"/>
              <a:t> completes its tasks and terminates; it leaves the running state and disappears from the system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Similarly, </a:t>
            </a:r>
            <a:r>
              <a:rPr lang="en-US" sz="2400" dirty="0" err="1"/>
              <a:t>myprog</a:t>
            </a:r>
            <a:r>
              <a:rPr lang="en-US" sz="2400" dirty="0"/>
              <a:t> terminates</a:t>
            </a:r>
          </a:p>
        </p:txBody>
      </p:sp>
    </p:spTree>
    <p:extLst>
      <p:ext uri="{BB962C8B-B14F-4D97-AF65-F5344CB8AC3E}">
        <p14:creationId xmlns:p14="http://schemas.microsoft.com/office/powerpoint/2010/main" val="39120635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Five State Process Model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50239C-33A1-43F3-A8E6-EFF938308115}"/>
              </a:ext>
            </a:extLst>
          </p:cNvPr>
          <p:cNvGrpSpPr/>
          <p:nvPr/>
        </p:nvGrpSpPr>
        <p:grpSpPr>
          <a:xfrm>
            <a:off x="2133600" y="1905000"/>
            <a:ext cx="8001000" cy="4114800"/>
            <a:chOff x="609600" y="1905000"/>
            <a:chExt cx="8001000" cy="4114800"/>
          </a:xfrm>
        </p:grpSpPr>
        <p:sp>
          <p:nvSpPr>
            <p:cNvPr id="16420" name="Oval 5"/>
            <p:cNvSpPr>
              <a:spLocks noChangeArrowheads="1"/>
            </p:cNvSpPr>
            <p:nvPr/>
          </p:nvSpPr>
          <p:spPr bwMode="auto">
            <a:xfrm>
              <a:off x="3962400" y="4953000"/>
              <a:ext cx="1371600" cy="7620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sz="1600" b="1">
                  <a:latin typeface="Calibri" pitchFamily="34" charset="0"/>
                </a:rPr>
                <a:t>Blocked</a:t>
              </a:r>
            </a:p>
            <a:p>
              <a:pPr algn="ctr"/>
              <a:r>
                <a:rPr lang="en-US" sz="1600" b="1">
                  <a:latin typeface="Calibri" pitchFamily="34" charset="0"/>
                </a:rPr>
                <a:t>Suspended</a:t>
              </a:r>
            </a:p>
          </p:txBody>
        </p:sp>
        <p:sp>
          <p:nvSpPr>
            <p:cNvPr id="16409" name="Line 13"/>
            <p:cNvSpPr>
              <a:spLocks noChangeShapeType="1"/>
            </p:cNvSpPr>
            <p:nvPr/>
          </p:nvSpPr>
          <p:spPr bwMode="auto">
            <a:xfrm flipH="1">
              <a:off x="5105400" y="2667000"/>
              <a:ext cx="1295400" cy="82296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406" name="Line 10"/>
            <p:cNvSpPr>
              <a:spLocks noChangeShapeType="1"/>
            </p:cNvSpPr>
            <p:nvPr/>
          </p:nvSpPr>
          <p:spPr bwMode="auto">
            <a:xfrm>
              <a:off x="609600" y="2286000"/>
              <a:ext cx="990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407" name="Line 11"/>
            <p:cNvSpPr>
              <a:spLocks noChangeShapeType="1"/>
            </p:cNvSpPr>
            <p:nvPr/>
          </p:nvSpPr>
          <p:spPr bwMode="auto">
            <a:xfrm>
              <a:off x="3078480" y="2209800"/>
              <a:ext cx="301752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408" name="Line 12"/>
            <p:cNvSpPr>
              <a:spLocks noChangeShapeType="1"/>
            </p:cNvSpPr>
            <p:nvPr/>
          </p:nvSpPr>
          <p:spPr bwMode="auto">
            <a:xfrm flipH="1">
              <a:off x="3048000" y="2438400"/>
              <a:ext cx="301752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410" name="Line 14"/>
            <p:cNvSpPr>
              <a:spLocks noChangeShapeType="1"/>
            </p:cNvSpPr>
            <p:nvPr/>
          </p:nvSpPr>
          <p:spPr bwMode="auto">
            <a:xfrm flipH="1" flipV="1">
              <a:off x="2895600" y="2590800"/>
              <a:ext cx="1143000" cy="990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411" name="Line 15"/>
            <p:cNvSpPr>
              <a:spLocks noChangeShapeType="1"/>
            </p:cNvSpPr>
            <p:nvPr/>
          </p:nvSpPr>
          <p:spPr bwMode="auto">
            <a:xfrm flipV="1">
              <a:off x="4495800" y="4267200"/>
              <a:ext cx="0" cy="609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412" name="Line 16"/>
            <p:cNvSpPr>
              <a:spLocks noChangeShapeType="1"/>
            </p:cNvSpPr>
            <p:nvPr/>
          </p:nvSpPr>
          <p:spPr bwMode="auto">
            <a:xfrm>
              <a:off x="2514600" y="2758440"/>
              <a:ext cx="0" cy="219456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6413" name="Line 17"/>
            <p:cNvSpPr>
              <a:spLocks noChangeShapeType="1"/>
            </p:cNvSpPr>
            <p:nvPr/>
          </p:nvSpPr>
          <p:spPr bwMode="auto">
            <a:xfrm flipV="1">
              <a:off x="1981200" y="2682240"/>
              <a:ext cx="0" cy="219456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414" name="Line 18"/>
            <p:cNvSpPr>
              <a:spLocks noChangeShapeType="1"/>
            </p:cNvSpPr>
            <p:nvPr/>
          </p:nvSpPr>
          <p:spPr bwMode="auto">
            <a:xfrm>
              <a:off x="4876800" y="4267200"/>
              <a:ext cx="0" cy="609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415" name="Line 19"/>
            <p:cNvSpPr>
              <a:spLocks noChangeShapeType="1"/>
            </p:cNvSpPr>
            <p:nvPr/>
          </p:nvSpPr>
          <p:spPr bwMode="auto">
            <a:xfrm>
              <a:off x="7543800" y="2286000"/>
              <a:ext cx="10668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416" name="Line 20"/>
            <p:cNvSpPr>
              <a:spLocks noChangeShapeType="1"/>
            </p:cNvSpPr>
            <p:nvPr/>
          </p:nvSpPr>
          <p:spPr bwMode="auto">
            <a:xfrm flipV="1">
              <a:off x="2286000" y="5715000"/>
              <a:ext cx="0" cy="3048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417" name="Line 21"/>
            <p:cNvSpPr>
              <a:spLocks noChangeShapeType="1"/>
            </p:cNvSpPr>
            <p:nvPr/>
          </p:nvSpPr>
          <p:spPr bwMode="auto">
            <a:xfrm flipH="1">
              <a:off x="2895600" y="5334000"/>
              <a:ext cx="9906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418" name="Line 22"/>
            <p:cNvSpPr>
              <a:spLocks noChangeShapeType="1"/>
            </p:cNvSpPr>
            <p:nvPr/>
          </p:nvSpPr>
          <p:spPr bwMode="auto">
            <a:xfrm>
              <a:off x="2286000" y="6019800"/>
              <a:ext cx="45720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419" name="Line 23"/>
            <p:cNvSpPr>
              <a:spLocks noChangeShapeType="1"/>
            </p:cNvSpPr>
            <p:nvPr/>
          </p:nvSpPr>
          <p:spPr bwMode="auto">
            <a:xfrm>
              <a:off x="6858000" y="2727960"/>
              <a:ext cx="0" cy="32918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392" name="Text Box 25"/>
            <p:cNvSpPr txBox="1">
              <a:spLocks noChangeArrowheads="1"/>
            </p:cNvSpPr>
            <p:nvPr/>
          </p:nvSpPr>
          <p:spPr bwMode="auto">
            <a:xfrm>
              <a:off x="609600" y="1981200"/>
              <a:ext cx="7620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>
                  <a:latin typeface="Calibri" pitchFamily="34" charset="0"/>
                </a:rPr>
                <a:t>Admit</a:t>
              </a:r>
            </a:p>
          </p:txBody>
        </p:sp>
        <p:sp>
          <p:nvSpPr>
            <p:cNvPr id="16393" name="Text Box 26"/>
            <p:cNvSpPr txBox="1">
              <a:spLocks noChangeArrowheads="1"/>
            </p:cNvSpPr>
            <p:nvPr/>
          </p:nvSpPr>
          <p:spPr bwMode="auto">
            <a:xfrm>
              <a:off x="3352800" y="2819400"/>
              <a:ext cx="13716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>
                  <a:latin typeface="Calibri" pitchFamily="34" charset="0"/>
                </a:rPr>
                <a:t>I/O Completion</a:t>
              </a:r>
            </a:p>
          </p:txBody>
        </p:sp>
        <p:sp>
          <p:nvSpPr>
            <p:cNvPr id="16394" name="Text Box 27"/>
            <p:cNvSpPr txBox="1">
              <a:spLocks noChangeArrowheads="1"/>
            </p:cNvSpPr>
            <p:nvPr/>
          </p:nvSpPr>
          <p:spPr bwMode="auto">
            <a:xfrm>
              <a:off x="6858000" y="4343400"/>
              <a:ext cx="12192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Suspended</a:t>
              </a:r>
            </a:p>
          </p:txBody>
        </p:sp>
        <p:sp>
          <p:nvSpPr>
            <p:cNvPr id="16395" name="Text Box 28"/>
            <p:cNvSpPr txBox="1">
              <a:spLocks noChangeArrowheads="1"/>
            </p:cNvSpPr>
            <p:nvPr/>
          </p:nvSpPr>
          <p:spPr bwMode="auto">
            <a:xfrm>
              <a:off x="5334000" y="3276600"/>
              <a:ext cx="12954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I/O Request</a:t>
              </a:r>
            </a:p>
          </p:txBody>
        </p:sp>
        <p:sp>
          <p:nvSpPr>
            <p:cNvPr id="16396" name="Text Box 29"/>
            <p:cNvSpPr txBox="1">
              <a:spLocks noChangeArrowheads="1"/>
            </p:cNvSpPr>
            <p:nvPr/>
          </p:nvSpPr>
          <p:spPr bwMode="auto">
            <a:xfrm>
              <a:off x="7543800" y="1981200"/>
              <a:ext cx="9144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Release</a:t>
              </a:r>
            </a:p>
          </p:txBody>
        </p:sp>
        <p:sp>
          <p:nvSpPr>
            <p:cNvPr id="16397" name="Text Box 30"/>
            <p:cNvSpPr txBox="1">
              <a:spLocks noChangeArrowheads="1"/>
            </p:cNvSpPr>
            <p:nvPr/>
          </p:nvSpPr>
          <p:spPr bwMode="auto">
            <a:xfrm>
              <a:off x="3886200" y="2438400"/>
              <a:ext cx="11430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>
                  <a:latin typeface="Calibri" pitchFamily="34" charset="0"/>
                </a:rPr>
                <a:t>Time-out</a:t>
              </a:r>
            </a:p>
          </p:txBody>
        </p:sp>
        <p:sp>
          <p:nvSpPr>
            <p:cNvPr id="16398" name="Text Box 31"/>
            <p:cNvSpPr txBox="1">
              <a:spLocks noChangeArrowheads="1"/>
            </p:cNvSpPr>
            <p:nvPr/>
          </p:nvSpPr>
          <p:spPr bwMode="auto">
            <a:xfrm>
              <a:off x="3886200" y="1905000"/>
              <a:ext cx="11430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>
                  <a:latin typeface="Calibri" pitchFamily="34" charset="0"/>
                </a:rPr>
                <a:t>Dispatch</a:t>
              </a:r>
            </a:p>
          </p:txBody>
        </p:sp>
        <p:sp>
          <p:nvSpPr>
            <p:cNvPr id="16399" name="Text Box 35"/>
            <p:cNvSpPr txBox="1">
              <a:spLocks noChangeArrowheads="1"/>
            </p:cNvSpPr>
            <p:nvPr/>
          </p:nvSpPr>
          <p:spPr bwMode="auto">
            <a:xfrm>
              <a:off x="4876800" y="4419600"/>
              <a:ext cx="12192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Suspended</a:t>
              </a:r>
            </a:p>
          </p:txBody>
        </p:sp>
        <p:sp>
          <p:nvSpPr>
            <p:cNvPr id="16400" name="Text Box 36"/>
            <p:cNvSpPr txBox="1">
              <a:spLocks noChangeArrowheads="1"/>
            </p:cNvSpPr>
            <p:nvPr/>
          </p:nvSpPr>
          <p:spPr bwMode="auto">
            <a:xfrm>
              <a:off x="3657600" y="4343400"/>
              <a:ext cx="9144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Resume</a:t>
              </a:r>
            </a:p>
          </p:txBody>
        </p:sp>
        <p:sp>
          <p:nvSpPr>
            <p:cNvPr id="16401" name="Text Box 37"/>
            <p:cNvSpPr txBox="1">
              <a:spLocks noChangeArrowheads="1"/>
            </p:cNvSpPr>
            <p:nvPr/>
          </p:nvSpPr>
          <p:spPr bwMode="auto">
            <a:xfrm>
              <a:off x="3048000" y="5029200"/>
              <a:ext cx="7620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>
                  <a:latin typeface="Calibri" pitchFamily="34" charset="0"/>
                </a:rPr>
                <a:t>Admit</a:t>
              </a:r>
            </a:p>
          </p:txBody>
        </p:sp>
        <p:sp>
          <p:nvSpPr>
            <p:cNvPr id="16402" name="Text Box 38"/>
            <p:cNvSpPr txBox="1">
              <a:spLocks noChangeArrowheads="1"/>
            </p:cNvSpPr>
            <p:nvPr/>
          </p:nvSpPr>
          <p:spPr bwMode="auto">
            <a:xfrm>
              <a:off x="1066800" y="3657600"/>
              <a:ext cx="9906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Resume</a:t>
              </a:r>
            </a:p>
          </p:txBody>
        </p:sp>
        <p:sp>
          <p:nvSpPr>
            <p:cNvPr id="16403" name="Text Box 39"/>
            <p:cNvSpPr txBox="1">
              <a:spLocks noChangeArrowheads="1"/>
            </p:cNvSpPr>
            <p:nvPr/>
          </p:nvSpPr>
          <p:spPr bwMode="auto">
            <a:xfrm>
              <a:off x="2438400" y="3657600"/>
              <a:ext cx="12192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Suspended</a:t>
              </a:r>
            </a:p>
          </p:txBody>
        </p:sp>
        <p:sp>
          <p:nvSpPr>
            <p:cNvPr id="16422" name="Oval 7"/>
            <p:cNvSpPr>
              <a:spLocks noChangeArrowheads="1"/>
            </p:cNvSpPr>
            <p:nvPr/>
          </p:nvSpPr>
          <p:spPr bwMode="auto">
            <a:xfrm>
              <a:off x="6096000" y="1905000"/>
              <a:ext cx="1371600" cy="7620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sz="1600" b="1" dirty="0">
                  <a:latin typeface="Calibri" pitchFamily="34" charset="0"/>
                </a:rPr>
                <a:t>Running</a:t>
              </a:r>
            </a:p>
          </p:txBody>
        </p:sp>
        <p:sp>
          <p:nvSpPr>
            <p:cNvPr id="16421" name="Oval 6"/>
            <p:cNvSpPr>
              <a:spLocks noChangeArrowheads="1"/>
            </p:cNvSpPr>
            <p:nvPr/>
          </p:nvSpPr>
          <p:spPr bwMode="auto">
            <a:xfrm>
              <a:off x="3962400" y="3429000"/>
              <a:ext cx="1371600" cy="7620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sz="1600" b="1">
                  <a:latin typeface="Calibri" pitchFamily="34" charset="0"/>
                </a:rPr>
                <a:t>Blocked</a:t>
              </a:r>
            </a:p>
          </p:txBody>
        </p:sp>
        <p:sp>
          <p:nvSpPr>
            <p:cNvPr id="16423" name="Oval 8"/>
            <p:cNvSpPr>
              <a:spLocks noChangeArrowheads="1"/>
            </p:cNvSpPr>
            <p:nvPr/>
          </p:nvSpPr>
          <p:spPr bwMode="auto">
            <a:xfrm>
              <a:off x="1676400" y="1905000"/>
              <a:ext cx="1371600" cy="7620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sz="1600" b="1">
                  <a:latin typeface="Calibri" pitchFamily="34" charset="0"/>
                </a:rPr>
                <a:t>Ready</a:t>
              </a:r>
            </a:p>
          </p:txBody>
        </p:sp>
        <p:sp>
          <p:nvSpPr>
            <p:cNvPr id="16424" name="Oval 9"/>
            <p:cNvSpPr>
              <a:spLocks noChangeArrowheads="1"/>
            </p:cNvSpPr>
            <p:nvPr/>
          </p:nvSpPr>
          <p:spPr bwMode="auto">
            <a:xfrm>
              <a:off x="1524000" y="4953000"/>
              <a:ext cx="1371600" cy="7620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sz="1600" b="1" dirty="0">
                  <a:latin typeface="Calibri" pitchFamily="34" charset="0"/>
                </a:rPr>
                <a:t>Ready</a:t>
              </a:r>
            </a:p>
            <a:p>
              <a:pPr algn="ctr"/>
              <a:r>
                <a:rPr lang="en-US" sz="1600" b="1" dirty="0">
                  <a:latin typeface="Calibri" pitchFamily="34" charset="0"/>
                </a:rPr>
                <a:t>Suspended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41692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Five State Process Model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There are two queues; a ready queue and a blocked queue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OS chooses a process the ready queue to run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In the absence of any priority scheme, this can be a simple FIFO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A running process is removed from execution, it is either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Terminated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Time quantum is over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Performed I/O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After I/O completion processes in blocked queue are moved to ready queue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When an event occurs, the OS must scan the entire blocked queue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In a large OS, there could be hundreds or even thousands of processes in that queue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It would be more efficient to have a number of queues, one for each event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When an event occurs, the entire list of processes in the appropriate queue can be moved to the ready state</a:t>
            </a:r>
          </a:p>
        </p:txBody>
      </p:sp>
    </p:spTree>
    <p:extLst>
      <p:ext uri="{BB962C8B-B14F-4D97-AF65-F5344CB8AC3E}">
        <p14:creationId xmlns:p14="http://schemas.microsoft.com/office/powerpoint/2010/main" val="568547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Five State Process Model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Consider a system that does not employ virtual memory</a:t>
            </a:r>
          </a:p>
          <a:p>
            <a:pPr lvl="1"/>
            <a:r>
              <a:rPr lang="en-US" dirty="0"/>
              <a:t>Each process to be executed must be loaded fully into memory</a:t>
            </a:r>
          </a:p>
          <a:p>
            <a:pPr lvl="1"/>
            <a:r>
              <a:rPr lang="en-US" dirty="0"/>
              <a:t>In multiple blocked queuing model, all the processes in all the queues must be resident in memory</a:t>
            </a:r>
          </a:p>
          <a:p>
            <a:r>
              <a:rPr lang="en-US" dirty="0"/>
              <a:t>Memory holds multiple processes</a:t>
            </a:r>
          </a:p>
          <a:p>
            <a:r>
              <a:rPr lang="en-US" dirty="0"/>
              <a:t>Solutions</a:t>
            </a:r>
          </a:p>
          <a:p>
            <a:pPr lvl="1"/>
            <a:r>
              <a:rPr lang="en-US" dirty="0"/>
              <a:t>Expand the memory </a:t>
            </a:r>
          </a:p>
          <a:p>
            <a:pPr lvl="2"/>
            <a:r>
              <a:rPr lang="en-US" dirty="0"/>
              <a:t>it has own flaw</a:t>
            </a:r>
          </a:p>
          <a:p>
            <a:pPr lvl="3"/>
            <a:r>
              <a:rPr lang="en-US" dirty="0"/>
              <a:t>Cost associated with expansion</a:t>
            </a:r>
          </a:p>
          <a:p>
            <a:pPr lvl="1"/>
            <a:r>
              <a:rPr lang="en-US" dirty="0"/>
              <a:t>Swapping</a:t>
            </a:r>
          </a:p>
          <a:p>
            <a:pPr lvl="2"/>
            <a:r>
              <a:rPr lang="en-US" dirty="0"/>
              <a:t>Moving part or all of a process (blocked) from memory to disk (suspended queue)</a:t>
            </a:r>
          </a:p>
          <a:p>
            <a:r>
              <a:rPr lang="en-US" dirty="0"/>
              <a:t>The space that is freed up in memory can be then be used to bring another process</a:t>
            </a:r>
          </a:p>
          <a:p>
            <a:r>
              <a:rPr lang="en-US" dirty="0"/>
              <a:t>When a process is suspended, it becomes dormant and merely waits until it is resumed by the system or user</a:t>
            </a:r>
          </a:p>
        </p:txBody>
      </p:sp>
    </p:spTree>
    <p:extLst>
      <p:ext uri="{BB962C8B-B14F-4D97-AF65-F5344CB8AC3E}">
        <p14:creationId xmlns:p14="http://schemas.microsoft.com/office/powerpoint/2010/main" val="30745581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Five State Process Model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A process can be suspended for the following reasons;</a:t>
            </a:r>
          </a:p>
          <a:p>
            <a:pPr lvl="1"/>
            <a:r>
              <a:rPr lang="en-US"/>
              <a:t>Process being swapped put of the memory by the memory management system in order to free memory for higher priority processes</a:t>
            </a:r>
          </a:p>
          <a:p>
            <a:pPr lvl="1"/>
            <a:r>
              <a:rPr lang="en-US"/>
              <a:t>A user may wish to suspend execution of a program for purpose of debugging a program</a:t>
            </a:r>
          </a:p>
          <a:p>
            <a:pPr lvl="1"/>
            <a:r>
              <a:rPr lang="en-US"/>
              <a:t>Process investigates previous effects of the process</a:t>
            </a:r>
          </a:p>
          <a:p>
            <a:pPr lvl="1"/>
            <a:r>
              <a:rPr lang="en-US"/>
              <a:t>Processes designed to run periodically to monitor system usage</a:t>
            </a:r>
          </a:p>
          <a:p>
            <a:pPr lvl="1"/>
            <a:r>
              <a:rPr lang="en-US"/>
              <a:t>The OS may suspend a background or utility process or a process that is suspected of causing a problem</a:t>
            </a:r>
          </a:p>
          <a:p>
            <a:pPr lvl="1"/>
            <a:r>
              <a:rPr lang="en-US"/>
              <a:t>The process can be suspended while in running, ready or blocked state</a:t>
            </a:r>
          </a:p>
        </p:txBody>
      </p:sp>
    </p:spTree>
    <p:extLst>
      <p:ext uri="{BB962C8B-B14F-4D97-AF65-F5344CB8AC3E}">
        <p14:creationId xmlns:p14="http://schemas.microsoft.com/office/powerpoint/2010/main" val="12769168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Unix Process State Transition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7BAB717-48A0-4BD0-9D38-E6491545503F}"/>
              </a:ext>
            </a:extLst>
          </p:cNvPr>
          <p:cNvGrpSpPr/>
          <p:nvPr/>
        </p:nvGrpSpPr>
        <p:grpSpPr>
          <a:xfrm>
            <a:off x="1981200" y="1600200"/>
            <a:ext cx="8458200" cy="4419600"/>
            <a:chOff x="457200" y="1600200"/>
            <a:chExt cx="8458200" cy="4419600"/>
          </a:xfrm>
        </p:grpSpPr>
        <p:sp>
          <p:nvSpPr>
            <p:cNvPr id="20509" name="Oval 4"/>
            <p:cNvSpPr>
              <a:spLocks noChangeArrowheads="1"/>
            </p:cNvSpPr>
            <p:nvPr/>
          </p:nvSpPr>
          <p:spPr bwMode="auto">
            <a:xfrm>
              <a:off x="4114800" y="2133600"/>
              <a:ext cx="609600" cy="6096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b="1">
                  <a:latin typeface="Calibri" pitchFamily="34" charset="0"/>
                </a:rPr>
                <a:t>2</a:t>
              </a:r>
            </a:p>
          </p:txBody>
        </p:sp>
        <p:sp>
          <p:nvSpPr>
            <p:cNvPr id="20510" name="Oval 5"/>
            <p:cNvSpPr>
              <a:spLocks noChangeArrowheads="1"/>
            </p:cNvSpPr>
            <p:nvPr/>
          </p:nvSpPr>
          <p:spPr bwMode="auto">
            <a:xfrm>
              <a:off x="7010400" y="4876800"/>
              <a:ext cx="609600" cy="6096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b="1">
                  <a:latin typeface="Calibri" pitchFamily="34" charset="0"/>
                </a:rPr>
                <a:t>8</a:t>
              </a:r>
            </a:p>
          </p:txBody>
        </p:sp>
        <p:sp>
          <p:nvSpPr>
            <p:cNvPr id="20511" name="Oval 6"/>
            <p:cNvSpPr>
              <a:spLocks noChangeArrowheads="1"/>
            </p:cNvSpPr>
            <p:nvPr/>
          </p:nvSpPr>
          <p:spPr bwMode="auto">
            <a:xfrm>
              <a:off x="7010400" y="2133600"/>
              <a:ext cx="609600" cy="6096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b="1">
                  <a:latin typeface="Calibri" pitchFamily="34" charset="0"/>
                </a:rPr>
                <a:t>1</a:t>
              </a:r>
            </a:p>
          </p:txBody>
        </p:sp>
        <p:sp>
          <p:nvSpPr>
            <p:cNvPr id="20513" name="Oval 8"/>
            <p:cNvSpPr>
              <a:spLocks noChangeArrowheads="1"/>
            </p:cNvSpPr>
            <p:nvPr/>
          </p:nvSpPr>
          <p:spPr bwMode="auto">
            <a:xfrm>
              <a:off x="7010400" y="3505200"/>
              <a:ext cx="609600" cy="6096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b="1">
                  <a:latin typeface="Calibri" pitchFamily="34" charset="0"/>
                </a:rPr>
                <a:t>7</a:t>
              </a:r>
            </a:p>
          </p:txBody>
        </p:sp>
        <p:sp>
          <p:nvSpPr>
            <p:cNvPr id="20514" name="Oval 9"/>
            <p:cNvSpPr>
              <a:spLocks noChangeArrowheads="1"/>
            </p:cNvSpPr>
            <p:nvPr/>
          </p:nvSpPr>
          <p:spPr bwMode="auto">
            <a:xfrm>
              <a:off x="4114800" y="4876800"/>
              <a:ext cx="609600" cy="6096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b="1">
                  <a:latin typeface="Calibri" pitchFamily="34" charset="0"/>
                </a:rPr>
                <a:t>5</a:t>
              </a:r>
            </a:p>
          </p:txBody>
        </p:sp>
        <p:sp>
          <p:nvSpPr>
            <p:cNvPr id="20515" name="Oval 10"/>
            <p:cNvSpPr>
              <a:spLocks noChangeArrowheads="1"/>
            </p:cNvSpPr>
            <p:nvPr/>
          </p:nvSpPr>
          <p:spPr bwMode="auto">
            <a:xfrm>
              <a:off x="1219200" y="2133600"/>
              <a:ext cx="609600" cy="6096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b="1">
                  <a:latin typeface="Calibri" pitchFamily="34" charset="0"/>
                </a:rPr>
                <a:t>9</a:t>
              </a:r>
            </a:p>
          </p:txBody>
        </p:sp>
        <p:sp>
          <p:nvSpPr>
            <p:cNvPr id="20516" name="Oval 11"/>
            <p:cNvSpPr>
              <a:spLocks noChangeArrowheads="1"/>
            </p:cNvSpPr>
            <p:nvPr/>
          </p:nvSpPr>
          <p:spPr bwMode="auto">
            <a:xfrm>
              <a:off x="1219200" y="3505200"/>
              <a:ext cx="609600" cy="6096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b="1">
                  <a:latin typeface="Calibri" pitchFamily="34" charset="0"/>
                </a:rPr>
                <a:t>4</a:t>
              </a:r>
            </a:p>
          </p:txBody>
        </p:sp>
        <p:sp>
          <p:nvSpPr>
            <p:cNvPr id="20517" name="Oval 12"/>
            <p:cNvSpPr>
              <a:spLocks noChangeArrowheads="1"/>
            </p:cNvSpPr>
            <p:nvPr/>
          </p:nvSpPr>
          <p:spPr bwMode="auto">
            <a:xfrm>
              <a:off x="1219200" y="4876800"/>
              <a:ext cx="609600" cy="6096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b="1">
                  <a:latin typeface="Calibri" pitchFamily="34" charset="0"/>
                </a:rPr>
                <a:t>6</a:t>
              </a:r>
            </a:p>
          </p:txBody>
        </p:sp>
        <p:sp>
          <p:nvSpPr>
            <p:cNvPr id="20518" name="Line 14"/>
            <p:cNvSpPr>
              <a:spLocks noChangeShapeType="1"/>
            </p:cNvSpPr>
            <p:nvPr/>
          </p:nvSpPr>
          <p:spPr bwMode="auto">
            <a:xfrm flipH="1">
              <a:off x="1844040" y="2514600"/>
              <a:ext cx="2194560" cy="11430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0519" name="Line 15"/>
            <p:cNvSpPr>
              <a:spLocks noChangeShapeType="1"/>
            </p:cNvSpPr>
            <p:nvPr/>
          </p:nvSpPr>
          <p:spPr bwMode="auto">
            <a:xfrm flipH="1" flipV="1">
              <a:off x="1844040" y="2362200"/>
              <a:ext cx="219456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0520" name="Line 16"/>
            <p:cNvSpPr>
              <a:spLocks noChangeShapeType="1"/>
            </p:cNvSpPr>
            <p:nvPr/>
          </p:nvSpPr>
          <p:spPr bwMode="auto">
            <a:xfrm>
              <a:off x="1524000" y="4191000"/>
              <a:ext cx="0" cy="64008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0521" name="Line 17"/>
            <p:cNvSpPr>
              <a:spLocks noChangeShapeType="1"/>
            </p:cNvSpPr>
            <p:nvPr/>
          </p:nvSpPr>
          <p:spPr bwMode="auto">
            <a:xfrm flipV="1">
              <a:off x="1905000" y="5181600"/>
              <a:ext cx="219456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0522" name="Line 18"/>
            <p:cNvSpPr>
              <a:spLocks noChangeShapeType="1"/>
            </p:cNvSpPr>
            <p:nvPr/>
          </p:nvSpPr>
          <p:spPr bwMode="auto">
            <a:xfrm flipV="1">
              <a:off x="4572000" y="4114800"/>
              <a:ext cx="0" cy="73152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0523" name="Line 19"/>
            <p:cNvSpPr>
              <a:spLocks noChangeShapeType="1"/>
            </p:cNvSpPr>
            <p:nvPr/>
          </p:nvSpPr>
          <p:spPr bwMode="auto">
            <a:xfrm>
              <a:off x="4267200" y="4145280"/>
              <a:ext cx="0" cy="73152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0524" name="Line 20"/>
            <p:cNvSpPr>
              <a:spLocks noChangeShapeType="1"/>
            </p:cNvSpPr>
            <p:nvPr/>
          </p:nvSpPr>
          <p:spPr bwMode="auto">
            <a:xfrm flipH="1" flipV="1">
              <a:off x="4724400" y="5181600"/>
              <a:ext cx="219456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0525" name="Line 21"/>
            <p:cNvSpPr>
              <a:spLocks noChangeShapeType="1"/>
            </p:cNvSpPr>
            <p:nvPr/>
          </p:nvSpPr>
          <p:spPr bwMode="auto">
            <a:xfrm flipH="1" flipV="1">
              <a:off x="4724400" y="4023360"/>
              <a:ext cx="2286000" cy="10058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0526" name="Line 23"/>
            <p:cNvSpPr>
              <a:spLocks noChangeShapeType="1"/>
            </p:cNvSpPr>
            <p:nvPr/>
          </p:nvSpPr>
          <p:spPr bwMode="auto">
            <a:xfrm flipV="1">
              <a:off x="1905000" y="3810000"/>
              <a:ext cx="219456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0527" name="Line 24"/>
            <p:cNvSpPr>
              <a:spLocks noChangeShapeType="1"/>
            </p:cNvSpPr>
            <p:nvPr/>
          </p:nvSpPr>
          <p:spPr bwMode="auto">
            <a:xfrm flipH="1" flipV="1">
              <a:off x="4831080" y="3810000"/>
              <a:ext cx="210312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0528" name="Line 25"/>
            <p:cNvSpPr>
              <a:spLocks noChangeShapeType="1"/>
            </p:cNvSpPr>
            <p:nvPr/>
          </p:nvSpPr>
          <p:spPr bwMode="auto">
            <a:xfrm flipH="1">
              <a:off x="7696200" y="5181600"/>
              <a:ext cx="10668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0529" name="Line 26"/>
            <p:cNvSpPr>
              <a:spLocks noChangeShapeType="1"/>
            </p:cNvSpPr>
            <p:nvPr/>
          </p:nvSpPr>
          <p:spPr bwMode="auto">
            <a:xfrm flipH="1" flipV="1">
              <a:off x="4800600" y="2514600"/>
              <a:ext cx="219456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0530" name="Line 27"/>
            <p:cNvSpPr>
              <a:spLocks noChangeShapeType="1"/>
            </p:cNvSpPr>
            <p:nvPr/>
          </p:nvSpPr>
          <p:spPr bwMode="auto">
            <a:xfrm>
              <a:off x="4724400" y="2667000"/>
              <a:ext cx="2286000" cy="9906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0531" name="Line 28"/>
            <p:cNvSpPr>
              <a:spLocks noChangeShapeType="1"/>
            </p:cNvSpPr>
            <p:nvPr/>
          </p:nvSpPr>
          <p:spPr bwMode="auto">
            <a:xfrm flipV="1">
              <a:off x="7315200" y="2819400"/>
              <a:ext cx="0" cy="64008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0532" name="Line 29"/>
            <p:cNvSpPr>
              <a:spLocks noChangeShapeType="1"/>
            </p:cNvSpPr>
            <p:nvPr/>
          </p:nvSpPr>
          <p:spPr bwMode="auto">
            <a:xfrm flipV="1">
              <a:off x="4419600" y="2819400"/>
              <a:ext cx="0" cy="64008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0533" name="Line 31"/>
            <p:cNvSpPr>
              <a:spLocks noChangeShapeType="1"/>
            </p:cNvSpPr>
            <p:nvPr/>
          </p:nvSpPr>
          <p:spPr bwMode="auto">
            <a:xfrm flipV="1">
              <a:off x="4800600" y="2286000"/>
              <a:ext cx="219456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0486" name="Text Box 35"/>
            <p:cNvSpPr txBox="1">
              <a:spLocks noChangeArrowheads="1"/>
            </p:cNvSpPr>
            <p:nvPr/>
          </p:nvSpPr>
          <p:spPr bwMode="auto">
            <a:xfrm>
              <a:off x="3886200" y="1600200"/>
              <a:ext cx="1066800" cy="523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>
                  <a:latin typeface="Calibri" pitchFamily="34" charset="0"/>
                </a:rPr>
                <a:t>Kernel running</a:t>
              </a:r>
            </a:p>
          </p:txBody>
        </p:sp>
        <p:sp>
          <p:nvSpPr>
            <p:cNvPr id="20487" name="Text Box 36"/>
            <p:cNvSpPr txBox="1">
              <a:spLocks noChangeArrowheads="1"/>
            </p:cNvSpPr>
            <p:nvPr/>
          </p:nvSpPr>
          <p:spPr bwMode="auto">
            <a:xfrm>
              <a:off x="990600" y="1752600"/>
              <a:ext cx="10668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>
                  <a:latin typeface="Calibri" pitchFamily="34" charset="0"/>
                </a:rPr>
                <a:t>Zombie</a:t>
              </a:r>
            </a:p>
          </p:txBody>
        </p:sp>
        <p:sp>
          <p:nvSpPr>
            <p:cNvPr id="20488" name="Text Box 37"/>
            <p:cNvSpPr txBox="1">
              <a:spLocks noChangeArrowheads="1"/>
            </p:cNvSpPr>
            <p:nvPr/>
          </p:nvSpPr>
          <p:spPr bwMode="auto">
            <a:xfrm>
              <a:off x="914400" y="2971800"/>
              <a:ext cx="1066800" cy="523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>
                  <a:latin typeface="Calibri" pitchFamily="34" charset="0"/>
                </a:rPr>
                <a:t>Sleep in memory</a:t>
              </a:r>
            </a:p>
          </p:txBody>
        </p:sp>
        <p:sp>
          <p:nvSpPr>
            <p:cNvPr id="20489" name="Text Box 38"/>
            <p:cNvSpPr txBox="1">
              <a:spLocks noChangeArrowheads="1"/>
            </p:cNvSpPr>
            <p:nvPr/>
          </p:nvSpPr>
          <p:spPr bwMode="auto">
            <a:xfrm>
              <a:off x="6781800" y="1600200"/>
              <a:ext cx="1066800" cy="523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>
                  <a:latin typeface="Calibri" pitchFamily="34" charset="0"/>
                </a:rPr>
                <a:t>User running</a:t>
              </a:r>
            </a:p>
          </p:txBody>
        </p:sp>
        <p:sp>
          <p:nvSpPr>
            <p:cNvPr id="20490" name="Text Box 39"/>
            <p:cNvSpPr txBox="1">
              <a:spLocks noChangeArrowheads="1"/>
            </p:cNvSpPr>
            <p:nvPr/>
          </p:nvSpPr>
          <p:spPr bwMode="auto">
            <a:xfrm>
              <a:off x="3200400" y="3134380"/>
              <a:ext cx="1219200" cy="523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latin typeface="Calibri" pitchFamily="34" charset="0"/>
                </a:rPr>
                <a:t>Ready to run in memory</a:t>
              </a:r>
            </a:p>
          </p:txBody>
        </p:sp>
        <p:sp>
          <p:nvSpPr>
            <p:cNvPr id="20491" name="Text Box 40"/>
            <p:cNvSpPr txBox="1">
              <a:spLocks noChangeArrowheads="1"/>
            </p:cNvSpPr>
            <p:nvPr/>
          </p:nvSpPr>
          <p:spPr bwMode="auto">
            <a:xfrm>
              <a:off x="2476500" y="1981200"/>
              <a:ext cx="10668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>
                  <a:latin typeface="Calibri" pitchFamily="34" charset="0"/>
                </a:rPr>
                <a:t>Exit</a:t>
              </a:r>
            </a:p>
          </p:txBody>
        </p:sp>
        <p:sp>
          <p:nvSpPr>
            <p:cNvPr id="20492" name="Text Box 41"/>
            <p:cNvSpPr txBox="1">
              <a:spLocks noChangeArrowheads="1"/>
            </p:cNvSpPr>
            <p:nvPr/>
          </p:nvSpPr>
          <p:spPr bwMode="auto">
            <a:xfrm>
              <a:off x="7467600" y="3657600"/>
              <a:ext cx="12954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>
                  <a:latin typeface="Calibri" pitchFamily="34" charset="0"/>
                </a:rPr>
                <a:t>Preempted</a:t>
              </a:r>
            </a:p>
          </p:txBody>
        </p:sp>
        <p:sp>
          <p:nvSpPr>
            <p:cNvPr id="20493" name="Text Box 42"/>
            <p:cNvSpPr txBox="1">
              <a:spLocks noChangeArrowheads="1"/>
            </p:cNvSpPr>
            <p:nvPr/>
          </p:nvSpPr>
          <p:spPr bwMode="auto">
            <a:xfrm>
              <a:off x="990600" y="5496580"/>
              <a:ext cx="1066800" cy="523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latin typeface="Calibri" pitchFamily="34" charset="0"/>
                </a:rPr>
                <a:t>Sleep swapped</a:t>
              </a:r>
            </a:p>
          </p:txBody>
        </p:sp>
        <p:sp>
          <p:nvSpPr>
            <p:cNvPr id="20494" name="Text Box 43"/>
            <p:cNvSpPr txBox="1">
              <a:spLocks noChangeArrowheads="1"/>
            </p:cNvSpPr>
            <p:nvPr/>
          </p:nvSpPr>
          <p:spPr bwMode="auto">
            <a:xfrm>
              <a:off x="3733800" y="5486400"/>
              <a:ext cx="1371600" cy="523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>
                  <a:latin typeface="Calibri" pitchFamily="34" charset="0"/>
                </a:rPr>
                <a:t>Ready to run swapped</a:t>
              </a:r>
            </a:p>
          </p:txBody>
        </p:sp>
        <p:sp>
          <p:nvSpPr>
            <p:cNvPr id="20495" name="Text Box 44"/>
            <p:cNvSpPr txBox="1">
              <a:spLocks noChangeArrowheads="1"/>
            </p:cNvSpPr>
            <p:nvPr/>
          </p:nvSpPr>
          <p:spPr bwMode="auto">
            <a:xfrm>
              <a:off x="6781800" y="5486400"/>
              <a:ext cx="10668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>
                  <a:latin typeface="Calibri" pitchFamily="34" charset="0"/>
                </a:rPr>
                <a:t>Created </a:t>
              </a:r>
            </a:p>
          </p:txBody>
        </p:sp>
        <p:sp>
          <p:nvSpPr>
            <p:cNvPr id="20496" name="Text Box 45"/>
            <p:cNvSpPr txBox="1">
              <a:spLocks noChangeArrowheads="1"/>
            </p:cNvSpPr>
            <p:nvPr/>
          </p:nvSpPr>
          <p:spPr bwMode="auto">
            <a:xfrm>
              <a:off x="5029200" y="2514600"/>
              <a:ext cx="21336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System call interrupt</a:t>
              </a:r>
            </a:p>
          </p:txBody>
        </p:sp>
        <p:sp>
          <p:nvSpPr>
            <p:cNvPr id="20497" name="Text Box 46"/>
            <p:cNvSpPr txBox="1">
              <a:spLocks noChangeArrowheads="1"/>
            </p:cNvSpPr>
            <p:nvPr/>
          </p:nvSpPr>
          <p:spPr bwMode="auto">
            <a:xfrm>
              <a:off x="5364480" y="1981200"/>
              <a:ext cx="10668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>
                  <a:latin typeface="Calibri" pitchFamily="34" charset="0"/>
                </a:rPr>
                <a:t>Return</a:t>
              </a:r>
            </a:p>
          </p:txBody>
        </p:sp>
        <p:sp>
          <p:nvSpPr>
            <p:cNvPr id="20498" name="Text Box 47"/>
            <p:cNvSpPr txBox="1">
              <a:spLocks noChangeArrowheads="1"/>
            </p:cNvSpPr>
            <p:nvPr/>
          </p:nvSpPr>
          <p:spPr bwMode="auto">
            <a:xfrm>
              <a:off x="5029200" y="5181600"/>
              <a:ext cx="18288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Not enough memory</a:t>
              </a:r>
            </a:p>
          </p:txBody>
        </p:sp>
        <p:sp>
          <p:nvSpPr>
            <p:cNvPr id="20499" name="Text Box 48"/>
            <p:cNvSpPr txBox="1">
              <a:spLocks noChangeArrowheads="1"/>
            </p:cNvSpPr>
            <p:nvPr/>
          </p:nvSpPr>
          <p:spPr bwMode="auto">
            <a:xfrm>
              <a:off x="5715000" y="2895600"/>
              <a:ext cx="10668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Preempt</a:t>
              </a:r>
            </a:p>
          </p:txBody>
        </p:sp>
        <p:sp>
          <p:nvSpPr>
            <p:cNvPr id="20500" name="Text Box 50"/>
            <p:cNvSpPr txBox="1">
              <a:spLocks noChangeArrowheads="1"/>
            </p:cNvSpPr>
            <p:nvPr/>
          </p:nvSpPr>
          <p:spPr bwMode="auto">
            <a:xfrm>
              <a:off x="2438400" y="3810000"/>
              <a:ext cx="10668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wakeup</a:t>
              </a:r>
            </a:p>
          </p:txBody>
        </p:sp>
        <p:sp>
          <p:nvSpPr>
            <p:cNvPr id="20501" name="Text Box 51"/>
            <p:cNvSpPr txBox="1">
              <a:spLocks noChangeArrowheads="1"/>
            </p:cNvSpPr>
            <p:nvPr/>
          </p:nvSpPr>
          <p:spPr bwMode="auto">
            <a:xfrm>
              <a:off x="2478258" y="5172220"/>
              <a:ext cx="10668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>
                  <a:latin typeface="Calibri" pitchFamily="34" charset="0"/>
                </a:rPr>
                <a:t>wakeup</a:t>
              </a:r>
            </a:p>
          </p:txBody>
        </p:sp>
        <p:sp>
          <p:nvSpPr>
            <p:cNvPr id="20502" name="Text Box 52"/>
            <p:cNvSpPr txBox="1">
              <a:spLocks noChangeArrowheads="1"/>
            </p:cNvSpPr>
            <p:nvPr/>
          </p:nvSpPr>
          <p:spPr bwMode="auto">
            <a:xfrm>
              <a:off x="3200400" y="4343400"/>
              <a:ext cx="10668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Swap out</a:t>
              </a:r>
            </a:p>
          </p:txBody>
        </p:sp>
        <p:sp>
          <p:nvSpPr>
            <p:cNvPr id="20503" name="Text Box 53"/>
            <p:cNvSpPr txBox="1">
              <a:spLocks noChangeArrowheads="1"/>
            </p:cNvSpPr>
            <p:nvPr/>
          </p:nvSpPr>
          <p:spPr bwMode="auto">
            <a:xfrm>
              <a:off x="457200" y="4267200"/>
              <a:ext cx="10668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Swap out</a:t>
              </a:r>
            </a:p>
          </p:txBody>
        </p:sp>
        <p:sp>
          <p:nvSpPr>
            <p:cNvPr id="20504" name="Text Box 54"/>
            <p:cNvSpPr txBox="1">
              <a:spLocks noChangeArrowheads="1"/>
            </p:cNvSpPr>
            <p:nvPr/>
          </p:nvSpPr>
          <p:spPr bwMode="auto">
            <a:xfrm>
              <a:off x="5638800" y="4191000"/>
              <a:ext cx="15240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>
                  <a:latin typeface="Calibri" pitchFamily="34" charset="0"/>
                </a:rPr>
                <a:t>Enough memory</a:t>
              </a:r>
            </a:p>
          </p:txBody>
        </p:sp>
        <p:sp>
          <p:nvSpPr>
            <p:cNvPr id="20505" name="Text Box 55"/>
            <p:cNvSpPr txBox="1">
              <a:spLocks noChangeArrowheads="1"/>
            </p:cNvSpPr>
            <p:nvPr/>
          </p:nvSpPr>
          <p:spPr bwMode="auto">
            <a:xfrm>
              <a:off x="7696200" y="4876800"/>
              <a:ext cx="8382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Fork</a:t>
              </a:r>
            </a:p>
          </p:txBody>
        </p:sp>
        <p:sp>
          <p:nvSpPr>
            <p:cNvPr id="20506" name="Text Box 56"/>
            <p:cNvSpPr txBox="1">
              <a:spLocks noChangeArrowheads="1"/>
            </p:cNvSpPr>
            <p:nvPr/>
          </p:nvSpPr>
          <p:spPr bwMode="auto">
            <a:xfrm>
              <a:off x="7315200" y="3048000"/>
              <a:ext cx="16002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Return to user</a:t>
              </a:r>
            </a:p>
          </p:txBody>
        </p:sp>
        <p:sp>
          <p:nvSpPr>
            <p:cNvPr id="20507" name="Text Box 58"/>
            <p:cNvSpPr txBox="1">
              <a:spLocks noChangeArrowheads="1"/>
            </p:cNvSpPr>
            <p:nvPr/>
          </p:nvSpPr>
          <p:spPr bwMode="auto">
            <a:xfrm>
              <a:off x="4572000" y="4419600"/>
              <a:ext cx="10668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>
                  <a:latin typeface="Calibri" pitchFamily="34" charset="0"/>
                </a:rPr>
                <a:t>Swap in</a:t>
              </a:r>
            </a:p>
          </p:txBody>
        </p:sp>
        <p:sp>
          <p:nvSpPr>
            <p:cNvPr id="20508" name="Text Box 59"/>
            <p:cNvSpPr txBox="1">
              <a:spLocks noChangeArrowheads="1"/>
            </p:cNvSpPr>
            <p:nvPr/>
          </p:nvSpPr>
          <p:spPr bwMode="auto">
            <a:xfrm>
              <a:off x="2123049" y="2752580"/>
              <a:ext cx="10668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400" dirty="0">
                  <a:latin typeface="Calibri" pitchFamily="34" charset="0"/>
                </a:rPr>
                <a:t>Sleep</a:t>
              </a:r>
            </a:p>
          </p:txBody>
        </p:sp>
        <p:sp>
          <p:nvSpPr>
            <p:cNvPr id="20512" name="Oval 7"/>
            <p:cNvSpPr>
              <a:spLocks noChangeArrowheads="1"/>
            </p:cNvSpPr>
            <p:nvPr/>
          </p:nvSpPr>
          <p:spPr bwMode="auto">
            <a:xfrm>
              <a:off x="4114800" y="3505200"/>
              <a:ext cx="609600" cy="6096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b="1">
                  <a:latin typeface="Calibri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6238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Unix Process State Transition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Nine process states are recognized by the Unix System V operating system</a:t>
            </a:r>
          </a:p>
          <a:p>
            <a:r>
              <a:rPr lang="en-US"/>
              <a:t>Unix employ two running states to indicate weather the process is executing in user mode or kernel mode</a:t>
            </a:r>
          </a:p>
          <a:p>
            <a:r>
              <a:rPr lang="en-US"/>
              <a:t>Unix process states are;</a:t>
            </a:r>
          </a:p>
          <a:p>
            <a:pPr lvl="1"/>
            <a:r>
              <a:rPr lang="en-US"/>
              <a:t>User running</a:t>
            </a:r>
          </a:p>
          <a:p>
            <a:pPr lvl="2"/>
            <a:r>
              <a:rPr lang="en-US"/>
              <a:t>Executing in user mode</a:t>
            </a:r>
          </a:p>
          <a:p>
            <a:pPr lvl="1"/>
            <a:r>
              <a:rPr lang="en-US"/>
              <a:t>Kernel running</a:t>
            </a:r>
          </a:p>
          <a:p>
            <a:pPr lvl="2"/>
            <a:r>
              <a:rPr lang="en-US"/>
              <a:t>Executing in kernel mode</a:t>
            </a:r>
          </a:p>
          <a:p>
            <a:pPr lvl="1"/>
            <a:r>
              <a:rPr lang="en-US"/>
              <a:t>Ready to run (in memory)</a:t>
            </a:r>
          </a:p>
          <a:p>
            <a:pPr lvl="2"/>
            <a:r>
              <a:rPr lang="en-US"/>
              <a:t>Ready to run as soon as kernel schedules it</a:t>
            </a:r>
          </a:p>
          <a:p>
            <a:pPr lvl="1"/>
            <a:r>
              <a:rPr lang="en-US"/>
              <a:t>Sleeping in memory</a:t>
            </a:r>
          </a:p>
          <a:p>
            <a:pPr lvl="2"/>
            <a:r>
              <a:rPr lang="en-US"/>
              <a:t>Unable to run until an event occurs</a:t>
            </a:r>
          </a:p>
          <a:p>
            <a:pPr lvl="1"/>
            <a:r>
              <a:rPr lang="en-US"/>
              <a:t>Ready to run (swapped)</a:t>
            </a:r>
          </a:p>
          <a:p>
            <a:pPr lvl="2"/>
            <a:r>
              <a:rPr lang="en-US"/>
              <a:t>The swapper must swap the process into memory before the kernel can schedules it to execute</a:t>
            </a:r>
          </a:p>
        </p:txBody>
      </p:sp>
    </p:spTree>
    <p:extLst>
      <p:ext uri="{BB962C8B-B14F-4D97-AF65-F5344CB8AC3E}">
        <p14:creationId xmlns:p14="http://schemas.microsoft.com/office/powerpoint/2010/main" val="15858110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Unix Process State Transition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lnSpcReduction="10000"/>
          </a:bodyPr>
          <a:lstStyle/>
          <a:p>
            <a:pPr lvl="1"/>
            <a:r>
              <a:rPr lang="en-US"/>
              <a:t>Sleeping (swapped)</a:t>
            </a:r>
          </a:p>
          <a:p>
            <a:pPr lvl="2"/>
            <a:r>
              <a:rPr lang="en-US"/>
              <a:t>The process is waiting for an event, swapped to a disk</a:t>
            </a:r>
          </a:p>
          <a:p>
            <a:pPr lvl="1"/>
            <a:r>
              <a:rPr lang="en-US"/>
              <a:t>Preempted</a:t>
            </a:r>
          </a:p>
          <a:p>
            <a:pPr lvl="2"/>
            <a:r>
              <a:rPr lang="en-US"/>
              <a:t>Process is returning from kernel to user mode, but the kernel preempts it and does a context switch to schedule another process</a:t>
            </a:r>
          </a:p>
          <a:p>
            <a:pPr lvl="1"/>
            <a:r>
              <a:rPr lang="en-US"/>
              <a:t>Created</a:t>
            </a:r>
          </a:p>
          <a:p>
            <a:pPr lvl="2"/>
            <a:r>
              <a:rPr lang="en-US"/>
              <a:t>Process is newly created and not yet ready to run</a:t>
            </a:r>
          </a:p>
          <a:p>
            <a:pPr lvl="1"/>
            <a:r>
              <a:rPr lang="en-US"/>
              <a:t>Zombie</a:t>
            </a:r>
          </a:p>
          <a:p>
            <a:pPr lvl="2"/>
            <a:r>
              <a:rPr lang="en-US"/>
              <a:t>Process no longer exist, but it leaves a record for its parent process</a:t>
            </a:r>
          </a:p>
          <a:p>
            <a:r>
              <a:rPr lang="en-US"/>
              <a:t>A distinction is made between two states; ready to run, in memory and preempted</a:t>
            </a:r>
          </a:p>
          <a:p>
            <a:pPr lvl="1"/>
            <a:r>
              <a:rPr lang="en-US"/>
              <a:t>These are essentially the same states as indicated by the dotted line</a:t>
            </a:r>
          </a:p>
          <a:p>
            <a:pPr lvl="1"/>
            <a:r>
              <a:rPr lang="en-US"/>
              <a:t>Preemption can occur when a process is about to move from kernel mode to user mode</a:t>
            </a:r>
          </a:p>
        </p:txBody>
      </p:sp>
    </p:spTree>
    <p:extLst>
      <p:ext uri="{BB962C8B-B14F-4D97-AF65-F5344CB8AC3E}">
        <p14:creationId xmlns:p14="http://schemas.microsoft.com/office/powerpoint/2010/main" val="5078562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9579</TotalTime>
  <Words>2911</Words>
  <Application>Microsoft Office PowerPoint</Application>
  <PresentationFormat>Widescreen</PresentationFormat>
  <Paragraphs>401</Paragraphs>
  <Slides>43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5" baseType="lpstr">
      <vt:lpstr>Arial</vt:lpstr>
      <vt:lpstr>Calibri</vt:lpstr>
      <vt:lpstr>Calibri Light</vt:lpstr>
      <vt:lpstr>Century Gothic</vt:lpstr>
      <vt:lpstr>Corbel</vt:lpstr>
      <vt:lpstr>Courier New</vt:lpstr>
      <vt:lpstr>Segoe UI</vt:lpstr>
      <vt:lpstr>Segoe UI Light</vt:lpstr>
      <vt:lpstr>Times New Roman</vt:lpstr>
      <vt:lpstr>Wingdings</vt:lpstr>
      <vt:lpstr>1_Office Theme</vt:lpstr>
      <vt:lpstr>Office Theme</vt:lpstr>
      <vt:lpstr>Process Concept Module 3</vt:lpstr>
      <vt:lpstr>Chapter Outline</vt:lpstr>
      <vt:lpstr>Process Concept</vt:lpstr>
      <vt:lpstr>Program vs Process</vt:lpstr>
      <vt:lpstr>Process Concept</vt:lpstr>
      <vt:lpstr>Process Concept</vt:lpstr>
      <vt:lpstr>Process Control Block (PCB)</vt:lpstr>
      <vt:lpstr>Process Control Block (PCB)</vt:lpstr>
      <vt:lpstr>Process Control Block (PCB)</vt:lpstr>
      <vt:lpstr>Process Table</vt:lpstr>
      <vt:lpstr>The Shell</vt:lpstr>
      <vt:lpstr>The Shell</vt:lpstr>
      <vt:lpstr>Operations on Process</vt:lpstr>
      <vt:lpstr>Process Creation &amp; Termination</vt:lpstr>
      <vt:lpstr>Process Creation &amp; Termination</vt:lpstr>
      <vt:lpstr>Process Creation &amp; Termination</vt:lpstr>
      <vt:lpstr>Reasons for Process Creation</vt:lpstr>
      <vt:lpstr>Reasons for Process Termination</vt:lpstr>
      <vt:lpstr>Reasons for Process Termination</vt:lpstr>
      <vt:lpstr>Reasons for Process Termination</vt:lpstr>
      <vt:lpstr>Reasons for Process Termination</vt:lpstr>
      <vt:lpstr>Reasons for Process Termination</vt:lpstr>
      <vt:lpstr>Process States</vt:lpstr>
      <vt:lpstr>Process States</vt:lpstr>
      <vt:lpstr>Process State Transitions</vt:lpstr>
      <vt:lpstr>Process State Transitions</vt:lpstr>
      <vt:lpstr>Process Scheduling</vt:lpstr>
      <vt:lpstr>Process Scheduling: Ready and Wait Queues</vt:lpstr>
      <vt:lpstr>Process Scheduling Representation</vt:lpstr>
      <vt:lpstr>Context Switch</vt:lpstr>
      <vt:lpstr>Context Switch</vt:lpstr>
      <vt:lpstr>Context Switch</vt:lpstr>
      <vt:lpstr>Process Life Cycle</vt:lpstr>
      <vt:lpstr>Process Life Cycle</vt:lpstr>
      <vt:lpstr>Process Life Cycle</vt:lpstr>
      <vt:lpstr>Process Life Cycle</vt:lpstr>
      <vt:lpstr>Five State Process Model</vt:lpstr>
      <vt:lpstr>Five State Process Model</vt:lpstr>
      <vt:lpstr>Five State Process Model</vt:lpstr>
      <vt:lpstr>Five State Process Model</vt:lpstr>
      <vt:lpstr>Unix Process State Transition</vt:lpstr>
      <vt:lpstr>Unix Process State Transition</vt:lpstr>
      <vt:lpstr>Unix Process State Transition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Motivation &amp; Background Chapter 1</dc:title>
  <dc:creator>Sheheryar Malik</dc:creator>
  <cp:lastModifiedBy>LENOVO</cp:lastModifiedBy>
  <cp:revision>826</cp:revision>
  <cp:lastPrinted>2019-05-17T05:34:39Z</cp:lastPrinted>
  <dcterms:created xsi:type="dcterms:W3CDTF">2019-04-13T12:57:47Z</dcterms:created>
  <dcterms:modified xsi:type="dcterms:W3CDTF">2025-10-20T08:54:48Z</dcterms:modified>
</cp:coreProperties>
</file>