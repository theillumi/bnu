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30"/>
  </p:notesMasterIdLst>
  <p:handoutMasterIdLst>
    <p:handoutMasterId r:id="rId31"/>
  </p:handoutMasterIdLst>
  <p:sldIdLst>
    <p:sldId id="310" r:id="rId3"/>
    <p:sldId id="272" r:id="rId4"/>
    <p:sldId id="273" r:id="rId5"/>
    <p:sldId id="274" r:id="rId6"/>
    <p:sldId id="275" r:id="rId7"/>
    <p:sldId id="276" r:id="rId8"/>
    <p:sldId id="311" r:id="rId9"/>
    <p:sldId id="277" r:id="rId10"/>
    <p:sldId id="278" r:id="rId11"/>
    <p:sldId id="279" r:id="rId12"/>
    <p:sldId id="280" r:id="rId13"/>
    <p:sldId id="281" r:id="rId14"/>
    <p:sldId id="282" r:id="rId15"/>
    <p:sldId id="593" r:id="rId16"/>
    <p:sldId id="284" r:id="rId17"/>
    <p:sldId id="285" r:id="rId18"/>
    <p:sldId id="286" r:id="rId19"/>
    <p:sldId id="287" r:id="rId20"/>
    <p:sldId id="308" r:id="rId21"/>
    <p:sldId id="289" r:id="rId22"/>
    <p:sldId id="309" r:id="rId23"/>
    <p:sldId id="291" r:id="rId24"/>
    <p:sldId id="592" r:id="rId25"/>
    <p:sldId id="296" r:id="rId26"/>
    <p:sldId id="594" r:id="rId27"/>
    <p:sldId id="297" r:id="rId28"/>
    <p:sldId id="595" r:id="rId2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  <a:srgbClr val="F7F7F7"/>
    <a:srgbClr val="FBFBFB"/>
    <a:srgbClr val="7E0000"/>
    <a:srgbClr val="FFCCCC"/>
    <a:srgbClr val="A20000"/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4" autoAdjust="0"/>
    <p:restoredTop sz="94249" autoAdjust="0"/>
  </p:normalViewPr>
  <p:slideViewPr>
    <p:cSldViewPr snapToGrid="0">
      <p:cViewPr varScale="1">
        <p:scale>
          <a:sx n="73" d="100"/>
          <a:sy n="73" d="100"/>
        </p:scale>
        <p:origin x="708" y="78"/>
      </p:cViewPr>
      <p:guideLst/>
    </p:cSldViewPr>
  </p:slideViewPr>
  <p:outlineViewPr>
    <p:cViewPr>
      <p:scale>
        <a:sx n="33" d="100"/>
        <a:sy n="33" d="100"/>
      </p:scale>
      <p:origin x="0" y="-1832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948"/>
    </p:cViewPr>
  </p:sorterViewPr>
  <p:notesViewPr>
    <p:cSldViewPr snapToGrid="0">
      <p:cViewPr varScale="1">
        <p:scale>
          <a:sx n="54" d="100"/>
          <a:sy n="54" d="100"/>
        </p:scale>
        <p:origin x="287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4568119-97DA-4755-80E5-0CBC59FDB560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6758417-41DD-44E2-8136-3065CD04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37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4ED76A6-DAA4-487B-9CC3-38265A477E1E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CD191-96E2-491B-92DD-AC75CE7DA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34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7F44B-0869-4E0B-9D14-E05949FF70E1}"/>
              </a:ext>
            </a:extLst>
          </p:cNvPr>
          <p:cNvCxnSpPr/>
          <p:nvPr/>
        </p:nvCxnSpPr>
        <p:spPr>
          <a:xfrm>
            <a:off x="10669815" y="-2963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7D2442-658D-4BB3-BDA2-F2D185E92367}"/>
              </a:ext>
            </a:extLst>
          </p:cNvPr>
          <p:cNvCxnSpPr>
            <a:cxnSpLocks/>
          </p:cNvCxnSpPr>
          <p:nvPr/>
        </p:nvCxnSpPr>
        <p:spPr>
          <a:xfrm flipH="1">
            <a:off x="9980612" y="3692843"/>
            <a:ext cx="2208213" cy="316515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8">
            <a:extLst>
              <a:ext uri="{FF2B5EF4-FFF2-40B4-BE49-F238E27FC236}">
                <a16:creationId xmlns:a16="http://schemas.microsoft.com/office/drawing/2014/main" id="{49F2F0DD-6C19-4F59-8AA1-E4FB554C837E}"/>
              </a:ext>
            </a:extLst>
          </p:cNvPr>
          <p:cNvSpPr/>
          <p:nvPr/>
        </p:nvSpPr>
        <p:spPr>
          <a:xfrm>
            <a:off x="10898730" y="2963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7FF1F6D6-FC9F-4600-897C-08B1AC898438}"/>
              </a:ext>
            </a:extLst>
          </p:cNvPr>
          <p:cNvSpPr/>
          <p:nvPr/>
        </p:nvSpPr>
        <p:spPr>
          <a:xfrm>
            <a:off x="10938999" y="2963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8B78111-75F2-4EEA-9A56-7D7C5B867C34}"/>
              </a:ext>
            </a:extLst>
          </p:cNvPr>
          <p:cNvSpPr/>
          <p:nvPr/>
        </p:nvSpPr>
        <p:spPr>
          <a:xfrm>
            <a:off x="10371666" y="360129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5D00097-3B25-4093-8399-53FC9EDB415E}"/>
              </a:ext>
            </a:extLst>
          </p:cNvPr>
          <p:cNvSpPr/>
          <p:nvPr/>
        </p:nvSpPr>
        <p:spPr>
          <a:xfrm>
            <a:off x="2792" y="1185757"/>
            <a:ext cx="1005840" cy="5669280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2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78D857C9-565A-47AB-A6D8-2A2B3D87D9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8DAD96D6-5B9C-4DBD-8B54-B9DBB8C433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B60C4-6E75-4231-81D0-064636C0F587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02C899-A8CF-4D04-BCAF-8F79500D2F0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6FA3A-3D2E-4D3A-90EC-A647392A50BF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chemeClr val="bg1">
              <a:lumMod val="6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CD2D5-50F6-4000-BEB5-02DF9B6CB908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45F37-B01C-4AA2-9A56-942AB7EABC53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903324D6-3C92-4C64-A666-E130E68D8E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Virtual Memory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56FD98-E169-4DCB-B5F9-EF9767B1769F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4346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71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6">
                  <a:lumMod val="60000"/>
                  <a:lumOff val="40000"/>
                </a:schemeClr>
              </a:buClr>
              <a:buSzPct val="80000"/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32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4155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4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89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0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866FE-4B4F-48A8-8721-20B757069001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7668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549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4CF745-6EDB-4208-9010-31248509EE22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F86697-F896-4D6D-B84C-552DCABE6614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AC2689-2A9F-49ED-8241-1986025505EB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7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161B3-54A1-413C-B8D2-465092B984D1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7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3541D6-CFE7-41C6-807C-A510B50B5BA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8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4DA443-4C90-4E74-B571-AFB4D58D5ED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6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8" r:id="rId2"/>
    <p:sldLayoutId id="2147483651" r:id="rId3"/>
    <p:sldLayoutId id="2147483687" r:id="rId4"/>
    <p:sldLayoutId id="2147483689" r:id="rId5"/>
    <p:sldLayoutId id="2147483678" r:id="rId6"/>
    <p:sldLayoutId id="2147483680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32BD0-7330-4272-82E9-A9CAB20CD102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3FDDCFB-A997-46E6-9FFD-8AC263D63C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A08B1F5C-5B67-496D-B135-CA249522C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Virtual Memory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4C31F2D-428B-47CA-9119-8DB7D4F93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099F0-5000-4B34-AE00-C6337EDD41FC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2BACF0-A96E-4FB3-B6C9-76FE7A86508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C4C5F-7E26-4B82-AA28-5D45B051DE80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rgbClr val="696464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59286-E1E1-4CC2-B85D-A7D0405C2BC7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B4EA7D-FB77-4453-8980-E49CD0EF492E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rgbClr val="002060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37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Virtual Memory</a:t>
            </a:r>
            <a:r>
              <a:rPr lang="en-US"/>
              <a:t/>
            </a:r>
            <a:br>
              <a:rPr lang="en-US"/>
            </a:br>
            <a:r>
              <a:rPr lang="en-US" sz="3600" b="1">
                <a:solidFill>
                  <a:schemeClr val="tx1"/>
                </a:solidFill>
              </a:rPr>
              <a:t>Module </a:t>
            </a:r>
            <a:r>
              <a:rPr lang="en-US" sz="3600" b="1" dirty="0">
                <a:solidFill>
                  <a:schemeClr val="tx1"/>
                </a:solidFill>
              </a:rPr>
              <a:t>6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Operating Systems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 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36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Chapter Outline</a:t>
            </a:r>
            <a:endParaRPr lang="en-US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Virtual memory</a:t>
            </a:r>
          </a:p>
          <a:p>
            <a:pPr lvl="1"/>
            <a:r>
              <a:rPr lang="en-US" dirty="0"/>
              <a:t>Mechanism of virtual memory</a:t>
            </a:r>
          </a:p>
          <a:p>
            <a:pPr lvl="1"/>
            <a:r>
              <a:rPr lang="en-US" dirty="0"/>
              <a:t>Address translation</a:t>
            </a:r>
          </a:p>
          <a:p>
            <a:pPr lvl="1"/>
            <a:r>
              <a:rPr lang="en-US" dirty="0"/>
              <a:t>Page fault </a:t>
            </a:r>
          </a:p>
          <a:p>
            <a:r>
              <a:rPr lang="en-US" dirty="0"/>
              <a:t>Page replacement</a:t>
            </a:r>
          </a:p>
          <a:p>
            <a:r>
              <a:rPr lang="en-US" dirty="0"/>
              <a:t>Page replacement algorithm</a:t>
            </a:r>
          </a:p>
          <a:p>
            <a:pPr lvl="1"/>
            <a:r>
              <a:rPr lang="en-US" dirty="0" smtClean="0"/>
              <a:t>FIFO</a:t>
            </a:r>
            <a:endParaRPr lang="en-US" dirty="0"/>
          </a:p>
          <a:p>
            <a:pPr lvl="1"/>
            <a:r>
              <a:rPr lang="en-US" dirty="0"/>
              <a:t>Optimal LRU</a:t>
            </a:r>
          </a:p>
          <a:p>
            <a:pPr lvl="1"/>
            <a:r>
              <a:rPr lang="en-US" dirty="0"/>
              <a:t>Random page replacement</a:t>
            </a:r>
          </a:p>
          <a:p>
            <a:pPr lvl="1"/>
            <a:r>
              <a:rPr lang="en-US" dirty="0"/>
              <a:t>Least frequently used</a:t>
            </a:r>
          </a:p>
          <a:p>
            <a:pPr lvl="1"/>
            <a:r>
              <a:rPr lang="en-US" dirty="0"/>
              <a:t>Most frequently used</a:t>
            </a:r>
          </a:p>
          <a:p>
            <a:pPr lvl="1"/>
            <a:r>
              <a:rPr lang="en-US" dirty="0"/>
              <a:t>Non-used recently page replacement algorithm</a:t>
            </a:r>
          </a:p>
          <a:p>
            <a:r>
              <a:rPr lang="en-US" dirty="0"/>
              <a:t>Paging Mechanism</a:t>
            </a:r>
          </a:p>
          <a:p>
            <a:r>
              <a:rPr lang="en-US" dirty="0"/>
              <a:t>Additional </a:t>
            </a:r>
            <a:r>
              <a:rPr lang="en-US" dirty="0" smtClean="0"/>
              <a:t>techniques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900"/>
              <a:t>Why we need virtual memory</a:t>
            </a:r>
          </a:p>
          <a:p>
            <a:pPr lvl="1"/>
            <a:r>
              <a:rPr lang="en-US" sz="2500"/>
              <a:t>The program size may exceed the amount of physical memory</a:t>
            </a:r>
          </a:p>
          <a:p>
            <a:pPr lvl="1"/>
            <a:r>
              <a:rPr lang="en-US" sz="2500"/>
              <a:t>The OS keeps those parts of the program currently in use in main memory and the rest on disk</a:t>
            </a:r>
          </a:p>
          <a:p>
            <a:pPr lvl="1"/>
            <a:r>
              <a:rPr lang="en-US" sz="2500"/>
              <a:t>The piece of the program being swapped between disk and memory as needed</a:t>
            </a:r>
          </a:p>
          <a:p>
            <a:pPr lvl="1"/>
            <a:r>
              <a:rPr lang="en-US" sz="2500"/>
              <a:t>Virtual memory can also work in a multiprogramming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Virtual Memory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 technique that allows execution of a process without having to allocate it the memory space it needs, completely</a:t>
            </a:r>
          </a:p>
          <a:p>
            <a:r>
              <a:rPr lang="en-US" dirty="0"/>
              <a:t>It gives the idea that large memory is available at programmer’s disposal even computer has relatively small main memory</a:t>
            </a:r>
          </a:p>
          <a:p>
            <a:r>
              <a:rPr lang="en-US" dirty="0"/>
              <a:t>A program can be written assuming large address space is available</a:t>
            </a:r>
          </a:p>
          <a:p>
            <a:r>
              <a:rPr lang="en-US" dirty="0"/>
              <a:t>That is the virtual address space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&gt;&gt;</a:t>
            </a:r>
            <a:r>
              <a:rPr lang="en-US" dirty="0"/>
              <a:t> physical address space</a:t>
            </a:r>
          </a:p>
          <a:p>
            <a:r>
              <a:rPr lang="en-US" dirty="0"/>
              <a:t>The entire logical address space of a process must be in physical memory before the process can execute</a:t>
            </a:r>
          </a:p>
          <a:p>
            <a:r>
              <a:rPr lang="en-US" dirty="0"/>
              <a:t>First Implemented in Intel 80386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Virtual Memory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Advantages of virtual memory:</a:t>
            </a:r>
          </a:p>
          <a:p>
            <a:pPr lvl="1"/>
            <a:r>
              <a:rPr lang="en-US" dirty="0"/>
              <a:t>Programs can be larger than the size of the physical memory</a:t>
            </a:r>
          </a:p>
          <a:p>
            <a:pPr lvl="2"/>
            <a:r>
              <a:rPr lang="en-US" dirty="0"/>
              <a:t>Virtual memory accommodates them</a:t>
            </a:r>
          </a:p>
          <a:p>
            <a:pPr lvl="1"/>
            <a:r>
              <a:rPr lang="en-US" dirty="0"/>
              <a:t>Virtual memory provides a logical view of memory which is larger than its physical size</a:t>
            </a:r>
          </a:p>
          <a:p>
            <a:r>
              <a:rPr lang="en-US" dirty="0"/>
              <a:t>Virtual memory is not easy to implement</a:t>
            </a:r>
          </a:p>
          <a:p>
            <a:r>
              <a:rPr lang="en-US" dirty="0"/>
              <a:t>May substantially decrease performance if it is used carelessly</a:t>
            </a:r>
          </a:p>
          <a:p>
            <a:r>
              <a:rPr lang="en-US" dirty="0"/>
              <a:t>Virtual memory can be implemented via:</a:t>
            </a:r>
          </a:p>
          <a:p>
            <a:pPr lvl="1"/>
            <a:r>
              <a:rPr lang="en-US" dirty="0"/>
              <a:t>Paging </a:t>
            </a:r>
          </a:p>
          <a:p>
            <a:pPr lvl="1"/>
            <a:r>
              <a:rPr lang="en-US" dirty="0"/>
              <a:t>Segmentation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Virtual Memory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Demand Paging</a:t>
            </a:r>
          </a:p>
          <a:p>
            <a:pPr lvl="1"/>
            <a:r>
              <a:rPr lang="en-US" dirty="0"/>
              <a:t>In demand paging, bring a page into main memory only when it is needed</a:t>
            </a:r>
          </a:p>
          <a:p>
            <a:pPr lvl="2"/>
            <a:r>
              <a:rPr lang="en-US" dirty="0"/>
              <a:t>Less I/O needed</a:t>
            </a:r>
          </a:p>
          <a:p>
            <a:pPr lvl="2"/>
            <a:r>
              <a:rPr lang="en-US" dirty="0"/>
              <a:t>Less memory needed</a:t>
            </a:r>
          </a:p>
          <a:p>
            <a:pPr lvl="2"/>
            <a:r>
              <a:rPr lang="en-US" dirty="0"/>
              <a:t>Faster response</a:t>
            </a:r>
          </a:p>
          <a:p>
            <a:pPr lvl="2"/>
            <a:r>
              <a:rPr lang="en-US" dirty="0"/>
              <a:t>More users</a:t>
            </a:r>
          </a:p>
          <a:p>
            <a:pPr lvl="1"/>
            <a:r>
              <a:rPr lang="en-US" dirty="0"/>
              <a:t>Page is needed </a:t>
            </a:r>
            <a:r>
              <a:rPr lang="en-US" dirty="0">
                <a:sym typeface="Wingdings" pitchFamily="2" charset="2"/>
              </a:rPr>
              <a:t> reference to it</a:t>
            </a:r>
          </a:p>
          <a:p>
            <a:pPr lvl="2"/>
            <a:r>
              <a:rPr lang="en-US" dirty="0">
                <a:sym typeface="Wingdings" pitchFamily="2" charset="2"/>
              </a:rPr>
              <a:t>Invalid reference  abort</a:t>
            </a:r>
          </a:p>
          <a:p>
            <a:pPr lvl="2"/>
            <a:r>
              <a:rPr lang="en-US" dirty="0">
                <a:sym typeface="Wingdings" pitchFamily="2" charset="2"/>
              </a:rPr>
              <a:t>Not in memory  bring to memory</a:t>
            </a:r>
          </a:p>
          <a:p>
            <a:pPr lvl="1"/>
            <a:r>
              <a:rPr lang="en-US" dirty="0"/>
              <a:t>It can also be implemented in a segmentation system</a:t>
            </a:r>
          </a:p>
          <a:p>
            <a:r>
              <a:rPr lang="en-US" dirty="0"/>
              <a:t>Demand Segmentation</a:t>
            </a:r>
          </a:p>
          <a:p>
            <a:pPr lvl="1"/>
            <a:r>
              <a:rPr lang="en-US" dirty="0"/>
              <a:t>Demand segmentation can also be used to provide virtual memory</a:t>
            </a:r>
          </a:p>
          <a:p>
            <a:pPr lvl="1"/>
            <a:r>
              <a:rPr lang="en-US" dirty="0"/>
              <a:t>Several systems provide paged segmentation scheme</a:t>
            </a:r>
          </a:p>
          <a:p>
            <a:pPr lvl="2"/>
            <a:r>
              <a:rPr lang="en-US" dirty="0"/>
              <a:t>Segments are broken into pages</a:t>
            </a:r>
          </a:p>
          <a:p>
            <a:pPr lvl="1"/>
            <a:r>
              <a:rPr lang="en-US" dirty="0"/>
              <a:t>The IBM OS/2 uses demand segmentation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E4C5-B9BE-488E-9216-A6F1D43F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E19DC-AA56-4E61-BE20-E1AFE15E93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Virtual Memory is Larger Than Physical Memory</a:t>
            </a:r>
          </a:p>
        </p:txBody>
      </p:sp>
      <p:pic>
        <p:nvPicPr>
          <p:cNvPr id="4" name="Picture 5" descr="9">
            <a:extLst>
              <a:ext uri="{FF2B5EF4-FFF2-40B4-BE49-F238E27FC236}">
                <a16:creationId xmlns:a16="http://schemas.microsoft.com/office/drawing/2014/main" id="{6A054CC6-8523-427D-9C19-1F374BFC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435" y="2164308"/>
            <a:ext cx="6225129" cy="4387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5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Mechanism of Virtual Memory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a new process is initiated, the system loader must load one page (start point) into real memory</a:t>
            </a:r>
          </a:p>
          <a:p>
            <a:r>
              <a:rPr lang="en-US" dirty="0"/>
              <a:t>Execution of the process will commence</a:t>
            </a:r>
          </a:p>
          <a:p>
            <a:r>
              <a:rPr lang="en-US" dirty="0"/>
              <a:t>This will continue as long as memory references generated by this page also within the same page</a:t>
            </a:r>
          </a:p>
          <a:p>
            <a:r>
              <a:rPr lang="en-US" dirty="0"/>
              <a:t>If the virtual address generated will reference a page which is not in real memory; this is termed as page fault, which generates an interrupt</a:t>
            </a:r>
          </a:p>
          <a:p>
            <a:r>
              <a:rPr lang="en-US" dirty="0"/>
              <a:t>The demand paging will be used, and system loader will load the next demanded page</a:t>
            </a:r>
          </a:p>
          <a:p>
            <a:r>
              <a:rPr lang="en-US" dirty="0"/>
              <a:t>Execution will proceed after requested page is loaded</a:t>
            </a:r>
          </a:p>
          <a:p>
            <a:r>
              <a:rPr lang="en-US" dirty="0"/>
              <a:t>By a series of page faults occurring in this way, a sub-set (resident set) of the pages of a process will gradually accumulate in real memory</a:t>
            </a:r>
          </a:p>
          <a:p>
            <a:r>
              <a:rPr lang="en-US" dirty="0"/>
              <a:t>When the process terminates the OS releases all pages belonging to that process, making room for other processes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Mechanism of Virtual Memory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Additional techniques</a:t>
            </a:r>
          </a:p>
          <a:p>
            <a:pPr lvl="1"/>
            <a:r>
              <a:rPr lang="en-US" dirty="0"/>
              <a:t>Hardware techniques to improve performance of virtual paged system</a:t>
            </a:r>
          </a:p>
          <a:p>
            <a:pPr lvl="2"/>
            <a:r>
              <a:rPr lang="en-US" dirty="0"/>
              <a:t>Translation look aside buffer (TLB)</a:t>
            </a:r>
          </a:p>
          <a:p>
            <a:pPr lvl="2"/>
            <a:r>
              <a:rPr lang="en-US" dirty="0"/>
              <a:t>Associative mapping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Translation Look Aside Buffer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131841"/>
            <a:ext cx="10515600" cy="493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TLB </a:t>
            </a:r>
            <a:r>
              <a:rPr lang="en-US" sz="2400" b="1" dirty="0"/>
              <a:t>(Translation Lookaside Buffer)</a:t>
            </a:r>
          </a:p>
          <a:p>
            <a:r>
              <a:rPr lang="en-US" sz="2000" b="1" dirty="0"/>
              <a:t>TLB</a:t>
            </a:r>
            <a:r>
              <a:rPr lang="en-US" sz="2000" dirty="0"/>
              <a:t> is a </a:t>
            </a:r>
            <a:r>
              <a:rPr lang="en-US" sz="2000" b="1" dirty="0"/>
              <a:t>small, fast cache</a:t>
            </a:r>
            <a:r>
              <a:rPr lang="en-US" sz="2000" dirty="0"/>
              <a:t> that stores </a:t>
            </a:r>
            <a:r>
              <a:rPr lang="en-US" sz="2000" b="1" dirty="0"/>
              <a:t>recent page table entries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Key Points</a:t>
            </a:r>
          </a:p>
          <a:p>
            <a:r>
              <a:rPr lang="en-US" sz="2000" dirty="0"/>
              <a:t>Stores </a:t>
            </a:r>
            <a:r>
              <a:rPr lang="en-US" sz="2000" b="1" dirty="0"/>
              <a:t>Virtual Page Number → Frame Number</a:t>
            </a:r>
            <a:endParaRPr lang="en-US" sz="2000" dirty="0"/>
          </a:p>
          <a:p>
            <a:r>
              <a:rPr lang="en-US" sz="2000" dirty="0"/>
              <a:t>Reduces </a:t>
            </a:r>
            <a:r>
              <a:rPr lang="en-US" sz="2000" b="1" dirty="0"/>
              <a:t>page table access time</a:t>
            </a:r>
            <a:endParaRPr lang="en-US" sz="2000" dirty="0"/>
          </a:p>
          <a:p>
            <a:r>
              <a:rPr lang="en-US" sz="2000" dirty="0"/>
              <a:t>Implemented using </a:t>
            </a:r>
            <a:r>
              <a:rPr lang="en-US" sz="2000" b="1" dirty="0"/>
              <a:t>associative memory</a:t>
            </a:r>
            <a:endParaRPr lang="en-US" sz="2000" dirty="0"/>
          </a:p>
          <a:p>
            <a:r>
              <a:rPr lang="en-US" sz="2000" dirty="0"/>
              <a:t>Part of the </a:t>
            </a:r>
            <a:r>
              <a:rPr lang="en-US" sz="2000" b="1" dirty="0"/>
              <a:t>MMU (Memory Management Unit)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In Virtual Memory</a:t>
            </a:r>
          </a:p>
          <a:p>
            <a:r>
              <a:rPr lang="en-US" sz="2000" dirty="0"/>
              <a:t>Speeds up </a:t>
            </a:r>
            <a:r>
              <a:rPr lang="en-US" sz="2000" b="1" dirty="0"/>
              <a:t>address translation</a:t>
            </a:r>
            <a:endParaRPr lang="en-US" sz="2000" dirty="0"/>
          </a:p>
          <a:p>
            <a:r>
              <a:rPr lang="en-US" sz="2000" dirty="0"/>
              <a:t>Avoids accessing main memory page table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64378" y="5422636"/>
            <a:ext cx="95489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Associative Memory</a:t>
            </a:r>
            <a:r>
              <a:rPr lang="en-US" dirty="0"/>
              <a:t> is a </a:t>
            </a:r>
            <a:r>
              <a:rPr lang="en-US" b="1" dirty="0"/>
              <a:t>hardware concept</a:t>
            </a:r>
            <a:r>
              <a:rPr lang="en-US" dirty="0"/>
              <a:t> for fast searching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TLB</a:t>
            </a:r>
            <a:r>
              <a:rPr lang="en-US" dirty="0"/>
              <a:t> is an </a:t>
            </a:r>
            <a:r>
              <a:rPr lang="en-US" b="1" dirty="0"/>
              <a:t>OS structure</a:t>
            </a:r>
            <a:r>
              <a:rPr lang="en-US" dirty="0"/>
              <a:t> that uses associative memory to speed up </a:t>
            </a:r>
            <a:r>
              <a:rPr lang="en-US" b="1" dirty="0"/>
              <a:t>address translation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Translation Look Aside Buffer</a:t>
            </a:r>
          </a:p>
        </p:txBody>
      </p:sp>
      <p:pic>
        <p:nvPicPr>
          <p:cNvPr id="2140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364" t="1157" r="1537" b="1157"/>
          <a:stretch>
            <a:fillRect/>
          </a:stretch>
        </p:blipFill>
        <p:spPr>
          <a:xfrm>
            <a:off x="2869170" y="1473603"/>
            <a:ext cx="6453660" cy="4839374"/>
          </a:xfrm>
          <a:noFill/>
          <a:ln w="57150" cmpd="thickThin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Associative Mapping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79589"/>
            <a:ext cx="10515600" cy="49371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Associative Memory</a:t>
            </a:r>
            <a:r>
              <a:rPr lang="en-US" sz="2400" dirty="0"/>
              <a:t> is a </a:t>
            </a:r>
            <a:r>
              <a:rPr lang="en-US" sz="2400" b="1" dirty="0"/>
              <a:t>hardware memory type</a:t>
            </a:r>
            <a:r>
              <a:rPr lang="en-US" sz="2400" dirty="0"/>
              <a:t> that is accessed by </a:t>
            </a:r>
            <a:r>
              <a:rPr lang="en-US" sz="2400" b="1" dirty="0"/>
              <a:t>content rather than address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Key Points</a:t>
            </a:r>
          </a:p>
          <a:p>
            <a:r>
              <a:rPr lang="en-US" sz="2000" dirty="0"/>
              <a:t>Searches </a:t>
            </a:r>
            <a:r>
              <a:rPr lang="en-US" sz="2000" b="1" dirty="0"/>
              <a:t>all entries in parallel</a:t>
            </a:r>
            <a:endParaRPr lang="en-US" sz="2000" dirty="0"/>
          </a:p>
          <a:p>
            <a:r>
              <a:rPr lang="en-US" sz="2000" dirty="0"/>
              <a:t>Returns a match based on </a:t>
            </a:r>
            <a:r>
              <a:rPr lang="en-US" sz="2000" b="1" dirty="0"/>
              <a:t>content</a:t>
            </a:r>
            <a:endParaRPr lang="en-US" sz="2000" dirty="0"/>
          </a:p>
          <a:p>
            <a:r>
              <a:rPr lang="en-US" sz="2000" dirty="0"/>
              <a:t>Very </a:t>
            </a:r>
            <a:r>
              <a:rPr lang="en-US" sz="2000" b="1" dirty="0"/>
              <a:t>fast</a:t>
            </a:r>
            <a:r>
              <a:rPr lang="en-US" sz="2000" dirty="0"/>
              <a:t>, but </a:t>
            </a:r>
            <a:r>
              <a:rPr lang="en-US" sz="2000" b="1" dirty="0"/>
              <a:t>expensive</a:t>
            </a:r>
            <a:endParaRPr lang="en-US" sz="2000" dirty="0"/>
          </a:p>
          <a:p>
            <a:r>
              <a:rPr lang="en-US" sz="2000" dirty="0"/>
              <a:t>Used where </a:t>
            </a:r>
            <a:r>
              <a:rPr lang="en-US" sz="2000" b="1" dirty="0"/>
              <a:t>quick lookup</a:t>
            </a:r>
            <a:r>
              <a:rPr lang="en-US" sz="2000" dirty="0"/>
              <a:t> is </a:t>
            </a:r>
            <a:r>
              <a:rPr lang="en-US" sz="2000" dirty="0" smtClean="0"/>
              <a:t>required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In Virtual Memory</a:t>
            </a:r>
          </a:p>
          <a:p>
            <a:r>
              <a:rPr lang="en-US" sz="2000" dirty="0"/>
              <a:t>Associative memory is the </a:t>
            </a:r>
            <a:r>
              <a:rPr lang="en-US" sz="2000" b="1" dirty="0"/>
              <a:t>technology</a:t>
            </a:r>
            <a:endParaRPr lang="en-US" sz="2000" dirty="0"/>
          </a:p>
          <a:p>
            <a:r>
              <a:rPr lang="en-US" sz="2000" dirty="0"/>
              <a:t>TLB is </a:t>
            </a:r>
            <a:r>
              <a:rPr lang="en-US" sz="2000" b="1" dirty="0"/>
              <a:t>implemented using associative </a:t>
            </a:r>
            <a:r>
              <a:rPr lang="en-US" sz="2000" b="1" dirty="0" smtClean="0"/>
              <a:t>memory</a:t>
            </a:r>
          </a:p>
          <a:p>
            <a:r>
              <a:rPr lang="en-US" sz="2400" b="1" dirty="0"/>
              <a:t>Example</a:t>
            </a:r>
          </a:p>
          <a:p>
            <a:r>
              <a:rPr lang="en-US" sz="2400" dirty="0"/>
              <a:t>If you search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/>
              <a:t>Virtual Page Number = </a:t>
            </a:r>
            <a:r>
              <a:rPr lang="en-US" sz="2400" dirty="0" smtClean="0"/>
              <a:t>5</a:t>
            </a:r>
          </a:p>
          <a:p>
            <a:pPr marL="0" indent="0">
              <a:buNone/>
            </a:pPr>
            <a:r>
              <a:rPr lang="en-US" sz="2400" dirty="0"/>
              <a:t>Associative memory compares </a:t>
            </a:r>
            <a:r>
              <a:rPr lang="en-US" sz="2400" b="1" dirty="0"/>
              <a:t>all stored page numbers simultaneously</a:t>
            </a:r>
            <a:r>
              <a:rPr lang="en-US" sz="2400" dirty="0"/>
              <a:t> and returns the matching frame.</a:t>
            </a:r>
          </a:p>
          <a:p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Page Fault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If the virtual address created a reference for a page which is not in real memory; it is termed as page fault</a:t>
            </a:r>
          </a:p>
          <a:p>
            <a:r>
              <a:rPr lang="en-US">
                <a:sym typeface="Symbol" pitchFamily="18" charset="2"/>
              </a:rPr>
              <a:t>Following measures should be done when a page fault occur</a:t>
            </a:r>
          </a:p>
          <a:p>
            <a:pPr lvl="1"/>
            <a:r>
              <a:rPr lang="en-US">
                <a:sym typeface="Symbol" pitchFamily="18" charset="2"/>
              </a:rPr>
              <a:t>Get empty frame</a:t>
            </a:r>
          </a:p>
          <a:p>
            <a:pPr lvl="1"/>
            <a:r>
              <a:rPr lang="en-US">
                <a:sym typeface="Symbol" pitchFamily="18" charset="2"/>
              </a:rPr>
              <a:t>Swap page into frame</a:t>
            </a:r>
          </a:p>
          <a:p>
            <a:pPr lvl="1"/>
            <a:r>
              <a:rPr lang="en-US">
                <a:sym typeface="Symbol" pitchFamily="18" charset="2"/>
              </a:rPr>
              <a:t>Reset tables, present or valid bit = 1</a:t>
            </a:r>
          </a:p>
          <a:p>
            <a:pPr lvl="1"/>
            <a:r>
              <a:rPr lang="en-US">
                <a:sym typeface="Symbol" pitchFamily="18" charset="2"/>
              </a:rPr>
              <a:t>Restart instruction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594C-B478-442B-9E34-CC265EAA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</p:txBody>
      </p:sp>
    </p:spTree>
    <p:extLst>
      <p:ext uri="{BB962C8B-B14F-4D97-AF65-F5344CB8AC3E}">
        <p14:creationId xmlns:p14="http://schemas.microsoft.com/office/powerpoint/2010/main" val="152180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 Replacement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600" dirty="0"/>
              <a:t>When a page fault occurs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The OS may have to remove a page from memory to make room for incoming page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If the page to be removed has been modified, it must be updated to disk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For better performance, at each page fault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Pick a random page from memory that is not heavily used and replace it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If a heavily used page is removed, it may have to brought back in quickly, resulting in extra overhead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Use modify (dirty) </a:t>
            </a:r>
            <a:r>
              <a:rPr lang="en-US" sz="2600" i="1" dirty="0"/>
              <a:t>bit</a:t>
            </a:r>
            <a:r>
              <a:rPr lang="en-US" sz="2600" dirty="0"/>
              <a:t> to reduce overhead of page transfers – only modified pages are written to disk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Page Replacement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Page replacement procedure</a:t>
            </a:r>
          </a:p>
          <a:p>
            <a:pPr lvl="1"/>
            <a:r>
              <a:rPr lang="en-US" dirty="0"/>
              <a:t>If no frame is free, we free a frame by writing its contents to disk</a:t>
            </a:r>
          </a:p>
          <a:p>
            <a:pPr lvl="1"/>
            <a:r>
              <a:rPr lang="en-US" dirty="0"/>
              <a:t>Change page table entry that the page is no longer in memory</a:t>
            </a:r>
          </a:p>
          <a:p>
            <a:pPr lvl="1"/>
            <a:r>
              <a:rPr lang="en-US" dirty="0"/>
              <a:t>Swap in new demanded page</a:t>
            </a:r>
          </a:p>
          <a:p>
            <a:pPr lvl="1"/>
            <a:r>
              <a:rPr lang="en-US" dirty="0"/>
              <a:t>Update the page table entry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different page replacement algorithms</a:t>
            </a:r>
          </a:p>
          <a:p>
            <a:r>
              <a:rPr lang="en-US" dirty="0"/>
              <a:t>Each OS has its own page replacement technique</a:t>
            </a:r>
          </a:p>
          <a:p>
            <a:r>
              <a:rPr lang="en-US" dirty="0"/>
              <a:t>The important thing is, it should be one with lowest page fault rate</a:t>
            </a:r>
          </a:p>
          <a:p>
            <a:r>
              <a:rPr lang="en-US" dirty="0"/>
              <a:t>Replacement policy/strategy is concerned with selecting a page currently in memory to be replaced</a:t>
            </a:r>
          </a:p>
          <a:p>
            <a:r>
              <a:rPr lang="en-US" dirty="0"/>
              <a:t>All policies are based on, the page that is removed should be the page least likely to be referenced in the near future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Principal of locality </a:t>
            </a:r>
            <a:r>
              <a:rPr lang="en-US" dirty="0"/>
              <a:t>says, there is a high correlation between recent referencing history and near future referencing patterns</a:t>
            </a:r>
          </a:p>
          <a:p>
            <a:r>
              <a:rPr lang="en-US" dirty="0"/>
              <a:t>Most policies try to predict future behavior on the basis of past behavior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FIFO Algorithm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The FIFO maintain a list of all pages in memory with the page at the head the oldest one and page at the tail most recent arrival</a:t>
            </a:r>
          </a:p>
          <a:p>
            <a:r>
              <a:rPr lang="en-US"/>
              <a:t>On a page fault, the page at the head is removed and the new page added to tail of the list</a:t>
            </a:r>
          </a:p>
          <a:p>
            <a:r>
              <a:rPr lang="en-US"/>
              <a:t>Salient points</a:t>
            </a:r>
          </a:p>
          <a:p>
            <a:pPr lvl="1"/>
            <a:r>
              <a:rPr lang="en-US"/>
              <a:t>FIFO algorithm is very easy to implement</a:t>
            </a:r>
          </a:p>
          <a:p>
            <a:pPr lvl="1"/>
            <a:r>
              <a:rPr lang="en-US"/>
              <a:t>Its performance is not always good because it may replace pages heavily used throughout the life of a program</a:t>
            </a:r>
          </a:p>
          <a:p>
            <a:pPr lvl="1"/>
            <a:r>
              <a:rPr lang="en-US"/>
              <a:t>Low overhead paging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First-In-First-Out (FIFO) Algorithm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FA647A8-04F7-426A-BD9A-3A5BB1104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 string: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7,0,1,2,0,3,0,4,2,3,0,3,0,3,2,1,2,0,1,7,0,1</a:t>
            </a:r>
          </a:p>
          <a:p>
            <a:r>
              <a:rPr lang="en-US" sz="2400" dirty="0"/>
              <a:t>3 frames (3 pages can be in memory at a time per process)</a:t>
            </a:r>
          </a:p>
          <a:p>
            <a:r>
              <a:rPr lang="en-US" sz="2400" dirty="0"/>
              <a:t>Can vary by reference string: consider 1,2,3,4,1,2,5,1,2,3,4,5</a:t>
            </a:r>
          </a:p>
          <a:p>
            <a:pPr lvl="1"/>
            <a:r>
              <a:rPr lang="en-US" sz="2000" dirty="0"/>
              <a:t>Adding more frames can cause more page faults!</a:t>
            </a:r>
          </a:p>
          <a:p>
            <a:r>
              <a:rPr lang="en-US" sz="2400" dirty="0"/>
              <a:t>How to track ages of pages? </a:t>
            </a:r>
          </a:p>
          <a:p>
            <a:pPr lvl="1"/>
            <a:r>
              <a:rPr lang="en-US" sz="2000" dirty="0"/>
              <a:t>Just use a FIFO queue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8751" y="3831248"/>
            <a:ext cx="8514498" cy="271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0458050" y="5069448"/>
            <a:ext cx="1518546" cy="3693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35" tIns="45718" rIns="91435" bIns="4571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Meiryo" panose="020B0604030504040204" pitchFamily="34" charset="-128"/>
              </a:rPr>
              <a:t>15 page faults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Optimal Algorithm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Replace the page that will not be used for the longest period of time is called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principal of locality</a:t>
            </a:r>
          </a:p>
          <a:p>
            <a:r>
              <a:rPr lang="en-US" dirty="0"/>
              <a:t>This algorithm guarantees the lowest possible page fault rate</a:t>
            </a:r>
          </a:p>
          <a:p>
            <a:r>
              <a:rPr lang="en-US" dirty="0"/>
              <a:t>Salient points</a:t>
            </a:r>
          </a:p>
          <a:p>
            <a:pPr lvl="1"/>
            <a:r>
              <a:rPr lang="en-US" dirty="0"/>
              <a:t>Optimal replacement is much better than FIFO</a:t>
            </a:r>
          </a:p>
          <a:p>
            <a:pPr lvl="1"/>
            <a:r>
              <a:rPr lang="en-US" dirty="0"/>
              <a:t>Difficult to implement, since it requires future knowledge of reference string</a:t>
            </a:r>
          </a:p>
          <a:p>
            <a:pPr lvl="1"/>
            <a:r>
              <a:rPr lang="en-US" dirty="0"/>
              <a:t>Not used in practical systems because it cannot implement</a:t>
            </a:r>
          </a:p>
          <a:p>
            <a:pPr lvl="1"/>
            <a:r>
              <a:rPr lang="en-US" dirty="0"/>
              <a:t>Optimal algorithm is mainly used for comparison studies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Optimal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sz="2400" dirty="0"/>
              <a:t>Replace page that will not be used for longest period of time</a:t>
            </a:r>
          </a:p>
          <a:p>
            <a:pPr lvl="1"/>
            <a:r>
              <a:rPr lang="en-US" sz="2000" dirty="0"/>
              <a:t>9 is optimal for the example</a:t>
            </a:r>
          </a:p>
          <a:p>
            <a:r>
              <a:rPr lang="en-US" sz="2400" dirty="0"/>
              <a:t>How do you know this?</a:t>
            </a:r>
          </a:p>
          <a:p>
            <a:pPr lvl="1"/>
            <a:r>
              <a:rPr lang="en-US" sz="2000" dirty="0"/>
              <a:t>Can</a:t>
            </a:r>
            <a:r>
              <a:rPr lang="ja-JP" altLang="en-US" sz="2000" dirty="0"/>
              <a:t>’</a:t>
            </a:r>
            <a:r>
              <a:rPr lang="en-US" altLang="ja-JP" sz="2000" dirty="0"/>
              <a:t>t read the future</a:t>
            </a:r>
            <a:endParaRPr lang="en-US" sz="2000" dirty="0"/>
          </a:p>
          <a:p>
            <a:r>
              <a:rPr lang="en-US" sz="2400" dirty="0"/>
              <a:t>Used for measuring how well your algorithm performs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7763" y="3658909"/>
            <a:ext cx="9156474" cy="273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6">
            <a:extLst>
              <a:ext uri="{FF2B5EF4-FFF2-40B4-BE49-F238E27FC236}">
                <a16:creationId xmlns:a16="http://schemas.microsoft.com/office/drawing/2014/main" id="{7BF19521-3ED6-46A0-B476-2D7B19902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6559" y="5069448"/>
            <a:ext cx="1401527" cy="3693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35" tIns="45718" rIns="91435" bIns="4571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Meiryo" panose="020B0604030504040204" pitchFamily="34" charset="-128"/>
              </a:rPr>
              <a:t>9 page faults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Least Recently Used (LRU) Algorithm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Least recently used (LRU) algorithm chooses that page that has not been used for the longest period of time</a:t>
            </a:r>
          </a:p>
          <a:p>
            <a:r>
              <a:rPr lang="en-US"/>
              <a:t>Salient points</a:t>
            </a:r>
          </a:p>
          <a:p>
            <a:pPr lvl="1"/>
            <a:r>
              <a:rPr lang="en-US"/>
              <a:t>LRU is quite good</a:t>
            </a:r>
          </a:p>
          <a:p>
            <a:pPr lvl="1"/>
            <a:r>
              <a:rPr lang="en-US"/>
              <a:t>Not easy to implement, the problem is to determine an order for the frames defined by the time of last use</a:t>
            </a:r>
          </a:p>
          <a:p>
            <a:pPr lvl="1"/>
            <a:r>
              <a:rPr lang="en-US"/>
              <a:t>Requires substantial hardware assistance because of tremendous overheads due to interrupts</a:t>
            </a:r>
          </a:p>
          <a:p>
            <a:r>
              <a:rPr lang="en-US"/>
              <a:t>LRU feasible as a stack</a:t>
            </a:r>
          </a:p>
          <a:p>
            <a:pPr lvl="1"/>
            <a:r>
              <a:rPr lang="en-US"/>
              <a:t>Keep a stack of page numbers</a:t>
            </a:r>
          </a:p>
          <a:p>
            <a:pPr lvl="1"/>
            <a:r>
              <a:rPr lang="en-US"/>
              <a:t>Whenever a page is referenced, it is removed from the stack and put on top</a:t>
            </a:r>
          </a:p>
          <a:p>
            <a:pPr lvl="1"/>
            <a:r>
              <a:rPr lang="en-US"/>
              <a:t>In this way the top of the stack contains MRU page and bottom LRU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Least Recently Used (LRU)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sz="2400" dirty="0"/>
              <a:t>Use past knowledge rather than future</a:t>
            </a:r>
          </a:p>
          <a:p>
            <a:r>
              <a:rPr lang="en-US" sz="2400" dirty="0"/>
              <a:t>Replace page that has not been used in the most amount of time</a:t>
            </a:r>
          </a:p>
          <a:p>
            <a:r>
              <a:rPr lang="en-US" sz="2400" dirty="0"/>
              <a:t>Associate time of last use with each page</a:t>
            </a:r>
          </a:p>
          <a:p>
            <a:r>
              <a:rPr lang="en-US" sz="2400" dirty="0"/>
              <a:t>12 faults – better than FIFO but worse than OPT</a:t>
            </a:r>
          </a:p>
          <a:p>
            <a:r>
              <a:rPr lang="en-US" sz="2400" dirty="0"/>
              <a:t>Generally good algorithm and frequently used</a:t>
            </a:r>
          </a:p>
          <a:p>
            <a:r>
              <a:rPr lang="en-US" sz="2400" dirty="0"/>
              <a:t>But how to implement?</a:t>
            </a:r>
          </a:p>
        </p:txBody>
      </p:sp>
      <p:pic>
        <p:nvPicPr>
          <p:cNvPr id="4" name="Picture 4" descr="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3119" y="4198850"/>
            <a:ext cx="9085761" cy="22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6">
            <a:extLst>
              <a:ext uri="{FF2B5EF4-FFF2-40B4-BE49-F238E27FC236}">
                <a16:creationId xmlns:a16="http://schemas.microsoft.com/office/drawing/2014/main" id="{0808D053-2A9E-4588-A08A-AE78D63F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440" y="6356350"/>
            <a:ext cx="1518547" cy="3693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35" tIns="45718" rIns="91435" bIns="4571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  <a:ea typeface="Meiryo" panose="020B0604030504040204" pitchFamily="34" charset="-128"/>
              </a:rPr>
              <a:t>12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a typeface="Meiryo" panose="020B0604030504040204" pitchFamily="34" charset="-128"/>
              </a:rPr>
              <a:t>page faults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Autofit/>
          </a:bodyPr>
          <a:lstStyle/>
          <a:p>
            <a:r>
              <a:rPr lang="en-US" dirty="0"/>
              <a:t>Least Frequently Used (LFU) Algorithm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LFU page replacement algorithm replaces the page from memory which is least frequently used</a:t>
            </a:r>
          </a:p>
          <a:p>
            <a:r>
              <a:rPr lang="en-US" dirty="0"/>
              <a:t>It keeps a counter for the number of references to each page and the page with the smallest count is replaced</a:t>
            </a:r>
          </a:p>
          <a:p>
            <a:r>
              <a:rPr lang="en-US" dirty="0"/>
              <a:t>This algorithm suffers from the situation in which a page initially used heavily, but then never again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97" y="326162"/>
            <a:ext cx="10515600" cy="749209"/>
          </a:xfrm>
        </p:spPr>
        <p:txBody>
          <a:bodyPr>
            <a:normAutofit/>
          </a:bodyPr>
          <a:lstStyle/>
          <a:p>
            <a:r>
              <a:rPr lang="en-US" sz="3200" dirty="0"/>
              <a:t>Least Recently </a:t>
            </a:r>
            <a:r>
              <a:rPr lang="en-US" sz="2800" dirty="0"/>
              <a:t>Used</a:t>
            </a:r>
            <a:r>
              <a:rPr lang="en-US" sz="3200" dirty="0"/>
              <a:t> (LRU) Algorithm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700767"/>
            <a:ext cx="10515600" cy="4937126"/>
          </a:xfrm>
        </p:spPr>
        <p:txBody>
          <a:bodyPr/>
          <a:lstStyle/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/>
              <a:t>Given</a:t>
            </a:r>
            <a:endParaRPr lang="en-US" sz="2000" b="1" dirty="0"/>
          </a:p>
          <a:p>
            <a:r>
              <a:rPr lang="en-US" sz="2000" dirty="0"/>
              <a:t>Number of Page Frames = 3</a:t>
            </a:r>
          </a:p>
          <a:p>
            <a:pPr marL="0" indent="0">
              <a:buNone/>
            </a:pPr>
            <a:r>
              <a:rPr lang="en-US" sz="2000" dirty="0"/>
              <a:t>Reference String</a:t>
            </a:r>
            <a:r>
              <a:rPr lang="en-US" sz="2000" dirty="0" smtClean="0"/>
              <a:t>:  7   </a:t>
            </a:r>
            <a:r>
              <a:rPr lang="en-US" sz="2000" dirty="0"/>
              <a:t>0   1   2   0   3   0   4   2   3   0   3   2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754775" y="2615541"/>
            <a:ext cx="761129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Reference:   7 </a:t>
            </a:r>
            <a:r>
              <a:rPr lang="en-US" sz="2400" dirty="0" smtClean="0">
                <a:solidFill>
                  <a:srgbClr val="FF0000"/>
                </a:solidFill>
              </a:rPr>
              <a:t> 0  1  </a:t>
            </a:r>
            <a:r>
              <a:rPr lang="en-US" sz="2400" dirty="0">
                <a:solidFill>
                  <a:srgbClr val="FF0000"/>
                </a:solidFill>
              </a:rPr>
              <a:t>2  0  3  0  4  2  3  0  3  2</a:t>
            </a:r>
          </a:p>
          <a:p>
            <a:r>
              <a:rPr lang="en-US" sz="2400" dirty="0"/>
              <a:t>------------------------------------------------</a:t>
            </a:r>
          </a:p>
          <a:p>
            <a:r>
              <a:rPr lang="en-US" sz="2400" dirty="0"/>
              <a:t>Frame 1:     7 </a:t>
            </a:r>
            <a:r>
              <a:rPr lang="en-US" sz="2400" dirty="0" smtClean="0"/>
              <a:t> 7  7  </a:t>
            </a:r>
            <a:r>
              <a:rPr lang="en-US" sz="2400" dirty="0"/>
              <a:t>2  2  2  2  4  4  4  0  0  0</a:t>
            </a:r>
          </a:p>
          <a:p>
            <a:r>
              <a:rPr lang="en-US" sz="2400" dirty="0"/>
              <a:t>Frame 2:     -  </a:t>
            </a:r>
            <a:r>
              <a:rPr lang="en-US" sz="2400" dirty="0" smtClean="0"/>
              <a:t>0  </a:t>
            </a:r>
            <a:r>
              <a:rPr lang="en-US" sz="2400" dirty="0"/>
              <a:t>0  0  0  0  0  0  0  3  3  3  </a:t>
            </a:r>
            <a:r>
              <a:rPr lang="en-US" sz="2400" dirty="0" smtClean="0"/>
              <a:t>3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Frame 3:     -  -  1  1  1  3  3  3  2  </a:t>
            </a:r>
            <a:r>
              <a:rPr lang="en-US" sz="2400" dirty="0" smtClean="0">
                <a:solidFill>
                  <a:srgbClr val="FF0000"/>
                </a:solidFill>
              </a:rPr>
              <a:t>2  2  2   2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------------------------------------------------</a:t>
            </a:r>
          </a:p>
          <a:p>
            <a:r>
              <a:rPr lang="en-US" sz="2400" dirty="0"/>
              <a:t>Page Faults: ✔  ✔  ✔  ✔  ✘  ✔  ✘  ✔  ✔  ✔  ✔  ✘  ✘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7622" y="5625575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/>
              <a:t>Total </a:t>
            </a:r>
            <a:r>
              <a:rPr lang="fr-FR" sz="2000" b="1" dirty="0"/>
              <a:t>Page </a:t>
            </a:r>
            <a:r>
              <a:rPr lang="fr-FR" sz="2000" b="1" dirty="0" err="1" smtClean="0"/>
              <a:t>Faults</a:t>
            </a:r>
            <a:r>
              <a:rPr lang="fr-FR" sz="2000" b="1" dirty="0" smtClean="0"/>
              <a:t>  = </a:t>
            </a:r>
            <a:r>
              <a:rPr lang="fr-FR" sz="2000" dirty="0" smtClean="0"/>
              <a:t> </a:t>
            </a:r>
            <a:r>
              <a:rPr lang="fr-FR" sz="2000" b="1" dirty="0"/>
              <a:t>9 Page </a:t>
            </a:r>
            <a:r>
              <a:rPr lang="fr-FR" sz="2000" b="1" dirty="0" err="1"/>
              <a:t>Faults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7453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Most Frequently Used (MFU) Algorithm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MFU page replacement algorithm replaces the page from memory which is most frequently used</a:t>
            </a:r>
          </a:p>
          <a:p>
            <a:r>
              <a:rPr lang="en-US"/>
              <a:t>It is based on the argument that the page with the smallest count was probably just brought in and has yet to be used</a:t>
            </a:r>
          </a:p>
          <a:p>
            <a:r>
              <a:rPr lang="en-US"/>
              <a:t>Its implementation is expensive</a:t>
            </a:r>
          </a:p>
          <a:p>
            <a:r>
              <a:rPr lang="en-US"/>
              <a:t>Neither MFU nor LFU replacement algorithm is common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971278"/>
          </a:xfrm>
        </p:spPr>
        <p:txBody>
          <a:bodyPr>
            <a:normAutofit/>
          </a:bodyPr>
          <a:lstStyle/>
          <a:p>
            <a:r>
              <a:rPr lang="en-US" sz="3200" dirty="0"/>
              <a:t>MFU – </a:t>
            </a:r>
            <a:r>
              <a:rPr lang="en-US" sz="3200" dirty="0" smtClean="0"/>
              <a:t>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8904"/>
            <a:ext cx="10515600" cy="13193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Given</a:t>
            </a:r>
          </a:p>
          <a:p>
            <a:r>
              <a:rPr lang="en-US" sz="2400" dirty="0"/>
              <a:t>Number of Page Frames = 3</a:t>
            </a:r>
          </a:p>
          <a:p>
            <a:r>
              <a:rPr lang="en-US" sz="2400" dirty="0"/>
              <a:t>Reference String: 1   2   3   2   4   1   5   2   1   2   3   4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85109" y="2609281"/>
            <a:ext cx="765483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Reference:   1  2  3  2  4  1  5  2  1  2  3  4</a:t>
            </a:r>
          </a:p>
          <a:p>
            <a:r>
              <a:rPr lang="en-US" sz="2400" dirty="0"/>
              <a:t>------------------------------------------------</a:t>
            </a:r>
          </a:p>
          <a:p>
            <a:r>
              <a:rPr lang="en-US" sz="2400" dirty="0"/>
              <a:t>Frame 1:     1  1  1  1  4  4  5  5  5  5  3  3</a:t>
            </a:r>
          </a:p>
          <a:p>
            <a:r>
              <a:rPr lang="en-US" sz="2400" dirty="0"/>
              <a:t>Frame 2:     -  2  2  2  2  1  1  2  2  2  2  4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Frame 3:     -  -  3  3  3  3  3  3  1  1  1  1</a:t>
            </a:r>
          </a:p>
          <a:p>
            <a:r>
              <a:rPr lang="en-US" sz="2400" dirty="0"/>
              <a:t>------------------------------------------------</a:t>
            </a:r>
          </a:p>
          <a:p>
            <a:r>
              <a:rPr lang="en-US" sz="2400" dirty="0"/>
              <a:t>Page Faults: ✔  ✔  ✔  ✘  ✔  ✔  ✔  ✔  ✔  ✘  ✔  ✔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555796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Total Page </a:t>
            </a:r>
            <a:r>
              <a:rPr lang="fr-FR" b="1" dirty="0" err="1"/>
              <a:t>Faults</a:t>
            </a:r>
            <a:r>
              <a:rPr lang="fr-FR" b="1" dirty="0"/>
              <a:t> (MFU)</a:t>
            </a:r>
          </a:p>
          <a:p>
            <a:r>
              <a:rPr lang="fr-FR" b="1" dirty="0" smtClean="0"/>
              <a:t>10 </a:t>
            </a:r>
            <a:r>
              <a:rPr lang="fr-FR" b="1" dirty="0"/>
              <a:t>Page </a:t>
            </a:r>
            <a:r>
              <a:rPr lang="fr-FR" b="1" dirty="0" err="1"/>
              <a:t>Faults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828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8237</TotalTime>
  <Words>1751</Words>
  <Application>Microsoft Office PowerPoint</Application>
  <PresentationFormat>Widescreen</PresentationFormat>
  <Paragraphs>216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ＭＳ Ｐゴシック</vt:lpstr>
      <vt:lpstr>Arial</vt:lpstr>
      <vt:lpstr>Calibri</vt:lpstr>
      <vt:lpstr>Calibri Light</vt:lpstr>
      <vt:lpstr>Century Gothic</vt:lpstr>
      <vt:lpstr>Corbel</vt:lpstr>
      <vt:lpstr>Courier New</vt:lpstr>
      <vt:lpstr>Meiryo</vt:lpstr>
      <vt:lpstr>Segoe UI</vt:lpstr>
      <vt:lpstr>Segoe UI Light</vt:lpstr>
      <vt:lpstr>Symbol</vt:lpstr>
      <vt:lpstr>Wingdings</vt:lpstr>
      <vt:lpstr>1_Office Theme</vt:lpstr>
      <vt:lpstr>Office Theme</vt:lpstr>
      <vt:lpstr>Virtual Memory Module 6</vt:lpstr>
      <vt:lpstr>Chapter Outline</vt:lpstr>
      <vt:lpstr>Virtual Memory</vt:lpstr>
      <vt:lpstr>Virtual Memory</vt:lpstr>
      <vt:lpstr>Virtual Memory</vt:lpstr>
      <vt:lpstr>Virtual Memory</vt:lpstr>
      <vt:lpstr>Virtual Memory</vt:lpstr>
      <vt:lpstr>Mechanism of Virtual Memory</vt:lpstr>
      <vt:lpstr>Mechanism of Virtual Memory</vt:lpstr>
      <vt:lpstr>Translation Look Aside Buffer</vt:lpstr>
      <vt:lpstr>Translation Look Aside Buffer</vt:lpstr>
      <vt:lpstr>Associative Mapping</vt:lpstr>
      <vt:lpstr>Page Fault</vt:lpstr>
      <vt:lpstr>Page Replacement Algorithms</vt:lpstr>
      <vt:lpstr>Page Replacement</vt:lpstr>
      <vt:lpstr>Page Replacement</vt:lpstr>
      <vt:lpstr>Page Replacement Algorithms</vt:lpstr>
      <vt:lpstr>FIFO Algorithm</vt:lpstr>
      <vt:lpstr>First-In-First-Out (FIFO) Algorithm</vt:lpstr>
      <vt:lpstr>Optimal Algorithm</vt:lpstr>
      <vt:lpstr>Optimal Algorithm</vt:lpstr>
      <vt:lpstr>Least Recently Used (LRU) Algorithm</vt:lpstr>
      <vt:lpstr>Least Recently Used (LRU) Algorithm</vt:lpstr>
      <vt:lpstr>Least Frequently Used (LFU) Algorithm</vt:lpstr>
      <vt:lpstr>Least Recently Used (LRU) Algorithm – Example</vt:lpstr>
      <vt:lpstr>Most Frequently Used (MFU) Algorithm</vt:lpstr>
      <vt:lpstr>MFU –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 &amp; Background Chapter 1</dc:title>
  <dc:creator>Sheheryar Malik</dc:creator>
  <cp:lastModifiedBy>LENOVO</cp:lastModifiedBy>
  <cp:revision>812</cp:revision>
  <cp:lastPrinted>2019-05-17T05:34:39Z</cp:lastPrinted>
  <dcterms:created xsi:type="dcterms:W3CDTF">2019-04-13T12:57:47Z</dcterms:created>
  <dcterms:modified xsi:type="dcterms:W3CDTF">2025-12-29T06:07:02Z</dcterms:modified>
</cp:coreProperties>
</file>