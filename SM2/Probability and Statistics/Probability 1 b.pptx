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95" r:id="rId2"/>
    <p:sldId id="296" r:id="rId3"/>
    <p:sldId id="297" r:id="rId4"/>
    <p:sldId id="298" r:id="rId5"/>
    <p:sldId id="299" r:id="rId6"/>
    <p:sldId id="300" r:id="rId7"/>
    <p:sldId id="301" r:id="rId8"/>
    <p:sldId id="303" r:id="rId9"/>
    <p:sldId id="304" r:id="rId10"/>
    <p:sldId id="305" r:id="rId11"/>
    <p:sldId id="302" r:id="rId12"/>
    <p:sldId id="306" r:id="rId13"/>
    <p:sldId id="312" r:id="rId14"/>
    <p:sldId id="313" r:id="rId15"/>
    <p:sldId id="31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542"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9E0FBF-1BA7-4D47-9FF5-65897A09F8A3}" type="datetimeFigureOut">
              <a:rPr lang="en-US" smtClean="0"/>
              <a:pPr/>
              <a:t>3/21/2024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6FDAFEC-BF1D-4DA2-B0CF-2E65354DD74A}" type="slidenum">
              <a:rPr lang="en-US" smtClean="0"/>
              <a:pPr/>
              <a:t>‹#›</a:t>
            </a:fld>
            <a:endParaRPr lang="en-US"/>
          </a:p>
        </p:txBody>
      </p:sp>
    </p:spTree>
    <p:extLst>
      <p:ext uri="{BB962C8B-B14F-4D97-AF65-F5344CB8AC3E}">
        <p14:creationId xmlns:p14="http://schemas.microsoft.com/office/powerpoint/2010/main" val="3312582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6FDAFEC-BF1D-4DA2-B0CF-2E65354DD74A}" type="slidenum">
              <a:rPr lang="en-US" smtClean="0"/>
              <a:pPr/>
              <a:t>3</a:t>
            </a:fld>
            <a:endParaRPr lang="en-US"/>
          </a:p>
        </p:txBody>
      </p:sp>
    </p:spTree>
    <p:extLst>
      <p:ext uri="{BB962C8B-B14F-4D97-AF65-F5344CB8AC3E}">
        <p14:creationId xmlns:p14="http://schemas.microsoft.com/office/powerpoint/2010/main" val="2004559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BBFE3530-E373-42C0-9ED9-2F41FE81FAA2}" type="datetimeFigureOut">
              <a:rPr lang="en-US" smtClean="0"/>
              <a:pPr/>
              <a:t>3/21/2024</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EF4FE503-63F2-410D-A83D-D39304F9ABE1}"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BFE3530-E373-42C0-9ED9-2F41FE81FAA2}" type="datetimeFigureOut">
              <a:rPr lang="en-US" smtClean="0"/>
              <a:pPr/>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FE503-63F2-410D-A83D-D39304F9ABE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BFE3530-E373-42C0-9ED9-2F41FE81FAA2}" type="datetimeFigureOut">
              <a:rPr lang="en-US" smtClean="0"/>
              <a:pPr/>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FE503-63F2-410D-A83D-D39304F9ABE1}"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BFE3530-E373-42C0-9ED9-2F41FE81FAA2}" type="datetimeFigureOut">
              <a:rPr lang="en-US" smtClean="0"/>
              <a:pPr/>
              <a:t>3/21/2024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4FE503-63F2-410D-A83D-D39304F9ABE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BBFE3530-E373-42C0-9ED9-2F41FE81FAA2}" type="datetimeFigureOut">
              <a:rPr lang="en-US" smtClean="0"/>
              <a:pPr/>
              <a:t>3/21/2024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4FE503-63F2-410D-A83D-D39304F9ABE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BBFE3530-E373-42C0-9ED9-2F41FE81FAA2}" type="datetimeFigureOut">
              <a:rPr lang="en-US" smtClean="0"/>
              <a:pPr/>
              <a:t>3/21/2024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F4FE503-63F2-410D-A83D-D39304F9ABE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FE3530-E373-42C0-9ED9-2F41FE81FAA2}" type="datetimeFigureOut">
              <a:rPr lang="en-US" smtClean="0"/>
              <a:pPr/>
              <a:t>3/21/2024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F4FE503-63F2-410D-A83D-D39304F9ABE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BFE3530-E373-42C0-9ED9-2F41FE81FAA2}" type="datetimeFigureOut">
              <a:rPr lang="en-US" smtClean="0"/>
              <a:pPr/>
              <a:t>3/21/2024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4FE503-63F2-410D-A83D-D39304F9ABE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BBFE3530-E373-42C0-9ED9-2F41FE81FAA2}" type="datetimeFigureOut">
              <a:rPr lang="en-US" smtClean="0"/>
              <a:pPr/>
              <a:t>3/21/2024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EF4FE503-63F2-410D-A83D-D39304F9ABE1}"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BFE3530-E373-42C0-9ED9-2F41FE81FAA2}" type="datetimeFigureOut">
              <a:rPr lang="en-US" smtClean="0"/>
              <a:pPr/>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FE503-63F2-410D-A83D-D39304F9ABE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BFE3530-E373-42C0-9ED9-2F41FE81FAA2}" type="datetimeFigureOut">
              <a:rPr lang="en-US" smtClean="0"/>
              <a:pPr/>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FE503-63F2-410D-A83D-D39304F9ABE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BBFE3530-E373-42C0-9ED9-2F41FE81FAA2}" type="datetimeFigureOut">
              <a:rPr lang="en-US" smtClean="0"/>
              <a:pPr/>
              <a:t>3/21/2024</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EF4FE503-63F2-410D-A83D-D39304F9ABE1}"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581400"/>
            <a:ext cx="7772400" cy="1362456"/>
          </a:xfrm>
        </p:spPr>
        <p:txBody>
          <a:bodyPr/>
          <a:lstStyle/>
          <a:p>
            <a:r>
              <a:rPr lang="en-US" dirty="0"/>
              <a:t>Conditional Probability, Independence, and the Product Rule</a:t>
            </a:r>
          </a:p>
        </p:txBody>
      </p:sp>
    </p:spTree>
    <p:extLst>
      <p:ext uri="{BB962C8B-B14F-4D97-AF65-F5344CB8AC3E}">
        <p14:creationId xmlns:p14="http://schemas.microsoft.com/office/powerpoint/2010/main" val="3374093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Conditional Probability</a:t>
            </a:r>
            <a:endParaRPr lang="en-US" dirty="0"/>
          </a:p>
        </p:txBody>
      </p:sp>
      <p:sp>
        <p:nvSpPr>
          <p:cNvPr id="3" name="Content Placeholder 2"/>
          <p:cNvSpPr>
            <a:spLocks noGrp="1"/>
          </p:cNvSpPr>
          <p:nvPr>
            <p:ph idx="1"/>
          </p:nvPr>
        </p:nvSpPr>
        <p:spPr/>
        <p:txBody>
          <a:bodyPr/>
          <a:lstStyle/>
          <a:p>
            <a:pPr marL="0" indent="0">
              <a:buNone/>
            </a:pPr>
            <a:r>
              <a:rPr lang="en-US" dirty="0"/>
              <a:t>The probability of an </a:t>
            </a:r>
            <a:r>
              <a:rPr lang="en-US" dirty="0">
                <a:solidFill>
                  <a:srgbClr val="FF0000"/>
                </a:solidFill>
              </a:rPr>
              <a:t>event </a:t>
            </a:r>
            <a:r>
              <a:rPr lang="en-US" i="1" dirty="0">
                <a:solidFill>
                  <a:srgbClr val="FF0000"/>
                </a:solidFill>
              </a:rPr>
              <a:t>B </a:t>
            </a:r>
            <a:r>
              <a:rPr lang="en-US" dirty="0">
                <a:solidFill>
                  <a:srgbClr val="FF0000"/>
                </a:solidFill>
              </a:rPr>
              <a:t>occurring </a:t>
            </a:r>
            <a:r>
              <a:rPr lang="en-US" dirty="0"/>
              <a:t>when it is </a:t>
            </a:r>
            <a:r>
              <a:rPr lang="en-US" dirty="0">
                <a:solidFill>
                  <a:srgbClr val="FF0000"/>
                </a:solidFill>
              </a:rPr>
              <a:t>known </a:t>
            </a:r>
            <a:r>
              <a:rPr lang="en-US" dirty="0"/>
              <a:t>that some </a:t>
            </a:r>
            <a:r>
              <a:rPr lang="en-US" dirty="0">
                <a:solidFill>
                  <a:srgbClr val="FF0000"/>
                </a:solidFill>
              </a:rPr>
              <a:t>event </a:t>
            </a:r>
            <a:r>
              <a:rPr lang="en-US" i="1" dirty="0">
                <a:solidFill>
                  <a:srgbClr val="FF0000"/>
                </a:solidFill>
              </a:rPr>
              <a:t>A</a:t>
            </a:r>
            <a:r>
              <a:rPr lang="en-US" i="1" dirty="0"/>
              <a:t> </a:t>
            </a:r>
            <a:r>
              <a:rPr lang="en-US" dirty="0"/>
              <a:t>has </a:t>
            </a:r>
            <a:r>
              <a:rPr lang="en-US" dirty="0">
                <a:solidFill>
                  <a:srgbClr val="FF0000"/>
                </a:solidFill>
              </a:rPr>
              <a:t>occurred</a:t>
            </a:r>
            <a:r>
              <a:rPr lang="en-US" dirty="0"/>
              <a:t> is called a </a:t>
            </a:r>
            <a:r>
              <a:rPr lang="en-US" b="1" dirty="0">
                <a:solidFill>
                  <a:srgbClr val="FF0000"/>
                </a:solidFill>
              </a:rPr>
              <a:t>conditional probability</a:t>
            </a:r>
            <a:r>
              <a:rPr lang="en-US" b="1" dirty="0"/>
              <a:t> </a:t>
            </a:r>
            <a:r>
              <a:rPr lang="en-US" dirty="0"/>
              <a:t>and is denoted by </a:t>
            </a:r>
            <a:r>
              <a:rPr lang="en-US" i="1" dirty="0"/>
              <a:t>P</a:t>
            </a:r>
            <a:r>
              <a:rPr lang="en-US" dirty="0"/>
              <a:t>(</a:t>
            </a:r>
            <a:r>
              <a:rPr lang="en-US" i="1" dirty="0"/>
              <a:t>B|A</a:t>
            </a:r>
            <a:r>
              <a:rPr lang="en-US" dirty="0"/>
              <a:t>). </a:t>
            </a:r>
          </a:p>
          <a:p>
            <a:pPr marL="0" indent="0">
              <a:buNone/>
            </a:pPr>
            <a:r>
              <a:rPr lang="en-US" dirty="0"/>
              <a:t>The symbol </a:t>
            </a:r>
            <a:r>
              <a:rPr lang="en-US" i="1" dirty="0"/>
              <a:t>P</a:t>
            </a:r>
            <a:r>
              <a:rPr lang="en-US" dirty="0"/>
              <a:t>(</a:t>
            </a:r>
            <a:r>
              <a:rPr lang="en-US" i="1" dirty="0"/>
              <a:t>B|A</a:t>
            </a:r>
            <a:r>
              <a:rPr lang="en-US" dirty="0"/>
              <a:t>) is usually read “the probability that </a:t>
            </a:r>
            <a:r>
              <a:rPr lang="en-US" i="1" dirty="0"/>
              <a:t>B </a:t>
            </a:r>
            <a:r>
              <a:rPr lang="en-US" dirty="0"/>
              <a:t>occurs given that </a:t>
            </a:r>
            <a:r>
              <a:rPr lang="en-US" i="1" dirty="0"/>
              <a:t>A </a:t>
            </a:r>
            <a:r>
              <a:rPr lang="en-US" dirty="0"/>
              <a:t>occurs” or simply “the probability of </a:t>
            </a:r>
            <a:r>
              <a:rPr lang="en-US" i="1" dirty="0"/>
              <a:t>B</a:t>
            </a:r>
            <a:r>
              <a:rPr lang="en-US" dirty="0"/>
              <a:t>, given </a:t>
            </a:r>
            <a:r>
              <a:rPr lang="en-US" i="1" dirty="0"/>
              <a:t>A</a:t>
            </a:r>
            <a:r>
              <a:rPr lang="en-US" dirty="0"/>
              <a:t>.”</a:t>
            </a:r>
          </a:p>
        </p:txBody>
      </p:sp>
      <p:pic>
        <p:nvPicPr>
          <p:cNvPr id="4" name="Picture 3"/>
          <p:cNvPicPr>
            <a:picLocks noChangeAspect="1"/>
          </p:cNvPicPr>
          <p:nvPr/>
        </p:nvPicPr>
        <p:blipFill rotWithShape="1">
          <a:blip r:embed="rId2" cstate="print"/>
          <a:srcRect l="30859" t="19792" r="28125" b="70833"/>
          <a:stretch/>
        </p:blipFill>
        <p:spPr>
          <a:xfrm>
            <a:off x="481012" y="4953000"/>
            <a:ext cx="8001000" cy="1371600"/>
          </a:xfrm>
          <a:prstGeom prst="rect">
            <a:avLst/>
          </a:prstGeom>
        </p:spPr>
      </p:pic>
    </p:spTree>
    <p:extLst>
      <p:ext uri="{BB962C8B-B14F-4D97-AF65-F5344CB8AC3E}">
        <p14:creationId xmlns:p14="http://schemas.microsoft.com/office/powerpoint/2010/main" val="1175461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print"/>
          <a:srcRect l="37500" t="34375" r="33594" b="51042"/>
          <a:stretch/>
        </p:blipFill>
        <p:spPr>
          <a:xfrm>
            <a:off x="1600200" y="762000"/>
            <a:ext cx="5593488" cy="2116455"/>
          </a:xfrm>
          <a:prstGeom prst="rect">
            <a:avLst/>
          </a:prstGeom>
        </p:spPr>
      </p:pic>
      <p:pic>
        <p:nvPicPr>
          <p:cNvPr id="1026" name="Picture 2"/>
          <p:cNvPicPr>
            <a:picLocks noChangeAspect="1" noChangeArrowheads="1"/>
          </p:cNvPicPr>
          <p:nvPr/>
        </p:nvPicPr>
        <p:blipFill>
          <a:blip r:embed="rId4" cstate="print"/>
          <a:srcRect/>
          <a:stretch>
            <a:fillRect/>
          </a:stretch>
        </p:blipFill>
        <p:spPr bwMode="auto">
          <a:xfrm>
            <a:off x="381000" y="2819400"/>
            <a:ext cx="8258175" cy="2000250"/>
          </a:xfrm>
          <a:prstGeom prst="rect">
            <a:avLst/>
          </a:prstGeom>
          <a:noFill/>
          <a:ln w="9525">
            <a:noFill/>
            <a:miter lim="800000"/>
            <a:headEnd/>
            <a:tailEnd/>
          </a:ln>
        </p:spPr>
      </p:pic>
      <p:pic>
        <p:nvPicPr>
          <p:cNvPr id="1027" name="Picture 3"/>
          <p:cNvPicPr>
            <a:picLocks noChangeAspect="1" noChangeArrowheads="1"/>
          </p:cNvPicPr>
          <p:nvPr/>
        </p:nvPicPr>
        <p:blipFill rotWithShape="1">
          <a:blip r:embed="rId5" cstate="print"/>
          <a:srcRect b="61033"/>
          <a:stretch/>
        </p:blipFill>
        <p:spPr bwMode="auto">
          <a:xfrm>
            <a:off x="457200" y="4848225"/>
            <a:ext cx="4838700" cy="790575"/>
          </a:xfrm>
          <a:prstGeom prst="rect">
            <a:avLst/>
          </a:prstGeom>
          <a:noFill/>
          <a:ln w="9525">
            <a:noFill/>
            <a:miter lim="800000"/>
            <a:headEnd/>
            <a:tailEnd/>
          </a:ln>
        </p:spPr>
      </p:pic>
      <p:pic>
        <p:nvPicPr>
          <p:cNvPr id="3" name="Picture 2">
            <a:extLst>
              <a:ext uri="{FF2B5EF4-FFF2-40B4-BE49-F238E27FC236}">
                <a16:creationId xmlns:a16="http://schemas.microsoft.com/office/drawing/2014/main" id="{2BD94D05-50F4-0039-240D-3400B1034D42}"/>
              </a:ext>
            </a:extLst>
          </p:cNvPr>
          <p:cNvPicPr>
            <a:picLocks noChangeAspect="1"/>
          </p:cNvPicPr>
          <p:nvPr/>
        </p:nvPicPr>
        <p:blipFill>
          <a:blip r:embed="rId6"/>
          <a:stretch>
            <a:fillRect/>
          </a:stretch>
        </p:blipFill>
        <p:spPr>
          <a:xfrm>
            <a:off x="463826" y="5617614"/>
            <a:ext cx="2355574" cy="740323"/>
          </a:xfrm>
          <a:prstGeom prst="rect">
            <a:avLst/>
          </a:prstGeom>
        </p:spPr>
      </p:pic>
    </p:spTree>
    <p:extLst>
      <p:ext uri="{BB962C8B-B14F-4D97-AF65-F5344CB8AC3E}">
        <p14:creationId xmlns:p14="http://schemas.microsoft.com/office/powerpoint/2010/main" val="4124538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229600" cy="5486400"/>
          </a:xfrm>
        </p:spPr>
        <p:txBody>
          <a:bodyPr>
            <a:normAutofit lnSpcReduction="10000"/>
          </a:bodyPr>
          <a:lstStyle/>
          <a:p>
            <a:pPr marL="0" indent="0">
              <a:buNone/>
            </a:pPr>
            <a:r>
              <a:rPr lang="en-US" dirty="0">
                <a:solidFill>
                  <a:srgbClr val="FF0000"/>
                </a:solidFill>
              </a:rPr>
              <a:t>Example: </a:t>
            </a:r>
            <a:r>
              <a:rPr lang="en-US" dirty="0"/>
              <a:t>The probability that a regularly scheduled flight departs on time is </a:t>
            </a:r>
            <a:r>
              <a:rPr lang="en-US" i="1" dirty="0"/>
              <a:t>P</a:t>
            </a:r>
            <a:r>
              <a:rPr lang="en-US" dirty="0"/>
              <a:t>(</a:t>
            </a:r>
            <a:r>
              <a:rPr lang="en-US" i="1" dirty="0"/>
              <a:t>D</a:t>
            </a:r>
            <a:r>
              <a:rPr lang="en-US" dirty="0"/>
              <a:t>) = 0</a:t>
            </a:r>
            <a:r>
              <a:rPr lang="en-US" i="1" dirty="0"/>
              <a:t>.</a:t>
            </a:r>
            <a:r>
              <a:rPr lang="en-US" dirty="0"/>
              <a:t>83; the probability that it arrives on time is </a:t>
            </a:r>
            <a:r>
              <a:rPr lang="en-US" i="1" dirty="0"/>
              <a:t>P</a:t>
            </a:r>
            <a:r>
              <a:rPr lang="en-US" dirty="0"/>
              <a:t>(</a:t>
            </a:r>
            <a:r>
              <a:rPr lang="en-US" i="1" dirty="0"/>
              <a:t>A</a:t>
            </a:r>
            <a:r>
              <a:rPr lang="en-US" dirty="0"/>
              <a:t>) = 0</a:t>
            </a:r>
            <a:r>
              <a:rPr lang="en-US" i="1" dirty="0"/>
              <a:t>.</a:t>
            </a:r>
            <a:r>
              <a:rPr lang="en-US" dirty="0"/>
              <a:t>82; and the probability that it departs and arrives on time is </a:t>
            </a:r>
            <a:r>
              <a:rPr lang="en-US" i="1" dirty="0"/>
              <a:t>P</a:t>
            </a:r>
            <a:r>
              <a:rPr lang="en-US" dirty="0"/>
              <a:t>(</a:t>
            </a:r>
            <a:r>
              <a:rPr lang="en-US" i="1" dirty="0"/>
              <a:t>D ∩A</a:t>
            </a:r>
            <a:r>
              <a:rPr lang="en-US" dirty="0"/>
              <a:t>) = 0</a:t>
            </a:r>
            <a:r>
              <a:rPr lang="en-US" i="1" dirty="0"/>
              <a:t>.</a:t>
            </a:r>
            <a:r>
              <a:rPr lang="en-US" dirty="0"/>
              <a:t>78. Find the probability that a plane</a:t>
            </a:r>
          </a:p>
          <a:p>
            <a:pPr marL="514350" indent="-514350">
              <a:buFont typeface="+mj-lt"/>
              <a:buAutoNum type="alphaLcParenR"/>
            </a:pPr>
            <a:r>
              <a:rPr lang="en-US" dirty="0"/>
              <a:t>Arrives on time, given that it departed on time.</a:t>
            </a:r>
          </a:p>
          <a:p>
            <a:pPr marL="514350" indent="-514350">
              <a:buFont typeface="+mj-lt"/>
              <a:buAutoNum type="alphaLcParenR"/>
            </a:pPr>
            <a:r>
              <a:rPr lang="en-US" dirty="0"/>
              <a:t>Departed on time, given that it has arrived on time.</a:t>
            </a:r>
          </a:p>
          <a:p>
            <a:pPr marL="514350" indent="-514350">
              <a:buFont typeface="+mj-lt"/>
              <a:buAutoNum type="alphaLcParenR"/>
            </a:pPr>
            <a:r>
              <a:rPr lang="en-US" dirty="0"/>
              <a:t>Arrives on time, one is given the information that the flight did not depart on time.</a:t>
            </a:r>
          </a:p>
          <a:p>
            <a:pPr marL="0" indent="0">
              <a:buNone/>
            </a:pPr>
            <a:r>
              <a:rPr lang="en-US" dirty="0">
                <a:solidFill>
                  <a:srgbClr val="FF0000"/>
                </a:solidFill>
              </a:rPr>
              <a:t>Solution:</a:t>
            </a:r>
            <a:r>
              <a:rPr lang="en-US" dirty="0"/>
              <a:t> </a:t>
            </a:r>
          </a:p>
          <a:p>
            <a:pPr marL="514350" indent="-514350">
              <a:buFont typeface="+mj-lt"/>
              <a:buAutoNum type="alphaLcParenR"/>
            </a:pPr>
            <a:r>
              <a:rPr lang="en-US" i="1" dirty="0"/>
              <a:t>P</a:t>
            </a:r>
            <a:r>
              <a:rPr lang="en-US" dirty="0"/>
              <a:t>(A</a:t>
            </a:r>
            <a:r>
              <a:rPr lang="en-US" i="1" dirty="0"/>
              <a:t>|D</a:t>
            </a:r>
            <a:r>
              <a:rPr lang="en-US" dirty="0"/>
              <a:t>) = </a:t>
            </a:r>
            <a:r>
              <a:rPr lang="en-US" i="1" dirty="0"/>
              <a:t>P</a:t>
            </a:r>
            <a:r>
              <a:rPr lang="en-US" dirty="0"/>
              <a:t>(A</a:t>
            </a:r>
            <a:r>
              <a:rPr lang="en-US" i="1" dirty="0"/>
              <a:t> ∩D</a:t>
            </a:r>
            <a:r>
              <a:rPr lang="en-US" dirty="0"/>
              <a:t>)/</a:t>
            </a:r>
            <a:r>
              <a:rPr lang="en-US" i="1" dirty="0"/>
              <a:t>P</a:t>
            </a:r>
            <a:r>
              <a:rPr lang="en-US" dirty="0"/>
              <a:t>(D) = 0.78/0.83 =0</a:t>
            </a:r>
            <a:r>
              <a:rPr lang="en-US" i="1" dirty="0"/>
              <a:t>.</a:t>
            </a:r>
            <a:r>
              <a:rPr lang="en-US" dirty="0"/>
              <a:t>94</a:t>
            </a:r>
          </a:p>
          <a:p>
            <a:pPr marL="514350" indent="-514350">
              <a:buFont typeface="+mj-lt"/>
              <a:buAutoNum type="alphaLcParenR"/>
            </a:pPr>
            <a:r>
              <a:rPr lang="en-US" i="1" dirty="0"/>
              <a:t>P</a:t>
            </a:r>
            <a:r>
              <a:rPr lang="en-US" dirty="0"/>
              <a:t>(D</a:t>
            </a:r>
            <a:r>
              <a:rPr lang="en-US" i="1" dirty="0"/>
              <a:t>|A</a:t>
            </a:r>
            <a:r>
              <a:rPr lang="en-US" dirty="0"/>
              <a:t>) = </a:t>
            </a:r>
            <a:r>
              <a:rPr lang="en-US" i="1" dirty="0"/>
              <a:t>P</a:t>
            </a:r>
            <a:r>
              <a:rPr lang="en-US" dirty="0"/>
              <a:t>(A</a:t>
            </a:r>
            <a:r>
              <a:rPr lang="en-US" i="1" dirty="0"/>
              <a:t> ∩D</a:t>
            </a:r>
            <a:r>
              <a:rPr lang="en-US" dirty="0"/>
              <a:t>)/</a:t>
            </a:r>
            <a:r>
              <a:rPr lang="en-US" i="1" dirty="0"/>
              <a:t>P</a:t>
            </a:r>
            <a:r>
              <a:rPr lang="en-US" dirty="0"/>
              <a:t>(A) = 0.78/0.82 =0</a:t>
            </a:r>
            <a:r>
              <a:rPr lang="en-US" i="1" dirty="0"/>
              <a:t>.</a:t>
            </a:r>
            <a:r>
              <a:rPr lang="en-US" dirty="0"/>
              <a:t>95</a:t>
            </a:r>
          </a:p>
          <a:p>
            <a:pPr marL="514350" indent="-514350">
              <a:buFont typeface="+mj-lt"/>
              <a:buAutoNum type="alphaLcParenR"/>
            </a:pPr>
            <a:r>
              <a:rPr lang="en-US" i="1" dirty="0"/>
              <a:t>P</a:t>
            </a:r>
            <a:r>
              <a:rPr lang="en-US" dirty="0"/>
              <a:t>(A</a:t>
            </a:r>
            <a:r>
              <a:rPr lang="en-US" i="1" dirty="0"/>
              <a:t>|D´</a:t>
            </a:r>
            <a:r>
              <a:rPr lang="en-US" dirty="0"/>
              <a:t>) = </a:t>
            </a:r>
            <a:r>
              <a:rPr lang="en-US" i="1" dirty="0"/>
              <a:t>P</a:t>
            </a:r>
            <a:r>
              <a:rPr lang="en-US" dirty="0"/>
              <a:t>(A</a:t>
            </a:r>
            <a:r>
              <a:rPr lang="en-US" i="1" dirty="0"/>
              <a:t> ∩D´</a:t>
            </a:r>
            <a:r>
              <a:rPr lang="en-US" dirty="0"/>
              <a:t>)/</a:t>
            </a:r>
            <a:r>
              <a:rPr lang="en-US" i="1" dirty="0"/>
              <a:t>P</a:t>
            </a:r>
            <a:r>
              <a:rPr lang="en-US" dirty="0"/>
              <a:t>(D</a:t>
            </a:r>
            <a:r>
              <a:rPr lang="en-US" i="1" dirty="0"/>
              <a:t>´</a:t>
            </a:r>
            <a:r>
              <a:rPr lang="en-US" dirty="0"/>
              <a:t>) = (0</a:t>
            </a:r>
            <a:r>
              <a:rPr lang="en-US" i="1" dirty="0"/>
              <a:t>.</a:t>
            </a:r>
            <a:r>
              <a:rPr lang="en-US" dirty="0"/>
              <a:t>82 </a:t>
            </a:r>
            <a:r>
              <a:rPr lang="en-US" i="1" dirty="0"/>
              <a:t>− </a:t>
            </a:r>
            <a:r>
              <a:rPr lang="en-US" dirty="0"/>
              <a:t>0</a:t>
            </a:r>
            <a:r>
              <a:rPr lang="en-US" i="1" dirty="0"/>
              <a:t>.</a:t>
            </a:r>
            <a:r>
              <a:rPr lang="en-US" dirty="0"/>
              <a:t>78)/0</a:t>
            </a:r>
            <a:r>
              <a:rPr lang="en-US" i="1" dirty="0"/>
              <a:t>.</a:t>
            </a:r>
            <a:r>
              <a:rPr lang="en-US" dirty="0"/>
              <a:t>17 = 0</a:t>
            </a:r>
            <a:r>
              <a:rPr lang="en-US" i="1" dirty="0"/>
              <a:t>.</a:t>
            </a:r>
            <a:r>
              <a:rPr lang="en-US" dirty="0"/>
              <a:t>24</a:t>
            </a:r>
          </a:p>
          <a:p>
            <a:pPr marL="514350" indent="-514350">
              <a:buFont typeface="+mj-lt"/>
              <a:buAutoNum type="alphaLcParenR"/>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461817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410200"/>
          </a:xfrm>
        </p:spPr>
        <p:txBody>
          <a:bodyPr>
            <a:normAutofit fontScale="70000" lnSpcReduction="20000"/>
          </a:bodyPr>
          <a:lstStyle/>
          <a:p>
            <a:pPr marL="0" indent="0">
              <a:buNone/>
            </a:pPr>
            <a:r>
              <a:rPr lang="en-US" dirty="0">
                <a:solidFill>
                  <a:srgbClr val="FF0000"/>
                </a:solidFill>
              </a:rPr>
              <a:t>Example: </a:t>
            </a:r>
            <a:r>
              <a:rPr lang="en-US" dirty="0"/>
              <a:t>The concept of conditional probability has countless uses in both industrial and biomedical applications. Consider an industrial process in the textile industry in which strips of a particular type of cloth are being produced. These strips can be defective in two ways, length and nature of texture. For the case of the latter, the process of identification is very complicated. It is known from historical information on the process that 10% of strips fail the length test, 5% fail the texture test, and only 0.8% fail both tests. If a strip is selected randomly from the process and a quick measurement identifies it as failing the length test, what is the probability that it is texture defective?</a:t>
            </a:r>
          </a:p>
          <a:p>
            <a:pPr marL="0" indent="0">
              <a:buNone/>
            </a:pPr>
            <a:r>
              <a:rPr lang="en-US" dirty="0">
                <a:solidFill>
                  <a:srgbClr val="FF0000"/>
                </a:solidFill>
              </a:rPr>
              <a:t>Solution:</a:t>
            </a:r>
            <a:r>
              <a:rPr lang="en-US" dirty="0"/>
              <a:t> </a:t>
            </a:r>
          </a:p>
          <a:p>
            <a:pPr marL="0" indent="0">
              <a:buNone/>
            </a:pPr>
            <a:r>
              <a:rPr lang="en-US" dirty="0"/>
              <a:t>Consider the events</a:t>
            </a:r>
          </a:p>
          <a:p>
            <a:pPr marL="0" indent="0">
              <a:buNone/>
            </a:pPr>
            <a:r>
              <a:rPr lang="en-US" i="1" dirty="0"/>
              <a:t>L</a:t>
            </a:r>
            <a:r>
              <a:rPr lang="en-US" dirty="0"/>
              <a:t>: length defective</a:t>
            </a:r>
            <a:r>
              <a:rPr lang="en-US" i="1" dirty="0"/>
              <a:t>,     T</a:t>
            </a:r>
            <a:r>
              <a:rPr lang="en-US" dirty="0"/>
              <a:t>: texture defective.</a:t>
            </a:r>
          </a:p>
          <a:p>
            <a:pPr marL="0" indent="0">
              <a:buNone/>
            </a:pPr>
            <a:endParaRPr lang="en-US" dirty="0"/>
          </a:p>
          <a:p>
            <a:pPr marL="0" indent="0">
              <a:buNone/>
            </a:pPr>
            <a:r>
              <a:rPr lang="en-US" dirty="0"/>
              <a:t>Given that the strip is length defective, the probability that this strip is texture defective is given by</a:t>
            </a:r>
          </a:p>
          <a:p>
            <a:pPr marL="0" indent="0">
              <a:buNone/>
            </a:pPr>
            <a:endParaRPr lang="en-US" dirty="0"/>
          </a:p>
          <a:p>
            <a:pPr marL="0" indent="0">
              <a:buNone/>
            </a:pPr>
            <a:r>
              <a:rPr lang="en-US" i="1" dirty="0"/>
              <a:t>P</a:t>
            </a:r>
            <a:r>
              <a:rPr lang="en-US" dirty="0"/>
              <a:t>(</a:t>
            </a:r>
            <a:r>
              <a:rPr lang="en-US" i="1" dirty="0"/>
              <a:t>T|L</a:t>
            </a:r>
            <a:r>
              <a:rPr lang="en-US" dirty="0"/>
              <a:t>) =  </a:t>
            </a:r>
            <a:r>
              <a:rPr lang="en-US" i="1" dirty="0"/>
              <a:t>P</a:t>
            </a:r>
            <a:r>
              <a:rPr lang="en-US" dirty="0"/>
              <a:t>(</a:t>
            </a:r>
            <a:r>
              <a:rPr lang="en-US" i="1" dirty="0"/>
              <a:t>T ∩ L</a:t>
            </a:r>
            <a:r>
              <a:rPr lang="en-US" dirty="0"/>
              <a:t>)/</a:t>
            </a:r>
            <a:r>
              <a:rPr lang="en-US" i="1" dirty="0"/>
              <a:t>P</a:t>
            </a:r>
            <a:r>
              <a:rPr lang="en-US" dirty="0"/>
              <a:t>(</a:t>
            </a:r>
            <a:r>
              <a:rPr lang="en-US" i="1" dirty="0"/>
              <a:t>L</a:t>
            </a:r>
            <a:r>
              <a:rPr lang="en-US" dirty="0"/>
              <a:t>)  = 0</a:t>
            </a:r>
            <a:r>
              <a:rPr lang="en-US" i="1" dirty="0"/>
              <a:t>.</a:t>
            </a:r>
            <a:r>
              <a:rPr lang="en-US" dirty="0"/>
              <a:t>008/0</a:t>
            </a:r>
            <a:r>
              <a:rPr lang="en-US" i="1" dirty="0"/>
              <a:t>.</a:t>
            </a:r>
            <a:r>
              <a:rPr lang="en-US" dirty="0"/>
              <a:t>1 = 0</a:t>
            </a:r>
            <a:r>
              <a:rPr lang="en-US" i="1" dirty="0"/>
              <a:t>.</a:t>
            </a:r>
            <a:r>
              <a:rPr lang="en-US" dirty="0"/>
              <a:t>08</a:t>
            </a:r>
            <a:r>
              <a:rPr lang="en-US" i="1" dirty="0"/>
              <a:t>.</a:t>
            </a:r>
          </a:p>
          <a:p>
            <a:pPr marL="0" indent="0">
              <a:buNone/>
            </a:pPr>
            <a:endParaRPr lang="en-US" i="1" dirty="0"/>
          </a:p>
          <a:p>
            <a:pPr marL="0" indent="0">
              <a:buNone/>
            </a:pPr>
            <a:r>
              <a:rPr lang="en-US" dirty="0"/>
              <a:t>Thus, knowing the conditional probability provides considerably more information than merely knowing </a:t>
            </a:r>
            <a:r>
              <a:rPr lang="en-US" i="1" dirty="0"/>
              <a:t>P</a:t>
            </a:r>
            <a:r>
              <a:rPr lang="en-US" dirty="0"/>
              <a:t>(</a:t>
            </a:r>
            <a:r>
              <a:rPr lang="en-US" i="1" dirty="0"/>
              <a:t>T</a:t>
            </a:r>
            <a:r>
              <a:rPr lang="en-US" dirty="0"/>
              <a:t>).</a:t>
            </a:r>
          </a:p>
        </p:txBody>
      </p:sp>
    </p:spTree>
    <p:extLst>
      <p:ext uri="{BB962C8B-B14F-4D97-AF65-F5344CB8AC3E}">
        <p14:creationId xmlns:p14="http://schemas.microsoft.com/office/powerpoint/2010/main" val="142643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Independent Events</a:t>
            </a:r>
            <a:endParaRPr lang="en-US" dirty="0"/>
          </a:p>
        </p:txBody>
      </p:sp>
      <p:sp>
        <p:nvSpPr>
          <p:cNvPr id="3" name="Content Placeholder 2"/>
          <p:cNvSpPr>
            <a:spLocks noGrp="1"/>
          </p:cNvSpPr>
          <p:nvPr>
            <p:ph idx="1"/>
          </p:nvPr>
        </p:nvSpPr>
        <p:spPr>
          <a:xfrm>
            <a:off x="533400" y="4172712"/>
            <a:ext cx="8229600" cy="1389888"/>
          </a:xfrm>
          <a:solidFill>
            <a:srgbClr val="002060"/>
          </a:solidFill>
          <a:ln>
            <a:solidFill>
              <a:srgbClr val="00B050"/>
            </a:solidFill>
          </a:ln>
          <a:scene3d>
            <a:camera prst="orthographicFront"/>
            <a:lightRig rig="threePt" dir="t"/>
          </a:scene3d>
          <a:sp3d>
            <a:bevelT prst="relaxedInset"/>
          </a:sp3d>
        </p:spPr>
        <p:txBody>
          <a:bodyPr>
            <a:normAutofit fontScale="92500" lnSpcReduction="20000"/>
          </a:bodyPr>
          <a:lstStyle/>
          <a:p>
            <a:pPr marL="0" indent="0">
              <a:buNone/>
            </a:pPr>
            <a:r>
              <a:rPr lang="en-US" b="1" dirty="0">
                <a:solidFill>
                  <a:schemeClr val="bg1"/>
                </a:solidFill>
              </a:rPr>
              <a:t>Two events are independent if </a:t>
            </a:r>
            <a:r>
              <a:rPr lang="en-US" b="1" dirty="0">
                <a:solidFill>
                  <a:srgbClr val="FFC000"/>
                </a:solidFill>
              </a:rPr>
              <a:t>P(B/A) =P(B</a:t>
            </a:r>
            <a:r>
              <a:rPr lang="en-US" b="1" dirty="0">
                <a:solidFill>
                  <a:schemeClr val="bg1"/>
                </a:solidFill>
              </a:rPr>
              <a:t>).</a:t>
            </a:r>
          </a:p>
          <a:p>
            <a:pPr marL="0" indent="0">
              <a:buNone/>
            </a:pPr>
            <a:r>
              <a:rPr lang="en-US" b="1" dirty="0">
                <a:solidFill>
                  <a:schemeClr val="bg1"/>
                </a:solidFill>
              </a:rPr>
              <a:t>In other words, the </a:t>
            </a:r>
            <a:r>
              <a:rPr lang="en-US" b="1" dirty="0">
                <a:solidFill>
                  <a:srgbClr val="FFC000"/>
                </a:solidFill>
              </a:rPr>
              <a:t>occurrence of A</a:t>
            </a:r>
            <a:r>
              <a:rPr lang="en-US" b="1" i="1" dirty="0">
                <a:solidFill>
                  <a:srgbClr val="FFC000"/>
                </a:solidFill>
              </a:rPr>
              <a:t> </a:t>
            </a:r>
            <a:r>
              <a:rPr lang="en-US" b="1" dirty="0">
                <a:solidFill>
                  <a:schemeClr val="bg1"/>
                </a:solidFill>
              </a:rPr>
              <a:t>had </a:t>
            </a:r>
            <a:r>
              <a:rPr lang="en-US" b="1" dirty="0">
                <a:solidFill>
                  <a:srgbClr val="FFC000"/>
                </a:solidFill>
              </a:rPr>
              <a:t>no impact </a:t>
            </a:r>
            <a:r>
              <a:rPr lang="en-US" b="1" dirty="0">
                <a:solidFill>
                  <a:schemeClr val="bg1"/>
                </a:solidFill>
              </a:rPr>
              <a:t>on the </a:t>
            </a:r>
            <a:r>
              <a:rPr lang="en-US" b="1" dirty="0">
                <a:solidFill>
                  <a:srgbClr val="FFC000"/>
                </a:solidFill>
              </a:rPr>
              <a:t>occurrence of B</a:t>
            </a:r>
            <a:r>
              <a:rPr lang="en-US" b="1" dirty="0">
                <a:solidFill>
                  <a:schemeClr val="bg1"/>
                </a:solidFill>
              </a:rPr>
              <a:t>. Here the occurrence of </a:t>
            </a:r>
            <a:r>
              <a:rPr lang="en-US" b="1" dirty="0">
                <a:solidFill>
                  <a:srgbClr val="FFC000"/>
                </a:solidFill>
              </a:rPr>
              <a:t>B</a:t>
            </a:r>
            <a:r>
              <a:rPr lang="en-US" b="1" i="1" dirty="0">
                <a:solidFill>
                  <a:schemeClr val="bg1"/>
                </a:solidFill>
              </a:rPr>
              <a:t> </a:t>
            </a:r>
            <a:r>
              <a:rPr lang="en-US" b="1" dirty="0">
                <a:solidFill>
                  <a:schemeClr val="bg1"/>
                </a:solidFill>
              </a:rPr>
              <a:t>is independent of the occurrence of </a:t>
            </a:r>
            <a:r>
              <a:rPr lang="en-US" b="1" i="1" dirty="0">
                <a:solidFill>
                  <a:srgbClr val="FFC000"/>
                </a:solidFill>
              </a:rPr>
              <a:t>A</a:t>
            </a:r>
            <a:r>
              <a:rPr lang="en-US" b="1" dirty="0">
                <a:solidFill>
                  <a:schemeClr val="bg1"/>
                </a:solidFill>
              </a:rPr>
              <a:t>.</a:t>
            </a:r>
          </a:p>
        </p:txBody>
      </p:sp>
      <p:pic>
        <p:nvPicPr>
          <p:cNvPr id="4" name="Picture 3"/>
          <p:cNvPicPr>
            <a:picLocks noChangeAspect="1"/>
          </p:cNvPicPr>
          <p:nvPr/>
        </p:nvPicPr>
        <p:blipFill rotWithShape="1">
          <a:blip r:embed="rId2" cstate="print"/>
          <a:srcRect l="36718" t="61459" r="29688" b="28124"/>
          <a:stretch/>
        </p:blipFill>
        <p:spPr>
          <a:xfrm>
            <a:off x="1150622" y="2133600"/>
            <a:ext cx="7536178" cy="1752600"/>
          </a:xfrm>
          <a:prstGeom prst="rect">
            <a:avLst/>
          </a:prstGeom>
        </p:spPr>
      </p:pic>
    </p:spTree>
    <p:extLst>
      <p:ext uri="{BB962C8B-B14F-4D97-AF65-F5344CB8AC3E}">
        <p14:creationId xmlns:p14="http://schemas.microsoft.com/office/powerpoint/2010/main" val="3797087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990600"/>
                <a:ext cx="8229600" cy="4389120"/>
              </a:xfrm>
            </p:spPr>
            <p:txBody>
              <a:bodyPr>
                <a:noAutofit/>
              </a:bodyPr>
              <a:lstStyle/>
              <a:p>
                <a:pPr marL="0" indent="0">
                  <a:buNone/>
                </a:pPr>
                <a:r>
                  <a:rPr lang="en-US" sz="2000" b="1" dirty="0">
                    <a:solidFill>
                      <a:srgbClr val="FF0000"/>
                    </a:solidFill>
                  </a:rPr>
                  <a:t>Example:</a:t>
                </a:r>
                <a:r>
                  <a:rPr lang="en-US" sz="2000" dirty="0"/>
                  <a:t> Consider an experiment in which 2 cards are drawn in succession with replacement from an ordinary deck, with replacement. The events are defined as </a:t>
                </a:r>
              </a:p>
              <a:p>
                <a:pPr marL="0" indent="0">
                  <a:buNone/>
                </a:pPr>
                <a:r>
                  <a:rPr lang="en-US" sz="2000" i="1" dirty="0"/>
                  <a:t>A</a:t>
                </a:r>
                <a:r>
                  <a:rPr lang="en-US" sz="2000" dirty="0"/>
                  <a:t>: the first card is an ace,</a:t>
                </a:r>
              </a:p>
              <a:p>
                <a:pPr marL="0" indent="0">
                  <a:buNone/>
                </a:pPr>
                <a:r>
                  <a:rPr lang="en-US" sz="2000" i="1" dirty="0"/>
                  <a:t>B</a:t>
                </a:r>
                <a:r>
                  <a:rPr lang="en-US" sz="2000" dirty="0"/>
                  <a:t>: the second card is a spade.</a:t>
                </a:r>
              </a:p>
              <a:p>
                <a:pPr marL="0" indent="0">
                  <a:buNone/>
                </a:pPr>
                <a:r>
                  <a:rPr lang="en-US" sz="2000" dirty="0"/>
                  <a:t>Find </a:t>
                </a:r>
                <a:r>
                  <a:rPr lang="en-US" sz="2000" i="1" dirty="0"/>
                  <a:t>P</a:t>
                </a:r>
                <a:r>
                  <a:rPr lang="en-US" sz="2000" dirty="0"/>
                  <a:t>(</a:t>
                </a:r>
                <a:r>
                  <a:rPr lang="en-US" sz="2000" i="1" dirty="0"/>
                  <a:t>B|A</a:t>
                </a:r>
                <a:r>
                  <a:rPr lang="en-US" sz="2000" dirty="0"/>
                  <a:t>) and </a:t>
                </a:r>
                <a:r>
                  <a:rPr lang="en-US" sz="2000" i="1" dirty="0"/>
                  <a:t>P</a:t>
                </a:r>
                <a:r>
                  <a:rPr lang="en-US" sz="2000" dirty="0"/>
                  <a:t>(</a:t>
                </a:r>
                <a:r>
                  <a:rPr lang="en-US" sz="2000" i="1" dirty="0"/>
                  <a:t>B</a:t>
                </a:r>
                <a:r>
                  <a:rPr lang="en-US" sz="2000" dirty="0"/>
                  <a:t>)?</a:t>
                </a:r>
              </a:p>
              <a:p>
                <a:pPr marL="0" indent="0">
                  <a:buNone/>
                </a:pPr>
                <a:endParaRPr lang="en-US" sz="2000" dirty="0"/>
              </a:p>
              <a:p>
                <a:pPr marL="0" indent="0">
                  <a:buNone/>
                </a:pPr>
                <a:r>
                  <a:rPr lang="en-US" sz="2000" b="1" dirty="0">
                    <a:solidFill>
                      <a:srgbClr val="FF0000"/>
                    </a:solidFill>
                  </a:rPr>
                  <a:t>Solution:</a:t>
                </a:r>
                <a:r>
                  <a:rPr lang="en-US" sz="2000" dirty="0"/>
                  <a:t> Since the first card is replaced, our sample space for both the first and the second draw consists of 52 cards, containing 4 aces and 13 spades. Hence,</a:t>
                </a:r>
              </a:p>
              <a:p>
                <a:pPr marL="0" indent="0">
                  <a:buNone/>
                </a:pPr>
                <a:r>
                  <a:rPr lang="en-US" sz="2000" dirty="0"/>
                  <a:t>P(A) =4/52</a:t>
                </a:r>
              </a:p>
              <a:p>
                <a:pPr marL="0" indent="0">
                  <a:buNone/>
                </a:pPr>
                <a:r>
                  <a:rPr lang="en-US" sz="2000" i="1" dirty="0"/>
                  <a:t>P</a:t>
                </a:r>
                <a:r>
                  <a:rPr lang="en-US" sz="2000" dirty="0"/>
                  <a:t>(</a:t>
                </a:r>
                <a:r>
                  <a:rPr lang="en-US" sz="2000" i="1" dirty="0"/>
                  <a:t>B|A</a:t>
                </a:r>
                <a:r>
                  <a:rPr lang="en-US" sz="2000" dirty="0"/>
                  <a:t>) =P(A</a:t>
                </a:r>
                <a:r>
                  <a:rPr lang="en-US" sz="2000" i="1" dirty="0"/>
                  <a:t> ∩ B)/P(A)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1/52</m:t>
                        </m:r>
                      </m:num>
                      <m:den>
                        <m:r>
                          <a:rPr lang="en-US" sz="2000" b="0" i="1" smtClean="0">
                            <a:latin typeface="Cambria Math" panose="02040503050406030204" pitchFamily="18" charset="0"/>
                          </a:rPr>
                          <m:t>4/52</m:t>
                        </m:r>
                      </m:den>
                    </m:f>
                  </m:oMath>
                </a14:m>
                <a:r>
                  <a:rPr lang="en-US" sz="2000" dirty="0"/>
                  <a:t>  =1/4</a:t>
                </a:r>
              </a:p>
              <a:p>
                <a:pPr marL="0" indent="0">
                  <a:buNone/>
                </a:pPr>
                <a:r>
                  <a:rPr lang="en-US" sz="2000" dirty="0"/>
                  <a:t>and </a:t>
                </a:r>
                <a:r>
                  <a:rPr lang="en-US" sz="2000" i="1" dirty="0"/>
                  <a:t>P</a:t>
                </a:r>
                <a:r>
                  <a:rPr lang="en-US" sz="2000" dirty="0"/>
                  <a:t>(</a:t>
                </a:r>
                <a:r>
                  <a:rPr lang="en-US" sz="2000" i="1" dirty="0"/>
                  <a:t>B</a:t>
                </a:r>
                <a:r>
                  <a:rPr lang="en-US" sz="2000" dirty="0"/>
                  <a:t>) = 13/52 =1/4</a:t>
                </a:r>
              </a:p>
              <a:p>
                <a:pPr marL="0" indent="0">
                  <a:buNone/>
                </a:pPr>
                <a:endParaRPr lang="en-US" sz="2000" i="1" dirty="0"/>
              </a:p>
              <a:p>
                <a:pPr marL="0" indent="0">
                  <a:buNone/>
                </a:pPr>
                <a:r>
                  <a:rPr lang="en-US" sz="2000" dirty="0"/>
                  <a:t>That is, </a:t>
                </a:r>
                <a:r>
                  <a:rPr lang="en-US" sz="2000" i="1" dirty="0">
                    <a:solidFill>
                      <a:srgbClr val="FF0000"/>
                    </a:solidFill>
                  </a:rPr>
                  <a:t>P</a:t>
                </a:r>
                <a:r>
                  <a:rPr lang="en-US" sz="2000" dirty="0">
                    <a:solidFill>
                      <a:srgbClr val="FF0000"/>
                    </a:solidFill>
                  </a:rPr>
                  <a:t>(</a:t>
                </a:r>
                <a:r>
                  <a:rPr lang="en-US" sz="2000" i="1" dirty="0">
                    <a:solidFill>
                      <a:srgbClr val="FF0000"/>
                    </a:solidFill>
                  </a:rPr>
                  <a:t>B|A</a:t>
                </a:r>
                <a:r>
                  <a:rPr lang="en-US" sz="2000" dirty="0">
                    <a:solidFill>
                      <a:srgbClr val="FF0000"/>
                    </a:solidFill>
                  </a:rPr>
                  <a:t>) = </a:t>
                </a:r>
                <a:r>
                  <a:rPr lang="en-US" sz="2000" i="1" dirty="0">
                    <a:solidFill>
                      <a:srgbClr val="FF0000"/>
                    </a:solidFill>
                  </a:rPr>
                  <a:t>P</a:t>
                </a:r>
                <a:r>
                  <a:rPr lang="en-US" sz="2000" dirty="0">
                    <a:solidFill>
                      <a:srgbClr val="FF0000"/>
                    </a:solidFill>
                  </a:rPr>
                  <a:t>(</a:t>
                </a:r>
                <a:r>
                  <a:rPr lang="en-US" sz="2000" i="1" dirty="0">
                    <a:solidFill>
                      <a:srgbClr val="FF0000"/>
                    </a:solidFill>
                  </a:rPr>
                  <a:t>B</a:t>
                </a:r>
                <a:r>
                  <a:rPr lang="en-US" sz="2000" dirty="0">
                    <a:solidFill>
                      <a:srgbClr val="FF0000"/>
                    </a:solidFill>
                  </a:rPr>
                  <a:t>)</a:t>
                </a:r>
                <a:r>
                  <a:rPr lang="en-US" sz="2000" dirty="0"/>
                  <a:t>. When this is true, the events </a:t>
                </a:r>
                <a:r>
                  <a:rPr lang="en-US" sz="2000" i="1" dirty="0"/>
                  <a:t>A </a:t>
                </a:r>
                <a:r>
                  <a:rPr lang="en-US" sz="2000" dirty="0"/>
                  <a:t>and </a:t>
                </a:r>
                <a:r>
                  <a:rPr lang="en-US" sz="2000" i="1" dirty="0"/>
                  <a:t>B </a:t>
                </a:r>
                <a:r>
                  <a:rPr lang="en-US" sz="2000" dirty="0"/>
                  <a:t>are said to be</a:t>
                </a:r>
              </a:p>
              <a:p>
                <a:pPr marL="0" indent="0">
                  <a:buNone/>
                </a:pPr>
                <a:r>
                  <a:rPr lang="en-US" sz="2000" b="1" dirty="0">
                    <a:solidFill>
                      <a:srgbClr val="FF0000"/>
                    </a:solidFill>
                  </a:rPr>
                  <a:t>independent</a:t>
                </a:r>
                <a:r>
                  <a:rPr lang="en-US" sz="2000"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990600"/>
                <a:ext cx="8229600" cy="4389120"/>
              </a:xfrm>
              <a:blipFill>
                <a:blip r:embed="rId2"/>
                <a:stretch>
                  <a:fillRect l="-741" t="-833" r="-296" b="-35694"/>
                </a:stretch>
              </a:blipFill>
            </p:spPr>
            <p:txBody>
              <a:bodyPr/>
              <a:lstStyle/>
              <a:p>
                <a:r>
                  <a:rPr lang="en-US">
                    <a:noFill/>
                  </a:rPr>
                  <a:t> </a:t>
                </a:r>
              </a:p>
            </p:txBody>
          </p:sp>
        </mc:Fallback>
      </mc:AlternateContent>
    </p:spTree>
    <p:extLst>
      <p:ext uri="{BB962C8B-B14F-4D97-AF65-F5344CB8AC3E}">
        <p14:creationId xmlns:p14="http://schemas.microsoft.com/office/powerpoint/2010/main" val="413055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229600" cy="5486400"/>
          </a:xfrm>
        </p:spPr>
        <p:txBody>
          <a:bodyPr>
            <a:normAutofit fontScale="92500" lnSpcReduction="20000"/>
          </a:bodyPr>
          <a:lstStyle/>
          <a:p>
            <a:pPr marL="0" indent="0">
              <a:buNone/>
            </a:pPr>
            <a:r>
              <a:rPr lang="en-US" dirty="0">
                <a:solidFill>
                  <a:srgbClr val="FF0000"/>
                </a:solidFill>
              </a:rPr>
              <a:t>Example: </a:t>
            </a:r>
            <a:r>
              <a:rPr lang="en-US" dirty="0"/>
              <a:t>The probability that a regularly scheduled flight departs on time is </a:t>
            </a:r>
            <a:r>
              <a:rPr lang="en-US" i="1" dirty="0"/>
              <a:t>P</a:t>
            </a:r>
            <a:r>
              <a:rPr lang="en-US" dirty="0"/>
              <a:t>(</a:t>
            </a:r>
            <a:r>
              <a:rPr lang="en-US" i="1" dirty="0"/>
              <a:t>D</a:t>
            </a:r>
            <a:r>
              <a:rPr lang="en-US" dirty="0"/>
              <a:t>) = 0</a:t>
            </a:r>
            <a:r>
              <a:rPr lang="en-US" i="1" dirty="0"/>
              <a:t>.</a:t>
            </a:r>
            <a:r>
              <a:rPr lang="en-US" dirty="0"/>
              <a:t>83; the probability that it arrives on time is </a:t>
            </a:r>
            <a:r>
              <a:rPr lang="en-US" i="1" dirty="0"/>
              <a:t>P</a:t>
            </a:r>
            <a:r>
              <a:rPr lang="en-US" dirty="0"/>
              <a:t>(</a:t>
            </a:r>
            <a:r>
              <a:rPr lang="en-US" i="1" dirty="0"/>
              <a:t>A</a:t>
            </a:r>
            <a:r>
              <a:rPr lang="en-US" dirty="0"/>
              <a:t>) = 0</a:t>
            </a:r>
            <a:r>
              <a:rPr lang="en-US" i="1" dirty="0"/>
              <a:t>.</a:t>
            </a:r>
            <a:r>
              <a:rPr lang="en-US" dirty="0"/>
              <a:t>82; and the probability that it departs and arrives on time is </a:t>
            </a:r>
            <a:r>
              <a:rPr lang="en-US" i="1" dirty="0"/>
              <a:t>P</a:t>
            </a:r>
            <a:r>
              <a:rPr lang="en-US" dirty="0"/>
              <a:t>(</a:t>
            </a:r>
            <a:r>
              <a:rPr lang="en-US" i="1" dirty="0"/>
              <a:t>D ∩A</a:t>
            </a:r>
            <a:r>
              <a:rPr lang="en-US" dirty="0"/>
              <a:t>) = 0</a:t>
            </a:r>
            <a:r>
              <a:rPr lang="en-US" i="1" dirty="0"/>
              <a:t>.</a:t>
            </a:r>
            <a:r>
              <a:rPr lang="en-US" dirty="0"/>
              <a:t>78. Find the probability that a plane</a:t>
            </a:r>
          </a:p>
          <a:p>
            <a:pPr marL="514350" indent="-514350">
              <a:buFont typeface="+mj-lt"/>
              <a:buAutoNum type="alphaLcParenR"/>
            </a:pPr>
            <a:r>
              <a:rPr lang="en-US" dirty="0"/>
              <a:t>Arrives on time, given that it departed on time.</a:t>
            </a:r>
          </a:p>
          <a:p>
            <a:pPr marL="514350" indent="-514350">
              <a:buFont typeface="+mj-lt"/>
              <a:buAutoNum type="alphaLcParenR"/>
            </a:pPr>
            <a:r>
              <a:rPr lang="en-US" dirty="0"/>
              <a:t>Departed on time, given that it has arrived on time.</a:t>
            </a:r>
          </a:p>
          <a:p>
            <a:pPr marL="514350" indent="-514350">
              <a:buFont typeface="+mj-lt"/>
              <a:buAutoNum type="alphaLcParenR"/>
            </a:pPr>
            <a:r>
              <a:rPr lang="en-US" dirty="0"/>
              <a:t>Determine whether  A and B are independent events?</a:t>
            </a:r>
          </a:p>
          <a:p>
            <a:pPr marL="0" indent="0">
              <a:buNone/>
            </a:pPr>
            <a:r>
              <a:rPr lang="en-US" dirty="0">
                <a:solidFill>
                  <a:srgbClr val="FF0000"/>
                </a:solidFill>
              </a:rPr>
              <a:t>Solution:</a:t>
            </a:r>
            <a:r>
              <a:rPr lang="en-US" dirty="0"/>
              <a:t> </a:t>
            </a:r>
          </a:p>
          <a:p>
            <a:pPr marL="514350" indent="-514350">
              <a:buFont typeface="+mj-lt"/>
              <a:buAutoNum type="alphaLcParenR"/>
            </a:pPr>
            <a:r>
              <a:rPr lang="en-US" i="1" dirty="0"/>
              <a:t>P</a:t>
            </a:r>
            <a:r>
              <a:rPr lang="en-US" dirty="0"/>
              <a:t>(A</a:t>
            </a:r>
            <a:r>
              <a:rPr lang="en-US" i="1" dirty="0"/>
              <a:t>|D</a:t>
            </a:r>
            <a:r>
              <a:rPr lang="en-US" dirty="0"/>
              <a:t>) = </a:t>
            </a:r>
            <a:r>
              <a:rPr lang="en-US" i="1" dirty="0"/>
              <a:t>P</a:t>
            </a:r>
            <a:r>
              <a:rPr lang="en-US" dirty="0"/>
              <a:t>(A</a:t>
            </a:r>
            <a:r>
              <a:rPr lang="en-US" i="1" dirty="0"/>
              <a:t> ∩D</a:t>
            </a:r>
            <a:r>
              <a:rPr lang="en-US" dirty="0"/>
              <a:t>)/</a:t>
            </a:r>
            <a:r>
              <a:rPr lang="en-US" i="1" dirty="0"/>
              <a:t>P</a:t>
            </a:r>
            <a:r>
              <a:rPr lang="en-US" dirty="0"/>
              <a:t>(D) = 0.78/0.83 =0</a:t>
            </a:r>
            <a:r>
              <a:rPr lang="en-US" i="1" dirty="0"/>
              <a:t>.</a:t>
            </a:r>
            <a:r>
              <a:rPr lang="en-US" dirty="0"/>
              <a:t>94</a:t>
            </a:r>
          </a:p>
          <a:p>
            <a:pPr marL="514350" indent="-514350">
              <a:buFont typeface="+mj-lt"/>
              <a:buAutoNum type="alphaLcParenR"/>
            </a:pPr>
            <a:r>
              <a:rPr lang="en-US" i="1" dirty="0"/>
              <a:t>P</a:t>
            </a:r>
            <a:r>
              <a:rPr lang="en-US" dirty="0"/>
              <a:t>(D</a:t>
            </a:r>
            <a:r>
              <a:rPr lang="en-US" i="1" dirty="0"/>
              <a:t>|A</a:t>
            </a:r>
            <a:r>
              <a:rPr lang="en-US" dirty="0"/>
              <a:t>) = </a:t>
            </a:r>
            <a:r>
              <a:rPr lang="en-US" i="1" dirty="0"/>
              <a:t>P</a:t>
            </a:r>
            <a:r>
              <a:rPr lang="en-US" dirty="0"/>
              <a:t>(A</a:t>
            </a:r>
            <a:r>
              <a:rPr lang="en-US" i="1" dirty="0"/>
              <a:t> ∩D</a:t>
            </a:r>
            <a:r>
              <a:rPr lang="en-US" dirty="0"/>
              <a:t>)/</a:t>
            </a:r>
            <a:r>
              <a:rPr lang="en-US" i="1" dirty="0"/>
              <a:t>P</a:t>
            </a:r>
            <a:r>
              <a:rPr lang="en-US" dirty="0"/>
              <a:t>(A) = 0.78/0.82 =0</a:t>
            </a:r>
            <a:r>
              <a:rPr lang="en-US" i="1" dirty="0"/>
              <a:t>.</a:t>
            </a:r>
            <a:r>
              <a:rPr lang="en-US" dirty="0"/>
              <a:t>95</a:t>
            </a:r>
          </a:p>
          <a:p>
            <a:pPr marL="514350" indent="-514350">
              <a:buFont typeface="+mj-lt"/>
              <a:buAutoNum type="alphaLcParenR"/>
            </a:pPr>
            <a:r>
              <a:rPr lang="en-US" i="1" dirty="0"/>
              <a:t>P</a:t>
            </a:r>
            <a:r>
              <a:rPr lang="en-US" dirty="0"/>
              <a:t>(A</a:t>
            </a:r>
            <a:r>
              <a:rPr lang="en-US" i="1" dirty="0"/>
              <a:t>|D</a:t>
            </a:r>
            <a:r>
              <a:rPr lang="en-US" dirty="0"/>
              <a:t>) ≠ </a:t>
            </a:r>
            <a:r>
              <a:rPr lang="en-US" i="1" dirty="0"/>
              <a:t>P</a:t>
            </a:r>
            <a:r>
              <a:rPr lang="en-US" dirty="0"/>
              <a:t>(D)</a:t>
            </a:r>
          </a:p>
          <a:p>
            <a:pPr marL="0" indent="0">
              <a:buNone/>
            </a:pPr>
            <a:r>
              <a:rPr lang="en-US" dirty="0"/>
              <a:t>           </a:t>
            </a:r>
            <a:r>
              <a:rPr lang="en-US" sz="1900" dirty="0"/>
              <a:t>0.94    ≠   0.83</a:t>
            </a:r>
          </a:p>
          <a:p>
            <a:pPr marL="514350" indent="-514350">
              <a:buFont typeface="+mj-lt"/>
              <a:buAutoNum type="alphaLcParenR"/>
            </a:pPr>
            <a:r>
              <a:rPr lang="en-US" i="1" dirty="0"/>
              <a:t>P</a:t>
            </a:r>
            <a:r>
              <a:rPr lang="en-US" dirty="0"/>
              <a:t>(D</a:t>
            </a:r>
            <a:r>
              <a:rPr lang="en-US" i="1" dirty="0"/>
              <a:t>|A</a:t>
            </a:r>
            <a:r>
              <a:rPr lang="en-US" dirty="0"/>
              <a:t>) ≠ </a:t>
            </a:r>
            <a:r>
              <a:rPr lang="en-US" i="1" dirty="0"/>
              <a:t>P</a:t>
            </a:r>
            <a:r>
              <a:rPr lang="en-US" dirty="0"/>
              <a:t>(A)</a:t>
            </a:r>
          </a:p>
          <a:p>
            <a:pPr marL="0" indent="0">
              <a:buNone/>
            </a:pPr>
            <a:r>
              <a:rPr lang="en-US" sz="1900" dirty="0"/>
              <a:t>                0.95    ≠   0.82</a:t>
            </a:r>
          </a:p>
          <a:p>
            <a:pPr marL="0" indent="0">
              <a:buNone/>
            </a:pPr>
            <a:endParaRPr lang="en-US" dirty="0"/>
          </a:p>
          <a:p>
            <a:pPr marL="514350" indent="-514350">
              <a:buFont typeface="+mj-lt"/>
              <a:buAutoNum type="alphaLcParenR"/>
            </a:pPr>
            <a:endParaRPr lang="en-US" dirty="0"/>
          </a:p>
          <a:p>
            <a:pPr marL="514350" indent="-514350">
              <a:buFont typeface="+mj-lt"/>
              <a:buAutoNum type="alphaLcParenR"/>
            </a:pPr>
            <a:endParaRPr lang="en-US" dirty="0"/>
          </a:p>
          <a:p>
            <a:pPr marL="0" indent="0">
              <a:buNone/>
            </a:pPr>
            <a:endParaRPr lang="en-US" dirty="0"/>
          </a:p>
          <a:p>
            <a:pPr marL="0" indent="0">
              <a:buNone/>
            </a:pPr>
            <a:endParaRPr lang="en-US" dirty="0"/>
          </a:p>
        </p:txBody>
      </p:sp>
      <p:sp>
        <p:nvSpPr>
          <p:cNvPr id="4" name="Content Placeholder 2"/>
          <p:cNvSpPr txBox="1">
            <a:spLocks/>
          </p:cNvSpPr>
          <p:nvPr/>
        </p:nvSpPr>
        <p:spPr>
          <a:xfrm>
            <a:off x="876300" y="6048756"/>
            <a:ext cx="7543800" cy="551688"/>
          </a:xfrm>
          <a:prstGeom prst="rect">
            <a:avLst/>
          </a:prstGeom>
          <a:solidFill>
            <a:srgbClr val="002060"/>
          </a:solidFill>
          <a:ln>
            <a:solidFill>
              <a:srgbClr val="00B050"/>
            </a:solidFill>
          </a:ln>
          <a:scene3d>
            <a:camera prst="orthographicFront"/>
            <a:lightRig rig="threePt" dir="t"/>
          </a:scene3d>
          <a:sp3d>
            <a:bevelT prst="relaxedInset"/>
          </a:sp3d>
        </p:spPr>
        <p:txBody>
          <a:bodyPr vert="horz">
            <a:norm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lgn="ctr">
              <a:buFont typeface="Wingdings 2"/>
              <a:buNone/>
            </a:pPr>
            <a:r>
              <a:rPr lang="en-US" b="1" dirty="0">
                <a:solidFill>
                  <a:schemeClr val="bg1"/>
                </a:solidFill>
              </a:rPr>
              <a:t>Hence </a:t>
            </a:r>
            <a:r>
              <a:rPr lang="en-US" b="1" dirty="0">
                <a:solidFill>
                  <a:srgbClr val="FFC000"/>
                </a:solidFill>
              </a:rPr>
              <a:t>A</a:t>
            </a:r>
            <a:r>
              <a:rPr lang="en-US" b="1" i="1" dirty="0">
                <a:solidFill>
                  <a:schemeClr val="bg1"/>
                </a:solidFill>
              </a:rPr>
              <a:t> and</a:t>
            </a:r>
            <a:r>
              <a:rPr lang="en-US" b="1" dirty="0">
                <a:solidFill>
                  <a:schemeClr val="bg1"/>
                </a:solidFill>
              </a:rPr>
              <a:t> </a:t>
            </a:r>
            <a:r>
              <a:rPr lang="en-US" b="1" i="1" dirty="0">
                <a:solidFill>
                  <a:srgbClr val="FFC000"/>
                </a:solidFill>
              </a:rPr>
              <a:t>B </a:t>
            </a:r>
            <a:r>
              <a:rPr lang="en-US" b="1" i="1" dirty="0">
                <a:solidFill>
                  <a:schemeClr val="bg1"/>
                </a:solidFill>
              </a:rPr>
              <a:t>are not independent events</a:t>
            </a:r>
            <a:r>
              <a:rPr lang="en-US" b="1" dirty="0">
                <a:solidFill>
                  <a:schemeClr val="bg1"/>
                </a:solidFill>
              </a:rPr>
              <a:t>.</a:t>
            </a:r>
          </a:p>
        </p:txBody>
      </p:sp>
    </p:spTree>
    <p:extLst>
      <p:ext uri="{BB962C8B-B14F-4D97-AF65-F5344CB8AC3E}">
        <p14:creationId xmlns:p14="http://schemas.microsoft.com/office/powerpoint/2010/main" val="1555749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ppt_x"/>
                                          </p:val>
                                        </p:tav>
                                        <p:tav tm="100000">
                                          <p:val>
                                            <p:strVal val="#ppt_x"/>
                                          </p:val>
                                        </p:tav>
                                      </p:tavLst>
                                    </p:anim>
                                    <p:anim calcmode="lin" valueType="num">
                                      <p:cBhvr additive="base">
                                        <p:cTn id="3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2491" y="894588"/>
            <a:ext cx="8229600" cy="1143000"/>
          </a:xfrm>
        </p:spPr>
        <p:txBody>
          <a:bodyPr>
            <a:noAutofit/>
          </a:bodyPr>
          <a:lstStyle/>
          <a:p>
            <a:r>
              <a:rPr lang="en-US" sz="4000" b="1" dirty="0"/>
              <a:t>The Product Rule, or the Multiplicative Rule (For Not Independent Events)</a:t>
            </a:r>
            <a:endParaRPr lang="en-US" sz="4000" dirty="0"/>
          </a:p>
        </p:txBody>
      </p:sp>
      <p:sp>
        <p:nvSpPr>
          <p:cNvPr id="3" name="Content Placeholder 2"/>
          <p:cNvSpPr>
            <a:spLocks noGrp="1"/>
          </p:cNvSpPr>
          <p:nvPr>
            <p:ph idx="1"/>
          </p:nvPr>
        </p:nvSpPr>
        <p:spPr>
          <a:xfrm>
            <a:off x="622491" y="4337874"/>
            <a:ext cx="8229600" cy="2286000"/>
          </a:xfrm>
          <a:solidFill>
            <a:srgbClr val="002060"/>
          </a:solidFill>
          <a:ln>
            <a:solidFill>
              <a:srgbClr val="00B050"/>
            </a:solidFill>
          </a:ln>
          <a:scene3d>
            <a:camera prst="orthographicFront"/>
            <a:lightRig rig="threePt" dir="t"/>
          </a:scene3d>
          <a:sp3d>
            <a:bevelT prst="relaxedInset"/>
          </a:sp3d>
        </p:spPr>
        <p:txBody>
          <a:bodyPr vert="horz">
            <a:normAutofit fontScale="85000" lnSpcReduction="10000"/>
          </a:bodyPr>
          <a:lstStyle/>
          <a:p>
            <a:pPr marL="0" indent="0">
              <a:buNone/>
            </a:pPr>
            <a:r>
              <a:rPr lang="en-US" b="1" dirty="0">
                <a:solidFill>
                  <a:schemeClr val="bg1"/>
                </a:solidFill>
              </a:rPr>
              <a:t>Thus, the probability that </a:t>
            </a:r>
            <a:r>
              <a:rPr lang="en-US" b="1" dirty="0">
                <a:solidFill>
                  <a:srgbClr val="FFC000"/>
                </a:solidFill>
              </a:rPr>
              <a:t>both A and B occur </a:t>
            </a:r>
            <a:r>
              <a:rPr lang="en-US" b="1" dirty="0">
                <a:solidFill>
                  <a:schemeClr val="bg1"/>
                </a:solidFill>
              </a:rPr>
              <a:t>is equal to the probability that </a:t>
            </a:r>
            <a:r>
              <a:rPr lang="en-US" b="1" dirty="0">
                <a:solidFill>
                  <a:srgbClr val="FFC000"/>
                </a:solidFill>
              </a:rPr>
              <a:t>A occurs multiplied </a:t>
            </a:r>
            <a:r>
              <a:rPr lang="en-US" b="1" dirty="0">
                <a:solidFill>
                  <a:schemeClr val="bg1"/>
                </a:solidFill>
              </a:rPr>
              <a:t>by the </a:t>
            </a:r>
            <a:r>
              <a:rPr lang="en-US" b="1" dirty="0">
                <a:solidFill>
                  <a:srgbClr val="FFC000"/>
                </a:solidFill>
              </a:rPr>
              <a:t>conditional probability </a:t>
            </a:r>
            <a:r>
              <a:rPr lang="en-US" b="1" dirty="0">
                <a:solidFill>
                  <a:schemeClr val="bg1"/>
                </a:solidFill>
              </a:rPr>
              <a:t>that </a:t>
            </a:r>
            <a:r>
              <a:rPr lang="en-US" b="1" dirty="0">
                <a:solidFill>
                  <a:srgbClr val="FFC000"/>
                </a:solidFill>
              </a:rPr>
              <a:t>B occurs</a:t>
            </a:r>
            <a:r>
              <a:rPr lang="en-US" b="1" dirty="0">
                <a:solidFill>
                  <a:schemeClr val="bg1"/>
                </a:solidFill>
              </a:rPr>
              <a:t>, </a:t>
            </a:r>
            <a:r>
              <a:rPr lang="en-US" b="1" dirty="0">
                <a:solidFill>
                  <a:srgbClr val="FFC000"/>
                </a:solidFill>
              </a:rPr>
              <a:t>given that A occurs</a:t>
            </a:r>
            <a:r>
              <a:rPr lang="en-US" b="1" dirty="0">
                <a:solidFill>
                  <a:schemeClr val="bg1"/>
                </a:solidFill>
              </a:rPr>
              <a:t>. </a:t>
            </a:r>
          </a:p>
          <a:p>
            <a:pPr marL="0" indent="0">
              <a:buNone/>
            </a:pPr>
            <a:r>
              <a:rPr lang="en-US" b="1" dirty="0">
                <a:solidFill>
                  <a:schemeClr val="bg1"/>
                </a:solidFill>
              </a:rPr>
              <a:t>Since the events </a:t>
            </a:r>
            <a:r>
              <a:rPr lang="en-US" b="1" dirty="0">
                <a:solidFill>
                  <a:srgbClr val="FFC000"/>
                </a:solidFill>
              </a:rPr>
              <a:t>A ∩ B and B ∩ A </a:t>
            </a:r>
            <a:r>
              <a:rPr lang="en-US" b="1" dirty="0">
                <a:solidFill>
                  <a:schemeClr val="bg1"/>
                </a:solidFill>
              </a:rPr>
              <a:t>are </a:t>
            </a:r>
            <a:r>
              <a:rPr lang="en-US" b="1" dirty="0">
                <a:solidFill>
                  <a:srgbClr val="FFC000"/>
                </a:solidFill>
              </a:rPr>
              <a:t>equivalent</a:t>
            </a:r>
            <a:r>
              <a:rPr lang="en-US" b="1" dirty="0">
                <a:solidFill>
                  <a:schemeClr val="bg1"/>
                </a:solidFill>
              </a:rPr>
              <a:t>, it follows from Theorem</a:t>
            </a:r>
          </a:p>
          <a:p>
            <a:pPr marL="0" indent="0">
              <a:buNone/>
            </a:pPr>
            <a:r>
              <a:rPr lang="en-US" b="1" dirty="0">
                <a:solidFill>
                  <a:srgbClr val="FFC000"/>
                </a:solidFill>
              </a:rPr>
              <a:t>P(A ∩ B) = P(B ∩ A) = P(B)P(A|B).</a:t>
            </a:r>
          </a:p>
        </p:txBody>
      </p:sp>
      <p:pic>
        <p:nvPicPr>
          <p:cNvPr id="4" name="Picture 3"/>
          <p:cNvPicPr>
            <a:picLocks noChangeAspect="1"/>
          </p:cNvPicPr>
          <p:nvPr/>
        </p:nvPicPr>
        <p:blipFill rotWithShape="1">
          <a:blip r:embed="rId2" cstate="print"/>
          <a:srcRect l="35057" t="20833" r="27344" b="73706"/>
          <a:stretch/>
        </p:blipFill>
        <p:spPr>
          <a:xfrm>
            <a:off x="716342" y="3228404"/>
            <a:ext cx="8394891" cy="914400"/>
          </a:xfrm>
          <a:prstGeom prst="rect">
            <a:avLst/>
          </a:prstGeom>
        </p:spPr>
      </p:pic>
      <p:sp>
        <p:nvSpPr>
          <p:cNvPr id="5" name="Oval Callout 4"/>
          <p:cNvSpPr/>
          <p:nvPr/>
        </p:nvSpPr>
        <p:spPr>
          <a:xfrm>
            <a:off x="6064059" y="2051683"/>
            <a:ext cx="3060891" cy="998792"/>
          </a:xfrm>
          <a:prstGeom prst="wedgeEllipseCallout">
            <a:avLst>
              <a:gd name="adj1" fmla="val -77589"/>
              <a:gd name="adj2" fmla="val -492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Without Replacement</a:t>
            </a:r>
          </a:p>
        </p:txBody>
      </p:sp>
    </p:spTree>
    <p:extLst>
      <p:ext uri="{BB962C8B-B14F-4D97-AF65-F5344CB8AC3E}">
        <p14:creationId xmlns:p14="http://schemas.microsoft.com/office/powerpoint/2010/main" val="1612912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additive="base">
                                        <p:cTn id="1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2491" y="894588"/>
            <a:ext cx="8229600" cy="1143000"/>
          </a:xfrm>
        </p:spPr>
        <p:txBody>
          <a:bodyPr>
            <a:noAutofit/>
          </a:bodyPr>
          <a:lstStyle/>
          <a:p>
            <a:r>
              <a:rPr lang="en-US" sz="4000" b="1" dirty="0"/>
              <a:t>The Product Rule, or the Multiplicative Rule (For Independent Events)</a:t>
            </a:r>
            <a:endParaRPr lang="en-US" sz="4000" dirty="0"/>
          </a:p>
        </p:txBody>
      </p:sp>
      <p:sp>
        <p:nvSpPr>
          <p:cNvPr id="3" name="Content Placeholder 2"/>
          <p:cNvSpPr>
            <a:spLocks noGrp="1"/>
          </p:cNvSpPr>
          <p:nvPr>
            <p:ph idx="1"/>
          </p:nvPr>
        </p:nvSpPr>
        <p:spPr>
          <a:xfrm>
            <a:off x="457200" y="4343400"/>
            <a:ext cx="8229600" cy="2286000"/>
          </a:xfrm>
          <a:solidFill>
            <a:srgbClr val="002060"/>
          </a:solidFill>
          <a:ln>
            <a:solidFill>
              <a:srgbClr val="00B050"/>
            </a:solidFill>
          </a:ln>
          <a:scene3d>
            <a:camera prst="orthographicFront"/>
            <a:lightRig rig="threePt" dir="t"/>
          </a:scene3d>
          <a:sp3d>
            <a:bevelT prst="relaxedInset"/>
          </a:sp3d>
        </p:spPr>
        <p:txBody>
          <a:bodyPr vert="horz">
            <a:normAutofit fontScale="92500" lnSpcReduction="10000"/>
          </a:bodyPr>
          <a:lstStyle/>
          <a:p>
            <a:pPr marL="0" indent="0">
              <a:buNone/>
            </a:pPr>
            <a:r>
              <a:rPr lang="en-US" b="1" dirty="0">
                <a:solidFill>
                  <a:schemeClr val="bg1"/>
                </a:solidFill>
              </a:rPr>
              <a:t>Thus, the probability that </a:t>
            </a:r>
            <a:r>
              <a:rPr lang="en-US" b="1" dirty="0">
                <a:solidFill>
                  <a:srgbClr val="FFC000"/>
                </a:solidFill>
              </a:rPr>
              <a:t>both A and B occur </a:t>
            </a:r>
            <a:r>
              <a:rPr lang="en-US" b="1" dirty="0">
                <a:solidFill>
                  <a:schemeClr val="bg1"/>
                </a:solidFill>
              </a:rPr>
              <a:t>is equal to the probability that </a:t>
            </a:r>
            <a:r>
              <a:rPr lang="en-US" b="1" dirty="0">
                <a:solidFill>
                  <a:srgbClr val="FFC000"/>
                </a:solidFill>
              </a:rPr>
              <a:t>A occurs multiplied </a:t>
            </a:r>
            <a:r>
              <a:rPr lang="en-US" b="1" dirty="0">
                <a:solidFill>
                  <a:schemeClr val="bg1"/>
                </a:solidFill>
              </a:rPr>
              <a:t>by the </a:t>
            </a:r>
            <a:r>
              <a:rPr lang="en-US" b="1" dirty="0">
                <a:solidFill>
                  <a:srgbClr val="FFC000"/>
                </a:solidFill>
              </a:rPr>
              <a:t>probability </a:t>
            </a:r>
            <a:r>
              <a:rPr lang="en-US" b="1" dirty="0">
                <a:solidFill>
                  <a:schemeClr val="bg1"/>
                </a:solidFill>
              </a:rPr>
              <a:t>that </a:t>
            </a:r>
            <a:r>
              <a:rPr lang="en-US" b="1" dirty="0">
                <a:solidFill>
                  <a:srgbClr val="FFC000"/>
                </a:solidFill>
              </a:rPr>
              <a:t>B occurs</a:t>
            </a:r>
            <a:r>
              <a:rPr lang="en-US" b="1" dirty="0">
                <a:solidFill>
                  <a:schemeClr val="bg1"/>
                </a:solidFill>
              </a:rPr>
              <a:t>. </a:t>
            </a:r>
          </a:p>
          <a:p>
            <a:pPr marL="0" indent="0">
              <a:buNone/>
            </a:pPr>
            <a:r>
              <a:rPr lang="en-US" b="1" dirty="0">
                <a:solidFill>
                  <a:schemeClr val="bg1"/>
                </a:solidFill>
              </a:rPr>
              <a:t>Since the events </a:t>
            </a:r>
            <a:r>
              <a:rPr lang="en-US" b="1" dirty="0">
                <a:solidFill>
                  <a:srgbClr val="FFC000"/>
                </a:solidFill>
              </a:rPr>
              <a:t>A ∩ B and B ∩ A </a:t>
            </a:r>
            <a:r>
              <a:rPr lang="en-US" b="1" dirty="0">
                <a:solidFill>
                  <a:schemeClr val="bg1"/>
                </a:solidFill>
              </a:rPr>
              <a:t>are </a:t>
            </a:r>
            <a:r>
              <a:rPr lang="en-US" b="1" dirty="0">
                <a:solidFill>
                  <a:srgbClr val="FFC000"/>
                </a:solidFill>
              </a:rPr>
              <a:t>equivalent</a:t>
            </a:r>
            <a:r>
              <a:rPr lang="en-US" b="1" dirty="0">
                <a:solidFill>
                  <a:schemeClr val="bg1"/>
                </a:solidFill>
              </a:rPr>
              <a:t>, it follows from Theorem</a:t>
            </a:r>
          </a:p>
          <a:p>
            <a:pPr marL="0" indent="0">
              <a:buNone/>
            </a:pPr>
            <a:r>
              <a:rPr lang="en-US" b="1" dirty="0">
                <a:solidFill>
                  <a:srgbClr val="FFC000"/>
                </a:solidFill>
              </a:rPr>
              <a:t>P(A ∩ B) = P(B ∩ A) = P(B)P(A).</a:t>
            </a:r>
          </a:p>
        </p:txBody>
      </p:sp>
      <p:pic>
        <p:nvPicPr>
          <p:cNvPr id="5" name="Picture 4"/>
          <p:cNvPicPr>
            <a:picLocks noChangeAspect="1"/>
          </p:cNvPicPr>
          <p:nvPr/>
        </p:nvPicPr>
        <p:blipFill rotWithShape="1">
          <a:blip r:embed="rId2" cstate="print"/>
          <a:srcRect l="35147" t="48958" r="27344" b="39583"/>
          <a:stretch/>
        </p:blipFill>
        <p:spPr>
          <a:xfrm>
            <a:off x="1035146" y="2600660"/>
            <a:ext cx="7404290" cy="1696400"/>
          </a:xfrm>
          <a:prstGeom prst="rect">
            <a:avLst/>
          </a:prstGeom>
        </p:spPr>
      </p:pic>
      <p:sp>
        <p:nvSpPr>
          <p:cNvPr id="6" name="Oval Callout 5"/>
          <p:cNvSpPr/>
          <p:nvPr/>
        </p:nvSpPr>
        <p:spPr>
          <a:xfrm>
            <a:off x="6064059" y="2051683"/>
            <a:ext cx="3060891" cy="998792"/>
          </a:xfrm>
          <a:prstGeom prst="wedgeEllipseCallout">
            <a:avLst>
              <a:gd name="adj1" fmla="val -77589"/>
              <a:gd name="adj2" fmla="val -492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With Replacement</a:t>
            </a:r>
          </a:p>
        </p:txBody>
      </p:sp>
    </p:spTree>
    <p:extLst>
      <p:ext uri="{BB962C8B-B14F-4D97-AF65-F5344CB8AC3E}">
        <p14:creationId xmlns:p14="http://schemas.microsoft.com/office/powerpoint/2010/main" val="2473039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additive="base">
                                        <p:cTn id="1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0" indent="0">
              <a:buNone/>
            </a:pPr>
            <a:r>
              <a:rPr lang="en-US" b="1" dirty="0">
                <a:solidFill>
                  <a:srgbClr val="FF0000"/>
                </a:solidFill>
              </a:rPr>
              <a:t>Example:</a:t>
            </a:r>
            <a:r>
              <a:rPr lang="en-US" dirty="0"/>
              <a:t> Suppose that we have a fuse box containing 20 fuses, of which 5 are defective. If 2 fuses are selected at random and removed from the box in succession without replacing the first, what is the probability that both fuses are defective?</a:t>
            </a:r>
          </a:p>
          <a:p>
            <a:pPr marL="0" indent="0">
              <a:buNone/>
            </a:pPr>
            <a:r>
              <a:rPr lang="en-US" b="1" dirty="0">
                <a:solidFill>
                  <a:srgbClr val="FF0000"/>
                </a:solidFill>
              </a:rPr>
              <a:t>Solution:</a:t>
            </a:r>
            <a:r>
              <a:rPr lang="en-US" dirty="0"/>
              <a:t> </a:t>
            </a:r>
          </a:p>
          <a:p>
            <a:pPr marL="0" indent="0">
              <a:buNone/>
            </a:pPr>
            <a:r>
              <a:rPr lang="en-US" dirty="0"/>
              <a:t>Let </a:t>
            </a:r>
            <a:r>
              <a:rPr lang="en-US" i="1" dirty="0"/>
              <a:t>A </a:t>
            </a:r>
            <a:r>
              <a:rPr lang="en-US" dirty="0"/>
              <a:t>be the event that the first fuse is defective and </a:t>
            </a:r>
            <a:r>
              <a:rPr lang="en-US" i="1" dirty="0"/>
              <a:t>B </a:t>
            </a:r>
            <a:r>
              <a:rPr lang="en-US" dirty="0"/>
              <a:t>the event that the second fuse is defective.</a:t>
            </a:r>
          </a:p>
          <a:p>
            <a:pPr marL="0" indent="0">
              <a:buNone/>
            </a:pPr>
            <a:endParaRPr lang="en-US" dirty="0"/>
          </a:p>
          <a:p>
            <a:pPr marL="0" indent="0">
              <a:buNone/>
            </a:pPr>
            <a:r>
              <a:rPr lang="en-US" i="1" dirty="0"/>
              <a:t>P</a:t>
            </a:r>
            <a:r>
              <a:rPr lang="en-US" dirty="0"/>
              <a:t>(</a:t>
            </a:r>
            <a:r>
              <a:rPr lang="en-US" i="1" dirty="0"/>
              <a:t>A ∩ B</a:t>
            </a:r>
            <a:r>
              <a:rPr lang="en-US" dirty="0"/>
              <a:t>) = P(A)P(B/A)</a:t>
            </a:r>
          </a:p>
          <a:p>
            <a:pPr marL="0" indent="0">
              <a:buNone/>
            </a:pPr>
            <a:r>
              <a:rPr lang="en-US" dirty="0"/>
              <a:t>                =(5/20)(4/19)</a:t>
            </a:r>
          </a:p>
          <a:p>
            <a:pPr marL="0" indent="0">
              <a:buNone/>
            </a:pPr>
            <a:r>
              <a:rPr lang="en-US" dirty="0"/>
              <a:t>                 = 1/19</a:t>
            </a:r>
          </a:p>
          <a:p>
            <a:pPr marL="0" indent="0">
              <a:buNone/>
            </a:pPr>
            <a:endParaRPr lang="en-US" dirty="0"/>
          </a:p>
          <a:p>
            <a:endParaRPr lang="en-US" dirty="0"/>
          </a:p>
        </p:txBody>
      </p:sp>
    </p:spTree>
    <p:extLst>
      <p:ext uri="{BB962C8B-B14F-4D97-AF65-F5344CB8AC3E}">
        <p14:creationId xmlns:p14="http://schemas.microsoft.com/office/powerpoint/2010/main" val="2269296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marL="0" indent="0">
              <a:buNone/>
            </a:pPr>
            <a:r>
              <a:rPr lang="en-US" b="1" dirty="0">
                <a:solidFill>
                  <a:srgbClr val="FF0000"/>
                </a:solidFill>
              </a:rPr>
              <a:t>Example:</a:t>
            </a:r>
            <a:r>
              <a:rPr lang="en-US" dirty="0"/>
              <a:t> A small town has one fire engine and one ambulance available for emergencies. The probability that the fire engine is available when needed is 0.98, and the probability that the ambulance is available when called is 0.92. In the event of an injury resulting from a burning building, find the probability that both the ambulance and the fire engine will be available, assuming they operate independently.</a:t>
            </a:r>
          </a:p>
          <a:p>
            <a:pPr marL="0" indent="0">
              <a:buNone/>
            </a:pPr>
            <a:r>
              <a:rPr lang="en-US" b="1" dirty="0">
                <a:solidFill>
                  <a:srgbClr val="FF0000"/>
                </a:solidFill>
              </a:rPr>
              <a:t>Solution:</a:t>
            </a:r>
            <a:r>
              <a:rPr lang="en-US" dirty="0"/>
              <a:t> </a:t>
            </a:r>
          </a:p>
          <a:p>
            <a:pPr marL="0" indent="0">
              <a:buNone/>
            </a:pPr>
            <a:r>
              <a:rPr lang="en-US" dirty="0"/>
              <a:t>Let </a:t>
            </a:r>
            <a:r>
              <a:rPr lang="en-US" i="1" dirty="0"/>
              <a:t>A </a:t>
            </a:r>
            <a:r>
              <a:rPr lang="en-US" dirty="0"/>
              <a:t>and </a:t>
            </a:r>
            <a:r>
              <a:rPr lang="en-US" i="1" dirty="0"/>
              <a:t>B </a:t>
            </a:r>
            <a:r>
              <a:rPr lang="en-US" dirty="0"/>
              <a:t>represent the respective events that the fire engine and the ambulance are available. Then</a:t>
            </a:r>
          </a:p>
          <a:p>
            <a:pPr marL="0" indent="0">
              <a:buNone/>
            </a:pPr>
            <a:r>
              <a:rPr lang="en-US" i="1" dirty="0"/>
              <a:t>P</a:t>
            </a:r>
            <a:r>
              <a:rPr lang="en-US" dirty="0"/>
              <a:t>(</a:t>
            </a:r>
            <a:r>
              <a:rPr lang="en-US" i="1" dirty="0"/>
              <a:t>A ∩ B</a:t>
            </a:r>
            <a:r>
              <a:rPr lang="en-US" dirty="0"/>
              <a:t>) = </a:t>
            </a:r>
            <a:r>
              <a:rPr lang="en-US" i="1" dirty="0"/>
              <a:t>P</a:t>
            </a:r>
            <a:r>
              <a:rPr lang="en-US" dirty="0"/>
              <a:t>(</a:t>
            </a:r>
            <a:r>
              <a:rPr lang="en-US" i="1" dirty="0"/>
              <a:t>A</a:t>
            </a:r>
            <a:r>
              <a:rPr lang="en-US" dirty="0"/>
              <a:t>)</a:t>
            </a:r>
            <a:r>
              <a:rPr lang="en-US" i="1" dirty="0"/>
              <a:t>P</a:t>
            </a:r>
            <a:r>
              <a:rPr lang="en-US" dirty="0"/>
              <a:t>(</a:t>
            </a:r>
            <a:r>
              <a:rPr lang="en-US" i="1" dirty="0"/>
              <a:t>B</a:t>
            </a:r>
            <a:r>
              <a:rPr lang="en-US" dirty="0"/>
              <a:t>) = (0</a:t>
            </a:r>
            <a:r>
              <a:rPr lang="en-US" i="1" dirty="0"/>
              <a:t>.</a:t>
            </a:r>
            <a:r>
              <a:rPr lang="en-US" dirty="0"/>
              <a:t>98)(0</a:t>
            </a:r>
            <a:r>
              <a:rPr lang="en-US" i="1" dirty="0"/>
              <a:t>.</a:t>
            </a:r>
            <a:r>
              <a:rPr lang="en-US" dirty="0"/>
              <a:t>92) = 0</a:t>
            </a:r>
            <a:r>
              <a:rPr lang="en-US" i="1" dirty="0"/>
              <a:t>.</a:t>
            </a:r>
            <a:r>
              <a:rPr lang="en-US" dirty="0"/>
              <a:t>9016</a:t>
            </a:r>
            <a:r>
              <a:rPr lang="en-US" i="1" dirty="0"/>
              <a:t>.</a:t>
            </a:r>
            <a:endParaRPr lang="en-US" dirty="0"/>
          </a:p>
          <a:p>
            <a:endParaRPr lang="en-US" dirty="0"/>
          </a:p>
        </p:txBody>
      </p:sp>
    </p:spTree>
    <p:extLst>
      <p:ext uri="{BB962C8B-B14F-4D97-AF65-F5344CB8AC3E}">
        <p14:creationId xmlns:p14="http://schemas.microsoft.com/office/powerpoint/2010/main" val="356686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l="42753" t="39583" r="16252" b="37500"/>
          <a:stretch>
            <a:fillRect/>
          </a:stretch>
        </p:blipFill>
        <p:spPr bwMode="auto">
          <a:xfrm>
            <a:off x="720436" y="2057400"/>
            <a:ext cx="8423564" cy="2647406"/>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486400"/>
          </a:xfrm>
        </p:spPr>
        <p:txBody>
          <a:bodyPr>
            <a:normAutofit/>
          </a:bodyPr>
          <a:lstStyle/>
          <a:p>
            <a:pPr>
              <a:buNone/>
            </a:pPr>
            <a:r>
              <a:rPr lang="en-US" b="1" dirty="0">
                <a:solidFill>
                  <a:srgbClr val="FF0000"/>
                </a:solidFill>
              </a:rPr>
              <a:t>   </a:t>
            </a:r>
            <a:r>
              <a:rPr lang="en-US" sz="2000" b="1" dirty="0">
                <a:solidFill>
                  <a:srgbClr val="FF0000"/>
                </a:solidFill>
              </a:rPr>
              <a:t>Example:</a:t>
            </a:r>
            <a:r>
              <a:rPr lang="en-US" sz="2000" dirty="0"/>
              <a:t> Three cards are drawn in succession, without  replacement, from an ordinary deck of playing cards. Find the probability that the event </a:t>
            </a:r>
            <a:r>
              <a:rPr lang="en-US" sz="2000" i="1" dirty="0"/>
              <a:t>A1 ∩ A2 ∩ A3 occurs, where A1 is the event that the first card is a red ace, A2 is the event that the second card </a:t>
            </a:r>
            <a:r>
              <a:rPr lang="en-US" sz="2000" dirty="0"/>
              <a:t>is a 10 or a jack, and </a:t>
            </a:r>
            <a:r>
              <a:rPr lang="en-US" sz="2000" i="1" dirty="0"/>
              <a:t>A3 is the event that the third card is greater than 3 but less </a:t>
            </a:r>
            <a:r>
              <a:rPr lang="en-US" sz="2000" dirty="0"/>
              <a:t>than 7.</a:t>
            </a:r>
          </a:p>
          <a:p>
            <a:pPr>
              <a:buNone/>
            </a:pPr>
            <a:r>
              <a:rPr lang="en-US" sz="2000" b="1" i="1" dirty="0">
                <a:solidFill>
                  <a:srgbClr val="FF0000"/>
                </a:solidFill>
              </a:rPr>
              <a:t>    </a:t>
            </a:r>
            <a:r>
              <a:rPr lang="en-US" sz="2000" b="1" dirty="0">
                <a:solidFill>
                  <a:srgbClr val="FF0000"/>
                </a:solidFill>
              </a:rPr>
              <a:t>Solution :</a:t>
            </a:r>
            <a:r>
              <a:rPr lang="en-US" sz="2000" b="1" i="1" dirty="0"/>
              <a:t> </a:t>
            </a:r>
          </a:p>
          <a:p>
            <a:pPr lvl="1"/>
            <a:r>
              <a:rPr lang="en-US" sz="1800" i="1" dirty="0"/>
              <a:t>A1: the first card is a red ace,</a:t>
            </a:r>
          </a:p>
          <a:p>
            <a:pPr lvl="1"/>
            <a:r>
              <a:rPr lang="en-US" sz="1800" i="1" dirty="0"/>
              <a:t>A2: the second card is a 10 or a jack, </a:t>
            </a:r>
          </a:p>
          <a:p>
            <a:pPr lvl="1"/>
            <a:r>
              <a:rPr lang="en-US" sz="1800" i="1" dirty="0"/>
              <a:t>A3: the third card is greater than 3 but less than 7</a:t>
            </a:r>
            <a:endParaRPr lang="en-US" i="1" dirty="0"/>
          </a:p>
          <a:p>
            <a:pPr lvl="1">
              <a:buNone/>
            </a:pPr>
            <a:endParaRPr lang="en-US" i="1" dirty="0"/>
          </a:p>
          <a:p>
            <a:pPr>
              <a:buNone/>
            </a:pPr>
            <a:endParaRPr lang="en-US" dirty="0"/>
          </a:p>
        </p:txBody>
      </p:sp>
      <p:pic>
        <p:nvPicPr>
          <p:cNvPr id="2051" name="Picture 3"/>
          <p:cNvPicPr>
            <a:picLocks noChangeAspect="1" noChangeArrowheads="1"/>
          </p:cNvPicPr>
          <p:nvPr/>
        </p:nvPicPr>
        <p:blipFill>
          <a:blip r:embed="rId2" cstate="print"/>
          <a:srcRect/>
          <a:stretch>
            <a:fillRect/>
          </a:stretch>
        </p:blipFill>
        <p:spPr bwMode="auto">
          <a:xfrm>
            <a:off x="990600" y="4114800"/>
            <a:ext cx="4810125" cy="733425"/>
          </a:xfrm>
          <a:prstGeom prst="rect">
            <a:avLst/>
          </a:prstGeom>
          <a:noFill/>
          <a:ln w="9525">
            <a:noFill/>
            <a:miter lim="800000"/>
            <a:headEnd/>
            <a:tailEnd/>
          </a:ln>
        </p:spPr>
      </p:pic>
      <p:pic>
        <p:nvPicPr>
          <p:cNvPr id="2052" name="Picture 4"/>
          <p:cNvPicPr>
            <a:picLocks noChangeAspect="1" noChangeArrowheads="1"/>
          </p:cNvPicPr>
          <p:nvPr/>
        </p:nvPicPr>
        <p:blipFill>
          <a:blip r:embed="rId3" cstate="print"/>
          <a:srcRect/>
          <a:stretch>
            <a:fillRect/>
          </a:stretch>
        </p:blipFill>
        <p:spPr bwMode="auto">
          <a:xfrm>
            <a:off x="914400" y="5410200"/>
            <a:ext cx="4619625" cy="895350"/>
          </a:xfrm>
          <a:prstGeom prst="rect">
            <a:avLst/>
          </a:prstGeom>
          <a:noFill/>
          <a:ln w="9525">
            <a:noFill/>
            <a:miter lim="800000"/>
            <a:headEnd/>
            <a:tailEnd/>
          </a:ln>
        </p:spPr>
      </p:pic>
    </p:spTree>
    <p:extLst>
      <p:ext uri="{BB962C8B-B14F-4D97-AF65-F5344CB8AC3E}">
        <p14:creationId xmlns:p14="http://schemas.microsoft.com/office/powerpoint/2010/main" val="356686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051"/>
                                        </p:tgtEl>
                                        <p:attrNameLst>
                                          <p:attrName>style.visibility</p:attrName>
                                        </p:attrNameLst>
                                      </p:cBhvr>
                                      <p:to>
                                        <p:strVal val="visible"/>
                                      </p:to>
                                    </p:set>
                                    <p:anim calcmode="lin" valueType="num">
                                      <p:cBhvr additive="base">
                                        <p:cTn id="19" dur="500" fill="hold"/>
                                        <p:tgtEl>
                                          <p:spTgt spid="2051"/>
                                        </p:tgtEl>
                                        <p:attrNameLst>
                                          <p:attrName>ppt_x</p:attrName>
                                        </p:attrNameLst>
                                      </p:cBhvr>
                                      <p:tavLst>
                                        <p:tav tm="0">
                                          <p:val>
                                            <p:strVal val="#ppt_x"/>
                                          </p:val>
                                        </p:tav>
                                        <p:tav tm="100000">
                                          <p:val>
                                            <p:strVal val="#ppt_x"/>
                                          </p:val>
                                        </p:tav>
                                      </p:tavLst>
                                    </p:anim>
                                    <p:anim calcmode="lin" valueType="num">
                                      <p:cBhvr additive="base">
                                        <p:cTn id="20" dur="500" fill="hold"/>
                                        <p:tgtEl>
                                          <p:spTgt spid="205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052"/>
                                        </p:tgtEl>
                                        <p:attrNameLst>
                                          <p:attrName>style.visibility</p:attrName>
                                        </p:attrNameLst>
                                      </p:cBhvr>
                                      <p:to>
                                        <p:strVal val="visible"/>
                                      </p:to>
                                    </p:set>
                                    <p:anim calcmode="lin" valueType="num">
                                      <p:cBhvr additive="base">
                                        <p:cTn id="25" dur="500" fill="hold"/>
                                        <p:tgtEl>
                                          <p:spTgt spid="2052"/>
                                        </p:tgtEl>
                                        <p:attrNameLst>
                                          <p:attrName>ppt_x</p:attrName>
                                        </p:attrNameLst>
                                      </p:cBhvr>
                                      <p:tavLst>
                                        <p:tav tm="0">
                                          <p:val>
                                            <p:strVal val="#ppt_x"/>
                                          </p:val>
                                        </p:tav>
                                        <p:tav tm="100000">
                                          <p:val>
                                            <p:strVal val="#ppt_x"/>
                                          </p:val>
                                        </p:tav>
                                      </p:tavLst>
                                    </p:anim>
                                    <p:anim calcmode="lin" valueType="num">
                                      <p:cBhvr additive="base">
                                        <p:cTn id="26" dur="500" fill="hold"/>
                                        <p:tgtEl>
                                          <p:spTgt spid="20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838200"/>
            <a:ext cx="8229600" cy="1143000"/>
          </a:xfrm>
        </p:spPr>
        <p:txBody>
          <a:bodyPr>
            <a:normAutofit fontScale="90000"/>
          </a:bodyPr>
          <a:lstStyle/>
          <a:p>
            <a:r>
              <a:rPr lang="en-US" dirty="0"/>
              <a:t>Assignment</a:t>
            </a:r>
            <a:br>
              <a:rPr lang="en-US" dirty="0"/>
            </a:br>
            <a:r>
              <a:rPr lang="en-US" dirty="0"/>
              <a:t>Page No 69</a:t>
            </a:r>
          </a:p>
        </p:txBody>
      </p:sp>
      <p:sp>
        <p:nvSpPr>
          <p:cNvPr id="3" name="Content Placeholder 2"/>
          <p:cNvSpPr>
            <a:spLocks noGrp="1"/>
          </p:cNvSpPr>
          <p:nvPr>
            <p:ph idx="1"/>
          </p:nvPr>
        </p:nvSpPr>
        <p:spPr>
          <a:xfrm>
            <a:off x="457200" y="1935480"/>
            <a:ext cx="8229600" cy="4922520"/>
          </a:xfrm>
        </p:spPr>
        <p:txBody>
          <a:bodyPr>
            <a:normAutofit fontScale="92500" lnSpcReduction="10000"/>
          </a:bodyPr>
          <a:lstStyle/>
          <a:p>
            <a:r>
              <a:rPr lang="en-US" dirty="0"/>
              <a:t>2.74</a:t>
            </a:r>
          </a:p>
          <a:p>
            <a:r>
              <a:rPr lang="en-US" dirty="0"/>
              <a:t>2.75</a:t>
            </a:r>
          </a:p>
          <a:p>
            <a:r>
              <a:rPr lang="en-US" dirty="0"/>
              <a:t>2.76</a:t>
            </a:r>
          </a:p>
          <a:p>
            <a:r>
              <a:rPr lang="en-US" dirty="0"/>
              <a:t>2.77</a:t>
            </a:r>
          </a:p>
          <a:p>
            <a:r>
              <a:rPr lang="en-US" dirty="0"/>
              <a:t>2.78</a:t>
            </a:r>
          </a:p>
          <a:p>
            <a:r>
              <a:rPr lang="en-US" dirty="0"/>
              <a:t>2.80</a:t>
            </a:r>
          </a:p>
          <a:p>
            <a:r>
              <a:rPr lang="en-US" dirty="0"/>
              <a:t>2.81</a:t>
            </a:r>
          </a:p>
          <a:p>
            <a:r>
              <a:rPr lang="en-US" dirty="0"/>
              <a:t>2.82</a:t>
            </a:r>
          </a:p>
          <a:p>
            <a:r>
              <a:rPr lang="en-US" dirty="0"/>
              <a:t>2.83</a:t>
            </a:r>
          </a:p>
          <a:p>
            <a:r>
              <a:rPr lang="en-US" dirty="0"/>
              <a:t>2.84</a:t>
            </a:r>
          </a:p>
          <a:p>
            <a:r>
              <a:rPr lang="en-US" dirty="0"/>
              <a:t>2.85</a:t>
            </a:r>
          </a:p>
          <a:p>
            <a:r>
              <a:rPr lang="en-US"/>
              <a:t>2.89</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6211</TotalTime>
  <Words>1359</Words>
  <Application>Microsoft Office PowerPoint</Application>
  <PresentationFormat>On-screen Show (4:3)</PresentationFormat>
  <Paragraphs>93</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Calibri</vt:lpstr>
      <vt:lpstr>Cambria Math</vt:lpstr>
      <vt:lpstr>Constantia</vt:lpstr>
      <vt:lpstr>Wingdings 2</vt:lpstr>
      <vt:lpstr>Flow</vt:lpstr>
      <vt:lpstr>Conditional Probability, Independence, and the Product Rule</vt:lpstr>
      <vt:lpstr>Conditional Probability</vt:lpstr>
      <vt:lpstr>PowerPoint Presentation</vt:lpstr>
      <vt:lpstr>PowerPoint Presentation</vt:lpstr>
      <vt:lpstr>PowerPoint Presentation</vt:lpstr>
      <vt:lpstr>Independent Events</vt:lpstr>
      <vt:lpstr>PowerPoint Presentation</vt:lpstr>
      <vt:lpstr>PowerPoint Presentation</vt:lpstr>
      <vt:lpstr>The Product Rule, or the Multiplicative Rule (For Not Independent Events)</vt:lpstr>
      <vt:lpstr>The Product Rule, or the Multiplicative Rule (For Independent Events)</vt:lpstr>
      <vt:lpstr>PowerPoint Presentation</vt:lpstr>
      <vt:lpstr>PowerPoint Presentation</vt:lpstr>
      <vt:lpstr>PowerPoint Presentation</vt:lpstr>
      <vt:lpstr>PowerPoint Presentation</vt:lpstr>
      <vt:lpstr>Assignment Page No 69</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Counting Sample Points</dc:title>
  <dc:creator>shahjee</dc:creator>
  <cp:lastModifiedBy>amna humayun</cp:lastModifiedBy>
  <cp:revision>202</cp:revision>
  <dcterms:created xsi:type="dcterms:W3CDTF">2015-09-19T08:33:42Z</dcterms:created>
  <dcterms:modified xsi:type="dcterms:W3CDTF">2024-03-21T10:48:16Z</dcterms:modified>
</cp:coreProperties>
</file>