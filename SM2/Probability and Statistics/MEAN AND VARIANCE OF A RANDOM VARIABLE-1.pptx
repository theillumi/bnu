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4" r:id="rId5"/>
    <p:sldId id="269" r:id="rId6"/>
    <p:sldId id="270" r:id="rId7"/>
    <p:sldId id="271" r:id="rId8"/>
    <p:sldId id="265" r:id="rId9"/>
    <p:sldId id="272" r:id="rId10"/>
    <p:sldId id="267" r:id="rId11"/>
    <p:sldId id="273" r:id="rId12"/>
    <p:sldId id="260" r:id="rId13"/>
    <p:sldId id="261" r:id="rId14"/>
    <p:sldId id="263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BE5B9-CEF3-4C51-B595-629B9A4391A0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1E64E-2917-4818-A647-7487273A71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MEAN AND VARIANCE OF A RANDOM VARIABLE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MEAN/EXPECTED VALUE OF </a:t>
            </a:r>
            <a:r>
              <a:rPr lang="en-US" dirty="0">
                <a:solidFill>
                  <a:srgbClr val="0070C0"/>
                </a:solidFill>
              </a:rPr>
              <a:t>SINGLE</a:t>
            </a:r>
            <a:r>
              <a:rPr lang="en-US" dirty="0"/>
              <a:t> RANDOM VARIABLE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b="41026"/>
          <a:stretch>
            <a:fillRect/>
          </a:stretch>
        </p:blipFill>
        <p:spPr bwMode="auto">
          <a:xfrm>
            <a:off x="685800" y="2176463"/>
            <a:ext cx="8239021" cy="18621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81200" y="4562220"/>
            <a:ext cx="4114800" cy="92418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VARIANCE AND STANDARD DEVIATION OF A RANDOM VARIABLE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8839200" cy="1132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09800" y="2895600"/>
            <a:ext cx="4038600" cy="573790"/>
          </a:xfrm>
          <a:prstGeom prst="rect">
            <a:avLst/>
          </a:prstGeom>
          <a:noFill/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3657600"/>
            <a:ext cx="4343400" cy="678152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7048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1562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4724400"/>
            <a:ext cx="2590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Standard Deviation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599" y="5181600"/>
            <a:ext cx="4946605" cy="997694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9239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MEAN/EXPECTED VALUE OF </a:t>
            </a:r>
            <a:r>
              <a:rPr lang="en-US" dirty="0">
                <a:solidFill>
                  <a:srgbClr val="0070C0"/>
                </a:solidFill>
              </a:rPr>
              <a:t>JOINT</a:t>
            </a:r>
            <a:r>
              <a:rPr lang="en-US" dirty="0"/>
              <a:t> RANDOM VARIABLE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2362200"/>
            <a:ext cx="3505200" cy="758858"/>
          </a:xfrm>
          <a:prstGeom prst="rect">
            <a:avLst/>
          </a:prstGeom>
          <a:noFill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From a box containing 4 black, 3 red and 2 green balls, 3 balls are drawn. Find the probability distribution for the number of green balls. </a:t>
            </a:r>
          </a:p>
          <a:p>
            <a:pPr>
              <a:buNone/>
            </a:pPr>
            <a:r>
              <a:rPr lang="en-US" sz="2400" b="1" dirty="0"/>
              <a:t>     Find mean of X and standard deviation of X.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343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8200" y="2590800"/>
            <a:ext cx="2057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 x 0,1,2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66800" y="3810000"/>
          <a:ext cx="2057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2362200"/>
            <a:ext cx="2514600" cy="1033922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12287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From a box containing 4 black, 3 red and 2 green balls, 3 balls are drawn. Find the probability distribution for the number of green balls. </a:t>
            </a:r>
          </a:p>
          <a:p>
            <a:pPr>
              <a:buNone/>
            </a:pPr>
            <a:r>
              <a:rPr lang="en-US" sz="2400" b="1" dirty="0"/>
              <a:t>     Find mean of X and standard deviation of X.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343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8200" y="2590800"/>
            <a:ext cx="2057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 x 0,1,2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90600" y="48006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 gridSpan="2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∑XP(X)=8/12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2362200"/>
            <a:ext cx="2514600" cy="1033922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12287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4000" y="3429000"/>
            <a:ext cx="2819400" cy="10668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E(X)=∑XP(X)=8/12 =0.66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From a box containing 4 black, 3 red and 2 green balls, 3 balls are drawn. Find the probability distribution for the number of green balls. </a:t>
            </a:r>
          </a:p>
          <a:p>
            <a:pPr>
              <a:buNone/>
            </a:pPr>
            <a:r>
              <a:rPr lang="en-US" sz="2400" b="1" dirty="0"/>
              <a:t>     Find mean of X and standard deviation of X.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343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8200" y="2590800"/>
            <a:ext cx="2057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 x 0,1,2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800" y="4800600"/>
          <a:ext cx="46481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 gridSpan="2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∑XP(X)=8/12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∑X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P(X)=10/12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2362200"/>
            <a:ext cx="2514600" cy="1033922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12287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4000" y="3429000"/>
            <a:ext cx="2819400" cy="762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E(X)=∑XP(X)=8/12 =0.66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57800" y="4495800"/>
            <a:ext cx="3505200" cy="547281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5334000" y="5181600"/>
            <a:ext cx="2819400" cy="6858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</a:t>
            </a:r>
          </a:p>
          <a:p>
            <a:r>
              <a:rPr lang="en-US" b="1" dirty="0">
                <a:solidFill>
                  <a:schemeClr val="tx1"/>
                </a:solidFill>
              </a:rPr>
              <a:t> = [ 10/12 – (8/12)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]</a:t>
            </a:r>
          </a:p>
          <a:p>
            <a:r>
              <a:rPr lang="en-US" b="1" dirty="0">
                <a:solidFill>
                  <a:schemeClr val="tx1"/>
                </a:solidFill>
              </a:rPr>
              <a:t> = 0.3977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6019800"/>
            <a:ext cx="838200" cy="630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6629400" y="6172200"/>
            <a:ext cx="129540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</a:t>
            </a:r>
          </a:p>
          <a:p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r>
              <a:rPr lang="en-US" b="1" dirty="0">
                <a:solidFill>
                  <a:schemeClr val="tx1"/>
                </a:solidFill>
              </a:rPr>
              <a:t> = 0.630635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152400" y="228600"/>
            <a:ext cx="8915400" cy="6629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1524000"/>
          <a:ext cx="5225143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dirty="0"/>
                        <a:t>                      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" y="228600"/>
            <a:ext cx="48006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Find: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Mean of X and mean of Y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Variance of X and Variance of Y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E(XY)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648200"/>
          <a:ext cx="13995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05400" y="4648200"/>
          <a:ext cx="12129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152400" y="228600"/>
            <a:ext cx="8915400" cy="6629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197" y="1524000"/>
          <a:ext cx="6172202" cy="2749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1557">
                <a:tc rowSpan="2" gridSpan="2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600" dirty="0"/>
                        <a:t>                       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57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557">
                <a:tc rowSpan="3">
                  <a:txBody>
                    <a:bodyPr/>
                    <a:lstStyle/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55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55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55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45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XP(X)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6/30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" y="228600"/>
            <a:ext cx="48006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Find: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Mean of X and mean of 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648200"/>
          <a:ext cx="335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∑XP(X)</a:t>
                      </a:r>
                      <a:r>
                        <a:rPr lang="en-US" dirty="0"/>
                        <a:t>=60/30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05400" y="4648200"/>
          <a:ext cx="312420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∑YP(Y)</a:t>
                      </a:r>
                    </a:p>
                    <a:p>
                      <a:pPr algn="ctr"/>
                      <a:r>
                        <a:rPr lang="en-US" dirty="0"/>
                        <a:t>=38/30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67400" y="228600"/>
            <a:ext cx="2819400" cy="10668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E(X)=∑XP(X)=60/30=2</a:t>
            </a:r>
          </a:p>
          <a:p>
            <a:r>
              <a:rPr lang="en-US" b="1" dirty="0">
                <a:solidFill>
                  <a:schemeClr val="tx1"/>
                </a:solidFill>
              </a:rPr>
              <a:t>E(Y)=∑YP(Y)=38/30=1.267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152400" y="228600"/>
            <a:ext cx="8915400" cy="6629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1219200"/>
          <a:ext cx="6172202" cy="309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0210">
                <a:tc rowSpan="2" gridSpan="2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600" dirty="0"/>
                        <a:t>                       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1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YP(Y)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210">
                <a:tc rowSpan="3">
                  <a:txBody>
                    <a:bodyPr/>
                    <a:lstStyle/>
                    <a:p>
                      <a:endParaRPr lang="en-US" sz="1600" b="1" dirty="0"/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21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21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21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XP(X)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6/30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615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" y="152400"/>
            <a:ext cx="48006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Find: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Variance of X and Variance of 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4648200"/>
          <a:ext cx="457200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sz="18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∑XP(X)</a:t>
                      </a:r>
                      <a:r>
                        <a:rPr lang="en-US" dirty="0"/>
                        <a:t>=60/30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∑X</a:t>
                      </a:r>
                      <a:r>
                        <a:rPr lang="en-US" sz="18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P(X)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=150/30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05400" y="4648200"/>
          <a:ext cx="3810001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sz="18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56/30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∑YP(Y)</a:t>
                      </a:r>
                    </a:p>
                    <a:p>
                      <a:pPr algn="ctr"/>
                      <a:r>
                        <a:rPr lang="en-US" dirty="0"/>
                        <a:t>=38/30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∑Y</a:t>
                      </a:r>
                      <a:r>
                        <a:rPr lang="en-US" sz="18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P(Y)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=66/30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10200" y="228600"/>
            <a:ext cx="3505200" cy="547281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6477000" y="1143000"/>
            <a:ext cx="2438400" cy="1143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(X) </a:t>
            </a:r>
          </a:p>
          <a:p>
            <a:r>
              <a:rPr lang="en-US" b="1" dirty="0">
                <a:solidFill>
                  <a:schemeClr val="tx1"/>
                </a:solidFill>
              </a:rPr>
              <a:t>= [ 150/30 – (60/30)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]</a:t>
            </a:r>
          </a:p>
          <a:p>
            <a:r>
              <a:rPr lang="en-US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2438400"/>
            <a:ext cx="2438400" cy="10668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(Y) </a:t>
            </a:r>
          </a:p>
          <a:p>
            <a:r>
              <a:rPr lang="en-US" b="1" dirty="0">
                <a:solidFill>
                  <a:schemeClr val="tx1"/>
                </a:solidFill>
              </a:rPr>
              <a:t>= [ 66/30 – (38/30)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]</a:t>
            </a:r>
          </a:p>
          <a:p>
            <a:r>
              <a:rPr lang="en-US" b="1" dirty="0">
                <a:solidFill>
                  <a:schemeClr val="tx1"/>
                </a:solidFill>
              </a:rPr>
              <a:t> = 0.557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152400" y="228600"/>
            <a:ext cx="8915400" cy="6629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endParaRPr lang="en-US" sz="2400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219200"/>
          <a:ext cx="6858000" cy="3808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3747">
                <a:tc rowSpan="2"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dirty="0"/>
                        <a:t>                      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747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747">
                <a:tc rowSpan="3">
                  <a:txBody>
                    <a:bodyPr/>
                    <a:lstStyle/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74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2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5/30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" y="228600"/>
            <a:ext cx="48006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Find: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E(XY)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8956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5200" y="2971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3000" y="2971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600" y="2971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3733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3600" y="4495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1400" y="3733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2/30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0" y="3733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6/30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3733800"/>
            <a:ext cx="7620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12/30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1400" y="4495800"/>
            <a:ext cx="685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0" y="4495800"/>
            <a:ext cx="7620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16/30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4572000"/>
            <a:ext cx="7620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30/30</a:t>
            </a:r>
          </a:p>
        </p:txBody>
      </p:sp>
      <p:pic>
        <p:nvPicPr>
          <p:cNvPr id="22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5181600"/>
            <a:ext cx="3505200" cy="758858"/>
          </a:xfrm>
          <a:prstGeom prst="rect">
            <a:avLst/>
          </a:prstGeom>
          <a:noFill/>
        </p:spPr>
      </p:pic>
      <p:sp>
        <p:nvSpPr>
          <p:cNvPr id="23" name="Rectangle 22"/>
          <p:cNvSpPr/>
          <p:nvPr/>
        </p:nvSpPr>
        <p:spPr>
          <a:xfrm>
            <a:off x="5334000" y="5334000"/>
            <a:ext cx="2819400" cy="1143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E(XY)=∑XYP(X,Y)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         =72/30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         =2.4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/>
              <a:t>Means and Variances of Linear Combinations of</a:t>
            </a:r>
            <a:br>
              <a:rPr lang="en-US" sz="2400" b="1" dirty="0"/>
            </a:br>
            <a:r>
              <a:rPr lang="en-US" sz="2400" b="1" dirty="0"/>
              <a:t>Random Variables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671" y="1828800"/>
            <a:ext cx="8833129" cy="6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667000"/>
            <a:ext cx="892777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215768"/>
            <a:ext cx="8694284" cy="1346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/>
              <a:t>Means and Variances of Linear Combinations of</a:t>
            </a:r>
            <a:br>
              <a:rPr lang="en-US" sz="2400" b="1" dirty="0"/>
            </a:br>
            <a:r>
              <a:rPr lang="en-US" sz="2400" b="1" dirty="0"/>
              <a:t>Random Variables</a:t>
            </a:r>
            <a:endParaRPr lang="en-US" sz="2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981200"/>
            <a:ext cx="8778402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8097" y="4495800"/>
            <a:ext cx="888590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38400" y="3657600"/>
            <a:ext cx="2590800" cy="560895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8572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/>
              <a:t>Means and Variances of Linear Combinations of</a:t>
            </a:r>
            <a:br>
              <a:rPr lang="en-US" sz="2400" b="1" dirty="0"/>
            </a:br>
            <a:r>
              <a:rPr lang="en-US" sz="2400" b="1" dirty="0"/>
              <a:t>Random Variables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094" y="1981200"/>
            <a:ext cx="8690306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4.2</a:t>
            </a:r>
          </a:p>
          <a:p>
            <a:pPr>
              <a:buNone/>
            </a:pPr>
            <a:r>
              <a:rPr lang="en-US" dirty="0"/>
              <a:t>4.6</a:t>
            </a:r>
          </a:p>
          <a:p>
            <a:pPr>
              <a:buNone/>
            </a:pPr>
            <a:r>
              <a:rPr lang="en-US" dirty="0"/>
              <a:t>4.7</a:t>
            </a:r>
          </a:p>
          <a:p>
            <a:pPr>
              <a:buNone/>
            </a:pPr>
            <a:r>
              <a:rPr lang="en-US" dirty="0"/>
              <a:t>4.8</a:t>
            </a:r>
          </a:p>
          <a:p>
            <a:pPr>
              <a:buNone/>
            </a:pPr>
            <a:r>
              <a:rPr lang="en-US" dirty="0"/>
              <a:t>4.10</a:t>
            </a:r>
          </a:p>
          <a:p>
            <a:pPr>
              <a:buNone/>
            </a:pPr>
            <a:r>
              <a:rPr lang="en-US" dirty="0"/>
              <a:t>4.34</a:t>
            </a:r>
          </a:p>
          <a:p>
            <a:pPr>
              <a:buNone/>
            </a:pPr>
            <a:r>
              <a:rPr lang="en-US" dirty="0"/>
              <a:t>4.36</a:t>
            </a:r>
          </a:p>
          <a:p>
            <a:pPr>
              <a:buNone/>
            </a:pPr>
            <a:r>
              <a:rPr lang="en-US" dirty="0"/>
              <a:t>4.49</a:t>
            </a:r>
          </a:p>
          <a:p>
            <a:pPr>
              <a:buNone/>
            </a:pPr>
            <a:r>
              <a:rPr lang="en-US" dirty="0"/>
              <a:t>4.54</a:t>
            </a:r>
          </a:p>
          <a:p>
            <a:pPr>
              <a:buNone/>
            </a:pPr>
            <a:r>
              <a:rPr lang="en-US" dirty="0"/>
              <a:t>4.57</a:t>
            </a:r>
          </a:p>
          <a:p>
            <a:pPr>
              <a:buNone/>
            </a:pPr>
            <a:r>
              <a:rPr lang="en-US" dirty="0"/>
              <a:t>4.60</a:t>
            </a:r>
          </a:p>
          <a:p>
            <a:pPr>
              <a:buNone/>
            </a:pPr>
            <a:r>
              <a:rPr lang="en-US" dirty="0"/>
              <a:t>4.62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783</Words>
  <Application>Microsoft Office PowerPoint</Application>
  <PresentationFormat>On-screen Show (4:3)</PresentationFormat>
  <Paragraphs>365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MEAN AND VARIANCE OF A RANDOM VARIABLE</vt:lpstr>
      <vt:lpstr>MEAN/EXPECTED VALUE OF SINGLE RANDOM VARIABLE</vt:lpstr>
      <vt:lpstr>VARIANCE AND STANDARD DEVIATION OF A RANDOM VARIABLE</vt:lpstr>
      <vt:lpstr>MEAN/EXPECTED VALUE OF JOINT RANDOM VARIABLE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Means and Variances of Linear Combinations of Random Variables</vt:lpstr>
      <vt:lpstr>Means and Variances of Linear Combinations of Random Variables</vt:lpstr>
      <vt:lpstr>Means and Variances of Linear Combinations of Random Variables</vt:lpstr>
      <vt:lpstr>ASSIGNMENT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 AND VARIANCE OF A RANDOM VARIABLE</dc:title>
  <dc:creator>shahjee</dc:creator>
  <cp:lastModifiedBy>amna humayun</cp:lastModifiedBy>
  <cp:revision>96</cp:revision>
  <dcterms:created xsi:type="dcterms:W3CDTF">2015-11-04T03:39:09Z</dcterms:created>
  <dcterms:modified xsi:type="dcterms:W3CDTF">2024-04-22T20:29:51Z</dcterms:modified>
</cp:coreProperties>
</file>