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8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77" r:id="rId13"/>
    <p:sldId id="279" r:id="rId14"/>
    <p:sldId id="281" r:id="rId15"/>
    <p:sldId id="282" r:id="rId16"/>
    <p:sldId id="283" r:id="rId17"/>
    <p:sldId id="296" r:id="rId18"/>
    <p:sldId id="297" r:id="rId19"/>
    <p:sldId id="284" r:id="rId20"/>
    <p:sldId id="28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C4FC8-6017-45AD-A871-D0EAD7CEE9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D7302-1C17-45C0-8FB1-DB14CA31A6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D7302-1C17-45C0-8FB1-DB14CA31A6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42566A96-1D3E-4677-9F54-506034E56B8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A7CB948-FB61-4B18-8CF0-E1DF641013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Discrete Probability</a:t>
            </a:r>
            <a:br>
              <a:rPr lang="en-US" dirty="0"/>
            </a:br>
            <a:r>
              <a:rPr lang="en-US" dirty="0"/>
              <a:t>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Binomial 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experiment often consists of </a:t>
            </a:r>
            <a:r>
              <a:rPr lang="en-US" dirty="0">
                <a:solidFill>
                  <a:srgbClr val="FF0000"/>
                </a:solidFill>
              </a:rPr>
              <a:t>repeated tria</a:t>
            </a:r>
            <a:r>
              <a:rPr lang="en-US" dirty="0"/>
              <a:t>ls, each with two possible outcomes that may be labeled </a:t>
            </a:r>
            <a:r>
              <a:rPr lang="en-US" b="1" dirty="0">
                <a:solidFill>
                  <a:srgbClr val="FF0000"/>
                </a:solidFill>
              </a:rPr>
              <a:t>success or failure</a:t>
            </a:r>
            <a:r>
              <a:rPr lang="en-US" b="1" dirty="0"/>
              <a:t>.</a:t>
            </a:r>
          </a:p>
          <a:p>
            <a:r>
              <a:rPr lang="en-US" dirty="0"/>
              <a:t>The process is referred to as a </a:t>
            </a:r>
            <a:r>
              <a:rPr lang="en-US" b="1" dirty="0"/>
              <a:t>Bernoulli process. Each trial is called a Bernoulli trial.</a:t>
            </a:r>
          </a:p>
          <a:p>
            <a:r>
              <a:rPr lang="en-US" dirty="0"/>
              <a:t>Strictly speaking, the Bernoulli process must possess the following properties: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experiment consists of </a:t>
            </a:r>
            <a:r>
              <a:rPr lang="en-US" dirty="0">
                <a:solidFill>
                  <a:srgbClr val="FF0000"/>
                </a:solidFill>
              </a:rPr>
              <a:t>repeated tri</a:t>
            </a:r>
            <a:r>
              <a:rPr lang="en-US" dirty="0">
                <a:solidFill>
                  <a:schemeClr val="tx1"/>
                </a:solidFill>
              </a:rPr>
              <a:t>als.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Each trial results in an </a:t>
            </a:r>
            <a:r>
              <a:rPr lang="en-US" dirty="0">
                <a:solidFill>
                  <a:srgbClr val="FF0000"/>
                </a:solidFill>
              </a:rPr>
              <a:t>outcom</a:t>
            </a:r>
            <a:r>
              <a:rPr lang="en-US" dirty="0">
                <a:solidFill>
                  <a:schemeClr val="tx1"/>
                </a:solidFill>
              </a:rPr>
              <a:t>e that may be classified as a </a:t>
            </a:r>
            <a:r>
              <a:rPr lang="en-US" dirty="0">
                <a:solidFill>
                  <a:srgbClr val="FF0000"/>
                </a:solidFill>
              </a:rPr>
              <a:t>success or a failure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probability of success</a:t>
            </a:r>
            <a:r>
              <a:rPr lang="en-US" dirty="0">
                <a:solidFill>
                  <a:schemeClr val="tx1"/>
                </a:solidFill>
              </a:rPr>
              <a:t>, denoted by </a:t>
            </a:r>
            <a:r>
              <a:rPr lang="en-US" i="1" dirty="0">
                <a:solidFill>
                  <a:srgbClr val="FF0000"/>
                </a:solidFill>
              </a:rPr>
              <a:t>p,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remains constant </a:t>
            </a:r>
            <a:r>
              <a:rPr lang="en-US" i="1" dirty="0">
                <a:solidFill>
                  <a:schemeClr val="tx1"/>
                </a:solidFill>
              </a:rPr>
              <a:t>from trial to trial.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repeated trials are </a:t>
            </a:r>
            <a:r>
              <a:rPr lang="en-US" dirty="0">
                <a:solidFill>
                  <a:srgbClr val="FF0000"/>
                </a:solidFill>
              </a:rPr>
              <a:t>independent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</a:t>
            </a:r>
            <a:r>
              <a:rPr lang="en-US" i="1" dirty="0"/>
              <a:t>X of successes in n Bernoulli trials is called a </a:t>
            </a:r>
            <a:r>
              <a:rPr lang="en-US" b="1" i="1" dirty="0"/>
              <a:t>binomial random </a:t>
            </a:r>
            <a:r>
              <a:rPr lang="en-US" b="1" dirty="0"/>
              <a:t>variable. The probability distribution of this discrete random variable is called </a:t>
            </a:r>
            <a:r>
              <a:rPr lang="en-US" dirty="0"/>
              <a:t>the </a:t>
            </a:r>
            <a:r>
              <a:rPr lang="en-US" b="1" dirty="0"/>
              <a:t>binomial distribution, and its values will be denoted by </a:t>
            </a:r>
            <a:r>
              <a:rPr lang="en-US" b="1" i="1" dirty="0"/>
              <a:t>b(x; n, p)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191000"/>
            <a:ext cx="7825978" cy="1600200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5943600"/>
            <a:ext cx="2343150" cy="742950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799" y="6019800"/>
            <a:ext cx="3130379" cy="6096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8096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</a:t>
            </a:r>
            <a:r>
              <a:rPr lang="en-US" i="1" dirty="0"/>
              <a:t>n = 3 and p = 1/4, the probability distribution of X, the number </a:t>
            </a:r>
            <a:r>
              <a:rPr lang="en-US" dirty="0"/>
              <a:t>of defectives, may be written as</a:t>
            </a:r>
          </a:p>
          <a:p>
            <a:pPr>
              <a:buNone/>
            </a:pPr>
            <a:endParaRPr lang="en-US" i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5088" y="3138488"/>
            <a:ext cx="6610112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The probability that a certain kind of component will survive a shock test is 3/4. Find the probability that exactly 2 of the next 4 components tested survive.</a:t>
            </a:r>
          </a:p>
          <a:p>
            <a:r>
              <a:rPr lang="en-US" dirty="0"/>
              <a:t>Solution: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089" y="4114800"/>
            <a:ext cx="772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81000"/>
            <a:ext cx="7239000" cy="6075363"/>
          </a:xfrm>
        </p:spPr>
        <p:txBody>
          <a:bodyPr>
            <a:normAutofit/>
          </a:bodyPr>
          <a:lstStyle/>
          <a:p>
            <a:r>
              <a:rPr lang="en-US" sz="2000" dirty="0"/>
              <a:t>Example: The probability that a patient recovers from a rare blood disease is 0.4. If 15 people are known to have contracted this disease, what is the probability that (a) at least 10 survive, (b) from 3 to 8 survive, and (c) exactly 5 survive?</a:t>
            </a:r>
          </a:p>
          <a:p>
            <a:r>
              <a:rPr lang="en-US" sz="2000" dirty="0"/>
              <a:t>Solution: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95600"/>
            <a:ext cx="6563212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81000"/>
            <a:ext cx="7848600" cy="6075363"/>
          </a:xfrm>
        </p:spPr>
        <p:txBody>
          <a:bodyPr>
            <a:normAutofit/>
          </a:bodyPr>
          <a:lstStyle/>
          <a:p>
            <a:r>
              <a:rPr lang="en-US" sz="2000" dirty="0"/>
              <a:t>Example: A large chain retailer purchases a certain kind of electronic device from a manufacturer. The manufacturer indicates that the defective rate of the device is 3%.</a:t>
            </a:r>
          </a:p>
          <a:p>
            <a:pPr>
              <a:buNone/>
            </a:pPr>
            <a:r>
              <a:rPr lang="en-US" sz="2000" dirty="0"/>
              <a:t>	The inspector randomly picks 20 devices from a shipment. What is the probability that there will be at least one defective item among these 20?</a:t>
            </a:r>
          </a:p>
          <a:p>
            <a:pPr>
              <a:buNone/>
            </a:pPr>
            <a:r>
              <a:rPr lang="en-US" sz="2000" dirty="0"/>
              <a:t>	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435458"/>
            <a:ext cx="793315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39000" cy="1143000"/>
          </a:xfrm>
        </p:spPr>
        <p:txBody>
          <a:bodyPr/>
          <a:lstStyle/>
          <a:p>
            <a:r>
              <a:rPr lang="en-US" dirty="0"/>
              <a:t>Areas of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7924800" cy="4846320"/>
          </a:xfrm>
        </p:spPr>
        <p:txBody>
          <a:bodyPr>
            <a:noAutofit/>
          </a:bodyPr>
          <a:lstStyle/>
          <a:p>
            <a:r>
              <a:rPr lang="en-US" sz="2200" dirty="0"/>
              <a:t>The binomial distribution finds applications in many scientific fields. An industrial engineer is keenly interested in the </a:t>
            </a:r>
            <a:r>
              <a:rPr lang="en-US" sz="2200" dirty="0">
                <a:solidFill>
                  <a:srgbClr val="FF0000"/>
                </a:solidFill>
              </a:rPr>
              <a:t>“proportion defective” </a:t>
            </a:r>
            <a:r>
              <a:rPr lang="en-US" sz="2200" dirty="0"/>
              <a:t>in an industrial process. Often, </a:t>
            </a:r>
            <a:r>
              <a:rPr lang="en-US" sz="2200" dirty="0">
                <a:solidFill>
                  <a:srgbClr val="FF0000"/>
                </a:solidFill>
              </a:rPr>
              <a:t>quality control measures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FF0000"/>
                </a:solidFill>
              </a:rPr>
              <a:t>sampling schemes </a:t>
            </a:r>
            <a:r>
              <a:rPr lang="en-US" sz="2200" dirty="0"/>
              <a:t>for processes are based on the </a:t>
            </a:r>
            <a:r>
              <a:rPr lang="en-US" sz="2200" dirty="0">
                <a:solidFill>
                  <a:srgbClr val="FF0000"/>
                </a:solidFill>
              </a:rPr>
              <a:t>binomial distrib</a:t>
            </a:r>
            <a:r>
              <a:rPr lang="en-US" sz="2200" dirty="0"/>
              <a:t>ution.</a:t>
            </a:r>
          </a:p>
          <a:p>
            <a:r>
              <a:rPr lang="en-US" sz="2200" dirty="0"/>
              <a:t>This distribution applies to any industrial situation where an outcome of a process is </a:t>
            </a:r>
            <a:r>
              <a:rPr lang="en-US" sz="2200" dirty="0">
                <a:solidFill>
                  <a:srgbClr val="FF0000"/>
                </a:solidFill>
              </a:rPr>
              <a:t>dichotomous</a:t>
            </a:r>
            <a:r>
              <a:rPr lang="en-US" sz="2200" dirty="0"/>
              <a:t> and the results of the process are </a:t>
            </a:r>
            <a:r>
              <a:rPr lang="en-US" sz="2200" dirty="0">
                <a:solidFill>
                  <a:srgbClr val="FF0000"/>
                </a:solidFill>
              </a:rPr>
              <a:t>independent</a:t>
            </a:r>
            <a:r>
              <a:rPr lang="en-US" sz="2200" dirty="0"/>
              <a:t>, with the probability of </a:t>
            </a:r>
            <a:r>
              <a:rPr lang="en-US" sz="2200" dirty="0">
                <a:solidFill>
                  <a:srgbClr val="FF0000"/>
                </a:solidFill>
              </a:rPr>
              <a:t>success being constant from trial to trial</a:t>
            </a:r>
            <a:r>
              <a:rPr lang="en-US" sz="2200" dirty="0"/>
              <a:t>.</a:t>
            </a:r>
          </a:p>
          <a:p>
            <a:r>
              <a:rPr lang="en-US" sz="2200" dirty="0"/>
              <a:t>The binomial distribution is also used extensively for </a:t>
            </a:r>
            <a:r>
              <a:rPr lang="en-US" sz="2200" dirty="0">
                <a:solidFill>
                  <a:srgbClr val="FF0000"/>
                </a:solidFill>
              </a:rPr>
              <a:t>medical and military applications</a:t>
            </a:r>
            <a:r>
              <a:rPr lang="en-US" sz="2200" dirty="0"/>
              <a:t>. </a:t>
            </a:r>
          </a:p>
          <a:p>
            <a:r>
              <a:rPr lang="en-US" sz="2200" dirty="0"/>
              <a:t>In both fields, a </a:t>
            </a:r>
            <a:r>
              <a:rPr lang="en-US" sz="2200" dirty="0">
                <a:solidFill>
                  <a:srgbClr val="FF0000"/>
                </a:solidFill>
              </a:rPr>
              <a:t>success or failure </a:t>
            </a:r>
            <a:r>
              <a:rPr lang="en-US" sz="2200" dirty="0"/>
              <a:t>result is important. For example, </a:t>
            </a:r>
            <a:r>
              <a:rPr lang="en-US" sz="2200" dirty="0">
                <a:solidFill>
                  <a:srgbClr val="FF0000"/>
                </a:solidFill>
              </a:rPr>
              <a:t>“cure” or “no cure</a:t>
            </a:r>
            <a:r>
              <a:rPr lang="en-US" sz="2200" dirty="0"/>
              <a:t>” is important in pharmaceutical work, and </a:t>
            </a:r>
            <a:r>
              <a:rPr lang="en-US" sz="2200" dirty="0">
                <a:solidFill>
                  <a:srgbClr val="FF0000"/>
                </a:solidFill>
              </a:rPr>
              <a:t>“hit” or “miss” </a:t>
            </a:r>
            <a:r>
              <a:rPr lang="en-US" sz="2200" dirty="0"/>
              <a:t>is often the interpretation of the result of firing a guided missile.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and Variance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362200"/>
            <a:ext cx="7822406" cy="7620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5.2</a:t>
            </a:r>
          </a:p>
          <a:p>
            <a:pPr>
              <a:buNone/>
            </a:pPr>
            <a:r>
              <a:rPr lang="en-US" dirty="0"/>
              <a:t>5.4</a:t>
            </a:r>
          </a:p>
          <a:p>
            <a:pPr>
              <a:buNone/>
            </a:pPr>
            <a:r>
              <a:rPr lang="en-US" dirty="0"/>
              <a:t>5.6</a:t>
            </a:r>
          </a:p>
          <a:p>
            <a:pPr>
              <a:buNone/>
            </a:pPr>
            <a:r>
              <a:rPr lang="en-US" dirty="0"/>
              <a:t>5.7</a:t>
            </a:r>
          </a:p>
          <a:p>
            <a:pPr>
              <a:buNone/>
            </a:pPr>
            <a:r>
              <a:rPr lang="en-US" dirty="0"/>
              <a:t>5.9</a:t>
            </a:r>
          </a:p>
          <a:p>
            <a:pPr>
              <a:buNone/>
            </a:pPr>
            <a:r>
              <a:rPr lang="en-US" dirty="0"/>
              <a:t>5.10</a:t>
            </a:r>
          </a:p>
          <a:p>
            <a:pPr>
              <a:buNone/>
            </a:pPr>
            <a:r>
              <a:rPr lang="en-US" dirty="0"/>
              <a:t>5.11</a:t>
            </a:r>
          </a:p>
          <a:p>
            <a:pPr>
              <a:buNone/>
            </a:pPr>
            <a:r>
              <a:rPr lang="en-US" dirty="0"/>
              <a:t>5.13</a:t>
            </a:r>
          </a:p>
          <a:p>
            <a:pPr>
              <a:buNone/>
            </a:pPr>
            <a:r>
              <a:rPr lang="en-US" dirty="0"/>
              <a:t>5.15</a:t>
            </a:r>
          </a:p>
          <a:p>
            <a:pPr>
              <a:buNone/>
            </a:pPr>
            <a:r>
              <a:rPr lang="en-US" dirty="0"/>
              <a:t>5.16</a:t>
            </a:r>
          </a:p>
          <a:p>
            <a:pPr>
              <a:buNone/>
            </a:pPr>
            <a:r>
              <a:rPr lang="en-US" dirty="0"/>
              <a:t>5.18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Poisson Distribution and the Poisson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39000" cy="1143000"/>
          </a:xfrm>
        </p:spPr>
        <p:txBody>
          <a:bodyPr>
            <a:normAutofit/>
          </a:bodyPr>
          <a:lstStyle/>
          <a:p>
            <a:r>
              <a:rPr lang="en-US" dirty="0"/>
              <a:t>Poisson Distribution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7543800" cy="494378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Experiments yielding numerical values of a </a:t>
            </a:r>
            <a:r>
              <a:rPr lang="en-US" dirty="0">
                <a:solidFill>
                  <a:srgbClr val="FF0000"/>
                </a:solidFill>
              </a:rPr>
              <a:t>random variable </a:t>
            </a:r>
            <a:r>
              <a:rPr lang="en-US" i="1" dirty="0">
                <a:solidFill>
                  <a:srgbClr val="FF0000"/>
                </a:solidFill>
              </a:rPr>
              <a:t>X, </a:t>
            </a:r>
            <a:r>
              <a:rPr lang="en-US" i="1" dirty="0"/>
              <a:t>the </a:t>
            </a:r>
            <a:r>
              <a:rPr lang="en-US" i="1" dirty="0">
                <a:solidFill>
                  <a:srgbClr val="FF0000"/>
                </a:solidFill>
              </a:rPr>
              <a:t>number of </a:t>
            </a:r>
            <a:r>
              <a:rPr lang="en-US" dirty="0">
                <a:solidFill>
                  <a:srgbClr val="FF0000"/>
                </a:solidFill>
              </a:rPr>
              <a:t>outcomes occurring during a given time interval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in a </a:t>
            </a:r>
            <a:r>
              <a:rPr lang="en-US" dirty="0">
                <a:solidFill>
                  <a:srgbClr val="0070C0"/>
                </a:solidFill>
              </a:rPr>
              <a:t>specified region</a:t>
            </a:r>
            <a:r>
              <a:rPr lang="en-US" dirty="0"/>
              <a:t>, are called </a:t>
            </a:r>
            <a:r>
              <a:rPr lang="en-US" b="1" dirty="0">
                <a:solidFill>
                  <a:srgbClr val="FF0000"/>
                </a:solidFill>
              </a:rPr>
              <a:t>Poisson experiments.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The given </a:t>
            </a:r>
            <a:r>
              <a:rPr lang="en-US" b="1" dirty="0">
                <a:solidFill>
                  <a:srgbClr val="0070C0"/>
                </a:solidFill>
              </a:rPr>
              <a:t>time interval </a:t>
            </a:r>
            <a:r>
              <a:rPr lang="en-US" b="1" dirty="0">
                <a:solidFill>
                  <a:srgbClr val="FF0000"/>
                </a:solidFill>
              </a:rPr>
              <a:t>may be of any length, such as a </a:t>
            </a:r>
            <a:r>
              <a:rPr lang="en-US" dirty="0">
                <a:solidFill>
                  <a:srgbClr val="FF0000"/>
                </a:solidFill>
              </a:rPr>
              <a:t>minute, a day, a week, a month, or even a year.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For example, a Poisson experiment can generate observations for the random variable </a:t>
            </a:r>
            <a:r>
              <a:rPr lang="en-US" i="1" dirty="0"/>
              <a:t>X representing the </a:t>
            </a:r>
            <a:r>
              <a:rPr lang="en-US" i="1" dirty="0">
                <a:solidFill>
                  <a:srgbClr val="FF0000"/>
                </a:solidFill>
              </a:rPr>
              <a:t>number of </a:t>
            </a:r>
            <a:r>
              <a:rPr lang="en-US" dirty="0">
                <a:solidFill>
                  <a:srgbClr val="FF0000"/>
                </a:solidFill>
              </a:rPr>
              <a:t>telephone calls </a:t>
            </a:r>
            <a:r>
              <a:rPr lang="en-US" dirty="0"/>
              <a:t>received per </a:t>
            </a:r>
            <a:r>
              <a:rPr lang="en-US" dirty="0">
                <a:solidFill>
                  <a:srgbClr val="FF0000"/>
                </a:solidFill>
              </a:rPr>
              <a:t>hour by an office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number of days school </a:t>
            </a:r>
            <a:r>
              <a:rPr lang="en-US" dirty="0"/>
              <a:t>is closed due to </a:t>
            </a:r>
            <a:r>
              <a:rPr lang="en-US" dirty="0">
                <a:solidFill>
                  <a:srgbClr val="FF0000"/>
                </a:solidFill>
              </a:rPr>
              <a:t>snow during the winter</a:t>
            </a:r>
            <a:r>
              <a:rPr lang="en-US" dirty="0"/>
              <a:t>, or the </a:t>
            </a:r>
            <a:r>
              <a:rPr lang="en-US" dirty="0">
                <a:solidFill>
                  <a:srgbClr val="FF0000"/>
                </a:solidFill>
              </a:rPr>
              <a:t>number of games</a:t>
            </a:r>
            <a:r>
              <a:rPr lang="en-US" dirty="0"/>
              <a:t> postponed due to </a:t>
            </a:r>
            <a:r>
              <a:rPr lang="en-US" dirty="0">
                <a:solidFill>
                  <a:srgbClr val="FF0000"/>
                </a:solidFill>
              </a:rPr>
              <a:t>rain during a baseball season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The </a:t>
            </a:r>
            <a:r>
              <a:rPr lang="en-US" dirty="0">
                <a:solidFill>
                  <a:srgbClr val="FF0000"/>
                </a:solidFill>
              </a:rPr>
              <a:t>specified region</a:t>
            </a:r>
            <a:r>
              <a:rPr lang="en-US" dirty="0"/>
              <a:t> could be a </a:t>
            </a:r>
            <a:r>
              <a:rPr lang="en-US" dirty="0">
                <a:solidFill>
                  <a:srgbClr val="FF0000"/>
                </a:solidFill>
              </a:rPr>
              <a:t>line segment, an area, a volume, or perhaps a piece of material</a:t>
            </a:r>
            <a:r>
              <a:rPr lang="en-US" dirty="0"/>
              <a:t>. In such instances, </a:t>
            </a:r>
            <a:r>
              <a:rPr lang="en-US" i="1" dirty="0"/>
              <a:t>X might represent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number of field mice per acre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number of bacteria</a:t>
            </a:r>
            <a:r>
              <a:rPr lang="en-US" dirty="0"/>
              <a:t> in a given culture, or the </a:t>
            </a:r>
            <a:r>
              <a:rPr lang="en-US" dirty="0">
                <a:solidFill>
                  <a:srgbClr val="FF0000"/>
                </a:solidFill>
              </a:rPr>
              <a:t>number of typing errors per page</a:t>
            </a:r>
            <a:r>
              <a:rPr lang="en-US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662238"/>
            <a:ext cx="7767014" cy="1833562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/>
          </a:bodyPr>
          <a:lstStyle/>
          <a:p>
            <a:r>
              <a:rPr lang="en-US" dirty="0"/>
              <a:t>Poisson Distribution </a:t>
            </a: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599" y="5105399"/>
            <a:ext cx="6321293" cy="914401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8953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Example:</a:t>
            </a:r>
            <a:r>
              <a:rPr lang="en-US" dirty="0"/>
              <a:t> During a laboratory experiment, the average number of radioactive particles passing through a counter in 1 millisecond is 4. What is the probability that 6 particles enter the counter in a given millisecond?</a:t>
            </a:r>
          </a:p>
          <a:p>
            <a:pPr>
              <a:buNone/>
            </a:pPr>
            <a:r>
              <a:rPr lang="en-US" b="1" i="1" dirty="0"/>
              <a:t>	</a:t>
            </a:r>
            <a:r>
              <a:rPr lang="en-US" b="1" i="1" dirty="0">
                <a:solidFill>
                  <a:srgbClr val="FF0000"/>
                </a:solidFill>
              </a:rPr>
              <a:t>Solution :</a:t>
            </a:r>
            <a:r>
              <a:rPr lang="en-US" b="1" i="1" dirty="0"/>
              <a:t> Using the Poisson distribution with x = 6 and </a:t>
            </a:r>
            <a:r>
              <a:rPr lang="en-US" b="1" i="1" dirty="0" err="1"/>
              <a:t>λt</a:t>
            </a:r>
            <a:r>
              <a:rPr lang="en-US" b="1" i="1" dirty="0"/>
              <a:t> = 4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5181600"/>
            <a:ext cx="213083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4798"/>
          <a:stretch>
            <a:fillRect/>
          </a:stretch>
        </p:blipFill>
        <p:spPr bwMode="auto">
          <a:xfrm>
            <a:off x="3962400" y="5105400"/>
            <a:ext cx="1511968" cy="86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Example:</a:t>
            </a:r>
            <a:r>
              <a:rPr lang="en-US" dirty="0"/>
              <a:t> Ten is the average number of oil tankers arriving each day at a certain port. The facilities at the port can handle at most 15 tankers per day. What is the probability that on a given day tankers have to be turned away?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Solution: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029200"/>
            <a:ext cx="6858000" cy="79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24204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Approximation of Binomial Distribution by a Poisson Distribution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590800"/>
            <a:ext cx="7756864" cy="1143000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" y="4166418"/>
            <a:ext cx="7543800" cy="405581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953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71800" y="4953000"/>
            <a:ext cx="1295400" cy="53975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953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304800"/>
            <a:ext cx="7696200" cy="4846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In a certain industrial facility, accidents occur infrequently. It is known that the probability of an accident on any given day is 0.005 and accidents are independent of each other.</a:t>
            </a:r>
          </a:p>
          <a:p>
            <a:pPr>
              <a:buNone/>
            </a:pPr>
            <a:r>
              <a:rPr lang="en-US" sz="2000" dirty="0"/>
              <a:t>	(a) What is the probability that in any given period of 400 days there will be an accident on one day?</a:t>
            </a:r>
          </a:p>
          <a:p>
            <a:pPr>
              <a:buNone/>
            </a:pPr>
            <a:r>
              <a:rPr lang="en-US" sz="2000" dirty="0"/>
              <a:t>	(b) What is the probability that there are at most three days with an accident?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i="1" dirty="0"/>
              <a:t>	</a:t>
            </a:r>
            <a:r>
              <a:rPr lang="en-US" sz="2000" b="1" i="1" dirty="0">
                <a:solidFill>
                  <a:srgbClr val="FF0000"/>
                </a:solidFill>
              </a:rPr>
              <a:t>Solution :</a:t>
            </a:r>
            <a:r>
              <a:rPr lang="en-US" sz="2000" b="1" i="1" dirty="0"/>
              <a:t> </a:t>
            </a:r>
            <a:r>
              <a:rPr lang="en-US" sz="2000" i="1" dirty="0"/>
              <a:t>Let X be a binomial random variable with n = 400 and p = 0.005. Thus, </a:t>
            </a:r>
            <a:r>
              <a:rPr lang="en-US" sz="2000" i="1" dirty="0" err="1"/>
              <a:t>np</a:t>
            </a:r>
            <a:r>
              <a:rPr lang="en-US" sz="2000" i="1" dirty="0"/>
              <a:t> = 2.</a:t>
            </a:r>
            <a:r>
              <a:rPr lang="en-US" sz="2000" dirty="0"/>
              <a:t>Using the Poisson approximation,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114800"/>
            <a:ext cx="423582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5029200"/>
            <a:ext cx="458114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and variance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667000"/>
            <a:ext cx="8001000" cy="657225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6953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4038600"/>
            <a:ext cx="1408176" cy="404648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6953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5105400"/>
            <a:ext cx="2417885" cy="3810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7048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3962400"/>
            <a:ext cx="2542032" cy="4572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6953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5.53</a:t>
            </a:r>
          </a:p>
          <a:p>
            <a:pPr>
              <a:buNone/>
            </a:pPr>
            <a:r>
              <a:rPr lang="en-US" dirty="0"/>
              <a:t>5.56</a:t>
            </a:r>
          </a:p>
          <a:p>
            <a:pPr>
              <a:buNone/>
            </a:pPr>
            <a:r>
              <a:rPr lang="en-US" dirty="0"/>
              <a:t>5.57</a:t>
            </a:r>
          </a:p>
          <a:p>
            <a:pPr>
              <a:buNone/>
            </a:pPr>
            <a:r>
              <a:rPr lang="en-US" dirty="0"/>
              <a:t>5.58</a:t>
            </a:r>
          </a:p>
          <a:p>
            <a:pPr>
              <a:buNone/>
            </a:pPr>
            <a:r>
              <a:rPr lang="en-US" dirty="0"/>
              <a:t>5.61</a:t>
            </a:r>
          </a:p>
          <a:p>
            <a:pPr>
              <a:buNone/>
            </a:pPr>
            <a:r>
              <a:rPr lang="en-US"/>
              <a:t>5.64</a:t>
            </a:r>
            <a:endParaRPr lang="en-US" dirty="0"/>
          </a:p>
          <a:p>
            <a:pPr>
              <a:buNone/>
            </a:pPr>
            <a:r>
              <a:rPr lang="en-US" dirty="0"/>
              <a:t>5.65</a:t>
            </a:r>
          </a:p>
          <a:p>
            <a:pPr>
              <a:buNone/>
            </a:pPr>
            <a:r>
              <a:rPr lang="en-US" dirty="0"/>
              <a:t>5.69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9736</TotalTime>
  <Words>910</Words>
  <Application>Microsoft Office PowerPoint</Application>
  <PresentationFormat>On-screen Show (4:3)</PresentationFormat>
  <Paragraphs>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Trebuchet MS</vt:lpstr>
      <vt:lpstr>Wingdings</vt:lpstr>
      <vt:lpstr>Wingdings 2</vt:lpstr>
      <vt:lpstr>Opulent</vt:lpstr>
      <vt:lpstr>Some Discrete Probability Distributions</vt:lpstr>
      <vt:lpstr> Binomial  Distribution</vt:lpstr>
      <vt:lpstr>Binomial Distribution</vt:lpstr>
      <vt:lpstr>Binomial Distribution</vt:lpstr>
      <vt:lpstr>PowerPoint Presentation</vt:lpstr>
      <vt:lpstr>PowerPoint Presentation</vt:lpstr>
      <vt:lpstr>PowerPoint Presentation</vt:lpstr>
      <vt:lpstr>PowerPoint Presentation</vt:lpstr>
      <vt:lpstr>Areas of Application</vt:lpstr>
      <vt:lpstr>Mean and Variance</vt:lpstr>
      <vt:lpstr>assignment</vt:lpstr>
      <vt:lpstr>Poisson Distribution and the Poisson Process</vt:lpstr>
      <vt:lpstr>Poisson Distribution </vt:lpstr>
      <vt:lpstr>Poisson Distribution </vt:lpstr>
      <vt:lpstr>PowerPoint Presentation</vt:lpstr>
      <vt:lpstr>PowerPoint Presentation</vt:lpstr>
      <vt:lpstr>Approximation of Binomial Distribution by a Poisson Distribution</vt:lpstr>
      <vt:lpstr>PowerPoint Presentation</vt:lpstr>
      <vt:lpstr>Mean and variance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Discrete Probability Distributions</dc:title>
  <dc:creator>shahjee</dc:creator>
  <cp:lastModifiedBy>amna humayun</cp:lastModifiedBy>
  <cp:revision>121</cp:revision>
  <dcterms:created xsi:type="dcterms:W3CDTF">2015-11-11T03:49:20Z</dcterms:created>
  <dcterms:modified xsi:type="dcterms:W3CDTF">2024-04-29T09:25:14Z</dcterms:modified>
</cp:coreProperties>
</file>