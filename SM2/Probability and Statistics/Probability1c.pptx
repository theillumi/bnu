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314" r:id="rId2"/>
    <p:sldId id="315" r:id="rId3"/>
    <p:sldId id="316" r:id="rId4"/>
    <p:sldId id="317" r:id="rId5"/>
    <p:sldId id="318" r:id="rId6"/>
    <p:sldId id="319" r:id="rId7"/>
    <p:sldId id="320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1542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9E0FBF-1BA7-4D47-9FF5-65897A09F8A3}" type="datetimeFigureOut">
              <a:rPr lang="en-US" smtClean="0"/>
              <a:pPr/>
              <a:t>3/25/2024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FDAFEC-BF1D-4DA2-B0CF-2E65354DD74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582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E3530-E373-42C0-9ED9-2F41FE81FAA2}" type="datetimeFigureOut">
              <a:rPr lang="en-US" smtClean="0"/>
              <a:pPr/>
              <a:t>3/25/2024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FE503-63F2-410D-A83D-D39304F9AB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E3530-E373-42C0-9ED9-2F41FE81FAA2}" type="datetimeFigureOut">
              <a:rPr lang="en-US" smtClean="0"/>
              <a:pPr/>
              <a:t>3/25/2024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FE503-63F2-410D-A83D-D39304F9AB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E3530-E373-42C0-9ED9-2F41FE81FAA2}" type="datetimeFigureOut">
              <a:rPr lang="en-US" smtClean="0"/>
              <a:pPr/>
              <a:t>3/25/2024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FE503-63F2-410D-A83D-D39304F9AB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E3530-E373-42C0-9ED9-2F41FE81FAA2}" type="datetimeFigureOut">
              <a:rPr lang="en-US" smtClean="0"/>
              <a:pPr/>
              <a:t>3/25/2024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FE503-63F2-410D-A83D-D39304F9AB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E3530-E373-42C0-9ED9-2F41FE81FAA2}" type="datetimeFigureOut">
              <a:rPr lang="en-US" smtClean="0"/>
              <a:pPr/>
              <a:t>3/25/2024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FE503-63F2-410D-A83D-D39304F9AB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E3530-E373-42C0-9ED9-2F41FE81FAA2}" type="datetimeFigureOut">
              <a:rPr lang="en-US" smtClean="0"/>
              <a:pPr/>
              <a:t>3/25/2024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FE503-63F2-410D-A83D-D39304F9AB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E3530-E373-42C0-9ED9-2F41FE81FAA2}" type="datetimeFigureOut">
              <a:rPr lang="en-US" smtClean="0"/>
              <a:pPr/>
              <a:t>3/25/2024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FE503-63F2-410D-A83D-D39304F9AB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E3530-E373-42C0-9ED9-2F41FE81FAA2}" type="datetimeFigureOut">
              <a:rPr lang="en-US" smtClean="0"/>
              <a:pPr/>
              <a:t>3/25/2024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FE503-63F2-410D-A83D-D39304F9AB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E3530-E373-42C0-9ED9-2F41FE81FAA2}" type="datetimeFigureOut">
              <a:rPr lang="en-US" smtClean="0"/>
              <a:pPr/>
              <a:t>3/25/2024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EF4FE503-63F2-410D-A83D-D39304F9ABE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E3530-E373-42C0-9ED9-2F41FE81FAA2}" type="datetimeFigureOut">
              <a:rPr lang="en-US" smtClean="0"/>
              <a:pPr/>
              <a:t>3/25/2024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FE503-63F2-410D-A83D-D39304F9AB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E3530-E373-42C0-9ED9-2F41FE81FAA2}" type="datetimeFigureOut">
              <a:rPr lang="en-US" smtClean="0"/>
              <a:pPr/>
              <a:t>3/25/2024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FE503-63F2-410D-A83D-D39304F9AB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BBFE3530-E373-42C0-9ED9-2F41FE81FAA2}" type="datetimeFigureOut">
              <a:rPr lang="en-US" smtClean="0"/>
              <a:pPr/>
              <a:t>3/25/2024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EF4FE503-63F2-410D-A83D-D39304F9ABE1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Total Probability and </a:t>
            </a:r>
            <a:r>
              <a:rPr lang="en-US" dirty="0" err="1"/>
              <a:t>Bayes</a:t>
            </a:r>
            <a:r>
              <a:rPr lang="en-US" dirty="0"/>
              <a:t>’ Rule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Total Probability</a:t>
            </a:r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2133600"/>
            <a:ext cx="7392692" cy="1563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667000" y="3733800"/>
            <a:ext cx="3686175" cy="2381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4102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   </a:t>
            </a:r>
            <a:r>
              <a:rPr lang="en-US" sz="2000" b="1" dirty="0">
                <a:solidFill>
                  <a:srgbClr val="FF0000"/>
                </a:solidFill>
              </a:rPr>
              <a:t>Example:</a:t>
            </a:r>
            <a:r>
              <a:rPr lang="en-US" sz="2000" dirty="0"/>
              <a:t> In a certain assembly plant, three machines, </a:t>
            </a:r>
            <a:r>
              <a:rPr lang="en-US" sz="2000" i="1" dirty="0"/>
              <a:t>B1, B2, and B3, make 30%, 45%, and </a:t>
            </a:r>
            <a:r>
              <a:rPr lang="en-US" sz="2000" dirty="0"/>
              <a:t>25%, respectively, of the products. It is known from past experience that 2%, 3%, and 2% of the products made by each machine, respectively, are defective. Now, suppose that a finished product is randomly selected. What is the probability that it is defective?</a:t>
            </a:r>
          </a:p>
          <a:p>
            <a:pPr>
              <a:buNone/>
            </a:pPr>
            <a:r>
              <a:rPr lang="en-US" sz="2000" b="1" dirty="0">
                <a:solidFill>
                  <a:srgbClr val="FF0000"/>
                </a:solidFill>
              </a:rPr>
              <a:t>   Solution:</a:t>
            </a:r>
          </a:p>
          <a:p>
            <a:pPr lvl="1">
              <a:buNone/>
            </a:pPr>
            <a:r>
              <a:rPr lang="en-US" sz="1800" i="1" dirty="0"/>
              <a:t>A: the product is defective,</a:t>
            </a:r>
          </a:p>
          <a:p>
            <a:pPr lvl="1">
              <a:buNone/>
            </a:pPr>
            <a:r>
              <a:rPr lang="en-US" sz="1800" i="1" dirty="0"/>
              <a:t>B1: the product is made by machine B1,</a:t>
            </a:r>
          </a:p>
          <a:p>
            <a:pPr lvl="1">
              <a:buNone/>
            </a:pPr>
            <a:r>
              <a:rPr lang="en-US" sz="1800" i="1" dirty="0"/>
              <a:t>B2: the product is made by machine B2,</a:t>
            </a:r>
          </a:p>
          <a:p>
            <a:pPr lvl="1">
              <a:buNone/>
            </a:pPr>
            <a:r>
              <a:rPr lang="en-US" sz="1800" i="1" dirty="0"/>
              <a:t>B3: the product is made by machine B3.</a:t>
            </a:r>
          </a:p>
          <a:p>
            <a:pPr lvl="1">
              <a:buNone/>
            </a:pPr>
            <a:endParaRPr lang="en-US" i="1" dirty="0"/>
          </a:p>
          <a:p>
            <a:pPr lvl="1">
              <a:buNone/>
            </a:pPr>
            <a:endParaRPr 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0600" y="4648200"/>
            <a:ext cx="4807551" cy="428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14399" y="5181601"/>
            <a:ext cx="5193553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943600" y="2971800"/>
            <a:ext cx="2524125" cy="2095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Bayes</a:t>
            </a:r>
            <a:r>
              <a:rPr lang="en-US" b="1" dirty="0"/>
              <a:t>’ Rule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3720" y="2057400"/>
            <a:ext cx="7857173" cy="2085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609600"/>
            <a:ext cx="8686800" cy="54102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   </a:t>
            </a:r>
            <a:r>
              <a:rPr lang="en-US" sz="2000" b="1" dirty="0">
                <a:solidFill>
                  <a:srgbClr val="FF0000"/>
                </a:solidFill>
              </a:rPr>
              <a:t>Example:</a:t>
            </a:r>
            <a:r>
              <a:rPr lang="en-US" sz="2000" dirty="0"/>
              <a:t> In a certain assembly plant, three machines, </a:t>
            </a:r>
            <a:r>
              <a:rPr lang="en-US" sz="2000" i="1" dirty="0"/>
              <a:t>B1, B2, and B3, make 30%, 45%, and </a:t>
            </a:r>
            <a:r>
              <a:rPr lang="en-US" sz="2000" dirty="0"/>
              <a:t>25%, respectively, of the products. It is known from past experience that 2%, 3%, and 2% of the products made by each machine, respectively, are defective. if a product was chosen randomly and found to be defective, what is the probability that it was made by machine </a:t>
            </a:r>
            <a:r>
              <a:rPr lang="en-US" sz="2000" i="1" dirty="0"/>
              <a:t>B3? </a:t>
            </a:r>
            <a:endParaRPr lang="en-US" sz="2000" dirty="0"/>
          </a:p>
          <a:p>
            <a:pPr>
              <a:buNone/>
            </a:pPr>
            <a:r>
              <a:rPr lang="en-US" sz="2000" b="1" dirty="0">
                <a:solidFill>
                  <a:srgbClr val="FF0000"/>
                </a:solidFill>
              </a:rPr>
              <a:t>   Solution:</a:t>
            </a:r>
          </a:p>
          <a:p>
            <a:pPr lvl="1">
              <a:buNone/>
            </a:pPr>
            <a:r>
              <a:rPr lang="en-US" sz="1800" i="1" dirty="0"/>
              <a:t>A: the product is defective,</a:t>
            </a:r>
          </a:p>
          <a:p>
            <a:pPr lvl="1">
              <a:buNone/>
            </a:pPr>
            <a:r>
              <a:rPr lang="en-US" sz="1800" i="1" dirty="0"/>
              <a:t>B1: the product is made by machine B1,</a:t>
            </a:r>
          </a:p>
          <a:p>
            <a:pPr lvl="1">
              <a:buNone/>
            </a:pPr>
            <a:r>
              <a:rPr lang="en-US" sz="1800" i="1" dirty="0"/>
              <a:t>B2: the product is made by machine B2,</a:t>
            </a:r>
          </a:p>
          <a:p>
            <a:pPr lvl="1">
              <a:buNone/>
            </a:pPr>
            <a:r>
              <a:rPr lang="en-US" sz="1800" i="1" dirty="0"/>
              <a:t>B3: the product is made by machine B3.</a:t>
            </a:r>
          </a:p>
          <a:p>
            <a:pPr lvl="1">
              <a:buNone/>
            </a:pPr>
            <a:endParaRPr lang="en-US" i="1" dirty="0"/>
          </a:p>
          <a:p>
            <a:pPr lvl="1">
              <a:buNone/>
            </a:pPr>
            <a:endParaRPr 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4114800"/>
            <a:ext cx="4807551" cy="428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4495800"/>
            <a:ext cx="5193553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943600" y="2971800"/>
            <a:ext cx="2524125" cy="2095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57200" y="6019800"/>
            <a:ext cx="4343400" cy="57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029200" y="6019800"/>
            <a:ext cx="3609975" cy="50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609600"/>
            <a:ext cx="8686800" cy="54102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   </a:t>
            </a:r>
            <a:r>
              <a:rPr lang="en-US" sz="2000" b="1" dirty="0">
                <a:solidFill>
                  <a:srgbClr val="FF0000"/>
                </a:solidFill>
              </a:rPr>
              <a:t>Example: </a:t>
            </a:r>
            <a:r>
              <a:rPr lang="en-US" sz="2000" dirty="0"/>
              <a:t>A manufacturing firm employs three analytical plans for the design and development of a particular product. For cost reasons, all three are used at varying times. In fact, plans 1, 2, and 3 are used for 30%, 20%, and 50% of the products, respectively. The defect rate is different for the three procedures as follows:</a:t>
            </a:r>
            <a:r>
              <a:rPr lang="en-US" sz="2000" b="1" dirty="0">
                <a:solidFill>
                  <a:srgbClr val="FF0000"/>
                </a:solidFill>
              </a:rPr>
              <a:t> </a:t>
            </a:r>
          </a:p>
          <a:p>
            <a:pPr>
              <a:buNone/>
            </a:pPr>
            <a:endParaRPr lang="en-US" sz="2000" b="1" dirty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sz="2000" b="1" dirty="0">
                <a:solidFill>
                  <a:srgbClr val="FF0000"/>
                </a:solidFill>
              </a:rPr>
              <a:t>	</a:t>
            </a:r>
            <a:r>
              <a:rPr lang="en-US" sz="2000" dirty="0"/>
              <a:t>where </a:t>
            </a:r>
            <a:r>
              <a:rPr lang="en-US" sz="2000" i="1" dirty="0"/>
              <a:t>P(</a:t>
            </a:r>
            <a:r>
              <a:rPr lang="en-US" sz="2000" i="1" dirty="0" err="1"/>
              <a:t>D|Pj</a:t>
            </a:r>
            <a:r>
              <a:rPr lang="en-US" sz="2000" i="1" dirty="0"/>
              <a:t>) is the probability of a defective product, given plan j. If a random </a:t>
            </a:r>
            <a:r>
              <a:rPr lang="en-US" sz="2000" dirty="0"/>
              <a:t>product was observed and found to be defective, which plan was most likely used and thus responsible?</a:t>
            </a:r>
            <a:r>
              <a:rPr lang="en-US" sz="2000" b="1" dirty="0">
                <a:solidFill>
                  <a:srgbClr val="FF0000"/>
                </a:solidFill>
              </a:rPr>
              <a:t> </a:t>
            </a:r>
          </a:p>
          <a:p>
            <a:pPr>
              <a:buNone/>
            </a:pPr>
            <a:r>
              <a:rPr lang="en-US" sz="2000" b="1" dirty="0">
                <a:solidFill>
                  <a:srgbClr val="FF0000"/>
                </a:solidFill>
              </a:rPr>
              <a:t>	Solution:</a:t>
            </a: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14613" y="2326001"/>
            <a:ext cx="5005387" cy="340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2000" y="3962400"/>
            <a:ext cx="5406838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62000" y="4419601"/>
            <a:ext cx="6781800" cy="9905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6" name="Picture 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62000" y="5486400"/>
            <a:ext cx="6705600" cy="750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7" name="Picture 7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838200" y="6396037"/>
            <a:ext cx="73914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8382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Assignment</a:t>
            </a:r>
            <a:br>
              <a:rPr lang="en-US" dirty="0"/>
            </a:br>
            <a:r>
              <a:rPr lang="en-US" dirty="0"/>
              <a:t>Page No 76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35480"/>
            <a:ext cx="8229600" cy="4922520"/>
          </a:xfrm>
        </p:spPr>
        <p:txBody>
          <a:bodyPr>
            <a:normAutofit/>
          </a:bodyPr>
          <a:lstStyle/>
          <a:p>
            <a:r>
              <a:rPr lang="en-US" dirty="0"/>
              <a:t>2.95</a:t>
            </a:r>
          </a:p>
          <a:p>
            <a:r>
              <a:rPr lang="en-US" dirty="0"/>
              <a:t>2.96</a:t>
            </a:r>
          </a:p>
          <a:p>
            <a:r>
              <a:rPr lang="en-US" dirty="0"/>
              <a:t>2.97</a:t>
            </a:r>
          </a:p>
          <a:p>
            <a:r>
              <a:rPr lang="en-US" dirty="0"/>
              <a:t>2.98</a:t>
            </a:r>
          </a:p>
          <a:p>
            <a:r>
              <a:rPr lang="en-US" dirty="0"/>
              <a:t>2.99</a:t>
            </a:r>
          </a:p>
          <a:p>
            <a:r>
              <a:rPr lang="en-US"/>
              <a:t>2.101</a:t>
            </a:r>
            <a:endParaRPr lang="en-US" dirty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6224</TotalTime>
  <Words>381</Words>
  <Application>Microsoft Office PowerPoint</Application>
  <PresentationFormat>On-screen Show (4:3)</PresentationFormat>
  <Paragraphs>26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Calibri</vt:lpstr>
      <vt:lpstr>Constantia</vt:lpstr>
      <vt:lpstr>Wingdings 2</vt:lpstr>
      <vt:lpstr>Flow</vt:lpstr>
      <vt:lpstr>Total Probability and Bayes’ Rule </vt:lpstr>
      <vt:lpstr>Total Probability</vt:lpstr>
      <vt:lpstr>PowerPoint Presentation</vt:lpstr>
      <vt:lpstr>Bayes’ Rule</vt:lpstr>
      <vt:lpstr>PowerPoint Presentation</vt:lpstr>
      <vt:lpstr>PowerPoint Presentation</vt:lpstr>
      <vt:lpstr>Assignment Page No 76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Counting Sample Points</dc:title>
  <dc:creator>shahjee</dc:creator>
  <cp:lastModifiedBy>amna humayun</cp:lastModifiedBy>
  <cp:revision>201</cp:revision>
  <dcterms:created xsi:type="dcterms:W3CDTF">2015-09-19T08:33:42Z</dcterms:created>
  <dcterms:modified xsi:type="dcterms:W3CDTF">2024-03-25T07:24:43Z</dcterms:modified>
</cp:coreProperties>
</file>