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256" r:id="rId2"/>
    <p:sldId id="321" r:id="rId3"/>
    <p:sldId id="322" r:id="rId4"/>
    <p:sldId id="323" r:id="rId5"/>
    <p:sldId id="324" r:id="rId6"/>
    <p:sldId id="325" r:id="rId7"/>
    <p:sldId id="327" r:id="rId8"/>
    <p:sldId id="326" r:id="rId9"/>
    <p:sldId id="328" r:id="rId10"/>
    <p:sldId id="329" r:id="rId11"/>
    <p:sldId id="330" r:id="rId12"/>
    <p:sldId id="332" r:id="rId13"/>
    <p:sldId id="262" r:id="rId14"/>
    <p:sldId id="331" r:id="rId15"/>
    <p:sldId id="333" r:id="rId16"/>
    <p:sldId id="334" r:id="rId17"/>
    <p:sldId id="335" r:id="rId18"/>
    <p:sldId id="337" r:id="rId19"/>
    <p:sldId id="338" r:id="rId20"/>
    <p:sldId id="269" r:id="rId21"/>
    <p:sldId id="271" r:id="rId22"/>
    <p:sldId id="275" r:id="rId23"/>
    <p:sldId id="276" r:id="rId24"/>
    <p:sldId id="278" r:id="rId25"/>
    <p:sldId id="279" r:id="rId26"/>
    <p:sldId id="339" r:id="rId27"/>
    <p:sldId id="280" r:id="rId28"/>
    <p:sldId id="277" r:id="rId29"/>
    <p:sldId id="282" r:id="rId30"/>
    <p:sldId id="285" r:id="rId31"/>
    <p:sldId id="286" r:id="rId32"/>
    <p:sldId id="287" r:id="rId33"/>
    <p:sldId id="288" r:id="rId34"/>
    <p:sldId id="289" r:id="rId35"/>
    <p:sldId id="291" r:id="rId36"/>
    <p:sldId id="292" r:id="rId37"/>
    <p:sldId id="293" r:id="rId38"/>
    <p:sldId id="294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54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9E0FBF-1BA7-4D47-9FF5-65897A09F8A3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FDAFEC-BF1D-4DA2-B0CF-2E65354DD7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582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FDAFEC-BF1D-4DA2-B0CF-2E65354DD74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316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BFE3530-E373-42C0-9ED9-2F41FE81FAA2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7ED4-089E-0344-2982-2F3652EA4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3C1B6-3D0B-4B8A-92C0-AB2FA924E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presentation and i</a:t>
            </a:r>
            <a:r>
              <a:rPr lang="en-US" dirty="0">
                <a:solidFill>
                  <a:srgbClr val="FF0000"/>
                </a:solidFill>
              </a:rPr>
              <a:t>nterpretation of chance outcomes </a:t>
            </a:r>
            <a:r>
              <a:rPr lang="en-US" dirty="0"/>
              <a:t>that occur in a planned study or scientific investigation. </a:t>
            </a:r>
          </a:p>
          <a:p>
            <a:r>
              <a:rPr lang="en-US" dirty="0"/>
              <a:t>For example, we may record the number of accidents that occur monthly at the intersection, the tossing of a coin, the no of items found to be defective or non-defective when items are inspected.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15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524E5-8307-C1B2-94AD-8C1EC84CB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58E38-BE3F-ADA0-A9E8-F40C54A1A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set of </a:t>
            </a:r>
            <a:r>
              <a:rPr lang="en-US" dirty="0">
                <a:solidFill>
                  <a:srgbClr val="FF0000"/>
                </a:solidFill>
              </a:rPr>
              <a:t>all possible outcomes </a:t>
            </a:r>
            <a:r>
              <a:rPr lang="en-US" dirty="0"/>
              <a:t>of a </a:t>
            </a:r>
            <a:r>
              <a:rPr lang="en-US" dirty="0">
                <a:solidFill>
                  <a:srgbClr val="FF0000"/>
                </a:solidFill>
              </a:rPr>
              <a:t>statistical experiment</a:t>
            </a:r>
            <a:r>
              <a:rPr lang="en-US" dirty="0"/>
              <a:t> is called the sample space and is represented by the symbol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Examples:</a:t>
            </a:r>
          </a:p>
          <a:p>
            <a:pPr lvl="2"/>
            <a:r>
              <a:rPr lang="en-US" dirty="0"/>
              <a:t>The sample space S, of possible outcomes when a coin is flipped</a:t>
            </a:r>
          </a:p>
          <a:p>
            <a:pPr marL="978408" lvl="3" indent="0">
              <a:buNone/>
            </a:pPr>
            <a:r>
              <a:rPr lang="en-US" dirty="0"/>
              <a:t>	S = {H, T}</a:t>
            </a:r>
          </a:p>
          <a:p>
            <a:pPr lvl="2"/>
            <a:r>
              <a:rPr lang="en-US" dirty="0"/>
              <a:t>The sample space S, the experiment of tossing a die. If we are interested in the number that shows on the top face</a:t>
            </a:r>
          </a:p>
          <a:p>
            <a:pPr marL="978408" lvl="3" indent="0">
              <a:buNone/>
            </a:pPr>
            <a:r>
              <a:rPr lang="en-US" dirty="0"/>
              <a:t>	S = {1, 2, 3, 4, 5, 6}</a:t>
            </a:r>
          </a:p>
          <a:p>
            <a:pPr lvl="2"/>
            <a:r>
              <a:rPr lang="en-US" dirty="0"/>
              <a:t>The sample space S, the experiment of tossing a die. If we are interested only in whether the number is even or odd.</a:t>
            </a:r>
          </a:p>
          <a:p>
            <a:pPr marL="667512" lvl="2" indent="0">
              <a:buNone/>
            </a:pPr>
            <a:r>
              <a:rPr lang="en-US" dirty="0"/>
              <a:t>		S = {even, odd}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DBFA5-7785-BEAA-AF49-8A582D210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51" y="513898"/>
            <a:ext cx="8229600" cy="1143000"/>
          </a:xfrm>
        </p:spPr>
        <p:txBody>
          <a:bodyPr/>
          <a:lstStyle/>
          <a:p>
            <a:r>
              <a:rPr lang="en-US" dirty="0"/>
              <a:t>Tree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D4582-904F-69DF-B789-7856C9354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451" y="1656898"/>
            <a:ext cx="8229600" cy="4389120"/>
          </a:xfrm>
        </p:spPr>
        <p:txBody>
          <a:bodyPr>
            <a:normAutofit/>
          </a:bodyPr>
          <a:lstStyle/>
          <a:p>
            <a:r>
              <a:rPr lang="en-US" sz="2000" dirty="0"/>
              <a:t>Suppose that three items are selected at random from a manufacturing process. Each item is inspected and classified defective, D, or non-defective, N. List the elements of the sample space.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/>
              <a:t>  S = {DDD, DDN, DND, DNN, NDD, NDN, NND, NNN}.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1862C9-CF3A-DEB9-151C-CE9200C6A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3276600"/>
            <a:ext cx="4448175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22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3A351-02DE-1BA5-D0F6-8EC972B71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2D88D-507D-612A-41E0-59477DBBF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dirty="0">
                <a:solidFill>
                  <a:srgbClr val="FF0000"/>
                </a:solidFill>
              </a:rPr>
              <a:t>event is a subset of a sample spac</a:t>
            </a:r>
            <a:r>
              <a:rPr lang="en-US" dirty="0"/>
              <a:t>e.</a:t>
            </a:r>
          </a:p>
          <a:p>
            <a:r>
              <a:rPr lang="en-US" dirty="0"/>
              <a:t>For any given experiment, we may be </a:t>
            </a:r>
            <a:r>
              <a:rPr lang="en-US" dirty="0">
                <a:solidFill>
                  <a:srgbClr val="FF0000"/>
                </a:solidFill>
              </a:rPr>
              <a:t>interested</a:t>
            </a:r>
            <a:r>
              <a:rPr lang="en-US" dirty="0"/>
              <a:t> in the </a:t>
            </a:r>
            <a:r>
              <a:rPr lang="en-US" dirty="0">
                <a:solidFill>
                  <a:srgbClr val="FF0000"/>
                </a:solidFill>
              </a:rPr>
              <a:t>occurrence of certain events </a:t>
            </a:r>
            <a:r>
              <a:rPr lang="en-US" dirty="0"/>
              <a:t>rather than in the occurrence of a specific element in the sample space. For instance, we may be interested in the event A that the outcome when a die is tossed is divisible by 3.</a:t>
            </a:r>
          </a:p>
          <a:p>
            <a:pPr marL="0" indent="0">
              <a:buNone/>
            </a:pPr>
            <a:r>
              <a:rPr lang="en-US" dirty="0"/>
              <a:t>	A = {3, 6}</a:t>
            </a:r>
          </a:p>
          <a:p>
            <a:r>
              <a:rPr lang="en-US" dirty="0"/>
              <a:t>The event B that the number of defectives is greater than 1 in the previous example.</a:t>
            </a:r>
          </a:p>
          <a:p>
            <a:pPr marL="0" indent="0">
              <a:buNone/>
            </a:pPr>
            <a:r>
              <a:rPr lang="en-US" dirty="0"/>
              <a:t>	 B = {DDN, DND, NDD, DDD}</a:t>
            </a:r>
          </a:p>
        </p:txBody>
      </p:sp>
    </p:spTree>
    <p:extLst>
      <p:ext uri="{BB962C8B-B14F-4D97-AF65-F5344CB8AC3E}">
        <p14:creationId xmlns:p14="http://schemas.microsoft.com/office/powerpoint/2010/main" val="41566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E4A5A-0190-7B2C-75B3-48B072ED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Venn diagrams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77A018-E848-105F-C8A2-2D8FBB142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534" y="2466974"/>
            <a:ext cx="4743403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151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2444D-EEFF-B930-AA18-074B57A37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6FF63-0916-2F0A-C706-A7684C230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Sample Points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A7A0C-EB2C-EA71-A5E8-36054899C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170" name="AutoShape 2" descr="Image result for probability">
            <a:extLst>
              <a:ext uri="{FF2B5EF4-FFF2-40B4-BE49-F238E27FC236}">
                <a16:creationId xmlns:a16="http://schemas.microsoft.com/office/drawing/2014/main" id="{269136BC-6B22-A17E-F224-680CCBC2F7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47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F9EB4-4BD1-DC6E-E2DB-BE5717091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Multiplication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618F6-869F-FF8B-0212-50917926C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an operation can be performed in </a:t>
            </a:r>
            <a:r>
              <a:rPr lang="en-US" dirty="0">
                <a:solidFill>
                  <a:srgbClr val="FF0000"/>
                </a:solidFill>
              </a:rPr>
              <a:t>n1 ways</a:t>
            </a:r>
            <a:r>
              <a:rPr lang="en-US" dirty="0"/>
              <a:t>, and if for each of these ways a second operation can be performed in </a:t>
            </a:r>
            <a:r>
              <a:rPr lang="en-US" dirty="0">
                <a:solidFill>
                  <a:srgbClr val="FF0000"/>
                </a:solidFill>
              </a:rPr>
              <a:t>n2 ways</a:t>
            </a:r>
            <a:r>
              <a:rPr lang="en-US" dirty="0"/>
              <a:t>, then the two operations can be </a:t>
            </a:r>
            <a:r>
              <a:rPr lang="en-US" dirty="0">
                <a:solidFill>
                  <a:srgbClr val="FF0000"/>
                </a:solidFill>
              </a:rPr>
              <a:t>performed together in n1n2 ways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310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5CC37-6C33-37CF-FC96-BB909BDBB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74E9D-C7CF-6BBF-5E92-04B427A9C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many sample points are there in the sample space when a pair of dice is thrown once?</a:t>
            </a:r>
          </a:p>
          <a:p>
            <a:r>
              <a:rPr lang="en-US" dirty="0"/>
              <a:t> Solution: </a:t>
            </a:r>
          </a:p>
          <a:p>
            <a:pPr marL="0" indent="0">
              <a:buNone/>
            </a:pPr>
            <a:r>
              <a:rPr lang="en-US" dirty="0"/>
              <a:t>The first die can land face-up in any one of n1 = 6 ways. For each of these 6 ways, the second die can also land face-up in n2 = 6 ways. </a:t>
            </a:r>
          </a:p>
          <a:p>
            <a:pPr marL="0" indent="0">
              <a:buNone/>
            </a:pPr>
            <a:r>
              <a:rPr lang="en-US" dirty="0"/>
              <a:t>Therefore, the pair of dice can land in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n1n2 = (6)(6) = 36 possible ways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512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8DEEA-EF3F-C6D3-52F8-58EEBEA4A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2AC8F-AE92-EE8D-ACF4-94BB31E04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22-member club needs to elect a chair and a treasurer, how many different ways can these two to be elected? </a:t>
            </a:r>
          </a:p>
          <a:p>
            <a:r>
              <a:rPr lang="en-US" dirty="0"/>
              <a:t>Solution: </a:t>
            </a:r>
          </a:p>
          <a:p>
            <a:r>
              <a:rPr lang="en-US" dirty="0"/>
              <a:t>For the chair position, there are 22 total possibilities. For each of those 22 possibilities, there are 21 possibilities to elect the treasurer. </a:t>
            </a:r>
          </a:p>
          <a:p>
            <a:r>
              <a:rPr lang="en-US" dirty="0">
                <a:solidFill>
                  <a:srgbClr val="FF0000"/>
                </a:solidFill>
              </a:rPr>
              <a:t>n1 × n2 = 22 × 21 = 462 different ways.</a:t>
            </a:r>
          </a:p>
        </p:txBody>
      </p:sp>
    </p:spTree>
    <p:extLst>
      <p:ext uri="{BB962C8B-B14F-4D97-AF65-F5344CB8AC3E}">
        <p14:creationId xmlns:p14="http://schemas.microsoft.com/office/powerpoint/2010/main" val="433223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3D211-3B2F-B7AA-AADE-C8C607861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Multiplication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DC708-2936-060C-06DF-12C671CFF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an operation can be performed in </a:t>
            </a:r>
            <a:r>
              <a:rPr lang="en-US" dirty="0">
                <a:solidFill>
                  <a:srgbClr val="FF0000"/>
                </a:solidFill>
              </a:rPr>
              <a:t>n1 ways</a:t>
            </a:r>
            <a:r>
              <a:rPr lang="en-US" dirty="0"/>
              <a:t>, and if for each of these a second operation can be performed in </a:t>
            </a:r>
            <a:r>
              <a:rPr lang="en-US" dirty="0">
                <a:solidFill>
                  <a:srgbClr val="FF0000"/>
                </a:solidFill>
              </a:rPr>
              <a:t>n2 ways</a:t>
            </a:r>
            <a:r>
              <a:rPr lang="en-US" dirty="0"/>
              <a:t>, and for each of the first two a third operation can be performed in </a:t>
            </a:r>
            <a:r>
              <a:rPr lang="en-US" dirty="0">
                <a:solidFill>
                  <a:srgbClr val="FF0000"/>
                </a:solidFill>
              </a:rPr>
              <a:t>n3 ways</a:t>
            </a:r>
            <a:r>
              <a:rPr lang="en-US" dirty="0"/>
              <a:t>, and so forth, then the sequence of k operations can be performed in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n1n2 ··· </a:t>
            </a:r>
            <a:r>
              <a:rPr lang="en-US" dirty="0" err="1">
                <a:solidFill>
                  <a:srgbClr val="FF0000"/>
                </a:solidFill>
              </a:rPr>
              <a:t>nk</a:t>
            </a:r>
            <a:r>
              <a:rPr lang="en-US" dirty="0">
                <a:solidFill>
                  <a:srgbClr val="FF0000"/>
                </a:solidFill>
              </a:rPr>
              <a:t> ways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1382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D6933-2CD8-EA1F-B61F-9E8949DF7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B2885-9E33-2628-D02A-71A2FDA16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 is going to assemble a computer by himself. He has the choice of chips from two brands, a hard drive from four, memory from three, and an accessory bundle from five local stores. How many different ways can Sam order the parts? </a:t>
            </a:r>
          </a:p>
          <a:p>
            <a:r>
              <a:rPr lang="en-US" dirty="0"/>
              <a:t>Solution: </a:t>
            </a:r>
          </a:p>
          <a:p>
            <a:r>
              <a:rPr lang="en-US" dirty="0"/>
              <a:t>Since n1 = 2, n2 = 4, n3 = 3, and n4 = 5, </a:t>
            </a:r>
          </a:p>
          <a:p>
            <a:r>
              <a:rPr lang="en-US" dirty="0"/>
              <a:t>there are </a:t>
            </a:r>
            <a:r>
              <a:rPr lang="en-US" dirty="0" err="1"/>
              <a:t>nl</a:t>
            </a:r>
            <a:r>
              <a:rPr lang="en-US" dirty="0"/>
              <a:t> × n2 × n3 × n4 </a:t>
            </a:r>
            <a:r>
              <a:rPr lang="en-US" dirty="0">
                <a:solidFill>
                  <a:srgbClr val="FF0000"/>
                </a:solidFill>
              </a:rPr>
              <a:t>= 2 × 4 × 3 × 5 = 120</a:t>
            </a:r>
          </a:p>
        </p:txBody>
      </p:sp>
    </p:spTree>
    <p:extLst>
      <p:ext uri="{BB962C8B-B14F-4D97-AF65-F5344CB8AC3E}">
        <p14:creationId xmlns:p14="http://schemas.microsoft.com/office/powerpoint/2010/main" val="99898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Generalized Multiplication Rule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Example: </a:t>
            </a:r>
            <a:r>
              <a:rPr lang="en-US" dirty="0"/>
              <a:t>How many different license plates can be made if each plate contains a sequence of three uppercase English letters followed by three digits?</a:t>
            </a:r>
          </a:p>
          <a:p>
            <a:pPr>
              <a:buNone/>
            </a:pPr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Solution:</a:t>
            </a:r>
            <a:r>
              <a:rPr lang="en-US" dirty="0"/>
              <a:t> There are 26 choices for each of the three uppercase English letters and ten choices for each of the three digits.</a:t>
            </a:r>
          </a:p>
          <a:p>
            <a:pPr>
              <a:buNone/>
            </a:pPr>
            <a:r>
              <a:rPr lang="en-US" dirty="0"/>
              <a:t>   Hence, by the product rule there are a total of 26 · 26 · 26 · 10 · 10 · 10 =17</a:t>
            </a:r>
            <a:r>
              <a:rPr lang="en-US" i="1" dirty="0"/>
              <a:t>,</a:t>
            </a:r>
            <a:r>
              <a:rPr lang="en-US" dirty="0"/>
              <a:t>576</a:t>
            </a:r>
            <a:r>
              <a:rPr lang="en-US" i="1" dirty="0"/>
              <a:t>,</a:t>
            </a:r>
            <a:r>
              <a:rPr lang="en-US" dirty="0"/>
              <a:t>000 possible license plates.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5AE7D-1559-9850-F5C1-C9B1CFCBB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8AF49-AE7A-1A0B-3DA2-E0F33EA7C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210" y="1847088"/>
            <a:ext cx="8229600" cy="4389120"/>
          </a:xfrm>
        </p:spPr>
        <p:txBody>
          <a:bodyPr/>
          <a:lstStyle/>
          <a:p>
            <a:r>
              <a:rPr lang="en-US" dirty="0"/>
              <a:t>A permutation is an arrangement of all or part of a set of objects</a:t>
            </a:r>
          </a:p>
          <a:p>
            <a:r>
              <a:rPr lang="en-US" dirty="0"/>
              <a:t>The number of permutations of n distinct objects taken r at a time 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646065-4807-3673-0841-E2853A420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3469482"/>
            <a:ext cx="3192974" cy="11675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458D49-3037-29EC-5693-5D0B3BA3344B}"/>
              </a:ext>
            </a:extLst>
          </p:cNvPr>
          <p:cNvSpPr txBox="1"/>
          <p:nvPr/>
        </p:nvSpPr>
        <p:spPr>
          <a:xfrm>
            <a:off x="550190" y="5035878"/>
            <a:ext cx="81366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</a:t>
            </a:r>
            <a:r>
              <a:rPr lang="en-US" dirty="0"/>
              <a:t> Consider the three letters </a:t>
            </a:r>
            <a:r>
              <a:rPr lang="en-US" i="1" dirty="0"/>
              <a:t>a, b, and c taken two at a time. </a:t>
            </a:r>
          </a:p>
          <a:p>
            <a:r>
              <a:rPr lang="en-US" i="1" dirty="0"/>
              <a:t>The possible permutations are</a:t>
            </a:r>
          </a:p>
          <a:p>
            <a:r>
              <a:rPr lang="en-US" b="1" i="1" dirty="0"/>
              <a:t>ab, ac, </a:t>
            </a:r>
            <a:r>
              <a:rPr lang="en-US" b="1" i="1" dirty="0" err="1"/>
              <a:t>bc</a:t>
            </a:r>
            <a:r>
              <a:rPr lang="en-US" b="1" i="1" dirty="0"/>
              <a:t>, </a:t>
            </a:r>
          </a:p>
          <a:p>
            <a:r>
              <a:rPr lang="en-US" b="1" i="1" dirty="0" err="1"/>
              <a:t>ba</a:t>
            </a:r>
            <a:r>
              <a:rPr lang="en-US" b="1" i="1" dirty="0"/>
              <a:t>, ca, </a:t>
            </a:r>
            <a:r>
              <a:rPr lang="en-US" b="1" i="1" dirty="0" err="1"/>
              <a:t>cb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1509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EB4FF-8EAA-07DF-D9A1-4637F9143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9A0AF3-CE34-9253-74FF-4C53C9CFCA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i="0" dirty="0">
                    <a:effectLst/>
                    <a:latin typeface="Minion Pro"/>
                  </a:rPr>
                  <a:t>In how many different ways can five friends sit for a photograph of five chairs in a row?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</m:oMath>
                </a14:m>
                <a:r>
                  <a:rPr lang="en-US" sz="3200" b="0" i="0" dirty="0">
                    <a:solidFill>
                      <a:srgbClr val="FF0000"/>
                    </a:solidFill>
                    <a:effectLst/>
                    <a:latin typeface="Minion Pro"/>
                  </a:rPr>
                  <a:t> =</a:t>
                </a:r>
                <a:r>
                  <a:rPr lang="en-US" sz="32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  <m: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sz="3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b="0" i="0" dirty="0">
                    <a:solidFill>
                      <a:srgbClr val="FF0000"/>
                    </a:solidFill>
                    <a:effectLst/>
                    <a:latin typeface="Minion Pro"/>
                  </a:rPr>
                  <a:t>120</a:t>
                </a:r>
                <a:endParaRPr lang="en-US" sz="3200" b="0" i="0" dirty="0">
                  <a:effectLst/>
                  <a:latin typeface="Minion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9A0AF3-CE34-9253-74FF-4C53C9CFCA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9" t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4001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5E95B-52A7-5007-4D36-A50163985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94F82D-0745-1B63-05D4-BC294F5B44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president and a treasurer are to be chosen from a student club consisting of 6 people. How many different choices of officers are possible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</m:oMath>
                </a14:m>
                <a:r>
                  <a:rPr lang="en-US" sz="2800" b="0" i="0" dirty="0">
                    <a:solidFill>
                      <a:srgbClr val="FF0000"/>
                    </a:solidFill>
                    <a:effectLst/>
                    <a:latin typeface="Minion Pro"/>
                  </a:rPr>
                  <a:t> =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en-US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  <a:latin typeface="Minion Pro"/>
                  </a:rPr>
                  <a:t>=3</a:t>
                </a:r>
                <a:r>
                  <a:rPr lang="en-US" sz="2800" b="0" i="0" dirty="0">
                    <a:solidFill>
                      <a:srgbClr val="FF0000"/>
                    </a:solidFill>
                    <a:effectLst/>
                    <a:latin typeface="Minion Pro"/>
                  </a:rPr>
                  <a:t>0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94F82D-0745-1B63-05D4-BC294F5B44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9" t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945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AE2E2-74AA-AC64-1360-4449D7DE0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19496-B315-3297-CA74-ACAE28C6E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many problems, we are interested in the number of ways of </a:t>
            </a:r>
            <a:r>
              <a:rPr lang="en-US" dirty="0">
                <a:solidFill>
                  <a:srgbClr val="FF0000"/>
                </a:solidFill>
              </a:rPr>
              <a:t>selecting </a:t>
            </a:r>
            <a:r>
              <a:rPr lang="en-US" i="1" dirty="0">
                <a:solidFill>
                  <a:srgbClr val="FF0000"/>
                </a:solidFill>
              </a:rPr>
              <a:t>r objects </a:t>
            </a:r>
            <a:r>
              <a:rPr lang="en-US" dirty="0">
                <a:solidFill>
                  <a:srgbClr val="FF0000"/>
                </a:solidFill>
              </a:rPr>
              <a:t>from </a:t>
            </a:r>
            <a:r>
              <a:rPr lang="en-US" i="1" dirty="0">
                <a:solidFill>
                  <a:srgbClr val="FF0000"/>
                </a:solidFill>
              </a:rPr>
              <a:t>n without regard to order.</a:t>
            </a:r>
            <a:r>
              <a:rPr lang="en-US" i="1" dirty="0"/>
              <a:t> These selections are called </a:t>
            </a:r>
            <a:r>
              <a:rPr lang="en-US" b="1" i="1" dirty="0"/>
              <a:t>combinations.</a:t>
            </a:r>
            <a:endParaRPr lang="en-US" dirty="0"/>
          </a:p>
          <a:p>
            <a:r>
              <a:rPr lang="en-US" dirty="0"/>
              <a:t>The number of combinations of n distinct objects taken r at a time 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D7F0B-F1B5-6EC4-80E5-7FE10ACF3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4217479"/>
            <a:ext cx="4894914" cy="219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906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636DA-4294-97F6-3178-E24887900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CE19C5-5432-514E-0FE3-2476AFB819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Selecting 4 books from a list of 7 books for a research paper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bSup>
                  </m:oMath>
                </a14:m>
                <a:r>
                  <a:rPr lang="en-US" sz="3200" b="0" i="0" dirty="0">
                    <a:solidFill>
                      <a:srgbClr val="FF0000"/>
                    </a:solidFill>
                    <a:effectLst/>
                    <a:latin typeface="Minion Pro"/>
                  </a:rPr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7!</m:t>
                        </m:r>
                      </m:num>
                      <m:den>
                        <m:r>
                          <a:rPr lang="en-US" sz="3200" b="0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4!</m:t>
                        </m:r>
                        <m:d>
                          <m:dPr>
                            <m:ctrlPr>
                              <a:rPr lang="en-US" sz="3200" b="0" i="1" dirty="0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dirty="0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7−4</m:t>
                            </m:r>
                          </m:e>
                        </m:d>
                        <m:r>
                          <a:rPr lang="en-US" sz="3200" b="0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Minion Pro"/>
                  </a:rPr>
                  <a:t> =7</a:t>
                </a:r>
                <a:r>
                  <a:rPr lang="en-US" sz="3200" b="0" i="0" dirty="0">
                    <a:solidFill>
                      <a:srgbClr val="FF0000"/>
                    </a:solidFill>
                    <a:effectLst/>
                    <a:latin typeface="Minion Pro"/>
                  </a:rPr>
                  <a:t>0</a:t>
                </a:r>
                <a:endParaRPr lang="en-US" sz="32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CE19C5-5432-514E-0FE3-2476AFB819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9" t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612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7D3D3-D2FE-7CF5-6737-A77DD78D9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BE902-A22C-2A6C-C2ED-5D7DB5F9F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3742FC-EF9E-D74F-6247-3C9923E1B4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many hockey teams from 6 players can be formed from 14 players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bSup>
                  </m:oMath>
                </a14:m>
                <a:r>
                  <a:rPr lang="en-US" sz="3200" b="0" i="0" dirty="0">
                    <a:solidFill>
                      <a:srgbClr val="FF0000"/>
                    </a:solidFill>
                    <a:effectLst/>
                    <a:latin typeface="Minion Pro"/>
                  </a:rPr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14!</m:t>
                        </m:r>
                      </m:num>
                      <m:den>
                        <m:r>
                          <a:rPr lang="en-US" sz="3200" b="0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6!</m:t>
                        </m:r>
                        <m:d>
                          <m:dPr>
                            <m:ctrlPr>
                              <a:rPr lang="en-US" sz="3200" b="0" i="1" dirty="0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dirty="0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14−6</m:t>
                            </m:r>
                          </m:e>
                        </m:d>
                        <m:r>
                          <a:rPr lang="en-US" sz="3200" b="0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Minion Pro"/>
                  </a:rPr>
                  <a:t> =3003</a:t>
                </a:r>
                <a:endParaRPr lang="en-US" sz="32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3742FC-EF9E-D74F-6247-3C9923E1B4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9" t="-1250" r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1593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Example:</a:t>
            </a:r>
            <a:r>
              <a:rPr lang="en-US" dirty="0"/>
              <a:t> A group of 30 people have been trained as astronauts to go on the first mission to Mars. How many ways are there to select a crew of six people to go on this mission (assuming that all crew members have the same job)?</a:t>
            </a:r>
          </a:p>
          <a:p>
            <a:pPr>
              <a:buNone/>
            </a:pPr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Solution: </a:t>
            </a:r>
          </a:p>
          <a:p>
            <a:pPr>
              <a:buNone/>
            </a:pPr>
            <a:r>
              <a:rPr lang="en-US" i="1" baseline="30000" dirty="0"/>
              <a:t>          </a:t>
            </a:r>
            <a:r>
              <a:rPr lang="en-US" i="1" baseline="30000" dirty="0" err="1"/>
              <a:t>n</a:t>
            </a:r>
            <a:r>
              <a:rPr lang="en-US" i="1" dirty="0" err="1"/>
              <a:t>C</a:t>
            </a:r>
            <a:r>
              <a:rPr lang="en-US" i="1" baseline="-25000" dirty="0" err="1"/>
              <a:t>r</a:t>
            </a:r>
            <a:r>
              <a:rPr lang="en-US" i="1" dirty="0"/>
              <a:t>  = </a:t>
            </a:r>
            <a:r>
              <a:rPr lang="en-US" i="1" baseline="30000" dirty="0"/>
              <a:t>30</a:t>
            </a:r>
            <a:r>
              <a:rPr lang="en-US" i="1" dirty="0"/>
              <a:t>C</a:t>
            </a:r>
            <a:r>
              <a:rPr lang="en-US" i="1" baseline="-25000" dirty="0"/>
              <a:t>6  =</a:t>
            </a:r>
            <a:r>
              <a:rPr lang="en-US" i="1" dirty="0"/>
              <a:t> 30! / 6!(30-6)! =593775</a:t>
            </a:r>
          </a:p>
          <a:p>
            <a:pPr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of an Event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170" name="AutoShape 2" descr="Image result for probabilit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172" name="Picture 4" descr="https://encrypted-tbn3.gstatic.com/images?q=tbn:ANd9GcTp7bckurNbkPYTpTLAHkLd6RDDxvtknWg_TfcknSM4UerJgMvWsQ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3962400"/>
            <a:ext cx="3191366" cy="238125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6" name="Rectangle 5"/>
          <p:cNvSpPr/>
          <p:nvPr/>
        </p:nvSpPr>
        <p:spPr>
          <a:xfrm>
            <a:off x="5486400" y="6242447"/>
            <a:ext cx="2667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https://encrypted-tbn3.gstatic.com/images?q=tbn:ANd9GcTp7bckurNbkPYTpTLAHkLd6RDDxvtknWg_TfcknSM4UerJgMvWsQ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   The ratio of number of elements in A to number of elements in S.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42167" t="32292" r="16252" b="51041"/>
          <a:stretch>
            <a:fillRect/>
          </a:stretch>
        </p:blipFill>
        <p:spPr bwMode="auto">
          <a:xfrm>
            <a:off x="381000" y="3505200"/>
            <a:ext cx="8453438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   Example:</a:t>
            </a:r>
            <a:r>
              <a:rPr lang="en-US" dirty="0"/>
              <a:t> A coin is tossed twice. What is the probability that at least 1 head occurs?</a:t>
            </a:r>
          </a:p>
          <a:p>
            <a:pPr>
              <a:buNone/>
            </a:pPr>
            <a:r>
              <a:rPr lang="en-US" dirty="0"/>
              <a:t>   </a:t>
            </a:r>
            <a:r>
              <a:rPr lang="en-US" dirty="0">
                <a:solidFill>
                  <a:srgbClr val="FF0000"/>
                </a:solidFill>
              </a:rPr>
              <a:t>Solution:</a:t>
            </a:r>
            <a:r>
              <a:rPr lang="en-US" dirty="0"/>
              <a:t> The sample space for this experiment is</a:t>
            </a:r>
          </a:p>
          <a:p>
            <a:pPr>
              <a:buNone/>
            </a:pPr>
            <a:r>
              <a:rPr lang="en-US" i="1" dirty="0"/>
              <a:t>			S = {HH,HT, TH, TT} </a:t>
            </a:r>
          </a:p>
          <a:p>
            <a:pPr>
              <a:buNone/>
            </a:pPr>
            <a:r>
              <a:rPr lang="en-US" i="1" dirty="0"/>
              <a:t>                           =4</a:t>
            </a:r>
          </a:p>
          <a:p>
            <a:pPr>
              <a:buNone/>
            </a:pPr>
            <a:r>
              <a:rPr lang="en-US" i="1" dirty="0"/>
              <a:t>		           A = {HH,HT, TH} </a:t>
            </a:r>
          </a:p>
          <a:p>
            <a:pPr>
              <a:buNone/>
            </a:pPr>
            <a:r>
              <a:rPr lang="en-US" i="1" dirty="0"/>
              <a:t>                          =3</a:t>
            </a:r>
          </a:p>
          <a:p>
            <a:pPr>
              <a:buNone/>
            </a:pPr>
            <a:r>
              <a:rPr lang="en-US" i="1" dirty="0"/>
              <a:t>                P(A) =3/4</a:t>
            </a:r>
            <a:endParaRPr lang="en-US" dirty="0"/>
          </a:p>
        </p:txBody>
      </p:sp>
      <p:pic>
        <p:nvPicPr>
          <p:cNvPr id="5" name="Picture 2" descr="Image result for probabilit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4572000"/>
            <a:ext cx="2466975" cy="184785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Rectangle 5"/>
          <p:cNvSpPr/>
          <p:nvPr/>
        </p:nvSpPr>
        <p:spPr>
          <a:xfrm>
            <a:off x="5791200" y="6396335"/>
            <a:ext cx="3352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https://encrypted-tbn3.gstatic.com/images?q=tbn:ANd9GcRNwtA9liRP8kHwwRIUrYGJxMA_kUk97YJYq6tulHbVuDJbpTT6TA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   Example:</a:t>
            </a:r>
            <a:r>
              <a:rPr lang="en-US" dirty="0"/>
              <a:t> A die is loaded in such a way that an even number is twice as likely to occur as an odd number. If </a:t>
            </a:r>
            <a:r>
              <a:rPr lang="en-US" i="1" dirty="0"/>
              <a:t>E is the event that a number less than 4 occurs on a single toss of </a:t>
            </a:r>
            <a:r>
              <a:rPr lang="en-US" dirty="0"/>
              <a:t>the die, find </a:t>
            </a:r>
            <a:r>
              <a:rPr lang="en-US" i="1" dirty="0"/>
              <a:t>P(E).</a:t>
            </a:r>
            <a:endParaRPr lang="en-US" dirty="0"/>
          </a:p>
          <a:p>
            <a:pPr>
              <a:buNone/>
            </a:pPr>
            <a:r>
              <a:rPr lang="en-US" dirty="0"/>
              <a:t>   </a:t>
            </a:r>
            <a:r>
              <a:rPr lang="en-US" dirty="0">
                <a:solidFill>
                  <a:srgbClr val="FF0000"/>
                </a:solidFill>
              </a:rPr>
              <a:t>Solution:</a:t>
            </a:r>
            <a:r>
              <a:rPr lang="en-US" dirty="0"/>
              <a:t> The sample space for this experiment is</a:t>
            </a:r>
          </a:p>
          <a:p>
            <a:pPr>
              <a:buNone/>
            </a:pPr>
            <a:r>
              <a:rPr lang="en-US" i="1" dirty="0"/>
              <a:t>			S = {1, 2, 2, 3, 4, 4, 5, 6, 6, }</a:t>
            </a:r>
          </a:p>
          <a:p>
            <a:pPr>
              <a:buNone/>
            </a:pPr>
            <a:r>
              <a:rPr lang="en-US" i="1" dirty="0"/>
              <a:t>                          = 9</a:t>
            </a:r>
          </a:p>
          <a:p>
            <a:pPr>
              <a:buNone/>
            </a:pPr>
            <a:r>
              <a:rPr lang="en-US" i="1" dirty="0"/>
              <a:t>		           E = {1, 2, 2, 3}</a:t>
            </a:r>
          </a:p>
          <a:p>
            <a:pPr>
              <a:buNone/>
            </a:pPr>
            <a:r>
              <a:rPr lang="en-US" i="1" dirty="0"/>
              <a:t>                          =4</a:t>
            </a:r>
          </a:p>
          <a:p>
            <a:pPr>
              <a:buNone/>
            </a:pPr>
            <a:r>
              <a:rPr lang="en-US" i="1" dirty="0"/>
              <a:t>                     P(E) =4/9</a:t>
            </a:r>
            <a:endParaRPr lang="en-US" dirty="0"/>
          </a:p>
        </p:txBody>
      </p:sp>
      <p:sp>
        <p:nvSpPr>
          <p:cNvPr id="39938" name="AutoShape 2" descr="Image result for probabilit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40" name="AutoShape 4" descr="Image result for probabilit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42" name="AutoShape 6" descr="Image result for probabilit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62" name="AutoShape 2" descr="Image result for probabilit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64" name="AutoShape 4" descr="Image result for probabilit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6" descr="http://www.mises.org.br/images/articles/2012/Maio/probability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4267200"/>
            <a:ext cx="2079572" cy="18288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Rectangle 9"/>
          <p:cNvSpPr/>
          <p:nvPr/>
        </p:nvSpPr>
        <p:spPr>
          <a:xfrm>
            <a:off x="6858000" y="6172200"/>
            <a:ext cx="2057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http://www.mises.org.br/Article.aspx?id=1304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   Example:</a:t>
            </a:r>
            <a:r>
              <a:rPr lang="en-US" dirty="0"/>
              <a:t> A statistics class for engineers consists of 25 industrial, 10 mechanical, 10 electrical, and 8 civil engineering students. If a person is randomly selected by the instructor to answer a question, find the probability that the student chosen is an industrial engineering major 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Solution:</a:t>
            </a:r>
            <a:endParaRPr lang="en-US" dirty="0"/>
          </a:p>
          <a:p>
            <a:pPr>
              <a:buNone/>
            </a:pPr>
            <a:r>
              <a:rPr lang="en-US" i="1" dirty="0"/>
              <a:t>    S = </a:t>
            </a:r>
            <a:r>
              <a:rPr lang="en-US" dirty="0"/>
              <a:t>The total number of students in the class = </a:t>
            </a:r>
            <a:r>
              <a:rPr lang="en-US" i="1" baseline="30000" dirty="0"/>
              <a:t>53</a:t>
            </a:r>
            <a:r>
              <a:rPr lang="en-US" i="1" dirty="0"/>
              <a:t>C</a:t>
            </a:r>
            <a:r>
              <a:rPr lang="en-US" i="1" baseline="-25000" dirty="0"/>
              <a:t>1</a:t>
            </a:r>
            <a:endParaRPr lang="en-US" i="1" dirty="0"/>
          </a:p>
          <a:p>
            <a:pPr>
              <a:buNone/>
            </a:pPr>
            <a:r>
              <a:rPr lang="en-US" i="1" dirty="0"/>
              <a:t>	A =</a:t>
            </a:r>
            <a:r>
              <a:rPr lang="en-US" dirty="0"/>
              <a:t> an industrial engineering major = </a:t>
            </a:r>
            <a:r>
              <a:rPr lang="en-US" i="1" baseline="30000" dirty="0"/>
              <a:t>25</a:t>
            </a:r>
            <a:r>
              <a:rPr lang="en-US" i="1" dirty="0"/>
              <a:t>C</a:t>
            </a:r>
            <a:r>
              <a:rPr lang="en-US" i="1" baseline="-25000" dirty="0"/>
              <a:t>1</a:t>
            </a:r>
            <a:endParaRPr lang="en-US" i="1" dirty="0"/>
          </a:p>
          <a:p>
            <a:pPr>
              <a:buNone/>
            </a:pPr>
            <a:r>
              <a:rPr lang="en-US" i="1" dirty="0"/>
              <a:t>                     P(A) =</a:t>
            </a:r>
            <a:r>
              <a:rPr lang="en-US" i="1" baseline="30000" dirty="0"/>
              <a:t>25</a:t>
            </a:r>
            <a:r>
              <a:rPr lang="en-US" i="1" dirty="0"/>
              <a:t>C</a:t>
            </a:r>
            <a:r>
              <a:rPr lang="en-US" i="1" baseline="-25000" dirty="0"/>
              <a:t>1</a:t>
            </a:r>
            <a:r>
              <a:rPr lang="en-US" i="1" dirty="0"/>
              <a:t>/</a:t>
            </a:r>
            <a:r>
              <a:rPr lang="en-US" i="1" baseline="30000" dirty="0"/>
              <a:t>53</a:t>
            </a:r>
            <a:r>
              <a:rPr lang="en-US" i="1" dirty="0"/>
              <a:t>C</a:t>
            </a:r>
            <a:r>
              <a:rPr lang="en-US" i="1" baseline="-25000" dirty="0"/>
              <a:t>1</a:t>
            </a:r>
            <a:endParaRPr lang="en-US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1B698-3096-0F3D-CE63-7E7738D6B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700EA-2F1C-2D16-FEB7-E8B52B078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statistics class for engineers consists of 25 industrial, 10 mechanical, 10 electrical, and 8 civil engineering students. If a person is randomly selected by the instructor to answer a question, find the probability that the student chosen is (a) an industrial engineering major and (b) a civil engineering or an electrical engineering major.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Solution</a:t>
            </a:r>
          </a:p>
          <a:p>
            <a:r>
              <a:rPr lang="en-US" dirty="0"/>
              <a:t>P(industrial engineering major ) = </a:t>
            </a:r>
            <a:r>
              <a:rPr lang="en-US" i="1" baseline="30000" dirty="0"/>
              <a:t>25</a:t>
            </a:r>
            <a:r>
              <a:rPr lang="en-US" i="1" dirty="0"/>
              <a:t>C</a:t>
            </a:r>
            <a:r>
              <a:rPr lang="en-US" i="1" baseline="-25000" dirty="0"/>
              <a:t>1</a:t>
            </a:r>
            <a:r>
              <a:rPr lang="en-US" i="1" dirty="0"/>
              <a:t>/</a:t>
            </a:r>
            <a:r>
              <a:rPr lang="en-US" i="1" baseline="30000" dirty="0"/>
              <a:t>53</a:t>
            </a:r>
            <a:r>
              <a:rPr lang="en-US" i="1" dirty="0"/>
              <a:t>C</a:t>
            </a:r>
            <a:r>
              <a:rPr lang="en-US" i="1" baseline="-25000" dirty="0"/>
              <a:t>1 =  </a:t>
            </a:r>
            <a:r>
              <a:rPr lang="en-US" dirty="0"/>
              <a:t>25/ 53</a:t>
            </a:r>
          </a:p>
          <a:p>
            <a:r>
              <a:rPr lang="en-US" dirty="0"/>
              <a:t>P(a civil engineering or an electrical engineering major) = </a:t>
            </a:r>
            <a:r>
              <a:rPr lang="en-US" i="1" baseline="30000" dirty="0"/>
              <a:t>18</a:t>
            </a:r>
            <a:r>
              <a:rPr lang="en-US" i="1" dirty="0"/>
              <a:t>C</a:t>
            </a:r>
            <a:r>
              <a:rPr lang="en-US" i="1" baseline="-25000" dirty="0"/>
              <a:t>1</a:t>
            </a:r>
            <a:r>
              <a:rPr lang="en-US" i="1" dirty="0"/>
              <a:t>/</a:t>
            </a:r>
            <a:r>
              <a:rPr lang="en-US" i="1" baseline="30000" dirty="0"/>
              <a:t>53</a:t>
            </a:r>
            <a:r>
              <a:rPr lang="en-US" i="1" dirty="0"/>
              <a:t>C</a:t>
            </a:r>
            <a:r>
              <a:rPr lang="en-US" i="1" baseline="-25000" dirty="0"/>
              <a:t>1  = </a:t>
            </a:r>
            <a:r>
              <a:rPr lang="en-US" dirty="0"/>
              <a:t>18/ 53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629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   Example:</a:t>
            </a:r>
            <a:r>
              <a:rPr lang="en-US" dirty="0"/>
              <a:t> In a poker hand consisting of 5 cards, find the probability of holding 2 aces and 3 Jacks.</a:t>
            </a:r>
          </a:p>
          <a:p>
            <a:pPr>
              <a:buNone/>
            </a:pPr>
            <a:r>
              <a:rPr lang="en-US" dirty="0"/>
              <a:t>   </a:t>
            </a:r>
            <a:r>
              <a:rPr lang="en-US" dirty="0">
                <a:solidFill>
                  <a:srgbClr val="FF0000"/>
                </a:solidFill>
              </a:rPr>
              <a:t>Solution:</a:t>
            </a:r>
            <a:r>
              <a:rPr lang="en-US" dirty="0"/>
              <a:t> The sample space for this experiment is</a:t>
            </a:r>
          </a:p>
          <a:p>
            <a:pPr>
              <a:buNone/>
            </a:pPr>
            <a:r>
              <a:rPr lang="en-US" i="1" dirty="0"/>
              <a:t>    S = </a:t>
            </a:r>
            <a:r>
              <a:rPr lang="en-US" dirty="0"/>
              <a:t>The total number of 5-card poker hands, all of which are equally .</a:t>
            </a:r>
          </a:p>
          <a:p>
            <a:pPr>
              <a:buNone/>
            </a:pPr>
            <a:r>
              <a:rPr lang="en-US" dirty="0"/>
              <a:t>       = </a:t>
            </a:r>
            <a:r>
              <a:rPr lang="en-US" i="1" baseline="30000" dirty="0"/>
              <a:t>52</a:t>
            </a:r>
            <a:r>
              <a:rPr lang="en-US" i="1" dirty="0"/>
              <a:t>C</a:t>
            </a:r>
            <a:r>
              <a:rPr lang="en-US" i="1" baseline="-25000" dirty="0"/>
              <a:t>5</a:t>
            </a:r>
            <a:r>
              <a:rPr lang="en-US" i="1" dirty="0"/>
              <a:t> =2,598,960.</a:t>
            </a:r>
          </a:p>
          <a:p>
            <a:pPr>
              <a:buNone/>
            </a:pPr>
            <a:r>
              <a:rPr lang="en-US" i="1" dirty="0"/>
              <a:t>	A =</a:t>
            </a:r>
            <a:r>
              <a:rPr lang="en-US" dirty="0"/>
              <a:t> 2 aces and 3 Jacks </a:t>
            </a:r>
            <a:endParaRPr lang="en-US" i="1" dirty="0"/>
          </a:p>
          <a:p>
            <a:pPr>
              <a:buNone/>
            </a:pPr>
            <a:r>
              <a:rPr lang="en-US" i="1" dirty="0"/>
              <a:t>      </a:t>
            </a:r>
            <a:r>
              <a:rPr lang="en-US" dirty="0"/>
              <a:t> = </a:t>
            </a:r>
            <a:r>
              <a:rPr lang="en-US" i="1" baseline="30000" dirty="0"/>
              <a:t>4</a:t>
            </a:r>
            <a:r>
              <a:rPr lang="en-US" i="1" dirty="0"/>
              <a:t>C</a:t>
            </a:r>
            <a:r>
              <a:rPr lang="en-US" i="1" baseline="-25000" dirty="0"/>
              <a:t>2</a:t>
            </a:r>
            <a:r>
              <a:rPr lang="en-US" i="1" baseline="30000" dirty="0"/>
              <a:t> 4</a:t>
            </a:r>
            <a:r>
              <a:rPr lang="en-US" i="1" dirty="0"/>
              <a:t>C</a:t>
            </a:r>
            <a:r>
              <a:rPr lang="en-US" i="1" baseline="-25000" dirty="0"/>
              <a:t>3   </a:t>
            </a:r>
            <a:r>
              <a:rPr lang="en-US" i="1" dirty="0"/>
              <a:t>=6*4 = 24</a:t>
            </a:r>
          </a:p>
          <a:p>
            <a:pPr>
              <a:buNone/>
            </a:pPr>
            <a:r>
              <a:rPr lang="en-US" i="1" dirty="0"/>
              <a:t>               P(A) = 24/2,598,960 = 0.9* 10</a:t>
            </a:r>
            <a:r>
              <a:rPr lang="en-US" i="1" baseline="30000" dirty="0"/>
              <a:t>-5</a:t>
            </a:r>
            <a:endParaRPr lang="en-US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42753" t="28125" r="15080" b="51042"/>
          <a:stretch>
            <a:fillRect/>
          </a:stretch>
        </p:blipFill>
        <p:spPr bwMode="auto">
          <a:xfrm>
            <a:off x="533400" y="1447800"/>
            <a:ext cx="82296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6" name="AutoShape 2" descr="Image result for probabilit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68" name="AutoShape 4" descr="Image result for probabilit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2" descr="https://www.mathsisfun.com/data/images/probability-lin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4648200"/>
            <a:ext cx="4305300" cy="186690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9" name="Rectangle 8"/>
          <p:cNvSpPr/>
          <p:nvPr/>
        </p:nvSpPr>
        <p:spPr>
          <a:xfrm>
            <a:off x="4572000" y="6642556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/>
              <a:t>https://www.mathsisfun.com/data/probability.html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Additive Rules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242" name="AutoShape 2" descr="Image result for addi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44" name="AutoShape 4" descr="Image result for addi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46" name="AutoShape 6" descr="Image result for addi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48" name="AutoShape 8" descr="Image result for addi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50" name="AutoShape 10" descr="Image result for addi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Addition Law for Not Mutually Exclusive Events</a:t>
            </a:r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2" cstate="print"/>
          <a:srcRect l="42167" t="36458" r="15666" b="23958"/>
          <a:stretch>
            <a:fillRect/>
          </a:stretch>
        </p:blipFill>
        <p:spPr bwMode="auto">
          <a:xfrm>
            <a:off x="457200" y="2353733"/>
            <a:ext cx="8650706" cy="456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Addition Law for Mutually Exclusive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059668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</a:t>
            </a:r>
            <a:r>
              <a:rPr lang="en-US" i="1" dirty="0"/>
              <a:t>A and B are </a:t>
            </a:r>
            <a:r>
              <a:rPr lang="en-US" dirty="0">
                <a:solidFill>
                  <a:srgbClr val="FF0000"/>
                </a:solidFill>
              </a:rPr>
              <a:t>mutually exclusive, </a:t>
            </a:r>
            <a:r>
              <a:rPr lang="en-US" i="1" dirty="0">
                <a:solidFill>
                  <a:srgbClr val="FF0000"/>
                </a:solidFill>
              </a:rPr>
              <a:t>A∩B = 0</a:t>
            </a:r>
            <a:r>
              <a:rPr lang="en-US" i="1" dirty="0"/>
              <a:t> and then </a:t>
            </a:r>
            <a:r>
              <a:rPr lang="en-US" i="1" dirty="0">
                <a:solidFill>
                  <a:srgbClr val="FF0000"/>
                </a:solidFill>
              </a:rPr>
              <a:t>P(A∩B) = P(φ) = 0</a:t>
            </a:r>
            <a:r>
              <a:rPr lang="en-US" i="1" dirty="0"/>
              <a:t>.</a:t>
            </a:r>
            <a:endParaRPr lang="en-US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 cstate="print"/>
          <a:srcRect l="42752" t="63542" r="16252" b="26041"/>
          <a:stretch>
            <a:fillRect/>
          </a:stretch>
        </p:blipFill>
        <p:spPr bwMode="auto">
          <a:xfrm>
            <a:off x="304800" y="3733800"/>
            <a:ext cx="8534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8" name="AutoShape 4" descr="Image result for mutually exclusiv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990" name="AutoShape 6" descr="Image result for mutually exclusiv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992" name="AutoShape 8" descr="data:image/png;base64,iVBORw0KGgoAAAANSUhEUgAAAUMAAACcCAMAAADS8jl7AAAAkFBMVEX////JysyWmJoAAAASEhKanJ7Mzc/Q0dOcnqD29vb5+fn19fXW1taOkJIeHh78/Pzq6ure3t7BwcFVVVWMjIyur7FtbW10dHR8fHyqqqo9PT2UlJQmJiaFhYVWWFlERES6urouLi5jZWYXFxc2NjZJSkshIiJgYWNNTk9AQEFfYWINDQ1vcXNoaWs3ODkvMC86mRdrAAANJUlEQVR4nO2da3uiPBPHhTQhVUHFcBIQELWIp+//7Z7Qdu/W3YRDAuTFw/9F99rutcr1Y5KZJJOZGZgkqxmYTZLT28RQWhNDeU0M5TUxlNfEUF4TQ3lNDOU1MZTXxFBeE0N5TQzlNTGU18RQXhNDeU0M5TUxlFd/DFfzNXIwiQ/3bUK1vR9igh1tPV/19AWimi+WaRAS936onitx7x6Bgb3p77l6YThfp+S+y/Pd/kZ0jAOHKsBYJ96e/jZxzXQ9l/+W7lotEPa3EbAeRXm7eV5M5Xve7b4/HXOQlSTYLHr4GmmG7xvsPq3Cx45tUKEXVb+xHewX1tPFm/cenre91ml8up6Lm08gxvBvVW/YvydWviWaLEc5hgvbe2QldFAFT+OoQokcWGYPz+7jtbfQfBNu8+MhNit4Ok8VStPfZ+cyWMt8mwTDhe2eE0L58fG9gEROnGSuPbw1bsydtfUrflx8v0Fi00vyrQRGYYab+HkhaSt+vzim5HIkG+GnbaGFU1hFrLfi98PR9JPzwRactAUZavuzl6IuAP9gROkt2mtiD9usDckeftgJ4H8Y79kOC801Qgzt3TG0jc4AvzEatvm42CIP26SNlxdEAOA3Rj2+RKEARQGG9mOHNUGA3xg1eHz0TnHtXT9MUYDfxkiSPOw8ojszXBYZ7D6GGRSjba/z4jy87uUIfmEkieV0/OqODOc+IHI2+EORgLi/yDu1kh4IflKMs8uy03d3Y2iDUjP6IFjJsMu8pwG9LnO/H4IVRHgDcZdv78Jw5V6D3gh+UgyA15kXQykohT0Jk6L5iDqYYgeGy7yUnwhfhbR9Lj8reiDGPRKshG8At/7+9gwDAHs1wi8ZOgjEyP3ROkv0Po3wS9C0yrYrqtYM43M6AEIKMbU6TT5/SwP3vo3wm2KRtVz+tWT4XhT9uON/hbTTXnwNHfQ/jv8I3wHqkeHi6A5EsIKI7kfR/Rwd9BTRMCH6oFXc0Irh2ooHGcd/ZHhth81f8q0BEVahYqvJug3DdT4sQgoxzkUg+tEA3uQFImkDsQXD9+vQCCuIUfc5kZwHBfgNMe2B4TzzB0dYDednV4T6dXCEn8O5caOumWFxHwEhhXjYdkPoAHMEhjr0QdMqoJGhfxrOI78IXTrFiQaIh50L/wjfrIaooYmhYw0VF/7DUMs7bDotLG8chBTivpBiuAHOSAgpRKdx1Pxovx8LIR3OTyLBcPU0R5kMv2SQR1uEMBuNIJUJDHGGZDsiQmqJRf0L/08bQMYzQ2qIXm3kVcvQuNqjjeRPhjZot22X3MdESCGefFGGO31UM6SjOdy1QRhk4yLU9fBa83LrGAbJqFZYCV1arK3o2nNshvB2EmK4tsbzyf8xdKLmLRx/OzZCqogfeNUwJIeRR3Ilo2x0K5u3URYor4J+xn25fIbrKB3dDKkhplbTDo5XKjBDHT64swyfIXEVmGG1bm4wxE2uwAwrQ3zy4hsuw/VZhRlWhsgfNJ/yR1yhvEA88mZELkO8V2KG1BC3ta55rcYMK0M8cTK4eQxXu0CJGVJDDC512eY4UWOGVGfOio/HUDsqQkiV1axOV7v+kkI6Ch44SRk8ht7w+/88GXHNwsqwlJmhbp7ZMzWH4bsij1KJhjf8FX78oY4hfrC9CodhulNmhtQQ+fmdqyhWhpAu+A5dGPqmuulQQ/zBvMyHympoIzNnDhA2w1U0/lL5F0PnyfPMoaLg8Es4Yp7xsRluLIVDmQ5m7on9SZlXrgQ/mMdmbIZYxXbDL4YHTpg9BwoJcsNsNkMXKhzKdDCHnEjMjlROh1SANSGyGWYqp8NqQjyyGUIVO4e/xJ4QmQwXQClCChGwbwy4ox0qswW3rAxjJkPtoXQ6pBPikZ09mUlFh9/XbmU+4caKupgMg3FSbGoYlmynIuVSzPu+LPd7VyJlkTqVtgwJUT2WiclCuLlKuRRzCyz/9gBbiY+wGI6ZyfCA+2BYihszgi6Lof2UYohLcMAQPoD46TRkTdRMhpce9g6Nw1GCYcA8igxOUi4FR4BQDCUQfxWYdZ2GydBK5RHqQCLPBKURiyGWO40ywRuFhwtwEmeYMbZDmAyBNEKUAuBJOCb7jcWQSKWIwBug4SUkQCJzEe7Stgyl3TI6ukBm68dg7ia5NxmGOAE+Nm9A5nokZB32DMPQKPUYyDgmNkNPiqGegywClVsR/4jWDDdnSYYIF0tXkiFrcZ/I7NpAH1zof9+BrYRzh3vGQmUIhsgGCG2lMmgNi5USK8eQRjawik6AzFi+h+MwNLLUMCIg49yNc+8MaWRTnUzDC5DYxx2LoeE+Yt8HlkyMaTA3HaQYxuDzShCMJEJsHX7AdgzfpXyKgQs9DHUQSX1I7375K7Kp7uzI3GuBxRh+GaWZZiBDA1Ing/37ZfwAMfXIPgDuGH5ZKsZGSbVQRA6QytexryyGsfgoJCUAp6J4gocvs+aGl7QlQ/G1HjK8z6MYwwQyqXcotVgM4UGYof8tUyY6pNZ8bLvWe4iGJcj5ADuHmhE+g6tuizMMLiyGQSG+SJPfgP1k2HrPYS8aHiOnqsGpaWn1RyAe3CDIzChIH4qPpHTMOpRiMoxD0bgEfdeiQ0igKN2vjyHMZFi1WQ6VzLztHixWk0b8I+POPAtYAbVHUjQyShiPxWRoJ6oZ7thZSxZRzNBjHXwzGa6vihkiwM7026o+G93rbRnOFGYffiJ0mNvYs1moMPuwEn6yxgebYdnLoZQ4Q8xO9JulcodS8mKODzbDUGYfX16Gy1jZV1qrdSow3rXPWUKZWobcynnH0W87vjC8M5NL2QznufzJnrhQmvMKdBLx1V4PwuxrPpxc4oOuMg82ZJ7QV1KbPBdemeECh6EzbhGCVxmnlMdwpeLO6B9Br2Q+FIfhOhffMJCWzbkHUskduQrBb+ELuzYn745PqW4wo/DORTizRy9D8COTkybOY5iqW+4ZdUXc5+ouqPCup3AZvj9VpRMjJ6srhEKU3a6AWdqN4Sy+qbp7yzp+/NHmLVSEMD5yIi4uw02kyKvYDcUIDoq8Ckw4i6eaWgTuGGUP/5Xh15XjodIsJQh1EvHeLZ/hxlJiiDYzS+S3tjKHm8KCBbe0YE1tFiWGaPiN1e+VGCIk/CmmhuEmH7faVyW6VG4urlsqWDTDC2v3tZHhLJbIShdl2FwiaDZbXkdf8EG/JuCqY7g4j10XAwVNdUO/Xq5cbruIrJT/OLV159JsXISaFtU86o/eo5Gv4MKPfc3j1NeQLMfdzzZ4q6l/Xu4YZZ1/IYxB3Sxdz3DxNuZoRsFb274B/rijub7ab0NNXXtE34zsa+vWSPOnXHp7J8GCuyfchuGMjFUeu6of2bIabKXNdbSTFXhrqMPfWGO8GGvvwXA7FWp3riPtPdDJsGHl1Mjw/UzGqXVPom6d4kg0DkKzsYlKc7+A9SB9pP5BCGtdH0vuboTRDMNrY4XaFr0/lqDfjnBMhLhlVeff2o/hnN+aJ+k2PWjQ4BANXFc7maudeF5sO0E9qt0Qbs9wZl+HHc6GLmCFVPNTMixCM2+BsGVPriUYsm+AQcQQUu0fA3ZDgua1DcK2veE25+E2Ew2vsRQxX95wXblwu45c7XsUri/bYRqpIG2biHaGqxQO1WAPu+06w3XplelZQzR6NNK84fykSfYgjR4hPEVtu7l06Nka0Emx756thgm6doz+R+tj/5MiJPmhdcjfpXfwJjvZ/fYOtk9H8anwR7HMlWQWQXjo8mq79bA2gdlf+2CECGCWAuouFF16dC0wjoour7ZjL/XN5eH0M6CR4TyS3jrSzwm49zSgYVg0L+9e1JEhnRXzfSpPERnpvksbs2Zt9pbXQzNwqB+ufsc4oTPD2XsI7pIUKcF7HnbbpmmWfYl8SVuE+j0vO8f73RlSRxhbB0d8XkTIKaNYJibkKX1kN3GKEJof5227lssvEmFIKYbZCWoixogMG56e4RAEK9lb64MIDWkI48JyhdacYgzpiE63ket0xIgMzXGjbSre9rtZSz963MyOGCEk92wXCro4UYZUG7I7egHF2IojogAD77kjvflintZOaV1uJm7JEVYAj2dPE56fJRjSiGJJkvM+dJBRe1uZ/qOBnHB/PpFl346ErXVwsLKPqvBALUj6r9j0t9bTS2UmFymGVKt14B3zIsZ0XBvGy9Xvz7/QX2oOjoucmuy6ri9K31popLhGhRebGP9VheCrKgGGpu+eLKsMl5KzsyzDSvO1Q/bZ23PrmThwUtu2DYP+SJ0Am972+ZaVJF2PY4CvWmjQS67XY3G4eXFsmibEOv0Z+97t45QBi776TQ9zcx8MP7VaLFNI3CKJLCsHILesKClcAtPl+5jm9+9zzdd2EPpl8qCPBACwLGuXHOIw0Hp7rb0xfNFKKTa+VoM82DAM/780MZTXxFBeE0N5TQzlNTGU18RQXhNDeU0M5TUxlNfEUF4TQ3lNDOU1MZTXxFBeE0N5UYb52yQZ5eB/7VlLfpQ6Z5Q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194" name="Picture 2" descr="http://syllabus.bos.nsw.edu.au/assets/mathematicsk10/images/mutually_exclusive_event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1" y="4934552"/>
            <a:ext cx="3657600" cy="177104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   Example :</a:t>
            </a:r>
            <a:r>
              <a:rPr lang="en-US" dirty="0"/>
              <a:t> John is going to graduate from an industrial engineering department in a university by the end of the semester. After being interviewed at two companies he likes, he assesses that his probability of getting an offer from company </a:t>
            </a:r>
            <a:r>
              <a:rPr lang="en-US" i="1" dirty="0"/>
              <a:t>A is 0.8, and </a:t>
            </a:r>
            <a:r>
              <a:rPr lang="en-US" dirty="0"/>
              <a:t>his probability of getting an offer from company </a:t>
            </a:r>
            <a:r>
              <a:rPr lang="en-US" i="1" dirty="0"/>
              <a:t>B is 0.6. If he believes that </a:t>
            </a:r>
            <a:r>
              <a:rPr lang="en-US" dirty="0"/>
              <a:t>the probability that he will get offers from both companies is 0.5, what is the probability that he will get at least one offer from these two companies?</a:t>
            </a:r>
          </a:p>
          <a:p>
            <a:pPr>
              <a:buNone/>
            </a:pPr>
            <a:r>
              <a:rPr lang="en-US" b="1" i="1" dirty="0"/>
              <a:t>   </a:t>
            </a:r>
            <a:r>
              <a:rPr lang="en-US" b="1" i="1" dirty="0">
                <a:solidFill>
                  <a:srgbClr val="FF0000"/>
                </a:solidFill>
              </a:rPr>
              <a:t>Solution :</a:t>
            </a:r>
            <a:r>
              <a:rPr lang="en-US" b="1" i="1" dirty="0"/>
              <a:t> </a:t>
            </a:r>
          </a:p>
          <a:p>
            <a:pPr>
              <a:buNone/>
            </a:pPr>
            <a:r>
              <a:rPr lang="en-US" i="1" dirty="0"/>
              <a:t>   P(A ∪ B) = P(A) + P(B) − P(A ∩ B) = 0.8 + 0.6 − 0.5 = 0.9.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   Example : </a:t>
            </a:r>
            <a:r>
              <a:rPr lang="en-US" dirty="0"/>
              <a:t>What is the probability of getting a total of 7 or 11 when a pair of fair dice is tossed?</a:t>
            </a:r>
          </a:p>
          <a:p>
            <a:pPr>
              <a:buNone/>
            </a:pPr>
            <a:r>
              <a:rPr lang="en-US" b="1" i="1" dirty="0"/>
              <a:t>   </a:t>
            </a:r>
            <a:r>
              <a:rPr lang="en-US" b="1" i="1" dirty="0">
                <a:solidFill>
                  <a:srgbClr val="FF0000"/>
                </a:solidFill>
              </a:rPr>
              <a:t>Solution :</a:t>
            </a:r>
            <a:r>
              <a:rPr lang="en-US" b="1" i="1" dirty="0"/>
              <a:t> </a:t>
            </a:r>
          </a:p>
          <a:p>
            <a:pPr>
              <a:buNone/>
            </a:pPr>
            <a:r>
              <a:rPr lang="en-US" b="1" i="1" dirty="0"/>
              <a:t>  </a:t>
            </a:r>
            <a:r>
              <a:rPr lang="en-US" i="1" dirty="0"/>
              <a:t> S = 36</a:t>
            </a:r>
          </a:p>
          <a:p>
            <a:pPr>
              <a:buNone/>
            </a:pPr>
            <a:r>
              <a:rPr lang="en-US" i="1" dirty="0"/>
              <a:t>   A = Getting a total of 7</a:t>
            </a:r>
          </a:p>
          <a:p>
            <a:pPr>
              <a:buNone/>
            </a:pPr>
            <a:r>
              <a:rPr lang="en-US" i="1" dirty="0"/>
              <a:t>      = 6</a:t>
            </a:r>
          </a:p>
          <a:p>
            <a:pPr>
              <a:buNone/>
            </a:pPr>
            <a:r>
              <a:rPr lang="en-US" i="1" dirty="0"/>
              <a:t>    P(A) =6/36</a:t>
            </a:r>
          </a:p>
          <a:p>
            <a:pPr>
              <a:buNone/>
            </a:pPr>
            <a:r>
              <a:rPr lang="en-US" i="1" dirty="0"/>
              <a:t>    B = Getting a total of 11</a:t>
            </a:r>
          </a:p>
          <a:p>
            <a:pPr>
              <a:buNone/>
            </a:pPr>
            <a:r>
              <a:rPr lang="en-US" i="1" dirty="0"/>
              <a:t>      = 2</a:t>
            </a:r>
          </a:p>
          <a:p>
            <a:pPr>
              <a:buNone/>
            </a:pPr>
            <a:r>
              <a:rPr lang="en-US" i="1" dirty="0"/>
              <a:t>    P(A) = 2/36</a:t>
            </a:r>
          </a:p>
          <a:p>
            <a:pPr>
              <a:buNone/>
            </a:pPr>
            <a:r>
              <a:rPr lang="en-US" i="1" dirty="0"/>
              <a:t>   P(A ∩ B) = 0</a:t>
            </a:r>
          </a:p>
          <a:p>
            <a:pPr>
              <a:buNone/>
            </a:pPr>
            <a:r>
              <a:rPr lang="en-US" i="1" dirty="0"/>
              <a:t>    P(A ∪ B) = P(A) + P(B) − P(A ∩ B) </a:t>
            </a:r>
          </a:p>
          <a:p>
            <a:pPr>
              <a:buNone/>
            </a:pPr>
            <a:r>
              <a:rPr lang="en-US" i="1" dirty="0"/>
              <a:t>                     = 6/36 + 2/36 − 0 = 8/36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286000"/>
            <a:ext cx="831215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3581400"/>
            <a:ext cx="8305800" cy="1051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" y="48768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382000" cy="43891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rgbClr val="FF0000"/>
                </a:solidFill>
              </a:rPr>
              <a:t>Example :</a:t>
            </a:r>
            <a:r>
              <a:rPr lang="en-US" b="1" dirty="0"/>
              <a:t> </a:t>
            </a:r>
            <a:r>
              <a:rPr lang="en-US" dirty="0"/>
              <a:t>If the probabilities are, respectively, 0.09, 0.15, 0.21, and 0.23 that a person purchasing a new automobile will choose the color green, white, red, or blue, what is the probability that a given buyer will purchase a new automobile that comes in one of those colors?</a:t>
            </a:r>
          </a:p>
          <a:p>
            <a:pPr>
              <a:buNone/>
            </a:pPr>
            <a:r>
              <a:rPr lang="en-US" b="1" i="1" dirty="0"/>
              <a:t>    </a:t>
            </a:r>
            <a:r>
              <a:rPr lang="en-US" b="1" i="1" dirty="0">
                <a:solidFill>
                  <a:srgbClr val="FF0000"/>
                </a:solidFill>
              </a:rPr>
              <a:t>Solution :</a:t>
            </a:r>
          </a:p>
          <a:p>
            <a:pPr>
              <a:buNone/>
            </a:pPr>
            <a:r>
              <a:rPr lang="en-US" b="1" i="1" dirty="0"/>
              <a:t>    </a:t>
            </a:r>
            <a:r>
              <a:rPr lang="en-US" i="1" dirty="0"/>
              <a:t>P(G ∪W ∪ R ∪ B) = P(G) + P(W) + P(R) + P(B)</a:t>
            </a:r>
          </a:p>
          <a:p>
            <a:pPr>
              <a:buNone/>
            </a:pPr>
            <a:r>
              <a:rPr lang="en-US" dirty="0"/>
              <a:t>                                  = 0</a:t>
            </a:r>
            <a:r>
              <a:rPr lang="en-US" i="1" dirty="0"/>
              <a:t>.09 + 0.15 + 0.21 + 0.23 </a:t>
            </a:r>
          </a:p>
          <a:p>
            <a:pPr>
              <a:buNone/>
            </a:pPr>
            <a:r>
              <a:rPr lang="en-US" i="1" dirty="0"/>
              <a:t>                                    = 0.68.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Complementary Events</a:t>
            </a:r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438400"/>
            <a:ext cx="8534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4" name="AutoShape 2" descr="Image result for complement in probabilit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Image result for complement in probabilit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8" name="Picture 6" descr="Image result for complement in probabilit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3733800"/>
            <a:ext cx="3438525" cy="28618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382000" cy="438912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rgbClr val="FF0000"/>
                </a:solidFill>
              </a:rPr>
              <a:t>Example :</a:t>
            </a:r>
            <a:r>
              <a:rPr lang="en-US" dirty="0"/>
              <a:t>If the probabilities that an automobile mechanic will service 3, 4, 5, 6, 7, or 8 or more cars on any given workday are, respectively, 0.12, 0.19, 0.28, 0.24, 0.10, and 0.07, what is the probability that he will service at least 5 cars on his next day at work?</a:t>
            </a:r>
          </a:p>
          <a:p>
            <a:pPr>
              <a:buNone/>
            </a:pPr>
            <a:r>
              <a:rPr lang="en-US" b="1" i="1" dirty="0"/>
              <a:t>    </a:t>
            </a:r>
            <a:r>
              <a:rPr lang="en-US" b="1" i="1" dirty="0">
                <a:solidFill>
                  <a:srgbClr val="FF0000"/>
                </a:solidFill>
              </a:rPr>
              <a:t>Solution :</a:t>
            </a:r>
          </a:p>
          <a:p>
            <a:pPr>
              <a:buNone/>
            </a:pPr>
            <a:r>
              <a:rPr lang="en-US" b="1" i="1" dirty="0"/>
              <a:t>    </a:t>
            </a:r>
            <a:r>
              <a:rPr lang="en-US" dirty="0"/>
              <a:t>Let </a:t>
            </a:r>
            <a:r>
              <a:rPr lang="en-US" i="1" dirty="0"/>
              <a:t>E be the event that at least 5 cars are serviced. </a:t>
            </a:r>
          </a:p>
          <a:p>
            <a:pPr>
              <a:buNone/>
            </a:pPr>
            <a:r>
              <a:rPr lang="en-US" i="1" dirty="0"/>
              <a:t>    Now, P(E')= 1 − P(E),</a:t>
            </a:r>
          </a:p>
          <a:p>
            <a:pPr>
              <a:buNone/>
            </a:pPr>
            <a:r>
              <a:rPr lang="en-US" dirty="0"/>
              <a:t>    where </a:t>
            </a:r>
            <a:r>
              <a:rPr lang="en-US" i="1" dirty="0"/>
              <a:t>E is the event that fewer than 5 cars are serviced. </a:t>
            </a:r>
          </a:p>
          <a:p>
            <a:pPr>
              <a:buNone/>
            </a:pPr>
            <a:r>
              <a:rPr lang="en-US" i="1" dirty="0"/>
              <a:t>    Since P(E</a:t>
            </a:r>
            <a:r>
              <a:rPr lang="en-US" dirty="0"/>
              <a:t>) = 0</a:t>
            </a:r>
            <a:r>
              <a:rPr lang="en-US" i="1" dirty="0"/>
              <a:t>.12 + 0.19 = 0.31,</a:t>
            </a:r>
          </a:p>
          <a:p>
            <a:pPr>
              <a:buNone/>
            </a:pPr>
            <a:r>
              <a:rPr lang="en-US" dirty="0"/>
              <a:t>    it follows  that</a:t>
            </a:r>
          </a:p>
          <a:p>
            <a:pPr>
              <a:buNone/>
            </a:pPr>
            <a:r>
              <a:rPr lang="en-US" i="1" dirty="0"/>
              <a:t>    P(E') = 1 − 0.31 = 0.69.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838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Assignment</a:t>
            </a:r>
            <a:br>
              <a:rPr lang="en-US" dirty="0"/>
            </a:br>
            <a:r>
              <a:rPr lang="en-US" dirty="0"/>
              <a:t>Page No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92252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2.49</a:t>
            </a:r>
          </a:p>
          <a:p>
            <a:r>
              <a:rPr lang="en-US" dirty="0"/>
              <a:t>2.52</a:t>
            </a:r>
          </a:p>
          <a:p>
            <a:r>
              <a:rPr lang="en-US" dirty="0"/>
              <a:t>2.53</a:t>
            </a:r>
          </a:p>
          <a:p>
            <a:r>
              <a:rPr lang="en-US" dirty="0"/>
              <a:t>2.54</a:t>
            </a:r>
          </a:p>
          <a:p>
            <a:r>
              <a:rPr lang="en-US" dirty="0"/>
              <a:t>2.56</a:t>
            </a:r>
          </a:p>
          <a:p>
            <a:r>
              <a:rPr lang="en-US" dirty="0"/>
              <a:t>2.58</a:t>
            </a:r>
          </a:p>
          <a:p>
            <a:r>
              <a:rPr lang="en-US"/>
              <a:t>2.60</a:t>
            </a:r>
            <a:endParaRPr lang="en-US" dirty="0"/>
          </a:p>
          <a:p>
            <a:r>
              <a:rPr lang="en-US" dirty="0"/>
              <a:t>2.61</a:t>
            </a:r>
          </a:p>
          <a:p>
            <a:r>
              <a:rPr lang="en-US" dirty="0"/>
              <a:t>2.63</a:t>
            </a:r>
          </a:p>
          <a:p>
            <a:r>
              <a:rPr lang="en-US" dirty="0"/>
              <a:t>2.64</a:t>
            </a:r>
          </a:p>
          <a:p>
            <a:r>
              <a:rPr lang="en-US" dirty="0"/>
              <a:t>2.66</a:t>
            </a:r>
          </a:p>
          <a:p>
            <a:r>
              <a:rPr lang="en-US" dirty="0"/>
              <a:t>2.67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6127</TotalTime>
  <Words>2119</Words>
  <Application>Microsoft Office PowerPoint</Application>
  <PresentationFormat>On-screen Show (4:3)</PresentationFormat>
  <Paragraphs>162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Calibri</vt:lpstr>
      <vt:lpstr>Cambria Math</vt:lpstr>
      <vt:lpstr>Constantia</vt:lpstr>
      <vt:lpstr>Minion Pro</vt:lpstr>
      <vt:lpstr>Wingdings 2</vt:lpstr>
      <vt:lpstr>Flow</vt:lpstr>
      <vt:lpstr>PROBABILITY</vt:lpstr>
      <vt:lpstr>Probability</vt:lpstr>
      <vt:lpstr>Sample Space</vt:lpstr>
      <vt:lpstr>Tree diagram</vt:lpstr>
      <vt:lpstr>Event</vt:lpstr>
      <vt:lpstr>Venn diagrams</vt:lpstr>
      <vt:lpstr>Counting Sample Points</vt:lpstr>
      <vt:lpstr>Multiplication Rule</vt:lpstr>
      <vt:lpstr>Example</vt:lpstr>
      <vt:lpstr>Example</vt:lpstr>
      <vt:lpstr>Generalized Multiplication Rule</vt:lpstr>
      <vt:lpstr>Example</vt:lpstr>
      <vt:lpstr>Generalized Multiplication Rule …</vt:lpstr>
      <vt:lpstr>Permutation</vt:lpstr>
      <vt:lpstr>Example</vt:lpstr>
      <vt:lpstr>Example</vt:lpstr>
      <vt:lpstr>Combinations</vt:lpstr>
      <vt:lpstr>Example</vt:lpstr>
      <vt:lpstr>Example</vt:lpstr>
      <vt:lpstr>Example</vt:lpstr>
      <vt:lpstr>Probability of an Event</vt:lpstr>
      <vt:lpstr>PowerPoint Presentation</vt:lpstr>
      <vt:lpstr>PowerPoint Presentation</vt:lpstr>
      <vt:lpstr>PowerPoint Presentation</vt:lpstr>
      <vt:lpstr>Example</vt:lpstr>
      <vt:lpstr>Example</vt:lpstr>
      <vt:lpstr>Example</vt:lpstr>
      <vt:lpstr>PowerPoint Presentation</vt:lpstr>
      <vt:lpstr>Additive Rules</vt:lpstr>
      <vt:lpstr>Addition Law for Not Mutually Exclusive Events</vt:lpstr>
      <vt:lpstr>Addition Law for Mutually Exclusive Events</vt:lpstr>
      <vt:lpstr>PowerPoint Presentation</vt:lpstr>
      <vt:lpstr>PowerPoint Presentation</vt:lpstr>
      <vt:lpstr>PowerPoint Presentation</vt:lpstr>
      <vt:lpstr>PowerPoint Presentation</vt:lpstr>
      <vt:lpstr>Complementary Events</vt:lpstr>
      <vt:lpstr>PowerPoint Presentation</vt:lpstr>
      <vt:lpstr>Assignment Page No 59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Counting Sample Points</dc:title>
  <dc:creator>shahjee</dc:creator>
  <cp:lastModifiedBy>amna humayun</cp:lastModifiedBy>
  <cp:revision>199</cp:revision>
  <dcterms:created xsi:type="dcterms:W3CDTF">2015-09-19T08:33:42Z</dcterms:created>
  <dcterms:modified xsi:type="dcterms:W3CDTF">2024-03-11T19:50:06Z</dcterms:modified>
</cp:coreProperties>
</file>