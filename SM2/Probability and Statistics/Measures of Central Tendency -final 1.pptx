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Lst>
  <p:sldSz cx="9144000" cy="6858000"/>
  <p:notesSz cx="6858000" cy="9144000"/>
  <p:embeddedFontLst>
    <p:embeddedFont>
      <p:font typeface="Noto Sans Symbols"/>
      <p:regular r:id="rId62"/>
    </p:embeddedFont>
    <p:embeddedFont>
      <p:font typeface="Tahoma" panose="020B0604030504040204"/>
      <p:regular r:id="rId63"/>
    </p:embeddedFont>
    <p:embeddedFont>
      <p:font typeface="Helvetica Neue" panose="020B0604020202020204"/>
      <p:regular r:id="rId64"/>
    </p:embeddedFont>
    <p:embeddedFont>
      <p:font typeface="Oi"/>
      <p:regular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2D09641-B6B2-4153-873C-CECA441CCA84}"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5" Type="http://schemas.openxmlformats.org/officeDocument/2006/relationships/font" Target="fonts/font4.fntdata"/><Relationship Id="rId64" Type="http://schemas.openxmlformats.org/officeDocument/2006/relationships/font" Target="fonts/font3.fntdata"/><Relationship Id="rId63" Type="http://schemas.openxmlformats.org/officeDocument/2006/relationships/font" Target="fonts/font2.fntdata"/><Relationship Id="rId62" Type="http://schemas.openxmlformats.org/officeDocument/2006/relationships/font" Target="fonts/font1.fntdata"/><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2.xml"/><Relationship Id="rId59" Type="http://schemas.openxmlformats.org/officeDocument/2006/relationships/presProps" Target="presProps.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 name="Google Shape;4;n"/>
          <p:cNvSpPr txBox="1"/>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
        <p:nvSpPr>
          <p:cNvPr id="7" name="Google Shape;7;n"/>
          <p:cNvSpPr txBox="1"/>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 name="Google Shape;8;n"/>
          <p:cNvSpPr txBox="1"/>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38"/>
        <p:cNvGrpSpPr/>
        <p:nvPr/>
      </p:nvGrpSpPr>
      <p:grpSpPr>
        <a:xfrm>
          <a:off x="0" y="0"/>
          <a:ext cx="0" cy="0"/>
          <a:chOff x="0" y="0"/>
          <a:chExt cx="0" cy="0"/>
        </a:xfrm>
      </p:grpSpPr>
      <p:sp>
        <p:nvSpPr>
          <p:cNvPr id="139" name="Google Shape;139;p1: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0" name="Google Shape;140;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2: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6" name="Google Shape;146;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3: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2" name="Google Shape;152;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p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 name="Google Shape;157;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8" name="Google Shape;158;p4:notes"/>
          <p:cNvSpPr txBox="1"/>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5: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3" name="Google Shape;163;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168"/>
        <p:cNvGrpSpPr/>
        <p:nvPr/>
      </p:nvGrpSpPr>
      <p:grpSpPr>
        <a:xfrm>
          <a:off x="0" y="0"/>
          <a:ext cx="0" cy="0"/>
          <a:chOff x="0" y="0"/>
          <a:chExt cx="0" cy="0"/>
        </a:xfrm>
      </p:grpSpPr>
      <p:sp>
        <p:nvSpPr>
          <p:cNvPr id="169" name="Google Shape;169;p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 name="Google Shape;170;p6:notes"/>
          <p:cNvSpPr/>
          <p:nvPr>
            <p:ph type="sldImg" idx="2"/>
          </p:nvPr>
        </p:nvSpPr>
        <p:spPr>
          <a:xfrm>
            <a:off x="1104900" y="652462"/>
            <a:ext cx="4646612" cy="34845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6:notes"/>
          <p:cNvSpPr txBox="1"/>
          <p:nvPr>
            <p:ph type="body" idx="1"/>
          </p:nvPr>
        </p:nvSpPr>
        <p:spPr>
          <a:xfrm>
            <a:off x="928687" y="4354512"/>
            <a:ext cx="500062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5" name="Shape 175"/>
        <p:cNvGrpSpPr/>
        <p:nvPr/>
      </p:nvGrpSpPr>
      <p:grpSpPr>
        <a:xfrm>
          <a:off x="0" y="0"/>
          <a:ext cx="0" cy="0"/>
          <a:chOff x="0" y="0"/>
          <a:chExt cx="0" cy="0"/>
        </a:xfrm>
      </p:grpSpPr>
      <p:sp>
        <p:nvSpPr>
          <p:cNvPr id="176" name="Google Shape;176;p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 name="Google Shape;177;p7:notes"/>
          <p:cNvSpPr/>
          <p:nvPr>
            <p:ph type="sldImg" idx="2"/>
          </p:nvPr>
        </p:nvSpPr>
        <p:spPr>
          <a:xfrm>
            <a:off x="1104900" y="652462"/>
            <a:ext cx="4646612" cy="34845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p7:notes"/>
          <p:cNvSpPr txBox="1"/>
          <p:nvPr>
            <p:ph type="body" idx="1"/>
          </p:nvPr>
        </p:nvSpPr>
        <p:spPr>
          <a:xfrm>
            <a:off x="928687" y="4354512"/>
            <a:ext cx="500062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182"/>
        <p:cNvGrpSpPr/>
        <p:nvPr/>
      </p:nvGrpSpPr>
      <p:grpSpPr>
        <a:xfrm>
          <a:off x="0" y="0"/>
          <a:ext cx="0" cy="0"/>
          <a:chOff x="0" y="0"/>
          <a:chExt cx="0" cy="0"/>
        </a:xfrm>
      </p:grpSpPr>
      <p:sp>
        <p:nvSpPr>
          <p:cNvPr id="183" name="Google Shape;183;p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 name="Google Shape;184;p8:notes"/>
          <p:cNvSpPr/>
          <p:nvPr>
            <p:ph type="sldImg" idx="2"/>
          </p:nvPr>
        </p:nvSpPr>
        <p:spPr>
          <a:xfrm>
            <a:off x="1104900" y="652462"/>
            <a:ext cx="4646612" cy="34845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5" name="Google Shape;185;p8:notes"/>
          <p:cNvSpPr txBox="1"/>
          <p:nvPr>
            <p:ph type="body" idx="1"/>
          </p:nvPr>
        </p:nvSpPr>
        <p:spPr>
          <a:xfrm>
            <a:off x="928687" y="4354512"/>
            <a:ext cx="500062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9" name="Shape 189"/>
        <p:cNvGrpSpPr/>
        <p:nvPr/>
      </p:nvGrpSpPr>
      <p:grpSpPr>
        <a:xfrm>
          <a:off x="0" y="0"/>
          <a:ext cx="0" cy="0"/>
          <a:chOff x="0" y="0"/>
          <a:chExt cx="0" cy="0"/>
        </a:xfrm>
      </p:grpSpPr>
      <p:sp>
        <p:nvSpPr>
          <p:cNvPr id="190" name="Google Shape;190;p9: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1" name="Google Shape;191;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194"/>
        <p:cNvGrpSpPr/>
        <p:nvPr/>
      </p:nvGrpSpPr>
      <p:grpSpPr>
        <a:xfrm>
          <a:off x="0" y="0"/>
          <a:ext cx="0" cy="0"/>
          <a:chOff x="0" y="0"/>
          <a:chExt cx="0" cy="0"/>
        </a:xfrm>
      </p:grpSpPr>
      <p:sp>
        <p:nvSpPr>
          <p:cNvPr id="195" name="Google Shape;195;p1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 name="Google Shape;196;p1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p10:notes"/>
          <p:cNvSpPr txBox="1"/>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2" name="Shape 202"/>
        <p:cNvGrpSpPr/>
        <p:nvPr/>
      </p:nvGrpSpPr>
      <p:grpSpPr>
        <a:xfrm>
          <a:off x="0" y="0"/>
          <a:ext cx="0" cy="0"/>
          <a:chOff x="0" y="0"/>
          <a:chExt cx="0" cy="0"/>
        </a:xfrm>
      </p:grpSpPr>
      <p:sp>
        <p:nvSpPr>
          <p:cNvPr id="203" name="Google Shape;203;p11: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4" name="Google Shape;204;p1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4" name="Shape 214"/>
        <p:cNvGrpSpPr/>
        <p:nvPr/>
      </p:nvGrpSpPr>
      <p:grpSpPr>
        <a:xfrm>
          <a:off x="0" y="0"/>
          <a:ext cx="0" cy="0"/>
          <a:chOff x="0" y="0"/>
          <a:chExt cx="0" cy="0"/>
        </a:xfrm>
      </p:grpSpPr>
      <p:sp>
        <p:nvSpPr>
          <p:cNvPr id="215" name="Google Shape;215;p1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6" name="Google Shape;216;p12:notes"/>
          <p:cNvSpPr/>
          <p:nvPr>
            <p:ph type="sldImg" idx="2"/>
          </p:nvPr>
        </p:nvSpPr>
        <p:spPr>
          <a:xfrm>
            <a:off x="1104900" y="652462"/>
            <a:ext cx="4646612" cy="34845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7" name="Google Shape;217;p12:notes"/>
          <p:cNvSpPr txBox="1"/>
          <p:nvPr>
            <p:ph type="body" idx="1"/>
          </p:nvPr>
        </p:nvSpPr>
        <p:spPr>
          <a:xfrm>
            <a:off x="928687" y="4354512"/>
            <a:ext cx="500062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5" name="Shape 235"/>
        <p:cNvGrpSpPr/>
        <p:nvPr/>
      </p:nvGrpSpPr>
      <p:grpSpPr>
        <a:xfrm>
          <a:off x="0" y="0"/>
          <a:ext cx="0" cy="0"/>
          <a:chOff x="0" y="0"/>
          <a:chExt cx="0" cy="0"/>
        </a:xfrm>
      </p:grpSpPr>
      <p:sp>
        <p:nvSpPr>
          <p:cNvPr id="236" name="Google Shape;236;p13: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7" name="Google Shape;237;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2" name="Shape 242"/>
        <p:cNvGrpSpPr/>
        <p:nvPr/>
      </p:nvGrpSpPr>
      <p:grpSpPr>
        <a:xfrm>
          <a:off x="0" y="0"/>
          <a:ext cx="0" cy="0"/>
          <a:chOff x="0" y="0"/>
          <a:chExt cx="0" cy="0"/>
        </a:xfrm>
      </p:grpSpPr>
      <p:sp>
        <p:nvSpPr>
          <p:cNvPr id="243" name="Google Shape;243;p1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4" name="Google Shape;244;p14:notes"/>
          <p:cNvSpPr/>
          <p:nvPr>
            <p:ph type="sldImg" idx="2"/>
          </p:nvPr>
        </p:nvSpPr>
        <p:spPr>
          <a:xfrm>
            <a:off x="1104900" y="652462"/>
            <a:ext cx="4646612" cy="34845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14:notes"/>
          <p:cNvSpPr txBox="1"/>
          <p:nvPr>
            <p:ph type="body" idx="1"/>
          </p:nvPr>
        </p:nvSpPr>
        <p:spPr>
          <a:xfrm>
            <a:off x="928687" y="4354512"/>
            <a:ext cx="500062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1" name="Shape 251"/>
        <p:cNvGrpSpPr/>
        <p:nvPr/>
      </p:nvGrpSpPr>
      <p:grpSpPr>
        <a:xfrm>
          <a:off x="0" y="0"/>
          <a:ext cx="0" cy="0"/>
          <a:chOff x="0" y="0"/>
          <a:chExt cx="0" cy="0"/>
        </a:xfrm>
      </p:grpSpPr>
      <p:sp>
        <p:nvSpPr>
          <p:cNvPr id="252" name="Google Shape;252;p15: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3" name="Google Shape;253;p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16: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9" name="Google Shape;279;p1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3" name="Shape 283"/>
        <p:cNvGrpSpPr/>
        <p:nvPr/>
      </p:nvGrpSpPr>
      <p:grpSpPr>
        <a:xfrm>
          <a:off x="0" y="0"/>
          <a:ext cx="0" cy="0"/>
          <a:chOff x="0" y="0"/>
          <a:chExt cx="0" cy="0"/>
        </a:xfrm>
      </p:grpSpPr>
      <p:sp>
        <p:nvSpPr>
          <p:cNvPr id="284" name="Google Shape;284;p1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5" name="Google Shape;285;p17:notes"/>
          <p:cNvSpPr/>
          <p:nvPr>
            <p:ph type="sldImg" idx="2"/>
          </p:nvPr>
        </p:nvSpPr>
        <p:spPr>
          <a:xfrm>
            <a:off x="1104900" y="652462"/>
            <a:ext cx="4646612" cy="34845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6" name="Google Shape;286;p17:notes"/>
          <p:cNvSpPr txBox="1"/>
          <p:nvPr>
            <p:ph type="body" idx="1"/>
          </p:nvPr>
        </p:nvSpPr>
        <p:spPr>
          <a:xfrm>
            <a:off x="928687" y="4354512"/>
            <a:ext cx="500062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1" name="Shape 291"/>
        <p:cNvGrpSpPr/>
        <p:nvPr/>
      </p:nvGrpSpPr>
      <p:grpSpPr>
        <a:xfrm>
          <a:off x="0" y="0"/>
          <a:ext cx="0" cy="0"/>
          <a:chOff x="0" y="0"/>
          <a:chExt cx="0" cy="0"/>
        </a:xfrm>
      </p:grpSpPr>
      <p:sp>
        <p:nvSpPr>
          <p:cNvPr id="292" name="Google Shape;292;p18: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3" name="Google Shape;293;p1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9" name="Shape 299"/>
        <p:cNvGrpSpPr/>
        <p:nvPr/>
      </p:nvGrpSpPr>
      <p:grpSpPr>
        <a:xfrm>
          <a:off x="0" y="0"/>
          <a:ext cx="0" cy="0"/>
          <a:chOff x="0" y="0"/>
          <a:chExt cx="0" cy="0"/>
        </a:xfrm>
      </p:grpSpPr>
      <p:sp>
        <p:nvSpPr>
          <p:cNvPr id="300" name="Google Shape;300;p19: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1" name="Google Shape;301;p1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6" name="Shape 306"/>
        <p:cNvGrpSpPr/>
        <p:nvPr/>
      </p:nvGrpSpPr>
      <p:grpSpPr>
        <a:xfrm>
          <a:off x="0" y="0"/>
          <a:ext cx="0" cy="0"/>
          <a:chOff x="0" y="0"/>
          <a:chExt cx="0" cy="0"/>
        </a:xfrm>
      </p:grpSpPr>
      <p:sp>
        <p:nvSpPr>
          <p:cNvPr id="307" name="Google Shape;307;p20: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8" name="Google Shape;308;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2" name="Shape 312"/>
        <p:cNvGrpSpPr/>
        <p:nvPr/>
      </p:nvGrpSpPr>
      <p:grpSpPr>
        <a:xfrm>
          <a:off x="0" y="0"/>
          <a:ext cx="0" cy="0"/>
          <a:chOff x="0" y="0"/>
          <a:chExt cx="0" cy="0"/>
        </a:xfrm>
      </p:grpSpPr>
      <p:sp>
        <p:nvSpPr>
          <p:cNvPr id="313" name="Google Shape;313;p21: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4" name="Google Shape;314;p2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p22: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1" name="Google Shape;321;p2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5" name="Shape 325"/>
        <p:cNvGrpSpPr/>
        <p:nvPr/>
      </p:nvGrpSpPr>
      <p:grpSpPr>
        <a:xfrm>
          <a:off x="0" y="0"/>
          <a:ext cx="0" cy="0"/>
          <a:chOff x="0" y="0"/>
          <a:chExt cx="0" cy="0"/>
        </a:xfrm>
      </p:grpSpPr>
      <p:sp>
        <p:nvSpPr>
          <p:cNvPr id="326" name="Google Shape;326;p23: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7" name="Google Shape;327;p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24: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4" name="Google Shape;334;p2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p25: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1" name="Google Shape;341;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5" name="Shape 345"/>
        <p:cNvGrpSpPr/>
        <p:nvPr/>
      </p:nvGrpSpPr>
      <p:grpSpPr>
        <a:xfrm>
          <a:off x="0" y="0"/>
          <a:ext cx="0" cy="0"/>
          <a:chOff x="0" y="0"/>
          <a:chExt cx="0" cy="0"/>
        </a:xfrm>
      </p:grpSpPr>
      <p:sp>
        <p:nvSpPr>
          <p:cNvPr id="346" name="Google Shape;346;p26: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7" name="Google Shape;347;p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4" name="Shape 354"/>
        <p:cNvGrpSpPr/>
        <p:nvPr/>
      </p:nvGrpSpPr>
      <p:grpSpPr>
        <a:xfrm>
          <a:off x="0" y="0"/>
          <a:ext cx="0" cy="0"/>
          <a:chOff x="0" y="0"/>
          <a:chExt cx="0" cy="0"/>
        </a:xfrm>
      </p:grpSpPr>
      <p:sp>
        <p:nvSpPr>
          <p:cNvPr id="355" name="Google Shape;355;p27: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6" name="Google Shape;356;p2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2" name="Shape 362"/>
        <p:cNvGrpSpPr/>
        <p:nvPr/>
      </p:nvGrpSpPr>
      <p:grpSpPr>
        <a:xfrm>
          <a:off x="0" y="0"/>
          <a:ext cx="0" cy="0"/>
          <a:chOff x="0" y="0"/>
          <a:chExt cx="0" cy="0"/>
        </a:xfrm>
      </p:grpSpPr>
      <p:sp>
        <p:nvSpPr>
          <p:cNvPr id="363" name="Google Shape;363;p28: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4" name="Google Shape;364;p2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7" name="Shape 367"/>
        <p:cNvGrpSpPr/>
        <p:nvPr/>
      </p:nvGrpSpPr>
      <p:grpSpPr>
        <a:xfrm>
          <a:off x="0" y="0"/>
          <a:ext cx="0" cy="0"/>
          <a:chOff x="0" y="0"/>
          <a:chExt cx="0" cy="0"/>
        </a:xfrm>
      </p:grpSpPr>
      <p:sp>
        <p:nvSpPr>
          <p:cNvPr id="368" name="Google Shape;368;p29: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9" name="Google Shape;369;p2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3" name="Shape 373"/>
        <p:cNvGrpSpPr/>
        <p:nvPr/>
      </p:nvGrpSpPr>
      <p:grpSpPr>
        <a:xfrm>
          <a:off x="0" y="0"/>
          <a:ext cx="0" cy="0"/>
          <a:chOff x="0" y="0"/>
          <a:chExt cx="0" cy="0"/>
        </a:xfrm>
      </p:grpSpPr>
      <p:sp>
        <p:nvSpPr>
          <p:cNvPr id="374" name="Google Shape;374;p30: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5" name="Google Shape;375;p3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p31: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2" name="Google Shape;382;p3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9" name="Shape 389"/>
        <p:cNvGrpSpPr/>
        <p:nvPr/>
      </p:nvGrpSpPr>
      <p:grpSpPr>
        <a:xfrm>
          <a:off x="0" y="0"/>
          <a:ext cx="0" cy="0"/>
          <a:chOff x="0" y="0"/>
          <a:chExt cx="0" cy="0"/>
        </a:xfrm>
      </p:grpSpPr>
      <p:sp>
        <p:nvSpPr>
          <p:cNvPr id="390" name="Google Shape;390;p32: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1" name="Google Shape;391;p3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5" name="Shape 395"/>
        <p:cNvGrpSpPr/>
        <p:nvPr/>
      </p:nvGrpSpPr>
      <p:grpSpPr>
        <a:xfrm>
          <a:off x="0" y="0"/>
          <a:ext cx="0" cy="0"/>
          <a:chOff x="0" y="0"/>
          <a:chExt cx="0" cy="0"/>
        </a:xfrm>
      </p:grpSpPr>
      <p:sp>
        <p:nvSpPr>
          <p:cNvPr id="396" name="Google Shape;396;p33: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7" name="Google Shape;397;p3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1" name="Shape 401"/>
        <p:cNvGrpSpPr/>
        <p:nvPr/>
      </p:nvGrpSpPr>
      <p:grpSpPr>
        <a:xfrm>
          <a:off x="0" y="0"/>
          <a:ext cx="0" cy="0"/>
          <a:chOff x="0" y="0"/>
          <a:chExt cx="0" cy="0"/>
        </a:xfrm>
      </p:grpSpPr>
      <p:sp>
        <p:nvSpPr>
          <p:cNvPr id="402" name="Google Shape;402;p34: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3" name="Google Shape;403;p3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7" name="Shape 407"/>
        <p:cNvGrpSpPr/>
        <p:nvPr/>
      </p:nvGrpSpPr>
      <p:grpSpPr>
        <a:xfrm>
          <a:off x="0" y="0"/>
          <a:ext cx="0" cy="0"/>
          <a:chOff x="0" y="0"/>
          <a:chExt cx="0" cy="0"/>
        </a:xfrm>
      </p:grpSpPr>
      <p:sp>
        <p:nvSpPr>
          <p:cNvPr id="408" name="Google Shape;408;p35: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9" name="Google Shape;409;p3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4" name="Shape 434"/>
        <p:cNvGrpSpPr/>
        <p:nvPr/>
      </p:nvGrpSpPr>
      <p:grpSpPr>
        <a:xfrm>
          <a:off x="0" y="0"/>
          <a:ext cx="0" cy="0"/>
          <a:chOff x="0" y="0"/>
          <a:chExt cx="0" cy="0"/>
        </a:xfrm>
      </p:grpSpPr>
      <p:sp>
        <p:nvSpPr>
          <p:cNvPr id="435" name="Google Shape;435;p3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6" name="Google Shape;436;p36:notes"/>
          <p:cNvSpPr/>
          <p:nvPr>
            <p:ph type="sldImg" idx="2"/>
          </p:nvPr>
        </p:nvSpPr>
        <p:spPr>
          <a:xfrm>
            <a:off x="1104900" y="652462"/>
            <a:ext cx="4646612" cy="34845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7" name="Google Shape;437;p36:notes"/>
          <p:cNvSpPr txBox="1"/>
          <p:nvPr>
            <p:ph type="body" idx="1"/>
          </p:nvPr>
        </p:nvSpPr>
        <p:spPr>
          <a:xfrm>
            <a:off x="928687" y="4354512"/>
            <a:ext cx="500062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2" name="Shape 442"/>
        <p:cNvGrpSpPr/>
        <p:nvPr/>
      </p:nvGrpSpPr>
      <p:grpSpPr>
        <a:xfrm>
          <a:off x="0" y="0"/>
          <a:ext cx="0" cy="0"/>
          <a:chOff x="0" y="0"/>
          <a:chExt cx="0" cy="0"/>
        </a:xfrm>
      </p:grpSpPr>
      <p:sp>
        <p:nvSpPr>
          <p:cNvPr id="443" name="Google Shape;443;p37: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4" name="Google Shape;444;p3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7" name="Shape 447"/>
        <p:cNvGrpSpPr/>
        <p:nvPr/>
      </p:nvGrpSpPr>
      <p:grpSpPr>
        <a:xfrm>
          <a:off x="0" y="0"/>
          <a:ext cx="0" cy="0"/>
          <a:chOff x="0" y="0"/>
          <a:chExt cx="0" cy="0"/>
        </a:xfrm>
      </p:grpSpPr>
      <p:sp>
        <p:nvSpPr>
          <p:cNvPr id="448" name="Google Shape;448;p38: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9" name="Google Shape;449;p3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4" name="Shape 454"/>
        <p:cNvGrpSpPr/>
        <p:nvPr/>
      </p:nvGrpSpPr>
      <p:grpSpPr>
        <a:xfrm>
          <a:off x="0" y="0"/>
          <a:ext cx="0" cy="0"/>
          <a:chOff x="0" y="0"/>
          <a:chExt cx="0" cy="0"/>
        </a:xfrm>
      </p:grpSpPr>
      <p:sp>
        <p:nvSpPr>
          <p:cNvPr id="455" name="Google Shape;455;p39: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56" name="Google Shape;456;p3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2" name="Shape 462"/>
        <p:cNvGrpSpPr/>
        <p:nvPr/>
      </p:nvGrpSpPr>
      <p:grpSpPr>
        <a:xfrm>
          <a:off x="0" y="0"/>
          <a:ext cx="0" cy="0"/>
          <a:chOff x="0" y="0"/>
          <a:chExt cx="0" cy="0"/>
        </a:xfrm>
      </p:grpSpPr>
      <p:sp>
        <p:nvSpPr>
          <p:cNvPr id="463" name="Google Shape;463;p40: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4" name="Google Shape;464;p4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1" name="Shape 471"/>
        <p:cNvGrpSpPr/>
        <p:nvPr/>
      </p:nvGrpSpPr>
      <p:grpSpPr>
        <a:xfrm>
          <a:off x="0" y="0"/>
          <a:ext cx="0" cy="0"/>
          <a:chOff x="0" y="0"/>
          <a:chExt cx="0" cy="0"/>
        </a:xfrm>
      </p:grpSpPr>
      <p:sp>
        <p:nvSpPr>
          <p:cNvPr id="472" name="Google Shape;472;p4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3" name="Google Shape;473;p4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4" name="Google Shape;474;p41:notes"/>
          <p:cNvSpPr txBox="1"/>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8" name="Shape 478"/>
        <p:cNvGrpSpPr/>
        <p:nvPr/>
      </p:nvGrpSpPr>
      <p:grpSpPr>
        <a:xfrm>
          <a:off x="0" y="0"/>
          <a:ext cx="0" cy="0"/>
          <a:chOff x="0" y="0"/>
          <a:chExt cx="0" cy="0"/>
        </a:xfrm>
      </p:grpSpPr>
      <p:sp>
        <p:nvSpPr>
          <p:cNvPr id="479" name="Google Shape;479;p42: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80" name="Google Shape;480;p4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6" name="Shape 486"/>
        <p:cNvGrpSpPr/>
        <p:nvPr/>
      </p:nvGrpSpPr>
      <p:grpSpPr>
        <a:xfrm>
          <a:off x="0" y="0"/>
          <a:ext cx="0" cy="0"/>
          <a:chOff x="0" y="0"/>
          <a:chExt cx="0" cy="0"/>
        </a:xfrm>
      </p:grpSpPr>
      <p:sp>
        <p:nvSpPr>
          <p:cNvPr id="487" name="Google Shape;487;p4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8" name="Google Shape;488;p43:notes"/>
          <p:cNvSpPr/>
          <p:nvPr>
            <p:ph type="sldImg" idx="2"/>
          </p:nvPr>
        </p:nvSpPr>
        <p:spPr>
          <a:xfrm>
            <a:off x="1104900" y="652462"/>
            <a:ext cx="4646612" cy="34845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9" name="Google Shape;489;p43:notes"/>
          <p:cNvSpPr txBox="1"/>
          <p:nvPr>
            <p:ph type="body" idx="1"/>
          </p:nvPr>
        </p:nvSpPr>
        <p:spPr>
          <a:xfrm>
            <a:off x="928687" y="4354512"/>
            <a:ext cx="500062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6" name="Shape 496"/>
        <p:cNvGrpSpPr/>
        <p:nvPr/>
      </p:nvGrpSpPr>
      <p:grpSpPr>
        <a:xfrm>
          <a:off x="0" y="0"/>
          <a:ext cx="0" cy="0"/>
          <a:chOff x="0" y="0"/>
          <a:chExt cx="0" cy="0"/>
        </a:xfrm>
      </p:grpSpPr>
      <p:sp>
        <p:nvSpPr>
          <p:cNvPr id="497" name="Google Shape;497;p44: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8" name="Google Shape;498;p4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3" name="Shape 533"/>
        <p:cNvGrpSpPr/>
        <p:nvPr/>
      </p:nvGrpSpPr>
      <p:grpSpPr>
        <a:xfrm>
          <a:off x="0" y="0"/>
          <a:ext cx="0" cy="0"/>
          <a:chOff x="0" y="0"/>
          <a:chExt cx="0" cy="0"/>
        </a:xfrm>
      </p:grpSpPr>
      <p:sp>
        <p:nvSpPr>
          <p:cNvPr id="534" name="Google Shape;534;p45: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35" name="Google Shape;535;p4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1" name="Shape 541"/>
        <p:cNvGrpSpPr/>
        <p:nvPr/>
      </p:nvGrpSpPr>
      <p:grpSpPr>
        <a:xfrm>
          <a:off x="0" y="0"/>
          <a:ext cx="0" cy="0"/>
          <a:chOff x="0" y="0"/>
          <a:chExt cx="0" cy="0"/>
        </a:xfrm>
      </p:grpSpPr>
      <p:sp>
        <p:nvSpPr>
          <p:cNvPr id="542" name="Google Shape;542;p46: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3" name="Google Shape;543;p4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7" name="Shape 547"/>
        <p:cNvGrpSpPr/>
        <p:nvPr/>
      </p:nvGrpSpPr>
      <p:grpSpPr>
        <a:xfrm>
          <a:off x="0" y="0"/>
          <a:ext cx="0" cy="0"/>
          <a:chOff x="0" y="0"/>
          <a:chExt cx="0" cy="0"/>
        </a:xfrm>
      </p:grpSpPr>
      <p:sp>
        <p:nvSpPr>
          <p:cNvPr id="548" name="Google Shape;548;p4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9" name="Google Shape;549;p47:notes"/>
          <p:cNvSpPr/>
          <p:nvPr>
            <p:ph type="sldImg" idx="2"/>
          </p:nvPr>
        </p:nvSpPr>
        <p:spPr>
          <a:xfrm>
            <a:off x="1104900" y="652462"/>
            <a:ext cx="4646612" cy="34845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0" name="Google Shape;550;p47:notes"/>
          <p:cNvSpPr txBox="1"/>
          <p:nvPr>
            <p:ph type="body" idx="1"/>
          </p:nvPr>
        </p:nvSpPr>
        <p:spPr>
          <a:xfrm>
            <a:off x="928687" y="4354512"/>
            <a:ext cx="500062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5" name="Shape 555"/>
        <p:cNvGrpSpPr/>
        <p:nvPr/>
      </p:nvGrpSpPr>
      <p:grpSpPr>
        <a:xfrm>
          <a:off x="0" y="0"/>
          <a:ext cx="0" cy="0"/>
          <a:chOff x="0" y="0"/>
          <a:chExt cx="0" cy="0"/>
        </a:xfrm>
      </p:grpSpPr>
      <p:sp>
        <p:nvSpPr>
          <p:cNvPr id="556" name="Google Shape;556;p4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7" name="Google Shape;557;p4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8" name="Google Shape;558;p48:notes"/>
          <p:cNvSpPr txBox="1"/>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2" name="Shape 562"/>
        <p:cNvGrpSpPr/>
        <p:nvPr/>
      </p:nvGrpSpPr>
      <p:grpSpPr>
        <a:xfrm>
          <a:off x="0" y="0"/>
          <a:ext cx="0" cy="0"/>
          <a:chOff x="0" y="0"/>
          <a:chExt cx="0" cy="0"/>
        </a:xfrm>
      </p:grpSpPr>
      <p:sp>
        <p:nvSpPr>
          <p:cNvPr id="563" name="Google Shape;563;p4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4" name="Google Shape;564;p4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5" name="Google Shape;565;p49:notes"/>
          <p:cNvSpPr txBox="1"/>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8" name="Shape 568"/>
        <p:cNvGrpSpPr/>
        <p:nvPr/>
      </p:nvGrpSpPr>
      <p:grpSpPr>
        <a:xfrm>
          <a:off x="0" y="0"/>
          <a:ext cx="0" cy="0"/>
          <a:chOff x="0" y="0"/>
          <a:chExt cx="0" cy="0"/>
        </a:xfrm>
      </p:grpSpPr>
      <p:sp>
        <p:nvSpPr>
          <p:cNvPr id="569" name="Google Shape;569;p50: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0" name="Google Shape;570;p5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3" name="Shape 613"/>
        <p:cNvGrpSpPr/>
        <p:nvPr/>
      </p:nvGrpSpPr>
      <p:grpSpPr>
        <a:xfrm>
          <a:off x="0" y="0"/>
          <a:ext cx="0" cy="0"/>
          <a:chOff x="0" y="0"/>
          <a:chExt cx="0" cy="0"/>
        </a:xfrm>
      </p:grpSpPr>
      <p:sp>
        <p:nvSpPr>
          <p:cNvPr id="614" name="Google Shape;614;p51: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5" name="Google Shape;615;p5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2" name="Shape 622"/>
        <p:cNvGrpSpPr/>
        <p:nvPr/>
      </p:nvGrpSpPr>
      <p:grpSpPr>
        <a:xfrm>
          <a:off x="0" y="0"/>
          <a:ext cx="0" cy="0"/>
          <a:chOff x="0" y="0"/>
          <a:chExt cx="0" cy="0"/>
        </a:xfrm>
      </p:grpSpPr>
      <p:sp>
        <p:nvSpPr>
          <p:cNvPr id="623" name="Google Shape;623;p52: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4" name="Google Shape;624;p5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8" name="Shape 628"/>
        <p:cNvGrpSpPr/>
        <p:nvPr/>
      </p:nvGrpSpPr>
      <p:grpSpPr>
        <a:xfrm>
          <a:off x="0" y="0"/>
          <a:ext cx="0" cy="0"/>
          <a:chOff x="0" y="0"/>
          <a:chExt cx="0" cy="0"/>
        </a:xfrm>
      </p:grpSpPr>
      <p:sp>
        <p:nvSpPr>
          <p:cNvPr id="629" name="Google Shape;629;p53: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30" name="Google Shape;630;p5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4" name="Shape 634"/>
        <p:cNvGrpSpPr/>
        <p:nvPr/>
      </p:nvGrpSpPr>
      <p:grpSpPr>
        <a:xfrm>
          <a:off x="0" y="0"/>
          <a:ext cx="0" cy="0"/>
          <a:chOff x="0" y="0"/>
          <a:chExt cx="0" cy="0"/>
        </a:xfrm>
      </p:grpSpPr>
      <p:sp>
        <p:nvSpPr>
          <p:cNvPr id="635" name="Google Shape;635;p54:notes"/>
          <p:cNvSpPr txBox="1"/>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36" name="Google Shape;636;p5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5" name="Shape 25"/>
        <p:cNvGrpSpPr/>
        <p:nvPr/>
      </p:nvGrpSpPr>
      <p:grpSpPr>
        <a:xfrm>
          <a:off x="0" y="0"/>
          <a:ext cx="0" cy="0"/>
          <a:chOff x="0" y="0"/>
          <a:chExt cx="0" cy="0"/>
        </a:xfrm>
      </p:grpSpPr>
      <p:sp>
        <p:nvSpPr>
          <p:cNvPr id="26" name="Google Shape;26;p2"/>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2"/>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8" name="Google Shape;28;p2"/>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1" name="Shape 31"/>
        <p:cNvGrpSpPr/>
        <p:nvPr/>
      </p:nvGrpSpPr>
      <p:grpSpPr>
        <a:xfrm>
          <a:off x="0" y="0"/>
          <a:ext cx="0" cy="0"/>
          <a:chOff x="0" y="0"/>
          <a:chExt cx="0" cy="0"/>
        </a:xfrm>
      </p:grpSpPr>
      <p:sp>
        <p:nvSpPr>
          <p:cNvPr id="32" name="Google Shape;32;p3"/>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3"/>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6" name="Shape 36"/>
        <p:cNvGrpSpPr/>
        <p:nvPr/>
      </p:nvGrpSpPr>
      <p:grpSpPr>
        <a:xfrm>
          <a:off x="0" y="0"/>
          <a:ext cx="0" cy="0"/>
          <a:chOff x="0" y="0"/>
          <a:chExt cx="0" cy="0"/>
        </a:xfrm>
      </p:grpSpPr>
      <p:sp>
        <p:nvSpPr>
          <p:cNvPr id="37" name="Google Shape;37;p4"/>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4"/>
          <p:cNvSpPr txBox="1"/>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9" name="Google Shape;39;p4"/>
          <p:cNvSpPr txBox="1"/>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4"/>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hart" matchingName="Title, Text and Chart">
  <p:cSld name="TEXT_AND_CHART">
    <p:spTree>
      <p:nvGrpSpPr>
        <p:cNvPr id="43" name="Shape 43"/>
        <p:cNvGrpSpPr/>
        <p:nvPr/>
      </p:nvGrpSpPr>
      <p:grpSpPr>
        <a:xfrm>
          <a:off x="0" y="0"/>
          <a:ext cx="0" cy="0"/>
          <a:chOff x="0" y="0"/>
          <a:chExt cx="0" cy="0"/>
        </a:xfrm>
      </p:grpSpPr>
      <p:sp>
        <p:nvSpPr>
          <p:cNvPr id="44" name="Google Shape;44;p5"/>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
          <p:cNvSpPr txBox="1"/>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5"/>
          <p:cNvSpPr/>
          <p:nvPr>
            <p:ph type="chart"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008000"/>
              </a:buClr>
              <a:buSzPts val="3200"/>
              <a:buFont typeface="Noto Sans Symbols"/>
              <a:buChar char="•"/>
              <a:defRPr sz="32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560"/>
              </a:spcBef>
              <a:spcAft>
                <a:spcPts val="0"/>
              </a:spcAft>
              <a:buClr>
                <a:srgbClr val="008000"/>
              </a:buClr>
              <a:buSzPts val="2800"/>
              <a:buFont typeface="Noto Sans Symbols"/>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480"/>
              </a:spcBef>
              <a:spcAft>
                <a:spcPts val="0"/>
              </a:spcAft>
              <a:buClr>
                <a:schemeClr val="dk1"/>
              </a:buClr>
              <a:buSzPts val="2400"/>
              <a:buFont typeface="Times New Roman" panose="02020603050405020304"/>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7" name="Google Shape;47;p5"/>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6"/>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matchingName="Title, Text, and 2 Content">
  <p:cSld name="TEXT_AND_TWO_OBJECTS">
    <p:spTree>
      <p:nvGrpSpPr>
        <p:cNvPr id="54" name="Shape 54"/>
        <p:cNvGrpSpPr/>
        <p:nvPr/>
      </p:nvGrpSpPr>
      <p:grpSpPr>
        <a:xfrm>
          <a:off x="0" y="0"/>
          <a:ext cx="0" cy="0"/>
          <a:chOff x="0" y="0"/>
          <a:chExt cx="0" cy="0"/>
        </a:xfrm>
      </p:grpSpPr>
      <p:sp>
        <p:nvSpPr>
          <p:cNvPr id="55" name="Google Shape;55;p7"/>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7"/>
          <p:cNvSpPr txBox="1"/>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7" name="Google Shape;57;p7"/>
          <p:cNvSpPr txBox="1"/>
          <p:nvPr>
            <p:ph type="body" idx="2"/>
          </p:nvPr>
        </p:nvSpPr>
        <p:spPr>
          <a:xfrm>
            <a:off x="4648200" y="1981200"/>
            <a:ext cx="38100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8" name="Google Shape;58;p7"/>
          <p:cNvSpPr txBox="1"/>
          <p:nvPr>
            <p:ph type="body" idx="3"/>
          </p:nvPr>
        </p:nvSpPr>
        <p:spPr>
          <a:xfrm>
            <a:off x="4648200" y="4114800"/>
            <a:ext cx="38100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7"/>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62" name="Shape 62"/>
        <p:cNvGrpSpPr/>
        <p:nvPr/>
      </p:nvGrpSpPr>
      <p:grpSpPr>
        <a:xfrm>
          <a:off x="0" y="0"/>
          <a:ext cx="0" cy="0"/>
          <a:chOff x="0" y="0"/>
          <a:chExt cx="0" cy="0"/>
        </a:xfrm>
      </p:grpSpPr>
      <p:sp>
        <p:nvSpPr>
          <p:cNvPr id="63" name="Google Shape;63;p8"/>
          <p:cNvSpPr txBox="1"/>
          <p:nvPr>
            <p:ph type="title"/>
          </p:nvPr>
        </p:nvSpPr>
        <p:spPr>
          <a:xfrm rot="5400000">
            <a:off x="4743450" y="2381250"/>
            <a:ext cx="5486400" cy="1943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8"/>
          <p:cNvSpPr txBox="1"/>
          <p:nvPr>
            <p:ph type="body" idx="1"/>
          </p:nvPr>
        </p:nvSpPr>
        <p:spPr>
          <a:xfrm rot="5400000">
            <a:off x="781050" y="514350"/>
            <a:ext cx="5486400" cy="56769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5" name="Google Shape;65;p8"/>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8"/>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8"/>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9"/>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9"/>
          <p:cNvSpPr txBox="1"/>
          <p:nvPr>
            <p:ph type="body" idx="1"/>
          </p:nvPr>
        </p:nvSpPr>
        <p:spPr>
          <a:xfrm rot="5400000">
            <a:off x="2514600" y="152400"/>
            <a:ext cx="4114800" cy="7772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9"/>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9"/>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4" name="Shape 74"/>
        <p:cNvGrpSpPr/>
        <p:nvPr/>
      </p:nvGrpSpPr>
      <p:grpSpPr>
        <a:xfrm>
          <a:off x="0" y="0"/>
          <a:ext cx="0" cy="0"/>
          <a:chOff x="0" y="0"/>
          <a:chExt cx="0" cy="0"/>
        </a:xfrm>
      </p:grpSpPr>
      <p:sp>
        <p:nvSpPr>
          <p:cNvPr id="75" name="Google Shape;75;p10"/>
          <p:cNvSpPr txBox="1"/>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10"/>
          <p:cNvSpPr/>
          <p:nvPr>
            <p:ph type="pic" idx="2"/>
          </p:nvPr>
        </p:nvSpPr>
        <p:spPr>
          <a:xfrm>
            <a:off x="3887788" y="987425"/>
            <a:ext cx="4629150" cy="4873625"/>
          </a:xfrm>
          <a:prstGeom prst="rect">
            <a:avLst/>
          </a:prstGeom>
          <a:noFill/>
          <a:ln>
            <a:noFill/>
          </a:ln>
        </p:spPr>
      </p:sp>
      <p:sp>
        <p:nvSpPr>
          <p:cNvPr id="77" name="Google Shape;77;p10"/>
          <p:cNvSpPr txBox="1"/>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SzPts val="1600"/>
              <a:buNone/>
              <a:defRPr sz="1600"/>
            </a:lvl1pPr>
            <a:lvl2pPr marL="914400" lvl="1" indent="-228600" algn="l">
              <a:spcBef>
                <a:spcPts val="280"/>
              </a:spcBef>
              <a:spcAft>
                <a:spcPts val="0"/>
              </a:spcAft>
              <a:buSzPts val="1400"/>
              <a:buNone/>
              <a:defRPr sz="1400"/>
            </a:lvl2pPr>
            <a:lvl3pPr marL="1371600" lvl="2" indent="-228600" algn="l">
              <a:spcBef>
                <a:spcPts val="240"/>
              </a:spcBef>
              <a:spcAft>
                <a:spcPts val="0"/>
              </a:spcAft>
              <a:buClr>
                <a:schemeClr val="dk1"/>
              </a:buClr>
              <a:buSzPts val="1200"/>
              <a:buFont typeface="Times New Roman" panose="02020603050405020304"/>
              <a:buNone/>
              <a:defRPr sz="1200"/>
            </a:lvl3pPr>
            <a:lvl4pPr marL="1828800" lvl="3" indent="-228600" algn="l">
              <a:spcBef>
                <a:spcPts val="200"/>
              </a:spcBef>
              <a:spcAft>
                <a:spcPts val="0"/>
              </a:spcAft>
              <a:buClr>
                <a:schemeClr val="dk1"/>
              </a:buClr>
              <a:buSzPts val="1000"/>
              <a:buFont typeface="Times New Roman" panose="02020603050405020304"/>
              <a:buNone/>
              <a:defRPr sz="1000"/>
            </a:lvl4pPr>
            <a:lvl5pPr marL="2286000" lvl="4" indent="-228600" algn="l">
              <a:spcBef>
                <a:spcPts val="200"/>
              </a:spcBef>
              <a:spcAft>
                <a:spcPts val="0"/>
              </a:spcAft>
              <a:buClr>
                <a:schemeClr val="dk1"/>
              </a:buClr>
              <a:buSzPts val="1000"/>
              <a:buFont typeface="Times New Roman" panose="02020603050405020304"/>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8" name="Google Shape;78;p10"/>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81" name="Shape 81"/>
        <p:cNvGrpSpPr/>
        <p:nvPr/>
      </p:nvGrpSpPr>
      <p:grpSpPr>
        <a:xfrm>
          <a:off x="0" y="0"/>
          <a:ext cx="0" cy="0"/>
          <a:chOff x="0" y="0"/>
          <a:chExt cx="0" cy="0"/>
        </a:xfrm>
      </p:grpSpPr>
      <p:sp>
        <p:nvSpPr>
          <p:cNvPr id="82" name="Google Shape;82;p11"/>
          <p:cNvSpPr txBox="1"/>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 name="Google Shape;83;p11"/>
          <p:cNvSpPr txBox="1"/>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SzPts val="3200"/>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Clr>
                <a:schemeClr val="dk1"/>
              </a:buClr>
              <a:buSzPts val="2400"/>
              <a:buFont typeface="Times New Roman" panose="02020603050405020304"/>
              <a:buChar char="•"/>
              <a:defRPr sz="2400"/>
            </a:lvl3pPr>
            <a:lvl4pPr marL="1828800" lvl="3" indent="-355600" algn="l">
              <a:spcBef>
                <a:spcPts val="400"/>
              </a:spcBef>
              <a:spcAft>
                <a:spcPts val="0"/>
              </a:spcAft>
              <a:buClr>
                <a:schemeClr val="dk1"/>
              </a:buClr>
              <a:buSzPts val="2000"/>
              <a:buFont typeface="Times New Roman" panose="02020603050405020304"/>
              <a:buChar char="–"/>
              <a:defRPr sz="2000"/>
            </a:lvl4pPr>
            <a:lvl5pPr marL="2286000" lvl="4" indent="-355600" algn="l">
              <a:spcBef>
                <a:spcPts val="400"/>
              </a:spcBef>
              <a:spcAft>
                <a:spcPts val="0"/>
              </a:spcAft>
              <a:buClr>
                <a:schemeClr val="dk1"/>
              </a:buClr>
              <a:buSzPts val="2000"/>
              <a:buFont typeface="Times New Roman" panose="02020603050405020304"/>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84" name="Google Shape;84;p11"/>
          <p:cNvSpPr txBox="1"/>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SzPts val="1600"/>
              <a:buNone/>
              <a:defRPr sz="1600"/>
            </a:lvl1pPr>
            <a:lvl2pPr marL="914400" lvl="1" indent="-228600" algn="l">
              <a:spcBef>
                <a:spcPts val="280"/>
              </a:spcBef>
              <a:spcAft>
                <a:spcPts val="0"/>
              </a:spcAft>
              <a:buSzPts val="1400"/>
              <a:buNone/>
              <a:defRPr sz="1400"/>
            </a:lvl2pPr>
            <a:lvl3pPr marL="1371600" lvl="2" indent="-228600" algn="l">
              <a:spcBef>
                <a:spcPts val="240"/>
              </a:spcBef>
              <a:spcAft>
                <a:spcPts val="0"/>
              </a:spcAft>
              <a:buClr>
                <a:schemeClr val="dk1"/>
              </a:buClr>
              <a:buSzPts val="1200"/>
              <a:buFont typeface="Times New Roman" panose="02020603050405020304"/>
              <a:buNone/>
              <a:defRPr sz="1200"/>
            </a:lvl3pPr>
            <a:lvl4pPr marL="1828800" lvl="3" indent="-228600" algn="l">
              <a:spcBef>
                <a:spcPts val="200"/>
              </a:spcBef>
              <a:spcAft>
                <a:spcPts val="0"/>
              </a:spcAft>
              <a:buClr>
                <a:schemeClr val="dk1"/>
              </a:buClr>
              <a:buSzPts val="1000"/>
              <a:buFont typeface="Times New Roman" panose="02020603050405020304"/>
              <a:buNone/>
              <a:defRPr sz="1000"/>
            </a:lvl4pPr>
            <a:lvl5pPr marL="2286000" lvl="4" indent="-228600" algn="l">
              <a:spcBef>
                <a:spcPts val="200"/>
              </a:spcBef>
              <a:spcAft>
                <a:spcPts val="0"/>
              </a:spcAft>
              <a:buClr>
                <a:schemeClr val="dk1"/>
              </a:buClr>
              <a:buSzPts val="1000"/>
              <a:buFont typeface="Times New Roman" panose="02020603050405020304"/>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85" name="Google Shape;85;p11"/>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1"/>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88" name="Shape 88"/>
        <p:cNvGrpSpPr/>
        <p:nvPr/>
      </p:nvGrpSpPr>
      <p:grpSpPr>
        <a:xfrm>
          <a:off x="0" y="0"/>
          <a:ext cx="0" cy="0"/>
          <a:chOff x="0" y="0"/>
          <a:chExt cx="0" cy="0"/>
        </a:xfrm>
      </p:grpSpPr>
      <p:sp>
        <p:nvSpPr>
          <p:cNvPr id="89" name="Google Shape;89;p12"/>
          <p:cNvSpPr txBox="1"/>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12"/>
          <p:cNvSpPr txBox="1"/>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Clr>
                <a:schemeClr val="dk1"/>
              </a:buClr>
              <a:buSzPts val="1800"/>
              <a:buFont typeface="Times New Roman" panose="02020603050405020304"/>
              <a:buNone/>
              <a:defRPr sz="1800" b="1"/>
            </a:lvl3pPr>
            <a:lvl4pPr marL="1828800" lvl="3" indent="-228600" algn="l">
              <a:spcBef>
                <a:spcPts val="320"/>
              </a:spcBef>
              <a:spcAft>
                <a:spcPts val="0"/>
              </a:spcAft>
              <a:buClr>
                <a:schemeClr val="dk1"/>
              </a:buClr>
              <a:buSzPts val="1600"/>
              <a:buFont typeface="Times New Roman" panose="02020603050405020304"/>
              <a:buNone/>
              <a:defRPr sz="1600" b="1"/>
            </a:lvl4pPr>
            <a:lvl5pPr marL="2286000" lvl="4" indent="-228600" algn="l">
              <a:spcBef>
                <a:spcPts val="320"/>
              </a:spcBef>
              <a:spcAft>
                <a:spcPts val="0"/>
              </a:spcAft>
              <a:buClr>
                <a:schemeClr val="dk1"/>
              </a:buClr>
              <a:buSzPts val="1600"/>
              <a:buFont typeface="Times New Roman" panose="02020603050405020304"/>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91" name="Google Shape;91;p12"/>
          <p:cNvSpPr txBox="1"/>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2" name="Google Shape;92;p12"/>
          <p:cNvSpPr txBox="1"/>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Clr>
                <a:schemeClr val="dk1"/>
              </a:buClr>
              <a:buSzPts val="1800"/>
              <a:buFont typeface="Times New Roman" panose="02020603050405020304"/>
              <a:buNone/>
              <a:defRPr sz="1800" b="1"/>
            </a:lvl3pPr>
            <a:lvl4pPr marL="1828800" lvl="3" indent="-228600" algn="l">
              <a:spcBef>
                <a:spcPts val="320"/>
              </a:spcBef>
              <a:spcAft>
                <a:spcPts val="0"/>
              </a:spcAft>
              <a:buClr>
                <a:schemeClr val="dk1"/>
              </a:buClr>
              <a:buSzPts val="1600"/>
              <a:buFont typeface="Times New Roman" panose="02020603050405020304"/>
              <a:buNone/>
              <a:defRPr sz="1600" b="1"/>
            </a:lvl4pPr>
            <a:lvl5pPr marL="2286000" lvl="4" indent="-228600" algn="l">
              <a:spcBef>
                <a:spcPts val="320"/>
              </a:spcBef>
              <a:spcAft>
                <a:spcPts val="0"/>
              </a:spcAft>
              <a:buClr>
                <a:schemeClr val="dk1"/>
              </a:buClr>
              <a:buSzPts val="1600"/>
              <a:buFont typeface="Times New Roman" panose="02020603050405020304"/>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93" name="Google Shape;93;p12"/>
          <p:cNvSpPr txBox="1"/>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4" name="Google Shape;94;p12"/>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2"/>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2"/>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97" name="Shape 97"/>
        <p:cNvGrpSpPr/>
        <p:nvPr/>
      </p:nvGrpSpPr>
      <p:grpSpPr>
        <a:xfrm>
          <a:off x="0" y="0"/>
          <a:ext cx="0" cy="0"/>
          <a:chOff x="0" y="0"/>
          <a:chExt cx="0" cy="0"/>
        </a:xfrm>
      </p:grpSpPr>
      <p:sp>
        <p:nvSpPr>
          <p:cNvPr id="98" name="Google Shape;98;p13"/>
          <p:cNvSpPr txBox="1"/>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13"/>
          <p:cNvSpPr txBox="1"/>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SzPts val="2400"/>
              <a:buNone/>
              <a:defRPr sz="2400"/>
            </a:lvl1pPr>
            <a:lvl2pPr marL="914400" lvl="1" indent="-228600" algn="l">
              <a:spcBef>
                <a:spcPts val="400"/>
              </a:spcBef>
              <a:spcAft>
                <a:spcPts val="0"/>
              </a:spcAft>
              <a:buSzPts val="2000"/>
              <a:buNone/>
              <a:defRPr sz="2000"/>
            </a:lvl2pPr>
            <a:lvl3pPr marL="1371600" lvl="2" indent="-228600" algn="l">
              <a:spcBef>
                <a:spcPts val="360"/>
              </a:spcBef>
              <a:spcAft>
                <a:spcPts val="0"/>
              </a:spcAft>
              <a:buClr>
                <a:schemeClr val="dk1"/>
              </a:buClr>
              <a:buSzPts val="1800"/>
              <a:buFont typeface="Times New Roman" panose="02020603050405020304"/>
              <a:buNone/>
              <a:defRPr sz="1800"/>
            </a:lvl3pPr>
            <a:lvl4pPr marL="1828800" lvl="3" indent="-228600" algn="l">
              <a:spcBef>
                <a:spcPts val="320"/>
              </a:spcBef>
              <a:spcAft>
                <a:spcPts val="0"/>
              </a:spcAft>
              <a:buClr>
                <a:schemeClr val="dk1"/>
              </a:buClr>
              <a:buSzPts val="1600"/>
              <a:buFont typeface="Times New Roman" panose="02020603050405020304"/>
              <a:buNone/>
              <a:defRPr sz="1600"/>
            </a:lvl4pPr>
            <a:lvl5pPr marL="2286000" lvl="4" indent="-228600" algn="l">
              <a:spcBef>
                <a:spcPts val="320"/>
              </a:spcBef>
              <a:spcAft>
                <a:spcPts val="0"/>
              </a:spcAft>
              <a:buClr>
                <a:schemeClr val="dk1"/>
              </a:buClr>
              <a:buSzPts val="1600"/>
              <a:buFont typeface="Times New Roman" panose="02020603050405020304"/>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p:txBody>
      </p:sp>
      <p:sp>
        <p:nvSpPr>
          <p:cNvPr id="100" name="Google Shape;100;p13"/>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3"/>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3"/>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32" name="Shape 132"/>
        <p:cNvGrpSpPr/>
        <p:nvPr/>
      </p:nvGrpSpPr>
      <p:grpSpPr>
        <a:xfrm>
          <a:off x="0" y="0"/>
          <a:ext cx="0" cy="0"/>
          <a:chOff x="0" y="0"/>
          <a:chExt cx="0" cy="0"/>
        </a:xfrm>
      </p:grpSpPr>
      <p:sp>
        <p:nvSpPr>
          <p:cNvPr id="133" name="Google Shape;133;p15"/>
          <p:cNvSpPr txBox="1"/>
          <p:nvPr>
            <p:ph type="ctrTitle"/>
          </p:nvPr>
        </p:nvSpPr>
        <p:spPr>
          <a:xfrm>
            <a:off x="1295400" y="1371600"/>
            <a:ext cx="7315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15"/>
          <p:cNvSpPr txBox="1"/>
          <p:nvPr>
            <p:ph type="subTitle" idx="1"/>
          </p:nvPr>
        </p:nvSpPr>
        <p:spPr>
          <a:xfrm>
            <a:off x="1828800" y="37338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SzPts val="3200"/>
              <a:buFont typeface="Noto Sans Symbols"/>
              <a:buNone/>
              <a:defRPr/>
            </a:lvl1pPr>
            <a:lvl2pPr lvl="1" algn="l">
              <a:spcBef>
                <a:spcPts val="360"/>
              </a:spcBef>
              <a:spcAft>
                <a:spcPts val="0"/>
              </a:spcAft>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35" name="Google Shape;135;p15"/>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5"/>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5"/>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1pPr>
            <a:lvl2pPr marR="0" lvl="1"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2pPr>
            <a:lvl3pPr marR="0" lvl="2"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3pPr>
            <a:lvl4pPr marR="0" lvl="3"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4pPr>
            <a:lvl5pPr marR="0" lvl="4"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5pPr>
            <a:lvl6pPr marR="0" lvl="5"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6pPr>
            <a:lvl7pPr marR="0" lvl="6"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7pPr>
            <a:lvl8pPr marR="0" lvl="7"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8pPr>
            <a:lvl9pPr marR="0" lvl="8"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1" name="Google Shape;11;p1"/>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rgbClr val="008000"/>
              </a:buClr>
              <a:buSzPts val="3200"/>
              <a:buFont typeface="Noto Sans Symbols"/>
              <a:buChar char="•"/>
              <a:defRPr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406400" algn="l" rtl="0">
              <a:spcBef>
                <a:spcPts val="560"/>
              </a:spcBef>
              <a:spcAft>
                <a:spcPts val="0"/>
              </a:spcAft>
              <a:buClr>
                <a:srgbClr val="008000"/>
              </a:buClr>
              <a:buSzPts val="2800"/>
              <a:buFont typeface="Noto Sans Symbols"/>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81000" algn="l" rtl="0">
              <a:spcBef>
                <a:spcPts val="480"/>
              </a:spcBef>
              <a:spcAft>
                <a:spcPts val="0"/>
              </a:spcAft>
              <a:buClr>
                <a:schemeClr val="dk1"/>
              </a:buClr>
              <a:buSzPts val="2400"/>
              <a:buFont typeface="Times New Roman" panose="02020603050405020304"/>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55600" algn="l" rtl="0">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55600" algn="l" rtl="0">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2" name="Google Shape;12;p1"/>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3" name="Google Shape;13;p1"/>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4" name="Google Shape;14;p1"/>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chemeClr val="dk1"/>
              </a:buClr>
              <a:buSzPts val="1400"/>
              <a:buFont typeface="Times New Roman" panose="02020603050405020304"/>
              <a:buNone/>
              <a:defRPr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5" name="Google Shape;15;p1"/>
          <p:cNvGrpSpPr/>
          <p:nvPr/>
        </p:nvGrpSpPr>
        <p:grpSpPr>
          <a:xfrm>
            <a:off x="990600" y="1828800"/>
            <a:ext cx="7010400" cy="109537"/>
            <a:chOff x="768" y="1493"/>
            <a:chExt cx="4416" cy="69"/>
          </a:xfrm>
        </p:grpSpPr>
        <p:sp>
          <p:nvSpPr>
            <p:cNvPr id="16" name="Google Shape;16;p1"/>
            <p:cNvSpPr txBox="1"/>
            <p:nvPr/>
          </p:nvSpPr>
          <p:spPr>
            <a:xfrm>
              <a:off x="768" y="1503"/>
              <a:ext cx="1344" cy="48"/>
            </a:xfrm>
            <a:prstGeom prst="rect">
              <a:avLst/>
            </a:prstGeom>
            <a:blipFill rotWithShape="1">
              <a:blip r:embed="rId13"/>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 name="Google Shape;17;p1"/>
            <p:cNvSpPr txBox="1"/>
            <p:nvPr/>
          </p:nvSpPr>
          <p:spPr>
            <a:xfrm>
              <a:off x="3840" y="1503"/>
              <a:ext cx="1344" cy="48"/>
            </a:xfrm>
            <a:prstGeom prst="rect">
              <a:avLst/>
            </a:prstGeom>
            <a:blipFill rotWithShape="1">
              <a:blip r:embed="rId13"/>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 name="Google Shape;18;p1"/>
            <p:cNvSpPr txBox="1"/>
            <p:nvPr/>
          </p:nvSpPr>
          <p:spPr>
            <a:xfrm>
              <a:off x="2170" y="1503"/>
              <a:ext cx="46" cy="48"/>
            </a:xfrm>
            <a:prstGeom prst="rect">
              <a:avLst/>
            </a:prstGeom>
            <a:blipFill rotWithShape="1">
              <a:blip r:embed="rId13"/>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 name="Google Shape;19;p1"/>
            <p:cNvSpPr txBox="1"/>
            <p:nvPr/>
          </p:nvSpPr>
          <p:spPr>
            <a:xfrm>
              <a:off x="3735" y="1503"/>
              <a:ext cx="46" cy="48"/>
            </a:xfrm>
            <a:prstGeom prst="rect">
              <a:avLst/>
            </a:prstGeom>
            <a:blipFill rotWithShape="1">
              <a:blip r:embed="rId13"/>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 name="Google Shape;20;p1"/>
            <p:cNvSpPr txBox="1"/>
            <p:nvPr/>
          </p:nvSpPr>
          <p:spPr>
            <a:xfrm>
              <a:off x="2275" y="1498"/>
              <a:ext cx="58" cy="58"/>
            </a:xfrm>
            <a:prstGeom prst="rect">
              <a:avLst/>
            </a:prstGeom>
            <a:blipFill rotWithShape="1">
              <a:blip r:embed="rId13"/>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 name="Google Shape;21;p1"/>
            <p:cNvSpPr txBox="1"/>
            <p:nvPr/>
          </p:nvSpPr>
          <p:spPr>
            <a:xfrm>
              <a:off x="3618" y="1498"/>
              <a:ext cx="58" cy="58"/>
            </a:xfrm>
            <a:prstGeom prst="rect">
              <a:avLst/>
            </a:prstGeom>
            <a:blipFill rotWithShape="1">
              <a:blip r:embed="rId13"/>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 name="Google Shape;22;p1"/>
            <p:cNvSpPr txBox="1"/>
            <p:nvPr/>
          </p:nvSpPr>
          <p:spPr>
            <a:xfrm>
              <a:off x="2392" y="1493"/>
              <a:ext cx="69" cy="69"/>
            </a:xfrm>
            <a:prstGeom prst="rect">
              <a:avLst/>
            </a:prstGeom>
            <a:blipFill rotWithShape="1">
              <a:blip r:embed="rId13"/>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 name="Google Shape;23;p1"/>
            <p:cNvSpPr txBox="1"/>
            <p:nvPr/>
          </p:nvSpPr>
          <p:spPr>
            <a:xfrm>
              <a:off x="3490" y="1493"/>
              <a:ext cx="69" cy="69"/>
            </a:xfrm>
            <a:prstGeom prst="rect">
              <a:avLst/>
            </a:prstGeom>
            <a:blipFill rotWithShape="1">
              <a:blip r:embed="rId13"/>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 name="Google Shape;24;p1"/>
            <p:cNvSpPr/>
            <p:nvPr/>
          </p:nvSpPr>
          <p:spPr>
            <a:xfrm>
              <a:off x="2520" y="1503"/>
              <a:ext cx="912" cy="48"/>
            </a:xfrm>
            <a:prstGeom prst="roundRect">
              <a:avLst>
                <a:gd name="adj" fmla="val 0"/>
              </a:avLst>
            </a:prstGeom>
            <a:blipFill rotWithShape="1">
              <a:blip r:embed="rId13"/>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03" name="Shape 103"/>
        <p:cNvGrpSpPr/>
        <p:nvPr/>
      </p:nvGrpSpPr>
      <p:grpSpPr>
        <a:xfrm>
          <a:off x="0" y="0"/>
          <a:ext cx="0" cy="0"/>
          <a:chOff x="0" y="0"/>
          <a:chExt cx="0" cy="0"/>
        </a:xfrm>
      </p:grpSpPr>
      <p:grpSp>
        <p:nvGrpSpPr>
          <p:cNvPr id="104" name="Google Shape;104;p14"/>
          <p:cNvGrpSpPr/>
          <p:nvPr/>
        </p:nvGrpSpPr>
        <p:grpSpPr>
          <a:xfrm>
            <a:off x="990600" y="1828800"/>
            <a:ext cx="7010400" cy="109537"/>
            <a:chOff x="768" y="1493"/>
            <a:chExt cx="4416" cy="69"/>
          </a:xfrm>
        </p:grpSpPr>
        <p:sp>
          <p:nvSpPr>
            <p:cNvPr id="105" name="Google Shape;105;p14"/>
            <p:cNvSpPr txBox="1"/>
            <p:nvPr/>
          </p:nvSpPr>
          <p:spPr>
            <a:xfrm>
              <a:off x="768" y="1503"/>
              <a:ext cx="1344" cy="4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6" name="Google Shape;106;p14"/>
            <p:cNvSpPr txBox="1"/>
            <p:nvPr/>
          </p:nvSpPr>
          <p:spPr>
            <a:xfrm>
              <a:off x="3840" y="1503"/>
              <a:ext cx="1344" cy="4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7" name="Google Shape;107;p14"/>
            <p:cNvSpPr txBox="1"/>
            <p:nvPr/>
          </p:nvSpPr>
          <p:spPr>
            <a:xfrm>
              <a:off x="2170" y="1503"/>
              <a:ext cx="46" cy="4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8" name="Google Shape;108;p14"/>
            <p:cNvSpPr txBox="1"/>
            <p:nvPr/>
          </p:nvSpPr>
          <p:spPr>
            <a:xfrm>
              <a:off x="3735" y="1503"/>
              <a:ext cx="46" cy="4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9" name="Google Shape;109;p14"/>
            <p:cNvSpPr txBox="1"/>
            <p:nvPr/>
          </p:nvSpPr>
          <p:spPr>
            <a:xfrm>
              <a:off x="2275" y="1498"/>
              <a:ext cx="58" cy="5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14"/>
            <p:cNvSpPr txBox="1"/>
            <p:nvPr/>
          </p:nvSpPr>
          <p:spPr>
            <a:xfrm>
              <a:off x="3618" y="1498"/>
              <a:ext cx="58" cy="5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1" name="Google Shape;111;p14"/>
            <p:cNvSpPr txBox="1"/>
            <p:nvPr/>
          </p:nvSpPr>
          <p:spPr>
            <a:xfrm>
              <a:off x="2392" y="1493"/>
              <a:ext cx="69" cy="69"/>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2" name="Google Shape;112;p14"/>
            <p:cNvSpPr txBox="1"/>
            <p:nvPr/>
          </p:nvSpPr>
          <p:spPr>
            <a:xfrm>
              <a:off x="3490" y="1493"/>
              <a:ext cx="69" cy="69"/>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3" name="Google Shape;113;p14"/>
            <p:cNvSpPr/>
            <p:nvPr/>
          </p:nvSpPr>
          <p:spPr>
            <a:xfrm>
              <a:off x="2520" y="1503"/>
              <a:ext cx="912" cy="48"/>
            </a:xfrm>
            <a:prstGeom prst="roundRect">
              <a:avLst>
                <a:gd name="adj" fmla="val 0"/>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14" name="Google Shape;114;p14"/>
          <p:cNvSpPr/>
          <p:nvPr/>
        </p:nvSpPr>
        <p:spPr>
          <a:xfrm>
            <a:off x="609600" y="533400"/>
            <a:ext cx="10058400" cy="7772400"/>
          </a:xfrm>
          <a:prstGeom prst="roundRect">
            <a:avLst>
              <a:gd name="adj" fmla="val 16667"/>
            </a:avLst>
          </a:prstGeom>
          <a:solidFill>
            <a:srgbClr val="F5FFF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15" name="Google Shape;115;p14"/>
          <p:cNvGrpSpPr/>
          <p:nvPr/>
        </p:nvGrpSpPr>
        <p:grpSpPr>
          <a:xfrm>
            <a:off x="1524000" y="3090862"/>
            <a:ext cx="7010400" cy="109537"/>
            <a:chOff x="768" y="1493"/>
            <a:chExt cx="4416" cy="69"/>
          </a:xfrm>
        </p:grpSpPr>
        <p:sp>
          <p:nvSpPr>
            <p:cNvPr id="116" name="Google Shape;116;p14"/>
            <p:cNvSpPr txBox="1"/>
            <p:nvPr/>
          </p:nvSpPr>
          <p:spPr>
            <a:xfrm>
              <a:off x="768" y="1503"/>
              <a:ext cx="1344" cy="4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 name="Google Shape;117;p14"/>
            <p:cNvSpPr txBox="1"/>
            <p:nvPr/>
          </p:nvSpPr>
          <p:spPr>
            <a:xfrm>
              <a:off x="3840" y="1503"/>
              <a:ext cx="1344" cy="4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8" name="Google Shape;118;p14"/>
            <p:cNvSpPr txBox="1"/>
            <p:nvPr/>
          </p:nvSpPr>
          <p:spPr>
            <a:xfrm>
              <a:off x="2170" y="1503"/>
              <a:ext cx="46" cy="4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Google Shape;119;p14"/>
            <p:cNvSpPr txBox="1"/>
            <p:nvPr/>
          </p:nvSpPr>
          <p:spPr>
            <a:xfrm>
              <a:off x="3735" y="1503"/>
              <a:ext cx="46" cy="4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0" name="Google Shape;120;p14"/>
            <p:cNvSpPr txBox="1"/>
            <p:nvPr/>
          </p:nvSpPr>
          <p:spPr>
            <a:xfrm>
              <a:off x="2275" y="1498"/>
              <a:ext cx="58" cy="5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1" name="Google Shape;121;p14"/>
            <p:cNvSpPr txBox="1"/>
            <p:nvPr/>
          </p:nvSpPr>
          <p:spPr>
            <a:xfrm>
              <a:off x="3618" y="1498"/>
              <a:ext cx="58" cy="58"/>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2" name="Google Shape;122;p14"/>
            <p:cNvSpPr txBox="1"/>
            <p:nvPr/>
          </p:nvSpPr>
          <p:spPr>
            <a:xfrm>
              <a:off x="2392" y="1493"/>
              <a:ext cx="69" cy="69"/>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3" name="Google Shape;123;p14"/>
            <p:cNvSpPr txBox="1"/>
            <p:nvPr/>
          </p:nvSpPr>
          <p:spPr>
            <a:xfrm>
              <a:off x="3490" y="1493"/>
              <a:ext cx="69" cy="69"/>
            </a:xfrm>
            <a:prstGeom prst="rect">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4" name="Google Shape;124;p14"/>
            <p:cNvSpPr/>
            <p:nvPr/>
          </p:nvSpPr>
          <p:spPr>
            <a:xfrm>
              <a:off x="2520" y="1503"/>
              <a:ext cx="912" cy="48"/>
            </a:xfrm>
            <a:prstGeom prst="roundRect">
              <a:avLst>
                <a:gd name="adj" fmla="val 0"/>
              </a:avLst>
            </a:prstGeom>
            <a:blipFill rotWithShape="1">
              <a:blip r:embed="rId2"/>
              <a:tile tx="0" ty="0" sx="100000" sy="100000" flip="none" algn="tl"/>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pic>
        <p:nvPicPr>
          <p:cNvPr id="125" name="Google Shape;125;p14"/>
          <p:cNvPicPr preferRelativeResize="0"/>
          <p:nvPr/>
        </p:nvPicPr>
        <p:blipFill rotWithShape="1">
          <a:blip r:embed="rId3"/>
          <a:srcRect/>
          <a:stretch>
            <a:fillRect/>
          </a:stretch>
        </p:blipFill>
        <p:spPr>
          <a:xfrm>
            <a:off x="914400" y="1828800"/>
            <a:ext cx="239712" cy="239712"/>
          </a:xfrm>
          <a:prstGeom prst="rect">
            <a:avLst/>
          </a:prstGeom>
          <a:noFill/>
          <a:ln>
            <a:noFill/>
          </a:ln>
        </p:spPr>
      </p:pic>
      <p:pic>
        <p:nvPicPr>
          <p:cNvPr id="126" name="Google Shape;126;p14"/>
          <p:cNvPicPr preferRelativeResize="0"/>
          <p:nvPr/>
        </p:nvPicPr>
        <p:blipFill rotWithShape="1">
          <a:blip r:embed="rId3"/>
          <a:srcRect/>
          <a:stretch>
            <a:fillRect/>
          </a:stretch>
        </p:blipFill>
        <p:spPr>
          <a:xfrm>
            <a:off x="8751887" y="1828800"/>
            <a:ext cx="239712" cy="239712"/>
          </a:xfrm>
          <a:prstGeom prst="rect">
            <a:avLst/>
          </a:prstGeom>
          <a:noFill/>
          <a:ln>
            <a:noFill/>
          </a:ln>
        </p:spPr>
      </p:pic>
      <p:sp>
        <p:nvSpPr>
          <p:cNvPr id="127" name="Google Shape;127;p14"/>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1pPr>
            <a:lvl2pPr marR="0" lvl="1"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2pPr>
            <a:lvl3pPr marR="0" lvl="2"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3pPr>
            <a:lvl4pPr marR="0" lvl="3"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4pPr>
            <a:lvl5pPr marR="0" lvl="4"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5pPr>
            <a:lvl6pPr marR="0" lvl="5"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6pPr>
            <a:lvl7pPr marR="0" lvl="6"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7pPr>
            <a:lvl8pPr marR="0" lvl="7"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8pPr>
            <a:lvl9pPr marR="0" lvl="8" algn="ctr" rtl="0">
              <a:spcBef>
                <a:spcPts val="0"/>
              </a:spcBef>
              <a:spcAft>
                <a:spcPts val="0"/>
              </a:spcAft>
              <a:buSzPts val="1400"/>
              <a:buNone/>
              <a:defRPr sz="4400" b="0" i="0" u="none" strike="noStrike" cap="none">
                <a:solidFill>
                  <a:srgbClr val="048404"/>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28" name="Google Shape;128;p14"/>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rgbClr val="008000"/>
              </a:buClr>
              <a:buSzPts val="3200"/>
              <a:buFont typeface="Noto Sans Symbols"/>
              <a:buChar char="•"/>
              <a:defRPr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406400" algn="l" rtl="0">
              <a:spcBef>
                <a:spcPts val="560"/>
              </a:spcBef>
              <a:spcAft>
                <a:spcPts val="0"/>
              </a:spcAft>
              <a:buClr>
                <a:srgbClr val="008000"/>
              </a:buClr>
              <a:buSzPts val="2800"/>
              <a:buFont typeface="Noto Sans Symbols"/>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81000" algn="l" rtl="0">
              <a:spcBef>
                <a:spcPts val="480"/>
              </a:spcBef>
              <a:spcAft>
                <a:spcPts val="0"/>
              </a:spcAft>
              <a:buClr>
                <a:schemeClr val="dk1"/>
              </a:buClr>
              <a:buSzPts val="2400"/>
              <a:buFont typeface="Times New Roman" panose="02020603050405020304"/>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55600" algn="l" rtl="0">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55600" algn="l" rtl="0">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29" name="Google Shape;129;p14"/>
          <p:cNvSpPr txBox="1"/>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30" name="Google Shape;130;p14"/>
          <p:cNvSpPr txBox="1"/>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31" name="Google Shape;131;p14"/>
          <p:cNvSpPr txBox="1"/>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chemeClr val="dk1"/>
              </a:buClr>
              <a:buSzPts val="1400"/>
              <a:buFont typeface="Times New Roman" panose="02020603050405020304"/>
              <a:buNone/>
              <a:defRPr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6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hyperlink" Target="https://www.statisticshowto.com/what-is-a-population/" TargetMode="External"/><Relationship Id="rId2" Type="http://schemas.openxmlformats.org/officeDocument/2006/relationships/hyperlink" Target="https://www.statisticshowto.com/arithmetic-mean/" TargetMode="External"/><Relationship Id="rId1" Type="http://schemas.openxmlformats.org/officeDocument/2006/relationships/hyperlink" Target="http://def" TargetMode="Externa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6.xml"/><Relationship Id="rId2" Type="http://schemas.openxmlformats.org/officeDocument/2006/relationships/image" Target="../media/image25.png"/><Relationship Id="rId1" Type="http://schemas.openxmlformats.org/officeDocument/2006/relationships/image" Target="../media/image2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6"/>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Population and Sample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 name="Google Shape;143;p16"/>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8000"/>
              </a:buClr>
              <a:buSzPts val="3200"/>
              <a:buFont typeface="Noto Sans Symbols"/>
              <a:buChar char="•"/>
            </a:pPr>
            <a:r>
              <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Population</a:t>
            </a:r>
            <a:endPar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0" algn="l" rtl="0">
              <a:lnSpc>
                <a:spcPct val="100000"/>
              </a:lnSpc>
              <a:spcBef>
                <a:spcPts val="560"/>
              </a:spcBef>
              <a:spcAft>
                <a:spcPts val="0"/>
              </a:spcAft>
              <a:buClr>
                <a:srgbClr val="008000"/>
              </a:buClr>
              <a:buSzPts val="2800"/>
              <a:buFont typeface="Noto Sans Symbols"/>
              <a:buNone/>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Totality of the observations with which we are concerned</a:t>
            </a:r>
            <a:endPar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640"/>
              </a:spcBef>
              <a:spcAft>
                <a:spcPts val="0"/>
              </a:spcAft>
              <a:buClr>
                <a:srgbClr val="008000"/>
              </a:buClr>
              <a:buSzPts val="3200"/>
              <a:buFont typeface="Noto Sans Symbols"/>
              <a:buChar char="•"/>
            </a:pPr>
            <a:r>
              <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Sample</a:t>
            </a:r>
            <a:endPar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0" algn="l" rtl="0">
              <a:lnSpc>
                <a:spcPct val="100000"/>
              </a:lnSpc>
              <a:spcBef>
                <a:spcPts val="560"/>
              </a:spcBef>
              <a:spcAft>
                <a:spcPts val="0"/>
              </a:spcAft>
              <a:buClr>
                <a:srgbClr val="008000"/>
              </a:buClr>
              <a:buSzPts val="2800"/>
              <a:buFont typeface="Noto Sans Symbols"/>
              <a:buNone/>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 subset of population</a:t>
            </a:r>
            <a:endPar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Parameter and Statistic</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17"/>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8000"/>
              </a:buClr>
              <a:buSzPts val="3200"/>
              <a:buFont typeface="Noto Sans Symbols"/>
              <a:buChar char="•"/>
            </a:pPr>
            <a:r>
              <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Parameter</a:t>
            </a:r>
            <a:endPar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0" algn="l" rtl="0">
              <a:lnSpc>
                <a:spcPct val="100000"/>
              </a:lnSpc>
              <a:spcBef>
                <a:spcPts val="560"/>
              </a:spcBef>
              <a:spcAft>
                <a:spcPts val="0"/>
              </a:spcAft>
              <a:buClr>
                <a:srgbClr val="008000"/>
              </a:buClr>
              <a:buSzPts val="2800"/>
              <a:buFont typeface="Noto Sans Symbols"/>
              <a:buNone/>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Any numerical value describing a characteristic of a population</a:t>
            </a:r>
            <a:endPar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640"/>
              </a:spcBef>
              <a:spcAft>
                <a:spcPts val="0"/>
              </a:spcAft>
              <a:buClr>
                <a:srgbClr val="008000"/>
              </a:buClr>
              <a:buSzPts val="3200"/>
              <a:buFont typeface="Noto Sans Symbols"/>
              <a:buChar char="•"/>
            </a:pPr>
            <a:r>
              <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Statistic</a:t>
            </a:r>
            <a:endParaRPr lang="en-US"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0" algn="l" rtl="0">
              <a:lnSpc>
                <a:spcPct val="100000"/>
              </a:lnSpc>
              <a:spcBef>
                <a:spcPts val="560"/>
              </a:spcBef>
              <a:spcAft>
                <a:spcPts val="0"/>
              </a:spcAft>
              <a:buClr>
                <a:srgbClr val="008000"/>
              </a:buClr>
              <a:buSzPts val="2800"/>
              <a:buFont typeface="Noto Sans Symbols"/>
              <a:buNone/>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Any numerical value describing a characteristic of a sample</a:t>
            </a:r>
            <a:endPar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sp>
        <p:nvSpPr>
          <p:cNvPr id="154" name="Google Shape;154;p18"/>
          <p:cNvSpPr txBox="1"/>
          <p:nvPr>
            <p:ph type="ctrTitle"/>
          </p:nvPr>
        </p:nvSpPr>
        <p:spPr>
          <a:xfrm>
            <a:off x="1295400" y="1371600"/>
            <a:ext cx="73152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Measures of Central Tendency</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59" name="Shape 159"/>
        <p:cNvGrpSpPr/>
        <p:nvPr/>
      </p:nvGrpSpPr>
      <p:grpSpPr>
        <a:xfrm>
          <a:off x="0" y="0"/>
          <a:ext cx="0" cy="0"/>
          <a:chOff x="0" y="0"/>
          <a:chExt cx="0" cy="0"/>
        </a:xfrm>
      </p:grpSpPr>
      <p:sp>
        <p:nvSpPr>
          <p:cNvPr id="160" name="Google Shape;160;p19"/>
          <p:cNvSpPr txBox="1"/>
          <p:nvPr>
            <p:ph type="subTitle" idx="1"/>
          </p:nvPr>
        </p:nvSpPr>
        <p:spPr>
          <a:xfrm>
            <a:off x="0" y="0"/>
            <a:ext cx="9144000" cy="6858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00000"/>
              </a:lnSpc>
              <a:spcBef>
                <a:spcPts val="880"/>
              </a:spcBef>
              <a:spcAft>
                <a:spcPts val="0"/>
              </a:spcAft>
              <a:buSzPts val="4400"/>
              <a:buNone/>
            </a:pPr>
            <a:endParaRPr sz="4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00000"/>
              </a:lnSpc>
              <a:spcBef>
                <a:spcPts val="880"/>
              </a:spcBef>
              <a:spcAft>
                <a:spcPts val="0"/>
              </a:spcAft>
              <a:buSzPts val="4400"/>
              <a:buNone/>
            </a:pPr>
            <a:r>
              <a:rPr lang="en-US" sz="4400" b="1" i="0" u="sng">
                <a:solidFill>
                  <a:schemeClr val="dk2"/>
                </a:solidFill>
                <a:latin typeface="Times New Roman" panose="02020603050405020304"/>
                <a:ea typeface="Times New Roman" panose="02020603050405020304"/>
                <a:cs typeface="Times New Roman" panose="02020603050405020304"/>
                <a:sym typeface="Times New Roman" panose="02020603050405020304"/>
              </a:rPr>
              <a:t>Measures of Central Tendency</a:t>
            </a:r>
            <a:endParaRPr lang="en-US" sz="4400" b="1" i="0" u="sng">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00000"/>
              </a:lnSpc>
              <a:spcBef>
                <a:spcPts val="880"/>
              </a:spcBef>
              <a:spcAft>
                <a:spcPts val="0"/>
              </a:spcAft>
              <a:buSzPts val="4400"/>
              <a:buNone/>
            </a:pPr>
            <a:r>
              <a:rPr lang="en-US" sz="44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or</a:t>
            </a:r>
            <a:endParaRPr lang="en-US" sz="44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00000"/>
              </a:lnSpc>
              <a:spcBef>
                <a:spcPts val="880"/>
              </a:spcBef>
              <a:spcAft>
                <a:spcPts val="0"/>
              </a:spcAft>
              <a:buSzPts val="4400"/>
              <a:buNone/>
            </a:pPr>
            <a:r>
              <a:rPr lang="en-US" sz="4400" b="1" i="0" u="sng">
                <a:solidFill>
                  <a:schemeClr val="dk2"/>
                </a:solidFill>
                <a:latin typeface="Times New Roman" panose="02020603050405020304"/>
                <a:ea typeface="Times New Roman" panose="02020603050405020304"/>
                <a:cs typeface="Times New Roman" panose="02020603050405020304"/>
                <a:sym typeface="Times New Roman" panose="02020603050405020304"/>
              </a:rPr>
              <a:t>Measures of Location</a:t>
            </a:r>
            <a:endParaRPr lang="en-US" sz="4400" b="1" i="0" u="sng">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00000"/>
              </a:lnSpc>
              <a:spcBef>
                <a:spcPts val="880"/>
              </a:spcBef>
              <a:spcAft>
                <a:spcPts val="0"/>
              </a:spcAft>
              <a:buSzPts val="4400"/>
              <a:buNone/>
            </a:pPr>
            <a:r>
              <a:rPr lang="en-US" sz="44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or</a:t>
            </a:r>
            <a:endParaRPr lang="en-US" sz="44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00000"/>
              </a:lnSpc>
              <a:spcBef>
                <a:spcPts val="880"/>
              </a:spcBef>
              <a:spcAft>
                <a:spcPts val="0"/>
              </a:spcAft>
              <a:buSzPts val="4400"/>
              <a:buNone/>
            </a:pPr>
            <a:r>
              <a:rPr lang="en-US" sz="4400" b="1" i="0" u="sng">
                <a:solidFill>
                  <a:schemeClr val="dk2"/>
                </a:solidFill>
                <a:latin typeface="Times New Roman" panose="02020603050405020304"/>
                <a:ea typeface="Times New Roman" panose="02020603050405020304"/>
                <a:cs typeface="Times New Roman" panose="02020603050405020304"/>
                <a:sym typeface="Times New Roman" panose="02020603050405020304"/>
              </a:rPr>
              <a:t>Measures of Averages</a:t>
            </a:r>
            <a:endParaRPr lang="en-US" sz="4400" b="1" i="0" u="sng">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20"/>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panose="02020603050405020304"/>
              <a:buNone/>
            </a:pPr>
            <a:fld id="{00000000-1234-1234-1234-123412341234}" type="slidenum">
              <a:rPr lang="en-US"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20"/>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Measures of Central Tendency</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p20"/>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 </a:t>
            </a:r>
            <a:r>
              <a:rPr lang="en-US" sz="32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measure of central tendency</a:t>
            </a: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is a descriptive statistic that describes the average, or typical value of a set of scores</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There are three common measures of central tendency:</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mode</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median</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mean</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Descriptive Statistics</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4" name="Google Shape;174;p21"/>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The goal of descriptive statistics is to summarize a collection of data in a clear and understandable way.</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9" name="Shape 179"/>
        <p:cNvGrpSpPr/>
        <p:nvPr/>
      </p:nvGrpSpPr>
      <p:grpSpPr>
        <a:xfrm>
          <a:off x="0" y="0"/>
          <a:ext cx="0" cy="0"/>
          <a:chOff x="0" y="0"/>
          <a:chExt cx="0" cy="0"/>
        </a:xfrm>
      </p:grpSpPr>
      <p:sp>
        <p:nvSpPr>
          <p:cNvPr id="180" name="Google Shape;180;p22"/>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Central Tendency</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 name="Google Shape;181;p22"/>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Measure of Central Tendency:</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 single summary score that best describes the central location of an entire distribution of scores.</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143000" lvl="2" indent="-228600" algn="l" rtl="0">
              <a:lnSpc>
                <a:spcPct val="100000"/>
              </a:lnSpc>
              <a:spcBef>
                <a:spcPts val="400"/>
              </a:spcBef>
              <a:spcAft>
                <a:spcPts val="0"/>
              </a:spcAft>
              <a:buClr>
                <a:schemeClr val="dk1"/>
              </a:buClr>
              <a:buSzPts val="2000"/>
              <a:buFont typeface="Times New Roman" panose="02020603050405020304"/>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typical score.</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143000" lvl="2" indent="-228600" algn="l" rtl="0">
              <a:lnSpc>
                <a:spcPct val="100000"/>
              </a:lnSpc>
              <a:spcBef>
                <a:spcPts val="400"/>
              </a:spcBef>
              <a:spcAft>
                <a:spcPts val="0"/>
              </a:spcAft>
              <a:buClr>
                <a:schemeClr val="dk1"/>
              </a:buClr>
              <a:buSzPts val="2000"/>
              <a:buFont typeface="Times New Roman" panose="02020603050405020304"/>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center of the distribution.</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One distribution can have multiple locations where scores cluster.</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143000" lvl="2" indent="-228600" algn="l" rtl="0">
              <a:lnSpc>
                <a:spcPct val="100000"/>
              </a:lnSpc>
              <a:spcBef>
                <a:spcPts val="400"/>
              </a:spcBef>
              <a:spcAft>
                <a:spcPts val="0"/>
              </a:spcAft>
              <a:buClr>
                <a:schemeClr val="dk1"/>
              </a:buClr>
              <a:buSzPts val="2000"/>
              <a:buFont typeface="Times New Roman" panose="02020603050405020304"/>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Must decide which measure is best for a given situation.</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86" name="Shape 186"/>
        <p:cNvGrpSpPr/>
        <p:nvPr/>
      </p:nvGrpSpPr>
      <p:grpSpPr>
        <a:xfrm>
          <a:off x="0" y="0"/>
          <a:ext cx="0" cy="0"/>
          <a:chOff x="0" y="0"/>
          <a:chExt cx="0" cy="0"/>
        </a:xfrm>
      </p:grpSpPr>
      <p:sp>
        <p:nvSpPr>
          <p:cNvPr id="187" name="Google Shape;187;p23"/>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Central Tendency</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8" name="Google Shape;188;p23"/>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Measures of Central Tendency:</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9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Mean</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143000" lvl="2" indent="-228600" algn="l" rtl="0">
              <a:lnSpc>
                <a:spcPct val="90000"/>
              </a:lnSpc>
              <a:spcBef>
                <a:spcPts val="480"/>
              </a:spcBef>
              <a:spcAft>
                <a:spcPts val="0"/>
              </a:spcAft>
              <a:buClr>
                <a:schemeClr val="dk1"/>
              </a:buClr>
              <a:buSzPts val="2400"/>
              <a:buFont typeface="Times New Roman" panose="02020603050405020304"/>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sum of all scores divided by the number of scores.</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9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Median</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143000" lvl="2" indent="-228600" algn="l" rtl="0">
              <a:lnSpc>
                <a:spcPct val="90000"/>
              </a:lnSpc>
              <a:spcBef>
                <a:spcPts val="480"/>
              </a:spcBef>
              <a:spcAft>
                <a:spcPts val="0"/>
              </a:spcAft>
              <a:buClr>
                <a:schemeClr val="dk1"/>
              </a:buClr>
              <a:buSzPts val="2400"/>
              <a:buFont typeface="Times New Roman" panose="02020603050405020304"/>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value that divides the distribution in half when observations are ordered.</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9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Mode</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143000" lvl="2" indent="-228600" algn="l" rtl="0">
              <a:lnSpc>
                <a:spcPct val="90000"/>
              </a:lnSpc>
              <a:spcBef>
                <a:spcPts val="480"/>
              </a:spcBef>
              <a:spcAft>
                <a:spcPts val="0"/>
              </a:spcAft>
              <a:buClr>
                <a:schemeClr val="dk1"/>
              </a:buClr>
              <a:buSzPts val="2400"/>
              <a:buFont typeface="Times New Roman" panose="02020603050405020304"/>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most frequent score.</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92" name="Shape 192"/>
        <p:cNvGrpSpPr/>
        <p:nvPr/>
      </p:nvGrpSpPr>
      <p:grpSpPr>
        <a:xfrm>
          <a:off x="0" y="0"/>
          <a:ext cx="0" cy="0"/>
          <a:chOff x="0" y="0"/>
          <a:chExt cx="0" cy="0"/>
        </a:xfrm>
      </p:grpSpPr>
      <p:sp>
        <p:nvSpPr>
          <p:cNvPr id="193" name="Google Shape;193;p24"/>
          <p:cNvSpPr txBox="1"/>
          <p:nvPr>
            <p:ph type="subTitle" idx="1"/>
          </p:nvPr>
        </p:nvSpPr>
        <p:spPr>
          <a:xfrm>
            <a:off x="1828800" y="3733800"/>
            <a:ext cx="6400800" cy="1752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4800"/>
              <a:buNone/>
            </a:pPr>
            <a:r>
              <a:rPr lang="en-US" sz="4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MEAN</a:t>
            </a:r>
            <a:endParaRPr lang="en-US" sz="4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8" name="Shape 198"/>
        <p:cNvGrpSpPr/>
        <p:nvPr/>
      </p:nvGrpSpPr>
      <p:grpSpPr>
        <a:xfrm>
          <a:off x="0" y="0"/>
          <a:ext cx="0" cy="0"/>
          <a:chOff x="0" y="0"/>
          <a:chExt cx="0" cy="0"/>
        </a:xfrm>
      </p:grpSpPr>
      <p:sp>
        <p:nvSpPr>
          <p:cNvPr id="199" name="Google Shape;199;p25"/>
          <p:cNvSpPr txBox="1"/>
          <p:nvPr>
            <p:ph type="title"/>
          </p:nvPr>
        </p:nvSpPr>
        <p:spPr>
          <a:xfrm>
            <a:off x="685800" y="325437"/>
            <a:ext cx="7658100" cy="123507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Measure of central tendency</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 name="Google Shape;200;p25"/>
          <p:cNvSpPr txBox="1"/>
          <p:nvPr/>
        </p:nvSpPr>
        <p:spPr>
          <a:xfrm>
            <a:off x="517525" y="1895475"/>
            <a:ext cx="361950" cy="946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1" name="Google Shape;201;p25"/>
          <p:cNvSpPr txBox="1"/>
          <p:nvPr/>
        </p:nvSpPr>
        <p:spPr>
          <a:xfrm>
            <a:off x="873125" y="1438275"/>
            <a:ext cx="7556500" cy="419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3200"/>
              <a:buFont typeface="Times New Roman" panose="02020603050405020304"/>
              <a:buNone/>
            </a:pPr>
            <a:r>
              <a:rPr lang="en-US" sz="32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Arithmetic Mean (Mean)</a:t>
            </a:r>
            <a:endParaRPr lang="en-US" sz="32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40000"/>
              </a:lnSpc>
              <a:spcBef>
                <a:spcPts val="0"/>
              </a:spcBef>
              <a:spcAft>
                <a:spcPts val="0"/>
              </a:spcAft>
              <a:buClr>
                <a:schemeClr val="dk1"/>
              </a:buClr>
              <a:buSzPts val="3200"/>
              <a:buFont typeface="Times New Roman" panose="02020603050405020304"/>
              <a:buNone/>
            </a:pPr>
            <a:endParaRPr sz="32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Definition:</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Sum of all the observation s divided by the number of the observations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a:t>
            </a:r>
            <a:r>
              <a:rPr lang="en-US"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arithmetic mean is the most common measure </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of the central location of a sample. </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5" name="Shape 205"/>
        <p:cNvGrpSpPr/>
        <p:nvPr/>
      </p:nvGrpSpPr>
      <p:grpSpPr>
        <a:xfrm>
          <a:off x="0" y="0"/>
          <a:ext cx="0" cy="0"/>
          <a:chOff x="0" y="0"/>
          <a:chExt cx="0" cy="0"/>
        </a:xfrm>
      </p:grpSpPr>
      <p:sp>
        <p:nvSpPr>
          <p:cNvPr id="206" name="Google Shape;206;p26"/>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The Mean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 name="Google Shape;207;p26"/>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lnSpc>
                <a:spcPct val="100000"/>
              </a:lnSpc>
              <a:spcBef>
                <a:spcPts val="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100000"/>
              </a:lnSpc>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100000"/>
              </a:lnSpc>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100000"/>
              </a:lnSpc>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None/>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mean of a population is represented by the Greek letter </a:t>
            </a:r>
            <a:r>
              <a:rPr lang="en-US" sz="32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μ</a:t>
            </a: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the mean of a sample is represented by </a:t>
            </a:r>
            <a:r>
              <a:rPr lang="en-US" sz="32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X</a:t>
            </a:r>
            <a:endParaRPr lang="en-US" sz="32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08" name="Google Shape;208;p26"/>
          <p:cNvCxnSpPr/>
          <p:nvPr/>
        </p:nvCxnSpPr>
        <p:spPr>
          <a:xfrm>
            <a:off x="3727450" y="6365875"/>
            <a:ext cx="268287" cy="0"/>
          </a:xfrm>
          <a:prstGeom prst="straightConnector1">
            <a:avLst/>
          </a:prstGeom>
          <a:noFill/>
          <a:ln>
            <a:noFill/>
          </a:ln>
        </p:spPr>
      </p:cxnSp>
      <p:cxnSp>
        <p:nvCxnSpPr>
          <p:cNvPr id="209" name="Google Shape;209;p26"/>
          <p:cNvCxnSpPr/>
          <p:nvPr/>
        </p:nvCxnSpPr>
        <p:spPr>
          <a:xfrm>
            <a:off x="3236912" y="5375275"/>
            <a:ext cx="296862" cy="0"/>
          </a:xfrm>
          <a:prstGeom prst="straightConnector1">
            <a:avLst/>
          </a:prstGeom>
          <a:noFill/>
          <a:ln w="9525" cap="flat" cmpd="sng">
            <a:solidFill>
              <a:srgbClr val="FF0000"/>
            </a:solidFill>
            <a:prstDash val="solid"/>
            <a:miter lim="800000"/>
            <a:headEnd type="none" w="med" len="med"/>
            <a:tailEnd type="none" w="med" len="med"/>
          </a:ln>
        </p:spPr>
      </p:cxnSp>
      <p:pic>
        <p:nvPicPr>
          <p:cNvPr id="210" name="Google Shape;210;p26"/>
          <p:cNvPicPr preferRelativeResize="0"/>
          <p:nvPr/>
        </p:nvPicPr>
        <p:blipFill rotWithShape="1">
          <a:blip r:embed="rId1"/>
          <a:srcRect/>
          <a:stretch>
            <a:fillRect/>
          </a:stretch>
        </p:blipFill>
        <p:spPr>
          <a:xfrm>
            <a:off x="2286000" y="2386012"/>
            <a:ext cx="1966912" cy="1498600"/>
          </a:xfrm>
          <a:prstGeom prst="rect">
            <a:avLst/>
          </a:prstGeom>
          <a:noFill/>
          <a:ln>
            <a:noFill/>
          </a:ln>
        </p:spPr>
      </p:pic>
      <p:pic>
        <p:nvPicPr>
          <p:cNvPr id="211" name="Google Shape;211;p26"/>
          <p:cNvPicPr preferRelativeResize="0"/>
          <p:nvPr/>
        </p:nvPicPr>
        <p:blipFill rotWithShape="1">
          <a:blip r:embed="rId2"/>
          <a:srcRect/>
          <a:stretch>
            <a:fillRect/>
          </a:stretch>
        </p:blipFill>
        <p:spPr>
          <a:xfrm>
            <a:off x="6553200" y="2309812"/>
            <a:ext cx="1717675" cy="1498600"/>
          </a:xfrm>
          <a:prstGeom prst="rect">
            <a:avLst/>
          </a:prstGeom>
          <a:noFill/>
          <a:ln>
            <a:noFill/>
          </a:ln>
        </p:spPr>
      </p:pic>
      <p:sp>
        <p:nvSpPr>
          <p:cNvPr id="212" name="Google Shape;212;p26"/>
          <p:cNvSpPr txBox="1"/>
          <p:nvPr/>
        </p:nvSpPr>
        <p:spPr>
          <a:xfrm>
            <a:off x="457200" y="2995612"/>
            <a:ext cx="1724025" cy="519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Population</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 name="Google Shape;213;p26"/>
          <p:cNvSpPr txBox="1"/>
          <p:nvPr/>
        </p:nvSpPr>
        <p:spPr>
          <a:xfrm>
            <a:off x="4876800" y="2919412"/>
            <a:ext cx="1249362" cy="519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Sample</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609600" y="442912"/>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The Mean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0" name="Google Shape;220;p27"/>
          <p:cNvSpPr txBox="1"/>
          <p:nvPr>
            <p:ph type="body" idx="1"/>
          </p:nvPr>
        </p:nvSpPr>
        <p:spPr>
          <a:xfrm>
            <a:off x="685800" y="2462212"/>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Population</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107950" algn="l" rtl="0">
              <a:lnSpc>
                <a:spcPct val="100000"/>
              </a:lnSpc>
              <a:spcBef>
                <a:spcPts val="560"/>
              </a:spcBef>
              <a:spcAft>
                <a:spcPts val="0"/>
              </a:spcAft>
              <a:buSzPts val="2800"/>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Sample</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21" name="Google Shape;221;p27"/>
          <p:cNvPicPr preferRelativeResize="0"/>
          <p:nvPr/>
        </p:nvPicPr>
        <p:blipFill rotWithShape="1">
          <a:blip r:embed="rId1"/>
          <a:srcRect/>
          <a:stretch>
            <a:fillRect/>
          </a:stretch>
        </p:blipFill>
        <p:spPr>
          <a:xfrm>
            <a:off x="3657600" y="2919412"/>
            <a:ext cx="1371600" cy="989012"/>
          </a:xfrm>
          <a:prstGeom prst="rect">
            <a:avLst/>
          </a:prstGeom>
          <a:noFill/>
          <a:ln>
            <a:noFill/>
          </a:ln>
        </p:spPr>
      </p:pic>
      <p:pic>
        <p:nvPicPr>
          <p:cNvPr id="222" name="Google Shape;222;p27"/>
          <p:cNvPicPr preferRelativeResize="0"/>
          <p:nvPr/>
        </p:nvPicPr>
        <p:blipFill rotWithShape="1">
          <a:blip r:embed="rId2"/>
          <a:srcRect/>
          <a:stretch>
            <a:fillRect/>
          </a:stretch>
        </p:blipFill>
        <p:spPr>
          <a:xfrm>
            <a:off x="3657600" y="5053012"/>
            <a:ext cx="1447800" cy="996950"/>
          </a:xfrm>
          <a:prstGeom prst="rect">
            <a:avLst/>
          </a:prstGeom>
          <a:noFill/>
          <a:ln>
            <a:noFill/>
          </a:ln>
        </p:spPr>
      </p:pic>
      <p:sp>
        <p:nvSpPr>
          <p:cNvPr id="223" name="Google Shape;223;p27"/>
          <p:cNvSpPr txBox="1"/>
          <p:nvPr/>
        </p:nvSpPr>
        <p:spPr>
          <a:xfrm>
            <a:off x="2286000" y="3224212"/>
            <a:ext cx="11430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panose="020B0604030504040204"/>
              <a:buNone/>
            </a:pPr>
            <a:r>
              <a:rPr lang="en-US" sz="2400" b="0" i="0" u="none">
                <a:solidFill>
                  <a:schemeClr val="dk1"/>
                </a:solidFill>
                <a:latin typeface="Tahoma" panose="020B0604030504040204"/>
                <a:ea typeface="Tahoma" panose="020B0604030504040204"/>
                <a:cs typeface="Tahoma" panose="020B0604030504040204"/>
                <a:sym typeface="Tahoma" panose="020B0604030504040204"/>
              </a:rPr>
              <a:t>“mu”</a:t>
            </a:r>
            <a:endParaRPr lang="en-US" sz="2400" b="0" i="0" u="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24" name="Google Shape;224;p27"/>
          <p:cNvSpPr txBox="1"/>
          <p:nvPr/>
        </p:nvSpPr>
        <p:spPr>
          <a:xfrm>
            <a:off x="1828800" y="5357812"/>
            <a:ext cx="11430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panose="020B0604030504040204"/>
              <a:buNone/>
            </a:pPr>
            <a:r>
              <a:rPr lang="en-US" sz="2400" b="0" i="0" u="none">
                <a:solidFill>
                  <a:schemeClr val="dk1"/>
                </a:solidFill>
                <a:latin typeface="Tahoma" panose="020B0604030504040204"/>
                <a:ea typeface="Tahoma" panose="020B0604030504040204"/>
                <a:cs typeface="Tahoma" panose="020B0604030504040204"/>
                <a:sym typeface="Tahoma" panose="020B0604030504040204"/>
              </a:rPr>
              <a:t>“X bar”</a:t>
            </a:r>
            <a:endParaRPr lang="en-US" sz="2400" b="0" i="0" u="none">
              <a:solidFill>
                <a:schemeClr val="dk1"/>
              </a:solidFill>
              <a:latin typeface="Tahoma" panose="020B0604030504040204"/>
              <a:ea typeface="Tahoma" panose="020B0604030504040204"/>
              <a:cs typeface="Tahoma" panose="020B0604030504040204"/>
              <a:sym typeface="Tahoma" panose="020B0604030504040204"/>
            </a:endParaRPr>
          </a:p>
        </p:txBody>
      </p:sp>
      <p:cxnSp>
        <p:nvCxnSpPr>
          <p:cNvPr id="225" name="Google Shape;225;p27"/>
          <p:cNvCxnSpPr/>
          <p:nvPr/>
        </p:nvCxnSpPr>
        <p:spPr>
          <a:xfrm>
            <a:off x="3200400" y="3452812"/>
            <a:ext cx="381000" cy="0"/>
          </a:xfrm>
          <a:prstGeom prst="straightConnector1">
            <a:avLst/>
          </a:prstGeom>
          <a:noFill/>
          <a:ln w="9525" cap="flat" cmpd="sng">
            <a:solidFill>
              <a:schemeClr val="dk1"/>
            </a:solidFill>
            <a:prstDash val="solid"/>
            <a:miter lim="800000"/>
            <a:headEnd type="none" w="med" len="med"/>
            <a:tailEnd type="triangle" w="med" len="med"/>
          </a:ln>
        </p:spPr>
      </p:cxnSp>
      <p:cxnSp>
        <p:nvCxnSpPr>
          <p:cNvPr id="226" name="Google Shape;226;p27"/>
          <p:cNvCxnSpPr/>
          <p:nvPr/>
        </p:nvCxnSpPr>
        <p:spPr>
          <a:xfrm>
            <a:off x="2971800" y="5586412"/>
            <a:ext cx="381000" cy="0"/>
          </a:xfrm>
          <a:prstGeom prst="straightConnector1">
            <a:avLst/>
          </a:prstGeom>
          <a:noFill/>
          <a:ln w="9525" cap="flat" cmpd="sng">
            <a:solidFill>
              <a:schemeClr val="dk1"/>
            </a:solidFill>
            <a:prstDash val="solid"/>
            <a:miter lim="800000"/>
            <a:headEnd type="none" w="med" len="med"/>
            <a:tailEnd type="triangle" w="med" len="med"/>
          </a:ln>
        </p:spPr>
      </p:cxnSp>
      <p:cxnSp>
        <p:nvCxnSpPr>
          <p:cNvPr id="227" name="Google Shape;227;p27"/>
          <p:cNvCxnSpPr/>
          <p:nvPr/>
        </p:nvCxnSpPr>
        <p:spPr>
          <a:xfrm flipH="1">
            <a:off x="4648200" y="4595812"/>
            <a:ext cx="304800" cy="457200"/>
          </a:xfrm>
          <a:prstGeom prst="straightConnector1">
            <a:avLst/>
          </a:prstGeom>
          <a:noFill/>
          <a:ln w="9525" cap="flat" cmpd="sng">
            <a:solidFill>
              <a:schemeClr val="dk1"/>
            </a:solidFill>
            <a:prstDash val="solid"/>
            <a:miter lim="800000"/>
            <a:headEnd type="none" w="med" len="med"/>
            <a:tailEnd type="triangle" w="med" len="med"/>
          </a:ln>
        </p:spPr>
      </p:cxnSp>
      <p:sp>
        <p:nvSpPr>
          <p:cNvPr id="228" name="Google Shape;228;p27"/>
          <p:cNvSpPr txBox="1"/>
          <p:nvPr/>
        </p:nvSpPr>
        <p:spPr>
          <a:xfrm>
            <a:off x="4991100" y="1949450"/>
            <a:ext cx="4267200" cy="822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panose="020B0604030504040204"/>
              <a:buNone/>
            </a:pPr>
            <a:r>
              <a:rPr lang="en-US" sz="2400" b="0" i="0" u="none">
                <a:solidFill>
                  <a:schemeClr val="dk1"/>
                </a:solidFill>
                <a:latin typeface="Tahoma" panose="020B0604030504040204"/>
                <a:ea typeface="Tahoma" panose="020B0604030504040204"/>
                <a:cs typeface="Tahoma" panose="020B0604030504040204"/>
                <a:sym typeface="Tahoma" panose="020B0604030504040204"/>
              </a:rPr>
              <a:t>“sigma”, the sum of X, add up all scores</a:t>
            </a:r>
            <a:endParaRPr lang="en-US" sz="2400" b="0" i="0" u="none">
              <a:solidFill>
                <a:schemeClr val="dk1"/>
              </a:solidFill>
              <a:latin typeface="Tahoma" panose="020B0604030504040204"/>
              <a:ea typeface="Tahoma" panose="020B0604030504040204"/>
              <a:cs typeface="Tahoma" panose="020B0604030504040204"/>
              <a:sym typeface="Tahoma" panose="020B0604030504040204"/>
            </a:endParaRPr>
          </a:p>
        </p:txBody>
      </p:sp>
      <p:cxnSp>
        <p:nvCxnSpPr>
          <p:cNvPr id="229" name="Google Shape;229;p27"/>
          <p:cNvCxnSpPr/>
          <p:nvPr/>
        </p:nvCxnSpPr>
        <p:spPr>
          <a:xfrm rot="10800000">
            <a:off x="4876800" y="5891212"/>
            <a:ext cx="685800" cy="152400"/>
          </a:xfrm>
          <a:prstGeom prst="straightConnector1">
            <a:avLst/>
          </a:prstGeom>
          <a:noFill/>
          <a:ln w="9525" cap="flat" cmpd="sng">
            <a:solidFill>
              <a:schemeClr val="dk1"/>
            </a:solidFill>
            <a:prstDash val="solid"/>
            <a:miter lim="800000"/>
            <a:headEnd type="none" w="med" len="med"/>
            <a:tailEnd type="triangle" w="med" len="med"/>
          </a:ln>
        </p:spPr>
      </p:cxnSp>
      <p:sp>
        <p:nvSpPr>
          <p:cNvPr id="230" name="Google Shape;230;p27"/>
          <p:cNvSpPr txBox="1"/>
          <p:nvPr/>
        </p:nvSpPr>
        <p:spPr>
          <a:xfrm>
            <a:off x="5715000" y="5967412"/>
            <a:ext cx="3124200" cy="822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panose="020B0604030504040204"/>
              <a:buNone/>
            </a:pPr>
            <a:r>
              <a:rPr lang="en-US" sz="2400" b="0" i="0" u="none">
                <a:solidFill>
                  <a:schemeClr val="dk1"/>
                </a:solidFill>
                <a:latin typeface="Tahoma" panose="020B0604030504040204"/>
                <a:ea typeface="Tahoma" panose="020B0604030504040204"/>
                <a:cs typeface="Tahoma" panose="020B0604030504040204"/>
                <a:sym typeface="Tahoma" panose="020B0604030504040204"/>
              </a:rPr>
              <a:t>“n”, the total number of scores in a sample</a:t>
            </a:r>
            <a:endParaRPr lang="en-US" sz="2400" b="0" i="0" u="none">
              <a:solidFill>
                <a:schemeClr val="dk1"/>
              </a:solidFill>
              <a:latin typeface="Tahoma" panose="020B0604030504040204"/>
              <a:ea typeface="Tahoma" panose="020B0604030504040204"/>
              <a:cs typeface="Tahoma" panose="020B0604030504040204"/>
              <a:sym typeface="Tahoma" panose="020B0604030504040204"/>
            </a:endParaRPr>
          </a:p>
        </p:txBody>
      </p:sp>
      <p:cxnSp>
        <p:nvCxnSpPr>
          <p:cNvPr id="231" name="Google Shape;231;p27"/>
          <p:cNvCxnSpPr/>
          <p:nvPr/>
        </p:nvCxnSpPr>
        <p:spPr>
          <a:xfrm flipH="1">
            <a:off x="4648200" y="2309812"/>
            <a:ext cx="381000" cy="609600"/>
          </a:xfrm>
          <a:prstGeom prst="straightConnector1">
            <a:avLst/>
          </a:prstGeom>
          <a:noFill/>
          <a:ln w="9525" cap="flat" cmpd="sng">
            <a:solidFill>
              <a:schemeClr val="dk1"/>
            </a:solidFill>
            <a:prstDash val="solid"/>
            <a:miter lim="800000"/>
            <a:headEnd type="none" w="med" len="med"/>
            <a:tailEnd type="triangle" w="med" len="med"/>
          </a:ln>
        </p:spPr>
      </p:cxnSp>
      <p:sp>
        <p:nvSpPr>
          <p:cNvPr id="232" name="Google Shape;232;p27"/>
          <p:cNvSpPr txBox="1"/>
          <p:nvPr/>
        </p:nvSpPr>
        <p:spPr>
          <a:xfrm>
            <a:off x="5105400" y="3148012"/>
            <a:ext cx="3505200" cy="822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panose="020B0604030504040204"/>
              <a:buNone/>
            </a:pPr>
            <a:r>
              <a:rPr lang="en-US" sz="2400" b="0" i="0" u="none">
                <a:solidFill>
                  <a:schemeClr val="dk1"/>
                </a:solidFill>
                <a:latin typeface="Tahoma" panose="020B0604030504040204"/>
                <a:ea typeface="Tahoma" panose="020B0604030504040204"/>
                <a:cs typeface="Tahoma" panose="020B0604030504040204"/>
                <a:sym typeface="Tahoma" panose="020B0604030504040204"/>
              </a:rPr>
              <a:t>“N”, the total number of scores in a population</a:t>
            </a:r>
            <a:endParaRPr lang="en-US" sz="2400" b="0" i="0" u="none">
              <a:solidFill>
                <a:schemeClr val="dk1"/>
              </a:solidFill>
              <a:latin typeface="Tahoma" panose="020B0604030504040204"/>
              <a:ea typeface="Tahoma" panose="020B0604030504040204"/>
              <a:cs typeface="Tahoma" panose="020B0604030504040204"/>
              <a:sym typeface="Tahoma" panose="020B0604030504040204"/>
            </a:endParaRPr>
          </a:p>
        </p:txBody>
      </p:sp>
      <p:cxnSp>
        <p:nvCxnSpPr>
          <p:cNvPr id="233" name="Google Shape;233;p27"/>
          <p:cNvCxnSpPr/>
          <p:nvPr/>
        </p:nvCxnSpPr>
        <p:spPr>
          <a:xfrm flipH="1">
            <a:off x="4800600" y="3452812"/>
            <a:ext cx="381000" cy="228600"/>
          </a:xfrm>
          <a:prstGeom prst="straightConnector1">
            <a:avLst/>
          </a:prstGeom>
          <a:noFill/>
          <a:ln w="9525" cap="flat" cmpd="sng">
            <a:solidFill>
              <a:schemeClr val="dk1"/>
            </a:solidFill>
            <a:prstDash val="solid"/>
            <a:miter lim="800000"/>
            <a:headEnd type="none" w="med" len="med"/>
            <a:tailEnd type="triangle" w="med" len="med"/>
          </a:ln>
        </p:spPr>
      </p:cxnSp>
      <p:sp>
        <p:nvSpPr>
          <p:cNvPr id="234" name="Google Shape;234;p27"/>
          <p:cNvSpPr txBox="1"/>
          <p:nvPr/>
        </p:nvSpPr>
        <p:spPr>
          <a:xfrm>
            <a:off x="4876800" y="4138612"/>
            <a:ext cx="4267200" cy="822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panose="020B0604030504040204"/>
              <a:buNone/>
            </a:pPr>
            <a:r>
              <a:rPr lang="en-US" sz="2400" b="0" i="0" u="none">
                <a:solidFill>
                  <a:schemeClr val="dk1"/>
                </a:solidFill>
                <a:latin typeface="Tahoma" panose="020B0604030504040204"/>
                <a:ea typeface="Tahoma" panose="020B0604030504040204"/>
                <a:cs typeface="Tahoma" panose="020B0604030504040204"/>
                <a:sym typeface="Tahoma" panose="020B0604030504040204"/>
              </a:rPr>
              <a:t>“sigma”, the sum of X, add up all scores</a:t>
            </a:r>
            <a:endParaRPr lang="en-US" sz="2400" b="0" i="0" u="none">
              <a:solidFill>
                <a:schemeClr val="dk1"/>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38" name="Shape 238"/>
        <p:cNvGrpSpPr/>
        <p:nvPr/>
      </p:nvGrpSpPr>
      <p:grpSpPr>
        <a:xfrm>
          <a:off x="0" y="0"/>
          <a:ext cx="0" cy="0"/>
          <a:chOff x="0" y="0"/>
          <a:chExt cx="0" cy="0"/>
        </a:xfrm>
      </p:grpSpPr>
      <p:sp>
        <p:nvSpPr>
          <p:cNvPr id="239" name="Google Shape;239;p28"/>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Mean formula:</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0" name="Google Shape;240;p28"/>
          <p:cNvSpPr txBox="1"/>
          <p:nvPr/>
        </p:nvSpPr>
        <p:spPr>
          <a:xfrm>
            <a:off x="0" y="0"/>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1" name="Google Shape;241;p28"/>
          <p:cNvPicPr preferRelativeResize="0"/>
          <p:nvPr/>
        </p:nvPicPr>
        <p:blipFill rotWithShape="1">
          <a:blip r:embed="rId1"/>
          <a:srcRect/>
          <a:stretch>
            <a:fillRect/>
          </a:stretch>
        </p:blipFill>
        <p:spPr>
          <a:xfrm>
            <a:off x="0" y="2438400"/>
            <a:ext cx="8713787" cy="1381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46" name="Shape 246"/>
        <p:cNvGrpSpPr/>
        <p:nvPr/>
      </p:nvGrpSpPr>
      <p:grpSpPr>
        <a:xfrm>
          <a:off x="0" y="0"/>
          <a:ext cx="0" cy="0"/>
          <a:chOff x="0" y="0"/>
          <a:chExt cx="0" cy="0"/>
        </a:xfrm>
      </p:grpSpPr>
      <p:sp>
        <p:nvSpPr>
          <p:cNvPr id="247" name="Google Shape;247;p29"/>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Calculating Mean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8" name="Google Shape;248;p29"/>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1800"/>
              <a:buChar char="•"/>
            </a:pPr>
            <a:r>
              <a:rPr lang="en-US" sz="1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52, 76, 100, 136, 186, 196, 205, 150, 257,</a:t>
            </a:r>
            <a:r>
              <a:rPr lang="en-US" sz="1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264, 264, 280, 282, 283, 303, 313, 317, 317, 325, 373, 384, 384, 400, 402, 417, 422, 472, 480, 643, 693, 732, 749, 750, 791, 891</a:t>
            </a:r>
            <a:endParaRPr lang="en-US" sz="1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560"/>
              </a:spcBef>
              <a:spcAft>
                <a:spcPts val="0"/>
              </a:spcAft>
              <a:buSzPts val="2800"/>
              <a:buChar char="•"/>
            </a:pPr>
            <a:r>
              <a:rPr lang="en-US" sz="2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Mean hotel rate:</a:t>
            </a:r>
            <a:endParaRPr lang="en-US" sz="2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133350" algn="l" rtl="0">
              <a:lnSpc>
                <a:spcPct val="100000"/>
              </a:lnSpc>
              <a:spcBef>
                <a:spcPts val="480"/>
              </a:spcBef>
              <a:spcAft>
                <a:spcPts val="0"/>
              </a:spcAft>
              <a:buSzPts val="2400"/>
              <a:buNone/>
            </a:pPr>
            <a:endParaRPr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133350" algn="l" rtl="0">
              <a:lnSpc>
                <a:spcPct val="100000"/>
              </a:lnSpc>
              <a:spcBef>
                <a:spcPts val="480"/>
              </a:spcBef>
              <a:spcAft>
                <a:spcPts val="0"/>
              </a:spcAft>
              <a:buSzPts val="2400"/>
              <a:buNone/>
            </a:pPr>
            <a:endParaRPr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Mean hotel rate: </a:t>
            </a: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$371.60</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9" name="Google Shape;249;p29"/>
          <p:cNvPicPr preferRelativeResize="0"/>
          <p:nvPr/>
        </p:nvPicPr>
        <p:blipFill rotWithShape="1">
          <a:blip r:embed="rId1"/>
          <a:srcRect/>
          <a:stretch>
            <a:fillRect/>
          </a:stretch>
        </p:blipFill>
        <p:spPr>
          <a:xfrm>
            <a:off x="1598612" y="4495800"/>
            <a:ext cx="2670175" cy="803275"/>
          </a:xfrm>
          <a:prstGeom prst="rect">
            <a:avLst/>
          </a:prstGeom>
          <a:noFill/>
          <a:ln>
            <a:noFill/>
          </a:ln>
        </p:spPr>
      </p:pic>
      <p:pic>
        <p:nvPicPr>
          <p:cNvPr id="250" name="Google Shape;250;p29"/>
          <p:cNvPicPr preferRelativeResize="0"/>
          <p:nvPr/>
        </p:nvPicPr>
        <p:blipFill rotWithShape="1">
          <a:blip r:embed="rId2"/>
          <a:srcRect/>
          <a:stretch>
            <a:fillRect/>
          </a:stretch>
        </p:blipFill>
        <p:spPr>
          <a:xfrm>
            <a:off x="1600200" y="3429000"/>
            <a:ext cx="1447800" cy="996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30"/>
          <p:cNvSpPr txBox="1"/>
          <p:nvPr/>
        </p:nvSpPr>
        <p:spPr>
          <a:xfrm>
            <a:off x="685800" y="566737"/>
            <a:ext cx="77724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B050"/>
              </a:buClr>
              <a:buSzPts val="4400"/>
              <a:buFont typeface="Times New Roman" panose="02020603050405020304"/>
              <a:buNone/>
            </a:pPr>
            <a:r>
              <a:rPr lang="en-US" sz="4400" b="1" i="0" u="none">
                <a:solidFill>
                  <a:srgbClr val="00B050"/>
                </a:solidFill>
                <a:latin typeface="Times New Roman" panose="02020603050405020304"/>
                <a:ea typeface="Times New Roman" panose="02020603050405020304"/>
                <a:cs typeface="Times New Roman" panose="02020603050405020304"/>
                <a:sym typeface="Times New Roman" panose="02020603050405020304"/>
              </a:rPr>
              <a:t>Mean affected by extreme values</a:t>
            </a:r>
            <a:endParaRPr lang="en-US" sz="4400" b="1" i="0" u="none">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6" name="Google Shape;256;p30"/>
          <p:cNvSpPr/>
          <p:nvPr/>
        </p:nvSpPr>
        <p:spPr>
          <a:xfrm rot="-5400000">
            <a:off x="5997575" y="5829300"/>
            <a:ext cx="609600" cy="228600"/>
          </a:xfrm>
          <a:prstGeom prst="rightArrow">
            <a:avLst>
              <a:gd name="adj1" fmla="val 16162"/>
              <a:gd name="adj2" fmla="val 50000"/>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57" name="Google Shape;257;p30"/>
          <p:cNvCxnSpPr/>
          <p:nvPr/>
        </p:nvCxnSpPr>
        <p:spPr>
          <a:xfrm>
            <a:off x="635000" y="5410200"/>
            <a:ext cx="3368675" cy="0"/>
          </a:xfrm>
          <a:prstGeom prst="straightConnector1">
            <a:avLst/>
          </a:prstGeom>
          <a:noFill/>
          <a:ln w="12700" cap="flat" cmpd="sng">
            <a:solidFill>
              <a:srgbClr val="FFFFCC"/>
            </a:solidFill>
            <a:prstDash val="solid"/>
            <a:miter lim="800000"/>
            <a:headEnd type="none" w="med" len="med"/>
            <a:tailEnd type="none" w="med" len="med"/>
          </a:ln>
        </p:spPr>
      </p:cxnSp>
      <p:cxnSp>
        <p:nvCxnSpPr>
          <p:cNvPr id="258" name="Google Shape;258;p30"/>
          <p:cNvCxnSpPr/>
          <p:nvPr/>
        </p:nvCxnSpPr>
        <p:spPr>
          <a:xfrm>
            <a:off x="4597400" y="5410200"/>
            <a:ext cx="3851275" cy="0"/>
          </a:xfrm>
          <a:prstGeom prst="straightConnector1">
            <a:avLst/>
          </a:prstGeom>
          <a:noFill/>
          <a:ln w="12700" cap="flat" cmpd="sng">
            <a:solidFill>
              <a:srgbClr val="FFFFCC"/>
            </a:solidFill>
            <a:prstDash val="solid"/>
            <a:miter lim="800000"/>
            <a:headEnd type="none" w="med" len="med"/>
            <a:tailEnd type="none" w="med" len="med"/>
          </a:ln>
        </p:spPr>
      </p:cxnSp>
      <p:sp>
        <p:nvSpPr>
          <p:cNvPr id="259" name="Google Shape;259;p30"/>
          <p:cNvSpPr txBox="1"/>
          <p:nvPr/>
        </p:nvSpPr>
        <p:spPr>
          <a:xfrm>
            <a:off x="468312" y="5329237"/>
            <a:ext cx="3971925" cy="363537"/>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0   1   2   3   4   5   6   7   8   9   10</a:t>
            </a:r>
            <a:endParaRPr lang="en-US" sz="1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0" name="Google Shape;260;p30"/>
          <p:cNvSpPr txBox="1"/>
          <p:nvPr/>
        </p:nvSpPr>
        <p:spPr>
          <a:xfrm>
            <a:off x="4430712" y="5329237"/>
            <a:ext cx="4276725" cy="363537"/>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1800"/>
              <a:buFont typeface="Times New Roman" panose="02020603050405020304"/>
              <a:buNone/>
            </a:pPr>
            <a:r>
              <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0   1   2   3   4   5   6   7   8   9   10   12   14      </a:t>
            </a:r>
            <a:endPar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1" name="Google Shape;261;p30"/>
          <p:cNvSpPr txBox="1"/>
          <p:nvPr/>
        </p:nvSpPr>
        <p:spPr>
          <a:xfrm>
            <a:off x="549275" y="5181600"/>
            <a:ext cx="314325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2" name="Google Shape;262;p30"/>
          <p:cNvSpPr/>
          <p:nvPr/>
        </p:nvSpPr>
        <p:spPr>
          <a:xfrm>
            <a:off x="7778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3" name="Google Shape;263;p30"/>
          <p:cNvSpPr/>
          <p:nvPr/>
        </p:nvSpPr>
        <p:spPr>
          <a:xfrm>
            <a:off x="13874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4" name="Google Shape;264;p30"/>
          <p:cNvSpPr/>
          <p:nvPr/>
        </p:nvSpPr>
        <p:spPr>
          <a:xfrm>
            <a:off x="19208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5" name="Google Shape;265;p30"/>
          <p:cNvSpPr/>
          <p:nvPr/>
        </p:nvSpPr>
        <p:spPr>
          <a:xfrm>
            <a:off x="25304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6" name="Google Shape;266;p30"/>
          <p:cNvSpPr/>
          <p:nvPr/>
        </p:nvSpPr>
        <p:spPr>
          <a:xfrm>
            <a:off x="30638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7" name="Google Shape;267;p30"/>
          <p:cNvSpPr/>
          <p:nvPr/>
        </p:nvSpPr>
        <p:spPr>
          <a:xfrm>
            <a:off x="47402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8" name="Google Shape;268;p30"/>
          <p:cNvSpPr/>
          <p:nvPr/>
        </p:nvSpPr>
        <p:spPr>
          <a:xfrm>
            <a:off x="52736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9" name="Google Shape;269;p30"/>
          <p:cNvSpPr/>
          <p:nvPr/>
        </p:nvSpPr>
        <p:spPr>
          <a:xfrm>
            <a:off x="58832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0" name="Google Shape;270;p30"/>
          <p:cNvSpPr/>
          <p:nvPr/>
        </p:nvSpPr>
        <p:spPr>
          <a:xfrm>
            <a:off x="64166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1" name="Google Shape;271;p30"/>
          <p:cNvSpPr/>
          <p:nvPr/>
        </p:nvSpPr>
        <p:spPr>
          <a:xfrm>
            <a:off x="8169275" y="518160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2" name="Google Shape;272;p30"/>
          <p:cNvSpPr/>
          <p:nvPr/>
        </p:nvSpPr>
        <p:spPr>
          <a:xfrm rot="-5400000">
            <a:off x="1730375" y="5829300"/>
            <a:ext cx="609600" cy="228600"/>
          </a:xfrm>
          <a:prstGeom prst="rightArrow">
            <a:avLst>
              <a:gd name="adj1" fmla="val 16162"/>
              <a:gd name="adj2" fmla="val 50000"/>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3" name="Google Shape;273;p30"/>
          <p:cNvSpPr txBox="1"/>
          <p:nvPr/>
        </p:nvSpPr>
        <p:spPr>
          <a:xfrm>
            <a:off x="2297112" y="5938837"/>
            <a:ext cx="1685925" cy="454025"/>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Mean = 5</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4" name="Google Shape;274;p30"/>
          <p:cNvSpPr txBox="1"/>
          <p:nvPr/>
        </p:nvSpPr>
        <p:spPr>
          <a:xfrm>
            <a:off x="6564312" y="5938837"/>
            <a:ext cx="1533525" cy="454025"/>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Mean = 6</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75" name="Google Shape;275;p30"/>
          <p:cNvCxnSpPr/>
          <p:nvPr/>
        </p:nvCxnSpPr>
        <p:spPr>
          <a:xfrm rot="10800000" flipH="1">
            <a:off x="549275" y="5400675"/>
            <a:ext cx="3117850" cy="9525"/>
          </a:xfrm>
          <a:prstGeom prst="straightConnector1">
            <a:avLst/>
          </a:prstGeom>
          <a:noFill/>
          <a:ln w="12700" cap="flat" cmpd="sng">
            <a:solidFill>
              <a:schemeClr val="dk1"/>
            </a:solidFill>
            <a:prstDash val="solid"/>
            <a:miter lim="800000"/>
            <a:headEnd type="none" w="med" len="med"/>
            <a:tailEnd type="none" w="med" len="med"/>
          </a:ln>
        </p:spPr>
      </p:cxnSp>
      <p:cxnSp>
        <p:nvCxnSpPr>
          <p:cNvPr id="276" name="Google Shape;276;p30"/>
          <p:cNvCxnSpPr/>
          <p:nvPr/>
        </p:nvCxnSpPr>
        <p:spPr>
          <a:xfrm rot="10800000" flipH="1">
            <a:off x="4445000" y="5419725"/>
            <a:ext cx="4060825" cy="9525"/>
          </a:xfrm>
          <a:prstGeom prst="straightConnector1">
            <a:avLst/>
          </a:prstGeom>
          <a:noFill/>
          <a:ln w="12700" cap="flat" cmpd="sng">
            <a:solidFill>
              <a:schemeClr val="dk1"/>
            </a:solidFill>
            <a:prstDash val="solid"/>
            <a:miter lim="800000"/>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When To Use the Mean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31"/>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You should use the mean when</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data are interval or ratio scaled</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143000" lvl="2" indent="-228600" algn="l" rtl="0">
              <a:lnSpc>
                <a:spcPct val="100000"/>
              </a:lnSpc>
              <a:spcBef>
                <a:spcPts val="480"/>
              </a:spcBef>
              <a:spcAft>
                <a:spcPts val="0"/>
              </a:spcAft>
              <a:buClr>
                <a:schemeClr val="dk1"/>
              </a:buClr>
              <a:buSzPts val="2400"/>
              <a:buFont typeface="Times New Roman" panose="02020603050405020304"/>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Many people use the mean with ordinally scaled data too</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and the data are not skewed</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mean is preferred because it is sensitive to every score</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If you change one score in the data set, the mean will change</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87" name="Shape 287"/>
        <p:cNvGrpSpPr/>
        <p:nvPr/>
      </p:nvGrpSpPr>
      <p:grpSpPr>
        <a:xfrm>
          <a:off x="0" y="0"/>
          <a:ext cx="0" cy="0"/>
          <a:chOff x="0" y="0"/>
          <a:chExt cx="0" cy="0"/>
        </a:xfrm>
      </p:grpSpPr>
      <p:sp>
        <p:nvSpPr>
          <p:cNvPr id="288" name="Google Shape;288;p32"/>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Pros and Cons of the Mean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9" name="Google Shape;289;p32"/>
          <p:cNvSpPr txBox="1"/>
          <p:nvPr>
            <p:ph type="body" idx="1"/>
          </p:nvPr>
        </p:nvSpPr>
        <p:spPr>
          <a:xfrm>
            <a:off x="838200" y="1905000"/>
            <a:ext cx="3925887" cy="4191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Pros</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00"/>
              </a:spcBef>
              <a:spcAft>
                <a:spcPts val="0"/>
              </a:spcAft>
              <a:buSzPts val="2000"/>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Mathematical center of a distribution.</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00"/>
              </a:spcBef>
              <a:spcAft>
                <a:spcPts val="0"/>
              </a:spcAft>
              <a:buSzPts val="2000"/>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Good for interval and ratio data.</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00"/>
              </a:spcBef>
              <a:spcAft>
                <a:spcPts val="0"/>
              </a:spcAft>
              <a:buSzPts val="2000"/>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Does not ignore any information.</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00"/>
              </a:spcBef>
              <a:spcAft>
                <a:spcPts val="0"/>
              </a:spcAft>
              <a:buSzPts val="2000"/>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Inferential statistics is based on mathematical properties of the mean.</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00"/>
              </a:spcBef>
              <a:spcAft>
                <a:spcPts val="0"/>
              </a:spcAft>
              <a:buSzPts val="2000"/>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It is unique - there is only one answer.</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00"/>
              </a:spcBef>
              <a:spcAft>
                <a:spcPts val="0"/>
              </a:spcAft>
              <a:buSzPts val="2000"/>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Useful when comparing sets of data.</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0" name="Google Shape;290;p32"/>
          <p:cNvSpPr txBox="1"/>
          <p:nvPr>
            <p:ph type="body" idx="1"/>
          </p:nvPr>
        </p:nvSpPr>
        <p:spPr>
          <a:xfrm>
            <a:off x="4919662" y="1905000"/>
            <a:ext cx="3925887" cy="4191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Cons</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00"/>
              </a:spcBef>
              <a:spcAft>
                <a:spcPts val="0"/>
              </a:spcAft>
              <a:buSzPts val="2000"/>
              <a:buChar char="•"/>
            </a:pPr>
            <a:r>
              <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Influenced by extreme scores and skewed distributions.</a:t>
            </a:r>
            <a:endParaRPr lang="en-US" sz="2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94" name="Shape 294"/>
        <p:cNvGrpSpPr/>
        <p:nvPr/>
      </p:nvGrpSpPr>
      <p:grpSpPr>
        <a:xfrm>
          <a:off x="0" y="0"/>
          <a:ext cx="0" cy="0"/>
          <a:chOff x="0" y="0"/>
          <a:chExt cx="0" cy="0"/>
        </a:xfrm>
      </p:grpSpPr>
      <p:sp>
        <p:nvSpPr>
          <p:cNvPr id="295" name="Google Shape;295;p33"/>
          <p:cNvSpPr txBox="1"/>
          <p:nvPr/>
        </p:nvSpPr>
        <p:spPr>
          <a:xfrm>
            <a:off x="685800" y="566737"/>
            <a:ext cx="77724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Mean for Grouped Data</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96" name="Google Shape;296;p33"/>
          <p:cNvPicPr preferRelativeResize="0"/>
          <p:nvPr/>
        </p:nvPicPr>
        <p:blipFill rotWithShape="1">
          <a:blip r:embed="rId1"/>
          <a:srcRect/>
          <a:stretch>
            <a:fillRect/>
          </a:stretch>
        </p:blipFill>
        <p:spPr>
          <a:xfrm>
            <a:off x="1727200" y="2087562"/>
            <a:ext cx="3463925" cy="1682750"/>
          </a:xfrm>
          <a:prstGeom prst="rect">
            <a:avLst/>
          </a:prstGeom>
          <a:noFill/>
          <a:ln>
            <a:noFill/>
          </a:ln>
        </p:spPr>
      </p:pic>
      <p:sp>
        <p:nvSpPr>
          <p:cNvPr id="297" name="Google Shape;297;p33"/>
          <p:cNvSpPr txBox="1"/>
          <p:nvPr/>
        </p:nvSpPr>
        <p:spPr>
          <a:xfrm>
            <a:off x="685800" y="5846762"/>
            <a:ext cx="7078662" cy="889000"/>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where: </a:t>
            </a:r>
            <a:r>
              <a:rPr lang="en-US" sz="26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f X</a:t>
            </a:r>
            <a:r>
              <a:rPr lang="en-US" sz="26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 score multiplied by its frequency</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8" name="Google Shape;298;p33"/>
          <p:cNvSpPr txBox="1"/>
          <p:nvPr/>
        </p:nvSpPr>
        <p:spPr>
          <a:xfrm>
            <a:off x="913304" y="4245842"/>
            <a:ext cx="4926021" cy="1298112"/>
          </a:xfrm>
          <a:prstGeom prst="rect">
            <a:avLst/>
          </a:prstGeom>
          <a:blipFill rotWithShape="1">
            <a:blip r:embed="rId2"/>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2400"/>
              <a:buFont typeface="Times New Roman" panose="02020603050405020304"/>
              <a:buNone/>
            </a:pPr>
            <a:r>
              <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02" name="Shape 302"/>
        <p:cNvGrpSpPr/>
        <p:nvPr/>
      </p:nvGrpSpPr>
      <p:grpSpPr>
        <a:xfrm>
          <a:off x="0" y="0"/>
          <a:ext cx="0" cy="0"/>
          <a:chOff x="0" y="0"/>
          <a:chExt cx="0" cy="0"/>
        </a:xfrm>
      </p:grpSpPr>
      <p:pic>
        <p:nvPicPr>
          <p:cNvPr id="303" name="Google Shape;303;p34"/>
          <p:cNvPicPr preferRelativeResize="0"/>
          <p:nvPr/>
        </p:nvPicPr>
        <p:blipFill rotWithShape="1">
          <a:blip r:embed="rId1"/>
          <a:srcRect/>
          <a:stretch>
            <a:fillRect/>
          </a:stretch>
        </p:blipFill>
        <p:spPr>
          <a:xfrm>
            <a:off x="1358900" y="2090737"/>
            <a:ext cx="5443537" cy="4102100"/>
          </a:xfrm>
          <a:prstGeom prst="rect">
            <a:avLst/>
          </a:prstGeom>
          <a:noFill/>
          <a:ln>
            <a:noFill/>
          </a:ln>
        </p:spPr>
      </p:pic>
      <p:sp>
        <p:nvSpPr>
          <p:cNvPr id="304" name="Google Shape;304;p34"/>
          <p:cNvSpPr txBox="1"/>
          <p:nvPr/>
        </p:nvSpPr>
        <p:spPr>
          <a:xfrm>
            <a:off x="6986337" y="3905072"/>
            <a:ext cx="1905000" cy="1200329"/>
          </a:xfrm>
          <a:prstGeom prst="rect">
            <a:avLst/>
          </a:prstGeom>
          <a:blipFill rotWithShape="1">
            <a:blip r:embed="rId2"/>
            <a:stretch>
              <a:fillRect t="-4059" r="-2235" b="-1065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2400"/>
              <a:buFont typeface="Times New Roman" panose="02020603050405020304"/>
              <a:buNone/>
            </a:pPr>
            <a:r>
              <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sp>
        <p:nvSpPr>
          <p:cNvPr id="305" name="Google Shape;305;p34"/>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Calculating the Mean for Grouped Data</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
        <p:nvSpPr>
          <p:cNvPr id="310" name="Google Shape;310;p35"/>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Calculating the Mean for Grouped Data</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311" name="Google Shape;311;p35"/>
          <p:cNvGraphicFramePr/>
          <p:nvPr/>
        </p:nvGraphicFramePr>
        <p:xfrm>
          <a:off x="884237" y="2235200"/>
          <a:ext cx="6880150" cy="3000000"/>
        </p:xfrm>
        <a:graphic>
          <a:graphicData uri="http://schemas.openxmlformats.org/drawingml/2006/table">
            <a:tbl>
              <a:tblPr>
                <a:noFill/>
                <a:tableStyleId>{92D09641-B6B2-4153-873C-CECA441CCA84}</a:tableStyleId>
              </a:tblPr>
              <a:tblGrid>
                <a:gridCol w="982650"/>
                <a:gridCol w="982650"/>
                <a:gridCol w="982650"/>
                <a:gridCol w="984250"/>
                <a:gridCol w="982650"/>
                <a:gridCol w="982650"/>
                <a:gridCol w="982650"/>
              </a:tblGrid>
              <a:tr h="777875">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Class Interval</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10-25</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25-40</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40-55</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55-70</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70-85</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85-100</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r h="1050925">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Number of Students</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6</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6</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800"/>
                        <a:buFont typeface="Times New Roman" panose="020206030504050203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6</a:t>
                      </a:r>
                      <a:endPar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6200" marR="76200" marT="114300" marB="114300">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15" name="Shape 315"/>
        <p:cNvGrpSpPr/>
        <p:nvPr/>
      </p:nvGrpSpPr>
      <p:grpSpPr>
        <a:xfrm>
          <a:off x="0" y="0"/>
          <a:ext cx="0" cy="0"/>
          <a:chOff x="0" y="0"/>
          <a:chExt cx="0" cy="0"/>
        </a:xfrm>
      </p:grpSpPr>
      <p:sp>
        <p:nvSpPr>
          <p:cNvPr id="316" name="Google Shape;316;p36"/>
          <p:cNvSpPr txBox="1"/>
          <p:nvPr/>
        </p:nvSpPr>
        <p:spPr>
          <a:xfrm>
            <a:off x="6811877" y="4555969"/>
            <a:ext cx="1905000" cy="1200329"/>
          </a:xfrm>
          <a:prstGeom prst="rect">
            <a:avLst/>
          </a:prstGeom>
          <a:blipFill rotWithShape="1">
            <a:blip r:embed="rId1"/>
            <a:stretch>
              <a:fillRect t="-4059" r="-2235" b="-1065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2400"/>
              <a:buFont typeface="Times New Roman" panose="02020603050405020304"/>
              <a:buNone/>
            </a:pPr>
            <a:r>
              <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sp>
        <p:nvSpPr>
          <p:cNvPr id="317" name="Google Shape;317;p36"/>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Calculating the Mean for Grouped Data</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318" name="Google Shape;318;p36"/>
          <p:cNvGraphicFramePr/>
          <p:nvPr/>
        </p:nvGraphicFramePr>
        <p:xfrm>
          <a:off x="685800" y="2133600"/>
          <a:ext cx="6110275" cy="4533825"/>
        </p:xfrm>
        <a:graphic>
          <a:graphicData uri="http://schemas.openxmlformats.org/drawingml/2006/table">
            <a:tbl>
              <a:tblPr>
                <a:noFill/>
                <a:tableStyleId>{92D09641-B6B2-4153-873C-CECA441CCA84}</a:tableStyleId>
              </a:tblPr>
              <a:tblGrid>
                <a:gridCol w="1527175"/>
                <a:gridCol w="1589075"/>
                <a:gridCol w="1466850"/>
                <a:gridCol w="1527175"/>
              </a:tblGrid>
              <a:tr h="1163625">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Class Interval</a:t>
                      </a:r>
                      <a:endParaRPr lang="en-US"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Number of students </a:t>
                      </a:r>
                      <a:endParaRPr lang="en-US"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8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Class Mark </a:t>
                      </a:r>
                      <a:r>
                        <a:rPr lang="en-US" sz="3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(x</a:t>
                      </a:r>
                      <a:r>
                        <a:rPr lang="en-US" sz="32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3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3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3200"/>
                        <a:buFont typeface="Times New Roman" panose="02020603050405020304"/>
                        <a:buNone/>
                      </a:pPr>
                      <a:r>
                        <a:rPr lang="en-US" sz="3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32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3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x</a:t>
                      </a:r>
                      <a:r>
                        <a:rPr lang="en-US" sz="32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32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r h="481000">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10-25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17.5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r h="482600">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25-40</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32.5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97.5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r h="481000">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40-55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47.5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332.5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r h="481000">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55-70</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6</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62.5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375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r h="481000">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70-85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6</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77.5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465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r h="482600">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85-100</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6</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92.5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555</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r h="481000">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Total</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Σf</a:t>
                      </a:r>
                      <a:r>
                        <a:rPr lang="en-US" sz="1700" b="0"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30</a:t>
                      </a:r>
                      <a:endParaRPr lang="en-US"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c>
                  <a:txBody>
                    <a:bodyPr/>
                    <a:lstStyle/>
                    <a:p>
                      <a:pPr marL="0" marR="0" lvl="0" indent="0" algn="l" rtl="0">
                        <a:lnSpc>
                          <a:spcPct val="100000"/>
                        </a:lnSpc>
                        <a:spcBef>
                          <a:spcPts val="0"/>
                        </a:spcBef>
                        <a:spcAft>
                          <a:spcPts val="0"/>
                        </a:spcAft>
                        <a:buClr>
                          <a:schemeClr val="dk1"/>
                        </a:buClr>
                        <a:buSzPts val="1700"/>
                        <a:buFont typeface="Times New Roman" panose="02020603050405020304"/>
                        <a:buNone/>
                      </a:pPr>
                      <a:r>
                        <a:rPr lang="en-US" sz="17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Σf</a:t>
                      </a:r>
                      <a:r>
                        <a:rPr lang="en-US" sz="17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17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x</a:t>
                      </a:r>
                      <a:r>
                        <a:rPr lang="en-US" sz="17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17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1860</a:t>
                      </a:r>
                      <a:endParaRPr lang="en-US" sz="17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72950" marR="72950" marT="109425" marB="109425">
                    <a:lnL w="9525" cap="flat" cmpd="sng">
                      <a:solidFill>
                        <a:srgbClr val="444444"/>
                      </a:solidFill>
                      <a:prstDash val="solid"/>
                      <a:round/>
                      <a:headEnd type="none" w="sm" len="sm"/>
                      <a:tailEnd type="none" w="sm" len="sm"/>
                    </a:lnL>
                    <a:lnR w="9525" cap="flat" cmpd="sng">
                      <a:solidFill>
                        <a:srgbClr val="444444"/>
                      </a:solidFill>
                      <a:prstDash val="solid"/>
                      <a:round/>
                      <a:headEnd type="none" w="sm" len="sm"/>
                      <a:tailEnd type="none" w="sm" len="sm"/>
                    </a:lnR>
                    <a:lnT w="9525" cap="flat" cmpd="sng">
                      <a:solidFill>
                        <a:srgbClr val="444444"/>
                      </a:solidFill>
                      <a:prstDash val="solid"/>
                      <a:round/>
                      <a:headEnd type="none" w="sm" len="sm"/>
                      <a:tailEnd type="none" w="sm" len="sm"/>
                    </a:lnT>
                    <a:lnB w="9525" cap="flat" cmpd="sng">
                      <a:solidFill>
                        <a:srgbClr val="444444"/>
                      </a:solidFill>
                      <a:prstDash val="solid"/>
                      <a:round/>
                      <a:headEnd type="none" w="sm" len="sm"/>
                      <a:tailEnd type="none" w="sm" len="sm"/>
                    </a:lnB>
                    <a:solidFill>
                      <a:srgbClr val="F1ED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22" name="Shape 322"/>
        <p:cNvGrpSpPr/>
        <p:nvPr/>
      </p:nvGrpSpPr>
      <p:grpSpPr>
        <a:xfrm>
          <a:off x="0" y="0"/>
          <a:ext cx="0" cy="0"/>
          <a:chOff x="0" y="0"/>
          <a:chExt cx="0" cy="0"/>
        </a:xfrm>
      </p:grpSpPr>
      <p:sp>
        <p:nvSpPr>
          <p:cNvPr id="323" name="Google Shape;323;p37"/>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Weighted Mean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4" name="Google Shape;324;p37"/>
          <p:cNvSpPr txBox="1"/>
          <p:nvPr/>
        </p:nvSpPr>
        <p:spPr>
          <a:xfrm>
            <a:off x="833437" y="2262187"/>
            <a:ext cx="7624762" cy="2676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575760"/>
              </a:buClr>
              <a:buSzPts val="2400"/>
              <a:buFont typeface="Helvetica Neue" panose="020B0604020202020204"/>
              <a:buNone/>
            </a:pPr>
            <a:r>
              <a:rPr lang="en-US" sz="2400" b="0" i="0" u="none">
                <a:solidFill>
                  <a:srgbClr val="575760"/>
                </a:solidFill>
                <a:latin typeface="Helvetica Neue" panose="020B0604020202020204"/>
                <a:ea typeface="Helvetica Neue" panose="020B0604020202020204"/>
                <a:cs typeface="Helvetica Neue" panose="020B0604020202020204"/>
                <a:sym typeface="Helvetica Neue" panose="020B0604020202020204"/>
              </a:rPr>
              <a:t>A </a:t>
            </a:r>
            <a:r>
              <a:rPr lang="en-US" sz="2400" b="1" i="0" u="none">
                <a:solidFill>
                  <a:srgbClr val="575760"/>
                </a:solidFill>
                <a:latin typeface="Helvetica Neue" panose="020B0604020202020204"/>
                <a:ea typeface="Helvetica Neue" panose="020B0604020202020204"/>
                <a:cs typeface="Helvetica Neue" panose="020B0604020202020204"/>
                <a:sym typeface="Helvetica Neue" panose="020B0604020202020204"/>
              </a:rPr>
              <a:t>weighted mean </a:t>
            </a:r>
            <a:r>
              <a:rPr lang="en-US" sz="2400" b="0" i="0" u="none">
                <a:solidFill>
                  <a:srgbClr val="575760"/>
                </a:solidFill>
                <a:latin typeface="Helvetica Neue" panose="020B0604020202020204"/>
                <a:ea typeface="Helvetica Neue" panose="020B0604020202020204"/>
                <a:cs typeface="Helvetica Neue" panose="020B0604020202020204"/>
                <a:sym typeface="Helvetica Neue" panose="020B0604020202020204"/>
              </a:rPr>
              <a:t>is a kind of </a:t>
            </a:r>
            <a:r>
              <a:rPr lang="en-US" sz="2400" b="0" i="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1"/>
              </a:rPr>
              <a:t>average</a:t>
            </a:r>
            <a:r>
              <a:rPr lang="en-US" sz="2400" b="0" i="0" u="none">
                <a:solidFill>
                  <a:srgbClr val="575760"/>
                </a:solidFill>
                <a:latin typeface="Helvetica Neue" panose="020B0604020202020204"/>
                <a:ea typeface="Helvetica Neue" panose="020B0604020202020204"/>
                <a:cs typeface="Helvetica Neue" panose="020B0604020202020204"/>
                <a:sym typeface="Helvetica Neue" panose="020B0604020202020204"/>
              </a:rPr>
              <a:t>. Instead of each data point contributing equally to the final mean, some data points contribute more “weight” than others. If all the weights are equal, then the weighted mean equals the </a:t>
            </a:r>
            <a:r>
              <a:rPr lang="en-US" sz="2400" b="0" i="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2"/>
              </a:rPr>
              <a:t>arithmetic mean</a:t>
            </a:r>
            <a:r>
              <a:rPr lang="en-US" sz="2400" b="0" i="0" u="none">
                <a:solidFill>
                  <a:srgbClr val="575760"/>
                </a:solidFill>
                <a:latin typeface="Helvetica Neue" panose="020B0604020202020204"/>
                <a:ea typeface="Helvetica Neue" panose="020B0604020202020204"/>
                <a:cs typeface="Helvetica Neue" panose="020B0604020202020204"/>
                <a:sym typeface="Helvetica Neue" panose="020B0604020202020204"/>
              </a:rPr>
              <a:t>.Weighted means are very common in statistics, especially when studying </a:t>
            </a:r>
            <a:r>
              <a:rPr lang="en-US" sz="2400" b="0" i="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3"/>
              </a:rPr>
              <a:t>populations</a:t>
            </a:r>
            <a:r>
              <a:rPr lang="en-US" sz="2400" b="0" i="0" u="none">
                <a:solidFill>
                  <a:srgbClr val="575760"/>
                </a:solidFill>
                <a:latin typeface="Helvetica Neue" panose="020B0604020202020204"/>
                <a:ea typeface="Helvetica Neue" panose="020B0604020202020204"/>
                <a:cs typeface="Helvetica Neue" panose="020B0604020202020204"/>
                <a:sym typeface="Helvetica Neue" panose="020B0604020202020204"/>
              </a:rPr>
              <a:t>.</a:t>
            </a:r>
            <a:endParaRPr lang="en-US" sz="2400" b="0" i="0" u="none">
              <a:solidFill>
                <a:srgbClr val="575760"/>
              </a:solidFill>
              <a:latin typeface="Helvetica Neue" panose="020B0604020202020204"/>
              <a:ea typeface="Helvetica Neue" panose="020B0604020202020204"/>
              <a:cs typeface="Helvetica Neue" panose="020B0604020202020204"/>
              <a:sym typeface="Helvetica Neue"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28" name="Shape 328"/>
        <p:cNvGrpSpPr/>
        <p:nvPr/>
      </p:nvGrpSpPr>
      <p:grpSpPr>
        <a:xfrm>
          <a:off x="0" y="0"/>
          <a:ext cx="0" cy="0"/>
          <a:chOff x="0" y="0"/>
          <a:chExt cx="0" cy="0"/>
        </a:xfrm>
      </p:grpSpPr>
      <p:sp>
        <p:nvSpPr>
          <p:cNvPr id="329" name="Google Shape;329;p38"/>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Weighted Mean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30" name="Google Shape;330;p38"/>
          <p:cNvPicPr preferRelativeResize="0"/>
          <p:nvPr/>
        </p:nvPicPr>
        <p:blipFill rotWithShape="1">
          <a:blip r:embed="rId1"/>
          <a:srcRect/>
          <a:stretch>
            <a:fillRect/>
          </a:stretch>
        </p:blipFill>
        <p:spPr>
          <a:xfrm>
            <a:off x="1011237" y="2341562"/>
            <a:ext cx="6035675" cy="1636712"/>
          </a:xfrm>
          <a:prstGeom prst="rect">
            <a:avLst/>
          </a:prstGeom>
          <a:noFill/>
          <a:ln>
            <a:noFill/>
          </a:ln>
        </p:spPr>
      </p:pic>
      <p:pic>
        <p:nvPicPr>
          <p:cNvPr id="331" name="Google Shape;331;p38"/>
          <p:cNvPicPr preferRelativeResize="0"/>
          <p:nvPr/>
        </p:nvPicPr>
        <p:blipFill rotWithShape="1">
          <a:blip r:embed="rId2"/>
          <a:srcRect/>
          <a:stretch>
            <a:fillRect/>
          </a:stretch>
        </p:blipFill>
        <p:spPr>
          <a:xfrm>
            <a:off x="1868487" y="4291012"/>
            <a:ext cx="5178425" cy="1327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35" name="Shape 335"/>
        <p:cNvGrpSpPr/>
        <p:nvPr/>
      </p:nvGrpSpPr>
      <p:grpSpPr>
        <a:xfrm>
          <a:off x="0" y="0"/>
          <a:ext cx="0" cy="0"/>
          <a:chOff x="0" y="0"/>
          <a:chExt cx="0" cy="0"/>
        </a:xfrm>
      </p:grpSpPr>
      <p:sp>
        <p:nvSpPr>
          <p:cNvPr id="336" name="Google Shape;336;p39"/>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Oi"/>
              <a:buNone/>
            </a:pPr>
            <a:r>
              <a:rPr lang="en-US" sz="4400" b="0" i="0" u="none">
                <a:solidFill>
                  <a:srgbClr val="048404"/>
                </a:solidFill>
                <a:latin typeface="Arial" panose="020B0604020202020204" pitchFamily="34" charset="0"/>
                <a:ea typeface="Oi"/>
                <a:cs typeface="Arial" panose="020B0604020202020204" pitchFamily="34" charset="0"/>
                <a:sym typeface="Oi"/>
              </a:rPr>
              <a:t>Weighted Average</a:t>
            </a:r>
            <a:endParaRPr lang="en-US" sz="4400" b="0" i="0" u="none">
              <a:solidFill>
                <a:srgbClr val="048404"/>
              </a:solidFill>
              <a:latin typeface="Arial" panose="020B0604020202020204" pitchFamily="34" charset="0"/>
              <a:ea typeface="Oi"/>
              <a:cs typeface="Arial" panose="020B0604020202020204" pitchFamily="34" charset="0"/>
              <a:sym typeface="Oi"/>
            </a:endParaRPr>
          </a:p>
        </p:txBody>
      </p:sp>
      <p:sp>
        <p:nvSpPr>
          <p:cNvPr id="337" name="Google Shape;337;p39"/>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8000"/>
              </a:buClr>
              <a:buSzPts val="3200"/>
              <a:buFont typeface="Noto Sans Symbols"/>
              <a:buChar char="•"/>
            </a:pPr>
            <a:r>
              <a:rPr lang="en-US" sz="3200" b="0" i="0" u="none" strike="noStrike" cap="none">
                <a:solidFill>
                  <a:schemeClr val="dk1"/>
                </a:solidFill>
                <a:latin typeface="Arial" panose="020B0604020202020204" pitchFamily="34" charset="0"/>
                <a:ea typeface="Oi"/>
                <a:cs typeface="Arial" panose="020B0604020202020204" pitchFamily="34" charset="0"/>
                <a:sym typeface="Oi"/>
              </a:rPr>
              <a:t>For example, use a weighted average in the following situations:</a:t>
            </a:r>
            <a:endParaRPr lang="en-US" sz="3200" b="0" i="0" u="none" strike="noStrike" cap="none">
              <a:solidFill>
                <a:schemeClr val="dk1"/>
              </a:solidFill>
              <a:latin typeface="Arial" panose="020B0604020202020204" pitchFamily="34" charset="0"/>
              <a:ea typeface="Oi"/>
              <a:cs typeface="Arial" panose="020B0604020202020204" pitchFamily="34" charset="0"/>
              <a:sym typeface="Oi"/>
            </a:endParaRPr>
          </a:p>
          <a:p>
            <a:pPr marL="742950" marR="0" lvl="1" indent="-285750" algn="l" rtl="0">
              <a:lnSpc>
                <a:spcPct val="100000"/>
              </a:lnSpc>
              <a:spcBef>
                <a:spcPts val="560"/>
              </a:spcBef>
              <a:spcAft>
                <a:spcPts val="0"/>
              </a:spcAft>
              <a:buClr>
                <a:srgbClr val="008000"/>
              </a:buClr>
              <a:buSzPts val="2800"/>
              <a:buFont typeface="Arial" panose="020B0604020202020204"/>
              <a:buChar char="•"/>
            </a:pPr>
            <a:r>
              <a:rPr lang="en-US" sz="2800" b="0" i="0" u="none" strike="noStrike" cap="none">
                <a:solidFill>
                  <a:schemeClr val="dk1"/>
                </a:solidFill>
                <a:latin typeface="Arial" panose="020B0604020202020204" pitchFamily="34" charset="0"/>
                <a:ea typeface="Oi"/>
                <a:cs typeface="Arial" panose="020B0604020202020204" pitchFamily="34" charset="0"/>
                <a:sym typeface="Oi"/>
              </a:rPr>
              <a:t>A professor weights projects, exams, and quizzes to reflect varying difficulty.</a:t>
            </a:r>
            <a:endParaRPr lang="en-US" sz="2800" b="0" i="0" u="none" strike="noStrike" cap="none">
              <a:solidFill>
                <a:schemeClr val="dk1"/>
              </a:solidFill>
              <a:latin typeface="Arial" panose="020B0604020202020204" pitchFamily="34" charset="0"/>
              <a:ea typeface="Oi"/>
              <a:cs typeface="Arial" panose="020B0604020202020204" pitchFamily="34" charset="0"/>
              <a:sym typeface="Oi"/>
            </a:endParaRPr>
          </a:p>
          <a:p>
            <a:pPr marL="742950" marR="0" lvl="1" indent="-285750" algn="l" rtl="0">
              <a:lnSpc>
                <a:spcPct val="100000"/>
              </a:lnSpc>
              <a:spcBef>
                <a:spcPts val="560"/>
              </a:spcBef>
              <a:spcAft>
                <a:spcPts val="0"/>
              </a:spcAft>
              <a:buClr>
                <a:srgbClr val="008000"/>
              </a:buClr>
              <a:buSzPts val="2800"/>
              <a:buFont typeface="Arial" panose="020B0604020202020204"/>
              <a:buChar char="•"/>
            </a:pPr>
            <a:r>
              <a:rPr lang="en-US" sz="2800" b="0" i="0" u="none" strike="noStrike" cap="none">
                <a:solidFill>
                  <a:schemeClr val="dk1"/>
                </a:solidFill>
                <a:latin typeface="Arial" panose="020B0604020202020204" pitchFamily="34" charset="0"/>
                <a:ea typeface="Oi"/>
                <a:cs typeface="Arial" panose="020B0604020202020204" pitchFamily="34" charset="0"/>
                <a:sym typeface="Oi"/>
              </a:rPr>
              <a:t>An investor weights the share price by the number of stocks they purchase to reflect the changing prices.</a:t>
            </a:r>
            <a:endParaRPr lang="en-US" sz="2800" b="0" i="0" u="none" strike="noStrike" cap="none">
              <a:solidFill>
                <a:schemeClr val="dk1"/>
              </a:solidFill>
              <a:latin typeface="Arial" panose="020B0604020202020204" pitchFamily="34" charset="0"/>
              <a:ea typeface="Oi"/>
              <a:cs typeface="Arial" panose="020B0604020202020204" pitchFamily="34" charset="0"/>
              <a:sym typeface="Oi"/>
            </a:endParaRPr>
          </a:p>
          <a:p>
            <a:pPr marL="342900" marR="0" lvl="0" indent="-165100" algn="l" rtl="0">
              <a:spcBef>
                <a:spcPts val="560"/>
              </a:spcBef>
              <a:spcAft>
                <a:spcPts val="0"/>
              </a:spcAft>
              <a:buClr>
                <a:srgbClr val="008000"/>
              </a:buClr>
              <a:buSzPts val="2800"/>
              <a:buFont typeface="Noto Sans Symbols"/>
              <a:buNone/>
            </a:pPr>
            <a:endParaRPr sz="2800" b="0" i="0" u="none" strike="noStrike" cap="none">
              <a:solidFill>
                <a:schemeClr val="dk1"/>
              </a:solidFill>
              <a:latin typeface="Arial" panose="020B0604020202020204" pitchFamily="34" charset="0"/>
              <a:ea typeface="Oi"/>
              <a:cs typeface="Arial" panose="020B0604020202020204" pitchFamily="34" charset="0"/>
              <a:sym typeface="Oi"/>
            </a:endParaRPr>
          </a:p>
        </p:txBody>
      </p:sp>
      <p:sp>
        <p:nvSpPr>
          <p:cNvPr id="338" name="Google Shape;338;p39"/>
          <p:cNvSpPr txBox="1"/>
          <p:nvPr/>
        </p:nvSpPr>
        <p:spPr>
          <a:xfrm>
            <a:off x="1295400" y="5494337"/>
            <a:ext cx="6981825" cy="828675"/>
          </a:xfrm>
          <a:prstGeom prst="rect">
            <a:avLst/>
          </a:prstGeom>
          <a:solidFill>
            <a:srgbClr val="FFF4CE"/>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Oi"/>
              <a:buNone/>
            </a:pPr>
            <a:r>
              <a:rPr lang="en-US" sz="2400" b="0" i="0" u="none">
                <a:solidFill>
                  <a:srgbClr val="FF0000"/>
                </a:solidFill>
                <a:latin typeface="Arial" panose="020B0604020202020204" pitchFamily="34" charset="0"/>
                <a:ea typeface="Oi"/>
                <a:cs typeface="Arial" panose="020B0604020202020204" pitchFamily="34" charset="0"/>
                <a:sym typeface="Oi"/>
              </a:rPr>
              <a:t>A weighted average gives differing importance to each value according to relevant criteria.</a:t>
            </a:r>
            <a:endParaRPr lang="en-US" sz="2400" b="0" i="0" u="none">
              <a:solidFill>
                <a:srgbClr val="FF0000"/>
              </a:solidFill>
              <a:latin typeface="Arial" panose="020B0604020202020204" pitchFamily="34" charset="0"/>
              <a:ea typeface="Oi"/>
              <a:cs typeface="Arial" panose="020B0604020202020204" pitchFamily="34" charset="0"/>
              <a:sym typeface="O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42" name="Shape 342"/>
        <p:cNvGrpSpPr/>
        <p:nvPr/>
      </p:nvGrpSpPr>
      <p:grpSpPr>
        <a:xfrm>
          <a:off x="0" y="0"/>
          <a:ext cx="0" cy="0"/>
          <a:chOff x="0" y="0"/>
          <a:chExt cx="0" cy="0"/>
        </a:xfrm>
      </p:grpSpPr>
      <p:sp>
        <p:nvSpPr>
          <p:cNvPr id="343" name="Google Shape;343;p40"/>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Weighted Mean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44" name="Google Shape;344;p40"/>
          <p:cNvPicPr preferRelativeResize="0"/>
          <p:nvPr>
            <p:ph type="body" idx="1"/>
          </p:nvPr>
        </p:nvPicPr>
        <p:blipFill rotWithShape="1">
          <a:blip r:embed="rId1"/>
          <a:srcRect/>
          <a:stretch>
            <a:fillRect/>
          </a:stretch>
        </p:blipFill>
        <p:spPr>
          <a:xfrm>
            <a:off x="862012" y="2084387"/>
            <a:ext cx="2924175" cy="170973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48" name="Shape 348"/>
        <p:cNvGrpSpPr/>
        <p:nvPr/>
      </p:nvGrpSpPr>
      <p:grpSpPr>
        <a:xfrm>
          <a:off x="0" y="0"/>
          <a:ext cx="0" cy="0"/>
          <a:chOff x="0" y="0"/>
          <a:chExt cx="0" cy="0"/>
        </a:xfrm>
      </p:grpSpPr>
      <p:sp>
        <p:nvSpPr>
          <p:cNvPr id="349" name="Google Shape;349;p41"/>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Weighted Mean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50" name="Google Shape;350;p41"/>
          <p:cNvPicPr preferRelativeResize="0"/>
          <p:nvPr>
            <p:ph type="body" idx="1"/>
          </p:nvPr>
        </p:nvPicPr>
        <p:blipFill rotWithShape="1">
          <a:blip r:embed="rId1"/>
          <a:srcRect/>
          <a:stretch>
            <a:fillRect/>
          </a:stretch>
        </p:blipFill>
        <p:spPr>
          <a:xfrm>
            <a:off x="862012" y="1901825"/>
            <a:ext cx="2924175" cy="1709737"/>
          </a:xfrm>
          <a:prstGeom prst="rect">
            <a:avLst/>
          </a:prstGeom>
          <a:noFill/>
          <a:ln>
            <a:noFill/>
          </a:ln>
        </p:spPr>
      </p:pic>
      <p:pic>
        <p:nvPicPr>
          <p:cNvPr id="351" name="Google Shape;351;p41"/>
          <p:cNvPicPr preferRelativeResize="0"/>
          <p:nvPr/>
        </p:nvPicPr>
        <p:blipFill rotWithShape="1">
          <a:blip r:embed="rId2"/>
          <a:srcRect/>
          <a:stretch>
            <a:fillRect/>
          </a:stretch>
        </p:blipFill>
        <p:spPr>
          <a:xfrm>
            <a:off x="862012" y="3744912"/>
            <a:ext cx="4210050" cy="1511300"/>
          </a:xfrm>
          <a:prstGeom prst="rect">
            <a:avLst/>
          </a:prstGeom>
          <a:noFill/>
          <a:ln>
            <a:noFill/>
          </a:ln>
        </p:spPr>
      </p:pic>
      <p:pic>
        <p:nvPicPr>
          <p:cNvPr id="352" name="Google Shape;352;p41"/>
          <p:cNvPicPr preferRelativeResize="0"/>
          <p:nvPr/>
        </p:nvPicPr>
        <p:blipFill rotWithShape="1">
          <a:blip r:embed="rId3"/>
          <a:srcRect/>
          <a:stretch>
            <a:fillRect/>
          </a:stretch>
        </p:blipFill>
        <p:spPr>
          <a:xfrm>
            <a:off x="5278437" y="3744912"/>
            <a:ext cx="3506787" cy="1293812"/>
          </a:xfrm>
          <a:prstGeom prst="rect">
            <a:avLst/>
          </a:prstGeom>
          <a:noFill/>
          <a:ln>
            <a:noFill/>
          </a:ln>
        </p:spPr>
      </p:pic>
      <p:pic>
        <p:nvPicPr>
          <p:cNvPr id="353" name="Google Shape;353;p41"/>
          <p:cNvPicPr preferRelativeResize="0"/>
          <p:nvPr/>
        </p:nvPicPr>
        <p:blipFill rotWithShape="1">
          <a:blip r:embed="rId4"/>
          <a:srcRect/>
          <a:stretch>
            <a:fillRect/>
          </a:stretch>
        </p:blipFill>
        <p:spPr>
          <a:xfrm>
            <a:off x="933450" y="5391150"/>
            <a:ext cx="1460500" cy="1508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57" name="Shape 357"/>
        <p:cNvGrpSpPr/>
        <p:nvPr/>
      </p:nvGrpSpPr>
      <p:grpSpPr>
        <a:xfrm>
          <a:off x="0" y="0"/>
          <a:ext cx="0" cy="0"/>
          <a:chOff x="0" y="0"/>
          <a:chExt cx="0" cy="0"/>
        </a:xfrm>
      </p:grpSpPr>
      <p:sp>
        <p:nvSpPr>
          <p:cNvPr id="358" name="Google Shape;358;p42"/>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Example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9" name="Google Shape;359;p42"/>
          <p:cNvSpPr txBox="1"/>
          <p:nvPr>
            <p:ph type="body" idx="1"/>
          </p:nvPr>
        </p:nvSpPr>
        <p:spPr>
          <a:xfrm>
            <a:off x="528637" y="1903412"/>
            <a:ext cx="8407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8000"/>
              </a:buClr>
              <a:buSzPts val="2400"/>
              <a:buFont typeface="Noto Sans Symbols"/>
              <a:buNone/>
            </a:pPr>
            <a:r>
              <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rPr>
              <a:t>You take three 100-point exams in your statistics class and score 80, 80 and 95. The last exam is </a:t>
            </a:r>
            <a:r>
              <a:rPr lang="en-US" sz="24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much</a:t>
            </a:r>
            <a:r>
              <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rPr>
              <a:t> easier than the first two, so your professor has given it less weight. The weights for the three exams are:</a:t>
            </a:r>
            <a:endPar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0" marR="0" lvl="0" indent="-152400" algn="l" rtl="0">
              <a:lnSpc>
                <a:spcPct val="100000"/>
              </a:lnSpc>
              <a:spcBef>
                <a:spcPts val="480"/>
              </a:spcBef>
              <a:spcAft>
                <a:spcPts val="0"/>
              </a:spcAft>
              <a:buClr>
                <a:srgbClr val="008000"/>
              </a:buClr>
              <a:buSzPts val="2400"/>
              <a:buFont typeface="Arial" panose="020B0604020202020204"/>
              <a:buChar char="•"/>
            </a:pPr>
            <a:r>
              <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rPr>
              <a:t>Exam 1: 40 % of your grade. </a:t>
            </a:r>
            <a:endPar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0" marR="0" lvl="0" indent="-152400" algn="l" rtl="0">
              <a:lnSpc>
                <a:spcPct val="100000"/>
              </a:lnSpc>
              <a:spcBef>
                <a:spcPts val="480"/>
              </a:spcBef>
              <a:spcAft>
                <a:spcPts val="0"/>
              </a:spcAft>
              <a:buClr>
                <a:srgbClr val="008000"/>
              </a:buClr>
              <a:buSzPts val="2400"/>
              <a:buFont typeface="Arial" panose="020B0604020202020204"/>
              <a:buChar char="•"/>
            </a:pPr>
            <a:r>
              <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rPr>
              <a:t>Exam 2: 40 % of your grade.</a:t>
            </a:r>
            <a:endPar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0" marR="0" lvl="0" indent="-152400" algn="l" rtl="0">
              <a:lnSpc>
                <a:spcPct val="100000"/>
              </a:lnSpc>
              <a:spcBef>
                <a:spcPts val="480"/>
              </a:spcBef>
              <a:spcAft>
                <a:spcPts val="0"/>
              </a:spcAft>
              <a:buClr>
                <a:srgbClr val="008000"/>
              </a:buClr>
              <a:buSzPts val="2400"/>
              <a:buFont typeface="Arial" panose="020B0604020202020204"/>
              <a:buChar char="•"/>
            </a:pPr>
            <a:r>
              <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rPr>
              <a:t>Exam 3: 20 % of your grade.</a:t>
            </a:r>
            <a:endPar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0" marR="0" lvl="0" indent="0" algn="l" rtl="0">
              <a:lnSpc>
                <a:spcPct val="100000"/>
              </a:lnSpc>
              <a:spcBef>
                <a:spcPts val="480"/>
              </a:spcBef>
              <a:spcAft>
                <a:spcPts val="0"/>
              </a:spcAft>
              <a:buClr>
                <a:srgbClr val="008000"/>
              </a:buClr>
              <a:buSzPts val="2400"/>
              <a:buFont typeface="Noto Sans Symbols"/>
              <a:buNone/>
            </a:pPr>
            <a:r>
              <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rPr>
              <a:t>What is your final weighted average for the class?</a:t>
            </a:r>
            <a:endParaRPr lang="en-US"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342900" marR="0" lvl="0" indent="-190500" algn="l" rtl="0">
              <a:spcBef>
                <a:spcPts val="480"/>
              </a:spcBef>
              <a:spcAft>
                <a:spcPts val="0"/>
              </a:spcAft>
              <a:buClr>
                <a:srgbClr val="008000"/>
              </a:buClr>
              <a:buSzPts val="2400"/>
              <a:buFont typeface="Noto Sans Symbols"/>
              <a:buNone/>
            </a:pPr>
            <a:endParaRPr sz="24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60" name="Google Shape;360;p42"/>
          <p:cNvSpPr txBox="1"/>
          <p:nvPr/>
        </p:nvSpPr>
        <p:spPr>
          <a:xfrm>
            <a:off x="685800" y="5162951"/>
            <a:ext cx="2747211" cy="1323439"/>
          </a:xfrm>
          <a:prstGeom prst="rect">
            <a:avLst/>
          </a:prstGeom>
          <a:blipFill rotWithShape="1">
            <a:blip r:embed="rId1"/>
            <a:stretch>
              <a:fillRect l="-13775" t="-2764" b="-5529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2400"/>
              <a:buFont typeface="Times New Roman" panose="02020603050405020304"/>
              <a:buNone/>
            </a:pPr>
            <a:r>
              <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sp>
        <p:nvSpPr>
          <p:cNvPr id="361" name="Google Shape;361;p42"/>
          <p:cNvSpPr txBox="1"/>
          <p:nvPr/>
        </p:nvSpPr>
        <p:spPr>
          <a:xfrm>
            <a:off x="3557336" y="5786735"/>
            <a:ext cx="4572000" cy="461665"/>
          </a:xfrm>
          <a:prstGeom prst="rect">
            <a:avLst/>
          </a:prstGeom>
          <a:blipFill rotWithShape="1">
            <a:blip r:embed="rId1"/>
            <a:stretch>
              <a:fillRect l="-399" t="-10522" b="-2894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2400"/>
              <a:buFont typeface="Times New Roman" panose="02020603050405020304"/>
              <a:buNone/>
            </a:pPr>
            <a:r>
              <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65" name="Shape 365"/>
        <p:cNvGrpSpPr/>
        <p:nvPr/>
      </p:nvGrpSpPr>
      <p:grpSpPr>
        <a:xfrm>
          <a:off x="0" y="0"/>
          <a:ext cx="0" cy="0"/>
          <a:chOff x="0" y="0"/>
          <a:chExt cx="0" cy="0"/>
        </a:xfrm>
      </p:grpSpPr>
      <p:sp>
        <p:nvSpPr>
          <p:cNvPr id="366" name="Google Shape;366;p43"/>
          <p:cNvSpPr txBox="1"/>
          <p:nvPr>
            <p:ph type="subTitle" idx="1"/>
          </p:nvPr>
        </p:nvSpPr>
        <p:spPr>
          <a:xfrm>
            <a:off x="1828800" y="3733800"/>
            <a:ext cx="6400800" cy="1752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4800"/>
              <a:buNone/>
            </a:pPr>
            <a:r>
              <a:rPr lang="en-US" sz="4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MEDIAN</a:t>
            </a:r>
            <a:endParaRPr lang="en-US" sz="4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70" name="Shape 370"/>
        <p:cNvGrpSpPr/>
        <p:nvPr/>
      </p:nvGrpSpPr>
      <p:grpSpPr>
        <a:xfrm>
          <a:off x="0" y="0"/>
          <a:ext cx="0" cy="0"/>
          <a:chOff x="0" y="0"/>
          <a:chExt cx="0" cy="0"/>
        </a:xfrm>
      </p:grpSpPr>
      <p:sp>
        <p:nvSpPr>
          <p:cNvPr id="371" name="Google Shape;371;p44"/>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The Median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2" name="Google Shape;372;p44"/>
          <p:cNvSpPr txBox="1"/>
          <p:nvPr>
            <p:ph type="body" idx="1"/>
          </p:nvPr>
        </p:nvSpPr>
        <p:spPr>
          <a:xfrm>
            <a:off x="685800" y="21336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word median is synonymous with “middle,” and the sample median is indeed the middle value once the observations are </a:t>
            </a:r>
            <a:r>
              <a:rPr lang="en-US" sz="32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ordered from smallest to largest</a:t>
            </a: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It is the score in the middle; half of the scores are larger than the median and half of the scores are smaller than the median</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76" name="Shape 376"/>
        <p:cNvGrpSpPr/>
        <p:nvPr/>
      </p:nvGrpSpPr>
      <p:grpSpPr>
        <a:xfrm>
          <a:off x="0" y="0"/>
          <a:ext cx="0" cy="0"/>
          <a:chOff x="0" y="0"/>
          <a:chExt cx="0" cy="0"/>
        </a:xfrm>
      </p:grpSpPr>
      <p:sp>
        <p:nvSpPr>
          <p:cNvPr id="377" name="Google Shape;377;p45"/>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The Median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8" name="Google Shape;378;p45"/>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sample median is obtained by first ordering the </a:t>
            </a:r>
            <a:r>
              <a:rPr lang="en-US" sz="24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n observations from smallest to largest</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(with any repeated values included so that every sample observation appears in the ordered list).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Then,</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79" name="Google Shape;379;p45"/>
          <p:cNvPicPr preferRelativeResize="0"/>
          <p:nvPr/>
        </p:nvPicPr>
        <p:blipFill rotWithShape="1">
          <a:blip r:embed="rId1"/>
          <a:srcRect/>
          <a:stretch>
            <a:fillRect/>
          </a:stretch>
        </p:blipFill>
        <p:spPr>
          <a:xfrm>
            <a:off x="1068387" y="3924300"/>
            <a:ext cx="7772400" cy="2900362"/>
          </a:xfrm>
          <a:prstGeom prst="rect">
            <a:avLst/>
          </a:prstGeom>
          <a:noFill/>
          <a:ln>
            <a:noFill/>
          </a:ln>
        </p:spPr>
      </p:pic>
    </p:spTree>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83" name="Shape 383"/>
        <p:cNvGrpSpPr/>
        <p:nvPr/>
      </p:nvGrpSpPr>
      <p:grpSpPr>
        <a:xfrm>
          <a:off x="0" y="0"/>
          <a:ext cx="0" cy="0"/>
          <a:chOff x="0" y="0"/>
          <a:chExt cx="0" cy="0"/>
        </a:xfrm>
      </p:grpSpPr>
      <p:sp>
        <p:nvSpPr>
          <p:cNvPr id="384" name="Google Shape;384;p46"/>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The Median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5" name="Google Shape;385;p46"/>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lnSpc>
                <a:spcPct val="100000"/>
              </a:lnSpc>
              <a:spcBef>
                <a:spcPts val="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100000"/>
              </a:lnSpc>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100000"/>
              </a:lnSpc>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386" name="Google Shape;386;p46"/>
          <p:cNvCxnSpPr/>
          <p:nvPr/>
        </p:nvCxnSpPr>
        <p:spPr>
          <a:xfrm>
            <a:off x="3727450" y="6365875"/>
            <a:ext cx="268287" cy="0"/>
          </a:xfrm>
          <a:prstGeom prst="straightConnector1">
            <a:avLst/>
          </a:prstGeom>
          <a:noFill/>
          <a:ln>
            <a:noFill/>
          </a:ln>
        </p:spPr>
      </p:cxnSp>
      <p:sp>
        <p:nvSpPr>
          <p:cNvPr id="387" name="Google Shape;387;p46"/>
          <p:cNvSpPr txBox="1"/>
          <p:nvPr/>
        </p:nvSpPr>
        <p:spPr>
          <a:xfrm>
            <a:off x="457200" y="2995613"/>
            <a:ext cx="2404826" cy="584775"/>
          </a:xfrm>
          <a:prstGeom prst="rect">
            <a:avLst/>
          </a:prstGeom>
          <a:blipFill rotWithShape="1">
            <a:blip r:embed="rId1"/>
            <a:stretch>
              <a:fillRect l="-6344" t="-14579" b="-3229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2400"/>
              <a:buFont typeface="Times New Roman" panose="02020603050405020304"/>
              <a:buNone/>
            </a:pPr>
            <a:r>
              <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sp>
        <p:nvSpPr>
          <p:cNvPr id="388" name="Google Shape;388;p46"/>
          <p:cNvSpPr txBox="1"/>
          <p:nvPr/>
        </p:nvSpPr>
        <p:spPr>
          <a:xfrm>
            <a:off x="4876800" y="2919413"/>
            <a:ext cx="1699504" cy="532390"/>
          </a:xfrm>
          <a:prstGeom prst="rect">
            <a:avLst/>
          </a:prstGeom>
          <a:blipFill rotWithShape="1">
            <a:blip r:embed="rId1"/>
            <a:stretch>
              <a:fillRect l="-7167" t="-10344" b="-321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2400"/>
              <a:buFont typeface="Times New Roman" panose="02020603050405020304"/>
              <a:buNone/>
            </a:pPr>
            <a:r>
              <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92" name="Shape 392"/>
        <p:cNvGrpSpPr/>
        <p:nvPr/>
      </p:nvGrpSpPr>
      <p:grpSpPr>
        <a:xfrm>
          <a:off x="0" y="0"/>
          <a:ext cx="0" cy="0"/>
          <a:chOff x="0" y="0"/>
          <a:chExt cx="0" cy="0"/>
        </a:xfrm>
      </p:grpSpPr>
      <p:sp>
        <p:nvSpPr>
          <p:cNvPr id="393" name="Google Shape;393;p47"/>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How To Calculate the Median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4" name="Google Shape;394;p47"/>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Conceptually, it is easy to calculate the median</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There are many minor problems that can occur; it is best to let a computer do it</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Sort the data from highest to lowest</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Find the score in the middle</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middle = (N + 1) / 2 </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If N, the number of scores, is even the median is the average of the middle two scores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398" name="Shape 398"/>
        <p:cNvGrpSpPr/>
        <p:nvPr/>
      </p:nvGrpSpPr>
      <p:grpSpPr>
        <a:xfrm>
          <a:off x="0" y="0"/>
          <a:ext cx="0" cy="0"/>
          <a:chOff x="0" y="0"/>
          <a:chExt cx="0" cy="0"/>
        </a:xfrm>
      </p:grpSpPr>
      <p:sp>
        <p:nvSpPr>
          <p:cNvPr id="399" name="Google Shape;399;p48"/>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Median Example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0" name="Google Shape;400;p48"/>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What is the median of the following scores:</a:t>
            </a:r>
            <a:b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10   8   14   15   7   3   3   8   12   10   9</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Sort the scores:</a:t>
            </a:r>
            <a:b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3  3  7  8  8  9  10  10  12  14  15</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Determine the middle score:</a:t>
            </a:r>
            <a:b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3200" b="0" i="1" u="none">
                <a:solidFill>
                  <a:srgbClr val="7030A0"/>
                </a:solidFill>
                <a:latin typeface="Times New Roman" panose="02020603050405020304"/>
                <a:ea typeface="Times New Roman" panose="02020603050405020304"/>
                <a:cs typeface="Times New Roman" panose="02020603050405020304"/>
                <a:sym typeface="Times New Roman" panose="02020603050405020304"/>
              </a:rPr>
              <a:t> n is odd </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(N + 1) / 2 = (11 + 1) / 2 = 6</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Middle score = median = 9</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404" name="Shape 404"/>
        <p:cNvGrpSpPr/>
        <p:nvPr/>
      </p:nvGrpSpPr>
      <p:grpSpPr>
        <a:xfrm>
          <a:off x="0" y="0"/>
          <a:ext cx="0" cy="0"/>
          <a:chOff x="0" y="0"/>
          <a:chExt cx="0" cy="0"/>
        </a:xfrm>
      </p:grpSpPr>
      <p:sp>
        <p:nvSpPr>
          <p:cNvPr id="405" name="Google Shape;405;p49"/>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Median Example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6" name="Google Shape;406;p49"/>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What is the median of the following scores:</a:t>
            </a:r>
            <a:b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24  18  19  42  16  12</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Sort the scores:</a:t>
            </a:r>
            <a:b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12  16  18  19  24  42</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Determine the middle score:</a:t>
            </a:r>
            <a:b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0" i="1" u="none">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r>
              <a:rPr lang="en-US" sz="2400" b="0" i="1" u="none">
                <a:solidFill>
                  <a:srgbClr val="7030A0"/>
                </a:solidFill>
                <a:latin typeface="Times New Roman" panose="02020603050405020304"/>
                <a:ea typeface="Times New Roman" panose="02020603050405020304"/>
                <a:cs typeface="Times New Roman" panose="02020603050405020304"/>
                <a:sym typeface="Times New Roman" panose="02020603050405020304"/>
              </a:rPr>
              <a:t>n is even</a:t>
            </a:r>
            <a:r>
              <a:rPr lang="en-US" sz="2400" b="0" i="1" u="none">
                <a:solidFill>
                  <a:schemeClr val="dk2"/>
                </a:solidFill>
                <a:latin typeface="Times New Roman" panose="02020603050405020304"/>
                <a:ea typeface="Times New Roman" panose="02020603050405020304"/>
                <a:cs typeface="Times New Roman" panose="02020603050405020304"/>
                <a:sym typeface="Times New Roman" panose="02020603050405020304"/>
              </a:rPr>
              <a:t>:</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(N/2) = (6/ 2) = 3</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480"/>
              </a:spcBef>
              <a:spcAft>
                <a:spcPts val="0"/>
              </a:spcAft>
              <a:buSzPts val="2400"/>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(N/2) = (6/ 2 +1) = 3+1 =4</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Median = average of 3</a:t>
            </a:r>
            <a:r>
              <a:rPr lang="en-US" sz="2800" b="0"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rd</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and 4</a:t>
            </a:r>
            <a:r>
              <a:rPr lang="en-US" sz="2800" b="0"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th</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scores:</a:t>
            </a:r>
            <a:b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(18 + 19) / 2 = 18.5</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410" name="Shape 410"/>
        <p:cNvGrpSpPr/>
        <p:nvPr/>
      </p:nvGrpSpPr>
      <p:grpSpPr>
        <a:xfrm>
          <a:off x="0" y="0"/>
          <a:ext cx="0" cy="0"/>
          <a:chOff x="0" y="0"/>
          <a:chExt cx="0" cy="0"/>
        </a:xfrm>
      </p:grpSpPr>
      <p:sp>
        <p:nvSpPr>
          <p:cNvPr id="411" name="Google Shape;411;p50"/>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When To Use the Median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2" name="Google Shape;412;p50"/>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median is often used when the distribution of scores is </a:t>
            </a:r>
            <a:r>
              <a:rPr lang="en-US"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either positively or negatively skewed</a:t>
            </a:r>
            <a:endParaRPr lang="en-US"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few really large scores (positively skewed) or really small scores (negatively skewed) will not overly influence the median</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Not affected by extreme values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65100" algn="l" rtl="0">
              <a:spcBef>
                <a:spcPts val="560"/>
              </a:spcBef>
              <a:spcAft>
                <a:spcPts val="0"/>
              </a:spcAft>
              <a:buSzPts val="2800"/>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3" name="Google Shape;413;p50"/>
          <p:cNvSpPr/>
          <p:nvPr/>
        </p:nvSpPr>
        <p:spPr>
          <a:xfrm rot="-5400000">
            <a:off x="5770562" y="6196012"/>
            <a:ext cx="533400" cy="304800"/>
          </a:xfrm>
          <a:prstGeom prst="rightArrow">
            <a:avLst>
              <a:gd name="adj1" fmla="val 16162"/>
              <a:gd name="adj2" fmla="val 50000"/>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414" name="Google Shape;414;p50"/>
          <p:cNvCxnSpPr/>
          <p:nvPr/>
        </p:nvCxnSpPr>
        <p:spPr>
          <a:xfrm>
            <a:off x="665162" y="5891212"/>
            <a:ext cx="3368675" cy="0"/>
          </a:xfrm>
          <a:prstGeom prst="straightConnector1">
            <a:avLst/>
          </a:prstGeom>
          <a:noFill/>
          <a:ln w="12700" cap="flat" cmpd="sng">
            <a:solidFill>
              <a:srgbClr val="FFFFCC"/>
            </a:solidFill>
            <a:prstDash val="solid"/>
            <a:miter lim="800000"/>
            <a:headEnd type="none" w="med" len="med"/>
            <a:tailEnd type="none" w="med" len="med"/>
          </a:ln>
        </p:spPr>
      </p:cxnSp>
      <p:cxnSp>
        <p:nvCxnSpPr>
          <p:cNvPr id="415" name="Google Shape;415;p50"/>
          <p:cNvCxnSpPr/>
          <p:nvPr/>
        </p:nvCxnSpPr>
        <p:spPr>
          <a:xfrm>
            <a:off x="4627562" y="5891212"/>
            <a:ext cx="3825875" cy="0"/>
          </a:xfrm>
          <a:prstGeom prst="straightConnector1">
            <a:avLst/>
          </a:prstGeom>
          <a:noFill/>
          <a:ln w="12700" cap="flat" cmpd="sng">
            <a:solidFill>
              <a:srgbClr val="FFFFCC"/>
            </a:solidFill>
            <a:prstDash val="solid"/>
            <a:miter lim="800000"/>
            <a:headEnd type="none" w="med" len="med"/>
            <a:tailEnd type="none" w="med" len="med"/>
          </a:ln>
        </p:spPr>
      </p:cxnSp>
      <p:sp>
        <p:nvSpPr>
          <p:cNvPr id="416" name="Google Shape;416;p50"/>
          <p:cNvSpPr txBox="1"/>
          <p:nvPr/>
        </p:nvSpPr>
        <p:spPr>
          <a:xfrm>
            <a:off x="503237" y="5815012"/>
            <a:ext cx="3971925" cy="363537"/>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1800"/>
              <a:buFont typeface="Times New Roman" panose="02020603050405020304"/>
              <a:buNone/>
            </a:pPr>
            <a:r>
              <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0   1   2   3   4   5   6   7   8   9   10</a:t>
            </a:r>
            <a:endPar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7" name="Google Shape;417;p50"/>
          <p:cNvSpPr txBox="1"/>
          <p:nvPr/>
        </p:nvSpPr>
        <p:spPr>
          <a:xfrm>
            <a:off x="4465637" y="5815012"/>
            <a:ext cx="4276725" cy="363537"/>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1800"/>
              <a:buFont typeface="Times New Roman" panose="02020603050405020304"/>
              <a:buNone/>
            </a:pPr>
            <a:r>
              <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0   1   2   3   4   5   6   7   8   9   10   12   14      </a:t>
            </a:r>
            <a:endPar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8" name="Google Shape;418;p50"/>
          <p:cNvSpPr txBox="1"/>
          <p:nvPr/>
        </p:nvSpPr>
        <p:spPr>
          <a:xfrm>
            <a:off x="579437" y="5662612"/>
            <a:ext cx="314325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9" name="Google Shape;419;p50"/>
          <p:cNvSpPr/>
          <p:nvPr/>
        </p:nvSpPr>
        <p:spPr>
          <a:xfrm>
            <a:off x="8080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0" name="Google Shape;420;p50"/>
          <p:cNvSpPr/>
          <p:nvPr/>
        </p:nvSpPr>
        <p:spPr>
          <a:xfrm>
            <a:off x="14176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1" name="Google Shape;421;p50"/>
          <p:cNvSpPr/>
          <p:nvPr/>
        </p:nvSpPr>
        <p:spPr>
          <a:xfrm>
            <a:off x="19510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2" name="Google Shape;422;p50"/>
          <p:cNvSpPr/>
          <p:nvPr/>
        </p:nvSpPr>
        <p:spPr>
          <a:xfrm>
            <a:off x="25606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3" name="Google Shape;423;p50"/>
          <p:cNvSpPr/>
          <p:nvPr/>
        </p:nvSpPr>
        <p:spPr>
          <a:xfrm>
            <a:off x="30940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4" name="Google Shape;424;p50"/>
          <p:cNvSpPr/>
          <p:nvPr/>
        </p:nvSpPr>
        <p:spPr>
          <a:xfrm>
            <a:off x="47704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5" name="Google Shape;425;p50"/>
          <p:cNvSpPr/>
          <p:nvPr/>
        </p:nvSpPr>
        <p:spPr>
          <a:xfrm>
            <a:off x="53038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6" name="Google Shape;426;p50"/>
          <p:cNvSpPr/>
          <p:nvPr/>
        </p:nvSpPr>
        <p:spPr>
          <a:xfrm>
            <a:off x="59134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7" name="Google Shape;427;p50"/>
          <p:cNvSpPr/>
          <p:nvPr/>
        </p:nvSpPr>
        <p:spPr>
          <a:xfrm>
            <a:off x="64468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8" name="Google Shape;428;p50"/>
          <p:cNvSpPr/>
          <p:nvPr/>
        </p:nvSpPr>
        <p:spPr>
          <a:xfrm>
            <a:off x="8199437" y="5662612"/>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9" name="Google Shape;429;p50"/>
          <p:cNvSpPr/>
          <p:nvPr/>
        </p:nvSpPr>
        <p:spPr>
          <a:xfrm rot="-5400000">
            <a:off x="1836737" y="6157912"/>
            <a:ext cx="533400" cy="304800"/>
          </a:xfrm>
          <a:prstGeom prst="rightArrow">
            <a:avLst>
              <a:gd name="adj1" fmla="val 16162"/>
              <a:gd name="adj2" fmla="val 50000"/>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0" name="Google Shape;430;p50"/>
          <p:cNvSpPr txBox="1"/>
          <p:nvPr/>
        </p:nvSpPr>
        <p:spPr>
          <a:xfrm>
            <a:off x="2403475" y="6419850"/>
            <a:ext cx="1685925" cy="454025"/>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Median = 5</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1" name="Google Shape;431;p50"/>
          <p:cNvSpPr txBox="1"/>
          <p:nvPr/>
        </p:nvSpPr>
        <p:spPr>
          <a:xfrm>
            <a:off x="6442075" y="6343650"/>
            <a:ext cx="1838325" cy="454025"/>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Median = 5</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432" name="Google Shape;432;p50"/>
          <p:cNvCxnSpPr/>
          <p:nvPr/>
        </p:nvCxnSpPr>
        <p:spPr>
          <a:xfrm>
            <a:off x="552450" y="5891212"/>
            <a:ext cx="3143250" cy="1587"/>
          </a:xfrm>
          <a:prstGeom prst="straightConnector1">
            <a:avLst/>
          </a:prstGeom>
          <a:noFill/>
          <a:ln w="9525" cap="flat" cmpd="sng">
            <a:solidFill>
              <a:schemeClr val="dk1"/>
            </a:solidFill>
            <a:prstDash val="solid"/>
            <a:miter lim="800000"/>
            <a:headEnd type="none" w="med" len="med"/>
            <a:tailEnd type="none" w="med" len="med"/>
          </a:ln>
        </p:spPr>
      </p:cxnSp>
      <p:cxnSp>
        <p:nvCxnSpPr>
          <p:cNvPr id="433" name="Google Shape;433;p50"/>
          <p:cNvCxnSpPr/>
          <p:nvPr/>
        </p:nvCxnSpPr>
        <p:spPr>
          <a:xfrm>
            <a:off x="4543425" y="5891212"/>
            <a:ext cx="3952875" cy="1587"/>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438" name="Shape 438"/>
        <p:cNvGrpSpPr/>
        <p:nvPr/>
      </p:nvGrpSpPr>
      <p:grpSpPr>
        <a:xfrm>
          <a:off x="0" y="0"/>
          <a:ext cx="0" cy="0"/>
          <a:chOff x="0" y="0"/>
          <a:chExt cx="0" cy="0"/>
        </a:xfrm>
      </p:grpSpPr>
      <p:sp>
        <p:nvSpPr>
          <p:cNvPr id="439" name="Google Shape;439;p51"/>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Pros and Cons of Median</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0" name="Google Shape;440;p51"/>
          <p:cNvSpPr txBox="1"/>
          <p:nvPr>
            <p:ph type="body" idx="1"/>
          </p:nvPr>
        </p:nvSpPr>
        <p:spPr>
          <a:xfrm>
            <a:off x="838200" y="1905000"/>
            <a:ext cx="3925887" cy="4191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Pros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Not influenced by extreme scores or skewed distributions.</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Good with ordinal data.</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Easier to compute than the mean.</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1" name="Google Shape;441;p51"/>
          <p:cNvSpPr txBox="1"/>
          <p:nvPr>
            <p:ph type="body" idx="1"/>
          </p:nvPr>
        </p:nvSpPr>
        <p:spPr>
          <a:xfrm>
            <a:off x="4919662" y="1905000"/>
            <a:ext cx="3925887" cy="4191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Cons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May not exist in the data.</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Doesn’t take actual values into account.</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445" name="Shape 445"/>
        <p:cNvGrpSpPr/>
        <p:nvPr/>
      </p:nvGrpSpPr>
      <p:grpSpPr>
        <a:xfrm>
          <a:off x="0" y="0"/>
          <a:ext cx="0" cy="0"/>
          <a:chOff x="0" y="0"/>
          <a:chExt cx="0" cy="0"/>
        </a:xfrm>
      </p:grpSpPr>
      <p:sp>
        <p:nvSpPr>
          <p:cNvPr id="446" name="Google Shape;446;p52"/>
          <p:cNvSpPr txBox="1"/>
          <p:nvPr>
            <p:ph type="subTitle" idx="1"/>
          </p:nvPr>
        </p:nvSpPr>
        <p:spPr>
          <a:xfrm>
            <a:off x="1828800" y="3733800"/>
            <a:ext cx="6400800" cy="1752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4800"/>
              <a:buNone/>
            </a:pPr>
            <a:r>
              <a:rPr lang="en-US" sz="4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MODE</a:t>
            </a:r>
            <a:endParaRPr lang="en-US" sz="4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450" name="Shape 450"/>
        <p:cNvGrpSpPr/>
        <p:nvPr/>
      </p:nvGrpSpPr>
      <p:grpSpPr>
        <a:xfrm>
          <a:off x="0" y="0"/>
          <a:ext cx="0" cy="0"/>
          <a:chOff x="0" y="0"/>
          <a:chExt cx="0" cy="0"/>
        </a:xfrm>
      </p:grpSpPr>
      <p:sp>
        <p:nvSpPr>
          <p:cNvPr id="451" name="Google Shape;451;p53"/>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The Mode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2" name="Google Shape;452;p53"/>
          <p:cNvSpPr txBox="1"/>
          <p:nvPr>
            <p:ph type="body" idx="1"/>
          </p:nvPr>
        </p:nvSpPr>
        <p:spPr>
          <a:xfrm>
            <a:off x="685800" y="1979612"/>
            <a:ext cx="3811587" cy="411638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a:t>
            </a:r>
            <a:r>
              <a:rPr lang="en-US" sz="28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mode</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is the score that occurs most frequently in a set of data</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53" name="Google Shape;453;p53"/>
          <p:cNvPicPr preferRelativeResize="0"/>
          <p:nvPr>
            <p:ph type="chart" idx="2"/>
          </p:nvPr>
        </p:nvPicPr>
        <p:blipFill rotWithShape="1">
          <a:blip r:embed="rId1"/>
          <a:srcRect/>
          <a:stretch>
            <a:fillRect/>
          </a:stretch>
        </p:blipFill>
        <p:spPr>
          <a:xfrm>
            <a:off x="4876800" y="1981200"/>
            <a:ext cx="3352800" cy="4114800"/>
          </a:xfrm>
          <a:prstGeom prst="rect">
            <a:avLst/>
          </a:prstGeom>
          <a:noFill/>
          <a:ln>
            <a:noFill/>
          </a:ln>
        </p:spPr>
      </p:pic>
    </p:spTree>
  </p:cSld>
  <p:clrMapOvr>
    <a:masterClrMapping/>
  </p:clrMapOvr>
  <p:transition spd="slow">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457" name="Shape 457"/>
        <p:cNvGrpSpPr/>
        <p:nvPr/>
      </p:nvGrpSpPr>
      <p:grpSpPr>
        <a:xfrm>
          <a:off x="0" y="0"/>
          <a:ext cx="0" cy="0"/>
          <a:chOff x="0" y="0"/>
          <a:chExt cx="0" cy="0"/>
        </a:xfrm>
      </p:grpSpPr>
      <p:sp>
        <p:nvSpPr>
          <p:cNvPr id="458" name="Google Shape;458;p54"/>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Bimodal Distributions</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9" name="Google Shape;459;p54"/>
          <p:cNvSpPr txBox="1"/>
          <p:nvPr>
            <p:ph type="body" idx="1"/>
          </p:nvPr>
        </p:nvSpPr>
        <p:spPr>
          <a:xfrm>
            <a:off x="684212" y="1979612"/>
            <a:ext cx="3811587" cy="411638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When a distribution has two “modes,” it is called </a:t>
            </a:r>
            <a:r>
              <a:rPr lang="en-US" sz="28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bimodal</a:t>
            </a:r>
            <a:endParaRPr lang="en-US" sz="28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60" name="Google Shape;460;p54"/>
          <p:cNvPicPr preferRelativeResize="0"/>
          <p:nvPr>
            <p:ph type="chart" idx="2"/>
          </p:nvPr>
        </p:nvPicPr>
        <p:blipFill rotWithShape="1">
          <a:blip r:embed="rId1"/>
          <a:srcRect/>
          <a:stretch>
            <a:fillRect/>
          </a:stretch>
        </p:blipFill>
        <p:spPr>
          <a:xfrm>
            <a:off x="4876800" y="1981200"/>
            <a:ext cx="3352800" cy="4114800"/>
          </a:xfrm>
          <a:prstGeom prst="rect">
            <a:avLst/>
          </a:prstGeom>
          <a:noFill/>
          <a:ln>
            <a:noFill/>
          </a:ln>
        </p:spPr>
      </p:pic>
      <p:sp>
        <p:nvSpPr>
          <p:cNvPr id="461" name="Google Shape;461;p54"/>
          <p:cNvSpPr/>
          <p:nvPr/>
        </p:nvSpPr>
        <p:spPr>
          <a:xfrm>
            <a:off x="6786562" y="2679700"/>
            <a:ext cx="1169987" cy="368300"/>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465" name="Shape 465"/>
        <p:cNvGrpSpPr/>
        <p:nvPr/>
      </p:nvGrpSpPr>
      <p:grpSpPr>
        <a:xfrm>
          <a:off x="0" y="0"/>
          <a:ext cx="0" cy="0"/>
          <a:chOff x="0" y="0"/>
          <a:chExt cx="0" cy="0"/>
        </a:xfrm>
      </p:grpSpPr>
      <p:sp>
        <p:nvSpPr>
          <p:cNvPr id="466" name="Google Shape;466;p55"/>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The Mode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7" name="Google Shape;467;p55"/>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lnSpc>
                <a:spcPct val="100000"/>
              </a:lnSpc>
              <a:spcBef>
                <a:spcPts val="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100000"/>
              </a:lnSpc>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100000"/>
              </a:lnSpc>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468" name="Google Shape;468;p55"/>
          <p:cNvCxnSpPr/>
          <p:nvPr/>
        </p:nvCxnSpPr>
        <p:spPr>
          <a:xfrm>
            <a:off x="3727450" y="6365875"/>
            <a:ext cx="268287" cy="0"/>
          </a:xfrm>
          <a:prstGeom prst="straightConnector1">
            <a:avLst/>
          </a:prstGeom>
          <a:noFill/>
          <a:ln>
            <a:noFill/>
          </a:ln>
        </p:spPr>
      </p:cxnSp>
      <p:sp>
        <p:nvSpPr>
          <p:cNvPr id="469" name="Google Shape;469;p55"/>
          <p:cNvSpPr txBox="1"/>
          <p:nvPr/>
        </p:nvSpPr>
        <p:spPr>
          <a:xfrm>
            <a:off x="457200" y="2995613"/>
            <a:ext cx="2302233" cy="584775"/>
          </a:xfrm>
          <a:prstGeom prst="rect">
            <a:avLst/>
          </a:prstGeom>
          <a:blipFill rotWithShape="1">
            <a:blip r:embed="rId1"/>
            <a:stretch>
              <a:fillRect l="-6613" t="-14579" b="-3229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2400"/>
              <a:buFont typeface="Times New Roman" panose="02020603050405020304"/>
              <a:buNone/>
            </a:pPr>
            <a:r>
              <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sp>
        <p:nvSpPr>
          <p:cNvPr id="470" name="Google Shape;470;p55"/>
          <p:cNvSpPr txBox="1"/>
          <p:nvPr/>
        </p:nvSpPr>
        <p:spPr>
          <a:xfrm>
            <a:off x="4876800" y="2919413"/>
            <a:ext cx="1646605" cy="596382"/>
          </a:xfrm>
          <a:prstGeom prst="rect">
            <a:avLst/>
          </a:prstGeom>
          <a:blipFill rotWithShape="1">
            <a:blip r:embed="rId1"/>
            <a:stretch>
              <a:fillRect l="-7405" t="-1019" b="-2550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2400"/>
              <a:buFont typeface="Times New Roman" panose="02020603050405020304"/>
              <a:buNone/>
            </a:pPr>
            <a:r>
              <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24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475" name="Shape 475"/>
        <p:cNvGrpSpPr/>
        <p:nvPr/>
      </p:nvGrpSpPr>
      <p:grpSpPr>
        <a:xfrm>
          <a:off x="0" y="0"/>
          <a:ext cx="0" cy="0"/>
          <a:chOff x="0" y="0"/>
          <a:chExt cx="0" cy="0"/>
        </a:xfrm>
      </p:grpSpPr>
      <p:sp>
        <p:nvSpPr>
          <p:cNvPr id="476" name="Google Shape;476;p56"/>
          <p:cNvSpPr txBox="1"/>
          <p:nvPr>
            <p:ph type="title"/>
          </p:nvPr>
        </p:nvSpPr>
        <p:spPr>
          <a:xfrm>
            <a:off x="561975" y="1027112"/>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panose="02020603050405020304"/>
              <a:buNone/>
            </a:pPr>
            <a:br>
              <a:rPr lang="en-US" sz="40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br>
              <a:rPr lang="en-US" sz="40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br>
              <a:rPr lang="en-US" sz="4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36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Mode</a:t>
            </a:r>
            <a:br>
              <a:rPr lang="en-US" sz="3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3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Most frequently occurring value</a:t>
            </a:r>
            <a:br>
              <a:rPr lang="en-US" sz="3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br>
              <a:rPr lang="en-US" sz="4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lang="en-US" sz="4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7" name="Google Shape;477;p56"/>
          <p:cNvSpPr txBox="1"/>
          <p:nvPr/>
        </p:nvSpPr>
        <p:spPr>
          <a:xfrm>
            <a:off x="561975" y="2922587"/>
            <a:ext cx="8245475" cy="39354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Data			{1,3,7,3,2,3,6,7}</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177800" algn="l" rtl="0">
              <a:lnSpc>
                <a:spcPct val="100000"/>
              </a:lnSpc>
              <a:spcBef>
                <a:spcPts val="0"/>
              </a:spcBef>
              <a:spcAft>
                <a:spcPts val="0"/>
              </a:spcAft>
              <a:buClr>
                <a:schemeClr val="dk1"/>
              </a:buClr>
              <a:buSzPts val="2800"/>
              <a:buFont typeface="Times New Roman" panose="02020603050405020304"/>
              <a:buChar char="•"/>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Mode : 3</a:t>
            </a:r>
            <a:endPar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0" algn="l" rtl="0">
              <a:lnSpc>
                <a:spcPct val="100000"/>
              </a:lnSpc>
              <a:spcBef>
                <a:spcPts val="0"/>
              </a:spcBef>
              <a:spcAft>
                <a:spcPts val="0"/>
              </a:spcAft>
              <a:buClr>
                <a:schemeClr val="dk1"/>
              </a:buClr>
              <a:buSzPts val="2800"/>
              <a:buFont typeface="Times New Roman" panose="02020603050405020304"/>
              <a:buNone/>
            </a:pPr>
            <a:endPara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Data 			 {1,3,7,3,2,3,6,7,1,1}</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177800" algn="l" rtl="0">
              <a:lnSpc>
                <a:spcPct val="100000"/>
              </a:lnSpc>
              <a:spcBef>
                <a:spcPts val="0"/>
              </a:spcBef>
              <a:spcAft>
                <a:spcPts val="0"/>
              </a:spcAft>
              <a:buClr>
                <a:schemeClr val="dk1"/>
              </a:buClr>
              <a:buSzPts val="2800"/>
              <a:buFont typeface="Times New Roman" panose="02020603050405020304"/>
              <a:buChar char="•"/>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Mode  : 1,3</a:t>
            </a:r>
            <a:endPar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0" algn="l" rtl="0">
              <a:lnSpc>
                <a:spcPct val="100000"/>
              </a:lnSpc>
              <a:spcBef>
                <a:spcPts val="0"/>
              </a:spcBef>
              <a:spcAft>
                <a:spcPts val="0"/>
              </a:spcAft>
              <a:buClr>
                <a:schemeClr val="dk1"/>
              </a:buClr>
              <a:buSzPts val="2800"/>
              <a:buFont typeface="Times New Roman" panose="02020603050405020304"/>
              <a:buNone/>
            </a:pPr>
            <a:endPara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Data 			 {1,3,7,0,2,-3, 6,5,-1}</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177800" algn="l" rtl="0">
              <a:lnSpc>
                <a:spcPct val="100000"/>
              </a:lnSpc>
              <a:spcBef>
                <a:spcPts val="0"/>
              </a:spcBef>
              <a:spcAft>
                <a:spcPts val="0"/>
              </a:spcAft>
              <a:buClr>
                <a:schemeClr val="dk1"/>
              </a:buClr>
              <a:buSzPts val="2800"/>
              <a:buFont typeface="Times New Roman" panose="02020603050405020304"/>
              <a:buChar char="•"/>
            </a:pPr>
            <a:r>
              <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Mode  : none</a:t>
            </a:r>
            <a:endParaRPr lang="en-US"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481" name="Shape 481"/>
        <p:cNvGrpSpPr/>
        <p:nvPr/>
      </p:nvGrpSpPr>
      <p:grpSpPr>
        <a:xfrm>
          <a:off x="0" y="0"/>
          <a:ext cx="0" cy="0"/>
          <a:chOff x="0" y="0"/>
          <a:chExt cx="0" cy="0"/>
        </a:xfrm>
      </p:grpSpPr>
      <p:sp>
        <p:nvSpPr>
          <p:cNvPr id="482" name="Google Shape;482;p57"/>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Multimodal Distributions</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3" name="Google Shape;483;p57"/>
          <p:cNvSpPr txBox="1"/>
          <p:nvPr>
            <p:ph type="body" idx="1"/>
          </p:nvPr>
        </p:nvSpPr>
        <p:spPr>
          <a:xfrm>
            <a:off x="684212" y="1979612"/>
            <a:ext cx="3811587" cy="411638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If a distribution has more than 2 “modes,” it is called </a:t>
            </a:r>
            <a:r>
              <a:rPr lang="en-US" sz="28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multimodal</a:t>
            </a:r>
            <a:endParaRPr lang="en-US" sz="28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84" name="Google Shape;484;p57"/>
          <p:cNvPicPr preferRelativeResize="0"/>
          <p:nvPr>
            <p:ph type="chart" idx="2"/>
          </p:nvPr>
        </p:nvPicPr>
        <p:blipFill rotWithShape="1">
          <a:blip r:embed="rId1"/>
          <a:srcRect/>
          <a:stretch>
            <a:fillRect/>
          </a:stretch>
        </p:blipFill>
        <p:spPr>
          <a:xfrm>
            <a:off x="4876800" y="1981200"/>
            <a:ext cx="3352800" cy="4114800"/>
          </a:xfrm>
          <a:prstGeom prst="rect">
            <a:avLst/>
          </a:prstGeom>
          <a:noFill/>
          <a:ln>
            <a:noFill/>
          </a:ln>
        </p:spPr>
      </p:pic>
      <p:sp>
        <p:nvSpPr>
          <p:cNvPr id="485" name="Google Shape;485;p57"/>
          <p:cNvSpPr/>
          <p:nvPr/>
        </p:nvSpPr>
        <p:spPr>
          <a:xfrm>
            <a:off x="5935662" y="2679700"/>
            <a:ext cx="2020887" cy="336550"/>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490" name="Shape 490"/>
        <p:cNvGrpSpPr/>
        <p:nvPr/>
      </p:nvGrpSpPr>
      <p:grpSpPr>
        <a:xfrm>
          <a:off x="0" y="0"/>
          <a:ext cx="0" cy="0"/>
          <a:chOff x="0" y="0"/>
          <a:chExt cx="0" cy="0"/>
        </a:xfrm>
      </p:grpSpPr>
      <p:sp>
        <p:nvSpPr>
          <p:cNvPr id="491" name="Google Shape;491;p58"/>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Central Tendency Example: Mode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2" name="Google Shape;492;p58"/>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3200"/>
              <a:buChar char="•"/>
            </a:pPr>
            <a:r>
              <a:rPr lang="en-US" sz="32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52, 76, 100, 136, 186, 196, 205, 150, 257, 264, 264, 280, 282, 283, 303, 313, 317, 317, 325, 373, 384, 384, 400, 402, 417, 422, 472, 480, 643, 693, 732, 749, 750, 791, 891</a:t>
            </a:r>
            <a:endParaRPr lang="en-US" sz="32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9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Mode: most frequent observation</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9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Mode(s) for hotel rates:</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90000"/>
              </a:lnSpc>
              <a:spcBef>
                <a:spcPts val="560"/>
              </a:spcBef>
              <a:spcAft>
                <a:spcPts val="0"/>
              </a:spcAft>
              <a:buSzPts val="2800"/>
              <a:buChar char="•"/>
            </a:pPr>
            <a:r>
              <a:rPr lang="en-US" sz="2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264, 317, 384</a:t>
            </a:r>
            <a:endParaRPr lang="en-US" sz="2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3" name="Google Shape;493;p58"/>
          <p:cNvSpPr txBox="1"/>
          <p:nvPr/>
        </p:nvSpPr>
        <p:spPr>
          <a:xfrm>
            <a:off x="992187" y="2470150"/>
            <a:ext cx="1676400" cy="381000"/>
          </a:xfrm>
          <a:prstGeom prst="rect">
            <a:avLst/>
          </a:prstGeom>
          <a:noFill/>
          <a:ln w="9525" cap="flat" cmpd="sng">
            <a:solidFill>
              <a:srgbClr val="CB06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4" name="Google Shape;494;p58"/>
          <p:cNvSpPr txBox="1"/>
          <p:nvPr/>
        </p:nvSpPr>
        <p:spPr>
          <a:xfrm>
            <a:off x="6667500" y="2459037"/>
            <a:ext cx="1676400" cy="457200"/>
          </a:xfrm>
          <a:prstGeom prst="rect">
            <a:avLst/>
          </a:prstGeom>
          <a:noFill/>
          <a:ln w="9525" cap="flat" cmpd="sng">
            <a:solidFill>
              <a:srgbClr val="CB06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5" name="Google Shape;495;p58"/>
          <p:cNvSpPr txBox="1"/>
          <p:nvPr/>
        </p:nvSpPr>
        <p:spPr>
          <a:xfrm>
            <a:off x="2668587" y="2916237"/>
            <a:ext cx="1676400" cy="457200"/>
          </a:xfrm>
          <a:prstGeom prst="rect">
            <a:avLst/>
          </a:prstGeom>
          <a:noFill/>
          <a:ln w="9525" cap="flat" cmpd="sng">
            <a:solidFill>
              <a:srgbClr val="CB06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499" name="Shape 499"/>
        <p:cNvGrpSpPr/>
        <p:nvPr/>
      </p:nvGrpSpPr>
      <p:grpSpPr>
        <a:xfrm>
          <a:off x="0" y="0"/>
          <a:ext cx="0" cy="0"/>
          <a:chOff x="0" y="0"/>
          <a:chExt cx="0" cy="0"/>
        </a:xfrm>
      </p:grpSpPr>
      <p:cxnSp>
        <p:nvCxnSpPr>
          <p:cNvPr id="500" name="Google Shape;500;p59"/>
          <p:cNvCxnSpPr/>
          <p:nvPr/>
        </p:nvCxnSpPr>
        <p:spPr>
          <a:xfrm>
            <a:off x="3549650" y="6651625"/>
            <a:ext cx="268287" cy="0"/>
          </a:xfrm>
          <a:prstGeom prst="straightConnector1">
            <a:avLst/>
          </a:prstGeom>
          <a:noFill/>
          <a:ln>
            <a:noFill/>
          </a:ln>
        </p:spPr>
      </p:cxnSp>
      <p:sp>
        <p:nvSpPr>
          <p:cNvPr id="501" name="Google Shape;501;p59"/>
          <p:cNvSpPr txBox="1"/>
          <p:nvPr>
            <p:ph type="title"/>
          </p:nvPr>
        </p:nvSpPr>
        <p:spPr>
          <a:xfrm>
            <a:off x="685800" y="574675"/>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The Mode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2" name="Google Shape;502;p59"/>
          <p:cNvSpPr txBox="1"/>
          <p:nvPr/>
        </p:nvSpPr>
        <p:spPr>
          <a:xfrm>
            <a:off x="684212" y="1979612"/>
            <a:ext cx="7985125" cy="41163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Times New Roman" panose="02020603050405020304"/>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a:t>
            </a:r>
            <a:r>
              <a:rPr lang="en-US" sz="2800" b="0"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mode</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is the score that occurs most frequently in a set of data</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Not Affected by Extreme Values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There May Not be a Mode</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There May be Several Modes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Used for  non-numerical or categorical data</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03" name="Google Shape;503;p59"/>
          <p:cNvCxnSpPr/>
          <p:nvPr/>
        </p:nvCxnSpPr>
        <p:spPr>
          <a:xfrm>
            <a:off x="593725" y="5695950"/>
            <a:ext cx="3368675" cy="0"/>
          </a:xfrm>
          <a:prstGeom prst="straightConnector1">
            <a:avLst/>
          </a:prstGeom>
          <a:noFill/>
          <a:ln w="12700" cap="flat" cmpd="sng">
            <a:solidFill>
              <a:srgbClr val="FFFFCC"/>
            </a:solidFill>
            <a:prstDash val="solid"/>
            <a:miter lim="800000"/>
            <a:headEnd type="none" w="med" len="med"/>
            <a:tailEnd type="none" w="med" len="med"/>
          </a:ln>
        </p:spPr>
      </p:cxnSp>
      <p:sp>
        <p:nvSpPr>
          <p:cNvPr id="504" name="Google Shape;504;p59"/>
          <p:cNvSpPr txBox="1"/>
          <p:nvPr/>
        </p:nvSpPr>
        <p:spPr>
          <a:xfrm>
            <a:off x="431800" y="5695950"/>
            <a:ext cx="5495925" cy="363537"/>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1800"/>
              <a:buFont typeface="Times New Roman" panose="02020603050405020304"/>
              <a:buNone/>
            </a:pPr>
            <a:r>
              <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0   1   2   3   4   5   6   7   8   9   10   11   12   13   14   </a:t>
            </a:r>
            <a:endPar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5" name="Google Shape;505;p59"/>
          <p:cNvSpPr/>
          <p:nvPr/>
        </p:nvSpPr>
        <p:spPr>
          <a:xfrm>
            <a:off x="736600" y="54673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6" name="Google Shape;506;p59"/>
          <p:cNvSpPr/>
          <p:nvPr/>
        </p:nvSpPr>
        <p:spPr>
          <a:xfrm>
            <a:off x="1346200" y="54673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7" name="Google Shape;507;p59"/>
          <p:cNvSpPr/>
          <p:nvPr/>
        </p:nvSpPr>
        <p:spPr>
          <a:xfrm>
            <a:off x="1879600" y="54673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8" name="Google Shape;508;p59"/>
          <p:cNvSpPr/>
          <p:nvPr/>
        </p:nvSpPr>
        <p:spPr>
          <a:xfrm>
            <a:off x="2489200" y="54673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9" name="Google Shape;509;p59"/>
          <p:cNvSpPr/>
          <p:nvPr/>
        </p:nvSpPr>
        <p:spPr>
          <a:xfrm>
            <a:off x="1879600" y="52387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0" name="Google Shape;510;p59"/>
          <p:cNvSpPr/>
          <p:nvPr/>
        </p:nvSpPr>
        <p:spPr>
          <a:xfrm>
            <a:off x="3022600" y="54673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1" name="Google Shape;511;p59"/>
          <p:cNvSpPr/>
          <p:nvPr/>
        </p:nvSpPr>
        <p:spPr>
          <a:xfrm>
            <a:off x="3022600" y="52387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2" name="Google Shape;512;p59"/>
          <p:cNvSpPr/>
          <p:nvPr/>
        </p:nvSpPr>
        <p:spPr>
          <a:xfrm>
            <a:off x="3022600" y="50101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3" name="Google Shape;513;p59"/>
          <p:cNvSpPr txBox="1"/>
          <p:nvPr/>
        </p:nvSpPr>
        <p:spPr>
          <a:xfrm>
            <a:off x="3322637" y="6300787"/>
            <a:ext cx="1685925" cy="458787"/>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Mode = 9</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4" name="Google Shape;514;p59"/>
          <p:cNvSpPr/>
          <p:nvPr/>
        </p:nvSpPr>
        <p:spPr>
          <a:xfrm>
            <a:off x="3403600" y="54673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5" name="Google Shape;515;p59"/>
          <p:cNvSpPr/>
          <p:nvPr/>
        </p:nvSpPr>
        <p:spPr>
          <a:xfrm rot="-5400000">
            <a:off x="2808287" y="5986462"/>
            <a:ext cx="609600" cy="485775"/>
          </a:xfrm>
          <a:prstGeom prst="rightArrow">
            <a:avLst>
              <a:gd name="adj1" fmla="val 16162"/>
              <a:gd name="adj2" fmla="val 50000"/>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16" name="Google Shape;516;p59"/>
          <p:cNvCxnSpPr/>
          <p:nvPr/>
        </p:nvCxnSpPr>
        <p:spPr>
          <a:xfrm>
            <a:off x="3794125" y="5695950"/>
            <a:ext cx="1311275" cy="0"/>
          </a:xfrm>
          <a:prstGeom prst="straightConnector1">
            <a:avLst/>
          </a:prstGeom>
          <a:noFill/>
          <a:ln w="12700" cap="flat" cmpd="sng">
            <a:solidFill>
              <a:srgbClr val="FFFFCC"/>
            </a:solidFill>
            <a:prstDash val="solid"/>
            <a:miter lim="800000"/>
            <a:headEnd type="none" w="med" len="med"/>
            <a:tailEnd type="none" w="med" len="med"/>
          </a:ln>
        </p:spPr>
      </p:cxnSp>
      <p:sp>
        <p:nvSpPr>
          <p:cNvPr id="517" name="Google Shape;517;p59"/>
          <p:cNvSpPr/>
          <p:nvPr/>
        </p:nvSpPr>
        <p:spPr>
          <a:xfrm>
            <a:off x="4165600" y="54673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8" name="Google Shape;518;p59"/>
          <p:cNvSpPr/>
          <p:nvPr/>
        </p:nvSpPr>
        <p:spPr>
          <a:xfrm>
            <a:off x="4165600" y="52387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9" name="Google Shape;519;p59"/>
          <p:cNvSpPr/>
          <p:nvPr/>
        </p:nvSpPr>
        <p:spPr>
          <a:xfrm>
            <a:off x="4622800" y="54673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0" name="Google Shape;520;p59"/>
          <p:cNvSpPr/>
          <p:nvPr/>
        </p:nvSpPr>
        <p:spPr>
          <a:xfrm>
            <a:off x="5003800" y="54673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21" name="Google Shape;521;p59"/>
          <p:cNvCxnSpPr/>
          <p:nvPr/>
        </p:nvCxnSpPr>
        <p:spPr>
          <a:xfrm>
            <a:off x="6613525" y="5619750"/>
            <a:ext cx="1844675" cy="0"/>
          </a:xfrm>
          <a:prstGeom prst="straightConnector1">
            <a:avLst/>
          </a:prstGeom>
          <a:noFill/>
          <a:ln w="12700" cap="flat" cmpd="sng">
            <a:solidFill>
              <a:srgbClr val="FFFFCC"/>
            </a:solidFill>
            <a:prstDash val="solid"/>
            <a:miter lim="800000"/>
            <a:headEnd type="none" w="med" len="med"/>
            <a:tailEnd type="none" w="med" len="med"/>
          </a:ln>
        </p:spPr>
      </p:cxnSp>
      <p:sp>
        <p:nvSpPr>
          <p:cNvPr id="522" name="Google Shape;522;p59"/>
          <p:cNvSpPr txBox="1"/>
          <p:nvPr/>
        </p:nvSpPr>
        <p:spPr>
          <a:xfrm>
            <a:off x="6459537" y="5607050"/>
            <a:ext cx="2524125" cy="363537"/>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1800"/>
              <a:buFont typeface="Times New Roman" panose="02020603050405020304"/>
              <a:buNone/>
            </a:pPr>
            <a:r>
              <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0   1   2   3   4   5   6</a:t>
            </a:r>
            <a:endParaRPr lang="en-US" sz="1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3" name="Google Shape;523;p59"/>
          <p:cNvSpPr/>
          <p:nvPr/>
        </p:nvSpPr>
        <p:spPr>
          <a:xfrm>
            <a:off x="6451600" y="53911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4" name="Google Shape;524;p59"/>
          <p:cNvSpPr/>
          <p:nvPr/>
        </p:nvSpPr>
        <p:spPr>
          <a:xfrm>
            <a:off x="6756400" y="53911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5" name="Google Shape;525;p59"/>
          <p:cNvSpPr/>
          <p:nvPr/>
        </p:nvSpPr>
        <p:spPr>
          <a:xfrm>
            <a:off x="7061200" y="53911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6" name="Google Shape;526;p59"/>
          <p:cNvSpPr/>
          <p:nvPr/>
        </p:nvSpPr>
        <p:spPr>
          <a:xfrm>
            <a:off x="7289800" y="53911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7" name="Google Shape;527;p59"/>
          <p:cNvSpPr/>
          <p:nvPr/>
        </p:nvSpPr>
        <p:spPr>
          <a:xfrm>
            <a:off x="7594600" y="53911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8" name="Google Shape;528;p59"/>
          <p:cNvSpPr/>
          <p:nvPr/>
        </p:nvSpPr>
        <p:spPr>
          <a:xfrm>
            <a:off x="7899400" y="53911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9" name="Google Shape;529;p59"/>
          <p:cNvSpPr/>
          <p:nvPr/>
        </p:nvSpPr>
        <p:spPr>
          <a:xfrm>
            <a:off x="8204200" y="5391150"/>
            <a:ext cx="228600" cy="228600"/>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0" name="Google Shape;530;p59"/>
          <p:cNvSpPr txBox="1"/>
          <p:nvPr/>
        </p:nvSpPr>
        <p:spPr>
          <a:xfrm>
            <a:off x="6827837" y="6148387"/>
            <a:ext cx="1609725" cy="458787"/>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No Mode</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31" name="Google Shape;531;p59"/>
          <p:cNvCxnSpPr/>
          <p:nvPr/>
        </p:nvCxnSpPr>
        <p:spPr>
          <a:xfrm>
            <a:off x="498475" y="5735637"/>
            <a:ext cx="4833937" cy="1587"/>
          </a:xfrm>
          <a:prstGeom prst="straightConnector1">
            <a:avLst/>
          </a:prstGeom>
          <a:noFill/>
          <a:ln w="9525" cap="flat" cmpd="sng">
            <a:solidFill>
              <a:schemeClr val="dk1"/>
            </a:solidFill>
            <a:prstDash val="solid"/>
            <a:miter lim="800000"/>
            <a:headEnd type="none" w="med" len="med"/>
            <a:tailEnd type="none" w="med" len="med"/>
          </a:ln>
        </p:spPr>
      </p:cxnSp>
      <p:cxnSp>
        <p:nvCxnSpPr>
          <p:cNvPr id="532" name="Google Shape;532;p59"/>
          <p:cNvCxnSpPr/>
          <p:nvPr/>
        </p:nvCxnSpPr>
        <p:spPr>
          <a:xfrm rot="10800000" flipH="1">
            <a:off x="6389687" y="5616575"/>
            <a:ext cx="2208212" cy="47625"/>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transition spd="slow">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536" name="Shape 536"/>
        <p:cNvGrpSpPr/>
        <p:nvPr/>
      </p:nvGrpSpPr>
      <p:grpSpPr>
        <a:xfrm>
          <a:off x="0" y="0"/>
          <a:ext cx="0" cy="0"/>
          <a:chOff x="0" y="0"/>
          <a:chExt cx="0" cy="0"/>
        </a:xfrm>
      </p:grpSpPr>
      <p:sp>
        <p:nvSpPr>
          <p:cNvPr id="537" name="Google Shape;537;p60"/>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When To Use the Mode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8" name="Google Shape;538;p60"/>
          <p:cNvSpPr txBox="1"/>
          <p:nvPr>
            <p:ph type="body" idx="1"/>
          </p:nvPr>
        </p:nvSpPr>
        <p:spPr>
          <a:xfrm>
            <a:off x="685800" y="1981200"/>
            <a:ext cx="7772400" cy="211613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mode is </a:t>
            </a:r>
            <a:r>
              <a:rPr lang="en-US" sz="32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not a very useful </a:t>
            </a: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measure of central tendency</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It is </a:t>
            </a:r>
            <a:r>
              <a:rPr lang="en-US"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insensitive to large </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changes in the data set</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143000" lvl="2" indent="-228600" algn="l" rtl="0">
              <a:lnSpc>
                <a:spcPct val="100000"/>
              </a:lnSpc>
              <a:spcBef>
                <a:spcPts val="480"/>
              </a:spcBef>
              <a:spcAft>
                <a:spcPts val="0"/>
              </a:spcAft>
              <a:buClr>
                <a:schemeClr val="dk1"/>
              </a:buClr>
              <a:buSzPts val="2400"/>
              <a:buFont typeface="Times New Roman" panose="02020603050405020304"/>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That is, two data sets that are very different from each other can have the same mode</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39" name="Google Shape;539;p60"/>
          <p:cNvPicPr preferRelativeResize="0"/>
          <p:nvPr/>
        </p:nvPicPr>
        <p:blipFill rotWithShape="1">
          <a:blip r:embed="rId1"/>
          <a:srcRect/>
          <a:stretch>
            <a:fillRect/>
          </a:stretch>
        </p:blipFill>
        <p:spPr>
          <a:xfrm>
            <a:off x="850900" y="4056062"/>
            <a:ext cx="3257550" cy="2838450"/>
          </a:xfrm>
          <a:prstGeom prst="rect">
            <a:avLst/>
          </a:prstGeom>
          <a:noFill/>
          <a:ln>
            <a:noFill/>
          </a:ln>
        </p:spPr>
      </p:pic>
      <p:pic>
        <p:nvPicPr>
          <p:cNvPr id="540" name="Google Shape;540;p60"/>
          <p:cNvPicPr preferRelativeResize="0"/>
          <p:nvPr/>
        </p:nvPicPr>
        <p:blipFill rotWithShape="1">
          <a:blip r:embed="rId2"/>
          <a:srcRect/>
          <a:stretch>
            <a:fillRect/>
          </a:stretch>
        </p:blipFill>
        <p:spPr>
          <a:xfrm>
            <a:off x="4724400" y="4054475"/>
            <a:ext cx="3257550" cy="2838450"/>
          </a:xfrm>
          <a:prstGeom prst="rect">
            <a:avLst/>
          </a:prstGeom>
          <a:noFill/>
          <a:ln>
            <a:noFill/>
          </a:ln>
        </p:spPr>
      </p:pic>
    </p:spTree>
  </p:cSld>
  <p:clrMapOvr>
    <a:masterClrMapping/>
  </p:clrMapOvr>
  <p:transition spd="slow">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544" name="Shape 544"/>
        <p:cNvGrpSpPr/>
        <p:nvPr/>
      </p:nvGrpSpPr>
      <p:grpSpPr>
        <a:xfrm>
          <a:off x="0" y="0"/>
          <a:ext cx="0" cy="0"/>
          <a:chOff x="0" y="0"/>
          <a:chExt cx="0" cy="0"/>
        </a:xfrm>
      </p:grpSpPr>
      <p:sp>
        <p:nvSpPr>
          <p:cNvPr id="545" name="Google Shape;545;p61"/>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When To Use the Mode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6" name="Google Shape;546;p61"/>
          <p:cNvSpPr txBox="1"/>
          <p:nvPr>
            <p:ph type="body" idx="1"/>
          </p:nvPr>
        </p:nvSpPr>
        <p:spPr>
          <a:xfrm>
            <a:off x="684212" y="1979612"/>
            <a:ext cx="7769225" cy="4116387"/>
          </a:xfrm>
          <a:prstGeom prst="rect">
            <a:avLst/>
          </a:prstGeom>
          <a:noFill/>
          <a:ln>
            <a:noFill/>
          </a:ln>
        </p:spPr>
        <p:txBody>
          <a:bodyPr spcFirstLastPara="1" wrap="square" lIns="91425" tIns="45700" rIns="91425" bIns="45700" anchor="t" anchorCtr="0">
            <a:noAutofit/>
          </a:bodyPr>
          <a:lstStyle/>
          <a:p>
            <a:pPr marL="342900" lvl="0" indent="-139700" algn="l" rtl="0">
              <a:lnSpc>
                <a:spcPct val="100000"/>
              </a:lnSpc>
              <a:spcBef>
                <a:spcPts val="0"/>
              </a:spcBef>
              <a:spcAft>
                <a:spcPts val="0"/>
              </a:spcAft>
              <a:buSzPts val="3200"/>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When there is more than one mode, it is difficult to interpret and/or compare. </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mode is primarily used with </a:t>
            </a:r>
            <a:r>
              <a:rPr lang="en-US" sz="32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nominally scaled data</a:t>
            </a:r>
            <a:endParaRPr lang="en-US" sz="32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56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It is the only measure of central tendency that is appropriate for nominally scaled data</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65100" algn="l" rtl="0">
              <a:spcBef>
                <a:spcPts val="560"/>
              </a:spcBef>
              <a:spcAft>
                <a:spcPts val="0"/>
              </a:spcAft>
              <a:buSzPts val="2800"/>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551" name="Shape 551"/>
        <p:cNvGrpSpPr/>
        <p:nvPr/>
      </p:nvGrpSpPr>
      <p:grpSpPr>
        <a:xfrm>
          <a:off x="0" y="0"/>
          <a:ext cx="0" cy="0"/>
          <a:chOff x="0" y="0"/>
          <a:chExt cx="0" cy="0"/>
        </a:xfrm>
      </p:grpSpPr>
      <p:sp>
        <p:nvSpPr>
          <p:cNvPr id="552" name="Google Shape;552;p62"/>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Pros and Cons of the Mode</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3" name="Google Shape;553;p62"/>
          <p:cNvSpPr txBox="1"/>
          <p:nvPr>
            <p:ph type="body" idx="1"/>
          </p:nvPr>
        </p:nvSpPr>
        <p:spPr>
          <a:xfrm>
            <a:off x="838200" y="1905000"/>
            <a:ext cx="3925887" cy="4191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Pros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Good for nominal data.</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Easiest to compute and understand.</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score comes from the data set.</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4" name="Google Shape;554;p62"/>
          <p:cNvSpPr txBox="1"/>
          <p:nvPr>
            <p:ph type="body" idx="1"/>
          </p:nvPr>
        </p:nvSpPr>
        <p:spPr>
          <a:xfrm>
            <a:off x="4919662" y="1905000"/>
            <a:ext cx="3925887" cy="4191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Cons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Ignores most of the information in a distribution.</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100000"/>
              </a:lnSpc>
              <a:spcBef>
                <a:spcPts val="48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Small samples may not have a mode.</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559" name="Shape 559"/>
        <p:cNvGrpSpPr/>
        <p:nvPr/>
      </p:nvGrpSpPr>
      <p:grpSpPr>
        <a:xfrm>
          <a:off x="0" y="0"/>
          <a:ext cx="0" cy="0"/>
          <a:chOff x="0" y="0"/>
          <a:chExt cx="0" cy="0"/>
        </a:xfrm>
      </p:grpSpPr>
      <p:sp>
        <p:nvSpPr>
          <p:cNvPr id="560" name="Google Shape;560;p63"/>
          <p:cNvSpPr txBox="1"/>
          <p:nvPr>
            <p:ph type="title"/>
          </p:nvPr>
        </p:nvSpPr>
        <p:spPr>
          <a:xfrm>
            <a:off x="685800" y="4572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Times New Roman" panose="02020603050405020304"/>
              <a:buNone/>
            </a:pPr>
            <a:r>
              <a:rPr lang="en-US" sz="3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Example: Central Location</a:t>
            </a:r>
            <a:r>
              <a:rPr lang="en-US"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br>
              <a:rPr lang="en-US"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lang="en-US" sz="1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1" name="Google Shape;561;p63"/>
          <p:cNvSpPr txBox="1"/>
          <p:nvPr/>
        </p:nvSpPr>
        <p:spPr>
          <a:xfrm>
            <a:off x="276225" y="1984375"/>
            <a:ext cx="8562975" cy="54594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Suppose the age in years of the first 10 patients enrolled in your study are:    34, 24, 56, 52, 21, 44, 64, 34, 42, 46 </a:t>
            </a:r>
            <a:b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Then the mean age of this group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is 41.7 years</a:t>
            </a:r>
            <a:endParaRPr lang="en-US" sz="24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To find the median, first order the data:</a:t>
            </a: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21, 24, 34, 34, 42, 44, 46, 52, 56, 64</a:t>
            </a: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FF0000"/>
              </a:buClr>
              <a:buSzPts val="2400"/>
              <a:buFont typeface="Times New Roman" panose="02020603050405020304"/>
              <a:buNone/>
            </a:pPr>
            <a:r>
              <a:rPr lang="en-US" sz="24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			The median is  (42 +44)/2   </a:t>
            </a:r>
            <a:r>
              <a:rPr lang="en-US" sz="2400" b="0" i="0" u="none">
                <a:solidFill>
                  <a:srgbClr val="FF0000"/>
                </a:solidFill>
                <a:latin typeface="Tahoma" panose="020B0604030504040204"/>
                <a:ea typeface="Tahoma" panose="020B0604030504040204"/>
                <a:cs typeface="Tahoma" panose="020B0604030504040204"/>
                <a:sym typeface="Tahoma" panose="020B0604030504040204"/>
              </a:rPr>
              <a:t>=  43 years </a:t>
            </a:r>
            <a:endParaRPr sz="24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mode</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is  34 years.</a:t>
            </a:r>
            <a:endParaRPr sz="24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b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566" name="Shape 566"/>
        <p:cNvGrpSpPr/>
        <p:nvPr/>
      </p:nvGrpSpPr>
      <p:grpSpPr>
        <a:xfrm>
          <a:off x="0" y="0"/>
          <a:ext cx="0" cy="0"/>
          <a:chOff x="0" y="0"/>
          <a:chExt cx="0" cy="0"/>
        </a:xfrm>
      </p:grpSpPr>
      <p:sp>
        <p:nvSpPr>
          <p:cNvPr id="567" name="Google Shape;567;p64"/>
          <p:cNvSpPr txBox="1"/>
          <p:nvPr/>
        </p:nvSpPr>
        <p:spPr>
          <a:xfrm>
            <a:off x="212725" y="2068512"/>
            <a:ext cx="8458200" cy="57800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Suppose the next patient enrolls and their age is 97 years.</a:t>
            </a: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How does the mean, median and mode change? </a:t>
            </a:r>
            <a:b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Then the mean age of this group </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is 46.7 years</a:t>
            </a:r>
            <a:endParaRPr lang="en-US"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To find the median, first order the data:</a:t>
            </a: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21, 24, 34, 34, 42, 44, 46, 52, 56, 64, </a:t>
            </a:r>
            <a:r>
              <a:rPr lang="en-US"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97</a:t>
            </a:r>
            <a:endParaRPr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FF0000"/>
              </a:buClr>
              <a:buSzPts val="2800"/>
              <a:buFont typeface="Times New Roman" panose="02020603050405020304"/>
              <a:buNone/>
            </a:pPr>
            <a:r>
              <a:rPr lang="en-US"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			The median is  44</a:t>
            </a:r>
            <a:r>
              <a:rPr lang="en-US" sz="2800" b="0" i="0" u="none">
                <a:solidFill>
                  <a:srgbClr val="FF0000"/>
                </a:solidFill>
                <a:latin typeface="Tahoma" panose="020B0604030504040204"/>
                <a:ea typeface="Tahoma" panose="020B0604030504040204"/>
                <a:cs typeface="Tahoma" panose="020B0604030504040204"/>
                <a:sym typeface="Tahoma" panose="020B0604030504040204"/>
              </a:rPr>
              <a:t> years </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The mode</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is  34 years.</a:t>
            </a:r>
            <a:endParaRPr sz="28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b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571" name="Shape 571"/>
        <p:cNvGrpSpPr/>
        <p:nvPr/>
      </p:nvGrpSpPr>
      <p:grpSpPr>
        <a:xfrm>
          <a:off x="0" y="0"/>
          <a:ext cx="0" cy="0"/>
          <a:chOff x="0" y="0"/>
          <a:chExt cx="0" cy="0"/>
        </a:xfrm>
      </p:grpSpPr>
      <p:sp>
        <p:nvSpPr>
          <p:cNvPr id="572" name="Google Shape;572;p65"/>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Relations Between the Measures of Central Tendency</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573" name="Google Shape;573;p65"/>
          <p:cNvGrpSpPr/>
          <p:nvPr/>
        </p:nvGrpSpPr>
        <p:grpSpPr>
          <a:xfrm>
            <a:off x="609600" y="2338387"/>
            <a:ext cx="7772400" cy="4114800"/>
            <a:chOff x="292" y="1252"/>
            <a:chExt cx="5299" cy="2728"/>
          </a:xfrm>
        </p:grpSpPr>
        <p:sp>
          <p:nvSpPr>
            <p:cNvPr id="574" name="Google Shape;574;p65"/>
            <p:cNvSpPr txBox="1"/>
            <p:nvPr/>
          </p:nvSpPr>
          <p:spPr>
            <a:xfrm>
              <a:off x="292" y="1252"/>
              <a:ext cx="5299" cy="2728"/>
            </a:xfrm>
            <a:prstGeom prst="rect">
              <a:avLst/>
            </a:prstGeom>
            <a:noFill/>
            <a:ln w="50800" cap="flat" cmpd="sng">
              <a:solidFill>
                <a:srgbClr val="F6BF6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575" name="Google Shape;575;p65"/>
            <p:cNvGrpSpPr/>
            <p:nvPr/>
          </p:nvGrpSpPr>
          <p:grpSpPr>
            <a:xfrm>
              <a:off x="369" y="1350"/>
              <a:ext cx="5050" cy="2446"/>
              <a:chOff x="369" y="1350"/>
              <a:chExt cx="5050" cy="2446"/>
            </a:xfrm>
          </p:grpSpPr>
          <p:grpSp>
            <p:nvGrpSpPr>
              <p:cNvPr id="576" name="Google Shape;576;p65"/>
              <p:cNvGrpSpPr/>
              <p:nvPr/>
            </p:nvGrpSpPr>
            <p:grpSpPr>
              <a:xfrm>
                <a:off x="369" y="1350"/>
                <a:ext cx="1813" cy="2446"/>
                <a:chOff x="369" y="1350"/>
                <a:chExt cx="1813" cy="2446"/>
              </a:xfrm>
            </p:grpSpPr>
            <p:sp>
              <p:nvSpPr>
                <p:cNvPr id="577" name="Google Shape;577;p65"/>
                <p:cNvSpPr txBox="1"/>
                <p:nvPr/>
              </p:nvSpPr>
              <p:spPr>
                <a:xfrm>
                  <a:off x="816" y="3280"/>
                  <a:ext cx="1075" cy="516"/>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FF0000"/>
                    </a:buClr>
                    <a:buSzPts val="2400"/>
                    <a:buFont typeface="Arial" panose="020B0604020202020204"/>
                    <a:buNone/>
                  </a:pPr>
                  <a:r>
                    <a:rPr lang="en-US" sz="2400" b="1" i="0" u="none">
                      <a:solidFill>
                        <a:srgbClr val="FF0000"/>
                      </a:solidFill>
                      <a:latin typeface="Arial" panose="020B0604020202020204"/>
                      <a:ea typeface="Arial" panose="020B0604020202020204"/>
                      <a:cs typeface="Arial" panose="020B0604020202020204"/>
                      <a:sym typeface="Arial" panose="020B0604020202020204"/>
                    </a:rPr>
                    <a:t>Negatively</a:t>
                  </a:r>
                  <a:endParaRPr lang="en-US" sz="2400" b="1" i="0" u="none">
                    <a:solidFill>
                      <a:srgbClr val="FF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FF0000"/>
                    </a:buClr>
                    <a:buSzPts val="2400"/>
                    <a:buFont typeface="Arial" panose="020B0604020202020204"/>
                    <a:buNone/>
                  </a:pPr>
                  <a:r>
                    <a:rPr lang="en-US" sz="2400" b="1" i="0" u="none">
                      <a:solidFill>
                        <a:srgbClr val="FF0000"/>
                      </a:solidFill>
                      <a:latin typeface="Arial" panose="020B0604020202020204"/>
                      <a:ea typeface="Arial" panose="020B0604020202020204"/>
                      <a:cs typeface="Arial" panose="020B0604020202020204"/>
                      <a:sym typeface="Arial" panose="020B0604020202020204"/>
                    </a:rPr>
                    <a:t>Skewed</a:t>
                  </a:r>
                  <a:endParaRPr lang="en-US" sz="2400" b="1" i="0" u="none">
                    <a:solidFill>
                      <a:srgbClr val="FF0000"/>
                    </a:solidFill>
                    <a:latin typeface="Arial" panose="020B0604020202020204"/>
                    <a:ea typeface="Arial" panose="020B0604020202020204"/>
                    <a:cs typeface="Arial" panose="020B0604020202020204"/>
                    <a:sym typeface="Arial" panose="020B0604020202020204"/>
                  </a:endParaRPr>
                </a:p>
              </p:txBody>
            </p:sp>
            <p:grpSp>
              <p:nvGrpSpPr>
                <p:cNvPr id="578" name="Google Shape;578;p65"/>
                <p:cNvGrpSpPr/>
                <p:nvPr/>
              </p:nvGrpSpPr>
              <p:grpSpPr>
                <a:xfrm>
                  <a:off x="369" y="1350"/>
                  <a:ext cx="1813" cy="1916"/>
                  <a:chOff x="369" y="1350"/>
                  <a:chExt cx="1813" cy="1916"/>
                </a:xfrm>
              </p:grpSpPr>
              <p:grpSp>
                <p:nvGrpSpPr>
                  <p:cNvPr id="579" name="Google Shape;579;p65"/>
                  <p:cNvGrpSpPr/>
                  <p:nvPr/>
                </p:nvGrpSpPr>
                <p:grpSpPr>
                  <a:xfrm>
                    <a:off x="369" y="1350"/>
                    <a:ext cx="1637" cy="1240"/>
                    <a:chOff x="369" y="1350"/>
                    <a:chExt cx="1637" cy="1240"/>
                  </a:xfrm>
                </p:grpSpPr>
                <p:sp>
                  <p:nvSpPr>
                    <p:cNvPr id="580" name="Google Shape;580;p65"/>
                    <p:cNvSpPr/>
                    <p:nvPr/>
                  </p:nvSpPr>
                  <p:spPr>
                    <a:xfrm>
                      <a:off x="394" y="1350"/>
                      <a:ext cx="1594" cy="1240"/>
                    </a:xfrm>
                    <a:custGeom>
                      <a:avLst/>
                      <a:gdLst/>
                      <a:ahLst/>
                      <a:cxnLst/>
                      <a:rect l="l" t="t" r="r" b="b"/>
                      <a:pathLst>
                        <a:path w="1594" h="1240" extrusionOk="0">
                          <a:moveTo>
                            <a:pt x="1593" y="1239"/>
                          </a:moveTo>
                          <a:lnTo>
                            <a:pt x="1590" y="1231"/>
                          </a:lnTo>
                          <a:lnTo>
                            <a:pt x="1587" y="1220"/>
                          </a:lnTo>
                          <a:lnTo>
                            <a:pt x="1584" y="1208"/>
                          </a:lnTo>
                          <a:lnTo>
                            <a:pt x="1581" y="1193"/>
                          </a:lnTo>
                          <a:lnTo>
                            <a:pt x="1578" y="1176"/>
                          </a:lnTo>
                          <a:lnTo>
                            <a:pt x="1575" y="1159"/>
                          </a:lnTo>
                          <a:lnTo>
                            <a:pt x="1572" y="1141"/>
                          </a:lnTo>
                          <a:lnTo>
                            <a:pt x="1569" y="1122"/>
                          </a:lnTo>
                          <a:lnTo>
                            <a:pt x="1566" y="1102"/>
                          </a:lnTo>
                          <a:lnTo>
                            <a:pt x="1563" y="1081"/>
                          </a:lnTo>
                          <a:lnTo>
                            <a:pt x="1560" y="1060"/>
                          </a:lnTo>
                          <a:lnTo>
                            <a:pt x="1557" y="1039"/>
                          </a:lnTo>
                          <a:lnTo>
                            <a:pt x="1554" y="1018"/>
                          </a:lnTo>
                          <a:lnTo>
                            <a:pt x="1551" y="997"/>
                          </a:lnTo>
                          <a:lnTo>
                            <a:pt x="1548" y="974"/>
                          </a:lnTo>
                          <a:lnTo>
                            <a:pt x="1545" y="953"/>
                          </a:lnTo>
                          <a:lnTo>
                            <a:pt x="1542" y="931"/>
                          </a:lnTo>
                          <a:lnTo>
                            <a:pt x="1538" y="908"/>
                          </a:lnTo>
                          <a:lnTo>
                            <a:pt x="1536" y="886"/>
                          </a:lnTo>
                          <a:lnTo>
                            <a:pt x="1533" y="864"/>
                          </a:lnTo>
                          <a:lnTo>
                            <a:pt x="1530" y="842"/>
                          </a:lnTo>
                          <a:lnTo>
                            <a:pt x="1527" y="820"/>
                          </a:lnTo>
                          <a:lnTo>
                            <a:pt x="1524" y="799"/>
                          </a:lnTo>
                          <a:lnTo>
                            <a:pt x="1521" y="776"/>
                          </a:lnTo>
                          <a:lnTo>
                            <a:pt x="1517" y="755"/>
                          </a:lnTo>
                          <a:lnTo>
                            <a:pt x="1515" y="734"/>
                          </a:lnTo>
                          <a:lnTo>
                            <a:pt x="1512" y="713"/>
                          </a:lnTo>
                          <a:lnTo>
                            <a:pt x="1508" y="692"/>
                          </a:lnTo>
                          <a:lnTo>
                            <a:pt x="1506" y="671"/>
                          </a:lnTo>
                          <a:lnTo>
                            <a:pt x="1503" y="650"/>
                          </a:lnTo>
                          <a:lnTo>
                            <a:pt x="1500" y="631"/>
                          </a:lnTo>
                          <a:lnTo>
                            <a:pt x="1496" y="611"/>
                          </a:lnTo>
                          <a:lnTo>
                            <a:pt x="1494" y="591"/>
                          </a:lnTo>
                          <a:lnTo>
                            <a:pt x="1491" y="572"/>
                          </a:lnTo>
                          <a:lnTo>
                            <a:pt x="1487" y="553"/>
                          </a:lnTo>
                          <a:lnTo>
                            <a:pt x="1485" y="534"/>
                          </a:lnTo>
                          <a:lnTo>
                            <a:pt x="1482" y="516"/>
                          </a:lnTo>
                          <a:lnTo>
                            <a:pt x="1478" y="498"/>
                          </a:lnTo>
                          <a:lnTo>
                            <a:pt x="1475" y="480"/>
                          </a:lnTo>
                          <a:lnTo>
                            <a:pt x="1473" y="463"/>
                          </a:lnTo>
                          <a:lnTo>
                            <a:pt x="1470" y="446"/>
                          </a:lnTo>
                          <a:lnTo>
                            <a:pt x="1466" y="429"/>
                          </a:lnTo>
                          <a:lnTo>
                            <a:pt x="1464" y="412"/>
                          </a:lnTo>
                          <a:lnTo>
                            <a:pt x="1461" y="397"/>
                          </a:lnTo>
                          <a:lnTo>
                            <a:pt x="1457" y="381"/>
                          </a:lnTo>
                          <a:lnTo>
                            <a:pt x="1454" y="365"/>
                          </a:lnTo>
                          <a:lnTo>
                            <a:pt x="1452" y="350"/>
                          </a:lnTo>
                          <a:lnTo>
                            <a:pt x="1448" y="335"/>
                          </a:lnTo>
                          <a:lnTo>
                            <a:pt x="1445" y="321"/>
                          </a:lnTo>
                          <a:lnTo>
                            <a:pt x="1443" y="307"/>
                          </a:lnTo>
                          <a:lnTo>
                            <a:pt x="1440" y="294"/>
                          </a:lnTo>
                          <a:lnTo>
                            <a:pt x="1436" y="280"/>
                          </a:lnTo>
                          <a:lnTo>
                            <a:pt x="1433" y="267"/>
                          </a:lnTo>
                          <a:lnTo>
                            <a:pt x="1431" y="255"/>
                          </a:lnTo>
                          <a:lnTo>
                            <a:pt x="1427" y="242"/>
                          </a:lnTo>
                          <a:lnTo>
                            <a:pt x="1424" y="230"/>
                          </a:lnTo>
                          <a:lnTo>
                            <a:pt x="1422" y="219"/>
                          </a:lnTo>
                          <a:lnTo>
                            <a:pt x="1418" y="208"/>
                          </a:lnTo>
                          <a:lnTo>
                            <a:pt x="1415" y="197"/>
                          </a:lnTo>
                          <a:lnTo>
                            <a:pt x="1412" y="187"/>
                          </a:lnTo>
                          <a:lnTo>
                            <a:pt x="1409" y="177"/>
                          </a:lnTo>
                          <a:lnTo>
                            <a:pt x="1406" y="166"/>
                          </a:lnTo>
                          <a:lnTo>
                            <a:pt x="1403" y="156"/>
                          </a:lnTo>
                          <a:lnTo>
                            <a:pt x="1401" y="147"/>
                          </a:lnTo>
                          <a:lnTo>
                            <a:pt x="1397" y="139"/>
                          </a:lnTo>
                          <a:lnTo>
                            <a:pt x="1394" y="130"/>
                          </a:lnTo>
                          <a:lnTo>
                            <a:pt x="1391" y="122"/>
                          </a:lnTo>
                          <a:lnTo>
                            <a:pt x="1388" y="114"/>
                          </a:lnTo>
                          <a:lnTo>
                            <a:pt x="1385" y="106"/>
                          </a:lnTo>
                          <a:lnTo>
                            <a:pt x="1382" y="98"/>
                          </a:lnTo>
                          <a:lnTo>
                            <a:pt x="1379" y="92"/>
                          </a:lnTo>
                          <a:lnTo>
                            <a:pt x="1376" y="85"/>
                          </a:lnTo>
                          <a:lnTo>
                            <a:pt x="1373" y="78"/>
                          </a:lnTo>
                          <a:lnTo>
                            <a:pt x="1370" y="73"/>
                          </a:lnTo>
                          <a:lnTo>
                            <a:pt x="1367" y="66"/>
                          </a:lnTo>
                          <a:lnTo>
                            <a:pt x="1364" y="60"/>
                          </a:lnTo>
                          <a:lnTo>
                            <a:pt x="1361" y="55"/>
                          </a:lnTo>
                          <a:lnTo>
                            <a:pt x="1358" y="50"/>
                          </a:lnTo>
                          <a:lnTo>
                            <a:pt x="1355" y="46"/>
                          </a:lnTo>
                          <a:lnTo>
                            <a:pt x="1352" y="41"/>
                          </a:lnTo>
                          <a:lnTo>
                            <a:pt x="1349" y="37"/>
                          </a:lnTo>
                          <a:lnTo>
                            <a:pt x="1346" y="32"/>
                          </a:lnTo>
                          <a:lnTo>
                            <a:pt x="1343" y="29"/>
                          </a:lnTo>
                          <a:lnTo>
                            <a:pt x="1340" y="26"/>
                          </a:lnTo>
                          <a:lnTo>
                            <a:pt x="1337" y="22"/>
                          </a:lnTo>
                          <a:lnTo>
                            <a:pt x="1334" y="19"/>
                          </a:lnTo>
                          <a:lnTo>
                            <a:pt x="1331" y="17"/>
                          </a:lnTo>
                          <a:lnTo>
                            <a:pt x="1328" y="13"/>
                          </a:lnTo>
                          <a:lnTo>
                            <a:pt x="1325" y="11"/>
                          </a:lnTo>
                          <a:lnTo>
                            <a:pt x="1322" y="9"/>
                          </a:lnTo>
                          <a:lnTo>
                            <a:pt x="1319" y="8"/>
                          </a:lnTo>
                          <a:lnTo>
                            <a:pt x="1316" y="6"/>
                          </a:lnTo>
                          <a:lnTo>
                            <a:pt x="1313" y="4"/>
                          </a:lnTo>
                          <a:lnTo>
                            <a:pt x="1310" y="3"/>
                          </a:lnTo>
                          <a:lnTo>
                            <a:pt x="1307" y="2"/>
                          </a:lnTo>
                          <a:lnTo>
                            <a:pt x="1304" y="1"/>
                          </a:lnTo>
                          <a:lnTo>
                            <a:pt x="1301" y="1"/>
                          </a:lnTo>
                          <a:lnTo>
                            <a:pt x="1298" y="0"/>
                          </a:lnTo>
                          <a:lnTo>
                            <a:pt x="1295" y="0"/>
                          </a:lnTo>
                          <a:lnTo>
                            <a:pt x="1292" y="0"/>
                          </a:lnTo>
                          <a:lnTo>
                            <a:pt x="1289" y="0"/>
                          </a:lnTo>
                          <a:lnTo>
                            <a:pt x="1286" y="1"/>
                          </a:lnTo>
                          <a:lnTo>
                            <a:pt x="1283" y="1"/>
                          </a:lnTo>
                          <a:lnTo>
                            <a:pt x="1279" y="2"/>
                          </a:lnTo>
                          <a:lnTo>
                            <a:pt x="1277" y="2"/>
                          </a:lnTo>
                          <a:lnTo>
                            <a:pt x="1274" y="3"/>
                          </a:lnTo>
                          <a:lnTo>
                            <a:pt x="1271" y="4"/>
                          </a:lnTo>
                          <a:lnTo>
                            <a:pt x="1268" y="7"/>
                          </a:lnTo>
                          <a:lnTo>
                            <a:pt x="1265" y="8"/>
                          </a:lnTo>
                          <a:lnTo>
                            <a:pt x="1262" y="9"/>
                          </a:lnTo>
                          <a:lnTo>
                            <a:pt x="1258" y="11"/>
                          </a:lnTo>
                          <a:lnTo>
                            <a:pt x="1256" y="13"/>
                          </a:lnTo>
                          <a:lnTo>
                            <a:pt x="1253" y="16"/>
                          </a:lnTo>
                          <a:lnTo>
                            <a:pt x="1249" y="18"/>
                          </a:lnTo>
                          <a:lnTo>
                            <a:pt x="1247" y="20"/>
                          </a:lnTo>
                          <a:lnTo>
                            <a:pt x="1244" y="22"/>
                          </a:lnTo>
                          <a:lnTo>
                            <a:pt x="1240" y="25"/>
                          </a:lnTo>
                          <a:lnTo>
                            <a:pt x="1237" y="28"/>
                          </a:lnTo>
                          <a:lnTo>
                            <a:pt x="1235" y="30"/>
                          </a:lnTo>
                          <a:lnTo>
                            <a:pt x="1232" y="34"/>
                          </a:lnTo>
                          <a:lnTo>
                            <a:pt x="1228" y="37"/>
                          </a:lnTo>
                          <a:lnTo>
                            <a:pt x="1226" y="40"/>
                          </a:lnTo>
                          <a:lnTo>
                            <a:pt x="1223" y="44"/>
                          </a:lnTo>
                          <a:lnTo>
                            <a:pt x="1219" y="47"/>
                          </a:lnTo>
                          <a:lnTo>
                            <a:pt x="1216" y="50"/>
                          </a:lnTo>
                          <a:lnTo>
                            <a:pt x="1214" y="54"/>
                          </a:lnTo>
                          <a:lnTo>
                            <a:pt x="1210" y="58"/>
                          </a:lnTo>
                          <a:lnTo>
                            <a:pt x="1207" y="61"/>
                          </a:lnTo>
                          <a:lnTo>
                            <a:pt x="1205" y="66"/>
                          </a:lnTo>
                          <a:lnTo>
                            <a:pt x="1202" y="69"/>
                          </a:lnTo>
                          <a:lnTo>
                            <a:pt x="1198" y="74"/>
                          </a:lnTo>
                          <a:lnTo>
                            <a:pt x="1195" y="78"/>
                          </a:lnTo>
                          <a:lnTo>
                            <a:pt x="1193" y="83"/>
                          </a:lnTo>
                          <a:lnTo>
                            <a:pt x="1189" y="86"/>
                          </a:lnTo>
                          <a:lnTo>
                            <a:pt x="1186" y="90"/>
                          </a:lnTo>
                          <a:lnTo>
                            <a:pt x="1184" y="95"/>
                          </a:lnTo>
                          <a:lnTo>
                            <a:pt x="1180" y="99"/>
                          </a:lnTo>
                          <a:lnTo>
                            <a:pt x="1177" y="105"/>
                          </a:lnTo>
                          <a:lnTo>
                            <a:pt x="1174" y="109"/>
                          </a:lnTo>
                          <a:lnTo>
                            <a:pt x="1172" y="114"/>
                          </a:lnTo>
                          <a:lnTo>
                            <a:pt x="1168" y="120"/>
                          </a:lnTo>
                          <a:lnTo>
                            <a:pt x="1165" y="124"/>
                          </a:lnTo>
                          <a:lnTo>
                            <a:pt x="1163" y="130"/>
                          </a:lnTo>
                          <a:lnTo>
                            <a:pt x="1159" y="134"/>
                          </a:lnTo>
                          <a:lnTo>
                            <a:pt x="1156" y="140"/>
                          </a:lnTo>
                          <a:lnTo>
                            <a:pt x="1153" y="144"/>
                          </a:lnTo>
                          <a:lnTo>
                            <a:pt x="1150" y="150"/>
                          </a:lnTo>
                          <a:lnTo>
                            <a:pt x="1147" y="155"/>
                          </a:lnTo>
                          <a:lnTo>
                            <a:pt x="1144" y="161"/>
                          </a:lnTo>
                          <a:lnTo>
                            <a:pt x="1142" y="165"/>
                          </a:lnTo>
                          <a:lnTo>
                            <a:pt x="1138" y="171"/>
                          </a:lnTo>
                          <a:lnTo>
                            <a:pt x="1135" y="177"/>
                          </a:lnTo>
                          <a:lnTo>
                            <a:pt x="1132" y="182"/>
                          </a:lnTo>
                          <a:lnTo>
                            <a:pt x="1129" y="188"/>
                          </a:lnTo>
                          <a:lnTo>
                            <a:pt x="1126" y="193"/>
                          </a:lnTo>
                          <a:lnTo>
                            <a:pt x="1123" y="199"/>
                          </a:lnTo>
                          <a:lnTo>
                            <a:pt x="1120" y="204"/>
                          </a:lnTo>
                          <a:lnTo>
                            <a:pt x="1117" y="210"/>
                          </a:lnTo>
                          <a:lnTo>
                            <a:pt x="1114" y="216"/>
                          </a:lnTo>
                          <a:lnTo>
                            <a:pt x="1111" y="221"/>
                          </a:lnTo>
                          <a:lnTo>
                            <a:pt x="1108" y="228"/>
                          </a:lnTo>
                          <a:lnTo>
                            <a:pt x="1105" y="233"/>
                          </a:lnTo>
                          <a:lnTo>
                            <a:pt x="1102" y="239"/>
                          </a:lnTo>
                          <a:lnTo>
                            <a:pt x="1099" y="245"/>
                          </a:lnTo>
                          <a:lnTo>
                            <a:pt x="1096" y="250"/>
                          </a:lnTo>
                          <a:lnTo>
                            <a:pt x="1093" y="257"/>
                          </a:lnTo>
                          <a:lnTo>
                            <a:pt x="1090" y="263"/>
                          </a:lnTo>
                          <a:lnTo>
                            <a:pt x="1087" y="268"/>
                          </a:lnTo>
                          <a:lnTo>
                            <a:pt x="1084" y="274"/>
                          </a:lnTo>
                          <a:lnTo>
                            <a:pt x="1081" y="280"/>
                          </a:lnTo>
                          <a:lnTo>
                            <a:pt x="1078" y="286"/>
                          </a:lnTo>
                          <a:lnTo>
                            <a:pt x="1075" y="292"/>
                          </a:lnTo>
                          <a:lnTo>
                            <a:pt x="1072" y="298"/>
                          </a:lnTo>
                          <a:lnTo>
                            <a:pt x="1069" y="304"/>
                          </a:lnTo>
                          <a:lnTo>
                            <a:pt x="1066" y="311"/>
                          </a:lnTo>
                          <a:lnTo>
                            <a:pt x="1063" y="316"/>
                          </a:lnTo>
                          <a:lnTo>
                            <a:pt x="1060" y="322"/>
                          </a:lnTo>
                          <a:lnTo>
                            <a:pt x="1057" y="328"/>
                          </a:lnTo>
                          <a:lnTo>
                            <a:pt x="1054" y="334"/>
                          </a:lnTo>
                          <a:lnTo>
                            <a:pt x="1051" y="340"/>
                          </a:lnTo>
                          <a:lnTo>
                            <a:pt x="1048" y="346"/>
                          </a:lnTo>
                          <a:lnTo>
                            <a:pt x="1045" y="352"/>
                          </a:lnTo>
                          <a:lnTo>
                            <a:pt x="1041" y="358"/>
                          </a:lnTo>
                          <a:lnTo>
                            <a:pt x="1039" y="364"/>
                          </a:lnTo>
                          <a:lnTo>
                            <a:pt x="1036" y="370"/>
                          </a:lnTo>
                          <a:lnTo>
                            <a:pt x="1033" y="377"/>
                          </a:lnTo>
                          <a:lnTo>
                            <a:pt x="1030" y="382"/>
                          </a:lnTo>
                          <a:lnTo>
                            <a:pt x="1027" y="388"/>
                          </a:lnTo>
                          <a:lnTo>
                            <a:pt x="1024" y="394"/>
                          </a:lnTo>
                          <a:lnTo>
                            <a:pt x="1021" y="400"/>
                          </a:lnTo>
                          <a:lnTo>
                            <a:pt x="1018" y="406"/>
                          </a:lnTo>
                          <a:lnTo>
                            <a:pt x="1015" y="412"/>
                          </a:lnTo>
                          <a:lnTo>
                            <a:pt x="1011" y="418"/>
                          </a:lnTo>
                          <a:lnTo>
                            <a:pt x="1009" y="423"/>
                          </a:lnTo>
                          <a:lnTo>
                            <a:pt x="1006" y="430"/>
                          </a:lnTo>
                          <a:lnTo>
                            <a:pt x="1003" y="436"/>
                          </a:lnTo>
                          <a:lnTo>
                            <a:pt x="999" y="441"/>
                          </a:lnTo>
                          <a:lnTo>
                            <a:pt x="997" y="448"/>
                          </a:lnTo>
                          <a:lnTo>
                            <a:pt x="994" y="454"/>
                          </a:lnTo>
                          <a:lnTo>
                            <a:pt x="990" y="459"/>
                          </a:lnTo>
                          <a:lnTo>
                            <a:pt x="988" y="465"/>
                          </a:lnTo>
                          <a:lnTo>
                            <a:pt x="985" y="471"/>
                          </a:lnTo>
                          <a:lnTo>
                            <a:pt x="981" y="477"/>
                          </a:lnTo>
                          <a:lnTo>
                            <a:pt x="978" y="483"/>
                          </a:lnTo>
                          <a:lnTo>
                            <a:pt x="976" y="488"/>
                          </a:lnTo>
                          <a:lnTo>
                            <a:pt x="973" y="494"/>
                          </a:lnTo>
                          <a:lnTo>
                            <a:pt x="969" y="501"/>
                          </a:lnTo>
                          <a:lnTo>
                            <a:pt x="967" y="506"/>
                          </a:lnTo>
                          <a:lnTo>
                            <a:pt x="964" y="512"/>
                          </a:lnTo>
                          <a:lnTo>
                            <a:pt x="960" y="517"/>
                          </a:lnTo>
                          <a:lnTo>
                            <a:pt x="957" y="523"/>
                          </a:lnTo>
                          <a:lnTo>
                            <a:pt x="955" y="528"/>
                          </a:lnTo>
                          <a:lnTo>
                            <a:pt x="951" y="534"/>
                          </a:lnTo>
                          <a:lnTo>
                            <a:pt x="948" y="540"/>
                          </a:lnTo>
                          <a:lnTo>
                            <a:pt x="946" y="545"/>
                          </a:lnTo>
                          <a:lnTo>
                            <a:pt x="943" y="551"/>
                          </a:lnTo>
                          <a:lnTo>
                            <a:pt x="939" y="556"/>
                          </a:lnTo>
                          <a:lnTo>
                            <a:pt x="936" y="562"/>
                          </a:lnTo>
                          <a:lnTo>
                            <a:pt x="934" y="568"/>
                          </a:lnTo>
                          <a:lnTo>
                            <a:pt x="930" y="573"/>
                          </a:lnTo>
                          <a:lnTo>
                            <a:pt x="927" y="579"/>
                          </a:lnTo>
                          <a:lnTo>
                            <a:pt x="925" y="583"/>
                          </a:lnTo>
                          <a:lnTo>
                            <a:pt x="921" y="589"/>
                          </a:lnTo>
                          <a:lnTo>
                            <a:pt x="918" y="594"/>
                          </a:lnTo>
                          <a:lnTo>
                            <a:pt x="915" y="600"/>
                          </a:lnTo>
                          <a:lnTo>
                            <a:pt x="913" y="606"/>
                          </a:lnTo>
                          <a:lnTo>
                            <a:pt x="909" y="610"/>
                          </a:lnTo>
                          <a:lnTo>
                            <a:pt x="906" y="616"/>
                          </a:lnTo>
                          <a:lnTo>
                            <a:pt x="904" y="621"/>
                          </a:lnTo>
                          <a:lnTo>
                            <a:pt x="900" y="626"/>
                          </a:lnTo>
                          <a:lnTo>
                            <a:pt x="897" y="631"/>
                          </a:lnTo>
                          <a:lnTo>
                            <a:pt x="894" y="637"/>
                          </a:lnTo>
                          <a:lnTo>
                            <a:pt x="891" y="641"/>
                          </a:lnTo>
                          <a:lnTo>
                            <a:pt x="888" y="647"/>
                          </a:lnTo>
                          <a:lnTo>
                            <a:pt x="885" y="651"/>
                          </a:lnTo>
                          <a:lnTo>
                            <a:pt x="883" y="657"/>
                          </a:lnTo>
                          <a:lnTo>
                            <a:pt x="879" y="663"/>
                          </a:lnTo>
                          <a:lnTo>
                            <a:pt x="876" y="667"/>
                          </a:lnTo>
                          <a:lnTo>
                            <a:pt x="873" y="671"/>
                          </a:lnTo>
                          <a:lnTo>
                            <a:pt x="870" y="677"/>
                          </a:lnTo>
                          <a:lnTo>
                            <a:pt x="867" y="682"/>
                          </a:lnTo>
                          <a:lnTo>
                            <a:pt x="864" y="687"/>
                          </a:lnTo>
                          <a:lnTo>
                            <a:pt x="861" y="692"/>
                          </a:lnTo>
                          <a:lnTo>
                            <a:pt x="858" y="696"/>
                          </a:lnTo>
                          <a:lnTo>
                            <a:pt x="855" y="702"/>
                          </a:lnTo>
                          <a:lnTo>
                            <a:pt x="852" y="706"/>
                          </a:lnTo>
                          <a:lnTo>
                            <a:pt x="849" y="711"/>
                          </a:lnTo>
                          <a:lnTo>
                            <a:pt x="846" y="715"/>
                          </a:lnTo>
                          <a:lnTo>
                            <a:pt x="843" y="721"/>
                          </a:lnTo>
                          <a:lnTo>
                            <a:pt x="840" y="725"/>
                          </a:lnTo>
                          <a:lnTo>
                            <a:pt x="837" y="730"/>
                          </a:lnTo>
                          <a:lnTo>
                            <a:pt x="834" y="734"/>
                          </a:lnTo>
                          <a:lnTo>
                            <a:pt x="831" y="738"/>
                          </a:lnTo>
                          <a:lnTo>
                            <a:pt x="828" y="743"/>
                          </a:lnTo>
                          <a:lnTo>
                            <a:pt x="825" y="747"/>
                          </a:lnTo>
                          <a:lnTo>
                            <a:pt x="822" y="752"/>
                          </a:lnTo>
                          <a:lnTo>
                            <a:pt x="819" y="756"/>
                          </a:lnTo>
                          <a:lnTo>
                            <a:pt x="816" y="761"/>
                          </a:lnTo>
                          <a:lnTo>
                            <a:pt x="813" y="765"/>
                          </a:lnTo>
                          <a:lnTo>
                            <a:pt x="810" y="770"/>
                          </a:lnTo>
                          <a:lnTo>
                            <a:pt x="807" y="774"/>
                          </a:lnTo>
                          <a:lnTo>
                            <a:pt x="804" y="778"/>
                          </a:lnTo>
                          <a:lnTo>
                            <a:pt x="801" y="782"/>
                          </a:lnTo>
                          <a:lnTo>
                            <a:pt x="798" y="787"/>
                          </a:lnTo>
                          <a:lnTo>
                            <a:pt x="795" y="791"/>
                          </a:lnTo>
                          <a:lnTo>
                            <a:pt x="792" y="795"/>
                          </a:lnTo>
                          <a:lnTo>
                            <a:pt x="789" y="799"/>
                          </a:lnTo>
                          <a:lnTo>
                            <a:pt x="786" y="803"/>
                          </a:lnTo>
                          <a:lnTo>
                            <a:pt x="783" y="808"/>
                          </a:lnTo>
                          <a:lnTo>
                            <a:pt x="780" y="811"/>
                          </a:lnTo>
                          <a:lnTo>
                            <a:pt x="777" y="816"/>
                          </a:lnTo>
                          <a:lnTo>
                            <a:pt x="774" y="819"/>
                          </a:lnTo>
                          <a:lnTo>
                            <a:pt x="771" y="823"/>
                          </a:lnTo>
                          <a:lnTo>
                            <a:pt x="768" y="828"/>
                          </a:lnTo>
                          <a:lnTo>
                            <a:pt x="765" y="831"/>
                          </a:lnTo>
                          <a:lnTo>
                            <a:pt x="762" y="836"/>
                          </a:lnTo>
                          <a:lnTo>
                            <a:pt x="759" y="839"/>
                          </a:lnTo>
                          <a:lnTo>
                            <a:pt x="756" y="844"/>
                          </a:lnTo>
                          <a:lnTo>
                            <a:pt x="753" y="847"/>
                          </a:lnTo>
                          <a:lnTo>
                            <a:pt x="750" y="850"/>
                          </a:lnTo>
                          <a:lnTo>
                            <a:pt x="747" y="855"/>
                          </a:lnTo>
                          <a:lnTo>
                            <a:pt x="744" y="858"/>
                          </a:lnTo>
                          <a:lnTo>
                            <a:pt x="741" y="861"/>
                          </a:lnTo>
                          <a:lnTo>
                            <a:pt x="738" y="866"/>
                          </a:lnTo>
                          <a:lnTo>
                            <a:pt x="735" y="869"/>
                          </a:lnTo>
                          <a:lnTo>
                            <a:pt x="731" y="873"/>
                          </a:lnTo>
                          <a:lnTo>
                            <a:pt x="729" y="876"/>
                          </a:lnTo>
                          <a:lnTo>
                            <a:pt x="726" y="879"/>
                          </a:lnTo>
                          <a:lnTo>
                            <a:pt x="723" y="884"/>
                          </a:lnTo>
                          <a:lnTo>
                            <a:pt x="720" y="887"/>
                          </a:lnTo>
                          <a:lnTo>
                            <a:pt x="717" y="890"/>
                          </a:lnTo>
                          <a:lnTo>
                            <a:pt x="714" y="894"/>
                          </a:lnTo>
                          <a:lnTo>
                            <a:pt x="710" y="897"/>
                          </a:lnTo>
                          <a:lnTo>
                            <a:pt x="708" y="900"/>
                          </a:lnTo>
                          <a:lnTo>
                            <a:pt x="705" y="904"/>
                          </a:lnTo>
                          <a:lnTo>
                            <a:pt x="701" y="907"/>
                          </a:lnTo>
                          <a:lnTo>
                            <a:pt x="699" y="911"/>
                          </a:lnTo>
                          <a:lnTo>
                            <a:pt x="696" y="914"/>
                          </a:lnTo>
                          <a:lnTo>
                            <a:pt x="692" y="916"/>
                          </a:lnTo>
                          <a:lnTo>
                            <a:pt x="689" y="919"/>
                          </a:lnTo>
                          <a:lnTo>
                            <a:pt x="687" y="923"/>
                          </a:lnTo>
                          <a:lnTo>
                            <a:pt x="684" y="926"/>
                          </a:lnTo>
                          <a:lnTo>
                            <a:pt x="680" y="930"/>
                          </a:lnTo>
                          <a:lnTo>
                            <a:pt x="678" y="933"/>
                          </a:lnTo>
                          <a:lnTo>
                            <a:pt x="675" y="935"/>
                          </a:lnTo>
                          <a:lnTo>
                            <a:pt x="671" y="938"/>
                          </a:lnTo>
                          <a:lnTo>
                            <a:pt x="668" y="942"/>
                          </a:lnTo>
                          <a:lnTo>
                            <a:pt x="666" y="945"/>
                          </a:lnTo>
                          <a:lnTo>
                            <a:pt x="662" y="947"/>
                          </a:lnTo>
                          <a:lnTo>
                            <a:pt x="659" y="951"/>
                          </a:lnTo>
                          <a:lnTo>
                            <a:pt x="657" y="954"/>
                          </a:lnTo>
                          <a:lnTo>
                            <a:pt x="653" y="956"/>
                          </a:lnTo>
                          <a:lnTo>
                            <a:pt x="650" y="960"/>
                          </a:lnTo>
                          <a:lnTo>
                            <a:pt x="647" y="962"/>
                          </a:lnTo>
                          <a:lnTo>
                            <a:pt x="645" y="965"/>
                          </a:lnTo>
                          <a:lnTo>
                            <a:pt x="641" y="968"/>
                          </a:lnTo>
                          <a:lnTo>
                            <a:pt x="638" y="971"/>
                          </a:lnTo>
                          <a:lnTo>
                            <a:pt x="636" y="973"/>
                          </a:lnTo>
                          <a:lnTo>
                            <a:pt x="632" y="976"/>
                          </a:lnTo>
                          <a:lnTo>
                            <a:pt x="629" y="979"/>
                          </a:lnTo>
                          <a:lnTo>
                            <a:pt x="626" y="982"/>
                          </a:lnTo>
                          <a:lnTo>
                            <a:pt x="623" y="984"/>
                          </a:lnTo>
                          <a:lnTo>
                            <a:pt x="620" y="987"/>
                          </a:lnTo>
                          <a:lnTo>
                            <a:pt x="617" y="990"/>
                          </a:lnTo>
                          <a:lnTo>
                            <a:pt x="615" y="992"/>
                          </a:lnTo>
                          <a:lnTo>
                            <a:pt x="611" y="994"/>
                          </a:lnTo>
                          <a:lnTo>
                            <a:pt x="608" y="997"/>
                          </a:lnTo>
                          <a:lnTo>
                            <a:pt x="605" y="1000"/>
                          </a:lnTo>
                          <a:lnTo>
                            <a:pt x="602" y="1002"/>
                          </a:lnTo>
                          <a:lnTo>
                            <a:pt x="599" y="1004"/>
                          </a:lnTo>
                          <a:lnTo>
                            <a:pt x="596" y="1007"/>
                          </a:lnTo>
                          <a:lnTo>
                            <a:pt x="593" y="1009"/>
                          </a:lnTo>
                          <a:lnTo>
                            <a:pt x="590" y="1012"/>
                          </a:lnTo>
                          <a:lnTo>
                            <a:pt x="587" y="1014"/>
                          </a:lnTo>
                          <a:lnTo>
                            <a:pt x="584" y="1017"/>
                          </a:lnTo>
                          <a:lnTo>
                            <a:pt x="581" y="1019"/>
                          </a:lnTo>
                          <a:lnTo>
                            <a:pt x="578" y="1021"/>
                          </a:lnTo>
                          <a:lnTo>
                            <a:pt x="575" y="1023"/>
                          </a:lnTo>
                          <a:lnTo>
                            <a:pt x="572" y="1026"/>
                          </a:lnTo>
                          <a:lnTo>
                            <a:pt x="569" y="1028"/>
                          </a:lnTo>
                          <a:lnTo>
                            <a:pt x="566" y="1030"/>
                          </a:lnTo>
                          <a:lnTo>
                            <a:pt x="563" y="1032"/>
                          </a:lnTo>
                          <a:lnTo>
                            <a:pt x="560" y="1035"/>
                          </a:lnTo>
                          <a:lnTo>
                            <a:pt x="557" y="1037"/>
                          </a:lnTo>
                          <a:lnTo>
                            <a:pt x="554" y="1039"/>
                          </a:lnTo>
                          <a:lnTo>
                            <a:pt x="551" y="1041"/>
                          </a:lnTo>
                          <a:lnTo>
                            <a:pt x="548" y="1043"/>
                          </a:lnTo>
                          <a:lnTo>
                            <a:pt x="545" y="1046"/>
                          </a:lnTo>
                          <a:lnTo>
                            <a:pt x="542" y="1047"/>
                          </a:lnTo>
                          <a:lnTo>
                            <a:pt x="539" y="1049"/>
                          </a:lnTo>
                          <a:lnTo>
                            <a:pt x="536" y="1051"/>
                          </a:lnTo>
                          <a:lnTo>
                            <a:pt x="533" y="1054"/>
                          </a:lnTo>
                          <a:lnTo>
                            <a:pt x="530" y="1056"/>
                          </a:lnTo>
                          <a:lnTo>
                            <a:pt x="527" y="1057"/>
                          </a:lnTo>
                          <a:lnTo>
                            <a:pt x="524" y="1059"/>
                          </a:lnTo>
                          <a:lnTo>
                            <a:pt x="521" y="1061"/>
                          </a:lnTo>
                          <a:lnTo>
                            <a:pt x="518" y="1064"/>
                          </a:lnTo>
                          <a:lnTo>
                            <a:pt x="515" y="1065"/>
                          </a:lnTo>
                          <a:lnTo>
                            <a:pt x="512" y="1067"/>
                          </a:lnTo>
                          <a:lnTo>
                            <a:pt x="509" y="1069"/>
                          </a:lnTo>
                          <a:lnTo>
                            <a:pt x="506" y="1070"/>
                          </a:lnTo>
                          <a:lnTo>
                            <a:pt x="503" y="1073"/>
                          </a:lnTo>
                          <a:lnTo>
                            <a:pt x="500" y="1075"/>
                          </a:lnTo>
                          <a:lnTo>
                            <a:pt x="497" y="1076"/>
                          </a:lnTo>
                          <a:lnTo>
                            <a:pt x="494" y="1078"/>
                          </a:lnTo>
                          <a:lnTo>
                            <a:pt x="491" y="1079"/>
                          </a:lnTo>
                          <a:lnTo>
                            <a:pt x="488" y="1081"/>
                          </a:lnTo>
                          <a:lnTo>
                            <a:pt x="484" y="1083"/>
                          </a:lnTo>
                          <a:lnTo>
                            <a:pt x="482" y="1085"/>
                          </a:lnTo>
                          <a:lnTo>
                            <a:pt x="479" y="1086"/>
                          </a:lnTo>
                          <a:lnTo>
                            <a:pt x="476" y="1088"/>
                          </a:lnTo>
                          <a:lnTo>
                            <a:pt x="472" y="1089"/>
                          </a:lnTo>
                          <a:lnTo>
                            <a:pt x="470" y="1092"/>
                          </a:lnTo>
                          <a:lnTo>
                            <a:pt x="467" y="1093"/>
                          </a:lnTo>
                          <a:lnTo>
                            <a:pt x="464" y="1095"/>
                          </a:lnTo>
                          <a:lnTo>
                            <a:pt x="461" y="1096"/>
                          </a:lnTo>
                          <a:lnTo>
                            <a:pt x="458" y="1098"/>
                          </a:lnTo>
                          <a:lnTo>
                            <a:pt x="454" y="1099"/>
                          </a:lnTo>
                          <a:lnTo>
                            <a:pt x="451" y="1100"/>
                          </a:lnTo>
                          <a:lnTo>
                            <a:pt x="449" y="1103"/>
                          </a:lnTo>
                          <a:lnTo>
                            <a:pt x="446" y="1104"/>
                          </a:lnTo>
                          <a:lnTo>
                            <a:pt x="442" y="1105"/>
                          </a:lnTo>
                          <a:lnTo>
                            <a:pt x="440" y="1107"/>
                          </a:lnTo>
                          <a:lnTo>
                            <a:pt x="437" y="1108"/>
                          </a:lnTo>
                          <a:lnTo>
                            <a:pt x="433" y="1109"/>
                          </a:lnTo>
                          <a:lnTo>
                            <a:pt x="430" y="1112"/>
                          </a:lnTo>
                          <a:lnTo>
                            <a:pt x="428" y="1113"/>
                          </a:lnTo>
                          <a:lnTo>
                            <a:pt x="424" y="1114"/>
                          </a:lnTo>
                          <a:lnTo>
                            <a:pt x="421" y="1115"/>
                          </a:lnTo>
                          <a:lnTo>
                            <a:pt x="419" y="1117"/>
                          </a:lnTo>
                          <a:lnTo>
                            <a:pt x="416" y="1118"/>
                          </a:lnTo>
                          <a:lnTo>
                            <a:pt x="412" y="1119"/>
                          </a:lnTo>
                          <a:lnTo>
                            <a:pt x="409" y="1121"/>
                          </a:lnTo>
                          <a:lnTo>
                            <a:pt x="407" y="1122"/>
                          </a:lnTo>
                          <a:lnTo>
                            <a:pt x="403" y="1124"/>
                          </a:lnTo>
                          <a:lnTo>
                            <a:pt x="400" y="1125"/>
                          </a:lnTo>
                          <a:lnTo>
                            <a:pt x="398" y="1126"/>
                          </a:lnTo>
                          <a:lnTo>
                            <a:pt x="394" y="1127"/>
                          </a:lnTo>
                          <a:lnTo>
                            <a:pt x="391" y="1128"/>
                          </a:lnTo>
                          <a:lnTo>
                            <a:pt x="388" y="1130"/>
                          </a:lnTo>
                          <a:lnTo>
                            <a:pt x="386" y="1131"/>
                          </a:lnTo>
                          <a:lnTo>
                            <a:pt x="382" y="1132"/>
                          </a:lnTo>
                          <a:lnTo>
                            <a:pt x="379" y="1134"/>
                          </a:lnTo>
                          <a:lnTo>
                            <a:pt x="377" y="1135"/>
                          </a:lnTo>
                          <a:lnTo>
                            <a:pt x="373" y="1136"/>
                          </a:lnTo>
                          <a:lnTo>
                            <a:pt x="370" y="1137"/>
                          </a:lnTo>
                          <a:lnTo>
                            <a:pt x="367" y="1138"/>
                          </a:lnTo>
                          <a:lnTo>
                            <a:pt x="364" y="1140"/>
                          </a:lnTo>
                          <a:lnTo>
                            <a:pt x="361" y="1141"/>
                          </a:lnTo>
                          <a:lnTo>
                            <a:pt x="358" y="1142"/>
                          </a:lnTo>
                          <a:lnTo>
                            <a:pt x="356" y="1143"/>
                          </a:lnTo>
                          <a:lnTo>
                            <a:pt x="352" y="1144"/>
                          </a:lnTo>
                          <a:lnTo>
                            <a:pt x="349" y="1145"/>
                          </a:lnTo>
                          <a:lnTo>
                            <a:pt x="346" y="1146"/>
                          </a:lnTo>
                          <a:lnTo>
                            <a:pt x="343" y="1147"/>
                          </a:lnTo>
                          <a:lnTo>
                            <a:pt x="340" y="1149"/>
                          </a:lnTo>
                          <a:lnTo>
                            <a:pt x="337" y="1149"/>
                          </a:lnTo>
                          <a:lnTo>
                            <a:pt x="334" y="1150"/>
                          </a:lnTo>
                          <a:lnTo>
                            <a:pt x="331" y="1151"/>
                          </a:lnTo>
                          <a:lnTo>
                            <a:pt x="328" y="1152"/>
                          </a:lnTo>
                          <a:lnTo>
                            <a:pt x="325" y="1153"/>
                          </a:lnTo>
                          <a:lnTo>
                            <a:pt x="322" y="1154"/>
                          </a:lnTo>
                          <a:lnTo>
                            <a:pt x="319" y="1155"/>
                          </a:lnTo>
                          <a:lnTo>
                            <a:pt x="316" y="1156"/>
                          </a:lnTo>
                          <a:lnTo>
                            <a:pt x="313" y="1157"/>
                          </a:lnTo>
                          <a:lnTo>
                            <a:pt x="310" y="1157"/>
                          </a:lnTo>
                          <a:lnTo>
                            <a:pt x="307" y="1159"/>
                          </a:lnTo>
                          <a:lnTo>
                            <a:pt x="304" y="1160"/>
                          </a:lnTo>
                          <a:lnTo>
                            <a:pt x="301" y="1161"/>
                          </a:lnTo>
                          <a:lnTo>
                            <a:pt x="298" y="1162"/>
                          </a:lnTo>
                          <a:lnTo>
                            <a:pt x="295" y="1162"/>
                          </a:lnTo>
                          <a:lnTo>
                            <a:pt x="292" y="1163"/>
                          </a:lnTo>
                          <a:lnTo>
                            <a:pt x="289" y="1164"/>
                          </a:lnTo>
                          <a:lnTo>
                            <a:pt x="286" y="1165"/>
                          </a:lnTo>
                          <a:lnTo>
                            <a:pt x="283" y="1166"/>
                          </a:lnTo>
                          <a:lnTo>
                            <a:pt x="280" y="1166"/>
                          </a:lnTo>
                          <a:lnTo>
                            <a:pt x="277" y="1167"/>
                          </a:lnTo>
                          <a:lnTo>
                            <a:pt x="274" y="1169"/>
                          </a:lnTo>
                          <a:lnTo>
                            <a:pt x="271" y="1170"/>
                          </a:lnTo>
                          <a:lnTo>
                            <a:pt x="268" y="1170"/>
                          </a:lnTo>
                          <a:lnTo>
                            <a:pt x="265" y="1171"/>
                          </a:lnTo>
                          <a:lnTo>
                            <a:pt x="262" y="1172"/>
                          </a:lnTo>
                          <a:lnTo>
                            <a:pt x="259" y="1172"/>
                          </a:lnTo>
                          <a:lnTo>
                            <a:pt x="256" y="1173"/>
                          </a:lnTo>
                          <a:lnTo>
                            <a:pt x="253" y="1174"/>
                          </a:lnTo>
                          <a:lnTo>
                            <a:pt x="250" y="1175"/>
                          </a:lnTo>
                          <a:lnTo>
                            <a:pt x="247" y="1175"/>
                          </a:lnTo>
                          <a:lnTo>
                            <a:pt x="244" y="1176"/>
                          </a:lnTo>
                          <a:lnTo>
                            <a:pt x="241" y="1178"/>
                          </a:lnTo>
                          <a:lnTo>
                            <a:pt x="238" y="1178"/>
                          </a:lnTo>
                          <a:lnTo>
                            <a:pt x="234" y="1179"/>
                          </a:lnTo>
                          <a:lnTo>
                            <a:pt x="232" y="1179"/>
                          </a:lnTo>
                          <a:lnTo>
                            <a:pt x="229" y="1180"/>
                          </a:lnTo>
                          <a:lnTo>
                            <a:pt x="226" y="1181"/>
                          </a:lnTo>
                          <a:lnTo>
                            <a:pt x="223" y="1181"/>
                          </a:lnTo>
                          <a:lnTo>
                            <a:pt x="220" y="1182"/>
                          </a:lnTo>
                          <a:lnTo>
                            <a:pt x="217" y="1182"/>
                          </a:lnTo>
                          <a:lnTo>
                            <a:pt x="213" y="1183"/>
                          </a:lnTo>
                          <a:lnTo>
                            <a:pt x="211" y="1184"/>
                          </a:lnTo>
                          <a:lnTo>
                            <a:pt x="208" y="1184"/>
                          </a:lnTo>
                          <a:lnTo>
                            <a:pt x="204" y="1185"/>
                          </a:lnTo>
                          <a:lnTo>
                            <a:pt x="202" y="1185"/>
                          </a:lnTo>
                          <a:lnTo>
                            <a:pt x="199" y="1186"/>
                          </a:lnTo>
                          <a:lnTo>
                            <a:pt x="196" y="1186"/>
                          </a:lnTo>
                          <a:lnTo>
                            <a:pt x="192" y="1188"/>
                          </a:lnTo>
                          <a:lnTo>
                            <a:pt x="190" y="1189"/>
                          </a:lnTo>
                          <a:lnTo>
                            <a:pt x="187" y="1189"/>
                          </a:lnTo>
                          <a:lnTo>
                            <a:pt x="183" y="1190"/>
                          </a:lnTo>
                          <a:lnTo>
                            <a:pt x="181" y="1190"/>
                          </a:lnTo>
                          <a:lnTo>
                            <a:pt x="178" y="1191"/>
                          </a:lnTo>
                          <a:lnTo>
                            <a:pt x="174" y="1191"/>
                          </a:lnTo>
                          <a:lnTo>
                            <a:pt x="171" y="1192"/>
                          </a:lnTo>
                          <a:lnTo>
                            <a:pt x="169" y="1192"/>
                          </a:lnTo>
                          <a:lnTo>
                            <a:pt x="166" y="1193"/>
                          </a:lnTo>
                          <a:lnTo>
                            <a:pt x="162" y="1193"/>
                          </a:lnTo>
                          <a:lnTo>
                            <a:pt x="160" y="1194"/>
                          </a:lnTo>
                          <a:lnTo>
                            <a:pt x="157" y="1194"/>
                          </a:lnTo>
                          <a:lnTo>
                            <a:pt x="153" y="1195"/>
                          </a:lnTo>
                          <a:lnTo>
                            <a:pt x="150" y="1195"/>
                          </a:lnTo>
                          <a:lnTo>
                            <a:pt x="148" y="1197"/>
                          </a:lnTo>
                          <a:lnTo>
                            <a:pt x="144" y="1197"/>
                          </a:lnTo>
                          <a:lnTo>
                            <a:pt x="141" y="1197"/>
                          </a:lnTo>
                          <a:lnTo>
                            <a:pt x="139" y="1198"/>
                          </a:lnTo>
                          <a:lnTo>
                            <a:pt x="136" y="1198"/>
                          </a:lnTo>
                          <a:lnTo>
                            <a:pt x="132" y="1199"/>
                          </a:lnTo>
                          <a:lnTo>
                            <a:pt x="129" y="1199"/>
                          </a:lnTo>
                          <a:lnTo>
                            <a:pt x="127" y="1200"/>
                          </a:lnTo>
                          <a:lnTo>
                            <a:pt x="123" y="1200"/>
                          </a:lnTo>
                          <a:lnTo>
                            <a:pt x="120" y="1201"/>
                          </a:lnTo>
                          <a:lnTo>
                            <a:pt x="118" y="1201"/>
                          </a:lnTo>
                          <a:lnTo>
                            <a:pt x="114" y="1201"/>
                          </a:lnTo>
                          <a:lnTo>
                            <a:pt x="111" y="1202"/>
                          </a:lnTo>
                          <a:lnTo>
                            <a:pt x="108" y="1202"/>
                          </a:lnTo>
                          <a:lnTo>
                            <a:pt x="105" y="1202"/>
                          </a:lnTo>
                          <a:lnTo>
                            <a:pt x="102" y="1203"/>
                          </a:lnTo>
                          <a:lnTo>
                            <a:pt x="99" y="1203"/>
                          </a:lnTo>
                          <a:lnTo>
                            <a:pt x="97" y="1204"/>
                          </a:lnTo>
                          <a:lnTo>
                            <a:pt x="93" y="1204"/>
                          </a:lnTo>
                          <a:lnTo>
                            <a:pt x="90" y="1204"/>
                          </a:lnTo>
                          <a:lnTo>
                            <a:pt x="87" y="1205"/>
                          </a:lnTo>
                          <a:lnTo>
                            <a:pt x="84" y="1205"/>
                          </a:lnTo>
                          <a:lnTo>
                            <a:pt x="81" y="1207"/>
                          </a:lnTo>
                          <a:lnTo>
                            <a:pt x="78" y="1207"/>
                          </a:lnTo>
                          <a:lnTo>
                            <a:pt x="75" y="1207"/>
                          </a:lnTo>
                          <a:lnTo>
                            <a:pt x="72" y="1208"/>
                          </a:lnTo>
                          <a:lnTo>
                            <a:pt x="69" y="1208"/>
                          </a:lnTo>
                          <a:lnTo>
                            <a:pt x="66" y="1208"/>
                          </a:lnTo>
                          <a:lnTo>
                            <a:pt x="63" y="1209"/>
                          </a:lnTo>
                          <a:lnTo>
                            <a:pt x="60" y="1209"/>
                          </a:lnTo>
                          <a:lnTo>
                            <a:pt x="57" y="1209"/>
                          </a:lnTo>
                          <a:lnTo>
                            <a:pt x="54" y="1210"/>
                          </a:lnTo>
                          <a:lnTo>
                            <a:pt x="51" y="1210"/>
                          </a:lnTo>
                          <a:lnTo>
                            <a:pt x="48" y="1210"/>
                          </a:lnTo>
                          <a:lnTo>
                            <a:pt x="45" y="1211"/>
                          </a:lnTo>
                          <a:lnTo>
                            <a:pt x="42" y="1211"/>
                          </a:lnTo>
                          <a:lnTo>
                            <a:pt x="39" y="1211"/>
                          </a:lnTo>
                          <a:lnTo>
                            <a:pt x="36" y="1211"/>
                          </a:lnTo>
                          <a:lnTo>
                            <a:pt x="33" y="1212"/>
                          </a:lnTo>
                          <a:lnTo>
                            <a:pt x="30" y="1212"/>
                          </a:lnTo>
                          <a:lnTo>
                            <a:pt x="27" y="1212"/>
                          </a:lnTo>
                          <a:lnTo>
                            <a:pt x="24" y="1213"/>
                          </a:lnTo>
                          <a:lnTo>
                            <a:pt x="21" y="1213"/>
                          </a:lnTo>
                          <a:lnTo>
                            <a:pt x="18" y="1213"/>
                          </a:lnTo>
                          <a:lnTo>
                            <a:pt x="15" y="1214"/>
                          </a:lnTo>
                          <a:lnTo>
                            <a:pt x="12" y="1214"/>
                          </a:lnTo>
                          <a:lnTo>
                            <a:pt x="9" y="1214"/>
                          </a:lnTo>
                          <a:lnTo>
                            <a:pt x="6" y="1214"/>
                          </a:lnTo>
                          <a:lnTo>
                            <a:pt x="3" y="1216"/>
                          </a:lnTo>
                          <a:lnTo>
                            <a:pt x="0" y="1216"/>
                          </a:lnTo>
                        </a:path>
                      </a:pathLst>
                    </a:custGeom>
                    <a:solidFill>
                      <a:schemeClr val="accent2"/>
                    </a:solidFill>
                    <a:ln w="25400" cap="rnd"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81" name="Google Shape;581;p65"/>
                    <p:cNvCxnSpPr/>
                    <p:nvPr/>
                  </p:nvCxnSpPr>
                  <p:spPr>
                    <a:xfrm rot="10800000">
                      <a:off x="369" y="2587"/>
                      <a:ext cx="1637" cy="0"/>
                    </a:xfrm>
                    <a:prstGeom prst="straightConnector1">
                      <a:avLst/>
                    </a:prstGeom>
                    <a:noFill/>
                    <a:ln w="50800" cap="flat" cmpd="sng">
                      <a:solidFill>
                        <a:srgbClr val="000000"/>
                      </a:solidFill>
                      <a:prstDash val="solid"/>
                      <a:miter lim="800000"/>
                      <a:headEnd type="none" w="med" len="med"/>
                      <a:tailEnd type="none" w="med" len="med"/>
                    </a:ln>
                  </p:spPr>
                </p:cxnSp>
              </p:grpSp>
              <p:cxnSp>
                <p:nvCxnSpPr>
                  <p:cNvPr id="582" name="Google Shape;582;p65"/>
                  <p:cNvCxnSpPr/>
                  <p:nvPr/>
                </p:nvCxnSpPr>
                <p:spPr>
                  <a:xfrm>
                    <a:off x="1692" y="1358"/>
                    <a:ext cx="0" cy="1218"/>
                  </a:xfrm>
                  <a:prstGeom prst="straightConnector1">
                    <a:avLst/>
                  </a:prstGeom>
                  <a:noFill/>
                  <a:ln w="50800" cap="flat" cmpd="sng">
                    <a:solidFill>
                      <a:schemeClr val="accent1"/>
                    </a:solidFill>
                    <a:prstDash val="solid"/>
                    <a:miter lim="800000"/>
                    <a:headEnd type="none" w="med" len="med"/>
                    <a:tailEnd type="none" w="med" len="med"/>
                  </a:ln>
                </p:spPr>
              </p:cxnSp>
              <p:cxnSp>
                <p:nvCxnSpPr>
                  <p:cNvPr id="583" name="Google Shape;583;p65"/>
                  <p:cNvCxnSpPr/>
                  <p:nvPr/>
                </p:nvCxnSpPr>
                <p:spPr>
                  <a:xfrm>
                    <a:off x="1473" y="1625"/>
                    <a:ext cx="0" cy="948"/>
                  </a:xfrm>
                  <a:prstGeom prst="straightConnector1">
                    <a:avLst/>
                  </a:prstGeom>
                  <a:noFill/>
                  <a:ln w="50800" cap="flat" cmpd="sng">
                    <a:solidFill>
                      <a:schemeClr val="accent1"/>
                    </a:solidFill>
                    <a:prstDash val="solid"/>
                    <a:miter lim="800000"/>
                    <a:headEnd type="none" w="med" len="med"/>
                    <a:tailEnd type="none" w="med" len="med"/>
                  </a:ln>
                </p:spPr>
              </p:cxnSp>
              <p:cxnSp>
                <p:nvCxnSpPr>
                  <p:cNvPr id="584" name="Google Shape;584;p65"/>
                  <p:cNvCxnSpPr/>
                  <p:nvPr/>
                </p:nvCxnSpPr>
                <p:spPr>
                  <a:xfrm>
                    <a:off x="1245" y="2090"/>
                    <a:ext cx="0" cy="480"/>
                  </a:xfrm>
                  <a:prstGeom prst="straightConnector1">
                    <a:avLst/>
                  </a:prstGeom>
                  <a:noFill/>
                  <a:ln w="50800" cap="flat" cmpd="sng">
                    <a:solidFill>
                      <a:schemeClr val="accent1"/>
                    </a:solidFill>
                    <a:prstDash val="solid"/>
                    <a:miter lim="800000"/>
                    <a:headEnd type="none" w="med" len="med"/>
                    <a:tailEnd type="none" w="med" len="med"/>
                  </a:ln>
                </p:spPr>
              </p:cxnSp>
              <p:sp>
                <p:nvSpPr>
                  <p:cNvPr id="585" name="Google Shape;585;p65"/>
                  <p:cNvSpPr txBox="1"/>
                  <p:nvPr/>
                </p:nvSpPr>
                <p:spPr>
                  <a:xfrm>
                    <a:off x="1716" y="2758"/>
                    <a:ext cx="466" cy="229"/>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1" i="0" u="none">
                        <a:solidFill>
                          <a:srgbClr val="000000"/>
                        </a:solidFill>
                        <a:latin typeface="Arial" panose="020B0604020202020204"/>
                        <a:ea typeface="Arial" panose="020B0604020202020204"/>
                        <a:cs typeface="Arial" panose="020B0604020202020204"/>
                        <a:sym typeface="Arial" panose="020B0604020202020204"/>
                      </a:rPr>
                      <a:t>Mode</a:t>
                    </a:r>
                    <a:endParaRPr lang="en-US" sz="1400" b="1"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6" name="Google Shape;586;p65"/>
                  <p:cNvSpPr txBox="1"/>
                  <p:nvPr/>
                </p:nvSpPr>
                <p:spPr>
                  <a:xfrm>
                    <a:off x="1077" y="3037"/>
                    <a:ext cx="586" cy="229"/>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1" i="0" u="none">
                        <a:solidFill>
                          <a:srgbClr val="000000"/>
                        </a:solidFill>
                        <a:latin typeface="Arial" panose="020B0604020202020204"/>
                        <a:ea typeface="Arial" panose="020B0604020202020204"/>
                        <a:cs typeface="Arial" panose="020B0604020202020204"/>
                        <a:sym typeface="Arial" panose="020B0604020202020204"/>
                      </a:rPr>
                      <a:t>Median</a:t>
                    </a:r>
                    <a:endParaRPr lang="en-US" sz="1400" b="1"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7" name="Google Shape;587;p65"/>
                  <p:cNvSpPr txBox="1"/>
                  <p:nvPr/>
                </p:nvSpPr>
                <p:spPr>
                  <a:xfrm>
                    <a:off x="510" y="2695"/>
                    <a:ext cx="466" cy="229"/>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1" i="0" u="none">
                        <a:solidFill>
                          <a:srgbClr val="000000"/>
                        </a:solidFill>
                        <a:latin typeface="Arial" panose="020B0604020202020204"/>
                        <a:ea typeface="Arial" panose="020B0604020202020204"/>
                        <a:cs typeface="Arial" panose="020B0604020202020204"/>
                        <a:sym typeface="Arial" panose="020B0604020202020204"/>
                      </a:rPr>
                      <a:t>Mean</a:t>
                    </a:r>
                    <a:endParaRPr lang="en-US" sz="1400" b="1"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8" name="Google Shape;588;p65"/>
                  <p:cNvSpPr/>
                  <p:nvPr/>
                </p:nvSpPr>
                <p:spPr>
                  <a:xfrm>
                    <a:off x="945" y="2619"/>
                    <a:ext cx="280" cy="190"/>
                  </a:xfrm>
                  <a:custGeom>
                    <a:avLst/>
                    <a:gdLst/>
                    <a:ahLst/>
                    <a:cxnLst/>
                    <a:rect l="l" t="t" r="r" b="b"/>
                    <a:pathLst>
                      <a:path w="21600" h="21600" fill="none" extrusionOk="0">
                        <a:moveTo>
                          <a:pt x="21600" y="0"/>
                        </a:moveTo>
                        <a:cubicBezTo>
                          <a:pt x="21600" y="11929"/>
                          <a:pt x="11929" y="21599"/>
                          <a:pt x="0" y="21600"/>
                        </a:cubicBezTo>
                      </a:path>
                      <a:path w="21600" h="21600" extrusionOk="0">
                        <a:moveTo>
                          <a:pt x="21600" y="0"/>
                        </a:moveTo>
                        <a:cubicBezTo>
                          <a:pt x="21600" y="11929"/>
                          <a:pt x="11929" y="21599"/>
                          <a:pt x="0" y="21600"/>
                        </a:cubicBezTo>
                        <a:lnTo>
                          <a:pt x="0" y="0"/>
                        </a:lnTo>
                        <a:lnTo>
                          <a:pt x="21600" y="0"/>
                        </a:lnTo>
                        <a:close/>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9" name="Google Shape;589;p65"/>
                  <p:cNvSpPr/>
                  <p:nvPr/>
                </p:nvSpPr>
                <p:spPr>
                  <a:xfrm>
                    <a:off x="1708" y="2625"/>
                    <a:ext cx="64" cy="271"/>
                  </a:xfrm>
                  <a:custGeom>
                    <a:avLst/>
                    <a:gdLst/>
                    <a:ahLst/>
                    <a:cxnLst/>
                    <a:rect l="l" t="t" r="r" b="b"/>
                    <a:pathLst>
                      <a:path w="21600" h="21600" fill="none" extrusionOk="0">
                        <a:moveTo>
                          <a:pt x="21600" y="21600"/>
                        </a:moveTo>
                        <a:cubicBezTo>
                          <a:pt x="9670" y="21600"/>
                          <a:pt x="0" y="11929"/>
                          <a:pt x="0" y="0"/>
                        </a:cubicBezTo>
                      </a:path>
                      <a:path w="21600" h="21600" extrusionOk="0">
                        <a:moveTo>
                          <a:pt x="21600" y="21600"/>
                        </a:moveTo>
                        <a:cubicBezTo>
                          <a:pt x="9670" y="21600"/>
                          <a:pt x="0" y="11929"/>
                          <a:pt x="0" y="0"/>
                        </a:cubicBezTo>
                        <a:lnTo>
                          <a:pt x="21600" y="0"/>
                        </a:lnTo>
                        <a:lnTo>
                          <a:pt x="21600" y="21600"/>
                        </a:lnTo>
                        <a:close/>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0" name="Google Shape;590;p65"/>
                  <p:cNvSpPr/>
                  <p:nvPr/>
                </p:nvSpPr>
                <p:spPr>
                  <a:xfrm>
                    <a:off x="1480" y="2622"/>
                    <a:ext cx="8" cy="442"/>
                  </a:xfrm>
                  <a:custGeom>
                    <a:avLst/>
                    <a:gdLst/>
                    <a:ahLst/>
                    <a:cxnLst/>
                    <a:rect l="l" t="t" r="r" b="b"/>
                    <a:pathLst>
                      <a:path w="21600" h="21600" fill="none" extrusionOk="0">
                        <a:moveTo>
                          <a:pt x="21600" y="21600"/>
                        </a:moveTo>
                        <a:cubicBezTo>
                          <a:pt x="9670" y="21600"/>
                          <a:pt x="0" y="11929"/>
                          <a:pt x="0" y="0"/>
                        </a:cubicBezTo>
                      </a:path>
                      <a:path w="21600" h="21600" extrusionOk="0">
                        <a:moveTo>
                          <a:pt x="21600" y="21600"/>
                        </a:moveTo>
                        <a:cubicBezTo>
                          <a:pt x="9670" y="21600"/>
                          <a:pt x="0" y="11929"/>
                          <a:pt x="0" y="0"/>
                        </a:cubicBezTo>
                        <a:lnTo>
                          <a:pt x="21600" y="0"/>
                        </a:lnTo>
                        <a:lnTo>
                          <a:pt x="21600" y="21600"/>
                        </a:lnTo>
                        <a:close/>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grpSp>
            <p:nvGrpSpPr>
              <p:cNvPr id="591" name="Google Shape;591;p65"/>
              <p:cNvGrpSpPr/>
              <p:nvPr/>
            </p:nvGrpSpPr>
            <p:grpSpPr>
              <a:xfrm>
                <a:off x="2121" y="1468"/>
                <a:ext cx="1589" cy="2315"/>
                <a:chOff x="2121" y="1468"/>
                <a:chExt cx="1589" cy="2315"/>
              </a:xfrm>
            </p:grpSpPr>
            <p:grpSp>
              <p:nvGrpSpPr>
                <p:cNvPr id="592" name="Google Shape;592;p65"/>
                <p:cNvGrpSpPr/>
                <p:nvPr/>
              </p:nvGrpSpPr>
              <p:grpSpPr>
                <a:xfrm>
                  <a:off x="2121" y="1468"/>
                  <a:ext cx="1589" cy="1131"/>
                  <a:chOff x="2121" y="1468"/>
                  <a:chExt cx="1589" cy="1131"/>
                </a:xfrm>
              </p:grpSpPr>
              <p:sp>
                <p:nvSpPr>
                  <p:cNvPr id="593" name="Google Shape;593;p65"/>
                  <p:cNvSpPr/>
                  <p:nvPr/>
                </p:nvSpPr>
                <p:spPr>
                  <a:xfrm>
                    <a:off x="2161" y="1468"/>
                    <a:ext cx="1518" cy="1118"/>
                  </a:xfrm>
                  <a:custGeom>
                    <a:avLst/>
                    <a:gdLst/>
                    <a:ahLst/>
                    <a:cxnLst/>
                    <a:rect l="l" t="t" r="r" b="b"/>
                    <a:pathLst>
                      <a:path w="1518" h="1118" extrusionOk="0">
                        <a:moveTo>
                          <a:pt x="0" y="1117"/>
                        </a:moveTo>
                        <a:lnTo>
                          <a:pt x="2" y="1117"/>
                        </a:lnTo>
                        <a:lnTo>
                          <a:pt x="5" y="1116"/>
                        </a:lnTo>
                        <a:lnTo>
                          <a:pt x="8" y="1116"/>
                        </a:lnTo>
                        <a:lnTo>
                          <a:pt x="10" y="1116"/>
                        </a:lnTo>
                        <a:lnTo>
                          <a:pt x="12" y="1115"/>
                        </a:lnTo>
                        <a:lnTo>
                          <a:pt x="15" y="1115"/>
                        </a:lnTo>
                        <a:lnTo>
                          <a:pt x="17" y="1113"/>
                        </a:lnTo>
                        <a:lnTo>
                          <a:pt x="20" y="1113"/>
                        </a:lnTo>
                        <a:lnTo>
                          <a:pt x="23" y="1113"/>
                        </a:lnTo>
                        <a:lnTo>
                          <a:pt x="25" y="1112"/>
                        </a:lnTo>
                        <a:lnTo>
                          <a:pt x="27" y="1112"/>
                        </a:lnTo>
                        <a:lnTo>
                          <a:pt x="30" y="1111"/>
                        </a:lnTo>
                        <a:lnTo>
                          <a:pt x="33" y="1111"/>
                        </a:lnTo>
                        <a:lnTo>
                          <a:pt x="35" y="1111"/>
                        </a:lnTo>
                        <a:lnTo>
                          <a:pt x="38" y="1110"/>
                        </a:lnTo>
                        <a:lnTo>
                          <a:pt x="40" y="1110"/>
                        </a:lnTo>
                        <a:lnTo>
                          <a:pt x="43" y="1109"/>
                        </a:lnTo>
                        <a:lnTo>
                          <a:pt x="46" y="1109"/>
                        </a:lnTo>
                        <a:lnTo>
                          <a:pt x="48" y="1108"/>
                        </a:lnTo>
                        <a:lnTo>
                          <a:pt x="50" y="1108"/>
                        </a:lnTo>
                        <a:lnTo>
                          <a:pt x="53" y="1106"/>
                        </a:lnTo>
                        <a:lnTo>
                          <a:pt x="56" y="1106"/>
                        </a:lnTo>
                        <a:lnTo>
                          <a:pt x="58" y="1105"/>
                        </a:lnTo>
                        <a:lnTo>
                          <a:pt x="61" y="1105"/>
                        </a:lnTo>
                        <a:lnTo>
                          <a:pt x="63" y="1104"/>
                        </a:lnTo>
                        <a:lnTo>
                          <a:pt x="65" y="1103"/>
                        </a:lnTo>
                        <a:lnTo>
                          <a:pt x="68" y="1103"/>
                        </a:lnTo>
                        <a:lnTo>
                          <a:pt x="71" y="1102"/>
                        </a:lnTo>
                        <a:lnTo>
                          <a:pt x="73" y="1101"/>
                        </a:lnTo>
                        <a:lnTo>
                          <a:pt x="76" y="1101"/>
                        </a:lnTo>
                        <a:lnTo>
                          <a:pt x="78" y="1099"/>
                        </a:lnTo>
                        <a:lnTo>
                          <a:pt x="81" y="1098"/>
                        </a:lnTo>
                        <a:lnTo>
                          <a:pt x="84" y="1098"/>
                        </a:lnTo>
                        <a:lnTo>
                          <a:pt x="86" y="1097"/>
                        </a:lnTo>
                        <a:lnTo>
                          <a:pt x="88" y="1096"/>
                        </a:lnTo>
                        <a:lnTo>
                          <a:pt x="91" y="1095"/>
                        </a:lnTo>
                        <a:lnTo>
                          <a:pt x="94" y="1094"/>
                        </a:lnTo>
                        <a:lnTo>
                          <a:pt x="96" y="1094"/>
                        </a:lnTo>
                        <a:lnTo>
                          <a:pt x="99" y="1092"/>
                        </a:lnTo>
                        <a:lnTo>
                          <a:pt x="101" y="1091"/>
                        </a:lnTo>
                        <a:lnTo>
                          <a:pt x="103" y="1090"/>
                        </a:lnTo>
                        <a:lnTo>
                          <a:pt x="107" y="1089"/>
                        </a:lnTo>
                        <a:lnTo>
                          <a:pt x="109" y="1088"/>
                        </a:lnTo>
                        <a:lnTo>
                          <a:pt x="111" y="1086"/>
                        </a:lnTo>
                        <a:lnTo>
                          <a:pt x="114" y="1086"/>
                        </a:lnTo>
                        <a:lnTo>
                          <a:pt x="116" y="1084"/>
                        </a:lnTo>
                        <a:lnTo>
                          <a:pt x="119" y="1084"/>
                        </a:lnTo>
                        <a:lnTo>
                          <a:pt x="122" y="1082"/>
                        </a:lnTo>
                        <a:lnTo>
                          <a:pt x="124" y="1082"/>
                        </a:lnTo>
                        <a:lnTo>
                          <a:pt x="126" y="1079"/>
                        </a:lnTo>
                        <a:lnTo>
                          <a:pt x="129" y="1078"/>
                        </a:lnTo>
                        <a:lnTo>
                          <a:pt x="132" y="1077"/>
                        </a:lnTo>
                        <a:lnTo>
                          <a:pt x="134" y="1076"/>
                        </a:lnTo>
                        <a:lnTo>
                          <a:pt x="136" y="1075"/>
                        </a:lnTo>
                        <a:lnTo>
                          <a:pt x="139" y="1074"/>
                        </a:lnTo>
                        <a:lnTo>
                          <a:pt x="142" y="1072"/>
                        </a:lnTo>
                        <a:lnTo>
                          <a:pt x="144" y="1070"/>
                        </a:lnTo>
                        <a:lnTo>
                          <a:pt x="147" y="1069"/>
                        </a:lnTo>
                        <a:lnTo>
                          <a:pt x="149" y="1068"/>
                        </a:lnTo>
                        <a:lnTo>
                          <a:pt x="151" y="1067"/>
                        </a:lnTo>
                        <a:lnTo>
                          <a:pt x="154" y="1064"/>
                        </a:lnTo>
                        <a:lnTo>
                          <a:pt x="157" y="1063"/>
                        </a:lnTo>
                        <a:lnTo>
                          <a:pt x="159" y="1062"/>
                        </a:lnTo>
                        <a:lnTo>
                          <a:pt x="162" y="1060"/>
                        </a:lnTo>
                        <a:lnTo>
                          <a:pt x="164" y="1058"/>
                        </a:lnTo>
                        <a:lnTo>
                          <a:pt x="167" y="1057"/>
                        </a:lnTo>
                        <a:lnTo>
                          <a:pt x="170" y="1055"/>
                        </a:lnTo>
                        <a:lnTo>
                          <a:pt x="172" y="1052"/>
                        </a:lnTo>
                        <a:lnTo>
                          <a:pt x="174" y="1051"/>
                        </a:lnTo>
                        <a:lnTo>
                          <a:pt x="177" y="1050"/>
                        </a:lnTo>
                        <a:lnTo>
                          <a:pt x="180" y="1048"/>
                        </a:lnTo>
                        <a:lnTo>
                          <a:pt x="182" y="1045"/>
                        </a:lnTo>
                        <a:lnTo>
                          <a:pt x="185" y="1043"/>
                        </a:lnTo>
                        <a:lnTo>
                          <a:pt x="187" y="1042"/>
                        </a:lnTo>
                        <a:lnTo>
                          <a:pt x="189" y="1040"/>
                        </a:lnTo>
                        <a:lnTo>
                          <a:pt x="192" y="1038"/>
                        </a:lnTo>
                        <a:lnTo>
                          <a:pt x="195" y="1036"/>
                        </a:lnTo>
                        <a:lnTo>
                          <a:pt x="197" y="1034"/>
                        </a:lnTo>
                        <a:lnTo>
                          <a:pt x="199" y="1031"/>
                        </a:lnTo>
                        <a:lnTo>
                          <a:pt x="202" y="1029"/>
                        </a:lnTo>
                        <a:lnTo>
                          <a:pt x="205" y="1027"/>
                        </a:lnTo>
                        <a:lnTo>
                          <a:pt x="207" y="1024"/>
                        </a:lnTo>
                        <a:lnTo>
                          <a:pt x="210" y="1022"/>
                        </a:lnTo>
                        <a:lnTo>
                          <a:pt x="212" y="1021"/>
                        </a:lnTo>
                        <a:lnTo>
                          <a:pt x="215" y="1018"/>
                        </a:lnTo>
                        <a:lnTo>
                          <a:pt x="218" y="1015"/>
                        </a:lnTo>
                        <a:lnTo>
                          <a:pt x="220" y="1013"/>
                        </a:lnTo>
                        <a:lnTo>
                          <a:pt x="222" y="1010"/>
                        </a:lnTo>
                        <a:lnTo>
                          <a:pt x="225" y="1008"/>
                        </a:lnTo>
                        <a:lnTo>
                          <a:pt x="227" y="1006"/>
                        </a:lnTo>
                        <a:lnTo>
                          <a:pt x="230" y="1002"/>
                        </a:lnTo>
                        <a:lnTo>
                          <a:pt x="233" y="1000"/>
                        </a:lnTo>
                        <a:lnTo>
                          <a:pt x="235" y="997"/>
                        </a:lnTo>
                        <a:lnTo>
                          <a:pt x="237" y="995"/>
                        </a:lnTo>
                        <a:lnTo>
                          <a:pt x="240" y="991"/>
                        </a:lnTo>
                        <a:lnTo>
                          <a:pt x="243" y="988"/>
                        </a:lnTo>
                        <a:lnTo>
                          <a:pt x="245" y="986"/>
                        </a:lnTo>
                        <a:lnTo>
                          <a:pt x="248" y="983"/>
                        </a:lnTo>
                        <a:lnTo>
                          <a:pt x="250" y="980"/>
                        </a:lnTo>
                        <a:lnTo>
                          <a:pt x="253" y="976"/>
                        </a:lnTo>
                        <a:lnTo>
                          <a:pt x="256" y="974"/>
                        </a:lnTo>
                        <a:lnTo>
                          <a:pt x="258" y="970"/>
                        </a:lnTo>
                        <a:lnTo>
                          <a:pt x="260" y="968"/>
                        </a:lnTo>
                        <a:lnTo>
                          <a:pt x="262" y="964"/>
                        </a:lnTo>
                        <a:lnTo>
                          <a:pt x="266" y="961"/>
                        </a:lnTo>
                        <a:lnTo>
                          <a:pt x="268" y="957"/>
                        </a:lnTo>
                        <a:lnTo>
                          <a:pt x="270" y="954"/>
                        </a:lnTo>
                        <a:lnTo>
                          <a:pt x="273" y="950"/>
                        </a:lnTo>
                        <a:lnTo>
                          <a:pt x="275" y="947"/>
                        </a:lnTo>
                        <a:lnTo>
                          <a:pt x="278" y="943"/>
                        </a:lnTo>
                        <a:lnTo>
                          <a:pt x="281" y="940"/>
                        </a:lnTo>
                        <a:lnTo>
                          <a:pt x="283" y="936"/>
                        </a:lnTo>
                        <a:lnTo>
                          <a:pt x="285" y="933"/>
                        </a:lnTo>
                        <a:lnTo>
                          <a:pt x="288" y="929"/>
                        </a:lnTo>
                        <a:lnTo>
                          <a:pt x="291" y="926"/>
                        </a:lnTo>
                        <a:lnTo>
                          <a:pt x="293" y="922"/>
                        </a:lnTo>
                        <a:lnTo>
                          <a:pt x="296" y="918"/>
                        </a:lnTo>
                        <a:lnTo>
                          <a:pt x="298" y="914"/>
                        </a:lnTo>
                        <a:lnTo>
                          <a:pt x="301" y="910"/>
                        </a:lnTo>
                        <a:lnTo>
                          <a:pt x="304" y="906"/>
                        </a:lnTo>
                        <a:lnTo>
                          <a:pt x="306" y="902"/>
                        </a:lnTo>
                        <a:lnTo>
                          <a:pt x="308" y="898"/>
                        </a:lnTo>
                        <a:lnTo>
                          <a:pt x="311" y="894"/>
                        </a:lnTo>
                        <a:lnTo>
                          <a:pt x="313" y="889"/>
                        </a:lnTo>
                        <a:lnTo>
                          <a:pt x="316" y="886"/>
                        </a:lnTo>
                        <a:lnTo>
                          <a:pt x="319" y="881"/>
                        </a:lnTo>
                        <a:lnTo>
                          <a:pt x="321" y="876"/>
                        </a:lnTo>
                        <a:lnTo>
                          <a:pt x="323" y="872"/>
                        </a:lnTo>
                        <a:lnTo>
                          <a:pt x="326" y="868"/>
                        </a:lnTo>
                        <a:lnTo>
                          <a:pt x="329" y="864"/>
                        </a:lnTo>
                        <a:lnTo>
                          <a:pt x="331" y="859"/>
                        </a:lnTo>
                        <a:lnTo>
                          <a:pt x="333" y="854"/>
                        </a:lnTo>
                        <a:lnTo>
                          <a:pt x="336" y="849"/>
                        </a:lnTo>
                        <a:lnTo>
                          <a:pt x="339" y="845"/>
                        </a:lnTo>
                        <a:lnTo>
                          <a:pt x="341" y="840"/>
                        </a:lnTo>
                        <a:lnTo>
                          <a:pt x="344" y="835"/>
                        </a:lnTo>
                        <a:lnTo>
                          <a:pt x="346" y="831"/>
                        </a:lnTo>
                        <a:lnTo>
                          <a:pt x="348" y="826"/>
                        </a:lnTo>
                        <a:lnTo>
                          <a:pt x="351" y="820"/>
                        </a:lnTo>
                        <a:lnTo>
                          <a:pt x="354" y="815"/>
                        </a:lnTo>
                        <a:lnTo>
                          <a:pt x="356" y="811"/>
                        </a:lnTo>
                        <a:lnTo>
                          <a:pt x="359" y="805"/>
                        </a:lnTo>
                        <a:lnTo>
                          <a:pt x="361" y="800"/>
                        </a:lnTo>
                        <a:lnTo>
                          <a:pt x="364" y="796"/>
                        </a:lnTo>
                        <a:lnTo>
                          <a:pt x="367" y="790"/>
                        </a:lnTo>
                        <a:lnTo>
                          <a:pt x="369" y="785"/>
                        </a:lnTo>
                        <a:lnTo>
                          <a:pt x="371" y="779"/>
                        </a:lnTo>
                        <a:lnTo>
                          <a:pt x="374" y="773"/>
                        </a:lnTo>
                        <a:lnTo>
                          <a:pt x="377" y="769"/>
                        </a:lnTo>
                        <a:lnTo>
                          <a:pt x="379" y="763"/>
                        </a:lnTo>
                        <a:lnTo>
                          <a:pt x="382" y="757"/>
                        </a:lnTo>
                        <a:lnTo>
                          <a:pt x="384" y="752"/>
                        </a:lnTo>
                        <a:lnTo>
                          <a:pt x="386" y="746"/>
                        </a:lnTo>
                        <a:lnTo>
                          <a:pt x="390" y="740"/>
                        </a:lnTo>
                        <a:lnTo>
                          <a:pt x="392" y="734"/>
                        </a:lnTo>
                        <a:lnTo>
                          <a:pt x="394" y="729"/>
                        </a:lnTo>
                        <a:lnTo>
                          <a:pt x="396" y="723"/>
                        </a:lnTo>
                        <a:lnTo>
                          <a:pt x="399" y="717"/>
                        </a:lnTo>
                        <a:lnTo>
                          <a:pt x="402" y="711"/>
                        </a:lnTo>
                        <a:lnTo>
                          <a:pt x="404" y="705"/>
                        </a:lnTo>
                        <a:lnTo>
                          <a:pt x="407" y="699"/>
                        </a:lnTo>
                        <a:lnTo>
                          <a:pt x="409" y="693"/>
                        </a:lnTo>
                        <a:lnTo>
                          <a:pt x="412" y="688"/>
                        </a:lnTo>
                        <a:lnTo>
                          <a:pt x="415" y="682"/>
                        </a:lnTo>
                        <a:lnTo>
                          <a:pt x="417" y="676"/>
                        </a:lnTo>
                        <a:lnTo>
                          <a:pt x="419" y="669"/>
                        </a:lnTo>
                        <a:lnTo>
                          <a:pt x="422" y="663"/>
                        </a:lnTo>
                        <a:lnTo>
                          <a:pt x="425" y="657"/>
                        </a:lnTo>
                        <a:lnTo>
                          <a:pt x="427" y="650"/>
                        </a:lnTo>
                        <a:lnTo>
                          <a:pt x="430" y="644"/>
                        </a:lnTo>
                        <a:lnTo>
                          <a:pt x="432" y="638"/>
                        </a:lnTo>
                        <a:lnTo>
                          <a:pt x="434" y="631"/>
                        </a:lnTo>
                        <a:lnTo>
                          <a:pt x="437" y="625"/>
                        </a:lnTo>
                        <a:lnTo>
                          <a:pt x="440" y="618"/>
                        </a:lnTo>
                        <a:lnTo>
                          <a:pt x="442" y="612"/>
                        </a:lnTo>
                        <a:lnTo>
                          <a:pt x="445" y="607"/>
                        </a:lnTo>
                        <a:lnTo>
                          <a:pt x="447" y="600"/>
                        </a:lnTo>
                        <a:lnTo>
                          <a:pt x="450" y="593"/>
                        </a:lnTo>
                        <a:lnTo>
                          <a:pt x="453" y="587"/>
                        </a:lnTo>
                        <a:lnTo>
                          <a:pt x="455" y="580"/>
                        </a:lnTo>
                        <a:lnTo>
                          <a:pt x="457" y="573"/>
                        </a:lnTo>
                        <a:lnTo>
                          <a:pt x="460" y="567"/>
                        </a:lnTo>
                        <a:lnTo>
                          <a:pt x="463" y="560"/>
                        </a:lnTo>
                        <a:lnTo>
                          <a:pt x="465" y="554"/>
                        </a:lnTo>
                        <a:lnTo>
                          <a:pt x="467" y="547"/>
                        </a:lnTo>
                        <a:lnTo>
                          <a:pt x="470" y="540"/>
                        </a:lnTo>
                        <a:lnTo>
                          <a:pt x="472" y="533"/>
                        </a:lnTo>
                        <a:lnTo>
                          <a:pt x="475" y="527"/>
                        </a:lnTo>
                        <a:lnTo>
                          <a:pt x="478" y="520"/>
                        </a:lnTo>
                        <a:lnTo>
                          <a:pt x="480" y="513"/>
                        </a:lnTo>
                        <a:lnTo>
                          <a:pt x="482" y="506"/>
                        </a:lnTo>
                        <a:lnTo>
                          <a:pt x="485" y="499"/>
                        </a:lnTo>
                        <a:lnTo>
                          <a:pt x="488" y="492"/>
                        </a:lnTo>
                        <a:lnTo>
                          <a:pt x="490" y="486"/>
                        </a:lnTo>
                        <a:lnTo>
                          <a:pt x="493" y="479"/>
                        </a:lnTo>
                        <a:lnTo>
                          <a:pt x="495" y="472"/>
                        </a:lnTo>
                        <a:lnTo>
                          <a:pt x="498" y="465"/>
                        </a:lnTo>
                        <a:lnTo>
                          <a:pt x="501" y="458"/>
                        </a:lnTo>
                        <a:lnTo>
                          <a:pt x="503" y="451"/>
                        </a:lnTo>
                        <a:lnTo>
                          <a:pt x="505" y="445"/>
                        </a:lnTo>
                        <a:lnTo>
                          <a:pt x="508" y="438"/>
                        </a:lnTo>
                        <a:lnTo>
                          <a:pt x="510" y="431"/>
                        </a:lnTo>
                        <a:lnTo>
                          <a:pt x="513" y="424"/>
                        </a:lnTo>
                        <a:lnTo>
                          <a:pt x="516" y="417"/>
                        </a:lnTo>
                        <a:lnTo>
                          <a:pt x="518" y="409"/>
                        </a:lnTo>
                        <a:lnTo>
                          <a:pt x="520" y="404"/>
                        </a:lnTo>
                        <a:lnTo>
                          <a:pt x="523" y="397"/>
                        </a:lnTo>
                        <a:lnTo>
                          <a:pt x="526" y="390"/>
                        </a:lnTo>
                        <a:lnTo>
                          <a:pt x="528" y="383"/>
                        </a:lnTo>
                        <a:lnTo>
                          <a:pt x="531" y="375"/>
                        </a:lnTo>
                        <a:lnTo>
                          <a:pt x="533" y="370"/>
                        </a:lnTo>
                        <a:lnTo>
                          <a:pt x="536" y="363"/>
                        </a:lnTo>
                        <a:lnTo>
                          <a:pt x="539" y="356"/>
                        </a:lnTo>
                        <a:lnTo>
                          <a:pt x="541" y="348"/>
                        </a:lnTo>
                        <a:lnTo>
                          <a:pt x="543" y="343"/>
                        </a:lnTo>
                        <a:lnTo>
                          <a:pt x="546" y="336"/>
                        </a:lnTo>
                        <a:lnTo>
                          <a:pt x="549" y="329"/>
                        </a:lnTo>
                        <a:lnTo>
                          <a:pt x="551" y="323"/>
                        </a:lnTo>
                        <a:lnTo>
                          <a:pt x="554" y="316"/>
                        </a:lnTo>
                        <a:lnTo>
                          <a:pt x="556" y="310"/>
                        </a:lnTo>
                        <a:lnTo>
                          <a:pt x="558" y="303"/>
                        </a:lnTo>
                        <a:lnTo>
                          <a:pt x="561" y="296"/>
                        </a:lnTo>
                        <a:lnTo>
                          <a:pt x="564" y="290"/>
                        </a:lnTo>
                        <a:lnTo>
                          <a:pt x="566" y="283"/>
                        </a:lnTo>
                        <a:lnTo>
                          <a:pt x="569" y="277"/>
                        </a:lnTo>
                        <a:lnTo>
                          <a:pt x="571" y="270"/>
                        </a:lnTo>
                        <a:lnTo>
                          <a:pt x="574" y="264"/>
                        </a:lnTo>
                        <a:lnTo>
                          <a:pt x="577" y="258"/>
                        </a:lnTo>
                        <a:lnTo>
                          <a:pt x="579" y="251"/>
                        </a:lnTo>
                        <a:lnTo>
                          <a:pt x="581" y="245"/>
                        </a:lnTo>
                        <a:lnTo>
                          <a:pt x="584" y="239"/>
                        </a:lnTo>
                        <a:lnTo>
                          <a:pt x="587" y="233"/>
                        </a:lnTo>
                        <a:lnTo>
                          <a:pt x="589" y="226"/>
                        </a:lnTo>
                        <a:lnTo>
                          <a:pt x="592" y="221"/>
                        </a:lnTo>
                        <a:lnTo>
                          <a:pt x="594" y="215"/>
                        </a:lnTo>
                        <a:lnTo>
                          <a:pt x="596" y="209"/>
                        </a:lnTo>
                        <a:lnTo>
                          <a:pt x="599" y="203"/>
                        </a:lnTo>
                        <a:lnTo>
                          <a:pt x="602" y="197"/>
                        </a:lnTo>
                        <a:lnTo>
                          <a:pt x="604" y="191"/>
                        </a:lnTo>
                        <a:lnTo>
                          <a:pt x="606" y="185"/>
                        </a:lnTo>
                        <a:lnTo>
                          <a:pt x="609" y="181"/>
                        </a:lnTo>
                        <a:lnTo>
                          <a:pt x="612" y="175"/>
                        </a:lnTo>
                        <a:lnTo>
                          <a:pt x="614" y="169"/>
                        </a:lnTo>
                        <a:lnTo>
                          <a:pt x="617" y="163"/>
                        </a:lnTo>
                        <a:lnTo>
                          <a:pt x="619" y="158"/>
                        </a:lnTo>
                        <a:lnTo>
                          <a:pt x="622" y="154"/>
                        </a:lnTo>
                        <a:lnTo>
                          <a:pt x="625" y="148"/>
                        </a:lnTo>
                        <a:lnTo>
                          <a:pt x="627" y="142"/>
                        </a:lnTo>
                        <a:lnTo>
                          <a:pt x="629" y="137"/>
                        </a:lnTo>
                        <a:lnTo>
                          <a:pt x="632" y="133"/>
                        </a:lnTo>
                        <a:lnTo>
                          <a:pt x="634" y="128"/>
                        </a:lnTo>
                        <a:lnTo>
                          <a:pt x="637" y="123"/>
                        </a:lnTo>
                        <a:lnTo>
                          <a:pt x="640" y="117"/>
                        </a:lnTo>
                        <a:lnTo>
                          <a:pt x="642" y="113"/>
                        </a:lnTo>
                        <a:lnTo>
                          <a:pt x="644" y="108"/>
                        </a:lnTo>
                        <a:lnTo>
                          <a:pt x="647" y="104"/>
                        </a:lnTo>
                        <a:lnTo>
                          <a:pt x="650" y="100"/>
                        </a:lnTo>
                        <a:lnTo>
                          <a:pt x="652" y="95"/>
                        </a:lnTo>
                        <a:lnTo>
                          <a:pt x="655" y="90"/>
                        </a:lnTo>
                        <a:lnTo>
                          <a:pt x="657" y="87"/>
                        </a:lnTo>
                        <a:lnTo>
                          <a:pt x="660" y="82"/>
                        </a:lnTo>
                        <a:lnTo>
                          <a:pt x="663" y="79"/>
                        </a:lnTo>
                        <a:lnTo>
                          <a:pt x="665" y="74"/>
                        </a:lnTo>
                        <a:lnTo>
                          <a:pt x="667" y="70"/>
                        </a:lnTo>
                        <a:lnTo>
                          <a:pt x="670" y="67"/>
                        </a:lnTo>
                        <a:lnTo>
                          <a:pt x="673" y="63"/>
                        </a:lnTo>
                        <a:lnTo>
                          <a:pt x="675" y="60"/>
                        </a:lnTo>
                        <a:lnTo>
                          <a:pt x="678" y="56"/>
                        </a:lnTo>
                        <a:lnTo>
                          <a:pt x="680" y="53"/>
                        </a:lnTo>
                        <a:lnTo>
                          <a:pt x="682" y="49"/>
                        </a:lnTo>
                        <a:lnTo>
                          <a:pt x="685" y="47"/>
                        </a:lnTo>
                        <a:lnTo>
                          <a:pt x="688" y="43"/>
                        </a:lnTo>
                        <a:lnTo>
                          <a:pt x="690" y="40"/>
                        </a:lnTo>
                        <a:lnTo>
                          <a:pt x="693" y="38"/>
                        </a:lnTo>
                        <a:lnTo>
                          <a:pt x="695" y="35"/>
                        </a:lnTo>
                        <a:lnTo>
                          <a:pt x="698" y="32"/>
                        </a:lnTo>
                        <a:lnTo>
                          <a:pt x="701" y="29"/>
                        </a:lnTo>
                        <a:lnTo>
                          <a:pt x="703" y="27"/>
                        </a:lnTo>
                        <a:lnTo>
                          <a:pt x="705" y="25"/>
                        </a:lnTo>
                        <a:lnTo>
                          <a:pt x="708" y="22"/>
                        </a:lnTo>
                        <a:lnTo>
                          <a:pt x="711" y="20"/>
                        </a:lnTo>
                        <a:lnTo>
                          <a:pt x="713" y="18"/>
                        </a:lnTo>
                        <a:lnTo>
                          <a:pt x="716" y="16"/>
                        </a:lnTo>
                        <a:lnTo>
                          <a:pt x="718" y="14"/>
                        </a:lnTo>
                        <a:lnTo>
                          <a:pt x="720" y="12"/>
                        </a:lnTo>
                        <a:lnTo>
                          <a:pt x="723" y="11"/>
                        </a:lnTo>
                        <a:lnTo>
                          <a:pt x="726" y="9"/>
                        </a:lnTo>
                        <a:lnTo>
                          <a:pt x="728" y="8"/>
                        </a:lnTo>
                        <a:lnTo>
                          <a:pt x="730" y="7"/>
                        </a:lnTo>
                        <a:lnTo>
                          <a:pt x="733" y="5"/>
                        </a:lnTo>
                        <a:lnTo>
                          <a:pt x="736" y="5"/>
                        </a:lnTo>
                        <a:lnTo>
                          <a:pt x="738" y="4"/>
                        </a:lnTo>
                        <a:lnTo>
                          <a:pt x="741" y="2"/>
                        </a:lnTo>
                        <a:lnTo>
                          <a:pt x="743" y="2"/>
                        </a:lnTo>
                        <a:lnTo>
                          <a:pt x="746" y="1"/>
                        </a:lnTo>
                        <a:lnTo>
                          <a:pt x="749" y="1"/>
                        </a:lnTo>
                        <a:lnTo>
                          <a:pt x="751" y="0"/>
                        </a:lnTo>
                        <a:lnTo>
                          <a:pt x="753" y="0"/>
                        </a:lnTo>
                        <a:lnTo>
                          <a:pt x="756" y="0"/>
                        </a:lnTo>
                        <a:lnTo>
                          <a:pt x="759" y="0"/>
                        </a:lnTo>
                        <a:lnTo>
                          <a:pt x="761" y="0"/>
                        </a:lnTo>
                        <a:lnTo>
                          <a:pt x="764" y="0"/>
                        </a:lnTo>
                        <a:lnTo>
                          <a:pt x="766" y="0"/>
                        </a:lnTo>
                        <a:lnTo>
                          <a:pt x="768" y="1"/>
                        </a:lnTo>
                        <a:lnTo>
                          <a:pt x="771" y="1"/>
                        </a:lnTo>
                        <a:lnTo>
                          <a:pt x="774" y="2"/>
                        </a:lnTo>
                        <a:lnTo>
                          <a:pt x="776" y="2"/>
                        </a:lnTo>
                        <a:lnTo>
                          <a:pt x="779" y="4"/>
                        </a:lnTo>
                        <a:lnTo>
                          <a:pt x="781" y="5"/>
                        </a:lnTo>
                        <a:lnTo>
                          <a:pt x="784" y="5"/>
                        </a:lnTo>
                        <a:lnTo>
                          <a:pt x="786" y="7"/>
                        </a:lnTo>
                        <a:lnTo>
                          <a:pt x="789" y="8"/>
                        </a:lnTo>
                        <a:lnTo>
                          <a:pt x="791" y="9"/>
                        </a:lnTo>
                        <a:lnTo>
                          <a:pt x="793" y="11"/>
                        </a:lnTo>
                        <a:lnTo>
                          <a:pt x="797" y="12"/>
                        </a:lnTo>
                        <a:lnTo>
                          <a:pt x="799" y="14"/>
                        </a:lnTo>
                        <a:lnTo>
                          <a:pt x="801" y="16"/>
                        </a:lnTo>
                        <a:lnTo>
                          <a:pt x="804" y="18"/>
                        </a:lnTo>
                        <a:lnTo>
                          <a:pt x="806" y="20"/>
                        </a:lnTo>
                        <a:lnTo>
                          <a:pt x="809" y="22"/>
                        </a:lnTo>
                        <a:lnTo>
                          <a:pt x="812" y="25"/>
                        </a:lnTo>
                        <a:lnTo>
                          <a:pt x="814" y="27"/>
                        </a:lnTo>
                        <a:lnTo>
                          <a:pt x="816" y="29"/>
                        </a:lnTo>
                        <a:lnTo>
                          <a:pt x="819" y="32"/>
                        </a:lnTo>
                        <a:lnTo>
                          <a:pt x="822" y="35"/>
                        </a:lnTo>
                        <a:lnTo>
                          <a:pt x="824" y="38"/>
                        </a:lnTo>
                        <a:lnTo>
                          <a:pt x="827" y="40"/>
                        </a:lnTo>
                        <a:lnTo>
                          <a:pt x="829" y="43"/>
                        </a:lnTo>
                        <a:lnTo>
                          <a:pt x="832" y="47"/>
                        </a:lnTo>
                        <a:lnTo>
                          <a:pt x="835" y="49"/>
                        </a:lnTo>
                        <a:lnTo>
                          <a:pt x="837" y="53"/>
                        </a:lnTo>
                        <a:lnTo>
                          <a:pt x="839" y="56"/>
                        </a:lnTo>
                        <a:lnTo>
                          <a:pt x="842" y="60"/>
                        </a:lnTo>
                        <a:lnTo>
                          <a:pt x="844" y="63"/>
                        </a:lnTo>
                        <a:lnTo>
                          <a:pt x="847" y="67"/>
                        </a:lnTo>
                        <a:lnTo>
                          <a:pt x="850" y="70"/>
                        </a:lnTo>
                        <a:lnTo>
                          <a:pt x="852" y="74"/>
                        </a:lnTo>
                        <a:lnTo>
                          <a:pt x="854" y="79"/>
                        </a:lnTo>
                        <a:lnTo>
                          <a:pt x="857" y="82"/>
                        </a:lnTo>
                        <a:lnTo>
                          <a:pt x="860" y="87"/>
                        </a:lnTo>
                        <a:lnTo>
                          <a:pt x="862" y="90"/>
                        </a:lnTo>
                        <a:lnTo>
                          <a:pt x="864" y="95"/>
                        </a:lnTo>
                        <a:lnTo>
                          <a:pt x="867" y="100"/>
                        </a:lnTo>
                        <a:lnTo>
                          <a:pt x="870" y="104"/>
                        </a:lnTo>
                        <a:lnTo>
                          <a:pt x="872" y="108"/>
                        </a:lnTo>
                        <a:lnTo>
                          <a:pt x="875" y="113"/>
                        </a:lnTo>
                        <a:lnTo>
                          <a:pt x="877" y="117"/>
                        </a:lnTo>
                        <a:lnTo>
                          <a:pt x="879" y="123"/>
                        </a:lnTo>
                        <a:lnTo>
                          <a:pt x="883" y="128"/>
                        </a:lnTo>
                        <a:lnTo>
                          <a:pt x="885" y="133"/>
                        </a:lnTo>
                        <a:lnTo>
                          <a:pt x="887" y="137"/>
                        </a:lnTo>
                        <a:lnTo>
                          <a:pt x="890" y="142"/>
                        </a:lnTo>
                        <a:lnTo>
                          <a:pt x="892" y="148"/>
                        </a:lnTo>
                        <a:lnTo>
                          <a:pt x="895" y="154"/>
                        </a:lnTo>
                        <a:lnTo>
                          <a:pt x="898" y="158"/>
                        </a:lnTo>
                        <a:lnTo>
                          <a:pt x="900" y="163"/>
                        </a:lnTo>
                        <a:lnTo>
                          <a:pt x="902" y="169"/>
                        </a:lnTo>
                        <a:lnTo>
                          <a:pt x="905" y="175"/>
                        </a:lnTo>
                        <a:lnTo>
                          <a:pt x="908" y="181"/>
                        </a:lnTo>
                        <a:lnTo>
                          <a:pt x="910" y="185"/>
                        </a:lnTo>
                        <a:lnTo>
                          <a:pt x="913" y="191"/>
                        </a:lnTo>
                        <a:lnTo>
                          <a:pt x="915" y="197"/>
                        </a:lnTo>
                        <a:lnTo>
                          <a:pt x="918" y="203"/>
                        </a:lnTo>
                        <a:lnTo>
                          <a:pt x="920" y="209"/>
                        </a:lnTo>
                        <a:lnTo>
                          <a:pt x="923" y="215"/>
                        </a:lnTo>
                        <a:lnTo>
                          <a:pt x="925" y="221"/>
                        </a:lnTo>
                        <a:lnTo>
                          <a:pt x="927" y="226"/>
                        </a:lnTo>
                        <a:lnTo>
                          <a:pt x="930" y="233"/>
                        </a:lnTo>
                        <a:lnTo>
                          <a:pt x="933" y="239"/>
                        </a:lnTo>
                        <a:lnTo>
                          <a:pt x="935" y="245"/>
                        </a:lnTo>
                        <a:lnTo>
                          <a:pt x="938" y="251"/>
                        </a:lnTo>
                        <a:lnTo>
                          <a:pt x="940" y="258"/>
                        </a:lnTo>
                        <a:lnTo>
                          <a:pt x="943" y="264"/>
                        </a:lnTo>
                        <a:lnTo>
                          <a:pt x="946" y="270"/>
                        </a:lnTo>
                        <a:lnTo>
                          <a:pt x="948" y="277"/>
                        </a:lnTo>
                        <a:lnTo>
                          <a:pt x="950" y="283"/>
                        </a:lnTo>
                        <a:lnTo>
                          <a:pt x="953" y="290"/>
                        </a:lnTo>
                        <a:lnTo>
                          <a:pt x="956" y="296"/>
                        </a:lnTo>
                        <a:lnTo>
                          <a:pt x="958" y="303"/>
                        </a:lnTo>
                        <a:lnTo>
                          <a:pt x="961" y="310"/>
                        </a:lnTo>
                        <a:lnTo>
                          <a:pt x="963" y="316"/>
                        </a:lnTo>
                        <a:lnTo>
                          <a:pt x="965" y="323"/>
                        </a:lnTo>
                        <a:lnTo>
                          <a:pt x="968" y="329"/>
                        </a:lnTo>
                        <a:lnTo>
                          <a:pt x="971" y="336"/>
                        </a:lnTo>
                        <a:lnTo>
                          <a:pt x="973" y="343"/>
                        </a:lnTo>
                        <a:lnTo>
                          <a:pt x="976" y="348"/>
                        </a:lnTo>
                        <a:lnTo>
                          <a:pt x="978" y="356"/>
                        </a:lnTo>
                        <a:lnTo>
                          <a:pt x="981" y="363"/>
                        </a:lnTo>
                        <a:lnTo>
                          <a:pt x="983" y="370"/>
                        </a:lnTo>
                        <a:lnTo>
                          <a:pt x="986" y="375"/>
                        </a:lnTo>
                        <a:lnTo>
                          <a:pt x="988" y="383"/>
                        </a:lnTo>
                        <a:lnTo>
                          <a:pt x="991" y="390"/>
                        </a:lnTo>
                        <a:lnTo>
                          <a:pt x="994" y="397"/>
                        </a:lnTo>
                        <a:lnTo>
                          <a:pt x="996" y="404"/>
                        </a:lnTo>
                        <a:lnTo>
                          <a:pt x="998" y="409"/>
                        </a:lnTo>
                        <a:lnTo>
                          <a:pt x="1001" y="417"/>
                        </a:lnTo>
                        <a:lnTo>
                          <a:pt x="1003" y="424"/>
                        </a:lnTo>
                        <a:lnTo>
                          <a:pt x="1006" y="431"/>
                        </a:lnTo>
                        <a:lnTo>
                          <a:pt x="1009" y="438"/>
                        </a:lnTo>
                        <a:lnTo>
                          <a:pt x="1011" y="445"/>
                        </a:lnTo>
                        <a:lnTo>
                          <a:pt x="1013" y="451"/>
                        </a:lnTo>
                        <a:lnTo>
                          <a:pt x="1016" y="458"/>
                        </a:lnTo>
                        <a:lnTo>
                          <a:pt x="1019" y="465"/>
                        </a:lnTo>
                        <a:lnTo>
                          <a:pt x="1021" y="472"/>
                        </a:lnTo>
                        <a:lnTo>
                          <a:pt x="1024" y="479"/>
                        </a:lnTo>
                        <a:lnTo>
                          <a:pt x="1026" y="486"/>
                        </a:lnTo>
                        <a:lnTo>
                          <a:pt x="1029" y="492"/>
                        </a:lnTo>
                        <a:lnTo>
                          <a:pt x="1032" y="499"/>
                        </a:lnTo>
                        <a:lnTo>
                          <a:pt x="1034" y="506"/>
                        </a:lnTo>
                        <a:lnTo>
                          <a:pt x="1036" y="513"/>
                        </a:lnTo>
                        <a:lnTo>
                          <a:pt x="1039" y="520"/>
                        </a:lnTo>
                        <a:lnTo>
                          <a:pt x="1042" y="527"/>
                        </a:lnTo>
                        <a:lnTo>
                          <a:pt x="1044" y="533"/>
                        </a:lnTo>
                        <a:lnTo>
                          <a:pt x="1047" y="540"/>
                        </a:lnTo>
                        <a:lnTo>
                          <a:pt x="1049" y="547"/>
                        </a:lnTo>
                        <a:lnTo>
                          <a:pt x="1051" y="554"/>
                        </a:lnTo>
                        <a:lnTo>
                          <a:pt x="1054" y="560"/>
                        </a:lnTo>
                        <a:lnTo>
                          <a:pt x="1057" y="567"/>
                        </a:lnTo>
                        <a:lnTo>
                          <a:pt x="1059" y="573"/>
                        </a:lnTo>
                        <a:lnTo>
                          <a:pt x="1061" y="580"/>
                        </a:lnTo>
                        <a:lnTo>
                          <a:pt x="1064" y="587"/>
                        </a:lnTo>
                        <a:lnTo>
                          <a:pt x="1067" y="593"/>
                        </a:lnTo>
                        <a:lnTo>
                          <a:pt x="1069" y="600"/>
                        </a:lnTo>
                        <a:lnTo>
                          <a:pt x="1072" y="607"/>
                        </a:lnTo>
                        <a:lnTo>
                          <a:pt x="1074" y="612"/>
                        </a:lnTo>
                        <a:lnTo>
                          <a:pt x="1077" y="618"/>
                        </a:lnTo>
                        <a:lnTo>
                          <a:pt x="1080" y="625"/>
                        </a:lnTo>
                        <a:lnTo>
                          <a:pt x="1082" y="631"/>
                        </a:lnTo>
                        <a:lnTo>
                          <a:pt x="1084" y="638"/>
                        </a:lnTo>
                        <a:lnTo>
                          <a:pt x="1087" y="644"/>
                        </a:lnTo>
                        <a:lnTo>
                          <a:pt x="1089" y="650"/>
                        </a:lnTo>
                        <a:lnTo>
                          <a:pt x="1092" y="657"/>
                        </a:lnTo>
                        <a:lnTo>
                          <a:pt x="1095" y="663"/>
                        </a:lnTo>
                        <a:lnTo>
                          <a:pt x="1097" y="669"/>
                        </a:lnTo>
                        <a:lnTo>
                          <a:pt x="1099" y="676"/>
                        </a:lnTo>
                        <a:lnTo>
                          <a:pt x="1102" y="682"/>
                        </a:lnTo>
                        <a:lnTo>
                          <a:pt x="1105" y="688"/>
                        </a:lnTo>
                        <a:lnTo>
                          <a:pt x="1107" y="693"/>
                        </a:lnTo>
                        <a:lnTo>
                          <a:pt x="1110" y="699"/>
                        </a:lnTo>
                        <a:lnTo>
                          <a:pt x="1112" y="705"/>
                        </a:lnTo>
                        <a:lnTo>
                          <a:pt x="1115" y="711"/>
                        </a:lnTo>
                        <a:lnTo>
                          <a:pt x="1118" y="717"/>
                        </a:lnTo>
                        <a:lnTo>
                          <a:pt x="1120" y="723"/>
                        </a:lnTo>
                        <a:lnTo>
                          <a:pt x="1122" y="729"/>
                        </a:lnTo>
                        <a:lnTo>
                          <a:pt x="1125" y="734"/>
                        </a:lnTo>
                        <a:lnTo>
                          <a:pt x="1127" y="740"/>
                        </a:lnTo>
                        <a:lnTo>
                          <a:pt x="1130" y="746"/>
                        </a:lnTo>
                        <a:lnTo>
                          <a:pt x="1133" y="752"/>
                        </a:lnTo>
                        <a:lnTo>
                          <a:pt x="1135" y="757"/>
                        </a:lnTo>
                        <a:lnTo>
                          <a:pt x="1137" y="763"/>
                        </a:lnTo>
                        <a:lnTo>
                          <a:pt x="1140" y="769"/>
                        </a:lnTo>
                        <a:lnTo>
                          <a:pt x="1143" y="773"/>
                        </a:lnTo>
                        <a:lnTo>
                          <a:pt x="1145" y="779"/>
                        </a:lnTo>
                        <a:lnTo>
                          <a:pt x="1148" y="785"/>
                        </a:lnTo>
                        <a:lnTo>
                          <a:pt x="1150" y="790"/>
                        </a:lnTo>
                        <a:lnTo>
                          <a:pt x="1153" y="796"/>
                        </a:lnTo>
                        <a:lnTo>
                          <a:pt x="1156" y="800"/>
                        </a:lnTo>
                        <a:lnTo>
                          <a:pt x="1158" y="805"/>
                        </a:lnTo>
                        <a:lnTo>
                          <a:pt x="1160" y="811"/>
                        </a:lnTo>
                        <a:lnTo>
                          <a:pt x="1163" y="815"/>
                        </a:lnTo>
                        <a:lnTo>
                          <a:pt x="1166" y="820"/>
                        </a:lnTo>
                        <a:lnTo>
                          <a:pt x="1168" y="826"/>
                        </a:lnTo>
                        <a:lnTo>
                          <a:pt x="1171" y="831"/>
                        </a:lnTo>
                        <a:lnTo>
                          <a:pt x="1173" y="835"/>
                        </a:lnTo>
                        <a:lnTo>
                          <a:pt x="1175" y="840"/>
                        </a:lnTo>
                        <a:lnTo>
                          <a:pt x="1178" y="845"/>
                        </a:lnTo>
                        <a:lnTo>
                          <a:pt x="1181" y="849"/>
                        </a:lnTo>
                        <a:lnTo>
                          <a:pt x="1183" y="854"/>
                        </a:lnTo>
                        <a:lnTo>
                          <a:pt x="1186" y="859"/>
                        </a:lnTo>
                        <a:lnTo>
                          <a:pt x="1188" y="864"/>
                        </a:lnTo>
                        <a:lnTo>
                          <a:pt x="1191" y="868"/>
                        </a:lnTo>
                        <a:lnTo>
                          <a:pt x="1194" y="872"/>
                        </a:lnTo>
                        <a:lnTo>
                          <a:pt x="1196" y="876"/>
                        </a:lnTo>
                        <a:lnTo>
                          <a:pt x="1198" y="881"/>
                        </a:lnTo>
                        <a:lnTo>
                          <a:pt x="1201" y="886"/>
                        </a:lnTo>
                        <a:lnTo>
                          <a:pt x="1204" y="889"/>
                        </a:lnTo>
                        <a:lnTo>
                          <a:pt x="1206" y="894"/>
                        </a:lnTo>
                        <a:lnTo>
                          <a:pt x="1209" y="898"/>
                        </a:lnTo>
                        <a:lnTo>
                          <a:pt x="1211" y="902"/>
                        </a:lnTo>
                        <a:lnTo>
                          <a:pt x="1213" y="906"/>
                        </a:lnTo>
                        <a:lnTo>
                          <a:pt x="1216" y="910"/>
                        </a:lnTo>
                        <a:lnTo>
                          <a:pt x="1219" y="914"/>
                        </a:lnTo>
                        <a:lnTo>
                          <a:pt x="1221" y="918"/>
                        </a:lnTo>
                        <a:lnTo>
                          <a:pt x="1223" y="922"/>
                        </a:lnTo>
                        <a:lnTo>
                          <a:pt x="1226" y="926"/>
                        </a:lnTo>
                        <a:lnTo>
                          <a:pt x="1229" y="929"/>
                        </a:lnTo>
                        <a:lnTo>
                          <a:pt x="1231" y="933"/>
                        </a:lnTo>
                        <a:lnTo>
                          <a:pt x="1234" y="936"/>
                        </a:lnTo>
                        <a:lnTo>
                          <a:pt x="1236" y="940"/>
                        </a:lnTo>
                        <a:lnTo>
                          <a:pt x="1239" y="943"/>
                        </a:lnTo>
                        <a:lnTo>
                          <a:pt x="1242" y="947"/>
                        </a:lnTo>
                        <a:lnTo>
                          <a:pt x="1244" y="950"/>
                        </a:lnTo>
                        <a:lnTo>
                          <a:pt x="1246" y="954"/>
                        </a:lnTo>
                        <a:lnTo>
                          <a:pt x="1249" y="957"/>
                        </a:lnTo>
                        <a:lnTo>
                          <a:pt x="1251" y="961"/>
                        </a:lnTo>
                        <a:lnTo>
                          <a:pt x="1254" y="964"/>
                        </a:lnTo>
                        <a:lnTo>
                          <a:pt x="1257" y="968"/>
                        </a:lnTo>
                        <a:lnTo>
                          <a:pt x="1259" y="970"/>
                        </a:lnTo>
                        <a:lnTo>
                          <a:pt x="1261" y="974"/>
                        </a:lnTo>
                        <a:lnTo>
                          <a:pt x="1264" y="976"/>
                        </a:lnTo>
                        <a:lnTo>
                          <a:pt x="1267" y="980"/>
                        </a:lnTo>
                        <a:lnTo>
                          <a:pt x="1269" y="983"/>
                        </a:lnTo>
                        <a:lnTo>
                          <a:pt x="1272" y="986"/>
                        </a:lnTo>
                        <a:lnTo>
                          <a:pt x="1274" y="988"/>
                        </a:lnTo>
                        <a:lnTo>
                          <a:pt x="1277" y="991"/>
                        </a:lnTo>
                        <a:lnTo>
                          <a:pt x="1280" y="995"/>
                        </a:lnTo>
                        <a:lnTo>
                          <a:pt x="1282" y="997"/>
                        </a:lnTo>
                        <a:lnTo>
                          <a:pt x="1284" y="1000"/>
                        </a:lnTo>
                        <a:lnTo>
                          <a:pt x="1287" y="1002"/>
                        </a:lnTo>
                        <a:lnTo>
                          <a:pt x="1290" y="1006"/>
                        </a:lnTo>
                        <a:lnTo>
                          <a:pt x="1292" y="1008"/>
                        </a:lnTo>
                        <a:lnTo>
                          <a:pt x="1295" y="1010"/>
                        </a:lnTo>
                        <a:lnTo>
                          <a:pt x="1297" y="1013"/>
                        </a:lnTo>
                        <a:lnTo>
                          <a:pt x="1299" y="1015"/>
                        </a:lnTo>
                        <a:lnTo>
                          <a:pt x="1302" y="1018"/>
                        </a:lnTo>
                        <a:lnTo>
                          <a:pt x="1305" y="1021"/>
                        </a:lnTo>
                        <a:lnTo>
                          <a:pt x="1307" y="1022"/>
                        </a:lnTo>
                        <a:lnTo>
                          <a:pt x="1310" y="1024"/>
                        </a:lnTo>
                        <a:lnTo>
                          <a:pt x="1312" y="1027"/>
                        </a:lnTo>
                        <a:lnTo>
                          <a:pt x="1315" y="1029"/>
                        </a:lnTo>
                        <a:lnTo>
                          <a:pt x="1317" y="1031"/>
                        </a:lnTo>
                        <a:lnTo>
                          <a:pt x="1320" y="1034"/>
                        </a:lnTo>
                        <a:lnTo>
                          <a:pt x="1322" y="1036"/>
                        </a:lnTo>
                        <a:lnTo>
                          <a:pt x="1325" y="1038"/>
                        </a:lnTo>
                        <a:lnTo>
                          <a:pt x="1328" y="1040"/>
                        </a:lnTo>
                        <a:lnTo>
                          <a:pt x="1330" y="1042"/>
                        </a:lnTo>
                        <a:lnTo>
                          <a:pt x="1332" y="1043"/>
                        </a:lnTo>
                        <a:lnTo>
                          <a:pt x="1335" y="1045"/>
                        </a:lnTo>
                        <a:lnTo>
                          <a:pt x="1337" y="1048"/>
                        </a:lnTo>
                        <a:lnTo>
                          <a:pt x="1340" y="1050"/>
                        </a:lnTo>
                        <a:lnTo>
                          <a:pt x="1343" y="1051"/>
                        </a:lnTo>
                        <a:lnTo>
                          <a:pt x="1345" y="1052"/>
                        </a:lnTo>
                        <a:lnTo>
                          <a:pt x="1347" y="1055"/>
                        </a:lnTo>
                        <a:lnTo>
                          <a:pt x="1350" y="1057"/>
                        </a:lnTo>
                        <a:lnTo>
                          <a:pt x="1353" y="1058"/>
                        </a:lnTo>
                        <a:lnTo>
                          <a:pt x="1355" y="1060"/>
                        </a:lnTo>
                        <a:lnTo>
                          <a:pt x="1358" y="1062"/>
                        </a:lnTo>
                        <a:lnTo>
                          <a:pt x="1360" y="1063"/>
                        </a:lnTo>
                        <a:lnTo>
                          <a:pt x="1363" y="1064"/>
                        </a:lnTo>
                        <a:lnTo>
                          <a:pt x="1366" y="1067"/>
                        </a:lnTo>
                        <a:lnTo>
                          <a:pt x="1368" y="1068"/>
                        </a:lnTo>
                        <a:lnTo>
                          <a:pt x="1370" y="1069"/>
                        </a:lnTo>
                        <a:lnTo>
                          <a:pt x="1373" y="1070"/>
                        </a:lnTo>
                        <a:lnTo>
                          <a:pt x="1375" y="1072"/>
                        </a:lnTo>
                        <a:lnTo>
                          <a:pt x="1378" y="1074"/>
                        </a:lnTo>
                        <a:lnTo>
                          <a:pt x="1380" y="1075"/>
                        </a:lnTo>
                        <a:lnTo>
                          <a:pt x="1383" y="1076"/>
                        </a:lnTo>
                        <a:lnTo>
                          <a:pt x="1385" y="1077"/>
                        </a:lnTo>
                        <a:lnTo>
                          <a:pt x="1388" y="1078"/>
                        </a:lnTo>
                        <a:lnTo>
                          <a:pt x="1391" y="1079"/>
                        </a:lnTo>
                        <a:lnTo>
                          <a:pt x="1393" y="1082"/>
                        </a:lnTo>
                        <a:lnTo>
                          <a:pt x="1395" y="1082"/>
                        </a:lnTo>
                        <a:lnTo>
                          <a:pt x="1398" y="1084"/>
                        </a:lnTo>
                        <a:lnTo>
                          <a:pt x="1401" y="1084"/>
                        </a:lnTo>
                        <a:lnTo>
                          <a:pt x="1403" y="1086"/>
                        </a:lnTo>
                        <a:lnTo>
                          <a:pt x="1406" y="1086"/>
                        </a:lnTo>
                        <a:lnTo>
                          <a:pt x="1408" y="1088"/>
                        </a:lnTo>
                        <a:lnTo>
                          <a:pt x="1410" y="1089"/>
                        </a:lnTo>
                        <a:lnTo>
                          <a:pt x="1414" y="1090"/>
                        </a:lnTo>
                        <a:lnTo>
                          <a:pt x="1416" y="1091"/>
                        </a:lnTo>
                        <a:lnTo>
                          <a:pt x="1418" y="1092"/>
                        </a:lnTo>
                        <a:lnTo>
                          <a:pt x="1421" y="1094"/>
                        </a:lnTo>
                        <a:lnTo>
                          <a:pt x="1423" y="1094"/>
                        </a:lnTo>
                        <a:lnTo>
                          <a:pt x="1426" y="1095"/>
                        </a:lnTo>
                        <a:lnTo>
                          <a:pt x="1429" y="1096"/>
                        </a:lnTo>
                        <a:lnTo>
                          <a:pt x="1431" y="1097"/>
                        </a:lnTo>
                        <a:lnTo>
                          <a:pt x="1433" y="1098"/>
                        </a:lnTo>
                        <a:lnTo>
                          <a:pt x="1436" y="1098"/>
                        </a:lnTo>
                        <a:lnTo>
                          <a:pt x="1439" y="1099"/>
                        </a:lnTo>
                        <a:lnTo>
                          <a:pt x="1441" y="1101"/>
                        </a:lnTo>
                        <a:lnTo>
                          <a:pt x="1443" y="1101"/>
                        </a:lnTo>
                        <a:lnTo>
                          <a:pt x="1446" y="1102"/>
                        </a:lnTo>
                        <a:lnTo>
                          <a:pt x="1449" y="1103"/>
                        </a:lnTo>
                        <a:lnTo>
                          <a:pt x="1451" y="1103"/>
                        </a:lnTo>
                        <a:lnTo>
                          <a:pt x="1454" y="1104"/>
                        </a:lnTo>
                        <a:lnTo>
                          <a:pt x="1456" y="1105"/>
                        </a:lnTo>
                        <a:lnTo>
                          <a:pt x="1458" y="1105"/>
                        </a:lnTo>
                        <a:lnTo>
                          <a:pt x="1461" y="1106"/>
                        </a:lnTo>
                        <a:lnTo>
                          <a:pt x="1464" y="1106"/>
                        </a:lnTo>
                        <a:lnTo>
                          <a:pt x="1466" y="1108"/>
                        </a:lnTo>
                        <a:lnTo>
                          <a:pt x="1469" y="1108"/>
                        </a:lnTo>
                        <a:lnTo>
                          <a:pt x="1471" y="1109"/>
                        </a:lnTo>
                        <a:lnTo>
                          <a:pt x="1474" y="1109"/>
                        </a:lnTo>
                        <a:lnTo>
                          <a:pt x="1477" y="1110"/>
                        </a:lnTo>
                        <a:lnTo>
                          <a:pt x="1479" y="1110"/>
                        </a:lnTo>
                        <a:lnTo>
                          <a:pt x="1481" y="1111"/>
                        </a:lnTo>
                        <a:lnTo>
                          <a:pt x="1484" y="1111"/>
                        </a:lnTo>
                        <a:lnTo>
                          <a:pt x="1487" y="1111"/>
                        </a:lnTo>
                        <a:lnTo>
                          <a:pt x="1489" y="1112"/>
                        </a:lnTo>
                        <a:lnTo>
                          <a:pt x="1492" y="1112"/>
                        </a:lnTo>
                        <a:lnTo>
                          <a:pt x="1494" y="1113"/>
                        </a:lnTo>
                        <a:lnTo>
                          <a:pt x="1496" y="1113"/>
                        </a:lnTo>
                        <a:lnTo>
                          <a:pt x="1500" y="1113"/>
                        </a:lnTo>
                        <a:lnTo>
                          <a:pt x="1502" y="1115"/>
                        </a:lnTo>
                        <a:lnTo>
                          <a:pt x="1504" y="1115"/>
                        </a:lnTo>
                        <a:lnTo>
                          <a:pt x="1507" y="1116"/>
                        </a:lnTo>
                        <a:lnTo>
                          <a:pt x="1509" y="1116"/>
                        </a:lnTo>
                        <a:lnTo>
                          <a:pt x="1512" y="1116"/>
                        </a:lnTo>
                        <a:lnTo>
                          <a:pt x="1514" y="1117"/>
                        </a:lnTo>
                        <a:lnTo>
                          <a:pt x="1517" y="1117"/>
                        </a:lnTo>
                      </a:path>
                    </a:pathLst>
                  </a:custGeom>
                  <a:solidFill>
                    <a:schemeClr val="folHlink"/>
                  </a:solidFill>
                  <a:ln w="25400" cap="rnd" cmpd="sng">
                    <a:solidFill>
                      <a:schemeClr val="lt2"/>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94" name="Google Shape;594;p65"/>
                  <p:cNvCxnSpPr/>
                  <p:nvPr/>
                </p:nvCxnSpPr>
                <p:spPr>
                  <a:xfrm rot="10800000">
                    <a:off x="2121" y="2599"/>
                    <a:ext cx="1589" cy="0"/>
                  </a:xfrm>
                  <a:prstGeom prst="straightConnector1">
                    <a:avLst/>
                  </a:prstGeom>
                  <a:noFill/>
                  <a:ln w="50800" cap="flat" cmpd="sng">
                    <a:solidFill>
                      <a:srgbClr val="000000"/>
                    </a:solidFill>
                    <a:prstDash val="solid"/>
                    <a:miter lim="800000"/>
                    <a:headEnd type="none" w="med" len="med"/>
                    <a:tailEnd type="none" w="med" len="med"/>
                  </a:ln>
                </p:spPr>
              </p:cxnSp>
            </p:grpSp>
            <p:sp>
              <p:nvSpPr>
                <p:cNvPr id="595" name="Google Shape;595;p65"/>
                <p:cNvSpPr txBox="1"/>
                <p:nvPr/>
              </p:nvSpPr>
              <p:spPr>
                <a:xfrm>
                  <a:off x="2234" y="3267"/>
                  <a:ext cx="1330" cy="516"/>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FF0000"/>
                    </a:buClr>
                    <a:buSzPts val="2400"/>
                    <a:buFont typeface="Arial" panose="020B0604020202020204"/>
                    <a:buNone/>
                  </a:pPr>
                  <a:r>
                    <a:rPr lang="en-US" sz="2400" b="1" i="0" u="none">
                      <a:solidFill>
                        <a:srgbClr val="FF0000"/>
                      </a:solidFill>
                      <a:latin typeface="Arial" panose="020B0604020202020204"/>
                      <a:ea typeface="Arial" panose="020B0604020202020204"/>
                      <a:cs typeface="Arial" panose="020B0604020202020204"/>
                      <a:sym typeface="Arial" panose="020B0604020202020204"/>
                    </a:rPr>
                    <a:t>Symmetric</a:t>
                  </a:r>
                  <a:endParaRPr lang="en-US" sz="2400" b="1" i="0" u="none">
                    <a:solidFill>
                      <a:srgbClr val="FF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FF0000"/>
                    </a:buClr>
                    <a:buSzPts val="2400"/>
                    <a:buFont typeface="Arial" panose="020B0604020202020204"/>
                    <a:buNone/>
                  </a:pPr>
                  <a:r>
                    <a:rPr lang="en-US" sz="2400" b="1" i="0" u="none">
                      <a:solidFill>
                        <a:srgbClr val="FF0000"/>
                      </a:solidFill>
                      <a:latin typeface="Arial" panose="020B0604020202020204"/>
                      <a:ea typeface="Arial" panose="020B0604020202020204"/>
                      <a:cs typeface="Arial" panose="020B0604020202020204"/>
                      <a:sym typeface="Arial" panose="020B0604020202020204"/>
                    </a:rPr>
                    <a:t>(Not Skewed)</a:t>
                  </a:r>
                  <a:endParaRPr lang="en-US" sz="2400" b="1" i="0" u="none">
                    <a:solidFill>
                      <a:srgbClr val="FF0000"/>
                    </a:solidFill>
                    <a:latin typeface="Arial" panose="020B0604020202020204"/>
                    <a:ea typeface="Arial" panose="020B0604020202020204"/>
                    <a:cs typeface="Arial" panose="020B0604020202020204"/>
                    <a:sym typeface="Arial" panose="020B0604020202020204"/>
                  </a:endParaRPr>
                </a:p>
              </p:txBody>
            </p:sp>
            <p:cxnSp>
              <p:nvCxnSpPr>
                <p:cNvPr id="596" name="Google Shape;596;p65"/>
                <p:cNvCxnSpPr/>
                <p:nvPr/>
              </p:nvCxnSpPr>
              <p:spPr>
                <a:xfrm>
                  <a:off x="2911" y="1487"/>
                  <a:ext cx="0" cy="1101"/>
                </a:xfrm>
                <a:prstGeom prst="straightConnector1">
                  <a:avLst/>
                </a:prstGeom>
                <a:noFill/>
                <a:ln w="50800" cap="flat" cmpd="sng">
                  <a:solidFill>
                    <a:schemeClr val="accent1"/>
                  </a:solidFill>
                  <a:prstDash val="solid"/>
                  <a:miter lim="800000"/>
                  <a:headEnd type="none" w="med" len="med"/>
                  <a:tailEnd type="none" w="med" len="med"/>
                </a:ln>
              </p:spPr>
            </p:cxnSp>
            <p:sp>
              <p:nvSpPr>
                <p:cNvPr id="597" name="Google Shape;597;p65"/>
                <p:cNvSpPr txBox="1"/>
                <p:nvPr/>
              </p:nvSpPr>
              <p:spPr>
                <a:xfrm>
                  <a:off x="2616" y="2713"/>
                  <a:ext cx="586" cy="575"/>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a:solidFill>
                        <a:srgbClr val="000000"/>
                      </a:solidFill>
                      <a:latin typeface="Arial" panose="020B0604020202020204"/>
                      <a:ea typeface="Arial" panose="020B0604020202020204"/>
                      <a:cs typeface="Arial" panose="020B0604020202020204"/>
                      <a:sym typeface="Arial" panose="020B0604020202020204"/>
                    </a:rPr>
                    <a:t>Mean</a:t>
                  </a:r>
                  <a:endParaRPr lang="en-US" sz="1400" b="1"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a:solidFill>
                        <a:srgbClr val="000000"/>
                      </a:solidFill>
                      <a:latin typeface="Arial" panose="020B0604020202020204"/>
                      <a:ea typeface="Arial" panose="020B0604020202020204"/>
                      <a:cs typeface="Arial" panose="020B0604020202020204"/>
                      <a:sym typeface="Arial" panose="020B0604020202020204"/>
                    </a:rPr>
                    <a:t>Median</a:t>
                  </a:r>
                  <a:endParaRPr lang="en-US" sz="1400" b="1"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a:solidFill>
                        <a:srgbClr val="000000"/>
                      </a:solidFill>
                      <a:latin typeface="Arial" panose="020B0604020202020204"/>
                      <a:ea typeface="Arial" panose="020B0604020202020204"/>
                      <a:cs typeface="Arial" panose="020B0604020202020204"/>
                      <a:sym typeface="Arial" panose="020B0604020202020204"/>
                    </a:rPr>
                    <a:t>Mode</a:t>
                  </a:r>
                  <a:endParaRPr lang="en-US" sz="1400" b="1" i="0" u="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598" name="Google Shape;598;p65"/>
              <p:cNvGrpSpPr/>
              <p:nvPr/>
            </p:nvGrpSpPr>
            <p:grpSpPr>
              <a:xfrm>
                <a:off x="3630" y="1365"/>
                <a:ext cx="1789" cy="2425"/>
                <a:chOff x="3630" y="1365"/>
                <a:chExt cx="1789" cy="2425"/>
              </a:xfrm>
            </p:grpSpPr>
            <p:sp>
              <p:nvSpPr>
                <p:cNvPr id="599" name="Google Shape;599;p65"/>
                <p:cNvSpPr txBox="1"/>
                <p:nvPr/>
              </p:nvSpPr>
              <p:spPr>
                <a:xfrm>
                  <a:off x="3981" y="3274"/>
                  <a:ext cx="1010" cy="516"/>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FF0000"/>
                    </a:buClr>
                    <a:buSzPts val="2400"/>
                    <a:buFont typeface="Arial" panose="020B0604020202020204"/>
                    <a:buNone/>
                  </a:pPr>
                  <a:r>
                    <a:rPr lang="en-US" sz="2400" b="1" i="0" u="none">
                      <a:solidFill>
                        <a:srgbClr val="FF0000"/>
                      </a:solidFill>
                      <a:latin typeface="Arial" panose="020B0604020202020204"/>
                      <a:ea typeface="Arial" panose="020B0604020202020204"/>
                      <a:cs typeface="Arial" panose="020B0604020202020204"/>
                      <a:sym typeface="Arial" panose="020B0604020202020204"/>
                    </a:rPr>
                    <a:t>Positively</a:t>
                  </a:r>
                  <a:endParaRPr lang="en-US" sz="2400" b="1" i="0" u="none">
                    <a:solidFill>
                      <a:srgbClr val="FF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FF0000"/>
                    </a:buClr>
                    <a:buSzPts val="2400"/>
                    <a:buFont typeface="Arial" panose="020B0604020202020204"/>
                    <a:buNone/>
                  </a:pPr>
                  <a:r>
                    <a:rPr lang="en-US" sz="2400" b="1" i="0" u="none">
                      <a:solidFill>
                        <a:srgbClr val="FF0000"/>
                      </a:solidFill>
                      <a:latin typeface="Arial" panose="020B0604020202020204"/>
                      <a:ea typeface="Arial" panose="020B0604020202020204"/>
                      <a:cs typeface="Arial" panose="020B0604020202020204"/>
                      <a:sym typeface="Arial" panose="020B0604020202020204"/>
                    </a:rPr>
                    <a:t>Skewed</a:t>
                  </a:r>
                  <a:endParaRPr lang="en-US" sz="2400" b="1" i="0" u="none">
                    <a:solidFill>
                      <a:srgbClr val="FF0000"/>
                    </a:solidFill>
                    <a:latin typeface="Arial" panose="020B0604020202020204"/>
                    <a:ea typeface="Arial" panose="020B0604020202020204"/>
                    <a:cs typeface="Arial" panose="020B0604020202020204"/>
                    <a:sym typeface="Arial" panose="020B0604020202020204"/>
                  </a:endParaRPr>
                </a:p>
              </p:txBody>
            </p:sp>
            <p:grpSp>
              <p:nvGrpSpPr>
                <p:cNvPr id="600" name="Google Shape;600;p65"/>
                <p:cNvGrpSpPr/>
                <p:nvPr/>
              </p:nvGrpSpPr>
              <p:grpSpPr>
                <a:xfrm>
                  <a:off x="3630" y="1365"/>
                  <a:ext cx="1789" cy="1916"/>
                  <a:chOff x="3630" y="1365"/>
                  <a:chExt cx="1789" cy="1916"/>
                </a:xfrm>
              </p:grpSpPr>
              <p:cxnSp>
                <p:nvCxnSpPr>
                  <p:cNvPr id="601" name="Google Shape;601;p65"/>
                  <p:cNvCxnSpPr/>
                  <p:nvPr/>
                </p:nvCxnSpPr>
                <p:spPr>
                  <a:xfrm>
                    <a:off x="3839" y="2602"/>
                    <a:ext cx="1573" cy="0"/>
                  </a:xfrm>
                  <a:prstGeom prst="straightConnector1">
                    <a:avLst/>
                  </a:prstGeom>
                  <a:noFill/>
                  <a:ln w="50800" cap="flat" cmpd="sng">
                    <a:solidFill>
                      <a:srgbClr val="000000"/>
                    </a:solidFill>
                    <a:prstDash val="solid"/>
                    <a:miter lim="800000"/>
                    <a:headEnd type="none" w="med" len="med"/>
                    <a:tailEnd type="none" w="med" len="med"/>
                  </a:ln>
                </p:spPr>
              </p:cxnSp>
              <p:grpSp>
                <p:nvGrpSpPr>
                  <p:cNvPr id="602" name="Google Shape;602;p65"/>
                  <p:cNvGrpSpPr/>
                  <p:nvPr/>
                </p:nvGrpSpPr>
                <p:grpSpPr>
                  <a:xfrm>
                    <a:off x="3630" y="1365"/>
                    <a:ext cx="1789" cy="1916"/>
                    <a:chOff x="3630" y="1365"/>
                    <a:chExt cx="1789" cy="1916"/>
                  </a:xfrm>
                </p:grpSpPr>
                <p:sp>
                  <p:nvSpPr>
                    <p:cNvPr id="603" name="Google Shape;603;p65"/>
                    <p:cNvSpPr/>
                    <p:nvPr/>
                  </p:nvSpPr>
                  <p:spPr>
                    <a:xfrm>
                      <a:off x="3825" y="1365"/>
                      <a:ext cx="1594" cy="1240"/>
                    </a:xfrm>
                    <a:custGeom>
                      <a:avLst/>
                      <a:gdLst/>
                      <a:ahLst/>
                      <a:cxnLst/>
                      <a:rect l="l" t="t" r="r" b="b"/>
                      <a:pathLst>
                        <a:path w="1594" h="1240" extrusionOk="0">
                          <a:moveTo>
                            <a:pt x="0" y="1239"/>
                          </a:moveTo>
                          <a:lnTo>
                            <a:pt x="3" y="1231"/>
                          </a:lnTo>
                          <a:lnTo>
                            <a:pt x="6" y="1220"/>
                          </a:lnTo>
                          <a:lnTo>
                            <a:pt x="9" y="1208"/>
                          </a:lnTo>
                          <a:lnTo>
                            <a:pt x="12" y="1193"/>
                          </a:lnTo>
                          <a:lnTo>
                            <a:pt x="15" y="1176"/>
                          </a:lnTo>
                          <a:lnTo>
                            <a:pt x="18" y="1159"/>
                          </a:lnTo>
                          <a:lnTo>
                            <a:pt x="21" y="1141"/>
                          </a:lnTo>
                          <a:lnTo>
                            <a:pt x="24" y="1122"/>
                          </a:lnTo>
                          <a:lnTo>
                            <a:pt x="27" y="1102"/>
                          </a:lnTo>
                          <a:lnTo>
                            <a:pt x="30" y="1081"/>
                          </a:lnTo>
                          <a:lnTo>
                            <a:pt x="33" y="1060"/>
                          </a:lnTo>
                          <a:lnTo>
                            <a:pt x="36" y="1039"/>
                          </a:lnTo>
                          <a:lnTo>
                            <a:pt x="39" y="1018"/>
                          </a:lnTo>
                          <a:lnTo>
                            <a:pt x="42" y="997"/>
                          </a:lnTo>
                          <a:lnTo>
                            <a:pt x="45" y="974"/>
                          </a:lnTo>
                          <a:lnTo>
                            <a:pt x="48" y="953"/>
                          </a:lnTo>
                          <a:lnTo>
                            <a:pt x="51" y="931"/>
                          </a:lnTo>
                          <a:lnTo>
                            <a:pt x="55" y="908"/>
                          </a:lnTo>
                          <a:lnTo>
                            <a:pt x="57" y="886"/>
                          </a:lnTo>
                          <a:lnTo>
                            <a:pt x="60" y="864"/>
                          </a:lnTo>
                          <a:lnTo>
                            <a:pt x="63" y="842"/>
                          </a:lnTo>
                          <a:lnTo>
                            <a:pt x="66" y="820"/>
                          </a:lnTo>
                          <a:lnTo>
                            <a:pt x="69" y="799"/>
                          </a:lnTo>
                          <a:lnTo>
                            <a:pt x="72" y="776"/>
                          </a:lnTo>
                          <a:lnTo>
                            <a:pt x="76" y="755"/>
                          </a:lnTo>
                          <a:lnTo>
                            <a:pt x="78" y="734"/>
                          </a:lnTo>
                          <a:lnTo>
                            <a:pt x="81" y="713"/>
                          </a:lnTo>
                          <a:lnTo>
                            <a:pt x="85" y="692"/>
                          </a:lnTo>
                          <a:lnTo>
                            <a:pt x="87" y="671"/>
                          </a:lnTo>
                          <a:lnTo>
                            <a:pt x="90" y="650"/>
                          </a:lnTo>
                          <a:lnTo>
                            <a:pt x="93" y="631"/>
                          </a:lnTo>
                          <a:lnTo>
                            <a:pt x="97" y="611"/>
                          </a:lnTo>
                          <a:lnTo>
                            <a:pt x="99" y="591"/>
                          </a:lnTo>
                          <a:lnTo>
                            <a:pt x="102" y="572"/>
                          </a:lnTo>
                          <a:lnTo>
                            <a:pt x="106" y="553"/>
                          </a:lnTo>
                          <a:lnTo>
                            <a:pt x="108" y="534"/>
                          </a:lnTo>
                          <a:lnTo>
                            <a:pt x="111" y="516"/>
                          </a:lnTo>
                          <a:lnTo>
                            <a:pt x="115" y="498"/>
                          </a:lnTo>
                          <a:lnTo>
                            <a:pt x="118" y="480"/>
                          </a:lnTo>
                          <a:lnTo>
                            <a:pt x="120" y="463"/>
                          </a:lnTo>
                          <a:lnTo>
                            <a:pt x="123" y="446"/>
                          </a:lnTo>
                          <a:lnTo>
                            <a:pt x="127" y="429"/>
                          </a:lnTo>
                          <a:lnTo>
                            <a:pt x="129" y="412"/>
                          </a:lnTo>
                          <a:lnTo>
                            <a:pt x="132" y="397"/>
                          </a:lnTo>
                          <a:lnTo>
                            <a:pt x="136" y="381"/>
                          </a:lnTo>
                          <a:lnTo>
                            <a:pt x="139" y="365"/>
                          </a:lnTo>
                          <a:lnTo>
                            <a:pt x="141" y="350"/>
                          </a:lnTo>
                          <a:lnTo>
                            <a:pt x="145" y="335"/>
                          </a:lnTo>
                          <a:lnTo>
                            <a:pt x="148" y="321"/>
                          </a:lnTo>
                          <a:lnTo>
                            <a:pt x="150" y="307"/>
                          </a:lnTo>
                          <a:lnTo>
                            <a:pt x="153" y="294"/>
                          </a:lnTo>
                          <a:lnTo>
                            <a:pt x="157" y="280"/>
                          </a:lnTo>
                          <a:lnTo>
                            <a:pt x="160" y="267"/>
                          </a:lnTo>
                          <a:lnTo>
                            <a:pt x="162" y="255"/>
                          </a:lnTo>
                          <a:lnTo>
                            <a:pt x="166" y="242"/>
                          </a:lnTo>
                          <a:lnTo>
                            <a:pt x="169" y="230"/>
                          </a:lnTo>
                          <a:lnTo>
                            <a:pt x="171" y="219"/>
                          </a:lnTo>
                          <a:lnTo>
                            <a:pt x="175" y="208"/>
                          </a:lnTo>
                          <a:lnTo>
                            <a:pt x="178" y="197"/>
                          </a:lnTo>
                          <a:lnTo>
                            <a:pt x="181" y="187"/>
                          </a:lnTo>
                          <a:lnTo>
                            <a:pt x="184" y="177"/>
                          </a:lnTo>
                          <a:lnTo>
                            <a:pt x="187" y="166"/>
                          </a:lnTo>
                          <a:lnTo>
                            <a:pt x="190" y="156"/>
                          </a:lnTo>
                          <a:lnTo>
                            <a:pt x="192" y="147"/>
                          </a:lnTo>
                          <a:lnTo>
                            <a:pt x="196" y="139"/>
                          </a:lnTo>
                          <a:lnTo>
                            <a:pt x="199" y="130"/>
                          </a:lnTo>
                          <a:lnTo>
                            <a:pt x="202" y="122"/>
                          </a:lnTo>
                          <a:lnTo>
                            <a:pt x="205" y="114"/>
                          </a:lnTo>
                          <a:lnTo>
                            <a:pt x="208" y="106"/>
                          </a:lnTo>
                          <a:lnTo>
                            <a:pt x="211" y="98"/>
                          </a:lnTo>
                          <a:lnTo>
                            <a:pt x="214" y="92"/>
                          </a:lnTo>
                          <a:lnTo>
                            <a:pt x="217" y="85"/>
                          </a:lnTo>
                          <a:lnTo>
                            <a:pt x="220" y="78"/>
                          </a:lnTo>
                          <a:lnTo>
                            <a:pt x="223" y="73"/>
                          </a:lnTo>
                          <a:lnTo>
                            <a:pt x="226" y="66"/>
                          </a:lnTo>
                          <a:lnTo>
                            <a:pt x="229" y="60"/>
                          </a:lnTo>
                          <a:lnTo>
                            <a:pt x="232" y="55"/>
                          </a:lnTo>
                          <a:lnTo>
                            <a:pt x="235" y="50"/>
                          </a:lnTo>
                          <a:lnTo>
                            <a:pt x="238" y="46"/>
                          </a:lnTo>
                          <a:lnTo>
                            <a:pt x="241" y="41"/>
                          </a:lnTo>
                          <a:lnTo>
                            <a:pt x="244" y="37"/>
                          </a:lnTo>
                          <a:lnTo>
                            <a:pt x="247" y="32"/>
                          </a:lnTo>
                          <a:lnTo>
                            <a:pt x="250" y="29"/>
                          </a:lnTo>
                          <a:lnTo>
                            <a:pt x="253" y="26"/>
                          </a:lnTo>
                          <a:lnTo>
                            <a:pt x="256" y="22"/>
                          </a:lnTo>
                          <a:lnTo>
                            <a:pt x="259" y="19"/>
                          </a:lnTo>
                          <a:lnTo>
                            <a:pt x="262" y="17"/>
                          </a:lnTo>
                          <a:lnTo>
                            <a:pt x="265" y="13"/>
                          </a:lnTo>
                          <a:lnTo>
                            <a:pt x="268" y="11"/>
                          </a:lnTo>
                          <a:lnTo>
                            <a:pt x="271" y="9"/>
                          </a:lnTo>
                          <a:lnTo>
                            <a:pt x="274" y="8"/>
                          </a:lnTo>
                          <a:lnTo>
                            <a:pt x="277" y="6"/>
                          </a:lnTo>
                          <a:lnTo>
                            <a:pt x="280" y="4"/>
                          </a:lnTo>
                          <a:lnTo>
                            <a:pt x="283" y="3"/>
                          </a:lnTo>
                          <a:lnTo>
                            <a:pt x="286" y="2"/>
                          </a:lnTo>
                          <a:lnTo>
                            <a:pt x="289" y="1"/>
                          </a:lnTo>
                          <a:lnTo>
                            <a:pt x="292" y="1"/>
                          </a:lnTo>
                          <a:lnTo>
                            <a:pt x="295" y="0"/>
                          </a:lnTo>
                          <a:lnTo>
                            <a:pt x="298" y="0"/>
                          </a:lnTo>
                          <a:lnTo>
                            <a:pt x="301" y="0"/>
                          </a:lnTo>
                          <a:lnTo>
                            <a:pt x="304" y="0"/>
                          </a:lnTo>
                          <a:lnTo>
                            <a:pt x="307" y="1"/>
                          </a:lnTo>
                          <a:lnTo>
                            <a:pt x="310" y="1"/>
                          </a:lnTo>
                          <a:lnTo>
                            <a:pt x="314" y="2"/>
                          </a:lnTo>
                          <a:lnTo>
                            <a:pt x="316" y="2"/>
                          </a:lnTo>
                          <a:lnTo>
                            <a:pt x="319" y="3"/>
                          </a:lnTo>
                          <a:lnTo>
                            <a:pt x="322" y="4"/>
                          </a:lnTo>
                          <a:lnTo>
                            <a:pt x="325" y="7"/>
                          </a:lnTo>
                          <a:lnTo>
                            <a:pt x="328" y="8"/>
                          </a:lnTo>
                          <a:lnTo>
                            <a:pt x="331" y="9"/>
                          </a:lnTo>
                          <a:lnTo>
                            <a:pt x="335" y="11"/>
                          </a:lnTo>
                          <a:lnTo>
                            <a:pt x="337" y="13"/>
                          </a:lnTo>
                          <a:lnTo>
                            <a:pt x="340" y="16"/>
                          </a:lnTo>
                          <a:lnTo>
                            <a:pt x="344" y="18"/>
                          </a:lnTo>
                          <a:lnTo>
                            <a:pt x="346" y="20"/>
                          </a:lnTo>
                          <a:lnTo>
                            <a:pt x="349" y="22"/>
                          </a:lnTo>
                          <a:lnTo>
                            <a:pt x="353" y="25"/>
                          </a:lnTo>
                          <a:lnTo>
                            <a:pt x="356" y="28"/>
                          </a:lnTo>
                          <a:lnTo>
                            <a:pt x="358" y="30"/>
                          </a:lnTo>
                          <a:lnTo>
                            <a:pt x="361" y="34"/>
                          </a:lnTo>
                          <a:lnTo>
                            <a:pt x="365" y="37"/>
                          </a:lnTo>
                          <a:lnTo>
                            <a:pt x="367" y="40"/>
                          </a:lnTo>
                          <a:lnTo>
                            <a:pt x="370" y="44"/>
                          </a:lnTo>
                          <a:lnTo>
                            <a:pt x="374" y="47"/>
                          </a:lnTo>
                          <a:lnTo>
                            <a:pt x="377" y="50"/>
                          </a:lnTo>
                          <a:lnTo>
                            <a:pt x="379" y="54"/>
                          </a:lnTo>
                          <a:lnTo>
                            <a:pt x="383" y="58"/>
                          </a:lnTo>
                          <a:lnTo>
                            <a:pt x="386" y="61"/>
                          </a:lnTo>
                          <a:lnTo>
                            <a:pt x="388" y="66"/>
                          </a:lnTo>
                          <a:lnTo>
                            <a:pt x="391" y="69"/>
                          </a:lnTo>
                          <a:lnTo>
                            <a:pt x="395" y="74"/>
                          </a:lnTo>
                          <a:lnTo>
                            <a:pt x="398" y="78"/>
                          </a:lnTo>
                          <a:lnTo>
                            <a:pt x="400" y="83"/>
                          </a:lnTo>
                          <a:lnTo>
                            <a:pt x="404" y="86"/>
                          </a:lnTo>
                          <a:lnTo>
                            <a:pt x="407" y="90"/>
                          </a:lnTo>
                          <a:lnTo>
                            <a:pt x="409" y="95"/>
                          </a:lnTo>
                          <a:lnTo>
                            <a:pt x="413" y="99"/>
                          </a:lnTo>
                          <a:lnTo>
                            <a:pt x="416" y="105"/>
                          </a:lnTo>
                          <a:lnTo>
                            <a:pt x="419" y="109"/>
                          </a:lnTo>
                          <a:lnTo>
                            <a:pt x="421" y="114"/>
                          </a:lnTo>
                          <a:lnTo>
                            <a:pt x="425" y="120"/>
                          </a:lnTo>
                          <a:lnTo>
                            <a:pt x="428" y="124"/>
                          </a:lnTo>
                          <a:lnTo>
                            <a:pt x="430" y="130"/>
                          </a:lnTo>
                          <a:lnTo>
                            <a:pt x="434" y="134"/>
                          </a:lnTo>
                          <a:lnTo>
                            <a:pt x="437" y="140"/>
                          </a:lnTo>
                          <a:lnTo>
                            <a:pt x="440" y="144"/>
                          </a:lnTo>
                          <a:lnTo>
                            <a:pt x="443" y="150"/>
                          </a:lnTo>
                          <a:lnTo>
                            <a:pt x="446" y="155"/>
                          </a:lnTo>
                          <a:lnTo>
                            <a:pt x="449" y="161"/>
                          </a:lnTo>
                          <a:lnTo>
                            <a:pt x="451" y="165"/>
                          </a:lnTo>
                          <a:lnTo>
                            <a:pt x="455" y="171"/>
                          </a:lnTo>
                          <a:lnTo>
                            <a:pt x="458" y="177"/>
                          </a:lnTo>
                          <a:lnTo>
                            <a:pt x="461" y="182"/>
                          </a:lnTo>
                          <a:lnTo>
                            <a:pt x="464" y="188"/>
                          </a:lnTo>
                          <a:lnTo>
                            <a:pt x="467" y="193"/>
                          </a:lnTo>
                          <a:lnTo>
                            <a:pt x="470" y="199"/>
                          </a:lnTo>
                          <a:lnTo>
                            <a:pt x="473" y="204"/>
                          </a:lnTo>
                          <a:lnTo>
                            <a:pt x="476" y="210"/>
                          </a:lnTo>
                          <a:lnTo>
                            <a:pt x="479" y="216"/>
                          </a:lnTo>
                          <a:lnTo>
                            <a:pt x="482" y="221"/>
                          </a:lnTo>
                          <a:lnTo>
                            <a:pt x="485" y="228"/>
                          </a:lnTo>
                          <a:lnTo>
                            <a:pt x="488" y="233"/>
                          </a:lnTo>
                          <a:lnTo>
                            <a:pt x="491" y="239"/>
                          </a:lnTo>
                          <a:lnTo>
                            <a:pt x="494" y="245"/>
                          </a:lnTo>
                          <a:lnTo>
                            <a:pt x="497" y="250"/>
                          </a:lnTo>
                          <a:lnTo>
                            <a:pt x="500" y="257"/>
                          </a:lnTo>
                          <a:lnTo>
                            <a:pt x="503" y="263"/>
                          </a:lnTo>
                          <a:lnTo>
                            <a:pt x="506" y="268"/>
                          </a:lnTo>
                          <a:lnTo>
                            <a:pt x="509" y="274"/>
                          </a:lnTo>
                          <a:lnTo>
                            <a:pt x="512" y="280"/>
                          </a:lnTo>
                          <a:lnTo>
                            <a:pt x="515" y="286"/>
                          </a:lnTo>
                          <a:lnTo>
                            <a:pt x="518" y="292"/>
                          </a:lnTo>
                          <a:lnTo>
                            <a:pt x="521" y="298"/>
                          </a:lnTo>
                          <a:lnTo>
                            <a:pt x="524" y="304"/>
                          </a:lnTo>
                          <a:lnTo>
                            <a:pt x="527" y="311"/>
                          </a:lnTo>
                          <a:lnTo>
                            <a:pt x="530" y="316"/>
                          </a:lnTo>
                          <a:lnTo>
                            <a:pt x="533" y="322"/>
                          </a:lnTo>
                          <a:lnTo>
                            <a:pt x="536" y="328"/>
                          </a:lnTo>
                          <a:lnTo>
                            <a:pt x="539" y="334"/>
                          </a:lnTo>
                          <a:lnTo>
                            <a:pt x="542" y="340"/>
                          </a:lnTo>
                          <a:lnTo>
                            <a:pt x="545" y="346"/>
                          </a:lnTo>
                          <a:lnTo>
                            <a:pt x="548" y="352"/>
                          </a:lnTo>
                          <a:lnTo>
                            <a:pt x="552" y="358"/>
                          </a:lnTo>
                          <a:lnTo>
                            <a:pt x="554" y="364"/>
                          </a:lnTo>
                          <a:lnTo>
                            <a:pt x="557" y="370"/>
                          </a:lnTo>
                          <a:lnTo>
                            <a:pt x="560" y="377"/>
                          </a:lnTo>
                          <a:lnTo>
                            <a:pt x="563" y="382"/>
                          </a:lnTo>
                          <a:lnTo>
                            <a:pt x="566" y="388"/>
                          </a:lnTo>
                          <a:lnTo>
                            <a:pt x="569" y="394"/>
                          </a:lnTo>
                          <a:lnTo>
                            <a:pt x="572" y="400"/>
                          </a:lnTo>
                          <a:lnTo>
                            <a:pt x="575" y="406"/>
                          </a:lnTo>
                          <a:lnTo>
                            <a:pt x="578" y="412"/>
                          </a:lnTo>
                          <a:lnTo>
                            <a:pt x="582" y="418"/>
                          </a:lnTo>
                          <a:lnTo>
                            <a:pt x="584" y="423"/>
                          </a:lnTo>
                          <a:lnTo>
                            <a:pt x="587" y="430"/>
                          </a:lnTo>
                          <a:lnTo>
                            <a:pt x="590" y="436"/>
                          </a:lnTo>
                          <a:lnTo>
                            <a:pt x="594" y="441"/>
                          </a:lnTo>
                          <a:lnTo>
                            <a:pt x="596" y="448"/>
                          </a:lnTo>
                          <a:lnTo>
                            <a:pt x="599" y="454"/>
                          </a:lnTo>
                          <a:lnTo>
                            <a:pt x="603" y="459"/>
                          </a:lnTo>
                          <a:lnTo>
                            <a:pt x="605" y="465"/>
                          </a:lnTo>
                          <a:lnTo>
                            <a:pt x="608" y="471"/>
                          </a:lnTo>
                          <a:lnTo>
                            <a:pt x="612" y="477"/>
                          </a:lnTo>
                          <a:lnTo>
                            <a:pt x="615" y="483"/>
                          </a:lnTo>
                          <a:lnTo>
                            <a:pt x="617" y="488"/>
                          </a:lnTo>
                          <a:lnTo>
                            <a:pt x="620" y="494"/>
                          </a:lnTo>
                          <a:lnTo>
                            <a:pt x="624" y="501"/>
                          </a:lnTo>
                          <a:lnTo>
                            <a:pt x="626" y="506"/>
                          </a:lnTo>
                          <a:lnTo>
                            <a:pt x="629" y="512"/>
                          </a:lnTo>
                          <a:lnTo>
                            <a:pt x="633" y="517"/>
                          </a:lnTo>
                          <a:lnTo>
                            <a:pt x="636" y="523"/>
                          </a:lnTo>
                          <a:lnTo>
                            <a:pt x="638" y="528"/>
                          </a:lnTo>
                          <a:lnTo>
                            <a:pt x="642" y="534"/>
                          </a:lnTo>
                          <a:lnTo>
                            <a:pt x="645" y="540"/>
                          </a:lnTo>
                          <a:lnTo>
                            <a:pt x="647" y="545"/>
                          </a:lnTo>
                          <a:lnTo>
                            <a:pt x="650" y="551"/>
                          </a:lnTo>
                          <a:lnTo>
                            <a:pt x="654" y="556"/>
                          </a:lnTo>
                          <a:lnTo>
                            <a:pt x="657" y="562"/>
                          </a:lnTo>
                          <a:lnTo>
                            <a:pt x="659" y="568"/>
                          </a:lnTo>
                          <a:lnTo>
                            <a:pt x="663" y="573"/>
                          </a:lnTo>
                          <a:lnTo>
                            <a:pt x="666" y="579"/>
                          </a:lnTo>
                          <a:lnTo>
                            <a:pt x="668" y="583"/>
                          </a:lnTo>
                          <a:lnTo>
                            <a:pt x="672" y="589"/>
                          </a:lnTo>
                          <a:lnTo>
                            <a:pt x="675" y="594"/>
                          </a:lnTo>
                          <a:lnTo>
                            <a:pt x="678" y="600"/>
                          </a:lnTo>
                          <a:lnTo>
                            <a:pt x="680" y="606"/>
                          </a:lnTo>
                          <a:lnTo>
                            <a:pt x="684" y="610"/>
                          </a:lnTo>
                          <a:lnTo>
                            <a:pt x="687" y="616"/>
                          </a:lnTo>
                          <a:lnTo>
                            <a:pt x="689" y="621"/>
                          </a:lnTo>
                          <a:lnTo>
                            <a:pt x="693" y="626"/>
                          </a:lnTo>
                          <a:lnTo>
                            <a:pt x="696" y="631"/>
                          </a:lnTo>
                          <a:lnTo>
                            <a:pt x="699" y="637"/>
                          </a:lnTo>
                          <a:lnTo>
                            <a:pt x="702" y="641"/>
                          </a:lnTo>
                          <a:lnTo>
                            <a:pt x="705" y="647"/>
                          </a:lnTo>
                          <a:lnTo>
                            <a:pt x="708" y="651"/>
                          </a:lnTo>
                          <a:lnTo>
                            <a:pt x="710" y="657"/>
                          </a:lnTo>
                          <a:lnTo>
                            <a:pt x="714" y="663"/>
                          </a:lnTo>
                          <a:lnTo>
                            <a:pt x="717" y="667"/>
                          </a:lnTo>
                          <a:lnTo>
                            <a:pt x="720" y="671"/>
                          </a:lnTo>
                          <a:lnTo>
                            <a:pt x="723" y="677"/>
                          </a:lnTo>
                          <a:lnTo>
                            <a:pt x="726" y="682"/>
                          </a:lnTo>
                          <a:lnTo>
                            <a:pt x="729" y="687"/>
                          </a:lnTo>
                          <a:lnTo>
                            <a:pt x="732" y="692"/>
                          </a:lnTo>
                          <a:lnTo>
                            <a:pt x="735" y="696"/>
                          </a:lnTo>
                          <a:lnTo>
                            <a:pt x="738" y="702"/>
                          </a:lnTo>
                          <a:lnTo>
                            <a:pt x="741" y="706"/>
                          </a:lnTo>
                          <a:lnTo>
                            <a:pt x="744" y="711"/>
                          </a:lnTo>
                          <a:lnTo>
                            <a:pt x="747" y="715"/>
                          </a:lnTo>
                          <a:lnTo>
                            <a:pt x="750" y="721"/>
                          </a:lnTo>
                          <a:lnTo>
                            <a:pt x="753" y="725"/>
                          </a:lnTo>
                          <a:lnTo>
                            <a:pt x="756" y="730"/>
                          </a:lnTo>
                          <a:lnTo>
                            <a:pt x="759" y="734"/>
                          </a:lnTo>
                          <a:lnTo>
                            <a:pt x="762" y="738"/>
                          </a:lnTo>
                          <a:lnTo>
                            <a:pt x="765" y="743"/>
                          </a:lnTo>
                          <a:lnTo>
                            <a:pt x="768" y="747"/>
                          </a:lnTo>
                          <a:lnTo>
                            <a:pt x="771" y="752"/>
                          </a:lnTo>
                          <a:lnTo>
                            <a:pt x="774" y="756"/>
                          </a:lnTo>
                          <a:lnTo>
                            <a:pt x="777" y="761"/>
                          </a:lnTo>
                          <a:lnTo>
                            <a:pt x="780" y="765"/>
                          </a:lnTo>
                          <a:lnTo>
                            <a:pt x="783" y="770"/>
                          </a:lnTo>
                          <a:lnTo>
                            <a:pt x="786" y="774"/>
                          </a:lnTo>
                          <a:lnTo>
                            <a:pt x="789" y="778"/>
                          </a:lnTo>
                          <a:lnTo>
                            <a:pt x="792" y="782"/>
                          </a:lnTo>
                          <a:lnTo>
                            <a:pt x="795" y="787"/>
                          </a:lnTo>
                          <a:lnTo>
                            <a:pt x="798" y="791"/>
                          </a:lnTo>
                          <a:lnTo>
                            <a:pt x="801" y="795"/>
                          </a:lnTo>
                          <a:lnTo>
                            <a:pt x="804" y="799"/>
                          </a:lnTo>
                          <a:lnTo>
                            <a:pt x="807" y="803"/>
                          </a:lnTo>
                          <a:lnTo>
                            <a:pt x="810" y="808"/>
                          </a:lnTo>
                          <a:lnTo>
                            <a:pt x="813" y="811"/>
                          </a:lnTo>
                          <a:lnTo>
                            <a:pt x="816" y="816"/>
                          </a:lnTo>
                          <a:lnTo>
                            <a:pt x="819" y="819"/>
                          </a:lnTo>
                          <a:lnTo>
                            <a:pt x="822" y="823"/>
                          </a:lnTo>
                          <a:lnTo>
                            <a:pt x="825" y="828"/>
                          </a:lnTo>
                          <a:lnTo>
                            <a:pt x="828" y="831"/>
                          </a:lnTo>
                          <a:lnTo>
                            <a:pt x="831" y="836"/>
                          </a:lnTo>
                          <a:lnTo>
                            <a:pt x="834" y="839"/>
                          </a:lnTo>
                          <a:lnTo>
                            <a:pt x="837" y="844"/>
                          </a:lnTo>
                          <a:lnTo>
                            <a:pt x="840" y="847"/>
                          </a:lnTo>
                          <a:lnTo>
                            <a:pt x="843" y="850"/>
                          </a:lnTo>
                          <a:lnTo>
                            <a:pt x="846" y="855"/>
                          </a:lnTo>
                          <a:lnTo>
                            <a:pt x="849" y="858"/>
                          </a:lnTo>
                          <a:lnTo>
                            <a:pt x="852" y="861"/>
                          </a:lnTo>
                          <a:lnTo>
                            <a:pt x="855" y="866"/>
                          </a:lnTo>
                          <a:lnTo>
                            <a:pt x="858" y="869"/>
                          </a:lnTo>
                          <a:lnTo>
                            <a:pt x="862" y="873"/>
                          </a:lnTo>
                          <a:lnTo>
                            <a:pt x="864" y="876"/>
                          </a:lnTo>
                          <a:lnTo>
                            <a:pt x="867" y="879"/>
                          </a:lnTo>
                          <a:lnTo>
                            <a:pt x="870" y="884"/>
                          </a:lnTo>
                          <a:lnTo>
                            <a:pt x="873" y="887"/>
                          </a:lnTo>
                          <a:lnTo>
                            <a:pt x="876" y="890"/>
                          </a:lnTo>
                          <a:lnTo>
                            <a:pt x="879" y="894"/>
                          </a:lnTo>
                          <a:lnTo>
                            <a:pt x="883" y="897"/>
                          </a:lnTo>
                          <a:lnTo>
                            <a:pt x="885" y="900"/>
                          </a:lnTo>
                          <a:lnTo>
                            <a:pt x="888" y="904"/>
                          </a:lnTo>
                          <a:lnTo>
                            <a:pt x="892" y="907"/>
                          </a:lnTo>
                          <a:lnTo>
                            <a:pt x="894" y="911"/>
                          </a:lnTo>
                          <a:lnTo>
                            <a:pt x="897" y="914"/>
                          </a:lnTo>
                          <a:lnTo>
                            <a:pt x="901" y="916"/>
                          </a:lnTo>
                          <a:lnTo>
                            <a:pt x="904" y="919"/>
                          </a:lnTo>
                          <a:lnTo>
                            <a:pt x="906" y="923"/>
                          </a:lnTo>
                          <a:lnTo>
                            <a:pt x="909" y="926"/>
                          </a:lnTo>
                          <a:lnTo>
                            <a:pt x="913" y="930"/>
                          </a:lnTo>
                          <a:lnTo>
                            <a:pt x="915" y="933"/>
                          </a:lnTo>
                          <a:lnTo>
                            <a:pt x="918" y="935"/>
                          </a:lnTo>
                          <a:lnTo>
                            <a:pt x="922" y="938"/>
                          </a:lnTo>
                          <a:lnTo>
                            <a:pt x="925" y="942"/>
                          </a:lnTo>
                          <a:lnTo>
                            <a:pt x="927" y="945"/>
                          </a:lnTo>
                          <a:lnTo>
                            <a:pt x="931" y="947"/>
                          </a:lnTo>
                          <a:lnTo>
                            <a:pt x="934" y="951"/>
                          </a:lnTo>
                          <a:lnTo>
                            <a:pt x="936" y="954"/>
                          </a:lnTo>
                          <a:lnTo>
                            <a:pt x="940" y="956"/>
                          </a:lnTo>
                          <a:lnTo>
                            <a:pt x="943" y="960"/>
                          </a:lnTo>
                          <a:lnTo>
                            <a:pt x="946" y="962"/>
                          </a:lnTo>
                          <a:lnTo>
                            <a:pt x="948" y="965"/>
                          </a:lnTo>
                          <a:lnTo>
                            <a:pt x="952" y="968"/>
                          </a:lnTo>
                          <a:lnTo>
                            <a:pt x="955" y="971"/>
                          </a:lnTo>
                          <a:lnTo>
                            <a:pt x="957" y="973"/>
                          </a:lnTo>
                          <a:lnTo>
                            <a:pt x="961" y="976"/>
                          </a:lnTo>
                          <a:lnTo>
                            <a:pt x="964" y="979"/>
                          </a:lnTo>
                          <a:lnTo>
                            <a:pt x="967" y="982"/>
                          </a:lnTo>
                          <a:lnTo>
                            <a:pt x="970" y="984"/>
                          </a:lnTo>
                          <a:lnTo>
                            <a:pt x="973" y="987"/>
                          </a:lnTo>
                          <a:lnTo>
                            <a:pt x="976" y="990"/>
                          </a:lnTo>
                          <a:lnTo>
                            <a:pt x="978" y="992"/>
                          </a:lnTo>
                          <a:lnTo>
                            <a:pt x="982" y="994"/>
                          </a:lnTo>
                          <a:lnTo>
                            <a:pt x="985" y="997"/>
                          </a:lnTo>
                          <a:lnTo>
                            <a:pt x="988" y="1000"/>
                          </a:lnTo>
                          <a:lnTo>
                            <a:pt x="991" y="1002"/>
                          </a:lnTo>
                          <a:lnTo>
                            <a:pt x="994" y="1004"/>
                          </a:lnTo>
                          <a:lnTo>
                            <a:pt x="997" y="1007"/>
                          </a:lnTo>
                          <a:lnTo>
                            <a:pt x="1000" y="1009"/>
                          </a:lnTo>
                          <a:lnTo>
                            <a:pt x="1003" y="1012"/>
                          </a:lnTo>
                          <a:lnTo>
                            <a:pt x="1006" y="1014"/>
                          </a:lnTo>
                          <a:lnTo>
                            <a:pt x="1009" y="1017"/>
                          </a:lnTo>
                          <a:lnTo>
                            <a:pt x="1012" y="1019"/>
                          </a:lnTo>
                          <a:lnTo>
                            <a:pt x="1015" y="1021"/>
                          </a:lnTo>
                          <a:lnTo>
                            <a:pt x="1018" y="1023"/>
                          </a:lnTo>
                          <a:lnTo>
                            <a:pt x="1021" y="1026"/>
                          </a:lnTo>
                          <a:lnTo>
                            <a:pt x="1024" y="1028"/>
                          </a:lnTo>
                          <a:lnTo>
                            <a:pt x="1027" y="1030"/>
                          </a:lnTo>
                          <a:lnTo>
                            <a:pt x="1030" y="1032"/>
                          </a:lnTo>
                          <a:lnTo>
                            <a:pt x="1033" y="1035"/>
                          </a:lnTo>
                          <a:lnTo>
                            <a:pt x="1036" y="1037"/>
                          </a:lnTo>
                          <a:lnTo>
                            <a:pt x="1039" y="1039"/>
                          </a:lnTo>
                          <a:lnTo>
                            <a:pt x="1042" y="1041"/>
                          </a:lnTo>
                          <a:lnTo>
                            <a:pt x="1045" y="1043"/>
                          </a:lnTo>
                          <a:lnTo>
                            <a:pt x="1048" y="1046"/>
                          </a:lnTo>
                          <a:lnTo>
                            <a:pt x="1051" y="1047"/>
                          </a:lnTo>
                          <a:lnTo>
                            <a:pt x="1054" y="1049"/>
                          </a:lnTo>
                          <a:lnTo>
                            <a:pt x="1057" y="1051"/>
                          </a:lnTo>
                          <a:lnTo>
                            <a:pt x="1060" y="1054"/>
                          </a:lnTo>
                          <a:lnTo>
                            <a:pt x="1063" y="1056"/>
                          </a:lnTo>
                          <a:lnTo>
                            <a:pt x="1066" y="1057"/>
                          </a:lnTo>
                          <a:lnTo>
                            <a:pt x="1069" y="1059"/>
                          </a:lnTo>
                          <a:lnTo>
                            <a:pt x="1072" y="1061"/>
                          </a:lnTo>
                          <a:lnTo>
                            <a:pt x="1075" y="1064"/>
                          </a:lnTo>
                          <a:lnTo>
                            <a:pt x="1078" y="1065"/>
                          </a:lnTo>
                          <a:lnTo>
                            <a:pt x="1081" y="1067"/>
                          </a:lnTo>
                          <a:lnTo>
                            <a:pt x="1084" y="1069"/>
                          </a:lnTo>
                          <a:lnTo>
                            <a:pt x="1087" y="1070"/>
                          </a:lnTo>
                          <a:lnTo>
                            <a:pt x="1090" y="1073"/>
                          </a:lnTo>
                          <a:lnTo>
                            <a:pt x="1093" y="1075"/>
                          </a:lnTo>
                          <a:lnTo>
                            <a:pt x="1096" y="1076"/>
                          </a:lnTo>
                          <a:lnTo>
                            <a:pt x="1099" y="1078"/>
                          </a:lnTo>
                          <a:lnTo>
                            <a:pt x="1102" y="1079"/>
                          </a:lnTo>
                          <a:lnTo>
                            <a:pt x="1105" y="1081"/>
                          </a:lnTo>
                          <a:lnTo>
                            <a:pt x="1109" y="1083"/>
                          </a:lnTo>
                          <a:lnTo>
                            <a:pt x="1111" y="1085"/>
                          </a:lnTo>
                          <a:lnTo>
                            <a:pt x="1114" y="1086"/>
                          </a:lnTo>
                          <a:lnTo>
                            <a:pt x="1117" y="1088"/>
                          </a:lnTo>
                          <a:lnTo>
                            <a:pt x="1121" y="1089"/>
                          </a:lnTo>
                          <a:lnTo>
                            <a:pt x="1123" y="1092"/>
                          </a:lnTo>
                          <a:lnTo>
                            <a:pt x="1126" y="1093"/>
                          </a:lnTo>
                          <a:lnTo>
                            <a:pt x="1129" y="1095"/>
                          </a:lnTo>
                          <a:lnTo>
                            <a:pt x="1132" y="1096"/>
                          </a:lnTo>
                          <a:lnTo>
                            <a:pt x="1135" y="1098"/>
                          </a:lnTo>
                          <a:lnTo>
                            <a:pt x="1139" y="1099"/>
                          </a:lnTo>
                          <a:lnTo>
                            <a:pt x="1142" y="1100"/>
                          </a:lnTo>
                          <a:lnTo>
                            <a:pt x="1144" y="1103"/>
                          </a:lnTo>
                          <a:lnTo>
                            <a:pt x="1147" y="1104"/>
                          </a:lnTo>
                          <a:lnTo>
                            <a:pt x="1151" y="1105"/>
                          </a:lnTo>
                          <a:lnTo>
                            <a:pt x="1153" y="1107"/>
                          </a:lnTo>
                          <a:lnTo>
                            <a:pt x="1156" y="1108"/>
                          </a:lnTo>
                          <a:lnTo>
                            <a:pt x="1160" y="1109"/>
                          </a:lnTo>
                          <a:lnTo>
                            <a:pt x="1163" y="1112"/>
                          </a:lnTo>
                          <a:lnTo>
                            <a:pt x="1165" y="1113"/>
                          </a:lnTo>
                          <a:lnTo>
                            <a:pt x="1169" y="1114"/>
                          </a:lnTo>
                          <a:lnTo>
                            <a:pt x="1172" y="1115"/>
                          </a:lnTo>
                          <a:lnTo>
                            <a:pt x="1174" y="1117"/>
                          </a:lnTo>
                          <a:lnTo>
                            <a:pt x="1177" y="1118"/>
                          </a:lnTo>
                          <a:lnTo>
                            <a:pt x="1181" y="1119"/>
                          </a:lnTo>
                          <a:lnTo>
                            <a:pt x="1184" y="1121"/>
                          </a:lnTo>
                          <a:lnTo>
                            <a:pt x="1186" y="1122"/>
                          </a:lnTo>
                          <a:lnTo>
                            <a:pt x="1190" y="1124"/>
                          </a:lnTo>
                          <a:lnTo>
                            <a:pt x="1193" y="1125"/>
                          </a:lnTo>
                          <a:lnTo>
                            <a:pt x="1195" y="1126"/>
                          </a:lnTo>
                          <a:lnTo>
                            <a:pt x="1199" y="1127"/>
                          </a:lnTo>
                          <a:lnTo>
                            <a:pt x="1202" y="1128"/>
                          </a:lnTo>
                          <a:lnTo>
                            <a:pt x="1205" y="1130"/>
                          </a:lnTo>
                          <a:lnTo>
                            <a:pt x="1207" y="1131"/>
                          </a:lnTo>
                          <a:lnTo>
                            <a:pt x="1211" y="1132"/>
                          </a:lnTo>
                          <a:lnTo>
                            <a:pt x="1214" y="1134"/>
                          </a:lnTo>
                          <a:lnTo>
                            <a:pt x="1216" y="1135"/>
                          </a:lnTo>
                          <a:lnTo>
                            <a:pt x="1220" y="1136"/>
                          </a:lnTo>
                          <a:lnTo>
                            <a:pt x="1223" y="1137"/>
                          </a:lnTo>
                          <a:lnTo>
                            <a:pt x="1226" y="1138"/>
                          </a:lnTo>
                          <a:lnTo>
                            <a:pt x="1229" y="1140"/>
                          </a:lnTo>
                          <a:lnTo>
                            <a:pt x="1232" y="1141"/>
                          </a:lnTo>
                          <a:lnTo>
                            <a:pt x="1235" y="1142"/>
                          </a:lnTo>
                          <a:lnTo>
                            <a:pt x="1237" y="1143"/>
                          </a:lnTo>
                          <a:lnTo>
                            <a:pt x="1241" y="1144"/>
                          </a:lnTo>
                          <a:lnTo>
                            <a:pt x="1244" y="1145"/>
                          </a:lnTo>
                          <a:lnTo>
                            <a:pt x="1247" y="1146"/>
                          </a:lnTo>
                          <a:lnTo>
                            <a:pt x="1250" y="1147"/>
                          </a:lnTo>
                          <a:lnTo>
                            <a:pt x="1253" y="1149"/>
                          </a:lnTo>
                          <a:lnTo>
                            <a:pt x="1256" y="1149"/>
                          </a:lnTo>
                          <a:lnTo>
                            <a:pt x="1259" y="1150"/>
                          </a:lnTo>
                          <a:lnTo>
                            <a:pt x="1262" y="1151"/>
                          </a:lnTo>
                          <a:lnTo>
                            <a:pt x="1265" y="1152"/>
                          </a:lnTo>
                          <a:lnTo>
                            <a:pt x="1268" y="1153"/>
                          </a:lnTo>
                          <a:lnTo>
                            <a:pt x="1271" y="1154"/>
                          </a:lnTo>
                          <a:lnTo>
                            <a:pt x="1274" y="1155"/>
                          </a:lnTo>
                          <a:lnTo>
                            <a:pt x="1277" y="1156"/>
                          </a:lnTo>
                          <a:lnTo>
                            <a:pt x="1280" y="1157"/>
                          </a:lnTo>
                          <a:lnTo>
                            <a:pt x="1283" y="1157"/>
                          </a:lnTo>
                          <a:lnTo>
                            <a:pt x="1286" y="1159"/>
                          </a:lnTo>
                          <a:lnTo>
                            <a:pt x="1289" y="1160"/>
                          </a:lnTo>
                          <a:lnTo>
                            <a:pt x="1292" y="1161"/>
                          </a:lnTo>
                          <a:lnTo>
                            <a:pt x="1295" y="1162"/>
                          </a:lnTo>
                          <a:lnTo>
                            <a:pt x="1298" y="1162"/>
                          </a:lnTo>
                          <a:lnTo>
                            <a:pt x="1301" y="1163"/>
                          </a:lnTo>
                          <a:lnTo>
                            <a:pt x="1304" y="1164"/>
                          </a:lnTo>
                          <a:lnTo>
                            <a:pt x="1307" y="1165"/>
                          </a:lnTo>
                          <a:lnTo>
                            <a:pt x="1310" y="1166"/>
                          </a:lnTo>
                          <a:lnTo>
                            <a:pt x="1313" y="1166"/>
                          </a:lnTo>
                          <a:lnTo>
                            <a:pt x="1316" y="1167"/>
                          </a:lnTo>
                          <a:lnTo>
                            <a:pt x="1319" y="1169"/>
                          </a:lnTo>
                          <a:lnTo>
                            <a:pt x="1322" y="1170"/>
                          </a:lnTo>
                          <a:lnTo>
                            <a:pt x="1325" y="1170"/>
                          </a:lnTo>
                          <a:lnTo>
                            <a:pt x="1328" y="1171"/>
                          </a:lnTo>
                          <a:lnTo>
                            <a:pt x="1331" y="1172"/>
                          </a:lnTo>
                          <a:lnTo>
                            <a:pt x="1334" y="1172"/>
                          </a:lnTo>
                          <a:lnTo>
                            <a:pt x="1337" y="1173"/>
                          </a:lnTo>
                          <a:lnTo>
                            <a:pt x="1340" y="1174"/>
                          </a:lnTo>
                          <a:lnTo>
                            <a:pt x="1343" y="1175"/>
                          </a:lnTo>
                          <a:lnTo>
                            <a:pt x="1346" y="1175"/>
                          </a:lnTo>
                          <a:lnTo>
                            <a:pt x="1349" y="1176"/>
                          </a:lnTo>
                          <a:lnTo>
                            <a:pt x="1352" y="1178"/>
                          </a:lnTo>
                          <a:lnTo>
                            <a:pt x="1355" y="1178"/>
                          </a:lnTo>
                          <a:lnTo>
                            <a:pt x="1359" y="1179"/>
                          </a:lnTo>
                          <a:lnTo>
                            <a:pt x="1361" y="1179"/>
                          </a:lnTo>
                          <a:lnTo>
                            <a:pt x="1364" y="1180"/>
                          </a:lnTo>
                          <a:lnTo>
                            <a:pt x="1367" y="1181"/>
                          </a:lnTo>
                          <a:lnTo>
                            <a:pt x="1370" y="1181"/>
                          </a:lnTo>
                          <a:lnTo>
                            <a:pt x="1373" y="1182"/>
                          </a:lnTo>
                          <a:lnTo>
                            <a:pt x="1376" y="1182"/>
                          </a:lnTo>
                          <a:lnTo>
                            <a:pt x="1380" y="1183"/>
                          </a:lnTo>
                          <a:lnTo>
                            <a:pt x="1382" y="1184"/>
                          </a:lnTo>
                          <a:lnTo>
                            <a:pt x="1385" y="1184"/>
                          </a:lnTo>
                          <a:lnTo>
                            <a:pt x="1389" y="1185"/>
                          </a:lnTo>
                          <a:lnTo>
                            <a:pt x="1391" y="1185"/>
                          </a:lnTo>
                          <a:lnTo>
                            <a:pt x="1394" y="1186"/>
                          </a:lnTo>
                          <a:lnTo>
                            <a:pt x="1397" y="1186"/>
                          </a:lnTo>
                          <a:lnTo>
                            <a:pt x="1401" y="1188"/>
                          </a:lnTo>
                          <a:lnTo>
                            <a:pt x="1403" y="1189"/>
                          </a:lnTo>
                          <a:lnTo>
                            <a:pt x="1406" y="1189"/>
                          </a:lnTo>
                          <a:lnTo>
                            <a:pt x="1410" y="1190"/>
                          </a:lnTo>
                          <a:lnTo>
                            <a:pt x="1412" y="1190"/>
                          </a:lnTo>
                          <a:lnTo>
                            <a:pt x="1415" y="1191"/>
                          </a:lnTo>
                          <a:lnTo>
                            <a:pt x="1419" y="1191"/>
                          </a:lnTo>
                          <a:lnTo>
                            <a:pt x="1422" y="1192"/>
                          </a:lnTo>
                          <a:lnTo>
                            <a:pt x="1424" y="1192"/>
                          </a:lnTo>
                          <a:lnTo>
                            <a:pt x="1427" y="1193"/>
                          </a:lnTo>
                          <a:lnTo>
                            <a:pt x="1431" y="1193"/>
                          </a:lnTo>
                          <a:lnTo>
                            <a:pt x="1433" y="1194"/>
                          </a:lnTo>
                          <a:lnTo>
                            <a:pt x="1436" y="1194"/>
                          </a:lnTo>
                          <a:lnTo>
                            <a:pt x="1440" y="1195"/>
                          </a:lnTo>
                          <a:lnTo>
                            <a:pt x="1443" y="1195"/>
                          </a:lnTo>
                          <a:lnTo>
                            <a:pt x="1445" y="1197"/>
                          </a:lnTo>
                          <a:lnTo>
                            <a:pt x="1449" y="1197"/>
                          </a:lnTo>
                          <a:lnTo>
                            <a:pt x="1452" y="1197"/>
                          </a:lnTo>
                          <a:lnTo>
                            <a:pt x="1454" y="1198"/>
                          </a:lnTo>
                          <a:lnTo>
                            <a:pt x="1457" y="1198"/>
                          </a:lnTo>
                          <a:lnTo>
                            <a:pt x="1461" y="1199"/>
                          </a:lnTo>
                          <a:lnTo>
                            <a:pt x="1464" y="1199"/>
                          </a:lnTo>
                          <a:lnTo>
                            <a:pt x="1466" y="1200"/>
                          </a:lnTo>
                          <a:lnTo>
                            <a:pt x="1470" y="1200"/>
                          </a:lnTo>
                          <a:lnTo>
                            <a:pt x="1473" y="1201"/>
                          </a:lnTo>
                          <a:lnTo>
                            <a:pt x="1475" y="1201"/>
                          </a:lnTo>
                          <a:lnTo>
                            <a:pt x="1479" y="1201"/>
                          </a:lnTo>
                          <a:lnTo>
                            <a:pt x="1482" y="1202"/>
                          </a:lnTo>
                          <a:lnTo>
                            <a:pt x="1485" y="1202"/>
                          </a:lnTo>
                          <a:lnTo>
                            <a:pt x="1488" y="1202"/>
                          </a:lnTo>
                          <a:lnTo>
                            <a:pt x="1491" y="1203"/>
                          </a:lnTo>
                          <a:lnTo>
                            <a:pt x="1494" y="1203"/>
                          </a:lnTo>
                          <a:lnTo>
                            <a:pt x="1496" y="1204"/>
                          </a:lnTo>
                          <a:lnTo>
                            <a:pt x="1500" y="1204"/>
                          </a:lnTo>
                          <a:lnTo>
                            <a:pt x="1503" y="1204"/>
                          </a:lnTo>
                          <a:lnTo>
                            <a:pt x="1506" y="1205"/>
                          </a:lnTo>
                          <a:lnTo>
                            <a:pt x="1509" y="1205"/>
                          </a:lnTo>
                          <a:lnTo>
                            <a:pt x="1512" y="1207"/>
                          </a:lnTo>
                          <a:lnTo>
                            <a:pt x="1515" y="1207"/>
                          </a:lnTo>
                          <a:lnTo>
                            <a:pt x="1518" y="1207"/>
                          </a:lnTo>
                          <a:lnTo>
                            <a:pt x="1521" y="1208"/>
                          </a:lnTo>
                          <a:lnTo>
                            <a:pt x="1524" y="1208"/>
                          </a:lnTo>
                          <a:lnTo>
                            <a:pt x="1527" y="1208"/>
                          </a:lnTo>
                          <a:lnTo>
                            <a:pt x="1530" y="1209"/>
                          </a:lnTo>
                          <a:lnTo>
                            <a:pt x="1533" y="1209"/>
                          </a:lnTo>
                          <a:lnTo>
                            <a:pt x="1536" y="1209"/>
                          </a:lnTo>
                          <a:lnTo>
                            <a:pt x="1539" y="1210"/>
                          </a:lnTo>
                          <a:lnTo>
                            <a:pt x="1542" y="1210"/>
                          </a:lnTo>
                          <a:lnTo>
                            <a:pt x="1545" y="1210"/>
                          </a:lnTo>
                          <a:lnTo>
                            <a:pt x="1548" y="1211"/>
                          </a:lnTo>
                          <a:lnTo>
                            <a:pt x="1551" y="1211"/>
                          </a:lnTo>
                          <a:lnTo>
                            <a:pt x="1554" y="1211"/>
                          </a:lnTo>
                          <a:lnTo>
                            <a:pt x="1557" y="1211"/>
                          </a:lnTo>
                          <a:lnTo>
                            <a:pt x="1560" y="1212"/>
                          </a:lnTo>
                          <a:lnTo>
                            <a:pt x="1563" y="1212"/>
                          </a:lnTo>
                          <a:lnTo>
                            <a:pt x="1566" y="1212"/>
                          </a:lnTo>
                          <a:lnTo>
                            <a:pt x="1569" y="1213"/>
                          </a:lnTo>
                          <a:lnTo>
                            <a:pt x="1572" y="1213"/>
                          </a:lnTo>
                          <a:lnTo>
                            <a:pt x="1575" y="1213"/>
                          </a:lnTo>
                          <a:lnTo>
                            <a:pt x="1578" y="1214"/>
                          </a:lnTo>
                          <a:lnTo>
                            <a:pt x="1581" y="1214"/>
                          </a:lnTo>
                          <a:lnTo>
                            <a:pt x="1584" y="1214"/>
                          </a:lnTo>
                          <a:lnTo>
                            <a:pt x="1587" y="1214"/>
                          </a:lnTo>
                          <a:lnTo>
                            <a:pt x="1590" y="1216"/>
                          </a:lnTo>
                          <a:lnTo>
                            <a:pt x="1593" y="1216"/>
                          </a:lnTo>
                        </a:path>
                      </a:pathLst>
                    </a:custGeom>
                    <a:solidFill>
                      <a:srgbClr val="00AE00"/>
                    </a:solidFill>
                    <a:ln w="25400" cap="rnd"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04" name="Google Shape;604;p65"/>
                    <p:cNvCxnSpPr/>
                    <p:nvPr/>
                  </p:nvCxnSpPr>
                  <p:spPr>
                    <a:xfrm>
                      <a:off x="4120" y="1373"/>
                      <a:ext cx="0" cy="1218"/>
                    </a:xfrm>
                    <a:prstGeom prst="straightConnector1">
                      <a:avLst/>
                    </a:prstGeom>
                    <a:noFill/>
                    <a:ln w="50800" cap="flat" cmpd="sng">
                      <a:solidFill>
                        <a:schemeClr val="accent1"/>
                      </a:solidFill>
                      <a:prstDash val="solid"/>
                      <a:miter lim="800000"/>
                      <a:headEnd type="none" w="med" len="med"/>
                      <a:tailEnd type="none" w="med" len="med"/>
                    </a:ln>
                  </p:spPr>
                </p:cxnSp>
                <p:cxnSp>
                  <p:nvCxnSpPr>
                    <p:cNvPr id="605" name="Google Shape;605;p65"/>
                    <p:cNvCxnSpPr/>
                    <p:nvPr/>
                  </p:nvCxnSpPr>
                  <p:spPr>
                    <a:xfrm>
                      <a:off x="4339" y="1640"/>
                      <a:ext cx="0" cy="948"/>
                    </a:xfrm>
                    <a:prstGeom prst="straightConnector1">
                      <a:avLst/>
                    </a:prstGeom>
                    <a:noFill/>
                    <a:ln w="50800" cap="flat" cmpd="sng">
                      <a:solidFill>
                        <a:schemeClr val="accent1"/>
                      </a:solidFill>
                      <a:prstDash val="solid"/>
                      <a:miter lim="800000"/>
                      <a:headEnd type="none" w="med" len="med"/>
                      <a:tailEnd type="none" w="med" len="med"/>
                    </a:ln>
                  </p:spPr>
                </p:cxnSp>
                <p:cxnSp>
                  <p:nvCxnSpPr>
                    <p:cNvPr id="606" name="Google Shape;606;p65"/>
                    <p:cNvCxnSpPr/>
                    <p:nvPr/>
                  </p:nvCxnSpPr>
                  <p:spPr>
                    <a:xfrm>
                      <a:off x="4567" y="2105"/>
                      <a:ext cx="0" cy="480"/>
                    </a:xfrm>
                    <a:prstGeom prst="straightConnector1">
                      <a:avLst/>
                    </a:prstGeom>
                    <a:noFill/>
                    <a:ln w="50800" cap="flat" cmpd="sng">
                      <a:solidFill>
                        <a:schemeClr val="accent1"/>
                      </a:solidFill>
                      <a:prstDash val="solid"/>
                      <a:miter lim="800000"/>
                      <a:headEnd type="none" w="med" len="med"/>
                      <a:tailEnd type="none" w="med" len="med"/>
                    </a:ln>
                  </p:spPr>
                </p:cxnSp>
                <p:sp>
                  <p:nvSpPr>
                    <p:cNvPr id="607" name="Google Shape;607;p65"/>
                    <p:cNvSpPr txBox="1"/>
                    <p:nvPr/>
                  </p:nvSpPr>
                  <p:spPr>
                    <a:xfrm>
                      <a:off x="3630" y="2773"/>
                      <a:ext cx="466" cy="229"/>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1" i="0" u="none">
                          <a:solidFill>
                            <a:srgbClr val="000000"/>
                          </a:solidFill>
                          <a:latin typeface="Arial" panose="020B0604020202020204"/>
                          <a:ea typeface="Arial" panose="020B0604020202020204"/>
                          <a:cs typeface="Arial" panose="020B0604020202020204"/>
                          <a:sym typeface="Arial" panose="020B0604020202020204"/>
                        </a:rPr>
                        <a:t>Mode</a:t>
                      </a:r>
                      <a:endParaRPr lang="en-US" sz="1400" b="1"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8" name="Google Shape;608;p65"/>
                    <p:cNvSpPr txBox="1"/>
                    <p:nvPr/>
                  </p:nvSpPr>
                  <p:spPr>
                    <a:xfrm>
                      <a:off x="4149" y="3052"/>
                      <a:ext cx="586" cy="229"/>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1" i="0" u="none">
                          <a:solidFill>
                            <a:srgbClr val="000000"/>
                          </a:solidFill>
                          <a:latin typeface="Arial" panose="020B0604020202020204"/>
                          <a:ea typeface="Arial" panose="020B0604020202020204"/>
                          <a:cs typeface="Arial" panose="020B0604020202020204"/>
                          <a:sym typeface="Arial" panose="020B0604020202020204"/>
                        </a:rPr>
                        <a:t>Median</a:t>
                      </a:r>
                      <a:endParaRPr lang="en-US" sz="1400" b="1"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9" name="Google Shape;609;p65"/>
                    <p:cNvSpPr txBox="1"/>
                    <p:nvPr/>
                  </p:nvSpPr>
                  <p:spPr>
                    <a:xfrm>
                      <a:off x="4836" y="2710"/>
                      <a:ext cx="466" cy="229"/>
                    </a:xfrm>
                    <a:prstGeom prst="rect">
                      <a:avLst/>
                    </a:prstGeom>
                    <a:noFill/>
                    <a:ln>
                      <a:noFill/>
                    </a:ln>
                  </p:spPr>
                  <p:txBody>
                    <a:bodyPr spcFirstLastPara="1" wrap="square" lIns="90475" tIns="44450" rIns="90475" bIns="4445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1" i="0" u="none">
                          <a:solidFill>
                            <a:srgbClr val="000000"/>
                          </a:solidFill>
                          <a:latin typeface="Arial" panose="020B0604020202020204"/>
                          <a:ea typeface="Arial" panose="020B0604020202020204"/>
                          <a:cs typeface="Arial" panose="020B0604020202020204"/>
                          <a:sym typeface="Arial" panose="020B0604020202020204"/>
                        </a:rPr>
                        <a:t>Mean</a:t>
                      </a:r>
                      <a:endParaRPr lang="en-US" sz="1400" b="1"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0" name="Google Shape;610;p65"/>
                    <p:cNvSpPr/>
                    <p:nvPr/>
                  </p:nvSpPr>
                  <p:spPr>
                    <a:xfrm>
                      <a:off x="4589" y="2634"/>
                      <a:ext cx="280" cy="190"/>
                    </a:xfrm>
                    <a:custGeom>
                      <a:avLst/>
                      <a:gdLst/>
                      <a:ahLst/>
                      <a:cxnLst/>
                      <a:rect l="l" t="t" r="r" b="b"/>
                      <a:pathLst>
                        <a:path w="21600" h="21600" fill="none" extrusionOk="0">
                          <a:moveTo>
                            <a:pt x="21600" y="21600"/>
                          </a:moveTo>
                          <a:cubicBezTo>
                            <a:pt x="9670" y="21600"/>
                            <a:pt x="0" y="11929"/>
                            <a:pt x="0" y="0"/>
                          </a:cubicBezTo>
                        </a:path>
                        <a:path w="21600" h="21600" extrusionOk="0">
                          <a:moveTo>
                            <a:pt x="21600" y="21600"/>
                          </a:moveTo>
                          <a:cubicBezTo>
                            <a:pt x="9670" y="21600"/>
                            <a:pt x="0" y="11929"/>
                            <a:pt x="0" y="0"/>
                          </a:cubicBezTo>
                          <a:lnTo>
                            <a:pt x="21600" y="0"/>
                          </a:lnTo>
                          <a:lnTo>
                            <a:pt x="21600" y="21600"/>
                          </a:lnTo>
                          <a:close/>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1" name="Google Shape;611;p65"/>
                    <p:cNvSpPr/>
                    <p:nvPr/>
                  </p:nvSpPr>
                  <p:spPr>
                    <a:xfrm>
                      <a:off x="4042" y="2640"/>
                      <a:ext cx="64" cy="271"/>
                    </a:xfrm>
                    <a:custGeom>
                      <a:avLst/>
                      <a:gdLst/>
                      <a:ahLst/>
                      <a:cxnLst/>
                      <a:rect l="l" t="t" r="r" b="b"/>
                      <a:pathLst>
                        <a:path w="21600" h="21600" fill="none" extrusionOk="0">
                          <a:moveTo>
                            <a:pt x="21600" y="0"/>
                          </a:moveTo>
                          <a:cubicBezTo>
                            <a:pt x="21600" y="11929"/>
                            <a:pt x="11929" y="21599"/>
                            <a:pt x="0" y="21600"/>
                          </a:cubicBezTo>
                        </a:path>
                        <a:path w="21600" h="21600" extrusionOk="0">
                          <a:moveTo>
                            <a:pt x="21600" y="0"/>
                          </a:moveTo>
                          <a:cubicBezTo>
                            <a:pt x="21600" y="11929"/>
                            <a:pt x="11929" y="21599"/>
                            <a:pt x="0" y="21600"/>
                          </a:cubicBezTo>
                          <a:lnTo>
                            <a:pt x="0" y="0"/>
                          </a:lnTo>
                          <a:lnTo>
                            <a:pt x="21600" y="0"/>
                          </a:lnTo>
                          <a:close/>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12" name="Google Shape;612;p65"/>
                    <p:cNvCxnSpPr/>
                    <p:nvPr/>
                  </p:nvCxnSpPr>
                  <p:spPr>
                    <a:xfrm>
                      <a:off x="4344" y="2649"/>
                      <a:ext cx="0" cy="403"/>
                    </a:xfrm>
                    <a:prstGeom prst="straightConnector1">
                      <a:avLst/>
                    </a:prstGeom>
                    <a:noFill/>
                    <a:ln w="25400" cap="flat" cmpd="sng">
                      <a:solidFill>
                        <a:schemeClr val="lt2"/>
                      </a:solidFill>
                      <a:prstDash val="solid"/>
                      <a:miter lim="800000"/>
                      <a:headEnd type="triangle" w="med" len="med"/>
                      <a:tailEnd type="none" w="med" len="med"/>
                    </a:ln>
                  </p:spPr>
                </p:cxnSp>
              </p:grpSp>
            </p:grpSp>
          </p:grpSp>
        </p:grpSp>
      </p:grpSp>
    </p:spTree>
  </p:cSld>
  <p:clrMapOvr>
    <a:masterClrMapping/>
  </p:clrMapOvr>
  <p:transition spd="slow">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616" name="Shape 616"/>
        <p:cNvGrpSpPr/>
        <p:nvPr/>
      </p:nvGrpSpPr>
      <p:grpSpPr>
        <a:xfrm>
          <a:off x="0" y="0"/>
          <a:ext cx="0" cy="0"/>
          <a:chOff x="0" y="0"/>
          <a:chExt cx="0" cy="0"/>
        </a:xfrm>
      </p:grpSpPr>
      <p:sp>
        <p:nvSpPr>
          <p:cNvPr id="617" name="Google Shape;617;p66"/>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Relations Between the Measures of Central Tendency</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8" name="Google Shape;618;p66"/>
          <p:cNvSpPr txBox="1"/>
          <p:nvPr>
            <p:ph type="body" idx="1"/>
          </p:nvPr>
        </p:nvSpPr>
        <p:spPr>
          <a:xfrm>
            <a:off x="193675" y="1874837"/>
            <a:ext cx="4302125" cy="3232150"/>
          </a:xfrm>
          <a:prstGeom prst="rect">
            <a:avLst/>
          </a:prstGeom>
          <a:noFill/>
          <a:ln>
            <a:noFill/>
          </a:ln>
        </p:spPr>
        <p:txBody>
          <a:bodyPr spcFirstLastPara="1" wrap="square" lIns="91425" tIns="45700" rIns="91425" bIns="45700" anchor="t" anchorCtr="0">
            <a:noAutofit/>
          </a:bodyPr>
          <a:lstStyle/>
          <a:p>
            <a:pPr marL="342900" lvl="0" indent="-342900" algn="l" rtl="0">
              <a:lnSpc>
                <a:spcPct val="95000"/>
              </a:lnSpc>
              <a:spcBef>
                <a:spcPts val="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 symmetrical distributions, the median and mean are equal</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lvl="1" indent="-285750" algn="l" rtl="0">
              <a:lnSpc>
                <a:spcPct val="95000"/>
              </a:lnSpc>
              <a:spcBef>
                <a:spcPts val="120"/>
              </a:spcBef>
              <a:spcAft>
                <a:spcPts val="0"/>
              </a:spcAft>
              <a:buSzPts val="2400"/>
              <a:buChar char="•"/>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For normal distributions, mean = median = mode</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95000"/>
              </a:lnSpc>
              <a:spcBef>
                <a:spcPts val="140"/>
              </a:spcBef>
              <a:spcAft>
                <a:spcPts val="0"/>
              </a:spcAft>
              <a:buSzPts val="2800"/>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 positively skewed distributions, the mean is greater than the median</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19" name="Google Shape;619;p66"/>
          <p:cNvPicPr preferRelativeResize="0"/>
          <p:nvPr>
            <p:ph type="body" idx="1"/>
          </p:nvPr>
        </p:nvPicPr>
        <p:blipFill rotWithShape="1">
          <a:blip r:embed="rId1"/>
          <a:srcRect/>
          <a:stretch>
            <a:fillRect/>
          </a:stretch>
        </p:blipFill>
        <p:spPr>
          <a:xfrm>
            <a:off x="5362575" y="4948237"/>
            <a:ext cx="3167062" cy="1909762"/>
          </a:xfrm>
          <a:prstGeom prst="rect">
            <a:avLst/>
          </a:prstGeom>
          <a:noFill/>
          <a:ln>
            <a:noFill/>
          </a:ln>
        </p:spPr>
      </p:pic>
      <p:pic>
        <p:nvPicPr>
          <p:cNvPr id="620" name="Google Shape;620;p66"/>
          <p:cNvPicPr preferRelativeResize="0"/>
          <p:nvPr>
            <p:ph type="body" idx="2"/>
          </p:nvPr>
        </p:nvPicPr>
        <p:blipFill rotWithShape="1">
          <a:blip r:embed="rId2"/>
          <a:srcRect/>
          <a:stretch>
            <a:fillRect/>
          </a:stretch>
        </p:blipFill>
        <p:spPr>
          <a:xfrm>
            <a:off x="5972175" y="3206750"/>
            <a:ext cx="3646487" cy="2182812"/>
          </a:xfrm>
          <a:prstGeom prst="rect">
            <a:avLst/>
          </a:prstGeom>
          <a:noFill/>
          <a:ln>
            <a:noFill/>
          </a:ln>
        </p:spPr>
      </p:pic>
      <p:sp>
        <p:nvSpPr>
          <p:cNvPr id="621" name="Google Shape;621;p66"/>
          <p:cNvSpPr txBox="1"/>
          <p:nvPr/>
        </p:nvSpPr>
        <p:spPr>
          <a:xfrm>
            <a:off x="193675" y="5024437"/>
            <a:ext cx="4302125" cy="1851025"/>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dk1"/>
              </a:buClr>
              <a:buSzPts val="2800"/>
              <a:buFont typeface="Times New Roman" panose="02020603050405020304"/>
              <a:buChar char="•"/>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 negatively skewed distributions, the mean is smaller than the median</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slow">
    <p:fade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625" name="Shape 625"/>
        <p:cNvGrpSpPr/>
        <p:nvPr/>
      </p:nvGrpSpPr>
      <p:grpSpPr>
        <a:xfrm>
          <a:off x="0" y="0"/>
          <a:ext cx="0" cy="0"/>
          <a:chOff x="0" y="0"/>
          <a:chExt cx="0" cy="0"/>
        </a:xfrm>
      </p:grpSpPr>
      <p:sp>
        <p:nvSpPr>
          <p:cNvPr id="626" name="Google Shape;626;p67"/>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000"/>
              <a:buFont typeface="Times New Roman" panose="02020603050405020304"/>
              <a:buNone/>
            </a:pPr>
            <a:r>
              <a:rPr lang="en-US" sz="40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Comparison of </a:t>
            </a:r>
            <a:br>
              <a:rPr lang="en-US" sz="40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br>
            <a:r>
              <a:rPr lang="en-US" sz="40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Central Tendency Measures</a:t>
            </a:r>
            <a:endParaRPr lang="en-US" sz="40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7" name="Google Shape;627;p67" descr="Rectangle: Click to edit Master text styles&#13;&#10;Second level&#13;&#10;Third level&#13;&#10;Fourth level&#13;&#10;Fifth level"/>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Char char="•"/>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Use Mean</a:t>
            </a: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when distribution is reasonably symmetrical, with few extreme scores and has one mode.</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Use Median</a:t>
            </a: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with nonsymmetrical distributions because it is not sensitive to skewness.</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l" rtl="0">
              <a:lnSpc>
                <a:spcPct val="100000"/>
              </a:lnSpc>
              <a:spcBef>
                <a:spcPts val="640"/>
              </a:spcBef>
              <a:spcAft>
                <a:spcPts val="0"/>
              </a:spcAft>
              <a:buSzPts val="3200"/>
              <a:buChar char="•"/>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Use Mode</a:t>
            </a: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when dealing with frequency distribution for nominal data</a:t>
            </a:r>
            <a:endParaRPr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640"/>
              </a:spcBef>
              <a:spcAft>
                <a:spcPts val="0"/>
              </a:spcAft>
              <a:buSzPts val="3200"/>
              <a:buNone/>
            </a:pPr>
            <a:endParaRPr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631" name="Shape 631"/>
        <p:cNvGrpSpPr/>
        <p:nvPr/>
      </p:nvGrpSpPr>
      <p:grpSpPr>
        <a:xfrm>
          <a:off x="0" y="0"/>
          <a:ext cx="0" cy="0"/>
          <a:chOff x="0" y="0"/>
          <a:chExt cx="0" cy="0"/>
        </a:xfrm>
      </p:grpSpPr>
      <p:sp>
        <p:nvSpPr>
          <p:cNvPr id="632" name="Google Shape;632;p68"/>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Assignment</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33" name="Google Shape;633;p68"/>
          <p:cNvSpPr txBox="1"/>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8000"/>
              </a:buClr>
              <a:buSzPts val="3200"/>
              <a:buFont typeface="Noto Sans Symbols"/>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1.1 (a, b, c)</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640"/>
              </a:spcBef>
              <a:spcAft>
                <a:spcPts val="0"/>
              </a:spcAft>
              <a:buClr>
                <a:srgbClr val="008000"/>
              </a:buClr>
              <a:buSzPts val="3200"/>
              <a:buFont typeface="Noto Sans Symbols"/>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1.4 (a)</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640"/>
              </a:spcBef>
              <a:spcAft>
                <a:spcPts val="0"/>
              </a:spcAft>
              <a:buClr>
                <a:srgbClr val="008000"/>
              </a:buClr>
              <a:buSzPts val="3200"/>
              <a:buFont typeface="Noto Sans Symbols"/>
              <a:buChar char="•"/>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Also find the mode of the data given in Ex 1.1 and 1.4</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139700" algn="l" rtl="0">
              <a:spcBef>
                <a:spcPts val="640"/>
              </a:spcBef>
              <a:spcAft>
                <a:spcPts val="0"/>
              </a:spcAft>
              <a:buClr>
                <a:srgbClr val="008000"/>
              </a:buClr>
              <a:buSzPts val="3200"/>
              <a:buFont typeface="Noto Sans Symbols"/>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637" name="Shape 637"/>
        <p:cNvGrpSpPr/>
        <p:nvPr/>
      </p:nvGrpSpPr>
      <p:grpSpPr>
        <a:xfrm>
          <a:off x="0" y="0"/>
          <a:ext cx="0" cy="0"/>
          <a:chOff x="0" y="0"/>
          <a:chExt cx="0" cy="0"/>
        </a:xfrm>
      </p:grpSpPr>
      <p:graphicFrame>
        <p:nvGraphicFramePr>
          <p:cNvPr id="638" name="Google Shape;638;p69"/>
          <p:cNvGraphicFramePr/>
          <p:nvPr/>
        </p:nvGraphicFramePr>
        <p:xfrm>
          <a:off x="327025" y="3057525"/>
          <a:ext cx="8393075" cy="3000000"/>
        </p:xfrm>
        <a:graphic>
          <a:graphicData uri="http://schemas.openxmlformats.org/drawingml/2006/table">
            <a:tbl>
              <a:tblPr>
                <a:noFill/>
                <a:tableStyleId>{92D09641-B6B2-4153-873C-CECA441CCA84}</a:tableStyleId>
              </a:tblPr>
              <a:tblGrid>
                <a:gridCol w="1724025"/>
                <a:gridCol w="882650"/>
                <a:gridCol w="990600"/>
                <a:gridCol w="1198550"/>
                <a:gridCol w="1198550"/>
                <a:gridCol w="1200150"/>
                <a:gridCol w="1198550"/>
              </a:tblGrid>
              <a:tr h="555625">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Wages ( C.I.)</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40-60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60-80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80-100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100-120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120-140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140-160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903275">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No.of workers (freq)</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50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80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30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20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50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20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bl>
          </a:graphicData>
        </a:graphic>
      </p:graphicFrame>
      <p:graphicFrame>
        <p:nvGraphicFramePr>
          <p:cNvPr id="639" name="Google Shape;639;p69"/>
          <p:cNvGraphicFramePr/>
          <p:nvPr/>
        </p:nvGraphicFramePr>
        <p:xfrm>
          <a:off x="941387" y="5616575"/>
          <a:ext cx="7027850" cy="3000000"/>
        </p:xfrm>
        <a:graphic>
          <a:graphicData uri="http://schemas.openxmlformats.org/drawingml/2006/table">
            <a:tbl>
              <a:tblPr>
                <a:noFill/>
                <a:tableStyleId>{92D09641-B6B2-4153-873C-CECA441CCA84}</a:tableStyleId>
              </a:tblPr>
              <a:tblGrid>
                <a:gridCol w="2374900"/>
                <a:gridCol w="600075"/>
                <a:gridCol w="504825"/>
                <a:gridCol w="695325"/>
                <a:gridCol w="628650"/>
                <a:gridCol w="750875"/>
                <a:gridCol w="1473200"/>
              </a:tblGrid>
              <a:tr h="423850">
                <a:tc>
                  <a:txBody>
                    <a:bodyPr/>
                    <a:lstStyle/>
                    <a:p>
                      <a:pPr marL="0" marR="0" lvl="0" indent="0" algn="just"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X</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3</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5</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Total</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642925">
                <a:tc>
                  <a:txBody>
                    <a:bodyPr/>
                    <a:lstStyle/>
                    <a:p>
                      <a:pPr marL="0" marR="0" lvl="0" indent="0" algn="just" rtl="0">
                        <a:lnSpc>
                          <a:spcPct val="10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No. of  Families (freq)</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50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5</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5</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chemeClr val="dk1"/>
                        </a:buClr>
                        <a:buSzPts val="2100"/>
                        <a:buFont typeface="Times New Roman" panose="02020603050405020304"/>
                        <a:buNone/>
                      </a:pPr>
                      <a:r>
                        <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100</a:t>
                      </a:r>
                      <a:endParaRPr lang="en-US" sz="21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bl>
          </a:graphicData>
        </a:graphic>
      </p:graphicFrame>
      <p:sp>
        <p:nvSpPr>
          <p:cNvPr id="640" name="Google Shape;640;p69"/>
          <p:cNvSpPr txBox="1"/>
          <p:nvPr/>
        </p:nvSpPr>
        <p:spPr>
          <a:xfrm>
            <a:off x="190500" y="2074862"/>
            <a:ext cx="8763000" cy="3478212"/>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200"/>
              <a:buFont typeface="Times New Roman" panose="02020603050405020304"/>
              <a:buNone/>
            </a:pPr>
            <a:r>
              <a:rPr lang="en-US" sz="2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Problem 1 : </a:t>
            </a:r>
            <a:r>
              <a:rPr lang="en-US" sz="2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Wages (in Rs) paid to  workers of an organization are given below.  Calculate Mean.</a:t>
            </a:r>
            <a:endParaRPr sz="2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200"/>
              <a:buFont typeface="Times New Roman" panose="02020603050405020304"/>
              <a:buNone/>
            </a:pPr>
            <a:endParaRPr sz="2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200"/>
              <a:buFont typeface="Times New Roman" panose="02020603050405020304"/>
              <a:buNone/>
            </a:pPr>
            <a:endParaRPr sz="2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200"/>
              <a:buFont typeface="Times New Roman" panose="02020603050405020304"/>
              <a:buNone/>
            </a:pPr>
            <a:endParaRPr sz="2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200"/>
              <a:buFont typeface="Times New Roman" panose="02020603050405020304"/>
              <a:buNone/>
            </a:pPr>
            <a:endParaRPr sz="2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200"/>
              <a:buFont typeface="Times New Roman" panose="02020603050405020304"/>
              <a:buNone/>
            </a:pPr>
            <a:endParaRPr sz="2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200"/>
              <a:buFont typeface="Times New Roman" panose="02020603050405020304"/>
              <a:buNone/>
            </a:pPr>
            <a:endParaRPr sz="2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200"/>
              <a:buFont typeface="Times New Roman" panose="02020603050405020304"/>
              <a:buNone/>
            </a:pPr>
            <a:r>
              <a:rPr lang="en-US" sz="2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Problem 2 : </a:t>
            </a:r>
            <a:r>
              <a:rPr lang="en-US" sz="2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Weekly demand for marine fish (in kg)  (x) for 100 families is given below.  Calculate Mean.</a:t>
            </a:r>
            <a:endParaRPr lang="en-US" sz="2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1" name="Google Shape;641;p69"/>
          <p:cNvSpPr txBox="1"/>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48404"/>
              </a:buClr>
              <a:buSzPts val="4400"/>
              <a:buFont typeface="Times New Roman" panose="02020603050405020304"/>
              <a:buNone/>
            </a:pPr>
            <a:r>
              <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rPr>
              <a:t>Assignment</a:t>
            </a:r>
            <a:endParaRPr lang="en-US" sz="4400" b="0" i="0" u="none">
              <a:solidFill>
                <a:srgbClr val="048404"/>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psy 216">
  <a:themeElements>
    <a:clrScheme name="Yellow">
      <a:dk1>
        <a:srgbClr val="000000"/>
      </a:dk1>
      <a:lt1>
        <a:srgbClr val="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sy 216">
  <a:themeElements>
    <a:clrScheme name="Yellow">
      <a:dk1>
        <a:srgbClr val="000000"/>
      </a:dk1>
      <a:lt1>
        <a:srgbClr val="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9807</Words>
  <Application>WPS Presentation</Application>
  <PresentationFormat/>
  <Paragraphs>585</Paragraphs>
  <Slides>54</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54</vt:i4>
      </vt:variant>
    </vt:vector>
  </HeadingPairs>
  <TitlesOfParts>
    <vt:vector size="67" baseType="lpstr">
      <vt:lpstr>Arial</vt:lpstr>
      <vt:lpstr>SimSun</vt:lpstr>
      <vt:lpstr>Wingdings</vt:lpstr>
      <vt:lpstr>Arial</vt:lpstr>
      <vt:lpstr>Times New Roman</vt:lpstr>
      <vt:lpstr>Noto Sans Symbols</vt:lpstr>
      <vt:lpstr>Microsoft YaHei</vt:lpstr>
      <vt:lpstr>Arial Unicode MS</vt:lpstr>
      <vt:lpstr>Tahoma</vt:lpstr>
      <vt:lpstr>Helvetica Neue</vt:lpstr>
      <vt:lpstr>Oi</vt:lpstr>
      <vt:lpstr>psy 216</vt:lpstr>
      <vt:lpstr>1_psy 216</vt:lpstr>
      <vt:lpstr>Population and Sample</vt:lpstr>
      <vt:lpstr>Parameter and Statistic</vt:lpstr>
      <vt:lpstr>Measures of Central Tendency</vt:lpstr>
      <vt:lpstr>PowerPoint 演示文稿</vt:lpstr>
      <vt:lpstr>Measures of Central Tendency</vt:lpstr>
      <vt:lpstr>Descriptive Statistics</vt:lpstr>
      <vt:lpstr>Central Tendency</vt:lpstr>
      <vt:lpstr>Central Tendency</vt:lpstr>
      <vt:lpstr>PowerPoint 演示文稿</vt:lpstr>
      <vt:lpstr>Measure of central tendency</vt:lpstr>
      <vt:lpstr>The Mean</vt:lpstr>
      <vt:lpstr>The Mean</vt:lpstr>
      <vt:lpstr>Mean formula:</vt:lpstr>
      <vt:lpstr>Calculating Mean</vt:lpstr>
      <vt:lpstr>PowerPoint 演示文稿</vt:lpstr>
      <vt:lpstr>When To Use the Mean</vt:lpstr>
      <vt:lpstr>Pros and Cons of the Mean</vt:lpstr>
      <vt:lpstr>PowerPoint 演示文稿</vt:lpstr>
      <vt:lpstr>Calculating the Mean for Grouped Data</vt:lpstr>
      <vt:lpstr>Calculating the Mean for Grouped Data</vt:lpstr>
      <vt:lpstr>Calculating the Mean for Grouped Data</vt:lpstr>
      <vt:lpstr>Weighted Mean</vt:lpstr>
      <vt:lpstr>Weighted Mean</vt:lpstr>
      <vt:lpstr>Weighted Average</vt:lpstr>
      <vt:lpstr>Weighted Mean</vt:lpstr>
      <vt:lpstr>Weighted Mean</vt:lpstr>
      <vt:lpstr>Example</vt:lpstr>
      <vt:lpstr>PowerPoint 演示文稿</vt:lpstr>
      <vt:lpstr>The Median</vt:lpstr>
      <vt:lpstr>The Median</vt:lpstr>
      <vt:lpstr>The Median</vt:lpstr>
      <vt:lpstr>How To Calculate the Median</vt:lpstr>
      <vt:lpstr>Median Example</vt:lpstr>
      <vt:lpstr>Median Example</vt:lpstr>
      <vt:lpstr>When To Use the Median</vt:lpstr>
      <vt:lpstr>Pros and Cons of Median</vt:lpstr>
      <vt:lpstr>PowerPoint 演示文稿</vt:lpstr>
      <vt:lpstr>The Mode</vt:lpstr>
      <vt:lpstr>Bimodal Distributions</vt:lpstr>
      <vt:lpstr>The Mode</vt:lpstr>
      <vt:lpstr>   Mode Most frequently occurring value  </vt:lpstr>
      <vt:lpstr>Multimodal Distributions</vt:lpstr>
      <vt:lpstr>Central Tendency Example: Mode</vt:lpstr>
      <vt:lpstr>The Mode</vt:lpstr>
      <vt:lpstr>When To Use the Mode</vt:lpstr>
      <vt:lpstr>When To Use the Mode</vt:lpstr>
      <vt:lpstr>Pros and Cons of the Mode</vt:lpstr>
      <vt:lpstr>Example: Central Location  </vt:lpstr>
      <vt:lpstr>PowerPoint 演示文稿</vt:lpstr>
      <vt:lpstr>Relations Between the Measures of Central Tendency</vt:lpstr>
      <vt:lpstr>Relations Between the Measures of Central Tendency</vt:lpstr>
      <vt:lpstr>Comparison of  Central Tendency Measures</vt:lpstr>
      <vt:lpstr>Assignment</vt:lpstr>
      <vt:lpstr>Assignment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Population and Sample</dc:title>
  <dc:creator/>
  <cp:lastModifiedBy>saadm</cp:lastModifiedBy>
  <cp:revision>1</cp:revision>
  <dcterms:created xsi:type="dcterms:W3CDTF">2024-03-12T01:42:05Z</dcterms:created>
  <dcterms:modified xsi:type="dcterms:W3CDTF">2024-03-12T01:42:06Z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DD41C7B6F5CD446CAA414B0B82E85E08_12</vt:lpwstr>
  </property>
  <property fmtid="{D5CDD505-2E9C-101B-9397-08002B2CF9AE}" pid="3" name="KSOProductBuildVer">
    <vt:lpwstr>1033-12.2.0.13489</vt:lpwstr>
  </property>
</Properties>
</file>