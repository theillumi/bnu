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3" r:id="rId8"/>
    <p:sldId id="280" r:id="rId9"/>
    <p:sldId id="281" r:id="rId10"/>
    <p:sldId id="265" r:id="rId11"/>
    <p:sldId id="261" r:id="rId12"/>
    <p:sldId id="266" r:id="rId13"/>
    <p:sldId id="264" r:id="rId14"/>
    <p:sldId id="269" r:id="rId15"/>
    <p:sldId id="270" r:id="rId16"/>
    <p:sldId id="272" r:id="rId17"/>
    <p:sldId id="271" r:id="rId18"/>
    <p:sldId id="273" r:id="rId19"/>
    <p:sldId id="279" r:id="rId20"/>
    <p:sldId id="278" r:id="rId21"/>
    <p:sldId id="277" r:id="rId22"/>
    <p:sldId id="274" r:id="rId23"/>
    <p:sldId id="268" r:id="rId24"/>
    <p:sldId id="275" r:id="rId25"/>
    <p:sldId id="283" r:id="rId26"/>
    <p:sldId id="284" r:id="rId27"/>
    <p:sldId id="285" r:id="rId28"/>
    <p:sldId id="27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FD233260-CB36-48A5-93A3-187C60DD387B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062826-6DE4-40FC-A333-DBDD2A2595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Estimation of parameters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Statistical inference consists of methods by which one makes </a:t>
            </a:r>
            <a:r>
              <a:rPr lang="en-US" b="1" dirty="0">
                <a:solidFill>
                  <a:srgbClr val="FF0000"/>
                </a:solidFill>
              </a:rPr>
              <a:t>inferences</a:t>
            </a:r>
            <a:r>
              <a:rPr lang="en-US" b="1" dirty="0"/>
              <a:t> or </a:t>
            </a:r>
            <a:r>
              <a:rPr lang="en-US" dirty="0"/>
              <a:t>generalizations about a </a:t>
            </a:r>
            <a:r>
              <a:rPr lang="en-US" dirty="0">
                <a:solidFill>
                  <a:srgbClr val="FF0000"/>
                </a:solidFill>
              </a:rPr>
              <a:t>population.</a:t>
            </a:r>
          </a:p>
          <a:p>
            <a:r>
              <a:rPr lang="en-US" dirty="0"/>
              <a:t>Inferences are based strictly on information obtained from a </a:t>
            </a:r>
            <a:r>
              <a:rPr lang="en-US" dirty="0">
                <a:solidFill>
                  <a:srgbClr val="FF0000"/>
                </a:solidFill>
              </a:rPr>
              <a:t>random sample selected from the population.</a:t>
            </a:r>
          </a:p>
          <a:p>
            <a:r>
              <a:rPr lang="en-US" dirty="0"/>
              <a:t>Statistical inference may be divided into two major areas:</a:t>
            </a:r>
          </a:p>
          <a:p>
            <a:pPr lvl="1"/>
            <a:r>
              <a:rPr lang="en-US" b="1" dirty="0"/>
              <a:t>Estimation of Parameters</a:t>
            </a:r>
          </a:p>
          <a:p>
            <a:pPr lvl="1"/>
            <a:r>
              <a:rPr lang="en-US" b="1" dirty="0"/>
              <a:t>Testing of Hypotheses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estimation of a population parameter provides as an estimate of a single value calculated from the sample that is likely to be close to the unknown </a:t>
            </a:r>
            <a:r>
              <a:rPr lang="en-US" dirty="0">
                <a:solidFill>
                  <a:srgbClr val="FF0000"/>
                </a:solidFill>
              </a:rPr>
              <a:t>parameter.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 the most </a:t>
            </a:r>
            <a:r>
              <a:rPr lang="en-US" dirty="0">
                <a:solidFill>
                  <a:srgbClr val="FF0000"/>
                </a:solidFill>
              </a:rPr>
              <a:t>efficient unbiased estimator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unlikely</a:t>
            </a:r>
            <a:r>
              <a:rPr lang="en-US" dirty="0"/>
              <a:t> to estimate the population parameter </a:t>
            </a:r>
            <a:r>
              <a:rPr lang="en-US" dirty="0">
                <a:solidFill>
                  <a:srgbClr val="FF0000"/>
                </a:solidFill>
              </a:rPr>
              <a:t>exactly</a:t>
            </a:r>
            <a:r>
              <a:rPr lang="en-US" dirty="0"/>
              <a:t>. </a:t>
            </a:r>
          </a:p>
          <a:p>
            <a:r>
              <a:rPr lang="en-US" dirty="0"/>
              <a:t>It is true that estimation </a:t>
            </a:r>
            <a:r>
              <a:rPr lang="en-US" dirty="0">
                <a:solidFill>
                  <a:srgbClr val="FF0000"/>
                </a:solidFill>
              </a:rPr>
              <a:t>accuracy increases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large samples</a:t>
            </a:r>
            <a:r>
              <a:rPr lang="en-US" dirty="0"/>
              <a:t>, but there is still no reason we should expect </a:t>
            </a:r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point estimate </a:t>
            </a:r>
            <a:r>
              <a:rPr lang="en-US" b="1" dirty="0"/>
              <a:t>from a given sample </a:t>
            </a:r>
            <a:r>
              <a:rPr lang="en-US" dirty="0"/>
              <a:t>to be </a:t>
            </a:r>
            <a:r>
              <a:rPr lang="en-US" dirty="0">
                <a:solidFill>
                  <a:srgbClr val="FF0000"/>
                </a:solidFill>
              </a:rPr>
              <a:t>exactly equal </a:t>
            </a:r>
            <a:r>
              <a:rPr lang="en-US" dirty="0"/>
              <a:t>to the </a:t>
            </a:r>
            <a:r>
              <a:rPr lang="en-US" dirty="0">
                <a:solidFill>
                  <a:srgbClr val="FF0000"/>
                </a:solidFill>
              </a:rPr>
              <a:t>population parameter</a:t>
            </a:r>
            <a:r>
              <a:rPr lang="en-US" dirty="0"/>
              <a:t> it is supposed to estimate. </a:t>
            </a:r>
          </a:p>
          <a:p>
            <a:r>
              <a:rPr lang="en-US" dirty="0"/>
              <a:t>There are many situations in which it is preferable to determine an interval within which we would expect to find the value of the parameter. </a:t>
            </a:r>
          </a:p>
          <a:p>
            <a:r>
              <a:rPr lang="en-US" dirty="0"/>
              <a:t>Such an interval is called an </a:t>
            </a:r>
            <a:r>
              <a:rPr lang="en-US" b="1" dirty="0">
                <a:solidFill>
                  <a:srgbClr val="FF0000"/>
                </a:solidFill>
              </a:rPr>
              <a:t>interval estimate</a:t>
            </a:r>
            <a:r>
              <a:rPr lang="en-US" b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interval estimate of a population parameter </a:t>
            </a:r>
            <a:r>
              <a:rPr lang="en-US" i="1" dirty="0"/>
              <a:t>θ is an interval of the form       </a:t>
            </a:r>
            <a:r>
              <a:rPr lang="el-GR" baseline="30000" dirty="0"/>
              <a:t>ˆ</a:t>
            </a:r>
            <a:r>
              <a:rPr lang="el-GR" i="1" dirty="0"/>
              <a:t>θ</a:t>
            </a:r>
            <a:r>
              <a:rPr lang="en-US" i="1" baseline="-25000" dirty="0"/>
              <a:t>L</a:t>
            </a:r>
            <a:r>
              <a:rPr lang="en-US" i="1" dirty="0"/>
              <a:t> &lt; </a:t>
            </a:r>
            <a:r>
              <a:rPr lang="el-GR" i="1" dirty="0"/>
              <a:t>θ &lt; </a:t>
            </a:r>
            <a:r>
              <a:rPr lang="el-GR" i="1" baseline="30000" dirty="0"/>
              <a:t>ˆ</a:t>
            </a:r>
            <a:r>
              <a:rPr lang="el-GR" i="1" dirty="0"/>
              <a:t>θ</a:t>
            </a:r>
            <a:r>
              <a:rPr lang="en-US" i="1" baseline="-25000" dirty="0"/>
              <a:t>U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0 </a:t>
            </a:r>
            <a:r>
              <a:rPr lang="en-US" i="1" dirty="0"/>
              <a:t>&lt; α &lt; 1, we have a probability of 1−α of selecting a random sample that </a:t>
            </a:r>
            <a:r>
              <a:rPr lang="en-US" dirty="0"/>
              <a:t>will produce an interval containing </a:t>
            </a:r>
            <a:r>
              <a:rPr lang="en-US" i="1" dirty="0"/>
              <a:t>θ. 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The fraction </a:t>
            </a:r>
            <a:r>
              <a:rPr lang="en-US" dirty="0">
                <a:solidFill>
                  <a:srgbClr val="FF0000"/>
                </a:solidFill>
              </a:rPr>
              <a:t>1 </a:t>
            </a:r>
            <a:r>
              <a:rPr lang="en-US" i="1" dirty="0">
                <a:solidFill>
                  <a:srgbClr val="FF0000"/>
                </a:solidFill>
              </a:rPr>
              <a:t>− α </a:t>
            </a:r>
            <a:r>
              <a:rPr lang="en-US" i="1" dirty="0"/>
              <a:t>is called the </a:t>
            </a:r>
            <a:r>
              <a:rPr lang="en-US" b="1" i="1" dirty="0">
                <a:solidFill>
                  <a:srgbClr val="FF0000"/>
                </a:solidFill>
              </a:rPr>
              <a:t>confidence coefficient</a:t>
            </a:r>
            <a:r>
              <a:rPr lang="en-US" b="1" i="1" dirty="0"/>
              <a:t> or </a:t>
            </a:r>
            <a:r>
              <a:rPr lang="en-US" b="1" i="1" dirty="0">
                <a:solidFill>
                  <a:srgbClr val="FF0000"/>
                </a:solidFill>
              </a:rPr>
              <a:t>the degree of confidence, </a:t>
            </a:r>
            <a:r>
              <a:rPr lang="en-US" b="1" i="1" dirty="0"/>
              <a:t>and </a:t>
            </a:r>
            <a:r>
              <a:rPr lang="en-US" dirty="0"/>
              <a:t>the endpoints, </a:t>
            </a:r>
            <a:r>
              <a:rPr lang="en-US" dirty="0">
                <a:solidFill>
                  <a:srgbClr val="FF0000"/>
                </a:solidFill>
              </a:rPr>
              <a:t>ˆ</a:t>
            </a:r>
            <a:r>
              <a:rPr lang="en-US" i="1" dirty="0" err="1">
                <a:solidFill>
                  <a:srgbClr val="FF0000"/>
                </a:solidFill>
              </a:rPr>
              <a:t>θL</a:t>
            </a:r>
            <a:r>
              <a:rPr lang="en-US" i="1" dirty="0">
                <a:solidFill>
                  <a:srgbClr val="FF0000"/>
                </a:solidFill>
              </a:rPr>
              <a:t> and ˆ</a:t>
            </a:r>
            <a:r>
              <a:rPr lang="en-US" i="1" dirty="0" err="1">
                <a:solidFill>
                  <a:srgbClr val="FF0000"/>
                </a:solidFill>
              </a:rPr>
              <a:t>θU</a:t>
            </a:r>
            <a:r>
              <a:rPr lang="en-US" i="1" dirty="0">
                <a:solidFill>
                  <a:srgbClr val="FF0000"/>
                </a:solidFill>
              </a:rPr>
              <a:t>,</a:t>
            </a:r>
            <a:r>
              <a:rPr lang="en-US" i="1" dirty="0"/>
              <a:t> are called the </a:t>
            </a:r>
            <a:r>
              <a:rPr lang="en-US" i="1" dirty="0">
                <a:solidFill>
                  <a:srgbClr val="FF0000"/>
                </a:solidFill>
              </a:rPr>
              <a:t>lower and upper</a:t>
            </a:r>
            <a:r>
              <a:rPr lang="en-US" i="1" dirty="0"/>
              <a:t> </a:t>
            </a:r>
            <a:r>
              <a:rPr lang="en-US" b="1" i="1" dirty="0"/>
              <a:t>confidence limits.</a:t>
            </a:r>
          </a:p>
          <a:p>
            <a:r>
              <a:rPr lang="en-US" dirty="0"/>
              <a:t>Thus, </a:t>
            </a:r>
            <a:r>
              <a:rPr lang="en-US" dirty="0">
                <a:solidFill>
                  <a:srgbClr val="FF0000"/>
                </a:solidFill>
              </a:rPr>
              <a:t>when </a:t>
            </a:r>
            <a:r>
              <a:rPr lang="en-US" i="1" dirty="0">
                <a:solidFill>
                  <a:srgbClr val="FF0000"/>
                </a:solidFill>
              </a:rPr>
              <a:t>α = 0.05</a:t>
            </a:r>
            <a:r>
              <a:rPr lang="en-US" i="1" dirty="0"/>
              <a:t>, we have a </a:t>
            </a:r>
            <a:r>
              <a:rPr lang="en-US" i="1" dirty="0">
                <a:solidFill>
                  <a:srgbClr val="FF0000"/>
                </a:solidFill>
              </a:rPr>
              <a:t>95% confidence interval</a:t>
            </a:r>
            <a:r>
              <a:rPr lang="en-US" i="1" dirty="0"/>
              <a:t>, and when </a:t>
            </a:r>
            <a:r>
              <a:rPr lang="en-US" i="1" dirty="0">
                <a:solidFill>
                  <a:srgbClr val="FF0000"/>
                </a:solidFill>
              </a:rPr>
              <a:t>α = 0.01</a:t>
            </a:r>
            <a:r>
              <a:rPr lang="en-US" i="1" dirty="0"/>
              <a:t>, we </a:t>
            </a:r>
            <a:r>
              <a:rPr lang="en-US" dirty="0"/>
              <a:t>obtain a </a:t>
            </a:r>
            <a:r>
              <a:rPr lang="en-US" dirty="0">
                <a:solidFill>
                  <a:srgbClr val="FF0000"/>
                </a:solidFill>
              </a:rPr>
              <a:t>wider 99% confidence interval.</a:t>
            </a:r>
            <a:r>
              <a:rPr lang="en-US" dirty="0"/>
              <a:t> </a:t>
            </a:r>
          </a:p>
          <a:p>
            <a:r>
              <a:rPr lang="en-US" dirty="0"/>
              <a:t>The wider the confidence interval is, the more confident we can be that the interval contains the unknown parameter. </a:t>
            </a:r>
          </a:p>
          <a:p>
            <a:r>
              <a:rPr lang="en-US" dirty="0"/>
              <a:t>Of course, it is </a:t>
            </a:r>
            <a:r>
              <a:rPr lang="en-US" dirty="0">
                <a:solidFill>
                  <a:srgbClr val="FF0000"/>
                </a:solidFill>
              </a:rPr>
              <a:t>better</a:t>
            </a:r>
            <a:r>
              <a:rPr lang="en-US" dirty="0"/>
              <a:t> to be </a:t>
            </a:r>
            <a:r>
              <a:rPr lang="en-US" dirty="0">
                <a:solidFill>
                  <a:srgbClr val="FF0000"/>
                </a:solidFill>
              </a:rPr>
              <a:t>95% confident</a:t>
            </a:r>
            <a:r>
              <a:rPr lang="en-US" dirty="0"/>
              <a:t> that the average life of a certain television transistor is </a:t>
            </a:r>
            <a:r>
              <a:rPr lang="en-US" dirty="0">
                <a:solidFill>
                  <a:srgbClr val="FF0000"/>
                </a:solidFill>
              </a:rPr>
              <a:t>between 6 and 7 years</a:t>
            </a:r>
            <a:r>
              <a:rPr lang="en-US" dirty="0"/>
              <a:t> than to be </a:t>
            </a:r>
            <a:r>
              <a:rPr lang="en-US" dirty="0">
                <a:solidFill>
                  <a:srgbClr val="FF0000"/>
                </a:solidFill>
              </a:rPr>
              <a:t>99% confident</a:t>
            </a:r>
            <a:r>
              <a:rPr lang="en-US" dirty="0"/>
              <a:t> that it is </a:t>
            </a:r>
            <a:r>
              <a:rPr lang="en-US" dirty="0">
                <a:solidFill>
                  <a:srgbClr val="FF0000"/>
                </a:solidFill>
              </a:rPr>
              <a:t>between 3 and 10 years</a:t>
            </a:r>
            <a:r>
              <a:rPr lang="en-US" dirty="0"/>
              <a:t>.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257425"/>
            <a:ext cx="3590674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Sample: Estimating the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sampling distribution of </a:t>
            </a:r>
            <a:r>
              <a:rPr lang="en-US" sz="2400" dirty="0"/>
              <a:t>x̅  </a:t>
            </a:r>
            <a:r>
              <a:rPr lang="en-US" i="1" dirty="0"/>
              <a:t> is centered at μ.</a:t>
            </a:r>
          </a:p>
          <a:p>
            <a:r>
              <a:rPr lang="en-US" dirty="0"/>
              <a:t>Thus, the sample mean </a:t>
            </a:r>
            <a:r>
              <a:rPr lang="en-US" sz="2800" dirty="0"/>
              <a:t>x̅</a:t>
            </a:r>
            <a:r>
              <a:rPr lang="en-US" i="1" dirty="0"/>
              <a:t> will be used as a point estimate for the population mean μ.</a:t>
            </a:r>
          </a:p>
          <a:p>
            <a:r>
              <a:rPr lang="el-GR" i="1" dirty="0"/>
              <a:t>σ</a:t>
            </a:r>
            <a:r>
              <a:rPr lang="el-GR" i="1" baseline="30000" dirty="0"/>
              <a:t>2</a:t>
            </a:r>
            <a:r>
              <a:rPr lang="en-US" sz="2400" baseline="-25000" dirty="0"/>
              <a:t>x̅</a:t>
            </a:r>
            <a:r>
              <a:rPr lang="en-US" i="1" baseline="-25000" dirty="0"/>
              <a:t>  </a:t>
            </a:r>
            <a:r>
              <a:rPr lang="el-GR" dirty="0"/>
              <a:t>= </a:t>
            </a:r>
            <a:r>
              <a:rPr lang="el-GR" i="1" dirty="0"/>
              <a:t>σ</a:t>
            </a:r>
            <a:r>
              <a:rPr lang="el-GR" i="1" baseline="30000" dirty="0"/>
              <a:t>2</a:t>
            </a:r>
            <a:r>
              <a:rPr lang="el-GR" i="1" dirty="0"/>
              <a:t>/</a:t>
            </a:r>
            <a:r>
              <a:rPr lang="en-US" i="1" dirty="0"/>
              <a:t>n</a:t>
            </a:r>
          </a:p>
          <a:p>
            <a:r>
              <a:rPr lang="en-US" dirty="0"/>
              <a:t>If </a:t>
            </a:r>
            <a:r>
              <a:rPr lang="en-US" i="1" dirty="0"/>
              <a:t>n is sufficiently large, we can establish a </a:t>
            </a:r>
            <a:r>
              <a:rPr lang="en-US" dirty="0"/>
              <a:t>confidence interval for </a:t>
            </a:r>
            <a:r>
              <a:rPr lang="en-US" i="1" dirty="0"/>
              <a:t>μ by considering the sampling distribution of </a:t>
            </a:r>
            <a:r>
              <a:rPr lang="en-US" sz="2400" dirty="0"/>
              <a:t>x̅</a:t>
            </a:r>
            <a:r>
              <a:rPr lang="en-US" i="1" dirty="0"/>
              <a:t>.</a:t>
            </a:r>
          </a:p>
          <a:p>
            <a:r>
              <a:rPr lang="en-US" dirty="0"/>
              <a:t>According to the Central Limit Theorem, the sampling distribution of</a:t>
            </a:r>
            <a:r>
              <a:rPr lang="en-US" sz="2400" dirty="0"/>
              <a:t> x̅</a:t>
            </a:r>
            <a:r>
              <a:rPr lang="en-US" i="1" dirty="0"/>
              <a:t> to be approximately normally distributed with mean </a:t>
            </a:r>
            <a:r>
              <a:rPr lang="en-US" i="1" dirty="0" err="1">
                <a:solidFill>
                  <a:srgbClr val="FF0000"/>
                </a:solidFill>
              </a:rPr>
              <a:t>μ</a:t>
            </a:r>
            <a:r>
              <a:rPr lang="en-US" sz="2400" baseline="-25000" dirty="0" err="1">
                <a:solidFill>
                  <a:srgbClr val="FF0000"/>
                </a:solidFill>
              </a:rPr>
              <a:t>x</a:t>
            </a:r>
            <a:r>
              <a:rPr lang="en-US" sz="2400" baseline="-25000" dirty="0">
                <a:solidFill>
                  <a:srgbClr val="FF0000"/>
                </a:solidFill>
              </a:rPr>
              <a:t>̅</a:t>
            </a:r>
            <a:r>
              <a:rPr lang="en-US" i="1" baseline="-25000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= μ </a:t>
            </a:r>
            <a:r>
              <a:rPr lang="en-US" i="1" dirty="0"/>
              <a:t>and </a:t>
            </a:r>
            <a:r>
              <a:rPr lang="fr-FR" dirty="0"/>
              <a:t>standard </a:t>
            </a:r>
            <a:r>
              <a:rPr lang="fr-FR" dirty="0" err="1"/>
              <a:t>deviation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i="1" dirty="0">
                <a:solidFill>
                  <a:srgbClr val="FF0000"/>
                </a:solidFill>
              </a:rPr>
              <a:t>σ</a:t>
            </a:r>
            <a:r>
              <a:rPr lang="en-US" sz="2800" baseline="-25000" dirty="0">
                <a:solidFill>
                  <a:srgbClr val="FF0000"/>
                </a:solidFill>
              </a:rPr>
              <a:t>x̅</a:t>
            </a:r>
            <a:r>
              <a:rPr lang="en-US" i="1" baseline="-25000" dirty="0">
                <a:solidFill>
                  <a:srgbClr val="FF0000"/>
                </a:solidFill>
              </a:rPr>
              <a:t> </a:t>
            </a:r>
            <a:r>
              <a:rPr lang="fr-FR" i="1" dirty="0">
                <a:solidFill>
                  <a:srgbClr val="FF0000"/>
                </a:solidFill>
              </a:rPr>
              <a:t> = σ/</a:t>
            </a:r>
            <a:r>
              <a:rPr lang="en-US" i="1" dirty="0">
                <a:solidFill>
                  <a:srgbClr val="FF0000"/>
                </a:solidFill>
              </a:rPr>
              <a:t>√n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213531"/>
            <a:ext cx="4724400" cy="252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941" y="3495675"/>
            <a:ext cx="5743459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2612496"/>
            <a:ext cx="1905000" cy="104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Sample: Estimating</a:t>
            </a:r>
            <a:br>
              <a:rPr lang="en-US" dirty="0"/>
            </a:br>
            <a:r>
              <a:rPr lang="en-US" dirty="0"/>
              <a:t> the Mean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2051050"/>
            <a:ext cx="50292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4724400"/>
            <a:ext cx="5712031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42167" t="11458" r="18594" b="6250"/>
          <a:stretch>
            <a:fillRect/>
          </a:stretch>
        </p:blipFill>
        <p:spPr bwMode="auto">
          <a:xfrm>
            <a:off x="2168323" y="0"/>
            <a:ext cx="581627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42167" t="16667" r="18594" b="6250"/>
          <a:stretch>
            <a:fillRect/>
          </a:stretch>
        </p:blipFill>
        <p:spPr bwMode="auto">
          <a:xfrm>
            <a:off x="2133600" y="0"/>
            <a:ext cx="6248400" cy="6901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Interval when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</a:rPr>
              <a:t>Confidence Interval on </a:t>
            </a:r>
            <a:r>
              <a:rPr lang="el-GR" i="1" u="sng" dirty="0">
                <a:solidFill>
                  <a:srgbClr val="FF0000"/>
                </a:solidFill>
              </a:rPr>
              <a:t>μ, σ</a:t>
            </a:r>
            <a:r>
              <a:rPr lang="el-GR" i="1" u="sng" baseline="30000" dirty="0">
                <a:solidFill>
                  <a:srgbClr val="FF0000"/>
                </a:solidFill>
              </a:rPr>
              <a:t>2</a:t>
            </a:r>
            <a:r>
              <a:rPr lang="en-US" i="1" u="sng" dirty="0">
                <a:solidFill>
                  <a:srgbClr val="FF0000"/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Known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362200"/>
            <a:ext cx="813581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7239000" cy="6227136"/>
          </a:xfrm>
        </p:spPr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The average zinc concentration recovered from a sample of measurements taken in 36 different locations in a river is found to be 2.6 grams per milliliter. Find the 95% and 99% confidence intervals for the mean zinc concentration in the </a:t>
            </a:r>
            <a:r>
              <a:rPr lang="en-US" sz="2000" dirty="0" err="1"/>
              <a:t>river.Assume</a:t>
            </a:r>
            <a:r>
              <a:rPr lang="en-US" sz="2000" dirty="0"/>
              <a:t> that the population standard deviation is 0.3 gram per milliliter.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Solution:</a:t>
            </a:r>
            <a:r>
              <a:rPr lang="en-US" sz="2000" dirty="0"/>
              <a:t> The point estimate of </a:t>
            </a:r>
            <a:r>
              <a:rPr lang="en-US" sz="2000" i="1" dirty="0"/>
              <a:t>μ is  </a:t>
            </a:r>
            <a:r>
              <a:rPr lang="en-US" sz="2000" dirty="0"/>
              <a:t>x̅ </a:t>
            </a:r>
            <a:r>
              <a:rPr lang="en-US" sz="2000" i="1" dirty="0"/>
              <a:t>= 2.6. </a:t>
            </a:r>
          </a:p>
          <a:p>
            <a:pPr>
              <a:buNone/>
            </a:pPr>
            <a:r>
              <a:rPr lang="en-US" sz="2000" i="1" dirty="0"/>
              <a:t>	</a:t>
            </a:r>
            <a:r>
              <a:rPr lang="en-US" sz="2000" dirty="0"/>
              <a:t> </a:t>
            </a:r>
            <a:r>
              <a:rPr lang="en-US" sz="2000" i="1" dirty="0"/>
              <a:t>z 0.025 = 1.96 (Table A.3). Hence, </a:t>
            </a:r>
            <a:r>
              <a:rPr lang="en-US" sz="2000" dirty="0"/>
              <a:t>the 95% confidence interval is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To find a 99% confidence interval, </a:t>
            </a:r>
            <a:r>
              <a:rPr lang="en-US" sz="2000" i="1" dirty="0"/>
              <a:t>z0.005 = 2.575, and the 99% confidence interval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48025"/>
            <a:ext cx="40671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3984538"/>
            <a:ext cx="2286000" cy="339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5257800"/>
            <a:ext cx="53054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05000"/>
            <a:ext cx="787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505200"/>
            <a:ext cx="8059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Example: How large a sample is required if we want to be 95% confident that our estimate of </a:t>
            </a:r>
            <a:r>
              <a:rPr lang="en-US" i="1" dirty="0"/>
              <a:t>μ in previous example is off by less than 0.05?</a:t>
            </a:r>
          </a:p>
          <a:p>
            <a:r>
              <a:rPr lang="en-US" b="1" i="1" dirty="0"/>
              <a:t>Solution : The population standard deviation is </a:t>
            </a:r>
            <a:r>
              <a:rPr lang="el-GR" b="1" i="1" dirty="0"/>
              <a:t>σ = 0.3.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419600"/>
            <a:ext cx="754257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One-Sided Confidence Bounds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00200"/>
            <a:ext cx="76392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07" y="4176713"/>
            <a:ext cx="9100293" cy="191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7239000" cy="6227136"/>
          </a:xfrm>
        </p:spPr>
        <p:txBody>
          <a:bodyPr/>
          <a:lstStyle/>
          <a:p>
            <a:pPr>
              <a:buNone/>
            </a:pPr>
            <a:r>
              <a:rPr lang="en-US" b="1" dirty="0"/>
              <a:t>	Example: </a:t>
            </a:r>
            <a:r>
              <a:rPr lang="en-US" dirty="0"/>
              <a:t>In a psychological testing experiment, 25 subjects are selected randomly and their reaction time, in seconds, to a particular stimulus is measured. Past experience suggests that the variance in reaction times to these types of stimuli is 4 sec</a:t>
            </a:r>
            <a:r>
              <a:rPr lang="en-US" baseline="30000" dirty="0"/>
              <a:t>2</a:t>
            </a:r>
            <a:r>
              <a:rPr lang="en-US" dirty="0"/>
              <a:t> and that the distribution of reaction times is approximately normal. The average time for the subjects is 6.2 seconds. Give an upper 95% bound for the mean reaction time.</a:t>
            </a:r>
          </a:p>
          <a:p>
            <a:r>
              <a:rPr lang="en-US" b="1" i="1" dirty="0"/>
              <a:t>Solution : The upper 95% bound is given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5270067"/>
            <a:ext cx="6553200" cy="1359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620000" cy="11430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(BODY)"/>
              </a:rPr>
              <a:t>The Case of </a:t>
            </a:r>
            <a:r>
              <a:rPr lang="en-US" sz="3200" i="1" dirty="0">
                <a:latin typeface="Trebuchet MS(BODY)"/>
              </a:rPr>
              <a:t>Unknown POPULATION STANDARD DEVIATION</a:t>
            </a:r>
            <a:endParaRPr lang="en-US" sz="3200" dirty="0">
              <a:latin typeface="Trebuchet MS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239000" cy="48463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2400" dirty="0"/>
              <a:t>If we have a random sample from a </a:t>
            </a:r>
            <a:r>
              <a:rPr lang="en-US" sz="2400" i="1" dirty="0"/>
              <a:t>normal distribution, then the random variable </a:t>
            </a:r>
            <a:r>
              <a:rPr lang="en-US" sz="2400" dirty="0"/>
              <a:t>has a Student </a:t>
            </a:r>
            <a:r>
              <a:rPr lang="en-US" sz="2400" i="1" dirty="0"/>
              <a:t>t-distribution with n − 1 degrees of freedom. Here S is the sample </a:t>
            </a:r>
            <a:r>
              <a:rPr lang="en-US" sz="2400" dirty="0"/>
              <a:t>standard deviation. In this situation, with </a:t>
            </a:r>
            <a:r>
              <a:rPr lang="en-US" sz="2400" i="1" dirty="0"/>
              <a:t>σ unknown, T can be used to construct </a:t>
            </a:r>
            <a:r>
              <a:rPr lang="en-US" sz="2400" dirty="0"/>
              <a:t>a confidence interval on </a:t>
            </a:r>
            <a:r>
              <a:rPr lang="en-US" sz="2400" i="1" dirty="0"/>
              <a:t>μ.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886200"/>
            <a:ext cx="1447800" cy="71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1999" y="4495800"/>
            <a:ext cx="321212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5105400"/>
            <a:ext cx="3429000" cy="69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6019800"/>
            <a:ext cx="423722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Interval when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</a:rPr>
              <a:t>Confidence Interval on </a:t>
            </a:r>
            <a:r>
              <a:rPr lang="el-GR" i="1" u="sng" dirty="0">
                <a:solidFill>
                  <a:srgbClr val="FF0000"/>
                </a:solidFill>
              </a:rPr>
              <a:t>μ, σ</a:t>
            </a:r>
            <a:r>
              <a:rPr lang="el-GR" i="1" u="sng" baseline="30000" dirty="0">
                <a:solidFill>
                  <a:srgbClr val="FF0000"/>
                </a:solidFill>
              </a:rPr>
              <a:t>2</a:t>
            </a:r>
            <a:r>
              <a:rPr lang="en-US" i="1" u="sng" dirty="0">
                <a:solidFill>
                  <a:srgbClr val="FF0000"/>
                </a:solidFill>
              </a:rPr>
              <a:t> unk</a:t>
            </a:r>
            <a:r>
              <a:rPr lang="en-US" u="sng" dirty="0">
                <a:solidFill>
                  <a:srgbClr val="FF0000"/>
                </a:solidFill>
              </a:rPr>
              <a:t>nown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28888"/>
            <a:ext cx="8197394" cy="2271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One-sided confidence interval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11" y="2438400"/>
            <a:ext cx="853038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Unbiased Sample variance</a:t>
            </a:r>
            <a:endParaRPr lang="en-US" baseline="30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599" y="1828800"/>
            <a:ext cx="7910801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8597" y="4210050"/>
            <a:ext cx="4843203" cy="15049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45095" t="17708" r="22694" b="6250"/>
          <a:stretch>
            <a:fillRect/>
          </a:stretch>
        </p:blipFill>
        <p:spPr bwMode="auto">
          <a:xfrm>
            <a:off x="533400" y="-1"/>
            <a:ext cx="6400800" cy="7086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43338" t="18750" r="20937" b="8333"/>
          <a:stretch>
            <a:fillRect/>
          </a:stretch>
        </p:blipFill>
        <p:spPr bwMode="auto">
          <a:xfrm>
            <a:off x="1333288" y="0"/>
            <a:ext cx="62867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239000" cy="6150936"/>
          </a:xfrm>
        </p:spPr>
        <p:txBody>
          <a:bodyPr/>
          <a:lstStyle/>
          <a:p>
            <a:pPr>
              <a:buNone/>
            </a:pPr>
            <a:r>
              <a:rPr lang="en-US" dirty="0"/>
              <a:t>	Example: The contents of seven similar containers of sulfuric acid are 9.8, 10.2, 10.4, 9.8, 10.0, 10.2, and 9.6 liters. Find a 95% confidence interval for the mean contents of all such containers, assuming an approximately normal distribution.</a:t>
            </a:r>
          </a:p>
          <a:p>
            <a:pPr>
              <a:buNone/>
            </a:pPr>
            <a:r>
              <a:rPr lang="en-US" dirty="0"/>
              <a:t>	Solution: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352800"/>
            <a:ext cx="76962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953000"/>
            <a:ext cx="7391400" cy="1750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Concept of a Large-Sample 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Often statisticians recommend that even when normality cannot be assumed, </a:t>
            </a:r>
            <a:r>
              <a:rPr lang="en-US" i="1" dirty="0">
                <a:solidFill>
                  <a:srgbClr val="FF0000"/>
                </a:solidFill>
              </a:rPr>
              <a:t>σ is </a:t>
            </a:r>
            <a:r>
              <a:rPr lang="en-US" dirty="0">
                <a:solidFill>
                  <a:srgbClr val="FF0000"/>
                </a:solidFill>
              </a:rPr>
              <a:t>unknown, and </a:t>
            </a:r>
            <a:r>
              <a:rPr lang="en-US" i="1" dirty="0">
                <a:solidFill>
                  <a:srgbClr val="FF0000"/>
                </a:solidFill>
              </a:rPr>
              <a:t>n ≥ 30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s</a:t>
            </a:r>
            <a:r>
              <a:rPr lang="en-US" i="1" dirty="0"/>
              <a:t> can </a:t>
            </a:r>
            <a:r>
              <a:rPr lang="en-US" i="1" dirty="0">
                <a:solidFill>
                  <a:srgbClr val="FF0000"/>
                </a:solidFill>
              </a:rPr>
              <a:t>replace σ</a:t>
            </a:r>
            <a:r>
              <a:rPr lang="en-US" i="1" dirty="0"/>
              <a:t> and the confidence interval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7276" y="3429000"/>
            <a:ext cx="27257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7239000" cy="6150936"/>
          </a:xfrm>
        </p:spPr>
        <p:txBody>
          <a:bodyPr/>
          <a:lstStyle/>
          <a:p>
            <a:pPr>
              <a:buNone/>
            </a:pPr>
            <a:r>
              <a:rPr lang="en-US" dirty="0"/>
              <a:t>	Example: Scholastic Aptitude Test (SAT) mathematics scores of a random sample of 500 high school seniors in the state of Texas are collected, and the sample mean and standard deviation are found to be 501 and 112, respectively. Find a 99% confidence interval on the mean SAT mathematics score for seniors in the state of Texas.</a:t>
            </a:r>
          </a:p>
          <a:p>
            <a:pPr>
              <a:buNone/>
            </a:pPr>
            <a:r>
              <a:rPr lang="en-US" dirty="0"/>
              <a:t>	Solution: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038600"/>
            <a:ext cx="7670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495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Confidence Interval on </a:t>
            </a:r>
            <a:r>
              <a:rPr lang="el-GR" b="1" i="1" u="sng" dirty="0">
                <a:solidFill>
                  <a:srgbClr val="FF0000"/>
                </a:solidFill>
              </a:rPr>
              <a:t>μ, σ</a:t>
            </a:r>
            <a:r>
              <a:rPr lang="el-GR" b="1" i="1" u="sng" baseline="30000" dirty="0">
                <a:solidFill>
                  <a:srgbClr val="FF0000"/>
                </a:solidFill>
              </a:rPr>
              <a:t>2</a:t>
            </a:r>
            <a:r>
              <a:rPr lang="en-US" b="1" i="1" u="sng" dirty="0">
                <a:solidFill>
                  <a:srgbClr val="FF0000"/>
                </a:solidFill>
              </a:rPr>
              <a:t> </a:t>
            </a:r>
            <a:r>
              <a:rPr lang="en-US" b="1" u="sng" dirty="0">
                <a:solidFill>
                  <a:srgbClr val="FF0000"/>
                </a:solidFill>
              </a:rPr>
              <a:t>Known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9715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228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" y="990600"/>
            <a:ext cx="6849035" cy="609600"/>
          </a:xfrm>
          <a:prstGeom prst="rect">
            <a:avLst/>
          </a:prstGeom>
          <a:noFill/>
        </p:spPr>
      </p:pic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781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1905000"/>
            <a:ext cx="2971800" cy="715934"/>
          </a:xfrm>
          <a:prstGeom prst="rect">
            <a:avLst/>
          </a:prstGeom>
          <a:noFill/>
        </p:spPr>
      </p:pic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0" y="962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0" y="1000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0" y="962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90" name="Picture 18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399" y="3810000"/>
            <a:ext cx="4917057" cy="685800"/>
          </a:xfrm>
          <a:prstGeom prst="rect">
            <a:avLst/>
          </a:prstGeom>
          <a:noFill/>
        </p:spPr>
      </p:pic>
      <p:sp>
        <p:nvSpPr>
          <p:cNvPr id="3092" name="Rectangle 20"/>
          <p:cNvSpPr>
            <a:spLocks noChangeArrowheads="1"/>
          </p:cNvSpPr>
          <p:nvPr/>
        </p:nvSpPr>
        <p:spPr bwMode="auto">
          <a:xfrm>
            <a:off x="0" y="962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94" name="Rectangle 2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93" name="Picture 2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" y="4876800"/>
            <a:ext cx="4359215" cy="609600"/>
          </a:xfrm>
          <a:prstGeom prst="rect">
            <a:avLst/>
          </a:prstGeom>
          <a:noFill/>
        </p:spPr>
      </p:pic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0" y="962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2743200"/>
            <a:ext cx="3733800" cy="628009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9810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Confidence Interval on </a:t>
            </a:r>
            <a:r>
              <a:rPr lang="el-GR" b="1" i="1" u="sng" dirty="0">
                <a:solidFill>
                  <a:srgbClr val="FF0000"/>
                </a:solidFill>
              </a:rPr>
              <a:t>μ, σ</a:t>
            </a:r>
            <a:r>
              <a:rPr lang="el-GR" b="1" i="1" u="sng" baseline="30000" dirty="0">
                <a:solidFill>
                  <a:srgbClr val="FF0000"/>
                </a:solidFill>
              </a:rPr>
              <a:t>2</a:t>
            </a:r>
            <a:r>
              <a:rPr lang="en-US" b="1" i="1" u="sng" dirty="0">
                <a:solidFill>
                  <a:srgbClr val="FF0000"/>
                </a:solidFill>
              </a:rPr>
              <a:t> unk</a:t>
            </a:r>
            <a:r>
              <a:rPr lang="en-US" b="1" u="sng" dirty="0">
                <a:solidFill>
                  <a:srgbClr val="FF0000"/>
                </a:solidFill>
              </a:rPr>
              <a:t>nown and n&lt;30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990600"/>
            <a:ext cx="7772400" cy="685800"/>
          </a:xfrm>
          <a:prstGeom prst="rect">
            <a:avLst/>
          </a:prstGeom>
          <a:noFill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2057400"/>
            <a:ext cx="4223349" cy="895350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6799" y="3617310"/>
            <a:ext cx="5959415" cy="726090"/>
          </a:xfrm>
          <a:prstGeom prst="rect">
            <a:avLst/>
          </a:prstGeom>
          <a:noFill/>
        </p:spPr>
      </p:pic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4343400"/>
            <a:ext cx="6019800" cy="685800"/>
          </a:xfrm>
          <a:prstGeom prst="rect">
            <a:avLst/>
          </a:prstGeom>
          <a:noFill/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781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17430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2705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3667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462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75166" y="5562600"/>
            <a:ext cx="4168833" cy="1295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2895600"/>
            <a:ext cx="3581400" cy="596900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9810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04800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Confidence Interval on </a:t>
            </a:r>
            <a:r>
              <a:rPr lang="el-GR" b="1" i="1" u="sng" dirty="0">
                <a:solidFill>
                  <a:srgbClr val="FF0000"/>
                </a:solidFill>
              </a:rPr>
              <a:t>μ, σ</a:t>
            </a:r>
            <a:r>
              <a:rPr lang="el-GR" b="1" i="1" u="sng" baseline="30000" dirty="0">
                <a:solidFill>
                  <a:srgbClr val="FF0000"/>
                </a:solidFill>
              </a:rPr>
              <a:t>2</a:t>
            </a:r>
            <a:r>
              <a:rPr lang="en-US" b="1" i="1" u="sng" dirty="0">
                <a:solidFill>
                  <a:srgbClr val="FF0000"/>
                </a:solidFill>
              </a:rPr>
              <a:t> unk</a:t>
            </a:r>
            <a:r>
              <a:rPr lang="en-US" b="1" u="sng" dirty="0">
                <a:solidFill>
                  <a:srgbClr val="FF0000"/>
                </a:solidFill>
              </a:rPr>
              <a:t>nown and n≥30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9715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1000" y="1219200"/>
            <a:ext cx="5136776" cy="457200"/>
          </a:xfrm>
          <a:prstGeom prst="rect">
            <a:avLst/>
          </a:prstGeom>
          <a:noFill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2057400"/>
            <a:ext cx="2728104" cy="657225"/>
          </a:xfrm>
          <a:prstGeom prst="rect">
            <a:avLst/>
          </a:prstGeom>
          <a:noFill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3810000"/>
            <a:ext cx="5258519" cy="733425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4572000"/>
            <a:ext cx="5449022" cy="762000"/>
          </a:xfrm>
          <a:prstGeom prst="rect">
            <a:avLst/>
          </a:prstGeom>
          <a:noFill/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781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2705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-76200" y="4629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75166" y="5562600"/>
            <a:ext cx="4168833" cy="1295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" y="2895600"/>
            <a:ext cx="3505200" cy="580681"/>
          </a:xfrm>
          <a:prstGeom prst="rect">
            <a:avLst/>
          </a:prstGeom>
          <a:noFill/>
        </p:spPr>
      </p:pic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9810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9.2</a:t>
            </a:r>
          </a:p>
          <a:p>
            <a:pPr>
              <a:buNone/>
            </a:pPr>
            <a:r>
              <a:rPr lang="en-US" dirty="0"/>
              <a:t>9.3</a:t>
            </a:r>
          </a:p>
          <a:p>
            <a:pPr>
              <a:buNone/>
            </a:pPr>
            <a:r>
              <a:rPr lang="en-US" dirty="0"/>
              <a:t>9.4</a:t>
            </a:r>
          </a:p>
          <a:p>
            <a:pPr>
              <a:buNone/>
            </a:pPr>
            <a:r>
              <a:rPr lang="en-US" dirty="0"/>
              <a:t>9.5</a:t>
            </a:r>
          </a:p>
          <a:p>
            <a:pPr>
              <a:buNone/>
            </a:pPr>
            <a:r>
              <a:rPr lang="en-US" dirty="0"/>
              <a:t>9.6</a:t>
            </a:r>
          </a:p>
          <a:p>
            <a:pPr>
              <a:buNone/>
            </a:pPr>
            <a:r>
              <a:rPr lang="en-US" dirty="0"/>
              <a:t>9.7</a:t>
            </a:r>
          </a:p>
          <a:p>
            <a:pPr>
              <a:buNone/>
            </a:pPr>
            <a:r>
              <a:rPr lang="en-US" dirty="0"/>
              <a:t>9.9</a:t>
            </a:r>
          </a:p>
          <a:p>
            <a:pPr>
              <a:buNone/>
            </a:pPr>
            <a:r>
              <a:rPr lang="en-US" dirty="0"/>
              <a:t>9.11</a:t>
            </a:r>
          </a:p>
          <a:p>
            <a:pPr>
              <a:buNone/>
            </a:pPr>
            <a:r>
              <a:rPr lang="en-US"/>
              <a:t>9.12</a:t>
            </a:r>
            <a:endParaRPr lang="en-US" dirty="0"/>
          </a:p>
          <a:p>
            <a:pPr>
              <a:buNone/>
            </a:pPr>
            <a:r>
              <a:rPr lang="en-US" dirty="0"/>
              <a:t>9.14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939</TotalTime>
  <Words>1006</Words>
  <Application>Microsoft Office PowerPoint</Application>
  <PresentationFormat>On-screen Show (4:3)</PresentationFormat>
  <Paragraphs>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Trebuchet MS</vt:lpstr>
      <vt:lpstr>Trebuchet MS(BODY)</vt:lpstr>
      <vt:lpstr>Wingdings</vt:lpstr>
      <vt:lpstr>Wingdings 2</vt:lpstr>
      <vt:lpstr>Opulent</vt:lpstr>
      <vt:lpstr>Estimation of parameters</vt:lpstr>
      <vt:lpstr>Statistical Inference</vt:lpstr>
      <vt:lpstr>Point Estimation</vt:lpstr>
      <vt:lpstr>Interval estimation</vt:lpstr>
      <vt:lpstr>Interval estimation</vt:lpstr>
      <vt:lpstr>Single Sample: Estimating the Mean</vt:lpstr>
      <vt:lpstr>Single Sample: Estimating  the Mean</vt:lpstr>
      <vt:lpstr>PowerPoint Presentation</vt:lpstr>
      <vt:lpstr>PowerPoint Presentation</vt:lpstr>
      <vt:lpstr>Confidence Interval when </vt:lpstr>
      <vt:lpstr>PowerPoint Presentation</vt:lpstr>
      <vt:lpstr>PowerPoint Presentation</vt:lpstr>
      <vt:lpstr> </vt:lpstr>
      <vt:lpstr>One-Sided Confidence Bounds</vt:lpstr>
      <vt:lpstr>PowerPoint Presentation</vt:lpstr>
      <vt:lpstr>The Case of Unknown POPULATION STANDARD DEVIATION</vt:lpstr>
      <vt:lpstr>Confidence Interval when </vt:lpstr>
      <vt:lpstr>One-sided confidence interval</vt:lpstr>
      <vt:lpstr>Unbiased Sample variance</vt:lpstr>
      <vt:lpstr>PowerPoint Presentation</vt:lpstr>
      <vt:lpstr>PowerPoint Presentation</vt:lpstr>
      <vt:lpstr>PowerPoint Presentation</vt:lpstr>
      <vt:lpstr>Concept of a Large-Sample Confidence Interval</vt:lpstr>
      <vt:lpstr>PowerPoint Presentation</vt:lpstr>
      <vt:lpstr>PowerPoint Presentation</vt:lpstr>
      <vt:lpstr>PowerPoint Presentation</vt:lpstr>
      <vt:lpstr>PowerPoint Presentation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Estimation of parameters</dc:title>
  <dc:creator>shahjee</dc:creator>
  <cp:lastModifiedBy>amna humayun</cp:lastModifiedBy>
  <cp:revision>63</cp:revision>
  <dcterms:created xsi:type="dcterms:W3CDTF">2015-12-01T12:46:35Z</dcterms:created>
  <dcterms:modified xsi:type="dcterms:W3CDTF">2024-05-13T18:30:01Z</dcterms:modified>
</cp:coreProperties>
</file>