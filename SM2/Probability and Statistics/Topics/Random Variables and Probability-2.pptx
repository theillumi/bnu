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256" r:id="rId2"/>
    <p:sldId id="280" r:id="rId3"/>
    <p:sldId id="279" r:id="rId4"/>
    <p:sldId id="281" r:id="rId5"/>
    <p:sldId id="282" r:id="rId6"/>
    <p:sldId id="299" r:id="rId7"/>
    <p:sldId id="284" r:id="rId8"/>
    <p:sldId id="286" r:id="rId9"/>
    <p:sldId id="285" r:id="rId10"/>
    <p:sldId id="287" r:id="rId11"/>
    <p:sldId id="288" r:id="rId12"/>
    <p:sldId id="293" r:id="rId13"/>
    <p:sldId id="294" r:id="rId14"/>
    <p:sldId id="295" r:id="rId15"/>
    <p:sldId id="29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4624" autoAdjust="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01B96-410F-42A2-BB8E-94C6E1F74BD2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B7DB2-F30A-4C10-A919-E1EBC7D8E0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844F349-08D4-4F5C-A130-6BEC302C0C43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Random Variables and Probability</a:t>
            </a:r>
            <a:br>
              <a:rPr lang="en-US" b="1" dirty="0"/>
            </a:br>
            <a:r>
              <a:rPr lang="en-US" b="1" dirty="0"/>
              <a:t>Distributions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Joint Probability Distributions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Joint Probability Distributions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If </a:t>
            </a:r>
            <a:r>
              <a:rPr lang="en-US" i="1" dirty="0"/>
              <a:t>X and Y are </a:t>
            </a:r>
            <a:r>
              <a:rPr lang="en-US" i="1" dirty="0">
                <a:solidFill>
                  <a:srgbClr val="FF0000"/>
                </a:solidFill>
              </a:rPr>
              <a:t>two discrete random variables, </a:t>
            </a:r>
            <a:r>
              <a:rPr lang="en-US" i="1" dirty="0"/>
              <a:t>the probability distribution for </a:t>
            </a:r>
            <a:r>
              <a:rPr lang="en-US" dirty="0"/>
              <a:t>their </a:t>
            </a:r>
            <a:r>
              <a:rPr lang="en-US" dirty="0">
                <a:solidFill>
                  <a:srgbClr val="FF0000"/>
                </a:solidFill>
              </a:rPr>
              <a:t>simultaneous occurrence</a:t>
            </a:r>
            <a:r>
              <a:rPr lang="en-US" dirty="0"/>
              <a:t> can be represented by a function with values </a:t>
            </a:r>
            <a:r>
              <a:rPr lang="en-US" i="1" dirty="0">
                <a:solidFill>
                  <a:srgbClr val="FF0000"/>
                </a:solidFill>
              </a:rPr>
              <a:t>f(x, y</a:t>
            </a:r>
            <a:r>
              <a:rPr lang="en-US" i="1" dirty="0"/>
              <a:t>) </a:t>
            </a:r>
            <a:r>
              <a:rPr lang="en-US" dirty="0"/>
              <a:t>for any pair of values (</a:t>
            </a:r>
            <a:r>
              <a:rPr lang="en-US" i="1" dirty="0"/>
              <a:t>x, y) within the range of the random variables X and Y . </a:t>
            </a:r>
          </a:p>
          <a:p>
            <a:pPr>
              <a:buNone/>
            </a:pPr>
            <a:r>
              <a:rPr lang="en-US" i="1" dirty="0"/>
              <a:t>	It </a:t>
            </a:r>
            <a:r>
              <a:rPr lang="en-US" dirty="0"/>
              <a:t>is customary to refer to this function as the </a:t>
            </a:r>
            <a:r>
              <a:rPr lang="en-US" b="1" dirty="0">
                <a:solidFill>
                  <a:srgbClr val="FF0000"/>
                </a:solidFill>
              </a:rPr>
              <a:t>joint probability distribution o</a:t>
            </a:r>
            <a:r>
              <a:rPr lang="en-US" b="1" dirty="0"/>
              <a:t>f </a:t>
            </a:r>
            <a:r>
              <a:rPr lang="en-US" i="1" dirty="0"/>
              <a:t>X and Y .</a:t>
            </a:r>
          </a:p>
          <a:p>
            <a:pPr>
              <a:buNone/>
            </a:pPr>
            <a:r>
              <a:rPr lang="en-US" dirty="0"/>
              <a:t>	Hence, in the discrete case,</a:t>
            </a:r>
          </a:p>
          <a:p>
            <a:pPr>
              <a:buNone/>
            </a:pPr>
            <a:r>
              <a:rPr lang="es-ES" i="1" dirty="0"/>
              <a:t>	</a:t>
            </a:r>
            <a:r>
              <a:rPr lang="es-ES" i="1" dirty="0">
                <a:solidFill>
                  <a:srgbClr val="FF0000"/>
                </a:solidFill>
              </a:rPr>
              <a:t>f(x, y) = P(X = x, Y = y);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/>
              <a:t>Joint Probability Distributions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312" y="2209800"/>
            <a:ext cx="8877488" cy="3276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lang="en-US" sz="1800" b="1" dirty="0">
                <a:solidFill>
                  <a:srgbClr val="FF0000"/>
                </a:solidFill>
              </a:rPr>
              <a:t>Example:</a:t>
            </a:r>
            <a:r>
              <a:rPr lang="en-US" sz="1800" b="1" dirty="0"/>
              <a:t> </a:t>
            </a:r>
            <a:r>
              <a:rPr lang="en-US" sz="2400" b="1" dirty="0"/>
              <a:t>Two ballpoint pens are selected at random from a box that contains 3 blue pens, 2 red pens, and 3 green pens. If </a:t>
            </a:r>
            <a:r>
              <a:rPr lang="en-US" sz="2400" b="1" i="1" dirty="0"/>
              <a:t>X is the number of blue pens selected and Y is </a:t>
            </a:r>
            <a:r>
              <a:rPr lang="en-US" sz="2400" b="1" dirty="0"/>
              <a:t>the number of red pens selected, find</a:t>
            </a:r>
          </a:p>
          <a:p>
            <a:pPr>
              <a:buNone/>
            </a:pPr>
            <a:r>
              <a:rPr lang="en-US" sz="2400" b="1" dirty="0"/>
              <a:t>	(a) the joint probability function </a:t>
            </a:r>
            <a:r>
              <a:rPr lang="en-US" sz="2400" b="1" i="1" dirty="0"/>
              <a:t>f(x, y),</a:t>
            </a:r>
          </a:p>
          <a:p>
            <a:pPr>
              <a:buNone/>
            </a:pPr>
            <a:r>
              <a:rPr lang="en-US" sz="2400" b="1" dirty="0"/>
              <a:t>	(b) </a:t>
            </a:r>
            <a:r>
              <a:rPr lang="en-US" sz="2400" b="1" i="1" dirty="0"/>
              <a:t>P[(X, Y ) ∈ A], where A is the region {(x, y)|x + y ≤ 1}.</a:t>
            </a:r>
          </a:p>
          <a:p>
            <a:pPr>
              <a:buNone/>
            </a:pPr>
            <a:r>
              <a:rPr lang="en-US" sz="1800" b="1" i="1" dirty="0"/>
              <a:t>	</a:t>
            </a:r>
          </a:p>
          <a:p>
            <a:pPr>
              <a:buNone/>
            </a:pPr>
            <a:r>
              <a:rPr lang="en-US" sz="1800" b="1" i="1" dirty="0">
                <a:solidFill>
                  <a:srgbClr val="FF0000"/>
                </a:solidFill>
              </a:rPr>
              <a:t>     Solution: a)</a:t>
            </a:r>
          </a:p>
          <a:p>
            <a:pPr>
              <a:buNone/>
            </a:pPr>
            <a:endParaRPr lang="en-US" sz="1800" b="1" dirty="0">
              <a:solidFill>
                <a:srgbClr val="FF0000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799" y="4876800"/>
            <a:ext cx="7428297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486" y="1981200"/>
            <a:ext cx="8115027" cy="1748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228600" y="1371600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(a) the joint probability function </a:t>
            </a:r>
            <a:r>
              <a:rPr lang="en-US" sz="2400" b="1" i="1" dirty="0"/>
              <a:t>f(x, y),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76400"/>
            <a:ext cx="8153400" cy="44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/>
              <a:t>(b) </a:t>
            </a:r>
            <a:r>
              <a:rPr lang="en-US" sz="2400" b="1" i="1" dirty="0"/>
              <a:t>P[(X, Y ) ∈ A], where A is the region {(x, y)|x + y ≤ 1}.</a:t>
            </a:r>
          </a:p>
          <a:p>
            <a:pPr>
              <a:buNone/>
            </a:pPr>
            <a:r>
              <a:rPr lang="en-US" sz="1800" b="1" i="1" dirty="0"/>
              <a:t>	Solution: </a:t>
            </a:r>
          </a:p>
          <a:p>
            <a:pPr>
              <a:buNone/>
            </a:pPr>
            <a:endParaRPr lang="en-US" sz="1800" b="1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2667000"/>
            <a:ext cx="7162800" cy="4071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Marginal Distribution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2400" dirty="0"/>
              <a:t>Given the joint probability distribution </a:t>
            </a:r>
            <a:r>
              <a:rPr lang="en-US" sz="2400" i="1" dirty="0"/>
              <a:t>f(x, y) of the discrete random variables X and Y , the probability distribution g(x) of X alone is obtained by summing f(x, y) over the values of Y . Similarly, the probability distribution h(y) of Y alone </a:t>
            </a:r>
            <a:r>
              <a:rPr lang="en-US" sz="2400" dirty="0"/>
              <a:t>is obtained by summing </a:t>
            </a:r>
            <a:r>
              <a:rPr lang="en-US" sz="2400" i="1" dirty="0"/>
              <a:t>f(x, y) over the values of X. We define g(x) and h(y) to </a:t>
            </a:r>
            <a:r>
              <a:rPr lang="en-US" sz="2400" dirty="0"/>
              <a:t>be the </a:t>
            </a:r>
            <a:r>
              <a:rPr lang="en-US" sz="2400" b="1" dirty="0"/>
              <a:t>marginal distributions of </a:t>
            </a:r>
            <a:r>
              <a:rPr lang="en-US" sz="2400" b="1" i="1" dirty="0"/>
              <a:t>X and Y , respectively.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4724400"/>
            <a:ext cx="7889032" cy="1447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Distribution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Example: Show that the column and row totals of Table given below, give the marginal distribution of </a:t>
            </a:r>
            <a:r>
              <a:rPr lang="en-US" sz="1800" i="1" dirty="0"/>
              <a:t>X alone and of Y alone.</a:t>
            </a:r>
            <a:endParaRPr lang="en-US" sz="1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4819650"/>
            <a:ext cx="64389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 t="39216"/>
          <a:stretch>
            <a:fillRect/>
          </a:stretch>
        </p:blipFill>
        <p:spPr bwMode="auto">
          <a:xfrm>
            <a:off x="1066800" y="2209800"/>
            <a:ext cx="6836229" cy="2362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which are just the column totals of Table. In a similar manner we could show that the values of </a:t>
            </a:r>
            <a:r>
              <a:rPr lang="en-US" i="1" dirty="0"/>
              <a:t>h(y) are given by the row totals. In tabular form, these marginal </a:t>
            </a:r>
            <a:r>
              <a:rPr lang="en-US" dirty="0"/>
              <a:t>distributions may be written as follows: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70" y="4191000"/>
            <a:ext cx="9027411" cy="157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Statistically independent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Statistically independent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9776" y="2471738"/>
            <a:ext cx="8519424" cy="24050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447800"/>
            <a:ext cx="8461248" cy="4495800"/>
          </a:xfrm>
        </p:spPr>
        <p:txBody>
          <a:bodyPr/>
          <a:lstStyle/>
          <a:p>
            <a:pPr>
              <a:buNone/>
            </a:pPr>
            <a:r>
              <a:rPr lang="en-US" b="1" dirty="0"/>
              <a:t>	</a:t>
            </a:r>
            <a:r>
              <a:rPr lang="en-US" sz="2400" b="1" dirty="0">
                <a:solidFill>
                  <a:srgbClr val="FF0000"/>
                </a:solidFill>
              </a:rPr>
              <a:t>Example:</a:t>
            </a:r>
            <a:r>
              <a:rPr lang="en-US" sz="2400" b="1" dirty="0"/>
              <a:t> Show that the random variables of previous example are not statistically independent.</a:t>
            </a:r>
          </a:p>
          <a:p>
            <a:pPr>
              <a:buNone/>
            </a:pPr>
            <a:r>
              <a:rPr lang="en-US" sz="2400" dirty="0"/>
              <a:t>	S</a:t>
            </a:r>
            <a:r>
              <a:rPr lang="en-US" sz="2400" dirty="0">
                <a:solidFill>
                  <a:srgbClr val="FF0000"/>
                </a:solidFill>
              </a:rPr>
              <a:t>olution: </a:t>
            </a:r>
            <a:r>
              <a:rPr lang="en-US" sz="2400" dirty="0"/>
              <a:t>Let us consider the point (0</a:t>
            </a:r>
            <a:r>
              <a:rPr lang="en-US" sz="2400" i="1" dirty="0"/>
              <a:t>, 1). We find the three probabilities f(0, 1), g(0), and h(1) to be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 b="2290"/>
          <a:stretch>
            <a:fillRect/>
          </a:stretch>
        </p:blipFill>
        <p:spPr bwMode="auto">
          <a:xfrm>
            <a:off x="1393594" y="3124200"/>
            <a:ext cx="659150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3.39</a:t>
            </a:r>
          </a:p>
          <a:p>
            <a:pPr>
              <a:buNone/>
            </a:pPr>
            <a:r>
              <a:rPr lang="en-US" b="1" dirty="0"/>
              <a:t>3.48</a:t>
            </a:r>
          </a:p>
          <a:p>
            <a:pPr>
              <a:buNone/>
            </a:pPr>
            <a:r>
              <a:rPr lang="en-US" b="1" dirty="0"/>
              <a:t>3.49</a:t>
            </a:r>
          </a:p>
          <a:p>
            <a:pPr>
              <a:buNone/>
            </a:pPr>
            <a:r>
              <a:rPr lang="en-US" b="1" dirty="0"/>
              <a:t>3.50</a:t>
            </a:r>
          </a:p>
          <a:p>
            <a:pPr>
              <a:buNone/>
            </a:pPr>
            <a:r>
              <a:rPr lang="en-US" b="1" dirty="0"/>
              <a:t>3.51</a:t>
            </a:r>
          </a:p>
          <a:p>
            <a:pPr>
              <a:buNone/>
            </a:pPr>
            <a:r>
              <a:rPr lang="en-US" b="1" dirty="0"/>
              <a:t>3.54</a:t>
            </a:r>
          </a:p>
          <a:p>
            <a:pPr>
              <a:buNone/>
            </a:pPr>
            <a:r>
              <a:rPr lang="en-US" b="1" dirty="0"/>
              <a:t>3.55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10656</TotalTime>
  <Words>495</Words>
  <Application>Microsoft Office PowerPoint</Application>
  <PresentationFormat>On-screen Show (4:3)</PresentationFormat>
  <Paragraphs>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Calibri</vt:lpstr>
      <vt:lpstr>Tw Cen MT</vt:lpstr>
      <vt:lpstr>Wingdings</vt:lpstr>
      <vt:lpstr>Wingdings 2</vt:lpstr>
      <vt:lpstr>Median</vt:lpstr>
      <vt:lpstr>Random Variables and Probability Distributions</vt:lpstr>
      <vt:lpstr>Joint Probability Distributions</vt:lpstr>
      <vt:lpstr>Joint Probability Distributions</vt:lpstr>
      <vt:lpstr>Joint Probability Distributions</vt:lpstr>
      <vt:lpstr>PowerPoint Presentation</vt:lpstr>
      <vt:lpstr>PowerPoint Presentation</vt:lpstr>
      <vt:lpstr>PowerPoint Presentation</vt:lpstr>
      <vt:lpstr>Marginal Distribution</vt:lpstr>
      <vt:lpstr>Marginal Distribution</vt:lpstr>
      <vt:lpstr>Marginal Distribution</vt:lpstr>
      <vt:lpstr>PowerPoint Presentation</vt:lpstr>
      <vt:lpstr>Statistically independent</vt:lpstr>
      <vt:lpstr>Statistically independent</vt:lpstr>
      <vt:lpstr>PowerPoint Presentation</vt:lpstr>
      <vt:lpstr>Assignment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Variables and Probability Distributions</dc:title>
  <dc:creator>shahjee</dc:creator>
  <cp:lastModifiedBy>amna humayun</cp:lastModifiedBy>
  <cp:revision>129</cp:revision>
  <dcterms:created xsi:type="dcterms:W3CDTF">2015-10-20T12:27:08Z</dcterms:created>
  <dcterms:modified xsi:type="dcterms:W3CDTF">2024-04-17T17:46:43Z</dcterms:modified>
</cp:coreProperties>
</file>