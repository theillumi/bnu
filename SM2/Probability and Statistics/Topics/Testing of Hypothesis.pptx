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3" r:id="rId7"/>
    <p:sldId id="264" r:id="rId8"/>
    <p:sldId id="269" r:id="rId9"/>
    <p:sldId id="262" r:id="rId10"/>
    <p:sldId id="265" r:id="rId11"/>
    <p:sldId id="267" r:id="rId12"/>
    <p:sldId id="270" r:id="rId13"/>
    <p:sldId id="271" r:id="rId14"/>
    <p:sldId id="266" r:id="rId15"/>
    <p:sldId id="272" r:id="rId16"/>
    <p:sldId id="273" r:id="rId17"/>
    <p:sldId id="268"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542"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705600" y="4206240"/>
            <a:ext cx="960120" cy="457200"/>
          </a:xfrm>
        </p:spPr>
        <p:txBody>
          <a:bodyPr/>
          <a:lstStyle/>
          <a:p>
            <a:fld id="{13F2CC8A-59F5-47D9-BBFF-48F81CD145CA}" type="datetimeFigureOut">
              <a:rPr lang="en-US" smtClean="0"/>
              <a:pPr/>
              <a:t>5/19/2024</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D45934AC-A654-4370-8E5E-50BF9719102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3F2CC8A-59F5-47D9-BBFF-48F81CD145CA}" type="datetimeFigureOut">
              <a:rPr lang="en-US" smtClean="0"/>
              <a:pPr/>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934AC-A654-4370-8E5E-50BF9719102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3F2CC8A-59F5-47D9-BBFF-48F81CD145CA}" type="datetimeFigureOut">
              <a:rPr lang="en-US" smtClean="0"/>
              <a:pPr/>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934AC-A654-4370-8E5E-50BF9719102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3F2CC8A-59F5-47D9-BBFF-48F81CD145CA}" type="datetimeFigureOut">
              <a:rPr lang="en-US" smtClean="0"/>
              <a:pPr/>
              <a:t>5/19/2024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5934AC-A654-4370-8E5E-50BF9719102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13F2CC8A-59F5-47D9-BBFF-48F81CD145CA}" type="datetimeFigureOut">
              <a:rPr lang="en-US" smtClean="0"/>
              <a:pPr/>
              <a:t>5/19/2024</a:t>
            </a:fld>
            <a:endParaRPr lang="en-US"/>
          </a:p>
        </p:txBody>
      </p:sp>
      <p:sp>
        <p:nvSpPr>
          <p:cNvPr id="27" name="Slide Number Placeholder 26"/>
          <p:cNvSpPr>
            <a:spLocks noGrp="1"/>
          </p:cNvSpPr>
          <p:nvPr>
            <p:ph type="sldNum" sz="quarter" idx="11"/>
          </p:nvPr>
        </p:nvSpPr>
        <p:spPr/>
        <p:txBody>
          <a:bodyPr rtlCol="0"/>
          <a:lstStyle/>
          <a:p>
            <a:fld id="{D45934AC-A654-4370-8E5E-50BF9719102C}" type="slidenum">
              <a:rPr lang="en-US" smtClean="0"/>
              <a:pPr/>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6583680" y="612648"/>
            <a:ext cx="957264" cy="457200"/>
          </a:xfrm>
        </p:spPr>
        <p:txBody>
          <a:bodyPr/>
          <a:lstStyle/>
          <a:p>
            <a:fld id="{13F2CC8A-59F5-47D9-BBFF-48F81CD145CA}" type="datetimeFigureOut">
              <a:rPr lang="en-US" smtClean="0"/>
              <a:pPr/>
              <a:t>5/19/2024</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D45934AC-A654-4370-8E5E-50BF9719102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F2CC8A-59F5-47D9-BBFF-48F81CD145CA}" type="datetimeFigureOut">
              <a:rPr lang="en-US" smtClean="0"/>
              <a:pPr/>
              <a:t>5/19/2024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5934AC-A654-4370-8E5E-50BF9719102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3F2CC8A-59F5-47D9-BBFF-48F81CD145CA}" type="datetimeFigureOut">
              <a:rPr lang="en-US" smtClean="0"/>
              <a:pPr/>
              <a:t>5/19/2024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5934AC-A654-4370-8E5E-50BF9719102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3F2CC8A-59F5-47D9-BBFF-48F81CD145CA}" type="datetimeFigureOut">
              <a:rPr lang="en-US" smtClean="0"/>
              <a:pPr/>
              <a:t>5/19/2024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5934AC-A654-4370-8E5E-50BF9719102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3F2CC8A-59F5-47D9-BBFF-48F81CD145CA}" type="datetimeFigureOut">
              <a:rPr lang="en-US" smtClean="0"/>
              <a:pPr/>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934AC-A654-4370-8E5E-50BF9719102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3F2CC8A-59F5-47D9-BBFF-48F81CD145CA}" type="datetimeFigureOut">
              <a:rPr lang="en-US" smtClean="0"/>
              <a:pPr/>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934AC-A654-4370-8E5E-50BF9719102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13F2CC8A-59F5-47D9-BBFF-48F81CD145CA}" type="datetimeFigureOut">
              <a:rPr lang="en-US" smtClean="0"/>
              <a:pPr/>
              <a:t>5/19/2024</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D45934AC-A654-4370-8E5E-50BF9719102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5.png"/><Relationship Id="rId4" Type="http://schemas.openxmlformats.org/officeDocument/2006/relationships/image" Target="../media/image4.png"/><Relationship Id="rId9"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Testing of Hypothesis</a:t>
            </a: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Hypothesis Testing</a:t>
            </a:r>
          </a:p>
        </p:txBody>
      </p:sp>
      <p:sp>
        <p:nvSpPr>
          <p:cNvPr id="3" name="Content Placeholder 2"/>
          <p:cNvSpPr>
            <a:spLocks noGrp="1"/>
          </p:cNvSpPr>
          <p:nvPr>
            <p:ph idx="1"/>
          </p:nvPr>
        </p:nvSpPr>
        <p:spPr/>
        <p:txBody>
          <a:bodyPr/>
          <a:lstStyle/>
          <a:p>
            <a:pPr>
              <a:buNone/>
            </a:pPr>
            <a:r>
              <a:rPr lang="en-US" dirty="0"/>
              <a:t>	A </a:t>
            </a:r>
            <a:r>
              <a:rPr lang="en-US" b="1" dirty="0"/>
              <a:t>statistical hypothesis is an assertion or conjecture concerning one or more </a:t>
            </a:r>
            <a:r>
              <a:rPr lang="en-US" dirty="0"/>
              <a:t>populations.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Null and Alternative Hypotheses</a:t>
            </a:r>
            <a:endParaRPr lang="en-US" dirty="0"/>
          </a:p>
        </p:txBody>
      </p:sp>
      <p:sp>
        <p:nvSpPr>
          <p:cNvPr id="3" name="Content Placeholder 2"/>
          <p:cNvSpPr>
            <a:spLocks noGrp="1"/>
          </p:cNvSpPr>
          <p:nvPr>
            <p:ph idx="1"/>
          </p:nvPr>
        </p:nvSpPr>
        <p:spPr/>
        <p:txBody>
          <a:bodyPr/>
          <a:lstStyle/>
          <a:p>
            <a:pPr>
              <a:buNone/>
            </a:pPr>
            <a:r>
              <a:rPr lang="en-US" b="1" dirty="0"/>
              <a:t>	Null hypothesis, which refers to any hypothesis we wish to test and is denoted </a:t>
            </a:r>
            <a:r>
              <a:rPr lang="en-US" dirty="0"/>
              <a:t>by </a:t>
            </a:r>
            <a:r>
              <a:rPr lang="en-US" i="1" dirty="0"/>
              <a:t>H0. The rejection of H0 leads to the acceptance of an </a:t>
            </a:r>
            <a:r>
              <a:rPr lang="en-US" b="1" i="1" dirty="0"/>
              <a:t>alternative hypothesis, </a:t>
            </a:r>
            <a:r>
              <a:rPr lang="en-US" dirty="0"/>
              <a:t>denoted by </a:t>
            </a:r>
            <a:r>
              <a:rPr lang="en-US" i="1" dirty="0"/>
              <a:t>H1.</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 Statistic</a:t>
            </a:r>
            <a:endParaRPr lang="en-US" dirty="0"/>
          </a:p>
        </p:txBody>
      </p:sp>
      <p:sp>
        <p:nvSpPr>
          <p:cNvPr id="3" name="Content Placeholder 2"/>
          <p:cNvSpPr>
            <a:spLocks noGrp="1"/>
          </p:cNvSpPr>
          <p:nvPr>
            <p:ph idx="1"/>
          </p:nvPr>
        </p:nvSpPr>
        <p:spPr/>
        <p:txBody>
          <a:bodyPr/>
          <a:lstStyle/>
          <a:p>
            <a:pPr>
              <a:buNone/>
            </a:pPr>
            <a:r>
              <a:rPr lang="en-US" dirty="0"/>
              <a:t>The rule or formula.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305800" cy="1066800"/>
          </a:xfrm>
        </p:spPr>
        <p:txBody>
          <a:bodyPr>
            <a:normAutofit fontScale="90000"/>
          </a:bodyPr>
          <a:lstStyle/>
          <a:p>
            <a:r>
              <a:rPr lang="en-US" dirty="0"/>
              <a:t>Approach to Hypothesis Testing with</a:t>
            </a:r>
            <a:br>
              <a:rPr lang="en-US" dirty="0"/>
            </a:br>
            <a:r>
              <a:rPr lang="en-US" dirty="0"/>
              <a:t>Fixed Probability</a:t>
            </a:r>
          </a:p>
        </p:txBody>
      </p:sp>
      <p:sp>
        <p:nvSpPr>
          <p:cNvPr id="3" name="Content Placeholder 2"/>
          <p:cNvSpPr>
            <a:spLocks noGrp="1"/>
          </p:cNvSpPr>
          <p:nvPr>
            <p:ph idx="1"/>
          </p:nvPr>
        </p:nvSpPr>
        <p:spPr/>
        <p:txBody>
          <a:bodyPr>
            <a:normAutofit/>
          </a:bodyPr>
          <a:lstStyle/>
          <a:p>
            <a:pPr marL="624078" indent="-514350">
              <a:buFont typeface="+mj-lt"/>
              <a:buAutoNum type="arabicPeriod"/>
            </a:pPr>
            <a:r>
              <a:rPr lang="en-US" b="1" dirty="0"/>
              <a:t>State the null and alternative hypotheses.</a:t>
            </a:r>
          </a:p>
          <a:p>
            <a:pPr marL="624078" indent="-514350">
              <a:buFont typeface="+mj-lt"/>
              <a:buAutoNum type="arabicPeriod"/>
            </a:pPr>
            <a:r>
              <a:rPr lang="en-US" b="1" dirty="0"/>
              <a:t>Choose a fixed significance level </a:t>
            </a:r>
            <a:r>
              <a:rPr lang="en-US" b="1" i="1" dirty="0"/>
              <a:t>α.</a:t>
            </a:r>
          </a:p>
          <a:p>
            <a:pPr marL="624078" indent="-514350">
              <a:buFont typeface="+mj-lt"/>
              <a:buAutoNum type="arabicPeriod"/>
            </a:pPr>
            <a:r>
              <a:rPr lang="en-US" b="1" dirty="0"/>
              <a:t>Establish critical region based on </a:t>
            </a:r>
            <a:r>
              <a:rPr lang="el-GR" i="1" dirty="0"/>
              <a:t>α.</a:t>
            </a:r>
            <a:endParaRPr lang="en-US" b="1" dirty="0"/>
          </a:p>
          <a:p>
            <a:pPr marL="624078" indent="-514350">
              <a:buFont typeface="+mj-lt"/>
              <a:buAutoNum type="arabicPeriod"/>
            </a:pPr>
            <a:r>
              <a:rPr lang="en-US" b="1" dirty="0"/>
              <a:t>Choose an appropriate test statistic.</a:t>
            </a:r>
            <a:endParaRPr lang="el-GR" i="1" dirty="0"/>
          </a:p>
          <a:p>
            <a:pPr marL="624078" indent="-514350">
              <a:buFont typeface="+mj-lt"/>
              <a:buAutoNum type="arabicPeriod"/>
            </a:pPr>
            <a:r>
              <a:rPr lang="en-US" b="1" dirty="0"/>
              <a:t>Perform computation.</a:t>
            </a:r>
          </a:p>
          <a:p>
            <a:pPr marL="624078" indent="-514350">
              <a:buFont typeface="+mj-lt"/>
              <a:buAutoNum type="arabicPeriod"/>
            </a:pPr>
            <a:r>
              <a:rPr lang="en-US" b="1" dirty="0"/>
              <a:t>Reject </a:t>
            </a:r>
            <a:r>
              <a:rPr lang="en-US" b="1" i="1" dirty="0"/>
              <a:t>H0 if the computed test statistic is in the critical region. Otherwise, </a:t>
            </a:r>
            <a:r>
              <a:rPr lang="en-US" dirty="0"/>
              <a:t>do not reject.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Single Sample: Tests Concerning a Single Mean</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Tests on a Single Mean </a:t>
            </a:r>
            <a:r>
              <a:rPr lang="en-US" b="1" dirty="0">
                <a:solidFill>
                  <a:srgbClr val="FF0000"/>
                </a:solidFill>
              </a:rPr>
              <a:t>(Population Variance Known)</a:t>
            </a:r>
            <a:endParaRPr lang="en-US" dirty="0">
              <a:solidFill>
                <a:srgbClr val="FF0000"/>
              </a:solidFill>
            </a:endParaRPr>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381000" y="1600200"/>
            <a:ext cx="2667000" cy="789336"/>
          </a:xfrm>
          <a:prstGeom prst="rect">
            <a:avLst/>
          </a:prstGeom>
          <a:noFill/>
          <a:ln w="9525">
            <a:noFill/>
            <a:miter lim="800000"/>
            <a:headEnd/>
            <a:tailEnd/>
          </a:ln>
        </p:spPr>
      </p:pic>
      <p:pic>
        <p:nvPicPr>
          <p:cNvPr id="1029" name="Picture 5"/>
          <p:cNvPicPr>
            <a:picLocks noChangeAspect="1" noChangeArrowheads="1"/>
          </p:cNvPicPr>
          <p:nvPr/>
        </p:nvPicPr>
        <p:blipFill>
          <a:blip r:embed="rId3" cstate="print"/>
          <a:srcRect/>
          <a:stretch>
            <a:fillRect/>
          </a:stretch>
        </p:blipFill>
        <p:spPr bwMode="auto">
          <a:xfrm>
            <a:off x="457200" y="762000"/>
            <a:ext cx="6858000" cy="876670"/>
          </a:xfrm>
          <a:prstGeom prst="rect">
            <a:avLst/>
          </a:prstGeom>
          <a:noFill/>
          <a:ln w="9525">
            <a:noFill/>
            <a:miter lim="800000"/>
            <a:headEnd/>
            <a:tailEnd/>
          </a:ln>
        </p:spPr>
      </p:pic>
      <p:pic>
        <p:nvPicPr>
          <p:cNvPr id="1031" name="Picture 7"/>
          <p:cNvPicPr>
            <a:picLocks noChangeAspect="1" noChangeArrowheads="1"/>
          </p:cNvPicPr>
          <p:nvPr/>
        </p:nvPicPr>
        <p:blipFill>
          <a:blip r:embed="rId4" cstate="print"/>
          <a:srcRect/>
          <a:stretch>
            <a:fillRect/>
          </a:stretch>
        </p:blipFill>
        <p:spPr bwMode="auto">
          <a:xfrm>
            <a:off x="685800" y="3200400"/>
            <a:ext cx="2514600" cy="1789235"/>
          </a:xfrm>
          <a:prstGeom prst="rect">
            <a:avLst/>
          </a:prstGeom>
          <a:noFill/>
          <a:ln w="9525">
            <a:noFill/>
            <a:miter lim="800000"/>
            <a:headEnd/>
            <a:tailEnd/>
          </a:ln>
        </p:spPr>
      </p:pic>
      <p:pic>
        <p:nvPicPr>
          <p:cNvPr id="1032" name="Picture 8"/>
          <p:cNvPicPr>
            <a:picLocks noChangeAspect="1" noChangeArrowheads="1"/>
          </p:cNvPicPr>
          <p:nvPr/>
        </p:nvPicPr>
        <p:blipFill>
          <a:blip r:embed="rId5" cstate="print"/>
          <a:srcRect/>
          <a:stretch>
            <a:fillRect/>
          </a:stretch>
        </p:blipFill>
        <p:spPr bwMode="auto">
          <a:xfrm>
            <a:off x="3352800" y="3352801"/>
            <a:ext cx="2400300" cy="1600200"/>
          </a:xfrm>
          <a:prstGeom prst="rect">
            <a:avLst/>
          </a:prstGeom>
          <a:noFill/>
          <a:ln w="9525">
            <a:noFill/>
            <a:miter lim="800000"/>
            <a:headEnd/>
            <a:tailEnd/>
          </a:ln>
        </p:spPr>
      </p:pic>
      <p:pic>
        <p:nvPicPr>
          <p:cNvPr id="1033" name="Picture 9"/>
          <p:cNvPicPr>
            <a:picLocks noChangeAspect="1" noChangeArrowheads="1"/>
          </p:cNvPicPr>
          <p:nvPr/>
        </p:nvPicPr>
        <p:blipFill>
          <a:blip r:embed="rId6" cstate="print"/>
          <a:srcRect/>
          <a:stretch>
            <a:fillRect/>
          </a:stretch>
        </p:blipFill>
        <p:spPr bwMode="auto">
          <a:xfrm>
            <a:off x="5791200" y="3200400"/>
            <a:ext cx="2881312" cy="1802899"/>
          </a:xfrm>
          <a:prstGeom prst="rect">
            <a:avLst/>
          </a:prstGeom>
          <a:noFill/>
          <a:ln w="9525">
            <a:noFill/>
            <a:miter lim="800000"/>
            <a:headEnd/>
            <a:tailEnd/>
          </a:ln>
        </p:spPr>
      </p:pic>
      <p:pic>
        <p:nvPicPr>
          <p:cNvPr id="1034" name="Picture 10"/>
          <p:cNvPicPr>
            <a:picLocks noChangeAspect="1" noChangeArrowheads="1"/>
          </p:cNvPicPr>
          <p:nvPr/>
        </p:nvPicPr>
        <p:blipFill>
          <a:blip r:embed="rId7" cstate="print"/>
          <a:srcRect/>
          <a:stretch>
            <a:fillRect/>
          </a:stretch>
        </p:blipFill>
        <p:spPr bwMode="auto">
          <a:xfrm>
            <a:off x="457200" y="5181600"/>
            <a:ext cx="1981200" cy="876300"/>
          </a:xfrm>
          <a:prstGeom prst="rect">
            <a:avLst/>
          </a:prstGeom>
          <a:noFill/>
          <a:ln w="9525">
            <a:noFill/>
            <a:miter lim="800000"/>
            <a:headEnd/>
            <a:tailEnd/>
          </a:ln>
        </p:spPr>
      </p:pic>
      <p:pic>
        <p:nvPicPr>
          <p:cNvPr id="1035" name="Picture 11"/>
          <p:cNvPicPr>
            <a:picLocks noChangeAspect="1" noChangeArrowheads="1"/>
          </p:cNvPicPr>
          <p:nvPr/>
        </p:nvPicPr>
        <p:blipFill>
          <a:blip r:embed="rId8" cstate="print"/>
          <a:srcRect/>
          <a:stretch>
            <a:fillRect/>
          </a:stretch>
        </p:blipFill>
        <p:spPr bwMode="auto">
          <a:xfrm>
            <a:off x="457200" y="6092826"/>
            <a:ext cx="1447800" cy="241300"/>
          </a:xfrm>
          <a:prstGeom prst="rect">
            <a:avLst/>
          </a:prstGeom>
          <a:noFill/>
          <a:ln w="9525">
            <a:noFill/>
            <a:miter lim="800000"/>
            <a:headEnd/>
            <a:tailEnd/>
          </a:ln>
        </p:spPr>
      </p:pic>
      <p:pic>
        <p:nvPicPr>
          <p:cNvPr id="1036" name="Picture 12"/>
          <p:cNvPicPr>
            <a:picLocks noChangeAspect="1" noChangeArrowheads="1"/>
          </p:cNvPicPr>
          <p:nvPr/>
        </p:nvPicPr>
        <p:blipFill>
          <a:blip r:embed="rId9" cstate="print"/>
          <a:srcRect/>
          <a:stretch>
            <a:fillRect/>
          </a:stretch>
        </p:blipFill>
        <p:spPr bwMode="auto">
          <a:xfrm>
            <a:off x="457200" y="6363483"/>
            <a:ext cx="1600200" cy="284967"/>
          </a:xfrm>
          <a:prstGeom prst="rect">
            <a:avLst/>
          </a:prstGeom>
          <a:noFill/>
          <a:ln w="9525">
            <a:noFill/>
            <a:miter lim="800000"/>
            <a:headEnd/>
            <a:tailEnd/>
          </a:ln>
        </p:spPr>
      </p:pic>
      <p:sp>
        <p:nvSpPr>
          <p:cNvPr id="13" name="Rectangle 12"/>
          <p:cNvSpPr/>
          <p:nvPr/>
        </p:nvSpPr>
        <p:spPr>
          <a:xfrm>
            <a:off x="2362200" y="6211669"/>
            <a:ext cx="6781800" cy="615553"/>
          </a:xfrm>
          <a:prstGeom prst="rect">
            <a:avLst/>
          </a:prstGeom>
        </p:spPr>
        <p:txBody>
          <a:bodyPr wrap="square">
            <a:spAutoFit/>
          </a:bodyPr>
          <a:lstStyle/>
          <a:p>
            <a:pPr marL="624078" indent="-514350"/>
            <a:r>
              <a:rPr lang="en-US" sz="1600" b="1" dirty="0"/>
              <a:t>Reject </a:t>
            </a:r>
            <a:r>
              <a:rPr lang="en-US" sz="1600" b="1" i="1" dirty="0"/>
              <a:t>H0 if the computed test statistic is in the critical region. Otherwise, </a:t>
            </a:r>
            <a:r>
              <a:rPr lang="en-US" sz="1600" b="1" dirty="0"/>
              <a:t>do not reject</a:t>
            </a:r>
            <a:r>
              <a:rPr lang="en-US" b="1" dirty="0"/>
              <a:t>.</a:t>
            </a:r>
          </a:p>
        </p:txBody>
      </p:sp>
      <p:sp>
        <p:nvSpPr>
          <p:cNvPr id="14" name="Rectangle 13"/>
          <p:cNvSpPr/>
          <p:nvPr/>
        </p:nvSpPr>
        <p:spPr>
          <a:xfrm>
            <a:off x="0" y="0"/>
            <a:ext cx="9144000" cy="369332"/>
          </a:xfrm>
          <a:prstGeom prst="rect">
            <a:avLst/>
          </a:prstGeom>
          <a:solidFill>
            <a:schemeClr val="accent2"/>
          </a:solidFill>
        </p:spPr>
        <p:txBody>
          <a:bodyPr wrap="square">
            <a:spAutoFit/>
          </a:bodyPr>
          <a:lstStyle/>
          <a:p>
            <a:r>
              <a:rPr lang="en-US" b="1" dirty="0">
                <a:solidFill>
                  <a:schemeClr val="bg1"/>
                </a:solidFill>
              </a:rPr>
              <a:t>Tests on a Single Mean (Population Variance known )</a:t>
            </a:r>
            <a:endParaRPr lang="en-US" dirty="0">
              <a:solidFill>
                <a:schemeClr val="bg1"/>
              </a:solidFill>
            </a:endParaRPr>
          </a:p>
        </p:txBody>
      </p:sp>
      <p:pic>
        <p:nvPicPr>
          <p:cNvPr id="15" name="Picture 2"/>
          <p:cNvPicPr>
            <a:picLocks noChangeAspect="1" noChangeArrowheads="1"/>
          </p:cNvPicPr>
          <p:nvPr/>
        </p:nvPicPr>
        <p:blipFill>
          <a:blip r:embed="rId10" cstate="print"/>
          <a:srcRect/>
          <a:stretch>
            <a:fillRect/>
          </a:stretch>
        </p:blipFill>
        <p:spPr bwMode="auto">
          <a:xfrm>
            <a:off x="381000" y="2362200"/>
            <a:ext cx="7264400" cy="8382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736336"/>
          </a:xfrm>
        </p:spPr>
        <p:txBody>
          <a:bodyPr>
            <a:noAutofit/>
          </a:bodyPr>
          <a:lstStyle/>
          <a:p>
            <a:r>
              <a:rPr lang="en-US" sz="2000" dirty="0"/>
              <a:t>Example: A random sample of 100 recorded deaths in the United States during the past year showed an average life span of 71.8 years. Assuming a population standard deviation of 8.9 years, does this seem to indicate that the mean life span today is greater than 70 years? Use a 0.05 level of significance.</a:t>
            </a:r>
          </a:p>
          <a:p>
            <a:r>
              <a:rPr lang="en-US" sz="2000" dirty="0"/>
              <a:t>Solution:</a:t>
            </a:r>
          </a:p>
          <a:p>
            <a:endParaRPr lang="en-US" sz="2000" dirty="0"/>
          </a:p>
          <a:p>
            <a:endParaRPr lang="en-US" sz="2000" dirty="0"/>
          </a:p>
          <a:p>
            <a:endParaRPr lang="en-US" sz="2000" dirty="0"/>
          </a:p>
          <a:p>
            <a:endParaRPr lang="en-US" sz="2000" dirty="0"/>
          </a:p>
          <a:p>
            <a:endParaRPr lang="en-US" sz="2000" dirty="0"/>
          </a:p>
          <a:p>
            <a:pPr>
              <a:buNone/>
            </a:pPr>
            <a:endParaRPr lang="en-US" sz="2000" dirty="0"/>
          </a:p>
          <a:p>
            <a:pPr>
              <a:buNone/>
            </a:pPr>
            <a:r>
              <a:rPr lang="en-US" sz="2000" dirty="0"/>
              <a:t>	</a:t>
            </a:r>
          </a:p>
        </p:txBody>
      </p:sp>
      <p:pic>
        <p:nvPicPr>
          <p:cNvPr id="1026" name="Picture 2"/>
          <p:cNvPicPr>
            <a:picLocks noChangeAspect="1" noChangeArrowheads="1"/>
          </p:cNvPicPr>
          <p:nvPr/>
        </p:nvPicPr>
        <p:blipFill>
          <a:blip r:embed="rId2" cstate="print"/>
          <a:srcRect/>
          <a:stretch>
            <a:fillRect/>
          </a:stretch>
        </p:blipFill>
        <p:spPr bwMode="auto">
          <a:xfrm>
            <a:off x="732693" y="2971800"/>
            <a:ext cx="7877907" cy="2438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812536"/>
          </a:xfrm>
        </p:spPr>
        <p:txBody>
          <a:bodyPr>
            <a:normAutofit fontScale="92500" lnSpcReduction="10000"/>
          </a:bodyPr>
          <a:lstStyle/>
          <a:p>
            <a:r>
              <a:rPr lang="en-US" sz="2000" dirty="0"/>
              <a:t>Example: A manufacturer of sports equipment has developed a new synthetic fishing line that the company claims has a mean breaking strength of 8 kilograms with a standard deviation of 0.5 kilogram. Test the hypothesis that </a:t>
            </a:r>
            <a:r>
              <a:rPr lang="en-US" sz="2000" i="1" dirty="0"/>
              <a:t>μ = 8 kilograms against the </a:t>
            </a:r>
            <a:r>
              <a:rPr lang="en-US" sz="2000" dirty="0"/>
              <a:t>alternative that </a:t>
            </a:r>
            <a:r>
              <a:rPr lang="en-US" sz="2000" i="1" dirty="0"/>
              <a:t>μ ≠ 8 kilograms if a random sample of 50 lines is tested and found </a:t>
            </a:r>
            <a:r>
              <a:rPr lang="en-US" sz="2000" dirty="0"/>
              <a:t>to have a mean breaking strength of 7.8 kilograms. Use a 0.01 level of significance.</a:t>
            </a:r>
          </a:p>
          <a:p>
            <a:r>
              <a:rPr lang="en-US" sz="2000" dirty="0"/>
              <a:t>Solution:</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pPr>
              <a:buNone/>
            </a:pPr>
            <a:r>
              <a:rPr lang="en-US" sz="2000" i="1" dirty="0"/>
              <a:t>	</a:t>
            </a:r>
            <a:endParaRPr lang="en-US" sz="2000" dirty="0"/>
          </a:p>
        </p:txBody>
      </p:sp>
      <p:pic>
        <p:nvPicPr>
          <p:cNvPr id="2050" name="Picture 2"/>
          <p:cNvPicPr>
            <a:picLocks noChangeAspect="1" noChangeArrowheads="1"/>
          </p:cNvPicPr>
          <p:nvPr/>
        </p:nvPicPr>
        <p:blipFill>
          <a:blip r:embed="rId2" cstate="print"/>
          <a:srcRect/>
          <a:stretch>
            <a:fillRect/>
          </a:stretch>
        </p:blipFill>
        <p:spPr bwMode="auto">
          <a:xfrm>
            <a:off x="762000" y="2895600"/>
            <a:ext cx="7696200" cy="237983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066800"/>
          </a:xfrm>
        </p:spPr>
        <p:txBody>
          <a:bodyPr>
            <a:normAutofit fontScale="90000"/>
          </a:bodyPr>
          <a:lstStyle/>
          <a:p>
            <a:r>
              <a:rPr lang="en-US" dirty="0"/>
              <a:t>The </a:t>
            </a:r>
            <a:r>
              <a:rPr lang="en-US" i="1" dirty="0"/>
              <a:t>t-Statistic </a:t>
            </a:r>
            <a:r>
              <a:rPr lang="en-US" dirty="0"/>
              <a:t>for a Test on a</a:t>
            </a:r>
            <a:br>
              <a:rPr lang="en-US" dirty="0"/>
            </a:br>
            <a:r>
              <a:rPr lang="en-US" dirty="0"/>
              <a:t>Single Mean </a:t>
            </a:r>
            <a:r>
              <a:rPr lang="en-US" dirty="0">
                <a:solidFill>
                  <a:srgbClr val="FF0000"/>
                </a:solidFill>
              </a:rPr>
              <a:t>(Population Variance Unknown)</a:t>
            </a:r>
          </a:p>
        </p:txBody>
      </p:sp>
      <p:pic>
        <p:nvPicPr>
          <p:cNvPr id="3074" name="Picture 2"/>
          <p:cNvPicPr>
            <a:picLocks noChangeAspect="1" noChangeArrowheads="1"/>
          </p:cNvPicPr>
          <p:nvPr/>
        </p:nvPicPr>
        <p:blipFill>
          <a:blip r:embed="rId2" cstate="print"/>
          <a:srcRect/>
          <a:stretch>
            <a:fillRect/>
          </a:stretch>
        </p:blipFill>
        <p:spPr bwMode="auto">
          <a:xfrm>
            <a:off x="381000" y="2362200"/>
            <a:ext cx="7467600" cy="3369329"/>
          </a:xfrm>
          <a:prstGeom prst="rect">
            <a:avLst/>
          </a:prstGeom>
          <a:noFill/>
          <a:ln w="9525">
            <a:noFill/>
            <a:miter lim="800000"/>
            <a:headEnd/>
            <a:tailEnd/>
          </a:ln>
        </p:spPr>
      </p:pic>
      <p:sp>
        <p:nvSpPr>
          <p:cNvPr id="5" name="Rectangle 4"/>
          <p:cNvSpPr/>
          <p:nvPr/>
        </p:nvSpPr>
        <p:spPr>
          <a:xfrm>
            <a:off x="457200" y="5934670"/>
            <a:ext cx="7010400" cy="646331"/>
          </a:xfrm>
          <a:prstGeom prst="rect">
            <a:avLst/>
          </a:prstGeom>
        </p:spPr>
        <p:txBody>
          <a:bodyPr wrap="square">
            <a:spAutoFit/>
          </a:bodyPr>
          <a:lstStyle/>
          <a:p>
            <a:r>
              <a:rPr lang="en-US" dirty="0"/>
              <a:t>For </a:t>
            </a:r>
            <a:r>
              <a:rPr lang="en-US" i="1" dirty="0"/>
              <a:t>H1: μ &gt; μ0, rejection results when  t &gt; tα,n−1. </a:t>
            </a:r>
          </a:p>
          <a:p>
            <a:r>
              <a:rPr lang="en-US" i="1" dirty="0"/>
              <a:t>For H1: μ &lt; μ0, the critical region is given by t &lt;−tα,n−1.</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Tests on a Single Mean </a:t>
            </a:r>
            <a:r>
              <a:rPr lang="en-US" b="1" dirty="0">
                <a:solidFill>
                  <a:srgbClr val="FF0000"/>
                </a:solidFill>
              </a:rPr>
              <a:t>(Population Variance unknown and n&lt;30)</a:t>
            </a:r>
            <a:endParaRPr lang="en-US" dirty="0">
              <a:solidFill>
                <a:srgbClr val="FF0000"/>
              </a:solidFill>
            </a:endParaRPr>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381000" y="1600200"/>
            <a:ext cx="2667000" cy="789336"/>
          </a:xfrm>
          <a:prstGeom prst="rect">
            <a:avLst/>
          </a:prstGeom>
          <a:noFill/>
          <a:ln w="9525">
            <a:noFill/>
            <a:miter lim="800000"/>
            <a:headEnd/>
            <a:tailEnd/>
          </a:ln>
        </p:spPr>
      </p:pic>
      <p:pic>
        <p:nvPicPr>
          <p:cNvPr id="1029" name="Picture 5"/>
          <p:cNvPicPr>
            <a:picLocks noChangeAspect="1" noChangeArrowheads="1"/>
          </p:cNvPicPr>
          <p:nvPr/>
        </p:nvPicPr>
        <p:blipFill>
          <a:blip r:embed="rId3" cstate="print"/>
          <a:srcRect/>
          <a:stretch>
            <a:fillRect/>
          </a:stretch>
        </p:blipFill>
        <p:spPr bwMode="auto">
          <a:xfrm>
            <a:off x="457200" y="762000"/>
            <a:ext cx="6858000" cy="876670"/>
          </a:xfrm>
          <a:prstGeom prst="rect">
            <a:avLst/>
          </a:prstGeom>
          <a:noFill/>
          <a:ln w="9525">
            <a:noFill/>
            <a:miter lim="800000"/>
            <a:headEnd/>
            <a:tailEnd/>
          </a:ln>
        </p:spPr>
      </p:pic>
      <p:pic>
        <p:nvPicPr>
          <p:cNvPr id="1031" name="Picture 7"/>
          <p:cNvPicPr>
            <a:picLocks noChangeAspect="1" noChangeArrowheads="1"/>
          </p:cNvPicPr>
          <p:nvPr/>
        </p:nvPicPr>
        <p:blipFill>
          <a:blip r:embed="rId4" cstate="print"/>
          <a:srcRect/>
          <a:stretch>
            <a:fillRect/>
          </a:stretch>
        </p:blipFill>
        <p:spPr bwMode="auto">
          <a:xfrm>
            <a:off x="685800" y="3200400"/>
            <a:ext cx="2514600" cy="1789235"/>
          </a:xfrm>
          <a:prstGeom prst="rect">
            <a:avLst/>
          </a:prstGeom>
          <a:noFill/>
          <a:ln w="9525">
            <a:noFill/>
            <a:miter lim="800000"/>
            <a:headEnd/>
            <a:tailEnd/>
          </a:ln>
        </p:spPr>
      </p:pic>
      <p:pic>
        <p:nvPicPr>
          <p:cNvPr id="1032" name="Picture 8"/>
          <p:cNvPicPr>
            <a:picLocks noChangeAspect="1" noChangeArrowheads="1"/>
          </p:cNvPicPr>
          <p:nvPr/>
        </p:nvPicPr>
        <p:blipFill>
          <a:blip r:embed="rId5" cstate="print"/>
          <a:srcRect/>
          <a:stretch>
            <a:fillRect/>
          </a:stretch>
        </p:blipFill>
        <p:spPr bwMode="auto">
          <a:xfrm>
            <a:off x="3352800" y="3352801"/>
            <a:ext cx="2400300" cy="1600200"/>
          </a:xfrm>
          <a:prstGeom prst="rect">
            <a:avLst/>
          </a:prstGeom>
          <a:noFill/>
          <a:ln w="9525">
            <a:noFill/>
            <a:miter lim="800000"/>
            <a:headEnd/>
            <a:tailEnd/>
          </a:ln>
        </p:spPr>
      </p:pic>
      <p:pic>
        <p:nvPicPr>
          <p:cNvPr id="1033" name="Picture 9"/>
          <p:cNvPicPr>
            <a:picLocks noChangeAspect="1" noChangeArrowheads="1"/>
          </p:cNvPicPr>
          <p:nvPr/>
        </p:nvPicPr>
        <p:blipFill>
          <a:blip r:embed="rId6" cstate="print"/>
          <a:srcRect/>
          <a:stretch>
            <a:fillRect/>
          </a:stretch>
        </p:blipFill>
        <p:spPr bwMode="auto">
          <a:xfrm>
            <a:off x="5791200" y="3200400"/>
            <a:ext cx="2881312" cy="1802899"/>
          </a:xfrm>
          <a:prstGeom prst="rect">
            <a:avLst/>
          </a:prstGeom>
          <a:noFill/>
          <a:ln w="9525">
            <a:noFill/>
            <a:miter lim="800000"/>
            <a:headEnd/>
            <a:tailEnd/>
          </a:ln>
        </p:spPr>
      </p:pic>
      <p:pic>
        <p:nvPicPr>
          <p:cNvPr id="1035" name="Picture 11"/>
          <p:cNvPicPr>
            <a:picLocks noChangeAspect="1" noChangeArrowheads="1"/>
          </p:cNvPicPr>
          <p:nvPr/>
        </p:nvPicPr>
        <p:blipFill>
          <a:blip r:embed="rId7" cstate="print"/>
          <a:srcRect/>
          <a:stretch>
            <a:fillRect/>
          </a:stretch>
        </p:blipFill>
        <p:spPr bwMode="auto">
          <a:xfrm>
            <a:off x="457200" y="6092826"/>
            <a:ext cx="1447800" cy="241300"/>
          </a:xfrm>
          <a:prstGeom prst="rect">
            <a:avLst/>
          </a:prstGeom>
          <a:noFill/>
          <a:ln w="9525">
            <a:noFill/>
            <a:miter lim="800000"/>
            <a:headEnd/>
            <a:tailEnd/>
          </a:ln>
        </p:spPr>
      </p:pic>
      <p:pic>
        <p:nvPicPr>
          <p:cNvPr id="1036" name="Picture 12"/>
          <p:cNvPicPr>
            <a:picLocks noChangeAspect="1" noChangeArrowheads="1"/>
          </p:cNvPicPr>
          <p:nvPr/>
        </p:nvPicPr>
        <p:blipFill>
          <a:blip r:embed="rId8" cstate="print"/>
          <a:srcRect/>
          <a:stretch>
            <a:fillRect/>
          </a:stretch>
        </p:blipFill>
        <p:spPr bwMode="auto">
          <a:xfrm>
            <a:off x="457200" y="6363483"/>
            <a:ext cx="1600200" cy="284967"/>
          </a:xfrm>
          <a:prstGeom prst="rect">
            <a:avLst/>
          </a:prstGeom>
          <a:noFill/>
          <a:ln w="9525">
            <a:noFill/>
            <a:miter lim="800000"/>
            <a:headEnd/>
            <a:tailEnd/>
          </a:ln>
        </p:spPr>
      </p:pic>
      <p:sp>
        <p:nvSpPr>
          <p:cNvPr id="13" name="Rectangle 12"/>
          <p:cNvSpPr/>
          <p:nvPr/>
        </p:nvSpPr>
        <p:spPr>
          <a:xfrm>
            <a:off x="2362200" y="6211669"/>
            <a:ext cx="6781800" cy="615553"/>
          </a:xfrm>
          <a:prstGeom prst="rect">
            <a:avLst/>
          </a:prstGeom>
        </p:spPr>
        <p:txBody>
          <a:bodyPr wrap="square">
            <a:spAutoFit/>
          </a:bodyPr>
          <a:lstStyle/>
          <a:p>
            <a:pPr marL="624078" indent="-514350"/>
            <a:r>
              <a:rPr lang="en-US" sz="1600" b="1" dirty="0"/>
              <a:t>Reject </a:t>
            </a:r>
            <a:r>
              <a:rPr lang="en-US" sz="1600" b="1" i="1" dirty="0"/>
              <a:t>H0 if the computed test statistic is in the critical region. Otherwise, </a:t>
            </a:r>
            <a:r>
              <a:rPr lang="en-US" sz="1600" b="1" dirty="0"/>
              <a:t>do not reject</a:t>
            </a:r>
            <a:r>
              <a:rPr lang="en-US" b="1" dirty="0"/>
              <a:t>.</a:t>
            </a:r>
          </a:p>
        </p:txBody>
      </p:sp>
      <p:pic>
        <p:nvPicPr>
          <p:cNvPr id="3074" name="Picture 2"/>
          <p:cNvPicPr>
            <a:picLocks noChangeAspect="1" noChangeArrowheads="1"/>
          </p:cNvPicPr>
          <p:nvPr/>
        </p:nvPicPr>
        <p:blipFill>
          <a:blip r:embed="rId9" cstate="print"/>
          <a:srcRect/>
          <a:stretch>
            <a:fillRect/>
          </a:stretch>
        </p:blipFill>
        <p:spPr bwMode="auto">
          <a:xfrm>
            <a:off x="381000" y="5181600"/>
            <a:ext cx="1657350" cy="876300"/>
          </a:xfrm>
          <a:prstGeom prst="rect">
            <a:avLst/>
          </a:prstGeom>
          <a:noFill/>
          <a:ln w="9525">
            <a:noFill/>
            <a:miter lim="800000"/>
            <a:headEnd/>
            <a:tailEnd/>
          </a:ln>
        </p:spPr>
      </p:pic>
      <p:sp>
        <p:nvSpPr>
          <p:cNvPr id="14" name="Rectangle 13"/>
          <p:cNvSpPr/>
          <p:nvPr/>
        </p:nvSpPr>
        <p:spPr>
          <a:xfrm>
            <a:off x="0" y="0"/>
            <a:ext cx="9144000" cy="369332"/>
          </a:xfrm>
          <a:prstGeom prst="rect">
            <a:avLst/>
          </a:prstGeom>
          <a:solidFill>
            <a:schemeClr val="accent2"/>
          </a:solidFill>
        </p:spPr>
        <p:txBody>
          <a:bodyPr wrap="square">
            <a:spAutoFit/>
          </a:bodyPr>
          <a:lstStyle/>
          <a:p>
            <a:r>
              <a:rPr lang="en-US" b="1" dirty="0">
                <a:solidFill>
                  <a:schemeClr val="bg1"/>
                </a:solidFill>
              </a:rPr>
              <a:t>Tests on a Single Mean (Population Variance unknown and n&lt;30)</a:t>
            </a:r>
            <a:endParaRPr lang="en-US" dirty="0">
              <a:solidFill>
                <a:schemeClr val="bg1"/>
              </a:solidFill>
            </a:endParaRPr>
          </a:p>
        </p:txBody>
      </p:sp>
      <p:pic>
        <p:nvPicPr>
          <p:cNvPr id="3076" name="Picture 4"/>
          <p:cNvPicPr>
            <a:picLocks noChangeAspect="1" noChangeArrowheads="1"/>
          </p:cNvPicPr>
          <p:nvPr/>
        </p:nvPicPr>
        <p:blipFill>
          <a:blip r:embed="rId10" cstate="print"/>
          <a:srcRect/>
          <a:stretch>
            <a:fillRect/>
          </a:stretch>
        </p:blipFill>
        <p:spPr bwMode="auto">
          <a:xfrm>
            <a:off x="457200" y="2362200"/>
            <a:ext cx="6825343" cy="8382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7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57200"/>
            <a:ext cx="8991600" cy="5736336"/>
          </a:xfrm>
        </p:spPr>
        <p:txBody>
          <a:bodyPr>
            <a:normAutofit/>
          </a:bodyPr>
          <a:lstStyle/>
          <a:p>
            <a:pPr>
              <a:buNone/>
            </a:pPr>
            <a:r>
              <a:rPr lang="en-US" dirty="0"/>
              <a:t>	</a:t>
            </a:r>
            <a:r>
              <a:rPr lang="en-US" sz="2000" dirty="0"/>
              <a:t>Example: The Edison Electric Institute has published figures on the number of kilowatt hours used annually by various home appliances. It is claimed that a vacuum cleaner uses an average of 46 kilowatt hours per year. If a random sample of 12 homes included in a planned study indicates that vacuum cleaners use an average of 42 kilowatt hours per year with a standard deviation of 11.9 kilowatt hours, does this suggest at the 0.05 level of significance that vacuum cleaners use, on average, less than 46 kilowatt hours annually? Assume the population of kilowatt hours to be normal.</a:t>
            </a:r>
          </a:p>
          <a:p>
            <a:pPr>
              <a:buNone/>
            </a:pPr>
            <a:r>
              <a:rPr lang="en-US" sz="2000" dirty="0"/>
              <a:t>	Solution:</a:t>
            </a:r>
          </a:p>
        </p:txBody>
      </p:sp>
      <p:pic>
        <p:nvPicPr>
          <p:cNvPr id="1027" name="Picture 3"/>
          <p:cNvPicPr>
            <a:picLocks noChangeAspect="1" noChangeArrowheads="1"/>
          </p:cNvPicPr>
          <p:nvPr/>
        </p:nvPicPr>
        <p:blipFill>
          <a:blip r:embed="rId2" cstate="print"/>
          <a:srcRect/>
          <a:stretch>
            <a:fillRect/>
          </a:stretch>
        </p:blipFill>
        <p:spPr bwMode="auto">
          <a:xfrm>
            <a:off x="533400" y="5943600"/>
            <a:ext cx="6477000" cy="714375"/>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609600" y="3552825"/>
            <a:ext cx="6562725" cy="23145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Tests on a Single Mean </a:t>
            </a:r>
            <a:r>
              <a:rPr lang="en-US" b="1" dirty="0">
                <a:solidFill>
                  <a:srgbClr val="FF0000"/>
                </a:solidFill>
              </a:rPr>
              <a:t>(Population Variance unknown and n≥30)</a:t>
            </a:r>
            <a:endParaRPr lang="en-US" dirty="0">
              <a:solidFill>
                <a:srgbClr val="FF0000"/>
              </a:solidFill>
            </a:endParaRPr>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381000" y="1600200"/>
            <a:ext cx="2667000" cy="789336"/>
          </a:xfrm>
          <a:prstGeom prst="rect">
            <a:avLst/>
          </a:prstGeom>
          <a:noFill/>
          <a:ln w="9525">
            <a:noFill/>
            <a:miter lim="800000"/>
            <a:headEnd/>
            <a:tailEnd/>
          </a:ln>
        </p:spPr>
      </p:pic>
      <p:pic>
        <p:nvPicPr>
          <p:cNvPr id="1029" name="Picture 5"/>
          <p:cNvPicPr>
            <a:picLocks noChangeAspect="1" noChangeArrowheads="1"/>
          </p:cNvPicPr>
          <p:nvPr/>
        </p:nvPicPr>
        <p:blipFill>
          <a:blip r:embed="rId3" cstate="print"/>
          <a:srcRect/>
          <a:stretch>
            <a:fillRect/>
          </a:stretch>
        </p:blipFill>
        <p:spPr bwMode="auto">
          <a:xfrm>
            <a:off x="457200" y="762000"/>
            <a:ext cx="6858000" cy="876670"/>
          </a:xfrm>
          <a:prstGeom prst="rect">
            <a:avLst/>
          </a:prstGeom>
          <a:noFill/>
          <a:ln w="9525">
            <a:noFill/>
            <a:miter lim="800000"/>
            <a:headEnd/>
            <a:tailEnd/>
          </a:ln>
        </p:spPr>
      </p:pic>
      <p:pic>
        <p:nvPicPr>
          <p:cNvPr id="1031" name="Picture 7"/>
          <p:cNvPicPr>
            <a:picLocks noChangeAspect="1" noChangeArrowheads="1"/>
          </p:cNvPicPr>
          <p:nvPr/>
        </p:nvPicPr>
        <p:blipFill>
          <a:blip r:embed="rId4" cstate="print"/>
          <a:srcRect/>
          <a:stretch>
            <a:fillRect/>
          </a:stretch>
        </p:blipFill>
        <p:spPr bwMode="auto">
          <a:xfrm>
            <a:off x="685800" y="3200400"/>
            <a:ext cx="2514600" cy="1789235"/>
          </a:xfrm>
          <a:prstGeom prst="rect">
            <a:avLst/>
          </a:prstGeom>
          <a:noFill/>
          <a:ln w="9525">
            <a:noFill/>
            <a:miter lim="800000"/>
            <a:headEnd/>
            <a:tailEnd/>
          </a:ln>
        </p:spPr>
      </p:pic>
      <p:pic>
        <p:nvPicPr>
          <p:cNvPr id="1032" name="Picture 8"/>
          <p:cNvPicPr>
            <a:picLocks noChangeAspect="1" noChangeArrowheads="1"/>
          </p:cNvPicPr>
          <p:nvPr/>
        </p:nvPicPr>
        <p:blipFill>
          <a:blip r:embed="rId5" cstate="print"/>
          <a:srcRect/>
          <a:stretch>
            <a:fillRect/>
          </a:stretch>
        </p:blipFill>
        <p:spPr bwMode="auto">
          <a:xfrm>
            <a:off x="3352800" y="3352801"/>
            <a:ext cx="2400300" cy="1600200"/>
          </a:xfrm>
          <a:prstGeom prst="rect">
            <a:avLst/>
          </a:prstGeom>
          <a:noFill/>
          <a:ln w="9525">
            <a:noFill/>
            <a:miter lim="800000"/>
            <a:headEnd/>
            <a:tailEnd/>
          </a:ln>
        </p:spPr>
      </p:pic>
      <p:pic>
        <p:nvPicPr>
          <p:cNvPr id="1033" name="Picture 9"/>
          <p:cNvPicPr>
            <a:picLocks noChangeAspect="1" noChangeArrowheads="1"/>
          </p:cNvPicPr>
          <p:nvPr/>
        </p:nvPicPr>
        <p:blipFill>
          <a:blip r:embed="rId6" cstate="print"/>
          <a:srcRect/>
          <a:stretch>
            <a:fillRect/>
          </a:stretch>
        </p:blipFill>
        <p:spPr bwMode="auto">
          <a:xfrm>
            <a:off x="5791200" y="3200400"/>
            <a:ext cx="2881312" cy="1802899"/>
          </a:xfrm>
          <a:prstGeom prst="rect">
            <a:avLst/>
          </a:prstGeom>
          <a:noFill/>
          <a:ln w="9525">
            <a:noFill/>
            <a:miter lim="800000"/>
            <a:headEnd/>
            <a:tailEnd/>
          </a:ln>
        </p:spPr>
      </p:pic>
      <p:pic>
        <p:nvPicPr>
          <p:cNvPr id="1035" name="Picture 11"/>
          <p:cNvPicPr>
            <a:picLocks noChangeAspect="1" noChangeArrowheads="1"/>
          </p:cNvPicPr>
          <p:nvPr/>
        </p:nvPicPr>
        <p:blipFill>
          <a:blip r:embed="rId7" cstate="print"/>
          <a:srcRect/>
          <a:stretch>
            <a:fillRect/>
          </a:stretch>
        </p:blipFill>
        <p:spPr bwMode="auto">
          <a:xfrm>
            <a:off x="381000" y="6019800"/>
            <a:ext cx="1447800" cy="241300"/>
          </a:xfrm>
          <a:prstGeom prst="rect">
            <a:avLst/>
          </a:prstGeom>
          <a:noFill/>
          <a:ln w="9525">
            <a:noFill/>
            <a:miter lim="800000"/>
            <a:headEnd/>
            <a:tailEnd/>
          </a:ln>
        </p:spPr>
      </p:pic>
      <p:pic>
        <p:nvPicPr>
          <p:cNvPr id="1036" name="Picture 12"/>
          <p:cNvPicPr>
            <a:picLocks noChangeAspect="1" noChangeArrowheads="1"/>
          </p:cNvPicPr>
          <p:nvPr/>
        </p:nvPicPr>
        <p:blipFill>
          <a:blip r:embed="rId8" cstate="print"/>
          <a:srcRect/>
          <a:stretch>
            <a:fillRect/>
          </a:stretch>
        </p:blipFill>
        <p:spPr bwMode="auto">
          <a:xfrm>
            <a:off x="381000" y="6363483"/>
            <a:ext cx="1600200" cy="284967"/>
          </a:xfrm>
          <a:prstGeom prst="rect">
            <a:avLst/>
          </a:prstGeom>
          <a:noFill/>
          <a:ln w="9525">
            <a:noFill/>
            <a:miter lim="800000"/>
            <a:headEnd/>
            <a:tailEnd/>
          </a:ln>
        </p:spPr>
      </p:pic>
      <p:sp>
        <p:nvSpPr>
          <p:cNvPr id="13" name="Rectangle 12"/>
          <p:cNvSpPr/>
          <p:nvPr/>
        </p:nvSpPr>
        <p:spPr>
          <a:xfrm>
            <a:off x="2362200" y="6211669"/>
            <a:ext cx="6781800" cy="615553"/>
          </a:xfrm>
          <a:prstGeom prst="rect">
            <a:avLst/>
          </a:prstGeom>
        </p:spPr>
        <p:txBody>
          <a:bodyPr wrap="square">
            <a:spAutoFit/>
          </a:bodyPr>
          <a:lstStyle/>
          <a:p>
            <a:pPr marL="624078" indent="-514350"/>
            <a:r>
              <a:rPr lang="en-US" sz="1600" b="1" dirty="0"/>
              <a:t>Reject </a:t>
            </a:r>
            <a:r>
              <a:rPr lang="en-US" sz="1600" b="1" i="1" dirty="0"/>
              <a:t>H0 if the computed test statistic is in the critical region. Otherwise, </a:t>
            </a:r>
            <a:r>
              <a:rPr lang="en-US" sz="1600" b="1" dirty="0"/>
              <a:t>do not reject</a:t>
            </a:r>
            <a:r>
              <a:rPr lang="en-US" b="1" dirty="0"/>
              <a:t>.</a:t>
            </a:r>
          </a:p>
        </p:txBody>
      </p:sp>
      <p:pic>
        <p:nvPicPr>
          <p:cNvPr id="2050" name="Picture 2"/>
          <p:cNvPicPr>
            <a:picLocks noChangeAspect="1" noChangeArrowheads="1"/>
          </p:cNvPicPr>
          <p:nvPr/>
        </p:nvPicPr>
        <p:blipFill>
          <a:blip r:embed="rId9" cstate="print"/>
          <a:srcRect/>
          <a:stretch>
            <a:fillRect/>
          </a:stretch>
        </p:blipFill>
        <p:spPr bwMode="auto">
          <a:xfrm>
            <a:off x="381000" y="5105400"/>
            <a:ext cx="1828800" cy="819150"/>
          </a:xfrm>
          <a:prstGeom prst="rect">
            <a:avLst/>
          </a:prstGeom>
          <a:noFill/>
          <a:ln w="9525">
            <a:noFill/>
            <a:miter lim="800000"/>
            <a:headEnd/>
            <a:tailEnd/>
          </a:ln>
        </p:spPr>
      </p:pic>
      <p:sp>
        <p:nvSpPr>
          <p:cNvPr id="14" name="Rectangle 13"/>
          <p:cNvSpPr/>
          <p:nvPr/>
        </p:nvSpPr>
        <p:spPr>
          <a:xfrm>
            <a:off x="0" y="0"/>
            <a:ext cx="9144000" cy="369332"/>
          </a:xfrm>
          <a:prstGeom prst="rect">
            <a:avLst/>
          </a:prstGeom>
          <a:solidFill>
            <a:schemeClr val="accent2"/>
          </a:solidFill>
        </p:spPr>
        <p:txBody>
          <a:bodyPr wrap="square">
            <a:spAutoFit/>
          </a:bodyPr>
          <a:lstStyle/>
          <a:p>
            <a:r>
              <a:rPr lang="en-US" b="1" dirty="0">
                <a:solidFill>
                  <a:schemeClr val="bg1"/>
                </a:solidFill>
              </a:rPr>
              <a:t>Tests on a Single Mean (Population Variance unknown and n≥30)</a:t>
            </a:r>
            <a:endParaRPr lang="en-US" dirty="0">
              <a:solidFill>
                <a:schemeClr val="bg1"/>
              </a:solidFill>
            </a:endParaRPr>
          </a:p>
        </p:txBody>
      </p:sp>
      <p:pic>
        <p:nvPicPr>
          <p:cNvPr id="1026" name="Picture 2"/>
          <p:cNvPicPr>
            <a:picLocks noChangeAspect="1" noChangeArrowheads="1"/>
          </p:cNvPicPr>
          <p:nvPr/>
        </p:nvPicPr>
        <p:blipFill>
          <a:blip r:embed="rId10" cstate="print"/>
          <a:srcRect/>
          <a:stretch>
            <a:fillRect/>
          </a:stretch>
        </p:blipFill>
        <p:spPr bwMode="auto">
          <a:xfrm>
            <a:off x="381000" y="2362200"/>
            <a:ext cx="7264400" cy="8382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a:t>
            </a:r>
          </a:p>
        </p:txBody>
      </p:sp>
      <p:sp>
        <p:nvSpPr>
          <p:cNvPr id="3" name="Content Placeholder 2"/>
          <p:cNvSpPr>
            <a:spLocks noGrp="1"/>
          </p:cNvSpPr>
          <p:nvPr>
            <p:ph idx="1"/>
          </p:nvPr>
        </p:nvSpPr>
        <p:spPr/>
        <p:txBody>
          <a:bodyPr/>
          <a:lstStyle/>
          <a:p>
            <a:pPr>
              <a:buNone/>
            </a:pPr>
            <a:r>
              <a:rPr lang="en-US" dirty="0"/>
              <a:t>10.19</a:t>
            </a:r>
          </a:p>
          <a:p>
            <a:pPr>
              <a:buNone/>
            </a:pPr>
            <a:r>
              <a:rPr lang="en-US" dirty="0"/>
              <a:t>10.20</a:t>
            </a:r>
          </a:p>
          <a:p>
            <a:pPr>
              <a:buNone/>
            </a:pPr>
            <a:r>
              <a:rPr lang="en-US" dirty="0"/>
              <a:t>10.21</a:t>
            </a:r>
          </a:p>
          <a:p>
            <a:pPr>
              <a:buNone/>
            </a:pPr>
            <a:r>
              <a:rPr lang="en-US" dirty="0"/>
              <a:t>10.22</a:t>
            </a:r>
          </a:p>
          <a:p>
            <a:pPr>
              <a:buNone/>
            </a:pPr>
            <a:r>
              <a:rPr lang="en-US"/>
              <a:t>10.23</a:t>
            </a:r>
            <a:endParaRPr lang="en-US" dirty="0"/>
          </a:p>
          <a:p>
            <a:pPr>
              <a:buNone/>
            </a:pPr>
            <a:r>
              <a:rPr lang="en-US" dirty="0"/>
              <a:t>10.24</a:t>
            </a:r>
          </a:p>
          <a:p>
            <a:pPr>
              <a:buNone/>
            </a:pPr>
            <a:r>
              <a:rPr lang="en-US" dirty="0"/>
              <a:t>10.25</a:t>
            </a:r>
          </a:p>
          <a:p>
            <a:pPr>
              <a:buNone/>
            </a:pPr>
            <a:r>
              <a:rPr lang="en-US" dirty="0"/>
              <a:t>10.26</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497</TotalTime>
  <Words>584</Words>
  <Application>Microsoft Office PowerPoint</Application>
  <PresentationFormat>On-screen Show (4:3)</PresentationFormat>
  <Paragraphs>60</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Georgia</vt:lpstr>
      <vt:lpstr>Trebuchet MS</vt:lpstr>
      <vt:lpstr>Wingdings 2</vt:lpstr>
      <vt:lpstr>Urban</vt:lpstr>
      <vt:lpstr>Testing of Hypothesis</vt:lpstr>
      <vt:lpstr>Hypothesis Testing</vt:lpstr>
      <vt:lpstr>The Null and Alternative Hypotheses</vt:lpstr>
      <vt:lpstr>Test Statistic</vt:lpstr>
      <vt:lpstr>Approach to Hypothesis Testing with Fixed Probability</vt:lpstr>
      <vt:lpstr>Single Sample: Tests Concerning a Single Mean</vt:lpstr>
      <vt:lpstr>Tests on a Single Mean (Population Variance Known)</vt:lpstr>
      <vt:lpstr>PowerPoint Presentation</vt:lpstr>
      <vt:lpstr>PowerPoint Presentation</vt:lpstr>
      <vt:lpstr>PowerPoint Presentation</vt:lpstr>
      <vt:lpstr>The t-Statistic for a Test on a Single Mean (Population Variance Unknown)</vt:lpstr>
      <vt:lpstr>Tests on a Single Mean (Population Variance unknown and n&lt;30)</vt:lpstr>
      <vt:lpstr>PowerPoint Presentation</vt:lpstr>
      <vt:lpstr>PowerPoint Presentation</vt:lpstr>
      <vt:lpstr>Tests on a Single Mean (Population Variance unknown and n≥30)</vt:lpstr>
      <vt:lpstr>PowerPoint Presentation</vt:lpstr>
      <vt:lpstr>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of Hypothesis</dc:title>
  <dc:creator>shahjee</dc:creator>
  <cp:lastModifiedBy>amna humayun</cp:lastModifiedBy>
  <cp:revision>36</cp:revision>
  <dcterms:created xsi:type="dcterms:W3CDTF">2015-12-09T03:38:47Z</dcterms:created>
  <dcterms:modified xsi:type="dcterms:W3CDTF">2024-05-19T20:18:21Z</dcterms:modified>
</cp:coreProperties>
</file>