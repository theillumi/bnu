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60" r:id="rId4"/>
    <p:sldId id="257" r:id="rId5"/>
    <p:sldId id="268" r:id="rId6"/>
    <p:sldId id="269" r:id="rId7"/>
    <p:sldId id="261" r:id="rId8"/>
    <p:sldId id="262" r:id="rId9"/>
    <p:sldId id="264" r:id="rId10"/>
    <p:sldId id="266" r:id="rId11"/>
    <p:sldId id="267" r:id="rId12"/>
    <p:sldId id="265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4E48216D-B22D-470A-BBA6-AAD138FF9297}" type="datetimeFigureOut">
              <a:rPr lang="en-US" smtClean="0"/>
              <a:pPr/>
              <a:t>5/28/2024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7BCF9043-82D7-41A1-A47C-28C2D52B9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Simple Linear Regression and Correlation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B81F5-C50E-45C6-B1F3-2ED429A5101F}" type="slidenum">
              <a:rPr lang="en-US"/>
              <a:pPr/>
              <a:t>2</a:t>
            </a:fld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/>
              <a:t>Introduction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will examine the relationship between x(independent variable) and y(dependent variable) via a mathematical equation.</a:t>
            </a:r>
          </a:p>
          <a:p>
            <a:r>
              <a:rPr lang="en-US" dirty="0"/>
              <a:t>The motivation for using the technique:</a:t>
            </a:r>
          </a:p>
          <a:p>
            <a:pPr lvl="1"/>
            <a:r>
              <a:rPr lang="en-US" dirty="0"/>
              <a:t>Forecast the value of a dependent variable (y) from the quantitative variables x value of independent variables (x</a:t>
            </a:r>
            <a:r>
              <a:rPr lang="en-US" baseline="-25000" dirty="0"/>
              <a:t>1</a:t>
            </a:r>
            <a:r>
              <a:rPr lang="en-US" dirty="0"/>
              <a:t>, x</a:t>
            </a:r>
            <a:r>
              <a:rPr lang="en-US" baseline="-25000" dirty="0"/>
              <a:t>2</a:t>
            </a:r>
            <a:r>
              <a:rPr lang="en-US" dirty="0"/>
              <a:t>,…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.).</a:t>
            </a:r>
          </a:p>
          <a:p>
            <a:pPr lvl="1"/>
            <a:r>
              <a:rPr lang="en-US" dirty="0"/>
              <a:t>Analyze the specific relationships between the independent variables and the dependent variable.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013ED-96C5-4AE2-876E-311993B095CC}" type="slidenum">
              <a:rPr lang="en-US"/>
              <a:pPr/>
              <a:t>3</a:t>
            </a:fld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/>
              <a:t>The Simple Linear Regression  Model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The first order linear model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 lvl="1">
              <a:lnSpc>
                <a:spcPct val="90000"/>
              </a:lnSpc>
              <a:buFontTx/>
              <a:buNone/>
            </a:pPr>
            <a:endParaRPr lang="en-US"/>
          </a:p>
          <a:p>
            <a:pPr lvl="1">
              <a:lnSpc>
                <a:spcPct val="90000"/>
              </a:lnSpc>
              <a:buFontTx/>
              <a:buNone/>
            </a:pPr>
            <a:r>
              <a:rPr lang="en-US"/>
              <a:t>y = 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/>
              <a:t>x = independent variable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>
                <a:latin typeface="Symbol" pitchFamily="18" charset="2"/>
              </a:rPr>
              <a:t>b</a:t>
            </a:r>
            <a:r>
              <a:rPr lang="en-US" sz="2400" baseline="-25000"/>
              <a:t>0</a:t>
            </a:r>
            <a:r>
              <a:rPr lang="en-US"/>
              <a:t> = y-intercept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>
                <a:latin typeface="Symbol" pitchFamily="18" charset="2"/>
              </a:rPr>
              <a:t>b</a:t>
            </a:r>
            <a:r>
              <a:rPr lang="en-US" sz="2400" baseline="-25000"/>
              <a:t>1</a:t>
            </a:r>
            <a:r>
              <a:rPr lang="en-US"/>
              <a:t> = slope of the line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>
                <a:latin typeface="Symbol" pitchFamily="18" charset="2"/>
              </a:rPr>
              <a:t>e</a:t>
            </a:r>
            <a:r>
              <a:rPr lang="en-US"/>
              <a:t> = error variable</a:t>
            </a:r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2971800" y="2667000"/>
          <a:ext cx="268605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190440" progId="Equation.3">
                  <p:embed/>
                </p:oleObj>
              </mc:Choice>
              <mc:Fallback>
                <p:oleObj name="Equation" r:id="rId2" imgW="799920" imgH="1904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2667000"/>
                        <a:ext cx="2686050" cy="6397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effectLst>
                        <a:outerShdw dist="117088" dir="18636078" algn="ctr" rotWithShape="0">
                          <a:srgbClr val="2C2CB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410200" y="3962400"/>
            <a:ext cx="2667000" cy="1981200"/>
            <a:chOff x="3408" y="2496"/>
            <a:chExt cx="1680" cy="1248"/>
          </a:xfrm>
        </p:grpSpPr>
        <p:sp>
          <p:nvSpPr>
            <p:cNvPr id="5125" name="Line 5"/>
            <p:cNvSpPr>
              <a:spLocks noChangeShapeType="1"/>
            </p:cNvSpPr>
            <p:nvPr/>
          </p:nvSpPr>
          <p:spPr bwMode="auto">
            <a:xfrm>
              <a:off x="3408" y="2496"/>
              <a:ext cx="0" cy="1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6" name="Line 6"/>
            <p:cNvSpPr>
              <a:spLocks noChangeShapeType="1"/>
            </p:cNvSpPr>
            <p:nvPr/>
          </p:nvSpPr>
          <p:spPr bwMode="auto">
            <a:xfrm>
              <a:off x="3408" y="3744"/>
              <a:ext cx="1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7832725" y="5867400"/>
            <a:ext cx="309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x</a:t>
            </a:r>
          </a:p>
        </p:txBody>
      </p:sp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5165725" y="3775075"/>
            <a:ext cx="3095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400">
                <a:solidFill>
                  <a:schemeClr val="tx1"/>
                </a:solidFill>
              </a:rPr>
              <a:t>y</a:t>
            </a:r>
          </a:p>
        </p:txBody>
      </p:sp>
      <p:sp>
        <p:nvSpPr>
          <p:cNvPr id="5131" name="Line 11"/>
          <p:cNvSpPr>
            <a:spLocks noChangeShapeType="1"/>
          </p:cNvSpPr>
          <p:nvPr/>
        </p:nvSpPr>
        <p:spPr bwMode="auto">
          <a:xfrm flipV="1">
            <a:off x="5410200" y="4114800"/>
            <a:ext cx="243840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5089525" y="5595938"/>
            <a:ext cx="3857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chemeClr val="tx1"/>
                </a:solidFill>
                <a:latin typeface="Symbol" pitchFamily="18" charset="2"/>
              </a:rPr>
              <a:t>b</a:t>
            </a:r>
            <a:r>
              <a:rPr lang="en-US" baseline="-25000">
                <a:solidFill>
                  <a:schemeClr val="tx1"/>
                </a:solidFill>
                <a:latin typeface="Times New Roman" pitchFamily="18" charset="0"/>
              </a:rPr>
              <a:t>0</a:t>
            </a:r>
            <a:endParaRPr lang="en-US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133" name="Freeform 13"/>
          <p:cNvSpPr>
            <a:spLocks/>
          </p:cNvSpPr>
          <p:nvPr/>
        </p:nvSpPr>
        <p:spPr bwMode="auto">
          <a:xfrm>
            <a:off x="5638800" y="5105400"/>
            <a:ext cx="685800" cy="4572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432" y="288"/>
              </a:cxn>
              <a:cxn ang="0">
                <a:pos x="432" y="0"/>
              </a:cxn>
            </a:cxnLst>
            <a:rect l="0" t="0" r="r" b="b"/>
            <a:pathLst>
              <a:path w="432" h="288">
                <a:moveTo>
                  <a:pt x="0" y="288"/>
                </a:moveTo>
                <a:lnTo>
                  <a:pt x="432" y="288"/>
                </a:lnTo>
                <a:lnTo>
                  <a:pt x="43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7146925" y="5214938"/>
            <a:ext cx="46198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  <a:latin typeface="Symbol" pitchFamily="18" charset="2"/>
              </a:rPr>
              <a:t>B</a:t>
            </a:r>
            <a:r>
              <a:rPr lang="en-US" baseline="-25000" dirty="0">
                <a:solidFill>
                  <a:schemeClr val="tx1"/>
                </a:solidFill>
                <a:latin typeface="Symbol" pitchFamily="18" charset="2"/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137" name="Line 17"/>
          <p:cNvSpPr>
            <a:spLocks noChangeShapeType="1"/>
          </p:cNvSpPr>
          <p:nvPr/>
        </p:nvSpPr>
        <p:spPr bwMode="auto">
          <a:xfrm flipH="1">
            <a:off x="5334000" y="5715000"/>
            <a:ext cx="7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138" name="Text Box 18"/>
          <p:cNvSpPr txBox="1">
            <a:spLocks noChangeArrowheads="1"/>
          </p:cNvSpPr>
          <p:nvPr/>
        </p:nvSpPr>
        <p:spPr bwMode="auto">
          <a:xfrm>
            <a:off x="5715000" y="3503613"/>
            <a:ext cx="3243263" cy="925512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>
                <a:solidFill>
                  <a:schemeClr val="tx1"/>
                </a:solidFill>
                <a:latin typeface="Symbol" pitchFamily="18" charset="2"/>
              </a:rPr>
              <a:t>b</a:t>
            </a:r>
            <a:r>
              <a:rPr lang="en-US" baseline="-25000">
                <a:solidFill>
                  <a:schemeClr val="tx1"/>
                </a:solidFill>
              </a:rPr>
              <a:t>0</a:t>
            </a:r>
            <a:r>
              <a:rPr lang="en-US">
                <a:solidFill>
                  <a:schemeClr val="tx1"/>
                </a:solidFill>
              </a:rPr>
              <a:t> and </a:t>
            </a:r>
            <a:r>
              <a:rPr lang="en-US">
                <a:solidFill>
                  <a:schemeClr val="tx1"/>
                </a:solidFill>
                <a:latin typeface="Symbol" pitchFamily="18" charset="2"/>
              </a:rPr>
              <a:t>b</a:t>
            </a:r>
            <a:r>
              <a:rPr lang="en-US" baseline="-25000">
                <a:solidFill>
                  <a:schemeClr val="tx1"/>
                </a:solidFill>
              </a:rPr>
              <a:t>1</a:t>
            </a:r>
            <a:r>
              <a:rPr lang="en-US">
                <a:solidFill>
                  <a:schemeClr val="tx1"/>
                </a:solidFill>
              </a:rPr>
              <a:t> are unknown population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parameters, therefore are estimated </a:t>
            </a:r>
          </a:p>
          <a:p>
            <a:pPr algn="l"/>
            <a:r>
              <a:rPr lang="en-US">
                <a:solidFill>
                  <a:schemeClr val="tx1"/>
                </a:solidFill>
              </a:rPr>
              <a:t>from the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8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457200" y="1676400"/>
            <a:ext cx="70802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</a:rPr>
              <a:t>The regression equation that estimates the equation of the first order linear model is: 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685800" y="2590800"/>
          <a:ext cx="2590800" cy="81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228600" progId="">
                  <p:embed/>
                </p:oleObj>
              </mc:Choice>
              <mc:Fallback>
                <p:oleObj name="Equation" r:id="rId2" imgW="723600" imgH="2286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590800"/>
                        <a:ext cx="2590800" cy="812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189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3581400"/>
            <a:ext cx="5446643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" y="4667250"/>
            <a:ext cx="6372225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E06D7A-CE1C-6588-DB23-5BC5EF099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0"/>
            <a:ext cx="4191000" cy="21946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23807F-A943-A9C1-9FE5-A479DF11C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440" y="2438400"/>
            <a:ext cx="5567120" cy="270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94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D9C7C2-C52A-A26C-B4F7-95379A56C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9041"/>
            <a:ext cx="6110689" cy="2971800"/>
          </a:xfrm>
          <a:prstGeom prst="rect">
            <a:avLst/>
          </a:prstGeom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66BC33D-60B5-DB84-D0D3-32F4DF24A6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20125" t="29930" r="36272" b="9095"/>
          <a:stretch/>
        </p:blipFill>
        <p:spPr bwMode="auto">
          <a:xfrm>
            <a:off x="1066799" y="3649338"/>
            <a:ext cx="6110689" cy="2937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51219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457200" y="1676400"/>
            <a:ext cx="70802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</a:rPr>
              <a:t>The regression equation that estimates the equation of the first order linear model is: 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609600" y="2590800"/>
          <a:ext cx="2590800" cy="81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23600" imgH="228600" progId="">
                  <p:embed/>
                </p:oleObj>
              </mc:Choice>
              <mc:Fallback>
                <p:oleObj name="Equation" r:id="rId2" imgW="723600" imgH="2286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90800"/>
                        <a:ext cx="2590800" cy="8120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2857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18900000" algn="ctr" rotWithShape="0">
                          <a:schemeClr val="tx1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85725" y="3805664"/>
          <a:ext cx="4181475" cy="116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880" imgH="482400" progId="Equation.3">
                  <p:embed/>
                </p:oleObj>
              </mc:Choice>
              <mc:Fallback>
                <p:oleObj name="Equation" r:id="rId4" imgW="1739880" imgH="4824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" y="3805664"/>
                        <a:ext cx="4181475" cy="1160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38200" y="5410200"/>
          <a:ext cx="2895600" cy="873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99920" imgH="241200" progId="Equation.3">
                  <p:embed/>
                </p:oleObj>
              </mc:Choice>
              <mc:Fallback>
                <p:oleObj name="Equation" r:id="rId6" imgW="79992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410200"/>
                        <a:ext cx="2895600" cy="8732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4876800" y="3886200"/>
          <a:ext cx="4245514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28800" imgH="482400" progId="Equation.3">
                  <p:embed/>
                </p:oleObj>
              </mc:Choice>
              <mc:Fallback>
                <p:oleObj name="Equation" r:id="rId8" imgW="1828800" imgH="4824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886200"/>
                        <a:ext cx="4245514" cy="1155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52400"/>
            <a:ext cx="56769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762000" y="3505200"/>
            <a:ext cx="7239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Estimate the regression line for the pollution data of Table 11.1.</a:t>
            </a:r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962400"/>
            <a:ext cx="6477000" cy="609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4495800"/>
            <a:ext cx="5715000" cy="2308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371600"/>
            <a:ext cx="5681114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Correlation</a:t>
            </a:r>
          </a:p>
        </p:txBody>
      </p:sp>
      <p:sp>
        <p:nvSpPr>
          <p:cNvPr id="962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017713"/>
            <a:ext cx="8345488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Measures the relative strength of the </a:t>
            </a:r>
            <a:r>
              <a:rPr lang="en-US" sz="2800" i="1" dirty="0"/>
              <a:t>linear </a:t>
            </a:r>
            <a:r>
              <a:rPr lang="en-US" sz="2800" dirty="0"/>
              <a:t>relationship between two variables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Ranges between –1 and 1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closer to –1, the stronger the negative linear relationship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closer to 1, the stronger the positive linear relationship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The closer to 0, the weaker any positive linear relationship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6" name="Line 2"/>
          <p:cNvSpPr>
            <a:spLocks noChangeShapeType="1"/>
          </p:cNvSpPr>
          <p:nvPr/>
        </p:nvSpPr>
        <p:spPr bwMode="auto">
          <a:xfrm>
            <a:off x="6400800" y="25908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07" name="Line 3"/>
          <p:cNvSpPr>
            <a:spLocks noChangeShapeType="1"/>
          </p:cNvSpPr>
          <p:nvPr/>
        </p:nvSpPr>
        <p:spPr bwMode="auto">
          <a:xfrm>
            <a:off x="6394450" y="51816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08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402638" cy="1143000"/>
          </a:xfrm>
        </p:spPr>
        <p:txBody>
          <a:bodyPr>
            <a:normAutofit fontScale="90000"/>
          </a:bodyPr>
          <a:lstStyle/>
          <a:p>
            <a:pPr>
              <a:lnSpc>
                <a:spcPct val="80000"/>
              </a:lnSpc>
            </a:pPr>
            <a:r>
              <a:rPr lang="en-US"/>
              <a:t>Scatter Plots of Data with Various Correlation Coefficients</a:t>
            </a:r>
          </a:p>
        </p:txBody>
      </p:sp>
      <p:sp>
        <p:nvSpPr>
          <p:cNvPr id="968709" name="Line 5"/>
          <p:cNvSpPr>
            <a:spLocks noChangeShapeType="1"/>
          </p:cNvSpPr>
          <p:nvPr/>
        </p:nvSpPr>
        <p:spPr bwMode="auto">
          <a:xfrm>
            <a:off x="414338" y="19859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10" name="Line 6"/>
          <p:cNvSpPr>
            <a:spLocks noChangeShapeType="1"/>
          </p:cNvSpPr>
          <p:nvPr/>
        </p:nvSpPr>
        <p:spPr bwMode="auto">
          <a:xfrm flipH="1" flipV="1">
            <a:off x="414338" y="2133600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11" name="Oval 7"/>
          <p:cNvSpPr>
            <a:spLocks noChangeArrowheads="1"/>
          </p:cNvSpPr>
          <p:nvPr/>
        </p:nvSpPr>
        <p:spPr bwMode="auto">
          <a:xfrm rot="7282380" flipH="1">
            <a:off x="2532063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12" name="Oval 8"/>
          <p:cNvSpPr>
            <a:spLocks noChangeArrowheads="1"/>
          </p:cNvSpPr>
          <p:nvPr/>
        </p:nvSpPr>
        <p:spPr bwMode="auto">
          <a:xfrm rot="7282380" flipH="1">
            <a:off x="1770063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13" name="Oval 9"/>
          <p:cNvSpPr>
            <a:spLocks noChangeArrowheads="1"/>
          </p:cNvSpPr>
          <p:nvPr/>
        </p:nvSpPr>
        <p:spPr bwMode="auto">
          <a:xfrm rot="7282380" flipH="1">
            <a:off x="1465263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14" name="Oval 10"/>
          <p:cNvSpPr>
            <a:spLocks noChangeArrowheads="1"/>
          </p:cNvSpPr>
          <p:nvPr/>
        </p:nvSpPr>
        <p:spPr bwMode="auto">
          <a:xfrm rot="7282380" flipH="1">
            <a:off x="474663" y="2057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15" name="Oval 11"/>
          <p:cNvSpPr>
            <a:spLocks noChangeArrowheads="1"/>
          </p:cNvSpPr>
          <p:nvPr/>
        </p:nvSpPr>
        <p:spPr bwMode="auto">
          <a:xfrm rot="7282380" flipH="1">
            <a:off x="855663" y="2209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16" name="Oval 12"/>
          <p:cNvSpPr>
            <a:spLocks noChangeArrowheads="1"/>
          </p:cNvSpPr>
          <p:nvPr/>
        </p:nvSpPr>
        <p:spPr bwMode="auto">
          <a:xfrm rot="7282380" flipH="1">
            <a:off x="1160463" y="2286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rot="10800000" vert="eaVert" wrap="none" anchor="ctr"/>
          <a:lstStyle/>
          <a:p>
            <a:pPr algn="ctr"/>
            <a:endParaRPr lang="en-US" sz="2400" b="0" baseline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968717" name="Text Box 13"/>
          <p:cNvSpPr txBox="1">
            <a:spLocks noChangeArrowheads="1"/>
          </p:cNvSpPr>
          <p:nvPr/>
        </p:nvSpPr>
        <p:spPr bwMode="auto">
          <a:xfrm>
            <a:off x="169863" y="16002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Y</a:t>
            </a:r>
          </a:p>
        </p:txBody>
      </p:sp>
      <p:sp>
        <p:nvSpPr>
          <p:cNvPr id="968718" name="Line 14"/>
          <p:cNvSpPr>
            <a:spLocks noChangeShapeType="1"/>
          </p:cNvSpPr>
          <p:nvPr/>
        </p:nvSpPr>
        <p:spPr bwMode="auto">
          <a:xfrm>
            <a:off x="398463" y="3505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19" name="Oval 15"/>
          <p:cNvSpPr>
            <a:spLocks noChangeArrowheads="1"/>
          </p:cNvSpPr>
          <p:nvPr/>
        </p:nvSpPr>
        <p:spPr bwMode="auto">
          <a:xfrm rot="7282380" flipH="1">
            <a:off x="2151063" y="2667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20" name="Text Box 16"/>
          <p:cNvSpPr txBox="1">
            <a:spLocks noChangeArrowheads="1"/>
          </p:cNvSpPr>
          <p:nvPr/>
        </p:nvSpPr>
        <p:spPr bwMode="auto">
          <a:xfrm>
            <a:off x="2660650" y="32766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X</a:t>
            </a:r>
          </a:p>
        </p:txBody>
      </p:sp>
      <p:sp>
        <p:nvSpPr>
          <p:cNvPr id="968721" name="Line 17"/>
          <p:cNvSpPr>
            <a:spLocks noChangeShapeType="1"/>
          </p:cNvSpPr>
          <p:nvPr/>
        </p:nvSpPr>
        <p:spPr bwMode="auto">
          <a:xfrm>
            <a:off x="3368675" y="19859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22" name="Line 18"/>
          <p:cNvSpPr>
            <a:spLocks noChangeShapeType="1"/>
          </p:cNvSpPr>
          <p:nvPr/>
        </p:nvSpPr>
        <p:spPr bwMode="auto">
          <a:xfrm flipH="1" flipV="1">
            <a:off x="3368675" y="2133600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23" name="Oval 19"/>
          <p:cNvSpPr>
            <a:spLocks noChangeArrowheads="1"/>
          </p:cNvSpPr>
          <p:nvPr/>
        </p:nvSpPr>
        <p:spPr bwMode="auto">
          <a:xfrm rot="-7282380">
            <a:off x="5486400" y="3124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24" name="Oval 20"/>
          <p:cNvSpPr>
            <a:spLocks noChangeArrowheads="1"/>
          </p:cNvSpPr>
          <p:nvPr/>
        </p:nvSpPr>
        <p:spPr bwMode="auto">
          <a:xfrm rot="-7282380">
            <a:off x="5410200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25" name="Oval 21"/>
          <p:cNvSpPr>
            <a:spLocks noChangeArrowheads="1"/>
          </p:cNvSpPr>
          <p:nvPr/>
        </p:nvSpPr>
        <p:spPr bwMode="auto">
          <a:xfrm rot="-7282380">
            <a:off x="3581400" y="1752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26" name="Oval 22"/>
          <p:cNvSpPr>
            <a:spLocks noChangeArrowheads="1"/>
          </p:cNvSpPr>
          <p:nvPr/>
        </p:nvSpPr>
        <p:spPr bwMode="auto">
          <a:xfrm rot="-7282380">
            <a:off x="3733800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27" name="Oval 23"/>
          <p:cNvSpPr>
            <a:spLocks noChangeArrowheads="1"/>
          </p:cNvSpPr>
          <p:nvPr/>
        </p:nvSpPr>
        <p:spPr bwMode="auto">
          <a:xfrm rot="-7282380">
            <a:off x="5105400" y="2971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28" name="Oval 24"/>
          <p:cNvSpPr>
            <a:spLocks noChangeArrowheads="1"/>
          </p:cNvSpPr>
          <p:nvPr/>
        </p:nvSpPr>
        <p:spPr bwMode="auto">
          <a:xfrm rot="-7282380">
            <a:off x="3429000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29" name="Oval 25"/>
          <p:cNvSpPr>
            <a:spLocks noChangeArrowheads="1"/>
          </p:cNvSpPr>
          <p:nvPr/>
        </p:nvSpPr>
        <p:spPr bwMode="auto">
          <a:xfrm rot="-7282380">
            <a:off x="4724400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30" name="Oval 26"/>
          <p:cNvSpPr>
            <a:spLocks noChangeArrowheads="1"/>
          </p:cNvSpPr>
          <p:nvPr/>
        </p:nvSpPr>
        <p:spPr bwMode="auto">
          <a:xfrm rot="-7282380">
            <a:off x="4191000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31" name="Oval 27"/>
          <p:cNvSpPr>
            <a:spLocks noChangeArrowheads="1"/>
          </p:cNvSpPr>
          <p:nvPr/>
        </p:nvSpPr>
        <p:spPr bwMode="auto">
          <a:xfrm rot="-7282380">
            <a:off x="4419600" y="1981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32" name="Oval 28"/>
          <p:cNvSpPr>
            <a:spLocks noChangeArrowheads="1"/>
          </p:cNvSpPr>
          <p:nvPr/>
        </p:nvSpPr>
        <p:spPr bwMode="auto">
          <a:xfrm rot="-7282380">
            <a:off x="5257800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33" name="Oval 29"/>
          <p:cNvSpPr>
            <a:spLocks noChangeArrowheads="1"/>
          </p:cNvSpPr>
          <p:nvPr/>
        </p:nvSpPr>
        <p:spPr bwMode="auto">
          <a:xfrm rot="-7282380">
            <a:off x="3810000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34" name="Oval 30"/>
          <p:cNvSpPr>
            <a:spLocks noChangeArrowheads="1"/>
          </p:cNvSpPr>
          <p:nvPr/>
        </p:nvSpPr>
        <p:spPr bwMode="auto">
          <a:xfrm rot="-7282380">
            <a:off x="5029200" y="2286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sz="2400" b="0" baseline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968735" name="Oval 31"/>
          <p:cNvSpPr>
            <a:spLocks noChangeArrowheads="1"/>
          </p:cNvSpPr>
          <p:nvPr/>
        </p:nvSpPr>
        <p:spPr bwMode="auto">
          <a:xfrm rot="-7282380">
            <a:off x="4114800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36" name="Oval 32"/>
          <p:cNvSpPr>
            <a:spLocks noChangeArrowheads="1"/>
          </p:cNvSpPr>
          <p:nvPr/>
        </p:nvSpPr>
        <p:spPr bwMode="auto">
          <a:xfrm rot="-7282380">
            <a:off x="4495800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37" name="Oval 33"/>
          <p:cNvSpPr>
            <a:spLocks noChangeArrowheads="1"/>
          </p:cNvSpPr>
          <p:nvPr/>
        </p:nvSpPr>
        <p:spPr bwMode="auto">
          <a:xfrm rot="-7282380">
            <a:off x="4267200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38" name="Text Box 34"/>
          <p:cNvSpPr txBox="1">
            <a:spLocks noChangeArrowheads="1"/>
          </p:cNvSpPr>
          <p:nvPr/>
        </p:nvSpPr>
        <p:spPr bwMode="auto">
          <a:xfrm>
            <a:off x="3124200" y="15240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Y</a:t>
            </a:r>
          </a:p>
        </p:txBody>
      </p:sp>
      <p:sp>
        <p:nvSpPr>
          <p:cNvPr id="968739" name="Line 35"/>
          <p:cNvSpPr>
            <a:spLocks noChangeShapeType="1"/>
          </p:cNvSpPr>
          <p:nvPr/>
        </p:nvSpPr>
        <p:spPr bwMode="auto">
          <a:xfrm>
            <a:off x="3352800" y="3505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40" name="Text Box 36"/>
          <p:cNvSpPr txBox="1">
            <a:spLocks noChangeArrowheads="1"/>
          </p:cNvSpPr>
          <p:nvPr/>
        </p:nvSpPr>
        <p:spPr bwMode="auto">
          <a:xfrm>
            <a:off x="5614988" y="32766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X</a:t>
            </a:r>
          </a:p>
        </p:txBody>
      </p:sp>
      <p:sp>
        <p:nvSpPr>
          <p:cNvPr id="968741" name="Line 37"/>
          <p:cNvSpPr>
            <a:spLocks noChangeShapeType="1"/>
          </p:cNvSpPr>
          <p:nvPr/>
        </p:nvSpPr>
        <p:spPr bwMode="auto">
          <a:xfrm>
            <a:off x="6364288" y="19859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42" name="Oval 38"/>
          <p:cNvSpPr>
            <a:spLocks noChangeArrowheads="1"/>
          </p:cNvSpPr>
          <p:nvPr/>
        </p:nvSpPr>
        <p:spPr bwMode="auto">
          <a:xfrm rot="-7282380">
            <a:off x="6653213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43" name="Oval 39"/>
          <p:cNvSpPr>
            <a:spLocks noChangeArrowheads="1"/>
          </p:cNvSpPr>
          <p:nvPr/>
        </p:nvSpPr>
        <p:spPr bwMode="auto">
          <a:xfrm rot="-7282380">
            <a:off x="8482013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44" name="Oval 40"/>
          <p:cNvSpPr>
            <a:spLocks noChangeArrowheads="1"/>
          </p:cNvSpPr>
          <p:nvPr/>
        </p:nvSpPr>
        <p:spPr bwMode="auto">
          <a:xfrm rot="-7282380">
            <a:off x="8634413" y="2438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45" name="Oval 41"/>
          <p:cNvSpPr>
            <a:spLocks noChangeArrowheads="1"/>
          </p:cNvSpPr>
          <p:nvPr/>
        </p:nvSpPr>
        <p:spPr bwMode="auto">
          <a:xfrm rot="-7282380">
            <a:off x="7720013" y="2743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46" name="Oval 42"/>
          <p:cNvSpPr>
            <a:spLocks noChangeArrowheads="1"/>
          </p:cNvSpPr>
          <p:nvPr/>
        </p:nvSpPr>
        <p:spPr bwMode="auto">
          <a:xfrm rot="-7282380">
            <a:off x="7796213" y="2133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47" name="Oval 43"/>
          <p:cNvSpPr>
            <a:spLocks noChangeArrowheads="1"/>
          </p:cNvSpPr>
          <p:nvPr/>
        </p:nvSpPr>
        <p:spPr bwMode="auto">
          <a:xfrm rot="-7282380">
            <a:off x="7315200" y="2057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48" name="Oval 44"/>
          <p:cNvSpPr>
            <a:spLocks noChangeArrowheads="1"/>
          </p:cNvSpPr>
          <p:nvPr/>
        </p:nvSpPr>
        <p:spPr bwMode="auto">
          <a:xfrm rot="-7282380">
            <a:off x="6500813" y="2209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49" name="Oval 45"/>
          <p:cNvSpPr>
            <a:spLocks noChangeArrowheads="1"/>
          </p:cNvSpPr>
          <p:nvPr/>
        </p:nvSpPr>
        <p:spPr bwMode="auto">
          <a:xfrm rot="-7282380">
            <a:off x="6805613" y="2362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50" name="Oval 46"/>
          <p:cNvSpPr>
            <a:spLocks noChangeArrowheads="1"/>
          </p:cNvSpPr>
          <p:nvPr/>
        </p:nvSpPr>
        <p:spPr bwMode="auto">
          <a:xfrm rot="-7282380">
            <a:off x="7110413" y="2549525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sz="2400" b="0" baseline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968751" name="Oval 47"/>
          <p:cNvSpPr>
            <a:spLocks noChangeArrowheads="1"/>
          </p:cNvSpPr>
          <p:nvPr/>
        </p:nvSpPr>
        <p:spPr bwMode="auto">
          <a:xfrm rot="-7282380">
            <a:off x="7491413" y="2514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52" name="Oval 48"/>
          <p:cNvSpPr>
            <a:spLocks noChangeArrowheads="1"/>
          </p:cNvSpPr>
          <p:nvPr/>
        </p:nvSpPr>
        <p:spPr bwMode="auto">
          <a:xfrm rot="-7282380">
            <a:off x="7262813" y="2819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53" name="Text Box 49"/>
          <p:cNvSpPr txBox="1">
            <a:spLocks noChangeArrowheads="1"/>
          </p:cNvSpPr>
          <p:nvPr/>
        </p:nvSpPr>
        <p:spPr bwMode="auto">
          <a:xfrm>
            <a:off x="6119813" y="15240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Y</a:t>
            </a:r>
          </a:p>
        </p:txBody>
      </p:sp>
      <p:sp>
        <p:nvSpPr>
          <p:cNvPr id="968754" name="Line 50"/>
          <p:cNvSpPr>
            <a:spLocks noChangeShapeType="1"/>
          </p:cNvSpPr>
          <p:nvPr/>
        </p:nvSpPr>
        <p:spPr bwMode="auto">
          <a:xfrm>
            <a:off x="6348413" y="35052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55" name="Oval 51"/>
          <p:cNvSpPr>
            <a:spLocks noChangeArrowheads="1"/>
          </p:cNvSpPr>
          <p:nvPr/>
        </p:nvSpPr>
        <p:spPr bwMode="auto">
          <a:xfrm rot="-7282380">
            <a:off x="8229600" y="2667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56" name="Text Box 52"/>
          <p:cNvSpPr txBox="1">
            <a:spLocks noChangeArrowheads="1"/>
          </p:cNvSpPr>
          <p:nvPr/>
        </p:nvSpPr>
        <p:spPr bwMode="auto">
          <a:xfrm>
            <a:off x="8610600" y="32766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X</a:t>
            </a:r>
          </a:p>
        </p:txBody>
      </p:sp>
      <p:sp>
        <p:nvSpPr>
          <p:cNvPr id="968757" name="Line 53"/>
          <p:cNvSpPr>
            <a:spLocks noChangeShapeType="1"/>
          </p:cNvSpPr>
          <p:nvPr/>
        </p:nvSpPr>
        <p:spPr bwMode="auto">
          <a:xfrm>
            <a:off x="3462338" y="45767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58" name="Line 54"/>
          <p:cNvSpPr>
            <a:spLocks noChangeShapeType="1"/>
          </p:cNvSpPr>
          <p:nvPr/>
        </p:nvSpPr>
        <p:spPr bwMode="auto">
          <a:xfrm flipV="1">
            <a:off x="3462338" y="4724400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59" name="Oval 55"/>
          <p:cNvSpPr>
            <a:spLocks noChangeArrowheads="1"/>
          </p:cNvSpPr>
          <p:nvPr/>
        </p:nvSpPr>
        <p:spPr bwMode="auto">
          <a:xfrm rot="-7282380">
            <a:off x="3522663" y="5715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0" name="Oval 56"/>
          <p:cNvSpPr>
            <a:spLocks noChangeArrowheads="1"/>
          </p:cNvSpPr>
          <p:nvPr/>
        </p:nvSpPr>
        <p:spPr bwMode="auto">
          <a:xfrm rot="-7282380">
            <a:off x="3751263" y="5410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1" name="Oval 57"/>
          <p:cNvSpPr>
            <a:spLocks noChangeArrowheads="1"/>
          </p:cNvSpPr>
          <p:nvPr/>
        </p:nvSpPr>
        <p:spPr bwMode="auto">
          <a:xfrm rot="-7282380">
            <a:off x="5410200" y="4114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2" name="Oval 58"/>
          <p:cNvSpPr>
            <a:spLocks noChangeArrowheads="1"/>
          </p:cNvSpPr>
          <p:nvPr/>
        </p:nvSpPr>
        <p:spPr bwMode="auto">
          <a:xfrm rot="-7282380">
            <a:off x="5580063" y="4724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3" name="Oval 59"/>
          <p:cNvSpPr>
            <a:spLocks noChangeArrowheads="1"/>
          </p:cNvSpPr>
          <p:nvPr/>
        </p:nvSpPr>
        <p:spPr bwMode="auto">
          <a:xfrm rot="-7282380">
            <a:off x="4038600" y="5715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4" name="Oval 60"/>
          <p:cNvSpPr>
            <a:spLocks noChangeArrowheads="1"/>
          </p:cNvSpPr>
          <p:nvPr/>
        </p:nvSpPr>
        <p:spPr bwMode="auto">
          <a:xfrm rot="-7282380">
            <a:off x="5791200" y="5181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5" name="Oval 61"/>
          <p:cNvSpPr>
            <a:spLocks noChangeArrowheads="1"/>
          </p:cNvSpPr>
          <p:nvPr/>
        </p:nvSpPr>
        <p:spPr bwMode="auto">
          <a:xfrm rot="-7282380">
            <a:off x="4953000" y="5562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6" name="Oval 62"/>
          <p:cNvSpPr>
            <a:spLocks noChangeArrowheads="1"/>
          </p:cNvSpPr>
          <p:nvPr/>
        </p:nvSpPr>
        <p:spPr bwMode="auto">
          <a:xfrm rot="-7282380">
            <a:off x="5029200" y="4419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7" name="Oval 63"/>
          <p:cNvSpPr>
            <a:spLocks noChangeArrowheads="1"/>
          </p:cNvSpPr>
          <p:nvPr/>
        </p:nvSpPr>
        <p:spPr bwMode="auto">
          <a:xfrm rot="-7282380">
            <a:off x="4419600" y="4419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8" name="Oval 64"/>
          <p:cNvSpPr>
            <a:spLocks noChangeArrowheads="1"/>
          </p:cNvSpPr>
          <p:nvPr/>
        </p:nvSpPr>
        <p:spPr bwMode="auto">
          <a:xfrm rot="-7282380">
            <a:off x="3581400" y="5029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69" name="Oval 65"/>
          <p:cNvSpPr>
            <a:spLocks noChangeArrowheads="1"/>
          </p:cNvSpPr>
          <p:nvPr/>
        </p:nvSpPr>
        <p:spPr bwMode="auto">
          <a:xfrm rot="-7282380">
            <a:off x="3810000" y="4572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70" name="Oval 66"/>
          <p:cNvSpPr>
            <a:spLocks noChangeArrowheads="1"/>
          </p:cNvSpPr>
          <p:nvPr/>
        </p:nvSpPr>
        <p:spPr bwMode="auto">
          <a:xfrm rot="-7282380">
            <a:off x="4191000" y="4953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sz="2400" b="0" baseline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968771" name="Oval 67"/>
          <p:cNvSpPr>
            <a:spLocks noChangeArrowheads="1"/>
          </p:cNvSpPr>
          <p:nvPr/>
        </p:nvSpPr>
        <p:spPr bwMode="auto">
          <a:xfrm rot="-7282380">
            <a:off x="5334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72" name="Oval 68"/>
          <p:cNvSpPr>
            <a:spLocks noChangeArrowheads="1"/>
          </p:cNvSpPr>
          <p:nvPr/>
        </p:nvSpPr>
        <p:spPr bwMode="auto">
          <a:xfrm rot="-7282380">
            <a:off x="4589463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73" name="Oval 69"/>
          <p:cNvSpPr>
            <a:spLocks noChangeArrowheads="1"/>
          </p:cNvSpPr>
          <p:nvPr/>
        </p:nvSpPr>
        <p:spPr bwMode="auto">
          <a:xfrm rot="-7282380">
            <a:off x="4572000" y="5791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74" name="Text Box 70"/>
          <p:cNvSpPr txBox="1">
            <a:spLocks noChangeArrowheads="1"/>
          </p:cNvSpPr>
          <p:nvPr/>
        </p:nvSpPr>
        <p:spPr bwMode="auto">
          <a:xfrm>
            <a:off x="3194050" y="4343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Y</a:t>
            </a:r>
          </a:p>
        </p:txBody>
      </p:sp>
      <p:sp>
        <p:nvSpPr>
          <p:cNvPr id="968775" name="Line 71"/>
          <p:cNvSpPr>
            <a:spLocks noChangeShapeType="1"/>
          </p:cNvSpPr>
          <p:nvPr/>
        </p:nvSpPr>
        <p:spPr bwMode="auto">
          <a:xfrm>
            <a:off x="3446463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76" name="Oval 72"/>
          <p:cNvSpPr>
            <a:spLocks noChangeArrowheads="1"/>
          </p:cNvSpPr>
          <p:nvPr/>
        </p:nvSpPr>
        <p:spPr bwMode="auto">
          <a:xfrm rot="-7282380">
            <a:off x="5334000" y="5486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77" name="Text Box 73"/>
          <p:cNvSpPr txBox="1">
            <a:spLocks noChangeArrowheads="1"/>
          </p:cNvSpPr>
          <p:nvPr/>
        </p:nvSpPr>
        <p:spPr bwMode="auto">
          <a:xfrm>
            <a:off x="5708650" y="5867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X</a:t>
            </a:r>
          </a:p>
        </p:txBody>
      </p:sp>
      <p:sp>
        <p:nvSpPr>
          <p:cNvPr id="968778" name="Line 74"/>
          <p:cNvSpPr>
            <a:spLocks noChangeShapeType="1"/>
          </p:cNvSpPr>
          <p:nvPr/>
        </p:nvSpPr>
        <p:spPr bwMode="auto">
          <a:xfrm>
            <a:off x="396875" y="45767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79" name="Line 75"/>
          <p:cNvSpPr>
            <a:spLocks noChangeShapeType="1"/>
          </p:cNvSpPr>
          <p:nvPr/>
        </p:nvSpPr>
        <p:spPr bwMode="auto">
          <a:xfrm flipV="1">
            <a:off x="396875" y="4724400"/>
            <a:ext cx="2574925" cy="873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80" name="Oval 76"/>
          <p:cNvSpPr>
            <a:spLocks noChangeArrowheads="1"/>
          </p:cNvSpPr>
          <p:nvPr/>
        </p:nvSpPr>
        <p:spPr bwMode="auto">
          <a:xfrm rot="-7282380">
            <a:off x="457200" y="5410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81" name="Oval 77"/>
          <p:cNvSpPr>
            <a:spLocks noChangeArrowheads="1"/>
          </p:cNvSpPr>
          <p:nvPr/>
        </p:nvSpPr>
        <p:spPr bwMode="auto">
          <a:xfrm rot="-7282380">
            <a:off x="762000" y="5334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82" name="Oval 78"/>
          <p:cNvSpPr>
            <a:spLocks noChangeArrowheads="1"/>
          </p:cNvSpPr>
          <p:nvPr/>
        </p:nvSpPr>
        <p:spPr bwMode="auto">
          <a:xfrm rot="-7282380">
            <a:off x="2819400" y="46482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83" name="Oval 79"/>
          <p:cNvSpPr>
            <a:spLocks noChangeArrowheads="1"/>
          </p:cNvSpPr>
          <p:nvPr/>
        </p:nvSpPr>
        <p:spPr bwMode="auto">
          <a:xfrm rot="-7282380">
            <a:off x="2438400" y="4724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84" name="Oval 80"/>
          <p:cNvSpPr>
            <a:spLocks noChangeArrowheads="1"/>
          </p:cNvSpPr>
          <p:nvPr/>
        </p:nvSpPr>
        <p:spPr bwMode="auto">
          <a:xfrm rot="-7282380">
            <a:off x="1066800" y="51816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sz="2400" b="0" baseline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968785" name="Oval 81"/>
          <p:cNvSpPr>
            <a:spLocks noChangeArrowheads="1"/>
          </p:cNvSpPr>
          <p:nvPr/>
        </p:nvSpPr>
        <p:spPr bwMode="auto">
          <a:xfrm rot="-7282380">
            <a:off x="1752600" y="49530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86" name="Oval 82"/>
          <p:cNvSpPr>
            <a:spLocks noChangeArrowheads="1"/>
          </p:cNvSpPr>
          <p:nvPr/>
        </p:nvSpPr>
        <p:spPr bwMode="auto">
          <a:xfrm rot="-7282380">
            <a:off x="14478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87" name="Text Box 83"/>
          <p:cNvSpPr txBox="1">
            <a:spLocks noChangeArrowheads="1"/>
          </p:cNvSpPr>
          <p:nvPr/>
        </p:nvSpPr>
        <p:spPr bwMode="auto">
          <a:xfrm>
            <a:off x="52388" y="4343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Y</a:t>
            </a:r>
          </a:p>
        </p:txBody>
      </p:sp>
      <p:sp>
        <p:nvSpPr>
          <p:cNvPr id="968788" name="Line 84"/>
          <p:cNvSpPr>
            <a:spLocks noChangeShapeType="1"/>
          </p:cNvSpPr>
          <p:nvPr/>
        </p:nvSpPr>
        <p:spPr bwMode="auto">
          <a:xfrm>
            <a:off x="381000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89" name="Oval 85"/>
          <p:cNvSpPr>
            <a:spLocks noChangeArrowheads="1"/>
          </p:cNvSpPr>
          <p:nvPr/>
        </p:nvSpPr>
        <p:spPr bwMode="auto">
          <a:xfrm rot="-7282380">
            <a:off x="2133600" y="4876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90" name="Text Box 86"/>
          <p:cNvSpPr txBox="1">
            <a:spLocks noChangeArrowheads="1"/>
          </p:cNvSpPr>
          <p:nvPr/>
        </p:nvSpPr>
        <p:spPr bwMode="auto">
          <a:xfrm>
            <a:off x="2643188" y="5867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X</a:t>
            </a:r>
          </a:p>
        </p:txBody>
      </p:sp>
      <p:sp>
        <p:nvSpPr>
          <p:cNvPr id="968791" name="Text Box 87"/>
          <p:cNvSpPr txBox="1">
            <a:spLocks noChangeArrowheads="1"/>
          </p:cNvSpPr>
          <p:nvPr/>
        </p:nvSpPr>
        <p:spPr bwMode="auto">
          <a:xfrm>
            <a:off x="1068388" y="3581400"/>
            <a:ext cx="915987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0" baseline="0">
                <a:solidFill>
                  <a:schemeClr val="tx2"/>
                </a:solidFill>
                <a:latin typeface="Arial" charset="0"/>
              </a:rPr>
              <a:t>r = -1</a:t>
            </a:r>
          </a:p>
        </p:txBody>
      </p:sp>
      <p:sp>
        <p:nvSpPr>
          <p:cNvPr id="968792" name="Text Box 88"/>
          <p:cNvSpPr txBox="1">
            <a:spLocks noChangeArrowheads="1"/>
          </p:cNvSpPr>
          <p:nvPr/>
        </p:nvSpPr>
        <p:spPr bwMode="auto">
          <a:xfrm>
            <a:off x="4029075" y="3590925"/>
            <a:ext cx="10001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0" baseline="0">
                <a:solidFill>
                  <a:schemeClr val="tx2"/>
                </a:solidFill>
                <a:latin typeface="Arial" charset="0"/>
              </a:rPr>
              <a:t>r = -.6</a:t>
            </a:r>
          </a:p>
        </p:txBody>
      </p:sp>
      <p:sp>
        <p:nvSpPr>
          <p:cNvPr id="968793" name="Text Box 89"/>
          <p:cNvSpPr txBox="1">
            <a:spLocks noChangeArrowheads="1"/>
          </p:cNvSpPr>
          <p:nvPr/>
        </p:nvSpPr>
        <p:spPr bwMode="auto">
          <a:xfrm>
            <a:off x="7153275" y="3590925"/>
            <a:ext cx="8143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0" baseline="0">
                <a:solidFill>
                  <a:schemeClr val="tx2"/>
                </a:solidFill>
                <a:latin typeface="Arial" charset="0"/>
              </a:rPr>
              <a:t>r = 0</a:t>
            </a:r>
          </a:p>
        </p:txBody>
      </p:sp>
      <p:sp>
        <p:nvSpPr>
          <p:cNvPr id="968794" name="Text Box 90"/>
          <p:cNvSpPr txBox="1">
            <a:spLocks noChangeArrowheads="1"/>
          </p:cNvSpPr>
          <p:nvPr/>
        </p:nvSpPr>
        <p:spPr bwMode="auto">
          <a:xfrm>
            <a:off x="4122738" y="6161088"/>
            <a:ext cx="1076325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0" baseline="0">
                <a:solidFill>
                  <a:schemeClr val="tx2"/>
                </a:solidFill>
                <a:latin typeface="Arial" charset="0"/>
              </a:rPr>
              <a:t>r = +.3</a:t>
            </a:r>
          </a:p>
        </p:txBody>
      </p:sp>
      <p:sp>
        <p:nvSpPr>
          <p:cNvPr id="968795" name="Text Box 91"/>
          <p:cNvSpPr txBox="1">
            <a:spLocks noChangeArrowheads="1"/>
          </p:cNvSpPr>
          <p:nvPr/>
        </p:nvSpPr>
        <p:spPr bwMode="auto">
          <a:xfrm>
            <a:off x="1057275" y="6146800"/>
            <a:ext cx="9921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0" baseline="0">
                <a:solidFill>
                  <a:schemeClr val="tx2"/>
                </a:solidFill>
                <a:latin typeface="Arial" charset="0"/>
              </a:rPr>
              <a:t>r = +1</a:t>
            </a:r>
          </a:p>
        </p:txBody>
      </p:sp>
      <p:sp>
        <p:nvSpPr>
          <p:cNvPr id="968796" name="Line 92"/>
          <p:cNvSpPr>
            <a:spLocks noChangeShapeType="1"/>
          </p:cNvSpPr>
          <p:nvPr/>
        </p:nvSpPr>
        <p:spPr bwMode="auto">
          <a:xfrm>
            <a:off x="6357938" y="4576763"/>
            <a:ext cx="0" cy="15192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97" name="Oval 93"/>
          <p:cNvSpPr>
            <a:spLocks noChangeArrowheads="1"/>
          </p:cNvSpPr>
          <p:nvPr/>
        </p:nvSpPr>
        <p:spPr bwMode="auto">
          <a:xfrm rot="-7282380">
            <a:off x="85344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98" name="Oval 94"/>
          <p:cNvSpPr>
            <a:spLocks noChangeArrowheads="1"/>
          </p:cNvSpPr>
          <p:nvPr/>
        </p:nvSpPr>
        <p:spPr bwMode="auto">
          <a:xfrm rot="-7282380">
            <a:off x="8001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799" name="Oval 95"/>
          <p:cNvSpPr>
            <a:spLocks noChangeArrowheads="1"/>
          </p:cNvSpPr>
          <p:nvPr/>
        </p:nvSpPr>
        <p:spPr bwMode="auto">
          <a:xfrm rot="-7282380">
            <a:off x="65532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800" name="Oval 96"/>
          <p:cNvSpPr>
            <a:spLocks noChangeArrowheads="1"/>
          </p:cNvSpPr>
          <p:nvPr/>
        </p:nvSpPr>
        <p:spPr bwMode="auto">
          <a:xfrm rot="-7282380">
            <a:off x="68580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801" name="Oval 97"/>
          <p:cNvSpPr>
            <a:spLocks noChangeArrowheads="1"/>
          </p:cNvSpPr>
          <p:nvPr/>
        </p:nvSpPr>
        <p:spPr bwMode="auto">
          <a:xfrm rot="-7282380">
            <a:off x="7162800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/>
            <a:endParaRPr lang="en-US" sz="2400" b="0" baseline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968802" name="Oval 98"/>
          <p:cNvSpPr>
            <a:spLocks noChangeArrowheads="1"/>
          </p:cNvSpPr>
          <p:nvPr/>
        </p:nvSpPr>
        <p:spPr bwMode="auto">
          <a:xfrm rot="-7282380">
            <a:off x="7485063" y="5105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803" name="Text Box 99"/>
          <p:cNvSpPr txBox="1">
            <a:spLocks noChangeArrowheads="1"/>
          </p:cNvSpPr>
          <p:nvPr/>
        </p:nvSpPr>
        <p:spPr bwMode="auto">
          <a:xfrm>
            <a:off x="6113463" y="41148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Y</a:t>
            </a:r>
          </a:p>
        </p:txBody>
      </p:sp>
      <p:sp>
        <p:nvSpPr>
          <p:cNvPr id="968804" name="Line 100"/>
          <p:cNvSpPr>
            <a:spLocks noChangeShapeType="1"/>
          </p:cNvSpPr>
          <p:nvPr/>
        </p:nvSpPr>
        <p:spPr bwMode="auto">
          <a:xfrm>
            <a:off x="6342063" y="6096000"/>
            <a:ext cx="2286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805" name="Text Box 101"/>
          <p:cNvSpPr txBox="1">
            <a:spLocks noChangeArrowheads="1"/>
          </p:cNvSpPr>
          <p:nvPr/>
        </p:nvSpPr>
        <p:spPr bwMode="auto">
          <a:xfrm>
            <a:off x="8604250" y="5867400"/>
            <a:ext cx="387350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aseline="0">
                <a:solidFill>
                  <a:schemeClr val="tx2"/>
                </a:solidFill>
                <a:latin typeface="Arial" charset="0"/>
              </a:rPr>
              <a:t>X</a:t>
            </a:r>
          </a:p>
        </p:txBody>
      </p:sp>
      <p:sp>
        <p:nvSpPr>
          <p:cNvPr id="968806" name="Text Box 102"/>
          <p:cNvSpPr txBox="1">
            <a:spLocks noChangeArrowheads="1"/>
          </p:cNvSpPr>
          <p:nvPr/>
        </p:nvSpPr>
        <p:spPr bwMode="auto">
          <a:xfrm>
            <a:off x="7146925" y="6159500"/>
            <a:ext cx="814388" cy="469900"/>
          </a:xfrm>
          <a:prstGeom prst="rect">
            <a:avLst/>
          </a:prstGeom>
          <a:solidFill>
            <a:srgbClr val="FDE0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b="0" baseline="0">
                <a:solidFill>
                  <a:schemeClr val="tx2"/>
                </a:solidFill>
                <a:latin typeface="Arial" charset="0"/>
              </a:rPr>
              <a:t>r = 0</a:t>
            </a:r>
          </a:p>
        </p:txBody>
      </p:sp>
      <p:sp>
        <p:nvSpPr>
          <p:cNvPr id="968807" name="Oval 103"/>
          <p:cNvSpPr>
            <a:spLocks noChangeArrowheads="1"/>
          </p:cNvSpPr>
          <p:nvPr/>
        </p:nvSpPr>
        <p:spPr bwMode="auto">
          <a:xfrm rot="-7282380">
            <a:off x="4953000" y="4876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808" name="Oval 104"/>
          <p:cNvSpPr>
            <a:spLocks noChangeArrowheads="1"/>
          </p:cNvSpPr>
          <p:nvPr/>
        </p:nvSpPr>
        <p:spPr bwMode="auto">
          <a:xfrm rot="-7282380">
            <a:off x="4343400" y="54864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809" name="Oval 105"/>
          <p:cNvSpPr>
            <a:spLocks noChangeArrowheads="1"/>
          </p:cNvSpPr>
          <p:nvPr/>
        </p:nvSpPr>
        <p:spPr bwMode="auto">
          <a:xfrm rot="-7282380">
            <a:off x="4724400" y="4495800"/>
            <a:ext cx="228600" cy="228600"/>
          </a:xfrm>
          <a:prstGeom prst="ellipse">
            <a:avLst/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8810" name="Rectangle 106"/>
          <p:cNvSpPr>
            <a:spLocks noChangeArrowheads="1"/>
          </p:cNvSpPr>
          <p:nvPr/>
        </p:nvSpPr>
        <p:spPr bwMode="auto">
          <a:xfrm>
            <a:off x="0" y="6583363"/>
            <a:ext cx="59293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r>
              <a:rPr lang="en-US" sz="1200" b="0" baseline="0">
                <a:solidFill>
                  <a:schemeClr val="tx1"/>
                </a:solidFill>
              </a:rPr>
              <a:t>Slide from: Statistics for Managers Using Microsoft® Excel  4th Edition, 2004 Prentice-Hall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447800" y="2133600"/>
          <a:ext cx="5821136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720" imgH="533160" progId="Equation.3">
                  <p:embed/>
                </p:oleObj>
              </mc:Choice>
              <mc:Fallback>
                <p:oleObj name="Equation" r:id="rId2" imgW="2628720" imgH="5331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133600"/>
                        <a:ext cx="5821136" cy="118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1314450" y="4038600"/>
          <a:ext cx="624205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19160" imgH="533160" progId="Equation.3">
                  <p:embed/>
                </p:oleObj>
              </mc:Choice>
              <mc:Fallback>
                <p:oleObj name="Equation" r:id="rId4" imgW="2819160" imgH="5331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4038600"/>
                        <a:ext cx="6242050" cy="1181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4876800" y="2743200"/>
            <a:ext cx="2514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953000" y="4648200"/>
            <a:ext cx="2514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11.2</a:t>
            </a:r>
          </a:p>
          <a:p>
            <a:pPr>
              <a:buNone/>
            </a:pPr>
            <a:r>
              <a:rPr lang="en-US" dirty="0"/>
              <a:t>11.3 </a:t>
            </a:r>
            <a:r>
              <a:rPr lang="en-US" dirty="0" err="1"/>
              <a:t>a,c</a:t>
            </a:r>
            <a:endParaRPr lang="en-US" dirty="0"/>
          </a:p>
          <a:p>
            <a:pPr>
              <a:buNone/>
            </a:pPr>
            <a:r>
              <a:rPr lang="en-US" dirty="0"/>
              <a:t>11.5 a</a:t>
            </a:r>
          </a:p>
          <a:p>
            <a:pPr>
              <a:buNone/>
            </a:pPr>
            <a:r>
              <a:rPr lang="en-US" dirty="0"/>
              <a:t>11.11 b</a:t>
            </a:r>
          </a:p>
          <a:p>
            <a:pPr>
              <a:buNone/>
            </a:pPr>
            <a:r>
              <a:rPr lang="en-US" dirty="0"/>
              <a:t>11.12</a:t>
            </a:r>
          </a:p>
          <a:p>
            <a:pPr>
              <a:buNone/>
            </a:pPr>
            <a:r>
              <a:rPr lang="en-US" dirty="0"/>
              <a:t>11.43</a:t>
            </a:r>
          </a:p>
          <a:p>
            <a:pPr>
              <a:buNone/>
            </a:pPr>
            <a:r>
              <a:rPr lang="en-US" dirty="0"/>
              <a:t>11.44 a</a:t>
            </a:r>
          </a:p>
          <a:p>
            <a:pPr>
              <a:buNone/>
            </a:pPr>
            <a:r>
              <a:rPr lang="en-US" dirty="0"/>
              <a:t>11.53 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583</TotalTime>
  <Words>299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Corbel</vt:lpstr>
      <vt:lpstr>Symbol</vt:lpstr>
      <vt:lpstr>Times New Roman</vt:lpstr>
      <vt:lpstr>Wingdings</vt:lpstr>
      <vt:lpstr>Wingdings 2</vt:lpstr>
      <vt:lpstr>Wingdings 3</vt:lpstr>
      <vt:lpstr>Module</vt:lpstr>
      <vt:lpstr>Equation</vt:lpstr>
      <vt:lpstr>Simple Linear Regression and Correlation</vt:lpstr>
      <vt:lpstr>Introduction</vt:lpstr>
      <vt:lpstr>The Simple Linear Regression  Model</vt:lpstr>
      <vt:lpstr>Linear Regression</vt:lpstr>
      <vt:lpstr>PowerPoint Presentation</vt:lpstr>
      <vt:lpstr>PowerPoint Presentation</vt:lpstr>
      <vt:lpstr>Linear Regression</vt:lpstr>
      <vt:lpstr>PowerPoint Presentation</vt:lpstr>
      <vt:lpstr>PowerPoint Presentation</vt:lpstr>
      <vt:lpstr>Correlation</vt:lpstr>
      <vt:lpstr>Scatter Plots of Data with Various Correlation Coefficients</vt:lpstr>
      <vt:lpstr>Correlation</vt:lpstr>
      <vt:lpstr>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Linear Regression and Correlation</dc:title>
  <dc:creator>shahjee</dc:creator>
  <cp:lastModifiedBy>amna humayun</cp:lastModifiedBy>
  <cp:revision>24</cp:revision>
  <dcterms:created xsi:type="dcterms:W3CDTF">2015-12-14T08:28:09Z</dcterms:created>
  <dcterms:modified xsi:type="dcterms:W3CDTF">2024-05-28T11:01:47Z</dcterms:modified>
</cp:coreProperties>
</file>