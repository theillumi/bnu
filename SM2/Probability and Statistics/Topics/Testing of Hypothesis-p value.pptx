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70" r:id="rId8"/>
    <p:sldId id="269" r:id="rId9"/>
    <p:sldId id="263" r:id="rId10"/>
    <p:sldId id="264" r:id="rId11"/>
    <p:sldId id="262" r:id="rId12"/>
    <p:sldId id="265" r:id="rId13"/>
    <p:sldId id="267" r:id="rId14"/>
    <p:sldId id="266" r:id="rId15"/>
    <p:sldId id="26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13F2CC8A-59F5-47D9-BBFF-48F81CD145CA}" type="datetimeFigureOut">
              <a:rPr lang="en-US" smtClean="0"/>
              <a:pPr/>
              <a:t>5/24/2024</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D45934AC-A654-4370-8E5E-50BF971910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F2CC8A-59F5-47D9-BBFF-48F81CD145CA}" type="datetimeFigureOut">
              <a:rPr lang="en-US" smtClean="0"/>
              <a:pPr/>
              <a:t>5/24/2024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3F2CC8A-59F5-47D9-BBFF-48F81CD145CA}" type="datetimeFigureOut">
              <a:rPr lang="en-US" smtClean="0"/>
              <a:pPr/>
              <a:t>5/24/2024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3F2CC8A-59F5-47D9-BBFF-48F81CD145CA}" type="datetimeFigureOut">
              <a:rPr lang="en-US" smtClean="0"/>
              <a:pPr/>
              <a:t>5/24/2024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13F2CC8A-59F5-47D9-BBFF-48F81CD145CA}" type="datetimeFigureOut">
              <a:rPr lang="en-US" smtClean="0"/>
              <a:pPr/>
              <a:t>5/24/2024</a:t>
            </a:fld>
            <a:endParaRPr lang="en-US"/>
          </a:p>
        </p:txBody>
      </p:sp>
      <p:sp>
        <p:nvSpPr>
          <p:cNvPr id="27" name="Slide Number Placeholder 26"/>
          <p:cNvSpPr>
            <a:spLocks noGrp="1"/>
          </p:cNvSpPr>
          <p:nvPr>
            <p:ph type="sldNum" sz="quarter" idx="11"/>
          </p:nvPr>
        </p:nvSpPr>
        <p:spPr/>
        <p:txBody>
          <a:bodyPr rtlCol="0"/>
          <a:lstStyle/>
          <a:p>
            <a:fld id="{D45934AC-A654-4370-8E5E-50BF9719102C}"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13F2CC8A-59F5-47D9-BBFF-48F81CD145CA}" type="datetimeFigureOut">
              <a:rPr lang="en-US" smtClean="0"/>
              <a:pPr/>
              <a:t>5/24/2024</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D45934AC-A654-4370-8E5E-50BF971910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F2CC8A-59F5-47D9-BBFF-48F81CD145CA}" type="datetimeFigureOut">
              <a:rPr lang="en-US" smtClean="0"/>
              <a:pPr/>
              <a:t>5/24/2024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3F2CC8A-59F5-47D9-BBFF-48F81CD145CA}" type="datetimeFigureOut">
              <a:rPr lang="en-US" smtClean="0"/>
              <a:pPr/>
              <a:t>5/24/2024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3F2CC8A-59F5-47D9-BBFF-48F81CD145CA}" type="datetimeFigureOut">
              <a:rPr lang="en-US" smtClean="0"/>
              <a:pPr/>
              <a:t>5/24/2024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F2CC8A-59F5-47D9-BBFF-48F81CD145CA}" type="datetimeFigureOut">
              <a:rPr lang="en-US" smtClean="0"/>
              <a:pPr/>
              <a:t>5/24/2024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F2CC8A-59F5-47D9-BBFF-48F81CD145CA}" type="datetimeFigureOut">
              <a:rPr lang="en-US" smtClean="0"/>
              <a:pPr/>
              <a:t>5/24/2024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3F2CC8A-59F5-47D9-BBFF-48F81CD145CA}" type="datetimeFigureOut">
              <a:rPr lang="en-US" smtClean="0"/>
              <a:pPr/>
              <a:t>5/24/2024</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D45934AC-A654-4370-8E5E-50BF971910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scribbr.com/statistics/hypothesis-test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Testing of Hypothesis</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a:t>
            </a:r>
          </a:p>
        </p:txBody>
      </p:sp>
      <p:sp>
        <p:nvSpPr>
          <p:cNvPr id="3" name="Content Placeholder 2"/>
          <p:cNvSpPr>
            <a:spLocks noGrp="1"/>
          </p:cNvSpPr>
          <p:nvPr>
            <p:ph idx="1"/>
          </p:nvPr>
        </p:nvSpPr>
        <p:spPr/>
        <p:txBody>
          <a:bodyPr/>
          <a:lstStyle/>
          <a:p>
            <a:pPr>
              <a:buNone/>
            </a:pPr>
            <a:r>
              <a:rPr lang="en-US" dirty="0"/>
              <a:t>	A </a:t>
            </a:r>
            <a:r>
              <a:rPr lang="en-US" b="1" dirty="0"/>
              <a:t>statistical hypothesis is an assertion or conjecture concerning one or more </a:t>
            </a:r>
            <a:r>
              <a:rPr lang="en-US" dirty="0"/>
              <a:t>populations.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Null and Alternative Hypotheses</a:t>
            </a:r>
            <a:endParaRPr lang="en-US" dirty="0"/>
          </a:p>
        </p:txBody>
      </p:sp>
      <p:sp>
        <p:nvSpPr>
          <p:cNvPr id="3" name="Content Placeholder 2"/>
          <p:cNvSpPr>
            <a:spLocks noGrp="1"/>
          </p:cNvSpPr>
          <p:nvPr>
            <p:ph idx="1"/>
          </p:nvPr>
        </p:nvSpPr>
        <p:spPr/>
        <p:txBody>
          <a:bodyPr/>
          <a:lstStyle/>
          <a:p>
            <a:pPr>
              <a:buNone/>
            </a:pPr>
            <a:r>
              <a:rPr lang="en-US" b="1" dirty="0"/>
              <a:t>	Null hypothesis, which refers to any hypothesis we wish to test and is denoted </a:t>
            </a:r>
            <a:r>
              <a:rPr lang="en-US" dirty="0"/>
              <a:t>by </a:t>
            </a:r>
            <a:r>
              <a:rPr lang="en-US" i="1" dirty="0"/>
              <a:t>H0.</a:t>
            </a:r>
          </a:p>
          <a:p>
            <a:pPr>
              <a:buNone/>
            </a:pPr>
            <a:r>
              <a:rPr lang="en-US" i="1" dirty="0"/>
              <a:t>	 The rejection of H0 leads to the acceptance of an </a:t>
            </a:r>
            <a:r>
              <a:rPr lang="en-US" b="1" i="1" dirty="0"/>
              <a:t>alternative hypothesis, </a:t>
            </a:r>
            <a:r>
              <a:rPr lang="en-US" dirty="0"/>
              <a:t>denoted by </a:t>
            </a:r>
            <a:r>
              <a:rPr lang="en-US" i="1" dirty="0"/>
              <a:t>H1.</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Statistic</a:t>
            </a:r>
            <a:endParaRPr lang="en-US" dirty="0"/>
          </a:p>
        </p:txBody>
      </p:sp>
      <p:sp>
        <p:nvSpPr>
          <p:cNvPr id="3" name="Content Placeholder 2"/>
          <p:cNvSpPr>
            <a:spLocks noGrp="1"/>
          </p:cNvSpPr>
          <p:nvPr>
            <p:ph idx="1"/>
          </p:nvPr>
        </p:nvSpPr>
        <p:spPr/>
        <p:txBody>
          <a:bodyPr/>
          <a:lstStyle/>
          <a:p>
            <a:pPr>
              <a:buNone/>
            </a:pPr>
            <a:r>
              <a:rPr lang="en-US" dirty="0"/>
              <a:t>The rule or formula.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305800" cy="1066800"/>
          </a:xfrm>
        </p:spPr>
        <p:txBody>
          <a:bodyPr>
            <a:normAutofit fontScale="90000"/>
          </a:bodyPr>
          <a:lstStyle/>
          <a:p>
            <a:r>
              <a:rPr lang="en-US" dirty="0"/>
              <a:t>Approach to Hypothesis Testing with</a:t>
            </a:r>
            <a:br>
              <a:rPr lang="en-US" dirty="0"/>
            </a:br>
            <a:r>
              <a:rPr lang="en-US" dirty="0"/>
              <a:t>Fixed Probability</a:t>
            </a:r>
          </a:p>
        </p:txBody>
      </p:sp>
      <p:sp>
        <p:nvSpPr>
          <p:cNvPr id="3" name="Content Placeholder 2"/>
          <p:cNvSpPr>
            <a:spLocks noGrp="1"/>
          </p:cNvSpPr>
          <p:nvPr>
            <p:ph idx="1"/>
          </p:nvPr>
        </p:nvSpPr>
        <p:spPr/>
        <p:txBody>
          <a:bodyPr>
            <a:normAutofit/>
          </a:bodyPr>
          <a:lstStyle/>
          <a:p>
            <a:pPr marL="624078" indent="-514350">
              <a:buFont typeface="+mj-lt"/>
              <a:buAutoNum type="arabicPeriod"/>
            </a:pPr>
            <a:r>
              <a:rPr lang="en-US" b="1" dirty="0"/>
              <a:t>State the null and alternative hypotheses.</a:t>
            </a:r>
          </a:p>
          <a:p>
            <a:pPr marL="624078" indent="-514350">
              <a:buFont typeface="+mj-lt"/>
              <a:buAutoNum type="arabicPeriod"/>
            </a:pPr>
            <a:r>
              <a:rPr lang="en-US" b="1" dirty="0"/>
              <a:t>Choose a fixed significance level </a:t>
            </a:r>
            <a:r>
              <a:rPr lang="en-US" b="1" i="1" dirty="0"/>
              <a:t>α.</a:t>
            </a:r>
          </a:p>
          <a:p>
            <a:pPr marL="624078" indent="-514350">
              <a:buFont typeface="+mj-lt"/>
              <a:buAutoNum type="arabicPeriod"/>
            </a:pPr>
            <a:r>
              <a:rPr lang="en-US" b="1" dirty="0"/>
              <a:t>Establish critical region based on </a:t>
            </a:r>
            <a:r>
              <a:rPr lang="el-GR" i="1" dirty="0"/>
              <a:t>α.</a:t>
            </a:r>
            <a:endParaRPr lang="en-US" b="1" dirty="0"/>
          </a:p>
          <a:p>
            <a:pPr marL="624078" indent="-514350">
              <a:buFont typeface="+mj-lt"/>
              <a:buAutoNum type="arabicPeriod"/>
            </a:pPr>
            <a:r>
              <a:rPr lang="en-US" b="1" dirty="0"/>
              <a:t>Choose an appropriate test statistic.</a:t>
            </a:r>
            <a:endParaRPr lang="el-GR" i="1" dirty="0"/>
          </a:p>
          <a:p>
            <a:pPr marL="624078" indent="-514350">
              <a:buFont typeface="+mj-lt"/>
              <a:buAutoNum type="arabicPeriod"/>
            </a:pPr>
            <a:r>
              <a:rPr lang="en-US" b="1" dirty="0"/>
              <a:t>Perform computation.</a:t>
            </a:r>
          </a:p>
          <a:p>
            <a:pPr marL="624078" indent="-514350">
              <a:buFont typeface="+mj-lt"/>
              <a:buAutoNum type="arabicPeriod"/>
            </a:pPr>
            <a:r>
              <a:rPr lang="en-US" b="1" dirty="0"/>
              <a:t>Reject </a:t>
            </a:r>
            <a:r>
              <a:rPr lang="en-US" b="1" i="1" dirty="0"/>
              <a:t>H0 if the computed test statistic is in the critical region. Otherwise, </a:t>
            </a:r>
            <a:r>
              <a:rPr lang="en-US" dirty="0"/>
              <a:t>do not reject.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Significance Testing (</a:t>
            </a:r>
            <a:r>
              <a:rPr lang="en-US" i="1" dirty="0"/>
              <a:t>P-Value </a:t>
            </a:r>
            <a:r>
              <a:rPr lang="en-US" dirty="0"/>
              <a:t>Approach)</a:t>
            </a:r>
          </a:p>
        </p:txBody>
      </p:sp>
      <p:sp>
        <p:nvSpPr>
          <p:cNvPr id="3" name="Content Placeholder 2"/>
          <p:cNvSpPr>
            <a:spLocks noGrp="1"/>
          </p:cNvSpPr>
          <p:nvPr>
            <p:ph idx="1"/>
          </p:nvPr>
        </p:nvSpPr>
        <p:spPr/>
        <p:txBody>
          <a:bodyPr/>
          <a:lstStyle/>
          <a:p>
            <a:pPr marL="624078" indent="-514350">
              <a:buFont typeface="+mj-lt"/>
              <a:buAutoNum type="arabicPeriod"/>
            </a:pPr>
            <a:r>
              <a:rPr lang="en-US" dirty="0"/>
              <a:t>State null and alternative hypotheses.</a:t>
            </a:r>
          </a:p>
          <a:p>
            <a:pPr marL="624078" indent="-514350">
              <a:buFont typeface="+mj-lt"/>
              <a:buAutoNum type="arabicPeriod"/>
            </a:pPr>
            <a:r>
              <a:rPr lang="en-US" b="1" dirty="0"/>
              <a:t>Choose an appropriate test statistic.</a:t>
            </a:r>
          </a:p>
          <a:p>
            <a:pPr marL="624078" indent="-514350">
              <a:buFont typeface="+mj-lt"/>
              <a:buAutoNum type="arabicPeriod"/>
            </a:pPr>
            <a:r>
              <a:rPr lang="en-US" b="1" dirty="0"/>
              <a:t>Perform computation.</a:t>
            </a:r>
          </a:p>
          <a:p>
            <a:pPr marL="624078" indent="-514350">
              <a:buFont typeface="+mj-lt"/>
              <a:buAutoNum type="arabicPeriod"/>
            </a:pPr>
            <a:r>
              <a:rPr lang="en-US" b="1" dirty="0"/>
              <a:t>Compute the </a:t>
            </a:r>
            <a:r>
              <a:rPr lang="en-US" b="1" i="1" dirty="0"/>
              <a:t>P-value based on the computed value of the test statistic.</a:t>
            </a:r>
          </a:p>
          <a:p>
            <a:pPr marL="624078" indent="-514350">
              <a:buFont typeface="+mj-lt"/>
              <a:buAutoNum type="arabicPeriod"/>
            </a:pPr>
            <a:r>
              <a:rPr lang="en-US" b="1" dirty="0"/>
              <a:t>Use judgment based on the </a:t>
            </a:r>
            <a:r>
              <a:rPr lang="en-US" b="1" i="1" dirty="0"/>
              <a:t>P-value and knowledge of the scientific system.</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4132-C942-D52B-60D7-927EB649AAEB}"/>
              </a:ext>
            </a:extLst>
          </p:cNvPr>
          <p:cNvSpPr>
            <a:spLocks noGrp="1"/>
          </p:cNvSpPr>
          <p:nvPr>
            <p:ph type="title"/>
          </p:nvPr>
        </p:nvSpPr>
        <p:spPr/>
        <p:txBody>
          <a:bodyPr>
            <a:normAutofit fontScale="90000"/>
          </a:bodyPr>
          <a:lstStyle/>
          <a:p>
            <a:r>
              <a:rPr lang="en-US" b="1" i="1" dirty="0">
                <a:solidFill>
                  <a:srgbClr val="1B2B68"/>
                </a:solidFill>
                <a:effectLst/>
                <a:latin typeface="Gilmer"/>
              </a:rPr>
              <a:t>p </a:t>
            </a:r>
            <a:r>
              <a:rPr lang="en-US" b="1" i="0" dirty="0">
                <a:solidFill>
                  <a:srgbClr val="1B2B68"/>
                </a:solidFill>
                <a:effectLst/>
                <a:latin typeface="Gilmer"/>
              </a:rPr>
              <a:t>value</a:t>
            </a:r>
            <a:br>
              <a:rPr lang="en-US" b="1" i="0" dirty="0">
                <a:solidFill>
                  <a:srgbClr val="1B2B68"/>
                </a:solidFill>
                <a:effectLst/>
                <a:latin typeface="Gilmer"/>
              </a:rPr>
            </a:br>
            <a:endParaRPr lang="en-US" dirty="0"/>
          </a:p>
        </p:txBody>
      </p:sp>
      <p:sp>
        <p:nvSpPr>
          <p:cNvPr id="3" name="Content Placeholder 2">
            <a:extLst>
              <a:ext uri="{FF2B5EF4-FFF2-40B4-BE49-F238E27FC236}">
                <a16:creationId xmlns:a16="http://schemas.microsoft.com/office/drawing/2014/main" id="{DDD5E36D-1AB0-6F8D-AD8F-14940990CEE5}"/>
              </a:ext>
            </a:extLst>
          </p:cNvPr>
          <p:cNvSpPr>
            <a:spLocks noGrp="1"/>
          </p:cNvSpPr>
          <p:nvPr>
            <p:ph idx="1"/>
          </p:nvPr>
        </p:nvSpPr>
        <p:spPr/>
        <p:txBody>
          <a:bodyPr/>
          <a:lstStyle/>
          <a:p>
            <a:pPr algn="l"/>
            <a:r>
              <a:rPr lang="en-US" b="0" i="0">
                <a:solidFill>
                  <a:srgbClr val="0D405F"/>
                </a:solidFill>
                <a:effectLst/>
                <a:latin typeface="Inter"/>
              </a:rPr>
              <a:t>The </a:t>
            </a:r>
            <a:r>
              <a:rPr lang="en-US" b="1" i="1" dirty="0">
                <a:solidFill>
                  <a:srgbClr val="0D405F"/>
                </a:solidFill>
                <a:effectLst/>
                <a:latin typeface="Inter"/>
              </a:rPr>
              <a:t>p </a:t>
            </a:r>
            <a:r>
              <a:rPr lang="en-US" b="1" i="0" dirty="0">
                <a:solidFill>
                  <a:srgbClr val="0D405F"/>
                </a:solidFill>
                <a:effectLst/>
                <a:latin typeface="Inter"/>
              </a:rPr>
              <a:t>value</a:t>
            </a:r>
            <a:r>
              <a:rPr lang="en-US" b="0" i="0" dirty="0">
                <a:solidFill>
                  <a:srgbClr val="0D405F"/>
                </a:solidFill>
                <a:effectLst/>
                <a:latin typeface="Inter"/>
              </a:rPr>
              <a:t> is a number, calculated from a statistical test, that describes how likely you are to have found a particular set of observations if the null hypothesis were true.</a:t>
            </a:r>
          </a:p>
          <a:p>
            <a:pPr algn="l"/>
            <a:r>
              <a:rPr lang="en-US" b="0" i="1" dirty="0">
                <a:solidFill>
                  <a:srgbClr val="0D405F"/>
                </a:solidFill>
                <a:effectLst/>
                <a:latin typeface="Inter"/>
              </a:rPr>
              <a:t>P </a:t>
            </a:r>
            <a:r>
              <a:rPr lang="en-US" b="0" i="0" dirty="0">
                <a:solidFill>
                  <a:srgbClr val="0D405F"/>
                </a:solidFill>
                <a:effectLst/>
                <a:latin typeface="Inter"/>
              </a:rPr>
              <a:t>values are used in </a:t>
            </a:r>
            <a:r>
              <a:rPr lang="en-US" b="0" i="0" u="none" strike="noStrike" dirty="0">
                <a:solidFill>
                  <a:srgbClr val="1F80E8"/>
                </a:solidFill>
                <a:effectLst/>
                <a:latin typeface="Inter"/>
                <a:hlinkClick r:id="rId2"/>
              </a:rPr>
              <a:t>hypothesis testing</a:t>
            </a:r>
            <a:r>
              <a:rPr lang="en-US" b="0" i="0" dirty="0">
                <a:solidFill>
                  <a:srgbClr val="0D405F"/>
                </a:solidFill>
                <a:effectLst/>
                <a:latin typeface="Inter"/>
              </a:rPr>
              <a:t> to help decide whether to reject the null hypothesis. The smaller the </a:t>
            </a:r>
            <a:r>
              <a:rPr lang="en-US" b="0" i="1" dirty="0">
                <a:solidFill>
                  <a:srgbClr val="0D405F"/>
                </a:solidFill>
                <a:effectLst/>
                <a:latin typeface="Inter"/>
              </a:rPr>
              <a:t>p </a:t>
            </a:r>
            <a:r>
              <a:rPr lang="en-US" b="0" i="0" dirty="0">
                <a:solidFill>
                  <a:srgbClr val="0D405F"/>
                </a:solidFill>
                <a:effectLst/>
                <a:latin typeface="Inter"/>
              </a:rPr>
              <a:t>value, the more likely you are to reject the null hypothesis.</a:t>
            </a:r>
          </a:p>
          <a:p>
            <a:endParaRPr lang="en-US" dirty="0"/>
          </a:p>
        </p:txBody>
      </p:sp>
    </p:spTree>
    <p:extLst>
      <p:ext uri="{BB962C8B-B14F-4D97-AF65-F5344CB8AC3E}">
        <p14:creationId xmlns:p14="http://schemas.microsoft.com/office/powerpoint/2010/main" val="2555022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29DE-47F4-778A-3721-E29C306FDF91}"/>
              </a:ext>
            </a:extLst>
          </p:cNvPr>
          <p:cNvSpPr>
            <a:spLocks noGrp="1"/>
          </p:cNvSpPr>
          <p:nvPr>
            <p:ph type="title"/>
          </p:nvPr>
        </p:nvSpPr>
        <p:spPr/>
        <p:txBody>
          <a:bodyPr>
            <a:normAutofit/>
          </a:bodyPr>
          <a:lstStyle/>
          <a:p>
            <a:r>
              <a:rPr lang="en-US" b="1" i="1" dirty="0">
                <a:solidFill>
                  <a:srgbClr val="1B2B68"/>
                </a:solidFill>
                <a:effectLst/>
                <a:latin typeface="Gilmer"/>
              </a:rPr>
              <a:t>p </a:t>
            </a:r>
            <a:r>
              <a:rPr lang="en-US" b="1" i="0" dirty="0">
                <a:solidFill>
                  <a:srgbClr val="1B2B68"/>
                </a:solidFill>
                <a:effectLst/>
                <a:latin typeface="Gilmer"/>
              </a:rPr>
              <a:t>value</a:t>
            </a:r>
            <a:endParaRPr lang="en-US" dirty="0"/>
          </a:p>
        </p:txBody>
      </p:sp>
      <p:sp>
        <p:nvSpPr>
          <p:cNvPr id="3" name="Content Placeholder 2">
            <a:extLst>
              <a:ext uri="{FF2B5EF4-FFF2-40B4-BE49-F238E27FC236}">
                <a16:creationId xmlns:a16="http://schemas.microsoft.com/office/drawing/2014/main" id="{469545DB-5FCF-B109-F355-CE4B569E03DC}"/>
              </a:ext>
            </a:extLst>
          </p:cNvPr>
          <p:cNvSpPr>
            <a:spLocks noGrp="1"/>
          </p:cNvSpPr>
          <p:nvPr>
            <p:ph idx="1"/>
          </p:nvPr>
        </p:nvSpPr>
        <p:spPr/>
        <p:txBody>
          <a:bodyPr/>
          <a:lstStyle/>
          <a:p>
            <a:pPr algn="l" fontAlgn="base"/>
            <a:r>
              <a:rPr lang="en-US" b="0" i="0" dirty="0">
                <a:solidFill>
                  <a:srgbClr val="000000"/>
                </a:solidFill>
                <a:effectLst/>
                <a:highlight>
                  <a:srgbClr val="FFFFFF"/>
                </a:highlight>
                <a:latin typeface="Helvetica" panose="020B0604020202020204" pitchFamily="34" charset="0"/>
              </a:rPr>
              <a:t>If the p-value of the hypothesis test is </a:t>
            </a:r>
            <a:r>
              <a:rPr lang="en-US" b="0" i="0" dirty="0">
                <a:solidFill>
                  <a:srgbClr val="FF0000"/>
                </a:solidFill>
                <a:effectLst/>
                <a:highlight>
                  <a:srgbClr val="FFFFFF"/>
                </a:highlight>
                <a:latin typeface="Helvetica" panose="020B0604020202020204" pitchFamily="34" charset="0"/>
              </a:rPr>
              <a:t>less than some significance level </a:t>
            </a:r>
            <a:r>
              <a:rPr lang="en-US" b="0" i="0" dirty="0">
                <a:solidFill>
                  <a:srgbClr val="000000"/>
                </a:solidFill>
                <a:effectLst/>
                <a:highlight>
                  <a:srgbClr val="FFFFFF"/>
                </a:highlight>
                <a:latin typeface="Helvetica" panose="020B0604020202020204" pitchFamily="34" charset="0"/>
              </a:rPr>
              <a:t>(e.g. α = .05), then we can </a:t>
            </a:r>
            <a:r>
              <a:rPr lang="en-US" b="0" i="0" dirty="0">
                <a:solidFill>
                  <a:srgbClr val="FF0000"/>
                </a:solidFill>
                <a:effectLst/>
                <a:highlight>
                  <a:srgbClr val="FFFFFF"/>
                </a:highlight>
                <a:latin typeface="Helvetica" panose="020B0604020202020204" pitchFamily="34" charset="0"/>
              </a:rPr>
              <a:t>reject the null hypothesis </a:t>
            </a:r>
            <a:r>
              <a:rPr lang="en-US" b="0" i="0" dirty="0">
                <a:solidFill>
                  <a:srgbClr val="000000"/>
                </a:solidFill>
                <a:effectLst/>
                <a:highlight>
                  <a:srgbClr val="FFFFFF"/>
                </a:highlight>
                <a:latin typeface="Helvetica" panose="020B0604020202020204" pitchFamily="34" charset="0"/>
              </a:rPr>
              <a:t>and conclude that we have sufficient evidence to say that the alternative hypothesis is true.</a:t>
            </a:r>
          </a:p>
          <a:p>
            <a:pPr algn="l" fontAlgn="base"/>
            <a:r>
              <a:rPr lang="en-US" b="0" i="0" dirty="0">
                <a:solidFill>
                  <a:srgbClr val="000000"/>
                </a:solidFill>
                <a:effectLst/>
                <a:highlight>
                  <a:srgbClr val="FFFFFF"/>
                </a:highlight>
                <a:latin typeface="Helvetica" panose="020B0604020202020204" pitchFamily="34" charset="0"/>
              </a:rPr>
              <a:t>If the </a:t>
            </a:r>
            <a:r>
              <a:rPr lang="en-US" b="0" i="0" dirty="0">
                <a:solidFill>
                  <a:srgbClr val="FF0000"/>
                </a:solidFill>
                <a:effectLst/>
                <a:highlight>
                  <a:srgbClr val="FFFFFF"/>
                </a:highlight>
                <a:latin typeface="Helvetica" panose="020B0604020202020204" pitchFamily="34" charset="0"/>
              </a:rPr>
              <a:t>p-value is not less than .05</a:t>
            </a:r>
            <a:r>
              <a:rPr lang="en-US" b="0" i="0" dirty="0">
                <a:solidFill>
                  <a:srgbClr val="000000"/>
                </a:solidFill>
                <a:effectLst/>
                <a:highlight>
                  <a:srgbClr val="FFFFFF"/>
                </a:highlight>
                <a:latin typeface="Helvetica" panose="020B0604020202020204" pitchFamily="34" charset="0"/>
              </a:rPr>
              <a:t>, then we </a:t>
            </a:r>
            <a:r>
              <a:rPr lang="en-US" b="0" i="0" dirty="0">
                <a:solidFill>
                  <a:srgbClr val="FF0000"/>
                </a:solidFill>
                <a:effectLst/>
                <a:highlight>
                  <a:srgbClr val="FFFFFF"/>
                </a:highlight>
                <a:latin typeface="Helvetica" panose="020B0604020202020204" pitchFamily="34" charset="0"/>
              </a:rPr>
              <a:t>fail to reject the null hypothesis </a:t>
            </a:r>
            <a:r>
              <a:rPr lang="en-US" b="0" i="0" dirty="0">
                <a:solidFill>
                  <a:srgbClr val="000000"/>
                </a:solidFill>
                <a:effectLst/>
                <a:highlight>
                  <a:srgbClr val="FFFFFF"/>
                </a:highlight>
                <a:latin typeface="Helvetica" panose="020B0604020202020204" pitchFamily="34" charset="0"/>
              </a:rPr>
              <a:t>and conclude that we do not have sufficient evidence to say that the alternative hypothesis is true.</a:t>
            </a:r>
          </a:p>
          <a:p>
            <a:pPr marL="109728" indent="0">
              <a:buNone/>
            </a:pPr>
            <a:endParaRPr lang="en-US" dirty="0"/>
          </a:p>
        </p:txBody>
      </p:sp>
    </p:spTree>
    <p:extLst>
      <p:ext uri="{BB962C8B-B14F-4D97-AF65-F5344CB8AC3E}">
        <p14:creationId xmlns:p14="http://schemas.microsoft.com/office/powerpoint/2010/main" val="3300165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Single Sample: Tests Concerning a Single Mean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Tests on a Single Mean </a:t>
            </a:r>
            <a:r>
              <a:rPr lang="en-US" b="1" dirty="0">
                <a:solidFill>
                  <a:srgbClr val="FF0000"/>
                </a:solidFill>
              </a:rPr>
              <a:t>(Variance Known)</a:t>
            </a:r>
            <a:endParaRPr lang="en-US" dirty="0">
              <a:solidFill>
                <a:srgbClr val="FF0000"/>
              </a:solidFill>
            </a:endParaRP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736336"/>
          </a:xfrm>
        </p:spPr>
        <p:txBody>
          <a:bodyPr>
            <a:noAutofit/>
          </a:bodyPr>
          <a:lstStyle/>
          <a:p>
            <a:r>
              <a:rPr lang="en-US" sz="2000" dirty="0"/>
              <a:t>Example: A random sample of 100 recorded deaths in the United States during the past year showed an average life span of 71.8 years. Assuming a population standard deviation of 8.9 years, does this seem to indicate that the mean life span today is greater than 70 years? Use a 0.05 level of significance.</a:t>
            </a:r>
          </a:p>
          <a:p>
            <a:r>
              <a:rPr lang="en-US" sz="2000" dirty="0"/>
              <a:t>Solution:</a:t>
            </a:r>
          </a:p>
          <a:p>
            <a:endParaRPr lang="en-US" sz="2000" dirty="0"/>
          </a:p>
          <a:p>
            <a:endParaRPr lang="en-US" sz="2000" dirty="0"/>
          </a:p>
          <a:p>
            <a:endParaRPr lang="en-US" sz="2000" dirty="0"/>
          </a:p>
          <a:p>
            <a:endParaRPr lang="en-US" sz="2000" dirty="0"/>
          </a:p>
          <a:p>
            <a:endParaRPr lang="en-US" sz="2000" dirty="0"/>
          </a:p>
          <a:p>
            <a:pPr>
              <a:buNone/>
            </a:pPr>
            <a:endParaRPr lang="en-US" sz="2000" dirty="0"/>
          </a:p>
          <a:p>
            <a:pPr>
              <a:buNone/>
            </a:pPr>
            <a:r>
              <a:rPr lang="en-US" sz="2000" dirty="0"/>
              <a:t>	The </a:t>
            </a:r>
            <a:r>
              <a:rPr lang="en-US" sz="2000" i="1" dirty="0"/>
              <a:t>P-value corresponding to z = 2.02 is given by the area of the shaded region </a:t>
            </a:r>
            <a:r>
              <a:rPr lang="en-US" sz="2000" dirty="0"/>
              <a:t>in Figure , using Table A.3, we have</a:t>
            </a:r>
          </a:p>
          <a:p>
            <a:pPr>
              <a:buNone/>
            </a:pPr>
            <a:r>
              <a:rPr lang="en-US" sz="2000" i="1" dirty="0"/>
              <a:t>	P = P(Z &gt; 2.02) = 1-0.9783 =0.0217.</a:t>
            </a:r>
          </a:p>
          <a:p>
            <a:pPr>
              <a:buNone/>
            </a:pPr>
            <a:r>
              <a:rPr lang="en-US" sz="2000" dirty="0"/>
              <a:t>	As a result, the evidence in favor of </a:t>
            </a:r>
            <a:r>
              <a:rPr lang="en-US" sz="2000" i="1" dirty="0"/>
              <a:t>H1 is even stronger than that suggested by a </a:t>
            </a:r>
            <a:r>
              <a:rPr lang="en-US" sz="2000" dirty="0"/>
              <a:t>0.05 level of significance.</a:t>
            </a:r>
          </a:p>
          <a:p>
            <a:pPr>
              <a:buNone/>
            </a:pPr>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681403" y="2514600"/>
            <a:ext cx="6893169" cy="2133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860743" y="2133600"/>
            <a:ext cx="3207057" cy="1647825"/>
          </a:xfrm>
          <a:prstGeom prst="rect">
            <a:avLst/>
          </a:prstGeom>
          <a:noFill/>
          <a:ln w="9525">
            <a:noFill/>
            <a:miter lim="800000"/>
            <a:headEnd/>
            <a:tailEnd/>
          </a:ln>
        </p:spPr>
      </p:pic>
      <p:cxnSp>
        <p:nvCxnSpPr>
          <p:cNvPr id="2" name="Straight Connector 1">
            <a:extLst>
              <a:ext uri="{FF2B5EF4-FFF2-40B4-BE49-F238E27FC236}">
                <a16:creationId xmlns:a16="http://schemas.microsoft.com/office/drawing/2014/main" id="{497C8E31-F4E1-0C23-840E-43A15830EC79}"/>
              </a:ext>
            </a:extLst>
          </p:cNvPr>
          <p:cNvCxnSpPr>
            <a:cxnSpLocks/>
          </p:cNvCxnSpPr>
          <p:nvPr/>
        </p:nvCxnSpPr>
        <p:spPr>
          <a:xfrm>
            <a:off x="838200" y="3581400"/>
            <a:ext cx="40386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12536"/>
          </a:xfrm>
        </p:spPr>
        <p:txBody>
          <a:bodyPr>
            <a:normAutofit fontScale="92500" lnSpcReduction="20000"/>
          </a:bodyPr>
          <a:lstStyle/>
          <a:p>
            <a:r>
              <a:rPr lang="en-US" sz="2000" dirty="0"/>
              <a:t>Example: A manufacturer of sports equipment has developed a new synthetic fishing line that the company claims has a mean breaking strength of 8 kilograms with a standard deviation of 0.5 kilogram. Test the hypothesis that </a:t>
            </a:r>
            <a:r>
              <a:rPr lang="en-US" sz="2000" i="1" dirty="0"/>
              <a:t>μ = 8 kilograms against the </a:t>
            </a:r>
            <a:r>
              <a:rPr lang="en-US" sz="2000" dirty="0"/>
              <a:t>alternative that </a:t>
            </a:r>
            <a:r>
              <a:rPr lang="en-US" sz="2000" i="1" dirty="0"/>
              <a:t>μ ≠ 8 kilograms if a random sample of 50 lines is tested and found </a:t>
            </a:r>
            <a:r>
              <a:rPr lang="en-US" sz="2000" dirty="0"/>
              <a:t>to have a mean breaking strength of 7.8 kilograms. Use a 0.01 level of significance.</a:t>
            </a:r>
          </a:p>
          <a:p>
            <a:r>
              <a:rPr lang="en-US" sz="2000" dirty="0"/>
              <a:t>Solution: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a:buNone/>
            </a:pPr>
            <a:r>
              <a:rPr lang="en-US" sz="2000" i="1" dirty="0"/>
              <a:t>	</a:t>
            </a:r>
            <a:r>
              <a:rPr lang="pl-PL" sz="2000" i="1" dirty="0"/>
              <a:t>P = P(|Z| &gt; 2.83) = 2P(Z &lt; −2.83) = 0.0046,</a:t>
            </a:r>
          </a:p>
          <a:p>
            <a:pPr>
              <a:buNone/>
            </a:pPr>
            <a:r>
              <a:rPr lang="en-US" sz="2000" dirty="0"/>
              <a:t>	which allows us to reject the null hypothesis that </a:t>
            </a:r>
            <a:r>
              <a:rPr lang="en-US" sz="2000" i="1" dirty="0"/>
              <a:t>μ = 8 kilograms at a level of </a:t>
            </a:r>
            <a:r>
              <a:rPr lang="en-US" sz="2000" dirty="0"/>
              <a:t>significance smaller than 0.01.</a:t>
            </a:r>
          </a:p>
        </p:txBody>
      </p:sp>
      <p:pic>
        <p:nvPicPr>
          <p:cNvPr id="2050" name="Picture 2"/>
          <p:cNvPicPr>
            <a:picLocks noChangeAspect="1" noChangeArrowheads="1"/>
          </p:cNvPicPr>
          <p:nvPr/>
        </p:nvPicPr>
        <p:blipFill>
          <a:blip r:embed="rId2" cstate="print"/>
          <a:srcRect/>
          <a:stretch>
            <a:fillRect/>
          </a:stretch>
        </p:blipFill>
        <p:spPr bwMode="auto">
          <a:xfrm>
            <a:off x="762000" y="2895600"/>
            <a:ext cx="7696200" cy="2379838"/>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715000" y="2209800"/>
            <a:ext cx="3190875" cy="1724317"/>
          </a:xfrm>
          <a:prstGeom prst="rect">
            <a:avLst/>
          </a:prstGeom>
          <a:noFill/>
          <a:ln w="9525">
            <a:noFill/>
            <a:miter lim="800000"/>
            <a:headEnd/>
            <a:tailEnd/>
          </a:ln>
        </p:spPr>
      </p:pic>
      <p:cxnSp>
        <p:nvCxnSpPr>
          <p:cNvPr id="4" name="Straight Connector 3">
            <a:extLst>
              <a:ext uri="{FF2B5EF4-FFF2-40B4-BE49-F238E27FC236}">
                <a16:creationId xmlns:a16="http://schemas.microsoft.com/office/drawing/2014/main" id="{4C4AED51-696B-E8AA-185B-EF83E3B9365F}"/>
              </a:ext>
            </a:extLst>
          </p:cNvPr>
          <p:cNvCxnSpPr/>
          <p:nvPr/>
        </p:nvCxnSpPr>
        <p:spPr>
          <a:xfrm>
            <a:off x="1219200" y="4038600"/>
            <a:ext cx="5638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t>
            </a:r>
            <a:r>
              <a:rPr lang="en-US" i="1" dirty="0"/>
              <a:t>t-Statistic </a:t>
            </a:r>
            <a:r>
              <a:rPr lang="en-US" dirty="0"/>
              <a:t>for a Test on a</a:t>
            </a:r>
            <a:br>
              <a:rPr lang="en-US" dirty="0"/>
            </a:br>
            <a:r>
              <a:rPr lang="en-US" dirty="0"/>
              <a:t>Single Mean </a:t>
            </a:r>
            <a:r>
              <a:rPr lang="en-US" dirty="0">
                <a:solidFill>
                  <a:srgbClr val="FF0000"/>
                </a:solidFill>
              </a:rPr>
              <a:t>(Variance Unknown)</a:t>
            </a:r>
          </a:p>
        </p:txBody>
      </p:sp>
      <p:pic>
        <p:nvPicPr>
          <p:cNvPr id="3074" name="Picture 2"/>
          <p:cNvPicPr>
            <a:picLocks noChangeAspect="1" noChangeArrowheads="1"/>
          </p:cNvPicPr>
          <p:nvPr/>
        </p:nvPicPr>
        <p:blipFill>
          <a:blip r:embed="rId2" cstate="print"/>
          <a:srcRect/>
          <a:stretch>
            <a:fillRect/>
          </a:stretch>
        </p:blipFill>
        <p:spPr bwMode="auto">
          <a:xfrm>
            <a:off x="381000" y="2362200"/>
            <a:ext cx="7467600" cy="3369329"/>
          </a:xfrm>
          <a:prstGeom prst="rect">
            <a:avLst/>
          </a:prstGeom>
          <a:noFill/>
          <a:ln w="9525">
            <a:noFill/>
            <a:miter lim="800000"/>
            <a:headEnd/>
            <a:tailEnd/>
          </a:ln>
        </p:spPr>
      </p:pic>
      <p:sp>
        <p:nvSpPr>
          <p:cNvPr id="5" name="Rectangle 4"/>
          <p:cNvSpPr/>
          <p:nvPr/>
        </p:nvSpPr>
        <p:spPr>
          <a:xfrm>
            <a:off x="457200" y="5934670"/>
            <a:ext cx="7010400" cy="646331"/>
          </a:xfrm>
          <a:prstGeom prst="rect">
            <a:avLst/>
          </a:prstGeom>
        </p:spPr>
        <p:txBody>
          <a:bodyPr wrap="square">
            <a:spAutoFit/>
          </a:bodyPr>
          <a:lstStyle/>
          <a:p>
            <a:r>
              <a:rPr lang="en-US" dirty="0"/>
              <a:t>For </a:t>
            </a:r>
            <a:r>
              <a:rPr lang="en-US" i="1" dirty="0"/>
              <a:t>H1: μ &gt; μ0, rejection results when  t &gt; tα,n−1. For H1: μ &lt; μ0, the critical region is given by t &lt; −tα,n−1.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200"/>
            <a:ext cx="8991600" cy="5736336"/>
          </a:xfrm>
        </p:spPr>
        <p:txBody>
          <a:bodyPr>
            <a:normAutofit/>
          </a:bodyPr>
          <a:lstStyle/>
          <a:p>
            <a:pPr>
              <a:buNone/>
            </a:pPr>
            <a:r>
              <a:rPr lang="en-US" dirty="0"/>
              <a:t>	</a:t>
            </a:r>
            <a:r>
              <a:rPr lang="en-US" sz="2000" dirty="0"/>
              <a:t>Example: The Edison Electric Institute has published figures on the number of kilowatt hours used annually by various home appliances. It is claimed that a vacuum cleaner uses an average of 46 kilowatt hours per year. If a random sample of 12 homes included in a planned study indicates that vacuum cleaners use an average of 42 kilowatt hours per year with a standard deviation of 11.9 kilowatt hours, does this suggest at the 0.05 level of significance that vacuum cleaners use, on average, less than 46 kilowatt hours annually? Assume the population of kilowatt hours to be normal.</a:t>
            </a:r>
          </a:p>
          <a:p>
            <a:pPr>
              <a:buNone/>
            </a:pPr>
            <a:r>
              <a:rPr lang="en-US" sz="2000" dirty="0"/>
              <a:t>	Solution:</a:t>
            </a:r>
          </a:p>
        </p:txBody>
      </p:sp>
      <p:pic>
        <p:nvPicPr>
          <p:cNvPr id="1026" name="Picture 2"/>
          <p:cNvPicPr>
            <a:picLocks noChangeAspect="1" noChangeArrowheads="1"/>
          </p:cNvPicPr>
          <p:nvPr/>
        </p:nvPicPr>
        <p:blipFill>
          <a:blip r:embed="rId2" cstate="print"/>
          <a:srcRect/>
          <a:stretch>
            <a:fillRect/>
          </a:stretch>
        </p:blipFill>
        <p:spPr bwMode="auto">
          <a:xfrm>
            <a:off x="685800" y="3581400"/>
            <a:ext cx="6543675" cy="22955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33400" y="5943600"/>
            <a:ext cx="6477000" cy="714375"/>
          </a:xfrm>
          <a:prstGeom prst="rect">
            <a:avLst/>
          </a:prstGeom>
          <a:noFill/>
          <a:ln w="9525">
            <a:noFill/>
            <a:miter lim="800000"/>
            <a:headEnd/>
            <a:tailEnd/>
          </a:ln>
        </p:spPr>
      </p:pic>
      <p:cxnSp>
        <p:nvCxnSpPr>
          <p:cNvPr id="2" name="Straight Connector 1">
            <a:extLst>
              <a:ext uri="{FF2B5EF4-FFF2-40B4-BE49-F238E27FC236}">
                <a16:creationId xmlns:a16="http://schemas.microsoft.com/office/drawing/2014/main" id="{79AB6EFD-88F7-133F-D035-86FB2D996B33}"/>
              </a:ext>
            </a:extLst>
          </p:cNvPr>
          <p:cNvCxnSpPr/>
          <p:nvPr/>
        </p:nvCxnSpPr>
        <p:spPr>
          <a:xfrm>
            <a:off x="914400" y="4572000"/>
            <a:ext cx="5638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lstStyle/>
          <a:p>
            <a:pPr>
              <a:buNone/>
            </a:pPr>
            <a:r>
              <a:rPr lang="en-US" dirty="0"/>
              <a:t>10.19</a:t>
            </a:r>
          </a:p>
          <a:p>
            <a:pPr>
              <a:buNone/>
            </a:pPr>
            <a:r>
              <a:rPr lang="en-US" dirty="0"/>
              <a:t>10.20</a:t>
            </a:r>
          </a:p>
          <a:p>
            <a:pPr>
              <a:buNone/>
            </a:pPr>
            <a:r>
              <a:rPr lang="en-US" dirty="0"/>
              <a:t>10.21</a:t>
            </a:r>
          </a:p>
          <a:p>
            <a:pPr>
              <a:buNone/>
            </a:pPr>
            <a:r>
              <a:rPr lang="en-US" dirty="0"/>
              <a:t>10.22</a:t>
            </a:r>
          </a:p>
          <a:p>
            <a:pPr>
              <a:buNone/>
            </a:pPr>
            <a:r>
              <a:rPr lang="en-US" dirty="0"/>
              <a:t>10.24</a:t>
            </a:r>
          </a:p>
          <a:p>
            <a:pPr>
              <a:buNone/>
            </a:pPr>
            <a:r>
              <a:rPr lang="en-US" dirty="0"/>
              <a:t>10.25</a:t>
            </a:r>
          </a:p>
          <a:p>
            <a:pPr>
              <a:buNone/>
            </a:pPr>
            <a:r>
              <a:rPr lang="en-US"/>
              <a:t>10.26</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260</TotalTime>
  <Words>770</Words>
  <Application>Microsoft Office PowerPoint</Application>
  <PresentationFormat>On-screen Show (4:3)</PresentationFormat>
  <Paragraphs>66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Georgia</vt:lpstr>
      <vt:lpstr>Gilmer</vt:lpstr>
      <vt:lpstr>Helvetica</vt:lpstr>
      <vt:lpstr>Inter</vt:lpstr>
      <vt:lpstr>Trebuchet MS</vt:lpstr>
      <vt:lpstr>Wingdings 2</vt:lpstr>
      <vt:lpstr>Urban</vt:lpstr>
      <vt:lpstr>Testing of Hypothesis</vt:lpstr>
      <vt:lpstr>Hypothesis Testing</vt:lpstr>
      <vt:lpstr>The Null and Alternative Hypotheses</vt:lpstr>
      <vt:lpstr>Test Statistic</vt:lpstr>
      <vt:lpstr>Approach to Hypothesis Testing with Fixed Probability</vt:lpstr>
      <vt:lpstr>Significance Testing (P-Value Approach)</vt:lpstr>
      <vt:lpstr>p value </vt:lpstr>
      <vt:lpstr>p value</vt:lpstr>
      <vt:lpstr>Single Sample: Tests Concerning a Single Mean</vt:lpstr>
      <vt:lpstr>Tests on a Single Mean (Variance Known)</vt:lpstr>
      <vt:lpstr>PowerPoint Presentation</vt:lpstr>
      <vt:lpstr>PowerPoint Presentation</vt:lpstr>
      <vt:lpstr>The t-Statistic for a Test on a Single Mean (Variance Unknown)</vt:lpstr>
      <vt:lpstr>PowerPoint Presentation</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of Hypothesis</dc:title>
  <dc:creator>shahjee</dc:creator>
  <cp:lastModifiedBy>amna humayun</cp:lastModifiedBy>
  <cp:revision>27</cp:revision>
  <dcterms:created xsi:type="dcterms:W3CDTF">2015-12-09T03:38:47Z</dcterms:created>
  <dcterms:modified xsi:type="dcterms:W3CDTF">2024-05-24T12:10:58Z</dcterms:modified>
</cp:coreProperties>
</file>