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7" r:id="rId9"/>
    <p:sldId id="262" r:id="rId10"/>
    <p:sldId id="263" r:id="rId11"/>
    <p:sldId id="264" r:id="rId12"/>
    <p:sldId id="265" r:id="rId13"/>
    <p:sldId id="268" r:id="rId14"/>
    <p:sldId id="269" r:id="rId15"/>
    <p:sldId id="274" r:id="rId16"/>
    <p:sldId id="275" r:id="rId17"/>
    <p:sldId id="276" r:id="rId18"/>
    <p:sldId id="270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080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Rectangle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Rectangle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Rectangle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Rectangle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E177AA08-C371-475C-8D8F-52BFB080243C}" type="datetimeFigureOut">
              <a:rPr lang="en-US" smtClean="0"/>
              <a:pPr/>
              <a:t>4/21/2020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8030618B-0FD5-453C-9B8D-D1119D71681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7AA08-C371-475C-8D8F-52BFB080243C}" type="datetimeFigureOut">
              <a:rPr lang="en-US" smtClean="0"/>
              <a:pPr/>
              <a:t>4/21/2020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0618B-0FD5-453C-9B8D-D1119D71681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7AA08-C371-475C-8D8F-52BFB080243C}" type="datetimeFigureOut">
              <a:rPr lang="en-US" smtClean="0"/>
              <a:pPr/>
              <a:t>4/21/2020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0618B-0FD5-453C-9B8D-D1119D71681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7AA08-C371-475C-8D8F-52BFB080243C}" type="datetimeFigureOut">
              <a:rPr lang="en-US" smtClean="0"/>
              <a:pPr/>
              <a:t>4/21/2020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0618B-0FD5-453C-9B8D-D1119D71681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E177AA08-C371-475C-8D8F-52BFB080243C}" type="datetimeFigureOut">
              <a:rPr lang="en-US" smtClean="0"/>
              <a:pPr/>
              <a:t>4/21/2020</a:t>
            </a:fld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8030618B-0FD5-453C-9B8D-D1119D71681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E177AA08-C371-475C-8D8F-52BFB080243C}" type="datetimeFigureOut">
              <a:rPr lang="en-US" smtClean="0"/>
              <a:pPr/>
              <a:t>4/21/2020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8030618B-0FD5-453C-9B8D-D1119D71681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7AA08-C371-475C-8D8F-52BFB080243C}" type="datetimeFigureOut">
              <a:rPr lang="en-US" smtClean="0"/>
              <a:pPr/>
              <a:t>4/21/2020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0618B-0FD5-453C-9B8D-D1119D71681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7AA08-C371-475C-8D8F-52BFB080243C}" type="datetimeFigureOut">
              <a:rPr lang="en-US" smtClean="0"/>
              <a:pPr/>
              <a:t>4/21/2020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0618B-0FD5-453C-9B8D-D1119D71681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7AA08-C371-475C-8D8F-52BFB080243C}" type="datetimeFigureOut">
              <a:rPr lang="en-US" smtClean="0"/>
              <a:pPr/>
              <a:t>4/21/2020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0618B-0FD5-453C-9B8D-D1119D71681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7AA08-C371-475C-8D8F-52BFB080243C}" type="datetimeFigureOut">
              <a:rPr lang="en-US" smtClean="0"/>
              <a:pPr/>
              <a:t>4/21/2020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0618B-0FD5-453C-9B8D-D1119D71681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7AA08-C371-475C-8D8F-52BFB080243C}" type="datetimeFigureOut">
              <a:rPr lang="en-US" smtClean="0"/>
              <a:pPr/>
              <a:t>4/21/2020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0618B-0FD5-453C-9B8D-D1119D71681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Rectangle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Rectangle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Rectangle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Rectangle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Rectangle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E177AA08-C371-475C-8D8F-52BFB080243C}" type="datetimeFigureOut">
              <a:rPr lang="en-US" smtClean="0"/>
              <a:pPr/>
              <a:t>4/21/2020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8030618B-0FD5-453C-9B8D-D1119D71681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Continuous Probability Distribution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NORMAL DISTRIBUTION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Normal Distribution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most important continuous probability distribution in the entire field of statistics is the </a:t>
            </a:r>
            <a:r>
              <a:rPr lang="en-US" b="1" dirty="0" smtClean="0"/>
              <a:t>normal distribution. </a:t>
            </a:r>
          </a:p>
          <a:p>
            <a:r>
              <a:rPr lang="en-US" b="1" dirty="0" smtClean="0"/>
              <a:t>Its graph, called the normal curve, is the </a:t>
            </a:r>
            <a:r>
              <a:rPr lang="en-US" dirty="0" smtClean="0"/>
              <a:t>bell-shaped curve.</a:t>
            </a:r>
          </a:p>
          <a:p>
            <a:r>
              <a:rPr lang="en-US" dirty="0" smtClean="0"/>
              <a:t>The normal distribution is often referred to as the </a:t>
            </a:r>
            <a:r>
              <a:rPr lang="en-US" b="1" dirty="0" smtClean="0"/>
              <a:t>Gaussian distribution, in honor of Karl Friedrich Gauss.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066800"/>
          </a:xfrm>
        </p:spPr>
        <p:txBody>
          <a:bodyPr/>
          <a:lstStyle/>
          <a:p>
            <a:r>
              <a:rPr lang="en-US" dirty="0" smtClean="0"/>
              <a:t>Normal Distribution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1600200"/>
            <a:ext cx="5429250" cy="2986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1805" y="4495800"/>
            <a:ext cx="8763595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1752600" y="6135469"/>
            <a:ext cx="5943600" cy="646331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mean and variance of </a:t>
            </a:r>
            <a:r>
              <a:rPr lang="en-US" i="1" dirty="0">
                <a:solidFill>
                  <a:schemeClr val="bg1"/>
                </a:solidFill>
              </a:rPr>
              <a:t>n(x; μ, σ) are μ and σ</a:t>
            </a:r>
            <a:r>
              <a:rPr lang="en-US" i="1" baseline="30000" dirty="0">
                <a:solidFill>
                  <a:schemeClr val="bg1"/>
                </a:solidFill>
              </a:rPr>
              <a:t>2</a:t>
            </a:r>
            <a:r>
              <a:rPr lang="en-US" i="1" dirty="0">
                <a:solidFill>
                  <a:schemeClr val="bg1"/>
                </a:solidFill>
              </a:rPr>
              <a:t>, respectively. Hence, the </a:t>
            </a:r>
            <a:r>
              <a:rPr lang="en-US" i="1" dirty="0" smtClean="0">
                <a:solidFill>
                  <a:schemeClr val="bg1"/>
                </a:solidFill>
              </a:rPr>
              <a:t>standard </a:t>
            </a:r>
            <a:r>
              <a:rPr lang="en-US" dirty="0" smtClean="0">
                <a:solidFill>
                  <a:schemeClr val="bg1"/>
                </a:solidFill>
              </a:rPr>
              <a:t>deviation </a:t>
            </a:r>
            <a:r>
              <a:rPr lang="en-US" dirty="0">
                <a:solidFill>
                  <a:schemeClr val="bg1"/>
                </a:solidFill>
              </a:rPr>
              <a:t>is </a:t>
            </a:r>
            <a:r>
              <a:rPr lang="el-GR" i="1" dirty="0">
                <a:solidFill>
                  <a:schemeClr val="bg1"/>
                </a:solidFill>
              </a:rPr>
              <a:t>σ.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1066800"/>
          </a:xfrm>
        </p:spPr>
        <p:txBody>
          <a:bodyPr/>
          <a:lstStyle/>
          <a:p>
            <a:r>
              <a:rPr lang="en-US" b="1" dirty="0" smtClean="0"/>
              <a:t>Areas under the Normal Curve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42975" y="1752600"/>
            <a:ext cx="6296025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838200"/>
            <a:ext cx="8229600" cy="5050536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FF0000"/>
                </a:solidFill>
              </a:rPr>
              <a:t>difficulty</a:t>
            </a:r>
            <a:r>
              <a:rPr lang="en-US" dirty="0" smtClean="0"/>
              <a:t> encountered in</a:t>
            </a:r>
            <a:r>
              <a:rPr lang="en-US" dirty="0" smtClean="0">
                <a:solidFill>
                  <a:srgbClr val="FF0000"/>
                </a:solidFill>
              </a:rPr>
              <a:t> solving integrals</a:t>
            </a:r>
            <a:r>
              <a:rPr lang="en-US" dirty="0" smtClean="0"/>
              <a:t> of  </a:t>
            </a:r>
            <a:r>
              <a:rPr lang="en-US" dirty="0" smtClean="0">
                <a:solidFill>
                  <a:srgbClr val="FF0000"/>
                </a:solidFill>
              </a:rPr>
              <a:t>normal density functions</a:t>
            </a:r>
            <a:r>
              <a:rPr lang="en-US" dirty="0" smtClean="0">
                <a:solidFill>
                  <a:srgbClr val="002060"/>
                </a:solidFill>
              </a:rPr>
              <a:t> </a:t>
            </a:r>
            <a:r>
              <a:rPr lang="en-US" dirty="0" smtClean="0"/>
              <a:t>necessitates the tabulation of normal curve areas for quick reference.</a:t>
            </a:r>
          </a:p>
          <a:p>
            <a:r>
              <a:rPr lang="en-US" dirty="0" smtClean="0"/>
              <a:t>However, it would be a </a:t>
            </a:r>
            <a:r>
              <a:rPr lang="en-US" dirty="0" smtClean="0">
                <a:solidFill>
                  <a:srgbClr val="FF0000"/>
                </a:solidFill>
              </a:rPr>
              <a:t>hopeless task</a:t>
            </a:r>
            <a:r>
              <a:rPr lang="en-US" dirty="0" smtClean="0"/>
              <a:t> to attempt to set up </a:t>
            </a:r>
            <a:r>
              <a:rPr lang="en-US" dirty="0" smtClean="0">
                <a:solidFill>
                  <a:srgbClr val="FF0000"/>
                </a:solidFill>
              </a:rPr>
              <a:t>separate tables for every </a:t>
            </a:r>
            <a:r>
              <a:rPr lang="en-US" dirty="0" smtClean="0"/>
              <a:t>conceivable </a:t>
            </a:r>
            <a:r>
              <a:rPr lang="en-US" dirty="0" smtClean="0">
                <a:solidFill>
                  <a:srgbClr val="FF0000"/>
                </a:solidFill>
              </a:rPr>
              <a:t>value of </a:t>
            </a:r>
            <a:r>
              <a:rPr lang="en-US" i="1" dirty="0" smtClean="0">
                <a:solidFill>
                  <a:srgbClr val="FF0000"/>
                </a:solidFill>
              </a:rPr>
              <a:t>μ and σ. </a:t>
            </a:r>
          </a:p>
          <a:p>
            <a:r>
              <a:rPr lang="en-US" i="1" dirty="0" smtClean="0"/>
              <a:t>Fortunately, we are able to </a:t>
            </a:r>
            <a:r>
              <a:rPr lang="en-US" i="1" dirty="0" smtClean="0">
                <a:solidFill>
                  <a:srgbClr val="FF0000"/>
                </a:solidFill>
              </a:rPr>
              <a:t>transform all </a:t>
            </a:r>
            <a:r>
              <a:rPr lang="en-US" dirty="0" smtClean="0">
                <a:solidFill>
                  <a:srgbClr val="FF0000"/>
                </a:solidFill>
              </a:rPr>
              <a:t>the observations of any normal random variable </a:t>
            </a:r>
            <a:r>
              <a:rPr lang="en-US" i="1" dirty="0" smtClean="0">
                <a:solidFill>
                  <a:srgbClr val="FF0000"/>
                </a:solidFill>
              </a:rPr>
              <a:t>X </a:t>
            </a:r>
            <a:r>
              <a:rPr lang="en-US" i="1" dirty="0" smtClean="0"/>
              <a:t>into a new set of observations </a:t>
            </a:r>
            <a:r>
              <a:rPr lang="en-US" dirty="0" smtClean="0"/>
              <a:t>of a </a:t>
            </a:r>
            <a:r>
              <a:rPr lang="en-US" b="1" i="1" dirty="0" smtClean="0">
                <a:solidFill>
                  <a:srgbClr val="0070C0"/>
                </a:solidFill>
              </a:rPr>
              <a:t>normal random variable Z with mean 0 and variance 1. </a:t>
            </a:r>
            <a:r>
              <a:rPr lang="en-US" i="1" dirty="0" smtClean="0"/>
              <a:t>This can be done by </a:t>
            </a:r>
            <a:r>
              <a:rPr lang="en-US" dirty="0" smtClean="0"/>
              <a:t>means of the transformation</a:t>
            </a:r>
          </a:p>
          <a:p>
            <a:pPr>
              <a:buNone/>
            </a:pPr>
            <a:r>
              <a:rPr lang="en-US" i="1" dirty="0" smtClean="0"/>
              <a:t>				</a:t>
            </a:r>
            <a:r>
              <a:rPr lang="en-US" b="1" i="1" dirty="0" smtClean="0">
                <a:solidFill>
                  <a:srgbClr val="C00000"/>
                </a:solidFill>
              </a:rPr>
              <a:t>Z = (X − </a:t>
            </a:r>
            <a:r>
              <a:rPr lang="el-GR" b="1" i="1" dirty="0" smtClean="0">
                <a:solidFill>
                  <a:srgbClr val="C00000"/>
                </a:solidFill>
              </a:rPr>
              <a:t>μ</a:t>
            </a:r>
            <a:r>
              <a:rPr lang="en-US" b="1" i="1" dirty="0" smtClean="0">
                <a:solidFill>
                  <a:srgbClr val="C00000"/>
                </a:solidFill>
              </a:rPr>
              <a:t>)/</a:t>
            </a:r>
            <a:r>
              <a:rPr lang="el-GR" b="1" i="1" dirty="0" smtClean="0">
                <a:solidFill>
                  <a:srgbClr val="C00000"/>
                </a:solidFill>
              </a:rPr>
              <a:t>σ</a:t>
            </a:r>
            <a:endParaRPr lang="en-US" b="1" dirty="0" smtClean="0">
              <a:solidFill>
                <a:srgbClr val="C0000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8229600" cy="1066800"/>
          </a:xfrm>
        </p:spPr>
        <p:txBody>
          <a:bodyPr>
            <a:normAutofit/>
          </a:bodyPr>
          <a:lstStyle/>
          <a:p>
            <a:r>
              <a:rPr lang="en-US" b="1" dirty="0" smtClean="0"/>
              <a:t>Standard Normal Distribution.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3276600"/>
            <a:ext cx="5867400" cy="3409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457200" y="2209800"/>
            <a:ext cx="8001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 distribution of a normal random variable with mean 0 and variance 1 is </a:t>
            </a:r>
            <a:r>
              <a:rPr lang="en-US" dirty="0" smtClean="0"/>
              <a:t>called a </a:t>
            </a:r>
            <a:r>
              <a:rPr lang="en-US" b="1" dirty="0"/>
              <a:t>standard normal distribution</a:t>
            </a:r>
            <a:r>
              <a:rPr lang="en-US" b="1" dirty="0" smtClean="0"/>
              <a:t>.</a:t>
            </a:r>
          </a:p>
          <a:p>
            <a:r>
              <a:rPr lang="en-US" b="1" i="1" dirty="0" smtClean="0">
                <a:solidFill>
                  <a:srgbClr val="C00000"/>
                </a:solidFill>
              </a:rPr>
              <a:t>			Z = (X − </a:t>
            </a:r>
            <a:r>
              <a:rPr lang="el-GR" b="1" i="1" dirty="0" smtClean="0">
                <a:solidFill>
                  <a:srgbClr val="C00000"/>
                </a:solidFill>
              </a:rPr>
              <a:t>μ</a:t>
            </a:r>
            <a:r>
              <a:rPr lang="en-US" b="1" i="1" dirty="0" smtClean="0">
                <a:solidFill>
                  <a:srgbClr val="C00000"/>
                </a:solidFill>
              </a:rPr>
              <a:t>)/</a:t>
            </a:r>
            <a:r>
              <a:rPr lang="el-GR" b="1" i="1" dirty="0" smtClean="0">
                <a:solidFill>
                  <a:srgbClr val="C00000"/>
                </a:solidFill>
              </a:rPr>
              <a:t>σ</a:t>
            </a:r>
            <a:endParaRPr lang="en-US" b="1" dirty="0" smtClean="0">
              <a:solidFill>
                <a:srgbClr val="C00000"/>
              </a:solidFill>
            </a:endParaRPr>
          </a:p>
          <a:p>
            <a:endParaRPr lang="en-US" b="1" dirty="0" smtClean="0"/>
          </a:p>
          <a:p>
            <a:endParaRPr lang="en-US" b="1" dirty="0" smtClean="0"/>
          </a:p>
          <a:p>
            <a:r>
              <a:rPr lang="en-US" b="1" dirty="0" smtClean="0"/>
              <a:t>		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 l="42167" t="11458" r="18594" b="6250"/>
          <a:stretch>
            <a:fillRect/>
          </a:stretch>
        </p:blipFill>
        <p:spPr bwMode="auto">
          <a:xfrm>
            <a:off x="2168323" y="0"/>
            <a:ext cx="5816279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 l="42167" t="16667" r="18594" b="6250"/>
          <a:stretch>
            <a:fillRect/>
          </a:stretch>
        </p:blipFill>
        <p:spPr bwMode="auto">
          <a:xfrm>
            <a:off x="2133600" y="0"/>
            <a:ext cx="6248400" cy="6901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50773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/>
              <a:t>	</a:t>
            </a:r>
            <a:r>
              <a:rPr lang="en-US" sz="2400" dirty="0" smtClean="0">
                <a:solidFill>
                  <a:srgbClr val="FF0000"/>
                </a:solidFill>
              </a:rPr>
              <a:t>Example: </a:t>
            </a:r>
            <a:r>
              <a:rPr lang="en-US" sz="2400" dirty="0" smtClean="0"/>
              <a:t>Given a random variable </a:t>
            </a:r>
            <a:r>
              <a:rPr lang="en-US" sz="2400" i="1" dirty="0" smtClean="0"/>
              <a:t>X having a normal distribution with μ = 50 and σ = 10, </a:t>
            </a:r>
            <a:r>
              <a:rPr lang="en-US" sz="2400" dirty="0" smtClean="0"/>
              <a:t>   find the probability that </a:t>
            </a:r>
            <a:r>
              <a:rPr lang="en-US" sz="2400" i="1" dirty="0" smtClean="0"/>
              <a:t>X assumes a value between 45 and 62.</a:t>
            </a:r>
            <a:endParaRPr lang="en-US" sz="24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1876425"/>
            <a:ext cx="6705600" cy="3381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19200" y="5410200"/>
            <a:ext cx="3847888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43000" y="5979802"/>
            <a:ext cx="7315200" cy="801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81253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/>
              <a:t>	</a:t>
            </a:r>
            <a:r>
              <a:rPr lang="en-US" sz="2400" dirty="0" smtClean="0">
                <a:solidFill>
                  <a:srgbClr val="FF0000"/>
                </a:solidFill>
              </a:rPr>
              <a:t>Example:</a:t>
            </a:r>
            <a:r>
              <a:rPr lang="en-US" sz="2400" dirty="0" smtClean="0"/>
              <a:t> Given that </a:t>
            </a:r>
            <a:r>
              <a:rPr lang="en-US" sz="2400" i="1" dirty="0" smtClean="0"/>
              <a:t>X has a normal distribution with </a:t>
            </a:r>
          </a:p>
          <a:p>
            <a:pPr>
              <a:buNone/>
            </a:pPr>
            <a:r>
              <a:rPr lang="en-US" sz="2400" i="1" dirty="0" smtClean="0"/>
              <a:t>   μ = 300 and σ = 50, find the </a:t>
            </a:r>
            <a:r>
              <a:rPr lang="en-US" sz="2400" dirty="0" smtClean="0"/>
              <a:t>probability that </a:t>
            </a:r>
            <a:r>
              <a:rPr lang="en-US" sz="2400" i="1" dirty="0" smtClean="0"/>
              <a:t>X assumes a value greater than 362.</a:t>
            </a:r>
          </a:p>
          <a:p>
            <a:pPr>
              <a:buNone/>
            </a:pPr>
            <a:r>
              <a:rPr lang="en-US" sz="2400" i="1" dirty="0" smtClean="0"/>
              <a:t>   </a:t>
            </a:r>
            <a:r>
              <a:rPr lang="en-US" sz="2400" i="1" dirty="0" smtClean="0">
                <a:solidFill>
                  <a:srgbClr val="FF0000"/>
                </a:solidFill>
              </a:rPr>
              <a:t>Solution:</a:t>
            </a:r>
          </a:p>
          <a:p>
            <a:pPr>
              <a:buNone/>
            </a:pPr>
            <a:r>
              <a:rPr lang="en-US" sz="2400" i="1" dirty="0" smtClean="0"/>
              <a:t>	p(X&gt;362) </a:t>
            </a:r>
          </a:p>
          <a:p>
            <a:pPr>
              <a:buNone/>
            </a:pPr>
            <a:r>
              <a:rPr lang="en-US" sz="2400" i="1" dirty="0" smtClean="0"/>
              <a:t>			z= (362-300)/50 = 1.24</a:t>
            </a:r>
            <a:endParaRPr lang="en-US" sz="24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3581400"/>
            <a:ext cx="6560785" cy="292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Using the Normal Curve in Reverse</a:t>
            </a:r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2895600"/>
            <a:ext cx="5594983" cy="1271587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838200"/>
            <a:ext cx="825759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 cstate="print"/>
          <a:srcRect r="53631"/>
          <a:stretch>
            <a:fillRect/>
          </a:stretch>
        </p:blipFill>
        <p:spPr bwMode="auto">
          <a:xfrm>
            <a:off x="1423988" y="1957388"/>
            <a:ext cx="2919412" cy="2943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457200" y="4800600"/>
            <a:ext cx="3733800" cy="1477328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From Table </a:t>
            </a:r>
            <a:r>
              <a:rPr lang="en-US" dirty="0" smtClean="0">
                <a:solidFill>
                  <a:schemeClr val="bg1"/>
                </a:solidFill>
              </a:rPr>
              <a:t>A.3 we </a:t>
            </a:r>
            <a:r>
              <a:rPr lang="en-US" dirty="0">
                <a:solidFill>
                  <a:schemeClr val="bg1"/>
                </a:solidFill>
              </a:rPr>
              <a:t>find 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i="1" dirty="0" smtClean="0">
                <a:solidFill>
                  <a:schemeClr val="bg1"/>
                </a:solidFill>
              </a:rPr>
              <a:t>P(Z </a:t>
            </a:r>
            <a:r>
              <a:rPr lang="en-US" i="1" dirty="0">
                <a:solidFill>
                  <a:schemeClr val="bg1"/>
                </a:solidFill>
              </a:rPr>
              <a:t>&lt; −0.13) = 0.45, </a:t>
            </a:r>
            <a:endParaRPr lang="en-US" i="1" dirty="0" smtClean="0">
              <a:solidFill>
                <a:schemeClr val="bg1"/>
              </a:solidFill>
            </a:endParaRPr>
          </a:p>
          <a:p>
            <a:r>
              <a:rPr lang="en-US" i="1" dirty="0" smtClean="0">
                <a:solidFill>
                  <a:schemeClr val="bg1"/>
                </a:solidFill>
              </a:rPr>
              <a:t>so </a:t>
            </a:r>
            <a:r>
              <a:rPr lang="en-US" i="1" dirty="0">
                <a:solidFill>
                  <a:schemeClr val="bg1"/>
                </a:solidFill>
              </a:rPr>
              <a:t>the desired z value is −0.13. </a:t>
            </a:r>
            <a:endParaRPr lang="en-US" i="1" dirty="0" smtClean="0">
              <a:solidFill>
                <a:schemeClr val="bg1"/>
              </a:solidFill>
            </a:endParaRPr>
          </a:p>
          <a:p>
            <a:r>
              <a:rPr lang="en-US" i="1" dirty="0" smtClean="0">
                <a:solidFill>
                  <a:schemeClr val="bg1"/>
                </a:solidFill>
              </a:rPr>
              <a:t>Hence</a:t>
            </a:r>
            <a:r>
              <a:rPr lang="en-US" i="1" dirty="0">
                <a:solidFill>
                  <a:schemeClr val="bg1"/>
                </a:solidFill>
              </a:rPr>
              <a:t>,</a:t>
            </a:r>
          </a:p>
          <a:p>
            <a:r>
              <a:rPr lang="en-US" i="1" dirty="0">
                <a:solidFill>
                  <a:schemeClr val="bg1"/>
                </a:solidFill>
              </a:rPr>
              <a:t>x = (6)(−0.13) + 40 = 39.22.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0" y="5048071"/>
            <a:ext cx="3810000" cy="1200329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From </a:t>
            </a:r>
            <a:r>
              <a:rPr lang="en-US" dirty="0">
                <a:solidFill>
                  <a:schemeClr val="bg1"/>
                </a:solidFill>
              </a:rPr>
              <a:t>Table A.3, we </a:t>
            </a:r>
            <a:r>
              <a:rPr lang="en-US" dirty="0" smtClean="0">
                <a:solidFill>
                  <a:schemeClr val="bg1"/>
                </a:solidFill>
              </a:rPr>
              <a:t>find </a:t>
            </a:r>
          </a:p>
          <a:p>
            <a:r>
              <a:rPr lang="en-US" i="1" dirty="0" smtClean="0">
                <a:solidFill>
                  <a:schemeClr val="bg1"/>
                </a:solidFill>
              </a:rPr>
              <a:t>P(Z </a:t>
            </a:r>
            <a:r>
              <a:rPr lang="en-US" i="1" dirty="0">
                <a:solidFill>
                  <a:schemeClr val="bg1"/>
                </a:solidFill>
              </a:rPr>
              <a:t>&lt; 1.08) = 0.86, </a:t>
            </a:r>
            <a:endParaRPr lang="en-US" i="1" dirty="0" smtClean="0">
              <a:solidFill>
                <a:schemeClr val="bg1"/>
              </a:solidFill>
            </a:endParaRPr>
          </a:p>
          <a:p>
            <a:r>
              <a:rPr lang="en-US" i="1" dirty="0" smtClean="0">
                <a:solidFill>
                  <a:schemeClr val="bg1"/>
                </a:solidFill>
              </a:rPr>
              <a:t>so </a:t>
            </a:r>
            <a:r>
              <a:rPr lang="en-US" i="1" dirty="0">
                <a:solidFill>
                  <a:schemeClr val="bg1"/>
                </a:solidFill>
              </a:rPr>
              <a:t>the desired z value is 1.08 and</a:t>
            </a:r>
          </a:p>
          <a:p>
            <a:r>
              <a:rPr lang="en-US" i="1" dirty="0">
                <a:solidFill>
                  <a:schemeClr val="bg1"/>
                </a:solidFill>
              </a:rPr>
              <a:t>x = (6)(1.08) + 40 = 46.48.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 cstate="print"/>
          <a:srcRect l="56884"/>
          <a:stretch>
            <a:fillRect/>
          </a:stretch>
        </p:blipFill>
        <p:spPr bwMode="auto">
          <a:xfrm>
            <a:off x="4724400" y="1933575"/>
            <a:ext cx="2714625" cy="2943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09788" y="4419600"/>
            <a:ext cx="3634212" cy="172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38200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Applications of the Normal Distribution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	</a:t>
            </a:r>
            <a:r>
              <a:rPr lang="en-US" sz="2400" dirty="0" smtClean="0">
                <a:solidFill>
                  <a:srgbClr val="FF0000"/>
                </a:solidFill>
              </a:rPr>
              <a:t>Example:</a:t>
            </a:r>
            <a:r>
              <a:rPr lang="en-US" sz="2400" dirty="0" smtClean="0"/>
              <a:t> A certain type of storage battery lasts, on average, 3.0 years with a standard deviation of 0.5 year. Assuming that battery life is normally distributed, find the probability that a given battery will last less than 2.3 years.</a:t>
            </a:r>
          </a:p>
          <a:p>
            <a:pPr lvl="1">
              <a:buNone/>
            </a:pPr>
            <a:r>
              <a:rPr lang="en-US" sz="2200" dirty="0" smtClean="0"/>
              <a:t>Solution: </a:t>
            </a:r>
          </a:p>
          <a:p>
            <a:pPr lvl="1">
              <a:buNone/>
            </a:pPr>
            <a:r>
              <a:rPr lang="en-US" sz="2400" i="1" dirty="0" smtClean="0"/>
              <a:t>P(X &lt; 2.3)</a:t>
            </a:r>
          </a:p>
          <a:p>
            <a:pPr>
              <a:buNone/>
            </a:pPr>
            <a:r>
              <a:rPr lang="en-US" sz="2400" i="1" dirty="0" smtClean="0"/>
              <a:t>		z =(</a:t>
            </a:r>
            <a:r>
              <a:rPr lang="en-US" sz="2400" dirty="0" smtClean="0"/>
              <a:t>2</a:t>
            </a:r>
            <a:r>
              <a:rPr lang="en-US" sz="2400" i="1" dirty="0" smtClean="0"/>
              <a:t>.3 − 3)/</a:t>
            </a:r>
            <a:r>
              <a:rPr lang="en-US" sz="2400" dirty="0" smtClean="0"/>
              <a:t>0</a:t>
            </a:r>
            <a:r>
              <a:rPr lang="en-US" sz="2400" i="1" dirty="0" smtClean="0"/>
              <a:t>.5 </a:t>
            </a:r>
            <a:r>
              <a:rPr lang="en-US" sz="2400" dirty="0" smtClean="0"/>
              <a:t>= </a:t>
            </a:r>
            <a:r>
              <a:rPr lang="en-US" sz="2400" i="1" dirty="0" smtClean="0"/>
              <a:t>−1.4,</a:t>
            </a:r>
          </a:p>
          <a:p>
            <a:r>
              <a:rPr lang="en-US" sz="2400" dirty="0" smtClean="0"/>
              <a:t>and then, using Table A.3, we have</a:t>
            </a:r>
            <a:endParaRPr lang="en-US" sz="2400" i="1" dirty="0" smtClean="0"/>
          </a:p>
          <a:p>
            <a:r>
              <a:rPr lang="pl-PL" sz="2400" i="1" dirty="0" smtClean="0"/>
              <a:t>P(X &lt;2.3) = P(Z &lt; −1.4) = 0.0808.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3200400"/>
            <a:ext cx="701040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00600" y="4724400"/>
            <a:ext cx="4324350" cy="192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66013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/>
              <a:t>	</a:t>
            </a:r>
            <a:r>
              <a:rPr lang="en-US" sz="2400" dirty="0" smtClean="0">
                <a:solidFill>
                  <a:srgbClr val="FF0000"/>
                </a:solidFill>
              </a:rPr>
              <a:t>Example:</a:t>
            </a:r>
            <a:r>
              <a:rPr lang="en-US" sz="2400" dirty="0" smtClean="0"/>
              <a:t> An electrical firm manufactures light bulbs that have a life, before burn-out, that is normally distributed with mean equal to 800 hours and a standard deviation of 40 hours. Find the probability that a bulb burns between 778 and 834 hours.</a:t>
            </a:r>
          </a:p>
          <a:p>
            <a:pPr>
              <a:buNone/>
            </a:pPr>
            <a:r>
              <a:rPr lang="en-US" sz="2400" b="1" i="1" dirty="0" smtClean="0"/>
              <a:t>	</a:t>
            </a:r>
            <a:r>
              <a:rPr lang="en-US" sz="2400" i="1" dirty="0" smtClean="0">
                <a:solidFill>
                  <a:srgbClr val="FF0000"/>
                </a:solidFill>
              </a:rPr>
              <a:t>Solution :</a:t>
            </a:r>
            <a:r>
              <a:rPr lang="en-US" sz="2400" i="1" dirty="0" smtClean="0"/>
              <a:t> The z values corresponding </a:t>
            </a:r>
            <a:r>
              <a:rPr lang="en-US" sz="2400" dirty="0" smtClean="0"/>
              <a:t>to </a:t>
            </a:r>
            <a:r>
              <a:rPr lang="en-US" sz="2400" i="1" dirty="0" smtClean="0"/>
              <a:t>x1 = 778 and x2 = 834 are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62600" y="4419600"/>
            <a:ext cx="3495675" cy="173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685800"/>
            <a:ext cx="8229600" cy="5660136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2000" dirty="0" smtClean="0"/>
              <a:t>	</a:t>
            </a:r>
            <a:r>
              <a:rPr lang="en-US" sz="2000" dirty="0" smtClean="0">
                <a:solidFill>
                  <a:srgbClr val="FF0000"/>
                </a:solidFill>
              </a:rPr>
              <a:t>Example:</a:t>
            </a:r>
            <a:r>
              <a:rPr lang="en-US" sz="2000" dirty="0" smtClean="0"/>
              <a:t>  In an industrial process, the diameter of a ball bearing is an important measurement. The buyer sets specifications for the diameter to be 3.0 ± 0.01 cm. The implication is that no part falling outside these  specifications will be accepted. It is known that in the process the diameter of a ball bearing has a normal distribution with mean μ = 3.0 and standard deviation σ = 0.005. On average, how many manufactured ball bearings will be scrapped?</a:t>
            </a:r>
          </a:p>
          <a:p>
            <a:pPr>
              <a:buNone/>
            </a:pPr>
            <a:r>
              <a:rPr lang="en-US" sz="2400" i="1" dirty="0" smtClean="0">
                <a:solidFill>
                  <a:srgbClr val="FF0000"/>
                </a:solidFill>
              </a:rPr>
              <a:t>	Solution :</a:t>
            </a:r>
            <a:endParaRPr lang="en-US" sz="2400" dirty="0"/>
          </a:p>
          <a:p>
            <a:pPr>
              <a:buNone/>
            </a:pPr>
            <a:r>
              <a:rPr lang="en-US" sz="2400" dirty="0" smtClean="0"/>
              <a:t>	</a:t>
            </a:r>
            <a:r>
              <a:rPr lang="en-US" sz="2000" dirty="0" smtClean="0"/>
              <a:t>The values corresponding to the specification limits are </a:t>
            </a:r>
            <a:r>
              <a:rPr lang="en-US" sz="2000" i="1" dirty="0" smtClean="0"/>
              <a:t>x1 = 2.99 and x2 = 3.01. The corresponding z </a:t>
            </a:r>
            <a:r>
              <a:rPr lang="en-US" sz="2000" dirty="0" smtClean="0"/>
              <a:t>values are</a:t>
            </a:r>
          </a:p>
          <a:p>
            <a:pPr>
              <a:buNone/>
            </a:pPr>
            <a:endParaRPr lang="en-US" sz="2000" i="1" dirty="0" smtClean="0">
              <a:solidFill>
                <a:srgbClr val="FF0000"/>
              </a:solidFill>
            </a:endParaRPr>
          </a:p>
          <a:p>
            <a:pPr>
              <a:buNone/>
            </a:pPr>
            <a:endParaRPr lang="en-US" sz="2000" i="1" dirty="0" smtClean="0">
              <a:solidFill>
                <a:srgbClr val="FF0000"/>
              </a:solidFill>
            </a:endParaRPr>
          </a:p>
          <a:p>
            <a:pPr>
              <a:buNone/>
            </a:pPr>
            <a:endParaRPr lang="en-US" sz="2000" i="1" dirty="0" smtClean="0">
              <a:solidFill>
                <a:srgbClr val="FF0000"/>
              </a:solidFill>
            </a:endParaRPr>
          </a:p>
          <a:p>
            <a:pPr>
              <a:buNone/>
            </a:pPr>
            <a:endParaRPr lang="en-US" sz="2000" i="1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sz="2200" i="1" dirty="0" smtClean="0">
                <a:solidFill>
                  <a:srgbClr val="FF0000"/>
                </a:solidFill>
              </a:rPr>
              <a:t>     </a:t>
            </a:r>
            <a:r>
              <a:rPr lang="en-US" sz="2200" dirty="0" smtClean="0"/>
              <a:t> P(z&lt;2.0)- P(z&lt;-2.0) =0.9772 - 0.0228 =0.9544 </a:t>
            </a:r>
          </a:p>
          <a:p>
            <a:pPr>
              <a:buNone/>
            </a:pPr>
            <a:r>
              <a:rPr lang="en-US" sz="2200" dirty="0" smtClean="0"/>
              <a:t>     =1-.9544 =0.0456.</a:t>
            </a:r>
          </a:p>
          <a:p>
            <a:pPr>
              <a:buNone/>
            </a:pPr>
            <a:r>
              <a:rPr lang="en-US" sz="2200" dirty="0" smtClean="0"/>
              <a:t>    on average, 4.56% of manufactured ball </a:t>
            </a:r>
          </a:p>
          <a:p>
            <a:pPr>
              <a:buNone/>
            </a:pPr>
            <a:r>
              <a:rPr lang="en-US" sz="2200" dirty="0" smtClean="0"/>
              <a:t>    bearings will be scrapped.</a:t>
            </a:r>
            <a:endParaRPr lang="en-US" sz="2200" i="1" dirty="0" smtClean="0">
              <a:solidFill>
                <a:srgbClr val="FF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4400" y="3657600"/>
            <a:ext cx="5410200" cy="991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76800" y="4800600"/>
            <a:ext cx="4248150" cy="203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3190875"/>
            <a:ext cx="7201013" cy="183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533400"/>
            <a:ext cx="8229600" cy="566013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/>
              <a:t>	</a:t>
            </a:r>
            <a:r>
              <a:rPr lang="en-US" sz="2400" dirty="0" smtClean="0">
                <a:solidFill>
                  <a:srgbClr val="FF0000"/>
                </a:solidFill>
              </a:rPr>
              <a:t>Example:</a:t>
            </a:r>
            <a:r>
              <a:rPr lang="en-US" sz="2400" dirty="0" smtClean="0"/>
              <a:t> A certain machine makes electrical resistors having a mean resistance of 40 ohms and a standard deviation of 2 ohms. Assuming that the resistance follows a normal distribution and can be measured to any degree of accuracy, what percentage of resistors will have a resistance exceeding 43 ohms?</a:t>
            </a:r>
          </a:p>
          <a:p>
            <a:pPr>
              <a:buNone/>
            </a:pPr>
            <a:r>
              <a:rPr lang="en-US" sz="2400" b="1" i="1" dirty="0" smtClean="0"/>
              <a:t>	</a:t>
            </a:r>
            <a:r>
              <a:rPr lang="en-US" sz="2400" i="1" dirty="0" smtClean="0">
                <a:solidFill>
                  <a:srgbClr val="FF0000"/>
                </a:solidFill>
              </a:rPr>
              <a:t>Solution :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00600" y="4838700"/>
            <a:ext cx="4352925" cy="201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66013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/>
              <a:t>	</a:t>
            </a:r>
            <a:r>
              <a:rPr lang="en-US" sz="2000" dirty="0" smtClean="0">
                <a:solidFill>
                  <a:srgbClr val="FF0000"/>
                </a:solidFill>
              </a:rPr>
              <a:t>Example:</a:t>
            </a:r>
            <a:r>
              <a:rPr lang="en-US" sz="2000" dirty="0" smtClean="0"/>
              <a:t> The average grade for an exam is 74, and the standard deviation is 7. If 12% of the class is given As, and the grades are curved to follow a normal distribution, what is the lowest possible A and the highest possible B? </a:t>
            </a:r>
            <a:r>
              <a:rPr lang="en-US" sz="2000" b="1" dirty="0" smtClean="0"/>
              <a:t>	</a:t>
            </a:r>
          </a:p>
          <a:p>
            <a:pPr>
              <a:buNone/>
            </a:pPr>
            <a:r>
              <a:rPr lang="en-US" sz="2000" b="1" dirty="0" smtClean="0">
                <a:solidFill>
                  <a:srgbClr val="FF0000"/>
                </a:solidFill>
              </a:rPr>
              <a:t>	</a:t>
            </a:r>
            <a:r>
              <a:rPr lang="en-US" sz="2000" dirty="0" smtClean="0">
                <a:solidFill>
                  <a:srgbClr val="FF0000"/>
                </a:solidFill>
              </a:rPr>
              <a:t>Solution :</a:t>
            </a:r>
          </a:p>
          <a:p>
            <a:pPr>
              <a:buNone/>
            </a:pPr>
            <a:r>
              <a:rPr lang="en-US" sz="2000" dirty="0" smtClean="0"/>
              <a:t> x = </a:t>
            </a:r>
            <a:r>
              <a:rPr lang="en-US" sz="2000" dirty="0" err="1" smtClean="0"/>
              <a:t>σz</a:t>
            </a:r>
            <a:r>
              <a:rPr lang="en-US" sz="2000" dirty="0" smtClean="0"/>
              <a:t> + μ</a:t>
            </a:r>
          </a:p>
          <a:p>
            <a:pPr>
              <a:buNone/>
            </a:pPr>
            <a:r>
              <a:rPr lang="en-US" sz="2000" dirty="0" smtClean="0"/>
              <a:t> An area of 0.12, corresponding to the fraction of students receiving A’s</a:t>
            </a:r>
          </a:p>
          <a:p>
            <a:pPr>
              <a:buNone/>
            </a:pPr>
            <a:r>
              <a:rPr lang="en-US" sz="2000" dirty="0" smtClean="0"/>
              <a:t>  We require a z value that leaves 0.12 of the area to the right and, hence, an area of 0.88 to the left. </a:t>
            </a:r>
          </a:p>
          <a:p>
            <a:pPr>
              <a:buNone/>
            </a:pPr>
            <a:r>
              <a:rPr lang="en-US" sz="2000" dirty="0" smtClean="0"/>
              <a:t>  From Table A.3, P(Z &lt; 1.18) has the closest value to 0.88.</a:t>
            </a:r>
          </a:p>
          <a:p>
            <a:pPr>
              <a:buNone/>
            </a:pPr>
            <a:r>
              <a:rPr lang="en-US" sz="2000" dirty="0" smtClean="0"/>
              <a:t>  x = (7)(1.18) + 74 = 82.26.</a:t>
            </a:r>
          </a:p>
          <a:p>
            <a:pPr>
              <a:buNone/>
            </a:pPr>
            <a:r>
              <a:rPr lang="en-US" sz="2000" dirty="0" smtClean="0"/>
              <a:t>  Therefore, the lowest A is 83 and the highest B is 82.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Assignment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6.8</a:t>
            </a:r>
          </a:p>
          <a:p>
            <a:pPr>
              <a:buNone/>
            </a:pPr>
            <a:r>
              <a:rPr lang="en-US" dirty="0" smtClean="0"/>
              <a:t>6.11</a:t>
            </a:r>
          </a:p>
          <a:p>
            <a:pPr>
              <a:buNone/>
            </a:pPr>
            <a:r>
              <a:rPr lang="en-US" dirty="0" smtClean="0"/>
              <a:t>6.12</a:t>
            </a:r>
          </a:p>
          <a:p>
            <a:pPr>
              <a:buNone/>
            </a:pPr>
            <a:r>
              <a:rPr lang="en-US" dirty="0" smtClean="0"/>
              <a:t>6.13</a:t>
            </a:r>
          </a:p>
          <a:p>
            <a:pPr>
              <a:buNone/>
            </a:pPr>
            <a:r>
              <a:rPr lang="en-US" dirty="0" smtClean="0"/>
              <a:t>6.14</a:t>
            </a:r>
          </a:p>
          <a:p>
            <a:pPr>
              <a:buNone/>
            </a:pPr>
            <a:r>
              <a:rPr lang="en-US" dirty="0" smtClean="0"/>
              <a:t>6.15</a:t>
            </a:r>
          </a:p>
          <a:p>
            <a:pPr>
              <a:buNone/>
            </a:pPr>
            <a:r>
              <a:rPr lang="en-US" dirty="0" smtClean="0"/>
              <a:t>6.16</a:t>
            </a:r>
          </a:p>
          <a:p>
            <a:pPr>
              <a:buNone/>
            </a:pPr>
            <a:r>
              <a:rPr lang="en-US" smtClean="0"/>
              <a:t>6.17</a:t>
            </a:r>
          </a:p>
          <a:p>
            <a:pPr>
              <a:buNone/>
            </a:pPr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1348</TotalTime>
  <Words>292</Words>
  <Application>Microsoft Office PowerPoint</Application>
  <PresentationFormat>On-screen Show (4:3)</PresentationFormat>
  <Paragraphs>74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Urban</vt:lpstr>
      <vt:lpstr>Continuous Probability Distribution</vt:lpstr>
      <vt:lpstr>Normal Distribution</vt:lpstr>
      <vt:lpstr>Normal Distribution</vt:lpstr>
      <vt:lpstr>Areas under the Normal Curve</vt:lpstr>
      <vt:lpstr>Slide 5</vt:lpstr>
      <vt:lpstr>Standard Normal Distribution.</vt:lpstr>
      <vt:lpstr>Slide 7</vt:lpstr>
      <vt:lpstr>Slide 8</vt:lpstr>
      <vt:lpstr>Slide 9</vt:lpstr>
      <vt:lpstr>Slide 10</vt:lpstr>
      <vt:lpstr>Using the Normal Curve in Reverse</vt:lpstr>
      <vt:lpstr>Slide 12</vt:lpstr>
      <vt:lpstr>Applications of the Normal Distribution</vt:lpstr>
      <vt:lpstr>Slide 14</vt:lpstr>
      <vt:lpstr>Slide 15</vt:lpstr>
      <vt:lpstr>Slide 16</vt:lpstr>
      <vt:lpstr>Slide 17</vt:lpstr>
      <vt:lpstr>Assignment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Continuous Probability Distribution</dc:title>
  <dc:creator>shahjee</dc:creator>
  <cp:lastModifiedBy>shahjee</cp:lastModifiedBy>
  <cp:revision>58</cp:revision>
  <dcterms:created xsi:type="dcterms:W3CDTF">2015-11-21T19:42:14Z</dcterms:created>
  <dcterms:modified xsi:type="dcterms:W3CDTF">2020-04-21T08:24:05Z</dcterms:modified>
</cp:coreProperties>
</file>