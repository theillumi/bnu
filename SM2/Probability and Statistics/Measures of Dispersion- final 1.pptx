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y="6858000" cx="9144000"/>
  <p:notesSz cx="6858000" cy="9144000"/>
  <p:embeddedFontLst>
    <p:embeddedFont>
      <p:font typeface="Lat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F10CA9-4832-49BD-B562-33346438A27D}">
  <a:tblStyle styleId="{4BF10CA9-4832-49BD-B562-33346438A2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Lato-bold.fntdata"/><Relationship Id="rId10" Type="http://schemas.openxmlformats.org/officeDocument/2006/relationships/slide" Target="slides/slide3.xml"/><Relationship Id="rId54" Type="http://schemas.openxmlformats.org/officeDocument/2006/relationships/font" Target="fonts/Lato-regular.fntdata"/><Relationship Id="rId13" Type="http://schemas.openxmlformats.org/officeDocument/2006/relationships/slide" Target="slides/slide6.xml"/><Relationship Id="rId57" Type="http://schemas.openxmlformats.org/officeDocument/2006/relationships/font" Target="fonts/Lato-boldItalic.fntdata"/><Relationship Id="rId12" Type="http://schemas.openxmlformats.org/officeDocument/2006/relationships/slide" Target="slides/slide5.xml"/><Relationship Id="rId56" Type="http://schemas.openxmlformats.org/officeDocument/2006/relationships/font" Target="fonts/Lat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2" type="body"/>
          </p:nvPr>
        </p:nvSpPr>
        <p:spPr>
          <a:xfrm>
            <a:off x="46482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3" type="body"/>
          </p:nvPr>
        </p:nvSpPr>
        <p:spPr>
          <a:xfrm>
            <a:off x="4648200" y="41148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 Over Text" type="twoObjOverTx">
  <p:cSld name="TWO_OBJECTS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6858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46482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3" type="body"/>
          </p:nvPr>
        </p:nvSpPr>
        <p:spPr>
          <a:xfrm>
            <a:off x="685800" y="4114800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685800" y="1981200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2" type="body"/>
          </p:nvPr>
        </p:nvSpPr>
        <p:spPr>
          <a:xfrm>
            <a:off x="685800" y="4114800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1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14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14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0" name="Google Shape;120;p1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type="ctrTitle"/>
          </p:nvPr>
        </p:nvSpPr>
        <p:spPr>
          <a:xfrm>
            <a:off x="1295400" y="13716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8"/>
          <p:cNvSpPr txBox="1"/>
          <p:nvPr>
            <p:ph idx="1" type="subTitle"/>
          </p:nvPr>
        </p:nvSpPr>
        <p:spPr>
          <a:xfrm>
            <a:off x="1828800" y="3733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6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CC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008000"/>
              </a:buClr>
              <a:buSzPts val="3200"/>
              <a:buFont typeface="Noto Sans Symbols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Noto Sans Symbols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5;p1"/>
          <p:cNvGrpSpPr/>
          <p:nvPr/>
        </p:nvGrpSpPr>
        <p:grpSpPr>
          <a:xfrm>
            <a:off x="990600" y="1828800"/>
            <a:ext cx="7010400" cy="109537"/>
            <a:chOff x="768" y="1493"/>
            <a:chExt cx="4416" cy="69"/>
          </a:xfrm>
        </p:grpSpPr>
        <p:sp>
          <p:nvSpPr>
            <p:cNvPr id="16" name="Google Shape;16;p1"/>
            <p:cNvSpPr txBox="1"/>
            <p:nvPr/>
          </p:nvSpPr>
          <p:spPr>
            <a:xfrm>
              <a:off x="768" y="1503"/>
              <a:ext cx="1344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" name="Google Shape;17;p1"/>
            <p:cNvSpPr txBox="1"/>
            <p:nvPr/>
          </p:nvSpPr>
          <p:spPr>
            <a:xfrm>
              <a:off x="3840" y="1503"/>
              <a:ext cx="1344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" name="Google Shape;18;p1"/>
            <p:cNvSpPr txBox="1"/>
            <p:nvPr/>
          </p:nvSpPr>
          <p:spPr>
            <a:xfrm>
              <a:off x="2170" y="1503"/>
              <a:ext cx="46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3735" y="1503"/>
              <a:ext cx="46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" name="Google Shape;20;p1"/>
            <p:cNvSpPr txBox="1"/>
            <p:nvPr/>
          </p:nvSpPr>
          <p:spPr>
            <a:xfrm>
              <a:off x="2275" y="1498"/>
              <a:ext cx="58" cy="5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" name="Google Shape;21;p1"/>
            <p:cNvSpPr txBox="1"/>
            <p:nvPr/>
          </p:nvSpPr>
          <p:spPr>
            <a:xfrm>
              <a:off x="3618" y="1498"/>
              <a:ext cx="58" cy="5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2392" y="1493"/>
              <a:ext cx="69" cy="69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3490" y="1493"/>
              <a:ext cx="69" cy="69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520" y="1503"/>
              <a:ext cx="912" cy="48"/>
            </a:xfrm>
            <a:prstGeom prst="roundRect">
              <a:avLst>
                <a:gd fmla="val 0" name="adj"/>
              </a:avLst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C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7"/>
          <p:cNvGrpSpPr/>
          <p:nvPr/>
        </p:nvGrpSpPr>
        <p:grpSpPr>
          <a:xfrm>
            <a:off x="990600" y="1828800"/>
            <a:ext cx="7010400" cy="109537"/>
            <a:chOff x="768" y="1493"/>
            <a:chExt cx="4416" cy="69"/>
          </a:xfrm>
        </p:grpSpPr>
        <p:sp>
          <p:nvSpPr>
            <p:cNvPr id="125" name="Google Shape;125;p17"/>
            <p:cNvSpPr txBox="1"/>
            <p:nvPr/>
          </p:nvSpPr>
          <p:spPr>
            <a:xfrm>
              <a:off x="768" y="1503"/>
              <a:ext cx="1344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3840" y="1503"/>
              <a:ext cx="1344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2170" y="1503"/>
              <a:ext cx="46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3735" y="1503"/>
              <a:ext cx="46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2275" y="1498"/>
              <a:ext cx="58" cy="5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3618" y="1498"/>
              <a:ext cx="58" cy="5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2392" y="1493"/>
              <a:ext cx="69" cy="69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3490" y="1493"/>
              <a:ext cx="69" cy="69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2520" y="1503"/>
              <a:ext cx="912" cy="48"/>
            </a:xfrm>
            <a:prstGeom prst="roundRect">
              <a:avLst>
                <a:gd fmla="val 0" name="adj"/>
              </a:avLst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4" name="Google Shape;134;p17"/>
          <p:cNvSpPr/>
          <p:nvPr/>
        </p:nvSpPr>
        <p:spPr>
          <a:xfrm>
            <a:off x="609600" y="533400"/>
            <a:ext cx="10058400" cy="7772400"/>
          </a:xfrm>
          <a:prstGeom prst="roundRect">
            <a:avLst>
              <a:gd fmla="val 16667" name="adj"/>
            </a:avLst>
          </a:prstGeom>
          <a:solidFill>
            <a:srgbClr val="F5FF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5" name="Google Shape;135;p17"/>
          <p:cNvGrpSpPr/>
          <p:nvPr/>
        </p:nvGrpSpPr>
        <p:grpSpPr>
          <a:xfrm>
            <a:off x="1524000" y="3090862"/>
            <a:ext cx="7010400" cy="109537"/>
            <a:chOff x="768" y="1493"/>
            <a:chExt cx="4416" cy="69"/>
          </a:xfrm>
        </p:grpSpPr>
        <p:sp>
          <p:nvSpPr>
            <p:cNvPr id="136" name="Google Shape;136;p17"/>
            <p:cNvSpPr txBox="1"/>
            <p:nvPr/>
          </p:nvSpPr>
          <p:spPr>
            <a:xfrm>
              <a:off x="768" y="1503"/>
              <a:ext cx="1344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3840" y="1503"/>
              <a:ext cx="1344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2170" y="1503"/>
              <a:ext cx="46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3735" y="1503"/>
              <a:ext cx="46" cy="4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2275" y="1498"/>
              <a:ext cx="58" cy="5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3618" y="1498"/>
              <a:ext cx="58" cy="58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2392" y="1493"/>
              <a:ext cx="69" cy="69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3490" y="1493"/>
              <a:ext cx="69" cy="69"/>
            </a:xfrm>
            <a:prstGeom prst="rect">
              <a:avLst/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2520" y="1503"/>
              <a:ext cx="912" cy="48"/>
            </a:xfrm>
            <a:prstGeom prst="roundRect">
              <a:avLst>
                <a:gd fmla="val 0" name="adj"/>
              </a:avLst>
            </a:prstGeom>
            <a:blipFill rotWithShape="1">
              <a:blip r:embed="rId1">
                <a:alphaModFix/>
              </a:blip>
              <a:tile algn="tl" flip="none" tx="0" sx="100000" ty="0" sy="10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45" name="Google Shape;14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4400" y="1828800"/>
            <a:ext cx="239712" cy="239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51887" y="1828800"/>
            <a:ext cx="239712" cy="2397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8" name="Google Shape;148;p1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008000"/>
              </a:buClr>
              <a:buSzPts val="3200"/>
              <a:buFont typeface="Noto Sans Symbols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Noto Sans Symbols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9" name="Google Shape;149;p1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0" name="Google Shape;150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44.png"/><Relationship Id="rId8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Relationship Id="rId4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Relationship Id="rId4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6.png"/><Relationship Id="rId4" Type="http://schemas.openxmlformats.org/officeDocument/2006/relationships/image" Target="../media/image47.png"/><Relationship Id="rId5" Type="http://schemas.openxmlformats.org/officeDocument/2006/relationships/image" Target="../media/image62.png"/><Relationship Id="rId6" Type="http://schemas.openxmlformats.org/officeDocument/2006/relationships/image" Target="../media/image53.png"/><Relationship Id="rId7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52.png"/><Relationship Id="rId5" Type="http://schemas.openxmlformats.org/officeDocument/2006/relationships/image" Target="../media/image6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Relationship Id="rId4" Type="http://schemas.openxmlformats.org/officeDocument/2006/relationships/image" Target="../media/image6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9.png"/><Relationship Id="rId4" Type="http://schemas.openxmlformats.org/officeDocument/2006/relationships/image" Target="../media/image48.jpg"/><Relationship Id="rId5" Type="http://schemas.openxmlformats.org/officeDocument/2006/relationships/image" Target="../media/image6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Relationship Id="rId4" Type="http://schemas.openxmlformats.org/officeDocument/2006/relationships/image" Target="../media/image66.jpg"/><Relationship Id="rId5" Type="http://schemas.openxmlformats.org/officeDocument/2006/relationships/image" Target="../media/image6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/>
        </p:nvSpPr>
        <p:spPr>
          <a:xfrm>
            <a:off x="914400" y="3071812"/>
            <a:ext cx="7315200" cy="1143000"/>
          </a:xfrm>
          <a:prstGeom prst="rect">
            <a:avLst/>
          </a:prstGeom>
          <a:solidFill>
            <a:srgbClr val="FFD7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 (Variation)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/>
        </p:nvSpPr>
        <p:spPr>
          <a:xfrm>
            <a:off x="723900" y="2241550"/>
            <a:ext cx="78486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variation or dispersion in a set of values refers to how spread out the values are from each other.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927100" y="3568700"/>
            <a:ext cx="78486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variation is small when the values are close together.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variation if the values are the same.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0" y="3551237"/>
            <a:ext cx="91440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618037"/>
            <a:ext cx="624840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>
            <p:ph type="title"/>
          </p:nvPr>
        </p:nvSpPr>
        <p:spPr>
          <a:xfrm>
            <a:off x="685800" y="582612"/>
            <a:ext cx="7886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 (Variation)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569912" y="6731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457200" y="21336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measures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tendency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 what value of a variable is “average” or “central value” in a set of data, measures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dispersion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variability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spread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indicate the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extent to which the observed values are “spread out” around that center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how “far apart” observed values typically are from each other and therefore from some average value (in particular, the mean).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measure of location do not give an adequate description of data. We need to know how the observations spread out from the average.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of dispersion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a summary statistic that indicates the magnitude of such dispersion and, like a measure of central tendency, is a univariate statistic.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569912" y="6731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-184150" y="2070100"/>
            <a:ext cx="8983662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1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describe how similar a set of scores are to each other.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all cases have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identical observed values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(and thereby are also identical to [any] average value),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dispersion is zero.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most cases have observed values that are quite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“close together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(and thereby are also quite “close” to the average value),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dispersion is low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(but greater than zero)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many cases have observed values that are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quite “far away” from many others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(or from the average value),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dispersion is high. 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the Magnitude Dispersion Around the Average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457200" y="2341562"/>
            <a:ext cx="8229600" cy="3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Dispersion around the mean test score.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and Seattle have about the same mean daily temperature (about 65 degrees)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very different dispersions around that mean.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Dispersion (Inequality) around average household income.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</a:t>
            </a:r>
            <a:endParaRPr/>
          </a:p>
        </p:txBody>
      </p:sp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685800" y="1981200"/>
            <a:ext cx="3810000" cy="1627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distributions of scores has the larger dispersion?</a:t>
            </a:r>
            <a:endParaRPr/>
          </a:p>
        </p:txBody>
      </p:sp>
      <p:pic>
        <p:nvPicPr>
          <p:cNvPr id="199" name="Google Shape;199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6825" y="2439987"/>
            <a:ext cx="3711575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4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6825" y="4486275"/>
            <a:ext cx="349567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4"/>
          <p:cNvSpPr txBox="1"/>
          <p:nvPr/>
        </p:nvSpPr>
        <p:spPr>
          <a:xfrm>
            <a:off x="685800" y="3697287"/>
            <a:ext cx="3810000" cy="311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upper distribution has more dispersion because the scores are more spread out</a:t>
            </a:r>
            <a:endParaRPr/>
          </a:p>
          <a:p>
            <a:pPr indent="-346075" lvl="1" marL="8032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is, they are less similar to each other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three main measures of dispersion: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/ standard deviation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of Dispersion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three main measures of dispersion: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/ standard deviation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defined as the difference between the largest score in the set of data and the smallest score in the set of data, 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range of the following data:</a:t>
            </a:r>
            <a:b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4   8   1   6   6   2   9   3   6   9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largest score (X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9; the smallest score (X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1; the range is 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9 - 1 = 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To Use the Range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 is used when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have ordinal data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are presenting your results to people with little or no knowledge of statistics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 is rarely used in scientific work as it is fairly insensitive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depends on only two scores in the set of data, X</a:t>
            </a:r>
            <a:r>
              <a:rPr b="0" baseline="-25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X</a:t>
            </a:r>
            <a:r>
              <a:rPr b="0" baseline="-25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very different sets of data can have the same range:</a:t>
            </a:r>
            <a:b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1   1   1   9   vs   1  3  5  7  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685800" y="1981200"/>
            <a:ext cx="77724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1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defined as the average of the square deviations from the mean:</a:t>
            </a:r>
            <a:endParaRPr/>
          </a:p>
        </p:txBody>
      </p:sp>
      <p:pic>
        <p:nvPicPr>
          <p:cNvPr id="232" name="Google Shape;2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3425" y="3473450"/>
            <a:ext cx="3079750" cy="129381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9"/>
          <p:cNvSpPr txBox="1"/>
          <p:nvPr/>
        </p:nvSpPr>
        <p:spPr>
          <a:xfrm>
            <a:off x="685800" y="3384550"/>
            <a:ext cx="45720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Variance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Variance</a:t>
            </a:r>
            <a:endParaRPr/>
          </a:p>
        </p:txBody>
      </p:sp>
      <p:pic>
        <p:nvPicPr>
          <p:cNvPr id="240" name="Google Shape;2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181225"/>
            <a:ext cx="17526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534025"/>
            <a:ext cx="15525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8400" y="2181225"/>
            <a:ext cx="1203325" cy="24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1725" y="2181225"/>
            <a:ext cx="21526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8887" y="5476875"/>
            <a:ext cx="15430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the Variance Formula Mean?</a:t>
            </a:r>
            <a:endParaRPr/>
          </a:p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it says to subtract the mean from each of the scores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difference is called a </a:t>
            </a:r>
            <a:r>
              <a:rPr b="0" i="1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deviate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a </a:t>
            </a:r>
            <a:r>
              <a:rPr b="0" i="1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deviation score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deviate tells us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far a given score is from the typical, or average, score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the deviate is a measure of dispersion for a given score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the Variance Formula Mean?</a:t>
            </a:r>
            <a:endParaRPr/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variance is a measure of the average squared deviation from the mean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 the variance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is, the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scores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deviate,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average,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away from the mean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smaller the variance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is, the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scores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deviate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on average, from the mean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</a:t>
            </a:r>
            <a:endParaRPr/>
          </a:p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347662" y="1922462"/>
            <a:ext cx="8610600" cy="4678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deviate scores are squared in variance, their unit of measure is squared as well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 If people’s weights are measured in pounds, then the variance of the weights would be expressed in pounds</a:t>
            </a:r>
            <a:r>
              <a:rPr b="0" baseline="30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 squared pounds)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squared units of measure are often awkward to deal with, </a:t>
            </a: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square root of variance is often used instead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 is the square root of variance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</a:t>
            </a:r>
            <a:endParaRPr/>
          </a:p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1227137" y="4811712"/>
            <a:ext cx="6088062" cy="14366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i="0" lang="en-US" sz="32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 = √variance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0" i="0" lang="en-US" sz="32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= (standard deviation)</a:t>
            </a:r>
            <a:r>
              <a:rPr b="0" baseline="30000" i="0" lang="en-US" sz="32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69" name="Google Shape;269;p34"/>
          <p:cNvSpPr txBox="1"/>
          <p:nvPr/>
        </p:nvSpPr>
        <p:spPr>
          <a:xfrm>
            <a:off x="685800" y="2236787"/>
            <a:ext cx="45720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</a:t>
            </a:r>
            <a:endParaRPr/>
          </a:p>
        </p:txBody>
      </p:sp>
      <p:pic>
        <p:nvPicPr>
          <p:cNvPr id="270" name="Google Shape;2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9437" y="2236787"/>
            <a:ext cx="1912937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4"/>
          <p:cNvSpPr txBox="1"/>
          <p:nvPr/>
        </p:nvSpPr>
        <p:spPr>
          <a:xfrm>
            <a:off x="3325893" y="3375239"/>
            <a:ext cx="4727243" cy="10911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Standard Deviation</a:t>
            </a:r>
            <a:endParaRPr/>
          </a:p>
        </p:txBody>
      </p:sp>
      <p:pic>
        <p:nvPicPr>
          <p:cNvPr id="278" name="Google Shape;2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181225"/>
            <a:ext cx="175260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534025"/>
            <a:ext cx="15525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8400" y="2181225"/>
            <a:ext cx="1203325" cy="24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1725" y="2181225"/>
            <a:ext cx="21526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2050" y="4843462"/>
            <a:ext cx="15430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42050" y="5524500"/>
            <a:ext cx="1592262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42C"/>
              </a:buClr>
              <a:buSzPts val="4400"/>
              <a:buFont typeface="Lato"/>
              <a:buNone/>
            </a:pPr>
            <a:r>
              <a:rPr b="0" i="0" lang="en-US" sz="4400" u="none">
                <a:solidFill>
                  <a:srgbClr val="21242C"/>
                </a:solidFill>
                <a:latin typeface="Lato"/>
                <a:ea typeface="Lato"/>
                <a:cs typeface="Lato"/>
                <a:sym typeface="Lato"/>
              </a:rPr>
              <a:t>Equivalent formula </a:t>
            </a:r>
            <a:endParaRPr/>
          </a:p>
        </p:txBody>
      </p:sp>
      <p:pic>
        <p:nvPicPr>
          <p:cNvPr id="289" name="Google Shape;28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0712" y="2090737"/>
            <a:ext cx="3079750" cy="10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6"/>
          <p:cNvSpPr txBox="1"/>
          <p:nvPr/>
        </p:nvSpPr>
        <p:spPr>
          <a:xfrm>
            <a:off x="333375" y="2103437"/>
            <a:ext cx="4572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Variance</a:t>
            </a:r>
            <a:endParaRPr/>
          </a:p>
        </p:txBody>
      </p:sp>
      <p:sp>
        <p:nvSpPr>
          <p:cNvPr id="291" name="Google Shape;291;p36"/>
          <p:cNvSpPr txBox="1"/>
          <p:nvPr/>
        </p:nvSpPr>
        <p:spPr>
          <a:xfrm>
            <a:off x="1676817" y="3716377"/>
            <a:ext cx="7050088" cy="11079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92" name="Google Shape;292;p36"/>
          <p:cNvSpPr txBox="1"/>
          <p:nvPr/>
        </p:nvSpPr>
        <p:spPr>
          <a:xfrm>
            <a:off x="3514055" y="5343215"/>
            <a:ext cx="5212850" cy="86107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31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and Standard Deviation</a:t>
            </a:r>
            <a:endParaRPr/>
          </a:p>
        </p:txBody>
      </p:sp>
      <p:sp>
        <p:nvSpPr>
          <p:cNvPr id="298" name="Google Shape;298;p37"/>
          <p:cNvSpPr txBox="1"/>
          <p:nvPr/>
        </p:nvSpPr>
        <p:spPr>
          <a:xfrm>
            <a:off x="727075" y="2246312"/>
            <a:ext cx="624046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variance and standard deviation of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9, 8, 6, 5, 8 6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8450" y="3098800"/>
            <a:ext cx="7019925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Variance and Standard Deviation</a:t>
            </a:r>
            <a:endParaRPr/>
          </a:p>
        </p:txBody>
      </p:sp>
      <p:pic>
        <p:nvPicPr>
          <p:cNvPr id="305" name="Google Shape;305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4987" y="2446337"/>
            <a:ext cx="2438400" cy="196373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8"/>
          <p:cNvSpPr txBox="1"/>
          <p:nvPr/>
        </p:nvSpPr>
        <p:spPr>
          <a:xfrm>
            <a:off x="1090863" y="2413530"/>
            <a:ext cx="5212850" cy="86107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31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07" name="Google Shape;307;p38"/>
          <p:cNvSpPr txBox="1"/>
          <p:nvPr/>
        </p:nvSpPr>
        <p:spPr>
          <a:xfrm>
            <a:off x="1090863" y="3935530"/>
            <a:ext cx="6239932" cy="28610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56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08" name="Google Shape;308;p38"/>
          <p:cNvSpPr txBox="1"/>
          <p:nvPr/>
        </p:nvSpPr>
        <p:spPr>
          <a:xfrm>
            <a:off x="-1195137" y="5786735"/>
            <a:ext cx="4572000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Variance and Standard Deviation for grouped data</a:t>
            </a:r>
            <a:endParaRPr/>
          </a:p>
        </p:txBody>
      </p:sp>
      <p:sp>
        <p:nvSpPr>
          <p:cNvPr id="315" name="Google Shape;315;p39"/>
          <p:cNvSpPr txBox="1"/>
          <p:nvPr/>
        </p:nvSpPr>
        <p:spPr>
          <a:xfrm>
            <a:off x="333375" y="2006600"/>
            <a:ext cx="4572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Variance</a:t>
            </a:r>
            <a:endParaRPr/>
          </a:p>
        </p:txBody>
      </p:sp>
      <p:pic>
        <p:nvPicPr>
          <p:cNvPr id="316" name="Google Shape;31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650" y="2728912"/>
            <a:ext cx="2592387" cy="94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87" y="4330700"/>
            <a:ext cx="3819525" cy="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" y="6049962"/>
            <a:ext cx="1665287" cy="68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4850" y="2549525"/>
            <a:ext cx="2673350" cy="116363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 txBox="1"/>
          <p:nvPr/>
        </p:nvSpPr>
        <p:spPr>
          <a:xfrm>
            <a:off x="5162550" y="2006600"/>
            <a:ext cx="4572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Standard Deviation</a:t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16550" y="4232275"/>
            <a:ext cx="3325812" cy="1204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variance and standard deviation  </a:t>
            </a:r>
            <a:b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graphicFrame>
        <p:nvGraphicFramePr>
          <p:cNvPr id="327" name="Google Shape;327;p40"/>
          <p:cNvGraphicFramePr/>
          <p:nvPr/>
        </p:nvGraphicFramePr>
        <p:xfrm>
          <a:off x="1135062" y="2179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{4BF10CA9-4832-49BD-B562-33346438A27D}</a:tableStyleId>
              </a:tblPr>
              <a:tblGrid>
                <a:gridCol w="1462075"/>
                <a:gridCol w="1798625"/>
              </a:tblGrid>
              <a:tr h="113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 Interval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Frequency (f)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0 - 10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10 - 20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20 - 30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30 - 40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40 - 50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500" y="2084387"/>
            <a:ext cx="8261350" cy="45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variance and standard deviation  </a:t>
            </a:r>
            <a:b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variance and standard deviation  </a:t>
            </a:r>
            <a:b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339" name="Google Shape;339;p42"/>
          <p:cNvSpPr txBox="1"/>
          <p:nvPr/>
        </p:nvSpPr>
        <p:spPr>
          <a:xfrm>
            <a:off x="685800" y="2290155"/>
            <a:ext cx="5212850" cy="92993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89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40" name="Google Shape;340;p42"/>
          <p:cNvSpPr txBox="1"/>
          <p:nvPr/>
        </p:nvSpPr>
        <p:spPr>
          <a:xfrm>
            <a:off x="0" y="3757645"/>
            <a:ext cx="5212850" cy="163685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41" name="Google Shape;341;p42"/>
          <p:cNvSpPr txBox="1"/>
          <p:nvPr/>
        </p:nvSpPr>
        <p:spPr>
          <a:xfrm>
            <a:off x="5212850" y="2296618"/>
            <a:ext cx="5212850" cy="13488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456" l="0" r="0" t="-226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42" name="Google Shape;342;p42"/>
          <p:cNvSpPr txBox="1"/>
          <p:nvPr/>
        </p:nvSpPr>
        <p:spPr>
          <a:xfrm>
            <a:off x="3930316" y="4807223"/>
            <a:ext cx="5213684" cy="6463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Variance and Standard Deviation for ungrouped data</a:t>
            </a:r>
            <a:endParaRPr/>
          </a:p>
        </p:txBody>
      </p:sp>
      <p:sp>
        <p:nvSpPr>
          <p:cNvPr id="348" name="Google Shape;348;p43"/>
          <p:cNvSpPr txBox="1"/>
          <p:nvPr/>
        </p:nvSpPr>
        <p:spPr>
          <a:xfrm>
            <a:off x="333375" y="2103437"/>
            <a:ext cx="4572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Variance</a:t>
            </a:r>
            <a:endParaRPr/>
          </a:p>
        </p:txBody>
      </p:sp>
      <p:sp>
        <p:nvSpPr>
          <p:cNvPr id="349" name="Google Shape;349;p43"/>
          <p:cNvSpPr txBox="1"/>
          <p:nvPr/>
        </p:nvSpPr>
        <p:spPr>
          <a:xfrm>
            <a:off x="-1527800" y="2720602"/>
            <a:ext cx="7050088" cy="11115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50" name="Google Shape;350;p43"/>
          <p:cNvSpPr txBox="1"/>
          <p:nvPr/>
        </p:nvSpPr>
        <p:spPr>
          <a:xfrm>
            <a:off x="-1290733" y="4998986"/>
            <a:ext cx="7050088" cy="12098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51" name="Google Shape;351;p43"/>
          <p:cNvSpPr txBox="1"/>
          <p:nvPr/>
        </p:nvSpPr>
        <p:spPr>
          <a:xfrm>
            <a:off x="5497512" y="2271712"/>
            <a:ext cx="45720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Standard Deviation</a:t>
            </a:r>
            <a:endParaRPr/>
          </a:p>
        </p:txBody>
      </p:sp>
      <p:sp>
        <p:nvSpPr>
          <p:cNvPr id="352" name="Google Shape;352;p43"/>
          <p:cNvSpPr txBox="1"/>
          <p:nvPr/>
        </p:nvSpPr>
        <p:spPr>
          <a:xfrm>
            <a:off x="5759355" y="2888236"/>
            <a:ext cx="7050088" cy="11273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41" l="-397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53" name="Google Shape;353;p43"/>
          <p:cNvSpPr txBox="1"/>
          <p:nvPr/>
        </p:nvSpPr>
        <p:spPr>
          <a:xfrm>
            <a:off x="5497534" y="4970047"/>
            <a:ext cx="7050088" cy="11273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40" l="-397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Variance and Standard Deviation for grouped data</a:t>
            </a:r>
            <a:endParaRPr/>
          </a:p>
        </p:txBody>
      </p:sp>
      <p:sp>
        <p:nvSpPr>
          <p:cNvPr id="359" name="Google Shape;359;p44"/>
          <p:cNvSpPr txBox="1"/>
          <p:nvPr/>
        </p:nvSpPr>
        <p:spPr>
          <a:xfrm>
            <a:off x="333375" y="2103437"/>
            <a:ext cx="4572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Variance</a:t>
            </a:r>
            <a:endParaRPr/>
          </a:p>
        </p:txBody>
      </p:sp>
      <p:sp>
        <p:nvSpPr>
          <p:cNvPr id="360" name="Google Shape;360;p44"/>
          <p:cNvSpPr txBox="1"/>
          <p:nvPr/>
        </p:nvSpPr>
        <p:spPr>
          <a:xfrm>
            <a:off x="-1527800" y="2720602"/>
            <a:ext cx="7050088" cy="11115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61" name="Google Shape;361;p44"/>
          <p:cNvSpPr txBox="1"/>
          <p:nvPr/>
        </p:nvSpPr>
        <p:spPr>
          <a:xfrm>
            <a:off x="-286649" y="4786639"/>
            <a:ext cx="5811044" cy="12098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62" name="Google Shape;362;p44"/>
          <p:cNvSpPr txBox="1"/>
          <p:nvPr/>
        </p:nvSpPr>
        <p:spPr>
          <a:xfrm>
            <a:off x="5497512" y="2271712"/>
            <a:ext cx="45720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Standard Deviation</a:t>
            </a:r>
            <a:endParaRPr/>
          </a:p>
        </p:txBody>
      </p:sp>
      <p:sp>
        <p:nvSpPr>
          <p:cNvPr id="363" name="Google Shape;363;p44"/>
          <p:cNvSpPr txBox="1"/>
          <p:nvPr/>
        </p:nvSpPr>
        <p:spPr>
          <a:xfrm>
            <a:off x="5759355" y="2888236"/>
            <a:ext cx="7050088" cy="11273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41" l="-397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64" name="Google Shape;364;p44"/>
          <p:cNvSpPr txBox="1"/>
          <p:nvPr/>
        </p:nvSpPr>
        <p:spPr>
          <a:xfrm>
            <a:off x="5243534" y="4970047"/>
            <a:ext cx="7050088" cy="11273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40" l="-388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365" name="Google Shape;365;p44"/>
          <p:cNvSpPr txBox="1"/>
          <p:nvPr/>
        </p:nvSpPr>
        <p:spPr>
          <a:xfrm>
            <a:off x="168681" y="6173389"/>
            <a:ext cx="4572000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9987" l="-2132" r="0" t="-1306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Variation</a:t>
            </a:r>
            <a:endParaRPr/>
          </a:p>
        </p:txBody>
      </p:sp>
      <p:pic>
        <p:nvPicPr>
          <p:cNvPr id="371" name="Google Shape;37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8900" y="2978150"/>
            <a:ext cx="7256462" cy="364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Standard Deviation</a:t>
            </a:r>
            <a:endParaRPr/>
          </a:p>
        </p:txBody>
      </p:sp>
      <p:pic>
        <p:nvPicPr>
          <p:cNvPr id="377" name="Google Shape;37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75" y="2005012"/>
            <a:ext cx="7294562" cy="5281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sample variance and standard deviation  </a:t>
            </a:r>
            <a:b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graphicFrame>
        <p:nvGraphicFramePr>
          <p:cNvPr id="383" name="Google Shape;383;p47"/>
          <p:cNvGraphicFramePr/>
          <p:nvPr/>
        </p:nvGraphicFramePr>
        <p:xfrm>
          <a:off x="946150" y="29003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{4BF10CA9-4832-49BD-B562-33346438A27D}</a:tableStyleId>
              </a:tblPr>
              <a:tblGrid>
                <a:gridCol w="977900"/>
                <a:gridCol w="1476375"/>
              </a:tblGrid>
              <a:tr h="82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Marks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Frequency (f)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10 - 14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15 - 19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20 - 24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25 - 29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30 - 34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114300" marB="114300" marR="85725" marL="1428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4" name="Google Shape;384;p47"/>
          <p:cNvSpPr txBox="1"/>
          <p:nvPr/>
        </p:nvSpPr>
        <p:spPr>
          <a:xfrm>
            <a:off x="890587" y="1911350"/>
            <a:ext cx="842962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the sample variance and standard deviation for the marks obtained in test by 36 students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500" y="2054225"/>
            <a:ext cx="8602662" cy="451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sample variance and standard deviation  </a:t>
            </a:r>
            <a:b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Variance and Standard Deviation for grouped data</a:t>
            </a:r>
            <a:endParaRPr/>
          </a:p>
        </p:txBody>
      </p:sp>
      <p:sp>
        <p:nvSpPr>
          <p:cNvPr id="397" name="Google Shape;397;p49"/>
          <p:cNvSpPr txBox="1"/>
          <p:nvPr/>
        </p:nvSpPr>
        <p:spPr>
          <a:xfrm>
            <a:off x="333375" y="2103437"/>
            <a:ext cx="4572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Variance</a:t>
            </a:r>
            <a:endParaRPr/>
          </a:p>
        </p:txBody>
      </p:sp>
      <p:sp>
        <p:nvSpPr>
          <p:cNvPr id="398" name="Google Shape;398;p49"/>
          <p:cNvSpPr txBox="1"/>
          <p:nvPr/>
        </p:nvSpPr>
        <p:spPr>
          <a:xfrm>
            <a:off x="5497512" y="2271712"/>
            <a:ext cx="45720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Standard Deviation</a:t>
            </a:r>
            <a:endParaRPr/>
          </a:p>
        </p:txBody>
      </p:sp>
      <p:sp>
        <p:nvSpPr>
          <p:cNvPr id="399" name="Google Shape;399;p49"/>
          <p:cNvSpPr txBox="1"/>
          <p:nvPr/>
        </p:nvSpPr>
        <p:spPr>
          <a:xfrm>
            <a:off x="168681" y="6173389"/>
            <a:ext cx="4572000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9987" l="-2132" r="0" t="-1306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400" name="Google Shape;40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375" y="2563812"/>
            <a:ext cx="3465512" cy="1122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6575" y="2682875"/>
            <a:ext cx="2841625" cy="9747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9"/>
          <p:cNvSpPr txBox="1"/>
          <p:nvPr/>
        </p:nvSpPr>
        <p:spPr>
          <a:xfrm>
            <a:off x="685799" y="4337218"/>
            <a:ext cx="3666329" cy="7822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03" name="Google Shape;403;p49"/>
          <p:cNvSpPr txBox="1"/>
          <p:nvPr/>
        </p:nvSpPr>
        <p:spPr>
          <a:xfrm>
            <a:off x="5497513" y="4054580"/>
            <a:ext cx="2960686" cy="7515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11" l="-639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04" name="Google Shape;404;p49"/>
          <p:cNvSpPr txBox="1"/>
          <p:nvPr/>
        </p:nvSpPr>
        <p:spPr>
          <a:xfrm>
            <a:off x="685798" y="5379908"/>
            <a:ext cx="366632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9997" l="-1992" r="0" t="-266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05" name="Google Shape;405;p49"/>
          <p:cNvSpPr txBox="1"/>
          <p:nvPr/>
        </p:nvSpPr>
        <p:spPr>
          <a:xfrm>
            <a:off x="5617242" y="5195242"/>
            <a:ext cx="366632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9177" l="-1992" r="0" t="-2458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 of Variation</a:t>
            </a:r>
            <a:endParaRPr/>
          </a:p>
        </p:txBody>
      </p:sp>
      <p:sp>
        <p:nvSpPr>
          <p:cNvPr id="411" name="Google Shape;411;p5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Noto Sans Symbols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variance and the standard deviation are useful as measures of variation of the values of a single variable for a single population  (or sample).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Noto Sans Symbols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want to compare the variation of two variables we cannot use the variance or the standard deviation because: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Noto Sans Symbols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variables might have different units.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Noto Sans Symbols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variables might have different means.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 of Variation</a:t>
            </a:r>
            <a:endParaRPr/>
          </a:p>
        </p:txBody>
      </p:sp>
      <p:sp>
        <p:nvSpPr>
          <p:cNvPr id="417" name="Google Shape;417;p51"/>
          <p:cNvSpPr txBox="1"/>
          <p:nvPr>
            <p:ph idx="4294967295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110" l="0" r="-1174" t="-118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200"/>
              <a:buFont typeface="Noto Sans Symbols"/>
              <a:buChar char="•"/>
            </a:pPr>
            <a:r>
              <a:rPr b="0" i="0" lang="en-US" sz="32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Chebyshev’s Theorem</a:t>
            </a:r>
            <a:endParaRPr/>
          </a:p>
        </p:txBody>
      </p:sp>
      <p:sp>
        <p:nvSpPr>
          <p:cNvPr id="423" name="Google Shape;423;p52"/>
          <p:cNvSpPr txBox="1"/>
          <p:nvPr>
            <p:ph idx="1" type="body"/>
          </p:nvPr>
        </p:nvSpPr>
        <p:spPr>
          <a:xfrm>
            <a:off x="685800" y="1981200"/>
            <a:ext cx="828198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concept of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spread about the mean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expressed quite generally for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data distributions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(skewed, symmetric, or other shapes) by using the remarkable theorem of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Chebyshev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Chebyshev’s theorem is a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 concept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statistics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allows us to determine </a:t>
            </a: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probability of data values falling within a certain range defined by mean and standard deviation.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Chebyshev’s Theorem</a:t>
            </a:r>
            <a:endParaRPr/>
          </a:p>
        </p:txBody>
      </p:sp>
      <p:sp>
        <p:nvSpPr>
          <p:cNvPr id="429" name="Google Shape;429;p53"/>
          <p:cNvSpPr txBox="1"/>
          <p:nvPr>
            <p:ph idx="4294967295" type="body"/>
          </p:nvPr>
        </p:nvSpPr>
        <p:spPr>
          <a:xfrm>
            <a:off x="342899" y="1857589"/>
            <a:ext cx="8458200" cy="4114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214" t="-118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200"/>
              <a:buFont typeface="Noto Sans Symbols"/>
              <a:buChar char="•"/>
            </a:pPr>
            <a:r>
              <a:rPr b="0" i="0" lang="en-US" sz="32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430" name="Google Shape;43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5183187"/>
            <a:ext cx="5283200" cy="788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04840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6" name="Google Shape;4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3475" y="3924300"/>
            <a:ext cx="420052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1801812"/>
            <a:ext cx="8126412" cy="2073275"/>
          </a:xfrm>
          <a:prstGeom prst="rect">
            <a:avLst/>
          </a:prstGeom>
          <a:noFill/>
          <a:ln cap="flat" cmpd="sng" w="38100">
            <a:solidFill>
              <a:srgbClr val="00008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38" name="Google Shape;438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4843462"/>
            <a:ext cx="4200525" cy="788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Chebyshev’s Theorem</a:t>
            </a:r>
            <a:endParaRPr/>
          </a:p>
        </p:txBody>
      </p:sp>
      <p:sp>
        <p:nvSpPr>
          <p:cNvPr id="444" name="Google Shape;444;p55"/>
          <p:cNvSpPr txBox="1"/>
          <p:nvPr>
            <p:ph idx="4294967295" type="body"/>
          </p:nvPr>
        </p:nvSpPr>
        <p:spPr>
          <a:xfrm>
            <a:off x="527050" y="2411079"/>
            <a:ext cx="7772400" cy="472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200"/>
              <a:buFont typeface="Noto Sans Symbols"/>
              <a:buChar char="•"/>
            </a:pPr>
            <a:r>
              <a:rPr b="0" i="0" lang="en-US" sz="32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445" name="Google Shape;445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300" y="4805362"/>
            <a:ext cx="8089900" cy="2128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5425" y="-190500"/>
            <a:ext cx="367665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Chebyshev’s Theorem</a:t>
            </a:r>
            <a:endParaRPr/>
          </a:p>
        </p:txBody>
      </p:sp>
      <p:sp>
        <p:nvSpPr>
          <p:cNvPr id="452" name="Google Shape;452;p5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Chebyshev’s theorem refers to the </a:t>
            </a:r>
            <a:r>
              <a:rPr b="0" i="1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</a:t>
            </a: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of data that must fall within the specified number of standard deviations of the mean.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distribution is </a:t>
            </a: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bell-shaped, an even </a:t>
            </a:r>
            <a:r>
              <a:rPr b="0" i="1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greater </a:t>
            </a: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of data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</a:t>
            </a: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fall into the specified intervals.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30" id="457" name="Google Shape;45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37" y="211137"/>
            <a:ext cx="9159875" cy="64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1476375"/>
            <a:ext cx="9304337" cy="447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9"/>
          <p:cNvSpPr txBox="1"/>
          <p:nvPr/>
        </p:nvSpPr>
        <p:spPr>
          <a:xfrm>
            <a:off x="257175" y="2060575"/>
            <a:ext cx="8742362" cy="4892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Who Care is a student volunteer program in which college students donate work time to various community projects such as planting trees.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 Gill is the faculty sponsor for this student volunteer program. For several years, Dr. Gill has kept a careful record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total number of work hours volunteered by a student in the program each semester.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random sample of students in the program, the mean number of hours was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29.1 hours each semester, with a standard deviation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1.7 of hours each semester.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an interval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number of hours volunteered into which at least 75% of the students in this program would fit.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59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0"/>
          <p:cNvSpPr txBox="1"/>
          <p:nvPr/>
        </p:nvSpPr>
        <p:spPr>
          <a:xfrm>
            <a:off x="433136" y="2092002"/>
            <a:ext cx="8309811" cy="45243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99" r="0" t="-10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474" name="Google Shape;474;p6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/>
          </a:p>
        </p:txBody>
      </p:sp>
      <p:sp>
        <p:nvSpPr>
          <p:cNvPr id="480" name="Google Shape;480;p6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the population mean, variance and standard deviation for the data given below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8000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1" name="Google Shape;48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29000"/>
            <a:ext cx="321310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6" name="Google Shape;486;p62"/>
          <p:cNvGraphicFramePr/>
          <p:nvPr/>
        </p:nvGraphicFramePr>
        <p:xfrm>
          <a:off x="327025" y="305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{4BF10CA9-4832-49BD-B562-33346438A27D}</a:tableStyleId>
              </a:tblPr>
              <a:tblGrid>
                <a:gridCol w="1724025"/>
                <a:gridCol w="882650"/>
                <a:gridCol w="990600"/>
                <a:gridCol w="1198550"/>
                <a:gridCol w="1198550"/>
                <a:gridCol w="1200150"/>
                <a:gridCol w="1198550"/>
              </a:tblGrid>
              <a:tr h="5556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Wages ( C.I.)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40-60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60-80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80-100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100-120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120-140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140-160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32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No.of workers (freq)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50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80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30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20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50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20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7" name="Google Shape;487;p62"/>
          <p:cNvGraphicFramePr/>
          <p:nvPr/>
        </p:nvGraphicFramePr>
        <p:xfrm>
          <a:off x="941387" y="56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{4BF10CA9-4832-49BD-B562-33346438A27D}</a:tableStyleId>
              </a:tblPr>
              <a:tblGrid>
                <a:gridCol w="2374900"/>
                <a:gridCol w="600075"/>
                <a:gridCol w="504825"/>
                <a:gridCol w="695325"/>
                <a:gridCol w="628650"/>
                <a:gridCol w="750875"/>
                <a:gridCol w="1473200"/>
              </a:tblGrid>
              <a:tr h="4238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X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9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of  Families (freq)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Times New Roman"/>
                        <a:buNone/>
                      </a:pPr>
                      <a:r>
                        <a:rPr b="0" i="0" lang="en-US" sz="2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8" name="Google Shape;488;p62"/>
          <p:cNvSpPr txBox="1"/>
          <p:nvPr/>
        </p:nvSpPr>
        <p:spPr>
          <a:xfrm>
            <a:off x="190500" y="1804987"/>
            <a:ext cx="8763000" cy="4154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1 : 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Wages (in Rs) paid to  workers of an organization are given below.  Calculate the sample mean, variance, standard deviation and coefficient of variation.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2 : 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demand for marine fish (in kg)  (x) for 100 families is given below. Calculate the sample mean, variance, standard deviation and coefficient of variation.</a:t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6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/>
          </a:p>
        </p:txBody>
      </p:sp>
      <p:sp>
        <p:nvSpPr>
          <p:cNvPr id="495" name="Google Shape;495;p6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Noto Sans Symbol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1.8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Noto Sans Symbol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1.10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Noto Sans Symbols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time taken (in minutes) to complete a homework by 8 students in a day are given by 38, 40, 47, 44, 46, 43, 49, 53. Find the coefficient of variation.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Noto Sans Symbols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The total marks scored by two students Waseem and Faisal in 5 subjects are 460 and 480 with standard deviation 4.6 and 2.4 respectively. Who is more consistent in performance?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8404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48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/>
          </a:p>
        </p:txBody>
      </p:sp>
      <p:sp>
        <p:nvSpPr>
          <p:cNvPr id="501" name="Google Shape;501;p64"/>
          <p:cNvSpPr txBox="1"/>
          <p:nvPr/>
        </p:nvSpPr>
        <p:spPr>
          <a:xfrm>
            <a:off x="598487" y="2049462"/>
            <a:ext cx="7859712" cy="1939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mean and standard deviation of marks obtained by 40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of a class in three subjects Mathematics, Science and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Science are given below.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b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pic>
        <p:nvPicPr>
          <p:cNvPr id="502" name="Google Shape;50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141662"/>
            <a:ext cx="4860925" cy="16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64"/>
          <p:cNvSpPr txBox="1"/>
          <p:nvPr/>
        </p:nvSpPr>
        <p:spPr>
          <a:xfrm>
            <a:off x="685800" y="5073650"/>
            <a:ext cx="7772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three subjects shows highest  variation  and  which  shows lowest variation in marks?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psy 216">
  <a:themeElements>
    <a:clrScheme name="Red Orange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sy 216">
  <a:themeElements>
    <a:clrScheme name="Red Orange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