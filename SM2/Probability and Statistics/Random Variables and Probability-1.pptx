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97" r:id="rId11"/>
    <p:sldId id="264" r:id="rId12"/>
    <p:sldId id="266" r:id="rId13"/>
    <p:sldId id="267" r:id="rId14"/>
    <p:sldId id="298" r:id="rId15"/>
    <p:sldId id="274" r:id="rId16"/>
    <p:sldId id="271" r:id="rId17"/>
    <p:sldId id="272" r:id="rId18"/>
    <p:sldId id="273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4" autoAdjust="0"/>
    <p:restoredTop sz="94624" autoAdjust="0"/>
  </p:normalViewPr>
  <p:slideViewPr>
    <p:cSldViewPr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01B96-410F-42A2-BB8E-94C6E1F74BD2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B7DB2-F30A-4C10-A919-E1EBC7D8E01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AB7DB2-F30A-4C10-A919-E1EBC7D8E01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844F349-08D4-4F5C-A130-6BEC302C0C43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844F349-08D4-4F5C-A130-6BEC302C0C43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844F349-08D4-4F5C-A130-6BEC302C0C43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844F349-08D4-4F5C-A130-6BEC302C0C43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44F349-08D4-4F5C-A130-6BEC302C0C43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844F349-08D4-4F5C-A130-6BEC302C0C43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844F349-08D4-4F5C-A130-6BEC302C0C43}" type="datetimeFigureOut">
              <a:rPr lang="en-US" smtClean="0"/>
              <a:pPr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29A2EF84-C3F1-4F64-AA21-7E140FDF194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Random Variables and Probability</a:t>
            </a:r>
            <a:br>
              <a:rPr lang="en-US" b="1" dirty="0"/>
            </a:br>
            <a:r>
              <a:rPr lang="en-US" b="1" dirty="0"/>
              <a:t>Distributions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Random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</a:t>
            </a:r>
            <a:r>
              <a:rPr lang="en-US" b="1" i="1" dirty="0"/>
              <a:t>A random variable is a function that associates a real number with each element in the sample space.</a:t>
            </a:r>
          </a:p>
          <a:p>
            <a:pPr>
              <a:buNone/>
            </a:pPr>
            <a:r>
              <a:rPr lang="en-US" dirty="0"/>
              <a:t>	We shall use a capital letter, say </a:t>
            </a:r>
            <a:r>
              <a:rPr lang="en-US" i="1" dirty="0"/>
              <a:t>X, to denote a random variable and its corresponding </a:t>
            </a:r>
            <a:r>
              <a:rPr lang="en-US" dirty="0"/>
              <a:t>small letter, </a:t>
            </a:r>
            <a:r>
              <a:rPr lang="en-US" i="1" dirty="0"/>
              <a:t>x for one of its values.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Two balls</a:t>
            </a:r>
            <a:r>
              <a:rPr lang="en-US" dirty="0"/>
              <a:t> are drawn in succession without replacement from a box containing 4 red balls and 3 black balls. The possible outcomes and the </a:t>
            </a:r>
            <a:r>
              <a:rPr lang="en-US" dirty="0">
                <a:solidFill>
                  <a:srgbClr val="FF0000"/>
                </a:solidFill>
              </a:rPr>
              <a:t>values </a:t>
            </a:r>
            <a:r>
              <a:rPr lang="en-US" i="1" dirty="0">
                <a:solidFill>
                  <a:srgbClr val="FF0000"/>
                </a:solidFill>
              </a:rPr>
              <a:t>y of the random </a:t>
            </a:r>
            <a:r>
              <a:rPr lang="en-US" dirty="0">
                <a:solidFill>
                  <a:srgbClr val="FF0000"/>
                </a:solidFill>
              </a:rPr>
              <a:t>variable </a:t>
            </a:r>
            <a:r>
              <a:rPr lang="en-US" i="1" dirty="0">
                <a:solidFill>
                  <a:srgbClr val="FF0000"/>
                </a:solidFill>
              </a:rPr>
              <a:t>Y </a:t>
            </a:r>
            <a:r>
              <a:rPr lang="en-US" i="1" dirty="0"/>
              <a:t>, where Y is the number of red balls, are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56808" t="41667" r="26208" b="39583"/>
          <a:stretch>
            <a:fillRect/>
          </a:stretch>
        </p:blipFill>
        <p:spPr bwMode="auto">
          <a:xfrm>
            <a:off x="3276600" y="4309241"/>
            <a:ext cx="3124200" cy="1939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057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5800" y="3581400"/>
            <a:ext cx="8153400" cy="1600200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 w="5715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 vert="horz">
            <a:norm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2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a sample space contains an infinite number of possibilities equal to the number of points on a line segment, it is called a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continuous sample space.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1752600"/>
            <a:ext cx="8153400" cy="1200329"/>
          </a:xfrm>
          <a:prstGeom prst="rect">
            <a:avLst/>
          </a:prstGeom>
          <a:blipFill>
            <a:blip r:embed="rId3" cstate="print"/>
            <a:tile tx="0" ty="0" sx="100000" sy="100000" flip="none" algn="tl"/>
          </a:blipFill>
          <a:ln w="57150">
            <a:solidFill>
              <a:srgbClr val="002060"/>
            </a:solidFill>
          </a:ln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 wrap="square">
            <a:spAutoFit/>
          </a:bodyPr>
          <a:lstStyle/>
          <a:p>
            <a:r>
              <a:rPr lang="en-US" sz="2400" dirty="0"/>
              <a:t>If a sample space contains a finite number of possibilities or an unending sequence with as many elements as there are whole numbers, it is called a </a:t>
            </a:r>
            <a:r>
              <a:rPr lang="en-US" sz="2400" b="1" dirty="0">
                <a:solidFill>
                  <a:srgbClr val="FF0000"/>
                </a:solidFill>
              </a:rPr>
              <a:t>discrete sample space.</a:t>
            </a:r>
          </a:p>
        </p:txBody>
      </p:sp>
      <p:sp>
        <p:nvSpPr>
          <p:cNvPr id="3074" name="AutoShape 2" descr="Image result for discrete vs continuo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76" name="AutoShape 4" descr="Image result for discrete vs continuou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6" descr="http://i.ytimg.com/vi/WX0hnuniLpI/maxresdefaul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514600"/>
            <a:ext cx="7696200" cy="32765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DISCRETE Probability Distribution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Discrete Probability Distributions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	A discrete random variable assumes each of its values with a certain probability.</a:t>
            </a:r>
          </a:p>
          <a:p>
            <a:r>
              <a:rPr lang="en-US" dirty="0"/>
              <a:t>Frequently, it is convenient to represent all the probabilities of a random variable </a:t>
            </a:r>
            <a:r>
              <a:rPr lang="en-US" i="1" dirty="0"/>
              <a:t>X by a formula.</a:t>
            </a:r>
          </a:p>
          <a:p>
            <a:r>
              <a:rPr lang="en-US" dirty="0"/>
              <a:t>Therefore, we write </a:t>
            </a:r>
            <a:r>
              <a:rPr lang="en-US" i="1" dirty="0"/>
              <a:t>f(x) = P(X = x); that is, f(3) = P(X = 3). </a:t>
            </a:r>
          </a:p>
          <a:p>
            <a:r>
              <a:rPr lang="en-US" i="1" dirty="0"/>
              <a:t>The set of ordered pairs (x, f(x)) is </a:t>
            </a:r>
            <a:r>
              <a:rPr lang="en-US" dirty="0"/>
              <a:t>called the </a:t>
            </a:r>
            <a:r>
              <a:rPr lang="en-US" b="1" dirty="0">
                <a:solidFill>
                  <a:srgbClr val="FF0000"/>
                </a:solidFill>
              </a:rPr>
              <a:t>probability function, probability mass function, or probability distribution of the discrete random variable </a:t>
            </a:r>
            <a:r>
              <a:rPr lang="en-US" b="1" i="1" dirty="0">
                <a:solidFill>
                  <a:srgbClr val="FF0000"/>
                </a:solidFill>
              </a:rPr>
              <a:t>X.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The set of ordered pairs (</a:t>
            </a:r>
            <a:r>
              <a:rPr lang="en-US" i="1" dirty="0"/>
              <a:t>x, f(x)) is a </a:t>
            </a:r>
            <a:r>
              <a:rPr lang="en-US" b="1" i="1" dirty="0"/>
              <a:t>probability function, probability mass </a:t>
            </a:r>
            <a:r>
              <a:rPr lang="en-US" b="1" dirty="0"/>
              <a:t>function, or probability distribution of the discrete random variable </a:t>
            </a:r>
            <a:r>
              <a:rPr lang="en-US" b="1" i="1" dirty="0"/>
              <a:t>X if, for </a:t>
            </a:r>
            <a:r>
              <a:rPr lang="en-US" dirty="0"/>
              <a:t>each possible outcome </a:t>
            </a:r>
            <a:r>
              <a:rPr lang="en-US" i="1" dirty="0"/>
              <a:t>x,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l="40630" t="45833" r="43558" b="37500"/>
          <a:stretch>
            <a:fillRect/>
          </a:stretch>
        </p:blipFill>
        <p:spPr bwMode="auto">
          <a:xfrm>
            <a:off x="990600" y="4114800"/>
            <a:ext cx="3733800" cy="221262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Example:</a:t>
            </a:r>
            <a:r>
              <a:rPr lang="en-US" sz="2000" dirty="0"/>
              <a:t> A shipment of 20 similar laptop computers to a retail outlet contains 3 that are defective. If a school makes a random purchase of 2 of these computers, find the probability distribution for the number of defectives.</a:t>
            </a:r>
          </a:p>
          <a:p>
            <a:pPr>
              <a:buNone/>
            </a:pPr>
            <a:r>
              <a:rPr lang="en-US" sz="2000" b="1" i="1" dirty="0"/>
              <a:t>	</a:t>
            </a:r>
            <a:r>
              <a:rPr lang="en-US" sz="2000" b="1" i="1" dirty="0">
                <a:solidFill>
                  <a:srgbClr val="FF0000"/>
                </a:solidFill>
              </a:rPr>
              <a:t>Solution :</a:t>
            </a:r>
          </a:p>
          <a:p>
            <a:pPr>
              <a:buNone/>
            </a:pPr>
            <a:r>
              <a:rPr lang="en-US" sz="2000" dirty="0"/>
              <a:t>	Let </a:t>
            </a:r>
            <a:r>
              <a:rPr lang="en-US" sz="2000" i="1" dirty="0"/>
              <a:t>X be a random variable whose values x are the possible numbers of defective </a:t>
            </a:r>
            <a:r>
              <a:rPr lang="en-US" sz="2000" dirty="0"/>
              <a:t>computers purchased by the school.</a:t>
            </a:r>
          </a:p>
          <a:p>
            <a:pPr>
              <a:buNone/>
            </a:pPr>
            <a:r>
              <a:rPr lang="en-US" sz="2000" dirty="0"/>
              <a:t>	Then </a:t>
            </a:r>
            <a:r>
              <a:rPr lang="en-US" sz="2000" i="1" dirty="0"/>
              <a:t>x can only take the numbers 0, 1, and 2.</a:t>
            </a:r>
          </a:p>
          <a:p>
            <a:pPr>
              <a:buNone/>
            </a:pPr>
            <a:r>
              <a:rPr lang="en-US" i="1" dirty="0"/>
              <a:t>	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3475" y="4343400"/>
            <a:ext cx="305752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5029200"/>
            <a:ext cx="3124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4419600"/>
            <a:ext cx="3200400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52600" y="5638800"/>
            <a:ext cx="5267325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04800" y="1600200"/>
          <a:ext cx="2971800" cy="160020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101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04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136/190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51/190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3/190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Graphical Representation of Probability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0" y="1600200"/>
            <a:ext cx="8153400" cy="4495800"/>
          </a:xfrm>
        </p:spPr>
        <p:txBody>
          <a:bodyPr>
            <a:normAutofit fontScale="85000" lnSpcReduction="20000"/>
          </a:bodyPr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Probability Mass Function Plot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r>
              <a:rPr lang="en-US" sz="2000" dirty="0"/>
              <a:t>Probability Histogram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57725" y="1295400"/>
            <a:ext cx="4486275" cy="2824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4110383"/>
            <a:ext cx="4267200" cy="2747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381000" y="1600200"/>
          <a:ext cx="1600199" cy="21945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593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1/16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4/16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6/16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4/16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1/16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Cumulative Distribution Function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2952750"/>
            <a:ext cx="8814089" cy="154305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4495800"/>
          </a:xfrm>
        </p:spPr>
        <p:txBody>
          <a:bodyPr/>
          <a:lstStyle/>
          <a:p>
            <a:r>
              <a:rPr lang="en-US" sz="2800" dirty="0"/>
              <a:t>F(0) = f(0)= 136/190</a:t>
            </a:r>
          </a:p>
          <a:p>
            <a:r>
              <a:rPr lang="en-US" sz="2800" dirty="0"/>
              <a:t>F(1) = f(0)+f(1)= 136/190 +51/190 =187/190</a:t>
            </a:r>
          </a:p>
          <a:p>
            <a:r>
              <a:rPr lang="en-US" sz="2800" dirty="0"/>
              <a:t>F(2) = f(0)+f(1)+f(2)= 136/190 +51/190+ 3/190 =1</a:t>
            </a:r>
          </a:p>
          <a:p>
            <a:pPr lvl="2">
              <a:buNone/>
            </a:pPr>
            <a:r>
              <a:rPr lang="en-US" sz="2200" dirty="0"/>
              <a:t>	  </a:t>
            </a:r>
          </a:p>
          <a:p>
            <a:pPr lvl="2">
              <a:buNone/>
            </a:pPr>
            <a:r>
              <a:rPr lang="en-US" sz="2200" dirty="0"/>
              <a:t>	          0 	  x &lt; 0 </a:t>
            </a:r>
          </a:p>
          <a:p>
            <a:pPr lvl="2">
              <a:buNone/>
            </a:pPr>
            <a:r>
              <a:rPr lang="en-US" sz="2200" dirty="0"/>
              <a:t>F(x) =</a:t>
            </a:r>
            <a:r>
              <a:rPr lang="en-US" sz="1900" dirty="0"/>
              <a:t>    136/190	  0 </a:t>
            </a:r>
            <a:r>
              <a:rPr lang="en-US" sz="1900" dirty="0">
                <a:latin typeface="Calibri"/>
                <a:cs typeface="Calibri"/>
              </a:rPr>
              <a:t>≤ x &lt; 1</a:t>
            </a:r>
          </a:p>
          <a:p>
            <a:pPr lvl="3">
              <a:buNone/>
            </a:pPr>
            <a:r>
              <a:rPr lang="en-US" sz="1900" dirty="0">
                <a:latin typeface="Calibri"/>
                <a:cs typeface="Calibri"/>
              </a:rPr>
              <a:t>  	      87/190	  1 ≤ x &lt; 2</a:t>
            </a:r>
          </a:p>
          <a:p>
            <a:pPr lvl="3">
              <a:buNone/>
            </a:pPr>
            <a:r>
              <a:rPr lang="en-US" sz="1900" dirty="0">
                <a:latin typeface="Calibri"/>
                <a:cs typeface="Calibri"/>
              </a:rPr>
              <a:t>          1    	  x ≥ 2</a:t>
            </a:r>
            <a:endParaRPr lang="en-US" sz="1900" dirty="0"/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Left Brace 4"/>
          <p:cNvSpPr/>
          <p:nvPr/>
        </p:nvSpPr>
        <p:spPr>
          <a:xfrm>
            <a:off x="-1066800" y="0"/>
            <a:ext cx="155448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/>
          <p:cNvSpPr/>
          <p:nvPr/>
        </p:nvSpPr>
        <p:spPr>
          <a:xfrm>
            <a:off x="2133600" y="3200400"/>
            <a:ext cx="228600" cy="1905000"/>
          </a:xfrm>
          <a:prstGeom prst="leftBrace">
            <a:avLst/>
          </a:prstGeom>
          <a:noFill/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6858000" y="4419601"/>
          <a:ext cx="1828800" cy="1981199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677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1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P(x)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136/190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51/190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3/190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From a box containing 4 black, 3 red and 2 green balls, 3 balls are drawn. Find the probability distribution for the number of green balls. </a:t>
            </a:r>
          </a:p>
          <a:p>
            <a:r>
              <a:rPr lang="en-US" sz="2400" dirty="0"/>
              <a:t>Also find the cumulative distribution and plot probability mass function.</a:t>
            </a:r>
          </a:p>
          <a:p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447800" y="3886200"/>
            <a:ext cx="2095500" cy="885825"/>
          </a:xfrm>
          <a:prstGeom prst="rect">
            <a:avLst/>
          </a:prstGeom>
          <a:noFill/>
        </p:spPr>
      </p:pic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13430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19600" y="4114800"/>
            <a:ext cx="2057400" cy="381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for x 0,1,2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95400" y="5029200"/>
          <a:ext cx="2057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P(x)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21/84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14/84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Continuous Probability Distribution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Continuous Probability Distributions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continuous random variable has a </a:t>
            </a:r>
            <a:r>
              <a:rPr lang="en-US" dirty="0">
                <a:solidFill>
                  <a:srgbClr val="FF0000"/>
                </a:solidFill>
              </a:rPr>
              <a:t>probability of 0 of assuming </a:t>
            </a:r>
            <a:r>
              <a:rPr lang="en-US" i="1" dirty="0">
                <a:solidFill>
                  <a:srgbClr val="FF0000"/>
                </a:solidFill>
              </a:rPr>
              <a:t>exactly</a:t>
            </a:r>
            <a:r>
              <a:rPr lang="en-US" i="1" dirty="0"/>
              <a:t> any of its </a:t>
            </a:r>
            <a:r>
              <a:rPr lang="en-US" dirty="0"/>
              <a:t>values.</a:t>
            </a:r>
          </a:p>
          <a:p>
            <a:r>
              <a:rPr lang="en-US" dirty="0"/>
              <a:t>Consequently, its probability distribution </a:t>
            </a:r>
            <a:r>
              <a:rPr lang="en-US" dirty="0">
                <a:solidFill>
                  <a:srgbClr val="FF0000"/>
                </a:solidFill>
              </a:rPr>
              <a:t>cannot be given in tabular form.</a:t>
            </a:r>
          </a:p>
          <a:p>
            <a:r>
              <a:rPr lang="en-US" dirty="0"/>
              <a:t>We shall concern ourselves with computing probabilities for various </a:t>
            </a:r>
            <a:r>
              <a:rPr lang="en-US" dirty="0">
                <a:solidFill>
                  <a:srgbClr val="FF0000"/>
                </a:solidFill>
              </a:rPr>
              <a:t>intervals of continuous random variables</a:t>
            </a:r>
            <a:r>
              <a:rPr lang="en-US" dirty="0"/>
              <a:t> such as </a:t>
            </a:r>
            <a:r>
              <a:rPr lang="en-US" i="1" dirty="0">
                <a:solidFill>
                  <a:srgbClr val="FF0000"/>
                </a:solidFill>
              </a:rPr>
              <a:t>P(a &lt; X &lt; b), P(W ≥ c), </a:t>
            </a:r>
            <a:r>
              <a:rPr lang="en-US" i="1" dirty="0"/>
              <a:t>and so forth.</a:t>
            </a:r>
          </a:p>
          <a:p>
            <a:r>
              <a:rPr lang="en-US" dirty="0"/>
              <a:t>In dealing with continuous variables, </a:t>
            </a:r>
            <a:r>
              <a:rPr lang="en-US" i="1" dirty="0"/>
              <a:t>f(x) is usually called the </a:t>
            </a:r>
            <a:r>
              <a:rPr lang="en-US" b="1" i="1" dirty="0">
                <a:solidFill>
                  <a:srgbClr val="FF0000"/>
                </a:solidFill>
              </a:rPr>
              <a:t>probability density function</a:t>
            </a:r>
            <a:r>
              <a:rPr lang="en-US" b="1" i="1" dirty="0"/>
              <a:t>, or </a:t>
            </a:r>
            <a:r>
              <a:rPr lang="en-US" dirty="0"/>
              <a:t>simply the </a:t>
            </a:r>
            <a:r>
              <a:rPr lang="en-US" b="1" dirty="0">
                <a:solidFill>
                  <a:srgbClr val="FF0000"/>
                </a:solidFill>
              </a:rPr>
              <a:t>density function, of </a:t>
            </a:r>
            <a:r>
              <a:rPr lang="en-US" b="1" i="1" dirty="0">
                <a:solidFill>
                  <a:srgbClr val="FF0000"/>
                </a:solidFill>
              </a:rPr>
              <a:t>X</a:t>
            </a:r>
            <a:r>
              <a:rPr lang="en-US" b="1" i="1" dirty="0"/>
              <a:t>.</a:t>
            </a:r>
          </a:p>
          <a:p>
            <a:r>
              <a:rPr lang="en-US" dirty="0"/>
              <a:t>Note that when </a:t>
            </a:r>
            <a:r>
              <a:rPr lang="en-US" i="1" dirty="0"/>
              <a:t>X is continuous,</a:t>
            </a:r>
          </a:p>
          <a:p>
            <a:pPr>
              <a:buNone/>
            </a:pPr>
            <a:r>
              <a:rPr lang="en-US" i="1" dirty="0"/>
              <a:t>	</a:t>
            </a:r>
            <a:r>
              <a:rPr lang="en-US" i="1" dirty="0">
                <a:solidFill>
                  <a:srgbClr val="FF0000"/>
                </a:solidFill>
              </a:rPr>
              <a:t>P(a &lt; X ≤ b) = P(a &lt; X &lt; b) + P(X = b) = P(a &lt; X &lt; b).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524000"/>
            <a:ext cx="4876800" cy="278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4343400"/>
            <a:ext cx="8350452" cy="23622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8610600" cy="4495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Example:</a:t>
            </a:r>
            <a:r>
              <a:rPr lang="en-US" sz="2000" dirty="0"/>
              <a:t> Suppose that the error in the reaction temperature, in ◦C, for a controlled laboratory experiment is a continuous random variable X having the probability density function.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	(a) Verify that </a:t>
            </a:r>
            <a:r>
              <a:rPr lang="en-US" sz="2000" i="1" dirty="0"/>
              <a:t>f(x) is a density function.</a:t>
            </a:r>
          </a:p>
          <a:p>
            <a:pPr>
              <a:buNone/>
            </a:pPr>
            <a:r>
              <a:rPr lang="en-US" sz="2000" dirty="0"/>
              <a:t>	(b) Find </a:t>
            </a:r>
            <a:r>
              <a:rPr lang="en-US" sz="2000" i="1" dirty="0"/>
              <a:t>P(0 &lt; X ≤ 1).</a:t>
            </a:r>
            <a:endParaRPr lang="en-US" sz="2000" dirty="0"/>
          </a:p>
          <a:p>
            <a:pPr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FF0000"/>
                </a:solidFill>
              </a:rPr>
              <a:t>Solution:</a:t>
            </a:r>
          </a:p>
          <a:p>
            <a:pPr>
              <a:buNone/>
            </a:pPr>
            <a:r>
              <a:rPr lang="en-US" sz="2000" dirty="0">
                <a:solidFill>
                  <a:srgbClr val="FF0000"/>
                </a:solidFill>
              </a:rPr>
              <a:t>	</a:t>
            </a:r>
            <a:r>
              <a:rPr lang="en-US" sz="2000" dirty="0"/>
              <a:t>(a) Obviously, </a:t>
            </a:r>
            <a:r>
              <a:rPr lang="en-US" sz="2000" i="1" dirty="0"/>
              <a:t>f(x) ≥ 0. To verify condition 2 in Definition, we have</a:t>
            </a:r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r>
              <a:rPr lang="en-US" sz="2000" dirty="0"/>
              <a:t>   (b) Using formula 3 in Definition 3.6, we obtain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2590800"/>
            <a:ext cx="2969172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4800600"/>
            <a:ext cx="4495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4600" y="6096000"/>
            <a:ext cx="4318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3.1</a:t>
            </a:r>
          </a:p>
          <a:p>
            <a:pPr>
              <a:buNone/>
            </a:pPr>
            <a:r>
              <a:rPr lang="en-US" b="1" dirty="0"/>
              <a:t>3.2</a:t>
            </a:r>
          </a:p>
          <a:p>
            <a:pPr>
              <a:buNone/>
            </a:pPr>
            <a:r>
              <a:rPr lang="en-US" b="1" dirty="0"/>
              <a:t>3.10</a:t>
            </a:r>
          </a:p>
          <a:p>
            <a:pPr>
              <a:buNone/>
            </a:pPr>
            <a:r>
              <a:rPr lang="en-US" b="1" dirty="0"/>
              <a:t>3.11</a:t>
            </a:r>
          </a:p>
          <a:p>
            <a:pPr>
              <a:buNone/>
            </a:pPr>
            <a:r>
              <a:rPr lang="en-US" b="1" dirty="0"/>
              <a:t>3.13</a:t>
            </a:r>
          </a:p>
          <a:p>
            <a:pPr>
              <a:buNone/>
            </a:pPr>
            <a:r>
              <a:rPr lang="en-US" b="1" dirty="0"/>
              <a:t>3.22</a:t>
            </a:r>
          </a:p>
          <a:p>
            <a:pPr>
              <a:buNone/>
            </a:pPr>
            <a:r>
              <a:rPr lang="en-US" b="1" dirty="0"/>
              <a:t>3.24</a:t>
            </a:r>
          </a:p>
          <a:p>
            <a:pPr>
              <a:buNone/>
            </a:pPr>
            <a:r>
              <a:rPr lang="en-US" b="1"/>
              <a:t>3.26</a:t>
            </a:r>
            <a:endParaRPr lang="en-US" b="1" dirty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10616</TotalTime>
  <Words>834</Words>
  <Application>Microsoft Office PowerPoint</Application>
  <PresentationFormat>On-screen Show (4:3)</PresentationFormat>
  <Paragraphs>113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Tw Cen MT</vt:lpstr>
      <vt:lpstr>Wingdings</vt:lpstr>
      <vt:lpstr>Wingdings 2</vt:lpstr>
      <vt:lpstr>Median</vt:lpstr>
      <vt:lpstr>Random Variables and Probability Distributions</vt:lpstr>
      <vt:lpstr>Random Variable</vt:lpstr>
      <vt:lpstr>PowerPoint Presentation</vt:lpstr>
      <vt:lpstr>PowerPoint Presentation</vt:lpstr>
      <vt:lpstr>PowerPoint Presentation</vt:lpstr>
      <vt:lpstr>DISCRETE Probability Distribution</vt:lpstr>
      <vt:lpstr>Discrete Probability Distributions</vt:lpstr>
      <vt:lpstr>PowerPoint Presentation</vt:lpstr>
      <vt:lpstr>PowerPoint Presentation</vt:lpstr>
      <vt:lpstr>PowerPoint Presentation</vt:lpstr>
      <vt:lpstr>Graphical Representation of Probability Distribution</vt:lpstr>
      <vt:lpstr>Cumulative Distribution Function</vt:lpstr>
      <vt:lpstr>PowerPoint Presentation</vt:lpstr>
      <vt:lpstr>PowerPoint Presentation</vt:lpstr>
      <vt:lpstr>Continuous Probability Distribution</vt:lpstr>
      <vt:lpstr>Continuous Probability Distributions</vt:lpstr>
      <vt:lpstr>PowerPoint Presentation</vt:lpstr>
      <vt:lpstr>PowerPoint Presentation</vt:lpstr>
      <vt:lpstr>Assignment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Variables and Probability Distributions</dc:title>
  <dc:creator>shahjee</dc:creator>
  <cp:lastModifiedBy>amna humayun</cp:lastModifiedBy>
  <cp:revision>128</cp:revision>
  <dcterms:created xsi:type="dcterms:W3CDTF">2015-10-20T12:27:08Z</dcterms:created>
  <dcterms:modified xsi:type="dcterms:W3CDTF">2024-04-01T19:38:31Z</dcterms:modified>
</cp:coreProperties>
</file>