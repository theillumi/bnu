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74" r:id="rId5"/>
    <p:sldId id="275" r:id="rId6"/>
    <p:sldId id="264" r:id="rId7"/>
    <p:sldId id="260" r:id="rId8"/>
    <p:sldId id="261" r:id="rId9"/>
    <p:sldId id="265" r:id="rId10"/>
    <p:sldId id="262" r:id="rId11"/>
    <p:sldId id="268" r:id="rId12"/>
    <p:sldId id="269" r:id="rId13"/>
    <p:sldId id="270" r:id="rId14"/>
    <p:sldId id="271" r:id="rId15"/>
    <p:sldId id="278" r:id="rId16"/>
    <p:sldId id="279" r:id="rId17"/>
    <p:sldId id="280" r:id="rId18"/>
    <p:sldId id="281" r:id="rId19"/>
    <p:sldId id="282" r:id="rId20"/>
    <p:sldId id="283" r:id="rId21"/>
    <p:sldId id="286" r:id="rId22"/>
    <p:sldId id="284" r:id="rId23"/>
    <p:sldId id="285"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72EAD80C-3942-48E6-A95D-2B66BDA9DDB4}" type="datetimeFigureOut">
              <a:rPr lang="en-US" smtClean="0"/>
              <a:pPr/>
              <a:t>4/8/2021</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E4F5CE5E-C995-43FC-8426-231CEA33EB8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2EAD80C-3942-48E6-A95D-2B66BDA9DDB4}" type="datetimeFigureOut">
              <a:rPr lang="en-US" smtClean="0"/>
              <a:pPr/>
              <a:t>4/8/2021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F5CE5E-C995-43FC-8426-231CEA33EB8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2EAD80C-3942-48E6-A95D-2B66BDA9DDB4}" type="datetimeFigureOut">
              <a:rPr lang="en-US" smtClean="0"/>
              <a:pPr/>
              <a:t>4/8/2021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F5CE5E-C995-43FC-8426-231CEA33EB8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2EAD80C-3942-48E6-A95D-2B66BDA9DDB4}" type="datetimeFigureOut">
              <a:rPr lang="en-US" smtClean="0"/>
              <a:pPr/>
              <a:t>4/8/2021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F5CE5E-C995-43FC-8426-231CEA33EB8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2EAD80C-3942-48E6-A95D-2B66BDA9DDB4}" type="datetimeFigureOut">
              <a:rPr lang="en-US" smtClean="0"/>
              <a:pPr/>
              <a:t>4/8/2021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F5CE5E-C995-43FC-8426-231CEA33EB8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2EAD80C-3942-48E6-A95D-2B66BDA9DDB4}" type="datetimeFigureOut">
              <a:rPr lang="en-US" smtClean="0"/>
              <a:pPr/>
              <a:t>4/8/2021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F5CE5E-C995-43FC-8426-231CEA33EB8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EAD80C-3942-48E6-A95D-2B66BDA9DDB4}" type="datetimeFigureOut">
              <a:rPr lang="en-US" smtClean="0"/>
              <a:pPr/>
              <a:t>4/8/2021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F5CE5E-C995-43FC-8426-231CEA33EB8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2EAD80C-3942-48E6-A95D-2B66BDA9DDB4}" type="datetimeFigureOut">
              <a:rPr lang="en-US" smtClean="0"/>
              <a:pPr/>
              <a:t>4/8/2021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F5CE5E-C995-43FC-8426-231CEA33EB8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2EAD80C-3942-48E6-A95D-2B66BDA9DDB4}" type="datetimeFigureOut">
              <a:rPr lang="en-US" smtClean="0"/>
              <a:pPr/>
              <a:t>4/8/2021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E4F5CE5E-C995-43FC-8426-231CEA33EB8F}"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2EAD80C-3942-48E6-A95D-2B66BDA9DDB4}" type="datetimeFigureOut">
              <a:rPr lang="en-US" smtClean="0"/>
              <a:pPr/>
              <a:t>4/8/2021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F5CE5E-C995-43FC-8426-231CEA33EB8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2EAD80C-3942-48E6-A95D-2B66BDA9DDB4}" type="datetimeFigureOut">
              <a:rPr lang="en-US" smtClean="0"/>
              <a:pPr/>
              <a:t>4/8/2021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F5CE5E-C995-43FC-8426-231CEA33EB8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2EAD80C-3942-48E6-A95D-2B66BDA9DDB4}" type="datetimeFigureOut">
              <a:rPr lang="en-US" smtClean="0"/>
              <a:pPr/>
              <a:t>4/8/2021</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E4F5CE5E-C995-43FC-8426-231CEA33EB8F}"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www.ncl.ac.uk/students/wdc/learning/language/hedging.ht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Formal Writing</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Written </a:t>
            </a:r>
            <a:r>
              <a:rPr lang="en-US" dirty="0" smtClean="0"/>
              <a:t>Formal </a:t>
            </a:r>
            <a:r>
              <a:rPr lang="en-US" dirty="0"/>
              <a:t>English is </a:t>
            </a:r>
            <a:r>
              <a:rPr lang="en-US" dirty="0" smtClean="0"/>
              <a:t>objective</a:t>
            </a:r>
            <a:endParaRPr lang="en-US" dirty="0"/>
          </a:p>
        </p:txBody>
      </p:sp>
      <p:sp>
        <p:nvSpPr>
          <p:cNvPr id="3" name="Content Placeholder 2"/>
          <p:cNvSpPr>
            <a:spLocks noGrp="1"/>
          </p:cNvSpPr>
          <p:nvPr>
            <p:ph idx="1"/>
          </p:nvPr>
        </p:nvSpPr>
        <p:spPr/>
        <p:txBody>
          <a:bodyPr/>
          <a:lstStyle/>
          <a:p>
            <a:r>
              <a:rPr lang="en-US" dirty="0" smtClean="0"/>
              <a:t>The </a:t>
            </a:r>
            <a:r>
              <a:rPr lang="en-US" dirty="0"/>
              <a:t>language of </a:t>
            </a:r>
            <a:r>
              <a:rPr lang="en-US" dirty="0" smtClean="0"/>
              <a:t>Formal </a:t>
            </a:r>
            <a:r>
              <a:rPr lang="en-US" dirty="0"/>
              <a:t>writing is objective. </a:t>
            </a:r>
            <a:endParaRPr lang="en-US" dirty="0" smtClean="0"/>
          </a:p>
          <a:p>
            <a:r>
              <a:rPr lang="en-US" dirty="0" smtClean="0"/>
              <a:t>It </a:t>
            </a:r>
            <a:r>
              <a:rPr lang="en-US" dirty="0"/>
              <a:t>is used as a vehicle for logical argumentation, not self-expression or emotional response. </a:t>
            </a:r>
            <a:endParaRPr lang="en-US" dirty="0" smtClean="0"/>
          </a:p>
          <a:p>
            <a:r>
              <a:rPr lang="en-US" dirty="0" smtClean="0"/>
              <a:t>Objective </a:t>
            </a:r>
            <a:r>
              <a:rPr lang="en-US" dirty="0"/>
              <a:t>language is measured, fair and accurate. </a:t>
            </a:r>
            <a:endParaRPr lang="en-US" dirty="0" smtClean="0"/>
          </a:p>
          <a:p>
            <a:r>
              <a:rPr lang="en-US" dirty="0" smtClean="0"/>
              <a:t>It </a:t>
            </a:r>
            <a:r>
              <a:rPr lang="en-US" dirty="0"/>
              <a:t>avoids exaggeration and bias, and shows respect for the views of others.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Written </a:t>
            </a:r>
            <a:r>
              <a:rPr lang="en-US" dirty="0" smtClean="0"/>
              <a:t>Formal </a:t>
            </a:r>
            <a:r>
              <a:rPr lang="en-US" dirty="0"/>
              <a:t>English is </a:t>
            </a:r>
            <a:r>
              <a:rPr lang="en-US" dirty="0" smtClean="0"/>
              <a:t>Cautious</a:t>
            </a:r>
            <a:endParaRPr lang="en-US" dirty="0"/>
          </a:p>
        </p:txBody>
      </p:sp>
      <p:sp>
        <p:nvSpPr>
          <p:cNvPr id="3" name="Content Placeholder 2"/>
          <p:cNvSpPr>
            <a:spLocks noGrp="1"/>
          </p:cNvSpPr>
          <p:nvPr>
            <p:ph idx="1"/>
          </p:nvPr>
        </p:nvSpPr>
        <p:spPr/>
        <p:txBody>
          <a:bodyPr>
            <a:normAutofit fontScale="92500" lnSpcReduction="20000"/>
          </a:bodyPr>
          <a:lstStyle/>
          <a:p>
            <a:r>
              <a:rPr lang="en-US" dirty="0"/>
              <a:t>It is important that the language used in </a:t>
            </a:r>
            <a:r>
              <a:rPr lang="en-US" dirty="0" smtClean="0"/>
              <a:t>Formal </a:t>
            </a:r>
            <a:r>
              <a:rPr lang="en-US" dirty="0"/>
              <a:t>writing reflects the strength of evidence available to support an idea or claim. </a:t>
            </a:r>
            <a:endParaRPr lang="en-US" dirty="0" smtClean="0"/>
          </a:p>
          <a:p>
            <a:r>
              <a:rPr lang="en-US" dirty="0" smtClean="0"/>
              <a:t>Whether </a:t>
            </a:r>
            <a:r>
              <a:rPr lang="en-US" dirty="0"/>
              <a:t>you say </a:t>
            </a:r>
            <a:endParaRPr lang="en-US" dirty="0" smtClean="0"/>
          </a:p>
          <a:p>
            <a:pPr lvl="1"/>
            <a:r>
              <a:rPr lang="en-US" dirty="0" smtClean="0"/>
              <a:t>“</a:t>
            </a:r>
            <a:r>
              <a:rPr lang="en-US" dirty="0"/>
              <a:t>The working-age population will fall”, </a:t>
            </a:r>
            <a:r>
              <a:rPr lang="en-US" dirty="0" smtClean="0"/>
              <a:t>“</a:t>
            </a:r>
          </a:p>
          <a:p>
            <a:pPr lvl="1"/>
            <a:r>
              <a:rPr lang="en-US" dirty="0" smtClean="0"/>
              <a:t>The </a:t>
            </a:r>
            <a:r>
              <a:rPr lang="en-US" dirty="0"/>
              <a:t>working-age population will probably fall” or </a:t>
            </a:r>
            <a:endParaRPr lang="en-US" dirty="0" smtClean="0"/>
          </a:p>
          <a:p>
            <a:pPr lvl="1"/>
            <a:r>
              <a:rPr lang="en-US" dirty="0" smtClean="0"/>
              <a:t>“</a:t>
            </a:r>
            <a:r>
              <a:rPr lang="en-US" dirty="0"/>
              <a:t>The working-age population may fall</a:t>
            </a:r>
            <a:r>
              <a:rPr lang="en-US" dirty="0" smtClean="0"/>
              <a:t>”</a:t>
            </a:r>
          </a:p>
          <a:p>
            <a:endParaRPr lang="en-US" dirty="0" smtClean="0"/>
          </a:p>
          <a:p>
            <a:r>
              <a:rPr lang="en-US" dirty="0" smtClean="0"/>
              <a:t> </a:t>
            </a:r>
            <a:r>
              <a:rPr lang="en-US" dirty="0"/>
              <a:t>will depend on the projections available to you at the time of writing, and your interpretation of those projections. The less certain you are about your claims, the more tentative the language should be. The use of cautious language in </a:t>
            </a:r>
            <a:r>
              <a:rPr lang="en-US" dirty="0" smtClean="0"/>
              <a:t>Formal </a:t>
            </a:r>
            <a:r>
              <a:rPr lang="en-US" dirty="0"/>
              <a:t>writing is known as ‘</a:t>
            </a:r>
            <a:r>
              <a:rPr lang="en-US" dirty="0">
                <a:solidFill>
                  <a:srgbClr val="FF0000"/>
                </a:solidFill>
                <a:hlinkClick r:id="rId2"/>
              </a:rPr>
              <a:t>hedging</a:t>
            </a:r>
            <a:r>
              <a:rPr lang="en-US" dirty="0">
                <a:solidFill>
                  <a:srgbClr val="FF0000"/>
                </a:solidFill>
              </a:rPr>
              <a:t>’</a:t>
            </a:r>
            <a:r>
              <a:rPr lang="en-US" dirty="0"/>
              <a:t>.</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Hedging</a:t>
            </a:r>
            <a:endParaRPr lang="en-US" b="1" dirty="0"/>
          </a:p>
        </p:txBody>
      </p:sp>
      <p:sp>
        <p:nvSpPr>
          <p:cNvPr id="3" name="Content Placeholder 2"/>
          <p:cNvSpPr>
            <a:spLocks noGrp="1"/>
          </p:cNvSpPr>
          <p:nvPr>
            <p:ph idx="1"/>
          </p:nvPr>
        </p:nvSpPr>
        <p:spPr/>
        <p:txBody>
          <a:bodyPr>
            <a:normAutofit fontScale="92500" lnSpcReduction="10000"/>
          </a:bodyPr>
          <a:lstStyle/>
          <a:p>
            <a:pPr fontAlgn="base"/>
            <a:r>
              <a:rPr lang="en-US" dirty="0"/>
              <a:t>When writing, be careful of using words such as 'definitely' or 'proves'. Ask yourself whether your statement is a fact or whether there may be some doubt either now or in the future. </a:t>
            </a:r>
          </a:p>
          <a:p>
            <a:pPr fontAlgn="base"/>
            <a:r>
              <a:rPr lang="en-US" dirty="0"/>
              <a:t>Some useful hedging words and phrases to use in your work are:</a:t>
            </a:r>
          </a:p>
          <a:p>
            <a:pPr lvl="1" fontAlgn="base"/>
            <a:r>
              <a:rPr lang="en-US" dirty="0"/>
              <a:t>This suggests....</a:t>
            </a:r>
          </a:p>
          <a:p>
            <a:pPr lvl="1" fontAlgn="base"/>
            <a:r>
              <a:rPr lang="en-US" dirty="0"/>
              <a:t>It is possible that...</a:t>
            </a:r>
          </a:p>
          <a:p>
            <a:pPr lvl="1" fontAlgn="base"/>
            <a:r>
              <a:rPr lang="en-US" dirty="0"/>
              <a:t>A possible explanation...</a:t>
            </a:r>
          </a:p>
          <a:p>
            <a:pPr lvl="1" fontAlgn="base"/>
            <a:r>
              <a:rPr lang="en-US" dirty="0"/>
              <a:t>Usually</a:t>
            </a:r>
            <a:r>
              <a:rPr lang="en-US" dirty="0" smtClean="0"/>
              <a:t>...</a:t>
            </a:r>
          </a:p>
          <a:p>
            <a:pPr lvl="1" fontAlgn="base"/>
            <a:r>
              <a:rPr lang="en-US" dirty="0"/>
              <a:t>Sometimes...</a:t>
            </a:r>
            <a:endParaRPr lang="en-US" sz="2400" dirty="0"/>
          </a:p>
          <a:p>
            <a:pPr lvl="1" fontAlgn="base"/>
            <a:r>
              <a:rPr lang="en-US" dirty="0"/>
              <a:t>Somewhat...</a:t>
            </a:r>
            <a:endParaRPr lang="en-US" sz="2400" dirty="0"/>
          </a:p>
          <a:p>
            <a:pPr lvl="1" fontAlgn="base"/>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Hedging</a:t>
            </a:r>
            <a:endParaRPr lang="en-US" b="1" dirty="0"/>
          </a:p>
        </p:txBody>
      </p:sp>
      <p:sp>
        <p:nvSpPr>
          <p:cNvPr id="3" name="Content Placeholder 2"/>
          <p:cNvSpPr>
            <a:spLocks noGrp="1"/>
          </p:cNvSpPr>
          <p:nvPr>
            <p:ph idx="1"/>
          </p:nvPr>
        </p:nvSpPr>
        <p:spPr/>
        <p:txBody>
          <a:bodyPr/>
          <a:lstStyle/>
          <a:p>
            <a:pPr fontAlgn="base"/>
            <a:r>
              <a:rPr lang="en-US" dirty="0"/>
              <a:t>Read the following two sentences:</a:t>
            </a:r>
          </a:p>
          <a:p>
            <a:pPr lvl="1" fontAlgn="base"/>
            <a:r>
              <a:rPr lang="en-US" dirty="0"/>
              <a:t>Research </a:t>
            </a:r>
            <a:r>
              <a:rPr lang="en-US" dirty="0">
                <a:solidFill>
                  <a:srgbClr val="FF0000"/>
                </a:solidFill>
              </a:rPr>
              <a:t>proves</a:t>
            </a:r>
            <a:r>
              <a:rPr lang="en-US" dirty="0"/>
              <a:t> that drinking a large volume of fizzy drinks containing sugar leads to the development of type II diabetes.</a:t>
            </a:r>
          </a:p>
          <a:p>
            <a:pPr lvl="1" fontAlgn="base"/>
            <a:r>
              <a:rPr lang="en-US" dirty="0"/>
              <a:t>Research </a:t>
            </a:r>
            <a:r>
              <a:rPr lang="en-US" dirty="0">
                <a:solidFill>
                  <a:srgbClr val="0000FF"/>
                </a:solidFill>
              </a:rPr>
              <a:t>suggests</a:t>
            </a:r>
            <a:r>
              <a:rPr lang="en-US" dirty="0"/>
              <a:t> that high consumption of fizzy drinks containing sugar may contribute to the development of type II diabetes.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Written Formal English</a:t>
            </a:r>
            <a:endParaRPr lang="en-US" dirty="0"/>
          </a:p>
        </p:txBody>
      </p:sp>
      <p:sp>
        <p:nvSpPr>
          <p:cNvPr id="3" name="Content Placeholder 2"/>
          <p:cNvSpPr>
            <a:spLocks noGrp="1"/>
          </p:cNvSpPr>
          <p:nvPr>
            <p:ph idx="1"/>
          </p:nvPr>
        </p:nvSpPr>
        <p:spPr>
          <a:xfrm>
            <a:off x="457200" y="1600200"/>
            <a:ext cx="8229600" cy="5029200"/>
          </a:xfrm>
        </p:spPr>
        <p:txBody>
          <a:bodyPr>
            <a:normAutofit fontScale="92500"/>
          </a:bodyPr>
          <a:lstStyle/>
          <a:p>
            <a:pPr fontAlgn="base"/>
            <a:r>
              <a:rPr lang="en-US" dirty="0"/>
              <a:t>In </a:t>
            </a:r>
            <a:r>
              <a:rPr lang="en-US" dirty="0" smtClean="0"/>
              <a:t>business </a:t>
            </a:r>
            <a:r>
              <a:rPr lang="en-US" dirty="0"/>
              <a:t>writing you are expected to use formal language as opposed to colloquial or informal language:</a:t>
            </a:r>
          </a:p>
          <a:p>
            <a:pPr lvl="0" fontAlgn="base"/>
            <a:r>
              <a:rPr lang="en-US" dirty="0"/>
              <a:t>Avoid using colloquialisms or slang terms such as </a:t>
            </a:r>
            <a:r>
              <a:rPr lang="en-US" dirty="0">
                <a:solidFill>
                  <a:srgbClr val="FF0000"/>
                </a:solidFill>
              </a:rPr>
              <a:t>'sort of</a:t>
            </a:r>
            <a:r>
              <a:rPr lang="en-US" dirty="0"/>
              <a:t>' or '</a:t>
            </a:r>
            <a:r>
              <a:rPr lang="en-US" dirty="0">
                <a:solidFill>
                  <a:srgbClr val="FF0000"/>
                </a:solidFill>
              </a:rPr>
              <a:t>basically</a:t>
            </a:r>
            <a:r>
              <a:rPr lang="en-US" dirty="0"/>
              <a:t>'. Instead you could use '</a:t>
            </a:r>
            <a:r>
              <a:rPr lang="en-US" dirty="0">
                <a:solidFill>
                  <a:srgbClr val="0000FF"/>
                </a:solidFill>
              </a:rPr>
              <a:t>somewha</a:t>
            </a:r>
            <a:r>
              <a:rPr lang="en-US" dirty="0"/>
              <a:t>t' or '</a:t>
            </a:r>
            <a:r>
              <a:rPr lang="en-US" dirty="0">
                <a:solidFill>
                  <a:srgbClr val="0000FF"/>
                </a:solidFill>
              </a:rPr>
              <a:t>fundamentally</a:t>
            </a:r>
            <a:r>
              <a:rPr lang="en-US" dirty="0"/>
              <a:t>'</a:t>
            </a:r>
          </a:p>
          <a:p>
            <a:pPr lvl="0" fontAlgn="base"/>
            <a:r>
              <a:rPr lang="en-US" dirty="0"/>
              <a:t>Write words out in full rather than contracting (or shortening) them. For example, instead of writing '</a:t>
            </a:r>
            <a:r>
              <a:rPr lang="en-US" dirty="0">
                <a:solidFill>
                  <a:srgbClr val="FF0000"/>
                </a:solidFill>
              </a:rPr>
              <a:t>don'</a:t>
            </a:r>
            <a:r>
              <a:rPr lang="en-US" dirty="0"/>
              <a:t>t' or' </a:t>
            </a:r>
            <a:r>
              <a:rPr lang="en-US" dirty="0">
                <a:solidFill>
                  <a:srgbClr val="FF0000"/>
                </a:solidFill>
              </a:rPr>
              <a:t>isn't'</a:t>
            </a:r>
            <a:r>
              <a:rPr lang="en-US" dirty="0"/>
              <a:t> you would be expected to write 'do not' or 'is not'</a:t>
            </a:r>
          </a:p>
          <a:p>
            <a:pPr lvl="0" fontAlgn="base"/>
            <a:r>
              <a:rPr lang="en-US" dirty="0"/>
              <a:t>The use of clichés is not appropriate in </a:t>
            </a:r>
            <a:r>
              <a:rPr lang="en-US" dirty="0" smtClean="0"/>
              <a:t>Formal </a:t>
            </a:r>
            <a:r>
              <a:rPr lang="en-US" dirty="0"/>
              <a:t>writing. These are phrases such as </a:t>
            </a:r>
            <a:r>
              <a:rPr lang="en-US" dirty="0">
                <a:solidFill>
                  <a:srgbClr val="FF0000"/>
                </a:solidFill>
              </a:rPr>
              <a:t>'at the end of the day</a:t>
            </a:r>
            <a:r>
              <a:rPr lang="en-US" dirty="0"/>
              <a:t>' or </a:t>
            </a:r>
            <a:r>
              <a:rPr lang="en-US" dirty="0">
                <a:solidFill>
                  <a:srgbClr val="FF0000"/>
                </a:solidFill>
              </a:rPr>
              <a:t>'in the nick of time</a:t>
            </a:r>
            <a:r>
              <a:rPr lang="en-US" dirty="0"/>
              <a:t>.' Instead of this you might write </a:t>
            </a:r>
            <a:r>
              <a:rPr lang="en-US" dirty="0">
                <a:solidFill>
                  <a:srgbClr val="0000FF"/>
                </a:solidFill>
              </a:rPr>
              <a:t>finally</a:t>
            </a:r>
            <a:r>
              <a:rPr lang="en-US" dirty="0"/>
              <a:t> or </a:t>
            </a:r>
            <a:r>
              <a:rPr lang="en-US" dirty="0">
                <a:solidFill>
                  <a:srgbClr val="0000FF"/>
                </a:solidFill>
              </a:rPr>
              <a:t>at the critical moment</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Choice of </a:t>
            </a:r>
            <a:r>
              <a:rPr lang="en-US" b="1" u="sng" dirty="0" smtClean="0"/>
              <a:t>words</a:t>
            </a:r>
            <a:endParaRPr lang="en-US" dirty="0"/>
          </a:p>
        </p:txBody>
      </p:sp>
      <p:sp>
        <p:nvSpPr>
          <p:cNvPr id="3" name="Content Placeholder 2"/>
          <p:cNvSpPr>
            <a:spLocks noGrp="1"/>
          </p:cNvSpPr>
          <p:nvPr>
            <p:ph idx="1"/>
          </p:nvPr>
        </p:nvSpPr>
        <p:spPr/>
        <p:txBody>
          <a:bodyPr/>
          <a:lstStyle/>
          <a:p>
            <a:r>
              <a:rPr lang="en-US" dirty="0"/>
              <a:t>Some words are more appropriate in informal situations, while others are used in formal or neutral contexts. In </a:t>
            </a:r>
            <a:r>
              <a:rPr lang="en-US" dirty="0" smtClean="0"/>
              <a:t>business </a:t>
            </a:r>
            <a:r>
              <a:rPr lang="en-US" dirty="0"/>
              <a:t>writing, the formal or neutral alternative is normally preferred.</a:t>
            </a:r>
          </a:p>
          <a:p>
            <a:r>
              <a:rPr lang="en-US" dirty="0"/>
              <a:t>The following advice will help you to make appropriate vocabulary choices: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Avoid colloquialisms and </a:t>
            </a:r>
            <a:r>
              <a:rPr lang="en-US" b="1" u="sng" dirty="0" smtClean="0"/>
              <a:t>idioms</a:t>
            </a:r>
            <a:endParaRPr lang="en-US" dirty="0"/>
          </a:p>
        </p:txBody>
      </p:sp>
      <p:sp>
        <p:nvSpPr>
          <p:cNvPr id="3" name="Content Placeholder 2"/>
          <p:cNvSpPr>
            <a:spLocks noGrp="1"/>
          </p:cNvSpPr>
          <p:nvPr>
            <p:ph idx="1"/>
          </p:nvPr>
        </p:nvSpPr>
        <p:spPr/>
        <p:txBody>
          <a:bodyPr>
            <a:normAutofit fontScale="77500" lnSpcReduction="20000"/>
          </a:bodyPr>
          <a:lstStyle/>
          <a:p>
            <a:r>
              <a:rPr lang="en-US" b="1" dirty="0"/>
              <a:t>Example 1</a:t>
            </a:r>
            <a:endParaRPr lang="en-US" dirty="0"/>
          </a:p>
          <a:p>
            <a:r>
              <a:rPr lang="en-US" dirty="0"/>
              <a:t>Colloquial/idiom: Her paper made  </a:t>
            </a:r>
            <a:r>
              <a:rPr lang="en-US" dirty="0">
                <a:solidFill>
                  <a:srgbClr val="FF0000"/>
                </a:solidFill>
              </a:rPr>
              <a:t>tremendous</a:t>
            </a:r>
            <a:r>
              <a:rPr lang="en-US" dirty="0"/>
              <a:t> contribution to the field.</a:t>
            </a:r>
          </a:p>
          <a:p>
            <a:r>
              <a:rPr lang="en-US" dirty="0"/>
              <a:t>Formal/neutral: Her paper made a</a:t>
            </a:r>
            <a:r>
              <a:rPr lang="en-US" b="1" dirty="0">
                <a:solidFill>
                  <a:srgbClr val="FF0000"/>
                </a:solidFill>
              </a:rPr>
              <a:t> </a:t>
            </a:r>
            <a:r>
              <a:rPr lang="en-US" dirty="0">
                <a:solidFill>
                  <a:srgbClr val="0000FF"/>
                </a:solidFill>
              </a:rPr>
              <a:t>major </a:t>
            </a:r>
            <a:r>
              <a:rPr lang="en-US" dirty="0"/>
              <a:t>contribution to the field.</a:t>
            </a:r>
          </a:p>
          <a:p>
            <a:r>
              <a:rPr lang="en-US" b="1" dirty="0"/>
              <a:t>Example 2</a:t>
            </a:r>
            <a:endParaRPr lang="en-US" dirty="0"/>
          </a:p>
          <a:p>
            <a:r>
              <a:rPr lang="en-US" dirty="0"/>
              <a:t>Colloquial/idiom: The community managed to </a:t>
            </a:r>
            <a:r>
              <a:rPr lang="en-US" dirty="0">
                <a:solidFill>
                  <a:srgbClr val="FF0000"/>
                </a:solidFill>
              </a:rPr>
              <a:t>scratch a living</a:t>
            </a:r>
            <a:r>
              <a:rPr lang="en-US" dirty="0"/>
              <a:t> from the poor soil.</a:t>
            </a:r>
          </a:p>
          <a:p>
            <a:r>
              <a:rPr lang="en-US" dirty="0"/>
              <a:t>Formal/neutral: The community managed to </a:t>
            </a:r>
            <a:r>
              <a:rPr lang="en-US" dirty="0">
                <a:solidFill>
                  <a:srgbClr val="0000FF"/>
                </a:solidFill>
              </a:rPr>
              <a:t>survive by farming </a:t>
            </a:r>
            <a:r>
              <a:rPr lang="en-US" dirty="0"/>
              <a:t>the poor soil</a:t>
            </a:r>
            <a:r>
              <a:rPr lang="en-US" dirty="0" smtClean="0"/>
              <a:t>.</a:t>
            </a:r>
          </a:p>
          <a:p>
            <a:r>
              <a:rPr lang="en-US" b="1" dirty="0"/>
              <a:t>Example 3</a:t>
            </a:r>
            <a:endParaRPr lang="en-US" dirty="0"/>
          </a:p>
          <a:p>
            <a:r>
              <a:rPr lang="en-US" dirty="0"/>
              <a:t>Colloquial/idiom: The </a:t>
            </a:r>
            <a:r>
              <a:rPr lang="en-US" dirty="0">
                <a:solidFill>
                  <a:srgbClr val="FF0000"/>
                </a:solidFill>
              </a:rPr>
              <a:t>hit-and-miss</a:t>
            </a:r>
            <a:r>
              <a:rPr lang="en-US" dirty="0"/>
              <a:t> performance of the financial markets is causing increasing concern.</a:t>
            </a:r>
          </a:p>
          <a:p>
            <a:r>
              <a:rPr lang="en-US" dirty="0"/>
              <a:t>Formal/neutral: The </a:t>
            </a:r>
            <a:r>
              <a:rPr lang="en-US" dirty="0">
                <a:solidFill>
                  <a:srgbClr val="0000FF"/>
                </a:solidFill>
              </a:rPr>
              <a:t>erratic</a:t>
            </a:r>
            <a:r>
              <a:rPr lang="en-US" dirty="0">
                <a:solidFill>
                  <a:srgbClr val="FF0000"/>
                </a:solidFill>
              </a:rPr>
              <a:t> </a:t>
            </a:r>
            <a:r>
              <a:rPr lang="en-US" dirty="0"/>
              <a:t>performance of the financial markets is causing increasing concern.</a:t>
            </a:r>
          </a:p>
          <a:p>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t>Avoid </a:t>
            </a:r>
            <a:r>
              <a:rPr lang="en-US" b="1" u="sng" dirty="0" smtClean="0"/>
              <a:t>phrasal verbs </a:t>
            </a:r>
            <a:r>
              <a:rPr lang="en-US" b="1" u="sng" dirty="0" smtClean="0"/>
              <a:t>and idioms</a:t>
            </a:r>
            <a:endParaRPr lang="en-US" dirty="0"/>
          </a:p>
        </p:txBody>
      </p:sp>
      <p:sp>
        <p:nvSpPr>
          <p:cNvPr id="3" name="Content Placeholder 2"/>
          <p:cNvSpPr>
            <a:spLocks noGrp="1"/>
          </p:cNvSpPr>
          <p:nvPr>
            <p:ph idx="1"/>
          </p:nvPr>
        </p:nvSpPr>
        <p:spPr>
          <a:xfrm>
            <a:off x="457200" y="1600200"/>
            <a:ext cx="8229600" cy="5257800"/>
          </a:xfrm>
        </p:spPr>
        <p:txBody>
          <a:bodyPr>
            <a:normAutofit fontScale="70000" lnSpcReduction="20000"/>
          </a:bodyPr>
          <a:lstStyle/>
          <a:p>
            <a:r>
              <a:rPr lang="en-US" dirty="0" smtClean="0"/>
              <a:t>Example 4</a:t>
            </a:r>
          </a:p>
          <a:p>
            <a:r>
              <a:rPr lang="en-US" dirty="0" smtClean="0"/>
              <a:t>Colloquial/idiom</a:t>
            </a:r>
            <a:r>
              <a:rPr lang="en-US" dirty="0"/>
              <a:t>: The proposal for regional representation was</a:t>
            </a:r>
            <a:r>
              <a:rPr lang="en-US" dirty="0">
                <a:solidFill>
                  <a:srgbClr val="FF0000"/>
                </a:solidFill>
              </a:rPr>
              <a:t> turned down</a:t>
            </a:r>
            <a:r>
              <a:rPr lang="en-US" dirty="0"/>
              <a:t>.</a:t>
            </a:r>
          </a:p>
          <a:p>
            <a:r>
              <a:rPr lang="en-US" dirty="0"/>
              <a:t>Formal/neutral: The proposal for regional representation was</a:t>
            </a:r>
            <a:r>
              <a:rPr lang="en-US" dirty="0">
                <a:solidFill>
                  <a:srgbClr val="0000FF"/>
                </a:solidFill>
              </a:rPr>
              <a:t> rejected</a:t>
            </a:r>
            <a:r>
              <a:rPr lang="en-US" dirty="0"/>
              <a:t>.</a:t>
            </a:r>
          </a:p>
          <a:p>
            <a:r>
              <a:rPr lang="en-US" b="1" dirty="0"/>
              <a:t>Example </a:t>
            </a:r>
            <a:r>
              <a:rPr lang="en-US" b="1" dirty="0" smtClean="0"/>
              <a:t>5</a:t>
            </a:r>
            <a:endParaRPr lang="en-US" dirty="0"/>
          </a:p>
          <a:p>
            <a:r>
              <a:rPr lang="en-US" dirty="0"/>
              <a:t>Colloquial/idiom: Scientists are </a:t>
            </a:r>
            <a:r>
              <a:rPr lang="en-US" dirty="0">
                <a:solidFill>
                  <a:srgbClr val="FF0000"/>
                </a:solidFill>
              </a:rPr>
              <a:t>looking into</a:t>
            </a:r>
            <a:r>
              <a:rPr lang="en-US" dirty="0"/>
              <a:t> the production of </a:t>
            </a:r>
            <a:r>
              <a:rPr lang="en-US" dirty="0" err="1"/>
              <a:t>biofuels</a:t>
            </a:r>
            <a:r>
              <a:rPr lang="en-US" dirty="0"/>
              <a:t> using non-food crops.</a:t>
            </a:r>
          </a:p>
          <a:p>
            <a:r>
              <a:rPr lang="en-US" dirty="0"/>
              <a:t>Formal/neutral: Scientists are </a:t>
            </a:r>
            <a:r>
              <a:rPr lang="en-US" dirty="0">
                <a:solidFill>
                  <a:srgbClr val="0000FF"/>
                </a:solidFill>
              </a:rPr>
              <a:t>investigating</a:t>
            </a:r>
            <a:r>
              <a:rPr lang="en-US" dirty="0"/>
              <a:t> the production of </a:t>
            </a:r>
            <a:r>
              <a:rPr lang="en-US" dirty="0" err="1"/>
              <a:t>biofuels</a:t>
            </a:r>
            <a:r>
              <a:rPr lang="en-US" dirty="0"/>
              <a:t> using non-food crops.</a:t>
            </a:r>
          </a:p>
          <a:p>
            <a:r>
              <a:rPr lang="en-US" b="1" dirty="0"/>
              <a:t>Example </a:t>
            </a:r>
            <a:r>
              <a:rPr lang="en-US" b="1" dirty="0" smtClean="0"/>
              <a:t>6</a:t>
            </a:r>
            <a:endParaRPr lang="en-US" dirty="0"/>
          </a:p>
          <a:p>
            <a:r>
              <a:rPr lang="en-US" dirty="0"/>
              <a:t>Colloquial/idiom: </a:t>
            </a:r>
            <a:r>
              <a:rPr lang="en-US" dirty="0" err="1"/>
              <a:t>Biofuels</a:t>
            </a:r>
            <a:r>
              <a:rPr lang="en-US" dirty="0"/>
              <a:t> based on non-grain crops have the potential to </a:t>
            </a:r>
            <a:r>
              <a:rPr lang="en-US" dirty="0">
                <a:solidFill>
                  <a:srgbClr val="FF0000"/>
                </a:solidFill>
              </a:rPr>
              <a:t>bring food prices down</a:t>
            </a:r>
            <a:r>
              <a:rPr lang="en-US" dirty="0"/>
              <a:t>.</a:t>
            </a:r>
          </a:p>
          <a:p>
            <a:r>
              <a:rPr lang="en-US" dirty="0"/>
              <a:t>Formal/neutral: </a:t>
            </a:r>
            <a:r>
              <a:rPr lang="en-US" dirty="0" err="1"/>
              <a:t>Biofuels</a:t>
            </a:r>
            <a:r>
              <a:rPr lang="en-US" dirty="0"/>
              <a:t> based on non-grain crops have the potential to</a:t>
            </a:r>
            <a:r>
              <a:rPr lang="en-US" dirty="0">
                <a:solidFill>
                  <a:srgbClr val="0000FF"/>
                </a:solidFill>
              </a:rPr>
              <a:t> reduce food prices</a:t>
            </a:r>
            <a:r>
              <a:rPr lang="en-US" dirty="0"/>
              <a:t>.</a:t>
            </a:r>
          </a:p>
          <a:p>
            <a:r>
              <a:rPr lang="en-US" b="1" dirty="0"/>
              <a:t>Example </a:t>
            </a:r>
            <a:r>
              <a:rPr lang="en-US" b="1" dirty="0" smtClean="0"/>
              <a:t>7</a:t>
            </a:r>
            <a:endParaRPr lang="en-US" dirty="0"/>
          </a:p>
          <a:p>
            <a:r>
              <a:rPr lang="en-US" dirty="0"/>
              <a:t>Colloquial/idiom: Most of the patients reported that they</a:t>
            </a:r>
            <a:r>
              <a:rPr lang="en-US" dirty="0">
                <a:solidFill>
                  <a:srgbClr val="FF0000"/>
                </a:solidFill>
              </a:rPr>
              <a:t> put on</a:t>
            </a:r>
            <a:r>
              <a:rPr lang="en-US" dirty="0"/>
              <a:t> weight after taking the new medication.</a:t>
            </a:r>
          </a:p>
          <a:p>
            <a:r>
              <a:rPr lang="en-US" dirty="0"/>
              <a:t>Formal/neutral: Most of the patients reported that they</a:t>
            </a:r>
            <a:r>
              <a:rPr lang="en-US" dirty="0">
                <a:solidFill>
                  <a:srgbClr val="0000FF"/>
                </a:solidFill>
              </a:rPr>
              <a:t> gained</a:t>
            </a:r>
            <a:r>
              <a:rPr lang="en-US" dirty="0"/>
              <a:t> weight after taking the new medication.</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Avoid using the verb ‘get</a:t>
            </a:r>
            <a:r>
              <a:rPr lang="en-US" b="1" u="sng" dirty="0" smtClean="0"/>
              <a:t>’</a:t>
            </a:r>
            <a:endParaRPr lang="en-US" dirty="0"/>
          </a:p>
        </p:txBody>
      </p:sp>
      <p:sp>
        <p:nvSpPr>
          <p:cNvPr id="3" name="Content Placeholder 2"/>
          <p:cNvSpPr>
            <a:spLocks noGrp="1"/>
          </p:cNvSpPr>
          <p:nvPr>
            <p:ph idx="1"/>
          </p:nvPr>
        </p:nvSpPr>
        <p:spPr/>
        <p:txBody>
          <a:bodyPr>
            <a:normAutofit fontScale="85000" lnSpcReduction="20000"/>
          </a:bodyPr>
          <a:lstStyle/>
          <a:p>
            <a:r>
              <a:rPr lang="en-US" b="1" dirty="0"/>
              <a:t>Example 1</a:t>
            </a:r>
            <a:endParaRPr lang="en-US" dirty="0"/>
          </a:p>
          <a:p>
            <a:r>
              <a:rPr lang="en-US" dirty="0"/>
              <a:t>Colloquial/idiom: The settlers </a:t>
            </a:r>
            <a:r>
              <a:rPr lang="en-US" dirty="0">
                <a:solidFill>
                  <a:srgbClr val="FF0000"/>
                </a:solidFill>
              </a:rPr>
              <a:t>got</a:t>
            </a:r>
            <a:r>
              <a:rPr lang="en-US" dirty="0"/>
              <a:t> ill after drinking polluted water.</a:t>
            </a:r>
          </a:p>
          <a:p>
            <a:r>
              <a:rPr lang="en-US" dirty="0"/>
              <a:t>Formal/neutral: The settlers </a:t>
            </a:r>
            <a:r>
              <a:rPr lang="en-US" dirty="0">
                <a:solidFill>
                  <a:srgbClr val="0000FF"/>
                </a:solidFill>
              </a:rPr>
              <a:t>became </a:t>
            </a:r>
            <a:r>
              <a:rPr lang="en-US" dirty="0"/>
              <a:t>ill after drinking polluted water.</a:t>
            </a:r>
          </a:p>
          <a:p>
            <a:r>
              <a:rPr lang="en-US" b="1" dirty="0"/>
              <a:t>Example 2</a:t>
            </a:r>
            <a:endParaRPr lang="en-US" dirty="0"/>
          </a:p>
          <a:p>
            <a:r>
              <a:rPr lang="en-US" dirty="0"/>
              <a:t>Colloquial/idiom: The study participants reported that </a:t>
            </a:r>
            <a:r>
              <a:rPr lang="en-US" dirty="0">
                <a:solidFill>
                  <a:srgbClr val="FF0000"/>
                </a:solidFill>
              </a:rPr>
              <a:t>they got better</a:t>
            </a:r>
            <a:r>
              <a:rPr lang="en-US" dirty="0"/>
              <a:t> after the first course of treatment.</a:t>
            </a:r>
          </a:p>
          <a:p>
            <a:r>
              <a:rPr lang="en-US" dirty="0"/>
              <a:t>Formal/neutral: The study participants reported that </a:t>
            </a:r>
            <a:r>
              <a:rPr lang="en-US" dirty="0">
                <a:solidFill>
                  <a:srgbClr val="0000FF"/>
                </a:solidFill>
              </a:rPr>
              <a:t>their health improved</a:t>
            </a:r>
            <a:r>
              <a:rPr lang="en-US" dirty="0"/>
              <a:t> after the first course of treatment.</a:t>
            </a:r>
          </a:p>
          <a:p>
            <a:r>
              <a:rPr lang="en-US" b="1" dirty="0"/>
              <a:t>Example 3</a:t>
            </a:r>
            <a:endParaRPr lang="en-US" dirty="0"/>
          </a:p>
          <a:p>
            <a:r>
              <a:rPr lang="en-US" dirty="0"/>
              <a:t>Colloquial/idiom: </a:t>
            </a:r>
            <a:r>
              <a:rPr lang="en-US" dirty="0" err="1" smtClean="0"/>
              <a:t>Malala</a:t>
            </a:r>
            <a:r>
              <a:rPr lang="en-US" dirty="0" smtClean="0"/>
              <a:t> </a:t>
            </a:r>
            <a:r>
              <a:rPr lang="en-US" dirty="0" err="1" smtClean="0"/>
              <a:t>Yousafzai</a:t>
            </a:r>
            <a:r>
              <a:rPr lang="en-US" dirty="0" smtClean="0"/>
              <a:t> </a:t>
            </a:r>
            <a:r>
              <a:rPr lang="en-US" dirty="0"/>
              <a:t> </a:t>
            </a:r>
            <a:r>
              <a:rPr lang="en-US" dirty="0">
                <a:solidFill>
                  <a:srgbClr val="FF0000"/>
                </a:solidFill>
              </a:rPr>
              <a:t>got</a:t>
            </a:r>
            <a:r>
              <a:rPr lang="en-US" dirty="0"/>
              <a:t> the Nobel </a:t>
            </a:r>
            <a:r>
              <a:rPr lang="en-US" dirty="0" smtClean="0"/>
              <a:t>Peace Prize .</a:t>
            </a:r>
            <a:endParaRPr lang="en-US" dirty="0"/>
          </a:p>
          <a:p>
            <a:r>
              <a:rPr lang="en-US" dirty="0"/>
              <a:t>Formal/neutral: </a:t>
            </a:r>
            <a:r>
              <a:rPr lang="en-US" dirty="0" smtClean="0"/>
              <a:t> </a:t>
            </a:r>
            <a:r>
              <a:rPr lang="en-US" dirty="0" err="1" smtClean="0"/>
              <a:t>Malala</a:t>
            </a:r>
            <a:r>
              <a:rPr lang="en-US" dirty="0" smtClean="0"/>
              <a:t> </a:t>
            </a:r>
            <a:r>
              <a:rPr lang="en-US" dirty="0" err="1" smtClean="0"/>
              <a:t>Yousafzai</a:t>
            </a:r>
            <a:r>
              <a:rPr lang="en-US" dirty="0" smtClean="0"/>
              <a:t> </a:t>
            </a:r>
            <a:r>
              <a:rPr lang="en-US" dirty="0"/>
              <a:t> </a:t>
            </a:r>
            <a:r>
              <a:rPr lang="en-US" dirty="0">
                <a:solidFill>
                  <a:srgbClr val="0000FF"/>
                </a:solidFill>
              </a:rPr>
              <a:t>was awarded</a:t>
            </a:r>
            <a:r>
              <a:rPr lang="en-US" dirty="0"/>
              <a:t> the Nobel </a:t>
            </a:r>
            <a:r>
              <a:rPr lang="en-US" dirty="0" smtClean="0"/>
              <a:t>Peace Prize .</a:t>
            </a:r>
            <a:endParaRPr lang="en-US"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Avoid the ‘not + verb’ negative form if an alternative form is available</a:t>
            </a:r>
            <a:endParaRPr lang="en-US" dirty="0"/>
          </a:p>
        </p:txBody>
      </p:sp>
      <p:sp>
        <p:nvSpPr>
          <p:cNvPr id="3" name="Content Placeholder 2"/>
          <p:cNvSpPr>
            <a:spLocks noGrp="1"/>
          </p:cNvSpPr>
          <p:nvPr>
            <p:ph idx="1"/>
          </p:nvPr>
        </p:nvSpPr>
        <p:spPr>
          <a:xfrm>
            <a:off x="304800" y="1676400"/>
            <a:ext cx="4343400" cy="4525963"/>
          </a:xfrm>
        </p:spPr>
        <p:txBody>
          <a:bodyPr>
            <a:normAutofit/>
          </a:bodyPr>
          <a:lstStyle/>
          <a:p>
            <a:r>
              <a:rPr lang="en-US" b="1" dirty="0" smtClean="0">
                <a:solidFill>
                  <a:srgbClr val="FF0000"/>
                </a:solidFill>
              </a:rPr>
              <a:t>‘</a:t>
            </a:r>
            <a:r>
              <a:rPr lang="en-US" b="1" dirty="0">
                <a:solidFill>
                  <a:srgbClr val="FF0000"/>
                </a:solidFill>
              </a:rPr>
              <a:t>Not + verb’ negative</a:t>
            </a:r>
            <a:endParaRPr lang="en-US" dirty="0">
              <a:solidFill>
                <a:srgbClr val="FF0000"/>
              </a:solidFill>
            </a:endParaRPr>
          </a:p>
          <a:p>
            <a:endParaRPr lang="en-US" dirty="0" smtClean="0"/>
          </a:p>
          <a:p>
            <a:pPr marL="514350" indent="-514350">
              <a:buFont typeface="+mj-lt"/>
              <a:buAutoNum type="arabicPeriod"/>
            </a:pPr>
            <a:r>
              <a:rPr lang="en-US" dirty="0" smtClean="0"/>
              <a:t>I may </a:t>
            </a:r>
            <a:r>
              <a:rPr lang="en-US" b="1" dirty="0" smtClean="0"/>
              <a:t>not</a:t>
            </a:r>
            <a:r>
              <a:rPr lang="en-US" dirty="0" smtClean="0"/>
              <a:t> purchase anything from your company now</a:t>
            </a:r>
          </a:p>
          <a:p>
            <a:pPr marL="514350" indent="-514350">
              <a:buFont typeface="+mj-lt"/>
              <a:buAutoNum type="arabicPeriod"/>
            </a:pPr>
            <a:r>
              <a:rPr lang="en-US" dirty="0" smtClean="0"/>
              <a:t>2- </a:t>
            </a:r>
            <a:r>
              <a:rPr lang="en-US" dirty="0"/>
              <a:t>we haven’t done enough to be ready.</a:t>
            </a:r>
            <a:endParaRPr lang="en-US" dirty="0" smtClean="0"/>
          </a:p>
          <a:p>
            <a:pPr marL="514350" indent="-514350">
              <a:buFont typeface="+mj-lt"/>
              <a:buAutoNum type="arabicPeriod"/>
            </a:pPr>
            <a:endParaRPr lang="en-US" dirty="0" smtClean="0"/>
          </a:p>
          <a:p>
            <a:endParaRPr lang="en-US" b="1" dirty="0" smtClean="0"/>
          </a:p>
          <a:p>
            <a:endParaRPr lang="en-US" dirty="0"/>
          </a:p>
          <a:p>
            <a:endParaRPr lang="en-US" dirty="0"/>
          </a:p>
        </p:txBody>
      </p:sp>
      <p:sp>
        <p:nvSpPr>
          <p:cNvPr id="5" name="TextBox 4"/>
          <p:cNvSpPr txBox="1"/>
          <p:nvPr/>
        </p:nvSpPr>
        <p:spPr>
          <a:xfrm>
            <a:off x="4648200" y="1676400"/>
            <a:ext cx="4495800" cy="3010055"/>
          </a:xfrm>
          <a:prstGeom prst="rect">
            <a:avLst/>
          </a:prstGeom>
          <a:noFill/>
        </p:spPr>
        <p:txBody>
          <a:bodyPr wrap="square" rtlCol="0">
            <a:spAutoFit/>
          </a:bodyPr>
          <a:lstStyle/>
          <a:p>
            <a:pPr marL="342900" indent="-342900">
              <a:lnSpc>
                <a:spcPct val="80000"/>
              </a:lnSpc>
              <a:spcBef>
                <a:spcPct val="20000"/>
              </a:spcBef>
              <a:buFont typeface="Arial" pitchFamily="34" charset="0"/>
              <a:buChar char="•"/>
            </a:pPr>
            <a:r>
              <a:rPr lang="en-US" sz="3000" b="1" dirty="0">
                <a:solidFill>
                  <a:srgbClr val="0000FF"/>
                </a:solidFill>
              </a:rPr>
              <a:t>Preferred negative </a:t>
            </a:r>
            <a:r>
              <a:rPr lang="en-US" sz="3000" b="1" dirty="0" smtClean="0">
                <a:solidFill>
                  <a:srgbClr val="0000FF"/>
                </a:solidFill>
              </a:rPr>
              <a:t>form</a:t>
            </a:r>
          </a:p>
          <a:p>
            <a:pPr marL="342900" indent="-342900">
              <a:lnSpc>
                <a:spcPct val="80000"/>
              </a:lnSpc>
              <a:spcBef>
                <a:spcPct val="20000"/>
              </a:spcBef>
              <a:buFont typeface="Arial" pitchFamily="34" charset="0"/>
              <a:buChar char="•"/>
            </a:pPr>
            <a:endParaRPr lang="en-US" sz="3000" b="1" dirty="0"/>
          </a:p>
          <a:p>
            <a:pPr marL="514350" indent="-514350">
              <a:lnSpc>
                <a:spcPct val="80000"/>
              </a:lnSpc>
              <a:spcBef>
                <a:spcPct val="20000"/>
              </a:spcBef>
              <a:buClr>
                <a:schemeClr val="accent3"/>
              </a:buClr>
              <a:buSzPct val="95000"/>
              <a:buFont typeface="+mj-lt"/>
              <a:buAutoNum type="arabicPeriod"/>
            </a:pPr>
            <a:r>
              <a:rPr lang="en-US" sz="2600" dirty="0"/>
              <a:t>Making a purchase from your company will be difficult now</a:t>
            </a:r>
          </a:p>
          <a:p>
            <a:pPr marL="514350" indent="-514350">
              <a:lnSpc>
                <a:spcPct val="80000"/>
              </a:lnSpc>
              <a:spcBef>
                <a:spcPct val="20000"/>
              </a:spcBef>
              <a:buClr>
                <a:schemeClr val="accent3"/>
              </a:buClr>
              <a:buSzPct val="95000"/>
              <a:buFont typeface="+mj-lt"/>
              <a:buAutoNum type="arabicPeriod"/>
            </a:pPr>
            <a:r>
              <a:rPr lang="en-US" sz="2600" dirty="0"/>
              <a:t>We have more work to do.</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If you use the ‘not + verb’ negative form, avoid contracted forms</a:t>
            </a:r>
            <a:r>
              <a:rPr lang="en-US" b="1" dirty="0" smtClean="0"/>
              <a:t>.</a:t>
            </a:r>
            <a:endParaRPr lang="en-US" dirty="0"/>
          </a:p>
        </p:txBody>
      </p:sp>
      <p:sp>
        <p:nvSpPr>
          <p:cNvPr id="3" name="Content Placeholder 2"/>
          <p:cNvSpPr>
            <a:spLocks noGrp="1"/>
          </p:cNvSpPr>
          <p:nvPr>
            <p:ph idx="1"/>
          </p:nvPr>
        </p:nvSpPr>
        <p:spPr>
          <a:xfrm>
            <a:off x="457200" y="1600200"/>
            <a:ext cx="3886200" cy="4525963"/>
          </a:xfrm>
        </p:spPr>
        <p:txBody>
          <a:bodyPr>
            <a:normAutofit/>
          </a:bodyPr>
          <a:lstStyle/>
          <a:p>
            <a:r>
              <a:rPr lang="en-US" b="1" dirty="0">
                <a:solidFill>
                  <a:srgbClr val="FF0000"/>
                </a:solidFill>
              </a:rPr>
              <a:t>‘Verb + not’ contracted </a:t>
            </a:r>
            <a:r>
              <a:rPr lang="en-US" b="1" dirty="0" smtClean="0">
                <a:solidFill>
                  <a:srgbClr val="FF0000"/>
                </a:solidFill>
              </a:rPr>
              <a:t>form</a:t>
            </a:r>
          </a:p>
          <a:p>
            <a:pPr marL="514350" indent="-514350">
              <a:buFont typeface="+mj-lt"/>
              <a:buAutoNum type="arabicPeriod"/>
            </a:pPr>
            <a:r>
              <a:rPr lang="en-US" dirty="0"/>
              <a:t>Sales </a:t>
            </a:r>
            <a:r>
              <a:rPr lang="en-US" dirty="0">
                <a:solidFill>
                  <a:srgbClr val="FF0000"/>
                </a:solidFill>
              </a:rPr>
              <a:t>didn’t</a:t>
            </a:r>
            <a:r>
              <a:rPr lang="en-US" dirty="0"/>
              <a:t> increase despite the introduction of new targets.</a:t>
            </a:r>
          </a:p>
          <a:p>
            <a:pPr marL="514350" indent="-514350">
              <a:buFont typeface="+mj-lt"/>
              <a:buAutoNum type="arabicPeriod"/>
            </a:pPr>
            <a:r>
              <a:rPr lang="en-US" dirty="0"/>
              <a:t>The conflict </a:t>
            </a:r>
            <a:r>
              <a:rPr lang="en-US" dirty="0">
                <a:solidFill>
                  <a:srgbClr val="FF0000"/>
                </a:solidFill>
              </a:rPr>
              <a:t>can’t</a:t>
            </a:r>
            <a:r>
              <a:rPr lang="en-US" dirty="0"/>
              <a:t> be resolved without negotiation.</a:t>
            </a:r>
          </a:p>
          <a:p>
            <a:endParaRPr lang="en-US" dirty="0"/>
          </a:p>
        </p:txBody>
      </p:sp>
      <p:sp>
        <p:nvSpPr>
          <p:cNvPr id="4" name="TextBox 3"/>
          <p:cNvSpPr txBox="1"/>
          <p:nvPr/>
        </p:nvSpPr>
        <p:spPr>
          <a:xfrm>
            <a:off x="4953000" y="1600200"/>
            <a:ext cx="3962400" cy="4801314"/>
          </a:xfrm>
          <a:prstGeom prst="rect">
            <a:avLst/>
          </a:prstGeom>
          <a:noFill/>
        </p:spPr>
        <p:txBody>
          <a:bodyPr wrap="square" rtlCol="0">
            <a:spAutoFit/>
          </a:bodyPr>
          <a:lstStyle/>
          <a:p>
            <a:r>
              <a:rPr lang="en-US" sz="3000" b="1" dirty="0">
                <a:solidFill>
                  <a:srgbClr val="0000FF"/>
                </a:solidFill>
              </a:rPr>
              <a:t>Preferred negative </a:t>
            </a:r>
            <a:r>
              <a:rPr lang="en-US" sz="3000" b="1" dirty="0" smtClean="0">
                <a:solidFill>
                  <a:srgbClr val="0000FF"/>
                </a:solidFill>
              </a:rPr>
              <a:t>form</a:t>
            </a:r>
          </a:p>
          <a:p>
            <a:endParaRPr lang="en-US" sz="3000" b="1" dirty="0"/>
          </a:p>
          <a:p>
            <a:pPr marL="514350" indent="-514350">
              <a:lnSpc>
                <a:spcPct val="90000"/>
              </a:lnSpc>
              <a:spcBef>
                <a:spcPct val="20000"/>
              </a:spcBef>
              <a:buFont typeface="+mj-lt"/>
              <a:buAutoNum type="arabicPeriod"/>
            </a:pPr>
            <a:r>
              <a:rPr lang="en-US" sz="3000" dirty="0"/>
              <a:t>Sales </a:t>
            </a:r>
            <a:r>
              <a:rPr lang="en-US" sz="3000" dirty="0">
                <a:solidFill>
                  <a:srgbClr val="0000FF"/>
                </a:solidFill>
              </a:rPr>
              <a:t>did not</a:t>
            </a:r>
            <a:r>
              <a:rPr lang="en-US" sz="3000" dirty="0"/>
              <a:t> increase despite the introduction of new targets.</a:t>
            </a:r>
          </a:p>
          <a:p>
            <a:pPr marL="514350" indent="-514350">
              <a:lnSpc>
                <a:spcPct val="90000"/>
              </a:lnSpc>
              <a:spcBef>
                <a:spcPct val="20000"/>
              </a:spcBef>
              <a:buFont typeface="+mj-lt"/>
              <a:buAutoNum type="arabicPeriod"/>
            </a:pPr>
            <a:r>
              <a:rPr lang="en-US" sz="3000" dirty="0"/>
              <a:t>The conflict </a:t>
            </a:r>
            <a:r>
              <a:rPr lang="en-US" sz="3000" dirty="0">
                <a:solidFill>
                  <a:srgbClr val="0000FF"/>
                </a:solidFill>
              </a:rPr>
              <a:t>cannot</a:t>
            </a:r>
            <a:r>
              <a:rPr lang="en-US" sz="3000" dirty="0"/>
              <a:t> be resolved without negotiation.</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Be </a:t>
            </a:r>
            <a:r>
              <a:rPr lang="en-US" b="1" u="sng" dirty="0" smtClean="0"/>
              <a:t>concise</a:t>
            </a:r>
            <a:endParaRPr lang="en-US" b="1" u="sng" dirty="0"/>
          </a:p>
        </p:txBody>
      </p:sp>
      <p:sp>
        <p:nvSpPr>
          <p:cNvPr id="3" name="Content Placeholder 2"/>
          <p:cNvSpPr>
            <a:spLocks noGrp="1"/>
          </p:cNvSpPr>
          <p:nvPr>
            <p:ph idx="1"/>
          </p:nvPr>
        </p:nvSpPr>
        <p:spPr/>
        <p:txBody>
          <a:bodyPr>
            <a:normAutofit/>
          </a:bodyPr>
          <a:lstStyle/>
          <a:p>
            <a:pPr fontAlgn="base"/>
            <a:r>
              <a:rPr lang="en-US" dirty="0"/>
              <a:t>In formal </a:t>
            </a:r>
            <a:r>
              <a:rPr lang="en-US" dirty="0" smtClean="0"/>
              <a:t>writing </a:t>
            </a:r>
            <a:r>
              <a:rPr lang="en-US" dirty="0"/>
              <a:t>it is important to be concise. This helps your reader to understand the points you are making. Here are some tips to help </a:t>
            </a:r>
            <a:r>
              <a:rPr lang="en-US" dirty="0" smtClean="0"/>
              <a:t>you</a:t>
            </a:r>
            <a:endParaRPr lang="en-US" dirty="0"/>
          </a:p>
          <a:p>
            <a:pPr lvl="0" fontAlgn="base"/>
            <a:r>
              <a:rPr lang="en-US" dirty="0"/>
              <a:t>Only include one main idea per sentence</a:t>
            </a:r>
          </a:p>
          <a:p>
            <a:pPr lvl="0" fontAlgn="base"/>
            <a:r>
              <a:rPr lang="en-US" dirty="0"/>
              <a:t>Keep your sentences to a reasonable length (generally not more than 25 words). Long sentences can be difficult to follow and this may distract from your point</a:t>
            </a:r>
          </a:p>
          <a:p>
            <a:pPr lvl="0" fontAlgn="base"/>
            <a:r>
              <a:rPr lang="en-US" dirty="0"/>
              <a:t>Avoid repetition</a:t>
            </a:r>
          </a:p>
          <a:p>
            <a:r>
              <a:rPr lang="en-US" dirty="0"/>
              <a:t>Avoid using redundant words.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Be concise</a:t>
            </a:r>
            <a:endParaRPr lang="en-US" dirty="0"/>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srcRect/>
          <a:stretch>
            <a:fillRect/>
          </a:stretch>
        </p:blipFill>
        <p:spPr bwMode="auto">
          <a:xfrm>
            <a:off x="789543" y="1602234"/>
            <a:ext cx="7744857" cy="499280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Use </a:t>
            </a:r>
            <a:r>
              <a:rPr lang="en-US" b="1" dirty="0" smtClean="0"/>
              <a:t>signaling </a:t>
            </a:r>
            <a:r>
              <a:rPr lang="en-US" b="1" dirty="0"/>
              <a:t>words and phrases to show the structure of your </a:t>
            </a:r>
            <a:r>
              <a:rPr lang="en-US" b="1" dirty="0" smtClean="0"/>
              <a:t>writing</a:t>
            </a:r>
            <a:endParaRPr lang="en-US" dirty="0"/>
          </a:p>
        </p:txBody>
      </p:sp>
      <p:sp>
        <p:nvSpPr>
          <p:cNvPr id="3" name="Content Placeholder 2"/>
          <p:cNvSpPr>
            <a:spLocks noGrp="1"/>
          </p:cNvSpPr>
          <p:nvPr>
            <p:ph idx="1"/>
          </p:nvPr>
        </p:nvSpPr>
        <p:spPr/>
        <p:txBody>
          <a:bodyPr>
            <a:normAutofit/>
          </a:bodyPr>
          <a:lstStyle/>
          <a:p>
            <a:r>
              <a:rPr lang="en-US" dirty="0" smtClean="0"/>
              <a:t>Signaling </a:t>
            </a:r>
            <a:r>
              <a:rPr lang="en-US" dirty="0"/>
              <a:t>words can be used to explicitly demonstrate the relationship between </a:t>
            </a:r>
            <a:r>
              <a:rPr lang="en-US" dirty="0" smtClean="0"/>
              <a:t>ideas </a:t>
            </a:r>
            <a:r>
              <a:rPr lang="en-US" dirty="0"/>
              <a:t>and arguments. </a:t>
            </a:r>
            <a:endParaRPr lang="en-US" dirty="0" smtClean="0"/>
          </a:p>
          <a:p>
            <a:r>
              <a:rPr lang="en-US" dirty="0" smtClean="0"/>
              <a:t>These </a:t>
            </a:r>
            <a:r>
              <a:rPr lang="en-US" dirty="0"/>
              <a:t>words help to make the structure of </a:t>
            </a:r>
            <a:r>
              <a:rPr lang="en-US" dirty="0" smtClean="0"/>
              <a:t>the </a:t>
            </a:r>
            <a:r>
              <a:rPr lang="en-US" dirty="0"/>
              <a:t>writing more effective; they can clarify the flow and logic of </a:t>
            </a:r>
            <a:r>
              <a:rPr lang="en-US" dirty="0" smtClean="0"/>
              <a:t>the </a:t>
            </a:r>
            <a:r>
              <a:rPr lang="en-US" dirty="0"/>
              <a:t>argument and make it easier for </a:t>
            </a:r>
            <a:r>
              <a:rPr lang="en-US" dirty="0" smtClean="0"/>
              <a:t>the </a:t>
            </a:r>
            <a:r>
              <a:rPr lang="en-US" dirty="0"/>
              <a:t>reader to understand the points </a:t>
            </a:r>
            <a:r>
              <a:rPr lang="en-US" dirty="0" smtClean="0"/>
              <a:t>being made.</a:t>
            </a:r>
          </a:p>
          <a:p>
            <a:r>
              <a:rPr lang="en-US" dirty="0" smtClean="0"/>
              <a:t> </a:t>
            </a:r>
            <a:r>
              <a:rPr lang="en-US" i="1" dirty="0"/>
              <a:t>They are called </a:t>
            </a:r>
            <a:r>
              <a:rPr lang="en-US" i="1" dirty="0" smtClean="0"/>
              <a:t>signaling </a:t>
            </a:r>
            <a:r>
              <a:rPr lang="en-US" i="1" dirty="0"/>
              <a:t>words because they give </a:t>
            </a:r>
            <a:r>
              <a:rPr lang="en-US" i="1" dirty="0" smtClean="0"/>
              <a:t>the </a:t>
            </a:r>
            <a:r>
              <a:rPr lang="en-US" i="1" dirty="0"/>
              <a:t>reader a clue as to what might be coming up next or where </a:t>
            </a:r>
            <a:r>
              <a:rPr lang="en-US" i="1" dirty="0" smtClean="0"/>
              <a:t>the argument might be going</a:t>
            </a:r>
            <a:r>
              <a:rPr lang="en-US" dirty="0" smtClean="0"/>
              <a:t>.</a:t>
            </a:r>
            <a:r>
              <a:rPr lang="en-US" dirty="0"/>
              <a:t> </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Have a look at these examples below:</a:t>
            </a:r>
            <a:endParaRPr lang="en-US" dirty="0"/>
          </a:p>
        </p:txBody>
      </p:sp>
      <p:sp>
        <p:nvSpPr>
          <p:cNvPr id="3" name="Content Placeholder 2"/>
          <p:cNvSpPr>
            <a:spLocks noGrp="1"/>
          </p:cNvSpPr>
          <p:nvPr>
            <p:ph idx="1"/>
          </p:nvPr>
        </p:nvSpPr>
        <p:spPr/>
        <p:txBody>
          <a:bodyPr>
            <a:normAutofit lnSpcReduction="10000"/>
          </a:bodyPr>
          <a:lstStyle/>
          <a:p>
            <a:pPr lvl="0" fontAlgn="base"/>
            <a:r>
              <a:rPr lang="en-US" dirty="0" smtClean="0"/>
              <a:t>Using </a:t>
            </a:r>
            <a:r>
              <a:rPr lang="en-US" dirty="0"/>
              <a:t>a laboratory method was beneficial as a causal relationship could be established between cognitive load and generating attributes. </a:t>
            </a:r>
            <a:r>
              <a:rPr lang="en-US" b="1" dirty="0"/>
              <a:t>However</a:t>
            </a:r>
            <a:r>
              <a:rPr lang="en-US" dirty="0"/>
              <a:t>, this method creates an artificial setting which reduces the study's ecological validity. </a:t>
            </a:r>
            <a:br>
              <a:rPr lang="en-US" dirty="0"/>
            </a:br>
            <a:r>
              <a:rPr lang="en-US" dirty="0"/>
              <a:t/>
            </a:r>
            <a:br>
              <a:rPr lang="en-US" dirty="0"/>
            </a:br>
            <a:r>
              <a:rPr lang="en-US" dirty="0"/>
              <a:t>In this example the use of the word however at the beginning of the second sentence indicates that a contrasting point of view is about to be made. It also suggests that the writer may have more sympathy with the second opinion.</a:t>
            </a: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r>
              <a:rPr lang="en-US" dirty="0"/>
              <a:t>Firstly, the concepts and person </a:t>
            </a:r>
            <a:r>
              <a:rPr lang="en-US" dirty="0" err="1"/>
              <a:t>centred</a:t>
            </a:r>
            <a:r>
              <a:rPr lang="en-US" dirty="0"/>
              <a:t> care will be defined.... Next, communication will be discussed... Finally, the relationship between loss and communication will be examined. [Taken from a Healthcare essay]</a:t>
            </a:r>
            <a:br>
              <a:rPr lang="en-US" dirty="0"/>
            </a:br>
            <a:r>
              <a:rPr lang="en-US" dirty="0"/>
              <a:t/>
            </a:r>
            <a:br>
              <a:rPr lang="en-US" dirty="0"/>
            </a:br>
            <a:r>
              <a:rPr lang="en-US" dirty="0"/>
              <a:t>In this example the writer has used </a:t>
            </a:r>
            <a:r>
              <a:rPr lang="en-US" dirty="0" err="1"/>
              <a:t>signalling</a:t>
            </a:r>
            <a:r>
              <a:rPr lang="en-US" dirty="0"/>
              <a:t> words to demonstrate the sequence of their argument by using Firstly, next, finally making the structure of the essay very clear.</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0"/>
            <a:r>
              <a:rPr lang="en-US" dirty="0"/>
              <a:t>Employee satisfaction is justifiable to employees because it causes an improvement on their well </a:t>
            </a:r>
            <a:r>
              <a:rPr lang="en-US" dirty="0" smtClean="0"/>
              <a:t>being. </a:t>
            </a:r>
            <a:r>
              <a:rPr lang="en-US" b="1" dirty="0"/>
              <a:t>Moreover,</a:t>
            </a:r>
            <a:r>
              <a:rPr lang="en-US" dirty="0"/>
              <a:t> employees that are in a good mood at work are less likely to act because their true feelings are in accordance with the needed display of emotions (</a:t>
            </a:r>
            <a:r>
              <a:rPr lang="en-US" dirty="0" err="1"/>
              <a:t>Grandley</a:t>
            </a:r>
            <a:r>
              <a:rPr lang="en-US" dirty="0"/>
              <a:t>, 2003). [Taken from a Business School essay]</a:t>
            </a:r>
            <a:br>
              <a:rPr lang="en-US" dirty="0"/>
            </a:br>
            <a:r>
              <a:rPr lang="en-US" dirty="0"/>
              <a:t/>
            </a:r>
            <a:br>
              <a:rPr lang="en-US" dirty="0"/>
            </a:br>
            <a:r>
              <a:rPr lang="en-US" dirty="0"/>
              <a:t>The use of the word moreover tells the reader that the next sentence will provide further evidence or information to support the statement made in the first sentence. It also suggest that the writer strongly agrees with the first statement.</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a:t>
            </a:r>
            <a:r>
              <a:rPr lang="en-US" dirty="0"/>
              <a:t>of </a:t>
            </a:r>
            <a:r>
              <a:rPr lang="en-US" dirty="0" smtClean="0"/>
              <a:t>signaling </a:t>
            </a:r>
            <a:r>
              <a:rPr lang="en-US" dirty="0"/>
              <a:t>words </a:t>
            </a:r>
          </a:p>
        </p:txBody>
      </p:sp>
      <p:sp>
        <p:nvSpPr>
          <p:cNvPr id="3" name="Content Placeholder 2"/>
          <p:cNvSpPr>
            <a:spLocks noGrp="1"/>
          </p:cNvSpPr>
          <p:nvPr>
            <p:ph idx="1"/>
          </p:nvPr>
        </p:nvSpPr>
        <p:spPr/>
        <p:txBody>
          <a:bodyPr/>
          <a:lstStyle/>
          <a:p>
            <a:endParaRPr lang="en-US" dirty="0"/>
          </a:p>
        </p:txBody>
      </p:sp>
      <p:pic>
        <p:nvPicPr>
          <p:cNvPr id="2050" name="Picture 2"/>
          <p:cNvPicPr>
            <a:picLocks noChangeAspect="1" noChangeArrowheads="1"/>
          </p:cNvPicPr>
          <p:nvPr/>
        </p:nvPicPr>
        <p:blipFill>
          <a:blip r:embed="rId2"/>
          <a:srcRect/>
          <a:stretch>
            <a:fillRect/>
          </a:stretch>
        </p:blipFill>
        <p:spPr bwMode="auto">
          <a:xfrm>
            <a:off x="1752600" y="1219200"/>
            <a:ext cx="6261422" cy="4282704"/>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1752600" y="5463841"/>
            <a:ext cx="6172200" cy="139415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Avoid Writing Questions</a:t>
            </a:r>
            <a:endParaRPr lang="en-US" dirty="0"/>
          </a:p>
        </p:txBody>
      </p:sp>
      <p:sp>
        <p:nvSpPr>
          <p:cNvPr id="3" name="Content Placeholder 2"/>
          <p:cNvSpPr>
            <a:spLocks noGrp="1"/>
          </p:cNvSpPr>
          <p:nvPr>
            <p:ph idx="1"/>
          </p:nvPr>
        </p:nvSpPr>
        <p:spPr/>
        <p:txBody>
          <a:bodyPr>
            <a:normAutofit lnSpcReduction="10000"/>
          </a:bodyPr>
          <a:lstStyle/>
          <a:p>
            <a:r>
              <a:rPr lang="en-US" dirty="0" smtClean="0"/>
              <a:t>Instead of asking a direct question, state it indirectly.</a:t>
            </a:r>
          </a:p>
          <a:p>
            <a:endParaRPr lang="en-US" dirty="0" smtClean="0"/>
          </a:p>
          <a:p>
            <a:r>
              <a:rPr lang="en-US" dirty="0" smtClean="0"/>
              <a:t>For Example:</a:t>
            </a:r>
          </a:p>
          <a:p>
            <a:endParaRPr lang="en-US" dirty="0"/>
          </a:p>
          <a:p>
            <a:r>
              <a:rPr lang="en-US" dirty="0" smtClean="0"/>
              <a:t>What is the problem?</a:t>
            </a:r>
          </a:p>
          <a:p>
            <a:r>
              <a:rPr lang="en-US" dirty="0" smtClean="0"/>
              <a:t>The Problem needs to be identified.</a:t>
            </a:r>
          </a:p>
          <a:p>
            <a:endParaRPr lang="en-US" dirty="0"/>
          </a:p>
          <a:p>
            <a:r>
              <a:rPr lang="en-US" dirty="0" smtClean="0"/>
              <a:t>How long can the delivery of this product take?</a:t>
            </a:r>
          </a:p>
          <a:p>
            <a:r>
              <a:rPr lang="en-US" dirty="0" smtClean="0"/>
              <a:t>The duration required for the delivery of the product is inquired.</a:t>
            </a:r>
          </a:p>
          <a:p>
            <a:endParaRPr lang="en-US" dirty="0"/>
          </a:p>
        </p:txBody>
      </p:sp>
    </p:spTree>
    <p:extLst>
      <p:ext uri="{BB962C8B-B14F-4D97-AF65-F5344CB8AC3E}">
        <p14:creationId xmlns:p14="http://schemas.microsoft.com/office/powerpoint/2010/main" val="547715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Examples</a:t>
            </a:r>
            <a:endParaRPr lang="en-US" dirty="0"/>
          </a:p>
        </p:txBody>
      </p:sp>
      <p:sp>
        <p:nvSpPr>
          <p:cNvPr id="3" name="Content Placeholder 2"/>
          <p:cNvSpPr>
            <a:spLocks noGrp="1"/>
          </p:cNvSpPr>
          <p:nvPr>
            <p:ph idx="1"/>
          </p:nvPr>
        </p:nvSpPr>
        <p:spPr/>
        <p:txBody>
          <a:bodyPr/>
          <a:lstStyle/>
          <a:p>
            <a:r>
              <a:rPr lang="en-US" b="1" dirty="0"/>
              <a:t>Where</a:t>
            </a:r>
            <a:r>
              <a:rPr lang="en-US" dirty="0"/>
              <a:t> </a:t>
            </a:r>
            <a:r>
              <a:rPr lang="en-US" i="1" dirty="0"/>
              <a:t>did</a:t>
            </a:r>
            <a:r>
              <a:rPr lang="en-US" dirty="0"/>
              <a:t> </a:t>
            </a:r>
            <a:r>
              <a:rPr lang="en-US" u="sng" dirty="0"/>
              <a:t>the data</a:t>
            </a:r>
            <a:r>
              <a:rPr lang="en-US" dirty="0"/>
              <a:t> </a:t>
            </a:r>
            <a:r>
              <a:rPr lang="en-US" u="sng" dirty="0"/>
              <a:t>come</a:t>
            </a:r>
            <a:r>
              <a:rPr lang="en-US" dirty="0"/>
              <a:t> from</a:t>
            </a:r>
            <a:r>
              <a:rPr lang="en-US" dirty="0" smtClean="0"/>
              <a:t>?</a:t>
            </a:r>
          </a:p>
          <a:p>
            <a:r>
              <a:rPr lang="en-US" dirty="0"/>
              <a:t>It is unclear </a:t>
            </a:r>
            <a:r>
              <a:rPr lang="en-US" b="1" dirty="0"/>
              <a:t>where</a:t>
            </a:r>
            <a:r>
              <a:rPr lang="en-US" dirty="0"/>
              <a:t> </a:t>
            </a:r>
            <a:r>
              <a:rPr lang="en-US" u="sng" dirty="0"/>
              <a:t>the data</a:t>
            </a:r>
            <a:r>
              <a:rPr lang="en-US" dirty="0"/>
              <a:t> </a:t>
            </a:r>
            <a:r>
              <a:rPr lang="en-US" u="sng" dirty="0"/>
              <a:t>came</a:t>
            </a:r>
            <a:r>
              <a:rPr lang="en-US" dirty="0"/>
              <a:t> from.</a:t>
            </a:r>
          </a:p>
          <a:p>
            <a:r>
              <a:rPr lang="en-US" dirty="0"/>
              <a:t> </a:t>
            </a:r>
          </a:p>
          <a:p>
            <a:r>
              <a:rPr lang="en-US" i="1" dirty="0"/>
              <a:t>Did </a:t>
            </a:r>
            <a:r>
              <a:rPr lang="en-US" u="sng" dirty="0"/>
              <a:t>the research</a:t>
            </a:r>
            <a:r>
              <a:rPr lang="en-US" dirty="0"/>
              <a:t> </a:t>
            </a:r>
            <a:r>
              <a:rPr lang="en-US" u="sng" dirty="0"/>
              <a:t>solve</a:t>
            </a:r>
            <a:r>
              <a:rPr lang="en-US" dirty="0"/>
              <a:t> the problem</a:t>
            </a:r>
            <a:r>
              <a:rPr lang="en-US" dirty="0" smtClean="0"/>
              <a:t>?</a:t>
            </a:r>
          </a:p>
          <a:p>
            <a:r>
              <a:rPr lang="en-US" dirty="0"/>
              <a:t>Many scholars wonder if </a:t>
            </a:r>
            <a:r>
              <a:rPr lang="en-US" u="sng" dirty="0"/>
              <a:t>the research</a:t>
            </a:r>
            <a:r>
              <a:rPr lang="en-US" dirty="0"/>
              <a:t> </a:t>
            </a:r>
            <a:r>
              <a:rPr lang="en-US" u="sng" dirty="0"/>
              <a:t>solved </a:t>
            </a:r>
            <a:r>
              <a:rPr lang="en-US" dirty="0"/>
              <a:t>the problem.</a:t>
            </a:r>
            <a:endParaRPr lang="en-US" dirty="0"/>
          </a:p>
        </p:txBody>
      </p:sp>
    </p:spTree>
    <p:extLst>
      <p:ext uri="{BB962C8B-B14F-4D97-AF65-F5344CB8AC3E}">
        <p14:creationId xmlns:p14="http://schemas.microsoft.com/office/powerpoint/2010/main" val="11954316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u="sng" dirty="0" smtClean="0"/>
              <a:t>COMMON </a:t>
            </a:r>
            <a:r>
              <a:rPr lang="en-US" sz="3600" b="1" u="sng" dirty="0"/>
              <a:t>NOUNS CORRESPONDING TO QUESTION </a:t>
            </a:r>
            <a:r>
              <a:rPr lang="en-US" sz="3600" b="1" u="sng" dirty="0" smtClean="0"/>
              <a:t>WORDS</a:t>
            </a:r>
            <a:endParaRPr lang="en-US" sz="3600" dirty="0"/>
          </a:p>
        </p:txBody>
      </p:sp>
      <p:sp>
        <p:nvSpPr>
          <p:cNvPr id="3" name="Content Placeholder 2"/>
          <p:cNvSpPr>
            <a:spLocks noGrp="1"/>
          </p:cNvSpPr>
          <p:nvPr>
            <p:ph idx="1"/>
          </p:nvPr>
        </p:nvSpPr>
        <p:spPr/>
        <p:txBody>
          <a:bodyPr>
            <a:normAutofit/>
          </a:bodyPr>
          <a:lstStyle/>
          <a:p>
            <a:r>
              <a:rPr lang="en-US" dirty="0" smtClean="0"/>
              <a:t>How:</a:t>
            </a:r>
          </a:p>
          <a:p>
            <a:r>
              <a:rPr lang="en-US" i="1" dirty="0"/>
              <a:t>way, means, manner, mode, method, methodology, mechanism, procedure, process, protocol, approach, strategy, style, tactic, technique</a:t>
            </a:r>
            <a:r>
              <a:rPr lang="en-US" i="1" dirty="0" smtClean="0"/>
              <a:t>.</a:t>
            </a:r>
          </a:p>
          <a:p>
            <a:r>
              <a:rPr lang="en-US" dirty="0"/>
              <a:t>WHAT</a:t>
            </a:r>
          </a:p>
          <a:p>
            <a:r>
              <a:rPr lang="en-US" i="1" dirty="0"/>
              <a:t>action, event, thing, message, words</a:t>
            </a:r>
          </a:p>
          <a:p>
            <a:r>
              <a:rPr lang="en-US" dirty="0"/>
              <a:t>WHEN</a:t>
            </a:r>
          </a:p>
          <a:p>
            <a:r>
              <a:rPr lang="en-US" i="1" dirty="0"/>
              <a:t>time, occurrence, date, moment, hour, day, week, occasion, point, stage, period, age, era</a:t>
            </a:r>
          </a:p>
          <a:p>
            <a:endParaRPr lang="en-US" b="1" i="1" dirty="0" smtClean="0"/>
          </a:p>
          <a:p>
            <a:endParaRPr lang="en-US" dirty="0"/>
          </a:p>
        </p:txBody>
      </p:sp>
    </p:spTree>
    <p:extLst>
      <p:ext uri="{BB962C8B-B14F-4D97-AF65-F5344CB8AC3E}">
        <p14:creationId xmlns:p14="http://schemas.microsoft.com/office/powerpoint/2010/main" val="3661901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u="sng" dirty="0"/>
              <a:t>COMMON NOUNS CORRESPONDING TO QUESTION </a:t>
            </a:r>
            <a:r>
              <a:rPr lang="en-US" sz="4000" b="1" u="sng" dirty="0" smtClean="0"/>
              <a:t>WORDS cont..</a:t>
            </a:r>
            <a:endParaRPr lang="en-US" sz="3600" dirty="0"/>
          </a:p>
        </p:txBody>
      </p:sp>
      <p:sp>
        <p:nvSpPr>
          <p:cNvPr id="3" name="Content Placeholder 2"/>
          <p:cNvSpPr>
            <a:spLocks noGrp="1"/>
          </p:cNvSpPr>
          <p:nvPr>
            <p:ph idx="1"/>
          </p:nvPr>
        </p:nvSpPr>
        <p:spPr/>
        <p:txBody>
          <a:bodyPr>
            <a:normAutofit fontScale="92500" lnSpcReduction="10000"/>
          </a:bodyPr>
          <a:lstStyle/>
          <a:p>
            <a:pPr fontAlgn="base"/>
            <a:r>
              <a:rPr lang="en-US" dirty="0" smtClean="0"/>
              <a:t>WHERE</a:t>
            </a:r>
            <a:endParaRPr lang="en-US" dirty="0"/>
          </a:p>
          <a:p>
            <a:pPr fontAlgn="base"/>
            <a:r>
              <a:rPr lang="en-US" i="1" dirty="0"/>
              <a:t>place, location, position, spot, stage, point, bearings, address, destination, source</a:t>
            </a:r>
            <a:endParaRPr lang="en-US" dirty="0"/>
          </a:p>
          <a:p>
            <a:pPr fontAlgn="base"/>
            <a:r>
              <a:rPr lang="en-US" dirty="0"/>
              <a:t>WHICH</a:t>
            </a:r>
          </a:p>
          <a:p>
            <a:pPr fontAlgn="base"/>
            <a:r>
              <a:rPr lang="en-US" i="1" dirty="0"/>
              <a:t>alternative, choice, option, possibility</a:t>
            </a:r>
            <a:endParaRPr lang="en-US" dirty="0"/>
          </a:p>
          <a:p>
            <a:pPr fontAlgn="base"/>
            <a:r>
              <a:rPr lang="en-US" dirty="0"/>
              <a:t>WHO</a:t>
            </a:r>
          </a:p>
          <a:p>
            <a:pPr fontAlgn="base"/>
            <a:r>
              <a:rPr lang="en-US" i="1" dirty="0"/>
              <a:t>identity, name, person, the ones, </a:t>
            </a:r>
            <a:r>
              <a:rPr lang="en-US" i="1" dirty="0" smtClean="0"/>
              <a:t>those</a:t>
            </a:r>
          </a:p>
          <a:p>
            <a:pPr fontAlgn="base"/>
            <a:r>
              <a:rPr lang="en-US" dirty="0"/>
              <a:t>WHY (two meanings)</a:t>
            </a:r>
          </a:p>
          <a:p>
            <a:pPr fontAlgn="base"/>
            <a:r>
              <a:rPr lang="en-US" dirty="0"/>
              <a:t>(a) </a:t>
            </a:r>
            <a:r>
              <a:rPr lang="en-US" i="1" dirty="0"/>
              <a:t>cause, determinant, explanation, factors, reason</a:t>
            </a:r>
            <a:r>
              <a:rPr lang="en-US" dirty="0"/>
              <a:t>; (b) </a:t>
            </a:r>
            <a:r>
              <a:rPr lang="en-US" i="1" dirty="0"/>
              <a:t>purpose, intention, intent, aim, motive, end, objective, desire, goal</a:t>
            </a:r>
            <a:endParaRPr lang="en-US" dirty="0"/>
          </a:p>
          <a:p>
            <a:pPr fontAlgn="base"/>
            <a:endParaRPr lang="en-US" dirty="0"/>
          </a:p>
          <a:p>
            <a:endParaRPr lang="en-US" dirty="0"/>
          </a:p>
        </p:txBody>
      </p:sp>
    </p:spTree>
    <p:extLst>
      <p:ext uri="{BB962C8B-B14F-4D97-AF65-F5344CB8AC3E}">
        <p14:creationId xmlns:p14="http://schemas.microsoft.com/office/powerpoint/2010/main" val="35525473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9052</TotalTime>
  <Words>876</Words>
  <Application>Microsoft Office PowerPoint</Application>
  <PresentationFormat>On-screen Show (4:3)</PresentationFormat>
  <Paragraphs>135</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Flow</vt:lpstr>
      <vt:lpstr>Formal Writing</vt:lpstr>
      <vt:lpstr>Written Formal English is objective</vt:lpstr>
      <vt:lpstr>Written Formal English is Cautious</vt:lpstr>
      <vt:lpstr>Hedging</vt:lpstr>
      <vt:lpstr>Hedging</vt:lpstr>
      <vt:lpstr>Written Formal English</vt:lpstr>
      <vt:lpstr>Choice of words</vt:lpstr>
      <vt:lpstr>Avoid colloquialisms and idioms</vt:lpstr>
      <vt:lpstr>Avoid phrasal verbs and idioms</vt:lpstr>
      <vt:lpstr>Avoid using the verb ‘get’</vt:lpstr>
      <vt:lpstr>Avoid the ‘not + verb’ negative form if an alternative form is available</vt:lpstr>
      <vt:lpstr>If you use the ‘not + verb’ negative form, avoid contracted forms.</vt:lpstr>
      <vt:lpstr>Be concise</vt:lpstr>
      <vt:lpstr>Be concise</vt:lpstr>
      <vt:lpstr>Use signaling words and phrases to show the structure of your writing</vt:lpstr>
      <vt:lpstr>Have a look at these examples below:</vt:lpstr>
      <vt:lpstr>PowerPoint Presentation</vt:lpstr>
      <vt:lpstr>PowerPoint Presentation</vt:lpstr>
      <vt:lpstr>Examples of signaling words </vt:lpstr>
      <vt:lpstr>Avoid Writing Questions</vt:lpstr>
      <vt:lpstr>More Examples</vt:lpstr>
      <vt:lpstr>COMMON NOUNS CORRESPONDING TO QUESTION WORDS</vt:lpstr>
      <vt:lpstr>COMMON NOUNS CORRESPONDING TO QUESTION WORDS cont..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Writing</dc:title>
  <dc:creator>naureen.zaman</dc:creator>
  <cp:lastModifiedBy>Toshiba</cp:lastModifiedBy>
  <cp:revision>49</cp:revision>
  <dcterms:created xsi:type="dcterms:W3CDTF">2017-05-11T08:10:22Z</dcterms:created>
  <dcterms:modified xsi:type="dcterms:W3CDTF">2021-04-11T16:04:16Z</dcterms:modified>
</cp:coreProperties>
</file>