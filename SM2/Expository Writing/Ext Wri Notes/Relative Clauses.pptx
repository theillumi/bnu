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258" r:id="rId2"/>
    <p:sldId id="264" r:id="rId3"/>
    <p:sldId id="268" r:id="rId4"/>
    <p:sldId id="269" r:id="rId5"/>
    <p:sldId id="270" r:id="rId6"/>
    <p:sldId id="271" r:id="rId7"/>
    <p:sldId id="272" r:id="rId8"/>
    <p:sldId id="278" r:id="rId9"/>
    <p:sldId id="273" r:id="rId10"/>
    <p:sldId id="274" r:id="rId11"/>
    <p:sldId id="275" r:id="rId12"/>
    <p:sldId id="276" r:id="rId13"/>
    <p:sldId id="277" r:id="rId14"/>
    <p:sldId id="267" r:id="rId15"/>
  </p:sldIdLst>
  <p:sldSz cx="9144000" cy="6858000" type="screen4x3"/>
  <p:notesSz cx="6858000" cy="9144000"/>
  <p:embeddedFontLst>
    <p:embeddedFont>
      <p:font typeface="Sassoon Infant Rg" panose="02000503030000020003" pitchFamily="50" charset="0"/>
      <p:regular r:id="rId18"/>
      <p:bold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Twinkl" panose="020B0604020202020204" pitchFamily="2" charset="0"/>
      <p:regular r:id="rId24"/>
      <p:bold r:id="rId25"/>
    </p:embeddedFont>
    <p:embeddedFont>
      <p:font typeface="Twinkl SemiBold" pitchFamily="2" charset="0"/>
      <p:bold r:id="rId26"/>
    </p:embeddedFont>
  </p:embeddedFont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winkl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winkl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winkl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winkl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winkl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winkl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winkl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winkl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winkl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363">
          <p15:clr>
            <a:srgbClr val="A4A3A4"/>
          </p15:clr>
        </p15:guide>
        <p15:guide id="4" orient="horz" pos="3974">
          <p15:clr>
            <a:srgbClr val="A4A3A4"/>
          </p15:clr>
        </p15:guide>
        <p15:guide id="5" pos="5420">
          <p15:clr>
            <a:srgbClr val="A4A3A4"/>
          </p15:clr>
        </p15:guide>
        <p15:guide id="6" orient="horz" pos="346">
          <p15:clr>
            <a:srgbClr val="A4A3A4"/>
          </p15:clr>
        </p15:guide>
        <p15:guide id="7" pos="476">
          <p15:clr>
            <a:srgbClr val="A4A3A4"/>
          </p15:clr>
        </p15:guide>
        <p15:guide id="8" orient="horz" pos="482">
          <p15:clr>
            <a:srgbClr val="A4A3A4"/>
          </p15:clr>
        </p15:guide>
        <p15:guide id="9" orient="horz" pos="3838">
          <p15:clr>
            <a:srgbClr val="A4A3A4"/>
          </p15:clr>
        </p15:guide>
        <p15:guide id="10" pos="5307">
          <p15:clr>
            <a:srgbClr val="A4A3A4"/>
          </p15:clr>
        </p15:guide>
        <p15:guide id="11" pos="58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DBD"/>
    <a:srgbClr val="FFABAB"/>
    <a:srgbClr val="DE1E5A"/>
    <a:srgbClr val="18A0DB"/>
    <a:srgbClr val="BC0105"/>
    <a:srgbClr val="4DB1E3"/>
    <a:srgbClr val="80C1EB"/>
    <a:srgbClr val="ACDD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3" autoAdjust="0"/>
    <p:restoredTop sz="94660"/>
  </p:normalViewPr>
  <p:slideViewPr>
    <p:cSldViewPr snapToGrid="0">
      <p:cViewPr varScale="1">
        <p:scale>
          <a:sx n="68" d="100"/>
          <a:sy n="68" d="100"/>
        </p:scale>
        <p:origin x="1072" y="48"/>
      </p:cViewPr>
      <p:guideLst>
        <p:guide orient="horz" pos="2160"/>
        <p:guide pos="2880"/>
        <p:guide pos="363"/>
        <p:guide orient="horz" pos="3974"/>
        <p:guide pos="5420"/>
        <p:guide orient="horz" pos="346"/>
        <p:guide pos="476"/>
        <p:guide orient="horz" pos="482"/>
        <p:guide orient="horz" pos="3838"/>
        <p:guide pos="5307"/>
        <p:guide pos="58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7" d="100"/>
          <a:sy n="77" d="100"/>
        </p:scale>
        <p:origin x="264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C858A4E3-CA20-4E8A-9F6B-D683906DDA95}" type="datetimeFigureOut">
              <a:rPr lang="en-GB"/>
              <a:pPr>
                <a:defRPr/>
              </a:pPr>
              <a:t>18/03/2024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87D5467-499B-4725-A7C5-97A04F6962F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E760D788-AF06-43A5-AEB6-9076E6F5A36D}" type="datetimeFigureOut">
              <a:rPr lang="en-GB"/>
              <a:pPr>
                <a:defRPr/>
              </a:pPr>
              <a:t>18/03/2024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952B1774-BC5F-492B-B560-54E513631D7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288" y="6196013"/>
            <a:ext cx="5762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8692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 userDrawn="1"/>
        </p:nvSpPr>
        <p:spPr bwMode="auto">
          <a:xfrm>
            <a:off x="457200" y="438150"/>
            <a:ext cx="8220075" cy="5957888"/>
          </a:xfrm>
          <a:prstGeom prst="roundRect">
            <a:avLst>
              <a:gd name="adj" fmla="val 2649"/>
            </a:avLst>
          </a:prstGeom>
          <a:solidFill>
            <a:schemeClr val="bg1">
              <a:alpha val="90000"/>
            </a:schemeClr>
          </a:solidFill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350" dirty="0"/>
              <a:t> </a:t>
            </a:r>
          </a:p>
        </p:txBody>
      </p:sp>
      <p:pic>
        <p:nvPicPr>
          <p:cNvPr id="3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2438" y="5734050"/>
            <a:ext cx="5762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14341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4"/>
          <p:cNvSpPr/>
          <p:nvPr userDrawn="1"/>
        </p:nvSpPr>
        <p:spPr bwMode="auto">
          <a:xfrm>
            <a:off x="457200" y="438150"/>
            <a:ext cx="8220075" cy="5957888"/>
          </a:xfrm>
          <a:prstGeom prst="roundRect">
            <a:avLst>
              <a:gd name="adj" fmla="val 2649"/>
            </a:avLst>
          </a:prstGeom>
          <a:solidFill>
            <a:schemeClr val="bg1">
              <a:alpha val="90000"/>
            </a:schemeClr>
          </a:solidFill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350" dirty="0"/>
              <a:t> </a:t>
            </a:r>
          </a:p>
        </p:txBody>
      </p:sp>
      <p:sp>
        <p:nvSpPr>
          <p:cNvPr id="8" name="Title 5"/>
          <p:cNvSpPr>
            <a:spLocks noGrp="1"/>
          </p:cNvSpPr>
          <p:nvPr>
            <p:ph type="title"/>
          </p:nvPr>
        </p:nvSpPr>
        <p:spPr>
          <a:xfrm>
            <a:off x="457198" y="478895"/>
            <a:ext cx="8220075" cy="994306"/>
          </a:xfrm>
        </p:spPr>
        <p:txBody>
          <a:bodyPr>
            <a:noAutofit/>
          </a:bodyPr>
          <a:lstStyle>
            <a:lvl1pPr>
              <a:defRPr>
                <a:latin typeface="Twinkl SemiBold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3522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m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6"/>
          <p:cNvSpPr/>
          <p:nvPr userDrawn="1"/>
        </p:nvSpPr>
        <p:spPr bwMode="auto">
          <a:xfrm>
            <a:off x="503238" y="2930525"/>
            <a:ext cx="8137525" cy="3414713"/>
          </a:xfrm>
          <a:prstGeom prst="roundRect">
            <a:avLst>
              <a:gd name="adj" fmla="val 6409"/>
            </a:avLst>
          </a:prstGeom>
          <a:solidFill>
            <a:srgbClr val="FFF9E7"/>
          </a:solidFill>
          <a:ln w="25400" cap="rnd">
            <a:solidFill>
              <a:srgbClr val="FEFB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350" dirty="0"/>
              <a:t> </a:t>
            </a:r>
          </a:p>
        </p:txBody>
      </p:sp>
      <p:sp>
        <p:nvSpPr>
          <p:cNvPr id="4" name="Rounded Rectangle 7"/>
          <p:cNvSpPr/>
          <p:nvPr userDrawn="1"/>
        </p:nvSpPr>
        <p:spPr bwMode="auto">
          <a:xfrm>
            <a:off x="503238" y="512763"/>
            <a:ext cx="8137525" cy="2192337"/>
          </a:xfrm>
          <a:prstGeom prst="roundRect">
            <a:avLst>
              <a:gd name="adj" fmla="val 6409"/>
            </a:avLst>
          </a:prstGeom>
          <a:solidFill>
            <a:srgbClr val="FFF9E7"/>
          </a:solidFill>
          <a:ln w="25400" cap="rnd">
            <a:solidFill>
              <a:srgbClr val="FEFB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350" dirty="0"/>
              <a:t> </a:t>
            </a:r>
          </a:p>
        </p:txBody>
      </p:sp>
      <p:sp>
        <p:nvSpPr>
          <p:cNvPr id="5" name="Title 1"/>
          <p:cNvSpPr txBox="1">
            <a:spLocks/>
          </p:cNvSpPr>
          <p:nvPr userDrawn="1"/>
        </p:nvSpPr>
        <p:spPr>
          <a:xfrm>
            <a:off x="628650" y="3071813"/>
            <a:ext cx="7886700" cy="539750"/>
          </a:xfrm>
          <a:prstGeom prst="rect">
            <a:avLst/>
          </a:prstGeom>
        </p:spPr>
        <p:txBody>
          <a:bodyPr lIns="0" tIns="0" rIns="0" bIns="0" anchor="ctr" anchorCtr="1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Sassoon Infant Md" panose="02000603050000020003" pitchFamily="50" charset="0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sz="3600" dirty="0">
                <a:latin typeface="Twinkl" pitchFamily="50" charset="0"/>
              </a:rPr>
              <a:t>Success Criteria</a:t>
            </a:r>
          </a:p>
        </p:txBody>
      </p:sp>
      <p:sp>
        <p:nvSpPr>
          <p:cNvPr id="6" name="Title 1"/>
          <p:cNvSpPr txBox="1">
            <a:spLocks/>
          </p:cNvSpPr>
          <p:nvPr userDrawn="1"/>
        </p:nvSpPr>
        <p:spPr>
          <a:xfrm>
            <a:off x="628650" y="735013"/>
            <a:ext cx="7886700" cy="539750"/>
          </a:xfrm>
          <a:prstGeom prst="rect">
            <a:avLst/>
          </a:prstGeom>
        </p:spPr>
        <p:txBody>
          <a:bodyPr lIns="0" tIns="0" rIns="0" bIns="0" anchor="ctr" anchorCtr="1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Sassoon Infant Md" panose="02000603050000020003" pitchFamily="50" charset="0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sz="3600" dirty="0">
                <a:latin typeface="Twinkl" pitchFamily="50" charset="0"/>
              </a:rPr>
              <a:t>Aim</a:t>
            </a:r>
          </a:p>
        </p:txBody>
      </p:sp>
      <p:sp>
        <p:nvSpPr>
          <p:cNvPr id="7" name="Content Placeholder 15"/>
          <p:cNvSpPr txBox="1">
            <a:spLocks/>
          </p:cNvSpPr>
          <p:nvPr userDrawn="1"/>
        </p:nvSpPr>
        <p:spPr>
          <a:xfrm>
            <a:off x="628650" y="3467100"/>
            <a:ext cx="7886700" cy="1409700"/>
          </a:xfrm>
          <a:prstGeom prst="rect">
            <a:avLst/>
          </a:prstGeom>
          <a:noFill/>
          <a:ln w="25400">
            <a:noFill/>
          </a:ln>
        </p:spPr>
        <p:txBody>
          <a:bodyPr lIns="180000" tIns="252000" rIns="252000" bIns="18000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GB" dirty="0">
                <a:latin typeface="Twinkl" pitchFamily="50" charset="0"/>
              </a:rPr>
              <a:t>Statement 1 Lorem ipsum </a:t>
            </a:r>
            <a:r>
              <a:rPr lang="en-GB" dirty="0" err="1">
                <a:latin typeface="Twinkl" pitchFamily="50" charset="0"/>
              </a:rPr>
              <a:t>dolor</a:t>
            </a:r>
            <a:r>
              <a:rPr lang="en-GB" dirty="0">
                <a:latin typeface="Twinkl" pitchFamily="50" charset="0"/>
              </a:rPr>
              <a:t> sit </a:t>
            </a:r>
            <a:r>
              <a:rPr lang="en-GB" dirty="0" err="1">
                <a:latin typeface="Twinkl" pitchFamily="50" charset="0"/>
              </a:rPr>
              <a:t>amet</a:t>
            </a:r>
            <a:r>
              <a:rPr lang="en-GB" dirty="0">
                <a:latin typeface="Twinkl" pitchFamily="50" charset="0"/>
              </a:rPr>
              <a:t>, </a:t>
            </a:r>
            <a:r>
              <a:rPr lang="en-GB" dirty="0" err="1">
                <a:latin typeface="Twinkl" pitchFamily="50" charset="0"/>
              </a:rPr>
              <a:t>consectetur</a:t>
            </a:r>
            <a:r>
              <a:rPr lang="en-GB" dirty="0">
                <a:latin typeface="Twinkl" pitchFamily="50" charset="0"/>
              </a:rPr>
              <a:t> </a:t>
            </a:r>
            <a:r>
              <a:rPr lang="en-GB" dirty="0" err="1">
                <a:latin typeface="Twinkl" pitchFamily="50" charset="0"/>
              </a:rPr>
              <a:t>adipiscing</a:t>
            </a:r>
            <a:r>
              <a:rPr lang="en-GB" dirty="0">
                <a:latin typeface="Twinkl" pitchFamily="50" charset="0"/>
              </a:rPr>
              <a:t> </a:t>
            </a:r>
            <a:r>
              <a:rPr lang="en-GB" dirty="0" err="1">
                <a:latin typeface="Twinkl" pitchFamily="50" charset="0"/>
              </a:rPr>
              <a:t>elit</a:t>
            </a:r>
            <a:r>
              <a:rPr lang="en-GB" dirty="0">
                <a:latin typeface="Twinkl" pitchFamily="50" charset="0"/>
              </a:rPr>
              <a:t>.</a:t>
            </a:r>
          </a:p>
          <a:p>
            <a:pPr fontAlgn="auto">
              <a:spcAft>
                <a:spcPts val="0"/>
              </a:spcAft>
              <a:defRPr/>
            </a:pPr>
            <a:r>
              <a:rPr lang="en-GB" dirty="0">
                <a:latin typeface="Twinkl" pitchFamily="50" charset="0"/>
              </a:rPr>
              <a:t>Statement 2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GB" dirty="0">
                <a:latin typeface="Twinkl" pitchFamily="50" charset="0"/>
              </a:rPr>
              <a:t>Sub statement</a:t>
            </a:r>
          </a:p>
        </p:txBody>
      </p:sp>
      <p:sp>
        <p:nvSpPr>
          <p:cNvPr id="11" name="Content Placeholder 15"/>
          <p:cNvSpPr>
            <a:spLocks noGrp="1"/>
          </p:cNvSpPr>
          <p:nvPr>
            <p:ph idx="1"/>
          </p:nvPr>
        </p:nvSpPr>
        <p:spPr>
          <a:xfrm>
            <a:off x="628650" y="1127760"/>
            <a:ext cx="7886700" cy="1409700"/>
          </a:xfrm>
        </p:spPr>
        <p:txBody>
          <a:bodyPr>
            <a:normAutofit fontScale="92500" lnSpcReduction="10000"/>
          </a:bodyPr>
          <a:lstStyle>
            <a:lvl1pPr>
              <a:defRPr>
                <a:latin typeface="Twinkl" pitchFamily="50" charset="0"/>
              </a:defRPr>
            </a:lvl1pPr>
            <a:lvl2pPr>
              <a:defRPr/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955214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288" y="6196013"/>
            <a:ext cx="5762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3710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90538" y="695325"/>
            <a:ext cx="8162925" cy="1150938"/>
          </a:xfrm>
          <a:prstGeom prst="roundRect">
            <a:avLst>
              <a:gd name="adj" fmla="val 9639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252000" tIns="252000" rIns="252000" bIns="25200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90538" y="1957388"/>
            <a:ext cx="8162925" cy="4387850"/>
          </a:xfrm>
          <a:prstGeom prst="roundRect">
            <a:avLst>
              <a:gd name="adj" fmla="val 2583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252000" tIns="252000" rIns="252000" bIns="252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b="1" kern="1200">
          <a:solidFill>
            <a:srgbClr val="1C1C1C"/>
          </a:solidFill>
          <a:latin typeface="Twinkl" pitchFamily="50" charset="0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rgbClr val="1C1C1C"/>
          </a:solidFill>
          <a:latin typeface="Twinkl" pitchFamily="2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rgbClr val="1C1C1C"/>
          </a:solidFill>
          <a:latin typeface="Twinkl" pitchFamily="2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rgbClr val="1C1C1C"/>
          </a:solidFill>
          <a:latin typeface="Twinkl" pitchFamily="2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rgbClr val="1C1C1C"/>
          </a:solidFill>
          <a:latin typeface="Twinkl" pitchFamily="2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rgbClr val="1C1C1C"/>
          </a:solidFill>
          <a:latin typeface="Twinkl" pitchFamily="2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rgbClr val="1C1C1C"/>
          </a:solidFill>
          <a:latin typeface="Twinkl" pitchFamily="2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rgbClr val="1C1C1C"/>
          </a:solidFill>
          <a:latin typeface="Twinkl" pitchFamily="2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rgbClr val="1C1C1C"/>
          </a:solidFill>
          <a:latin typeface="Twinkl" pitchFamily="2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1C1C1C"/>
          </a:solidFill>
          <a:latin typeface="Twinkl" pitchFamily="50" charset="0"/>
          <a:ea typeface="Sassoon Infant Rg" panose="02000503030000020003" pitchFamily="50" charset="0"/>
          <a:cs typeface="Sassoon Infant Rg" panose="02000503030000020003" pitchFamily="50" charset="0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rgbClr val="1C1C1C"/>
          </a:solidFill>
          <a:latin typeface="Twinkl" pitchFamily="50" charset="0"/>
          <a:ea typeface="Sassoon Infant Rg" panose="02000503030000020003" pitchFamily="50" charset="0"/>
          <a:cs typeface="Sassoon Infant Rg" panose="02000503030000020003" pitchFamily="50" charset="0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kern="1200">
          <a:solidFill>
            <a:srgbClr val="1C1C1C"/>
          </a:solidFill>
          <a:latin typeface="Twinkl" pitchFamily="50" charset="0"/>
          <a:ea typeface="Sassoon Infant Rg" panose="02000503030000020003" pitchFamily="50" charset="0"/>
          <a:cs typeface="Sassoon Infant Rg" panose="02000503030000020003" pitchFamily="50" charset="0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kern="1200">
          <a:solidFill>
            <a:srgbClr val="1C1C1C"/>
          </a:solidFill>
          <a:latin typeface="Twinkl" pitchFamily="50" charset="0"/>
          <a:ea typeface="Sassoon Infant Rg" panose="02000503030000020003" pitchFamily="50" charset="0"/>
          <a:cs typeface="Sassoon Infant Rg" panose="02000503030000020003" pitchFamily="50" charset="0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kern="1200">
          <a:solidFill>
            <a:srgbClr val="1C1C1C"/>
          </a:solidFill>
          <a:latin typeface="Twinkl" pitchFamily="50" charset="0"/>
          <a:ea typeface="Sassoon Infant Rg" panose="02000503030000020003" pitchFamily="50" charset="0"/>
          <a:cs typeface="Sassoon Infant Rg" panose="02000503030000020003" pitchFamily="5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jpe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63588" y="3787775"/>
            <a:ext cx="7624762" cy="1225550"/>
          </a:xfrm>
          <a:prstGeom prst="rect">
            <a:avLst/>
          </a:prstGeom>
          <a:solidFill>
            <a:srgbClr val="FF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763588" y="2328863"/>
            <a:ext cx="7624762" cy="12334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9220" name="Title 20"/>
          <p:cNvSpPr>
            <a:spLocks noGrp="1"/>
          </p:cNvSpPr>
          <p:nvPr>
            <p:ph type="title"/>
          </p:nvPr>
        </p:nvSpPr>
        <p:spPr>
          <a:xfrm>
            <a:off x="457200" y="479425"/>
            <a:ext cx="8220075" cy="993775"/>
          </a:xfrm>
        </p:spPr>
        <p:txBody>
          <a:bodyPr/>
          <a:lstStyle/>
          <a:p>
            <a:pPr eaLnBrk="1" hangingPunct="1"/>
            <a:r>
              <a:rPr lang="en-GB" altLang="en-US" sz="3600" smtClean="0">
                <a:latin typeface="Twinkl" pitchFamily="2" charset="0"/>
              </a:rPr>
              <a:t>Creating Relative Clause Sentences</a:t>
            </a:r>
            <a:endParaRPr lang="en-GB" altLang="en-US" sz="3600" smtClean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935038" y="1393825"/>
            <a:ext cx="7453312" cy="482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2000" rIns="0" bIns="720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600">
                <a:solidFill>
                  <a:schemeClr val="tx1"/>
                </a:solidFill>
              </a:rPr>
              <a:t>We can add extra additional detail about a noun by adding a relative clause </a:t>
            </a:r>
            <a:br>
              <a:rPr lang="en-GB" altLang="en-US" sz="1600">
                <a:solidFill>
                  <a:schemeClr val="tx1"/>
                </a:solidFill>
              </a:rPr>
            </a:br>
            <a:r>
              <a:rPr lang="en-GB" altLang="en-US" sz="1600">
                <a:solidFill>
                  <a:schemeClr val="tx1"/>
                </a:solidFill>
              </a:rPr>
              <a:t>to a sentence.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60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60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600">
                <a:solidFill>
                  <a:schemeClr val="tx1"/>
                </a:solidFill>
              </a:rPr>
              <a:t>Instead of using two single-clause (simple sentences) to </a:t>
            </a:r>
            <a:br>
              <a:rPr lang="en-GB" altLang="en-US" sz="1600">
                <a:solidFill>
                  <a:schemeClr val="tx1"/>
                </a:solidFill>
              </a:rPr>
            </a:br>
            <a:r>
              <a:rPr lang="en-GB" altLang="en-US" sz="1600">
                <a:solidFill>
                  <a:schemeClr val="tx1"/>
                </a:solidFill>
              </a:rPr>
              <a:t>describe something,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60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600" b="1">
                <a:solidFill>
                  <a:schemeClr val="tx1"/>
                </a:solidFill>
              </a:rPr>
              <a:t>e.g. Sarah is eating roast chicken. It is her favourite meal.</a:t>
            </a:r>
            <a:r>
              <a:rPr lang="en-GB" altLang="en-US" sz="1600">
                <a:solidFill>
                  <a:srgbClr val="FF0000"/>
                </a:solidFill>
              </a:rPr>
              <a:t>	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600">
                <a:solidFill>
                  <a:srgbClr val="FF0000"/>
                </a:solidFill>
              </a:rPr>
              <a:t>										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600">
                <a:solidFill>
                  <a:schemeClr val="tx1"/>
                </a:solidFill>
              </a:rPr>
              <a:t>We can combine the two sentences to make one multi-clause </a:t>
            </a:r>
            <a:br>
              <a:rPr lang="en-GB" altLang="en-US" sz="1600">
                <a:solidFill>
                  <a:schemeClr val="tx1"/>
                </a:solidFill>
              </a:rPr>
            </a:br>
            <a:r>
              <a:rPr lang="en-GB" altLang="en-US" sz="1600">
                <a:solidFill>
                  <a:schemeClr val="tx1"/>
                </a:solidFill>
              </a:rPr>
              <a:t>(complex) sentence using subordination with a relative clause.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60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600" b="1">
                <a:solidFill>
                  <a:schemeClr val="tx1"/>
                </a:solidFill>
              </a:rPr>
              <a:t>e.g. Sarah is eating spaghetti, which is her favourite meal.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600" b="1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600">
              <a:solidFill>
                <a:srgbClr val="FF0000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600">
                <a:solidFill>
                  <a:schemeClr val="tx1"/>
                </a:solidFill>
              </a:rPr>
              <a:t>A </a:t>
            </a:r>
            <a:r>
              <a:rPr lang="en-GB" altLang="en-US" sz="1600" b="1">
                <a:solidFill>
                  <a:schemeClr val="tx1"/>
                </a:solidFill>
              </a:rPr>
              <a:t>relative clause </a:t>
            </a:r>
            <a:r>
              <a:rPr lang="en-GB" altLang="en-US" sz="1600">
                <a:solidFill>
                  <a:schemeClr val="tx1"/>
                </a:solidFill>
              </a:rPr>
              <a:t>is connected to the main clause by a </a:t>
            </a:r>
            <a:r>
              <a:rPr lang="en-GB" altLang="en-US" sz="1600" b="1">
                <a:solidFill>
                  <a:schemeClr val="tx1"/>
                </a:solidFill>
              </a:rPr>
              <a:t>relative pronoun</a:t>
            </a:r>
            <a:r>
              <a:rPr lang="en-GB" altLang="en-US" sz="1600">
                <a:solidFill>
                  <a:schemeClr val="tx1"/>
                </a:solidFill>
              </a:rPr>
              <a:t>. We’ve replaced the pronoun ‘It’  in the second sentence with the </a:t>
            </a:r>
            <a:br>
              <a:rPr lang="en-GB" altLang="en-US" sz="1600">
                <a:solidFill>
                  <a:schemeClr val="tx1"/>
                </a:solidFill>
              </a:rPr>
            </a:br>
            <a:r>
              <a:rPr lang="en-GB" altLang="en-US" sz="1600" b="1">
                <a:solidFill>
                  <a:schemeClr val="tx1"/>
                </a:solidFill>
              </a:rPr>
              <a:t>relative pronoun</a:t>
            </a:r>
            <a:r>
              <a:rPr lang="en-GB" altLang="en-US" sz="1600">
                <a:solidFill>
                  <a:schemeClr val="tx1"/>
                </a:solidFill>
              </a:rPr>
              <a:t> ‘which’.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7963" y="2328863"/>
            <a:ext cx="1744662" cy="1233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5138" y="3916363"/>
            <a:ext cx="1198562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763588" y="3692525"/>
            <a:ext cx="7624762" cy="34448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2" name="Rectangle 11"/>
          <p:cNvSpPr/>
          <p:nvPr/>
        </p:nvSpPr>
        <p:spPr>
          <a:xfrm>
            <a:off x="763588" y="4183063"/>
            <a:ext cx="7624762" cy="346075"/>
          </a:xfrm>
          <a:prstGeom prst="rect">
            <a:avLst/>
          </a:prstGeom>
          <a:solidFill>
            <a:srgbClr val="FF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763588" y="4684713"/>
            <a:ext cx="7624762" cy="3444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763588" y="5149850"/>
            <a:ext cx="7624762" cy="344488"/>
          </a:xfrm>
          <a:prstGeom prst="rect">
            <a:avLst/>
          </a:prstGeom>
          <a:solidFill>
            <a:srgbClr val="FF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5" name="Rectangle 14"/>
          <p:cNvSpPr/>
          <p:nvPr/>
        </p:nvSpPr>
        <p:spPr>
          <a:xfrm>
            <a:off x="763588" y="5641975"/>
            <a:ext cx="7624762" cy="34448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0247" name="Title 20"/>
          <p:cNvSpPr>
            <a:spLocks noGrp="1"/>
          </p:cNvSpPr>
          <p:nvPr>
            <p:ph type="title"/>
          </p:nvPr>
        </p:nvSpPr>
        <p:spPr>
          <a:xfrm>
            <a:off x="457200" y="479425"/>
            <a:ext cx="8220075" cy="993775"/>
          </a:xfrm>
        </p:spPr>
        <p:txBody>
          <a:bodyPr/>
          <a:lstStyle/>
          <a:p>
            <a:pPr eaLnBrk="1" hangingPunct="1"/>
            <a:r>
              <a:rPr lang="en-GB" altLang="en-US" sz="3600" smtClean="0">
                <a:latin typeface="Twinkl" pitchFamily="2" charset="0"/>
              </a:rPr>
              <a:t>Relative Pronouns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935038" y="1473200"/>
            <a:ext cx="7453312" cy="4576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2000" rIns="0" bIns="720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600">
                <a:solidFill>
                  <a:schemeClr val="tx1"/>
                </a:solidFill>
              </a:rPr>
              <a:t>A relative clause always starts with a relative pronoun.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60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600">
                <a:solidFill>
                  <a:schemeClr val="tx1"/>
                </a:solidFill>
              </a:rPr>
              <a:t>Examples of relative pronouns are: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60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60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60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600">
              <a:solidFill>
                <a:schemeClr val="tx1"/>
              </a:solidFill>
              <a:latin typeface="Twinkl 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600">
                <a:solidFill>
                  <a:schemeClr val="tx1"/>
                </a:solidFill>
                <a:latin typeface="Twinkl "/>
              </a:rPr>
              <a:t>Can you identify the relative pronouns in these sentences?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60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600">
                <a:solidFill>
                  <a:schemeClr val="tx1"/>
                </a:solidFill>
                <a:latin typeface="Twinkl "/>
              </a:rPr>
              <a:t>We went to the new swimming pool, which has three fantastic slides.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600">
              <a:solidFill>
                <a:schemeClr val="tx1"/>
              </a:solidFill>
              <a:latin typeface="Twinkl 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600">
                <a:solidFill>
                  <a:schemeClr val="tx1"/>
                </a:solidFill>
                <a:latin typeface="Twinkl "/>
              </a:rPr>
              <a:t>Josie, who loves to play football, was picked for the county team.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600">
              <a:solidFill>
                <a:schemeClr val="tx1"/>
              </a:solidFill>
              <a:latin typeface="Twinkl 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600">
                <a:solidFill>
                  <a:schemeClr val="tx1"/>
                </a:solidFill>
                <a:latin typeface="Twinkl "/>
              </a:rPr>
              <a:t>Sadiq, whose pen had run out, put his hand up to ask for another one.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600">
              <a:solidFill>
                <a:schemeClr val="tx1"/>
              </a:solidFill>
              <a:latin typeface="Twinkl 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600">
                <a:solidFill>
                  <a:schemeClr val="tx1"/>
                </a:solidFill>
                <a:latin typeface="Twinkl "/>
              </a:rPr>
              <a:t>The boy whom you met last week is coming to visit later.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600">
              <a:solidFill>
                <a:schemeClr val="tx1"/>
              </a:solidFill>
              <a:latin typeface="Twinkl 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600">
                <a:solidFill>
                  <a:schemeClr val="tx1"/>
                </a:solidFill>
                <a:latin typeface="Twinkl "/>
              </a:rPr>
              <a:t>My Grandad caught the rabbit that had escaped.</a:t>
            </a:r>
            <a:endParaRPr lang="en-GB" altLang="en-US" sz="160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013075" y="2597150"/>
            <a:ext cx="819150" cy="3683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b="1" dirty="0"/>
              <a:t>which</a:t>
            </a:r>
            <a:endParaRPr lang="en-GB" b="1" dirty="0">
              <a:latin typeface="+mn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51338" y="2597150"/>
            <a:ext cx="627062" cy="3683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b="1" dirty="0"/>
              <a:t>who</a:t>
            </a:r>
            <a:endParaRPr lang="en-GB" b="1" dirty="0">
              <a:latin typeface="+mn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663700" y="2597150"/>
            <a:ext cx="838200" cy="3683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b="1" dirty="0"/>
              <a:t>whose</a:t>
            </a:r>
            <a:endParaRPr lang="en-GB" b="1" dirty="0">
              <a:latin typeface="+mn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502275" y="2597150"/>
            <a:ext cx="630238" cy="3683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b="1" dirty="0"/>
              <a:t>that</a:t>
            </a:r>
            <a:endParaRPr lang="en-GB" b="1" dirty="0">
              <a:latin typeface="+mn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646863" y="2597150"/>
            <a:ext cx="823912" cy="3683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b="1" dirty="0"/>
              <a:t>whom</a:t>
            </a:r>
            <a:endParaRPr lang="en-GB" b="1" dirty="0">
              <a:latin typeface="+mn-lt"/>
            </a:endParaRPr>
          </a:p>
        </p:txBody>
      </p:sp>
      <p:pic>
        <p:nvPicPr>
          <p:cNvPr id="10254" name="Pictur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3725" y="776288"/>
            <a:ext cx="1444625" cy="1306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Oval 18"/>
          <p:cNvSpPr/>
          <p:nvPr/>
        </p:nvSpPr>
        <p:spPr>
          <a:xfrm>
            <a:off x="4229100" y="3692525"/>
            <a:ext cx="685800" cy="344488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22" name="Oval 21"/>
          <p:cNvSpPr/>
          <p:nvPr/>
        </p:nvSpPr>
        <p:spPr>
          <a:xfrm>
            <a:off x="1425575" y="4183063"/>
            <a:ext cx="498475" cy="33020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23" name="Oval 22"/>
          <p:cNvSpPr/>
          <p:nvPr/>
        </p:nvSpPr>
        <p:spPr>
          <a:xfrm>
            <a:off x="1501775" y="4684713"/>
            <a:ext cx="660400" cy="32385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24" name="Oval 23"/>
          <p:cNvSpPr/>
          <p:nvPr/>
        </p:nvSpPr>
        <p:spPr>
          <a:xfrm>
            <a:off x="1644650" y="5159375"/>
            <a:ext cx="660400" cy="334963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25" name="Oval 24"/>
          <p:cNvSpPr/>
          <p:nvPr/>
        </p:nvSpPr>
        <p:spPr>
          <a:xfrm>
            <a:off x="3705225" y="5635625"/>
            <a:ext cx="457200" cy="334963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2" grpId="0" animBg="1"/>
      <p:bldP spid="6" grpId="0" animBg="1"/>
      <p:bldP spid="7" grpId="0" animBg="1"/>
      <p:bldP spid="8" grpId="0" animBg="1"/>
      <p:bldP spid="9" grpId="0" animBg="1"/>
      <p:bldP spid="19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763588" y="2105025"/>
            <a:ext cx="7624762" cy="344488"/>
          </a:xfrm>
          <a:prstGeom prst="rect">
            <a:avLst/>
          </a:prstGeom>
          <a:solidFill>
            <a:srgbClr val="FF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763588" y="2562225"/>
            <a:ext cx="7624762" cy="34448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2" name="Rectangle 11"/>
          <p:cNvSpPr/>
          <p:nvPr/>
        </p:nvSpPr>
        <p:spPr>
          <a:xfrm>
            <a:off x="763588" y="3006725"/>
            <a:ext cx="7624762" cy="393700"/>
          </a:xfrm>
          <a:prstGeom prst="rect">
            <a:avLst/>
          </a:prstGeom>
          <a:solidFill>
            <a:srgbClr val="FF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763588" y="3509963"/>
            <a:ext cx="7624762" cy="3444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763588" y="3984625"/>
            <a:ext cx="7624762" cy="344488"/>
          </a:xfrm>
          <a:prstGeom prst="rect">
            <a:avLst/>
          </a:prstGeom>
          <a:solidFill>
            <a:srgbClr val="FF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1271" name="Title 20"/>
          <p:cNvSpPr>
            <a:spLocks noGrp="1"/>
          </p:cNvSpPr>
          <p:nvPr>
            <p:ph type="title"/>
          </p:nvPr>
        </p:nvSpPr>
        <p:spPr>
          <a:xfrm>
            <a:off x="457200" y="479425"/>
            <a:ext cx="8220075" cy="993775"/>
          </a:xfrm>
        </p:spPr>
        <p:txBody>
          <a:bodyPr/>
          <a:lstStyle/>
          <a:p>
            <a:pPr eaLnBrk="1" hangingPunct="1"/>
            <a:r>
              <a:rPr lang="en-GB" altLang="en-US" sz="3200" smtClean="0">
                <a:latin typeface="Twinkl" pitchFamily="2" charset="0"/>
              </a:rPr>
              <a:t>Where Can a Relative Clause Be Placed?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935038" y="1473200"/>
            <a:ext cx="7453312" cy="391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2000" rIns="0" bIns="720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600">
                <a:solidFill>
                  <a:schemeClr val="tx1"/>
                </a:solidFill>
              </a:rPr>
              <a:t>Where in these sentences are the relative clauses placed? How do you know?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100">
              <a:solidFill>
                <a:srgbClr val="FF0000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100">
              <a:solidFill>
                <a:srgbClr val="FF0000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600">
                <a:solidFill>
                  <a:schemeClr val="tx1"/>
                </a:solidFill>
              </a:rPr>
              <a:t>The class were well-behaved on the school trip, which made their teacher proud.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60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600">
                <a:solidFill>
                  <a:schemeClr val="tx1"/>
                </a:solidFill>
              </a:rPr>
              <a:t>William, who was wearing his favourite shirt, was going to the school disco.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60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400">
                <a:solidFill>
                  <a:schemeClr val="tx1"/>
                </a:solidFill>
              </a:rPr>
              <a:t>I go to a swimming club early in the morning, which means that I’m tired by the afternoon.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60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600">
                <a:solidFill>
                  <a:schemeClr val="tx1"/>
                </a:solidFill>
              </a:rPr>
              <a:t>Have you seen the people whom we met yesterday at the park?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60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600">
                <a:solidFill>
                  <a:schemeClr val="tx1"/>
                </a:solidFill>
              </a:rPr>
              <a:t>Amir found the missing cat that his neighbour had lost.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10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10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10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600">
                <a:solidFill>
                  <a:schemeClr val="tx1"/>
                </a:solidFill>
              </a:rPr>
              <a:t>Relative clauses can be in the middle of a </a:t>
            </a:r>
            <a:br>
              <a:rPr lang="en-GB" altLang="en-US" sz="1600">
                <a:solidFill>
                  <a:schemeClr val="tx1"/>
                </a:solidFill>
              </a:rPr>
            </a:br>
            <a:r>
              <a:rPr lang="en-GB" altLang="en-US" sz="1600">
                <a:solidFill>
                  <a:schemeClr val="tx1"/>
                </a:solidFill>
              </a:rPr>
              <a:t>sentence (embedded) or at the end of a sentence. </a:t>
            </a:r>
          </a:p>
        </p:txBody>
      </p:sp>
      <p:pic>
        <p:nvPicPr>
          <p:cNvPr id="11273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460"/>
          <a:stretch>
            <a:fillRect/>
          </a:stretch>
        </p:blipFill>
        <p:spPr bwMode="auto">
          <a:xfrm>
            <a:off x="5845175" y="4787900"/>
            <a:ext cx="2073275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Oval 19"/>
          <p:cNvSpPr/>
          <p:nvPr/>
        </p:nvSpPr>
        <p:spPr>
          <a:xfrm>
            <a:off x="1679575" y="2555875"/>
            <a:ext cx="3448050" cy="34925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8" name="Oval 17"/>
          <p:cNvSpPr/>
          <p:nvPr/>
        </p:nvSpPr>
        <p:spPr>
          <a:xfrm>
            <a:off x="5127625" y="2084388"/>
            <a:ext cx="3203575" cy="352425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22" name="Oval 21"/>
          <p:cNvSpPr/>
          <p:nvPr/>
        </p:nvSpPr>
        <p:spPr>
          <a:xfrm>
            <a:off x="4576763" y="3014663"/>
            <a:ext cx="3811587" cy="385762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23" name="Oval 22"/>
          <p:cNvSpPr/>
          <p:nvPr/>
        </p:nvSpPr>
        <p:spPr>
          <a:xfrm>
            <a:off x="3213100" y="3492500"/>
            <a:ext cx="3597275" cy="385763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24" name="Oval 23"/>
          <p:cNvSpPr/>
          <p:nvPr/>
        </p:nvSpPr>
        <p:spPr>
          <a:xfrm>
            <a:off x="3346450" y="3983038"/>
            <a:ext cx="2816225" cy="371475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20" grpId="0" animBg="1"/>
      <p:bldP spid="18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20"/>
          <p:cNvSpPr>
            <a:spLocks noGrp="1"/>
          </p:cNvSpPr>
          <p:nvPr>
            <p:ph type="title"/>
          </p:nvPr>
        </p:nvSpPr>
        <p:spPr>
          <a:xfrm>
            <a:off x="457200" y="479425"/>
            <a:ext cx="8220075" cy="993775"/>
          </a:xfrm>
        </p:spPr>
        <p:txBody>
          <a:bodyPr/>
          <a:lstStyle/>
          <a:p>
            <a:pPr eaLnBrk="1" hangingPunct="1"/>
            <a:r>
              <a:rPr lang="en-GB" altLang="en-US" sz="3200" smtClean="0">
                <a:latin typeface="Twinkl" pitchFamily="2" charset="0"/>
              </a:rPr>
              <a:t>Creating Relative Clauses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935038" y="1473200"/>
            <a:ext cx="7453312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2000" rIns="0" bIns="720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600">
                <a:solidFill>
                  <a:schemeClr val="tx1"/>
                </a:solidFill>
              </a:rPr>
              <a:t>Write sentences about the following pictures and include an embedded relative clause: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800" y="2238375"/>
            <a:ext cx="2709863" cy="2620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875" y="2235200"/>
            <a:ext cx="3937000" cy="262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1031875" y="4273550"/>
            <a:ext cx="3937000" cy="58578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>
                <a:latin typeface="Twinkl "/>
              </a:rPr>
              <a:t>The children, </a:t>
            </a:r>
            <a:r>
              <a:rPr lang="en-GB" sz="1600" b="1" dirty="0">
                <a:latin typeface="Twinkl "/>
              </a:rPr>
              <a:t>who all wore helmets</a:t>
            </a:r>
            <a:r>
              <a:rPr lang="en-GB" sz="1600" dirty="0">
                <a:latin typeface="Twinkl "/>
              </a:rPr>
              <a:t>, were excited about their cycling trip.</a:t>
            </a:r>
          </a:p>
        </p:txBody>
      </p:sp>
      <p:sp>
        <p:nvSpPr>
          <p:cNvPr id="8" name="Rectangle 7"/>
          <p:cNvSpPr/>
          <p:nvPr/>
        </p:nvSpPr>
        <p:spPr>
          <a:xfrm>
            <a:off x="5384800" y="4027488"/>
            <a:ext cx="2709863" cy="8318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>
                <a:latin typeface="Twinkl "/>
              </a:rPr>
              <a:t>My cat, </a:t>
            </a:r>
            <a:r>
              <a:rPr lang="en-GB" sz="1600" b="1" dirty="0">
                <a:latin typeface="Twinkl "/>
              </a:rPr>
              <a:t>which was black and white</a:t>
            </a:r>
            <a:r>
              <a:rPr lang="en-GB" sz="1600" dirty="0">
                <a:latin typeface="Twinkl "/>
              </a:rPr>
              <a:t>, got stuck </a:t>
            </a:r>
            <a:br>
              <a:rPr lang="en-GB" sz="1600" dirty="0">
                <a:latin typeface="Twinkl "/>
              </a:rPr>
            </a:br>
            <a:r>
              <a:rPr lang="en-GB" sz="1600" dirty="0">
                <a:latin typeface="Twinkl "/>
              </a:rPr>
              <a:t>up a tree.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63588" y="3889375"/>
            <a:ext cx="7624762" cy="1741488"/>
          </a:xfrm>
          <a:prstGeom prst="rect">
            <a:avLst/>
          </a:prstGeom>
          <a:solidFill>
            <a:srgbClr val="FF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763588" y="1685925"/>
            <a:ext cx="6569075" cy="17430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3316" name="Title 20"/>
          <p:cNvSpPr>
            <a:spLocks noGrp="1"/>
          </p:cNvSpPr>
          <p:nvPr>
            <p:ph type="title"/>
          </p:nvPr>
        </p:nvSpPr>
        <p:spPr>
          <a:xfrm>
            <a:off x="457200" y="479425"/>
            <a:ext cx="8220075" cy="993775"/>
          </a:xfrm>
        </p:spPr>
        <p:txBody>
          <a:bodyPr/>
          <a:lstStyle/>
          <a:p>
            <a:pPr eaLnBrk="1" hangingPunct="1"/>
            <a:r>
              <a:rPr lang="en-GB" altLang="en-US" sz="3200" smtClean="0">
                <a:latin typeface="Twinkl" pitchFamily="2" charset="0"/>
              </a:rPr>
              <a:t>Is the Information Essential?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935038" y="1503363"/>
            <a:ext cx="5181600" cy="408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2000" rIns="0" bIns="720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60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600">
                <a:solidFill>
                  <a:schemeClr val="tx1"/>
                </a:solidFill>
                <a:latin typeface="Twinkl "/>
              </a:rPr>
              <a:t>Josie</a:t>
            </a:r>
            <a:r>
              <a:rPr lang="en-GB" altLang="en-US" sz="1600" b="1">
                <a:solidFill>
                  <a:schemeClr val="tx1"/>
                </a:solidFill>
                <a:latin typeface="Twinkl "/>
              </a:rPr>
              <a:t>, who loves to play football, </a:t>
            </a:r>
            <a:r>
              <a:rPr lang="en-GB" altLang="en-US" sz="1600">
                <a:solidFill>
                  <a:schemeClr val="tx1"/>
                </a:solidFill>
                <a:latin typeface="Twinkl "/>
              </a:rPr>
              <a:t>was picked for the county team.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60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600">
                <a:solidFill>
                  <a:schemeClr val="tx1"/>
                </a:solidFill>
              </a:rPr>
              <a:t>The information given in this relative clause is extra, non-essential (or </a:t>
            </a:r>
            <a:r>
              <a:rPr lang="en-GB" altLang="en-US" sz="1600" b="1">
                <a:solidFill>
                  <a:schemeClr val="tx1"/>
                </a:solidFill>
              </a:rPr>
              <a:t>non-restrictive</a:t>
            </a:r>
            <a:r>
              <a:rPr lang="en-GB" altLang="en-US" sz="1600">
                <a:solidFill>
                  <a:schemeClr val="tx1"/>
                </a:solidFill>
              </a:rPr>
              <a:t>) information which means that we use commas around the relative clause.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60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60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60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600">
                <a:solidFill>
                  <a:schemeClr val="tx1"/>
                </a:solidFill>
              </a:rPr>
              <a:t>Amir found the missing cat </a:t>
            </a:r>
            <a:r>
              <a:rPr lang="en-GB" altLang="en-US" sz="1600" b="1">
                <a:solidFill>
                  <a:schemeClr val="tx1"/>
                </a:solidFill>
              </a:rPr>
              <a:t>that his neighbour had lost</a:t>
            </a:r>
            <a:r>
              <a:rPr lang="en-GB" altLang="en-US" sz="1600">
                <a:solidFill>
                  <a:schemeClr val="tx1"/>
                </a:solidFill>
              </a:rPr>
              <a:t>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60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600">
                <a:solidFill>
                  <a:schemeClr val="tx1"/>
                </a:solidFill>
              </a:rPr>
              <a:t>In this sentence the relative clause contains essential (or </a:t>
            </a:r>
            <a:r>
              <a:rPr lang="en-GB" altLang="en-US" sz="1600" b="1">
                <a:solidFill>
                  <a:schemeClr val="tx1"/>
                </a:solidFill>
              </a:rPr>
              <a:t>restrictive</a:t>
            </a:r>
            <a:r>
              <a:rPr lang="en-GB" altLang="en-US" sz="1600">
                <a:solidFill>
                  <a:schemeClr val="tx1"/>
                </a:solidFill>
              </a:rPr>
              <a:t>) information so the commas have been omitted – there might be lots of cats but this was the missing cat that belonged to Amir’s neighbour.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9650" y="1309688"/>
            <a:ext cx="1062038" cy="203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413" b="8662"/>
          <a:stretch>
            <a:fillRect/>
          </a:stretch>
        </p:blipFill>
        <p:spPr bwMode="auto">
          <a:xfrm>
            <a:off x="6329363" y="3686175"/>
            <a:ext cx="2058987" cy="194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55650" y="3252788"/>
            <a:ext cx="7632700" cy="9112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763588" y="2328863"/>
            <a:ext cx="7624762" cy="600075"/>
          </a:xfrm>
          <a:prstGeom prst="rect">
            <a:avLst/>
          </a:prstGeom>
          <a:solidFill>
            <a:srgbClr val="FF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755650" y="4497388"/>
            <a:ext cx="7632700" cy="660400"/>
          </a:xfrm>
          <a:prstGeom prst="rect">
            <a:avLst/>
          </a:prstGeom>
          <a:solidFill>
            <a:srgbClr val="FF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4341" name="Title 20"/>
          <p:cNvSpPr>
            <a:spLocks noGrp="1"/>
          </p:cNvSpPr>
          <p:nvPr>
            <p:ph type="title"/>
          </p:nvPr>
        </p:nvSpPr>
        <p:spPr>
          <a:xfrm>
            <a:off x="457200" y="479425"/>
            <a:ext cx="8220075" cy="993775"/>
          </a:xfrm>
        </p:spPr>
        <p:txBody>
          <a:bodyPr/>
          <a:lstStyle/>
          <a:p>
            <a:pPr eaLnBrk="1" hangingPunct="1"/>
            <a:r>
              <a:rPr lang="en-GB" altLang="en-US" sz="3200" smtClean="0">
                <a:latin typeface="Twinkl" pitchFamily="2" charset="0"/>
              </a:rPr>
              <a:t>Is the Information Essential?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935038" y="1473200"/>
            <a:ext cx="7453312" cy="393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2000" rIns="0" bIns="720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600">
                <a:solidFill>
                  <a:schemeClr val="tx1"/>
                </a:solidFill>
              </a:rPr>
              <a:t>Decide whether these relative clauses are </a:t>
            </a:r>
            <a:r>
              <a:rPr lang="en-GB" altLang="en-US" sz="1600" b="1">
                <a:solidFill>
                  <a:schemeClr val="tx1"/>
                </a:solidFill>
              </a:rPr>
              <a:t>restrictive</a:t>
            </a:r>
            <a:r>
              <a:rPr lang="en-GB" altLang="en-US" sz="1600">
                <a:solidFill>
                  <a:schemeClr val="tx1"/>
                </a:solidFill>
              </a:rPr>
              <a:t> or </a:t>
            </a:r>
            <a:r>
              <a:rPr lang="en-GB" altLang="en-US" sz="1600" b="1">
                <a:solidFill>
                  <a:schemeClr val="tx1"/>
                </a:solidFill>
              </a:rPr>
              <a:t>non-restrictive.</a:t>
            </a:r>
            <a:r>
              <a:rPr lang="en-GB" altLang="en-US" sz="1600">
                <a:solidFill>
                  <a:schemeClr val="tx1"/>
                </a:solidFill>
              </a:rPr>
              <a:t>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600">
                <a:solidFill>
                  <a:schemeClr val="tx1"/>
                </a:solidFill>
              </a:rPr>
              <a:t>Add commas where you need them:</a:t>
            </a:r>
            <a:endParaRPr lang="en-GB" altLang="en-US" sz="1100">
              <a:solidFill>
                <a:srgbClr val="FF0000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100">
              <a:solidFill>
                <a:srgbClr val="FF0000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100">
              <a:solidFill>
                <a:srgbClr val="FF0000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600">
                <a:solidFill>
                  <a:schemeClr val="tx1"/>
                </a:solidFill>
              </a:rPr>
              <a:t>Jamie  who is usually late  managed to arrive on </a:t>
            </a:r>
            <a:br>
              <a:rPr lang="en-GB" altLang="en-US" sz="1600">
                <a:solidFill>
                  <a:schemeClr val="tx1"/>
                </a:solidFill>
              </a:rPr>
            </a:br>
            <a:r>
              <a:rPr lang="en-GB" altLang="en-US" sz="1600">
                <a:solidFill>
                  <a:schemeClr val="tx1"/>
                </a:solidFill>
              </a:rPr>
              <a:t>time for school today.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60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60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600">
                <a:solidFill>
                  <a:schemeClr val="tx1"/>
                </a:solidFill>
              </a:rPr>
              <a:t>We went to the best adventure playground  which </a:t>
            </a:r>
            <a:br>
              <a:rPr lang="en-GB" altLang="en-US" sz="1600">
                <a:solidFill>
                  <a:schemeClr val="tx1"/>
                </a:solidFill>
              </a:rPr>
            </a:br>
            <a:r>
              <a:rPr lang="en-GB" altLang="en-US" sz="1600">
                <a:solidFill>
                  <a:schemeClr val="tx1"/>
                </a:solidFill>
              </a:rPr>
              <a:t>had a huge climbing wall  while we were on holiday </a:t>
            </a:r>
            <a:br>
              <a:rPr lang="en-GB" altLang="en-US" sz="1600">
                <a:solidFill>
                  <a:schemeClr val="tx1"/>
                </a:solidFill>
              </a:rPr>
            </a:br>
            <a:r>
              <a:rPr lang="en-GB" altLang="en-US" sz="1600">
                <a:solidFill>
                  <a:schemeClr val="tx1"/>
                </a:solidFill>
              </a:rPr>
              <a:t>last week.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60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60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600">
                <a:solidFill>
                  <a:schemeClr val="tx1"/>
                </a:solidFill>
              </a:rPr>
              <a:t>The children did well in the dance show  which made </a:t>
            </a:r>
            <a:br>
              <a:rPr lang="en-GB" altLang="en-US" sz="1600">
                <a:solidFill>
                  <a:schemeClr val="tx1"/>
                </a:solidFill>
              </a:rPr>
            </a:br>
            <a:r>
              <a:rPr lang="en-GB" altLang="en-US" sz="1600">
                <a:solidFill>
                  <a:schemeClr val="tx1"/>
                </a:solidFill>
              </a:rPr>
              <a:t>their teacher happy.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60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6269038" y="2430463"/>
            <a:ext cx="17986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chemeClr val="tx1"/>
                </a:solidFill>
              </a:rPr>
              <a:t>non-restrictive.</a:t>
            </a:r>
            <a:endParaRPr lang="en-GB" altLang="en-US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6269038" y="3535363"/>
            <a:ext cx="17986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chemeClr val="tx1"/>
                </a:solidFill>
              </a:rPr>
              <a:t>non-restrictive.</a:t>
            </a:r>
            <a:endParaRPr lang="en-GB" altLang="en-US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6269038" y="4640263"/>
            <a:ext cx="17986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chemeClr val="tx1"/>
                </a:solidFill>
              </a:rPr>
              <a:t>non-restrictive.</a:t>
            </a:r>
            <a:endParaRPr lang="en-GB" altLang="en-US">
              <a:solidFill>
                <a:schemeClr val="tx1"/>
              </a:solidFill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384300" y="2290763"/>
            <a:ext cx="2508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chemeClr val="tx1"/>
                </a:solidFill>
              </a:rPr>
              <a:t>,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3224213" y="2290763"/>
            <a:ext cx="2524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chemeClr val="tx1"/>
                </a:solidFill>
              </a:rPr>
              <a:t>,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4695825" y="3254375"/>
            <a:ext cx="2524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chemeClr val="tx1"/>
                </a:solidFill>
              </a:rPr>
              <a:t>,</a:t>
            </a: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3163888" y="3508375"/>
            <a:ext cx="2524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chemeClr val="tx1"/>
                </a:solidFill>
              </a:rPr>
              <a:t>,</a:t>
            </a: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4449763" y="4487863"/>
            <a:ext cx="2524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chemeClr val="tx1"/>
                </a:solidFill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3" grpId="0"/>
      <p:bldP spid="15" grpId="0"/>
      <p:bldP spid="16" grpId="0"/>
      <p:bldP spid="2" grpId="0"/>
      <p:bldP spid="11" grpId="0"/>
      <p:bldP spid="12" grpId="0"/>
      <p:bldP spid="17" grpId="0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63588" y="3035300"/>
            <a:ext cx="7624762" cy="63976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763588" y="2320925"/>
            <a:ext cx="7624762" cy="327025"/>
          </a:xfrm>
          <a:prstGeom prst="rect">
            <a:avLst/>
          </a:prstGeom>
          <a:solidFill>
            <a:srgbClr val="FF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763588" y="4043363"/>
            <a:ext cx="7624762" cy="328612"/>
          </a:xfrm>
          <a:prstGeom prst="rect">
            <a:avLst/>
          </a:prstGeom>
          <a:solidFill>
            <a:srgbClr val="FF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5365" name="Title 20"/>
          <p:cNvSpPr>
            <a:spLocks noGrp="1"/>
          </p:cNvSpPr>
          <p:nvPr>
            <p:ph type="title"/>
          </p:nvPr>
        </p:nvSpPr>
        <p:spPr>
          <a:xfrm>
            <a:off x="457200" y="479425"/>
            <a:ext cx="8220075" cy="993775"/>
          </a:xfrm>
        </p:spPr>
        <p:txBody>
          <a:bodyPr/>
          <a:lstStyle/>
          <a:p>
            <a:pPr eaLnBrk="1" hangingPunct="1"/>
            <a:r>
              <a:rPr lang="en-GB" altLang="en-US" sz="3200" smtClean="0">
                <a:latin typeface="Twinkl" pitchFamily="2" charset="0"/>
              </a:rPr>
              <a:t>Is the Information Essential?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935038" y="1473200"/>
            <a:ext cx="7453312" cy="294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2000" rIns="0" bIns="720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600">
                <a:solidFill>
                  <a:schemeClr val="tx1"/>
                </a:solidFill>
              </a:rPr>
              <a:t>Decide whether these relative clauses are </a:t>
            </a:r>
            <a:r>
              <a:rPr lang="en-GB" altLang="en-US" sz="1600" b="1">
                <a:solidFill>
                  <a:schemeClr val="tx1"/>
                </a:solidFill>
              </a:rPr>
              <a:t>restrictive</a:t>
            </a:r>
            <a:r>
              <a:rPr lang="en-GB" altLang="en-US" sz="1600">
                <a:solidFill>
                  <a:schemeClr val="tx1"/>
                </a:solidFill>
              </a:rPr>
              <a:t> or </a:t>
            </a:r>
            <a:r>
              <a:rPr lang="en-GB" altLang="en-US" sz="1600" b="1">
                <a:solidFill>
                  <a:schemeClr val="tx1"/>
                </a:solidFill>
              </a:rPr>
              <a:t>non-restrictive.</a:t>
            </a:r>
            <a:r>
              <a:rPr lang="en-GB" altLang="en-US" sz="1600">
                <a:solidFill>
                  <a:schemeClr val="tx1"/>
                </a:solidFill>
              </a:rPr>
              <a:t>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600">
                <a:solidFill>
                  <a:schemeClr val="tx1"/>
                </a:solidFill>
              </a:rPr>
              <a:t>Add commas where you need them:</a:t>
            </a:r>
            <a:endParaRPr lang="en-GB" altLang="en-US" sz="1100">
              <a:solidFill>
                <a:srgbClr val="FF0000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100">
              <a:solidFill>
                <a:srgbClr val="FF0000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100">
              <a:solidFill>
                <a:srgbClr val="FF0000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600">
                <a:solidFill>
                  <a:schemeClr val="tx1"/>
                </a:solidFill>
              </a:rPr>
              <a:t>The prize that I won was a very special signed book.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60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60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600">
                <a:solidFill>
                  <a:schemeClr val="tx1"/>
                </a:solidFill>
              </a:rPr>
              <a:t>Mia</a:t>
            </a:r>
            <a:r>
              <a:rPr lang="en-GB" altLang="en-US" sz="1600" b="1">
                <a:solidFill>
                  <a:schemeClr val="tx1"/>
                </a:solidFill>
              </a:rPr>
              <a:t> </a:t>
            </a:r>
            <a:r>
              <a:rPr lang="en-GB" altLang="en-US" sz="1600">
                <a:solidFill>
                  <a:schemeClr val="tx1"/>
                </a:solidFill>
              </a:rPr>
              <a:t> whose favourite colour is orange</a:t>
            </a:r>
            <a:r>
              <a:rPr lang="en-GB" altLang="en-US" sz="1600" b="1">
                <a:solidFill>
                  <a:schemeClr val="tx1"/>
                </a:solidFill>
              </a:rPr>
              <a:t> </a:t>
            </a:r>
            <a:r>
              <a:rPr lang="en-GB" altLang="en-US" sz="1600">
                <a:solidFill>
                  <a:schemeClr val="tx1"/>
                </a:solidFill>
              </a:rPr>
              <a:t> was unhappy </a:t>
            </a:r>
            <a:br>
              <a:rPr lang="en-GB" altLang="en-US" sz="1600">
                <a:solidFill>
                  <a:schemeClr val="tx1"/>
                </a:solidFill>
              </a:rPr>
            </a:br>
            <a:r>
              <a:rPr lang="en-GB" altLang="en-US" sz="1600">
                <a:solidFill>
                  <a:schemeClr val="tx1"/>
                </a:solidFill>
              </a:rPr>
              <a:t>to be in the green team for Sports’ Day.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60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60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600">
                <a:solidFill>
                  <a:schemeClr val="tx1"/>
                </a:solidFill>
              </a:rPr>
              <a:t>Those are the dogs that ran on the grass.</a:t>
            </a:r>
          </a:p>
        </p:txBody>
      </p:sp>
      <p:grpSp>
        <p:nvGrpSpPr>
          <p:cNvPr id="20" name="Group 19"/>
          <p:cNvGrpSpPr>
            <a:grpSpLocks/>
          </p:cNvGrpSpPr>
          <p:nvPr/>
        </p:nvGrpSpPr>
        <p:grpSpPr bwMode="auto">
          <a:xfrm>
            <a:off x="763588" y="4722813"/>
            <a:ext cx="7624762" cy="1370012"/>
            <a:chOff x="764276" y="4723446"/>
            <a:chExt cx="7624074" cy="1369379"/>
          </a:xfrm>
        </p:grpSpPr>
        <p:pic>
          <p:nvPicPr>
            <p:cNvPr id="15373" name="Picture 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4969"/>
            <a:stretch>
              <a:fillRect/>
            </a:stretch>
          </p:blipFill>
          <p:spPr bwMode="auto">
            <a:xfrm>
              <a:off x="764276" y="5004294"/>
              <a:ext cx="7624074" cy="10885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374" name="Picture 1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05510" y="4723446"/>
              <a:ext cx="1285336" cy="1231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375" name="Picture 13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41012" y="4805646"/>
              <a:ext cx="1820173" cy="9250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376" name="Picture 1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73146" y="5008164"/>
              <a:ext cx="1207281" cy="5170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377" name="Picture 18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68835" y="5266680"/>
              <a:ext cx="741858" cy="7418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6269038" y="2295525"/>
            <a:ext cx="13223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chemeClr val="tx1"/>
                </a:solidFill>
              </a:rPr>
              <a:t>restrictive.</a:t>
            </a:r>
            <a:endParaRPr lang="en-GB" altLang="en-US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6269038" y="3167063"/>
            <a:ext cx="17986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chemeClr val="tx1"/>
                </a:solidFill>
              </a:rPr>
              <a:t>non-restrictive.</a:t>
            </a:r>
            <a:endParaRPr lang="en-GB" altLang="en-US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6269038" y="4021138"/>
            <a:ext cx="13223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chemeClr val="tx1"/>
                </a:solidFill>
              </a:rPr>
              <a:t>restrictive.</a:t>
            </a:r>
            <a:endParaRPr lang="en-GB" altLang="en-US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1193800" y="3032125"/>
            <a:ext cx="2524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chemeClr val="tx1"/>
                </a:solidFill>
              </a:rPr>
              <a:t>,</a:t>
            </a: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4238625" y="3033713"/>
            <a:ext cx="2524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chemeClr val="tx1"/>
                </a:solidFill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22" grpId="0"/>
      <p:bldP spid="23" grpId="0"/>
      <p:bldP spid="24" grpId="0"/>
      <p:bldP spid="16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763588" y="4879975"/>
            <a:ext cx="5559425" cy="396875"/>
          </a:xfrm>
          <a:prstGeom prst="rect">
            <a:avLst/>
          </a:prstGeom>
          <a:solidFill>
            <a:srgbClr val="FF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763588" y="5354638"/>
            <a:ext cx="5326062" cy="396875"/>
          </a:xfrm>
          <a:prstGeom prst="rect">
            <a:avLst/>
          </a:prstGeom>
          <a:solidFill>
            <a:srgbClr val="FF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763588" y="4403725"/>
            <a:ext cx="4549775" cy="396875"/>
          </a:xfrm>
          <a:prstGeom prst="rect">
            <a:avLst/>
          </a:prstGeom>
          <a:solidFill>
            <a:srgbClr val="FF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763588" y="3175000"/>
            <a:ext cx="5076825" cy="3968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4" name="Rectangle 3"/>
          <p:cNvSpPr/>
          <p:nvPr/>
        </p:nvSpPr>
        <p:spPr>
          <a:xfrm>
            <a:off x="763588" y="2208213"/>
            <a:ext cx="5775325" cy="3968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6391" name="Title 20"/>
          <p:cNvSpPr>
            <a:spLocks noGrp="1"/>
          </p:cNvSpPr>
          <p:nvPr>
            <p:ph type="title"/>
          </p:nvPr>
        </p:nvSpPr>
        <p:spPr>
          <a:xfrm>
            <a:off x="457200" y="479425"/>
            <a:ext cx="8220075" cy="993775"/>
          </a:xfrm>
        </p:spPr>
        <p:txBody>
          <a:bodyPr/>
          <a:lstStyle/>
          <a:p>
            <a:pPr eaLnBrk="1" hangingPunct="1"/>
            <a:r>
              <a:rPr lang="en-GB" altLang="en-US" sz="3200" smtClean="0">
                <a:latin typeface="Twinkl" pitchFamily="2" charset="0"/>
              </a:rPr>
              <a:t>Do I Need a Relative Pronoun?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935038" y="1473200"/>
            <a:ext cx="7453312" cy="433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2000" rIns="0" bIns="720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600">
                <a:solidFill>
                  <a:schemeClr val="tx1"/>
                </a:solidFill>
              </a:rPr>
              <a:t>In a </a:t>
            </a:r>
            <a:r>
              <a:rPr lang="en-GB" altLang="en-US" sz="1600" b="1">
                <a:solidFill>
                  <a:schemeClr val="tx1"/>
                </a:solidFill>
              </a:rPr>
              <a:t>restrictive relative clause </a:t>
            </a:r>
            <a:r>
              <a:rPr lang="en-GB" altLang="en-US" sz="1600">
                <a:solidFill>
                  <a:schemeClr val="tx1"/>
                </a:solidFill>
              </a:rPr>
              <a:t>it is possible to omit the relative pronoun if it refers to the object of the sentence: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60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600">
                <a:solidFill>
                  <a:schemeClr val="tx1"/>
                </a:solidFill>
              </a:rPr>
              <a:t>e.g. Amir found the missing cat </a:t>
            </a:r>
            <a:r>
              <a:rPr lang="en-GB" altLang="en-US" sz="1600" b="1">
                <a:solidFill>
                  <a:schemeClr val="tx1"/>
                </a:solidFill>
              </a:rPr>
              <a:t>that</a:t>
            </a:r>
            <a:r>
              <a:rPr lang="en-GB" altLang="en-US" sz="1600">
                <a:solidFill>
                  <a:schemeClr val="tx1"/>
                </a:solidFill>
              </a:rPr>
              <a:t> his neighbour had lost.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60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600">
                <a:solidFill>
                  <a:schemeClr val="tx1"/>
                </a:solidFill>
              </a:rPr>
              <a:t>Could be written as: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60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600">
                <a:solidFill>
                  <a:schemeClr val="tx1"/>
                </a:solidFill>
              </a:rPr>
              <a:t>Amir found the missing cat his neighbour had lost.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60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600">
                <a:solidFill>
                  <a:schemeClr val="tx1"/>
                </a:solidFill>
              </a:rPr>
              <a:t>Read the following sentences containing </a:t>
            </a:r>
            <a:r>
              <a:rPr lang="en-GB" altLang="en-US" sz="1600" b="1">
                <a:solidFill>
                  <a:schemeClr val="tx1"/>
                </a:solidFill>
              </a:rPr>
              <a:t>restrictive relative clauses</a:t>
            </a:r>
            <a:r>
              <a:rPr lang="en-GB" altLang="en-US" sz="1600">
                <a:solidFill>
                  <a:schemeClr val="tx1"/>
                </a:solidFill>
              </a:rPr>
              <a:t> and decide whether it is possible to omit the relative pronoun: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60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600">
                <a:solidFill>
                  <a:schemeClr val="tx1"/>
                </a:solidFill>
              </a:rPr>
              <a:t>The test that we did yesterday was really easy.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60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600">
                <a:solidFill>
                  <a:schemeClr val="tx1"/>
                </a:solidFill>
              </a:rPr>
              <a:t>The class that had the most points was given extra play.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60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600">
                <a:solidFill>
                  <a:schemeClr val="tx1"/>
                </a:solidFill>
              </a:rPr>
              <a:t>The book that I bought yesterday cost me three pounds.</a:t>
            </a:r>
          </a:p>
        </p:txBody>
      </p:sp>
      <p:cxnSp>
        <p:nvCxnSpPr>
          <p:cNvPr id="3" name="Straight Connector 2"/>
          <p:cNvCxnSpPr/>
          <p:nvPr/>
        </p:nvCxnSpPr>
        <p:spPr>
          <a:xfrm flipV="1">
            <a:off x="1682750" y="4554538"/>
            <a:ext cx="439738" cy="112712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1760538" y="5529263"/>
            <a:ext cx="439737" cy="112712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9725" y="4270375"/>
            <a:ext cx="1382713" cy="182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9" grpId="0" animBg="1"/>
      <p:bldP spid="6" grpId="0" animBg="1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20"/>
          <p:cNvSpPr>
            <a:spLocks noGrp="1"/>
          </p:cNvSpPr>
          <p:nvPr>
            <p:ph type="title"/>
          </p:nvPr>
        </p:nvSpPr>
        <p:spPr>
          <a:xfrm>
            <a:off x="457200" y="479425"/>
            <a:ext cx="8220075" cy="993775"/>
          </a:xfrm>
        </p:spPr>
        <p:txBody>
          <a:bodyPr/>
          <a:lstStyle/>
          <a:p>
            <a:pPr eaLnBrk="1" hangingPunct="1"/>
            <a:r>
              <a:rPr lang="en-GB" altLang="en-US" sz="3200" smtClean="0">
                <a:latin typeface="Twinkl" pitchFamily="2" charset="0"/>
              </a:rPr>
              <a:t>Writing Relative Clause Sentences</a:t>
            </a:r>
          </a:p>
        </p:txBody>
      </p:sp>
      <p:sp>
        <p:nvSpPr>
          <p:cNvPr id="17411" name="Rectangle 4"/>
          <p:cNvSpPr>
            <a:spLocks noChangeArrowheads="1"/>
          </p:cNvSpPr>
          <p:nvPr/>
        </p:nvSpPr>
        <p:spPr bwMode="auto">
          <a:xfrm>
            <a:off x="935038" y="1473200"/>
            <a:ext cx="7453312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2000" rIns="0" bIns="720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600">
                <a:solidFill>
                  <a:schemeClr val="tx1"/>
                </a:solidFill>
              </a:rPr>
              <a:t>Choose a square to reveal a hidden picture. Write a relative clause sentence about the picture on your whiteboard. Underline your relative pronoun.</a:t>
            </a:r>
          </a:p>
        </p:txBody>
      </p:sp>
      <p:pic>
        <p:nvPicPr>
          <p:cNvPr id="17412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2578100"/>
            <a:ext cx="1154113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3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838" y="3613150"/>
            <a:ext cx="873125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4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2113" y="2401888"/>
            <a:ext cx="1225550" cy="87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5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6650" y="3708400"/>
            <a:ext cx="1260475" cy="85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6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038" y="4918075"/>
            <a:ext cx="1658937" cy="117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4638" y="4918075"/>
            <a:ext cx="1757362" cy="117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8" name="Picture 1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3975" y="2382838"/>
            <a:ext cx="1139825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9" name="Picture 2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2663" y="4924425"/>
            <a:ext cx="2017712" cy="1166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20" name="Picture 2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7013" y="3533775"/>
            <a:ext cx="1162050" cy="116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21" name="Picture 2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9425" y="3640138"/>
            <a:ext cx="1173163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22" name="Picture 29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950" y="3611563"/>
            <a:ext cx="1293813" cy="179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23" name="Picture 31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4388" y="2638425"/>
            <a:ext cx="21034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2"/>
          <p:cNvSpPr/>
          <p:nvPr/>
        </p:nvSpPr>
        <p:spPr>
          <a:xfrm>
            <a:off x="854075" y="2382838"/>
            <a:ext cx="1409700" cy="9175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5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90788" y="2308225"/>
            <a:ext cx="1428750" cy="1079500"/>
          </a:xfrm>
          <a:prstGeom prst="rect">
            <a:avLst/>
          </a:prstGeom>
          <a:solidFill>
            <a:srgbClr val="FF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5400" b="1" dirty="0">
                <a:solidFill>
                  <a:srgbClr val="FFABAB"/>
                </a:solidFill>
              </a:rPr>
              <a:t>?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51525" y="2466975"/>
            <a:ext cx="2212975" cy="860425"/>
          </a:xfrm>
          <a:prstGeom prst="rect">
            <a:avLst/>
          </a:prstGeom>
          <a:solidFill>
            <a:srgbClr val="FF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5400" b="1" dirty="0">
                <a:solidFill>
                  <a:srgbClr val="FFABAB"/>
                </a:solidFill>
              </a:rPr>
              <a:t>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92575" y="2343150"/>
            <a:ext cx="1411288" cy="9842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5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35038" y="3546475"/>
            <a:ext cx="1023937" cy="1149350"/>
          </a:xfrm>
          <a:prstGeom prst="rect">
            <a:avLst/>
          </a:prstGeom>
          <a:solidFill>
            <a:srgbClr val="FF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5400" b="1" dirty="0">
                <a:solidFill>
                  <a:srgbClr val="FFABAB"/>
                </a:solidFill>
              </a:rPr>
              <a:t>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32038" y="3708400"/>
            <a:ext cx="1411287" cy="90328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5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?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52888" y="3546475"/>
            <a:ext cx="1023937" cy="1149350"/>
          </a:xfrm>
          <a:prstGeom prst="rect">
            <a:avLst/>
          </a:prstGeom>
          <a:solidFill>
            <a:srgbClr val="FF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5400" b="1" dirty="0">
                <a:solidFill>
                  <a:srgbClr val="FFABAB"/>
                </a:solidFill>
              </a:rPr>
              <a:t>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387975" y="3595688"/>
            <a:ext cx="1411288" cy="10509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5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?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0750" y="4899025"/>
            <a:ext cx="1673225" cy="11938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5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43450" y="4899025"/>
            <a:ext cx="2136775" cy="11938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5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89238" y="4891088"/>
            <a:ext cx="1811337" cy="1214437"/>
          </a:xfrm>
          <a:prstGeom prst="rect">
            <a:avLst/>
          </a:prstGeom>
          <a:solidFill>
            <a:srgbClr val="FF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5400" b="1" dirty="0">
                <a:solidFill>
                  <a:srgbClr val="FFABAB"/>
                </a:solidFill>
              </a:rPr>
              <a:t>?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092950" y="3611563"/>
            <a:ext cx="1295400" cy="1795462"/>
          </a:xfrm>
          <a:prstGeom prst="rect">
            <a:avLst/>
          </a:prstGeom>
          <a:solidFill>
            <a:srgbClr val="FF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5400" b="1" dirty="0">
                <a:solidFill>
                  <a:srgbClr val="FFABAB"/>
                </a:solidFill>
              </a:rPr>
              <a:t>?</a:t>
            </a:r>
          </a:p>
        </p:txBody>
      </p:sp>
      <p:sp>
        <p:nvSpPr>
          <p:cNvPr id="49" name="Arrow: Right 48">
            <a:hlinkClick r:id="" action="ppaction://hlinkshowjump?jump=nextslide"/>
          </p:cNvPr>
          <p:cNvSpPr/>
          <p:nvPr/>
        </p:nvSpPr>
        <p:spPr>
          <a:xfrm>
            <a:off x="7329488" y="5562600"/>
            <a:ext cx="822325" cy="542925"/>
          </a:xfrm>
          <a:prstGeom prst="rightArrow">
            <a:avLst/>
          </a:prstGeom>
          <a:solidFill>
            <a:srgbClr val="18A0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b="1" dirty="0"/>
              <a:t>next</a:t>
            </a:r>
          </a:p>
        </p:txBody>
      </p:sp>
    </p:spTree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 nodeType="clickPar">
                      <p:stCondLst>
                        <p:cond delay="0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 nodeType="clickPar">
                      <p:stCondLst>
                        <p:cond delay="0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 nodeType="clickPar">
                      <p:stCondLst>
                        <p:cond delay="0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 nodeType="clickPar">
                      <p:stCondLst>
                        <p:cond delay="0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 nodeType="clickPar">
                      <p:stCondLst>
                        <p:cond delay="0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 nodeType="clickPar">
                      <p:stCondLst>
                        <p:cond delay="0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 nodeType="clickPar">
                      <p:stCondLst>
                        <p:cond delay="0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 nodeType="clickPar">
                      <p:stCondLst>
                        <p:cond delay="0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 nodeType="clickPar">
                      <p:stCondLst>
                        <p:cond delay="0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 nodeType="clickPar">
                      <p:stCondLst>
                        <p:cond delay="0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 nodeType="clickPar">
                      <p:stCondLst>
                        <p:cond delay="0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</p:childTnLst>
        </p:cTn>
      </p:par>
    </p:tnLst>
    <p:bldLst>
      <p:bldP spid="33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55650" y="2349500"/>
            <a:ext cx="7632700" cy="48101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2162175" y="3135313"/>
            <a:ext cx="6226175" cy="779462"/>
          </a:xfrm>
          <a:prstGeom prst="rect">
            <a:avLst/>
          </a:prstGeom>
          <a:solidFill>
            <a:srgbClr val="FF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2009775" y="4183063"/>
            <a:ext cx="6378575" cy="8255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2095500" y="5286375"/>
            <a:ext cx="6292850" cy="806450"/>
          </a:xfrm>
          <a:prstGeom prst="rect">
            <a:avLst/>
          </a:prstGeom>
          <a:solidFill>
            <a:srgbClr val="FF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6675" y="3317875"/>
            <a:ext cx="4400550" cy="311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9" name="Title 20"/>
          <p:cNvSpPr>
            <a:spLocks noGrp="1"/>
          </p:cNvSpPr>
          <p:nvPr>
            <p:ph type="title"/>
          </p:nvPr>
        </p:nvSpPr>
        <p:spPr>
          <a:xfrm>
            <a:off x="457200" y="479425"/>
            <a:ext cx="8220075" cy="993775"/>
          </a:xfrm>
        </p:spPr>
        <p:txBody>
          <a:bodyPr/>
          <a:lstStyle/>
          <a:p>
            <a:pPr eaLnBrk="1" hangingPunct="1"/>
            <a:r>
              <a:rPr lang="en-GB" altLang="en-US" sz="3200" smtClean="0">
                <a:latin typeface="Twinkl" pitchFamily="2" charset="0"/>
              </a:rPr>
              <a:t>Quick Quiz 1</a:t>
            </a:r>
            <a:endParaRPr lang="en-GB" altLang="en-US" sz="3200" smtClean="0">
              <a:solidFill>
                <a:srgbClr val="FF0000"/>
              </a:solidFill>
              <a:latin typeface="Twinkl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609975" y="4135438"/>
            <a:ext cx="4778375" cy="199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2000" rIns="0" bIns="720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GB" altLang="en-US" sz="1600">
                <a:solidFill>
                  <a:schemeClr val="tx1"/>
                </a:solidFill>
              </a:rPr>
              <a:t>The cats that were caterwauling last night kept me awake.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n-GB" altLang="en-US" sz="1600">
              <a:solidFill>
                <a:schemeClr val="tx1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GB" altLang="en-US" sz="1600">
                <a:solidFill>
                  <a:schemeClr val="tx1"/>
                </a:solidFill>
              </a:rPr>
              <a:t>Jamal, who is a fantastic guitarist, has joined the school band.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935038" y="1320800"/>
            <a:ext cx="74533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>
                <a:solidFill>
                  <a:schemeClr val="tx1"/>
                </a:solidFill>
              </a:rPr>
              <a:t>For each sentence, identify the relative pronoun: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935038" y="2320925"/>
            <a:ext cx="74533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GB" altLang="en-US" sz="1600">
                <a:solidFill>
                  <a:schemeClr val="tx1"/>
                </a:solidFill>
              </a:rPr>
              <a:t>I can’t eat that chocolate bar because it has nuts in, which I’m allergic to.</a:t>
            </a: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2667000" y="3092450"/>
            <a:ext cx="572135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GB" altLang="en-US" sz="1600">
                <a:solidFill>
                  <a:schemeClr val="tx1"/>
                </a:solidFill>
              </a:rPr>
              <a:t>Mangoes, which are grown in tropical countries, are one of my favourite foods.</a:t>
            </a:r>
          </a:p>
        </p:txBody>
      </p:sp>
      <p:sp>
        <p:nvSpPr>
          <p:cNvPr id="16" name="Oval 15"/>
          <p:cNvSpPr/>
          <p:nvPr/>
        </p:nvSpPr>
        <p:spPr>
          <a:xfrm>
            <a:off x="5772150" y="2405063"/>
            <a:ext cx="609600" cy="344487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7" name="Oval 16"/>
          <p:cNvSpPr/>
          <p:nvPr/>
        </p:nvSpPr>
        <p:spPr>
          <a:xfrm>
            <a:off x="3619500" y="3173413"/>
            <a:ext cx="619125" cy="344487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8" name="Oval 17"/>
          <p:cNvSpPr/>
          <p:nvPr/>
        </p:nvSpPr>
        <p:spPr>
          <a:xfrm>
            <a:off x="4333875" y="4238625"/>
            <a:ext cx="523875" cy="344488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9" name="Oval 18"/>
          <p:cNvSpPr/>
          <p:nvPr/>
        </p:nvSpPr>
        <p:spPr>
          <a:xfrm>
            <a:off x="4238625" y="5345113"/>
            <a:ext cx="457200" cy="344487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10" grpId="0"/>
      <p:bldP spid="13" grpId="0"/>
      <p:bldP spid="14" grpId="0"/>
      <p:bldP spid="16" grpId="0" animBg="1"/>
      <p:bldP spid="17" grpId="0" animBg="1"/>
      <p:bldP spid="18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5175250" y="2784475"/>
            <a:ext cx="3219450" cy="336550"/>
          </a:xfrm>
          <a:prstGeom prst="rect">
            <a:avLst/>
          </a:prstGeom>
          <a:solidFill>
            <a:srgbClr val="FF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2" name="Rectangle 11"/>
          <p:cNvSpPr/>
          <p:nvPr/>
        </p:nvSpPr>
        <p:spPr>
          <a:xfrm>
            <a:off x="5175250" y="3422650"/>
            <a:ext cx="3219450" cy="336550"/>
          </a:xfrm>
          <a:prstGeom prst="rect">
            <a:avLst/>
          </a:prstGeom>
          <a:solidFill>
            <a:srgbClr val="FF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5175250" y="4052888"/>
            <a:ext cx="3219450" cy="336550"/>
          </a:xfrm>
          <a:prstGeom prst="rect">
            <a:avLst/>
          </a:prstGeom>
          <a:solidFill>
            <a:srgbClr val="FF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5175250" y="2146300"/>
            <a:ext cx="3219450" cy="336550"/>
          </a:xfrm>
          <a:prstGeom prst="rect">
            <a:avLst/>
          </a:prstGeom>
          <a:solidFill>
            <a:srgbClr val="FF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755650" y="2784475"/>
            <a:ext cx="3421063" cy="3365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755650" y="3422650"/>
            <a:ext cx="3421063" cy="3365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755650" y="4052888"/>
            <a:ext cx="3421063" cy="3365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4" name="Rectangle 3"/>
          <p:cNvSpPr/>
          <p:nvPr/>
        </p:nvSpPr>
        <p:spPr>
          <a:xfrm>
            <a:off x="755650" y="2146300"/>
            <a:ext cx="3421063" cy="3365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9466" name="Title 20"/>
          <p:cNvSpPr>
            <a:spLocks noGrp="1"/>
          </p:cNvSpPr>
          <p:nvPr>
            <p:ph type="title"/>
          </p:nvPr>
        </p:nvSpPr>
        <p:spPr>
          <a:xfrm>
            <a:off x="457200" y="479425"/>
            <a:ext cx="8220075" cy="993775"/>
          </a:xfrm>
        </p:spPr>
        <p:txBody>
          <a:bodyPr/>
          <a:lstStyle/>
          <a:p>
            <a:pPr eaLnBrk="1" hangingPunct="1"/>
            <a:r>
              <a:rPr lang="en-GB" altLang="en-US" sz="3200" smtClean="0">
                <a:latin typeface="Twinkl" pitchFamily="2" charset="0"/>
              </a:rPr>
              <a:t>Quick Quiz 2</a:t>
            </a:r>
            <a:endParaRPr lang="en-GB" altLang="en-US" sz="3200" smtClean="0">
              <a:solidFill>
                <a:srgbClr val="FF0000"/>
              </a:solidFill>
              <a:latin typeface="Twinkl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55650" y="1473200"/>
            <a:ext cx="7632700" cy="39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2000" rIns="0" bIns="720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600">
                <a:solidFill>
                  <a:schemeClr val="tx1"/>
                </a:solidFill>
              </a:rPr>
              <a:t>Can you match the main clause to the appropriate relative clause?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755650" y="2085975"/>
            <a:ext cx="3421063" cy="231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GB" altLang="en-US" sz="1400">
                <a:solidFill>
                  <a:schemeClr val="tx1"/>
                </a:solidFill>
              </a:rPr>
              <a:t>The cat scratched my arm,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n-GB" altLang="en-US" sz="1400">
              <a:solidFill>
                <a:schemeClr val="tx1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GB" altLang="en-US" sz="1400">
                <a:solidFill>
                  <a:schemeClr val="tx1"/>
                </a:solidFill>
              </a:rPr>
              <a:t>The paddling pool is full of cool water,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n-GB" altLang="en-US" sz="1400">
              <a:solidFill>
                <a:schemeClr val="tx1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GB" altLang="en-US" sz="1400">
                <a:solidFill>
                  <a:schemeClr val="tx1"/>
                </a:solidFill>
              </a:rPr>
              <a:t>I have a sister,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n-GB" altLang="en-US" sz="1400">
              <a:solidFill>
                <a:schemeClr val="tx1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GB" altLang="en-US" sz="1400">
                <a:solidFill>
                  <a:schemeClr val="tx1"/>
                </a:solidFill>
              </a:rPr>
              <a:t>The ambulance rushed to help the child, 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292725" y="2085975"/>
            <a:ext cx="3095625" cy="231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GB" altLang="en-US" sz="1400">
                <a:solidFill>
                  <a:schemeClr val="tx1"/>
                </a:solidFill>
              </a:rPr>
              <a:t>who is three years younger than me.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n-GB" altLang="en-US" sz="1400">
              <a:solidFill>
                <a:schemeClr val="tx1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GB" altLang="en-US" sz="1400">
                <a:solidFill>
                  <a:schemeClr val="tx1"/>
                </a:solidFill>
              </a:rPr>
              <a:t>who had fallen from the tall slide.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n-GB" altLang="en-US" sz="1400">
              <a:solidFill>
                <a:schemeClr val="tx1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GB" altLang="en-US" sz="1400">
                <a:solidFill>
                  <a:schemeClr val="tx1"/>
                </a:solidFill>
              </a:rPr>
              <a:t>which made it sore.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n-GB" altLang="en-US" sz="1400">
              <a:solidFill>
                <a:schemeClr val="tx1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GB" altLang="en-US" sz="1400">
                <a:solidFill>
                  <a:schemeClr val="tx1"/>
                </a:solidFill>
              </a:rPr>
              <a:t>which is fabulous on this hot day.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0925" y="4810125"/>
            <a:ext cx="1979613" cy="128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8" name="Straight Connector 17"/>
          <p:cNvCxnSpPr>
            <a:endCxn id="12" idx="1"/>
          </p:cNvCxnSpPr>
          <p:nvPr/>
        </p:nvCxnSpPr>
        <p:spPr>
          <a:xfrm>
            <a:off x="4176713" y="2324100"/>
            <a:ext cx="998537" cy="12668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endCxn id="13" idx="1"/>
          </p:cNvCxnSpPr>
          <p:nvPr/>
        </p:nvCxnSpPr>
        <p:spPr>
          <a:xfrm>
            <a:off x="4176713" y="2952750"/>
            <a:ext cx="998537" cy="12684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endCxn id="14" idx="1"/>
          </p:cNvCxnSpPr>
          <p:nvPr/>
        </p:nvCxnSpPr>
        <p:spPr>
          <a:xfrm flipV="1">
            <a:off x="4176713" y="2314575"/>
            <a:ext cx="998537" cy="12763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endCxn id="11" idx="1"/>
          </p:cNvCxnSpPr>
          <p:nvPr/>
        </p:nvCxnSpPr>
        <p:spPr>
          <a:xfrm flipV="1">
            <a:off x="4176713" y="2952750"/>
            <a:ext cx="998537" cy="12684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8" grpId="0" animBg="1"/>
      <p:bldP spid="9" grpId="0" animBg="1"/>
      <p:bldP spid="10" grpId="0" animBg="1"/>
      <p:bldP spid="4" grpId="0" animBg="1"/>
      <p:bldP spid="5" grpId="0"/>
      <p:bldP spid="3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755650" y="5072063"/>
            <a:ext cx="5749925" cy="45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9" name="Rectangle 18"/>
          <p:cNvSpPr/>
          <p:nvPr/>
        </p:nvSpPr>
        <p:spPr>
          <a:xfrm>
            <a:off x="755650" y="3957638"/>
            <a:ext cx="7207250" cy="452437"/>
          </a:xfrm>
          <a:prstGeom prst="rect">
            <a:avLst/>
          </a:prstGeom>
          <a:solidFill>
            <a:srgbClr val="FF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8" name="Rectangle 17"/>
          <p:cNvSpPr/>
          <p:nvPr/>
        </p:nvSpPr>
        <p:spPr>
          <a:xfrm>
            <a:off x="755650" y="2862263"/>
            <a:ext cx="4645025" cy="42386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5" name="Rectangle 14"/>
          <p:cNvSpPr/>
          <p:nvPr/>
        </p:nvSpPr>
        <p:spPr>
          <a:xfrm>
            <a:off x="755650" y="2528888"/>
            <a:ext cx="4645025" cy="3746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755650" y="3614738"/>
            <a:ext cx="7207250" cy="384175"/>
          </a:xfrm>
          <a:prstGeom prst="rect">
            <a:avLst/>
          </a:prstGeom>
          <a:solidFill>
            <a:srgbClr val="FF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7" name="Rectangle 16"/>
          <p:cNvSpPr/>
          <p:nvPr/>
        </p:nvSpPr>
        <p:spPr>
          <a:xfrm>
            <a:off x="755650" y="4710113"/>
            <a:ext cx="5749925" cy="41433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20488" name="Title 20"/>
          <p:cNvSpPr>
            <a:spLocks noGrp="1"/>
          </p:cNvSpPr>
          <p:nvPr>
            <p:ph type="title"/>
          </p:nvPr>
        </p:nvSpPr>
        <p:spPr>
          <a:xfrm>
            <a:off x="457200" y="479425"/>
            <a:ext cx="8220075" cy="993775"/>
          </a:xfrm>
        </p:spPr>
        <p:txBody>
          <a:bodyPr/>
          <a:lstStyle/>
          <a:p>
            <a:pPr eaLnBrk="1" hangingPunct="1"/>
            <a:r>
              <a:rPr lang="en-GB" altLang="en-US" sz="3200" smtClean="0">
                <a:latin typeface="Twinkl" pitchFamily="2" charset="0"/>
              </a:rPr>
              <a:t>Quick Quiz 3</a:t>
            </a:r>
            <a:endParaRPr lang="en-GB" altLang="en-US" sz="3200" smtClean="0">
              <a:solidFill>
                <a:srgbClr val="FF0000"/>
              </a:solidFill>
              <a:latin typeface="Twinkl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935038" y="1473200"/>
            <a:ext cx="7453312" cy="408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2000" rIns="0" bIns="720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rgbClr val="1C1C1C"/>
                </a:solidFill>
                <a:latin typeface="Twinkl" pitchFamily="2" charset="0"/>
                <a:cs typeface="Sassoon Infant Rg" pitchFamily="50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600">
                <a:solidFill>
                  <a:schemeClr val="tx1"/>
                </a:solidFill>
              </a:rPr>
              <a:t>Can you break each relative clause sentence back down into two single-clause (simple) sentences?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60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1600">
              <a:solidFill>
                <a:schemeClr val="tx1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GB" altLang="en-US" sz="1600">
                <a:solidFill>
                  <a:schemeClr val="tx1"/>
                </a:solidFill>
              </a:rPr>
              <a:t>I look just like my dad, whose hair is black too.  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GB" altLang="en-US" sz="1600" b="1">
                <a:solidFill>
                  <a:schemeClr val="tx1"/>
                </a:solidFill>
              </a:rPr>
              <a:t>I look just like my dad. His hair is black too.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n-GB" altLang="en-US" sz="1600">
              <a:solidFill>
                <a:srgbClr val="FF0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GB" altLang="en-US" sz="1600">
                <a:solidFill>
                  <a:schemeClr val="tx1"/>
                </a:solidFill>
              </a:rPr>
              <a:t>My rabbit, who loves carrots, always runs up to me when I go to its hutch.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GB" altLang="en-US" sz="1600" b="1">
                <a:solidFill>
                  <a:schemeClr val="tx1"/>
                </a:solidFill>
              </a:rPr>
              <a:t>My rabbit always runs up to me when I go to its hutch. It loves carrots.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n-GB" altLang="en-US" sz="1600">
              <a:solidFill>
                <a:srgbClr val="FF0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GB" altLang="en-US" sz="1600">
                <a:solidFill>
                  <a:schemeClr val="tx1"/>
                </a:solidFill>
              </a:rPr>
              <a:t>Micah, whose legs were aching, finally completed the race.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GB" altLang="en-US" sz="1600" b="1">
                <a:solidFill>
                  <a:schemeClr val="tx1"/>
                </a:solidFill>
              </a:rPr>
              <a:t>Micah finally completed the race. His legs were aching.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9" grpId="0" animBg="1"/>
      <p:bldP spid="18" grpId="0" animBg="1"/>
      <p:bldP spid="15" grpId="0" animBg="1"/>
      <p:bldP spid="16" grpId="0" animBg="1"/>
      <p:bldP spid="1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Twinkl Template">
      <a:dk1>
        <a:srgbClr val="1C1C1C"/>
      </a:dk1>
      <a:lt1>
        <a:sysClr val="window" lastClr="FFFFFF"/>
      </a:lt1>
      <a:dk2>
        <a:srgbClr val="4A4A4A"/>
      </a:dk2>
      <a:lt2>
        <a:srgbClr val="F4F2F2"/>
      </a:lt2>
      <a:accent1>
        <a:srgbClr val="E34192"/>
      </a:accent1>
      <a:accent2>
        <a:srgbClr val="EB8634"/>
      </a:accent2>
      <a:accent3>
        <a:srgbClr val="E6C734"/>
      </a:accent3>
      <a:accent4>
        <a:srgbClr val="79AD42"/>
      </a:accent4>
      <a:accent5>
        <a:srgbClr val="23A7F9"/>
      </a:accent5>
      <a:accent6>
        <a:srgbClr val="954EBE"/>
      </a:accent6>
      <a:hlink>
        <a:srgbClr val="23A7F9"/>
      </a:hlink>
      <a:folHlink>
        <a:srgbClr val="757070"/>
      </a:folHlink>
    </a:clrScheme>
    <a:fontScheme name="Custom 1">
      <a:majorFont>
        <a:latin typeface="Twinkl Sb"/>
        <a:ea typeface=""/>
        <a:cs typeface=""/>
      </a:majorFont>
      <a:minorFont>
        <a:latin typeface="Twink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8A0D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C2D07FF1-3EB1-4D9E-84F9-D2450425A22C}" vid="{819F8316-0E89-457C-B2A7-A168B6D0BF6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367</TotalTime>
  <Words>1055</Words>
  <Application>Microsoft Office PowerPoint</Application>
  <PresentationFormat>On-screen Show (4:3)</PresentationFormat>
  <Paragraphs>173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Sassoon Infant Rg</vt:lpstr>
      <vt:lpstr>Calibri</vt:lpstr>
      <vt:lpstr>Twinkl</vt:lpstr>
      <vt:lpstr>Twinkl SemiBold</vt:lpstr>
      <vt:lpstr>Arial</vt:lpstr>
      <vt:lpstr>Twinkl </vt:lpstr>
      <vt:lpstr>Office Theme</vt:lpstr>
      <vt:lpstr>PowerPoint Presentation</vt:lpstr>
      <vt:lpstr>Creating Relative Clause Sentences</vt:lpstr>
      <vt:lpstr>Relative Pronouns</vt:lpstr>
      <vt:lpstr>Where Can a Relative Clause Be Placed?</vt:lpstr>
      <vt:lpstr>Creating Relative Clauses</vt:lpstr>
      <vt:lpstr>Is the Information Essential?</vt:lpstr>
      <vt:lpstr>Is the Information Essential?</vt:lpstr>
      <vt:lpstr>Is the Information Essential?</vt:lpstr>
      <vt:lpstr>Do I Need a Relative Pronoun?</vt:lpstr>
      <vt:lpstr>Writing Relative Clause Sentences</vt:lpstr>
      <vt:lpstr>Quick Quiz 1</vt:lpstr>
      <vt:lpstr>Quick Quiz 2</vt:lpstr>
      <vt:lpstr>Quick Quiz 3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 Harris</dc:creator>
  <cp:lastModifiedBy>Naureen Zaman</cp:lastModifiedBy>
  <cp:revision>22</cp:revision>
  <dcterms:created xsi:type="dcterms:W3CDTF">2017-07-03T08:28:22Z</dcterms:created>
  <dcterms:modified xsi:type="dcterms:W3CDTF">2024-03-18T07:12:03Z</dcterms:modified>
</cp:coreProperties>
</file>