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74" r:id="rId5"/>
    <p:sldId id="275" r:id="rId6"/>
    <p:sldId id="276" r:id="rId7"/>
    <p:sldId id="277" r:id="rId8"/>
    <p:sldId id="259" r:id="rId9"/>
    <p:sldId id="264" r:id="rId10"/>
    <p:sldId id="260" r:id="rId11"/>
    <p:sldId id="261" r:id="rId12"/>
    <p:sldId id="265" r:id="rId13"/>
    <p:sldId id="262" r:id="rId14"/>
    <p:sldId id="266" r:id="rId15"/>
    <p:sldId id="263" r:id="rId16"/>
    <p:sldId id="267" r:id="rId17"/>
    <p:sldId id="268" r:id="rId18"/>
    <p:sldId id="269" r:id="rId19"/>
    <p:sldId id="270" r:id="rId20"/>
    <p:sldId id="271" r:id="rId21"/>
    <p:sldId id="273" r:id="rId22"/>
    <p:sldId id="272" r:id="rId23"/>
    <p:sldId id="278" r:id="rId24"/>
    <p:sldId id="279" r:id="rId25"/>
    <p:sldId id="280" r:id="rId26"/>
    <p:sldId id="281" r:id="rId27"/>
    <p:sldId id="282" r:id="rId28"/>
    <p:sldId id="283" r:id="rId29"/>
    <p:sldId id="284" r:id="rId30"/>
    <p:sldId id="285" r:id="rId3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p:scale>
          <a:sx n="72" d="100"/>
          <a:sy n="72" d="100"/>
        </p:scale>
        <p:origin x="-318" y="3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fld id="{72EAD80C-3942-48E6-A95D-2B66BDA9DDB4}" type="datetimeFigureOut">
              <a:rPr lang="en-US" smtClean="0"/>
              <a:pPr/>
              <a:t>11/23/2020</a:t>
            </a:fld>
            <a:endParaRPr lang="en-US"/>
          </a:p>
        </p:txBody>
      </p:sp>
      <p:sp>
        <p:nvSpPr>
          <p:cNvPr id="19" name="Footer Placeholder 18"/>
          <p:cNvSpPr>
            <a:spLocks noGrp="1"/>
          </p:cNvSpPr>
          <p:nvPr>
            <p:ph type="ftr" sz="quarter" idx="11"/>
          </p:nvPr>
        </p:nvSpPr>
        <p:spPr/>
        <p:txBody>
          <a:bodyPr/>
          <a:lstStyle/>
          <a:p>
            <a:endParaRPr lang="en-US"/>
          </a:p>
        </p:txBody>
      </p:sp>
      <p:sp>
        <p:nvSpPr>
          <p:cNvPr id="27" name="Slide Number Placeholder 26"/>
          <p:cNvSpPr>
            <a:spLocks noGrp="1"/>
          </p:cNvSpPr>
          <p:nvPr>
            <p:ph type="sldNum" sz="quarter" idx="12"/>
          </p:nvPr>
        </p:nvSpPr>
        <p:spPr/>
        <p:txBody>
          <a:bodyPr/>
          <a:lstStyle/>
          <a:p>
            <a:fld id="{E4F5CE5E-C995-43FC-8426-231CEA33EB8F}"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72EAD80C-3942-48E6-A95D-2B66BDA9DDB4}" type="datetimeFigureOut">
              <a:rPr lang="en-US" smtClean="0"/>
              <a:pPr/>
              <a:t>11/23/2020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4F5CE5E-C995-43FC-8426-231CEA33EB8F}"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72EAD80C-3942-48E6-A95D-2B66BDA9DDB4}" type="datetimeFigureOut">
              <a:rPr lang="en-US" smtClean="0"/>
              <a:pPr/>
              <a:t>11/23/2020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4F5CE5E-C995-43FC-8426-231CEA33EB8F}"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72EAD80C-3942-48E6-A95D-2B66BDA9DDB4}" type="datetimeFigureOut">
              <a:rPr lang="en-US" smtClean="0"/>
              <a:pPr/>
              <a:t>11/23/2020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4F5CE5E-C995-43FC-8426-231CEA33EB8F}"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tIns="45720" anchor="b"/>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72EAD80C-3942-48E6-A95D-2B66BDA9DDB4}" type="datetimeFigureOut">
              <a:rPr lang="en-US" smtClean="0"/>
              <a:pPr/>
              <a:t>11/23/2020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4F5CE5E-C995-43FC-8426-231CEA33EB8F}"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72EAD80C-3942-48E6-A95D-2B66BDA9DDB4}" type="datetimeFigureOut">
              <a:rPr lang="en-US" smtClean="0"/>
              <a:pPr/>
              <a:t>11/23/2020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4F5CE5E-C995-43FC-8426-231CEA33EB8F}"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2EAD80C-3942-48E6-A95D-2B66BDA9DDB4}" type="datetimeFigureOut">
              <a:rPr lang="en-US" smtClean="0"/>
              <a:pPr/>
              <a:t>11/23/2020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4F5CE5E-C995-43FC-8426-231CEA33EB8F}"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72EAD80C-3942-48E6-A95D-2B66BDA9DDB4}" type="datetimeFigureOut">
              <a:rPr lang="en-US" smtClean="0"/>
              <a:pPr/>
              <a:t>11/23/2020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4F5CE5E-C995-43FC-8426-231CEA33EB8F}"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ight Triangle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en-US" smtClean="0"/>
              <a:t>Click to edit Master title style</a:t>
            </a:r>
            <a:endParaRPr kumimoji="0" lang="en-US"/>
          </a:p>
        </p:txBody>
      </p:sp>
      <p:sp>
        <p:nvSpPr>
          <p:cNvPr id="4" name="Text Placeholder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72EAD80C-3942-48E6-A95D-2B66BDA9DDB4}" type="datetimeFigureOut">
              <a:rPr lang="en-US" smtClean="0"/>
              <a:pPr/>
              <a:t>11/23/2020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8077200" y="6356350"/>
            <a:ext cx="609600" cy="365125"/>
          </a:xfrm>
        </p:spPr>
        <p:txBody>
          <a:bodyPr/>
          <a:lstStyle/>
          <a:p>
            <a:fld id="{E4F5CE5E-C995-43FC-8426-231CEA33EB8F}" type="slidenum">
              <a:rPr lang="en-US" smtClean="0"/>
              <a:pPr/>
              <a:t>‹#›</a:t>
            </a:fld>
            <a:endParaRPr lang="en-US"/>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smtClean="0"/>
              <a:t>Click icon to add picture</a:t>
            </a:r>
            <a:endParaRPr kumimoji="0" lang="en-US" dirty="0"/>
          </a:p>
        </p:txBody>
      </p:sp>
      <p:sp>
        <p:nvSpPr>
          <p:cNvPr id="10" name="Freeform 9"/>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Freeform 10"/>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72EAD80C-3942-48E6-A95D-2B66BDA9DDB4}" type="datetimeFigureOut">
              <a:rPr lang="en-US" smtClean="0"/>
              <a:pPr/>
              <a:t>11/23/2020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4F5CE5E-C995-43FC-8426-231CEA33EB8F}"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914401"/>
            <a:ext cx="6019800" cy="5211763"/>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72EAD80C-3942-48E6-A95D-2B66BDA9DDB4}" type="datetimeFigureOut">
              <a:rPr lang="en-US" smtClean="0"/>
              <a:pPr/>
              <a:t>11/23/2020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4F5CE5E-C995-43FC-8426-231CEA33EB8F}"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Freeform 7"/>
          <p:cNvSpPr>
            <a:spLocks/>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Title Placeholder 8"/>
          <p:cNvSpPr>
            <a:spLocks noGrp="1"/>
          </p:cNvSpPr>
          <p:nvPr>
            <p:ph type="title"/>
          </p:nvPr>
        </p:nvSpPr>
        <p:spPr>
          <a:xfrm>
            <a:off x="457200" y="704088"/>
            <a:ext cx="8229600" cy="1143000"/>
          </a:xfrm>
          <a:prstGeom prst="rect">
            <a:avLst/>
          </a:prstGeom>
        </p:spPr>
        <p:txBody>
          <a:bodyPr vert="horz" lIns="0" rIns="0" bIns="0" anchor="b">
            <a:normAutofit/>
          </a:bodyPr>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fld id="{72EAD80C-3942-48E6-A95D-2B66BDA9DDB4}" type="datetimeFigureOut">
              <a:rPr lang="en-US" smtClean="0"/>
              <a:pPr/>
              <a:t>11/23/2020</a:t>
            </a:fld>
            <a:endParaRPr lang="en-US"/>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en-US"/>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E4F5CE5E-C995-43FC-8426-231CEA33EB8F}" type="slidenum">
              <a:rPr lang="en-US" smtClean="0"/>
              <a:pPr/>
              <a:t>‹#›</a:t>
            </a:fld>
            <a:endParaRPr lang="en-US"/>
          </a:p>
        </p:txBody>
      </p:sp>
      <p:grpSp>
        <p:nvGrpSpPr>
          <p:cNvPr id="2" name="Group 1"/>
          <p:cNvGrpSpPr/>
          <p:nvPr/>
        </p:nvGrpSpPr>
        <p:grpSpPr>
          <a:xfrm>
            <a:off x="-19017" y="202408"/>
            <a:ext cx="9180548"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http://www.ncl.ac.uk/students/wdc/learning/language/hedging.htm"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Academic Writing</a:t>
            </a:r>
            <a:endParaRPr lang="en-US" dirty="0"/>
          </a:p>
        </p:txBody>
      </p:sp>
      <p:sp>
        <p:nvSpPr>
          <p:cNvPr id="3" name="Subtitle 2"/>
          <p:cNvSpPr>
            <a:spLocks noGrp="1"/>
          </p:cNvSpPr>
          <p:nvPr>
            <p:ph type="subTitle" idx="1"/>
          </p:nvPr>
        </p:nvSpPr>
        <p:spPr/>
        <p:txBody>
          <a:bodyPr/>
          <a:lstStyle/>
          <a:p>
            <a:endParaRPr lang="en-US"/>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Written academic English is </a:t>
            </a:r>
            <a:r>
              <a:rPr lang="en-US" dirty="0" smtClean="0"/>
              <a:t>objective</a:t>
            </a:r>
            <a:endParaRPr lang="en-US" dirty="0"/>
          </a:p>
        </p:txBody>
      </p:sp>
      <p:sp>
        <p:nvSpPr>
          <p:cNvPr id="3" name="Content Placeholder 2"/>
          <p:cNvSpPr>
            <a:spLocks noGrp="1"/>
          </p:cNvSpPr>
          <p:nvPr>
            <p:ph idx="1"/>
          </p:nvPr>
        </p:nvSpPr>
        <p:spPr/>
        <p:txBody>
          <a:bodyPr/>
          <a:lstStyle/>
          <a:p>
            <a:r>
              <a:rPr lang="en-US" dirty="0" smtClean="0"/>
              <a:t>The </a:t>
            </a:r>
            <a:r>
              <a:rPr lang="en-US" dirty="0"/>
              <a:t>language of academic writing is objective. It is used as a vehicle for logical argumentation, not self-expression or emotional response. Objective language is measured, fair and accurate. It avoids exaggeration and bias, and shows respect for the views of others.</a:t>
            </a:r>
          </a:p>
          <a:p>
            <a:endParaRPr 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Written </a:t>
            </a:r>
            <a:r>
              <a:rPr lang="en-US" dirty="0" smtClean="0"/>
              <a:t>Academic </a:t>
            </a:r>
            <a:r>
              <a:rPr lang="en-US" dirty="0"/>
              <a:t>English is </a:t>
            </a:r>
            <a:r>
              <a:rPr lang="en-US" dirty="0" smtClean="0"/>
              <a:t>Cautious</a:t>
            </a:r>
            <a:endParaRPr lang="en-US" dirty="0"/>
          </a:p>
        </p:txBody>
      </p:sp>
      <p:sp>
        <p:nvSpPr>
          <p:cNvPr id="3" name="Content Placeholder 2"/>
          <p:cNvSpPr>
            <a:spLocks noGrp="1"/>
          </p:cNvSpPr>
          <p:nvPr>
            <p:ph idx="1"/>
          </p:nvPr>
        </p:nvSpPr>
        <p:spPr/>
        <p:txBody>
          <a:bodyPr>
            <a:normAutofit fontScale="92500" lnSpcReduction="20000"/>
          </a:bodyPr>
          <a:lstStyle/>
          <a:p>
            <a:r>
              <a:rPr lang="en-US" dirty="0"/>
              <a:t>It is important that the language used in academic writing reflects the strength of evidence available to support an idea or claim. </a:t>
            </a:r>
            <a:endParaRPr lang="en-US" dirty="0" smtClean="0"/>
          </a:p>
          <a:p>
            <a:r>
              <a:rPr lang="en-US" dirty="0" smtClean="0"/>
              <a:t>Whether </a:t>
            </a:r>
            <a:r>
              <a:rPr lang="en-US" dirty="0"/>
              <a:t>you say </a:t>
            </a:r>
            <a:endParaRPr lang="en-US" dirty="0" smtClean="0"/>
          </a:p>
          <a:p>
            <a:pPr lvl="1"/>
            <a:r>
              <a:rPr lang="en-US" dirty="0" smtClean="0"/>
              <a:t>“</a:t>
            </a:r>
            <a:r>
              <a:rPr lang="en-US" dirty="0"/>
              <a:t>The working-age population will fall”, </a:t>
            </a:r>
            <a:r>
              <a:rPr lang="en-US" dirty="0" smtClean="0"/>
              <a:t>“</a:t>
            </a:r>
          </a:p>
          <a:p>
            <a:pPr lvl="1"/>
            <a:r>
              <a:rPr lang="en-US" dirty="0" smtClean="0"/>
              <a:t>The </a:t>
            </a:r>
            <a:r>
              <a:rPr lang="en-US" dirty="0"/>
              <a:t>working-age population will probably fall” or </a:t>
            </a:r>
            <a:endParaRPr lang="en-US" dirty="0" smtClean="0"/>
          </a:p>
          <a:p>
            <a:pPr lvl="1"/>
            <a:r>
              <a:rPr lang="en-US" dirty="0" smtClean="0"/>
              <a:t>“</a:t>
            </a:r>
            <a:r>
              <a:rPr lang="en-US" dirty="0"/>
              <a:t>The working-age population may fall</a:t>
            </a:r>
            <a:r>
              <a:rPr lang="en-US" dirty="0" smtClean="0"/>
              <a:t>”</a:t>
            </a:r>
          </a:p>
          <a:p>
            <a:endParaRPr lang="en-US" dirty="0" smtClean="0"/>
          </a:p>
          <a:p>
            <a:r>
              <a:rPr lang="en-US" dirty="0" smtClean="0"/>
              <a:t> </a:t>
            </a:r>
            <a:r>
              <a:rPr lang="en-US" dirty="0"/>
              <a:t>will depend on the projections available to you at the time of writing, and your interpretation of those projections. The less certain you are about your claims, the more tentative the language should be. The use of cautious language in academic writing is known as ‘</a:t>
            </a:r>
            <a:r>
              <a:rPr lang="en-US" u="sng" dirty="0">
                <a:hlinkClick r:id="rId2"/>
              </a:rPr>
              <a:t>hedging</a:t>
            </a:r>
            <a:r>
              <a:rPr lang="en-US" dirty="0"/>
              <a:t>’.</a:t>
            </a:r>
          </a:p>
          <a:p>
            <a:endParaRPr lang="en-US"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Hedging</a:t>
            </a:r>
            <a:endParaRPr lang="en-US" b="1" dirty="0"/>
          </a:p>
        </p:txBody>
      </p:sp>
      <p:sp>
        <p:nvSpPr>
          <p:cNvPr id="3" name="Content Placeholder 2"/>
          <p:cNvSpPr>
            <a:spLocks noGrp="1"/>
          </p:cNvSpPr>
          <p:nvPr>
            <p:ph idx="1"/>
          </p:nvPr>
        </p:nvSpPr>
        <p:spPr/>
        <p:txBody>
          <a:bodyPr>
            <a:normAutofit fontScale="92500" lnSpcReduction="10000"/>
          </a:bodyPr>
          <a:lstStyle/>
          <a:p>
            <a:pPr fontAlgn="base"/>
            <a:r>
              <a:rPr lang="en-US" dirty="0"/>
              <a:t>When writing, be careful of using words such as 'definitely' or 'proves'. Ask yourself whether your statement is a fact or whether there may be some doubt either now or in the future. </a:t>
            </a:r>
          </a:p>
          <a:p>
            <a:pPr fontAlgn="base"/>
            <a:r>
              <a:rPr lang="en-US" dirty="0"/>
              <a:t>Some useful hedging words and phrases to use in your work are:</a:t>
            </a:r>
          </a:p>
          <a:p>
            <a:pPr lvl="1" fontAlgn="base"/>
            <a:r>
              <a:rPr lang="en-US" dirty="0"/>
              <a:t>This suggests....</a:t>
            </a:r>
          </a:p>
          <a:p>
            <a:pPr lvl="1" fontAlgn="base"/>
            <a:r>
              <a:rPr lang="en-US" dirty="0"/>
              <a:t>It is possible that...</a:t>
            </a:r>
          </a:p>
          <a:p>
            <a:pPr lvl="1" fontAlgn="base"/>
            <a:r>
              <a:rPr lang="en-US" dirty="0"/>
              <a:t>A possible explanation...</a:t>
            </a:r>
          </a:p>
          <a:p>
            <a:pPr lvl="1" fontAlgn="base"/>
            <a:r>
              <a:rPr lang="en-US" dirty="0"/>
              <a:t>Usually</a:t>
            </a:r>
            <a:r>
              <a:rPr lang="en-US" dirty="0" smtClean="0"/>
              <a:t>...</a:t>
            </a:r>
          </a:p>
          <a:p>
            <a:pPr lvl="1" fontAlgn="base"/>
            <a:r>
              <a:rPr lang="en-US" dirty="0"/>
              <a:t>Sometimes...</a:t>
            </a:r>
            <a:endParaRPr lang="en-US" sz="2400" dirty="0"/>
          </a:p>
          <a:p>
            <a:pPr lvl="1" fontAlgn="base"/>
            <a:r>
              <a:rPr lang="en-US" dirty="0"/>
              <a:t>Somewhat...</a:t>
            </a:r>
            <a:endParaRPr lang="en-US" sz="2400" dirty="0"/>
          </a:p>
          <a:p>
            <a:pPr lvl="1" fontAlgn="base"/>
            <a:endParaRPr lang="en-US" dirty="0"/>
          </a:p>
          <a:p>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Hedging</a:t>
            </a:r>
            <a:endParaRPr lang="en-US" b="1" dirty="0"/>
          </a:p>
        </p:txBody>
      </p:sp>
      <p:sp>
        <p:nvSpPr>
          <p:cNvPr id="3" name="Content Placeholder 2"/>
          <p:cNvSpPr>
            <a:spLocks noGrp="1"/>
          </p:cNvSpPr>
          <p:nvPr>
            <p:ph idx="1"/>
          </p:nvPr>
        </p:nvSpPr>
        <p:spPr/>
        <p:txBody>
          <a:bodyPr/>
          <a:lstStyle/>
          <a:p>
            <a:pPr fontAlgn="base"/>
            <a:r>
              <a:rPr lang="en-US" dirty="0"/>
              <a:t>Read the following two sentences:</a:t>
            </a:r>
          </a:p>
          <a:p>
            <a:pPr lvl="1" fontAlgn="base"/>
            <a:r>
              <a:rPr lang="en-US" dirty="0"/>
              <a:t>Research </a:t>
            </a:r>
            <a:r>
              <a:rPr lang="en-US" dirty="0">
                <a:solidFill>
                  <a:srgbClr val="FF0000"/>
                </a:solidFill>
              </a:rPr>
              <a:t>proves</a:t>
            </a:r>
            <a:r>
              <a:rPr lang="en-US" dirty="0"/>
              <a:t> that drinking a large volume of fizzy drinks containing sugar leads to the development of type II diabetes.</a:t>
            </a:r>
          </a:p>
          <a:p>
            <a:pPr lvl="1" fontAlgn="base"/>
            <a:r>
              <a:rPr lang="en-US" dirty="0"/>
              <a:t>Research </a:t>
            </a:r>
            <a:r>
              <a:rPr lang="en-US" dirty="0">
                <a:solidFill>
                  <a:srgbClr val="0000FF"/>
                </a:solidFill>
              </a:rPr>
              <a:t>suggests</a:t>
            </a:r>
            <a:r>
              <a:rPr lang="en-US" dirty="0"/>
              <a:t> that high consumption of fizzy drinks containing sugar may contribute to the development of type II diabetes.</a:t>
            </a:r>
          </a:p>
          <a:p>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Boosters</a:t>
            </a:r>
            <a:endParaRPr lang="en-US" dirty="0"/>
          </a:p>
        </p:txBody>
      </p:sp>
      <p:sp>
        <p:nvSpPr>
          <p:cNvPr id="3" name="Content Placeholder 2"/>
          <p:cNvSpPr>
            <a:spLocks noGrp="1"/>
          </p:cNvSpPr>
          <p:nvPr>
            <p:ph idx="1"/>
          </p:nvPr>
        </p:nvSpPr>
        <p:spPr/>
        <p:txBody>
          <a:bodyPr/>
          <a:lstStyle/>
          <a:p>
            <a:pPr fontAlgn="base"/>
            <a:r>
              <a:rPr lang="en-US" dirty="0"/>
              <a:t>You might want to express a measure of certainty or conviction in your writing and this is when 'booster' language can help.</a:t>
            </a:r>
          </a:p>
          <a:p>
            <a:pPr fontAlgn="base"/>
            <a:r>
              <a:rPr lang="en-US" dirty="0"/>
              <a:t>Some useful booster words and phrases to use in your work are:</a:t>
            </a:r>
          </a:p>
          <a:p>
            <a:pPr lvl="1" fontAlgn="base"/>
            <a:r>
              <a:rPr lang="en-US" dirty="0"/>
              <a:t>Clearly (only use if you are certain it is clear)</a:t>
            </a:r>
          </a:p>
          <a:p>
            <a:pPr lvl="1" fontAlgn="base"/>
            <a:r>
              <a:rPr lang="en-US" dirty="0"/>
              <a:t>There is a strong correlation...</a:t>
            </a:r>
          </a:p>
          <a:p>
            <a:pPr lvl="1" fontAlgn="base"/>
            <a:r>
              <a:rPr lang="en-US" dirty="0"/>
              <a:t>Results indicate...</a:t>
            </a:r>
          </a:p>
          <a:p>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457200" y="1600200"/>
            <a:ext cx="8229600" cy="4953000"/>
          </a:xfrm>
        </p:spPr>
        <p:txBody>
          <a:bodyPr>
            <a:normAutofit fontScale="92500" lnSpcReduction="10000"/>
          </a:bodyPr>
          <a:lstStyle/>
          <a:p>
            <a:pPr lvl="1" fontAlgn="base"/>
            <a:r>
              <a:rPr lang="en-US" dirty="0"/>
              <a:t>Research suggests that high consumption of fizzy drinks containing sugar may contribute to the development of type II diabetes.</a:t>
            </a:r>
          </a:p>
          <a:p>
            <a:pPr lvl="1" fontAlgn="base"/>
            <a:r>
              <a:rPr lang="en-US" dirty="0"/>
              <a:t>Research indicates a clear link between the high consumption of a large volume of fizzy drinks containing sugar and the development of type II diabetes.</a:t>
            </a:r>
          </a:p>
          <a:p>
            <a:pPr fontAlgn="base"/>
            <a:r>
              <a:rPr lang="en-US" dirty="0"/>
              <a:t>In sentence 1, the writer has used the hedging language 'suggested' and 'may contribute', to show that while there is evidence to link sugary drinks and type II </a:t>
            </a:r>
            <a:r>
              <a:rPr lang="en-US" dirty="0" smtClean="0"/>
              <a:t>diabetes, </a:t>
            </a:r>
            <a:r>
              <a:rPr lang="en-US" dirty="0" smtClean="0">
                <a:solidFill>
                  <a:schemeClr val="accent3">
                    <a:lumMod val="75000"/>
                  </a:schemeClr>
                </a:solidFill>
              </a:rPr>
              <a:t>this </a:t>
            </a:r>
            <a:r>
              <a:rPr lang="en-US" dirty="0">
                <a:solidFill>
                  <a:schemeClr val="accent3">
                    <a:lumMod val="75000"/>
                  </a:schemeClr>
                </a:solidFill>
              </a:rPr>
              <a:t>may not be true for every person and may be proven to be incorrect in the future</a:t>
            </a:r>
            <a:r>
              <a:rPr lang="en-US" dirty="0"/>
              <a:t>. </a:t>
            </a:r>
          </a:p>
          <a:p>
            <a:pPr fontAlgn="base"/>
            <a:r>
              <a:rPr lang="en-US" dirty="0"/>
              <a:t>In sentence 2, the writer still uses language to allow for doubt and argument but it is clear that </a:t>
            </a:r>
            <a:r>
              <a:rPr lang="en-US" dirty="0">
                <a:solidFill>
                  <a:schemeClr val="accent3">
                    <a:lumMod val="75000"/>
                  </a:schemeClr>
                </a:solidFill>
              </a:rPr>
              <a:t>this writer is more convinced by the research</a:t>
            </a:r>
            <a:r>
              <a:rPr lang="en-US" dirty="0"/>
              <a:t>. </a:t>
            </a:r>
          </a:p>
          <a:p>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Written </a:t>
            </a:r>
            <a:r>
              <a:rPr lang="en-US" dirty="0" smtClean="0"/>
              <a:t>Academic </a:t>
            </a:r>
            <a:r>
              <a:rPr lang="en-US" dirty="0"/>
              <a:t>English is </a:t>
            </a:r>
            <a:r>
              <a:rPr lang="en-US" dirty="0" smtClean="0"/>
              <a:t>formal</a:t>
            </a:r>
            <a:endParaRPr lang="en-US" dirty="0"/>
          </a:p>
        </p:txBody>
      </p:sp>
      <p:sp>
        <p:nvSpPr>
          <p:cNvPr id="3" name="Content Placeholder 2"/>
          <p:cNvSpPr>
            <a:spLocks noGrp="1"/>
          </p:cNvSpPr>
          <p:nvPr>
            <p:ph idx="1"/>
          </p:nvPr>
        </p:nvSpPr>
        <p:spPr/>
        <p:txBody>
          <a:bodyPr/>
          <a:lstStyle/>
          <a:p>
            <a:r>
              <a:rPr lang="en-US" dirty="0" smtClean="0"/>
              <a:t>Formal </a:t>
            </a:r>
            <a:r>
              <a:rPr lang="en-US" dirty="0"/>
              <a:t>language is more precise and stable, and therefore more suitable for the expression of complex ideas and the development of reasoned </a:t>
            </a:r>
            <a:r>
              <a:rPr lang="en-US" dirty="0" smtClean="0"/>
              <a:t>argumentation.</a:t>
            </a:r>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Written Academic English is formal</a:t>
            </a:r>
            <a:endParaRPr lang="en-US" dirty="0"/>
          </a:p>
        </p:txBody>
      </p:sp>
      <p:sp>
        <p:nvSpPr>
          <p:cNvPr id="3" name="Content Placeholder 2"/>
          <p:cNvSpPr>
            <a:spLocks noGrp="1"/>
          </p:cNvSpPr>
          <p:nvPr>
            <p:ph idx="1"/>
          </p:nvPr>
        </p:nvSpPr>
        <p:spPr>
          <a:xfrm>
            <a:off x="457200" y="1600200"/>
            <a:ext cx="8229600" cy="5029200"/>
          </a:xfrm>
        </p:spPr>
        <p:txBody>
          <a:bodyPr>
            <a:normAutofit fontScale="92500"/>
          </a:bodyPr>
          <a:lstStyle/>
          <a:p>
            <a:pPr fontAlgn="base"/>
            <a:r>
              <a:rPr lang="en-US" dirty="0"/>
              <a:t>In academic writing you are expected to use formal language as opposed to colloquial or informal language:</a:t>
            </a:r>
          </a:p>
          <a:p>
            <a:pPr lvl="0" fontAlgn="base"/>
            <a:r>
              <a:rPr lang="en-US" dirty="0"/>
              <a:t>Avoid using colloquialisms or slang terms such as </a:t>
            </a:r>
            <a:r>
              <a:rPr lang="en-US" dirty="0">
                <a:solidFill>
                  <a:srgbClr val="FF0000"/>
                </a:solidFill>
              </a:rPr>
              <a:t>'sort of</a:t>
            </a:r>
            <a:r>
              <a:rPr lang="en-US" dirty="0"/>
              <a:t>' or '</a:t>
            </a:r>
            <a:r>
              <a:rPr lang="en-US" dirty="0">
                <a:solidFill>
                  <a:srgbClr val="FF0000"/>
                </a:solidFill>
              </a:rPr>
              <a:t>basically</a:t>
            </a:r>
            <a:r>
              <a:rPr lang="en-US" dirty="0"/>
              <a:t>'. Instead you could use '</a:t>
            </a:r>
            <a:r>
              <a:rPr lang="en-US" dirty="0">
                <a:solidFill>
                  <a:srgbClr val="0000FF"/>
                </a:solidFill>
              </a:rPr>
              <a:t>somewha</a:t>
            </a:r>
            <a:r>
              <a:rPr lang="en-US" dirty="0"/>
              <a:t>t' or '</a:t>
            </a:r>
            <a:r>
              <a:rPr lang="en-US" dirty="0">
                <a:solidFill>
                  <a:srgbClr val="0000FF"/>
                </a:solidFill>
              </a:rPr>
              <a:t>fundamentally</a:t>
            </a:r>
            <a:r>
              <a:rPr lang="en-US" dirty="0"/>
              <a:t>'</a:t>
            </a:r>
          </a:p>
          <a:p>
            <a:pPr lvl="0" fontAlgn="base"/>
            <a:r>
              <a:rPr lang="en-US" dirty="0"/>
              <a:t>Write words out in full rather than contracting (or shortening) them. For example, instead of writing '</a:t>
            </a:r>
            <a:r>
              <a:rPr lang="en-US" dirty="0">
                <a:solidFill>
                  <a:srgbClr val="FF0000"/>
                </a:solidFill>
              </a:rPr>
              <a:t>don'</a:t>
            </a:r>
            <a:r>
              <a:rPr lang="en-US" dirty="0"/>
              <a:t>t' or' </a:t>
            </a:r>
            <a:r>
              <a:rPr lang="en-US" dirty="0">
                <a:solidFill>
                  <a:srgbClr val="FF0000"/>
                </a:solidFill>
              </a:rPr>
              <a:t>isn't'</a:t>
            </a:r>
            <a:r>
              <a:rPr lang="en-US" dirty="0"/>
              <a:t> you would be expected to write 'do not' or 'is not'</a:t>
            </a:r>
          </a:p>
          <a:p>
            <a:pPr lvl="0" fontAlgn="base"/>
            <a:r>
              <a:rPr lang="en-US" dirty="0"/>
              <a:t>The use of clichés is not appropriate in academic writing. These are phrases such as </a:t>
            </a:r>
            <a:r>
              <a:rPr lang="en-US" dirty="0">
                <a:solidFill>
                  <a:srgbClr val="FF0000"/>
                </a:solidFill>
              </a:rPr>
              <a:t>'at the end of the day</a:t>
            </a:r>
            <a:r>
              <a:rPr lang="en-US" dirty="0"/>
              <a:t>' or </a:t>
            </a:r>
            <a:r>
              <a:rPr lang="en-US" dirty="0">
                <a:solidFill>
                  <a:srgbClr val="FF0000"/>
                </a:solidFill>
              </a:rPr>
              <a:t>'in the nick of time</a:t>
            </a:r>
            <a:r>
              <a:rPr lang="en-US" dirty="0"/>
              <a:t>.' Instead of this you might write </a:t>
            </a:r>
            <a:r>
              <a:rPr lang="en-US" dirty="0">
                <a:solidFill>
                  <a:srgbClr val="0000FF"/>
                </a:solidFill>
              </a:rPr>
              <a:t>finally</a:t>
            </a:r>
            <a:r>
              <a:rPr lang="en-US" dirty="0"/>
              <a:t> or </a:t>
            </a:r>
            <a:r>
              <a:rPr lang="en-US" dirty="0">
                <a:solidFill>
                  <a:srgbClr val="0000FF"/>
                </a:solidFill>
              </a:rPr>
              <a:t>at the critical moment</a:t>
            </a:r>
          </a:p>
          <a:p>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u="sng" dirty="0"/>
              <a:t>Choice of </a:t>
            </a:r>
            <a:r>
              <a:rPr lang="en-US" b="1" u="sng" dirty="0" smtClean="0"/>
              <a:t>words</a:t>
            </a:r>
            <a:endParaRPr lang="en-US" dirty="0"/>
          </a:p>
        </p:txBody>
      </p:sp>
      <p:sp>
        <p:nvSpPr>
          <p:cNvPr id="3" name="Content Placeholder 2"/>
          <p:cNvSpPr>
            <a:spLocks noGrp="1"/>
          </p:cNvSpPr>
          <p:nvPr>
            <p:ph idx="1"/>
          </p:nvPr>
        </p:nvSpPr>
        <p:spPr/>
        <p:txBody>
          <a:bodyPr/>
          <a:lstStyle/>
          <a:p>
            <a:r>
              <a:rPr lang="en-US" dirty="0"/>
              <a:t>Some words are more appropriate in informal situations, while others are used in formal or neutral contexts. In academic writing, the formal or neutral alternative is normally preferred.</a:t>
            </a:r>
          </a:p>
          <a:p>
            <a:r>
              <a:rPr lang="en-US" dirty="0"/>
              <a:t>The following advice will help you to make appropriate vocabulary choices:</a:t>
            </a:r>
          </a:p>
          <a:p>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u="sng" dirty="0"/>
              <a:t>Avoid </a:t>
            </a:r>
            <a:r>
              <a:rPr lang="en-US" b="1" u="sng" dirty="0" smtClean="0"/>
              <a:t>phrasal verbs </a:t>
            </a:r>
            <a:r>
              <a:rPr lang="en-US" b="1" u="sng" dirty="0"/>
              <a:t>and </a:t>
            </a:r>
            <a:r>
              <a:rPr lang="en-US" b="1" u="sng" dirty="0" smtClean="0"/>
              <a:t>idioms</a:t>
            </a:r>
            <a:endParaRPr lang="en-US" dirty="0"/>
          </a:p>
        </p:txBody>
      </p:sp>
      <p:sp>
        <p:nvSpPr>
          <p:cNvPr id="3" name="Content Placeholder 2"/>
          <p:cNvSpPr>
            <a:spLocks noGrp="1"/>
          </p:cNvSpPr>
          <p:nvPr>
            <p:ph idx="1"/>
          </p:nvPr>
        </p:nvSpPr>
        <p:spPr/>
        <p:txBody>
          <a:bodyPr>
            <a:normAutofit fontScale="77500" lnSpcReduction="20000"/>
          </a:bodyPr>
          <a:lstStyle/>
          <a:p>
            <a:r>
              <a:rPr lang="en-US" b="1" dirty="0"/>
              <a:t>Example 1</a:t>
            </a:r>
            <a:endParaRPr lang="en-US" dirty="0"/>
          </a:p>
          <a:p>
            <a:r>
              <a:rPr lang="en-US" dirty="0"/>
              <a:t>Colloquial/idiom: Her paper made  </a:t>
            </a:r>
            <a:r>
              <a:rPr lang="en-US" dirty="0">
                <a:solidFill>
                  <a:srgbClr val="FF0000"/>
                </a:solidFill>
              </a:rPr>
              <a:t>tremendous</a:t>
            </a:r>
            <a:r>
              <a:rPr lang="en-US" dirty="0"/>
              <a:t> contribution to the field.</a:t>
            </a:r>
          </a:p>
          <a:p>
            <a:r>
              <a:rPr lang="en-US" dirty="0"/>
              <a:t>Formal/neutral: Her paper made a</a:t>
            </a:r>
            <a:r>
              <a:rPr lang="en-US" b="1" dirty="0">
                <a:solidFill>
                  <a:srgbClr val="FF0000"/>
                </a:solidFill>
              </a:rPr>
              <a:t> </a:t>
            </a:r>
            <a:r>
              <a:rPr lang="en-US" dirty="0">
                <a:solidFill>
                  <a:srgbClr val="0000FF"/>
                </a:solidFill>
              </a:rPr>
              <a:t>major </a:t>
            </a:r>
            <a:r>
              <a:rPr lang="en-US" dirty="0"/>
              <a:t>contribution to the field.</a:t>
            </a:r>
          </a:p>
          <a:p>
            <a:r>
              <a:rPr lang="en-US" b="1" dirty="0"/>
              <a:t>Example 2</a:t>
            </a:r>
            <a:endParaRPr lang="en-US" dirty="0"/>
          </a:p>
          <a:p>
            <a:r>
              <a:rPr lang="en-US" dirty="0"/>
              <a:t>Colloquial/idiom: The community managed to </a:t>
            </a:r>
            <a:r>
              <a:rPr lang="en-US" dirty="0">
                <a:solidFill>
                  <a:srgbClr val="FF0000"/>
                </a:solidFill>
              </a:rPr>
              <a:t>scratch a living</a:t>
            </a:r>
            <a:r>
              <a:rPr lang="en-US" dirty="0"/>
              <a:t> from the poor soil.</a:t>
            </a:r>
          </a:p>
          <a:p>
            <a:r>
              <a:rPr lang="en-US" dirty="0"/>
              <a:t>Formal/neutral: The community managed to </a:t>
            </a:r>
            <a:r>
              <a:rPr lang="en-US" dirty="0">
                <a:solidFill>
                  <a:srgbClr val="0000FF"/>
                </a:solidFill>
              </a:rPr>
              <a:t>survive by farming </a:t>
            </a:r>
            <a:r>
              <a:rPr lang="en-US" dirty="0"/>
              <a:t>the poor soil</a:t>
            </a:r>
            <a:r>
              <a:rPr lang="en-US" dirty="0" smtClean="0"/>
              <a:t>.</a:t>
            </a:r>
          </a:p>
          <a:p>
            <a:r>
              <a:rPr lang="en-US" b="1" dirty="0"/>
              <a:t>Example 3</a:t>
            </a:r>
            <a:endParaRPr lang="en-US" dirty="0"/>
          </a:p>
          <a:p>
            <a:r>
              <a:rPr lang="en-US" dirty="0"/>
              <a:t>Colloquial/idiom: The </a:t>
            </a:r>
            <a:r>
              <a:rPr lang="en-US" dirty="0">
                <a:solidFill>
                  <a:srgbClr val="FF0000"/>
                </a:solidFill>
              </a:rPr>
              <a:t>hit-and-miss</a:t>
            </a:r>
            <a:r>
              <a:rPr lang="en-US" dirty="0"/>
              <a:t> performance of the financial markets is causing increasing concern.</a:t>
            </a:r>
          </a:p>
          <a:p>
            <a:r>
              <a:rPr lang="en-US" dirty="0"/>
              <a:t>Formal/neutral: The </a:t>
            </a:r>
            <a:r>
              <a:rPr lang="en-US" dirty="0">
                <a:solidFill>
                  <a:srgbClr val="0000FF"/>
                </a:solidFill>
              </a:rPr>
              <a:t>erratic</a:t>
            </a:r>
            <a:r>
              <a:rPr lang="en-US" dirty="0">
                <a:solidFill>
                  <a:srgbClr val="FF0000"/>
                </a:solidFill>
              </a:rPr>
              <a:t> </a:t>
            </a:r>
            <a:r>
              <a:rPr lang="en-US" dirty="0"/>
              <a:t>performance of the financial markets is causing increasing concern.</a:t>
            </a:r>
          </a:p>
          <a:p>
            <a:endParaRPr lang="en-US" dirty="0"/>
          </a:p>
          <a:p>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u="sng" dirty="0" smtClean="0"/>
              <a:t>Avoid phrasal verbs and idioms</a:t>
            </a:r>
            <a:endParaRPr lang="en-US" dirty="0"/>
          </a:p>
        </p:txBody>
      </p:sp>
      <p:sp>
        <p:nvSpPr>
          <p:cNvPr id="3" name="Content Placeholder 2"/>
          <p:cNvSpPr>
            <a:spLocks noGrp="1"/>
          </p:cNvSpPr>
          <p:nvPr>
            <p:ph idx="1"/>
          </p:nvPr>
        </p:nvSpPr>
        <p:spPr>
          <a:xfrm>
            <a:off x="457200" y="1600200"/>
            <a:ext cx="8229600" cy="5257800"/>
          </a:xfrm>
        </p:spPr>
        <p:txBody>
          <a:bodyPr>
            <a:normAutofit fontScale="70000" lnSpcReduction="20000"/>
          </a:bodyPr>
          <a:lstStyle/>
          <a:p>
            <a:r>
              <a:rPr lang="en-US" dirty="0" smtClean="0"/>
              <a:t>Example 4</a:t>
            </a:r>
          </a:p>
          <a:p>
            <a:r>
              <a:rPr lang="en-US" dirty="0" smtClean="0"/>
              <a:t>Colloquial/idiom</a:t>
            </a:r>
            <a:r>
              <a:rPr lang="en-US" dirty="0"/>
              <a:t>: The proposal for regional representation was</a:t>
            </a:r>
            <a:r>
              <a:rPr lang="en-US" dirty="0">
                <a:solidFill>
                  <a:srgbClr val="FF0000"/>
                </a:solidFill>
              </a:rPr>
              <a:t> turned down</a:t>
            </a:r>
            <a:r>
              <a:rPr lang="en-US" dirty="0"/>
              <a:t>.</a:t>
            </a:r>
          </a:p>
          <a:p>
            <a:r>
              <a:rPr lang="en-US" dirty="0"/>
              <a:t>Formal/neutral: The proposal for regional representation was</a:t>
            </a:r>
            <a:r>
              <a:rPr lang="en-US" dirty="0">
                <a:solidFill>
                  <a:srgbClr val="0000FF"/>
                </a:solidFill>
              </a:rPr>
              <a:t> rejected</a:t>
            </a:r>
            <a:r>
              <a:rPr lang="en-US" dirty="0"/>
              <a:t>.</a:t>
            </a:r>
          </a:p>
          <a:p>
            <a:r>
              <a:rPr lang="en-US" b="1" dirty="0"/>
              <a:t>Example </a:t>
            </a:r>
            <a:r>
              <a:rPr lang="en-US" b="1" dirty="0" smtClean="0"/>
              <a:t>5</a:t>
            </a:r>
            <a:endParaRPr lang="en-US" dirty="0"/>
          </a:p>
          <a:p>
            <a:r>
              <a:rPr lang="en-US" dirty="0"/>
              <a:t>Colloquial/idiom: Scientists are </a:t>
            </a:r>
            <a:r>
              <a:rPr lang="en-US" dirty="0">
                <a:solidFill>
                  <a:srgbClr val="FF0000"/>
                </a:solidFill>
              </a:rPr>
              <a:t>looking into</a:t>
            </a:r>
            <a:r>
              <a:rPr lang="en-US" dirty="0"/>
              <a:t> the production of </a:t>
            </a:r>
            <a:r>
              <a:rPr lang="en-US" dirty="0" err="1"/>
              <a:t>biofuels</a:t>
            </a:r>
            <a:r>
              <a:rPr lang="en-US" dirty="0"/>
              <a:t> using non-food crops.</a:t>
            </a:r>
          </a:p>
          <a:p>
            <a:r>
              <a:rPr lang="en-US" dirty="0"/>
              <a:t>Formal/neutral: Scientists are </a:t>
            </a:r>
            <a:r>
              <a:rPr lang="en-US" dirty="0">
                <a:solidFill>
                  <a:srgbClr val="0000FF"/>
                </a:solidFill>
              </a:rPr>
              <a:t>investigating</a:t>
            </a:r>
            <a:r>
              <a:rPr lang="en-US" dirty="0"/>
              <a:t> the production of </a:t>
            </a:r>
            <a:r>
              <a:rPr lang="en-US" dirty="0" err="1"/>
              <a:t>biofuels</a:t>
            </a:r>
            <a:r>
              <a:rPr lang="en-US" dirty="0"/>
              <a:t> using non-food crops.</a:t>
            </a:r>
          </a:p>
          <a:p>
            <a:r>
              <a:rPr lang="en-US" b="1" dirty="0"/>
              <a:t>Example </a:t>
            </a:r>
            <a:r>
              <a:rPr lang="en-US" b="1" dirty="0" smtClean="0"/>
              <a:t>6</a:t>
            </a:r>
            <a:endParaRPr lang="en-US" dirty="0"/>
          </a:p>
          <a:p>
            <a:r>
              <a:rPr lang="en-US" dirty="0"/>
              <a:t>Colloquial/idiom: </a:t>
            </a:r>
            <a:r>
              <a:rPr lang="en-US" dirty="0" err="1"/>
              <a:t>Biofuels</a:t>
            </a:r>
            <a:r>
              <a:rPr lang="en-US" dirty="0"/>
              <a:t> based on non-grain crops have the potential to </a:t>
            </a:r>
            <a:r>
              <a:rPr lang="en-US" dirty="0">
                <a:solidFill>
                  <a:srgbClr val="FF0000"/>
                </a:solidFill>
              </a:rPr>
              <a:t>bring food prices down</a:t>
            </a:r>
            <a:r>
              <a:rPr lang="en-US" dirty="0"/>
              <a:t>.</a:t>
            </a:r>
          </a:p>
          <a:p>
            <a:r>
              <a:rPr lang="en-US" dirty="0"/>
              <a:t>Formal/neutral: </a:t>
            </a:r>
            <a:r>
              <a:rPr lang="en-US" dirty="0" err="1"/>
              <a:t>Biofuels</a:t>
            </a:r>
            <a:r>
              <a:rPr lang="en-US" dirty="0"/>
              <a:t> based on non-grain crops have the potential to</a:t>
            </a:r>
            <a:r>
              <a:rPr lang="en-US" dirty="0">
                <a:solidFill>
                  <a:srgbClr val="0000FF"/>
                </a:solidFill>
              </a:rPr>
              <a:t> reduce food prices</a:t>
            </a:r>
            <a:r>
              <a:rPr lang="en-US" dirty="0"/>
              <a:t>.</a:t>
            </a:r>
          </a:p>
          <a:p>
            <a:r>
              <a:rPr lang="en-US" b="1" dirty="0"/>
              <a:t>Example </a:t>
            </a:r>
            <a:r>
              <a:rPr lang="en-US" b="1" dirty="0" smtClean="0"/>
              <a:t>7</a:t>
            </a:r>
            <a:endParaRPr lang="en-US" dirty="0"/>
          </a:p>
          <a:p>
            <a:r>
              <a:rPr lang="en-US" dirty="0"/>
              <a:t>Colloquial/idiom: Most of the patients reported that they</a:t>
            </a:r>
            <a:r>
              <a:rPr lang="en-US" dirty="0">
                <a:solidFill>
                  <a:srgbClr val="FF0000"/>
                </a:solidFill>
              </a:rPr>
              <a:t> put on</a:t>
            </a:r>
            <a:r>
              <a:rPr lang="en-US" dirty="0"/>
              <a:t> weight after taking the new medication.</a:t>
            </a:r>
          </a:p>
          <a:p>
            <a:r>
              <a:rPr lang="en-US" dirty="0"/>
              <a:t>Formal/neutral: Most of the patients reported that they</a:t>
            </a:r>
            <a:r>
              <a:rPr lang="en-US" dirty="0">
                <a:solidFill>
                  <a:srgbClr val="0000FF"/>
                </a:solidFill>
              </a:rPr>
              <a:t> gained</a:t>
            </a:r>
            <a:r>
              <a:rPr lang="en-US" dirty="0"/>
              <a:t> weight after taking the new medication.</a:t>
            </a:r>
          </a:p>
          <a:p>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u="sng" dirty="0"/>
              <a:t>Avoid using the verb ‘get</a:t>
            </a:r>
            <a:r>
              <a:rPr lang="en-US" b="1" u="sng" dirty="0" smtClean="0"/>
              <a:t>’</a:t>
            </a:r>
            <a:endParaRPr lang="en-US" dirty="0"/>
          </a:p>
        </p:txBody>
      </p:sp>
      <p:sp>
        <p:nvSpPr>
          <p:cNvPr id="3" name="Content Placeholder 2"/>
          <p:cNvSpPr>
            <a:spLocks noGrp="1"/>
          </p:cNvSpPr>
          <p:nvPr>
            <p:ph idx="1"/>
          </p:nvPr>
        </p:nvSpPr>
        <p:spPr/>
        <p:txBody>
          <a:bodyPr>
            <a:normAutofit fontScale="85000" lnSpcReduction="20000"/>
          </a:bodyPr>
          <a:lstStyle/>
          <a:p>
            <a:r>
              <a:rPr lang="en-US" b="1" dirty="0"/>
              <a:t>Example 1</a:t>
            </a:r>
            <a:endParaRPr lang="en-US" dirty="0"/>
          </a:p>
          <a:p>
            <a:r>
              <a:rPr lang="en-US" dirty="0"/>
              <a:t>Colloquial/idiom: The settlers </a:t>
            </a:r>
            <a:r>
              <a:rPr lang="en-US" dirty="0">
                <a:solidFill>
                  <a:srgbClr val="FF0000"/>
                </a:solidFill>
              </a:rPr>
              <a:t>got</a:t>
            </a:r>
            <a:r>
              <a:rPr lang="en-US" dirty="0"/>
              <a:t> ill after drinking polluted water.</a:t>
            </a:r>
          </a:p>
          <a:p>
            <a:r>
              <a:rPr lang="en-US" dirty="0"/>
              <a:t>Formal/neutral: The settlers </a:t>
            </a:r>
            <a:r>
              <a:rPr lang="en-US" dirty="0">
                <a:solidFill>
                  <a:srgbClr val="0000FF"/>
                </a:solidFill>
              </a:rPr>
              <a:t>became </a:t>
            </a:r>
            <a:r>
              <a:rPr lang="en-US" dirty="0"/>
              <a:t>ill after drinking polluted water.</a:t>
            </a:r>
          </a:p>
          <a:p>
            <a:r>
              <a:rPr lang="en-US" b="1" dirty="0"/>
              <a:t>Example 2</a:t>
            </a:r>
            <a:endParaRPr lang="en-US" dirty="0"/>
          </a:p>
          <a:p>
            <a:r>
              <a:rPr lang="en-US" dirty="0"/>
              <a:t>Colloquial/idiom: The study participants reported that </a:t>
            </a:r>
            <a:r>
              <a:rPr lang="en-US" dirty="0">
                <a:solidFill>
                  <a:srgbClr val="FF0000"/>
                </a:solidFill>
              </a:rPr>
              <a:t>they got better</a:t>
            </a:r>
            <a:r>
              <a:rPr lang="en-US" dirty="0"/>
              <a:t> after the first course of treatment.</a:t>
            </a:r>
          </a:p>
          <a:p>
            <a:r>
              <a:rPr lang="en-US" dirty="0"/>
              <a:t>Formal/neutral: The study participants reported that </a:t>
            </a:r>
            <a:r>
              <a:rPr lang="en-US" dirty="0">
                <a:solidFill>
                  <a:srgbClr val="0000FF"/>
                </a:solidFill>
              </a:rPr>
              <a:t>their health improved</a:t>
            </a:r>
            <a:r>
              <a:rPr lang="en-US" dirty="0"/>
              <a:t> after the first course of treatment.</a:t>
            </a:r>
          </a:p>
          <a:p>
            <a:r>
              <a:rPr lang="en-US" b="1" dirty="0"/>
              <a:t>Example 3</a:t>
            </a:r>
            <a:endParaRPr lang="en-US" dirty="0"/>
          </a:p>
          <a:p>
            <a:r>
              <a:rPr lang="en-US" dirty="0"/>
              <a:t>Colloquial/idiom: </a:t>
            </a:r>
            <a:r>
              <a:rPr lang="en-US" dirty="0" err="1" smtClean="0"/>
              <a:t>Malala</a:t>
            </a:r>
            <a:r>
              <a:rPr lang="en-US" dirty="0" smtClean="0"/>
              <a:t> </a:t>
            </a:r>
            <a:r>
              <a:rPr lang="en-US" dirty="0" err="1" smtClean="0"/>
              <a:t>Yousafzai</a:t>
            </a:r>
            <a:r>
              <a:rPr lang="en-US" dirty="0" smtClean="0"/>
              <a:t> </a:t>
            </a:r>
            <a:r>
              <a:rPr lang="en-US" dirty="0"/>
              <a:t> </a:t>
            </a:r>
            <a:r>
              <a:rPr lang="en-US" dirty="0">
                <a:solidFill>
                  <a:srgbClr val="FF0000"/>
                </a:solidFill>
              </a:rPr>
              <a:t>got</a:t>
            </a:r>
            <a:r>
              <a:rPr lang="en-US" dirty="0"/>
              <a:t> the Nobel </a:t>
            </a:r>
            <a:r>
              <a:rPr lang="en-US" dirty="0" smtClean="0"/>
              <a:t>Peace Prize .</a:t>
            </a:r>
            <a:endParaRPr lang="en-US" dirty="0"/>
          </a:p>
          <a:p>
            <a:r>
              <a:rPr lang="en-US" dirty="0"/>
              <a:t>Formal/neutral: </a:t>
            </a:r>
            <a:r>
              <a:rPr lang="en-US" dirty="0" smtClean="0"/>
              <a:t> </a:t>
            </a:r>
            <a:r>
              <a:rPr lang="en-US" dirty="0" err="1" smtClean="0"/>
              <a:t>Malala</a:t>
            </a:r>
            <a:r>
              <a:rPr lang="en-US" dirty="0" smtClean="0"/>
              <a:t> </a:t>
            </a:r>
            <a:r>
              <a:rPr lang="en-US" dirty="0" err="1" smtClean="0"/>
              <a:t>Yousafzai</a:t>
            </a:r>
            <a:r>
              <a:rPr lang="en-US" dirty="0" smtClean="0"/>
              <a:t> </a:t>
            </a:r>
            <a:r>
              <a:rPr lang="en-US" dirty="0"/>
              <a:t> </a:t>
            </a:r>
            <a:r>
              <a:rPr lang="en-US" dirty="0">
                <a:solidFill>
                  <a:srgbClr val="0000FF"/>
                </a:solidFill>
              </a:rPr>
              <a:t>was awarded</a:t>
            </a:r>
            <a:r>
              <a:rPr lang="en-US" dirty="0"/>
              <a:t> the Nobel </a:t>
            </a:r>
            <a:r>
              <a:rPr lang="en-US" dirty="0" smtClean="0"/>
              <a:t>Peace Prize .</a:t>
            </a:r>
            <a:endParaRPr lang="en-US" dirty="0"/>
          </a:p>
          <a:p>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smtClean="0"/>
              <a:t>Use nominalizations</a:t>
            </a:r>
            <a:endParaRPr lang="en-US" dirty="0"/>
          </a:p>
        </p:txBody>
      </p:sp>
      <p:sp>
        <p:nvSpPr>
          <p:cNvPr id="3" name="Content Placeholder 2"/>
          <p:cNvSpPr>
            <a:spLocks noGrp="1"/>
          </p:cNvSpPr>
          <p:nvPr>
            <p:ph idx="1"/>
          </p:nvPr>
        </p:nvSpPr>
        <p:spPr/>
        <p:txBody>
          <a:bodyPr/>
          <a:lstStyle/>
          <a:p>
            <a:r>
              <a:rPr lang="en-US" dirty="0" smtClean="0"/>
              <a:t>Nominalizations </a:t>
            </a:r>
            <a:r>
              <a:rPr lang="en-US" dirty="0"/>
              <a:t>are useful in academic writing because they convey an objective, impersonal tone.  </a:t>
            </a:r>
            <a:r>
              <a:rPr lang="en-US" dirty="0" smtClean="0"/>
              <a:t>Nominalizations </a:t>
            </a:r>
            <a:r>
              <a:rPr lang="en-US" dirty="0"/>
              <a:t>can also make the text more concise because they can pack a great deal of information in a few words.</a:t>
            </a:r>
          </a:p>
          <a:p>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u="sng" dirty="0"/>
              <a:t>Use </a:t>
            </a:r>
            <a:r>
              <a:rPr lang="en-US" b="1" u="sng" dirty="0" smtClean="0"/>
              <a:t>nominalizations</a:t>
            </a:r>
            <a:endParaRPr lang="en-US" dirty="0"/>
          </a:p>
        </p:txBody>
      </p:sp>
      <p:sp>
        <p:nvSpPr>
          <p:cNvPr id="3" name="Content Placeholder 2"/>
          <p:cNvSpPr>
            <a:spLocks noGrp="1"/>
          </p:cNvSpPr>
          <p:nvPr>
            <p:ph idx="1"/>
          </p:nvPr>
        </p:nvSpPr>
        <p:spPr/>
        <p:txBody>
          <a:bodyPr>
            <a:normAutofit fontScale="92500" lnSpcReduction="20000"/>
          </a:bodyPr>
          <a:lstStyle/>
          <a:p>
            <a:r>
              <a:rPr lang="en-US" dirty="0" smtClean="0"/>
              <a:t>Compare </a:t>
            </a:r>
            <a:r>
              <a:rPr lang="en-US" dirty="0"/>
              <a:t>these two sentences:</a:t>
            </a:r>
          </a:p>
          <a:p>
            <a:pPr lvl="1"/>
            <a:r>
              <a:rPr lang="en-US" dirty="0"/>
              <a:t>The government </a:t>
            </a:r>
            <a:r>
              <a:rPr lang="en-US" dirty="0">
                <a:solidFill>
                  <a:srgbClr val="FF0000"/>
                </a:solidFill>
              </a:rPr>
              <a:t>banned smoking in public places in 2007</a:t>
            </a:r>
            <a:r>
              <a:rPr lang="en-US" dirty="0"/>
              <a:t>. Since then, </a:t>
            </a:r>
            <a:r>
              <a:rPr lang="en-US" dirty="0">
                <a:solidFill>
                  <a:srgbClr val="FF0000"/>
                </a:solidFill>
              </a:rPr>
              <a:t>fewer people have been admitted to hospital for smoking-related diseases</a:t>
            </a:r>
            <a:r>
              <a:rPr lang="en-US" dirty="0"/>
              <a:t>.</a:t>
            </a:r>
          </a:p>
          <a:p>
            <a:pPr lvl="1"/>
            <a:r>
              <a:rPr lang="en-US" dirty="0">
                <a:solidFill>
                  <a:srgbClr val="0000FF"/>
                </a:solidFill>
              </a:rPr>
              <a:t>The ban on smoking in public places </a:t>
            </a:r>
            <a:r>
              <a:rPr lang="en-US" dirty="0"/>
              <a:t>in 2007 has led to a </a:t>
            </a:r>
            <a:r>
              <a:rPr lang="en-US" dirty="0">
                <a:solidFill>
                  <a:srgbClr val="0000FF"/>
                </a:solidFill>
              </a:rPr>
              <a:t>fall in hospital admissions for smoking-related diseases</a:t>
            </a:r>
            <a:r>
              <a:rPr lang="en-US" dirty="0" smtClean="0"/>
              <a:t>.</a:t>
            </a:r>
          </a:p>
          <a:p>
            <a:pPr lvl="0"/>
            <a:r>
              <a:rPr lang="en-US" dirty="0"/>
              <a:t>In the sentence above, 'the ban on smoking in public places in 2007' is a </a:t>
            </a:r>
            <a:r>
              <a:rPr lang="en-US" dirty="0" smtClean="0"/>
              <a:t>nominalization </a:t>
            </a:r>
            <a:r>
              <a:rPr lang="en-US" dirty="0"/>
              <a:t>of the verb phrase 'banned smoking in public places in 2007'; </a:t>
            </a:r>
            <a:endParaRPr lang="en-US" dirty="0" smtClean="0"/>
          </a:p>
          <a:p>
            <a:pPr lvl="1"/>
            <a:r>
              <a:rPr lang="en-US" dirty="0" smtClean="0"/>
              <a:t>'a </a:t>
            </a:r>
            <a:r>
              <a:rPr lang="en-US" dirty="0"/>
              <a:t>fall in hospital admissions for smoking-related diseases' is a </a:t>
            </a:r>
            <a:r>
              <a:rPr lang="en-US" dirty="0" smtClean="0"/>
              <a:t>nominalization of</a:t>
            </a:r>
          </a:p>
          <a:p>
            <a:pPr lvl="1"/>
            <a:r>
              <a:rPr lang="en-US" dirty="0" smtClean="0"/>
              <a:t> </a:t>
            </a:r>
            <a:r>
              <a:rPr lang="en-US" dirty="0"/>
              <a:t>'fewer people have been admitted to hospital for smoking-related diseases'.</a:t>
            </a:r>
          </a:p>
          <a:p>
            <a:endParaRPr lang="en-US"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u="sng" dirty="0"/>
              <a:t>Use pre- and </a:t>
            </a:r>
            <a:r>
              <a:rPr lang="en-US" b="1" u="sng" dirty="0" smtClean="0"/>
              <a:t>post-modifiers</a:t>
            </a:r>
            <a:endParaRPr lang="en-US" u="sng" dirty="0"/>
          </a:p>
        </p:txBody>
      </p:sp>
      <p:sp>
        <p:nvSpPr>
          <p:cNvPr id="3" name="Content Placeholder 2"/>
          <p:cNvSpPr>
            <a:spLocks noGrp="1"/>
          </p:cNvSpPr>
          <p:nvPr>
            <p:ph idx="1"/>
          </p:nvPr>
        </p:nvSpPr>
        <p:spPr/>
        <p:txBody>
          <a:bodyPr>
            <a:normAutofit/>
          </a:bodyPr>
          <a:lstStyle/>
          <a:p>
            <a:r>
              <a:rPr lang="en-US" dirty="0"/>
              <a:t>In the sentence below, the nouns in bold, 'decline' and 'rise', have both pre- and post-modification. </a:t>
            </a:r>
            <a:r>
              <a:rPr lang="en-US" dirty="0" smtClean="0"/>
              <a:t>Modification is indicated by underlining:</a:t>
            </a:r>
            <a:endParaRPr lang="en-US" dirty="0"/>
          </a:p>
          <a:p>
            <a:pPr lvl="0"/>
            <a:r>
              <a:rPr lang="en-US" dirty="0"/>
              <a:t>The</a:t>
            </a:r>
            <a:r>
              <a:rPr lang="en-US" dirty="0">
                <a:solidFill>
                  <a:srgbClr val="0000FF"/>
                </a:solidFill>
              </a:rPr>
              <a:t> </a:t>
            </a:r>
            <a:r>
              <a:rPr lang="en-US" u="sng" dirty="0">
                <a:solidFill>
                  <a:srgbClr val="0000FF"/>
                </a:solidFill>
              </a:rPr>
              <a:t>unexpected</a:t>
            </a:r>
            <a:r>
              <a:rPr lang="en-US" dirty="0"/>
              <a:t> </a:t>
            </a:r>
            <a:r>
              <a:rPr lang="en-US" i="1" dirty="0"/>
              <a:t>decline</a:t>
            </a:r>
            <a:r>
              <a:rPr lang="en-US" dirty="0">
                <a:solidFill>
                  <a:srgbClr val="0000FF"/>
                </a:solidFill>
              </a:rPr>
              <a:t> </a:t>
            </a:r>
            <a:r>
              <a:rPr lang="en-US" u="sng" dirty="0">
                <a:solidFill>
                  <a:srgbClr val="0000FF"/>
                </a:solidFill>
              </a:rPr>
              <a:t>in species that had previously thrived in the area</a:t>
            </a:r>
            <a:r>
              <a:rPr lang="en-US" dirty="0"/>
              <a:t> was attributed to a </a:t>
            </a:r>
            <a:r>
              <a:rPr lang="en-US" u="sng" dirty="0">
                <a:solidFill>
                  <a:srgbClr val="0000FF"/>
                </a:solidFill>
              </a:rPr>
              <a:t>sharp</a:t>
            </a:r>
            <a:r>
              <a:rPr lang="en-US" dirty="0"/>
              <a:t> </a:t>
            </a:r>
            <a:r>
              <a:rPr lang="en-US" i="1" dirty="0"/>
              <a:t>rise</a:t>
            </a:r>
            <a:r>
              <a:rPr lang="en-US" dirty="0"/>
              <a:t> </a:t>
            </a:r>
            <a:r>
              <a:rPr lang="en-US" u="sng" dirty="0">
                <a:solidFill>
                  <a:srgbClr val="0000FF"/>
                </a:solidFill>
              </a:rPr>
              <a:t>in temperature</a:t>
            </a:r>
            <a:r>
              <a:rPr lang="en-US" dirty="0"/>
              <a:t>.</a:t>
            </a:r>
          </a:p>
          <a:p>
            <a:r>
              <a:rPr lang="en-US" dirty="0"/>
              <a:t>Pre-and post-modification enables the writer to pack a lot of information into a limited number of words, thus making the style more concise.</a:t>
            </a: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Avoid the ‘not + verb’ negative form if an alternative form is available</a:t>
            </a:r>
            <a:endParaRPr lang="en-US" dirty="0"/>
          </a:p>
        </p:txBody>
      </p:sp>
      <p:sp>
        <p:nvSpPr>
          <p:cNvPr id="3" name="Content Placeholder 2"/>
          <p:cNvSpPr>
            <a:spLocks noGrp="1"/>
          </p:cNvSpPr>
          <p:nvPr>
            <p:ph idx="1"/>
          </p:nvPr>
        </p:nvSpPr>
        <p:spPr>
          <a:xfrm>
            <a:off x="304800" y="1676400"/>
            <a:ext cx="4343400" cy="4525963"/>
          </a:xfrm>
        </p:spPr>
        <p:txBody>
          <a:bodyPr>
            <a:normAutofit/>
          </a:bodyPr>
          <a:lstStyle/>
          <a:p>
            <a:r>
              <a:rPr lang="en-US" b="1" dirty="0" smtClean="0">
                <a:solidFill>
                  <a:srgbClr val="FF0000"/>
                </a:solidFill>
              </a:rPr>
              <a:t>‘</a:t>
            </a:r>
            <a:r>
              <a:rPr lang="en-US" b="1" dirty="0">
                <a:solidFill>
                  <a:srgbClr val="FF0000"/>
                </a:solidFill>
              </a:rPr>
              <a:t>Not + verb’ negative</a:t>
            </a:r>
            <a:endParaRPr lang="en-US" dirty="0">
              <a:solidFill>
                <a:srgbClr val="FF0000"/>
              </a:solidFill>
            </a:endParaRPr>
          </a:p>
          <a:p>
            <a:endParaRPr lang="en-US" dirty="0" smtClean="0"/>
          </a:p>
          <a:p>
            <a:pPr marL="514350" indent="-514350">
              <a:buFont typeface="+mj-lt"/>
              <a:buAutoNum type="arabicPeriod"/>
            </a:pPr>
            <a:r>
              <a:rPr lang="en-US" dirty="0" smtClean="0"/>
              <a:t>There </a:t>
            </a:r>
            <a:r>
              <a:rPr lang="en-US" dirty="0"/>
              <a:t>isn’t any evidence in support of this claim.</a:t>
            </a:r>
          </a:p>
          <a:p>
            <a:pPr marL="514350" indent="-514350">
              <a:buFont typeface="+mj-lt"/>
              <a:buAutoNum type="arabicPeriod"/>
            </a:pPr>
            <a:r>
              <a:rPr lang="en-US" dirty="0" smtClean="0"/>
              <a:t>The </a:t>
            </a:r>
            <a:r>
              <a:rPr lang="en-US" dirty="0"/>
              <a:t>new study doesn’t support many of the initial findings</a:t>
            </a:r>
            <a:r>
              <a:rPr lang="en-US" dirty="0" smtClean="0"/>
              <a:t>.</a:t>
            </a:r>
          </a:p>
          <a:p>
            <a:pPr marL="514350" indent="-514350">
              <a:buFont typeface="+mj-lt"/>
              <a:buAutoNum type="arabicPeriod"/>
            </a:pPr>
            <a:r>
              <a:rPr lang="en-US" dirty="0" smtClean="0"/>
              <a:t>There isn’t much research on this topic.</a:t>
            </a:r>
          </a:p>
          <a:p>
            <a:pPr marL="514350" indent="-514350">
              <a:buFont typeface="+mj-lt"/>
              <a:buAutoNum type="arabicPeriod"/>
            </a:pPr>
            <a:endParaRPr lang="en-US" dirty="0" smtClean="0"/>
          </a:p>
          <a:p>
            <a:endParaRPr lang="en-US" b="1" dirty="0" smtClean="0"/>
          </a:p>
          <a:p>
            <a:endParaRPr lang="en-US" dirty="0"/>
          </a:p>
          <a:p>
            <a:endParaRPr lang="en-US" dirty="0"/>
          </a:p>
        </p:txBody>
      </p:sp>
      <p:sp>
        <p:nvSpPr>
          <p:cNvPr id="5" name="TextBox 4"/>
          <p:cNvSpPr txBox="1"/>
          <p:nvPr/>
        </p:nvSpPr>
        <p:spPr>
          <a:xfrm>
            <a:off x="4648200" y="1676400"/>
            <a:ext cx="4495800" cy="4512004"/>
          </a:xfrm>
          <a:prstGeom prst="rect">
            <a:avLst/>
          </a:prstGeom>
          <a:noFill/>
        </p:spPr>
        <p:txBody>
          <a:bodyPr wrap="square" rtlCol="0">
            <a:spAutoFit/>
          </a:bodyPr>
          <a:lstStyle/>
          <a:p>
            <a:pPr marL="342900" indent="-342900">
              <a:lnSpc>
                <a:spcPct val="80000"/>
              </a:lnSpc>
              <a:spcBef>
                <a:spcPct val="20000"/>
              </a:spcBef>
              <a:buFont typeface="Arial" pitchFamily="34" charset="0"/>
              <a:buChar char="•"/>
            </a:pPr>
            <a:r>
              <a:rPr lang="en-US" sz="3000" b="1" dirty="0">
                <a:solidFill>
                  <a:srgbClr val="0000FF"/>
                </a:solidFill>
              </a:rPr>
              <a:t>Preferred negative </a:t>
            </a:r>
            <a:r>
              <a:rPr lang="en-US" sz="3000" b="1" dirty="0" smtClean="0">
                <a:solidFill>
                  <a:srgbClr val="0000FF"/>
                </a:solidFill>
              </a:rPr>
              <a:t>form</a:t>
            </a:r>
          </a:p>
          <a:p>
            <a:pPr marL="342900" indent="-342900">
              <a:lnSpc>
                <a:spcPct val="80000"/>
              </a:lnSpc>
              <a:spcBef>
                <a:spcPct val="20000"/>
              </a:spcBef>
              <a:buFont typeface="Arial" pitchFamily="34" charset="0"/>
              <a:buChar char="•"/>
            </a:pPr>
            <a:endParaRPr lang="en-US" sz="3000" b="1" dirty="0"/>
          </a:p>
          <a:p>
            <a:pPr marL="514350" indent="-514350">
              <a:lnSpc>
                <a:spcPct val="80000"/>
              </a:lnSpc>
              <a:spcBef>
                <a:spcPct val="20000"/>
              </a:spcBef>
              <a:buFont typeface="+mj-lt"/>
              <a:buAutoNum type="arabicPeriod"/>
            </a:pPr>
            <a:r>
              <a:rPr lang="en-US" sz="3200" dirty="0" smtClean="0"/>
              <a:t>There is </a:t>
            </a:r>
            <a:r>
              <a:rPr lang="en-US" sz="3200" b="1" dirty="0" smtClean="0"/>
              <a:t>no</a:t>
            </a:r>
            <a:r>
              <a:rPr lang="en-US" sz="3200" dirty="0" smtClean="0"/>
              <a:t> evidence in support of this claim. </a:t>
            </a:r>
          </a:p>
          <a:p>
            <a:pPr marL="514350" indent="-514350">
              <a:lnSpc>
                <a:spcPct val="80000"/>
              </a:lnSpc>
              <a:spcBef>
                <a:spcPct val="20000"/>
              </a:spcBef>
              <a:buFont typeface="+mj-lt"/>
              <a:buAutoNum type="arabicPeriod"/>
            </a:pPr>
            <a:r>
              <a:rPr lang="en-US" sz="3000" dirty="0" smtClean="0"/>
              <a:t>The </a:t>
            </a:r>
            <a:r>
              <a:rPr lang="en-US" sz="3000" dirty="0"/>
              <a:t>new study supports few of the initial findings.</a:t>
            </a:r>
          </a:p>
          <a:p>
            <a:pPr marL="514350" indent="-514350">
              <a:lnSpc>
                <a:spcPct val="80000"/>
              </a:lnSpc>
              <a:spcBef>
                <a:spcPct val="20000"/>
              </a:spcBef>
              <a:buFont typeface="+mj-lt"/>
              <a:buAutoNum type="arabicPeriod"/>
            </a:pPr>
            <a:r>
              <a:rPr lang="en-US" sz="3000" dirty="0" smtClean="0"/>
              <a:t>There </a:t>
            </a:r>
            <a:r>
              <a:rPr lang="en-US" sz="3000" dirty="0"/>
              <a:t>is little research on this topic.</a:t>
            </a:r>
          </a:p>
          <a:p>
            <a:endParaRPr lang="en-US" dirty="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If you use the ‘not + verb’ negative form, avoid contracted forms</a:t>
            </a:r>
            <a:r>
              <a:rPr lang="en-US" b="1" dirty="0" smtClean="0"/>
              <a:t>.</a:t>
            </a:r>
            <a:endParaRPr lang="en-US" dirty="0"/>
          </a:p>
        </p:txBody>
      </p:sp>
      <p:sp>
        <p:nvSpPr>
          <p:cNvPr id="3" name="Content Placeholder 2"/>
          <p:cNvSpPr>
            <a:spLocks noGrp="1"/>
          </p:cNvSpPr>
          <p:nvPr>
            <p:ph idx="1"/>
          </p:nvPr>
        </p:nvSpPr>
        <p:spPr>
          <a:xfrm>
            <a:off x="457200" y="1600200"/>
            <a:ext cx="3886200" cy="4525963"/>
          </a:xfrm>
        </p:spPr>
        <p:txBody>
          <a:bodyPr>
            <a:normAutofit/>
          </a:bodyPr>
          <a:lstStyle/>
          <a:p>
            <a:r>
              <a:rPr lang="en-US" b="1" dirty="0">
                <a:solidFill>
                  <a:srgbClr val="FF0000"/>
                </a:solidFill>
              </a:rPr>
              <a:t>‘Verb + not’ contracted </a:t>
            </a:r>
            <a:r>
              <a:rPr lang="en-US" b="1" dirty="0" smtClean="0">
                <a:solidFill>
                  <a:srgbClr val="FF0000"/>
                </a:solidFill>
              </a:rPr>
              <a:t>form</a:t>
            </a:r>
          </a:p>
          <a:p>
            <a:pPr marL="514350" indent="-514350">
              <a:buFont typeface="+mj-lt"/>
              <a:buAutoNum type="arabicPeriod"/>
            </a:pPr>
            <a:r>
              <a:rPr lang="en-US" dirty="0"/>
              <a:t>Sales </a:t>
            </a:r>
            <a:r>
              <a:rPr lang="en-US" dirty="0">
                <a:solidFill>
                  <a:srgbClr val="FF0000"/>
                </a:solidFill>
              </a:rPr>
              <a:t>didn’t</a:t>
            </a:r>
            <a:r>
              <a:rPr lang="en-US" dirty="0"/>
              <a:t> increase despite the introduction of new targets.</a:t>
            </a:r>
          </a:p>
          <a:p>
            <a:pPr marL="514350" indent="-514350">
              <a:buFont typeface="+mj-lt"/>
              <a:buAutoNum type="arabicPeriod"/>
            </a:pPr>
            <a:r>
              <a:rPr lang="en-US" dirty="0"/>
              <a:t>The conflict </a:t>
            </a:r>
            <a:r>
              <a:rPr lang="en-US" dirty="0">
                <a:solidFill>
                  <a:srgbClr val="FF0000"/>
                </a:solidFill>
              </a:rPr>
              <a:t>can’t</a:t>
            </a:r>
            <a:r>
              <a:rPr lang="en-US" dirty="0"/>
              <a:t> be resolved without negotiation.</a:t>
            </a:r>
          </a:p>
          <a:p>
            <a:endParaRPr lang="en-US" dirty="0"/>
          </a:p>
        </p:txBody>
      </p:sp>
      <p:sp>
        <p:nvSpPr>
          <p:cNvPr id="4" name="TextBox 3"/>
          <p:cNvSpPr txBox="1"/>
          <p:nvPr/>
        </p:nvSpPr>
        <p:spPr>
          <a:xfrm>
            <a:off x="4953000" y="1600200"/>
            <a:ext cx="3962400" cy="4801314"/>
          </a:xfrm>
          <a:prstGeom prst="rect">
            <a:avLst/>
          </a:prstGeom>
          <a:noFill/>
        </p:spPr>
        <p:txBody>
          <a:bodyPr wrap="square" rtlCol="0">
            <a:spAutoFit/>
          </a:bodyPr>
          <a:lstStyle/>
          <a:p>
            <a:r>
              <a:rPr lang="en-US" sz="3000" b="1" dirty="0">
                <a:solidFill>
                  <a:srgbClr val="0000FF"/>
                </a:solidFill>
              </a:rPr>
              <a:t>Preferred negative </a:t>
            </a:r>
            <a:r>
              <a:rPr lang="en-US" sz="3000" b="1" dirty="0" smtClean="0">
                <a:solidFill>
                  <a:srgbClr val="0000FF"/>
                </a:solidFill>
              </a:rPr>
              <a:t>form</a:t>
            </a:r>
          </a:p>
          <a:p>
            <a:endParaRPr lang="en-US" sz="3000" b="1" dirty="0"/>
          </a:p>
          <a:p>
            <a:pPr marL="514350" indent="-514350">
              <a:lnSpc>
                <a:spcPct val="90000"/>
              </a:lnSpc>
              <a:spcBef>
                <a:spcPct val="20000"/>
              </a:spcBef>
              <a:buFont typeface="+mj-lt"/>
              <a:buAutoNum type="arabicPeriod"/>
            </a:pPr>
            <a:r>
              <a:rPr lang="en-US" sz="3000" dirty="0"/>
              <a:t>Sales </a:t>
            </a:r>
            <a:r>
              <a:rPr lang="en-US" sz="3000" dirty="0">
                <a:solidFill>
                  <a:srgbClr val="0000FF"/>
                </a:solidFill>
              </a:rPr>
              <a:t>did not</a:t>
            </a:r>
            <a:r>
              <a:rPr lang="en-US" sz="3000" dirty="0"/>
              <a:t> increase despite the introduction of new targets.</a:t>
            </a:r>
          </a:p>
          <a:p>
            <a:pPr marL="514350" indent="-514350">
              <a:lnSpc>
                <a:spcPct val="90000"/>
              </a:lnSpc>
              <a:spcBef>
                <a:spcPct val="20000"/>
              </a:spcBef>
              <a:buFont typeface="+mj-lt"/>
              <a:buAutoNum type="arabicPeriod"/>
            </a:pPr>
            <a:r>
              <a:rPr lang="en-US" sz="3000" dirty="0"/>
              <a:t>The conflict </a:t>
            </a:r>
            <a:r>
              <a:rPr lang="en-US" sz="3000" dirty="0">
                <a:solidFill>
                  <a:srgbClr val="0000FF"/>
                </a:solidFill>
              </a:rPr>
              <a:t>cannot</a:t>
            </a:r>
            <a:r>
              <a:rPr lang="en-US" sz="3000" dirty="0"/>
              <a:t> be resolved without negotiation.</a:t>
            </a:r>
          </a:p>
          <a:p>
            <a:endParaRPr lang="en-US"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u="sng" dirty="0"/>
              <a:t>Be </a:t>
            </a:r>
            <a:r>
              <a:rPr lang="en-US" b="1" u="sng" dirty="0" smtClean="0"/>
              <a:t>concise</a:t>
            </a:r>
            <a:endParaRPr lang="en-US" b="1" u="sng" dirty="0"/>
          </a:p>
        </p:txBody>
      </p:sp>
      <p:sp>
        <p:nvSpPr>
          <p:cNvPr id="3" name="Content Placeholder 2"/>
          <p:cNvSpPr>
            <a:spLocks noGrp="1"/>
          </p:cNvSpPr>
          <p:nvPr>
            <p:ph idx="1"/>
          </p:nvPr>
        </p:nvSpPr>
        <p:spPr/>
        <p:txBody>
          <a:bodyPr>
            <a:normAutofit/>
          </a:bodyPr>
          <a:lstStyle/>
          <a:p>
            <a:pPr fontAlgn="base"/>
            <a:r>
              <a:rPr lang="en-US" dirty="0"/>
              <a:t>In formal academic writing it is important to be concise. This helps your reader to understand the points you are making. Here are some tips to help </a:t>
            </a:r>
            <a:r>
              <a:rPr lang="en-US" dirty="0" smtClean="0"/>
              <a:t>you</a:t>
            </a:r>
            <a:endParaRPr lang="en-US" dirty="0"/>
          </a:p>
          <a:p>
            <a:pPr lvl="0" fontAlgn="base"/>
            <a:r>
              <a:rPr lang="en-US" dirty="0"/>
              <a:t>Only include one main idea per sentence</a:t>
            </a:r>
          </a:p>
          <a:p>
            <a:pPr lvl="0" fontAlgn="base"/>
            <a:r>
              <a:rPr lang="en-US" dirty="0"/>
              <a:t>Keep your sentences to a reasonable length (generally not more than 25 words). Long sentences can be difficult to follow and this may distract from your point</a:t>
            </a:r>
          </a:p>
          <a:p>
            <a:pPr lvl="0" fontAlgn="base"/>
            <a:r>
              <a:rPr lang="en-US" dirty="0"/>
              <a:t>Avoid repetition</a:t>
            </a:r>
          </a:p>
          <a:p>
            <a:r>
              <a:rPr lang="en-US" dirty="0"/>
              <a:t>Avoid using redundant words</a:t>
            </a:r>
            <a:r>
              <a:rPr lang="en-US" dirty="0" smtClean="0"/>
              <a:t>.</a:t>
            </a:r>
          </a:p>
          <a:p>
            <a:pPr marL="0" indent="0">
              <a:buNone/>
            </a:pPr>
            <a:endParaRPr lang="en-US" dirty="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smtClean="0"/>
              <a:t>Be concise</a:t>
            </a:r>
            <a:endParaRPr lang="en-US" dirty="0"/>
          </a:p>
        </p:txBody>
      </p:sp>
      <p:sp>
        <p:nvSpPr>
          <p:cNvPr id="3" name="Content Placeholder 2"/>
          <p:cNvSpPr>
            <a:spLocks noGrp="1"/>
          </p:cNvSpPr>
          <p:nvPr>
            <p:ph idx="1"/>
          </p:nvPr>
        </p:nvSpPr>
        <p:spPr/>
        <p:txBody>
          <a:bodyPr/>
          <a:lstStyle/>
          <a:p>
            <a:endParaRPr lang="en-US" dirty="0"/>
          </a:p>
        </p:txBody>
      </p:sp>
      <p:pic>
        <p:nvPicPr>
          <p:cNvPr id="1026" name="Picture 2"/>
          <p:cNvPicPr>
            <a:picLocks noChangeAspect="1" noChangeArrowheads="1"/>
          </p:cNvPicPr>
          <p:nvPr/>
        </p:nvPicPr>
        <p:blipFill>
          <a:blip r:embed="rId2"/>
          <a:srcRect/>
          <a:stretch>
            <a:fillRect/>
          </a:stretch>
        </p:blipFill>
        <p:spPr bwMode="auto">
          <a:xfrm>
            <a:off x="789543" y="1602234"/>
            <a:ext cx="7744857" cy="4992802"/>
          </a:xfrm>
          <a:prstGeom prst="rect">
            <a:avLst/>
          </a:prstGeom>
          <a:noFill/>
          <a:ln w="9525">
            <a:noFill/>
            <a:miter lim="800000"/>
            <a:headEnd/>
            <a:tailEnd/>
          </a:ln>
          <a:effec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Active and Passive Voice</a:t>
            </a:r>
            <a:endParaRPr lang="en-US" b="1" dirty="0"/>
          </a:p>
        </p:txBody>
      </p:sp>
      <p:sp>
        <p:nvSpPr>
          <p:cNvPr id="3" name="Content Placeholder 2"/>
          <p:cNvSpPr>
            <a:spLocks noGrp="1"/>
          </p:cNvSpPr>
          <p:nvPr>
            <p:ph idx="1"/>
          </p:nvPr>
        </p:nvSpPr>
        <p:spPr/>
        <p:txBody>
          <a:bodyPr>
            <a:normAutofit fontScale="92500" lnSpcReduction="10000"/>
          </a:bodyPr>
          <a:lstStyle/>
          <a:p>
            <a:pPr lvl="0"/>
            <a:r>
              <a:rPr lang="en-US" dirty="0" smtClean="0"/>
              <a:t>Example 1</a:t>
            </a:r>
          </a:p>
          <a:p>
            <a:pPr lvl="1"/>
            <a:r>
              <a:rPr lang="en-US" dirty="0" smtClean="0"/>
              <a:t>Active: The nurse administered the injection.</a:t>
            </a:r>
          </a:p>
          <a:p>
            <a:pPr lvl="1"/>
            <a:r>
              <a:rPr lang="en-US" dirty="0" smtClean="0"/>
              <a:t>Passive: The </a:t>
            </a:r>
            <a:r>
              <a:rPr lang="en-US" dirty="0"/>
              <a:t>injection was administered by the nurse</a:t>
            </a:r>
            <a:r>
              <a:rPr lang="en-US" dirty="0" smtClean="0"/>
              <a:t>.</a:t>
            </a:r>
          </a:p>
          <a:p>
            <a:pPr lvl="0"/>
            <a:r>
              <a:rPr lang="en-US" dirty="0" smtClean="0"/>
              <a:t>Example 2</a:t>
            </a:r>
          </a:p>
          <a:p>
            <a:pPr lvl="1"/>
            <a:r>
              <a:rPr lang="en-US" dirty="0" smtClean="0"/>
              <a:t>Active: We kept the honey bees in a humidified chamber at room temperature overnight.</a:t>
            </a:r>
          </a:p>
          <a:p>
            <a:pPr lvl="1"/>
            <a:r>
              <a:rPr lang="en-US" dirty="0" smtClean="0"/>
              <a:t>Passive: The </a:t>
            </a:r>
            <a:r>
              <a:rPr lang="en-US" dirty="0"/>
              <a:t>honey bees were kept in a humidified chamber at room temperature overnight</a:t>
            </a:r>
            <a:r>
              <a:rPr lang="en-US" dirty="0" smtClean="0"/>
              <a:t>.</a:t>
            </a:r>
          </a:p>
          <a:p>
            <a:pPr lvl="1"/>
            <a:r>
              <a:rPr lang="en-US" dirty="0" smtClean="0"/>
              <a:t>Active: We heated the solution to 90°C for approximately 30 minutes and then allowed it to cool.</a:t>
            </a:r>
          </a:p>
          <a:p>
            <a:pPr lvl="1"/>
            <a:r>
              <a:rPr lang="en-US" dirty="0" smtClean="0"/>
              <a:t>Passive: The </a:t>
            </a:r>
            <a:r>
              <a:rPr lang="en-US" dirty="0"/>
              <a:t>solution was heated to 90°C for approximately 30 minutes and then allowed to cool</a:t>
            </a:r>
            <a:r>
              <a:rPr lang="en-US" dirty="0" smtClean="0"/>
              <a:t>.</a:t>
            </a:r>
          </a:p>
          <a:p>
            <a:endParaRPr lang="en-US" dirty="0"/>
          </a:p>
          <a:p>
            <a:pPr lvl="0"/>
            <a:endParaRPr lang="en-US" dirty="0"/>
          </a:p>
          <a:p>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Active and Passive Voice</a:t>
            </a:r>
            <a:endParaRPr lang="en-US" dirty="0"/>
          </a:p>
        </p:txBody>
      </p:sp>
      <p:sp>
        <p:nvSpPr>
          <p:cNvPr id="3" name="Content Placeholder 2"/>
          <p:cNvSpPr>
            <a:spLocks noGrp="1"/>
          </p:cNvSpPr>
          <p:nvPr>
            <p:ph idx="1"/>
          </p:nvPr>
        </p:nvSpPr>
        <p:spPr>
          <a:xfrm>
            <a:off x="457200" y="1600200"/>
            <a:ext cx="8229600" cy="4876800"/>
          </a:xfrm>
        </p:spPr>
        <p:txBody>
          <a:bodyPr>
            <a:normAutofit fontScale="92500" lnSpcReduction="10000"/>
          </a:bodyPr>
          <a:lstStyle/>
          <a:p>
            <a:r>
              <a:rPr lang="en-US" dirty="0"/>
              <a:t>Just as varying the sentence length in your scientific manuscript creates more variety and interest for your readers, so, too, does using both active and passive voice.</a:t>
            </a:r>
          </a:p>
          <a:p>
            <a:endParaRPr lang="en-US" b="1" dirty="0" smtClean="0"/>
          </a:p>
          <a:p>
            <a:r>
              <a:rPr lang="en-US" b="1" dirty="0" smtClean="0"/>
              <a:t>Choose </a:t>
            </a:r>
            <a:r>
              <a:rPr lang="en-US" b="1" dirty="0"/>
              <a:t>the active voice</a:t>
            </a:r>
            <a:r>
              <a:rPr lang="en-US" dirty="0"/>
              <a:t> whenever possible</a:t>
            </a:r>
            <a:r>
              <a:rPr lang="en-US" dirty="0" smtClean="0"/>
              <a:t>. (Example 1)</a:t>
            </a:r>
            <a:endParaRPr lang="en-US" dirty="0"/>
          </a:p>
          <a:p>
            <a:endParaRPr lang="en-US" b="1" dirty="0" smtClean="0"/>
          </a:p>
          <a:p>
            <a:r>
              <a:rPr lang="en-US" b="1" dirty="0" smtClean="0"/>
              <a:t>Choose </a:t>
            </a:r>
            <a:r>
              <a:rPr lang="en-US" b="1" dirty="0"/>
              <a:t>the passive voice</a:t>
            </a:r>
            <a:r>
              <a:rPr lang="en-US" dirty="0"/>
              <a:t> if you have a good reason to do so. Consider passive voice when</a:t>
            </a:r>
            <a:r>
              <a:rPr lang="en-US" dirty="0" smtClean="0"/>
              <a:t>: (Example 2)</a:t>
            </a:r>
            <a:endParaRPr lang="en-US" dirty="0"/>
          </a:p>
          <a:p>
            <a:r>
              <a:rPr lang="en-US" dirty="0"/>
              <a:t>The performer is unknown, irrelevant, or obvious.</a:t>
            </a:r>
          </a:p>
          <a:p>
            <a:r>
              <a:rPr lang="en-US" dirty="0"/>
              <a:t>The performer is less important than the action.</a:t>
            </a:r>
          </a:p>
          <a:p>
            <a:r>
              <a:rPr lang="en-US" dirty="0"/>
              <a:t>The recipient is the main topic</a:t>
            </a:r>
            <a:r>
              <a:rPr lang="en-US" dirty="0" smtClean="0"/>
              <a:t>.</a:t>
            </a:r>
            <a:br>
              <a:rPr lang="en-US" dirty="0" smtClean="0"/>
            </a:br>
            <a:endParaRPr lang="en-US" dirty="0"/>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Use </a:t>
            </a:r>
            <a:r>
              <a:rPr lang="en-US" b="1" dirty="0" smtClean="0"/>
              <a:t>signaling </a:t>
            </a:r>
            <a:r>
              <a:rPr lang="en-US" b="1" dirty="0"/>
              <a:t>words and phrases to show the structure of your </a:t>
            </a:r>
            <a:r>
              <a:rPr lang="en-US" b="1" dirty="0" smtClean="0"/>
              <a:t>writing</a:t>
            </a:r>
            <a:endParaRPr lang="en-US" dirty="0"/>
          </a:p>
        </p:txBody>
      </p:sp>
      <p:sp>
        <p:nvSpPr>
          <p:cNvPr id="3" name="Content Placeholder 2"/>
          <p:cNvSpPr>
            <a:spLocks noGrp="1"/>
          </p:cNvSpPr>
          <p:nvPr>
            <p:ph idx="1"/>
          </p:nvPr>
        </p:nvSpPr>
        <p:spPr/>
        <p:txBody>
          <a:bodyPr>
            <a:normAutofit/>
          </a:bodyPr>
          <a:lstStyle/>
          <a:p>
            <a:r>
              <a:rPr lang="en-US" dirty="0" smtClean="0"/>
              <a:t>Signaling </a:t>
            </a:r>
            <a:r>
              <a:rPr lang="en-US" dirty="0"/>
              <a:t>words can be used to explicitly demonstrate the relationship between </a:t>
            </a:r>
            <a:r>
              <a:rPr lang="en-US" dirty="0" smtClean="0"/>
              <a:t>ideas </a:t>
            </a:r>
            <a:r>
              <a:rPr lang="en-US" dirty="0"/>
              <a:t>and arguments. </a:t>
            </a:r>
            <a:endParaRPr lang="en-US" dirty="0" smtClean="0"/>
          </a:p>
          <a:p>
            <a:r>
              <a:rPr lang="en-US" dirty="0" smtClean="0"/>
              <a:t>These </a:t>
            </a:r>
            <a:r>
              <a:rPr lang="en-US" dirty="0"/>
              <a:t>words help to make the structure of </a:t>
            </a:r>
            <a:r>
              <a:rPr lang="en-US" dirty="0" smtClean="0"/>
              <a:t>the </a:t>
            </a:r>
            <a:r>
              <a:rPr lang="en-US" dirty="0"/>
              <a:t>writing more effective; they can clarify the flow and logic of </a:t>
            </a:r>
            <a:r>
              <a:rPr lang="en-US" dirty="0" smtClean="0"/>
              <a:t>the </a:t>
            </a:r>
            <a:r>
              <a:rPr lang="en-US" dirty="0"/>
              <a:t>argument and make it easier for </a:t>
            </a:r>
            <a:r>
              <a:rPr lang="en-US" dirty="0" smtClean="0"/>
              <a:t>the </a:t>
            </a:r>
            <a:r>
              <a:rPr lang="en-US" dirty="0"/>
              <a:t>reader to understand the points </a:t>
            </a:r>
            <a:r>
              <a:rPr lang="en-US" dirty="0" smtClean="0"/>
              <a:t>being made.</a:t>
            </a:r>
          </a:p>
          <a:p>
            <a:r>
              <a:rPr lang="en-US" dirty="0" smtClean="0"/>
              <a:t> </a:t>
            </a:r>
            <a:r>
              <a:rPr lang="en-US" i="1" dirty="0"/>
              <a:t>They are called </a:t>
            </a:r>
            <a:r>
              <a:rPr lang="en-US" i="1" dirty="0" smtClean="0"/>
              <a:t>signaling </a:t>
            </a:r>
            <a:r>
              <a:rPr lang="en-US" i="1" dirty="0"/>
              <a:t>words because they give </a:t>
            </a:r>
            <a:r>
              <a:rPr lang="en-US" i="1" dirty="0" smtClean="0"/>
              <a:t>the </a:t>
            </a:r>
            <a:r>
              <a:rPr lang="en-US" i="1" dirty="0"/>
              <a:t>reader a clue as to what might be coming up next or where </a:t>
            </a:r>
            <a:r>
              <a:rPr lang="en-US" i="1" dirty="0" smtClean="0"/>
              <a:t>the argument might be going</a:t>
            </a:r>
            <a:r>
              <a:rPr lang="en-US" dirty="0" smtClean="0"/>
              <a:t>.</a:t>
            </a:r>
            <a:r>
              <a:rPr lang="en-US" dirty="0"/>
              <a:t> </a:t>
            </a:r>
          </a:p>
          <a:p>
            <a:endParaRPr 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Have a look at these examples below:</a:t>
            </a:r>
            <a:endParaRPr lang="en-US" dirty="0"/>
          </a:p>
        </p:txBody>
      </p:sp>
      <p:sp>
        <p:nvSpPr>
          <p:cNvPr id="3" name="Content Placeholder 2"/>
          <p:cNvSpPr>
            <a:spLocks noGrp="1"/>
          </p:cNvSpPr>
          <p:nvPr>
            <p:ph idx="1"/>
          </p:nvPr>
        </p:nvSpPr>
        <p:spPr/>
        <p:txBody>
          <a:bodyPr>
            <a:normAutofit lnSpcReduction="10000"/>
          </a:bodyPr>
          <a:lstStyle/>
          <a:p>
            <a:pPr lvl="0" fontAlgn="base"/>
            <a:r>
              <a:rPr lang="en-US" dirty="0" smtClean="0"/>
              <a:t>Using </a:t>
            </a:r>
            <a:r>
              <a:rPr lang="en-US" dirty="0"/>
              <a:t>a laboratory method was beneficial as a causal relationship could be established between cognitive load and generating attributes. However, this method creates an artificial setting which reduces the study's ecological validity. </a:t>
            </a:r>
            <a:br>
              <a:rPr lang="en-US" dirty="0"/>
            </a:br>
            <a:r>
              <a:rPr lang="en-US" dirty="0"/>
              <a:t/>
            </a:r>
            <a:br>
              <a:rPr lang="en-US" dirty="0"/>
            </a:br>
            <a:r>
              <a:rPr lang="en-US" dirty="0"/>
              <a:t>In this example the use of the word however at the beginning of the second sentence indicates that a contrasting point of view is about to be made. It also suggests that the writer may have more sympathy with the second opinion.</a:t>
            </a:r>
          </a:p>
          <a:p>
            <a:endParaRPr 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lvl="0"/>
            <a:r>
              <a:rPr lang="en-US" dirty="0"/>
              <a:t>Firstly, the concepts and person </a:t>
            </a:r>
            <a:r>
              <a:rPr lang="en-US" dirty="0" err="1"/>
              <a:t>centred</a:t>
            </a:r>
            <a:r>
              <a:rPr lang="en-US" dirty="0"/>
              <a:t> care will be defined.... Next, communication will be discussed... Finally, the relationship between loss and communication will be examined. [Taken from a Healthcare essay]</a:t>
            </a:r>
            <a:br>
              <a:rPr lang="en-US" dirty="0"/>
            </a:br>
            <a:r>
              <a:rPr lang="en-US" dirty="0"/>
              <a:t/>
            </a:r>
            <a:br>
              <a:rPr lang="en-US" dirty="0"/>
            </a:br>
            <a:r>
              <a:rPr lang="en-US" dirty="0"/>
              <a:t>In this example the writer has used </a:t>
            </a:r>
            <a:r>
              <a:rPr lang="en-US" dirty="0" err="1"/>
              <a:t>signalling</a:t>
            </a:r>
            <a:r>
              <a:rPr lang="en-US" dirty="0"/>
              <a:t> words to demonstrate the sequence of their argument by using Firstly, next, finally making the structure of the essay very clear.</a:t>
            </a:r>
          </a:p>
          <a:p>
            <a:endParaRPr 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10000"/>
          </a:bodyPr>
          <a:lstStyle/>
          <a:p>
            <a:pPr lvl="0"/>
            <a:r>
              <a:rPr lang="en-US" dirty="0"/>
              <a:t>Employee satisfaction is justifiable to employees because it causes an improvement on their well being (</a:t>
            </a:r>
            <a:r>
              <a:rPr lang="en-US" dirty="0" err="1"/>
              <a:t>Grandley</a:t>
            </a:r>
            <a:r>
              <a:rPr lang="en-US" dirty="0"/>
              <a:t>, 2003). Moreover, employees that are in a good mood at work are less likely to act because their true feelings are in accordance with the needed display of emotions (</a:t>
            </a:r>
            <a:r>
              <a:rPr lang="en-US" dirty="0" err="1"/>
              <a:t>Grandley</a:t>
            </a:r>
            <a:r>
              <a:rPr lang="en-US" dirty="0"/>
              <a:t>, 2003). [Taken from a Business School essay]</a:t>
            </a:r>
            <a:br>
              <a:rPr lang="en-US" dirty="0"/>
            </a:br>
            <a:r>
              <a:rPr lang="en-US" dirty="0"/>
              <a:t/>
            </a:r>
            <a:br>
              <a:rPr lang="en-US" dirty="0"/>
            </a:br>
            <a:r>
              <a:rPr lang="en-US" dirty="0"/>
              <a:t>The use of the word moreover tells the reader that the next sentence will provide further evidence or information to support the statement made in the first sentence. It also suggest that the writer strongly agrees with the first statement.</a:t>
            </a:r>
          </a:p>
          <a:p>
            <a:endParaRPr 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Examples </a:t>
            </a:r>
            <a:r>
              <a:rPr lang="en-US" dirty="0"/>
              <a:t>of </a:t>
            </a:r>
            <a:r>
              <a:rPr lang="en-US" dirty="0" smtClean="0"/>
              <a:t>signaling </a:t>
            </a:r>
            <a:r>
              <a:rPr lang="en-US" dirty="0"/>
              <a:t>words </a:t>
            </a:r>
          </a:p>
        </p:txBody>
      </p:sp>
      <p:sp>
        <p:nvSpPr>
          <p:cNvPr id="3" name="Content Placeholder 2"/>
          <p:cNvSpPr>
            <a:spLocks noGrp="1"/>
          </p:cNvSpPr>
          <p:nvPr>
            <p:ph idx="1"/>
          </p:nvPr>
        </p:nvSpPr>
        <p:spPr/>
        <p:txBody>
          <a:bodyPr/>
          <a:lstStyle/>
          <a:p>
            <a:endParaRPr lang="en-US" dirty="0"/>
          </a:p>
        </p:txBody>
      </p:sp>
      <p:pic>
        <p:nvPicPr>
          <p:cNvPr id="2050" name="Picture 2"/>
          <p:cNvPicPr>
            <a:picLocks noChangeAspect="1" noChangeArrowheads="1"/>
          </p:cNvPicPr>
          <p:nvPr/>
        </p:nvPicPr>
        <p:blipFill>
          <a:blip r:embed="rId2"/>
          <a:srcRect/>
          <a:stretch>
            <a:fillRect/>
          </a:stretch>
        </p:blipFill>
        <p:spPr bwMode="auto">
          <a:xfrm>
            <a:off x="972756" y="685800"/>
            <a:ext cx="7041266" cy="4816104"/>
          </a:xfrm>
          <a:prstGeom prst="rect">
            <a:avLst/>
          </a:prstGeom>
          <a:noFill/>
          <a:ln w="9525">
            <a:noFill/>
            <a:miter lim="800000"/>
            <a:headEnd/>
            <a:tailEnd/>
          </a:ln>
          <a:effectLst/>
        </p:spPr>
      </p:pic>
      <p:pic>
        <p:nvPicPr>
          <p:cNvPr id="2051" name="Picture 3"/>
          <p:cNvPicPr>
            <a:picLocks noChangeAspect="1" noChangeArrowheads="1"/>
          </p:cNvPicPr>
          <p:nvPr/>
        </p:nvPicPr>
        <p:blipFill>
          <a:blip r:embed="rId3"/>
          <a:srcRect/>
          <a:stretch>
            <a:fillRect/>
          </a:stretch>
        </p:blipFill>
        <p:spPr bwMode="auto">
          <a:xfrm>
            <a:off x="1752600" y="5463841"/>
            <a:ext cx="6172200" cy="1394159"/>
          </a:xfrm>
          <a:prstGeom prst="rect">
            <a:avLst/>
          </a:prstGeom>
          <a:noFill/>
          <a:ln w="9525">
            <a:noFill/>
            <a:miter lim="800000"/>
            <a:headEnd/>
            <a:tailEnd/>
          </a:ln>
          <a:effec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Use </a:t>
            </a:r>
            <a:r>
              <a:rPr lang="en-US" b="1" dirty="0"/>
              <a:t>the correct </a:t>
            </a:r>
            <a:r>
              <a:rPr lang="en-US" b="1" dirty="0" smtClean="0"/>
              <a:t>tense</a:t>
            </a:r>
            <a:endParaRPr lang="en-US" b="1" dirty="0"/>
          </a:p>
        </p:txBody>
      </p:sp>
      <p:sp>
        <p:nvSpPr>
          <p:cNvPr id="3" name="Content Placeholder 2"/>
          <p:cNvSpPr>
            <a:spLocks noGrp="1"/>
          </p:cNvSpPr>
          <p:nvPr>
            <p:ph idx="1"/>
          </p:nvPr>
        </p:nvSpPr>
        <p:spPr/>
        <p:txBody>
          <a:bodyPr>
            <a:normAutofit/>
          </a:bodyPr>
          <a:lstStyle/>
          <a:p>
            <a:r>
              <a:rPr lang="en-US" dirty="0"/>
              <a:t>You will probably need to use different tenses throughout depending upon the context but here are some general guidelines to help you if you are unsure: </a:t>
            </a:r>
          </a:p>
          <a:p>
            <a:endParaRPr lang="en-US" dirty="0" smtClean="0"/>
          </a:p>
          <a:p>
            <a:pPr lvl="0" fontAlgn="base"/>
            <a:r>
              <a:rPr lang="en-US" dirty="0"/>
              <a:t>If you are writing about established knowledge then use the present tense. </a:t>
            </a:r>
            <a:endParaRPr lang="en-US" dirty="0" smtClean="0"/>
          </a:p>
          <a:p>
            <a:pPr lvl="1" fontAlgn="base"/>
            <a:r>
              <a:rPr lang="en-US" dirty="0" smtClean="0"/>
              <a:t>For </a:t>
            </a:r>
            <a:r>
              <a:rPr lang="en-US" dirty="0"/>
              <a:t>example, "Diabetes is a condition where the amount of glucose in the blood is too high because the body cannot use it properly." (Diabetes UK, 2015)</a:t>
            </a:r>
          </a:p>
          <a:p>
            <a:endParaRPr 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10000"/>
          </a:bodyPr>
          <a:lstStyle/>
          <a:p>
            <a:pPr lvl="0"/>
            <a:r>
              <a:rPr lang="en-US" dirty="0" smtClean="0"/>
              <a:t>If you are writing about an experiment you carried out or a method you used then use the past tense. "Our experiment showed wide variations in results where the variable was altered even slightly." </a:t>
            </a:r>
          </a:p>
          <a:p>
            <a:pPr lvl="0"/>
            <a:endParaRPr lang="en-US" dirty="0" smtClean="0"/>
          </a:p>
          <a:p>
            <a:pPr lvl="0"/>
            <a:r>
              <a:rPr lang="en-US" dirty="0" smtClean="0"/>
              <a:t>When </a:t>
            </a:r>
            <a:r>
              <a:rPr lang="en-US" dirty="0"/>
              <a:t>you are reporting on the findings or research of others then you should use the present tense. This is because you are writing about something that is established knowledge. </a:t>
            </a:r>
            <a:endParaRPr lang="en-US" dirty="0" smtClean="0"/>
          </a:p>
          <a:p>
            <a:pPr lvl="1"/>
            <a:r>
              <a:rPr lang="en-US" dirty="0" smtClean="0"/>
              <a:t>For </a:t>
            </a:r>
            <a:r>
              <a:rPr lang="en-US" dirty="0"/>
              <a:t>example, you might write "Smith's research from 2012 finds that regular exercise may contribute to good cardiovascular health."</a:t>
            </a:r>
          </a:p>
          <a:p>
            <a:endParaRPr 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a:bodyPr>
          <a:lstStyle/>
          <a:p>
            <a:pPr lvl="0" fontAlgn="base"/>
            <a:r>
              <a:rPr lang="en-US" dirty="0"/>
              <a:t>When you are writing about your conclusions or what you have found then use the present tense. </a:t>
            </a:r>
            <a:endParaRPr lang="en-US" dirty="0" smtClean="0"/>
          </a:p>
          <a:p>
            <a:pPr lvl="1" fontAlgn="base"/>
            <a:r>
              <a:rPr lang="en-US" dirty="0" smtClean="0"/>
              <a:t>For </a:t>
            </a:r>
            <a:r>
              <a:rPr lang="en-US" dirty="0"/>
              <a:t>example: "In this case there is not a large difference between the two diameter values (from </a:t>
            </a:r>
            <a:r>
              <a:rPr lang="en-US" dirty="0" err="1"/>
              <a:t>Feret's</a:t>
            </a:r>
            <a:r>
              <a:rPr lang="en-US" dirty="0"/>
              <a:t> diameter and calculated equation), which again is probably due to the fact that the average circularity ratio is on the high end of the scale, 0.88, and therefore infers near circular pores." </a:t>
            </a:r>
          </a:p>
          <a:p>
            <a:pPr lvl="0" fontAlgn="base"/>
            <a:r>
              <a:rPr lang="en-US" dirty="0"/>
              <a:t>If you are writing about figures that you have presented in a table or chart then use the present tense. </a:t>
            </a:r>
            <a:endParaRPr lang="en-US" dirty="0" smtClean="0"/>
          </a:p>
          <a:p>
            <a:pPr lvl="1" fontAlgn="base"/>
            <a:r>
              <a:rPr lang="en-US" dirty="0" smtClean="0"/>
              <a:t>For </a:t>
            </a:r>
            <a:r>
              <a:rPr lang="en-US" dirty="0"/>
              <a:t>example: "These figures show that the number of birds visiting the hide increase every year in May...".</a:t>
            </a:r>
          </a:p>
          <a:p>
            <a:endParaRPr lang="en-US" dirty="0"/>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Flow</Template>
  <TotalTime>269</TotalTime>
  <Words>1334</Words>
  <Application>Microsoft Office PowerPoint</Application>
  <PresentationFormat>On-screen Show (4:3)</PresentationFormat>
  <Paragraphs>159</Paragraphs>
  <Slides>30</Slides>
  <Notes>0</Notes>
  <HiddenSlides>0</HiddenSlides>
  <MMClips>0</MMClips>
  <ScaleCrop>false</ScaleCrop>
  <HeadingPairs>
    <vt:vector size="4" baseType="variant">
      <vt:variant>
        <vt:lpstr>Theme</vt:lpstr>
      </vt:variant>
      <vt:variant>
        <vt:i4>1</vt:i4>
      </vt:variant>
      <vt:variant>
        <vt:lpstr>Slide Titles</vt:lpstr>
      </vt:variant>
      <vt:variant>
        <vt:i4>30</vt:i4>
      </vt:variant>
    </vt:vector>
  </HeadingPairs>
  <TitlesOfParts>
    <vt:vector size="31" baseType="lpstr">
      <vt:lpstr>Flow</vt:lpstr>
      <vt:lpstr>Academic Writing</vt:lpstr>
      <vt:lpstr>Written academic English is objective</vt:lpstr>
      <vt:lpstr>Written Academic English is Cautious</vt:lpstr>
      <vt:lpstr>Hedging</vt:lpstr>
      <vt:lpstr>Hedging</vt:lpstr>
      <vt:lpstr>Boosters</vt:lpstr>
      <vt:lpstr>PowerPoint Presentation</vt:lpstr>
      <vt:lpstr>Written Academic English is formal</vt:lpstr>
      <vt:lpstr>Written Academic English is formal</vt:lpstr>
      <vt:lpstr>Choice of words</vt:lpstr>
      <vt:lpstr>Avoid phrasal verbs and idioms</vt:lpstr>
      <vt:lpstr>Avoid phrasal verbs and idioms</vt:lpstr>
      <vt:lpstr>Avoid using the verb ‘get’</vt:lpstr>
      <vt:lpstr>Use nominalizations</vt:lpstr>
      <vt:lpstr>Use nominalizations</vt:lpstr>
      <vt:lpstr>Use pre- and post-modifiers</vt:lpstr>
      <vt:lpstr>Avoid the ‘not + verb’ negative form if an alternative form is available</vt:lpstr>
      <vt:lpstr>If you use the ‘not + verb’ negative form, avoid contracted forms.</vt:lpstr>
      <vt:lpstr>Be concise</vt:lpstr>
      <vt:lpstr>Be concise</vt:lpstr>
      <vt:lpstr>Active and Passive Voice</vt:lpstr>
      <vt:lpstr>Active and Passive Voice</vt:lpstr>
      <vt:lpstr>Use signaling words and phrases to show the structure of your writing</vt:lpstr>
      <vt:lpstr>Have a look at these examples below:</vt:lpstr>
      <vt:lpstr>PowerPoint Presentation</vt:lpstr>
      <vt:lpstr>PowerPoint Presentation</vt:lpstr>
      <vt:lpstr>Examples of signaling words </vt:lpstr>
      <vt:lpstr>Use the correct tense</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Academic Writing</dc:title>
  <dc:creator>naureen.zaman</dc:creator>
  <cp:lastModifiedBy>Toshiba</cp:lastModifiedBy>
  <cp:revision>36</cp:revision>
  <dcterms:created xsi:type="dcterms:W3CDTF">2017-05-11T08:10:22Z</dcterms:created>
  <dcterms:modified xsi:type="dcterms:W3CDTF">2020-11-23T10:31:47Z</dcterms:modified>
</cp:coreProperties>
</file>