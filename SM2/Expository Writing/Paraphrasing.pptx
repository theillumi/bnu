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72" r:id="rId4"/>
    <p:sldId id="273" r:id="rId5"/>
    <p:sldId id="270" r:id="rId6"/>
    <p:sldId id="275" r:id="rId7"/>
    <p:sldId id="258" r:id="rId8"/>
    <p:sldId id="259" r:id="rId9"/>
    <p:sldId id="260" r:id="rId10"/>
    <p:sldId id="261" r:id="rId11"/>
    <p:sldId id="262" r:id="rId12"/>
    <p:sldId id="263" r:id="rId13"/>
    <p:sldId id="264" r:id="rId14"/>
    <p:sldId id="265" r:id="rId15"/>
    <p:sldId id="267" r:id="rId16"/>
    <p:sldId id="274" r:id="rId17"/>
    <p:sldId id="268"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3" d="100"/>
          <a:sy n="63" d="100"/>
        </p:scale>
        <p:origin x="1380"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02E8CD80-6138-4D32-9BD3-02F179521B43}" type="datetimeFigureOut">
              <a:rPr lang="en-US" smtClean="0"/>
              <a:t>3/19/2024</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4864009B-1CD5-4FF6-9312-E6800779BEB1}"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2E8CD80-6138-4D32-9BD3-02F179521B43}" type="datetimeFigureOut">
              <a:rPr lang="en-US" smtClean="0"/>
              <a:t>3/19/2024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64009B-1CD5-4FF6-9312-E6800779BEB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02E8CD80-6138-4D32-9BD3-02F179521B43}" type="datetimeFigureOut">
              <a:rPr lang="en-US" smtClean="0"/>
              <a:t>3/19/2024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64009B-1CD5-4FF6-9312-E6800779BEB1}"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02E8CD80-6138-4D32-9BD3-02F179521B43}" type="datetimeFigureOut">
              <a:rPr lang="en-US" smtClean="0"/>
              <a:t>3/19/2024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64009B-1CD5-4FF6-9312-E6800779BEB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02E8CD80-6138-4D32-9BD3-02F179521B43}" type="datetimeFigureOut">
              <a:rPr lang="en-US" smtClean="0"/>
              <a:t>3/19/2024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64009B-1CD5-4FF6-9312-E6800779BEB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02E8CD80-6138-4D32-9BD3-02F179521B43}" type="datetimeFigureOut">
              <a:rPr lang="en-US" smtClean="0"/>
              <a:t>3/19/2024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64009B-1CD5-4FF6-9312-E6800779BEB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E8CD80-6138-4D32-9BD3-02F179521B43}" type="datetimeFigureOut">
              <a:rPr lang="en-US" smtClean="0"/>
              <a:t>3/19/2024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64009B-1CD5-4FF6-9312-E6800779BEB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02E8CD80-6138-4D32-9BD3-02F179521B43}" type="datetimeFigureOut">
              <a:rPr lang="en-US" smtClean="0"/>
              <a:t>3/19/2024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64009B-1CD5-4FF6-9312-E6800779BEB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02E8CD80-6138-4D32-9BD3-02F179521B43}" type="datetimeFigureOut">
              <a:rPr lang="en-US" smtClean="0"/>
              <a:t>3/19/2024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4864009B-1CD5-4FF6-9312-E6800779BEB1}"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2E8CD80-6138-4D32-9BD3-02F179521B43}" type="datetimeFigureOut">
              <a:rPr lang="en-US" smtClean="0"/>
              <a:t>3/19/2024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64009B-1CD5-4FF6-9312-E6800779BEB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2E8CD80-6138-4D32-9BD3-02F179521B43}" type="datetimeFigureOut">
              <a:rPr lang="en-US" smtClean="0"/>
              <a:t>3/19/2024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64009B-1CD5-4FF6-9312-E6800779BEB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02E8CD80-6138-4D32-9BD3-02F179521B43}" type="datetimeFigureOut">
              <a:rPr lang="en-US" smtClean="0"/>
              <a:t>3/19/2024</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864009B-1CD5-4FF6-9312-E6800779BEB1}"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Paraphrasing</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Paraphrasing</a:t>
            </a:r>
            <a:endParaRPr lang="en-US" dirty="0"/>
          </a:p>
        </p:txBody>
      </p:sp>
      <p:sp>
        <p:nvSpPr>
          <p:cNvPr id="3" name="Content Placeholder 2"/>
          <p:cNvSpPr>
            <a:spLocks noGrp="1"/>
          </p:cNvSpPr>
          <p:nvPr>
            <p:ph idx="1"/>
          </p:nvPr>
        </p:nvSpPr>
        <p:spPr>
          <a:xfrm>
            <a:off x="457200" y="1935480"/>
            <a:ext cx="8229600" cy="4922520"/>
          </a:xfrm>
        </p:spPr>
        <p:txBody>
          <a:bodyPr>
            <a:normAutofit fontScale="85000" lnSpcReduction="20000"/>
          </a:bodyPr>
          <a:lstStyle/>
          <a:p>
            <a:r>
              <a:rPr lang="en-US" dirty="0" smtClean="0"/>
              <a:t>Paraphrasing is a practical method used when wanting to </a:t>
            </a:r>
            <a:r>
              <a:rPr lang="en-US" b="1" u="sng" dirty="0" smtClean="0"/>
              <a:t>rephrase the content of a source</a:t>
            </a:r>
            <a:r>
              <a:rPr lang="en-US" dirty="0" smtClean="0"/>
              <a:t>. </a:t>
            </a:r>
          </a:p>
          <a:p>
            <a:r>
              <a:rPr lang="en-US" dirty="0" smtClean="0"/>
              <a:t>This technique is useful in preventing plagiarism and excessive quotations. </a:t>
            </a:r>
          </a:p>
          <a:p>
            <a:r>
              <a:rPr lang="en-US" dirty="0"/>
              <a:t>A paraphrase restates a passage's ideas in your own words. </a:t>
            </a:r>
            <a:endParaRPr lang="en-US" dirty="0" smtClean="0"/>
          </a:p>
          <a:p>
            <a:r>
              <a:rPr lang="en-US" dirty="0" smtClean="0"/>
              <a:t>The </a:t>
            </a:r>
            <a:r>
              <a:rPr lang="en-US" dirty="0"/>
              <a:t>author's meaning is retained, but your own wording, instead of the author's, is used. </a:t>
            </a:r>
            <a:endParaRPr lang="en-US" dirty="0" smtClean="0"/>
          </a:p>
          <a:p>
            <a:r>
              <a:rPr lang="en-US" dirty="0" smtClean="0"/>
              <a:t>In </a:t>
            </a:r>
            <a:r>
              <a:rPr lang="en-US" dirty="0"/>
              <a:t>paraphrasing, you must pay careful attention to the meaning of the original passage, yet express the same idea in a different way. </a:t>
            </a:r>
            <a:endParaRPr lang="en-US" dirty="0" smtClean="0"/>
          </a:p>
          <a:p>
            <a:r>
              <a:rPr lang="en-US" dirty="0" smtClean="0"/>
              <a:t>Paraphrasing </a:t>
            </a:r>
            <a:r>
              <a:rPr lang="en-US" dirty="0"/>
              <a:t>makes you pay close attention to the author's ideas, and therefore improves your level of understanding. </a:t>
            </a:r>
            <a:endParaRPr lang="en-US" dirty="0" smtClean="0"/>
          </a:p>
          <a:p>
            <a:r>
              <a:rPr lang="en-US" dirty="0" smtClean="0"/>
              <a:t>None </a:t>
            </a:r>
            <a:r>
              <a:rPr lang="en-US" dirty="0"/>
              <a:t>of the original meaning is left out, and nothing is added. </a:t>
            </a:r>
            <a:endParaRPr lang="en-US" dirty="0" smtClean="0"/>
          </a:p>
          <a:p>
            <a:r>
              <a:rPr lang="en-US" dirty="0" smtClean="0"/>
              <a:t>Always</a:t>
            </a:r>
            <a:r>
              <a:rPr lang="en-US" dirty="0"/>
              <a:t>, one of the best ways to make sure that you understand some idea is to see if you can state it in your own words</a:t>
            </a:r>
            <a:r>
              <a:rPr lang="en-US" dirty="0" smtClean="0"/>
              <a:t>.</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When to paraphrase: </a:t>
            </a:r>
            <a:endParaRPr lang="en-US" dirty="0"/>
          </a:p>
        </p:txBody>
      </p:sp>
      <p:sp>
        <p:nvSpPr>
          <p:cNvPr id="3" name="Content Placeholder 2"/>
          <p:cNvSpPr>
            <a:spLocks noGrp="1"/>
          </p:cNvSpPr>
          <p:nvPr>
            <p:ph idx="1"/>
          </p:nvPr>
        </p:nvSpPr>
        <p:spPr/>
        <p:txBody>
          <a:bodyPr/>
          <a:lstStyle/>
          <a:p>
            <a:r>
              <a:rPr lang="en-US" dirty="0" smtClean="0"/>
              <a:t>Paraphrasing </a:t>
            </a:r>
            <a:r>
              <a:rPr lang="en-US" dirty="0"/>
              <a:t>can serve as a form of note-taking, allowing you to retain the writer's exact meaning in the terms that you can remember best. </a:t>
            </a:r>
          </a:p>
          <a:p>
            <a:r>
              <a:rPr lang="en-US" dirty="0" smtClean="0"/>
              <a:t>When </a:t>
            </a:r>
            <a:r>
              <a:rPr lang="en-US" dirty="0"/>
              <a:t>reading reference sources for information for a research paper, paraphrasing is a means of recording information from each source in note form for later use in writing your paper. </a:t>
            </a:r>
          </a:p>
          <a:p>
            <a:r>
              <a:rPr lang="en-US" dirty="0" smtClean="0"/>
              <a:t>Paraphrasing </a:t>
            </a:r>
            <a:r>
              <a:rPr lang="en-US" dirty="0"/>
              <a:t>is helpful for understanding extremely difficult or complicated passages that must be worked out word by word. </a:t>
            </a:r>
          </a:p>
        </p:txBody>
      </p:sp>
    </p:spTree>
    <p:extLst>
      <p:ext uri="{BB962C8B-B14F-4D97-AF65-F5344CB8AC3E}">
        <p14:creationId xmlns:p14="http://schemas.microsoft.com/office/powerpoint/2010/main" val="66497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Difference in Summary and Paraphrase</a:t>
            </a:r>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506066425"/>
              </p:ext>
            </p:extLst>
          </p:nvPr>
        </p:nvGraphicFramePr>
        <p:xfrm>
          <a:off x="152400" y="1847090"/>
          <a:ext cx="8839200" cy="4858512"/>
        </p:xfrm>
        <a:graphic>
          <a:graphicData uri="http://schemas.openxmlformats.org/drawingml/2006/table">
            <a:tbl>
              <a:tblPr firstRow="1" firstCol="1" bandRow="1">
                <a:tableStyleId>{5C22544A-7EE6-4342-B048-85BDC9FD1C3A}</a:tableStyleId>
              </a:tblPr>
              <a:tblGrid>
                <a:gridCol w="2946400">
                  <a:extLst>
                    <a:ext uri="{9D8B030D-6E8A-4147-A177-3AD203B41FA5}">
                      <a16:colId xmlns:a16="http://schemas.microsoft.com/office/drawing/2014/main" val="1969923356"/>
                    </a:ext>
                  </a:extLst>
                </a:gridCol>
                <a:gridCol w="2946400">
                  <a:extLst>
                    <a:ext uri="{9D8B030D-6E8A-4147-A177-3AD203B41FA5}">
                      <a16:colId xmlns:a16="http://schemas.microsoft.com/office/drawing/2014/main" val="2702723850"/>
                    </a:ext>
                  </a:extLst>
                </a:gridCol>
                <a:gridCol w="2946400">
                  <a:extLst>
                    <a:ext uri="{9D8B030D-6E8A-4147-A177-3AD203B41FA5}">
                      <a16:colId xmlns:a16="http://schemas.microsoft.com/office/drawing/2014/main" val="2272087727"/>
                    </a:ext>
                  </a:extLst>
                </a:gridCol>
              </a:tblGrid>
              <a:tr h="390696">
                <a:tc>
                  <a:txBody>
                    <a:bodyPr/>
                    <a:lstStyle/>
                    <a:p>
                      <a:pPr>
                        <a:lnSpc>
                          <a:spcPct val="115000"/>
                        </a:lnSpc>
                        <a:spcAft>
                          <a:spcPts val="0"/>
                        </a:spcAft>
                      </a:pPr>
                      <a:r>
                        <a:rPr lang="en-US" sz="1800" dirty="0">
                          <a:effectLst/>
                        </a:rPr>
                        <a:t>Paraphrasing</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Summarizing</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Quoting</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54959858"/>
                  </a:ext>
                </a:extLst>
              </a:tr>
              <a:tr h="805700">
                <a:tc>
                  <a:txBody>
                    <a:bodyPr/>
                    <a:lstStyle/>
                    <a:p>
                      <a:pPr>
                        <a:lnSpc>
                          <a:spcPct val="115000"/>
                        </a:lnSpc>
                        <a:spcAft>
                          <a:spcPts val="0"/>
                        </a:spcAft>
                      </a:pPr>
                      <a:r>
                        <a:rPr lang="en-US" sz="1800" dirty="0">
                          <a:effectLst/>
                        </a:rPr>
                        <a:t>Does not match the source word for word</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Does not match the source word for word</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Matches the source word for word</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30468531"/>
                  </a:ext>
                </a:extLst>
              </a:tr>
              <a:tr h="1635710">
                <a:tc>
                  <a:txBody>
                    <a:bodyPr/>
                    <a:lstStyle/>
                    <a:p>
                      <a:pPr>
                        <a:lnSpc>
                          <a:spcPct val="115000"/>
                        </a:lnSpc>
                        <a:spcAft>
                          <a:spcPts val="0"/>
                        </a:spcAft>
                      </a:pPr>
                      <a:r>
                        <a:rPr lang="en-US" sz="1800" dirty="0">
                          <a:effectLst/>
                        </a:rPr>
                        <a:t>Involves putting a section of a text into your own words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Involves putting the main ideas into your own words, and including only the main points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Usually a brief piece of the text</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00961752"/>
                  </a:ext>
                </a:extLst>
              </a:tr>
              <a:tr h="1635710">
                <a:tc>
                  <a:txBody>
                    <a:bodyPr/>
                    <a:lstStyle/>
                    <a:p>
                      <a:pPr>
                        <a:lnSpc>
                          <a:spcPct val="115000"/>
                        </a:lnSpc>
                        <a:spcAft>
                          <a:spcPts val="0"/>
                        </a:spcAft>
                      </a:pPr>
                      <a:r>
                        <a:rPr lang="en-US" sz="1800">
                          <a:effectLst/>
                        </a:rPr>
                        <a:t>Changes the words or phrasing in a passage but keeps the original meaning</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Is usually much shorter than the original</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Quotation marks used either side of the quoted words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55816327"/>
                  </a:ext>
                </a:extLst>
              </a:tr>
              <a:tr h="390696">
                <a:tc>
                  <a:txBody>
                    <a:bodyPr/>
                    <a:lstStyle/>
                    <a:p>
                      <a:pPr>
                        <a:lnSpc>
                          <a:spcPct val="115000"/>
                        </a:lnSpc>
                        <a:spcAft>
                          <a:spcPts val="0"/>
                        </a:spcAft>
                      </a:pPr>
                      <a:r>
                        <a:rPr lang="en-US" sz="1800">
                          <a:effectLst/>
                        </a:rPr>
                        <a:t>Must be referenced</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a:effectLst/>
                        </a:rPr>
                        <a:t>Must be referenced</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800" dirty="0">
                          <a:effectLst/>
                        </a:rPr>
                        <a:t>Must be referenced</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60812768"/>
                  </a:ext>
                </a:extLst>
              </a:tr>
            </a:tbl>
          </a:graphicData>
        </a:graphic>
      </p:graphicFrame>
    </p:spTree>
    <p:extLst>
      <p:ext uri="{BB962C8B-B14F-4D97-AF65-F5344CB8AC3E}">
        <p14:creationId xmlns:p14="http://schemas.microsoft.com/office/powerpoint/2010/main" val="1641314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Paraphrasing Sentences:</a:t>
            </a:r>
            <a:r>
              <a:rPr lang="en-US" dirty="0"/>
              <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pPr lvl="0"/>
            <a:r>
              <a:rPr lang="en-US" i="1" dirty="0">
                <a:solidFill>
                  <a:srgbClr val="0070C0"/>
                </a:solidFill>
              </a:rPr>
              <a:t>Original</a:t>
            </a:r>
            <a:r>
              <a:rPr lang="en-US" b="1" dirty="0">
                <a:solidFill>
                  <a:srgbClr val="0070C0"/>
                </a:solidFill>
              </a:rPr>
              <a:t>:</a:t>
            </a:r>
            <a:r>
              <a:rPr lang="en-US" dirty="0">
                <a:solidFill>
                  <a:srgbClr val="0070C0"/>
                </a:solidFill>
              </a:rPr>
              <a:t> Her life spanned years of incredible change for women as they gained more </a:t>
            </a:r>
            <a:r>
              <a:rPr lang="en-US" dirty="0" smtClean="0">
                <a:solidFill>
                  <a:srgbClr val="0070C0"/>
                </a:solidFill>
              </a:rPr>
              <a:t>rights </a:t>
            </a:r>
            <a:r>
              <a:rPr lang="en-US" dirty="0">
                <a:solidFill>
                  <a:srgbClr val="0070C0"/>
                </a:solidFill>
              </a:rPr>
              <a:t>than ever before.</a:t>
            </a:r>
          </a:p>
          <a:p>
            <a:r>
              <a:rPr lang="en-US" i="1" dirty="0" smtClean="0">
                <a:solidFill>
                  <a:schemeClr val="accent6">
                    <a:lumMod val="50000"/>
                  </a:schemeClr>
                </a:solidFill>
              </a:rPr>
              <a:t>Paraphrase</a:t>
            </a:r>
            <a:r>
              <a:rPr lang="en-US" i="1" dirty="0">
                <a:solidFill>
                  <a:schemeClr val="accent6">
                    <a:lumMod val="50000"/>
                  </a:schemeClr>
                </a:solidFill>
              </a:rPr>
              <a:t>:</a:t>
            </a:r>
            <a:r>
              <a:rPr lang="en-US" dirty="0">
                <a:solidFill>
                  <a:schemeClr val="accent6">
                    <a:lumMod val="50000"/>
                  </a:schemeClr>
                </a:solidFill>
              </a:rPr>
              <a:t> She lived through the exciting era of women's liberation.</a:t>
            </a:r>
          </a:p>
          <a:p>
            <a:pPr lvl="0"/>
            <a:endParaRPr lang="en-US" i="1" dirty="0" smtClean="0"/>
          </a:p>
          <a:p>
            <a:pPr lvl="0"/>
            <a:r>
              <a:rPr lang="en-US" i="1" dirty="0" smtClean="0">
                <a:solidFill>
                  <a:srgbClr val="0070C0"/>
                </a:solidFill>
              </a:rPr>
              <a:t>Original</a:t>
            </a:r>
            <a:r>
              <a:rPr lang="en-US" b="1" dirty="0">
                <a:solidFill>
                  <a:srgbClr val="0070C0"/>
                </a:solidFill>
              </a:rPr>
              <a:t>:</a:t>
            </a:r>
            <a:r>
              <a:rPr lang="en-US" dirty="0">
                <a:solidFill>
                  <a:srgbClr val="0070C0"/>
                </a:solidFill>
              </a:rPr>
              <a:t> Giraffes like Acacia leaves and hay, and they can consume 75 pounds of food a day.</a:t>
            </a:r>
            <a:br>
              <a:rPr lang="en-US" dirty="0">
                <a:solidFill>
                  <a:srgbClr val="0070C0"/>
                </a:solidFill>
              </a:rPr>
            </a:br>
            <a:r>
              <a:rPr lang="en-US" i="1" dirty="0">
                <a:solidFill>
                  <a:schemeClr val="accent6">
                    <a:lumMod val="50000"/>
                  </a:schemeClr>
                </a:solidFill>
              </a:rPr>
              <a:t>Paraphrase</a:t>
            </a:r>
            <a:r>
              <a:rPr lang="en-US" b="1" dirty="0">
                <a:solidFill>
                  <a:schemeClr val="accent6">
                    <a:lumMod val="50000"/>
                  </a:schemeClr>
                </a:solidFill>
              </a:rPr>
              <a:t>:</a:t>
            </a:r>
            <a:r>
              <a:rPr lang="en-US" dirty="0">
                <a:solidFill>
                  <a:schemeClr val="accent6">
                    <a:lumMod val="50000"/>
                  </a:schemeClr>
                </a:solidFill>
              </a:rPr>
              <a:t> A giraffe can eat up to 75 pounds of Acacia leaves and hay daily.</a:t>
            </a:r>
          </a:p>
          <a:p>
            <a:pPr lvl="0"/>
            <a:endParaRPr lang="en-US" i="1" dirty="0" smtClean="0"/>
          </a:p>
          <a:p>
            <a:pPr lvl="0"/>
            <a:r>
              <a:rPr lang="en-US" i="1" dirty="0" smtClean="0">
                <a:solidFill>
                  <a:srgbClr val="0070C0"/>
                </a:solidFill>
              </a:rPr>
              <a:t>Original</a:t>
            </a:r>
            <a:r>
              <a:rPr lang="en-US" b="1" dirty="0">
                <a:solidFill>
                  <a:srgbClr val="0070C0"/>
                </a:solidFill>
              </a:rPr>
              <a:t>:</a:t>
            </a:r>
            <a:r>
              <a:rPr lang="en-US" dirty="0">
                <a:solidFill>
                  <a:srgbClr val="0070C0"/>
                </a:solidFill>
              </a:rPr>
              <a:t> Any trip to Italy should include a visit to Tuscany to sample the region's exquisite wines.</a:t>
            </a:r>
            <a:br>
              <a:rPr lang="en-US" dirty="0">
                <a:solidFill>
                  <a:srgbClr val="0070C0"/>
                </a:solidFill>
              </a:rPr>
            </a:br>
            <a:r>
              <a:rPr lang="en-US" i="1" dirty="0">
                <a:solidFill>
                  <a:schemeClr val="accent6">
                    <a:lumMod val="50000"/>
                  </a:schemeClr>
                </a:solidFill>
              </a:rPr>
              <a:t>Paraphrase</a:t>
            </a:r>
            <a:r>
              <a:rPr lang="en-US" b="1" dirty="0">
                <a:solidFill>
                  <a:schemeClr val="accent6">
                    <a:lumMod val="50000"/>
                  </a:schemeClr>
                </a:solidFill>
              </a:rPr>
              <a:t>:</a:t>
            </a:r>
            <a:r>
              <a:rPr lang="en-US" dirty="0">
                <a:solidFill>
                  <a:schemeClr val="accent6">
                    <a:lumMod val="50000"/>
                  </a:schemeClr>
                </a:solidFill>
              </a:rPr>
              <a:t> Be sure to make time for a Tuscan wine-tasting experience when visiting Italy.</a:t>
            </a:r>
          </a:p>
          <a:p>
            <a:endParaRPr lang="en-US" dirty="0"/>
          </a:p>
        </p:txBody>
      </p:sp>
    </p:spTree>
    <p:extLst>
      <p:ext uri="{BB962C8B-B14F-4D97-AF65-F5344CB8AC3E}">
        <p14:creationId xmlns:p14="http://schemas.microsoft.com/office/powerpoint/2010/main" val="643537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b="1" i="1" dirty="0" smtClean="0"/>
          </a:p>
          <a:p>
            <a:r>
              <a:rPr lang="en-US" dirty="0" smtClean="0"/>
              <a:t>Let’s see some tips </a:t>
            </a:r>
            <a:r>
              <a:rPr lang="en-US" dirty="0"/>
              <a:t>for paraphrasing</a:t>
            </a:r>
          </a:p>
        </p:txBody>
      </p:sp>
    </p:spTree>
    <p:extLst>
      <p:ext uri="{BB962C8B-B14F-4D97-AF65-F5344CB8AC3E}">
        <p14:creationId xmlns:p14="http://schemas.microsoft.com/office/powerpoint/2010/main" val="1211843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Digest the author’s intention </a:t>
            </a:r>
            <a:endParaRPr lang="en-US" dirty="0"/>
          </a:p>
        </p:txBody>
      </p:sp>
      <p:sp>
        <p:nvSpPr>
          <p:cNvPr id="3" name="Content Placeholder 2"/>
          <p:cNvSpPr>
            <a:spLocks noGrp="1"/>
          </p:cNvSpPr>
          <p:nvPr>
            <p:ph idx="1"/>
          </p:nvPr>
        </p:nvSpPr>
        <p:spPr/>
        <p:txBody>
          <a:bodyPr/>
          <a:lstStyle/>
          <a:p>
            <a:r>
              <a:rPr lang="en-US" dirty="0" smtClean="0"/>
              <a:t>Thoroughly read the original source until the main idea or content is clearly identified. </a:t>
            </a:r>
          </a:p>
          <a:p>
            <a:r>
              <a:rPr lang="en-US" dirty="0" smtClean="0"/>
              <a:t>Once the message is understood, the text should be put away to avoid an exact replica. </a:t>
            </a:r>
          </a:p>
          <a:p>
            <a:r>
              <a:rPr lang="en-US" dirty="0" smtClean="0"/>
              <a:t>Begin paraphrasing by putting the general idea into your own words. It helps to use note cards that can be designated for this specific purpose. </a:t>
            </a:r>
          </a:p>
          <a:p>
            <a:endParaRPr lang="en-US" dirty="0"/>
          </a:p>
          <a:p>
            <a:r>
              <a:rPr lang="en-US" b="1" i="1" dirty="0"/>
              <a:t>Start your first sentence at a different point from that of the original source</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Length</a:t>
            </a:r>
            <a:endParaRPr lang="en-US" dirty="0"/>
          </a:p>
        </p:txBody>
      </p:sp>
      <p:sp>
        <p:nvSpPr>
          <p:cNvPr id="3" name="Content Placeholder 2"/>
          <p:cNvSpPr>
            <a:spLocks noGrp="1"/>
          </p:cNvSpPr>
          <p:nvPr>
            <p:ph idx="1"/>
          </p:nvPr>
        </p:nvSpPr>
        <p:spPr/>
        <p:txBody>
          <a:bodyPr/>
          <a:lstStyle/>
          <a:p>
            <a:r>
              <a:rPr lang="en-US" dirty="0" smtClean="0"/>
              <a:t>It’s important to know that a paraphrase does not have to be the same length as the initial source.</a:t>
            </a:r>
          </a:p>
          <a:p>
            <a:r>
              <a:rPr lang="en-US" dirty="0" smtClean="0"/>
              <a:t> In some cases it can be shorter or longer than the source. However, the general idea of the source must still be presented</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the thesaurus moderately</a:t>
            </a:r>
            <a:endParaRPr lang="en-US" dirty="0"/>
          </a:p>
        </p:txBody>
      </p:sp>
      <p:sp>
        <p:nvSpPr>
          <p:cNvPr id="3" name="Content Placeholder 2"/>
          <p:cNvSpPr>
            <a:spLocks noGrp="1"/>
          </p:cNvSpPr>
          <p:nvPr>
            <p:ph idx="1"/>
          </p:nvPr>
        </p:nvSpPr>
        <p:spPr/>
        <p:txBody>
          <a:bodyPr>
            <a:normAutofit/>
          </a:bodyPr>
          <a:lstStyle/>
          <a:p>
            <a:r>
              <a:rPr lang="en-US" dirty="0" smtClean="0"/>
              <a:t>Keep it simple! Often the use of a thesaurus may result in jargon and the focus might be lost. </a:t>
            </a:r>
          </a:p>
          <a:p>
            <a:r>
              <a:rPr lang="en-US" dirty="0" smtClean="0"/>
              <a:t>Therefore, the best way to paraphrase is by making sure you keep the general idea in your own words, not the Thesaurus’ words, or the original author’s words. </a:t>
            </a:r>
          </a:p>
          <a:p>
            <a:r>
              <a:rPr lang="en-US" dirty="0" smtClean="0"/>
              <a:t>Remember you are rephrasing the source’s original focus not changing a couple of words or sentences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Get to the point</a:t>
            </a:r>
            <a:endParaRPr lang="en-US" dirty="0"/>
          </a:p>
        </p:txBody>
      </p:sp>
      <p:sp>
        <p:nvSpPr>
          <p:cNvPr id="3" name="Content Placeholder 2"/>
          <p:cNvSpPr>
            <a:spLocks noGrp="1"/>
          </p:cNvSpPr>
          <p:nvPr>
            <p:ph idx="1"/>
          </p:nvPr>
        </p:nvSpPr>
        <p:spPr/>
        <p:txBody>
          <a:bodyPr/>
          <a:lstStyle/>
          <a:p>
            <a:r>
              <a:rPr lang="en-US" dirty="0" smtClean="0"/>
              <a:t>Make the paraphrase yours. </a:t>
            </a:r>
            <a:r>
              <a:rPr lang="en-US" b="1" u="sng" dirty="0" smtClean="0"/>
              <a:t>It should not look like the original. </a:t>
            </a:r>
          </a:p>
          <a:p>
            <a:r>
              <a:rPr lang="en-US" dirty="0" smtClean="0"/>
              <a:t>If there exists too much of a resemblance between the original and the paraphrase, then it should be revised. </a:t>
            </a:r>
          </a:p>
          <a:p>
            <a:r>
              <a:rPr lang="en-US" dirty="0" smtClean="0"/>
              <a:t>Remember the goal is to restate the message of the source in your own words using your own sentence structure.</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Similar Words</a:t>
            </a:r>
            <a:endParaRPr lang="en-US" dirty="0"/>
          </a:p>
        </p:txBody>
      </p:sp>
      <p:sp>
        <p:nvSpPr>
          <p:cNvPr id="3" name="Content Placeholder 2"/>
          <p:cNvSpPr>
            <a:spLocks noGrp="1"/>
          </p:cNvSpPr>
          <p:nvPr>
            <p:ph idx="1"/>
          </p:nvPr>
        </p:nvSpPr>
        <p:spPr/>
        <p:txBody>
          <a:bodyPr/>
          <a:lstStyle/>
          <a:p>
            <a:r>
              <a:rPr lang="en-US" dirty="0" smtClean="0"/>
              <a:t>It might help to count or highlight the number of words that are similar with the ones of the original passage. </a:t>
            </a:r>
          </a:p>
          <a:p>
            <a:r>
              <a:rPr lang="en-US" dirty="0" smtClean="0"/>
              <a:t>Then, compare them to how often they are used in the original source. If there are too many similar words, then you should rewrite it.</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Exact Words</a:t>
            </a:r>
            <a:endParaRPr lang="en-US" dirty="0"/>
          </a:p>
        </p:txBody>
      </p:sp>
      <p:sp>
        <p:nvSpPr>
          <p:cNvPr id="3" name="Content Placeholder 2"/>
          <p:cNvSpPr>
            <a:spLocks noGrp="1"/>
          </p:cNvSpPr>
          <p:nvPr>
            <p:ph idx="1"/>
          </p:nvPr>
        </p:nvSpPr>
        <p:spPr/>
        <p:txBody>
          <a:bodyPr/>
          <a:lstStyle/>
          <a:p>
            <a:r>
              <a:rPr lang="en-US" dirty="0" smtClean="0"/>
              <a:t>If you find that you use exact words from the original text, then it is important to put them in quotation marks and provide the proper citation to accredit the author. </a:t>
            </a:r>
          </a:p>
          <a:p>
            <a:r>
              <a:rPr lang="en-US" dirty="0" smtClean="0"/>
              <a:t>In other words, it’s okay to utilize </a:t>
            </a:r>
            <a:r>
              <a:rPr lang="en-US" b="1" u="sng" dirty="0" smtClean="0"/>
              <a:t>some words </a:t>
            </a:r>
            <a:r>
              <a:rPr lang="en-US" dirty="0" smtClean="0"/>
              <a:t>from the original source, but make sure that your own words are predominant in your paraphrase.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Always include Citations</a:t>
            </a:r>
            <a:endParaRPr lang="en-US" dirty="0"/>
          </a:p>
        </p:txBody>
      </p:sp>
      <p:sp>
        <p:nvSpPr>
          <p:cNvPr id="3" name="Content Placeholder 2"/>
          <p:cNvSpPr>
            <a:spLocks noGrp="1"/>
          </p:cNvSpPr>
          <p:nvPr>
            <p:ph idx="1"/>
          </p:nvPr>
        </p:nvSpPr>
        <p:spPr/>
        <p:txBody>
          <a:bodyPr/>
          <a:lstStyle/>
          <a:p>
            <a:r>
              <a:rPr lang="en-US" dirty="0" smtClean="0"/>
              <a:t>The author of the original text should always be acknowledged. </a:t>
            </a:r>
          </a:p>
          <a:p>
            <a:r>
              <a:rPr lang="en-US" dirty="0" smtClean="0"/>
              <a:t>Accurate citation should be provided either at the beginning or at the end of your paraphrase. </a:t>
            </a:r>
          </a:p>
          <a:p>
            <a:r>
              <a:rPr lang="en-US" dirty="0" smtClean="0"/>
              <a:t>Either before or after the paraphrase, you should include the citation.</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8229600" cy="685800"/>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228600" y="1066800"/>
            <a:ext cx="4267200" cy="4525963"/>
          </a:xfrm>
        </p:spPr>
        <p:txBody>
          <a:bodyPr>
            <a:normAutofit fontScale="55000" lnSpcReduction="20000"/>
          </a:bodyPr>
          <a:lstStyle/>
          <a:p>
            <a:r>
              <a:rPr lang="en-US" b="1" u="sng" dirty="0" smtClean="0"/>
              <a:t>Original passage</a:t>
            </a:r>
          </a:p>
          <a:p>
            <a:pPr>
              <a:buNone/>
            </a:pPr>
            <a:endParaRPr lang="en-US" sz="4000" dirty="0" smtClean="0"/>
          </a:p>
          <a:p>
            <a:pPr>
              <a:buNone/>
            </a:pPr>
            <a:r>
              <a:rPr lang="en-US" sz="4000" dirty="0" smtClean="0"/>
              <a:t> </a:t>
            </a:r>
            <a:r>
              <a:rPr lang="en-US" sz="4400" dirty="0" smtClean="0"/>
              <a:t>The chronically ill are by no means confined to hospitals or other institutions. If you think for a moment about your friends and acquaintances, you will recognize that many of the chronically ill live in the general community and lead perfectly normal, happy lives within their limitations (Anderson, 281).</a:t>
            </a:r>
            <a:endParaRPr lang="en-US" sz="4400" dirty="0"/>
          </a:p>
        </p:txBody>
      </p:sp>
      <p:sp>
        <p:nvSpPr>
          <p:cNvPr id="4" name="TextBox 3"/>
          <p:cNvSpPr txBox="1"/>
          <p:nvPr/>
        </p:nvSpPr>
        <p:spPr>
          <a:xfrm>
            <a:off x="4724400" y="1066800"/>
            <a:ext cx="4419600" cy="4431983"/>
          </a:xfrm>
          <a:prstGeom prst="rect">
            <a:avLst/>
          </a:prstGeom>
          <a:noFill/>
        </p:spPr>
        <p:txBody>
          <a:bodyPr wrap="square" rtlCol="0">
            <a:spAutoFit/>
          </a:bodyPr>
          <a:lstStyle/>
          <a:p>
            <a:r>
              <a:rPr lang="en-US" b="1" u="sng" dirty="0" smtClean="0"/>
              <a:t>Paraphrase</a:t>
            </a:r>
          </a:p>
          <a:p>
            <a:endParaRPr lang="en-US" sz="2400" dirty="0" smtClean="0"/>
          </a:p>
          <a:p>
            <a:r>
              <a:rPr lang="en-US" sz="2400" dirty="0" smtClean="0"/>
              <a:t>By no means are the chronically ill confined to hospitals or other institutions. If you consider your friends and acquaintances, you will acknowledge that several of the chronically ill live in the general public and lead a normal, ecstatic lifestyle within their limitations (Anderson, 281).</a:t>
            </a:r>
            <a:endParaRPr lang="en-US" sz="2400" dirty="0"/>
          </a:p>
        </p:txBody>
      </p:sp>
      <p:sp>
        <p:nvSpPr>
          <p:cNvPr id="5" name="TextBox 4"/>
          <p:cNvSpPr txBox="1"/>
          <p:nvPr/>
        </p:nvSpPr>
        <p:spPr>
          <a:xfrm>
            <a:off x="1143000" y="5288340"/>
            <a:ext cx="6858000" cy="1569660"/>
          </a:xfrm>
          <a:prstGeom prst="rect">
            <a:avLst/>
          </a:prstGeom>
          <a:noFill/>
        </p:spPr>
        <p:txBody>
          <a:bodyPr wrap="square" rtlCol="0">
            <a:spAutoFit/>
          </a:bodyPr>
          <a:lstStyle/>
          <a:p>
            <a:r>
              <a:rPr lang="en-US" sz="2400" dirty="0" smtClean="0">
                <a:solidFill>
                  <a:srgbClr val="FF0000"/>
                </a:solidFill>
              </a:rPr>
              <a:t>Problem: Too similar with the original source.</a:t>
            </a:r>
          </a:p>
          <a:p>
            <a:pPr algn="ctr"/>
            <a:r>
              <a:rPr lang="en-US" sz="2400" dirty="0" smtClean="0">
                <a:solidFill>
                  <a:srgbClr val="FF0000"/>
                </a:solidFill>
              </a:rPr>
              <a:t> It follows similar sentence structures and diction with the exception of an occasional replacement word. </a:t>
            </a:r>
            <a:r>
              <a:rPr lang="en-US" sz="2400" b="1" dirty="0" smtClean="0"/>
              <a:t>Plagiarized!!</a:t>
            </a:r>
            <a:endParaRPr lang="en-US" sz="2400" dirty="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lstStyle/>
          <a:p>
            <a:r>
              <a:rPr lang="en-US" dirty="0" smtClean="0"/>
              <a:t>A Better Version!</a:t>
            </a:r>
            <a:endParaRPr lang="en-US" dirty="0"/>
          </a:p>
        </p:txBody>
      </p:sp>
      <p:sp>
        <p:nvSpPr>
          <p:cNvPr id="3" name="Content Placeholder 2"/>
          <p:cNvSpPr>
            <a:spLocks noGrp="1"/>
          </p:cNvSpPr>
          <p:nvPr>
            <p:ph idx="1"/>
          </p:nvPr>
        </p:nvSpPr>
        <p:spPr>
          <a:xfrm>
            <a:off x="4953000" y="1828800"/>
            <a:ext cx="3581400" cy="3154363"/>
          </a:xfrm>
        </p:spPr>
        <p:txBody>
          <a:bodyPr>
            <a:normAutofit fontScale="77500" lnSpcReduction="20000"/>
          </a:bodyPr>
          <a:lstStyle/>
          <a:p>
            <a:r>
              <a:rPr lang="en-US" sz="3400" dirty="0"/>
              <a:t>Revised Paraphrase</a:t>
            </a:r>
          </a:p>
          <a:p>
            <a:pPr>
              <a:buNone/>
            </a:pPr>
            <a:r>
              <a:rPr lang="en-US" sz="3400" dirty="0"/>
              <a:t>Despite some </a:t>
            </a:r>
            <a:r>
              <a:rPr lang="en-US" sz="3400" dirty="0" smtClean="0"/>
              <a:t>restrictions</a:t>
            </a:r>
            <a:r>
              <a:rPr lang="en-US" sz="3400" dirty="0"/>
              <a:t>, the chronically ill live an ordinary life. Often they can reside away from a hospital environment (Anderson, 281).</a:t>
            </a:r>
          </a:p>
        </p:txBody>
      </p:sp>
      <p:sp>
        <p:nvSpPr>
          <p:cNvPr id="4" name="Content Placeholder 2"/>
          <p:cNvSpPr txBox="1">
            <a:spLocks/>
          </p:cNvSpPr>
          <p:nvPr/>
        </p:nvSpPr>
        <p:spPr>
          <a:xfrm>
            <a:off x="457200" y="1600200"/>
            <a:ext cx="4267200" cy="4525963"/>
          </a:xfrm>
          <a:prstGeom prst="rect">
            <a:avLst/>
          </a:prstGeom>
        </p:spPr>
        <p:txBody>
          <a:bodyPr vert="horz" lIns="91440" tIns="45720" rIns="91440" bIns="45720" rtlCol="0">
            <a:normAutofit fontScale="550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1" i="0" u="sng" strike="noStrike" kern="1200" cap="none" spc="0" normalizeH="0" baseline="0" noProof="0" dirty="0" smtClean="0">
                <a:ln>
                  <a:noFill/>
                </a:ln>
                <a:solidFill>
                  <a:schemeClr val="tx1"/>
                </a:solidFill>
                <a:effectLst/>
                <a:uLnTx/>
                <a:uFillTx/>
                <a:latin typeface="+mn-lt"/>
                <a:ea typeface="+mn-ea"/>
                <a:cs typeface="+mn-cs"/>
              </a:rPr>
              <a:t>Original passage</a:t>
            </a:r>
            <a:endParaRPr kumimoji="0" lang="en-US" sz="4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40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4400" b="0" i="0" u="none" strike="noStrike" kern="1200" cap="none" spc="0" normalizeH="0" baseline="0" noProof="0" dirty="0" smtClean="0">
                <a:ln>
                  <a:noFill/>
                </a:ln>
                <a:solidFill>
                  <a:schemeClr val="tx1"/>
                </a:solidFill>
                <a:effectLst/>
                <a:uLnTx/>
                <a:uFillTx/>
                <a:latin typeface="+mn-lt"/>
                <a:ea typeface="+mn-ea"/>
                <a:cs typeface="+mn-cs"/>
              </a:rPr>
              <a:t>The chronically ill are by no means confined to hospitals or other institutions. If you think for a moment about your friends and acquaintances, you will recognize that many of the chronically ill live in the general community and lead perfectly normal, happy lives within their limitations (Anderson, 281).</a:t>
            </a:r>
          </a:p>
        </p:txBody>
      </p:sp>
      <p:sp>
        <p:nvSpPr>
          <p:cNvPr id="5" name="TextBox 4"/>
          <p:cNvSpPr txBox="1"/>
          <p:nvPr/>
        </p:nvSpPr>
        <p:spPr>
          <a:xfrm>
            <a:off x="1828800" y="5288340"/>
            <a:ext cx="7315200" cy="1569660"/>
          </a:xfrm>
          <a:prstGeom prst="rect">
            <a:avLst/>
          </a:prstGeom>
          <a:noFill/>
        </p:spPr>
        <p:txBody>
          <a:bodyPr wrap="square" rtlCol="0">
            <a:spAutoFit/>
          </a:bodyPr>
          <a:lstStyle/>
          <a:p>
            <a:r>
              <a:rPr lang="en-US" sz="2400" dirty="0">
                <a:solidFill>
                  <a:srgbClr val="FF0000"/>
                </a:solidFill>
              </a:rPr>
              <a:t>Here, the paraphrase gets to the point and is void of lengthy diction and drivel. The original message is still conveyed with different sentence structures and word choice.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Another Sample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48741481"/>
              </p:ext>
            </p:extLst>
          </p:nvPr>
        </p:nvGraphicFramePr>
        <p:xfrm>
          <a:off x="457200" y="1935163"/>
          <a:ext cx="8229600" cy="45770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3796531580"/>
                    </a:ext>
                  </a:extLst>
                </a:gridCol>
                <a:gridCol w="2743200">
                  <a:extLst>
                    <a:ext uri="{9D8B030D-6E8A-4147-A177-3AD203B41FA5}">
                      <a16:colId xmlns:a16="http://schemas.microsoft.com/office/drawing/2014/main" val="493146164"/>
                    </a:ext>
                  </a:extLst>
                </a:gridCol>
                <a:gridCol w="2743200">
                  <a:extLst>
                    <a:ext uri="{9D8B030D-6E8A-4147-A177-3AD203B41FA5}">
                      <a16:colId xmlns:a16="http://schemas.microsoft.com/office/drawing/2014/main" val="4220045901"/>
                    </a:ext>
                  </a:extLst>
                </a:gridCol>
              </a:tblGrid>
              <a:tr h="370840">
                <a:tc>
                  <a:txBody>
                    <a:bodyPr/>
                    <a:lstStyle/>
                    <a:p>
                      <a:r>
                        <a:rPr lang="en-US" dirty="0" smtClean="0"/>
                        <a:t>Original Version</a:t>
                      </a:r>
                      <a:endParaRPr lang="en-US" dirty="0"/>
                    </a:p>
                  </a:txBody>
                  <a:tcPr/>
                </a:tc>
                <a:tc>
                  <a:txBody>
                    <a:bodyPr/>
                    <a:lstStyle/>
                    <a:p>
                      <a:r>
                        <a:rPr lang="en-US" dirty="0" smtClean="0"/>
                        <a:t>Poor Paraphrase</a:t>
                      </a:r>
                      <a:endParaRPr lang="en-US" dirty="0"/>
                    </a:p>
                  </a:txBody>
                  <a:tcPr/>
                </a:tc>
                <a:tc>
                  <a:txBody>
                    <a:bodyPr/>
                    <a:lstStyle/>
                    <a:p>
                      <a:r>
                        <a:rPr lang="en-US" dirty="0" smtClean="0"/>
                        <a:t>Legitimate Paraphrase</a:t>
                      </a:r>
                      <a:endParaRPr lang="en-US" dirty="0"/>
                    </a:p>
                  </a:txBody>
                  <a:tcPr/>
                </a:tc>
                <a:extLst>
                  <a:ext uri="{0D108BD9-81ED-4DB2-BD59-A6C34878D82A}">
                    <a16:rowId xmlns:a16="http://schemas.microsoft.com/office/drawing/2014/main" val="4843083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kern="1200" dirty="0" smtClean="0">
                          <a:solidFill>
                            <a:schemeClr val="dk1"/>
                          </a:solidFill>
                          <a:effectLst/>
                          <a:latin typeface="+mn-lt"/>
                          <a:ea typeface="+mn-ea"/>
                          <a:cs typeface="+mn-cs"/>
                        </a:rPr>
                        <a:t>Differentiation as an instructional approach promotes a balance between a student's style and a student's ability. Differentiated instruction provides the student with options for processing and internalizing the content, and for constructing new learning in order to progress academically.</a:t>
                      </a:r>
                    </a:p>
                    <a:p>
                      <a:endParaRPr lang="en-US" dirty="0"/>
                    </a:p>
                  </a:txBody>
                  <a:tcPr/>
                </a:tc>
                <a:tc>
                  <a:txBody>
                    <a:bodyPr/>
                    <a:lstStyle/>
                    <a:p>
                      <a:r>
                        <a:rPr kumimoji="0" lang="en-US" sz="1800" kern="1200" dirty="0" smtClean="0">
                          <a:solidFill>
                            <a:schemeClr val="dk1"/>
                          </a:solidFill>
                          <a:effectLst/>
                          <a:latin typeface="+mn-lt"/>
                          <a:ea typeface="+mn-ea"/>
                          <a:cs typeface="+mn-cs"/>
                        </a:rPr>
                        <a:t>Differentiation is a </a:t>
                      </a:r>
                      <a:r>
                        <a:rPr kumimoji="0" lang="en-US" sz="1800" u="sng" kern="1200" dirty="0" smtClean="0">
                          <a:solidFill>
                            <a:schemeClr val="dk1"/>
                          </a:solidFill>
                          <a:effectLst/>
                          <a:latin typeface="+mn-lt"/>
                          <a:ea typeface="+mn-ea"/>
                          <a:cs typeface="+mn-cs"/>
                        </a:rPr>
                        <a:t>way</a:t>
                      </a:r>
                      <a:r>
                        <a:rPr kumimoji="0" lang="en-US" sz="1800" kern="1200" dirty="0" smtClean="0">
                          <a:solidFill>
                            <a:schemeClr val="dk1"/>
                          </a:solidFill>
                          <a:effectLst/>
                          <a:latin typeface="+mn-lt"/>
                          <a:ea typeface="+mn-ea"/>
                          <a:cs typeface="+mn-cs"/>
                        </a:rPr>
                        <a:t> to </a:t>
                      </a:r>
                      <a:r>
                        <a:rPr kumimoji="0" lang="en-US" sz="1800" u="sng" kern="1200" dirty="0" smtClean="0">
                          <a:solidFill>
                            <a:schemeClr val="dk1"/>
                          </a:solidFill>
                          <a:effectLst/>
                          <a:latin typeface="+mn-lt"/>
                          <a:ea typeface="+mn-ea"/>
                          <a:cs typeface="+mn-cs"/>
                        </a:rPr>
                        <a:t>encourage</a:t>
                      </a:r>
                      <a:r>
                        <a:rPr kumimoji="0" lang="en-US" sz="1800" kern="1200" dirty="0" smtClean="0">
                          <a:solidFill>
                            <a:schemeClr val="dk1"/>
                          </a:solidFill>
                          <a:effectLst/>
                          <a:latin typeface="+mn-lt"/>
                          <a:ea typeface="+mn-ea"/>
                          <a:cs typeface="+mn-cs"/>
                        </a:rPr>
                        <a:t> </a:t>
                      </a:r>
                      <a:r>
                        <a:rPr kumimoji="0" lang="en-US" sz="1800" u="sng" kern="1200" dirty="0" smtClean="0">
                          <a:solidFill>
                            <a:schemeClr val="dk1"/>
                          </a:solidFill>
                          <a:effectLst/>
                          <a:latin typeface="+mn-lt"/>
                          <a:ea typeface="+mn-ea"/>
                          <a:cs typeface="+mn-cs"/>
                        </a:rPr>
                        <a:t>equality</a:t>
                      </a:r>
                      <a:r>
                        <a:rPr kumimoji="0" lang="en-US" sz="1800" kern="1200" dirty="0" smtClean="0">
                          <a:solidFill>
                            <a:schemeClr val="dk1"/>
                          </a:solidFill>
                          <a:effectLst/>
                          <a:latin typeface="+mn-lt"/>
                          <a:ea typeface="+mn-ea"/>
                          <a:cs typeface="+mn-cs"/>
                        </a:rPr>
                        <a:t> between the </a:t>
                      </a:r>
                      <a:r>
                        <a:rPr kumimoji="0" lang="en-US" sz="1800" u="sng" kern="1200" dirty="0" smtClean="0">
                          <a:solidFill>
                            <a:schemeClr val="dk1"/>
                          </a:solidFill>
                          <a:effectLst/>
                          <a:latin typeface="+mn-lt"/>
                          <a:ea typeface="+mn-ea"/>
                          <a:cs typeface="+mn-cs"/>
                        </a:rPr>
                        <a:t>approach and talent of the student</a:t>
                      </a:r>
                      <a:r>
                        <a:rPr kumimoji="0" lang="en-US" sz="1800" kern="1200" dirty="0" smtClean="0">
                          <a:solidFill>
                            <a:schemeClr val="dk1"/>
                          </a:solidFill>
                          <a:effectLst/>
                          <a:latin typeface="+mn-lt"/>
                          <a:ea typeface="+mn-ea"/>
                          <a:cs typeface="+mn-cs"/>
                        </a:rPr>
                        <a:t> (Thompson, 2009). </a:t>
                      </a:r>
                      <a:r>
                        <a:rPr kumimoji="0" lang="en-US" sz="1800" u="sng" kern="1200" dirty="0" smtClean="0">
                          <a:solidFill>
                            <a:schemeClr val="dk1"/>
                          </a:solidFill>
                          <a:effectLst/>
                          <a:latin typeface="+mn-lt"/>
                          <a:ea typeface="+mn-ea"/>
                          <a:cs typeface="+mn-cs"/>
                        </a:rPr>
                        <a:t>This type of instruction gives</a:t>
                      </a:r>
                      <a:r>
                        <a:rPr kumimoji="0" lang="en-US" sz="1800" kern="1200" dirty="0" smtClean="0">
                          <a:solidFill>
                            <a:schemeClr val="dk1"/>
                          </a:solidFill>
                          <a:effectLst/>
                          <a:latin typeface="+mn-lt"/>
                          <a:ea typeface="+mn-ea"/>
                          <a:cs typeface="+mn-cs"/>
                        </a:rPr>
                        <a:t> students different </a:t>
                      </a:r>
                      <a:r>
                        <a:rPr kumimoji="0" lang="en-US" sz="1800" u="sng" kern="1200" dirty="0" smtClean="0">
                          <a:solidFill>
                            <a:schemeClr val="dk1"/>
                          </a:solidFill>
                          <a:effectLst/>
                          <a:latin typeface="+mn-lt"/>
                          <a:ea typeface="+mn-ea"/>
                          <a:cs typeface="+mn-cs"/>
                        </a:rPr>
                        <a:t>ways</a:t>
                      </a:r>
                      <a:r>
                        <a:rPr kumimoji="0" lang="en-US" sz="1800" kern="1200" dirty="0" smtClean="0">
                          <a:solidFill>
                            <a:schemeClr val="dk1"/>
                          </a:solidFill>
                          <a:effectLst/>
                          <a:latin typeface="+mn-lt"/>
                          <a:ea typeface="+mn-ea"/>
                          <a:cs typeface="+mn-cs"/>
                        </a:rPr>
                        <a:t> to deal with and </a:t>
                      </a:r>
                      <a:r>
                        <a:rPr kumimoji="0" lang="en-US" sz="1800" u="sng" kern="1200" dirty="0" smtClean="0">
                          <a:solidFill>
                            <a:schemeClr val="dk1"/>
                          </a:solidFill>
                          <a:effectLst/>
                          <a:latin typeface="+mn-lt"/>
                          <a:ea typeface="+mn-ea"/>
                          <a:cs typeface="+mn-cs"/>
                        </a:rPr>
                        <a:t>grasp information</a:t>
                      </a:r>
                      <a:r>
                        <a:rPr kumimoji="0" lang="en-US" sz="1800" kern="1200" dirty="0" smtClean="0">
                          <a:solidFill>
                            <a:schemeClr val="dk1"/>
                          </a:solidFill>
                          <a:effectLst/>
                          <a:latin typeface="+mn-lt"/>
                          <a:ea typeface="+mn-ea"/>
                          <a:cs typeface="+mn-cs"/>
                        </a:rPr>
                        <a:t>, and for </a:t>
                      </a:r>
                      <a:r>
                        <a:rPr kumimoji="0" lang="en-US" sz="1800" u="sng" kern="1200" dirty="0" smtClean="0">
                          <a:solidFill>
                            <a:schemeClr val="dk1"/>
                          </a:solidFill>
                          <a:effectLst/>
                          <a:latin typeface="+mn-lt"/>
                          <a:ea typeface="+mn-ea"/>
                          <a:cs typeface="+mn-cs"/>
                        </a:rPr>
                        <a:t>establishing</a:t>
                      </a:r>
                      <a:r>
                        <a:rPr kumimoji="0" lang="en-US" sz="1800" kern="1200" dirty="0" smtClean="0">
                          <a:solidFill>
                            <a:schemeClr val="dk1"/>
                          </a:solidFill>
                          <a:effectLst/>
                          <a:latin typeface="+mn-lt"/>
                          <a:ea typeface="+mn-ea"/>
                          <a:cs typeface="+mn-cs"/>
                        </a:rPr>
                        <a:t> new learning </a:t>
                      </a:r>
                      <a:r>
                        <a:rPr kumimoji="0" lang="en-US" sz="1800" u="sng" kern="1200" dirty="0" smtClean="0">
                          <a:solidFill>
                            <a:schemeClr val="dk1"/>
                          </a:solidFill>
                          <a:effectLst/>
                          <a:latin typeface="+mn-lt"/>
                          <a:ea typeface="+mn-ea"/>
                          <a:cs typeface="+mn-cs"/>
                        </a:rPr>
                        <a:t>to move</a:t>
                      </a:r>
                      <a:r>
                        <a:rPr kumimoji="0" lang="en-US" sz="1800" kern="1200" dirty="0" smtClean="0">
                          <a:solidFill>
                            <a:schemeClr val="dk1"/>
                          </a:solidFill>
                          <a:effectLst/>
                          <a:latin typeface="+mn-lt"/>
                          <a:ea typeface="+mn-ea"/>
                          <a:cs typeface="+mn-cs"/>
                        </a:rPr>
                        <a:t> on in </a:t>
                      </a:r>
                      <a:r>
                        <a:rPr kumimoji="0" lang="en-US" sz="1800" u="sng" kern="1200" dirty="0" smtClean="0">
                          <a:solidFill>
                            <a:schemeClr val="dk1"/>
                          </a:solidFill>
                          <a:effectLst/>
                          <a:latin typeface="+mn-lt"/>
                          <a:ea typeface="+mn-ea"/>
                          <a:cs typeface="+mn-cs"/>
                        </a:rPr>
                        <a:t>education</a:t>
                      </a:r>
                      <a:r>
                        <a:rPr kumimoji="0" lang="en-US" sz="1800" kern="1200" dirty="0" smtClean="0">
                          <a:solidFill>
                            <a:schemeClr val="dk1"/>
                          </a:solidFill>
                          <a:effectLst/>
                          <a:latin typeface="+mn-lt"/>
                          <a:ea typeface="+mn-ea"/>
                          <a:cs typeface="+mn-cs"/>
                        </a:rPr>
                        <a:t> (Thompson, 2009)</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kern="1200" dirty="0" smtClean="0">
                          <a:solidFill>
                            <a:schemeClr val="dk1"/>
                          </a:solidFill>
                          <a:effectLst/>
                          <a:latin typeface="+mn-lt"/>
                          <a:ea typeface="+mn-ea"/>
                          <a:cs typeface="+mn-cs"/>
                        </a:rPr>
                        <a:t>Teachers use differentiated instruction to help students learn. While this keeps a harmony among the way the students learn and their set of skills (Thompson, 2009), it also caters to their learning needs by providing them with ways to learn and build on their knowledge to succeed in their studies.</a:t>
                      </a:r>
                    </a:p>
                    <a:p>
                      <a:endParaRPr lang="en-US" dirty="0"/>
                    </a:p>
                  </a:txBody>
                  <a:tcPr/>
                </a:tc>
                <a:extLst>
                  <a:ext uri="{0D108BD9-81ED-4DB2-BD59-A6C34878D82A}">
                    <a16:rowId xmlns:a16="http://schemas.microsoft.com/office/drawing/2014/main" val="186778011"/>
                  </a:ext>
                </a:extLst>
              </a:tr>
            </a:tbl>
          </a:graphicData>
        </a:graphic>
      </p:graphicFrame>
    </p:spTree>
    <p:extLst>
      <p:ext uri="{BB962C8B-B14F-4D97-AF65-F5344CB8AC3E}">
        <p14:creationId xmlns:p14="http://schemas.microsoft.com/office/powerpoint/2010/main" val="25021315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Remember!</a:t>
            </a:r>
            <a:endParaRPr lang="en-US" dirty="0"/>
          </a:p>
        </p:txBody>
      </p:sp>
      <p:sp>
        <p:nvSpPr>
          <p:cNvPr id="3" name="Content Placeholder 2"/>
          <p:cNvSpPr>
            <a:spLocks noGrp="1"/>
          </p:cNvSpPr>
          <p:nvPr>
            <p:ph idx="1"/>
          </p:nvPr>
        </p:nvSpPr>
        <p:spPr/>
        <p:txBody>
          <a:bodyPr/>
          <a:lstStyle/>
          <a:p>
            <a:endParaRPr lang="en-US" dirty="0" smtClean="0"/>
          </a:p>
          <a:p>
            <a:r>
              <a:rPr lang="en-US" dirty="0" smtClean="0"/>
              <a:t>Your instructor does not wish to grade work that is already published. </a:t>
            </a:r>
          </a:p>
          <a:p>
            <a:endParaRPr lang="en-US" dirty="0" smtClean="0"/>
          </a:p>
          <a:p>
            <a:r>
              <a:rPr lang="en-US" dirty="0" smtClean="0"/>
              <a:t>Instead they want to know how well </a:t>
            </a:r>
            <a:r>
              <a:rPr lang="en-US" b="1" dirty="0" smtClean="0"/>
              <a:t>you</a:t>
            </a:r>
            <a:r>
              <a:rPr lang="en-US" dirty="0" smtClean="0"/>
              <a:t> use </a:t>
            </a:r>
            <a:r>
              <a:rPr lang="en-US" b="1" dirty="0" smtClean="0"/>
              <a:t>your</a:t>
            </a:r>
            <a:r>
              <a:rPr lang="en-US" dirty="0" smtClean="0"/>
              <a:t> sources to support your arguments. Use them to your advantage!</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61</TotalTime>
  <Words>1341</Words>
  <Application>Microsoft Office PowerPoint</Application>
  <PresentationFormat>On-screen Show (4:3)</PresentationFormat>
  <Paragraphs>93</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Constantia</vt:lpstr>
      <vt:lpstr>Times New Roman</vt:lpstr>
      <vt:lpstr>Wingdings 2</vt:lpstr>
      <vt:lpstr>Flow</vt:lpstr>
      <vt:lpstr>Paraphrasing</vt:lpstr>
      <vt:lpstr>What is Paraphrasing</vt:lpstr>
      <vt:lpstr>When to paraphrase: </vt:lpstr>
      <vt:lpstr>Difference in Summary and Paraphrase</vt:lpstr>
      <vt:lpstr>Paraphrasing Sentences: </vt:lpstr>
      <vt:lpstr>PowerPoint Presentation</vt:lpstr>
      <vt:lpstr>Digest the author’s intention </vt:lpstr>
      <vt:lpstr>Length</vt:lpstr>
      <vt:lpstr>Use the thesaurus moderately</vt:lpstr>
      <vt:lpstr>Get to the point</vt:lpstr>
      <vt:lpstr>Similar Words</vt:lpstr>
      <vt:lpstr>Exact Words</vt:lpstr>
      <vt:lpstr>Always include Citations</vt:lpstr>
      <vt:lpstr>Example</vt:lpstr>
      <vt:lpstr>A Better Version!</vt:lpstr>
      <vt:lpstr>Another Sample</vt:lpstr>
      <vt:lpstr>Remember!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Paraphrasing</dc:title>
  <dc:creator>naureen.zaman</dc:creator>
  <cp:lastModifiedBy>Naureen Zaman</cp:lastModifiedBy>
  <cp:revision>15</cp:revision>
  <dcterms:created xsi:type="dcterms:W3CDTF">2017-10-12T05:00:29Z</dcterms:created>
  <dcterms:modified xsi:type="dcterms:W3CDTF">2024-03-19T07:44:49Z</dcterms:modified>
</cp:coreProperties>
</file>