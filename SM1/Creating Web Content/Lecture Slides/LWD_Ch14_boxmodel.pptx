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6" d="100"/>
          <a:sy n="46" d="100"/>
        </p:scale>
        <p:origin x="1518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_footer.png" descr="slide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62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" name="# CHAPTER TITLE"/>
          <p:cNvSpPr txBox="1">
            <a:spLocks noGrp="1"/>
          </p:cNvSpPr>
          <p:nvPr>
            <p:ph type="body" sz="half" idx="13" hasCustomPrompt="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  <a:endParaRPr sz="6000"/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RT I title +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he internet vs. the web…"/>
          <p:cNvSpPr txBox="1">
            <a:spLocks noGrp="1"/>
          </p:cNvSpPr>
          <p:nvPr>
            <p:ph type="body" sz="half" idx="13" hasCustomPrompt="1"/>
          </p:nvPr>
        </p:nvSpPr>
        <p:spPr>
          <a:xfrm>
            <a:off x="2270621" y="3094260"/>
            <a:ext cx="9781679" cy="5105848"/>
          </a:xfrm>
          <a:prstGeom prst="rect">
            <a:avLst/>
          </a:prstGeom>
        </p:spPr>
        <p:txBody>
          <a:bodyPr/>
          <a:lstStyle/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The internet vs. the web</a:t>
            </a:r>
          </a:p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History of the web</a:t>
            </a:r>
          </a:p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What servers do</a:t>
            </a:r>
          </a:p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What browsers do</a:t>
            </a:r>
          </a:p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URLs</a:t>
            </a:r>
          </a:p>
          <a:p>
            <a:pPr marL="373380" indent="-373380" defTabSz="490855">
              <a:spcBef>
                <a:spcPts val="3500"/>
              </a:spcBef>
              <a:defRPr sz="3025" b="1">
                <a:latin typeface="+mj-lt"/>
                <a:ea typeface="+mj-ea"/>
                <a:cs typeface="+mj-cs"/>
                <a:sym typeface="Helvetica"/>
              </a:defRPr>
            </a:pPr>
            <a:r>
              <a:t>How web pages are constructed 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46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8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9" name="footer.png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.png" descr="foo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9353550"/>
            <a:ext cx="13004800" cy="3937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800" b="1" i="0" u="none" strike="noStrike" cap="none" spc="0" baseline="0">
          <a:ln>
            <a:noFill/>
          </a:ln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defRPr sz="3600" b="0" i="0" u="none" strike="noStrike" cap="none" spc="0" baseline="0">
          <a:ln>
            <a:noFill/>
          </a:ln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developer.mozilla.org/en-US/docs/Web/CSS/box-sizing" TargetMode="Externa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hyperlink" Target="https://www.w3schools.com/cssref/playit.asp?filename=playcss_box-shadow&amp;preval=20px%2020px%2050px%2010px%20pink%20inset" TargetMode="Externa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4 THINKING INSIDE THE BOX"/>
          <p:cNvSpPr txBox="1"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3D71B8"/>
                </a:solidFill>
              </a:rPr>
              <a:t>14</a:t>
            </a:r>
            <a:br>
              <a:rPr sz="4000"/>
            </a:br>
            <a:r>
              <a:rPr sz="6000">
                <a:latin typeface="+mn-lt"/>
                <a:ea typeface="+mn-ea"/>
                <a:cs typeface="+mn-cs"/>
                <a:sym typeface="Helvetica Light"/>
              </a:rPr>
              <a:t>THINKING INSIDE THE BOX</a:t>
            </a:r>
            <a:endParaRPr sz="6000"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he parts of an element box…"/>
          <p:cNvSpPr txBox="1">
            <a:spLocks noGrp="1"/>
          </p:cNvSpPr>
          <p:nvPr>
            <p:ph type="body" idx="13"/>
          </p:nvPr>
        </p:nvSpPr>
        <p:spPr>
          <a:xfrm>
            <a:off x="1064260" y="2689225"/>
            <a:ext cx="11188065" cy="6301740"/>
          </a:xfrm>
          <a:prstGeom prst="rect">
            <a:avLst/>
          </a:prstGeom>
        </p:spPr>
        <p:txBody>
          <a:bodyPr numCol="2" spcCol="543773" anchor="t">
            <a:normAutofit fontScale="55000"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The parts of an element box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Box dimensions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Padding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Borders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Outlines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Margins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Display roles</a:t>
            </a: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t>Drop shadows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he Parts of an Element Bo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Parts of an Element Box</a:t>
            </a:r>
          </a:p>
        </p:txBody>
      </p:sp>
      <p:pic>
        <p:nvPicPr>
          <p:cNvPr id="94" name="lwd5_1401_elementbox.png" descr="lwd5_1401_element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2235200"/>
            <a:ext cx="10160000" cy="47752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5" name="NOTE: The margin is indicated with a blue shade and outline, but is invisible in the layout."/>
          <p:cNvSpPr txBox="1"/>
          <p:nvPr/>
        </p:nvSpPr>
        <p:spPr>
          <a:xfrm>
            <a:off x="1473993" y="7673974"/>
            <a:ext cx="10056814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defRPr sz="30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NOTE:</a:t>
            </a:r>
            <a:r>
              <a:t> The margin is indicated with a blue shade and outline, but is invisible in the layout.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pecifying Box Dimens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Specifying Box Dimensions</a:t>
            </a:r>
          </a:p>
        </p:txBody>
      </p:sp>
      <p:sp>
        <p:nvSpPr>
          <p:cNvPr id="98" name="width…"/>
          <p:cNvSpPr txBox="1">
            <a:spLocks noGrp="1"/>
          </p:cNvSpPr>
          <p:nvPr>
            <p:ph type="body" idx="1"/>
          </p:nvPr>
        </p:nvSpPr>
        <p:spPr>
          <a:xfrm>
            <a:off x="952500" y="2349500"/>
            <a:ext cx="11099800" cy="5591473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spcBef>
                <a:spcPts val="2400"/>
              </a:spcBef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width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auto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height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auto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indent="0">
              <a:buSzTx/>
              <a:buNone/>
              <a:defRPr sz="3000"/>
            </a:pPr>
            <a:r>
              <a:t>Specify the dimensions of an element box with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width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height</a:t>
            </a:r>
            <a:r>
              <a:t> properties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ox Sizing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Box Sizing Models</a:t>
            </a:r>
          </a:p>
        </p:txBody>
      </p:sp>
      <p:sp>
        <p:nvSpPr>
          <p:cNvPr id="101" name="box-sizing…"/>
          <p:cNvSpPr txBox="1">
            <a:spLocks noGrp="1"/>
          </p:cNvSpPr>
          <p:nvPr>
            <p:ph type="body" idx="1"/>
          </p:nvPr>
        </p:nvSpPr>
        <p:spPr>
          <a:xfrm>
            <a:off x="850900" y="2260600"/>
            <a:ext cx="11099800" cy="6721575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box-sizing</a:t>
            </a:r>
            <a:endParaRPr dirty="0"/>
          </a:p>
          <a:p>
            <a:pPr marL="0" indent="0">
              <a:buSzTx/>
              <a:buNone/>
              <a:defRPr sz="3000"/>
            </a:pPr>
            <a:r>
              <a:rPr b="1" dirty="0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rPr dirty="0"/>
              <a:t>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content-box</a:t>
            </a:r>
            <a:r>
              <a:rPr dirty="0"/>
              <a:t>,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border-box</a:t>
            </a:r>
            <a:r>
              <a:rPr dirty="0"/>
              <a:t> </a:t>
            </a:r>
            <a:endParaRPr dirty="0"/>
          </a:p>
          <a:p>
            <a:pPr marL="0" indent="0">
              <a:buSzTx/>
              <a:buNone/>
              <a:defRPr sz="3000"/>
            </a:pPr>
            <a:r>
              <a:rPr dirty="0"/>
              <a:t>There are two methods for sizing an element box, specified with the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box-sizing</a:t>
            </a:r>
            <a:r>
              <a:rPr dirty="0"/>
              <a:t> attribute:</a:t>
            </a:r>
            <a:endParaRPr dirty="0"/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Content-box sizing (default)</a:t>
            </a:r>
            <a:endParaRPr dirty="0"/>
          </a:p>
          <a:p>
            <a:pPr marL="0" indent="0">
              <a:spcBef>
                <a:spcPts val="600"/>
              </a:spcBef>
              <a:buSzTx/>
              <a:buNone/>
              <a:defRPr sz="3000"/>
            </a:pPr>
            <a:r>
              <a:rPr dirty="0"/>
              <a:t>Applies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width</a:t>
            </a:r>
            <a:r>
              <a:rPr dirty="0"/>
              <a:t> and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height</a:t>
            </a:r>
            <a:r>
              <a:rPr dirty="0"/>
              <a:t> values to the content box only</a:t>
            </a:r>
            <a:endParaRPr dirty="0"/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Border-box sizing</a:t>
            </a:r>
            <a:endParaRPr dirty="0"/>
          </a:p>
          <a:p>
            <a:pPr marL="0" indent="0">
              <a:spcBef>
                <a:spcPts val="600"/>
              </a:spcBef>
              <a:buSzTx/>
              <a:buNone/>
              <a:defRPr sz="3000"/>
            </a:pPr>
            <a:r>
              <a:rPr dirty="0"/>
              <a:t>Applies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width</a:t>
            </a:r>
            <a:r>
              <a:rPr dirty="0"/>
              <a:t> and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height</a:t>
            </a:r>
            <a:r>
              <a:rPr dirty="0"/>
              <a:t> values to the border box (including the padding and content)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Box Sizing Models Compar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Box Sizing Models Compared</a:t>
            </a:r>
          </a:p>
        </p:txBody>
      </p:sp>
      <p:pic>
        <p:nvPicPr>
          <p:cNvPr id="104" name="lwd5_1403_borderbox.png" descr="lwd5_1403_border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171" y="2444750"/>
            <a:ext cx="9224458" cy="6261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952500" y="8668180"/>
            <a:ext cx="1051906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400" dirty="0"/>
              <a:t>Demo: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developer.mozilla.org/en-US/docs/Web/CSS/box-sizing</a:t>
            </a:r>
            <a:r>
              <a:rPr lang="en-US" sz="2400" dirty="0" smtClean="0"/>
              <a:t>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verflo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Overflow</a:t>
            </a:r>
          </a:p>
        </p:txBody>
      </p:sp>
      <p:sp>
        <p:nvSpPr>
          <p:cNvPr id="107" name="overflow…"/>
          <p:cNvSpPr txBox="1"/>
          <p:nvPr/>
        </p:nvSpPr>
        <p:spPr>
          <a:xfrm>
            <a:off x="999579" y="2298700"/>
            <a:ext cx="11099801" cy="263376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defTabSz="549275">
              <a:spcBef>
                <a:spcPts val="3900"/>
              </a:spcBef>
              <a:defRPr sz="282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overflow</a:t>
            </a:r>
          </a:p>
          <a:p>
            <a:pPr algn="l" defTabSz="549275">
              <a:spcBef>
                <a:spcPts val="3900"/>
              </a:spcBef>
              <a:defRPr sz="282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visible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hidden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scroll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auto</a:t>
            </a:r>
            <a:r>
              <a:t> </a:t>
            </a:r>
          </a:p>
          <a:p>
            <a:pPr algn="l" defTabSz="549275">
              <a:spcBef>
                <a:spcPts val="3900"/>
              </a:spcBef>
              <a:defRPr sz="2820">
                <a:solidFill>
                  <a:srgbClr val="53585F"/>
                </a:solidFill>
              </a:defRPr>
            </a:pPr>
            <a:r>
              <a:t>Specifies what to do when content doesn’t fit in a sized element box:</a:t>
            </a:r>
          </a:p>
        </p:txBody>
      </p:sp>
      <p:pic>
        <p:nvPicPr>
          <p:cNvPr id="108" name="lwd5_1404_overflow.png" descr="lwd5_1404_over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5226050"/>
            <a:ext cx="10160000" cy="33655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a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Padding</a:t>
            </a:r>
          </a:p>
        </p:txBody>
      </p:sp>
      <p:sp>
        <p:nvSpPr>
          <p:cNvPr id="111" name="padding, padding-top, padding-right,  padding-bottom, padding-left…"/>
          <p:cNvSpPr txBox="1"/>
          <p:nvPr/>
        </p:nvSpPr>
        <p:spPr>
          <a:xfrm>
            <a:off x="999579" y="2298700"/>
            <a:ext cx="11099801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padding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padding-top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padding-right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padding-bottom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padding-left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t> 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An amount of space between the content area and the border (or the space the border would be if one isn’t specified).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You can add padding to one side at a time, or on all sides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padding</a:t>
            </a:r>
            <a:r>
              <a:t> shorthand property.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adding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317427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Padding (cont’d)</a:t>
            </a:r>
          </a:p>
        </p:txBody>
      </p:sp>
      <p:sp>
        <p:nvSpPr>
          <p:cNvPr id="114" name="blockquote {…"/>
          <p:cNvSpPr txBox="1"/>
          <p:nvPr/>
        </p:nvSpPr>
        <p:spPr>
          <a:xfrm>
            <a:off x="999579" y="2298700"/>
            <a:ext cx="11099801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marL="457200" marR="457200" algn="just" defTabSz="457200">
              <a:defRPr sz="27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blockquote { </a:t>
            </a:r>
            <a:endParaRPr sz="3000" dirty="0"/>
          </a:p>
          <a:p>
            <a:pPr marL="457200" marR="457200" algn="just" defTabSz="457200">
              <a:defRPr sz="27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  padding-top: 2em;</a:t>
            </a:r>
            <a:endParaRPr sz="3000" dirty="0"/>
          </a:p>
          <a:p>
            <a:pPr marL="457200" marR="457200" algn="just" defTabSz="457200">
              <a:defRPr sz="27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  padding-right: 4em;</a:t>
            </a:r>
            <a:endParaRPr sz="3000" dirty="0"/>
          </a:p>
          <a:p>
            <a:pPr marL="457200" marR="457200" algn="just" defTabSz="457200">
              <a:defRPr sz="27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  padding-bottom: 2em;</a:t>
            </a:r>
            <a:endParaRPr sz="3000" dirty="0"/>
          </a:p>
          <a:p>
            <a:pPr marL="457200" marR="457200" algn="just" defTabSz="457200">
              <a:defRPr sz="27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  padding-left: 4em;</a:t>
            </a:r>
            <a:endParaRPr sz="3000" dirty="0"/>
          </a:p>
          <a:p>
            <a:pPr marL="457200" marR="457200" algn="just" defTabSz="457200">
              <a:defRPr sz="27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  background-color: #D098D4; </a:t>
            </a:r>
            <a:r>
              <a:rPr sz="3000" dirty="0">
                <a:solidFill>
                  <a:srgbClr val="A6AAA9"/>
                </a:solidFill>
              </a:rPr>
              <a:t>/*light green*/</a:t>
            </a:r>
            <a:endParaRPr sz="3000" dirty="0">
              <a:solidFill>
                <a:srgbClr val="A6AAA9"/>
              </a:solidFill>
            </a:endParaRPr>
          </a:p>
          <a:p>
            <a:pPr marL="457200" marR="457200" algn="just" defTabSz="457200">
              <a:defRPr sz="27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3000" dirty="0"/>
              <a:t>}</a:t>
            </a:r>
            <a:endParaRPr sz="3000" dirty="0"/>
          </a:p>
        </p:txBody>
      </p:sp>
      <p:pic>
        <p:nvPicPr>
          <p:cNvPr id="115" name="lwd5_1405_padding.png" descr="lwd5_1405_pad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9479" y="5020225"/>
            <a:ext cx="7620001" cy="29845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orthand padding Proper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Shorthand padding Property</a:t>
            </a:r>
          </a:p>
        </p:txBody>
      </p:sp>
      <p:sp>
        <p:nvSpPr>
          <p:cNvPr id="118" name="The padding property adds space around 1, 2, 3, or 4 sides of the content using the clockwise top, right, bottom, left (TRouBLe) order:…"/>
          <p:cNvSpPr txBox="1">
            <a:spLocks noGrp="1"/>
          </p:cNvSpPr>
          <p:nvPr>
            <p:ph type="body" idx="1"/>
          </p:nvPr>
        </p:nvSpPr>
        <p:spPr>
          <a:xfrm>
            <a:off x="952500" y="3067050"/>
            <a:ext cx="11099800" cy="582295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padding</a:t>
            </a:r>
            <a:r>
              <a:t> property adds space around 1, 2, 3, or 4 sides of the content using the clockwise top, right, bottom, left (TRouBLe) order: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padding: </a:t>
            </a:r>
            <a:r>
              <a:rPr i="1"/>
              <a:t>top</a:t>
            </a:r>
            <a:r>
              <a:t> </a:t>
            </a:r>
            <a:r>
              <a:rPr i="1"/>
              <a:t>right</a:t>
            </a:r>
            <a:r>
              <a:t> </a:t>
            </a:r>
            <a:r>
              <a:rPr i="1"/>
              <a:t>bottom</a:t>
            </a:r>
            <a:r>
              <a:t> </a:t>
            </a:r>
            <a:r>
              <a:rPr i="1"/>
              <a:t>left;</a:t>
            </a:r>
            <a:endParaRPr i="1"/>
          </a:p>
          <a:p>
            <a:pPr marL="0" indent="0" algn="ctr">
              <a:buSzTx/>
              <a:buNone/>
              <a:defRPr sz="30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padding: 2em 4em 2em 4em;</a:t>
            </a:r>
          </a:p>
          <a:p>
            <a:pPr marL="0" indent="0" algn="ctr">
              <a:spcBef>
                <a:spcPts val="2500"/>
              </a:spcBef>
              <a:buSzTx/>
              <a:buNone/>
              <a:defRPr sz="3000" i="1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(this shorthand produces the same result as the example on the previous slide)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orthand padding Property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97795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Shorthand padding Property (cont’d)</a:t>
            </a:r>
          </a:p>
        </p:txBody>
      </p:sp>
      <p:sp>
        <p:nvSpPr>
          <p:cNvPr id="121" name="If the left and right sides are the same, you can omit the last value, and the second value will be applied on both the left and right sides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If the left and right sides are the same, you can omit the last value, and the second value will be applied on both the left and right sides:</a:t>
            </a:r>
          </a:p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padding: </a:t>
            </a:r>
            <a:r>
              <a:rPr i="1"/>
              <a:t>top</a:t>
            </a:r>
            <a:r>
              <a:t> </a:t>
            </a:r>
            <a:r>
              <a:rPr i="1"/>
              <a:t>right+left</a:t>
            </a:r>
            <a:r>
              <a:t> </a:t>
            </a:r>
            <a:r>
              <a:rPr i="1"/>
              <a:t>bottom;</a:t>
            </a:r>
            <a:endParaRPr i="1"/>
          </a:p>
          <a:p>
            <a:pPr marL="0" indent="0" algn="ctr">
              <a:buSzTx/>
              <a:buNone/>
              <a:defRPr sz="30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padding: 2em 4em 2em;</a:t>
            </a:r>
          </a:p>
          <a:p>
            <a:pPr marL="0" indent="0" algn="ctr">
              <a:spcBef>
                <a:spcPts val="2500"/>
              </a:spcBef>
              <a:buSzTx/>
              <a:buNone/>
              <a:defRPr sz="3000" i="1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(this shorthand produces the same result as the examples on the two previous slides)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orthand padding Property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97795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Shorthand padding Property (cont’d)</a:t>
            </a:r>
          </a:p>
        </p:txBody>
      </p:sp>
      <p:sp>
        <p:nvSpPr>
          <p:cNvPr id="124" name="If the top and and bottom sides are also the same, you can omit the third value, and the first value will be applied on both the top and bottom:…"/>
          <p:cNvSpPr txBox="1">
            <a:spLocks noGrp="1"/>
          </p:cNvSpPr>
          <p:nvPr>
            <p:ph type="body" idx="1"/>
          </p:nvPr>
        </p:nvSpPr>
        <p:spPr>
          <a:xfrm>
            <a:off x="952500" y="1879649"/>
            <a:ext cx="11099800" cy="7016701"/>
          </a:xfrm>
          <a:prstGeom prst="rect">
            <a:avLst/>
          </a:prstGeom>
        </p:spPr>
        <p:txBody>
          <a:bodyPr/>
          <a:lstStyle/>
          <a:p>
            <a:pPr marL="0" indent="0" defTabSz="455930">
              <a:spcBef>
                <a:spcPts val="3200"/>
              </a:spcBef>
              <a:buSzTx/>
              <a:buNone/>
              <a:defRPr sz="2805"/>
            </a:pPr>
            <a:r>
              <a:t>If the top and and bottom sides are also the same, you can omit the third value, and the first value will be applied on both the top and bottom:</a:t>
            </a:r>
          </a:p>
          <a:p>
            <a:pPr marL="0" indent="0" algn="ctr" defTabSz="455930">
              <a:spcBef>
                <a:spcPts val="3200"/>
              </a:spcBef>
              <a:buSzTx/>
              <a:buNone/>
              <a:defRPr sz="2805">
                <a:latin typeface="Courier"/>
                <a:ea typeface="Courier"/>
                <a:cs typeface="Courier"/>
                <a:sym typeface="Courier"/>
              </a:defRPr>
            </a:pPr>
            <a:r>
              <a:t>padding: </a:t>
            </a:r>
            <a:r>
              <a:rPr i="1"/>
              <a:t>top+bottom </a:t>
            </a:r>
            <a:r>
              <a:t> </a:t>
            </a:r>
            <a:r>
              <a:rPr i="1"/>
              <a:t>right+left;</a:t>
            </a:r>
            <a:endParaRPr i="1"/>
          </a:p>
          <a:p>
            <a:pPr marL="0" indent="0" algn="ctr" defTabSz="455930">
              <a:spcBef>
                <a:spcPts val="2300"/>
              </a:spcBef>
              <a:buSzTx/>
              <a:buNone/>
              <a:defRPr sz="2805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padding: 2em 4em;</a:t>
            </a:r>
          </a:p>
          <a:p>
            <a:pPr marL="0" indent="0" algn="ctr" defTabSz="455930">
              <a:spcBef>
                <a:spcPts val="1500"/>
              </a:spcBef>
              <a:buSzTx/>
              <a:buNone/>
              <a:defRPr sz="2340" i="1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(same result as previous examples)</a:t>
            </a:r>
          </a:p>
          <a:p>
            <a:pPr marL="0" indent="0" defTabSz="455930">
              <a:spcBef>
                <a:spcPts val="4600"/>
              </a:spcBef>
              <a:buSzTx/>
              <a:buNone/>
              <a:defRPr sz="2805"/>
            </a:pPr>
            <a:r>
              <a:t>If all sides are the same, provide one value, and it’s applied to all sides:</a:t>
            </a:r>
          </a:p>
          <a:p>
            <a:pPr marL="0" indent="0" algn="ctr" defTabSz="455930">
              <a:spcBef>
                <a:spcPts val="2300"/>
              </a:spcBef>
              <a:buSzTx/>
              <a:buNone/>
              <a:defRPr sz="2805">
                <a:latin typeface="Courier"/>
                <a:ea typeface="Courier"/>
                <a:cs typeface="Courier"/>
                <a:sym typeface="Courier"/>
              </a:defRPr>
            </a:pPr>
            <a:r>
              <a:t>padding: </a:t>
            </a:r>
            <a:r>
              <a:rPr i="1"/>
              <a:t>all sides;</a:t>
            </a:r>
            <a:endParaRPr i="1"/>
          </a:p>
          <a:p>
            <a:pPr marL="0" indent="0" algn="ctr" defTabSz="455930">
              <a:spcBef>
                <a:spcPts val="2300"/>
              </a:spcBef>
              <a:buSzTx/>
              <a:buNone/>
              <a:defRPr sz="2805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padding: 2em;</a:t>
            </a:r>
          </a:p>
          <a:p>
            <a:pPr marL="0" indent="0" algn="ctr" defTabSz="455930">
              <a:spcBef>
                <a:spcPts val="1500"/>
              </a:spcBef>
              <a:buSzTx/>
              <a:buNone/>
              <a:defRPr sz="2340" i="1">
                <a:solidFill>
                  <a:srgbClr val="A6AAA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(2em padding all around)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rd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Borders</a:t>
            </a:r>
          </a:p>
        </p:txBody>
      </p:sp>
      <p:sp>
        <p:nvSpPr>
          <p:cNvPr id="127" name="A border is a line drawn around the content area and its (optional) padding.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685284"/>
          </a:xfrm>
          <a:prstGeom prst="rect">
            <a:avLst/>
          </a:prstGeom>
        </p:spPr>
        <p:txBody>
          <a:bodyPr anchor="t"/>
          <a:lstStyle/>
          <a:p>
            <a:pPr marL="444500" indent="-444500">
              <a:defRPr sz="300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border</a:t>
            </a:r>
            <a:r>
              <a:t> is a line drawn around the content area and its (optional) padding. </a:t>
            </a:r>
          </a:p>
          <a:p>
            <a:pPr marL="444500" indent="-444500">
              <a:defRPr sz="3000"/>
            </a:pPr>
            <a:r>
              <a:t>The thickness of the border is included in the dimensions of the element box.</a:t>
            </a:r>
          </a:p>
          <a:p>
            <a:pPr marL="444500" indent="-444500">
              <a:defRPr sz="3000"/>
            </a:pPr>
            <a:r>
              <a:t>You define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style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width</a:t>
            </a:r>
            <a:r>
              <a:t> (thickness),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color</a:t>
            </a:r>
            <a:r>
              <a:t> for borders.</a:t>
            </a:r>
          </a:p>
          <a:p>
            <a:pPr marL="444500" indent="-444500">
              <a:defRPr sz="3000"/>
            </a:pPr>
            <a:r>
              <a:t>Borders can be applied to single sides or all around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Border Sty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Border Style</a:t>
            </a:r>
          </a:p>
        </p:txBody>
      </p:sp>
      <p:sp>
        <p:nvSpPr>
          <p:cNvPr id="130" name="border-style,  border-top-style, border-right-style,  border-bottom-style, border-left-style"/>
          <p:cNvSpPr txBox="1"/>
          <p:nvPr/>
        </p:nvSpPr>
        <p:spPr>
          <a:xfrm>
            <a:off x="999579" y="2120900"/>
            <a:ext cx="11099801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27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border-style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b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</a:br>
            <a:r>
              <a:t>border-top-style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border-right-style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border-bottom-style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border-left-style</a:t>
            </a:r>
          </a:p>
        </p:txBody>
      </p:sp>
      <p:pic>
        <p:nvPicPr>
          <p:cNvPr id="131" name="lwd5_1408_bordersstyle.png" descr="lwd5_1408_borderssty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1282" y="3963250"/>
            <a:ext cx="6622265" cy="5015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2" name="Values: none, solid, hidden, dotted, dashed, double, groove, ridge, inset, outset"/>
          <p:cNvSpPr txBox="1"/>
          <p:nvPr/>
        </p:nvSpPr>
        <p:spPr>
          <a:xfrm>
            <a:off x="728424" y="3917424"/>
            <a:ext cx="4540082" cy="17492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27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solid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hidden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dotted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dashed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double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groove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ridge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inset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outset</a:t>
            </a:r>
            <a:r>
              <a:t> </a:t>
            </a:r>
          </a:p>
        </p:txBody>
      </p:sp>
      <p:sp>
        <p:nvSpPr>
          <p:cNvPr id="133" name="NOTE: The default is none, so if you don’t define a border style, it won’t appear."/>
          <p:cNvSpPr txBox="1"/>
          <p:nvPr/>
        </p:nvSpPr>
        <p:spPr>
          <a:xfrm>
            <a:off x="728424" y="6207437"/>
            <a:ext cx="4540082" cy="183452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defRPr sz="28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NOTE: </a:t>
            </a:r>
            <a:r>
              <a:t>The default is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t>, so if you don’t define a border style, it won’t appear.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rder Sty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Border Style</a:t>
            </a:r>
          </a:p>
        </p:txBody>
      </p:sp>
      <p:sp>
        <p:nvSpPr>
          <p:cNvPr id="136" name="border-style…"/>
          <p:cNvSpPr txBox="1"/>
          <p:nvPr/>
        </p:nvSpPr>
        <p:spPr>
          <a:xfrm>
            <a:off x="999579" y="2159000"/>
            <a:ext cx="11099801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border-style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border-style</a:t>
            </a:r>
            <a:r>
              <a:t> shorthand uses the clockwise (TRouBLe) shorthand order. The following rules have the same effect:</a:t>
            </a:r>
          </a:p>
        </p:txBody>
      </p:sp>
      <p:sp>
        <p:nvSpPr>
          <p:cNvPr id="137" name="div#silly {…"/>
          <p:cNvSpPr txBox="1"/>
          <p:nvPr/>
        </p:nvSpPr>
        <p:spPr>
          <a:xfrm>
            <a:off x="49407" y="4495551"/>
            <a:ext cx="7948862" cy="4140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div#silly {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border-top-style: solid;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border-right-style: dashed;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border-bottom-style: double;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border-left-style: dotted;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width: 300px;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height: 100px;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div#silly {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border-style: solid dashed double dotted;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pic>
        <p:nvPicPr>
          <p:cNvPr id="138" name="lwd5_1409_4borders.png" descr="lwd5_1409_4bord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155" y="4653012"/>
            <a:ext cx="6965543" cy="265102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Border Width"/>
          <p:cNvSpPr txBox="1">
            <a:spLocks noGrp="1"/>
          </p:cNvSpPr>
          <p:nvPr>
            <p:ph type="title"/>
          </p:nvPr>
        </p:nvSpPr>
        <p:spPr>
          <a:xfrm>
            <a:off x="952500" y="352685"/>
            <a:ext cx="11099800" cy="2159001"/>
          </a:xfrm>
          <a:prstGeom prst="rect">
            <a:avLst/>
          </a:prstGeom>
        </p:spPr>
        <p:txBody>
          <a:bodyPr/>
          <a:lstStyle/>
          <a:p>
            <a:r>
              <a:t>Border Width</a:t>
            </a:r>
          </a:p>
        </p:txBody>
      </p:sp>
      <p:sp>
        <p:nvSpPr>
          <p:cNvPr id="141" name="border-width,  border-top-width, border-right-width,  border-bottom-width, border-left-width"/>
          <p:cNvSpPr txBox="1"/>
          <p:nvPr/>
        </p:nvSpPr>
        <p:spPr>
          <a:xfrm>
            <a:off x="952500" y="1930400"/>
            <a:ext cx="11099800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27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border-width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b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</a:br>
            <a:r>
              <a:t>border-top-width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border-right-width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border-bottom-width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border-left-width</a:t>
            </a:r>
          </a:p>
        </p:txBody>
      </p:sp>
      <p:sp>
        <p:nvSpPr>
          <p:cNvPr id="142" name="Values: Length, thin, medium, thick…"/>
          <p:cNvSpPr txBox="1"/>
          <p:nvPr/>
        </p:nvSpPr>
        <p:spPr>
          <a:xfrm>
            <a:off x="522683" y="3499122"/>
            <a:ext cx="11576697" cy="173886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4200"/>
              </a:spcBef>
              <a:defRPr sz="27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thin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medium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thick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algn="l">
              <a:spcBef>
                <a:spcPts val="2400"/>
              </a:spcBef>
              <a:defRPr sz="3000">
                <a:solidFill>
                  <a:srgbClr val="53585F"/>
                </a:solidFill>
              </a:defRPr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border-width</a:t>
            </a:r>
            <a:r>
              <a:t> shorthand uses the clockwise (TRouBLe) order:</a:t>
            </a:r>
          </a:p>
        </p:txBody>
      </p:sp>
      <p:pic>
        <p:nvPicPr>
          <p:cNvPr id="143" name="lwd5_1410_borderwidth.png" descr="lwd5_1410_borderwid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694" y="6521245"/>
            <a:ext cx="6122040" cy="25508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4" name="div#help {…"/>
          <p:cNvSpPr txBox="1"/>
          <p:nvPr/>
        </p:nvSpPr>
        <p:spPr>
          <a:xfrm>
            <a:off x="56877" y="5364343"/>
            <a:ext cx="7278192" cy="24574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div#help {</a:t>
            </a: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border-width: thin medium thick 12px;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border-style: solid;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width: 300px;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height: 100px; 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145" name="NOTE: The border-style property is required for the border to be rendered."/>
          <p:cNvSpPr txBox="1"/>
          <p:nvPr/>
        </p:nvSpPr>
        <p:spPr>
          <a:xfrm>
            <a:off x="512524" y="7770355"/>
            <a:ext cx="4540082" cy="71529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defRPr sz="20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NOTE: </a:t>
            </a: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border-style</a:t>
            </a:r>
            <a:r>
              <a:t> property is required for the border to be rendered.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Border Color"/>
          <p:cNvSpPr txBox="1">
            <a:spLocks noGrp="1"/>
          </p:cNvSpPr>
          <p:nvPr>
            <p:ph type="title"/>
          </p:nvPr>
        </p:nvSpPr>
        <p:spPr>
          <a:xfrm>
            <a:off x="952500" y="352685"/>
            <a:ext cx="11099800" cy="2159001"/>
          </a:xfrm>
          <a:prstGeom prst="rect">
            <a:avLst/>
          </a:prstGeom>
        </p:spPr>
        <p:txBody>
          <a:bodyPr/>
          <a:lstStyle/>
          <a:p>
            <a:r>
              <a:t>Border Color</a:t>
            </a:r>
          </a:p>
        </p:txBody>
      </p:sp>
      <p:sp>
        <p:nvSpPr>
          <p:cNvPr id="148" name="border-color,  border-top-color, border-right-color,  border-bottom-color, border-left-color"/>
          <p:cNvSpPr txBox="1"/>
          <p:nvPr/>
        </p:nvSpPr>
        <p:spPr>
          <a:xfrm>
            <a:off x="952500" y="1930400"/>
            <a:ext cx="11099800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27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border-color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b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</a:br>
            <a:r>
              <a:t>border-top-color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border-right-color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border-bottom-color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border-left-color</a:t>
            </a:r>
          </a:p>
        </p:txBody>
      </p:sp>
      <p:sp>
        <p:nvSpPr>
          <p:cNvPr id="149" name="Values: Color value (named or numeric)…"/>
          <p:cNvSpPr txBox="1"/>
          <p:nvPr/>
        </p:nvSpPr>
        <p:spPr>
          <a:xfrm>
            <a:off x="630833" y="3448322"/>
            <a:ext cx="11099801" cy="126323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4200"/>
              </a:spcBef>
              <a:defRPr sz="27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Color value (named or numeric)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algn="l">
              <a:spcBef>
                <a:spcPts val="2400"/>
              </a:spcBef>
              <a:defRPr sz="2900">
                <a:solidFill>
                  <a:srgbClr val="53585F"/>
                </a:solidFill>
              </a:defRPr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border-color</a:t>
            </a:r>
            <a:r>
              <a:t> properties override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color</a:t>
            </a:r>
            <a:r>
              <a:t> property:</a:t>
            </a:r>
          </a:p>
        </p:txBody>
      </p:sp>
      <p:sp>
        <p:nvSpPr>
          <p:cNvPr id="150" name="div#special {…"/>
          <p:cNvSpPr txBox="1"/>
          <p:nvPr/>
        </p:nvSpPr>
        <p:spPr>
          <a:xfrm>
            <a:off x="298177" y="5071089"/>
            <a:ext cx="5433852" cy="24574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div#special {</a:t>
            </a:r>
          </a:p>
          <a:p>
            <a:pPr marL="457200" marR="457200" algn="just" defTabSz="457200">
              <a:defRPr sz="2200" baseline="-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border-color: maroon aqua;</a:t>
            </a:r>
            <a:endParaRPr b="1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FF7B00"/>
                </a:solidFill>
              </a:rPr>
              <a:t>  </a:t>
            </a:r>
            <a:r>
              <a:t>border-style: solid;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border-width: 6px;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width: 300px;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  height: 100px;</a:t>
            </a: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151" name="NOTE: The border-style property is required for the border to be rendered."/>
          <p:cNvSpPr txBox="1"/>
          <p:nvPr/>
        </p:nvSpPr>
        <p:spPr>
          <a:xfrm>
            <a:off x="745062" y="7706855"/>
            <a:ext cx="4540082" cy="71529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defRPr sz="20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NOTE: </a:t>
            </a: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border-style</a:t>
            </a:r>
            <a:r>
              <a:t> property is required for the border to be rendered.</a:t>
            </a:r>
          </a:p>
        </p:txBody>
      </p:sp>
      <p:pic>
        <p:nvPicPr>
          <p:cNvPr id="152" name="lwd5_1411_bordercolor.png" descr="lwd5_1411_bordercol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4880" y="5034143"/>
            <a:ext cx="6070620" cy="253134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rder Shorthand Properties"/>
          <p:cNvSpPr txBox="1">
            <a:spLocks noGrp="1"/>
          </p:cNvSpPr>
          <p:nvPr>
            <p:ph type="title"/>
          </p:nvPr>
        </p:nvSpPr>
        <p:spPr>
          <a:xfrm>
            <a:off x="952500" y="352685"/>
            <a:ext cx="11099800" cy="2159001"/>
          </a:xfrm>
          <a:prstGeom prst="rect">
            <a:avLst/>
          </a:prstGeom>
        </p:spPr>
        <p:txBody>
          <a:bodyPr/>
          <a:lstStyle/>
          <a:p>
            <a:r>
              <a:t>Border Shorthand Properties</a:t>
            </a:r>
          </a:p>
        </p:txBody>
      </p:sp>
      <p:sp>
        <p:nvSpPr>
          <p:cNvPr id="155" name="border,  border-top, border-right,  border-bottom, border-left"/>
          <p:cNvSpPr txBox="1"/>
          <p:nvPr/>
        </p:nvSpPr>
        <p:spPr>
          <a:xfrm>
            <a:off x="952500" y="2248148"/>
            <a:ext cx="11099800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25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b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</a:br>
            <a:r>
              <a:t>border-top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border-right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border-bottom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border-left</a:t>
            </a:r>
          </a:p>
        </p:txBody>
      </p:sp>
      <p:sp>
        <p:nvSpPr>
          <p:cNvPr id="156" name="Values: border-style border-width border-color…"/>
          <p:cNvSpPr txBox="1"/>
          <p:nvPr/>
        </p:nvSpPr>
        <p:spPr>
          <a:xfrm>
            <a:off x="1089520" y="3747597"/>
            <a:ext cx="10919919" cy="173334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4200"/>
              </a:spcBef>
              <a:defRPr sz="27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 </a:t>
            </a:r>
            <a:r>
              <a:rPr i="1"/>
              <a:t>border-style border-width border-color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algn="l">
              <a:spcBef>
                <a:spcPts val="2400"/>
              </a:spcBef>
              <a:defRPr sz="3000">
                <a:solidFill>
                  <a:srgbClr val="53585F"/>
                </a:solidFill>
              </a:defRPr>
            </a:pPr>
            <a:r>
              <a:t>Combine style, width, and color values in shorthand properties for each side or all around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</a:t>
            </a:r>
            <a:r>
              <a:t>):</a:t>
            </a:r>
          </a:p>
        </p:txBody>
      </p:sp>
      <p:sp>
        <p:nvSpPr>
          <p:cNvPr id="157" name="p.example {…"/>
          <p:cNvSpPr txBox="1"/>
          <p:nvPr/>
        </p:nvSpPr>
        <p:spPr>
          <a:xfrm>
            <a:off x="3485787" y="5871189"/>
            <a:ext cx="6127385" cy="13398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457200" marR="457200" algn="just" defTabSz="457200">
              <a:defRPr sz="27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p.example {</a:t>
            </a:r>
          </a:p>
          <a:p>
            <a:pPr marL="457200" marR="457200" algn="just" defTabSz="457200">
              <a:defRPr sz="2700" baseline="-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border: 2px dotted aqua;</a:t>
            </a:r>
            <a:endParaRPr b="1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457200" marR="457200" algn="just" defTabSz="457200">
              <a:defRPr sz="27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158" name="NOTE: The border-style property must be included in the shorthand for the border to be rendered."/>
          <p:cNvSpPr txBox="1"/>
          <p:nvPr/>
        </p:nvSpPr>
        <p:spPr>
          <a:xfrm>
            <a:off x="1038337" y="7943291"/>
            <a:ext cx="10456468" cy="93200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defRPr sz="24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NOTE: </a:t>
            </a: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border-style</a:t>
            </a:r>
            <a:r>
              <a:t> property must be included in the shorthand for the border to be rendered.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Border Radius (Rounded Corner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Border Radius (Rounded Corners)</a:t>
            </a:r>
          </a:p>
        </p:txBody>
      </p:sp>
      <p:sp>
        <p:nvSpPr>
          <p:cNvPr id="161" name="border-radius…"/>
          <p:cNvSpPr txBox="1"/>
          <p:nvPr/>
        </p:nvSpPr>
        <p:spPr>
          <a:xfrm>
            <a:off x="999579" y="2298700"/>
            <a:ext cx="11099801" cy="670535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3000"/>
              </a:spcBef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border-radius</a:t>
            </a:r>
          </a:p>
          <a:p>
            <a:pPr algn="l">
              <a:spcBef>
                <a:spcPts val="3000"/>
              </a:spcBef>
              <a:defRPr sz="30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1, 2, 3, or 4 length or percentage values </a:t>
            </a:r>
            <a:endParaRPr i="1"/>
          </a:p>
          <a:p>
            <a:pPr marL="444500" indent="-444500" algn="l">
              <a:spcBef>
                <a:spcPts val="30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border-radius</a:t>
            </a:r>
            <a:r>
              <a:t> property rounds off the corners of an element.</a:t>
            </a:r>
          </a:p>
          <a:p>
            <a:pPr marL="444500" indent="-444500" algn="l">
              <a:spcBef>
                <a:spcPts val="30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value is a length or percentage value reflecting the radius of the curve.</a:t>
            </a:r>
          </a:p>
          <a:p>
            <a:pPr marL="444500" indent="-444500" algn="l">
              <a:spcBef>
                <a:spcPts val="30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Providing one value makes all the corners the same. </a:t>
            </a:r>
          </a:p>
          <a:p>
            <a:pPr marL="444500" indent="-444500" algn="l">
              <a:spcBef>
                <a:spcPts val="30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Four values are applied clockwise, starting from the top-left corner.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Border Radiu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096259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Border Radius (cont’d)</a:t>
            </a:r>
          </a:p>
        </p:txBody>
      </p:sp>
      <p:pic>
        <p:nvPicPr>
          <p:cNvPr id="164" name="lwd5_1412_borderradius-ebook.png" descr="lwd5_1412_borderradius-e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512" y="1858258"/>
            <a:ext cx="8713776" cy="687299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Margi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Margins</a:t>
            </a:r>
          </a:p>
        </p:txBody>
      </p:sp>
      <p:sp>
        <p:nvSpPr>
          <p:cNvPr id="167" name="margin, margin-top, margin-right,  margin-bottom, margin-left…"/>
          <p:cNvSpPr txBox="1"/>
          <p:nvPr/>
        </p:nvSpPr>
        <p:spPr>
          <a:xfrm>
            <a:off x="999579" y="2311400"/>
            <a:ext cx="11099801" cy="667970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margin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margin-top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margin-right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br/>
            <a:r>
              <a:t>margin-bottom</a:t>
            </a:r>
            <a:r>
              <a:rPr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t>margin-left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t> 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margin</a:t>
            </a:r>
            <a:r>
              <a:t> is an amount of space added on the outside of the border. They keep elements from bumping into one another or the edge of the viewport.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The shorthand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margin</a:t>
            </a:r>
            <a:r>
              <a:t> property works the same as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padding</a:t>
            </a:r>
            <a:r>
              <a:t> shorthand. Values are applied clockwise (TRouBLe order) and are repeated if fewer than 4 values are supplied.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Margin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964357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dirty="0"/>
              <a:t>Margins (cont’d)</a:t>
            </a:r>
            <a:endParaRPr dirty="0"/>
          </a:p>
        </p:txBody>
      </p:sp>
      <p:pic>
        <p:nvPicPr>
          <p:cNvPr id="170" name="lwd5_1416_margins_nocode.png" descr="lwd5_1416_margins_no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876" y="1535347"/>
            <a:ext cx="5823724" cy="7691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1" name="A  p#A {…"/>
          <p:cNvSpPr txBox="1"/>
          <p:nvPr/>
        </p:nvSpPr>
        <p:spPr>
          <a:xfrm>
            <a:off x="462174" y="1984467"/>
            <a:ext cx="4699466" cy="58887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b="1" dirty="0">
                <a:solidFill>
                  <a:srgbClr val="00ABFF"/>
                </a:solidFill>
                <a:latin typeface="+mj-lt"/>
                <a:ea typeface="+mj-ea"/>
                <a:cs typeface="+mj-cs"/>
                <a:sym typeface="Helvetica"/>
              </a:rPr>
              <a:t>A</a:t>
            </a:r>
            <a:r>
              <a:rPr sz="2800" dirty="0"/>
              <a:t>  p#A {</a:t>
            </a:r>
            <a:endParaRPr sz="2800" dirty="0"/>
          </a:p>
          <a:p>
            <a:pPr marL="457200" marR="457200" algn="just" defTabSz="457200">
              <a:defRPr sz="2200" baseline="-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</a:t>
            </a:r>
            <a:r>
              <a:rPr sz="28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margin: 4em;</a:t>
            </a:r>
            <a:endParaRPr sz="2800" b="1"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border: 2px solid red;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background: #e2f3f5;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}</a:t>
            </a:r>
            <a:endParaRPr sz="2800" dirty="0"/>
          </a:p>
          <a:p>
            <a:pPr marL="457200" marR="457200" algn="just" defTabSz="457200">
              <a:spcBef>
                <a:spcPts val="2400"/>
              </a:spcBef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b="1" dirty="0">
                <a:solidFill>
                  <a:srgbClr val="00ABFF"/>
                </a:solidFill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sz="2800" dirty="0"/>
              <a:t>  p#B {</a:t>
            </a:r>
            <a:endParaRPr sz="2800" dirty="0"/>
          </a:p>
          <a:p>
            <a:pPr marL="457200" marR="457200" algn="just" defTabSz="457200">
              <a:defRPr sz="2200" baseline="-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</a:t>
            </a:r>
            <a:r>
              <a:rPr sz="28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margin-top: 2em;</a:t>
            </a:r>
            <a:endParaRPr sz="2800" b="1"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margin-right: 250px;</a:t>
            </a:r>
            <a:endParaRPr sz="2800" dirty="0"/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margin-bottom: 1em;</a:t>
            </a:r>
            <a:endParaRPr sz="2800" dirty="0"/>
          </a:p>
          <a:p>
            <a:pPr marL="457200" marR="457200" algn="just" defTabSz="457200">
              <a:defRPr sz="2200" b="1" baseline="-20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margin-left: 4em;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border: 2px solid red;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background: #e2f3f5;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}</a:t>
            </a:r>
            <a:endParaRPr sz="2800" dirty="0"/>
          </a:p>
          <a:p>
            <a:pPr marL="457200" marR="457200" algn="just" defTabSz="457200">
              <a:spcBef>
                <a:spcPts val="2400"/>
              </a:spcBef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b="1" dirty="0">
                <a:solidFill>
                  <a:srgbClr val="00ABFF"/>
                </a:solidFill>
                <a:latin typeface="+mj-lt"/>
                <a:ea typeface="+mj-ea"/>
                <a:cs typeface="+mj-cs"/>
                <a:sym typeface="Helvetica"/>
              </a:rPr>
              <a:t>C</a:t>
            </a:r>
            <a:r>
              <a:rPr sz="2800" dirty="0"/>
              <a:t>  body {</a:t>
            </a:r>
            <a:endParaRPr sz="2800" dirty="0"/>
          </a:p>
          <a:p>
            <a:pPr marL="457200" marR="457200" algn="just" defTabSz="457200">
              <a:defRPr sz="2200" baseline="-20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rgbClr val="FF7B00"/>
                </a:solidFill>
              </a:rPr>
              <a:t>      </a:t>
            </a:r>
            <a:r>
              <a:rPr sz="28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margin: 0 20%;</a:t>
            </a:r>
            <a:endParaRPr sz="2800" b="1"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border: 3px solid red;</a:t>
            </a:r>
            <a:endParaRPr sz="2800" dirty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/>
              <a:t>      background-color: #e2f3f5</a:t>
            </a:r>
            <a:r>
              <a:rPr sz="2800" dirty="0" smtClean="0"/>
              <a:t>;</a:t>
            </a:r>
            <a:endParaRPr lang="en-US" sz="2800" dirty="0" smtClean="0"/>
          </a:p>
          <a:p>
            <a:pPr marL="457200" marR="457200" algn="just" defTabSz="457200">
              <a:defRPr sz="2200" baseline="-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 smtClean="0"/>
              <a:t>   }</a:t>
            </a:r>
            <a:endParaRPr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Margin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11487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Margins (cont’d)</a:t>
            </a:r>
          </a:p>
        </p:txBody>
      </p:sp>
      <p:sp>
        <p:nvSpPr>
          <p:cNvPr id="174" name="Top and bottom margins of neighboring elements collapse  (they overlap instead of accumulating).…"/>
          <p:cNvSpPr txBox="1"/>
          <p:nvPr/>
        </p:nvSpPr>
        <p:spPr>
          <a:xfrm>
            <a:off x="999579" y="2116608"/>
            <a:ext cx="11099801" cy="667970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rPr dirty="0"/>
              <a:t>Top and bottom margins of neighboring elements </a:t>
            </a:r>
            <a:r>
              <a:rPr b="1" dirty="0">
                <a:latin typeface="+mj-lt"/>
                <a:ea typeface="+mj-ea"/>
                <a:cs typeface="+mj-cs"/>
                <a:sym typeface="Helvetica"/>
              </a:rPr>
              <a:t>collapse</a:t>
            </a:r>
            <a:r>
              <a:rPr dirty="0"/>
              <a:t> </a:t>
            </a:r>
            <a:br>
              <a:rPr dirty="0"/>
            </a:br>
            <a:r>
              <a:rPr dirty="0"/>
              <a:t>(they overlap instead of accumulating).</a:t>
            </a:r>
            <a:endParaRPr dirty="0"/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rPr dirty="0"/>
              <a:t>The top element has a bottom margin of 4em. The bottom element has a top margin of 2em. The resulting margin is 4em (the largest value).</a:t>
            </a:r>
            <a:endParaRPr dirty="0"/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endParaRPr dirty="0"/>
          </a:p>
        </p:txBody>
      </p:sp>
      <p:pic>
        <p:nvPicPr>
          <p:cNvPr id="175" name="lwd5_1417_collapsing.png" descr="lwd5_1417_collaps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0" y="5479243"/>
            <a:ext cx="9148803" cy="395685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ssigning Display Types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570782"/>
          </a:xfrm>
          <a:prstGeom prst="rect">
            <a:avLst/>
          </a:prstGeom>
        </p:spPr>
        <p:txBody>
          <a:bodyPr/>
          <a:lstStyle/>
          <a:p>
            <a:r>
              <a:t>Assigning Display Types</a:t>
            </a:r>
          </a:p>
        </p:txBody>
      </p:sp>
      <p:sp>
        <p:nvSpPr>
          <p:cNvPr id="178" name="display…"/>
          <p:cNvSpPr txBox="1"/>
          <p:nvPr/>
        </p:nvSpPr>
        <p:spPr>
          <a:xfrm>
            <a:off x="999579" y="2082800"/>
            <a:ext cx="11099801" cy="660494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defTabSz="490855">
              <a:spcBef>
                <a:spcPts val="3500"/>
              </a:spcBef>
              <a:defRPr sz="3025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display</a:t>
            </a:r>
          </a:p>
          <a:p>
            <a:pPr algn="l" defTabSz="490855">
              <a:spcBef>
                <a:spcPts val="3500"/>
              </a:spcBef>
              <a:defRPr sz="3025">
                <a:solidFill>
                  <a:srgbClr val="53585F"/>
                </a:solidFill>
              </a:defRPr>
            </a:pPr>
            <a:r>
              <a:rPr sz="2520"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rPr sz="2520"/>
              <a:t> </a:t>
            </a:r>
            <a:r>
              <a:rPr sz="1680">
                <a:latin typeface="Courier"/>
                <a:ea typeface="Courier"/>
                <a:cs typeface="Courier"/>
                <a:sym typeface="Courier"/>
              </a:rPr>
              <a:t>inline | block | run-in | flex | grid | flow | flow-root | list-item | table | table-row-group | table-header-group | table-footer-group | table-row | table-cell | table-column-group | table-column | table-caption | ruby | ruby-base | ruby-text | ruby-base-container | ruby-text-container | inline-block | inline-table | inline-flex | inline-grid | contents | none</a:t>
            </a:r>
            <a:r>
              <a:rPr sz="2015">
                <a:latin typeface="Courier"/>
                <a:ea typeface="Courier"/>
                <a:cs typeface="Courier"/>
                <a:sym typeface="Courier"/>
              </a:rPr>
              <a:t> </a:t>
            </a:r>
            <a:endParaRPr sz="2015">
              <a:latin typeface="Courier"/>
              <a:ea typeface="Courier"/>
              <a:cs typeface="Courier"/>
              <a:sym typeface="Courier"/>
            </a:endParaRPr>
          </a:p>
          <a:p>
            <a:pPr algn="l" defTabSz="490855">
              <a:spcBef>
                <a:spcPts val="3500"/>
              </a:spcBef>
              <a:defRPr sz="2520">
                <a:solidFill>
                  <a:srgbClr val="53585F"/>
                </a:solidFill>
              </a:defRPr>
            </a:pPr>
            <a:r>
              <a:t>Assigns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display type</a:t>
            </a:r>
            <a:r>
              <a:t> that determines how the element box behaves in layouts. </a:t>
            </a:r>
          </a:p>
          <a:p>
            <a:pPr algn="l" defTabSz="490855">
              <a:spcBef>
                <a:spcPts val="3500"/>
              </a:spcBef>
              <a:defRPr sz="252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Examples:</a:t>
            </a:r>
          </a:p>
          <a:p>
            <a:pPr marL="311150" indent="-311150" algn="l" defTabSz="490855">
              <a:spcBef>
                <a:spcPts val="2000"/>
              </a:spcBef>
              <a:buSzPct val="75000"/>
              <a:buChar char="•"/>
              <a:defRPr sz="2520">
                <a:solidFill>
                  <a:srgbClr val="53585F"/>
                </a:solidFill>
              </a:defRPr>
            </a:pPr>
            <a:r>
              <a:t>Make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</a:t>
            </a:r>
            <a:r>
              <a:t> (normally block elements) into inline elements so they line up in a horizontal menu:  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nav li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display: inline;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 }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marL="311150" indent="-311150" algn="l" defTabSz="490855">
              <a:spcBef>
                <a:spcPts val="2000"/>
              </a:spcBef>
              <a:buSzPct val="75000"/>
              <a:buChar char="•"/>
              <a:defRPr sz="2520">
                <a:solidFill>
                  <a:srgbClr val="53585F"/>
                </a:solidFill>
              </a:defRPr>
            </a:pPr>
            <a:r>
              <a:t>Make an anchor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t>) element (normally inline) display as a block so you can give it a width and height: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 nav li a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display: block;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 }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ox Drop Shadows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570782"/>
          </a:xfrm>
          <a:prstGeom prst="rect">
            <a:avLst/>
          </a:prstGeom>
        </p:spPr>
        <p:txBody>
          <a:bodyPr/>
          <a:lstStyle/>
          <a:p>
            <a:r>
              <a:t>Box Drop Shadows</a:t>
            </a:r>
          </a:p>
        </p:txBody>
      </p:sp>
      <p:sp>
        <p:nvSpPr>
          <p:cNvPr id="181" name="box-shadow…"/>
          <p:cNvSpPr txBox="1"/>
          <p:nvPr/>
        </p:nvSpPr>
        <p:spPr>
          <a:xfrm>
            <a:off x="999579" y="2082800"/>
            <a:ext cx="11099801" cy="660494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>
              <a:spcBef>
                <a:spcPts val="4200"/>
              </a:spcBef>
              <a:defRPr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box-shadow</a:t>
            </a:r>
          </a:p>
          <a:p>
            <a:pPr algn="l">
              <a:spcBef>
                <a:spcPts val="4200"/>
              </a:spcBef>
              <a:defRPr>
                <a:solidFill>
                  <a:srgbClr val="53585F"/>
                </a:solidFill>
              </a:defRPr>
            </a:pPr>
            <a:r>
              <a:rPr sz="3000"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rPr sz="3000"/>
              <a:t> </a:t>
            </a:r>
            <a:r>
              <a:rPr sz="3000" i="1"/>
              <a:t>horizontal-offset vertical-offset blur-distance spread-distance color</a:t>
            </a:r>
            <a:r>
              <a:rPr sz="3000">
                <a:latin typeface="Courier"/>
                <a:ea typeface="Courier"/>
                <a:cs typeface="Courier"/>
                <a:sym typeface="Courier"/>
              </a:rPr>
              <a:t> inset, none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Applies a drop shadow around the visible element box. </a:t>
            </a:r>
          </a:p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The values are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horizontal</a:t>
            </a:r>
            <a:r>
              <a:t>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vertical offset</a:t>
            </a:r>
            <a:r>
              <a:t>, optional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blur</a:t>
            </a:r>
            <a:r>
              <a:t>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spread</a:t>
            </a:r>
            <a:r>
              <a:t> values (in pixels),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color</a:t>
            </a:r>
            <a:r>
              <a:t> value, and the option to make it appear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inset</a:t>
            </a:r>
            <a:r>
              <a:t>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Box Drop Shadow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57078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Box Drop Shadows (cont’d)</a:t>
            </a:r>
          </a:p>
        </p:txBody>
      </p:sp>
      <p:sp>
        <p:nvSpPr>
          <p:cNvPr id="184" name="A  box-shadow: 6px 6px gray;…"/>
          <p:cNvSpPr txBox="1"/>
          <p:nvPr/>
        </p:nvSpPr>
        <p:spPr>
          <a:xfrm>
            <a:off x="986346" y="2085705"/>
            <a:ext cx="10643134" cy="260669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marR="457200" algn="just" defTabSz="457200">
              <a:lnSpc>
                <a:spcPts val="4200"/>
              </a:lnSpc>
              <a:spcBef>
                <a:spcPts val="3600"/>
              </a:spcBef>
              <a:defRPr sz="2400" baseline="-2000">
                <a:solidFill>
                  <a:srgbClr val="00AB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b="1" dirty="0">
                <a:latin typeface="+mj-lt"/>
                <a:ea typeface="+mj-ea"/>
                <a:cs typeface="+mj-cs"/>
                <a:sym typeface="Helvetica"/>
              </a:rPr>
              <a:t>A</a:t>
            </a:r>
            <a:r>
              <a:rPr sz="3200" dirty="0"/>
              <a:t>  </a:t>
            </a:r>
            <a:r>
              <a:rPr sz="32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box-shadow: 6px 6px gray;</a:t>
            </a:r>
            <a:endParaRPr sz="3200" b="1" dirty="0"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R="457200" algn="just" defTabSz="457200">
              <a:lnSpc>
                <a:spcPts val="4200"/>
              </a:lnSpc>
              <a:spcBef>
                <a:spcPts val="3600"/>
              </a:spcBef>
              <a:defRPr sz="2400" baseline="-2000">
                <a:solidFill>
                  <a:srgbClr val="00AB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b="1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sz="3200" dirty="0"/>
              <a:t> </a:t>
            </a:r>
            <a:r>
              <a:rPr sz="3200" dirty="0">
                <a:solidFill>
                  <a:srgbClr val="000000"/>
                </a:solidFill>
              </a:rPr>
              <a:t> </a:t>
            </a:r>
            <a:r>
              <a:rPr sz="32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box-shadow: 6px 6px 5px gray;</a:t>
            </a:r>
            <a:r>
              <a:rPr sz="3200" dirty="0"/>
              <a:t> </a:t>
            </a:r>
            <a:r>
              <a:rPr sz="3200" dirty="0">
                <a:solidFill>
                  <a:srgbClr val="A6AAA9"/>
                </a:solidFill>
              </a:rPr>
              <a:t>/* 5 pixel blur */</a:t>
            </a:r>
            <a:endParaRPr sz="3200" dirty="0">
              <a:solidFill>
                <a:srgbClr val="FF7B00"/>
              </a:solidFill>
            </a:endParaRPr>
          </a:p>
          <a:p>
            <a:pPr marR="457200" algn="just" defTabSz="457200">
              <a:lnSpc>
                <a:spcPts val="4200"/>
              </a:lnSpc>
              <a:spcBef>
                <a:spcPts val="3600"/>
              </a:spcBef>
              <a:defRPr sz="2400" baseline="-2000">
                <a:solidFill>
                  <a:srgbClr val="00AB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b="1" dirty="0">
                <a:latin typeface="+mj-lt"/>
                <a:ea typeface="+mj-ea"/>
                <a:cs typeface="+mj-cs"/>
                <a:sym typeface="Helvetica"/>
              </a:rPr>
              <a:t>C</a:t>
            </a:r>
            <a:r>
              <a:rPr sz="3200" dirty="0"/>
              <a:t> </a:t>
            </a:r>
            <a:r>
              <a:rPr sz="3200" dirty="0">
                <a:solidFill>
                  <a:srgbClr val="000000"/>
                </a:solidFill>
              </a:rPr>
              <a:t> </a:t>
            </a:r>
            <a:r>
              <a:rPr sz="3200" b="1" dirty="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box-shadow: 6px 6px 5px 10px gray;</a:t>
            </a:r>
            <a:r>
              <a:rPr sz="320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A6AAA9"/>
                </a:solidFill>
              </a:rPr>
              <a:t>/* 5px blur,10px spread */</a:t>
            </a:r>
            <a:endParaRPr sz="3200" dirty="0">
              <a:solidFill>
                <a:srgbClr val="FF7B00"/>
              </a:solidFill>
            </a:endParaRPr>
          </a:p>
        </p:txBody>
      </p:sp>
      <p:pic>
        <p:nvPicPr>
          <p:cNvPr id="185" name="lwd5_1421_boxshadow-ebook.png" descr="lwd5_1421_boxshadow-e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479" y="4864100"/>
            <a:ext cx="10160001" cy="3937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205345" y="8603876"/>
            <a:ext cx="1061951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www.w3schools.com/cssref/playit.asp?filename=playcss_box-shadow&amp;preval=20px%2020px%2050px%2010px%20pink%20inset</a:t>
            </a:r>
            <a:r>
              <a:rPr lang="en-US" sz="2400" dirty="0" smtClean="0"/>
              <a:t>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7201</Words>
  <Application>WPS Presentation</Application>
  <PresentationFormat>Custom</PresentationFormat>
  <Paragraphs>233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SimSun</vt:lpstr>
      <vt:lpstr>Wingdings</vt:lpstr>
      <vt:lpstr>Helvetica Light</vt:lpstr>
      <vt:lpstr>Helvetica</vt:lpstr>
      <vt:lpstr>Helvetica Neue</vt:lpstr>
      <vt:lpstr>Courier</vt:lpstr>
      <vt:lpstr>Thonburi</vt:lpstr>
      <vt:lpstr>Microsoft YaHei</vt:lpstr>
      <vt:lpstr>汉仪旗黑</vt:lpstr>
      <vt:lpstr>Arial Unicode MS</vt:lpstr>
      <vt:lpstr>Helvetica</vt:lpstr>
      <vt:lpstr>White</vt:lpstr>
      <vt:lpstr>PowerPoint 演示文稿</vt:lpstr>
      <vt:lpstr>PowerPoint 演示文稿</vt:lpstr>
      <vt:lpstr>The Parts of an Element Box</vt:lpstr>
      <vt:lpstr>Specifying Box Dimensions</vt:lpstr>
      <vt:lpstr>Box Sizing Models</vt:lpstr>
      <vt:lpstr>Box Sizing Models Compared</vt:lpstr>
      <vt:lpstr>Overflow</vt:lpstr>
      <vt:lpstr>Padding</vt:lpstr>
      <vt:lpstr>Padding (cont’d)</vt:lpstr>
      <vt:lpstr>Shorthand padding Property</vt:lpstr>
      <vt:lpstr>Shorthand padding Property (cont’d)</vt:lpstr>
      <vt:lpstr>Shorthand padding Property (cont’d)</vt:lpstr>
      <vt:lpstr>Borders</vt:lpstr>
      <vt:lpstr>Border Style</vt:lpstr>
      <vt:lpstr>Border Style</vt:lpstr>
      <vt:lpstr>Border Width</vt:lpstr>
      <vt:lpstr>Border Color</vt:lpstr>
      <vt:lpstr>Border Shorthand Properties</vt:lpstr>
      <vt:lpstr>Border Radius (Rounded Corners)</vt:lpstr>
      <vt:lpstr>Border Radius (cont’d)</vt:lpstr>
      <vt:lpstr>Margins</vt:lpstr>
      <vt:lpstr>Margins (cont’d)</vt:lpstr>
      <vt:lpstr>Margins (cont’d)</vt:lpstr>
      <vt:lpstr>Assigning Display Types</vt:lpstr>
      <vt:lpstr>Box Drop Shadows</vt:lpstr>
      <vt:lpstr>Box Drop Shadows (cont’d)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nimraabbas</cp:lastModifiedBy>
  <cp:revision>10</cp:revision>
  <dcterms:created xsi:type="dcterms:W3CDTF">2023-12-05T08:54:57Z</dcterms:created>
  <dcterms:modified xsi:type="dcterms:W3CDTF">2023-12-05T08:54:57Z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1033-5.6.0.8082</vt:lpwstr>
  </property>
</Properties>
</file>