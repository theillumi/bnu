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72" r:id="rId4"/>
    <p:sldId id="273" r:id="rId5"/>
    <p:sldId id="274" r:id="rId6"/>
    <p:sldId id="286" r:id="rId7"/>
    <p:sldId id="277" r:id="rId8"/>
    <p:sldId id="287" r:id="rId9"/>
    <p:sldId id="280" r:id="rId10"/>
    <p:sldId id="288" r:id="rId11"/>
    <p:sldId id="281" r:id="rId12"/>
    <p:sldId id="282" r:id="rId13"/>
    <p:sldId id="285" r:id="rId14"/>
    <p:sldId id="289" r:id="rId1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434" y="66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04632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_footer.png" descr="slide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6250"/>
            <a:ext cx="13004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# CHAPTER TITLE"/>
          <p:cNvSpPr txBox="1">
            <a:spLocks noGrp="1"/>
          </p:cNvSpPr>
          <p:nvPr>
            <p:ph type="body" sz="half" idx="13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46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8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.png" descr="foo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1 INTRODUCING CSS"/>
          <p:cNvSpPr txBox="1"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3D71B8"/>
                </a:solidFill>
              </a:rPr>
              <a:t>11</a:t>
            </a:r>
            <a:br>
              <a:rPr sz="4000"/>
            </a:br>
            <a:r>
              <a:rPr sz="6000">
                <a:latin typeface="+mn-lt"/>
                <a:ea typeface="+mn-ea"/>
                <a:cs typeface="+mn-cs"/>
                <a:sym typeface="Helvetica Light"/>
              </a:rPr>
              <a:t>INTRODUCING CSS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Document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Document Structure</a:t>
            </a:r>
          </a:p>
        </p:txBody>
      </p:sp>
      <p:sp>
        <p:nvSpPr>
          <p:cNvPr id="141" name="Documents have an implicit structure.…"/>
          <p:cNvSpPr txBox="1"/>
          <p:nvPr/>
        </p:nvSpPr>
        <p:spPr>
          <a:xfrm>
            <a:off x="1069568" y="2666988"/>
            <a:ext cx="10959824" cy="5740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2400"/>
              </a:spcBef>
              <a:defRPr sz="30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Documents have an implicit structure.</a:t>
            </a:r>
          </a:p>
          <a:p>
            <a:pPr algn="l">
              <a:spcBef>
                <a:spcPts val="2400"/>
              </a:spcBef>
              <a:defRPr sz="3000">
                <a:solidFill>
                  <a:srgbClr val="53585F"/>
                </a:solidFill>
              </a:defRPr>
            </a:pPr>
            <a:r>
              <a:t>We give certain relationships names, as if they’re a family: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All the elements contained in a given element are its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descendents</a:t>
            </a:r>
            <a:r>
              <a:t>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An element that is directly contained within another element is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child</a:t>
            </a:r>
            <a:r>
              <a:t> of that element.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containing element is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parent</a:t>
            </a:r>
            <a:r>
              <a:t> of the contained element.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Two elements with the same parent are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siblings</a:t>
            </a:r>
            <a:r>
              <a:t>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Inheri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Inheritance</a:t>
            </a:r>
          </a:p>
        </p:txBody>
      </p:sp>
      <p:sp>
        <p:nvSpPr>
          <p:cNvPr id="144" name="Many properties applied to elements are passed down to the elements they contain. This is called inheritance.…"/>
          <p:cNvSpPr txBox="1">
            <a:spLocks noGrp="1"/>
          </p:cNvSpPr>
          <p:nvPr>
            <p:ph type="body" sz="half" idx="1"/>
          </p:nvPr>
        </p:nvSpPr>
        <p:spPr>
          <a:xfrm>
            <a:off x="952500" y="2362200"/>
            <a:ext cx="11099800" cy="2724299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Many properties applied to elements are passed down to the elements they contain. This is called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inheritance</a:t>
            </a:r>
            <a:r>
              <a:t>.</a:t>
            </a:r>
          </a:p>
          <a:p>
            <a:pPr>
              <a:defRPr sz="3000"/>
            </a:pPr>
            <a:r>
              <a:t>For example, applying a sans-serif font to 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 element causes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t> element it contains to be sans-serif as well:</a:t>
            </a:r>
          </a:p>
        </p:txBody>
      </p:sp>
      <p:pic>
        <p:nvPicPr>
          <p:cNvPr id="145" name="lwd5_1107.png" descr="lwd5_1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86" y="5327798"/>
            <a:ext cx="7676428" cy="3435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Inheritance (cont’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Inheritance (cont’d)</a:t>
            </a:r>
          </a:p>
        </p:txBody>
      </p:sp>
      <p:sp>
        <p:nvSpPr>
          <p:cNvPr id="148" name="Some properties inherit; others do not.  Properties related to text usually inherit; properties related to layout generally don’t.…"/>
          <p:cNvSpPr txBox="1">
            <a:spLocks noGrp="1"/>
          </p:cNvSpPr>
          <p:nvPr>
            <p:ph type="body" idx="4294967295"/>
          </p:nvPr>
        </p:nvSpPr>
        <p:spPr>
          <a:xfrm>
            <a:off x="952500" y="2603500"/>
            <a:ext cx="11099800" cy="5127675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Some properties inherit; others do not.</a:t>
            </a:r>
            <a:r>
              <a:rPr dirty="0"/>
              <a:t> </a:t>
            </a:r>
            <a:br>
              <a:rPr dirty="0"/>
            </a:br>
            <a:r>
              <a:rPr dirty="0"/>
              <a:t>Properties related to text usually inherit; properties related to layout generally don’t.</a:t>
            </a:r>
          </a:p>
          <a:p>
            <a:pPr>
              <a:defRPr sz="3000"/>
            </a:pPr>
            <a:r>
              <a:rPr dirty="0"/>
              <a:t>Styles explicitly applied to specific elements override inherited styles. </a:t>
            </a:r>
          </a:p>
          <a:p>
            <a:pPr>
              <a:defRPr sz="3000"/>
            </a:pPr>
            <a:r>
              <a:rPr dirty="0"/>
              <a:t>You’ll learn to use inheritance strategically to keep your style rules simple.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he Casc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</a:t>
            </a:r>
          </a:p>
        </p:txBody>
      </p:sp>
      <p:sp>
        <p:nvSpPr>
          <p:cNvPr id="151" name="The cascade refers to the system for resolving conflicts when several styles apply to the same element.…"/>
          <p:cNvSpPr txBox="1">
            <a:spLocks noGrp="1"/>
          </p:cNvSpPr>
          <p:nvPr>
            <p:ph type="body" idx="1"/>
          </p:nvPr>
        </p:nvSpPr>
        <p:spPr>
          <a:xfrm>
            <a:off x="952500" y="2311400"/>
            <a:ext cx="11099800" cy="6286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defRPr sz="3000"/>
            </a:pPr>
            <a:r>
              <a:rPr dirty="0"/>
              <a:t>The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cascade</a:t>
            </a:r>
            <a:r>
              <a:rPr dirty="0"/>
              <a:t> refers to the system for resolving conflicts when several styles apply to the same element.</a:t>
            </a:r>
          </a:p>
          <a:p>
            <a:pPr>
              <a:defRPr sz="3000"/>
            </a:pPr>
            <a:r>
              <a:rPr dirty="0"/>
              <a:t>Style information is passed down (it “cascades” down) until overwritten by a style rule with more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weight</a:t>
            </a:r>
            <a:r>
              <a:rPr dirty="0"/>
              <a:t>.</a:t>
            </a:r>
          </a:p>
          <a:p>
            <a:pPr>
              <a:defRPr sz="3000"/>
            </a:pPr>
            <a:r>
              <a:rPr dirty="0"/>
              <a:t>Weight is considered based on:</a:t>
            </a: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Priority </a:t>
            </a:r>
            <a:r>
              <a:rPr b="0" dirty="0">
                <a:latin typeface="+mn-lt"/>
                <a:ea typeface="+mn-ea"/>
                <a:cs typeface="+mn-cs"/>
                <a:sym typeface="Helvetica Light"/>
              </a:rPr>
              <a:t>of style rule source</a:t>
            </a:r>
            <a:r>
              <a:rPr lang="en-US" dirty="0"/>
              <a:t> (e.g., user rules, developer rules, browser rules)</a:t>
            </a:r>
            <a:endParaRPr b="0" dirty="0">
              <a:latin typeface="+mn-lt"/>
              <a:ea typeface="+mn-ea"/>
              <a:cs typeface="+mn-cs"/>
              <a:sym typeface="Helvetica Light"/>
            </a:endParaRP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Specificity </a:t>
            </a:r>
            <a:r>
              <a:rPr b="0" dirty="0">
                <a:latin typeface="+mn-lt"/>
                <a:ea typeface="+mn-ea"/>
                <a:cs typeface="+mn-cs"/>
                <a:sym typeface="Helvetica Light"/>
              </a:rPr>
              <a:t>of the selector</a:t>
            </a:r>
            <a:r>
              <a:rPr lang="ur-PK" b="0" dirty="0"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en-US" b="0" dirty="0">
                <a:latin typeface="+mn-lt"/>
                <a:ea typeface="+mn-ea"/>
                <a:cs typeface="+mn-cs"/>
                <a:sym typeface="Helvetica Light"/>
              </a:rPr>
              <a:t> (e.g., inline rule more specific than external, id more specific than just an element etc</a:t>
            </a:r>
            <a:r>
              <a:rPr lang="en-US" dirty="0"/>
              <a:t>.)</a:t>
            </a:r>
            <a:endParaRPr dirty="0">
              <a:sym typeface="Helvetica Light"/>
            </a:endParaRP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Rule order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he Casc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9773A-C157-52C4-C57C-554BCA7E4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57" y="2603500"/>
            <a:ext cx="5726655" cy="5526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BCC44-8034-F5B1-274B-BBBB8464827C}"/>
              </a:ext>
            </a:extLst>
          </p:cNvPr>
          <p:cNvSpPr txBox="1"/>
          <p:nvPr/>
        </p:nvSpPr>
        <p:spPr>
          <a:xfrm>
            <a:off x="-198784" y="1957169"/>
            <a:ext cx="5367131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/>
              <a:t>For example</a:t>
            </a:r>
            <a:endParaRPr lang="en-PK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41366-1486-5E51-EFF1-BC0CA57C03C4}"/>
              </a:ext>
            </a:extLst>
          </p:cNvPr>
          <p:cNvSpPr txBox="1"/>
          <p:nvPr/>
        </p:nvSpPr>
        <p:spPr>
          <a:xfrm>
            <a:off x="7195869" y="2768841"/>
            <a:ext cx="3597966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dirty="0"/>
              <a:t>Here p is an element selector and .par is a class selector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2701072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he Cascade: Rule Or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Cascade: Rule Order</a:t>
            </a:r>
          </a:p>
        </p:txBody>
      </p:sp>
      <p:sp>
        <p:nvSpPr>
          <p:cNvPr id="160" name="When two rules have equal weight, rule order is used. Whichever rule appears last “wins.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33400" indent="-533400">
              <a:defRPr sz="3000"/>
            </a:pPr>
            <a:r>
              <a:t>When two rules have equal weight, rule order is used.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Whichever rule appears last “wins.”</a:t>
            </a:r>
          </a:p>
          <a:p>
            <a:pPr marL="0" lvl="3" indent="685800">
              <a:spcBef>
                <a:spcPts val="240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&lt;style&gt;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red;}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blue;}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green;}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&lt;/style&gt;</a:t>
            </a:r>
          </a:p>
          <a:p>
            <a:pPr marL="0" lvl="3" indent="685800">
              <a:spcBef>
                <a:spcPts val="2400"/>
              </a:spcBef>
              <a:buSzTx/>
              <a:buNone/>
              <a:defRPr sz="3000"/>
            </a:pPr>
            <a:r>
              <a:t>In this example, paragraphs would be green.</a:t>
            </a:r>
          </a:p>
          <a:p>
            <a:pPr>
              <a:defRPr sz="3000"/>
            </a:pPr>
            <a:r>
              <a:t>Styles may come in from external style sheets, embedded style rules, and inline styles. The style rule that gets parsed last (the one closest to the content) will apply.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he Cascade: Rule Or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Specifity</a:t>
            </a:r>
            <a:endParaRPr dirty="0"/>
          </a:p>
        </p:txBody>
      </p:sp>
      <p:sp>
        <p:nvSpPr>
          <p:cNvPr id="160" name="When two rules have equal weight, rule order is used. Whichever rule appears last “wins.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33400" indent="-533400">
              <a:defRPr sz="3000"/>
            </a:pPr>
            <a:r>
              <a:rPr lang="en-US" b="1" dirty="0">
                <a:latin typeface="+mj-lt"/>
                <a:ea typeface="+mj-ea"/>
                <a:cs typeface="+mj-cs"/>
                <a:sym typeface="Helvetica"/>
              </a:rPr>
              <a:t>A class selector is most specific than element selector</a:t>
            </a:r>
          </a:p>
          <a:p>
            <a:pPr marL="533400" indent="-533400">
              <a:defRPr sz="3000"/>
            </a:pPr>
            <a:r>
              <a:rPr lang="en-US" b="1" dirty="0">
                <a:latin typeface="+mj-lt"/>
                <a:ea typeface="+mj-ea"/>
                <a:cs typeface="+mj-cs"/>
                <a:sym typeface="Helvetica"/>
              </a:rPr>
              <a:t>The id selector is more specific than class selector</a:t>
            </a:r>
          </a:p>
          <a:p>
            <a:pPr marL="0" indent="0">
              <a:buNone/>
              <a:defRPr sz="3000"/>
            </a:pPr>
            <a:endParaRPr b="1"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0D6FD-C765-317F-89FE-5900D7513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209" y="5227982"/>
            <a:ext cx="8597617" cy="172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43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SS Units of Measur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Units of Measurement</a:t>
            </a:r>
          </a:p>
        </p:txBody>
      </p:sp>
      <p:sp>
        <p:nvSpPr>
          <p:cNvPr id="170" name="CSS provides a variety ways to specify measurement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buSzTx/>
              <a:buNone/>
              <a:defRPr sz="3000"/>
            </a:pPr>
            <a:r>
              <a:rPr dirty="0"/>
              <a:t>CSS </a:t>
            </a:r>
            <a:r>
              <a:rPr lang="en-US" dirty="0"/>
              <a:t>has several units for expressing a length</a:t>
            </a:r>
          </a:p>
          <a:p>
            <a:pPr marL="0" indent="0">
              <a:buSzTx/>
              <a:buNone/>
              <a:defRPr sz="3000"/>
            </a:pPr>
            <a:r>
              <a:rPr lang="en-US" dirty="0"/>
              <a:t>Many CSS  properties take “length” values such as width, margin, padding, font-size,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SzTx/>
              <a:buNone/>
              <a:defRPr sz="3000"/>
            </a:pPr>
            <a:r>
              <a:rPr lang="en-US" dirty="0"/>
              <a:t>Length is a number followed by length unit, such as 10 </a:t>
            </a:r>
            <a:r>
              <a:rPr lang="en-US" dirty="0" err="1"/>
              <a:t>px</a:t>
            </a:r>
            <a:r>
              <a:rPr lang="en-US" dirty="0"/>
              <a:t>, 2em,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SzTx/>
              <a:buNone/>
              <a:defRPr sz="3000"/>
            </a:pPr>
            <a:r>
              <a:rPr lang="en-US" dirty="0"/>
              <a:t>There are two types of length units such as Absolute lengths, Relative lengths.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SS Units of Measur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Units of Measurement</a:t>
            </a:r>
          </a:p>
        </p:txBody>
      </p:sp>
      <p:sp>
        <p:nvSpPr>
          <p:cNvPr id="170" name="CSS provides a variety ways to specify measurement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CSS provides a variety ways to specify measurements: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Absolute units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rPr dirty="0"/>
              <a:t>Have predefined meanings or real-world equivalents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Relative units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rPr dirty="0"/>
              <a:t>Based on the size of something else, such as the default text size or the size of the parent element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endParaRPr dirty="0"/>
          </a:p>
          <a:p>
            <a:pPr marL="0" indent="0">
              <a:spcBef>
                <a:spcPts val="0"/>
              </a:spcBef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Percentages</a:t>
            </a:r>
            <a:r>
              <a:rPr lang="en-US" dirty="0"/>
              <a:t> – recommended for course work</a:t>
            </a:r>
            <a:endParaRPr dirty="0"/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rPr dirty="0"/>
              <a:t>Calculated relative to another value, such as the size of the parent element </a:t>
            </a:r>
          </a:p>
        </p:txBody>
      </p:sp>
    </p:spTree>
    <p:extLst>
      <p:ext uri="{BB962C8B-B14F-4D97-AF65-F5344CB8AC3E}">
        <p14:creationId xmlns:p14="http://schemas.microsoft.com/office/powerpoint/2010/main" val="204823836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bsolut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Absolute Units</a:t>
            </a:r>
          </a:p>
        </p:txBody>
      </p:sp>
      <p:sp>
        <p:nvSpPr>
          <p:cNvPr id="173" name="With the exception of pixels, absolute units are not appropriate for web design:…"/>
          <p:cNvSpPr txBox="1">
            <a:spLocks noGrp="1"/>
          </p:cNvSpPr>
          <p:nvPr>
            <p:ph type="body" idx="1"/>
          </p:nvPr>
        </p:nvSpPr>
        <p:spPr>
          <a:xfrm>
            <a:off x="952500" y="2489200"/>
            <a:ext cx="11099800" cy="5861447"/>
          </a:xfrm>
          <a:prstGeom prst="rect">
            <a:avLst/>
          </a:prstGeom>
        </p:spPr>
        <p:txBody>
          <a:bodyPr anchor="t">
            <a:normAutofit fontScale="85000" lnSpcReduction="20000"/>
          </a:bodyPr>
          <a:lstStyle/>
          <a:p>
            <a:pPr marL="0" indent="0">
              <a:buSzTx/>
              <a:buNone/>
              <a:defRPr sz="3000"/>
            </a:pPr>
            <a:r>
              <a:rPr dirty="0"/>
              <a:t>With the exception of pixels, absolute units are not appropriate for web design:</a:t>
            </a:r>
          </a:p>
          <a:p>
            <a:pPr marL="0" lvl="2" indent="457200">
              <a:spcBef>
                <a:spcPts val="3000"/>
              </a:spcBef>
              <a:buSzTx/>
              <a:buNone/>
              <a:defRPr sz="300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px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pixel</a:t>
            </a:r>
            <a:endParaRPr lang="en-US" dirty="0"/>
          </a:p>
          <a:p>
            <a:pPr marL="0" lvl="2" indent="457200" algn="just">
              <a:spcBef>
                <a:spcPts val="3000"/>
              </a:spcBef>
              <a:buSzTx/>
              <a:buNone/>
              <a:defRPr sz="3000"/>
            </a:pPr>
            <a:r>
              <a:rPr lang="en-US" sz="3100" b="1" dirty="0">
                <a:latin typeface="Courier"/>
              </a:rPr>
              <a:t>em</a:t>
            </a:r>
            <a:r>
              <a:rPr lang="en-US" dirty="0"/>
              <a:t>       </a:t>
            </a:r>
            <a:r>
              <a:rPr lang="en-US" sz="3100" dirty="0" err="1"/>
              <a:t>em</a:t>
            </a:r>
            <a:r>
              <a:rPr lang="en-US" sz="3100" dirty="0"/>
              <a:t> is a unit of measurement which indicates size relative to the size  		    of the font. 1em means   "equal to the current font size", and 2em 		    means 2 times the current font size.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inches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mm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millimeters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cm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centimeters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rPr dirty="0"/>
              <a:t>1/4 millimeter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pt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points (1/72 inch)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pc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pica (1 pica = 12 points = 1/6 inch)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lativ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Relative Units</a:t>
            </a:r>
          </a:p>
        </p:txBody>
      </p:sp>
      <p:sp>
        <p:nvSpPr>
          <p:cNvPr id="176" name="Relative units are based on the size of something else:…"/>
          <p:cNvSpPr txBox="1">
            <a:spLocks noGrp="1"/>
          </p:cNvSpPr>
          <p:nvPr>
            <p:ph type="body" idx="1"/>
          </p:nvPr>
        </p:nvSpPr>
        <p:spPr>
          <a:xfrm>
            <a:off x="559965" y="2387600"/>
            <a:ext cx="11979028" cy="6178699"/>
          </a:xfrm>
          <a:prstGeom prst="rect">
            <a:avLst/>
          </a:prstGeom>
        </p:spPr>
        <p:txBody>
          <a:bodyPr anchor="t"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rPr dirty="0"/>
              <a:t>Relative units are based on the size of something else:</a:t>
            </a:r>
          </a:p>
          <a:p>
            <a:pPr marL="0" lvl="2" indent="429768" defTabSz="549148">
              <a:spcBef>
                <a:spcPts val="2800"/>
              </a:spcBef>
              <a:buSzTx/>
              <a:buNone/>
              <a:defRPr sz="282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a unit equal to the current font size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ex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x-height, equal to the height of a lowercase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x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>
                <a:latin typeface="Courier"/>
                <a:ea typeface="Courier"/>
                <a:cs typeface="Courier"/>
                <a:sym typeface="Courier"/>
              </a:rPr>
              <a:t>rem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rPr dirty="0"/>
              <a:t>root e</a:t>
            </a:r>
            <a:r>
              <a:rPr lang="en-US" dirty="0"/>
              <a:t>lement</a:t>
            </a:r>
            <a:r>
              <a:rPr dirty="0"/>
              <a:t>, equal to the font size of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rPr dirty="0"/>
              <a:t> element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ch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zero width, equal to the width of a zero (0)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viewport width unit (equal to 1/100 of viewport width)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dirty="0"/>
              <a:t>viewport height unit (1/100 of viewport height)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vmin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dirty="0"/>
              <a:t>viewport minimum unit (value of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/>
              <a:t> or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 dirty="0"/>
              <a:t>, whichever is smaller)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vmax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dirty="0"/>
              <a:t>viewport maximum unit (value of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/>
              <a:t> or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 dirty="0"/>
              <a:t>, whichever is larger)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Viewport Percentage Lengths (vw/vh)</a:t>
            </a:r>
          </a:p>
        </p:txBody>
      </p:sp>
      <p:sp>
        <p:nvSpPr>
          <p:cNvPr id="186" name="Viewport width (vw) and viewport height (vh) units are relative to the size of the viewport (browser window):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Viewport width (</a:t>
            </a: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 dirty="0"/>
              <a:t>) and viewport height (</a:t>
            </a: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/>
              <a:t>) units are relative to the size of the viewport (browser window):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300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/>
              <a:t> = 1/100th width of viewport</a:t>
            </a:r>
          </a:p>
          <a:p>
            <a:pPr marL="0" lvl="2" indent="457200">
              <a:spcBef>
                <a:spcPts val="1800"/>
              </a:spcBef>
              <a:buSzTx/>
              <a:buNone/>
              <a:defRPr sz="3000"/>
            </a:pP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 dirty="0"/>
              <a:t> = 1/100th height of viewport</a:t>
            </a:r>
          </a:p>
          <a:p>
            <a:pPr marL="0" indent="0">
              <a:buSzTx/>
              <a:buNone/>
              <a:defRPr sz="3000"/>
            </a:pPr>
            <a:r>
              <a:rPr dirty="0"/>
              <a:t>They’re useful for making an element fill the viewport or a specified percentage of it. This image will be 50% the width and height of the viewport: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img</a:t>
            </a:r>
            <a:r>
              <a:rPr dirty="0"/>
              <a:t> { width: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50vw</a:t>
            </a:r>
            <a:r>
              <a:rPr dirty="0"/>
              <a:t>; height: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50vh</a:t>
            </a:r>
            <a:r>
              <a:rPr dirty="0"/>
              <a:t>; }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Viewport width (vw) and viewport height (vh) units are relative to the size of the viewport (browser window):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lvl="2" indent="457200" algn="ctr">
              <a:spcBef>
                <a:spcPts val="2400"/>
              </a:spcBef>
              <a:buSzTx/>
              <a:buNone/>
              <a:defRPr sz="3000"/>
            </a:pPr>
            <a:r>
              <a:rPr lang="en-US" sz="4400" b="1" dirty="0"/>
              <a:t>End of Lecture</a:t>
            </a:r>
            <a:endParaRPr sz="4400" b="1" dirty="0"/>
          </a:p>
        </p:txBody>
      </p:sp>
    </p:spTree>
    <p:extLst>
      <p:ext uri="{BB962C8B-B14F-4D97-AF65-F5344CB8AC3E}">
        <p14:creationId xmlns:p14="http://schemas.microsoft.com/office/powerpoint/2010/main" val="3532113083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810</Words>
  <Application>Microsoft Office PowerPoint</Application>
  <PresentationFormat>Custom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Courier</vt:lpstr>
      <vt:lpstr>Helvetica</vt:lpstr>
      <vt:lpstr>Helvetica Light</vt:lpstr>
      <vt:lpstr>Helvetica Neue</vt:lpstr>
      <vt:lpstr>White</vt:lpstr>
      <vt:lpstr>PowerPoint Presentation</vt:lpstr>
      <vt:lpstr>Document Structure</vt:lpstr>
      <vt:lpstr>Inheritance</vt:lpstr>
      <vt:lpstr>Inheritance (cont’d)</vt:lpstr>
      <vt:lpstr>The Cascade</vt:lpstr>
      <vt:lpstr>The Cascade</vt:lpstr>
      <vt:lpstr>The Cascade: Rule Order</vt:lpstr>
      <vt:lpstr>Specifity</vt:lpstr>
      <vt:lpstr>CSS Units of Measurement</vt:lpstr>
      <vt:lpstr>CSS Units of Measurement</vt:lpstr>
      <vt:lpstr>Absolute Units</vt:lpstr>
      <vt:lpstr>Relative Units</vt:lpstr>
      <vt:lpstr>RELATIVE UNITS Viewport Percentage Lengths (vw/vh)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 to Z</cp:lastModifiedBy>
  <cp:revision>36</cp:revision>
  <dcterms:modified xsi:type="dcterms:W3CDTF">2023-11-06T10:28:34Z</dcterms:modified>
</cp:coreProperties>
</file>