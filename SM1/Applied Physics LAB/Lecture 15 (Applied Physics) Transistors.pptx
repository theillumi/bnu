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7" r:id="rId2"/>
    <p:sldId id="260" r:id="rId3"/>
    <p:sldId id="257" r:id="rId4"/>
    <p:sldId id="261" r:id="rId5"/>
    <p:sldId id="258" r:id="rId6"/>
    <p:sldId id="259" r:id="rId7"/>
    <p:sldId id="266" r:id="rId8"/>
    <p:sldId id="262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6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8" d="100"/>
          <a:sy n="118" d="100"/>
        </p:scale>
        <p:origin x="-1434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B7DC6-BB6F-4CFF-9C2C-713D8C3BF51C}" type="datetimeFigureOut">
              <a:rPr lang="en-US" smtClean="0"/>
              <a:t>06-Nov-23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4CCBDA-5A06-4B8E-806C-B82DAFBC3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46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F3AA28-425B-4EE2-8EC4-AA1075E3FF67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113C91-6513-4BDC-BAA4-5777C2429E70}" type="slidenum">
              <a:rPr lang="zh-TW" altLang="en-US"/>
              <a:pPr/>
              <a:t>4</a:t>
            </a:fld>
            <a:endParaRPr lang="en-US" altLang="zh-TW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A5F538-F636-4704-A368-29A6D09457B7}" type="slidenum">
              <a:rPr lang="zh-TW" altLang="en-US"/>
              <a:pPr/>
              <a:t>8</a:t>
            </a:fld>
            <a:endParaRPr lang="en-US" altLang="zh-TW"/>
          </a:p>
        </p:txBody>
      </p:sp>
      <p:sp>
        <p:nvSpPr>
          <p:cNvPr id="193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604BF7C-7068-4831-8D58-DA314D38D124}" type="slidenum">
              <a:rPr lang="en-US" sz="1200"/>
              <a:pPr/>
              <a:t>9</a:t>
            </a:fld>
            <a:endParaRPr 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92305C-7BA4-4A72-B15B-67F6F966937D}" type="slidenum">
              <a:rPr lang="zh-TW" altLang="en-US"/>
              <a:pPr/>
              <a:t>10</a:t>
            </a:fld>
            <a:endParaRPr lang="en-US" altLang="zh-TW"/>
          </a:p>
        </p:txBody>
      </p:sp>
      <p:sp>
        <p:nvSpPr>
          <p:cNvPr id="191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177386-A420-4FDE-9AA1-763272463F76}" type="slidenum">
              <a:rPr lang="zh-TW" altLang="en-US"/>
              <a:pPr/>
              <a:t>11</a:t>
            </a:fld>
            <a:endParaRPr lang="en-US" altLang="zh-TW"/>
          </a:p>
        </p:txBody>
      </p:sp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3056F3-EE3C-48F4-BBE5-6FD25BEC470E}" type="slidenum">
              <a:rPr lang="zh-TW" altLang="en-US"/>
              <a:pPr/>
              <a:t>12</a:t>
            </a:fld>
            <a:endParaRPr lang="en-US" altLang="zh-TW"/>
          </a:p>
        </p:txBody>
      </p:sp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DEBB45-4DDC-485D-92A9-273FA4175CA7}" type="slidenum">
              <a:rPr lang="zh-TW" altLang="en-US"/>
              <a:pPr/>
              <a:t>13</a:t>
            </a:fld>
            <a:endParaRPr lang="en-US" altLang="zh-TW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2D6C8F-500D-41C3-85EA-C76563F7474B}" type="slidenum">
              <a:rPr lang="zh-TW" altLang="en-US"/>
              <a:pPr/>
              <a:t>14</a:t>
            </a:fld>
            <a:endParaRPr lang="en-US" altLang="zh-TW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383CD6-0991-4716-AC85-AE48691DEF30}" type="slidenum">
              <a:rPr lang="zh-TW" altLang="en-US"/>
              <a:pPr/>
              <a:t>15</a:t>
            </a:fld>
            <a:endParaRPr lang="en-US" altLang="zh-TW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297EE5-B7B4-473E-B23D-E6B18C0AC267}" type="slidenum">
              <a:rPr lang="zh-TW" altLang="en-US"/>
              <a:pPr/>
              <a:t>16</a:t>
            </a:fld>
            <a:endParaRPr lang="en-US" altLang="zh-TW"/>
          </a:p>
        </p:txBody>
      </p:sp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AE8EBB-AFC1-4E09-B330-87A5747D00F9}" type="slidenum">
              <a:rPr lang="zh-TW" altLang="en-US"/>
              <a:pPr/>
              <a:t>17</a:t>
            </a:fld>
            <a:endParaRPr lang="en-US" altLang="zh-TW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5BD45-B5A0-4654-B232-F8508C108E19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135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06-Nov-23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06-Nov-23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06-Nov-23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06-Nov-23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06-Nov-23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06-Nov-23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06-Nov-23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06-Nov-23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06-Nov-23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06-Nov-23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06-Nov-23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7696200" cy="1752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733800"/>
            <a:ext cx="7696200" cy="1752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56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183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CEE3371-A646-4B57-B0C6-94E0F1F676C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69094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BBA35-CB62-4ED3-83C3-DF62B56E10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48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06-Nov-23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imtiazhussainkalwar.weebly.co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 idx="4294967295"/>
          </p:nvPr>
        </p:nvSpPr>
        <p:spPr>
          <a:xfrm>
            <a:off x="684213" y="1571625"/>
            <a:ext cx="7772400" cy="1470025"/>
          </a:xfrm>
        </p:spPr>
        <p:txBody>
          <a:bodyPr/>
          <a:lstStyle/>
          <a:p>
            <a:pPr algn="ctr" eaLnBrk="1" hangingPunct="1"/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</a:rPr>
              <a:t>APPLIED PHYSICS</a:t>
            </a:r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9219" name="Picture 13" descr="http://thecorner.files.wordpress.com/2008/01/bis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609600"/>
            <a:ext cx="4073525" cy="90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762000" y="1654175"/>
            <a:ext cx="7772400" cy="14700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44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2053" name="TextBox 3"/>
          <p:cNvSpPr txBox="1">
            <a:spLocks noChangeArrowheads="1"/>
          </p:cNvSpPr>
          <p:nvPr/>
        </p:nvSpPr>
        <p:spPr bwMode="auto">
          <a:xfrm>
            <a:off x="3286125" y="4357688"/>
            <a:ext cx="2571750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2600" b="1" dirty="0">
                <a:latin typeface="+mj-lt"/>
              </a:rPr>
              <a:t>Lecture </a:t>
            </a:r>
            <a:r>
              <a:rPr lang="fr-FR" sz="2600" b="1" dirty="0" smtClean="0">
                <a:latin typeface="+mj-lt"/>
              </a:rPr>
              <a:t>15</a:t>
            </a:r>
            <a:endParaRPr lang="fr-FR" sz="2600" b="1" dirty="0">
              <a:latin typeface="+mj-lt"/>
            </a:endParaRPr>
          </a:p>
          <a:p>
            <a:pPr algn="ctr">
              <a:defRPr/>
            </a:pPr>
            <a:r>
              <a:rPr lang="fr-FR" sz="2600" b="1" dirty="0" smtClean="0">
                <a:latin typeface="+mj-lt"/>
              </a:rPr>
              <a:t>Nov. 06, </a:t>
            </a:r>
            <a:r>
              <a:rPr lang="fr-FR" sz="2600" b="1" dirty="0">
                <a:latin typeface="+mj-lt"/>
              </a:rPr>
              <a:t>2023</a:t>
            </a:r>
            <a:endParaRPr lang="en-US" sz="2600" b="1" dirty="0">
              <a:latin typeface="+mj-lt"/>
            </a:endParaRPr>
          </a:p>
        </p:txBody>
      </p:sp>
      <p:sp>
        <p:nvSpPr>
          <p:cNvPr id="9222" name="Rectangle 31"/>
          <p:cNvSpPr>
            <a:spLocks noChangeArrowheads="1"/>
          </p:cNvSpPr>
          <p:nvPr/>
        </p:nvSpPr>
        <p:spPr bwMode="auto">
          <a:xfrm>
            <a:off x="2857500" y="3571875"/>
            <a:ext cx="3557588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65" tIns="40083" rIns="80165" bIns="40083">
            <a:spAutoFit/>
          </a:bodyPr>
          <a:lstStyle/>
          <a:p>
            <a:r>
              <a:rPr lang="en-US" sz="2800" dirty="0">
                <a:solidFill>
                  <a:srgbClr val="92D050"/>
                </a:solidFill>
                <a:latin typeface="Arial Rounded MT Bold" pitchFamily="34" charset="0"/>
                <a:cs typeface="Tahoma" pitchFamily="34" charset="0"/>
              </a:rPr>
              <a:t>Dr. </a:t>
            </a:r>
            <a:r>
              <a:rPr lang="en-US" sz="2800" dirty="0" err="1">
                <a:solidFill>
                  <a:srgbClr val="92D050"/>
                </a:solidFill>
                <a:latin typeface="Arial Rounded MT Bold" pitchFamily="34" charset="0"/>
                <a:cs typeface="Tahoma" pitchFamily="34" charset="0"/>
              </a:rPr>
              <a:t>Saif</a:t>
            </a:r>
            <a:r>
              <a:rPr lang="en-US" sz="2800" dirty="0">
                <a:solidFill>
                  <a:srgbClr val="92D050"/>
                </a:solidFill>
                <a:latin typeface="Arial Rounded MT Bold" pitchFamily="34" charset="0"/>
                <a:cs typeface="Tahoma" pitchFamily="34" charset="0"/>
              </a:rPr>
              <a:t> Ur </a:t>
            </a:r>
            <a:r>
              <a:rPr lang="en-US" sz="2800" dirty="0" err="1">
                <a:solidFill>
                  <a:srgbClr val="92D050"/>
                </a:solidFill>
                <a:latin typeface="Arial Rounded MT Bold" pitchFamily="34" charset="0"/>
                <a:cs typeface="Tahoma" pitchFamily="34" charset="0"/>
              </a:rPr>
              <a:t>Rehman</a:t>
            </a:r>
            <a:endParaRPr lang="en-US" sz="2800" dirty="0">
              <a:solidFill>
                <a:srgbClr val="92D050"/>
              </a:solidFill>
              <a:latin typeface="Arial Rounded MT Bold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8005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65150" y="145577"/>
            <a:ext cx="7772400" cy="823414"/>
          </a:xfrm>
        </p:spPr>
        <p:txBody>
          <a:bodyPr/>
          <a:lstStyle/>
          <a:p>
            <a:r>
              <a:rPr lang="en-US" dirty="0"/>
              <a:t>What is a transistor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2720" y="1141863"/>
            <a:ext cx="8512790" cy="4572000"/>
          </a:xfrm>
        </p:spPr>
        <p:txBody>
          <a:bodyPr/>
          <a:lstStyle/>
          <a:p>
            <a:pPr algn="just"/>
            <a:r>
              <a:rPr lang="en-US" sz="2400" dirty="0"/>
              <a:t>A transistor is a 3 terminal electronic device made of semiconductor material.</a:t>
            </a:r>
          </a:p>
          <a:p>
            <a:pPr algn="just"/>
            <a:r>
              <a:rPr lang="en-US" sz="2400" dirty="0"/>
              <a:t>Transistors have many uses, including amplification, switching, voltage regulation, and the modulation of signals</a:t>
            </a:r>
          </a:p>
          <a:p>
            <a:pPr>
              <a:buFontTx/>
              <a:buNone/>
            </a:pPr>
            <a:endParaRPr lang="en-US" dirty="0"/>
          </a:p>
        </p:txBody>
      </p:sp>
      <p:pic>
        <p:nvPicPr>
          <p:cNvPr id="6148" name="Picture 4" descr="Transisto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133299"/>
            <a:ext cx="61595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2581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68362"/>
          </a:xfrm>
        </p:spPr>
        <p:txBody>
          <a:bodyPr/>
          <a:lstStyle/>
          <a:p>
            <a:r>
              <a:rPr lang="en-US" dirty="0" smtClean="0"/>
              <a:t>Bipolar Transistor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60437"/>
            <a:ext cx="8839200" cy="452596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A transistor is basically a Si </a:t>
            </a:r>
            <a:r>
              <a:rPr lang="en-US" sz="2800" dirty="0" smtClean="0"/>
              <a:t>or </a:t>
            </a:r>
            <a:r>
              <a:rPr lang="en-US" sz="2800" dirty="0" err="1"/>
              <a:t>Ge</a:t>
            </a:r>
            <a:r>
              <a:rPr lang="en-US" sz="2800" dirty="0"/>
              <a:t> crystal containing three separate regions.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765175" y="2486146"/>
            <a:ext cx="4964433" cy="140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 descr="https://upload.wikimedia.org/wikipedia/commons/thumb/0/0d/BJT_symbol_PNP.svg/408px-BJT_symbol_PNP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394" y="2226341"/>
            <a:ext cx="1635017" cy="192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765175" y="4865348"/>
            <a:ext cx="4687389" cy="132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AutoShape 8" descr="http://upload.wikimedia.org/wikipedia/commons/a/aa/BJT_symbol_NPN.sv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10" descr="http://upload.wikimedia.org/wikipedia/commons/a/aa/BJT_symbol_NPN.sv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2" descr="http://upload.wikimedia.org/wikipedia/commons/a/aa/BJT_symbol_NPN.sv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4" descr="http://upload.wikimedia.org/wikipedia/commons/a/aa/BJT_symbol_NPN.sv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6" descr="http://upload.wikimedia.org/wikipedia/commons/a/aa/BJT_symbol_NPN.sv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2" descr="http://upload.wikimedia.org/wikipedia/commons/a/aa/BJT_symbol_NPN.svg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4" descr="http://www.build-electronic-circuits.com/wp-content/uploads/2013/03/schematic-symbols-transisto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808" y="4464801"/>
            <a:ext cx="2126681" cy="2126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774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0"/>
            <a:ext cx="6870700" cy="1123950"/>
          </a:xfrm>
        </p:spPr>
        <p:txBody>
          <a:bodyPr/>
          <a:lstStyle/>
          <a:p>
            <a:r>
              <a:rPr lang="en-US" altLang="zh-TW" dirty="0"/>
              <a:t>Architecture of BJTs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19200"/>
            <a:ext cx="8458199" cy="160178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altLang="zh-TW" sz="2800" dirty="0"/>
              <a:t>The bipolar junction transistor (BJT) is constructed with three doped semiconductor regions separated by two </a:t>
            </a:r>
            <a:r>
              <a:rPr lang="en-US" altLang="zh-TW" sz="2800" i="1" dirty="0" err="1"/>
              <a:t>pn</a:t>
            </a:r>
            <a:r>
              <a:rPr lang="en-US" altLang="zh-TW" sz="2800" dirty="0"/>
              <a:t> junctions</a:t>
            </a:r>
          </a:p>
          <a:p>
            <a:pPr algn="just"/>
            <a:r>
              <a:rPr lang="en-US" altLang="zh-TW" sz="2800" dirty="0"/>
              <a:t>Regions are called </a:t>
            </a:r>
            <a:r>
              <a:rPr lang="en-US" altLang="zh-TW" sz="2800" b="1" dirty="0"/>
              <a:t>emitter</a:t>
            </a:r>
            <a:r>
              <a:rPr lang="en-US" altLang="zh-TW" sz="2800" dirty="0"/>
              <a:t>, </a:t>
            </a:r>
            <a:r>
              <a:rPr lang="en-US" altLang="zh-TW" sz="2800" b="1" dirty="0"/>
              <a:t>base</a:t>
            </a:r>
            <a:r>
              <a:rPr lang="en-US" altLang="zh-TW" sz="2800" dirty="0"/>
              <a:t> and </a:t>
            </a:r>
            <a:r>
              <a:rPr lang="en-US" altLang="zh-TW" sz="2800" b="1" dirty="0"/>
              <a:t>collector</a:t>
            </a:r>
            <a:endParaRPr lang="en-US" altLang="zh-TW" sz="2800" dirty="0"/>
          </a:p>
          <a:p>
            <a:pPr algn="just">
              <a:buFontTx/>
              <a:buNone/>
            </a:pPr>
            <a:endParaRPr lang="zh-TW" altLang="en-US" sz="2800" dirty="0"/>
          </a:p>
        </p:txBody>
      </p:sp>
      <p:pic>
        <p:nvPicPr>
          <p:cNvPr id="52230" name="Picture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3200400"/>
            <a:ext cx="7450899" cy="3162300"/>
          </a:xfrm>
        </p:spPr>
      </p:pic>
    </p:spTree>
    <p:extLst>
      <p:ext uri="{BB962C8B-B14F-4D97-AF65-F5344CB8AC3E}">
        <p14:creationId xmlns:p14="http://schemas.microsoft.com/office/powerpoint/2010/main" val="740053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68362"/>
          </a:xfrm>
        </p:spPr>
        <p:txBody>
          <a:bodyPr/>
          <a:lstStyle/>
          <a:p>
            <a:r>
              <a:rPr lang="en-US" dirty="0" smtClean="0"/>
              <a:t>Bipolar Transistor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60437"/>
            <a:ext cx="8839200" cy="452596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depletion layers do not have the same width, because different regions have different doping levels.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886" y="3048000"/>
            <a:ext cx="678942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1429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Biasing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8839200" cy="4525963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If both the junctions are forward biased </a:t>
            </a:r>
            <a:r>
              <a:rPr lang="en-US" sz="2600" dirty="0" smtClean="0"/>
              <a:t>free </a:t>
            </a:r>
            <a:r>
              <a:rPr lang="en-US" sz="2600" dirty="0"/>
              <a:t>electrons </a:t>
            </a:r>
            <a:r>
              <a:rPr lang="en-US" sz="2600" dirty="0" smtClean="0"/>
              <a:t>enter </a:t>
            </a:r>
            <a:r>
              <a:rPr lang="en-US" sz="2600" dirty="0"/>
              <a:t>the emitter and collector of the transistor, joins at the base and come out of the base. </a:t>
            </a:r>
            <a:endParaRPr lang="en-US" sz="2600" dirty="0" smtClean="0"/>
          </a:p>
          <a:p>
            <a:pPr algn="just"/>
            <a:endParaRPr lang="en-US" sz="2600" dirty="0"/>
          </a:p>
          <a:p>
            <a:pPr algn="just"/>
            <a:endParaRPr lang="en-US" sz="2600" dirty="0" smtClean="0"/>
          </a:p>
          <a:p>
            <a:pPr algn="just"/>
            <a:endParaRPr lang="en-US" sz="2600" dirty="0"/>
          </a:p>
          <a:p>
            <a:pPr algn="just"/>
            <a:r>
              <a:rPr lang="en-US" sz="2600" dirty="0" smtClean="0"/>
              <a:t>If </a:t>
            </a:r>
            <a:r>
              <a:rPr lang="en-US" sz="2600" dirty="0"/>
              <a:t>both the junction are reverse biased </a:t>
            </a:r>
            <a:r>
              <a:rPr lang="en-US" sz="2600" dirty="0" smtClean="0"/>
              <a:t>then </a:t>
            </a:r>
            <a:r>
              <a:rPr lang="en-US" sz="2600" dirty="0"/>
              <a:t>small currents flows through both junctions only due to thermally produced minority carriers and surface leakage</a:t>
            </a:r>
            <a:r>
              <a:rPr lang="en-US" sz="2800" dirty="0"/>
              <a:t>.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6" b="14630"/>
          <a:stretch/>
        </p:blipFill>
        <p:spPr bwMode="auto">
          <a:xfrm>
            <a:off x="2844333" y="1905000"/>
            <a:ext cx="3511528" cy="1578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887098"/>
            <a:ext cx="3589955" cy="1988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6319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Biasing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60437"/>
            <a:ext cx="8839200" cy="4525963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When the emitter </a:t>
            </a:r>
            <a:r>
              <a:rPr lang="en-US" sz="2800" dirty="0" smtClean="0"/>
              <a:t>junction </a:t>
            </a:r>
            <a:r>
              <a:rPr lang="en-US" sz="2800" dirty="0"/>
              <a:t>is forward biased and collector </a:t>
            </a:r>
            <a:r>
              <a:rPr lang="en-US" sz="2800" dirty="0" smtClean="0"/>
              <a:t>junction </a:t>
            </a:r>
            <a:r>
              <a:rPr lang="en-US" sz="2800" dirty="0"/>
              <a:t>is reverse biased </a:t>
            </a:r>
            <a:r>
              <a:rPr lang="en-US" sz="2800" dirty="0" smtClean="0"/>
              <a:t>then </a:t>
            </a:r>
            <a:r>
              <a:rPr lang="en-US" sz="2800" dirty="0"/>
              <a:t>one expect large emitter current and small collector current but collector current is almost as large as emitter current. </a:t>
            </a:r>
            <a:endParaRPr lang="en-US" sz="2600" dirty="0"/>
          </a:p>
          <a:p>
            <a:pPr algn="just"/>
            <a:endParaRPr lang="en-US" sz="2600" dirty="0" smtClean="0"/>
          </a:p>
          <a:p>
            <a:pPr algn="just"/>
            <a:endParaRPr lang="en-US" sz="2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429000"/>
            <a:ext cx="5719030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6529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517" name="Picture 5" descr="fg17_0020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506" y="1043781"/>
            <a:ext cx="6769100" cy="367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518" name="Picture 6" descr="fg17_0040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14400"/>
            <a:ext cx="8316913" cy="393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38200"/>
          </a:xfrm>
        </p:spPr>
        <p:txBody>
          <a:bodyPr/>
          <a:lstStyle/>
          <a:p>
            <a:r>
              <a:rPr lang="en-US" dirty="0" smtClean="0"/>
              <a:t>Transistor Current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33400" y="4715668"/>
            <a:ext cx="793591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200" dirty="0"/>
              <a:t>The total current flowing into the transistor must be equal to the total current flowing out of it.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733800" y="5698019"/>
                <a:ext cx="18126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𝐸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5698019"/>
                <a:ext cx="1812612" cy="461665"/>
              </a:xfrm>
              <a:prstGeom prst="rect">
                <a:avLst/>
              </a:prstGeom>
              <a:blipFill rotWithShape="1">
                <a:blip r:embed="rId5"/>
                <a:stretch>
                  <a:fillRect t="-10667" r="-639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724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Transistor Applications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sz="2800" dirty="0" smtClean="0"/>
              <a:t>Switching</a:t>
            </a:r>
          </a:p>
          <a:p>
            <a:pPr eaLnBrk="1" hangingPunct="1"/>
            <a:r>
              <a:rPr lang="en-US" sz="2800" dirty="0" smtClean="0"/>
              <a:t>Amplification</a:t>
            </a:r>
          </a:p>
          <a:p>
            <a:pPr eaLnBrk="1" hangingPunct="1"/>
            <a:r>
              <a:rPr lang="en-US" sz="2800" dirty="0" smtClean="0"/>
              <a:t>Variable Resistor </a:t>
            </a:r>
          </a:p>
          <a:p>
            <a:pPr eaLnBrk="1" hangingPunct="1"/>
            <a:r>
              <a:rPr lang="en-US" sz="2800" dirty="0" smtClean="0"/>
              <a:t>Impedance Matching</a:t>
            </a:r>
          </a:p>
          <a:p>
            <a:pPr eaLnBrk="1" hangingPunct="1"/>
            <a:r>
              <a:rPr lang="en-US" sz="2800" dirty="0" smtClean="0"/>
              <a:t>Voltage Regulation</a:t>
            </a:r>
          </a:p>
        </p:txBody>
      </p:sp>
    </p:spTree>
    <p:extLst>
      <p:ext uri="{BB962C8B-B14F-4D97-AF65-F5344CB8AC3E}">
        <p14:creationId xmlns:p14="http://schemas.microsoft.com/office/powerpoint/2010/main" val="2192622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Basic circuits of BJT</a:t>
            </a:r>
          </a:p>
        </p:txBody>
      </p:sp>
      <p:pic>
        <p:nvPicPr>
          <p:cNvPr id="190468" name="Picture 4" descr="fg17_00500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19250" y="1989138"/>
            <a:ext cx="6180138" cy="3802062"/>
          </a:xfrm>
        </p:spPr>
      </p:pic>
    </p:spTree>
    <p:extLst>
      <p:ext uri="{BB962C8B-B14F-4D97-AF65-F5344CB8AC3E}">
        <p14:creationId xmlns:p14="http://schemas.microsoft.com/office/powerpoint/2010/main" val="48603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260350"/>
            <a:ext cx="6870700" cy="915988"/>
          </a:xfrm>
        </p:spPr>
        <p:txBody>
          <a:bodyPr/>
          <a:lstStyle/>
          <a:p>
            <a:r>
              <a:rPr lang="en-US" altLang="zh-TW"/>
              <a:t>Operation of BJTs</a:t>
            </a:r>
            <a:endParaRPr lang="zh-TW" altLang="en-US"/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484313"/>
            <a:ext cx="7775575" cy="4032250"/>
          </a:xfrm>
        </p:spPr>
        <p:txBody>
          <a:bodyPr/>
          <a:lstStyle/>
          <a:p>
            <a:r>
              <a:rPr lang="en-US" altLang="zh-TW"/>
              <a:t>BJT will operates in one of following four region</a:t>
            </a:r>
          </a:p>
          <a:p>
            <a:pPr lvl="1"/>
            <a:r>
              <a:rPr lang="en-US" altLang="zh-TW"/>
              <a:t>Cutoff region (for digital circuit)</a:t>
            </a:r>
          </a:p>
          <a:p>
            <a:pPr lvl="1"/>
            <a:r>
              <a:rPr lang="en-US" altLang="zh-TW"/>
              <a:t>Saturation region (for digital circuit)</a:t>
            </a:r>
          </a:p>
          <a:p>
            <a:pPr lvl="1"/>
            <a:r>
              <a:rPr lang="en-US" altLang="zh-TW"/>
              <a:t>Linear (active) region (to be an amplifier)</a:t>
            </a:r>
          </a:p>
          <a:p>
            <a:pPr lvl="1"/>
            <a:r>
              <a:rPr lang="en-US" altLang="zh-TW"/>
              <a:t>Breakdown region (always be a disaster)</a:t>
            </a:r>
          </a:p>
          <a:p>
            <a:pPr lvl="1"/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3158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6870700" cy="808038"/>
          </a:xfrm>
        </p:spPr>
        <p:txBody>
          <a:bodyPr/>
          <a:lstStyle/>
          <a:p>
            <a:r>
              <a:rPr lang="en-US" altLang="zh-TW"/>
              <a:t>Operation of BJTs</a:t>
            </a:r>
            <a:endParaRPr lang="zh-TW" altLang="en-US"/>
          </a:p>
        </p:txBody>
      </p:sp>
      <p:pic>
        <p:nvPicPr>
          <p:cNvPr id="148488" name="Picture 8" descr="fg17_0080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914400"/>
            <a:ext cx="771525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31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0"/>
            <a:ext cx="6870700" cy="1060450"/>
          </a:xfrm>
        </p:spPr>
        <p:txBody>
          <a:bodyPr/>
          <a:lstStyle/>
          <a:p>
            <a:r>
              <a:rPr lang="en-US" altLang="zh-TW"/>
              <a:t>DC Analysis of BJTs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268413"/>
            <a:ext cx="7696200" cy="36576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/>
              <a:t>Transistor Currents:</a:t>
            </a:r>
          </a:p>
          <a:p>
            <a:pPr algn="ctr">
              <a:buFontTx/>
              <a:buNone/>
            </a:pPr>
            <a:r>
              <a:rPr lang="en-US" altLang="zh-TW"/>
              <a:t>I</a:t>
            </a:r>
            <a:r>
              <a:rPr lang="en-US" altLang="zh-TW" baseline="-25000"/>
              <a:t>E</a:t>
            </a:r>
            <a:r>
              <a:rPr lang="en-US" altLang="zh-TW"/>
              <a:t> = I</a:t>
            </a:r>
            <a:r>
              <a:rPr lang="en-US" altLang="zh-TW" baseline="-25000"/>
              <a:t>C</a:t>
            </a:r>
            <a:r>
              <a:rPr lang="en-US" altLang="zh-TW"/>
              <a:t> + I</a:t>
            </a:r>
            <a:r>
              <a:rPr lang="en-US" altLang="zh-TW" baseline="-25000"/>
              <a:t>B</a:t>
            </a:r>
            <a:endParaRPr lang="en-US" altLang="zh-TW"/>
          </a:p>
          <a:p>
            <a:r>
              <a:rPr lang="en-US" altLang="zh-TW" b="1"/>
              <a:t>alpha</a:t>
            </a:r>
            <a:r>
              <a:rPr lang="en-US" altLang="zh-TW"/>
              <a:t> (</a:t>
            </a:r>
            <a:r>
              <a:rPr lang="en-US" altLang="zh-TW">
                <a:sym typeface="Symbol" pitchFamily="18" charset="2"/>
              </a:rPr>
              <a:t></a:t>
            </a:r>
            <a:r>
              <a:rPr lang="en-US" altLang="zh-TW" baseline="-25000">
                <a:sym typeface="Symbol" pitchFamily="18" charset="2"/>
              </a:rPr>
              <a:t>DC</a:t>
            </a:r>
            <a:r>
              <a:rPr lang="en-US" altLang="zh-TW">
                <a:sym typeface="Symbol" pitchFamily="18" charset="2"/>
              </a:rPr>
              <a:t>)</a:t>
            </a:r>
          </a:p>
          <a:p>
            <a:pPr algn="ctr">
              <a:buFontTx/>
              <a:buNone/>
            </a:pPr>
            <a:r>
              <a:rPr lang="en-US" altLang="zh-TW"/>
              <a:t>I</a:t>
            </a:r>
            <a:r>
              <a:rPr lang="en-US" altLang="zh-TW" baseline="-25000"/>
              <a:t>C</a:t>
            </a:r>
            <a:r>
              <a:rPr lang="en-US" altLang="zh-TW"/>
              <a:t> = </a:t>
            </a:r>
            <a:r>
              <a:rPr lang="en-US" altLang="zh-TW">
                <a:sym typeface="Symbol" pitchFamily="18" charset="2"/>
              </a:rPr>
              <a:t></a:t>
            </a:r>
            <a:r>
              <a:rPr lang="en-US" altLang="zh-TW" baseline="-25000">
                <a:sym typeface="Symbol" pitchFamily="18" charset="2"/>
              </a:rPr>
              <a:t>DC</a:t>
            </a:r>
            <a:r>
              <a:rPr lang="en-US" altLang="zh-TW">
                <a:sym typeface="Symbol" pitchFamily="18" charset="2"/>
              </a:rPr>
              <a:t>I</a:t>
            </a:r>
            <a:r>
              <a:rPr lang="en-US" altLang="zh-TW" baseline="-25000">
                <a:sym typeface="Symbol" pitchFamily="18" charset="2"/>
              </a:rPr>
              <a:t>E</a:t>
            </a:r>
            <a:endParaRPr lang="en-US" altLang="zh-TW">
              <a:sym typeface="Symbol" pitchFamily="18" charset="2"/>
            </a:endParaRPr>
          </a:p>
          <a:p>
            <a:r>
              <a:rPr lang="en-US" altLang="zh-TW" b="1">
                <a:sym typeface="Symbol" pitchFamily="18" charset="2"/>
              </a:rPr>
              <a:t>beta</a:t>
            </a:r>
            <a:r>
              <a:rPr lang="en-US" altLang="zh-TW">
                <a:sym typeface="Symbol" pitchFamily="18" charset="2"/>
              </a:rPr>
              <a:t> (</a:t>
            </a:r>
            <a:r>
              <a:rPr lang="en-US" altLang="zh-TW" baseline="-25000">
                <a:sym typeface="Symbol" pitchFamily="18" charset="2"/>
              </a:rPr>
              <a:t>DC</a:t>
            </a:r>
            <a:r>
              <a:rPr lang="en-US" altLang="zh-TW">
                <a:sym typeface="Symbol" pitchFamily="18" charset="2"/>
              </a:rPr>
              <a:t>)</a:t>
            </a:r>
          </a:p>
          <a:p>
            <a:pPr algn="ctr">
              <a:buFontTx/>
              <a:buNone/>
            </a:pPr>
            <a:r>
              <a:rPr lang="en-US" altLang="zh-TW">
                <a:sym typeface="Symbol" pitchFamily="18" charset="2"/>
              </a:rPr>
              <a:t>I</a:t>
            </a:r>
            <a:r>
              <a:rPr lang="en-US" altLang="zh-TW" baseline="-25000">
                <a:sym typeface="Symbol" pitchFamily="18" charset="2"/>
              </a:rPr>
              <a:t>C</a:t>
            </a:r>
            <a:r>
              <a:rPr lang="en-US" altLang="zh-TW">
                <a:sym typeface="Symbol" pitchFamily="18" charset="2"/>
              </a:rPr>
              <a:t> = </a:t>
            </a:r>
            <a:r>
              <a:rPr lang="en-US" altLang="zh-TW" baseline="-25000">
                <a:sym typeface="Symbol" pitchFamily="18" charset="2"/>
              </a:rPr>
              <a:t>DC</a:t>
            </a:r>
            <a:r>
              <a:rPr lang="en-US" altLang="zh-TW">
                <a:sym typeface="Symbol" pitchFamily="18" charset="2"/>
              </a:rPr>
              <a:t>I</a:t>
            </a:r>
            <a:r>
              <a:rPr lang="en-US" altLang="zh-TW" baseline="-25000">
                <a:sym typeface="Symbol" pitchFamily="18" charset="2"/>
              </a:rPr>
              <a:t>B</a:t>
            </a:r>
            <a:endParaRPr lang="en-US" altLang="zh-TW">
              <a:sym typeface="Symbol" pitchFamily="18" charset="2"/>
            </a:endParaRPr>
          </a:p>
          <a:p>
            <a:pPr lvl="1"/>
            <a:r>
              <a:rPr lang="en-US" altLang="zh-TW">
                <a:sym typeface="Symbol" pitchFamily="18" charset="2"/>
              </a:rPr>
              <a:t></a:t>
            </a:r>
            <a:r>
              <a:rPr lang="en-US" altLang="zh-TW" baseline="-25000">
                <a:sym typeface="Symbol" pitchFamily="18" charset="2"/>
              </a:rPr>
              <a:t>DC</a:t>
            </a:r>
            <a:r>
              <a:rPr lang="en-US" altLang="zh-TW">
                <a:sym typeface="Symbol" pitchFamily="18" charset="2"/>
              </a:rPr>
              <a:t> typically has a value between 20 and 200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4307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6870700" cy="915988"/>
          </a:xfrm>
        </p:spPr>
        <p:txBody>
          <a:bodyPr/>
          <a:lstStyle/>
          <a:p>
            <a:r>
              <a:rPr lang="en-US" altLang="zh-TW"/>
              <a:t>DC Analysis of BJTs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7800" y="1557338"/>
            <a:ext cx="7696200" cy="36576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sz="3600"/>
              <a:t>DC voltages for the biased transistor:</a:t>
            </a:r>
            <a:endParaRPr lang="en-US" altLang="zh-TW"/>
          </a:p>
          <a:p>
            <a:r>
              <a:rPr lang="en-US" altLang="zh-TW"/>
              <a:t>Collector voltage</a:t>
            </a:r>
          </a:p>
          <a:p>
            <a:pPr algn="ctr">
              <a:buFontTx/>
              <a:buNone/>
            </a:pPr>
            <a:r>
              <a:rPr lang="en-US" altLang="zh-TW"/>
              <a:t>V</a:t>
            </a:r>
            <a:r>
              <a:rPr lang="en-US" altLang="zh-TW" baseline="-25000"/>
              <a:t>C</a:t>
            </a:r>
            <a:r>
              <a:rPr lang="en-US" altLang="zh-TW"/>
              <a:t> = V</a:t>
            </a:r>
            <a:r>
              <a:rPr lang="en-US" altLang="zh-TW" baseline="-25000"/>
              <a:t>CC</a:t>
            </a:r>
            <a:r>
              <a:rPr lang="en-US" altLang="zh-TW"/>
              <a:t> - I</a:t>
            </a:r>
            <a:r>
              <a:rPr lang="en-US" altLang="zh-TW" baseline="-25000"/>
              <a:t>C</a:t>
            </a:r>
            <a:r>
              <a:rPr lang="en-US" altLang="zh-TW"/>
              <a:t>R</a:t>
            </a:r>
            <a:r>
              <a:rPr lang="en-US" altLang="zh-TW" baseline="-25000"/>
              <a:t>C</a:t>
            </a:r>
            <a:endParaRPr lang="en-US" altLang="zh-TW"/>
          </a:p>
          <a:p>
            <a:r>
              <a:rPr lang="en-US" altLang="zh-TW"/>
              <a:t>Base voltage</a:t>
            </a:r>
          </a:p>
          <a:p>
            <a:pPr algn="ctr">
              <a:buFontTx/>
              <a:buNone/>
            </a:pPr>
            <a:r>
              <a:rPr lang="en-US" altLang="zh-TW"/>
              <a:t>V</a:t>
            </a:r>
            <a:r>
              <a:rPr lang="en-US" altLang="zh-TW" baseline="-25000"/>
              <a:t>B</a:t>
            </a:r>
            <a:r>
              <a:rPr lang="en-US" altLang="zh-TW"/>
              <a:t> = V</a:t>
            </a:r>
            <a:r>
              <a:rPr lang="en-US" altLang="zh-TW" baseline="-25000"/>
              <a:t>E</a:t>
            </a:r>
            <a:r>
              <a:rPr lang="en-US" altLang="zh-TW"/>
              <a:t> + V</a:t>
            </a:r>
            <a:r>
              <a:rPr lang="en-US" altLang="zh-TW" baseline="-25000"/>
              <a:t>BE</a:t>
            </a:r>
            <a:endParaRPr lang="en-US" altLang="zh-TW"/>
          </a:p>
          <a:p>
            <a:pPr lvl="1"/>
            <a:endParaRPr lang="en-US" altLang="zh-TW"/>
          </a:p>
          <a:p>
            <a:pPr lvl="1"/>
            <a:r>
              <a:rPr lang="en-US" altLang="zh-TW"/>
              <a:t>for silicon transistors, V</a:t>
            </a:r>
            <a:r>
              <a:rPr lang="en-US" altLang="zh-TW" baseline="-25000"/>
              <a:t>BE</a:t>
            </a:r>
            <a:r>
              <a:rPr lang="en-US" altLang="zh-TW"/>
              <a:t> = 0.7 V</a:t>
            </a:r>
          </a:p>
          <a:p>
            <a:pPr lvl="1"/>
            <a:r>
              <a:rPr lang="en-US" altLang="zh-TW"/>
              <a:t>for germanium transistors, V</a:t>
            </a:r>
            <a:r>
              <a:rPr lang="en-US" altLang="zh-TW" baseline="-25000"/>
              <a:t>BE</a:t>
            </a:r>
            <a:r>
              <a:rPr lang="en-US" altLang="zh-TW"/>
              <a:t> = 0.3 V</a:t>
            </a:r>
          </a:p>
        </p:txBody>
      </p:sp>
    </p:spTree>
    <p:extLst>
      <p:ext uri="{BB962C8B-B14F-4D97-AF65-F5344CB8AC3E}">
        <p14:creationId xmlns:p14="http://schemas.microsoft.com/office/powerpoint/2010/main" val="1824188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-242888"/>
            <a:ext cx="6870700" cy="1600201"/>
          </a:xfrm>
        </p:spPr>
        <p:txBody>
          <a:bodyPr/>
          <a:lstStyle/>
          <a:p>
            <a:r>
              <a:rPr lang="en-US" altLang="zh-TW"/>
              <a:t>Q-point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773238"/>
            <a:ext cx="4464050" cy="3657600"/>
          </a:xfrm>
        </p:spPr>
        <p:txBody>
          <a:bodyPr/>
          <a:lstStyle/>
          <a:p>
            <a:r>
              <a:rPr lang="en-US" altLang="zh-TW" sz="2800" dirty="0"/>
              <a:t>The base current, I</a:t>
            </a:r>
            <a:r>
              <a:rPr lang="en-US" altLang="zh-TW" sz="2800" baseline="-25000" dirty="0"/>
              <a:t>B</a:t>
            </a:r>
            <a:r>
              <a:rPr lang="en-US" altLang="zh-TW" sz="2800" dirty="0"/>
              <a:t>, is established by the base bias</a:t>
            </a:r>
          </a:p>
          <a:p>
            <a:r>
              <a:rPr lang="en-US" altLang="zh-TW" sz="2800" dirty="0"/>
              <a:t>The point at which the base current curve intersects the dc load line is the quiescent or Q-point for the circuit</a:t>
            </a:r>
          </a:p>
          <a:p>
            <a:pPr>
              <a:buFontTx/>
              <a:buNone/>
            </a:pP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7531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6870700" cy="1060450"/>
          </a:xfrm>
        </p:spPr>
        <p:txBody>
          <a:bodyPr/>
          <a:lstStyle/>
          <a:p>
            <a:r>
              <a:rPr lang="en-US" altLang="zh-TW"/>
              <a:t>Q-point</a:t>
            </a:r>
          </a:p>
        </p:txBody>
      </p:sp>
      <p:pic>
        <p:nvPicPr>
          <p:cNvPr id="194564" name="Picture 4" descr="fg17_01200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8263" y="1738313"/>
            <a:ext cx="6546850" cy="3748087"/>
          </a:xfrm>
        </p:spPr>
      </p:pic>
    </p:spTree>
    <p:extLst>
      <p:ext uri="{BB962C8B-B14F-4D97-AF65-F5344CB8AC3E}">
        <p14:creationId xmlns:p14="http://schemas.microsoft.com/office/powerpoint/2010/main" val="150911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260350"/>
            <a:ext cx="6870700" cy="915988"/>
          </a:xfrm>
        </p:spPr>
        <p:txBody>
          <a:bodyPr/>
          <a:lstStyle/>
          <a:p>
            <a:r>
              <a:rPr lang="en-US" altLang="zh-TW"/>
              <a:t>DC Analysis of BJTs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1557338"/>
            <a:ext cx="3771900" cy="3657600"/>
          </a:xfrm>
        </p:spPr>
        <p:txBody>
          <a:bodyPr/>
          <a:lstStyle/>
          <a:p>
            <a:r>
              <a:rPr lang="en-US" altLang="zh-TW" sz="2800"/>
              <a:t>The voltage divider biasing is widely used</a:t>
            </a:r>
          </a:p>
          <a:p>
            <a:r>
              <a:rPr lang="en-US" altLang="zh-TW" sz="2800"/>
              <a:t>Input resistance is:</a:t>
            </a:r>
          </a:p>
          <a:p>
            <a:pPr algn="ctr">
              <a:buFontTx/>
              <a:buNone/>
            </a:pPr>
            <a:r>
              <a:rPr lang="en-US" altLang="zh-TW" sz="2800"/>
              <a:t>R</a:t>
            </a:r>
            <a:r>
              <a:rPr lang="en-US" altLang="zh-TW" sz="2800" baseline="-25000"/>
              <a:t>IN</a:t>
            </a:r>
            <a:r>
              <a:rPr lang="en-US" altLang="zh-TW" sz="2800"/>
              <a:t> </a:t>
            </a:r>
            <a:r>
              <a:rPr lang="en-US" altLang="zh-TW" sz="2800">
                <a:sym typeface="Symbol" pitchFamily="18" charset="2"/>
              </a:rPr>
              <a:t> </a:t>
            </a:r>
            <a:r>
              <a:rPr lang="en-US" altLang="zh-TW" sz="2800" baseline="-25000">
                <a:sym typeface="Symbol" pitchFamily="18" charset="2"/>
              </a:rPr>
              <a:t>DC</a:t>
            </a:r>
            <a:r>
              <a:rPr lang="en-US" altLang="zh-TW" sz="2800">
                <a:sym typeface="Symbol" pitchFamily="18" charset="2"/>
              </a:rPr>
              <a:t>R</a:t>
            </a:r>
            <a:r>
              <a:rPr lang="en-US" altLang="zh-TW" sz="2800" baseline="-25000">
                <a:sym typeface="Symbol" pitchFamily="18" charset="2"/>
              </a:rPr>
              <a:t>E</a:t>
            </a:r>
            <a:endParaRPr lang="en-US" altLang="zh-TW" sz="2800">
              <a:sym typeface="Symbol" pitchFamily="18" charset="2"/>
            </a:endParaRPr>
          </a:p>
          <a:p>
            <a:r>
              <a:rPr lang="en-US" altLang="zh-TW" sz="2800">
                <a:sym typeface="Symbol" pitchFamily="18" charset="2"/>
              </a:rPr>
              <a:t>The base voltage is approximately:</a:t>
            </a:r>
          </a:p>
          <a:p>
            <a:pPr algn="ctr">
              <a:buFontTx/>
              <a:buNone/>
            </a:pPr>
            <a:r>
              <a:rPr lang="en-US" altLang="zh-TW" sz="2800">
                <a:sym typeface="Symbol" pitchFamily="18" charset="2"/>
              </a:rPr>
              <a:t>V</a:t>
            </a:r>
            <a:r>
              <a:rPr lang="en-US" altLang="zh-TW" sz="2800" baseline="-25000">
                <a:sym typeface="Symbol" pitchFamily="18" charset="2"/>
              </a:rPr>
              <a:t>B</a:t>
            </a:r>
            <a:r>
              <a:rPr lang="en-US" altLang="zh-TW" sz="2800">
                <a:sym typeface="Symbol" pitchFamily="18" charset="2"/>
              </a:rPr>
              <a:t>  V</a:t>
            </a:r>
            <a:r>
              <a:rPr lang="en-US" altLang="zh-TW" sz="2800" baseline="-25000">
                <a:sym typeface="Symbol" pitchFamily="18" charset="2"/>
              </a:rPr>
              <a:t>CC</a:t>
            </a:r>
            <a:r>
              <a:rPr lang="en-US" altLang="zh-TW" sz="2800">
                <a:sym typeface="Symbol" pitchFamily="18" charset="2"/>
              </a:rPr>
              <a:t>R</a:t>
            </a:r>
            <a:r>
              <a:rPr lang="en-US" altLang="zh-TW" sz="2800" baseline="-25000">
                <a:sym typeface="Symbol" pitchFamily="18" charset="2"/>
              </a:rPr>
              <a:t>2</a:t>
            </a:r>
            <a:r>
              <a:rPr lang="en-US" altLang="zh-TW" sz="2800">
                <a:sym typeface="Symbol" pitchFamily="18" charset="2"/>
              </a:rPr>
              <a:t>/(R</a:t>
            </a:r>
            <a:r>
              <a:rPr lang="en-US" altLang="zh-TW" sz="2800" baseline="-25000">
                <a:sym typeface="Symbol" pitchFamily="18" charset="2"/>
              </a:rPr>
              <a:t>1</a:t>
            </a:r>
            <a:r>
              <a:rPr lang="en-US" altLang="zh-TW" sz="2800">
                <a:sym typeface="Symbol" pitchFamily="18" charset="2"/>
              </a:rPr>
              <a:t>+R</a:t>
            </a:r>
            <a:r>
              <a:rPr lang="en-US" altLang="zh-TW" sz="2800" baseline="-25000">
                <a:sym typeface="Symbol" pitchFamily="18" charset="2"/>
              </a:rPr>
              <a:t>2</a:t>
            </a:r>
            <a:r>
              <a:rPr lang="en-US" altLang="zh-TW" sz="2800">
                <a:sym typeface="Symbol" pitchFamily="18" charset="2"/>
              </a:rPr>
              <a:t>)</a:t>
            </a:r>
          </a:p>
          <a:p>
            <a:pPr>
              <a:buFontTx/>
              <a:buNone/>
            </a:pPr>
            <a:endParaRPr lang="zh-TW" altLang="en-US" sz="2800">
              <a:sym typeface="Symbol" pitchFamily="18" charset="2"/>
            </a:endParaRPr>
          </a:p>
        </p:txBody>
      </p:sp>
      <p:pic>
        <p:nvPicPr>
          <p:cNvPr id="56326" name="Picture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19700" y="1557338"/>
            <a:ext cx="2952750" cy="3657600"/>
          </a:xfrm>
        </p:spPr>
      </p:pic>
    </p:spTree>
    <p:extLst>
      <p:ext uri="{BB962C8B-B14F-4D97-AF65-F5344CB8AC3E}">
        <p14:creationId xmlns:p14="http://schemas.microsoft.com/office/powerpoint/2010/main" val="11496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End </a:t>
            </a:r>
            <a:r>
              <a:rPr lang="en-GB" smtClean="0"/>
              <a:t>of Lecture-3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To download this lecture visit</a:t>
            </a:r>
          </a:p>
          <a:p>
            <a:r>
              <a:rPr lang="en-GB" dirty="0" smtClean="0">
                <a:solidFill>
                  <a:schemeClr val="accent1">
                    <a:lumMod val="75000"/>
                  </a:schemeClr>
                </a:solidFill>
                <a:hlinkClick r:id="rId3"/>
              </a:rPr>
              <a:t>http://imtiazhussainkalwar.weebly.com/</a:t>
            </a:r>
            <a:endParaRPr lang="en-GB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D5CAB-8BF0-4EA3-BAE4-9835C852A49B}" type="slidenum">
              <a:rPr lang="en-GB" smtClean="0"/>
              <a:pPr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865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476</Words>
  <Application>Microsoft Office PowerPoint</Application>
  <PresentationFormat>On-screen Show (4:3)</PresentationFormat>
  <Paragraphs>84</Paragraphs>
  <Slides>18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APPLIED PHYSICS</vt:lpstr>
      <vt:lpstr>What is a transistor?</vt:lpstr>
      <vt:lpstr>Bipolar Transistor</vt:lpstr>
      <vt:lpstr>Architecture of BJTs</vt:lpstr>
      <vt:lpstr>Bipolar Transistor</vt:lpstr>
      <vt:lpstr>Biasing</vt:lpstr>
      <vt:lpstr>Biasing</vt:lpstr>
      <vt:lpstr>Transistor Current</vt:lpstr>
      <vt:lpstr>Transistor Applications</vt:lpstr>
      <vt:lpstr>Basic circuits of BJT</vt:lpstr>
      <vt:lpstr>Operation of BJTs</vt:lpstr>
      <vt:lpstr>Operation of BJTs</vt:lpstr>
      <vt:lpstr>DC Analysis of BJTs</vt:lpstr>
      <vt:lpstr>DC Analysis of BJTs</vt:lpstr>
      <vt:lpstr>Q-point</vt:lpstr>
      <vt:lpstr>Q-point</vt:lpstr>
      <vt:lpstr>DC Analysis of BJTs</vt:lpstr>
      <vt:lpstr>End of Lecture-3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Dr.Saif</cp:lastModifiedBy>
  <cp:revision>28</cp:revision>
  <dcterms:created xsi:type="dcterms:W3CDTF">2006-08-16T00:00:00Z</dcterms:created>
  <dcterms:modified xsi:type="dcterms:W3CDTF">2023-11-06T08:13:33Z</dcterms:modified>
</cp:coreProperties>
</file>