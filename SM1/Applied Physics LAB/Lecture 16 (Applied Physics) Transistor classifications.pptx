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65" r:id="rId2"/>
    <p:sldId id="257" r:id="rId3"/>
    <p:sldId id="263" r:id="rId4"/>
    <p:sldId id="262" r:id="rId5"/>
    <p:sldId id="261" r:id="rId6"/>
    <p:sldId id="258" r:id="rId7"/>
    <p:sldId id="259" r:id="rId8"/>
    <p:sldId id="264" r:id="rId9"/>
    <p:sldId id="260"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10" d="100"/>
          <a:sy n="110" d="100"/>
        </p:scale>
        <p:origin x="-164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58C9A7C-A657-4EED-A7A7-8739A6413F68}" type="datetimeFigureOut">
              <a:rPr lang="en-US" smtClean="0"/>
              <a:t>07-Nov-23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D26775-ED6B-457E-92AF-37FAFE7D0706}" type="slidenum">
              <a:rPr lang="en-US" smtClean="0"/>
              <a:t>‹#›</a:t>
            </a:fld>
            <a:endParaRPr lang="en-US"/>
          </a:p>
        </p:txBody>
      </p:sp>
    </p:spTree>
    <p:extLst>
      <p:ext uri="{BB962C8B-B14F-4D97-AF65-F5344CB8AC3E}">
        <p14:creationId xmlns:p14="http://schemas.microsoft.com/office/powerpoint/2010/main" val="4140377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charset="0"/>
              </a:defRPr>
            </a:lvl1pPr>
            <a:lvl2pPr marL="742950" indent="-285750" eaLnBrk="0" hangingPunct="0">
              <a:defRPr sz="2800">
                <a:solidFill>
                  <a:schemeClr val="tx1"/>
                </a:solidFill>
                <a:latin typeface="Times New Roman" charset="0"/>
              </a:defRPr>
            </a:lvl2pPr>
            <a:lvl3pPr marL="1143000" indent="-228600" eaLnBrk="0" hangingPunct="0">
              <a:defRPr sz="2800">
                <a:solidFill>
                  <a:schemeClr val="tx1"/>
                </a:solidFill>
                <a:latin typeface="Times New Roman" charset="0"/>
              </a:defRPr>
            </a:lvl3pPr>
            <a:lvl4pPr marL="1600200" indent="-228600" eaLnBrk="0" hangingPunct="0">
              <a:defRPr sz="2800">
                <a:solidFill>
                  <a:schemeClr val="tx1"/>
                </a:solidFill>
                <a:latin typeface="Times New Roman" charset="0"/>
              </a:defRPr>
            </a:lvl4pPr>
            <a:lvl5pPr marL="2057400" indent="-228600" eaLnBrk="0" hangingPunct="0">
              <a:defRPr sz="2800">
                <a:solidFill>
                  <a:schemeClr val="tx1"/>
                </a:solidFill>
                <a:latin typeface="Times New Roman" charset="0"/>
              </a:defRPr>
            </a:lvl5pPr>
            <a:lvl6pPr marL="2514600" indent="-228600" eaLnBrk="0" fontAlgn="base" hangingPunct="0">
              <a:spcBef>
                <a:spcPct val="0"/>
              </a:spcBef>
              <a:spcAft>
                <a:spcPct val="0"/>
              </a:spcAft>
              <a:defRPr sz="2800">
                <a:solidFill>
                  <a:schemeClr val="tx1"/>
                </a:solidFill>
                <a:latin typeface="Times New Roman" charset="0"/>
              </a:defRPr>
            </a:lvl6pPr>
            <a:lvl7pPr marL="2971800" indent="-228600" eaLnBrk="0" fontAlgn="base" hangingPunct="0">
              <a:spcBef>
                <a:spcPct val="0"/>
              </a:spcBef>
              <a:spcAft>
                <a:spcPct val="0"/>
              </a:spcAft>
              <a:defRPr sz="2800">
                <a:solidFill>
                  <a:schemeClr val="tx1"/>
                </a:solidFill>
                <a:latin typeface="Times New Roman" charset="0"/>
              </a:defRPr>
            </a:lvl7pPr>
            <a:lvl8pPr marL="3429000" indent="-228600" eaLnBrk="0" fontAlgn="base" hangingPunct="0">
              <a:spcBef>
                <a:spcPct val="0"/>
              </a:spcBef>
              <a:spcAft>
                <a:spcPct val="0"/>
              </a:spcAft>
              <a:defRPr sz="2800">
                <a:solidFill>
                  <a:schemeClr val="tx1"/>
                </a:solidFill>
                <a:latin typeface="Times New Roman" charset="0"/>
              </a:defRPr>
            </a:lvl8pPr>
            <a:lvl9pPr marL="3886200" indent="-228600" eaLnBrk="0" fontAlgn="base" hangingPunct="0">
              <a:spcBef>
                <a:spcPct val="0"/>
              </a:spcBef>
              <a:spcAft>
                <a:spcPct val="0"/>
              </a:spcAft>
              <a:defRPr sz="2800">
                <a:solidFill>
                  <a:schemeClr val="tx1"/>
                </a:solidFill>
                <a:latin typeface="Times New Roman" charset="0"/>
              </a:defRPr>
            </a:lvl9pPr>
          </a:lstStyle>
          <a:p>
            <a:pPr eaLnBrk="1" hangingPunct="1"/>
            <a:fld id="{06F8E3F2-4FEA-4FCD-B741-47579EB95E66}" type="slidenum">
              <a:rPr lang="pt-BR" sz="1200" smtClean="0"/>
              <a:pPr eaLnBrk="1" hangingPunct="1"/>
              <a:t>5</a:t>
            </a:fld>
            <a:endParaRPr lang="pt-BR" sz="1200" smtClean="0"/>
          </a:p>
        </p:txBody>
      </p:sp>
      <p:sp>
        <p:nvSpPr>
          <p:cNvPr id="53251" name="Rectangle 2"/>
          <p:cNvSpPr>
            <a:spLocks noChangeArrowheads="1" noTextEdit="1"/>
          </p:cNvSpPr>
          <p:nvPr>
            <p:ph type="sldImg"/>
          </p:nvPr>
        </p:nvSpPr>
        <p:spPr>
          <a:solidFill>
            <a:srgbClr val="FFFFFF"/>
          </a:solidFill>
          <a:ln/>
        </p:spPr>
      </p:sp>
      <p:sp>
        <p:nvSpPr>
          <p:cNvPr id="53252" name="Rectangle 3"/>
          <p:cNvSpPr>
            <a:spLocks noChangeArrowheads="1"/>
          </p:cNvSpPr>
          <p:nvPr>
            <p:ph type="body" idx="1"/>
          </p:nvPr>
        </p:nvSpPr>
        <p:spPr>
          <a:solidFill>
            <a:srgbClr val="FFFFFF"/>
          </a:solidFill>
          <a:ln>
            <a:solidFill>
              <a:srgbClr val="000000"/>
            </a:solidFill>
          </a:ln>
        </p:spPr>
        <p:txBody>
          <a:bodyPr/>
          <a:lstStyle/>
          <a:p>
            <a:pPr eaLnBrk="1" hangingPunct="1"/>
            <a:r>
              <a:rPr lang="en-US" smtClean="0"/>
              <a:t>There are many types of transistors in addition to the bipolar junction transistor (BJT) that we have discussed so far.  An important class of 3 terminal transistors is the field effect devices.  For these the control parameter is the electric field over the junction, as opposed to the current of the BJT.  Since an electric field is associated with a voltage, the important advantage of the field effect devices is that there does not need to be a current into the control element (the gate).  This results in a very high input impedance and a very low leakage current.</a:t>
            </a:r>
          </a:p>
          <a:p>
            <a:pPr eaLnBrk="1" hangingPunct="1"/>
            <a:r>
              <a:rPr lang="en-US" smtClean="0"/>
              <a:t>The easiest to understand are the junction field effect transistors (JFETs) which we will discuss first and in some detail.  The metal oxide semiconductor FET (MOSFETs) are very important for digital logic implementations.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98689E0-ED18-4191-AF5C-467EE308270A}" type="datetimeFigureOut">
              <a:rPr lang="en-US" smtClean="0"/>
              <a:t>07-Nov-23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7DE7E1-0212-4FC0-8783-666C46623F8A}" type="slidenum">
              <a:rPr lang="en-US" smtClean="0"/>
              <a:t>‹#›</a:t>
            </a:fld>
            <a:endParaRPr lang="en-US"/>
          </a:p>
        </p:txBody>
      </p:sp>
    </p:spTree>
    <p:extLst>
      <p:ext uri="{BB962C8B-B14F-4D97-AF65-F5344CB8AC3E}">
        <p14:creationId xmlns:p14="http://schemas.microsoft.com/office/powerpoint/2010/main" val="4284980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8689E0-ED18-4191-AF5C-467EE308270A}" type="datetimeFigureOut">
              <a:rPr lang="en-US" smtClean="0"/>
              <a:t>07-Nov-23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7DE7E1-0212-4FC0-8783-666C46623F8A}" type="slidenum">
              <a:rPr lang="en-US" smtClean="0"/>
              <a:t>‹#›</a:t>
            </a:fld>
            <a:endParaRPr lang="en-US"/>
          </a:p>
        </p:txBody>
      </p:sp>
    </p:spTree>
    <p:extLst>
      <p:ext uri="{BB962C8B-B14F-4D97-AF65-F5344CB8AC3E}">
        <p14:creationId xmlns:p14="http://schemas.microsoft.com/office/powerpoint/2010/main" val="4076610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98689E0-ED18-4191-AF5C-467EE308270A}" type="datetimeFigureOut">
              <a:rPr lang="en-US" smtClean="0"/>
              <a:t>07-Nov-23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7DE7E1-0212-4FC0-8783-666C46623F8A}" type="slidenum">
              <a:rPr lang="en-US" smtClean="0"/>
              <a:t>‹#›</a:t>
            </a:fld>
            <a:endParaRPr lang="en-US"/>
          </a:p>
        </p:txBody>
      </p:sp>
    </p:spTree>
    <p:extLst>
      <p:ext uri="{BB962C8B-B14F-4D97-AF65-F5344CB8AC3E}">
        <p14:creationId xmlns:p14="http://schemas.microsoft.com/office/powerpoint/2010/main" val="27999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98689E0-ED18-4191-AF5C-467EE308270A}" type="datetimeFigureOut">
              <a:rPr lang="en-US" smtClean="0"/>
              <a:t>07-Nov-23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7DE7E1-0212-4FC0-8783-666C46623F8A}" type="slidenum">
              <a:rPr lang="en-US" smtClean="0"/>
              <a:t>‹#›</a:t>
            </a:fld>
            <a:endParaRPr lang="en-US"/>
          </a:p>
        </p:txBody>
      </p:sp>
    </p:spTree>
    <p:extLst>
      <p:ext uri="{BB962C8B-B14F-4D97-AF65-F5344CB8AC3E}">
        <p14:creationId xmlns:p14="http://schemas.microsoft.com/office/powerpoint/2010/main" val="408518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98689E0-ED18-4191-AF5C-467EE308270A}" type="datetimeFigureOut">
              <a:rPr lang="en-US" smtClean="0"/>
              <a:t>07-Nov-23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7DE7E1-0212-4FC0-8783-666C46623F8A}" type="slidenum">
              <a:rPr lang="en-US" smtClean="0"/>
              <a:t>‹#›</a:t>
            </a:fld>
            <a:endParaRPr lang="en-US"/>
          </a:p>
        </p:txBody>
      </p:sp>
    </p:spTree>
    <p:extLst>
      <p:ext uri="{BB962C8B-B14F-4D97-AF65-F5344CB8AC3E}">
        <p14:creationId xmlns:p14="http://schemas.microsoft.com/office/powerpoint/2010/main" val="1657092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98689E0-ED18-4191-AF5C-467EE308270A}" type="datetimeFigureOut">
              <a:rPr lang="en-US" smtClean="0"/>
              <a:t>07-Nov-23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7DE7E1-0212-4FC0-8783-666C46623F8A}" type="slidenum">
              <a:rPr lang="en-US" smtClean="0"/>
              <a:t>‹#›</a:t>
            </a:fld>
            <a:endParaRPr lang="en-US"/>
          </a:p>
        </p:txBody>
      </p:sp>
    </p:spTree>
    <p:extLst>
      <p:ext uri="{BB962C8B-B14F-4D97-AF65-F5344CB8AC3E}">
        <p14:creationId xmlns:p14="http://schemas.microsoft.com/office/powerpoint/2010/main" val="2877621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8689E0-ED18-4191-AF5C-467EE308270A}" type="datetimeFigureOut">
              <a:rPr lang="en-US" smtClean="0"/>
              <a:t>07-Nov-23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E7DE7E1-0212-4FC0-8783-666C46623F8A}" type="slidenum">
              <a:rPr lang="en-US" smtClean="0"/>
              <a:t>‹#›</a:t>
            </a:fld>
            <a:endParaRPr lang="en-US"/>
          </a:p>
        </p:txBody>
      </p:sp>
    </p:spTree>
    <p:extLst>
      <p:ext uri="{BB962C8B-B14F-4D97-AF65-F5344CB8AC3E}">
        <p14:creationId xmlns:p14="http://schemas.microsoft.com/office/powerpoint/2010/main" val="3834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98689E0-ED18-4191-AF5C-467EE308270A}" type="datetimeFigureOut">
              <a:rPr lang="en-US" smtClean="0"/>
              <a:t>07-Nov-23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7DE7E1-0212-4FC0-8783-666C46623F8A}" type="slidenum">
              <a:rPr lang="en-US" smtClean="0"/>
              <a:t>‹#›</a:t>
            </a:fld>
            <a:endParaRPr lang="en-US"/>
          </a:p>
        </p:txBody>
      </p:sp>
    </p:spTree>
    <p:extLst>
      <p:ext uri="{BB962C8B-B14F-4D97-AF65-F5344CB8AC3E}">
        <p14:creationId xmlns:p14="http://schemas.microsoft.com/office/powerpoint/2010/main" val="4147789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98689E0-ED18-4191-AF5C-467EE308270A}" type="datetimeFigureOut">
              <a:rPr lang="en-US" smtClean="0"/>
              <a:t>07-Nov-23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7DE7E1-0212-4FC0-8783-666C46623F8A}" type="slidenum">
              <a:rPr lang="en-US" smtClean="0"/>
              <a:t>‹#›</a:t>
            </a:fld>
            <a:endParaRPr lang="en-US"/>
          </a:p>
        </p:txBody>
      </p:sp>
    </p:spTree>
    <p:extLst>
      <p:ext uri="{BB962C8B-B14F-4D97-AF65-F5344CB8AC3E}">
        <p14:creationId xmlns:p14="http://schemas.microsoft.com/office/powerpoint/2010/main" val="2092016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8689E0-ED18-4191-AF5C-467EE308270A}" type="datetimeFigureOut">
              <a:rPr lang="en-US" smtClean="0"/>
              <a:t>07-Nov-23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7DE7E1-0212-4FC0-8783-666C46623F8A}" type="slidenum">
              <a:rPr lang="en-US" smtClean="0"/>
              <a:t>‹#›</a:t>
            </a:fld>
            <a:endParaRPr lang="en-US"/>
          </a:p>
        </p:txBody>
      </p:sp>
    </p:spTree>
    <p:extLst>
      <p:ext uri="{BB962C8B-B14F-4D97-AF65-F5344CB8AC3E}">
        <p14:creationId xmlns:p14="http://schemas.microsoft.com/office/powerpoint/2010/main" val="1194022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8689E0-ED18-4191-AF5C-467EE308270A}" type="datetimeFigureOut">
              <a:rPr lang="en-US" smtClean="0"/>
              <a:t>07-Nov-23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7DE7E1-0212-4FC0-8783-666C46623F8A}" type="slidenum">
              <a:rPr lang="en-US" smtClean="0"/>
              <a:t>‹#›</a:t>
            </a:fld>
            <a:endParaRPr lang="en-US"/>
          </a:p>
        </p:txBody>
      </p:sp>
    </p:spTree>
    <p:extLst>
      <p:ext uri="{BB962C8B-B14F-4D97-AF65-F5344CB8AC3E}">
        <p14:creationId xmlns:p14="http://schemas.microsoft.com/office/powerpoint/2010/main" val="1144084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8689E0-ED18-4191-AF5C-467EE308270A}" type="datetimeFigureOut">
              <a:rPr lang="en-US" smtClean="0"/>
              <a:t>07-Nov-23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7DE7E1-0212-4FC0-8783-666C46623F8A}" type="slidenum">
              <a:rPr lang="en-US" smtClean="0"/>
              <a:t>‹#›</a:t>
            </a:fld>
            <a:endParaRPr lang="en-US"/>
          </a:p>
        </p:txBody>
      </p:sp>
    </p:spTree>
    <p:extLst>
      <p:ext uri="{BB962C8B-B14F-4D97-AF65-F5344CB8AC3E}">
        <p14:creationId xmlns:p14="http://schemas.microsoft.com/office/powerpoint/2010/main" val="5321292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ctrTitle" idx="4294967295"/>
          </p:nvPr>
        </p:nvSpPr>
        <p:spPr>
          <a:xfrm>
            <a:off x="684213" y="1571625"/>
            <a:ext cx="7772400" cy="1470025"/>
          </a:xfrm>
        </p:spPr>
        <p:txBody>
          <a:bodyPr/>
          <a:lstStyle/>
          <a:p>
            <a:pPr algn="ctr" eaLnBrk="1" hangingPunct="1"/>
            <a:r>
              <a:rPr lang="fr-FR" b="1" dirty="0" smtClean="0">
                <a:solidFill>
                  <a:srgbClr val="C00000"/>
                </a:solidFill>
              </a:rPr>
              <a:t>APPLIED PHYSICS</a:t>
            </a:r>
            <a:endParaRPr lang="en-US" b="1" dirty="0" smtClean="0">
              <a:solidFill>
                <a:srgbClr val="C00000"/>
              </a:solidFill>
            </a:endParaRPr>
          </a:p>
        </p:txBody>
      </p:sp>
      <p:pic>
        <p:nvPicPr>
          <p:cNvPr id="9219" name="Picture 13" descr="http://thecorner.files.wordpress.com/2008/01/bis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609600"/>
            <a:ext cx="4073525" cy="90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txBox="1">
            <a:spLocks/>
          </p:cNvSpPr>
          <p:nvPr/>
        </p:nvSpPr>
        <p:spPr>
          <a:xfrm>
            <a:off x="762000" y="1654175"/>
            <a:ext cx="7772400" cy="1470025"/>
          </a:xfrm>
          <a:prstGeom prst="rect">
            <a:avLst/>
          </a:prstGeom>
        </p:spPr>
        <p:txBody>
          <a:bodyPr/>
          <a:lstStyle/>
          <a:p>
            <a:pPr>
              <a:defRPr/>
            </a:pPr>
            <a:r>
              <a:rPr lang="en-US" sz="4400" dirty="0">
                <a:solidFill>
                  <a:srgbClr val="FF0000"/>
                </a:solidFill>
                <a:latin typeface="+mj-lt"/>
                <a:ea typeface="+mj-ea"/>
                <a:cs typeface="+mj-cs"/>
              </a:rPr>
              <a:t> </a:t>
            </a:r>
          </a:p>
        </p:txBody>
      </p:sp>
      <p:sp>
        <p:nvSpPr>
          <p:cNvPr id="2053" name="TextBox 3"/>
          <p:cNvSpPr txBox="1">
            <a:spLocks noChangeArrowheads="1"/>
          </p:cNvSpPr>
          <p:nvPr/>
        </p:nvSpPr>
        <p:spPr bwMode="auto">
          <a:xfrm>
            <a:off x="3286125" y="4357688"/>
            <a:ext cx="2571750" cy="892175"/>
          </a:xfrm>
          <a:prstGeom prst="rect">
            <a:avLst/>
          </a:prstGeom>
          <a:noFill/>
          <a:ln w="9525">
            <a:noFill/>
            <a:miter lim="800000"/>
            <a:headEnd/>
            <a:tailEnd/>
          </a:ln>
        </p:spPr>
        <p:txBody>
          <a:bodyPr>
            <a:spAutoFit/>
          </a:bodyPr>
          <a:lstStyle/>
          <a:p>
            <a:pPr algn="ctr">
              <a:defRPr/>
            </a:pPr>
            <a:r>
              <a:rPr lang="fr-FR" sz="2600" b="1" dirty="0">
                <a:latin typeface="+mj-lt"/>
              </a:rPr>
              <a:t>Lecture </a:t>
            </a:r>
            <a:r>
              <a:rPr lang="fr-FR" sz="2600" b="1" dirty="0" smtClean="0">
                <a:latin typeface="+mj-lt"/>
              </a:rPr>
              <a:t>16</a:t>
            </a:r>
            <a:endParaRPr lang="fr-FR" sz="2600" b="1" dirty="0">
              <a:latin typeface="+mj-lt"/>
            </a:endParaRPr>
          </a:p>
          <a:p>
            <a:pPr algn="ctr">
              <a:defRPr/>
            </a:pPr>
            <a:r>
              <a:rPr lang="fr-FR" sz="2600" b="1" dirty="0" smtClean="0">
                <a:latin typeface="+mj-lt"/>
              </a:rPr>
              <a:t>Nov. 07, </a:t>
            </a:r>
            <a:r>
              <a:rPr lang="fr-FR" sz="2600" b="1" dirty="0">
                <a:latin typeface="+mj-lt"/>
              </a:rPr>
              <a:t>2023</a:t>
            </a:r>
            <a:endParaRPr lang="en-US" sz="2600" b="1" dirty="0">
              <a:latin typeface="+mj-lt"/>
            </a:endParaRPr>
          </a:p>
        </p:txBody>
      </p:sp>
      <p:sp>
        <p:nvSpPr>
          <p:cNvPr id="9222" name="Rectangle 31"/>
          <p:cNvSpPr>
            <a:spLocks noChangeArrowheads="1"/>
          </p:cNvSpPr>
          <p:nvPr/>
        </p:nvSpPr>
        <p:spPr bwMode="auto">
          <a:xfrm>
            <a:off x="2857500" y="3571875"/>
            <a:ext cx="3557588"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65" tIns="40083" rIns="80165" bIns="40083">
            <a:spAutoFit/>
          </a:bodyPr>
          <a:lstStyle/>
          <a:p>
            <a:r>
              <a:rPr lang="en-US" sz="2800" dirty="0">
                <a:solidFill>
                  <a:srgbClr val="FFC000"/>
                </a:solidFill>
                <a:latin typeface="Arial Rounded MT Bold" pitchFamily="34" charset="0"/>
                <a:cs typeface="Tahoma" pitchFamily="34" charset="0"/>
              </a:rPr>
              <a:t>Dr. </a:t>
            </a:r>
            <a:r>
              <a:rPr lang="en-US" sz="2800" dirty="0" err="1">
                <a:solidFill>
                  <a:srgbClr val="FFC000"/>
                </a:solidFill>
                <a:latin typeface="Arial Rounded MT Bold" pitchFamily="34" charset="0"/>
                <a:cs typeface="Tahoma" pitchFamily="34" charset="0"/>
              </a:rPr>
              <a:t>Saif</a:t>
            </a:r>
            <a:r>
              <a:rPr lang="en-US" sz="2800" dirty="0">
                <a:solidFill>
                  <a:srgbClr val="FFC000"/>
                </a:solidFill>
                <a:latin typeface="Arial Rounded MT Bold" pitchFamily="34" charset="0"/>
                <a:cs typeface="Tahoma" pitchFamily="34" charset="0"/>
              </a:rPr>
              <a:t> Ur </a:t>
            </a:r>
            <a:r>
              <a:rPr lang="en-US" sz="2800" dirty="0" err="1">
                <a:solidFill>
                  <a:srgbClr val="FFC000"/>
                </a:solidFill>
                <a:latin typeface="Arial Rounded MT Bold" pitchFamily="34" charset="0"/>
                <a:cs typeface="Tahoma" pitchFamily="34" charset="0"/>
              </a:rPr>
              <a:t>Rehman</a:t>
            </a:r>
            <a:endParaRPr lang="en-US" sz="2800" dirty="0">
              <a:solidFill>
                <a:srgbClr val="FFC000"/>
              </a:solidFill>
              <a:latin typeface="Arial Rounded MT Bold" pitchFamily="34" charset="0"/>
              <a:cs typeface="Tahoma" pitchFamily="34" charset="0"/>
            </a:endParaRPr>
          </a:p>
        </p:txBody>
      </p:sp>
    </p:spTree>
    <p:extLst>
      <p:ext uri="{BB962C8B-B14F-4D97-AF65-F5344CB8AC3E}">
        <p14:creationId xmlns:p14="http://schemas.microsoft.com/office/powerpoint/2010/main" val="2139043766"/>
      </p:ext>
    </p:extLst>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048109" y="533400"/>
            <a:ext cx="7024688" cy="722313"/>
          </a:xfrm>
        </p:spPr>
        <p:txBody>
          <a:bodyPr/>
          <a:lstStyle/>
          <a:p>
            <a:pPr algn="ctr"/>
            <a:r>
              <a:rPr lang="en-US" sz="3600" b="1" dirty="0" smtClean="0"/>
              <a:t>Transistor classifications</a:t>
            </a:r>
          </a:p>
        </p:txBody>
      </p:sp>
      <p:sp>
        <p:nvSpPr>
          <p:cNvPr id="6147" name="Content Placeholder 2"/>
          <p:cNvSpPr>
            <a:spLocks noGrp="1"/>
          </p:cNvSpPr>
          <p:nvPr>
            <p:ph idx="1"/>
          </p:nvPr>
        </p:nvSpPr>
        <p:spPr>
          <a:xfrm>
            <a:off x="1182688" y="1676400"/>
            <a:ext cx="6778625" cy="4156075"/>
          </a:xfrm>
          <a:solidFill>
            <a:schemeClr val="accent5">
              <a:lumMod val="20000"/>
              <a:lumOff val="80000"/>
            </a:schemeClr>
          </a:solidFill>
        </p:spPr>
        <p:txBody>
          <a:bodyPr/>
          <a:lstStyle/>
          <a:p>
            <a:pPr marL="68263" indent="0">
              <a:buFont typeface="Wingdings 2" pitchFamily="18" charset="2"/>
              <a:buNone/>
            </a:pPr>
            <a:r>
              <a:rPr lang="en-US" dirty="0" smtClean="0">
                <a:solidFill>
                  <a:schemeClr val="tx1"/>
                </a:solidFill>
              </a:rPr>
              <a:t>Classified transistor to two kinds :</a:t>
            </a:r>
          </a:p>
          <a:p>
            <a:pPr marL="68263" indent="0">
              <a:buFont typeface="Wingdings 2" pitchFamily="18" charset="2"/>
              <a:buNone/>
            </a:pPr>
            <a:r>
              <a:rPr lang="en-US" dirty="0" smtClean="0">
                <a:solidFill>
                  <a:schemeClr val="tx1"/>
                </a:solidFill>
              </a:rPr>
              <a:t>                                                   </a:t>
            </a:r>
          </a:p>
        </p:txBody>
      </p:sp>
      <p:cxnSp>
        <p:nvCxnSpPr>
          <p:cNvPr id="33" name="Straight Arrow Connector 32"/>
          <p:cNvCxnSpPr/>
          <p:nvPr/>
        </p:nvCxnSpPr>
        <p:spPr>
          <a:xfrm>
            <a:off x="4953000" y="2151063"/>
            <a:ext cx="7620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H="1">
            <a:off x="4343400" y="2151063"/>
            <a:ext cx="6096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5715000" y="2836863"/>
            <a:ext cx="2286000" cy="592137"/>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fontAlgn="auto">
              <a:spcBef>
                <a:spcPts val="0"/>
              </a:spcBef>
              <a:spcAft>
                <a:spcPts val="0"/>
              </a:spcAft>
              <a:defRPr/>
            </a:pPr>
            <a:r>
              <a:rPr lang="en-US" dirty="0">
                <a:solidFill>
                  <a:schemeClr val="tx1"/>
                </a:solidFill>
              </a:rPr>
              <a:t>Bipolar Junction transistor (BJT)</a:t>
            </a:r>
          </a:p>
        </p:txBody>
      </p:sp>
      <p:sp>
        <p:nvSpPr>
          <p:cNvPr id="38" name="Rounded Rectangle 37"/>
          <p:cNvSpPr/>
          <p:nvPr/>
        </p:nvSpPr>
        <p:spPr>
          <a:xfrm>
            <a:off x="1905000" y="2836863"/>
            <a:ext cx="2438400" cy="592137"/>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fontAlgn="auto">
              <a:spcBef>
                <a:spcPts val="0"/>
              </a:spcBef>
              <a:spcAft>
                <a:spcPts val="0"/>
              </a:spcAft>
              <a:defRPr/>
            </a:pPr>
            <a:r>
              <a:rPr lang="en-US" dirty="0">
                <a:solidFill>
                  <a:schemeClr val="tx1"/>
                </a:solidFill>
              </a:rPr>
              <a:t>Field Effect Transistor (FET)</a:t>
            </a:r>
          </a:p>
        </p:txBody>
      </p:sp>
      <p:cxnSp>
        <p:nvCxnSpPr>
          <p:cNvPr id="40" name="Straight Arrow Connector 39"/>
          <p:cNvCxnSpPr>
            <a:stCxn id="37" idx="2"/>
          </p:cNvCxnSpPr>
          <p:nvPr/>
        </p:nvCxnSpPr>
        <p:spPr>
          <a:xfrm>
            <a:off x="6858000" y="3429000"/>
            <a:ext cx="5334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37" idx="2"/>
          </p:cNvCxnSpPr>
          <p:nvPr/>
        </p:nvCxnSpPr>
        <p:spPr>
          <a:xfrm flipH="1">
            <a:off x="6477000" y="3429000"/>
            <a:ext cx="3810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3" name="Rounded Rectangle 42"/>
          <p:cNvSpPr/>
          <p:nvPr/>
        </p:nvSpPr>
        <p:spPr>
          <a:xfrm>
            <a:off x="7391400" y="3962400"/>
            <a:ext cx="762000" cy="4572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fontAlgn="auto">
              <a:spcBef>
                <a:spcPts val="0"/>
              </a:spcBef>
              <a:spcAft>
                <a:spcPts val="0"/>
              </a:spcAft>
              <a:defRPr/>
            </a:pPr>
            <a:r>
              <a:rPr lang="en-US" dirty="0">
                <a:solidFill>
                  <a:schemeClr val="tx1"/>
                </a:solidFill>
              </a:rPr>
              <a:t>PNP</a:t>
            </a:r>
          </a:p>
        </p:txBody>
      </p:sp>
      <p:sp>
        <p:nvSpPr>
          <p:cNvPr id="44" name="Rounded Rectangle 43"/>
          <p:cNvSpPr/>
          <p:nvPr/>
        </p:nvSpPr>
        <p:spPr>
          <a:xfrm>
            <a:off x="5746750" y="3962400"/>
            <a:ext cx="730250" cy="4572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fontAlgn="auto">
              <a:spcBef>
                <a:spcPts val="0"/>
              </a:spcBef>
              <a:spcAft>
                <a:spcPts val="0"/>
              </a:spcAft>
              <a:defRPr/>
            </a:pPr>
            <a:r>
              <a:rPr lang="en-US" dirty="0">
                <a:solidFill>
                  <a:schemeClr val="tx1"/>
                </a:solidFill>
              </a:rPr>
              <a:t>NPN</a:t>
            </a:r>
          </a:p>
        </p:txBody>
      </p:sp>
      <p:cxnSp>
        <p:nvCxnSpPr>
          <p:cNvPr id="46" name="Straight Arrow Connector 45"/>
          <p:cNvCxnSpPr>
            <a:stCxn id="38" idx="2"/>
          </p:cNvCxnSpPr>
          <p:nvPr/>
        </p:nvCxnSpPr>
        <p:spPr>
          <a:xfrm>
            <a:off x="3124200" y="3429000"/>
            <a:ext cx="4572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flipH="1">
            <a:off x="2743200" y="3463925"/>
            <a:ext cx="3810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1" name="Rounded Rectangle 50"/>
          <p:cNvSpPr/>
          <p:nvPr/>
        </p:nvSpPr>
        <p:spPr>
          <a:xfrm>
            <a:off x="1333500" y="3997325"/>
            <a:ext cx="1447800" cy="42227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fontAlgn="auto">
              <a:spcBef>
                <a:spcPts val="0"/>
              </a:spcBef>
              <a:spcAft>
                <a:spcPts val="0"/>
              </a:spcAft>
              <a:defRPr/>
            </a:pPr>
            <a:r>
              <a:rPr lang="en-US" sz="1600" dirty="0">
                <a:solidFill>
                  <a:schemeClr val="tx1"/>
                </a:solidFill>
              </a:rPr>
              <a:t>Junction FET</a:t>
            </a:r>
          </a:p>
        </p:txBody>
      </p:sp>
      <p:cxnSp>
        <p:nvCxnSpPr>
          <p:cNvPr id="53" name="Straight Arrow Connector 52"/>
          <p:cNvCxnSpPr/>
          <p:nvPr/>
        </p:nvCxnSpPr>
        <p:spPr>
          <a:xfrm>
            <a:off x="4267200" y="4419600"/>
            <a:ext cx="2286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H="1">
            <a:off x="4038600" y="4419600"/>
            <a:ext cx="2286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51" idx="2"/>
          </p:cNvCxnSpPr>
          <p:nvPr/>
        </p:nvCxnSpPr>
        <p:spPr>
          <a:xfrm>
            <a:off x="2057400" y="4419600"/>
            <a:ext cx="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8" name="Rounded Rectangle 57"/>
          <p:cNvSpPr/>
          <p:nvPr/>
        </p:nvSpPr>
        <p:spPr>
          <a:xfrm>
            <a:off x="4495800" y="4648200"/>
            <a:ext cx="1143000" cy="4572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fontAlgn="auto">
              <a:spcBef>
                <a:spcPts val="0"/>
              </a:spcBef>
              <a:spcAft>
                <a:spcPts val="0"/>
              </a:spcAft>
              <a:defRPr/>
            </a:pPr>
            <a:r>
              <a:rPr lang="en-US" sz="1200" dirty="0" err="1">
                <a:solidFill>
                  <a:schemeClr val="tx1"/>
                </a:solidFill>
              </a:rPr>
              <a:t>Enhancement_mode</a:t>
            </a:r>
            <a:endParaRPr lang="en-US" sz="1200" dirty="0">
              <a:solidFill>
                <a:schemeClr val="tx1"/>
              </a:solidFill>
            </a:endParaRPr>
          </a:p>
        </p:txBody>
      </p:sp>
      <p:sp>
        <p:nvSpPr>
          <p:cNvPr id="59" name="Rounded Rectangle 58"/>
          <p:cNvSpPr/>
          <p:nvPr/>
        </p:nvSpPr>
        <p:spPr>
          <a:xfrm>
            <a:off x="2933700" y="4648200"/>
            <a:ext cx="1104900" cy="4572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fontAlgn="auto">
              <a:spcBef>
                <a:spcPts val="0"/>
              </a:spcBef>
              <a:spcAft>
                <a:spcPts val="0"/>
              </a:spcAft>
              <a:defRPr/>
            </a:pPr>
            <a:r>
              <a:rPr lang="en-US" sz="1200" dirty="0">
                <a:solidFill>
                  <a:schemeClr val="tx1"/>
                </a:solidFill>
              </a:rPr>
              <a:t>Depletion_</a:t>
            </a:r>
          </a:p>
          <a:p>
            <a:pPr algn="ctr" rtl="0" fontAlgn="auto">
              <a:spcBef>
                <a:spcPts val="0"/>
              </a:spcBef>
              <a:spcAft>
                <a:spcPts val="0"/>
              </a:spcAft>
              <a:defRPr/>
            </a:pPr>
            <a:r>
              <a:rPr lang="en-US" sz="1200" dirty="0">
                <a:solidFill>
                  <a:schemeClr val="tx1"/>
                </a:solidFill>
              </a:rPr>
              <a:t>mode</a:t>
            </a:r>
          </a:p>
        </p:txBody>
      </p:sp>
      <p:sp>
        <p:nvSpPr>
          <p:cNvPr id="60" name="Rounded Rectangle 59"/>
          <p:cNvSpPr/>
          <p:nvPr/>
        </p:nvSpPr>
        <p:spPr>
          <a:xfrm>
            <a:off x="1066800" y="4648200"/>
            <a:ext cx="1219200" cy="4572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fontAlgn="auto">
              <a:spcBef>
                <a:spcPts val="0"/>
              </a:spcBef>
              <a:spcAft>
                <a:spcPts val="0"/>
              </a:spcAft>
              <a:defRPr/>
            </a:pPr>
            <a:r>
              <a:rPr lang="en-US" sz="1400" dirty="0">
                <a:solidFill>
                  <a:schemeClr val="tx1"/>
                </a:solidFill>
              </a:rPr>
              <a:t>Depletion_</a:t>
            </a:r>
          </a:p>
          <a:p>
            <a:pPr algn="ctr" rtl="0" fontAlgn="auto">
              <a:spcBef>
                <a:spcPts val="0"/>
              </a:spcBef>
              <a:spcAft>
                <a:spcPts val="0"/>
              </a:spcAft>
              <a:defRPr/>
            </a:pPr>
            <a:r>
              <a:rPr lang="en-US" sz="1400" dirty="0">
                <a:solidFill>
                  <a:schemeClr val="tx1"/>
                </a:solidFill>
              </a:rPr>
              <a:t>mode</a:t>
            </a:r>
          </a:p>
        </p:txBody>
      </p:sp>
      <p:cxnSp>
        <p:nvCxnSpPr>
          <p:cNvPr id="62" name="Straight Arrow Connector 61"/>
          <p:cNvCxnSpPr/>
          <p:nvPr/>
        </p:nvCxnSpPr>
        <p:spPr>
          <a:xfrm>
            <a:off x="5562600" y="5105400"/>
            <a:ext cx="304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flipH="1">
            <a:off x="5334000" y="5105400"/>
            <a:ext cx="2286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5" name="Rounded Rectangle 64"/>
          <p:cNvSpPr/>
          <p:nvPr/>
        </p:nvSpPr>
        <p:spPr>
          <a:xfrm>
            <a:off x="5715000" y="5334000"/>
            <a:ext cx="952500" cy="3810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fontAlgn="auto">
              <a:spcBef>
                <a:spcPts val="0"/>
              </a:spcBef>
              <a:spcAft>
                <a:spcPts val="0"/>
              </a:spcAft>
              <a:defRPr/>
            </a:pPr>
            <a:r>
              <a:rPr lang="en-US" sz="1200" dirty="0">
                <a:solidFill>
                  <a:schemeClr val="tx1"/>
                </a:solidFill>
              </a:rPr>
              <a:t>P_</a:t>
            </a:r>
          </a:p>
          <a:p>
            <a:pPr algn="ctr" rtl="0" fontAlgn="auto">
              <a:spcBef>
                <a:spcPts val="0"/>
              </a:spcBef>
              <a:spcAft>
                <a:spcPts val="0"/>
              </a:spcAft>
              <a:defRPr/>
            </a:pPr>
            <a:r>
              <a:rPr lang="en-US" sz="1200" dirty="0">
                <a:solidFill>
                  <a:schemeClr val="tx1"/>
                </a:solidFill>
              </a:rPr>
              <a:t>channel</a:t>
            </a:r>
          </a:p>
        </p:txBody>
      </p:sp>
      <p:sp>
        <p:nvSpPr>
          <p:cNvPr id="66" name="Rounded Rectangle 65"/>
          <p:cNvSpPr/>
          <p:nvPr/>
        </p:nvSpPr>
        <p:spPr>
          <a:xfrm>
            <a:off x="4648200" y="5334000"/>
            <a:ext cx="914400" cy="3810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fontAlgn="auto">
              <a:spcBef>
                <a:spcPts val="0"/>
              </a:spcBef>
              <a:spcAft>
                <a:spcPts val="0"/>
              </a:spcAft>
              <a:defRPr/>
            </a:pPr>
            <a:r>
              <a:rPr lang="en-US" sz="1200" dirty="0">
                <a:solidFill>
                  <a:schemeClr val="tx1"/>
                </a:solidFill>
              </a:rPr>
              <a:t>N_</a:t>
            </a:r>
          </a:p>
          <a:p>
            <a:pPr algn="ctr" rtl="0" fontAlgn="auto">
              <a:spcBef>
                <a:spcPts val="0"/>
              </a:spcBef>
              <a:spcAft>
                <a:spcPts val="0"/>
              </a:spcAft>
              <a:defRPr/>
            </a:pPr>
            <a:r>
              <a:rPr lang="en-US" sz="1200" dirty="0">
                <a:solidFill>
                  <a:schemeClr val="tx1"/>
                </a:solidFill>
              </a:rPr>
              <a:t>channel</a:t>
            </a:r>
          </a:p>
        </p:txBody>
      </p:sp>
      <p:cxnSp>
        <p:nvCxnSpPr>
          <p:cNvPr id="68" name="Straight Arrow Connector 67"/>
          <p:cNvCxnSpPr/>
          <p:nvPr/>
        </p:nvCxnSpPr>
        <p:spPr>
          <a:xfrm>
            <a:off x="3733800" y="5105400"/>
            <a:ext cx="1524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flipH="1">
            <a:off x="3581400" y="5105400"/>
            <a:ext cx="1524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1" name="Rounded Rectangle 70"/>
          <p:cNvSpPr/>
          <p:nvPr/>
        </p:nvSpPr>
        <p:spPr>
          <a:xfrm>
            <a:off x="3657600" y="5334000"/>
            <a:ext cx="838200" cy="3810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fontAlgn="auto">
              <a:spcBef>
                <a:spcPts val="0"/>
              </a:spcBef>
              <a:spcAft>
                <a:spcPts val="0"/>
              </a:spcAft>
              <a:defRPr/>
            </a:pPr>
            <a:r>
              <a:rPr lang="en-US" sz="1200" dirty="0">
                <a:solidFill>
                  <a:schemeClr val="tx1"/>
                </a:solidFill>
              </a:rPr>
              <a:t>P_</a:t>
            </a:r>
          </a:p>
          <a:p>
            <a:pPr algn="ctr" rtl="0" fontAlgn="auto">
              <a:spcBef>
                <a:spcPts val="0"/>
              </a:spcBef>
              <a:spcAft>
                <a:spcPts val="0"/>
              </a:spcAft>
              <a:defRPr/>
            </a:pPr>
            <a:r>
              <a:rPr lang="en-US" sz="1200" dirty="0">
                <a:solidFill>
                  <a:schemeClr val="tx1"/>
                </a:solidFill>
              </a:rPr>
              <a:t>channel</a:t>
            </a:r>
          </a:p>
        </p:txBody>
      </p:sp>
      <p:sp>
        <p:nvSpPr>
          <p:cNvPr id="72" name="Rounded Rectangle 71"/>
          <p:cNvSpPr/>
          <p:nvPr/>
        </p:nvSpPr>
        <p:spPr>
          <a:xfrm>
            <a:off x="2590800" y="5219700"/>
            <a:ext cx="990600" cy="4953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fontAlgn="auto">
              <a:spcBef>
                <a:spcPts val="0"/>
              </a:spcBef>
              <a:spcAft>
                <a:spcPts val="0"/>
              </a:spcAft>
              <a:defRPr/>
            </a:pPr>
            <a:r>
              <a:rPr lang="en-US" sz="1200" dirty="0">
                <a:solidFill>
                  <a:schemeClr val="tx1"/>
                </a:solidFill>
              </a:rPr>
              <a:t>N_</a:t>
            </a:r>
          </a:p>
          <a:p>
            <a:pPr algn="ctr" rtl="0" fontAlgn="auto">
              <a:spcBef>
                <a:spcPts val="0"/>
              </a:spcBef>
              <a:spcAft>
                <a:spcPts val="0"/>
              </a:spcAft>
              <a:defRPr/>
            </a:pPr>
            <a:r>
              <a:rPr lang="en-US" sz="1200" dirty="0">
                <a:solidFill>
                  <a:schemeClr val="tx1"/>
                </a:solidFill>
              </a:rPr>
              <a:t>channe</a:t>
            </a:r>
            <a:r>
              <a:rPr lang="en-US" dirty="0">
                <a:solidFill>
                  <a:schemeClr val="tx1"/>
                </a:solidFill>
              </a:rPr>
              <a:t>l</a:t>
            </a:r>
          </a:p>
        </p:txBody>
      </p:sp>
      <p:cxnSp>
        <p:nvCxnSpPr>
          <p:cNvPr id="74" name="Straight Arrow Connector 73"/>
          <p:cNvCxnSpPr>
            <a:stCxn id="60" idx="2"/>
          </p:cNvCxnSpPr>
          <p:nvPr/>
        </p:nvCxnSpPr>
        <p:spPr>
          <a:xfrm flipH="1">
            <a:off x="1295400" y="5105400"/>
            <a:ext cx="3810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5" name="Rounded Rectangle 74"/>
          <p:cNvSpPr/>
          <p:nvPr/>
        </p:nvSpPr>
        <p:spPr>
          <a:xfrm>
            <a:off x="609600" y="5334000"/>
            <a:ext cx="914400" cy="3810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fontAlgn="auto">
              <a:spcBef>
                <a:spcPts val="0"/>
              </a:spcBef>
              <a:spcAft>
                <a:spcPts val="0"/>
              </a:spcAft>
              <a:defRPr/>
            </a:pPr>
            <a:r>
              <a:rPr lang="en-US" sz="1200" dirty="0">
                <a:solidFill>
                  <a:schemeClr val="tx1"/>
                </a:solidFill>
              </a:rPr>
              <a:t>N-channel</a:t>
            </a:r>
          </a:p>
        </p:txBody>
      </p:sp>
      <p:cxnSp>
        <p:nvCxnSpPr>
          <p:cNvPr id="77" name="Straight Arrow Connector 76"/>
          <p:cNvCxnSpPr>
            <a:stCxn id="60" idx="2"/>
          </p:cNvCxnSpPr>
          <p:nvPr/>
        </p:nvCxnSpPr>
        <p:spPr>
          <a:xfrm>
            <a:off x="1676400" y="5105400"/>
            <a:ext cx="4572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8" name="Rounded Rectangle 77"/>
          <p:cNvSpPr/>
          <p:nvPr/>
        </p:nvSpPr>
        <p:spPr>
          <a:xfrm>
            <a:off x="1638300" y="5334000"/>
            <a:ext cx="876300" cy="3810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fontAlgn="auto">
              <a:spcBef>
                <a:spcPts val="0"/>
              </a:spcBef>
              <a:spcAft>
                <a:spcPts val="0"/>
              </a:spcAft>
              <a:defRPr/>
            </a:pPr>
            <a:r>
              <a:rPr lang="en-US" sz="1200" dirty="0">
                <a:solidFill>
                  <a:schemeClr val="tx1"/>
                </a:solidFill>
              </a:rPr>
              <a:t>P_</a:t>
            </a:r>
          </a:p>
          <a:p>
            <a:pPr algn="ctr" rtl="0" fontAlgn="auto">
              <a:spcBef>
                <a:spcPts val="0"/>
              </a:spcBef>
              <a:spcAft>
                <a:spcPts val="0"/>
              </a:spcAft>
              <a:defRPr/>
            </a:pPr>
            <a:r>
              <a:rPr lang="en-US" sz="1200" dirty="0">
                <a:solidFill>
                  <a:schemeClr val="tx1"/>
                </a:solidFill>
              </a:rPr>
              <a:t>channel</a:t>
            </a:r>
          </a:p>
        </p:txBody>
      </p:sp>
      <p:sp>
        <p:nvSpPr>
          <p:cNvPr id="79" name="Rounded Rectangle 78"/>
          <p:cNvSpPr/>
          <p:nvPr/>
        </p:nvSpPr>
        <p:spPr>
          <a:xfrm>
            <a:off x="3124200" y="3962400"/>
            <a:ext cx="2133600" cy="4572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fontAlgn="auto">
              <a:spcBef>
                <a:spcPts val="0"/>
              </a:spcBef>
              <a:spcAft>
                <a:spcPts val="0"/>
              </a:spcAft>
              <a:defRPr/>
            </a:pPr>
            <a:r>
              <a:rPr lang="en-US" sz="1400" dirty="0">
                <a:solidFill>
                  <a:schemeClr val="tx1"/>
                </a:solidFill>
              </a:rPr>
              <a:t>Metal Oxide Semiconductor FET</a:t>
            </a:r>
          </a:p>
        </p:txBody>
      </p:sp>
    </p:spTree>
    <p:extLst>
      <p:ext uri="{BB962C8B-B14F-4D97-AF65-F5344CB8AC3E}">
        <p14:creationId xmlns:p14="http://schemas.microsoft.com/office/powerpoint/2010/main" val="3296170439"/>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8A3A0AB-851C-3C49-9C43-79748188C8F2}"/>
              </a:ext>
            </a:extLst>
          </p:cNvPr>
          <p:cNvSpPr>
            <a:spLocks noGrp="1"/>
          </p:cNvSpPr>
          <p:nvPr>
            <p:ph type="title"/>
          </p:nvPr>
        </p:nvSpPr>
        <p:spPr>
          <a:xfrm>
            <a:off x="762000" y="381000"/>
            <a:ext cx="8229600" cy="1143000"/>
          </a:xfrm>
        </p:spPr>
        <p:txBody>
          <a:bodyPr/>
          <a:lstStyle/>
          <a:p>
            <a:r>
              <a:rPr lang="en-US" dirty="0"/>
              <a:t>Classification of FET</a:t>
            </a:r>
          </a:p>
        </p:txBody>
      </p:sp>
      <p:sp>
        <p:nvSpPr>
          <p:cNvPr id="5" name="TextBox 4">
            <a:extLst>
              <a:ext uri="{FF2B5EF4-FFF2-40B4-BE49-F238E27FC236}">
                <a16:creationId xmlns:a16="http://schemas.microsoft.com/office/drawing/2014/main" xmlns="" id="{2463A89F-9969-C142-8BF2-A246590981A6}"/>
              </a:ext>
            </a:extLst>
          </p:cNvPr>
          <p:cNvSpPr txBox="1"/>
          <p:nvPr/>
        </p:nvSpPr>
        <p:spPr>
          <a:xfrm>
            <a:off x="2286700" y="3242466"/>
            <a:ext cx="4573400" cy="369332"/>
          </a:xfrm>
          <a:prstGeom prst="rect">
            <a:avLst/>
          </a:prstGeom>
          <a:noFill/>
        </p:spPr>
        <p:txBody>
          <a:bodyPr wrap="square">
            <a:spAutoFit/>
          </a:bodyPr>
          <a:lstStyle/>
          <a:p>
            <a:r>
              <a:rPr lang="en-US"/>
              <a:t> </a:t>
            </a:r>
          </a:p>
        </p:txBody>
      </p:sp>
      <p:pic>
        <p:nvPicPr>
          <p:cNvPr id="18436" name="Picture 4" descr="Transistor Tree Diagram"/>
          <p:cNvPicPr>
            <a:picLocks noChangeAspect="1" noChangeArrowheads="1"/>
          </p:cNvPicPr>
          <p:nvPr/>
        </p:nvPicPr>
        <p:blipFill>
          <a:blip r:embed="rId2" cstate="print"/>
          <a:srcRect/>
          <a:stretch>
            <a:fillRect/>
          </a:stretch>
        </p:blipFill>
        <p:spPr bwMode="auto">
          <a:xfrm>
            <a:off x="1371600" y="1905001"/>
            <a:ext cx="5843588" cy="4371975"/>
          </a:xfrm>
          <a:prstGeom prst="rect">
            <a:avLst/>
          </a:prstGeom>
          <a:noFill/>
        </p:spPr>
      </p:pic>
    </p:spTree>
    <p:extLst>
      <p:ext uri="{BB962C8B-B14F-4D97-AF65-F5344CB8AC3E}">
        <p14:creationId xmlns:p14="http://schemas.microsoft.com/office/powerpoint/2010/main" val="26934871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337A305-47C6-A241-B012-5473F2641AF4}"/>
              </a:ext>
            </a:extLst>
          </p:cNvPr>
          <p:cNvSpPr>
            <a:spLocks noGrp="1"/>
          </p:cNvSpPr>
          <p:nvPr>
            <p:ph type="title"/>
          </p:nvPr>
        </p:nvSpPr>
        <p:spPr/>
        <p:txBody>
          <a:bodyPr/>
          <a:lstStyle/>
          <a:p>
            <a:r>
              <a:rPr lang="en-US"/>
              <a:t>Difference between BJT &amp; FET</a:t>
            </a:r>
          </a:p>
        </p:txBody>
      </p:sp>
      <p:sp>
        <p:nvSpPr>
          <p:cNvPr id="4" name="Text Placeholder 3">
            <a:extLst>
              <a:ext uri="{FF2B5EF4-FFF2-40B4-BE49-F238E27FC236}">
                <a16:creationId xmlns:a16="http://schemas.microsoft.com/office/drawing/2014/main" xmlns="" id="{2C3E2984-C5DB-FB48-962F-750D41E7F706}"/>
              </a:ext>
            </a:extLst>
          </p:cNvPr>
          <p:cNvSpPr>
            <a:spLocks noGrp="1"/>
          </p:cNvSpPr>
          <p:nvPr>
            <p:ph type="body" idx="1"/>
          </p:nvPr>
        </p:nvSpPr>
        <p:spPr>
          <a:xfrm>
            <a:off x="838200" y="1535113"/>
            <a:ext cx="3659188" cy="639762"/>
          </a:xfrm>
        </p:spPr>
        <p:txBody>
          <a:bodyPr/>
          <a:lstStyle/>
          <a:p>
            <a:r>
              <a:rPr lang="en-US" dirty="0"/>
              <a:t>BJT</a:t>
            </a:r>
          </a:p>
        </p:txBody>
      </p:sp>
      <p:sp>
        <p:nvSpPr>
          <p:cNvPr id="5" name="Text Placeholder 4">
            <a:extLst>
              <a:ext uri="{FF2B5EF4-FFF2-40B4-BE49-F238E27FC236}">
                <a16:creationId xmlns:a16="http://schemas.microsoft.com/office/drawing/2014/main" xmlns="" id="{743FDF8B-FC38-EF40-96DC-7BF06CCB0F30}"/>
              </a:ext>
            </a:extLst>
          </p:cNvPr>
          <p:cNvSpPr>
            <a:spLocks noGrp="1"/>
          </p:cNvSpPr>
          <p:nvPr>
            <p:ph type="body" sz="half" idx="3"/>
          </p:nvPr>
        </p:nvSpPr>
        <p:spPr>
          <a:xfrm>
            <a:off x="5029200" y="1535113"/>
            <a:ext cx="3657600" cy="639762"/>
          </a:xfrm>
        </p:spPr>
        <p:txBody>
          <a:bodyPr/>
          <a:lstStyle/>
          <a:p>
            <a:r>
              <a:rPr lang="en-US" dirty="0"/>
              <a:t>FET</a:t>
            </a:r>
          </a:p>
        </p:txBody>
      </p:sp>
      <p:sp>
        <p:nvSpPr>
          <p:cNvPr id="3" name="Content Placeholder 2">
            <a:extLst>
              <a:ext uri="{FF2B5EF4-FFF2-40B4-BE49-F238E27FC236}">
                <a16:creationId xmlns:a16="http://schemas.microsoft.com/office/drawing/2014/main" xmlns="" id="{8DE7D7BA-2E47-7744-BCD7-ECAE82931EB0}"/>
              </a:ext>
            </a:extLst>
          </p:cNvPr>
          <p:cNvSpPr>
            <a:spLocks noGrp="1"/>
          </p:cNvSpPr>
          <p:nvPr>
            <p:ph sz="quarter" idx="2"/>
          </p:nvPr>
        </p:nvSpPr>
        <p:spPr>
          <a:solidFill>
            <a:schemeClr val="accent5">
              <a:lumMod val="20000"/>
              <a:lumOff val="80000"/>
            </a:schemeClr>
          </a:solidFill>
        </p:spPr>
        <p:txBody>
          <a:bodyPr/>
          <a:lstStyle/>
          <a:p>
            <a:r>
              <a:rPr lang="en-US" dirty="0"/>
              <a:t> Three terminal semiconductor device.</a:t>
            </a:r>
          </a:p>
          <a:p>
            <a:r>
              <a:rPr lang="en-US" dirty="0"/>
              <a:t>Emitter, base, collector</a:t>
            </a:r>
          </a:p>
          <a:p>
            <a:r>
              <a:rPr lang="en-US" dirty="0"/>
              <a:t>Current controlled device</a:t>
            </a:r>
          </a:p>
          <a:p>
            <a:r>
              <a:rPr lang="en-US" dirty="0"/>
              <a:t>Bipolar device</a:t>
            </a:r>
          </a:p>
          <a:p>
            <a:r>
              <a:rPr lang="en-US" dirty="0"/>
              <a:t>Two types- </a:t>
            </a:r>
            <a:r>
              <a:rPr lang="en-US" dirty="0" err="1"/>
              <a:t>npn</a:t>
            </a:r>
            <a:r>
              <a:rPr lang="en-US" dirty="0"/>
              <a:t> &amp; </a:t>
            </a:r>
            <a:r>
              <a:rPr lang="en-US" dirty="0" err="1"/>
              <a:t>pnp</a:t>
            </a:r>
            <a:endParaRPr lang="en-US" dirty="0"/>
          </a:p>
        </p:txBody>
      </p:sp>
      <p:sp>
        <p:nvSpPr>
          <p:cNvPr id="6" name="Content Placeholder 5">
            <a:extLst>
              <a:ext uri="{FF2B5EF4-FFF2-40B4-BE49-F238E27FC236}">
                <a16:creationId xmlns:a16="http://schemas.microsoft.com/office/drawing/2014/main" xmlns="" id="{86138964-6CEE-2E41-84C4-41BD6DB2BEAE}"/>
              </a:ext>
            </a:extLst>
          </p:cNvPr>
          <p:cNvSpPr>
            <a:spLocks noGrp="1"/>
          </p:cNvSpPr>
          <p:nvPr>
            <p:ph sz="quarter" idx="4"/>
          </p:nvPr>
        </p:nvSpPr>
        <p:spPr>
          <a:solidFill>
            <a:schemeClr val="accent5">
              <a:lumMod val="20000"/>
              <a:lumOff val="80000"/>
            </a:schemeClr>
          </a:solidFill>
        </p:spPr>
        <p:txBody>
          <a:bodyPr/>
          <a:lstStyle/>
          <a:p>
            <a:r>
              <a:rPr lang="en-US" dirty="0"/>
              <a:t>Three terminal semiconductor device</a:t>
            </a:r>
          </a:p>
          <a:p>
            <a:r>
              <a:rPr lang="en-US" dirty="0"/>
              <a:t>Source, gate</a:t>
            </a:r>
            <a:r>
              <a:rPr lang="en-US" dirty="0" smtClean="0"/>
              <a:t>, drain</a:t>
            </a:r>
            <a:endParaRPr lang="en-US" dirty="0"/>
          </a:p>
          <a:p>
            <a:r>
              <a:rPr lang="en-US" dirty="0"/>
              <a:t>Voltage controlled device</a:t>
            </a:r>
          </a:p>
          <a:p>
            <a:r>
              <a:rPr lang="en-US" dirty="0"/>
              <a:t>Unipolar device</a:t>
            </a:r>
          </a:p>
          <a:p>
            <a:r>
              <a:rPr lang="en-US" dirty="0"/>
              <a:t>Two types – JFET &amp; MOS FET</a:t>
            </a:r>
          </a:p>
          <a:p>
            <a:endParaRPr lang="en-US" dirty="0"/>
          </a:p>
        </p:txBody>
      </p:sp>
    </p:spTree>
    <p:extLst>
      <p:ext uri="{BB962C8B-B14F-4D97-AF65-F5344CB8AC3E}">
        <p14:creationId xmlns:p14="http://schemas.microsoft.com/office/powerpoint/2010/main" val="1658306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8" name="Picture 3" descr="&#10;FETsym.JPG                                                     000001C5Zip 100                        AB89E6C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0225" y="1239838"/>
            <a:ext cx="1016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9" name="Picture 4" descr="&#10;BJTsym.JPG                                                     000001C5Zip 100                        AB89E6C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9988" y="1316038"/>
            <a:ext cx="558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0" name="Text Box 5"/>
          <p:cNvSpPr txBox="1">
            <a:spLocks noChangeArrowheads="1"/>
          </p:cNvSpPr>
          <p:nvPr/>
        </p:nvSpPr>
        <p:spPr bwMode="auto">
          <a:xfrm>
            <a:off x="1266825" y="1544638"/>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4" tIns="45717" rIns="91434" bIns="45717">
            <a:spAutoFit/>
          </a:bodyPr>
          <a:lstStyle>
            <a:lvl1pPr eaLnBrk="0" hangingPunct="0">
              <a:defRPr sz="2800">
                <a:solidFill>
                  <a:schemeClr val="tx1"/>
                </a:solidFill>
                <a:latin typeface="Times New Roman" charset="0"/>
              </a:defRPr>
            </a:lvl1pPr>
            <a:lvl2pPr marL="742950" indent="-285750" eaLnBrk="0" hangingPunct="0">
              <a:defRPr sz="2800">
                <a:solidFill>
                  <a:schemeClr val="tx1"/>
                </a:solidFill>
                <a:latin typeface="Times New Roman" charset="0"/>
              </a:defRPr>
            </a:lvl2pPr>
            <a:lvl3pPr marL="1143000" indent="-228600" eaLnBrk="0" hangingPunct="0">
              <a:defRPr sz="2800">
                <a:solidFill>
                  <a:schemeClr val="tx1"/>
                </a:solidFill>
                <a:latin typeface="Times New Roman" charset="0"/>
              </a:defRPr>
            </a:lvl3pPr>
            <a:lvl4pPr marL="1600200" indent="-228600" eaLnBrk="0" hangingPunct="0">
              <a:defRPr sz="2800">
                <a:solidFill>
                  <a:schemeClr val="tx1"/>
                </a:solidFill>
                <a:latin typeface="Times New Roman" charset="0"/>
              </a:defRPr>
            </a:lvl4pPr>
            <a:lvl5pPr marL="2057400" indent="-228600" eaLnBrk="0" hangingPunct="0">
              <a:defRPr sz="2800">
                <a:solidFill>
                  <a:schemeClr val="tx1"/>
                </a:solidFill>
                <a:latin typeface="Times New Roman" charset="0"/>
              </a:defRPr>
            </a:lvl5pPr>
            <a:lvl6pPr marL="2514600" indent="-228600" eaLnBrk="0" fontAlgn="base" hangingPunct="0">
              <a:spcBef>
                <a:spcPct val="0"/>
              </a:spcBef>
              <a:spcAft>
                <a:spcPct val="0"/>
              </a:spcAft>
              <a:defRPr sz="2800">
                <a:solidFill>
                  <a:schemeClr val="tx1"/>
                </a:solidFill>
                <a:latin typeface="Times New Roman" charset="0"/>
              </a:defRPr>
            </a:lvl6pPr>
            <a:lvl7pPr marL="2971800" indent="-228600" eaLnBrk="0" fontAlgn="base" hangingPunct="0">
              <a:spcBef>
                <a:spcPct val="0"/>
              </a:spcBef>
              <a:spcAft>
                <a:spcPct val="0"/>
              </a:spcAft>
              <a:defRPr sz="2800">
                <a:solidFill>
                  <a:schemeClr val="tx1"/>
                </a:solidFill>
                <a:latin typeface="Times New Roman" charset="0"/>
              </a:defRPr>
            </a:lvl7pPr>
            <a:lvl8pPr marL="3429000" indent="-228600" eaLnBrk="0" fontAlgn="base" hangingPunct="0">
              <a:spcBef>
                <a:spcPct val="0"/>
              </a:spcBef>
              <a:spcAft>
                <a:spcPct val="0"/>
              </a:spcAft>
              <a:defRPr sz="2800">
                <a:solidFill>
                  <a:schemeClr val="tx1"/>
                </a:solidFill>
                <a:latin typeface="Times New Roman" charset="0"/>
              </a:defRPr>
            </a:lvl8pPr>
            <a:lvl9pPr marL="3886200" indent="-228600" eaLnBrk="0" fontAlgn="base" hangingPunct="0">
              <a:spcBef>
                <a:spcPct val="0"/>
              </a:spcBef>
              <a:spcAft>
                <a:spcPct val="0"/>
              </a:spcAft>
              <a:defRPr sz="2800">
                <a:solidFill>
                  <a:schemeClr val="tx1"/>
                </a:solidFill>
                <a:latin typeface="Times New Roman" charset="0"/>
              </a:defRPr>
            </a:lvl9pPr>
          </a:lstStyle>
          <a:p>
            <a:r>
              <a:rPr lang="en-US" sz="2400">
                <a:latin typeface="Times" charset="0"/>
              </a:rPr>
              <a:t>Gate</a:t>
            </a:r>
          </a:p>
        </p:txBody>
      </p:sp>
      <p:sp>
        <p:nvSpPr>
          <p:cNvPr id="36871" name="Text Box 6"/>
          <p:cNvSpPr txBox="1">
            <a:spLocks noChangeArrowheads="1"/>
          </p:cNvSpPr>
          <p:nvPr/>
        </p:nvSpPr>
        <p:spPr bwMode="auto">
          <a:xfrm>
            <a:off x="2638425" y="858838"/>
            <a:ext cx="877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4" tIns="45717" rIns="91434" bIns="45717">
            <a:spAutoFit/>
          </a:bodyPr>
          <a:lstStyle>
            <a:lvl1pPr eaLnBrk="0" hangingPunct="0">
              <a:defRPr sz="2800">
                <a:solidFill>
                  <a:schemeClr val="tx1"/>
                </a:solidFill>
                <a:latin typeface="Times New Roman" charset="0"/>
              </a:defRPr>
            </a:lvl1pPr>
            <a:lvl2pPr marL="742950" indent="-285750" eaLnBrk="0" hangingPunct="0">
              <a:defRPr sz="2800">
                <a:solidFill>
                  <a:schemeClr val="tx1"/>
                </a:solidFill>
                <a:latin typeface="Times New Roman" charset="0"/>
              </a:defRPr>
            </a:lvl2pPr>
            <a:lvl3pPr marL="1143000" indent="-228600" eaLnBrk="0" hangingPunct="0">
              <a:defRPr sz="2800">
                <a:solidFill>
                  <a:schemeClr val="tx1"/>
                </a:solidFill>
                <a:latin typeface="Times New Roman" charset="0"/>
              </a:defRPr>
            </a:lvl3pPr>
            <a:lvl4pPr marL="1600200" indent="-228600" eaLnBrk="0" hangingPunct="0">
              <a:defRPr sz="2800">
                <a:solidFill>
                  <a:schemeClr val="tx1"/>
                </a:solidFill>
                <a:latin typeface="Times New Roman" charset="0"/>
              </a:defRPr>
            </a:lvl4pPr>
            <a:lvl5pPr marL="2057400" indent="-228600" eaLnBrk="0" hangingPunct="0">
              <a:defRPr sz="2800">
                <a:solidFill>
                  <a:schemeClr val="tx1"/>
                </a:solidFill>
                <a:latin typeface="Times New Roman" charset="0"/>
              </a:defRPr>
            </a:lvl5pPr>
            <a:lvl6pPr marL="2514600" indent="-228600" eaLnBrk="0" fontAlgn="base" hangingPunct="0">
              <a:spcBef>
                <a:spcPct val="0"/>
              </a:spcBef>
              <a:spcAft>
                <a:spcPct val="0"/>
              </a:spcAft>
              <a:defRPr sz="2800">
                <a:solidFill>
                  <a:schemeClr val="tx1"/>
                </a:solidFill>
                <a:latin typeface="Times New Roman" charset="0"/>
              </a:defRPr>
            </a:lvl6pPr>
            <a:lvl7pPr marL="2971800" indent="-228600" eaLnBrk="0" fontAlgn="base" hangingPunct="0">
              <a:spcBef>
                <a:spcPct val="0"/>
              </a:spcBef>
              <a:spcAft>
                <a:spcPct val="0"/>
              </a:spcAft>
              <a:defRPr sz="2800">
                <a:solidFill>
                  <a:schemeClr val="tx1"/>
                </a:solidFill>
                <a:latin typeface="Times New Roman" charset="0"/>
              </a:defRPr>
            </a:lvl7pPr>
            <a:lvl8pPr marL="3429000" indent="-228600" eaLnBrk="0" fontAlgn="base" hangingPunct="0">
              <a:spcBef>
                <a:spcPct val="0"/>
              </a:spcBef>
              <a:spcAft>
                <a:spcPct val="0"/>
              </a:spcAft>
              <a:defRPr sz="2800">
                <a:solidFill>
                  <a:schemeClr val="tx1"/>
                </a:solidFill>
                <a:latin typeface="Times New Roman" charset="0"/>
              </a:defRPr>
            </a:lvl8pPr>
            <a:lvl9pPr marL="3886200" indent="-228600" eaLnBrk="0" fontAlgn="base" hangingPunct="0">
              <a:spcBef>
                <a:spcPct val="0"/>
              </a:spcBef>
              <a:spcAft>
                <a:spcPct val="0"/>
              </a:spcAft>
              <a:defRPr sz="2800">
                <a:solidFill>
                  <a:schemeClr val="tx1"/>
                </a:solidFill>
                <a:latin typeface="Times New Roman" charset="0"/>
              </a:defRPr>
            </a:lvl9pPr>
          </a:lstStyle>
          <a:p>
            <a:r>
              <a:rPr lang="en-US" sz="2400">
                <a:latin typeface="Times" charset="0"/>
              </a:rPr>
              <a:t>Drain</a:t>
            </a:r>
          </a:p>
        </p:txBody>
      </p:sp>
      <p:sp>
        <p:nvSpPr>
          <p:cNvPr id="36872" name="Text Box 7"/>
          <p:cNvSpPr txBox="1">
            <a:spLocks noChangeArrowheads="1"/>
          </p:cNvSpPr>
          <p:nvPr/>
        </p:nvSpPr>
        <p:spPr bwMode="auto">
          <a:xfrm>
            <a:off x="2638425" y="2154238"/>
            <a:ext cx="1030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4" tIns="45717" rIns="91434" bIns="45717">
            <a:spAutoFit/>
          </a:bodyPr>
          <a:lstStyle>
            <a:lvl1pPr eaLnBrk="0" hangingPunct="0">
              <a:defRPr sz="2800">
                <a:solidFill>
                  <a:schemeClr val="tx1"/>
                </a:solidFill>
                <a:latin typeface="Times New Roman" charset="0"/>
              </a:defRPr>
            </a:lvl1pPr>
            <a:lvl2pPr marL="742950" indent="-285750" eaLnBrk="0" hangingPunct="0">
              <a:defRPr sz="2800">
                <a:solidFill>
                  <a:schemeClr val="tx1"/>
                </a:solidFill>
                <a:latin typeface="Times New Roman" charset="0"/>
              </a:defRPr>
            </a:lvl2pPr>
            <a:lvl3pPr marL="1143000" indent="-228600" eaLnBrk="0" hangingPunct="0">
              <a:defRPr sz="2800">
                <a:solidFill>
                  <a:schemeClr val="tx1"/>
                </a:solidFill>
                <a:latin typeface="Times New Roman" charset="0"/>
              </a:defRPr>
            </a:lvl3pPr>
            <a:lvl4pPr marL="1600200" indent="-228600" eaLnBrk="0" hangingPunct="0">
              <a:defRPr sz="2800">
                <a:solidFill>
                  <a:schemeClr val="tx1"/>
                </a:solidFill>
                <a:latin typeface="Times New Roman" charset="0"/>
              </a:defRPr>
            </a:lvl4pPr>
            <a:lvl5pPr marL="2057400" indent="-228600" eaLnBrk="0" hangingPunct="0">
              <a:defRPr sz="2800">
                <a:solidFill>
                  <a:schemeClr val="tx1"/>
                </a:solidFill>
                <a:latin typeface="Times New Roman" charset="0"/>
              </a:defRPr>
            </a:lvl5pPr>
            <a:lvl6pPr marL="2514600" indent="-228600" eaLnBrk="0" fontAlgn="base" hangingPunct="0">
              <a:spcBef>
                <a:spcPct val="0"/>
              </a:spcBef>
              <a:spcAft>
                <a:spcPct val="0"/>
              </a:spcAft>
              <a:defRPr sz="2800">
                <a:solidFill>
                  <a:schemeClr val="tx1"/>
                </a:solidFill>
                <a:latin typeface="Times New Roman" charset="0"/>
              </a:defRPr>
            </a:lvl6pPr>
            <a:lvl7pPr marL="2971800" indent="-228600" eaLnBrk="0" fontAlgn="base" hangingPunct="0">
              <a:spcBef>
                <a:spcPct val="0"/>
              </a:spcBef>
              <a:spcAft>
                <a:spcPct val="0"/>
              </a:spcAft>
              <a:defRPr sz="2800">
                <a:solidFill>
                  <a:schemeClr val="tx1"/>
                </a:solidFill>
                <a:latin typeface="Times New Roman" charset="0"/>
              </a:defRPr>
            </a:lvl7pPr>
            <a:lvl8pPr marL="3429000" indent="-228600" eaLnBrk="0" fontAlgn="base" hangingPunct="0">
              <a:spcBef>
                <a:spcPct val="0"/>
              </a:spcBef>
              <a:spcAft>
                <a:spcPct val="0"/>
              </a:spcAft>
              <a:defRPr sz="2800">
                <a:solidFill>
                  <a:schemeClr val="tx1"/>
                </a:solidFill>
                <a:latin typeface="Times New Roman" charset="0"/>
              </a:defRPr>
            </a:lvl8pPr>
            <a:lvl9pPr marL="3886200" indent="-228600" eaLnBrk="0" fontAlgn="base" hangingPunct="0">
              <a:spcBef>
                <a:spcPct val="0"/>
              </a:spcBef>
              <a:spcAft>
                <a:spcPct val="0"/>
              </a:spcAft>
              <a:defRPr sz="2800">
                <a:solidFill>
                  <a:schemeClr val="tx1"/>
                </a:solidFill>
                <a:latin typeface="Times New Roman" charset="0"/>
              </a:defRPr>
            </a:lvl9pPr>
          </a:lstStyle>
          <a:p>
            <a:r>
              <a:rPr lang="en-US" sz="2400">
                <a:latin typeface="Times" charset="0"/>
              </a:rPr>
              <a:t>Source</a:t>
            </a:r>
          </a:p>
        </p:txBody>
      </p:sp>
      <p:sp>
        <p:nvSpPr>
          <p:cNvPr id="36873" name="Text Box 8"/>
          <p:cNvSpPr txBox="1">
            <a:spLocks noChangeArrowheads="1"/>
          </p:cNvSpPr>
          <p:nvPr/>
        </p:nvSpPr>
        <p:spPr bwMode="auto">
          <a:xfrm>
            <a:off x="5487988" y="1620838"/>
            <a:ext cx="776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4" tIns="45717" rIns="91434" bIns="45717">
            <a:spAutoFit/>
          </a:bodyPr>
          <a:lstStyle>
            <a:lvl1pPr eaLnBrk="0" hangingPunct="0">
              <a:defRPr sz="2800">
                <a:solidFill>
                  <a:schemeClr val="tx1"/>
                </a:solidFill>
                <a:latin typeface="Times New Roman" charset="0"/>
              </a:defRPr>
            </a:lvl1pPr>
            <a:lvl2pPr marL="742950" indent="-285750" eaLnBrk="0" hangingPunct="0">
              <a:defRPr sz="2800">
                <a:solidFill>
                  <a:schemeClr val="tx1"/>
                </a:solidFill>
                <a:latin typeface="Times New Roman" charset="0"/>
              </a:defRPr>
            </a:lvl2pPr>
            <a:lvl3pPr marL="1143000" indent="-228600" eaLnBrk="0" hangingPunct="0">
              <a:defRPr sz="2800">
                <a:solidFill>
                  <a:schemeClr val="tx1"/>
                </a:solidFill>
                <a:latin typeface="Times New Roman" charset="0"/>
              </a:defRPr>
            </a:lvl3pPr>
            <a:lvl4pPr marL="1600200" indent="-228600" eaLnBrk="0" hangingPunct="0">
              <a:defRPr sz="2800">
                <a:solidFill>
                  <a:schemeClr val="tx1"/>
                </a:solidFill>
                <a:latin typeface="Times New Roman" charset="0"/>
              </a:defRPr>
            </a:lvl4pPr>
            <a:lvl5pPr marL="2057400" indent="-228600" eaLnBrk="0" hangingPunct="0">
              <a:defRPr sz="2800">
                <a:solidFill>
                  <a:schemeClr val="tx1"/>
                </a:solidFill>
                <a:latin typeface="Times New Roman" charset="0"/>
              </a:defRPr>
            </a:lvl5pPr>
            <a:lvl6pPr marL="2514600" indent="-228600" eaLnBrk="0" fontAlgn="base" hangingPunct="0">
              <a:spcBef>
                <a:spcPct val="0"/>
              </a:spcBef>
              <a:spcAft>
                <a:spcPct val="0"/>
              </a:spcAft>
              <a:defRPr sz="2800">
                <a:solidFill>
                  <a:schemeClr val="tx1"/>
                </a:solidFill>
                <a:latin typeface="Times New Roman" charset="0"/>
              </a:defRPr>
            </a:lvl6pPr>
            <a:lvl7pPr marL="2971800" indent="-228600" eaLnBrk="0" fontAlgn="base" hangingPunct="0">
              <a:spcBef>
                <a:spcPct val="0"/>
              </a:spcBef>
              <a:spcAft>
                <a:spcPct val="0"/>
              </a:spcAft>
              <a:defRPr sz="2800">
                <a:solidFill>
                  <a:schemeClr val="tx1"/>
                </a:solidFill>
                <a:latin typeface="Times New Roman" charset="0"/>
              </a:defRPr>
            </a:lvl7pPr>
            <a:lvl8pPr marL="3429000" indent="-228600" eaLnBrk="0" fontAlgn="base" hangingPunct="0">
              <a:spcBef>
                <a:spcPct val="0"/>
              </a:spcBef>
              <a:spcAft>
                <a:spcPct val="0"/>
              </a:spcAft>
              <a:defRPr sz="2800">
                <a:solidFill>
                  <a:schemeClr val="tx1"/>
                </a:solidFill>
                <a:latin typeface="Times New Roman" charset="0"/>
              </a:defRPr>
            </a:lvl8pPr>
            <a:lvl9pPr marL="3886200" indent="-228600" eaLnBrk="0" fontAlgn="base" hangingPunct="0">
              <a:spcBef>
                <a:spcPct val="0"/>
              </a:spcBef>
              <a:spcAft>
                <a:spcPct val="0"/>
              </a:spcAft>
              <a:defRPr sz="2800">
                <a:solidFill>
                  <a:schemeClr val="tx1"/>
                </a:solidFill>
                <a:latin typeface="Times New Roman" charset="0"/>
              </a:defRPr>
            </a:lvl9pPr>
          </a:lstStyle>
          <a:p>
            <a:r>
              <a:rPr lang="en-US" sz="2400">
                <a:latin typeface="Times" charset="0"/>
              </a:rPr>
              <a:t>Base</a:t>
            </a:r>
          </a:p>
        </p:txBody>
      </p:sp>
      <p:sp>
        <p:nvSpPr>
          <p:cNvPr id="36874" name="Text Box 9"/>
          <p:cNvSpPr txBox="1">
            <a:spLocks noChangeArrowheads="1"/>
          </p:cNvSpPr>
          <p:nvPr/>
        </p:nvSpPr>
        <p:spPr bwMode="auto">
          <a:xfrm>
            <a:off x="6249988" y="935038"/>
            <a:ext cx="1316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4" tIns="45717" rIns="91434" bIns="45717">
            <a:spAutoFit/>
          </a:bodyPr>
          <a:lstStyle>
            <a:lvl1pPr eaLnBrk="0" hangingPunct="0">
              <a:defRPr sz="2800">
                <a:solidFill>
                  <a:schemeClr val="tx1"/>
                </a:solidFill>
                <a:latin typeface="Times New Roman" charset="0"/>
              </a:defRPr>
            </a:lvl1pPr>
            <a:lvl2pPr marL="742950" indent="-285750" eaLnBrk="0" hangingPunct="0">
              <a:defRPr sz="2800">
                <a:solidFill>
                  <a:schemeClr val="tx1"/>
                </a:solidFill>
                <a:latin typeface="Times New Roman" charset="0"/>
              </a:defRPr>
            </a:lvl2pPr>
            <a:lvl3pPr marL="1143000" indent="-228600" eaLnBrk="0" hangingPunct="0">
              <a:defRPr sz="2800">
                <a:solidFill>
                  <a:schemeClr val="tx1"/>
                </a:solidFill>
                <a:latin typeface="Times New Roman" charset="0"/>
              </a:defRPr>
            </a:lvl3pPr>
            <a:lvl4pPr marL="1600200" indent="-228600" eaLnBrk="0" hangingPunct="0">
              <a:defRPr sz="2800">
                <a:solidFill>
                  <a:schemeClr val="tx1"/>
                </a:solidFill>
                <a:latin typeface="Times New Roman" charset="0"/>
              </a:defRPr>
            </a:lvl4pPr>
            <a:lvl5pPr marL="2057400" indent="-228600" eaLnBrk="0" hangingPunct="0">
              <a:defRPr sz="2800">
                <a:solidFill>
                  <a:schemeClr val="tx1"/>
                </a:solidFill>
                <a:latin typeface="Times New Roman" charset="0"/>
              </a:defRPr>
            </a:lvl5pPr>
            <a:lvl6pPr marL="2514600" indent="-228600" eaLnBrk="0" fontAlgn="base" hangingPunct="0">
              <a:spcBef>
                <a:spcPct val="0"/>
              </a:spcBef>
              <a:spcAft>
                <a:spcPct val="0"/>
              </a:spcAft>
              <a:defRPr sz="2800">
                <a:solidFill>
                  <a:schemeClr val="tx1"/>
                </a:solidFill>
                <a:latin typeface="Times New Roman" charset="0"/>
              </a:defRPr>
            </a:lvl6pPr>
            <a:lvl7pPr marL="2971800" indent="-228600" eaLnBrk="0" fontAlgn="base" hangingPunct="0">
              <a:spcBef>
                <a:spcPct val="0"/>
              </a:spcBef>
              <a:spcAft>
                <a:spcPct val="0"/>
              </a:spcAft>
              <a:defRPr sz="2800">
                <a:solidFill>
                  <a:schemeClr val="tx1"/>
                </a:solidFill>
                <a:latin typeface="Times New Roman" charset="0"/>
              </a:defRPr>
            </a:lvl7pPr>
            <a:lvl8pPr marL="3429000" indent="-228600" eaLnBrk="0" fontAlgn="base" hangingPunct="0">
              <a:spcBef>
                <a:spcPct val="0"/>
              </a:spcBef>
              <a:spcAft>
                <a:spcPct val="0"/>
              </a:spcAft>
              <a:defRPr sz="2800">
                <a:solidFill>
                  <a:schemeClr val="tx1"/>
                </a:solidFill>
                <a:latin typeface="Times New Roman" charset="0"/>
              </a:defRPr>
            </a:lvl8pPr>
            <a:lvl9pPr marL="3886200" indent="-228600" eaLnBrk="0" fontAlgn="base" hangingPunct="0">
              <a:spcBef>
                <a:spcPct val="0"/>
              </a:spcBef>
              <a:spcAft>
                <a:spcPct val="0"/>
              </a:spcAft>
              <a:defRPr sz="2800">
                <a:solidFill>
                  <a:schemeClr val="tx1"/>
                </a:solidFill>
                <a:latin typeface="Times New Roman" charset="0"/>
              </a:defRPr>
            </a:lvl9pPr>
          </a:lstStyle>
          <a:p>
            <a:r>
              <a:rPr lang="en-US" sz="2400">
                <a:latin typeface="Times" charset="0"/>
              </a:rPr>
              <a:t>Collector</a:t>
            </a:r>
          </a:p>
        </p:txBody>
      </p:sp>
      <p:sp>
        <p:nvSpPr>
          <p:cNvPr id="36875" name="Text Box 10"/>
          <p:cNvSpPr txBox="1">
            <a:spLocks noChangeArrowheads="1"/>
          </p:cNvSpPr>
          <p:nvPr/>
        </p:nvSpPr>
        <p:spPr bwMode="auto">
          <a:xfrm>
            <a:off x="6173788" y="2230438"/>
            <a:ext cx="1095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4" tIns="45717" rIns="91434" bIns="45717">
            <a:spAutoFit/>
          </a:bodyPr>
          <a:lstStyle>
            <a:lvl1pPr eaLnBrk="0" hangingPunct="0">
              <a:defRPr sz="2800">
                <a:solidFill>
                  <a:schemeClr val="tx1"/>
                </a:solidFill>
                <a:latin typeface="Times New Roman" charset="0"/>
              </a:defRPr>
            </a:lvl1pPr>
            <a:lvl2pPr marL="742950" indent="-285750" eaLnBrk="0" hangingPunct="0">
              <a:defRPr sz="2800">
                <a:solidFill>
                  <a:schemeClr val="tx1"/>
                </a:solidFill>
                <a:latin typeface="Times New Roman" charset="0"/>
              </a:defRPr>
            </a:lvl2pPr>
            <a:lvl3pPr marL="1143000" indent="-228600" eaLnBrk="0" hangingPunct="0">
              <a:defRPr sz="2800">
                <a:solidFill>
                  <a:schemeClr val="tx1"/>
                </a:solidFill>
                <a:latin typeface="Times New Roman" charset="0"/>
              </a:defRPr>
            </a:lvl3pPr>
            <a:lvl4pPr marL="1600200" indent="-228600" eaLnBrk="0" hangingPunct="0">
              <a:defRPr sz="2800">
                <a:solidFill>
                  <a:schemeClr val="tx1"/>
                </a:solidFill>
                <a:latin typeface="Times New Roman" charset="0"/>
              </a:defRPr>
            </a:lvl4pPr>
            <a:lvl5pPr marL="2057400" indent="-228600" eaLnBrk="0" hangingPunct="0">
              <a:defRPr sz="2800">
                <a:solidFill>
                  <a:schemeClr val="tx1"/>
                </a:solidFill>
                <a:latin typeface="Times New Roman" charset="0"/>
              </a:defRPr>
            </a:lvl5pPr>
            <a:lvl6pPr marL="2514600" indent="-228600" eaLnBrk="0" fontAlgn="base" hangingPunct="0">
              <a:spcBef>
                <a:spcPct val="0"/>
              </a:spcBef>
              <a:spcAft>
                <a:spcPct val="0"/>
              </a:spcAft>
              <a:defRPr sz="2800">
                <a:solidFill>
                  <a:schemeClr val="tx1"/>
                </a:solidFill>
                <a:latin typeface="Times New Roman" charset="0"/>
              </a:defRPr>
            </a:lvl6pPr>
            <a:lvl7pPr marL="2971800" indent="-228600" eaLnBrk="0" fontAlgn="base" hangingPunct="0">
              <a:spcBef>
                <a:spcPct val="0"/>
              </a:spcBef>
              <a:spcAft>
                <a:spcPct val="0"/>
              </a:spcAft>
              <a:defRPr sz="2800">
                <a:solidFill>
                  <a:schemeClr val="tx1"/>
                </a:solidFill>
                <a:latin typeface="Times New Roman" charset="0"/>
              </a:defRPr>
            </a:lvl7pPr>
            <a:lvl8pPr marL="3429000" indent="-228600" eaLnBrk="0" fontAlgn="base" hangingPunct="0">
              <a:spcBef>
                <a:spcPct val="0"/>
              </a:spcBef>
              <a:spcAft>
                <a:spcPct val="0"/>
              </a:spcAft>
              <a:defRPr sz="2800">
                <a:solidFill>
                  <a:schemeClr val="tx1"/>
                </a:solidFill>
                <a:latin typeface="Times New Roman" charset="0"/>
              </a:defRPr>
            </a:lvl8pPr>
            <a:lvl9pPr marL="3886200" indent="-228600" eaLnBrk="0" fontAlgn="base" hangingPunct="0">
              <a:spcBef>
                <a:spcPct val="0"/>
              </a:spcBef>
              <a:spcAft>
                <a:spcPct val="0"/>
              </a:spcAft>
              <a:defRPr sz="2800">
                <a:solidFill>
                  <a:schemeClr val="tx1"/>
                </a:solidFill>
                <a:latin typeface="Times New Roman" charset="0"/>
              </a:defRPr>
            </a:lvl9pPr>
          </a:lstStyle>
          <a:p>
            <a:r>
              <a:rPr lang="en-US" sz="2400">
                <a:latin typeface="Times" charset="0"/>
              </a:rPr>
              <a:t>Emitter</a:t>
            </a:r>
          </a:p>
        </p:txBody>
      </p:sp>
      <p:sp>
        <p:nvSpPr>
          <p:cNvPr id="36876" name="Text Box 12"/>
          <p:cNvSpPr txBox="1">
            <a:spLocks noChangeArrowheads="1"/>
          </p:cNvSpPr>
          <p:nvPr/>
        </p:nvSpPr>
        <p:spPr bwMode="auto">
          <a:xfrm>
            <a:off x="838200" y="2641600"/>
            <a:ext cx="3303588" cy="3378200"/>
          </a:xfrm>
          <a:prstGeom prst="rect">
            <a:avLst/>
          </a:prstGeom>
          <a:solidFill>
            <a:schemeClr val="accent5">
              <a:lumMod val="20000"/>
              <a:lumOff val="80000"/>
            </a:schemeClr>
          </a:solidFill>
          <a:ln>
            <a:noFill/>
          </a:ln>
        </p:spPr>
        <p:txBody>
          <a:bodyPr lIns="91434" tIns="45717" rIns="91434" bIns="45717">
            <a:spAutoFit/>
          </a:bodyPr>
          <a:lstStyle>
            <a:lvl1pPr marL="381000" indent="-381000" eaLnBrk="0" hangingPunct="0">
              <a:defRPr sz="2800">
                <a:solidFill>
                  <a:schemeClr val="tx1"/>
                </a:solidFill>
                <a:latin typeface="Times New Roman" charset="0"/>
              </a:defRPr>
            </a:lvl1pPr>
            <a:lvl2pPr marL="742950" indent="-285750" eaLnBrk="0" hangingPunct="0">
              <a:defRPr sz="2800">
                <a:solidFill>
                  <a:schemeClr val="tx1"/>
                </a:solidFill>
                <a:latin typeface="Times New Roman" charset="0"/>
              </a:defRPr>
            </a:lvl2pPr>
            <a:lvl3pPr marL="1143000" indent="-228600" eaLnBrk="0" hangingPunct="0">
              <a:defRPr sz="2800">
                <a:solidFill>
                  <a:schemeClr val="tx1"/>
                </a:solidFill>
                <a:latin typeface="Times New Roman" charset="0"/>
              </a:defRPr>
            </a:lvl3pPr>
            <a:lvl4pPr marL="1600200" indent="-228600" eaLnBrk="0" hangingPunct="0">
              <a:defRPr sz="2800">
                <a:solidFill>
                  <a:schemeClr val="tx1"/>
                </a:solidFill>
                <a:latin typeface="Times New Roman" charset="0"/>
              </a:defRPr>
            </a:lvl4pPr>
            <a:lvl5pPr marL="2057400" indent="-228600" eaLnBrk="0" hangingPunct="0">
              <a:defRPr sz="2800">
                <a:solidFill>
                  <a:schemeClr val="tx1"/>
                </a:solidFill>
                <a:latin typeface="Times New Roman" charset="0"/>
              </a:defRPr>
            </a:lvl5pPr>
            <a:lvl6pPr marL="2514600" indent="-228600" eaLnBrk="0" fontAlgn="base" hangingPunct="0">
              <a:spcBef>
                <a:spcPct val="0"/>
              </a:spcBef>
              <a:spcAft>
                <a:spcPct val="0"/>
              </a:spcAft>
              <a:defRPr sz="2800">
                <a:solidFill>
                  <a:schemeClr val="tx1"/>
                </a:solidFill>
                <a:latin typeface="Times New Roman" charset="0"/>
              </a:defRPr>
            </a:lvl6pPr>
            <a:lvl7pPr marL="2971800" indent="-228600" eaLnBrk="0" fontAlgn="base" hangingPunct="0">
              <a:spcBef>
                <a:spcPct val="0"/>
              </a:spcBef>
              <a:spcAft>
                <a:spcPct val="0"/>
              </a:spcAft>
              <a:defRPr sz="2800">
                <a:solidFill>
                  <a:schemeClr val="tx1"/>
                </a:solidFill>
                <a:latin typeface="Times New Roman" charset="0"/>
              </a:defRPr>
            </a:lvl7pPr>
            <a:lvl8pPr marL="3429000" indent="-228600" eaLnBrk="0" fontAlgn="base" hangingPunct="0">
              <a:spcBef>
                <a:spcPct val="0"/>
              </a:spcBef>
              <a:spcAft>
                <a:spcPct val="0"/>
              </a:spcAft>
              <a:defRPr sz="2800">
                <a:solidFill>
                  <a:schemeClr val="tx1"/>
                </a:solidFill>
                <a:latin typeface="Times New Roman" charset="0"/>
              </a:defRPr>
            </a:lvl8pPr>
            <a:lvl9pPr marL="3886200" indent="-228600" eaLnBrk="0" fontAlgn="base" hangingPunct="0">
              <a:spcBef>
                <a:spcPct val="0"/>
              </a:spcBef>
              <a:spcAft>
                <a:spcPct val="0"/>
              </a:spcAft>
              <a:defRPr sz="2800">
                <a:solidFill>
                  <a:schemeClr val="tx1"/>
                </a:solidFill>
                <a:latin typeface="Times New Roman" charset="0"/>
              </a:defRPr>
            </a:lvl9pPr>
          </a:lstStyle>
          <a:p>
            <a:pPr algn="ctr"/>
            <a:r>
              <a:rPr lang="en-US" sz="2400" u="sng" dirty="0">
                <a:latin typeface="Times" charset="0"/>
              </a:rPr>
              <a:t>FET</a:t>
            </a:r>
          </a:p>
          <a:p>
            <a:pPr>
              <a:buFont typeface="Wingdings" pitchFamily="2" charset="2"/>
              <a:buChar char="ü"/>
            </a:pPr>
            <a:r>
              <a:rPr lang="en-US" sz="2400" dirty="0">
                <a:latin typeface="Times" charset="0"/>
              </a:rPr>
              <a:t>3 terminal device</a:t>
            </a:r>
          </a:p>
          <a:p>
            <a:pPr>
              <a:buFont typeface="Wingdings" pitchFamily="2" charset="2"/>
              <a:buChar char="ü"/>
            </a:pPr>
            <a:r>
              <a:rPr lang="en-US" sz="2400" dirty="0">
                <a:latin typeface="Times" charset="0"/>
              </a:rPr>
              <a:t>Channel e</a:t>
            </a:r>
            <a:r>
              <a:rPr lang="en-US" sz="2400" baseline="30000" dirty="0">
                <a:latin typeface="Times" charset="0"/>
              </a:rPr>
              <a:t>-</a:t>
            </a:r>
            <a:r>
              <a:rPr lang="en-US" sz="2400" dirty="0">
                <a:latin typeface="Times" charset="0"/>
              </a:rPr>
              <a:t> current from source to drain controlled by the electric field generated by the gate </a:t>
            </a:r>
          </a:p>
          <a:p>
            <a:pPr>
              <a:buFont typeface="Wingdings" pitchFamily="2" charset="2"/>
              <a:buChar char="ü"/>
            </a:pPr>
            <a:r>
              <a:rPr lang="en-US" sz="2400" dirty="0">
                <a:latin typeface="Times" charset="0"/>
              </a:rPr>
              <a:t>Extremely high input impedance for base</a:t>
            </a:r>
            <a:endParaRPr lang="en-US" sz="2400" u="sng" dirty="0">
              <a:latin typeface="Times" charset="0"/>
            </a:endParaRPr>
          </a:p>
        </p:txBody>
      </p:sp>
      <p:sp>
        <p:nvSpPr>
          <p:cNvPr id="36877" name="Text Box 14"/>
          <p:cNvSpPr txBox="1">
            <a:spLocks noChangeArrowheads="1"/>
          </p:cNvSpPr>
          <p:nvPr/>
        </p:nvSpPr>
        <p:spPr bwMode="auto">
          <a:xfrm>
            <a:off x="4876800" y="2730500"/>
            <a:ext cx="3654425" cy="1917700"/>
          </a:xfrm>
          <a:prstGeom prst="rect">
            <a:avLst/>
          </a:prstGeom>
          <a:solidFill>
            <a:schemeClr val="accent5">
              <a:lumMod val="20000"/>
              <a:lumOff val="80000"/>
            </a:schemeClr>
          </a:solidFill>
          <a:ln>
            <a:noFill/>
          </a:ln>
        </p:spPr>
        <p:txBody>
          <a:bodyPr lIns="91434" tIns="45717" rIns="91434" bIns="45717">
            <a:spAutoFit/>
          </a:bodyPr>
          <a:lstStyle>
            <a:lvl1pPr marL="381000" indent="-381000" eaLnBrk="0" hangingPunct="0">
              <a:defRPr sz="2800">
                <a:solidFill>
                  <a:schemeClr val="tx1"/>
                </a:solidFill>
                <a:latin typeface="Times New Roman" charset="0"/>
              </a:defRPr>
            </a:lvl1pPr>
            <a:lvl2pPr marL="742950" indent="-285750" eaLnBrk="0" hangingPunct="0">
              <a:defRPr sz="2800">
                <a:solidFill>
                  <a:schemeClr val="tx1"/>
                </a:solidFill>
                <a:latin typeface="Times New Roman" charset="0"/>
              </a:defRPr>
            </a:lvl2pPr>
            <a:lvl3pPr marL="1143000" indent="-228600" eaLnBrk="0" hangingPunct="0">
              <a:defRPr sz="2800">
                <a:solidFill>
                  <a:schemeClr val="tx1"/>
                </a:solidFill>
                <a:latin typeface="Times New Roman" charset="0"/>
              </a:defRPr>
            </a:lvl3pPr>
            <a:lvl4pPr marL="1600200" indent="-228600" eaLnBrk="0" hangingPunct="0">
              <a:defRPr sz="2800">
                <a:solidFill>
                  <a:schemeClr val="tx1"/>
                </a:solidFill>
                <a:latin typeface="Times New Roman" charset="0"/>
              </a:defRPr>
            </a:lvl4pPr>
            <a:lvl5pPr marL="2057400" indent="-228600" eaLnBrk="0" hangingPunct="0">
              <a:defRPr sz="2800">
                <a:solidFill>
                  <a:schemeClr val="tx1"/>
                </a:solidFill>
                <a:latin typeface="Times New Roman" charset="0"/>
              </a:defRPr>
            </a:lvl5pPr>
            <a:lvl6pPr marL="2514600" indent="-228600" eaLnBrk="0" fontAlgn="base" hangingPunct="0">
              <a:spcBef>
                <a:spcPct val="0"/>
              </a:spcBef>
              <a:spcAft>
                <a:spcPct val="0"/>
              </a:spcAft>
              <a:defRPr sz="2800">
                <a:solidFill>
                  <a:schemeClr val="tx1"/>
                </a:solidFill>
                <a:latin typeface="Times New Roman" charset="0"/>
              </a:defRPr>
            </a:lvl6pPr>
            <a:lvl7pPr marL="2971800" indent="-228600" eaLnBrk="0" fontAlgn="base" hangingPunct="0">
              <a:spcBef>
                <a:spcPct val="0"/>
              </a:spcBef>
              <a:spcAft>
                <a:spcPct val="0"/>
              </a:spcAft>
              <a:defRPr sz="2800">
                <a:solidFill>
                  <a:schemeClr val="tx1"/>
                </a:solidFill>
                <a:latin typeface="Times New Roman" charset="0"/>
              </a:defRPr>
            </a:lvl7pPr>
            <a:lvl8pPr marL="3429000" indent="-228600" eaLnBrk="0" fontAlgn="base" hangingPunct="0">
              <a:spcBef>
                <a:spcPct val="0"/>
              </a:spcBef>
              <a:spcAft>
                <a:spcPct val="0"/>
              </a:spcAft>
              <a:defRPr sz="2800">
                <a:solidFill>
                  <a:schemeClr val="tx1"/>
                </a:solidFill>
                <a:latin typeface="Times New Roman" charset="0"/>
              </a:defRPr>
            </a:lvl8pPr>
            <a:lvl9pPr marL="3886200" indent="-228600" eaLnBrk="0" fontAlgn="base" hangingPunct="0">
              <a:spcBef>
                <a:spcPct val="0"/>
              </a:spcBef>
              <a:spcAft>
                <a:spcPct val="0"/>
              </a:spcAft>
              <a:defRPr sz="2800">
                <a:solidFill>
                  <a:schemeClr val="tx1"/>
                </a:solidFill>
                <a:latin typeface="Times New Roman" charset="0"/>
              </a:defRPr>
            </a:lvl9pPr>
          </a:lstStyle>
          <a:p>
            <a:pPr algn="ctr"/>
            <a:r>
              <a:rPr lang="en-US" sz="2400" u="sng" dirty="0">
                <a:latin typeface="Times" charset="0"/>
              </a:rPr>
              <a:t>BJT</a:t>
            </a:r>
          </a:p>
          <a:p>
            <a:pPr>
              <a:buFont typeface="Wingdings" pitchFamily="2" charset="2"/>
              <a:buChar char="ü"/>
            </a:pPr>
            <a:r>
              <a:rPr lang="en-US" sz="2400" dirty="0">
                <a:latin typeface="Times" charset="0"/>
              </a:rPr>
              <a:t>3 terminal device emitter to collector e</a:t>
            </a:r>
            <a:r>
              <a:rPr lang="en-US" sz="2400" baseline="30000" dirty="0">
                <a:latin typeface="Times" charset="0"/>
              </a:rPr>
              <a:t>- </a:t>
            </a:r>
            <a:r>
              <a:rPr lang="en-US" sz="2400" dirty="0">
                <a:latin typeface="Times" charset="0"/>
              </a:rPr>
              <a:t>current controlled by the current injected into the base</a:t>
            </a:r>
          </a:p>
        </p:txBody>
      </p:sp>
      <p:sp>
        <p:nvSpPr>
          <p:cNvPr id="36878" name="Rectangle 16"/>
          <p:cNvSpPr>
            <a:spLocks noGrp="1" noChangeArrowheads="1"/>
          </p:cNvSpPr>
          <p:nvPr>
            <p:ph type="title" idx="4294967295"/>
          </p:nvPr>
        </p:nvSpPr>
        <p:spPr bwMode="auto">
          <a:xfrm>
            <a:off x="685800" y="304800"/>
            <a:ext cx="77724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p>
            <a:pPr eaLnBrk="1" hangingPunct="1"/>
            <a:r>
              <a:rPr lang="en-US" sz="3600" b="1" dirty="0"/>
              <a:t>FET X BJT (NPN)</a:t>
            </a:r>
            <a:endParaRPr lang="pt-BR" sz="3600" b="1" dirty="0"/>
          </a:p>
        </p:txBody>
      </p:sp>
    </p:spTree>
    <p:extLst>
      <p:ext uri="{BB962C8B-B14F-4D97-AF65-F5344CB8AC3E}">
        <p14:creationId xmlns:p14="http://schemas.microsoft.com/office/powerpoint/2010/main" val="351983961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324975" cy="694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469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201150" cy="691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4939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DDBD80-9E1F-4841-BDC7-9E7F25B22FAB}"/>
              </a:ext>
            </a:extLst>
          </p:cNvPr>
          <p:cNvSpPr>
            <a:spLocks noGrp="1"/>
          </p:cNvSpPr>
          <p:nvPr>
            <p:ph type="title"/>
          </p:nvPr>
        </p:nvSpPr>
        <p:spPr/>
        <p:txBody>
          <a:bodyPr/>
          <a:lstStyle/>
          <a:p>
            <a:r>
              <a:rPr lang="en-US"/>
              <a:t>Construction of N-channel JFET</a:t>
            </a:r>
          </a:p>
        </p:txBody>
      </p:sp>
      <p:sp>
        <p:nvSpPr>
          <p:cNvPr id="3" name="Content Placeholder 2">
            <a:extLst>
              <a:ext uri="{FF2B5EF4-FFF2-40B4-BE49-F238E27FC236}">
                <a16:creationId xmlns:a16="http://schemas.microsoft.com/office/drawing/2014/main" xmlns="" id="{B57208F1-B6F2-A446-A0DB-5123767498BD}"/>
              </a:ext>
            </a:extLst>
          </p:cNvPr>
          <p:cNvSpPr>
            <a:spLocks noGrp="1"/>
          </p:cNvSpPr>
          <p:nvPr>
            <p:ph idx="1"/>
          </p:nvPr>
        </p:nvSpPr>
        <p:spPr>
          <a:xfrm>
            <a:off x="457200" y="1935480"/>
            <a:ext cx="5086350" cy="4389120"/>
          </a:xfrm>
          <a:solidFill>
            <a:schemeClr val="accent5">
              <a:lumMod val="20000"/>
              <a:lumOff val="80000"/>
            </a:schemeClr>
          </a:solidFill>
        </p:spPr>
        <p:txBody>
          <a:bodyPr>
            <a:normAutofit fontScale="70000" lnSpcReduction="20000"/>
          </a:bodyPr>
          <a:lstStyle/>
          <a:p>
            <a:r>
              <a:rPr lang="en-US" dirty="0"/>
              <a:t>Major part of the structure is n- type </a:t>
            </a:r>
            <a:r>
              <a:rPr lang="en-US" dirty="0" err="1"/>
              <a:t>meterial</a:t>
            </a:r>
            <a:r>
              <a:rPr lang="en-US" dirty="0"/>
              <a:t>.</a:t>
            </a:r>
          </a:p>
          <a:p>
            <a:r>
              <a:rPr lang="en-US" dirty="0"/>
              <a:t>Top of the n-type channel Is connected through an </a:t>
            </a:r>
            <a:r>
              <a:rPr lang="en-US" dirty="0" err="1"/>
              <a:t>ohmic</a:t>
            </a:r>
            <a:r>
              <a:rPr lang="en-US" dirty="0"/>
              <a:t> contact  to a terminal </a:t>
            </a:r>
            <a:r>
              <a:rPr lang="en-US" dirty="0" err="1"/>
              <a:t>Reffered</a:t>
            </a:r>
            <a:r>
              <a:rPr lang="en-US" dirty="0"/>
              <a:t> to as drain(D).</a:t>
            </a:r>
          </a:p>
          <a:p>
            <a:r>
              <a:rPr lang="en-US" dirty="0"/>
              <a:t>As lower end Connected through an </a:t>
            </a:r>
            <a:r>
              <a:rPr lang="en-US" dirty="0" err="1"/>
              <a:t>ohmic</a:t>
            </a:r>
            <a:r>
              <a:rPr lang="en-US" dirty="0"/>
              <a:t> contact to a terminal </a:t>
            </a:r>
            <a:r>
              <a:rPr lang="en-US" dirty="0" err="1"/>
              <a:t>Reffered</a:t>
            </a:r>
            <a:r>
              <a:rPr lang="en-US" dirty="0"/>
              <a:t> as source (S).</a:t>
            </a:r>
          </a:p>
          <a:p>
            <a:r>
              <a:rPr lang="en-US" dirty="0"/>
              <a:t>P-type </a:t>
            </a:r>
            <a:r>
              <a:rPr lang="en-US" dirty="0" err="1"/>
              <a:t>meterials</a:t>
            </a:r>
            <a:r>
              <a:rPr lang="en-US" dirty="0"/>
              <a:t> connected to </a:t>
            </a:r>
            <a:r>
              <a:rPr lang="en-US" dirty="0" err="1"/>
              <a:t>gether</a:t>
            </a:r>
            <a:r>
              <a:rPr lang="en-US" dirty="0"/>
              <a:t> and taken as terminal gate(G).</a:t>
            </a:r>
          </a:p>
          <a:p>
            <a:r>
              <a:rPr lang="en-US" dirty="0"/>
              <a:t>JFET has two </a:t>
            </a:r>
            <a:r>
              <a:rPr lang="en-US" dirty="0" err="1"/>
              <a:t>pn</a:t>
            </a:r>
            <a:r>
              <a:rPr lang="en-US" dirty="0"/>
              <a:t> junctions under no bias condition.</a:t>
            </a:r>
          </a:p>
        </p:txBody>
      </p:sp>
      <p:pic>
        <p:nvPicPr>
          <p:cNvPr id="16386" name="Picture 2"/>
          <p:cNvPicPr>
            <a:picLocks noChangeAspect="1" noChangeArrowheads="1"/>
          </p:cNvPicPr>
          <p:nvPr/>
        </p:nvPicPr>
        <p:blipFill>
          <a:blip r:embed="rId2" cstate="print"/>
          <a:srcRect/>
          <a:stretch>
            <a:fillRect/>
          </a:stretch>
        </p:blipFill>
        <p:spPr bwMode="auto">
          <a:xfrm>
            <a:off x="5636678" y="2133600"/>
            <a:ext cx="3431122" cy="3686175"/>
          </a:xfrm>
          <a:prstGeom prst="rect">
            <a:avLst/>
          </a:prstGeom>
          <a:solidFill>
            <a:schemeClr val="accent5">
              <a:lumMod val="20000"/>
              <a:lumOff val="80000"/>
            </a:schemeClr>
          </a:solidFill>
          <a:ln w="9525">
            <a:noFill/>
            <a:miter lim="800000"/>
            <a:headEnd/>
            <a:tailEnd/>
          </a:ln>
          <a:effectLst/>
        </p:spPr>
      </p:pic>
    </p:spTree>
    <p:extLst>
      <p:ext uri="{BB962C8B-B14F-4D97-AF65-F5344CB8AC3E}">
        <p14:creationId xmlns:p14="http://schemas.microsoft.com/office/powerpoint/2010/main" val="7899572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288"/>
            <a:ext cx="9210675" cy="682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91985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395</Words>
  <Application>Microsoft Office PowerPoint</Application>
  <PresentationFormat>On-screen Show (4:3)</PresentationFormat>
  <Paragraphs>67</Paragraphs>
  <Slides>9</Slides>
  <Notes>1</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APPLIED PHYSICS</vt:lpstr>
      <vt:lpstr>Transistor classifications</vt:lpstr>
      <vt:lpstr>Classification of FET</vt:lpstr>
      <vt:lpstr>Difference between BJT &amp; FET</vt:lpstr>
      <vt:lpstr>FET X BJT (NPN)</vt:lpstr>
      <vt:lpstr>PowerPoint Presentation</vt:lpstr>
      <vt:lpstr>PowerPoint Presentation</vt:lpstr>
      <vt:lpstr>Construction of N-channel JFET</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Transistor classifications</dc:title>
  <dc:creator>Dr.Saif</dc:creator>
  <cp:lastModifiedBy>Dr.Saif</cp:lastModifiedBy>
  <cp:revision>9</cp:revision>
  <dcterms:created xsi:type="dcterms:W3CDTF">2023-11-07T07:49:42Z</dcterms:created>
  <dcterms:modified xsi:type="dcterms:W3CDTF">2023-11-07T08:15:28Z</dcterms:modified>
</cp:coreProperties>
</file>